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301" r:id="rId2"/>
    <p:sldId id="370" r:id="rId3"/>
    <p:sldId id="303" r:id="rId4"/>
    <p:sldId id="304" r:id="rId5"/>
    <p:sldId id="369" r:id="rId6"/>
    <p:sldId id="305" r:id="rId7"/>
    <p:sldId id="306" r:id="rId8"/>
    <p:sldId id="307" r:id="rId9"/>
    <p:sldId id="308" r:id="rId10"/>
    <p:sldId id="309" r:id="rId11"/>
    <p:sldId id="371" r:id="rId12"/>
    <p:sldId id="310" r:id="rId13"/>
    <p:sldId id="311" r:id="rId14"/>
    <p:sldId id="312" r:id="rId15"/>
    <p:sldId id="313" r:id="rId16"/>
    <p:sldId id="314" r:id="rId17"/>
    <p:sldId id="315" r:id="rId18"/>
    <p:sldId id="372" r:id="rId19"/>
    <p:sldId id="316" r:id="rId20"/>
    <p:sldId id="317" r:id="rId21"/>
    <p:sldId id="318" r:id="rId22"/>
    <p:sldId id="319" r:id="rId23"/>
    <p:sldId id="320" r:id="rId24"/>
    <p:sldId id="321" r:id="rId25"/>
    <p:sldId id="322" r:id="rId26"/>
    <p:sldId id="323" r:id="rId27"/>
    <p:sldId id="324" r:id="rId28"/>
    <p:sldId id="373" r:id="rId29"/>
    <p:sldId id="325" r:id="rId30"/>
    <p:sldId id="326" r:id="rId31"/>
    <p:sldId id="327" r:id="rId32"/>
    <p:sldId id="328" r:id="rId33"/>
    <p:sldId id="329" r:id="rId34"/>
    <p:sldId id="330" r:id="rId35"/>
    <p:sldId id="331" r:id="rId36"/>
    <p:sldId id="374" r:id="rId37"/>
    <p:sldId id="368"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EB63002-B9BC-435A-8B86-E6188AA985DA}">
          <p14:sldIdLst>
            <p14:sldId id="301"/>
            <p14:sldId id="370"/>
          </p14:sldIdLst>
        </p14:section>
        <p14:section name="1 · Bối cảnh" id="{D6DB9A7A-D4C2-4D8F-99C0-2136A139D5B7}">
          <p14:sldIdLst>
            <p14:sldId id="303"/>
            <p14:sldId id="304"/>
            <p14:sldId id="369"/>
            <p14:sldId id="305"/>
            <p14:sldId id="306"/>
            <p14:sldId id="307"/>
          </p14:sldIdLst>
        </p14:section>
        <p14:section name="2 · Hướng ưu tiên" id="{518742DF-EA9C-4640-AD1C-5F66C4F30BE5}">
          <p14:sldIdLst>
            <p14:sldId id="308"/>
            <p14:sldId id="309"/>
            <p14:sldId id="371"/>
            <p14:sldId id="310"/>
            <p14:sldId id="311"/>
            <p14:sldId id="312"/>
            <p14:sldId id="313"/>
          </p14:sldIdLst>
        </p14:section>
        <p14:section name="3 · Sản phẩm Viện CNTT" id="{354F3EF0-CFD4-43F4-9C66-BACAE7D8B8DF}">
          <p14:sldIdLst>
            <p14:sldId id="314"/>
            <p14:sldId id="315"/>
            <p14:sldId id="372"/>
            <p14:sldId id="316"/>
            <p14:sldId id="317"/>
            <p14:sldId id="318"/>
            <p14:sldId id="319"/>
            <p14:sldId id="320"/>
            <p14:sldId id="321"/>
            <p14:sldId id="322"/>
          </p14:sldIdLst>
        </p14:section>
        <p14:section name="4 · Bản sao số" id="{FC2FAE31-F767-432C-9A04-9D267E84DE4E}">
          <p14:sldIdLst>
            <p14:sldId id="323"/>
            <p14:sldId id="324"/>
            <p14:sldId id="373"/>
            <p14:sldId id="325"/>
            <p14:sldId id="326"/>
            <p14:sldId id="327"/>
            <p14:sldId id="328"/>
            <p14:sldId id="329"/>
            <p14:sldId id="330"/>
            <p14:sldId id="331"/>
            <p14:sldId id="374"/>
          </p14:sldIdLst>
        </p14:section>
        <p14:section name="Kết thúc" id="{ACFD65E5-2834-4F6A-813D-5E251928D0CF}">
          <p14:sldIdLst>
            <p14:sldId id="3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324" autoAdjust="0"/>
  </p:normalViewPr>
  <p:slideViewPr>
    <p:cSldViewPr snapToGrid="0" snapToObjects="1">
      <p:cViewPr varScale="1">
        <p:scale>
          <a:sx n="76" d="100"/>
          <a:sy n="76" d="100"/>
        </p:scale>
        <p:origin x="507"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d</c:v>
                </c:pt>
              </c:strCache>
            </c:strRef>
          </c:tx>
          <c:spPr>
            <a:solidFill>
              <a:schemeClr val="accent1"/>
            </a:solidFill>
            <a:ln w="9525" cap="flat">
              <a:solidFill>
                <a:srgbClr val="F9F9F9"/>
              </a:solidFill>
              <a:prstDash val="solid"/>
              <a:round/>
            </a:ln>
            <a:effectLst/>
          </c:spPr>
          <c:dPt>
            <c:idx val="0"/>
            <c:bubble3D val="0"/>
            <c:spPr>
              <a:solidFill>
                <a:srgbClr val="1F6F8B"/>
              </a:solidFill>
              <a:ln w="9525" cap="flat">
                <a:solidFill>
                  <a:srgbClr val="FFFFFF"/>
                </a:solidFill>
                <a:prstDash val="solid"/>
                <a:round/>
              </a:ln>
              <a:effectLst/>
            </c:spPr>
            <c:extLst>
              <c:ext xmlns:c16="http://schemas.microsoft.com/office/drawing/2014/chart" uri="{C3380CC4-5D6E-409C-BE32-E72D297353CC}">
                <c16:uniqueId val="{00000001-0283-4EC0-951A-AD9FE8A2DBAD}"/>
              </c:ext>
            </c:extLst>
          </c:dPt>
          <c:dPt>
            <c:idx val="1"/>
            <c:bubble3D val="0"/>
            <c:spPr>
              <a:solidFill>
                <a:srgbClr val="E6ECF0"/>
              </a:solidFill>
              <a:ln w="9525" cap="flat">
                <a:solidFill>
                  <a:srgbClr val="FFFFFF"/>
                </a:solidFill>
                <a:prstDash val="solid"/>
                <a:round/>
              </a:ln>
              <a:effectLst/>
            </c:spPr>
            <c:extLst>
              <c:ext xmlns:c16="http://schemas.microsoft.com/office/drawing/2014/chart" uri="{C3380CC4-5D6E-409C-BE32-E72D297353CC}">
                <c16:uniqueId val="{00000003-0283-4EC0-951A-AD9FE8A2DBAD}"/>
              </c:ext>
            </c:extLst>
          </c:dPt>
          <c:cat>
            <c:strRef>
              <c:f>Sheet1!$A$2:$A$3</c:f>
              <c:strCache>
                <c:ptCount val="2"/>
                <c:pt idx="0">
                  <c:v>a</c:v>
                </c:pt>
                <c:pt idx="1">
                  <c:v>b</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0283-4EC0-951A-AD9FE8A2DBAD}"/>
            </c:ext>
          </c:extLst>
        </c:ser>
        <c:dLbls>
          <c:showLegendKey val="0"/>
          <c:showVal val="0"/>
          <c:showCatName val="0"/>
          <c:showSerName val="0"/>
          <c:showPercent val="0"/>
          <c:showBubbleSize val="0"/>
          <c:showLeaderLines val="0"/>
        </c:dLbls>
        <c:firstSliceAng val="0"/>
        <c:holeSize val="7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d</c:v>
                </c:pt>
              </c:strCache>
            </c:strRef>
          </c:tx>
          <c:spPr>
            <a:solidFill>
              <a:schemeClr val="accent1"/>
            </a:solidFill>
            <a:ln w="9525" cap="flat">
              <a:solidFill>
                <a:srgbClr val="F9F9F9"/>
              </a:solidFill>
              <a:prstDash val="solid"/>
              <a:round/>
            </a:ln>
            <a:effectLst/>
          </c:spPr>
          <c:dPt>
            <c:idx val="0"/>
            <c:bubble3D val="0"/>
            <c:spPr>
              <a:solidFill>
                <a:srgbClr val="E08A2E"/>
              </a:solidFill>
              <a:ln w="9525" cap="flat">
                <a:solidFill>
                  <a:srgbClr val="FFFFFF"/>
                </a:solidFill>
                <a:prstDash val="solid"/>
                <a:round/>
              </a:ln>
              <a:effectLst/>
            </c:spPr>
            <c:extLst>
              <c:ext xmlns:c16="http://schemas.microsoft.com/office/drawing/2014/chart" uri="{C3380CC4-5D6E-409C-BE32-E72D297353CC}">
                <c16:uniqueId val="{00000001-2DFB-486B-8225-AD6C93C08D33}"/>
              </c:ext>
            </c:extLst>
          </c:dPt>
          <c:dPt>
            <c:idx val="1"/>
            <c:bubble3D val="0"/>
            <c:spPr>
              <a:solidFill>
                <a:srgbClr val="E6ECF0"/>
              </a:solidFill>
              <a:ln w="9525" cap="flat">
                <a:solidFill>
                  <a:srgbClr val="FFFFFF"/>
                </a:solidFill>
                <a:prstDash val="solid"/>
                <a:round/>
              </a:ln>
              <a:effectLst/>
            </c:spPr>
            <c:extLst>
              <c:ext xmlns:c16="http://schemas.microsoft.com/office/drawing/2014/chart" uri="{C3380CC4-5D6E-409C-BE32-E72D297353CC}">
                <c16:uniqueId val="{00000003-2DFB-486B-8225-AD6C93C08D33}"/>
              </c:ext>
            </c:extLst>
          </c:dPt>
          <c:cat>
            <c:strRef>
              <c:f>Sheet1!$A$2:$A$3</c:f>
              <c:strCache>
                <c:ptCount val="2"/>
                <c:pt idx="0">
                  <c:v>a</c:v>
                </c:pt>
                <c:pt idx="1">
                  <c:v>b</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2DFB-486B-8225-AD6C93C08D33}"/>
            </c:ext>
          </c:extLst>
        </c:ser>
        <c:dLbls>
          <c:showLegendKey val="0"/>
          <c:showVal val="0"/>
          <c:showCatName val="0"/>
          <c:showSerName val="0"/>
          <c:showPercent val="0"/>
          <c:showBubbleSize val="0"/>
          <c:showLeaderLines val="0"/>
        </c:dLbls>
        <c:firstSliceAng val="0"/>
        <c:holeSize val="7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d</c:v>
                </c:pt>
              </c:strCache>
            </c:strRef>
          </c:tx>
          <c:spPr>
            <a:solidFill>
              <a:schemeClr val="accent1"/>
            </a:solidFill>
            <a:ln w="9525" cap="flat">
              <a:solidFill>
                <a:srgbClr val="F9F9F9"/>
              </a:solidFill>
              <a:prstDash val="solid"/>
              <a:round/>
            </a:ln>
            <a:effectLst/>
          </c:spPr>
          <c:dPt>
            <c:idx val="0"/>
            <c:bubble3D val="0"/>
            <c:spPr>
              <a:solidFill>
                <a:srgbClr val="A80000"/>
              </a:solidFill>
              <a:ln w="9525" cap="flat">
                <a:solidFill>
                  <a:srgbClr val="FFFFFF"/>
                </a:solidFill>
                <a:prstDash val="solid"/>
                <a:round/>
              </a:ln>
              <a:effectLst/>
            </c:spPr>
            <c:extLst>
              <c:ext xmlns:c16="http://schemas.microsoft.com/office/drawing/2014/chart" uri="{C3380CC4-5D6E-409C-BE32-E72D297353CC}">
                <c16:uniqueId val="{00000001-281F-473B-9FAE-5DBA294E961A}"/>
              </c:ext>
            </c:extLst>
          </c:dPt>
          <c:dPt>
            <c:idx val="1"/>
            <c:bubble3D val="0"/>
            <c:spPr>
              <a:solidFill>
                <a:srgbClr val="E6ECF0"/>
              </a:solidFill>
              <a:ln w="9525" cap="flat">
                <a:solidFill>
                  <a:srgbClr val="FFFFFF"/>
                </a:solidFill>
                <a:prstDash val="solid"/>
                <a:round/>
              </a:ln>
              <a:effectLst/>
            </c:spPr>
            <c:extLst>
              <c:ext xmlns:c16="http://schemas.microsoft.com/office/drawing/2014/chart" uri="{C3380CC4-5D6E-409C-BE32-E72D297353CC}">
                <c16:uniqueId val="{00000003-281F-473B-9FAE-5DBA294E961A}"/>
              </c:ext>
            </c:extLst>
          </c:dPt>
          <c:cat>
            <c:strRef>
              <c:f>Sheet1!$A$2:$A$3</c:f>
              <c:strCache>
                <c:ptCount val="2"/>
                <c:pt idx="0">
                  <c:v>a</c:v>
                </c:pt>
                <c:pt idx="1">
                  <c:v>b</c:v>
                </c:pt>
              </c:strCache>
            </c:strRef>
          </c:cat>
          <c:val>
            <c:numRef>
              <c:f>Sheet1!$B$2:$B$3</c:f>
              <c:numCache>
                <c:formatCode>General</c:formatCode>
                <c:ptCount val="2"/>
                <c:pt idx="0">
                  <c:v>55</c:v>
                </c:pt>
                <c:pt idx="1">
                  <c:v>45</c:v>
                </c:pt>
              </c:numCache>
            </c:numRef>
          </c:val>
          <c:extLst>
            <c:ext xmlns:c16="http://schemas.microsoft.com/office/drawing/2014/chart" uri="{C3380CC4-5D6E-409C-BE32-E72D297353CC}">
              <c16:uniqueId val="{00000004-281F-473B-9FAE-5DBA294E961A}"/>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5B6B76"/>
                </a:solidFill>
                <a:latin typeface="+mn-lt"/>
              </a:defRPr>
            </a:pPr>
            <a:r>
              <a:rPr lang="en-US" sz="1400" b="0" i="0" u="none" strike="noStrike">
                <a:solidFill>
                  <a:srgbClr val="5B6B76"/>
                </a:solidFill>
                <a:latin typeface="+mn-lt"/>
              </a:rPr>
              <a:t>TAT trung bình (phút)</a:t>
            </a:r>
          </a:p>
        </c:rich>
      </c:tx>
      <c:overlay val="0"/>
    </c:title>
    <c:autoTitleDeleted val="0"/>
    <c:plotArea>
      <c:layout/>
      <c:barChart>
        <c:barDir val="col"/>
        <c:grouping val="stacked"/>
        <c:varyColors val="0"/>
        <c:ser>
          <c:idx val="0"/>
          <c:order val="0"/>
          <c:tx>
            <c:strRef>
              <c:f>Sheet1!$B$1</c:f>
              <c:strCache>
                <c:ptCount val="1"/>
                <c:pt idx="0">
                  <c:v>a</c:v>
                </c:pt>
              </c:strCache>
            </c:strRef>
          </c:tx>
          <c:spPr>
            <a:solidFill>
              <a:srgbClr val="B8C4CC"/>
            </a:solidFill>
            <a:effectLst/>
          </c:spPr>
          <c:invertIfNegative val="0"/>
          <c:dLbls>
            <c:numFmt formatCode="0.00;;;" sourceLinked="0"/>
            <c:spPr>
              <a:noFill/>
              <a:ln>
                <a:noFill/>
              </a:ln>
              <a:effectLst/>
            </c:spPr>
            <c:txPr>
              <a:bodyPr/>
              <a:lstStyle/>
              <a:p>
                <a:pPr>
                  <a:defRPr sz="1400" b="1" i="0" u="none" strike="noStrike">
                    <a:solidFill>
                      <a:srgbClr val="FFFFFF"/>
                    </a:solidFill>
                    <a:latin typeface="+mn-lt"/>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Lịch sử HIS–LIS</c:v>
                </c:pt>
                <c:pt idx="1">
                  <c:v>FCFS mô phỏng</c:v>
                </c:pt>
                <c:pt idx="2">
                  <c:v>SJF + cấp cứu</c:v>
                </c:pt>
                <c:pt idx="3">
                  <c:v>GA (10 lần)</c:v>
                </c:pt>
              </c:strCache>
            </c:strRef>
          </c:cat>
          <c:val>
            <c:numRef>
              <c:f>Sheet1!$B$2:$B$5</c:f>
              <c:numCache>
                <c:formatCode>General</c:formatCode>
                <c:ptCount val="4"/>
                <c:pt idx="0">
                  <c:v>119.51</c:v>
                </c:pt>
                <c:pt idx="1">
                  <c:v>172.97</c:v>
                </c:pt>
                <c:pt idx="2">
                  <c:v>151.68</c:v>
                </c:pt>
                <c:pt idx="3">
                  <c:v>0</c:v>
                </c:pt>
              </c:numCache>
            </c:numRef>
          </c:val>
          <c:extLst>
            <c:ext xmlns:c16="http://schemas.microsoft.com/office/drawing/2014/chart" uri="{C3380CC4-5D6E-409C-BE32-E72D297353CC}">
              <c16:uniqueId val="{00000000-871F-4714-9A42-1C6DF59A424E}"/>
            </c:ext>
          </c:extLst>
        </c:ser>
        <c:ser>
          <c:idx val="1"/>
          <c:order val="1"/>
          <c:tx>
            <c:strRef>
              <c:f>Sheet1!$C$1</c:f>
              <c:strCache>
                <c:ptCount val="1"/>
                <c:pt idx="0">
                  <c:v>b</c:v>
                </c:pt>
              </c:strCache>
            </c:strRef>
          </c:tx>
          <c:spPr>
            <a:solidFill>
              <a:srgbClr val="A80000"/>
            </a:solidFill>
            <a:effectLst/>
          </c:spPr>
          <c:invertIfNegative val="0"/>
          <c:dLbls>
            <c:numFmt formatCode="0.00;;;" sourceLinked="0"/>
            <c:spPr>
              <a:noFill/>
              <a:ln>
                <a:noFill/>
              </a:ln>
              <a:effectLst/>
            </c:spPr>
            <c:txPr>
              <a:bodyPr/>
              <a:lstStyle/>
              <a:p>
                <a:pPr>
                  <a:defRPr sz="1400" b="1" i="0" u="none" strike="noStrike">
                    <a:solidFill>
                      <a:srgbClr val="FFFFFF"/>
                    </a:solidFill>
                    <a:latin typeface="+mn-lt"/>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Lịch sử HIS–LIS</c:v>
                </c:pt>
                <c:pt idx="1">
                  <c:v>FCFS mô phỏng</c:v>
                </c:pt>
                <c:pt idx="2">
                  <c:v>SJF + cấp cứu</c:v>
                </c:pt>
                <c:pt idx="3">
                  <c:v>GA (10 lần)</c:v>
                </c:pt>
              </c:strCache>
            </c:strRef>
          </c:cat>
          <c:val>
            <c:numRef>
              <c:f>Sheet1!$C$2:$C$5</c:f>
              <c:numCache>
                <c:formatCode>General</c:formatCode>
                <c:ptCount val="4"/>
                <c:pt idx="0">
                  <c:v>0</c:v>
                </c:pt>
                <c:pt idx="1">
                  <c:v>0</c:v>
                </c:pt>
                <c:pt idx="2">
                  <c:v>0</c:v>
                </c:pt>
                <c:pt idx="3">
                  <c:v>116.67</c:v>
                </c:pt>
              </c:numCache>
            </c:numRef>
          </c:val>
          <c:extLst>
            <c:ext xmlns:c16="http://schemas.microsoft.com/office/drawing/2014/chart" uri="{C3380CC4-5D6E-409C-BE32-E72D297353CC}">
              <c16:uniqueId val="{00000001-871F-4714-9A42-1C6DF59A424E}"/>
            </c:ext>
          </c:extLst>
        </c:ser>
        <c:dLbls>
          <c:dLblPos val="inEnd"/>
          <c:showLegendKey val="0"/>
          <c:showVal val="1"/>
          <c:showCatName val="0"/>
          <c:showSerName val="0"/>
          <c:showPercent val="0"/>
          <c:showBubbleSize val="0"/>
        </c:dLbls>
        <c:gapWidth val="4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A32"/>
                </a:solidFill>
                <a:latin typeface="+mn-lt"/>
              </a:defRPr>
            </a:pPr>
            <a:endParaRPr lang="en-US"/>
          </a:p>
        </c:txPr>
        <c:crossAx val="2094734552"/>
        <c:crosses val="autoZero"/>
        <c:auto val="1"/>
        <c:lblAlgn val="ctr"/>
        <c:lblOffset val="100"/>
        <c:noMultiLvlLbl val="1"/>
      </c:catAx>
      <c:valAx>
        <c:axId val="2094734552"/>
        <c:scaling>
          <c:orientation val="minMax"/>
          <c:max val="19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5B6B76"/>
                </a:solidFill>
                <a:latin typeface="+mn-lt"/>
              </a:defRPr>
            </a:pPr>
            <a:r>
              <a:rPr lang="nn-NO" sz="1400" b="0" i="0" u="none" strike="noStrike">
                <a:solidFill>
                  <a:srgbClr val="5B6B76"/>
                </a:solidFill>
                <a:latin typeface="+mn-lt"/>
              </a:rPr>
              <a:t>Số ca vượt SLA 120′</a:t>
            </a:r>
          </a:p>
        </c:rich>
      </c:tx>
      <c:overlay val="0"/>
    </c:title>
    <c:autoTitleDeleted val="0"/>
    <c:plotArea>
      <c:layout/>
      <c:barChart>
        <c:barDir val="col"/>
        <c:grouping val="stacked"/>
        <c:varyColors val="0"/>
        <c:ser>
          <c:idx val="0"/>
          <c:order val="0"/>
          <c:tx>
            <c:strRef>
              <c:f>Sheet1!$B$1</c:f>
              <c:strCache>
                <c:ptCount val="1"/>
                <c:pt idx="0">
                  <c:v>a</c:v>
                </c:pt>
              </c:strCache>
            </c:strRef>
          </c:tx>
          <c:spPr>
            <a:solidFill>
              <a:srgbClr val="B8C4CC"/>
            </a:solidFill>
            <a:effectLst/>
          </c:spPr>
          <c:invertIfNegative val="0"/>
          <c:dLbls>
            <c:numFmt formatCode="#,##0;;;" sourceLinked="0"/>
            <c:spPr>
              <a:noFill/>
              <a:ln>
                <a:noFill/>
              </a:ln>
              <a:effectLst/>
            </c:spPr>
            <c:txPr>
              <a:bodyPr/>
              <a:lstStyle/>
              <a:p>
                <a:pPr>
                  <a:defRPr sz="1400" b="1" i="0" u="none" strike="noStrike">
                    <a:solidFill>
                      <a:srgbClr val="FFFFFF"/>
                    </a:solidFill>
                    <a:latin typeface="+mn-lt"/>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Lịch sử HIS–LIS</c:v>
                </c:pt>
                <c:pt idx="1">
                  <c:v>FCFS mô phỏng</c:v>
                </c:pt>
                <c:pt idx="2">
                  <c:v>SJF + cấp cứu</c:v>
                </c:pt>
                <c:pt idx="3">
                  <c:v>GA (10 lần)</c:v>
                </c:pt>
              </c:strCache>
            </c:strRef>
          </c:cat>
          <c:val>
            <c:numRef>
              <c:f>Sheet1!$B$2:$B$5</c:f>
              <c:numCache>
                <c:formatCode>General</c:formatCode>
                <c:ptCount val="4"/>
                <c:pt idx="0">
                  <c:v>688</c:v>
                </c:pt>
                <c:pt idx="1">
                  <c:v>1062</c:v>
                </c:pt>
                <c:pt idx="2">
                  <c:v>933</c:v>
                </c:pt>
                <c:pt idx="3">
                  <c:v>0</c:v>
                </c:pt>
              </c:numCache>
            </c:numRef>
          </c:val>
          <c:extLst>
            <c:ext xmlns:c16="http://schemas.microsoft.com/office/drawing/2014/chart" uri="{C3380CC4-5D6E-409C-BE32-E72D297353CC}">
              <c16:uniqueId val="{00000000-814C-4F4B-A490-1E8EBD8FF1BD}"/>
            </c:ext>
          </c:extLst>
        </c:ser>
        <c:ser>
          <c:idx val="1"/>
          <c:order val="1"/>
          <c:tx>
            <c:strRef>
              <c:f>Sheet1!$C$1</c:f>
              <c:strCache>
                <c:ptCount val="1"/>
                <c:pt idx="0">
                  <c:v>b</c:v>
                </c:pt>
              </c:strCache>
            </c:strRef>
          </c:tx>
          <c:spPr>
            <a:solidFill>
              <a:srgbClr val="A80000"/>
            </a:solidFill>
            <a:effectLst/>
          </c:spPr>
          <c:invertIfNegative val="0"/>
          <c:dLbls>
            <c:numFmt formatCode="#,##0;;;" sourceLinked="0"/>
            <c:spPr>
              <a:noFill/>
              <a:ln>
                <a:noFill/>
              </a:ln>
              <a:effectLst/>
            </c:spPr>
            <c:txPr>
              <a:bodyPr/>
              <a:lstStyle/>
              <a:p>
                <a:pPr>
                  <a:defRPr sz="1400" b="1" i="0" u="none" strike="noStrike">
                    <a:solidFill>
                      <a:srgbClr val="FFFFFF"/>
                    </a:solidFill>
                    <a:latin typeface="+mn-lt"/>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Lịch sử HIS–LIS</c:v>
                </c:pt>
                <c:pt idx="1">
                  <c:v>FCFS mô phỏng</c:v>
                </c:pt>
                <c:pt idx="2">
                  <c:v>SJF + cấp cứu</c:v>
                </c:pt>
                <c:pt idx="3">
                  <c:v>GA (10 lần)</c:v>
                </c:pt>
              </c:strCache>
            </c:strRef>
          </c:cat>
          <c:val>
            <c:numRef>
              <c:f>Sheet1!$C$2:$C$5</c:f>
              <c:numCache>
                <c:formatCode>General</c:formatCode>
                <c:ptCount val="4"/>
                <c:pt idx="0">
                  <c:v>0</c:v>
                </c:pt>
                <c:pt idx="1">
                  <c:v>0</c:v>
                </c:pt>
                <c:pt idx="2">
                  <c:v>0</c:v>
                </c:pt>
                <c:pt idx="3">
                  <c:v>524</c:v>
                </c:pt>
              </c:numCache>
            </c:numRef>
          </c:val>
          <c:extLst>
            <c:ext xmlns:c16="http://schemas.microsoft.com/office/drawing/2014/chart" uri="{C3380CC4-5D6E-409C-BE32-E72D297353CC}">
              <c16:uniqueId val="{00000001-814C-4F4B-A490-1E8EBD8FF1BD}"/>
            </c:ext>
          </c:extLst>
        </c:ser>
        <c:dLbls>
          <c:dLblPos val="inEnd"/>
          <c:showLegendKey val="0"/>
          <c:showVal val="1"/>
          <c:showCatName val="0"/>
          <c:showSerName val="0"/>
          <c:showPercent val="0"/>
          <c:showBubbleSize val="0"/>
        </c:dLbls>
        <c:gapWidth val="4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A32"/>
                </a:solidFill>
                <a:latin typeface="+mn-lt"/>
              </a:defRPr>
            </a:pPr>
            <a:endParaRPr lang="en-US"/>
          </a:p>
        </c:txPr>
        <c:crossAx val="2094734552"/>
        <c:crosses val="autoZero"/>
        <c:auto val="1"/>
        <c:lblAlgn val="ctr"/>
        <c:lblOffset val="100"/>
        <c:noMultiLvlLbl val="1"/>
      </c:catAx>
      <c:valAx>
        <c:axId val="2094734552"/>
        <c:scaling>
          <c:orientation val="minMax"/>
          <c:max val="115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5B6B76"/>
                </a:solidFill>
                <a:latin typeface="+mn-lt"/>
              </a:defRPr>
            </a:pPr>
            <a:r>
              <a:rPr lang="en-US" sz="1400" b="0" i="0" u="none" strike="noStrike">
                <a:solidFill>
                  <a:srgbClr val="5B6B76"/>
                </a:solidFill>
                <a:latin typeface="+mn-lt"/>
              </a:rPr>
              <a:t>Phút (gộp tháng 5)</a:t>
            </a:r>
          </a:p>
        </c:rich>
      </c:tx>
      <c:overlay val="0"/>
    </c:title>
    <c:autoTitleDeleted val="0"/>
    <c:plotArea>
      <c:layout/>
      <c:barChart>
        <c:barDir val="col"/>
        <c:grouping val="clustered"/>
        <c:varyColors val="0"/>
        <c:ser>
          <c:idx val="0"/>
          <c:order val="0"/>
          <c:tx>
            <c:strRef>
              <c:f>Sheet1!$B$1</c:f>
              <c:strCache>
                <c:ptCount val="1"/>
                <c:pt idx="0">
                  <c:v>FCFS mô phỏng</c:v>
                </c:pt>
              </c:strCache>
            </c:strRef>
          </c:tx>
          <c:spPr>
            <a:solidFill>
              <a:srgbClr val="B8C4CC"/>
            </a:solidFill>
            <a:effectLst/>
          </c:spPr>
          <c:invertIfNegative val="0"/>
          <c:dLbls>
            <c:numFmt formatCode="0.00" sourceLinked="0"/>
            <c:spPr>
              <a:noFill/>
              <a:ln>
                <a:noFill/>
              </a:ln>
              <a:effectLst/>
            </c:spPr>
            <c:txPr>
              <a:bodyPr/>
              <a:lstStyle/>
              <a:p>
                <a:pPr>
                  <a:defRPr sz="1200" b="0" i="0" u="none" strike="noStrike">
                    <a:solidFill>
                      <a:srgbClr val="1E2A3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TAT trung bình</c:v>
                </c:pt>
                <c:pt idx="1">
                  <c:v>p90</c:v>
                </c:pt>
              </c:strCache>
            </c:strRef>
          </c:cat>
          <c:val>
            <c:numRef>
              <c:f>Sheet1!$B$2:$B$3</c:f>
              <c:numCache>
                <c:formatCode>General</c:formatCode>
                <c:ptCount val="2"/>
                <c:pt idx="0">
                  <c:v>106.66</c:v>
                </c:pt>
                <c:pt idx="1">
                  <c:v>167.32</c:v>
                </c:pt>
              </c:numCache>
            </c:numRef>
          </c:val>
          <c:extLst>
            <c:ext xmlns:c16="http://schemas.microsoft.com/office/drawing/2014/chart" uri="{C3380CC4-5D6E-409C-BE32-E72D297353CC}">
              <c16:uniqueId val="{00000000-C40A-402C-84A8-E4A315D64EB2}"/>
            </c:ext>
          </c:extLst>
        </c:ser>
        <c:ser>
          <c:idx val="1"/>
          <c:order val="1"/>
          <c:tx>
            <c:strRef>
              <c:f>Sheet1!$C$1</c:f>
              <c:strCache>
                <c:ptCount val="1"/>
                <c:pt idx="0">
                  <c:v>DT–GA</c:v>
                </c:pt>
              </c:strCache>
            </c:strRef>
          </c:tx>
          <c:spPr>
            <a:solidFill>
              <a:srgbClr val="A80000"/>
            </a:solidFill>
            <a:effectLst/>
          </c:spPr>
          <c:invertIfNegative val="0"/>
          <c:dLbls>
            <c:numFmt formatCode="0.00" sourceLinked="0"/>
            <c:spPr>
              <a:noFill/>
              <a:ln>
                <a:noFill/>
              </a:ln>
              <a:effectLst/>
            </c:spPr>
            <c:txPr>
              <a:bodyPr/>
              <a:lstStyle/>
              <a:p>
                <a:pPr>
                  <a:defRPr sz="1200" b="0" i="0" u="none" strike="noStrike">
                    <a:solidFill>
                      <a:srgbClr val="1E2A3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TAT trung bình</c:v>
                </c:pt>
                <c:pt idx="1">
                  <c:v>p90</c:v>
                </c:pt>
              </c:strCache>
            </c:strRef>
          </c:cat>
          <c:val>
            <c:numRef>
              <c:f>Sheet1!$C$2:$C$3</c:f>
              <c:numCache>
                <c:formatCode>General</c:formatCode>
                <c:ptCount val="2"/>
                <c:pt idx="0">
                  <c:v>100.86</c:v>
                </c:pt>
                <c:pt idx="1">
                  <c:v>165.52</c:v>
                </c:pt>
              </c:numCache>
            </c:numRef>
          </c:val>
          <c:extLst>
            <c:ext xmlns:c16="http://schemas.microsoft.com/office/drawing/2014/chart" uri="{C3380CC4-5D6E-409C-BE32-E72D297353CC}">
              <c16:uniqueId val="{00000001-C40A-402C-84A8-E4A315D64EB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E2A32"/>
                </a:solidFill>
                <a:latin typeface="+mn-lt"/>
              </a:defRPr>
            </a:pPr>
            <a:endParaRPr lang="en-US"/>
          </a:p>
        </c:txPr>
        <c:crossAx val="2094734552"/>
        <c:crosses val="autoZero"/>
        <c:auto val="1"/>
        <c:lblAlgn val="ctr"/>
        <c:lblOffset val="100"/>
        <c:noMultiLvlLbl val="1"/>
      </c:catAx>
      <c:valAx>
        <c:axId val="2094734552"/>
        <c:scaling>
          <c:orientation val="minMax"/>
          <c:max val="19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819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73340-9C81-28C1-3B75-F6673D326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B299D2-0A2D-A085-812E-A9A9BF030841}"/>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3B55771-A680-96B9-E38F-94E046142F47}"/>
              </a:ext>
            </a:extLst>
          </p:cNvPr>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820774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home/claude/deck/img/band_content.png"/>
          <p:cNvPicPr>
            <a:picLocks noChangeAspect="1"/>
          </p:cNvPicPr>
          <p:nvPr/>
        </p:nvPicPr>
        <p:blipFill>
          <a:blip r:embed="rId2"/>
          <a:stretch>
            <a:fillRect/>
          </a:stretch>
        </p:blipFill>
        <p:spPr>
          <a:xfrm>
            <a:off x="0" y="0"/>
            <a:ext cx="12191695" cy="914400"/>
          </a:xfrm>
          <a:prstGeom prst="rect">
            <a:avLst/>
          </a:prstGeom>
        </p:spPr>
      </p:pic>
      <p:pic>
        <p:nvPicPr>
          <p:cNvPr id="3" name="Image 1" descr="/home/claude/deck/img/people.png"/>
          <p:cNvPicPr>
            <a:picLocks noChangeAspect="1"/>
          </p:cNvPicPr>
          <p:nvPr/>
        </p:nvPicPr>
        <p:blipFill>
          <a:blip r:embed="rId3"/>
          <a:stretch>
            <a:fillRect/>
          </a:stretch>
        </p:blipFill>
        <p:spPr>
          <a:xfrm>
            <a:off x="411480" y="256032"/>
            <a:ext cx="603504" cy="420624"/>
          </a:xfrm>
          <a:prstGeom prst="rect">
            <a:avLst/>
          </a:prstGeom>
        </p:spPr>
      </p:pic>
      <p:pic>
        <p:nvPicPr>
          <p:cNvPr id="4" name="Image 2" descr="/home/claude/deck/img/airc_logo.png"/>
          <p:cNvPicPr>
            <a:picLocks noChangeAspect="1"/>
          </p:cNvPicPr>
          <p:nvPr/>
        </p:nvPicPr>
        <p:blipFill>
          <a:blip r:embed="rId4"/>
          <a:stretch>
            <a:fillRect/>
          </a:stretch>
        </p:blipFill>
        <p:spPr>
          <a:xfrm>
            <a:off x="11201400" y="0"/>
            <a:ext cx="914400" cy="914400"/>
          </a:xfrm>
          <a:prstGeom prst="rect">
            <a:avLst/>
          </a:prstGeom>
        </p:spPr>
      </p:pic>
      <p:sp>
        <p:nvSpPr>
          <p:cNvPr id="5" name="Text 0"/>
          <p:cNvSpPr>
            <a:spLocks noGrp="1"/>
          </p:cNvSpPr>
          <p:nvPr>
            <p:ph type="title" idx="103" hasCustomPrompt="1"/>
          </p:nvPr>
        </p:nvSpPr>
        <p:spPr>
          <a:xfrm>
            <a:off x="1234440" y="91440"/>
            <a:ext cx="9784080" cy="731520"/>
          </a:xfrm>
          <a:prstGeom prst="rect">
            <a:avLst/>
          </a:prstGeom>
          <a:noFill/>
          <a:ln/>
        </p:spPr>
        <p:txBody>
          <a:bodyPr wrap="square" rtlCol="0"/>
          <a:lstStyle>
            <a:lvl1pPr marL="0" indent="0" algn="ctr">
              <a:buNone/>
              <a:defRPr lang="en-US" sz="2800" b="1" dirty="0">
                <a:solidFill>
                  <a:srgbClr val="FFFFFF"/>
                </a:solidFill>
                <a:latin typeface="Cambria" pitchFamily="34" charset="0"/>
                <a:ea typeface="Cambria" pitchFamily="34" charset="-122"/>
                <a:cs typeface="Cambria" pitchFamily="34" charset="-120"/>
              </a:defRPr>
            </a:lvl1pPr>
          </a:lstStyle>
          <a:p>
            <a:pPr marL="0" indent="0" algn="ctr">
              <a:buNone/>
            </a:pPr>
            <a:endParaRPr lang="en-US" sz="28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a:t>
            </a:fld>
            <a:endParaRPr lang="en-US"/>
          </a:p>
        </p:txBody>
      </p:sp>
      <p:pic>
        <p:nvPicPr>
          <p:cNvPr id="26" name="Logo ITI"/>
          <p:cNvPicPr>
            <a:picLocks noChangeAspect="1"/>
          </p:cNvPicPr>
          <p:nvPr/>
        </p:nvPicPr>
        <p:blipFill>
          <a:blip r:embed="rId5"/>
          <a:stretch>
            <a:fillRect/>
          </a:stretch>
        </p:blipFill>
        <p:spPr>
          <a:xfrm>
            <a:off x="10405872" y="91440"/>
            <a:ext cx="713232" cy="73152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6.png"/><Relationship Id="rId7" Type="http://schemas.openxmlformats.org/officeDocument/2006/relationships/image" Target="../media/image9.jpeg"/><Relationship Id="rId2" Type="http://schemas.openxmlformats.org/officeDocument/2006/relationships/image" Target="../media/image5.jpeg"/><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11.jpe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3.xml"/><Relationship Id="rId5" Type="http://schemas.openxmlformats.org/officeDocument/2006/relationships/image" Target="../media/image19.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27.png"/><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png"/><Relationship Id="rId7" Type="http://schemas.openxmlformats.org/officeDocument/2006/relationships/image" Target="../media/image40.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1.png"/><Relationship Id="rId7" Type="http://schemas.openxmlformats.org/officeDocument/2006/relationships/image" Target="../media/image40.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52.png"/><Relationship Id="rId3" Type="http://schemas.openxmlformats.org/officeDocument/2006/relationships/image" Target="../media/image46.png"/><Relationship Id="rId7" Type="http://schemas.openxmlformats.org/officeDocument/2006/relationships/image" Target="../media/image20.png"/><Relationship Id="rId12" Type="http://schemas.openxmlformats.org/officeDocument/2006/relationships/image" Target="../media/image51.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16.png"/><Relationship Id="rId5" Type="http://schemas.openxmlformats.org/officeDocument/2006/relationships/image" Target="../media/image48.png"/><Relationship Id="rId10" Type="http://schemas.openxmlformats.org/officeDocument/2006/relationships/image" Target="../media/image27.png"/><Relationship Id="rId4" Type="http://schemas.openxmlformats.org/officeDocument/2006/relationships/image" Target="../media/image47.png"/><Relationship Id="rId9" Type="http://schemas.openxmlformats.org/officeDocument/2006/relationships/image" Target="../media/image50.png"/><Relationship Id="rId1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53.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4.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48.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49.png"/></Relationships>
</file>

<file path=ppt/slides/_rels/slide15.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2.png"/><Relationship Id="rId3" Type="http://schemas.openxmlformats.org/officeDocument/2006/relationships/image" Target="../media/image40.png"/><Relationship Id="rId7" Type="http://schemas.openxmlformats.org/officeDocument/2006/relationships/image" Target="../media/image69.png"/><Relationship Id="rId12" Type="http://schemas.openxmlformats.org/officeDocument/2006/relationships/image" Target="../media/image3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1.png"/><Relationship Id="rId5" Type="http://schemas.openxmlformats.org/officeDocument/2006/relationships/image" Target="../media/image67.png"/><Relationship Id="rId10" Type="http://schemas.openxmlformats.org/officeDocument/2006/relationships/image" Target="../media/image14.png"/><Relationship Id="rId4" Type="http://schemas.openxmlformats.org/officeDocument/2006/relationships/image" Target="../media/image66.png"/><Relationship Id="rId9" Type="http://schemas.openxmlformats.org/officeDocument/2006/relationships/image" Target="../media/image26.png"/><Relationship Id="rId14" Type="http://schemas.openxmlformats.org/officeDocument/2006/relationships/image" Target="../media/image52.png"/></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png"/><Relationship Id="rId7" Type="http://schemas.openxmlformats.org/officeDocument/2006/relationships/image" Target="../media/image75.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14.png"/><Relationship Id="rId9"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8.png"/><Relationship Id="rId7" Type="http://schemas.openxmlformats.org/officeDocument/2006/relationships/image" Target="../media/image7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43.png"/><Relationship Id="rId10" Type="http://schemas.openxmlformats.org/officeDocument/2006/relationships/image" Target="../media/image75.png"/><Relationship Id="rId4" Type="http://schemas.openxmlformats.org/officeDocument/2006/relationships/image" Target="../media/image36.png"/><Relationship Id="rId9" Type="http://schemas.openxmlformats.org/officeDocument/2006/relationships/image" Target="../media/image76.png"/></Relationships>
</file>

<file path=ppt/slides/_rels/slide18.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slideLayout" Target="../slideLayouts/slideLayout2.xml"/><Relationship Id="rId1" Type="http://schemas.openxmlformats.org/officeDocument/2006/relationships/video" Target="https://www.youtube.com/embed/J_YwwU-_Kuo?feature=oembed"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8" Type="http://schemas.openxmlformats.org/officeDocument/2006/relationships/image" Target="../media/image83.jpeg"/><Relationship Id="rId3" Type="http://schemas.openxmlformats.org/officeDocument/2006/relationships/image" Target="../media/image79.png"/><Relationship Id="rId7" Type="http://schemas.openxmlformats.org/officeDocument/2006/relationships/image" Target="../media/image82.png"/><Relationship Id="rId2" Type="http://schemas.openxmlformats.org/officeDocument/2006/relationships/slideLayout" Target="../slideLayouts/slideLayout2.xml"/><Relationship Id="rId1" Type="http://schemas.openxmlformats.org/officeDocument/2006/relationships/video" Target="https://www.youtube.com/embed/FvY-YQ9O46k?feature=oembed" TargetMode="External"/><Relationship Id="rId6" Type="http://schemas.openxmlformats.org/officeDocument/2006/relationships/hyperlink" Target="https://youtu.be/FvY-YQ9O46k" TargetMode="External"/><Relationship Id="rId5" Type="http://schemas.openxmlformats.org/officeDocument/2006/relationships/image" Target="../media/image81.png"/><Relationship Id="rId4" Type="http://schemas.openxmlformats.org/officeDocument/2006/relationships/image" Target="../media/image80.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5.png"/><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23.xml.rels><?xml version="1.0" encoding="UTF-8" standalone="yes"?>
<Relationships xmlns="http://schemas.openxmlformats.org/package/2006/relationships"><Relationship Id="rId8" Type="http://schemas.openxmlformats.org/officeDocument/2006/relationships/image" Target="../media/image91.jpeg"/><Relationship Id="rId3" Type="http://schemas.openxmlformats.org/officeDocument/2006/relationships/image" Target="../media/image89.png"/><Relationship Id="rId7" Type="http://schemas.openxmlformats.org/officeDocument/2006/relationships/image" Target="../media/image90.png"/><Relationship Id="rId2" Type="http://schemas.openxmlformats.org/officeDocument/2006/relationships/slideLayout" Target="../slideLayouts/slideLayout2.xml"/><Relationship Id="rId1" Type="http://schemas.openxmlformats.org/officeDocument/2006/relationships/video" Target="https://www.youtube.com/embed/dsv_VzlZdzY?feature=oembed" TargetMode="External"/><Relationship Id="rId6" Type="http://schemas.openxmlformats.org/officeDocument/2006/relationships/hyperlink" Target="https://youtu.be/dsv_VzlZdzY" TargetMode="External"/><Relationship Id="rId5" Type="http://schemas.openxmlformats.org/officeDocument/2006/relationships/image" Target="../media/image75.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8" Type="http://schemas.openxmlformats.org/officeDocument/2006/relationships/hyperlink" Target="https://youtube.com/shorts/GYzDJxBfh6k" TargetMode="External"/><Relationship Id="rId3" Type="http://schemas.openxmlformats.org/officeDocument/2006/relationships/slideLayout" Target="../slideLayouts/slideLayout2.xml"/><Relationship Id="rId7" Type="http://schemas.openxmlformats.org/officeDocument/2006/relationships/image" Target="../media/image94.png"/><Relationship Id="rId2" Type="http://schemas.openxmlformats.org/officeDocument/2006/relationships/video" Target="https://www.youtube.com/embed/GYzDJxBfh6k?feature=oembed" TargetMode="External"/><Relationship Id="rId1" Type="http://schemas.openxmlformats.org/officeDocument/2006/relationships/video" Target="https://www.youtube.com/embed/nEXR8zI6qd4?feature=oembed" TargetMode="External"/><Relationship Id="rId6" Type="http://schemas.openxmlformats.org/officeDocument/2006/relationships/image" Target="../media/image93.png"/><Relationship Id="rId11" Type="http://schemas.openxmlformats.org/officeDocument/2006/relationships/image" Target="../media/image97.jpeg"/><Relationship Id="rId5" Type="http://schemas.openxmlformats.org/officeDocument/2006/relationships/hyperlink" Target="https://youtube.com/shorts/nEXR8zI6qd4" TargetMode="External"/><Relationship Id="rId10" Type="http://schemas.openxmlformats.org/officeDocument/2006/relationships/image" Target="../media/image96.jpeg"/><Relationship Id="rId4" Type="http://schemas.openxmlformats.org/officeDocument/2006/relationships/image" Target="../media/image92.png"/><Relationship Id="rId9" Type="http://schemas.openxmlformats.org/officeDocument/2006/relationships/image" Target="../media/image95.png"/></Relationships>
</file>

<file path=ppt/slides/_rels/slide2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png"/><Relationship Id="rId7" Type="http://schemas.openxmlformats.org/officeDocument/2006/relationships/image" Target="../media/image100.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99.png"/><Relationship Id="rId5" Type="http://schemas.openxmlformats.org/officeDocument/2006/relationships/image" Target="../media/image22.png"/><Relationship Id="rId4" Type="http://schemas.openxmlformats.org/officeDocument/2006/relationships/image" Target="../media/image98.png"/></Relationships>
</file>

<file path=ppt/slides/_rels/slide27.xml.rels><?xml version="1.0" encoding="UTF-8" standalone="yes"?>
<Relationships xmlns="http://schemas.openxmlformats.org/package/2006/relationships"><Relationship Id="rId2" Type="http://schemas.openxmlformats.org/officeDocument/2006/relationships/image" Target="../media/image10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5.png"/><Relationship Id="rId7" Type="http://schemas.openxmlformats.org/officeDocument/2006/relationships/image" Target="../media/image108.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41.png"/><Relationship Id="rId10" Type="http://schemas.openxmlformats.org/officeDocument/2006/relationships/image" Target="../media/image111.png"/><Relationship Id="rId4" Type="http://schemas.openxmlformats.org/officeDocument/2006/relationships/image" Target="../media/image106.png"/><Relationship Id="rId9" Type="http://schemas.openxmlformats.org/officeDocument/2006/relationships/image" Target="../media/image1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image" Target="../media/image106.png"/></Relationships>
</file>

<file path=ppt/slides/_rels/slide36.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slideLayout" Target="../slideLayouts/slideLayout2.xml"/><Relationship Id="rId1" Type="http://schemas.openxmlformats.org/officeDocument/2006/relationships/video" Target="https://www.youtube.com/embed/GXGtEt3dZYY?feature=oembed"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116.png"/><Relationship Id="rId5" Type="http://schemas.openxmlformats.org/officeDocument/2006/relationships/image" Target="../media/image16.pn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2">
            <a:extLst>
              <a:ext uri="{FF2B5EF4-FFF2-40B4-BE49-F238E27FC236}">
                <a16:creationId xmlns:a16="http://schemas.microsoft.com/office/drawing/2014/main" id="{B6498F3B-1833-8B6D-D018-2E0566CCA610}"/>
              </a:ext>
            </a:extLst>
          </p:cNvPr>
          <p:cNvGrpSpPr/>
          <p:nvPr/>
        </p:nvGrpSpPr>
        <p:grpSpPr>
          <a:xfrm rot="-5400000">
            <a:off x="5137406" y="-5137405"/>
            <a:ext cx="1868424" cy="12143234"/>
            <a:chOff x="0" y="0"/>
            <a:chExt cx="3202940" cy="24392195"/>
          </a:xfrm>
        </p:grpSpPr>
        <p:sp>
          <p:nvSpPr>
            <p:cNvPr id="45" name="Freeform 3">
              <a:extLst>
                <a:ext uri="{FF2B5EF4-FFF2-40B4-BE49-F238E27FC236}">
                  <a16:creationId xmlns:a16="http://schemas.microsoft.com/office/drawing/2014/main" id="{3E3D1EC5-3CC4-D4DD-2073-61B0F097D65B}"/>
                </a:ext>
              </a:extLst>
            </p:cNvPr>
            <p:cNvSpPr/>
            <p:nvPr/>
          </p:nvSpPr>
          <p:spPr>
            <a:xfrm>
              <a:off x="0" y="0"/>
              <a:ext cx="3202940" cy="24392195"/>
            </a:xfrm>
            <a:custGeom>
              <a:avLst/>
              <a:gdLst/>
              <a:ahLst/>
              <a:cxnLst/>
              <a:rect l="l" t="t" r="r" b="b"/>
              <a:pathLst>
                <a:path w="3202940" h="24392195">
                  <a:moveTo>
                    <a:pt x="0" y="0"/>
                  </a:moveTo>
                  <a:lnTo>
                    <a:pt x="3202940" y="0"/>
                  </a:lnTo>
                  <a:lnTo>
                    <a:pt x="3202940" y="24392195"/>
                  </a:lnTo>
                  <a:lnTo>
                    <a:pt x="0" y="24392195"/>
                  </a:lnTo>
                  <a:close/>
                </a:path>
              </a:pathLst>
            </a:custGeom>
            <a:gradFill rotWithShape="1">
              <a:gsLst>
                <a:gs pos="0">
                  <a:srgbClr val="731919">
                    <a:alpha val="100000"/>
                  </a:srgbClr>
                </a:gs>
                <a:gs pos="50000">
                  <a:srgbClr val="ED4848">
                    <a:alpha val="100000"/>
                  </a:srgbClr>
                </a:gs>
                <a:gs pos="100000">
                  <a:srgbClr val="FFFFFF">
                    <a:alpha val="100000"/>
                  </a:srgbClr>
                </a:gs>
              </a:gsLst>
              <a:lin ang="5400000"/>
            </a:gradFill>
          </p:spPr>
          <p:txBody>
            <a:bodyPr/>
            <a:lstStyle/>
            <a:p>
              <a:endParaRPr lang="en-US" sz="1440"/>
            </a:p>
          </p:txBody>
        </p:sp>
      </p:grpSp>
      <p:sp>
        <p:nvSpPr>
          <p:cNvPr id="2" name="Rectangle 1">
            <a:extLst>
              <a:ext uri="{FF2B5EF4-FFF2-40B4-BE49-F238E27FC236}">
                <a16:creationId xmlns:a16="http://schemas.microsoft.com/office/drawing/2014/main" id="{D58BEC14-BEE7-4920-A153-33268D27E7C5}"/>
              </a:ext>
            </a:extLst>
          </p:cNvPr>
          <p:cNvSpPr>
            <a:spLocks noGrp="1"/>
          </p:cNvSpPr>
          <p:nvPr/>
        </p:nvSpPr>
        <p:spPr>
          <a:xfrm>
            <a:off x="396240" y="152400"/>
            <a:ext cx="11353800" cy="213360"/>
          </a:xfrm>
          <a:prstGeom prst="rect">
            <a:avLst/>
          </a:prstGeom>
          <a:noFill/>
          <a:ln w="0">
            <a:noFill/>
          </a:ln>
        </p:spPr>
        <p:txBody>
          <a:bodyPr/>
          <a:lstStyle>
            <a:defPPr>
              <a:defRPr sz="1500" b="1">
                <a:solidFill>
                  <a:srgbClr val="7FDBE5"/>
                </a:solidFill>
                <a:latin typeface="DejaVu Sans"/>
                <a:ea typeface="DejaVu Sans"/>
                <a:cs typeface="DejaVu Sans"/>
              </a:defRPr>
            </a:defPPr>
          </a:lstStyle>
          <a:p>
            <a:pPr>
              <a:defRPr sz="1500" b="1">
                <a:solidFill>
                  <a:srgbClr val="7FDBE5"/>
                </a:solidFill>
                <a:latin typeface="DejaVu Sans"/>
                <a:ea typeface="DejaVu Sans"/>
                <a:cs typeface="DejaVu Sans"/>
              </a:defRPr>
            </a:pPr>
            <a:r>
              <a:rPr sz="1200" b="1" dirty="0">
                <a:solidFill>
                  <a:srgbClr val="7FDBE5"/>
                </a:solidFill>
                <a:latin typeface="Arial"/>
                <a:ea typeface="DejaVu Sans"/>
                <a:cs typeface="DejaVu Sans"/>
              </a:rPr>
              <a:t>TRƯỜNG ĐẠI HỌC HÙNG VƯƠNG / TIỂU BAN KỸ THUẬT VÀ CÔNG NGHỆ</a:t>
            </a:r>
            <a:r>
              <a:rPr lang="en-US" sz="1200" b="1" dirty="0">
                <a:solidFill>
                  <a:srgbClr val="7FDBE5"/>
                </a:solidFill>
                <a:latin typeface="Arial"/>
                <a:ea typeface="DejaVu Sans"/>
                <a:cs typeface="DejaVu Sans"/>
              </a:rPr>
              <a:t> - THỨ 7, NGÀY 24 THÁNG 10 NĂM 2026</a:t>
            </a:r>
            <a:endParaRPr sz="1200" b="1" dirty="0">
              <a:solidFill>
                <a:srgbClr val="7FDBE5"/>
              </a:solidFill>
              <a:latin typeface="Arial"/>
              <a:ea typeface="DejaVu Sans"/>
              <a:cs typeface="DejaVu Sans"/>
            </a:endParaRPr>
          </a:p>
        </p:txBody>
      </p:sp>
      <p:sp>
        <p:nvSpPr>
          <p:cNvPr id="3" name="Rectangle 2">
            <a:extLst>
              <a:ext uri="{FF2B5EF4-FFF2-40B4-BE49-F238E27FC236}">
                <a16:creationId xmlns:a16="http://schemas.microsoft.com/office/drawing/2014/main" id="{4EE57F02-7612-4BF3-9930-51DDE4BA5254}"/>
              </a:ext>
            </a:extLst>
          </p:cNvPr>
          <p:cNvSpPr>
            <a:spLocks noGrp="1"/>
          </p:cNvSpPr>
          <p:nvPr/>
        </p:nvSpPr>
        <p:spPr>
          <a:xfrm>
            <a:off x="396240" y="464820"/>
            <a:ext cx="11353800" cy="426720"/>
          </a:xfrm>
          <a:prstGeom prst="rect">
            <a:avLst/>
          </a:prstGeom>
          <a:noFill/>
          <a:ln w="0">
            <a:noFill/>
          </a:ln>
        </p:spPr>
        <p:txBody>
          <a:bodyPr/>
          <a:lstStyle>
            <a:defPPr>
              <a:defRPr sz="3225" b="1">
                <a:solidFill>
                  <a:srgbClr val="FFFFFF"/>
                </a:solidFill>
                <a:latin typeface="DejaVu Sans"/>
                <a:ea typeface="DejaVu Sans"/>
                <a:cs typeface="DejaVu Sans"/>
              </a:defRPr>
            </a:defPPr>
          </a:lstStyle>
          <a:p>
            <a:pPr>
              <a:defRPr sz="3225" b="1">
                <a:solidFill>
                  <a:srgbClr val="FFFFFF"/>
                </a:solidFill>
                <a:latin typeface="DejaVu Sans"/>
                <a:ea typeface="DejaVu Sans"/>
                <a:cs typeface="DejaVu Sans"/>
              </a:defRPr>
            </a:pPr>
            <a:r>
              <a:rPr lang="en-US" sz="2100" b="1" dirty="0">
                <a:solidFill>
                  <a:srgbClr val="FFFFFF"/>
                </a:solidFill>
                <a:latin typeface="Arial"/>
                <a:ea typeface="DejaVu Sans"/>
                <a:cs typeface="DejaVu Sans"/>
              </a:rPr>
              <a:t>MỘT SỐ HƯỚNG NGHIÊN CỨU HIỆN ĐẠI VỀ TRÍ TUỆ NHÂN TẠO</a:t>
            </a:r>
          </a:p>
          <a:p>
            <a:pPr>
              <a:defRPr sz="3225" b="1">
                <a:solidFill>
                  <a:srgbClr val="FFFFFF"/>
                </a:solidFill>
                <a:latin typeface="DejaVu Sans"/>
                <a:ea typeface="DejaVu Sans"/>
                <a:cs typeface="DejaVu Sans"/>
              </a:defRPr>
            </a:pPr>
            <a:r>
              <a:rPr lang="en-US" sz="2100" b="1" dirty="0">
                <a:solidFill>
                  <a:srgbClr val="FFFFFF"/>
                </a:solidFill>
                <a:latin typeface="Arial"/>
                <a:ea typeface="DejaVu Sans"/>
                <a:cs typeface="DejaVu Sans"/>
              </a:rPr>
              <a:t>CÁC SẢN PHẨM AI TẠI VIỆN CNTT, ĐHQGHN VÀ TIỀM NĂNG BẢN</a:t>
            </a:r>
          </a:p>
          <a:p>
            <a:pPr>
              <a:defRPr sz="3225" b="1">
                <a:solidFill>
                  <a:srgbClr val="FFFFFF"/>
                </a:solidFill>
                <a:latin typeface="DejaVu Sans"/>
                <a:ea typeface="DejaVu Sans"/>
                <a:cs typeface="DejaVu Sans"/>
              </a:defRPr>
            </a:pPr>
            <a:r>
              <a:rPr lang="en-US" sz="2100" b="1" dirty="0">
                <a:solidFill>
                  <a:srgbClr val="FFFFFF"/>
                </a:solidFill>
                <a:latin typeface="Arial"/>
              </a:rPr>
              <a:t>SAO SỐ CHO CÔNG BỐ </a:t>
            </a:r>
            <a:r>
              <a:rPr lang="en-US" sz="2100" b="1" dirty="0" err="1">
                <a:solidFill>
                  <a:srgbClr val="FFFFFF"/>
                </a:solidFill>
                <a:latin typeface="Arial"/>
              </a:rPr>
              <a:t>WoS</a:t>
            </a:r>
            <a:r>
              <a:rPr lang="en-US" sz="2100" b="1" dirty="0">
                <a:solidFill>
                  <a:srgbClr val="FFFFFF"/>
                </a:solidFill>
                <a:latin typeface="Arial"/>
              </a:rPr>
              <a:t>/SCOPUS</a:t>
            </a:r>
          </a:p>
        </p:txBody>
      </p:sp>
      <p:sp>
        <p:nvSpPr>
          <p:cNvPr id="6" name="Rectangle 5">
            <a:extLst>
              <a:ext uri="{FF2B5EF4-FFF2-40B4-BE49-F238E27FC236}">
                <a16:creationId xmlns:a16="http://schemas.microsoft.com/office/drawing/2014/main" id="{A3A67781-3386-4027-B9EF-8DBD1462B1B7}"/>
              </a:ext>
            </a:extLst>
          </p:cNvPr>
          <p:cNvSpPr>
            <a:spLocks noGrp="1"/>
          </p:cNvSpPr>
          <p:nvPr/>
        </p:nvSpPr>
        <p:spPr>
          <a:xfrm>
            <a:off x="396240" y="1543050"/>
            <a:ext cx="4343926" cy="194310"/>
          </a:xfrm>
          <a:prstGeom prst="rect">
            <a:avLst/>
          </a:prstGeom>
          <a:noFill/>
          <a:ln w="0">
            <a:noFill/>
          </a:ln>
        </p:spPr>
        <p:txBody>
          <a:bodyPr/>
          <a:lstStyle>
            <a:defPPr>
              <a:defRPr sz="1500" b="1">
                <a:solidFill>
                  <a:srgbClr val="175EA4"/>
                </a:solidFill>
                <a:latin typeface="DejaVu Sans"/>
                <a:ea typeface="DejaVu Sans"/>
                <a:cs typeface="DejaVu Sans"/>
              </a:defRPr>
            </a:defPPr>
          </a:lstStyle>
          <a:p>
            <a:pPr>
              <a:defRPr sz="1500" b="1">
                <a:solidFill>
                  <a:srgbClr val="175EA4"/>
                </a:solidFill>
                <a:latin typeface="DejaVu Sans"/>
                <a:ea typeface="DejaVu Sans"/>
                <a:cs typeface="DejaVu Sans"/>
              </a:defRPr>
            </a:pPr>
            <a:r>
              <a:rPr lang="en-US" sz="1200" b="1" dirty="0">
                <a:solidFill>
                  <a:srgbClr val="FFFF00"/>
                </a:solidFill>
                <a:latin typeface="Arial"/>
                <a:ea typeface="DejaVu Sans"/>
                <a:cs typeface="DejaVu Sans"/>
              </a:rPr>
              <a:t>HƯỚNG NGHIÊN CỨU VÀ TIỀM NĂNG BẢN SAO SỐ</a:t>
            </a:r>
            <a:endParaRPr sz="1200" b="1" dirty="0">
              <a:solidFill>
                <a:srgbClr val="FFFF00"/>
              </a:solidFill>
              <a:latin typeface="Arial"/>
              <a:ea typeface="DejaVu Sans"/>
              <a:cs typeface="DejaVu Sans"/>
            </a:endParaRPr>
          </a:p>
        </p:txBody>
      </p:sp>
      <p:sp>
        <p:nvSpPr>
          <p:cNvPr id="7" name="Rectangle 6">
            <a:extLst>
              <a:ext uri="{FF2B5EF4-FFF2-40B4-BE49-F238E27FC236}">
                <a16:creationId xmlns:a16="http://schemas.microsoft.com/office/drawing/2014/main" id="{2DF9819C-337B-4860-AF26-47B3037A96D6}"/>
              </a:ext>
            </a:extLst>
          </p:cNvPr>
          <p:cNvSpPr>
            <a:spLocks noGrp="1"/>
          </p:cNvSpPr>
          <p:nvPr/>
        </p:nvSpPr>
        <p:spPr>
          <a:xfrm>
            <a:off x="396240" y="1897380"/>
            <a:ext cx="11353800" cy="678180"/>
          </a:xfrm>
          <a:prstGeom prst="rect">
            <a:avLst/>
          </a:prstGeom>
          <a:noFill/>
          <a:ln w="0">
            <a:noFill/>
          </a:ln>
        </p:spPr>
        <p:txBody>
          <a:bodyPr/>
          <a:lstStyle>
            <a:defPPr>
              <a:defRPr sz="1725" b="0">
                <a:solidFill>
                  <a:srgbClr val="112E50"/>
                </a:solidFill>
                <a:latin typeface="DejaVu Sans"/>
                <a:ea typeface="DejaVu Sans"/>
                <a:cs typeface="DejaVu Sans"/>
              </a:defRPr>
            </a:defPPr>
          </a:lstStyle>
          <a:p>
            <a:pPr>
              <a:defRPr sz="1725" b="0">
                <a:solidFill>
                  <a:srgbClr val="112E50"/>
                </a:solidFill>
                <a:latin typeface="DejaVu Sans"/>
                <a:ea typeface="DejaVu Sans"/>
                <a:cs typeface="DejaVu Sans"/>
              </a:defRPr>
            </a:pPr>
            <a:r>
              <a:rPr sz="1380">
                <a:solidFill>
                  <a:srgbClr val="112E50"/>
                </a:solidFill>
                <a:latin typeface="Arial"/>
                <a:ea typeface="DejaVu Sans"/>
                <a:cs typeface="DejaVu Sans"/>
              </a:rPr>
              <a:t>Giới thiệu các hướng nghiên cứu AI từ năm 2026, sản phẩm ứng dụng tại AIRC và tiềm năng nghiên cứu Bản sao số (Digital Twin). Ví dụ thực hành minh họa thiết kế nghiên cứu và xây dựng bản thảo cho tạp chí WoS/Scopus. Tư vấn trực tiếp giúp giảng viên hoàn thiện ý tưởng nghiên cứu kỹ thuật và lập kế hoạch công bố Q1/Q2.</a:t>
            </a:r>
          </a:p>
        </p:txBody>
      </p:sp>
      <p:sp>
        <p:nvSpPr>
          <p:cNvPr id="8" name="Rectangle 7">
            <a:extLst>
              <a:ext uri="{FF2B5EF4-FFF2-40B4-BE49-F238E27FC236}">
                <a16:creationId xmlns:a16="http://schemas.microsoft.com/office/drawing/2014/main" id="{59B769BE-6EF4-4F3D-8879-E8EB84CB60A4}"/>
              </a:ext>
            </a:extLst>
          </p:cNvPr>
          <p:cNvSpPr>
            <a:spLocks noGrp="1"/>
          </p:cNvSpPr>
          <p:nvPr/>
        </p:nvSpPr>
        <p:spPr>
          <a:xfrm>
            <a:off x="396240" y="2689860"/>
            <a:ext cx="3581400" cy="30480"/>
          </a:xfrm>
          <a:prstGeom prst="rect">
            <a:avLst/>
          </a:prstGeom>
          <a:solidFill>
            <a:srgbClr val="175EA4"/>
          </a:solidFill>
          <a:ln w="0">
            <a:noFill/>
          </a:ln>
        </p:spPr>
        <p:txBody>
          <a:bodyPr/>
          <a:lstStyle/>
          <a:p>
            <a:endParaRPr lang="en-US" sz="1440"/>
          </a:p>
        </p:txBody>
      </p:sp>
      <p:sp>
        <p:nvSpPr>
          <p:cNvPr id="9" name="Rectangle 8">
            <a:extLst>
              <a:ext uri="{FF2B5EF4-FFF2-40B4-BE49-F238E27FC236}">
                <a16:creationId xmlns:a16="http://schemas.microsoft.com/office/drawing/2014/main" id="{EE2BE082-15DC-4454-9E40-BFF6FC609181}"/>
              </a:ext>
            </a:extLst>
          </p:cNvPr>
          <p:cNvSpPr>
            <a:spLocks noGrp="1"/>
          </p:cNvSpPr>
          <p:nvPr/>
        </p:nvSpPr>
        <p:spPr>
          <a:xfrm>
            <a:off x="396240" y="2827020"/>
            <a:ext cx="792480" cy="464820"/>
          </a:xfrm>
          <a:prstGeom prst="rect">
            <a:avLst/>
          </a:prstGeom>
          <a:noFill/>
          <a:ln w="0">
            <a:noFill/>
          </a:ln>
        </p:spPr>
        <p:txBody>
          <a:bodyPr/>
          <a:lstStyle>
            <a:defPPr>
              <a:defRPr sz="3825" b="1">
                <a:solidFill>
                  <a:srgbClr val="175EA4"/>
                </a:solidFill>
                <a:latin typeface="DejaVu Sans"/>
                <a:ea typeface="DejaVu Sans"/>
                <a:cs typeface="DejaVu Sans"/>
              </a:defRPr>
            </a:defPPr>
          </a:lstStyle>
          <a:p>
            <a:pPr>
              <a:defRPr sz="3825" b="1">
                <a:solidFill>
                  <a:srgbClr val="175EA4"/>
                </a:solidFill>
                <a:latin typeface="DejaVu Sans"/>
                <a:ea typeface="DejaVu Sans"/>
                <a:cs typeface="DejaVu Sans"/>
              </a:defRPr>
            </a:pPr>
            <a:r>
              <a:rPr sz="3060" b="1">
                <a:solidFill>
                  <a:srgbClr val="175EA4"/>
                </a:solidFill>
                <a:latin typeface="DejaVu Sans"/>
                <a:ea typeface="DejaVu Sans"/>
                <a:cs typeface="DejaVu Sans"/>
              </a:rPr>
              <a:t>60</a:t>
            </a:r>
          </a:p>
        </p:txBody>
      </p:sp>
      <p:sp>
        <p:nvSpPr>
          <p:cNvPr id="10" name="Rectangle 9">
            <a:extLst>
              <a:ext uri="{FF2B5EF4-FFF2-40B4-BE49-F238E27FC236}">
                <a16:creationId xmlns:a16="http://schemas.microsoft.com/office/drawing/2014/main" id="{72E990BD-C22A-46C8-A966-4D53FDAA130E}"/>
              </a:ext>
            </a:extLst>
          </p:cNvPr>
          <p:cNvSpPr>
            <a:spLocks noGrp="1"/>
          </p:cNvSpPr>
          <p:nvPr/>
        </p:nvSpPr>
        <p:spPr>
          <a:xfrm>
            <a:off x="1272540" y="3017520"/>
            <a:ext cx="2514600" cy="205740"/>
          </a:xfrm>
          <a:prstGeom prst="rect">
            <a:avLst/>
          </a:prstGeom>
          <a:noFill/>
          <a:ln w="0">
            <a:noFill/>
          </a:ln>
        </p:spPr>
        <p:txBody>
          <a:bodyPr/>
          <a:lstStyle>
            <a:defPPr>
              <a:defRPr sz="1500" b="1">
                <a:solidFill>
                  <a:srgbClr val="175EA4"/>
                </a:solidFill>
                <a:latin typeface="DejaVu Sans"/>
                <a:ea typeface="DejaVu Sans"/>
                <a:cs typeface="DejaVu Sans"/>
              </a:defRPr>
            </a:defPPr>
          </a:lstStyle>
          <a:p>
            <a:pPr>
              <a:defRPr sz="1500" b="1">
                <a:solidFill>
                  <a:srgbClr val="175EA4"/>
                </a:solidFill>
                <a:latin typeface="DejaVu Sans"/>
                <a:ea typeface="DejaVu Sans"/>
                <a:cs typeface="DejaVu Sans"/>
              </a:defRPr>
            </a:pPr>
            <a:r>
              <a:rPr sz="1200" b="1">
                <a:solidFill>
                  <a:srgbClr val="175EA4"/>
                </a:solidFill>
                <a:latin typeface="Arial"/>
                <a:ea typeface="DejaVu Sans"/>
                <a:cs typeface="DejaVu Sans"/>
              </a:rPr>
              <a:t>PHÚT</a:t>
            </a:r>
          </a:p>
        </p:txBody>
      </p:sp>
      <p:sp>
        <p:nvSpPr>
          <p:cNvPr id="11" name="Rectangle 10">
            <a:extLst>
              <a:ext uri="{FF2B5EF4-FFF2-40B4-BE49-F238E27FC236}">
                <a16:creationId xmlns:a16="http://schemas.microsoft.com/office/drawing/2014/main" id="{D1FD75C1-6563-401E-90A8-DFE0503306A8}"/>
              </a:ext>
            </a:extLst>
          </p:cNvPr>
          <p:cNvSpPr>
            <a:spLocks noGrp="1"/>
          </p:cNvSpPr>
          <p:nvPr/>
        </p:nvSpPr>
        <p:spPr>
          <a:xfrm>
            <a:off x="396240" y="3390900"/>
            <a:ext cx="3581400" cy="243840"/>
          </a:xfrm>
          <a:prstGeom prst="rect">
            <a:avLst/>
          </a:prstGeom>
          <a:noFill/>
          <a:ln w="0">
            <a:noFill/>
          </a:ln>
        </p:spPr>
        <p:txBody>
          <a:bodyPr/>
          <a:lstStyle>
            <a:defPPr>
              <a:defRPr sz="1650" b="1">
                <a:solidFill>
                  <a:srgbClr val="175EA4"/>
                </a:solidFill>
                <a:latin typeface="DejaVu Sans"/>
                <a:ea typeface="DejaVu Sans"/>
                <a:cs typeface="DejaVu Sans"/>
              </a:defRPr>
            </a:defPPr>
          </a:lstStyle>
          <a:p>
            <a:pPr>
              <a:defRPr sz="1650" b="1">
                <a:solidFill>
                  <a:srgbClr val="175EA4"/>
                </a:solidFill>
                <a:latin typeface="DejaVu Sans"/>
                <a:ea typeface="DejaVu Sans"/>
                <a:cs typeface="DejaVu Sans"/>
              </a:defRPr>
            </a:pPr>
            <a:r>
              <a:rPr sz="1320" b="1">
                <a:solidFill>
                  <a:srgbClr val="175EA4"/>
                </a:solidFill>
                <a:latin typeface="Arial"/>
                <a:ea typeface="DejaVu Sans"/>
                <a:cs typeface="DejaVu Sans"/>
              </a:rPr>
              <a:t>BÁO CÁO CHUYÊN SÂU</a:t>
            </a:r>
          </a:p>
        </p:txBody>
      </p:sp>
      <p:sp>
        <p:nvSpPr>
          <p:cNvPr id="12" name="Rectangle 11">
            <a:extLst>
              <a:ext uri="{FF2B5EF4-FFF2-40B4-BE49-F238E27FC236}">
                <a16:creationId xmlns:a16="http://schemas.microsoft.com/office/drawing/2014/main" id="{8732B03D-EF45-4D93-8FCB-8EE6C2022B74}"/>
              </a:ext>
            </a:extLst>
          </p:cNvPr>
          <p:cNvSpPr>
            <a:spLocks noGrp="1"/>
          </p:cNvSpPr>
          <p:nvPr/>
        </p:nvSpPr>
        <p:spPr>
          <a:xfrm>
            <a:off x="4297680" y="2689860"/>
            <a:ext cx="3581400" cy="30480"/>
          </a:xfrm>
          <a:prstGeom prst="rect">
            <a:avLst/>
          </a:prstGeom>
          <a:solidFill>
            <a:srgbClr val="007E87"/>
          </a:solidFill>
          <a:ln w="0">
            <a:noFill/>
          </a:ln>
        </p:spPr>
        <p:txBody>
          <a:bodyPr/>
          <a:lstStyle/>
          <a:p>
            <a:endParaRPr lang="en-US" sz="1440"/>
          </a:p>
        </p:txBody>
      </p:sp>
      <p:sp>
        <p:nvSpPr>
          <p:cNvPr id="13" name="Rectangle 12">
            <a:extLst>
              <a:ext uri="{FF2B5EF4-FFF2-40B4-BE49-F238E27FC236}">
                <a16:creationId xmlns:a16="http://schemas.microsoft.com/office/drawing/2014/main" id="{497312E5-1CCD-493C-AAC8-20696DA5FD91}"/>
              </a:ext>
            </a:extLst>
          </p:cNvPr>
          <p:cNvSpPr>
            <a:spLocks noGrp="1"/>
          </p:cNvSpPr>
          <p:nvPr/>
        </p:nvSpPr>
        <p:spPr>
          <a:xfrm>
            <a:off x="4297680" y="2827020"/>
            <a:ext cx="792480" cy="464820"/>
          </a:xfrm>
          <a:prstGeom prst="rect">
            <a:avLst/>
          </a:prstGeom>
          <a:noFill/>
          <a:ln w="0">
            <a:noFill/>
          </a:ln>
        </p:spPr>
        <p:txBody>
          <a:bodyPr/>
          <a:lstStyle>
            <a:defPPr>
              <a:defRPr sz="3825" b="1">
                <a:solidFill>
                  <a:srgbClr val="007E87"/>
                </a:solidFill>
                <a:latin typeface="DejaVu Sans"/>
                <a:ea typeface="DejaVu Sans"/>
                <a:cs typeface="DejaVu Sans"/>
              </a:defRPr>
            </a:defPPr>
          </a:lstStyle>
          <a:p>
            <a:pPr>
              <a:defRPr sz="3825" b="1">
                <a:solidFill>
                  <a:srgbClr val="007E87"/>
                </a:solidFill>
                <a:latin typeface="DejaVu Sans"/>
                <a:ea typeface="DejaVu Sans"/>
                <a:cs typeface="DejaVu Sans"/>
              </a:defRPr>
            </a:pPr>
            <a:r>
              <a:rPr sz="3060" b="1">
                <a:solidFill>
                  <a:srgbClr val="007E87"/>
                </a:solidFill>
                <a:latin typeface="DejaVu Sans"/>
                <a:ea typeface="DejaVu Sans"/>
                <a:cs typeface="DejaVu Sans"/>
              </a:rPr>
              <a:t>45</a:t>
            </a:r>
          </a:p>
        </p:txBody>
      </p:sp>
      <p:sp>
        <p:nvSpPr>
          <p:cNvPr id="14" name="Rectangle 13">
            <a:extLst>
              <a:ext uri="{FF2B5EF4-FFF2-40B4-BE49-F238E27FC236}">
                <a16:creationId xmlns:a16="http://schemas.microsoft.com/office/drawing/2014/main" id="{C445396F-27D9-4E04-96A4-83150D2012E2}"/>
              </a:ext>
            </a:extLst>
          </p:cNvPr>
          <p:cNvSpPr>
            <a:spLocks noGrp="1"/>
          </p:cNvSpPr>
          <p:nvPr/>
        </p:nvSpPr>
        <p:spPr>
          <a:xfrm>
            <a:off x="5173980" y="3017520"/>
            <a:ext cx="2514600" cy="205740"/>
          </a:xfrm>
          <a:prstGeom prst="rect">
            <a:avLst/>
          </a:prstGeom>
          <a:noFill/>
          <a:ln w="0">
            <a:noFill/>
          </a:ln>
        </p:spPr>
        <p:txBody>
          <a:bodyPr/>
          <a:lstStyle>
            <a:defPPr>
              <a:defRPr sz="1500" b="1">
                <a:solidFill>
                  <a:srgbClr val="007E87"/>
                </a:solidFill>
                <a:latin typeface="DejaVu Sans"/>
                <a:ea typeface="DejaVu Sans"/>
                <a:cs typeface="DejaVu Sans"/>
              </a:defRPr>
            </a:defPPr>
          </a:lstStyle>
          <a:p>
            <a:pPr>
              <a:defRPr sz="1500" b="1">
                <a:solidFill>
                  <a:srgbClr val="007E87"/>
                </a:solidFill>
                <a:latin typeface="DejaVu Sans"/>
                <a:ea typeface="DejaVu Sans"/>
                <a:cs typeface="DejaVu Sans"/>
              </a:defRPr>
            </a:pPr>
            <a:r>
              <a:rPr sz="1200" b="1">
                <a:solidFill>
                  <a:srgbClr val="007E87"/>
                </a:solidFill>
                <a:latin typeface="Arial"/>
                <a:ea typeface="DejaVu Sans"/>
                <a:cs typeface="DejaVu Sans"/>
              </a:rPr>
              <a:t>PHÚT</a:t>
            </a:r>
          </a:p>
        </p:txBody>
      </p:sp>
      <p:sp>
        <p:nvSpPr>
          <p:cNvPr id="15" name="Rectangle 14">
            <a:extLst>
              <a:ext uri="{FF2B5EF4-FFF2-40B4-BE49-F238E27FC236}">
                <a16:creationId xmlns:a16="http://schemas.microsoft.com/office/drawing/2014/main" id="{0D63F9ED-515F-4AB2-9F81-28C5199B1598}"/>
              </a:ext>
            </a:extLst>
          </p:cNvPr>
          <p:cNvSpPr>
            <a:spLocks noGrp="1"/>
          </p:cNvSpPr>
          <p:nvPr/>
        </p:nvSpPr>
        <p:spPr>
          <a:xfrm>
            <a:off x="4297680" y="3390900"/>
            <a:ext cx="3581400" cy="243840"/>
          </a:xfrm>
          <a:prstGeom prst="rect">
            <a:avLst/>
          </a:prstGeom>
          <a:noFill/>
          <a:ln w="0">
            <a:noFill/>
          </a:ln>
        </p:spPr>
        <p:txBody>
          <a:bodyPr/>
          <a:lstStyle>
            <a:defPPr>
              <a:defRPr sz="1650" b="1">
                <a:solidFill>
                  <a:srgbClr val="007E87"/>
                </a:solidFill>
                <a:latin typeface="DejaVu Sans"/>
                <a:ea typeface="DejaVu Sans"/>
                <a:cs typeface="DejaVu Sans"/>
              </a:defRPr>
            </a:defPPr>
          </a:lstStyle>
          <a:p>
            <a:pPr>
              <a:defRPr sz="1650" b="1">
                <a:solidFill>
                  <a:srgbClr val="007E87"/>
                </a:solidFill>
                <a:latin typeface="DejaVu Sans"/>
                <a:ea typeface="DejaVu Sans"/>
                <a:cs typeface="DejaVu Sans"/>
              </a:defRPr>
            </a:pPr>
            <a:r>
              <a:rPr sz="1320" b="1">
                <a:solidFill>
                  <a:srgbClr val="007E87"/>
                </a:solidFill>
                <a:latin typeface="Arial"/>
                <a:ea typeface="DejaVu Sans"/>
                <a:cs typeface="DejaVu Sans"/>
              </a:rPr>
              <a:t>THỰC HÀNH</a:t>
            </a:r>
          </a:p>
        </p:txBody>
      </p:sp>
      <p:sp>
        <p:nvSpPr>
          <p:cNvPr id="16" name="Rectangle 15">
            <a:extLst>
              <a:ext uri="{FF2B5EF4-FFF2-40B4-BE49-F238E27FC236}">
                <a16:creationId xmlns:a16="http://schemas.microsoft.com/office/drawing/2014/main" id="{AE535CA6-2BA7-4169-99BA-01583050A5BE}"/>
              </a:ext>
            </a:extLst>
          </p:cNvPr>
          <p:cNvSpPr>
            <a:spLocks noGrp="1"/>
          </p:cNvSpPr>
          <p:nvPr/>
        </p:nvSpPr>
        <p:spPr>
          <a:xfrm>
            <a:off x="8199120" y="2689860"/>
            <a:ext cx="3581400" cy="30480"/>
          </a:xfrm>
          <a:prstGeom prst="rect">
            <a:avLst/>
          </a:prstGeom>
          <a:solidFill>
            <a:srgbClr val="B33249"/>
          </a:solidFill>
          <a:ln w="0">
            <a:noFill/>
          </a:ln>
        </p:spPr>
        <p:txBody>
          <a:bodyPr/>
          <a:lstStyle/>
          <a:p>
            <a:endParaRPr lang="en-US" sz="1440"/>
          </a:p>
        </p:txBody>
      </p:sp>
      <p:sp>
        <p:nvSpPr>
          <p:cNvPr id="17" name="Rectangle 16">
            <a:extLst>
              <a:ext uri="{FF2B5EF4-FFF2-40B4-BE49-F238E27FC236}">
                <a16:creationId xmlns:a16="http://schemas.microsoft.com/office/drawing/2014/main" id="{0F5A9084-3C38-41F9-9E0C-223EDAF32FDE}"/>
              </a:ext>
            </a:extLst>
          </p:cNvPr>
          <p:cNvSpPr>
            <a:spLocks noGrp="1"/>
          </p:cNvSpPr>
          <p:nvPr/>
        </p:nvSpPr>
        <p:spPr>
          <a:xfrm>
            <a:off x="8199120" y="2827020"/>
            <a:ext cx="792480" cy="464820"/>
          </a:xfrm>
          <a:prstGeom prst="rect">
            <a:avLst/>
          </a:prstGeom>
          <a:noFill/>
          <a:ln w="0">
            <a:noFill/>
          </a:ln>
        </p:spPr>
        <p:txBody>
          <a:bodyPr/>
          <a:lstStyle>
            <a:defPPr>
              <a:defRPr sz="3825" b="1">
                <a:solidFill>
                  <a:srgbClr val="B33249"/>
                </a:solidFill>
                <a:latin typeface="DejaVu Sans"/>
                <a:ea typeface="DejaVu Sans"/>
                <a:cs typeface="DejaVu Sans"/>
              </a:defRPr>
            </a:defPPr>
          </a:lstStyle>
          <a:p>
            <a:pPr>
              <a:defRPr sz="3825" b="1">
                <a:solidFill>
                  <a:srgbClr val="B33249"/>
                </a:solidFill>
                <a:latin typeface="DejaVu Sans"/>
                <a:ea typeface="DejaVu Sans"/>
                <a:cs typeface="DejaVu Sans"/>
              </a:defRPr>
            </a:pPr>
            <a:r>
              <a:rPr sz="3060" b="1">
                <a:solidFill>
                  <a:srgbClr val="B33249"/>
                </a:solidFill>
                <a:latin typeface="DejaVu Sans"/>
                <a:ea typeface="DejaVu Sans"/>
                <a:cs typeface="DejaVu Sans"/>
              </a:rPr>
              <a:t>15</a:t>
            </a:r>
          </a:p>
        </p:txBody>
      </p:sp>
      <p:sp>
        <p:nvSpPr>
          <p:cNvPr id="18" name="Rectangle 17">
            <a:extLst>
              <a:ext uri="{FF2B5EF4-FFF2-40B4-BE49-F238E27FC236}">
                <a16:creationId xmlns:a16="http://schemas.microsoft.com/office/drawing/2014/main" id="{96827B31-2F15-4983-A363-F2024362A9CA}"/>
              </a:ext>
            </a:extLst>
          </p:cNvPr>
          <p:cNvSpPr>
            <a:spLocks noGrp="1"/>
          </p:cNvSpPr>
          <p:nvPr/>
        </p:nvSpPr>
        <p:spPr>
          <a:xfrm>
            <a:off x="9075420" y="3017520"/>
            <a:ext cx="2514600" cy="205740"/>
          </a:xfrm>
          <a:prstGeom prst="rect">
            <a:avLst/>
          </a:prstGeom>
          <a:noFill/>
          <a:ln w="0">
            <a:noFill/>
          </a:ln>
        </p:spPr>
        <p:txBody>
          <a:bodyPr/>
          <a:lstStyle>
            <a:defPPr>
              <a:defRPr sz="1500" b="1">
                <a:solidFill>
                  <a:srgbClr val="B33249"/>
                </a:solidFill>
                <a:latin typeface="DejaVu Sans"/>
                <a:ea typeface="DejaVu Sans"/>
                <a:cs typeface="DejaVu Sans"/>
              </a:defRPr>
            </a:defPPr>
          </a:lstStyle>
          <a:p>
            <a:pPr>
              <a:defRPr sz="1500" b="1">
                <a:solidFill>
                  <a:srgbClr val="B33249"/>
                </a:solidFill>
                <a:latin typeface="DejaVu Sans"/>
                <a:ea typeface="DejaVu Sans"/>
                <a:cs typeface="DejaVu Sans"/>
              </a:defRPr>
            </a:pPr>
            <a:r>
              <a:rPr sz="1200" b="1">
                <a:solidFill>
                  <a:srgbClr val="B33249"/>
                </a:solidFill>
                <a:latin typeface="Arial"/>
                <a:ea typeface="DejaVu Sans"/>
                <a:cs typeface="DejaVu Sans"/>
              </a:rPr>
              <a:t>PHÚT</a:t>
            </a:r>
          </a:p>
        </p:txBody>
      </p:sp>
      <p:sp>
        <p:nvSpPr>
          <p:cNvPr id="19" name="Rectangle 18">
            <a:extLst>
              <a:ext uri="{FF2B5EF4-FFF2-40B4-BE49-F238E27FC236}">
                <a16:creationId xmlns:a16="http://schemas.microsoft.com/office/drawing/2014/main" id="{1896D3DA-37BE-4A52-9843-A417CBD9862B}"/>
              </a:ext>
            </a:extLst>
          </p:cNvPr>
          <p:cNvSpPr>
            <a:spLocks noGrp="1"/>
          </p:cNvSpPr>
          <p:nvPr/>
        </p:nvSpPr>
        <p:spPr>
          <a:xfrm>
            <a:off x="8199120" y="3390900"/>
            <a:ext cx="3581400" cy="243840"/>
          </a:xfrm>
          <a:prstGeom prst="rect">
            <a:avLst/>
          </a:prstGeom>
          <a:noFill/>
          <a:ln w="0">
            <a:noFill/>
          </a:ln>
        </p:spPr>
        <p:txBody>
          <a:bodyPr/>
          <a:lstStyle>
            <a:defPPr>
              <a:defRPr sz="1650" b="1">
                <a:solidFill>
                  <a:srgbClr val="B33249"/>
                </a:solidFill>
                <a:latin typeface="DejaVu Sans"/>
                <a:ea typeface="DejaVu Sans"/>
                <a:cs typeface="DejaVu Sans"/>
              </a:defRPr>
            </a:defPPr>
          </a:lstStyle>
          <a:p>
            <a:pPr>
              <a:defRPr sz="1650" b="1">
                <a:solidFill>
                  <a:srgbClr val="B33249"/>
                </a:solidFill>
                <a:latin typeface="DejaVu Sans"/>
                <a:ea typeface="DejaVu Sans"/>
                <a:cs typeface="DejaVu Sans"/>
              </a:defRPr>
            </a:pPr>
            <a:r>
              <a:rPr sz="1320" b="1">
                <a:solidFill>
                  <a:srgbClr val="B33249"/>
                </a:solidFill>
                <a:latin typeface="Arial"/>
                <a:ea typeface="DejaVu Sans"/>
                <a:cs typeface="DejaVu Sans"/>
              </a:rPr>
              <a:t>TƯ VẤN NGHIÊN CỨU</a:t>
            </a:r>
          </a:p>
        </p:txBody>
      </p:sp>
      <p:sp>
        <p:nvSpPr>
          <p:cNvPr id="20" name="Rectangle 19">
            <a:extLst>
              <a:ext uri="{FF2B5EF4-FFF2-40B4-BE49-F238E27FC236}">
                <a16:creationId xmlns:a16="http://schemas.microsoft.com/office/drawing/2014/main" id="{75F71DB8-503C-43D7-82BE-BAA086E6FF24}"/>
              </a:ext>
            </a:extLst>
          </p:cNvPr>
          <p:cNvSpPr>
            <a:spLocks noGrp="1"/>
          </p:cNvSpPr>
          <p:nvPr/>
        </p:nvSpPr>
        <p:spPr>
          <a:xfrm>
            <a:off x="396240" y="3726180"/>
            <a:ext cx="3581400" cy="449580"/>
          </a:xfrm>
          <a:prstGeom prst="rect">
            <a:avLst/>
          </a:prstGeom>
          <a:noFill/>
          <a:ln w="0">
            <a:noFill/>
          </a:ln>
        </p:spPr>
        <p:txBody>
          <a:bodyPr/>
          <a:lstStyle>
            <a:defPPr>
              <a:defRPr sz="1725" b="0">
                <a:solidFill>
                  <a:srgbClr val="112E50"/>
                </a:solidFill>
                <a:latin typeface="DejaVu Sans"/>
                <a:ea typeface="DejaVu Sans"/>
                <a:cs typeface="DejaVu Sans"/>
              </a:defRPr>
            </a:defPPr>
          </a:lstStyle>
          <a:p>
            <a:pPr>
              <a:defRPr sz="1725" b="0">
                <a:solidFill>
                  <a:srgbClr val="112E50"/>
                </a:solidFill>
                <a:latin typeface="DejaVu Sans"/>
                <a:ea typeface="DejaVu Sans"/>
                <a:cs typeface="DejaVu Sans"/>
              </a:defRPr>
            </a:pPr>
            <a:r>
              <a:rPr sz="1280">
                <a:solidFill>
                  <a:srgbClr val="112E50"/>
                </a:solidFill>
                <a:latin typeface="Arial"/>
                <a:ea typeface="DejaVu Sans"/>
                <a:cs typeface="DejaVu Sans"/>
              </a:rPr>
              <a:t>Hướng nghiên cứu AI, sản phẩm AIRC</a:t>
            </a:r>
          </a:p>
          <a:p>
            <a:pPr>
              <a:defRPr sz="1725" b="0">
                <a:solidFill>
                  <a:srgbClr val="112E50"/>
                </a:solidFill>
                <a:latin typeface="DejaVu Sans"/>
                <a:ea typeface="DejaVu Sans"/>
                <a:cs typeface="DejaVu Sans"/>
              </a:defRPr>
            </a:pPr>
            <a:r>
              <a:rPr sz="1280">
                <a:solidFill>
                  <a:srgbClr val="112E50"/>
                </a:solidFill>
                <a:latin typeface="Arial"/>
                <a:ea typeface="DejaVu Sans"/>
                <a:cs typeface="DejaVu Sans"/>
              </a:rPr>
              <a:t>và tiềm năng nghiên cứu Bản sao số</a:t>
            </a:r>
          </a:p>
        </p:txBody>
      </p:sp>
      <p:sp>
        <p:nvSpPr>
          <p:cNvPr id="21" name="Rectangle 20">
            <a:extLst>
              <a:ext uri="{FF2B5EF4-FFF2-40B4-BE49-F238E27FC236}">
                <a16:creationId xmlns:a16="http://schemas.microsoft.com/office/drawing/2014/main" id="{21DEAB20-0BF3-46EF-AE75-1FAA6502641A}"/>
              </a:ext>
            </a:extLst>
          </p:cNvPr>
          <p:cNvSpPr>
            <a:spLocks noGrp="1"/>
          </p:cNvSpPr>
          <p:nvPr/>
        </p:nvSpPr>
        <p:spPr>
          <a:xfrm>
            <a:off x="396240" y="4198620"/>
            <a:ext cx="3581400" cy="213360"/>
          </a:xfrm>
          <a:prstGeom prst="rect">
            <a:avLst/>
          </a:prstGeom>
          <a:noFill/>
          <a:ln w="0">
            <a:noFill/>
          </a:ln>
        </p:spPr>
        <p:txBody>
          <a:bodyPr/>
          <a:lstStyle>
            <a:defPPr>
              <a:defRPr sz="1500" b="1">
                <a:solidFill>
                  <a:srgbClr val="175EA4"/>
                </a:solidFill>
                <a:latin typeface="DejaVu Sans"/>
                <a:ea typeface="DejaVu Sans"/>
                <a:cs typeface="DejaVu Sans"/>
              </a:defRPr>
            </a:defPPr>
          </a:lstStyle>
          <a:p>
            <a:pPr>
              <a:defRPr sz="1500" b="1">
                <a:solidFill>
                  <a:srgbClr val="175EA4"/>
                </a:solidFill>
                <a:latin typeface="DejaVu Sans"/>
                <a:ea typeface="DejaVu Sans"/>
                <a:cs typeface="DejaVu Sans"/>
              </a:defRPr>
            </a:pPr>
            <a:r>
              <a:rPr sz="1200" b="1">
                <a:solidFill>
                  <a:srgbClr val="175EA4"/>
                </a:solidFill>
                <a:latin typeface="Arial"/>
                <a:ea typeface="DejaVu Sans"/>
                <a:cs typeface="DejaVu Sans"/>
              </a:rPr>
              <a:t>Lê Hoàng Sơn</a:t>
            </a:r>
          </a:p>
        </p:txBody>
      </p:sp>
      <p:sp>
        <p:nvSpPr>
          <p:cNvPr id="22" name="Rectangle 21">
            <a:extLst>
              <a:ext uri="{FF2B5EF4-FFF2-40B4-BE49-F238E27FC236}">
                <a16:creationId xmlns:a16="http://schemas.microsoft.com/office/drawing/2014/main" id="{93509CBA-25B8-46F2-9236-00821EDC6FD9}"/>
              </a:ext>
            </a:extLst>
          </p:cNvPr>
          <p:cNvSpPr>
            <a:spLocks noGrp="1"/>
          </p:cNvSpPr>
          <p:nvPr/>
        </p:nvSpPr>
        <p:spPr>
          <a:xfrm>
            <a:off x="4297680" y="3726180"/>
            <a:ext cx="3581400" cy="449580"/>
          </a:xfrm>
          <a:prstGeom prst="rect">
            <a:avLst/>
          </a:prstGeom>
          <a:noFill/>
          <a:ln w="0">
            <a:noFill/>
          </a:ln>
        </p:spPr>
        <p:txBody>
          <a:bodyPr/>
          <a:lstStyle>
            <a:defPPr>
              <a:defRPr sz="1725" b="0">
                <a:solidFill>
                  <a:srgbClr val="112E50"/>
                </a:solidFill>
                <a:latin typeface="DejaVu Sans"/>
                <a:ea typeface="DejaVu Sans"/>
                <a:cs typeface="DejaVu Sans"/>
              </a:defRPr>
            </a:defPPr>
          </a:lstStyle>
          <a:p>
            <a:pPr>
              <a:defRPr sz="1725" b="0">
                <a:solidFill>
                  <a:srgbClr val="112E50"/>
                </a:solidFill>
                <a:latin typeface="DejaVu Sans"/>
                <a:ea typeface="DejaVu Sans"/>
                <a:cs typeface="DejaVu Sans"/>
              </a:defRPr>
            </a:pPr>
            <a:r>
              <a:rPr sz="1380">
                <a:solidFill>
                  <a:srgbClr val="112E50"/>
                </a:solidFill>
                <a:latin typeface="Arial"/>
                <a:ea typeface="DejaVu Sans"/>
                <a:cs typeface="DejaVu Sans"/>
              </a:rPr>
              <a:t>Xây dựng bài báo quốc tế</a:t>
            </a:r>
          </a:p>
          <a:p>
            <a:pPr>
              <a:defRPr sz="1725" b="0">
                <a:solidFill>
                  <a:srgbClr val="112E50"/>
                </a:solidFill>
                <a:latin typeface="DejaVu Sans"/>
                <a:ea typeface="DejaVu Sans"/>
                <a:cs typeface="DejaVu Sans"/>
              </a:defRPr>
            </a:pPr>
            <a:r>
              <a:rPr sz="1380">
                <a:solidFill>
                  <a:srgbClr val="112E50"/>
                </a:solidFill>
                <a:latin typeface="Arial"/>
                <a:ea typeface="DejaVu Sans"/>
                <a:cs typeface="DejaVu Sans"/>
              </a:rPr>
              <a:t>qua ví dụ về Bản sao số</a:t>
            </a:r>
          </a:p>
        </p:txBody>
      </p:sp>
      <p:sp>
        <p:nvSpPr>
          <p:cNvPr id="23" name="Rectangle 22">
            <a:extLst>
              <a:ext uri="{FF2B5EF4-FFF2-40B4-BE49-F238E27FC236}">
                <a16:creationId xmlns:a16="http://schemas.microsoft.com/office/drawing/2014/main" id="{6977BB8F-744C-4938-BFB8-D291A4BC87E2}"/>
              </a:ext>
            </a:extLst>
          </p:cNvPr>
          <p:cNvSpPr>
            <a:spLocks noGrp="1"/>
          </p:cNvSpPr>
          <p:nvPr/>
        </p:nvSpPr>
        <p:spPr>
          <a:xfrm>
            <a:off x="4297680" y="4191000"/>
            <a:ext cx="3581400" cy="373380"/>
          </a:xfrm>
          <a:prstGeom prst="rect">
            <a:avLst/>
          </a:prstGeom>
          <a:noFill/>
          <a:ln w="0">
            <a:noFill/>
          </a:ln>
        </p:spPr>
        <p:txBody>
          <a:bodyPr/>
          <a:lstStyle>
            <a:defPPr>
              <a:defRPr sz="1425" b="1">
                <a:solidFill>
                  <a:srgbClr val="007E87"/>
                </a:solidFill>
                <a:latin typeface="DejaVu Sans"/>
                <a:ea typeface="DejaVu Sans"/>
                <a:cs typeface="DejaVu Sans"/>
              </a:defRPr>
            </a:defPPr>
          </a:lstStyle>
          <a:p>
            <a:pPr>
              <a:defRPr sz="1425" b="1">
                <a:solidFill>
                  <a:srgbClr val="007E87"/>
                </a:solidFill>
                <a:latin typeface="DejaVu Sans"/>
                <a:ea typeface="DejaVu Sans"/>
                <a:cs typeface="DejaVu Sans"/>
              </a:defRPr>
            </a:pPr>
            <a:r>
              <a:rPr sz="1140" b="1">
                <a:solidFill>
                  <a:srgbClr val="007E87"/>
                </a:solidFill>
                <a:latin typeface="Arial"/>
                <a:ea typeface="DejaVu Sans"/>
                <a:cs typeface="DejaVu Sans"/>
              </a:rPr>
              <a:t>Nguyễn Văn Chung, Phạm Gia Khánh</a:t>
            </a:r>
          </a:p>
          <a:p>
            <a:pPr>
              <a:defRPr sz="1425" b="1">
                <a:solidFill>
                  <a:srgbClr val="007E87"/>
                </a:solidFill>
                <a:latin typeface="DejaVu Sans"/>
                <a:ea typeface="DejaVu Sans"/>
                <a:cs typeface="DejaVu Sans"/>
              </a:defRPr>
            </a:pPr>
            <a:r>
              <a:rPr sz="1140" b="1">
                <a:solidFill>
                  <a:srgbClr val="007E87"/>
                </a:solidFill>
                <a:latin typeface="Arial"/>
                <a:ea typeface="DejaVu Sans"/>
                <a:cs typeface="DejaVu Sans"/>
              </a:rPr>
              <a:t>và Phạm Văn Hạnh</a:t>
            </a:r>
          </a:p>
        </p:txBody>
      </p:sp>
      <p:sp>
        <p:nvSpPr>
          <p:cNvPr id="24" name="Rectangle 23">
            <a:extLst>
              <a:ext uri="{FF2B5EF4-FFF2-40B4-BE49-F238E27FC236}">
                <a16:creationId xmlns:a16="http://schemas.microsoft.com/office/drawing/2014/main" id="{075B34FA-EDED-4220-A9B5-BBC123778E22}"/>
              </a:ext>
            </a:extLst>
          </p:cNvPr>
          <p:cNvSpPr>
            <a:spLocks noGrp="1"/>
          </p:cNvSpPr>
          <p:nvPr/>
        </p:nvSpPr>
        <p:spPr>
          <a:xfrm>
            <a:off x="8199120" y="3726180"/>
            <a:ext cx="3581400" cy="449580"/>
          </a:xfrm>
          <a:prstGeom prst="rect">
            <a:avLst/>
          </a:prstGeom>
          <a:noFill/>
          <a:ln w="0">
            <a:noFill/>
          </a:ln>
        </p:spPr>
        <p:txBody>
          <a:bodyPr/>
          <a:lstStyle>
            <a:defPPr>
              <a:defRPr sz="1725" b="0">
                <a:solidFill>
                  <a:srgbClr val="112E50"/>
                </a:solidFill>
                <a:latin typeface="DejaVu Sans"/>
                <a:ea typeface="DejaVu Sans"/>
                <a:cs typeface="DejaVu Sans"/>
              </a:defRPr>
            </a:defPPr>
          </a:lstStyle>
          <a:p>
            <a:pPr>
              <a:defRPr sz="1725" b="0">
                <a:solidFill>
                  <a:srgbClr val="112E50"/>
                </a:solidFill>
                <a:latin typeface="DejaVu Sans"/>
                <a:ea typeface="DejaVu Sans"/>
                <a:cs typeface="DejaVu Sans"/>
              </a:defRPr>
            </a:pPr>
            <a:r>
              <a:rPr sz="1280">
                <a:solidFill>
                  <a:srgbClr val="112E50"/>
                </a:solidFill>
                <a:latin typeface="Arial"/>
                <a:ea typeface="DejaVu Sans"/>
                <a:cs typeface="DejaVu Sans"/>
              </a:rPr>
              <a:t>IoT, điều khiển, tối ưu năng lượng</a:t>
            </a:r>
          </a:p>
          <a:p>
            <a:pPr>
              <a:defRPr sz="1725" b="0">
                <a:solidFill>
                  <a:srgbClr val="112E50"/>
                </a:solidFill>
                <a:latin typeface="DejaVu Sans"/>
                <a:ea typeface="DejaVu Sans"/>
                <a:cs typeface="DejaVu Sans"/>
              </a:defRPr>
            </a:pPr>
            <a:r>
              <a:rPr sz="1280">
                <a:solidFill>
                  <a:srgbClr val="112E50"/>
                </a:solidFill>
                <a:latin typeface="Arial"/>
                <a:ea typeface="DejaVu Sans"/>
                <a:cs typeface="DejaVu Sans"/>
              </a:rPr>
              <a:t>và chuỗi cung ứng; tư vấn Q1/Q2</a:t>
            </a:r>
          </a:p>
        </p:txBody>
      </p:sp>
      <p:sp>
        <p:nvSpPr>
          <p:cNvPr id="25" name="Rectangle 24">
            <a:extLst>
              <a:ext uri="{FF2B5EF4-FFF2-40B4-BE49-F238E27FC236}">
                <a16:creationId xmlns:a16="http://schemas.microsoft.com/office/drawing/2014/main" id="{E8DE24F7-1BF7-408A-9ABC-0F26D1ABC990}"/>
              </a:ext>
            </a:extLst>
          </p:cNvPr>
          <p:cNvSpPr>
            <a:spLocks noGrp="1"/>
          </p:cNvSpPr>
          <p:nvPr/>
        </p:nvSpPr>
        <p:spPr>
          <a:xfrm>
            <a:off x="8199120" y="4198620"/>
            <a:ext cx="3581400" cy="213360"/>
          </a:xfrm>
          <a:prstGeom prst="rect">
            <a:avLst/>
          </a:prstGeom>
          <a:noFill/>
          <a:ln w="0">
            <a:noFill/>
          </a:ln>
        </p:spPr>
        <p:txBody>
          <a:bodyPr/>
          <a:lstStyle>
            <a:defPPr>
              <a:defRPr sz="1500" b="1">
                <a:solidFill>
                  <a:srgbClr val="B33249"/>
                </a:solidFill>
                <a:latin typeface="DejaVu Sans"/>
                <a:ea typeface="DejaVu Sans"/>
                <a:cs typeface="DejaVu Sans"/>
              </a:defRPr>
            </a:defPPr>
          </a:lstStyle>
          <a:p>
            <a:pPr>
              <a:defRPr sz="1500" b="1">
                <a:solidFill>
                  <a:srgbClr val="B33249"/>
                </a:solidFill>
                <a:latin typeface="DejaVu Sans"/>
                <a:ea typeface="DejaVu Sans"/>
                <a:cs typeface="DejaVu Sans"/>
              </a:defRPr>
            </a:pPr>
            <a:r>
              <a:rPr sz="1200" b="1">
                <a:solidFill>
                  <a:srgbClr val="B33249"/>
                </a:solidFill>
                <a:latin typeface="Arial"/>
                <a:ea typeface="DejaVu Sans"/>
                <a:cs typeface="DejaVu Sans"/>
              </a:rPr>
              <a:t>Lê Hoàng Sơn và Lê Minh Tuấn</a:t>
            </a:r>
          </a:p>
        </p:txBody>
      </p:sp>
      <p:pic>
        <p:nvPicPr>
          <p:cNvPr id="26" name="Picture 25">
            <a:extLst>
              <a:ext uri="{FF2B5EF4-FFF2-40B4-BE49-F238E27FC236}">
                <a16:creationId xmlns:a16="http://schemas.microsoft.com/office/drawing/2014/main" id="{FB59C73B-9A14-408B-AD4B-87C4170C9320}"/>
              </a:ext>
            </a:extLst>
          </p:cNvPr>
          <p:cNvPicPr>
            <a:picLocks noChangeAspect="1"/>
          </p:cNvPicPr>
          <p:nvPr/>
        </p:nvPicPr>
        <p:blipFill>
          <a:blip r:embed="rId2"/>
          <a:srcRect t="97" b="97"/>
          <a:stretch>
            <a:fillRect/>
          </a:stretch>
        </p:blipFill>
        <p:spPr>
          <a:xfrm>
            <a:off x="1036320" y="4693920"/>
            <a:ext cx="792480" cy="975360"/>
          </a:xfrm>
          <a:prstGeom prst="rect">
            <a:avLst/>
          </a:prstGeom>
        </p:spPr>
      </p:pic>
      <p:sp>
        <p:nvSpPr>
          <p:cNvPr id="27" name="Photo placeholder - Nguyen Van Chung">
            <a:extLst>
              <a:ext uri="{FF2B5EF4-FFF2-40B4-BE49-F238E27FC236}">
                <a16:creationId xmlns:a16="http://schemas.microsoft.com/office/drawing/2014/main" id="{2ED5AF44-598C-4F5D-9948-CBC64857ECCC}"/>
              </a:ext>
            </a:extLst>
          </p:cNvPr>
          <p:cNvSpPr>
            <a:spLocks noGrp="1"/>
          </p:cNvSpPr>
          <p:nvPr/>
        </p:nvSpPr>
        <p:spPr>
          <a:xfrm>
            <a:off x="3375660" y="4693920"/>
            <a:ext cx="792480" cy="975360"/>
          </a:xfrm>
          <a:prstGeom prst="rect">
            <a:avLst/>
          </a:prstGeom>
          <a:solidFill>
            <a:srgbClr val="E4EBF3"/>
          </a:solidFill>
          <a:ln w="9525">
            <a:solidFill>
              <a:srgbClr val="AFBFD0"/>
            </a:solidFill>
          </a:ln>
        </p:spPr>
        <p:txBody>
          <a:bodyPr anchor="ctr"/>
          <a:lstStyle>
            <a:defPPr algn="ctr">
              <a:defRPr sz="1275">
                <a:solidFill>
                  <a:srgbClr val="4E6174"/>
                </a:solidFill>
                <a:latin typeface="DejaVu Sans"/>
                <a:ea typeface="DejaVu Sans"/>
                <a:cs typeface="DejaVu Sans"/>
              </a:defRPr>
            </a:defPPr>
          </a:lstStyle>
          <a:p>
            <a:pPr algn="ctr">
              <a:defRPr sz="1275">
                <a:solidFill>
                  <a:srgbClr val="4E6174"/>
                </a:solidFill>
                <a:latin typeface="DejaVu Sans"/>
                <a:ea typeface="DejaVu Sans"/>
                <a:cs typeface="DejaVu Sans"/>
              </a:defRPr>
            </a:pPr>
            <a:r>
              <a:rPr sz="1020">
                <a:solidFill>
                  <a:srgbClr val="4E6174"/>
                </a:solidFill>
                <a:latin typeface="Arial"/>
                <a:ea typeface="DejaVu Sans"/>
                <a:cs typeface="DejaVu Sans"/>
              </a:rPr>
              <a:t>ẢNH</a:t>
            </a:r>
          </a:p>
        </p:txBody>
      </p:sp>
      <p:sp>
        <p:nvSpPr>
          <p:cNvPr id="28" name="Photo placeholder - Pham Gia Khanh">
            <a:extLst>
              <a:ext uri="{FF2B5EF4-FFF2-40B4-BE49-F238E27FC236}">
                <a16:creationId xmlns:a16="http://schemas.microsoft.com/office/drawing/2014/main" id="{3ED01D22-9EF3-4506-960C-EC5E6B278666}"/>
              </a:ext>
            </a:extLst>
          </p:cNvPr>
          <p:cNvSpPr>
            <a:spLocks noGrp="1"/>
          </p:cNvSpPr>
          <p:nvPr/>
        </p:nvSpPr>
        <p:spPr>
          <a:xfrm>
            <a:off x="5715000" y="4693920"/>
            <a:ext cx="792480" cy="975360"/>
          </a:xfrm>
          <a:prstGeom prst="rect">
            <a:avLst/>
          </a:prstGeom>
          <a:solidFill>
            <a:srgbClr val="E4EBF3"/>
          </a:solidFill>
          <a:ln w="9525">
            <a:solidFill>
              <a:srgbClr val="AFBFD0"/>
            </a:solidFill>
          </a:ln>
        </p:spPr>
        <p:txBody>
          <a:bodyPr anchor="ctr"/>
          <a:lstStyle>
            <a:defPPr algn="ctr">
              <a:defRPr sz="1275">
                <a:solidFill>
                  <a:srgbClr val="4E6174"/>
                </a:solidFill>
                <a:latin typeface="DejaVu Sans"/>
                <a:ea typeface="DejaVu Sans"/>
                <a:cs typeface="DejaVu Sans"/>
              </a:defRPr>
            </a:defPPr>
          </a:lstStyle>
          <a:p>
            <a:pPr algn="ctr">
              <a:defRPr sz="1275">
                <a:solidFill>
                  <a:srgbClr val="4E6174"/>
                </a:solidFill>
                <a:latin typeface="DejaVu Sans"/>
                <a:ea typeface="DejaVu Sans"/>
                <a:cs typeface="DejaVu Sans"/>
              </a:defRPr>
            </a:pPr>
            <a:r>
              <a:rPr sz="1020" dirty="0">
                <a:solidFill>
                  <a:srgbClr val="4E6174"/>
                </a:solidFill>
                <a:latin typeface="Arial"/>
                <a:ea typeface="DejaVu Sans"/>
                <a:cs typeface="DejaVu Sans"/>
              </a:rPr>
              <a:t>ẢNH</a:t>
            </a:r>
          </a:p>
        </p:txBody>
      </p:sp>
      <p:sp>
        <p:nvSpPr>
          <p:cNvPr id="29" name="Photo placeholder - Pham Van Hanh">
            <a:extLst>
              <a:ext uri="{FF2B5EF4-FFF2-40B4-BE49-F238E27FC236}">
                <a16:creationId xmlns:a16="http://schemas.microsoft.com/office/drawing/2014/main" id="{6296E1E4-9AAE-4163-9D5E-8A724E4876FA}"/>
              </a:ext>
            </a:extLst>
          </p:cNvPr>
          <p:cNvSpPr>
            <a:spLocks noGrp="1"/>
          </p:cNvSpPr>
          <p:nvPr/>
        </p:nvSpPr>
        <p:spPr>
          <a:xfrm>
            <a:off x="8054340" y="4693920"/>
            <a:ext cx="792480" cy="975360"/>
          </a:xfrm>
          <a:prstGeom prst="rect">
            <a:avLst/>
          </a:prstGeom>
          <a:solidFill>
            <a:srgbClr val="E4EBF3"/>
          </a:solidFill>
          <a:ln w="9525">
            <a:solidFill>
              <a:srgbClr val="AFBFD0"/>
            </a:solidFill>
          </a:ln>
        </p:spPr>
        <p:txBody>
          <a:bodyPr anchor="ctr"/>
          <a:lstStyle>
            <a:defPPr algn="ctr">
              <a:defRPr sz="1275">
                <a:solidFill>
                  <a:srgbClr val="4E6174"/>
                </a:solidFill>
                <a:latin typeface="DejaVu Sans"/>
                <a:ea typeface="DejaVu Sans"/>
                <a:cs typeface="DejaVu Sans"/>
              </a:defRPr>
            </a:defPPr>
          </a:lstStyle>
          <a:p>
            <a:pPr algn="ctr">
              <a:defRPr sz="1275">
                <a:solidFill>
                  <a:srgbClr val="4E6174"/>
                </a:solidFill>
                <a:latin typeface="DejaVu Sans"/>
                <a:ea typeface="DejaVu Sans"/>
                <a:cs typeface="DejaVu Sans"/>
              </a:defRPr>
            </a:pPr>
            <a:r>
              <a:rPr sz="1020">
                <a:solidFill>
                  <a:srgbClr val="4E6174"/>
                </a:solidFill>
                <a:latin typeface="Arial"/>
                <a:ea typeface="DejaVu Sans"/>
                <a:cs typeface="DejaVu Sans"/>
              </a:rPr>
              <a:t>ẢNH</a:t>
            </a:r>
          </a:p>
        </p:txBody>
      </p:sp>
      <p:sp>
        <p:nvSpPr>
          <p:cNvPr id="30" name="Photo placeholder - Le Minh Tuan">
            <a:extLst>
              <a:ext uri="{FF2B5EF4-FFF2-40B4-BE49-F238E27FC236}">
                <a16:creationId xmlns:a16="http://schemas.microsoft.com/office/drawing/2014/main" id="{AEB673C2-4B8B-468E-84F4-54D6EBF9695B}"/>
              </a:ext>
            </a:extLst>
          </p:cNvPr>
          <p:cNvSpPr>
            <a:spLocks noGrp="1"/>
          </p:cNvSpPr>
          <p:nvPr/>
        </p:nvSpPr>
        <p:spPr>
          <a:xfrm>
            <a:off x="10393680" y="4693920"/>
            <a:ext cx="792480" cy="975360"/>
          </a:xfrm>
          <a:prstGeom prst="rect">
            <a:avLst/>
          </a:prstGeom>
          <a:solidFill>
            <a:srgbClr val="E4EBF3"/>
          </a:solidFill>
          <a:ln w="9525">
            <a:solidFill>
              <a:srgbClr val="AFBFD0"/>
            </a:solidFill>
          </a:ln>
        </p:spPr>
        <p:txBody>
          <a:bodyPr anchor="ctr"/>
          <a:lstStyle>
            <a:defPPr algn="ctr">
              <a:defRPr sz="1275">
                <a:solidFill>
                  <a:srgbClr val="4E6174"/>
                </a:solidFill>
                <a:latin typeface="DejaVu Sans"/>
                <a:ea typeface="DejaVu Sans"/>
                <a:cs typeface="DejaVu Sans"/>
              </a:defRPr>
            </a:defPPr>
          </a:lstStyle>
          <a:p>
            <a:pPr algn="ctr">
              <a:defRPr sz="1275">
                <a:solidFill>
                  <a:srgbClr val="4E6174"/>
                </a:solidFill>
                <a:latin typeface="DejaVu Sans"/>
                <a:ea typeface="DejaVu Sans"/>
                <a:cs typeface="DejaVu Sans"/>
              </a:defRPr>
            </a:pPr>
            <a:r>
              <a:rPr sz="1020">
                <a:solidFill>
                  <a:srgbClr val="4E6174"/>
                </a:solidFill>
                <a:latin typeface="Arial"/>
                <a:ea typeface="DejaVu Sans"/>
                <a:cs typeface="DejaVu Sans"/>
              </a:rPr>
              <a:t>ẢNH</a:t>
            </a:r>
          </a:p>
        </p:txBody>
      </p:sp>
      <p:sp>
        <p:nvSpPr>
          <p:cNvPr id="31" name="Rectangle 30">
            <a:extLst>
              <a:ext uri="{FF2B5EF4-FFF2-40B4-BE49-F238E27FC236}">
                <a16:creationId xmlns:a16="http://schemas.microsoft.com/office/drawing/2014/main" id="{F111F3B3-865E-4FFF-BF84-8A79F803E09E}"/>
              </a:ext>
            </a:extLst>
          </p:cNvPr>
          <p:cNvSpPr>
            <a:spLocks noGrp="1"/>
          </p:cNvSpPr>
          <p:nvPr/>
        </p:nvSpPr>
        <p:spPr>
          <a:xfrm>
            <a:off x="396240" y="5775960"/>
            <a:ext cx="2103120" cy="403860"/>
          </a:xfrm>
          <a:prstGeom prst="rect">
            <a:avLst/>
          </a:prstGeom>
          <a:noFill/>
          <a:ln w="0">
            <a:noFill/>
          </a:ln>
        </p:spPr>
        <p:txBody>
          <a:bodyPr/>
          <a:lstStyle>
            <a:defPPr>
              <a:defRPr sz="1500" b="1">
                <a:solidFill>
                  <a:srgbClr val="175EA4"/>
                </a:solidFill>
                <a:latin typeface="DejaVu Sans"/>
                <a:ea typeface="DejaVu Sans"/>
                <a:cs typeface="DejaVu Sans"/>
              </a:defRPr>
            </a:defPPr>
          </a:lstStyle>
          <a:p>
            <a:pPr>
              <a:defRPr sz="1500" b="1">
                <a:solidFill>
                  <a:srgbClr val="175EA4"/>
                </a:solidFill>
                <a:latin typeface="DejaVu Sans"/>
                <a:ea typeface="DejaVu Sans"/>
                <a:cs typeface="DejaVu Sans"/>
              </a:defRPr>
            </a:pPr>
            <a:r>
              <a:rPr sz="1200" b="1">
                <a:solidFill>
                  <a:srgbClr val="175EA4"/>
                </a:solidFill>
                <a:latin typeface="Arial"/>
                <a:ea typeface="DejaVu Sans"/>
                <a:cs typeface="DejaVu Sans"/>
              </a:rPr>
              <a:t>PGS.TS.</a:t>
            </a:r>
          </a:p>
          <a:p>
            <a:pPr>
              <a:defRPr sz="1500" b="1">
                <a:solidFill>
                  <a:srgbClr val="175EA4"/>
                </a:solidFill>
                <a:latin typeface="DejaVu Sans"/>
                <a:ea typeface="DejaVu Sans"/>
                <a:cs typeface="DejaVu Sans"/>
              </a:defRPr>
            </a:pPr>
            <a:r>
              <a:rPr sz="1200" b="1">
                <a:solidFill>
                  <a:srgbClr val="175EA4"/>
                </a:solidFill>
                <a:latin typeface="Arial"/>
                <a:ea typeface="DejaVu Sans"/>
                <a:cs typeface="DejaVu Sans"/>
              </a:rPr>
              <a:t>Lê Hoàng Sơn</a:t>
            </a:r>
          </a:p>
        </p:txBody>
      </p:sp>
      <p:sp>
        <p:nvSpPr>
          <p:cNvPr id="32" name="Rectangle 31">
            <a:extLst>
              <a:ext uri="{FF2B5EF4-FFF2-40B4-BE49-F238E27FC236}">
                <a16:creationId xmlns:a16="http://schemas.microsoft.com/office/drawing/2014/main" id="{F2A5EB06-742E-42CD-9FEF-1E70350A687A}"/>
              </a:ext>
            </a:extLst>
          </p:cNvPr>
          <p:cNvSpPr>
            <a:spLocks noGrp="1"/>
          </p:cNvSpPr>
          <p:nvPr/>
        </p:nvSpPr>
        <p:spPr>
          <a:xfrm>
            <a:off x="396240" y="6217920"/>
            <a:ext cx="2103120" cy="335280"/>
          </a:xfrm>
          <a:prstGeom prst="rect">
            <a:avLst/>
          </a:prstGeom>
          <a:noFill/>
          <a:ln w="0">
            <a:noFill/>
          </a:ln>
        </p:spPr>
        <p:txBody>
          <a:bodyPr/>
          <a:lstStyle>
            <a:defPPr>
              <a:defRPr sz="1275" b="0">
                <a:solidFill>
                  <a:srgbClr val="4E6174"/>
                </a:solidFill>
                <a:latin typeface="DejaVu Sans"/>
                <a:ea typeface="DejaVu Sans"/>
                <a:cs typeface="DejaVu Sans"/>
              </a:defRPr>
            </a:defPPr>
          </a:lstStyle>
          <a:p>
            <a:pPr>
              <a:defRPr sz="1275" b="0">
                <a:solidFill>
                  <a:srgbClr val="4E6174"/>
                </a:solidFill>
                <a:latin typeface="DejaVu Sans"/>
                <a:ea typeface="DejaVu Sans"/>
                <a:cs typeface="DejaVu Sans"/>
              </a:defRPr>
            </a:pPr>
            <a:r>
              <a:rPr lang="en-US" sz="1020" dirty="0" err="1">
                <a:solidFill>
                  <a:srgbClr val="4E6174"/>
                </a:solidFill>
                <a:latin typeface="Arial"/>
                <a:ea typeface="DejaVu Sans"/>
                <a:cs typeface="DejaVu Sans"/>
              </a:rPr>
              <a:t>Phó</a:t>
            </a:r>
            <a:r>
              <a:rPr lang="en-US" sz="1020" dirty="0">
                <a:solidFill>
                  <a:srgbClr val="4E6174"/>
                </a:solidFill>
                <a:latin typeface="Arial"/>
                <a:ea typeface="DejaVu Sans"/>
                <a:cs typeface="DejaVu Sans"/>
              </a:rPr>
              <a:t> Viện </a:t>
            </a:r>
            <a:r>
              <a:rPr lang="en-US" sz="1020" dirty="0" err="1">
                <a:solidFill>
                  <a:srgbClr val="4E6174"/>
                </a:solidFill>
                <a:latin typeface="Arial"/>
                <a:ea typeface="DejaVu Sans"/>
                <a:cs typeface="DejaVu Sans"/>
              </a:rPr>
              <a:t>trưởng</a:t>
            </a:r>
            <a:endParaRPr sz="1020" dirty="0">
              <a:solidFill>
                <a:srgbClr val="4E6174"/>
              </a:solidFill>
              <a:latin typeface="Arial"/>
              <a:ea typeface="DejaVu Sans"/>
              <a:cs typeface="DejaVu Sans"/>
            </a:endParaRPr>
          </a:p>
          <a:p>
            <a:pPr>
              <a:defRPr sz="1275" b="0">
                <a:solidFill>
                  <a:srgbClr val="4E6174"/>
                </a:solidFill>
                <a:latin typeface="DejaVu Sans"/>
                <a:ea typeface="DejaVu Sans"/>
                <a:cs typeface="DejaVu Sans"/>
              </a:defRPr>
            </a:pPr>
            <a:r>
              <a:rPr sz="1020" dirty="0">
                <a:solidFill>
                  <a:srgbClr val="4E6174"/>
                </a:solidFill>
                <a:latin typeface="Arial"/>
                <a:ea typeface="DejaVu Sans"/>
                <a:cs typeface="DejaVu Sans"/>
              </a:rPr>
              <a:t>Viện CNTT, ĐHQGHN</a:t>
            </a:r>
          </a:p>
        </p:txBody>
      </p:sp>
      <p:sp>
        <p:nvSpPr>
          <p:cNvPr id="33" name="Rectangle 32">
            <a:extLst>
              <a:ext uri="{FF2B5EF4-FFF2-40B4-BE49-F238E27FC236}">
                <a16:creationId xmlns:a16="http://schemas.microsoft.com/office/drawing/2014/main" id="{1E5FB6BE-86D1-42ED-A033-C188986CABEE}"/>
              </a:ext>
            </a:extLst>
          </p:cNvPr>
          <p:cNvSpPr>
            <a:spLocks noGrp="1"/>
          </p:cNvSpPr>
          <p:nvPr/>
        </p:nvSpPr>
        <p:spPr>
          <a:xfrm>
            <a:off x="2735580" y="5775960"/>
            <a:ext cx="2103120" cy="403860"/>
          </a:xfrm>
          <a:prstGeom prst="rect">
            <a:avLst/>
          </a:prstGeom>
          <a:noFill/>
          <a:ln w="0">
            <a:noFill/>
          </a:ln>
        </p:spPr>
        <p:txBody>
          <a:bodyPr/>
          <a:lstStyle>
            <a:defPPr>
              <a:defRPr sz="1500" b="1">
                <a:solidFill>
                  <a:srgbClr val="007E87"/>
                </a:solidFill>
                <a:latin typeface="DejaVu Sans"/>
                <a:ea typeface="DejaVu Sans"/>
                <a:cs typeface="DejaVu Sans"/>
              </a:defRPr>
            </a:defPPr>
          </a:lstStyle>
          <a:p>
            <a:pPr>
              <a:defRPr sz="1500" b="1">
                <a:solidFill>
                  <a:srgbClr val="007E87"/>
                </a:solidFill>
                <a:latin typeface="DejaVu Sans"/>
                <a:ea typeface="DejaVu Sans"/>
                <a:cs typeface="DejaVu Sans"/>
              </a:defRPr>
            </a:pPr>
            <a:r>
              <a:rPr sz="1200" b="1">
                <a:solidFill>
                  <a:srgbClr val="007E87"/>
                </a:solidFill>
                <a:latin typeface="Arial"/>
                <a:ea typeface="DejaVu Sans"/>
                <a:cs typeface="DejaVu Sans"/>
              </a:rPr>
              <a:t>TS.</a:t>
            </a:r>
          </a:p>
          <a:p>
            <a:pPr>
              <a:defRPr sz="1500" b="1">
                <a:solidFill>
                  <a:srgbClr val="007E87"/>
                </a:solidFill>
                <a:latin typeface="DejaVu Sans"/>
                <a:ea typeface="DejaVu Sans"/>
                <a:cs typeface="DejaVu Sans"/>
              </a:defRPr>
            </a:pPr>
            <a:r>
              <a:rPr sz="1200" b="1">
                <a:solidFill>
                  <a:srgbClr val="007E87"/>
                </a:solidFill>
                <a:latin typeface="Arial"/>
                <a:ea typeface="DejaVu Sans"/>
                <a:cs typeface="DejaVu Sans"/>
              </a:rPr>
              <a:t>Nguyễn Văn Chung</a:t>
            </a:r>
          </a:p>
        </p:txBody>
      </p:sp>
      <p:sp>
        <p:nvSpPr>
          <p:cNvPr id="34" name="Rectangle 33">
            <a:extLst>
              <a:ext uri="{FF2B5EF4-FFF2-40B4-BE49-F238E27FC236}">
                <a16:creationId xmlns:a16="http://schemas.microsoft.com/office/drawing/2014/main" id="{2CC51D2C-2A8F-4FAB-B71A-CB37034C1B96}"/>
              </a:ext>
            </a:extLst>
          </p:cNvPr>
          <p:cNvSpPr>
            <a:spLocks noGrp="1"/>
          </p:cNvSpPr>
          <p:nvPr/>
        </p:nvSpPr>
        <p:spPr>
          <a:xfrm>
            <a:off x="2735580" y="6217920"/>
            <a:ext cx="2103120" cy="335280"/>
          </a:xfrm>
          <a:prstGeom prst="rect">
            <a:avLst/>
          </a:prstGeom>
          <a:noFill/>
          <a:ln w="0">
            <a:noFill/>
          </a:ln>
        </p:spPr>
        <p:txBody>
          <a:bodyPr/>
          <a:lstStyle>
            <a:defPPr>
              <a:defRPr sz="1275" b="0">
                <a:solidFill>
                  <a:srgbClr val="4E6174"/>
                </a:solidFill>
                <a:latin typeface="DejaVu Sans"/>
                <a:ea typeface="DejaVu Sans"/>
                <a:cs typeface="DejaVu Sans"/>
              </a:defRPr>
            </a:defPPr>
          </a:lstStyle>
          <a:p>
            <a:pPr>
              <a:defRPr sz="1275" b="0">
                <a:solidFill>
                  <a:srgbClr val="4E6174"/>
                </a:solidFill>
                <a:latin typeface="DejaVu Sans"/>
                <a:ea typeface="DejaVu Sans"/>
                <a:cs typeface="DejaVu Sans"/>
              </a:defRPr>
            </a:pPr>
            <a:r>
              <a:rPr lang="vi-VN" sz="1020" dirty="0">
                <a:solidFill>
                  <a:srgbClr val="4E6174"/>
                </a:solidFill>
                <a:latin typeface="Arial"/>
                <a:ea typeface="DejaVu Sans"/>
                <a:cs typeface="DejaVu Sans"/>
              </a:rPr>
              <a:t>Khoa Công nghệ-Kỹ thuật, Trường ĐH Công Đoàn</a:t>
            </a:r>
          </a:p>
        </p:txBody>
      </p:sp>
      <p:sp>
        <p:nvSpPr>
          <p:cNvPr id="35" name="Rectangle 34">
            <a:extLst>
              <a:ext uri="{FF2B5EF4-FFF2-40B4-BE49-F238E27FC236}">
                <a16:creationId xmlns:a16="http://schemas.microsoft.com/office/drawing/2014/main" id="{4728979C-CB38-40BE-B199-CCE888C0BE9A}"/>
              </a:ext>
            </a:extLst>
          </p:cNvPr>
          <p:cNvSpPr>
            <a:spLocks noGrp="1"/>
          </p:cNvSpPr>
          <p:nvPr/>
        </p:nvSpPr>
        <p:spPr>
          <a:xfrm>
            <a:off x="5074920" y="5775960"/>
            <a:ext cx="2103120" cy="403860"/>
          </a:xfrm>
          <a:prstGeom prst="rect">
            <a:avLst/>
          </a:prstGeom>
          <a:noFill/>
          <a:ln w="0">
            <a:noFill/>
          </a:ln>
        </p:spPr>
        <p:txBody>
          <a:bodyPr/>
          <a:lstStyle>
            <a:defPPr>
              <a:defRPr sz="1500" b="1">
                <a:solidFill>
                  <a:srgbClr val="007E87"/>
                </a:solidFill>
                <a:latin typeface="DejaVu Sans"/>
                <a:ea typeface="DejaVu Sans"/>
                <a:cs typeface="DejaVu Sans"/>
              </a:defRPr>
            </a:defPPr>
          </a:lstStyle>
          <a:p>
            <a:pPr>
              <a:defRPr sz="1500" b="1">
                <a:solidFill>
                  <a:srgbClr val="007E87"/>
                </a:solidFill>
                <a:latin typeface="DejaVu Sans"/>
                <a:ea typeface="DejaVu Sans"/>
                <a:cs typeface="DejaVu Sans"/>
              </a:defRPr>
            </a:pPr>
            <a:r>
              <a:rPr sz="1200" b="1">
                <a:solidFill>
                  <a:srgbClr val="007E87"/>
                </a:solidFill>
                <a:latin typeface="Arial"/>
                <a:ea typeface="DejaVu Sans"/>
                <a:cs typeface="DejaVu Sans"/>
              </a:rPr>
              <a:t>NCS.</a:t>
            </a:r>
          </a:p>
          <a:p>
            <a:pPr>
              <a:defRPr sz="1500" b="1">
                <a:solidFill>
                  <a:srgbClr val="007E87"/>
                </a:solidFill>
                <a:latin typeface="DejaVu Sans"/>
                <a:ea typeface="DejaVu Sans"/>
                <a:cs typeface="DejaVu Sans"/>
              </a:defRPr>
            </a:pPr>
            <a:r>
              <a:rPr sz="1200" b="1">
                <a:solidFill>
                  <a:srgbClr val="007E87"/>
                </a:solidFill>
                <a:latin typeface="Arial"/>
                <a:ea typeface="DejaVu Sans"/>
                <a:cs typeface="DejaVu Sans"/>
              </a:rPr>
              <a:t>Phạm Gia Khánh</a:t>
            </a:r>
          </a:p>
        </p:txBody>
      </p:sp>
      <p:sp>
        <p:nvSpPr>
          <p:cNvPr id="36" name="Rectangle 35">
            <a:extLst>
              <a:ext uri="{FF2B5EF4-FFF2-40B4-BE49-F238E27FC236}">
                <a16:creationId xmlns:a16="http://schemas.microsoft.com/office/drawing/2014/main" id="{39D75338-8F0E-4FC5-863D-420873539206}"/>
              </a:ext>
            </a:extLst>
          </p:cNvPr>
          <p:cNvSpPr>
            <a:spLocks noGrp="1"/>
          </p:cNvSpPr>
          <p:nvPr/>
        </p:nvSpPr>
        <p:spPr>
          <a:xfrm>
            <a:off x="5074920" y="6217920"/>
            <a:ext cx="2103120" cy="335280"/>
          </a:xfrm>
          <a:prstGeom prst="rect">
            <a:avLst/>
          </a:prstGeom>
          <a:noFill/>
          <a:ln w="0">
            <a:noFill/>
          </a:ln>
        </p:spPr>
        <p:txBody>
          <a:bodyPr/>
          <a:lstStyle>
            <a:defPPr>
              <a:defRPr sz="1275" b="0">
                <a:solidFill>
                  <a:srgbClr val="4E6174"/>
                </a:solidFill>
                <a:latin typeface="DejaVu Sans"/>
                <a:ea typeface="DejaVu Sans"/>
                <a:cs typeface="DejaVu Sans"/>
              </a:defRPr>
            </a:defPPr>
          </a:lstStyle>
          <a:p>
            <a:pPr>
              <a:defRPr sz="1275" b="0">
                <a:solidFill>
                  <a:srgbClr val="4E6174"/>
                </a:solidFill>
                <a:latin typeface="DejaVu Sans"/>
                <a:ea typeface="DejaVu Sans"/>
                <a:cs typeface="DejaVu Sans"/>
              </a:defRPr>
            </a:pPr>
            <a:r>
              <a:rPr lang="vi-VN" sz="1020" dirty="0">
                <a:solidFill>
                  <a:srgbClr val="4E6174"/>
                </a:solidFill>
                <a:latin typeface="Arial"/>
                <a:ea typeface="DejaVu Sans"/>
                <a:cs typeface="DejaVu Sans"/>
              </a:rPr>
              <a:t>Khoa Công nghệ-Kỹ thuật, Trường ĐH Công Đoàn</a:t>
            </a:r>
          </a:p>
        </p:txBody>
      </p:sp>
      <p:sp>
        <p:nvSpPr>
          <p:cNvPr id="37" name="Rectangle 36">
            <a:extLst>
              <a:ext uri="{FF2B5EF4-FFF2-40B4-BE49-F238E27FC236}">
                <a16:creationId xmlns:a16="http://schemas.microsoft.com/office/drawing/2014/main" id="{838732C4-6F14-4CB3-80CB-631CF2210C3F}"/>
              </a:ext>
            </a:extLst>
          </p:cNvPr>
          <p:cNvSpPr>
            <a:spLocks noGrp="1"/>
          </p:cNvSpPr>
          <p:nvPr/>
        </p:nvSpPr>
        <p:spPr>
          <a:xfrm>
            <a:off x="7414260" y="5775960"/>
            <a:ext cx="2103120" cy="403860"/>
          </a:xfrm>
          <a:prstGeom prst="rect">
            <a:avLst/>
          </a:prstGeom>
          <a:noFill/>
          <a:ln w="0">
            <a:noFill/>
          </a:ln>
        </p:spPr>
        <p:txBody>
          <a:bodyPr/>
          <a:lstStyle>
            <a:defPPr>
              <a:defRPr sz="1500" b="1">
                <a:solidFill>
                  <a:srgbClr val="007E87"/>
                </a:solidFill>
                <a:latin typeface="DejaVu Sans"/>
                <a:ea typeface="DejaVu Sans"/>
                <a:cs typeface="DejaVu Sans"/>
              </a:defRPr>
            </a:defPPr>
          </a:lstStyle>
          <a:p>
            <a:pPr>
              <a:defRPr sz="1500" b="1">
                <a:solidFill>
                  <a:srgbClr val="007E87"/>
                </a:solidFill>
                <a:latin typeface="DejaVu Sans"/>
                <a:ea typeface="DejaVu Sans"/>
                <a:cs typeface="DejaVu Sans"/>
              </a:defRPr>
            </a:pPr>
            <a:r>
              <a:rPr sz="1200" b="1">
                <a:solidFill>
                  <a:srgbClr val="007E87"/>
                </a:solidFill>
                <a:latin typeface="Arial"/>
                <a:ea typeface="DejaVu Sans"/>
                <a:cs typeface="DejaVu Sans"/>
              </a:rPr>
              <a:t>NCS.</a:t>
            </a:r>
          </a:p>
          <a:p>
            <a:pPr>
              <a:defRPr sz="1500" b="1">
                <a:solidFill>
                  <a:srgbClr val="007E87"/>
                </a:solidFill>
                <a:latin typeface="DejaVu Sans"/>
                <a:ea typeface="DejaVu Sans"/>
                <a:cs typeface="DejaVu Sans"/>
              </a:defRPr>
            </a:pPr>
            <a:r>
              <a:rPr sz="1200" b="1">
                <a:solidFill>
                  <a:srgbClr val="007E87"/>
                </a:solidFill>
                <a:latin typeface="Arial"/>
                <a:ea typeface="DejaVu Sans"/>
                <a:cs typeface="DejaVu Sans"/>
              </a:rPr>
              <a:t>Phạm Văn Hạnh</a:t>
            </a:r>
          </a:p>
        </p:txBody>
      </p:sp>
      <p:sp>
        <p:nvSpPr>
          <p:cNvPr id="38" name="Rectangle 37">
            <a:extLst>
              <a:ext uri="{FF2B5EF4-FFF2-40B4-BE49-F238E27FC236}">
                <a16:creationId xmlns:a16="http://schemas.microsoft.com/office/drawing/2014/main" id="{A9A6F1BA-9F41-4EC1-A29C-8809C8846A68}"/>
              </a:ext>
            </a:extLst>
          </p:cNvPr>
          <p:cNvSpPr>
            <a:spLocks noGrp="1"/>
          </p:cNvSpPr>
          <p:nvPr/>
        </p:nvSpPr>
        <p:spPr>
          <a:xfrm>
            <a:off x="7414260" y="6217920"/>
            <a:ext cx="2103120" cy="335280"/>
          </a:xfrm>
          <a:prstGeom prst="rect">
            <a:avLst/>
          </a:prstGeom>
          <a:noFill/>
          <a:ln w="0">
            <a:noFill/>
          </a:ln>
        </p:spPr>
        <p:txBody>
          <a:bodyPr/>
          <a:lstStyle>
            <a:defPPr>
              <a:defRPr sz="1275" b="0">
                <a:solidFill>
                  <a:srgbClr val="4E6174"/>
                </a:solidFill>
                <a:latin typeface="DejaVu Sans"/>
                <a:ea typeface="DejaVu Sans"/>
                <a:cs typeface="DejaVu Sans"/>
              </a:defRPr>
            </a:defPPr>
          </a:lstStyle>
          <a:p>
            <a:pPr>
              <a:defRPr sz="1275" b="0">
                <a:solidFill>
                  <a:srgbClr val="4E6174"/>
                </a:solidFill>
                <a:latin typeface="DejaVu Sans"/>
                <a:ea typeface="DejaVu Sans"/>
                <a:cs typeface="DejaVu Sans"/>
              </a:defRPr>
            </a:pPr>
            <a:r>
              <a:rPr lang="en-US" sz="1020" dirty="0" err="1">
                <a:solidFill>
                  <a:srgbClr val="4E6174"/>
                </a:solidFill>
                <a:latin typeface="Arial"/>
                <a:ea typeface="DejaVu Sans"/>
                <a:cs typeface="DejaVu Sans"/>
              </a:rPr>
              <a:t>Giám</a:t>
            </a:r>
            <a:r>
              <a:rPr lang="en-US" sz="1020" dirty="0">
                <a:solidFill>
                  <a:srgbClr val="4E6174"/>
                </a:solidFill>
                <a:latin typeface="Arial"/>
                <a:ea typeface="DejaVu Sans"/>
                <a:cs typeface="DejaVu Sans"/>
              </a:rPr>
              <a:t> </a:t>
            </a:r>
            <a:r>
              <a:rPr lang="en-US" sz="1020" dirty="0" err="1">
                <a:solidFill>
                  <a:srgbClr val="4E6174"/>
                </a:solidFill>
                <a:latin typeface="Arial"/>
                <a:ea typeface="DejaVu Sans"/>
                <a:cs typeface="DejaVu Sans"/>
              </a:rPr>
              <a:t>đốc</a:t>
            </a:r>
            <a:r>
              <a:rPr lang="en-US" sz="1020" dirty="0">
                <a:solidFill>
                  <a:srgbClr val="4E6174"/>
                </a:solidFill>
                <a:latin typeface="Arial"/>
                <a:ea typeface="DejaVu Sans"/>
                <a:cs typeface="DejaVu Sans"/>
              </a:rPr>
              <a:t> Trung </a:t>
            </a:r>
            <a:r>
              <a:rPr lang="en-US" sz="1020" dirty="0" err="1">
                <a:solidFill>
                  <a:srgbClr val="4E6174"/>
                </a:solidFill>
                <a:latin typeface="Arial"/>
                <a:ea typeface="DejaVu Sans"/>
                <a:cs typeface="DejaVu Sans"/>
              </a:rPr>
              <a:t>tâm</a:t>
            </a:r>
            <a:r>
              <a:rPr lang="en-US" sz="1020" dirty="0">
                <a:solidFill>
                  <a:srgbClr val="4E6174"/>
                </a:solidFill>
                <a:latin typeface="Arial"/>
                <a:ea typeface="DejaVu Sans"/>
                <a:cs typeface="DejaVu Sans"/>
              </a:rPr>
              <a:t> CNTT</a:t>
            </a:r>
            <a:r>
              <a:rPr lang="vi-VN" sz="1020" dirty="0">
                <a:solidFill>
                  <a:srgbClr val="4E6174"/>
                </a:solidFill>
                <a:latin typeface="Arial"/>
                <a:ea typeface="DejaVu Sans"/>
                <a:cs typeface="DejaVu Sans"/>
              </a:rPr>
              <a:t>, Trường ĐH </a:t>
            </a:r>
            <a:r>
              <a:rPr lang="en-US" sz="1020" dirty="0" err="1">
                <a:solidFill>
                  <a:srgbClr val="4E6174"/>
                </a:solidFill>
                <a:latin typeface="Arial"/>
                <a:ea typeface="DejaVu Sans"/>
                <a:cs typeface="DejaVu Sans"/>
              </a:rPr>
              <a:t>Luật</a:t>
            </a:r>
            <a:r>
              <a:rPr lang="en-US" sz="1020" dirty="0">
                <a:solidFill>
                  <a:srgbClr val="4E6174"/>
                </a:solidFill>
                <a:latin typeface="Arial"/>
                <a:ea typeface="DejaVu Sans"/>
                <a:cs typeface="DejaVu Sans"/>
              </a:rPr>
              <a:t> Hà </a:t>
            </a:r>
            <a:r>
              <a:rPr lang="en-US" sz="1020" dirty="0" err="1">
                <a:solidFill>
                  <a:srgbClr val="4E6174"/>
                </a:solidFill>
                <a:latin typeface="Arial"/>
                <a:ea typeface="DejaVu Sans"/>
                <a:cs typeface="DejaVu Sans"/>
              </a:rPr>
              <a:t>Nội</a:t>
            </a:r>
            <a:endParaRPr lang="vi-VN" sz="1020" dirty="0">
              <a:solidFill>
                <a:srgbClr val="4E6174"/>
              </a:solidFill>
              <a:latin typeface="Arial"/>
              <a:ea typeface="DejaVu Sans"/>
              <a:cs typeface="DejaVu Sans"/>
            </a:endParaRPr>
          </a:p>
        </p:txBody>
      </p:sp>
      <p:sp>
        <p:nvSpPr>
          <p:cNvPr id="39" name="Rectangle 38">
            <a:extLst>
              <a:ext uri="{FF2B5EF4-FFF2-40B4-BE49-F238E27FC236}">
                <a16:creationId xmlns:a16="http://schemas.microsoft.com/office/drawing/2014/main" id="{5E5D41A0-5989-4F62-9AEA-77C6D16ECB9A}"/>
              </a:ext>
            </a:extLst>
          </p:cNvPr>
          <p:cNvSpPr>
            <a:spLocks noGrp="1"/>
          </p:cNvSpPr>
          <p:nvPr/>
        </p:nvSpPr>
        <p:spPr>
          <a:xfrm>
            <a:off x="9753600" y="5775960"/>
            <a:ext cx="2103120" cy="403860"/>
          </a:xfrm>
          <a:prstGeom prst="rect">
            <a:avLst/>
          </a:prstGeom>
          <a:noFill/>
          <a:ln w="0">
            <a:noFill/>
          </a:ln>
        </p:spPr>
        <p:txBody>
          <a:bodyPr/>
          <a:lstStyle>
            <a:defPPr>
              <a:defRPr sz="1500" b="1">
                <a:solidFill>
                  <a:srgbClr val="B33249"/>
                </a:solidFill>
                <a:latin typeface="DejaVu Sans"/>
                <a:ea typeface="DejaVu Sans"/>
                <a:cs typeface="DejaVu Sans"/>
              </a:defRPr>
            </a:defPPr>
          </a:lstStyle>
          <a:p>
            <a:pPr>
              <a:defRPr sz="1500" b="1">
                <a:solidFill>
                  <a:srgbClr val="B33249"/>
                </a:solidFill>
                <a:latin typeface="DejaVu Sans"/>
                <a:ea typeface="DejaVu Sans"/>
                <a:cs typeface="DejaVu Sans"/>
              </a:defRPr>
            </a:pPr>
            <a:r>
              <a:rPr sz="1200" b="1">
                <a:solidFill>
                  <a:srgbClr val="B33249"/>
                </a:solidFill>
                <a:latin typeface="Arial"/>
                <a:ea typeface="DejaVu Sans"/>
                <a:cs typeface="DejaVu Sans"/>
              </a:rPr>
              <a:t>TS.</a:t>
            </a:r>
          </a:p>
          <a:p>
            <a:pPr>
              <a:defRPr sz="1500" b="1">
                <a:solidFill>
                  <a:srgbClr val="B33249"/>
                </a:solidFill>
                <a:latin typeface="DejaVu Sans"/>
                <a:ea typeface="DejaVu Sans"/>
                <a:cs typeface="DejaVu Sans"/>
              </a:defRPr>
            </a:pPr>
            <a:r>
              <a:rPr sz="1200" b="1">
                <a:solidFill>
                  <a:srgbClr val="B33249"/>
                </a:solidFill>
                <a:latin typeface="Arial"/>
                <a:ea typeface="DejaVu Sans"/>
                <a:cs typeface="DejaVu Sans"/>
              </a:rPr>
              <a:t>Lê Minh Tuấn</a:t>
            </a:r>
          </a:p>
        </p:txBody>
      </p:sp>
      <p:sp>
        <p:nvSpPr>
          <p:cNvPr id="40" name="Rectangle 39">
            <a:extLst>
              <a:ext uri="{FF2B5EF4-FFF2-40B4-BE49-F238E27FC236}">
                <a16:creationId xmlns:a16="http://schemas.microsoft.com/office/drawing/2014/main" id="{FAD4011E-17CD-47CA-92D4-5857A8F2096F}"/>
              </a:ext>
            </a:extLst>
          </p:cNvPr>
          <p:cNvSpPr>
            <a:spLocks noGrp="1"/>
          </p:cNvSpPr>
          <p:nvPr/>
        </p:nvSpPr>
        <p:spPr>
          <a:xfrm>
            <a:off x="9753600" y="6217920"/>
            <a:ext cx="2103120" cy="335280"/>
          </a:xfrm>
          <a:prstGeom prst="rect">
            <a:avLst/>
          </a:prstGeom>
          <a:noFill/>
          <a:ln w="0">
            <a:noFill/>
          </a:ln>
        </p:spPr>
        <p:txBody>
          <a:bodyPr/>
          <a:lstStyle>
            <a:defPPr>
              <a:defRPr sz="1275" b="0">
                <a:solidFill>
                  <a:srgbClr val="4E6174"/>
                </a:solidFill>
                <a:latin typeface="DejaVu Sans"/>
                <a:ea typeface="DejaVu Sans"/>
                <a:cs typeface="DejaVu Sans"/>
              </a:defRPr>
            </a:defPPr>
          </a:lstStyle>
          <a:p>
            <a:pPr>
              <a:defRPr sz="1275" b="0">
                <a:solidFill>
                  <a:srgbClr val="4E6174"/>
                </a:solidFill>
                <a:latin typeface="DejaVu Sans"/>
                <a:ea typeface="DejaVu Sans"/>
                <a:cs typeface="DejaVu Sans"/>
              </a:defRPr>
            </a:pPr>
            <a:r>
              <a:rPr lang="en-US" sz="1020" dirty="0" err="1">
                <a:solidFill>
                  <a:srgbClr val="4E6174"/>
                </a:solidFill>
                <a:latin typeface="Arial"/>
                <a:ea typeface="DejaVu Sans"/>
                <a:cs typeface="DejaVu Sans"/>
              </a:rPr>
              <a:t>Trưởng</a:t>
            </a:r>
            <a:r>
              <a:rPr lang="en-US" sz="1020" dirty="0">
                <a:solidFill>
                  <a:srgbClr val="4E6174"/>
                </a:solidFill>
                <a:latin typeface="Arial"/>
                <a:ea typeface="DejaVu Sans"/>
                <a:cs typeface="DejaVu Sans"/>
              </a:rPr>
              <a:t> Khoa Công </a:t>
            </a:r>
            <a:r>
              <a:rPr lang="en-US" sz="1020" dirty="0" err="1">
                <a:solidFill>
                  <a:srgbClr val="4E6174"/>
                </a:solidFill>
                <a:latin typeface="Arial"/>
                <a:ea typeface="DejaVu Sans"/>
                <a:cs typeface="DejaVu Sans"/>
              </a:rPr>
              <a:t>nghệ-Kỹ</a:t>
            </a:r>
            <a:r>
              <a:rPr lang="en-US" sz="1020" dirty="0">
                <a:solidFill>
                  <a:srgbClr val="4E6174"/>
                </a:solidFill>
                <a:latin typeface="Arial"/>
                <a:ea typeface="DejaVu Sans"/>
                <a:cs typeface="DejaVu Sans"/>
              </a:rPr>
              <a:t> </a:t>
            </a:r>
            <a:r>
              <a:rPr lang="en-US" sz="1020" dirty="0" err="1">
                <a:solidFill>
                  <a:srgbClr val="4E6174"/>
                </a:solidFill>
                <a:latin typeface="Arial"/>
                <a:ea typeface="DejaVu Sans"/>
                <a:cs typeface="DejaVu Sans"/>
              </a:rPr>
              <a:t>thuật</a:t>
            </a:r>
            <a:r>
              <a:rPr lang="en-US" sz="1020" dirty="0">
                <a:solidFill>
                  <a:srgbClr val="4E6174"/>
                </a:solidFill>
                <a:latin typeface="Arial"/>
                <a:ea typeface="DejaVu Sans"/>
                <a:cs typeface="DejaVu Sans"/>
              </a:rPr>
              <a:t>, Trường ĐH Công Đoàn</a:t>
            </a:r>
            <a:endParaRPr sz="1020" dirty="0">
              <a:solidFill>
                <a:srgbClr val="4E6174"/>
              </a:solidFill>
              <a:latin typeface="Arial"/>
              <a:ea typeface="DejaVu Sans"/>
              <a:cs typeface="DejaVu Sans"/>
            </a:endParaRPr>
          </a:p>
        </p:txBody>
      </p:sp>
      <p:sp>
        <p:nvSpPr>
          <p:cNvPr id="41" name="Rectangle 40">
            <a:extLst>
              <a:ext uri="{FF2B5EF4-FFF2-40B4-BE49-F238E27FC236}">
                <a16:creationId xmlns:a16="http://schemas.microsoft.com/office/drawing/2014/main" id="{B78217BC-DF1B-4B24-99D8-AB8FF2462C22}"/>
              </a:ext>
            </a:extLst>
          </p:cNvPr>
          <p:cNvSpPr>
            <a:spLocks noGrp="1"/>
          </p:cNvSpPr>
          <p:nvPr/>
        </p:nvSpPr>
        <p:spPr>
          <a:xfrm>
            <a:off x="0" y="6644640"/>
            <a:ext cx="12192000" cy="213360"/>
          </a:xfrm>
          <a:prstGeom prst="rect">
            <a:avLst/>
          </a:prstGeom>
          <a:solidFill>
            <a:srgbClr val="112E50"/>
          </a:solidFill>
          <a:ln w="0">
            <a:noFill/>
          </a:ln>
        </p:spPr>
        <p:txBody>
          <a:bodyPr/>
          <a:lstStyle/>
          <a:p>
            <a:endParaRPr lang="en-US" sz="1440"/>
          </a:p>
        </p:txBody>
      </p:sp>
      <p:sp>
        <p:nvSpPr>
          <p:cNvPr id="42" name="Rectangle 41">
            <a:extLst>
              <a:ext uri="{FF2B5EF4-FFF2-40B4-BE49-F238E27FC236}">
                <a16:creationId xmlns:a16="http://schemas.microsoft.com/office/drawing/2014/main" id="{9168EB38-DD7D-4189-9CAF-F09317A2A43B}"/>
              </a:ext>
            </a:extLst>
          </p:cNvPr>
          <p:cNvSpPr>
            <a:spLocks noGrp="1"/>
          </p:cNvSpPr>
          <p:nvPr/>
        </p:nvSpPr>
        <p:spPr>
          <a:xfrm>
            <a:off x="396240" y="6667500"/>
            <a:ext cx="11353800" cy="182880"/>
          </a:xfrm>
          <a:prstGeom prst="rect">
            <a:avLst/>
          </a:prstGeom>
          <a:noFill/>
          <a:ln w="0">
            <a:noFill/>
          </a:ln>
        </p:spPr>
        <p:txBody>
          <a:bodyPr/>
          <a:lstStyle>
            <a:defPPr>
              <a:defRPr sz="1275" b="0">
                <a:solidFill>
                  <a:srgbClr val="FFFFFF"/>
                </a:solidFill>
                <a:latin typeface="DejaVu Sans"/>
                <a:ea typeface="DejaVu Sans"/>
                <a:cs typeface="DejaVu Sans"/>
              </a:defRPr>
            </a:defPPr>
          </a:lstStyle>
          <a:p>
            <a:pPr>
              <a:defRPr sz="1275" b="0">
                <a:solidFill>
                  <a:srgbClr val="FFFFFF"/>
                </a:solidFill>
                <a:latin typeface="DejaVu Sans"/>
                <a:ea typeface="DejaVu Sans"/>
                <a:cs typeface="DejaVu Sans"/>
              </a:defRPr>
            </a:pPr>
            <a:r>
              <a:rPr sz="960">
                <a:solidFill>
                  <a:srgbClr val="FFFFFF"/>
                </a:solidFill>
                <a:latin typeface="Arial"/>
                <a:ea typeface="DejaVu Sans"/>
                <a:cs typeface="DejaVu Sans"/>
              </a:rPr>
              <a:t>Vui lòng mang máy tính xách tay • Địa điểm: Phòng họp tiểu ban, Nhà điều hành Trường • Thời gian cụ thể sẽ được thông báo</a:t>
            </a:r>
          </a:p>
        </p:txBody>
      </p:sp>
      <p:grpSp>
        <p:nvGrpSpPr>
          <p:cNvPr id="46" name="Group 64">
            <a:extLst>
              <a:ext uri="{FF2B5EF4-FFF2-40B4-BE49-F238E27FC236}">
                <a16:creationId xmlns:a16="http://schemas.microsoft.com/office/drawing/2014/main" id="{619FF0A3-8BEA-FFC4-1330-62BB63734C90}"/>
              </a:ext>
            </a:extLst>
          </p:cNvPr>
          <p:cNvGrpSpPr/>
          <p:nvPr/>
        </p:nvGrpSpPr>
        <p:grpSpPr>
          <a:xfrm>
            <a:off x="8846821" y="216064"/>
            <a:ext cx="3156298" cy="893753"/>
            <a:chOff x="0" y="0"/>
            <a:chExt cx="6060597" cy="1825919"/>
          </a:xfrm>
        </p:grpSpPr>
        <p:sp>
          <p:nvSpPr>
            <p:cNvPr id="47" name="Freeform 65">
              <a:extLst>
                <a:ext uri="{FF2B5EF4-FFF2-40B4-BE49-F238E27FC236}">
                  <a16:creationId xmlns:a16="http://schemas.microsoft.com/office/drawing/2014/main" id="{175955A7-AA9D-CDAD-6973-3153F36FA3DA}"/>
                </a:ext>
              </a:extLst>
            </p:cNvPr>
            <p:cNvSpPr/>
            <p:nvPr/>
          </p:nvSpPr>
          <p:spPr>
            <a:xfrm>
              <a:off x="0" y="24877"/>
              <a:ext cx="1776166" cy="1776166"/>
            </a:xfrm>
            <a:custGeom>
              <a:avLst/>
              <a:gdLst/>
              <a:ahLst/>
              <a:cxnLst/>
              <a:rect l="l" t="t" r="r" b="b"/>
              <a:pathLst>
                <a:path w="1776166" h="1776166">
                  <a:moveTo>
                    <a:pt x="0" y="0"/>
                  </a:moveTo>
                  <a:lnTo>
                    <a:pt x="1776166" y="0"/>
                  </a:lnTo>
                  <a:lnTo>
                    <a:pt x="1776166" y="1776165"/>
                  </a:lnTo>
                  <a:lnTo>
                    <a:pt x="0" y="1776165"/>
                  </a:lnTo>
                  <a:lnTo>
                    <a:pt x="0" y="0"/>
                  </a:lnTo>
                  <a:close/>
                </a:path>
              </a:pathLst>
            </a:custGeom>
            <a:blipFill>
              <a:blip r:embed="rId3"/>
              <a:stretch>
                <a:fillRect/>
              </a:stretch>
            </a:blipFill>
          </p:spPr>
          <p:txBody>
            <a:bodyPr/>
            <a:lstStyle/>
            <a:p>
              <a:endParaRPr lang="en-US" sz="1440"/>
            </a:p>
          </p:txBody>
        </p:sp>
        <p:sp>
          <p:nvSpPr>
            <p:cNvPr id="48" name="Freeform 66">
              <a:extLst>
                <a:ext uri="{FF2B5EF4-FFF2-40B4-BE49-F238E27FC236}">
                  <a16:creationId xmlns:a16="http://schemas.microsoft.com/office/drawing/2014/main" id="{99FBC249-C3A7-CBEB-76A0-C61AA17FDF2F}"/>
                </a:ext>
              </a:extLst>
            </p:cNvPr>
            <p:cNvSpPr/>
            <p:nvPr/>
          </p:nvSpPr>
          <p:spPr>
            <a:xfrm>
              <a:off x="4284431" y="24877"/>
              <a:ext cx="1776166" cy="1776166"/>
            </a:xfrm>
            <a:custGeom>
              <a:avLst/>
              <a:gdLst/>
              <a:ahLst/>
              <a:cxnLst/>
              <a:rect l="l" t="t" r="r" b="b"/>
              <a:pathLst>
                <a:path w="1776166" h="1776166">
                  <a:moveTo>
                    <a:pt x="0" y="0"/>
                  </a:moveTo>
                  <a:lnTo>
                    <a:pt x="1776166" y="0"/>
                  </a:lnTo>
                  <a:lnTo>
                    <a:pt x="1776166" y="1776165"/>
                  </a:lnTo>
                  <a:lnTo>
                    <a:pt x="0" y="1776165"/>
                  </a:lnTo>
                  <a:lnTo>
                    <a:pt x="0" y="0"/>
                  </a:lnTo>
                  <a:close/>
                </a:path>
              </a:pathLst>
            </a:custGeom>
            <a:blipFill>
              <a:blip r:embed="rId4"/>
              <a:stretch>
                <a:fillRect/>
              </a:stretch>
            </a:blipFill>
          </p:spPr>
          <p:txBody>
            <a:bodyPr/>
            <a:lstStyle/>
            <a:p>
              <a:endParaRPr lang="en-US" sz="1440"/>
            </a:p>
          </p:txBody>
        </p:sp>
        <p:sp>
          <p:nvSpPr>
            <p:cNvPr id="49" name="Freeform 67">
              <a:extLst>
                <a:ext uri="{FF2B5EF4-FFF2-40B4-BE49-F238E27FC236}">
                  <a16:creationId xmlns:a16="http://schemas.microsoft.com/office/drawing/2014/main" id="{4D58C904-96D0-6096-179B-E3B8ED1D86B0}"/>
                </a:ext>
              </a:extLst>
            </p:cNvPr>
            <p:cNvSpPr/>
            <p:nvPr/>
          </p:nvSpPr>
          <p:spPr>
            <a:xfrm>
              <a:off x="2151246" y="0"/>
              <a:ext cx="1784887" cy="1825919"/>
            </a:xfrm>
            <a:custGeom>
              <a:avLst/>
              <a:gdLst/>
              <a:ahLst/>
              <a:cxnLst/>
              <a:rect l="l" t="t" r="r" b="b"/>
              <a:pathLst>
                <a:path w="1784887" h="1825919">
                  <a:moveTo>
                    <a:pt x="0" y="0"/>
                  </a:moveTo>
                  <a:lnTo>
                    <a:pt x="1784888" y="0"/>
                  </a:lnTo>
                  <a:lnTo>
                    <a:pt x="1784888" y="1825919"/>
                  </a:lnTo>
                  <a:lnTo>
                    <a:pt x="0" y="1825919"/>
                  </a:lnTo>
                  <a:lnTo>
                    <a:pt x="0" y="0"/>
                  </a:lnTo>
                  <a:close/>
                </a:path>
              </a:pathLst>
            </a:custGeom>
            <a:blipFill>
              <a:blip r:embed="rId5"/>
              <a:stretch>
                <a:fillRect/>
              </a:stretch>
            </a:blipFill>
          </p:spPr>
          <p:txBody>
            <a:bodyPr/>
            <a:lstStyle/>
            <a:p>
              <a:endParaRPr lang="en-US" sz="1440"/>
            </a:p>
          </p:txBody>
        </p:sp>
      </p:grpSp>
      <p:grpSp>
        <p:nvGrpSpPr>
          <p:cNvPr id="50" name="Group 18">
            <a:extLst>
              <a:ext uri="{FF2B5EF4-FFF2-40B4-BE49-F238E27FC236}">
                <a16:creationId xmlns:a16="http://schemas.microsoft.com/office/drawing/2014/main" id="{33071584-B49D-CD42-DCC9-E4FAD066D627}"/>
              </a:ext>
            </a:extLst>
          </p:cNvPr>
          <p:cNvGrpSpPr/>
          <p:nvPr/>
        </p:nvGrpSpPr>
        <p:grpSpPr>
          <a:xfrm>
            <a:off x="3317390" y="4539631"/>
            <a:ext cx="984100" cy="1299179"/>
            <a:chOff x="0" y="0"/>
            <a:chExt cx="1640167" cy="2165299"/>
          </a:xfrm>
        </p:grpSpPr>
        <p:sp>
          <p:nvSpPr>
            <p:cNvPr id="51" name="Freeform 19" descr="a chung.jpg">
              <a:extLst>
                <a:ext uri="{FF2B5EF4-FFF2-40B4-BE49-F238E27FC236}">
                  <a16:creationId xmlns:a16="http://schemas.microsoft.com/office/drawing/2014/main" id="{7202C0C6-A6F5-BFEC-216A-8776FB95C84C}"/>
                </a:ext>
              </a:extLst>
            </p:cNvPr>
            <p:cNvSpPr/>
            <p:nvPr/>
          </p:nvSpPr>
          <p:spPr>
            <a:xfrm>
              <a:off x="0" y="0"/>
              <a:ext cx="1640205" cy="2165350"/>
            </a:xfrm>
            <a:custGeom>
              <a:avLst/>
              <a:gdLst/>
              <a:ahLst/>
              <a:cxnLst/>
              <a:rect l="l" t="t" r="r" b="b"/>
              <a:pathLst>
                <a:path w="1640205" h="2165350">
                  <a:moveTo>
                    <a:pt x="0" y="0"/>
                  </a:moveTo>
                  <a:lnTo>
                    <a:pt x="1640205" y="0"/>
                  </a:lnTo>
                  <a:lnTo>
                    <a:pt x="1640205" y="2165350"/>
                  </a:lnTo>
                  <a:lnTo>
                    <a:pt x="0" y="2165350"/>
                  </a:lnTo>
                  <a:lnTo>
                    <a:pt x="0" y="0"/>
                  </a:lnTo>
                  <a:close/>
                </a:path>
              </a:pathLst>
            </a:custGeom>
            <a:blipFill>
              <a:blip r:embed="rId6"/>
              <a:stretch>
                <a:fillRect r="1" b="2"/>
              </a:stretch>
            </a:blipFill>
          </p:spPr>
          <p:txBody>
            <a:bodyPr/>
            <a:lstStyle/>
            <a:p>
              <a:endParaRPr lang="en-US" sz="1440"/>
            </a:p>
          </p:txBody>
        </p:sp>
      </p:grpSp>
      <p:grpSp>
        <p:nvGrpSpPr>
          <p:cNvPr id="52" name="Group 22">
            <a:extLst>
              <a:ext uri="{FF2B5EF4-FFF2-40B4-BE49-F238E27FC236}">
                <a16:creationId xmlns:a16="http://schemas.microsoft.com/office/drawing/2014/main" id="{F563EFBC-6FF2-AAF3-AAC2-FDD763F77903}"/>
              </a:ext>
            </a:extLst>
          </p:cNvPr>
          <p:cNvGrpSpPr/>
          <p:nvPr/>
        </p:nvGrpSpPr>
        <p:grpSpPr>
          <a:xfrm>
            <a:off x="5688174" y="4476750"/>
            <a:ext cx="939310" cy="1299210"/>
            <a:chOff x="0" y="0"/>
            <a:chExt cx="1565516" cy="2165299"/>
          </a:xfrm>
        </p:grpSpPr>
        <p:sp>
          <p:nvSpPr>
            <p:cNvPr id="53" name="Freeform 23" descr="toi.jpg">
              <a:extLst>
                <a:ext uri="{FF2B5EF4-FFF2-40B4-BE49-F238E27FC236}">
                  <a16:creationId xmlns:a16="http://schemas.microsoft.com/office/drawing/2014/main" id="{93C08673-20D6-52E8-77DD-649EF58C7A3F}"/>
                </a:ext>
              </a:extLst>
            </p:cNvPr>
            <p:cNvSpPr/>
            <p:nvPr/>
          </p:nvSpPr>
          <p:spPr>
            <a:xfrm>
              <a:off x="0" y="0"/>
              <a:ext cx="1565529" cy="2165350"/>
            </a:xfrm>
            <a:custGeom>
              <a:avLst/>
              <a:gdLst/>
              <a:ahLst/>
              <a:cxnLst/>
              <a:rect l="l" t="t" r="r" b="b"/>
              <a:pathLst>
                <a:path w="1565529" h="2165350">
                  <a:moveTo>
                    <a:pt x="0" y="0"/>
                  </a:moveTo>
                  <a:lnTo>
                    <a:pt x="1565529" y="0"/>
                  </a:lnTo>
                  <a:lnTo>
                    <a:pt x="1565529" y="2165350"/>
                  </a:lnTo>
                  <a:lnTo>
                    <a:pt x="0" y="2165350"/>
                  </a:lnTo>
                  <a:lnTo>
                    <a:pt x="0" y="0"/>
                  </a:lnTo>
                  <a:close/>
                </a:path>
              </a:pathLst>
            </a:custGeom>
            <a:blipFill>
              <a:blip r:embed="rId7"/>
              <a:stretch>
                <a:fillRect b="2"/>
              </a:stretch>
            </a:blipFill>
          </p:spPr>
          <p:txBody>
            <a:bodyPr/>
            <a:lstStyle/>
            <a:p>
              <a:endParaRPr lang="en-US" sz="1440"/>
            </a:p>
          </p:txBody>
        </p:sp>
      </p:grpSp>
      <p:grpSp>
        <p:nvGrpSpPr>
          <p:cNvPr id="54" name="Group 26">
            <a:extLst>
              <a:ext uri="{FF2B5EF4-FFF2-40B4-BE49-F238E27FC236}">
                <a16:creationId xmlns:a16="http://schemas.microsoft.com/office/drawing/2014/main" id="{577C95CF-1820-CFB7-8954-EE36B58E323C}"/>
              </a:ext>
            </a:extLst>
          </p:cNvPr>
          <p:cNvGrpSpPr/>
          <p:nvPr/>
        </p:nvGrpSpPr>
        <p:grpSpPr>
          <a:xfrm>
            <a:off x="8014153" y="4493546"/>
            <a:ext cx="864901" cy="1299179"/>
            <a:chOff x="0" y="0"/>
            <a:chExt cx="1441501" cy="2165299"/>
          </a:xfrm>
        </p:grpSpPr>
        <p:sp>
          <p:nvSpPr>
            <p:cNvPr id="55" name="Freeform 27" descr="image.JPG">
              <a:extLst>
                <a:ext uri="{FF2B5EF4-FFF2-40B4-BE49-F238E27FC236}">
                  <a16:creationId xmlns:a16="http://schemas.microsoft.com/office/drawing/2014/main" id="{7D7DB39E-955E-8BC1-C643-9924C6673D81}"/>
                </a:ext>
              </a:extLst>
            </p:cNvPr>
            <p:cNvSpPr/>
            <p:nvPr/>
          </p:nvSpPr>
          <p:spPr>
            <a:xfrm>
              <a:off x="0" y="0"/>
              <a:ext cx="1441450" cy="2165350"/>
            </a:xfrm>
            <a:custGeom>
              <a:avLst/>
              <a:gdLst/>
              <a:ahLst/>
              <a:cxnLst/>
              <a:rect l="l" t="t" r="r" b="b"/>
              <a:pathLst>
                <a:path w="1441450" h="2165350">
                  <a:moveTo>
                    <a:pt x="0" y="0"/>
                  </a:moveTo>
                  <a:lnTo>
                    <a:pt x="1441450" y="0"/>
                  </a:lnTo>
                  <a:lnTo>
                    <a:pt x="1441450" y="2165350"/>
                  </a:lnTo>
                  <a:lnTo>
                    <a:pt x="0" y="2165350"/>
                  </a:lnTo>
                  <a:lnTo>
                    <a:pt x="0" y="0"/>
                  </a:lnTo>
                  <a:close/>
                </a:path>
              </a:pathLst>
            </a:custGeom>
            <a:blipFill>
              <a:blip r:embed="rId8"/>
              <a:stretch>
                <a:fillRect r="-3" b="2"/>
              </a:stretch>
            </a:blipFill>
          </p:spPr>
          <p:txBody>
            <a:bodyPr/>
            <a:lstStyle/>
            <a:p>
              <a:endParaRPr lang="en-US" sz="1440"/>
            </a:p>
          </p:txBody>
        </p:sp>
      </p:grpSp>
      <p:grpSp>
        <p:nvGrpSpPr>
          <p:cNvPr id="56" name="Group 30">
            <a:extLst>
              <a:ext uri="{FF2B5EF4-FFF2-40B4-BE49-F238E27FC236}">
                <a16:creationId xmlns:a16="http://schemas.microsoft.com/office/drawing/2014/main" id="{E3C3A794-EDD0-5985-F0F6-DCA5F5532E26}"/>
              </a:ext>
            </a:extLst>
          </p:cNvPr>
          <p:cNvGrpSpPr/>
          <p:nvPr/>
        </p:nvGrpSpPr>
        <p:grpSpPr>
          <a:xfrm>
            <a:off x="10332721" y="4629510"/>
            <a:ext cx="954471" cy="1074420"/>
            <a:chOff x="0" y="0"/>
            <a:chExt cx="2165299" cy="2165299"/>
          </a:xfrm>
        </p:grpSpPr>
        <p:sp>
          <p:nvSpPr>
            <p:cNvPr id="57" name="Freeform 31" descr="a tuấn LM.jpg">
              <a:extLst>
                <a:ext uri="{FF2B5EF4-FFF2-40B4-BE49-F238E27FC236}">
                  <a16:creationId xmlns:a16="http://schemas.microsoft.com/office/drawing/2014/main" id="{57EB3C78-7DE2-BB7A-3933-6F3390079A2C}"/>
                </a:ext>
              </a:extLst>
            </p:cNvPr>
            <p:cNvSpPr/>
            <p:nvPr/>
          </p:nvSpPr>
          <p:spPr>
            <a:xfrm>
              <a:off x="0" y="0"/>
              <a:ext cx="2165350" cy="2165350"/>
            </a:xfrm>
            <a:custGeom>
              <a:avLst/>
              <a:gdLst/>
              <a:ahLst/>
              <a:cxnLst/>
              <a:rect l="l" t="t" r="r" b="b"/>
              <a:pathLst>
                <a:path w="2165350" h="2165350">
                  <a:moveTo>
                    <a:pt x="0" y="0"/>
                  </a:moveTo>
                  <a:lnTo>
                    <a:pt x="2165350" y="0"/>
                  </a:lnTo>
                  <a:lnTo>
                    <a:pt x="2165350" y="2165350"/>
                  </a:lnTo>
                  <a:lnTo>
                    <a:pt x="0" y="2165350"/>
                  </a:lnTo>
                  <a:lnTo>
                    <a:pt x="0" y="0"/>
                  </a:lnTo>
                  <a:close/>
                </a:path>
              </a:pathLst>
            </a:custGeom>
            <a:blipFill>
              <a:blip r:embed="rId9"/>
              <a:stretch>
                <a:fillRect r="2" b="2"/>
              </a:stretch>
            </a:blipFill>
          </p:spPr>
          <p:txBody>
            <a:bodyPr/>
            <a:lstStyle/>
            <a:p>
              <a:endParaRPr lang="en-US" sz="1440"/>
            </a:p>
          </p:txBody>
        </p:sp>
      </p:grpSp>
    </p:spTree>
    <p:extLst>
      <p:ext uri="{BB962C8B-B14F-4D97-AF65-F5344CB8AC3E}">
        <p14:creationId xmlns:p14="http://schemas.microsoft.com/office/powerpoint/2010/main" val="560294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E587A-76F4-6826-D984-93F2DACB8CA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3EC7EF0-C767-5174-0816-C10548121777}"/>
              </a:ext>
            </a:extLst>
          </p:cNvPr>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NỘI DUNG</a:t>
            </a:r>
            <a:endParaRPr lang="en-US" sz="4400" dirty="0"/>
          </a:p>
        </p:txBody>
      </p:sp>
      <p:sp>
        <p:nvSpPr>
          <p:cNvPr id="3" name="Slide Number Placeholder 0">
            <a:extLst>
              <a:ext uri="{FF2B5EF4-FFF2-40B4-BE49-F238E27FC236}">
                <a16:creationId xmlns:a16="http://schemas.microsoft.com/office/drawing/2014/main" id="{AD40567F-BD02-E850-2AA9-2A4C265F537E}"/>
              </a:ext>
            </a:extLst>
          </p:cNvPr>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2</a:t>
            </a:fld>
            <a:endParaRPr lang="en-US"/>
          </a:p>
        </p:txBody>
      </p:sp>
      <p:grpSp>
        <p:nvGrpSpPr>
          <p:cNvPr id="49" name="Group 48">
            <a:extLst>
              <a:ext uri="{FF2B5EF4-FFF2-40B4-BE49-F238E27FC236}">
                <a16:creationId xmlns:a16="http://schemas.microsoft.com/office/drawing/2014/main" id="{D7EF6AD3-2F9C-1753-DA54-2DDE522692CB}"/>
              </a:ext>
            </a:extLst>
          </p:cNvPr>
          <p:cNvGrpSpPr/>
          <p:nvPr/>
        </p:nvGrpSpPr>
        <p:grpSpPr>
          <a:xfrm>
            <a:off x="365760" y="1325879"/>
            <a:ext cx="11567160" cy="5283025"/>
            <a:chOff x="365760" y="1325880"/>
            <a:chExt cx="11567160" cy="4617720"/>
          </a:xfrm>
        </p:grpSpPr>
        <p:sp>
          <p:nvSpPr>
            <p:cNvPr id="4" name="Shape 1">
              <a:extLst>
                <a:ext uri="{FF2B5EF4-FFF2-40B4-BE49-F238E27FC236}">
                  <a16:creationId xmlns:a16="http://schemas.microsoft.com/office/drawing/2014/main" id="{6E7693AD-90FA-61E8-71C4-BB82283D007F}"/>
                </a:ext>
              </a:extLst>
            </p:cNvPr>
            <p:cNvSpPr/>
            <p:nvPr/>
          </p:nvSpPr>
          <p:spPr>
            <a:xfrm>
              <a:off x="411480" y="1325880"/>
              <a:ext cx="2011680" cy="685800"/>
            </a:xfrm>
            <a:prstGeom prst="chevron">
              <a:avLst/>
            </a:prstGeom>
            <a:solidFill>
              <a:srgbClr val="A80000"/>
            </a:solidFill>
            <a:ln w="12700">
              <a:solidFill>
                <a:srgbClr val="A80000"/>
              </a:solidFill>
              <a:prstDash val="solid"/>
            </a:ln>
          </p:spPr>
          <p:txBody>
            <a:bodyPr/>
            <a:lstStyle/>
            <a:p>
              <a:endParaRPr lang="en-US"/>
            </a:p>
          </p:txBody>
        </p:sp>
        <p:sp>
          <p:nvSpPr>
            <p:cNvPr id="5" name="Text 2">
              <a:extLst>
                <a:ext uri="{FF2B5EF4-FFF2-40B4-BE49-F238E27FC236}">
                  <a16:creationId xmlns:a16="http://schemas.microsoft.com/office/drawing/2014/main" id="{4B4F028C-6B36-8E26-4A65-8C9D874378B1}"/>
                </a:ext>
              </a:extLst>
            </p:cNvPr>
            <p:cNvSpPr txBox="1"/>
            <p:nvPr/>
          </p:nvSpPr>
          <p:spPr>
            <a:xfrm>
              <a:off x="685800" y="1325880"/>
              <a:ext cx="146304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Shape 3">
              <a:extLst>
                <a:ext uri="{FF2B5EF4-FFF2-40B4-BE49-F238E27FC236}">
                  <a16:creationId xmlns:a16="http://schemas.microsoft.com/office/drawing/2014/main" id="{1217A317-09FC-B520-7C50-220A0C459892}"/>
                </a:ext>
              </a:extLst>
            </p:cNvPr>
            <p:cNvSpPr/>
            <p:nvPr/>
          </p:nvSpPr>
          <p:spPr>
            <a:xfrm>
              <a:off x="914400" y="2331720"/>
              <a:ext cx="914400" cy="914400"/>
            </a:xfrm>
            <a:prstGeom prst="ellipse">
              <a:avLst/>
            </a:prstGeom>
            <a:solidFill>
              <a:srgbClr val="A80000"/>
            </a:solidFill>
            <a:ln w="12700">
              <a:solidFill>
                <a:srgbClr val="A80000"/>
              </a:solidFill>
              <a:prstDash val="solid"/>
            </a:ln>
          </p:spPr>
          <p:txBody>
            <a:bodyPr/>
            <a:lstStyle/>
            <a:p>
              <a:endParaRPr lang="en-US"/>
            </a:p>
          </p:txBody>
        </p:sp>
        <p:pic>
          <p:nvPicPr>
            <p:cNvPr id="7" name="Image 0" descr="preencoded.png">
              <a:extLst>
                <a:ext uri="{FF2B5EF4-FFF2-40B4-BE49-F238E27FC236}">
                  <a16:creationId xmlns:a16="http://schemas.microsoft.com/office/drawing/2014/main" id="{2DCBCAFD-D914-C780-4AF0-20803221C037}"/>
                </a:ext>
              </a:extLst>
            </p:cNvPr>
            <p:cNvPicPr>
              <a:picLocks noChangeAspect="1"/>
            </p:cNvPicPr>
            <p:nvPr/>
          </p:nvPicPr>
          <p:blipFill>
            <a:blip r:embed="rId3"/>
            <a:stretch>
              <a:fillRect/>
            </a:stretch>
          </p:blipFill>
          <p:spPr>
            <a:xfrm>
              <a:off x="1133856" y="2551176"/>
              <a:ext cx="475488" cy="475488"/>
            </a:xfrm>
            <a:prstGeom prst="rect">
              <a:avLst/>
            </a:prstGeom>
          </p:spPr>
        </p:pic>
        <p:sp>
          <p:nvSpPr>
            <p:cNvPr id="8" name="Text 4">
              <a:extLst>
                <a:ext uri="{FF2B5EF4-FFF2-40B4-BE49-F238E27FC236}">
                  <a16:creationId xmlns:a16="http://schemas.microsoft.com/office/drawing/2014/main" id="{7A6D9DB1-1B32-1165-D664-BA32F6193470}"/>
                </a:ext>
              </a:extLst>
            </p:cNvPr>
            <p:cNvSpPr txBox="1"/>
            <p:nvPr/>
          </p:nvSpPr>
          <p:spPr>
            <a:xfrm>
              <a:off x="365760" y="3383280"/>
              <a:ext cx="1920240" cy="73152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Bối cảnh</a:t>
              </a:r>
              <a:endParaRPr lang="en-US" sz="1700" dirty="0"/>
            </a:p>
          </p:txBody>
        </p:sp>
        <p:sp>
          <p:nvSpPr>
            <p:cNvPr id="9" name="Shape 5">
              <a:extLst>
                <a:ext uri="{FF2B5EF4-FFF2-40B4-BE49-F238E27FC236}">
                  <a16:creationId xmlns:a16="http://schemas.microsoft.com/office/drawing/2014/main" id="{4E565D4E-E642-F1CB-B213-32540463377C}"/>
                </a:ext>
              </a:extLst>
            </p:cNvPr>
            <p:cNvSpPr/>
            <p:nvPr/>
          </p:nvSpPr>
          <p:spPr>
            <a:xfrm>
              <a:off x="521208" y="4206240"/>
              <a:ext cx="1600200" cy="411480"/>
            </a:xfrm>
            <a:prstGeom prst="roundRect">
              <a:avLst>
                <a:gd name="adj" fmla="val 48889"/>
              </a:avLst>
            </a:prstGeom>
            <a:solidFill>
              <a:srgbClr val="FFFFFF"/>
            </a:solidFill>
            <a:ln w="19050">
              <a:solidFill>
                <a:srgbClr val="A80000"/>
              </a:solidFill>
              <a:prstDash val="solid"/>
            </a:ln>
          </p:spPr>
          <p:txBody>
            <a:bodyPr/>
            <a:lstStyle/>
            <a:p>
              <a:endParaRPr lang="en-US"/>
            </a:p>
          </p:txBody>
        </p:sp>
        <p:sp>
          <p:nvSpPr>
            <p:cNvPr id="10" name="Text 6">
              <a:extLst>
                <a:ext uri="{FF2B5EF4-FFF2-40B4-BE49-F238E27FC236}">
                  <a16:creationId xmlns:a16="http://schemas.microsoft.com/office/drawing/2014/main" id="{C2E5F917-CE2F-3D8D-535C-1458A8652EBE}"/>
                </a:ext>
              </a:extLst>
            </p:cNvPr>
            <p:cNvSpPr txBox="1"/>
            <p:nvPr/>
          </p:nvSpPr>
          <p:spPr>
            <a:xfrm>
              <a:off x="521208" y="4206240"/>
              <a:ext cx="1600200" cy="411480"/>
            </a:xfrm>
            <a:prstGeom prst="rect">
              <a:avLst/>
            </a:prstGeom>
            <a:noFill/>
            <a:ln/>
          </p:spPr>
          <p:txBody>
            <a:bodyPr wrap="square" lIns="0" tIns="0" rIns="0" bIns="0" rtlCol="0" anchor="ctr"/>
            <a:lstStyle/>
            <a:p>
              <a:pPr marL="0" indent="0" algn="ctr">
                <a:buNone/>
              </a:pPr>
              <a:r>
                <a:rPr lang="en-US" sz="1300" b="1" dirty="0">
                  <a:solidFill>
                    <a:srgbClr val="A80000"/>
                  </a:solidFill>
                  <a:latin typeface="Calibri" pitchFamily="34" charset="0"/>
                  <a:ea typeface="Calibri" pitchFamily="34" charset="-122"/>
                  <a:cs typeface="Calibri" pitchFamily="34" charset="-120"/>
                </a:rPr>
                <a:t>Vì sao?</a:t>
              </a:r>
              <a:endParaRPr lang="en-US" sz="1300" dirty="0"/>
            </a:p>
          </p:txBody>
        </p:sp>
        <p:sp>
          <p:nvSpPr>
            <p:cNvPr id="11" name="Shape 7">
              <a:extLst>
                <a:ext uri="{FF2B5EF4-FFF2-40B4-BE49-F238E27FC236}">
                  <a16:creationId xmlns:a16="http://schemas.microsoft.com/office/drawing/2014/main" id="{B725985E-5FC4-3ABD-D76B-FF4DCBBEFF0F}"/>
                </a:ext>
              </a:extLst>
            </p:cNvPr>
            <p:cNvSpPr/>
            <p:nvPr/>
          </p:nvSpPr>
          <p:spPr>
            <a:xfrm>
              <a:off x="2313432" y="1325880"/>
              <a:ext cx="2011680" cy="685800"/>
            </a:xfrm>
            <a:prstGeom prst="chevron">
              <a:avLst/>
            </a:prstGeom>
            <a:solidFill>
              <a:srgbClr val="1F6F8B"/>
            </a:solidFill>
            <a:ln w="12700">
              <a:solidFill>
                <a:srgbClr val="1F6F8B"/>
              </a:solidFill>
              <a:prstDash val="solid"/>
            </a:ln>
          </p:spPr>
          <p:txBody>
            <a:bodyPr/>
            <a:lstStyle/>
            <a:p>
              <a:endParaRPr lang="en-US"/>
            </a:p>
          </p:txBody>
        </p:sp>
        <p:sp>
          <p:nvSpPr>
            <p:cNvPr id="12" name="Text 8">
              <a:extLst>
                <a:ext uri="{FF2B5EF4-FFF2-40B4-BE49-F238E27FC236}">
                  <a16:creationId xmlns:a16="http://schemas.microsoft.com/office/drawing/2014/main" id="{E99B3B37-7BDE-5F8F-3DE4-4F440C8FC4E5}"/>
                </a:ext>
              </a:extLst>
            </p:cNvPr>
            <p:cNvSpPr txBox="1"/>
            <p:nvPr/>
          </p:nvSpPr>
          <p:spPr>
            <a:xfrm>
              <a:off x="2587752" y="1325880"/>
              <a:ext cx="146304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3" name="Shape 9">
              <a:extLst>
                <a:ext uri="{FF2B5EF4-FFF2-40B4-BE49-F238E27FC236}">
                  <a16:creationId xmlns:a16="http://schemas.microsoft.com/office/drawing/2014/main" id="{0AF4E51C-DA98-4558-3F84-1A82C46EA6FF}"/>
                </a:ext>
              </a:extLst>
            </p:cNvPr>
            <p:cNvSpPr/>
            <p:nvPr/>
          </p:nvSpPr>
          <p:spPr>
            <a:xfrm>
              <a:off x="2816352" y="2331720"/>
              <a:ext cx="914400" cy="914400"/>
            </a:xfrm>
            <a:prstGeom prst="ellipse">
              <a:avLst/>
            </a:prstGeom>
            <a:solidFill>
              <a:srgbClr val="1F6F8B"/>
            </a:solidFill>
            <a:ln w="12700">
              <a:solidFill>
                <a:srgbClr val="1F6F8B"/>
              </a:solidFill>
              <a:prstDash val="solid"/>
            </a:ln>
          </p:spPr>
          <p:txBody>
            <a:bodyPr/>
            <a:lstStyle/>
            <a:p>
              <a:endParaRPr lang="en-US"/>
            </a:p>
          </p:txBody>
        </p:sp>
        <p:pic>
          <p:nvPicPr>
            <p:cNvPr id="14" name="Image 1" descr="preencoded.png">
              <a:extLst>
                <a:ext uri="{FF2B5EF4-FFF2-40B4-BE49-F238E27FC236}">
                  <a16:creationId xmlns:a16="http://schemas.microsoft.com/office/drawing/2014/main" id="{0CC4FB7B-0BD4-17BA-1C88-16403D93004C}"/>
                </a:ext>
              </a:extLst>
            </p:cNvPr>
            <p:cNvPicPr>
              <a:picLocks noChangeAspect="1"/>
            </p:cNvPicPr>
            <p:nvPr/>
          </p:nvPicPr>
          <p:blipFill>
            <a:blip r:embed="rId4"/>
            <a:stretch>
              <a:fillRect/>
            </a:stretch>
          </p:blipFill>
          <p:spPr>
            <a:xfrm>
              <a:off x="3035808" y="2551176"/>
              <a:ext cx="475488" cy="475488"/>
            </a:xfrm>
            <a:prstGeom prst="rect">
              <a:avLst/>
            </a:prstGeom>
          </p:spPr>
        </p:pic>
        <p:sp>
          <p:nvSpPr>
            <p:cNvPr id="15" name="Text 10">
              <a:extLst>
                <a:ext uri="{FF2B5EF4-FFF2-40B4-BE49-F238E27FC236}">
                  <a16:creationId xmlns:a16="http://schemas.microsoft.com/office/drawing/2014/main" id="{192DC35F-365A-6F78-5F4D-964FFA18F60F}"/>
                </a:ext>
              </a:extLst>
            </p:cNvPr>
            <p:cNvSpPr txBox="1"/>
            <p:nvPr/>
          </p:nvSpPr>
          <p:spPr>
            <a:xfrm>
              <a:off x="2267712" y="3383280"/>
              <a:ext cx="1920240" cy="73152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Hướng ưu tiên</a:t>
              </a:r>
              <a:endParaRPr lang="en-US" sz="1700" dirty="0"/>
            </a:p>
          </p:txBody>
        </p:sp>
        <p:sp>
          <p:nvSpPr>
            <p:cNvPr id="16" name="Shape 11">
              <a:extLst>
                <a:ext uri="{FF2B5EF4-FFF2-40B4-BE49-F238E27FC236}">
                  <a16:creationId xmlns:a16="http://schemas.microsoft.com/office/drawing/2014/main" id="{15F08666-B94C-7403-6E1D-6EA3903BB0B1}"/>
                </a:ext>
              </a:extLst>
            </p:cNvPr>
            <p:cNvSpPr/>
            <p:nvPr/>
          </p:nvSpPr>
          <p:spPr>
            <a:xfrm>
              <a:off x="2423160" y="4206240"/>
              <a:ext cx="1600200" cy="411480"/>
            </a:xfrm>
            <a:prstGeom prst="roundRect">
              <a:avLst>
                <a:gd name="adj" fmla="val 48889"/>
              </a:avLst>
            </a:prstGeom>
            <a:solidFill>
              <a:srgbClr val="FFFFFF"/>
            </a:solidFill>
            <a:ln w="19050">
              <a:solidFill>
                <a:srgbClr val="1F6F8B"/>
              </a:solidFill>
              <a:prstDash val="solid"/>
            </a:ln>
          </p:spPr>
          <p:txBody>
            <a:bodyPr/>
            <a:lstStyle/>
            <a:p>
              <a:endParaRPr lang="en-US"/>
            </a:p>
          </p:txBody>
        </p:sp>
        <p:sp>
          <p:nvSpPr>
            <p:cNvPr id="17" name="Text 12">
              <a:extLst>
                <a:ext uri="{FF2B5EF4-FFF2-40B4-BE49-F238E27FC236}">
                  <a16:creationId xmlns:a16="http://schemas.microsoft.com/office/drawing/2014/main" id="{3363CB51-738E-1379-ADFF-4D16991604E9}"/>
                </a:ext>
              </a:extLst>
            </p:cNvPr>
            <p:cNvSpPr txBox="1"/>
            <p:nvPr/>
          </p:nvSpPr>
          <p:spPr>
            <a:xfrm>
              <a:off x="2423160" y="4206240"/>
              <a:ext cx="1600200" cy="411480"/>
            </a:xfrm>
            <a:prstGeom prst="rect">
              <a:avLst/>
            </a:prstGeom>
            <a:noFill/>
            <a:ln/>
          </p:spPr>
          <p:txBody>
            <a:bodyPr wrap="square" lIns="0" tIns="0" rIns="0" bIns="0" rtlCol="0" anchor="ctr"/>
            <a:lstStyle/>
            <a:p>
              <a:pPr marL="0" indent="0" algn="ctr">
                <a:buNone/>
              </a:pPr>
              <a:r>
                <a:rPr lang="en-US" sz="1300" b="1" dirty="0">
                  <a:solidFill>
                    <a:srgbClr val="1F6F8B"/>
                  </a:solidFill>
                  <a:latin typeface="Calibri" pitchFamily="34" charset="0"/>
                  <a:ea typeface="Calibri" pitchFamily="34" charset="-122"/>
                  <a:cs typeface="Calibri" pitchFamily="34" charset="-120"/>
                </a:rPr>
                <a:t>Nghiên cứu gì?</a:t>
              </a:r>
              <a:endParaRPr lang="en-US" sz="1300" dirty="0"/>
            </a:p>
          </p:txBody>
        </p:sp>
        <p:sp>
          <p:nvSpPr>
            <p:cNvPr id="18" name="Shape 13">
              <a:extLst>
                <a:ext uri="{FF2B5EF4-FFF2-40B4-BE49-F238E27FC236}">
                  <a16:creationId xmlns:a16="http://schemas.microsoft.com/office/drawing/2014/main" id="{3A8C032F-6746-DF5F-55C3-3E6AEB0A1C6E}"/>
                </a:ext>
              </a:extLst>
            </p:cNvPr>
            <p:cNvSpPr/>
            <p:nvPr/>
          </p:nvSpPr>
          <p:spPr>
            <a:xfrm>
              <a:off x="4215384" y="1325880"/>
              <a:ext cx="2011680" cy="685800"/>
            </a:xfrm>
            <a:prstGeom prst="chevron">
              <a:avLst/>
            </a:prstGeom>
            <a:solidFill>
              <a:srgbClr val="E08A2E"/>
            </a:solidFill>
            <a:ln w="12700">
              <a:solidFill>
                <a:srgbClr val="E08A2E"/>
              </a:solidFill>
              <a:prstDash val="solid"/>
            </a:ln>
          </p:spPr>
          <p:txBody>
            <a:bodyPr/>
            <a:lstStyle/>
            <a:p>
              <a:endParaRPr lang="en-US"/>
            </a:p>
          </p:txBody>
        </p:sp>
        <p:sp>
          <p:nvSpPr>
            <p:cNvPr id="19" name="Text 14">
              <a:extLst>
                <a:ext uri="{FF2B5EF4-FFF2-40B4-BE49-F238E27FC236}">
                  <a16:creationId xmlns:a16="http://schemas.microsoft.com/office/drawing/2014/main" id="{5D576439-7509-08C2-C0D3-13B39E61F474}"/>
                </a:ext>
              </a:extLst>
            </p:cNvPr>
            <p:cNvSpPr txBox="1"/>
            <p:nvPr/>
          </p:nvSpPr>
          <p:spPr>
            <a:xfrm>
              <a:off x="4489704" y="1325880"/>
              <a:ext cx="146304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Shape 15">
              <a:extLst>
                <a:ext uri="{FF2B5EF4-FFF2-40B4-BE49-F238E27FC236}">
                  <a16:creationId xmlns:a16="http://schemas.microsoft.com/office/drawing/2014/main" id="{1D04B42F-8C84-8610-41D3-BD0747D31A1E}"/>
                </a:ext>
              </a:extLst>
            </p:cNvPr>
            <p:cNvSpPr/>
            <p:nvPr/>
          </p:nvSpPr>
          <p:spPr>
            <a:xfrm>
              <a:off x="4718304" y="2331720"/>
              <a:ext cx="914400" cy="914400"/>
            </a:xfrm>
            <a:prstGeom prst="ellipse">
              <a:avLst/>
            </a:prstGeom>
            <a:solidFill>
              <a:srgbClr val="E08A2E"/>
            </a:solidFill>
            <a:ln w="12700">
              <a:solidFill>
                <a:srgbClr val="E08A2E"/>
              </a:solidFill>
              <a:prstDash val="solid"/>
            </a:ln>
          </p:spPr>
          <p:txBody>
            <a:bodyPr/>
            <a:lstStyle/>
            <a:p>
              <a:endParaRPr lang="en-US"/>
            </a:p>
          </p:txBody>
        </p:sp>
        <p:pic>
          <p:nvPicPr>
            <p:cNvPr id="21" name="Image 2" descr="preencoded.png">
              <a:extLst>
                <a:ext uri="{FF2B5EF4-FFF2-40B4-BE49-F238E27FC236}">
                  <a16:creationId xmlns:a16="http://schemas.microsoft.com/office/drawing/2014/main" id="{59D4A291-EF6E-487A-8736-499EF6C822BB}"/>
                </a:ext>
              </a:extLst>
            </p:cNvPr>
            <p:cNvPicPr>
              <a:picLocks noChangeAspect="1"/>
            </p:cNvPicPr>
            <p:nvPr/>
          </p:nvPicPr>
          <p:blipFill>
            <a:blip r:embed="rId5"/>
            <a:stretch>
              <a:fillRect/>
            </a:stretch>
          </p:blipFill>
          <p:spPr>
            <a:xfrm>
              <a:off x="4937760" y="2551176"/>
              <a:ext cx="475488" cy="475488"/>
            </a:xfrm>
            <a:prstGeom prst="rect">
              <a:avLst/>
            </a:prstGeom>
          </p:spPr>
        </p:pic>
        <p:sp>
          <p:nvSpPr>
            <p:cNvPr id="22" name="Text 16">
              <a:extLst>
                <a:ext uri="{FF2B5EF4-FFF2-40B4-BE49-F238E27FC236}">
                  <a16:creationId xmlns:a16="http://schemas.microsoft.com/office/drawing/2014/main" id="{809FFEB3-C9B8-00B8-B674-718D3C91F249}"/>
                </a:ext>
              </a:extLst>
            </p:cNvPr>
            <p:cNvSpPr txBox="1"/>
            <p:nvPr/>
          </p:nvSpPr>
          <p:spPr>
            <a:xfrm>
              <a:off x="4169664" y="3383280"/>
              <a:ext cx="1920240" cy="73152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Sản phẩm Viện CNTT</a:t>
              </a:r>
              <a:endParaRPr lang="en-US" sz="1700" dirty="0"/>
            </a:p>
          </p:txBody>
        </p:sp>
        <p:sp>
          <p:nvSpPr>
            <p:cNvPr id="23" name="Shape 17">
              <a:extLst>
                <a:ext uri="{FF2B5EF4-FFF2-40B4-BE49-F238E27FC236}">
                  <a16:creationId xmlns:a16="http://schemas.microsoft.com/office/drawing/2014/main" id="{AA572032-29B9-379F-DCCC-1CFB73227758}"/>
                </a:ext>
              </a:extLst>
            </p:cNvPr>
            <p:cNvSpPr/>
            <p:nvPr/>
          </p:nvSpPr>
          <p:spPr>
            <a:xfrm>
              <a:off x="4325112" y="4206240"/>
              <a:ext cx="1600200" cy="411480"/>
            </a:xfrm>
            <a:prstGeom prst="roundRect">
              <a:avLst>
                <a:gd name="adj" fmla="val 48889"/>
              </a:avLst>
            </a:prstGeom>
            <a:solidFill>
              <a:srgbClr val="FFFFFF"/>
            </a:solidFill>
            <a:ln w="19050">
              <a:solidFill>
                <a:srgbClr val="E08A2E"/>
              </a:solidFill>
              <a:prstDash val="solid"/>
            </a:ln>
          </p:spPr>
          <p:txBody>
            <a:bodyPr/>
            <a:lstStyle/>
            <a:p>
              <a:endParaRPr lang="en-US"/>
            </a:p>
          </p:txBody>
        </p:sp>
        <p:sp>
          <p:nvSpPr>
            <p:cNvPr id="24" name="Text 18">
              <a:extLst>
                <a:ext uri="{FF2B5EF4-FFF2-40B4-BE49-F238E27FC236}">
                  <a16:creationId xmlns:a16="http://schemas.microsoft.com/office/drawing/2014/main" id="{CB919924-CC1E-437E-32A3-157EB3952796}"/>
                </a:ext>
              </a:extLst>
            </p:cNvPr>
            <p:cNvSpPr txBox="1"/>
            <p:nvPr/>
          </p:nvSpPr>
          <p:spPr>
            <a:xfrm>
              <a:off x="4325112" y="4206240"/>
              <a:ext cx="1600200" cy="411480"/>
            </a:xfrm>
            <a:prstGeom prst="rect">
              <a:avLst/>
            </a:prstGeom>
            <a:noFill/>
            <a:ln/>
          </p:spPr>
          <p:txBody>
            <a:bodyPr wrap="square" lIns="0" tIns="0" rIns="0" bIns="0" rtlCol="0" anchor="ctr"/>
            <a:lstStyle/>
            <a:p>
              <a:pPr marL="0" indent="0" algn="ctr">
                <a:buNone/>
              </a:pPr>
              <a:r>
                <a:rPr lang="en-US" sz="1300" b="1" dirty="0">
                  <a:solidFill>
                    <a:srgbClr val="E08A2E"/>
                  </a:solidFill>
                  <a:latin typeface="Calibri" pitchFamily="34" charset="0"/>
                  <a:ea typeface="Calibri" pitchFamily="34" charset="-122"/>
                  <a:cs typeface="Calibri" pitchFamily="34" charset="-120"/>
                </a:rPr>
                <a:t>Đã làm được gì?</a:t>
              </a:r>
              <a:endParaRPr lang="en-US" sz="1300" dirty="0"/>
            </a:p>
          </p:txBody>
        </p:sp>
        <p:sp>
          <p:nvSpPr>
            <p:cNvPr id="25" name="Shape 19">
              <a:extLst>
                <a:ext uri="{FF2B5EF4-FFF2-40B4-BE49-F238E27FC236}">
                  <a16:creationId xmlns:a16="http://schemas.microsoft.com/office/drawing/2014/main" id="{38B4873A-3C0B-2A13-0B3F-614BCE1BE1B2}"/>
                </a:ext>
              </a:extLst>
            </p:cNvPr>
            <p:cNvSpPr/>
            <p:nvPr/>
          </p:nvSpPr>
          <p:spPr>
            <a:xfrm>
              <a:off x="6117336" y="1325880"/>
              <a:ext cx="2011680" cy="685800"/>
            </a:xfrm>
            <a:prstGeom prst="chevron">
              <a:avLst/>
            </a:prstGeom>
            <a:solidFill>
              <a:srgbClr val="4B4B9C"/>
            </a:solidFill>
            <a:ln w="12700">
              <a:solidFill>
                <a:srgbClr val="4B4B9C"/>
              </a:solidFill>
              <a:prstDash val="solid"/>
            </a:ln>
          </p:spPr>
          <p:txBody>
            <a:bodyPr/>
            <a:lstStyle/>
            <a:p>
              <a:endParaRPr lang="en-US"/>
            </a:p>
          </p:txBody>
        </p:sp>
        <p:sp>
          <p:nvSpPr>
            <p:cNvPr id="26" name="Text 20">
              <a:extLst>
                <a:ext uri="{FF2B5EF4-FFF2-40B4-BE49-F238E27FC236}">
                  <a16:creationId xmlns:a16="http://schemas.microsoft.com/office/drawing/2014/main" id="{B63B0988-AA45-6F66-F42B-8A5982943428}"/>
                </a:ext>
              </a:extLst>
            </p:cNvPr>
            <p:cNvSpPr txBox="1"/>
            <p:nvPr/>
          </p:nvSpPr>
          <p:spPr>
            <a:xfrm>
              <a:off x="6391656" y="1325880"/>
              <a:ext cx="146304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7" name="Shape 21">
              <a:extLst>
                <a:ext uri="{FF2B5EF4-FFF2-40B4-BE49-F238E27FC236}">
                  <a16:creationId xmlns:a16="http://schemas.microsoft.com/office/drawing/2014/main" id="{CEFA99FE-20D7-FBAB-265C-5449E1A0CBCC}"/>
                </a:ext>
              </a:extLst>
            </p:cNvPr>
            <p:cNvSpPr/>
            <p:nvPr/>
          </p:nvSpPr>
          <p:spPr>
            <a:xfrm>
              <a:off x="6620256" y="2331720"/>
              <a:ext cx="914400" cy="914400"/>
            </a:xfrm>
            <a:prstGeom prst="ellipse">
              <a:avLst/>
            </a:prstGeom>
            <a:solidFill>
              <a:srgbClr val="4B4B9C"/>
            </a:solidFill>
            <a:ln w="12700">
              <a:solidFill>
                <a:srgbClr val="4B4B9C"/>
              </a:solidFill>
              <a:prstDash val="solid"/>
            </a:ln>
          </p:spPr>
          <p:txBody>
            <a:bodyPr/>
            <a:lstStyle/>
            <a:p>
              <a:endParaRPr lang="en-US"/>
            </a:p>
          </p:txBody>
        </p:sp>
        <p:pic>
          <p:nvPicPr>
            <p:cNvPr id="28" name="Image 3" descr="preencoded.png">
              <a:extLst>
                <a:ext uri="{FF2B5EF4-FFF2-40B4-BE49-F238E27FC236}">
                  <a16:creationId xmlns:a16="http://schemas.microsoft.com/office/drawing/2014/main" id="{94EA49E4-860A-8DA9-FBA0-D9BE64FD3751}"/>
                </a:ext>
              </a:extLst>
            </p:cNvPr>
            <p:cNvPicPr>
              <a:picLocks noChangeAspect="1"/>
            </p:cNvPicPr>
            <p:nvPr/>
          </p:nvPicPr>
          <p:blipFill>
            <a:blip r:embed="rId6"/>
            <a:stretch>
              <a:fillRect/>
            </a:stretch>
          </p:blipFill>
          <p:spPr>
            <a:xfrm>
              <a:off x="6839712" y="2551176"/>
              <a:ext cx="475488" cy="475488"/>
            </a:xfrm>
            <a:prstGeom prst="rect">
              <a:avLst/>
            </a:prstGeom>
          </p:spPr>
        </p:pic>
        <p:sp>
          <p:nvSpPr>
            <p:cNvPr id="29" name="Text 22">
              <a:extLst>
                <a:ext uri="{FF2B5EF4-FFF2-40B4-BE49-F238E27FC236}">
                  <a16:creationId xmlns:a16="http://schemas.microsoft.com/office/drawing/2014/main" id="{5155DBDD-8D58-8A15-23CD-1481E5C54C21}"/>
                </a:ext>
              </a:extLst>
            </p:cNvPr>
            <p:cNvSpPr txBox="1"/>
            <p:nvPr/>
          </p:nvSpPr>
          <p:spPr>
            <a:xfrm>
              <a:off x="6071616" y="3383280"/>
              <a:ext cx="1920240" cy="73152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Bản sao số</a:t>
              </a:r>
              <a:endParaRPr lang="en-US" sz="1700" dirty="0"/>
            </a:p>
          </p:txBody>
        </p:sp>
        <p:sp>
          <p:nvSpPr>
            <p:cNvPr id="30" name="Shape 23">
              <a:extLst>
                <a:ext uri="{FF2B5EF4-FFF2-40B4-BE49-F238E27FC236}">
                  <a16:creationId xmlns:a16="http://schemas.microsoft.com/office/drawing/2014/main" id="{4653B826-5829-0D6E-E4B3-92C98C45A631}"/>
                </a:ext>
              </a:extLst>
            </p:cNvPr>
            <p:cNvSpPr/>
            <p:nvPr/>
          </p:nvSpPr>
          <p:spPr>
            <a:xfrm>
              <a:off x="6227064" y="4206240"/>
              <a:ext cx="1600200" cy="411480"/>
            </a:xfrm>
            <a:prstGeom prst="roundRect">
              <a:avLst>
                <a:gd name="adj" fmla="val 48889"/>
              </a:avLst>
            </a:prstGeom>
            <a:solidFill>
              <a:srgbClr val="FFFFFF"/>
            </a:solidFill>
            <a:ln w="19050">
              <a:solidFill>
                <a:srgbClr val="4B4B9C"/>
              </a:solidFill>
              <a:prstDash val="solid"/>
            </a:ln>
          </p:spPr>
          <p:txBody>
            <a:bodyPr/>
            <a:lstStyle/>
            <a:p>
              <a:endParaRPr lang="en-US"/>
            </a:p>
          </p:txBody>
        </p:sp>
        <p:sp>
          <p:nvSpPr>
            <p:cNvPr id="31" name="Text 24">
              <a:extLst>
                <a:ext uri="{FF2B5EF4-FFF2-40B4-BE49-F238E27FC236}">
                  <a16:creationId xmlns:a16="http://schemas.microsoft.com/office/drawing/2014/main" id="{556C2DA4-11CC-0714-9B00-2D44AA5709EE}"/>
                </a:ext>
              </a:extLst>
            </p:cNvPr>
            <p:cNvSpPr txBox="1"/>
            <p:nvPr/>
          </p:nvSpPr>
          <p:spPr>
            <a:xfrm>
              <a:off x="6227064" y="4206240"/>
              <a:ext cx="1600200" cy="411480"/>
            </a:xfrm>
            <a:prstGeom prst="rect">
              <a:avLst/>
            </a:prstGeom>
            <a:noFill/>
            <a:ln/>
          </p:spPr>
          <p:txBody>
            <a:bodyPr wrap="square" lIns="0" tIns="0" rIns="0" bIns="0" rtlCol="0" anchor="ctr"/>
            <a:lstStyle/>
            <a:p>
              <a:pPr marL="0" indent="0" algn="ctr">
                <a:buNone/>
              </a:pPr>
              <a:r>
                <a:rPr lang="en-US" sz="1300" b="1" dirty="0">
                  <a:solidFill>
                    <a:srgbClr val="4B4B9C"/>
                  </a:solidFill>
                  <a:latin typeface="Calibri" pitchFamily="34" charset="0"/>
                  <a:ea typeface="Calibri" pitchFamily="34" charset="-122"/>
                  <a:cs typeface="Calibri" pitchFamily="34" charset="-120"/>
                </a:rPr>
                <a:t>Làm thế nào?</a:t>
              </a:r>
              <a:endParaRPr lang="en-US" sz="1300" dirty="0"/>
            </a:p>
          </p:txBody>
        </p:sp>
        <p:sp>
          <p:nvSpPr>
            <p:cNvPr id="32" name="Shape 25">
              <a:extLst>
                <a:ext uri="{FF2B5EF4-FFF2-40B4-BE49-F238E27FC236}">
                  <a16:creationId xmlns:a16="http://schemas.microsoft.com/office/drawing/2014/main" id="{85BFE8E6-7BAD-3784-947F-117A80B40EEB}"/>
                </a:ext>
              </a:extLst>
            </p:cNvPr>
            <p:cNvSpPr/>
            <p:nvPr/>
          </p:nvSpPr>
          <p:spPr>
            <a:xfrm>
              <a:off x="8019288" y="1325880"/>
              <a:ext cx="2011680" cy="685800"/>
            </a:xfrm>
            <a:prstGeom prst="chevron">
              <a:avLst/>
            </a:prstGeom>
            <a:solidFill>
              <a:srgbClr val="1BA39C"/>
            </a:solidFill>
            <a:ln w="12700">
              <a:solidFill>
                <a:srgbClr val="1BA39C"/>
              </a:solidFill>
              <a:prstDash val="solid"/>
            </a:ln>
          </p:spPr>
          <p:txBody>
            <a:bodyPr/>
            <a:lstStyle/>
            <a:p>
              <a:endParaRPr lang="en-US"/>
            </a:p>
          </p:txBody>
        </p:sp>
        <p:sp>
          <p:nvSpPr>
            <p:cNvPr id="33" name="Text 26">
              <a:extLst>
                <a:ext uri="{FF2B5EF4-FFF2-40B4-BE49-F238E27FC236}">
                  <a16:creationId xmlns:a16="http://schemas.microsoft.com/office/drawing/2014/main" id="{544ECFD8-59CB-DC64-9573-238520723A7B}"/>
                </a:ext>
              </a:extLst>
            </p:cNvPr>
            <p:cNvSpPr txBox="1"/>
            <p:nvPr/>
          </p:nvSpPr>
          <p:spPr>
            <a:xfrm>
              <a:off x="8293608" y="1325880"/>
              <a:ext cx="146304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34" name="Shape 27">
              <a:extLst>
                <a:ext uri="{FF2B5EF4-FFF2-40B4-BE49-F238E27FC236}">
                  <a16:creationId xmlns:a16="http://schemas.microsoft.com/office/drawing/2014/main" id="{51F1A481-A22C-8836-6F56-2637B3071942}"/>
                </a:ext>
              </a:extLst>
            </p:cNvPr>
            <p:cNvSpPr/>
            <p:nvPr/>
          </p:nvSpPr>
          <p:spPr>
            <a:xfrm>
              <a:off x="8522208" y="2331720"/>
              <a:ext cx="914400" cy="914400"/>
            </a:xfrm>
            <a:prstGeom prst="ellipse">
              <a:avLst/>
            </a:prstGeom>
            <a:solidFill>
              <a:srgbClr val="1BA39C"/>
            </a:solidFill>
            <a:ln w="12700">
              <a:solidFill>
                <a:srgbClr val="1BA39C"/>
              </a:solidFill>
              <a:prstDash val="solid"/>
            </a:ln>
          </p:spPr>
          <p:txBody>
            <a:bodyPr/>
            <a:lstStyle/>
            <a:p>
              <a:endParaRPr lang="en-US"/>
            </a:p>
          </p:txBody>
        </p:sp>
        <p:pic>
          <p:nvPicPr>
            <p:cNvPr id="35" name="Image 4" descr="preencoded.png">
              <a:extLst>
                <a:ext uri="{FF2B5EF4-FFF2-40B4-BE49-F238E27FC236}">
                  <a16:creationId xmlns:a16="http://schemas.microsoft.com/office/drawing/2014/main" id="{B83F99B2-A892-4F47-47DC-2DD5266884F5}"/>
                </a:ext>
              </a:extLst>
            </p:cNvPr>
            <p:cNvPicPr>
              <a:picLocks noChangeAspect="1"/>
            </p:cNvPicPr>
            <p:nvPr/>
          </p:nvPicPr>
          <p:blipFill>
            <a:blip r:embed="rId7"/>
            <a:stretch>
              <a:fillRect/>
            </a:stretch>
          </p:blipFill>
          <p:spPr>
            <a:xfrm>
              <a:off x="8741664" y="2551176"/>
              <a:ext cx="475488" cy="475488"/>
            </a:xfrm>
            <a:prstGeom prst="rect">
              <a:avLst/>
            </a:prstGeom>
          </p:spPr>
        </p:pic>
        <p:sp>
          <p:nvSpPr>
            <p:cNvPr id="36" name="Text 28">
              <a:extLst>
                <a:ext uri="{FF2B5EF4-FFF2-40B4-BE49-F238E27FC236}">
                  <a16:creationId xmlns:a16="http://schemas.microsoft.com/office/drawing/2014/main" id="{0D280FD2-4891-6328-1BCD-1858FA8C9266}"/>
                </a:ext>
              </a:extLst>
            </p:cNvPr>
            <p:cNvSpPr txBox="1"/>
            <p:nvPr/>
          </p:nvSpPr>
          <p:spPr>
            <a:xfrm>
              <a:off x="7973568" y="3383280"/>
              <a:ext cx="1920240" cy="73152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Bài báo mẫu, thực hành</a:t>
              </a:r>
              <a:endParaRPr lang="en-US" sz="1700" dirty="0"/>
            </a:p>
          </p:txBody>
        </p:sp>
        <p:sp>
          <p:nvSpPr>
            <p:cNvPr id="37" name="Shape 29">
              <a:extLst>
                <a:ext uri="{FF2B5EF4-FFF2-40B4-BE49-F238E27FC236}">
                  <a16:creationId xmlns:a16="http://schemas.microsoft.com/office/drawing/2014/main" id="{AF5B660C-5340-CEB7-CF30-814A582B5E1F}"/>
                </a:ext>
              </a:extLst>
            </p:cNvPr>
            <p:cNvSpPr/>
            <p:nvPr/>
          </p:nvSpPr>
          <p:spPr>
            <a:xfrm>
              <a:off x="8129016" y="4206240"/>
              <a:ext cx="1600200" cy="411480"/>
            </a:xfrm>
            <a:prstGeom prst="roundRect">
              <a:avLst>
                <a:gd name="adj" fmla="val 48889"/>
              </a:avLst>
            </a:prstGeom>
            <a:solidFill>
              <a:srgbClr val="FFFFFF"/>
            </a:solidFill>
            <a:ln w="19050">
              <a:solidFill>
                <a:srgbClr val="1BA39C"/>
              </a:solidFill>
              <a:prstDash val="solid"/>
            </a:ln>
          </p:spPr>
          <p:txBody>
            <a:bodyPr/>
            <a:lstStyle/>
            <a:p>
              <a:endParaRPr lang="en-US"/>
            </a:p>
          </p:txBody>
        </p:sp>
        <p:sp>
          <p:nvSpPr>
            <p:cNvPr id="38" name="Text 30">
              <a:extLst>
                <a:ext uri="{FF2B5EF4-FFF2-40B4-BE49-F238E27FC236}">
                  <a16:creationId xmlns:a16="http://schemas.microsoft.com/office/drawing/2014/main" id="{C7C132F2-FB40-9B83-0C76-C0FBB1B9912C}"/>
                </a:ext>
              </a:extLst>
            </p:cNvPr>
            <p:cNvSpPr txBox="1"/>
            <p:nvPr/>
          </p:nvSpPr>
          <p:spPr>
            <a:xfrm>
              <a:off x="8129016" y="4206240"/>
              <a:ext cx="1600200" cy="411480"/>
            </a:xfrm>
            <a:prstGeom prst="rect">
              <a:avLst/>
            </a:prstGeom>
            <a:noFill/>
            <a:ln/>
          </p:spPr>
          <p:txBody>
            <a:bodyPr wrap="square" lIns="0" tIns="0" rIns="0" bIns="0" rtlCol="0" anchor="ctr"/>
            <a:lstStyle/>
            <a:p>
              <a:pPr marL="0" indent="0" algn="ctr">
                <a:buNone/>
              </a:pPr>
              <a:r>
                <a:rPr lang="en-US" sz="1300" b="1" dirty="0">
                  <a:solidFill>
                    <a:srgbClr val="1BA39C"/>
                  </a:solidFill>
                  <a:latin typeface="Calibri" pitchFamily="34" charset="0"/>
                  <a:ea typeface="Calibri" pitchFamily="34" charset="-122"/>
                  <a:cs typeface="Calibri" pitchFamily="34" charset="-120"/>
                </a:rPr>
                <a:t>Tự làm được không?</a:t>
              </a:r>
              <a:endParaRPr lang="en-US" sz="1300" dirty="0"/>
            </a:p>
          </p:txBody>
        </p:sp>
        <p:sp>
          <p:nvSpPr>
            <p:cNvPr id="39" name="Shape 31">
              <a:extLst>
                <a:ext uri="{FF2B5EF4-FFF2-40B4-BE49-F238E27FC236}">
                  <a16:creationId xmlns:a16="http://schemas.microsoft.com/office/drawing/2014/main" id="{FBB91025-31FB-418C-EFBF-79E822573897}"/>
                </a:ext>
              </a:extLst>
            </p:cNvPr>
            <p:cNvSpPr/>
            <p:nvPr/>
          </p:nvSpPr>
          <p:spPr>
            <a:xfrm>
              <a:off x="9921240" y="1325880"/>
              <a:ext cx="2011680" cy="685800"/>
            </a:xfrm>
            <a:prstGeom prst="chevron">
              <a:avLst/>
            </a:prstGeom>
            <a:solidFill>
              <a:srgbClr val="2D6A9F"/>
            </a:solidFill>
            <a:ln w="12700">
              <a:solidFill>
                <a:srgbClr val="2D6A9F"/>
              </a:solidFill>
              <a:prstDash val="solid"/>
            </a:ln>
          </p:spPr>
          <p:txBody>
            <a:bodyPr/>
            <a:lstStyle/>
            <a:p>
              <a:endParaRPr lang="en-US"/>
            </a:p>
          </p:txBody>
        </p:sp>
        <p:sp>
          <p:nvSpPr>
            <p:cNvPr id="40" name="Text 32">
              <a:extLst>
                <a:ext uri="{FF2B5EF4-FFF2-40B4-BE49-F238E27FC236}">
                  <a16:creationId xmlns:a16="http://schemas.microsoft.com/office/drawing/2014/main" id="{86039843-75C4-DFFE-8253-FAA8A1ADF4ED}"/>
                </a:ext>
              </a:extLst>
            </p:cNvPr>
            <p:cNvSpPr txBox="1"/>
            <p:nvPr/>
          </p:nvSpPr>
          <p:spPr>
            <a:xfrm>
              <a:off x="10195560" y="1325880"/>
              <a:ext cx="146304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6</a:t>
              </a:r>
              <a:endParaRPr lang="en-US" sz="2400" dirty="0"/>
            </a:p>
          </p:txBody>
        </p:sp>
        <p:sp>
          <p:nvSpPr>
            <p:cNvPr id="41" name="Shape 33">
              <a:extLst>
                <a:ext uri="{FF2B5EF4-FFF2-40B4-BE49-F238E27FC236}">
                  <a16:creationId xmlns:a16="http://schemas.microsoft.com/office/drawing/2014/main" id="{2AAF53D3-C715-374E-6165-16FCEC9630C2}"/>
                </a:ext>
              </a:extLst>
            </p:cNvPr>
            <p:cNvSpPr/>
            <p:nvPr/>
          </p:nvSpPr>
          <p:spPr>
            <a:xfrm>
              <a:off x="10424160" y="2331720"/>
              <a:ext cx="914400" cy="914400"/>
            </a:xfrm>
            <a:prstGeom prst="ellipse">
              <a:avLst/>
            </a:prstGeom>
            <a:solidFill>
              <a:srgbClr val="2D6A9F"/>
            </a:solidFill>
            <a:ln w="12700">
              <a:solidFill>
                <a:srgbClr val="2D6A9F"/>
              </a:solidFill>
              <a:prstDash val="solid"/>
            </a:ln>
          </p:spPr>
          <p:txBody>
            <a:bodyPr/>
            <a:lstStyle/>
            <a:p>
              <a:endParaRPr lang="en-US"/>
            </a:p>
          </p:txBody>
        </p:sp>
        <p:pic>
          <p:nvPicPr>
            <p:cNvPr id="42" name="Image 5" descr="preencoded.png">
              <a:extLst>
                <a:ext uri="{FF2B5EF4-FFF2-40B4-BE49-F238E27FC236}">
                  <a16:creationId xmlns:a16="http://schemas.microsoft.com/office/drawing/2014/main" id="{05DF6B32-05EB-592B-21AC-BE7DED1EF078}"/>
                </a:ext>
              </a:extLst>
            </p:cNvPr>
            <p:cNvPicPr>
              <a:picLocks noChangeAspect="1"/>
            </p:cNvPicPr>
            <p:nvPr/>
          </p:nvPicPr>
          <p:blipFill>
            <a:blip r:embed="rId8"/>
            <a:stretch>
              <a:fillRect/>
            </a:stretch>
          </p:blipFill>
          <p:spPr>
            <a:xfrm>
              <a:off x="10643616" y="2551176"/>
              <a:ext cx="475488" cy="475488"/>
            </a:xfrm>
            <a:prstGeom prst="rect">
              <a:avLst/>
            </a:prstGeom>
          </p:spPr>
        </p:pic>
        <p:sp>
          <p:nvSpPr>
            <p:cNvPr id="43" name="Text 34">
              <a:extLst>
                <a:ext uri="{FF2B5EF4-FFF2-40B4-BE49-F238E27FC236}">
                  <a16:creationId xmlns:a16="http://schemas.microsoft.com/office/drawing/2014/main" id="{F9B5BC47-54A7-BDB1-EEFA-F894726AD640}"/>
                </a:ext>
              </a:extLst>
            </p:cNvPr>
            <p:cNvSpPr txBox="1"/>
            <p:nvPr/>
          </p:nvSpPr>
          <p:spPr>
            <a:xfrm>
              <a:off x="9875520" y="3383280"/>
              <a:ext cx="1920240" cy="73152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Khuyến nghị cho HVU</a:t>
              </a:r>
              <a:endParaRPr lang="en-US" sz="1700" dirty="0"/>
            </a:p>
          </p:txBody>
        </p:sp>
        <p:sp>
          <p:nvSpPr>
            <p:cNvPr id="44" name="Shape 35">
              <a:extLst>
                <a:ext uri="{FF2B5EF4-FFF2-40B4-BE49-F238E27FC236}">
                  <a16:creationId xmlns:a16="http://schemas.microsoft.com/office/drawing/2014/main" id="{E3720BB1-DBF8-3847-8C95-D8B0E7A6582A}"/>
                </a:ext>
              </a:extLst>
            </p:cNvPr>
            <p:cNvSpPr/>
            <p:nvPr/>
          </p:nvSpPr>
          <p:spPr>
            <a:xfrm>
              <a:off x="10030968" y="4206240"/>
              <a:ext cx="1600200" cy="411480"/>
            </a:xfrm>
            <a:prstGeom prst="roundRect">
              <a:avLst>
                <a:gd name="adj" fmla="val 48889"/>
              </a:avLst>
            </a:prstGeom>
            <a:solidFill>
              <a:srgbClr val="FFFFFF"/>
            </a:solidFill>
            <a:ln w="19050">
              <a:solidFill>
                <a:srgbClr val="2D6A9F"/>
              </a:solidFill>
              <a:prstDash val="solid"/>
            </a:ln>
          </p:spPr>
          <p:txBody>
            <a:bodyPr/>
            <a:lstStyle/>
            <a:p>
              <a:endParaRPr lang="en-US"/>
            </a:p>
          </p:txBody>
        </p:sp>
        <p:sp>
          <p:nvSpPr>
            <p:cNvPr id="45" name="Text 36">
              <a:extLst>
                <a:ext uri="{FF2B5EF4-FFF2-40B4-BE49-F238E27FC236}">
                  <a16:creationId xmlns:a16="http://schemas.microsoft.com/office/drawing/2014/main" id="{C99BE9A0-D734-2961-8CCB-70B35851175A}"/>
                </a:ext>
              </a:extLst>
            </p:cNvPr>
            <p:cNvSpPr txBox="1"/>
            <p:nvPr/>
          </p:nvSpPr>
          <p:spPr>
            <a:xfrm>
              <a:off x="10030968" y="4206240"/>
              <a:ext cx="1600200" cy="411480"/>
            </a:xfrm>
            <a:prstGeom prst="rect">
              <a:avLst/>
            </a:prstGeom>
            <a:noFill/>
            <a:ln/>
          </p:spPr>
          <p:txBody>
            <a:bodyPr wrap="square" lIns="0" tIns="0" rIns="0" bIns="0" rtlCol="0" anchor="ctr"/>
            <a:lstStyle/>
            <a:p>
              <a:pPr marL="0" indent="0" algn="ctr">
                <a:buNone/>
              </a:pPr>
              <a:r>
                <a:rPr lang="en-US" sz="1300" b="1" dirty="0">
                  <a:solidFill>
                    <a:srgbClr val="2D6A9F"/>
                  </a:solidFill>
                  <a:latin typeface="Calibri" pitchFamily="34" charset="0"/>
                  <a:ea typeface="Calibri" pitchFamily="34" charset="-122"/>
                  <a:cs typeface="Calibri" pitchFamily="34" charset="-120"/>
                </a:rPr>
                <a:t>Bắt đầu từ đâu?</a:t>
              </a:r>
              <a:endParaRPr lang="en-US" sz="1300" dirty="0"/>
            </a:p>
          </p:txBody>
        </p:sp>
        <p:sp>
          <p:nvSpPr>
            <p:cNvPr id="46" name="Shape 37">
              <a:extLst>
                <a:ext uri="{FF2B5EF4-FFF2-40B4-BE49-F238E27FC236}">
                  <a16:creationId xmlns:a16="http://schemas.microsoft.com/office/drawing/2014/main" id="{80F88CB3-6EDF-44EA-FF18-CB76E6957167}"/>
                </a:ext>
              </a:extLst>
            </p:cNvPr>
            <p:cNvSpPr/>
            <p:nvPr/>
          </p:nvSpPr>
          <p:spPr>
            <a:xfrm>
              <a:off x="457200" y="5074920"/>
              <a:ext cx="11274552" cy="868680"/>
            </a:xfrm>
            <a:prstGeom prst="roundRect">
              <a:avLst>
                <a:gd name="adj" fmla="val 21053"/>
              </a:avLst>
            </a:prstGeom>
            <a:solidFill>
              <a:srgbClr val="FBEAEA"/>
            </a:solidFill>
            <a:ln w="12700">
              <a:solidFill>
                <a:srgbClr val="F1CACA"/>
              </a:solidFill>
              <a:prstDash val="solid"/>
            </a:ln>
          </p:spPr>
          <p:txBody>
            <a:bodyPr/>
            <a:lstStyle/>
            <a:p>
              <a:endParaRPr lang="en-US"/>
            </a:p>
          </p:txBody>
        </p:sp>
        <p:sp>
          <p:nvSpPr>
            <p:cNvPr id="47" name="Text 38">
              <a:extLst>
                <a:ext uri="{FF2B5EF4-FFF2-40B4-BE49-F238E27FC236}">
                  <a16:creationId xmlns:a16="http://schemas.microsoft.com/office/drawing/2014/main" id="{5547D95C-FB56-4E76-815F-BC22A4BD07AF}"/>
                </a:ext>
              </a:extLst>
            </p:cNvPr>
            <p:cNvSpPr txBox="1"/>
            <p:nvPr/>
          </p:nvSpPr>
          <p:spPr>
            <a:xfrm>
              <a:off x="685800" y="5074920"/>
              <a:ext cx="10817352" cy="868680"/>
            </a:xfrm>
            <a:prstGeom prst="rect">
              <a:avLst/>
            </a:prstGeom>
            <a:noFill/>
            <a:ln/>
          </p:spPr>
          <p:txBody>
            <a:bodyPr wrap="square" lIns="0" tIns="0" rIns="0" bIns="0" rtlCol="0" anchor="ctr"/>
            <a:lstStyle/>
            <a:p>
              <a:pPr marL="0" indent="0" algn="ctr">
                <a:buNone/>
              </a:pPr>
              <a:r>
                <a:rPr lang="en-US" sz="1700" b="1" dirty="0">
                  <a:solidFill>
                    <a:srgbClr val="A80000"/>
                  </a:solidFill>
                  <a:latin typeface="Calibri" pitchFamily="34" charset="0"/>
                  <a:ea typeface="Calibri" pitchFamily="34" charset="-122"/>
                  <a:cs typeface="Calibri" pitchFamily="34" charset="-120"/>
                </a:rPr>
                <a:t>Định hướng xuyên suốt: </a:t>
              </a:r>
              <a:r>
                <a:rPr lang="en-US" sz="1700" dirty="0">
                  <a:solidFill>
                    <a:srgbClr val="1E2A32"/>
                  </a:solidFill>
                  <a:latin typeface="Calibri" pitchFamily="34" charset="0"/>
                  <a:ea typeface="Calibri" pitchFamily="34" charset="-122"/>
                  <a:cs typeface="Calibri" pitchFamily="34" charset="-120"/>
                </a:rPr>
                <a:t>từ bài toán thực tiễn đến nghiên cứu có tính mới · từ công bố quốc tế đến sở hữu trí tuệ · </a:t>
              </a:r>
            </a:p>
            <a:p>
              <a:pPr marL="0" indent="0" algn="ctr">
                <a:buNone/>
              </a:pPr>
              <a:r>
                <a:rPr lang="en-US" sz="1700" dirty="0" err="1">
                  <a:solidFill>
                    <a:srgbClr val="1E2A32"/>
                  </a:solidFill>
                  <a:latin typeface="Calibri" pitchFamily="34" charset="0"/>
                  <a:ea typeface="Calibri" pitchFamily="34" charset="-122"/>
                  <a:cs typeface="Calibri" pitchFamily="34" charset="-120"/>
                </a:rPr>
                <a:t>Từ</a:t>
              </a:r>
              <a:r>
                <a:rPr lang="en-US" sz="1700" dirty="0">
                  <a:solidFill>
                    <a:srgbClr val="1E2A32"/>
                  </a:solidFill>
                  <a:latin typeface="Calibri" pitchFamily="34" charset="0"/>
                  <a:ea typeface="Calibri" pitchFamily="34" charset="-122"/>
                  <a:cs typeface="Calibri" pitchFamily="34" charset="-120"/>
                </a:rPr>
                <a:t> nguyên mẫu AI đến sản phẩm chuyển giao</a:t>
              </a:r>
              <a:endParaRPr lang="en-US" sz="1700" dirty="0"/>
            </a:p>
          </p:txBody>
        </p:sp>
        <p:sp>
          <p:nvSpPr>
            <p:cNvPr id="48" name="Rectangle 47">
              <a:extLst>
                <a:ext uri="{FF2B5EF4-FFF2-40B4-BE49-F238E27FC236}">
                  <a16:creationId xmlns:a16="http://schemas.microsoft.com/office/drawing/2014/main" id="{83CE3700-692A-1B33-1A41-29F1D914ACFF}"/>
                </a:ext>
              </a:extLst>
            </p:cNvPr>
            <p:cNvSpPr/>
            <p:nvPr/>
          </p:nvSpPr>
          <p:spPr>
            <a:xfrm>
              <a:off x="521208" y="2226091"/>
              <a:ext cx="7306056" cy="188870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2696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deck/img/band_title.png"/>
          <p:cNvPicPr>
            <a:picLocks noChangeAspect="1"/>
          </p:cNvPicPr>
          <p:nvPr/>
        </p:nvPicPr>
        <p:blipFill>
          <a:blip r:embed="rId2"/>
          <a:stretch>
            <a:fillRect/>
          </a:stretch>
        </p:blipFill>
        <p:spPr>
          <a:xfrm>
            <a:off x="0" y="0"/>
            <a:ext cx="12191695" cy="2514600"/>
          </a:xfrm>
          <a:prstGeom prst="rect">
            <a:avLst/>
          </a:prstGeom>
        </p:spPr>
      </p:pic>
      <p:pic>
        <p:nvPicPr>
          <p:cNvPr id="3" name="Image 1" descr="/home/claude/deck/img/airc_logo.png"/>
          <p:cNvPicPr>
            <a:picLocks noChangeAspect="1"/>
          </p:cNvPicPr>
          <p:nvPr/>
        </p:nvPicPr>
        <p:blipFill>
          <a:blip r:embed="rId3"/>
          <a:stretch>
            <a:fillRect/>
          </a:stretch>
        </p:blipFill>
        <p:spPr>
          <a:xfrm>
            <a:off x="11185500" y="228600"/>
            <a:ext cx="747420" cy="747420"/>
          </a:xfrm>
          <a:prstGeom prst="rect">
            <a:avLst/>
          </a:prstGeom>
        </p:spPr>
      </p:pic>
      <p:sp>
        <p:nvSpPr>
          <p:cNvPr id="4" name="Text 0"/>
          <p:cNvSpPr txBox="1"/>
          <p:nvPr/>
        </p:nvSpPr>
        <p:spPr>
          <a:xfrm>
            <a:off x="640080" y="320040"/>
            <a:ext cx="5486400" cy="548640"/>
          </a:xfrm>
          <a:prstGeom prst="rect">
            <a:avLst/>
          </a:prstGeom>
          <a:noFill/>
          <a:ln/>
        </p:spPr>
        <p:txBody>
          <a:bodyPr wrap="square" lIns="0" tIns="0" rIns="0" bIns="0" rtlCol="0" anchor="t"/>
          <a:lstStyle/>
          <a:p>
            <a:pPr marL="0" indent="0">
              <a:buNone/>
            </a:pPr>
            <a:r>
              <a:rPr lang="en-US" sz="2200" b="1" kern="0" spc="400" dirty="0">
                <a:solidFill>
                  <a:srgbClr val="FFFFFF"/>
                </a:solidFill>
                <a:latin typeface="Arial" pitchFamily="34" charset="0"/>
                <a:ea typeface="Arial" pitchFamily="34" charset="-122"/>
                <a:cs typeface="Arial" pitchFamily="34" charset="-120"/>
              </a:rPr>
              <a:t>PHẦN 1</a:t>
            </a:r>
            <a:endParaRPr lang="en-US" sz="2200" dirty="0"/>
          </a:p>
        </p:txBody>
      </p:sp>
      <p:sp>
        <p:nvSpPr>
          <p:cNvPr id="5" name="Text 1"/>
          <p:cNvSpPr txBox="1"/>
          <p:nvPr/>
        </p:nvSpPr>
        <p:spPr>
          <a:xfrm>
            <a:off x="640080" y="868680"/>
            <a:ext cx="9509760" cy="8686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Bối cảnh nghiên cứu AI</a:t>
            </a:r>
            <a:endParaRPr lang="en-US" sz="3800" dirty="0"/>
          </a:p>
        </p:txBody>
      </p:sp>
      <p:sp>
        <p:nvSpPr>
          <p:cNvPr id="6" name="Text 2"/>
          <p:cNvSpPr txBox="1"/>
          <p:nvPr/>
        </p:nvSpPr>
        <p:spPr>
          <a:xfrm>
            <a:off x="640080" y="1737360"/>
            <a:ext cx="9509760" cy="54864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Vì sao các trường đại học phải quan tâm ngay lúc này?</a:t>
            </a:r>
            <a:endParaRPr lang="en-US" sz="2000" dirty="0"/>
          </a:p>
        </p:txBody>
      </p:sp>
      <p:pic>
        <p:nvPicPr>
          <p:cNvPr id="35" name="Logo ITI"/>
          <p:cNvPicPr>
            <a:picLocks noChangeAspect="1"/>
          </p:cNvPicPr>
          <p:nvPr/>
        </p:nvPicPr>
        <p:blipFill>
          <a:blip r:embed="rId4"/>
          <a:stretch>
            <a:fillRect/>
          </a:stretch>
        </p:blipFill>
        <p:spPr>
          <a:xfrm>
            <a:off x="10366642" y="228600"/>
            <a:ext cx="713232" cy="729132"/>
          </a:xfrm>
          <a:prstGeom prst="rect">
            <a:avLst/>
          </a:prstGeom>
        </p:spPr>
      </p:pic>
      <p:pic>
        <p:nvPicPr>
          <p:cNvPr id="37" name="Picture 36">
            <a:extLst>
              <a:ext uri="{FF2B5EF4-FFF2-40B4-BE49-F238E27FC236}">
                <a16:creationId xmlns:a16="http://schemas.microsoft.com/office/drawing/2014/main" id="{15B83E4E-90AF-0DBB-334F-A268E0EB21A5}"/>
              </a:ext>
            </a:extLst>
          </p:cNvPr>
          <p:cNvPicPr>
            <a:picLocks noChangeAspect="1"/>
          </p:cNvPicPr>
          <p:nvPr/>
        </p:nvPicPr>
        <p:blipFill>
          <a:blip r:embed="rId5"/>
          <a:stretch>
            <a:fillRect/>
          </a:stretch>
        </p:blipFill>
        <p:spPr>
          <a:xfrm>
            <a:off x="-1" y="1652226"/>
            <a:ext cx="12191695" cy="52056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AI năm 2026: từ mô hình riêng lẻ đến hệ thống tích hợp</a:t>
            </a:r>
            <a:endParaRPr lang="en-US" sz="2800" dirty="0"/>
          </a:p>
        </p:txBody>
      </p:sp>
      <p:sp>
        <p:nvSpPr>
          <p:cNvPr id="3" name="Shape 1"/>
          <p:cNvSpPr/>
          <p:nvPr/>
        </p:nvSpPr>
        <p:spPr>
          <a:xfrm>
            <a:off x="457200" y="6510528"/>
            <a:ext cx="128016" cy="128016"/>
          </a:xfrm>
          <a:prstGeom prst="ellipse">
            <a:avLst/>
          </a:prstGeom>
          <a:solidFill>
            <a:srgbClr val="A80000"/>
          </a:solidFill>
          <a:ln w="12700">
            <a:solidFill>
              <a:srgbClr val="A80000"/>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A80000"/>
                </a:solidFill>
                <a:latin typeface="Calibri" pitchFamily="34" charset="0"/>
                <a:ea typeface="Calibri" pitchFamily="34" charset="-122"/>
                <a:cs typeface="Calibri" pitchFamily="34" charset="-120"/>
              </a:rPr>
              <a:t>1 · BỐI CẢNH</a:t>
            </a:r>
            <a:endParaRPr lang="en-US" sz="1100" dirty="0"/>
          </a:p>
        </p:txBody>
      </p:sp>
      <p:grpSp>
        <p:nvGrpSpPr>
          <p:cNvPr id="28" name="Group 27">
            <a:extLst>
              <a:ext uri="{FF2B5EF4-FFF2-40B4-BE49-F238E27FC236}">
                <a16:creationId xmlns:a16="http://schemas.microsoft.com/office/drawing/2014/main" id="{BF596C93-3312-7845-6832-AB91388C0DAF}"/>
              </a:ext>
            </a:extLst>
          </p:cNvPr>
          <p:cNvGrpSpPr/>
          <p:nvPr/>
        </p:nvGrpSpPr>
        <p:grpSpPr>
          <a:xfrm>
            <a:off x="457200" y="1143000"/>
            <a:ext cx="11274552" cy="4645152"/>
            <a:chOff x="457200" y="1143000"/>
            <a:chExt cx="11274552" cy="4645152"/>
          </a:xfrm>
        </p:grpSpPr>
        <p:sp>
          <p:nvSpPr>
            <p:cNvPr id="6" name="Shape 3"/>
            <p:cNvSpPr/>
            <p:nvPr/>
          </p:nvSpPr>
          <p:spPr>
            <a:xfrm>
              <a:off x="457200" y="1143000"/>
              <a:ext cx="3611880" cy="3383280"/>
            </a:xfrm>
            <a:prstGeom prst="roundRect">
              <a:avLst>
                <a:gd name="adj" fmla="val 2162"/>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graphicFrame>
          <p:nvGraphicFramePr>
            <p:cNvPr id="7" name="Chart 0"/>
            <p:cNvGraphicFramePr/>
            <p:nvPr>
              <p:extLst>
                <p:ext uri="{D42A27DB-BD31-4B8C-83A1-F6EECF244321}">
                  <p14:modId xmlns:p14="http://schemas.microsoft.com/office/powerpoint/2010/main" val="3417322493"/>
                </p:ext>
              </p:extLst>
            </p:nvPr>
          </p:nvGraphicFramePr>
          <p:xfrm>
            <a:off x="1161288" y="1325880"/>
            <a:ext cx="2194560" cy="219456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 4"/>
            <p:cNvSpPr txBox="1"/>
            <p:nvPr/>
          </p:nvSpPr>
          <p:spPr>
            <a:xfrm>
              <a:off x="1161288" y="2057400"/>
              <a:ext cx="2194560" cy="731520"/>
            </a:xfrm>
            <a:prstGeom prst="rect">
              <a:avLst/>
            </a:prstGeom>
            <a:noFill/>
            <a:ln/>
          </p:spPr>
          <p:txBody>
            <a:bodyPr wrap="square" lIns="0" tIns="0" rIns="0" bIns="0" rtlCol="0" anchor="ctr"/>
            <a:lstStyle/>
            <a:p>
              <a:pPr marL="0" indent="0" algn="ctr">
                <a:buNone/>
              </a:pPr>
              <a:r>
                <a:rPr lang="en-US" sz="2500" b="1" dirty="0">
                  <a:solidFill>
                    <a:srgbClr val="1F6F8B"/>
                  </a:solidFill>
                  <a:latin typeface="Cambria" pitchFamily="34" charset="0"/>
                  <a:ea typeface="Cambria" pitchFamily="34" charset="-122"/>
                  <a:cs typeface="Cambria" pitchFamily="34" charset="-120"/>
                </a:rPr>
                <a:t>&gt;90%</a:t>
              </a:r>
              <a:endParaRPr lang="en-US" sz="2500" dirty="0"/>
            </a:p>
          </p:txBody>
        </p:sp>
        <p:sp>
          <p:nvSpPr>
            <p:cNvPr id="9" name="Text 5"/>
            <p:cNvSpPr txBox="1"/>
            <p:nvPr/>
          </p:nvSpPr>
          <p:spPr>
            <a:xfrm>
              <a:off x="886968" y="3566160"/>
              <a:ext cx="2743200" cy="640080"/>
            </a:xfrm>
            <a:prstGeom prst="rect">
              <a:avLst/>
            </a:prstGeom>
            <a:noFill/>
            <a:ln/>
          </p:spPr>
          <p:txBody>
            <a:bodyPr wrap="square" lIns="0" tIns="0" rIns="0" bIns="0" rtlCol="0" anchor="t"/>
            <a:lstStyle/>
            <a:p>
              <a:pPr marL="0" indent="0" algn="ctr">
                <a:buNone/>
              </a:pPr>
              <a:r>
                <a:rPr lang="en-US" sz="1400" dirty="0">
                  <a:solidFill>
                    <a:srgbClr val="1E2A32"/>
                  </a:solidFill>
                  <a:latin typeface="Calibri" pitchFamily="34" charset="0"/>
                  <a:ea typeface="Calibri" pitchFamily="34" charset="-122"/>
                  <a:cs typeface="Calibri" pitchFamily="34" charset="-120"/>
                </a:rPr>
                <a:t>mô hình AI nổi bật năm 2025 do công nghiệp phát triển</a:t>
              </a:r>
              <a:endParaRPr lang="en-US" sz="1400" dirty="0"/>
            </a:p>
          </p:txBody>
        </p:sp>
        <p:sp>
          <p:nvSpPr>
            <p:cNvPr id="10" name="Shape 6"/>
            <p:cNvSpPr/>
            <p:nvPr/>
          </p:nvSpPr>
          <p:spPr>
            <a:xfrm>
              <a:off x="4288536" y="1143000"/>
              <a:ext cx="3611880" cy="3383280"/>
            </a:xfrm>
            <a:prstGeom prst="roundRect">
              <a:avLst>
                <a:gd name="adj" fmla="val 2162"/>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graphicFrame>
          <p:nvGraphicFramePr>
            <p:cNvPr id="11" name="Chart 1"/>
            <p:cNvGraphicFramePr/>
            <p:nvPr>
              <p:extLst>
                <p:ext uri="{D42A27DB-BD31-4B8C-83A1-F6EECF244321}">
                  <p14:modId xmlns:p14="http://schemas.microsoft.com/office/powerpoint/2010/main" val="3247825593"/>
                </p:ext>
              </p:extLst>
            </p:nvPr>
          </p:nvGraphicFramePr>
          <p:xfrm>
            <a:off x="4992624" y="1325880"/>
            <a:ext cx="219456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7"/>
            <p:cNvSpPr txBox="1"/>
            <p:nvPr/>
          </p:nvSpPr>
          <p:spPr>
            <a:xfrm>
              <a:off x="4992624" y="2057400"/>
              <a:ext cx="2194560" cy="731520"/>
            </a:xfrm>
            <a:prstGeom prst="rect">
              <a:avLst/>
            </a:prstGeom>
            <a:noFill/>
            <a:ln/>
          </p:spPr>
          <p:txBody>
            <a:bodyPr wrap="square" lIns="0" tIns="0" rIns="0" bIns="0" rtlCol="0" anchor="ctr"/>
            <a:lstStyle/>
            <a:p>
              <a:pPr marL="0" indent="0" algn="ctr">
                <a:buNone/>
              </a:pPr>
              <a:r>
                <a:rPr lang="en-US" sz="2500" b="1" dirty="0">
                  <a:solidFill>
                    <a:srgbClr val="E08A2E"/>
                  </a:solidFill>
                  <a:latin typeface="Cambria" pitchFamily="34" charset="0"/>
                  <a:ea typeface="Cambria" pitchFamily="34" charset="-122"/>
                  <a:cs typeface="Cambria" pitchFamily="34" charset="-120"/>
                </a:rPr>
                <a:t>88%</a:t>
              </a:r>
              <a:endParaRPr lang="en-US" sz="2500" dirty="0"/>
            </a:p>
          </p:txBody>
        </p:sp>
        <p:sp>
          <p:nvSpPr>
            <p:cNvPr id="13" name="Text 8"/>
            <p:cNvSpPr txBox="1"/>
            <p:nvPr/>
          </p:nvSpPr>
          <p:spPr>
            <a:xfrm>
              <a:off x="4718304" y="3566160"/>
              <a:ext cx="2743200" cy="640080"/>
            </a:xfrm>
            <a:prstGeom prst="rect">
              <a:avLst/>
            </a:prstGeom>
            <a:noFill/>
            <a:ln/>
          </p:spPr>
          <p:txBody>
            <a:bodyPr wrap="square" lIns="0" tIns="0" rIns="0" bIns="0" rtlCol="0" anchor="t"/>
            <a:lstStyle/>
            <a:p>
              <a:pPr marL="0" indent="0" algn="ctr">
                <a:buNone/>
              </a:pPr>
              <a:r>
                <a:rPr lang="en-US" sz="1400" dirty="0">
                  <a:solidFill>
                    <a:srgbClr val="1E2A32"/>
                  </a:solidFill>
                  <a:latin typeface="Calibri" pitchFamily="34" charset="0"/>
                  <a:ea typeface="Calibri" pitchFamily="34" charset="-122"/>
                  <a:cs typeface="Calibri" pitchFamily="34" charset="-120"/>
                </a:rPr>
                <a:t>tổ chức được khảo sát đã sử dụng AI</a:t>
              </a:r>
              <a:endParaRPr lang="en-US" sz="1400" dirty="0"/>
            </a:p>
          </p:txBody>
        </p:sp>
        <p:sp>
          <p:nvSpPr>
            <p:cNvPr id="14" name="Shape 9"/>
            <p:cNvSpPr/>
            <p:nvPr/>
          </p:nvSpPr>
          <p:spPr>
            <a:xfrm>
              <a:off x="8119872" y="1143000"/>
              <a:ext cx="3611880" cy="3383280"/>
            </a:xfrm>
            <a:prstGeom prst="roundRect">
              <a:avLst>
                <a:gd name="adj" fmla="val 2162"/>
              </a:avLst>
            </a:prstGeom>
            <a:solidFill>
              <a:srgbClr val="FBEAEA"/>
            </a:solidFill>
            <a:ln w="12700">
              <a:solidFill>
                <a:srgbClr val="F1CACA"/>
              </a:solidFill>
              <a:prstDash val="solid"/>
            </a:ln>
            <a:effectLst>
              <a:outerShdw blurRad="76200" dist="25400" dir="5400000" algn="bl" rotWithShape="0">
                <a:srgbClr val="9FB3C0">
                  <a:alpha val="30000"/>
                </a:srgbClr>
              </a:outerShdw>
            </a:effectLst>
          </p:spPr>
          <p:txBody>
            <a:bodyPr/>
            <a:lstStyle/>
            <a:p>
              <a:endParaRPr lang="en-US"/>
            </a:p>
          </p:txBody>
        </p:sp>
        <p:sp>
          <p:nvSpPr>
            <p:cNvPr id="15" name="Shape 10"/>
            <p:cNvSpPr/>
            <p:nvPr/>
          </p:nvSpPr>
          <p:spPr>
            <a:xfrm>
              <a:off x="9464040" y="1371600"/>
              <a:ext cx="914400" cy="914400"/>
            </a:xfrm>
            <a:prstGeom prst="ellipse">
              <a:avLst/>
            </a:prstGeom>
            <a:solidFill>
              <a:srgbClr val="A80000"/>
            </a:solidFill>
            <a:ln w="12700">
              <a:solidFill>
                <a:srgbClr val="A80000"/>
              </a:solidFill>
              <a:prstDash val="solid"/>
            </a:ln>
          </p:spPr>
          <p:txBody>
            <a:bodyPr/>
            <a:lstStyle/>
            <a:p>
              <a:endParaRPr lang="en-US"/>
            </a:p>
          </p:txBody>
        </p:sp>
        <p:pic>
          <p:nvPicPr>
            <p:cNvPr id="16" name="Image 0" descr="preencoded.png"/>
            <p:cNvPicPr>
              <a:picLocks noChangeAspect="1"/>
            </p:cNvPicPr>
            <p:nvPr/>
          </p:nvPicPr>
          <p:blipFill>
            <a:blip r:embed="rId4"/>
            <a:stretch>
              <a:fillRect/>
            </a:stretch>
          </p:blipFill>
          <p:spPr>
            <a:xfrm>
              <a:off x="9683496" y="1591056"/>
              <a:ext cx="475488" cy="475488"/>
            </a:xfrm>
            <a:prstGeom prst="rect">
              <a:avLst/>
            </a:prstGeom>
          </p:spPr>
        </p:pic>
        <p:sp>
          <p:nvSpPr>
            <p:cNvPr id="17" name="Text 11"/>
            <p:cNvSpPr txBox="1"/>
            <p:nvPr/>
          </p:nvSpPr>
          <p:spPr>
            <a:xfrm>
              <a:off x="8119872" y="2377440"/>
              <a:ext cx="3611880" cy="822960"/>
            </a:xfrm>
            <a:prstGeom prst="rect">
              <a:avLst/>
            </a:prstGeom>
            <a:noFill/>
            <a:ln/>
          </p:spPr>
          <p:txBody>
            <a:bodyPr wrap="square" lIns="0" tIns="0" rIns="0" bIns="0" rtlCol="0" anchor="ctr"/>
            <a:lstStyle/>
            <a:p>
              <a:pPr marL="0" indent="0" algn="ctr">
                <a:buNone/>
              </a:pPr>
              <a:r>
                <a:rPr lang="en-US" sz="4400" b="1" dirty="0">
                  <a:solidFill>
                    <a:srgbClr val="A80000"/>
                  </a:solidFill>
                  <a:latin typeface="Cambria" pitchFamily="34" charset="0"/>
                  <a:ea typeface="Cambria" pitchFamily="34" charset="-122"/>
                  <a:cs typeface="Cambria" pitchFamily="34" charset="-120"/>
                </a:rPr>
                <a:t>285,9</a:t>
              </a:r>
              <a:endParaRPr lang="en-US" sz="4400" dirty="0"/>
            </a:p>
          </p:txBody>
        </p:sp>
        <p:sp>
          <p:nvSpPr>
            <p:cNvPr id="18" name="Text 12"/>
            <p:cNvSpPr txBox="1"/>
            <p:nvPr/>
          </p:nvSpPr>
          <p:spPr>
            <a:xfrm>
              <a:off x="8321040" y="3246120"/>
              <a:ext cx="3200400" cy="685800"/>
            </a:xfrm>
            <a:prstGeom prst="rect">
              <a:avLst/>
            </a:prstGeom>
            <a:noFill/>
            <a:ln/>
          </p:spPr>
          <p:txBody>
            <a:bodyPr wrap="square" lIns="0" tIns="0" rIns="0" bIns="0" rtlCol="0" anchor="t"/>
            <a:lstStyle/>
            <a:p>
              <a:pPr marL="0" indent="0" algn="ctr">
                <a:buNone/>
              </a:pPr>
              <a:r>
                <a:rPr lang="en-US" sz="1400" dirty="0">
                  <a:solidFill>
                    <a:srgbClr val="1E2A32"/>
                  </a:solidFill>
                  <a:latin typeface="Calibri" pitchFamily="34" charset="0"/>
                  <a:ea typeface="Calibri" pitchFamily="34" charset="-122"/>
                  <a:cs typeface="Calibri" pitchFamily="34" charset="-120"/>
                </a:rPr>
                <a:t>tỷ USD đầu tư tư nhân vào AI tại Hoa Kỳ năm 2025</a:t>
              </a:r>
              <a:endParaRPr lang="en-US" sz="1400" dirty="0"/>
            </a:p>
          </p:txBody>
        </p:sp>
        <p:sp>
          <p:nvSpPr>
            <p:cNvPr id="19" name="Shape 13"/>
            <p:cNvSpPr/>
            <p:nvPr/>
          </p:nvSpPr>
          <p:spPr>
            <a:xfrm>
              <a:off x="822960" y="4846320"/>
              <a:ext cx="685800" cy="685800"/>
            </a:xfrm>
            <a:prstGeom prst="ellipse">
              <a:avLst/>
            </a:prstGeom>
            <a:solidFill>
              <a:srgbClr val="6F7780"/>
            </a:solidFill>
            <a:ln w="12700">
              <a:solidFill>
                <a:srgbClr val="6F7780"/>
              </a:solidFill>
              <a:prstDash val="solid"/>
            </a:ln>
          </p:spPr>
          <p:txBody>
            <a:bodyPr/>
            <a:lstStyle/>
            <a:p>
              <a:endParaRPr lang="en-US"/>
            </a:p>
          </p:txBody>
        </p:sp>
        <p:pic>
          <p:nvPicPr>
            <p:cNvPr id="20" name="Image 1" descr="preencoded.png"/>
            <p:cNvPicPr>
              <a:picLocks noChangeAspect="1"/>
            </p:cNvPicPr>
            <p:nvPr/>
          </p:nvPicPr>
          <p:blipFill>
            <a:blip r:embed="rId5"/>
            <a:stretch>
              <a:fillRect/>
            </a:stretch>
          </p:blipFill>
          <p:spPr>
            <a:xfrm>
              <a:off x="987552" y="5010912"/>
              <a:ext cx="356616" cy="356616"/>
            </a:xfrm>
            <a:prstGeom prst="rect">
              <a:avLst/>
            </a:prstGeom>
          </p:spPr>
        </p:pic>
        <p:sp>
          <p:nvSpPr>
            <p:cNvPr id="21" name="Text 14"/>
            <p:cNvSpPr txBox="1"/>
            <p:nvPr/>
          </p:nvSpPr>
          <p:spPr>
            <a:xfrm>
              <a:off x="1645920" y="4846320"/>
              <a:ext cx="3291840" cy="685800"/>
            </a:xfrm>
            <a:prstGeom prst="rect">
              <a:avLst/>
            </a:prstGeom>
            <a:noFill/>
            <a:ln/>
          </p:spPr>
          <p:txBody>
            <a:bodyPr wrap="square" lIns="0" tIns="0" rIns="0" bIns="0" rtlCol="0" anchor="ctr"/>
            <a:lstStyle/>
            <a:p>
              <a:pPr marL="0" indent="0">
                <a:buNone/>
              </a:pPr>
              <a:r>
                <a:rPr lang="en-US" sz="1700" b="1" dirty="0">
                  <a:solidFill>
                    <a:srgbClr val="5B6B76"/>
                  </a:solidFill>
                  <a:latin typeface="Calibri" pitchFamily="34" charset="0"/>
                  <a:ea typeface="Calibri" pitchFamily="34" charset="-122"/>
                  <a:cs typeface="Calibri" pitchFamily="34" charset="-120"/>
                </a:rPr>
                <a:t>Thuật toán, mô hình riêng lẻ</a:t>
              </a:r>
              <a:endParaRPr lang="en-US" sz="1700" dirty="0"/>
            </a:p>
          </p:txBody>
        </p:sp>
        <p:sp>
          <p:nvSpPr>
            <p:cNvPr id="22" name="Shape 15"/>
            <p:cNvSpPr/>
            <p:nvPr/>
          </p:nvSpPr>
          <p:spPr>
            <a:xfrm>
              <a:off x="5029200" y="5193792"/>
              <a:ext cx="1005840" cy="914"/>
            </a:xfrm>
            <a:prstGeom prst="line">
              <a:avLst/>
            </a:prstGeom>
            <a:noFill/>
            <a:ln w="50800">
              <a:solidFill>
                <a:srgbClr val="A80000"/>
              </a:solidFill>
              <a:prstDash val="solid"/>
              <a:tailEnd type="triangle"/>
            </a:ln>
          </p:spPr>
          <p:txBody>
            <a:bodyPr/>
            <a:lstStyle/>
            <a:p>
              <a:endParaRPr lang="en-US"/>
            </a:p>
          </p:txBody>
        </p:sp>
        <p:sp>
          <p:nvSpPr>
            <p:cNvPr id="23" name="Shape 16"/>
            <p:cNvSpPr/>
            <p:nvPr/>
          </p:nvSpPr>
          <p:spPr>
            <a:xfrm>
              <a:off x="6263640" y="4846320"/>
              <a:ext cx="685800" cy="685800"/>
            </a:xfrm>
            <a:prstGeom prst="ellipse">
              <a:avLst/>
            </a:prstGeom>
            <a:solidFill>
              <a:srgbClr val="A80000"/>
            </a:solidFill>
            <a:ln w="12700">
              <a:solidFill>
                <a:srgbClr val="A80000"/>
              </a:solidFill>
              <a:prstDash val="solid"/>
            </a:ln>
          </p:spPr>
          <p:txBody>
            <a:bodyPr/>
            <a:lstStyle/>
            <a:p>
              <a:endParaRPr lang="en-US"/>
            </a:p>
          </p:txBody>
        </p:sp>
        <p:pic>
          <p:nvPicPr>
            <p:cNvPr id="24" name="Image 2" descr="preencoded.png"/>
            <p:cNvPicPr>
              <a:picLocks noChangeAspect="1"/>
            </p:cNvPicPr>
            <p:nvPr/>
          </p:nvPicPr>
          <p:blipFill>
            <a:blip r:embed="rId6"/>
            <a:stretch>
              <a:fillRect/>
            </a:stretch>
          </p:blipFill>
          <p:spPr>
            <a:xfrm>
              <a:off x="6428232" y="5010912"/>
              <a:ext cx="356616" cy="356616"/>
            </a:xfrm>
            <a:prstGeom prst="rect">
              <a:avLst/>
            </a:prstGeom>
          </p:spPr>
        </p:pic>
        <p:sp>
          <p:nvSpPr>
            <p:cNvPr id="25" name="Text 17"/>
            <p:cNvSpPr txBox="1"/>
            <p:nvPr/>
          </p:nvSpPr>
          <p:spPr>
            <a:xfrm>
              <a:off x="7086600" y="4846320"/>
              <a:ext cx="4572000" cy="685800"/>
            </a:xfrm>
            <a:prstGeom prst="rect">
              <a:avLst/>
            </a:prstGeom>
            <a:noFill/>
            <a:ln/>
          </p:spPr>
          <p:txBody>
            <a:bodyPr wrap="square" lIns="0" tIns="0" rIns="0" bIns="0" rtlCol="0" anchor="ctr"/>
            <a:lstStyle/>
            <a:p>
              <a:pPr marL="0" indent="0">
                <a:buNone/>
              </a:pPr>
              <a:r>
                <a:rPr lang="en-US" sz="1700" b="1" dirty="0">
                  <a:solidFill>
                    <a:srgbClr val="A80000"/>
                  </a:solidFill>
                  <a:latin typeface="Calibri" pitchFamily="34" charset="0"/>
                  <a:ea typeface="Calibri" pitchFamily="34" charset="-122"/>
                  <a:cs typeface="Calibri" pitchFamily="34" charset="-120"/>
                </a:rPr>
                <a:t>Hệ thống trí tuệ tích hợp</a:t>
              </a:r>
              <a:endParaRPr lang="en-US" sz="1700" dirty="0"/>
            </a:p>
          </p:txBody>
        </p:sp>
        <p:sp>
          <p:nvSpPr>
            <p:cNvPr id="26" name="Text 18"/>
            <p:cNvSpPr txBox="1"/>
            <p:nvPr/>
          </p:nvSpPr>
          <p:spPr>
            <a:xfrm>
              <a:off x="7086600" y="5468112"/>
              <a:ext cx="4572000" cy="320040"/>
            </a:xfrm>
            <a:prstGeom prst="rect">
              <a:avLst/>
            </a:prstGeom>
            <a:noFill/>
            <a:ln/>
          </p:spPr>
          <p:txBody>
            <a:bodyPr wrap="square" lIns="0" tIns="0" rIns="0" bIns="0" rtlCol="0" anchor="t"/>
            <a:lstStyle/>
            <a:p>
              <a:pPr marL="0" indent="0">
                <a:buNone/>
              </a:pPr>
              <a:r>
                <a:rPr lang="en-US" sz="1300" i="1" dirty="0">
                  <a:solidFill>
                    <a:srgbClr val="5B6B76"/>
                  </a:solidFill>
                  <a:latin typeface="Calibri" pitchFamily="34" charset="0"/>
                  <a:ea typeface="Calibri" pitchFamily="34" charset="-122"/>
                  <a:cs typeface="Calibri" pitchFamily="34" charset="-120"/>
                </a:rPr>
                <a:t>học · suy luận · tương tác · triển khai thực tế</a:t>
              </a:r>
              <a:endParaRPr lang="en-US" sz="1300" dirty="0"/>
            </a:p>
          </p:txBody>
        </p:sp>
      </p:grpSp>
      <p:sp>
        <p:nvSpPr>
          <p:cNvPr id="27" name="Text 19"/>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Nguồn: Stanford HAI, The 2026 AI Index Report [1]</a:t>
            </a:r>
            <a:endParaRPr lang="en-US" sz="1000" dirty="0"/>
          </a:p>
        </p:txBody>
      </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AEDB1-0F27-3459-8B97-B890F7F17E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CE48B63-81F4-578B-F3EA-895446345ABE}"/>
              </a:ext>
            </a:extLst>
          </p:cNvPr>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AI năm 2026: từ mô hình riêng lẻ đến hệ thống tích hợp</a:t>
            </a:r>
            <a:endParaRPr lang="en-US" sz="2800" dirty="0"/>
          </a:p>
        </p:txBody>
      </p:sp>
      <p:sp>
        <p:nvSpPr>
          <p:cNvPr id="3" name="Shape 1">
            <a:extLst>
              <a:ext uri="{FF2B5EF4-FFF2-40B4-BE49-F238E27FC236}">
                <a16:creationId xmlns:a16="http://schemas.microsoft.com/office/drawing/2014/main" id="{36AFFD25-CDA7-F9BF-0D9F-82BF6AF61FC5}"/>
              </a:ext>
            </a:extLst>
          </p:cNvPr>
          <p:cNvSpPr/>
          <p:nvPr/>
        </p:nvSpPr>
        <p:spPr>
          <a:xfrm>
            <a:off x="457200" y="6510528"/>
            <a:ext cx="128016" cy="128016"/>
          </a:xfrm>
          <a:prstGeom prst="ellipse">
            <a:avLst/>
          </a:prstGeom>
          <a:solidFill>
            <a:srgbClr val="A80000"/>
          </a:solidFill>
          <a:ln w="12700">
            <a:solidFill>
              <a:srgbClr val="A80000"/>
            </a:solidFill>
            <a:prstDash val="solid"/>
          </a:ln>
        </p:spPr>
        <p:txBody>
          <a:bodyPr/>
          <a:lstStyle/>
          <a:p>
            <a:endParaRPr lang="en-US"/>
          </a:p>
        </p:txBody>
      </p:sp>
      <p:sp>
        <p:nvSpPr>
          <p:cNvPr id="4" name="Text 2">
            <a:extLst>
              <a:ext uri="{FF2B5EF4-FFF2-40B4-BE49-F238E27FC236}">
                <a16:creationId xmlns:a16="http://schemas.microsoft.com/office/drawing/2014/main" id="{3D36BEC5-2CF9-C899-7E48-F91DBC4B1A3F}"/>
              </a:ext>
            </a:extLst>
          </p:cNvPr>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A80000"/>
                </a:solidFill>
                <a:latin typeface="Calibri" pitchFamily="34" charset="0"/>
                <a:ea typeface="Calibri" pitchFamily="34" charset="-122"/>
                <a:cs typeface="Calibri" pitchFamily="34" charset="-120"/>
              </a:rPr>
              <a:t>1 · BỐI CẢNH</a:t>
            </a:r>
            <a:endParaRPr lang="en-US" sz="1100" dirty="0"/>
          </a:p>
        </p:txBody>
      </p:sp>
      <p:sp>
        <p:nvSpPr>
          <p:cNvPr id="5" name="Slide Number Placeholder 0">
            <a:extLst>
              <a:ext uri="{FF2B5EF4-FFF2-40B4-BE49-F238E27FC236}">
                <a16:creationId xmlns:a16="http://schemas.microsoft.com/office/drawing/2014/main" id="{00947B7A-9E45-593D-FBDD-1ADA950DE7C2}"/>
              </a:ext>
            </a:extLst>
          </p:cNvPr>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5</a:t>
            </a:fld>
            <a:endParaRPr lang="en-US"/>
          </a:p>
        </p:txBody>
      </p:sp>
      <p:pic>
        <p:nvPicPr>
          <p:cNvPr id="30" name="Picture 29">
            <a:extLst>
              <a:ext uri="{FF2B5EF4-FFF2-40B4-BE49-F238E27FC236}">
                <a16:creationId xmlns:a16="http://schemas.microsoft.com/office/drawing/2014/main" id="{4BEBFF4C-834C-7044-B796-8D9BE41FBA72}"/>
              </a:ext>
            </a:extLst>
          </p:cNvPr>
          <p:cNvPicPr>
            <a:picLocks noChangeAspect="1"/>
          </p:cNvPicPr>
          <p:nvPr/>
        </p:nvPicPr>
        <p:blipFill>
          <a:blip r:embed="rId2"/>
          <a:stretch>
            <a:fillRect/>
          </a:stretch>
        </p:blipFill>
        <p:spPr>
          <a:xfrm>
            <a:off x="0" y="958542"/>
            <a:ext cx="12192000" cy="5899457"/>
          </a:xfrm>
          <a:prstGeom prst="rect">
            <a:avLst/>
          </a:prstGeom>
        </p:spPr>
      </p:pic>
    </p:spTree>
    <p:extLst>
      <p:ext uri="{BB962C8B-B14F-4D97-AF65-F5344CB8AC3E}">
        <p14:creationId xmlns:p14="http://schemas.microsoft.com/office/powerpoint/2010/main" val="3272830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Năm xu hướng nghiên cứu AI chủ đạo</a:t>
            </a:r>
            <a:endParaRPr lang="en-US" sz="2800" dirty="0"/>
          </a:p>
        </p:txBody>
      </p:sp>
      <p:sp>
        <p:nvSpPr>
          <p:cNvPr id="3" name="Shape 1"/>
          <p:cNvSpPr/>
          <p:nvPr/>
        </p:nvSpPr>
        <p:spPr>
          <a:xfrm>
            <a:off x="457200" y="6510528"/>
            <a:ext cx="128016" cy="128016"/>
          </a:xfrm>
          <a:prstGeom prst="ellipse">
            <a:avLst/>
          </a:prstGeom>
          <a:solidFill>
            <a:srgbClr val="A80000"/>
          </a:solidFill>
          <a:ln w="12700">
            <a:solidFill>
              <a:srgbClr val="A80000"/>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A80000"/>
                </a:solidFill>
                <a:latin typeface="Calibri" pitchFamily="34" charset="0"/>
                <a:ea typeface="Calibri" pitchFamily="34" charset="-122"/>
                <a:cs typeface="Calibri" pitchFamily="34" charset="-120"/>
              </a:rPr>
              <a:t>1 · BỐI CẢNH</a:t>
            </a:r>
            <a:endParaRPr lang="en-US" sz="1100" dirty="0"/>
          </a:p>
        </p:txBody>
      </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6</a:t>
            </a:fld>
            <a:endParaRPr lang="en-US"/>
          </a:p>
        </p:txBody>
      </p:sp>
      <p:pic>
        <p:nvPicPr>
          <p:cNvPr id="40" name="Picture 39">
            <a:extLst>
              <a:ext uri="{FF2B5EF4-FFF2-40B4-BE49-F238E27FC236}">
                <a16:creationId xmlns:a16="http://schemas.microsoft.com/office/drawing/2014/main" id="{0278A5B4-9219-EF25-5404-028CE726B585}"/>
              </a:ext>
            </a:extLst>
          </p:cNvPr>
          <p:cNvPicPr>
            <a:picLocks noChangeAspect="1"/>
          </p:cNvPicPr>
          <p:nvPr/>
        </p:nvPicPr>
        <p:blipFill>
          <a:blip r:embed="rId2"/>
          <a:stretch>
            <a:fillRect/>
          </a:stretch>
        </p:blipFill>
        <p:spPr>
          <a:xfrm>
            <a:off x="3238" y="1025402"/>
            <a:ext cx="11991167" cy="52555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Việt Nam: chính sách đã có, năng lực cần tăng</a:t>
            </a:r>
            <a:endParaRPr lang="en-US" sz="2800" dirty="0"/>
          </a:p>
        </p:txBody>
      </p:sp>
      <p:sp>
        <p:nvSpPr>
          <p:cNvPr id="3" name="Shape 1"/>
          <p:cNvSpPr/>
          <p:nvPr/>
        </p:nvSpPr>
        <p:spPr>
          <a:xfrm>
            <a:off x="457200" y="6510528"/>
            <a:ext cx="128016" cy="128016"/>
          </a:xfrm>
          <a:prstGeom prst="ellipse">
            <a:avLst/>
          </a:prstGeom>
          <a:solidFill>
            <a:srgbClr val="A80000"/>
          </a:solidFill>
          <a:ln w="12700">
            <a:solidFill>
              <a:srgbClr val="A80000"/>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A80000"/>
                </a:solidFill>
                <a:latin typeface="Calibri" pitchFamily="34" charset="0"/>
                <a:ea typeface="Calibri" pitchFamily="34" charset="-122"/>
                <a:cs typeface="Calibri" pitchFamily="34" charset="-120"/>
              </a:rPr>
              <a:t>1 · BỐI CẢNH</a:t>
            </a:r>
            <a:endParaRPr lang="en-US" sz="1100" dirty="0"/>
          </a:p>
        </p:txBody>
      </p:sp>
      <p:grpSp>
        <p:nvGrpSpPr>
          <p:cNvPr id="57" name="Group 56">
            <a:extLst>
              <a:ext uri="{FF2B5EF4-FFF2-40B4-BE49-F238E27FC236}">
                <a16:creationId xmlns:a16="http://schemas.microsoft.com/office/drawing/2014/main" id="{89C80E92-1188-9D3E-0E74-950904D38562}"/>
              </a:ext>
            </a:extLst>
          </p:cNvPr>
          <p:cNvGrpSpPr/>
          <p:nvPr/>
        </p:nvGrpSpPr>
        <p:grpSpPr>
          <a:xfrm>
            <a:off x="457200" y="1097280"/>
            <a:ext cx="11338560" cy="5349240"/>
            <a:chOff x="457200" y="1097280"/>
            <a:chExt cx="11338560" cy="4919472"/>
          </a:xfrm>
        </p:grpSpPr>
        <p:sp>
          <p:nvSpPr>
            <p:cNvPr id="6" name="Text 3"/>
            <p:cNvSpPr txBox="1"/>
            <p:nvPr/>
          </p:nvSpPr>
          <p:spPr>
            <a:xfrm>
              <a:off x="457200" y="1097280"/>
              <a:ext cx="5486400" cy="411480"/>
            </a:xfrm>
            <a:prstGeom prst="rect">
              <a:avLst/>
            </a:prstGeom>
            <a:noFill/>
            <a:ln/>
          </p:spPr>
          <p:txBody>
            <a:bodyPr wrap="square" lIns="0" tIns="0" rIns="0" bIns="0" rtlCol="0" anchor="t"/>
            <a:lstStyle/>
            <a:p>
              <a:pPr marL="0" indent="0">
                <a:buNone/>
              </a:pPr>
              <a:r>
                <a:rPr lang="en-US" sz="2000" b="1" dirty="0">
                  <a:solidFill>
                    <a:srgbClr val="A80000"/>
                  </a:solidFill>
                  <a:latin typeface="Cambria" pitchFamily="34" charset="0"/>
                  <a:ea typeface="Cambria" pitchFamily="34" charset="-122"/>
                  <a:cs typeface="Cambria" pitchFamily="34" charset="-120"/>
                </a:rPr>
                <a:t>Chính sách</a:t>
              </a:r>
              <a:endParaRPr lang="en-US" sz="2000" dirty="0"/>
            </a:p>
          </p:txBody>
        </p:sp>
        <p:sp>
          <p:nvSpPr>
            <p:cNvPr id="7" name="Shape 4"/>
            <p:cNvSpPr/>
            <p:nvPr/>
          </p:nvSpPr>
          <p:spPr>
            <a:xfrm>
              <a:off x="1005840" y="1737360"/>
              <a:ext cx="0" cy="3017520"/>
            </a:xfrm>
            <a:prstGeom prst="line">
              <a:avLst/>
            </a:prstGeom>
            <a:noFill/>
            <a:ln w="50800">
              <a:solidFill>
                <a:srgbClr val="E8B4B4"/>
              </a:solidFill>
              <a:prstDash val="solid"/>
            </a:ln>
          </p:spPr>
          <p:txBody>
            <a:bodyPr/>
            <a:lstStyle/>
            <a:p>
              <a:endParaRPr lang="en-US"/>
            </a:p>
          </p:txBody>
        </p:sp>
        <p:sp>
          <p:nvSpPr>
            <p:cNvPr id="8" name="Shape 5"/>
            <p:cNvSpPr/>
            <p:nvPr/>
          </p:nvSpPr>
          <p:spPr>
            <a:xfrm>
              <a:off x="777240" y="1673352"/>
              <a:ext cx="457200" cy="457200"/>
            </a:xfrm>
            <a:prstGeom prst="ellipse">
              <a:avLst/>
            </a:prstGeom>
            <a:solidFill>
              <a:srgbClr val="A80000"/>
            </a:solidFill>
            <a:ln w="25400">
              <a:solidFill>
                <a:srgbClr val="FFFFFF"/>
              </a:solidFill>
              <a:prstDash val="solid"/>
            </a:ln>
          </p:spPr>
          <p:txBody>
            <a:bodyPr/>
            <a:lstStyle/>
            <a:p>
              <a:endParaRPr lang="en-US"/>
            </a:p>
          </p:txBody>
        </p:sp>
        <p:sp>
          <p:nvSpPr>
            <p:cNvPr id="9" name="Text 6"/>
            <p:cNvSpPr txBox="1"/>
            <p:nvPr/>
          </p:nvSpPr>
          <p:spPr>
            <a:xfrm>
              <a:off x="1371600" y="1600200"/>
              <a:ext cx="822960" cy="594360"/>
            </a:xfrm>
            <a:prstGeom prst="rect">
              <a:avLst/>
            </a:prstGeom>
            <a:noFill/>
            <a:ln/>
          </p:spPr>
          <p:txBody>
            <a:bodyPr wrap="square" lIns="0" tIns="0" rIns="0" bIns="0" rtlCol="0" anchor="ctr"/>
            <a:lstStyle/>
            <a:p>
              <a:pPr marL="0" indent="0">
                <a:buNone/>
              </a:pPr>
              <a:r>
                <a:rPr lang="en-US" sz="1800" b="1" dirty="0">
                  <a:solidFill>
                    <a:srgbClr val="A80000"/>
                  </a:solidFill>
                  <a:latin typeface="Cambria" pitchFamily="34" charset="0"/>
                  <a:ea typeface="Cambria" pitchFamily="34" charset="-122"/>
                  <a:cs typeface="Cambria" pitchFamily="34" charset="-120"/>
                </a:rPr>
                <a:t>2021</a:t>
              </a:r>
              <a:endParaRPr lang="en-US" sz="1800" dirty="0"/>
            </a:p>
          </p:txBody>
        </p:sp>
        <p:sp>
          <p:nvSpPr>
            <p:cNvPr id="10" name="Text 7"/>
            <p:cNvSpPr txBox="1"/>
            <p:nvPr/>
          </p:nvSpPr>
          <p:spPr>
            <a:xfrm>
              <a:off x="2240280" y="1554480"/>
              <a:ext cx="374904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QĐ 127/QĐ-TTg
</a:t>
              </a:r>
              <a:r>
                <a:rPr lang="en-US" sz="1250" dirty="0">
                  <a:solidFill>
                    <a:srgbClr val="5B6B76"/>
                  </a:solidFill>
                  <a:latin typeface="Calibri" pitchFamily="34" charset="0"/>
                  <a:ea typeface="Calibri" pitchFamily="34" charset="-122"/>
                  <a:cs typeface="Calibri" pitchFamily="34" charset="-120"/>
                </a:rPr>
                <a:t>Chiến lược AI đến 2030</a:t>
              </a:r>
              <a:endParaRPr lang="en-US" sz="1800" dirty="0"/>
            </a:p>
          </p:txBody>
        </p:sp>
        <p:sp>
          <p:nvSpPr>
            <p:cNvPr id="11" name="Shape 8"/>
            <p:cNvSpPr/>
            <p:nvPr/>
          </p:nvSpPr>
          <p:spPr>
            <a:xfrm>
              <a:off x="777240" y="2542032"/>
              <a:ext cx="457200" cy="457200"/>
            </a:xfrm>
            <a:prstGeom prst="ellipse">
              <a:avLst/>
            </a:prstGeom>
            <a:solidFill>
              <a:srgbClr val="A80000"/>
            </a:solidFill>
            <a:ln w="25400">
              <a:solidFill>
                <a:srgbClr val="FFFFFF"/>
              </a:solidFill>
              <a:prstDash val="solid"/>
            </a:ln>
          </p:spPr>
          <p:txBody>
            <a:bodyPr/>
            <a:lstStyle/>
            <a:p>
              <a:endParaRPr lang="en-US"/>
            </a:p>
          </p:txBody>
        </p:sp>
        <p:sp>
          <p:nvSpPr>
            <p:cNvPr id="12" name="Text 9"/>
            <p:cNvSpPr txBox="1"/>
            <p:nvPr/>
          </p:nvSpPr>
          <p:spPr>
            <a:xfrm>
              <a:off x="1371600" y="2468880"/>
              <a:ext cx="822960" cy="594360"/>
            </a:xfrm>
            <a:prstGeom prst="rect">
              <a:avLst/>
            </a:prstGeom>
            <a:noFill/>
            <a:ln/>
          </p:spPr>
          <p:txBody>
            <a:bodyPr wrap="square" lIns="0" tIns="0" rIns="0" bIns="0" rtlCol="0" anchor="ctr"/>
            <a:lstStyle/>
            <a:p>
              <a:pPr marL="0" indent="0">
                <a:buNone/>
              </a:pPr>
              <a:r>
                <a:rPr lang="en-US" sz="1800" b="1" dirty="0">
                  <a:solidFill>
                    <a:srgbClr val="A80000"/>
                  </a:solidFill>
                  <a:latin typeface="Cambria" pitchFamily="34" charset="0"/>
                  <a:ea typeface="Cambria" pitchFamily="34" charset="-122"/>
                  <a:cs typeface="Cambria" pitchFamily="34" charset="-120"/>
                </a:rPr>
                <a:t>2024</a:t>
              </a:r>
              <a:endParaRPr lang="en-US" sz="1800" dirty="0"/>
            </a:p>
          </p:txBody>
        </p:sp>
        <p:sp>
          <p:nvSpPr>
            <p:cNvPr id="13" name="Text 10"/>
            <p:cNvSpPr txBox="1"/>
            <p:nvPr/>
          </p:nvSpPr>
          <p:spPr>
            <a:xfrm>
              <a:off x="2240280" y="2423160"/>
              <a:ext cx="374904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NQ 57-NQ/TW
</a:t>
              </a:r>
              <a:r>
                <a:rPr lang="en-US" sz="1250" dirty="0">
                  <a:solidFill>
                    <a:srgbClr val="5B6B76"/>
                  </a:solidFill>
                  <a:latin typeface="Calibri" pitchFamily="34" charset="0"/>
                  <a:ea typeface="Calibri" pitchFamily="34" charset="-122"/>
                  <a:cs typeface="Calibri" pitchFamily="34" charset="-120"/>
                </a:rPr>
                <a:t>top 3 ĐNÁ về NC–PT AI (2030)</a:t>
              </a:r>
              <a:endParaRPr lang="en-US" sz="1800" dirty="0"/>
            </a:p>
          </p:txBody>
        </p:sp>
        <p:sp>
          <p:nvSpPr>
            <p:cNvPr id="14" name="Shape 11"/>
            <p:cNvSpPr/>
            <p:nvPr/>
          </p:nvSpPr>
          <p:spPr>
            <a:xfrm>
              <a:off x="777240" y="3410712"/>
              <a:ext cx="457200" cy="457200"/>
            </a:xfrm>
            <a:prstGeom prst="ellipse">
              <a:avLst/>
            </a:prstGeom>
            <a:solidFill>
              <a:srgbClr val="A80000"/>
            </a:solidFill>
            <a:ln w="25400">
              <a:solidFill>
                <a:srgbClr val="FFFFFF"/>
              </a:solidFill>
              <a:prstDash val="solid"/>
            </a:ln>
          </p:spPr>
          <p:txBody>
            <a:bodyPr/>
            <a:lstStyle/>
            <a:p>
              <a:endParaRPr lang="en-US"/>
            </a:p>
          </p:txBody>
        </p:sp>
        <p:sp>
          <p:nvSpPr>
            <p:cNvPr id="15" name="Text 12"/>
            <p:cNvSpPr txBox="1"/>
            <p:nvPr/>
          </p:nvSpPr>
          <p:spPr>
            <a:xfrm>
              <a:off x="1371600" y="3337560"/>
              <a:ext cx="822960" cy="594360"/>
            </a:xfrm>
            <a:prstGeom prst="rect">
              <a:avLst/>
            </a:prstGeom>
            <a:noFill/>
            <a:ln/>
          </p:spPr>
          <p:txBody>
            <a:bodyPr wrap="square" lIns="0" tIns="0" rIns="0" bIns="0" rtlCol="0" anchor="ctr"/>
            <a:lstStyle/>
            <a:p>
              <a:pPr marL="0" indent="0">
                <a:buNone/>
              </a:pPr>
              <a:r>
                <a:rPr lang="en-US" sz="1800" b="1" dirty="0">
                  <a:solidFill>
                    <a:srgbClr val="A80000"/>
                  </a:solidFill>
                  <a:latin typeface="Cambria" pitchFamily="34" charset="0"/>
                  <a:ea typeface="Cambria" pitchFamily="34" charset="-122"/>
                  <a:cs typeface="Cambria" pitchFamily="34" charset="-120"/>
                </a:rPr>
                <a:t>2025</a:t>
              </a:r>
              <a:endParaRPr lang="en-US" sz="1800" dirty="0"/>
            </a:p>
          </p:txBody>
        </p:sp>
        <p:sp>
          <p:nvSpPr>
            <p:cNvPr id="16" name="Text 13"/>
            <p:cNvSpPr txBox="1"/>
            <p:nvPr/>
          </p:nvSpPr>
          <p:spPr>
            <a:xfrm>
              <a:off x="2240280" y="3291840"/>
              <a:ext cx="374904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Luật AI · Luật CĐS
</a:t>
              </a:r>
              <a:r>
                <a:rPr lang="en-US" sz="1250" dirty="0">
                  <a:solidFill>
                    <a:srgbClr val="5B6B76"/>
                  </a:solidFill>
                  <a:latin typeface="Calibri" pitchFamily="34" charset="0"/>
                  <a:ea typeface="Calibri" pitchFamily="34" charset="-122"/>
                  <a:cs typeface="Calibri" pitchFamily="34" charset="-120"/>
                </a:rPr>
                <a:t>hiệu lực 01/3 và 01/7/2026</a:t>
              </a:r>
              <a:endParaRPr lang="en-US" sz="1800" dirty="0"/>
            </a:p>
          </p:txBody>
        </p:sp>
        <p:sp>
          <p:nvSpPr>
            <p:cNvPr id="17" name="Shape 14"/>
            <p:cNvSpPr/>
            <p:nvPr/>
          </p:nvSpPr>
          <p:spPr>
            <a:xfrm>
              <a:off x="777240" y="4279392"/>
              <a:ext cx="457200" cy="457200"/>
            </a:xfrm>
            <a:prstGeom prst="ellipse">
              <a:avLst/>
            </a:prstGeom>
            <a:solidFill>
              <a:srgbClr val="A80000"/>
            </a:solidFill>
            <a:ln w="25400">
              <a:solidFill>
                <a:srgbClr val="FFFFFF"/>
              </a:solidFill>
              <a:prstDash val="solid"/>
            </a:ln>
          </p:spPr>
          <p:txBody>
            <a:bodyPr/>
            <a:lstStyle/>
            <a:p>
              <a:endParaRPr lang="en-US"/>
            </a:p>
          </p:txBody>
        </p:sp>
        <p:sp>
          <p:nvSpPr>
            <p:cNvPr id="18" name="Text 15"/>
            <p:cNvSpPr txBox="1"/>
            <p:nvPr/>
          </p:nvSpPr>
          <p:spPr>
            <a:xfrm>
              <a:off x="1371600" y="4206240"/>
              <a:ext cx="822960" cy="594360"/>
            </a:xfrm>
            <a:prstGeom prst="rect">
              <a:avLst/>
            </a:prstGeom>
            <a:noFill/>
            <a:ln/>
          </p:spPr>
          <p:txBody>
            <a:bodyPr wrap="square" lIns="0" tIns="0" rIns="0" bIns="0" rtlCol="0" anchor="ctr"/>
            <a:lstStyle/>
            <a:p>
              <a:pPr marL="0" indent="0">
                <a:buNone/>
              </a:pPr>
              <a:r>
                <a:rPr lang="en-US" sz="1800" b="1" dirty="0">
                  <a:solidFill>
                    <a:srgbClr val="A80000"/>
                  </a:solidFill>
                  <a:latin typeface="Cambria" pitchFamily="34" charset="0"/>
                  <a:ea typeface="Cambria" pitchFamily="34" charset="-122"/>
                  <a:cs typeface="Cambria" pitchFamily="34" charset="-120"/>
                </a:rPr>
                <a:t>2026</a:t>
              </a:r>
              <a:endParaRPr lang="en-US" sz="1800" dirty="0"/>
            </a:p>
          </p:txBody>
        </p:sp>
        <p:sp>
          <p:nvSpPr>
            <p:cNvPr id="19" name="Text 16"/>
            <p:cNvSpPr txBox="1"/>
            <p:nvPr/>
          </p:nvSpPr>
          <p:spPr>
            <a:xfrm>
              <a:off x="2240280" y="4160520"/>
              <a:ext cx="3749040" cy="73152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QĐ 1671/QĐ-TTg
</a:t>
              </a:r>
              <a:r>
                <a:rPr lang="en-US" sz="1250" dirty="0">
                  <a:solidFill>
                    <a:srgbClr val="5B6B76"/>
                  </a:solidFill>
                  <a:latin typeface="Calibri" pitchFamily="34" charset="0"/>
                  <a:ea typeface="Calibri" pitchFamily="34" charset="-122"/>
                  <a:cs typeface="Calibri" pitchFamily="34" charset="-120"/>
                </a:rPr>
                <a:t>Chiến lược AI đến 2030, tầm nhìn 2045</a:t>
              </a:r>
              <a:endParaRPr lang="en-US" sz="1800" dirty="0"/>
            </a:p>
          </p:txBody>
        </p:sp>
        <p:sp>
          <p:nvSpPr>
            <p:cNvPr id="20" name="Shape 17"/>
            <p:cNvSpPr/>
            <p:nvPr/>
          </p:nvSpPr>
          <p:spPr>
            <a:xfrm>
              <a:off x="6263640" y="1188720"/>
              <a:ext cx="0" cy="3566160"/>
            </a:xfrm>
            <a:prstGeom prst="line">
              <a:avLst/>
            </a:prstGeom>
            <a:noFill/>
            <a:ln w="19050">
              <a:solidFill>
                <a:srgbClr val="D9E3E9"/>
              </a:solidFill>
              <a:prstDash val="solid"/>
            </a:ln>
          </p:spPr>
          <p:txBody>
            <a:bodyPr/>
            <a:lstStyle/>
            <a:p>
              <a:endParaRPr lang="en-US"/>
            </a:p>
          </p:txBody>
        </p:sp>
        <p:sp>
          <p:nvSpPr>
            <p:cNvPr id="21" name="Text 18"/>
            <p:cNvSpPr txBox="1"/>
            <p:nvPr/>
          </p:nvSpPr>
          <p:spPr>
            <a:xfrm>
              <a:off x="6492240" y="1097280"/>
              <a:ext cx="5303520" cy="411480"/>
            </a:xfrm>
            <a:prstGeom prst="rect">
              <a:avLst/>
            </a:prstGeom>
            <a:noFill/>
            <a:ln/>
          </p:spPr>
          <p:txBody>
            <a:bodyPr wrap="square" lIns="0" tIns="0" rIns="0" bIns="0" rtlCol="0" anchor="t"/>
            <a:lstStyle/>
            <a:p>
              <a:pPr marL="0" indent="0">
                <a:buNone/>
              </a:pPr>
              <a:r>
                <a:rPr lang="en-US" sz="2000" b="1" dirty="0">
                  <a:solidFill>
                    <a:srgbClr val="E08A2E"/>
                  </a:solidFill>
                  <a:latin typeface="Cambria" pitchFamily="34" charset="0"/>
                  <a:ea typeface="Cambria" pitchFamily="34" charset="-122"/>
                  <a:cs typeface="Cambria" pitchFamily="34" charset="-120"/>
                </a:rPr>
                <a:t>Thách thức năng lực</a:t>
              </a:r>
              <a:endParaRPr lang="en-US" sz="2000" dirty="0"/>
            </a:p>
          </p:txBody>
        </p:sp>
        <p:sp>
          <p:nvSpPr>
            <p:cNvPr id="22" name="Shape 19"/>
            <p:cNvSpPr/>
            <p:nvPr/>
          </p:nvSpPr>
          <p:spPr>
            <a:xfrm>
              <a:off x="6537960" y="1645920"/>
              <a:ext cx="2423160" cy="1325880"/>
            </a:xfrm>
            <a:prstGeom prst="roundRect">
              <a:avLst>
                <a:gd name="adj" fmla="val 5517"/>
              </a:avLst>
            </a:prstGeom>
            <a:solidFill>
              <a:srgbClr val="FDF5EC"/>
            </a:solidFill>
            <a:ln w="12700">
              <a:solidFill>
                <a:srgbClr val="F3D3AE"/>
              </a:solidFill>
              <a:prstDash val="solid"/>
            </a:ln>
            <a:effectLst>
              <a:outerShdw blurRad="76200" dist="25400" dir="5400000" algn="bl" rotWithShape="0">
                <a:srgbClr val="9FB3C0">
                  <a:alpha val="30000"/>
                </a:srgbClr>
              </a:outerShdw>
            </a:effectLst>
          </p:spPr>
          <p:txBody>
            <a:bodyPr/>
            <a:lstStyle/>
            <a:p>
              <a:endParaRPr lang="en-US"/>
            </a:p>
          </p:txBody>
        </p:sp>
        <p:sp>
          <p:nvSpPr>
            <p:cNvPr id="23" name="Shape 20"/>
            <p:cNvSpPr/>
            <p:nvPr/>
          </p:nvSpPr>
          <p:spPr>
            <a:xfrm>
              <a:off x="6720840" y="1965960"/>
              <a:ext cx="685800" cy="685800"/>
            </a:xfrm>
            <a:prstGeom prst="ellipse">
              <a:avLst/>
            </a:prstGeom>
            <a:solidFill>
              <a:srgbClr val="E08A2E"/>
            </a:solidFill>
            <a:ln w="12700">
              <a:solidFill>
                <a:srgbClr val="E08A2E"/>
              </a:solidFill>
              <a:prstDash val="solid"/>
            </a:ln>
          </p:spPr>
          <p:txBody>
            <a:bodyPr/>
            <a:lstStyle/>
            <a:p>
              <a:endParaRPr lang="en-US"/>
            </a:p>
          </p:txBody>
        </p:sp>
        <p:pic>
          <p:nvPicPr>
            <p:cNvPr id="24" name="Image 0" descr="preencoded.png"/>
            <p:cNvPicPr>
              <a:picLocks noChangeAspect="1"/>
            </p:cNvPicPr>
            <p:nvPr/>
          </p:nvPicPr>
          <p:blipFill>
            <a:blip r:embed="rId2"/>
            <a:stretch>
              <a:fillRect/>
            </a:stretch>
          </p:blipFill>
          <p:spPr>
            <a:xfrm>
              <a:off x="6885432" y="2130552"/>
              <a:ext cx="356616" cy="356616"/>
            </a:xfrm>
            <a:prstGeom prst="rect">
              <a:avLst/>
            </a:prstGeom>
          </p:spPr>
        </p:pic>
        <p:sp>
          <p:nvSpPr>
            <p:cNvPr id="25" name="Text 21"/>
            <p:cNvSpPr txBox="1"/>
            <p:nvPr/>
          </p:nvSpPr>
          <p:spPr>
            <a:xfrm>
              <a:off x="7498080" y="1645920"/>
              <a:ext cx="1417320" cy="1325880"/>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Nhân lực</a:t>
              </a:r>
              <a:endParaRPr lang="en-US" sz="1450" dirty="0"/>
            </a:p>
            <a:p>
              <a:pPr marL="0" indent="0">
                <a:buNone/>
              </a:pPr>
              <a:r>
                <a:rPr lang="en-US" sz="1450" b="1" dirty="0">
                  <a:solidFill>
                    <a:srgbClr val="13293D"/>
                  </a:solidFill>
                  <a:latin typeface="Calibri" pitchFamily="34" charset="0"/>
                  <a:ea typeface="Calibri" pitchFamily="34" charset="-122"/>
                  <a:cs typeface="Calibri" pitchFamily="34" charset="-120"/>
                </a:rPr>
                <a:t>trình độ cao</a:t>
              </a:r>
              <a:endParaRPr lang="en-US" sz="1450" dirty="0"/>
            </a:p>
          </p:txBody>
        </p:sp>
        <p:sp>
          <p:nvSpPr>
            <p:cNvPr id="26" name="Shape 22"/>
            <p:cNvSpPr/>
            <p:nvPr/>
          </p:nvSpPr>
          <p:spPr>
            <a:xfrm>
              <a:off x="9144000" y="1645920"/>
              <a:ext cx="2423160" cy="1325880"/>
            </a:xfrm>
            <a:prstGeom prst="roundRect">
              <a:avLst>
                <a:gd name="adj" fmla="val 5517"/>
              </a:avLst>
            </a:prstGeom>
            <a:solidFill>
              <a:srgbClr val="FDF5EC"/>
            </a:solidFill>
            <a:ln w="12700">
              <a:solidFill>
                <a:srgbClr val="F3D3AE"/>
              </a:solidFill>
              <a:prstDash val="solid"/>
            </a:ln>
            <a:effectLst>
              <a:outerShdw blurRad="76200" dist="25400" dir="5400000" algn="bl" rotWithShape="0">
                <a:srgbClr val="9FB3C0">
                  <a:alpha val="30000"/>
                </a:srgbClr>
              </a:outerShdw>
            </a:effectLst>
          </p:spPr>
          <p:txBody>
            <a:bodyPr/>
            <a:lstStyle/>
            <a:p>
              <a:endParaRPr lang="en-US"/>
            </a:p>
          </p:txBody>
        </p:sp>
        <p:sp>
          <p:nvSpPr>
            <p:cNvPr id="27" name="Shape 23"/>
            <p:cNvSpPr/>
            <p:nvPr/>
          </p:nvSpPr>
          <p:spPr>
            <a:xfrm>
              <a:off x="9326880" y="1965960"/>
              <a:ext cx="685800" cy="685800"/>
            </a:xfrm>
            <a:prstGeom prst="ellipse">
              <a:avLst/>
            </a:prstGeom>
            <a:solidFill>
              <a:srgbClr val="E08A2E"/>
            </a:solidFill>
            <a:ln w="12700">
              <a:solidFill>
                <a:srgbClr val="E08A2E"/>
              </a:solidFill>
              <a:prstDash val="solid"/>
            </a:ln>
          </p:spPr>
          <p:txBody>
            <a:bodyPr/>
            <a:lstStyle/>
            <a:p>
              <a:endParaRPr lang="en-US"/>
            </a:p>
          </p:txBody>
        </p:sp>
        <p:pic>
          <p:nvPicPr>
            <p:cNvPr id="28" name="Image 1" descr="preencoded.png"/>
            <p:cNvPicPr>
              <a:picLocks noChangeAspect="1"/>
            </p:cNvPicPr>
            <p:nvPr/>
          </p:nvPicPr>
          <p:blipFill>
            <a:blip r:embed="rId3"/>
            <a:stretch>
              <a:fillRect/>
            </a:stretch>
          </p:blipFill>
          <p:spPr>
            <a:xfrm>
              <a:off x="9491472" y="2130552"/>
              <a:ext cx="356616" cy="356616"/>
            </a:xfrm>
            <a:prstGeom prst="rect">
              <a:avLst/>
            </a:prstGeom>
          </p:spPr>
        </p:pic>
        <p:sp>
          <p:nvSpPr>
            <p:cNvPr id="29" name="Text 24"/>
            <p:cNvSpPr txBox="1"/>
            <p:nvPr/>
          </p:nvSpPr>
          <p:spPr>
            <a:xfrm>
              <a:off x="10104120" y="1645920"/>
              <a:ext cx="1417320" cy="1325880"/>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Hạ tầng</a:t>
              </a:r>
              <a:endParaRPr lang="en-US" sz="1450" dirty="0"/>
            </a:p>
            <a:p>
              <a:pPr marL="0" indent="0">
                <a:buNone/>
              </a:pPr>
              <a:r>
                <a:rPr lang="en-US" sz="1450" b="1" dirty="0">
                  <a:solidFill>
                    <a:srgbClr val="13293D"/>
                  </a:solidFill>
                  <a:latin typeface="Calibri" pitchFamily="34" charset="0"/>
                  <a:ea typeface="Calibri" pitchFamily="34" charset="-122"/>
                  <a:cs typeface="Calibri" pitchFamily="34" charset="-120"/>
                </a:rPr>
                <a:t>GPU</a:t>
              </a:r>
              <a:endParaRPr lang="en-US" sz="1450" dirty="0"/>
            </a:p>
          </p:txBody>
        </p:sp>
        <p:sp>
          <p:nvSpPr>
            <p:cNvPr id="30" name="Shape 25"/>
            <p:cNvSpPr/>
            <p:nvPr/>
          </p:nvSpPr>
          <p:spPr>
            <a:xfrm>
              <a:off x="6537960" y="3154680"/>
              <a:ext cx="2423160" cy="1325880"/>
            </a:xfrm>
            <a:prstGeom prst="roundRect">
              <a:avLst>
                <a:gd name="adj" fmla="val 5517"/>
              </a:avLst>
            </a:prstGeom>
            <a:solidFill>
              <a:srgbClr val="FDF5EC"/>
            </a:solidFill>
            <a:ln w="12700">
              <a:solidFill>
                <a:srgbClr val="F3D3AE"/>
              </a:solidFill>
              <a:prstDash val="solid"/>
            </a:ln>
            <a:effectLst>
              <a:outerShdw blurRad="76200" dist="25400" dir="5400000" algn="bl" rotWithShape="0">
                <a:srgbClr val="9FB3C0">
                  <a:alpha val="30000"/>
                </a:srgbClr>
              </a:outerShdw>
            </a:effectLst>
          </p:spPr>
          <p:txBody>
            <a:bodyPr/>
            <a:lstStyle/>
            <a:p>
              <a:endParaRPr lang="en-US"/>
            </a:p>
          </p:txBody>
        </p:sp>
        <p:sp>
          <p:nvSpPr>
            <p:cNvPr id="31" name="Shape 26"/>
            <p:cNvSpPr/>
            <p:nvPr/>
          </p:nvSpPr>
          <p:spPr>
            <a:xfrm>
              <a:off x="6720840" y="3474720"/>
              <a:ext cx="685800" cy="685800"/>
            </a:xfrm>
            <a:prstGeom prst="ellipse">
              <a:avLst/>
            </a:prstGeom>
            <a:solidFill>
              <a:srgbClr val="E08A2E"/>
            </a:solidFill>
            <a:ln w="12700">
              <a:solidFill>
                <a:srgbClr val="E08A2E"/>
              </a:solidFill>
              <a:prstDash val="solid"/>
            </a:ln>
          </p:spPr>
          <p:txBody>
            <a:bodyPr/>
            <a:lstStyle/>
            <a:p>
              <a:endParaRPr lang="en-US"/>
            </a:p>
          </p:txBody>
        </p:sp>
        <p:pic>
          <p:nvPicPr>
            <p:cNvPr id="32" name="Image 2" descr="preencoded.png"/>
            <p:cNvPicPr>
              <a:picLocks noChangeAspect="1"/>
            </p:cNvPicPr>
            <p:nvPr/>
          </p:nvPicPr>
          <p:blipFill>
            <a:blip r:embed="rId4"/>
            <a:stretch>
              <a:fillRect/>
            </a:stretch>
          </p:blipFill>
          <p:spPr>
            <a:xfrm>
              <a:off x="6885432" y="3639312"/>
              <a:ext cx="356616" cy="356616"/>
            </a:xfrm>
            <a:prstGeom prst="rect">
              <a:avLst/>
            </a:prstGeom>
          </p:spPr>
        </p:pic>
        <p:sp>
          <p:nvSpPr>
            <p:cNvPr id="33" name="Text 27"/>
            <p:cNvSpPr txBox="1"/>
            <p:nvPr/>
          </p:nvSpPr>
          <p:spPr>
            <a:xfrm>
              <a:off x="7498080" y="3154680"/>
              <a:ext cx="1417320" cy="1325880"/>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Dữ liệu</a:t>
              </a:r>
              <a:endParaRPr lang="en-US" sz="1450" dirty="0"/>
            </a:p>
            <a:p>
              <a:pPr marL="0" indent="0">
                <a:buNone/>
              </a:pPr>
              <a:r>
                <a:rPr lang="en-US" sz="1450" b="1" dirty="0">
                  <a:solidFill>
                    <a:srgbClr val="13293D"/>
                  </a:solidFill>
                  <a:latin typeface="Calibri" pitchFamily="34" charset="0"/>
                  <a:ea typeface="Calibri" pitchFamily="34" charset="-122"/>
                  <a:cs typeface="Calibri" pitchFamily="34" charset="-120"/>
                </a:rPr>
                <a:t>chuẩn hóa</a:t>
              </a:r>
              <a:endParaRPr lang="en-US" sz="1450" dirty="0"/>
            </a:p>
          </p:txBody>
        </p:sp>
        <p:sp>
          <p:nvSpPr>
            <p:cNvPr id="34" name="Shape 28"/>
            <p:cNvSpPr/>
            <p:nvPr/>
          </p:nvSpPr>
          <p:spPr>
            <a:xfrm>
              <a:off x="9144000" y="3154680"/>
              <a:ext cx="2423160" cy="1325880"/>
            </a:xfrm>
            <a:prstGeom prst="roundRect">
              <a:avLst>
                <a:gd name="adj" fmla="val 5517"/>
              </a:avLst>
            </a:prstGeom>
            <a:solidFill>
              <a:srgbClr val="FDF5EC"/>
            </a:solidFill>
            <a:ln w="12700">
              <a:solidFill>
                <a:srgbClr val="F3D3AE"/>
              </a:solidFill>
              <a:prstDash val="solid"/>
            </a:ln>
            <a:effectLst>
              <a:outerShdw blurRad="76200" dist="25400" dir="5400000" algn="bl" rotWithShape="0">
                <a:srgbClr val="9FB3C0">
                  <a:alpha val="30000"/>
                </a:srgbClr>
              </a:outerShdw>
            </a:effectLst>
          </p:spPr>
          <p:txBody>
            <a:bodyPr/>
            <a:lstStyle/>
            <a:p>
              <a:endParaRPr lang="en-US"/>
            </a:p>
          </p:txBody>
        </p:sp>
        <p:sp>
          <p:nvSpPr>
            <p:cNvPr id="35" name="Shape 29"/>
            <p:cNvSpPr/>
            <p:nvPr/>
          </p:nvSpPr>
          <p:spPr>
            <a:xfrm>
              <a:off x="9326880" y="3474720"/>
              <a:ext cx="685800" cy="685800"/>
            </a:xfrm>
            <a:prstGeom prst="ellipse">
              <a:avLst/>
            </a:prstGeom>
            <a:solidFill>
              <a:srgbClr val="E08A2E"/>
            </a:solidFill>
            <a:ln w="12700">
              <a:solidFill>
                <a:srgbClr val="E08A2E"/>
              </a:solidFill>
              <a:prstDash val="solid"/>
            </a:ln>
          </p:spPr>
          <p:txBody>
            <a:bodyPr/>
            <a:lstStyle/>
            <a:p>
              <a:endParaRPr lang="en-US"/>
            </a:p>
          </p:txBody>
        </p:sp>
        <p:pic>
          <p:nvPicPr>
            <p:cNvPr id="36" name="Image 3" descr="preencoded.png"/>
            <p:cNvPicPr>
              <a:picLocks noChangeAspect="1"/>
            </p:cNvPicPr>
            <p:nvPr/>
          </p:nvPicPr>
          <p:blipFill>
            <a:blip r:embed="rId5"/>
            <a:stretch>
              <a:fillRect/>
            </a:stretch>
          </p:blipFill>
          <p:spPr>
            <a:xfrm>
              <a:off x="9491472" y="3639312"/>
              <a:ext cx="356616" cy="356616"/>
            </a:xfrm>
            <a:prstGeom prst="rect">
              <a:avLst/>
            </a:prstGeom>
          </p:spPr>
        </p:pic>
        <p:sp>
          <p:nvSpPr>
            <p:cNvPr id="37" name="Text 30"/>
            <p:cNvSpPr txBox="1"/>
            <p:nvPr/>
          </p:nvSpPr>
          <p:spPr>
            <a:xfrm>
              <a:off x="10104120" y="3154680"/>
              <a:ext cx="1417320" cy="1325880"/>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Liên kết</a:t>
              </a:r>
              <a:endParaRPr lang="en-US" sz="1450" dirty="0"/>
            </a:p>
            <a:p>
              <a:pPr marL="0" indent="0">
                <a:buNone/>
              </a:pPr>
              <a:r>
                <a:rPr lang="en-US" sz="1450" b="1" dirty="0">
                  <a:solidFill>
                    <a:srgbClr val="13293D"/>
                  </a:solidFill>
                  <a:latin typeface="Calibri" pitchFamily="34" charset="0"/>
                  <a:ea typeface="Calibri" pitchFamily="34" charset="-122"/>
                  <a:cs typeface="Calibri" pitchFamily="34" charset="-120"/>
                </a:rPr>
                <a:t>NC – sản phẩm</a:t>
              </a:r>
              <a:endParaRPr lang="en-US" sz="1450" dirty="0"/>
            </a:p>
          </p:txBody>
        </p:sp>
        <p:sp>
          <p:nvSpPr>
            <p:cNvPr id="38" name="Text 31"/>
            <p:cNvSpPr txBox="1"/>
            <p:nvPr/>
          </p:nvSpPr>
          <p:spPr>
            <a:xfrm>
              <a:off x="457200" y="4846320"/>
              <a:ext cx="2103120" cy="365760"/>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Lĩnh vực triển vọng:</a:t>
              </a:r>
              <a:endParaRPr lang="en-US" sz="1400" dirty="0"/>
            </a:p>
          </p:txBody>
        </p:sp>
        <p:sp>
          <p:nvSpPr>
            <p:cNvPr id="39" name="Shape 32"/>
            <p:cNvSpPr/>
            <p:nvPr/>
          </p:nvSpPr>
          <p:spPr>
            <a:xfrm>
              <a:off x="457200" y="5230368"/>
              <a:ext cx="1366114" cy="347472"/>
            </a:xfrm>
            <a:prstGeom prst="roundRect">
              <a:avLst>
                <a:gd name="adj" fmla="val 50000"/>
              </a:avLst>
            </a:prstGeom>
            <a:solidFill>
              <a:srgbClr val="E6F3F6"/>
            </a:solidFill>
            <a:ln w="12700">
              <a:solidFill>
                <a:srgbClr val="1F6F8B"/>
              </a:solidFill>
              <a:prstDash val="solid"/>
            </a:ln>
          </p:spPr>
          <p:txBody>
            <a:bodyPr/>
            <a:lstStyle/>
            <a:p>
              <a:endParaRPr lang="en-US"/>
            </a:p>
          </p:txBody>
        </p:sp>
        <p:sp>
          <p:nvSpPr>
            <p:cNvPr id="40" name="Text 33"/>
            <p:cNvSpPr txBox="1"/>
            <p:nvPr/>
          </p:nvSpPr>
          <p:spPr>
            <a:xfrm>
              <a:off x="457200" y="5230368"/>
              <a:ext cx="1366114" cy="347472"/>
            </a:xfrm>
            <a:prstGeom prst="rect">
              <a:avLst/>
            </a:prstGeom>
            <a:noFill/>
            <a:ln/>
          </p:spPr>
          <p:txBody>
            <a:bodyPr wrap="square" lIns="0" tIns="0" rIns="0" bIns="0" rtlCol="0" anchor="ctr"/>
            <a:lstStyle/>
            <a:p>
              <a:pPr marL="0" indent="0" algn="ctr">
                <a:buNone/>
              </a:pPr>
              <a:r>
                <a:rPr lang="en-US" sz="1150" b="1" dirty="0">
                  <a:solidFill>
                    <a:srgbClr val="1F6F8B"/>
                  </a:solidFill>
                  <a:latin typeface="Calibri" pitchFamily="34" charset="0"/>
                  <a:ea typeface="Calibri" pitchFamily="34" charset="-122"/>
                  <a:cs typeface="Calibri" pitchFamily="34" charset="-120"/>
                </a:rPr>
                <a:t>AI tiếng Việt</a:t>
              </a:r>
              <a:endParaRPr lang="en-US" sz="1150" dirty="0"/>
            </a:p>
          </p:txBody>
        </p:sp>
        <p:sp>
          <p:nvSpPr>
            <p:cNvPr id="41" name="Shape 34"/>
            <p:cNvSpPr/>
            <p:nvPr/>
          </p:nvSpPr>
          <p:spPr>
            <a:xfrm>
              <a:off x="1887322" y="5230368"/>
              <a:ext cx="641909" cy="347472"/>
            </a:xfrm>
            <a:prstGeom prst="roundRect">
              <a:avLst>
                <a:gd name="adj" fmla="val 50000"/>
              </a:avLst>
            </a:prstGeom>
            <a:solidFill>
              <a:srgbClr val="E6F3F6"/>
            </a:solidFill>
            <a:ln w="12700">
              <a:solidFill>
                <a:srgbClr val="1F6F8B"/>
              </a:solidFill>
              <a:prstDash val="solid"/>
            </a:ln>
          </p:spPr>
          <p:txBody>
            <a:bodyPr/>
            <a:lstStyle/>
            <a:p>
              <a:endParaRPr lang="en-US"/>
            </a:p>
          </p:txBody>
        </p:sp>
        <p:sp>
          <p:nvSpPr>
            <p:cNvPr id="42" name="Text 35"/>
            <p:cNvSpPr txBox="1"/>
            <p:nvPr/>
          </p:nvSpPr>
          <p:spPr>
            <a:xfrm>
              <a:off x="1887322" y="5230368"/>
              <a:ext cx="641909" cy="347472"/>
            </a:xfrm>
            <a:prstGeom prst="rect">
              <a:avLst/>
            </a:prstGeom>
            <a:noFill/>
            <a:ln/>
          </p:spPr>
          <p:txBody>
            <a:bodyPr wrap="square" lIns="0" tIns="0" rIns="0" bIns="0" rtlCol="0" anchor="ctr"/>
            <a:lstStyle/>
            <a:p>
              <a:pPr marL="0" indent="0" algn="ctr">
                <a:buNone/>
              </a:pPr>
              <a:r>
                <a:rPr lang="en-US" sz="1150" b="1" dirty="0">
                  <a:solidFill>
                    <a:srgbClr val="1F6F8B"/>
                  </a:solidFill>
                  <a:latin typeface="Calibri" pitchFamily="34" charset="0"/>
                  <a:ea typeface="Calibri" pitchFamily="34" charset="-122"/>
                  <a:cs typeface="Calibri" pitchFamily="34" charset="-120"/>
                </a:rPr>
                <a:t>Y tế</a:t>
              </a:r>
              <a:endParaRPr lang="en-US" sz="1150" dirty="0"/>
            </a:p>
          </p:txBody>
        </p:sp>
        <p:sp>
          <p:nvSpPr>
            <p:cNvPr id="43" name="Shape 36"/>
            <p:cNvSpPr/>
            <p:nvPr/>
          </p:nvSpPr>
          <p:spPr>
            <a:xfrm>
              <a:off x="2593238" y="5230368"/>
              <a:ext cx="963778" cy="347472"/>
            </a:xfrm>
            <a:prstGeom prst="roundRect">
              <a:avLst>
                <a:gd name="adj" fmla="val 50000"/>
              </a:avLst>
            </a:prstGeom>
            <a:solidFill>
              <a:srgbClr val="E6F3F6"/>
            </a:solidFill>
            <a:ln w="12700">
              <a:solidFill>
                <a:srgbClr val="1F6F8B"/>
              </a:solidFill>
              <a:prstDash val="solid"/>
            </a:ln>
          </p:spPr>
          <p:txBody>
            <a:bodyPr/>
            <a:lstStyle/>
            <a:p>
              <a:endParaRPr lang="en-US"/>
            </a:p>
          </p:txBody>
        </p:sp>
        <p:sp>
          <p:nvSpPr>
            <p:cNvPr id="44" name="Text 37"/>
            <p:cNvSpPr txBox="1"/>
            <p:nvPr/>
          </p:nvSpPr>
          <p:spPr>
            <a:xfrm>
              <a:off x="2593238" y="5230368"/>
              <a:ext cx="963778" cy="347472"/>
            </a:xfrm>
            <a:prstGeom prst="rect">
              <a:avLst/>
            </a:prstGeom>
            <a:noFill/>
            <a:ln/>
          </p:spPr>
          <p:txBody>
            <a:bodyPr wrap="square" lIns="0" tIns="0" rIns="0" bIns="0" rtlCol="0" anchor="ctr"/>
            <a:lstStyle/>
            <a:p>
              <a:pPr marL="0" indent="0" algn="ctr">
                <a:buNone/>
              </a:pPr>
              <a:r>
                <a:rPr lang="en-US" sz="1150" b="1" dirty="0">
                  <a:solidFill>
                    <a:srgbClr val="1F6F8B"/>
                  </a:solidFill>
                  <a:latin typeface="Calibri" pitchFamily="34" charset="0"/>
                  <a:ea typeface="Calibri" pitchFamily="34" charset="-122"/>
                  <a:cs typeface="Calibri" pitchFamily="34" charset="-120"/>
                </a:rPr>
                <a:t>Giáo dục</a:t>
              </a:r>
              <a:endParaRPr lang="en-US" sz="1150" dirty="0"/>
            </a:p>
          </p:txBody>
        </p:sp>
        <p:sp>
          <p:nvSpPr>
            <p:cNvPr id="45" name="Shape 38"/>
            <p:cNvSpPr/>
            <p:nvPr/>
          </p:nvSpPr>
          <p:spPr>
            <a:xfrm>
              <a:off x="3621024" y="5230368"/>
              <a:ext cx="1205179" cy="347472"/>
            </a:xfrm>
            <a:prstGeom prst="roundRect">
              <a:avLst>
                <a:gd name="adj" fmla="val 50000"/>
              </a:avLst>
            </a:prstGeom>
            <a:solidFill>
              <a:srgbClr val="E6F3F6"/>
            </a:solidFill>
            <a:ln w="12700">
              <a:solidFill>
                <a:srgbClr val="1F6F8B"/>
              </a:solidFill>
              <a:prstDash val="solid"/>
            </a:ln>
          </p:spPr>
          <p:txBody>
            <a:bodyPr/>
            <a:lstStyle/>
            <a:p>
              <a:endParaRPr lang="en-US"/>
            </a:p>
          </p:txBody>
        </p:sp>
        <p:sp>
          <p:nvSpPr>
            <p:cNvPr id="46" name="Text 39"/>
            <p:cNvSpPr txBox="1"/>
            <p:nvPr/>
          </p:nvSpPr>
          <p:spPr>
            <a:xfrm>
              <a:off x="3621024" y="5230368"/>
              <a:ext cx="1205179" cy="347472"/>
            </a:xfrm>
            <a:prstGeom prst="rect">
              <a:avLst/>
            </a:prstGeom>
            <a:noFill/>
            <a:ln/>
          </p:spPr>
          <p:txBody>
            <a:bodyPr wrap="square" lIns="0" tIns="0" rIns="0" bIns="0" rtlCol="0" anchor="ctr"/>
            <a:lstStyle/>
            <a:p>
              <a:pPr marL="0" indent="0" algn="ctr">
                <a:buNone/>
              </a:pPr>
              <a:r>
                <a:rPr lang="en-US" sz="1150" b="1" dirty="0">
                  <a:solidFill>
                    <a:srgbClr val="1F6F8B"/>
                  </a:solidFill>
                  <a:latin typeface="Calibri" pitchFamily="34" charset="0"/>
                  <a:ea typeface="Calibri" pitchFamily="34" charset="-122"/>
                  <a:cs typeface="Calibri" pitchFamily="34" charset="-120"/>
                </a:rPr>
                <a:t>Nông nghiệp</a:t>
              </a:r>
              <a:endParaRPr lang="en-US" sz="1150" dirty="0"/>
            </a:p>
          </p:txBody>
        </p:sp>
        <p:sp>
          <p:nvSpPr>
            <p:cNvPr id="47" name="Shape 40"/>
            <p:cNvSpPr/>
            <p:nvPr/>
          </p:nvSpPr>
          <p:spPr>
            <a:xfrm>
              <a:off x="4890211" y="5230368"/>
              <a:ext cx="1124712" cy="347472"/>
            </a:xfrm>
            <a:prstGeom prst="roundRect">
              <a:avLst>
                <a:gd name="adj" fmla="val 50000"/>
              </a:avLst>
            </a:prstGeom>
            <a:solidFill>
              <a:srgbClr val="E6F3F6"/>
            </a:solidFill>
            <a:ln w="12700">
              <a:solidFill>
                <a:srgbClr val="1F6F8B"/>
              </a:solidFill>
              <a:prstDash val="solid"/>
            </a:ln>
          </p:spPr>
          <p:txBody>
            <a:bodyPr/>
            <a:lstStyle/>
            <a:p>
              <a:endParaRPr lang="en-US"/>
            </a:p>
          </p:txBody>
        </p:sp>
        <p:sp>
          <p:nvSpPr>
            <p:cNvPr id="48" name="Text 41"/>
            <p:cNvSpPr txBox="1"/>
            <p:nvPr/>
          </p:nvSpPr>
          <p:spPr>
            <a:xfrm>
              <a:off x="4890211" y="5230368"/>
              <a:ext cx="1124712" cy="347472"/>
            </a:xfrm>
            <a:prstGeom prst="rect">
              <a:avLst/>
            </a:prstGeom>
            <a:noFill/>
            <a:ln/>
          </p:spPr>
          <p:txBody>
            <a:bodyPr wrap="square" lIns="0" tIns="0" rIns="0" bIns="0" rtlCol="0" anchor="ctr"/>
            <a:lstStyle/>
            <a:p>
              <a:pPr marL="0" indent="0" algn="ctr">
                <a:buNone/>
              </a:pPr>
              <a:r>
                <a:rPr lang="en-US" sz="1150" b="1" dirty="0">
                  <a:solidFill>
                    <a:srgbClr val="1F6F8B"/>
                  </a:solidFill>
                  <a:latin typeface="Calibri" pitchFamily="34" charset="0"/>
                  <a:ea typeface="Calibri" pitchFamily="34" charset="-122"/>
                  <a:cs typeface="Calibri" pitchFamily="34" charset="-120"/>
                </a:rPr>
                <a:t>Môi trường</a:t>
              </a:r>
              <a:endParaRPr lang="en-US" sz="1150" dirty="0"/>
            </a:p>
          </p:txBody>
        </p:sp>
        <p:sp>
          <p:nvSpPr>
            <p:cNvPr id="49" name="Shape 42"/>
            <p:cNvSpPr/>
            <p:nvPr/>
          </p:nvSpPr>
          <p:spPr>
            <a:xfrm>
              <a:off x="6078931" y="5230368"/>
              <a:ext cx="2090318" cy="347472"/>
            </a:xfrm>
            <a:prstGeom prst="roundRect">
              <a:avLst>
                <a:gd name="adj" fmla="val 50000"/>
              </a:avLst>
            </a:prstGeom>
            <a:solidFill>
              <a:srgbClr val="E6F3F6"/>
            </a:solidFill>
            <a:ln w="12700">
              <a:solidFill>
                <a:srgbClr val="1F6F8B"/>
              </a:solidFill>
              <a:prstDash val="solid"/>
            </a:ln>
          </p:spPr>
          <p:txBody>
            <a:bodyPr/>
            <a:lstStyle/>
            <a:p>
              <a:endParaRPr lang="en-US"/>
            </a:p>
          </p:txBody>
        </p:sp>
        <p:sp>
          <p:nvSpPr>
            <p:cNvPr id="50" name="Text 43"/>
            <p:cNvSpPr txBox="1"/>
            <p:nvPr/>
          </p:nvSpPr>
          <p:spPr>
            <a:xfrm>
              <a:off x="6078931" y="5230368"/>
              <a:ext cx="2090318" cy="347472"/>
            </a:xfrm>
            <a:prstGeom prst="rect">
              <a:avLst/>
            </a:prstGeom>
            <a:noFill/>
            <a:ln/>
          </p:spPr>
          <p:txBody>
            <a:bodyPr wrap="square" lIns="0" tIns="0" rIns="0" bIns="0" rtlCol="0" anchor="ctr"/>
            <a:lstStyle/>
            <a:p>
              <a:pPr marL="0" indent="0" algn="ctr">
                <a:buNone/>
              </a:pPr>
              <a:r>
                <a:rPr lang="en-US" sz="1150" b="1" dirty="0">
                  <a:solidFill>
                    <a:srgbClr val="1F6F8B"/>
                  </a:solidFill>
                  <a:latin typeface="Calibri" pitchFamily="34" charset="0"/>
                  <a:ea typeface="Calibri" pitchFamily="34" charset="-122"/>
                  <a:cs typeface="Calibri" pitchFamily="34" charset="-120"/>
                </a:rPr>
                <a:t>Công nghiệp thông minh</a:t>
              </a:r>
              <a:endParaRPr lang="en-US" sz="1150" dirty="0"/>
            </a:p>
          </p:txBody>
        </p:sp>
        <p:sp>
          <p:nvSpPr>
            <p:cNvPr id="51" name="Shape 44"/>
            <p:cNvSpPr/>
            <p:nvPr/>
          </p:nvSpPr>
          <p:spPr>
            <a:xfrm>
              <a:off x="8233258" y="5230368"/>
              <a:ext cx="1366114" cy="347472"/>
            </a:xfrm>
            <a:prstGeom prst="roundRect">
              <a:avLst>
                <a:gd name="adj" fmla="val 50000"/>
              </a:avLst>
            </a:prstGeom>
            <a:solidFill>
              <a:srgbClr val="E6F3F6"/>
            </a:solidFill>
            <a:ln w="12700">
              <a:solidFill>
                <a:srgbClr val="1F6F8B"/>
              </a:solidFill>
              <a:prstDash val="solid"/>
            </a:ln>
          </p:spPr>
          <p:txBody>
            <a:bodyPr/>
            <a:lstStyle/>
            <a:p>
              <a:endParaRPr lang="en-US"/>
            </a:p>
          </p:txBody>
        </p:sp>
        <p:sp>
          <p:nvSpPr>
            <p:cNvPr id="52" name="Text 45"/>
            <p:cNvSpPr txBox="1"/>
            <p:nvPr/>
          </p:nvSpPr>
          <p:spPr>
            <a:xfrm>
              <a:off x="8233258" y="5230368"/>
              <a:ext cx="1366114" cy="347472"/>
            </a:xfrm>
            <a:prstGeom prst="rect">
              <a:avLst/>
            </a:prstGeom>
            <a:noFill/>
            <a:ln/>
          </p:spPr>
          <p:txBody>
            <a:bodyPr wrap="square" lIns="0" tIns="0" rIns="0" bIns="0" rtlCol="0" anchor="ctr"/>
            <a:lstStyle/>
            <a:p>
              <a:pPr marL="0" indent="0" algn="ctr">
                <a:buNone/>
              </a:pPr>
              <a:r>
                <a:rPr lang="en-US" sz="1150" b="1" dirty="0">
                  <a:solidFill>
                    <a:srgbClr val="1F6F8B"/>
                  </a:solidFill>
                  <a:latin typeface="Calibri" pitchFamily="34" charset="0"/>
                  <a:ea typeface="Calibri" pitchFamily="34" charset="-122"/>
                  <a:cs typeface="Calibri" pitchFamily="34" charset="-120"/>
                </a:rPr>
                <a:t>Quản trị công</a:t>
              </a:r>
              <a:endParaRPr lang="en-US" sz="1150" dirty="0"/>
            </a:p>
          </p:txBody>
        </p:sp>
        <p:sp>
          <p:nvSpPr>
            <p:cNvPr id="53" name="Shape 46"/>
            <p:cNvSpPr/>
            <p:nvPr/>
          </p:nvSpPr>
          <p:spPr>
            <a:xfrm>
              <a:off x="9663379" y="5230368"/>
              <a:ext cx="1687982" cy="347472"/>
            </a:xfrm>
            <a:prstGeom prst="roundRect">
              <a:avLst>
                <a:gd name="adj" fmla="val 50000"/>
              </a:avLst>
            </a:prstGeom>
            <a:solidFill>
              <a:srgbClr val="E6F3F6"/>
            </a:solidFill>
            <a:ln w="12700">
              <a:solidFill>
                <a:srgbClr val="1F6F8B"/>
              </a:solidFill>
              <a:prstDash val="solid"/>
            </a:ln>
          </p:spPr>
          <p:txBody>
            <a:bodyPr/>
            <a:lstStyle/>
            <a:p>
              <a:endParaRPr lang="en-US"/>
            </a:p>
          </p:txBody>
        </p:sp>
        <p:sp>
          <p:nvSpPr>
            <p:cNvPr id="54" name="Text 47"/>
            <p:cNvSpPr txBox="1"/>
            <p:nvPr/>
          </p:nvSpPr>
          <p:spPr>
            <a:xfrm>
              <a:off x="9663379" y="5230368"/>
              <a:ext cx="1687982" cy="347472"/>
            </a:xfrm>
            <a:prstGeom prst="rect">
              <a:avLst/>
            </a:prstGeom>
            <a:noFill/>
            <a:ln/>
          </p:spPr>
          <p:txBody>
            <a:bodyPr wrap="square" lIns="0" tIns="0" rIns="0" bIns="0" rtlCol="0" anchor="ctr"/>
            <a:lstStyle/>
            <a:p>
              <a:pPr marL="0" indent="0" algn="ctr">
                <a:buNone/>
              </a:pPr>
              <a:r>
                <a:rPr lang="en-US" sz="1150" b="1" dirty="0">
                  <a:solidFill>
                    <a:srgbClr val="1F6F8B"/>
                  </a:solidFill>
                  <a:latin typeface="Calibri" pitchFamily="34" charset="0"/>
                  <a:ea typeface="Calibri" pitchFamily="34" charset="-122"/>
                  <a:cs typeface="Calibri" pitchFamily="34" charset="-120"/>
                </a:rPr>
                <a:t>An toàn thông tin</a:t>
              </a:r>
              <a:endParaRPr lang="en-US" sz="1150" dirty="0"/>
            </a:p>
          </p:txBody>
        </p:sp>
        <p:sp>
          <p:nvSpPr>
            <p:cNvPr id="55" name="Text 48"/>
            <p:cNvSpPr txBox="1"/>
            <p:nvPr/>
          </p:nvSpPr>
          <p:spPr>
            <a:xfrm>
              <a:off x="457200" y="5669280"/>
              <a:ext cx="11274552" cy="347472"/>
            </a:xfrm>
            <a:prstGeom prst="rect">
              <a:avLst/>
            </a:prstGeom>
            <a:noFill/>
            <a:ln/>
          </p:spPr>
          <p:txBody>
            <a:bodyPr wrap="square" lIns="0" tIns="0" rIns="0" bIns="0" rtlCol="0" anchor="t"/>
            <a:lstStyle/>
            <a:p>
              <a:pPr marL="0" indent="0">
                <a:buNone/>
              </a:pPr>
              <a:r>
                <a:rPr lang="en-US" sz="1300" i="1" dirty="0">
                  <a:solidFill>
                    <a:srgbClr val="5B6B76"/>
                  </a:solidFill>
                  <a:latin typeface="Calibri" pitchFamily="34" charset="0"/>
                  <a:ea typeface="Calibri" pitchFamily="34" charset="-122"/>
                  <a:cs typeface="Calibri" pitchFamily="34" charset="-120"/>
                </a:rPr>
                <a:t>UNESCO (2025): tiến bộ về chính sách, hạ tầng, nhân lực; nhấn mạnh AI có trách nhiệm, công bằng, quyền riêng tư</a:t>
              </a:r>
              <a:endParaRPr lang="en-US" sz="13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Đánh giá năng lực AI: không chỉ đếm bài WoS/Scopus</a:t>
            </a:r>
            <a:endParaRPr lang="en-US" sz="2800" dirty="0"/>
          </a:p>
        </p:txBody>
      </p:sp>
      <p:sp>
        <p:nvSpPr>
          <p:cNvPr id="3" name="Shape 1"/>
          <p:cNvSpPr/>
          <p:nvPr/>
        </p:nvSpPr>
        <p:spPr>
          <a:xfrm>
            <a:off x="457200" y="6510528"/>
            <a:ext cx="128016" cy="128016"/>
          </a:xfrm>
          <a:prstGeom prst="ellipse">
            <a:avLst/>
          </a:prstGeom>
          <a:solidFill>
            <a:srgbClr val="A80000"/>
          </a:solidFill>
          <a:ln w="12700">
            <a:solidFill>
              <a:srgbClr val="A80000"/>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A80000"/>
                </a:solidFill>
                <a:latin typeface="Calibri" pitchFamily="34" charset="0"/>
                <a:ea typeface="Calibri" pitchFamily="34" charset="-122"/>
                <a:cs typeface="Calibri" pitchFamily="34" charset="-120"/>
              </a:rPr>
              <a:t>1 · BỐI CẢNH</a:t>
            </a:r>
            <a:endParaRPr lang="en-US" sz="1100" dirty="0"/>
          </a:p>
        </p:txBody>
      </p:sp>
      <p:grpSp>
        <p:nvGrpSpPr>
          <p:cNvPr id="38" name="Group 37">
            <a:extLst>
              <a:ext uri="{FF2B5EF4-FFF2-40B4-BE49-F238E27FC236}">
                <a16:creationId xmlns:a16="http://schemas.microsoft.com/office/drawing/2014/main" id="{46868D6A-C981-3EE5-404B-B930D2D5CA1A}"/>
              </a:ext>
            </a:extLst>
          </p:cNvPr>
          <p:cNvGrpSpPr/>
          <p:nvPr/>
        </p:nvGrpSpPr>
        <p:grpSpPr>
          <a:xfrm>
            <a:off x="523546" y="1005840"/>
            <a:ext cx="11180774" cy="5102352"/>
            <a:chOff x="523546" y="1005840"/>
            <a:chExt cx="11180774" cy="5102352"/>
          </a:xfrm>
        </p:grpSpPr>
        <p:sp>
          <p:nvSpPr>
            <p:cNvPr id="6" name="Shape 3"/>
            <p:cNvSpPr/>
            <p:nvPr/>
          </p:nvSpPr>
          <p:spPr>
            <a:xfrm>
              <a:off x="2606040" y="2468880"/>
              <a:ext cx="2103120" cy="2103120"/>
            </a:xfrm>
            <a:prstGeom prst="ellipse">
              <a:avLst/>
            </a:prstGeom>
            <a:solidFill>
              <a:srgbClr val="FBEAEA"/>
            </a:solidFill>
            <a:ln w="12700">
              <a:solidFill>
                <a:srgbClr val="F1CACA"/>
              </a:solidFill>
              <a:prstDash val="solid"/>
            </a:ln>
          </p:spPr>
          <p:txBody>
            <a:bodyPr/>
            <a:lstStyle/>
            <a:p>
              <a:endParaRPr lang="en-US"/>
            </a:p>
          </p:txBody>
        </p:sp>
        <p:sp>
          <p:nvSpPr>
            <p:cNvPr id="7" name="Text 4"/>
            <p:cNvSpPr txBox="1"/>
            <p:nvPr/>
          </p:nvSpPr>
          <p:spPr>
            <a:xfrm>
              <a:off x="2606040" y="2468880"/>
              <a:ext cx="2103120" cy="2103120"/>
            </a:xfrm>
            <a:prstGeom prst="rect">
              <a:avLst/>
            </a:prstGeom>
            <a:noFill/>
            <a:ln/>
          </p:spPr>
          <p:txBody>
            <a:bodyPr wrap="square" lIns="0" tIns="0" rIns="0" bIns="0" rtlCol="0" anchor="ctr"/>
            <a:lstStyle/>
            <a:p>
              <a:pPr marL="0" indent="0" algn="ctr">
                <a:buNone/>
              </a:pPr>
              <a:r>
                <a:rPr lang="en-US" sz="1800" b="1" dirty="0">
                  <a:solidFill>
                    <a:srgbClr val="A80000"/>
                  </a:solidFill>
                  <a:latin typeface="Cambria" pitchFamily="34" charset="0"/>
                  <a:ea typeface="Cambria" pitchFamily="34" charset="-122"/>
                  <a:cs typeface="Cambria" pitchFamily="34" charset="-120"/>
                </a:rPr>
                <a:t>Chất lượng</a:t>
              </a:r>
              <a:endParaRPr lang="en-US" sz="1800" dirty="0"/>
            </a:p>
            <a:p>
              <a:pPr marL="0" indent="0" algn="ctr">
                <a:buNone/>
              </a:pPr>
              <a:r>
                <a:rPr lang="en-US" sz="1800" b="1" dirty="0">
                  <a:solidFill>
                    <a:srgbClr val="A80000"/>
                  </a:solidFill>
                  <a:latin typeface="Cambria" pitchFamily="34" charset="0"/>
                  <a:ea typeface="Cambria" pitchFamily="34" charset="-122"/>
                  <a:cs typeface="Cambria" pitchFamily="34" charset="-120"/>
                </a:rPr>
                <a:t>hoạt động AI</a:t>
              </a:r>
              <a:endParaRPr lang="en-US" sz="1800" dirty="0"/>
            </a:p>
          </p:txBody>
        </p:sp>
        <p:sp>
          <p:nvSpPr>
            <p:cNvPr id="8" name="Shape 5"/>
            <p:cNvSpPr/>
            <p:nvPr/>
          </p:nvSpPr>
          <p:spPr>
            <a:xfrm>
              <a:off x="3310128" y="1005840"/>
              <a:ext cx="694944" cy="694944"/>
            </a:xfrm>
            <a:prstGeom prst="ellipse">
              <a:avLst/>
            </a:prstGeom>
            <a:solidFill>
              <a:srgbClr val="A80000"/>
            </a:solidFill>
            <a:ln w="12700">
              <a:solidFill>
                <a:srgbClr val="A80000"/>
              </a:solidFill>
              <a:prstDash val="solid"/>
            </a:ln>
          </p:spPr>
          <p:txBody>
            <a:bodyPr/>
            <a:lstStyle/>
            <a:p>
              <a:endParaRPr lang="en-US"/>
            </a:p>
          </p:txBody>
        </p:sp>
        <p:pic>
          <p:nvPicPr>
            <p:cNvPr id="9" name="Image 0" descr="preencoded.png"/>
            <p:cNvPicPr>
              <a:picLocks noChangeAspect="1"/>
            </p:cNvPicPr>
            <p:nvPr/>
          </p:nvPicPr>
          <p:blipFill>
            <a:blip r:embed="rId2"/>
            <a:stretch>
              <a:fillRect/>
            </a:stretch>
          </p:blipFill>
          <p:spPr>
            <a:xfrm>
              <a:off x="3476915" y="1172627"/>
              <a:ext cx="361371" cy="361371"/>
            </a:xfrm>
            <a:prstGeom prst="rect">
              <a:avLst/>
            </a:prstGeom>
          </p:spPr>
        </p:pic>
        <p:sp>
          <p:nvSpPr>
            <p:cNvPr id="10" name="Text 6"/>
            <p:cNvSpPr txBox="1"/>
            <p:nvPr/>
          </p:nvSpPr>
          <p:spPr>
            <a:xfrm>
              <a:off x="2651760" y="1719072"/>
              <a:ext cx="2011680" cy="457200"/>
            </a:xfrm>
            <a:prstGeom prst="rect">
              <a:avLst/>
            </a:prstGeom>
            <a:noFill/>
            <a:ln/>
          </p:spPr>
          <p:txBody>
            <a:bodyPr wrap="square" lIns="0" tIns="0" rIns="0" bIns="0" rtlCol="0" anchor="t"/>
            <a:lstStyle/>
            <a:p>
              <a:pPr marL="0" indent="0" algn="ctr">
                <a:buNone/>
              </a:pPr>
              <a:r>
                <a:rPr lang="en-US" sz="1300" b="1" dirty="0">
                  <a:solidFill>
                    <a:srgbClr val="13293D"/>
                  </a:solidFill>
                  <a:latin typeface="Calibri" pitchFamily="34" charset="0"/>
                  <a:ea typeface="Calibri" pitchFamily="34" charset="-122"/>
                  <a:cs typeface="Calibri" pitchFamily="34" charset="-120"/>
                </a:rPr>
                <a:t>Chất lượng học thuật</a:t>
              </a:r>
              <a:endParaRPr lang="en-US" sz="1300" dirty="0"/>
            </a:p>
          </p:txBody>
        </p:sp>
        <p:sp>
          <p:nvSpPr>
            <p:cNvPr id="11" name="Shape 7"/>
            <p:cNvSpPr/>
            <p:nvPr/>
          </p:nvSpPr>
          <p:spPr>
            <a:xfrm>
              <a:off x="5438342" y="1988820"/>
              <a:ext cx="694944" cy="694944"/>
            </a:xfrm>
            <a:prstGeom prst="ellipse">
              <a:avLst/>
            </a:prstGeom>
            <a:solidFill>
              <a:srgbClr val="1F6F8B"/>
            </a:solidFill>
            <a:ln w="12700">
              <a:solidFill>
                <a:srgbClr val="1F6F8B"/>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5605129" y="2155607"/>
              <a:ext cx="361371" cy="361371"/>
            </a:xfrm>
            <a:prstGeom prst="rect">
              <a:avLst/>
            </a:prstGeom>
          </p:spPr>
        </p:pic>
        <p:sp>
          <p:nvSpPr>
            <p:cNvPr id="13" name="Text 8"/>
            <p:cNvSpPr txBox="1"/>
            <p:nvPr/>
          </p:nvSpPr>
          <p:spPr>
            <a:xfrm>
              <a:off x="4779974" y="2702052"/>
              <a:ext cx="2011680" cy="457200"/>
            </a:xfrm>
            <a:prstGeom prst="rect">
              <a:avLst/>
            </a:prstGeom>
            <a:noFill/>
            <a:ln/>
          </p:spPr>
          <p:txBody>
            <a:bodyPr wrap="square" lIns="0" tIns="0" rIns="0" bIns="0" rtlCol="0" anchor="t"/>
            <a:lstStyle/>
            <a:p>
              <a:pPr marL="0" indent="0" algn="ctr">
                <a:buNone/>
              </a:pPr>
              <a:r>
                <a:rPr lang="en-US" sz="1300" b="1" dirty="0">
                  <a:solidFill>
                    <a:srgbClr val="13293D"/>
                  </a:solidFill>
                  <a:latin typeface="Calibri" pitchFamily="34" charset="0"/>
                  <a:ea typeface="Calibri" pitchFamily="34" charset="-122"/>
                  <a:cs typeface="Calibri" pitchFamily="34" charset="-120"/>
                </a:rPr>
                <a:t>Tái lập thực nghiệm</a:t>
              </a:r>
              <a:endParaRPr lang="en-US" sz="1300" dirty="0"/>
            </a:p>
          </p:txBody>
        </p:sp>
        <p:sp>
          <p:nvSpPr>
            <p:cNvPr id="14" name="Shape 9"/>
            <p:cNvSpPr/>
            <p:nvPr/>
          </p:nvSpPr>
          <p:spPr>
            <a:xfrm>
              <a:off x="5438342" y="3954780"/>
              <a:ext cx="694944" cy="694944"/>
            </a:xfrm>
            <a:prstGeom prst="ellipse">
              <a:avLst/>
            </a:prstGeom>
            <a:solidFill>
              <a:srgbClr val="E08A2E"/>
            </a:solidFill>
            <a:ln w="12700">
              <a:solidFill>
                <a:srgbClr val="E08A2E"/>
              </a:solidFill>
              <a:prstDash val="solid"/>
            </a:ln>
          </p:spPr>
          <p:txBody>
            <a:bodyPr/>
            <a:lstStyle/>
            <a:p>
              <a:endParaRPr lang="en-US"/>
            </a:p>
          </p:txBody>
        </p:sp>
        <p:pic>
          <p:nvPicPr>
            <p:cNvPr id="15" name="Image 2" descr="preencoded.png"/>
            <p:cNvPicPr>
              <a:picLocks noChangeAspect="1"/>
            </p:cNvPicPr>
            <p:nvPr/>
          </p:nvPicPr>
          <p:blipFill>
            <a:blip r:embed="rId4"/>
            <a:stretch>
              <a:fillRect/>
            </a:stretch>
          </p:blipFill>
          <p:spPr>
            <a:xfrm>
              <a:off x="5605129" y="4121567"/>
              <a:ext cx="361371" cy="361371"/>
            </a:xfrm>
            <a:prstGeom prst="rect">
              <a:avLst/>
            </a:prstGeom>
          </p:spPr>
        </p:pic>
        <p:sp>
          <p:nvSpPr>
            <p:cNvPr id="16" name="Text 10"/>
            <p:cNvSpPr txBox="1"/>
            <p:nvPr/>
          </p:nvSpPr>
          <p:spPr>
            <a:xfrm>
              <a:off x="4779974" y="4668012"/>
              <a:ext cx="2011680" cy="457200"/>
            </a:xfrm>
            <a:prstGeom prst="rect">
              <a:avLst/>
            </a:prstGeom>
            <a:noFill/>
            <a:ln/>
          </p:spPr>
          <p:txBody>
            <a:bodyPr wrap="square" lIns="0" tIns="0" rIns="0" bIns="0" rtlCol="0" anchor="t"/>
            <a:lstStyle/>
            <a:p>
              <a:pPr marL="0" indent="0" algn="ctr">
                <a:buNone/>
              </a:pPr>
              <a:r>
                <a:rPr lang="en-US" sz="1300" b="1" dirty="0">
                  <a:solidFill>
                    <a:srgbClr val="13293D"/>
                  </a:solidFill>
                  <a:latin typeface="Calibri" pitchFamily="34" charset="0"/>
                  <a:ea typeface="Calibri" pitchFamily="34" charset="-122"/>
                  <a:cs typeface="Calibri" pitchFamily="34" charset="-120"/>
                </a:rPr>
                <a:t>Dữ liệu, công cụ nghiên cứu</a:t>
              </a:r>
              <a:endParaRPr lang="en-US" sz="1300" dirty="0"/>
            </a:p>
          </p:txBody>
        </p:sp>
        <p:sp>
          <p:nvSpPr>
            <p:cNvPr id="17" name="Shape 11"/>
            <p:cNvSpPr/>
            <p:nvPr/>
          </p:nvSpPr>
          <p:spPr>
            <a:xfrm>
              <a:off x="3310128" y="4937760"/>
              <a:ext cx="694944" cy="694944"/>
            </a:xfrm>
            <a:prstGeom prst="ellipse">
              <a:avLst/>
            </a:prstGeom>
            <a:solidFill>
              <a:srgbClr val="4B4B9C"/>
            </a:solidFill>
            <a:ln w="12700">
              <a:solidFill>
                <a:srgbClr val="4B4B9C"/>
              </a:solidFill>
              <a:prstDash val="solid"/>
            </a:ln>
          </p:spPr>
          <p:txBody>
            <a:bodyPr/>
            <a:lstStyle/>
            <a:p>
              <a:endParaRPr lang="en-US"/>
            </a:p>
          </p:txBody>
        </p:sp>
        <p:pic>
          <p:nvPicPr>
            <p:cNvPr id="18" name="Image 3" descr="preencoded.png"/>
            <p:cNvPicPr>
              <a:picLocks noChangeAspect="1"/>
            </p:cNvPicPr>
            <p:nvPr/>
          </p:nvPicPr>
          <p:blipFill>
            <a:blip r:embed="rId5"/>
            <a:stretch>
              <a:fillRect/>
            </a:stretch>
          </p:blipFill>
          <p:spPr>
            <a:xfrm>
              <a:off x="3476915" y="5104547"/>
              <a:ext cx="361371" cy="361371"/>
            </a:xfrm>
            <a:prstGeom prst="rect">
              <a:avLst/>
            </a:prstGeom>
          </p:spPr>
        </p:pic>
        <p:sp>
          <p:nvSpPr>
            <p:cNvPr id="19" name="Text 12"/>
            <p:cNvSpPr txBox="1"/>
            <p:nvPr/>
          </p:nvSpPr>
          <p:spPr>
            <a:xfrm>
              <a:off x="2651760" y="5650992"/>
              <a:ext cx="2011680" cy="457200"/>
            </a:xfrm>
            <a:prstGeom prst="rect">
              <a:avLst/>
            </a:prstGeom>
            <a:noFill/>
            <a:ln/>
          </p:spPr>
          <p:txBody>
            <a:bodyPr wrap="square" lIns="0" tIns="0" rIns="0" bIns="0" rtlCol="0" anchor="t"/>
            <a:lstStyle/>
            <a:p>
              <a:pPr marL="0" indent="0" algn="ctr">
                <a:buNone/>
              </a:pPr>
              <a:r>
                <a:rPr lang="en-US" sz="1300" b="1" dirty="0">
                  <a:solidFill>
                    <a:srgbClr val="13293D"/>
                  </a:solidFill>
                  <a:latin typeface="Calibri" pitchFamily="34" charset="0"/>
                  <a:ea typeface="Calibri" pitchFamily="34" charset="-122"/>
                  <a:cs typeface="Calibri" pitchFamily="34" charset="-120"/>
                </a:rPr>
                <a:t>Sở hữu trí tuệ</a:t>
              </a:r>
              <a:endParaRPr lang="en-US" sz="1300" dirty="0"/>
            </a:p>
          </p:txBody>
        </p:sp>
        <p:sp>
          <p:nvSpPr>
            <p:cNvPr id="20" name="Shape 13"/>
            <p:cNvSpPr/>
            <p:nvPr/>
          </p:nvSpPr>
          <p:spPr>
            <a:xfrm>
              <a:off x="1181914" y="3954780"/>
              <a:ext cx="694944" cy="694944"/>
            </a:xfrm>
            <a:prstGeom prst="ellipse">
              <a:avLst/>
            </a:prstGeom>
            <a:solidFill>
              <a:srgbClr val="1BA39C"/>
            </a:solidFill>
            <a:ln w="12700">
              <a:solidFill>
                <a:srgbClr val="1BA39C"/>
              </a:solidFill>
              <a:prstDash val="solid"/>
            </a:ln>
          </p:spPr>
          <p:txBody>
            <a:bodyPr/>
            <a:lstStyle/>
            <a:p>
              <a:endParaRPr lang="en-US"/>
            </a:p>
          </p:txBody>
        </p:sp>
        <p:pic>
          <p:nvPicPr>
            <p:cNvPr id="21" name="Image 4" descr="preencoded.png"/>
            <p:cNvPicPr>
              <a:picLocks noChangeAspect="1"/>
            </p:cNvPicPr>
            <p:nvPr/>
          </p:nvPicPr>
          <p:blipFill>
            <a:blip r:embed="rId6"/>
            <a:stretch>
              <a:fillRect/>
            </a:stretch>
          </p:blipFill>
          <p:spPr>
            <a:xfrm>
              <a:off x="1348700" y="4121567"/>
              <a:ext cx="361371" cy="361371"/>
            </a:xfrm>
            <a:prstGeom prst="rect">
              <a:avLst/>
            </a:prstGeom>
          </p:spPr>
        </p:pic>
        <p:sp>
          <p:nvSpPr>
            <p:cNvPr id="22" name="Text 14"/>
            <p:cNvSpPr txBox="1"/>
            <p:nvPr/>
          </p:nvSpPr>
          <p:spPr>
            <a:xfrm>
              <a:off x="523546" y="4668012"/>
              <a:ext cx="2011680" cy="457200"/>
            </a:xfrm>
            <a:prstGeom prst="rect">
              <a:avLst/>
            </a:prstGeom>
            <a:noFill/>
            <a:ln/>
          </p:spPr>
          <p:txBody>
            <a:bodyPr wrap="square" lIns="0" tIns="0" rIns="0" bIns="0" rtlCol="0" anchor="t"/>
            <a:lstStyle/>
            <a:p>
              <a:pPr marL="0" indent="0" algn="ctr">
                <a:buNone/>
              </a:pPr>
              <a:r>
                <a:rPr lang="en-US" sz="1300" b="1" dirty="0">
                  <a:solidFill>
                    <a:srgbClr val="13293D"/>
                  </a:solidFill>
                  <a:latin typeface="Calibri" pitchFamily="34" charset="0"/>
                  <a:ea typeface="Calibri" pitchFamily="34" charset="-122"/>
                  <a:cs typeface="Calibri" pitchFamily="34" charset="-120"/>
                </a:rPr>
                <a:t>Sản phẩm chuyển giao</a:t>
              </a:r>
              <a:endParaRPr lang="en-US" sz="1300" dirty="0"/>
            </a:p>
          </p:txBody>
        </p:sp>
        <p:sp>
          <p:nvSpPr>
            <p:cNvPr id="23" name="Shape 15"/>
            <p:cNvSpPr/>
            <p:nvPr/>
          </p:nvSpPr>
          <p:spPr>
            <a:xfrm>
              <a:off x="1181914" y="1988820"/>
              <a:ext cx="694944" cy="694944"/>
            </a:xfrm>
            <a:prstGeom prst="ellipse">
              <a:avLst/>
            </a:prstGeom>
            <a:solidFill>
              <a:srgbClr val="2D6A9F"/>
            </a:solidFill>
            <a:ln w="12700">
              <a:solidFill>
                <a:srgbClr val="2D6A9F"/>
              </a:solidFill>
              <a:prstDash val="solid"/>
            </a:ln>
          </p:spPr>
          <p:txBody>
            <a:bodyPr/>
            <a:lstStyle/>
            <a:p>
              <a:endParaRPr lang="en-US"/>
            </a:p>
          </p:txBody>
        </p:sp>
        <p:pic>
          <p:nvPicPr>
            <p:cNvPr id="24" name="Image 5" descr="preencoded.png"/>
            <p:cNvPicPr>
              <a:picLocks noChangeAspect="1"/>
            </p:cNvPicPr>
            <p:nvPr/>
          </p:nvPicPr>
          <p:blipFill>
            <a:blip r:embed="rId7"/>
            <a:stretch>
              <a:fillRect/>
            </a:stretch>
          </p:blipFill>
          <p:spPr>
            <a:xfrm>
              <a:off x="1348700" y="2155607"/>
              <a:ext cx="361371" cy="361371"/>
            </a:xfrm>
            <a:prstGeom prst="rect">
              <a:avLst/>
            </a:prstGeom>
          </p:spPr>
        </p:pic>
        <p:sp>
          <p:nvSpPr>
            <p:cNvPr id="25" name="Text 16"/>
            <p:cNvSpPr txBox="1"/>
            <p:nvPr/>
          </p:nvSpPr>
          <p:spPr>
            <a:xfrm>
              <a:off x="523546" y="2702052"/>
              <a:ext cx="2011680" cy="457200"/>
            </a:xfrm>
            <a:prstGeom prst="rect">
              <a:avLst/>
            </a:prstGeom>
            <a:noFill/>
            <a:ln/>
          </p:spPr>
          <p:txBody>
            <a:bodyPr wrap="square" lIns="0" tIns="0" rIns="0" bIns="0" rtlCol="0" anchor="t"/>
            <a:lstStyle/>
            <a:p>
              <a:pPr marL="0" indent="0" algn="ctr">
                <a:buNone/>
              </a:pPr>
              <a:r>
                <a:rPr lang="en-US" sz="1300" b="1" dirty="0">
                  <a:solidFill>
                    <a:srgbClr val="13293D"/>
                  </a:solidFill>
                  <a:latin typeface="Calibri" pitchFamily="34" charset="0"/>
                  <a:ea typeface="Calibri" pitchFamily="34" charset="-122"/>
                  <a:cs typeface="Calibri" pitchFamily="34" charset="-120"/>
                </a:rPr>
                <a:t>Hiệu quả ứng dụng</a:t>
              </a:r>
              <a:endParaRPr lang="en-US" sz="1300" dirty="0"/>
            </a:p>
          </p:txBody>
        </p:sp>
        <p:sp>
          <p:nvSpPr>
            <p:cNvPr id="26" name="Text 17"/>
            <p:cNvSpPr txBox="1"/>
            <p:nvPr/>
          </p:nvSpPr>
          <p:spPr>
            <a:xfrm>
              <a:off x="7315200" y="1188720"/>
              <a:ext cx="4389120" cy="411480"/>
            </a:xfrm>
            <a:prstGeom prst="rect">
              <a:avLst/>
            </a:prstGeom>
            <a:noFill/>
            <a:ln/>
          </p:spPr>
          <p:txBody>
            <a:bodyPr wrap="square" lIns="0" tIns="0" rIns="0" bIns="0" rtlCol="0" anchor="t"/>
            <a:lstStyle/>
            <a:p>
              <a:pPr marL="0" indent="0">
                <a:buNone/>
              </a:pPr>
              <a:r>
                <a:rPr lang="en-US" sz="1900" b="1" dirty="0">
                  <a:solidFill>
                    <a:srgbClr val="13293D"/>
                  </a:solidFill>
                  <a:latin typeface="Cambria" pitchFamily="34" charset="0"/>
                  <a:ea typeface="Cambria" pitchFamily="34" charset="-122"/>
                  <a:cs typeface="Cambria" pitchFamily="34" charset="-120"/>
                </a:rPr>
                <a:t>Mô hình kết hợp ba tầng</a:t>
              </a:r>
              <a:endParaRPr lang="en-US" sz="1900" dirty="0"/>
            </a:p>
          </p:txBody>
        </p:sp>
        <p:sp>
          <p:nvSpPr>
            <p:cNvPr id="27" name="Shape 18"/>
            <p:cNvSpPr/>
            <p:nvPr/>
          </p:nvSpPr>
          <p:spPr>
            <a:xfrm>
              <a:off x="7315200" y="1783080"/>
              <a:ext cx="4389120" cy="1005840"/>
            </a:xfrm>
            <a:prstGeom prst="roundRect">
              <a:avLst>
                <a:gd name="adj" fmla="val 9091"/>
              </a:avLst>
            </a:prstGeom>
            <a:solidFill>
              <a:srgbClr val="1F6F8B"/>
            </a:solidFill>
            <a:ln w="12700">
              <a:solidFill>
                <a:srgbClr val="1F6F8B"/>
              </a:solidFill>
              <a:prstDash val="solid"/>
            </a:ln>
          </p:spPr>
          <p:txBody>
            <a:bodyPr/>
            <a:lstStyle/>
            <a:p>
              <a:endParaRPr lang="en-US"/>
            </a:p>
          </p:txBody>
        </p:sp>
        <p:pic>
          <p:nvPicPr>
            <p:cNvPr id="28" name="Image 6" descr="preencoded.png"/>
            <p:cNvPicPr>
              <a:picLocks noChangeAspect="1"/>
            </p:cNvPicPr>
            <p:nvPr/>
          </p:nvPicPr>
          <p:blipFill>
            <a:blip r:embed="rId8"/>
            <a:stretch>
              <a:fillRect/>
            </a:stretch>
          </p:blipFill>
          <p:spPr>
            <a:xfrm>
              <a:off x="7543800" y="2011680"/>
              <a:ext cx="548640" cy="548640"/>
            </a:xfrm>
            <a:prstGeom prst="rect">
              <a:avLst/>
            </a:prstGeom>
          </p:spPr>
        </p:pic>
        <p:sp>
          <p:nvSpPr>
            <p:cNvPr id="29" name="Text 19"/>
            <p:cNvSpPr txBox="1"/>
            <p:nvPr/>
          </p:nvSpPr>
          <p:spPr>
            <a:xfrm>
              <a:off x="8275320" y="1783080"/>
              <a:ext cx="3337560" cy="10058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Nghiên cứu cơ bản có tính mới</a:t>
              </a:r>
              <a:endParaRPr lang="en-US" sz="1600" dirty="0"/>
            </a:p>
          </p:txBody>
        </p:sp>
        <p:sp>
          <p:nvSpPr>
            <p:cNvPr id="30" name="Shape 20"/>
            <p:cNvSpPr/>
            <p:nvPr/>
          </p:nvSpPr>
          <p:spPr>
            <a:xfrm>
              <a:off x="9509760" y="2807208"/>
              <a:ext cx="914" cy="192024"/>
            </a:xfrm>
            <a:prstGeom prst="line">
              <a:avLst/>
            </a:prstGeom>
            <a:noFill/>
            <a:ln w="31750">
              <a:solidFill>
                <a:srgbClr val="9AA7B0"/>
              </a:solidFill>
              <a:prstDash val="solid"/>
              <a:tailEnd type="triangle"/>
            </a:ln>
          </p:spPr>
          <p:txBody>
            <a:bodyPr/>
            <a:lstStyle/>
            <a:p>
              <a:endParaRPr lang="en-US"/>
            </a:p>
          </p:txBody>
        </p:sp>
        <p:sp>
          <p:nvSpPr>
            <p:cNvPr id="31" name="Shape 21"/>
            <p:cNvSpPr/>
            <p:nvPr/>
          </p:nvSpPr>
          <p:spPr>
            <a:xfrm>
              <a:off x="7315200" y="3017520"/>
              <a:ext cx="4389120" cy="1005840"/>
            </a:xfrm>
            <a:prstGeom prst="roundRect">
              <a:avLst>
                <a:gd name="adj" fmla="val 9091"/>
              </a:avLst>
            </a:prstGeom>
            <a:solidFill>
              <a:srgbClr val="E08A2E"/>
            </a:solidFill>
            <a:ln w="12700">
              <a:solidFill>
                <a:srgbClr val="E08A2E"/>
              </a:solidFill>
              <a:prstDash val="solid"/>
            </a:ln>
          </p:spPr>
          <p:txBody>
            <a:bodyPr/>
            <a:lstStyle/>
            <a:p>
              <a:endParaRPr lang="en-US"/>
            </a:p>
          </p:txBody>
        </p:sp>
        <p:pic>
          <p:nvPicPr>
            <p:cNvPr id="32" name="Image 7" descr="preencoded.png"/>
            <p:cNvPicPr>
              <a:picLocks noChangeAspect="1"/>
            </p:cNvPicPr>
            <p:nvPr/>
          </p:nvPicPr>
          <p:blipFill>
            <a:blip r:embed="rId9"/>
            <a:stretch>
              <a:fillRect/>
            </a:stretch>
          </p:blipFill>
          <p:spPr>
            <a:xfrm>
              <a:off x="7543800" y="3246120"/>
              <a:ext cx="548640" cy="548640"/>
            </a:xfrm>
            <a:prstGeom prst="rect">
              <a:avLst/>
            </a:prstGeom>
          </p:spPr>
        </p:pic>
        <p:sp>
          <p:nvSpPr>
            <p:cNvPr id="33" name="Text 22"/>
            <p:cNvSpPr txBox="1"/>
            <p:nvPr/>
          </p:nvSpPr>
          <p:spPr>
            <a:xfrm>
              <a:off x="8275320" y="3017520"/>
              <a:ext cx="3337560" cy="10058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Phát triển công nghệ lõi</a:t>
              </a:r>
              <a:endParaRPr lang="en-US" sz="1600" dirty="0"/>
            </a:p>
          </p:txBody>
        </p:sp>
        <p:sp>
          <p:nvSpPr>
            <p:cNvPr id="34" name="Shape 23"/>
            <p:cNvSpPr/>
            <p:nvPr/>
          </p:nvSpPr>
          <p:spPr>
            <a:xfrm>
              <a:off x="9509760" y="4041648"/>
              <a:ext cx="914" cy="192024"/>
            </a:xfrm>
            <a:prstGeom prst="line">
              <a:avLst/>
            </a:prstGeom>
            <a:noFill/>
            <a:ln w="31750">
              <a:solidFill>
                <a:srgbClr val="9AA7B0"/>
              </a:solidFill>
              <a:prstDash val="solid"/>
              <a:tailEnd type="triangle"/>
            </a:ln>
          </p:spPr>
          <p:txBody>
            <a:bodyPr/>
            <a:lstStyle/>
            <a:p>
              <a:endParaRPr lang="en-US"/>
            </a:p>
          </p:txBody>
        </p:sp>
        <p:sp>
          <p:nvSpPr>
            <p:cNvPr id="35" name="Shape 24"/>
            <p:cNvSpPr/>
            <p:nvPr/>
          </p:nvSpPr>
          <p:spPr>
            <a:xfrm>
              <a:off x="7315200" y="4251960"/>
              <a:ext cx="4389120" cy="1005840"/>
            </a:xfrm>
            <a:prstGeom prst="roundRect">
              <a:avLst>
                <a:gd name="adj" fmla="val 9091"/>
              </a:avLst>
            </a:prstGeom>
            <a:solidFill>
              <a:srgbClr val="A80000"/>
            </a:solidFill>
            <a:ln w="12700">
              <a:solidFill>
                <a:srgbClr val="A80000"/>
              </a:solidFill>
              <a:prstDash val="solid"/>
            </a:ln>
          </p:spPr>
          <p:txBody>
            <a:bodyPr/>
            <a:lstStyle/>
            <a:p>
              <a:endParaRPr lang="en-US"/>
            </a:p>
          </p:txBody>
        </p:sp>
        <p:pic>
          <p:nvPicPr>
            <p:cNvPr id="36" name="Image 8" descr="preencoded.png"/>
            <p:cNvPicPr>
              <a:picLocks noChangeAspect="1"/>
            </p:cNvPicPr>
            <p:nvPr/>
          </p:nvPicPr>
          <p:blipFill>
            <a:blip r:embed="rId10"/>
            <a:stretch>
              <a:fillRect/>
            </a:stretch>
          </p:blipFill>
          <p:spPr>
            <a:xfrm>
              <a:off x="7543800" y="4480560"/>
              <a:ext cx="548640" cy="548640"/>
            </a:xfrm>
            <a:prstGeom prst="rect">
              <a:avLst/>
            </a:prstGeom>
          </p:spPr>
        </p:pic>
        <p:sp>
          <p:nvSpPr>
            <p:cNvPr id="37" name="Text 25"/>
            <p:cNvSpPr txBox="1"/>
            <p:nvPr/>
          </p:nvSpPr>
          <p:spPr>
            <a:xfrm>
              <a:off x="8275320" y="4251960"/>
              <a:ext cx="3337560" cy="10058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Ứng dụng giải bài toán đặc thù</a:t>
              </a:r>
              <a:endParaRPr lang="en-US" sz="16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deck/img/band_title.png"/>
          <p:cNvPicPr>
            <a:picLocks noChangeAspect="1"/>
          </p:cNvPicPr>
          <p:nvPr/>
        </p:nvPicPr>
        <p:blipFill>
          <a:blip r:embed="rId2"/>
          <a:stretch>
            <a:fillRect/>
          </a:stretch>
        </p:blipFill>
        <p:spPr>
          <a:xfrm>
            <a:off x="0" y="0"/>
            <a:ext cx="12191695" cy="2514600"/>
          </a:xfrm>
          <a:prstGeom prst="rect">
            <a:avLst/>
          </a:prstGeom>
        </p:spPr>
      </p:pic>
      <p:pic>
        <p:nvPicPr>
          <p:cNvPr id="3" name="Image 1" descr="/home/claude/deck/img/airc_logo.png"/>
          <p:cNvPicPr>
            <a:picLocks noChangeAspect="1"/>
          </p:cNvPicPr>
          <p:nvPr/>
        </p:nvPicPr>
        <p:blipFill>
          <a:blip r:embed="rId3"/>
          <a:stretch>
            <a:fillRect/>
          </a:stretch>
        </p:blipFill>
        <p:spPr>
          <a:xfrm>
            <a:off x="11064240" y="228600"/>
            <a:ext cx="868680" cy="868680"/>
          </a:xfrm>
          <a:prstGeom prst="rect">
            <a:avLst/>
          </a:prstGeom>
        </p:spPr>
      </p:pic>
      <p:sp>
        <p:nvSpPr>
          <p:cNvPr id="4" name="Text 0"/>
          <p:cNvSpPr txBox="1"/>
          <p:nvPr/>
        </p:nvSpPr>
        <p:spPr>
          <a:xfrm>
            <a:off x="640080" y="320040"/>
            <a:ext cx="5486400" cy="548640"/>
          </a:xfrm>
          <a:prstGeom prst="rect">
            <a:avLst/>
          </a:prstGeom>
          <a:noFill/>
          <a:ln/>
        </p:spPr>
        <p:txBody>
          <a:bodyPr wrap="square" lIns="0" tIns="0" rIns="0" bIns="0" rtlCol="0" anchor="t"/>
          <a:lstStyle/>
          <a:p>
            <a:pPr marL="0" indent="0">
              <a:buNone/>
            </a:pPr>
            <a:r>
              <a:rPr lang="en-US" sz="2200" b="1" kern="0" spc="400" dirty="0">
                <a:solidFill>
                  <a:srgbClr val="FFFFFF"/>
                </a:solidFill>
                <a:latin typeface="Arial" pitchFamily="34" charset="0"/>
                <a:ea typeface="Arial" pitchFamily="34" charset="-122"/>
                <a:cs typeface="Arial" pitchFamily="34" charset="-120"/>
              </a:rPr>
              <a:t>PHẦN 2</a:t>
            </a:r>
            <a:endParaRPr lang="en-US" sz="2200" dirty="0"/>
          </a:p>
        </p:txBody>
      </p:sp>
      <p:sp>
        <p:nvSpPr>
          <p:cNvPr id="5" name="Text 1"/>
          <p:cNvSpPr txBox="1"/>
          <p:nvPr/>
        </p:nvSpPr>
        <p:spPr>
          <a:xfrm>
            <a:off x="640080" y="868680"/>
            <a:ext cx="9509760" cy="8686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Các hướng nghiên cứu ưu tiên từ năm 2026</a:t>
            </a:r>
            <a:endParaRPr lang="en-US" sz="3800" dirty="0"/>
          </a:p>
        </p:txBody>
      </p:sp>
      <p:sp>
        <p:nvSpPr>
          <p:cNvPr id="6" name="Text 2"/>
          <p:cNvSpPr txBox="1"/>
          <p:nvPr/>
        </p:nvSpPr>
        <p:spPr>
          <a:xfrm>
            <a:off x="640080" y="1737360"/>
            <a:ext cx="9509760" cy="54864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Nhóm đại học có nguồn lực vừa phải nên nghiên cứu gì?</a:t>
            </a:r>
            <a:endParaRPr lang="en-US" sz="2000" dirty="0"/>
          </a:p>
        </p:txBody>
      </p:sp>
      <p:grpSp>
        <p:nvGrpSpPr>
          <p:cNvPr id="36" name="Group 35">
            <a:extLst>
              <a:ext uri="{FF2B5EF4-FFF2-40B4-BE49-F238E27FC236}">
                <a16:creationId xmlns:a16="http://schemas.microsoft.com/office/drawing/2014/main" id="{2012ACB2-98D5-2DB7-D04F-119C753450B2}"/>
              </a:ext>
            </a:extLst>
          </p:cNvPr>
          <p:cNvGrpSpPr/>
          <p:nvPr/>
        </p:nvGrpSpPr>
        <p:grpSpPr>
          <a:xfrm>
            <a:off x="457200" y="2834640"/>
            <a:ext cx="11475720" cy="3246120"/>
            <a:chOff x="457200" y="2834640"/>
            <a:chExt cx="11475720" cy="3246120"/>
          </a:xfrm>
        </p:grpSpPr>
        <p:sp>
          <p:nvSpPr>
            <p:cNvPr id="7" name="Shape 3"/>
            <p:cNvSpPr/>
            <p:nvPr/>
          </p:nvSpPr>
          <p:spPr>
            <a:xfrm>
              <a:off x="457200" y="2834640"/>
              <a:ext cx="2647188" cy="2331720"/>
            </a:xfrm>
            <a:prstGeom prst="roundRect">
              <a:avLst>
                <a:gd name="adj" fmla="val 3137"/>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8" name="Shape 4"/>
            <p:cNvSpPr/>
            <p:nvPr/>
          </p:nvSpPr>
          <p:spPr>
            <a:xfrm>
              <a:off x="1323594" y="3063240"/>
              <a:ext cx="914400" cy="914400"/>
            </a:xfrm>
            <a:prstGeom prst="ellipse">
              <a:avLst/>
            </a:prstGeom>
            <a:solidFill>
              <a:srgbClr val="1F6F8B"/>
            </a:solidFill>
            <a:ln w="12700">
              <a:solidFill>
                <a:srgbClr val="1F6F8B"/>
              </a:solidFill>
              <a:prstDash val="solid"/>
            </a:ln>
          </p:spPr>
          <p:txBody>
            <a:bodyPr/>
            <a:lstStyle/>
            <a:p>
              <a:endParaRPr lang="en-US"/>
            </a:p>
          </p:txBody>
        </p:sp>
        <p:pic>
          <p:nvPicPr>
            <p:cNvPr id="9" name="Image 2" descr="preencoded.png"/>
            <p:cNvPicPr>
              <a:picLocks noChangeAspect="1"/>
            </p:cNvPicPr>
            <p:nvPr/>
          </p:nvPicPr>
          <p:blipFill>
            <a:blip r:embed="rId4"/>
            <a:stretch>
              <a:fillRect/>
            </a:stretch>
          </p:blipFill>
          <p:spPr>
            <a:xfrm>
              <a:off x="1543050" y="3282696"/>
              <a:ext cx="475488" cy="475488"/>
            </a:xfrm>
            <a:prstGeom prst="rect">
              <a:avLst/>
            </a:prstGeom>
          </p:spPr>
        </p:pic>
        <p:sp>
          <p:nvSpPr>
            <p:cNvPr id="10" name="Text 5"/>
            <p:cNvSpPr txBox="1"/>
            <p:nvPr/>
          </p:nvSpPr>
          <p:spPr>
            <a:xfrm>
              <a:off x="548640" y="4114800"/>
              <a:ext cx="2464308"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Suy luận và tác tử</a:t>
              </a:r>
              <a:endParaRPr lang="en-US" sz="1700" dirty="0"/>
            </a:p>
          </p:txBody>
        </p:sp>
        <p:sp>
          <p:nvSpPr>
            <p:cNvPr id="11" name="Shape 6"/>
            <p:cNvSpPr/>
            <p:nvPr/>
          </p:nvSpPr>
          <p:spPr>
            <a:xfrm>
              <a:off x="3332988" y="2834640"/>
              <a:ext cx="2647188" cy="2331720"/>
            </a:xfrm>
            <a:prstGeom prst="roundRect">
              <a:avLst>
                <a:gd name="adj" fmla="val 3137"/>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12" name="Shape 7"/>
            <p:cNvSpPr/>
            <p:nvPr/>
          </p:nvSpPr>
          <p:spPr>
            <a:xfrm>
              <a:off x="4199382" y="3063240"/>
              <a:ext cx="914400" cy="914400"/>
            </a:xfrm>
            <a:prstGeom prst="ellipse">
              <a:avLst/>
            </a:prstGeom>
            <a:solidFill>
              <a:srgbClr val="1F6F8B"/>
            </a:solidFill>
            <a:ln w="12700">
              <a:solidFill>
                <a:srgbClr val="1F6F8B"/>
              </a:solidFill>
              <a:prstDash val="solid"/>
            </a:ln>
          </p:spPr>
          <p:txBody>
            <a:bodyPr/>
            <a:lstStyle/>
            <a:p>
              <a:endParaRPr lang="en-US"/>
            </a:p>
          </p:txBody>
        </p:sp>
        <p:pic>
          <p:nvPicPr>
            <p:cNvPr id="13" name="Image 3" descr="preencoded.png"/>
            <p:cNvPicPr>
              <a:picLocks noChangeAspect="1"/>
            </p:cNvPicPr>
            <p:nvPr/>
          </p:nvPicPr>
          <p:blipFill>
            <a:blip r:embed="rId5"/>
            <a:stretch>
              <a:fillRect/>
            </a:stretch>
          </p:blipFill>
          <p:spPr>
            <a:xfrm>
              <a:off x="4418838" y="3282696"/>
              <a:ext cx="475488" cy="475488"/>
            </a:xfrm>
            <a:prstGeom prst="rect">
              <a:avLst/>
            </a:prstGeom>
          </p:spPr>
        </p:pic>
        <p:sp>
          <p:nvSpPr>
            <p:cNvPr id="14" name="Text 8"/>
            <p:cNvSpPr txBox="1"/>
            <p:nvPr/>
          </p:nvSpPr>
          <p:spPr>
            <a:xfrm>
              <a:off x="3424428" y="4114800"/>
              <a:ext cx="2464308"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Mô hình chuyên ngành, AI tiếng Việt</a:t>
              </a:r>
              <a:endParaRPr lang="en-US" sz="1700" dirty="0"/>
            </a:p>
          </p:txBody>
        </p:sp>
        <p:sp>
          <p:nvSpPr>
            <p:cNvPr id="15" name="Shape 9"/>
            <p:cNvSpPr/>
            <p:nvPr/>
          </p:nvSpPr>
          <p:spPr>
            <a:xfrm>
              <a:off x="6208776" y="2834640"/>
              <a:ext cx="2647188" cy="2331720"/>
            </a:xfrm>
            <a:prstGeom prst="roundRect">
              <a:avLst>
                <a:gd name="adj" fmla="val 3137"/>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16" name="Shape 10"/>
            <p:cNvSpPr/>
            <p:nvPr/>
          </p:nvSpPr>
          <p:spPr>
            <a:xfrm>
              <a:off x="7075170" y="3063240"/>
              <a:ext cx="914400" cy="914400"/>
            </a:xfrm>
            <a:prstGeom prst="ellipse">
              <a:avLst/>
            </a:prstGeom>
            <a:solidFill>
              <a:srgbClr val="1F6F8B"/>
            </a:solidFill>
            <a:ln w="12700">
              <a:solidFill>
                <a:srgbClr val="1F6F8B"/>
              </a:solidFill>
              <a:prstDash val="solid"/>
            </a:ln>
          </p:spPr>
          <p:txBody>
            <a:bodyPr/>
            <a:lstStyle/>
            <a:p>
              <a:endParaRPr lang="en-US"/>
            </a:p>
          </p:txBody>
        </p:sp>
        <p:pic>
          <p:nvPicPr>
            <p:cNvPr id="17" name="Image 4" descr="preencoded.png"/>
            <p:cNvPicPr>
              <a:picLocks noChangeAspect="1"/>
            </p:cNvPicPr>
            <p:nvPr/>
          </p:nvPicPr>
          <p:blipFill>
            <a:blip r:embed="rId6"/>
            <a:stretch>
              <a:fillRect/>
            </a:stretch>
          </p:blipFill>
          <p:spPr>
            <a:xfrm>
              <a:off x="7294626" y="3282696"/>
              <a:ext cx="475488" cy="475488"/>
            </a:xfrm>
            <a:prstGeom prst="rect">
              <a:avLst/>
            </a:prstGeom>
          </p:spPr>
        </p:pic>
        <p:sp>
          <p:nvSpPr>
            <p:cNvPr id="18" name="Text 11"/>
            <p:cNvSpPr txBox="1"/>
            <p:nvPr/>
          </p:nvSpPr>
          <p:spPr>
            <a:xfrm>
              <a:off x="6300216" y="4114800"/>
              <a:ext cx="2464308"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Đa phương thức, mô hình lai</a:t>
              </a:r>
              <a:endParaRPr lang="en-US" sz="1700" dirty="0"/>
            </a:p>
          </p:txBody>
        </p:sp>
        <p:sp>
          <p:nvSpPr>
            <p:cNvPr id="19" name="Shape 12"/>
            <p:cNvSpPr/>
            <p:nvPr/>
          </p:nvSpPr>
          <p:spPr>
            <a:xfrm>
              <a:off x="9084564" y="2834640"/>
              <a:ext cx="2647188" cy="2331720"/>
            </a:xfrm>
            <a:prstGeom prst="roundRect">
              <a:avLst>
                <a:gd name="adj" fmla="val 3137"/>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20" name="Shape 13"/>
            <p:cNvSpPr/>
            <p:nvPr/>
          </p:nvSpPr>
          <p:spPr>
            <a:xfrm>
              <a:off x="9950958" y="3063240"/>
              <a:ext cx="914400" cy="914400"/>
            </a:xfrm>
            <a:prstGeom prst="ellipse">
              <a:avLst/>
            </a:prstGeom>
            <a:solidFill>
              <a:srgbClr val="1F6F8B"/>
            </a:solidFill>
            <a:ln w="12700">
              <a:solidFill>
                <a:srgbClr val="1F6F8B"/>
              </a:solidFill>
              <a:prstDash val="solid"/>
            </a:ln>
          </p:spPr>
          <p:txBody>
            <a:bodyPr/>
            <a:lstStyle/>
            <a:p>
              <a:endParaRPr lang="en-US"/>
            </a:p>
          </p:txBody>
        </p:sp>
        <p:pic>
          <p:nvPicPr>
            <p:cNvPr id="21" name="Image 5" descr="preencoded.png"/>
            <p:cNvPicPr>
              <a:picLocks noChangeAspect="1"/>
            </p:cNvPicPr>
            <p:nvPr/>
          </p:nvPicPr>
          <p:blipFill>
            <a:blip r:embed="rId7"/>
            <a:stretch>
              <a:fillRect/>
            </a:stretch>
          </p:blipFill>
          <p:spPr>
            <a:xfrm>
              <a:off x="10170414" y="3282696"/>
              <a:ext cx="475488" cy="475488"/>
            </a:xfrm>
            <a:prstGeom prst="rect">
              <a:avLst/>
            </a:prstGeom>
          </p:spPr>
        </p:pic>
        <p:sp>
          <p:nvSpPr>
            <p:cNvPr id="22" name="Text 14"/>
            <p:cNvSpPr txBox="1"/>
            <p:nvPr/>
          </p:nvSpPr>
          <p:spPr>
            <a:xfrm>
              <a:off x="9176004" y="4114800"/>
              <a:ext cx="2464308"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AI tin cậy, AI tại biên</a:t>
              </a:r>
              <a:endParaRPr lang="en-US" sz="1700" dirty="0"/>
            </a:p>
          </p:txBody>
        </p:sp>
        <p:sp>
          <p:nvSpPr>
            <p:cNvPr id="23" name="Shape 15"/>
            <p:cNvSpPr/>
            <p:nvPr/>
          </p:nvSpPr>
          <p:spPr>
            <a:xfrm>
              <a:off x="457200" y="5577840"/>
              <a:ext cx="1965960" cy="502920"/>
            </a:xfrm>
            <a:prstGeom prst="chevron">
              <a:avLst/>
            </a:prstGeom>
            <a:solidFill>
              <a:srgbClr val="E6ECF0"/>
            </a:solidFill>
            <a:ln w="12700">
              <a:solidFill>
                <a:srgbClr val="C9D3DA"/>
              </a:solidFill>
              <a:prstDash val="solid"/>
            </a:ln>
          </p:spPr>
          <p:txBody>
            <a:bodyPr/>
            <a:lstStyle/>
            <a:p>
              <a:endParaRPr lang="en-US"/>
            </a:p>
          </p:txBody>
        </p:sp>
        <p:sp>
          <p:nvSpPr>
            <p:cNvPr id="24" name="Text 16"/>
            <p:cNvSpPr txBox="1"/>
            <p:nvPr/>
          </p:nvSpPr>
          <p:spPr>
            <a:xfrm>
              <a:off x="685800"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1. Bối cảnh</a:t>
              </a:r>
              <a:endParaRPr lang="en-US" sz="1050" dirty="0"/>
            </a:p>
          </p:txBody>
        </p:sp>
        <p:sp>
          <p:nvSpPr>
            <p:cNvPr id="25" name="Shape 17"/>
            <p:cNvSpPr/>
            <p:nvPr/>
          </p:nvSpPr>
          <p:spPr>
            <a:xfrm>
              <a:off x="2359152" y="5577840"/>
              <a:ext cx="1965960" cy="502920"/>
            </a:xfrm>
            <a:prstGeom prst="chevron">
              <a:avLst/>
            </a:prstGeom>
            <a:solidFill>
              <a:srgbClr val="1F6F8B"/>
            </a:solidFill>
            <a:ln w="12700">
              <a:solidFill>
                <a:srgbClr val="1F6F8B"/>
              </a:solidFill>
              <a:prstDash val="solid"/>
            </a:ln>
          </p:spPr>
          <p:txBody>
            <a:bodyPr/>
            <a:lstStyle/>
            <a:p>
              <a:endParaRPr lang="en-US"/>
            </a:p>
          </p:txBody>
        </p:sp>
        <p:sp>
          <p:nvSpPr>
            <p:cNvPr id="26" name="Text 18"/>
            <p:cNvSpPr txBox="1"/>
            <p:nvPr/>
          </p:nvSpPr>
          <p:spPr>
            <a:xfrm>
              <a:off x="2587752" y="5577840"/>
              <a:ext cx="155448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 Hướng ưu tiên</a:t>
              </a:r>
              <a:endParaRPr lang="en-US" sz="1050" dirty="0"/>
            </a:p>
          </p:txBody>
        </p:sp>
        <p:sp>
          <p:nvSpPr>
            <p:cNvPr id="27" name="Shape 19"/>
            <p:cNvSpPr/>
            <p:nvPr/>
          </p:nvSpPr>
          <p:spPr>
            <a:xfrm>
              <a:off x="4261104" y="5577840"/>
              <a:ext cx="1965960" cy="502920"/>
            </a:xfrm>
            <a:prstGeom prst="chevron">
              <a:avLst/>
            </a:prstGeom>
            <a:solidFill>
              <a:srgbClr val="FFFFFF"/>
            </a:solidFill>
            <a:ln w="12700">
              <a:solidFill>
                <a:srgbClr val="C9D3DA"/>
              </a:solidFill>
              <a:prstDash val="solid"/>
            </a:ln>
          </p:spPr>
          <p:txBody>
            <a:bodyPr/>
            <a:lstStyle/>
            <a:p>
              <a:endParaRPr lang="en-US"/>
            </a:p>
          </p:txBody>
        </p:sp>
        <p:sp>
          <p:nvSpPr>
            <p:cNvPr id="28" name="Text 20"/>
            <p:cNvSpPr txBox="1"/>
            <p:nvPr/>
          </p:nvSpPr>
          <p:spPr>
            <a:xfrm>
              <a:off x="4489704"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3. Sản phẩm Viện CNTT</a:t>
              </a:r>
              <a:endParaRPr lang="en-US" sz="1050" dirty="0"/>
            </a:p>
          </p:txBody>
        </p:sp>
        <p:sp>
          <p:nvSpPr>
            <p:cNvPr id="29" name="Shape 21"/>
            <p:cNvSpPr/>
            <p:nvPr/>
          </p:nvSpPr>
          <p:spPr>
            <a:xfrm>
              <a:off x="6163056" y="5577840"/>
              <a:ext cx="1965960" cy="502920"/>
            </a:xfrm>
            <a:prstGeom prst="chevron">
              <a:avLst/>
            </a:prstGeom>
            <a:solidFill>
              <a:srgbClr val="FFFFFF"/>
            </a:solidFill>
            <a:ln w="12700">
              <a:solidFill>
                <a:srgbClr val="C9D3DA"/>
              </a:solidFill>
              <a:prstDash val="solid"/>
            </a:ln>
          </p:spPr>
          <p:txBody>
            <a:bodyPr/>
            <a:lstStyle/>
            <a:p>
              <a:endParaRPr lang="en-US"/>
            </a:p>
          </p:txBody>
        </p:sp>
        <p:sp>
          <p:nvSpPr>
            <p:cNvPr id="30" name="Text 22"/>
            <p:cNvSpPr txBox="1"/>
            <p:nvPr/>
          </p:nvSpPr>
          <p:spPr>
            <a:xfrm>
              <a:off x="6391656"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4. Bản sao số</a:t>
              </a:r>
              <a:endParaRPr lang="en-US" sz="1050" dirty="0"/>
            </a:p>
          </p:txBody>
        </p:sp>
        <p:sp>
          <p:nvSpPr>
            <p:cNvPr id="31" name="Shape 23"/>
            <p:cNvSpPr/>
            <p:nvPr/>
          </p:nvSpPr>
          <p:spPr>
            <a:xfrm>
              <a:off x="8065008" y="5577840"/>
              <a:ext cx="1965960" cy="502920"/>
            </a:xfrm>
            <a:prstGeom prst="chevron">
              <a:avLst/>
            </a:prstGeom>
            <a:solidFill>
              <a:srgbClr val="FFFFFF"/>
            </a:solidFill>
            <a:ln w="12700">
              <a:solidFill>
                <a:srgbClr val="C9D3DA"/>
              </a:solidFill>
              <a:prstDash val="solid"/>
            </a:ln>
          </p:spPr>
          <p:txBody>
            <a:bodyPr/>
            <a:lstStyle/>
            <a:p>
              <a:endParaRPr lang="en-US"/>
            </a:p>
          </p:txBody>
        </p:sp>
        <p:sp>
          <p:nvSpPr>
            <p:cNvPr id="32" name="Text 24"/>
            <p:cNvSpPr txBox="1"/>
            <p:nvPr/>
          </p:nvSpPr>
          <p:spPr>
            <a:xfrm>
              <a:off x="8293608"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5. Bài báo mẫu, thực hành</a:t>
              </a:r>
              <a:endParaRPr lang="en-US" sz="1050" dirty="0"/>
            </a:p>
          </p:txBody>
        </p:sp>
        <p:sp>
          <p:nvSpPr>
            <p:cNvPr id="33" name="Shape 25"/>
            <p:cNvSpPr/>
            <p:nvPr/>
          </p:nvSpPr>
          <p:spPr>
            <a:xfrm>
              <a:off x="9966960" y="5577840"/>
              <a:ext cx="1965960" cy="502920"/>
            </a:xfrm>
            <a:prstGeom prst="chevron">
              <a:avLst/>
            </a:prstGeom>
            <a:solidFill>
              <a:srgbClr val="FFFFFF"/>
            </a:solidFill>
            <a:ln w="12700">
              <a:solidFill>
                <a:srgbClr val="C9D3DA"/>
              </a:solidFill>
              <a:prstDash val="solid"/>
            </a:ln>
          </p:spPr>
          <p:txBody>
            <a:bodyPr/>
            <a:lstStyle/>
            <a:p>
              <a:endParaRPr lang="en-US"/>
            </a:p>
          </p:txBody>
        </p:sp>
        <p:sp>
          <p:nvSpPr>
            <p:cNvPr id="34" name="Text 26"/>
            <p:cNvSpPr txBox="1"/>
            <p:nvPr/>
          </p:nvSpPr>
          <p:spPr>
            <a:xfrm>
              <a:off x="10195560"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6. Khuyến nghị cho HVU</a:t>
              </a:r>
              <a:endParaRPr lang="en-US" sz="1050" dirty="0"/>
            </a:p>
          </p:txBody>
        </p:sp>
      </p:grpSp>
      <p:pic>
        <p:nvPicPr>
          <p:cNvPr id="35" name="Logo ITI"/>
          <p:cNvPicPr>
            <a:picLocks noChangeAspect="1"/>
          </p:cNvPicPr>
          <p:nvPr/>
        </p:nvPicPr>
        <p:blipFill>
          <a:blip r:embed="rId8"/>
          <a:stretch>
            <a:fillRect/>
          </a:stretch>
        </p:blipFill>
        <p:spPr>
          <a:xfrm>
            <a:off x="10236708" y="298374"/>
            <a:ext cx="713232" cy="7291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Bảy hướng nghiên cứu ưu tiên từ năm 2026</a:t>
            </a:r>
            <a:endParaRPr lang="en-US" sz="2800" dirty="0"/>
          </a:p>
        </p:txBody>
      </p:sp>
      <p:sp>
        <p:nvSpPr>
          <p:cNvPr id="3" name="Shape 1"/>
          <p:cNvSpPr/>
          <p:nvPr/>
        </p:nvSpPr>
        <p:spPr>
          <a:xfrm>
            <a:off x="457200" y="6510528"/>
            <a:ext cx="128016" cy="128016"/>
          </a:xfrm>
          <a:prstGeom prst="ellipse">
            <a:avLst/>
          </a:prstGeom>
          <a:solidFill>
            <a:srgbClr val="1F6F8B"/>
          </a:solidFill>
          <a:ln w="12700">
            <a:solidFill>
              <a:srgbClr val="1F6F8B"/>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1F6F8B"/>
                </a:solidFill>
                <a:latin typeface="Calibri" pitchFamily="34" charset="0"/>
                <a:ea typeface="Calibri" pitchFamily="34" charset="-122"/>
                <a:cs typeface="Calibri" pitchFamily="34" charset="-120"/>
              </a:rPr>
              <a:t>2 · HƯỚNG ƯU TIÊN</a:t>
            </a:r>
            <a:endParaRPr lang="en-US" sz="1100" dirty="0"/>
          </a:p>
        </p:txBody>
      </p:sp>
      <p:grpSp>
        <p:nvGrpSpPr>
          <p:cNvPr id="57" name="Group 56">
            <a:extLst>
              <a:ext uri="{FF2B5EF4-FFF2-40B4-BE49-F238E27FC236}">
                <a16:creationId xmlns:a16="http://schemas.microsoft.com/office/drawing/2014/main" id="{1005411B-EC4E-F13D-BA3A-BF387D83AE32}"/>
              </a:ext>
            </a:extLst>
          </p:cNvPr>
          <p:cNvGrpSpPr/>
          <p:nvPr/>
        </p:nvGrpSpPr>
        <p:grpSpPr>
          <a:xfrm>
            <a:off x="457200" y="1143000"/>
            <a:ext cx="11275466" cy="4983480"/>
            <a:chOff x="457200" y="1143000"/>
            <a:chExt cx="11275466" cy="4983480"/>
          </a:xfrm>
        </p:grpSpPr>
        <p:sp>
          <p:nvSpPr>
            <p:cNvPr id="6" name="Shape 3"/>
            <p:cNvSpPr/>
            <p:nvPr/>
          </p:nvSpPr>
          <p:spPr>
            <a:xfrm>
              <a:off x="457200" y="1143000"/>
              <a:ext cx="2697480" cy="2103120"/>
            </a:xfrm>
            <a:prstGeom prst="roundRect">
              <a:avLst>
                <a:gd name="adj" fmla="val 3478"/>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7" name="Shape 4"/>
            <p:cNvSpPr/>
            <p:nvPr/>
          </p:nvSpPr>
          <p:spPr>
            <a:xfrm>
              <a:off x="640080" y="1325880"/>
              <a:ext cx="685800" cy="685800"/>
            </a:xfrm>
            <a:prstGeom prst="ellipse">
              <a:avLst/>
            </a:prstGeom>
            <a:solidFill>
              <a:srgbClr val="1F6F8B"/>
            </a:solidFill>
            <a:ln w="12700">
              <a:solidFill>
                <a:srgbClr val="1F6F8B"/>
              </a:solidFill>
              <a:prstDash val="solid"/>
            </a:ln>
          </p:spPr>
          <p:txBody>
            <a:bodyPr/>
            <a:lstStyle/>
            <a:p>
              <a:endParaRPr lang="en-US"/>
            </a:p>
          </p:txBody>
        </p:sp>
        <p:pic>
          <p:nvPicPr>
            <p:cNvPr id="8" name="Image 0" descr="preencoded.png"/>
            <p:cNvPicPr>
              <a:picLocks noChangeAspect="1"/>
            </p:cNvPicPr>
            <p:nvPr/>
          </p:nvPicPr>
          <p:blipFill>
            <a:blip r:embed="rId2"/>
            <a:stretch>
              <a:fillRect/>
            </a:stretch>
          </p:blipFill>
          <p:spPr>
            <a:xfrm>
              <a:off x="804672" y="1490472"/>
              <a:ext cx="356616" cy="356616"/>
            </a:xfrm>
            <a:prstGeom prst="rect">
              <a:avLst/>
            </a:prstGeom>
          </p:spPr>
        </p:pic>
        <p:sp>
          <p:nvSpPr>
            <p:cNvPr id="9" name="Text 5"/>
            <p:cNvSpPr txBox="1"/>
            <p:nvPr/>
          </p:nvSpPr>
          <p:spPr>
            <a:xfrm>
              <a:off x="2651760" y="1252728"/>
              <a:ext cx="365760" cy="365760"/>
            </a:xfrm>
            <a:prstGeom prst="rect">
              <a:avLst/>
            </a:prstGeom>
            <a:noFill/>
            <a:ln/>
          </p:spPr>
          <p:txBody>
            <a:bodyPr wrap="square" lIns="0" tIns="0" rIns="0" bIns="0" rtlCol="0" anchor="t"/>
            <a:lstStyle/>
            <a:p>
              <a:pPr marL="0" indent="0" algn="r">
                <a:buNone/>
              </a:pPr>
              <a:r>
                <a:rPr lang="en-US" sz="1800" b="1" dirty="0">
                  <a:solidFill>
                    <a:srgbClr val="B8C4CC"/>
                  </a:solidFill>
                  <a:latin typeface="Cambria" pitchFamily="34" charset="0"/>
                  <a:ea typeface="Cambria" pitchFamily="34" charset="-122"/>
                  <a:cs typeface="Cambria" pitchFamily="34" charset="-120"/>
                </a:rPr>
                <a:t>1</a:t>
              </a:r>
              <a:endParaRPr lang="en-US" sz="1800" dirty="0"/>
            </a:p>
          </p:txBody>
        </p:sp>
        <p:sp>
          <p:nvSpPr>
            <p:cNvPr id="10" name="Text 6"/>
            <p:cNvSpPr txBox="1"/>
            <p:nvPr/>
          </p:nvSpPr>
          <p:spPr>
            <a:xfrm>
              <a:off x="1417320" y="1280160"/>
              <a:ext cx="1325880" cy="77724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Mô hình suy luận</a:t>
              </a:r>
              <a:endParaRPr lang="en-US" sz="1550" dirty="0"/>
            </a:p>
          </p:txBody>
        </p:sp>
        <p:sp>
          <p:nvSpPr>
            <p:cNvPr id="11" name="Shape 7"/>
            <p:cNvSpPr/>
            <p:nvPr/>
          </p:nvSpPr>
          <p:spPr>
            <a:xfrm>
              <a:off x="640080" y="2194560"/>
              <a:ext cx="2331720" cy="960120"/>
            </a:xfrm>
            <a:prstGeom prst="rect">
              <a:avLst/>
            </a:prstGeom>
            <a:solidFill>
              <a:srgbClr val="F3F6F8"/>
            </a:solidFill>
            <a:ln w="12700">
              <a:solidFill>
                <a:srgbClr val="F3F6F8"/>
              </a:solidFill>
              <a:prstDash val="solid"/>
            </a:ln>
          </p:spPr>
          <p:txBody>
            <a:bodyPr/>
            <a:lstStyle/>
            <a:p>
              <a:endParaRPr lang="en-US"/>
            </a:p>
          </p:txBody>
        </p:sp>
        <p:sp>
          <p:nvSpPr>
            <p:cNvPr id="12" name="Text 8"/>
            <p:cNvSpPr txBox="1"/>
            <p:nvPr/>
          </p:nvSpPr>
          <p:spPr>
            <a:xfrm>
              <a:off x="731520" y="2194560"/>
              <a:ext cx="2148840" cy="960120"/>
            </a:xfrm>
            <a:prstGeom prst="rect">
              <a:avLst/>
            </a:prstGeom>
            <a:noFill/>
            <a:ln/>
          </p:spPr>
          <p:txBody>
            <a:bodyPr wrap="square" lIns="0" tIns="0" rIns="0" bIns="0" rtlCol="0" anchor="ctr"/>
            <a:lstStyle/>
            <a:p>
              <a:pPr marL="0" indent="0">
                <a:buNone/>
              </a:pPr>
              <a:r>
                <a:rPr lang="en-US" sz="1250" b="1" dirty="0">
                  <a:solidFill>
                    <a:srgbClr val="FF0000"/>
                  </a:solidFill>
                  <a:latin typeface="Calibri" pitchFamily="34" charset="0"/>
                  <a:ea typeface="Calibri" pitchFamily="34" charset="-122"/>
                  <a:cs typeface="Calibri" pitchFamily="34" charset="-120"/>
                </a:rPr>
                <a:t>Đề tài: </a:t>
              </a:r>
              <a:r>
                <a:rPr lang="en-US" sz="1250" dirty="0">
                  <a:solidFill>
                    <a:srgbClr val="FF0000"/>
                  </a:solidFill>
                  <a:latin typeface="Calibri" pitchFamily="34" charset="0"/>
                  <a:ea typeface="Calibri" pitchFamily="34" charset="-122"/>
                  <a:cs typeface="Calibri" pitchFamily="34" charset="-120"/>
                </a:rPr>
                <a:t>bộ đề tiếng Việt chuyên ngành; ngân sách suy luận ↔ độ chính xác, chi phí</a:t>
              </a:r>
              <a:endParaRPr lang="en-US" sz="1250" dirty="0">
                <a:solidFill>
                  <a:srgbClr val="FF0000"/>
                </a:solidFill>
              </a:endParaRPr>
            </a:p>
          </p:txBody>
        </p:sp>
        <p:sp>
          <p:nvSpPr>
            <p:cNvPr id="13" name="Shape 9"/>
            <p:cNvSpPr/>
            <p:nvPr/>
          </p:nvSpPr>
          <p:spPr>
            <a:xfrm>
              <a:off x="3316529" y="1143000"/>
              <a:ext cx="2697480" cy="2103120"/>
            </a:xfrm>
            <a:prstGeom prst="roundRect">
              <a:avLst>
                <a:gd name="adj" fmla="val 3478"/>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14" name="Shape 10"/>
            <p:cNvSpPr/>
            <p:nvPr/>
          </p:nvSpPr>
          <p:spPr>
            <a:xfrm>
              <a:off x="3499409" y="1325880"/>
              <a:ext cx="685800" cy="685800"/>
            </a:xfrm>
            <a:prstGeom prst="ellipse">
              <a:avLst/>
            </a:prstGeom>
            <a:solidFill>
              <a:srgbClr val="1F6F8B"/>
            </a:solidFill>
            <a:ln w="12700">
              <a:solidFill>
                <a:srgbClr val="1F6F8B"/>
              </a:solidFill>
              <a:prstDash val="solid"/>
            </a:ln>
          </p:spPr>
          <p:txBody>
            <a:bodyPr/>
            <a:lstStyle/>
            <a:p>
              <a:endParaRPr lang="en-US"/>
            </a:p>
          </p:txBody>
        </p:sp>
        <p:pic>
          <p:nvPicPr>
            <p:cNvPr id="15" name="Image 1" descr="preencoded.png"/>
            <p:cNvPicPr>
              <a:picLocks noChangeAspect="1"/>
            </p:cNvPicPr>
            <p:nvPr/>
          </p:nvPicPr>
          <p:blipFill>
            <a:blip r:embed="rId3"/>
            <a:stretch>
              <a:fillRect/>
            </a:stretch>
          </p:blipFill>
          <p:spPr>
            <a:xfrm>
              <a:off x="3664001" y="1490472"/>
              <a:ext cx="356616" cy="356616"/>
            </a:xfrm>
            <a:prstGeom prst="rect">
              <a:avLst/>
            </a:prstGeom>
          </p:spPr>
        </p:pic>
        <p:sp>
          <p:nvSpPr>
            <p:cNvPr id="16" name="Text 11"/>
            <p:cNvSpPr txBox="1"/>
            <p:nvPr/>
          </p:nvSpPr>
          <p:spPr>
            <a:xfrm>
              <a:off x="5511089" y="1252728"/>
              <a:ext cx="365760" cy="365760"/>
            </a:xfrm>
            <a:prstGeom prst="rect">
              <a:avLst/>
            </a:prstGeom>
            <a:noFill/>
            <a:ln/>
          </p:spPr>
          <p:txBody>
            <a:bodyPr wrap="square" lIns="0" tIns="0" rIns="0" bIns="0" rtlCol="0" anchor="t"/>
            <a:lstStyle/>
            <a:p>
              <a:pPr marL="0" indent="0" algn="r">
                <a:buNone/>
              </a:pPr>
              <a:r>
                <a:rPr lang="en-US" sz="1800" b="1" dirty="0">
                  <a:solidFill>
                    <a:srgbClr val="B8C4CC"/>
                  </a:solidFill>
                  <a:latin typeface="Cambria" pitchFamily="34" charset="0"/>
                  <a:ea typeface="Cambria" pitchFamily="34" charset="-122"/>
                  <a:cs typeface="Cambria" pitchFamily="34" charset="-120"/>
                </a:rPr>
                <a:t>2</a:t>
              </a:r>
              <a:endParaRPr lang="en-US" sz="1800" dirty="0"/>
            </a:p>
          </p:txBody>
        </p:sp>
        <p:sp>
          <p:nvSpPr>
            <p:cNvPr id="17" name="Text 12"/>
            <p:cNvSpPr txBox="1"/>
            <p:nvPr/>
          </p:nvSpPr>
          <p:spPr>
            <a:xfrm>
              <a:off x="4276649" y="1280160"/>
              <a:ext cx="1325880" cy="77724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Tác tử AI</a:t>
              </a:r>
              <a:endParaRPr lang="en-US" sz="1550" dirty="0"/>
            </a:p>
          </p:txBody>
        </p:sp>
        <p:sp>
          <p:nvSpPr>
            <p:cNvPr id="18" name="Shape 13"/>
            <p:cNvSpPr/>
            <p:nvPr/>
          </p:nvSpPr>
          <p:spPr>
            <a:xfrm>
              <a:off x="3499409" y="2194560"/>
              <a:ext cx="2331720" cy="960120"/>
            </a:xfrm>
            <a:prstGeom prst="rect">
              <a:avLst/>
            </a:prstGeom>
            <a:solidFill>
              <a:srgbClr val="F3F6F8"/>
            </a:solidFill>
            <a:ln w="12700">
              <a:solidFill>
                <a:srgbClr val="F3F6F8"/>
              </a:solidFill>
              <a:prstDash val="solid"/>
            </a:ln>
          </p:spPr>
          <p:txBody>
            <a:bodyPr/>
            <a:lstStyle/>
            <a:p>
              <a:endParaRPr lang="en-US"/>
            </a:p>
          </p:txBody>
        </p:sp>
        <p:sp>
          <p:nvSpPr>
            <p:cNvPr id="19" name="Text 14"/>
            <p:cNvSpPr txBox="1"/>
            <p:nvPr/>
          </p:nvSpPr>
          <p:spPr>
            <a:xfrm>
              <a:off x="3590849" y="2194560"/>
              <a:ext cx="2148840" cy="960120"/>
            </a:xfrm>
            <a:prstGeom prst="rect">
              <a:avLst/>
            </a:prstGeom>
            <a:noFill/>
            <a:ln/>
          </p:spPr>
          <p:txBody>
            <a:bodyPr wrap="square" lIns="0" tIns="0" rIns="0" bIns="0" rtlCol="0" anchor="ctr"/>
            <a:lstStyle/>
            <a:p>
              <a:pPr marL="0" indent="0">
                <a:buNone/>
              </a:pPr>
              <a:r>
                <a:rPr lang="en-US" sz="1250" b="1" dirty="0">
                  <a:solidFill>
                    <a:srgbClr val="FF0000"/>
                  </a:solidFill>
                  <a:latin typeface="Calibri" pitchFamily="34" charset="0"/>
                  <a:ea typeface="Calibri" pitchFamily="34" charset="-122"/>
                  <a:cs typeface="Calibri" pitchFamily="34" charset="-120"/>
                </a:rPr>
                <a:t>Đề tài: </a:t>
              </a:r>
              <a:r>
                <a:rPr lang="en-US" sz="1250" dirty="0">
                  <a:solidFill>
                    <a:srgbClr val="FF0000"/>
                  </a:solidFill>
                  <a:latin typeface="Calibri" pitchFamily="34" charset="0"/>
                  <a:ea typeface="Calibri" pitchFamily="34" charset="-122"/>
                  <a:cs typeface="Calibri" pitchFamily="34" charset="-120"/>
                </a:rPr>
                <a:t>tác tử hỗ trợ thủ tục đào tạo, thư viện; so với quy trình cố định</a:t>
              </a:r>
              <a:endParaRPr lang="en-US" sz="1250" dirty="0">
                <a:solidFill>
                  <a:srgbClr val="FF0000"/>
                </a:solidFill>
              </a:endParaRPr>
            </a:p>
          </p:txBody>
        </p:sp>
        <p:sp>
          <p:nvSpPr>
            <p:cNvPr id="20" name="Shape 15"/>
            <p:cNvSpPr/>
            <p:nvPr/>
          </p:nvSpPr>
          <p:spPr>
            <a:xfrm>
              <a:off x="6175858" y="1143000"/>
              <a:ext cx="2697480" cy="2103120"/>
            </a:xfrm>
            <a:prstGeom prst="roundRect">
              <a:avLst>
                <a:gd name="adj" fmla="val 3478"/>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21" name="Shape 16"/>
            <p:cNvSpPr/>
            <p:nvPr/>
          </p:nvSpPr>
          <p:spPr>
            <a:xfrm>
              <a:off x="6358738" y="1325880"/>
              <a:ext cx="685800" cy="685800"/>
            </a:xfrm>
            <a:prstGeom prst="ellipse">
              <a:avLst/>
            </a:prstGeom>
            <a:solidFill>
              <a:srgbClr val="1F6F8B"/>
            </a:solidFill>
            <a:ln w="12700">
              <a:solidFill>
                <a:srgbClr val="1F6F8B"/>
              </a:solidFill>
              <a:prstDash val="solid"/>
            </a:ln>
          </p:spPr>
          <p:txBody>
            <a:bodyPr/>
            <a:lstStyle/>
            <a:p>
              <a:endParaRPr lang="en-US"/>
            </a:p>
          </p:txBody>
        </p:sp>
        <p:pic>
          <p:nvPicPr>
            <p:cNvPr id="22" name="Image 2" descr="preencoded.png"/>
            <p:cNvPicPr>
              <a:picLocks noChangeAspect="1"/>
            </p:cNvPicPr>
            <p:nvPr/>
          </p:nvPicPr>
          <p:blipFill>
            <a:blip r:embed="rId4"/>
            <a:stretch>
              <a:fillRect/>
            </a:stretch>
          </p:blipFill>
          <p:spPr>
            <a:xfrm>
              <a:off x="6523330" y="1490472"/>
              <a:ext cx="356616" cy="356616"/>
            </a:xfrm>
            <a:prstGeom prst="rect">
              <a:avLst/>
            </a:prstGeom>
          </p:spPr>
        </p:pic>
        <p:sp>
          <p:nvSpPr>
            <p:cNvPr id="23" name="Text 17"/>
            <p:cNvSpPr txBox="1"/>
            <p:nvPr/>
          </p:nvSpPr>
          <p:spPr>
            <a:xfrm>
              <a:off x="8370418" y="1252728"/>
              <a:ext cx="365760" cy="365760"/>
            </a:xfrm>
            <a:prstGeom prst="rect">
              <a:avLst/>
            </a:prstGeom>
            <a:noFill/>
            <a:ln/>
          </p:spPr>
          <p:txBody>
            <a:bodyPr wrap="square" lIns="0" tIns="0" rIns="0" bIns="0" rtlCol="0" anchor="t"/>
            <a:lstStyle/>
            <a:p>
              <a:pPr marL="0" indent="0" algn="r">
                <a:buNone/>
              </a:pPr>
              <a:r>
                <a:rPr lang="en-US" sz="1800" b="1" dirty="0">
                  <a:solidFill>
                    <a:srgbClr val="B8C4CC"/>
                  </a:solidFill>
                  <a:latin typeface="Cambria" pitchFamily="34" charset="0"/>
                  <a:ea typeface="Cambria" pitchFamily="34" charset="-122"/>
                  <a:cs typeface="Cambria" pitchFamily="34" charset="-120"/>
                </a:rPr>
                <a:t>3</a:t>
              </a:r>
              <a:endParaRPr lang="en-US" sz="1800" dirty="0"/>
            </a:p>
          </p:txBody>
        </p:sp>
        <p:sp>
          <p:nvSpPr>
            <p:cNvPr id="24" name="Text 18"/>
            <p:cNvSpPr txBox="1"/>
            <p:nvPr/>
          </p:nvSpPr>
          <p:spPr>
            <a:xfrm>
              <a:off x="7135978" y="1280160"/>
              <a:ext cx="1325880" cy="77724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Mô hình chuyên ngành, AI tiếng Việt</a:t>
              </a:r>
              <a:endParaRPr lang="en-US" sz="1550" dirty="0"/>
            </a:p>
          </p:txBody>
        </p:sp>
        <p:sp>
          <p:nvSpPr>
            <p:cNvPr id="25" name="Shape 19"/>
            <p:cNvSpPr/>
            <p:nvPr/>
          </p:nvSpPr>
          <p:spPr>
            <a:xfrm>
              <a:off x="6358738" y="2194560"/>
              <a:ext cx="2331720" cy="960120"/>
            </a:xfrm>
            <a:prstGeom prst="rect">
              <a:avLst/>
            </a:prstGeom>
            <a:solidFill>
              <a:srgbClr val="F3F6F8"/>
            </a:solidFill>
            <a:ln w="12700">
              <a:solidFill>
                <a:srgbClr val="F3F6F8"/>
              </a:solidFill>
              <a:prstDash val="solid"/>
            </a:ln>
          </p:spPr>
          <p:txBody>
            <a:bodyPr/>
            <a:lstStyle/>
            <a:p>
              <a:endParaRPr lang="en-US"/>
            </a:p>
          </p:txBody>
        </p:sp>
        <p:sp>
          <p:nvSpPr>
            <p:cNvPr id="26" name="Text 20"/>
            <p:cNvSpPr txBox="1"/>
            <p:nvPr/>
          </p:nvSpPr>
          <p:spPr>
            <a:xfrm>
              <a:off x="6450178" y="2194560"/>
              <a:ext cx="2148840" cy="960120"/>
            </a:xfrm>
            <a:prstGeom prst="rect">
              <a:avLst/>
            </a:prstGeom>
            <a:noFill/>
            <a:ln/>
          </p:spPr>
          <p:txBody>
            <a:bodyPr wrap="square" lIns="0" tIns="0" rIns="0" bIns="0" rtlCol="0" anchor="ctr"/>
            <a:lstStyle/>
            <a:p>
              <a:pPr marL="0" indent="0">
                <a:buNone/>
              </a:pPr>
              <a:r>
                <a:rPr lang="en-US" sz="1250" b="1" dirty="0">
                  <a:solidFill>
                    <a:srgbClr val="FF0000"/>
                  </a:solidFill>
                  <a:latin typeface="Calibri" pitchFamily="34" charset="0"/>
                  <a:ea typeface="Calibri" pitchFamily="34" charset="-122"/>
                  <a:cs typeface="Calibri" pitchFamily="34" charset="-120"/>
                </a:rPr>
                <a:t>Đề tài: </a:t>
              </a:r>
              <a:r>
                <a:rPr lang="en-US" sz="1250" dirty="0" err="1">
                  <a:solidFill>
                    <a:srgbClr val="FF0000"/>
                  </a:solidFill>
                  <a:latin typeface="Calibri" pitchFamily="34" charset="0"/>
                  <a:ea typeface="Calibri" pitchFamily="34" charset="-122"/>
                  <a:cs typeface="Calibri" pitchFamily="34" charset="-120"/>
                </a:rPr>
                <a:t>Phát</a:t>
              </a:r>
              <a:r>
                <a:rPr lang="en-US" sz="1250" dirty="0">
                  <a:solidFill>
                    <a:srgbClr val="FF0000"/>
                  </a:solidFill>
                  <a:latin typeface="Calibri" pitchFamily="34" charset="0"/>
                  <a:ea typeface="Calibri" pitchFamily="34" charset="-122"/>
                  <a:cs typeface="Calibri" pitchFamily="34" charset="-120"/>
                </a:rPr>
                <a:t> </a:t>
              </a:r>
              <a:r>
                <a:rPr lang="en-US" sz="1250" dirty="0" err="1">
                  <a:solidFill>
                    <a:srgbClr val="FF0000"/>
                  </a:solidFill>
                  <a:latin typeface="Calibri" pitchFamily="34" charset="0"/>
                  <a:ea typeface="Calibri" pitchFamily="34" charset="-122"/>
                  <a:cs typeface="Calibri" pitchFamily="34" charset="-120"/>
                </a:rPr>
                <a:t>triển</a:t>
              </a:r>
              <a:r>
                <a:rPr lang="en-US" sz="1250" dirty="0">
                  <a:solidFill>
                    <a:srgbClr val="FF0000"/>
                  </a:solidFill>
                  <a:latin typeface="Calibri" pitchFamily="34" charset="0"/>
                  <a:ea typeface="Calibri" pitchFamily="34" charset="-122"/>
                  <a:cs typeface="Calibri" pitchFamily="34" charset="-120"/>
                </a:rPr>
                <a:t> RAG, tinh chỉnh, kết hợp trên kho giáo trình</a:t>
              </a:r>
              <a:endParaRPr lang="en-US" sz="1250" dirty="0">
                <a:solidFill>
                  <a:srgbClr val="FF0000"/>
                </a:solidFill>
              </a:endParaRPr>
            </a:p>
          </p:txBody>
        </p:sp>
        <p:sp>
          <p:nvSpPr>
            <p:cNvPr id="27" name="Shape 21"/>
            <p:cNvSpPr/>
            <p:nvPr/>
          </p:nvSpPr>
          <p:spPr>
            <a:xfrm>
              <a:off x="9035186" y="1143000"/>
              <a:ext cx="2697480" cy="2103120"/>
            </a:xfrm>
            <a:prstGeom prst="roundRect">
              <a:avLst>
                <a:gd name="adj" fmla="val 3478"/>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28" name="Shape 22"/>
            <p:cNvSpPr/>
            <p:nvPr/>
          </p:nvSpPr>
          <p:spPr>
            <a:xfrm>
              <a:off x="9218066" y="1325880"/>
              <a:ext cx="685800" cy="685800"/>
            </a:xfrm>
            <a:prstGeom prst="ellipse">
              <a:avLst/>
            </a:prstGeom>
            <a:solidFill>
              <a:srgbClr val="E08A2E"/>
            </a:solidFill>
            <a:ln w="12700">
              <a:solidFill>
                <a:srgbClr val="E08A2E"/>
              </a:solidFill>
              <a:prstDash val="solid"/>
            </a:ln>
          </p:spPr>
          <p:txBody>
            <a:bodyPr/>
            <a:lstStyle/>
            <a:p>
              <a:endParaRPr lang="en-US"/>
            </a:p>
          </p:txBody>
        </p:sp>
        <p:pic>
          <p:nvPicPr>
            <p:cNvPr id="29" name="Image 3" descr="preencoded.png"/>
            <p:cNvPicPr>
              <a:picLocks noChangeAspect="1"/>
            </p:cNvPicPr>
            <p:nvPr/>
          </p:nvPicPr>
          <p:blipFill>
            <a:blip r:embed="rId5"/>
            <a:stretch>
              <a:fillRect/>
            </a:stretch>
          </p:blipFill>
          <p:spPr>
            <a:xfrm>
              <a:off x="9382658" y="1490472"/>
              <a:ext cx="356616" cy="356616"/>
            </a:xfrm>
            <a:prstGeom prst="rect">
              <a:avLst/>
            </a:prstGeom>
          </p:spPr>
        </p:pic>
        <p:sp>
          <p:nvSpPr>
            <p:cNvPr id="30" name="Text 23"/>
            <p:cNvSpPr txBox="1"/>
            <p:nvPr/>
          </p:nvSpPr>
          <p:spPr>
            <a:xfrm>
              <a:off x="11229746" y="1252728"/>
              <a:ext cx="365760" cy="365760"/>
            </a:xfrm>
            <a:prstGeom prst="rect">
              <a:avLst/>
            </a:prstGeom>
            <a:noFill/>
            <a:ln/>
          </p:spPr>
          <p:txBody>
            <a:bodyPr wrap="square" lIns="0" tIns="0" rIns="0" bIns="0" rtlCol="0" anchor="t"/>
            <a:lstStyle/>
            <a:p>
              <a:pPr marL="0" indent="0" algn="r">
                <a:buNone/>
              </a:pPr>
              <a:r>
                <a:rPr lang="en-US" sz="1800" b="1" dirty="0">
                  <a:solidFill>
                    <a:srgbClr val="B8C4CC"/>
                  </a:solidFill>
                  <a:latin typeface="Cambria" pitchFamily="34" charset="0"/>
                  <a:ea typeface="Cambria" pitchFamily="34" charset="-122"/>
                  <a:cs typeface="Cambria" pitchFamily="34" charset="-120"/>
                </a:rPr>
                <a:t>4</a:t>
              </a:r>
              <a:endParaRPr lang="en-US" sz="1800" dirty="0"/>
            </a:p>
          </p:txBody>
        </p:sp>
        <p:sp>
          <p:nvSpPr>
            <p:cNvPr id="31" name="Text 24"/>
            <p:cNvSpPr txBox="1"/>
            <p:nvPr/>
          </p:nvSpPr>
          <p:spPr>
            <a:xfrm>
              <a:off x="9995306" y="1280160"/>
              <a:ext cx="1325880" cy="77724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Đa phương thức, Physical AI</a:t>
              </a:r>
              <a:endParaRPr lang="en-US" sz="1550" dirty="0"/>
            </a:p>
          </p:txBody>
        </p:sp>
        <p:sp>
          <p:nvSpPr>
            <p:cNvPr id="32" name="Shape 25"/>
            <p:cNvSpPr/>
            <p:nvPr/>
          </p:nvSpPr>
          <p:spPr>
            <a:xfrm>
              <a:off x="9218066" y="2194560"/>
              <a:ext cx="2331720" cy="960120"/>
            </a:xfrm>
            <a:prstGeom prst="rect">
              <a:avLst/>
            </a:prstGeom>
            <a:solidFill>
              <a:srgbClr val="F3F6F8"/>
            </a:solidFill>
            <a:ln w="12700">
              <a:solidFill>
                <a:srgbClr val="F3F6F8"/>
              </a:solidFill>
              <a:prstDash val="solid"/>
            </a:ln>
          </p:spPr>
          <p:txBody>
            <a:bodyPr/>
            <a:lstStyle/>
            <a:p>
              <a:endParaRPr lang="en-US"/>
            </a:p>
          </p:txBody>
        </p:sp>
        <p:sp>
          <p:nvSpPr>
            <p:cNvPr id="33" name="Text 26"/>
            <p:cNvSpPr txBox="1"/>
            <p:nvPr/>
          </p:nvSpPr>
          <p:spPr>
            <a:xfrm>
              <a:off x="9309506" y="2194560"/>
              <a:ext cx="2148840" cy="960120"/>
            </a:xfrm>
            <a:prstGeom prst="rect">
              <a:avLst/>
            </a:prstGeom>
            <a:noFill/>
            <a:ln/>
          </p:spPr>
          <p:txBody>
            <a:bodyPr wrap="square" lIns="0" tIns="0" rIns="0" bIns="0" rtlCol="0" anchor="ctr"/>
            <a:lstStyle/>
            <a:p>
              <a:pPr marL="0" indent="0">
                <a:buNone/>
              </a:pPr>
              <a:r>
                <a:rPr lang="en-US" sz="1250" b="1" dirty="0">
                  <a:solidFill>
                    <a:srgbClr val="FF0000"/>
                  </a:solidFill>
                  <a:latin typeface="Calibri" pitchFamily="34" charset="0"/>
                  <a:ea typeface="Calibri" pitchFamily="34" charset="-122"/>
                  <a:cs typeface="Calibri" pitchFamily="34" charset="-120"/>
                </a:rPr>
                <a:t>Đề tài: </a:t>
              </a:r>
              <a:r>
                <a:rPr lang="en-US" sz="1250" dirty="0">
                  <a:solidFill>
                    <a:srgbClr val="FF0000"/>
                  </a:solidFill>
                  <a:latin typeface="Calibri" pitchFamily="34" charset="0"/>
                  <a:ea typeface="Calibri" pitchFamily="34" charset="-122"/>
                  <a:cs typeface="Calibri" pitchFamily="34" charset="-120"/>
                </a:rPr>
                <a:t>camera + cảm biến phát hiện bất thường</a:t>
              </a:r>
              <a:endParaRPr lang="en-US" sz="1250" dirty="0">
                <a:solidFill>
                  <a:srgbClr val="FF0000"/>
                </a:solidFill>
              </a:endParaRPr>
            </a:p>
          </p:txBody>
        </p:sp>
        <p:sp>
          <p:nvSpPr>
            <p:cNvPr id="34" name="Shape 27"/>
            <p:cNvSpPr/>
            <p:nvPr/>
          </p:nvSpPr>
          <p:spPr>
            <a:xfrm>
              <a:off x="457200" y="3429000"/>
              <a:ext cx="3611880" cy="2103120"/>
            </a:xfrm>
            <a:prstGeom prst="roundRect">
              <a:avLst>
                <a:gd name="adj" fmla="val 3478"/>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35" name="Shape 28"/>
            <p:cNvSpPr/>
            <p:nvPr/>
          </p:nvSpPr>
          <p:spPr>
            <a:xfrm>
              <a:off x="640080" y="3611880"/>
              <a:ext cx="685800" cy="685800"/>
            </a:xfrm>
            <a:prstGeom prst="ellipse">
              <a:avLst/>
            </a:prstGeom>
            <a:solidFill>
              <a:srgbClr val="E08A2E"/>
            </a:solidFill>
            <a:ln w="12700">
              <a:solidFill>
                <a:srgbClr val="E08A2E"/>
              </a:solidFill>
              <a:prstDash val="solid"/>
            </a:ln>
          </p:spPr>
          <p:txBody>
            <a:bodyPr/>
            <a:lstStyle/>
            <a:p>
              <a:endParaRPr lang="en-US"/>
            </a:p>
          </p:txBody>
        </p:sp>
        <p:pic>
          <p:nvPicPr>
            <p:cNvPr id="36" name="Image 4" descr="preencoded.png"/>
            <p:cNvPicPr>
              <a:picLocks noChangeAspect="1"/>
            </p:cNvPicPr>
            <p:nvPr/>
          </p:nvPicPr>
          <p:blipFill>
            <a:blip r:embed="rId6"/>
            <a:stretch>
              <a:fillRect/>
            </a:stretch>
          </p:blipFill>
          <p:spPr>
            <a:xfrm>
              <a:off x="804672" y="3776472"/>
              <a:ext cx="356616" cy="356616"/>
            </a:xfrm>
            <a:prstGeom prst="rect">
              <a:avLst/>
            </a:prstGeom>
          </p:spPr>
        </p:pic>
        <p:sp>
          <p:nvSpPr>
            <p:cNvPr id="37" name="Text 29"/>
            <p:cNvSpPr txBox="1"/>
            <p:nvPr/>
          </p:nvSpPr>
          <p:spPr>
            <a:xfrm>
              <a:off x="3566160" y="3538728"/>
              <a:ext cx="365760" cy="365760"/>
            </a:xfrm>
            <a:prstGeom prst="rect">
              <a:avLst/>
            </a:prstGeom>
            <a:noFill/>
            <a:ln/>
          </p:spPr>
          <p:txBody>
            <a:bodyPr wrap="square" lIns="0" tIns="0" rIns="0" bIns="0" rtlCol="0" anchor="t"/>
            <a:lstStyle/>
            <a:p>
              <a:pPr marL="0" indent="0" algn="r">
                <a:buNone/>
              </a:pPr>
              <a:r>
                <a:rPr lang="en-US" sz="1800" b="1" dirty="0">
                  <a:solidFill>
                    <a:srgbClr val="B8C4CC"/>
                  </a:solidFill>
                  <a:latin typeface="Cambria" pitchFamily="34" charset="0"/>
                  <a:ea typeface="Cambria" pitchFamily="34" charset="-122"/>
                  <a:cs typeface="Cambria" pitchFamily="34" charset="-120"/>
                </a:rPr>
                <a:t>5</a:t>
              </a:r>
              <a:endParaRPr lang="en-US" sz="1800" dirty="0"/>
            </a:p>
          </p:txBody>
        </p:sp>
        <p:sp>
          <p:nvSpPr>
            <p:cNvPr id="38" name="Text 30"/>
            <p:cNvSpPr txBox="1"/>
            <p:nvPr/>
          </p:nvSpPr>
          <p:spPr>
            <a:xfrm>
              <a:off x="1417320" y="3566160"/>
              <a:ext cx="2240280" cy="77724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AI cho khoa học, mô hình lai</a:t>
              </a:r>
              <a:endParaRPr lang="en-US" sz="1550" dirty="0"/>
            </a:p>
          </p:txBody>
        </p:sp>
        <p:sp>
          <p:nvSpPr>
            <p:cNvPr id="39" name="Shape 31"/>
            <p:cNvSpPr/>
            <p:nvPr/>
          </p:nvSpPr>
          <p:spPr>
            <a:xfrm>
              <a:off x="640080" y="4480560"/>
              <a:ext cx="3246120" cy="960120"/>
            </a:xfrm>
            <a:prstGeom prst="rect">
              <a:avLst/>
            </a:prstGeom>
            <a:solidFill>
              <a:srgbClr val="F3F6F8"/>
            </a:solidFill>
            <a:ln w="12700">
              <a:solidFill>
                <a:srgbClr val="F3F6F8"/>
              </a:solidFill>
              <a:prstDash val="solid"/>
            </a:ln>
          </p:spPr>
          <p:txBody>
            <a:bodyPr/>
            <a:lstStyle/>
            <a:p>
              <a:endParaRPr lang="en-US"/>
            </a:p>
          </p:txBody>
        </p:sp>
        <p:sp>
          <p:nvSpPr>
            <p:cNvPr id="40" name="Text 32"/>
            <p:cNvSpPr txBox="1"/>
            <p:nvPr/>
          </p:nvSpPr>
          <p:spPr>
            <a:xfrm>
              <a:off x="731520" y="4480560"/>
              <a:ext cx="3063240" cy="960120"/>
            </a:xfrm>
            <a:prstGeom prst="rect">
              <a:avLst/>
            </a:prstGeom>
            <a:noFill/>
            <a:ln/>
          </p:spPr>
          <p:txBody>
            <a:bodyPr wrap="square" lIns="0" tIns="0" rIns="0" bIns="0" rtlCol="0" anchor="ctr"/>
            <a:lstStyle/>
            <a:p>
              <a:pPr marL="0" indent="0">
                <a:buNone/>
              </a:pPr>
              <a:r>
                <a:rPr lang="en-US" sz="1250" b="1" dirty="0">
                  <a:solidFill>
                    <a:srgbClr val="FF0000"/>
                  </a:solidFill>
                  <a:latin typeface="Calibri" pitchFamily="34" charset="0"/>
                  <a:ea typeface="Calibri" pitchFamily="34" charset="-122"/>
                  <a:cs typeface="Calibri" pitchFamily="34" charset="-120"/>
                </a:rPr>
                <a:t>Đề tài: </a:t>
              </a:r>
              <a:r>
                <a:rPr lang="en-US" sz="1250" dirty="0" err="1">
                  <a:solidFill>
                    <a:srgbClr val="FF0000"/>
                  </a:solidFill>
                  <a:latin typeface="Calibri" pitchFamily="34" charset="0"/>
                  <a:ea typeface="Calibri" pitchFamily="34" charset="-122"/>
                  <a:cs typeface="Calibri" pitchFamily="34" charset="-120"/>
                </a:rPr>
                <a:t>Nghiên</a:t>
              </a:r>
              <a:r>
                <a:rPr lang="en-US" sz="1250" dirty="0">
                  <a:solidFill>
                    <a:srgbClr val="FF0000"/>
                  </a:solidFill>
                  <a:latin typeface="Calibri" pitchFamily="34" charset="0"/>
                  <a:ea typeface="Calibri" pitchFamily="34" charset="-122"/>
                  <a:cs typeface="Calibri" pitchFamily="34" charset="-120"/>
                </a:rPr>
                <a:t> </a:t>
              </a:r>
              <a:r>
                <a:rPr lang="en-US" sz="1250" dirty="0" err="1">
                  <a:solidFill>
                    <a:srgbClr val="FF0000"/>
                  </a:solidFill>
                  <a:latin typeface="Calibri" pitchFamily="34" charset="0"/>
                  <a:ea typeface="Calibri" pitchFamily="34" charset="-122"/>
                  <a:cs typeface="Calibri" pitchFamily="34" charset="-120"/>
                </a:rPr>
                <a:t>cứu</a:t>
              </a:r>
              <a:r>
                <a:rPr lang="en-US" sz="1250" dirty="0">
                  <a:solidFill>
                    <a:srgbClr val="FF0000"/>
                  </a:solidFill>
                  <a:latin typeface="Calibri" pitchFamily="34" charset="0"/>
                  <a:ea typeface="Calibri" pitchFamily="34" charset="-122"/>
                  <a:cs typeface="Calibri" pitchFamily="34" charset="-120"/>
                </a:rPr>
                <a:t> </a:t>
              </a:r>
              <a:r>
                <a:rPr lang="en-US" sz="1250" dirty="0" err="1">
                  <a:solidFill>
                    <a:srgbClr val="FF0000"/>
                  </a:solidFill>
                  <a:latin typeface="Calibri" pitchFamily="34" charset="0"/>
                  <a:ea typeface="Calibri" pitchFamily="34" charset="-122"/>
                  <a:cs typeface="Calibri" pitchFamily="34" charset="-120"/>
                </a:rPr>
                <a:t>hệ</a:t>
              </a:r>
              <a:r>
                <a:rPr lang="en-US" sz="1250" dirty="0">
                  <a:solidFill>
                    <a:srgbClr val="FF0000"/>
                  </a:solidFill>
                  <a:latin typeface="Calibri" pitchFamily="34" charset="0"/>
                  <a:ea typeface="Calibri" pitchFamily="34" charset="-122"/>
                  <a:cs typeface="Calibri" pitchFamily="34" charset="-120"/>
                </a:rPr>
                <a:t> </a:t>
              </a:r>
              <a:r>
                <a:rPr lang="en-US" sz="1250" dirty="0" err="1">
                  <a:solidFill>
                    <a:srgbClr val="FF0000"/>
                  </a:solidFill>
                  <a:latin typeface="Calibri" pitchFamily="34" charset="0"/>
                  <a:ea typeface="Calibri" pitchFamily="34" charset="-122"/>
                  <a:cs typeface="Calibri" pitchFamily="34" charset="-120"/>
                </a:rPr>
                <a:t>học</a:t>
              </a:r>
              <a:r>
                <a:rPr lang="en-US" sz="1250" dirty="0">
                  <a:solidFill>
                    <a:srgbClr val="FF0000"/>
                  </a:solidFill>
                  <a:latin typeface="Calibri" pitchFamily="34" charset="0"/>
                  <a:ea typeface="Calibri" pitchFamily="34" charset="-122"/>
                  <a:cs typeface="Calibri" pitchFamily="34" charset="-120"/>
                </a:rPr>
                <a:t> </a:t>
              </a:r>
              <a:r>
                <a:rPr lang="en-US" sz="1250" dirty="0" err="1">
                  <a:solidFill>
                    <a:srgbClr val="FF0000"/>
                  </a:solidFill>
                  <a:latin typeface="Calibri" pitchFamily="34" charset="0"/>
                  <a:ea typeface="Calibri" pitchFamily="34" charset="-122"/>
                  <a:cs typeface="Calibri" pitchFamily="34" charset="-120"/>
                </a:rPr>
                <a:t>máy</a:t>
              </a:r>
              <a:r>
                <a:rPr lang="en-US" sz="1250" dirty="0">
                  <a:solidFill>
                    <a:srgbClr val="FF0000"/>
                  </a:solidFill>
                  <a:latin typeface="Calibri" pitchFamily="34" charset="0"/>
                  <a:ea typeface="Calibri" pitchFamily="34" charset="-122"/>
                  <a:cs typeface="Calibri" pitchFamily="34" charset="-120"/>
                </a:rPr>
                <a:t> lai: nhà kính, giảng đường</a:t>
              </a:r>
              <a:endParaRPr lang="en-US" sz="1250" dirty="0">
                <a:solidFill>
                  <a:srgbClr val="FF0000"/>
                </a:solidFill>
              </a:endParaRPr>
            </a:p>
          </p:txBody>
        </p:sp>
        <p:sp>
          <p:nvSpPr>
            <p:cNvPr id="41" name="Shape 33"/>
            <p:cNvSpPr/>
            <p:nvPr/>
          </p:nvSpPr>
          <p:spPr>
            <a:xfrm>
              <a:off x="4288536" y="3429000"/>
              <a:ext cx="3611880" cy="2103120"/>
            </a:xfrm>
            <a:prstGeom prst="roundRect">
              <a:avLst>
                <a:gd name="adj" fmla="val 3478"/>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42" name="Shape 34"/>
            <p:cNvSpPr/>
            <p:nvPr/>
          </p:nvSpPr>
          <p:spPr>
            <a:xfrm>
              <a:off x="4471416" y="3611880"/>
              <a:ext cx="685800" cy="685800"/>
            </a:xfrm>
            <a:prstGeom prst="ellipse">
              <a:avLst/>
            </a:prstGeom>
            <a:solidFill>
              <a:srgbClr val="E08A2E"/>
            </a:solidFill>
            <a:ln w="12700">
              <a:solidFill>
                <a:srgbClr val="E08A2E"/>
              </a:solidFill>
              <a:prstDash val="solid"/>
            </a:ln>
          </p:spPr>
          <p:txBody>
            <a:bodyPr/>
            <a:lstStyle/>
            <a:p>
              <a:endParaRPr lang="en-US"/>
            </a:p>
          </p:txBody>
        </p:sp>
        <p:pic>
          <p:nvPicPr>
            <p:cNvPr id="43" name="Image 5" descr="preencoded.png"/>
            <p:cNvPicPr>
              <a:picLocks noChangeAspect="1"/>
            </p:cNvPicPr>
            <p:nvPr/>
          </p:nvPicPr>
          <p:blipFill>
            <a:blip r:embed="rId7"/>
            <a:stretch>
              <a:fillRect/>
            </a:stretch>
          </p:blipFill>
          <p:spPr>
            <a:xfrm>
              <a:off x="4636008" y="3776472"/>
              <a:ext cx="356616" cy="356616"/>
            </a:xfrm>
            <a:prstGeom prst="rect">
              <a:avLst/>
            </a:prstGeom>
          </p:spPr>
        </p:pic>
        <p:sp>
          <p:nvSpPr>
            <p:cNvPr id="44" name="Text 35"/>
            <p:cNvSpPr txBox="1"/>
            <p:nvPr/>
          </p:nvSpPr>
          <p:spPr>
            <a:xfrm>
              <a:off x="7397496" y="3538728"/>
              <a:ext cx="365760" cy="365760"/>
            </a:xfrm>
            <a:prstGeom prst="rect">
              <a:avLst/>
            </a:prstGeom>
            <a:noFill/>
            <a:ln/>
          </p:spPr>
          <p:txBody>
            <a:bodyPr wrap="square" lIns="0" tIns="0" rIns="0" bIns="0" rtlCol="0" anchor="t"/>
            <a:lstStyle/>
            <a:p>
              <a:pPr marL="0" indent="0" algn="r">
                <a:buNone/>
              </a:pPr>
              <a:r>
                <a:rPr lang="en-US" sz="1800" b="1" dirty="0">
                  <a:solidFill>
                    <a:srgbClr val="B8C4CC"/>
                  </a:solidFill>
                  <a:latin typeface="Cambria" pitchFamily="34" charset="0"/>
                  <a:ea typeface="Cambria" pitchFamily="34" charset="-122"/>
                  <a:cs typeface="Cambria" pitchFamily="34" charset="-120"/>
                </a:rPr>
                <a:t>6</a:t>
              </a:r>
              <a:endParaRPr lang="en-US" sz="1800" dirty="0"/>
            </a:p>
          </p:txBody>
        </p:sp>
        <p:sp>
          <p:nvSpPr>
            <p:cNvPr id="45" name="Text 36"/>
            <p:cNvSpPr txBox="1"/>
            <p:nvPr/>
          </p:nvSpPr>
          <p:spPr>
            <a:xfrm>
              <a:off x="5248656" y="3566160"/>
              <a:ext cx="2240280" cy="77724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AI tin cậy, có trách nhiệm</a:t>
              </a:r>
              <a:endParaRPr lang="en-US" sz="1550" dirty="0"/>
            </a:p>
          </p:txBody>
        </p:sp>
        <p:sp>
          <p:nvSpPr>
            <p:cNvPr id="46" name="Shape 37"/>
            <p:cNvSpPr/>
            <p:nvPr/>
          </p:nvSpPr>
          <p:spPr>
            <a:xfrm>
              <a:off x="4471416" y="4480560"/>
              <a:ext cx="3246120" cy="960120"/>
            </a:xfrm>
            <a:prstGeom prst="rect">
              <a:avLst/>
            </a:prstGeom>
            <a:solidFill>
              <a:srgbClr val="F3F6F8"/>
            </a:solidFill>
            <a:ln w="12700">
              <a:solidFill>
                <a:srgbClr val="F3F6F8"/>
              </a:solidFill>
              <a:prstDash val="solid"/>
            </a:ln>
          </p:spPr>
          <p:txBody>
            <a:bodyPr/>
            <a:lstStyle/>
            <a:p>
              <a:endParaRPr lang="en-US"/>
            </a:p>
          </p:txBody>
        </p:sp>
        <p:sp>
          <p:nvSpPr>
            <p:cNvPr id="47" name="Text 38"/>
            <p:cNvSpPr txBox="1"/>
            <p:nvPr/>
          </p:nvSpPr>
          <p:spPr>
            <a:xfrm>
              <a:off x="4562856" y="4480560"/>
              <a:ext cx="3063240" cy="960120"/>
            </a:xfrm>
            <a:prstGeom prst="rect">
              <a:avLst/>
            </a:prstGeom>
            <a:noFill/>
            <a:ln/>
          </p:spPr>
          <p:txBody>
            <a:bodyPr wrap="square" lIns="0" tIns="0" rIns="0" bIns="0" rtlCol="0" anchor="ctr"/>
            <a:lstStyle/>
            <a:p>
              <a:pPr marL="0" indent="0">
                <a:buNone/>
              </a:pPr>
              <a:r>
                <a:rPr lang="en-US" sz="1250" b="1" dirty="0">
                  <a:solidFill>
                    <a:srgbClr val="FF0000"/>
                  </a:solidFill>
                  <a:latin typeface="Calibri" pitchFamily="34" charset="0"/>
                  <a:ea typeface="Calibri" pitchFamily="34" charset="-122"/>
                  <a:cs typeface="Calibri" pitchFamily="34" charset="-120"/>
                </a:rPr>
                <a:t>Đề tài: </a:t>
              </a:r>
              <a:r>
                <a:rPr lang="en-US" sz="1250" dirty="0">
                  <a:solidFill>
                    <a:srgbClr val="FF0000"/>
                  </a:solidFill>
                  <a:latin typeface="Calibri" pitchFamily="34" charset="0"/>
                  <a:ea typeface="Calibri" pitchFamily="34" charset="-122"/>
                  <a:cs typeface="Calibri" pitchFamily="34" charset="-120"/>
                </a:rPr>
                <a:t>quy trình đánh giá AI chấm bài, trợ lý học tập</a:t>
              </a:r>
              <a:endParaRPr lang="en-US" sz="1250" dirty="0">
                <a:solidFill>
                  <a:srgbClr val="FF0000"/>
                </a:solidFill>
              </a:endParaRPr>
            </a:p>
          </p:txBody>
        </p:sp>
        <p:sp>
          <p:nvSpPr>
            <p:cNvPr id="48" name="Shape 39"/>
            <p:cNvSpPr/>
            <p:nvPr/>
          </p:nvSpPr>
          <p:spPr>
            <a:xfrm>
              <a:off x="8119872" y="3429000"/>
              <a:ext cx="3611880" cy="2103120"/>
            </a:xfrm>
            <a:prstGeom prst="roundRect">
              <a:avLst>
                <a:gd name="adj" fmla="val 3478"/>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49" name="Shape 40"/>
            <p:cNvSpPr/>
            <p:nvPr/>
          </p:nvSpPr>
          <p:spPr>
            <a:xfrm>
              <a:off x="8302752" y="3611880"/>
              <a:ext cx="685800" cy="685800"/>
            </a:xfrm>
            <a:prstGeom prst="ellipse">
              <a:avLst/>
            </a:prstGeom>
            <a:solidFill>
              <a:srgbClr val="4B4B9C"/>
            </a:solidFill>
            <a:ln w="12700">
              <a:solidFill>
                <a:srgbClr val="4B4B9C"/>
              </a:solidFill>
              <a:prstDash val="solid"/>
            </a:ln>
          </p:spPr>
          <p:txBody>
            <a:bodyPr/>
            <a:lstStyle/>
            <a:p>
              <a:endParaRPr lang="en-US"/>
            </a:p>
          </p:txBody>
        </p:sp>
        <p:pic>
          <p:nvPicPr>
            <p:cNvPr id="50" name="Image 6" descr="preencoded.png"/>
            <p:cNvPicPr>
              <a:picLocks noChangeAspect="1"/>
            </p:cNvPicPr>
            <p:nvPr/>
          </p:nvPicPr>
          <p:blipFill>
            <a:blip r:embed="rId8"/>
            <a:stretch>
              <a:fillRect/>
            </a:stretch>
          </p:blipFill>
          <p:spPr>
            <a:xfrm>
              <a:off x="8467344" y="3776472"/>
              <a:ext cx="356616" cy="356616"/>
            </a:xfrm>
            <a:prstGeom prst="rect">
              <a:avLst/>
            </a:prstGeom>
          </p:spPr>
        </p:pic>
        <p:sp>
          <p:nvSpPr>
            <p:cNvPr id="51" name="Text 41"/>
            <p:cNvSpPr txBox="1"/>
            <p:nvPr/>
          </p:nvSpPr>
          <p:spPr>
            <a:xfrm>
              <a:off x="11228832" y="3538728"/>
              <a:ext cx="365760" cy="365760"/>
            </a:xfrm>
            <a:prstGeom prst="rect">
              <a:avLst/>
            </a:prstGeom>
            <a:noFill/>
            <a:ln/>
          </p:spPr>
          <p:txBody>
            <a:bodyPr wrap="square" lIns="0" tIns="0" rIns="0" bIns="0" rtlCol="0" anchor="t"/>
            <a:lstStyle/>
            <a:p>
              <a:pPr marL="0" indent="0" algn="r">
                <a:buNone/>
              </a:pPr>
              <a:r>
                <a:rPr lang="en-US" sz="1800" b="1" dirty="0">
                  <a:solidFill>
                    <a:srgbClr val="B8C4CC"/>
                  </a:solidFill>
                  <a:latin typeface="Cambria" pitchFamily="34" charset="0"/>
                  <a:ea typeface="Cambria" pitchFamily="34" charset="-122"/>
                  <a:cs typeface="Cambria" pitchFamily="34" charset="-120"/>
                </a:rPr>
                <a:t>7</a:t>
              </a:r>
              <a:endParaRPr lang="en-US" sz="1800" dirty="0"/>
            </a:p>
          </p:txBody>
        </p:sp>
        <p:sp>
          <p:nvSpPr>
            <p:cNvPr id="52" name="Text 42"/>
            <p:cNvSpPr txBox="1"/>
            <p:nvPr/>
          </p:nvSpPr>
          <p:spPr>
            <a:xfrm>
              <a:off x="9079992" y="3566160"/>
              <a:ext cx="2240280" cy="777240"/>
            </a:xfrm>
            <a:prstGeom prst="rect">
              <a:avLst/>
            </a:prstGeom>
            <a:noFill/>
            <a:ln/>
          </p:spPr>
          <p:txBody>
            <a:bodyPr wrap="square" lIns="0" tIns="0" rIns="0" bIns="0" rtlCol="0" anchor="ctr"/>
            <a:lstStyle/>
            <a:p>
              <a:pPr marL="0" indent="0">
                <a:buNone/>
              </a:pPr>
              <a:r>
                <a:rPr lang="en-US" sz="1550" b="1" dirty="0">
                  <a:solidFill>
                    <a:srgbClr val="13293D"/>
                  </a:solidFill>
                  <a:latin typeface="Calibri" pitchFamily="34" charset="0"/>
                  <a:ea typeface="Calibri" pitchFamily="34" charset="-122"/>
                  <a:cs typeface="Calibri" pitchFamily="34" charset="-120"/>
                </a:rPr>
                <a:t>AI tại biên, đồng thiết kế</a:t>
              </a:r>
              <a:endParaRPr lang="en-US" sz="1550" dirty="0"/>
            </a:p>
          </p:txBody>
        </p:sp>
        <p:sp>
          <p:nvSpPr>
            <p:cNvPr id="53" name="Shape 43"/>
            <p:cNvSpPr/>
            <p:nvPr/>
          </p:nvSpPr>
          <p:spPr>
            <a:xfrm>
              <a:off x="8302752" y="4480560"/>
              <a:ext cx="3246120" cy="960120"/>
            </a:xfrm>
            <a:prstGeom prst="rect">
              <a:avLst/>
            </a:prstGeom>
            <a:solidFill>
              <a:srgbClr val="F3F6F8"/>
            </a:solidFill>
            <a:ln w="12700">
              <a:solidFill>
                <a:srgbClr val="F3F6F8"/>
              </a:solidFill>
              <a:prstDash val="solid"/>
            </a:ln>
          </p:spPr>
          <p:txBody>
            <a:bodyPr/>
            <a:lstStyle/>
            <a:p>
              <a:endParaRPr lang="en-US"/>
            </a:p>
          </p:txBody>
        </p:sp>
        <p:sp>
          <p:nvSpPr>
            <p:cNvPr id="54" name="Text 44"/>
            <p:cNvSpPr txBox="1"/>
            <p:nvPr/>
          </p:nvSpPr>
          <p:spPr>
            <a:xfrm>
              <a:off x="8394192" y="4480560"/>
              <a:ext cx="3063240" cy="960120"/>
            </a:xfrm>
            <a:prstGeom prst="rect">
              <a:avLst/>
            </a:prstGeom>
            <a:noFill/>
            <a:ln/>
          </p:spPr>
          <p:txBody>
            <a:bodyPr wrap="square" lIns="0" tIns="0" rIns="0" bIns="0" rtlCol="0" anchor="ctr"/>
            <a:lstStyle/>
            <a:p>
              <a:pPr marL="0" indent="0">
                <a:buNone/>
              </a:pPr>
              <a:r>
                <a:rPr lang="en-US" sz="1250" b="1" dirty="0">
                  <a:solidFill>
                    <a:srgbClr val="FF0000"/>
                  </a:solidFill>
                  <a:latin typeface="Calibri" pitchFamily="34" charset="0"/>
                  <a:ea typeface="Calibri" pitchFamily="34" charset="-122"/>
                  <a:cs typeface="Calibri" pitchFamily="34" charset="-120"/>
                </a:rPr>
                <a:t>Đề tài: </a:t>
              </a:r>
              <a:r>
                <a:rPr lang="en-US" sz="1250" dirty="0">
                  <a:solidFill>
                    <a:srgbClr val="FF0000"/>
                  </a:solidFill>
                  <a:latin typeface="Calibri" pitchFamily="34" charset="0"/>
                  <a:ea typeface="Calibri" pitchFamily="34" charset="-122"/>
                  <a:cs typeface="Calibri" pitchFamily="34" charset="-120"/>
                </a:rPr>
                <a:t>AI </a:t>
              </a:r>
              <a:r>
                <a:rPr lang="en-US" sz="1250" dirty="0" err="1">
                  <a:solidFill>
                    <a:srgbClr val="FF0000"/>
                  </a:solidFill>
                  <a:latin typeface="Calibri" pitchFamily="34" charset="0"/>
                  <a:ea typeface="Calibri" pitchFamily="34" charset="-122"/>
                  <a:cs typeface="Calibri" pitchFamily="34" charset="-120"/>
                </a:rPr>
                <a:t>giới</a:t>
              </a:r>
              <a:r>
                <a:rPr lang="en-US" sz="1250" dirty="0">
                  <a:solidFill>
                    <a:srgbClr val="FF0000"/>
                  </a:solidFill>
                  <a:latin typeface="Calibri" pitchFamily="34" charset="0"/>
                  <a:ea typeface="Calibri" pitchFamily="34" charset="-122"/>
                  <a:cs typeface="Calibri" pitchFamily="34" charset="-120"/>
                </a:rPr>
                <a:t> hạn bộ nhớ, độ trễ, điện năng; mô hình nén</a:t>
              </a:r>
              <a:endParaRPr lang="en-US" sz="1250" dirty="0">
                <a:solidFill>
                  <a:srgbClr val="FF0000"/>
                </a:solidFill>
              </a:endParaRPr>
            </a:p>
          </p:txBody>
        </p:sp>
        <p:sp>
          <p:nvSpPr>
            <p:cNvPr id="55" name="Shape 45"/>
            <p:cNvSpPr/>
            <p:nvPr/>
          </p:nvSpPr>
          <p:spPr>
            <a:xfrm>
              <a:off x="457200" y="5669280"/>
              <a:ext cx="11274552" cy="457200"/>
            </a:xfrm>
            <a:prstGeom prst="roundRect">
              <a:avLst>
                <a:gd name="adj" fmla="val 50000"/>
              </a:avLst>
            </a:prstGeom>
            <a:solidFill>
              <a:srgbClr val="FBEAEA"/>
            </a:solidFill>
            <a:ln w="12700">
              <a:solidFill>
                <a:srgbClr val="F1CACA"/>
              </a:solidFill>
              <a:prstDash val="solid"/>
            </a:ln>
          </p:spPr>
          <p:txBody>
            <a:bodyPr/>
            <a:lstStyle/>
            <a:p>
              <a:endParaRPr lang="en-US"/>
            </a:p>
          </p:txBody>
        </p:sp>
        <p:sp>
          <p:nvSpPr>
            <p:cNvPr id="56" name="Text 46"/>
            <p:cNvSpPr txBox="1"/>
            <p:nvPr/>
          </p:nvSpPr>
          <p:spPr>
            <a:xfrm>
              <a:off x="640080" y="5669280"/>
              <a:ext cx="10908792" cy="457200"/>
            </a:xfrm>
            <a:prstGeom prst="rect">
              <a:avLst/>
            </a:prstGeom>
            <a:noFill/>
            <a:ln/>
          </p:spPr>
          <p:txBody>
            <a:bodyPr wrap="square" lIns="0" tIns="0" rIns="0" bIns="0" rtlCol="0" anchor="ctr"/>
            <a:lstStyle/>
            <a:p>
              <a:pPr marL="0" indent="0" algn="ctr">
                <a:buNone/>
              </a:pPr>
              <a:r>
                <a:rPr lang="en-US" sz="1700" b="1" dirty="0">
                  <a:solidFill>
                    <a:srgbClr val="A80000"/>
                  </a:solidFill>
                  <a:latin typeface="Calibri" pitchFamily="34" charset="0"/>
                  <a:ea typeface="Calibri" pitchFamily="34" charset="-122"/>
                  <a:cs typeface="Calibri" pitchFamily="34" charset="-120"/>
                </a:rPr>
                <a:t>Chung cho mọi hướng: </a:t>
              </a:r>
              <a:r>
                <a:rPr lang="en-US" sz="1700" dirty="0">
                  <a:solidFill>
                    <a:srgbClr val="1E2A32"/>
                  </a:solidFill>
                  <a:latin typeface="Calibri" pitchFamily="34" charset="0"/>
                  <a:ea typeface="Calibri" pitchFamily="34" charset="-122"/>
                  <a:cs typeface="Calibri" pitchFamily="34" charset="-120"/>
                </a:rPr>
                <a:t>câu hỏi kiểm chứng được · dữ liệu hợp pháp · đối chứng phù hợp · đo cả chi phí</a:t>
              </a:r>
              <a:endParaRPr lang="en-US" sz="17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FA830-ABDF-A234-B610-BF1208C56AC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F34503D-7BEE-6424-8F3F-6A7DBF9D7934}"/>
              </a:ext>
            </a:extLst>
          </p:cNvPr>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Bảy hướng nghiên cứu ưu tiên từ năm 2026</a:t>
            </a:r>
            <a:endParaRPr lang="en-US" sz="2800" dirty="0"/>
          </a:p>
        </p:txBody>
      </p:sp>
      <p:sp>
        <p:nvSpPr>
          <p:cNvPr id="3" name="Shape 1">
            <a:extLst>
              <a:ext uri="{FF2B5EF4-FFF2-40B4-BE49-F238E27FC236}">
                <a16:creationId xmlns:a16="http://schemas.microsoft.com/office/drawing/2014/main" id="{6AEAC390-F053-F730-7DD5-6409FB4AF5EF}"/>
              </a:ext>
            </a:extLst>
          </p:cNvPr>
          <p:cNvSpPr/>
          <p:nvPr/>
        </p:nvSpPr>
        <p:spPr>
          <a:xfrm>
            <a:off x="457200" y="6510528"/>
            <a:ext cx="128016" cy="128016"/>
          </a:xfrm>
          <a:prstGeom prst="ellipse">
            <a:avLst/>
          </a:prstGeom>
          <a:solidFill>
            <a:srgbClr val="1F6F8B"/>
          </a:solidFill>
          <a:ln w="12700">
            <a:solidFill>
              <a:srgbClr val="1F6F8B"/>
            </a:solidFill>
            <a:prstDash val="solid"/>
          </a:ln>
        </p:spPr>
        <p:txBody>
          <a:bodyPr/>
          <a:lstStyle/>
          <a:p>
            <a:endParaRPr lang="en-US"/>
          </a:p>
        </p:txBody>
      </p:sp>
      <p:sp>
        <p:nvSpPr>
          <p:cNvPr id="4" name="Text 2">
            <a:extLst>
              <a:ext uri="{FF2B5EF4-FFF2-40B4-BE49-F238E27FC236}">
                <a16:creationId xmlns:a16="http://schemas.microsoft.com/office/drawing/2014/main" id="{DDAFB453-894C-465F-7619-B02F4E1F20EB}"/>
              </a:ext>
            </a:extLst>
          </p:cNvPr>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1F6F8B"/>
                </a:solidFill>
                <a:latin typeface="Calibri" pitchFamily="34" charset="0"/>
                <a:ea typeface="Calibri" pitchFamily="34" charset="-122"/>
                <a:cs typeface="Calibri" pitchFamily="34" charset="-120"/>
              </a:rPr>
              <a:t>2 · HƯỚNG ƯU TIÊN</a:t>
            </a:r>
            <a:endParaRPr lang="en-US" sz="1100" dirty="0"/>
          </a:p>
        </p:txBody>
      </p:sp>
      <p:sp>
        <p:nvSpPr>
          <p:cNvPr id="5" name="Slide Number Placeholder 0">
            <a:extLst>
              <a:ext uri="{FF2B5EF4-FFF2-40B4-BE49-F238E27FC236}">
                <a16:creationId xmlns:a16="http://schemas.microsoft.com/office/drawing/2014/main" id="{6AD1E71D-D187-436C-FCFE-3A9CCBC0FDD4}"/>
              </a:ext>
            </a:extLst>
          </p:cNvPr>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11</a:t>
            </a:fld>
            <a:endParaRPr lang="en-US"/>
          </a:p>
        </p:txBody>
      </p:sp>
      <p:pic>
        <p:nvPicPr>
          <p:cNvPr id="59" name="Picture 58">
            <a:extLst>
              <a:ext uri="{FF2B5EF4-FFF2-40B4-BE49-F238E27FC236}">
                <a16:creationId xmlns:a16="http://schemas.microsoft.com/office/drawing/2014/main" id="{9BF8EC92-732C-453B-C67A-A49781349F61}"/>
              </a:ext>
            </a:extLst>
          </p:cNvPr>
          <p:cNvPicPr>
            <a:picLocks noChangeAspect="1"/>
          </p:cNvPicPr>
          <p:nvPr/>
        </p:nvPicPr>
        <p:blipFill>
          <a:blip r:embed="rId2"/>
          <a:stretch>
            <a:fillRect/>
          </a:stretch>
        </p:blipFill>
        <p:spPr>
          <a:xfrm>
            <a:off x="44143" y="1002687"/>
            <a:ext cx="12101611" cy="5745585"/>
          </a:xfrm>
          <a:prstGeom prst="rect">
            <a:avLst/>
          </a:prstGeom>
        </p:spPr>
      </p:pic>
    </p:spTree>
    <p:extLst>
      <p:ext uri="{BB962C8B-B14F-4D97-AF65-F5344CB8AC3E}">
        <p14:creationId xmlns:p14="http://schemas.microsoft.com/office/powerpoint/2010/main" val="725861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Mô hình suy luận và tác tử AI</a:t>
            </a:r>
            <a:endParaRPr lang="en-US" sz="2800" dirty="0"/>
          </a:p>
        </p:txBody>
      </p:sp>
      <p:sp>
        <p:nvSpPr>
          <p:cNvPr id="3" name="Shape 1"/>
          <p:cNvSpPr/>
          <p:nvPr/>
        </p:nvSpPr>
        <p:spPr>
          <a:xfrm>
            <a:off x="457200" y="6510528"/>
            <a:ext cx="128016" cy="128016"/>
          </a:xfrm>
          <a:prstGeom prst="ellipse">
            <a:avLst/>
          </a:prstGeom>
          <a:solidFill>
            <a:srgbClr val="1F6F8B"/>
          </a:solidFill>
          <a:ln w="12700">
            <a:solidFill>
              <a:srgbClr val="1F6F8B"/>
            </a:solidFill>
            <a:prstDash val="solid"/>
          </a:ln>
        </p:spPr>
        <p:txBody>
          <a:bodyPr/>
          <a:lstStyle/>
          <a:p>
            <a:endParaRPr/>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1F6F8B"/>
                </a:solidFill>
                <a:latin typeface="Calibri" pitchFamily="34" charset="0"/>
                <a:ea typeface="Calibri" pitchFamily="34" charset="-122"/>
                <a:cs typeface="Calibri" pitchFamily="34" charset="-120"/>
              </a:rPr>
              <a:t>2 · HƯỚNG ƯU TIÊN</a:t>
            </a:r>
            <a:endParaRPr lang="en-US" sz="1100" dirty="0"/>
          </a:p>
        </p:txBody>
      </p:sp>
      <p:grpSp>
        <p:nvGrpSpPr>
          <p:cNvPr id="77" name="Group 76">
            <a:extLst>
              <a:ext uri="{FF2B5EF4-FFF2-40B4-BE49-F238E27FC236}">
                <a16:creationId xmlns:a16="http://schemas.microsoft.com/office/drawing/2014/main" id="{4CA5146D-6A82-7094-D04A-D4106A793B31}"/>
              </a:ext>
            </a:extLst>
          </p:cNvPr>
          <p:cNvGrpSpPr/>
          <p:nvPr/>
        </p:nvGrpSpPr>
        <p:grpSpPr>
          <a:xfrm>
            <a:off x="457200" y="1097280"/>
            <a:ext cx="11292840" cy="4617720"/>
            <a:chOff x="457200" y="1097280"/>
            <a:chExt cx="11292840" cy="4617720"/>
          </a:xfrm>
        </p:grpSpPr>
        <p:sp>
          <p:nvSpPr>
            <p:cNvPr id="6" name="Text 3"/>
            <p:cNvSpPr txBox="1"/>
            <p:nvPr/>
          </p:nvSpPr>
          <p:spPr>
            <a:xfrm>
              <a:off x="457200" y="1097280"/>
              <a:ext cx="5577840" cy="384048"/>
            </a:xfrm>
            <a:prstGeom prst="rect">
              <a:avLst/>
            </a:prstGeom>
            <a:noFill/>
            <a:ln/>
          </p:spPr>
          <p:txBody>
            <a:bodyPr wrap="square" lIns="0" tIns="0" rIns="0" bIns="0" rtlCol="0" anchor="t"/>
            <a:lstStyle/>
            <a:p>
              <a:pPr marL="0" indent="0">
                <a:buNone/>
              </a:pPr>
              <a:r>
                <a:rPr lang="en-US" sz="1900" b="1" dirty="0">
                  <a:solidFill>
                    <a:srgbClr val="1F6F8B"/>
                  </a:solidFill>
                  <a:latin typeface="Cambria" pitchFamily="34" charset="0"/>
                  <a:ea typeface="Cambria" pitchFamily="34" charset="-122"/>
                  <a:cs typeface="Cambria" pitchFamily="34" charset="-120"/>
                </a:rPr>
                <a:t>Suy luận nhiều bước</a:t>
              </a:r>
              <a:endParaRPr lang="en-US" sz="1900" dirty="0"/>
            </a:p>
          </p:txBody>
        </p:sp>
        <p:sp>
          <p:nvSpPr>
            <p:cNvPr id="7" name="Shape 4"/>
            <p:cNvSpPr/>
            <p:nvPr/>
          </p:nvSpPr>
          <p:spPr>
            <a:xfrm>
              <a:off x="457200" y="1554480"/>
              <a:ext cx="5577840" cy="3337560"/>
            </a:xfrm>
            <a:prstGeom prst="roundRect">
              <a:avLst>
                <a:gd name="adj" fmla="val 2192"/>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a:p>
          </p:txBody>
        </p:sp>
        <p:sp>
          <p:nvSpPr>
            <p:cNvPr id="8" name="Shape 5"/>
            <p:cNvSpPr/>
            <p:nvPr/>
          </p:nvSpPr>
          <p:spPr>
            <a:xfrm>
              <a:off x="685800" y="2395728"/>
              <a:ext cx="822960" cy="822960"/>
            </a:xfrm>
            <a:prstGeom prst="ellipse">
              <a:avLst/>
            </a:prstGeom>
            <a:solidFill>
              <a:srgbClr val="6F7780"/>
            </a:solidFill>
            <a:ln w="12700">
              <a:solidFill>
                <a:srgbClr val="6F7780"/>
              </a:solidFill>
              <a:prstDash val="solid"/>
            </a:ln>
          </p:spPr>
          <p:txBody>
            <a:bodyPr/>
            <a:lstStyle/>
            <a:p>
              <a:endParaRPr/>
            </a:p>
          </p:txBody>
        </p:sp>
        <p:pic>
          <p:nvPicPr>
            <p:cNvPr id="9" name="Image 0" descr="preencoded.png"/>
            <p:cNvPicPr>
              <a:picLocks noChangeAspect="1"/>
            </p:cNvPicPr>
            <p:nvPr/>
          </p:nvPicPr>
          <p:blipFill>
            <a:blip r:embed="rId2"/>
            <a:stretch>
              <a:fillRect/>
            </a:stretch>
          </p:blipFill>
          <p:spPr>
            <a:xfrm>
              <a:off x="883310" y="2593238"/>
              <a:ext cx="427939" cy="427939"/>
            </a:xfrm>
            <a:prstGeom prst="rect">
              <a:avLst/>
            </a:prstGeom>
          </p:spPr>
        </p:pic>
        <p:sp>
          <p:nvSpPr>
            <p:cNvPr id="10" name="Shape 6"/>
            <p:cNvSpPr/>
            <p:nvPr/>
          </p:nvSpPr>
          <p:spPr>
            <a:xfrm flipV="1">
              <a:off x="1508760" y="2029968"/>
              <a:ext cx="594360" cy="777240"/>
            </a:xfrm>
            <a:prstGeom prst="line">
              <a:avLst/>
            </a:prstGeom>
            <a:noFill/>
            <a:ln w="25400">
              <a:solidFill>
                <a:srgbClr val="B8C4CC"/>
              </a:solidFill>
              <a:prstDash val="solid"/>
            </a:ln>
          </p:spPr>
          <p:txBody>
            <a:bodyPr/>
            <a:lstStyle/>
            <a:p>
              <a:endParaRPr/>
            </a:p>
          </p:txBody>
        </p:sp>
        <p:sp>
          <p:nvSpPr>
            <p:cNvPr id="11" name="Shape 7"/>
            <p:cNvSpPr/>
            <p:nvPr/>
          </p:nvSpPr>
          <p:spPr>
            <a:xfrm>
              <a:off x="1508760" y="2807208"/>
              <a:ext cx="594360" cy="914"/>
            </a:xfrm>
            <a:prstGeom prst="line">
              <a:avLst/>
            </a:prstGeom>
            <a:noFill/>
            <a:ln w="25400">
              <a:solidFill>
                <a:srgbClr val="B8C4CC"/>
              </a:solidFill>
              <a:prstDash val="solid"/>
            </a:ln>
          </p:spPr>
          <p:txBody>
            <a:bodyPr/>
            <a:lstStyle/>
            <a:p>
              <a:endParaRPr/>
            </a:p>
          </p:txBody>
        </p:sp>
        <p:sp>
          <p:nvSpPr>
            <p:cNvPr id="12" name="Shape 8"/>
            <p:cNvSpPr/>
            <p:nvPr/>
          </p:nvSpPr>
          <p:spPr>
            <a:xfrm>
              <a:off x="1508760" y="2807208"/>
              <a:ext cx="594360" cy="777240"/>
            </a:xfrm>
            <a:prstGeom prst="line">
              <a:avLst/>
            </a:prstGeom>
            <a:noFill/>
            <a:ln w="25400">
              <a:solidFill>
                <a:srgbClr val="B8C4CC"/>
              </a:solidFill>
              <a:prstDash val="solid"/>
            </a:ln>
          </p:spPr>
          <p:txBody>
            <a:bodyPr/>
            <a:lstStyle/>
            <a:p>
              <a:endParaRPr/>
            </a:p>
          </p:txBody>
        </p:sp>
        <p:sp>
          <p:nvSpPr>
            <p:cNvPr id="13" name="Shape 9"/>
            <p:cNvSpPr/>
            <p:nvPr/>
          </p:nvSpPr>
          <p:spPr>
            <a:xfrm flipV="1">
              <a:off x="2414016" y="1847088"/>
              <a:ext cx="969264" cy="182880"/>
            </a:xfrm>
            <a:prstGeom prst="line">
              <a:avLst/>
            </a:prstGeom>
            <a:noFill/>
            <a:ln w="25400">
              <a:solidFill>
                <a:srgbClr val="B8C4CC"/>
              </a:solidFill>
              <a:prstDash val="solid"/>
            </a:ln>
          </p:spPr>
          <p:txBody>
            <a:bodyPr/>
            <a:lstStyle/>
            <a:p>
              <a:endParaRPr/>
            </a:p>
          </p:txBody>
        </p:sp>
        <p:sp>
          <p:nvSpPr>
            <p:cNvPr id="14" name="Shape 10"/>
            <p:cNvSpPr/>
            <p:nvPr/>
          </p:nvSpPr>
          <p:spPr>
            <a:xfrm>
              <a:off x="2414016" y="2029968"/>
              <a:ext cx="969264" cy="274320"/>
            </a:xfrm>
            <a:prstGeom prst="line">
              <a:avLst/>
            </a:prstGeom>
            <a:noFill/>
            <a:ln w="25400">
              <a:solidFill>
                <a:srgbClr val="B8C4CC"/>
              </a:solidFill>
              <a:prstDash val="solid"/>
            </a:ln>
          </p:spPr>
          <p:txBody>
            <a:bodyPr/>
            <a:lstStyle/>
            <a:p>
              <a:endParaRPr/>
            </a:p>
          </p:txBody>
        </p:sp>
        <p:sp>
          <p:nvSpPr>
            <p:cNvPr id="15" name="Shape 11"/>
            <p:cNvSpPr/>
            <p:nvPr/>
          </p:nvSpPr>
          <p:spPr>
            <a:xfrm>
              <a:off x="2414016" y="2807208"/>
              <a:ext cx="969264" cy="914"/>
            </a:xfrm>
            <a:prstGeom prst="line">
              <a:avLst/>
            </a:prstGeom>
            <a:noFill/>
            <a:ln w="38100">
              <a:solidFill>
                <a:srgbClr val="1BA39C"/>
              </a:solidFill>
              <a:prstDash val="solid"/>
            </a:ln>
          </p:spPr>
          <p:txBody>
            <a:bodyPr/>
            <a:lstStyle/>
            <a:p>
              <a:endParaRPr/>
            </a:p>
          </p:txBody>
        </p:sp>
        <p:sp>
          <p:nvSpPr>
            <p:cNvPr id="16" name="Shape 12"/>
            <p:cNvSpPr/>
            <p:nvPr/>
          </p:nvSpPr>
          <p:spPr>
            <a:xfrm>
              <a:off x="2414016" y="2807208"/>
              <a:ext cx="969264" cy="502920"/>
            </a:xfrm>
            <a:prstGeom prst="line">
              <a:avLst/>
            </a:prstGeom>
            <a:noFill/>
            <a:ln w="25400">
              <a:solidFill>
                <a:srgbClr val="B8C4CC"/>
              </a:solidFill>
              <a:prstDash val="solid"/>
            </a:ln>
          </p:spPr>
          <p:txBody>
            <a:bodyPr/>
            <a:lstStyle/>
            <a:p>
              <a:endParaRPr/>
            </a:p>
          </p:txBody>
        </p:sp>
        <p:sp>
          <p:nvSpPr>
            <p:cNvPr id="17" name="Shape 13"/>
            <p:cNvSpPr/>
            <p:nvPr/>
          </p:nvSpPr>
          <p:spPr>
            <a:xfrm>
              <a:off x="2414016" y="3584448"/>
              <a:ext cx="969264" cy="182880"/>
            </a:xfrm>
            <a:prstGeom prst="line">
              <a:avLst/>
            </a:prstGeom>
            <a:noFill/>
            <a:ln w="25400">
              <a:solidFill>
                <a:srgbClr val="B8C4CC"/>
              </a:solidFill>
              <a:prstDash val="solid"/>
            </a:ln>
          </p:spPr>
          <p:txBody>
            <a:bodyPr/>
            <a:lstStyle/>
            <a:p>
              <a:endParaRPr/>
            </a:p>
          </p:txBody>
        </p:sp>
        <p:sp>
          <p:nvSpPr>
            <p:cNvPr id="18" name="Shape 14"/>
            <p:cNvSpPr/>
            <p:nvPr/>
          </p:nvSpPr>
          <p:spPr>
            <a:xfrm>
              <a:off x="1508760" y="2807208"/>
              <a:ext cx="594360" cy="914"/>
            </a:xfrm>
            <a:prstGeom prst="line">
              <a:avLst/>
            </a:prstGeom>
            <a:noFill/>
            <a:ln w="38100">
              <a:solidFill>
                <a:srgbClr val="1BA39C"/>
              </a:solidFill>
              <a:prstDash val="solid"/>
            </a:ln>
          </p:spPr>
          <p:txBody>
            <a:bodyPr/>
            <a:lstStyle/>
            <a:p>
              <a:endParaRPr/>
            </a:p>
          </p:txBody>
        </p:sp>
        <p:sp>
          <p:nvSpPr>
            <p:cNvPr id="19" name="Shape 15"/>
            <p:cNvSpPr/>
            <p:nvPr/>
          </p:nvSpPr>
          <p:spPr>
            <a:xfrm>
              <a:off x="2103120" y="1874520"/>
              <a:ext cx="310896" cy="310896"/>
            </a:xfrm>
            <a:prstGeom prst="ellipse">
              <a:avLst/>
            </a:prstGeom>
            <a:solidFill>
              <a:srgbClr val="FFFFFF"/>
            </a:solidFill>
            <a:ln w="19050">
              <a:solidFill>
                <a:srgbClr val="9AA7B0"/>
              </a:solidFill>
              <a:prstDash val="solid"/>
            </a:ln>
          </p:spPr>
          <p:txBody>
            <a:bodyPr/>
            <a:lstStyle/>
            <a:p>
              <a:endParaRPr/>
            </a:p>
          </p:txBody>
        </p:sp>
        <p:sp>
          <p:nvSpPr>
            <p:cNvPr id="20" name="Shape 16"/>
            <p:cNvSpPr/>
            <p:nvPr/>
          </p:nvSpPr>
          <p:spPr>
            <a:xfrm>
              <a:off x="2103120" y="2651760"/>
              <a:ext cx="310896" cy="310896"/>
            </a:xfrm>
            <a:prstGeom prst="ellipse">
              <a:avLst/>
            </a:prstGeom>
            <a:solidFill>
              <a:srgbClr val="1BA39C"/>
            </a:solidFill>
            <a:ln w="19050">
              <a:solidFill>
                <a:srgbClr val="1BA39C"/>
              </a:solidFill>
              <a:prstDash val="solid"/>
            </a:ln>
          </p:spPr>
          <p:txBody>
            <a:bodyPr/>
            <a:lstStyle/>
            <a:p>
              <a:endParaRPr/>
            </a:p>
          </p:txBody>
        </p:sp>
        <p:sp>
          <p:nvSpPr>
            <p:cNvPr id="21" name="Shape 17"/>
            <p:cNvSpPr/>
            <p:nvPr/>
          </p:nvSpPr>
          <p:spPr>
            <a:xfrm>
              <a:off x="2103120" y="3429000"/>
              <a:ext cx="310896" cy="310896"/>
            </a:xfrm>
            <a:prstGeom prst="ellipse">
              <a:avLst/>
            </a:prstGeom>
            <a:solidFill>
              <a:srgbClr val="FFFFFF"/>
            </a:solidFill>
            <a:ln w="19050">
              <a:solidFill>
                <a:srgbClr val="9AA7B0"/>
              </a:solidFill>
              <a:prstDash val="solid"/>
            </a:ln>
          </p:spPr>
          <p:txBody>
            <a:bodyPr/>
            <a:lstStyle/>
            <a:p>
              <a:endParaRPr/>
            </a:p>
          </p:txBody>
        </p:sp>
        <p:sp>
          <p:nvSpPr>
            <p:cNvPr id="22" name="Shape 18"/>
            <p:cNvSpPr/>
            <p:nvPr/>
          </p:nvSpPr>
          <p:spPr>
            <a:xfrm>
              <a:off x="3383280" y="1691640"/>
              <a:ext cx="310896" cy="310896"/>
            </a:xfrm>
            <a:prstGeom prst="ellipse">
              <a:avLst/>
            </a:prstGeom>
            <a:solidFill>
              <a:srgbClr val="FFFFFF"/>
            </a:solidFill>
            <a:ln w="19050">
              <a:solidFill>
                <a:srgbClr val="9AA7B0"/>
              </a:solidFill>
              <a:prstDash val="solid"/>
            </a:ln>
          </p:spPr>
          <p:txBody>
            <a:bodyPr/>
            <a:lstStyle/>
            <a:p>
              <a:endParaRPr/>
            </a:p>
          </p:txBody>
        </p:sp>
        <p:sp>
          <p:nvSpPr>
            <p:cNvPr id="23" name="Shape 19"/>
            <p:cNvSpPr/>
            <p:nvPr/>
          </p:nvSpPr>
          <p:spPr>
            <a:xfrm>
              <a:off x="3383280" y="2148840"/>
              <a:ext cx="310896" cy="310896"/>
            </a:xfrm>
            <a:prstGeom prst="ellipse">
              <a:avLst/>
            </a:prstGeom>
            <a:solidFill>
              <a:srgbClr val="FFFFFF"/>
            </a:solidFill>
            <a:ln w="19050">
              <a:solidFill>
                <a:srgbClr val="9AA7B0"/>
              </a:solidFill>
              <a:prstDash val="solid"/>
            </a:ln>
          </p:spPr>
          <p:txBody>
            <a:bodyPr/>
            <a:lstStyle/>
            <a:p>
              <a:endParaRPr/>
            </a:p>
          </p:txBody>
        </p:sp>
        <p:sp>
          <p:nvSpPr>
            <p:cNvPr id="24" name="Shape 20"/>
            <p:cNvSpPr/>
            <p:nvPr/>
          </p:nvSpPr>
          <p:spPr>
            <a:xfrm>
              <a:off x="3383280" y="2651760"/>
              <a:ext cx="310896" cy="310896"/>
            </a:xfrm>
            <a:prstGeom prst="ellipse">
              <a:avLst/>
            </a:prstGeom>
            <a:solidFill>
              <a:srgbClr val="1BA39C"/>
            </a:solidFill>
            <a:ln w="19050">
              <a:solidFill>
                <a:srgbClr val="1BA39C"/>
              </a:solidFill>
              <a:prstDash val="solid"/>
            </a:ln>
          </p:spPr>
          <p:txBody>
            <a:bodyPr/>
            <a:lstStyle/>
            <a:p>
              <a:endParaRPr/>
            </a:p>
          </p:txBody>
        </p:sp>
        <p:sp>
          <p:nvSpPr>
            <p:cNvPr id="25" name="Shape 21"/>
            <p:cNvSpPr/>
            <p:nvPr/>
          </p:nvSpPr>
          <p:spPr>
            <a:xfrm>
              <a:off x="3383280" y="3154680"/>
              <a:ext cx="310896" cy="310896"/>
            </a:xfrm>
            <a:prstGeom prst="ellipse">
              <a:avLst/>
            </a:prstGeom>
            <a:solidFill>
              <a:srgbClr val="FFFFFF"/>
            </a:solidFill>
            <a:ln w="19050">
              <a:solidFill>
                <a:srgbClr val="9AA7B0"/>
              </a:solidFill>
              <a:prstDash val="solid"/>
            </a:ln>
          </p:spPr>
          <p:txBody>
            <a:bodyPr/>
            <a:lstStyle/>
            <a:p>
              <a:endParaRPr/>
            </a:p>
          </p:txBody>
        </p:sp>
        <p:sp>
          <p:nvSpPr>
            <p:cNvPr id="26" name="Shape 22"/>
            <p:cNvSpPr/>
            <p:nvPr/>
          </p:nvSpPr>
          <p:spPr>
            <a:xfrm>
              <a:off x="3383280" y="3611880"/>
              <a:ext cx="310896" cy="310896"/>
            </a:xfrm>
            <a:prstGeom prst="ellipse">
              <a:avLst/>
            </a:prstGeom>
            <a:solidFill>
              <a:srgbClr val="FFFFFF"/>
            </a:solidFill>
            <a:ln w="19050">
              <a:solidFill>
                <a:srgbClr val="9AA7B0"/>
              </a:solidFill>
              <a:prstDash val="solid"/>
            </a:ln>
          </p:spPr>
          <p:txBody>
            <a:bodyPr/>
            <a:lstStyle/>
            <a:p>
              <a:endParaRPr/>
            </a:p>
          </p:txBody>
        </p:sp>
        <p:pic>
          <p:nvPicPr>
            <p:cNvPr id="27" name="Image 1" descr="preencoded.png"/>
            <p:cNvPicPr>
              <a:picLocks noChangeAspect="1"/>
            </p:cNvPicPr>
            <p:nvPr/>
          </p:nvPicPr>
          <p:blipFill>
            <a:blip r:embed="rId3"/>
            <a:stretch>
              <a:fillRect/>
            </a:stretch>
          </p:blipFill>
          <p:spPr>
            <a:xfrm>
              <a:off x="3794760" y="1728216"/>
              <a:ext cx="237744" cy="237744"/>
            </a:xfrm>
            <a:prstGeom prst="rect">
              <a:avLst/>
            </a:prstGeom>
          </p:spPr>
        </p:pic>
        <p:pic>
          <p:nvPicPr>
            <p:cNvPr id="28" name="Image 2" descr="preencoded.png"/>
            <p:cNvPicPr>
              <a:picLocks noChangeAspect="1"/>
            </p:cNvPicPr>
            <p:nvPr/>
          </p:nvPicPr>
          <p:blipFill>
            <a:blip r:embed="rId3"/>
            <a:stretch>
              <a:fillRect/>
            </a:stretch>
          </p:blipFill>
          <p:spPr>
            <a:xfrm>
              <a:off x="3794760" y="2185416"/>
              <a:ext cx="237744" cy="237744"/>
            </a:xfrm>
            <a:prstGeom prst="rect">
              <a:avLst/>
            </a:prstGeom>
          </p:spPr>
        </p:pic>
        <p:pic>
          <p:nvPicPr>
            <p:cNvPr id="29" name="Image 3" descr="preencoded.png"/>
            <p:cNvPicPr>
              <a:picLocks noChangeAspect="1"/>
            </p:cNvPicPr>
            <p:nvPr/>
          </p:nvPicPr>
          <p:blipFill>
            <a:blip r:embed="rId3"/>
            <a:stretch>
              <a:fillRect/>
            </a:stretch>
          </p:blipFill>
          <p:spPr>
            <a:xfrm>
              <a:off x="3794760" y="3191256"/>
              <a:ext cx="237744" cy="237744"/>
            </a:xfrm>
            <a:prstGeom prst="rect">
              <a:avLst/>
            </a:prstGeom>
          </p:spPr>
        </p:pic>
        <p:pic>
          <p:nvPicPr>
            <p:cNvPr id="30" name="Image 4" descr="preencoded.png"/>
            <p:cNvPicPr>
              <a:picLocks noChangeAspect="1"/>
            </p:cNvPicPr>
            <p:nvPr/>
          </p:nvPicPr>
          <p:blipFill>
            <a:blip r:embed="rId3"/>
            <a:stretch>
              <a:fillRect/>
            </a:stretch>
          </p:blipFill>
          <p:spPr>
            <a:xfrm>
              <a:off x="3794760" y="3648456"/>
              <a:ext cx="237744" cy="237744"/>
            </a:xfrm>
            <a:prstGeom prst="rect">
              <a:avLst/>
            </a:prstGeom>
          </p:spPr>
        </p:pic>
        <p:sp>
          <p:nvSpPr>
            <p:cNvPr id="31" name="Shape 23"/>
            <p:cNvSpPr/>
            <p:nvPr/>
          </p:nvSpPr>
          <p:spPr>
            <a:xfrm>
              <a:off x="3694176" y="2807208"/>
              <a:ext cx="649224" cy="914"/>
            </a:xfrm>
            <a:prstGeom prst="line">
              <a:avLst/>
            </a:prstGeom>
            <a:noFill/>
            <a:ln w="38100">
              <a:solidFill>
                <a:srgbClr val="1BA39C"/>
              </a:solidFill>
              <a:prstDash val="solid"/>
              <a:tailEnd type="triangle"/>
            </a:ln>
          </p:spPr>
          <p:txBody>
            <a:bodyPr/>
            <a:lstStyle/>
            <a:p>
              <a:endParaRPr/>
            </a:p>
          </p:txBody>
        </p:sp>
        <p:sp>
          <p:nvSpPr>
            <p:cNvPr id="32" name="Shape 24"/>
            <p:cNvSpPr/>
            <p:nvPr/>
          </p:nvSpPr>
          <p:spPr>
            <a:xfrm>
              <a:off x="4389120" y="2441448"/>
              <a:ext cx="731520" cy="731520"/>
            </a:xfrm>
            <a:prstGeom prst="ellipse">
              <a:avLst/>
            </a:prstGeom>
            <a:solidFill>
              <a:srgbClr val="1BA39C"/>
            </a:solidFill>
            <a:ln w="12700">
              <a:solidFill>
                <a:srgbClr val="1BA39C"/>
              </a:solidFill>
              <a:prstDash val="solid"/>
            </a:ln>
          </p:spPr>
          <p:txBody>
            <a:bodyPr/>
            <a:lstStyle/>
            <a:p>
              <a:endParaRPr/>
            </a:p>
          </p:txBody>
        </p:sp>
        <p:pic>
          <p:nvPicPr>
            <p:cNvPr id="33" name="Image 5" descr="preencoded.png"/>
            <p:cNvPicPr>
              <a:picLocks noChangeAspect="1"/>
            </p:cNvPicPr>
            <p:nvPr/>
          </p:nvPicPr>
          <p:blipFill>
            <a:blip r:embed="rId4"/>
            <a:stretch>
              <a:fillRect/>
            </a:stretch>
          </p:blipFill>
          <p:spPr>
            <a:xfrm>
              <a:off x="4564685" y="2617013"/>
              <a:ext cx="380390" cy="380390"/>
            </a:xfrm>
            <a:prstGeom prst="rect">
              <a:avLst/>
            </a:prstGeom>
          </p:spPr>
        </p:pic>
        <p:sp>
          <p:nvSpPr>
            <p:cNvPr id="34" name="Text 25"/>
            <p:cNvSpPr txBox="1"/>
            <p:nvPr/>
          </p:nvSpPr>
          <p:spPr>
            <a:xfrm>
              <a:off x="502920" y="3246120"/>
              <a:ext cx="1188720" cy="320040"/>
            </a:xfrm>
            <a:prstGeom prst="rect">
              <a:avLst/>
            </a:prstGeom>
            <a:noFill/>
            <a:ln/>
          </p:spPr>
          <p:txBody>
            <a:bodyPr wrap="square" lIns="0" tIns="0" rIns="0" bIns="0" rtlCol="0" anchor="ctr"/>
            <a:lstStyle/>
            <a:p>
              <a:pPr marL="0" indent="0" algn="ctr">
                <a:buNone/>
              </a:pPr>
              <a:r>
                <a:rPr lang="en-US" sz="1150" b="1" dirty="0">
                  <a:solidFill>
                    <a:srgbClr val="5B6B76"/>
                  </a:solidFill>
                  <a:latin typeface="Calibri" pitchFamily="34" charset="0"/>
                  <a:ea typeface="Calibri" pitchFamily="34" charset="-122"/>
                  <a:cs typeface="Calibri" pitchFamily="34" charset="-120"/>
                </a:rPr>
                <a:t>câu hỏi</a:t>
              </a:r>
              <a:endParaRPr lang="en-US" sz="1150" dirty="0"/>
            </a:p>
          </p:txBody>
        </p:sp>
        <p:sp>
          <p:nvSpPr>
            <p:cNvPr id="35" name="Text 26"/>
            <p:cNvSpPr txBox="1"/>
            <p:nvPr/>
          </p:nvSpPr>
          <p:spPr>
            <a:xfrm>
              <a:off x="4206240" y="3200400"/>
              <a:ext cx="1097280" cy="320040"/>
            </a:xfrm>
            <a:prstGeom prst="rect">
              <a:avLst/>
            </a:prstGeom>
            <a:noFill/>
            <a:ln/>
          </p:spPr>
          <p:txBody>
            <a:bodyPr wrap="square" lIns="0" tIns="0" rIns="0" bIns="0" rtlCol="0" anchor="ctr"/>
            <a:lstStyle/>
            <a:p>
              <a:pPr marL="0" indent="0" algn="ctr">
                <a:buNone/>
              </a:pPr>
              <a:r>
                <a:rPr lang="en-US" sz="1150" b="1" dirty="0">
                  <a:solidFill>
                    <a:srgbClr val="1BA39C"/>
                  </a:solidFill>
                  <a:latin typeface="Calibri" pitchFamily="34" charset="0"/>
                  <a:ea typeface="Calibri" pitchFamily="34" charset="-122"/>
                  <a:cs typeface="Calibri" pitchFamily="34" charset="-120"/>
                </a:rPr>
                <a:t>lời giải</a:t>
              </a:r>
              <a:endParaRPr lang="en-US" sz="1150" dirty="0"/>
            </a:p>
          </p:txBody>
        </p:sp>
        <p:sp>
          <p:nvSpPr>
            <p:cNvPr id="36" name="Shape 27"/>
            <p:cNvSpPr/>
            <p:nvPr/>
          </p:nvSpPr>
          <p:spPr>
            <a:xfrm>
              <a:off x="868680" y="4160520"/>
              <a:ext cx="457200" cy="457200"/>
            </a:xfrm>
            <a:prstGeom prst="ellipse">
              <a:avLst/>
            </a:prstGeom>
            <a:solidFill>
              <a:srgbClr val="A80000"/>
            </a:solidFill>
            <a:ln w="12700">
              <a:solidFill>
                <a:srgbClr val="A80000"/>
              </a:solidFill>
              <a:prstDash val="solid"/>
            </a:ln>
          </p:spPr>
          <p:txBody>
            <a:bodyPr/>
            <a:lstStyle/>
            <a:p>
              <a:endParaRPr/>
            </a:p>
          </p:txBody>
        </p:sp>
        <p:pic>
          <p:nvPicPr>
            <p:cNvPr id="37" name="Image 6" descr="preencoded.png"/>
            <p:cNvPicPr>
              <a:picLocks noChangeAspect="1"/>
            </p:cNvPicPr>
            <p:nvPr/>
          </p:nvPicPr>
          <p:blipFill>
            <a:blip r:embed="rId5"/>
            <a:stretch>
              <a:fillRect/>
            </a:stretch>
          </p:blipFill>
          <p:spPr>
            <a:xfrm>
              <a:off x="978408" y="4270248"/>
              <a:ext cx="237744" cy="237744"/>
            </a:xfrm>
            <a:prstGeom prst="rect">
              <a:avLst/>
            </a:prstGeom>
          </p:spPr>
        </p:pic>
        <p:sp>
          <p:nvSpPr>
            <p:cNvPr id="38" name="Text 28"/>
            <p:cNvSpPr txBox="1"/>
            <p:nvPr/>
          </p:nvSpPr>
          <p:spPr>
            <a:xfrm>
              <a:off x="1371600" y="4224528"/>
              <a:ext cx="1188720" cy="320040"/>
            </a:xfrm>
            <a:prstGeom prst="rect">
              <a:avLst/>
            </a:prstGeom>
            <a:noFill/>
            <a:ln/>
          </p:spPr>
          <p:txBody>
            <a:bodyPr wrap="square" lIns="0" tIns="0" rIns="0" bIns="0" rtlCol="0" anchor="ctr"/>
            <a:lstStyle/>
            <a:p>
              <a:pPr marL="0" indent="0" algn="l">
                <a:buNone/>
              </a:pPr>
              <a:r>
                <a:rPr lang="en-US" sz="1250" b="1" dirty="0">
                  <a:solidFill>
                    <a:srgbClr val="13293D"/>
                  </a:solidFill>
                  <a:latin typeface="Calibri" pitchFamily="34" charset="0"/>
                  <a:ea typeface="Calibri" pitchFamily="34" charset="-122"/>
                  <a:cs typeface="Calibri" pitchFamily="34" charset="-120"/>
                </a:rPr>
                <a:t>chính xác</a:t>
              </a:r>
              <a:endParaRPr lang="en-US" sz="1250" dirty="0"/>
            </a:p>
          </p:txBody>
        </p:sp>
        <p:sp>
          <p:nvSpPr>
            <p:cNvPr id="39" name="Shape 29"/>
            <p:cNvSpPr/>
            <p:nvPr/>
          </p:nvSpPr>
          <p:spPr>
            <a:xfrm>
              <a:off x="2651760" y="4160520"/>
              <a:ext cx="457200" cy="457200"/>
            </a:xfrm>
            <a:prstGeom prst="ellipse">
              <a:avLst/>
            </a:prstGeom>
            <a:solidFill>
              <a:srgbClr val="E08A2E"/>
            </a:solidFill>
            <a:ln w="12700">
              <a:solidFill>
                <a:srgbClr val="E08A2E"/>
              </a:solidFill>
              <a:prstDash val="solid"/>
            </a:ln>
          </p:spPr>
          <p:txBody>
            <a:bodyPr/>
            <a:lstStyle/>
            <a:p>
              <a:endParaRPr/>
            </a:p>
          </p:txBody>
        </p:sp>
        <p:pic>
          <p:nvPicPr>
            <p:cNvPr id="40" name="Image 7" descr="preencoded.png"/>
            <p:cNvPicPr>
              <a:picLocks noChangeAspect="1"/>
            </p:cNvPicPr>
            <p:nvPr/>
          </p:nvPicPr>
          <p:blipFill>
            <a:blip r:embed="rId6"/>
            <a:stretch>
              <a:fillRect/>
            </a:stretch>
          </p:blipFill>
          <p:spPr>
            <a:xfrm>
              <a:off x="2761488" y="4270248"/>
              <a:ext cx="237744" cy="237744"/>
            </a:xfrm>
            <a:prstGeom prst="rect">
              <a:avLst/>
            </a:prstGeom>
          </p:spPr>
        </p:pic>
        <p:sp>
          <p:nvSpPr>
            <p:cNvPr id="41" name="Text 30"/>
            <p:cNvSpPr txBox="1"/>
            <p:nvPr/>
          </p:nvSpPr>
          <p:spPr>
            <a:xfrm>
              <a:off x="3154680" y="4224528"/>
              <a:ext cx="1188720" cy="320040"/>
            </a:xfrm>
            <a:prstGeom prst="rect">
              <a:avLst/>
            </a:prstGeom>
            <a:noFill/>
            <a:ln/>
          </p:spPr>
          <p:txBody>
            <a:bodyPr wrap="square" lIns="0" tIns="0" rIns="0" bIns="0" rtlCol="0" anchor="ctr"/>
            <a:lstStyle/>
            <a:p>
              <a:pPr marL="0" indent="0" algn="l">
                <a:buNone/>
              </a:pPr>
              <a:r>
                <a:rPr lang="en-US" sz="1250" b="1" dirty="0">
                  <a:solidFill>
                    <a:srgbClr val="13293D"/>
                  </a:solidFill>
                  <a:latin typeface="Calibri" pitchFamily="34" charset="0"/>
                  <a:ea typeface="Calibri" pitchFamily="34" charset="-122"/>
                  <a:cs typeface="Calibri" pitchFamily="34" charset="-120"/>
                </a:rPr>
                <a:t>thời gian</a:t>
              </a:r>
              <a:endParaRPr lang="en-US" sz="1250" dirty="0"/>
            </a:p>
          </p:txBody>
        </p:sp>
        <p:sp>
          <p:nvSpPr>
            <p:cNvPr id="42" name="Shape 31"/>
            <p:cNvSpPr/>
            <p:nvPr/>
          </p:nvSpPr>
          <p:spPr>
            <a:xfrm>
              <a:off x="4434840" y="4160520"/>
              <a:ext cx="457200" cy="457200"/>
            </a:xfrm>
            <a:prstGeom prst="ellipse">
              <a:avLst/>
            </a:prstGeom>
            <a:solidFill>
              <a:srgbClr val="4B4B9C"/>
            </a:solidFill>
            <a:ln w="12700">
              <a:solidFill>
                <a:srgbClr val="4B4B9C"/>
              </a:solidFill>
              <a:prstDash val="solid"/>
            </a:ln>
          </p:spPr>
          <p:txBody>
            <a:bodyPr/>
            <a:lstStyle/>
            <a:p>
              <a:endParaRPr/>
            </a:p>
          </p:txBody>
        </p:sp>
        <p:pic>
          <p:nvPicPr>
            <p:cNvPr id="43" name="Image 8" descr="preencoded.png"/>
            <p:cNvPicPr>
              <a:picLocks noChangeAspect="1"/>
            </p:cNvPicPr>
            <p:nvPr/>
          </p:nvPicPr>
          <p:blipFill>
            <a:blip r:embed="rId7"/>
            <a:stretch>
              <a:fillRect/>
            </a:stretch>
          </p:blipFill>
          <p:spPr>
            <a:xfrm>
              <a:off x="4544568" y="4270248"/>
              <a:ext cx="237744" cy="237744"/>
            </a:xfrm>
            <a:prstGeom prst="rect">
              <a:avLst/>
            </a:prstGeom>
          </p:spPr>
        </p:pic>
        <p:sp>
          <p:nvSpPr>
            <p:cNvPr id="44" name="Text 32"/>
            <p:cNvSpPr txBox="1"/>
            <p:nvPr/>
          </p:nvSpPr>
          <p:spPr>
            <a:xfrm>
              <a:off x="4937760" y="4224528"/>
              <a:ext cx="1188720" cy="320040"/>
            </a:xfrm>
            <a:prstGeom prst="rect">
              <a:avLst/>
            </a:prstGeom>
            <a:noFill/>
            <a:ln/>
          </p:spPr>
          <p:txBody>
            <a:bodyPr wrap="square" lIns="0" tIns="0" rIns="0" bIns="0" rtlCol="0" anchor="ctr"/>
            <a:lstStyle/>
            <a:p>
              <a:pPr marL="0" indent="0" algn="l">
                <a:buNone/>
              </a:pPr>
              <a:r>
                <a:rPr lang="en-US" sz="1250" b="1" dirty="0">
                  <a:solidFill>
                    <a:srgbClr val="13293D"/>
                  </a:solidFill>
                  <a:latin typeface="Calibri" pitchFamily="34" charset="0"/>
                  <a:ea typeface="Calibri" pitchFamily="34" charset="-122"/>
                  <a:cs typeface="Calibri" pitchFamily="34" charset="-120"/>
                </a:rPr>
                <a:t>chi phí</a:t>
              </a:r>
              <a:endParaRPr lang="en-US" sz="1250" dirty="0"/>
            </a:p>
          </p:txBody>
        </p:sp>
        <p:sp>
          <p:nvSpPr>
            <p:cNvPr id="45" name="Text 33"/>
            <p:cNvSpPr txBox="1"/>
            <p:nvPr/>
          </p:nvSpPr>
          <p:spPr>
            <a:xfrm>
              <a:off x="6263640" y="1097280"/>
              <a:ext cx="5486400" cy="384048"/>
            </a:xfrm>
            <a:prstGeom prst="rect">
              <a:avLst/>
            </a:prstGeom>
            <a:noFill/>
            <a:ln/>
          </p:spPr>
          <p:txBody>
            <a:bodyPr wrap="square" lIns="0" tIns="0" rIns="0" bIns="0" rtlCol="0" anchor="t"/>
            <a:lstStyle/>
            <a:p>
              <a:pPr marL="0" indent="0">
                <a:buNone/>
              </a:pPr>
              <a:r>
                <a:rPr lang="en-US" sz="1900" b="1" dirty="0">
                  <a:solidFill>
                    <a:srgbClr val="E08A2E"/>
                  </a:solidFill>
                  <a:latin typeface="Cambria" pitchFamily="34" charset="0"/>
                  <a:ea typeface="Cambria" pitchFamily="34" charset="-122"/>
                  <a:cs typeface="Cambria" pitchFamily="34" charset="-120"/>
                </a:rPr>
                <a:t>Tác tử AI dùng công cụ</a:t>
              </a:r>
              <a:endParaRPr lang="en-US" sz="1900" dirty="0"/>
            </a:p>
          </p:txBody>
        </p:sp>
        <p:sp>
          <p:nvSpPr>
            <p:cNvPr id="46" name="Shape 34"/>
            <p:cNvSpPr/>
            <p:nvPr/>
          </p:nvSpPr>
          <p:spPr>
            <a:xfrm>
              <a:off x="6263640" y="1554480"/>
              <a:ext cx="5468112" cy="3337560"/>
            </a:xfrm>
            <a:prstGeom prst="roundRect">
              <a:avLst>
                <a:gd name="adj" fmla="val 2192"/>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a:p>
          </p:txBody>
        </p:sp>
        <p:sp>
          <p:nvSpPr>
            <p:cNvPr id="47" name="Shape 35"/>
            <p:cNvSpPr/>
            <p:nvPr/>
          </p:nvSpPr>
          <p:spPr>
            <a:xfrm>
              <a:off x="7315200" y="2331720"/>
              <a:ext cx="1737360" cy="1737360"/>
            </a:xfrm>
            <a:prstGeom prst="ellipse">
              <a:avLst/>
            </a:prstGeom>
            <a:solidFill>
              <a:srgbClr val="FDF1E4"/>
            </a:solidFill>
            <a:ln w="25400">
              <a:solidFill>
                <a:srgbClr val="E08A2E"/>
              </a:solidFill>
              <a:prstDash val="dash"/>
            </a:ln>
          </p:spPr>
          <p:txBody>
            <a:bodyPr/>
            <a:lstStyle/>
            <a:p>
              <a:endParaRPr/>
            </a:p>
          </p:txBody>
        </p:sp>
        <p:sp>
          <p:nvSpPr>
            <p:cNvPr id="48" name="Shape 36"/>
            <p:cNvSpPr/>
            <p:nvPr/>
          </p:nvSpPr>
          <p:spPr>
            <a:xfrm>
              <a:off x="7680960" y="2697480"/>
              <a:ext cx="1005840" cy="1005840"/>
            </a:xfrm>
            <a:prstGeom prst="ellipse">
              <a:avLst/>
            </a:prstGeom>
            <a:solidFill>
              <a:srgbClr val="E08A2E"/>
            </a:solidFill>
            <a:ln w="12700">
              <a:solidFill>
                <a:srgbClr val="E08A2E"/>
              </a:solidFill>
              <a:prstDash val="solid"/>
            </a:ln>
          </p:spPr>
          <p:txBody>
            <a:bodyPr/>
            <a:lstStyle/>
            <a:p>
              <a:endParaRPr/>
            </a:p>
          </p:txBody>
        </p:sp>
        <p:pic>
          <p:nvPicPr>
            <p:cNvPr id="49" name="Image 9" descr="preencoded.png"/>
            <p:cNvPicPr>
              <a:picLocks noChangeAspect="1"/>
            </p:cNvPicPr>
            <p:nvPr/>
          </p:nvPicPr>
          <p:blipFill>
            <a:blip r:embed="rId8"/>
            <a:stretch>
              <a:fillRect/>
            </a:stretch>
          </p:blipFill>
          <p:spPr>
            <a:xfrm>
              <a:off x="7922362" y="2938882"/>
              <a:ext cx="523037" cy="523037"/>
            </a:xfrm>
            <a:prstGeom prst="rect">
              <a:avLst/>
            </a:prstGeom>
          </p:spPr>
        </p:pic>
        <p:sp>
          <p:nvSpPr>
            <p:cNvPr id="50" name="Shape 37"/>
            <p:cNvSpPr/>
            <p:nvPr/>
          </p:nvSpPr>
          <p:spPr>
            <a:xfrm flipH="1" flipV="1">
              <a:off x="7361402" y="2562840"/>
              <a:ext cx="212045" cy="19517"/>
            </a:xfrm>
            <a:prstGeom prst="line">
              <a:avLst/>
            </a:prstGeom>
            <a:noFill/>
            <a:ln w="22225">
              <a:solidFill>
                <a:srgbClr val="9AA7B0"/>
              </a:solidFill>
              <a:prstDash val="solid"/>
              <a:tailEnd type="triangle"/>
            </a:ln>
          </p:spPr>
          <p:txBody>
            <a:bodyPr/>
            <a:lstStyle/>
            <a:p>
              <a:endParaRPr/>
            </a:p>
          </p:txBody>
        </p:sp>
        <p:sp>
          <p:nvSpPr>
            <p:cNvPr id="51" name="Shape 38"/>
            <p:cNvSpPr/>
            <p:nvPr/>
          </p:nvSpPr>
          <p:spPr>
            <a:xfrm>
              <a:off x="6881463" y="2080337"/>
              <a:ext cx="548640" cy="548640"/>
            </a:xfrm>
            <a:prstGeom prst="ellipse">
              <a:avLst/>
            </a:prstGeom>
            <a:solidFill>
              <a:srgbClr val="1F6F8B"/>
            </a:solidFill>
            <a:ln w="12700">
              <a:solidFill>
                <a:srgbClr val="1F6F8B"/>
              </a:solidFill>
              <a:prstDash val="solid"/>
            </a:ln>
          </p:spPr>
          <p:txBody>
            <a:bodyPr/>
            <a:lstStyle/>
            <a:p>
              <a:endParaRPr/>
            </a:p>
          </p:txBody>
        </p:sp>
        <p:pic>
          <p:nvPicPr>
            <p:cNvPr id="52" name="Image 10" descr="preencoded.png"/>
            <p:cNvPicPr>
              <a:picLocks noChangeAspect="1"/>
            </p:cNvPicPr>
            <p:nvPr/>
          </p:nvPicPr>
          <p:blipFill>
            <a:blip r:embed="rId9"/>
            <a:stretch>
              <a:fillRect/>
            </a:stretch>
          </p:blipFill>
          <p:spPr>
            <a:xfrm>
              <a:off x="7013136" y="2212011"/>
              <a:ext cx="285293" cy="285293"/>
            </a:xfrm>
            <a:prstGeom prst="rect">
              <a:avLst/>
            </a:prstGeom>
          </p:spPr>
        </p:pic>
        <p:sp>
          <p:nvSpPr>
            <p:cNvPr id="53" name="Text 39"/>
            <p:cNvSpPr txBox="1"/>
            <p:nvPr/>
          </p:nvSpPr>
          <p:spPr>
            <a:xfrm>
              <a:off x="6561423" y="2628977"/>
              <a:ext cx="1188720" cy="320040"/>
            </a:xfrm>
            <a:prstGeom prst="rect">
              <a:avLst/>
            </a:prstGeom>
            <a:noFill/>
            <a:ln/>
          </p:spPr>
          <p:txBody>
            <a:bodyPr wrap="square" lIns="0" tIns="0" rIns="0" bIns="0" rtlCol="0" anchor="ctr"/>
            <a:lstStyle/>
            <a:p>
              <a:pPr marL="0" indent="0" algn="ctr">
                <a:buNone/>
              </a:pPr>
              <a:r>
                <a:rPr lang="en-US" sz="1150" b="1" dirty="0">
                  <a:solidFill>
                    <a:srgbClr val="13293D"/>
                  </a:solidFill>
                  <a:latin typeface="Calibri" pitchFamily="34" charset="0"/>
                  <a:ea typeface="Calibri" pitchFamily="34" charset="-122"/>
                  <a:cs typeface="Calibri" pitchFamily="34" charset="-120"/>
                </a:rPr>
                <a:t>tra cứu</a:t>
              </a:r>
              <a:endParaRPr lang="en-US" sz="1150" dirty="0"/>
            </a:p>
          </p:txBody>
        </p:sp>
        <p:sp>
          <p:nvSpPr>
            <p:cNvPr id="54" name="Shape 40"/>
            <p:cNvSpPr/>
            <p:nvPr/>
          </p:nvSpPr>
          <p:spPr>
            <a:xfrm flipV="1">
              <a:off x="8795296" y="2563844"/>
              <a:ext cx="212387" cy="19486"/>
            </a:xfrm>
            <a:prstGeom prst="line">
              <a:avLst/>
            </a:prstGeom>
            <a:noFill/>
            <a:ln w="22225">
              <a:solidFill>
                <a:srgbClr val="9AA7B0"/>
              </a:solidFill>
              <a:prstDash val="solid"/>
              <a:tailEnd type="triangle"/>
            </a:ln>
          </p:spPr>
          <p:txBody>
            <a:bodyPr/>
            <a:lstStyle/>
            <a:p>
              <a:endParaRPr/>
            </a:p>
          </p:txBody>
        </p:sp>
        <p:sp>
          <p:nvSpPr>
            <p:cNvPr id="55" name="Shape 41"/>
            <p:cNvSpPr/>
            <p:nvPr/>
          </p:nvSpPr>
          <p:spPr>
            <a:xfrm>
              <a:off x="8939314" y="2081669"/>
              <a:ext cx="548640" cy="548640"/>
            </a:xfrm>
            <a:prstGeom prst="ellipse">
              <a:avLst/>
            </a:prstGeom>
            <a:solidFill>
              <a:srgbClr val="1F6F8B"/>
            </a:solidFill>
            <a:ln w="12700">
              <a:solidFill>
                <a:srgbClr val="1F6F8B"/>
              </a:solidFill>
              <a:prstDash val="solid"/>
            </a:ln>
          </p:spPr>
          <p:txBody>
            <a:bodyPr/>
            <a:lstStyle/>
            <a:p>
              <a:endParaRPr/>
            </a:p>
          </p:txBody>
        </p:sp>
        <p:pic>
          <p:nvPicPr>
            <p:cNvPr id="56" name="Image 11" descr="preencoded.png"/>
            <p:cNvPicPr>
              <a:picLocks noChangeAspect="1"/>
            </p:cNvPicPr>
            <p:nvPr/>
          </p:nvPicPr>
          <p:blipFill>
            <a:blip r:embed="rId10"/>
            <a:stretch>
              <a:fillRect/>
            </a:stretch>
          </p:blipFill>
          <p:spPr>
            <a:xfrm>
              <a:off x="9070987" y="2213342"/>
              <a:ext cx="285293" cy="285293"/>
            </a:xfrm>
            <a:prstGeom prst="rect">
              <a:avLst/>
            </a:prstGeom>
          </p:spPr>
        </p:pic>
        <p:sp>
          <p:nvSpPr>
            <p:cNvPr id="57" name="Text 42"/>
            <p:cNvSpPr txBox="1"/>
            <p:nvPr/>
          </p:nvSpPr>
          <p:spPr>
            <a:xfrm>
              <a:off x="8619274" y="2630309"/>
              <a:ext cx="1188720" cy="320040"/>
            </a:xfrm>
            <a:prstGeom prst="rect">
              <a:avLst/>
            </a:prstGeom>
            <a:noFill/>
            <a:ln/>
          </p:spPr>
          <p:txBody>
            <a:bodyPr wrap="square" lIns="0" tIns="0" rIns="0" bIns="0" rtlCol="0" anchor="ctr"/>
            <a:lstStyle/>
            <a:p>
              <a:pPr marL="0" indent="0" algn="ctr">
                <a:buNone/>
              </a:pPr>
              <a:r>
                <a:rPr lang="en-US" sz="1150" b="1" dirty="0">
                  <a:solidFill>
                    <a:srgbClr val="13293D"/>
                  </a:solidFill>
                  <a:latin typeface="Calibri" pitchFamily="34" charset="0"/>
                  <a:ea typeface="Calibri" pitchFamily="34" charset="-122"/>
                  <a:cs typeface="Calibri" pitchFamily="34" charset="-120"/>
                </a:rPr>
                <a:t>dữ liệu</a:t>
              </a:r>
              <a:endParaRPr lang="en-US" sz="1150" dirty="0"/>
            </a:p>
          </p:txBody>
        </p:sp>
        <p:sp>
          <p:nvSpPr>
            <p:cNvPr id="58" name="Shape 43"/>
            <p:cNvSpPr/>
            <p:nvPr/>
          </p:nvSpPr>
          <p:spPr>
            <a:xfrm>
              <a:off x="8795296" y="3817470"/>
              <a:ext cx="212387" cy="19486"/>
            </a:xfrm>
            <a:prstGeom prst="line">
              <a:avLst/>
            </a:prstGeom>
            <a:noFill/>
            <a:ln w="22225">
              <a:solidFill>
                <a:srgbClr val="9AA7B0"/>
              </a:solidFill>
              <a:prstDash val="solid"/>
              <a:tailEnd type="triangle"/>
            </a:ln>
          </p:spPr>
          <p:txBody>
            <a:bodyPr/>
            <a:lstStyle/>
            <a:p>
              <a:endParaRPr/>
            </a:p>
          </p:txBody>
        </p:sp>
        <p:sp>
          <p:nvSpPr>
            <p:cNvPr id="59" name="Shape 44"/>
            <p:cNvSpPr/>
            <p:nvPr/>
          </p:nvSpPr>
          <p:spPr>
            <a:xfrm>
              <a:off x="8939314" y="3770491"/>
              <a:ext cx="548640" cy="548640"/>
            </a:xfrm>
            <a:prstGeom prst="ellipse">
              <a:avLst/>
            </a:prstGeom>
            <a:solidFill>
              <a:srgbClr val="1F6F8B"/>
            </a:solidFill>
            <a:ln w="12700">
              <a:solidFill>
                <a:srgbClr val="1F6F8B"/>
              </a:solidFill>
              <a:prstDash val="solid"/>
            </a:ln>
          </p:spPr>
          <p:txBody>
            <a:bodyPr/>
            <a:lstStyle/>
            <a:p>
              <a:endParaRPr/>
            </a:p>
          </p:txBody>
        </p:sp>
        <p:pic>
          <p:nvPicPr>
            <p:cNvPr id="60" name="Image 12" descr="preencoded.png"/>
            <p:cNvPicPr>
              <a:picLocks noChangeAspect="1"/>
            </p:cNvPicPr>
            <p:nvPr/>
          </p:nvPicPr>
          <p:blipFill>
            <a:blip r:embed="rId11"/>
            <a:stretch>
              <a:fillRect/>
            </a:stretch>
          </p:blipFill>
          <p:spPr>
            <a:xfrm>
              <a:off x="9070987" y="3902165"/>
              <a:ext cx="285293" cy="285293"/>
            </a:xfrm>
            <a:prstGeom prst="rect">
              <a:avLst/>
            </a:prstGeom>
          </p:spPr>
        </p:pic>
        <p:sp>
          <p:nvSpPr>
            <p:cNvPr id="61" name="Text 45"/>
            <p:cNvSpPr txBox="1"/>
            <p:nvPr/>
          </p:nvSpPr>
          <p:spPr>
            <a:xfrm>
              <a:off x="8619274" y="4319131"/>
              <a:ext cx="1188720" cy="320040"/>
            </a:xfrm>
            <a:prstGeom prst="rect">
              <a:avLst/>
            </a:prstGeom>
            <a:noFill/>
            <a:ln/>
          </p:spPr>
          <p:txBody>
            <a:bodyPr wrap="square" lIns="0" tIns="0" rIns="0" bIns="0" rtlCol="0" anchor="ctr"/>
            <a:lstStyle/>
            <a:p>
              <a:pPr marL="0" indent="0" algn="ctr">
                <a:buNone/>
              </a:pPr>
              <a:r>
                <a:rPr lang="en-US" sz="1150" b="1" dirty="0">
                  <a:solidFill>
                    <a:srgbClr val="13293D"/>
                  </a:solidFill>
                  <a:latin typeface="Calibri" pitchFamily="34" charset="0"/>
                  <a:ea typeface="Calibri" pitchFamily="34" charset="-122"/>
                  <a:cs typeface="Calibri" pitchFamily="34" charset="-120"/>
                </a:rPr>
                <a:t>biểu mẫu</a:t>
              </a:r>
              <a:endParaRPr lang="en-US" sz="1150" dirty="0"/>
            </a:p>
          </p:txBody>
        </p:sp>
        <p:sp>
          <p:nvSpPr>
            <p:cNvPr id="62" name="Shape 46"/>
            <p:cNvSpPr/>
            <p:nvPr/>
          </p:nvSpPr>
          <p:spPr>
            <a:xfrm flipH="1">
              <a:off x="7361402" y="3818443"/>
              <a:ext cx="212045" cy="19517"/>
            </a:xfrm>
            <a:prstGeom prst="line">
              <a:avLst/>
            </a:prstGeom>
            <a:noFill/>
            <a:ln w="22225">
              <a:solidFill>
                <a:srgbClr val="9AA7B0"/>
              </a:solidFill>
              <a:prstDash val="solid"/>
              <a:tailEnd type="triangle"/>
            </a:ln>
          </p:spPr>
          <p:txBody>
            <a:bodyPr/>
            <a:lstStyle/>
            <a:p>
              <a:endParaRPr/>
            </a:p>
          </p:txBody>
        </p:sp>
        <p:sp>
          <p:nvSpPr>
            <p:cNvPr id="63" name="Shape 47"/>
            <p:cNvSpPr/>
            <p:nvPr/>
          </p:nvSpPr>
          <p:spPr>
            <a:xfrm>
              <a:off x="6881463" y="3771823"/>
              <a:ext cx="548640" cy="548640"/>
            </a:xfrm>
            <a:prstGeom prst="ellipse">
              <a:avLst/>
            </a:prstGeom>
            <a:solidFill>
              <a:srgbClr val="1F6F8B"/>
            </a:solidFill>
            <a:ln w="12700">
              <a:solidFill>
                <a:srgbClr val="1F6F8B"/>
              </a:solidFill>
              <a:prstDash val="solid"/>
            </a:ln>
          </p:spPr>
          <p:txBody>
            <a:bodyPr/>
            <a:lstStyle/>
            <a:p>
              <a:endParaRPr/>
            </a:p>
          </p:txBody>
        </p:sp>
        <p:pic>
          <p:nvPicPr>
            <p:cNvPr id="64" name="Image 13" descr="preencoded.png"/>
            <p:cNvPicPr>
              <a:picLocks noChangeAspect="1"/>
            </p:cNvPicPr>
            <p:nvPr/>
          </p:nvPicPr>
          <p:blipFill>
            <a:blip r:embed="rId12"/>
            <a:stretch>
              <a:fillRect/>
            </a:stretch>
          </p:blipFill>
          <p:spPr>
            <a:xfrm>
              <a:off x="7013136" y="3903496"/>
              <a:ext cx="285293" cy="285293"/>
            </a:xfrm>
            <a:prstGeom prst="rect">
              <a:avLst/>
            </a:prstGeom>
          </p:spPr>
        </p:pic>
        <p:sp>
          <p:nvSpPr>
            <p:cNvPr id="65" name="Text 48"/>
            <p:cNvSpPr txBox="1"/>
            <p:nvPr/>
          </p:nvSpPr>
          <p:spPr>
            <a:xfrm>
              <a:off x="6561423" y="4320463"/>
              <a:ext cx="1188720" cy="320040"/>
            </a:xfrm>
            <a:prstGeom prst="rect">
              <a:avLst/>
            </a:prstGeom>
            <a:noFill/>
            <a:ln/>
          </p:spPr>
          <p:txBody>
            <a:bodyPr wrap="square" lIns="0" tIns="0" rIns="0" bIns="0" rtlCol="0" anchor="ctr"/>
            <a:lstStyle/>
            <a:p>
              <a:pPr marL="0" indent="0" algn="ctr">
                <a:buNone/>
              </a:pPr>
              <a:r>
                <a:rPr lang="en-US" sz="1150" b="1" dirty="0">
                  <a:solidFill>
                    <a:srgbClr val="13293D"/>
                  </a:solidFill>
                  <a:latin typeface="Calibri" pitchFamily="34" charset="0"/>
                  <a:ea typeface="Calibri" pitchFamily="34" charset="-122"/>
                  <a:cs typeface="Calibri" pitchFamily="34" charset="-120"/>
                </a:rPr>
                <a:t>lịch</a:t>
              </a:r>
              <a:endParaRPr lang="en-US" sz="1150" dirty="0"/>
            </a:p>
          </p:txBody>
        </p:sp>
        <p:sp>
          <p:nvSpPr>
            <p:cNvPr id="66" name="Shape 49"/>
            <p:cNvSpPr/>
            <p:nvPr/>
          </p:nvSpPr>
          <p:spPr>
            <a:xfrm>
              <a:off x="10835640" y="1828800"/>
              <a:ext cx="594360" cy="594360"/>
            </a:xfrm>
            <a:prstGeom prst="ellipse">
              <a:avLst/>
            </a:prstGeom>
            <a:solidFill>
              <a:srgbClr val="A80000"/>
            </a:solidFill>
            <a:ln w="12700">
              <a:solidFill>
                <a:srgbClr val="A80000"/>
              </a:solidFill>
              <a:prstDash val="solid"/>
            </a:ln>
          </p:spPr>
          <p:txBody>
            <a:bodyPr/>
            <a:lstStyle/>
            <a:p>
              <a:endParaRPr/>
            </a:p>
          </p:txBody>
        </p:sp>
        <p:pic>
          <p:nvPicPr>
            <p:cNvPr id="67" name="Image 14" descr="preencoded.png"/>
            <p:cNvPicPr>
              <a:picLocks noChangeAspect="1"/>
            </p:cNvPicPr>
            <p:nvPr/>
          </p:nvPicPr>
          <p:blipFill>
            <a:blip r:embed="rId13"/>
            <a:stretch>
              <a:fillRect/>
            </a:stretch>
          </p:blipFill>
          <p:spPr>
            <a:xfrm>
              <a:off x="10978286" y="1971446"/>
              <a:ext cx="309067" cy="309067"/>
            </a:xfrm>
            <a:prstGeom prst="rect">
              <a:avLst/>
            </a:prstGeom>
          </p:spPr>
        </p:pic>
        <p:sp>
          <p:nvSpPr>
            <p:cNvPr id="68" name="Text 50"/>
            <p:cNvSpPr txBox="1"/>
            <p:nvPr/>
          </p:nvSpPr>
          <p:spPr>
            <a:xfrm>
              <a:off x="10469880" y="2423160"/>
              <a:ext cx="1280160" cy="320040"/>
            </a:xfrm>
            <a:prstGeom prst="rect">
              <a:avLst/>
            </a:prstGeom>
            <a:noFill/>
            <a:ln/>
          </p:spPr>
          <p:txBody>
            <a:bodyPr wrap="square" lIns="0" tIns="0" rIns="0" bIns="0" rtlCol="0" anchor="ctr"/>
            <a:lstStyle/>
            <a:p>
              <a:pPr marL="0" indent="0" algn="ctr">
                <a:buNone/>
              </a:pPr>
              <a:r>
                <a:rPr lang="en-US" sz="1150" b="1" dirty="0">
                  <a:solidFill>
                    <a:srgbClr val="A80000"/>
                  </a:solidFill>
                  <a:latin typeface="Calibri" pitchFamily="34" charset="0"/>
                  <a:ea typeface="Calibri" pitchFamily="34" charset="-122"/>
                  <a:cs typeface="Calibri" pitchFamily="34" charset="-120"/>
                </a:rPr>
                <a:t>người duyệt</a:t>
              </a:r>
              <a:endParaRPr lang="en-US" sz="1150" dirty="0"/>
            </a:p>
          </p:txBody>
        </p:sp>
        <p:sp>
          <p:nvSpPr>
            <p:cNvPr id="69" name="Shape 51"/>
            <p:cNvSpPr/>
            <p:nvPr/>
          </p:nvSpPr>
          <p:spPr>
            <a:xfrm flipV="1">
              <a:off x="9052560" y="2194560"/>
              <a:ext cx="1755648" cy="1005840"/>
            </a:xfrm>
            <a:prstGeom prst="line">
              <a:avLst/>
            </a:prstGeom>
            <a:noFill/>
            <a:ln w="22225">
              <a:solidFill>
                <a:srgbClr val="9AA7B0"/>
              </a:solidFill>
              <a:prstDash val="dash"/>
              <a:tailEnd type="triangle"/>
            </a:ln>
          </p:spPr>
          <p:txBody>
            <a:bodyPr/>
            <a:lstStyle/>
            <a:p>
              <a:endParaRPr/>
            </a:p>
          </p:txBody>
        </p:sp>
        <p:sp>
          <p:nvSpPr>
            <p:cNvPr id="70" name="Shape 52"/>
            <p:cNvSpPr/>
            <p:nvPr/>
          </p:nvSpPr>
          <p:spPr>
            <a:xfrm>
              <a:off x="11137392" y="2743200"/>
              <a:ext cx="914" cy="960120"/>
            </a:xfrm>
            <a:prstGeom prst="line">
              <a:avLst/>
            </a:prstGeom>
            <a:noFill/>
            <a:ln w="28575">
              <a:solidFill>
                <a:srgbClr val="A80000"/>
              </a:solidFill>
              <a:prstDash val="solid"/>
              <a:tailEnd type="triangle"/>
            </a:ln>
          </p:spPr>
          <p:txBody>
            <a:bodyPr/>
            <a:lstStyle/>
            <a:p>
              <a:endParaRPr/>
            </a:p>
          </p:txBody>
        </p:sp>
        <p:sp>
          <p:nvSpPr>
            <p:cNvPr id="71" name="Shape 53"/>
            <p:cNvSpPr/>
            <p:nvPr/>
          </p:nvSpPr>
          <p:spPr>
            <a:xfrm>
              <a:off x="10835640" y="3749040"/>
              <a:ext cx="594360" cy="594360"/>
            </a:xfrm>
            <a:prstGeom prst="ellipse">
              <a:avLst/>
            </a:prstGeom>
            <a:solidFill>
              <a:srgbClr val="13293D"/>
            </a:solidFill>
            <a:ln w="12700">
              <a:solidFill>
                <a:srgbClr val="13293D"/>
              </a:solidFill>
              <a:prstDash val="solid"/>
            </a:ln>
          </p:spPr>
          <p:txBody>
            <a:bodyPr/>
            <a:lstStyle/>
            <a:p>
              <a:endParaRPr/>
            </a:p>
          </p:txBody>
        </p:sp>
        <p:pic>
          <p:nvPicPr>
            <p:cNvPr id="72" name="Image 15" descr="preencoded.png"/>
            <p:cNvPicPr>
              <a:picLocks noChangeAspect="1"/>
            </p:cNvPicPr>
            <p:nvPr/>
          </p:nvPicPr>
          <p:blipFill>
            <a:blip r:embed="rId14"/>
            <a:stretch>
              <a:fillRect/>
            </a:stretch>
          </p:blipFill>
          <p:spPr>
            <a:xfrm>
              <a:off x="10978286" y="3891686"/>
              <a:ext cx="309067" cy="309067"/>
            </a:xfrm>
            <a:prstGeom prst="rect">
              <a:avLst/>
            </a:prstGeom>
          </p:spPr>
        </p:pic>
        <p:sp>
          <p:nvSpPr>
            <p:cNvPr id="73" name="Text 54"/>
            <p:cNvSpPr txBox="1"/>
            <p:nvPr/>
          </p:nvSpPr>
          <p:spPr>
            <a:xfrm>
              <a:off x="10469880" y="4343400"/>
              <a:ext cx="1280160" cy="320040"/>
            </a:xfrm>
            <a:prstGeom prst="rect">
              <a:avLst/>
            </a:prstGeom>
            <a:noFill/>
            <a:ln/>
          </p:spPr>
          <p:txBody>
            <a:bodyPr wrap="square" lIns="0" tIns="0" rIns="0" bIns="0" rtlCol="0" anchor="ctr"/>
            <a:lstStyle/>
            <a:p>
              <a:pPr marL="0" indent="0" algn="ctr">
                <a:buNone/>
              </a:pPr>
              <a:r>
                <a:rPr lang="en-US" sz="1150" b="1" dirty="0">
                  <a:solidFill>
                    <a:srgbClr val="13293D"/>
                  </a:solidFill>
                  <a:latin typeface="Calibri" pitchFamily="34" charset="0"/>
                  <a:ea typeface="Calibri" pitchFamily="34" charset="-122"/>
                  <a:cs typeface="Calibri" pitchFamily="34" charset="-120"/>
                </a:rPr>
                <a:t>hồ sơ thật</a:t>
              </a:r>
              <a:endParaRPr lang="en-US" sz="1150" dirty="0"/>
            </a:p>
          </p:txBody>
        </p:sp>
        <p:sp>
          <p:nvSpPr>
            <p:cNvPr id="74" name="Shape 55"/>
            <p:cNvSpPr/>
            <p:nvPr/>
          </p:nvSpPr>
          <p:spPr>
            <a:xfrm>
              <a:off x="457200" y="5166360"/>
              <a:ext cx="11274552" cy="548640"/>
            </a:xfrm>
            <a:prstGeom prst="roundRect">
              <a:avLst>
                <a:gd name="adj" fmla="val 50000"/>
              </a:avLst>
            </a:prstGeom>
            <a:solidFill>
              <a:srgbClr val="FBEAEA"/>
            </a:solidFill>
            <a:ln w="12700">
              <a:solidFill>
                <a:srgbClr val="F1CACA"/>
              </a:solidFill>
              <a:prstDash val="solid"/>
            </a:ln>
          </p:spPr>
          <p:txBody>
            <a:bodyPr/>
            <a:lstStyle/>
            <a:p>
              <a:endParaRPr/>
            </a:p>
          </p:txBody>
        </p:sp>
        <p:sp>
          <p:nvSpPr>
            <p:cNvPr id="75" name="Text 56"/>
            <p:cNvSpPr txBox="1"/>
            <p:nvPr/>
          </p:nvSpPr>
          <p:spPr>
            <a:xfrm>
              <a:off x="640080" y="5166360"/>
              <a:ext cx="10908792" cy="548640"/>
            </a:xfrm>
            <a:prstGeom prst="rect">
              <a:avLst/>
            </a:prstGeom>
            <a:noFill/>
            <a:ln/>
          </p:spPr>
          <p:txBody>
            <a:bodyPr wrap="square" lIns="0" tIns="0" rIns="0" bIns="0" rtlCol="0" anchor="ctr"/>
            <a:lstStyle/>
            <a:p>
              <a:pPr marL="0" indent="0" algn="ctr">
                <a:buNone/>
              </a:pPr>
              <a:r>
                <a:rPr lang="en-US" sz="1700" b="1" dirty="0">
                  <a:solidFill>
                    <a:srgbClr val="1F6F8B"/>
                  </a:solidFill>
                  <a:latin typeface="Calibri" pitchFamily="34" charset="0"/>
                  <a:ea typeface="Calibri" pitchFamily="34" charset="-122"/>
                  <a:cs typeface="Calibri" pitchFamily="34" charset="-120"/>
                </a:rPr>
                <a:t>Nghĩ lâu hơn </a:t>
              </a:r>
              <a:r>
                <a:rPr lang="en-US" sz="1700" dirty="0">
                  <a:solidFill>
                    <a:srgbClr val="1E2A32"/>
                  </a:solidFill>
                  <a:latin typeface="Calibri" pitchFamily="34" charset="0"/>
                  <a:ea typeface="Calibri" pitchFamily="34" charset="-122"/>
                  <a:cs typeface="Calibri" pitchFamily="34" charset="-120"/>
                </a:rPr>
                <a:t>chưa chắc đúng hơn  ·  </a:t>
              </a:r>
              <a:r>
                <a:rPr lang="en-US" sz="1700" b="1" dirty="0">
                  <a:solidFill>
                    <a:srgbClr val="E08A2E"/>
                  </a:solidFill>
                  <a:latin typeface="Calibri" pitchFamily="34" charset="0"/>
                  <a:ea typeface="Calibri" pitchFamily="34" charset="-122"/>
                  <a:cs typeface="Calibri" pitchFamily="34" charset="-120"/>
                </a:rPr>
                <a:t>tác tử </a:t>
              </a:r>
              <a:r>
                <a:rPr lang="en-US" sz="1700" dirty="0">
                  <a:solidFill>
                    <a:srgbClr val="1E2A32"/>
                  </a:solidFill>
                  <a:latin typeface="Calibri" pitchFamily="34" charset="0"/>
                  <a:ea typeface="Calibri" pitchFamily="34" charset="-122"/>
                  <a:cs typeface="Calibri" pitchFamily="34" charset="-120"/>
                </a:rPr>
                <a:t>cần phân quyền, nhật ký, người duyệt</a:t>
              </a:r>
              <a:endParaRPr lang="en-US" sz="1700" dirty="0"/>
            </a:p>
          </p:txBody>
        </p:sp>
      </p:grpSp>
      <p:sp>
        <p:nvSpPr>
          <p:cNvPr id="76" name="Text 57"/>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DeepSeek-R1, Nature 2025 [7] · GAIA, 2023 [8]</a:t>
            </a:r>
            <a:endParaRPr lang="en-US" sz="1000" dirty="0"/>
          </a:p>
        </p:txBody>
      </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Mô </a:t>
            </a:r>
            <a:r>
              <a:rPr lang="en-US" sz="2800" b="1" dirty="0" err="1">
                <a:solidFill>
                  <a:srgbClr val="FFFFFF"/>
                </a:solidFill>
                <a:latin typeface="Cambria" pitchFamily="34" charset="0"/>
                <a:ea typeface="Cambria" pitchFamily="34" charset="-122"/>
                <a:cs typeface="Cambria" pitchFamily="34" charset="-120"/>
              </a:rPr>
              <a:t>hình</a:t>
            </a:r>
            <a:r>
              <a:rPr lang="en-US" sz="2800" b="1" dirty="0">
                <a:solidFill>
                  <a:srgbClr val="FFFFFF"/>
                </a:solidFill>
                <a:latin typeface="Cambria" pitchFamily="34" charset="0"/>
                <a:ea typeface="Cambria" pitchFamily="34" charset="-122"/>
                <a:cs typeface="Cambria" pitchFamily="34" charset="-120"/>
              </a:rPr>
              <a:t> AI </a:t>
            </a:r>
            <a:r>
              <a:rPr lang="en-US" sz="2800" b="1" dirty="0" err="1">
                <a:solidFill>
                  <a:srgbClr val="FFFFFF"/>
                </a:solidFill>
                <a:latin typeface="Cambria" pitchFamily="34" charset="0"/>
                <a:ea typeface="Cambria" pitchFamily="34" charset="-122"/>
                <a:cs typeface="Cambria" pitchFamily="34" charset="-120"/>
              </a:rPr>
              <a:t>chuyên</a:t>
            </a:r>
            <a:r>
              <a:rPr lang="en-US" sz="2800" b="1" dirty="0">
                <a:solidFill>
                  <a:srgbClr val="FFFFFF"/>
                </a:solidFill>
                <a:latin typeface="Cambria" pitchFamily="34" charset="0"/>
                <a:ea typeface="Cambria" pitchFamily="34" charset="-122"/>
                <a:cs typeface="Cambria" pitchFamily="34" charset="-120"/>
              </a:rPr>
              <a:t> ngành và AI tiếng Việt</a:t>
            </a:r>
            <a:endParaRPr lang="en-US" sz="2800" dirty="0"/>
          </a:p>
        </p:txBody>
      </p:sp>
      <p:sp>
        <p:nvSpPr>
          <p:cNvPr id="3" name="Shape 1"/>
          <p:cNvSpPr/>
          <p:nvPr/>
        </p:nvSpPr>
        <p:spPr>
          <a:xfrm>
            <a:off x="457200" y="6510528"/>
            <a:ext cx="128016" cy="128016"/>
          </a:xfrm>
          <a:prstGeom prst="ellipse">
            <a:avLst/>
          </a:prstGeom>
          <a:solidFill>
            <a:srgbClr val="1F6F8B"/>
          </a:solidFill>
          <a:ln w="12700">
            <a:solidFill>
              <a:srgbClr val="1F6F8B"/>
            </a:solidFill>
            <a:prstDash val="solid"/>
          </a:ln>
        </p:spPr>
        <p:txBody>
          <a:bodyPr/>
          <a:lstStyle/>
          <a:p>
            <a:endParaRPr/>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1F6F8B"/>
                </a:solidFill>
                <a:latin typeface="Calibri" pitchFamily="34" charset="0"/>
                <a:ea typeface="Calibri" pitchFamily="34" charset="-122"/>
                <a:cs typeface="Calibri" pitchFamily="34" charset="-120"/>
              </a:rPr>
              <a:t>2 · HƯỚNG ƯU TIÊN</a:t>
            </a:r>
            <a:endParaRPr lang="en-US" sz="1100" dirty="0"/>
          </a:p>
        </p:txBody>
      </p:sp>
      <p:grpSp>
        <p:nvGrpSpPr>
          <p:cNvPr id="82" name="Group 81">
            <a:extLst>
              <a:ext uri="{FF2B5EF4-FFF2-40B4-BE49-F238E27FC236}">
                <a16:creationId xmlns:a16="http://schemas.microsoft.com/office/drawing/2014/main" id="{C4CAD3E2-59EF-49D1-451A-D59BFE987FCB}"/>
              </a:ext>
            </a:extLst>
          </p:cNvPr>
          <p:cNvGrpSpPr/>
          <p:nvPr/>
        </p:nvGrpSpPr>
        <p:grpSpPr>
          <a:xfrm>
            <a:off x="457200" y="1143000"/>
            <a:ext cx="11274552" cy="5239512"/>
            <a:chOff x="457200" y="1143000"/>
            <a:chExt cx="11274552" cy="5239512"/>
          </a:xfrm>
        </p:grpSpPr>
        <p:sp>
          <p:nvSpPr>
            <p:cNvPr id="6" name="Shape 3"/>
            <p:cNvSpPr/>
            <p:nvPr/>
          </p:nvSpPr>
          <p:spPr>
            <a:xfrm>
              <a:off x="457200" y="1143000"/>
              <a:ext cx="11274552" cy="2971800"/>
            </a:xfrm>
            <a:prstGeom prst="roundRect">
              <a:avLst>
                <a:gd name="adj" fmla="val 2462"/>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a:p>
          </p:txBody>
        </p:sp>
        <p:sp>
          <p:nvSpPr>
            <p:cNvPr id="7" name="Shape 4"/>
            <p:cNvSpPr/>
            <p:nvPr/>
          </p:nvSpPr>
          <p:spPr>
            <a:xfrm>
              <a:off x="731520" y="2148840"/>
              <a:ext cx="868680" cy="868680"/>
            </a:xfrm>
            <a:prstGeom prst="ellipse">
              <a:avLst/>
            </a:prstGeom>
            <a:solidFill>
              <a:srgbClr val="6F7780"/>
            </a:solidFill>
            <a:ln w="12700">
              <a:solidFill>
                <a:srgbClr val="6F7780"/>
              </a:solidFill>
              <a:prstDash val="solid"/>
            </a:ln>
          </p:spPr>
          <p:txBody>
            <a:bodyPr/>
            <a:lstStyle/>
            <a:p>
              <a:endParaRPr/>
            </a:p>
          </p:txBody>
        </p:sp>
        <p:pic>
          <p:nvPicPr>
            <p:cNvPr id="8" name="Image 0" descr="preencoded.png"/>
            <p:cNvPicPr>
              <a:picLocks noChangeAspect="1"/>
            </p:cNvPicPr>
            <p:nvPr/>
          </p:nvPicPr>
          <p:blipFill>
            <a:blip r:embed="rId2"/>
            <a:stretch>
              <a:fillRect/>
            </a:stretch>
          </p:blipFill>
          <p:spPr>
            <a:xfrm>
              <a:off x="940003" y="2357323"/>
              <a:ext cx="451714" cy="451714"/>
            </a:xfrm>
            <a:prstGeom prst="rect">
              <a:avLst/>
            </a:prstGeom>
          </p:spPr>
        </p:pic>
        <p:sp>
          <p:nvSpPr>
            <p:cNvPr id="9" name="Shape 5"/>
            <p:cNvSpPr/>
            <p:nvPr/>
          </p:nvSpPr>
          <p:spPr>
            <a:xfrm>
              <a:off x="594360" y="1325880"/>
              <a:ext cx="1234440" cy="566928"/>
            </a:xfrm>
            <a:prstGeom prst="roundRect">
              <a:avLst>
                <a:gd name="adj" fmla="val 16129"/>
              </a:avLst>
            </a:prstGeom>
            <a:solidFill>
              <a:srgbClr val="F3F6F8"/>
            </a:solidFill>
            <a:ln w="12700">
              <a:solidFill>
                <a:srgbClr val="C9D3DA"/>
              </a:solidFill>
              <a:prstDash val="solid"/>
            </a:ln>
          </p:spPr>
          <p:txBody>
            <a:bodyPr/>
            <a:lstStyle/>
            <a:p>
              <a:endParaRPr/>
            </a:p>
          </p:txBody>
        </p:sp>
        <p:sp>
          <p:nvSpPr>
            <p:cNvPr id="10" name="Text 6"/>
            <p:cNvSpPr txBox="1"/>
            <p:nvPr/>
          </p:nvSpPr>
          <p:spPr>
            <a:xfrm>
              <a:off x="594360" y="1444752"/>
              <a:ext cx="1234440" cy="320040"/>
            </a:xfrm>
            <a:prstGeom prst="rect">
              <a:avLst/>
            </a:prstGeom>
            <a:noFill/>
            <a:ln/>
          </p:spPr>
          <p:txBody>
            <a:bodyPr wrap="square" lIns="0" tIns="0" rIns="0" bIns="0" rtlCol="0" anchor="ctr"/>
            <a:lstStyle/>
            <a:p>
              <a:pPr marL="0" indent="0" algn="ctr">
                <a:buNone/>
              </a:pPr>
              <a:r>
                <a:rPr lang="en-US" sz="1150" b="1" dirty="0">
                  <a:solidFill>
                    <a:srgbClr val="13293D"/>
                  </a:solidFill>
                  <a:latin typeface="Calibri" pitchFamily="34" charset="0"/>
                  <a:ea typeface="Calibri" pitchFamily="34" charset="-122"/>
                  <a:cs typeface="Calibri" pitchFamily="34" charset="-120"/>
                </a:rPr>
                <a:t>Hỏi tiếng Việt</a:t>
              </a:r>
              <a:endParaRPr lang="en-US" sz="1150" dirty="0"/>
            </a:p>
          </p:txBody>
        </p:sp>
        <p:sp>
          <p:nvSpPr>
            <p:cNvPr id="11" name="Shape 7"/>
            <p:cNvSpPr/>
            <p:nvPr/>
          </p:nvSpPr>
          <p:spPr>
            <a:xfrm>
              <a:off x="1691640" y="2578608"/>
              <a:ext cx="640080" cy="914"/>
            </a:xfrm>
            <a:prstGeom prst="line">
              <a:avLst/>
            </a:prstGeom>
            <a:noFill/>
            <a:ln w="31750">
              <a:solidFill>
                <a:srgbClr val="9AA7B0"/>
              </a:solidFill>
              <a:prstDash val="solid"/>
              <a:tailEnd type="triangle"/>
            </a:ln>
          </p:spPr>
          <p:txBody>
            <a:bodyPr/>
            <a:lstStyle/>
            <a:p>
              <a:endParaRPr/>
            </a:p>
          </p:txBody>
        </p:sp>
        <p:sp>
          <p:nvSpPr>
            <p:cNvPr id="12" name="Shape 8"/>
            <p:cNvSpPr/>
            <p:nvPr/>
          </p:nvSpPr>
          <p:spPr>
            <a:xfrm>
              <a:off x="2843784" y="1874520"/>
              <a:ext cx="1417320" cy="1874520"/>
            </a:xfrm>
            <a:prstGeom prst="rect">
              <a:avLst/>
            </a:prstGeom>
            <a:solidFill>
              <a:srgbClr val="FFFFFF"/>
            </a:solidFill>
            <a:ln w="19050">
              <a:solidFill>
                <a:srgbClr val="4B4B9C"/>
              </a:solidFill>
              <a:prstDash val="solid"/>
            </a:ln>
          </p:spPr>
          <p:txBody>
            <a:bodyPr/>
            <a:lstStyle/>
            <a:p>
              <a:endParaRPr/>
            </a:p>
          </p:txBody>
        </p:sp>
        <p:sp>
          <p:nvSpPr>
            <p:cNvPr id="13" name="Shape 9"/>
            <p:cNvSpPr/>
            <p:nvPr/>
          </p:nvSpPr>
          <p:spPr>
            <a:xfrm>
              <a:off x="3008376" y="2194560"/>
              <a:ext cx="1051560" cy="73152"/>
            </a:xfrm>
            <a:prstGeom prst="rect">
              <a:avLst/>
            </a:prstGeom>
            <a:solidFill>
              <a:srgbClr val="D9E3E9"/>
            </a:solidFill>
            <a:ln w="12700">
              <a:solidFill>
                <a:srgbClr val="D9E3E9"/>
              </a:solidFill>
              <a:prstDash val="solid"/>
            </a:ln>
          </p:spPr>
          <p:txBody>
            <a:bodyPr/>
            <a:lstStyle/>
            <a:p>
              <a:endParaRPr/>
            </a:p>
          </p:txBody>
        </p:sp>
        <p:sp>
          <p:nvSpPr>
            <p:cNvPr id="14" name="Shape 10"/>
            <p:cNvSpPr/>
            <p:nvPr/>
          </p:nvSpPr>
          <p:spPr>
            <a:xfrm>
              <a:off x="3008376" y="2468880"/>
              <a:ext cx="731520" cy="73152"/>
            </a:xfrm>
            <a:prstGeom prst="rect">
              <a:avLst/>
            </a:prstGeom>
            <a:solidFill>
              <a:srgbClr val="D9E3E9"/>
            </a:solidFill>
            <a:ln w="12700">
              <a:solidFill>
                <a:srgbClr val="D9E3E9"/>
              </a:solidFill>
              <a:prstDash val="solid"/>
            </a:ln>
          </p:spPr>
          <p:txBody>
            <a:bodyPr/>
            <a:lstStyle/>
            <a:p>
              <a:endParaRPr/>
            </a:p>
          </p:txBody>
        </p:sp>
        <p:sp>
          <p:nvSpPr>
            <p:cNvPr id="15" name="Shape 11"/>
            <p:cNvSpPr/>
            <p:nvPr/>
          </p:nvSpPr>
          <p:spPr>
            <a:xfrm>
              <a:off x="3008376" y="2743200"/>
              <a:ext cx="1051560" cy="73152"/>
            </a:xfrm>
            <a:prstGeom prst="rect">
              <a:avLst/>
            </a:prstGeom>
            <a:solidFill>
              <a:srgbClr val="D9E3E9"/>
            </a:solidFill>
            <a:ln w="12700">
              <a:solidFill>
                <a:srgbClr val="D9E3E9"/>
              </a:solidFill>
              <a:prstDash val="solid"/>
            </a:ln>
          </p:spPr>
          <p:txBody>
            <a:bodyPr/>
            <a:lstStyle/>
            <a:p>
              <a:endParaRPr/>
            </a:p>
          </p:txBody>
        </p:sp>
        <p:sp>
          <p:nvSpPr>
            <p:cNvPr id="16" name="Shape 12"/>
            <p:cNvSpPr/>
            <p:nvPr/>
          </p:nvSpPr>
          <p:spPr>
            <a:xfrm>
              <a:off x="3008376" y="3017520"/>
              <a:ext cx="731520" cy="73152"/>
            </a:xfrm>
            <a:prstGeom prst="rect">
              <a:avLst/>
            </a:prstGeom>
            <a:solidFill>
              <a:srgbClr val="D9E3E9"/>
            </a:solidFill>
            <a:ln w="12700">
              <a:solidFill>
                <a:srgbClr val="D9E3E9"/>
              </a:solidFill>
              <a:prstDash val="solid"/>
            </a:ln>
          </p:spPr>
          <p:txBody>
            <a:bodyPr/>
            <a:lstStyle/>
            <a:p>
              <a:endParaRPr/>
            </a:p>
          </p:txBody>
        </p:sp>
        <p:sp>
          <p:nvSpPr>
            <p:cNvPr id="17" name="Shape 13"/>
            <p:cNvSpPr/>
            <p:nvPr/>
          </p:nvSpPr>
          <p:spPr>
            <a:xfrm>
              <a:off x="3008376" y="3291840"/>
              <a:ext cx="1051560" cy="73152"/>
            </a:xfrm>
            <a:prstGeom prst="rect">
              <a:avLst/>
            </a:prstGeom>
            <a:solidFill>
              <a:srgbClr val="D9E3E9"/>
            </a:solidFill>
            <a:ln w="12700">
              <a:solidFill>
                <a:srgbClr val="D9E3E9"/>
              </a:solidFill>
              <a:prstDash val="solid"/>
            </a:ln>
          </p:spPr>
          <p:txBody>
            <a:bodyPr/>
            <a:lstStyle/>
            <a:p>
              <a:endParaRPr/>
            </a:p>
          </p:txBody>
        </p:sp>
        <p:sp>
          <p:nvSpPr>
            <p:cNvPr id="18" name="Shape 14"/>
            <p:cNvSpPr/>
            <p:nvPr/>
          </p:nvSpPr>
          <p:spPr>
            <a:xfrm>
              <a:off x="2679192" y="1737360"/>
              <a:ext cx="1417320" cy="1874520"/>
            </a:xfrm>
            <a:prstGeom prst="rect">
              <a:avLst/>
            </a:prstGeom>
            <a:solidFill>
              <a:srgbClr val="FFFFFF"/>
            </a:solidFill>
            <a:ln w="19050">
              <a:solidFill>
                <a:srgbClr val="1F6F8B"/>
              </a:solidFill>
              <a:prstDash val="solid"/>
            </a:ln>
          </p:spPr>
          <p:txBody>
            <a:bodyPr/>
            <a:lstStyle/>
            <a:p>
              <a:endParaRPr/>
            </a:p>
          </p:txBody>
        </p:sp>
        <p:sp>
          <p:nvSpPr>
            <p:cNvPr id="19" name="Shape 15"/>
            <p:cNvSpPr/>
            <p:nvPr/>
          </p:nvSpPr>
          <p:spPr>
            <a:xfrm>
              <a:off x="2843784" y="2057400"/>
              <a:ext cx="1051560" cy="73152"/>
            </a:xfrm>
            <a:prstGeom prst="rect">
              <a:avLst/>
            </a:prstGeom>
            <a:solidFill>
              <a:srgbClr val="D9E3E9"/>
            </a:solidFill>
            <a:ln w="12700">
              <a:solidFill>
                <a:srgbClr val="D9E3E9"/>
              </a:solidFill>
              <a:prstDash val="solid"/>
            </a:ln>
          </p:spPr>
          <p:txBody>
            <a:bodyPr/>
            <a:lstStyle/>
            <a:p>
              <a:endParaRPr/>
            </a:p>
          </p:txBody>
        </p:sp>
        <p:sp>
          <p:nvSpPr>
            <p:cNvPr id="20" name="Shape 16"/>
            <p:cNvSpPr/>
            <p:nvPr/>
          </p:nvSpPr>
          <p:spPr>
            <a:xfrm>
              <a:off x="2843784" y="2331720"/>
              <a:ext cx="731520" cy="73152"/>
            </a:xfrm>
            <a:prstGeom prst="rect">
              <a:avLst/>
            </a:prstGeom>
            <a:solidFill>
              <a:srgbClr val="D9E3E9"/>
            </a:solidFill>
            <a:ln w="12700">
              <a:solidFill>
                <a:srgbClr val="D9E3E9"/>
              </a:solidFill>
              <a:prstDash val="solid"/>
            </a:ln>
          </p:spPr>
          <p:txBody>
            <a:bodyPr/>
            <a:lstStyle/>
            <a:p>
              <a:endParaRPr/>
            </a:p>
          </p:txBody>
        </p:sp>
        <p:sp>
          <p:nvSpPr>
            <p:cNvPr id="21" name="Shape 17"/>
            <p:cNvSpPr/>
            <p:nvPr/>
          </p:nvSpPr>
          <p:spPr>
            <a:xfrm>
              <a:off x="2843784" y="2606040"/>
              <a:ext cx="1051560" cy="73152"/>
            </a:xfrm>
            <a:prstGeom prst="rect">
              <a:avLst/>
            </a:prstGeom>
            <a:solidFill>
              <a:srgbClr val="D9E3E9"/>
            </a:solidFill>
            <a:ln w="12700">
              <a:solidFill>
                <a:srgbClr val="D9E3E9"/>
              </a:solidFill>
              <a:prstDash val="solid"/>
            </a:ln>
          </p:spPr>
          <p:txBody>
            <a:bodyPr/>
            <a:lstStyle/>
            <a:p>
              <a:endParaRPr/>
            </a:p>
          </p:txBody>
        </p:sp>
        <p:sp>
          <p:nvSpPr>
            <p:cNvPr id="22" name="Shape 18"/>
            <p:cNvSpPr/>
            <p:nvPr/>
          </p:nvSpPr>
          <p:spPr>
            <a:xfrm>
              <a:off x="2843784" y="2880360"/>
              <a:ext cx="731520" cy="73152"/>
            </a:xfrm>
            <a:prstGeom prst="rect">
              <a:avLst/>
            </a:prstGeom>
            <a:solidFill>
              <a:srgbClr val="D9E3E9"/>
            </a:solidFill>
            <a:ln w="12700">
              <a:solidFill>
                <a:srgbClr val="D9E3E9"/>
              </a:solidFill>
              <a:prstDash val="solid"/>
            </a:ln>
          </p:spPr>
          <p:txBody>
            <a:bodyPr/>
            <a:lstStyle/>
            <a:p>
              <a:endParaRPr/>
            </a:p>
          </p:txBody>
        </p:sp>
        <p:sp>
          <p:nvSpPr>
            <p:cNvPr id="23" name="Shape 19"/>
            <p:cNvSpPr/>
            <p:nvPr/>
          </p:nvSpPr>
          <p:spPr>
            <a:xfrm>
              <a:off x="2843784" y="3154680"/>
              <a:ext cx="1051560" cy="73152"/>
            </a:xfrm>
            <a:prstGeom prst="rect">
              <a:avLst/>
            </a:prstGeom>
            <a:solidFill>
              <a:srgbClr val="D9E3E9"/>
            </a:solidFill>
            <a:ln w="12700">
              <a:solidFill>
                <a:srgbClr val="D9E3E9"/>
              </a:solidFill>
              <a:prstDash val="solid"/>
            </a:ln>
          </p:spPr>
          <p:txBody>
            <a:bodyPr/>
            <a:lstStyle/>
            <a:p>
              <a:endParaRPr/>
            </a:p>
          </p:txBody>
        </p:sp>
        <p:sp>
          <p:nvSpPr>
            <p:cNvPr id="24" name="Shape 20"/>
            <p:cNvSpPr/>
            <p:nvPr/>
          </p:nvSpPr>
          <p:spPr>
            <a:xfrm>
              <a:off x="2514600" y="1600200"/>
              <a:ext cx="1417320" cy="1874520"/>
            </a:xfrm>
            <a:prstGeom prst="rect">
              <a:avLst/>
            </a:prstGeom>
            <a:solidFill>
              <a:srgbClr val="FFFFFF"/>
            </a:solidFill>
            <a:ln w="19050">
              <a:solidFill>
                <a:srgbClr val="E08A2E"/>
              </a:solidFill>
              <a:prstDash val="solid"/>
            </a:ln>
          </p:spPr>
          <p:txBody>
            <a:bodyPr/>
            <a:lstStyle/>
            <a:p>
              <a:endParaRPr/>
            </a:p>
          </p:txBody>
        </p:sp>
        <p:sp>
          <p:nvSpPr>
            <p:cNvPr id="25" name="Shape 21"/>
            <p:cNvSpPr/>
            <p:nvPr/>
          </p:nvSpPr>
          <p:spPr>
            <a:xfrm>
              <a:off x="2679192" y="1920240"/>
              <a:ext cx="1051560" cy="73152"/>
            </a:xfrm>
            <a:prstGeom prst="rect">
              <a:avLst/>
            </a:prstGeom>
            <a:solidFill>
              <a:srgbClr val="D9E3E9"/>
            </a:solidFill>
            <a:ln w="12700">
              <a:solidFill>
                <a:srgbClr val="D9E3E9"/>
              </a:solidFill>
              <a:prstDash val="solid"/>
            </a:ln>
          </p:spPr>
          <p:txBody>
            <a:bodyPr/>
            <a:lstStyle/>
            <a:p>
              <a:endParaRPr/>
            </a:p>
          </p:txBody>
        </p:sp>
        <p:sp>
          <p:nvSpPr>
            <p:cNvPr id="26" name="Shape 22"/>
            <p:cNvSpPr/>
            <p:nvPr/>
          </p:nvSpPr>
          <p:spPr>
            <a:xfrm>
              <a:off x="2679192" y="2194560"/>
              <a:ext cx="731520" cy="73152"/>
            </a:xfrm>
            <a:prstGeom prst="rect">
              <a:avLst/>
            </a:prstGeom>
            <a:solidFill>
              <a:srgbClr val="D9E3E9"/>
            </a:solidFill>
            <a:ln w="12700">
              <a:solidFill>
                <a:srgbClr val="D9E3E9"/>
              </a:solidFill>
              <a:prstDash val="solid"/>
            </a:ln>
          </p:spPr>
          <p:txBody>
            <a:bodyPr/>
            <a:lstStyle/>
            <a:p>
              <a:endParaRPr/>
            </a:p>
          </p:txBody>
        </p:sp>
        <p:sp>
          <p:nvSpPr>
            <p:cNvPr id="27" name="Shape 23"/>
            <p:cNvSpPr/>
            <p:nvPr/>
          </p:nvSpPr>
          <p:spPr>
            <a:xfrm>
              <a:off x="2679192" y="2468880"/>
              <a:ext cx="1051560" cy="73152"/>
            </a:xfrm>
            <a:prstGeom prst="rect">
              <a:avLst/>
            </a:prstGeom>
            <a:solidFill>
              <a:srgbClr val="D9E3E9"/>
            </a:solidFill>
            <a:ln w="12700">
              <a:solidFill>
                <a:srgbClr val="D9E3E9"/>
              </a:solidFill>
              <a:prstDash val="solid"/>
            </a:ln>
          </p:spPr>
          <p:txBody>
            <a:bodyPr/>
            <a:lstStyle/>
            <a:p>
              <a:endParaRPr/>
            </a:p>
          </p:txBody>
        </p:sp>
        <p:sp>
          <p:nvSpPr>
            <p:cNvPr id="28" name="Shape 24"/>
            <p:cNvSpPr/>
            <p:nvPr/>
          </p:nvSpPr>
          <p:spPr>
            <a:xfrm>
              <a:off x="2679192" y="2743200"/>
              <a:ext cx="731520" cy="73152"/>
            </a:xfrm>
            <a:prstGeom prst="rect">
              <a:avLst/>
            </a:prstGeom>
            <a:solidFill>
              <a:srgbClr val="D9E3E9"/>
            </a:solidFill>
            <a:ln w="12700">
              <a:solidFill>
                <a:srgbClr val="D9E3E9"/>
              </a:solidFill>
              <a:prstDash val="solid"/>
            </a:ln>
          </p:spPr>
          <p:txBody>
            <a:bodyPr/>
            <a:lstStyle/>
            <a:p>
              <a:endParaRPr/>
            </a:p>
          </p:txBody>
        </p:sp>
        <p:sp>
          <p:nvSpPr>
            <p:cNvPr id="29" name="Shape 25"/>
            <p:cNvSpPr/>
            <p:nvPr/>
          </p:nvSpPr>
          <p:spPr>
            <a:xfrm>
              <a:off x="2679192" y="3017520"/>
              <a:ext cx="1051560" cy="73152"/>
            </a:xfrm>
            <a:prstGeom prst="rect">
              <a:avLst/>
            </a:prstGeom>
            <a:solidFill>
              <a:srgbClr val="D9E3E9"/>
            </a:solidFill>
            <a:ln w="12700">
              <a:solidFill>
                <a:srgbClr val="D9E3E9"/>
              </a:solidFill>
              <a:prstDash val="solid"/>
            </a:ln>
          </p:spPr>
          <p:txBody>
            <a:bodyPr/>
            <a:lstStyle/>
            <a:p>
              <a:endParaRPr/>
            </a:p>
          </p:txBody>
        </p:sp>
        <p:sp>
          <p:nvSpPr>
            <p:cNvPr id="30" name="Shape 26"/>
            <p:cNvSpPr/>
            <p:nvPr/>
          </p:nvSpPr>
          <p:spPr>
            <a:xfrm>
              <a:off x="2679192" y="2212848"/>
              <a:ext cx="1051560" cy="146304"/>
            </a:xfrm>
            <a:prstGeom prst="rect">
              <a:avLst/>
            </a:prstGeom>
            <a:solidFill>
              <a:srgbClr val="FFE08A"/>
            </a:solidFill>
            <a:ln w="12700">
              <a:solidFill>
                <a:srgbClr val="FFE08A"/>
              </a:solidFill>
              <a:prstDash val="solid"/>
            </a:ln>
          </p:spPr>
          <p:txBody>
            <a:bodyPr/>
            <a:lstStyle/>
            <a:p>
              <a:endParaRPr/>
            </a:p>
          </p:txBody>
        </p:sp>
        <p:sp>
          <p:nvSpPr>
            <p:cNvPr id="31" name="Shape 27"/>
            <p:cNvSpPr/>
            <p:nvPr/>
          </p:nvSpPr>
          <p:spPr>
            <a:xfrm>
              <a:off x="3429000" y="2514600"/>
              <a:ext cx="685800" cy="685800"/>
            </a:xfrm>
            <a:prstGeom prst="ellipse">
              <a:avLst/>
            </a:prstGeom>
            <a:solidFill>
              <a:srgbClr val="1F6F8B"/>
            </a:solidFill>
            <a:ln w="12700">
              <a:solidFill>
                <a:srgbClr val="1F6F8B"/>
              </a:solidFill>
              <a:prstDash val="solid"/>
            </a:ln>
          </p:spPr>
          <p:txBody>
            <a:bodyPr/>
            <a:lstStyle/>
            <a:p>
              <a:endParaRPr/>
            </a:p>
          </p:txBody>
        </p:sp>
        <p:pic>
          <p:nvPicPr>
            <p:cNvPr id="32" name="Image 1" descr="preencoded.png"/>
            <p:cNvPicPr>
              <a:picLocks noChangeAspect="1"/>
            </p:cNvPicPr>
            <p:nvPr/>
          </p:nvPicPr>
          <p:blipFill>
            <a:blip r:embed="rId3"/>
            <a:stretch>
              <a:fillRect/>
            </a:stretch>
          </p:blipFill>
          <p:spPr>
            <a:xfrm>
              <a:off x="3593592" y="2679192"/>
              <a:ext cx="356616" cy="356616"/>
            </a:xfrm>
            <a:prstGeom prst="rect">
              <a:avLst/>
            </a:prstGeom>
          </p:spPr>
        </p:pic>
        <p:sp>
          <p:nvSpPr>
            <p:cNvPr id="33" name="Text 28"/>
            <p:cNvSpPr txBox="1"/>
            <p:nvPr/>
          </p:nvSpPr>
          <p:spPr>
            <a:xfrm>
              <a:off x="2331720" y="3703320"/>
              <a:ext cx="2194560" cy="320040"/>
            </a:xfrm>
            <a:prstGeom prst="rect">
              <a:avLst/>
            </a:prstGeom>
            <a:noFill/>
            <a:ln/>
          </p:spPr>
          <p:txBody>
            <a:bodyPr wrap="square" lIns="0" tIns="0" rIns="0" bIns="0" rtlCol="0" anchor="ctr"/>
            <a:lstStyle/>
            <a:p>
              <a:pPr marL="0" indent="0" algn="ctr">
                <a:buNone/>
              </a:pPr>
              <a:r>
                <a:rPr lang="en-US" sz="1150" b="1" dirty="0">
                  <a:solidFill>
                    <a:srgbClr val="5B6B76"/>
                  </a:solidFill>
                  <a:latin typeface="Calibri" pitchFamily="34" charset="0"/>
                  <a:ea typeface="Calibri" pitchFamily="34" charset="-122"/>
                  <a:cs typeface="Calibri" pitchFamily="34" charset="-120"/>
                </a:rPr>
                <a:t>giáo trình · quy định</a:t>
              </a:r>
              <a:endParaRPr lang="en-US" sz="1150" dirty="0"/>
            </a:p>
          </p:txBody>
        </p:sp>
        <p:sp>
          <p:nvSpPr>
            <p:cNvPr id="34" name="Shape 29"/>
            <p:cNvSpPr/>
            <p:nvPr/>
          </p:nvSpPr>
          <p:spPr>
            <a:xfrm>
              <a:off x="4526280" y="2578608"/>
              <a:ext cx="640080" cy="914"/>
            </a:xfrm>
            <a:prstGeom prst="line">
              <a:avLst/>
            </a:prstGeom>
            <a:noFill/>
            <a:ln w="31750">
              <a:solidFill>
                <a:srgbClr val="9AA7B0"/>
              </a:solidFill>
              <a:prstDash val="solid"/>
              <a:tailEnd type="triangle"/>
            </a:ln>
          </p:spPr>
          <p:txBody>
            <a:bodyPr/>
            <a:lstStyle/>
            <a:p>
              <a:endParaRPr/>
            </a:p>
          </p:txBody>
        </p:sp>
        <p:sp>
          <p:nvSpPr>
            <p:cNvPr id="35" name="Shape 30"/>
            <p:cNvSpPr/>
            <p:nvPr/>
          </p:nvSpPr>
          <p:spPr>
            <a:xfrm>
              <a:off x="5257800" y="1783080"/>
              <a:ext cx="1600200" cy="1600200"/>
            </a:xfrm>
            <a:prstGeom prst="ellipse">
              <a:avLst/>
            </a:prstGeom>
            <a:solidFill>
              <a:srgbClr val="EEEEF8"/>
            </a:solidFill>
            <a:ln w="25400">
              <a:solidFill>
                <a:srgbClr val="4B4B9C"/>
              </a:solidFill>
              <a:prstDash val="solid"/>
            </a:ln>
          </p:spPr>
          <p:txBody>
            <a:bodyPr/>
            <a:lstStyle/>
            <a:p>
              <a:endParaRPr/>
            </a:p>
          </p:txBody>
        </p:sp>
        <p:sp>
          <p:nvSpPr>
            <p:cNvPr id="36" name="Shape 31"/>
            <p:cNvSpPr/>
            <p:nvPr/>
          </p:nvSpPr>
          <p:spPr>
            <a:xfrm>
              <a:off x="5650992" y="2176272"/>
              <a:ext cx="822960" cy="822960"/>
            </a:xfrm>
            <a:prstGeom prst="ellipse">
              <a:avLst/>
            </a:prstGeom>
            <a:solidFill>
              <a:srgbClr val="4B4B9C"/>
            </a:solidFill>
            <a:ln w="12700">
              <a:solidFill>
                <a:srgbClr val="4B4B9C"/>
              </a:solidFill>
              <a:prstDash val="solid"/>
            </a:ln>
          </p:spPr>
          <p:txBody>
            <a:bodyPr/>
            <a:lstStyle/>
            <a:p>
              <a:endParaRPr/>
            </a:p>
          </p:txBody>
        </p:sp>
        <p:pic>
          <p:nvPicPr>
            <p:cNvPr id="37" name="Image 2" descr="preencoded.png"/>
            <p:cNvPicPr>
              <a:picLocks noChangeAspect="1"/>
            </p:cNvPicPr>
            <p:nvPr/>
          </p:nvPicPr>
          <p:blipFill>
            <a:blip r:embed="rId4"/>
            <a:stretch>
              <a:fillRect/>
            </a:stretch>
          </p:blipFill>
          <p:spPr>
            <a:xfrm>
              <a:off x="5848502" y="2373782"/>
              <a:ext cx="427939" cy="427939"/>
            </a:xfrm>
            <a:prstGeom prst="rect">
              <a:avLst/>
            </a:prstGeom>
          </p:spPr>
        </p:pic>
        <p:sp>
          <p:nvSpPr>
            <p:cNvPr id="38" name="Text 32"/>
            <p:cNvSpPr txBox="1"/>
            <p:nvPr/>
          </p:nvSpPr>
          <p:spPr>
            <a:xfrm>
              <a:off x="4937760" y="3493008"/>
              <a:ext cx="2240280" cy="320040"/>
            </a:xfrm>
            <a:prstGeom prst="rect">
              <a:avLst/>
            </a:prstGeom>
            <a:noFill/>
            <a:ln/>
          </p:spPr>
          <p:txBody>
            <a:bodyPr wrap="square" lIns="0" tIns="0" rIns="0" bIns="0" rtlCol="0" anchor="ctr"/>
            <a:lstStyle/>
            <a:p>
              <a:pPr marL="0" indent="0" algn="ctr">
                <a:buNone/>
              </a:pPr>
              <a:r>
                <a:rPr lang="en-US" sz="1150" b="1" dirty="0">
                  <a:solidFill>
                    <a:srgbClr val="5B6B76"/>
                  </a:solidFill>
                  <a:latin typeface="Calibri" pitchFamily="34" charset="0"/>
                  <a:ea typeface="Calibri" pitchFamily="34" charset="-122"/>
                  <a:cs typeface="Calibri" pitchFamily="34" charset="-120"/>
                </a:rPr>
                <a:t>mô hình ngôn ngữ</a:t>
              </a:r>
              <a:endParaRPr lang="en-US" sz="1150" dirty="0"/>
            </a:p>
          </p:txBody>
        </p:sp>
        <p:sp>
          <p:nvSpPr>
            <p:cNvPr id="39" name="Shape 33"/>
            <p:cNvSpPr/>
            <p:nvPr/>
          </p:nvSpPr>
          <p:spPr>
            <a:xfrm>
              <a:off x="6949440" y="2578608"/>
              <a:ext cx="640080" cy="914"/>
            </a:xfrm>
            <a:prstGeom prst="line">
              <a:avLst/>
            </a:prstGeom>
            <a:noFill/>
            <a:ln w="31750">
              <a:solidFill>
                <a:srgbClr val="9AA7B0"/>
              </a:solidFill>
              <a:prstDash val="solid"/>
              <a:tailEnd type="triangle"/>
            </a:ln>
          </p:spPr>
          <p:txBody>
            <a:bodyPr/>
            <a:lstStyle/>
            <a:p>
              <a:endParaRPr/>
            </a:p>
          </p:txBody>
        </p:sp>
        <p:sp>
          <p:nvSpPr>
            <p:cNvPr id="40" name="Shape 34"/>
            <p:cNvSpPr/>
            <p:nvPr/>
          </p:nvSpPr>
          <p:spPr>
            <a:xfrm>
              <a:off x="7726680" y="1600200"/>
              <a:ext cx="2194560" cy="1920240"/>
            </a:xfrm>
            <a:prstGeom prst="roundRect">
              <a:avLst>
                <a:gd name="adj" fmla="val 7143"/>
              </a:avLst>
            </a:prstGeom>
            <a:solidFill>
              <a:srgbClr val="E3F4F2"/>
            </a:solidFill>
            <a:ln w="19050">
              <a:solidFill>
                <a:srgbClr val="1BA39C"/>
              </a:solidFill>
              <a:prstDash val="solid"/>
            </a:ln>
          </p:spPr>
          <p:txBody>
            <a:bodyPr/>
            <a:lstStyle/>
            <a:p>
              <a:endParaRPr/>
            </a:p>
          </p:txBody>
        </p:sp>
        <p:sp>
          <p:nvSpPr>
            <p:cNvPr id="41" name="Shape 35"/>
            <p:cNvSpPr/>
            <p:nvPr/>
          </p:nvSpPr>
          <p:spPr>
            <a:xfrm>
              <a:off x="7955280" y="1874520"/>
              <a:ext cx="1737360" cy="91440"/>
            </a:xfrm>
            <a:prstGeom prst="rect">
              <a:avLst/>
            </a:prstGeom>
            <a:solidFill>
              <a:srgbClr val="A9D9D2"/>
            </a:solidFill>
            <a:ln w="12700">
              <a:solidFill>
                <a:srgbClr val="A9D9D2"/>
              </a:solidFill>
              <a:prstDash val="solid"/>
            </a:ln>
          </p:spPr>
          <p:txBody>
            <a:bodyPr/>
            <a:lstStyle/>
            <a:p>
              <a:endParaRPr/>
            </a:p>
          </p:txBody>
        </p:sp>
        <p:sp>
          <p:nvSpPr>
            <p:cNvPr id="42" name="Shape 36"/>
            <p:cNvSpPr/>
            <p:nvPr/>
          </p:nvSpPr>
          <p:spPr>
            <a:xfrm>
              <a:off x="7955280" y="2167128"/>
              <a:ext cx="1737360" cy="91440"/>
            </a:xfrm>
            <a:prstGeom prst="rect">
              <a:avLst/>
            </a:prstGeom>
            <a:solidFill>
              <a:srgbClr val="A9D9D2"/>
            </a:solidFill>
            <a:ln w="12700">
              <a:solidFill>
                <a:srgbClr val="A9D9D2"/>
              </a:solidFill>
              <a:prstDash val="solid"/>
            </a:ln>
          </p:spPr>
          <p:txBody>
            <a:bodyPr/>
            <a:lstStyle/>
            <a:p>
              <a:endParaRPr/>
            </a:p>
          </p:txBody>
        </p:sp>
        <p:sp>
          <p:nvSpPr>
            <p:cNvPr id="43" name="Shape 37"/>
            <p:cNvSpPr/>
            <p:nvPr/>
          </p:nvSpPr>
          <p:spPr>
            <a:xfrm>
              <a:off x="7955280" y="2459736"/>
              <a:ext cx="1737360" cy="91440"/>
            </a:xfrm>
            <a:prstGeom prst="rect">
              <a:avLst/>
            </a:prstGeom>
            <a:solidFill>
              <a:srgbClr val="A9D9D2"/>
            </a:solidFill>
            <a:ln w="12700">
              <a:solidFill>
                <a:srgbClr val="A9D9D2"/>
              </a:solidFill>
              <a:prstDash val="solid"/>
            </a:ln>
          </p:spPr>
          <p:txBody>
            <a:bodyPr/>
            <a:lstStyle/>
            <a:p>
              <a:endParaRPr/>
            </a:p>
          </p:txBody>
        </p:sp>
        <p:sp>
          <p:nvSpPr>
            <p:cNvPr id="44" name="Shape 38"/>
            <p:cNvSpPr/>
            <p:nvPr/>
          </p:nvSpPr>
          <p:spPr>
            <a:xfrm>
              <a:off x="7955280" y="2752344"/>
              <a:ext cx="1005840" cy="91440"/>
            </a:xfrm>
            <a:prstGeom prst="rect">
              <a:avLst/>
            </a:prstGeom>
            <a:solidFill>
              <a:srgbClr val="A9D9D2"/>
            </a:solidFill>
            <a:ln w="12700">
              <a:solidFill>
                <a:srgbClr val="A9D9D2"/>
              </a:solidFill>
              <a:prstDash val="solid"/>
            </a:ln>
          </p:spPr>
          <p:txBody>
            <a:bodyPr/>
            <a:lstStyle/>
            <a:p>
              <a:endParaRPr/>
            </a:p>
          </p:txBody>
        </p:sp>
        <p:sp>
          <p:nvSpPr>
            <p:cNvPr id="45" name="Shape 39"/>
            <p:cNvSpPr/>
            <p:nvPr/>
          </p:nvSpPr>
          <p:spPr>
            <a:xfrm>
              <a:off x="9006840" y="2743200"/>
              <a:ext cx="502920" cy="292608"/>
            </a:xfrm>
            <a:prstGeom prst="roundRect">
              <a:avLst>
                <a:gd name="adj" fmla="val 50000"/>
              </a:avLst>
            </a:prstGeom>
            <a:solidFill>
              <a:srgbClr val="1BA39C"/>
            </a:solidFill>
            <a:ln w="12700">
              <a:solidFill>
                <a:srgbClr val="1BA39C"/>
              </a:solidFill>
              <a:prstDash val="solid"/>
            </a:ln>
          </p:spPr>
          <p:txBody>
            <a:bodyPr/>
            <a:lstStyle/>
            <a:p>
              <a:endParaRPr/>
            </a:p>
          </p:txBody>
        </p:sp>
        <p:sp>
          <p:nvSpPr>
            <p:cNvPr id="46" name="Text 40"/>
            <p:cNvSpPr txBox="1"/>
            <p:nvPr/>
          </p:nvSpPr>
          <p:spPr>
            <a:xfrm>
              <a:off x="9006840" y="2743200"/>
              <a:ext cx="50292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7" name="Text 41"/>
            <p:cNvSpPr txBox="1"/>
            <p:nvPr/>
          </p:nvSpPr>
          <p:spPr>
            <a:xfrm>
              <a:off x="7589520" y="3566160"/>
              <a:ext cx="2468880" cy="320040"/>
            </a:xfrm>
            <a:prstGeom prst="rect">
              <a:avLst/>
            </a:prstGeom>
            <a:noFill/>
            <a:ln/>
          </p:spPr>
          <p:txBody>
            <a:bodyPr wrap="square" lIns="0" tIns="0" rIns="0" bIns="0" rtlCol="0" anchor="ctr"/>
            <a:lstStyle/>
            <a:p>
              <a:pPr marL="0" indent="0" algn="ctr">
                <a:buNone/>
              </a:pPr>
              <a:r>
                <a:rPr lang="en-US" sz="1150" b="1" dirty="0">
                  <a:solidFill>
                    <a:srgbClr val="1BA39C"/>
                  </a:solidFill>
                  <a:latin typeface="Calibri" pitchFamily="34" charset="0"/>
                  <a:ea typeface="Calibri" pitchFamily="34" charset="-122"/>
                  <a:cs typeface="Calibri" pitchFamily="34" charset="-120"/>
                </a:rPr>
                <a:t>trả lời + trích dẫn</a:t>
              </a:r>
              <a:endParaRPr lang="en-US" sz="1150" dirty="0"/>
            </a:p>
          </p:txBody>
        </p:sp>
        <p:sp>
          <p:nvSpPr>
            <p:cNvPr id="48" name="Shape 42"/>
            <p:cNvSpPr/>
            <p:nvPr/>
          </p:nvSpPr>
          <p:spPr>
            <a:xfrm>
              <a:off x="10424160" y="1874520"/>
              <a:ext cx="685800" cy="685800"/>
            </a:xfrm>
            <a:prstGeom prst="ellipse">
              <a:avLst/>
            </a:prstGeom>
            <a:solidFill>
              <a:srgbClr val="A80000"/>
            </a:solidFill>
            <a:ln w="12700">
              <a:solidFill>
                <a:srgbClr val="A80000"/>
              </a:solidFill>
              <a:prstDash val="solid"/>
            </a:ln>
          </p:spPr>
          <p:txBody>
            <a:bodyPr/>
            <a:lstStyle/>
            <a:p>
              <a:endParaRPr/>
            </a:p>
          </p:txBody>
        </p:sp>
        <p:pic>
          <p:nvPicPr>
            <p:cNvPr id="49" name="Image 3" descr="preencoded.png"/>
            <p:cNvPicPr>
              <a:picLocks noChangeAspect="1"/>
            </p:cNvPicPr>
            <p:nvPr/>
          </p:nvPicPr>
          <p:blipFill>
            <a:blip r:embed="rId5"/>
            <a:stretch>
              <a:fillRect/>
            </a:stretch>
          </p:blipFill>
          <p:spPr>
            <a:xfrm>
              <a:off x="10588752" y="2039112"/>
              <a:ext cx="356616" cy="356616"/>
            </a:xfrm>
            <a:prstGeom prst="rect">
              <a:avLst/>
            </a:prstGeom>
          </p:spPr>
        </p:pic>
        <p:sp>
          <p:nvSpPr>
            <p:cNvPr id="50" name="Text 43"/>
            <p:cNvSpPr txBox="1"/>
            <p:nvPr/>
          </p:nvSpPr>
          <p:spPr>
            <a:xfrm>
              <a:off x="10058400" y="2606040"/>
              <a:ext cx="1463040" cy="548640"/>
            </a:xfrm>
            <a:prstGeom prst="rect">
              <a:avLst/>
            </a:prstGeom>
            <a:noFill/>
            <a:ln/>
          </p:spPr>
          <p:txBody>
            <a:bodyPr wrap="square" lIns="0" tIns="0" rIns="0" bIns="0" rtlCol="0" anchor="ctr"/>
            <a:lstStyle/>
            <a:p>
              <a:pPr marL="0" indent="0" algn="ctr">
                <a:buNone/>
              </a:pPr>
              <a:r>
                <a:rPr lang="en-US" sz="1150" b="1" dirty="0">
                  <a:solidFill>
                    <a:srgbClr val="A80000"/>
                  </a:solidFill>
                  <a:latin typeface="Calibri" pitchFamily="34" charset="0"/>
                  <a:ea typeface="Calibri" pitchFamily="34" charset="-122"/>
                  <a:cs typeface="Calibri" pitchFamily="34" charset="-120"/>
                </a:rPr>
                <a:t>từ chối khi</a:t>
              </a:r>
              <a:endParaRPr lang="en-US" sz="1150" dirty="0"/>
            </a:p>
            <a:p>
              <a:pPr marL="0" indent="0" algn="ctr">
                <a:buNone/>
              </a:pPr>
              <a:r>
                <a:rPr lang="en-US" sz="1150" b="1" dirty="0">
                  <a:solidFill>
                    <a:srgbClr val="A80000"/>
                  </a:solidFill>
                  <a:latin typeface="Calibri" pitchFamily="34" charset="0"/>
                  <a:ea typeface="Calibri" pitchFamily="34" charset="-122"/>
                  <a:cs typeface="Calibri" pitchFamily="34" charset="-120"/>
                </a:rPr>
                <a:t>thiếu chứng cứ</a:t>
              </a:r>
              <a:endParaRPr lang="en-US" sz="1150" dirty="0"/>
            </a:p>
          </p:txBody>
        </p:sp>
        <p:sp>
          <p:nvSpPr>
            <p:cNvPr id="51" name="Shape 44"/>
            <p:cNvSpPr/>
            <p:nvPr/>
          </p:nvSpPr>
          <p:spPr>
            <a:xfrm>
              <a:off x="9966960" y="2194560"/>
              <a:ext cx="411480" cy="914"/>
            </a:xfrm>
            <a:prstGeom prst="line">
              <a:avLst/>
            </a:prstGeom>
            <a:noFill/>
            <a:ln w="19050">
              <a:solidFill>
                <a:srgbClr val="E8A0A0"/>
              </a:solidFill>
              <a:prstDash val="dash"/>
            </a:ln>
          </p:spPr>
          <p:txBody>
            <a:bodyPr/>
            <a:lstStyle/>
            <a:p>
              <a:endParaRPr/>
            </a:p>
          </p:txBody>
        </p:sp>
        <p:sp>
          <p:nvSpPr>
            <p:cNvPr id="52" name="Shape 45"/>
            <p:cNvSpPr/>
            <p:nvPr/>
          </p:nvSpPr>
          <p:spPr>
            <a:xfrm>
              <a:off x="457200" y="4343400"/>
              <a:ext cx="2423160" cy="1600200"/>
            </a:xfrm>
            <a:prstGeom prst="roundRect">
              <a:avLst>
                <a:gd name="adj" fmla="val 4571"/>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a:p>
          </p:txBody>
        </p:sp>
        <p:sp>
          <p:nvSpPr>
            <p:cNvPr id="53" name="Shape 46"/>
            <p:cNvSpPr/>
            <p:nvPr/>
          </p:nvSpPr>
          <p:spPr>
            <a:xfrm>
              <a:off x="1046988" y="4526280"/>
              <a:ext cx="566928" cy="566928"/>
            </a:xfrm>
            <a:prstGeom prst="ellipse">
              <a:avLst/>
            </a:prstGeom>
            <a:solidFill>
              <a:srgbClr val="1F6F8B"/>
            </a:solidFill>
            <a:ln w="12700">
              <a:solidFill>
                <a:srgbClr val="1F6F8B"/>
              </a:solidFill>
              <a:prstDash val="solid"/>
            </a:ln>
          </p:spPr>
          <p:txBody>
            <a:bodyPr/>
            <a:lstStyle/>
            <a:p>
              <a:endParaRPr/>
            </a:p>
          </p:txBody>
        </p:sp>
        <p:pic>
          <p:nvPicPr>
            <p:cNvPr id="54" name="Image 4" descr="preencoded.png"/>
            <p:cNvPicPr>
              <a:picLocks noChangeAspect="1"/>
            </p:cNvPicPr>
            <p:nvPr/>
          </p:nvPicPr>
          <p:blipFill>
            <a:blip r:embed="rId6"/>
            <a:stretch>
              <a:fillRect/>
            </a:stretch>
          </p:blipFill>
          <p:spPr>
            <a:xfrm>
              <a:off x="1183051" y="4662343"/>
              <a:ext cx="294803" cy="294803"/>
            </a:xfrm>
            <a:prstGeom prst="rect">
              <a:avLst/>
            </a:prstGeom>
          </p:spPr>
        </p:pic>
        <p:sp>
          <p:nvSpPr>
            <p:cNvPr id="55" name="Text 47"/>
            <p:cNvSpPr txBox="1"/>
            <p:nvPr/>
          </p:nvSpPr>
          <p:spPr>
            <a:xfrm>
              <a:off x="1549908" y="4645152"/>
              <a:ext cx="274320" cy="320040"/>
            </a:xfrm>
            <a:prstGeom prst="rect">
              <a:avLst/>
            </a:prstGeom>
            <a:noFill/>
            <a:ln/>
          </p:spPr>
          <p:txBody>
            <a:bodyPr wrap="square" lIns="0" tIns="0" rIns="0" bIns="0" rtlCol="0" anchor="ctr"/>
            <a:lstStyle/>
            <a:p>
              <a:pPr marL="0" indent="0" algn="ctr">
                <a:buNone/>
              </a:pPr>
              <a:r>
                <a:rPr lang="en-US" sz="1400" b="1" dirty="0">
                  <a:solidFill>
                    <a:srgbClr val="5B6B76"/>
                  </a:solidFill>
                  <a:latin typeface="Calibri" pitchFamily="34" charset="0"/>
                  <a:ea typeface="Calibri" pitchFamily="34" charset="-122"/>
                  <a:cs typeface="Calibri" pitchFamily="34" charset="-120"/>
                </a:rPr>
                <a:t>+</a:t>
              </a:r>
              <a:endParaRPr lang="en-US" sz="1400" dirty="0"/>
            </a:p>
          </p:txBody>
        </p:sp>
        <p:sp>
          <p:nvSpPr>
            <p:cNvPr id="56" name="Shape 48"/>
            <p:cNvSpPr/>
            <p:nvPr/>
          </p:nvSpPr>
          <p:spPr>
            <a:xfrm>
              <a:off x="1723644" y="4526280"/>
              <a:ext cx="566928" cy="566928"/>
            </a:xfrm>
            <a:prstGeom prst="ellipse">
              <a:avLst/>
            </a:prstGeom>
            <a:solidFill>
              <a:srgbClr val="1F6F8B"/>
            </a:solidFill>
            <a:ln w="12700">
              <a:solidFill>
                <a:srgbClr val="1F6F8B"/>
              </a:solidFill>
              <a:prstDash val="solid"/>
            </a:ln>
          </p:spPr>
          <p:txBody>
            <a:bodyPr/>
            <a:lstStyle/>
            <a:p>
              <a:endParaRPr/>
            </a:p>
          </p:txBody>
        </p:sp>
        <p:pic>
          <p:nvPicPr>
            <p:cNvPr id="57" name="Image 5" descr="preencoded.png"/>
            <p:cNvPicPr>
              <a:picLocks noChangeAspect="1"/>
            </p:cNvPicPr>
            <p:nvPr/>
          </p:nvPicPr>
          <p:blipFill>
            <a:blip r:embed="rId4"/>
            <a:stretch>
              <a:fillRect/>
            </a:stretch>
          </p:blipFill>
          <p:spPr>
            <a:xfrm>
              <a:off x="1859707" y="4662343"/>
              <a:ext cx="294803" cy="294803"/>
            </a:xfrm>
            <a:prstGeom prst="rect">
              <a:avLst/>
            </a:prstGeom>
          </p:spPr>
        </p:pic>
        <p:sp>
          <p:nvSpPr>
            <p:cNvPr id="58" name="Text 49"/>
            <p:cNvSpPr txBox="1"/>
            <p:nvPr/>
          </p:nvSpPr>
          <p:spPr>
            <a:xfrm>
              <a:off x="457200" y="5257800"/>
              <a:ext cx="2423160" cy="320040"/>
            </a:xfrm>
            <a:prstGeom prst="rect">
              <a:avLst/>
            </a:prstGeom>
            <a:noFill/>
            <a:ln/>
          </p:spPr>
          <p:txBody>
            <a:bodyPr wrap="square" lIns="0" tIns="0" rIns="0" bIns="0" rtlCol="0" anchor="ctr"/>
            <a:lstStyle/>
            <a:p>
              <a:pPr marL="0" indent="0" algn="ctr">
                <a:buNone/>
              </a:pPr>
              <a:r>
                <a:rPr lang="en-US" sz="1700" b="1" dirty="0">
                  <a:solidFill>
                    <a:srgbClr val="1F6F8B"/>
                  </a:solidFill>
                  <a:latin typeface="Cambria" pitchFamily="34" charset="0"/>
                  <a:ea typeface="Cambria" pitchFamily="34" charset="-122"/>
                  <a:cs typeface="Cambria" pitchFamily="34" charset="-120"/>
                </a:rPr>
                <a:t>RAG</a:t>
              </a:r>
              <a:endParaRPr lang="en-US" sz="1700" dirty="0"/>
            </a:p>
          </p:txBody>
        </p:sp>
        <p:sp>
          <p:nvSpPr>
            <p:cNvPr id="59" name="Shape 50"/>
            <p:cNvSpPr/>
            <p:nvPr/>
          </p:nvSpPr>
          <p:spPr>
            <a:xfrm>
              <a:off x="3063240" y="4343400"/>
              <a:ext cx="2423160" cy="1600200"/>
            </a:xfrm>
            <a:prstGeom prst="roundRect">
              <a:avLst>
                <a:gd name="adj" fmla="val 4571"/>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a:p>
          </p:txBody>
        </p:sp>
        <p:sp>
          <p:nvSpPr>
            <p:cNvPr id="60" name="Shape 51"/>
            <p:cNvSpPr/>
            <p:nvPr/>
          </p:nvSpPr>
          <p:spPr>
            <a:xfrm>
              <a:off x="3653028" y="4526280"/>
              <a:ext cx="566928" cy="566928"/>
            </a:xfrm>
            <a:prstGeom prst="ellipse">
              <a:avLst/>
            </a:prstGeom>
            <a:solidFill>
              <a:srgbClr val="E08A2E"/>
            </a:solidFill>
            <a:ln w="12700">
              <a:solidFill>
                <a:srgbClr val="E08A2E"/>
              </a:solidFill>
              <a:prstDash val="solid"/>
            </a:ln>
          </p:spPr>
          <p:txBody>
            <a:bodyPr/>
            <a:lstStyle/>
            <a:p>
              <a:endParaRPr/>
            </a:p>
          </p:txBody>
        </p:sp>
        <p:pic>
          <p:nvPicPr>
            <p:cNvPr id="61" name="Image 6" descr="preencoded.png"/>
            <p:cNvPicPr>
              <a:picLocks noChangeAspect="1"/>
            </p:cNvPicPr>
            <p:nvPr/>
          </p:nvPicPr>
          <p:blipFill>
            <a:blip r:embed="rId4"/>
            <a:stretch>
              <a:fillRect/>
            </a:stretch>
          </p:blipFill>
          <p:spPr>
            <a:xfrm>
              <a:off x="3789091" y="4662343"/>
              <a:ext cx="294803" cy="294803"/>
            </a:xfrm>
            <a:prstGeom prst="rect">
              <a:avLst/>
            </a:prstGeom>
          </p:spPr>
        </p:pic>
        <p:sp>
          <p:nvSpPr>
            <p:cNvPr id="62" name="Text 52"/>
            <p:cNvSpPr txBox="1"/>
            <p:nvPr/>
          </p:nvSpPr>
          <p:spPr>
            <a:xfrm>
              <a:off x="4155948" y="4645152"/>
              <a:ext cx="274320" cy="320040"/>
            </a:xfrm>
            <a:prstGeom prst="rect">
              <a:avLst/>
            </a:prstGeom>
            <a:noFill/>
            <a:ln/>
          </p:spPr>
          <p:txBody>
            <a:bodyPr wrap="square" lIns="0" tIns="0" rIns="0" bIns="0" rtlCol="0" anchor="ctr"/>
            <a:lstStyle/>
            <a:p>
              <a:pPr marL="0" indent="0" algn="ctr">
                <a:buNone/>
              </a:pPr>
              <a:r>
                <a:rPr lang="en-US" sz="1400" b="1" dirty="0">
                  <a:solidFill>
                    <a:srgbClr val="5B6B76"/>
                  </a:solidFill>
                  <a:latin typeface="Calibri" pitchFamily="34" charset="0"/>
                  <a:ea typeface="Calibri" pitchFamily="34" charset="-122"/>
                  <a:cs typeface="Calibri" pitchFamily="34" charset="-120"/>
                </a:rPr>
                <a:t>+</a:t>
              </a:r>
              <a:endParaRPr lang="en-US" sz="1400" dirty="0"/>
            </a:p>
          </p:txBody>
        </p:sp>
        <p:sp>
          <p:nvSpPr>
            <p:cNvPr id="63" name="Shape 53"/>
            <p:cNvSpPr/>
            <p:nvPr/>
          </p:nvSpPr>
          <p:spPr>
            <a:xfrm>
              <a:off x="4329684" y="4526280"/>
              <a:ext cx="566928" cy="566928"/>
            </a:xfrm>
            <a:prstGeom prst="ellipse">
              <a:avLst/>
            </a:prstGeom>
            <a:solidFill>
              <a:srgbClr val="E08A2E"/>
            </a:solidFill>
            <a:ln w="12700">
              <a:solidFill>
                <a:srgbClr val="E08A2E"/>
              </a:solidFill>
              <a:prstDash val="solid"/>
            </a:ln>
          </p:spPr>
          <p:txBody>
            <a:bodyPr/>
            <a:lstStyle/>
            <a:p>
              <a:endParaRPr/>
            </a:p>
          </p:txBody>
        </p:sp>
        <p:pic>
          <p:nvPicPr>
            <p:cNvPr id="64" name="Image 7" descr="preencoded.png"/>
            <p:cNvPicPr>
              <a:picLocks noChangeAspect="1"/>
            </p:cNvPicPr>
            <p:nvPr/>
          </p:nvPicPr>
          <p:blipFill>
            <a:blip r:embed="rId7"/>
            <a:stretch>
              <a:fillRect/>
            </a:stretch>
          </p:blipFill>
          <p:spPr>
            <a:xfrm>
              <a:off x="4465747" y="4662343"/>
              <a:ext cx="294803" cy="294803"/>
            </a:xfrm>
            <a:prstGeom prst="rect">
              <a:avLst/>
            </a:prstGeom>
          </p:spPr>
        </p:pic>
        <p:sp>
          <p:nvSpPr>
            <p:cNvPr id="65" name="Text 54"/>
            <p:cNvSpPr txBox="1"/>
            <p:nvPr/>
          </p:nvSpPr>
          <p:spPr>
            <a:xfrm>
              <a:off x="3063240" y="5257800"/>
              <a:ext cx="2423160" cy="320040"/>
            </a:xfrm>
            <a:prstGeom prst="rect">
              <a:avLst/>
            </a:prstGeom>
            <a:noFill/>
            <a:ln/>
          </p:spPr>
          <p:txBody>
            <a:bodyPr wrap="square" lIns="0" tIns="0" rIns="0" bIns="0" rtlCol="0" anchor="ctr"/>
            <a:lstStyle/>
            <a:p>
              <a:pPr marL="0" indent="0" algn="ctr">
                <a:buNone/>
              </a:pPr>
              <a:r>
                <a:rPr lang="en-US" sz="1700" b="1" dirty="0">
                  <a:solidFill>
                    <a:srgbClr val="E08A2E"/>
                  </a:solidFill>
                  <a:latin typeface="Cambria" pitchFamily="34" charset="0"/>
                  <a:ea typeface="Cambria" pitchFamily="34" charset="-122"/>
                  <a:cs typeface="Cambria" pitchFamily="34" charset="-120"/>
                </a:rPr>
                <a:t>Tinh chỉnh</a:t>
              </a:r>
              <a:endParaRPr lang="en-US" sz="1700" dirty="0"/>
            </a:p>
          </p:txBody>
        </p:sp>
        <p:sp>
          <p:nvSpPr>
            <p:cNvPr id="66" name="Shape 55"/>
            <p:cNvSpPr/>
            <p:nvPr/>
          </p:nvSpPr>
          <p:spPr>
            <a:xfrm>
              <a:off x="5669280" y="4343400"/>
              <a:ext cx="2423160" cy="1600200"/>
            </a:xfrm>
            <a:prstGeom prst="roundRect">
              <a:avLst>
                <a:gd name="adj" fmla="val 4571"/>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a:p>
          </p:txBody>
        </p:sp>
        <p:sp>
          <p:nvSpPr>
            <p:cNvPr id="67" name="Shape 56"/>
            <p:cNvSpPr/>
            <p:nvPr/>
          </p:nvSpPr>
          <p:spPr>
            <a:xfrm>
              <a:off x="5920740" y="4526280"/>
              <a:ext cx="566928" cy="566928"/>
            </a:xfrm>
            <a:prstGeom prst="ellipse">
              <a:avLst/>
            </a:prstGeom>
            <a:solidFill>
              <a:srgbClr val="4B4B9C"/>
            </a:solidFill>
            <a:ln w="12700">
              <a:solidFill>
                <a:srgbClr val="4B4B9C"/>
              </a:solidFill>
              <a:prstDash val="solid"/>
            </a:ln>
          </p:spPr>
          <p:txBody>
            <a:bodyPr/>
            <a:lstStyle/>
            <a:p>
              <a:endParaRPr/>
            </a:p>
          </p:txBody>
        </p:sp>
        <p:pic>
          <p:nvPicPr>
            <p:cNvPr id="68" name="Image 8" descr="preencoded.png"/>
            <p:cNvPicPr>
              <a:picLocks noChangeAspect="1"/>
            </p:cNvPicPr>
            <p:nvPr/>
          </p:nvPicPr>
          <p:blipFill>
            <a:blip r:embed="rId6"/>
            <a:stretch>
              <a:fillRect/>
            </a:stretch>
          </p:blipFill>
          <p:spPr>
            <a:xfrm>
              <a:off x="6056803" y="4662343"/>
              <a:ext cx="294803" cy="294803"/>
            </a:xfrm>
            <a:prstGeom prst="rect">
              <a:avLst/>
            </a:prstGeom>
          </p:spPr>
        </p:pic>
        <p:sp>
          <p:nvSpPr>
            <p:cNvPr id="69" name="Text 57"/>
            <p:cNvSpPr txBox="1"/>
            <p:nvPr/>
          </p:nvSpPr>
          <p:spPr>
            <a:xfrm>
              <a:off x="6423660" y="4645152"/>
              <a:ext cx="274320" cy="320040"/>
            </a:xfrm>
            <a:prstGeom prst="rect">
              <a:avLst/>
            </a:prstGeom>
            <a:noFill/>
            <a:ln/>
          </p:spPr>
          <p:txBody>
            <a:bodyPr wrap="square" lIns="0" tIns="0" rIns="0" bIns="0" rtlCol="0" anchor="ctr"/>
            <a:lstStyle/>
            <a:p>
              <a:pPr marL="0" indent="0" algn="ctr">
                <a:buNone/>
              </a:pPr>
              <a:r>
                <a:rPr lang="en-US" sz="1400" b="1" dirty="0">
                  <a:solidFill>
                    <a:srgbClr val="5B6B76"/>
                  </a:solidFill>
                  <a:latin typeface="Calibri" pitchFamily="34" charset="0"/>
                  <a:ea typeface="Calibri" pitchFamily="34" charset="-122"/>
                  <a:cs typeface="Calibri" pitchFamily="34" charset="-120"/>
                </a:rPr>
                <a:t>+</a:t>
              </a:r>
              <a:endParaRPr lang="en-US" sz="1400" dirty="0"/>
            </a:p>
          </p:txBody>
        </p:sp>
        <p:sp>
          <p:nvSpPr>
            <p:cNvPr id="70" name="Shape 58"/>
            <p:cNvSpPr/>
            <p:nvPr/>
          </p:nvSpPr>
          <p:spPr>
            <a:xfrm>
              <a:off x="6597396" y="4526280"/>
              <a:ext cx="566928" cy="566928"/>
            </a:xfrm>
            <a:prstGeom prst="ellipse">
              <a:avLst/>
            </a:prstGeom>
            <a:solidFill>
              <a:srgbClr val="4B4B9C"/>
            </a:solidFill>
            <a:ln w="12700">
              <a:solidFill>
                <a:srgbClr val="4B4B9C"/>
              </a:solidFill>
              <a:prstDash val="solid"/>
            </a:ln>
          </p:spPr>
          <p:txBody>
            <a:bodyPr/>
            <a:lstStyle/>
            <a:p>
              <a:endParaRPr/>
            </a:p>
          </p:txBody>
        </p:sp>
        <p:pic>
          <p:nvPicPr>
            <p:cNvPr id="71" name="Image 9" descr="preencoded.png"/>
            <p:cNvPicPr>
              <a:picLocks noChangeAspect="1"/>
            </p:cNvPicPr>
            <p:nvPr/>
          </p:nvPicPr>
          <p:blipFill>
            <a:blip r:embed="rId4"/>
            <a:stretch>
              <a:fillRect/>
            </a:stretch>
          </p:blipFill>
          <p:spPr>
            <a:xfrm>
              <a:off x="6733459" y="4662343"/>
              <a:ext cx="294803" cy="294803"/>
            </a:xfrm>
            <a:prstGeom prst="rect">
              <a:avLst/>
            </a:prstGeom>
          </p:spPr>
        </p:pic>
        <p:sp>
          <p:nvSpPr>
            <p:cNvPr id="72" name="Text 59"/>
            <p:cNvSpPr txBox="1"/>
            <p:nvPr/>
          </p:nvSpPr>
          <p:spPr>
            <a:xfrm>
              <a:off x="7100316" y="4645152"/>
              <a:ext cx="274320" cy="320040"/>
            </a:xfrm>
            <a:prstGeom prst="rect">
              <a:avLst/>
            </a:prstGeom>
            <a:noFill/>
            <a:ln/>
          </p:spPr>
          <p:txBody>
            <a:bodyPr wrap="square" lIns="0" tIns="0" rIns="0" bIns="0" rtlCol="0" anchor="ctr"/>
            <a:lstStyle/>
            <a:p>
              <a:pPr marL="0" indent="0" algn="ctr">
                <a:buNone/>
              </a:pPr>
              <a:r>
                <a:rPr lang="en-US" sz="1400" b="1" dirty="0">
                  <a:solidFill>
                    <a:srgbClr val="5B6B76"/>
                  </a:solidFill>
                  <a:latin typeface="Calibri" pitchFamily="34" charset="0"/>
                  <a:ea typeface="Calibri" pitchFamily="34" charset="-122"/>
                  <a:cs typeface="Calibri" pitchFamily="34" charset="-120"/>
                </a:rPr>
                <a:t>+</a:t>
              </a:r>
              <a:endParaRPr lang="en-US" sz="1400" dirty="0"/>
            </a:p>
          </p:txBody>
        </p:sp>
        <p:sp>
          <p:nvSpPr>
            <p:cNvPr id="73" name="Shape 60"/>
            <p:cNvSpPr/>
            <p:nvPr/>
          </p:nvSpPr>
          <p:spPr>
            <a:xfrm>
              <a:off x="7274052" y="4526280"/>
              <a:ext cx="566928" cy="566928"/>
            </a:xfrm>
            <a:prstGeom prst="ellipse">
              <a:avLst/>
            </a:prstGeom>
            <a:solidFill>
              <a:srgbClr val="4B4B9C"/>
            </a:solidFill>
            <a:ln w="12700">
              <a:solidFill>
                <a:srgbClr val="4B4B9C"/>
              </a:solidFill>
              <a:prstDash val="solid"/>
            </a:ln>
          </p:spPr>
          <p:txBody>
            <a:bodyPr/>
            <a:lstStyle/>
            <a:p>
              <a:endParaRPr/>
            </a:p>
          </p:txBody>
        </p:sp>
        <p:pic>
          <p:nvPicPr>
            <p:cNvPr id="74" name="Image 10" descr="preencoded.png"/>
            <p:cNvPicPr>
              <a:picLocks noChangeAspect="1"/>
            </p:cNvPicPr>
            <p:nvPr/>
          </p:nvPicPr>
          <p:blipFill>
            <a:blip r:embed="rId7"/>
            <a:stretch>
              <a:fillRect/>
            </a:stretch>
          </p:blipFill>
          <p:spPr>
            <a:xfrm>
              <a:off x="7410115" y="4662343"/>
              <a:ext cx="294803" cy="294803"/>
            </a:xfrm>
            <a:prstGeom prst="rect">
              <a:avLst/>
            </a:prstGeom>
          </p:spPr>
        </p:pic>
        <p:sp>
          <p:nvSpPr>
            <p:cNvPr id="75" name="Text 61"/>
            <p:cNvSpPr txBox="1"/>
            <p:nvPr/>
          </p:nvSpPr>
          <p:spPr>
            <a:xfrm>
              <a:off x="5669280" y="5257800"/>
              <a:ext cx="2423160" cy="320040"/>
            </a:xfrm>
            <a:prstGeom prst="rect">
              <a:avLst/>
            </a:prstGeom>
            <a:noFill/>
            <a:ln/>
          </p:spPr>
          <p:txBody>
            <a:bodyPr wrap="square" lIns="0" tIns="0" rIns="0" bIns="0" rtlCol="0" anchor="ctr"/>
            <a:lstStyle/>
            <a:p>
              <a:pPr marL="0" indent="0" algn="ctr">
                <a:buNone/>
              </a:pPr>
              <a:r>
                <a:rPr lang="en-US" sz="1700" b="1" dirty="0">
                  <a:solidFill>
                    <a:srgbClr val="4B4B9C"/>
                  </a:solidFill>
                  <a:latin typeface="Cambria" pitchFamily="34" charset="0"/>
                  <a:ea typeface="Cambria" pitchFamily="34" charset="-122"/>
                  <a:cs typeface="Cambria" pitchFamily="34" charset="-120"/>
                </a:rPr>
                <a:t>Kết hợp</a:t>
              </a:r>
              <a:endParaRPr lang="en-US" sz="1700" dirty="0"/>
            </a:p>
          </p:txBody>
        </p:sp>
        <p:sp>
          <p:nvSpPr>
            <p:cNvPr id="76" name="Text 62"/>
            <p:cNvSpPr txBox="1"/>
            <p:nvPr/>
          </p:nvSpPr>
          <p:spPr>
            <a:xfrm>
              <a:off x="457200" y="5961888"/>
              <a:ext cx="7635240" cy="274320"/>
            </a:xfrm>
            <a:prstGeom prst="rect">
              <a:avLst/>
            </a:prstGeom>
            <a:noFill/>
            <a:ln/>
          </p:spPr>
          <p:txBody>
            <a:bodyPr wrap="square" lIns="0" tIns="0" rIns="0" bIns="0" rtlCol="0" anchor="t"/>
            <a:lstStyle/>
            <a:p>
              <a:pPr marL="0" indent="0" algn="ctr">
                <a:buNone/>
              </a:pPr>
              <a:r>
                <a:rPr lang="en-US" sz="1200" i="1" dirty="0">
                  <a:solidFill>
                    <a:srgbClr val="5B6B76"/>
                  </a:solidFill>
                  <a:latin typeface="Calibri" pitchFamily="34" charset="0"/>
                  <a:ea typeface="Calibri" pitchFamily="34" charset="-122"/>
                  <a:cs typeface="Calibri" pitchFamily="34" charset="-120"/>
                </a:rPr>
                <a:t>so trên cùng bộ đề</a:t>
              </a:r>
              <a:endParaRPr lang="en-US" sz="1200" dirty="0"/>
            </a:p>
          </p:txBody>
        </p:sp>
        <p:sp>
          <p:nvSpPr>
            <p:cNvPr id="77" name="Shape 63"/>
            <p:cNvSpPr/>
            <p:nvPr/>
          </p:nvSpPr>
          <p:spPr>
            <a:xfrm>
              <a:off x="8275320" y="4343400"/>
              <a:ext cx="3456432" cy="1600200"/>
            </a:xfrm>
            <a:prstGeom prst="roundRect">
              <a:avLst>
                <a:gd name="adj" fmla="val 4571"/>
              </a:avLst>
            </a:prstGeom>
            <a:solidFill>
              <a:srgbClr val="FBEAEA"/>
            </a:solidFill>
            <a:ln w="12700">
              <a:solidFill>
                <a:srgbClr val="F1CACA"/>
              </a:solidFill>
              <a:prstDash val="solid"/>
            </a:ln>
            <a:effectLst>
              <a:outerShdw blurRad="76200" dist="25400" dir="5400000" algn="bl" rotWithShape="0">
                <a:srgbClr val="9FB3C0">
                  <a:alpha val="30000"/>
                </a:srgbClr>
              </a:outerShdw>
            </a:effectLst>
          </p:spPr>
          <p:txBody>
            <a:bodyPr/>
            <a:lstStyle/>
            <a:p>
              <a:endParaRPr/>
            </a:p>
          </p:txBody>
        </p:sp>
        <p:graphicFrame>
          <p:nvGraphicFramePr>
            <p:cNvPr id="78" name="Chart 0"/>
            <p:cNvGraphicFramePr/>
            <p:nvPr>
              <p:extLst>
                <p:ext uri="{D42A27DB-BD31-4B8C-83A1-F6EECF244321}">
                  <p14:modId xmlns:p14="http://schemas.microsoft.com/office/powerpoint/2010/main" val="3020646437"/>
                </p:ext>
              </p:extLst>
            </p:nvPr>
          </p:nvGraphicFramePr>
          <p:xfrm>
            <a:off x="8412480" y="4434840"/>
            <a:ext cx="1417320" cy="1417320"/>
          </p:xfrm>
          <a:graphic>
            <a:graphicData uri="http://schemas.openxmlformats.org/drawingml/2006/chart">
              <c:chart xmlns:c="http://schemas.openxmlformats.org/drawingml/2006/chart" xmlns:r="http://schemas.openxmlformats.org/officeDocument/2006/relationships" r:id="rId8"/>
            </a:graphicData>
          </a:graphic>
        </p:graphicFrame>
        <p:sp>
          <p:nvSpPr>
            <p:cNvPr id="79" name="Text 64"/>
            <p:cNvSpPr txBox="1"/>
            <p:nvPr/>
          </p:nvSpPr>
          <p:spPr>
            <a:xfrm>
              <a:off x="8412480" y="4910328"/>
              <a:ext cx="1417320" cy="457200"/>
            </a:xfrm>
            <a:prstGeom prst="rect">
              <a:avLst/>
            </a:prstGeom>
            <a:noFill/>
            <a:ln/>
          </p:spPr>
          <p:txBody>
            <a:bodyPr wrap="square" lIns="0" tIns="0" rIns="0" bIns="0" rtlCol="0" anchor="ctr"/>
            <a:lstStyle/>
            <a:p>
              <a:pPr marL="0" indent="0" algn="ctr">
                <a:buNone/>
              </a:pPr>
              <a:r>
                <a:rPr lang="en-US" sz="1500" b="1" dirty="0">
                  <a:solidFill>
                    <a:srgbClr val="A80000"/>
                  </a:solidFill>
                  <a:latin typeface="Cambria" pitchFamily="34" charset="0"/>
                  <a:ea typeface="Cambria" pitchFamily="34" charset="-122"/>
                  <a:cs typeface="Cambria" pitchFamily="34" charset="-120"/>
                </a:rPr>
                <a:t>&gt;50%</a:t>
              </a:r>
              <a:endParaRPr lang="en-US" sz="1500" dirty="0"/>
            </a:p>
          </p:txBody>
        </p:sp>
        <p:sp>
          <p:nvSpPr>
            <p:cNvPr id="80" name="Text 65"/>
            <p:cNvSpPr txBox="1"/>
            <p:nvPr/>
          </p:nvSpPr>
          <p:spPr>
            <a:xfrm>
              <a:off x="9784080" y="4434840"/>
              <a:ext cx="1874520" cy="1417320"/>
            </a:xfrm>
            <a:prstGeom prst="rect">
              <a:avLst/>
            </a:prstGeom>
            <a:noFill/>
            <a:ln/>
          </p:spPr>
          <p:txBody>
            <a:bodyPr wrap="square" lIns="0" tIns="0" rIns="0" bIns="0" rtlCol="0" anchor="ctr"/>
            <a:lstStyle/>
            <a:p>
              <a:pPr marL="0" indent="0">
                <a:buNone/>
              </a:pPr>
              <a:r>
                <a:rPr lang="en-US" sz="1200" dirty="0">
                  <a:solidFill>
                    <a:srgbClr val="1E2A32"/>
                  </a:solidFill>
                  <a:latin typeface="Calibri" pitchFamily="34" charset="0"/>
                  <a:ea typeface="Calibri" pitchFamily="34" charset="-122"/>
                  <a:cs typeface="Calibri" pitchFamily="34" charset="-120"/>
                </a:rPr>
                <a:t>mô hình chuyên ngành trong GenAI doanh nghiệp vào 2028 (dự báo)</a:t>
              </a:r>
              <a:endParaRPr lang="en-US" sz="1200" dirty="0"/>
            </a:p>
          </p:txBody>
        </p:sp>
        <p:sp>
          <p:nvSpPr>
            <p:cNvPr id="81" name="Text 66"/>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Lewis và cộng sự, NeurIPS 2020 [9] · Gartner, 2025 [2]</a:t>
              </a:r>
              <a:endParaRPr lang="en-US" sz="10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Đa phương thức và mô hình lai</a:t>
            </a:r>
            <a:endParaRPr lang="en-US" sz="2800" dirty="0"/>
          </a:p>
        </p:txBody>
      </p:sp>
      <p:sp>
        <p:nvSpPr>
          <p:cNvPr id="3" name="Shape 1"/>
          <p:cNvSpPr/>
          <p:nvPr/>
        </p:nvSpPr>
        <p:spPr>
          <a:xfrm>
            <a:off x="457200" y="6510528"/>
            <a:ext cx="128016" cy="128016"/>
          </a:xfrm>
          <a:prstGeom prst="ellipse">
            <a:avLst/>
          </a:prstGeom>
          <a:solidFill>
            <a:srgbClr val="1F6F8B"/>
          </a:solidFill>
          <a:ln w="12700">
            <a:solidFill>
              <a:srgbClr val="1F6F8B"/>
            </a:solidFill>
            <a:prstDash val="solid"/>
          </a:ln>
        </p:spPr>
        <p:txBody>
          <a:bodyPr/>
          <a:lstStyle/>
          <a:p>
            <a:endParaRPr/>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1F6F8B"/>
                </a:solidFill>
                <a:latin typeface="Calibri" pitchFamily="34" charset="0"/>
                <a:ea typeface="Calibri" pitchFamily="34" charset="-122"/>
                <a:cs typeface="Calibri" pitchFamily="34" charset="-120"/>
              </a:rPr>
              <a:t>2 · HƯỚNG ƯU TIÊN</a:t>
            </a:r>
            <a:endParaRPr lang="en-US" sz="1100" dirty="0"/>
          </a:p>
        </p:txBody>
      </p:sp>
      <p:grpSp>
        <p:nvGrpSpPr>
          <p:cNvPr id="58" name="Group 57">
            <a:extLst>
              <a:ext uri="{FF2B5EF4-FFF2-40B4-BE49-F238E27FC236}">
                <a16:creationId xmlns:a16="http://schemas.microsoft.com/office/drawing/2014/main" id="{63079FC4-9174-D1F0-6744-1357F5413785}"/>
              </a:ext>
            </a:extLst>
          </p:cNvPr>
          <p:cNvGrpSpPr/>
          <p:nvPr/>
        </p:nvGrpSpPr>
        <p:grpSpPr>
          <a:xfrm>
            <a:off x="457200" y="1097280"/>
            <a:ext cx="11292840" cy="4892040"/>
            <a:chOff x="457200" y="1097280"/>
            <a:chExt cx="11292840" cy="4892040"/>
          </a:xfrm>
        </p:grpSpPr>
        <p:sp>
          <p:nvSpPr>
            <p:cNvPr id="6" name="Text 3"/>
            <p:cNvSpPr txBox="1"/>
            <p:nvPr/>
          </p:nvSpPr>
          <p:spPr>
            <a:xfrm>
              <a:off x="457200" y="1097280"/>
              <a:ext cx="5577840" cy="384048"/>
            </a:xfrm>
            <a:prstGeom prst="rect">
              <a:avLst/>
            </a:prstGeom>
            <a:noFill/>
            <a:ln/>
          </p:spPr>
          <p:txBody>
            <a:bodyPr wrap="square" lIns="0" tIns="0" rIns="0" bIns="0" rtlCol="0" anchor="t"/>
            <a:lstStyle/>
            <a:p>
              <a:pPr marL="0" indent="0">
                <a:buNone/>
              </a:pPr>
              <a:r>
                <a:rPr lang="en-US" sz="1800" b="1" dirty="0">
                  <a:solidFill>
                    <a:srgbClr val="E08A2E"/>
                  </a:solidFill>
                  <a:latin typeface="Cambria" pitchFamily="34" charset="0"/>
                  <a:ea typeface="Cambria" pitchFamily="34" charset="-122"/>
                  <a:cs typeface="Cambria" pitchFamily="34" charset="-120"/>
                </a:rPr>
                <a:t>Camera + cảm biến → phát hiện bất thường</a:t>
              </a:r>
              <a:endParaRPr lang="en-US" sz="1800" dirty="0"/>
            </a:p>
          </p:txBody>
        </p:sp>
        <p:sp>
          <p:nvSpPr>
            <p:cNvPr id="7" name="Shape 4"/>
            <p:cNvSpPr/>
            <p:nvPr/>
          </p:nvSpPr>
          <p:spPr>
            <a:xfrm>
              <a:off x="457200" y="1554480"/>
              <a:ext cx="5577840" cy="3703320"/>
            </a:xfrm>
            <a:prstGeom prst="roundRect">
              <a:avLst>
                <a:gd name="adj" fmla="val 1975"/>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a:p>
          </p:txBody>
        </p:sp>
        <p:sp>
          <p:nvSpPr>
            <p:cNvPr id="8" name="Shape 5"/>
            <p:cNvSpPr/>
            <p:nvPr/>
          </p:nvSpPr>
          <p:spPr>
            <a:xfrm>
              <a:off x="731520" y="1783080"/>
              <a:ext cx="777240" cy="777240"/>
            </a:xfrm>
            <a:prstGeom prst="ellipse">
              <a:avLst/>
            </a:prstGeom>
            <a:solidFill>
              <a:srgbClr val="E08A2E"/>
            </a:solidFill>
            <a:ln w="12700">
              <a:solidFill>
                <a:srgbClr val="E08A2E"/>
              </a:solidFill>
              <a:prstDash val="solid"/>
            </a:ln>
          </p:spPr>
          <p:txBody>
            <a:bodyPr/>
            <a:lstStyle/>
            <a:p>
              <a:endParaRPr/>
            </a:p>
          </p:txBody>
        </p:sp>
        <p:pic>
          <p:nvPicPr>
            <p:cNvPr id="9" name="Image 0" descr="preencoded.png"/>
            <p:cNvPicPr>
              <a:picLocks noChangeAspect="1"/>
            </p:cNvPicPr>
            <p:nvPr/>
          </p:nvPicPr>
          <p:blipFill>
            <a:blip r:embed="rId2"/>
            <a:stretch>
              <a:fillRect/>
            </a:stretch>
          </p:blipFill>
          <p:spPr>
            <a:xfrm>
              <a:off x="918058" y="1969618"/>
              <a:ext cx="404165" cy="404165"/>
            </a:xfrm>
            <a:prstGeom prst="rect">
              <a:avLst/>
            </a:prstGeom>
          </p:spPr>
        </p:pic>
        <p:sp>
          <p:nvSpPr>
            <p:cNvPr id="10" name="Text 6"/>
            <p:cNvSpPr txBox="1"/>
            <p:nvPr/>
          </p:nvSpPr>
          <p:spPr>
            <a:xfrm>
              <a:off x="502920" y="2578608"/>
              <a:ext cx="1234440" cy="320040"/>
            </a:xfrm>
            <a:prstGeom prst="rect">
              <a:avLst/>
            </a:prstGeom>
            <a:noFill/>
            <a:ln/>
          </p:spPr>
          <p:txBody>
            <a:bodyPr wrap="square" lIns="0" tIns="0" rIns="0" bIns="0" rtlCol="0" anchor="ctr"/>
            <a:lstStyle/>
            <a:p>
              <a:pPr marL="0" indent="0" algn="ctr">
                <a:buNone/>
              </a:pPr>
              <a:r>
                <a:rPr lang="en-US" sz="1150" b="1" dirty="0">
                  <a:solidFill>
                    <a:srgbClr val="5B6B76"/>
                  </a:solidFill>
                  <a:latin typeface="Calibri" pitchFamily="34" charset="0"/>
                  <a:ea typeface="Calibri" pitchFamily="34" charset="-122"/>
                  <a:cs typeface="Calibri" pitchFamily="34" charset="-120"/>
                </a:rPr>
                <a:t>camera</a:t>
              </a:r>
              <a:endParaRPr lang="en-US" sz="1150" dirty="0"/>
            </a:p>
          </p:txBody>
        </p:sp>
        <p:sp>
          <p:nvSpPr>
            <p:cNvPr id="11" name="Shape 7"/>
            <p:cNvSpPr/>
            <p:nvPr/>
          </p:nvSpPr>
          <p:spPr>
            <a:xfrm>
              <a:off x="731520" y="3017520"/>
              <a:ext cx="777240" cy="777240"/>
            </a:xfrm>
            <a:prstGeom prst="ellipse">
              <a:avLst/>
            </a:prstGeom>
            <a:solidFill>
              <a:srgbClr val="E08A2E"/>
            </a:solidFill>
            <a:ln w="12700">
              <a:solidFill>
                <a:srgbClr val="E08A2E"/>
              </a:solidFill>
              <a:prstDash val="solid"/>
            </a:ln>
          </p:spPr>
          <p:txBody>
            <a:bodyPr/>
            <a:lstStyle/>
            <a:p>
              <a:endParaRPr/>
            </a:p>
          </p:txBody>
        </p:sp>
        <p:pic>
          <p:nvPicPr>
            <p:cNvPr id="12" name="Image 1" descr="preencoded.png"/>
            <p:cNvPicPr>
              <a:picLocks noChangeAspect="1"/>
            </p:cNvPicPr>
            <p:nvPr/>
          </p:nvPicPr>
          <p:blipFill>
            <a:blip r:embed="rId3"/>
            <a:stretch>
              <a:fillRect/>
            </a:stretch>
          </p:blipFill>
          <p:spPr>
            <a:xfrm>
              <a:off x="918058" y="3204058"/>
              <a:ext cx="404165" cy="404165"/>
            </a:xfrm>
            <a:prstGeom prst="rect">
              <a:avLst/>
            </a:prstGeom>
          </p:spPr>
        </p:pic>
        <p:sp>
          <p:nvSpPr>
            <p:cNvPr id="13" name="Text 8"/>
            <p:cNvSpPr txBox="1"/>
            <p:nvPr/>
          </p:nvSpPr>
          <p:spPr>
            <a:xfrm>
              <a:off x="502920" y="3813048"/>
              <a:ext cx="1234440" cy="320040"/>
            </a:xfrm>
            <a:prstGeom prst="rect">
              <a:avLst/>
            </a:prstGeom>
            <a:noFill/>
            <a:ln/>
          </p:spPr>
          <p:txBody>
            <a:bodyPr wrap="square" lIns="0" tIns="0" rIns="0" bIns="0" rtlCol="0" anchor="ctr"/>
            <a:lstStyle/>
            <a:p>
              <a:pPr marL="0" indent="0" algn="ctr">
                <a:buNone/>
              </a:pPr>
              <a:r>
                <a:rPr lang="en-US" sz="1150" b="1" dirty="0">
                  <a:solidFill>
                    <a:srgbClr val="5B6B76"/>
                  </a:solidFill>
                  <a:latin typeface="Calibri" pitchFamily="34" charset="0"/>
                  <a:ea typeface="Calibri" pitchFamily="34" charset="-122"/>
                  <a:cs typeface="Calibri" pitchFamily="34" charset="-120"/>
                </a:rPr>
                <a:t>cảm biến</a:t>
              </a:r>
              <a:endParaRPr lang="en-US" sz="1150" dirty="0"/>
            </a:p>
          </p:txBody>
        </p:sp>
        <p:sp>
          <p:nvSpPr>
            <p:cNvPr id="14" name="Shape 9"/>
            <p:cNvSpPr/>
            <p:nvPr/>
          </p:nvSpPr>
          <p:spPr>
            <a:xfrm>
              <a:off x="1600200" y="2194560"/>
              <a:ext cx="640080" cy="502920"/>
            </a:xfrm>
            <a:prstGeom prst="line">
              <a:avLst/>
            </a:prstGeom>
            <a:noFill/>
            <a:ln w="31750">
              <a:solidFill>
                <a:srgbClr val="9AA7B0"/>
              </a:solidFill>
              <a:prstDash val="solid"/>
              <a:tailEnd type="triangle"/>
            </a:ln>
          </p:spPr>
          <p:txBody>
            <a:bodyPr/>
            <a:lstStyle/>
            <a:p>
              <a:endParaRPr/>
            </a:p>
          </p:txBody>
        </p:sp>
        <p:sp>
          <p:nvSpPr>
            <p:cNvPr id="15" name="Shape 10"/>
            <p:cNvSpPr/>
            <p:nvPr/>
          </p:nvSpPr>
          <p:spPr>
            <a:xfrm flipV="1">
              <a:off x="1600200" y="2971800"/>
              <a:ext cx="640080" cy="457200"/>
            </a:xfrm>
            <a:prstGeom prst="line">
              <a:avLst/>
            </a:prstGeom>
            <a:noFill/>
            <a:ln w="31750">
              <a:solidFill>
                <a:srgbClr val="9AA7B0"/>
              </a:solidFill>
              <a:prstDash val="solid"/>
              <a:tailEnd type="triangle"/>
            </a:ln>
          </p:spPr>
          <p:txBody>
            <a:bodyPr/>
            <a:lstStyle/>
            <a:p>
              <a:endParaRPr/>
            </a:p>
          </p:txBody>
        </p:sp>
        <p:sp>
          <p:nvSpPr>
            <p:cNvPr id="16" name="Shape 11"/>
            <p:cNvSpPr/>
            <p:nvPr/>
          </p:nvSpPr>
          <p:spPr>
            <a:xfrm>
              <a:off x="2286000" y="2377440"/>
              <a:ext cx="868680" cy="868680"/>
            </a:xfrm>
            <a:prstGeom prst="ellipse">
              <a:avLst/>
            </a:prstGeom>
            <a:solidFill>
              <a:srgbClr val="E08A2E"/>
            </a:solidFill>
            <a:ln w="12700">
              <a:solidFill>
                <a:srgbClr val="E08A2E"/>
              </a:solidFill>
              <a:prstDash val="solid"/>
            </a:ln>
          </p:spPr>
          <p:txBody>
            <a:bodyPr/>
            <a:lstStyle/>
            <a:p>
              <a:endParaRPr/>
            </a:p>
          </p:txBody>
        </p:sp>
        <p:pic>
          <p:nvPicPr>
            <p:cNvPr id="17" name="Image 2" descr="preencoded.png"/>
            <p:cNvPicPr>
              <a:picLocks noChangeAspect="1"/>
            </p:cNvPicPr>
            <p:nvPr/>
          </p:nvPicPr>
          <p:blipFill>
            <a:blip r:embed="rId4"/>
            <a:stretch>
              <a:fillRect/>
            </a:stretch>
          </p:blipFill>
          <p:spPr>
            <a:xfrm>
              <a:off x="2487168" y="2578608"/>
              <a:ext cx="457200" cy="457200"/>
            </a:xfrm>
            <a:prstGeom prst="rect">
              <a:avLst/>
            </a:prstGeom>
          </p:spPr>
        </p:pic>
        <p:sp>
          <p:nvSpPr>
            <p:cNvPr id="18" name="Shape 12"/>
            <p:cNvSpPr/>
            <p:nvPr/>
          </p:nvSpPr>
          <p:spPr>
            <a:xfrm>
              <a:off x="3200400" y="2807208"/>
              <a:ext cx="320040" cy="914"/>
            </a:xfrm>
            <a:prstGeom prst="line">
              <a:avLst/>
            </a:prstGeom>
            <a:noFill/>
            <a:ln w="31750">
              <a:solidFill>
                <a:srgbClr val="9AA7B0"/>
              </a:solidFill>
              <a:prstDash val="solid"/>
              <a:tailEnd type="triangle"/>
            </a:ln>
          </p:spPr>
          <p:txBody>
            <a:bodyPr/>
            <a:lstStyle/>
            <a:p>
              <a:endParaRPr/>
            </a:p>
          </p:txBody>
        </p:sp>
        <p:pic>
          <p:nvPicPr>
            <p:cNvPr id="19" name="Image 3" descr="/home/claude/v4/ill/anomaly.png"/>
            <p:cNvPicPr>
              <a:picLocks noChangeAspect="1"/>
            </p:cNvPicPr>
            <p:nvPr/>
          </p:nvPicPr>
          <p:blipFill>
            <a:blip r:embed="rId5"/>
            <a:stretch>
              <a:fillRect/>
            </a:stretch>
          </p:blipFill>
          <p:spPr>
            <a:xfrm>
              <a:off x="3566160" y="2148840"/>
              <a:ext cx="2377440" cy="1012072"/>
            </a:xfrm>
            <a:prstGeom prst="rect">
              <a:avLst/>
            </a:prstGeom>
          </p:spPr>
        </p:pic>
        <p:sp>
          <p:nvSpPr>
            <p:cNvPr id="20" name="Text 13"/>
            <p:cNvSpPr txBox="1"/>
            <p:nvPr/>
          </p:nvSpPr>
          <p:spPr>
            <a:xfrm>
              <a:off x="4434840" y="1874520"/>
              <a:ext cx="1463040" cy="320040"/>
            </a:xfrm>
            <a:prstGeom prst="rect">
              <a:avLst/>
            </a:prstGeom>
            <a:noFill/>
            <a:ln/>
          </p:spPr>
          <p:txBody>
            <a:bodyPr wrap="square" lIns="0" tIns="0" rIns="0" bIns="0" rtlCol="0" anchor="ctr"/>
            <a:lstStyle/>
            <a:p>
              <a:pPr marL="0" indent="0" algn="ctr">
                <a:buNone/>
              </a:pPr>
              <a:r>
                <a:rPr lang="en-US" sz="1200" b="1" dirty="0">
                  <a:solidFill>
                    <a:srgbClr val="A80000"/>
                  </a:solidFill>
                  <a:latin typeface="Calibri" pitchFamily="34" charset="0"/>
                  <a:ea typeface="Calibri" pitchFamily="34" charset="-122"/>
                  <a:cs typeface="Calibri" pitchFamily="34" charset="-120"/>
                </a:rPr>
                <a:t>bất thường</a:t>
              </a:r>
              <a:endParaRPr lang="en-US" sz="1200" dirty="0"/>
            </a:p>
          </p:txBody>
        </p:sp>
        <p:sp>
          <p:nvSpPr>
            <p:cNvPr id="21" name="Shape 14"/>
            <p:cNvSpPr/>
            <p:nvPr/>
          </p:nvSpPr>
          <p:spPr>
            <a:xfrm>
              <a:off x="914400" y="4206240"/>
              <a:ext cx="502920" cy="502920"/>
            </a:xfrm>
            <a:prstGeom prst="ellipse">
              <a:avLst/>
            </a:prstGeom>
            <a:solidFill>
              <a:srgbClr val="6F7780"/>
            </a:solidFill>
            <a:ln w="12700">
              <a:solidFill>
                <a:srgbClr val="6F7780"/>
              </a:solidFill>
              <a:prstDash val="solid"/>
            </a:ln>
          </p:spPr>
          <p:txBody>
            <a:bodyPr/>
            <a:lstStyle/>
            <a:p>
              <a:endParaRPr/>
            </a:p>
          </p:txBody>
        </p:sp>
        <p:pic>
          <p:nvPicPr>
            <p:cNvPr id="22" name="Image 4" descr="preencoded.png"/>
            <p:cNvPicPr>
              <a:picLocks noChangeAspect="1"/>
            </p:cNvPicPr>
            <p:nvPr/>
          </p:nvPicPr>
          <p:blipFill>
            <a:blip r:embed="rId6"/>
            <a:stretch>
              <a:fillRect/>
            </a:stretch>
          </p:blipFill>
          <p:spPr>
            <a:xfrm>
              <a:off x="1035101" y="4326941"/>
              <a:ext cx="261518" cy="261518"/>
            </a:xfrm>
            <a:prstGeom prst="rect">
              <a:avLst/>
            </a:prstGeom>
          </p:spPr>
        </p:pic>
        <p:sp>
          <p:nvSpPr>
            <p:cNvPr id="23" name="Text 15"/>
            <p:cNvSpPr txBox="1"/>
            <p:nvPr/>
          </p:nvSpPr>
          <p:spPr>
            <a:xfrm>
              <a:off x="1463040" y="4297680"/>
              <a:ext cx="1188720" cy="320040"/>
            </a:xfrm>
            <a:prstGeom prst="rect">
              <a:avLst/>
            </a:prstGeom>
            <a:noFill/>
            <a:ln/>
          </p:spPr>
          <p:txBody>
            <a:bodyPr wrap="square" lIns="0" tIns="0" rIns="0" bIns="0" rtlCol="0" anchor="ctr"/>
            <a:lstStyle/>
            <a:p>
              <a:pPr marL="0" indent="0" algn="l">
                <a:buNone/>
              </a:pPr>
              <a:r>
                <a:rPr lang="en-US" sz="1200" b="1" dirty="0">
                  <a:solidFill>
                    <a:srgbClr val="13293D"/>
                  </a:solidFill>
                  <a:latin typeface="Calibri" pitchFamily="34" charset="0"/>
                  <a:ea typeface="Calibri" pitchFamily="34" charset="-122"/>
                  <a:cs typeface="Calibri" pitchFamily="34" charset="-120"/>
                </a:rPr>
                <a:t>ánh sáng</a:t>
              </a:r>
              <a:endParaRPr lang="en-US" sz="1200" dirty="0"/>
            </a:p>
          </p:txBody>
        </p:sp>
        <p:sp>
          <p:nvSpPr>
            <p:cNvPr id="24" name="Shape 16"/>
            <p:cNvSpPr/>
            <p:nvPr/>
          </p:nvSpPr>
          <p:spPr>
            <a:xfrm>
              <a:off x="2606040" y="4206240"/>
              <a:ext cx="502920" cy="502920"/>
            </a:xfrm>
            <a:prstGeom prst="ellipse">
              <a:avLst/>
            </a:prstGeom>
            <a:solidFill>
              <a:srgbClr val="6F7780"/>
            </a:solidFill>
            <a:ln w="12700">
              <a:solidFill>
                <a:srgbClr val="6F7780"/>
              </a:solidFill>
              <a:prstDash val="solid"/>
            </a:ln>
          </p:spPr>
          <p:txBody>
            <a:bodyPr/>
            <a:lstStyle/>
            <a:p>
              <a:endParaRPr/>
            </a:p>
          </p:txBody>
        </p:sp>
        <p:pic>
          <p:nvPicPr>
            <p:cNvPr id="25" name="Image 5" descr="preencoded.png"/>
            <p:cNvPicPr>
              <a:picLocks noChangeAspect="1"/>
            </p:cNvPicPr>
            <p:nvPr/>
          </p:nvPicPr>
          <p:blipFill>
            <a:blip r:embed="rId7"/>
            <a:stretch>
              <a:fillRect/>
            </a:stretch>
          </p:blipFill>
          <p:spPr>
            <a:xfrm>
              <a:off x="2726741" y="4326941"/>
              <a:ext cx="261518" cy="261518"/>
            </a:xfrm>
            <a:prstGeom prst="rect">
              <a:avLst/>
            </a:prstGeom>
          </p:spPr>
        </p:pic>
        <p:sp>
          <p:nvSpPr>
            <p:cNvPr id="26" name="Text 17"/>
            <p:cNvSpPr txBox="1"/>
            <p:nvPr/>
          </p:nvSpPr>
          <p:spPr>
            <a:xfrm>
              <a:off x="3154680" y="4297680"/>
              <a:ext cx="1188720" cy="320040"/>
            </a:xfrm>
            <a:prstGeom prst="rect">
              <a:avLst/>
            </a:prstGeom>
            <a:noFill/>
            <a:ln/>
          </p:spPr>
          <p:txBody>
            <a:bodyPr wrap="square" lIns="0" tIns="0" rIns="0" bIns="0" rtlCol="0" anchor="ctr"/>
            <a:lstStyle/>
            <a:p>
              <a:pPr marL="0" indent="0" algn="l">
                <a:buNone/>
              </a:pPr>
              <a:r>
                <a:rPr lang="en-US" sz="1200" b="1" dirty="0">
                  <a:solidFill>
                    <a:srgbClr val="13293D"/>
                  </a:solidFill>
                  <a:latin typeface="Calibri" pitchFamily="34" charset="0"/>
                  <a:ea typeface="Calibri" pitchFamily="34" charset="-122"/>
                  <a:cs typeface="Calibri" pitchFamily="34" charset="-120"/>
                </a:rPr>
                <a:t>thời tiết</a:t>
              </a:r>
              <a:endParaRPr lang="en-US" sz="1200" dirty="0"/>
            </a:p>
          </p:txBody>
        </p:sp>
        <p:sp>
          <p:nvSpPr>
            <p:cNvPr id="27" name="Shape 18"/>
            <p:cNvSpPr/>
            <p:nvPr/>
          </p:nvSpPr>
          <p:spPr>
            <a:xfrm>
              <a:off x="4297680" y="4206240"/>
              <a:ext cx="502920" cy="502920"/>
            </a:xfrm>
            <a:prstGeom prst="ellipse">
              <a:avLst/>
            </a:prstGeom>
            <a:solidFill>
              <a:srgbClr val="6F7780"/>
            </a:solidFill>
            <a:ln w="12700">
              <a:solidFill>
                <a:srgbClr val="6F7780"/>
              </a:solidFill>
              <a:prstDash val="solid"/>
            </a:ln>
          </p:spPr>
          <p:txBody>
            <a:bodyPr/>
            <a:lstStyle/>
            <a:p>
              <a:endParaRPr/>
            </a:p>
          </p:txBody>
        </p:sp>
        <p:pic>
          <p:nvPicPr>
            <p:cNvPr id="28" name="Image 6" descr="preencoded.png"/>
            <p:cNvPicPr>
              <a:picLocks noChangeAspect="1"/>
            </p:cNvPicPr>
            <p:nvPr/>
          </p:nvPicPr>
          <p:blipFill>
            <a:blip r:embed="rId8"/>
            <a:stretch>
              <a:fillRect/>
            </a:stretch>
          </p:blipFill>
          <p:spPr>
            <a:xfrm>
              <a:off x="4418381" y="4326941"/>
              <a:ext cx="261518" cy="261518"/>
            </a:xfrm>
            <a:prstGeom prst="rect">
              <a:avLst/>
            </a:prstGeom>
          </p:spPr>
        </p:pic>
        <p:sp>
          <p:nvSpPr>
            <p:cNvPr id="29" name="Text 19"/>
            <p:cNvSpPr txBox="1"/>
            <p:nvPr/>
          </p:nvSpPr>
          <p:spPr>
            <a:xfrm>
              <a:off x="4846320" y="4297680"/>
              <a:ext cx="1188720" cy="320040"/>
            </a:xfrm>
            <a:prstGeom prst="rect">
              <a:avLst/>
            </a:prstGeom>
            <a:noFill/>
            <a:ln/>
          </p:spPr>
          <p:txBody>
            <a:bodyPr wrap="square" lIns="0" tIns="0" rIns="0" bIns="0" rtlCol="0" anchor="ctr"/>
            <a:lstStyle/>
            <a:p>
              <a:pPr marL="0" indent="0" algn="l">
                <a:buNone/>
              </a:pPr>
              <a:r>
                <a:rPr lang="en-US" sz="1200" b="1" dirty="0">
                  <a:solidFill>
                    <a:srgbClr val="13293D"/>
                  </a:solidFill>
                  <a:latin typeface="Calibri" pitchFamily="34" charset="0"/>
                  <a:ea typeface="Calibri" pitchFamily="34" charset="-122"/>
                  <a:cs typeface="Calibri" pitchFamily="34" charset="-120"/>
                </a:rPr>
                <a:t>mức sử dụng</a:t>
              </a:r>
              <a:endParaRPr lang="en-US" sz="1200" dirty="0"/>
            </a:p>
          </p:txBody>
        </p:sp>
        <p:sp>
          <p:nvSpPr>
            <p:cNvPr id="30" name="Text 20"/>
            <p:cNvSpPr txBox="1"/>
            <p:nvPr/>
          </p:nvSpPr>
          <p:spPr>
            <a:xfrm>
              <a:off x="6263640" y="1097280"/>
              <a:ext cx="5486400" cy="384048"/>
            </a:xfrm>
            <a:prstGeom prst="rect">
              <a:avLst/>
            </a:prstGeom>
            <a:noFill/>
            <a:ln/>
          </p:spPr>
          <p:txBody>
            <a:bodyPr wrap="square" lIns="0" tIns="0" rIns="0" bIns="0" rtlCol="0" anchor="t"/>
            <a:lstStyle/>
            <a:p>
              <a:pPr marL="0" indent="0">
                <a:buNone/>
              </a:pPr>
              <a:r>
                <a:rPr lang="en-US" sz="1800" b="1" dirty="0">
                  <a:solidFill>
                    <a:srgbClr val="4B4B9C"/>
                  </a:solidFill>
                  <a:latin typeface="Cambria" pitchFamily="34" charset="0"/>
                  <a:ea typeface="Cambria" pitchFamily="34" charset="-122"/>
                  <a:cs typeface="Cambria" pitchFamily="34" charset="-120"/>
                </a:rPr>
                <a:t>Mô </a:t>
              </a:r>
              <a:r>
                <a:rPr lang="en-US" sz="1800" b="1" dirty="0" err="1">
                  <a:solidFill>
                    <a:srgbClr val="4B4B9C"/>
                  </a:solidFill>
                  <a:latin typeface="Cambria" pitchFamily="34" charset="0"/>
                  <a:ea typeface="Cambria" pitchFamily="34" charset="-122"/>
                  <a:cs typeface="Cambria" pitchFamily="34" charset="-120"/>
                </a:rPr>
                <a:t>hình</a:t>
              </a:r>
              <a:r>
                <a:rPr lang="en-US" sz="1800" b="1" dirty="0">
                  <a:solidFill>
                    <a:srgbClr val="4B4B9C"/>
                  </a:solidFill>
                  <a:latin typeface="Cambria" pitchFamily="34" charset="0"/>
                  <a:ea typeface="Cambria" pitchFamily="34" charset="-122"/>
                  <a:cs typeface="Cambria" pitchFamily="34" charset="-120"/>
                </a:rPr>
                <a:t> AI </a:t>
              </a:r>
              <a:r>
                <a:rPr lang="en-US" sz="1800" b="1" dirty="0" err="1">
                  <a:solidFill>
                    <a:srgbClr val="4B4B9C"/>
                  </a:solidFill>
                  <a:latin typeface="Cambria" pitchFamily="34" charset="0"/>
                  <a:ea typeface="Cambria" pitchFamily="34" charset="-122"/>
                  <a:cs typeface="Cambria" pitchFamily="34" charset="-120"/>
                </a:rPr>
                <a:t>vật</a:t>
              </a:r>
              <a:r>
                <a:rPr lang="en-US" sz="1800" b="1" dirty="0">
                  <a:solidFill>
                    <a:srgbClr val="4B4B9C"/>
                  </a:solidFill>
                  <a:latin typeface="Cambria" pitchFamily="34" charset="0"/>
                  <a:ea typeface="Cambria" pitchFamily="34" charset="-122"/>
                  <a:cs typeface="Cambria" pitchFamily="34" charset="-120"/>
                </a:rPr>
                <a:t> </a:t>
              </a:r>
              <a:r>
                <a:rPr lang="en-US" sz="1800" b="1" dirty="0" err="1">
                  <a:solidFill>
                    <a:srgbClr val="4B4B9C"/>
                  </a:solidFill>
                  <a:latin typeface="Cambria" pitchFamily="34" charset="0"/>
                  <a:ea typeface="Cambria" pitchFamily="34" charset="-122"/>
                  <a:cs typeface="Cambria" pitchFamily="34" charset="-120"/>
                </a:rPr>
                <a:t>lý</a:t>
              </a:r>
              <a:r>
                <a:rPr lang="en-US" sz="1800" b="1" dirty="0">
                  <a:solidFill>
                    <a:srgbClr val="4B4B9C"/>
                  </a:solidFill>
                  <a:latin typeface="Cambria" pitchFamily="34" charset="0"/>
                  <a:ea typeface="Cambria" pitchFamily="34" charset="-122"/>
                  <a:cs typeface="Cambria" pitchFamily="34" charset="-120"/>
                </a:rPr>
                <a:t> (Physical AI)</a:t>
              </a:r>
              <a:endParaRPr lang="en-US" sz="1800" dirty="0"/>
            </a:p>
          </p:txBody>
        </p:sp>
        <p:sp>
          <p:nvSpPr>
            <p:cNvPr id="31" name="Shape 21"/>
            <p:cNvSpPr/>
            <p:nvPr/>
          </p:nvSpPr>
          <p:spPr>
            <a:xfrm>
              <a:off x="6263640" y="1554480"/>
              <a:ext cx="5468112" cy="3703320"/>
            </a:xfrm>
            <a:prstGeom prst="roundRect">
              <a:avLst>
                <a:gd name="adj" fmla="val 1975"/>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a:p>
          </p:txBody>
        </p:sp>
        <p:sp>
          <p:nvSpPr>
            <p:cNvPr id="32" name="Shape 22"/>
            <p:cNvSpPr/>
            <p:nvPr/>
          </p:nvSpPr>
          <p:spPr>
            <a:xfrm>
              <a:off x="6537960" y="1737360"/>
              <a:ext cx="1737360" cy="1417320"/>
            </a:xfrm>
            <a:prstGeom prst="ellipse">
              <a:avLst/>
            </a:prstGeom>
            <a:solidFill>
              <a:srgbClr val="6F7780"/>
            </a:solidFill>
            <a:ln w="12700">
              <a:solidFill>
                <a:srgbClr val="6F7780"/>
              </a:solidFill>
              <a:prstDash val="solid"/>
            </a:ln>
          </p:spPr>
          <p:txBody>
            <a:bodyPr/>
            <a:lstStyle/>
            <a:p>
              <a:endParaRPr/>
            </a:p>
          </p:txBody>
        </p:sp>
        <p:sp>
          <p:nvSpPr>
            <p:cNvPr id="33" name="Shape 23"/>
            <p:cNvSpPr/>
            <p:nvPr/>
          </p:nvSpPr>
          <p:spPr>
            <a:xfrm>
              <a:off x="7635240" y="1737360"/>
              <a:ext cx="1737360" cy="1417320"/>
            </a:xfrm>
            <a:prstGeom prst="ellipse">
              <a:avLst/>
            </a:prstGeom>
            <a:solidFill>
              <a:srgbClr val="E08A2E"/>
            </a:solidFill>
            <a:ln w="12700">
              <a:solidFill>
                <a:srgbClr val="E08A2E"/>
              </a:solidFill>
              <a:prstDash val="solid"/>
            </a:ln>
          </p:spPr>
          <p:txBody>
            <a:bodyPr/>
            <a:lstStyle/>
            <a:p>
              <a:endParaRPr/>
            </a:p>
          </p:txBody>
        </p:sp>
        <p:pic>
          <p:nvPicPr>
            <p:cNvPr id="34" name="Image 7" descr="preencoded.png"/>
            <p:cNvPicPr>
              <a:picLocks noChangeAspect="1"/>
            </p:cNvPicPr>
            <p:nvPr/>
          </p:nvPicPr>
          <p:blipFill>
            <a:blip r:embed="rId9"/>
            <a:stretch>
              <a:fillRect/>
            </a:stretch>
          </p:blipFill>
          <p:spPr>
            <a:xfrm>
              <a:off x="6812280" y="2194560"/>
              <a:ext cx="457200" cy="457200"/>
            </a:xfrm>
            <a:prstGeom prst="rect">
              <a:avLst/>
            </a:prstGeom>
          </p:spPr>
        </p:pic>
        <p:pic>
          <p:nvPicPr>
            <p:cNvPr id="35" name="Image 8" descr="preencoded.png"/>
            <p:cNvPicPr>
              <a:picLocks noChangeAspect="1"/>
            </p:cNvPicPr>
            <p:nvPr/>
          </p:nvPicPr>
          <p:blipFill>
            <a:blip r:embed="rId10"/>
            <a:stretch>
              <a:fillRect/>
            </a:stretch>
          </p:blipFill>
          <p:spPr>
            <a:xfrm>
              <a:off x="8641080" y="2194560"/>
              <a:ext cx="457200" cy="457200"/>
            </a:xfrm>
            <a:prstGeom prst="rect">
              <a:avLst/>
            </a:prstGeom>
          </p:spPr>
        </p:pic>
        <p:sp>
          <p:nvSpPr>
            <p:cNvPr id="36" name="Text 24"/>
            <p:cNvSpPr txBox="1"/>
            <p:nvPr/>
          </p:nvSpPr>
          <p:spPr>
            <a:xfrm>
              <a:off x="7680960" y="2267712"/>
              <a:ext cx="548640" cy="320040"/>
            </a:xfrm>
            <a:prstGeom prst="rect">
              <a:avLst/>
            </a:prstGeom>
            <a:noFill/>
            <a:ln/>
          </p:spPr>
          <p:txBody>
            <a:bodyPr wrap="square" lIns="0" tIns="0" rIns="0" bIns="0" rtlCol="0" anchor="ctr"/>
            <a:lstStyle/>
            <a:p>
              <a:pPr marL="0" indent="0" algn="ctr">
                <a:buNone/>
              </a:pPr>
              <a:r>
                <a:rPr lang="en-US" sz="1500" b="1" dirty="0">
                  <a:solidFill>
                    <a:srgbClr val="4B4B9C"/>
                  </a:solidFill>
                  <a:latin typeface="Calibri" pitchFamily="34" charset="0"/>
                  <a:ea typeface="Calibri" pitchFamily="34" charset="-122"/>
                  <a:cs typeface="Calibri" pitchFamily="34" charset="-120"/>
                </a:rPr>
                <a:t>lai</a:t>
              </a:r>
              <a:endParaRPr lang="en-US" sz="1500" dirty="0"/>
            </a:p>
          </p:txBody>
        </p:sp>
        <p:sp>
          <p:nvSpPr>
            <p:cNvPr id="37" name="Text 25"/>
            <p:cNvSpPr txBox="1"/>
            <p:nvPr/>
          </p:nvSpPr>
          <p:spPr>
            <a:xfrm>
              <a:off x="6446520" y="3200400"/>
              <a:ext cx="1371600" cy="320040"/>
            </a:xfrm>
            <a:prstGeom prst="rect">
              <a:avLst/>
            </a:prstGeom>
            <a:noFill/>
            <a:ln/>
          </p:spPr>
          <p:txBody>
            <a:bodyPr wrap="square" lIns="0" tIns="0" rIns="0" bIns="0" rtlCol="0" anchor="ctr"/>
            <a:lstStyle/>
            <a:p>
              <a:pPr marL="0" indent="0" algn="ctr">
                <a:buNone/>
              </a:pPr>
              <a:r>
                <a:rPr lang="en-US" sz="1150" b="1" dirty="0">
                  <a:solidFill>
                    <a:srgbClr val="13293D"/>
                  </a:solidFill>
                  <a:latin typeface="Calibri" pitchFamily="34" charset="0"/>
                  <a:ea typeface="Calibri" pitchFamily="34" charset="-122"/>
                  <a:cs typeface="Calibri" pitchFamily="34" charset="-120"/>
                </a:rPr>
                <a:t>định luật</a:t>
              </a:r>
              <a:endParaRPr lang="en-US" sz="1150" dirty="0"/>
            </a:p>
          </p:txBody>
        </p:sp>
        <p:sp>
          <p:nvSpPr>
            <p:cNvPr id="38" name="Text 26"/>
            <p:cNvSpPr txBox="1"/>
            <p:nvPr/>
          </p:nvSpPr>
          <p:spPr>
            <a:xfrm>
              <a:off x="8183880" y="3200400"/>
              <a:ext cx="1371600" cy="320040"/>
            </a:xfrm>
            <a:prstGeom prst="rect">
              <a:avLst/>
            </a:prstGeom>
            <a:noFill/>
            <a:ln/>
          </p:spPr>
          <p:txBody>
            <a:bodyPr wrap="square" lIns="0" tIns="0" rIns="0" bIns="0" rtlCol="0" anchor="ctr"/>
            <a:lstStyle/>
            <a:p>
              <a:pPr marL="0" indent="0" algn="ctr">
                <a:buNone/>
              </a:pPr>
              <a:r>
                <a:rPr lang="en-US" sz="1150" b="1" dirty="0">
                  <a:solidFill>
                    <a:srgbClr val="B45F06"/>
                  </a:solidFill>
                  <a:latin typeface="Calibri" pitchFamily="34" charset="0"/>
                  <a:ea typeface="Calibri" pitchFamily="34" charset="-122"/>
                  <a:cs typeface="Calibri" pitchFamily="34" charset="-120"/>
                </a:rPr>
                <a:t>số đo</a:t>
              </a:r>
              <a:endParaRPr lang="en-US" sz="1150" dirty="0"/>
            </a:p>
          </p:txBody>
        </p:sp>
        <p:pic>
          <p:nvPicPr>
            <p:cNvPr id="39" name="Image 9" descr="/home/claude/v4/ill/hybrid.png"/>
            <p:cNvPicPr>
              <a:picLocks noChangeAspect="1"/>
            </p:cNvPicPr>
            <p:nvPr/>
          </p:nvPicPr>
          <p:blipFill>
            <a:blip r:embed="rId11"/>
            <a:stretch>
              <a:fillRect/>
            </a:stretch>
          </p:blipFill>
          <p:spPr>
            <a:xfrm>
              <a:off x="9464040" y="1783080"/>
              <a:ext cx="2148840" cy="1078021"/>
            </a:xfrm>
            <a:prstGeom prst="rect">
              <a:avLst/>
            </a:prstGeom>
          </p:spPr>
        </p:pic>
        <p:sp>
          <p:nvSpPr>
            <p:cNvPr id="40" name="Shape 27"/>
            <p:cNvSpPr/>
            <p:nvPr/>
          </p:nvSpPr>
          <p:spPr>
            <a:xfrm>
              <a:off x="9555480" y="3063240"/>
              <a:ext cx="365760" cy="914"/>
            </a:xfrm>
            <a:prstGeom prst="line">
              <a:avLst/>
            </a:prstGeom>
            <a:noFill/>
            <a:ln w="31750">
              <a:solidFill>
                <a:srgbClr val="9AA7B0"/>
              </a:solidFill>
              <a:prstDash val="dash"/>
            </a:ln>
          </p:spPr>
          <p:txBody>
            <a:bodyPr/>
            <a:lstStyle/>
            <a:p>
              <a:endParaRPr/>
            </a:p>
          </p:txBody>
        </p:sp>
        <p:sp>
          <p:nvSpPr>
            <p:cNvPr id="41" name="Text 28"/>
            <p:cNvSpPr txBox="1"/>
            <p:nvPr/>
          </p:nvSpPr>
          <p:spPr>
            <a:xfrm>
              <a:off x="9966960" y="2926080"/>
              <a:ext cx="1737360" cy="274320"/>
            </a:xfrm>
            <a:prstGeom prst="rect">
              <a:avLst/>
            </a:prstGeom>
            <a:noFill/>
            <a:ln/>
          </p:spPr>
          <p:txBody>
            <a:bodyPr wrap="square" lIns="0" tIns="0" rIns="0" bIns="0" rtlCol="0" anchor="t"/>
            <a:lstStyle/>
            <a:p>
              <a:pPr marL="0" indent="0">
                <a:buNone/>
              </a:pPr>
              <a:r>
                <a:rPr lang="en-US" sz="1050" dirty="0">
                  <a:solidFill>
                    <a:srgbClr val="1E2A32"/>
                  </a:solidFill>
                  <a:latin typeface="Calibri" pitchFamily="34" charset="0"/>
                  <a:ea typeface="Calibri" pitchFamily="34" charset="-122"/>
                  <a:cs typeface="Calibri" pitchFamily="34" charset="-120"/>
                </a:rPr>
                <a:t>vật lý</a:t>
              </a:r>
              <a:endParaRPr lang="en-US" sz="1050" dirty="0"/>
            </a:p>
          </p:txBody>
        </p:sp>
        <p:sp>
          <p:nvSpPr>
            <p:cNvPr id="42" name="Shape 29"/>
            <p:cNvSpPr/>
            <p:nvPr/>
          </p:nvSpPr>
          <p:spPr>
            <a:xfrm>
              <a:off x="9555480" y="3355848"/>
              <a:ext cx="365760" cy="914"/>
            </a:xfrm>
            <a:prstGeom prst="line">
              <a:avLst/>
            </a:prstGeom>
            <a:noFill/>
            <a:ln w="31750">
              <a:solidFill>
                <a:srgbClr val="4B4B9C"/>
              </a:solidFill>
              <a:prstDash val="solid"/>
            </a:ln>
          </p:spPr>
          <p:txBody>
            <a:bodyPr/>
            <a:lstStyle/>
            <a:p>
              <a:endParaRPr/>
            </a:p>
          </p:txBody>
        </p:sp>
        <p:sp>
          <p:nvSpPr>
            <p:cNvPr id="43" name="Text 30"/>
            <p:cNvSpPr txBox="1"/>
            <p:nvPr/>
          </p:nvSpPr>
          <p:spPr>
            <a:xfrm>
              <a:off x="9966960" y="3218688"/>
              <a:ext cx="1737360" cy="274320"/>
            </a:xfrm>
            <a:prstGeom prst="rect">
              <a:avLst/>
            </a:prstGeom>
            <a:noFill/>
            <a:ln/>
          </p:spPr>
          <p:txBody>
            <a:bodyPr wrap="square" lIns="0" tIns="0" rIns="0" bIns="0" rtlCol="0" anchor="t"/>
            <a:lstStyle/>
            <a:p>
              <a:pPr marL="0" indent="0">
                <a:buNone/>
              </a:pPr>
              <a:r>
                <a:rPr lang="en-US" sz="1050" dirty="0">
                  <a:solidFill>
                    <a:srgbClr val="1E2A32"/>
                  </a:solidFill>
                  <a:latin typeface="Calibri" pitchFamily="34" charset="0"/>
                  <a:ea typeface="Calibri" pitchFamily="34" charset="-122"/>
                  <a:cs typeface="Calibri" pitchFamily="34" charset="-120"/>
                </a:rPr>
                <a:t>lai + khoảng dự báo</a:t>
              </a:r>
              <a:endParaRPr lang="en-US" sz="1050" dirty="0"/>
            </a:p>
          </p:txBody>
        </p:sp>
        <p:sp>
          <p:nvSpPr>
            <p:cNvPr id="44" name="Shape 31"/>
            <p:cNvSpPr/>
            <p:nvPr/>
          </p:nvSpPr>
          <p:spPr>
            <a:xfrm>
              <a:off x="9674352" y="3639312"/>
              <a:ext cx="109728" cy="109728"/>
            </a:xfrm>
            <a:prstGeom prst="ellipse">
              <a:avLst/>
            </a:prstGeom>
            <a:solidFill>
              <a:srgbClr val="E08A2E"/>
            </a:solidFill>
            <a:ln w="19050">
              <a:solidFill>
                <a:srgbClr val="E08A2E"/>
              </a:solidFill>
              <a:prstDash val="solid"/>
            </a:ln>
          </p:spPr>
          <p:txBody>
            <a:bodyPr/>
            <a:lstStyle/>
            <a:p>
              <a:endParaRPr/>
            </a:p>
          </p:txBody>
        </p:sp>
        <p:sp>
          <p:nvSpPr>
            <p:cNvPr id="45" name="Text 32"/>
            <p:cNvSpPr txBox="1"/>
            <p:nvPr/>
          </p:nvSpPr>
          <p:spPr>
            <a:xfrm>
              <a:off x="9966960" y="3529584"/>
              <a:ext cx="1737360" cy="274320"/>
            </a:xfrm>
            <a:prstGeom prst="rect">
              <a:avLst/>
            </a:prstGeom>
            <a:noFill/>
            <a:ln/>
          </p:spPr>
          <p:txBody>
            <a:bodyPr wrap="square" lIns="0" tIns="0" rIns="0" bIns="0" rtlCol="0" anchor="t"/>
            <a:lstStyle/>
            <a:p>
              <a:pPr marL="0" indent="0">
                <a:buNone/>
              </a:pPr>
              <a:r>
                <a:rPr lang="en-US" sz="1050" dirty="0">
                  <a:solidFill>
                    <a:srgbClr val="1E2A32"/>
                  </a:solidFill>
                  <a:latin typeface="Calibri" pitchFamily="34" charset="0"/>
                  <a:ea typeface="Calibri" pitchFamily="34" charset="-122"/>
                  <a:cs typeface="Calibri" pitchFamily="34" charset="-120"/>
                </a:rPr>
                <a:t>số đo</a:t>
              </a:r>
              <a:endParaRPr lang="en-US" sz="1050" dirty="0"/>
            </a:p>
          </p:txBody>
        </p:sp>
        <p:sp>
          <p:nvSpPr>
            <p:cNvPr id="46" name="Shape 33"/>
            <p:cNvSpPr/>
            <p:nvPr/>
          </p:nvSpPr>
          <p:spPr>
            <a:xfrm>
              <a:off x="6629400" y="4206240"/>
              <a:ext cx="502920" cy="502920"/>
            </a:xfrm>
            <a:prstGeom prst="ellipse">
              <a:avLst/>
            </a:prstGeom>
            <a:solidFill>
              <a:srgbClr val="4B4B9C"/>
            </a:solidFill>
            <a:ln w="12700">
              <a:solidFill>
                <a:srgbClr val="4B4B9C"/>
              </a:solidFill>
              <a:prstDash val="solid"/>
            </a:ln>
          </p:spPr>
          <p:txBody>
            <a:bodyPr/>
            <a:lstStyle/>
            <a:p>
              <a:endParaRPr/>
            </a:p>
          </p:txBody>
        </p:sp>
        <p:pic>
          <p:nvPicPr>
            <p:cNvPr id="47" name="Image 10" descr="preencoded.png"/>
            <p:cNvPicPr>
              <a:picLocks noChangeAspect="1"/>
            </p:cNvPicPr>
            <p:nvPr/>
          </p:nvPicPr>
          <p:blipFill>
            <a:blip r:embed="rId12"/>
            <a:stretch>
              <a:fillRect/>
            </a:stretch>
          </p:blipFill>
          <p:spPr>
            <a:xfrm>
              <a:off x="6750101" y="4326941"/>
              <a:ext cx="261518" cy="261518"/>
            </a:xfrm>
            <a:prstGeom prst="rect">
              <a:avLst/>
            </a:prstGeom>
          </p:spPr>
        </p:pic>
        <p:sp>
          <p:nvSpPr>
            <p:cNvPr id="48" name="Text 34"/>
            <p:cNvSpPr txBox="1"/>
            <p:nvPr/>
          </p:nvSpPr>
          <p:spPr>
            <a:xfrm>
              <a:off x="7178040" y="4297680"/>
              <a:ext cx="1097280" cy="320040"/>
            </a:xfrm>
            <a:prstGeom prst="rect">
              <a:avLst/>
            </a:prstGeom>
            <a:noFill/>
            <a:ln/>
          </p:spPr>
          <p:txBody>
            <a:bodyPr wrap="square" lIns="0" tIns="0" rIns="0" bIns="0" rtlCol="0" anchor="ctr"/>
            <a:lstStyle/>
            <a:p>
              <a:pPr marL="0" indent="0" algn="l">
                <a:buNone/>
              </a:pPr>
              <a:r>
                <a:rPr lang="en-US" sz="1200" b="1" dirty="0">
                  <a:solidFill>
                    <a:srgbClr val="13293D"/>
                  </a:solidFill>
                  <a:latin typeface="Calibri" pitchFamily="34" charset="0"/>
                  <a:ea typeface="Calibri" pitchFamily="34" charset="-122"/>
                  <a:cs typeface="Calibri" pitchFamily="34" charset="-120"/>
                </a:rPr>
                <a:t>sai số</a:t>
              </a:r>
              <a:endParaRPr lang="en-US" sz="1200" dirty="0"/>
            </a:p>
          </p:txBody>
        </p:sp>
        <p:sp>
          <p:nvSpPr>
            <p:cNvPr id="49" name="Shape 35"/>
            <p:cNvSpPr/>
            <p:nvPr/>
          </p:nvSpPr>
          <p:spPr>
            <a:xfrm>
              <a:off x="8321040" y="4206240"/>
              <a:ext cx="502920" cy="502920"/>
            </a:xfrm>
            <a:prstGeom prst="ellipse">
              <a:avLst/>
            </a:prstGeom>
            <a:solidFill>
              <a:srgbClr val="4B4B9C"/>
            </a:solidFill>
            <a:ln w="12700">
              <a:solidFill>
                <a:srgbClr val="4B4B9C"/>
              </a:solidFill>
              <a:prstDash val="solid"/>
            </a:ln>
          </p:spPr>
          <p:txBody>
            <a:bodyPr/>
            <a:lstStyle/>
            <a:p>
              <a:endParaRPr/>
            </a:p>
          </p:txBody>
        </p:sp>
        <p:pic>
          <p:nvPicPr>
            <p:cNvPr id="50" name="Image 11" descr="preencoded.png"/>
            <p:cNvPicPr>
              <a:picLocks noChangeAspect="1"/>
            </p:cNvPicPr>
            <p:nvPr/>
          </p:nvPicPr>
          <p:blipFill>
            <a:blip r:embed="rId13"/>
            <a:stretch>
              <a:fillRect/>
            </a:stretch>
          </p:blipFill>
          <p:spPr>
            <a:xfrm>
              <a:off x="8441741" y="4326941"/>
              <a:ext cx="261518" cy="261518"/>
            </a:xfrm>
            <a:prstGeom prst="rect">
              <a:avLst/>
            </a:prstGeom>
          </p:spPr>
        </p:pic>
        <p:sp>
          <p:nvSpPr>
            <p:cNvPr id="51" name="Text 36"/>
            <p:cNvSpPr txBox="1"/>
            <p:nvPr/>
          </p:nvSpPr>
          <p:spPr>
            <a:xfrm>
              <a:off x="8869680" y="4297680"/>
              <a:ext cx="1097280" cy="320040"/>
            </a:xfrm>
            <a:prstGeom prst="rect">
              <a:avLst/>
            </a:prstGeom>
            <a:noFill/>
            <a:ln/>
          </p:spPr>
          <p:txBody>
            <a:bodyPr wrap="square" lIns="0" tIns="0" rIns="0" bIns="0" rtlCol="0" anchor="ctr"/>
            <a:lstStyle/>
            <a:p>
              <a:pPr marL="0" indent="0" algn="l">
                <a:buNone/>
              </a:pPr>
              <a:r>
                <a:rPr lang="en-US" sz="1200" b="1" dirty="0">
                  <a:solidFill>
                    <a:srgbClr val="13293D"/>
                  </a:solidFill>
                  <a:latin typeface="Calibri" pitchFamily="34" charset="0"/>
                  <a:ea typeface="Calibri" pitchFamily="34" charset="-122"/>
                  <a:cs typeface="Calibri" pitchFamily="34" charset="-120"/>
                </a:rPr>
                <a:t>độ bao phủ</a:t>
              </a:r>
              <a:endParaRPr lang="en-US" sz="1200" dirty="0"/>
            </a:p>
          </p:txBody>
        </p:sp>
        <p:sp>
          <p:nvSpPr>
            <p:cNvPr id="52" name="Shape 37"/>
            <p:cNvSpPr/>
            <p:nvPr/>
          </p:nvSpPr>
          <p:spPr>
            <a:xfrm>
              <a:off x="10012680" y="4206240"/>
              <a:ext cx="502920" cy="502920"/>
            </a:xfrm>
            <a:prstGeom prst="ellipse">
              <a:avLst/>
            </a:prstGeom>
            <a:solidFill>
              <a:srgbClr val="4B4B9C"/>
            </a:solidFill>
            <a:ln w="12700">
              <a:solidFill>
                <a:srgbClr val="4B4B9C"/>
              </a:solidFill>
              <a:prstDash val="solid"/>
            </a:ln>
          </p:spPr>
          <p:txBody>
            <a:bodyPr/>
            <a:lstStyle/>
            <a:p>
              <a:endParaRPr/>
            </a:p>
          </p:txBody>
        </p:sp>
        <p:pic>
          <p:nvPicPr>
            <p:cNvPr id="53" name="Image 12" descr="preencoded.png"/>
            <p:cNvPicPr>
              <a:picLocks noChangeAspect="1"/>
            </p:cNvPicPr>
            <p:nvPr/>
          </p:nvPicPr>
          <p:blipFill>
            <a:blip r:embed="rId14"/>
            <a:stretch>
              <a:fillRect/>
            </a:stretch>
          </p:blipFill>
          <p:spPr>
            <a:xfrm>
              <a:off x="10133381" y="4326941"/>
              <a:ext cx="261518" cy="261518"/>
            </a:xfrm>
            <a:prstGeom prst="rect">
              <a:avLst/>
            </a:prstGeom>
          </p:spPr>
        </p:pic>
        <p:sp>
          <p:nvSpPr>
            <p:cNvPr id="54" name="Text 38"/>
            <p:cNvSpPr txBox="1"/>
            <p:nvPr/>
          </p:nvSpPr>
          <p:spPr>
            <a:xfrm>
              <a:off x="10561320" y="4297680"/>
              <a:ext cx="1097280" cy="320040"/>
            </a:xfrm>
            <a:prstGeom prst="rect">
              <a:avLst/>
            </a:prstGeom>
            <a:noFill/>
            <a:ln/>
          </p:spPr>
          <p:txBody>
            <a:bodyPr wrap="square" lIns="0" tIns="0" rIns="0" bIns="0" rtlCol="0" anchor="ctr"/>
            <a:lstStyle/>
            <a:p>
              <a:pPr marL="0" indent="0" algn="l">
                <a:buNone/>
              </a:pPr>
              <a:r>
                <a:rPr lang="en-US" sz="1200" b="1" dirty="0">
                  <a:solidFill>
                    <a:srgbClr val="13293D"/>
                  </a:solidFill>
                  <a:latin typeface="Calibri" pitchFamily="34" charset="0"/>
                  <a:ea typeface="Calibri" pitchFamily="34" charset="-122"/>
                  <a:cs typeface="Calibri" pitchFamily="34" charset="-120"/>
                </a:rPr>
                <a:t>thời gian</a:t>
              </a:r>
              <a:endParaRPr lang="en-US" sz="1200" dirty="0"/>
            </a:p>
          </p:txBody>
        </p:sp>
        <p:sp>
          <p:nvSpPr>
            <p:cNvPr id="55" name="Shape 39"/>
            <p:cNvSpPr/>
            <p:nvPr/>
          </p:nvSpPr>
          <p:spPr>
            <a:xfrm>
              <a:off x="457200" y="5486400"/>
              <a:ext cx="11274552" cy="502920"/>
            </a:xfrm>
            <a:prstGeom prst="roundRect">
              <a:avLst>
                <a:gd name="adj" fmla="val 50000"/>
              </a:avLst>
            </a:prstGeom>
            <a:solidFill>
              <a:srgbClr val="FBEAEA"/>
            </a:solidFill>
            <a:ln w="12700">
              <a:solidFill>
                <a:srgbClr val="F1CACA"/>
              </a:solidFill>
              <a:prstDash val="solid"/>
            </a:ln>
          </p:spPr>
          <p:txBody>
            <a:bodyPr/>
            <a:lstStyle/>
            <a:p>
              <a:endParaRPr/>
            </a:p>
          </p:txBody>
        </p:sp>
        <p:sp>
          <p:nvSpPr>
            <p:cNvPr id="56" name="Text 40"/>
            <p:cNvSpPr txBox="1"/>
            <p:nvPr/>
          </p:nvSpPr>
          <p:spPr>
            <a:xfrm>
              <a:off x="640080" y="5486400"/>
              <a:ext cx="10908792" cy="502920"/>
            </a:xfrm>
            <a:prstGeom prst="rect">
              <a:avLst/>
            </a:prstGeom>
            <a:noFill/>
            <a:ln/>
          </p:spPr>
          <p:txBody>
            <a:bodyPr wrap="square" lIns="0" tIns="0" rIns="0" bIns="0" rtlCol="0" anchor="ctr"/>
            <a:lstStyle/>
            <a:p>
              <a:pPr marL="0" indent="0" algn="ctr">
                <a:buNone/>
              </a:pPr>
              <a:r>
                <a:rPr lang="en-US" sz="1700" b="1" dirty="0">
                  <a:solidFill>
                    <a:srgbClr val="4B4B9C"/>
                  </a:solidFill>
                  <a:latin typeface="Calibri" pitchFamily="34" charset="0"/>
                  <a:ea typeface="Calibri" pitchFamily="34" charset="-122"/>
                  <a:cs typeface="Calibri" pitchFamily="34" charset="-120"/>
                </a:rPr>
                <a:t>Bản sao số của một hệ thống cụ thể </a:t>
              </a:r>
              <a:r>
                <a:rPr lang="en-US" sz="1700" dirty="0">
                  <a:solidFill>
                    <a:srgbClr val="1E2A32"/>
                  </a:solidFill>
                  <a:latin typeface="Calibri" pitchFamily="34" charset="0"/>
                  <a:ea typeface="Calibri" pitchFamily="34" charset="-122"/>
                  <a:cs typeface="Calibri" pitchFamily="34" charset="-120"/>
                </a:rPr>
                <a:t>khác world model tổng quát ở mục tiêu kiểm định</a:t>
              </a:r>
              <a:endParaRPr lang="en-US" sz="1700" dirty="0"/>
            </a:p>
          </p:txBody>
        </p:sp>
      </p:grpSp>
      <p:sp>
        <p:nvSpPr>
          <p:cNvPr id="57" name="Text 41"/>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Genie 3, 2025 [10] · Gemini Robotics 2, 2026 [11] · FNO, 2020 [12] · hình minh họa</a:t>
            </a:r>
            <a:endParaRPr lang="en-US" sz="1000" dirty="0"/>
          </a:p>
        </p:txBody>
      </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AI tin cậy và có trách nhiệm</a:t>
            </a:r>
            <a:endParaRPr lang="en-US" sz="2800" dirty="0"/>
          </a:p>
        </p:txBody>
      </p:sp>
      <p:sp>
        <p:nvSpPr>
          <p:cNvPr id="3" name="Shape 1"/>
          <p:cNvSpPr/>
          <p:nvPr/>
        </p:nvSpPr>
        <p:spPr>
          <a:xfrm>
            <a:off x="457200" y="6510528"/>
            <a:ext cx="128016" cy="128016"/>
          </a:xfrm>
          <a:prstGeom prst="ellipse">
            <a:avLst/>
          </a:prstGeom>
          <a:solidFill>
            <a:srgbClr val="1F6F8B"/>
          </a:solidFill>
          <a:ln w="12700">
            <a:solidFill>
              <a:srgbClr val="1F6F8B"/>
            </a:solidFill>
            <a:prstDash val="solid"/>
          </a:ln>
        </p:spPr>
        <p:txBody>
          <a:bodyPr/>
          <a:lstStyle/>
          <a:p>
            <a:endParaRPr/>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1F6F8B"/>
                </a:solidFill>
                <a:latin typeface="Calibri" pitchFamily="34" charset="0"/>
                <a:ea typeface="Calibri" pitchFamily="34" charset="-122"/>
                <a:cs typeface="Calibri" pitchFamily="34" charset="-120"/>
              </a:rPr>
              <a:t>2 · HƯỚNG ƯU TIÊN</a:t>
            </a:r>
            <a:endParaRPr lang="en-US" sz="1100" dirty="0"/>
          </a:p>
        </p:txBody>
      </p:sp>
      <p:grpSp>
        <p:nvGrpSpPr>
          <p:cNvPr id="62" name="Group 61">
            <a:extLst>
              <a:ext uri="{FF2B5EF4-FFF2-40B4-BE49-F238E27FC236}">
                <a16:creationId xmlns:a16="http://schemas.microsoft.com/office/drawing/2014/main" id="{B3AD00D0-DFD5-6B13-2C1F-CF92116942D4}"/>
              </a:ext>
            </a:extLst>
          </p:cNvPr>
          <p:cNvGrpSpPr/>
          <p:nvPr/>
        </p:nvGrpSpPr>
        <p:grpSpPr>
          <a:xfrm>
            <a:off x="122011" y="1143000"/>
            <a:ext cx="11609741" cy="4848269"/>
            <a:chOff x="122011" y="1143000"/>
            <a:chExt cx="11609741" cy="4848269"/>
          </a:xfrm>
        </p:grpSpPr>
        <p:sp>
          <p:nvSpPr>
            <p:cNvPr id="6" name="Shape 3"/>
            <p:cNvSpPr/>
            <p:nvPr/>
          </p:nvSpPr>
          <p:spPr>
            <a:xfrm>
              <a:off x="2240280" y="2606040"/>
              <a:ext cx="2103120" cy="2103120"/>
            </a:xfrm>
            <a:prstGeom prst="ellipse">
              <a:avLst/>
            </a:prstGeom>
            <a:solidFill>
              <a:srgbClr val="FBEAEA"/>
            </a:solidFill>
            <a:ln w="12700">
              <a:solidFill>
                <a:srgbClr val="F1CACA"/>
              </a:solidFill>
              <a:prstDash val="solid"/>
            </a:ln>
          </p:spPr>
          <p:txBody>
            <a:bodyPr/>
            <a:lstStyle/>
            <a:p>
              <a:endParaRPr/>
            </a:p>
          </p:txBody>
        </p:sp>
        <p:sp>
          <p:nvSpPr>
            <p:cNvPr id="7" name="Text 4"/>
            <p:cNvSpPr txBox="1"/>
            <p:nvPr/>
          </p:nvSpPr>
          <p:spPr>
            <a:xfrm>
              <a:off x="2240280" y="2606040"/>
              <a:ext cx="2103120" cy="2103120"/>
            </a:xfrm>
            <a:prstGeom prst="rect">
              <a:avLst/>
            </a:prstGeom>
            <a:noFill/>
            <a:ln/>
          </p:spPr>
          <p:txBody>
            <a:bodyPr wrap="square" lIns="0" tIns="0" rIns="0" bIns="0" rtlCol="0" anchor="ctr"/>
            <a:lstStyle/>
            <a:p>
              <a:pPr marL="0" indent="0" algn="ctr">
                <a:buNone/>
              </a:pPr>
              <a:r>
                <a:rPr lang="en-US" sz="2200" b="1" dirty="0">
                  <a:solidFill>
                    <a:srgbClr val="A80000"/>
                  </a:solidFill>
                  <a:latin typeface="Cambria" pitchFamily="34" charset="0"/>
                  <a:ea typeface="Cambria" pitchFamily="34" charset="-122"/>
                  <a:cs typeface="Cambria" pitchFamily="34" charset="-120"/>
                </a:rPr>
                <a:t>AI đáng</a:t>
              </a:r>
              <a:endParaRPr lang="en-US" sz="2200" dirty="0"/>
            </a:p>
            <a:p>
              <a:pPr marL="0" indent="0" algn="ctr">
                <a:buNone/>
              </a:pPr>
              <a:r>
                <a:rPr lang="en-US" sz="2200" b="1" dirty="0">
                  <a:solidFill>
                    <a:srgbClr val="A80000"/>
                  </a:solidFill>
                  <a:latin typeface="Cambria" pitchFamily="34" charset="0"/>
                  <a:ea typeface="Cambria" pitchFamily="34" charset="-122"/>
                  <a:cs typeface="Cambria" pitchFamily="34" charset="-120"/>
                </a:rPr>
                <a:t>tin cậy</a:t>
              </a:r>
              <a:endParaRPr lang="en-US" sz="2200" dirty="0"/>
            </a:p>
          </p:txBody>
        </p:sp>
        <p:sp>
          <p:nvSpPr>
            <p:cNvPr id="8" name="Shape 5"/>
            <p:cNvSpPr/>
            <p:nvPr/>
          </p:nvSpPr>
          <p:spPr>
            <a:xfrm>
              <a:off x="2971800" y="1143000"/>
              <a:ext cx="640080" cy="640080"/>
            </a:xfrm>
            <a:prstGeom prst="ellipse">
              <a:avLst/>
            </a:prstGeom>
            <a:solidFill>
              <a:srgbClr val="1BA39C"/>
            </a:solidFill>
            <a:ln w="12700">
              <a:solidFill>
                <a:srgbClr val="1BA39C"/>
              </a:solidFill>
              <a:prstDash val="solid"/>
            </a:ln>
          </p:spPr>
          <p:txBody>
            <a:bodyPr/>
            <a:lstStyle/>
            <a:p>
              <a:endParaRPr/>
            </a:p>
          </p:txBody>
        </p:sp>
        <p:pic>
          <p:nvPicPr>
            <p:cNvPr id="9" name="Image 0" descr="preencoded.png"/>
            <p:cNvPicPr>
              <a:picLocks noChangeAspect="1"/>
            </p:cNvPicPr>
            <p:nvPr/>
          </p:nvPicPr>
          <p:blipFill>
            <a:blip r:embed="rId2"/>
            <a:stretch>
              <a:fillRect/>
            </a:stretch>
          </p:blipFill>
          <p:spPr>
            <a:xfrm>
              <a:off x="3125419" y="1296619"/>
              <a:ext cx="332842" cy="332842"/>
            </a:xfrm>
            <a:prstGeom prst="rect">
              <a:avLst/>
            </a:prstGeom>
          </p:spPr>
        </p:pic>
        <p:sp>
          <p:nvSpPr>
            <p:cNvPr id="10" name="Text 6"/>
            <p:cNvSpPr txBox="1"/>
            <p:nvPr/>
          </p:nvSpPr>
          <p:spPr>
            <a:xfrm>
              <a:off x="2377440" y="1801368"/>
              <a:ext cx="1828800" cy="365760"/>
            </a:xfrm>
            <a:prstGeom prst="rect">
              <a:avLst/>
            </a:prstGeom>
            <a:noFill/>
            <a:ln/>
          </p:spPr>
          <p:txBody>
            <a:bodyPr wrap="square" lIns="0" tIns="0" rIns="0" bIns="0" rtlCol="0" anchor="t"/>
            <a:lstStyle/>
            <a:p>
              <a:pPr marL="0" indent="0" algn="ctr">
                <a:buNone/>
              </a:pPr>
              <a:r>
                <a:rPr lang="en-US" sz="1250" b="1" dirty="0">
                  <a:solidFill>
                    <a:srgbClr val="13293D"/>
                  </a:solidFill>
                  <a:latin typeface="Calibri" pitchFamily="34" charset="0"/>
                  <a:ea typeface="Calibri" pitchFamily="34" charset="-122"/>
                  <a:cs typeface="Calibri" pitchFamily="34" charset="-120"/>
                </a:rPr>
                <a:t>Hợp lệ, tin cậy</a:t>
              </a:r>
              <a:endParaRPr lang="en-US" sz="1250" dirty="0"/>
            </a:p>
          </p:txBody>
        </p:sp>
        <p:sp>
          <p:nvSpPr>
            <p:cNvPr id="11" name="Shape 7"/>
            <p:cNvSpPr/>
            <p:nvPr/>
          </p:nvSpPr>
          <p:spPr>
            <a:xfrm>
              <a:off x="4780514" y="1900418"/>
              <a:ext cx="640080" cy="640080"/>
            </a:xfrm>
            <a:prstGeom prst="ellipse">
              <a:avLst/>
            </a:prstGeom>
            <a:solidFill>
              <a:srgbClr val="A80000"/>
            </a:solidFill>
            <a:ln w="12700">
              <a:solidFill>
                <a:srgbClr val="A80000"/>
              </a:solidFill>
              <a:prstDash val="solid"/>
            </a:ln>
          </p:spPr>
          <p:txBody>
            <a:bodyPr/>
            <a:lstStyle/>
            <a:p>
              <a:endParaRPr/>
            </a:p>
          </p:txBody>
        </p:sp>
        <p:pic>
          <p:nvPicPr>
            <p:cNvPr id="12" name="Image 1" descr="preencoded.png"/>
            <p:cNvPicPr>
              <a:picLocks noChangeAspect="1"/>
            </p:cNvPicPr>
            <p:nvPr/>
          </p:nvPicPr>
          <p:blipFill>
            <a:blip r:embed="rId3"/>
            <a:stretch>
              <a:fillRect/>
            </a:stretch>
          </p:blipFill>
          <p:spPr>
            <a:xfrm>
              <a:off x="4934133" y="2054037"/>
              <a:ext cx="332842" cy="332842"/>
            </a:xfrm>
            <a:prstGeom prst="rect">
              <a:avLst/>
            </a:prstGeom>
          </p:spPr>
        </p:pic>
        <p:sp>
          <p:nvSpPr>
            <p:cNvPr id="13" name="Text 8"/>
            <p:cNvSpPr txBox="1"/>
            <p:nvPr/>
          </p:nvSpPr>
          <p:spPr>
            <a:xfrm>
              <a:off x="4186154" y="2558786"/>
              <a:ext cx="1828800" cy="365760"/>
            </a:xfrm>
            <a:prstGeom prst="rect">
              <a:avLst/>
            </a:prstGeom>
            <a:noFill/>
            <a:ln/>
          </p:spPr>
          <p:txBody>
            <a:bodyPr wrap="square" lIns="0" tIns="0" rIns="0" bIns="0" rtlCol="0" anchor="t"/>
            <a:lstStyle/>
            <a:p>
              <a:pPr marL="0" indent="0" algn="ctr">
                <a:buNone/>
              </a:pPr>
              <a:r>
                <a:rPr lang="en-US" sz="1250" b="1" dirty="0">
                  <a:solidFill>
                    <a:srgbClr val="13293D"/>
                  </a:solidFill>
                  <a:latin typeface="Calibri" pitchFamily="34" charset="0"/>
                  <a:ea typeface="Calibri" pitchFamily="34" charset="-122"/>
                  <a:cs typeface="Calibri" pitchFamily="34" charset="-120"/>
                </a:rPr>
                <a:t>An toàn</a:t>
              </a:r>
              <a:endParaRPr lang="en-US" sz="1250" dirty="0"/>
            </a:p>
          </p:txBody>
        </p:sp>
        <p:sp>
          <p:nvSpPr>
            <p:cNvPr id="14" name="Shape 9"/>
            <p:cNvSpPr/>
            <p:nvPr/>
          </p:nvSpPr>
          <p:spPr>
            <a:xfrm>
              <a:off x="5227229" y="3602321"/>
              <a:ext cx="640080" cy="640080"/>
            </a:xfrm>
            <a:prstGeom prst="ellipse">
              <a:avLst/>
            </a:prstGeom>
            <a:solidFill>
              <a:srgbClr val="13293D"/>
            </a:solidFill>
            <a:ln w="12700">
              <a:solidFill>
                <a:srgbClr val="13293D"/>
              </a:solidFill>
              <a:prstDash val="solid"/>
            </a:ln>
          </p:spPr>
          <p:txBody>
            <a:bodyPr/>
            <a:lstStyle/>
            <a:p>
              <a:endParaRPr/>
            </a:p>
          </p:txBody>
        </p:sp>
        <p:pic>
          <p:nvPicPr>
            <p:cNvPr id="15" name="Image 2" descr="preencoded.png"/>
            <p:cNvPicPr>
              <a:picLocks noChangeAspect="1"/>
            </p:cNvPicPr>
            <p:nvPr/>
          </p:nvPicPr>
          <p:blipFill>
            <a:blip r:embed="rId4"/>
            <a:stretch>
              <a:fillRect/>
            </a:stretch>
          </p:blipFill>
          <p:spPr>
            <a:xfrm>
              <a:off x="5380849" y="3755940"/>
              <a:ext cx="332842" cy="332842"/>
            </a:xfrm>
            <a:prstGeom prst="rect">
              <a:avLst/>
            </a:prstGeom>
          </p:spPr>
        </p:pic>
        <p:sp>
          <p:nvSpPr>
            <p:cNvPr id="16" name="Text 10"/>
            <p:cNvSpPr txBox="1"/>
            <p:nvPr/>
          </p:nvSpPr>
          <p:spPr>
            <a:xfrm>
              <a:off x="4632869" y="4260689"/>
              <a:ext cx="1828800" cy="365760"/>
            </a:xfrm>
            <a:prstGeom prst="rect">
              <a:avLst/>
            </a:prstGeom>
            <a:noFill/>
            <a:ln/>
          </p:spPr>
          <p:txBody>
            <a:bodyPr wrap="square" lIns="0" tIns="0" rIns="0" bIns="0" rtlCol="0" anchor="t"/>
            <a:lstStyle/>
            <a:p>
              <a:pPr marL="0" indent="0" algn="ctr">
                <a:buNone/>
              </a:pPr>
              <a:r>
                <a:rPr lang="en-US" sz="1250" b="1" dirty="0">
                  <a:solidFill>
                    <a:srgbClr val="13293D"/>
                  </a:solidFill>
                  <a:latin typeface="Calibri" pitchFamily="34" charset="0"/>
                  <a:ea typeface="Calibri" pitchFamily="34" charset="-122"/>
                  <a:cs typeface="Calibri" pitchFamily="34" charset="-120"/>
                </a:rPr>
                <a:t>Bảo mật, bền vững</a:t>
              </a:r>
              <a:endParaRPr lang="en-US" sz="1250" dirty="0"/>
            </a:p>
          </p:txBody>
        </p:sp>
        <p:sp>
          <p:nvSpPr>
            <p:cNvPr id="17" name="Shape 11"/>
            <p:cNvSpPr/>
            <p:nvPr/>
          </p:nvSpPr>
          <p:spPr>
            <a:xfrm>
              <a:off x="3975561" y="4967141"/>
              <a:ext cx="640080" cy="640080"/>
            </a:xfrm>
            <a:prstGeom prst="ellipse">
              <a:avLst/>
            </a:prstGeom>
            <a:solidFill>
              <a:srgbClr val="1F6F8B"/>
            </a:solidFill>
            <a:ln w="12700">
              <a:solidFill>
                <a:srgbClr val="1F6F8B"/>
              </a:solidFill>
              <a:prstDash val="solid"/>
            </a:ln>
          </p:spPr>
          <p:txBody>
            <a:bodyPr/>
            <a:lstStyle/>
            <a:p>
              <a:endParaRPr/>
            </a:p>
          </p:txBody>
        </p:sp>
        <p:pic>
          <p:nvPicPr>
            <p:cNvPr id="18" name="Image 3" descr="preencoded.png"/>
            <p:cNvPicPr>
              <a:picLocks noChangeAspect="1"/>
            </p:cNvPicPr>
            <p:nvPr/>
          </p:nvPicPr>
          <p:blipFill>
            <a:blip r:embed="rId5"/>
            <a:stretch>
              <a:fillRect/>
            </a:stretch>
          </p:blipFill>
          <p:spPr>
            <a:xfrm>
              <a:off x="4129180" y="5120760"/>
              <a:ext cx="332842" cy="332842"/>
            </a:xfrm>
            <a:prstGeom prst="rect">
              <a:avLst/>
            </a:prstGeom>
          </p:spPr>
        </p:pic>
        <p:sp>
          <p:nvSpPr>
            <p:cNvPr id="19" name="Text 12"/>
            <p:cNvSpPr txBox="1"/>
            <p:nvPr/>
          </p:nvSpPr>
          <p:spPr>
            <a:xfrm>
              <a:off x="3381201" y="5625509"/>
              <a:ext cx="1828800" cy="365760"/>
            </a:xfrm>
            <a:prstGeom prst="rect">
              <a:avLst/>
            </a:prstGeom>
            <a:noFill/>
            <a:ln/>
          </p:spPr>
          <p:txBody>
            <a:bodyPr wrap="square" lIns="0" tIns="0" rIns="0" bIns="0" rtlCol="0" anchor="t"/>
            <a:lstStyle/>
            <a:p>
              <a:pPr marL="0" indent="0" algn="ctr">
                <a:buNone/>
              </a:pPr>
              <a:r>
                <a:rPr lang="en-US" sz="1250" b="1" dirty="0">
                  <a:solidFill>
                    <a:srgbClr val="13293D"/>
                  </a:solidFill>
                  <a:latin typeface="Calibri" pitchFamily="34" charset="0"/>
                  <a:ea typeface="Calibri" pitchFamily="34" charset="-122"/>
                  <a:cs typeface="Calibri" pitchFamily="34" charset="-120"/>
                </a:rPr>
                <a:t>Trách nhiệm, minh bạch</a:t>
              </a:r>
              <a:endParaRPr lang="en-US" sz="1250" dirty="0"/>
            </a:p>
          </p:txBody>
        </p:sp>
        <p:sp>
          <p:nvSpPr>
            <p:cNvPr id="20" name="Shape 13"/>
            <p:cNvSpPr/>
            <p:nvPr/>
          </p:nvSpPr>
          <p:spPr>
            <a:xfrm>
              <a:off x="1968039" y="4967141"/>
              <a:ext cx="640080" cy="640080"/>
            </a:xfrm>
            <a:prstGeom prst="ellipse">
              <a:avLst/>
            </a:prstGeom>
            <a:solidFill>
              <a:srgbClr val="E08A2E"/>
            </a:solidFill>
            <a:ln w="12700">
              <a:solidFill>
                <a:srgbClr val="E08A2E"/>
              </a:solidFill>
              <a:prstDash val="solid"/>
            </a:ln>
          </p:spPr>
          <p:txBody>
            <a:bodyPr/>
            <a:lstStyle/>
            <a:p>
              <a:endParaRPr/>
            </a:p>
          </p:txBody>
        </p:sp>
        <p:pic>
          <p:nvPicPr>
            <p:cNvPr id="21" name="Image 4" descr="preencoded.png"/>
            <p:cNvPicPr>
              <a:picLocks noChangeAspect="1"/>
            </p:cNvPicPr>
            <p:nvPr/>
          </p:nvPicPr>
          <p:blipFill>
            <a:blip r:embed="rId6"/>
            <a:stretch>
              <a:fillRect/>
            </a:stretch>
          </p:blipFill>
          <p:spPr>
            <a:xfrm>
              <a:off x="2121659" y="5120760"/>
              <a:ext cx="332842" cy="332842"/>
            </a:xfrm>
            <a:prstGeom prst="rect">
              <a:avLst/>
            </a:prstGeom>
          </p:spPr>
        </p:pic>
        <p:sp>
          <p:nvSpPr>
            <p:cNvPr id="22" name="Text 14"/>
            <p:cNvSpPr txBox="1"/>
            <p:nvPr/>
          </p:nvSpPr>
          <p:spPr>
            <a:xfrm>
              <a:off x="1373679" y="5625509"/>
              <a:ext cx="1828800" cy="365760"/>
            </a:xfrm>
            <a:prstGeom prst="rect">
              <a:avLst/>
            </a:prstGeom>
            <a:noFill/>
            <a:ln/>
          </p:spPr>
          <p:txBody>
            <a:bodyPr wrap="square" lIns="0" tIns="0" rIns="0" bIns="0" rtlCol="0" anchor="t"/>
            <a:lstStyle/>
            <a:p>
              <a:pPr marL="0" indent="0" algn="ctr">
                <a:buNone/>
              </a:pPr>
              <a:r>
                <a:rPr lang="en-US" sz="1250" b="1" dirty="0">
                  <a:solidFill>
                    <a:srgbClr val="13293D"/>
                  </a:solidFill>
                  <a:latin typeface="Calibri" pitchFamily="34" charset="0"/>
                  <a:ea typeface="Calibri" pitchFamily="34" charset="-122"/>
                  <a:cs typeface="Calibri" pitchFamily="34" charset="-120"/>
                </a:rPr>
                <a:t>Giải thích được</a:t>
              </a:r>
              <a:endParaRPr lang="en-US" sz="1250" dirty="0"/>
            </a:p>
          </p:txBody>
        </p:sp>
        <p:sp>
          <p:nvSpPr>
            <p:cNvPr id="23" name="Shape 15"/>
            <p:cNvSpPr/>
            <p:nvPr/>
          </p:nvSpPr>
          <p:spPr>
            <a:xfrm>
              <a:off x="716371" y="3602321"/>
              <a:ext cx="640080" cy="640080"/>
            </a:xfrm>
            <a:prstGeom prst="ellipse">
              <a:avLst/>
            </a:prstGeom>
            <a:solidFill>
              <a:srgbClr val="4B4B9C"/>
            </a:solidFill>
            <a:ln w="12700">
              <a:solidFill>
                <a:srgbClr val="4B4B9C"/>
              </a:solidFill>
              <a:prstDash val="solid"/>
            </a:ln>
          </p:spPr>
          <p:txBody>
            <a:bodyPr/>
            <a:lstStyle/>
            <a:p>
              <a:endParaRPr/>
            </a:p>
          </p:txBody>
        </p:sp>
        <p:pic>
          <p:nvPicPr>
            <p:cNvPr id="24" name="Image 5" descr="preencoded.png"/>
            <p:cNvPicPr>
              <a:picLocks noChangeAspect="1"/>
            </p:cNvPicPr>
            <p:nvPr/>
          </p:nvPicPr>
          <p:blipFill>
            <a:blip r:embed="rId7"/>
            <a:stretch>
              <a:fillRect/>
            </a:stretch>
          </p:blipFill>
          <p:spPr>
            <a:xfrm>
              <a:off x="869990" y="3755940"/>
              <a:ext cx="332842" cy="332842"/>
            </a:xfrm>
            <a:prstGeom prst="rect">
              <a:avLst/>
            </a:prstGeom>
          </p:spPr>
        </p:pic>
        <p:sp>
          <p:nvSpPr>
            <p:cNvPr id="25" name="Text 16"/>
            <p:cNvSpPr txBox="1"/>
            <p:nvPr/>
          </p:nvSpPr>
          <p:spPr>
            <a:xfrm>
              <a:off x="122011" y="4260689"/>
              <a:ext cx="1828800" cy="365760"/>
            </a:xfrm>
            <a:prstGeom prst="rect">
              <a:avLst/>
            </a:prstGeom>
            <a:noFill/>
            <a:ln/>
          </p:spPr>
          <p:txBody>
            <a:bodyPr wrap="square" lIns="0" tIns="0" rIns="0" bIns="0" rtlCol="0" anchor="t"/>
            <a:lstStyle/>
            <a:p>
              <a:pPr marL="0" indent="0" algn="ctr">
                <a:buNone/>
              </a:pPr>
              <a:r>
                <a:rPr lang="en-US" sz="1250" b="1" dirty="0">
                  <a:solidFill>
                    <a:srgbClr val="13293D"/>
                  </a:solidFill>
                  <a:latin typeface="Calibri" pitchFamily="34" charset="0"/>
                  <a:ea typeface="Calibri" pitchFamily="34" charset="-122"/>
                  <a:cs typeface="Calibri" pitchFamily="34" charset="-120"/>
                </a:rPr>
                <a:t>Quyền riêng tư</a:t>
              </a:r>
              <a:endParaRPr lang="en-US" sz="1250" dirty="0"/>
            </a:p>
          </p:txBody>
        </p:sp>
        <p:sp>
          <p:nvSpPr>
            <p:cNvPr id="26" name="Shape 17"/>
            <p:cNvSpPr/>
            <p:nvPr/>
          </p:nvSpPr>
          <p:spPr>
            <a:xfrm>
              <a:off x="1163086" y="1900418"/>
              <a:ext cx="640080" cy="640080"/>
            </a:xfrm>
            <a:prstGeom prst="ellipse">
              <a:avLst/>
            </a:prstGeom>
            <a:solidFill>
              <a:srgbClr val="2D6A9F"/>
            </a:solidFill>
            <a:ln w="12700">
              <a:solidFill>
                <a:srgbClr val="2D6A9F"/>
              </a:solidFill>
              <a:prstDash val="solid"/>
            </a:ln>
          </p:spPr>
          <p:txBody>
            <a:bodyPr/>
            <a:lstStyle/>
            <a:p>
              <a:endParaRPr/>
            </a:p>
          </p:txBody>
        </p:sp>
        <p:pic>
          <p:nvPicPr>
            <p:cNvPr id="27" name="Image 6" descr="preencoded.png"/>
            <p:cNvPicPr>
              <a:picLocks noChangeAspect="1"/>
            </p:cNvPicPr>
            <p:nvPr/>
          </p:nvPicPr>
          <p:blipFill>
            <a:blip r:embed="rId8"/>
            <a:stretch>
              <a:fillRect/>
            </a:stretch>
          </p:blipFill>
          <p:spPr>
            <a:xfrm>
              <a:off x="1316705" y="2054037"/>
              <a:ext cx="332842" cy="332842"/>
            </a:xfrm>
            <a:prstGeom prst="rect">
              <a:avLst/>
            </a:prstGeom>
          </p:spPr>
        </p:pic>
        <p:sp>
          <p:nvSpPr>
            <p:cNvPr id="28" name="Text 18"/>
            <p:cNvSpPr txBox="1"/>
            <p:nvPr/>
          </p:nvSpPr>
          <p:spPr>
            <a:xfrm>
              <a:off x="568726" y="2558786"/>
              <a:ext cx="1828800" cy="365760"/>
            </a:xfrm>
            <a:prstGeom prst="rect">
              <a:avLst/>
            </a:prstGeom>
            <a:noFill/>
            <a:ln/>
          </p:spPr>
          <p:txBody>
            <a:bodyPr wrap="square" lIns="0" tIns="0" rIns="0" bIns="0" rtlCol="0" anchor="t"/>
            <a:lstStyle/>
            <a:p>
              <a:pPr marL="0" indent="0" algn="ctr">
                <a:buNone/>
              </a:pPr>
              <a:r>
                <a:rPr lang="en-US" sz="1250" b="1" dirty="0">
                  <a:solidFill>
                    <a:srgbClr val="13293D"/>
                  </a:solidFill>
                  <a:latin typeface="Calibri" pitchFamily="34" charset="0"/>
                  <a:ea typeface="Calibri" pitchFamily="34" charset="-122"/>
                  <a:cs typeface="Calibri" pitchFamily="34" charset="-120"/>
                </a:rPr>
                <a:t>Công bằng</a:t>
              </a:r>
              <a:endParaRPr lang="en-US" sz="1250" dirty="0"/>
            </a:p>
          </p:txBody>
        </p:sp>
        <p:sp>
          <p:nvSpPr>
            <p:cNvPr id="29" name="Shape 19"/>
            <p:cNvSpPr/>
            <p:nvPr/>
          </p:nvSpPr>
          <p:spPr>
            <a:xfrm>
              <a:off x="6675120" y="1188720"/>
              <a:ext cx="5056632" cy="1920240"/>
            </a:xfrm>
            <a:prstGeom prst="roundRect">
              <a:avLst>
                <a:gd name="adj" fmla="val 3810"/>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a:p>
          </p:txBody>
        </p:sp>
        <p:sp>
          <p:nvSpPr>
            <p:cNvPr id="30" name="Text 20"/>
            <p:cNvSpPr txBox="1"/>
            <p:nvPr/>
          </p:nvSpPr>
          <p:spPr>
            <a:xfrm>
              <a:off x="6812280" y="1234440"/>
              <a:ext cx="1828800" cy="365760"/>
            </a:xfrm>
            <a:prstGeom prst="rect">
              <a:avLst/>
            </a:prstGeom>
            <a:noFill/>
            <a:ln/>
          </p:spPr>
          <p:txBody>
            <a:bodyPr wrap="square" lIns="0" tIns="0" rIns="0" bIns="0" rtlCol="0" anchor="t"/>
            <a:lstStyle/>
            <a:p>
              <a:pPr marL="0" indent="0">
                <a:buNone/>
              </a:pPr>
              <a:r>
                <a:rPr lang="en-US" sz="1600" b="1" dirty="0">
                  <a:solidFill>
                    <a:srgbClr val="E08A2E"/>
                  </a:solidFill>
                  <a:latin typeface="Cambria" pitchFamily="34" charset="0"/>
                  <a:ea typeface="Cambria" pitchFamily="34" charset="-122"/>
                  <a:cs typeface="Cambria" pitchFamily="34" charset="-120"/>
                </a:rPr>
                <a:t>Đánh đổi</a:t>
              </a:r>
              <a:endParaRPr lang="en-US" sz="1600" dirty="0"/>
            </a:p>
          </p:txBody>
        </p:sp>
        <p:sp>
          <p:nvSpPr>
            <p:cNvPr id="31" name="Shape 21"/>
            <p:cNvSpPr/>
            <p:nvPr/>
          </p:nvSpPr>
          <p:spPr>
            <a:xfrm>
              <a:off x="8961120" y="2514600"/>
              <a:ext cx="457200" cy="411480"/>
            </a:xfrm>
            <a:prstGeom prst="triangle">
              <a:avLst/>
            </a:prstGeom>
            <a:solidFill>
              <a:srgbClr val="13293D"/>
            </a:solidFill>
            <a:ln w="12700">
              <a:solidFill>
                <a:srgbClr val="13293D"/>
              </a:solidFill>
              <a:prstDash val="solid"/>
            </a:ln>
          </p:spPr>
          <p:txBody>
            <a:bodyPr/>
            <a:lstStyle/>
            <a:p>
              <a:endParaRPr/>
            </a:p>
          </p:txBody>
        </p:sp>
        <p:sp>
          <p:nvSpPr>
            <p:cNvPr id="32" name="Shape 22"/>
            <p:cNvSpPr/>
            <p:nvPr/>
          </p:nvSpPr>
          <p:spPr>
            <a:xfrm flipV="1">
              <a:off x="7726680" y="2240280"/>
              <a:ext cx="2926080" cy="274320"/>
            </a:xfrm>
            <a:prstGeom prst="line">
              <a:avLst/>
            </a:prstGeom>
            <a:noFill/>
            <a:ln w="38100">
              <a:solidFill>
                <a:srgbClr val="13293D"/>
              </a:solidFill>
              <a:prstDash val="solid"/>
            </a:ln>
          </p:spPr>
          <p:txBody>
            <a:bodyPr/>
            <a:lstStyle/>
            <a:p>
              <a:endParaRPr/>
            </a:p>
          </p:txBody>
        </p:sp>
        <p:sp>
          <p:nvSpPr>
            <p:cNvPr id="33" name="Shape 23"/>
            <p:cNvSpPr/>
            <p:nvPr/>
          </p:nvSpPr>
          <p:spPr>
            <a:xfrm>
              <a:off x="7086600" y="2011680"/>
              <a:ext cx="1280160" cy="457200"/>
            </a:xfrm>
            <a:prstGeom prst="roundRect">
              <a:avLst>
                <a:gd name="adj" fmla="val 20000"/>
              </a:avLst>
            </a:prstGeom>
            <a:solidFill>
              <a:srgbClr val="1F6F8B"/>
            </a:solidFill>
            <a:ln w="12700">
              <a:solidFill>
                <a:srgbClr val="1F6F8B"/>
              </a:solidFill>
              <a:prstDash val="solid"/>
            </a:ln>
          </p:spPr>
          <p:txBody>
            <a:bodyPr/>
            <a:lstStyle/>
            <a:p>
              <a:endParaRPr/>
            </a:p>
          </p:txBody>
        </p:sp>
        <p:sp>
          <p:nvSpPr>
            <p:cNvPr id="34" name="Text 24"/>
            <p:cNvSpPr txBox="1"/>
            <p:nvPr/>
          </p:nvSpPr>
          <p:spPr>
            <a:xfrm>
              <a:off x="7086600" y="2075688"/>
              <a:ext cx="128016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chính xác</a:t>
              </a:r>
              <a:endParaRPr lang="en-US" sz="1250" dirty="0"/>
            </a:p>
          </p:txBody>
        </p:sp>
        <p:sp>
          <p:nvSpPr>
            <p:cNvPr id="35" name="Shape 25"/>
            <p:cNvSpPr/>
            <p:nvPr/>
          </p:nvSpPr>
          <p:spPr>
            <a:xfrm>
              <a:off x="10012680" y="1737360"/>
              <a:ext cx="1280160" cy="457200"/>
            </a:xfrm>
            <a:prstGeom prst="roundRect">
              <a:avLst>
                <a:gd name="adj" fmla="val 20000"/>
              </a:avLst>
            </a:prstGeom>
            <a:solidFill>
              <a:srgbClr val="2D6A9F"/>
            </a:solidFill>
            <a:ln w="12700">
              <a:solidFill>
                <a:srgbClr val="2D6A9F"/>
              </a:solidFill>
              <a:prstDash val="solid"/>
            </a:ln>
          </p:spPr>
          <p:txBody>
            <a:bodyPr/>
            <a:lstStyle/>
            <a:p>
              <a:endParaRPr/>
            </a:p>
          </p:txBody>
        </p:sp>
        <p:sp>
          <p:nvSpPr>
            <p:cNvPr id="36" name="Text 26"/>
            <p:cNvSpPr txBox="1"/>
            <p:nvPr/>
          </p:nvSpPr>
          <p:spPr>
            <a:xfrm>
              <a:off x="10012680" y="1801368"/>
              <a:ext cx="128016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công bằng</a:t>
              </a:r>
              <a:endParaRPr lang="en-US" sz="1250" dirty="0"/>
            </a:p>
          </p:txBody>
        </p:sp>
        <p:sp>
          <p:nvSpPr>
            <p:cNvPr id="37" name="Shape 27"/>
            <p:cNvSpPr/>
            <p:nvPr/>
          </p:nvSpPr>
          <p:spPr>
            <a:xfrm>
              <a:off x="6675120" y="3291840"/>
              <a:ext cx="5056632" cy="2514600"/>
            </a:xfrm>
            <a:prstGeom prst="roundRect">
              <a:avLst>
                <a:gd name="adj" fmla="val 2909"/>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a:p>
          </p:txBody>
        </p:sp>
        <p:sp>
          <p:nvSpPr>
            <p:cNvPr id="38" name="Text 28"/>
            <p:cNvSpPr txBox="1"/>
            <p:nvPr/>
          </p:nvSpPr>
          <p:spPr>
            <a:xfrm>
              <a:off x="6812280" y="3337560"/>
              <a:ext cx="2286000" cy="365760"/>
            </a:xfrm>
            <a:prstGeom prst="rect">
              <a:avLst/>
            </a:prstGeom>
            <a:noFill/>
            <a:ln/>
          </p:spPr>
          <p:txBody>
            <a:bodyPr wrap="square" lIns="0" tIns="0" rIns="0" bIns="0" rtlCol="0" anchor="t"/>
            <a:lstStyle/>
            <a:p>
              <a:pPr marL="0" indent="0">
                <a:buNone/>
              </a:pPr>
              <a:r>
                <a:rPr lang="en-US" sz="1600" b="1" dirty="0">
                  <a:solidFill>
                    <a:srgbClr val="4B4B9C"/>
                  </a:solidFill>
                  <a:latin typeface="Cambria" pitchFamily="34" charset="0"/>
                  <a:ea typeface="Cambria" pitchFamily="34" charset="-122"/>
                  <a:cs typeface="Cambria" pitchFamily="34" charset="-120"/>
                </a:rPr>
                <a:t>Học liên kết</a:t>
              </a:r>
              <a:endParaRPr lang="en-US" sz="1600" dirty="0"/>
            </a:p>
          </p:txBody>
        </p:sp>
        <p:sp>
          <p:nvSpPr>
            <p:cNvPr id="39" name="Shape 29"/>
            <p:cNvSpPr/>
            <p:nvPr/>
          </p:nvSpPr>
          <p:spPr>
            <a:xfrm>
              <a:off x="8869680" y="3429000"/>
              <a:ext cx="685800" cy="685800"/>
            </a:xfrm>
            <a:prstGeom prst="ellipse">
              <a:avLst/>
            </a:prstGeom>
            <a:solidFill>
              <a:srgbClr val="4B4B9C"/>
            </a:solidFill>
            <a:ln w="12700">
              <a:solidFill>
                <a:srgbClr val="4B4B9C"/>
              </a:solidFill>
              <a:prstDash val="solid"/>
            </a:ln>
          </p:spPr>
          <p:txBody>
            <a:bodyPr/>
            <a:lstStyle/>
            <a:p>
              <a:endParaRPr/>
            </a:p>
          </p:txBody>
        </p:sp>
        <p:pic>
          <p:nvPicPr>
            <p:cNvPr id="40" name="Image 7" descr="preencoded.png"/>
            <p:cNvPicPr>
              <a:picLocks noChangeAspect="1"/>
            </p:cNvPicPr>
            <p:nvPr/>
          </p:nvPicPr>
          <p:blipFill>
            <a:blip r:embed="rId9"/>
            <a:stretch>
              <a:fillRect/>
            </a:stretch>
          </p:blipFill>
          <p:spPr>
            <a:xfrm>
              <a:off x="9034272" y="3593592"/>
              <a:ext cx="356616" cy="356616"/>
            </a:xfrm>
            <a:prstGeom prst="rect">
              <a:avLst/>
            </a:prstGeom>
          </p:spPr>
        </p:pic>
        <p:sp>
          <p:nvSpPr>
            <p:cNvPr id="41" name="Text 30"/>
            <p:cNvSpPr txBox="1"/>
            <p:nvPr/>
          </p:nvSpPr>
          <p:spPr>
            <a:xfrm>
              <a:off x="9601200" y="3611880"/>
              <a:ext cx="1645920" cy="320040"/>
            </a:xfrm>
            <a:prstGeom prst="rect">
              <a:avLst/>
            </a:prstGeom>
            <a:noFill/>
            <a:ln/>
          </p:spPr>
          <p:txBody>
            <a:bodyPr wrap="square" lIns="0" tIns="0" rIns="0" bIns="0" rtlCol="0" anchor="ctr"/>
            <a:lstStyle/>
            <a:p>
              <a:pPr marL="0" indent="0" algn="l">
                <a:buNone/>
              </a:pPr>
              <a:r>
                <a:rPr lang="en-US" sz="1150" b="1" dirty="0">
                  <a:solidFill>
                    <a:srgbClr val="4B4B9C"/>
                  </a:solidFill>
                  <a:latin typeface="Calibri" pitchFamily="34" charset="0"/>
                  <a:ea typeface="Calibri" pitchFamily="34" charset="-122"/>
                  <a:cs typeface="Calibri" pitchFamily="34" charset="-120"/>
                </a:rPr>
                <a:t>mô hình chung</a:t>
              </a:r>
              <a:endParaRPr lang="en-US" sz="1150" dirty="0"/>
            </a:p>
          </p:txBody>
        </p:sp>
        <p:sp>
          <p:nvSpPr>
            <p:cNvPr id="42" name="Shape 31"/>
            <p:cNvSpPr/>
            <p:nvPr/>
          </p:nvSpPr>
          <p:spPr>
            <a:xfrm>
              <a:off x="7086600" y="4663440"/>
              <a:ext cx="640080" cy="640080"/>
            </a:xfrm>
            <a:prstGeom prst="ellipse">
              <a:avLst/>
            </a:prstGeom>
            <a:solidFill>
              <a:srgbClr val="1F6F8B"/>
            </a:solidFill>
            <a:ln w="12700">
              <a:solidFill>
                <a:srgbClr val="1F6F8B"/>
              </a:solidFill>
              <a:prstDash val="solid"/>
            </a:ln>
          </p:spPr>
          <p:txBody>
            <a:bodyPr/>
            <a:lstStyle/>
            <a:p>
              <a:endParaRPr/>
            </a:p>
          </p:txBody>
        </p:sp>
        <p:pic>
          <p:nvPicPr>
            <p:cNvPr id="43" name="Image 8" descr="preencoded.png"/>
            <p:cNvPicPr>
              <a:picLocks noChangeAspect="1"/>
            </p:cNvPicPr>
            <p:nvPr/>
          </p:nvPicPr>
          <p:blipFill>
            <a:blip r:embed="rId10"/>
            <a:stretch>
              <a:fillRect/>
            </a:stretch>
          </p:blipFill>
          <p:spPr>
            <a:xfrm>
              <a:off x="7240219" y="4817059"/>
              <a:ext cx="332842" cy="332842"/>
            </a:xfrm>
            <a:prstGeom prst="rect">
              <a:avLst/>
            </a:prstGeom>
          </p:spPr>
        </p:pic>
        <p:pic>
          <p:nvPicPr>
            <p:cNvPr id="44" name="Image 9" descr="preencoded.png"/>
            <p:cNvPicPr>
              <a:picLocks noChangeAspect="1"/>
            </p:cNvPicPr>
            <p:nvPr/>
          </p:nvPicPr>
          <p:blipFill>
            <a:blip r:embed="rId11"/>
            <a:stretch>
              <a:fillRect/>
            </a:stretch>
          </p:blipFill>
          <p:spPr>
            <a:xfrm>
              <a:off x="7562088" y="5138928"/>
              <a:ext cx="237744" cy="237744"/>
            </a:xfrm>
            <a:prstGeom prst="rect">
              <a:avLst/>
            </a:prstGeom>
          </p:spPr>
        </p:pic>
        <p:sp>
          <p:nvSpPr>
            <p:cNvPr id="45" name="Text 32"/>
            <p:cNvSpPr txBox="1"/>
            <p:nvPr/>
          </p:nvSpPr>
          <p:spPr>
            <a:xfrm>
              <a:off x="6720840" y="5349240"/>
              <a:ext cx="1371600" cy="320040"/>
            </a:xfrm>
            <a:prstGeom prst="rect">
              <a:avLst/>
            </a:prstGeom>
            <a:noFill/>
            <a:ln/>
          </p:spPr>
          <p:txBody>
            <a:bodyPr wrap="square" lIns="0" tIns="0" rIns="0" bIns="0" rtlCol="0" anchor="ctr"/>
            <a:lstStyle/>
            <a:p>
              <a:pPr marL="0" indent="0" algn="ctr">
                <a:buNone/>
              </a:pPr>
              <a:r>
                <a:rPr lang="en-US" sz="1150" b="1" dirty="0">
                  <a:solidFill>
                    <a:srgbClr val="13293D"/>
                  </a:solidFill>
                  <a:latin typeface="Calibri" pitchFamily="34" charset="0"/>
                  <a:ea typeface="Calibri" pitchFamily="34" charset="-122"/>
                  <a:cs typeface="Calibri" pitchFamily="34" charset="-120"/>
                </a:rPr>
                <a:t>trường</a:t>
              </a:r>
              <a:endParaRPr lang="en-US" sz="1150" dirty="0"/>
            </a:p>
          </p:txBody>
        </p:sp>
        <p:sp>
          <p:nvSpPr>
            <p:cNvPr id="46" name="Shape 33"/>
            <p:cNvSpPr/>
            <p:nvPr/>
          </p:nvSpPr>
          <p:spPr>
            <a:xfrm flipV="1">
              <a:off x="7406640" y="4160520"/>
              <a:ext cx="1801368" cy="457200"/>
            </a:xfrm>
            <a:prstGeom prst="line">
              <a:avLst/>
            </a:prstGeom>
            <a:noFill/>
            <a:ln w="19050">
              <a:solidFill>
                <a:srgbClr val="4B4B9C"/>
              </a:solidFill>
              <a:prstDash val="dash"/>
              <a:tailEnd type="triangle"/>
            </a:ln>
          </p:spPr>
          <p:txBody>
            <a:bodyPr/>
            <a:lstStyle/>
            <a:p>
              <a:endParaRPr/>
            </a:p>
          </p:txBody>
        </p:sp>
        <p:sp>
          <p:nvSpPr>
            <p:cNvPr id="47" name="Shape 34"/>
            <p:cNvSpPr/>
            <p:nvPr/>
          </p:nvSpPr>
          <p:spPr>
            <a:xfrm>
              <a:off x="8869680" y="4663440"/>
              <a:ext cx="640080" cy="640080"/>
            </a:xfrm>
            <a:prstGeom prst="ellipse">
              <a:avLst/>
            </a:prstGeom>
            <a:solidFill>
              <a:srgbClr val="1F6F8B"/>
            </a:solidFill>
            <a:ln w="12700">
              <a:solidFill>
                <a:srgbClr val="1F6F8B"/>
              </a:solidFill>
              <a:prstDash val="solid"/>
            </a:ln>
          </p:spPr>
          <p:txBody>
            <a:bodyPr/>
            <a:lstStyle/>
            <a:p>
              <a:endParaRPr/>
            </a:p>
          </p:txBody>
        </p:sp>
        <p:pic>
          <p:nvPicPr>
            <p:cNvPr id="48" name="Image 10" descr="preencoded.png"/>
            <p:cNvPicPr>
              <a:picLocks noChangeAspect="1"/>
            </p:cNvPicPr>
            <p:nvPr/>
          </p:nvPicPr>
          <p:blipFill>
            <a:blip r:embed="rId12"/>
            <a:stretch>
              <a:fillRect/>
            </a:stretch>
          </p:blipFill>
          <p:spPr>
            <a:xfrm>
              <a:off x="9023299" y="4817059"/>
              <a:ext cx="332842" cy="332842"/>
            </a:xfrm>
            <a:prstGeom prst="rect">
              <a:avLst/>
            </a:prstGeom>
          </p:spPr>
        </p:pic>
        <p:pic>
          <p:nvPicPr>
            <p:cNvPr id="49" name="Image 11" descr="preencoded.png"/>
            <p:cNvPicPr>
              <a:picLocks noChangeAspect="1"/>
            </p:cNvPicPr>
            <p:nvPr/>
          </p:nvPicPr>
          <p:blipFill>
            <a:blip r:embed="rId11"/>
            <a:stretch>
              <a:fillRect/>
            </a:stretch>
          </p:blipFill>
          <p:spPr>
            <a:xfrm>
              <a:off x="9345168" y="5138928"/>
              <a:ext cx="237744" cy="237744"/>
            </a:xfrm>
            <a:prstGeom prst="rect">
              <a:avLst/>
            </a:prstGeom>
          </p:spPr>
        </p:pic>
        <p:sp>
          <p:nvSpPr>
            <p:cNvPr id="50" name="Text 35"/>
            <p:cNvSpPr txBox="1"/>
            <p:nvPr/>
          </p:nvSpPr>
          <p:spPr>
            <a:xfrm>
              <a:off x="8503920" y="5349240"/>
              <a:ext cx="1371600" cy="320040"/>
            </a:xfrm>
            <a:prstGeom prst="rect">
              <a:avLst/>
            </a:prstGeom>
            <a:noFill/>
            <a:ln/>
          </p:spPr>
          <p:txBody>
            <a:bodyPr wrap="square" lIns="0" tIns="0" rIns="0" bIns="0" rtlCol="0" anchor="ctr"/>
            <a:lstStyle/>
            <a:p>
              <a:pPr marL="0" indent="0" algn="ctr">
                <a:buNone/>
              </a:pPr>
              <a:r>
                <a:rPr lang="en-US" sz="1150" b="1" dirty="0">
                  <a:solidFill>
                    <a:srgbClr val="13293D"/>
                  </a:solidFill>
                  <a:latin typeface="Calibri" pitchFamily="34" charset="0"/>
                  <a:ea typeface="Calibri" pitchFamily="34" charset="-122"/>
                  <a:cs typeface="Calibri" pitchFamily="34" charset="-120"/>
                </a:rPr>
                <a:t>bệnh viện</a:t>
              </a:r>
              <a:endParaRPr lang="en-US" sz="1150" dirty="0"/>
            </a:p>
          </p:txBody>
        </p:sp>
        <p:sp>
          <p:nvSpPr>
            <p:cNvPr id="51" name="Shape 36"/>
            <p:cNvSpPr/>
            <p:nvPr/>
          </p:nvSpPr>
          <p:spPr>
            <a:xfrm flipV="1">
              <a:off x="9189720" y="4160520"/>
              <a:ext cx="18288" cy="457200"/>
            </a:xfrm>
            <a:prstGeom prst="line">
              <a:avLst/>
            </a:prstGeom>
            <a:noFill/>
            <a:ln w="19050">
              <a:solidFill>
                <a:srgbClr val="4B4B9C"/>
              </a:solidFill>
              <a:prstDash val="dash"/>
              <a:tailEnd type="triangle"/>
            </a:ln>
          </p:spPr>
          <p:txBody>
            <a:bodyPr/>
            <a:lstStyle/>
            <a:p>
              <a:endParaRPr/>
            </a:p>
          </p:txBody>
        </p:sp>
        <p:sp>
          <p:nvSpPr>
            <p:cNvPr id="52" name="Shape 37"/>
            <p:cNvSpPr/>
            <p:nvPr/>
          </p:nvSpPr>
          <p:spPr>
            <a:xfrm>
              <a:off x="10652760" y="4663440"/>
              <a:ext cx="640080" cy="640080"/>
            </a:xfrm>
            <a:prstGeom prst="ellipse">
              <a:avLst/>
            </a:prstGeom>
            <a:solidFill>
              <a:srgbClr val="1F6F8B"/>
            </a:solidFill>
            <a:ln w="12700">
              <a:solidFill>
                <a:srgbClr val="1F6F8B"/>
              </a:solidFill>
              <a:prstDash val="solid"/>
            </a:ln>
          </p:spPr>
          <p:txBody>
            <a:bodyPr/>
            <a:lstStyle/>
            <a:p>
              <a:endParaRPr/>
            </a:p>
          </p:txBody>
        </p:sp>
        <p:pic>
          <p:nvPicPr>
            <p:cNvPr id="53" name="Image 12" descr="preencoded.png"/>
            <p:cNvPicPr>
              <a:picLocks noChangeAspect="1"/>
            </p:cNvPicPr>
            <p:nvPr/>
          </p:nvPicPr>
          <p:blipFill>
            <a:blip r:embed="rId13"/>
            <a:stretch>
              <a:fillRect/>
            </a:stretch>
          </p:blipFill>
          <p:spPr>
            <a:xfrm>
              <a:off x="10806379" y="4817059"/>
              <a:ext cx="332842" cy="332842"/>
            </a:xfrm>
            <a:prstGeom prst="rect">
              <a:avLst/>
            </a:prstGeom>
          </p:spPr>
        </p:pic>
        <p:pic>
          <p:nvPicPr>
            <p:cNvPr id="54" name="Image 13" descr="preencoded.png"/>
            <p:cNvPicPr>
              <a:picLocks noChangeAspect="1"/>
            </p:cNvPicPr>
            <p:nvPr/>
          </p:nvPicPr>
          <p:blipFill>
            <a:blip r:embed="rId11"/>
            <a:stretch>
              <a:fillRect/>
            </a:stretch>
          </p:blipFill>
          <p:spPr>
            <a:xfrm>
              <a:off x="11128248" y="5138928"/>
              <a:ext cx="237744" cy="237744"/>
            </a:xfrm>
            <a:prstGeom prst="rect">
              <a:avLst/>
            </a:prstGeom>
          </p:spPr>
        </p:pic>
        <p:sp>
          <p:nvSpPr>
            <p:cNvPr id="55" name="Text 38"/>
            <p:cNvSpPr txBox="1"/>
            <p:nvPr/>
          </p:nvSpPr>
          <p:spPr>
            <a:xfrm>
              <a:off x="10287000" y="5349240"/>
              <a:ext cx="1371600" cy="320040"/>
            </a:xfrm>
            <a:prstGeom prst="rect">
              <a:avLst/>
            </a:prstGeom>
            <a:noFill/>
            <a:ln/>
          </p:spPr>
          <p:txBody>
            <a:bodyPr wrap="square" lIns="0" tIns="0" rIns="0" bIns="0" rtlCol="0" anchor="ctr"/>
            <a:lstStyle/>
            <a:p>
              <a:pPr marL="0" indent="0" algn="ctr">
                <a:buNone/>
              </a:pPr>
              <a:r>
                <a:rPr lang="en-US" sz="1150" b="1" dirty="0">
                  <a:solidFill>
                    <a:srgbClr val="13293D"/>
                  </a:solidFill>
                  <a:latin typeface="Calibri" pitchFamily="34" charset="0"/>
                  <a:ea typeface="Calibri" pitchFamily="34" charset="-122"/>
                  <a:cs typeface="Calibri" pitchFamily="34" charset="-120"/>
                </a:rPr>
                <a:t>trường</a:t>
              </a:r>
              <a:endParaRPr lang="en-US" sz="1150" dirty="0"/>
            </a:p>
          </p:txBody>
        </p:sp>
        <p:sp>
          <p:nvSpPr>
            <p:cNvPr id="56" name="Shape 39"/>
            <p:cNvSpPr/>
            <p:nvPr/>
          </p:nvSpPr>
          <p:spPr>
            <a:xfrm flipH="1" flipV="1">
              <a:off x="9208008" y="4160520"/>
              <a:ext cx="1764792" cy="457200"/>
            </a:xfrm>
            <a:prstGeom prst="line">
              <a:avLst/>
            </a:prstGeom>
            <a:noFill/>
            <a:ln w="19050">
              <a:solidFill>
                <a:srgbClr val="4B4B9C"/>
              </a:solidFill>
              <a:prstDash val="dash"/>
              <a:tailEnd type="triangle"/>
            </a:ln>
          </p:spPr>
          <p:txBody>
            <a:bodyPr/>
            <a:lstStyle/>
            <a:p>
              <a:endParaRPr/>
            </a:p>
          </p:txBody>
        </p:sp>
        <p:sp>
          <p:nvSpPr>
            <p:cNvPr id="57" name="Text 40"/>
            <p:cNvSpPr txBox="1"/>
            <p:nvPr/>
          </p:nvSpPr>
          <p:spPr>
            <a:xfrm>
              <a:off x="6766560" y="4206240"/>
              <a:ext cx="2103120" cy="365760"/>
            </a:xfrm>
            <a:prstGeom prst="rect">
              <a:avLst/>
            </a:prstGeom>
            <a:noFill/>
            <a:ln/>
          </p:spPr>
          <p:txBody>
            <a:bodyPr wrap="square" lIns="0" tIns="0" rIns="0" bIns="0" rtlCol="0" anchor="t"/>
            <a:lstStyle/>
            <a:p>
              <a:pPr marL="0" indent="0">
                <a:buNone/>
              </a:pPr>
              <a:r>
                <a:rPr lang="en-US" sz="1050" i="1" dirty="0">
                  <a:solidFill>
                    <a:srgbClr val="5B6B76"/>
                  </a:solidFill>
                  <a:latin typeface="Calibri" pitchFamily="34" charset="0"/>
                  <a:ea typeface="Calibri" pitchFamily="34" charset="-122"/>
                  <a:cs typeface="Calibri" pitchFamily="34" charset="-120"/>
                </a:rPr>
                <a:t>dữ liệu ở lại · chỉ gửi mô hình</a:t>
              </a:r>
              <a:endParaRPr lang="en-US" sz="1050" dirty="0"/>
            </a:p>
          </p:txBody>
        </p:sp>
        <p:sp>
          <p:nvSpPr>
            <p:cNvPr id="58" name="Shape 41"/>
            <p:cNvSpPr/>
            <p:nvPr/>
          </p:nvSpPr>
          <p:spPr>
            <a:xfrm>
              <a:off x="457200" y="1188720"/>
              <a:ext cx="457200" cy="457200"/>
            </a:xfrm>
            <a:prstGeom prst="ellipse">
              <a:avLst/>
            </a:prstGeom>
            <a:solidFill>
              <a:srgbClr val="1BA39C"/>
            </a:solidFill>
            <a:ln w="12700">
              <a:solidFill>
                <a:srgbClr val="1BA39C"/>
              </a:solidFill>
              <a:prstDash val="solid"/>
            </a:ln>
          </p:spPr>
          <p:txBody>
            <a:bodyPr/>
            <a:lstStyle/>
            <a:p>
              <a:endParaRPr/>
            </a:p>
          </p:txBody>
        </p:sp>
        <p:pic>
          <p:nvPicPr>
            <p:cNvPr id="59" name="Image 14" descr="preencoded.png"/>
            <p:cNvPicPr>
              <a:picLocks noChangeAspect="1"/>
            </p:cNvPicPr>
            <p:nvPr/>
          </p:nvPicPr>
          <p:blipFill>
            <a:blip r:embed="rId14"/>
            <a:stretch>
              <a:fillRect/>
            </a:stretch>
          </p:blipFill>
          <p:spPr>
            <a:xfrm>
              <a:off x="566928" y="1298448"/>
              <a:ext cx="237744" cy="237744"/>
            </a:xfrm>
            <a:prstGeom prst="rect">
              <a:avLst/>
            </a:prstGeom>
          </p:spPr>
        </p:pic>
        <p:sp>
          <p:nvSpPr>
            <p:cNvPr id="60" name="Text 42"/>
            <p:cNvSpPr txBox="1"/>
            <p:nvPr/>
          </p:nvSpPr>
          <p:spPr>
            <a:xfrm>
              <a:off x="987552" y="1143000"/>
              <a:ext cx="1737360" cy="548640"/>
            </a:xfrm>
            <a:prstGeom prst="rect">
              <a:avLst/>
            </a:prstGeom>
            <a:noFill/>
            <a:ln/>
          </p:spPr>
          <p:txBody>
            <a:bodyPr wrap="square" lIns="0" tIns="0" rIns="0" bIns="0" rtlCol="0" anchor="ctr"/>
            <a:lstStyle/>
            <a:p>
              <a:pPr marL="0" indent="0">
                <a:buNone/>
              </a:pPr>
              <a:r>
                <a:rPr lang="en-US" sz="1150" b="1" dirty="0">
                  <a:solidFill>
                    <a:srgbClr val="1BA39C"/>
                  </a:solidFill>
                  <a:latin typeface="Calibri" pitchFamily="34" charset="0"/>
                  <a:ea typeface="Calibri" pitchFamily="34" charset="-122"/>
                  <a:cs typeface="Calibri" pitchFamily="34" charset="-120"/>
                </a:rPr>
                <a:t>người dùng chuyên môn</a:t>
              </a:r>
              <a:endParaRPr lang="en-US" sz="1150" dirty="0"/>
            </a:p>
            <a:p>
              <a:pPr marL="0" indent="0">
                <a:buNone/>
              </a:pPr>
              <a:r>
                <a:rPr lang="en-US" sz="1150" b="1" dirty="0">
                  <a:solidFill>
                    <a:srgbClr val="1BA39C"/>
                  </a:solidFill>
                  <a:latin typeface="Calibri" pitchFamily="34" charset="0"/>
                  <a:ea typeface="Calibri" pitchFamily="34" charset="-122"/>
                  <a:cs typeface="Calibri" pitchFamily="34" charset="-120"/>
                </a:rPr>
                <a:t>tham gia đánh giá</a:t>
              </a:r>
              <a:endParaRPr lang="en-US" sz="1150" dirty="0"/>
            </a:p>
          </p:txBody>
        </p:sp>
      </p:grpSp>
      <p:sp>
        <p:nvSpPr>
          <p:cNvPr id="61" name="Text 43"/>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NIST AI RMF 1.0, 2023 [13]</a:t>
            </a:r>
            <a:endParaRPr lang="en-US" sz="1000" dirty="0"/>
          </a:p>
        </p:txBody>
      </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deck/img/band_title.png"/>
          <p:cNvPicPr>
            <a:picLocks noChangeAspect="1"/>
          </p:cNvPicPr>
          <p:nvPr/>
        </p:nvPicPr>
        <p:blipFill>
          <a:blip r:embed="rId2"/>
          <a:stretch>
            <a:fillRect/>
          </a:stretch>
        </p:blipFill>
        <p:spPr>
          <a:xfrm>
            <a:off x="0" y="0"/>
            <a:ext cx="12191695" cy="2514600"/>
          </a:xfrm>
          <a:prstGeom prst="rect">
            <a:avLst/>
          </a:prstGeom>
        </p:spPr>
      </p:pic>
      <p:pic>
        <p:nvPicPr>
          <p:cNvPr id="3" name="Image 1" descr="/home/claude/deck/img/airc_logo.png"/>
          <p:cNvPicPr>
            <a:picLocks noChangeAspect="1"/>
          </p:cNvPicPr>
          <p:nvPr/>
        </p:nvPicPr>
        <p:blipFill>
          <a:blip r:embed="rId3"/>
          <a:stretch>
            <a:fillRect/>
          </a:stretch>
        </p:blipFill>
        <p:spPr>
          <a:xfrm>
            <a:off x="11064240" y="228600"/>
            <a:ext cx="868680" cy="868680"/>
          </a:xfrm>
          <a:prstGeom prst="rect">
            <a:avLst/>
          </a:prstGeom>
        </p:spPr>
      </p:pic>
      <p:sp>
        <p:nvSpPr>
          <p:cNvPr id="4" name="Text 0"/>
          <p:cNvSpPr txBox="1"/>
          <p:nvPr/>
        </p:nvSpPr>
        <p:spPr>
          <a:xfrm>
            <a:off x="640080" y="320040"/>
            <a:ext cx="5486400" cy="548640"/>
          </a:xfrm>
          <a:prstGeom prst="rect">
            <a:avLst/>
          </a:prstGeom>
          <a:noFill/>
          <a:ln/>
        </p:spPr>
        <p:txBody>
          <a:bodyPr wrap="square" lIns="0" tIns="0" rIns="0" bIns="0" rtlCol="0" anchor="t"/>
          <a:lstStyle/>
          <a:p>
            <a:pPr marL="0" indent="0">
              <a:buNone/>
            </a:pPr>
            <a:r>
              <a:rPr lang="en-US" sz="2200" b="1" kern="0" spc="400" dirty="0">
                <a:solidFill>
                  <a:srgbClr val="FFFFFF"/>
                </a:solidFill>
                <a:latin typeface="Arial" pitchFamily="34" charset="0"/>
                <a:ea typeface="Arial" pitchFamily="34" charset="-122"/>
                <a:cs typeface="Arial" pitchFamily="34" charset="-120"/>
              </a:rPr>
              <a:t>PHẦN 3</a:t>
            </a:r>
            <a:endParaRPr lang="en-US" sz="2200" dirty="0"/>
          </a:p>
        </p:txBody>
      </p:sp>
      <p:sp>
        <p:nvSpPr>
          <p:cNvPr id="5" name="Text 1"/>
          <p:cNvSpPr txBox="1"/>
          <p:nvPr/>
        </p:nvSpPr>
        <p:spPr>
          <a:xfrm>
            <a:off x="640080" y="868680"/>
            <a:ext cx="9509760" cy="8686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Kết quả nghiên cứu AI tại Viện CNTT</a:t>
            </a:r>
            <a:endParaRPr lang="en-US" sz="3800" dirty="0"/>
          </a:p>
        </p:txBody>
      </p:sp>
      <p:sp>
        <p:nvSpPr>
          <p:cNvPr id="6" name="Text 2"/>
          <p:cNvSpPr txBox="1"/>
          <p:nvPr/>
        </p:nvSpPr>
        <p:spPr>
          <a:xfrm>
            <a:off x="640080" y="1737360"/>
            <a:ext cx="9509760" cy="54864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Viện CNTT, ĐHQGHN đã làm được gì?</a:t>
            </a:r>
            <a:endParaRPr lang="en-US" sz="2000" dirty="0"/>
          </a:p>
        </p:txBody>
      </p:sp>
      <p:sp>
        <p:nvSpPr>
          <p:cNvPr id="7" name="Shape 3"/>
          <p:cNvSpPr/>
          <p:nvPr/>
        </p:nvSpPr>
        <p:spPr>
          <a:xfrm>
            <a:off x="457200" y="2834640"/>
            <a:ext cx="2072030" cy="2331720"/>
          </a:xfrm>
          <a:prstGeom prst="roundRect">
            <a:avLst>
              <a:gd name="adj" fmla="val 3530"/>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8" name="Shape 4"/>
          <p:cNvSpPr/>
          <p:nvPr/>
        </p:nvSpPr>
        <p:spPr>
          <a:xfrm>
            <a:off x="1036015" y="3063240"/>
            <a:ext cx="914400" cy="914400"/>
          </a:xfrm>
          <a:prstGeom prst="ellipse">
            <a:avLst/>
          </a:prstGeom>
          <a:solidFill>
            <a:srgbClr val="E08A2E"/>
          </a:solidFill>
          <a:ln w="12700">
            <a:solidFill>
              <a:srgbClr val="E08A2E"/>
            </a:solidFill>
            <a:prstDash val="solid"/>
          </a:ln>
        </p:spPr>
        <p:txBody>
          <a:bodyPr/>
          <a:lstStyle/>
          <a:p>
            <a:endParaRPr lang="en-US"/>
          </a:p>
        </p:txBody>
      </p:sp>
      <p:pic>
        <p:nvPicPr>
          <p:cNvPr id="9" name="Image 2" descr="preencoded.png"/>
          <p:cNvPicPr>
            <a:picLocks noChangeAspect="1"/>
          </p:cNvPicPr>
          <p:nvPr/>
        </p:nvPicPr>
        <p:blipFill>
          <a:blip r:embed="rId4"/>
          <a:stretch>
            <a:fillRect/>
          </a:stretch>
        </p:blipFill>
        <p:spPr>
          <a:xfrm>
            <a:off x="1255471" y="3282696"/>
            <a:ext cx="475488" cy="475488"/>
          </a:xfrm>
          <a:prstGeom prst="rect">
            <a:avLst/>
          </a:prstGeom>
        </p:spPr>
      </p:pic>
      <p:sp>
        <p:nvSpPr>
          <p:cNvPr id="10" name="Text 5"/>
          <p:cNvSpPr txBox="1"/>
          <p:nvPr/>
        </p:nvSpPr>
        <p:spPr>
          <a:xfrm>
            <a:off x="548640" y="4114800"/>
            <a:ext cx="1889150"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Trung tâm AIRC</a:t>
            </a:r>
            <a:endParaRPr lang="en-US" sz="1700" dirty="0"/>
          </a:p>
        </p:txBody>
      </p:sp>
      <p:sp>
        <p:nvSpPr>
          <p:cNvPr id="11" name="Shape 6"/>
          <p:cNvSpPr/>
          <p:nvPr/>
        </p:nvSpPr>
        <p:spPr>
          <a:xfrm>
            <a:off x="2757830" y="2834640"/>
            <a:ext cx="2072030" cy="2331720"/>
          </a:xfrm>
          <a:prstGeom prst="roundRect">
            <a:avLst>
              <a:gd name="adj" fmla="val 3530"/>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12" name="Shape 7"/>
          <p:cNvSpPr/>
          <p:nvPr/>
        </p:nvSpPr>
        <p:spPr>
          <a:xfrm>
            <a:off x="3336646" y="3063240"/>
            <a:ext cx="914400" cy="914400"/>
          </a:xfrm>
          <a:prstGeom prst="ellipse">
            <a:avLst/>
          </a:prstGeom>
          <a:solidFill>
            <a:srgbClr val="E08A2E"/>
          </a:solidFill>
          <a:ln w="12700">
            <a:solidFill>
              <a:srgbClr val="E08A2E"/>
            </a:solidFill>
            <a:prstDash val="solid"/>
          </a:ln>
        </p:spPr>
        <p:txBody>
          <a:bodyPr/>
          <a:lstStyle/>
          <a:p>
            <a:endParaRPr lang="en-US"/>
          </a:p>
        </p:txBody>
      </p:sp>
      <p:pic>
        <p:nvPicPr>
          <p:cNvPr id="13" name="Image 3" descr="preencoded.png"/>
          <p:cNvPicPr>
            <a:picLocks noChangeAspect="1"/>
          </p:cNvPicPr>
          <p:nvPr/>
        </p:nvPicPr>
        <p:blipFill>
          <a:blip r:embed="rId5"/>
          <a:stretch>
            <a:fillRect/>
          </a:stretch>
        </p:blipFill>
        <p:spPr>
          <a:xfrm>
            <a:off x="3556102" y="3282696"/>
            <a:ext cx="475488" cy="475488"/>
          </a:xfrm>
          <a:prstGeom prst="rect">
            <a:avLst/>
          </a:prstGeom>
        </p:spPr>
      </p:pic>
      <p:sp>
        <p:nvSpPr>
          <p:cNvPr id="14" name="Text 8"/>
          <p:cNvSpPr txBox="1"/>
          <p:nvPr/>
        </p:nvSpPr>
        <p:spPr>
          <a:xfrm>
            <a:off x="2849270" y="4114800"/>
            <a:ext cx="1889150"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VNU-DIAGNOSIS</a:t>
            </a:r>
            <a:endParaRPr lang="en-US" sz="1700" dirty="0"/>
          </a:p>
        </p:txBody>
      </p:sp>
      <p:sp>
        <p:nvSpPr>
          <p:cNvPr id="15" name="Shape 9"/>
          <p:cNvSpPr/>
          <p:nvPr/>
        </p:nvSpPr>
        <p:spPr>
          <a:xfrm>
            <a:off x="5058461" y="2834640"/>
            <a:ext cx="2072030" cy="2331720"/>
          </a:xfrm>
          <a:prstGeom prst="roundRect">
            <a:avLst>
              <a:gd name="adj" fmla="val 3530"/>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16" name="Shape 10"/>
          <p:cNvSpPr/>
          <p:nvPr/>
        </p:nvSpPr>
        <p:spPr>
          <a:xfrm>
            <a:off x="5637276" y="3063240"/>
            <a:ext cx="914400" cy="914400"/>
          </a:xfrm>
          <a:prstGeom prst="ellipse">
            <a:avLst/>
          </a:prstGeom>
          <a:solidFill>
            <a:srgbClr val="E08A2E"/>
          </a:solidFill>
          <a:ln w="12700">
            <a:solidFill>
              <a:srgbClr val="E08A2E"/>
            </a:solidFill>
            <a:prstDash val="solid"/>
          </a:ln>
        </p:spPr>
        <p:txBody>
          <a:bodyPr/>
          <a:lstStyle/>
          <a:p>
            <a:endParaRPr lang="en-US"/>
          </a:p>
        </p:txBody>
      </p:sp>
      <p:pic>
        <p:nvPicPr>
          <p:cNvPr id="17" name="Image 4" descr="preencoded.png"/>
          <p:cNvPicPr>
            <a:picLocks noChangeAspect="1"/>
          </p:cNvPicPr>
          <p:nvPr/>
        </p:nvPicPr>
        <p:blipFill>
          <a:blip r:embed="rId6"/>
          <a:stretch>
            <a:fillRect/>
          </a:stretch>
        </p:blipFill>
        <p:spPr>
          <a:xfrm>
            <a:off x="5856732" y="3282696"/>
            <a:ext cx="475488" cy="475488"/>
          </a:xfrm>
          <a:prstGeom prst="rect">
            <a:avLst/>
          </a:prstGeom>
        </p:spPr>
      </p:pic>
      <p:sp>
        <p:nvSpPr>
          <p:cNvPr id="18" name="Text 11"/>
          <p:cNvSpPr txBox="1"/>
          <p:nvPr/>
        </p:nvSpPr>
        <p:spPr>
          <a:xfrm>
            <a:off x="5149901" y="4114800"/>
            <a:ext cx="1889150"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AIRC-KNEE</a:t>
            </a:r>
            <a:endParaRPr lang="en-US" sz="1700" dirty="0"/>
          </a:p>
        </p:txBody>
      </p:sp>
      <p:sp>
        <p:nvSpPr>
          <p:cNvPr id="19" name="Shape 12"/>
          <p:cNvSpPr/>
          <p:nvPr/>
        </p:nvSpPr>
        <p:spPr>
          <a:xfrm>
            <a:off x="7359091" y="2834640"/>
            <a:ext cx="2072030" cy="2331720"/>
          </a:xfrm>
          <a:prstGeom prst="roundRect">
            <a:avLst>
              <a:gd name="adj" fmla="val 3530"/>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20" name="Shape 13"/>
          <p:cNvSpPr/>
          <p:nvPr/>
        </p:nvSpPr>
        <p:spPr>
          <a:xfrm>
            <a:off x="7937906" y="3063240"/>
            <a:ext cx="914400" cy="914400"/>
          </a:xfrm>
          <a:prstGeom prst="ellipse">
            <a:avLst/>
          </a:prstGeom>
          <a:solidFill>
            <a:srgbClr val="E08A2E"/>
          </a:solidFill>
          <a:ln w="12700">
            <a:solidFill>
              <a:srgbClr val="E08A2E"/>
            </a:solidFill>
            <a:prstDash val="solid"/>
          </a:ln>
        </p:spPr>
        <p:txBody>
          <a:bodyPr/>
          <a:lstStyle/>
          <a:p>
            <a:endParaRPr lang="en-US"/>
          </a:p>
        </p:txBody>
      </p:sp>
      <p:pic>
        <p:nvPicPr>
          <p:cNvPr id="21" name="Image 5" descr="preencoded.png"/>
          <p:cNvPicPr>
            <a:picLocks noChangeAspect="1"/>
          </p:cNvPicPr>
          <p:nvPr/>
        </p:nvPicPr>
        <p:blipFill>
          <a:blip r:embed="rId7"/>
          <a:stretch>
            <a:fillRect/>
          </a:stretch>
        </p:blipFill>
        <p:spPr>
          <a:xfrm>
            <a:off x="8157362" y="3282696"/>
            <a:ext cx="475488" cy="475488"/>
          </a:xfrm>
          <a:prstGeom prst="rect">
            <a:avLst/>
          </a:prstGeom>
        </p:spPr>
      </p:pic>
      <p:sp>
        <p:nvSpPr>
          <p:cNvPr id="22" name="Text 14"/>
          <p:cNvSpPr txBox="1"/>
          <p:nvPr/>
        </p:nvSpPr>
        <p:spPr>
          <a:xfrm>
            <a:off x="7450531" y="4114800"/>
            <a:ext cx="1889150"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Đa phương thức, Camera AI</a:t>
            </a:r>
            <a:endParaRPr lang="en-US" sz="1700" dirty="0"/>
          </a:p>
        </p:txBody>
      </p:sp>
      <p:sp>
        <p:nvSpPr>
          <p:cNvPr id="23" name="Shape 15"/>
          <p:cNvSpPr/>
          <p:nvPr/>
        </p:nvSpPr>
        <p:spPr>
          <a:xfrm>
            <a:off x="9659722" y="2834640"/>
            <a:ext cx="2072030" cy="2331720"/>
          </a:xfrm>
          <a:prstGeom prst="roundRect">
            <a:avLst>
              <a:gd name="adj" fmla="val 3530"/>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24" name="Shape 16"/>
          <p:cNvSpPr/>
          <p:nvPr/>
        </p:nvSpPr>
        <p:spPr>
          <a:xfrm>
            <a:off x="10238537" y="3063240"/>
            <a:ext cx="914400" cy="914400"/>
          </a:xfrm>
          <a:prstGeom prst="ellipse">
            <a:avLst/>
          </a:prstGeom>
          <a:solidFill>
            <a:srgbClr val="E08A2E"/>
          </a:solidFill>
          <a:ln w="12700">
            <a:solidFill>
              <a:srgbClr val="E08A2E"/>
            </a:solidFill>
            <a:prstDash val="solid"/>
          </a:ln>
        </p:spPr>
        <p:txBody>
          <a:bodyPr/>
          <a:lstStyle/>
          <a:p>
            <a:endParaRPr lang="en-US"/>
          </a:p>
        </p:txBody>
      </p:sp>
      <p:pic>
        <p:nvPicPr>
          <p:cNvPr id="25" name="Image 6" descr="preencoded.png"/>
          <p:cNvPicPr>
            <a:picLocks noChangeAspect="1"/>
          </p:cNvPicPr>
          <p:nvPr/>
        </p:nvPicPr>
        <p:blipFill>
          <a:blip r:embed="rId8"/>
          <a:stretch>
            <a:fillRect/>
          </a:stretch>
        </p:blipFill>
        <p:spPr>
          <a:xfrm>
            <a:off x="10457993" y="3282696"/>
            <a:ext cx="475488" cy="475488"/>
          </a:xfrm>
          <a:prstGeom prst="rect">
            <a:avLst/>
          </a:prstGeom>
        </p:spPr>
      </p:pic>
      <p:sp>
        <p:nvSpPr>
          <p:cNvPr id="26" name="Text 17"/>
          <p:cNvSpPr txBox="1"/>
          <p:nvPr/>
        </p:nvSpPr>
        <p:spPr>
          <a:xfrm>
            <a:off x="9751162" y="4114800"/>
            <a:ext cx="1889150"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Tính toán mờ, AIoT</a:t>
            </a:r>
            <a:endParaRPr lang="en-US" sz="1700" dirty="0"/>
          </a:p>
        </p:txBody>
      </p:sp>
      <p:sp>
        <p:nvSpPr>
          <p:cNvPr id="27" name="Shape 18"/>
          <p:cNvSpPr/>
          <p:nvPr/>
        </p:nvSpPr>
        <p:spPr>
          <a:xfrm>
            <a:off x="457200" y="5577840"/>
            <a:ext cx="1965960" cy="502920"/>
          </a:xfrm>
          <a:prstGeom prst="chevron">
            <a:avLst/>
          </a:prstGeom>
          <a:solidFill>
            <a:srgbClr val="E6ECF0"/>
          </a:solidFill>
          <a:ln w="12700">
            <a:solidFill>
              <a:srgbClr val="C9D3DA"/>
            </a:solidFill>
            <a:prstDash val="solid"/>
          </a:ln>
        </p:spPr>
        <p:txBody>
          <a:bodyPr/>
          <a:lstStyle/>
          <a:p>
            <a:endParaRPr lang="en-US"/>
          </a:p>
        </p:txBody>
      </p:sp>
      <p:sp>
        <p:nvSpPr>
          <p:cNvPr id="28" name="Text 19"/>
          <p:cNvSpPr txBox="1"/>
          <p:nvPr/>
        </p:nvSpPr>
        <p:spPr>
          <a:xfrm>
            <a:off x="685800"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1. Bối cảnh</a:t>
            </a:r>
            <a:endParaRPr lang="en-US" sz="1050" dirty="0"/>
          </a:p>
        </p:txBody>
      </p:sp>
      <p:sp>
        <p:nvSpPr>
          <p:cNvPr id="29" name="Shape 20"/>
          <p:cNvSpPr/>
          <p:nvPr/>
        </p:nvSpPr>
        <p:spPr>
          <a:xfrm>
            <a:off x="2359152" y="5577840"/>
            <a:ext cx="1965960" cy="502920"/>
          </a:xfrm>
          <a:prstGeom prst="chevron">
            <a:avLst/>
          </a:prstGeom>
          <a:solidFill>
            <a:srgbClr val="E6ECF0"/>
          </a:solidFill>
          <a:ln w="12700">
            <a:solidFill>
              <a:srgbClr val="C9D3DA"/>
            </a:solidFill>
            <a:prstDash val="solid"/>
          </a:ln>
        </p:spPr>
        <p:txBody>
          <a:bodyPr/>
          <a:lstStyle/>
          <a:p>
            <a:endParaRPr lang="en-US"/>
          </a:p>
        </p:txBody>
      </p:sp>
      <p:sp>
        <p:nvSpPr>
          <p:cNvPr id="30" name="Text 21"/>
          <p:cNvSpPr txBox="1"/>
          <p:nvPr/>
        </p:nvSpPr>
        <p:spPr>
          <a:xfrm>
            <a:off x="2587752"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2. Hướng ưu tiên</a:t>
            </a:r>
            <a:endParaRPr lang="en-US" sz="1050" dirty="0"/>
          </a:p>
        </p:txBody>
      </p:sp>
      <p:sp>
        <p:nvSpPr>
          <p:cNvPr id="31" name="Shape 22"/>
          <p:cNvSpPr/>
          <p:nvPr/>
        </p:nvSpPr>
        <p:spPr>
          <a:xfrm>
            <a:off x="4261104" y="5577840"/>
            <a:ext cx="1965960" cy="502920"/>
          </a:xfrm>
          <a:prstGeom prst="chevron">
            <a:avLst/>
          </a:prstGeom>
          <a:solidFill>
            <a:srgbClr val="E08A2E"/>
          </a:solidFill>
          <a:ln w="12700">
            <a:solidFill>
              <a:srgbClr val="E08A2E"/>
            </a:solidFill>
            <a:prstDash val="solid"/>
          </a:ln>
        </p:spPr>
        <p:txBody>
          <a:bodyPr/>
          <a:lstStyle/>
          <a:p>
            <a:endParaRPr lang="en-US"/>
          </a:p>
        </p:txBody>
      </p:sp>
      <p:sp>
        <p:nvSpPr>
          <p:cNvPr id="32" name="Text 23"/>
          <p:cNvSpPr txBox="1"/>
          <p:nvPr/>
        </p:nvSpPr>
        <p:spPr>
          <a:xfrm>
            <a:off x="4489704" y="5577840"/>
            <a:ext cx="155448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 Sản phẩm Viện CNTT</a:t>
            </a:r>
            <a:endParaRPr lang="en-US" sz="1050" dirty="0"/>
          </a:p>
        </p:txBody>
      </p:sp>
      <p:sp>
        <p:nvSpPr>
          <p:cNvPr id="33" name="Shape 24"/>
          <p:cNvSpPr/>
          <p:nvPr/>
        </p:nvSpPr>
        <p:spPr>
          <a:xfrm>
            <a:off x="6163056" y="5577840"/>
            <a:ext cx="1965960" cy="502920"/>
          </a:xfrm>
          <a:prstGeom prst="chevron">
            <a:avLst/>
          </a:prstGeom>
          <a:solidFill>
            <a:srgbClr val="FFFFFF"/>
          </a:solidFill>
          <a:ln w="12700">
            <a:solidFill>
              <a:srgbClr val="C9D3DA"/>
            </a:solidFill>
            <a:prstDash val="solid"/>
          </a:ln>
        </p:spPr>
        <p:txBody>
          <a:bodyPr/>
          <a:lstStyle/>
          <a:p>
            <a:endParaRPr lang="en-US"/>
          </a:p>
        </p:txBody>
      </p:sp>
      <p:sp>
        <p:nvSpPr>
          <p:cNvPr id="34" name="Text 25"/>
          <p:cNvSpPr txBox="1"/>
          <p:nvPr/>
        </p:nvSpPr>
        <p:spPr>
          <a:xfrm>
            <a:off x="6391656"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4. Bản sao số</a:t>
            </a:r>
            <a:endParaRPr lang="en-US" sz="1050" dirty="0"/>
          </a:p>
        </p:txBody>
      </p:sp>
      <p:sp>
        <p:nvSpPr>
          <p:cNvPr id="35" name="Shape 26"/>
          <p:cNvSpPr/>
          <p:nvPr/>
        </p:nvSpPr>
        <p:spPr>
          <a:xfrm>
            <a:off x="8065008" y="5577840"/>
            <a:ext cx="1965960" cy="502920"/>
          </a:xfrm>
          <a:prstGeom prst="chevron">
            <a:avLst/>
          </a:prstGeom>
          <a:solidFill>
            <a:srgbClr val="FFFFFF"/>
          </a:solidFill>
          <a:ln w="12700">
            <a:solidFill>
              <a:srgbClr val="C9D3DA"/>
            </a:solidFill>
            <a:prstDash val="solid"/>
          </a:ln>
        </p:spPr>
        <p:txBody>
          <a:bodyPr/>
          <a:lstStyle/>
          <a:p>
            <a:endParaRPr lang="en-US"/>
          </a:p>
        </p:txBody>
      </p:sp>
      <p:sp>
        <p:nvSpPr>
          <p:cNvPr id="36" name="Text 27"/>
          <p:cNvSpPr txBox="1"/>
          <p:nvPr/>
        </p:nvSpPr>
        <p:spPr>
          <a:xfrm>
            <a:off x="8293608"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5. Bài báo mẫu, thực hành</a:t>
            </a:r>
            <a:endParaRPr lang="en-US" sz="1050" dirty="0"/>
          </a:p>
        </p:txBody>
      </p:sp>
      <p:sp>
        <p:nvSpPr>
          <p:cNvPr id="37" name="Shape 28"/>
          <p:cNvSpPr/>
          <p:nvPr/>
        </p:nvSpPr>
        <p:spPr>
          <a:xfrm>
            <a:off x="9966960" y="5577840"/>
            <a:ext cx="1965960" cy="502920"/>
          </a:xfrm>
          <a:prstGeom prst="chevron">
            <a:avLst/>
          </a:prstGeom>
          <a:solidFill>
            <a:srgbClr val="FFFFFF"/>
          </a:solidFill>
          <a:ln w="12700">
            <a:solidFill>
              <a:srgbClr val="C9D3DA"/>
            </a:solidFill>
            <a:prstDash val="solid"/>
          </a:ln>
        </p:spPr>
        <p:txBody>
          <a:bodyPr/>
          <a:lstStyle/>
          <a:p>
            <a:endParaRPr lang="en-US"/>
          </a:p>
        </p:txBody>
      </p:sp>
      <p:sp>
        <p:nvSpPr>
          <p:cNvPr id="38" name="Text 29"/>
          <p:cNvSpPr txBox="1"/>
          <p:nvPr/>
        </p:nvSpPr>
        <p:spPr>
          <a:xfrm>
            <a:off x="10195560"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6. Khuyến nghị cho HVU</a:t>
            </a:r>
            <a:endParaRPr lang="en-US" sz="1050" dirty="0"/>
          </a:p>
        </p:txBody>
      </p:sp>
      <p:pic>
        <p:nvPicPr>
          <p:cNvPr id="39" name="Logo ITI"/>
          <p:cNvPicPr>
            <a:picLocks noChangeAspect="1"/>
          </p:cNvPicPr>
          <p:nvPr/>
        </p:nvPicPr>
        <p:blipFill>
          <a:blip r:embed="rId9"/>
          <a:stretch>
            <a:fillRect/>
          </a:stretch>
        </p:blipFill>
        <p:spPr>
          <a:xfrm>
            <a:off x="10266915" y="298374"/>
            <a:ext cx="713232" cy="7291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Viện CNTT và Trung tâm AIRC</a:t>
            </a:r>
            <a:endParaRPr lang="en-US" sz="2800" dirty="0"/>
          </a:p>
        </p:txBody>
      </p:sp>
      <p:sp>
        <p:nvSpPr>
          <p:cNvPr id="3" name="Shape 1"/>
          <p:cNvSpPr/>
          <p:nvPr/>
        </p:nvSpPr>
        <p:spPr>
          <a:xfrm>
            <a:off x="457200" y="6510528"/>
            <a:ext cx="128016" cy="128016"/>
          </a:xfrm>
          <a:prstGeom prst="ellipse">
            <a:avLst/>
          </a:prstGeom>
          <a:solidFill>
            <a:srgbClr val="E08A2E"/>
          </a:solidFill>
          <a:ln w="12700">
            <a:solidFill>
              <a:srgbClr val="E08A2E"/>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E08A2E"/>
                </a:solidFill>
                <a:latin typeface="Calibri" pitchFamily="34" charset="0"/>
                <a:ea typeface="Calibri" pitchFamily="34" charset="-122"/>
                <a:cs typeface="Calibri" pitchFamily="34" charset="-120"/>
              </a:rPr>
              <a:t>3 · SẢN PHẨM VIỆN CNTT</a:t>
            </a:r>
            <a:endParaRPr lang="en-US" sz="1100" dirty="0"/>
          </a:p>
        </p:txBody>
      </p:sp>
      <p:grpSp>
        <p:nvGrpSpPr>
          <p:cNvPr id="64" name="Group 63">
            <a:extLst>
              <a:ext uri="{FF2B5EF4-FFF2-40B4-BE49-F238E27FC236}">
                <a16:creationId xmlns:a16="http://schemas.microsoft.com/office/drawing/2014/main" id="{C136BB37-6BEF-66D5-E294-9A41567F0D74}"/>
              </a:ext>
            </a:extLst>
          </p:cNvPr>
          <p:cNvGrpSpPr/>
          <p:nvPr/>
        </p:nvGrpSpPr>
        <p:grpSpPr>
          <a:xfrm>
            <a:off x="457200" y="1097280"/>
            <a:ext cx="11558016" cy="4846320"/>
            <a:chOff x="457200" y="1097280"/>
            <a:chExt cx="11558016" cy="4846320"/>
          </a:xfrm>
        </p:grpSpPr>
        <p:sp>
          <p:nvSpPr>
            <p:cNvPr id="6" name="Shape 3"/>
            <p:cNvSpPr/>
            <p:nvPr/>
          </p:nvSpPr>
          <p:spPr>
            <a:xfrm>
              <a:off x="457200" y="1143000"/>
              <a:ext cx="3657600" cy="2194560"/>
            </a:xfrm>
            <a:prstGeom prst="roundRect">
              <a:avLst>
                <a:gd name="adj" fmla="val 3333"/>
              </a:avLst>
            </a:prstGeom>
            <a:solidFill>
              <a:srgbClr val="FBEAEA"/>
            </a:solidFill>
            <a:ln w="12700">
              <a:solidFill>
                <a:srgbClr val="F1CACA"/>
              </a:solidFill>
              <a:prstDash val="solid"/>
            </a:ln>
            <a:effectLst>
              <a:outerShdw blurRad="76200" dist="25400" dir="5400000" algn="bl" rotWithShape="0">
                <a:srgbClr val="9FB3C0">
                  <a:alpha val="30000"/>
                </a:srgbClr>
              </a:outerShdw>
            </a:effectLst>
          </p:spPr>
          <p:txBody>
            <a:bodyPr/>
            <a:lstStyle/>
            <a:p>
              <a:endParaRPr lang="en-US"/>
            </a:p>
          </p:txBody>
        </p:sp>
        <p:pic>
          <p:nvPicPr>
            <p:cNvPr id="7" name="Image 0" descr="/home/claude/deck/img/airc_logo.png"/>
            <p:cNvPicPr>
              <a:picLocks noChangeAspect="1"/>
            </p:cNvPicPr>
            <p:nvPr/>
          </p:nvPicPr>
          <p:blipFill>
            <a:blip r:embed="rId2"/>
            <a:stretch>
              <a:fillRect/>
            </a:stretch>
          </p:blipFill>
          <p:spPr>
            <a:xfrm>
              <a:off x="640080" y="1325880"/>
              <a:ext cx="1188720" cy="1188720"/>
            </a:xfrm>
            <a:prstGeom prst="rect">
              <a:avLst/>
            </a:prstGeom>
          </p:spPr>
        </p:pic>
        <p:sp>
          <p:nvSpPr>
            <p:cNvPr id="8" name="Text 4"/>
            <p:cNvSpPr txBox="1"/>
            <p:nvPr/>
          </p:nvSpPr>
          <p:spPr>
            <a:xfrm>
              <a:off x="1920240" y="1325880"/>
              <a:ext cx="2103120" cy="502920"/>
            </a:xfrm>
            <a:prstGeom prst="rect">
              <a:avLst/>
            </a:prstGeom>
            <a:noFill/>
            <a:ln/>
          </p:spPr>
          <p:txBody>
            <a:bodyPr wrap="square" lIns="0" tIns="0" rIns="0" bIns="0" rtlCol="0" anchor="ctr"/>
            <a:lstStyle/>
            <a:p>
              <a:pPr marL="0" indent="0">
                <a:buNone/>
              </a:pPr>
              <a:r>
                <a:rPr lang="en-US" sz="2400" b="1" dirty="0">
                  <a:solidFill>
                    <a:srgbClr val="A80000"/>
                  </a:solidFill>
                  <a:latin typeface="Cambria" pitchFamily="34" charset="0"/>
                  <a:ea typeface="Cambria" pitchFamily="34" charset="-122"/>
                  <a:cs typeface="Cambria" pitchFamily="34" charset="-120"/>
                </a:rPr>
                <a:t>16/01/2024</a:t>
              </a:r>
              <a:endParaRPr lang="en-US" sz="2400" dirty="0"/>
            </a:p>
          </p:txBody>
        </p:sp>
        <p:sp>
          <p:nvSpPr>
            <p:cNvPr id="9" name="Text 5"/>
            <p:cNvSpPr txBox="1"/>
            <p:nvPr/>
          </p:nvSpPr>
          <p:spPr>
            <a:xfrm>
              <a:off x="1920240" y="1828800"/>
              <a:ext cx="2103120" cy="320040"/>
            </a:xfrm>
            <a:prstGeom prst="rect">
              <a:avLst/>
            </a:prstGeom>
            <a:noFill/>
            <a:ln/>
          </p:spPr>
          <p:txBody>
            <a:bodyPr wrap="square" lIns="0" tIns="0" rIns="0" bIns="0" rtlCol="0" anchor="t"/>
            <a:lstStyle/>
            <a:p>
              <a:pPr marL="0" indent="0">
                <a:buNone/>
              </a:pPr>
              <a:r>
                <a:rPr lang="en-US" sz="1400" dirty="0">
                  <a:solidFill>
                    <a:srgbClr val="1E2A32"/>
                  </a:solidFill>
                  <a:latin typeface="Calibri" pitchFamily="34" charset="0"/>
                  <a:ea typeface="Calibri" pitchFamily="34" charset="-122"/>
                  <a:cs typeface="Calibri" pitchFamily="34" charset="-120"/>
                </a:rPr>
                <a:t>ra mắt AIRC</a:t>
              </a:r>
              <a:endParaRPr lang="en-US" sz="1400" dirty="0"/>
            </a:p>
          </p:txBody>
        </p:sp>
        <p:sp>
          <p:nvSpPr>
            <p:cNvPr id="10" name="Text 6"/>
            <p:cNvSpPr txBox="1"/>
            <p:nvPr/>
          </p:nvSpPr>
          <p:spPr>
            <a:xfrm>
              <a:off x="640080" y="2651760"/>
              <a:ext cx="3383280" cy="457200"/>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Giám đốc: PGS.TS. Lê Hoàng Sơn</a:t>
              </a:r>
              <a:endParaRPr lang="en-US" sz="1400" dirty="0"/>
            </a:p>
          </p:txBody>
        </p:sp>
        <p:sp>
          <p:nvSpPr>
            <p:cNvPr id="11" name="Text 7"/>
            <p:cNvSpPr txBox="1"/>
            <p:nvPr/>
          </p:nvSpPr>
          <p:spPr>
            <a:xfrm>
              <a:off x="457200" y="3520440"/>
              <a:ext cx="3657600" cy="365760"/>
            </a:xfrm>
            <a:prstGeom prst="rect">
              <a:avLst/>
            </a:prstGeom>
            <a:noFill/>
            <a:ln/>
          </p:spPr>
          <p:txBody>
            <a:bodyPr wrap="square" lIns="0" tIns="0" rIns="0" bIns="0" rtlCol="0" anchor="t"/>
            <a:lstStyle/>
            <a:p>
              <a:pPr marL="0" indent="0">
                <a:buNone/>
              </a:pPr>
              <a:r>
                <a:rPr lang="en-US" sz="1500" b="1" dirty="0">
                  <a:solidFill>
                    <a:srgbClr val="5B6B76"/>
                  </a:solidFill>
                  <a:latin typeface="Calibri" pitchFamily="34" charset="0"/>
                  <a:ea typeface="Calibri" pitchFamily="34" charset="-122"/>
                  <a:cs typeface="Calibri" pitchFamily="34" charset="-120"/>
                </a:rPr>
                <a:t>Thế mạnh của Viện</a:t>
              </a:r>
              <a:endParaRPr lang="en-US" sz="1500" dirty="0"/>
            </a:p>
          </p:txBody>
        </p:sp>
        <p:sp>
          <p:nvSpPr>
            <p:cNvPr id="12" name="Shape 8"/>
            <p:cNvSpPr/>
            <p:nvPr/>
          </p:nvSpPr>
          <p:spPr>
            <a:xfrm>
              <a:off x="457200" y="3931920"/>
              <a:ext cx="1783080" cy="365760"/>
            </a:xfrm>
            <a:prstGeom prst="roundRect">
              <a:avLst>
                <a:gd name="adj" fmla="val 50000"/>
              </a:avLst>
            </a:prstGeom>
            <a:solidFill>
              <a:srgbClr val="FDF1E4"/>
            </a:solidFill>
            <a:ln w="12700">
              <a:solidFill>
                <a:srgbClr val="E08A2E"/>
              </a:solidFill>
              <a:prstDash val="solid"/>
            </a:ln>
          </p:spPr>
          <p:txBody>
            <a:bodyPr/>
            <a:lstStyle/>
            <a:p>
              <a:endParaRPr lang="en-US"/>
            </a:p>
          </p:txBody>
        </p:sp>
        <p:sp>
          <p:nvSpPr>
            <p:cNvPr id="13" name="Text 9"/>
            <p:cNvSpPr txBox="1"/>
            <p:nvPr/>
          </p:nvSpPr>
          <p:spPr>
            <a:xfrm>
              <a:off x="457200" y="3931920"/>
              <a:ext cx="1783080" cy="365760"/>
            </a:xfrm>
            <a:prstGeom prst="rect">
              <a:avLst/>
            </a:prstGeom>
            <a:noFill/>
            <a:ln/>
          </p:spPr>
          <p:txBody>
            <a:bodyPr wrap="square" lIns="0" tIns="0" rIns="0" bIns="0" rtlCol="0" anchor="ctr"/>
            <a:lstStyle/>
            <a:p>
              <a:pPr marL="0" indent="0" algn="ctr">
                <a:buNone/>
              </a:pPr>
              <a:r>
                <a:rPr lang="en-US" sz="1250" b="1" dirty="0">
                  <a:solidFill>
                    <a:srgbClr val="E08A2E"/>
                  </a:solidFill>
                  <a:latin typeface="Calibri" pitchFamily="34" charset="0"/>
                  <a:ea typeface="Calibri" pitchFamily="34" charset="-122"/>
                  <a:cs typeface="Calibri" pitchFamily="34" charset="-120"/>
                </a:rPr>
                <a:t>AI</a:t>
              </a:r>
              <a:endParaRPr lang="en-US" sz="1250" dirty="0"/>
            </a:p>
          </p:txBody>
        </p:sp>
        <p:sp>
          <p:nvSpPr>
            <p:cNvPr id="14" name="Shape 10"/>
            <p:cNvSpPr/>
            <p:nvPr/>
          </p:nvSpPr>
          <p:spPr>
            <a:xfrm>
              <a:off x="2331720" y="3931920"/>
              <a:ext cx="1783080" cy="365760"/>
            </a:xfrm>
            <a:prstGeom prst="roundRect">
              <a:avLst>
                <a:gd name="adj" fmla="val 50000"/>
              </a:avLst>
            </a:prstGeom>
            <a:solidFill>
              <a:srgbClr val="FDF1E4"/>
            </a:solidFill>
            <a:ln w="12700">
              <a:solidFill>
                <a:srgbClr val="E08A2E"/>
              </a:solidFill>
              <a:prstDash val="solid"/>
            </a:ln>
          </p:spPr>
          <p:txBody>
            <a:bodyPr/>
            <a:lstStyle/>
            <a:p>
              <a:endParaRPr lang="en-US"/>
            </a:p>
          </p:txBody>
        </p:sp>
        <p:sp>
          <p:nvSpPr>
            <p:cNvPr id="15" name="Text 11"/>
            <p:cNvSpPr txBox="1"/>
            <p:nvPr/>
          </p:nvSpPr>
          <p:spPr>
            <a:xfrm>
              <a:off x="2331720" y="3931920"/>
              <a:ext cx="1783080" cy="365760"/>
            </a:xfrm>
            <a:prstGeom prst="rect">
              <a:avLst/>
            </a:prstGeom>
            <a:noFill/>
            <a:ln/>
          </p:spPr>
          <p:txBody>
            <a:bodyPr wrap="square" lIns="0" tIns="0" rIns="0" bIns="0" rtlCol="0" anchor="ctr"/>
            <a:lstStyle/>
            <a:p>
              <a:pPr marL="0" indent="0" algn="ctr">
                <a:buNone/>
              </a:pPr>
              <a:r>
                <a:rPr lang="en-US" sz="1250" b="1" dirty="0">
                  <a:solidFill>
                    <a:srgbClr val="E08A2E"/>
                  </a:solidFill>
                  <a:latin typeface="Calibri" pitchFamily="34" charset="0"/>
                  <a:ea typeface="Calibri" pitchFamily="34" charset="-122"/>
                  <a:cs typeface="Calibri" pitchFamily="34" charset="-120"/>
                </a:rPr>
                <a:t>Khoa học dữ liệu</a:t>
              </a:r>
              <a:endParaRPr lang="en-US" sz="1250" dirty="0"/>
            </a:p>
          </p:txBody>
        </p:sp>
        <p:sp>
          <p:nvSpPr>
            <p:cNvPr id="16" name="Shape 12"/>
            <p:cNvSpPr/>
            <p:nvPr/>
          </p:nvSpPr>
          <p:spPr>
            <a:xfrm>
              <a:off x="457200" y="4389120"/>
              <a:ext cx="1783080" cy="365760"/>
            </a:xfrm>
            <a:prstGeom prst="roundRect">
              <a:avLst>
                <a:gd name="adj" fmla="val 50000"/>
              </a:avLst>
            </a:prstGeom>
            <a:solidFill>
              <a:srgbClr val="FDF1E4"/>
            </a:solidFill>
            <a:ln w="12700">
              <a:solidFill>
                <a:srgbClr val="E08A2E"/>
              </a:solidFill>
              <a:prstDash val="solid"/>
            </a:ln>
          </p:spPr>
          <p:txBody>
            <a:bodyPr/>
            <a:lstStyle/>
            <a:p>
              <a:endParaRPr lang="en-US"/>
            </a:p>
          </p:txBody>
        </p:sp>
        <p:sp>
          <p:nvSpPr>
            <p:cNvPr id="17" name="Text 13"/>
            <p:cNvSpPr txBox="1"/>
            <p:nvPr/>
          </p:nvSpPr>
          <p:spPr>
            <a:xfrm>
              <a:off x="457200" y="4389120"/>
              <a:ext cx="1783080" cy="365760"/>
            </a:xfrm>
            <a:prstGeom prst="rect">
              <a:avLst/>
            </a:prstGeom>
            <a:noFill/>
            <a:ln/>
          </p:spPr>
          <p:txBody>
            <a:bodyPr wrap="square" lIns="0" tIns="0" rIns="0" bIns="0" rtlCol="0" anchor="ctr"/>
            <a:lstStyle/>
            <a:p>
              <a:pPr marL="0" indent="0" algn="ctr">
                <a:buNone/>
              </a:pPr>
              <a:r>
                <a:rPr lang="en-US" sz="1250" b="1" dirty="0">
                  <a:solidFill>
                    <a:srgbClr val="E08A2E"/>
                  </a:solidFill>
                  <a:latin typeface="Calibri" pitchFamily="34" charset="0"/>
                  <a:ea typeface="Calibri" pitchFamily="34" charset="-122"/>
                  <a:cs typeface="Calibri" pitchFamily="34" charset="-120"/>
                </a:rPr>
                <a:t>Học máy</a:t>
              </a:r>
              <a:endParaRPr lang="en-US" sz="1250" dirty="0"/>
            </a:p>
          </p:txBody>
        </p:sp>
        <p:sp>
          <p:nvSpPr>
            <p:cNvPr id="18" name="Shape 14"/>
            <p:cNvSpPr/>
            <p:nvPr/>
          </p:nvSpPr>
          <p:spPr>
            <a:xfrm>
              <a:off x="2331720" y="4389120"/>
              <a:ext cx="1783080" cy="365760"/>
            </a:xfrm>
            <a:prstGeom prst="roundRect">
              <a:avLst>
                <a:gd name="adj" fmla="val 50000"/>
              </a:avLst>
            </a:prstGeom>
            <a:solidFill>
              <a:srgbClr val="FDF1E4"/>
            </a:solidFill>
            <a:ln w="12700">
              <a:solidFill>
                <a:srgbClr val="E08A2E"/>
              </a:solidFill>
              <a:prstDash val="solid"/>
            </a:ln>
          </p:spPr>
          <p:txBody>
            <a:bodyPr/>
            <a:lstStyle/>
            <a:p>
              <a:endParaRPr lang="en-US"/>
            </a:p>
          </p:txBody>
        </p:sp>
        <p:sp>
          <p:nvSpPr>
            <p:cNvPr id="19" name="Text 15"/>
            <p:cNvSpPr txBox="1"/>
            <p:nvPr/>
          </p:nvSpPr>
          <p:spPr>
            <a:xfrm>
              <a:off x="2331720" y="4389120"/>
              <a:ext cx="1783080" cy="365760"/>
            </a:xfrm>
            <a:prstGeom prst="rect">
              <a:avLst/>
            </a:prstGeom>
            <a:noFill/>
            <a:ln/>
          </p:spPr>
          <p:txBody>
            <a:bodyPr wrap="square" lIns="0" tIns="0" rIns="0" bIns="0" rtlCol="0" anchor="ctr"/>
            <a:lstStyle/>
            <a:p>
              <a:pPr marL="0" indent="0" algn="ctr">
                <a:buNone/>
              </a:pPr>
              <a:r>
                <a:rPr lang="en-US" sz="1250" b="1" dirty="0">
                  <a:solidFill>
                    <a:srgbClr val="E08A2E"/>
                  </a:solidFill>
                  <a:latin typeface="Calibri" pitchFamily="34" charset="0"/>
                  <a:ea typeface="Calibri" pitchFamily="34" charset="-122"/>
                  <a:cs typeface="Calibri" pitchFamily="34" charset="-120"/>
                </a:rPr>
                <a:t>Ảnh, video</a:t>
              </a:r>
              <a:endParaRPr lang="en-US" sz="1250" dirty="0"/>
            </a:p>
          </p:txBody>
        </p:sp>
        <p:sp>
          <p:nvSpPr>
            <p:cNvPr id="20" name="Shape 16"/>
            <p:cNvSpPr/>
            <p:nvPr/>
          </p:nvSpPr>
          <p:spPr>
            <a:xfrm>
              <a:off x="457200" y="4846320"/>
              <a:ext cx="1783080" cy="365760"/>
            </a:xfrm>
            <a:prstGeom prst="roundRect">
              <a:avLst>
                <a:gd name="adj" fmla="val 50000"/>
              </a:avLst>
            </a:prstGeom>
            <a:solidFill>
              <a:srgbClr val="FDF1E4"/>
            </a:solidFill>
            <a:ln w="12700">
              <a:solidFill>
                <a:srgbClr val="E08A2E"/>
              </a:solidFill>
              <a:prstDash val="solid"/>
            </a:ln>
          </p:spPr>
          <p:txBody>
            <a:bodyPr/>
            <a:lstStyle/>
            <a:p>
              <a:endParaRPr lang="en-US"/>
            </a:p>
          </p:txBody>
        </p:sp>
        <p:sp>
          <p:nvSpPr>
            <p:cNvPr id="21" name="Text 17"/>
            <p:cNvSpPr txBox="1"/>
            <p:nvPr/>
          </p:nvSpPr>
          <p:spPr>
            <a:xfrm>
              <a:off x="457200" y="4846320"/>
              <a:ext cx="1783080" cy="365760"/>
            </a:xfrm>
            <a:prstGeom prst="rect">
              <a:avLst/>
            </a:prstGeom>
            <a:noFill/>
            <a:ln/>
          </p:spPr>
          <p:txBody>
            <a:bodyPr wrap="square" lIns="0" tIns="0" rIns="0" bIns="0" rtlCol="0" anchor="ctr"/>
            <a:lstStyle/>
            <a:p>
              <a:pPr marL="0" indent="0" algn="ctr">
                <a:buNone/>
              </a:pPr>
              <a:r>
                <a:rPr lang="en-US" sz="1250" b="1" dirty="0">
                  <a:solidFill>
                    <a:srgbClr val="E08A2E"/>
                  </a:solidFill>
                  <a:latin typeface="Calibri" pitchFamily="34" charset="0"/>
                  <a:ea typeface="Calibri" pitchFamily="34" charset="-122"/>
                  <a:cs typeface="Calibri" pitchFamily="34" charset="-120"/>
                </a:rPr>
                <a:t>Tính toán mềm</a:t>
              </a:r>
              <a:endParaRPr lang="en-US" sz="1250" dirty="0"/>
            </a:p>
          </p:txBody>
        </p:sp>
        <p:sp>
          <p:nvSpPr>
            <p:cNvPr id="22" name="Shape 18"/>
            <p:cNvSpPr/>
            <p:nvPr/>
          </p:nvSpPr>
          <p:spPr>
            <a:xfrm>
              <a:off x="2331720" y="4846320"/>
              <a:ext cx="1783080" cy="365760"/>
            </a:xfrm>
            <a:prstGeom prst="roundRect">
              <a:avLst>
                <a:gd name="adj" fmla="val 50000"/>
              </a:avLst>
            </a:prstGeom>
            <a:solidFill>
              <a:srgbClr val="FDF1E4"/>
            </a:solidFill>
            <a:ln w="12700">
              <a:solidFill>
                <a:srgbClr val="E08A2E"/>
              </a:solidFill>
              <a:prstDash val="solid"/>
            </a:ln>
          </p:spPr>
          <p:txBody>
            <a:bodyPr/>
            <a:lstStyle/>
            <a:p>
              <a:endParaRPr lang="en-US"/>
            </a:p>
          </p:txBody>
        </p:sp>
        <p:sp>
          <p:nvSpPr>
            <p:cNvPr id="23" name="Text 19"/>
            <p:cNvSpPr txBox="1"/>
            <p:nvPr/>
          </p:nvSpPr>
          <p:spPr>
            <a:xfrm>
              <a:off x="2331720" y="4846320"/>
              <a:ext cx="1783080" cy="365760"/>
            </a:xfrm>
            <a:prstGeom prst="rect">
              <a:avLst/>
            </a:prstGeom>
            <a:noFill/>
            <a:ln/>
          </p:spPr>
          <p:txBody>
            <a:bodyPr wrap="square" lIns="0" tIns="0" rIns="0" bIns="0" rtlCol="0" anchor="ctr"/>
            <a:lstStyle/>
            <a:p>
              <a:pPr marL="0" indent="0" algn="ctr">
                <a:buNone/>
              </a:pPr>
              <a:r>
                <a:rPr lang="en-US" sz="1250" b="1" dirty="0">
                  <a:solidFill>
                    <a:srgbClr val="E08A2E"/>
                  </a:solidFill>
                  <a:latin typeface="Calibri" pitchFamily="34" charset="0"/>
                  <a:ea typeface="Calibri" pitchFamily="34" charset="-122"/>
                  <a:cs typeface="Calibri" pitchFamily="34" charset="-120"/>
                </a:rPr>
                <a:t>An toàn thông tin</a:t>
              </a:r>
              <a:endParaRPr lang="en-US" sz="1250" dirty="0"/>
            </a:p>
          </p:txBody>
        </p:sp>
        <p:sp>
          <p:nvSpPr>
            <p:cNvPr id="24" name="Shape 20"/>
            <p:cNvSpPr/>
            <p:nvPr/>
          </p:nvSpPr>
          <p:spPr>
            <a:xfrm>
              <a:off x="457200" y="5303520"/>
              <a:ext cx="1783080" cy="365760"/>
            </a:xfrm>
            <a:prstGeom prst="roundRect">
              <a:avLst>
                <a:gd name="adj" fmla="val 50000"/>
              </a:avLst>
            </a:prstGeom>
            <a:solidFill>
              <a:srgbClr val="FDF1E4"/>
            </a:solidFill>
            <a:ln w="12700">
              <a:solidFill>
                <a:srgbClr val="E08A2E"/>
              </a:solidFill>
              <a:prstDash val="solid"/>
            </a:ln>
          </p:spPr>
          <p:txBody>
            <a:bodyPr/>
            <a:lstStyle/>
            <a:p>
              <a:endParaRPr lang="en-US"/>
            </a:p>
          </p:txBody>
        </p:sp>
        <p:sp>
          <p:nvSpPr>
            <p:cNvPr id="25" name="Text 21"/>
            <p:cNvSpPr txBox="1"/>
            <p:nvPr/>
          </p:nvSpPr>
          <p:spPr>
            <a:xfrm>
              <a:off x="457200" y="5303520"/>
              <a:ext cx="1783080" cy="365760"/>
            </a:xfrm>
            <a:prstGeom prst="rect">
              <a:avLst/>
            </a:prstGeom>
            <a:noFill/>
            <a:ln/>
          </p:spPr>
          <p:txBody>
            <a:bodyPr wrap="square" lIns="0" tIns="0" rIns="0" bIns="0" rtlCol="0" anchor="ctr"/>
            <a:lstStyle/>
            <a:p>
              <a:pPr marL="0" indent="0" algn="ctr">
                <a:buNone/>
              </a:pPr>
              <a:r>
                <a:rPr lang="en-US" sz="1250" b="1" dirty="0">
                  <a:solidFill>
                    <a:srgbClr val="E08A2E"/>
                  </a:solidFill>
                  <a:latin typeface="Calibri" pitchFamily="34" charset="0"/>
                  <a:ea typeface="Calibri" pitchFamily="34" charset="-122"/>
                  <a:cs typeface="Calibri" pitchFamily="34" charset="-120"/>
                </a:rPr>
                <a:t>IoT</a:t>
              </a:r>
              <a:endParaRPr lang="en-US" sz="1250" dirty="0"/>
            </a:p>
          </p:txBody>
        </p:sp>
        <p:sp>
          <p:nvSpPr>
            <p:cNvPr id="26" name="Shape 22"/>
            <p:cNvSpPr/>
            <p:nvPr/>
          </p:nvSpPr>
          <p:spPr>
            <a:xfrm>
              <a:off x="2331720" y="5303520"/>
              <a:ext cx="1783080" cy="365760"/>
            </a:xfrm>
            <a:prstGeom prst="roundRect">
              <a:avLst>
                <a:gd name="adj" fmla="val 50000"/>
              </a:avLst>
            </a:prstGeom>
            <a:solidFill>
              <a:srgbClr val="FDF1E4"/>
            </a:solidFill>
            <a:ln w="12700">
              <a:solidFill>
                <a:srgbClr val="E08A2E"/>
              </a:solidFill>
              <a:prstDash val="solid"/>
            </a:ln>
          </p:spPr>
          <p:txBody>
            <a:bodyPr/>
            <a:lstStyle/>
            <a:p>
              <a:endParaRPr lang="en-US"/>
            </a:p>
          </p:txBody>
        </p:sp>
        <p:sp>
          <p:nvSpPr>
            <p:cNvPr id="27" name="Text 23"/>
            <p:cNvSpPr txBox="1"/>
            <p:nvPr/>
          </p:nvSpPr>
          <p:spPr>
            <a:xfrm>
              <a:off x="2331720" y="5303520"/>
              <a:ext cx="1783080" cy="365760"/>
            </a:xfrm>
            <a:prstGeom prst="rect">
              <a:avLst/>
            </a:prstGeom>
            <a:noFill/>
            <a:ln/>
          </p:spPr>
          <p:txBody>
            <a:bodyPr wrap="square" lIns="0" tIns="0" rIns="0" bIns="0" rtlCol="0" anchor="ctr"/>
            <a:lstStyle/>
            <a:p>
              <a:pPr marL="0" indent="0" algn="ctr">
                <a:buNone/>
              </a:pPr>
              <a:r>
                <a:rPr lang="en-US" sz="1250" b="1" dirty="0">
                  <a:solidFill>
                    <a:srgbClr val="E08A2E"/>
                  </a:solidFill>
                  <a:latin typeface="Calibri" pitchFamily="34" charset="0"/>
                  <a:ea typeface="Calibri" pitchFamily="34" charset="-122"/>
                  <a:cs typeface="Calibri" pitchFamily="34" charset="-120"/>
                </a:rPr>
                <a:t>Vi mạch</a:t>
              </a:r>
              <a:endParaRPr lang="en-US" sz="1250" dirty="0"/>
            </a:p>
          </p:txBody>
        </p:sp>
        <p:sp>
          <p:nvSpPr>
            <p:cNvPr id="28" name="Text 24"/>
            <p:cNvSpPr txBox="1"/>
            <p:nvPr/>
          </p:nvSpPr>
          <p:spPr>
            <a:xfrm>
              <a:off x="4480560" y="1097280"/>
              <a:ext cx="7315200" cy="411480"/>
            </a:xfrm>
            <a:prstGeom prst="rect">
              <a:avLst/>
            </a:prstGeom>
            <a:noFill/>
            <a:ln/>
          </p:spPr>
          <p:txBody>
            <a:bodyPr wrap="square" lIns="0" tIns="0" rIns="0" bIns="0" rtlCol="0" anchor="t"/>
            <a:lstStyle/>
            <a:p>
              <a:pPr marL="0" indent="0">
                <a:buNone/>
              </a:pPr>
              <a:r>
                <a:rPr lang="en-US" sz="2000" b="1" dirty="0">
                  <a:solidFill>
                    <a:srgbClr val="13293D"/>
                  </a:solidFill>
                  <a:latin typeface="Cambria" pitchFamily="34" charset="0"/>
                  <a:ea typeface="Cambria" pitchFamily="34" charset="-122"/>
                  <a:cs typeface="Cambria" pitchFamily="34" charset="-120"/>
                </a:rPr>
                <a:t>Ba định hướng phát triển sản phẩm</a:t>
              </a:r>
              <a:endParaRPr lang="en-US" sz="2000" dirty="0"/>
            </a:p>
          </p:txBody>
        </p:sp>
        <p:sp>
          <p:nvSpPr>
            <p:cNvPr id="29" name="Shape 25"/>
            <p:cNvSpPr/>
            <p:nvPr/>
          </p:nvSpPr>
          <p:spPr>
            <a:xfrm>
              <a:off x="4480560" y="1691640"/>
              <a:ext cx="2560320" cy="548640"/>
            </a:xfrm>
            <a:prstGeom prst="chevron">
              <a:avLst/>
            </a:prstGeom>
            <a:solidFill>
              <a:srgbClr val="1F6F8B"/>
            </a:solidFill>
            <a:ln w="12700">
              <a:solidFill>
                <a:srgbClr val="1F6F8B"/>
              </a:solidFill>
              <a:prstDash val="solid"/>
            </a:ln>
          </p:spPr>
          <p:txBody>
            <a:bodyPr/>
            <a:lstStyle/>
            <a:p>
              <a:endParaRPr lang="en-US"/>
            </a:p>
          </p:txBody>
        </p:sp>
        <p:sp>
          <p:nvSpPr>
            <p:cNvPr id="30" name="Text 26"/>
            <p:cNvSpPr txBox="1"/>
            <p:nvPr/>
          </p:nvSpPr>
          <p:spPr>
            <a:xfrm>
              <a:off x="4754880" y="1691640"/>
              <a:ext cx="201168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a:t>
              </a:r>
              <a:endParaRPr lang="en-US" sz="1500" dirty="0"/>
            </a:p>
          </p:txBody>
        </p:sp>
        <p:sp>
          <p:nvSpPr>
            <p:cNvPr id="31" name="Shape 27"/>
            <p:cNvSpPr/>
            <p:nvPr/>
          </p:nvSpPr>
          <p:spPr>
            <a:xfrm>
              <a:off x="5257800" y="2423160"/>
              <a:ext cx="822960" cy="822960"/>
            </a:xfrm>
            <a:prstGeom prst="ellipse">
              <a:avLst/>
            </a:prstGeom>
            <a:solidFill>
              <a:srgbClr val="1F6F8B"/>
            </a:solidFill>
            <a:ln w="12700">
              <a:solidFill>
                <a:srgbClr val="1F6F8B"/>
              </a:solidFill>
              <a:prstDash val="solid"/>
            </a:ln>
          </p:spPr>
          <p:txBody>
            <a:bodyPr/>
            <a:lstStyle/>
            <a:p>
              <a:endParaRPr lang="en-US"/>
            </a:p>
          </p:txBody>
        </p:sp>
        <p:pic>
          <p:nvPicPr>
            <p:cNvPr id="32" name="Image 1" descr="preencoded.png"/>
            <p:cNvPicPr>
              <a:picLocks noChangeAspect="1"/>
            </p:cNvPicPr>
            <p:nvPr/>
          </p:nvPicPr>
          <p:blipFill>
            <a:blip r:embed="rId3"/>
            <a:stretch>
              <a:fillRect/>
            </a:stretch>
          </p:blipFill>
          <p:spPr>
            <a:xfrm>
              <a:off x="5455310" y="2620670"/>
              <a:ext cx="427939" cy="427939"/>
            </a:xfrm>
            <a:prstGeom prst="rect">
              <a:avLst/>
            </a:prstGeom>
          </p:spPr>
        </p:pic>
        <p:sp>
          <p:nvSpPr>
            <p:cNvPr id="33" name="Text 28"/>
            <p:cNvSpPr txBox="1"/>
            <p:nvPr/>
          </p:nvSpPr>
          <p:spPr>
            <a:xfrm>
              <a:off x="4480560" y="3291840"/>
              <a:ext cx="2377440" cy="731520"/>
            </a:xfrm>
            <a:prstGeom prst="rect">
              <a:avLst/>
            </a:prstGeom>
            <a:noFill/>
            <a:ln/>
          </p:spPr>
          <p:txBody>
            <a:bodyPr wrap="square" lIns="0" tIns="0" rIns="0" bIns="0" rtlCol="0" anchor="ctr"/>
            <a:lstStyle/>
            <a:p>
              <a:pPr marL="0" indent="0" algn="ctr">
                <a:buNone/>
              </a:pPr>
              <a:r>
                <a:rPr lang="en-US" sz="1400" b="1" dirty="0">
                  <a:solidFill>
                    <a:srgbClr val="13293D"/>
                  </a:solidFill>
                  <a:latin typeface="Calibri" pitchFamily="34" charset="0"/>
                  <a:ea typeface="Calibri" pitchFamily="34" charset="-122"/>
                  <a:cs typeface="Calibri" pitchFamily="34" charset="-120"/>
                </a:rPr>
                <a:t>Thuật toán, mô hình,</a:t>
              </a:r>
              <a:endParaRPr lang="en-US" sz="1400" dirty="0"/>
            </a:p>
            <a:p>
              <a:pPr marL="0" indent="0" algn="ctr">
                <a:buNone/>
              </a:pPr>
              <a:r>
                <a:rPr lang="en-US" sz="1400" b="1" dirty="0">
                  <a:solidFill>
                    <a:srgbClr val="13293D"/>
                  </a:solidFill>
                  <a:latin typeface="Calibri" pitchFamily="34" charset="0"/>
                  <a:ea typeface="Calibri" pitchFamily="34" charset="-122"/>
                  <a:cs typeface="Calibri" pitchFamily="34" charset="-120"/>
                </a:rPr>
                <a:t>phương pháp AI mới</a:t>
              </a:r>
              <a:endParaRPr lang="en-US" sz="1400" dirty="0"/>
            </a:p>
          </p:txBody>
        </p:sp>
        <p:sp>
          <p:nvSpPr>
            <p:cNvPr id="34" name="Shape 29"/>
            <p:cNvSpPr/>
            <p:nvPr/>
          </p:nvSpPr>
          <p:spPr>
            <a:xfrm>
              <a:off x="6967728" y="1691640"/>
              <a:ext cx="2560320" cy="548640"/>
            </a:xfrm>
            <a:prstGeom prst="chevron">
              <a:avLst/>
            </a:prstGeom>
            <a:solidFill>
              <a:srgbClr val="A80000"/>
            </a:solidFill>
            <a:ln w="12700">
              <a:solidFill>
                <a:srgbClr val="A80000"/>
              </a:solidFill>
              <a:prstDash val="solid"/>
            </a:ln>
          </p:spPr>
          <p:txBody>
            <a:bodyPr/>
            <a:lstStyle/>
            <a:p>
              <a:endParaRPr lang="en-US"/>
            </a:p>
          </p:txBody>
        </p:sp>
        <p:sp>
          <p:nvSpPr>
            <p:cNvPr id="35" name="Text 30"/>
            <p:cNvSpPr txBox="1"/>
            <p:nvPr/>
          </p:nvSpPr>
          <p:spPr>
            <a:xfrm>
              <a:off x="7242048" y="1691640"/>
              <a:ext cx="201168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(ii)</a:t>
              </a:r>
              <a:endParaRPr lang="en-US" sz="1500" dirty="0"/>
            </a:p>
          </p:txBody>
        </p:sp>
        <p:sp>
          <p:nvSpPr>
            <p:cNvPr id="36" name="Shape 31"/>
            <p:cNvSpPr/>
            <p:nvPr/>
          </p:nvSpPr>
          <p:spPr>
            <a:xfrm>
              <a:off x="7744968" y="2423160"/>
              <a:ext cx="822960" cy="822960"/>
            </a:xfrm>
            <a:prstGeom prst="ellipse">
              <a:avLst/>
            </a:prstGeom>
            <a:solidFill>
              <a:srgbClr val="A80000"/>
            </a:solidFill>
            <a:ln w="12700">
              <a:solidFill>
                <a:srgbClr val="A80000"/>
              </a:solidFill>
              <a:prstDash val="solid"/>
            </a:ln>
          </p:spPr>
          <p:txBody>
            <a:bodyPr/>
            <a:lstStyle/>
            <a:p>
              <a:endParaRPr lang="en-US"/>
            </a:p>
          </p:txBody>
        </p:sp>
        <p:pic>
          <p:nvPicPr>
            <p:cNvPr id="37" name="Image 2" descr="preencoded.png"/>
            <p:cNvPicPr>
              <a:picLocks noChangeAspect="1"/>
            </p:cNvPicPr>
            <p:nvPr/>
          </p:nvPicPr>
          <p:blipFill>
            <a:blip r:embed="rId4"/>
            <a:stretch>
              <a:fillRect/>
            </a:stretch>
          </p:blipFill>
          <p:spPr>
            <a:xfrm>
              <a:off x="7942478" y="2620670"/>
              <a:ext cx="427939" cy="427939"/>
            </a:xfrm>
            <a:prstGeom prst="rect">
              <a:avLst/>
            </a:prstGeom>
          </p:spPr>
        </p:pic>
        <p:sp>
          <p:nvSpPr>
            <p:cNvPr id="38" name="Text 32"/>
            <p:cNvSpPr txBox="1"/>
            <p:nvPr/>
          </p:nvSpPr>
          <p:spPr>
            <a:xfrm>
              <a:off x="6967728" y="3291840"/>
              <a:ext cx="2377440" cy="731520"/>
            </a:xfrm>
            <a:prstGeom prst="rect">
              <a:avLst/>
            </a:prstGeom>
            <a:noFill/>
            <a:ln/>
          </p:spPr>
          <p:txBody>
            <a:bodyPr wrap="square" lIns="0" tIns="0" rIns="0" bIns="0" rtlCol="0" anchor="ctr"/>
            <a:lstStyle/>
            <a:p>
              <a:pPr marL="0" indent="0" algn="ctr">
                <a:buNone/>
              </a:pPr>
              <a:r>
                <a:rPr lang="en-US" sz="1400" b="1" dirty="0">
                  <a:solidFill>
                    <a:srgbClr val="13293D"/>
                  </a:solidFill>
                  <a:latin typeface="Calibri" pitchFamily="34" charset="0"/>
                  <a:ea typeface="Calibri" pitchFamily="34" charset="-122"/>
                  <a:cs typeface="Calibri" pitchFamily="34" charset="-120"/>
                </a:rPr>
                <a:t>Hệ thống AI giải bài toán thực tiễn</a:t>
              </a:r>
              <a:endParaRPr lang="en-US" sz="1400" dirty="0"/>
            </a:p>
          </p:txBody>
        </p:sp>
        <p:sp>
          <p:nvSpPr>
            <p:cNvPr id="39" name="Shape 33"/>
            <p:cNvSpPr/>
            <p:nvPr/>
          </p:nvSpPr>
          <p:spPr>
            <a:xfrm>
              <a:off x="9454896" y="1691640"/>
              <a:ext cx="2560320" cy="548640"/>
            </a:xfrm>
            <a:prstGeom prst="chevron">
              <a:avLst/>
            </a:prstGeom>
            <a:solidFill>
              <a:srgbClr val="4B4B9C"/>
            </a:solidFill>
            <a:ln w="12700">
              <a:solidFill>
                <a:srgbClr val="4B4B9C"/>
              </a:solidFill>
              <a:prstDash val="solid"/>
            </a:ln>
          </p:spPr>
          <p:txBody>
            <a:bodyPr/>
            <a:lstStyle/>
            <a:p>
              <a:endParaRPr lang="en-US"/>
            </a:p>
          </p:txBody>
        </p:sp>
        <p:sp>
          <p:nvSpPr>
            <p:cNvPr id="40" name="Text 34"/>
            <p:cNvSpPr txBox="1"/>
            <p:nvPr/>
          </p:nvSpPr>
          <p:spPr>
            <a:xfrm>
              <a:off x="9729216" y="1691640"/>
              <a:ext cx="201168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(iii)</a:t>
              </a:r>
              <a:endParaRPr lang="en-US" sz="1500" dirty="0"/>
            </a:p>
          </p:txBody>
        </p:sp>
        <p:sp>
          <p:nvSpPr>
            <p:cNvPr id="41" name="Shape 35"/>
            <p:cNvSpPr/>
            <p:nvPr/>
          </p:nvSpPr>
          <p:spPr>
            <a:xfrm>
              <a:off x="10232136" y="2423160"/>
              <a:ext cx="822960" cy="822960"/>
            </a:xfrm>
            <a:prstGeom prst="ellipse">
              <a:avLst/>
            </a:prstGeom>
            <a:solidFill>
              <a:srgbClr val="4B4B9C"/>
            </a:solidFill>
            <a:ln w="12700">
              <a:solidFill>
                <a:srgbClr val="4B4B9C"/>
              </a:solidFill>
              <a:prstDash val="solid"/>
            </a:ln>
          </p:spPr>
          <p:txBody>
            <a:bodyPr/>
            <a:lstStyle/>
            <a:p>
              <a:endParaRPr lang="en-US"/>
            </a:p>
          </p:txBody>
        </p:sp>
        <p:pic>
          <p:nvPicPr>
            <p:cNvPr id="42" name="Image 3" descr="preencoded.png"/>
            <p:cNvPicPr>
              <a:picLocks noChangeAspect="1"/>
            </p:cNvPicPr>
            <p:nvPr/>
          </p:nvPicPr>
          <p:blipFill>
            <a:blip r:embed="rId5"/>
            <a:stretch>
              <a:fillRect/>
            </a:stretch>
          </p:blipFill>
          <p:spPr>
            <a:xfrm>
              <a:off x="10429646" y="2620670"/>
              <a:ext cx="427939" cy="427939"/>
            </a:xfrm>
            <a:prstGeom prst="rect">
              <a:avLst/>
            </a:prstGeom>
          </p:spPr>
        </p:pic>
        <p:sp>
          <p:nvSpPr>
            <p:cNvPr id="43" name="Text 36"/>
            <p:cNvSpPr txBox="1"/>
            <p:nvPr/>
          </p:nvSpPr>
          <p:spPr>
            <a:xfrm>
              <a:off x="9454896" y="3291840"/>
              <a:ext cx="2377440" cy="731520"/>
            </a:xfrm>
            <a:prstGeom prst="rect">
              <a:avLst/>
            </a:prstGeom>
            <a:noFill/>
            <a:ln/>
          </p:spPr>
          <p:txBody>
            <a:bodyPr wrap="square" lIns="0" tIns="0" rIns="0" bIns="0" rtlCol="0" anchor="ctr"/>
            <a:lstStyle/>
            <a:p>
              <a:pPr marL="0" indent="0" algn="ctr">
                <a:buNone/>
              </a:pPr>
              <a:r>
                <a:rPr lang="en-US" sz="1400" b="1" dirty="0">
                  <a:solidFill>
                    <a:srgbClr val="13293D"/>
                  </a:solidFill>
                  <a:latin typeface="Calibri" pitchFamily="34" charset="0"/>
                  <a:ea typeface="Calibri" pitchFamily="34" charset="-122"/>
                  <a:cs typeface="Calibri" pitchFamily="34" charset="-120"/>
                </a:rPr>
                <a:t>AI + IoT, dữ liệu lớn,</a:t>
              </a:r>
              <a:endParaRPr lang="en-US" sz="1400" dirty="0"/>
            </a:p>
            <a:p>
              <a:pPr marL="0" indent="0" algn="ctr">
                <a:buNone/>
              </a:pPr>
              <a:r>
                <a:rPr lang="en-US" sz="1400" b="1" dirty="0">
                  <a:solidFill>
                    <a:srgbClr val="13293D"/>
                  </a:solidFill>
                  <a:latin typeface="Calibri" pitchFamily="34" charset="0"/>
                  <a:ea typeface="Calibri" pitchFamily="34" charset="-122"/>
                  <a:cs typeface="Calibri" pitchFamily="34" charset="-120"/>
                </a:rPr>
                <a:t>nhúng, vi mạch</a:t>
              </a:r>
              <a:endParaRPr lang="en-US" sz="1400" dirty="0"/>
            </a:p>
          </p:txBody>
        </p:sp>
        <p:sp>
          <p:nvSpPr>
            <p:cNvPr id="44" name="Text 37"/>
            <p:cNvSpPr txBox="1"/>
            <p:nvPr/>
          </p:nvSpPr>
          <p:spPr>
            <a:xfrm>
              <a:off x="6858000" y="4069080"/>
              <a:ext cx="2743200" cy="320040"/>
            </a:xfrm>
            <a:prstGeom prst="rect">
              <a:avLst/>
            </a:prstGeom>
            <a:noFill/>
            <a:ln/>
          </p:spPr>
          <p:txBody>
            <a:bodyPr wrap="square" lIns="0" tIns="0" rIns="0" bIns="0" rtlCol="0" anchor="t"/>
            <a:lstStyle/>
            <a:p>
              <a:pPr marL="0" indent="0" algn="ctr">
                <a:buNone/>
              </a:pPr>
              <a:r>
                <a:rPr lang="en-US" sz="1150" i="1" dirty="0">
                  <a:solidFill>
                    <a:srgbClr val="A80000"/>
                  </a:solidFill>
                  <a:latin typeface="Calibri" pitchFamily="34" charset="0"/>
                  <a:ea typeface="Calibri" pitchFamily="34" charset="-122"/>
                  <a:cs typeface="Calibri" pitchFamily="34" charset="-120"/>
                </a:rPr>
                <a:t>y tế · giáo dục · công nghiệp · chuyển đổi số</a:t>
              </a:r>
              <a:endParaRPr lang="en-US" sz="1150" dirty="0"/>
            </a:p>
          </p:txBody>
        </p:sp>
        <p:sp>
          <p:nvSpPr>
            <p:cNvPr id="45" name="Text 38"/>
            <p:cNvSpPr txBox="1"/>
            <p:nvPr/>
          </p:nvSpPr>
          <p:spPr>
            <a:xfrm>
              <a:off x="4480560" y="4526280"/>
              <a:ext cx="7315200" cy="320040"/>
            </a:xfrm>
            <a:prstGeom prst="rect">
              <a:avLst/>
            </a:prstGeom>
            <a:noFill/>
            <a:ln/>
          </p:spPr>
          <p:txBody>
            <a:bodyPr wrap="square" lIns="0" tIns="0" rIns="0" bIns="0" rtlCol="0" anchor="t"/>
            <a:lstStyle/>
            <a:p>
              <a:pPr marL="0" indent="0">
                <a:buNone/>
              </a:pPr>
              <a:r>
                <a:rPr lang="en-US" sz="1350" b="1" dirty="0">
                  <a:solidFill>
                    <a:srgbClr val="5B6B76"/>
                  </a:solidFill>
                  <a:latin typeface="Calibri" pitchFamily="34" charset="0"/>
                  <a:ea typeface="Calibri" pitchFamily="34" charset="-122"/>
                  <a:cs typeface="Calibri" pitchFamily="34" charset="-120"/>
                </a:rPr>
                <a:t>Sản phẩm tiêu biểu (4 slide tiếp theo)</a:t>
              </a:r>
              <a:endParaRPr lang="en-US" sz="1350" dirty="0"/>
            </a:p>
          </p:txBody>
        </p:sp>
        <p:sp>
          <p:nvSpPr>
            <p:cNvPr id="46" name="Shape 39"/>
            <p:cNvSpPr/>
            <p:nvPr/>
          </p:nvSpPr>
          <p:spPr>
            <a:xfrm>
              <a:off x="4800600" y="4892040"/>
              <a:ext cx="502920" cy="502920"/>
            </a:xfrm>
            <a:prstGeom prst="ellipse">
              <a:avLst/>
            </a:prstGeom>
            <a:solidFill>
              <a:srgbClr val="E08A2E"/>
            </a:solidFill>
            <a:ln w="12700">
              <a:solidFill>
                <a:srgbClr val="E08A2E"/>
              </a:solidFill>
              <a:prstDash val="solid"/>
            </a:ln>
          </p:spPr>
          <p:txBody>
            <a:bodyPr/>
            <a:lstStyle/>
            <a:p>
              <a:endParaRPr lang="en-US"/>
            </a:p>
          </p:txBody>
        </p:sp>
        <p:pic>
          <p:nvPicPr>
            <p:cNvPr id="47" name="Image 4" descr="preencoded.png"/>
            <p:cNvPicPr>
              <a:picLocks noChangeAspect="1"/>
            </p:cNvPicPr>
            <p:nvPr/>
          </p:nvPicPr>
          <p:blipFill>
            <a:blip r:embed="rId6"/>
            <a:stretch>
              <a:fillRect/>
            </a:stretch>
          </p:blipFill>
          <p:spPr>
            <a:xfrm>
              <a:off x="4921301" y="5012741"/>
              <a:ext cx="261518" cy="261518"/>
            </a:xfrm>
            <a:prstGeom prst="rect">
              <a:avLst/>
            </a:prstGeom>
          </p:spPr>
        </p:pic>
        <p:sp>
          <p:nvSpPr>
            <p:cNvPr id="48" name="Text 40"/>
            <p:cNvSpPr txBox="1"/>
            <p:nvPr/>
          </p:nvSpPr>
          <p:spPr>
            <a:xfrm>
              <a:off x="4434840" y="5440680"/>
              <a:ext cx="1234440" cy="502920"/>
            </a:xfrm>
            <a:prstGeom prst="rect">
              <a:avLst/>
            </a:prstGeom>
            <a:noFill/>
            <a:ln/>
          </p:spPr>
          <p:txBody>
            <a:bodyPr wrap="square" lIns="0" tIns="0" rIns="0" bIns="0" rtlCol="0" anchor="t"/>
            <a:lstStyle/>
            <a:p>
              <a:pPr marL="0" indent="0" algn="ctr">
                <a:buNone/>
              </a:pPr>
              <a:r>
                <a:rPr lang="en-US" sz="1100" b="1" dirty="0">
                  <a:solidFill>
                    <a:srgbClr val="13293D"/>
                  </a:solidFill>
                  <a:latin typeface="Calibri" pitchFamily="34" charset="0"/>
                  <a:ea typeface="Calibri" pitchFamily="34" charset="-122"/>
                  <a:cs typeface="Calibri" pitchFamily="34" charset="-120"/>
                </a:rPr>
                <a:t>VNU-DIAGNOSIS</a:t>
              </a:r>
              <a:endParaRPr lang="en-US" sz="1100" dirty="0"/>
            </a:p>
          </p:txBody>
        </p:sp>
        <p:sp>
          <p:nvSpPr>
            <p:cNvPr id="49" name="Shape 41"/>
            <p:cNvSpPr/>
            <p:nvPr/>
          </p:nvSpPr>
          <p:spPr>
            <a:xfrm>
              <a:off x="6016752" y="4892040"/>
              <a:ext cx="502920" cy="502920"/>
            </a:xfrm>
            <a:prstGeom prst="ellipse">
              <a:avLst/>
            </a:prstGeom>
            <a:solidFill>
              <a:srgbClr val="E08A2E"/>
            </a:solidFill>
            <a:ln w="12700">
              <a:solidFill>
                <a:srgbClr val="E08A2E"/>
              </a:solidFill>
              <a:prstDash val="solid"/>
            </a:ln>
          </p:spPr>
          <p:txBody>
            <a:bodyPr/>
            <a:lstStyle/>
            <a:p>
              <a:endParaRPr lang="en-US"/>
            </a:p>
          </p:txBody>
        </p:sp>
        <p:pic>
          <p:nvPicPr>
            <p:cNvPr id="50" name="Image 5" descr="preencoded.png"/>
            <p:cNvPicPr>
              <a:picLocks noChangeAspect="1"/>
            </p:cNvPicPr>
            <p:nvPr/>
          </p:nvPicPr>
          <p:blipFill>
            <a:blip r:embed="rId7"/>
            <a:stretch>
              <a:fillRect/>
            </a:stretch>
          </p:blipFill>
          <p:spPr>
            <a:xfrm>
              <a:off x="6137453" y="5012741"/>
              <a:ext cx="261518" cy="261518"/>
            </a:xfrm>
            <a:prstGeom prst="rect">
              <a:avLst/>
            </a:prstGeom>
          </p:spPr>
        </p:pic>
        <p:sp>
          <p:nvSpPr>
            <p:cNvPr id="51" name="Text 42"/>
            <p:cNvSpPr txBox="1"/>
            <p:nvPr/>
          </p:nvSpPr>
          <p:spPr>
            <a:xfrm>
              <a:off x="5650992" y="5440680"/>
              <a:ext cx="1234440" cy="502920"/>
            </a:xfrm>
            <a:prstGeom prst="rect">
              <a:avLst/>
            </a:prstGeom>
            <a:noFill/>
            <a:ln/>
          </p:spPr>
          <p:txBody>
            <a:bodyPr wrap="square" lIns="0" tIns="0" rIns="0" bIns="0" rtlCol="0" anchor="t"/>
            <a:lstStyle/>
            <a:p>
              <a:pPr marL="0" indent="0" algn="ctr">
                <a:buNone/>
              </a:pPr>
              <a:r>
                <a:rPr lang="en-US" sz="1100" b="1" dirty="0">
                  <a:solidFill>
                    <a:srgbClr val="13293D"/>
                  </a:solidFill>
                  <a:latin typeface="Calibri" pitchFamily="34" charset="0"/>
                  <a:ea typeface="Calibri" pitchFamily="34" charset="-122"/>
                  <a:cs typeface="Calibri" pitchFamily="34" charset="-120"/>
                </a:rPr>
                <a:t>AIRC-KNEE</a:t>
              </a:r>
              <a:endParaRPr lang="en-US" sz="1100" dirty="0"/>
            </a:p>
          </p:txBody>
        </p:sp>
        <p:sp>
          <p:nvSpPr>
            <p:cNvPr id="52" name="Shape 43"/>
            <p:cNvSpPr/>
            <p:nvPr/>
          </p:nvSpPr>
          <p:spPr>
            <a:xfrm>
              <a:off x="7232904" y="4892040"/>
              <a:ext cx="502920" cy="502920"/>
            </a:xfrm>
            <a:prstGeom prst="ellipse">
              <a:avLst/>
            </a:prstGeom>
            <a:solidFill>
              <a:srgbClr val="E08A2E"/>
            </a:solidFill>
            <a:ln w="12700">
              <a:solidFill>
                <a:srgbClr val="E08A2E"/>
              </a:solidFill>
              <a:prstDash val="solid"/>
            </a:ln>
          </p:spPr>
          <p:txBody>
            <a:bodyPr/>
            <a:lstStyle/>
            <a:p>
              <a:endParaRPr lang="en-US"/>
            </a:p>
          </p:txBody>
        </p:sp>
        <p:pic>
          <p:nvPicPr>
            <p:cNvPr id="53" name="Image 6" descr="preencoded.png"/>
            <p:cNvPicPr>
              <a:picLocks noChangeAspect="1"/>
            </p:cNvPicPr>
            <p:nvPr/>
          </p:nvPicPr>
          <p:blipFill>
            <a:blip r:embed="rId8"/>
            <a:stretch>
              <a:fillRect/>
            </a:stretch>
          </p:blipFill>
          <p:spPr>
            <a:xfrm>
              <a:off x="7353605" y="5012741"/>
              <a:ext cx="261518" cy="261518"/>
            </a:xfrm>
            <a:prstGeom prst="rect">
              <a:avLst/>
            </a:prstGeom>
          </p:spPr>
        </p:pic>
        <p:sp>
          <p:nvSpPr>
            <p:cNvPr id="54" name="Text 44"/>
            <p:cNvSpPr txBox="1"/>
            <p:nvPr/>
          </p:nvSpPr>
          <p:spPr>
            <a:xfrm>
              <a:off x="6867144" y="5440680"/>
              <a:ext cx="1234440" cy="502920"/>
            </a:xfrm>
            <a:prstGeom prst="rect">
              <a:avLst/>
            </a:prstGeom>
            <a:noFill/>
            <a:ln/>
          </p:spPr>
          <p:txBody>
            <a:bodyPr wrap="square" lIns="0" tIns="0" rIns="0" bIns="0" rtlCol="0" anchor="t"/>
            <a:lstStyle/>
            <a:p>
              <a:pPr marL="0" indent="0" algn="ctr">
                <a:buNone/>
              </a:pPr>
              <a:r>
                <a:rPr lang="en-US" sz="1100" b="1" dirty="0">
                  <a:solidFill>
                    <a:srgbClr val="13293D"/>
                  </a:solidFill>
                  <a:latin typeface="Calibri" pitchFamily="34" charset="0"/>
                  <a:ea typeface="Calibri" pitchFamily="34" charset="-122"/>
                  <a:cs typeface="Calibri" pitchFamily="34" charset="-120"/>
                </a:rPr>
                <a:t>Chẩn đoán mờ</a:t>
              </a:r>
              <a:endParaRPr lang="en-US" sz="1100" dirty="0"/>
            </a:p>
          </p:txBody>
        </p:sp>
        <p:sp>
          <p:nvSpPr>
            <p:cNvPr id="55" name="Shape 45"/>
            <p:cNvSpPr/>
            <p:nvPr/>
          </p:nvSpPr>
          <p:spPr>
            <a:xfrm>
              <a:off x="8449056" y="4892040"/>
              <a:ext cx="502920" cy="502920"/>
            </a:xfrm>
            <a:prstGeom prst="ellipse">
              <a:avLst/>
            </a:prstGeom>
            <a:solidFill>
              <a:srgbClr val="E08A2E"/>
            </a:solidFill>
            <a:ln w="12700">
              <a:solidFill>
                <a:srgbClr val="E08A2E"/>
              </a:solidFill>
              <a:prstDash val="solid"/>
            </a:ln>
          </p:spPr>
          <p:txBody>
            <a:bodyPr/>
            <a:lstStyle/>
            <a:p>
              <a:endParaRPr lang="en-US"/>
            </a:p>
          </p:txBody>
        </p:sp>
        <p:pic>
          <p:nvPicPr>
            <p:cNvPr id="56" name="Image 7" descr="preencoded.png"/>
            <p:cNvPicPr>
              <a:picLocks noChangeAspect="1"/>
            </p:cNvPicPr>
            <p:nvPr/>
          </p:nvPicPr>
          <p:blipFill>
            <a:blip r:embed="rId9"/>
            <a:stretch>
              <a:fillRect/>
            </a:stretch>
          </p:blipFill>
          <p:spPr>
            <a:xfrm>
              <a:off x="8569757" y="5012741"/>
              <a:ext cx="261518" cy="261518"/>
            </a:xfrm>
            <a:prstGeom prst="rect">
              <a:avLst/>
            </a:prstGeom>
          </p:spPr>
        </p:pic>
        <p:sp>
          <p:nvSpPr>
            <p:cNvPr id="57" name="Text 46"/>
            <p:cNvSpPr txBox="1"/>
            <p:nvPr/>
          </p:nvSpPr>
          <p:spPr>
            <a:xfrm>
              <a:off x="8083296" y="5440680"/>
              <a:ext cx="1234440" cy="502920"/>
            </a:xfrm>
            <a:prstGeom prst="rect">
              <a:avLst/>
            </a:prstGeom>
            <a:noFill/>
            <a:ln/>
          </p:spPr>
          <p:txBody>
            <a:bodyPr wrap="square" lIns="0" tIns="0" rIns="0" bIns="0" rtlCol="0" anchor="t"/>
            <a:lstStyle/>
            <a:p>
              <a:pPr marL="0" indent="0" algn="ctr">
                <a:buNone/>
              </a:pPr>
              <a:r>
                <a:rPr lang="en-US" sz="1100" b="1" dirty="0">
                  <a:solidFill>
                    <a:srgbClr val="13293D"/>
                  </a:solidFill>
                  <a:latin typeface="Calibri" pitchFamily="34" charset="0"/>
                  <a:ea typeface="Calibri" pitchFamily="34" charset="-122"/>
                  <a:cs typeface="Calibri" pitchFamily="34" charset="-120"/>
                </a:rPr>
                <a:t>Cảm xúc khuôn mặt</a:t>
              </a:r>
              <a:endParaRPr lang="en-US" sz="1100" dirty="0"/>
            </a:p>
          </p:txBody>
        </p:sp>
        <p:sp>
          <p:nvSpPr>
            <p:cNvPr id="58" name="Shape 47"/>
            <p:cNvSpPr/>
            <p:nvPr/>
          </p:nvSpPr>
          <p:spPr>
            <a:xfrm>
              <a:off x="9665208" y="4892040"/>
              <a:ext cx="502920" cy="502920"/>
            </a:xfrm>
            <a:prstGeom prst="ellipse">
              <a:avLst/>
            </a:prstGeom>
            <a:solidFill>
              <a:srgbClr val="E08A2E"/>
            </a:solidFill>
            <a:ln w="12700">
              <a:solidFill>
                <a:srgbClr val="E08A2E"/>
              </a:solidFill>
              <a:prstDash val="solid"/>
            </a:ln>
          </p:spPr>
          <p:txBody>
            <a:bodyPr/>
            <a:lstStyle/>
            <a:p>
              <a:endParaRPr lang="en-US"/>
            </a:p>
          </p:txBody>
        </p:sp>
        <p:pic>
          <p:nvPicPr>
            <p:cNvPr id="59" name="Image 8" descr="preencoded.png"/>
            <p:cNvPicPr>
              <a:picLocks noChangeAspect="1"/>
            </p:cNvPicPr>
            <p:nvPr/>
          </p:nvPicPr>
          <p:blipFill>
            <a:blip r:embed="rId10"/>
            <a:stretch>
              <a:fillRect/>
            </a:stretch>
          </p:blipFill>
          <p:spPr>
            <a:xfrm>
              <a:off x="9785909" y="5012741"/>
              <a:ext cx="261518" cy="261518"/>
            </a:xfrm>
            <a:prstGeom prst="rect">
              <a:avLst/>
            </a:prstGeom>
          </p:spPr>
        </p:pic>
        <p:sp>
          <p:nvSpPr>
            <p:cNvPr id="60" name="Text 48"/>
            <p:cNvSpPr txBox="1"/>
            <p:nvPr/>
          </p:nvSpPr>
          <p:spPr>
            <a:xfrm>
              <a:off x="9299448" y="5440680"/>
              <a:ext cx="1234440" cy="502920"/>
            </a:xfrm>
            <a:prstGeom prst="rect">
              <a:avLst/>
            </a:prstGeom>
            <a:noFill/>
            <a:ln/>
          </p:spPr>
          <p:txBody>
            <a:bodyPr wrap="square" lIns="0" tIns="0" rIns="0" bIns="0" rtlCol="0" anchor="t"/>
            <a:lstStyle/>
            <a:p>
              <a:pPr marL="0" indent="0" algn="ctr">
                <a:buNone/>
              </a:pPr>
              <a:r>
                <a:rPr lang="en-US" sz="1100" b="1" dirty="0">
                  <a:solidFill>
                    <a:srgbClr val="13293D"/>
                  </a:solidFill>
                  <a:latin typeface="Calibri" pitchFamily="34" charset="0"/>
                  <a:ea typeface="Calibri" pitchFamily="34" charset="-122"/>
                  <a:cs typeface="Calibri" pitchFamily="34" charset="-120"/>
                </a:rPr>
                <a:t>AIRC-VL · Camera AI</a:t>
              </a:r>
              <a:endParaRPr lang="en-US" sz="1100" dirty="0"/>
            </a:p>
          </p:txBody>
        </p:sp>
        <p:sp>
          <p:nvSpPr>
            <p:cNvPr id="61" name="Shape 49"/>
            <p:cNvSpPr/>
            <p:nvPr/>
          </p:nvSpPr>
          <p:spPr>
            <a:xfrm>
              <a:off x="10881360" y="4892040"/>
              <a:ext cx="502920" cy="502920"/>
            </a:xfrm>
            <a:prstGeom prst="ellipse">
              <a:avLst/>
            </a:prstGeom>
            <a:solidFill>
              <a:srgbClr val="E08A2E"/>
            </a:solidFill>
            <a:ln w="12700">
              <a:solidFill>
                <a:srgbClr val="E08A2E"/>
              </a:solidFill>
              <a:prstDash val="solid"/>
            </a:ln>
          </p:spPr>
          <p:txBody>
            <a:bodyPr/>
            <a:lstStyle/>
            <a:p>
              <a:endParaRPr lang="en-US"/>
            </a:p>
          </p:txBody>
        </p:sp>
        <p:pic>
          <p:nvPicPr>
            <p:cNvPr id="62" name="Image 9" descr="preencoded.png"/>
            <p:cNvPicPr>
              <a:picLocks noChangeAspect="1"/>
            </p:cNvPicPr>
            <p:nvPr/>
          </p:nvPicPr>
          <p:blipFill>
            <a:blip r:embed="rId5"/>
            <a:stretch>
              <a:fillRect/>
            </a:stretch>
          </p:blipFill>
          <p:spPr>
            <a:xfrm>
              <a:off x="11002061" y="5012741"/>
              <a:ext cx="261518" cy="261518"/>
            </a:xfrm>
            <a:prstGeom prst="rect">
              <a:avLst/>
            </a:prstGeom>
          </p:spPr>
        </p:pic>
        <p:sp>
          <p:nvSpPr>
            <p:cNvPr id="63" name="Text 50"/>
            <p:cNvSpPr txBox="1"/>
            <p:nvPr/>
          </p:nvSpPr>
          <p:spPr>
            <a:xfrm>
              <a:off x="10515600" y="5440680"/>
              <a:ext cx="1234440" cy="502920"/>
            </a:xfrm>
            <a:prstGeom prst="rect">
              <a:avLst/>
            </a:prstGeom>
            <a:noFill/>
            <a:ln/>
          </p:spPr>
          <p:txBody>
            <a:bodyPr wrap="square" lIns="0" tIns="0" rIns="0" bIns="0" rtlCol="0" anchor="t"/>
            <a:lstStyle/>
            <a:p>
              <a:pPr marL="0" indent="0" algn="ctr">
                <a:buNone/>
              </a:pPr>
              <a:r>
                <a:rPr lang="en-US" sz="1100" b="1" dirty="0">
                  <a:solidFill>
                    <a:srgbClr val="13293D"/>
                  </a:solidFill>
                  <a:latin typeface="Calibri" pitchFamily="34" charset="0"/>
                  <a:ea typeface="Calibri" pitchFamily="34" charset="-122"/>
                  <a:cs typeface="Calibri" pitchFamily="34" charset="-120"/>
                </a:rPr>
                <a:t>AIoT · SoC</a:t>
              </a:r>
              <a:endParaRPr lang="en-US" sz="11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95BCC-4C01-1063-75D1-2615F02F97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2374AB-6460-C60B-7B85-12DAB5497020}"/>
              </a:ext>
            </a:extLst>
          </p:cNvPr>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Viện CNTT và Trung tâm AIRC</a:t>
            </a:r>
            <a:endParaRPr lang="en-US" sz="2800" dirty="0"/>
          </a:p>
        </p:txBody>
      </p:sp>
      <p:sp>
        <p:nvSpPr>
          <p:cNvPr id="3" name="Shape 1">
            <a:extLst>
              <a:ext uri="{FF2B5EF4-FFF2-40B4-BE49-F238E27FC236}">
                <a16:creationId xmlns:a16="http://schemas.microsoft.com/office/drawing/2014/main" id="{208BD8BC-3DB4-17F8-C3B4-8D08A943B15B}"/>
              </a:ext>
            </a:extLst>
          </p:cNvPr>
          <p:cNvSpPr/>
          <p:nvPr/>
        </p:nvSpPr>
        <p:spPr>
          <a:xfrm>
            <a:off x="457200" y="6510528"/>
            <a:ext cx="128016" cy="128016"/>
          </a:xfrm>
          <a:prstGeom prst="ellipse">
            <a:avLst/>
          </a:prstGeom>
          <a:solidFill>
            <a:srgbClr val="E08A2E"/>
          </a:solidFill>
          <a:ln w="12700">
            <a:solidFill>
              <a:srgbClr val="E08A2E"/>
            </a:solidFill>
            <a:prstDash val="solid"/>
          </a:ln>
        </p:spPr>
        <p:txBody>
          <a:bodyPr/>
          <a:lstStyle/>
          <a:p>
            <a:endParaRPr lang="en-US"/>
          </a:p>
        </p:txBody>
      </p:sp>
      <p:sp>
        <p:nvSpPr>
          <p:cNvPr id="4" name="Text 2">
            <a:extLst>
              <a:ext uri="{FF2B5EF4-FFF2-40B4-BE49-F238E27FC236}">
                <a16:creationId xmlns:a16="http://schemas.microsoft.com/office/drawing/2014/main" id="{D6366823-03EE-EBF7-E64C-38D4BDC507E5}"/>
              </a:ext>
            </a:extLst>
          </p:cNvPr>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E08A2E"/>
                </a:solidFill>
                <a:latin typeface="Calibri" pitchFamily="34" charset="0"/>
                <a:ea typeface="Calibri" pitchFamily="34" charset="-122"/>
                <a:cs typeface="Calibri" pitchFamily="34" charset="-120"/>
              </a:rPr>
              <a:t>3 · SẢN PHẨM VIỆN CNTT</a:t>
            </a:r>
            <a:endParaRPr lang="en-US" sz="1100" dirty="0"/>
          </a:p>
        </p:txBody>
      </p:sp>
      <p:sp>
        <p:nvSpPr>
          <p:cNvPr id="5" name="Slide Number Placeholder 0">
            <a:extLst>
              <a:ext uri="{FF2B5EF4-FFF2-40B4-BE49-F238E27FC236}">
                <a16:creationId xmlns:a16="http://schemas.microsoft.com/office/drawing/2014/main" id="{B4FB5190-A335-59E3-35E0-685B204BC8E1}"/>
              </a:ext>
            </a:extLst>
          </p:cNvPr>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18</a:t>
            </a:fld>
            <a:endParaRPr lang="en-US"/>
          </a:p>
        </p:txBody>
      </p:sp>
      <p:pic>
        <p:nvPicPr>
          <p:cNvPr id="65" name="Online Media 64" title="AIRC | Khám phá Trung tâm Nghiên cứu tiên tiến Quốc tế về Trí tuệ Nhân tạo Ứng dụng - ĐHQGHN">
            <a:hlinkClick r:id="" action="ppaction://media"/>
            <a:extLst>
              <a:ext uri="{FF2B5EF4-FFF2-40B4-BE49-F238E27FC236}">
                <a16:creationId xmlns:a16="http://schemas.microsoft.com/office/drawing/2014/main" id="{F53667D4-DDBB-9B65-1C7D-FD8C36E1D211}"/>
              </a:ext>
            </a:extLst>
          </p:cNvPr>
          <p:cNvPicPr>
            <a:picLocks noRot="1" noChangeAspect="1"/>
          </p:cNvPicPr>
          <p:nvPr>
            <a:videoFile r:link="rId1"/>
          </p:nvPr>
        </p:nvPicPr>
        <p:blipFill>
          <a:blip r:embed="rId3"/>
          <a:stretch>
            <a:fillRect/>
          </a:stretch>
        </p:blipFill>
        <p:spPr>
          <a:xfrm>
            <a:off x="0" y="897978"/>
            <a:ext cx="12192000" cy="5960022"/>
          </a:xfrm>
          <a:prstGeom prst="rect">
            <a:avLst/>
          </a:prstGeom>
        </p:spPr>
      </p:pic>
    </p:spTree>
    <p:extLst>
      <p:ext uri="{BB962C8B-B14F-4D97-AF65-F5344CB8AC3E}">
        <p14:creationId xmlns:p14="http://schemas.microsoft.com/office/powerpoint/2010/main" val="2702017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5"/>
                </p:tgtEl>
              </p:cMediaNode>
            </p:video>
            <p:seq concurrent="1" nextAc="seek">
              <p:cTn id="8" restart="whenNotActive" fill="hold" evtFilter="cancelBubble" nodeType="interactiveSeq">
                <p:stCondLst>
                  <p:cond evt="onClick" delay="0">
                    <p:tgtEl>
                      <p:spTgt spid="6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5"/>
                                        </p:tgtEl>
                                      </p:cBhvr>
                                    </p:cmd>
                                  </p:childTnLst>
                                </p:cTn>
                              </p:par>
                            </p:childTnLst>
                          </p:cTn>
                        </p:par>
                      </p:childTnLst>
                    </p:cTn>
                  </p:par>
                </p:childTnLst>
              </p:cTn>
              <p:nextCondLst>
                <p:cond evt="onClick" delay="0">
                  <p:tgtEl>
                    <p:spTgt spid="65"/>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VNU-DIAGNOSIS: AI hỗ trợ chẩn đoán nha khoa</a:t>
            </a:r>
            <a:endParaRPr lang="en-US" sz="2800" dirty="0"/>
          </a:p>
        </p:txBody>
      </p:sp>
      <p:sp>
        <p:nvSpPr>
          <p:cNvPr id="3" name="Shape 1"/>
          <p:cNvSpPr/>
          <p:nvPr/>
        </p:nvSpPr>
        <p:spPr>
          <a:xfrm>
            <a:off x="457200" y="6510528"/>
            <a:ext cx="128016" cy="128016"/>
          </a:xfrm>
          <a:prstGeom prst="ellipse">
            <a:avLst/>
          </a:prstGeom>
          <a:solidFill>
            <a:srgbClr val="E08A2E"/>
          </a:solidFill>
          <a:ln w="12700">
            <a:solidFill>
              <a:srgbClr val="E08A2E"/>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E08A2E"/>
                </a:solidFill>
                <a:latin typeface="Calibri" pitchFamily="34" charset="0"/>
                <a:ea typeface="Calibri" pitchFamily="34" charset="-122"/>
                <a:cs typeface="Calibri" pitchFamily="34" charset="-120"/>
              </a:rPr>
              <a:t>3 · SẢN PHẨM VIỆN CNTT</a:t>
            </a:r>
            <a:endParaRPr lang="en-US" sz="1100" dirty="0"/>
          </a:p>
        </p:txBody>
      </p:sp>
      <p:grpSp>
        <p:nvGrpSpPr>
          <p:cNvPr id="30" name="Group 29">
            <a:extLst>
              <a:ext uri="{FF2B5EF4-FFF2-40B4-BE49-F238E27FC236}">
                <a16:creationId xmlns:a16="http://schemas.microsoft.com/office/drawing/2014/main" id="{49341559-F796-99B5-7340-688B72612A8F}"/>
              </a:ext>
            </a:extLst>
          </p:cNvPr>
          <p:cNvGrpSpPr/>
          <p:nvPr/>
        </p:nvGrpSpPr>
        <p:grpSpPr>
          <a:xfrm>
            <a:off x="457200" y="1188720"/>
            <a:ext cx="11237976" cy="4754880"/>
            <a:chOff x="457200" y="1188720"/>
            <a:chExt cx="11237976" cy="4754880"/>
          </a:xfrm>
        </p:grpSpPr>
        <p:pic>
          <p:nvPicPr>
            <p:cNvPr id="6" name="Image 0" descr="/home/claude/v3/pimg/i-002.png"/>
            <p:cNvPicPr>
              <a:picLocks noChangeAspect="1"/>
            </p:cNvPicPr>
            <p:nvPr/>
          </p:nvPicPr>
          <p:blipFill>
            <a:blip r:embed="rId2"/>
            <a:stretch>
              <a:fillRect/>
            </a:stretch>
          </p:blipFill>
          <p:spPr>
            <a:xfrm>
              <a:off x="457200" y="1294280"/>
              <a:ext cx="6949440" cy="4040840"/>
            </a:xfrm>
            <a:prstGeom prst="rect">
              <a:avLst/>
            </a:prstGeom>
          </p:spPr>
        </p:pic>
        <p:sp>
          <p:nvSpPr>
            <p:cNvPr id="7" name="Shape 3"/>
            <p:cNvSpPr/>
            <p:nvPr/>
          </p:nvSpPr>
          <p:spPr>
            <a:xfrm>
              <a:off x="457200" y="1294280"/>
              <a:ext cx="6949440" cy="4040840"/>
            </a:xfrm>
            <a:prstGeom prst="rect">
              <a:avLst/>
            </a:prstGeom>
            <a:ln w="12700">
              <a:solidFill>
                <a:srgbClr val="D9E3E9"/>
              </a:solidFill>
              <a:prstDash val="solid"/>
            </a:ln>
          </p:spPr>
          <p:txBody>
            <a:bodyPr/>
            <a:lstStyle/>
            <a:p>
              <a:endParaRPr lang="en-US"/>
            </a:p>
          </p:txBody>
        </p:sp>
        <p:sp>
          <p:nvSpPr>
            <p:cNvPr id="8" name="Shape 4"/>
            <p:cNvSpPr/>
            <p:nvPr/>
          </p:nvSpPr>
          <p:spPr>
            <a:xfrm>
              <a:off x="7772400" y="1188720"/>
              <a:ext cx="640080" cy="640080"/>
            </a:xfrm>
            <a:prstGeom prst="ellipse">
              <a:avLst/>
            </a:prstGeom>
            <a:solidFill>
              <a:srgbClr val="6F7780"/>
            </a:solidFill>
            <a:ln w="12700">
              <a:solidFill>
                <a:srgbClr val="6F7780"/>
              </a:solidFill>
              <a:prstDash val="solid"/>
            </a:ln>
          </p:spPr>
          <p:txBody>
            <a:bodyPr/>
            <a:lstStyle/>
            <a:p>
              <a:endParaRPr lang="en-US"/>
            </a:p>
          </p:txBody>
        </p:sp>
        <p:pic>
          <p:nvPicPr>
            <p:cNvPr id="9" name="Image 1" descr="preencoded.png"/>
            <p:cNvPicPr>
              <a:picLocks noChangeAspect="1"/>
            </p:cNvPicPr>
            <p:nvPr/>
          </p:nvPicPr>
          <p:blipFill>
            <a:blip r:embed="rId3"/>
            <a:stretch>
              <a:fillRect/>
            </a:stretch>
          </p:blipFill>
          <p:spPr>
            <a:xfrm>
              <a:off x="7926019" y="1342339"/>
              <a:ext cx="332842" cy="332842"/>
            </a:xfrm>
            <a:prstGeom prst="rect">
              <a:avLst/>
            </a:prstGeom>
          </p:spPr>
        </p:pic>
        <p:sp>
          <p:nvSpPr>
            <p:cNvPr id="10" name="Text 5"/>
            <p:cNvSpPr txBox="1"/>
            <p:nvPr/>
          </p:nvSpPr>
          <p:spPr>
            <a:xfrm>
              <a:off x="8549640" y="1188720"/>
              <a:ext cx="3108960" cy="640080"/>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Ảnh X-quang</a:t>
              </a:r>
              <a:endParaRPr lang="en-US" sz="1600" dirty="0"/>
            </a:p>
          </p:txBody>
        </p:sp>
        <p:sp>
          <p:nvSpPr>
            <p:cNvPr id="11" name="Shape 6"/>
            <p:cNvSpPr/>
            <p:nvPr/>
          </p:nvSpPr>
          <p:spPr>
            <a:xfrm>
              <a:off x="8092440" y="1847088"/>
              <a:ext cx="914" cy="192024"/>
            </a:xfrm>
            <a:prstGeom prst="line">
              <a:avLst/>
            </a:prstGeom>
            <a:noFill/>
            <a:ln w="25400">
              <a:solidFill>
                <a:srgbClr val="9AA7B0"/>
              </a:solidFill>
              <a:prstDash val="solid"/>
              <a:tailEnd type="triangle"/>
            </a:ln>
          </p:spPr>
          <p:txBody>
            <a:bodyPr/>
            <a:lstStyle/>
            <a:p>
              <a:endParaRPr lang="en-US"/>
            </a:p>
          </p:txBody>
        </p:sp>
        <p:sp>
          <p:nvSpPr>
            <p:cNvPr id="12" name="Shape 7"/>
            <p:cNvSpPr/>
            <p:nvPr/>
          </p:nvSpPr>
          <p:spPr>
            <a:xfrm>
              <a:off x="7772400" y="2057400"/>
              <a:ext cx="640080" cy="640080"/>
            </a:xfrm>
            <a:prstGeom prst="ellipse">
              <a:avLst/>
            </a:prstGeom>
            <a:solidFill>
              <a:srgbClr val="1F6F8B"/>
            </a:solidFill>
            <a:ln w="12700">
              <a:solidFill>
                <a:srgbClr val="1F6F8B"/>
              </a:solidFill>
              <a:prstDash val="solid"/>
            </a:ln>
          </p:spPr>
          <p:txBody>
            <a:bodyPr/>
            <a:lstStyle/>
            <a:p>
              <a:endParaRPr lang="en-US"/>
            </a:p>
          </p:txBody>
        </p:sp>
        <p:pic>
          <p:nvPicPr>
            <p:cNvPr id="13" name="Image 2" descr="preencoded.png"/>
            <p:cNvPicPr>
              <a:picLocks noChangeAspect="1"/>
            </p:cNvPicPr>
            <p:nvPr/>
          </p:nvPicPr>
          <p:blipFill>
            <a:blip r:embed="rId4"/>
            <a:stretch>
              <a:fillRect/>
            </a:stretch>
          </p:blipFill>
          <p:spPr>
            <a:xfrm>
              <a:off x="7926019" y="2211019"/>
              <a:ext cx="332842" cy="332842"/>
            </a:xfrm>
            <a:prstGeom prst="rect">
              <a:avLst/>
            </a:prstGeom>
          </p:spPr>
        </p:pic>
        <p:sp>
          <p:nvSpPr>
            <p:cNvPr id="14" name="Text 8"/>
            <p:cNvSpPr txBox="1"/>
            <p:nvPr/>
          </p:nvSpPr>
          <p:spPr>
            <a:xfrm>
              <a:off x="8549640" y="2057400"/>
              <a:ext cx="3108960" cy="640080"/>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Học sâu</a:t>
              </a:r>
              <a:endParaRPr lang="en-US" sz="1600" dirty="0"/>
            </a:p>
          </p:txBody>
        </p:sp>
        <p:sp>
          <p:nvSpPr>
            <p:cNvPr id="15" name="Shape 9"/>
            <p:cNvSpPr/>
            <p:nvPr/>
          </p:nvSpPr>
          <p:spPr>
            <a:xfrm>
              <a:off x="8092440" y="2715768"/>
              <a:ext cx="914" cy="192024"/>
            </a:xfrm>
            <a:prstGeom prst="line">
              <a:avLst/>
            </a:prstGeom>
            <a:noFill/>
            <a:ln w="25400">
              <a:solidFill>
                <a:srgbClr val="9AA7B0"/>
              </a:solidFill>
              <a:prstDash val="solid"/>
              <a:tailEnd type="triangle"/>
            </a:ln>
          </p:spPr>
          <p:txBody>
            <a:bodyPr/>
            <a:lstStyle/>
            <a:p>
              <a:endParaRPr lang="en-US"/>
            </a:p>
          </p:txBody>
        </p:sp>
        <p:sp>
          <p:nvSpPr>
            <p:cNvPr id="16" name="Shape 10"/>
            <p:cNvSpPr/>
            <p:nvPr/>
          </p:nvSpPr>
          <p:spPr>
            <a:xfrm>
              <a:off x="7772400" y="2926080"/>
              <a:ext cx="640080" cy="640080"/>
            </a:xfrm>
            <a:prstGeom prst="ellipse">
              <a:avLst/>
            </a:prstGeom>
            <a:solidFill>
              <a:srgbClr val="E08A2E"/>
            </a:solidFill>
            <a:ln w="12700">
              <a:solidFill>
                <a:srgbClr val="E08A2E"/>
              </a:solidFill>
              <a:prstDash val="solid"/>
            </a:ln>
          </p:spPr>
          <p:txBody>
            <a:bodyPr/>
            <a:lstStyle/>
            <a:p>
              <a:endParaRPr lang="en-US"/>
            </a:p>
          </p:txBody>
        </p:sp>
        <p:pic>
          <p:nvPicPr>
            <p:cNvPr id="17" name="Image 3" descr="preencoded.png"/>
            <p:cNvPicPr>
              <a:picLocks noChangeAspect="1"/>
            </p:cNvPicPr>
            <p:nvPr/>
          </p:nvPicPr>
          <p:blipFill>
            <a:blip r:embed="rId5"/>
            <a:stretch>
              <a:fillRect/>
            </a:stretch>
          </p:blipFill>
          <p:spPr>
            <a:xfrm>
              <a:off x="7926019" y="3079699"/>
              <a:ext cx="332842" cy="332842"/>
            </a:xfrm>
            <a:prstGeom prst="rect">
              <a:avLst/>
            </a:prstGeom>
          </p:spPr>
        </p:pic>
        <p:sp>
          <p:nvSpPr>
            <p:cNvPr id="18" name="Text 11"/>
            <p:cNvSpPr txBox="1"/>
            <p:nvPr/>
          </p:nvSpPr>
          <p:spPr>
            <a:xfrm>
              <a:off x="8549640" y="2926080"/>
              <a:ext cx="3108960" cy="640080"/>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Khoanh vùng tổn thương</a:t>
              </a:r>
              <a:endParaRPr lang="en-US" sz="1600" dirty="0"/>
            </a:p>
          </p:txBody>
        </p:sp>
        <p:sp>
          <p:nvSpPr>
            <p:cNvPr id="19" name="Shape 12"/>
            <p:cNvSpPr/>
            <p:nvPr/>
          </p:nvSpPr>
          <p:spPr>
            <a:xfrm>
              <a:off x="8092440" y="3584448"/>
              <a:ext cx="914" cy="192024"/>
            </a:xfrm>
            <a:prstGeom prst="line">
              <a:avLst/>
            </a:prstGeom>
            <a:noFill/>
            <a:ln w="25400">
              <a:solidFill>
                <a:srgbClr val="9AA7B0"/>
              </a:solidFill>
              <a:prstDash val="solid"/>
              <a:tailEnd type="triangle"/>
            </a:ln>
          </p:spPr>
          <p:txBody>
            <a:bodyPr/>
            <a:lstStyle/>
            <a:p>
              <a:endParaRPr lang="en-US"/>
            </a:p>
          </p:txBody>
        </p:sp>
        <p:sp>
          <p:nvSpPr>
            <p:cNvPr id="20" name="Shape 13"/>
            <p:cNvSpPr/>
            <p:nvPr/>
          </p:nvSpPr>
          <p:spPr>
            <a:xfrm>
              <a:off x="7772400" y="3794760"/>
              <a:ext cx="640080" cy="640080"/>
            </a:xfrm>
            <a:prstGeom prst="ellipse">
              <a:avLst/>
            </a:prstGeom>
            <a:solidFill>
              <a:srgbClr val="A80000"/>
            </a:solidFill>
            <a:ln w="12700">
              <a:solidFill>
                <a:srgbClr val="A80000"/>
              </a:solidFill>
              <a:prstDash val="solid"/>
            </a:ln>
          </p:spPr>
          <p:txBody>
            <a:bodyPr/>
            <a:lstStyle/>
            <a:p>
              <a:endParaRPr lang="en-US"/>
            </a:p>
          </p:txBody>
        </p:sp>
        <p:pic>
          <p:nvPicPr>
            <p:cNvPr id="21" name="Image 4" descr="preencoded.png"/>
            <p:cNvPicPr>
              <a:picLocks noChangeAspect="1"/>
            </p:cNvPicPr>
            <p:nvPr/>
          </p:nvPicPr>
          <p:blipFill>
            <a:blip r:embed="rId6"/>
            <a:stretch>
              <a:fillRect/>
            </a:stretch>
          </p:blipFill>
          <p:spPr>
            <a:xfrm>
              <a:off x="7926019" y="3948379"/>
              <a:ext cx="332842" cy="332842"/>
            </a:xfrm>
            <a:prstGeom prst="rect">
              <a:avLst/>
            </a:prstGeom>
          </p:spPr>
        </p:pic>
        <p:sp>
          <p:nvSpPr>
            <p:cNvPr id="22" name="Text 14"/>
            <p:cNvSpPr txBox="1"/>
            <p:nvPr/>
          </p:nvSpPr>
          <p:spPr>
            <a:xfrm>
              <a:off x="8549640" y="3794760"/>
              <a:ext cx="3108960" cy="640080"/>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Bác sĩ xác nhận</a:t>
              </a:r>
              <a:endParaRPr lang="en-US" sz="1600" dirty="0"/>
            </a:p>
          </p:txBody>
        </p:sp>
        <p:sp>
          <p:nvSpPr>
            <p:cNvPr id="23" name="Shape 15"/>
            <p:cNvSpPr/>
            <p:nvPr/>
          </p:nvSpPr>
          <p:spPr>
            <a:xfrm>
              <a:off x="7680960" y="4663440"/>
              <a:ext cx="1938528" cy="1280160"/>
            </a:xfrm>
            <a:prstGeom prst="roundRect">
              <a:avLst>
                <a:gd name="adj" fmla="val 5714"/>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24" name="Text 16"/>
            <p:cNvSpPr txBox="1"/>
            <p:nvPr/>
          </p:nvSpPr>
          <p:spPr>
            <a:xfrm>
              <a:off x="7680960" y="4736592"/>
              <a:ext cx="1938528" cy="704088"/>
            </a:xfrm>
            <a:prstGeom prst="rect">
              <a:avLst/>
            </a:prstGeom>
            <a:noFill/>
            <a:ln/>
          </p:spPr>
          <p:txBody>
            <a:bodyPr wrap="square" lIns="0" tIns="0" rIns="0" bIns="0" rtlCol="0" anchor="ctr"/>
            <a:lstStyle/>
            <a:p>
              <a:pPr marL="0" indent="0" algn="ctr">
                <a:buNone/>
              </a:pPr>
              <a:r>
                <a:rPr lang="en-US" sz="2400" b="1" dirty="0">
                  <a:solidFill>
                    <a:srgbClr val="E08A2E"/>
                  </a:solidFill>
                  <a:latin typeface="Cambria" pitchFamily="34" charset="0"/>
                  <a:ea typeface="Cambria" pitchFamily="34" charset="-122"/>
                  <a:cs typeface="Cambria" pitchFamily="34" charset="-120"/>
                </a:rPr>
                <a:t>QG.20.51</a:t>
              </a:r>
              <a:endParaRPr lang="en-US" sz="2400" dirty="0"/>
            </a:p>
          </p:txBody>
        </p:sp>
        <p:sp>
          <p:nvSpPr>
            <p:cNvPr id="25" name="Text 17"/>
            <p:cNvSpPr txBox="1"/>
            <p:nvPr/>
          </p:nvSpPr>
          <p:spPr>
            <a:xfrm>
              <a:off x="7772400" y="5405933"/>
              <a:ext cx="1755648" cy="512064"/>
            </a:xfrm>
            <a:prstGeom prst="rect">
              <a:avLst/>
            </a:prstGeom>
            <a:noFill/>
            <a:ln/>
          </p:spPr>
          <p:txBody>
            <a:bodyPr wrap="square" lIns="0" tIns="0" rIns="0" bIns="0" rtlCol="0" anchor="t"/>
            <a:lstStyle/>
            <a:p>
              <a:pPr marL="0" indent="0" algn="ctr">
                <a:buNone/>
              </a:pPr>
              <a:r>
                <a:rPr lang="en-US" sz="1250" dirty="0">
                  <a:solidFill>
                    <a:srgbClr val="1E2A32"/>
                  </a:solidFill>
                  <a:latin typeface="Calibri" pitchFamily="34" charset="0"/>
                  <a:ea typeface="Calibri" pitchFamily="34" charset="-122"/>
                  <a:cs typeface="Calibri" pitchFamily="34" charset="-120"/>
                </a:rPr>
                <a:t>đề tài cấp ĐHQGHN</a:t>
              </a:r>
              <a:endParaRPr lang="en-US" sz="1250" dirty="0"/>
            </a:p>
          </p:txBody>
        </p:sp>
        <p:sp>
          <p:nvSpPr>
            <p:cNvPr id="26" name="Shape 18"/>
            <p:cNvSpPr/>
            <p:nvPr/>
          </p:nvSpPr>
          <p:spPr>
            <a:xfrm>
              <a:off x="9756648" y="4663440"/>
              <a:ext cx="1938528" cy="1280160"/>
            </a:xfrm>
            <a:prstGeom prst="roundRect">
              <a:avLst>
                <a:gd name="adj" fmla="val 5714"/>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27" name="Text 19"/>
            <p:cNvSpPr txBox="1"/>
            <p:nvPr/>
          </p:nvSpPr>
          <p:spPr>
            <a:xfrm>
              <a:off x="9756648" y="4736592"/>
              <a:ext cx="1938528" cy="704088"/>
            </a:xfrm>
            <a:prstGeom prst="rect">
              <a:avLst/>
            </a:prstGeom>
            <a:noFill/>
            <a:ln/>
          </p:spPr>
          <p:txBody>
            <a:bodyPr wrap="square" lIns="0" tIns="0" rIns="0" bIns="0" rtlCol="0" anchor="ctr"/>
            <a:lstStyle/>
            <a:p>
              <a:pPr marL="0" indent="0" algn="ctr">
                <a:buNone/>
              </a:pPr>
              <a:r>
                <a:rPr lang="en-US" sz="2400" b="1" dirty="0">
                  <a:solidFill>
                    <a:srgbClr val="A80000"/>
                  </a:solidFill>
                  <a:latin typeface="Cambria" pitchFamily="34" charset="0"/>
                  <a:ea typeface="Cambria" pitchFamily="34" charset="-122"/>
                  <a:cs typeface="Cambria" pitchFamily="34" charset="-120"/>
                </a:rPr>
                <a:t>BV ĐH Y HN</a:t>
              </a:r>
              <a:endParaRPr lang="en-US" sz="2400" dirty="0"/>
            </a:p>
          </p:txBody>
        </p:sp>
        <p:sp>
          <p:nvSpPr>
            <p:cNvPr id="28" name="Text 20"/>
            <p:cNvSpPr txBox="1"/>
            <p:nvPr/>
          </p:nvSpPr>
          <p:spPr>
            <a:xfrm>
              <a:off x="9848088" y="5405933"/>
              <a:ext cx="1755648" cy="512064"/>
            </a:xfrm>
            <a:prstGeom prst="rect">
              <a:avLst/>
            </a:prstGeom>
            <a:noFill/>
            <a:ln/>
          </p:spPr>
          <p:txBody>
            <a:bodyPr wrap="square" lIns="0" tIns="0" rIns="0" bIns="0" rtlCol="0" anchor="t"/>
            <a:lstStyle/>
            <a:p>
              <a:pPr marL="0" indent="0" algn="ctr">
                <a:buNone/>
              </a:pPr>
              <a:r>
                <a:rPr lang="en-US" sz="1250" dirty="0">
                  <a:solidFill>
                    <a:srgbClr val="1E2A32"/>
                  </a:solidFill>
                  <a:latin typeface="Calibri" pitchFamily="34" charset="0"/>
                  <a:ea typeface="Calibri" pitchFamily="34" charset="-122"/>
                  <a:cs typeface="Calibri" pitchFamily="34" charset="-120"/>
                </a:rPr>
                <a:t>ứng dụng thực tế (9/2026)</a:t>
              </a:r>
              <a:endParaRPr lang="en-US" sz="1250" dirty="0"/>
            </a:p>
          </p:txBody>
        </p:sp>
      </p:grpSp>
      <p:sp>
        <p:nvSpPr>
          <p:cNvPr id="29" name="Text 21"/>
          <p:cNvSpPr txBox="1"/>
          <p:nvPr/>
        </p:nvSpPr>
        <p:spPr>
          <a:xfrm>
            <a:off x="457200" y="6144768"/>
            <a:ext cx="685800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Nguồn: tham luận, mục 3</a:t>
            </a:r>
            <a:endParaRPr lang="en-US" sz="1000" dirty="0"/>
          </a:p>
        </p:txBody>
      </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Video: VNU-DIAGNOSIS chẩn đoán viêm quanh cuống</a:t>
            </a:r>
            <a:endParaRPr lang="en-US" sz="2800" dirty="0"/>
          </a:p>
        </p:txBody>
      </p:sp>
      <p:sp>
        <p:nvSpPr>
          <p:cNvPr id="3" name="Shape 1"/>
          <p:cNvSpPr/>
          <p:nvPr/>
        </p:nvSpPr>
        <p:spPr>
          <a:xfrm>
            <a:off x="457200" y="6510528"/>
            <a:ext cx="128016" cy="128016"/>
          </a:xfrm>
          <a:prstGeom prst="ellipse">
            <a:avLst/>
          </a:prstGeom>
          <a:solidFill>
            <a:srgbClr val="E08A2E"/>
          </a:solidFill>
          <a:ln w="12700">
            <a:solidFill>
              <a:srgbClr val="E08A2E"/>
            </a:solidFill>
            <a:prstDash val="solid"/>
          </a:ln>
        </p:spPr>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E08A2E"/>
                </a:solidFill>
                <a:latin typeface="Calibri" pitchFamily="34" charset="0"/>
                <a:ea typeface="Calibri" pitchFamily="34" charset="-122"/>
                <a:cs typeface="Calibri" pitchFamily="34" charset="-120"/>
              </a:rPr>
              <a:t>3 · SẢN PHẨM VIỆN CNTT</a:t>
            </a:r>
            <a:endParaRPr lang="en-US" sz="11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20</a:t>
            </a:fld>
            <a:endParaRPr lang="en-US"/>
          </a:p>
        </p:txBody>
      </p:sp>
      <p:grpSp>
        <p:nvGrpSpPr>
          <p:cNvPr id="5" name="Group 4">
            <a:extLst>
              <a:ext uri="{FF2B5EF4-FFF2-40B4-BE49-F238E27FC236}">
                <a16:creationId xmlns:a16="http://schemas.microsoft.com/office/drawing/2014/main" id="{79A3FA41-1E2D-A360-F850-CC9BEC7492A3}"/>
              </a:ext>
            </a:extLst>
          </p:cNvPr>
          <p:cNvGrpSpPr/>
          <p:nvPr/>
        </p:nvGrpSpPr>
        <p:grpSpPr>
          <a:xfrm>
            <a:off x="457200" y="1143000"/>
            <a:ext cx="11292840" cy="4983480"/>
            <a:chOff x="457200" y="1143000"/>
            <a:chExt cx="11292840" cy="4983480"/>
          </a:xfrm>
        </p:grpSpPr>
        <p:sp>
          <p:nvSpPr>
            <p:cNvPr id="7" name="Shape 3"/>
            <p:cNvSpPr/>
            <p:nvPr/>
          </p:nvSpPr>
          <p:spPr>
            <a:xfrm>
              <a:off x="457200" y="1143000"/>
              <a:ext cx="7863840" cy="4423410"/>
            </a:xfrm>
            <a:prstGeom prst="rect">
              <a:avLst/>
            </a:prstGeom>
            <a:ln w="12700">
              <a:solidFill>
                <a:srgbClr val="D9E3E9"/>
              </a:solidFill>
              <a:prstDash val="solid"/>
            </a:ln>
          </p:spPr>
        </p:sp>
        <p:sp>
          <p:nvSpPr>
            <p:cNvPr id="8" name="Text 4"/>
            <p:cNvSpPr txBox="1"/>
            <p:nvPr/>
          </p:nvSpPr>
          <p:spPr>
            <a:xfrm>
              <a:off x="8595360" y="1143000"/>
              <a:ext cx="3154680" cy="868680"/>
            </a:xfrm>
            <a:prstGeom prst="rect">
              <a:avLst/>
            </a:prstGeom>
            <a:noFill/>
            <a:ln/>
          </p:spPr>
          <p:txBody>
            <a:bodyPr wrap="square" lIns="0" tIns="0" rIns="0" bIns="0" rtlCol="0" anchor="t"/>
            <a:lstStyle/>
            <a:p>
              <a:pPr marL="0" indent="0">
                <a:buNone/>
              </a:pPr>
              <a:r>
                <a:rPr lang="en-US" sz="1500" b="1" i="1" dirty="0">
                  <a:solidFill>
                    <a:srgbClr val="13293D"/>
                  </a:solidFill>
                  <a:latin typeface="Cambria" pitchFamily="34" charset="0"/>
                  <a:ea typeface="Cambria" pitchFamily="34" charset="-122"/>
                  <a:cs typeface="Cambria" pitchFamily="34" charset="-120"/>
                </a:rPr>
                <a:t>The system for diagnosis of periodontitis from dental X-ray images</a:t>
              </a:r>
              <a:endParaRPr lang="en-US" sz="1500" dirty="0"/>
            </a:p>
          </p:txBody>
        </p:sp>
        <p:sp>
          <p:nvSpPr>
            <p:cNvPr id="9" name="Text 5"/>
            <p:cNvSpPr txBox="1"/>
            <p:nvPr/>
          </p:nvSpPr>
          <p:spPr>
            <a:xfrm>
              <a:off x="8595360" y="2011680"/>
              <a:ext cx="3154680" cy="274320"/>
            </a:xfrm>
            <a:prstGeom prst="rect">
              <a:avLst/>
            </a:prstGeom>
            <a:noFill/>
            <a:ln/>
          </p:spPr>
          <p:txBody>
            <a:bodyPr wrap="square" lIns="0" tIns="0" rIns="0" bIns="0" rtlCol="0" anchor="t"/>
            <a:lstStyle/>
            <a:p>
              <a:pPr marL="0" indent="0">
                <a:buNone/>
              </a:pPr>
              <a:r>
                <a:rPr lang="en-US" sz="1200" dirty="0">
                  <a:solidFill>
                    <a:srgbClr val="5B6B76"/>
                  </a:solidFill>
                  <a:latin typeface="Calibri" pitchFamily="34" charset="0"/>
                  <a:ea typeface="Calibri" pitchFamily="34" charset="-122"/>
                  <a:cs typeface="Calibri" pitchFamily="34" charset="-120"/>
                </a:rPr>
                <a:t>V-Seminar · 22/10/2021</a:t>
              </a:r>
              <a:endParaRPr lang="en-US" sz="1200" dirty="0"/>
            </a:p>
          </p:txBody>
        </p:sp>
        <p:sp>
          <p:nvSpPr>
            <p:cNvPr id="10" name="Text 6"/>
            <p:cNvSpPr txBox="1"/>
            <p:nvPr/>
          </p:nvSpPr>
          <p:spPr>
            <a:xfrm>
              <a:off x="8595360" y="2423160"/>
              <a:ext cx="3154680" cy="292608"/>
            </a:xfrm>
            <a:prstGeom prst="rect">
              <a:avLst/>
            </a:prstGeom>
            <a:noFill/>
            <a:ln/>
          </p:spPr>
          <p:txBody>
            <a:bodyPr wrap="square" lIns="0" tIns="0" rIns="0" bIns="0" rtlCol="0" anchor="t"/>
            <a:lstStyle/>
            <a:p>
              <a:pPr marL="0" indent="0">
                <a:buNone/>
              </a:pPr>
              <a:r>
                <a:rPr lang="en-US" sz="1250" b="1" dirty="0">
                  <a:solidFill>
                    <a:srgbClr val="5B6B76"/>
                  </a:solidFill>
                  <a:latin typeface="Calibri" pitchFamily="34" charset="0"/>
                  <a:ea typeface="Calibri" pitchFamily="34" charset="-122"/>
                  <a:cs typeface="Calibri" pitchFamily="34" charset="-120"/>
                </a:rPr>
                <a:t>Xem trong video</a:t>
              </a:r>
              <a:endParaRPr lang="en-US" sz="1250" dirty="0"/>
            </a:p>
          </p:txBody>
        </p:sp>
        <p:sp>
          <p:nvSpPr>
            <p:cNvPr id="11" name="Shape 7"/>
            <p:cNvSpPr/>
            <p:nvPr/>
          </p:nvSpPr>
          <p:spPr>
            <a:xfrm>
              <a:off x="8595360" y="2788920"/>
              <a:ext cx="438912" cy="438912"/>
            </a:xfrm>
            <a:prstGeom prst="ellipse">
              <a:avLst/>
            </a:prstGeom>
            <a:solidFill>
              <a:srgbClr val="6F7780"/>
            </a:solidFill>
            <a:ln w="12700">
              <a:solidFill>
                <a:srgbClr val="6F7780"/>
              </a:solidFill>
              <a:prstDash val="solid"/>
            </a:ln>
          </p:spPr>
        </p:sp>
        <p:pic>
          <p:nvPicPr>
            <p:cNvPr id="12" name="Image 0" descr="preencoded.png"/>
            <p:cNvPicPr>
              <a:picLocks noChangeAspect="1"/>
            </p:cNvPicPr>
            <p:nvPr/>
          </p:nvPicPr>
          <p:blipFill>
            <a:blip r:embed="rId3"/>
            <a:stretch>
              <a:fillRect/>
            </a:stretch>
          </p:blipFill>
          <p:spPr>
            <a:xfrm>
              <a:off x="8700699" y="2894259"/>
              <a:ext cx="228234" cy="228234"/>
            </a:xfrm>
            <a:prstGeom prst="rect">
              <a:avLst/>
            </a:prstGeom>
          </p:spPr>
        </p:pic>
        <p:sp>
          <p:nvSpPr>
            <p:cNvPr id="13" name="Text 8"/>
            <p:cNvSpPr txBox="1"/>
            <p:nvPr/>
          </p:nvSpPr>
          <p:spPr>
            <a:xfrm>
              <a:off x="9144000" y="2788920"/>
              <a:ext cx="2606040" cy="438912"/>
            </a:xfrm>
            <a:prstGeom prst="rect">
              <a:avLst/>
            </a:prstGeom>
            <a:noFill/>
            <a:ln/>
          </p:spPr>
          <p:txBody>
            <a:bodyPr wrap="square" lIns="0" tIns="0" rIns="0" bIns="0" rtlCol="0" anchor="ctr"/>
            <a:lstStyle/>
            <a:p>
              <a:pPr marL="0" indent="0">
                <a:buNone/>
              </a:pPr>
              <a:r>
                <a:rPr lang="en-US" sz="1350" b="1" dirty="0">
                  <a:solidFill>
                    <a:srgbClr val="13293D"/>
                  </a:solidFill>
                  <a:latin typeface="Calibri" pitchFamily="34" charset="0"/>
                  <a:ea typeface="Calibri" pitchFamily="34" charset="-122"/>
                  <a:cs typeface="Calibri" pitchFamily="34" charset="-120"/>
                </a:rPr>
                <a:t>Ảnh X-quang nha khoa</a:t>
              </a:r>
              <a:endParaRPr lang="en-US" sz="1350" dirty="0"/>
            </a:p>
          </p:txBody>
        </p:sp>
        <p:sp>
          <p:nvSpPr>
            <p:cNvPr id="14" name="Shape 9"/>
            <p:cNvSpPr/>
            <p:nvPr/>
          </p:nvSpPr>
          <p:spPr>
            <a:xfrm>
              <a:off x="8595360" y="3355848"/>
              <a:ext cx="438912" cy="438912"/>
            </a:xfrm>
            <a:prstGeom prst="ellipse">
              <a:avLst/>
            </a:prstGeom>
            <a:solidFill>
              <a:srgbClr val="E08A2E"/>
            </a:solidFill>
            <a:ln w="12700">
              <a:solidFill>
                <a:srgbClr val="E08A2E"/>
              </a:solidFill>
              <a:prstDash val="solid"/>
            </a:ln>
          </p:spPr>
        </p:sp>
        <p:pic>
          <p:nvPicPr>
            <p:cNvPr id="15" name="Image 1" descr="preencoded.png"/>
            <p:cNvPicPr>
              <a:picLocks noChangeAspect="1"/>
            </p:cNvPicPr>
            <p:nvPr/>
          </p:nvPicPr>
          <p:blipFill>
            <a:blip r:embed="rId4"/>
            <a:stretch>
              <a:fillRect/>
            </a:stretch>
          </p:blipFill>
          <p:spPr>
            <a:xfrm>
              <a:off x="8700699" y="3461187"/>
              <a:ext cx="228234" cy="228234"/>
            </a:xfrm>
            <a:prstGeom prst="rect">
              <a:avLst/>
            </a:prstGeom>
          </p:spPr>
        </p:pic>
        <p:sp>
          <p:nvSpPr>
            <p:cNvPr id="16" name="Text 10"/>
            <p:cNvSpPr txBox="1"/>
            <p:nvPr/>
          </p:nvSpPr>
          <p:spPr>
            <a:xfrm>
              <a:off x="9144000" y="3355848"/>
              <a:ext cx="2606040" cy="438912"/>
            </a:xfrm>
            <a:prstGeom prst="rect">
              <a:avLst/>
            </a:prstGeom>
            <a:noFill/>
            <a:ln/>
          </p:spPr>
          <p:txBody>
            <a:bodyPr wrap="square" lIns="0" tIns="0" rIns="0" bIns="0" rtlCol="0" anchor="ctr"/>
            <a:lstStyle/>
            <a:p>
              <a:pPr marL="0" indent="0">
                <a:buNone/>
              </a:pPr>
              <a:r>
                <a:rPr lang="en-US" sz="1350" b="1" dirty="0">
                  <a:solidFill>
                    <a:srgbClr val="13293D"/>
                  </a:solidFill>
                  <a:latin typeface="Calibri" pitchFamily="34" charset="0"/>
                  <a:ea typeface="Calibri" pitchFamily="34" charset="-122"/>
                  <a:cs typeface="Calibri" pitchFamily="34" charset="-120"/>
                </a:rPr>
                <a:t>Khoanh vùng tổn thương</a:t>
              </a:r>
              <a:endParaRPr lang="en-US" sz="1350" dirty="0"/>
            </a:p>
          </p:txBody>
        </p:sp>
        <p:sp>
          <p:nvSpPr>
            <p:cNvPr id="17" name="Shape 11"/>
            <p:cNvSpPr/>
            <p:nvPr/>
          </p:nvSpPr>
          <p:spPr>
            <a:xfrm>
              <a:off x="8595360" y="3922776"/>
              <a:ext cx="438912" cy="438912"/>
            </a:xfrm>
            <a:prstGeom prst="ellipse">
              <a:avLst/>
            </a:prstGeom>
            <a:solidFill>
              <a:srgbClr val="A80000"/>
            </a:solidFill>
            <a:ln w="12700">
              <a:solidFill>
                <a:srgbClr val="A80000"/>
              </a:solidFill>
              <a:prstDash val="solid"/>
            </a:ln>
          </p:spPr>
        </p:sp>
        <p:pic>
          <p:nvPicPr>
            <p:cNvPr id="18" name="Image 2" descr="preencoded.png"/>
            <p:cNvPicPr>
              <a:picLocks noChangeAspect="1"/>
            </p:cNvPicPr>
            <p:nvPr/>
          </p:nvPicPr>
          <p:blipFill>
            <a:blip r:embed="rId5"/>
            <a:stretch>
              <a:fillRect/>
            </a:stretch>
          </p:blipFill>
          <p:spPr>
            <a:xfrm>
              <a:off x="8700699" y="4028115"/>
              <a:ext cx="228234" cy="228234"/>
            </a:xfrm>
            <a:prstGeom prst="rect">
              <a:avLst/>
            </a:prstGeom>
          </p:spPr>
        </p:pic>
        <p:sp>
          <p:nvSpPr>
            <p:cNvPr id="19" name="Text 12"/>
            <p:cNvSpPr txBox="1"/>
            <p:nvPr/>
          </p:nvSpPr>
          <p:spPr>
            <a:xfrm>
              <a:off x="9144000" y="3922776"/>
              <a:ext cx="2606040" cy="438912"/>
            </a:xfrm>
            <a:prstGeom prst="rect">
              <a:avLst/>
            </a:prstGeom>
            <a:noFill/>
            <a:ln/>
          </p:spPr>
          <p:txBody>
            <a:bodyPr wrap="square" lIns="0" tIns="0" rIns="0" bIns="0" rtlCol="0" anchor="ctr"/>
            <a:lstStyle/>
            <a:p>
              <a:pPr marL="0" indent="0">
                <a:buNone/>
              </a:pPr>
              <a:r>
                <a:rPr lang="en-US" sz="1350" b="1" dirty="0">
                  <a:solidFill>
                    <a:srgbClr val="13293D"/>
                  </a:solidFill>
                  <a:latin typeface="Calibri" pitchFamily="34" charset="0"/>
                  <a:ea typeface="Calibri" pitchFamily="34" charset="-122"/>
                  <a:cs typeface="Calibri" pitchFamily="34" charset="-120"/>
                </a:rPr>
                <a:t>Bác sĩ xem, phản hồi</a:t>
              </a:r>
              <a:endParaRPr lang="en-US" sz="1350" dirty="0"/>
            </a:p>
          </p:txBody>
        </p:sp>
        <p:pic>
          <p:nvPicPr>
            <p:cNvPr id="20" name="Image 3" descr="/home/claude/v5/img/qr_dental.png">
              <a:hlinkClick r:id="rId6" tooltip="Mở trên YouTube"/>
            </p:cNvPr>
            <p:cNvPicPr>
              <a:picLocks noChangeAspect="1"/>
            </p:cNvPicPr>
            <p:nvPr/>
          </p:nvPicPr>
          <p:blipFill>
            <a:blip r:embed="rId7"/>
            <a:stretch>
              <a:fillRect/>
            </a:stretch>
          </p:blipFill>
          <p:spPr>
            <a:xfrm>
              <a:off x="9646920" y="4434840"/>
              <a:ext cx="1024128" cy="1024128"/>
            </a:xfrm>
            <a:prstGeom prst="rect">
              <a:avLst/>
            </a:prstGeom>
          </p:spPr>
        </p:pic>
        <p:sp>
          <p:nvSpPr>
            <p:cNvPr id="21" name="Text 13"/>
            <p:cNvSpPr txBox="1"/>
            <p:nvPr/>
          </p:nvSpPr>
          <p:spPr>
            <a:xfrm>
              <a:off x="9098280" y="5486400"/>
              <a:ext cx="2121408" cy="274320"/>
            </a:xfrm>
            <a:prstGeom prst="rect">
              <a:avLst/>
            </a:prstGeom>
            <a:noFill/>
            <a:ln/>
          </p:spPr>
          <p:txBody>
            <a:bodyPr wrap="square" lIns="0" tIns="0" rIns="0" bIns="0" rtlCol="0" anchor="t"/>
            <a:lstStyle/>
            <a:p>
              <a:pPr marL="0" indent="0" algn="ctr">
                <a:buNone/>
              </a:pPr>
              <a:r>
                <a:rPr lang="en-US" sz="1050" b="1" u="sng" dirty="0">
                  <a:solidFill>
                    <a:srgbClr val="A80000"/>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youtu.be/FvY-YQ9O46k</a:t>
              </a:r>
              <a:endParaRPr lang="en-US" sz="1050" dirty="0"/>
            </a:p>
          </p:txBody>
        </p:sp>
        <p:sp>
          <p:nvSpPr>
            <p:cNvPr id="22" name="Shape 14"/>
            <p:cNvSpPr/>
            <p:nvPr/>
          </p:nvSpPr>
          <p:spPr>
            <a:xfrm>
              <a:off x="457200" y="5715000"/>
              <a:ext cx="11274552" cy="411480"/>
            </a:xfrm>
            <a:prstGeom prst="roundRect">
              <a:avLst>
                <a:gd name="adj" fmla="val 50000"/>
              </a:avLst>
            </a:prstGeom>
            <a:solidFill>
              <a:srgbClr val="FBEAEA"/>
            </a:solidFill>
            <a:ln w="12700">
              <a:solidFill>
                <a:srgbClr val="F1CACA"/>
              </a:solidFill>
              <a:prstDash val="solid"/>
            </a:ln>
          </p:spPr>
        </p:sp>
        <p:sp>
          <p:nvSpPr>
            <p:cNvPr id="23" name="Text 15"/>
            <p:cNvSpPr txBox="1"/>
            <p:nvPr/>
          </p:nvSpPr>
          <p:spPr>
            <a:xfrm>
              <a:off x="640080" y="5715000"/>
              <a:ext cx="10908792" cy="411480"/>
            </a:xfrm>
            <a:prstGeom prst="rect">
              <a:avLst/>
            </a:prstGeom>
            <a:noFill/>
            <a:ln/>
          </p:spPr>
          <p:txBody>
            <a:bodyPr wrap="square" lIns="0" tIns="0" rIns="0" bIns="0" rtlCol="0" anchor="ctr"/>
            <a:lstStyle/>
            <a:p>
              <a:pPr marL="0" indent="0" algn="ctr">
                <a:buNone/>
              </a:pPr>
              <a:r>
                <a:rPr lang="en-US" sz="1700" b="1" dirty="0">
                  <a:solidFill>
                    <a:srgbClr val="A80000"/>
                  </a:solidFill>
                  <a:latin typeface="Calibri" pitchFamily="34" charset="0"/>
                  <a:ea typeface="Calibri" pitchFamily="34" charset="-122"/>
                  <a:cs typeface="Calibri" pitchFamily="34" charset="-120"/>
                </a:rPr>
                <a:t>Bấm vào ảnh video để xem trên YouTube </a:t>
              </a:r>
              <a:r>
                <a:rPr lang="en-US" sz="1700" dirty="0">
                  <a:solidFill>
                    <a:srgbClr val="1E2A32"/>
                  </a:solidFill>
                  <a:latin typeface="Calibri" pitchFamily="34" charset="0"/>
                  <a:ea typeface="Calibri" pitchFamily="34" charset="-122"/>
                  <a:cs typeface="Calibri" pitchFamily="34" charset="-120"/>
                </a:rPr>
                <a:t>· cần Internet, hoặc quét mã QR bằng điện thoại</a:t>
              </a:r>
              <a:endParaRPr lang="en-US" sz="1700" dirty="0"/>
            </a:p>
          </p:txBody>
        </p:sp>
        <p:pic>
          <p:nvPicPr>
            <p:cNvPr id="6" name="Online Media 5" title="VNU R The system for diagnosis of periodontitis from dental X ray images  22/10/2021">
              <a:hlinkClick r:id="" action="ppaction://media"/>
              <a:extLst>
                <a:ext uri="{FF2B5EF4-FFF2-40B4-BE49-F238E27FC236}">
                  <a16:creationId xmlns:a16="http://schemas.microsoft.com/office/drawing/2014/main" id="{793E5325-F974-9E4F-5F3C-C258AD5EFCB2}"/>
                </a:ext>
              </a:extLst>
            </p:cNvPr>
            <p:cNvPicPr>
              <a:picLocks noRot="1" noChangeAspect="1"/>
            </p:cNvPicPr>
            <p:nvPr>
              <a:videoFile r:link="rId1"/>
            </p:nvPr>
          </p:nvPicPr>
          <p:blipFill>
            <a:blip r:embed="rId8"/>
            <a:stretch>
              <a:fillRect/>
            </a:stretch>
          </p:blipFill>
          <p:spPr>
            <a:xfrm>
              <a:off x="521208" y="1207008"/>
              <a:ext cx="7799832" cy="4305300"/>
            </a:xfrm>
            <a:prstGeom prst="rect">
              <a:avLst/>
            </a:prstGeom>
          </p:spPr>
        </p:pic>
      </p:gr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AIRC-KNEE: đánh giá thoái hóa khớp gối</a:t>
            </a:r>
            <a:endParaRPr lang="en-US" sz="2800" dirty="0"/>
          </a:p>
        </p:txBody>
      </p:sp>
      <p:sp>
        <p:nvSpPr>
          <p:cNvPr id="3" name="Shape 1"/>
          <p:cNvSpPr/>
          <p:nvPr/>
        </p:nvSpPr>
        <p:spPr>
          <a:xfrm>
            <a:off x="457200" y="6510528"/>
            <a:ext cx="128016" cy="128016"/>
          </a:xfrm>
          <a:prstGeom prst="ellipse">
            <a:avLst/>
          </a:prstGeom>
          <a:solidFill>
            <a:srgbClr val="E08A2E"/>
          </a:solidFill>
          <a:ln w="12700">
            <a:solidFill>
              <a:srgbClr val="E08A2E"/>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E08A2E"/>
                </a:solidFill>
                <a:latin typeface="Calibri" pitchFamily="34" charset="0"/>
                <a:ea typeface="Calibri" pitchFamily="34" charset="-122"/>
                <a:cs typeface="Calibri" pitchFamily="34" charset="-120"/>
              </a:rPr>
              <a:t>3 · SẢN PHẨM VIỆN CNTT</a:t>
            </a:r>
            <a:endParaRPr lang="en-US" sz="1100" dirty="0"/>
          </a:p>
        </p:txBody>
      </p:sp>
      <p:grpSp>
        <p:nvGrpSpPr>
          <p:cNvPr id="39" name="Group 38">
            <a:extLst>
              <a:ext uri="{FF2B5EF4-FFF2-40B4-BE49-F238E27FC236}">
                <a16:creationId xmlns:a16="http://schemas.microsoft.com/office/drawing/2014/main" id="{D81E8EAC-605C-BA80-EE34-8766E5C2F1E8}"/>
              </a:ext>
            </a:extLst>
          </p:cNvPr>
          <p:cNvGrpSpPr/>
          <p:nvPr/>
        </p:nvGrpSpPr>
        <p:grpSpPr>
          <a:xfrm>
            <a:off x="457200" y="1143000"/>
            <a:ext cx="11247120" cy="5239512"/>
            <a:chOff x="457200" y="1143000"/>
            <a:chExt cx="11247120" cy="5239512"/>
          </a:xfrm>
        </p:grpSpPr>
        <p:pic>
          <p:nvPicPr>
            <p:cNvPr id="6" name="Image 0" descr="/home/claude/v3/pimg/i-003.png"/>
            <p:cNvPicPr>
              <a:picLocks noChangeAspect="1"/>
            </p:cNvPicPr>
            <p:nvPr/>
          </p:nvPicPr>
          <p:blipFill>
            <a:blip r:embed="rId2"/>
            <a:stretch>
              <a:fillRect/>
            </a:stretch>
          </p:blipFill>
          <p:spPr>
            <a:xfrm>
              <a:off x="457200" y="1287726"/>
              <a:ext cx="6217920" cy="4556868"/>
            </a:xfrm>
            <a:prstGeom prst="rect">
              <a:avLst/>
            </a:prstGeom>
          </p:spPr>
        </p:pic>
        <p:sp>
          <p:nvSpPr>
            <p:cNvPr id="7" name="Shape 3"/>
            <p:cNvSpPr/>
            <p:nvPr/>
          </p:nvSpPr>
          <p:spPr>
            <a:xfrm>
              <a:off x="457200" y="1287726"/>
              <a:ext cx="6217920" cy="4556868"/>
            </a:xfrm>
            <a:prstGeom prst="rect">
              <a:avLst/>
            </a:prstGeom>
            <a:ln w="12700">
              <a:solidFill>
                <a:srgbClr val="D9E3E9"/>
              </a:solidFill>
              <a:prstDash val="solid"/>
            </a:ln>
          </p:spPr>
          <p:txBody>
            <a:bodyPr/>
            <a:lstStyle/>
            <a:p>
              <a:endParaRPr lang="en-US"/>
            </a:p>
          </p:txBody>
        </p:sp>
        <p:sp>
          <p:nvSpPr>
            <p:cNvPr id="8" name="Text 4"/>
            <p:cNvSpPr txBox="1"/>
            <p:nvPr/>
          </p:nvSpPr>
          <p:spPr>
            <a:xfrm>
              <a:off x="7040880" y="1143000"/>
              <a:ext cx="4663440" cy="411480"/>
            </a:xfrm>
            <a:prstGeom prst="rect">
              <a:avLst/>
            </a:prstGeom>
            <a:noFill/>
            <a:ln/>
          </p:spPr>
          <p:txBody>
            <a:bodyPr wrap="square" lIns="0" tIns="0" rIns="0" bIns="0" rtlCol="0" anchor="t"/>
            <a:lstStyle/>
            <a:p>
              <a:pPr marL="0" indent="0">
                <a:buNone/>
              </a:pPr>
              <a:r>
                <a:rPr lang="en-US" sz="1900" b="1" dirty="0">
                  <a:solidFill>
                    <a:srgbClr val="13293D"/>
                  </a:solidFill>
                  <a:latin typeface="Cambria" pitchFamily="34" charset="0"/>
                  <a:ea typeface="Cambria" pitchFamily="34" charset="-122"/>
                  <a:cs typeface="Cambria" pitchFamily="34" charset="-120"/>
                </a:rPr>
                <a:t>Thang Kellgren–Lawrence</a:t>
              </a:r>
              <a:endParaRPr lang="en-US" sz="1900" dirty="0"/>
            </a:p>
          </p:txBody>
        </p:sp>
        <p:sp>
          <p:nvSpPr>
            <p:cNvPr id="9" name="Shape 5"/>
            <p:cNvSpPr/>
            <p:nvPr/>
          </p:nvSpPr>
          <p:spPr>
            <a:xfrm>
              <a:off x="7040880" y="1691640"/>
              <a:ext cx="896112" cy="868680"/>
            </a:xfrm>
            <a:prstGeom prst="rect">
              <a:avLst/>
            </a:prstGeom>
            <a:solidFill>
              <a:srgbClr val="DCEFE9"/>
            </a:solidFill>
            <a:ln w="12700">
              <a:solidFill>
                <a:srgbClr val="FFFFFF"/>
              </a:solidFill>
              <a:prstDash val="solid"/>
            </a:ln>
          </p:spPr>
          <p:txBody>
            <a:bodyPr/>
            <a:lstStyle/>
            <a:p>
              <a:endParaRPr lang="en-US"/>
            </a:p>
          </p:txBody>
        </p:sp>
        <p:sp>
          <p:nvSpPr>
            <p:cNvPr id="10" name="Text 6"/>
            <p:cNvSpPr txBox="1"/>
            <p:nvPr/>
          </p:nvSpPr>
          <p:spPr>
            <a:xfrm>
              <a:off x="7040880" y="1691640"/>
              <a:ext cx="896112" cy="548640"/>
            </a:xfrm>
            <a:prstGeom prst="rect">
              <a:avLst/>
            </a:prstGeom>
            <a:noFill/>
            <a:ln/>
          </p:spPr>
          <p:txBody>
            <a:bodyPr wrap="square" lIns="0" tIns="0" rIns="0" bIns="0" rtlCol="0" anchor="ctr"/>
            <a:lstStyle/>
            <a:p>
              <a:pPr marL="0" indent="0" algn="ctr">
                <a:buNone/>
              </a:pPr>
              <a:r>
                <a:rPr lang="en-US" sz="2400" b="1" dirty="0">
                  <a:solidFill>
                    <a:srgbClr val="13293D"/>
                  </a:solidFill>
                  <a:latin typeface="Cambria" pitchFamily="34" charset="0"/>
                  <a:ea typeface="Cambria" pitchFamily="34" charset="-122"/>
                  <a:cs typeface="Cambria" pitchFamily="34" charset="-120"/>
                </a:rPr>
                <a:t>0</a:t>
              </a:r>
              <a:endParaRPr lang="en-US" sz="2400" dirty="0"/>
            </a:p>
          </p:txBody>
        </p:sp>
        <p:sp>
          <p:nvSpPr>
            <p:cNvPr id="11" name="Text 7"/>
            <p:cNvSpPr txBox="1"/>
            <p:nvPr/>
          </p:nvSpPr>
          <p:spPr>
            <a:xfrm>
              <a:off x="7040880" y="2194560"/>
              <a:ext cx="896112" cy="320040"/>
            </a:xfrm>
            <a:prstGeom prst="rect">
              <a:avLst/>
            </a:prstGeom>
            <a:noFill/>
            <a:ln/>
          </p:spPr>
          <p:txBody>
            <a:bodyPr wrap="square" lIns="0" tIns="0" rIns="0" bIns="0" rtlCol="0" anchor="t"/>
            <a:lstStyle/>
            <a:p>
              <a:pPr marL="0" indent="0" algn="ctr">
                <a:buNone/>
              </a:pPr>
              <a:r>
                <a:rPr lang="en-US" sz="1150" dirty="0">
                  <a:solidFill>
                    <a:srgbClr val="1E2A32"/>
                  </a:solidFill>
                  <a:latin typeface="Calibri" pitchFamily="34" charset="0"/>
                  <a:ea typeface="Calibri" pitchFamily="34" charset="-122"/>
                  <a:cs typeface="Calibri" pitchFamily="34" charset="-120"/>
                </a:rPr>
                <a:t>khỏe mạnh</a:t>
              </a:r>
              <a:endParaRPr lang="en-US" sz="1150" dirty="0"/>
            </a:p>
          </p:txBody>
        </p:sp>
        <p:sp>
          <p:nvSpPr>
            <p:cNvPr id="12" name="Shape 8"/>
            <p:cNvSpPr/>
            <p:nvPr/>
          </p:nvSpPr>
          <p:spPr>
            <a:xfrm>
              <a:off x="7973568" y="1691640"/>
              <a:ext cx="896112" cy="868680"/>
            </a:xfrm>
            <a:prstGeom prst="rect">
              <a:avLst/>
            </a:prstGeom>
            <a:solidFill>
              <a:srgbClr val="C5E4DD"/>
            </a:solidFill>
            <a:ln w="12700">
              <a:solidFill>
                <a:srgbClr val="FFFFFF"/>
              </a:solidFill>
              <a:prstDash val="solid"/>
            </a:ln>
          </p:spPr>
          <p:txBody>
            <a:bodyPr/>
            <a:lstStyle/>
            <a:p>
              <a:endParaRPr lang="en-US"/>
            </a:p>
          </p:txBody>
        </p:sp>
        <p:sp>
          <p:nvSpPr>
            <p:cNvPr id="13" name="Text 9"/>
            <p:cNvSpPr txBox="1"/>
            <p:nvPr/>
          </p:nvSpPr>
          <p:spPr>
            <a:xfrm>
              <a:off x="7973568" y="1691640"/>
              <a:ext cx="896112" cy="548640"/>
            </a:xfrm>
            <a:prstGeom prst="rect">
              <a:avLst/>
            </a:prstGeom>
            <a:noFill/>
            <a:ln/>
          </p:spPr>
          <p:txBody>
            <a:bodyPr wrap="square" lIns="0" tIns="0" rIns="0" bIns="0" rtlCol="0" anchor="ctr"/>
            <a:lstStyle/>
            <a:p>
              <a:pPr marL="0" indent="0" algn="ctr">
                <a:buNone/>
              </a:pPr>
              <a:r>
                <a:rPr lang="en-US" sz="2400" b="1" dirty="0">
                  <a:solidFill>
                    <a:srgbClr val="13293D"/>
                  </a:solidFill>
                  <a:latin typeface="Cambria" pitchFamily="34" charset="0"/>
                  <a:ea typeface="Cambria" pitchFamily="34" charset="-122"/>
                  <a:cs typeface="Cambria" pitchFamily="34" charset="-120"/>
                </a:rPr>
                <a:t>1</a:t>
              </a:r>
              <a:endParaRPr lang="en-US" sz="2400" dirty="0"/>
            </a:p>
          </p:txBody>
        </p:sp>
        <p:sp>
          <p:nvSpPr>
            <p:cNvPr id="14" name="Text 10"/>
            <p:cNvSpPr txBox="1"/>
            <p:nvPr/>
          </p:nvSpPr>
          <p:spPr>
            <a:xfrm>
              <a:off x="7973568" y="2194560"/>
              <a:ext cx="896112" cy="320040"/>
            </a:xfrm>
            <a:prstGeom prst="rect">
              <a:avLst/>
            </a:prstGeom>
            <a:noFill/>
            <a:ln/>
          </p:spPr>
          <p:txBody>
            <a:bodyPr wrap="square" lIns="0" tIns="0" rIns="0" bIns="0" rtlCol="0" anchor="t"/>
            <a:lstStyle/>
            <a:p>
              <a:pPr marL="0" indent="0" algn="ctr">
                <a:buNone/>
              </a:pPr>
              <a:r>
                <a:rPr lang="en-US" sz="1150" dirty="0">
                  <a:solidFill>
                    <a:srgbClr val="1E2A32"/>
                  </a:solidFill>
                  <a:latin typeface="Calibri" pitchFamily="34" charset="0"/>
                  <a:ea typeface="Calibri" pitchFamily="34" charset="-122"/>
                  <a:cs typeface="Calibri" pitchFamily="34" charset="-120"/>
                </a:rPr>
                <a:t>nghi ngờ</a:t>
              </a:r>
              <a:endParaRPr lang="en-US" sz="1150" dirty="0"/>
            </a:p>
          </p:txBody>
        </p:sp>
        <p:sp>
          <p:nvSpPr>
            <p:cNvPr id="15" name="Shape 11"/>
            <p:cNvSpPr/>
            <p:nvPr/>
          </p:nvSpPr>
          <p:spPr>
            <a:xfrm>
              <a:off x="8906256" y="1691640"/>
              <a:ext cx="896112" cy="868680"/>
            </a:xfrm>
            <a:prstGeom prst="rect">
              <a:avLst/>
            </a:prstGeom>
            <a:solidFill>
              <a:srgbClr val="F6DDB8"/>
            </a:solidFill>
            <a:ln w="12700">
              <a:solidFill>
                <a:srgbClr val="FFFFFF"/>
              </a:solidFill>
              <a:prstDash val="solid"/>
            </a:ln>
          </p:spPr>
          <p:txBody>
            <a:bodyPr/>
            <a:lstStyle/>
            <a:p>
              <a:endParaRPr lang="en-US"/>
            </a:p>
          </p:txBody>
        </p:sp>
        <p:sp>
          <p:nvSpPr>
            <p:cNvPr id="16" name="Text 12"/>
            <p:cNvSpPr txBox="1"/>
            <p:nvPr/>
          </p:nvSpPr>
          <p:spPr>
            <a:xfrm>
              <a:off x="8906256" y="1691640"/>
              <a:ext cx="896112" cy="548640"/>
            </a:xfrm>
            <a:prstGeom prst="rect">
              <a:avLst/>
            </a:prstGeom>
            <a:noFill/>
            <a:ln/>
          </p:spPr>
          <p:txBody>
            <a:bodyPr wrap="square" lIns="0" tIns="0" rIns="0" bIns="0" rtlCol="0" anchor="ctr"/>
            <a:lstStyle/>
            <a:p>
              <a:pPr marL="0" indent="0" algn="ctr">
                <a:buNone/>
              </a:pPr>
              <a:r>
                <a:rPr lang="en-US" sz="2400" b="1" dirty="0">
                  <a:solidFill>
                    <a:srgbClr val="13293D"/>
                  </a:solidFill>
                  <a:latin typeface="Cambria" pitchFamily="34" charset="0"/>
                  <a:ea typeface="Cambria" pitchFamily="34" charset="-122"/>
                  <a:cs typeface="Cambria" pitchFamily="34" charset="-120"/>
                </a:rPr>
                <a:t>2</a:t>
              </a:r>
              <a:endParaRPr lang="en-US" sz="2400" dirty="0"/>
            </a:p>
          </p:txBody>
        </p:sp>
        <p:sp>
          <p:nvSpPr>
            <p:cNvPr id="17" name="Text 13"/>
            <p:cNvSpPr txBox="1"/>
            <p:nvPr/>
          </p:nvSpPr>
          <p:spPr>
            <a:xfrm>
              <a:off x="8906256" y="2194560"/>
              <a:ext cx="896112" cy="320040"/>
            </a:xfrm>
            <a:prstGeom prst="rect">
              <a:avLst/>
            </a:prstGeom>
            <a:noFill/>
            <a:ln/>
          </p:spPr>
          <p:txBody>
            <a:bodyPr wrap="square" lIns="0" tIns="0" rIns="0" bIns="0" rtlCol="0" anchor="t"/>
            <a:lstStyle/>
            <a:p>
              <a:pPr marL="0" indent="0" algn="ctr">
                <a:buNone/>
              </a:pPr>
              <a:r>
                <a:rPr lang="en-US" sz="1150" dirty="0">
                  <a:solidFill>
                    <a:srgbClr val="1E2A32"/>
                  </a:solidFill>
                  <a:latin typeface="Calibri" pitchFamily="34" charset="0"/>
                  <a:ea typeface="Calibri" pitchFamily="34" charset="-122"/>
                  <a:cs typeface="Calibri" pitchFamily="34" charset="-120"/>
                </a:rPr>
                <a:t>nhẹ</a:t>
              </a:r>
              <a:endParaRPr lang="en-US" sz="1150" dirty="0"/>
            </a:p>
          </p:txBody>
        </p:sp>
        <p:sp>
          <p:nvSpPr>
            <p:cNvPr id="18" name="Shape 14"/>
            <p:cNvSpPr/>
            <p:nvPr/>
          </p:nvSpPr>
          <p:spPr>
            <a:xfrm>
              <a:off x="9838944" y="1691640"/>
              <a:ext cx="896112" cy="868680"/>
            </a:xfrm>
            <a:prstGeom prst="rect">
              <a:avLst/>
            </a:prstGeom>
            <a:solidFill>
              <a:srgbClr val="F0B98A"/>
            </a:solidFill>
            <a:ln w="12700">
              <a:solidFill>
                <a:srgbClr val="FFFFFF"/>
              </a:solidFill>
              <a:prstDash val="solid"/>
            </a:ln>
          </p:spPr>
          <p:txBody>
            <a:bodyPr/>
            <a:lstStyle/>
            <a:p>
              <a:endParaRPr lang="en-US"/>
            </a:p>
          </p:txBody>
        </p:sp>
        <p:sp>
          <p:nvSpPr>
            <p:cNvPr id="19" name="Text 15"/>
            <p:cNvSpPr txBox="1"/>
            <p:nvPr/>
          </p:nvSpPr>
          <p:spPr>
            <a:xfrm>
              <a:off x="9838944" y="1691640"/>
              <a:ext cx="896112" cy="548640"/>
            </a:xfrm>
            <a:prstGeom prst="rect">
              <a:avLst/>
            </a:prstGeom>
            <a:noFill/>
            <a:ln/>
          </p:spPr>
          <p:txBody>
            <a:bodyPr wrap="square" lIns="0" tIns="0" rIns="0" bIns="0" rtlCol="0" anchor="ctr"/>
            <a:lstStyle/>
            <a:p>
              <a:pPr marL="0" indent="0" algn="ctr">
                <a:buNone/>
              </a:pPr>
              <a:r>
                <a:rPr lang="en-US" sz="2400" b="1" dirty="0">
                  <a:solidFill>
                    <a:srgbClr val="13293D"/>
                  </a:solidFill>
                  <a:latin typeface="Cambria" pitchFamily="34" charset="0"/>
                  <a:ea typeface="Cambria" pitchFamily="34" charset="-122"/>
                  <a:cs typeface="Cambria" pitchFamily="34" charset="-120"/>
                </a:rPr>
                <a:t>3</a:t>
              </a:r>
              <a:endParaRPr lang="en-US" sz="2400" dirty="0"/>
            </a:p>
          </p:txBody>
        </p:sp>
        <p:sp>
          <p:nvSpPr>
            <p:cNvPr id="20" name="Text 16"/>
            <p:cNvSpPr txBox="1"/>
            <p:nvPr/>
          </p:nvSpPr>
          <p:spPr>
            <a:xfrm>
              <a:off x="9838944" y="2194560"/>
              <a:ext cx="896112" cy="320040"/>
            </a:xfrm>
            <a:prstGeom prst="rect">
              <a:avLst/>
            </a:prstGeom>
            <a:noFill/>
            <a:ln/>
          </p:spPr>
          <p:txBody>
            <a:bodyPr wrap="square" lIns="0" tIns="0" rIns="0" bIns="0" rtlCol="0" anchor="t"/>
            <a:lstStyle/>
            <a:p>
              <a:pPr marL="0" indent="0" algn="ctr">
                <a:buNone/>
              </a:pPr>
              <a:r>
                <a:rPr lang="en-US" sz="1150" dirty="0">
                  <a:solidFill>
                    <a:srgbClr val="1E2A32"/>
                  </a:solidFill>
                  <a:latin typeface="Calibri" pitchFamily="34" charset="0"/>
                  <a:ea typeface="Calibri" pitchFamily="34" charset="-122"/>
                  <a:cs typeface="Calibri" pitchFamily="34" charset="-120"/>
                </a:rPr>
                <a:t>vừa</a:t>
              </a:r>
              <a:endParaRPr lang="en-US" sz="1150" dirty="0"/>
            </a:p>
          </p:txBody>
        </p:sp>
        <p:sp>
          <p:nvSpPr>
            <p:cNvPr id="21" name="Shape 17"/>
            <p:cNvSpPr/>
            <p:nvPr/>
          </p:nvSpPr>
          <p:spPr>
            <a:xfrm>
              <a:off x="10771632" y="1691640"/>
              <a:ext cx="896112" cy="868680"/>
            </a:xfrm>
            <a:prstGeom prst="rect">
              <a:avLst/>
            </a:prstGeom>
            <a:solidFill>
              <a:srgbClr val="E08080"/>
            </a:solidFill>
            <a:ln w="12700">
              <a:solidFill>
                <a:srgbClr val="FFFFFF"/>
              </a:solidFill>
              <a:prstDash val="solid"/>
            </a:ln>
          </p:spPr>
          <p:txBody>
            <a:bodyPr/>
            <a:lstStyle/>
            <a:p>
              <a:endParaRPr lang="en-US"/>
            </a:p>
          </p:txBody>
        </p:sp>
        <p:sp>
          <p:nvSpPr>
            <p:cNvPr id="22" name="Text 18"/>
            <p:cNvSpPr txBox="1"/>
            <p:nvPr/>
          </p:nvSpPr>
          <p:spPr>
            <a:xfrm>
              <a:off x="10771632" y="1691640"/>
              <a:ext cx="896112" cy="548640"/>
            </a:xfrm>
            <a:prstGeom prst="rect">
              <a:avLst/>
            </a:prstGeom>
            <a:noFill/>
            <a:ln/>
          </p:spPr>
          <p:txBody>
            <a:bodyPr wrap="square" lIns="0" tIns="0" rIns="0" bIns="0" rtlCol="0" anchor="ctr"/>
            <a:lstStyle/>
            <a:p>
              <a:pPr marL="0" indent="0" algn="ctr">
                <a:buNone/>
              </a:pPr>
              <a:r>
                <a:rPr lang="en-US" sz="2400" b="1" dirty="0">
                  <a:solidFill>
                    <a:srgbClr val="13293D"/>
                  </a:solidFill>
                  <a:latin typeface="Cambria" pitchFamily="34" charset="0"/>
                  <a:ea typeface="Cambria" pitchFamily="34" charset="-122"/>
                  <a:cs typeface="Cambria" pitchFamily="34" charset="-120"/>
                </a:rPr>
                <a:t>4</a:t>
              </a:r>
              <a:endParaRPr lang="en-US" sz="2400" dirty="0"/>
            </a:p>
          </p:txBody>
        </p:sp>
        <p:sp>
          <p:nvSpPr>
            <p:cNvPr id="23" name="Text 19"/>
            <p:cNvSpPr txBox="1"/>
            <p:nvPr/>
          </p:nvSpPr>
          <p:spPr>
            <a:xfrm>
              <a:off x="10771632" y="2194560"/>
              <a:ext cx="896112" cy="320040"/>
            </a:xfrm>
            <a:prstGeom prst="rect">
              <a:avLst/>
            </a:prstGeom>
            <a:noFill/>
            <a:ln/>
          </p:spPr>
          <p:txBody>
            <a:bodyPr wrap="square" lIns="0" tIns="0" rIns="0" bIns="0" rtlCol="0" anchor="t"/>
            <a:lstStyle/>
            <a:p>
              <a:pPr marL="0" indent="0" algn="ctr">
                <a:buNone/>
              </a:pPr>
              <a:r>
                <a:rPr lang="en-US" sz="1150" dirty="0">
                  <a:solidFill>
                    <a:srgbClr val="1E2A32"/>
                  </a:solidFill>
                  <a:latin typeface="Calibri" pitchFamily="34" charset="0"/>
                  <a:ea typeface="Calibri" pitchFamily="34" charset="-122"/>
                  <a:cs typeface="Calibri" pitchFamily="34" charset="-120"/>
                </a:rPr>
                <a:t>nặng</a:t>
              </a:r>
              <a:endParaRPr lang="en-US" sz="1150" dirty="0"/>
            </a:p>
          </p:txBody>
        </p:sp>
        <p:sp>
          <p:nvSpPr>
            <p:cNvPr id="24" name="Shape 20"/>
            <p:cNvSpPr/>
            <p:nvPr/>
          </p:nvSpPr>
          <p:spPr>
            <a:xfrm>
              <a:off x="7040880" y="2834640"/>
              <a:ext cx="4663440" cy="914400"/>
            </a:xfrm>
            <a:prstGeom prst="roundRect">
              <a:avLst>
                <a:gd name="adj" fmla="val 8000"/>
              </a:avLst>
            </a:prstGeom>
            <a:solidFill>
              <a:srgbClr val="FBEAEA"/>
            </a:solidFill>
            <a:ln w="12700">
              <a:solidFill>
                <a:srgbClr val="F1CACA"/>
              </a:solidFill>
              <a:prstDash val="solid"/>
            </a:ln>
            <a:effectLst>
              <a:outerShdw blurRad="76200" dist="25400" dir="5400000" algn="bl" rotWithShape="0">
                <a:srgbClr val="9FB3C0">
                  <a:alpha val="30000"/>
                </a:srgbClr>
              </a:outerShdw>
            </a:effectLst>
          </p:spPr>
          <p:txBody>
            <a:bodyPr/>
            <a:lstStyle/>
            <a:p>
              <a:endParaRPr lang="en-US"/>
            </a:p>
          </p:txBody>
        </p:sp>
        <p:sp>
          <p:nvSpPr>
            <p:cNvPr id="25" name="Shape 21"/>
            <p:cNvSpPr/>
            <p:nvPr/>
          </p:nvSpPr>
          <p:spPr>
            <a:xfrm>
              <a:off x="7223760" y="2971800"/>
              <a:ext cx="640080" cy="640080"/>
            </a:xfrm>
            <a:prstGeom prst="ellipse">
              <a:avLst/>
            </a:prstGeom>
            <a:solidFill>
              <a:srgbClr val="A80000"/>
            </a:solidFill>
            <a:ln w="12700">
              <a:solidFill>
                <a:srgbClr val="A80000"/>
              </a:solidFill>
              <a:prstDash val="solid"/>
            </a:ln>
          </p:spPr>
          <p:txBody>
            <a:bodyPr/>
            <a:lstStyle/>
            <a:p>
              <a:endParaRPr lang="en-US"/>
            </a:p>
          </p:txBody>
        </p:sp>
        <p:pic>
          <p:nvPicPr>
            <p:cNvPr id="26" name="Image 1" descr="preencoded.png"/>
            <p:cNvPicPr>
              <a:picLocks noChangeAspect="1"/>
            </p:cNvPicPr>
            <p:nvPr/>
          </p:nvPicPr>
          <p:blipFill>
            <a:blip r:embed="rId3"/>
            <a:stretch>
              <a:fillRect/>
            </a:stretch>
          </p:blipFill>
          <p:spPr>
            <a:xfrm>
              <a:off x="7377379" y="3125419"/>
              <a:ext cx="332842" cy="332842"/>
            </a:xfrm>
            <a:prstGeom prst="rect">
              <a:avLst/>
            </a:prstGeom>
          </p:spPr>
        </p:pic>
        <p:sp>
          <p:nvSpPr>
            <p:cNvPr id="27" name="Text 22"/>
            <p:cNvSpPr txBox="1"/>
            <p:nvPr/>
          </p:nvSpPr>
          <p:spPr>
            <a:xfrm>
              <a:off x="8001000" y="2834640"/>
              <a:ext cx="3657600" cy="914400"/>
            </a:xfrm>
            <a:prstGeom prst="rect">
              <a:avLst/>
            </a:prstGeom>
            <a:noFill/>
            <a:ln/>
          </p:spPr>
          <p:txBody>
            <a:bodyPr wrap="square" lIns="0" tIns="0" rIns="0" bIns="0" rtlCol="0" anchor="ctr"/>
            <a:lstStyle/>
            <a:p>
              <a:pPr marL="0" indent="0">
                <a:buNone/>
              </a:pPr>
              <a:r>
                <a:rPr lang="en-US" sz="1700" dirty="0">
                  <a:solidFill>
                    <a:srgbClr val="1E2A32"/>
                  </a:solidFill>
                  <a:latin typeface="Calibri" pitchFamily="34" charset="0"/>
                  <a:ea typeface="Calibri" pitchFamily="34" charset="-122"/>
                  <a:cs typeface="Calibri" pitchFamily="34" charset="-120"/>
                </a:rPr>
                <a:t>Đã ứng dụng tại </a:t>
              </a:r>
              <a:r>
                <a:rPr lang="en-US" sz="1700" b="1" dirty="0">
                  <a:solidFill>
                    <a:srgbClr val="A80000"/>
                  </a:solidFill>
                  <a:latin typeface="Calibri" pitchFamily="34" charset="0"/>
                  <a:ea typeface="Calibri" pitchFamily="34" charset="-122"/>
                  <a:cs typeface="Calibri" pitchFamily="34" charset="-120"/>
                </a:rPr>
                <a:t>Bệnh viện E</a:t>
              </a:r>
              <a:endParaRPr lang="en-US" sz="1700" dirty="0"/>
            </a:p>
          </p:txBody>
        </p:sp>
        <p:sp>
          <p:nvSpPr>
            <p:cNvPr id="28" name="Text 23"/>
            <p:cNvSpPr txBox="1"/>
            <p:nvPr/>
          </p:nvSpPr>
          <p:spPr>
            <a:xfrm>
              <a:off x="7040880" y="3931920"/>
              <a:ext cx="4663440" cy="365760"/>
            </a:xfrm>
            <a:prstGeom prst="rect">
              <a:avLst/>
            </a:prstGeom>
            <a:noFill/>
            <a:ln/>
          </p:spPr>
          <p:txBody>
            <a:bodyPr wrap="square" lIns="0" tIns="0" rIns="0" bIns="0" rtlCol="0" anchor="t"/>
            <a:lstStyle/>
            <a:p>
              <a:pPr marL="0" indent="0">
                <a:buNone/>
              </a:pPr>
              <a:r>
                <a:rPr lang="en-US" sz="1400" b="1" dirty="0">
                  <a:solidFill>
                    <a:srgbClr val="5B6B76"/>
                  </a:solidFill>
                  <a:latin typeface="Calibri" pitchFamily="34" charset="0"/>
                  <a:ea typeface="Calibri" pitchFamily="34" charset="-122"/>
                  <a:cs typeface="Calibri" pitchFamily="34" charset="-120"/>
                </a:rPr>
                <a:t>Bước tiếp theo cần chứng minh</a:t>
              </a:r>
              <a:endParaRPr lang="en-US" sz="1400" dirty="0"/>
            </a:p>
          </p:txBody>
        </p:sp>
        <p:sp>
          <p:nvSpPr>
            <p:cNvPr id="29" name="Shape 24"/>
            <p:cNvSpPr/>
            <p:nvPr/>
          </p:nvSpPr>
          <p:spPr>
            <a:xfrm>
              <a:off x="7086600" y="4389120"/>
              <a:ext cx="566928" cy="566928"/>
            </a:xfrm>
            <a:prstGeom prst="ellipse">
              <a:avLst/>
            </a:prstGeom>
            <a:solidFill>
              <a:srgbClr val="1F6F8B"/>
            </a:solidFill>
            <a:ln w="12700">
              <a:solidFill>
                <a:srgbClr val="1F6F8B"/>
              </a:solidFill>
              <a:prstDash val="solid"/>
            </a:ln>
          </p:spPr>
          <p:txBody>
            <a:bodyPr/>
            <a:lstStyle/>
            <a:p>
              <a:endParaRPr lang="en-US"/>
            </a:p>
          </p:txBody>
        </p:sp>
        <p:pic>
          <p:nvPicPr>
            <p:cNvPr id="30" name="Image 2" descr="preencoded.png"/>
            <p:cNvPicPr>
              <a:picLocks noChangeAspect="1"/>
            </p:cNvPicPr>
            <p:nvPr/>
          </p:nvPicPr>
          <p:blipFill>
            <a:blip r:embed="rId4"/>
            <a:stretch>
              <a:fillRect/>
            </a:stretch>
          </p:blipFill>
          <p:spPr>
            <a:xfrm>
              <a:off x="7222663" y="4525183"/>
              <a:ext cx="294803" cy="294803"/>
            </a:xfrm>
            <a:prstGeom prst="rect">
              <a:avLst/>
            </a:prstGeom>
          </p:spPr>
        </p:pic>
        <p:sp>
          <p:nvSpPr>
            <p:cNvPr id="31" name="Text 25"/>
            <p:cNvSpPr txBox="1"/>
            <p:nvPr/>
          </p:nvSpPr>
          <p:spPr>
            <a:xfrm>
              <a:off x="6812280" y="4983480"/>
              <a:ext cx="1143000" cy="548640"/>
            </a:xfrm>
            <a:prstGeom prst="rect">
              <a:avLst/>
            </a:prstGeom>
            <a:noFill/>
            <a:ln/>
          </p:spPr>
          <p:txBody>
            <a:bodyPr wrap="square" lIns="0" tIns="0" rIns="0" bIns="0" rtlCol="0" anchor="t"/>
            <a:lstStyle/>
            <a:p>
              <a:pPr marL="0" indent="0" algn="ctr">
                <a:buNone/>
              </a:pPr>
              <a:r>
                <a:rPr lang="en-US" sz="1200" b="1" dirty="0">
                  <a:solidFill>
                    <a:srgbClr val="13293D"/>
                  </a:solidFill>
                  <a:latin typeface="Calibri" pitchFamily="34" charset="0"/>
                  <a:ea typeface="Calibri" pitchFamily="34" charset="-122"/>
                  <a:cs typeface="Calibri" pitchFamily="34" charset="-120"/>
                </a:rPr>
                <a:t>Độ chính xác</a:t>
              </a:r>
              <a:endParaRPr lang="en-US" sz="1200" dirty="0"/>
            </a:p>
          </p:txBody>
        </p:sp>
        <p:sp>
          <p:nvSpPr>
            <p:cNvPr id="32" name="Shape 26"/>
            <p:cNvSpPr/>
            <p:nvPr/>
          </p:nvSpPr>
          <p:spPr>
            <a:xfrm>
              <a:off x="8659368" y="4389120"/>
              <a:ext cx="566928" cy="566928"/>
            </a:xfrm>
            <a:prstGeom prst="ellipse">
              <a:avLst/>
            </a:prstGeom>
            <a:solidFill>
              <a:srgbClr val="1F6F8B"/>
            </a:solidFill>
            <a:ln w="12700">
              <a:solidFill>
                <a:srgbClr val="1F6F8B"/>
              </a:solidFill>
              <a:prstDash val="solid"/>
            </a:ln>
          </p:spPr>
          <p:txBody>
            <a:bodyPr/>
            <a:lstStyle/>
            <a:p>
              <a:endParaRPr lang="en-US"/>
            </a:p>
          </p:txBody>
        </p:sp>
        <p:pic>
          <p:nvPicPr>
            <p:cNvPr id="33" name="Image 3" descr="preencoded.png"/>
            <p:cNvPicPr>
              <a:picLocks noChangeAspect="1"/>
            </p:cNvPicPr>
            <p:nvPr/>
          </p:nvPicPr>
          <p:blipFill>
            <a:blip r:embed="rId5"/>
            <a:stretch>
              <a:fillRect/>
            </a:stretch>
          </p:blipFill>
          <p:spPr>
            <a:xfrm>
              <a:off x="8795431" y="4525183"/>
              <a:ext cx="294803" cy="294803"/>
            </a:xfrm>
            <a:prstGeom prst="rect">
              <a:avLst/>
            </a:prstGeom>
          </p:spPr>
        </p:pic>
        <p:sp>
          <p:nvSpPr>
            <p:cNvPr id="34" name="Text 27"/>
            <p:cNvSpPr txBox="1"/>
            <p:nvPr/>
          </p:nvSpPr>
          <p:spPr>
            <a:xfrm>
              <a:off x="8385048" y="4983480"/>
              <a:ext cx="1143000" cy="548640"/>
            </a:xfrm>
            <a:prstGeom prst="rect">
              <a:avLst/>
            </a:prstGeom>
            <a:noFill/>
            <a:ln/>
          </p:spPr>
          <p:txBody>
            <a:bodyPr wrap="square" lIns="0" tIns="0" rIns="0" bIns="0" rtlCol="0" anchor="t"/>
            <a:lstStyle/>
            <a:p>
              <a:pPr marL="0" indent="0" algn="ctr">
                <a:buNone/>
              </a:pPr>
              <a:r>
                <a:rPr lang="en-US" sz="1200" b="1" dirty="0">
                  <a:solidFill>
                    <a:srgbClr val="13293D"/>
                  </a:solidFill>
                  <a:latin typeface="Calibri" pitchFamily="34" charset="0"/>
                  <a:ea typeface="Calibri" pitchFamily="34" charset="-122"/>
                  <a:cs typeface="Calibri" pitchFamily="34" charset="-120"/>
                </a:rPr>
                <a:t>Dữ liệu đa trung tâm</a:t>
              </a:r>
              <a:endParaRPr lang="en-US" sz="1200" dirty="0"/>
            </a:p>
          </p:txBody>
        </p:sp>
        <p:sp>
          <p:nvSpPr>
            <p:cNvPr id="35" name="Shape 28"/>
            <p:cNvSpPr/>
            <p:nvPr/>
          </p:nvSpPr>
          <p:spPr>
            <a:xfrm>
              <a:off x="10232136" y="4389120"/>
              <a:ext cx="566928" cy="566928"/>
            </a:xfrm>
            <a:prstGeom prst="ellipse">
              <a:avLst/>
            </a:prstGeom>
            <a:solidFill>
              <a:srgbClr val="1F6F8B"/>
            </a:solidFill>
            <a:ln w="12700">
              <a:solidFill>
                <a:srgbClr val="1F6F8B"/>
              </a:solidFill>
              <a:prstDash val="solid"/>
            </a:ln>
          </p:spPr>
          <p:txBody>
            <a:bodyPr/>
            <a:lstStyle/>
            <a:p>
              <a:endParaRPr lang="en-US"/>
            </a:p>
          </p:txBody>
        </p:sp>
        <p:pic>
          <p:nvPicPr>
            <p:cNvPr id="36" name="Image 4" descr="preencoded.png"/>
            <p:cNvPicPr>
              <a:picLocks noChangeAspect="1"/>
            </p:cNvPicPr>
            <p:nvPr/>
          </p:nvPicPr>
          <p:blipFill>
            <a:blip r:embed="rId6"/>
            <a:stretch>
              <a:fillRect/>
            </a:stretch>
          </p:blipFill>
          <p:spPr>
            <a:xfrm>
              <a:off x="10368199" y="4525183"/>
              <a:ext cx="294803" cy="294803"/>
            </a:xfrm>
            <a:prstGeom prst="rect">
              <a:avLst/>
            </a:prstGeom>
          </p:spPr>
        </p:pic>
        <p:sp>
          <p:nvSpPr>
            <p:cNvPr id="37" name="Text 29"/>
            <p:cNvSpPr txBox="1"/>
            <p:nvPr/>
          </p:nvSpPr>
          <p:spPr>
            <a:xfrm>
              <a:off x="9957816" y="4983480"/>
              <a:ext cx="1143000" cy="548640"/>
            </a:xfrm>
            <a:prstGeom prst="rect">
              <a:avLst/>
            </a:prstGeom>
            <a:noFill/>
            <a:ln/>
          </p:spPr>
          <p:txBody>
            <a:bodyPr wrap="square" lIns="0" tIns="0" rIns="0" bIns="0" rtlCol="0" anchor="t"/>
            <a:lstStyle/>
            <a:p>
              <a:pPr marL="0" indent="0" algn="ctr">
                <a:buNone/>
              </a:pPr>
              <a:r>
                <a:rPr lang="en-US" sz="1200" b="1" dirty="0">
                  <a:solidFill>
                    <a:srgbClr val="13293D"/>
                  </a:solidFill>
                  <a:latin typeface="Calibri" pitchFamily="34" charset="0"/>
                  <a:ea typeface="Calibri" pitchFamily="34" charset="-122"/>
                  <a:cs typeface="Calibri" pitchFamily="34" charset="-120"/>
                </a:rPr>
                <a:t>Kiểm chứng lâm sàng</a:t>
              </a:r>
              <a:endParaRPr lang="en-US" sz="1200" dirty="0"/>
            </a:p>
          </p:txBody>
        </p:sp>
        <p:sp>
          <p:nvSpPr>
            <p:cNvPr id="38" name="Text 30"/>
            <p:cNvSpPr txBox="1"/>
            <p:nvPr/>
          </p:nvSpPr>
          <p:spPr>
            <a:xfrm>
              <a:off x="7040880" y="6144768"/>
              <a:ext cx="466344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Nguồn: tham luận, mục 3</a:t>
              </a:r>
              <a:endParaRPr lang="en-US" sz="10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AI đa phương thức: hỏi đáp ảnh, camera, cảm xúc</a:t>
            </a:r>
            <a:endParaRPr lang="en-US" sz="2800" dirty="0"/>
          </a:p>
        </p:txBody>
      </p:sp>
      <p:sp>
        <p:nvSpPr>
          <p:cNvPr id="3" name="Shape 1"/>
          <p:cNvSpPr/>
          <p:nvPr/>
        </p:nvSpPr>
        <p:spPr>
          <a:xfrm>
            <a:off x="457200" y="6510528"/>
            <a:ext cx="128016" cy="128016"/>
          </a:xfrm>
          <a:prstGeom prst="ellipse">
            <a:avLst/>
          </a:prstGeom>
          <a:solidFill>
            <a:srgbClr val="E08A2E"/>
          </a:solidFill>
          <a:ln w="12700">
            <a:solidFill>
              <a:srgbClr val="E08A2E"/>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E08A2E"/>
                </a:solidFill>
                <a:latin typeface="Calibri" pitchFamily="34" charset="0"/>
                <a:ea typeface="Calibri" pitchFamily="34" charset="-122"/>
                <a:cs typeface="Calibri" pitchFamily="34" charset="-120"/>
              </a:rPr>
              <a:t>3 · SẢN PHẨM VIỆN CNTT</a:t>
            </a:r>
            <a:endParaRPr lang="en-US" sz="1100" dirty="0"/>
          </a:p>
        </p:txBody>
      </p:sp>
      <p:grpSp>
        <p:nvGrpSpPr>
          <p:cNvPr id="5" name="Group 4">
            <a:extLst>
              <a:ext uri="{FF2B5EF4-FFF2-40B4-BE49-F238E27FC236}">
                <a16:creationId xmlns:a16="http://schemas.microsoft.com/office/drawing/2014/main" id="{5F24F197-9D14-DBEF-E8DB-B1EC9EC30187}"/>
              </a:ext>
            </a:extLst>
          </p:cNvPr>
          <p:cNvGrpSpPr/>
          <p:nvPr/>
        </p:nvGrpSpPr>
        <p:grpSpPr>
          <a:xfrm>
            <a:off x="457200" y="1143000"/>
            <a:ext cx="11274552" cy="5182126"/>
            <a:chOff x="457200" y="1143000"/>
            <a:chExt cx="11274552" cy="4727448"/>
          </a:xfrm>
        </p:grpSpPr>
        <p:sp>
          <p:nvSpPr>
            <p:cNvPr id="6" name="Shape 3"/>
            <p:cNvSpPr/>
            <p:nvPr/>
          </p:nvSpPr>
          <p:spPr>
            <a:xfrm>
              <a:off x="457200" y="1143000"/>
              <a:ext cx="3611880" cy="3931920"/>
            </a:xfrm>
            <a:prstGeom prst="roundRect">
              <a:avLst>
                <a:gd name="adj" fmla="val 2025"/>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pic>
          <p:nvPicPr>
            <p:cNvPr id="7" name="Image 0" descr="/home/claude/v3/pimg/i-005.png"/>
            <p:cNvPicPr>
              <a:picLocks noChangeAspect="1"/>
            </p:cNvPicPr>
            <p:nvPr/>
          </p:nvPicPr>
          <p:blipFill>
            <a:blip r:embed="rId2"/>
            <a:stretch>
              <a:fillRect/>
            </a:stretch>
          </p:blipFill>
          <p:spPr>
            <a:xfrm>
              <a:off x="594360" y="1417778"/>
              <a:ext cx="3337560" cy="2010764"/>
            </a:xfrm>
            <a:prstGeom prst="rect">
              <a:avLst/>
            </a:prstGeom>
          </p:spPr>
        </p:pic>
        <p:sp>
          <p:nvSpPr>
            <p:cNvPr id="8" name="Shape 4"/>
            <p:cNvSpPr/>
            <p:nvPr/>
          </p:nvSpPr>
          <p:spPr>
            <a:xfrm>
              <a:off x="594360" y="1417778"/>
              <a:ext cx="3337560" cy="2010764"/>
            </a:xfrm>
            <a:prstGeom prst="rect">
              <a:avLst/>
            </a:prstGeom>
            <a:ln w="12700">
              <a:solidFill>
                <a:srgbClr val="D9E3E9"/>
              </a:solidFill>
              <a:prstDash val="solid"/>
            </a:ln>
          </p:spPr>
          <p:txBody>
            <a:bodyPr/>
            <a:lstStyle/>
            <a:p>
              <a:endParaRPr lang="en-US"/>
            </a:p>
          </p:txBody>
        </p:sp>
        <p:sp>
          <p:nvSpPr>
            <p:cNvPr id="9" name="Text 5"/>
            <p:cNvSpPr txBox="1"/>
            <p:nvPr/>
          </p:nvSpPr>
          <p:spPr>
            <a:xfrm>
              <a:off x="640080" y="3657600"/>
              <a:ext cx="3246120" cy="457200"/>
            </a:xfrm>
            <a:prstGeom prst="rect">
              <a:avLst/>
            </a:prstGeom>
            <a:noFill/>
            <a:ln/>
          </p:spPr>
          <p:txBody>
            <a:bodyPr wrap="square" lIns="0" tIns="0" rIns="0" bIns="0" rtlCol="0" anchor="t"/>
            <a:lstStyle/>
            <a:p>
              <a:pPr marL="0" indent="0" algn="ctr">
                <a:buNone/>
              </a:pPr>
              <a:r>
                <a:rPr lang="en-US" sz="1900" b="1" dirty="0">
                  <a:solidFill>
                    <a:srgbClr val="1F6F8B"/>
                  </a:solidFill>
                  <a:latin typeface="Cambria" pitchFamily="34" charset="0"/>
                  <a:ea typeface="Cambria" pitchFamily="34" charset="-122"/>
                  <a:cs typeface="Cambria" pitchFamily="34" charset="-120"/>
                </a:rPr>
                <a:t>AIRC-VL</a:t>
              </a:r>
              <a:endParaRPr lang="en-US" sz="1900" dirty="0"/>
            </a:p>
          </p:txBody>
        </p:sp>
        <p:sp>
          <p:nvSpPr>
            <p:cNvPr id="10" name="Text 6"/>
            <p:cNvSpPr txBox="1"/>
            <p:nvPr/>
          </p:nvSpPr>
          <p:spPr>
            <a:xfrm>
              <a:off x="640080" y="4114800"/>
              <a:ext cx="3246120" cy="777240"/>
            </a:xfrm>
            <a:prstGeom prst="rect">
              <a:avLst/>
            </a:prstGeom>
            <a:noFill/>
            <a:ln/>
          </p:spPr>
          <p:txBody>
            <a:bodyPr wrap="square" lIns="0" tIns="0" rIns="0" bIns="0" rtlCol="0" anchor="t"/>
            <a:lstStyle/>
            <a:p>
              <a:pPr marL="0" indent="0" algn="ctr">
                <a:buNone/>
              </a:pPr>
              <a:r>
                <a:rPr lang="en-US" sz="1350" dirty="0">
                  <a:solidFill>
                    <a:srgbClr val="1E2A32"/>
                  </a:solidFill>
                  <a:latin typeface="Calibri" pitchFamily="34" charset="0"/>
                  <a:ea typeface="Calibri" pitchFamily="34" charset="-122"/>
                  <a:cs typeface="Calibri" pitchFamily="34" charset="-120"/>
                </a:rPr>
                <a:t>hỏi đáp trực quan tiếng Việt (VQA)</a:t>
              </a:r>
              <a:endParaRPr lang="en-US" sz="1350" dirty="0"/>
            </a:p>
          </p:txBody>
        </p:sp>
        <p:sp>
          <p:nvSpPr>
            <p:cNvPr id="11" name="Shape 7"/>
            <p:cNvSpPr/>
            <p:nvPr/>
          </p:nvSpPr>
          <p:spPr>
            <a:xfrm>
              <a:off x="4279392" y="1143000"/>
              <a:ext cx="3611880" cy="3931920"/>
            </a:xfrm>
            <a:prstGeom prst="roundRect">
              <a:avLst>
                <a:gd name="adj" fmla="val 2025"/>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pic>
          <p:nvPicPr>
            <p:cNvPr id="12" name="Image 1" descr="/home/claude/v3/pimg/i-006.png"/>
            <p:cNvPicPr>
              <a:picLocks noChangeAspect="1"/>
            </p:cNvPicPr>
            <p:nvPr/>
          </p:nvPicPr>
          <p:blipFill>
            <a:blip r:embed="rId3"/>
            <a:stretch>
              <a:fillRect/>
            </a:stretch>
          </p:blipFill>
          <p:spPr>
            <a:xfrm>
              <a:off x="4416552" y="1414159"/>
              <a:ext cx="3337560" cy="2018002"/>
            </a:xfrm>
            <a:prstGeom prst="rect">
              <a:avLst/>
            </a:prstGeom>
          </p:spPr>
        </p:pic>
        <p:sp>
          <p:nvSpPr>
            <p:cNvPr id="13" name="Shape 8"/>
            <p:cNvSpPr/>
            <p:nvPr/>
          </p:nvSpPr>
          <p:spPr>
            <a:xfrm>
              <a:off x="4416552" y="1414159"/>
              <a:ext cx="3337560" cy="2018002"/>
            </a:xfrm>
            <a:prstGeom prst="rect">
              <a:avLst/>
            </a:prstGeom>
            <a:ln w="12700">
              <a:solidFill>
                <a:srgbClr val="D9E3E9"/>
              </a:solidFill>
              <a:prstDash val="solid"/>
            </a:ln>
          </p:spPr>
          <p:txBody>
            <a:bodyPr/>
            <a:lstStyle/>
            <a:p>
              <a:endParaRPr lang="en-US"/>
            </a:p>
          </p:txBody>
        </p:sp>
        <p:sp>
          <p:nvSpPr>
            <p:cNvPr id="14" name="Text 9"/>
            <p:cNvSpPr txBox="1"/>
            <p:nvPr/>
          </p:nvSpPr>
          <p:spPr>
            <a:xfrm>
              <a:off x="4462272" y="3657600"/>
              <a:ext cx="3246120" cy="457200"/>
            </a:xfrm>
            <a:prstGeom prst="rect">
              <a:avLst/>
            </a:prstGeom>
            <a:noFill/>
            <a:ln/>
          </p:spPr>
          <p:txBody>
            <a:bodyPr wrap="square" lIns="0" tIns="0" rIns="0" bIns="0" rtlCol="0" anchor="t"/>
            <a:lstStyle/>
            <a:p>
              <a:pPr marL="0" indent="0" algn="ctr">
                <a:buNone/>
              </a:pPr>
              <a:r>
                <a:rPr lang="en-US" sz="1900" b="1" dirty="0">
                  <a:solidFill>
                    <a:srgbClr val="E08A2E"/>
                  </a:solidFill>
                  <a:latin typeface="Cambria" pitchFamily="34" charset="0"/>
                  <a:ea typeface="Cambria" pitchFamily="34" charset="-122"/>
                  <a:cs typeface="Cambria" pitchFamily="34" charset="-120"/>
                </a:rPr>
                <a:t>Camera AI</a:t>
              </a:r>
              <a:endParaRPr lang="en-US" sz="1900" dirty="0"/>
            </a:p>
          </p:txBody>
        </p:sp>
        <p:sp>
          <p:nvSpPr>
            <p:cNvPr id="15" name="Text 10"/>
            <p:cNvSpPr txBox="1"/>
            <p:nvPr/>
          </p:nvSpPr>
          <p:spPr>
            <a:xfrm>
              <a:off x="4462272" y="4114800"/>
              <a:ext cx="3246120" cy="777240"/>
            </a:xfrm>
            <a:prstGeom prst="rect">
              <a:avLst/>
            </a:prstGeom>
            <a:noFill/>
            <a:ln/>
          </p:spPr>
          <p:txBody>
            <a:bodyPr wrap="square" lIns="0" tIns="0" rIns="0" bIns="0" rtlCol="0" anchor="t"/>
            <a:lstStyle/>
            <a:p>
              <a:pPr marL="0" indent="0" algn="ctr">
                <a:buNone/>
              </a:pPr>
              <a:r>
                <a:rPr lang="en-US" sz="1350" dirty="0">
                  <a:solidFill>
                    <a:srgbClr val="1E2A32"/>
                  </a:solidFill>
                  <a:latin typeface="Calibri" pitchFamily="34" charset="0"/>
                  <a:ea typeface="Calibri" pitchFamily="34" charset="-122"/>
                  <a:cs typeface="Calibri" pitchFamily="34" charset="-120"/>
                </a:rPr>
                <a:t>nhận diện khuôn mặt, giám sát trực tiếp</a:t>
              </a:r>
              <a:endParaRPr lang="en-US" sz="1350" dirty="0"/>
            </a:p>
          </p:txBody>
        </p:sp>
        <p:sp>
          <p:nvSpPr>
            <p:cNvPr id="16" name="Shape 11"/>
            <p:cNvSpPr/>
            <p:nvPr/>
          </p:nvSpPr>
          <p:spPr>
            <a:xfrm>
              <a:off x="8101584" y="1143000"/>
              <a:ext cx="3611880" cy="3931920"/>
            </a:xfrm>
            <a:prstGeom prst="roundRect">
              <a:avLst>
                <a:gd name="adj" fmla="val 2025"/>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pic>
          <p:nvPicPr>
            <p:cNvPr id="17" name="Image 2" descr="/home/claude/v3/pimg/i-004.png"/>
            <p:cNvPicPr>
              <a:picLocks noChangeAspect="1"/>
            </p:cNvPicPr>
            <p:nvPr/>
          </p:nvPicPr>
          <p:blipFill>
            <a:blip r:embed="rId4"/>
            <a:stretch>
              <a:fillRect/>
            </a:stretch>
          </p:blipFill>
          <p:spPr>
            <a:xfrm>
              <a:off x="8238744" y="1310640"/>
              <a:ext cx="3337560" cy="2225040"/>
            </a:xfrm>
            <a:prstGeom prst="rect">
              <a:avLst/>
            </a:prstGeom>
          </p:spPr>
        </p:pic>
        <p:sp>
          <p:nvSpPr>
            <p:cNvPr id="18" name="Shape 12"/>
            <p:cNvSpPr/>
            <p:nvPr/>
          </p:nvSpPr>
          <p:spPr>
            <a:xfrm>
              <a:off x="8238744" y="1310640"/>
              <a:ext cx="3337560" cy="2225040"/>
            </a:xfrm>
            <a:prstGeom prst="rect">
              <a:avLst/>
            </a:prstGeom>
            <a:ln w="12700">
              <a:solidFill>
                <a:srgbClr val="D9E3E9"/>
              </a:solidFill>
              <a:prstDash val="solid"/>
            </a:ln>
          </p:spPr>
          <p:txBody>
            <a:bodyPr/>
            <a:lstStyle/>
            <a:p>
              <a:endParaRPr lang="en-US"/>
            </a:p>
          </p:txBody>
        </p:sp>
        <p:sp>
          <p:nvSpPr>
            <p:cNvPr id="19" name="Text 13"/>
            <p:cNvSpPr txBox="1"/>
            <p:nvPr/>
          </p:nvSpPr>
          <p:spPr>
            <a:xfrm>
              <a:off x="8284464" y="3657600"/>
              <a:ext cx="3246120" cy="457200"/>
            </a:xfrm>
            <a:prstGeom prst="rect">
              <a:avLst/>
            </a:prstGeom>
            <a:noFill/>
            <a:ln/>
          </p:spPr>
          <p:txBody>
            <a:bodyPr wrap="square" lIns="0" tIns="0" rIns="0" bIns="0" rtlCol="0" anchor="t"/>
            <a:lstStyle/>
            <a:p>
              <a:pPr marL="0" indent="0" algn="ctr">
                <a:buNone/>
              </a:pPr>
              <a:r>
                <a:rPr lang="en-US" sz="1900" b="1" dirty="0">
                  <a:solidFill>
                    <a:srgbClr val="4B4B9C"/>
                  </a:solidFill>
                  <a:latin typeface="Cambria" pitchFamily="34" charset="0"/>
                  <a:ea typeface="Cambria" pitchFamily="34" charset="-122"/>
                  <a:cs typeface="Cambria" pitchFamily="34" charset="-120"/>
                </a:rPr>
                <a:t>Cảm xúc khuôn mặt</a:t>
              </a:r>
              <a:endParaRPr lang="en-US" sz="1900" dirty="0"/>
            </a:p>
          </p:txBody>
        </p:sp>
        <p:sp>
          <p:nvSpPr>
            <p:cNvPr id="20" name="Text 14"/>
            <p:cNvSpPr txBox="1"/>
            <p:nvPr/>
          </p:nvSpPr>
          <p:spPr>
            <a:xfrm>
              <a:off x="8284464" y="4114800"/>
              <a:ext cx="3246120" cy="777240"/>
            </a:xfrm>
            <a:prstGeom prst="rect">
              <a:avLst/>
            </a:prstGeom>
            <a:noFill/>
            <a:ln/>
          </p:spPr>
          <p:txBody>
            <a:bodyPr wrap="square" lIns="0" tIns="0" rIns="0" bIns="0" rtlCol="0" anchor="t"/>
            <a:lstStyle/>
            <a:p>
              <a:pPr marL="0" indent="0" algn="ctr">
                <a:buNone/>
              </a:pPr>
              <a:r>
                <a:rPr lang="en-US" sz="1350" dirty="0">
                  <a:solidFill>
                    <a:srgbClr val="1E2A32"/>
                  </a:solidFill>
                  <a:latin typeface="Calibri" pitchFamily="34" charset="0"/>
                  <a:ea typeface="Calibri" pitchFamily="34" charset="-122"/>
                  <a:cs typeface="Calibri" pitchFamily="34" charset="-120"/>
                </a:rPr>
                <a:t>7 nhóm biểu cảm · nhóm PGS.TS. Vũ Việt Vũ</a:t>
              </a:r>
              <a:endParaRPr lang="en-US" sz="1350" dirty="0"/>
            </a:p>
          </p:txBody>
        </p:sp>
        <p:sp>
          <p:nvSpPr>
            <p:cNvPr id="21" name="Shape 15"/>
            <p:cNvSpPr/>
            <p:nvPr/>
          </p:nvSpPr>
          <p:spPr>
            <a:xfrm>
              <a:off x="457200" y="5303520"/>
              <a:ext cx="11274552" cy="566928"/>
            </a:xfrm>
            <a:prstGeom prst="roundRect">
              <a:avLst>
                <a:gd name="adj" fmla="val 50000"/>
              </a:avLst>
            </a:prstGeom>
            <a:solidFill>
              <a:srgbClr val="FBEAEA"/>
            </a:solidFill>
            <a:ln w="12700">
              <a:solidFill>
                <a:srgbClr val="F1CACA"/>
              </a:solidFill>
              <a:prstDash val="solid"/>
            </a:ln>
          </p:spPr>
          <p:txBody>
            <a:bodyPr/>
            <a:lstStyle/>
            <a:p>
              <a:endParaRPr lang="en-US"/>
            </a:p>
          </p:txBody>
        </p:sp>
        <p:sp>
          <p:nvSpPr>
            <p:cNvPr id="22" name="Text 16"/>
            <p:cNvSpPr txBox="1"/>
            <p:nvPr/>
          </p:nvSpPr>
          <p:spPr>
            <a:xfrm>
              <a:off x="640080" y="5303520"/>
              <a:ext cx="10908792" cy="566928"/>
            </a:xfrm>
            <a:prstGeom prst="rect">
              <a:avLst/>
            </a:prstGeom>
            <a:noFill/>
            <a:ln/>
          </p:spPr>
          <p:txBody>
            <a:bodyPr wrap="square" lIns="0" tIns="0" rIns="0" bIns="0" rtlCol="0" anchor="ctr"/>
            <a:lstStyle/>
            <a:p>
              <a:pPr marL="0" indent="0" algn="ctr">
                <a:buNone/>
              </a:pPr>
              <a:r>
                <a:rPr lang="en-US" sz="1700" b="1" dirty="0">
                  <a:solidFill>
                    <a:srgbClr val="A80000"/>
                  </a:solidFill>
                  <a:latin typeface="Calibri" pitchFamily="34" charset="0"/>
                  <a:ea typeface="Calibri" pitchFamily="34" charset="-122"/>
                  <a:cs typeface="Calibri" pitchFamily="34" charset="-120"/>
                </a:rPr>
                <a:t>Lưu ý: </a:t>
              </a:r>
              <a:r>
                <a:rPr lang="en-US" sz="1700" dirty="0">
                  <a:solidFill>
                    <a:srgbClr val="1E2A32"/>
                  </a:solidFill>
                  <a:latin typeface="Calibri" pitchFamily="34" charset="0"/>
                  <a:ea typeface="Calibri" pitchFamily="34" charset="-122"/>
                  <a:cs typeface="Calibri" pitchFamily="34" charset="-120"/>
                </a:rPr>
                <a:t>cần công bố thông số đánh giá, quy mô </a:t>
              </a:r>
              <a:r>
                <a:rPr lang="en-US" sz="1700" dirty="0" err="1">
                  <a:solidFill>
                    <a:srgbClr val="1E2A32"/>
                  </a:solidFill>
                  <a:latin typeface="Calibri" pitchFamily="34" charset="0"/>
                  <a:ea typeface="Calibri" pitchFamily="34" charset="-122"/>
                  <a:cs typeface="Calibri" pitchFamily="34" charset="-120"/>
                </a:rPr>
                <a:t>triển</a:t>
              </a:r>
              <a:r>
                <a:rPr lang="en-US" sz="1700" dirty="0">
                  <a:solidFill>
                    <a:srgbClr val="1E2A32"/>
                  </a:solidFill>
                  <a:latin typeface="Calibri" pitchFamily="34" charset="0"/>
                  <a:ea typeface="Calibri" pitchFamily="34" charset="-122"/>
                  <a:cs typeface="Calibri" pitchFamily="34" charset="-120"/>
                </a:rPr>
                <a:t> </a:t>
              </a:r>
              <a:r>
                <a:rPr lang="en-US" sz="1700" dirty="0" err="1">
                  <a:solidFill>
                    <a:srgbClr val="1E2A32"/>
                  </a:solidFill>
                  <a:latin typeface="Calibri" pitchFamily="34" charset="0"/>
                  <a:ea typeface="Calibri" pitchFamily="34" charset="-122"/>
                  <a:cs typeface="Calibri" pitchFamily="34" charset="-120"/>
                </a:rPr>
                <a:t>khai</a:t>
              </a:r>
              <a:endParaRPr lang="en-US" sz="1700" dirty="0"/>
            </a:p>
          </p:txBody>
        </p:sp>
      </p:gr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Video: Camera AI giám sát và nhận diện khuôn mặt</a:t>
            </a:r>
            <a:endParaRPr lang="en-US" sz="2800" dirty="0"/>
          </a:p>
        </p:txBody>
      </p:sp>
      <p:sp>
        <p:nvSpPr>
          <p:cNvPr id="3" name="Shape 1"/>
          <p:cNvSpPr/>
          <p:nvPr/>
        </p:nvSpPr>
        <p:spPr>
          <a:xfrm>
            <a:off x="457200" y="6510528"/>
            <a:ext cx="128016" cy="128016"/>
          </a:xfrm>
          <a:prstGeom prst="ellipse">
            <a:avLst/>
          </a:prstGeom>
          <a:solidFill>
            <a:srgbClr val="E08A2E"/>
          </a:solidFill>
          <a:ln w="12700">
            <a:solidFill>
              <a:srgbClr val="E08A2E"/>
            </a:solidFill>
            <a:prstDash val="solid"/>
          </a:ln>
        </p:spPr>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E08A2E"/>
                </a:solidFill>
                <a:latin typeface="Calibri" pitchFamily="34" charset="0"/>
                <a:ea typeface="Calibri" pitchFamily="34" charset="-122"/>
                <a:cs typeface="Calibri" pitchFamily="34" charset="-120"/>
              </a:rPr>
              <a:t>3 · SẢN PHẨM VIỆN CNTT</a:t>
            </a:r>
            <a:endParaRPr lang="en-US" sz="11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23</a:t>
            </a:fld>
            <a:endParaRPr lang="en-US"/>
          </a:p>
        </p:txBody>
      </p:sp>
      <p:grpSp>
        <p:nvGrpSpPr>
          <p:cNvPr id="5" name="Group 4">
            <a:extLst>
              <a:ext uri="{FF2B5EF4-FFF2-40B4-BE49-F238E27FC236}">
                <a16:creationId xmlns:a16="http://schemas.microsoft.com/office/drawing/2014/main" id="{D263B13B-9409-A20B-2B0C-62757B46A743}"/>
              </a:ext>
            </a:extLst>
          </p:cNvPr>
          <p:cNvGrpSpPr/>
          <p:nvPr/>
        </p:nvGrpSpPr>
        <p:grpSpPr>
          <a:xfrm>
            <a:off x="457200" y="1143000"/>
            <a:ext cx="11292840" cy="4983480"/>
            <a:chOff x="457200" y="1143000"/>
            <a:chExt cx="11292840" cy="4983480"/>
          </a:xfrm>
        </p:grpSpPr>
        <p:sp>
          <p:nvSpPr>
            <p:cNvPr id="7" name="Shape 3"/>
            <p:cNvSpPr/>
            <p:nvPr/>
          </p:nvSpPr>
          <p:spPr>
            <a:xfrm>
              <a:off x="457200" y="1143000"/>
              <a:ext cx="7863840" cy="4423410"/>
            </a:xfrm>
            <a:prstGeom prst="rect">
              <a:avLst/>
            </a:prstGeom>
            <a:ln w="12700">
              <a:solidFill>
                <a:srgbClr val="D9E3E9"/>
              </a:solidFill>
              <a:prstDash val="solid"/>
            </a:ln>
          </p:spPr>
        </p:sp>
        <p:sp>
          <p:nvSpPr>
            <p:cNvPr id="8" name="Text 4"/>
            <p:cNvSpPr txBox="1"/>
            <p:nvPr/>
          </p:nvSpPr>
          <p:spPr>
            <a:xfrm>
              <a:off x="8595360" y="1143000"/>
              <a:ext cx="3154680" cy="1051560"/>
            </a:xfrm>
            <a:prstGeom prst="rect">
              <a:avLst/>
            </a:prstGeom>
            <a:noFill/>
            <a:ln/>
          </p:spPr>
          <p:txBody>
            <a:bodyPr wrap="square" lIns="0" tIns="0" rIns="0" bIns="0" rtlCol="0" anchor="t"/>
            <a:lstStyle/>
            <a:p>
              <a:pPr marL="0" indent="0">
                <a:buNone/>
              </a:pPr>
              <a:r>
                <a:rPr lang="en-US" sz="1450" b="1" i="1" dirty="0">
                  <a:solidFill>
                    <a:srgbClr val="13293D"/>
                  </a:solidFill>
                  <a:latin typeface="Cambria" pitchFamily="34" charset="0"/>
                  <a:ea typeface="Cambria" pitchFamily="34" charset="-122"/>
                  <a:cs typeface="Cambria" pitchFamily="34" charset="-120"/>
                </a:rPr>
                <a:t>VNU-ITI-AIRC | Camera AI – Hệ thống giám sát trực tiếp và nhận diện khuôn mặt tự động</a:t>
              </a:r>
              <a:endParaRPr lang="en-US" sz="1450" dirty="0"/>
            </a:p>
          </p:txBody>
        </p:sp>
        <p:sp>
          <p:nvSpPr>
            <p:cNvPr id="9" name="Text 5"/>
            <p:cNvSpPr txBox="1"/>
            <p:nvPr/>
          </p:nvSpPr>
          <p:spPr>
            <a:xfrm>
              <a:off x="8595360" y="2194560"/>
              <a:ext cx="3154680" cy="274320"/>
            </a:xfrm>
            <a:prstGeom prst="rect">
              <a:avLst/>
            </a:prstGeom>
            <a:noFill/>
            <a:ln/>
          </p:spPr>
          <p:txBody>
            <a:bodyPr wrap="square" lIns="0" tIns="0" rIns="0" bIns="0" rtlCol="0" anchor="t"/>
            <a:lstStyle/>
            <a:p>
              <a:pPr marL="0" indent="0">
                <a:buNone/>
              </a:pPr>
              <a:r>
                <a:rPr lang="en-US" sz="1200" dirty="0">
                  <a:solidFill>
                    <a:srgbClr val="5B6B76"/>
                  </a:solidFill>
                  <a:latin typeface="Calibri" pitchFamily="34" charset="0"/>
                  <a:ea typeface="Calibri" pitchFamily="34" charset="-122"/>
                  <a:cs typeface="Calibri" pitchFamily="34" charset="-120"/>
                </a:rPr>
                <a:t>V-Seminar</a:t>
              </a:r>
              <a:endParaRPr lang="en-US" sz="1200" dirty="0"/>
            </a:p>
          </p:txBody>
        </p:sp>
        <p:sp>
          <p:nvSpPr>
            <p:cNvPr id="10" name="Text 6"/>
            <p:cNvSpPr txBox="1"/>
            <p:nvPr/>
          </p:nvSpPr>
          <p:spPr>
            <a:xfrm>
              <a:off x="8595360" y="2560320"/>
              <a:ext cx="3154680" cy="292608"/>
            </a:xfrm>
            <a:prstGeom prst="rect">
              <a:avLst/>
            </a:prstGeom>
            <a:noFill/>
            <a:ln/>
          </p:spPr>
          <p:txBody>
            <a:bodyPr wrap="square" lIns="0" tIns="0" rIns="0" bIns="0" rtlCol="0" anchor="t"/>
            <a:lstStyle/>
            <a:p>
              <a:pPr marL="0" indent="0">
                <a:buNone/>
              </a:pPr>
              <a:r>
                <a:rPr lang="en-US" sz="1250" b="1" dirty="0">
                  <a:solidFill>
                    <a:srgbClr val="5B6B76"/>
                  </a:solidFill>
                  <a:latin typeface="Calibri" pitchFamily="34" charset="0"/>
                  <a:ea typeface="Calibri" pitchFamily="34" charset="-122"/>
                  <a:cs typeface="Calibri" pitchFamily="34" charset="-120"/>
                </a:rPr>
                <a:t>Xem trong video</a:t>
              </a:r>
              <a:endParaRPr lang="en-US" sz="1250" dirty="0"/>
            </a:p>
          </p:txBody>
        </p:sp>
        <p:sp>
          <p:nvSpPr>
            <p:cNvPr id="11" name="Shape 7"/>
            <p:cNvSpPr/>
            <p:nvPr/>
          </p:nvSpPr>
          <p:spPr>
            <a:xfrm>
              <a:off x="8595360" y="2926080"/>
              <a:ext cx="438912" cy="438912"/>
            </a:xfrm>
            <a:prstGeom prst="ellipse">
              <a:avLst/>
            </a:prstGeom>
            <a:solidFill>
              <a:srgbClr val="6F7780"/>
            </a:solidFill>
            <a:ln w="12700">
              <a:solidFill>
                <a:srgbClr val="6F7780"/>
              </a:solidFill>
              <a:prstDash val="solid"/>
            </a:ln>
          </p:spPr>
        </p:sp>
        <p:pic>
          <p:nvPicPr>
            <p:cNvPr id="12" name="Image 0" descr="preencoded.png"/>
            <p:cNvPicPr>
              <a:picLocks noChangeAspect="1"/>
            </p:cNvPicPr>
            <p:nvPr/>
          </p:nvPicPr>
          <p:blipFill>
            <a:blip r:embed="rId3"/>
            <a:stretch>
              <a:fillRect/>
            </a:stretch>
          </p:blipFill>
          <p:spPr>
            <a:xfrm>
              <a:off x="8700699" y="3031419"/>
              <a:ext cx="228234" cy="228234"/>
            </a:xfrm>
            <a:prstGeom prst="rect">
              <a:avLst/>
            </a:prstGeom>
          </p:spPr>
        </p:pic>
        <p:sp>
          <p:nvSpPr>
            <p:cNvPr id="13" name="Text 8"/>
            <p:cNvSpPr txBox="1"/>
            <p:nvPr/>
          </p:nvSpPr>
          <p:spPr>
            <a:xfrm>
              <a:off x="9144000" y="2926080"/>
              <a:ext cx="2606040" cy="438912"/>
            </a:xfrm>
            <a:prstGeom prst="rect">
              <a:avLst/>
            </a:prstGeom>
            <a:noFill/>
            <a:ln/>
          </p:spPr>
          <p:txBody>
            <a:bodyPr wrap="square" lIns="0" tIns="0" rIns="0" bIns="0" rtlCol="0" anchor="ctr"/>
            <a:lstStyle/>
            <a:p>
              <a:pPr marL="0" indent="0">
                <a:buNone/>
              </a:pPr>
              <a:r>
                <a:rPr lang="en-US" sz="1350" b="1" dirty="0">
                  <a:solidFill>
                    <a:srgbClr val="13293D"/>
                  </a:solidFill>
                  <a:latin typeface="Calibri" pitchFamily="34" charset="0"/>
                  <a:ea typeface="Calibri" pitchFamily="34" charset="-122"/>
                  <a:cs typeface="Calibri" pitchFamily="34" charset="-120"/>
                </a:rPr>
                <a:t>Camera tại sảnh Viện</a:t>
              </a:r>
              <a:endParaRPr lang="en-US" sz="1350" dirty="0"/>
            </a:p>
          </p:txBody>
        </p:sp>
        <p:sp>
          <p:nvSpPr>
            <p:cNvPr id="14" name="Shape 9"/>
            <p:cNvSpPr/>
            <p:nvPr/>
          </p:nvSpPr>
          <p:spPr>
            <a:xfrm>
              <a:off x="8595360" y="3474720"/>
              <a:ext cx="438912" cy="438912"/>
            </a:xfrm>
            <a:prstGeom prst="ellipse">
              <a:avLst/>
            </a:prstGeom>
            <a:solidFill>
              <a:srgbClr val="E08A2E"/>
            </a:solidFill>
            <a:ln w="12700">
              <a:solidFill>
                <a:srgbClr val="E08A2E"/>
              </a:solidFill>
              <a:prstDash val="solid"/>
            </a:ln>
          </p:spPr>
        </p:sp>
        <p:pic>
          <p:nvPicPr>
            <p:cNvPr id="15" name="Image 1" descr="preencoded.png"/>
            <p:cNvPicPr>
              <a:picLocks noChangeAspect="1"/>
            </p:cNvPicPr>
            <p:nvPr/>
          </p:nvPicPr>
          <p:blipFill>
            <a:blip r:embed="rId4"/>
            <a:stretch>
              <a:fillRect/>
            </a:stretch>
          </p:blipFill>
          <p:spPr>
            <a:xfrm>
              <a:off x="8700699" y="3580059"/>
              <a:ext cx="228234" cy="228234"/>
            </a:xfrm>
            <a:prstGeom prst="rect">
              <a:avLst/>
            </a:prstGeom>
          </p:spPr>
        </p:pic>
        <p:sp>
          <p:nvSpPr>
            <p:cNvPr id="16" name="Text 10"/>
            <p:cNvSpPr txBox="1"/>
            <p:nvPr/>
          </p:nvSpPr>
          <p:spPr>
            <a:xfrm>
              <a:off x="9144000" y="3474720"/>
              <a:ext cx="2606040" cy="438912"/>
            </a:xfrm>
            <a:prstGeom prst="rect">
              <a:avLst/>
            </a:prstGeom>
            <a:noFill/>
            <a:ln/>
          </p:spPr>
          <p:txBody>
            <a:bodyPr wrap="square" lIns="0" tIns="0" rIns="0" bIns="0" rtlCol="0" anchor="ctr"/>
            <a:lstStyle/>
            <a:p>
              <a:pPr marL="0" indent="0">
                <a:buNone/>
              </a:pPr>
              <a:r>
                <a:rPr lang="en-US" sz="1350" b="1" dirty="0">
                  <a:solidFill>
                    <a:srgbClr val="13293D"/>
                  </a:solidFill>
                  <a:latin typeface="Calibri" pitchFamily="34" charset="0"/>
                  <a:ea typeface="Calibri" pitchFamily="34" charset="-122"/>
                  <a:cs typeface="Calibri" pitchFamily="34" charset="-120"/>
                </a:rPr>
                <a:t>Nhận diện khuôn mặt</a:t>
              </a:r>
              <a:endParaRPr lang="en-US" sz="1350" dirty="0"/>
            </a:p>
          </p:txBody>
        </p:sp>
        <p:sp>
          <p:nvSpPr>
            <p:cNvPr id="17" name="Shape 11"/>
            <p:cNvSpPr/>
            <p:nvPr/>
          </p:nvSpPr>
          <p:spPr>
            <a:xfrm>
              <a:off x="8595360" y="4023360"/>
              <a:ext cx="438912" cy="438912"/>
            </a:xfrm>
            <a:prstGeom prst="ellipse">
              <a:avLst/>
            </a:prstGeom>
            <a:solidFill>
              <a:srgbClr val="A80000"/>
            </a:solidFill>
            <a:ln w="12700">
              <a:solidFill>
                <a:srgbClr val="A80000"/>
              </a:solidFill>
              <a:prstDash val="solid"/>
            </a:ln>
          </p:spPr>
        </p:sp>
        <p:pic>
          <p:nvPicPr>
            <p:cNvPr id="18" name="Image 2" descr="preencoded.png"/>
            <p:cNvPicPr>
              <a:picLocks noChangeAspect="1"/>
            </p:cNvPicPr>
            <p:nvPr/>
          </p:nvPicPr>
          <p:blipFill>
            <a:blip r:embed="rId5"/>
            <a:stretch>
              <a:fillRect/>
            </a:stretch>
          </p:blipFill>
          <p:spPr>
            <a:xfrm>
              <a:off x="8700699" y="4128699"/>
              <a:ext cx="228234" cy="228234"/>
            </a:xfrm>
            <a:prstGeom prst="rect">
              <a:avLst/>
            </a:prstGeom>
          </p:spPr>
        </p:pic>
        <p:sp>
          <p:nvSpPr>
            <p:cNvPr id="19" name="Text 12"/>
            <p:cNvSpPr txBox="1"/>
            <p:nvPr/>
          </p:nvSpPr>
          <p:spPr>
            <a:xfrm>
              <a:off x="9144000" y="4023360"/>
              <a:ext cx="2606040" cy="438912"/>
            </a:xfrm>
            <a:prstGeom prst="rect">
              <a:avLst/>
            </a:prstGeom>
            <a:noFill/>
            <a:ln/>
          </p:spPr>
          <p:txBody>
            <a:bodyPr wrap="square" lIns="0" tIns="0" rIns="0" bIns="0" rtlCol="0" anchor="ctr"/>
            <a:lstStyle/>
            <a:p>
              <a:pPr marL="0" indent="0">
                <a:buNone/>
              </a:pPr>
              <a:r>
                <a:rPr lang="en-US" sz="1350" b="1" dirty="0">
                  <a:solidFill>
                    <a:srgbClr val="13293D"/>
                  </a:solidFill>
                  <a:latin typeface="Calibri" pitchFamily="34" charset="0"/>
                  <a:ea typeface="Calibri" pitchFamily="34" charset="-122"/>
                  <a:cs typeface="Calibri" pitchFamily="34" charset="-120"/>
                </a:rPr>
                <a:t>Lời chào cá nhân hóa</a:t>
              </a:r>
              <a:endParaRPr lang="en-US" sz="1350" dirty="0"/>
            </a:p>
          </p:txBody>
        </p:sp>
        <p:pic>
          <p:nvPicPr>
            <p:cNvPr id="20" name="Image 3" descr="/home/claude/v5/img/qr_camera.png">
              <a:hlinkClick r:id="rId6" tooltip="Mở trên YouTube"/>
            </p:cNvPr>
            <p:cNvPicPr>
              <a:picLocks noChangeAspect="1"/>
            </p:cNvPicPr>
            <p:nvPr/>
          </p:nvPicPr>
          <p:blipFill>
            <a:blip r:embed="rId7"/>
            <a:stretch>
              <a:fillRect/>
            </a:stretch>
          </p:blipFill>
          <p:spPr>
            <a:xfrm>
              <a:off x="9646920" y="4434840"/>
              <a:ext cx="1024128" cy="1024128"/>
            </a:xfrm>
            <a:prstGeom prst="rect">
              <a:avLst/>
            </a:prstGeom>
          </p:spPr>
        </p:pic>
        <p:sp>
          <p:nvSpPr>
            <p:cNvPr id="21" name="Text 13"/>
            <p:cNvSpPr txBox="1"/>
            <p:nvPr/>
          </p:nvSpPr>
          <p:spPr>
            <a:xfrm>
              <a:off x="9098280" y="5486400"/>
              <a:ext cx="2121408" cy="274320"/>
            </a:xfrm>
            <a:prstGeom prst="rect">
              <a:avLst/>
            </a:prstGeom>
            <a:noFill/>
            <a:ln/>
          </p:spPr>
          <p:txBody>
            <a:bodyPr wrap="square" lIns="0" tIns="0" rIns="0" bIns="0" rtlCol="0" anchor="t"/>
            <a:lstStyle/>
            <a:p>
              <a:pPr marL="0" indent="0" algn="ctr">
                <a:buNone/>
              </a:pPr>
              <a:r>
                <a:rPr lang="en-US" sz="1050" b="1" u="sng" dirty="0">
                  <a:solidFill>
                    <a:srgbClr val="A80000"/>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youtu.be/dsv_VzlZdzY</a:t>
              </a:r>
              <a:endParaRPr lang="en-US" sz="1050" dirty="0"/>
            </a:p>
          </p:txBody>
        </p:sp>
        <p:sp>
          <p:nvSpPr>
            <p:cNvPr id="22" name="Shape 14"/>
            <p:cNvSpPr/>
            <p:nvPr/>
          </p:nvSpPr>
          <p:spPr>
            <a:xfrm>
              <a:off x="457200" y="5715000"/>
              <a:ext cx="11274552" cy="411480"/>
            </a:xfrm>
            <a:prstGeom prst="roundRect">
              <a:avLst>
                <a:gd name="adj" fmla="val 50000"/>
              </a:avLst>
            </a:prstGeom>
            <a:solidFill>
              <a:srgbClr val="FBEAEA"/>
            </a:solidFill>
            <a:ln w="12700">
              <a:solidFill>
                <a:srgbClr val="F1CACA"/>
              </a:solidFill>
              <a:prstDash val="solid"/>
            </a:ln>
          </p:spPr>
        </p:sp>
        <p:sp>
          <p:nvSpPr>
            <p:cNvPr id="23" name="Text 15"/>
            <p:cNvSpPr txBox="1"/>
            <p:nvPr/>
          </p:nvSpPr>
          <p:spPr>
            <a:xfrm>
              <a:off x="640080" y="5715000"/>
              <a:ext cx="10908792" cy="411480"/>
            </a:xfrm>
            <a:prstGeom prst="rect">
              <a:avLst/>
            </a:prstGeom>
            <a:noFill/>
            <a:ln/>
          </p:spPr>
          <p:txBody>
            <a:bodyPr wrap="square" lIns="0" tIns="0" rIns="0" bIns="0" rtlCol="0" anchor="ctr"/>
            <a:lstStyle/>
            <a:p>
              <a:pPr marL="0" indent="0" algn="ctr">
                <a:buNone/>
              </a:pPr>
              <a:r>
                <a:rPr lang="en-US" sz="1700" b="1" dirty="0">
                  <a:solidFill>
                    <a:srgbClr val="A80000"/>
                  </a:solidFill>
                  <a:latin typeface="Calibri" pitchFamily="34" charset="0"/>
                  <a:ea typeface="Calibri" pitchFamily="34" charset="-122"/>
                  <a:cs typeface="Calibri" pitchFamily="34" charset="-120"/>
                </a:rPr>
                <a:t>Bấm vào ảnh video để xem trên YouTube </a:t>
              </a:r>
              <a:r>
                <a:rPr lang="en-US" sz="1700" dirty="0">
                  <a:solidFill>
                    <a:srgbClr val="1E2A32"/>
                  </a:solidFill>
                  <a:latin typeface="Calibri" pitchFamily="34" charset="0"/>
                  <a:ea typeface="Calibri" pitchFamily="34" charset="-122"/>
                  <a:cs typeface="Calibri" pitchFamily="34" charset="-120"/>
                </a:rPr>
                <a:t>· cần Internet, hoặc quét mã QR bằng điện thoại</a:t>
              </a:r>
              <a:endParaRPr lang="en-US" sz="1700" dirty="0"/>
            </a:p>
          </p:txBody>
        </p:sp>
        <p:pic>
          <p:nvPicPr>
            <p:cNvPr id="6" name="Online Media 5" title="VNU-ITI-AIRC | Camera AI - Hệ thống giám sát trực tiếp và nhận diện khuôn mặt tự động">
              <a:hlinkClick r:id="" action="ppaction://media"/>
              <a:extLst>
                <a:ext uri="{FF2B5EF4-FFF2-40B4-BE49-F238E27FC236}">
                  <a16:creationId xmlns:a16="http://schemas.microsoft.com/office/drawing/2014/main" id="{259D68F3-8C15-7EC1-654E-C8FE0A824711}"/>
                </a:ext>
              </a:extLst>
            </p:cNvPr>
            <p:cNvPicPr>
              <a:picLocks noRot="1" noChangeAspect="1"/>
            </p:cNvPicPr>
            <p:nvPr>
              <a:videoFile r:link="rId1"/>
            </p:nvPr>
          </p:nvPicPr>
          <p:blipFill>
            <a:blip r:embed="rId8"/>
            <a:stretch>
              <a:fillRect/>
            </a:stretch>
          </p:blipFill>
          <p:spPr>
            <a:xfrm>
              <a:off x="484632" y="1181100"/>
              <a:ext cx="7781544" cy="4305300"/>
            </a:xfrm>
            <a:prstGeom prst="rect">
              <a:avLst/>
            </a:prstGeom>
          </p:spPr>
        </p:pic>
      </p:gr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Tính toán mờ và AIoT: từ tri thức đến phần cứng</a:t>
            </a:r>
            <a:endParaRPr lang="en-US" sz="2800" dirty="0"/>
          </a:p>
        </p:txBody>
      </p:sp>
      <p:sp>
        <p:nvSpPr>
          <p:cNvPr id="3" name="Shape 1"/>
          <p:cNvSpPr/>
          <p:nvPr/>
        </p:nvSpPr>
        <p:spPr>
          <a:xfrm>
            <a:off x="457200" y="6510528"/>
            <a:ext cx="128016" cy="128016"/>
          </a:xfrm>
          <a:prstGeom prst="ellipse">
            <a:avLst/>
          </a:prstGeom>
          <a:solidFill>
            <a:srgbClr val="E08A2E"/>
          </a:solidFill>
          <a:ln w="12700">
            <a:solidFill>
              <a:srgbClr val="E08A2E"/>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E08A2E"/>
                </a:solidFill>
                <a:latin typeface="Calibri" pitchFamily="34" charset="0"/>
                <a:ea typeface="Calibri" pitchFamily="34" charset="-122"/>
                <a:cs typeface="Calibri" pitchFamily="34" charset="-120"/>
              </a:rPr>
              <a:t>3 · SẢN PHẨM VIỆN CNTT</a:t>
            </a:r>
            <a:endParaRPr lang="en-US" sz="1100" dirty="0"/>
          </a:p>
        </p:txBody>
      </p:sp>
      <p:grpSp>
        <p:nvGrpSpPr>
          <p:cNvPr id="50" name="Group 49">
            <a:extLst>
              <a:ext uri="{FF2B5EF4-FFF2-40B4-BE49-F238E27FC236}">
                <a16:creationId xmlns:a16="http://schemas.microsoft.com/office/drawing/2014/main" id="{2E45A199-8138-CA9C-87E8-3333AD50DD4F}"/>
              </a:ext>
            </a:extLst>
          </p:cNvPr>
          <p:cNvGrpSpPr/>
          <p:nvPr/>
        </p:nvGrpSpPr>
        <p:grpSpPr>
          <a:xfrm>
            <a:off x="457200" y="1097280"/>
            <a:ext cx="11338560" cy="5133252"/>
            <a:chOff x="457200" y="1097280"/>
            <a:chExt cx="11338560" cy="4919472"/>
          </a:xfrm>
        </p:grpSpPr>
        <p:sp>
          <p:nvSpPr>
            <p:cNvPr id="6" name="Text 3"/>
            <p:cNvSpPr txBox="1"/>
            <p:nvPr/>
          </p:nvSpPr>
          <p:spPr>
            <a:xfrm>
              <a:off x="457200" y="1097280"/>
              <a:ext cx="5577840" cy="411480"/>
            </a:xfrm>
            <a:prstGeom prst="rect">
              <a:avLst/>
            </a:prstGeom>
            <a:noFill/>
            <a:ln/>
          </p:spPr>
          <p:txBody>
            <a:bodyPr wrap="square" lIns="0" tIns="0" rIns="0" bIns="0" rtlCol="0" anchor="t"/>
            <a:lstStyle/>
            <a:p>
              <a:pPr marL="0" indent="0">
                <a:buNone/>
              </a:pPr>
              <a:r>
                <a:rPr lang="en-US" sz="1900" b="1" dirty="0">
                  <a:solidFill>
                    <a:srgbClr val="4B4B9C"/>
                  </a:solidFill>
                  <a:latin typeface="Cambria" pitchFamily="34" charset="0"/>
                  <a:ea typeface="Cambria" pitchFamily="34" charset="-122"/>
                  <a:cs typeface="Cambria" pitchFamily="34" charset="-120"/>
                </a:rPr>
                <a:t>Hỗ trợ chẩn đoán dựa trên tính toán mờ</a:t>
              </a:r>
              <a:endParaRPr lang="en-US" sz="1900" dirty="0"/>
            </a:p>
          </p:txBody>
        </p:sp>
        <p:sp>
          <p:nvSpPr>
            <p:cNvPr id="7" name="Shape 4"/>
            <p:cNvSpPr/>
            <p:nvPr/>
          </p:nvSpPr>
          <p:spPr>
            <a:xfrm>
              <a:off x="548640" y="1737360"/>
              <a:ext cx="1600200" cy="868680"/>
            </a:xfrm>
            <a:prstGeom prst="roundRect">
              <a:avLst>
                <a:gd name="adj" fmla="val 8421"/>
              </a:avLst>
            </a:prstGeom>
            <a:solidFill>
              <a:srgbClr val="1BA39C"/>
            </a:solidFill>
            <a:ln w="19050">
              <a:solidFill>
                <a:srgbClr val="1BA39C"/>
              </a:solidFill>
              <a:prstDash val="solid"/>
            </a:ln>
          </p:spPr>
          <p:txBody>
            <a:bodyPr/>
            <a:lstStyle/>
            <a:p>
              <a:endParaRPr lang="en-US"/>
            </a:p>
          </p:txBody>
        </p:sp>
        <p:sp>
          <p:nvSpPr>
            <p:cNvPr id="8" name="Text 5"/>
            <p:cNvSpPr txBox="1"/>
            <p:nvPr/>
          </p:nvSpPr>
          <p:spPr>
            <a:xfrm>
              <a:off x="594360" y="1737360"/>
              <a:ext cx="150876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Tri thức</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chuyên gia</a:t>
              </a:r>
              <a:endParaRPr lang="en-US" sz="1400" dirty="0"/>
            </a:p>
          </p:txBody>
        </p:sp>
        <p:sp>
          <p:nvSpPr>
            <p:cNvPr id="9" name="Shape 6"/>
            <p:cNvSpPr/>
            <p:nvPr/>
          </p:nvSpPr>
          <p:spPr>
            <a:xfrm>
              <a:off x="548640" y="2834640"/>
              <a:ext cx="1600200" cy="868680"/>
            </a:xfrm>
            <a:prstGeom prst="roundRect">
              <a:avLst>
                <a:gd name="adj" fmla="val 8421"/>
              </a:avLst>
            </a:prstGeom>
            <a:solidFill>
              <a:srgbClr val="E08A2E"/>
            </a:solidFill>
            <a:ln w="19050">
              <a:solidFill>
                <a:srgbClr val="E08A2E"/>
              </a:solidFill>
              <a:prstDash val="solid"/>
            </a:ln>
          </p:spPr>
          <p:txBody>
            <a:bodyPr/>
            <a:lstStyle/>
            <a:p>
              <a:endParaRPr lang="en-US"/>
            </a:p>
          </p:txBody>
        </p:sp>
        <p:sp>
          <p:nvSpPr>
            <p:cNvPr id="10" name="Text 7"/>
            <p:cNvSpPr txBox="1"/>
            <p:nvPr/>
          </p:nvSpPr>
          <p:spPr>
            <a:xfrm>
              <a:off x="594360" y="2834640"/>
              <a:ext cx="150876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Dữ liệu y khoa</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không chắc chắn</a:t>
              </a:r>
              <a:endParaRPr lang="en-US" sz="1300" dirty="0"/>
            </a:p>
          </p:txBody>
        </p:sp>
        <p:sp>
          <p:nvSpPr>
            <p:cNvPr id="11" name="Shape 8"/>
            <p:cNvSpPr/>
            <p:nvPr/>
          </p:nvSpPr>
          <p:spPr>
            <a:xfrm>
              <a:off x="2194560" y="2194560"/>
              <a:ext cx="411480" cy="411480"/>
            </a:xfrm>
            <a:prstGeom prst="line">
              <a:avLst/>
            </a:prstGeom>
            <a:noFill/>
            <a:ln w="31750">
              <a:solidFill>
                <a:srgbClr val="9AA7B0"/>
              </a:solidFill>
              <a:prstDash val="solid"/>
              <a:tailEnd type="triangle"/>
            </a:ln>
          </p:spPr>
          <p:txBody>
            <a:bodyPr/>
            <a:lstStyle/>
            <a:p>
              <a:endParaRPr lang="en-US"/>
            </a:p>
          </p:txBody>
        </p:sp>
        <p:sp>
          <p:nvSpPr>
            <p:cNvPr id="12" name="Shape 9"/>
            <p:cNvSpPr/>
            <p:nvPr/>
          </p:nvSpPr>
          <p:spPr>
            <a:xfrm flipV="1">
              <a:off x="2194560" y="2834640"/>
              <a:ext cx="411480" cy="411480"/>
            </a:xfrm>
            <a:prstGeom prst="line">
              <a:avLst/>
            </a:prstGeom>
            <a:noFill/>
            <a:ln w="31750">
              <a:solidFill>
                <a:srgbClr val="9AA7B0"/>
              </a:solidFill>
              <a:prstDash val="solid"/>
              <a:tailEnd type="triangle"/>
            </a:ln>
          </p:spPr>
          <p:txBody>
            <a:bodyPr/>
            <a:lstStyle/>
            <a:p>
              <a:endParaRPr lang="en-US"/>
            </a:p>
          </p:txBody>
        </p:sp>
        <p:sp>
          <p:nvSpPr>
            <p:cNvPr id="13" name="Shape 10"/>
            <p:cNvSpPr/>
            <p:nvPr/>
          </p:nvSpPr>
          <p:spPr>
            <a:xfrm>
              <a:off x="2651760" y="2286000"/>
              <a:ext cx="1463040" cy="868680"/>
            </a:xfrm>
            <a:prstGeom prst="roundRect">
              <a:avLst>
                <a:gd name="adj" fmla="val 8421"/>
              </a:avLst>
            </a:prstGeom>
            <a:solidFill>
              <a:srgbClr val="4B4B9C"/>
            </a:solidFill>
            <a:ln w="19050">
              <a:solidFill>
                <a:srgbClr val="4B4B9C"/>
              </a:solidFill>
              <a:prstDash val="solid"/>
            </a:ln>
          </p:spPr>
          <p:txBody>
            <a:bodyPr/>
            <a:lstStyle/>
            <a:p>
              <a:endParaRPr lang="en-US"/>
            </a:p>
          </p:txBody>
        </p:sp>
        <p:sp>
          <p:nvSpPr>
            <p:cNvPr id="14" name="Text 11"/>
            <p:cNvSpPr txBox="1"/>
            <p:nvPr/>
          </p:nvSpPr>
          <p:spPr>
            <a:xfrm>
              <a:off x="2697480" y="2286000"/>
              <a:ext cx="137160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Tập mờ +</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suy luận</a:t>
              </a:r>
              <a:endParaRPr lang="en-US" sz="1400" dirty="0"/>
            </a:p>
          </p:txBody>
        </p:sp>
        <p:sp>
          <p:nvSpPr>
            <p:cNvPr id="15" name="Shape 12"/>
            <p:cNvSpPr/>
            <p:nvPr/>
          </p:nvSpPr>
          <p:spPr>
            <a:xfrm>
              <a:off x="4160520" y="2715768"/>
              <a:ext cx="365760" cy="914"/>
            </a:xfrm>
            <a:prstGeom prst="line">
              <a:avLst/>
            </a:prstGeom>
            <a:noFill/>
            <a:ln w="31750">
              <a:solidFill>
                <a:srgbClr val="9AA7B0"/>
              </a:solidFill>
              <a:prstDash val="solid"/>
              <a:tailEnd type="triangle"/>
            </a:ln>
          </p:spPr>
          <p:txBody>
            <a:bodyPr/>
            <a:lstStyle/>
            <a:p>
              <a:endParaRPr lang="en-US"/>
            </a:p>
          </p:txBody>
        </p:sp>
        <p:sp>
          <p:nvSpPr>
            <p:cNvPr id="16" name="Shape 13"/>
            <p:cNvSpPr/>
            <p:nvPr/>
          </p:nvSpPr>
          <p:spPr>
            <a:xfrm>
              <a:off x="4572000" y="2286000"/>
              <a:ext cx="1417320" cy="868680"/>
            </a:xfrm>
            <a:prstGeom prst="roundRect">
              <a:avLst>
                <a:gd name="adj" fmla="val 8421"/>
              </a:avLst>
            </a:prstGeom>
            <a:solidFill>
              <a:srgbClr val="A80000"/>
            </a:solidFill>
            <a:ln w="19050">
              <a:solidFill>
                <a:srgbClr val="A80000"/>
              </a:solidFill>
              <a:prstDash val="solid"/>
            </a:ln>
          </p:spPr>
          <p:txBody>
            <a:bodyPr/>
            <a:lstStyle/>
            <a:p>
              <a:endParaRPr lang="en-US"/>
            </a:p>
          </p:txBody>
        </p:sp>
        <p:sp>
          <p:nvSpPr>
            <p:cNvPr id="17" name="Text 14"/>
            <p:cNvSpPr txBox="1"/>
            <p:nvPr/>
          </p:nvSpPr>
          <p:spPr>
            <a:xfrm>
              <a:off x="4617720" y="2286000"/>
              <a:ext cx="132588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Hỗ trợ</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ra quyết định</a:t>
              </a:r>
              <a:endParaRPr lang="en-US" sz="1400" dirty="0"/>
            </a:p>
          </p:txBody>
        </p:sp>
        <p:sp>
          <p:nvSpPr>
            <p:cNvPr id="18" name="Text 15"/>
            <p:cNvSpPr txBox="1"/>
            <p:nvPr/>
          </p:nvSpPr>
          <p:spPr>
            <a:xfrm>
              <a:off x="548640" y="3931920"/>
              <a:ext cx="1097280" cy="365760"/>
            </a:xfrm>
            <a:prstGeom prst="rect">
              <a:avLst/>
            </a:prstGeom>
            <a:noFill/>
            <a:ln/>
          </p:spPr>
          <p:txBody>
            <a:bodyPr wrap="square" lIns="0" tIns="0" rIns="0" bIns="0" rtlCol="0" anchor="ctr"/>
            <a:lstStyle/>
            <a:p>
              <a:pPr marL="0" indent="0">
                <a:buNone/>
              </a:pPr>
              <a:r>
                <a:rPr lang="en-US" sz="1350" b="1" dirty="0">
                  <a:solidFill>
                    <a:srgbClr val="5B6B76"/>
                  </a:solidFill>
                  <a:latin typeface="Calibri" pitchFamily="34" charset="0"/>
                  <a:ea typeface="Calibri" pitchFamily="34" charset="-122"/>
                  <a:cs typeface="Calibri" pitchFamily="34" charset="-120"/>
                </a:rPr>
                <a:t>Mở rộng:</a:t>
              </a:r>
              <a:endParaRPr lang="en-US" sz="1350" dirty="0"/>
            </a:p>
          </p:txBody>
        </p:sp>
        <p:sp>
          <p:nvSpPr>
            <p:cNvPr id="19" name="Shape 16"/>
            <p:cNvSpPr/>
            <p:nvPr/>
          </p:nvSpPr>
          <p:spPr>
            <a:xfrm>
              <a:off x="1600200" y="3931920"/>
              <a:ext cx="1920240" cy="365760"/>
            </a:xfrm>
            <a:prstGeom prst="roundRect">
              <a:avLst>
                <a:gd name="adj" fmla="val 50000"/>
              </a:avLst>
            </a:prstGeom>
            <a:solidFill>
              <a:srgbClr val="EEEEF8"/>
            </a:solidFill>
            <a:ln w="12700">
              <a:solidFill>
                <a:srgbClr val="4B4B9C"/>
              </a:solidFill>
              <a:prstDash val="solid"/>
            </a:ln>
          </p:spPr>
          <p:txBody>
            <a:bodyPr/>
            <a:lstStyle/>
            <a:p>
              <a:endParaRPr lang="en-US"/>
            </a:p>
          </p:txBody>
        </p:sp>
        <p:sp>
          <p:nvSpPr>
            <p:cNvPr id="20" name="Text 17"/>
            <p:cNvSpPr txBox="1"/>
            <p:nvPr/>
          </p:nvSpPr>
          <p:spPr>
            <a:xfrm>
              <a:off x="1600200" y="3931920"/>
              <a:ext cx="1920240" cy="365760"/>
            </a:xfrm>
            <a:prstGeom prst="rect">
              <a:avLst/>
            </a:prstGeom>
            <a:noFill/>
            <a:ln/>
          </p:spPr>
          <p:txBody>
            <a:bodyPr wrap="square" lIns="0" tIns="0" rIns="0" bIns="0" rtlCol="0" anchor="ctr"/>
            <a:lstStyle/>
            <a:p>
              <a:pPr marL="0" indent="0" algn="ctr">
                <a:buNone/>
              </a:pPr>
              <a:r>
                <a:rPr lang="en-US" sz="1200" b="1" dirty="0">
                  <a:solidFill>
                    <a:srgbClr val="4B4B9C"/>
                  </a:solidFill>
                  <a:latin typeface="Calibri" pitchFamily="34" charset="0"/>
                  <a:ea typeface="Calibri" pitchFamily="34" charset="-122"/>
                  <a:cs typeface="Calibri" pitchFamily="34" charset="-120"/>
                </a:rPr>
                <a:t>Fuzzy Knowledge Graph</a:t>
              </a:r>
              <a:endParaRPr lang="en-US" sz="1200" dirty="0"/>
            </a:p>
          </p:txBody>
        </p:sp>
        <p:sp>
          <p:nvSpPr>
            <p:cNvPr id="21" name="Shape 18"/>
            <p:cNvSpPr/>
            <p:nvPr/>
          </p:nvSpPr>
          <p:spPr>
            <a:xfrm>
              <a:off x="3611880" y="3931920"/>
              <a:ext cx="1005840" cy="365760"/>
            </a:xfrm>
            <a:prstGeom prst="roundRect">
              <a:avLst>
                <a:gd name="adj" fmla="val 50000"/>
              </a:avLst>
            </a:prstGeom>
            <a:solidFill>
              <a:srgbClr val="EEEEF8"/>
            </a:solidFill>
            <a:ln w="12700">
              <a:solidFill>
                <a:srgbClr val="4B4B9C"/>
              </a:solidFill>
              <a:prstDash val="solid"/>
            </a:ln>
          </p:spPr>
          <p:txBody>
            <a:bodyPr/>
            <a:lstStyle/>
            <a:p>
              <a:endParaRPr lang="en-US"/>
            </a:p>
          </p:txBody>
        </p:sp>
        <p:sp>
          <p:nvSpPr>
            <p:cNvPr id="22" name="Text 19"/>
            <p:cNvSpPr txBox="1"/>
            <p:nvPr/>
          </p:nvSpPr>
          <p:spPr>
            <a:xfrm>
              <a:off x="3611880" y="3931920"/>
              <a:ext cx="1005840" cy="365760"/>
            </a:xfrm>
            <a:prstGeom prst="rect">
              <a:avLst/>
            </a:prstGeom>
            <a:noFill/>
            <a:ln/>
          </p:spPr>
          <p:txBody>
            <a:bodyPr wrap="square" lIns="0" tIns="0" rIns="0" bIns="0" rtlCol="0" anchor="ctr"/>
            <a:lstStyle/>
            <a:p>
              <a:pPr marL="0" indent="0" algn="ctr">
                <a:buNone/>
              </a:pPr>
              <a:r>
                <a:rPr lang="en-US" sz="1200" b="1" dirty="0">
                  <a:solidFill>
                    <a:srgbClr val="4B4B9C"/>
                  </a:solidFill>
                  <a:latin typeface="Calibri" pitchFamily="34" charset="0"/>
                  <a:ea typeface="Calibri" pitchFamily="34" charset="-122"/>
                  <a:cs typeface="Calibri" pitchFamily="34" charset="-120"/>
                </a:rPr>
                <a:t>Học sâu</a:t>
              </a:r>
              <a:endParaRPr lang="en-US" sz="1200" dirty="0"/>
            </a:p>
          </p:txBody>
        </p:sp>
        <p:sp>
          <p:nvSpPr>
            <p:cNvPr id="23" name="Shape 20"/>
            <p:cNvSpPr/>
            <p:nvPr/>
          </p:nvSpPr>
          <p:spPr>
            <a:xfrm>
              <a:off x="4709160" y="3931920"/>
              <a:ext cx="1600200" cy="365760"/>
            </a:xfrm>
            <a:prstGeom prst="roundRect">
              <a:avLst>
                <a:gd name="adj" fmla="val 50000"/>
              </a:avLst>
            </a:prstGeom>
            <a:solidFill>
              <a:srgbClr val="EEEEF8"/>
            </a:solidFill>
            <a:ln w="12700">
              <a:solidFill>
                <a:srgbClr val="4B4B9C"/>
              </a:solidFill>
              <a:prstDash val="solid"/>
            </a:ln>
          </p:spPr>
          <p:txBody>
            <a:bodyPr/>
            <a:lstStyle/>
            <a:p>
              <a:endParaRPr lang="en-US"/>
            </a:p>
          </p:txBody>
        </p:sp>
        <p:sp>
          <p:nvSpPr>
            <p:cNvPr id="24" name="Text 21"/>
            <p:cNvSpPr txBox="1"/>
            <p:nvPr/>
          </p:nvSpPr>
          <p:spPr>
            <a:xfrm>
              <a:off x="4709160" y="3931920"/>
              <a:ext cx="1600200" cy="365760"/>
            </a:xfrm>
            <a:prstGeom prst="rect">
              <a:avLst/>
            </a:prstGeom>
            <a:noFill/>
            <a:ln/>
          </p:spPr>
          <p:txBody>
            <a:bodyPr wrap="square" lIns="0" tIns="0" rIns="0" bIns="0" rtlCol="0" anchor="ctr"/>
            <a:lstStyle/>
            <a:p>
              <a:pPr marL="0" indent="0" algn="ctr">
                <a:buNone/>
              </a:pPr>
              <a:r>
                <a:rPr lang="en-US" sz="1200" b="1" dirty="0">
                  <a:solidFill>
                    <a:srgbClr val="4B4B9C"/>
                  </a:solidFill>
                  <a:latin typeface="Calibri" pitchFamily="34" charset="0"/>
                  <a:ea typeface="Calibri" pitchFamily="34" charset="-122"/>
                  <a:cs typeface="Calibri" pitchFamily="34" charset="-120"/>
                </a:rPr>
                <a:t>AI giải thích được</a:t>
              </a:r>
              <a:endParaRPr lang="en-US" sz="1200" dirty="0"/>
            </a:p>
          </p:txBody>
        </p:sp>
        <p:sp>
          <p:nvSpPr>
            <p:cNvPr id="25" name="Shape 22"/>
            <p:cNvSpPr/>
            <p:nvPr/>
          </p:nvSpPr>
          <p:spPr>
            <a:xfrm>
              <a:off x="6263640" y="1188720"/>
              <a:ext cx="0" cy="3200400"/>
            </a:xfrm>
            <a:prstGeom prst="line">
              <a:avLst/>
            </a:prstGeom>
            <a:noFill/>
            <a:ln w="19050">
              <a:solidFill>
                <a:srgbClr val="D9E3E9"/>
              </a:solidFill>
              <a:prstDash val="solid"/>
            </a:ln>
          </p:spPr>
          <p:txBody>
            <a:bodyPr/>
            <a:lstStyle/>
            <a:p>
              <a:endParaRPr lang="en-US"/>
            </a:p>
          </p:txBody>
        </p:sp>
        <p:sp>
          <p:nvSpPr>
            <p:cNvPr id="26" name="Text 23"/>
            <p:cNvSpPr txBox="1"/>
            <p:nvPr/>
          </p:nvSpPr>
          <p:spPr>
            <a:xfrm>
              <a:off x="6492240" y="1097280"/>
              <a:ext cx="5303520" cy="411480"/>
            </a:xfrm>
            <a:prstGeom prst="rect">
              <a:avLst/>
            </a:prstGeom>
            <a:noFill/>
            <a:ln/>
          </p:spPr>
          <p:txBody>
            <a:bodyPr wrap="square" lIns="0" tIns="0" rIns="0" bIns="0" rtlCol="0" anchor="t"/>
            <a:lstStyle/>
            <a:p>
              <a:pPr marL="0" indent="0">
                <a:buNone/>
              </a:pPr>
              <a:r>
                <a:rPr lang="en-US" sz="1900" b="1" dirty="0">
                  <a:solidFill>
                    <a:srgbClr val="1F6F8B"/>
                  </a:solidFill>
                  <a:latin typeface="Cambria" pitchFamily="34" charset="0"/>
                  <a:ea typeface="Cambria" pitchFamily="34" charset="-122"/>
                  <a:cs typeface="Cambria" pitchFamily="34" charset="-120"/>
                </a:rPr>
                <a:t>AIoT và hệ thống trên chip (SISLAB)</a:t>
              </a:r>
              <a:endParaRPr lang="en-US" sz="1900" dirty="0"/>
            </a:p>
          </p:txBody>
        </p:sp>
        <p:sp>
          <p:nvSpPr>
            <p:cNvPr id="27" name="Shape 24"/>
            <p:cNvSpPr/>
            <p:nvPr/>
          </p:nvSpPr>
          <p:spPr>
            <a:xfrm>
              <a:off x="7178040" y="1737360"/>
              <a:ext cx="3840480" cy="658368"/>
            </a:xfrm>
            <a:prstGeom prst="roundRect">
              <a:avLst>
                <a:gd name="adj" fmla="val 11111"/>
              </a:avLst>
            </a:prstGeom>
            <a:solidFill>
              <a:srgbClr val="1F6F8B"/>
            </a:solidFill>
            <a:ln w="12700">
              <a:solidFill>
                <a:srgbClr val="1F6F8B"/>
              </a:solidFill>
              <a:prstDash val="solid"/>
            </a:ln>
          </p:spPr>
          <p:txBody>
            <a:bodyPr/>
            <a:lstStyle/>
            <a:p>
              <a:endParaRPr lang="en-US"/>
            </a:p>
          </p:txBody>
        </p:sp>
        <p:pic>
          <p:nvPicPr>
            <p:cNvPr id="28" name="Image 0" descr="preencoded.png"/>
            <p:cNvPicPr>
              <a:picLocks noChangeAspect="1"/>
            </p:cNvPicPr>
            <p:nvPr/>
          </p:nvPicPr>
          <p:blipFill>
            <a:blip r:embed="rId2"/>
            <a:stretch>
              <a:fillRect/>
            </a:stretch>
          </p:blipFill>
          <p:spPr>
            <a:xfrm>
              <a:off x="7360920" y="1883664"/>
              <a:ext cx="365760" cy="365760"/>
            </a:xfrm>
            <a:prstGeom prst="rect">
              <a:avLst/>
            </a:prstGeom>
          </p:spPr>
        </p:pic>
        <p:sp>
          <p:nvSpPr>
            <p:cNvPr id="29" name="Text 25"/>
            <p:cNvSpPr txBox="1"/>
            <p:nvPr/>
          </p:nvSpPr>
          <p:spPr>
            <a:xfrm>
              <a:off x="7818120" y="1737360"/>
              <a:ext cx="3108960"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Ứng dụng AI tại biên</a:t>
              </a:r>
              <a:endParaRPr lang="en-US" sz="1500" dirty="0"/>
            </a:p>
          </p:txBody>
        </p:sp>
        <p:sp>
          <p:nvSpPr>
            <p:cNvPr id="30" name="Shape 26"/>
            <p:cNvSpPr/>
            <p:nvPr/>
          </p:nvSpPr>
          <p:spPr>
            <a:xfrm>
              <a:off x="6903720" y="2514600"/>
              <a:ext cx="4389120" cy="658368"/>
            </a:xfrm>
            <a:prstGeom prst="roundRect">
              <a:avLst>
                <a:gd name="adj" fmla="val 11111"/>
              </a:avLst>
            </a:prstGeom>
            <a:solidFill>
              <a:srgbClr val="1BA39C"/>
            </a:solidFill>
            <a:ln w="12700">
              <a:solidFill>
                <a:srgbClr val="1BA39C"/>
              </a:solidFill>
              <a:prstDash val="solid"/>
            </a:ln>
          </p:spPr>
          <p:txBody>
            <a:bodyPr/>
            <a:lstStyle/>
            <a:p>
              <a:endParaRPr lang="en-US"/>
            </a:p>
          </p:txBody>
        </p:sp>
        <p:pic>
          <p:nvPicPr>
            <p:cNvPr id="31" name="Image 1" descr="preencoded.png"/>
            <p:cNvPicPr>
              <a:picLocks noChangeAspect="1"/>
            </p:cNvPicPr>
            <p:nvPr/>
          </p:nvPicPr>
          <p:blipFill>
            <a:blip r:embed="rId3"/>
            <a:stretch>
              <a:fillRect/>
            </a:stretch>
          </p:blipFill>
          <p:spPr>
            <a:xfrm>
              <a:off x="7086600" y="2660904"/>
              <a:ext cx="365760" cy="365760"/>
            </a:xfrm>
            <a:prstGeom prst="rect">
              <a:avLst/>
            </a:prstGeom>
          </p:spPr>
        </p:pic>
        <p:sp>
          <p:nvSpPr>
            <p:cNvPr id="32" name="Text 27"/>
            <p:cNvSpPr txBox="1"/>
            <p:nvPr/>
          </p:nvSpPr>
          <p:spPr>
            <a:xfrm>
              <a:off x="7543800" y="2514600"/>
              <a:ext cx="3657600"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Hệ thống nhúng</a:t>
              </a:r>
              <a:endParaRPr lang="en-US" sz="1500" dirty="0"/>
            </a:p>
          </p:txBody>
        </p:sp>
        <p:sp>
          <p:nvSpPr>
            <p:cNvPr id="33" name="Shape 28"/>
            <p:cNvSpPr/>
            <p:nvPr/>
          </p:nvSpPr>
          <p:spPr>
            <a:xfrm>
              <a:off x="6629400" y="3291840"/>
              <a:ext cx="4937760" cy="658368"/>
            </a:xfrm>
            <a:prstGeom prst="roundRect">
              <a:avLst>
                <a:gd name="adj" fmla="val 11111"/>
              </a:avLst>
            </a:prstGeom>
            <a:solidFill>
              <a:srgbClr val="13293D"/>
            </a:solidFill>
            <a:ln w="12700">
              <a:solidFill>
                <a:srgbClr val="13293D"/>
              </a:solidFill>
              <a:prstDash val="solid"/>
            </a:ln>
          </p:spPr>
          <p:txBody>
            <a:bodyPr/>
            <a:lstStyle/>
            <a:p>
              <a:endParaRPr lang="en-US"/>
            </a:p>
          </p:txBody>
        </p:sp>
        <p:pic>
          <p:nvPicPr>
            <p:cNvPr id="34" name="Image 2" descr="preencoded.png"/>
            <p:cNvPicPr>
              <a:picLocks noChangeAspect="1"/>
            </p:cNvPicPr>
            <p:nvPr/>
          </p:nvPicPr>
          <p:blipFill>
            <a:blip r:embed="rId4"/>
            <a:stretch>
              <a:fillRect/>
            </a:stretch>
          </p:blipFill>
          <p:spPr>
            <a:xfrm>
              <a:off x="6812280" y="3438144"/>
              <a:ext cx="365760" cy="365760"/>
            </a:xfrm>
            <a:prstGeom prst="rect">
              <a:avLst/>
            </a:prstGeom>
          </p:spPr>
        </p:pic>
        <p:sp>
          <p:nvSpPr>
            <p:cNvPr id="35" name="Text 29"/>
            <p:cNvSpPr txBox="1"/>
            <p:nvPr/>
          </p:nvSpPr>
          <p:spPr>
            <a:xfrm>
              <a:off x="7269480" y="3291840"/>
              <a:ext cx="4206240"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SoC · bảo mật phần cứng</a:t>
              </a:r>
              <a:endParaRPr lang="en-US" sz="1500" dirty="0"/>
            </a:p>
          </p:txBody>
        </p:sp>
        <p:sp>
          <p:nvSpPr>
            <p:cNvPr id="36" name="Text 30"/>
            <p:cNvSpPr txBox="1"/>
            <p:nvPr/>
          </p:nvSpPr>
          <p:spPr>
            <a:xfrm>
              <a:off x="6492240" y="4114800"/>
              <a:ext cx="5212080" cy="320040"/>
            </a:xfrm>
            <a:prstGeom prst="rect">
              <a:avLst/>
            </a:prstGeom>
            <a:noFill/>
            <a:ln/>
          </p:spPr>
          <p:txBody>
            <a:bodyPr wrap="square" lIns="0" tIns="0" rIns="0" bIns="0" rtlCol="0" anchor="t"/>
            <a:lstStyle/>
            <a:p>
              <a:pPr marL="0" indent="0" algn="ctr">
                <a:buNone/>
              </a:pPr>
              <a:r>
                <a:rPr lang="en-US" sz="1250" i="1" dirty="0">
                  <a:solidFill>
                    <a:srgbClr val="5B6B76"/>
                  </a:solidFill>
                  <a:latin typeface="Calibri" pitchFamily="34" charset="0"/>
                  <a:ea typeface="Calibri" pitchFamily="34" charset="-122"/>
                  <a:cs typeface="Calibri" pitchFamily="34" charset="-120"/>
                </a:rPr>
                <a:t>GS.TS. Trần Xuân Tú và cộng sự · nền cho Edge AI, AIoT</a:t>
              </a:r>
              <a:endParaRPr lang="en-US" sz="1250" dirty="0"/>
            </a:p>
          </p:txBody>
        </p:sp>
        <p:sp>
          <p:nvSpPr>
            <p:cNvPr id="37" name="Text 31"/>
            <p:cNvSpPr txBox="1"/>
            <p:nvPr/>
          </p:nvSpPr>
          <p:spPr>
            <a:xfrm>
              <a:off x="457200" y="4709160"/>
              <a:ext cx="3657600" cy="365760"/>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Mức trưởng thành của sản phẩm:</a:t>
              </a:r>
              <a:endParaRPr lang="en-US" sz="1400" dirty="0"/>
            </a:p>
          </p:txBody>
        </p:sp>
        <p:sp>
          <p:nvSpPr>
            <p:cNvPr id="38" name="Shape 32"/>
            <p:cNvSpPr/>
            <p:nvPr/>
          </p:nvSpPr>
          <p:spPr>
            <a:xfrm>
              <a:off x="457200" y="5120640"/>
              <a:ext cx="2560320" cy="438912"/>
            </a:xfrm>
            <a:prstGeom prst="roundRect">
              <a:avLst>
                <a:gd name="adj" fmla="val 50000"/>
              </a:avLst>
            </a:prstGeom>
            <a:solidFill>
              <a:srgbClr val="6F7780"/>
            </a:solidFill>
            <a:ln w="12700">
              <a:solidFill>
                <a:srgbClr val="6F7780"/>
              </a:solidFill>
              <a:prstDash val="solid"/>
            </a:ln>
          </p:spPr>
          <p:txBody>
            <a:bodyPr/>
            <a:lstStyle/>
            <a:p>
              <a:endParaRPr lang="en-US"/>
            </a:p>
          </p:txBody>
        </p:sp>
        <p:sp>
          <p:nvSpPr>
            <p:cNvPr id="39" name="Text 33"/>
            <p:cNvSpPr txBox="1"/>
            <p:nvPr/>
          </p:nvSpPr>
          <p:spPr>
            <a:xfrm>
              <a:off x="457200" y="5120640"/>
              <a:ext cx="2560320" cy="43891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Nghiên cứu, thuật toán</a:t>
              </a:r>
              <a:endParaRPr lang="en-US" sz="1350" dirty="0"/>
            </a:p>
          </p:txBody>
        </p:sp>
        <p:sp>
          <p:nvSpPr>
            <p:cNvPr id="40" name="Shape 34"/>
            <p:cNvSpPr/>
            <p:nvPr/>
          </p:nvSpPr>
          <p:spPr>
            <a:xfrm>
              <a:off x="3044952" y="5340096"/>
              <a:ext cx="228600" cy="914"/>
            </a:xfrm>
            <a:prstGeom prst="line">
              <a:avLst/>
            </a:prstGeom>
            <a:noFill/>
            <a:ln w="25400">
              <a:solidFill>
                <a:srgbClr val="9AA7B0"/>
              </a:solidFill>
              <a:prstDash val="solid"/>
              <a:tailEnd type="triangle"/>
            </a:ln>
          </p:spPr>
          <p:txBody>
            <a:bodyPr/>
            <a:lstStyle/>
            <a:p>
              <a:endParaRPr lang="en-US"/>
            </a:p>
          </p:txBody>
        </p:sp>
        <p:sp>
          <p:nvSpPr>
            <p:cNvPr id="41" name="Shape 35"/>
            <p:cNvSpPr/>
            <p:nvPr/>
          </p:nvSpPr>
          <p:spPr>
            <a:xfrm>
              <a:off x="3291840" y="5120640"/>
              <a:ext cx="2560320" cy="438912"/>
            </a:xfrm>
            <a:prstGeom prst="roundRect">
              <a:avLst>
                <a:gd name="adj" fmla="val 50000"/>
              </a:avLst>
            </a:prstGeom>
            <a:solidFill>
              <a:srgbClr val="2D6A9F"/>
            </a:solidFill>
            <a:ln w="12700">
              <a:solidFill>
                <a:srgbClr val="2D6A9F"/>
              </a:solidFill>
              <a:prstDash val="solid"/>
            </a:ln>
          </p:spPr>
          <p:txBody>
            <a:bodyPr/>
            <a:lstStyle/>
            <a:p>
              <a:endParaRPr lang="en-US"/>
            </a:p>
          </p:txBody>
        </p:sp>
        <p:sp>
          <p:nvSpPr>
            <p:cNvPr id="42" name="Text 36"/>
            <p:cNvSpPr txBox="1"/>
            <p:nvPr/>
          </p:nvSpPr>
          <p:spPr>
            <a:xfrm>
              <a:off x="3291840" y="5120640"/>
              <a:ext cx="2560320" cy="43891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Nguyên mẫu</a:t>
              </a:r>
              <a:endParaRPr lang="en-US" sz="1350" dirty="0"/>
            </a:p>
          </p:txBody>
        </p:sp>
        <p:sp>
          <p:nvSpPr>
            <p:cNvPr id="43" name="Shape 37"/>
            <p:cNvSpPr/>
            <p:nvPr/>
          </p:nvSpPr>
          <p:spPr>
            <a:xfrm>
              <a:off x="5879592" y="5340096"/>
              <a:ext cx="228600" cy="914"/>
            </a:xfrm>
            <a:prstGeom prst="line">
              <a:avLst/>
            </a:prstGeom>
            <a:noFill/>
            <a:ln w="25400">
              <a:solidFill>
                <a:srgbClr val="9AA7B0"/>
              </a:solidFill>
              <a:prstDash val="solid"/>
              <a:tailEnd type="triangle"/>
            </a:ln>
          </p:spPr>
          <p:txBody>
            <a:bodyPr/>
            <a:lstStyle/>
            <a:p>
              <a:endParaRPr lang="en-US"/>
            </a:p>
          </p:txBody>
        </p:sp>
        <p:sp>
          <p:nvSpPr>
            <p:cNvPr id="44" name="Shape 38"/>
            <p:cNvSpPr/>
            <p:nvPr/>
          </p:nvSpPr>
          <p:spPr>
            <a:xfrm>
              <a:off x="6126480" y="5120640"/>
              <a:ext cx="2560320" cy="438912"/>
            </a:xfrm>
            <a:prstGeom prst="roundRect">
              <a:avLst>
                <a:gd name="adj" fmla="val 50000"/>
              </a:avLst>
            </a:prstGeom>
            <a:solidFill>
              <a:srgbClr val="E08A2E"/>
            </a:solidFill>
            <a:ln w="12700">
              <a:solidFill>
                <a:srgbClr val="E08A2E"/>
              </a:solidFill>
              <a:prstDash val="solid"/>
            </a:ln>
          </p:spPr>
          <p:txBody>
            <a:bodyPr/>
            <a:lstStyle/>
            <a:p>
              <a:endParaRPr lang="en-US"/>
            </a:p>
          </p:txBody>
        </p:sp>
        <p:sp>
          <p:nvSpPr>
            <p:cNvPr id="45" name="Text 39"/>
            <p:cNvSpPr txBox="1"/>
            <p:nvPr/>
          </p:nvSpPr>
          <p:spPr>
            <a:xfrm>
              <a:off x="6126480" y="5120640"/>
              <a:ext cx="2560320" cy="43891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Ứng dụng tại bệnh viện</a:t>
              </a:r>
              <a:endParaRPr lang="en-US" sz="1350" dirty="0"/>
            </a:p>
          </p:txBody>
        </p:sp>
        <p:sp>
          <p:nvSpPr>
            <p:cNvPr id="46" name="Shape 40"/>
            <p:cNvSpPr/>
            <p:nvPr/>
          </p:nvSpPr>
          <p:spPr>
            <a:xfrm>
              <a:off x="8714232" y="5340096"/>
              <a:ext cx="228600" cy="914"/>
            </a:xfrm>
            <a:prstGeom prst="line">
              <a:avLst/>
            </a:prstGeom>
            <a:noFill/>
            <a:ln w="25400">
              <a:solidFill>
                <a:srgbClr val="9AA7B0"/>
              </a:solidFill>
              <a:prstDash val="solid"/>
              <a:tailEnd type="triangle"/>
            </a:ln>
          </p:spPr>
          <p:txBody>
            <a:bodyPr/>
            <a:lstStyle/>
            <a:p>
              <a:endParaRPr lang="en-US"/>
            </a:p>
          </p:txBody>
        </p:sp>
        <p:sp>
          <p:nvSpPr>
            <p:cNvPr id="47" name="Shape 41"/>
            <p:cNvSpPr/>
            <p:nvPr/>
          </p:nvSpPr>
          <p:spPr>
            <a:xfrm>
              <a:off x="8961120" y="5120640"/>
              <a:ext cx="2560320" cy="438912"/>
            </a:xfrm>
            <a:prstGeom prst="roundRect">
              <a:avLst>
                <a:gd name="adj" fmla="val 50000"/>
              </a:avLst>
            </a:prstGeom>
            <a:solidFill>
              <a:srgbClr val="A80000"/>
            </a:solidFill>
            <a:ln w="12700">
              <a:solidFill>
                <a:srgbClr val="A80000"/>
              </a:solidFill>
              <a:prstDash val="solid"/>
            </a:ln>
          </p:spPr>
          <p:txBody>
            <a:bodyPr/>
            <a:lstStyle/>
            <a:p>
              <a:endParaRPr lang="en-US"/>
            </a:p>
          </p:txBody>
        </p:sp>
        <p:sp>
          <p:nvSpPr>
            <p:cNvPr id="48" name="Text 42"/>
            <p:cNvSpPr txBox="1"/>
            <p:nvPr/>
          </p:nvSpPr>
          <p:spPr>
            <a:xfrm>
              <a:off x="8961120" y="5120640"/>
              <a:ext cx="2560320" cy="43891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Chuyển giao, thương mại</a:t>
              </a:r>
              <a:endParaRPr lang="en-US" sz="1350" dirty="0"/>
            </a:p>
          </p:txBody>
        </p:sp>
        <p:sp>
          <p:nvSpPr>
            <p:cNvPr id="49" name="Text 43"/>
            <p:cNvSpPr txBox="1"/>
            <p:nvPr/>
          </p:nvSpPr>
          <p:spPr>
            <a:xfrm>
              <a:off x="457200" y="5650992"/>
              <a:ext cx="11274552" cy="365760"/>
            </a:xfrm>
            <a:prstGeom prst="rect">
              <a:avLst/>
            </a:prstGeom>
            <a:noFill/>
            <a:ln/>
          </p:spPr>
          <p:txBody>
            <a:bodyPr wrap="square" lIns="0" tIns="0" rIns="0" bIns="0" rtlCol="0" anchor="t"/>
            <a:lstStyle/>
            <a:p>
              <a:pPr marL="0" indent="0" algn="ctr">
                <a:buNone/>
              </a:pPr>
              <a:r>
                <a:rPr lang="en-US" sz="1300" i="1" dirty="0">
                  <a:solidFill>
                    <a:srgbClr val="5B6B76"/>
                  </a:solidFill>
                  <a:latin typeface="Calibri" pitchFamily="34" charset="0"/>
                  <a:ea typeface="Calibri" pitchFamily="34" charset="-122"/>
                  <a:cs typeface="Calibri" pitchFamily="34" charset="-120"/>
                </a:rPr>
                <a:t>VNU-DIAGNOSIS, AIRC-KNEE đã ở mức ứng dụng tại bệnh viện; các sản phẩm khác cần thêm thông số đánh giá</a:t>
              </a:r>
              <a:endParaRPr lang="en-US" sz="13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Thực tập sinh AIRC: từ Viện CNTT ra quốc tế</a:t>
            </a:r>
            <a:endParaRPr lang="en-US" sz="2800" dirty="0"/>
          </a:p>
        </p:txBody>
      </p:sp>
      <p:sp>
        <p:nvSpPr>
          <p:cNvPr id="3" name="Shape 1"/>
          <p:cNvSpPr/>
          <p:nvPr/>
        </p:nvSpPr>
        <p:spPr>
          <a:xfrm>
            <a:off x="457200" y="6510528"/>
            <a:ext cx="128016" cy="128016"/>
          </a:xfrm>
          <a:prstGeom prst="ellipse">
            <a:avLst/>
          </a:prstGeom>
          <a:solidFill>
            <a:srgbClr val="E08A2E"/>
          </a:solidFill>
          <a:ln w="12700">
            <a:solidFill>
              <a:srgbClr val="E08A2E"/>
            </a:solidFill>
            <a:prstDash val="solid"/>
          </a:ln>
        </p:spPr>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E08A2E"/>
                </a:solidFill>
                <a:latin typeface="Calibri" pitchFamily="34" charset="0"/>
                <a:ea typeface="Calibri" pitchFamily="34" charset="-122"/>
                <a:cs typeface="Calibri" pitchFamily="34" charset="-120"/>
              </a:rPr>
              <a:t>3 · SẢN PHẨM VIỆN CNTT</a:t>
            </a:r>
            <a:endParaRPr lang="en-US" sz="1100" dirty="0"/>
          </a:p>
        </p:txBody>
      </p:sp>
      <p:sp>
        <p:nvSpPr>
          <p:cNvPr id="8"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25</a:t>
            </a:fld>
            <a:endParaRPr lang="en-US"/>
          </a:p>
        </p:txBody>
      </p:sp>
      <p:grpSp>
        <p:nvGrpSpPr>
          <p:cNvPr id="5" name="Group 4">
            <a:extLst>
              <a:ext uri="{FF2B5EF4-FFF2-40B4-BE49-F238E27FC236}">
                <a16:creationId xmlns:a16="http://schemas.microsoft.com/office/drawing/2014/main" id="{10668107-F3E0-FCFE-9D80-FC8CFC3AAFDE}"/>
              </a:ext>
            </a:extLst>
          </p:cNvPr>
          <p:cNvGrpSpPr/>
          <p:nvPr/>
        </p:nvGrpSpPr>
        <p:grpSpPr>
          <a:xfrm>
            <a:off x="132430" y="1054392"/>
            <a:ext cx="11891930" cy="5419560"/>
            <a:chOff x="521208" y="1054392"/>
            <a:chExt cx="11503152" cy="5026368"/>
          </a:xfrm>
        </p:grpSpPr>
        <p:sp>
          <p:nvSpPr>
            <p:cNvPr id="7" name="Shape 3"/>
            <p:cNvSpPr/>
            <p:nvPr/>
          </p:nvSpPr>
          <p:spPr>
            <a:xfrm>
              <a:off x="548640" y="1143000"/>
              <a:ext cx="2571750" cy="4572000"/>
            </a:xfrm>
            <a:prstGeom prst="rect">
              <a:avLst/>
            </a:prstGeom>
            <a:ln w="12700">
              <a:solidFill>
                <a:srgbClr val="D9E3E9"/>
              </a:solidFill>
              <a:prstDash val="solid"/>
            </a:ln>
          </p:spPr>
        </p:sp>
        <p:sp>
          <p:nvSpPr>
            <p:cNvPr id="9" name="Shape 4"/>
            <p:cNvSpPr/>
            <p:nvPr/>
          </p:nvSpPr>
          <p:spPr>
            <a:xfrm>
              <a:off x="3531870" y="1143000"/>
              <a:ext cx="2571750" cy="4572000"/>
            </a:xfrm>
            <a:prstGeom prst="rect">
              <a:avLst/>
            </a:prstGeom>
            <a:ln w="12700">
              <a:solidFill>
                <a:srgbClr val="D9E3E9"/>
              </a:solidFill>
              <a:prstDash val="solid"/>
            </a:ln>
          </p:spPr>
        </p:sp>
        <p:sp>
          <p:nvSpPr>
            <p:cNvPr id="10" name="Text 5"/>
            <p:cNvSpPr txBox="1"/>
            <p:nvPr/>
          </p:nvSpPr>
          <p:spPr>
            <a:xfrm>
              <a:off x="6537960" y="1097280"/>
              <a:ext cx="5212080" cy="384048"/>
            </a:xfrm>
            <a:prstGeom prst="rect">
              <a:avLst/>
            </a:prstGeom>
            <a:noFill/>
            <a:ln/>
          </p:spPr>
          <p:txBody>
            <a:bodyPr wrap="square" lIns="0" tIns="0" rIns="0" bIns="0" rtlCol="0" anchor="t"/>
            <a:lstStyle/>
            <a:p>
              <a:pPr marL="0" indent="0">
                <a:buNone/>
              </a:pPr>
              <a:r>
                <a:rPr lang="en-US" sz="1900" b="1" dirty="0">
                  <a:solidFill>
                    <a:srgbClr val="13293D"/>
                  </a:solidFill>
                  <a:latin typeface="Cambria" pitchFamily="34" charset="0"/>
                  <a:ea typeface="Cambria" pitchFamily="34" charset="-122"/>
                  <a:cs typeface="Cambria" pitchFamily="34" charset="-120"/>
                </a:rPr>
                <a:t>Hai câu chuyện</a:t>
              </a:r>
              <a:endParaRPr lang="en-US" sz="1900" dirty="0"/>
            </a:p>
          </p:txBody>
        </p:sp>
        <p:sp>
          <p:nvSpPr>
            <p:cNvPr id="11" name="Shape 6"/>
            <p:cNvSpPr/>
            <p:nvPr/>
          </p:nvSpPr>
          <p:spPr>
            <a:xfrm>
              <a:off x="6537960" y="1600200"/>
              <a:ext cx="5193792" cy="1627632"/>
            </a:xfrm>
            <a:prstGeom prst="roundRect">
              <a:avLst>
                <a:gd name="adj" fmla="val 4494"/>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sp>
        <p:sp>
          <p:nvSpPr>
            <p:cNvPr id="12" name="Shape 7"/>
            <p:cNvSpPr/>
            <p:nvPr/>
          </p:nvSpPr>
          <p:spPr>
            <a:xfrm>
              <a:off x="6720840" y="1828800"/>
              <a:ext cx="640080" cy="640080"/>
            </a:xfrm>
            <a:prstGeom prst="ellipse">
              <a:avLst/>
            </a:prstGeom>
            <a:solidFill>
              <a:srgbClr val="4B4B9C"/>
            </a:solidFill>
            <a:ln w="12700">
              <a:solidFill>
                <a:srgbClr val="4B4B9C"/>
              </a:solidFill>
              <a:prstDash val="solid"/>
            </a:ln>
          </p:spPr>
        </p:sp>
        <p:pic>
          <p:nvPicPr>
            <p:cNvPr id="13" name="Image 0" descr="preencoded.png"/>
            <p:cNvPicPr>
              <a:picLocks noChangeAspect="1"/>
            </p:cNvPicPr>
            <p:nvPr/>
          </p:nvPicPr>
          <p:blipFill>
            <a:blip r:embed="rId4"/>
            <a:stretch>
              <a:fillRect/>
            </a:stretch>
          </p:blipFill>
          <p:spPr>
            <a:xfrm>
              <a:off x="6874459" y="1982419"/>
              <a:ext cx="332842" cy="332842"/>
            </a:xfrm>
            <a:prstGeom prst="rect">
              <a:avLst/>
            </a:prstGeom>
          </p:spPr>
        </p:pic>
        <p:sp>
          <p:nvSpPr>
            <p:cNvPr id="14" name="Text 8"/>
            <p:cNvSpPr txBox="1"/>
            <p:nvPr/>
          </p:nvSpPr>
          <p:spPr>
            <a:xfrm>
              <a:off x="7498080" y="1691640"/>
              <a:ext cx="2743200" cy="1417320"/>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Kỹ sư AIRC qua Đài Loan trao đổi tại NTUST</a:t>
              </a:r>
              <a:endParaRPr lang="en-US" sz="1450" dirty="0"/>
            </a:p>
          </p:txBody>
        </p:sp>
        <p:pic>
          <p:nvPicPr>
            <p:cNvPr id="15" name="Image 1" descr="/home/claude/v5/img/qr_ntust.png">
              <a:hlinkClick r:id="rId5" tooltip="Mở trên YouTube"/>
            </p:cNvPr>
            <p:cNvPicPr>
              <a:picLocks noChangeAspect="1"/>
            </p:cNvPicPr>
            <p:nvPr/>
          </p:nvPicPr>
          <p:blipFill>
            <a:blip r:embed="rId6"/>
            <a:stretch>
              <a:fillRect/>
            </a:stretch>
          </p:blipFill>
          <p:spPr>
            <a:xfrm>
              <a:off x="10424160" y="1737360"/>
              <a:ext cx="1051560" cy="1051560"/>
            </a:xfrm>
            <a:prstGeom prst="rect">
              <a:avLst/>
            </a:prstGeom>
          </p:spPr>
        </p:pic>
        <p:sp>
          <p:nvSpPr>
            <p:cNvPr id="16" name="Text 9"/>
            <p:cNvSpPr txBox="1"/>
            <p:nvPr/>
          </p:nvSpPr>
          <p:spPr>
            <a:xfrm>
              <a:off x="9875520" y="2816352"/>
              <a:ext cx="2148840" cy="274320"/>
            </a:xfrm>
            <a:prstGeom prst="rect">
              <a:avLst/>
            </a:prstGeom>
            <a:noFill/>
            <a:ln/>
          </p:spPr>
          <p:txBody>
            <a:bodyPr wrap="square" lIns="0" tIns="0" rIns="0" bIns="0" rtlCol="0" anchor="t"/>
            <a:lstStyle/>
            <a:p>
              <a:pPr marL="0" indent="0" algn="ctr">
                <a:buNone/>
              </a:pPr>
              <a:r>
                <a:rPr lang="en-US" sz="1050" b="1" u="sng" dirty="0">
                  <a:solidFill>
                    <a:srgbClr val="4B4B9C"/>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Shorts · NTUST</a:t>
              </a:r>
              <a:endParaRPr lang="en-US" sz="1050" dirty="0"/>
            </a:p>
          </p:txBody>
        </p:sp>
        <p:sp>
          <p:nvSpPr>
            <p:cNvPr id="17" name="Shape 10"/>
            <p:cNvSpPr/>
            <p:nvPr/>
          </p:nvSpPr>
          <p:spPr>
            <a:xfrm>
              <a:off x="6537960" y="3383280"/>
              <a:ext cx="5193792" cy="1627632"/>
            </a:xfrm>
            <a:prstGeom prst="roundRect">
              <a:avLst>
                <a:gd name="adj" fmla="val 4494"/>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sp>
        <p:sp>
          <p:nvSpPr>
            <p:cNvPr id="18" name="Shape 11"/>
            <p:cNvSpPr/>
            <p:nvPr/>
          </p:nvSpPr>
          <p:spPr>
            <a:xfrm>
              <a:off x="6720840" y="3611880"/>
              <a:ext cx="640080" cy="640080"/>
            </a:xfrm>
            <a:prstGeom prst="ellipse">
              <a:avLst/>
            </a:prstGeom>
            <a:solidFill>
              <a:srgbClr val="1F6F8B"/>
            </a:solidFill>
            <a:ln w="12700">
              <a:solidFill>
                <a:srgbClr val="1F6F8B"/>
              </a:solidFill>
              <a:prstDash val="solid"/>
            </a:ln>
          </p:spPr>
        </p:sp>
        <p:pic>
          <p:nvPicPr>
            <p:cNvPr id="19" name="Image 2" descr="preencoded.png"/>
            <p:cNvPicPr>
              <a:picLocks noChangeAspect="1"/>
            </p:cNvPicPr>
            <p:nvPr/>
          </p:nvPicPr>
          <p:blipFill>
            <a:blip r:embed="rId7"/>
            <a:stretch>
              <a:fillRect/>
            </a:stretch>
          </p:blipFill>
          <p:spPr>
            <a:xfrm>
              <a:off x="6874459" y="3765499"/>
              <a:ext cx="332842" cy="332842"/>
            </a:xfrm>
            <a:prstGeom prst="rect">
              <a:avLst/>
            </a:prstGeom>
          </p:spPr>
        </p:pic>
        <p:sp>
          <p:nvSpPr>
            <p:cNvPr id="20" name="Text 12"/>
            <p:cNvSpPr txBox="1"/>
            <p:nvPr/>
          </p:nvSpPr>
          <p:spPr>
            <a:xfrm>
              <a:off x="7498080" y="3474720"/>
              <a:ext cx="2743200" cy="1417320"/>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Từ thực tập sinh AIRC đến Thạc sĩ tại Nhật Bản · Oni (Nigeria)</a:t>
              </a:r>
              <a:endParaRPr lang="en-US" sz="1450" dirty="0"/>
            </a:p>
          </p:txBody>
        </p:sp>
        <p:pic>
          <p:nvPicPr>
            <p:cNvPr id="21" name="Image 3" descr="/home/claude/v5/img/qr_oni.png">
              <a:hlinkClick r:id="rId8" tooltip="Mở trên YouTube"/>
            </p:cNvPr>
            <p:cNvPicPr>
              <a:picLocks noChangeAspect="1"/>
            </p:cNvPicPr>
            <p:nvPr/>
          </p:nvPicPr>
          <p:blipFill>
            <a:blip r:embed="rId9"/>
            <a:stretch>
              <a:fillRect/>
            </a:stretch>
          </p:blipFill>
          <p:spPr>
            <a:xfrm>
              <a:off x="10424160" y="3520440"/>
              <a:ext cx="1051560" cy="1051560"/>
            </a:xfrm>
            <a:prstGeom prst="rect">
              <a:avLst/>
            </a:prstGeom>
          </p:spPr>
        </p:pic>
        <p:sp>
          <p:nvSpPr>
            <p:cNvPr id="22" name="Text 13"/>
            <p:cNvSpPr txBox="1"/>
            <p:nvPr/>
          </p:nvSpPr>
          <p:spPr>
            <a:xfrm>
              <a:off x="9875520" y="4599432"/>
              <a:ext cx="2148840" cy="274320"/>
            </a:xfrm>
            <a:prstGeom prst="rect">
              <a:avLst/>
            </a:prstGeom>
            <a:noFill/>
            <a:ln/>
          </p:spPr>
          <p:txBody>
            <a:bodyPr wrap="square" lIns="0" tIns="0" rIns="0" bIns="0" rtlCol="0" anchor="t"/>
            <a:lstStyle/>
            <a:p>
              <a:pPr marL="0" indent="0" algn="ctr">
                <a:buNone/>
              </a:pPr>
              <a:r>
                <a:rPr lang="en-US" sz="1050" b="1" u="sng" dirty="0">
                  <a:solidFill>
                    <a:srgbClr val="1F6F8B"/>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Shorts · Oni</a:t>
              </a:r>
              <a:endParaRPr lang="en-US" sz="1050" dirty="0"/>
            </a:p>
          </p:txBody>
        </p:sp>
        <p:sp>
          <p:nvSpPr>
            <p:cNvPr id="23" name="Shape 14"/>
            <p:cNvSpPr/>
            <p:nvPr/>
          </p:nvSpPr>
          <p:spPr>
            <a:xfrm>
              <a:off x="6537960" y="5257800"/>
              <a:ext cx="5193792" cy="457200"/>
            </a:xfrm>
            <a:prstGeom prst="roundRect">
              <a:avLst>
                <a:gd name="adj" fmla="val 50000"/>
              </a:avLst>
            </a:prstGeom>
            <a:solidFill>
              <a:srgbClr val="FBEAEA"/>
            </a:solidFill>
            <a:ln w="12700">
              <a:solidFill>
                <a:srgbClr val="F1CACA"/>
              </a:solidFill>
              <a:prstDash val="solid"/>
            </a:ln>
          </p:spPr>
        </p:sp>
        <p:sp>
          <p:nvSpPr>
            <p:cNvPr id="24" name="Text 15"/>
            <p:cNvSpPr txBox="1"/>
            <p:nvPr/>
          </p:nvSpPr>
          <p:spPr>
            <a:xfrm>
              <a:off x="6537960" y="5257800"/>
              <a:ext cx="5193792" cy="457200"/>
            </a:xfrm>
            <a:prstGeom prst="rect">
              <a:avLst/>
            </a:prstGeom>
            <a:noFill/>
            <a:ln/>
          </p:spPr>
          <p:txBody>
            <a:bodyPr wrap="square" lIns="0" tIns="0" rIns="0" bIns="0" rtlCol="0" anchor="ctr"/>
            <a:lstStyle/>
            <a:p>
              <a:pPr marL="0" indent="0" algn="ctr">
                <a:buNone/>
              </a:pPr>
              <a:r>
                <a:rPr lang="en-US" sz="1450" dirty="0">
                  <a:solidFill>
                    <a:srgbClr val="1E2A32"/>
                  </a:solidFill>
                  <a:latin typeface="Calibri" pitchFamily="34" charset="0"/>
                  <a:ea typeface="Calibri" pitchFamily="34" charset="-122"/>
                  <a:cs typeface="Calibri" pitchFamily="34" charset="-120"/>
                </a:rPr>
                <a:t>Thực tập tại AIRC → </a:t>
              </a:r>
              <a:r>
                <a:rPr lang="en-US" sz="1450" b="1" dirty="0">
                  <a:solidFill>
                    <a:srgbClr val="A80000"/>
                  </a:solidFill>
                  <a:latin typeface="Calibri" pitchFamily="34" charset="0"/>
                  <a:ea typeface="Calibri" pitchFamily="34" charset="-122"/>
                  <a:cs typeface="Calibri" pitchFamily="34" charset="-120"/>
                </a:rPr>
                <a:t>trao đổi, học tiếp ở nước ngoài</a:t>
              </a:r>
              <a:endParaRPr lang="en-US" sz="1450" dirty="0"/>
            </a:p>
          </p:txBody>
        </p:sp>
        <p:sp>
          <p:nvSpPr>
            <p:cNvPr id="25" name="Text 16"/>
            <p:cNvSpPr txBox="1"/>
            <p:nvPr/>
          </p:nvSpPr>
          <p:spPr>
            <a:xfrm>
              <a:off x="548640" y="5806440"/>
              <a:ext cx="5760720" cy="274320"/>
            </a:xfrm>
            <a:prstGeom prst="rect">
              <a:avLst/>
            </a:prstGeom>
            <a:noFill/>
            <a:ln/>
          </p:spPr>
          <p:txBody>
            <a:bodyPr wrap="square" lIns="0" tIns="0" rIns="0" bIns="0" rtlCol="0" anchor="t"/>
            <a:lstStyle/>
            <a:p>
              <a:pPr marL="0" indent="0">
                <a:buNone/>
              </a:pPr>
              <a:r>
                <a:rPr lang="en-US" sz="1100" i="1" dirty="0">
                  <a:solidFill>
                    <a:srgbClr val="5B6B76"/>
                  </a:solidFill>
                  <a:latin typeface="Calibri" pitchFamily="34" charset="0"/>
                  <a:ea typeface="Calibri" pitchFamily="34" charset="-122"/>
                  <a:cs typeface="Calibri" pitchFamily="34" charset="-120"/>
                </a:rPr>
                <a:t>Bấm vào ảnh để xem trên YouTube · cần Internet</a:t>
              </a:r>
              <a:endParaRPr lang="en-US" sz="1100" dirty="0"/>
            </a:p>
          </p:txBody>
        </p:sp>
        <p:pic>
          <p:nvPicPr>
            <p:cNvPr id="26" name="Online Media 25" title="Kỹ sư AIRC qua Đài Loan trao đổi tại NTUST">
              <a:hlinkClick r:id="" action="ppaction://media"/>
              <a:extLst>
                <a:ext uri="{FF2B5EF4-FFF2-40B4-BE49-F238E27FC236}">
                  <a16:creationId xmlns:a16="http://schemas.microsoft.com/office/drawing/2014/main" id="{CF56B894-3D64-21B8-113D-F4A8F5885FCD}"/>
                </a:ext>
              </a:extLst>
            </p:cNvPr>
            <p:cNvPicPr>
              <a:picLocks noRot="1" noChangeAspect="1"/>
            </p:cNvPicPr>
            <p:nvPr>
              <a:videoFile r:link="rId1"/>
            </p:nvPr>
          </p:nvPicPr>
          <p:blipFill>
            <a:blip r:embed="rId10"/>
            <a:stretch>
              <a:fillRect/>
            </a:stretch>
          </p:blipFill>
          <p:spPr>
            <a:xfrm>
              <a:off x="521208" y="1097280"/>
              <a:ext cx="2583391" cy="4572000"/>
            </a:xfrm>
            <a:prstGeom prst="rect">
              <a:avLst/>
            </a:prstGeom>
          </p:spPr>
        </p:pic>
        <p:pic>
          <p:nvPicPr>
            <p:cNvPr id="27" name="Online Media 26" title="Từ thực tập sinh AIRC đến Thạc Sĩ tại Nhật Bản | Chia sẻ của bạn Oni (Nigeria)">
              <a:hlinkClick r:id="" action="ppaction://media"/>
              <a:extLst>
                <a:ext uri="{FF2B5EF4-FFF2-40B4-BE49-F238E27FC236}">
                  <a16:creationId xmlns:a16="http://schemas.microsoft.com/office/drawing/2014/main" id="{F6D437A7-1ED1-BE5F-843F-0EC5782D68D2}"/>
                </a:ext>
              </a:extLst>
            </p:cNvPr>
            <p:cNvPicPr>
              <a:picLocks noRot="1" noChangeAspect="1"/>
            </p:cNvPicPr>
            <p:nvPr>
              <a:videoFile r:link="rId2"/>
            </p:nvPr>
          </p:nvPicPr>
          <p:blipFill>
            <a:blip r:embed="rId11"/>
            <a:stretch>
              <a:fillRect/>
            </a:stretch>
          </p:blipFill>
          <p:spPr>
            <a:xfrm>
              <a:off x="3502898" y="1054392"/>
              <a:ext cx="2852182" cy="4660608"/>
            </a:xfrm>
            <a:prstGeom prst="rect">
              <a:avLst/>
            </a:prstGeom>
          </p:spPr>
        </p:pic>
      </p:grpSp>
    </p:spTree>
  </p:cSld>
  <p:clrMapOvr>
    <a:masterClrMapping/>
  </p:clrMapOvr>
  <p:timing>
    <p:tnLst>
      <p:par>
        <p:cTn id="1" dur="indefinite" restart="never" nodeType="tmRoot">
          <p:childTnLst>
            <p:video>
              <p:cMediaNode vol="80000">
                <p:cTn id="2" fill="hold" display="0">
                  <p:stCondLst>
                    <p:cond delay="indefinite"/>
                  </p:stCondLst>
                </p:cTn>
                <p:tgtEl>
                  <p:spTgt spid="26"/>
                </p:tgtEl>
              </p:cMediaNode>
            </p:video>
            <p:video>
              <p:cMediaNode vol="80000">
                <p:cTn id="3" fill="hold" display="0">
                  <p:stCondLst>
                    <p:cond delay="indefinite"/>
                  </p:stCondLst>
                </p:cTn>
                <p:tgtEl>
                  <p:spTgt spid="27"/>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claude/deck/img/band_title.png"/>
          <p:cNvPicPr>
            <a:picLocks noChangeAspect="1"/>
          </p:cNvPicPr>
          <p:nvPr/>
        </p:nvPicPr>
        <p:blipFill>
          <a:blip r:embed="rId2"/>
          <a:stretch>
            <a:fillRect/>
          </a:stretch>
        </p:blipFill>
        <p:spPr>
          <a:xfrm>
            <a:off x="0" y="0"/>
            <a:ext cx="12191695" cy="2514600"/>
          </a:xfrm>
          <a:prstGeom prst="rect">
            <a:avLst/>
          </a:prstGeom>
        </p:spPr>
      </p:pic>
      <p:pic>
        <p:nvPicPr>
          <p:cNvPr id="3" name="Image 1" descr="/home/claude/deck/img/airc_logo.png"/>
          <p:cNvPicPr>
            <a:picLocks noChangeAspect="1"/>
          </p:cNvPicPr>
          <p:nvPr/>
        </p:nvPicPr>
        <p:blipFill>
          <a:blip r:embed="rId3"/>
          <a:stretch>
            <a:fillRect/>
          </a:stretch>
        </p:blipFill>
        <p:spPr>
          <a:xfrm>
            <a:off x="11064240" y="228600"/>
            <a:ext cx="868680" cy="868680"/>
          </a:xfrm>
          <a:prstGeom prst="rect">
            <a:avLst/>
          </a:prstGeom>
        </p:spPr>
      </p:pic>
      <p:sp>
        <p:nvSpPr>
          <p:cNvPr id="4" name="Text 0"/>
          <p:cNvSpPr txBox="1"/>
          <p:nvPr/>
        </p:nvSpPr>
        <p:spPr>
          <a:xfrm>
            <a:off x="640080" y="320040"/>
            <a:ext cx="5486400" cy="548640"/>
          </a:xfrm>
          <a:prstGeom prst="rect">
            <a:avLst/>
          </a:prstGeom>
          <a:noFill/>
          <a:ln/>
        </p:spPr>
        <p:txBody>
          <a:bodyPr wrap="square" lIns="0" tIns="0" rIns="0" bIns="0" rtlCol="0" anchor="t"/>
          <a:lstStyle/>
          <a:p>
            <a:pPr marL="0" indent="0">
              <a:buNone/>
            </a:pPr>
            <a:r>
              <a:rPr lang="en-US" sz="2200" b="1" kern="0" spc="400" dirty="0">
                <a:solidFill>
                  <a:srgbClr val="FFFFFF"/>
                </a:solidFill>
                <a:latin typeface="Arial" pitchFamily="34" charset="0"/>
                <a:ea typeface="Arial" pitchFamily="34" charset="-122"/>
                <a:cs typeface="Arial" pitchFamily="34" charset="-120"/>
              </a:rPr>
              <a:t>PHẦN 4</a:t>
            </a:r>
            <a:endParaRPr lang="en-US" sz="2200" dirty="0"/>
          </a:p>
        </p:txBody>
      </p:sp>
      <p:sp>
        <p:nvSpPr>
          <p:cNvPr id="5" name="Text 1"/>
          <p:cNvSpPr txBox="1"/>
          <p:nvPr/>
        </p:nvSpPr>
        <p:spPr>
          <a:xfrm>
            <a:off x="640080" y="868680"/>
            <a:ext cx="9509760" cy="8686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Bản sao số và các vấn đề mở</a:t>
            </a:r>
            <a:endParaRPr lang="en-US" sz="3800" dirty="0"/>
          </a:p>
        </p:txBody>
      </p:sp>
      <p:sp>
        <p:nvSpPr>
          <p:cNvPr id="6" name="Text 2"/>
          <p:cNvSpPr txBox="1"/>
          <p:nvPr/>
        </p:nvSpPr>
        <p:spPr>
          <a:xfrm>
            <a:off x="640080" y="1737360"/>
            <a:ext cx="9509760" cy="54864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Bản sao số là gì, làm thế nào, bằng chứng ra sao?</a:t>
            </a:r>
            <a:endParaRPr lang="en-US" sz="2000" dirty="0"/>
          </a:p>
        </p:txBody>
      </p:sp>
      <p:grpSp>
        <p:nvGrpSpPr>
          <p:cNvPr id="36" name="Group 35">
            <a:extLst>
              <a:ext uri="{FF2B5EF4-FFF2-40B4-BE49-F238E27FC236}">
                <a16:creationId xmlns:a16="http://schemas.microsoft.com/office/drawing/2014/main" id="{F6ABE5CD-6F1E-DFC3-DBA8-B9F497465A48}"/>
              </a:ext>
            </a:extLst>
          </p:cNvPr>
          <p:cNvGrpSpPr/>
          <p:nvPr/>
        </p:nvGrpSpPr>
        <p:grpSpPr>
          <a:xfrm>
            <a:off x="457200" y="2834640"/>
            <a:ext cx="11475720" cy="3246120"/>
            <a:chOff x="457200" y="2834640"/>
            <a:chExt cx="11475720" cy="3246120"/>
          </a:xfrm>
        </p:grpSpPr>
        <p:sp>
          <p:nvSpPr>
            <p:cNvPr id="7" name="Shape 3"/>
            <p:cNvSpPr/>
            <p:nvPr/>
          </p:nvSpPr>
          <p:spPr>
            <a:xfrm>
              <a:off x="457200" y="2834640"/>
              <a:ext cx="2647188" cy="2331720"/>
            </a:xfrm>
            <a:prstGeom prst="roundRect">
              <a:avLst>
                <a:gd name="adj" fmla="val 3137"/>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8" name="Shape 4"/>
            <p:cNvSpPr/>
            <p:nvPr/>
          </p:nvSpPr>
          <p:spPr>
            <a:xfrm>
              <a:off x="1323594" y="3063240"/>
              <a:ext cx="914400" cy="914400"/>
            </a:xfrm>
            <a:prstGeom prst="ellipse">
              <a:avLst/>
            </a:prstGeom>
            <a:solidFill>
              <a:srgbClr val="4B4B9C"/>
            </a:solidFill>
            <a:ln w="12700">
              <a:solidFill>
                <a:srgbClr val="4B4B9C"/>
              </a:solidFill>
              <a:prstDash val="solid"/>
            </a:ln>
          </p:spPr>
          <p:txBody>
            <a:bodyPr/>
            <a:lstStyle/>
            <a:p>
              <a:endParaRPr lang="en-US"/>
            </a:p>
          </p:txBody>
        </p:sp>
        <p:pic>
          <p:nvPicPr>
            <p:cNvPr id="9" name="Image 2" descr="preencoded.png"/>
            <p:cNvPicPr>
              <a:picLocks noChangeAspect="1"/>
            </p:cNvPicPr>
            <p:nvPr/>
          </p:nvPicPr>
          <p:blipFill>
            <a:blip r:embed="rId4"/>
            <a:stretch>
              <a:fillRect/>
            </a:stretch>
          </p:blipFill>
          <p:spPr>
            <a:xfrm>
              <a:off x="1543050" y="3282696"/>
              <a:ext cx="475488" cy="475488"/>
            </a:xfrm>
            <a:prstGeom prst="rect">
              <a:avLst/>
            </a:prstGeom>
          </p:spPr>
        </p:pic>
        <p:sp>
          <p:nvSpPr>
            <p:cNvPr id="10" name="Text 5"/>
            <p:cNvSpPr txBox="1"/>
            <p:nvPr/>
          </p:nvSpPr>
          <p:spPr>
            <a:xfrm>
              <a:off x="548640" y="4114800"/>
              <a:ext cx="2464308" cy="868680"/>
            </a:xfrm>
            <a:prstGeom prst="rect">
              <a:avLst/>
            </a:prstGeom>
            <a:noFill/>
            <a:ln/>
          </p:spPr>
          <p:txBody>
            <a:bodyPr wrap="square" lIns="0" tIns="0" rIns="0" bIns="0" rtlCol="0" anchor="ctr"/>
            <a:lstStyle/>
            <a:p>
              <a:pPr marL="0" indent="0" algn="ctr">
                <a:buNone/>
              </a:pPr>
              <a:r>
                <a:rPr lang="en-US" sz="1700" b="1" dirty="0" err="1">
                  <a:solidFill>
                    <a:srgbClr val="13293D"/>
                  </a:solidFill>
                  <a:latin typeface="Cambria" pitchFamily="34" charset="0"/>
                  <a:ea typeface="Cambria" pitchFamily="34" charset="-122"/>
                  <a:cs typeface="Cambria" pitchFamily="34" charset="-120"/>
                </a:rPr>
                <a:t>Khái</a:t>
              </a:r>
              <a:r>
                <a:rPr lang="en-US" sz="1700" b="1" dirty="0">
                  <a:solidFill>
                    <a:srgbClr val="13293D"/>
                  </a:solidFill>
                  <a:latin typeface="Cambria" pitchFamily="34" charset="0"/>
                  <a:ea typeface="Cambria" pitchFamily="34" charset="-122"/>
                  <a:cs typeface="Cambria" pitchFamily="34" charset="-120"/>
                </a:rPr>
                <a:t> </a:t>
              </a:r>
              <a:r>
                <a:rPr lang="en-US" sz="1700" b="1" dirty="0" err="1">
                  <a:solidFill>
                    <a:srgbClr val="13293D"/>
                  </a:solidFill>
                  <a:latin typeface="Cambria" pitchFamily="34" charset="0"/>
                  <a:ea typeface="Cambria" pitchFamily="34" charset="-122"/>
                  <a:cs typeface="Cambria" pitchFamily="34" charset="-120"/>
                </a:rPr>
                <a:t>niệm</a:t>
              </a:r>
              <a:endParaRPr lang="en-US" sz="1700" dirty="0"/>
            </a:p>
          </p:txBody>
        </p:sp>
        <p:sp>
          <p:nvSpPr>
            <p:cNvPr id="11" name="Shape 6"/>
            <p:cNvSpPr/>
            <p:nvPr/>
          </p:nvSpPr>
          <p:spPr>
            <a:xfrm>
              <a:off x="3332988" y="2834640"/>
              <a:ext cx="2647188" cy="2331720"/>
            </a:xfrm>
            <a:prstGeom prst="roundRect">
              <a:avLst>
                <a:gd name="adj" fmla="val 3137"/>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12" name="Shape 7"/>
            <p:cNvSpPr/>
            <p:nvPr/>
          </p:nvSpPr>
          <p:spPr>
            <a:xfrm>
              <a:off x="4199382" y="3063240"/>
              <a:ext cx="914400" cy="914400"/>
            </a:xfrm>
            <a:prstGeom prst="ellipse">
              <a:avLst/>
            </a:prstGeom>
            <a:solidFill>
              <a:srgbClr val="4B4B9C"/>
            </a:solidFill>
            <a:ln w="12700">
              <a:solidFill>
                <a:srgbClr val="4B4B9C"/>
              </a:solidFill>
              <a:prstDash val="solid"/>
            </a:ln>
          </p:spPr>
          <p:txBody>
            <a:bodyPr/>
            <a:lstStyle/>
            <a:p>
              <a:endParaRPr lang="en-US"/>
            </a:p>
          </p:txBody>
        </p:sp>
        <p:pic>
          <p:nvPicPr>
            <p:cNvPr id="13" name="Image 3" descr="preencoded.png"/>
            <p:cNvPicPr>
              <a:picLocks noChangeAspect="1"/>
            </p:cNvPicPr>
            <p:nvPr/>
          </p:nvPicPr>
          <p:blipFill>
            <a:blip r:embed="rId5"/>
            <a:stretch>
              <a:fillRect/>
            </a:stretch>
          </p:blipFill>
          <p:spPr>
            <a:xfrm>
              <a:off x="4418838" y="3282696"/>
              <a:ext cx="475488" cy="475488"/>
            </a:xfrm>
            <a:prstGeom prst="rect">
              <a:avLst/>
            </a:prstGeom>
          </p:spPr>
        </p:pic>
        <p:sp>
          <p:nvSpPr>
            <p:cNvPr id="14" name="Text 8"/>
            <p:cNvSpPr txBox="1"/>
            <p:nvPr/>
          </p:nvSpPr>
          <p:spPr>
            <a:xfrm>
              <a:off x="3424428" y="4114800"/>
              <a:ext cx="2464308"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Khung bốn tầng</a:t>
              </a:r>
              <a:endParaRPr lang="en-US" sz="1700" dirty="0"/>
            </a:p>
          </p:txBody>
        </p:sp>
        <p:sp>
          <p:nvSpPr>
            <p:cNvPr id="15" name="Shape 9"/>
            <p:cNvSpPr/>
            <p:nvPr/>
          </p:nvSpPr>
          <p:spPr>
            <a:xfrm>
              <a:off x="6208776" y="2834640"/>
              <a:ext cx="2647188" cy="2331720"/>
            </a:xfrm>
            <a:prstGeom prst="roundRect">
              <a:avLst>
                <a:gd name="adj" fmla="val 3137"/>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16" name="Shape 10"/>
            <p:cNvSpPr/>
            <p:nvPr/>
          </p:nvSpPr>
          <p:spPr>
            <a:xfrm>
              <a:off x="7075170" y="3063240"/>
              <a:ext cx="914400" cy="914400"/>
            </a:xfrm>
            <a:prstGeom prst="ellipse">
              <a:avLst/>
            </a:prstGeom>
            <a:solidFill>
              <a:srgbClr val="4B4B9C"/>
            </a:solidFill>
            <a:ln w="12700">
              <a:solidFill>
                <a:srgbClr val="4B4B9C"/>
              </a:solidFill>
              <a:prstDash val="solid"/>
            </a:ln>
          </p:spPr>
          <p:txBody>
            <a:bodyPr/>
            <a:lstStyle/>
            <a:p>
              <a:endParaRPr lang="en-US"/>
            </a:p>
          </p:txBody>
        </p:sp>
        <p:pic>
          <p:nvPicPr>
            <p:cNvPr id="17" name="Image 4" descr="preencoded.png"/>
            <p:cNvPicPr>
              <a:picLocks noChangeAspect="1"/>
            </p:cNvPicPr>
            <p:nvPr/>
          </p:nvPicPr>
          <p:blipFill>
            <a:blip r:embed="rId6"/>
            <a:stretch>
              <a:fillRect/>
            </a:stretch>
          </p:blipFill>
          <p:spPr>
            <a:xfrm>
              <a:off x="7294626" y="3282696"/>
              <a:ext cx="475488" cy="475488"/>
            </a:xfrm>
            <a:prstGeom prst="rect">
              <a:avLst/>
            </a:prstGeom>
          </p:spPr>
        </p:pic>
        <p:sp>
          <p:nvSpPr>
            <p:cNvPr id="18" name="Text 11"/>
            <p:cNvSpPr txBox="1"/>
            <p:nvPr/>
          </p:nvSpPr>
          <p:spPr>
            <a:xfrm>
              <a:off x="6300216" y="4114800"/>
              <a:ext cx="2464308"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Case study điều phối xét nghiệm</a:t>
              </a:r>
              <a:endParaRPr lang="en-US" sz="1700" dirty="0"/>
            </a:p>
          </p:txBody>
        </p:sp>
        <p:sp>
          <p:nvSpPr>
            <p:cNvPr id="19" name="Shape 12"/>
            <p:cNvSpPr/>
            <p:nvPr/>
          </p:nvSpPr>
          <p:spPr>
            <a:xfrm>
              <a:off x="9084564" y="2834640"/>
              <a:ext cx="2647188" cy="2331720"/>
            </a:xfrm>
            <a:prstGeom prst="roundRect">
              <a:avLst>
                <a:gd name="adj" fmla="val 3137"/>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20" name="Shape 13"/>
            <p:cNvSpPr/>
            <p:nvPr/>
          </p:nvSpPr>
          <p:spPr>
            <a:xfrm>
              <a:off x="9950958" y="3063240"/>
              <a:ext cx="914400" cy="914400"/>
            </a:xfrm>
            <a:prstGeom prst="ellipse">
              <a:avLst/>
            </a:prstGeom>
            <a:solidFill>
              <a:srgbClr val="4B4B9C"/>
            </a:solidFill>
            <a:ln w="12700">
              <a:solidFill>
                <a:srgbClr val="4B4B9C"/>
              </a:solidFill>
              <a:prstDash val="solid"/>
            </a:ln>
          </p:spPr>
          <p:txBody>
            <a:bodyPr/>
            <a:lstStyle/>
            <a:p>
              <a:endParaRPr lang="en-US"/>
            </a:p>
          </p:txBody>
        </p:sp>
        <p:pic>
          <p:nvPicPr>
            <p:cNvPr id="21" name="Image 5" descr="preencoded.png"/>
            <p:cNvPicPr>
              <a:picLocks noChangeAspect="1"/>
            </p:cNvPicPr>
            <p:nvPr/>
          </p:nvPicPr>
          <p:blipFill>
            <a:blip r:embed="rId7"/>
            <a:stretch>
              <a:fillRect/>
            </a:stretch>
          </p:blipFill>
          <p:spPr>
            <a:xfrm>
              <a:off x="10170414" y="3282696"/>
              <a:ext cx="475488" cy="475488"/>
            </a:xfrm>
            <a:prstGeom prst="rect">
              <a:avLst/>
            </a:prstGeom>
          </p:spPr>
        </p:pic>
        <p:sp>
          <p:nvSpPr>
            <p:cNvPr id="22" name="Text 14"/>
            <p:cNvSpPr txBox="1"/>
            <p:nvPr/>
          </p:nvSpPr>
          <p:spPr>
            <a:xfrm>
              <a:off x="9176004" y="4114800"/>
              <a:ext cx="2464308" cy="868680"/>
            </a:xfrm>
            <a:prstGeom prst="rect">
              <a:avLst/>
            </a:prstGeom>
            <a:noFill/>
            <a:ln/>
          </p:spPr>
          <p:txBody>
            <a:bodyPr wrap="square" lIns="0" tIns="0" rIns="0" bIns="0" rtlCol="0" anchor="ctr"/>
            <a:lstStyle/>
            <a:p>
              <a:pPr marL="0" indent="0" algn="ctr">
                <a:buNone/>
              </a:pPr>
              <a:r>
                <a:rPr lang="en-US" sz="1700" b="1" dirty="0">
                  <a:solidFill>
                    <a:srgbClr val="13293D"/>
                  </a:solidFill>
                  <a:latin typeface="Cambria" pitchFamily="34" charset="0"/>
                  <a:ea typeface="Cambria" pitchFamily="34" charset="-122"/>
                  <a:cs typeface="Cambria" pitchFamily="34" charset="-120"/>
                </a:rPr>
                <a:t>Khoảng cách mô phỏng – vận hành</a:t>
              </a:r>
              <a:endParaRPr lang="en-US" sz="1700" dirty="0"/>
            </a:p>
          </p:txBody>
        </p:sp>
        <p:sp>
          <p:nvSpPr>
            <p:cNvPr id="23" name="Shape 15"/>
            <p:cNvSpPr/>
            <p:nvPr/>
          </p:nvSpPr>
          <p:spPr>
            <a:xfrm>
              <a:off x="457200" y="5577840"/>
              <a:ext cx="1965960" cy="502920"/>
            </a:xfrm>
            <a:prstGeom prst="chevron">
              <a:avLst/>
            </a:prstGeom>
            <a:solidFill>
              <a:srgbClr val="E6ECF0"/>
            </a:solidFill>
            <a:ln w="12700">
              <a:solidFill>
                <a:srgbClr val="C9D3DA"/>
              </a:solidFill>
              <a:prstDash val="solid"/>
            </a:ln>
          </p:spPr>
          <p:txBody>
            <a:bodyPr/>
            <a:lstStyle/>
            <a:p>
              <a:endParaRPr lang="en-US"/>
            </a:p>
          </p:txBody>
        </p:sp>
        <p:sp>
          <p:nvSpPr>
            <p:cNvPr id="24" name="Text 16"/>
            <p:cNvSpPr txBox="1"/>
            <p:nvPr/>
          </p:nvSpPr>
          <p:spPr>
            <a:xfrm>
              <a:off x="685800"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1. Bối cảnh</a:t>
              </a:r>
              <a:endParaRPr lang="en-US" sz="1050" dirty="0"/>
            </a:p>
          </p:txBody>
        </p:sp>
        <p:sp>
          <p:nvSpPr>
            <p:cNvPr id="25" name="Shape 17"/>
            <p:cNvSpPr/>
            <p:nvPr/>
          </p:nvSpPr>
          <p:spPr>
            <a:xfrm>
              <a:off x="2359152" y="5577840"/>
              <a:ext cx="1965960" cy="502920"/>
            </a:xfrm>
            <a:prstGeom prst="chevron">
              <a:avLst/>
            </a:prstGeom>
            <a:solidFill>
              <a:srgbClr val="E6ECF0"/>
            </a:solidFill>
            <a:ln w="12700">
              <a:solidFill>
                <a:srgbClr val="C9D3DA"/>
              </a:solidFill>
              <a:prstDash val="solid"/>
            </a:ln>
          </p:spPr>
          <p:txBody>
            <a:bodyPr/>
            <a:lstStyle/>
            <a:p>
              <a:endParaRPr lang="en-US"/>
            </a:p>
          </p:txBody>
        </p:sp>
        <p:sp>
          <p:nvSpPr>
            <p:cNvPr id="26" name="Text 18"/>
            <p:cNvSpPr txBox="1"/>
            <p:nvPr/>
          </p:nvSpPr>
          <p:spPr>
            <a:xfrm>
              <a:off x="2587752"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2. Hướng ưu tiên</a:t>
              </a:r>
              <a:endParaRPr lang="en-US" sz="1050" dirty="0"/>
            </a:p>
          </p:txBody>
        </p:sp>
        <p:sp>
          <p:nvSpPr>
            <p:cNvPr id="27" name="Shape 19"/>
            <p:cNvSpPr/>
            <p:nvPr/>
          </p:nvSpPr>
          <p:spPr>
            <a:xfrm>
              <a:off x="4261104" y="5577840"/>
              <a:ext cx="1965960" cy="502920"/>
            </a:xfrm>
            <a:prstGeom prst="chevron">
              <a:avLst/>
            </a:prstGeom>
            <a:solidFill>
              <a:srgbClr val="E6ECF0"/>
            </a:solidFill>
            <a:ln w="12700">
              <a:solidFill>
                <a:srgbClr val="C9D3DA"/>
              </a:solidFill>
              <a:prstDash val="solid"/>
            </a:ln>
          </p:spPr>
          <p:txBody>
            <a:bodyPr/>
            <a:lstStyle/>
            <a:p>
              <a:endParaRPr lang="en-US"/>
            </a:p>
          </p:txBody>
        </p:sp>
        <p:sp>
          <p:nvSpPr>
            <p:cNvPr id="28" name="Text 20"/>
            <p:cNvSpPr txBox="1"/>
            <p:nvPr/>
          </p:nvSpPr>
          <p:spPr>
            <a:xfrm>
              <a:off x="4489704"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3. Sản phẩm Viện CNTT</a:t>
              </a:r>
              <a:endParaRPr lang="en-US" sz="1050" dirty="0"/>
            </a:p>
          </p:txBody>
        </p:sp>
        <p:sp>
          <p:nvSpPr>
            <p:cNvPr id="29" name="Shape 21"/>
            <p:cNvSpPr/>
            <p:nvPr/>
          </p:nvSpPr>
          <p:spPr>
            <a:xfrm>
              <a:off x="6163056" y="5577840"/>
              <a:ext cx="1965960" cy="502920"/>
            </a:xfrm>
            <a:prstGeom prst="chevron">
              <a:avLst/>
            </a:prstGeom>
            <a:solidFill>
              <a:srgbClr val="4B4B9C"/>
            </a:solidFill>
            <a:ln w="12700">
              <a:solidFill>
                <a:srgbClr val="4B4B9C"/>
              </a:solidFill>
              <a:prstDash val="solid"/>
            </a:ln>
          </p:spPr>
          <p:txBody>
            <a:bodyPr/>
            <a:lstStyle/>
            <a:p>
              <a:endParaRPr lang="en-US"/>
            </a:p>
          </p:txBody>
        </p:sp>
        <p:sp>
          <p:nvSpPr>
            <p:cNvPr id="30" name="Text 22"/>
            <p:cNvSpPr txBox="1"/>
            <p:nvPr/>
          </p:nvSpPr>
          <p:spPr>
            <a:xfrm>
              <a:off x="6391656" y="5577840"/>
              <a:ext cx="155448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 Bản sao số</a:t>
              </a:r>
              <a:endParaRPr lang="en-US" sz="1050" dirty="0"/>
            </a:p>
          </p:txBody>
        </p:sp>
        <p:sp>
          <p:nvSpPr>
            <p:cNvPr id="31" name="Shape 23"/>
            <p:cNvSpPr/>
            <p:nvPr/>
          </p:nvSpPr>
          <p:spPr>
            <a:xfrm>
              <a:off x="8065008" y="5577840"/>
              <a:ext cx="1965960" cy="502920"/>
            </a:xfrm>
            <a:prstGeom prst="chevron">
              <a:avLst/>
            </a:prstGeom>
            <a:solidFill>
              <a:srgbClr val="FFFFFF"/>
            </a:solidFill>
            <a:ln w="12700">
              <a:solidFill>
                <a:srgbClr val="C9D3DA"/>
              </a:solidFill>
              <a:prstDash val="solid"/>
            </a:ln>
          </p:spPr>
          <p:txBody>
            <a:bodyPr/>
            <a:lstStyle/>
            <a:p>
              <a:endParaRPr lang="en-US"/>
            </a:p>
          </p:txBody>
        </p:sp>
        <p:sp>
          <p:nvSpPr>
            <p:cNvPr id="32" name="Text 24"/>
            <p:cNvSpPr txBox="1"/>
            <p:nvPr/>
          </p:nvSpPr>
          <p:spPr>
            <a:xfrm>
              <a:off x="8293608"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5. Bài báo mẫu, thực hành</a:t>
              </a:r>
              <a:endParaRPr lang="en-US" sz="1050" dirty="0"/>
            </a:p>
          </p:txBody>
        </p:sp>
        <p:sp>
          <p:nvSpPr>
            <p:cNvPr id="33" name="Shape 25"/>
            <p:cNvSpPr/>
            <p:nvPr/>
          </p:nvSpPr>
          <p:spPr>
            <a:xfrm>
              <a:off x="9966960" y="5577840"/>
              <a:ext cx="1965960" cy="502920"/>
            </a:xfrm>
            <a:prstGeom prst="chevron">
              <a:avLst/>
            </a:prstGeom>
            <a:solidFill>
              <a:srgbClr val="FFFFFF"/>
            </a:solidFill>
            <a:ln w="12700">
              <a:solidFill>
                <a:srgbClr val="C9D3DA"/>
              </a:solidFill>
              <a:prstDash val="solid"/>
            </a:ln>
          </p:spPr>
          <p:txBody>
            <a:bodyPr/>
            <a:lstStyle/>
            <a:p>
              <a:endParaRPr lang="en-US"/>
            </a:p>
          </p:txBody>
        </p:sp>
        <p:sp>
          <p:nvSpPr>
            <p:cNvPr id="34" name="Text 26"/>
            <p:cNvSpPr txBox="1"/>
            <p:nvPr/>
          </p:nvSpPr>
          <p:spPr>
            <a:xfrm>
              <a:off x="10195560" y="5577840"/>
              <a:ext cx="1554480" cy="502920"/>
            </a:xfrm>
            <a:prstGeom prst="rect">
              <a:avLst/>
            </a:prstGeom>
            <a:noFill/>
            <a:ln/>
          </p:spPr>
          <p:txBody>
            <a:bodyPr wrap="square" lIns="0" tIns="0" rIns="0" bIns="0" rtlCol="0" anchor="ctr"/>
            <a:lstStyle/>
            <a:p>
              <a:pPr marL="0" indent="0" algn="ctr">
                <a:buNone/>
              </a:pPr>
              <a:r>
                <a:rPr lang="en-US" sz="1050" b="1" dirty="0">
                  <a:solidFill>
                    <a:srgbClr val="8A99A4"/>
                  </a:solidFill>
                  <a:latin typeface="Calibri" pitchFamily="34" charset="0"/>
                  <a:ea typeface="Calibri" pitchFamily="34" charset="-122"/>
                  <a:cs typeface="Calibri" pitchFamily="34" charset="-120"/>
                </a:rPr>
                <a:t>6. Khuyến nghị cho HVU</a:t>
              </a:r>
              <a:endParaRPr lang="en-US" sz="1050" dirty="0"/>
            </a:p>
          </p:txBody>
        </p:sp>
      </p:grpSp>
      <p:pic>
        <p:nvPicPr>
          <p:cNvPr id="35" name="Logo ITI"/>
          <p:cNvPicPr>
            <a:picLocks noChangeAspect="1"/>
          </p:cNvPicPr>
          <p:nvPr/>
        </p:nvPicPr>
        <p:blipFill>
          <a:blip r:embed="rId8"/>
          <a:stretch>
            <a:fillRect/>
          </a:stretch>
        </p:blipFill>
        <p:spPr>
          <a:xfrm>
            <a:off x="10202917" y="298374"/>
            <a:ext cx="713232" cy="72913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err="1">
                <a:solidFill>
                  <a:srgbClr val="FFFFFF"/>
                </a:solidFill>
                <a:latin typeface="Cambria" pitchFamily="34" charset="0"/>
                <a:ea typeface="Cambria" pitchFamily="34" charset="-122"/>
                <a:cs typeface="Cambria" pitchFamily="34" charset="-120"/>
              </a:rPr>
              <a:t>Bản</a:t>
            </a:r>
            <a:r>
              <a:rPr lang="en-US" sz="2800" b="1" dirty="0">
                <a:solidFill>
                  <a:srgbClr val="FFFFFF"/>
                </a:solidFill>
                <a:latin typeface="Cambria" pitchFamily="34" charset="0"/>
                <a:ea typeface="Cambria" pitchFamily="34" charset="-122"/>
                <a:cs typeface="Cambria" pitchFamily="34" charset="-120"/>
              </a:rPr>
              <a:t> sao số</a:t>
            </a:r>
            <a:endParaRPr lang="en-US" sz="2800" dirty="0"/>
          </a:p>
        </p:txBody>
      </p:sp>
      <p:sp>
        <p:nvSpPr>
          <p:cNvPr id="3" name="Shape 1"/>
          <p:cNvSpPr/>
          <p:nvPr/>
        </p:nvSpPr>
        <p:spPr>
          <a:xfrm>
            <a:off x="457200" y="6510528"/>
            <a:ext cx="128016" cy="128016"/>
          </a:xfrm>
          <a:prstGeom prst="ellipse">
            <a:avLst/>
          </a:prstGeom>
          <a:solidFill>
            <a:srgbClr val="4B4B9C"/>
          </a:solidFill>
          <a:ln w="12700">
            <a:solidFill>
              <a:srgbClr val="4B4B9C"/>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4B4B9C"/>
                </a:solidFill>
                <a:latin typeface="Calibri" pitchFamily="34" charset="0"/>
                <a:ea typeface="Calibri" pitchFamily="34" charset="-122"/>
                <a:cs typeface="Calibri" pitchFamily="34" charset="-120"/>
              </a:rPr>
              <a:t>4 · BẢN SAO SỐ</a:t>
            </a:r>
            <a:endParaRPr lang="en-US" sz="1100" dirty="0"/>
          </a:p>
        </p:txBody>
      </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27</a:t>
            </a:fld>
            <a:endParaRPr lang="en-US"/>
          </a:p>
        </p:txBody>
      </p:sp>
      <p:pic>
        <p:nvPicPr>
          <p:cNvPr id="49" name="Picture 48">
            <a:extLst>
              <a:ext uri="{FF2B5EF4-FFF2-40B4-BE49-F238E27FC236}">
                <a16:creationId xmlns:a16="http://schemas.microsoft.com/office/drawing/2014/main" id="{5CD80F62-4407-D976-80AF-4C7E8D11AA24}"/>
              </a:ext>
            </a:extLst>
          </p:cNvPr>
          <p:cNvPicPr>
            <a:picLocks noChangeAspect="1"/>
          </p:cNvPicPr>
          <p:nvPr/>
        </p:nvPicPr>
        <p:blipFill>
          <a:blip r:embed="rId2"/>
          <a:stretch>
            <a:fillRect/>
          </a:stretch>
        </p:blipFill>
        <p:spPr>
          <a:xfrm>
            <a:off x="0" y="933319"/>
            <a:ext cx="12192000" cy="551320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7A8FA-62EC-5848-3F0E-76117077C07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3C9853A-2F82-2ED9-4DB3-975FEC6A5C64}"/>
              </a:ext>
            </a:extLst>
          </p:cNvPr>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Mô hình số · Bóng số · Bản sao số</a:t>
            </a:r>
            <a:endParaRPr lang="en-US" sz="2800" dirty="0"/>
          </a:p>
        </p:txBody>
      </p:sp>
      <p:sp>
        <p:nvSpPr>
          <p:cNvPr id="3" name="Shape 1">
            <a:extLst>
              <a:ext uri="{FF2B5EF4-FFF2-40B4-BE49-F238E27FC236}">
                <a16:creationId xmlns:a16="http://schemas.microsoft.com/office/drawing/2014/main" id="{CAC0A569-4E57-C3E1-AECD-B63C08A08BE5}"/>
              </a:ext>
            </a:extLst>
          </p:cNvPr>
          <p:cNvSpPr/>
          <p:nvPr/>
        </p:nvSpPr>
        <p:spPr>
          <a:xfrm>
            <a:off x="457200" y="6510528"/>
            <a:ext cx="128016" cy="128016"/>
          </a:xfrm>
          <a:prstGeom prst="ellipse">
            <a:avLst/>
          </a:prstGeom>
          <a:solidFill>
            <a:srgbClr val="4B4B9C"/>
          </a:solidFill>
          <a:ln w="12700">
            <a:solidFill>
              <a:srgbClr val="4B4B9C"/>
            </a:solidFill>
            <a:prstDash val="solid"/>
          </a:ln>
        </p:spPr>
        <p:txBody>
          <a:bodyPr/>
          <a:lstStyle/>
          <a:p>
            <a:endParaRPr lang="en-US"/>
          </a:p>
        </p:txBody>
      </p:sp>
      <p:sp>
        <p:nvSpPr>
          <p:cNvPr id="4" name="Text 2">
            <a:extLst>
              <a:ext uri="{FF2B5EF4-FFF2-40B4-BE49-F238E27FC236}">
                <a16:creationId xmlns:a16="http://schemas.microsoft.com/office/drawing/2014/main" id="{8FD6BBC3-F903-6393-029F-4C16582CBDFF}"/>
              </a:ext>
            </a:extLst>
          </p:cNvPr>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4B4B9C"/>
                </a:solidFill>
                <a:latin typeface="Calibri" pitchFamily="34" charset="0"/>
                <a:ea typeface="Calibri" pitchFamily="34" charset="-122"/>
                <a:cs typeface="Calibri" pitchFamily="34" charset="-120"/>
              </a:rPr>
              <a:t>4 · BẢN SAO SỐ</a:t>
            </a:r>
            <a:endParaRPr lang="en-US" sz="1100" dirty="0"/>
          </a:p>
        </p:txBody>
      </p:sp>
      <p:grpSp>
        <p:nvGrpSpPr>
          <p:cNvPr id="47" name="Group 46">
            <a:extLst>
              <a:ext uri="{FF2B5EF4-FFF2-40B4-BE49-F238E27FC236}">
                <a16:creationId xmlns:a16="http://schemas.microsoft.com/office/drawing/2014/main" id="{64ECB91F-B61F-BE8B-4917-3A074500FA89}"/>
              </a:ext>
            </a:extLst>
          </p:cNvPr>
          <p:cNvGrpSpPr/>
          <p:nvPr/>
        </p:nvGrpSpPr>
        <p:grpSpPr>
          <a:xfrm>
            <a:off x="502920" y="1188720"/>
            <a:ext cx="11256264" cy="4572000"/>
            <a:chOff x="502920" y="1188720"/>
            <a:chExt cx="11256264" cy="4572000"/>
          </a:xfrm>
        </p:grpSpPr>
        <p:sp>
          <p:nvSpPr>
            <p:cNvPr id="6" name="Shape 3">
              <a:extLst>
                <a:ext uri="{FF2B5EF4-FFF2-40B4-BE49-F238E27FC236}">
                  <a16:creationId xmlns:a16="http://schemas.microsoft.com/office/drawing/2014/main" id="{463AB4F1-E2CD-14FE-1F05-EBEEB4D21D3D}"/>
                </a:ext>
              </a:extLst>
            </p:cNvPr>
            <p:cNvSpPr/>
            <p:nvPr/>
          </p:nvSpPr>
          <p:spPr>
            <a:xfrm>
              <a:off x="502920" y="1188720"/>
              <a:ext cx="3611880" cy="4160520"/>
            </a:xfrm>
            <a:prstGeom prst="roundRect">
              <a:avLst>
                <a:gd name="adj" fmla="val 2025"/>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7" name="Text 4">
              <a:extLst>
                <a:ext uri="{FF2B5EF4-FFF2-40B4-BE49-F238E27FC236}">
                  <a16:creationId xmlns:a16="http://schemas.microsoft.com/office/drawing/2014/main" id="{EA651991-ADAE-BE31-28F1-21DDC8F1C35E}"/>
                </a:ext>
              </a:extLst>
            </p:cNvPr>
            <p:cNvSpPr txBox="1"/>
            <p:nvPr/>
          </p:nvSpPr>
          <p:spPr>
            <a:xfrm>
              <a:off x="502920" y="1325880"/>
              <a:ext cx="3611880" cy="548640"/>
            </a:xfrm>
            <a:prstGeom prst="rect">
              <a:avLst/>
            </a:prstGeom>
            <a:noFill/>
            <a:ln/>
          </p:spPr>
          <p:txBody>
            <a:bodyPr wrap="square" lIns="0" tIns="0" rIns="0" bIns="0" rtlCol="0" anchor="t"/>
            <a:lstStyle/>
            <a:p>
              <a:pPr marL="0" indent="0" algn="ctr">
                <a:buNone/>
              </a:pPr>
              <a:r>
                <a:rPr lang="en-US" sz="2800" b="1" dirty="0">
                  <a:solidFill>
                    <a:srgbClr val="5B6B76"/>
                  </a:solidFill>
                  <a:latin typeface="Cambria" pitchFamily="34" charset="0"/>
                  <a:ea typeface="Cambria" pitchFamily="34" charset="-122"/>
                  <a:cs typeface="Cambria" pitchFamily="34" charset="-120"/>
                </a:rPr>
                <a:t>Mô hình số</a:t>
              </a:r>
              <a:endParaRPr lang="en-US" sz="2800" dirty="0"/>
            </a:p>
          </p:txBody>
        </p:sp>
        <p:sp>
          <p:nvSpPr>
            <p:cNvPr id="8" name="Shape 5">
              <a:extLst>
                <a:ext uri="{FF2B5EF4-FFF2-40B4-BE49-F238E27FC236}">
                  <a16:creationId xmlns:a16="http://schemas.microsoft.com/office/drawing/2014/main" id="{208BAFA0-7961-1E3A-52E3-44A9FDB46ACA}"/>
                </a:ext>
              </a:extLst>
            </p:cNvPr>
            <p:cNvSpPr/>
            <p:nvPr/>
          </p:nvSpPr>
          <p:spPr>
            <a:xfrm>
              <a:off x="868680" y="2103120"/>
              <a:ext cx="1005840" cy="1005840"/>
            </a:xfrm>
            <a:prstGeom prst="ellipse">
              <a:avLst/>
            </a:prstGeom>
            <a:solidFill>
              <a:srgbClr val="5B6B76"/>
            </a:solidFill>
            <a:ln w="12700">
              <a:solidFill>
                <a:srgbClr val="5B6B76"/>
              </a:solidFill>
              <a:prstDash val="solid"/>
            </a:ln>
          </p:spPr>
          <p:txBody>
            <a:bodyPr/>
            <a:lstStyle/>
            <a:p>
              <a:endParaRPr lang="en-US"/>
            </a:p>
          </p:txBody>
        </p:sp>
        <p:pic>
          <p:nvPicPr>
            <p:cNvPr id="9" name="Image 0" descr="preencoded.png">
              <a:extLst>
                <a:ext uri="{FF2B5EF4-FFF2-40B4-BE49-F238E27FC236}">
                  <a16:creationId xmlns:a16="http://schemas.microsoft.com/office/drawing/2014/main" id="{2EE258A1-EA41-45D1-377C-B147B1E3D223}"/>
                </a:ext>
              </a:extLst>
            </p:cNvPr>
            <p:cNvPicPr>
              <a:picLocks noChangeAspect="1"/>
            </p:cNvPicPr>
            <p:nvPr/>
          </p:nvPicPr>
          <p:blipFill>
            <a:blip r:embed="rId2"/>
            <a:stretch>
              <a:fillRect/>
            </a:stretch>
          </p:blipFill>
          <p:spPr>
            <a:xfrm>
              <a:off x="1110082" y="2344522"/>
              <a:ext cx="523037" cy="523037"/>
            </a:xfrm>
            <a:prstGeom prst="rect">
              <a:avLst/>
            </a:prstGeom>
          </p:spPr>
        </p:pic>
        <p:sp>
          <p:nvSpPr>
            <p:cNvPr id="10" name="Shape 6">
              <a:extLst>
                <a:ext uri="{FF2B5EF4-FFF2-40B4-BE49-F238E27FC236}">
                  <a16:creationId xmlns:a16="http://schemas.microsoft.com/office/drawing/2014/main" id="{DFADD166-F644-87CB-BA69-7DDDD2DE90B2}"/>
                </a:ext>
              </a:extLst>
            </p:cNvPr>
            <p:cNvSpPr/>
            <p:nvPr/>
          </p:nvSpPr>
          <p:spPr>
            <a:xfrm>
              <a:off x="2743200" y="2103120"/>
              <a:ext cx="1005840" cy="1005840"/>
            </a:xfrm>
            <a:prstGeom prst="ellipse">
              <a:avLst/>
            </a:prstGeom>
            <a:solidFill>
              <a:srgbClr val="9AA7B0"/>
            </a:solidFill>
            <a:ln w="12700">
              <a:solidFill>
                <a:srgbClr val="9AA7B0"/>
              </a:solidFill>
              <a:prstDash val="solid"/>
            </a:ln>
          </p:spPr>
          <p:txBody>
            <a:bodyPr/>
            <a:lstStyle/>
            <a:p>
              <a:endParaRPr lang="en-US"/>
            </a:p>
          </p:txBody>
        </p:sp>
        <p:pic>
          <p:nvPicPr>
            <p:cNvPr id="11" name="Image 1" descr="preencoded.png">
              <a:extLst>
                <a:ext uri="{FF2B5EF4-FFF2-40B4-BE49-F238E27FC236}">
                  <a16:creationId xmlns:a16="http://schemas.microsoft.com/office/drawing/2014/main" id="{30718773-9E84-0E27-A7A9-68761D882CD5}"/>
                </a:ext>
              </a:extLst>
            </p:cNvPr>
            <p:cNvPicPr>
              <a:picLocks noChangeAspect="1"/>
            </p:cNvPicPr>
            <p:nvPr/>
          </p:nvPicPr>
          <p:blipFill>
            <a:blip r:embed="rId3"/>
            <a:stretch>
              <a:fillRect/>
            </a:stretch>
          </p:blipFill>
          <p:spPr>
            <a:xfrm>
              <a:off x="2984602" y="2344522"/>
              <a:ext cx="523037" cy="523037"/>
            </a:xfrm>
            <a:prstGeom prst="rect">
              <a:avLst/>
            </a:prstGeom>
          </p:spPr>
        </p:pic>
        <p:sp>
          <p:nvSpPr>
            <p:cNvPr id="12" name="Shape 7">
              <a:extLst>
                <a:ext uri="{FF2B5EF4-FFF2-40B4-BE49-F238E27FC236}">
                  <a16:creationId xmlns:a16="http://schemas.microsoft.com/office/drawing/2014/main" id="{46D98A7B-EDA6-2026-B587-F43FD3DA9FAB}"/>
                </a:ext>
              </a:extLst>
            </p:cNvPr>
            <p:cNvSpPr/>
            <p:nvPr/>
          </p:nvSpPr>
          <p:spPr>
            <a:xfrm>
              <a:off x="1965960" y="2423160"/>
              <a:ext cx="685800" cy="914"/>
            </a:xfrm>
            <a:prstGeom prst="line">
              <a:avLst/>
            </a:prstGeom>
            <a:noFill/>
            <a:ln w="38100">
              <a:solidFill>
                <a:srgbClr val="9AA7B0"/>
              </a:solidFill>
              <a:prstDash val="dash"/>
              <a:tailEnd type="triangle"/>
            </a:ln>
          </p:spPr>
          <p:txBody>
            <a:bodyPr/>
            <a:lstStyle/>
            <a:p>
              <a:endParaRPr lang="en-US"/>
            </a:p>
          </p:txBody>
        </p:sp>
        <p:sp>
          <p:nvSpPr>
            <p:cNvPr id="13" name="Shape 8">
              <a:extLst>
                <a:ext uri="{FF2B5EF4-FFF2-40B4-BE49-F238E27FC236}">
                  <a16:creationId xmlns:a16="http://schemas.microsoft.com/office/drawing/2014/main" id="{7A0F8676-4F8D-72B6-EFBE-BFDE5627A823}"/>
                </a:ext>
              </a:extLst>
            </p:cNvPr>
            <p:cNvSpPr/>
            <p:nvPr/>
          </p:nvSpPr>
          <p:spPr>
            <a:xfrm flipH="1">
              <a:off x="1965960" y="2834640"/>
              <a:ext cx="685800" cy="914"/>
            </a:xfrm>
            <a:prstGeom prst="line">
              <a:avLst/>
            </a:prstGeom>
            <a:noFill/>
            <a:ln w="38100">
              <a:solidFill>
                <a:srgbClr val="9AA7B0"/>
              </a:solidFill>
              <a:prstDash val="dash"/>
              <a:tailEnd type="triangle"/>
            </a:ln>
          </p:spPr>
          <p:txBody>
            <a:bodyPr/>
            <a:lstStyle/>
            <a:p>
              <a:endParaRPr lang="en-US"/>
            </a:p>
          </p:txBody>
        </p:sp>
        <p:sp>
          <p:nvSpPr>
            <p:cNvPr id="14" name="Text 9">
              <a:extLst>
                <a:ext uri="{FF2B5EF4-FFF2-40B4-BE49-F238E27FC236}">
                  <a16:creationId xmlns:a16="http://schemas.microsoft.com/office/drawing/2014/main" id="{BFB8C4DA-1E0D-A2DC-FADE-0DCF257F414E}"/>
                </a:ext>
              </a:extLst>
            </p:cNvPr>
            <p:cNvSpPr txBox="1"/>
            <p:nvPr/>
          </p:nvSpPr>
          <p:spPr>
            <a:xfrm>
              <a:off x="868680" y="3154680"/>
              <a:ext cx="1005840" cy="274320"/>
            </a:xfrm>
            <a:prstGeom prst="rect">
              <a:avLst/>
            </a:prstGeom>
            <a:noFill/>
            <a:ln/>
          </p:spPr>
          <p:txBody>
            <a:bodyPr wrap="square" lIns="0" tIns="0" rIns="0" bIns="0" rtlCol="0" anchor="t"/>
            <a:lstStyle/>
            <a:p>
              <a:pPr marL="0" indent="0" algn="ctr">
                <a:buNone/>
              </a:pPr>
              <a:r>
                <a:rPr lang="en-US" sz="1300" dirty="0">
                  <a:solidFill>
                    <a:srgbClr val="5B6B76"/>
                  </a:solidFill>
                  <a:latin typeface="Calibri" pitchFamily="34" charset="0"/>
                  <a:ea typeface="Calibri" pitchFamily="34" charset="-122"/>
                  <a:cs typeface="Calibri" pitchFamily="34" charset="-120"/>
                </a:rPr>
                <a:t>thật</a:t>
              </a:r>
              <a:endParaRPr lang="en-US" sz="1300" dirty="0"/>
            </a:p>
          </p:txBody>
        </p:sp>
        <p:sp>
          <p:nvSpPr>
            <p:cNvPr id="15" name="Text 10">
              <a:extLst>
                <a:ext uri="{FF2B5EF4-FFF2-40B4-BE49-F238E27FC236}">
                  <a16:creationId xmlns:a16="http://schemas.microsoft.com/office/drawing/2014/main" id="{5829E8C4-04D2-E6B4-9D5E-0F5C3BDC2ADE}"/>
                </a:ext>
              </a:extLst>
            </p:cNvPr>
            <p:cNvSpPr txBox="1"/>
            <p:nvPr/>
          </p:nvSpPr>
          <p:spPr>
            <a:xfrm>
              <a:off x="2743200" y="3154680"/>
              <a:ext cx="1005840" cy="274320"/>
            </a:xfrm>
            <a:prstGeom prst="rect">
              <a:avLst/>
            </a:prstGeom>
            <a:noFill/>
            <a:ln/>
          </p:spPr>
          <p:txBody>
            <a:bodyPr wrap="square" lIns="0" tIns="0" rIns="0" bIns="0" rtlCol="0" anchor="t"/>
            <a:lstStyle/>
            <a:p>
              <a:pPr marL="0" indent="0" algn="ctr">
                <a:buNone/>
              </a:pPr>
              <a:r>
                <a:rPr lang="en-US" sz="1300" dirty="0">
                  <a:solidFill>
                    <a:srgbClr val="5B6B76"/>
                  </a:solidFill>
                  <a:latin typeface="Calibri" pitchFamily="34" charset="0"/>
                  <a:ea typeface="Calibri" pitchFamily="34" charset="-122"/>
                  <a:cs typeface="Calibri" pitchFamily="34" charset="-120"/>
                </a:rPr>
                <a:t>số</a:t>
              </a:r>
              <a:endParaRPr lang="en-US" sz="1300" dirty="0"/>
            </a:p>
          </p:txBody>
        </p:sp>
        <p:sp>
          <p:nvSpPr>
            <p:cNvPr id="16" name="Text 11">
              <a:extLst>
                <a:ext uri="{FF2B5EF4-FFF2-40B4-BE49-F238E27FC236}">
                  <a16:creationId xmlns:a16="http://schemas.microsoft.com/office/drawing/2014/main" id="{A260F08A-B0AE-C1D5-0DA1-E18D33CB9F63}"/>
                </a:ext>
              </a:extLst>
            </p:cNvPr>
            <p:cNvSpPr txBox="1"/>
            <p:nvPr/>
          </p:nvSpPr>
          <p:spPr>
            <a:xfrm>
              <a:off x="502920" y="3566160"/>
              <a:ext cx="3611880" cy="411480"/>
            </a:xfrm>
            <a:prstGeom prst="rect">
              <a:avLst/>
            </a:prstGeom>
            <a:noFill/>
            <a:ln/>
          </p:spPr>
          <p:txBody>
            <a:bodyPr wrap="square" lIns="0" tIns="0" rIns="0" bIns="0" rtlCol="0" anchor="t"/>
            <a:lstStyle/>
            <a:p>
              <a:pPr marL="0" indent="0" algn="ctr">
                <a:buNone/>
              </a:pPr>
              <a:r>
                <a:rPr lang="en-US" sz="1800" b="1" dirty="0">
                  <a:solidFill>
                    <a:srgbClr val="13293D"/>
                  </a:solidFill>
                  <a:latin typeface="Calibri" pitchFamily="34" charset="0"/>
                  <a:ea typeface="Calibri" pitchFamily="34" charset="-122"/>
                  <a:cs typeface="Calibri" pitchFamily="34" charset="-120"/>
                </a:rPr>
                <a:t>trao đổi dữ liệu thủ công</a:t>
              </a:r>
              <a:endParaRPr lang="en-US" sz="1800" dirty="0"/>
            </a:p>
          </p:txBody>
        </p:sp>
        <p:sp>
          <p:nvSpPr>
            <p:cNvPr id="17" name="Shape 12">
              <a:extLst>
                <a:ext uri="{FF2B5EF4-FFF2-40B4-BE49-F238E27FC236}">
                  <a16:creationId xmlns:a16="http://schemas.microsoft.com/office/drawing/2014/main" id="{839B07BD-FBE6-2DCE-751A-E39A5C63239B}"/>
                </a:ext>
              </a:extLst>
            </p:cNvPr>
            <p:cNvSpPr/>
            <p:nvPr/>
          </p:nvSpPr>
          <p:spPr>
            <a:xfrm>
              <a:off x="685800" y="4114800"/>
              <a:ext cx="3246120" cy="1051560"/>
            </a:xfrm>
            <a:prstGeom prst="rect">
              <a:avLst/>
            </a:prstGeom>
            <a:solidFill>
              <a:srgbClr val="F3F6F8"/>
            </a:solidFill>
            <a:ln w="12700">
              <a:solidFill>
                <a:srgbClr val="F3F6F8"/>
              </a:solidFill>
              <a:prstDash val="solid"/>
            </a:ln>
          </p:spPr>
          <p:txBody>
            <a:bodyPr/>
            <a:lstStyle/>
            <a:p>
              <a:endParaRPr lang="en-US"/>
            </a:p>
          </p:txBody>
        </p:sp>
        <p:sp>
          <p:nvSpPr>
            <p:cNvPr id="18" name="Text 13">
              <a:extLst>
                <a:ext uri="{FF2B5EF4-FFF2-40B4-BE49-F238E27FC236}">
                  <a16:creationId xmlns:a16="http://schemas.microsoft.com/office/drawing/2014/main" id="{BB91BB12-79EA-23AB-5841-45448FDCCEB2}"/>
                </a:ext>
              </a:extLst>
            </p:cNvPr>
            <p:cNvSpPr txBox="1"/>
            <p:nvPr/>
          </p:nvSpPr>
          <p:spPr>
            <a:xfrm>
              <a:off x="777240" y="4114800"/>
              <a:ext cx="3063240" cy="1051560"/>
            </a:xfrm>
            <a:prstGeom prst="rect">
              <a:avLst/>
            </a:prstGeom>
            <a:noFill/>
            <a:ln/>
          </p:spPr>
          <p:txBody>
            <a:bodyPr wrap="square" lIns="0" tIns="0" rIns="0" bIns="0" rtlCol="0" anchor="ctr"/>
            <a:lstStyle/>
            <a:p>
              <a:pPr marL="0" indent="0" algn="ctr">
                <a:buNone/>
              </a:pPr>
              <a:r>
                <a:rPr lang="en-US" sz="1150" b="1" dirty="0">
                  <a:solidFill>
                    <a:srgbClr val="5B6B76"/>
                  </a:solidFill>
                  <a:latin typeface="Calibri" pitchFamily="34" charset="0"/>
                  <a:ea typeface="Calibri" pitchFamily="34" charset="-122"/>
                  <a:cs typeface="Calibri" pitchFamily="34" charset="-120"/>
                </a:rPr>
                <a:t>Bằng chứng cần mô tả
</a:t>
              </a:r>
              <a:r>
                <a:rPr lang="en-US" sz="1350" dirty="0">
                  <a:solidFill>
                    <a:srgbClr val="1E2A32"/>
                  </a:solidFill>
                  <a:latin typeface="Calibri" pitchFamily="34" charset="0"/>
                  <a:ea typeface="Calibri" pitchFamily="34" charset="-122"/>
                  <a:cs typeface="Calibri" pitchFamily="34" charset="-120"/>
                </a:rPr>
                <a:t>dữ liệu đầu vào · giả định · phạm vi</a:t>
              </a:r>
              <a:endParaRPr lang="en-US" sz="1350" dirty="0"/>
            </a:p>
          </p:txBody>
        </p:sp>
        <p:sp>
          <p:nvSpPr>
            <p:cNvPr id="19" name="Shape 14">
              <a:extLst>
                <a:ext uri="{FF2B5EF4-FFF2-40B4-BE49-F238E27FC236}">
                  <a16:creationId xmlns:a16="http://schemas.microsoft.com/office/drawing/2014/main" id="{07343BB3-7070-CCFE-7A87-9F5EC22D6ECC}"/>
                </a:ext>
              </a:extLst>
            </p:cNvPr>
            <p:cNvSpPr/>
            <p:nvPr/>
          </p:nvSpPr>
          <p:spPr>
            <a:xfrm>
              <a:off x="4325112" y="1188720"/>
              <a:ext cx="3611880" cy="4160520"/>
            </a:xfrm>
            <a:prstGeom prst="roundRect">
              <a:avLst>
                <a:gd name="adj" fmla="val 2025"/>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20" name="Text 15">
              <a:extLst>
                <a:ext uri="{FF2B5EF4-FFF2-40B4-BE49-F238E27FC236}">
                  <a16:creationId xmlns:a16="http://schemas.microsoft.com/office/drawing/2014/main" id="{5921A25B-AF31-E41E-1FD0-38467D9315BB}"/>
                </a:ext>
              </a:extLst>
            </p:cNvPr>
            <p:cNvSpPr txBox="1"/>
            <p:nvPr/>
          </p:nvSpPr>
          <p:spPr>
            <a:xfrm>
              <a:off x="4325112" y="1325880"/>
              <a:ext cx="3611880" cy="548640"/>
            </a:xfrm>
            <a:prstGeom prst="rect">
              <a:avLst/>
            </a:prstGeom>
            <a:noFill/>
            <a:ln/>
          </p:spPr>
          <p:txBody>
            <a:bodyPr wrap="square" lIns="0" tIns="0" rIns="0" bIns="0" rtlCol="0" anchor="t"/>
            <a:lstStyle/>
            <a:p>
              <a:pPr marL="0" indent="0" algn="ctr">
                <a:buNone/>
              </a:pPr>
              <a:r>
                <a:rPr lang="en-US" sz="2800" b="1" dirty="0">
                  <a:solidFill>
                    <a:srgbClr val="1F6F8B"/>
                  </a:solidFill>
                  <a:latin typeface="Cambria" pitchFamily="34" charset="0"/>
                  <a:ea typeface="Cambria" pitchFamily="34" charset="-122"/>
                  <a:cs typeface="Cambria" pitchFamily="34" charset="-120"/>
                </a:rPr>
                <a:t>Bóng số</a:t>
              </a:r>
              <a:endParaRPr lang="en-US" sz="2800" dirty="0"/>
            </a:p>
          </p:txBody>
        </p:sp>
        <p:sp>
          <p:nvSpPr>
            <p:cNvPr id="21" name="Shape 16">
              <a:extLst>
                <a:ext uri="{FF2B5EF4-FFF2-40B4-BE49-F238E27FC236}">
                  <a16:creationId xmlns:a16="http://schemas.microsoft.com/office/drawing/2014/main" id="{4D49F985-5AFC-BA60-FD74-0AB396F34815}"/>
                </a:ext>
              </a:extLst>
            </p:cNvPr>
            <p:cNvSpPr/>
            <p:nvPr/>
          </p:nvSpPr>
          <p:spPr>
            <a:xfrm>
              <a:off x="4690872" y="2103120"/>
              <a:ext cx="1005840" cy="1005840"/>
            </a:xfrm>
            <a:prstGeom prst="ellipse">
              <a:avLst/>
            </a:prstGeom>
            <a:solidFill>
              <a:srgbClr val="5B6B76"/>
            </a:solidFill>
            <a:ln w="12700">
              <a:solidFill>
                <a:srgbClr val="5B6B76"/>
              </a:solidFill>
              <a:prstDash val="solid"/>
            </a:ln>
          </p:spPr>
          <p:txBody>
            <a:bodyPr/>
            <a:lstStyle/>
            <a:p>
              <a:endParaRPr lang="en-US"/>
            </a:p>
          </p:txBody>
        </p:sp>
        <p:pic>
          <p:nvPicPr>
            <p:cNvPr id="22" name="Image 2" descr="preencoded.png">
              <a:extLst>
                <a:ext uri="{FF2B5EF4-FFF2-40B4-BE49-F238E27FC236}">
                  <a16:creationId xmlns:a16="http://schemas.microsoft.com/office/drawing/2014/main" id="{5416F24E-9192-117C-D35E-BF20E4A2DB90}"/>
                </a:ext>
              </a:extLst>
            </p:cNvPr>
            <p:cNvPicPr>
              <a:picLocks noChangeAspect="1"/>
            </p:cNvPicPr>
            <p:nvPr/>
          </p:nvPicPr>
          <p:blipFill>
            <a:blip r:embed="rId2"/>
            <a:stretch>
              <a:fillRect/>
            </a:stretch>
          </p:blipFill>
          <p:spPr>
            <a:xfrm>
              <a:off x="4932274" y="2344522"/>
              <a:ext cx="523037" cy="523037"/>
            </a:xfrm>
            <a:prstGeom prst="rect">
              <a:avLst/>
            </a:prstGeom>
          </p:spPr>
        </p:pic>
        <p:sp>
          <p:nvSpPr>
            <p:cNvPr id="23" name="Shape 17">
              <a:extLst>
                <a:ext uri="{FF2B5EF4-FFF2-40B4-BE49-F238E27FC236}">
                  <a16:creationId xmlns:a16="http://schemas.microsoft.com/office/drawing/2014/main" id="{F3E0D332-689E-694C-60F7-BD3B6158C0F0}"/>
                </a:ext>
              </a:extLst>
            </p:cNvPr>
            <p:cNvSpPr/>
            <p:nvPr/>
          </p:nvSpPr>
          <p:spPr>
            <a:xfrm>
              <a:off x="6565392" y="2103120"/>
              <a:ext cx="1005840" cy="1005840"/>
            </a:xfrm>
            <a:prstGeom prst="ellipse">
              <a:avLst/>
            </a:prstGeom>
            <a:solidFill>
              <a:srgbClr val="1F6F8B"/>
            </a:solidFill>
            <a:ln w="12700">
              <a:solidFill>
                <a:srgbClr val="1F6F8B"/>
              </a:solidFill>
              <a:prstDash val="solid"/>
            </a:ln>
          </p:spPr>
          <p:txBody>
            <a:bodyPr/>
            <a:lstStyle/>
            <a:p>
              <a:endParaRPr lang="en-US"/>
            </a:p>
          </p:txBody>
        </p:sp>
        <p:pic>
          <p:nvPicPr>
            <p:cNvPr id="24" name="Image 3" descr="preencoded.png">
              <a:extLst>
                <a:ext uri="{FF2B5EF4-FFF2-40B4-BE49-F238E27FC236}">
                  <a16:creationId xmlns:a16="http://schemas.microsoft.com/office/drawing/2014/main" id="{D1F6A771-157C-ED23-0B10-1A9DBD9E4809}"/>
                </a:ext>
              </a:extLst>
            </p:cNvPr>
            <p:cNvPicPr>
              <a:picLocks noChangeAspect="1"/>
            </p:cNvPicPr>
            <p:nvPr/>
          </p:nvPicPr>
          <p:blipFill>
            <a:blip r:embed="rId3"/>
            <a:stretch>
              <a:fillRect/>
            </a:stretch>
          </p:blipFill>
          <p:spPr>
            <a:xfrm>
              <a:off x="6806794" y="2344522"/>
              <a:ext cx="523037" cy="523037"/>
            </a:xfrm>
            <a:prstGeom prst="rect">
              <a:avLst/>
            </a:prstGeom>
          </p:spPr>
        </p:pic>
        <p:sp>
          <p:nvSpPr>
            <p:cNvPr id="25" name="Shape 18">
              <a:extLst>
                <a:ext uri="{FF2B5EF4-FFF2-40B4-BE49-F238E27FC236}">
                  <a16:creationId xmlns:a16="http://schemas.microsoft.com/office/drawing/2014/main" id="{2258B8C0-74B4-8550-B10E-0D6EFBA9C0A3}"/>
                </a:ext>
              </a:extLst>
            </p:cNvPr>
            <p:cNvSpPr/>
            <p:nvPr/>
          </p:nvSpPr>
          <p:spPr>
            <a:xfrm>
              <a:off x="5788152" y="2423160"/>
              <a:ext cx="685800" cy="914"/>
            </a:xfrm>
            <a:prstGeom prst="line">
              <a:avLst/>
            </a:prstGeom>
            <a:noFill/>
            <a:ln w="38100">
              <a:solidFill>
                <a:srgbClr val="1F6F8B"/>
              </a:solidFill>
              <a:prstDash val="solid"/>
              <a:tailEnd type="triangle"/>
            </a:ln>
          </p:spPr>
          <p:txBody>
            <a:bodyPr/>
            <a:lstStyle/>
            <a:p>
              <a:endParaRPr lang="en-US"/>
            </a:p>
          </p:txBody>
        </p:sp>
        <p:sp>
          <p:nvSpPr>
            <p:cNvPr id="26" name="Shape 19">
              <a:extLst>
                <a:ext uri="{FF2B5EF4-FFF2-40B4-BE49-F238E27FC236}">
                  <a16:creationId xmlns:a16="http://schemas.microsoft.com/office/drawing/2014/main" id="{D6E98A41-0C1F-729A-509A-64657B240035}"/>
                </a:ext>
              </a:extLst>
            </p:cNvPr>
            <p:cNvSpPr/>
            <p:nvPr/>
          </p:nvSpPr>
          <p:spPr>
            <a:xfrm flipH="1">
              <a:off x="5788152" y="2834640"/>
              <a:ext cx="685800" cy="914"/>
            </a:xfrm>
            <a:prstGeom prst="line">
              <a:avLst/>
            </a:prstGeom>
            <a:noFill/>
            <a:ln w="38100">
              <a:solidFill>
                <a:srgbClr val="1F6F8B"/>
              </a:solidFill>
              <a:prstDash val="dash"/>
              <a:tailEnd type="triangle"/>
            </a:ln>
          </p:spPr>
          <p:txBody>
            <a:bodyPr/>
            <a:lstStyle/>
            <a:p>
              <a:endParaRPr lang="en-US"/>
            </a:p>
          </p:txBody>
        </p:sp>
        <p:sp>
          <p:nvSpPr>
            <p:cNvPr id="27" name="Text 20">
              <a:extLst>
                <a:ext uri="{FF2B5EF4-FFF2-40B4-BE49-F238E27FC236}">
                  <a16:creationId xmlns:a16="http://schemas.microsoft.com/office/drawing/2014/main" id="{A600CFFF-95BA-0C23-37B7-F49B022E95EA}"/>
                </a:ext>
              </a:extLst>
            </p:cNvPr>
            <p:cNvSpPr txBox="1"/>
            <p:nvPr/>
          </p:nvSpPr>
          <p:spPr>
            <a:xfrm>
              <a:off x="4690872" y="3154680"/>
              <a:ext cx="1005840" cy="274320"/>
            </a:xfrm>
            <a:prstGeom prst="rect">
              <a:avLst/>
            </a:prstGeom>
            <a:noFill/>
            <a:ln/>
          </p:spPr>
          <p:txBody>
            <a:bodyPr wrap="square" lIns="0" tIns="0" rIns="0" bIns="0" rtlCol="0" anchor="t"/>
            <a:lstStyle/>
            <a:p>
              <a:pPr marL="0" indent="0" algn="ctr">
                <a:buNone/>
              </a:pPr>
              <a:r>
                <a:rPr lang="en-US" sz="1300" dirty="0">
                  <a:solidFill>
                    <a:srgbClr val="5B6B76"/>
                  </a:solidFill>
                  <a:latin typeface="Calibri" pitchFamily="34" charset="0"/>
                  <a:ea typeface="Calibri" pitchFamily="34" charset="-122"/>
                  <a:cs typeface="Calibri" pitchFamily="34" charset="-120"/>
                </a:rPr>
                <a:t>thật</a:t>
              </a:r>
              <a:endParaRPr lang="en-US" sz="1300" dirty="0"/>
            </a:p>
          </p:txBody>
        </p:sp>
        <p:sp>
          <p:nvSpPr>
            <p:cNvPr id="28" name="Text 21">
              <a:extLst>
                <a:ext uri="{FF2B5EF4-FFF2-40B4-BE49-F238E27FC236}">
                  <a16:creationId xmlns:a16="http://schemas.microsoft.com/office/drawing/2014/main" id="{952156BE-9155-7FBC-9157-C37144610741}"/>
                </a:ext>
              </a:extLst>
            </p:cNvPr>
            <p:cNvSpPr txBox="1"/>
            <p:nvPr/>
          </p:nvSpPr>
          <p:spPr>
            <a:xfrm>
              <a:off x="6565392" y="3154680"/>
              <a:ext cx="1005840" cy="274320"/>
            </a:xfrm>
            <a:prstGeom prst="rect">
              <a:avLst/>
            </a:prstGeom>
            <a:noFill/>
            <a:ln/>
          </p:spPr>
          <p:txBody>
            <a:bodyPr wrap="square" lIns="0" tIns="0" rIns="0" bIns="0" rtlCol="0" anchor="t"/>
            <a:lstStyle/>
            <a:p>
              <a:pPr marL="0" indent="0" algn="ctr">
                <a:buNone/>
              </a:pPr>
              <a:r>
                <a:rPr lang="en-US" sz="1300" dirty="0">
                  <a:solidFill>
                    <a:srgbClr val="5B6B76"/>
                  </a:solidFill>
                  <a:latin typeface="Calibri" pitchFamily="34" charset="0"/>
                  <a:ea typeface="Calibri" pitchFamily="34" charset="-122"/>
                  <a:cs typeface="Calibri" pitchFamily="34" charset="-120"/>
                </a:rPr>
                <a:t>số</a:t>
              </a:r>
              <a:endParaRPr lang="en-US" sz="1300" dirty="0"/>
            </a:p>
          </p:txBody>
        </p:sp>
        <p:sp>
          <p:nvSpPr>
            <p:cNvPr id="29" name="Text 22">
              <a:extLst>
                <a:ext uri="{FF2B5EF4-FFF2-40B4-BE49-F238E27FC236}">
                  <a16:creationId xmlns:a16="http://schemas.microsoft.com/office/drawing/2014/main" id="{40AA3C5A-5080-FC61-B638-6B5D4A6776DE}"/>
                </a:ext>
              </a:extLst>
            </p:cNvPr>
            <p:cNvSpPr txBox="1"/>
            <p:nvPr/>
          </p:nvSpPr>
          <p:spPr>
            <a:xfrm>
              <a:off x="4325112" y="3566160"/>
              <a:ext cx="3611880" cy="411480"/>
            </a:xfrm>
            <a:prstGeom prst="rect">
              <a:avLst/>
            </a:prstGeom>
            <a:noFill/>
            <a:ln/>
          </p:spPr>
          <p:txBody>
            <a:bodyPr wrap="square" lIns="0" tIns="0" rIns="0" bIns="0" rtlCol="0" anchor="t"/>
            <a:lstStyle/>
            <a:p>
              <a:pPr marL="0" indent="0" algn="ctr">
                <a:buNone/>
              </a:pPr>
              <a:r>
                <a:rPr lang="en-US" sz="1800" b="1" dirty="0">
                  <a:solidFill>
                    <a:srgbClr val="13293D"/>
                  </a:solidFill>
                  <a:latin typeface="Calibri" pitchFamily="34" charset="0"/>
                  <a:ea typeface="Calibri" pitchFamily="34" charset="-122"/>
                  <a:cs typeface="Calibri" pitchFamily="34" charset="-120"/>
                </a:rPr>
                <a:t>tự động thật → số</a:t>
              </a:r>
              <a:endParaRPr lang="en-US" sz="1800" dirty="0"/>
            </a:p>
          </p:txBody>
        </p:sp>
        <p:sp>
          <p:nvSpPr>
            <p:cNvPr id="30" name="Shape 23">
              <a:extLst>
                <a:ext uri="{FF2B5EF4-FFF2-40B4-BE49-F238E27FC236}">
                  <a16:creationId xmlns:a16="http://schemas.microsoft.com/office/drawing/2014/main" id="{2B4C6EF1-4C37-40DE-A16B-8CF7D428FFA4}"/>
                </a:ext>
              </a:extLst>
            </p:cNvPr>
            <p:cNvSpPr/>
            <p:nvPr/>
          </p:nvSpPr>
          <p:spPr>
            <a:xfrm>
              <a:off x="4507992" y="4114800"/>
              <a:ext cx="3246120" cy="1051560"/>
            </a:xfrm>
            <a:prstGeom prst="rect">
              <a:avLst/>
            </a:prstGeom>
            <a:solidFill>
              <a:srgbClr val="F3F6F8"/>
            </a:solidFill>
            <a:ln w="12700">
              <a:solidFill>
                <a:srgbClr val="F3F6F8"/>
              </a:solidFill>
              <a:prstDash val="solid"/>
            </a:ln>
          </p:spPr>
          <p:txBody>
            <a:bodyPr/>
            <a:lstStyle/>
            <a:p>
              <a:endParaRPr lang="en-US"/>
            </a:p>
          </p:txBody>
        </p:sp>
        <p:sp>
          <p:nvSpPr>
            <p:cNvPr id="31" name="Text 24">
              <a:extLst>
                <a:ext uri="{FF2B5EF4-FFF2-40B4-BE49-F238E27FC236}">
                  <a16:creationId xmlns:a16="http://schemas.microsoft.com/office/drawing/2014/main" id="{17875777-A59E-52CB-6195-850AD3584B8D}"/>
                </a:ext>
              </a:extLst>
            </p:cNvPr>
            <p:cNvSpPr txBox="1"/>
            <p:nvPr/>
          </p:nvSpPr>
          <p:spPr>
            <a:xfrm>
              <a:off x="4599432" y="4114800"/>
              <a:ext cx="3063240" cy="1051560"/>
            </a:xfrm>
            <a:prstGeom prst="rect">
              <a:avLst/>
            </a:prstGeom>
            <a:noFill/>
            <a:ln/>
          </p:spPr>
          <p:txBody>
            <a:bodyPr wrap="square" lIns="0" tIns="0" rIns="0" bIns="0" rtlCol="0" anchor="ctr"/>
            <a:lstStyle/>
            <a:p>
              <a:pPr marL="0" indent="0" algn="ctr">
                <a:buNone/>
              </a:pPr>
              <a:r>
                <a:rPr lang="en-US" sz="1150" b="1" dirty="0">
                  <a:solidFill>
                    <a:srgbClr val="5B6B76"/>
                  </a:solidFill>
                  <a:latin typeface="Calibri" pitchFamily="34" charset="0"/>
                  <a:ea typeface="Calibri" pitchFamily="34" charset="-122"/>
                  <a:cs typeface="Calibri" pitchFamily="34" charset="-120"/>
                </a:rPr>
                <a:t>Bằng chứng cần mô tả
</a:t>
              </a:r>
              <a:r>
                <a:rPr lang="en-US" sz="1350" dirty="0">
                  <a:solidFill>
                    <a:srgbClr val="1E2A32"/>
                  </a:solidFill>
                  <a:latin typeface="Calibri" pitchFamily="34" charset="0"/>
                  <a:ea typeface="Calibri" pitchFamily="34" charset="-122"/>
                  <a:cs typeface="Calibri" pitchFamily="34" charset="-120"/>
                </a:rPr>
                <a:t>tần suất cập nhật · dấu thời gian · sai số trạng thái</a:t>
              </a:r>
              <a:endParaRPr lang="en-US" sz="1350" dirty="0"/>
            </a:p>
          </p:txBody>
        </p:sp>
        <p:sp>
          <p:nvSpPr>
            <p:cNvPr id="32" name="Shape 25">
              <a:extLst>
                <a:ext uri="{FF2B5EF4-FFF2-40B4-BE49-F238E27FC236}">
                  <a16:creationId xmlns:a16="http://schemas.microsoft.com/office/drawing/2014/main" id="{3DD1AAEC-7ACD-60A0-B5E2-34E19B44F214}"/>
                </a:ext>
              </a:extLst>
            </p:cNvPr>
            <p:cNvSpPr/>
            <p:nvPr/>
          </p:nvSpPr>
          <p:spPr>
            <a:xfrm>
              <a:off x="8147304" y="1188720"/>
              <a:ext cx="3611880" cy="4160520"/>
            </a:xfrm>
            <a:prstGeom prst="roundRect">
              <a:avLst>
                <a:gd name="adj" fmla="val 2025"/>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33" name="Text 26">
              <a:extLst>
                <a:ext uri="{FF2B5EF4-FFF2-40B4-BE49-F238E27FC236}">
                  <a16:creationId xmlns:a16="http://schemas.microsoft.com/office/drawing/2014/main" id="{53B370D9-C035-ACA1-D0CD-9418E6ADB9AD}"/>
                </a:ext>
              </a:extLst>
            </p:cNvPr>
            <p:cNvSpPr txBox="1"/>
            <p:nvPr/>
          </p:nvSpPr>
          <p:spPr>
            <a:xfrm>
              <a:off x="8147304" y="1325880"/>
              <a:ext cx="3611880" cy="548640"/>
            </a:xfrm>
            <a:prstGeom prst="rect">
              <a:avLst/>
            </a:prstGeom>
            <a:noFill/>
            <a:ln/>
          </p:spPr>
          <p:txBody>
            <a:bodyPr wrap="square" lIns="0" tIns="0" rIns="0" bIns="0" rtlCol="0" anchor="t"/>
            <a:lstStyle/>
            <a:p>
              <a:pPr marL="0" indent="0" algn="ctr">
                <a:buNone/>
              </a:pPr>
              <a:r>
                <a:rPr lang="en-US" sz="2800" b="1" dirty="0">
                  <a:solidFill>
                    <a:srgbClr val="A80000"/>
                  </a:solidFill>
                  <a:latin typeface="Cambria" pitchFamily="34" charset="0"/>
                  <a:ea typeface="Cambria" pitchFamily="34" charset="-122"/>
                  <a:cs typeface="Cambria" pitchFamily="34" charset="-120"/>
                </a:rPr>
                <a:t>Bản sao số</a:t>
              </a:r>
              <a:endParaRPr lang="en-US" sz="2800" dirty="0"/>
            </a:p>
          </p:txBody>
        </p:sp>
        <p:sp>
          <p:nvSpPr>
            <p:cNvPr id="34" name="Shape 27">
              <a:extLst>
                <a:ext uri="{FF2B5EF4-FFF2-40B4-BE49-F238E27FC236}">
                  <a16:creationId xmlns:a16="http://schemas.microsoft.com/office/drawing/2014/main" id="{AEADCF99-2100-6993-2693-6202E40A576A}"/>
                </a:ext>
              </a:extLst>
            </p:cNvPr>
            <p:cNvSpPr/>
            <p:nvPr/>
          </p:nvSpPr>
          <p:spPr>
            <a:xfrm>
              <a:off x="8513064" y="2103120"/>
              <a:ext cx="1005840" cy="1005840"/>
            </a:xfrm>
            <a:prstGeom prst="ellipse">
              <a:avLst/>
            </a:prstGeom>
            <a:solidFill>
              <a:srgbClr val="5B6B76"/>
            </a:solidFill>
            <a:ln w="12700">
              <a:solidFill>
                <a:srgbClr val="5B6B76"/>
              </a:solidFill>
              <a:prstDash val="solid"/>
            </a:ln>
          </p:spPr>
          <p:txBody>
            <a:bodyPr/>
            <a:lstStyle/>
            <a:p>
              <a:endParaRPr lang="en-US"/>
            </a:p>
          </p:txBody>
        </p:sp>
        <p:pic>
          <p:nvPicPr>
            <p:cNvPr id="35" name="Image 4" descr="preencoded.png">
              <a:extLst>
                <a:ext uri="{FF2B5EF4-FFF2-40B4-BE49-F238E27FC236}">
                  <a16:creationId xmlns:a16="http://schemas.microsoft.com/office/drawing/2014/main" id="{448CACEA-8FAC-0D0B-A9E5-0EF5DE9BF96C}"/>
                </a:ext>
              </a:extLst>
            </p:cNvPr>
            <p:cNvPicPr>
              <a:picLocks noChangeAspect="1"/>
            </p:cNvPicPr>
            <p:nvPr/>
          </p:nvPicPr>
          <p:blipFill>
            <a:blip r:embed="rId2"/>
            <a:stretch>
              <a:fillRect/>
            </a:stretch>
          </p:blipFill>
          <p:spPr>
            <a:xfrm>
              <a:off x="8754466" y="2344522"/>
              <a:ext cx="523037" cy="523037"/>
            </a:xfrm>
            <a:prstGeom prst="rect">
              <a:avLst/>
            </a:prstGeom>
          </p:spPr>
        </p:pic>
        <p:sp>
          <p:nvSpPr>
            <p:cNvPr id="36" name="Shape 28">
              <a:extLst>
                <a:ext uri="{FF2B5EF4-FFF2-40B4-BE49-F238E27FC236}">
                  <a16:creationId xmlns:a16="http://schemas.microsoft.com/office/drawing/2014/main" id="{F611759A-75B1-086C-65DC-181A7C0FD7B0}"/>
                </a:ext>
              </a:extLst>
            </p:cNvPr>
            <p:cNvSpPr/>
            <p:nvPr/>
          </p:nvSpPr>
          <p:spPr>
            <a:xfrm>
              <a:off x="10387584" y="2103120"/>
              <a:ext cx="1005840" cy="1005840"/>
            </a:xfrm>
            <a:prstGeom prst="ellipse">
              <a:avLst/>
            </a:prstGeom>
            <a:solidFill>
              <a:srgbClr val="A80000"/>
            </a:solidFill>
            <a:ln w="12700">
              <a:solidFill>
                <a:srgbClr val="A80000"/>
              </a:solidFill>
              <a:prstDash val="solid"/>
            </a:ln>
          </p:spPr>
          <p:txBody>
            <a:bodyPr/>
            <a:lstStyle/>
            <a:p>
              <a:endParaRPr lang="en-US"/>
            </a:p>
          </p:txBody>
        </p:sp>
        <p:pic>
          <p:nvPicPr>
            <p:cNvPr id="37" name="Image 5" descr="preencoded.png">
              <a:extLst>
                <a:ext uri="{FF2B5EF4-FFF2-40B4-BE49-F238E27FC236}">
                  <a16:creationId xmlns:a16="http://schemas.microsoft.com/office/drawing/2014/main" id="{86FE5CE7-C3D6-0E35-0309-D03B57C455E2}"/>
                </a:ext>
              </a:extLst>
            </p:cNvPr>
            <p:cNvPicPr>
              <a:picLocks noChangeAspect="1"/>
            </p:cNvPicPr>
            <p:nvPr/>
          </p:nvPicPr>
          <p:blipFill>
            <a:blip r:embed="rId3"/>
            <a:stretch>
              <a:fillRect/>
            </a:stretch>
          </p:blipFill>
          <p:spPr>
            <a:xfrm>
              <a:off x="10628986" y="2344522"/>
              <a:ext cx="523037" cy="523037"/>
            </a:xfrm>
            <a:prstGeom prst="rect">
              <a:avLst/>
            </a:prstGeom>
          </p:spPr>
        </p:pic>
        <p:sp>
          <p:nvSpPr>
            <p:cNvPr id="38" name="Shape 29">
              <a:extLst>
                <a:ext uri="{FF2B5EF4-FFF2-40B4-BE49-F238E27FC236}">
                  <a16:creationId xmlns:a16="http://schemas.microsoft.com/office/drawing/2014/main" id="{26553951-7706-512D-C810-F9B6C26440A9}"/>
                </a:ext>
              </a:extLst>
            </p:cNvPr>
            <p:cNvSpPr/>
            <p:nvPr/>
          </p:nvSpPr>
          <p:spPr>
            <a:xfrm>
              <a:off x="9610344" y="2423160"/>
              <a:ext cx="685800" cy="914"/>
            </a:xfrm>
            <a:prstGeom prst="line">
              <a:avLst/>
            </a:prstGeom>
            <a:noFill/>
            <a:ln w="38100">
              <a:solidFill>
                <a:srgbClr val="A80000"/>
              </a:solidFill>
              <a:prstDash val="solid"/>
              <a:tailEnd type="triangle"/>
            </a:ln>
          </p:spPr>
          <p:txBody>
            <a:bodyPr/>
            <a:lstStyle/>
            <a:p>
              <a:endParaRPr lang="en-US"/>
            </a:p>
          </p:txBody>
        </p:sp>
        <p:sp>
          <p:nvSpPr>
            <p:cNvPr id="39" name="Shape 30">
              <a:extLst>
                <a:ext uri="{FF2B5EF4-FFF2-40B4-BE49-F238E27FC236}">
                  <a16:creationId xmlns:a16="http://schemas.microsoft.com/office/drawing/2014/main" id="{CD38F4DE-92F2-B239-EBE5-5C4761802411}"/>
                </a:ext>
              </a:extLst>
            </p:cNvPr>
            <p:cNvSpPr/>
            <p:nvPr/>
          </p:nvSpPr>
          <p:spPr>
            <a:xfrm flipH="1">
              <a:off x="9610344" y="2834640"/>
              <a:ext cx="685800" cy="914"/>
            </a:xfrm>
            <a:prstGeom prst="line">
              <a:avLst/>
            </a:prstGeom>
            <a:noFill/>
            <a:ln w="38100">
              <a:solidFill>
                <a:srgbClr val="A80000"/>
              </a:solidFill>
              <a:prstDash val="solid"/>
              <a:tailEnd type="triangle"/>
            </a:ln>
          </p:spPr>
          <p:txBody>
            <a:bodyPr/>
            <a:lstStyle/>
            <a:p>
              <a:endParaRPr lang="en-US"/>
            </a:p>
          </p:txBody>
        </p:sp>
        <p:sp>
          <p:nvSpPr>
            <p:cNvPr id="40" name="Text 31">
              <a:extLst>
                <a:ext uri="{FF2B5EF4-FFF2-40B4-BE49-F238E27FC236}">
                  <a16:creationId xmlns:a16="http://schemas.microsoft.com/office/drawing/2014/main" id="{773EA827-61FA-CE4D-4970-F1D3F0B96338}"/>
                </a:ext>
              </a:extLst>
            </p:cNvPr>
            <p:cNvSpPr txBox="1"/>
            <p:nvPr/>
          </p:nvSpPr>
          <p:spPr>
            <a:xfrm>
              <a:off x="8513064" y="3154680"/>
              <a:ext cx="1005840" cy="274320"/>
            </a:xfrm>
            <a:prstGeom prst="rect">
              <a:avLst/>
            </a:prstGeom>
            <a:noFill/>
            <a:ln/>
          </p:spPr>
          <p:txBody>
            <a:bodyPr wrap="square" lIns="0" tIns="0" rIns="0" bIns="0" rtlCol="0" anchor="t"/>
            <a:lstStyle/>
            <a:p>
              <a:pPr marL="0" indent="0" algn="ctr">
                <a:buNone/>
              </a:pPr>
              <a:r>
                <a:rPr lang="en-US" sz="1300" dirty="0">
                  <a:solidFill>
                    <a:srgbClr val="5B6B76"/>
                  </a:solidFill>
                  <a:latin typeface="Calibri" pitchFamily="34" charset="0"/>
                  <a:ea typeface="Calibri" pitchFamily="34" charset="-122"/>
                  <a:cs typeface="Calibri" pitchFamily="34" charset="-120"/>
                </a:rPr>
                <a:t>thật</a:t>
              </a:r>
              <a:endParaRPr lang="en-US" sz="1300" dirty="0"/>
            </a:p>
          </p:txBody>
        </p:sp>
        <p:sp>
          <p:nvSpPr>
            <p:cNvPr id="41" name="Text 32">
              <a:extLst>
                <a:ext uri="{FF2B5EF4-FFF2-40B4-BE49-F238E27FC236}">
                  <a16:creationId xmlns:a16="http://schemas.microsoft.com/office/drawing/2014/main" id="{98991565-963D-90EB-2453-013E9C55CEA7}"/>
                </a:ext>
              </a:extLst>
            </p:cNvPr>
            <p:cNvSpPr txBox="1"/>
            <p:nvPr/>
          </p:nvSpPr>
          <p:spPr>
            <a:xfrm>
              <a:off x="10387584" y="3154680"/>
              <a:ext cx="1005840" cy="274320"/>
            </a:xfrm>
            <a:prstGeom prst="rect">
              <a:avLst/>
            </a:prstGeom>
            <a:noFill/>
            <a:ln/>
          </p:spPr>
          <p:txBody>
            <a:bodyPr wrap="square" lIns="0" tIns="0" rIns="0" bIns="0" rtlCol="0" anchor="t"/>
            <a:lstStyle/>
            <a:p>
              <a:pPr marL="0" indent="0" algn="ctr">
                <a:buNone/>
              </a:pPr>
              <a:r>
                <a:rPr lang="en-US" sz="1300" dirty="0">
                  <a:solidFill>
                    <a:srgbClr val="5B6B76"/>
                  </a:solidFill>
                  <a:latin typeface="Calibri" pitchFamily="34" charset="0"/>
                  <a:ea typeface="Calibri" pitchFamily="34" charset="-122"/>
                  <a:cs typeface="Calibri" pitchFamily="34" charset="-120"/>
                </a:rPr>
                <a:t>số</a:t>
              </a:r>
              <a:endParaRPr lang="en-US" sz="1300" dirty="0"/>
            </a:p>
          </p:txBody>
        </p:sp>
        <p:sp>
          <p:nvSpPr>
            <p:cNvPr id="42" name="Text 33">
              <a:extLst>
                <a:ext uri="{FF2B5EF4-FFF2-40B4-BE49-F238E27FC236}">
                  <a16:creationId xmlns:a16="http://schemas.microsoft.com/office/drawing/2014/main" id="{E30B8865-A94C-D5C1-72A6-D6E37A5BA98E}"/>
                </a:ext>
              </a:extLst>
            </p:cNvPr>
            <p:cNvSpPr txBox="1"/>
            <p:nvPr/>
          </p:nvSpPr>
          <p:spPr>
            <a:xfrm>
              <a:off x="8147304" y="3566160"/>
              <a:ext cx="3611880" cy="411480"/>
            </a:xfrm>
            <a:prstGeom prst="rect">
              <a:avLst/>
            </a:prstGeom>
            <a:noFill/>
            <a:ln/>
          </p:spPr>
          <p:txBody>
            <a:bodyPr wrap="square" lIns="0" tIns="0" rIns="0" bIns="0" rtlCol="0" anchor="t"/>
            <a:lstStyle/>
            <a:p>
              <a:pPr marL="0" indent="0" algn="ctr">
                <a:buNone/>
              </a:pPr>
              <a:r>
                <a:rPr lang="en-US" sz="1800" b="1" dirty="0">
                  <a:solidFill>
                    <a:srgbClr val="13293D"/>
                  </a:solidFill>
                  <a:latin typeface="Calibri" pitchFamily="34" charset="0"/>
                  <a:ea typeface="Calibri" pitchFamily="34" charset="-122"/>
                  <a:cs typeface="Calibri" pitchFamily="34" charset="-120"/>
                </a:rPr>
                <a:t>vòng phản hồi hai chiều</a:t>
              </a:r>
              <a:endParaRPr lang="en-US" sz="1800" dirty="0"/>
            </a:p>
          </p:txBody>
        </p:sp>
        <p:sp>
          <p:nvSpPr>
            <p:cNvPr id="43" name="Shape 34">
              <a:extLst>
                <a:ext uri="{FF2B5EF4-FFF2-40B4-BE49-F238E27FC236}">
                  <a16:creationId xmlns:a16="http://schemas.microsoft.com/office/drawing/2014/main" id="{7DDE1982-56BE-8DD2-243F-6489DF42660D}"/>
                </a:ext>
              </a:extLst>
            </p:cNvPr>
            <p:cNvSpPr/>
            <p:nvPr/>
          </p:nvSpPr>
          <p:spPr>
            <a:xfrm>
              <a:off x="8330184" y="4114800"/>
              <a:ext cx="3246120" cy="1051560"/>
            </a:xfrm>
            <a:prstGeom prst="rect">
              <a:avLst/>
            </a:prstGeom>
            <a:solidFill>
              <a:srgbClr val="F3F6F8"/>
            </a:solidFill>
            <a:ln w="12700">
              <a:solidFill>
                <a:srgbClr val="F3F6F8"/>
              </a:solidFill>
              <a:prstDash val="solid"/>
            </a:ln>
          </p:spPr>
          <p:txBody>
            <a:bodyPr/>
            <a:lstStyle/>
            <a:p>
              <a:endParaRPr lang="en-US"/>
            </a:p>
          </p:txBody>
        </p:sp>
        <p:sp>
          <p:nvSpPr>
            <p:cNvPr id="44" name="Text 35">
              <a:extLst>
                <a:ext uri="{FF2B5EF4-FFF2-40B4-BE49-F238E27FC236}">
                  <a16:creationId xmlns:a16="http://schemas.microsoft.com/office/drawing/2014/main" id="{EC9874A8-711A-6254-FE33-3DCC3865DDCF}"/>
                </a:ext>
              </a:extLst>
            </p:cNvPr>
            <p:cNvSpPr txBox="1"/>
            <p:nvPr/>
          </p:nvSpPr>
          <p:spPr>
            <a:xfrm>
              <a:off x="8421624" y="4114800"/>
              <a:ext cx="3063240" cy="1051560"/>
            </a:xfrm>
            <a:prstGeom prst="rect">
              <a:avLst/>
            </a:prstGeom>
            <a:noFill/>
            <a:ln/>
          </p:spPr>
          <p:txBody>
            <a:bodyPr wrap="square" lIns="0" tIns="0" rIns="0" bIns="0" rtlCol="0" anchor="ctr"/>
            <a:lstStyle/>
            <a:p>
              <a:pPr marL="0" indent="0" algn="ctr">
                <a:buNone/>
              </a:pPr>
              <a:r>
                <a:rPr lang="en-US" sz="1150" b="1" dirty="0">
                  <a:solidFill>
                    <a:srgbClr val="5B6B76"/>
                  </a:solidFill>
                  <a:latin typeface="Calibri" pitchFamily="34" charset="0"/>
                  <a:ea typeface="Calibri" pitchFamily="34" charset="-122"/>
                  <a:cs typeface="Calibri" pitchFamily="34" charset="-120"/>
                </a:rPr>
                <a:t>Bằng chứng cần mô tả
</a:t>
              </a:r>
              <a:r>
                <a:rPr lang="en-US" sz="1350" dirty="0">
                  <a:solidFill>
                    <a:srgbClr val="1E2A32"/>
                  </a:solidFill>
                  <a:latin typeface="Calibri" pitchFamily="34" charset="0"/>
                  <a:ea typeface="Calibri" pitchFamily="34" charset="-122"/>
                  <a:cs typeface="Calibri" pitchFamily="34" charset="-120"/>
                </a:rPr>
                <a:t>đồng bộ · kiểm định · phản hồi · người duyệt</a:t>
              </a:r>
              <a:endParaRPr lang="en-US" sz="1350" dirty="0"/>
            </a:p>
          </p:txBody>
        </p:sp>
        <p:sp>
          <p:nvSpPr>
            <p:cNvPr id="45" name="Text 36">
              <a:extLst>
                <a:ext uri="{FF2B5EF4-FFF2-40B4-BE49-F238E27FC236}">
                  <a16:creationId xmlns:a16="http://schemas.microsoft.com/office/drawing/2014/main" id="{51D1BB94-7FBA-B412-C839-20D81EC9D7AD}"/>
                </a:ext>
              </a:extLst>
            </p:cNvPr>
            <p:cNvSpPr txBox="1"/>
            <p:nvPr/>
          </p:nvSpPr>
          <p:spPr>
            <a:xfrm>
              <a:off x="502920" y="5486400"/>
              <a:ext cx="5486400" cy="274320"/>
            </a:xfrm>
            <a:prstGeom prst="rect">
              <a:avLst/>
            </a:prstGeom>
            <a:noFill/>
            <a:ln/>
          </p:spPr>
          <p:txBody>
            <a:bodyPr wrap="square" lIns="0" tIns="0" rIns="0" bIns="0" rtlCol="0" anchor="t"/>
            <a:lstStyle/>
            <a:p>
              <a:pPr marL="0" indent="0">
                <a:buNone/>
              </a:pPr>
              <a:r>
                <a:rPr lang="en-US" sz="1200" dirty="0">
                  <a:solidFill>
                    <a:srgbClr val="5B6B76"/>
                  </a:solidFill>
                  <a:latin typeface="Calibri" pitchFamily="34" charset="0"/>
                  <a:ea typeface="Calibri" pitchFamily="34" charset="-122"/>
                  <a:cs typeface="Calibri" pitchFamily="34" charset="-120"/>
                </a:rPr>
                <a:t>Nét đứt = thủ công · Nét liền = tự động</a:t>
              </a:r>
              <a:endParaRPr lang="en-US" sz="1200" dirty="0"/>
            </a:p>
          </p:txBody>
        </p:sp>
      </p:grpSp>
      <p:sp>
        <p:nvSpPr>
          <p:cNvPr id="46" name="Text 37">
            <a:extLst>
              <a:ext uri="{FF2B5EF4-FFF2-40B4-BE49-F238E27FC236}">
                <a16:creationId xmlns:a16="http://schemas.microsoft.com/office/drawing/2014/main" id="{E0F0C323-11CC-6655-8742-98F14A937CEA}"/>
              </a:ext>
            </a:extLst>
          </p:cNvPr>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ISO/IEC 30173:2023 [17] · ISO 23247 [18] · Kritzinger và cộng sự, 2018 [19] · NASEM, 2024 [20]</a:t>
            </a:r>
            <a:endParaRPr lang="en-US" sz="1000" dirty="0"/>
          </a:p>
        </p:txBody>
      </p:sp>
      <p:sp>
        <p:nvSpPr>
          <p:cNvPr id="5" name="Slide Number Placeholder 0">
            <a:extLst>
              <a:ext uri="{FF2B5EF4-FFF2-40B4-BE49-F238E27FC236}">
                <a16:creationId xmlns:a16="http://schemas.microsoft.com/office/drawing/2014/main" id="{3774D01D-3A71-F0AA-FE08-4610E9D6A475}"/>
              </a:ext>
            </a:extLst>
          </p:cNvPr>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28</a:t>
            </a:fld>
            <a:endParaRPr lang="en-US"/>
          </a:p>
        </p:txBody>
      </p:sp>
    </p:spTree>
    <p:extLst>
      <p:ext uri="{BB962C8B-B14F-4D97-AF65-F5344CB8AC3E}">
        <p14:creationId xmlns:p14="http://schemas.microsoft.com/office/powerpoint/2010/main" val="16569974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Khung tổ chức bốn tầng</a:t>
            </a:r>
            <a:endParaRPr lang="en-US" sz="2800" dirty="0"/>
          </a:p>
        </p:txBody>
      </p:sp>
      <p:sp>
        <p:nvSpPr>
          <p:cNvPr id="3" name="Shape 1"/>
          <p:cNvSpPr/>
          <p:nvPr/>
        </p:nvSpPr>
        <p:spPr>
          <a:xfrm>
            <a:off x="457200" y="6510528"/>
            <a:ext cx="128016" cy="128016"/>
          </a:xfrm>
          <a:prstGeom prst="ellipse">
            <a:avLst/>
          </a:prstGeom>
          <a:solidFill>
            <a:srgbClr val="4B4B9C"/>
          </a:solidFill>
          <a:ln w="12700">
            <a:solidFill>
              <a:srgbClr val="4B4B9C"/>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4B4B9C"/>
                </a:solidFill>
                <a:latin typeface="Calibri" pitchFamily="34" charset="0"/>
                <a:ea typeface="Calibri" pitchFamily="34" charset="-122"/>
                <a:cs typeface="Calibri" pitchFamily="34" charset="-120"/>
              </a:rPr>
              <a:t>4 · BẢN SAO SỐ</a:t>
            </a:r>
            <a:endParaRPr lang="en-US" sz="1100" dirty="0"/>
          </a:p>
        </p:txBody>
      </p:sp>
      <p:grpSp>
        <p:nvGrpSpPr>
          <p:cNvPr id="34" name="Group 33">
            <a:extLst>
              <a:ext uri="{FF2B5EF4-FFF2-40B4-BE49-F238E27FC236}">
                <a16:creationId xmlns:a16="http://schemas.microsoft.com/office/drawing/2014/main" id="{48C46B1E-85FC-2A77-0278-12FB42692504}"/>
              </a:ext>
            </a:extLst>
          </p:cNvPr>
          <p:cNvGrpSpPr/>
          <p:nvPr/>
        </p:nvGrpSpPr>
        <p:grpSpPr>
          <a:xfrm>
            <a:off x="457200" y="1188720"/>
            <a:ext cx="11274552" cy="5193792"/>
            <a:chOff x="457200" y="1188720"/>
            <a:chExt cx="11274552" cy="5193792"/>
          </a:xfrm>
        </p:grpSpPr>
        <p:sp>
          <p:nvSpPr>
            <p:cNvPr id="6" name="Shape 3"/>
            <p:cNvSpPr/>
            <p:nvPr/>
          </p:nvSpPr>
          <p:spPr>
            <a:xfrm>
              <a:off x="548640" y="1188720"/>
              <a:ext cx="2468880" cy="2651760"/>
            </a:xfrm>
            <a:prstGeom prst="roundRect">
              <a:avLst>
                <a:gd name="adj" fmla="val 3704"/>
              </a:avLst>
            </a:prstGeom>
            <a:solidFill>
              <a:srgbClr val="E08A2E"/>
            </a:solidFill>
            <a:ln w="12700">
              <a:solidFill>
                <a:srgbClr val="E08A2E"/>
              </a:solidFill>
              <a:prstDash val="solid"/>
            </a:ln>
          </p:spPr>
          <p:txBody>
            <a:bodyPr/>
            <a:lstStyle/>
            <a:p>
              <a:endParaRPr lang="en-US"/>
            </a:p>
          </p:txBody>
        </p:sp>
        <p:pic>
          <p:nvPicPr>
            <p:cNvPr id="7" name="Image 0" descr="preencoded.png"/>
            <p:cNvPicPr>
              <a:picLocks noChangeAspect="1"/>
            </p:cNvPicPr>
            <p:nvPr/>
          </p:nvPicPr>
          <p:blipFill>
            <a:blip r:embed="rId2"/>
            <a:stretch>
              <a:fillRect/>
            </a:stretch>
          </p:blipFill>
          <p:spPr>
            <a:xfrm>
              <a:off x="1463040" y="1325880"/>
              <a:ext cx="640080" cy="640080"/>
            </a:xfrm>
            <a:prstGeom prst="rect">
              <a:avLst/>
            </a:prstGeom>
          </p:spPr>
        </p:pic>
        <p:sp>
          <p:nvSpPr>
            <p:cNvPr id="8" name="Text 4"/>
            <p:cNvSpPr txBox="1"/>
            <p:nvPr/>
          </p:nvSpPr>
          <p:spPr>
            <a:xfrm>
              <a:off x="548640" y="2011680"/>
              <a:ext cx="2468880" cy="457200"/>
            </a:xfrm>
            <a:prstGeom prst="rect">
              <a:avLst/>
            </a:prstGeom>
            <a:noFill/>
            <a:ln/>
          </p:spPr>
          <p:txBody>
            <a:bodyPr wrap="square" lIns="0" tIns="0" rIns="0" bIns="0" rtlCol="0" anchor="t"/>
            <a:lstStyle/>
            <a:p>
              <a:pPr marL="0" indent="0" algn="ctr">
                <a:buNone/>
              </a:pPr>
              <a:r>
                <a:rPr lang="en-US" sz="2100" b="1" dirty="0">
                  <a:solidFill>
                    <a:srgbClr val="FFFFFF"/>
                  </a:solidFill>
                  <a:latin typeface="Cambria" pitchFamily="34" charset="0"/>
                  <a:ea typeface="Cambria" pitchFamily="34" charset="-122"/>
                  <a:cs typeface="Cambria" pitchFamily="34" charset="-120"/>
                </a:rPr>
                <a:t>DỮ LIỆU</a:t>
              </a:r>
              <a:endParaRPr lang="en-US" sz="2100" dirty="0"/>
            </a:p>
          </p:txBody>
        </p:sp>
        <p:sp>
          <p:nvSpPr>
            <p:cNvPr id="9" name="Text 5"/>
            <p:cNvSpPr txBox="1"/>
            <p:nvPr/>
          </p:nvSpPr>
          <p:spPr>
            <a:xfrm>
              <a:off x="640080" y="2514600"/>
              <a:ext cx="2286000" cy="123444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HIS/LIS và IoT</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Trạng thái</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Dấu thời gian</a:t>
              </a:r>
              <a:endParaRPr lang="en-US" sz="1500" dirty="0"/>
            </a:p>
          </p:txBody>
        </p:sp>
        <p:sp>
          <p:nvSpPr>
            <p:cNvPr id="10" name="Shape 6"/>
            <p:cNvSpPr/>
            <p:nvPr/>
          </p:nvSpPr>
          <p:spPr>
            <a:xfrm>
              <a:off x="3035808" y="2514600"/>
              <a:ext cx="329184" cy="914"/>
            </a:xfrm>
            <a:prstGeom prst="line">
              <a:avLst/>
            </a:prstGeom>
            <a:noFill/>
            <a:ln w="38100">
              <a:solidFill>
                <a:srgbClr val="5B6B76"/>
              </a:solidFill>
              <a:prstDash val="solid"/>
              <a:tailEnd type="triangle"/>
            </a:ln>
          </p:spPr>
          <p:txBody>
            <a:bodyPr/>
            <a:lstStyle/>
            <a:p>
              <a:endParaRPr lang="en-US"/>
            </a:p>
          </p:txBody>
        </p:sp>
        <p:sp>
          <p:nvSpPr>
            <p:cNvPr id="11" name="Shape 7"/>
            <p:cNvSpPr/>
            <p:nvPr/>
          </p:nvSpPr>
          <p:spPr>
            <a:xfrm>
              <a:off x="3383280" y="1188720"/>
              <a:ext cx="2468880" cy="2651760"/>
            </a:xfrm>
            <a:prstGeom prst="roundRect">
              <a:avLst>
                <a:gd name="adj" fmla="val 3704"/>
              </a:avLst>
            </a:prstGeom>
            <a:solidFill>
              <a:srgbClr val="A80000"/>
            </a:solidFill>
            <a:ln w="12700">
              <a:solidFill>
                <a:srgbClr val="A80000"/>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4297680" y="1325880"/>
              <a:ext cx="640080" cy="640080"/>
            </a:xfrm>
            <a:prstGeom prst="rect">
              <a:avLst/>
            </a:prstGeom>
          </p:spPr>
        </p:pic>
        <p:sp>
          <p:nvSpPr>
            <p:cNvPr id="13" name="Text 8"/>
            <p:cNvSpPr txBox="1"/>
            <p:nvPr/>
          </p:nvSpPr>
          <p:spPr>
            <a:xfrm>
              <a:off x="3383280" y="2011680"/>
              <a:ext cx="2468880" cy="457200"/>
            </a:xfrm>
            <a:prstGeom prst="rect">
              <a:avLst/>
            </a:prstGeom>
            <a:noFill/>
            <a:ln/>
          </p:spPr>
          <p:txBody>
            <a:bodyPr wrap="square" lIns="0" tIns="0" rIns="0" bIns="0" rtlCol="0" anchor="t"/>
            <a:lstStyle/>
            <a:p>
              <a:pPr marL="0" indent="0" algn="ctr">
                <a:buNone/>
              </a:pPr>
              <a:r>
                <a:rPr lang="en-US" sz="2100" b="1" dirty="0">
                  <a:solidFill>
                    <a:srgbClr val="FFFFFF"/>
                  </a:solidFill>
                  <a:latin typeface="Cambria" pitchFamily="34" charset="0"/>
                  <a:ea typeface="Cambria" pitchFamily="34" charset="-122"/>
                  <a:cs typeface="Cambria" pitchFamily="34" charset="-120"/>
                </a:rPr>
                <a:t>PHÂN TÍCH</a:t>
              </a:r>
              <a:endParaRPr lang="en-US" sz="2100" dirty="0"/>
            </a:p>
          </p:txBody>
        </p:sp>
        <p:sp>
          <p:nvSpPr>
            <p:cNvPr id="14" name="Text 9"/>
            <p:cNvSpPr txBox="1"/>
            <p:nvPr/>
          </p:nvSpPr>
          <p:spPr>
            <a:xfrm>
              <a:off x="3474720" y="2514600"/>
              <a:ext cx="2286000" cy="123444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Mô phỏng</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Học máy, tối ưu</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Kiểm định</a:t>
              </a:r>
              <a:endParaRPr lang="en-US" sz="1500" dirty="0"/>
            </a:p>
          </p:txBody>
        </p:sp>
        <p:sp>
          <p:nvSpPr>
            <p:cNvPr id="15" name="Shape 10"/>
            <p:cNvSpPr/>
            <p:nvPr/>
          </p:nvSpPr>
          <p:spPr>
            <a:xfrm>
              <a:off x="5870448" y="2514600"/>
              <a:ext cx="329184" cy="914"/>
            </a:xfrm>
            <a:prstGeom prst="line">
              <a:avLst/>
            </a:prstGeom>
            <a:noFill/>
            <a:ln w="38100">
              <a:solidFill>
                <a:srgbClr val="5B6B76"/>
              </a:solidFill>
              <a:prstDash val="solid"/>
              <a:tailEnd type="triangle"/>
            </a:ln>
          </p:spPr>
          <p:txBody>
            <a:bodyPr/>
            <a:lstStyle/>
            <a:p>
              <a:endParaRPr lang="en-US"/>
            </a:p>
          </p:txBody>
        </p:sp>
        <p:sp>
          <p:nvSpPr>
            <p:cNvPr id="16" name="Shape 11"/>
            <p:cNvSpPr/>
            <p:nvPr/>
          </p:nvSpPr>
          <p:spPr>
            <a:xfrm>
              <a:off x="6217920" y="1188720"/>
              <a:ext cx="2468880" cy="2651760"/>
            </a:xfrm>
            <a:prstGeom prst="roundRect">
              <a:avLst>
                <a:gd name="adj" fmla="val 3704"/>
              </a:avLst>
            </a:prstGeom>
            <a:solidFill>
              <a:srgbClr val="1BA39C"/>
            </a:solidFill>
            <a:ln w="12700">
              <a:solidFill>
                <a:srgbClr val="1BA39C"/>
              </a:solidFill>
              <a:prstDash val="solid"/>
            </a:ln>
          </p:spPr>
          <p:txBody>
            <a:bodyPr/>
            <a:lstStyle/>
            <a:p>
              <a:endParaRPr lang="en-US"/>
            </a:p>
          </p:txBody>
        </p:sp>
        <p:pic>
          <p:nvPicPr>
            <p:cNvPr id="17" name="Image 2" descr="preencoded.png"/>
            <p:cNvPicPr>
              <a:picLocks noChangeAspect="1"/>
            </p:cNvPicPr>
            <p:nvPr/>
          </p:nvPicPr>
          <p:blipFill>
            <a:blip r:embed="rId4"/>
            <a:stretch>
              <a:fillRect/>
            </a:stretch>
          </p:blipFill>
          <p:spPr>
            <a:xfrm>
              <a:off x="7132320" y="1325880"/>
              <a:ext cx="640080" cy="640080"/>
            </a:xfrm>
            <a:prstGeom prst="rect">
              <a:avLst/>
            </a:prstGeom>
          </p:spPr>
        </p:pic>
        <p:sp>
          <p:nvSpPr>
            <p:cNvPr id="18" name="Text 12"/>
            <p:cNvSpPr txBox="1"/>
            <p:nvPr/>
          </p:nvSpPr>
          <p:spPr>
            <a:xfrm>
              <a:off x="6217920" y="2011680"/>
              <a:ext cx="2468880" cy="457200"/>
            </a:xfrm>
            <a:prstGeom prst="rect">
              <a:avLst/>
            </a:prstGeom>
            <a:noFill/>
            <a:ln/>
          </p:spPr>
          <p:txBody>
            <a:bodyPr wrap="square" lIns="0" tIns="0" rIns="0" bIns="0" rtlCol="0" anchor="t"/>
            <a:lstStyle/>
            <a:p>
              <a:pPr marL="0" indent="0" algn="ctr">
                <a:buNone/>
              </a:pPr>
              <a:r>
                <a:rPr lang="en-US" sz="2100" b="1" dirty="0">
                  <a:solidFill>
                    <a:srgbClr val="FFFFFF"/>
                  </a:solidFill>
                  <a:latin typeface="Cambria" pitchFamily="34" charset="0"/>
                  <a:ea typeface="Cambria" pitchFamily="34" charset="-122"/>
                  <a:cs typeface="Cambria" pitchFamily="34" charset="-120"/>
                </a:rPr>
                <a:t>ỨNG DỤNG</a:t>
              </a:r>
              <a:endParaRPr lang="en-US" sz="2100" dirty="0"/>
            </a:p>
          </p:txBody>
        </p:sp>
        <p:sp>
          <p:nvSpPr>
            <p:cNvPr id="19" name="Text 13"/>
            <p:cNvSpPr txBox="1"/>
            <p:nvPr/>
          </p:nvSpPr>
          <p:spPr>
            <a:xfrm>
              <a:off x="6309360" y="2514600"/>
              <a:ext cx="2286000" cy="123444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Thử phương án</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Cảnh báo</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Khuyến nghị</a:t>
              </a:r>
              <a:endParaRPr lang="en-US" sz="1500" dirty="0"/>
            </a:p>
          </p:txBody>
        </p:sp>
        <p:sp>
          <p:nvSpPr>
            <p:cNvPr id="20" name="Shape 14"/>
            <p:cNvSpPr/>
            <p:nvPr/>
          </p:nvSpPr>
          <p:spPr>
            <a:xfrm>
              <a:off x="8705088" y="2514600"/>
              <a:ext cx="329184" cy="914"/>
            </a:xfrm>
            <a:prstGeom prst="line">
              <a:avLst/>
            </a:prstGeom>
            <a:noFill/>
            <a:ln w="38100">
              <a:solidFill>
                <a:srgbClr val="5B6B76"/>
              </a:solidFill>
              <a:prstDash val="solid"/>
              <a:tailEnd type="triangle"/>
            </a:ln>
          </p:spPr>
          <p:txBody>
            <a:bodyPr/>
            <a:lstStyle/>
            <a:p>
              <a:endParaRPr lang="en-US"/>
            </a:p>
          </p:txBody>
        </p:sp>
        <p:sp>
          <p:nvSpPr>
            <p:cNvPr id="21" name="Shape 15"/>
            <p:cNvSpPr/>
            <p:nvPr/>
          </p:nvSpPr>
          <p:spPr>
            <a:xfrm>
              <a:off x="9052560" y="1188720"/>
              <a:ext cx="2468880" cy="2651760"/>
            </a:xfrm>
            <a:prstGeom prst="roundRect">
              <a:avLst>
                <a:gd name="adj" fmla="val 3704"/>
              </a:avLst>
            </a:prstGeom>
            <a:solidFill>
              <a:srgbClr val="1F6F8B"/>
            </a:solidFill>
            <a:ln w="12700">
              <a:solidFill>
                <a:srgbClr val="1F6F8B"/>
              </a:solidFill>
              <a:prstDash val="solid"/>
            </a:ln>
          </p:spPr>
          <p:txBody>
            <a:bodyPr/>
            <a:lstStyle/>
            <a:p>
              <a:endParaRPr lang="en-US"/>
            </a:p>
          </p:txBody>
        </p:sp>
        <p:pic>
          <p:nvPicPr>
            <p:cNvPr id="22" name="Image 3" descr="preencoded.png"/>
            <p:cNvPicPr>
              <a:picLocks noChangeAspect="1"/>
            </p:cNvPicPr>
            <p:nvPr/>
          </p:nvPicPr>
          <p:blipFill>
            <a:blip r:embed="rId5"/>
            <a:stretch>
              <a:fillRect/>
            </a:stretch>
          </p:blipFill>
          <p:spPr>
            <a:xfrm>
              <a:off x="9966960" y="1325880"/>
              <a:ext cx="640080" cy="640080"/>
            </a:xfrm>
            <a:prstGeom prst="rect">
              <a:avLst/>
            </a:prstGeom>
          </p:spPr>
        </p:pic>
        <p:sp>
          <p:nvSpPr>
            <p:cNvPr id="23" name="Text 16"/>
            <p:cNvSpPr txBox="1"/>
            <p:nvPr/>
          </p:nvSpPr>
          <p:spPr>
            <a:xfrm>
              <a:off x="9052560" y="2011680"/>
              <a:ext cx="2468880" cy="457200"/>
            </a:xfrm>
            <a:prstGeom prst="rect">
              <a:avLst/>
            </a:prstGeom>
            <a:noFill/>
            <a:ln/>
          </p:spPr>
          <p:txBody>
            <a:bodyPr wrap="square" lIns="0" tIns="0" rIns="0" bIns="0" rtlCol="0" anchor="t"/>
            <a:lstStyle/>
            <a:p>
              <a:pPr marL="0" indent="0" algn="ctr">
                <a:buNone/>
              </a:pPr>
              <a:r>
                <a:rPr lang="en-US" sz="2100" b="1" dirty="0">
                  <a:solidFill>
                    <a:srgbClr val="FFFFFF"/>
                  </a:solidFill>
                  <a:latin typeface="Cambria" pitchFamily="34" charset="0"/>
                  <a:ea typeface="Cambria" pitchFamily="34" charset="-122"/>
                  <a:cs typeface="Cambria" pitchFamily="34" charset="-120"/>
                </a:rPr>
                <a:t>TƯƠNG TÁC</a:t>
              </a:r>
              <a:endParaRPr lang="en-US" sz="2100" dirty="0"/>
            </a:p>
          </p:txBody>
        </p:sp>
        <p:sp>
          <p:nvSpPr>
            <p:cNvPr id="24" name="Text 17"/>
            <p:cNvSpPr txBox="1"/>
            <p:nvPr/>
          </p:nvSpPr>
          <p:spPr>
            <a:xfrm>
              <a:off x="9144000" y="2514600"/>
              <a:ext cx="2286000" cy="123444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Bảng điều hành</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Giải thích</a:t>
              </a:r>
              <a:endParaRPr lang="en-US" sz="1500" dirty="0"/>
            </a:p>
            <a:p>
              <a:pPr marL="0" indent="0" algn="ctr">
                <a:buNone/>
              </a:pPr>
              <a:r>
                <a:rPr lang="en-US" sz="1500" dirty="0">
                  <a:solidFill>
                    <a:srgbClr val="FFFFFF"/>
                  </a:solidFill>
                  <a:latin typeface="Calibri" pitchFamily="34" charset="0"/>
                  <a:ea typeface="Calibri" pitchFamily="34" charset="-122"/>
                  <a:cs typeface="Calibri" pitchFamily="34" charset="-120"/>
                </a:rPr>
                <a:t>Người duyệt</a:t>
              </a:r>
              <a:endParaRPr lang="en-US" sz="1500" dirty="0"/>
            </a:p>
          </p:txBody>
        </p:sp>
        <p:sp>
          <p:nvSpPr>
            <p:cNvPr id="25" name="Shape 18"/>
            <p:cNvSpPr/>
            <p:nvPr/>
          </p:nvSpPr>
          <p:spPr>
            <a:xfrm>
              <a:off x="548640" y="4572000"/>
              <a:ext cx="10972800" cy="640080"/>
            </a:xfrm>
            <a:prstGeom prst="roundRect">
              <a:avLst>
                <a:gd name="adj" fmla="val 11429"/>
              </a:avLst>
            </a:prstGeom>
            <a:solidFill>
              <a:srgbClr val="5B6B76"/>
            </a:solidFill>
            <a:ln w="19050">
              <a:solidFill>
                <a:srgbClr val="5B6B76"/>
              </a:solidFill>
              <a:prstDash val="solid"/>
            </a:ln>
          </p:spPr>
          <p:txBody>
            <a:bodyPr/>
            <a:lstStyle/>
            <a:p>
              <a:endParaRPr lang="en-US"/>
            </a:p>
          </p:txBody>
        </p:sp>
        <p:sp>
          <p:nvSpPr>
            <p:cNvPr id="26" name="Text 19"/>
            <p:cNvSpPr txBox="1"/>
            <p:nvPr/>
          </p:nvSpPr>
          <p:spPr>
            <a:xfrm>
              <a:off x="594360" y="4572000"/>
              <a:ext cx="10881360"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HỆ THỐNG THỰC · phòng xét nghiệm · giảng đường · nhà kính</a:t>
              </a:r>
              <a:endParaRPr lang="en-US" sz="1700" dirty="0"/>
            </a:p>
          </p:txBody>
        </p:sp>
        <p:sp>
          <p:nvSpPr>
            <p:cNvPr id="27" name="Shape 20"/>
            <p:cNvSpPr/>
            <p:nvPr/>
          </p:nvSpPr>
          <p:spPr>
            <a:xfrm flipV="1">
              <a:off x="1783080" y="3886200"/>
              <a:ext cx="914" cy="640080"/>
            </a:xfrm>
            <a:prstGeom prst="line">
              <a:avLst/>
            </a:prstGeom>
            <a:noFill/>
            <a:ln w="38100">
              <a:solidFill>
                <a:srgbClr val="1BA39C"/>
              </a:solidFill>
              <a:prstDash val="solid"/>
              <a:tailEnd type="triangle"/>
            </a:ln>
          </p:spPr>
          <p:txBody>
            <a:bodyPr/>
            <a:lstStyle/>
            <a:p>
              <a:endParaRPr lang="en-US"/>
            </a:p>
          </p:txBody>
        </p:sp>
        <p:sp>
          <p:nvSpPr>
            <p:cNvPr id="28" name="Text 21"/>
            <p:cNvSpPr txBox="1"/>
            <p:nvPr/>
          </p:nvSpPr>
          <p:spPr>
            <a:xfrm>
              <a:off x="1874520" y="4023360"/>
              <a:ext cx="1188720" cy="320040"/>
            </a:xfrm>
            <a:prstGeom prst="rect">
              <a:avLst/>
            </a:prstGeom>
            <a:noFill/>
            <a:ln/>
          </p:spPr>
          <p:txBody>
            <a:bodyPr wrap="square" lIns="0" tIns="0" rIns="0" bIns="0" rtlCol="0" anchor="t"/>
            <a:lstStyle/>
            <a:p>
              <a:pPr marL="0" indent="0">
                <a:buNone/>
              </a:pPr>
              <a:r>
                <a:rPr lang="en-US" sz="1300" b="1" dirty="0">
                  <a:solidFill>
                    <a:srgbClr val="1BA39C"/>
                  </a:solidFill>
                  <a:latin typeface="Calibri" pitchFamily="34" charset="0"/>
                  <a:ea typeface="Calibri" pitchFamily="34" charset="-122"/>
                  <a:cs typeface="Calibri" pitchFamily="34" charset="-120"/>
                </a:rPr>
                <a:t>dữ liệu</a:t>
              </a:r>
              <a:endParaRPr lang="en-US" sz="1300" dirty="0"/>
            </a:p>
          </p:txBody>
        </p:sp>
        <p:sp>
          <p:nvSpPr>
            <p:cNvPr id="29" name="Shape 22"/>
            <p:cNvSpPr/>
            <p:nvPr/>
          </p:nvSpPr>
          <p:spPr>
            <a:xfrm>
              <a:off x="10287000" y="3886200"/>
              <a:ext cx="914" cy="640080"/>
            </a:xfrm>
            <a:prstGeom prst="line">
              <a:avLst/>
            </a:prstGeom>
            <a:noFill/>
            <a:ln w="38100">
              <a:solidFill>
                <a:srgbClr val="A80000"/>
              </a:solidFill>
              <a:prstDash val="solid"/>
              <a:tailEnd type="triangle"/>
            </a:ln>
          </p:spPr>
          <p:txBody>
            <a:bodyPr/>
            <a:lstStyle/>
            <a:p>
              <a:endParaRPr lang="en-US"/>
            </a:p>
          </p:txBody>
        </p:sp>
        <p:sp>
          <p:nvSpPr>
            <p:cNvPr id="30" name="Text 23"/>
            <p:cNvSpPr txBox="1"/>
            <p:nvPr/>
          </p:nvSpPr>
          <p:spPr>
            <a:xfrm>
              <a:off x="8046720" y="4023360"/>
              <a:ext cx="2148840" cy="320040"/>
            </a:xfrm>
            <a:prstGeom prst="rect">
              <a:avLst/>
            </a:prstGeom>
            <a:noFill/>
            <a:ln/>
          </p:spPr>
          <p:txBody>
            <a:bodyPr wrap="square" lIns="0" tIns="0" rIns="0" bIns="0" rtlCol="0" anchor="t"/>
            <a:lstStyle/>
            <a:p>
              <a:pPr marL="0" indent="0" algn="r">
                <a:buNone/>
              </a:pPr>
              <a:r>
                <a:rPr lang="en-US" sz="1300" b="1" dirty="0">
                  <a:solidFill>
                    <a:srgbClr val="A80000"/>
                  </a:solidFill>
                  <a:latin typeface="Calibri" pitchFamily="34" charset="0"/>
                  <a:ea typeface="Calibri" pitchFamily="34" charset="-122"/>
                  <a:cs typeface="Calibri" pitchFamily="34" charset="-120"/>
                </a:rPr>
                <a:t>khuyến nghị đã duyệt</a:t>
              </a:r>
              <a:endParaRPr lang="en-US" sz="1300" dirty="0"/>
            </a:p>
          </p:txBody>
        </p:sp>
        <p:sp>
          <p:nvSpPr>
            <p:cNvPr id="31" name="Shape 24"/>
            <p:cNvSpPr/>
            <p:nvPr/>
          </p:nvSpPr>
          <p:spPr>
            <a:xfrm>
              <a:off x="457200" y="5440680"/>
              <a:ext cx="11274552" cy="548640"/>
            </a:xfrm>
            <a:prstGeom prst="roundRect">
              <a:avLst>
                <a:gd name="adj" fmla="val 50000"/>
              </a:avLst>
            </a:prstGeom>
            <a:solidFill>
              <a:srgbClr val="FBEAEA"/>
            </a:solidFill>
            <a:ln w="12700">
              <a:solidFill>
                <a:srgbClr val="F1CACA"/>
              </a:solidFill>
              <a:prstDash val="solid"/>
            </a:ln>
          </p:spPr>
          <p:txBody>
            <a:bodyPr/>
            <a:lstStyle/>
            <a:p>
              <a:endParaRPr lang="en-US"/>
            </a:p>
          </p:txBody>
        </p:sp>
        <p:sp>
          <p:nvSpPr>
            <p:cNvPr id="32" name="Text 25"/>
            <p:cNvSpPr txBox="1"/>
            <p:nvPr/>
          </p:nvSpPr>
          <p:spPr>
            <a:xfrm>
              <a:off x="640080" y="5440680"/>
              <a:ext cx="10908792" cy="548640"/>
            </a:xfrm>
            <a:prstGeom prst="rect">
              <a:avLst/>
            </a:prstGeom>
            <a:noFill/>
            <a:ln/>
          </p:spPr>
          <p:txBody>
            <a:bodyPr wrap="square" lIns="0" tIns="0" rIns="0" bIns="0" rtlCol="0" anchor="ctr"/>
            <a:lstStyle/>
            <a:p>
              <a:pPr marL="0" indent="0" algn="ctr">
                <a:buNone/>
              </a:pPr>
              <a:r>
                <a:rPr lang="en-US" sz="1700" b="1" dirty="0" err="1">
                  <a:solidFill>
                    <a:srgbClr val="A80000"/>
                  </a:solidFill>
                  <a:latin typeface="Calibri" pitchFamily="34" charset="0"/>
                  <a:ea typeface="Calibri" pitchFamily="34" charset="-122"/>
                  <a:cs typeface="Calibri" pitchFamily="34" charset="-120"/>
                </a:rPr>
                <a:t>Suốt</a:t>
              </a:r>
              <a:r>
                <a:rPr lang="en-US" sz="1700" b="1" dirty="0">
                  <a:solidFill>
                    <a:srgbClr val="A80000"/>
                  </a:solidFill>
                  <a:latin typeface="Calibri" pitchFamily="34" charset="0"/>
                  <a:ea typeface="Calibri" pitchFamily="34" charset="-122"/>
                  <a:cs typeface="Calibri" pitchFamily="34" charset="-120"/>
                </a:rPr>
                <a:t> vòng đời</a:t>
              </a:r>
              <a:r>
                <a:rPr lang="en-US" sz="1700" dirty="0">
                  <a:solidFill>
                    <a:srgbClr val="1E2A32"/>
                  </a:solidFill>
                  <a:latin typeface="Calibri" pitchFamily="34" charset="0"/>
                  <a:ea typeface="Calibri" pitchFamily="34" charset="-122"/>
                  <a:cs typeface="Calibri" pitchFamily="34" charset="-120"/>
                </a:rPr>
                <a:t>  ·  sai số chấp nhận gắn với quyết định dự kiến, từ đào tạo đến điều phối nguồn lực</a:t>
              </a:r>
              <a:endParaRPr lang="en-US" sz="1700" dirty="0"/>
            </a:p>
          </p:txBody>
        </p:sp>
        <p:sp>
          <p:nvSpPr>
            <p:cNvPr id="33" name="Text 26"/>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Khung do nhóm đề xuất · NIST IR 8620, 2026 [22]</a:t>
              </a:r>
              <a:endParaRPr lang="en-US" sz="10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AI trong bản sao số: bốn nhóm chức năng</a:t>
            </a:r>
            <a:endParaRPr lang="en-US" sz="2800" dirty="0"/>
          </a:p>
        </p:txBody>
      </p:sp>
      <p:sp>
        <p:nvSpPr>
          <p:cNvPr id="3" name="Shape 1"/>
          <p:cNvSpPr/>
          <p:nvPr/>
        </p:nvSpPr>
        <p:spPr>
          <a:xfrm>
            <a:off x="457200" y="6510528"/>
            <a:ext cx="128016" cy="128016"/>
          </a:xfrm>
          <a:prstGeom prst="ellipse">
            <a:avLst/>
          </a:prstGeom>
          <a:solidFill>
            <a:srgbClr val="4B4B9C"/>
          </a:solidFill>
          <a:ln w="12700">
            <a:solidFill>
              <a:srgbClr val="4B4B9C"/>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4B4B9C"/>
                </a:solidFill>
                <a:latin typeface="Calibri" pitchFamily="34" charset="0"/>
                <a:ea typeface="Calibri" pitchFamily="34" charset="-122"/>
                <a:cs typeface="Calibri" pitchFamily="34" charset="-120"/>
              </a:rPr>
              <a:t>4 · BẢN SAO SỐ</a:t>
            </a:r>
            <a:endParaRPr lang="en-US" sz="1100" dirty="0"/>
          </a:p>
        </p:txBody>
      </p:sp>
      <p:grpSp>
        <p:nvGrpSpPr>
          <p:cNvPr id="45" name="Group 44">
            <a:extLst>
              <a:ext uri="{FF2B5EF4-FFF2-40B4-BE49-F238E27FC236}">
                <a16:creationId xmlns:a16="http://schemas.microsoft.com/office/drawing/2014/main" id="{3AF7BE91-8E2A-C188-C1D8-7C5927FB98CF}"/>
              </a:ext>
            </a:extLst>
          </p:cNvPr>
          <p:cNvGrpSpPr/>
          <p:nvPr/>
        </p:nvGrpSpPr>
        <p:grpSpPr>
          <a:xfrm>
            <a:off x="457200" y="1141423"/>
            <a:ext cx="11430000" cy="4729655"/>
            <a:chOff x="457200" y="1280160"/>
            <a:chExt cx="11430000" cy="4160520"/>
          </a:xfrm>
        </p:grpSpPr>
        <p:sp>
          <p:nvSpPr>
            <p:cNvPr id="6" name="Shape 3"/>
            <p:cNvSpPr/>
            <p:nvPr/>
          </p:nvSpPr>
          <p:spPr>
            <a:xfrm>
              <a:off x="457200" y="1280160"/>
              <a:ext cx="2926080" cy="1005840"/>
            </a:xfrm>
            <a:prstGeom prst="chevron">
              <a:avLst/>
            </a:prstGeom>
            <a:solidFill>
              <a:srgbClr val="1F6F8B"/>
            </a:solidFill>
            <a:ln w="12700">
              <a:solidFill>
                <a:srgbClr val="1F6F8B"/>
              </a:solidFill>
              <a:prstDash val="solid"/>
            </a:ln>
          </p:spPr>
          <p:txBody>
            <a:bodyPr/>
            <a:lstStyle/>
            <a:p>
              <a:endParaRPr lang="en-US"/>
            </a:p>
          </p:txBody>
        </p:sp>
        <p:sp>
          <p:nvSpPr>
            <p:cNvPr id="7" name="Text 4"/>
            <p:cNvSpPr txBox="1"/>
            <p:nvPr/>
          </p:nvSpPr>
          <p:spPr>
            <a:xfrm>
              <a:off x="868680" y="1280160"/>
              <a:ext cx="2194560" cy="10058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 Mô hình hóa</a:t>
              </a:r>
              <a:endParaRPr lang="en-US" sz="1700" dirty="0"/>
            </a:p>
          </p:txBody>
        </p:sp>
        <p:sp>
          <p:nvSpPr>
            <p:cNvPr id="8" name="Shape 5"/>
            <p:cNvSpPr/>
            <p:nvPr/>
          </p:nvSpPr>
          <p:spPr>
            <a:xfrm>
              <a:off x="1417320" y="2560320"/>
              <a:ext cx="777240" cy="777240"/>
            </a:xfrm>
            <a:prstGeom prst="ellipse">
              <a:avLst/>
            </a:prstGeom>
            <a:solidFill>
              <a:srgbClr val="1F6F8B"/>
            </a:solidFill>
            <a:ln w="12700">
              <a:solidFill>
                <a:srgbClr val="1F6F8B"/>
              </a:solidFill>
              <a:prstDash val="solid"/>
            </a:ln>
          </p:spPr>
          <p:txBody>
            <a:bodyPr/>
            <a:lstStyle/>
            <a:p>
              <a:endParaRPr lang="en-US"/>
            </a:p>
          </p:txBody>
        </p:sp>
        <p:pic>
          <p:nvPicPr>
            <p:cNvPr id="9" name="Image 0" descr="preencoded.png"/>
            <p:cNvPicPr>
              <a:picLocks noChangeAspect="1"/>
            </p:cNvPicPr>
            <p:nvPr/>
          </p:nvPicPr>
          <p:blipFill>
            <a:blip r:embed="rId2"/>
            <a:stretch>
              <a:fillRect/>
            </a:stretch>
          </p:blipFill>
          <p:spPr>
            <a:xfrm>
              <a:off x="1603858" y="2746858"/>
              <a:ext cx="404165" cy="404165"/>
            </a:xfrm>
            <a:prstGeom prst="rect">
              <a:avLst/>
            </a:prstGeom>
          </p:spPr>
        </p:pic>
        <p:sp>
          <p:nvSpPr>
            <p:cNvPr id="10" name="Text 6"/>
            <p:cNvSpPr txBox="1"/>
            <p:nvPr/>
          </p:nvSpPr>
          <p:spPr>
            <a:xfrm>
              <a:off x="548640" y="3429000"/>
              <a:ext cx="2651760" cy="822960"/>
            </a:xfrm>
            <a:prstGeom prst="rect">
              <a:avLst/>
            </a:prstGeom>
            <a:noFill/>
            <a:ln/>
          </p:spPr>
          <p:txBody>
            <a:bodyPr wrap="square" lIns="0" tIns="0" rIns="0" bIns="0" rtlCol="0" anchor="t"/>
            <a:lstStyle/>
            <a:p>
              <a:pPr marL="0" indent="0" algn="ctr">
                <a:buNone/>
              </a:pPr>
              <a:r>
                <a:rPr lang="en-US" sz="1500" dirty="0">
                  <a:solidFill>
                    <a:srgbClr val="1E2A32"/>
                  </a:solidFill>
                  <a:latin typeface="Calibri" pitchFamily="34" charset="0"/>
                  <a:ea typeface="Calibri" pitchFamily="34" charset="-122"/>
                  <a:cs typeface="Calibri" pitchFamily="34" charset="-120"/>
                </a:rPr>
                <a:t>ước lượng tham số</a:t>
              </a:r>
              <a:endParaRPr lang="en-US" sz="1500" dirty="0"/>
            </a:p>
            <a:p>
              <a:pPr marL="0" indent="0" algn="ctr">
                <a:buNone/>
              </a:pPr>
              <a:r>
                <a:rPr lang="en-US" sz="1500" dirty="0">
                  <a:solidFill>
                    <a:srgbClr val="1E2A32"/>
                  </a:solidFill>
                  <a:latin typeface="Calibri" pitchFamily="34" charset="0"/>
                  <a:ea typeface="Calibri" pitchFamily="34" charset="-122"/>
                  <a:cs typeface="Calibri" pitchFamily="34" charset="-120"/>
                </a:rPr>
                <a:t>mô hình thay thế</a:t>
              </a:r>
              <a:endParaRPr lang="en-US" sz="1500" dirty="0"/>
            </a:p>
          </p:txBody>
        </p:sp>
        <p:sp>
          <p:nvSpPr>
            <p:cNvPr id="11" name="Shape 7"/>
            <p:cNvSpPr/>
            <p:nvPr/>
          </p:nvSpPr>
          <p:spPr>
            <a:xfrm>
              <a:off x="3291840" y="1280160"/>
              <a:ext cx="2926080" cy="1005840"/>
            </a:xfrm>
            <a:prstGeom prst="chevron">
              <a:avLst/>
            </a:prstGeom>
            <a:solidFill>
              <a:srgbClr val="1BA39C"/>
            </a:solidFill>
            <a:ln w="12700">
              <a:solidFill>
                <a:srgbClr val="1BA39C"/>
              </a:solidFill>
              <a:prstDash val="solid"/>
            </a:ln>
          </p:spPr>
          <p:txBody>
            <a:bodyPr/>
            <a:lstStyle/>
            <a:p>
              <a:endParaRPr lang="en-US"/>
            </a:p>
          </p:txBody>
        </p:sp>
        <p:sp>
          <p:nvSpPr>
            <p:cNvPr id="12" name="Text 8"/>
            <p:cNvSpPr txBox="1"/>
            <p:nvPr/>
          </p:nvSpPr>
          <p:spPr>
            <a:xfrm>
              <a:off x="3703320" y="1280160"/>
              <a:ext cx="2194560" cy="10058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 Đồng bộ</a:t>
              </a:r>
              <a:endParaRPr lang="en-US" sz="1700" dirty="0"/>
            </a:p>
          </p:txBody>
        </p:sp>
        <p:sp>
          <p:nvSpPr>
            <p:cNvPr id="13" name="Shape 9"/>
            <p:cNvSpPr/>
            <p:nvPr/>
          </p:nvSpPr>
          <p:spPr>
            <a:xfrm>
              <a:off x="4251960" y="2560320"/>
              <a:ext cx="777240" cy="777240"/>
            </a:xfrm>
            <a:prstGeom prst="ellipse">
              <a:avLst/>
            </a:prstGeom>
            <a:solidFill>
              <a:srgbClr val="1BA39C"/>
            </a:solidFill>
            <a:ln w="12700">
              <a:solidFill>
                <a:srgbClr val="1BA39C"/>
              </a:solidFill>
              <a:prstDash val="solid"/>
            </a:ln>
          </p:spPr>
          <p:txBody>
            <a:bodyPr/>
            <a:lstStyle/>
            <a:p>
              <a:endParaRPr lang="en-US"/>
            </a:p>
          </p:txBody>
        </p:sp>
        <p:pic>
          <p:nvPicPr>
            <p:cNvPr id="14" name="Image 1" descr="preencoded.png"/>
            <p:cNvPicPr>
              <a:picLocks noChangeAspect="1"/>
            </p:cNvPicPr>
            <p:nvPr/>
          </p:nvPicPr>
          <p:blipFill>
            <a:blip r:embed="rId3"/>
            <a:stretch>
              <a:fillRect/>
            </a:stretch>
          </p:blipFill>
          <p:spPr>
            <a:xfrm>
              <a:off x="4438498" y="2746858"/>
              <a:ext cx="404165" cy="404165"/>
            </a:xfrm>
            <a:prstGeom prst="rect">
              <a:avLst/>
            </a:prstGeom>
          </p:spPr>
        </p:pic>
        <p:sp>
          <p:nvSpPr>
            <p:cNvPr id="15" name="Text 10"/>
            <p:cNvSpPr txBox="1"/>
            <p:nvPr/>
          </p:nvSpPr>
          <p:spPr>
            <a:xfrm>
              <a:off x="3383280" y="3429000"/>
              <a:ext cx="2651760" cy="822960"/>
            </a:xfrm>
            <a:prstGeom prst="rect">
              <a:avLst/>
            </a:prstGeom>
            <a:noFill/>
            <a:ln/>
          </p:spPr>
          <p:txBody>
            <a:bodyPr wrap="square" lIns="0" tIns="0" rIns="0" bIns="0" rtlCol="0" anchor="t"/>
            <a:lstStyle/>
            <a:p>
              <a:pPr marL="0" indent="0" algn="ctr">
                <a:buNone/>
              </a:pPr>
              <a:r>
                <a:rPr lang="en-US" sz="1500" dirty="0">
                  <a:solidFill>
                    <a:srgbClr val="1E2A32"/>
                  </a:solidFill>
                  <a:latin typeface="Calibri" pitchFamily="34" charset="0"/>
                  <a:ea typeface="Calibri" pitchFamily="34" charset="-122"/>
                  <a:cs typeface="Calibri" pitchFamily="34" charset="-120"/>
                </a:rPr>
                <a:t>tái dựng trạng thái</a:t>
              </a:r>
              <a:endParaRPr lang="en-US" sz="1500" dirty="0"/>
            </a:p>
            <a:p>
              <a:pPr marL="0" indent="0" algn="ctr">
                <a:buNone/>
              </a:pPr>
              <a:r>
                <a:rPr lang="en-US" sz="1500" dirty="0">
                  <a:solidFill>
                    <a:srgbClr val="1E2A32"/>
                  </a:solidFill>
                  <a:latin typeface="Calibri" pitchFamily="34" charset="0"/>
                  <a:ea typeface="Calibri" pitchFamily="34" charset="-122"/>
                  <a:cs typeface="Calibri" pitchFamily="34" charset="-120"/>
                </a:rPr>
                <a:t>đúng dấu thời gian</a:t>
              </a:r>
              <a:endParaRPr lang="en-US" sz="1500" dirty="0"/>
            </a:p>
          </p:txBody>
        </p:sp>
        <p:sp>
          <p:nvSpPr>
            <p:cNvPr id="16" name="Shape 11"/>
            <p:cNvSpPr/>
            <p:nvPr/>
          </p:nvSpPr>
          <p:spPr>
            <a:xfrm>
              <a:off x="6126480" y="1280160"/>
              <a:ext cx="2926080" cy="1005840"/>
            </a:xfrm>
            <a:prstGeom prst="chevron">
              <a:avLst/>
            </a:prstGeom>
            <a:solidFill>
              <a:srgbClr val="E08A2E"/>
            </a:solidFill>
            <a:ln w="12700">
              <a:solidFill>
                <a:srgbClr val="E08A2E"/>
              </a:solidFill>
              <a:prstDash val="solid"/>
            </a:ln>
          </p:spPr>
          <p:txBody>
            <a:bodyPr/>
            <a:lstStyle/>
            <a:p>
              <a:endParaRPr lang="en-US"/>
            </a:p>
          </p:txBody>
        </p:sp>
        <p:sp>
          <p:nvSpPr>
            <p:cNvPr id="17" name="Text 12"/>
            <p:cNvSpPr txBox="1"/>
            <p:nvPr/>
          </p:nvSpPr>
          <p:spPr>
            <a:xfrm>
              <a:off x="6537960" y="1280160"/>
              <a:ext cx="2194560" cy="10058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 Can thiệp</a:t>
              </a:r>
              <a:endParaRPr lang="en-US" sz="1700" dirty="0"/>
            </a:p>
          </p:txBody>
        </p:sp>
        <p:sp>
          <p:nvSpPr>
            <p:cNvPr id="18" name="Shape 13"/>
            <p:cNvSpPr/>
            <p:nvPr/>
          </p:nvSpPr>
          <p:spPr>
            <a:xfrm>
              <a:off x="7086600" y="2560320"/>
              <a:ext cx="777240" cy="777240"/>
            </a:xfrm>
            <a:prstGeom prst="ellipse">
              <a:avLst/>
            </a:prstGeom>
            <a:solidFill>
              <a:srgbClr val="E08A2E"/>
            </a:solidFill>
            <a:ln w="12700">
              <a:solidFill>
                <a:srgbClr val="E08A2E"/>
              </a:solidFill>
              <a:prstDash val="solid"/>
            </a:ln>
          </p:spPr>
          <p:txBody>
            <a:bodyPr/>
            <a:lstStyle/>
            <a:p>
              <a:endParaRPr lang="en-US"/>
            </a:p>
          </p:txBody>
        </p:sp>
        <p:pic>
          <p:nvPicPr>
            <p:cNvPr id="19" name="Image 2" descr="preencoded.png"/>
            <p:cNvPicPr>
              <a:picLocks noChangeAspect="1"/>
            </p:cNvPicPr>
            <p:nvPr/>
          </p:nvPicPr>
          <p:blipFill>
            <a:blip r:embed="rId4"/>
            <a:stretch>
              <a:fillRect/>
            </a:stretch>
          </p:blipFill>
          <p:spPr>
            <a:xfrm>
              <a:off x="7273138" y="2746858"/>
              <a:ext cx="404165" cy="404165"/>
            </a:xfrm>
            <a:prstGeom prst="rect">
              <a:avLst/>
            </a:prstGeom>
          </p:spPr>
        </p:pic>
        <p:sp>
          <p:nvSpPr>
            <p:cNvPr id="20" name="Text 14"/>
            <p:cNvSpPr txBox="1"/>
            <p:nvPr/>
          </p:nvSpPr>
          <p:spPr>
            <a:xfrm>
              <a:off x="6217920" y="3429000"/>
              <a:ext cx="2651760" cy="822960"/>
            </a:xfrm>
            <a:prstGeom prst="rect">
              <a:avLst/>
            </a:prstGeom>
            <a:noFill/>
            <a:ln/>
          </p:spPr>
          <p:txBody>
            <a:bodyPr wrap="square" lIns="0" tIns="0" rIns="0" bIns="0" rtlCol="0" anchor="t"/>
            <a:lstStyle/>
            <a:p>
              <a:pPr marL="0" indent="0" algn="ctr">
                <a:buNone/>
              </a:pPr>
              <a:r>
                <a:rPr lang="en-US" sz="1500" dirty="0">
                  <a:solidFill>
                    <a:srgbClr val="1E2A32"/>
                  </a:solidFill>
                  <a:latin typeface="Calibri" pitchFamily="34" charset="0"/>
                  <a:ea typeface="Calibri" pitchFamily="34" charset="-122"/>
                  <a:cs typeface="Calibri" pitchFamily="34" charset="-120"/>
                </a:rPr>
                <a:t>dự báo · tối ưu</a:t>
              </a:r>
              <a:endParaRPr lang="en-US" sz="1500" dirty="0"/>
            </a:p>
            <a:p>
              <a:pPr marL="0" indent="0" algn="ctr">
                <a:buNone/>
              </a:pPr>
              <a:r>
                <a:rPr lang="en-US" sz="1500" dirty="0">
                  <a:solidFill>
                    <a:srgbClr val="1E2A32"/>
                  </a:solidFill>
                  <a:latin typeface="Calibri" pitchFamily="34" charset="0"/>
                  <a:ea typeface="Calibri" pitchFamily="34" charset="-122"/>
                  <a:cs typeface="Calibri" pitchFamily="34" charset="-120"/>
                </a:rPr>
                <a:t>cảnh báo</a:t>
              </a:r>
              <a:endParaRPr lang="en-US" sz="1500" dirty="0"/>
            </a:p>
          </p:txBody>
        </p:sp>
        <p:sp>
          <p:nvSpPr>
            <p:cNvPr id="21" name="Shape 15"/>
            <p:cNvSpPr/>
            <p:nvPr/>
          </p:nvSpPr>
          <p:spPr>
            <a:xfrm>
              <a:off x="8961120" y="1280160"/>
              <a:ext cx="2926080" cy="1005840"/>
            </a:xfrm>
            <a:prstGeom prst="chevron">
              <a:avLst/>
            </a:prstGeom>
            <a:solidFill>
              <a:srgbClr val="A80000"/>
            </a:solidFill>
            <a:ln w="12700">
              <a:solidFill>
                <a:srgbClr val="A80000"/>
              </a:solidFill>
              <a:prstDash val="solid"/>
            </a:ln>
          </p:spPr>
          <p:txBody>
            <a:bodyPr/>
            <a:lstStyle/>
            <a:p>
              <a:endParaRPr lang="en-US"/>
            </a:p>
          </p:txBody>
        </p:sp>
        <p:sp>
          <p:nvSpPr>
            <p:cNvPr id="22" name="Text 16"/>
            <p:cNvSpPr txBox="1"/>
            <p:nvPr/>
          </p:nvSpPr>
          <p:spPr>
            <a:xfrm>
              <a:off x="9372600" y="1280160"/>
              <a:ext cx="2194560" cy="10058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 Quản lý tự chủ</a:t>
              </a:r>
              <a:endParaRPr lang="en-US" sz="1700" dirty="0"/>
            </a:p>
          </p:txBody>
        </p:sp>
        <p:sp>
          <p:nvSpPr>
            <p:cNvPr id="23" name="Shape 17"/>
            <p:cNvSpPr/>
            <p:nvPr/>
          </p:nvSpPr>
          <p:spPr>
            <a:xfrm>
              <a:off x="9921240" y="2560320"/>
              <a:ext cx="777240" cy="777240"/>
            </a:xfrm>
            <a:prstGeom prst="ellipse">
              <a:avLst/>
            </a:prstGeom>
            <a:solidFill>
              <a:srgbClr val="A80000"/>
            </a:solidFill>
            <a:ln w="12700">
              <a:solidFill>
                <a:srgbClr val="A80000"/>
              </a:solidFill>
              <a:prstDash val="solid"/>
            </a:ln>
          </p:spPr>
          <p:txBody>
            <a:bodyPr/>
            <a:lstStyle/>
            <a:p>
              <a:endParaRPr lang="en-US"/>
            </a:p>
          </p:txBody>
        </p:sp>
        <p:pic>
          <p:nvPicPr>
            <p:cNvPr id="24" name="Image 3" descr="preencoded.png"/>
            <p:cNvPicPr>
              <a:picLocks noChangeAspect="1"/>
            </p:cNvPicPr>
            <p:nvPr/>
          </p:nvPicPr>
          <p:blipFill>
            <a:blip r:embed="rId5"/>
            <a:stretch>
              <a:fillRect/>
            </a:stretch>
          </p:blipFill>
          <p:spPr>
            <a:xfrm>
              <a:off x="10107778" y="2746858"/>
              <a:ext cx="404165" cy="404165"/>
            </a:xfrm>
            <a:prstGeom prst="rect">
              <a:avLst/>
            </a:prstGeom>
          </p:spPr>
        </p:pic>
        <p:sp>
          <p:nvSpPr>
            <p:cNvPr id="25" name="Text 18"/>
            <p:cNvSpPr txBox="1"/>
            <p:nvPr/>
          </p:nvSpPr>
          <p:spPr>
            <a:xfrm>
              <a:off x="9052560" y="3429000"/>
              <a:ext cx="2651760" cy="822960"/>
            </a:xfrm>
            <a:prstGeom prst="rect">
              <a:avLst/>
            </a:prstGeom>
            <a:noFill/>
            <a:ln/>
          </p:spPr>
          <p:txBody>
            <a:bodyPr wrap="square" lIns="0" tIns="0" rIns="0" bIns="0" rtlCol="0" anchor="t"/>
            <a:lstStyle/>
            <a:p>
              <a:pPr marL="0" indent="0" algn="ctr">
                <a:buNone/>
              </a:pPr>
              <a:r>
                <a:rPr lang="en-US" sz="1500" dirty="0">
                  <a:solidFill>
                    <a:srgbClr val="1E2A32"/>
                  </a:solidFill>
                  <a:latin typeface="Calibri" pitchFamily="34" charset="0"/>
                  <a:ea typeface="Calibri" pitchFamily="34" charset="-122"/>
                  <a:cs typeface="Calibri" pitchFamily="34" charset="-120"/>
                </a:rPr>
                <a:t>tác tử gọi công cụ</a:t>
              </a:r>
              <a:endParaRPr lang="en-US" sz="1500" dirty="0"/>
            </a:p>
            <a:p>
              <a:pPr marL="0" indent="0" algn="ctr">
                <a:buNone/>
              </a:pPr>
              <a:r>
                <a:rPr lang="en-US" sz="1500" dirty="0">
                  <a:solidFill>
                    <a:srgbClr val="1E2A32"/>
                  </a:solidFill>
                  <a:latin typeface="Calibri" pitchFamily="34" charset="0"/>
                  <a:ea typeface="Calibri" pitchFamily="34" charset="-122"/>
                  <a:cs typeface="Calibri" pitchFamily="34" charset="-120"/>
                </a:rPr>
                <a:t>điều kiện dừng</a:t>
              </a:r>
              <a:endParaRPr lang="en-US" sz="1500" dirty="0"/>
            </a:p>
          </p:txBody>
        </p:sp>
        <p:sp>
          <p:nvSpPr>
            <p:cNvPr id="26" name="Text 19"/>
            <p:cNvSpPr txBox="1"/>
            <p:nvPr/>
          </p:nvSpPr>
          <p:spPr>
            <a:xfrm>
              <a:off x="457200" y="4480560"/>
              <a:ext cx="11274552" cy="365760"/>
            </a:xfrm>
            <a:prstGeom prst="rect">
              <a:avLst/>
            </a:prstGeom>
            <a:noFill/>
            <a:ln/>
          </p:spPr>
          <p:txBody>
            <a:bodyPr wrap="square" lIns="0" tIns="0" rIns="0" bIns="0" rtlCol="0" anchor="t"/>
            <a:lstStyle/>
            <a:p>
              <a:pPr marL="0" indent="0" algn="ctr">
                <a:buNone/>
              </a:pPr>
              <a:r>
                <a:rPr lang="en-US" sz="1700" b="1" dirty="0">
                  <a:solidFill>
                    <a:srgbClr val="13293D"/>
                  </a:solidFill>
                  <a:latin typeface="Cambria" pitchFamily="34" charset="0"/>
                  <a:ea typeface="Cambria" pitchFamily="34" charset="-122"/>
                  <a:cs typeface="Cambria" pitchFamily="34" charset="-120"/>
                </a:rPr>
                <a:t>Tác tử dùng bản sao số cần:</a:t>
              </a:r>
              <a:endParaRPr lang="en-US" sz="1700" dirty="0"/>
            </a:p>
          </p:txBody>
        </p:sp>
        <p:sp>
          <p:nvSpPr>
            <p:cNvPr id="27" name="Shape 20"/>
            <p:cNvSpPr/>
            <p:nvPr/>
          </p:nvSpPr>
          <p:spPr>
            <a:xfrm>
              <a:off x="548640" y="4937760"/>
              <a:ext cx="2103120" cy="502920"/>
            </a:xfrm>
            <a:prstGeom prst="roundRect">
              <a:avLst>
                <a:gd name="adj" fmla="val 49091"/>
              </a:avLst>
            </a:prstGeom>
            <a:solidFill>
              <a:srgbClr val="FBEAEA"/>
            </a:solidFill>
            <a:ln w="12700">
              <a:solidFill>
                <a:srgbClr val="F1CACA"/>
              </a:solidFill>
              <a:prstDash val="solid"/>
            </a:ln>
          </p:spPr>
          <p:txBody>
            <a:bodyPr/>
            <a:lstStyle/>
            <a:p>
              <a:endParaRPr lang="en-US"/>
            </a:p>
          </p:txBody>
        </p:sp>
        <p:pic>
          <p:nvPicPr>
            <p:cNvPr id="28" name="Image 4" descr="preencoded.png"/>
            <p:cNvPicPr>
              <a:picLocks noChangeAspect="1"/>
            </p:cNvPicPr>
            <p:nvPr/>
          </p:nvPicPr>
          <p:blipFill>
            <a:blip r:embed="rId6"/>
            <a:stretch>
              <a:fillRect/>
            </a:stretch>
          </p:blipFill>
          <p:spPr>
            <a:xfrm>
              <a:off x="685800" y="5056632"/>
              <a:ext cx="274320" cy="274320"/>
            </a:xfrm>
            <a:prstGeom prst="rect">
              <a:avLst/>
            </a:prstGeom>
          </p:spPr>
        </p:pic>
        <p:sp>
          <p:nvSpPr>
            <p:cNvPr id="29" name="Text 21"/>
            <p:cNvSpPr txBox="1"/>
            <p:nvPr/>
          </p:nvSpPr>
          <p:spPr>
            <a:xfrm>
              <a:off x="1005840" y="4937760"/>
              <a:ext cx="1600200" cy="502920"/>
            </a:xfrm>
            <a:prstGeom prst="rect">
              <a:avLst/>
            </a:prstGeom>
            <a:noFill/>
            <a:ln/>
          </p:spPr>
          <p:txBody>
            <a:bodyPr wrap="square" lIns="0" tIns="0" rIns="0" bIns="0" rtlCol="0" anchor="ctr"/>
            <a:lstStyle/>
            <a:p>
              <a:pPr marL="0" indent="0">
                <a:buNone/>
              </a:pPr>
              <a:r>
                <a:rPr lang="en-US" sz="1250" b="1" dirty="0">
                  <a:solidFill>
                    <a:srgbClr val="A80000"/>
                  </a:solidFill>
                  <a:latin typeface="Calibri" pitchFamily="34" charset="0"/>
                  <a:ea typeface="Calibri" pitchFamily="34" charset="-122"/>
                  <a:cs typeface="Calibri" pitchFamily="34" charset="-120"/>
                </a:rPr>
                <a:t>ràng buộc nghiệp vụ</a:t>
              </a:r>
              <a:endParaRPr lang="en-US" sz="1250" dirty="0"/>
            </a:p>
          </p:txBody>
        </p:sp>
        <p:sp>
          <p:nvSpPr>
            <p:cNvPr id="30" name="Shape 22"/>
            <p:cNvSpPr/>
            <p:nvPr/>
          </p:nvSpPr>
          <p:spPr>
            <a:xfrm>
              <a:off x="2807208" y="4937760"/>
              <a:ext cx="2103120" cy="502920"/>
            </a:xfrm>
            <a:prstGeom prst="roundRect">
              <a:avLst>
                <a:gd name="adj" fmla="val 49091"/>
              </a:avLst>
            </a:prstGeom>
            <a:solidFill>
              <a:srgbClr val="FBEAEA"/>
            </a:solidFill>
            <a:ln w="12700">
              <a:solidFill>
                <a:srgbClr val="F1CACA"/>
              </a:solidFill>
              <a:prstDash val="solid"/>
            </a:ln>
          </p:spPr>
          <p:txBody>
            <a:bodyPr/>
            <a:lstStyle/>
            <a:p>
              <a:endParaRPr lang="en-US"/>
            </a:p>
          </p:txBody>
        </p:sp>
        <p:pic>
          <p:nvPicPr>
            <p:cNvPr id="31" name="Image 5" descr="preencoded.png"/>
            <p:cNvPicPr>
              <a:picLocks noChangeAspect="1"/>
            </p:cNvPicPr>
            <p:nvPr/>
          </p:nvPicPr>
          <p:blipFill>
            <a:blip r:embed="rId7"/>
            <a:stretch>
              <a:fillRect/>
            </a:stretch>
          </p:blipFill>
          <p:spPr>
            <a:xfrm>
              <a:off x="2944368" y="5056632"/>
              <a:ext cx="274320" cy="274320"/>
            </a:xfrm>
            <a:prstGeom prst="rect">
              <a:avLst/>
            </a:prstGeom>
          </p:spPr>
        </p:pic>
        <p:sp>
          <p:nvSpPr>
            <p:cNvPr id="32" name="Text 23"/>
            <p:cNvSpPr txBox="1"/>
            <p:nvPr/>
          </p:nvSpPr>
          <p:spPr>
            <a:xfrm>
              <a:off x="3264408" y="4937760"/>
              <a:ext cx="1600200" cy="502920"/>
            </a:xfrm>
            <a:prstGeom prst="rect">
              <a:avLst/>
            </a:prstGeom>
            <a:noFill/>
            <a:ln/>
          </p:spPr>
          <p:txBody>
            <a:bodyPr wrap="square" lIns="0" tIns="0" rIns="0" bIns="0" rtlCol="0" anchor="ctr"/>
            <a:lstStyle/>
            <a:p>
              <a:pPr marL="0" indent="0">
                <a:buNone/>
              </a:pPr>
              <a:r>
                <a:rPr lang="en-US" sz="1250" b="1" dirty="0">
                  <a:solidFill>
                    <a:srgbClr val="A80000"/>
                  </a:solidFill>
                  <a:latin typeface="Calibri" pitchFamily="34" charset="0"/>
                  <a:ea typeface="Calibri" pitchFamily="34" charset="-122"/>
                  <a:cs typeface="Calibri" pitchFamily="34" charset="-120"/>
                </a:rPr>
                <a:t>phân quyền</a:t>
              </a:r>
              <a:endParaRPr lang="en-US" sz="1250" dirty="0"/>
            </a:p>
          </p:txBody>
        </p:sp>
        <p:sp>
          <p:nvSpPr>
            <p:cNvPr id="33" name="Shape 24"/>
            <p:cNvSpPr/>
            <p:nvPr/>
          </p:nvSpPr>
          <p:spPr>
            <a:xfrm>
              <a:off x="5065776" y="4937760"/>
              <a:ext cx="2103120" cy="502920"/>
            </a:xfrm>
            <a:prstGeom prst="roundRect">
              <a:avLst>
                <a:gd name="adj" fmla="val 49091"/>
              </a:avLst>
            </a:prstGeom>
            <a:solidFill>
              <a:srgbClr val="FBEAEA"/>
            </a:solidFill>
            <a:ln w="12700">
              <a:solidFill>
                <a:srgbClr val="F1CACA"/>
              </a:solidFill>
              <a:prstDash val="solid"/>
            </a:ln>
          </p:spPr>
          <p:txBody>
            <a:bodyPr/>
            <a:lstStyle/>
            <a:p>
              <a:endParaRPr lang="en-US"/>
            </a:p>
          </p:txBody>
        </p:sp>
        <p:pic>
          <p:nvPicPr>
            <p:cNvPr id="34" name="Image 6" descr="preencoded.png"/>
            <p:cNvPicPr>
              <a:picLocks noChangeAspect="1"/>
            </p:cNvPicPr>
            <p:nvPr/>
          </p:nvPicPr>
          <p:blipFill>
            <a:blip r:embed="rId8"/>
            <a:stretch>
              <a:fillRect/>
            </a:stretch>
          </p:blipFill>
          <p:spPr>
            <a:xfrm>
              <a:off x="5202936" y="5056632"/>
              <a:ext cx="274320" cy="274320"/>
            </a:xfrm>
            <a:prstGeom prst="rect">
              <a:avLst/>
            </a:prstGeom>
          </p:spPr>
        </p:pic>
        <p:sp>
          <p:nvSpPr>
            <p:cNvPr id="35" name="Text 25"/>
            <p:cNvSpPr txBox="1"/>
            <p:nvPr/>
          </p:nvSpPr>
          <p:spPr>
            <a:xfrm>
              <a:off x="5522976" y="4937760"/>
              <a:ext cx="1600200" cy="502920"/>
            </a:xfrm>
            <a:prstGeom prst="rect">
              <a:avLst/>
            </a:prstGeom>
            <a:noFill/>
            <a:ln/>
          </p:spPr>
          <p:txBody>
            <a:bodyPr wrap="square" lIns="0" tIns="0" rIns="0" bIns="0" rtlCol="0" anchor="ctr"/>
            <a:lstStyle/>
            <a:p>
              <a:pPr marL="0" indent="0">
                <a:buNone/>
              </a:pPr>
              <a:r>
                <a:rPr lang="en-US" sz="1250" b="1" dirty="0">
                  <a:solidFill>
                    <a:srgbClr val="A80000"/>
                  </a:solidFill>
                  <a:latin typeface="Calibri" pitchFamily="34" charset="0"/>
                  <a:ea typeface="Calibri" pitchFamily="34" charset="-122"/>
                  <a:cs typeface="Calibri" pitchFamily="34" charset="-120"/>
                </a:rPr>
                <a:t>nhật ký</a:t>
              </a:r>
              <a:endParaRPr lang="en-US" sz="1250" dirty="0"/>
            </a:p>
          </p:txBody>
        </p:sp>
        <p:sp>
          <p:nvSpPr>
            <p:cNvPr id="36" name="Shape 26"/>
            <p:cNvSpPr/>
            <p:nvPr/>
          </p:nvSpPr>
          <p:spPr>
            <a:xfrm>
              <a:off x="7324344" y="4937760"/>
              <a:ext cx="2103120" cy="502920"/>
            </a:xfrm>
            <a:prstGeom prst="roundRect">
              <a:avLst>
                <a:gd name="adj" fmla="val 49091"/>
              </a:avLst>
            </a:prstGeom>
            <a:solidFill>
              <a:srgbClr val="FBEAEA"/>
            </a:solidFill>
            <a:ln w="12700">
              <a:solidFill>
                <a:srgbClr val="F1CACA"/>
              </a:solidFill>
              <a:prstDash val="solid"/>
            </a:ln>
          </p:spPr>
          <p:txBody>
            <a:bodyPr/>
            <a:lstStyle/>
            <a:p>
              <a:endParaRPr lang="en-US"/>
            </a:p>
          </p:txBody>
        </p:sp>
        <p:pic>
          <p:nvPicPr>
            <p:cNvPr id="37" name="Image 7" descr="preencoded.png"/>
            <p:cNvPicPr>
              <a:picLocks noChangeAspect="1"/>
            </p:cNvPicPr>
            <p:nvPr/>
          </p:nvPicPr>
          <p:blipFill>
            <a:blip r:embed="rId9"/>
            <a:stretch>
              <a:fillRect/>
            </a:stretch>
          </p:blipFill>
          <p:spPr>
            <a:xfrm>
              <a:off x="7461504" y="5056632"/>
              <a:ext cx="274320" cy="274320"/>
            </a:xfrm>
            <a:prstGeom prst="rect">
              <a:avLst/>
            </a:prstGeom>
          </p:spPr>
        </p:pic>
        <p:sp>
          <p:nvSpPr>
            <p:cNvPr id="38" name="Text 27"/>
            <p:cNvSpPr txBox="1"/>
            <p:nvPr/>
          </p:nvSpPr>
          <p:spPr>
            <a:xfrm>
              <a:off x="7781544" y="4937760"/>
              <a:ext cx="1600200" cy="502920"/>
            </a:xfrm>
            <a:prstGeom prst="rect">
              <a:avLst/>
            </a:prstGeom>
            <a:noFill/>
            <a:ln/>
          </p:spPr>
          <p:txBody>
            <a:bodyPr wrap="square" lIns="0" tIns="0" rIns="0" bIns="0" rtlCol="0" anchor="ctr"/>
            <a:lstStyle/>
            <a:p>
              <a:pPr marL="0" indent="0">
                <a:buNone/>
              </a:pPr>
              <a:r>
                <a:rPr lang="en-US" sz="1250" b="1" dirty="0">
                  <a:solidFill>
                    <a:srgbClr val="A80000"/>
                  </a:solidFill>
                  <a:latin typeface="Calibri" pitchFamily="34" charset="0"/>
                  <a:ea typeface="Calibri" pitchFamily="34" charset="-122"/>
                  <a:cs typeface="Calibri" pitchFamily="34" charset="-120"/>
                </a:rPr>
                <a:t>điều kiện dừng</a:t>
              </a:r>
              <a:endParaRPr lang="en-US" sz="1250" dirty="0"/>
            </a:p>
          </p:txBody>
        </p:sp>
        <p:sp>
          <p:nvSpPr>
            <p:cNvPr id="39" name="Shape 28"/>
            <p:cNvSpPr/>
            <p:nvPr/>
          </p:nvSpPr>
          <p:spPr>
            <a:xfrm>
              <a:off x="9582912" y="4937760"/>
              <a:ext cx="2103120" cy="502920"/>
            </a:xfrm>
            <a:prstGeom prst="roundRect">
              <a:avLst>
                <a:gd name="adj" fmla="val 49091"/>
              </a:avLst>
            </a:prstGeom>
            <a:solidFill>
              <a:srgbClr val="FBEAEA"/>
            </a:solidFill>
            <a:ln w="12700">
              <a:solidFill>
                <a:srgbClr val="F1CACA"/>
              </a:solidFill>
              <a:prstDash val="solid"/>
            </a:ln>
          </p:spPr>
          <p:txBody>
            <a:bodyPr/>
            <a:lstStyle/>
            <a:p>
              <a:endParaRPr lang="en-US"/>
            </a:p>
          </p:txBody>
        </p:sp>
        <p:pic>
          <p:nvPicPr>
            <p:cNvPr id="40" name="Image 8" descr="preencoded.png"/>
            <p:cNvPicPr>
              <a:picLocks noChangeAspect="1"/>
            </p:cNvPicPr>
            <p:nvPr/>
          </p:nvPicPr>
          <p:blipFill>
            <a:blip r:embed="rId10"/>
            <a:stretch>
              <a:fillRect/>
            </a:stretch>
          </p:blipFill>
          <p:spPr>
            <a:xfrm>
              <a:off x="9720072" y="5056632"/>
              <a:ext cx="274320" cy="274320"/>
            </a:xfrm>
            <a:prstGeom prst="rect">
              <a:avLst/>
            </a:prstGeom>
          </p:spPr>
        </p:pic>
        <p:sp>
          <p:nvSpPr>
            <p:cNvPr id="41" name="Text 29"/>
            <p:cNvSpPr txBox="1"/>
            <p:nvPr/>
          </p:nvSpPr>
          <p:spPr>
            <a:xfrm>
              <a:off x="10040112" y="4937760"/>
              <a:ext cx="1600200" cy="502920"/>
            </a:xfrm>
            <a:prstGeom prst="rect">
              <a:avLst/>
            </a:prstGeom>
            <a:noFill/>
            <a:ln/>
          </p:spPr>
          <p:txBody>
            <a:bodyPr wrap="square" lIns="0" tIns="0" rIns="0" bIns="0" rtlCol="0" anchor="ctr"/>
            <a:lstStyle/>
            <a:p>
              <a:pPr marL="0" indent="0">
                <a:buNone/>
              </a:pPr>
              <a:r>
                <a:rPr lang="en-US" sz="1250" b="1" dirty="0">
                  <a:solidFill>
                    <a:srgbClr val="A80000"/>
                  </a:solidFill>
                  <a:latin typeface="Calibri" pitchFamily="34" charset="0"/>
                  <a:ea typeface="Calibri" pitchFamily="34" charset="-122"/>
                  <a:cs typeface="Calibri" pitchFamily="34" charset="-120"/>
                </a:rPr>
                <a:t>người chịu trách nhiệm</a:t>
              </a:r>
              <a:endParaRPr lang="en-US" sz="1250" dirty="0"/>
            </a:p>
          </p:txBody>
        </p:sp>
      </p:grpSp>
      <p:sp>
        <p:nvSpPr>
          <p:cNvPr id="42" name="Text 30"/>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Zhou và cộng sự, arXiv:2601.01321, 2026 [21]</a:t>
            </a:r>
            <a:endParaRPr lang="en-US" sz="1000" dirty="0"/>
          </a:p>
        </p:txBody>
      </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Bài toán thật: điều phối xét nghiệm Fork–Join</a:t>
            </a:r>
            <a:endParaRPr lang="en-US" sz="2800" dirty="0"/>
          </a:p>
        </p:txBody>
      </p:sp>
      <p:sp>
        <p:nvSpPr>
          <p:cNvPr id="3" name="Shape 1"/>
          <p:cNvSpPr/>
          <p:nvPr/>
        </p:nvSpPr>
        <p:spPr>
          <a:xfrm>
            <a:off x="457200" y="6510528"/>
            <a:ext cx="128016" cy="128016"/>
          </a:xfrm>
          <a:prstGeom prst="ellipse">
            <a:avLst/>
          </a:prstGeom>
          <a:solidFill>
            <a:srgbClr val="4B4B9C"/>
          </a:solidFill>
          <a:ln w="12700">
            <a:solidFill>
              <a:srgbClr val="4B4B9C"/>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4B4B9C"/>
                </a:solidFill>
                <a:latin typeface="Calibri" pitchFamily="34" charset="0"/>
                <a:ea typeface="Calibri" pitchFamily="34" charset="-122"/>
                <a:cs typeface="Calibri" pitchFamily="34" charset="-120"/>
              </a:rPr>
              <a:t>4 · BẢN SAO SỐ</a:t>
            </a:r>
            <a:endParaRPr lang="en-US" sz="1100" dirty="0"/>
          </a:p>
        </p:txBody>
      </p:sp>
      <p:grpSp>
        <p:nvGrpSpPr>
          <p:cNvPr id="45" name="Group 44">
            <a:extLst>
              <a:ext uri="{FF2B5EF4-FFF2-40B4-BE49-F238E27FC236}">
                <a16:creationId xmlns:a16="http://schemas.microsoft.com/office/drawing/2014/main" id="{AB85BC42-F0A4-7861-17FF-46909B8CDB4A}"/>
              </a:ext>
            </a:extLst>
          </p:cNvPr>
          <p:cNvGrpSpPr/>
          <p:nvPr/>
        </p:nvGrpSpPr>
        <p:grpSpPr>
          <a:xfrm>
            <a:off x="457200" y="1143000"/>
            <a:ext cx="11292840" cy="5239512"/>
            <a:chOff x="457200" y="1143000"/>
            <a:chExt cx="11292840" cy="5239512"/>
          </a:xfrm>
        </p:grpSpPr>
        <p:sp>
          <p:nvSpPr>
            <p:cNvPr id="6" name="Shape 3"/>
            <p:cNvSpPr/>
            <p:nvPr/>
          </p:nvSpPr>
          <p:spPr>
            <a:xfrm>
              <a:off x="457200" y="2468880"/>
              <a:ext cx="1554480" cy="914400"/>
            </a:xfrm>
            <a:prstGeom prst="roundRect">
              <a:avLst>
                <a:gd name="adj" fmla="val 8000"/>
              </a:avLst>
            </a:prstGeom>
            <a:solidFill>
              <a:srgbClr val="6F7780"/>
            </a:solidFill>
            <a:ln w="19050">
              <a:solidFill>
                <a:srgbClr val="6F7780"/>
              </a:solidFill>
              <a:prstDash val="solid"/>
            </a:ln>
          </p:spPr>
          <p:txBody>
            <a:bodyPr/>
            <a:lstStyle/>
            <a:p>
              <a:endParaRPr lang="en-US"/>
            </a:p>
          </p:txBody>
        </p:sp>
        <p:sp>
          <p:nvSpPr>
            <p:cNvPr id="7" name="Text 4"/>
            <p:cNvSpPr txBox="1"/>
            <p:nvPr/>
          </p:nvSpPr>
          <p:spPr>
            <a:xfrm>
              <a:off x="502920" y="2468880"/>
              <a:ext cx="1463040"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TIẾP NHẬN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mẫu, yêu cầu</a:t>
              </a:r>
              <a:endParaRPr lang="en-US" sz="1300" dirty="0"/>
            </a:p>
          </p:txBody>
        </p:sp>
        <p:sp>
          <p:nvSpPr>
            <p:cNvPr id="8" name="Shape 5"/>
            <p:cNvSpPr/>
            <p:nvPr/>
          </p:nvSpPr>
          <p:spPr>
            <a:xfrm>
              <a:off x="2029968" y="2926080"/>
              <a:ext cx="347472" cy="914"/>
            </a:xfrm>
            <a:prstGeom prst="line">
              <a:avLst/>
            </a:prstGeom>
            <a:noFill/>
            <a:ln w="31750">
              <a:solidFill>
                <a:srgbClr val="5B6B76"/>
              </a:solidFill>
              <a:prstDash val="solid"/>
              <a:tailEnd type="triangle"/>
            </a:ln>
          </p:spPr>
          <p:txBody>
            <a:bodyPr/>
            <a:lstStyle/>
            <a:p>
              <a:endParaRPr lang="en-US"/>
            </a:p>
          </p:txBody>
        </p:sp>
        <p:sp>
          <p:nvSpPr>
            <p:cNvPr id="9" name="Shape 6"/>
            <p:cNvSpPr/>
            <p:nvPr/>
          </p:nvSpPr>
          <p:spPr>
            <a:xfrm>
              <a:off x="2395728" y="2670048"/>
              <a:ext cx="868680" cy="512064"/>
            </a:xfrm>
            <a:prstGeom prst="roundRect">
              <a:avLst>
                <a:gd name="adj" fmla="val 14286"/>
              </a:avLst>
            </a:prstGeom>
            <a:solidFill>
              <a:srgbClr val="13293D"/>
            </a:solidFill>
            <a:ln w="19050">
              <a:solidFill>
                <a:srgbClr val="13293D"/>
              </a:solidFill>
              <a:prstDash val="solid"/>
            </a:ln>
          </p:spPr>
          <p:txBody>
            <a:bodyPr/>
            <a:lstStyle/>
            <a:p>
              <a:endParaRPr lang="en-US"/>
            </a:p>
          </p:txBody>
        </p:sp>
        <p:sp>
          <p:nvSpPr>
            <p:cNvPr id="10" name="Text 7"/>
            <p:cNvSpPr txBox="1"/>
            <p:nvPr/>
          </p:nvSpPr>
          <p:spPr>
            <a:xfrm>
              <a:off x="2441448" y="2670048"/>
              <a:ext cx="77724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FORK</a:t>
              </a:r>
              <a:endParaRPr lang="en-US" sz="1300" dirty="0"/>
            </a:p>
          </p:txBody>
        </p:sp>
        <p:sp>
          <p:nvSpPr>
            <p:cNvPr id="11" name="Shape 8"/>
            <p:cNvSpPr/>
            <p:nvPr/>
          </p:nvSpPr>
          <p:spPr>
            <a:xfrm flipV="1">
              <a:off x="3291840" y="1645920"/>
              <a:ext cx="411480" cy="1280160"/>
            </a:xfrm>
            <a:prstGeom prst="line">
              <a:avLst/>
            </a:prstGeom>
            <a:noFill/>
            <a:ln w="25400">
              <a:solidFill>
                <a:srgbClr val="5B6B76"/>
              </a:solidFill>
              <a:prstDash val="solid"/>
            </a:ln>
          </p:spPr>
          <p:txBody>
            <a:bodyPr/>
            <a:lstStyle/>
            <a:p>
              <a:endParaRPr lang="en-US"/>
            </a:p>
          </p:txBody>
        </p:sp>
        <p:sp>
          <p:nvSpPr>
            <p:cNvPr id="12" name="Shape 9"/>
            <p:cNvSpPr/>
            <p:nvPr/>
          </p:nvSpPr>
          <p:spPr>
            <a:xfrm>
              <a:off x="3749040" y="1325880"/>
              <a:ext cx="2011680" cy="640080"/>
            </a:xfrm>
            <a:prstGeom prst="roundRect">
              <a:avLst>
                <a:gd name="adj" fmla="val 11429"/>
              </a:avLst>
            </a:prstGeom>
            <a:solidFill>
              <a:srgbClr val="1F6F8B"/>
            </a:solidFill>
            <a:ln w="19050">
              <a:solidFill>
                <a:srgbClr val="1F6F8B"/>
              </a:solidFill>
              <a:prstDash val="solid"/>
            </a:ln>
          </p:spPr>
          <p:txBody>
            <a:bodyPr/>
            <a:lstStyle/>
            <a:p>
              <a:endParaRPr lang="en-US"/>
            </a:p>
          </p:txBody>
        </p:sp>
        <p:sp>
          <p:nvSpPr>
            <p:cNvPr id="13" name="Text 10"/>
            <p:cNvSpPr txBox="1"/>
            <p:nvPr/>
          </p:nvSpPr>
          <p:spPr>
            <a:xfrm>
              <a:off x="3794760" y="1325880"/>
              <a:ext cx="192024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HUYẾT HỌC</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nạp máy → hoàn tất</a:t>
              </a:r>
              <a:endParaRPr lang="en-US" sz="1250" dirty="0"/>
            </a:p>
          </p:txBody>
        </p:sp>
        <p:sp>
          <p:nvSpPr>
            <p:cNvPr id="14" name="Shape 11"/>
            <p:cNvSpPr/>
            <p:nvPr/>
          </p:nvSpPr>
          <p:spPr>
            <a:xfrm>
              <a:off x="5760720" y="1645920"/>
              <a:ext cx="411480" cy="1280160"/>
            </a:xfrm>
            <a:prstGeom prst="line">
              <a:avLst/>
            </a:prstGeom>
            <a:noFill/>
            <a:ln w="25400">
              <a:solidFill>
                <a:srgbClr val="5B6B76"/>
              </a:solidFill>
              <a:prstDash val="solid"/>
            </a:ln>
          </p:spPr>
          <p:txBody>
            <a:bodyPr/>
            <a:lstStyle/>
            <a:p>
              <a:endParaRPr lang="en-US"/>
            </a:p>
          </p:txBody>
        </p:sp>
        <p:sp>
          <p:nvSpPr>
            <p:cNvPr id="15" name="Shape 12"/>
            <p:cNvSpPr/>
            <p:nvPr/>
          </p:nvSpPr>
          <p:spPr>
            <a:xfrm>
              <a:off x="3291840" y="2926080"/>
              <a:ext cx="411480" cy="9144"/>
            </a:xfrm>
            <a:prstGeom prst="line">
              <a:avLst/>
            </a:prstGeom>
            <a:noFill/>
            <a:ln w="25400">
              <a:solidFill>
                <a:srgbClr val="5B6B76"/>
              </a:solidFill>
              <a:prstDash val="solid"/>
            </a:ln>
          </p:spPr>
          <p:txBody>
            <a:bodyPr/>
            <a:lstStyle/>
            <a:p>
              <a:endParaRPr lang="en-US"/>
            </a:p>
          </p:txBody>
        </p:sp>
        <p:sp>
          <p:nvSpPr>
            <p:cNvPr id="16" name="Shape 13"/>
            <p:cNvSpPr/>
            <p:nvPr/>
          </p:nvSpPr>
          <p:spPr>
            <a:xfrm>
              <a:off x="3749040" y="2606040"/>
              <a:ext cx="2011680" cy="640080"/>
            </a:xfrm>
            <a:prstGeom prst="roundRect">
              <a:avLst>
                <a:gd name="adj" fmla="val 11429"/>
              </a:avLst>
            </a:prstGeom>
            <a:solidFill>
              <a:srgbClr val="4B4B9C"/>
            </a:solidFill>
            <a:ln w="19050">
              <a:solidFill>
                <a:srgbClr val="4B4B9C"/>
              </a:solidFill>
              <a:prstDash val="solid"/>
            </a:ln>
          </p:spPr>
          <p:txBody>
            <a:bodyPr/>
            <a:lstStyle/>
            <a:p>
              <a:endParaRPr lang="en-US"/>
            </a:p>
          </p:txBody>
        </p:sp>
        <p:sp>
          <p:nvSpPr>
            <p:cNvPr id="17" name="Text 14"/>
            <p:cNvSpPr txBox="1"/>
            <p:nvPr/>
          </p:nvSpPr>
          <p:spPr>
            <a:xfrm>
              <a:off x="3794760" y="2606040"/>
              <a:ext cx="192024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SINH HÓA</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nạp máy → hoàn tất</a:t>
              </a:r>
              <a:endParaRPr lang="en-US" sz="1250" dirty="0"/>
            </a:p>
          </p:txBody>
        </p:sp>
        <p:sp>
          <p:nvSpPr>
            <p:cNvPr id="18" name="Shape 15"/>
            <p:cNvSpPr/>
            <p:nvPr/>
          </p:nvSpPr>
          <p:spPr>
            <a:xfrm>
              <a:off x="5760720" y="2926080"/>
              <a:ext cx="411480" cy="9144"/>
            </a:xfrm>
            <a:prstGeom prst="line">
              <a:avLst/>
            </a:prstGeom>
            <a:noFill/>
            <a:ln w="25400">
              <a:solidFill>
                <a:srgbClr val="5B6B76"/>
              </a:solidFill>
              <a:prstDash val="solid"/>
            </a:ln>
          </p:spPr>
          <p:txBody>
            <a:bodyPr/>
            <a:lstStyle/>
            <a:p>
              <a:endParaRPr lang="en-US"/>
            </a:p>
          </p:txBody>
        </p:sp>
        <p:sp>
          <p:nvSpPr>
            <p:cNvPr id="19" name="Shape 16"/>
            <p:cNvSpPr/>
            <p:nvPr/>
          </p:nvSpPr>
          <p:spPr>
            <a:xfrm>
              <a:off x="3291840" y="2926080"/>
              <a:ext cx="411480" cy="1280160"/>
            </a:xfrm>
            <a:prstGeom prst="line">
              <a:avLst/>
            </a:prstGeom>
            <a:noFill/>
            <a:ln w="25400">
              <a:solidFill>
                <a:srgbClr val="5B6B76"/>
              </a:solidFill>
              <a:prstDash val="solid"/>
            </a:ln>
          </p:spPr>
          <p:txBody>
            <a:bodyPr/>
            <a:lstStyle/>
            <a:p>
              <a:endParaRPr lang="en-US"/>
            </a:p>
          </p:txBody>
        </p:sp>
        <p:sp>
          <p:nvSpPr>
            <p:cNvPr id="20" name="Shape 17"/>
            <p:cNvSpPr/>
            <p:nvPr/>
          </p:nvSpPr>
          <p:spPr>
            <a:xfrm>
              <a:off x="3749040" y="3886200"/>
              <a:ext cx="2011680" cy="640080"/>
            </a:xfrm>
            <a:prstGeom prst="roundRect">
              <a:avLst>
                <a:gd name="adj" fmla="val 11429"/>
              </a:avLst>
            </a:prstGeom>
            <a:solidFill>
              <a:srgbClr val="A80000"/>
            </a:solidFill>
            <a:ln w="19050">
              <a:solidFill>
                <a:srgbClr val="A80000"/>
              </a:solidFill>
              <a:prstDash val="solid"/>
            </a:ln>
          </p:spPr>
          <p:txBody>
            <a:bodyPr/>
            <a:lstStyle/>
            <a:p>
              <a:endParaRPr lang="en-US"/>
            </a:p>
          </p:txBody>
        </p:sp>
        <p:sp>
          <p:nvSpPr>
            <p:cNvPr id="21" name="Text 18"/>
            <p:cNvSpPr txBox="1"/>
            <p:nvPr/>
          </p:nvSpPr>
          <p:spPr>
            <a:xfrm>
              <a:off x="3794760" y="3886200"/>
              <a:ext cx="192024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MIỄN DỊCH</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nạp máy → hoàn tất</a:t>
              </a:r>
              <a:endParaRPr lang="en-US" sz="1250" dirty="0"/>
            </a:p>
          </p:txBody>
        </p:sp>
        <p:sp>
          <p:nvSpPr>
            <p:cNvPr id="22" name="Shape 19"/>
            <p:cNvSpPr/>
            <p:nvPr/>
          </p:nvSpPr>
          <p:spPr>
            <a:xfrm flipV="1">
              <a:off x="5760720" y="2926080"/>
              <a:ext cx="411480" cy="1280160"/>
            </a:xfrm>
            <a:prstGeom prst="line">
              <a:avLst/>
            </a:prstGeom>
            <a:noFill/>
            <a:ln w="25400">
              <a:solidFill>
                <a:srgbClr val="5B6B76"/>
              </a:solidFill>
              <a:prstDash val="solid"/>
            </a:ln>
          </p:spPr>
          <p:txBody>
            <a:bodyPr/>
            <a:lstStyle/>
            <a:p>
              <a:endParaRPr lang="en-US"/>
            </a:p>
          </p:txBody>
        </p:sp>
        <p:sp>
          <p:nvSpPr>
            <p:cNvPr id="23" name="Shape 20"/>
            <p:cNvSpPr/>
            <p:nvPr/>
          </p:nvSpPr>
          <p:spPr>
            <a:xfrm>
              <a:off x="6199632" y="2670048"/>
              <a:ext cx="868680" cy="512064"/>
            </a:xfrm>
            <a:prstGeom prst="roundRect">
              <a:avLst>
                <a:gd name="adj" fmla="val 14286"/>
              </a:avLst>
            </a:prstGeom>
            <a:solidFill>
              <a:srgbClr val="13293D"/>
            </a:solidFill>
            <a:ln w="19050">
              <a:solidFill>
                <a:srgbClr val="13293D"/>
              </a:solidFill>
              <a:prstDash val="solid"/>
            </a:ln>
          </p:spPr>
          <p:txBody>
            <a:bodyPr/>
            <a:lstStyle/>
            <a:p>
              <a:endParaRPr lang="en-US"/>
            </a:p>
          </p:txBody>
        </p:sp>
        <p:sp>
          <p:nvSpPr>
            <p:cNvPr id="24" name="Text 21"/>
            <p:cNvSpPr txBox="1"/>
            <p:nvPr/>
          </p:nvSpPr>
          <p:spPr>
            <a:xfrm>
              <a:off x="6245352" y="2670048"/>
              <a:ext cx="777240"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JOIN</a:t>
              </a:r>
              <a:endParaRPr lang="en-US" sz="1300" dirty="0"/>
            </a:p>
          </p:txBody>
        </p:sp>
        <p:sp>
          <p:nvSpPr>
            <p:cNvPr id="25" name="Shape 22"/>
            <p:cNvSpPr/>
            <p:nvPr/>
          </p:nvSpPr>
          <p:spPr>
            <a:xfrm>
              <a:off x="7086600" y="2926080"/>
              <a:ext cx="320040" cy="914"/>
            </a:xfrm>
            <a:prstGeom prst="line">
              <a:avLst/>
            </a:prstGeom>
            <a:noFill/>
            <a:ln w="31750">
              <a:solidFill>
                <a:srgbClr val="5B6B76"/>
              </a:solidFill>
              <a:prstDash val="solid"/>
              <a:tailEnd type="triangle"/>
            </a:ln>
          </p:spPr>
          <p:txBody>
            <a:bodyPr/>
            <a:lstStyle/>
            <a:p>
              <a:endParaRPr lang="en-US"/>
            </a:p>
          </p:txBody>
        </p:sp>
        <p:sp>
          <p:nvSpPr>
            <p:cNvPr id="26" name="Shape 23"/>
            <p:cNvSpPr/>
            <p:nvPr/>
          </p:nvSpPr>
          <p:spPr>
            <a:xfrm>
              <a:off x="7424928" y="2468880"/>
              <a:ext cx="1600200" cy="914400"/>
            </a:xfrm>
            <a:prstGeom prst="roundRect">
              <a:avLst>
                <a:gd name="adj" fmla="val 8000"/>
              </a:avLst>
            </a:prstGeom>
            <a:solidFill>
              <a:srgbClr val="6F7780"/>
            </a:solidFill>
            <a:ln w="19050">
              <a:solidFill>
                <a:srgbClr val="6F7780"/>
              </a:solidFill>
              <a:prstDash val="solid"/>
            </a:ln>
          </p:spPr>
          <p:txBody>
            <a:bodyPr/>
            <a:lstStyle/>
            <a:p>
              <a:endParaRPr lang="en-US"/>
            </a:p>
          </p:txBody>
        </p:sp>
        <p:sp>
          <p:nvSpPr>
            <p:cNvPr id="27" name="Text 24"/>
            <p:cNvSpPr txBox="1"/>
            <p:nvPr/>
          </p:nvSpPr>
          <p:spPr>
            <a:xfrm>
              <a:off x="7470648" y="2468880"/>
              <a:ext cx="1508760"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DUYỆT, TRẢ</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kết quả nội viện</a:t>
              </a:r>
              <a:endParaRPr lang="en-US" sz="1300" dirty="0"/>
            </a:p>
          </p:txBody>
        </p:sp>
        <p:sp>
          <p:nvSpPr>
            <p:cNvPr id="28" name="Text 25"/>
            <p:cNvSpPr txBox="1"/>
            <p:nvPr/>
          </p:nvSpPr>
          <p:spPr>
            <a:xfrm>
              <a:off x="457200" y="4754880"/>
              <a:ext cx="8595360" cy="411480"/>
            </a:xfrm>
            <a:prstGeom prst="rect">
              <a:avLst/>
            </a:prstGeom>
            <a:noFill/>
            <a:ln/>
          </p:spPr>
          <p:txBody>
            <a:bodyPr wrap="square" lIns="0" tIns="0" rIns="0" bIns="0" rtlCol="0" anchor="t"/>
            <a:lstStyle/>
            <a:p>
              <a:pPr marL="0" indent="0" algn="ctr">
                <a:buNone/>
              </a:pPr>
              <a:r>
                <a:rPr lang="en-US" sz="1600" i="1" dirty="0">
                  <a:solidFill>
                    <a:srgbClr val="A80000"/>
                  </a:solidFill>
                  <a:latin typeface="Cambria" pitchFamily="34" charset="0"/>
                  <a:ea typeface="Cambria" pitchFamily="34" charset="-122"/>
                  <a:cs typeface="Cambria" pitchFamily="34" charset="-120"/>
                </a:rPr>
                <a:t>Nhánh hoàn tất sau cùng + khâu duyệt quyết định thời gian trả kết quả</a:t>
              </a:r>
              <a:endParaRPr lang="en-US" sz="1600" dirty="0"/>
            </a:p>
          </p:txBody>
        </p:sp>
        <p:sp>
          <p:nvSpPr>
            <p:cNvPr id="29" name="Text 26"/>
            <p:cNvSpPr txBox="1"/>
            <p:nvPr/>
          </p:nvSpPr>
          <p:spPr>
            <a:xfrm>
              <a:off x="457200" y="1143000"/>
              <a:ext cx="8595360" cy="320040"/>
            </a:xfrm>
            <a:prstGeom prst="rect">
              <a:avLst/>
            </a:prstGeom>
            <a:noFill/>
            <a:ln/>
          </p:spPr>
          <p:txBody>
            <a:bodyPr wrap="square" lIns="0" tIns="0" rIns="0" bIns="0" rtlCol="0" anchor="t"/>
            <a:lstStyle/>
            <a:p>
              <a:pPr marL="0" indent="0" algn="ctr">
                <a:buNone/>
              </a:pPr>
              <a:r>
                <a:rPr lang="en-US" sz="1250" i="1" dirty="0">
                  <a:solidFill>
                    <a:srgbClr val="5B6B76"/>
                  </a:solidFill>
                  <a:latin typeface="Calibri" pitchFamily="34" charset="0"/>
                  <a:ea typeface="Calibri" pitchFamily="34" charset="-122"/>
                  <a:cs typeface="Calibri" pitchFamily="34" charset="-120"/>
                </a:rPr>
                <a:t>Một bệnh viện chuyên khoa tại Hà Nội · nhánh minh họa</a:t>
              </a:r>
              <a:endParaRPr lang="en-US" sz="1250" dirty="0"/>
            </a:p>
          </p:txBody>
        </p:sp>
        <p:sp>
          <p:nvSpPr>
            <p:cNvPr id="30" name="Shape 27"/>
            <p:cNvSpPr/>
            <p:nvPr/>
          </p:nvSpPr>
          <p:spPr>
            <a:xfrm>
              <a:off x="9281160" y="1143000"/>
              <a:ext cx="2468880" cy="987552"/>
            </a:xfrm>
            <a:prstGeom prst="roundRect">
              <a:avLst>
                <a:gd name="adj" fmla="val 7407"/>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31" name="Text 28"/>
            <p:cNvSpPr txBox="1"/>
            <p:nvPr/>
          </p:nvSpPr>
          <p:spPr>
            <a:xfrm>
              <a:off x="9281160" y="1179576"/>
              <a:ext cx="2468880" cy="548640"/>
            </a:xfrm>
            <a:prstGeom prst="rect">
              <a:avLst/>
            </a:prstGeom>
            <a:noFill/>
            <a:ln/>
          </p:spPr>
          <p:txBody>
            <a:bodyPr wrap="square" lIns="0" tIns="0" rIns="0" bIns="0" rtlCol="0" anchor="ctr"/>
            <a:lstStyle/>
            <a:p>
              <a:pPr marL="0" indent="0" algn="ctr">
                <a:buNone/>
              </a:pPr>
              <a:r>
                <a:rPr lang="en-US" sz="2800" b="1" dirty="0">
                  <a:solidFill>
                    <a:srgbClr val="A80000"/>
                  </a:solidFill>
                  <a:latin typeface="Cambria" pitchFamily="34" charset="0"/>
                  <a:ea typeface="Cambria" pitchFamily="34" charset="-122"/>
                  <a:cs typeface="Cambria" pitchFamily="34" charset="-120"/>
                </a:rPr>
                <a:t>1.638</a:t>
              </a:r>
              <a:endParaRPr lang="en-US" sz="2800" dirty="0"/>
            </a:p>
          </p:txBody>
        </p:sp>
        <p:sp>
          <p:nvSpPr>
            <p:cNvPr id="32" name="Text 29"/>
            <p:cNvSpPr txBox="1"/>
            <p:nvPr/>
          </p:nvSpPr>
          <p:spPr>
            <a:xfrm>
              <a:off x="9281160" y="1709928"/>
              <a:ext cx="2468880" cy="347472"/>
            </a:xfrm>
            <a:prstGeom prst="rect">
              <a:avLst/>
            </a:prstGeom>
            <a:noFill/>
            <a:ln/>
          </p:spPr>
          <p:txBody>
            <a:bodyPr wrap="square" lIns="0" tIns="0" rIns="0" bIns="0" rtlCol="0" anchor="t"/>
            <a:lstStyle/>
            <a:p>
              <a:pPr marL="0" indent="0" algn="ctr">
                <a:buNone/>
              </a:pPr>
              <a:r>
                <a:rPr lang="en-US" sz="1200" dirty="0">
                  <a:solidFill>
                    <a:srgbClr val="1E2A32"/>
                  </a:solidFill>
                  <a:latin typeface="Calibri" pitchFamily="34" charset="0"/>
                  <a:ea typeface="Calibri" pitchFamily="34" charset="-122"/>
                  <a:cs typeface="Calibri" pitchFamily="34" charset="-120"/>
                </a:rPr>
                <a:t>bệnh nhân · 3 ngày cao điểm</a:t>
              </a:r>
              <a:endParaRPr lang="en-US" sz="1200" dirty="0"/>
            </a:p>
          </p:txBody>
        </p:sp>
        <p:sp>
          <p:nvSpPr>
            <p:cNvPr id="33" name="Shape 30"/>
            <p:cNvSpPr/>
            <p:nvPr/>
          </p:nvSpPr>
          <p:spPr>
            <a:xfrm>
              <a:off x="9281160" y="2240280"/>
              <a:ext cx="2468880" cy="987552"/>
            </a:xfrm>
            <a:prstGeom prst="roundRect">
              <a:avLst>
                <a:gd name="adj" fmla="val 7407"/>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34" name="Text 31"/>
            <p:cNvSpPr txBox="1"/>
            <p:nvPr/>
          </p:nvSpPr>
          <p:spPr>
            <a:xfrm>
              <a:off x="9281160" y="2276856"/>
              <a:ext cx="2468880" cy="548640"/>
            </a:xfrm>
            <a:prstGeom prst="rect">
              <a:avLst/>
            </a:prstGeom>
            <a:noFill/>
            <a:ln/>
          </p:spPr>
          <p:txBody>
            <a:bodyPr wrap="square" lIns="0" tIns="0" rIns="0" bIns="0" rtlCol="0" anchor="ctr"/>
            <a:lstStyle/>
            <a:p>
              <a:pPr marL="0" indent="0" algn="ctr">
                <a:buNone/>
              </a:pPr>
              <a:r>
                <a:rPr lang="en-US" sz="2800" b="1" dirty="0">
                  <a:solidFill>
                    <a:srgbClr val="E08A2E"/>
                  </a:solidFill>
                  <a:latin typeface="Cambria" pitchFamily="34" charset="0"/>
                  <a:ea typeface="Cambria" pitchFamily="34" charset="-122"/>
                  <a:cs typeface="Cambria" pitchFamily="34" charset="-120"/>
                </a:rPr>
                <a:t>5.619</a:t>
              </a:r>
              <a:endParaRPr lang="en-US" sz="2800" dirty="0"/>
            </a:p>
          </p:txBody>
        </p:sp>
        <p:sp>
          <p:nvSpPr>
            <p:cNvPr id="35" name="Text 32"/>
            <p:cNvSpPr txBox="1"/>
            <p:nvPr/>
          </p:nvSpPr>
          <p:spPr>
            <a:xfrm>
              <a:off x="9281160" y="2807208"/>
              <a:ext cx="2468880" cy="347472"/>
            </a:xfrm>
            <a:prstGeom prst="rect">
              <a:avLst/>
            </a:prstGeom>
            <a:noFill/>
            <a:ln/>
          </p:spPr>
          <p:txBody>
            <a:bodyPr wrap="square" lIns="0" tIns="0" rIns="0" bIns="0" rtlCol="0" anchor="t"/>
            <a:lstStyle/>
            <a:p>
              <a:pPr marL="0" indent="0" algn="ctr">
                <a:buNone/>
              </a:pPr>
              <a:r>
                <a:rPr lang="en-US" sz="1200" dirty="0">
                  <a:solidFill>
                    <a:srgbClr val="1E2A32"/>
                  </a:solidFill>
                  <a:latin typeface="Calibri" pitchFamily="34" charset="0"/>
                  <a:ea typeface="Calibri" pitchFamily="34" charset="-122"/>
                  <a:cs typeface="Calibri" pitchFamily="34" charset="-120"/>
                </a:rPr>
                <a:t>ống mẫu</a:t>
              </a:r>
              <a:endParaRPr lang="en-US" sz="1200" dirty="0"/>
            </a:p>
          </p:txBody>
        </p:sp>
        <p:sp>
          <p:nvSpPr>
            <p:cNvPr id="36" name="Shape 33"/>
            <p:cNvSpPr/>
            <p:nvPr/>
          </p:nvSpPr>
          <p:spPr>
            <a:xfrm>
              <a:off x="9281160" y="3337560"/>
              <a:ext cx="2468880" cy="987552"/>
            </a:xfrm>
            <a:prstGeom prst="roundRect">
              <a:avLst>
                <a:gd name="adj" fmla="val 7407"/>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37" name="Text 34"/>
            <p:cNvSpPr txBox="1"/>
            <p:nvPr/>
          </p:nvSpPr>
          <p:spPr>
            <a:xfrm>
              <a:off x="9281160" y="3374136"/>
              <a:ext cx="2468880" cy="548640"/>
            </a:xfrm>
            <a:prstGeom prst="rect">
              <a:avLst/>
            </a:prstGeom>
            <a:noFill/>
            <a:ln/>
          </p:spPr>
          <p:txBody>
            <a:bodyPr wrap="square" lIns="0" tIns="0" rIns="0" bIns="0" rtlCol="0" anchor="ctr"/>
            <a:lstStyle/>
            <a:p>
              <a:pPr marL="0" indent="0" algn="ctr">
                <a:buNone/>
              </a:pPr>
              <a:r>
                <a:rPr lang="en-US" sz="2800" b="1" dirty="0">
                  <a:solidFill>
                    <a:srgbClr val="1F6F8B"/>
                  </a:solidFill>
                  <a:latin typeface="Cambria" pitchFamily="34" charset="0"/>
                  <a:ea typeface="Cambria" pitchFamily="34" charset="-122"/>
                  <a:cs typeface="Cambria" pitchFamily="34" charset="-120"/>
                </a:rPr>
                <a:t>47.243</a:t>
              </a:r>
              <a:endParaRPr lang="en-US" sz="2800" dirty="0"/>
            </a:p>
          </p:txBody>
        </p:sp>
        <p:sp>
          <p:nvSpPr>
            <p:cNvPr id="38" name="Text 35"/>
            <p:cNvSpPr txBox="1"/>
            <p:nvPr/>
          </p:nvSpPr>
          <p:spPr>
            <a:xfrm>
              <a:off x="9281160" y="3904488"/>
              <a:ext cx="2468880" cy="347472"/>
            </a:xfrm>
            <a:prstGeom prst="rect">
              <a:avLst/>
            </a:prstGeom>
            <a:noFill/>
            <a:ln/>
          </p:spPr>
          <p:txBody>
            <a:bodyPr wrap="square" lIns="0" tIns="0" rIns="0" bIns="0" rtlCol="0" anchor="t"/>
            <a:lstStyle/>
            <a:p>
              <a:pPr marL="0" indent="0" algn="ctr">
                <a:buNone/>
              </a:pPr>
              <a:r>
                <a:rPr lang="en-US" sz="1200" dirty="0">
                  <a:solidFill>
                    <a:srgbClr val="1E2A32"/>
                  </a:solidFill>
                  <a:latin typeface="Calibri" pitchFamily="34" charset="0"/>
                  <a:ea typeface="Calibri" pitchFamily="34" charset="-122"/>
                  <a:cs typeface="Calibri" pitchFamily="34" charset="-120"/>
                </a:rPr>
                <a:t>chỉ số xét nghiệm</a:t>
              </a:r>
              <a:endParaRPr lang="en-US" sz="1200" dirty="0"/>
            </a:p>
          </p:txBody>
        </p:sp>
        <p:sp>
          <p:nvSpPr>
            <p:cNvPr id="39" name="Shape 36"/>
            <p:cNvSpPr/>
            <p:nvPr/>
          </p:nvSpPr>
          <p:spPr>
            <a:xfrm>
              <a:off x="9281160" y="4434840"/>
              <a:ext cx="2468880" cy="987552"/>
            </a:xfrm>
            <a:prstGeom prst="roundRect">
              <a:avLst>
                <a:gd name="adj" fmla="val 7407"/>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40" name="Text 37"/>
            <p:cNvSpPr txBox="1"/>
            <p:nvPr/>
          </p:nvSpPr>
          <p:spPr>
            <a:xfrm>
              <a:off x="9281160" y="4471416"/>
              <a:ext cx="2468880" cy="548640"/>
            </a:xfrm>
            <a:prstGeom prst="rect">
              <a:avLst/>
            </a:prstGeom>
            <a:noFill/>
            <a:ln/>
          </p:spPr>
          <p:txBody>
            <a:bodyPr wrap="square" lIns="0" tIns="0" rIns="0" bIns="0" rtlCol="0" anchor="ctr"/>
            <a:lstStyle/>
            <a:p>
              <a:pPr marL="0" indent="0" algn="ctr">
                <a:buNone/>
              </a:pPr>
              <a:r>
                <a:rPr lang="en-US" sz="2800" b="1" dirty="0">
                  <a:solidFill>
                    <a:srgbClr val="4B4B9C"/>
                  </a:solidFill>
                  <a:latin typeface="Cambria" pitchFamily="34" charset="0"/>
                  <a:ea typeface="Cambria" pitchFamily="34" charset="-122"/>
                  <a:cs typeface="Cambria" pitchFamily="34" charset="-120"/>
                </a:rPr>
                <a:t>120′</a:t>
              </a:r>
              <a:endParaRPr lang="en-US" sz="2800" dirty="0"/>
            </a:p>
          </p:txBody>
        </p:sp>
        <p:sp>
          <p:nvSpPr>
            <p:cNvPr id="41" name="Text 38"/>
            <p:cNvSpPr txBox="1"/>
            <p:nvPr/>
          </p:nvSpPr>
          <p:spPr>
            <a:xfrm>
              <a:off x="9281160" y="5001768"/>
              <a:ext cx="2468880" cy="347472"/>
            </a:xfrm>
            <a:prstGeom prst="rect">
              <a:avLst/>
            </a:prstGeom>
            <a:noFill/>
            <a:ln/>
          </p:spPr>
          <p:txBody>
            <a:bodyPr wrap="square" lIns="0" tIns="0" rIns="0" bIns="0" rtlCol="0" anchor="t"/>
            <a:lstStyle/>
            <a:p>
              <a:pPr marL="0" indent="0" algn="ctr">
                <a:buNone/>
              </a:pPr>
              <a:r>
                <a:rPr lang="en-US" sz="1200" dirty="0">
                  <a:solidFill>
                    <a:srgbClr val="1E2A32"/>
                  </a:solidFill>
                  <a:latin typeface="Calibri" pitchFamily="34" charset="0"/>
                  <a:ea typeface="Calibri" pitchFamily="34" charset="-122"/>
                  <a:cs typeface="Calibri" pitchFamily="34" charset="-120"/>
                </a:rPr>
                <a:t>SLA tiếp nhận → duyệt</a:t>
              </a:r>
              <a:endParaRPr lang="en-US" sz="1200" dirty="0"/>
            </a:p>
          </p:txBody>
        </p:sp>
        <p:sp>
          <p:nvSpPr>
            <p:cNvPr id="42" name="Shape 39"/>
            <p:cNvSpPr/>
            <p:nvPr/>
          </p:nvSpPr>
          <p:spPr>
            <a:xfrm>
              <a:off x="457200" y="5486400"/>
              <a:ext cx="11274552" cy="548640"/>
            </a:xfrm>
            <a:prstGeom prst="roundRect">
              <a:avLst>
                <a:gd name="adj" fmla="val 50000"/>
              </a:avLst>
            </a:prstGeom>
            <a:solidFill>
              <a:srgbClr val="FBEAEA"/>
            </a:solidFill>
            <a:ln w="12700">
              <a:solidFill>
                <a:srgbClr val="F1CACA"/>
              </a:solidFill>
              <a:prstDash val="solid"/>
            </a:ln>
          </p:spPr>
          <p:txBody>
            <a:bodyPr/>
            <a:lstStyle/>
            <a:p>
              <a:endParaRPr lang="en-US"/>
            </a:p>
          </p:txBody>
        </p:sp>
        <p:sp>
          <p:nvSpPr>
            <p:cNvPr id="43" name="Text 40"/>
            <p:cNvSpPr txBox="1"/>
            <p:nvPr/>
          </p:nvSpPr>
          <p:spPr>
            <a:xfrm>
              <a:off x="640080" y="5486400"/>
              <a:ext cx="10908792" cy="548640"/>
            </a:xfrm>
            <a:prstGeom prst="rect">
              <a:avLst/>
            </a:prstGeom>
            <a:noFill/>
            <a:ln/>
          </p:spPr>
          <p:txBody>
            <a:bodyPr wrap="square" lIns="0" tIns="0" rIns="0" bIns="0" rtlCol="0" anchor="ctr"/>
            <a:lstStyle/>
            <a:p>
              <a:pPr marL="0" indent="0" algn="ctr">
                <a:buNone/>
              </a:pPr>
              <a:r>
                <a:rPr lang="en-US" sz="1700" b="1" dirty="0">
                  <a:solidFill>
                    <a:srgbClr val="A80000"/>
                  </a:solidFill>
                  <a:latin typeface="Calibri" pitchFamily="34" charset="0"/>
                  <a:ea typeface="Calibri" pitchFamily="34" charset="-122"/>
                  <a:cs typeface="Calibri" pitchFamily="34" charset="-120"/>
                </a:rPr>
                <a:t>ICTA 2026: </a:t>
              </a:r>
              <a:r>
                <a:rPr lang="en-US" sz="1700" dirty="0">
                  <a:solidFill>
                    <a:srgbClr val="1E2A32"/>
                  </a:solidFill>
                  <a:latin typeface="Calibri" pitchFamily="34" charset="0"/>
                  <a:ea typeface="Calibri" pitchFamily="34" charset="-122"/>
                  <a:cs typeface="Calibri" pitchFamily="34" charset="-120"/>
                </a:rPr>
                <a:t>GA tìm véc-tơ trọng số ưu tiên 8 chiều · ưu tiên mẫu còn lại của người gần hoàn tất · 10 lần chạy</a:t>
              </a:r>
              <a:endParaRPr lang="en-US" sz="1700" dirty="0"/>
            </a:p>
          </p:txBody>
        </p:sp>
        <p:sp>
          <p:nvSpPr>
            <p:cNvPr id="44" name="Text 41"/>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Pham và cộng sự, ICTA 2026, đã chấp nhận [23]</a:t>
              </a:r>
              <a:endParaRPr lang="en-US" sz="10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Nghiên cứu 1 (ICTA 2026): kết quả</a:t>
            </a:r>
            <a:endParaRPr lang="en-US" sz="2800" dirty="0"/>
          </a:p>
        </p:txBody>
      </p:sp>
      <p:sp>
        <p:nvSpPr>
          <p:cNvPr id="3" name="Shape 1"/>
          <p:cNvSpPr/>
          <p:nvPr/>
        </p:nvSpPr>
        <p:spPr>
          <a:xfrm>
            <a:off x="457200" y="6510528"/>
            <a:ext cx="128016" cy="128016"/>
          </a:xfrm>
          <a:prstGeom prst="ellipse">
            <a:avLst/>
          </a:prstGeom>
          <a:solidFill>
            <a:srgbClr val="4B4B9C"/>
          </a:solidFill>
          <a:ln w="12700">
            <a:solidFill>
              <a:srgbClr val="4B4B9C"/>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4B4B9C"/>
                </a:solidFill>
                <a:latin typeface="Calibri" pitchFamily="34" charset="0"/>
                <a:ea typeface="Calibri" pitchFamily="34" charset="-122"/>
                <a:cs typeface="Calibri" pitchFamily="34" charset="-120"/>
              </a:rPr>
              <a:t>4 · BẢN SAO SỐ</a:t>
            </a:r>
            <a:endParaRPr lang="en-US" sz="1100" dirty="0"/>
          </a:p>
        </p:txBody>
      </p:sp>
      <p:grpSp>
        <p:nvGrpSpPr>
          <p:cNvPr id="5" name="Group 4">
            <a:extLst>
              <a:ext uri="{FF2B5EF4-FFF2-40B4-BE49-F238E27FC236}">
                <a16:creationId xmlns:a16="http://schemas.microsoft.com/office/drawing/2014/main" id="{2955054C-39A1-6851-AE5B-9BF0D2F554FF}"/>
              </a:ext>
            </a:extLst>
          </p:cNvPr>
          <p:cNvGrpSpPr/>
          <p:nvPr/>
        </p:nvGrpSpPr>
        <p:grpSpPr>
          <a:xfrm>
            <a:off x="457200" y="1143000"/>
            <a:ext cx="11274552" cy="5239512"/>
            <a:chOff x="457200" y="1143000"/>
            <a:chExt cx="11274552" cy="5239512"/>
          </a:xfrm>
        </p:grpSpPr>
        <p:sp>
          <p:nvSpPr>
            <p:cNvPr id="6" name="Shape 3"/>
            <p:cNvSpPr/>
            <p:nvPr/>
          </p:nvSpPr>
          <p:spPr>
            <a:xfrm>
              <a:off x="457200" y="1143000"/>
              <a:ext cx="4206240" cy="4206240"/>
            </a:xfrm>
            <a:prstGeom prst="roundRect">
              <a:avLst>
                <a:gd name="adj" fmla="val 1739"/>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graphicFrame>
          <p:nvGraphicFramePr>
            <p:cNvPr id="7" name="Chart 0"/>
            <p:cNvGraphicFramePr/>
            <p:nvPr>
              <p:extLst>
                <p:ext uri="{D42A27DB-BD31-4B8C-83A1-F6EECF244321}">
                  <p14:modId xmlns:p14="http://schemas.microsoft.com/office/powerpoint/2010/main" val="3790559227"/>
                </p:ext>
              </p:extLst>
            </p:nvPr>
          </p:nvGraphicFramePr>
          <p:xfrm>
            <a:off x="548640" y="1234440"/>
            <a:ext cx="4023360" cy="4023360"/>
          </p:xfrm>
          <a:graphic>
            <a:graphicData uri="http://schemas.openxmlformats.org/drawingml/2006/chart">
              <c:chart xmlns:c="http://schemas.openxmlformats.org/drawingml/2006/chart" xmlns:r="http://schemas.openxmlformats.org/officeDocument/2006/relationships" r:id="rId2"/>
            </a:graphicData>
          </a:graphic>
        </p:graphicFrame>
        <p:sp>
          <p:nvSpPr>
            <p:cNvPr id="8" name="Shape 4"/>
            <p:cNvSpPr/>
            <p:nvPr/>
          </p:nvSpPr>
          <p:spPr>
            <a:xfrm>
              <a:off x="4846320" y="1143000"/>
              <a:ext cx="4206240" cy="4206240"/>
            </a:xfrm>
            <a:prstGeom prst="roundRect">
              <a:avLst>
                <a:gd name="adj" fmla="val 1739"/>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graphicFrame>
          <p:nvGraphicFramePr>
            <p:cNvPr id="9" name="Chart 1"/>
            <p:cNvGraphicFramePr/>
            <p:nvPr>
              <p:extLst>
                <p:ext uri="{D42A27DB-BD31-4B8C-83A1-F6EECF244321}">
                  <p14:modId xmlns:p14="http://schemas.microsoft.com/office/powerpoint/2010/main" val="3767048441"/>
                </p:ext>
              </p:extLst>
            </p:nvPr>
          </p:nvGraphicFramePr>
          <p:xfrm>
            <a:off x="4937760" y="1234440"/>
            <a:ext cx="402336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5"/>
            <p:cNvSpPr/>
            <p:nvPr/>
          </p:nvSpPr>
          <p:spPr>
            <a:xfrm>
              <a:off x="9235440" y="1143000"/>
              <a:ext cx="2496312" cy="2011680"/>
            </a:xfrm>
            <a:prstGeom prst="roundRect">
              <a:avLst>
                <a:gd name="adj" fmla="val 3636"/>
              </a:avLst>
            </a:prstGeom>
            <a:solidFill>
              <a:srgbClr val="FBEAEA"/>
            </a:solidFill>
            <a:ln w="12700">
              <a:solidFill>
                <a:srgbClr val="F1CACA"/>
              </a:solidFill>
              <a:prstDash val="solid"/>
            </a:ln>
            <a:effectLst>
              <a:outerShdw blurRad="76200" dist="25400" dir="5400000" algn="bl" rotWithShape="0">
                <a:srgbClr val="9FB3C0">
                  <a:alpha val="30000"/>
                </a:srgbClr>
              </a:outerShdw>
            </a:effectLst>
          </p:spPr>
          <p:txBody>
            <a:bodyPr/>
            <a:lstStyle/>
            <a:p>
              <a:endParaRPr lang="en-US"/>
            </a:p>
          </p:txBody>
        </p:sp>
        <p:sp>
          <p:nvSpPr>
            <p:cNvPr id="11" name="Text 6"/>
            <p:cNvSpPr txBox="1"/>
            <p:nvPr/>
          </p:nvSpPr>
          <p:spPr>
            <a:xfrm>
              <a:off x="9235440" y="1234440"/>
              <a:ext cx="2496312" cy="822960"/>
            </a:xfrm>
            <a:prstGeom prst="rect">
              <a:avLst/>
            </a:prstGeom>
            <a:noFill/>
            <a:ln/>
          </p:spPr>
          <p:txBody>
            <a:bodyPr wrap="square" lIns="0" tIns="0" rIns="0" bIns="0" rtlCol="0" anchor="ctr"/>
            <a:lstStyle/>
            <a:p>
              <a:pPr marL="0" indent="0" algn="ctr">
                <a:buNone/>
              </a:pPr>
              <a:r>
                <a:rPr lang="en-US" sz="3800" b="1" dirty="0">
                  <a:solidFill>
                    <a:srgbClr val="A80000"/>
                  </a:solidFill>
                  <a:latin typeface="Cambria" pitchFamily="34" charset="0"/>
                  <a:ea typeface="Cambria" pitchFamily="34" charset="-122"/>
                  <a:cs typeface="Cambria" pitchFamily="34" charset="-120"/>
                </a:rPr>
                <a:t>−23,8%</a:t>
              </a:r>
              <a:endParaRPr lang="en-US" sz="3800" dirty="0"/>
            </a:p>
          </p:txBody>
        </p:sp>
        <p:sp>
          <p:nvSpPr>
            <p:cNvPr id="12" name="Text 7"/>
            <p:cNvSpPr txBox="1"/>
            <p:nvPr/>
          </p:nvSpPr>
          <p:spPr>
            <a:xfrm>
              <a:off x="9235440" y="2103120"/>
              <a:ext cx="2496312" cy="822960"/>
            </a:xfrm>
            <a:prstGeom prst="rect">
              <a:avLst/>
            </a:prstGeom>
            <a:noFill/>
            <a:ln/>
          </p:spPr>
          <p:txBody>
            <a:bodyPr wrap="square" lIns="0" tIns="0" rIns="0" bIns="0" rtlCol="0" anchor="t"/>
            <a:lstStyle/>
            <a:p>
              <a:pPr marL="0" indent="0" algn="ctr">
                <a:buNone/>
              </a:pPr>
              <a:r>
                <a:rPr lang="en-US" sz="1400" dirty="0">
                  <a:solidFill>
                    <a:srgbClr val="1E2A32"/>
                  </a:solidFill>
                  <a:latin typeface="Calibri" pitchFamily="34" charset="0"/>
                  <a:ea typeface="Calibri" pitchFamily="34" charset="-122"/>
                  <a:cs typeface="Calibri" pitchFamily="34" charset="-120"/>
                </a:rPr>
                <a:t>ca vượt SLA</a:t>
              </a:r>
              <a:endParaRPr lang="en-US" sz="1400" dirty="0"/>
            </a:p>
            <a:p>
              <a:pPr marL="0" indent="0" algn="ctr">
                <a:buNone/>
              </a:pPr>
              <a:r>
                <a:rPr lang="en-US" sz="1400" dirty="0">
                  <a:solidFill>
                    <a:srgbClr val="1E2A32"/>
                  </a:solidFill>
                  <a:latin typeface="Calibri" pitchFamily="34" charset="0"/>
                  <a:ea typeface="Calibri" pitchFamily="34" charset="-122"/>
                  <a:cs typeface="Calibri" pitchFamily="34" charset="-120"/>
                </a:rPr>
                <a:t>(688 → 524)</a:t>
              </a:r>
              <a:endParaRPr lang="en-US" sz="1400" dirty="0"/>
            </a:p>
          </p:txBody>
        </p:sp>
        <p:sp>
          <p:nvSpPr>
            <p:cNvPr id="13" name="Shape 8"/>
            <p:cNvSpPr/>
            <p:nvPr/>
          </p:nvSpPr>
          <p:spPr>
            <a:xfrm>
              <a:off x="9235440" y="3337560"/>
              <a:ext cx="2496312" cy="2011680"/>
            </a:xfrm>
            <a:prstGeom prst="roundRect">
              <a:avLst>
                <a:gd name="adj" fmla="val 3636"/>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14" name="Text 9"/>
            <p:cNvSpPr txBox="1"/>
            <p:nvPr/>
          </p:nvSpPr>
          <p:spPr>
            <a:xfrm>
              <a:off x="9235440" y="3429000"/>
              <a:ext cx="2496312" cy="822960"/>
            </a:xfrm>
            <a:prstGeom prst="rect">
              <a:avLst/>
            </a:prstGeom>
            <a:noFill/>
            <a:ln/>
          </p:spPr>
          <p:txBody>
            <a:bodyPr wrap="square" lIns="0" tIns="0" rIns="0" bIns="0" rtlCol="0" anchor="ctr"/>
            <a:lstStyle/>
            <a:p>
              <a:pPr marL="0" indent="0" algn="ctr">
                <a:buNone/>
              </a:pPr>
              <a:r>
                <a:rPr lang="en-US" sz="3800" b="1" dirty="0">
                  <a:solidFill>
                    <a:srgbClr val="1F6F8B"/>
                  </a:solidFill>
                  <a:latin typeface="Cambria" pitchFamily="34" charset="0"/>
                  <a:ea typeface="Cambria" pitchFamily="34" charset="-122"/>
                  <a:cs typeface="Cambria" pitchFamily="34" charset="-120"/>
                </a:rPr>
                <a:t>−2,84′</a:t>
              </a:r>
              <a:endParaRPr lang="en-US" sz="3800" dirty="0"/>
            </a:p>
          </p:txBody>
        </p:sp>
        <p:sp>
          <p:nvSpPr>
            <p:cNvPr id="15" name="Text 10"/>
            <p:cNvSpPr txBox="1"/>
            <p:nvPr/>
          </p:nvSpPr>
          <p:spPr>
            <a:xfrm>
              <a:off x="9235440" y="4297680"/>
              <a:ext cx="2496312" cy="822960"/>
            </a:xfrm>
            <a:prstGeom prst="rect">
              <a:avLst/>
            </a:prstGeom>
            <a:noFill/>
            <a:ln/>
          </p:spPr>
          <p:txBody>
            <a:bodyPr wrap="square" lIns="0" tIns="0" rIns="0" bIns="0" rtlCol="0" anchor="t"/>
            <a:lstStyle/>
            <a:p>
              <a:pPr marL="0" indent="0" algn="ctr">
                <a:buNone/>
              </a:pPr>
              <a:r>
                <a:rPr lang="en-US" sz="1400" dirty="0">
                  <a:solidFill>
                    <a:srgbClr val="1E2A32"/>
                  </a:solidFill>
                  <a:latin typeface="Calibri" pitchFamily="34" charset="0"/>
                  <a:ea typeface="Calibri" pitchFamily="34" charset="-122"/>
                  <a:cs typeface="Calibri" pitchFamily="34" charset="-120"/>
                </a:rPr>
                <a:t>TAT trung bình</a:t>
              </a:r>
              <a:endParaRPr lang="en-US" sz="1400" dirty="0"/>
            </a:p>
            <a:p>
              <a:pPr marL="0" indent="0" algn="ctr">
                <a:buNone/>
              </a:pPr>
              <a:r>
                <a:rPr lang="en-US" sz="1400" dirty="0">
                  <a:solidFill>
                    <a:srgbClr val="1E2A32"/>
                  </a:solidFill>
                  <a:latin typeface="Calibri" pitchFamily="34" charset="0"/>
                  <a:ea typeface="Calibri" pitchFamily="34" charset="-122"/>
                  <a:cs typeface="Calibri" pitchFamily="34" charset="-120"/>
                </a:rPr>
                <a:t>(119,51 → 116,67)</a:t>
              </a:r>
              <a:endParaRPr lang="en-US" sz="1400" dirty="0"/>
            </a:p>
          </p:txBody>
        </p:sp>
        <p:sp>
          <p:nvSpPr>
            <p:cNvPr id="16" name="Text 11"/>
            <p:cNvSpPr txBox="1"/>
            <p:nvPr/>
          </p:nvSpPr>
          <p:spPr>
            <a:xfrm>
              <a:off x="457200" y="5486400"/>
              <a:ext cx="11274552" cy="548640"/>
            </a:xfrm>
            <a:prstGeom prst="rect">
              <a:avLst/>
            </a:prstGeom>
            <a:noFill/>
            <a:ln/>
          </p:spPr>
          <p:txBody>
            <a:bodyPr wrap="square" lIns="0" tIns="0" rIns="0" bIns="0" rtlCol="0" anchor="ctr"/>
            <a:lstStyle/>
            <a:p>
              <a:pPr marL="0" indent="0" algn="ctr">
                <a:buNone/>
              </a:pPr>
              <a:r>
                <a:rPr lang="en-US" sz="1300" i="1" dirty="0">
                  <a:solidFill>
                    <a:srgbClr val="5B6B76"/>
                  </a:solidFill>
                  <a:latin typeface="Calibri" pitchFamily="34" charset="0"/>
                  <a:ea typeface="Calibri" pitchFamily="34" charset="-122"/>
                  <a:cs typeface="Calibri" pitchFamily="34" charset="-120"/>
                </a:rPr>
                <a:t>So sánh đầu ra mô phỏng với số liệu lịch sử  ·  GA vs SJF + cấp cứu: p &lt; 0,001  ·  GA, PSO, ACOR, ABC: ANOVA p = 0,91 (chưa phải bằng chứng tương đương)</a:t>
              </a:r>
              <a:endParaRPr lang="en-US" sz="1300" dirty="0"/>
            </a:p>
          </p:txBody>
        </p:sp>
        <p:sp>
          <p:nvSpPr>
            <p:cNvPr id="17" name="Text 12"/>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Pham và cộng sự, ICTA 2026 [23]</a:t>
              </a:r>
              <a:endParaRPr lang="en-US" sz="1000" dirty="0"/>
            </a:p>
          </p:txBody>
        </p:sp>
      </p:gr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Nghiên cứu 2 (bản thảo JMIR): thiết kế dữ liệu</a:t>
            </a:r>
            <a:endParaRPr lang="en-US" sz="2800" dirty="0"/>
          </a:p>
        </p:txBody>
      </p:sp>
      <p:sp>
        <p:nvSpPr>
          <p:cNvPr id="3" name="Shape 1"/>
          <p:cNvSpPr/>
          <p:nvPr/>
        </p:nvSpPr>
        <p:spPr>
          <a:xfrm>
            <a:off x="457200" y="6510528"/>
            <a:ext cx="128016" cy="128016"/>
          </a:xfrm>
          <a:prstGeom prst="ellipse">
            <a:avLst/>
          </a:prstGeom>
          <a:solidFill>
            <a:srgbClr val="4B4B9C"/>
          </a:solidFill>
          <a:ln w="12700">
            <a:solidFill>
              <a:srgbClr val="4B4B9C"/>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4B4B9C"/>
                </a:solidFill>
                <a:latin typeface="Calibri" pitchFamily="34" charset="0"/>
                <a:ea typeface="Calibri" pitchFamily="34" charset="-122"/>
                <a:cs typeface="Calibri" pitchFamily="34" charset="-120"/>
              </a:rPr>
              <a:t>4 · BẢN SAO SỐ</a:t>
            </a:r>
            <a:endParaRPr lang="en-US" sz="1100" dirty="0"/>
          </a:p>
        </p:txBody>
      </p:sp>
      <p:grpSp>
        <p:nvGrpSpPr>
          <p:cNvPr id="40" name="Group 39">
            <a:extLst>
              <a:ext uri="{FF2B5EF4-FFF2-40B4-BE49-F238E27FC236}">
                <a16:creationId xmlns:a16="http://schemas.microsoft.com/office/drawing/2014/main" id="{6B200877-0198-9F30-0C16-3134DB998266}"/>
              </a:ext>
            </a:extLst>
          </p:cNvPr>
          <p:cNvGrpSpPr/>
          <p:nvPr/>
        </p:nvGrpSpPr>
        <p:grpSpPr>
          <a:xfrm>
            <a:off x="457200" y="1097280"/>
            <a:ext cx="11274552" cy="5285232"/>
            <a:chOff x="457200" y="1097280"/>
            <a:chExt cx="11274552" cy="5285232"/>
          </a:xfrm>
        </p:grpSpPr>
        <p:sp>
          <p:nvSpPr>
            <p:cNvPr id="6" name="Shape 3"/>
            <p:cNvSpPr/>
            <p:nvPr/>
          </p:nvSpPr>
          <p:spPr>
            <a:xfrm>
              <a:off x="457200" y="1188720"/>
              <a:ext cx="5120640" cy="777240"/>
            </a:xfrm>
            <a:prstGeom prst="roundRect">
              <a:avLst>
                <a:gd name="adj" fmla="val 11765"/>
              </a:avLst>
            </a:prstGeom>
            <a:solidFill>
              <a:srgbClr val="13293D"/>
            </a:solidFill>
            <a:ln w="12700">
              <a:solidFill>
                <a:srgbClr val="13293D"/>
              </a:solidFill>
              <a:prstDash val="solid"/>
            </a:ln>
          </p:spPr>
          <p:txBody>
            <a:bodyPr/>
            <a:lstStyle/>
            <a:p>
              <a:endParaRPr lang="en-US"/>
            </a:p>
          </p:txBody>
        </p:sp>
        <p:sp>
          <p:nvSpPr>
            <p:cNvPr id="7" name="Text 4"/>
            <p:cNvSpPr txBox="1"/>
            <p:nvPr/>
          </p:nvSpPr>
          <p:spPr>
            <a:xfrm>
              <a:off x="457200" y="1188720"/>
              <a:ext cx="5120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1.714.398</a:t>
              </a:r>
              <a:endParaRPr lang="en-US" sz="2200" dirty="0"/>
            </a:p>
          </p:txBody>
        </p:sp>
        <p:sp>
          <p:nvSpPr>
            <p:cNvPr id="8" name="Text 5"/>
            <p:cNvSpPr txBox="1"/>
            <p:nvPr/>
          </p:nvSpPr>
          <p:spPr>
            <a:xfrm>
              <a:off x="457200" y="1600200"/>
              <a:ext cx="5120640"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dòng HIS–LIS · tháng 1–5/2026</a:t>
              </a:r>
              <a:endParaRPr lang="en-US" sz="1200" dirty="0"/>
            </a:p>
          </p:txBody>
        </p:sp>
        <p:sp>
          <p:nvSpPr>
            <p:cNvPr id="9" name="Shape 6"/>
            <p:cNvSpPr/>
            <p:nvPr/>
          </p:nvSpPr>
          <p:spPr>
            <a:xfrm>
              <a:off x="868680" y="2148840"/>
              <a:ext cx="4297680" cy="777240"/>
            </a:xfrm>
            <a:prstGeom prst="roundRect">
              <a:avLst>
                <a:gd name="adj" fmla="val 11765"/>
              </a:avLst>
            </a:prstGeom>
            <a:solidFill>
              <a:srgbClr val="1F6F8B"/>
            </a:solidFill>
            <a:ln w="12700">
              <a:solidFill>
                <a:srgbClr val="1F6F8B"/>
              </a:solidFill>
              <a:prstDash val="solid"/>
            </a:ln>
          </p:spPr>
          <p:txBody>
            <a:bodyPr/>
            <a:lstStyle/>
            <a:p>
              <a:endParaRPr lang="en-US"/>
            </a:p>
          </p:txBody>
        </p:sp>
        <p:sp>
          <p:nvSpPr>
            <p:cNvPr id="10" name="Text 7"/>
            <p:cNvSpPr txBox="1"/>
            <p:nvPr/>
          </p:nvSpPr>
          <p:spPr>
            <a:xfrm>
              <a:off x="868680" y="2148840"/>
              <a:ext cx="429768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110.070</a:t>
              </a:r>
              <a:endParaRPr lang="en-US" sz="2200" dirty="0"/>
            </a:p>
          </p:txBody>
        </p:sp>
        <p:sp>
          <p:nvSpPr>
            <p:cNvPr id="11" name="Text 8"/>
            <p:cNvSpPr txBox="1"/>
            <p:nvPr/>
          </p:nvSpPr>
          <p:spPr>
            <a:xfrm>
              <a:off x="868680" y="2560320"/>
              <a:ext cx="4297680"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công việc nội viện (tách gửi ngoài)</a:t>
              </a:r>
              <a:endParaRPr lang="en-US" sz="1200" dirty="0"/>
            </a:p>
          </p:txBody>
        </p:sp>
        <p:sp>
          <p:nvSpPr>
            <p:cNvPr id="12" name="Shape 9"/>
            <p:cNvSpPr/>
            <p:nvPr/>
          </p:nvSpPr>
          <p:spPr>
            <a:xfrm>
              <a:off x="1280160" y="3108960"/>
              <a:ext cx="3474720" cy="777240"/>
            </a:xfrm>
            <a:prstGeom prst="roundRect">
              <a:avLst>
                <a:gd name="adj" fmla="val 11765"/>
              </a:avLst>
            </a:prstGeom>
            <a:solidFill>
              <a:srgbClr val="E08A2E"/>
            </a:solidFill>
            <a:ln w="12700">
              <a:solidFill>
                <a:srgbClr val="E08A2E"/>
              </a:solidFill>
              <a:prstDash val="solid"/>
            </a:ln>
          </p:spPr>
          <p:txBody>
            <a:bodyPr/>
            <a:lstStyle/>
            <a:p>
              <a:endParaRPr lang="en-US"/>
            </a:p>
          </p:txBody>
        </p:sp>
        <p:sp>
          <p:nvSpPr>
            <p:cNvPr id="13" name="Text 10"/>
            <p:cNvSpPr txBox="1"/>
            <p:nvPr/>
          </p:nvSpPr>
          <p:spPr>
            <a:xfrm>
              <a:off x="1280160" y="3108960"/>
              <a:ext cx="347472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51.271</a:t>
              </a:r>
              <a:endParaRPr lang="en-US" sz="2200" dirty="0"/>
            </a:p>
          </p:txBody>
        </p:sp>
        <p:sp>
          <p:nvSpPr>
            <p:cNvPr id="14" name="Text 11"/>
            <p:cNvSpPr txBox="1"/>
            <p:nvPr/>
          </p:nvSpPr>
          <p:spPr>
            <a:xfrm>
              <a:off x="1280160" y="3520440"/>
              <a:ext cx="3474720"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lượt-ngày khám</a:t>
              </a:r>
              <a:endParaRPr lang="en-US" sz="1200" dirty="0"/>
            </a:p>
          </p:txBody>
        </p:sp>
        <p:sp>
          <p:nvSpPr>
            <p:cNvPr id="15" name="Shape 12"/>
            <p:cNvSpPr/>
            <p:nvPr/>
          </p:nvSpPr>
          <p:spPr>
            <a:xfrm>
              <a:off x="1691640" y="4069080"/>
              <a:ext cx="2651760" cy="777240"/>
            </a:xfrm>
            <a:prstGeom prst="roundRect">
              <a:avLst>
                <a:gd name="adj" fmla="val 11765"/>
              </a:avLst>
            </a:prstGeom>
            <a:solidFill>
              <a:srgbClr val="A80000"/>
            </a:solidFill>
            <a:ln w="12700">
              <a:solidFill>
                <a:srgbClr val="A80000"/>
              </a:solidFill>
              <a:prstDash val="solid"/>
            </a:ln>
          </p:spPr>
          <p:txBody>
            <a:bodyPr/>
            <a:lstStyle/>
            <a:p>
              <a:endParaRPr lang="en-US"/>
            </a:p>
          </p:txBody>
        </p:sp>
        <p:sp>
          <p:nvSpPr>
            <p:cNvPr id="16" name="Text 13"/>
            <p:cNvSpPr txBox="1"/>
            <p:nvPr/>
          </p:nvSpPr>
          <p:spPr>
            <a:xfrm>
              <a:off x="1691640" y="4069080"/>
              <a:ext cx="265176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10.171</a:t>
              </a:r>
              <a:endParaRPr lang="en-US" sz="2200" dirty="0"/>
            </a:p>
          </p:txBody>
        </p:sp>
        <p:sp>
          <p:nvSpPr>
            <p:cNvPr id="17" name="Text 14"/>
            <p:cNvSpPr txBox="1"/>
            <p:nvPr/>
          </p:nvSpPr>
          <p:spPr>
            <a:xfrm>
              <a:off x="1691640" y="4480560"/>
              <a:ext cx="2651760" cy="34747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lượt-ngày kiểm tra giữ riêng</a:t>
              </a:r>
              <a:endParaRPr lang="en-US" sz="1200" dirty="0"/>
            </a:p>
          </p:txBody>
        </p:sp>
        <p:sp>
          <p:nvSpPr>
            <p:cNvPr id="18" name="Text 15"/>
            <p:cNvSpPr txBox="1"/>
            <p:nvPr/>
          </p:nvSpPr>
          <p:spPr>
            <a:xfrm>
              <a:off x="6035040" y="1097280"/>
              <a:ext cx="5669280" cy="411480"/>
            </a:xfrm>
            <a:prstGeom prst="rect">
              <a:avLst/>
            </a:prstGeom>
            <a:noFill/>
            <a:ln/>
          </p:spPr>
          <p:txBody>
            <a:bodyPr wrap="square" lIns="0" tIns="0" rIns="0" bIns="0" rtlCol="0" anchor="t"/>
            <a:lstStyle/>
            <a:p>
              <a:pPr marL="0" indent="0">
                <a:buNone/>
              </a:pPr>
              <a:r>
                <a:rPr lang="en-US" sz="2000" b="1" dirty="0">
                  <a:solidFill>
                    <a:srgbClr val="13293D"/>
                  </a:solidFill>
                  <a:latin typeface="Cambria" pitchFamily="34" charset="0"/>
                  <a:ea typeface="Cambria" pitchFamily="34" charset="-122"/>
                  <a:cs typeface="Cambria" pitchFamily="34" charset="-120"/>
                </a:rPr>
                <a:t>Tách dữ liệu theo thời gian</a:t>
              </a:r>
              <a:endParaRPr lang="en-US" sz="2000" dirty="0"/>
            </a:p>
          </p:txBody>
        </p:sp>
        <p:sp>
          <p:nvSpPr>
            <p:cNvPr id="19" name="Text 16"/>
            <p:cNvSpPr txBox="1"/>
            <p:nvPr/>
          </p:nvSpPr>
          <p:spPr>
            <a:xfrm>
              <a:off x="6126480" y="1600200"/>
              <a:ext cx="1115568" cy="320040"/>
            </a:xfrm>
            <a:prstGeom prst="rect">
              <a:avLst/>
            </a:prstGeom>
            <a:noFill/>
            <a:ln/>
          </p:spPr>
          <p:txBody>
            <a:bodyPr wrap="square" lIns="0" tIns="0" rIns="0" bIns="0" rtlCol="0" anchor="t"/>
            <a:lstStyle/>
            <a:p>
              <a:pPr marL="0" indent="0" algn="ctr">
                <a:buNone/>
              </a:pPr>
              <a:r>
                <a:rPr lang="en-US" sz="1400" b="1" dirty="0">
                  <a:solidFill>
                    <a:srgbClr val="5B6B76"/>
                  </a:solidFill>
                  <a:latin typeface="Calibri" pitchFamily="34" charset="0"/>
                  <a:ea typeface="Calibri" pitchFamily="34" charset="-122"/>
                  <a:cs typeface="Calibri" pitchFamily="34" charset="-120"/>
                </a:rPr>
                <a:t>T1</a:t>
              </a:r>
              <a:endParaRPr lang="en-US" sz="1400" dirty="0"/>
            </a:p>
          </p:txBody>
        </p:sp>
        <p:sp>
          <p:nvSpPr>
            <p:cNvPr id="20" name="Text 17"/>
            <p:cNvSpPr txBox="1"/>
            <p:nvPr/>
          </p:nvSpPr>
          <p:spPr>
            <a:xfrm>
              <a:off x="7242048" y="1600200"/>
              <a:ext cx="1115568" cy="320040"/>
            </a:xfrm>
            <a:prstGeom prst="rect">
              <a:avLst/>
            </a:prstGeom>
            <a:noFill/>
            <a:ln/>
          </p:spPr>
          <p:txBody>
            <a:bodyPr wrap="square" lIns="0" tIns="0" rIns="0" bIns="0" rtlCol="0" anchor="t"/>
            <a:lstStyle/>
            <a:p>
              <a:pPr marL="0" indent="0" algn="ctr">
                <a:buNone/>
              </a:pPr>
              <a:r>
                <a:rPr lang="en-US" sz="1400" b="1" dirty="0">
                  <a:solidFill>
                    <a:srgbClr val="5B6B76"/>
                  </a:solidFill>
                  <a:latin typeface="Calibri" pitchFamily="34" charset="0"/>
                  <a:ea typeface="Calibri" pitchFamily="34" charset="-122"/>
                  <a:cs typeface="Calibri" pitchFamily="34" charset="-120"/>
                </a:rPr>
                <a:t>T2</a:t>
              </a:r>
              <a:endParaRPr lang="en-US" sz="1400" dirty="0"/>
            </a:p>
          </p:txBody>
        </p:sp>
        <p:sp>
          <p:nvSpPr>
            <p:cNvPr id="21" name="Text 18"/>
            <p:cNvSpPr txBox="1"/>
            <p:nvPr/>
          </p:nvSpPr>
          <p:spPr>
            <a:xfrm>
              <a:off x="8357616" y="1600200"/>
              <a:ext cx="1115568" cy="320040"/>
            </a:xfrm>
            <a:prstGeom prst="rect">
              <a:avLst/>
            </a:prstGeom>
            <a:noFill/>
            <a:ln/>
          </p:spPr>
          <p:txBody>
            <a:bodyPr wrap="square" lIns="0" tIns="0" rIns="0" bIns="0" rtlCol="0" anchor="t"/>
            <a:lstStyle/>
            <a:p>
              <a:pPr marL="0" indent="0" algn="ctr">
                <a:buNone/>
              </a:pPr>
              <a:r>
                <a:rPr lang="en-US" sz="1400" b="1" dirty="0">
                  <a:solidFill>
                    <a:srgbClr val="5B6B76"/>
                  </a:solidFill>
                  <a:latin typeface="Calibri" pitchFamily="34" charset="0"/>
                  <a:ea typeface="Calibri" pitchFamily="34" charset="-122"/>
                  <a:cs typeface="Calibri" pitchFamily="34" charset="-120"/>
                </a:rPr>
                <a:t>T3</a:t>
              </a:r>
              <a:endParaRPr lang="en-US" sz="1400" dirty="0"/>
            </a:p>
          </p:txBody>
        </p:sp>
        <p:sp>
          <p:nvSpPr>
            <p:cNvPr id="22" name="Text 19"/>
            <p:cNvSpPr txBox="1"/>
            <p:nvPr/>
          </p:nvSpPr>
          <p:spPr>
            <a:xfrm>
              <a:off x="9473184" y="1600200"/>
              <a:ext cx="1115568" cy="320040"/>
            </a:xfrm>
            <a:prstGeom prst="rect">
              <a:avLst/>
            </a:prstGeom>
            <a:noFill/>
            <a:ln/>
          </p:spPr>
          <p:txBody>
            <a:bodyPr wrap="square" lIns="0" tIns="0" rIns="0" bIns="0" rtlCol="0" anchor="t"/>
            <a:lstStyle/>
            <a:p>
              <a:pPr marL="0" indent="0" algn="ctr">
                <a:buNone/>
              </a:pPr>
              <a:r>
                <a:rPr lang="en-US" sz="1400" b="1" dirty="0">
                  <a:solidFill>
                    <a:srgbClr val="5B6B76"/>
                  </a:solidFill>
                  <a:latin typeface="Calibri" pitchFamily="34" charset="0"/>
                  <a:ea typeface="Calibri" pitchFamily="34" charset="-122"/>
                  <a:cs typeface="Calibri" pitchFamily="34" charset="-120"/>
                </a:rPr>
                <a:t>T4</a:t>
              </a:r>
              <a:endParaRPr lang="en-US" sz="1400" dirty="0"/>
            </a:p>
          </p:txBody>
        </p:sp>
        <p:sp>
          <p:nvSpPr>
            <p:cNvPr id="23" name="Text 20"/>
            <p:cNvSpPr txBox="1"/>
            <p:nvPr/>
          </p:nvSpPr>
          <p:spPr>
            <a:xfrm>
              <a:off x="10588752" y="1600200"/>
              <a:ext cx="1115568" cy="320040"/>
            </a:xfrm>
            <a:prstGeom prst="rect">
              <a:avLst/>
            </a:prstGeom>
            <a:noFill/>
            <a:ln/>
          </p:spPr>
          <p:txBody>
            <a:bodyPr wrap="square" lIns="0" tIns="0" rIns="0" bIns="0" rtlCol="0" anchor="t"/>
            <a:lstStyle/>
            <a:p>
              <a:pPr marL="0" indent="0" algn="ctr">
                <a:buNone/>
              </a:pPr>
              <a:r>
                <a:rPr lang="en-US" sz="1400" b="1" dirty="0">
                  <a:solidFill>
                    <a:srgbClr val="5B6B76"/>
                  </a:solidFill>
                  <a:latin typeface="Calibri" pitchFamily="34" charset="0"/>
                  <a:ea typeface="Calibri" pitchFamily="34" charset="-122"/>
                  <a:cs typeface="Calibri" pitchFamily="34" charset="-120"/>
                </a:rPr>
                <a:t>T5</a:t>
              </a:r>
              <a:endParaRPr lang="en-US" sz="1400" dirty="0"/>
            </a:p>
          </p:txBody>
        </p:sp>
        <p:sp>
          <p:nvSpPr>
            <p:cNvPr id="24" name="Shape 21"/>
            <p:cNvSpPr/>
            <p:nvPr/>
          </p:nvSpPr>
          <p:spPr>
            <a:xfrm>
              <a:off x="6153912" y="2011680"/>
              <a:ext cx="2176272" cy="548640"/>
            </a:xfrm>
            <a:prstGeom prst="roundRect">
              <a:avLst>
                <a:gd name="adj" fmla="val 13333"/>
              </a:avLst>
            </a:prstGeom>
            <a:solidFill>
              <a:srgbClr val="1F6F8B"/>
            </a:solidFill>
            <a:ln w="12700">
              <a:solidFill>
                <a:srgbClr val="1F6F8B"/>
              </a:solidFill>
              <a:prstDash val="solid"/>
            </a:ln>
          </p:spPr>
          <p:txBody>
            <a:bodyPr/>
            <a:lstStyle/>
            <a:p>
              <a:endParaRPr lang="en-US"/>
            </a:p>
          </p:txBody>
        </p:sp>
        <p:sp>
          <p:nvSpPr>
            <p:cNvPr id="25" name="Text 22"/>
            <p:cNvSpPr txBox="1"/>
            <p:nvPr/>
          </p:nvSpPr>
          <p:spPr>
            <a:xfrm>
              <a:off x="6126480" y="2011680"/>
              <a:ext cx="2231136"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Hiệu chỉnh</a:t>
              </a:r>
              <a:endParaRPr lang="en-US" sz="1300" dirty="0"/>
            </a:p>
          </p:txBody>
        </p:sp>
        <p:sp>
          <p:nvSpPr>
            <p:cNvPr id="26" name="Text 23"/>
            <p:cNvSpPr txBox="1"/>
            <p:nvPr/>
          </p:nvSpPr>
          <p:spPr>
            <a:xfrm>
              <a:off x="8449056" y="2011680"/>
              <a:ext cx="3255264" cy="548640"/>
            </a:xfrm>
            <a:prstGeom prst="rect">
              <a:avLst/>
            </a:prstGeom>
            <a:noFill/>
            <a:ln/>
          </p:spPr>
          <p:txBody>
            <a:bodyPr wrap="square" lIns="0" tIns="0" rIns="0" bIns="0" rtlCol="0" anchor="ctr"/>
            <a:lstStyle/>
            <a:p>
              <a:pPr marL="0" indent="0" algn="l">
                <a:buNone/>
              </a:pPr>
              <a:r>
                <a:rPr lang="en-US" sz="1200" dirty="0">
                  <a:solidFill>
                    <a:srgbClr val="1E2A32"/>
                  </a:solidFill>
                  <a:latin typeface="Calibri" pitchFamily="34" charset="0"/>
                  <a:ea typeface="Calibri" pitchFamily="34" charset="-122"/>
                  <a:cs typeface="Calibri" pitchFamily="34" charset="-120"/>
                </a:rPr>
                <a:t>ước lượng tham số, độ trung thực</a:t>
              </a:r>
              <a:endParaRPr lang="en-US" sz="1200" dirty="0"/>
            </a:p>
          </p:txBody>
        </p:sp>
        <p:sp>
          <p:nvSpPr>
            <p:cNvPr id="27" name="Shape 24"/>
            <p:cNvSpPr/>
            <p:nvPr/>
          </p:nvSpPr>
          <p:spPr>
            <a:xfrm>
              <a:off x="8385048" y="2697480"/>
              <a:ext cx="1060704" cy="548640"/>
            </a:xfrm>
            <a:prstGeom prst="roundRect">
              <a:avLst>
                <a:gd name="adj" fmla="val 13333"/>
              </a:avLst>
            </a:prstGeom>
            <a:solidFill>
              <a:srgbClr val="E08A2E"/>
            </a:solidFill>
            <a:ln w="12700">
              <a:solidFill>
                <a:srgbClr val="E08A2E"/>
              </a:solidFill>
              <a:prstDash val="solid"/>
            </a:ln>
          </p:spPr>
          <p:txBody>
            <a:bodyPr/>
            <a:lstStyle/>
            <a:p>
              <a:endParaRPr lang="en-US"/>
            </a:p>
          </p:txBody>
        </p:sp>
        <p:sp>
          <p:nvSpPr>
            <p:cNvPr id="28" name="Text 25"/>
            <p:cNvSpPr txBox="1"/>
            <p:nvPr/>
          </p:nvSpPr>
          <p:spPr>
            <a:xfrm>
              <a:off x="8357616" y="2697480"/>
              <a:ext cx="1115568"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Tìm CS</a:t>
              </a:r>
              <a:endParaRPr lang="en-US" sz="1300" dirty="0"/>
            </a:p>
          </p:txBody>
        </p:sp>
        <p:sp>
          <p:nvSpPr>
            <p:cNvPr id="29" name="Text 26"/>
            <p:cNvSpPr txBox="1"/>
            <p:nvPr/>
          </p:nvSpPr>
          <p:spPr>
            <a:xfrm>
              <a:off x="9564624" y="2697480"/>
              <a:ext cx="2139696" cy="548640"/>
            </a:xfrm>
            <a:prstGeom prst="rect">
              <a:avLst/>
            </a:prstGeom>
            <a:noFill/>
            <a:ln/>
          </p:spPr>
          <p:txBody>
            <a:bodyPr wrap="square" lIns="0" tIns="0" rIns="0" bIns="0" rtlCol="0" anchor="ctr"/>
            <a:lstStyle/>
            <a:p>
              <a:pPr marL="0" indent="0" algn="l">
                <a:buNone/>
              </a:pPr>
              <a:r>
                <a:rPr lang="en-US" sz="1200" dirty="0">
                  <a:solidFill>
                    <a:srgbClr val="1E2A32"/>
                  </a:solidFill>
                  <a:latin typeface="Calibri" pitchFamily="34" charset="0"/>
                  <a:ea typeface="Calibri" pitchFamily="34" charset="-122"/>
                  <a:cs typeface="Calibri" pitchFamily="34" charset="-120"/>
                </a:rPr>
                <a:t>4 ngày, phân tầng theo tải</a:t>
              </a:r>
              <a:endParaRPr lang="en-US" sz="1200" dirty="0"/>
            </a:p>
          </p:txBody>
        </p:sp>
        <p:sp>
          <p:nvSpPr>
            <p:cNvPr id="30" name="Shape 27"/>
            <p:cNvSpPr/>
            <p:nvPr/>
          </p:nvSpPr>
          <p:spPr>
            <a:xfrm>
              <a:off x="9500616" y="3383280"/>
              <a:ext cx="1060704" cy="548640"/>
            </a:xfrm>
            <a:prstGeom prst="roundRect">
              <a:avLst>
                <a:gd name="adj" fmla="val 13333"/>
              </a:avLst>
            </a:prstGeom>
            <a:solidFill>
              <a:srgbClr val="4B4B9C"/>
            </a:solidFill>
            <a:ln w="12700">
              <a:solidFill>
                <a:srgbClr val="4B4B9C"/>
              </a:solidFill>
              <a:prstDash val="solid"/>
            </a:ln>
          </p:spPr>
          <p:txBody>
            <a:bodyPr/>
            <a:lstStyle/>
            <a:p>
              <a:endParaRPr lang="en-US"/>
            </a:p>
          </p:txBody>
        </p:sp>
        <p:sp>
          <p:nvSpPr>
            <p:cNvPr id="31" name="Text 28"/>
            <p:cNvSpPr txBox="1"/>
            <p:nvPr/>
          </p:nvSpPr>
          <p:spPr>
            <a:xfrm>
              <a:off x="9473184" y="3383280"/>
              <a:ext cx="1115568"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Chọn CS</a:t>
              </a:r>
              <a:endParaRPr lang="en-US" sz="1300" dirty="0"/>
            </a:p>
          </p:txBody>
        </p:sp>
        <p:sp>
          <p:nvSpPr>
            <p:cNvPr id="32" name="Text 29"/>
            <p:cNvSpPr txBox="1"/>
            <p:nvPr/>
          </p:nvSpPr>
          <p:spPr>
            <a:xfrm>
              <a:off x="6126480" y="3383280"/>
              <a:ext cx="3255264" cy="548640"/>
            </a:xfrm>
            <a:prstGeom prst="rect">
              <a:avLst/>
            </a:prstGeom>
            <a:noFill/>
            <a:ln/>
          </p:spPr>
          <p:txBody>
            <a:bodyPr wrap="square" lIns="0" tIns="0" rIns="0" bIns="0" rtlCol="0" anchor="ctr"/>
            <a:lstStyle/>
            <a:p>
              <a:pPr marL="0" indent="0" algn="r">
                <a:buNone/>
              </a:pPr>
              <a:r>
                <a:rPr lang="en-US" sz="1200" dirty="0">
                  <a:solidFill>
                    <a:srgbClr val="1E2A32"/>
                  </a:solidFill>
                  <a:latin typeface="Calibri" pitchFamily="34" charset="0"/>
                  <a:ea typeface="Calibri" pitchFamily="34" charset="-122"/>
                  <a:cs typeface="Calibri" pitchFamily="34" charset="-120"/>
                </a:rPr>
                <a:t>4 ngày, warm start</a:t>
              </a:r>
              <a:endParaRPr lang="en-US" sz="1200" dirty="0"/>
            </a:p>
          </p:txBody>
        </p:sp>
        <p:sp>
          <p:nvSpPr>
            <p:cNvPr id="33" name="Shape 30"/>
            <p:cNvSpPr/>
            <p:nvPr/>
          </p:nvSpPr>
          <p:spPr>
            <a:xfrm>
              <a:off x="10616184" y="4069080"/>
              <a:ext cx="1060704" cy="548640"/>
            </a:xfrm>
            <a:prstGeom prst="roundRect">
              <a:avLst>
                <a:gd name="adj" fmla="val 13333"/>
              </a:avLst>
            </a:prstGeom>
            <a:solidFill>
              <a:srgbClr val="A80000"/>
            </a:solidFill>
            <a:ln w="12700">
              <a:solidFill>
                <a:srgbClr val="A80000"/>
              </a:solidFill>
              <a:prstDash val="solid"/>
            </a:ln>
          </p:spPr>
          <p:txBody>
            <a:bodyPr/>
            <a:lstStyle/>
            <a:p>
              <a:endParaRPr lang="en-US"/>
            </a:p>
          </p:txBody>
        </p:sp>
        <p:sp>
          <p:nvSpPr>
            <p:cNvPr id="34" name="Text 31"/>
            <p:cNvSpPr txBox="1"/>
            <p:nvPr/>
          </p:nvSpPr>
          <p:spPr>
            <a:xfrm>
              <a:off x="10588752" y="4069080"/>
              <a:ext cx="1115568"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Kiểm tra</a:t>
              </a:r>
              <a:endParaRPr lang="en-US" sz="1300" dirty="0"/>
            </a:p>
          </p:txBody>
        </p:sp>
        <p:sp>
          <p:nvSpPr>
            <p:cNvPr id="35" name="Text 32"/>
            <p:cNvSpPr txBox="1"/>
            <p:nvPr/>
          </p:nvSpPr>
          <p:spPr>
            <a:xfrm>
              <a:off x="6126480" y="4069080"/>
              <a:ext cx="4370832" cy="548640"/>
            </a:xfrm>
            <a:prstGeom prst="rect">
              <a:avLst/>
            </a:prstGeom>
            <a:noFill/>
            <a:ln/>
          </p:spPr>
          <p:txBody>
            <a:bodyPr wrap="square" lIns="0" tIns="0" rIns="0" bIns="0" rtlCol="0" anchor="ctr"/>
            <a:lstStyle/>
            <a:p>
              <a:pPr marL="0" indent="0" algn="r">
                <a:buNone/>
              </a:pPr>
              <a:r>
                <a:rPr lang="en-US" sz="1200" dirty="0">
                  <a:solidFill>
                    <a:srgbClr val="1E2A32"/>
                  </a:solidFill>
                  <a:latin typeface="Calibri" pitchFamily="34" charset="0"/>
                  <a:ea typeface="Calibri" pitchFamily="34" charset="-122"/>
                  <a:cs typeface="Calibri" pitchFamily="34" charset="-120"/>
                </a:rPr>
                <a:t>31 ngày, đóng băng</a:t>
              </a:r>
              <a:endParaRPr lang="en-US" sz="1200" dirty="0"/>
            </a:p>
          </p:txBody>
        </p:sp>
        <p:sp>
          <p:nvSpPr>
            <p:cNvPr id="36" name="Shape 33"/>
            <p:cNvSpPr/>
            <p:nvPr/>
          </p:nvSpPr>
          <p:spPr>
            <a:xfrm>
              <a:off x="6035040" y="4937760"/>
              <a:ext cx="5696712" cy="1097280"/>
            </a:xfrm>
            <a:prstGeom prst="roundRect">
              <a:avLst>
                <a:gd name="adj" fmla="val 6667"/>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37" name="Text 34"/>
            <p:cNvSpPr txBox="1"/>
            <p:nvPr/>
          </p:nvSpPr>
          <p:spPr>
            <a:xfrm>
              <a:off x="6217920" y="4937760"/>
              <a:ext cx="5349240" cy="1097280"/>
            </a:xfrm>
            <a:prstGeom prst="rect">
              <a:avLst/>
            </a:prstGeom>
            <a:noFill/>
            <a:ln/>
          </p:spPr>
          <p:txBody>
            <a:bodyPr wrap="square" lIns="0" tIns="0" rIns="0" bIns="0" rtlCol="0" anchor="ctr"/>
            <a:lstStyle/>
            <a:p>
              <a:pPr marL="0" indent="0">
                <a:buNone/>
              </a:pPr>
              <a:r>
                <a:rPr lang="en-US" sz="1400" b="1" dirty="0">
                  <a:solidFill>
                    <a:srgbClr val="A80000"/>
                  </a:solidFill>
                  <a:latin typeface="Calibri" pitchFamily="34" charset="0"/>
                  <a:ea typeface="Calibri" pitchFamily="34" charset="-122"/>
                  <a:cs typeface="Calibri" pitchFamily="34" charset="-120"/>
                </a:rPr>
                <a:t>30 seed</a:t>
              </a:r>
              <a:r>
                <a:rPr lang="en-US" sz="1400" dirty="0">
                  <a:solidFill>
                    <a:srgbClr val="1E2A32"/>
                  </a:solidFill>
                  <a:latin typeface="Calibri" pitchFamily="34" charset="0"/>
                  <a:ea typeface="Calibri" pitchFamily="34" charset="-122"/>
                  <a:cs typeface="Calibri" pitchFamily="34" charset="-120"/>
                </a:rPr>
                <a:t> mỗi mục tiêu · </a:t>
              </a:r>
              <a:r>
                <a:rPr lang="en-US" sz="1400" b="1" dirty="0">
                  <a:solidFill>
                    <a:srgbClr val="A80000"/>
                  </a:solidFill>
                  <a:latin typeface="Calibri" pitchFamily="34" charset="0"/>
                  <a:ea typeface="Calibri" pitchFamily="34" charset="-122"/>
                  <a:cs typeface="Calibri" pitchFamily="34" charset="-120"/>
                </a:rPr>
                <a:t>6 đối chứng</a:t>
              </a:r>
              <a:r>
                <a:rPr lang="en-US" sz="1400" dirty="0">
                  <a:solidFill>
                    <a:srgbClr val="1E2A32"/>
                  </a:solidFill>
                  <a:latin typeface="Calibri" pitchFamily="34" charset="0"/>
                  <a:ea typeface="Calibri" pitchFamily="34" charset="-122"/>
                  <a:cs typeface="Calibri" pitchFamily="34" charset="-120"/>
                </a:rPr>
                <a:t>: FCFS, SPT, EDD, LST, HRRN, heuristic ưu tiên hoàn tất · cùng đầu vào, cùng nguồn lực</a:t>
              </a:r>
              <a:endParaRPr lang="en-US" sz="1400" dirty="0"/>
            </a:p>
          </p:txBody>
        </p:sp>
        <p:sp>
          <p:nvSpPr>
            <p:cNvPr id="38" name="Text 35"/>
            <p:cNvSpPr txBox="1"/>
            <p:nvPr/>
          </p:nvSpPr>
          <p:spPr>
            <a:xfrm>
              <a:off x="457200" y="5120640"/>
              <a:ext cx="5120640" cy="548640"/>
            </a:xfrm>
            <a:prstGeom prst="rect">
              <a:avLst/>
            </a:prstGeom>
            <a:noFill/>
            <a:ln/>
          </p:spPr>
          <p:txBody>
            <a:bodyPr wrap="square" lIns="0" tIns="0" rIns="0" bIns="0" rtlCol="0" anchor="t"/>
            <a:lstStyle/>
            <a:p>
              <a:pPr marL="0" indent="0" algn="ctr">
                <a:buNone/>
              </a:pPr>
              <a:r>
                <a:rPr lang="en-US" sz="1200" i="1" dirty="0">
                  <a:solidFill>
                    <a:srgbClr val="5B6B76"/>
                  </a:solidFill>
                  <a:latin typeface="Calibri" pitchFamily="34" charset="0"/>
                  <a:ea typeface="Calibri" pitchFamily="34" charset="-122"/>
                  <a:cs typeface="Calibri" pitchFamily="34" charset="-120"/>
                </a:rPr>
                <a:t>Lượt-ngày khám = encounter-day, không phải số bệnh nhân duy nhất</a:t>
              </a:r>
              <a:endParaRPr lang="en-US" sz="1200" dirty="0"/>
            </a:p>
          </p:txBody>
        </p:sp>
        <p:sp>
          <p:nvSpPr>
            <p:cNvPr id="39" name="Text 36"/>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Pham và cộng sự, bản thảo hướng tới JMIR Medical Informatics, chưa công bố [24]</a:t>
              </a:r>
              <a:endParaRPr lang="en-US" sz="10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Nghiên cứu 2: kết quả trên 31 ngày giữ riêng</a:t>
            </a:r>
            <a:endParaRPr lang="en-US" sz="2800" dirty="0"/>
          </a:p>
        </p:txBody>
      </p:sp>
      <p:sp>
        <p:nvSpPr>
          <p:cNvPr id="3" name="Shape 1"/>
          <p:cNvSpPr/>
          <p:nvPr/>
        </p:nvSpPr>
        <p:spPr>
          <a:xfrm>
            <a:off x="457200" y="6510528"/>
            <a:ext cx="128016" cy="128016"/>
          </a:xfrm>
          <a:prstGeom prst="ellipse">
            <a:avLst/>
          </a:prstGeom>
          <a:solidFill>
            <a:srgbClr val="4B4B9C"/>
          </a:solidFill>
          <a:ln w="12700">
            <a:solidFill>
              <a:srgbClr val="4B4B9C"/>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4B4B9C"/>
                </a:solidFill>
                <a:latin typeface="Calibri" pitchFamily="34" charset="0"/>
                <a:ea typeface="Calibri" pitchFamily="34" charset="-122"/>
                <a:cs typeface="Calibri" pitchFamily="34" charset="-120"/>
              </a:rPr>
              <a:t>4 · BẢN SAO SỐ</a:t>
            </a:r>
            <a:endParaRPr lang="en-US" sz="1100" dirty="0"/>
          </a:p>
        </p:txBody>
      </p:sp>
      <p:grpSp>
        <p:nvGrpSpPr>
          <p:cNvPr id="33" name="Group 32">
            <a:extLst>
              <a:ext uri="{FF2B5EF4-FFF2-40B4-BE49-F238E27FC236}">
                <a16:creationId xmlns:a16="http://schemas.microsoft.com/office/drawing/2014/main" id="{84E7DC74-1140-2F63-6B7F-4944F4389040}"/>
              </a:ext>
            </a:extLst>
          </p:cNvPr>
          <p:cNvGrpSpPr/>
          <p:nvPr/>
        </p:nvGrpSpPr>
        <p:grpSpPr>
          <a:xfrm>
            <a:off x="457200" y="1143000"/>
            <a:ext cx="11274552" cy="5239512"/>
            <a:chOff x="457200" y="1143000"/>
            <a:chExt cx="11274552" cy="5239512"/>
          </a:xfrm>
        </p:grpSpPr>
        <p:sp>
          <p:nvSpPr>
            <p:cNvPr id="6" name="Shape 3"/>
            <p:cNvSpPr/>
            <p:nvPr/>
          </p:nvSpPr>
          <p:spPr>
            <a:xfrm>
              <a:off x="457200" y="1143000"/>
              <a:ext cx="4572000" cy="4160520"/>
            </a:xfrm>
            <a:prstGeom prst="roundRect">
              <a:avLst>
                <a:gd name="adj" fmla="val 1758"/>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graphicFrame>
          <p:nvGraphicFramePr>
            <p:cNvPr id="7" name="Chart 0"/>
            <p:cNvGraphicFramePr/>
            <p:nvPr>
              <p:extLst>
                <p:ext uri="{D42A27DB-BD31-4B8C-83A1-F6EECF244321}">
                  <p14:modId xmlns:p14="http://schemas.microsoft.com/office/powerpoint/2010/main" val="1240430723"/>
                </p:ext>
              </p:extLst>
            </p:nvPr>
          </p:nvGraphicFramePr>
          <p:xfrm>
            <a:off x="548640" y="1234440"/>
            <a:ext cx="4389120" cy="3977640"/>
          </p:xfrm>
          <a:graphic>
            <a:graphicData uri="http://schemas.openxmlformats.org/drawingml/2006/chart">
              <c:chart xmlns:c="http://schemas.openxmlformats.org/drawingml/2006/chart" xmlns:r="http://schemas.openxmlformats.org/officeDocument/2006/relationships" r:id="rId2"/>
            </a:graphicData>
          </a:graphic>
        </p:graphicFrame>
        <p:sp>
          <p:nvSpPr>
            <p:cNvPr id="8" name="Shape 4"/>
            <p:cNvSpPr/>
            <p:nvPr/>
          </p:nvSpPr>
          <p:spPr>
            <a:xfrm>
              <a:off x="5212080" y="1143000"/>
              <a:ext cx="3108960" cy="4160520"/>
            </a:xfrm>
            <a:prstGeom prst="roundRect">
              <a:avLst>
                <a:gd name="adj" fmla="val 2353"/>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9" name="Text 5"/>
            <p:cNvSpPr txBox="1"/>
            <p:nvPr/>
          </p:nvSpPr>
          <p:spPr>
            <a:xfrm>
              <a:off x="5212080" y="1234440"/>
              <a:ext cx="3108960" cy="365760"/>
            </a:xfrm>
            <a:prstGeom prst="rect">
              <a:avLst/>
            </a:prstGeom>
            <a:noFill/>
            <a:ln/>
          </p:spPr>
          <p:txBody>
            <a:bodyPr wrap="square" lIns="0" tIns="0" rIns="0" bIns="0" rtlCol="0" anchor="t"/>
            <a:lstStyle/>
            <a:p>
              <a:pPr marL="0" indent="0" algn="ctr">
                <a:buNone/>
              </a:pPr>
              <a:r>
                <a:rPr lang="en-US" sz="1400" b="1" dirty="0">
                  <a:solidFill>
                    <a:srgbClr val="5B6B76"/>
                  </a:solidFill>
                  <a:latin typeface="Calibri" pitchFamily="34" charset="0"/>
                  <a:ea typeface="Calibri" pitchFamily="34" charset="-122"/>
                  <a:cs typeface="Calibri" pitchFamily="34" charset="-120"/>
                </a:rPr>
                <a:t>Tỷ lệ vượt SLA</a:t>
              </a:r>
              <a:endParaRPr lang="en-US" sz="1400" dirty="0"/>
            </a:p>
          </p:txBody>
        </p:sp>
        <p:sp>
          <p:nvSpPr>
            <p:cNvPr id="10" name="Shape 6"/>
            <p:cNvSpPr/>
            <p:nvPr/>
          </p:nvSpPr>
          <p:spPr>
            <a:xfrm>
              <a:off x="5623560" y="2166031"/>
              <a:ext cx="960120" cy="2405969"/>
            </a:xfrm>
            <a:prstGeom prst="rect">
              <a:avLst/>
            </a:prstGeom>
            <a:solidFill>
              <a:srgbClr val="B8C4CC"/>
            </a:solidFill>
            <a:ln w="12700">
              <a:solidFill>
                <a:srgbClr val="B8C4CC"/>
              </a:solidFill>
              <a:prstDash val="solid"/>
            </a:ln>
          </p:spPr>
          <p:txBody>
            <a:bodyPr/>
            <a:lstStyle/>
            <a:p>
              <a:endParaRPr lang="en-US"/>
            </a:p>
          </p:txBody>
        </p:sp>
        <p:sp>
          <p:nvSpPr>
            <p:cNvPr id="11" name="Text 7"/>
            <p:cNvSpPr txBox="1"/>
            <p:nvPr/>
          </p:nvSpPr>
          <p:spPr>
            <a:xfrm>
              <a:off x="5394960" y="1781983"/>
              <a:ext cx="1417320" cy="347472"/>
            </a:xfrm>
            <a:prstGeom prst="rect">
              <a:avLst/>
            </a:prstGeom>
            <a:noFill/>
            <a:ln/>
          </p:spPr>
          <p:txBody>
            <a:bodyPr wrap="square" lIns="0" tIns="0" rIns="0" bIns="0" rtlCol="0" anchor="t"/>
            <a:lstStyle/>
            <a:p>
              <a:pPr marL="0" indent="0" algn="ctr">
                <a:buNone/>
              </a:pPr>
              <a:r>
                <a:rPr lang="en-US" sz="1500" b="1" dirty="0">
                  <a:solidFill>
                    <a:srgbClr val="5B6B76"/>
                  </a:solidFill>
                  <a:latin typeface="Calibri" pitchFamily="34" charset="0"/>
                  <a:ea typeface="Calibri" pitchFamily="34" charset="-122"/>
                  <a:cs typeface="Calibri" pitchFamily="34" charset="-120"/>
                </a:rPr>
                <a:t>32,89%</a:t>
              </a:r>
              <a:endParaRPr lang="en-US" sz="1500" dirty="0"/>
            </a:p>
          </p:txBody>
        </p:sp>
        <p:sp>
          <p:nvSpPr>
            <p:cNvPr id="12" name="Text 8"/>
            <p:cNvSpPr txBox="1"/>
            <p:nvPr/>
          </p:nvSpPr>
          <p:spPr>
            <a:xfrm>
              <a:off x="5440680" y="4617720"/>
              <a:ext cx="1325880" cy="274320"/>
            </a:xfrm>
            <a:prstGeom prst="rect">
              <a:avLst/>
            </a:prstGeom>
            <a:noFill/>
            <a:ln/>
          </p:spPr>
          <p:txBody>
            <a:bodyPr wrap="square" lIns="0" tIns="0" rIns="0" bIns="0" rtlCol="0" anchor="t"/>
            <a:lstStyle/>
            <a:p>
              <a:pPr marL="0" indent="0" algn="ctr">
                <a:buNone/>
              </a:pPr>
              <a:r>
                <a:rPr lang="en-US" sz="1300" dirty="0">
                  <a:solidFill>
                    <a:srgbClr val="1E2A32"/>
                  </a:solidFill>
                  <a:latin typeface="Calibri" pitchFamily="34" charset="0"/>
                  <a:ea typeface="Calibri" pitchFamily="34" charset="-122"/>
                  <a:cs typeface="Calibri" pitchFamily="34" charset="-120"/>
                </a:rPr>
                <a:t>FCFS</a:t>
              </a:r>
              <a:endParaRPr lang="en-US" sz="1300" dirty="0"/>
            </a:p>
          </p:txBody>
        </p:sp>
        <p:sp>
          <p:nvSpPr>
            <p:cNvPr id="13" name="Shape 9"/>
            <p:cNvSpPr/>
            <p:nvPr/>
          </p:nvSpPr>
          <p:spPr>
            <a:xfrm>
              <a:off x="6858000" y="2402312"/>
              <a:ext cx="960120" cy="2169688"/>
            </a:xfrm>
            <a:prstGeom prst="rect">
              <a:avLst/>
            </a:prstGeom>
            <a:solidFill>
              <a:srgbClr val="A80000"/>
            </a:solidFill>
            <a:ln w="12700">
              <a:solidFill>
                <a:srgbClr val="A80000"/>
              </a:solidFill>
              <a:prstDash val="solid"/>
            </a:ln>
          </p:spPr>
          <p:txBody>
            <a:bodyPr/>
            <a:lstStyle/>
            <a:p>
              <a:endParaRPr lang="en-US"/>
            </a:p>
          </p:txBody>
        </p:sp>
        <p:sp>
          <p:nvSpPr>
            <p:cNvPr id="14" name="Text 10"/>
            <p:cNvSpPr txBox="1"/>
            <p:nvPr/>
          </p:nvSpPr>
          <p:spPr>
            <a:xfrm>
              <a:off x="6629400" y="2018264"/>
              <a:ext cx="1417320" cy="347472"/>
            </a:xfrm>
            <a:prstGeom prst="rect">
              <a:avLst/>
            </a:prstGeom>
            <a:noFill/>
            <a:ln/>
          </p:spPr>
          <p:txBody>
            <a:bodyPr wrap="square" lIns="0" tIns="0" rIns="0" bIns="0" rtlCol="0" anchor="t"/>
            <a:lstStyle/>
            <a:p>
              <a:pPr marL="0" indent="0" algn="ctr">
                <a:buNone/>
              </a:pPr>
              <a:r>
                <a:rPr lang="en-US" sz="1500" b="1" dirty="0">
                  <a:solidFill>
                    <a:srgbClr val="A80000"/>
                  </a:solidFill>
                  <a:latin typeface="Calibri" pitchFamily="34" charset="0"/>
                  <a:ea typeface="Calibri" pitchFamily="34" charset="-122"/>
                  <a:cs typeface="Calibri" pitchFamily="34" charset="-120"/>
                </a:rPr>
                <a:t>29,66%</a:t>
              </a:r>
              <a:endParaRPr lang="en-US" sz="1500" dirty="0"/>
            </a:p>
          </p:txBody>
        </p:sp>
        <p:sp>
          <p:nvSpPr>
            <p:cNvPr id="15" name="Text 11"/>
            <p:cNvSpPr txBox="1"/>
            <p:nvPr/>
          </p:nvSpPr>
          <p:spPr>
            <a:xfrm>
              <a:off x="6675120" y="4617720"/>
              <a:ext cx="1325880" cy="274320"/>
            </a:xfrm>
            <a:prstGeom prst="rect">
              <a:avLst/>
            </a:prstGeom>
            <a:noFill/>
            <a:ln/>
          </p:spPr>
          <p:txBody>
            <a:bodyPr wrap="square" lIns="0" tIns="0" rIns="0" bIns="0" rtlCol="0" anchor="t"/>
            <a:lstStyle/>
            <a:p>
              <a:pPr marL="0" indent="0" algn="ctr">
                <a:buNone/>
              </a:pPr>
              <a:r>
                <a:rPr lang="en-US" sz="1300" dirty="0">
                  <a:solidFill>
                    <a:srgbClr val="1E2A32"/>
                  </a:solidFill>
                  <a:latin typeface="Calibri" pitchFamily="34" charset="0"/>
                  <a:ea typeface="Calibri" pitchFamily="34" charset="-122"/>
                  <a:cs typeface="Calibri" pitchFamily="34" charset="-120"/>
                </a:rPr>
                <a:t>DT–GA</a:t>
              </a:r>
              <a:endParaRPr lang="en-US" sz="1300" dirty="0"/>
            </a:p>
          </p:txBody>
        </p:sp>
        <p:sp>
          <p:nvSpPr>
            <p:cNvPr id="16" name="Text 12"/>
            <p:cNvSpPr txBox="1"/>
            <p:nvPr/>
          </p:nvSpPr>
          <p:spPr>
            <a:xfrm>
              <a:off x="5257800" y="4919472"/>
              <a:ext cx="3017520" cy="320040"/>
            </a:xfrm>
            <a:prstGeom prst="rect">
              <a:avLst/>
            </a:prstGeom>
            <a:noFill/>
            <a:ln/>
          </p:spPr>
          <p:txBody>
            <a:bodyPr wrap="square" lIns="0" tIns="0" rIns="0" bIns="0" rtlCol="0" anchor="t"/>
            <a:lstStyle/>
            <a:p>
              <a:pPr marL="0" indent="0" algn="ctr">
                <a:buNone/>
              </a:pPr>
              <a:r>
                <a:rPr lang="en-US" sz="1250" b="1" dirty="0">
                  <a:solidFill>
                    <a:srgbClr val="A80000"/>
                  </a:solidFill>
                  <a:latin typeface="Calibri" pitchFamily="34" charset="0"/>
                  <a:ea typeface="Calibri" pitchFamily="34" charset="-122"/>
                  <a:cs typeface="Calibri" pitchFamily="34" charset="-120"/>
                </a:rPr>
                <a:t>−328 lượt-ngày · −9,81% tương đối</a:t>
              </a:r>
              <a:endParaRPr lang="en-US" sz="1250" dirty="0"/>
            </a:p>
          </p:txBody>
        </p:sp>
        <p:sp>
          <p:nvSpPr>
            <p:cNvPr id="17" name="Shape 13"/>
            <p:cNvSpPr/>
            <p:nvPr/>
          </p:nvSpPr>
          <p:spPr>
            <a:xfrm>
              <a:off x="8503920" y="1143000"/>
              <a:ext cx="3227832" cy="4160520"/>
            </a:xfrm>
            <a:prstGeom prst="roundRect">
              <a:avLst>
                <a:gd name="adj" fmla="val 2266"/>
              </a:avLst>
            </a:prstGeom>
            <a:solidFill>
              <a:srgbClr val="F3F6F8"/>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18" name="Text 14"/>
            <p:cNvSpPr txBox="1"/>
            <p:nvPr/>
          </p:nvSpPr>
          <p:spPr>
            <a:xfrm>
              <a:off x="8503920" y="1234440"/>
              <a:ext cx="3227832" cy="365760"/>
            </a:xfrm>
            <a:prstGeom prst="rect">
              <a:avLst/>
            </a:prstGeom>
            <a:noFill/>
            <a:ln/>
          </p:spPr>
          <p:txBody>
            <a:bodyPr wrap="square" lIns="0" tIns="0" rIns="0" bIns="0" rtlCol="0" anchor="t"/>
            <a:lstStyle/>
            <a:p>
              <a:pPr marL="0" indent="0" algn="ctr">
                <a:buNone/>
              </a:pPr>
              <a:r>
                <a:rPr lang="en-US" sz="1400" b="1" dirty="0">
                  <a:solidFill>
                    <a:srgbClr val="5B6B76"/>
                  </a:solidFill>
                  <a:latin typeface="Calibri" pitchFamily="34" charset="0"/>
                  <a:ea typeface="Calibri" pitchFamily="34" charset="-122"/>
                  <a:cs typeface="Calibri" pitchFamily="34" charset="-120"/>
                </a:rPr>
                <a:t>Chênh TAT theo cặp ngày</a:t>
              </a:r>
              <a:endParaRPr lang="en-US" sz="1400" dirty="0"/>
            </a:p>
          </p:txBody>
        </p:sp>
        <p:sp>
          <p:nvSpPr>
            <p:cNvPr id="19" name="Text 15"/>
            <p:cNvSpPr txBox="1"/>
            <p:nvPr/>
          </p:nvSpPr>
          <p:spPr>
            <a:xfrm>
              <a:off x="8503920" y="1645920"/>
              <a:ext cx="3227832" cy="731520"/>
            </a:xfrm>
            <a:prstGeom prst="rect">
              <a:avLst/>
            </a:prstGeom>
            <a:noFill/>
            <a:ln/>
          </p:spPr>
          <p:txBody>
            <a:bodyPr wrap="square" lIns="0" tIns="0" rIns="0" bIns="0" rtlCol="0" anchor="ctr"/>
            <a:lstStyle/>
            <a:p>
              <a:pPr marL="0" indent="0" algn="ctr">
                <a:buNone/>
              </a:pPr>
              <a:r>
                <a:rPr lang="en-US" sz="3600" b="1" dirty="0">
                  <a:solidFill>
                    <a:srgbClr val="1F6F8B"/>
                  </a:solidFill>
                  <a:latin typeface="Cambria" pitchFamily="34" charset="0"/>
                  <a:ea typeface="Cambria" pitchFamily="34" charset="-122"/>
                  <a:cs typeface="Cambria" pitchFamily="34" charset="-120"/>
                </a:rPr>
                <a:t>−5,63′</a:t>
              </a:r>
              <a:endParaRPr lang="en-US" sz="3600" dirty="0"/>
            </a:p>
          </p:txBody>
        </p:sp>
        <p:sp>
          <p:nvSpPr>
            <p:cNvPr id="20" name="Shape 16"/>
            <p:cNvSpPr/>
            <p:nvPr/>
          </p:nvSpPr>
          <p:spPr>
            <a:xfrm>
              <a:off x="8778240" y="3383280"/>
              <a:ext cx="2651760" cy="0"/>
            </a:xfrm>
            <a:prstGeom prst="line">
              <a:avLst/>
            </a:prstGeom>
            <a:noFill/>
            <a:ln w="12700">
              <a:solidFill>
                <a:srgbClr val="9AA7B0"/>
              </a:solidFill>
              <a:prstDash val="solid"/>
            </a:ln>
          </p:spPr>
          <p:txBody>
            <a:bodyPr/>
            <a:lstStyle/>
            <a:p>
              <a:endParaRPr lang="en-US"/>
            </a:p>
          </p:txBody>
        </p:sp>
        <p:sp>
          <p:nvSpPr>
            <p:cNvPr id="21" name="Shape 17"/>
            <p:cNvSpPr/>
            <p:nvPr/>
          </p:nvSpPr>
          <p:spPr>
            <a:xfrm>
              <a:off x="11098530" y="2788920"/>
              <a:ext cx="0" cy="640080"/>
            </a:xfrm>
            <a:prstGeom prst="line">
              <a:avLst/>
            </a:prstGeom>
            <a:noFill/>
            <a:ln w="19050">
              <a:solidFill>
                <a:srgbClr val="6F7780"/>
              </a:solidFill>
              <a:prstDash val="dash"/>
            </a:ln>
          </p:spPr>
          <p:txBody>
            <a:bodyPr/>
            <a:lstStyle/>
            <a:p>
              <a:endParaRPr lang="en-US"/>
            </a:p>
          </p:txBody>
        </p:sp>
        <p:sp>
          <p:nvSpPr>
            <p:cNvPr id="22" name="Shape 18"/>
            <p:cNvSpPr/>
            <p:nvPr/>
          </p:nvSpPr>
          <p:spPr>
            <a:xfrm>
              <a:off x="9033472" y="3063240"/>
              <a:ext cx="381190" cy="0"/>
            </a:xfrm>
            <a:prstGeom prst="line">
              <a:avLst/>
            </a:prstGeom>
            <a:noFill/>
            <a:ln w="50800">
              <a:solidFill>
                <a:srgbClr val="1F6F8B"/>
              </a:solidFill>
              <a:prstDash val="solid"/>
            </a:ln>
          </p:spPr>
          <p:txBody>
            <a:bodyPr/>
            <a:lstStyle/>
            <a:p>
              <a:endParaRPr lang="en-US"/>
            </a:p>
          </p:txBody>
        </p:sp>
        <p:sp>
          <p:nvSpPr>
            <p:cNvPr id="23" name="Shape 19"/>
            <p:cNvSpPr/>
            <p:nvPr/>
          </p:nvSpPr>
          <p:spPr>
            <a:xfrm>
              <a:off x="9140914" y="2971800"/>
              <a:ext cx="182880" cy="182880"/>
            </a:xfrm>
            <a:prstGeom prst="ellipse">
              <a:avLst/>
            </a:prstGeom>
            <a:solidFill>
              <a:srgbClr val="1F6F8B"/>
            </a:solidFill>
            <a:ln w="12700">
              <a:solidFill>
                <a:srgbClr val="FFFFFF"/>
              </a:solidFill>
              <a:prstDash val="solid"/>
            </a:ln>
          </p:spPr>
          <p:txBody>
            <a:bodyPr/>
            <a:lstStyle/>
            <a:p>
              <a:endParaRPr lang="en-US"/>
            </a:p>
          </p:txBody>
        </p:sp>
        <p:sp>
          <p:nvSpPr>
            <p:cNvPr id="24" name="Text 20"/>
            <p:cNvSpPr txBox="1"/>
            <p:nvPr/>
          </p:nvSpPr>
          <p:spPr>
            <a:xfrm>
              <a:off x="8881110" y="3429000"/>
              <a:ext cx="457200" cy="228600"/>
            </a:xfrm>
            <a:prstGeom prst="rect">
              <a:avLst/>
            </a:prstGeom>
            <a:noFill/>
            <a:ln/>
          </p:spPr>
          <p:txBody>
            <a:bodyPr wrap="square" lIns="0" tIns="0" rIns="0" bIns="0" rtlCol="0" anchor="t"/>
            <a:lstStyle/>
            <a:p>
              <a:pPr marL="0" indent="0" algn="ctr">
                <a:buNone/>
              </a:pPr>
              <a:r>
                <a:rPr lang="en-US" sz="1000" dirty="0">
                  <a:solidFill>
                    <a:srgbClr val="5B6B76"/>
                  </a:solidFill>
                  <a:latin typeface="Calibri" pitchFamily="34" charset="0"/>
                  <a:ea typeface="Calibri" pitchFamily="34" charset="-122"/>
                  <a:cs typeface="Calibri" pitchFamily="34" charset="-120"/>
                </a:rPr>
                <a:t>-6</a:t>
              </a:r>
              <a:endParaRPr lang="en-US" sz="1000" dirty="0"/>
            </a:p>
          </p:txBody>
        </p:sp>
        <p:sp>
          <p:nvSpPr>
            <p:cNvPr id="25" name="Text 21"/>
            <p:cNvSpPr txBox="1"/>
            <p:nvPr/>
          </p:nvSpPr>
          <p:spPr>
            <a:xfrm>
              <a:off x="9544050" y="3429000"/>
              <a:ext cx="457200" cy="228600"/>
            </a:xfrm>
            <a:prstGeom prst="rect">
              <a:avLst/>
            </a:prstGeom>
            <a:noFill/>
            <a:ln/>
          </p:spPr>
          <p:txBody>
            <a:bodyPr wrap="square" lIns="0" tIns="0" rIns="0" bIns="0" rtlCol="0" anchor="t"/>
            <a:lstStyle/>
            <a:p>
              <a:pPr marL="0" indent="0" algn="ctr">
                <a:buNone/>
              </a:pPr>
              <a:r>
                <a:rPr lang="en-US" sz="1000" dirty="0">
                  <a:solidFill>
                    <a:srgbClr val="5B6B76"/>
                  </a:solidFill>
                  <a:latin typeface="Calibri" pitchFamily="34" charset="0"/>
                  <a:ea typeface="Calibri" pitchFamily="34" charset="-122"/>
                  <a:cs typeface="Calibri" pitchFamily="34" charset="-120"/>
                </a:rPr>
                <a:t>-4</a:t>
              </a:r>
              <a:endParaRPr lang="en-US" sz="1000" dirty="0"/>
            </a:p>
          </p:txBody>
        </p:sp>
        <p:sp>
          <p:nvSpPr>
            <p:cNvPr id="26" name="Text 22"/>
            <p:cNvSpPr txBox="1"/>
            <p:nvPr/>
          </p:nvSpPr>
          <p:spPr>
            <a:xfrm>
              <a:off x="10206990" y="3429000"/>
              <a:ext cx="457200" cy="228600"/>
            </a:xfrm>
            <a:prstGeom prst="rect">
              <a:avLst/>
            </a:prstGeom>
            <a:noFill/>
            <a:ln/>
          </p:spPr>
          <p:txBody>
            <a:bodyPr wrap="square" lIns="0" tIns="0" rIns="0" bIns="0" rtlCol="0" anchor="t"/>
            <a:lstStyle/>
            <a:p>
              <a:pPr marL="0" indent="0" algn="ctr">
                <a:buNone/>
              </a:pPr>
              <a:r>
                <a:rPr lang="en-US" sz="1000" dirty="0">
                  <a:solidFill>
                    <a:srgbClr val="5B6B76"/>
                  </a:solidFill>
                  <a:latin typeface="Calibri" pitchFamily="34" charset="0"/>
                  <a:ea typeface="Calibri" pitchFamily="34" charset="-122"/>
                  <a:cs typeface="Calibri" pitchFamily="34" charset="-120"/>
                </a:rPr>
                <a:t>-2</a:t>
              </a:r>
              <a:endParaRPr lang="en-US" sz="1000" dirty="0"/>
            </a:p>
          </p:txBody>
        </p:sp>
        <p:sp>
          <p:nvSpPr>
            <p:cNvPr id="27" name="Text 23"/>
            <p:cNvSpPr txBox="1"/>
            <p:nvPr/>
          </p:nvSpPr>
          <p:spPr>
            <a:xfrm>
              <a:off x="10869930" y="3429000"/>
              <a:ext cx="457200" cy="228600"/>
            </a:xfrm>
            <a:prstGeom prst="rect">
              <a:avLst/>
            </a:prstGeom>
            <a:noFill/>
            <a:ln/>
          </p:spPr>
          <p:txBody>
            <a:bodyPr wrap="square" lIns="0" tIns="0" rIns="0" bIns="0" rtlCol="0" anchor="t"/>
            <a:lstStyle/>
            <a:p>
              <a:pPr marL="0" indent="0" algn="ctr">
                <a:buNone/>
              </a:pPr>
              <a:r>
                <a:rPr lang="en-US" sz="1000" dirty="0">
                  <a:solidFill>
                    <a:srgbClr val="5B6B76"/>
                  </a:solidFill>
                  <a:latin typeface="Calibri" pitchFamily="34" charset="0"/>
                  <a:ea typeface="Calibri" pitchFamily="34" charset="-122"/>
                  <a:cs typeface="Calibri" pitchFamily="34" charset="-120"/>
                </a:rPr>
                <a:t>0</a:t>
              </a:r>
              <a:endParaRPr lang="en-US" sz="1000" dirty="0"/>
            </a:p>
          </p:txBody>
        </p:sp>
        <p:sp>
          <p:nvSpPr>
            <p:cNvPr id="28" name="Text 24"/>
            <p:cNvSpPr txBox="1"/>
            <p:nvPr/>
          </p:nvSpPr>
          <p:spPr>
            <a:xfrm>
              <a:off x="8503920" y="3749040"/>
              <a:ext cx="3227832" cy="320040"/>
            </a:xfrm>
            <a:prstGeom prst="rect">
              <a:avLst/>
            </a:prstGeom>
            <a:noFill/>
            <a:ln/>
          </p:spPr>
          <p:txBody>
            <a:bodyPr wrap="square" lIns="0" tIns="0" rIns="0" bIns="0" rtlCol="0" anchor="t"/>
            <a:lstStyle/>
            <a:p>
              <a:pPr marL="0" indent="0" algn="ctr">
                <a:buNone/>
              </a:pPr>
              <a:r>
                <a:rPr lang="en-US" sz="1250" dirty="0">
                  <a:solidFill>
                    <a:srgbClr val="1E2A32"/>
                  </a:solidFill>
                  <a:latin typeface="Calibri" pitchFamily="34" charset="0"/>
                  <a:ea typeface="Calibri" pitchFamily="34" charset="-122"/>
                  <a:cs typeface="Calibri" pitchFamily="34" charset="-120"/>
                </a:rPr>
                <a:t>KTC 95%: −6,23 đến −5,08</a:t>
              </a:r>
              <a:endParaRPr lang="en-US" sz="1250" dirty="0"/>
            </a:p>
          </p:txBody>
        </p:sp>
        <p:sp>
          <p:nvSpPr>
            <p:cNvPr id="29" name="Text 25"/>
            <p:cNvSpPr txBox="1"/>
            <p:nvPr/>
          </p:nvSpPr>
          <p:spPr>
            <a:xfrm>
              <a:off x="8503920" y="4114800"/>
              <a:ext cx="3227832" cy="365760"/>
            </a:xfrm>
            <a:prstGeom prst="rect">
              <a:avLst/>
            </a:prstGeom>
            <a:noFill/>
            <a:ln/>
          </p:spPr>
          <p:txBody>
            <a:bodyPr wrap="square" lIns="0" tIns="0" rIns="0" bIns="0" rtlCol="0" anchor="t"/>
            <a:lstStyle/>
            <a:p>
              <a:pPr marL="0" indent="0" algn="ctr">
                <a:buNone/>
              </a:pPr>
              <a:r>
                <a:rPr lang="en-US" sz="1500" b="1" dirty="0">
                  <a:solidFill>
                    <a:srgbClr val="1BA39C"/>
                  </a:solidFill>
                  <a:latin typeface="Calibri" pitchFamily="34" charset="0"/>
                  <a:ea typeface="Calibri" pitchFamily="34" charset="-122"/>
                  <a:cs typeface="Calibri" pitchFamily="34" charset="-120"/>
                </a:rPr>
                <a:t>thuận lợi 31/31 ngày</a:t>
              </a:r>
              <a:endParaRPr lang="en-US" sz="1500" dirty="0"/>
            </a:p>
          </p:txBody>
        </p:sp>
        <p:sp>
          <p:nvSpPr>
            <p:cNvPr id="30" name="Text 26"/>
            <p:cNvSpPr txBox="1"/>
            <p:nvPr/>
          </p:nvSpPr>
          <p:spPr>
            <a:xfrm>
              <a:off x="8503920" y="4480560"/>
              <a:ext cx="3227832" cy="320040"/>
            </a:xfrm>
            <a:prstGeom prst="rect">
              <a:avLst/>
            </a:prstGeom>
            <a:noFill/>
            <a:ln/>
          </p:spPr>
          <p:txBody>
            <a:bodyPr wrap="square" lIns="0" tIns="0" rIns="0" bIns="0" rtlCol="0" anchor="t"/>
            <a:lstStyle/>
            <a:p>
              <a:pPr marL="0" indent="0" algn="ctr">
                <a:buNone/>
              </a:pPr>
              <a:r>
                <a:rPr lang="en-US" sz="1250" dirty="0">
                  <a:solidFill>
                    <a:srgbClr val="1E2A32"/>
                  </a:solidFill>
                  <a:latin typeface="Calibri" pitchFamily="34" charset="0"/>
                  <a:ea typeface="Calibri" pitchFamily="34" charset="-122"/>
                  <a:cs typeface="Calibri" pitchFamily="34" charset="-120"/>
                </a:rPr>
                <a:t>p &lt; 0,001 (Holm)</a:t>
              </a:r>
              <a:endParaRPr lang="en-US" sz="1250" dirty="0"/>
            </a:p>
          </p:txBody>
        </p:sp>
        <p:sp>
          <p:nvSpPr>
            <p:cNvPr id="31" name="Text 27"/>
            <p:cNvSpPr txBox="1"/>
            <p:nvPr/>
          </p:nvSpPr>
          <p:spPr>
            <a:xfrm>
              <a:off x="457200" y="5440680"/>
              <a:ext cx="11274552" cy="502920"/>
            </a:xfrm>
            <a:prstGeom prst="rect">
              <a:avLst/>
            </a:prstGeom>
            <a:noFill/>
            <a:ln/>
          </p:spPr>
          <p:txBody>
            <a:bodyPr wrap="square" lIns="0" tIns="0" rIns="0" bIns="0" rtlCol="0" anchor="ctr"/>
            <a:lstStyle/>
            <a:p>
              <a:pPr marL="0" indent="0" algn="ctr">
                <a:buNone/>
              </a:pPr>
              <a:r>
                <a:rPr lang="en-US" sz="1400" b="1" dirty="0">
                  <a:solidFill>
                    <a:srgbClr val="4B4B9C"/>
                  </a:solidFill>
                  <a:latin typeface="Calibri" pitchFamily="34" charset="0"/>
                  <a:ea typeface="Calibri" pitchFamily="34" charset="-122"/>
                  <a:cs typeface="Calibri" pitchFamily="34" charset="-120"/>
                </a:rPr>
                <a:t>Ablation: </a:t>
              </a:r>
              <a:r>
                <a:rPr lang="en-US" sz="1400" dirty="0">
                  <a:solidFill>
                    <a:srgbClr val="1E2A32"/>
                  </a:solidFill>
                  <a:latin typeface="Calibri" pitchFamily="34" charset="0"/>
                  <a:ea typeface="Calibri" pitchFamily="34" charset="-122"/>
                  <a:cs typeface="Calibri" pitchFamily="34" charset="-120"/>
                </a:rPr>
                <a:t>bỏ đặc trưng trạng thái bệnh nhân +5,71′ · bỏ warm start +1,50′  ·  </a:t>
              </a:r>
              <a:r>
                <a:rPr lang="en-US" sz="1400" i="1" dirty="0">
                  <a:solidFill>
                    <a:srgbClr val="5B6B76"/>
                  </a:solidFill>
                  <a:latin typeface="Calibri" pitchFamily="34" charset="0"/>
                  <a:ea typeface="Calibri" pitchFamily="34" charset="-122"/>
                  <a:cs typeface="Calibri" pitchFamily="34" charset="-120"/>
                </a:rPr>
                <a:t>p90 theo ngày còn khác nhau</a:t>
              </a:r>
              <a:endParaRPr lang="en-US" sz="1400" dirty="0"/>
            </a:p>
          </p:txBody>
        </p:sp>
        <p:sp>
          <p:nvSpPr>
            <p:cNvPr id="32" name="Text 28"/>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Pham và cộng sự, bản thảo JMIR Medical Informatics [24] — so sánh trong cùng mô phỏng</a:t>
              </a:r>
              <a:endParaRPr lang="en-US" sz="10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Khoảng cách mô phỏng – vận hành</a:t>
            </a:r>
            <a:endParaRPr lang="en-US" sz="2800" dirty="0"/>
          </a:p>
        </p:txBody>
      </p:sp>
      <p:sp>
        <p:nvSpPr>
          <p:cNvPr id="3" name="Shape 1"/>
          <p:cNvSpPr/>
          <p:nvPr/>
        </p:nvSpPr>
        <p:spPr>
          <a:xfrm>
            <a:off x="457200" y="6510528"/>
            <a:ext cx="128016" cy="128016"/>
          </a:xfrm>
          <a:prstGeom prst="ellipse">
            <a:avLst/>
          </a:prstGeom>
          <a:solidFill>
            <a:srgbClr val="4B4B9C"/>
          </a:solidFill>
          <a:ln w="12700">
            <a:solidFill>
              <a:srgbClr val="4B4B9C"/>
            </a:solidFill>
            <a:prstDash val="solid"/>
          </a:ln>
        </p:spPr>
        <p:txBody>
          <a:bodyPr/>
          <a:lstStyle/>
          <a:p>
            <a:endParaRPr lang="en-US"/>
          </a:p>
        </p:txBody>
      </p:sp>
      <p:sp>
        <p:nvSpPr>
          <p:cNvPr id="4" name="Text 2"/>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4B4B9C"/>
                </a:solidFill>
                <a:latin typeface="Calibri" pitchFamily="34" charset="0"/>
                <a:ea typeface="Calibri" pitchFamily="34" charset="-122"/>
                <a:cs typeface="Calibri" pitchFamily="34" charset="-120"/>
              </a:rPr>
              <a:t>4 · BẢN SAO SỐ</a:t>
            </a:r>
            <a:endParaRPr lang="en-US" sz="1100" dirty="0"/>
          </a:p>
        </p:txBody>
      </p:sp>
      <p:grpSp>
        <p:nvGrpSpPr>
          <p:cNvPr id="42" name="Group 41">
            <a:extLst>
              <a:ext uri="{FF2B5EF4-FFF2-40B4-BE49-F238E27FC236}">
                <a16:creationId xmlns:a16="http://schemas.microsoft.com/office/drawing/2014/main" id="{DBAC15E1-ABB8-011C-16AF-B5F3D68CE04B}"/>
              </a:ext>
            </a:extLst>
          </p:cNvPr>
          <p:cNvGrpSpPr/>
          <p:nvPr/>
        </p:nvGrpSpPr>
        <p:grpSpPr>
          <a:xfrm>
            <a:off x="457200" y="1143000"/>
            <a:ext cx="11274552" cy="5239512"/>
            <a:chOff x="457200" y="1143000"/>
            <a:chExt cx="11274552" cy="5239512"/>
          </a:xfrm>
        </p:grpSpPr>
        <p:sp>
          <p:nvSpPr>
            <p:cNvPr id="6" name="Shape 3"/>
            <p:cNvSpPr/>
            <p:nvPr/>
          </p:nvSpPr>
          <p:spPr>
            <a:xfrm>
              <a:off x="457200" y="1143000"/>
              <a:ext cx="5486400" cy="3657600"/>
            </a:xfrm>
            <a:prstGeom prst="roundRect">
              <a:avLst>
                <a:gd name="adj" fmla="val 2000"/>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7" name="Text 4"/>
            <p:cNvSpPr txBox="1"/>
            <p:nvPr/>
          </p:nvSpPr>
          <p:spPr>
            <a:xfrm>
              <a:off x="457200" y="1234440"/>
              <a:ext cx="5486400" cy="365760"/>
            </a:xfrm>
            <a:prstGeom prst="rect">
              <a:avLst/>
            </a:prstGeom>
            <a:noFill/>
            <a:ln/>
          </p:spPr>
          <p:txBody>
            <a:bodyPr wrap="square" lIns="0" tIns="0" rIns="0" bIns="0" rtlCol="0" anchor="t"/>
            <a:lstStyle/>
            <a:p>
              <a:pPr marL="0" indent="0" algn="ctr">
                <a:buNone/>
              </a:pPr>
              <a:r>
                <a:rPr lang="en-US" sz="1500" b="1" dirty="0">
                  <a:solidFill>
                    <a:srgbClr val="5B6B76"/>
                  </a:solidFill>
                  <a:latin typeface="Calibri" pitchFamily="34" charset="0"/>
                  <a:ea typeface="Calibri" pitchFamily="34" charset="-122"/>
                  <a:cs typeface="Calibri" pitchFamily="34" charset="-120"/>
                </a:rPr>
                <a:t>Tỷ lệ vượt SLA (%)</a:t>
              </a:r>
              <a:endParaRPr lang="en-US" sz="1500" dirty="0"/>
            </a:p>
          </p:txBody>
        </p:sp>
        <p:sp>
          <p:nvSpPr>
            <p:cNvPr id="8" name="Shape 5"/>
            <p:cNvSpPr/>
            <p:nvPr/>
          </p:nvSpPr>
          <p:spPr>
            <a:xfrm>
              <a:off x="1005840" y="3284682"/>
              <a:ext cx="1097280" cy="784398"/>
            </a:xfrm>
            <a:prstGeom prst="rect">
              <a:avLst/>
            </a:prstGeom>
            <a:solidFill>
              <a:srgbClr val="1BA39C"/>
            </a:solidFill>
            <a:ln w="12700">
              <a:solidFill>
                <a:srgbClr val="1BA39C"/>
              </a:solidFill>
              <a:prstDash val="solid"/>
            </a:ln>
          </p:spPr>
          <p:txBody>
            <a:bodyPr/>
            <a:lstStyle/>
            <a:p>
              <a:endParaRPr lang="en-US"/>
            </a:p>
          </p:txBody>
        </p:sp>
        <p:sp>
          <p:nvSpPr>
            <p:cNvPr id="9" name="Text 6"/>
            <p:cNvSpPr txBox="1"/>
            <p:nvPr/>
          </p:nvSpPr>
          <p:spPr>
            <a:xfrm>
              <a:off x="822960" y="2900634"/>
              <a:ext cx="1463040" cy="347472"/>
            </a:xfrm>
            <a:prstGeom prst="rect">
              <a:avLst/>
            </a:prstGeom>
            <a:noFill/>
            <a:ln/>
          </p:spPr>
          <p:txBody>
            <a:bodyPr wrap="square" lIns="0" tIns="0" rIns="0" bIns="0" rtlCol="0" anchor="t"/>
            <a:lstStyle/>
            <a:p>
              <a:pPr marL="0" indent="0" algn="ctr">
                <a:buNone/>
              </a:pPr>
              <a:r>
                <a:rPr lang="en-US" sz="1600" b="1" dirty="0">
                  <a:solidFill>
                    <a:srgbClr val="1BA39C"/>
                  </a:solidFill>
                  <a:latin typeface="Calibri" pitchFamily="34" charset="0"/>
                  <a:ea typeface="Calibri" pitchFamily="34" charset="-122"/>
                  <a:cs typeface="Calibri" pitchFamily="34" charset="-120"/>
                </a:rPr>
                <a:t>12,51</a:t>
              </a:r>
              <a:endParaRPr lang="en-US" sz="1600" dirty="0"/>
            </a:p>
          </p:txBody>
        </p:sp>
        <p:sp>
          <p:nvSpPr>
            <p:cNvPr id="10" name="Text 7"/>
            <p:cNvSpPr txBox="1"/>
            <p:nvPr/>
          </p:nvSpPr>
          <p:spPr>
            <a:xfrm>
              <a:off x="731520" y="4114800"/>
              <a:ext cx="1645920" cy="594360"/>
            </a:xfrm>
            <a:prstGeom prst="rect">
              <a:avLst/>
            </a:prstGeom>
            <a:noFill/>
            <a:ln/>
          </p:spPr>
          <p:txBody>
            <a:bodyPr wrap="square" lIns="0" tIns="0" rIns="0" bIns="0" rtlCol="0" anchor="t"/>
            <a:lstStyle/>
            <a:p>
              <a:pPr marL="0" indent="0" algn="ctr">
                <a:buNone/>
              </a:pPr>
              <a:r>
                <a:rPr lang="en-US" sz="1250" dirty="0">
                  <a:solidFill>
                    <a:srgbClr val="1E2A32"/>
                  </a:solidFill>
                  <a:latin typeface="Calibri" pitchFamily="34" charset="0"/>
                  <a:ea typeface="Calibri" pitchFamily="34" charset="-122"/>
                  <a:cs typeface="Calibri" pitchFamily="34" charset="-120"/>
                </a:rPr>
                <a:t>Quan sát</a:t>
              </a:r>
              <a:endParaRPr lang="en-US" sz="1250" dirty="0"/>
            </a:p>
            <a:p>
              <a:pPr marL="0" indent="0" algn="ctr">
                <a:buNone/>
              </a:pPr>
              <a:r>
                <a:rPr lang="en-US" sz="1250" dirty="0">
                  <a:solidFill>
                    <a:srgbClr val="1E2A32"/>
                  </a:solidFill>
                  <a:latin typeface="Calibri" pitchFamily="34" charset="0"/>
                  <a:ea typeface="Calibri" pitchFamily="34" charset="-122"/>
                  <a:cs typeface="Calibri" pitchFamily="34" charset="-120"/>
                </a:rPr>
                <a:t>thực tế</a:t>
              </a:r>
              <a:endParaRPr lang="en-US" sz="1250" dirty="0"/>
            </a:p>
          </p:txBody>
        </p:sp>
        <p:sp>
          <p:nvSpPr>
            <p:cNvPr id="11" name="Shape 8"/>
            <p:cNvSpPr/>
            <p:nvPr/>
          </p:nvSpPr>
          <p:spPr>
            <a:xfrm>
              <a:off x="2606040" y="2006821"/>
              <a:ext cx="1097280" cy="2062259"/>
            </a:xfrm>
            <a:prstGeom prst="rect">
              <a:avLst/>
            </a:prstGeom>
            <a:solidFill>
              <a:srgbClr val="B8C4CC"/>
            </a:solidFill>
            <a:ln w="12700">
              <a:solidFill>
                <a:srgbClr val="B8C4CC"/>
              </a:solidFill>
              <a:prstDash val="solid"/>
            </a:ln>
          </p:spPr>
          <p:txBody>
            <a:bodyPr/>
            <a:lstStyle/>
            <a:p>
              <a:endParaRPr lang="en-US"/>
            </a:p>
          </p:txBody>
        </p:sp>
        <p:sp>
          <p:nvSpPr>
            <p:cNvPr id="12" name="Text 9"/>
            <p:cNvSpPr txBox="1"/>
            <p:nvPr/>
          </p:nvSpPr>
          <p:spPr>
            <a:xfrm>
              <a:off x="2423160" y="1622773"/>
              <a:ext cx="1463040" cy="347472"/>
            </a:xfrm>
            <a:prstGeom prst="rect">
              <a:avLst/>
            </a:prstGeom>
            <a:noFill/>
            <a:ln/>
          </p:spPr>
          <p:txBody>
            <a:bodyPr wrap="square" lIns="0" tIns="0" rIns="0" bIns="0" rtlCol="0" anchor="t"/>
            <a:lstStyle/>
            <a:p>
              <a:pPr marL="0" indent="0" algn="ctr">
                <a:buNone/>
              </a:pPr>
              <a:r>
                <a:rPr lang="en-US" sz="1600" b="1" dirty="0">
                  <a:solidFill>
                    <a:srgbClr val="5B6B76"/>
                  </a:solidFill>
                  <a:latin typeface="Calibri" pitchFamily="34" charset="0"/>
                  <a:ea typeface="Calibri" pitchFamily="34" charset="-122"/>
                  <a:cs typeface="Calibri" pitchFamily="34" charset="-120"/>
                </a:rPr>
                <a:t>32,89</a:t>
              </a:r>
              <a:endParaRPr lang="en-US" sz="1600" dirty="0"/>
            </a:p>
          </p:txBody>
        </p:sp>
        <p:sp>
          <p:nvSpPr>
            <p:cNvPr id="13" name="Text 10"/>
            <p:cNvSpPr txBox="1"/>
            <p:nvPr/>
          </p:nvSpPr>
          <p:spPr>
            <a:xfrm>
              <a:off x="2331720" y="4114800"/>
              <a:ext cx="1645920" cy="594360"/>
            </a:xfrm>
            <a:prstGeom prst="rect">
              <a:avLst/>
            </a:prstGeom>
            <a:noFill/>
            <a:ln/>
          </p:spPr>
          <p:txBody>
            <a:bodyPr wrap="square" lIns="0" tIns="0" rIns="0" bIns="0" rtlCol="0" anchor="t"/>
            <a:lstStyle/>
            <a:p>
              <a:pPr marL="0" indent="0" algn="ctr">
                <a:buNone/>
              </a:pPr>
              <a:r>
                <a:rPr lang="en-US" sz="1250" dirty="0">
                  <a:solidFill>
                    <a:srgbClr val="1E2A32"/>
                  </a:solidFill>
                  <a:latin typeface="Calibri" pitchFamily="34" charset="0"/>
                  <a:ea typeface="Calibri" pitchFamily="34" charset="-122"/>
                  <a:cs typeface="Calibri" pitchFamily="34" charset="-120"/>
                </a:rPr>
                <a:t>FCFS</a:t>
              </a:r>
              <a:endParaRPr lang="en-US" sz="1250" dirty="0"/>
            </a:p>
            <a:p>
              <a:pPr marL="0" indent="0" algn="ctr">
                <a:buNone/>
              </a:pPr>
              <a:r>
                <a:rPr lang="en-US" sz="1250" dirty="0">
                  <a:solidFill>
                    <a:srgbClr val="1E2A32"/>
                  </a:solidFill>
                  <a:latin typeface="Calibri" pitchFamily="34" charset="0"/>
                  <a:ea typeface="Calibri" pitchFamily="34" charset="-122"/>
                  <a:cs typeface="Calibri" pitchFamily="34" charset="-120"/>
                </a:rPr>
                <a:t>mô phỏng</a:t>
              </a:r>
              <a:endParaRPr lang="en-US" sz="1250" dirty="0"/>
            </a:p>
          </p:txBody>
        </p:sp>
        <p:sp>
          <p:nvSpPr>
            <p:cNvPr id="14" name="Shape 11"/>
            <p:cNvSpPr/>
            <p:nvPr/>
          </p:nvSpPr>
          <p:spPr>
            <a:xfrm>
              <a:off x="4206240" y="2209347"/>
              <a:ext cx="1097280" cy="1859733"/>
            </a:xfrm>
            <a:prstGeom prst="rect">
              <a:avLst/>
            </a:prstGeom>
            <a:solidFill>
              <a:srgbClr val="A80000"/>
            </a:solidFill>
            <a:ln w="12700">
              <a:solidFill>
                <a:srgbClr val="A80000"/>
              </a:solidFill>
              <a:prstDash val="solid"/>
            </a:ln>
          </p:spPr>
          <p:txBody>
            <a:bodyPr/>
            <a:lstStyle/>
            <a:p>
              <a:endParaRPr lang="en-US"/>
            </a:p>
          </p:txBody>
        </p:sp>
        <p:sp>
          <p:nvSpPr>
            <p:cNvPr id="15" name="Text 12"/>
            <p:cNvSpPr txBox="1"/>
            <p:nvPr/>
          </p:nvSpPr>
          <p:spPr>
            <a:xfrm>
              <a:off x="4023360" y="1825299"/>
              <a:ext cx="1463040" cy="347472"/>
            </a:xfrm>
            <a:prstGeom prst="rect">
              <a:avLst/>
            </a:prstGeom>
            <a:noFill/>
            <a:ln/>
          </p:spPr>
          <p:txBody>
            <a:bodyPr wrap="square" lIns="0" tIns="0" rIns="0" bIns="0" rtlCol="0" anchor="t"/>
            <a:lstStyle/>
            <a:p>
              <a:pPr marL="0" indent="0" algn="ctr">
                <a:buNone/>
              </a:pPr>
              <a:r>
                <a:rPr lang="en-US" sz="1600" b="1" dirty="0">
                  <a:solidFill>
                    <a:srgbClr val="A80000"/>
                  </a:solidFill>
                  <a:latin typeface="Calibri" pitchFamily="34" charset="0"/>
                  <a:ea typeface="Calibri" pitchFamily="34" charset="-122"/>
                  <a:cs typeface="Calibri" pitchFamily="34" charset="-120"/>
                </a:rPr>
                <a:t>29,66</a:t>
              </a:r>
              <a:endParaRPr lang="en-US" sz="1600" dirty="0"/>
            </a:p>
          </p:txBody>
        </p:sp>
        <p:sp>
          <p:nvSpPr>
            <p:cNvPr id="16" name="Text 13"/>
            <p:cNvSpPr txBox="1"/>
            <p:nvPr/>
          </p:nvSpPr>
          <p:spPr>
            <a:xfrm>
              <a:off x="3931920" y="4114800"/>
              <a:ext cx="1645920" cy="594360"/>
            </a:xfrm>
            <a:prstGeom prst="rect">
              <a:avLst/>
            </a:prstGeom>
            <a:noFill/>
            <a:ln/>
          </p:spPr>
          <p:txBody>
            <a:bodyPr wrap="square" lIns="0" tIns="0" rIns="0" bIns="0" rtlCol="0" anchor="t"/>
            <a:lstStyle/>
            <a:p>
              <a:pPr marL="0" indent="0" algn="ctr">
                <a:buNone/>
              </a:pPr>
              <a:r>
                <a:rPr lang="en-US" sz="1250" dirty="0">
                  <a:solidFill>
                    <a:srgbClr val="1E2A32"/>
                  </a:solidFill>
                  <a:latin typeface="Calibri" pitchFamily="34" charset="0"/>
                  <a:ea typeface="Calibri" pitchFamily="34" charset="-122"/>
                  <a:cs typeface="Calibri" pitchFamily="34" charset="-120"/>
                </a:rPr>
                <a:t>DT–GA</a:t>
              </a:r>
              <a:endParaRPr lang="en-US" sz="1250" dirty="0"/>
            </a:p>
            <a:p>
              <a:pPr marL="0" indent="0" algn="ctr">
                <a:buNone/>
              </a:pPr>
              <a:r>
                <a:rPr lang="en-US" sz="1250" dirty="0">
                  <a:solidFill>
                    <a:srgbClr val="1E2A32"/>
                  </a:solidFill>
                  <a:latin typeface="Calibri" pitchFamily="34" charset="0"/>
                  <a:ea typeface="Calibri" pitchFamily="34" charset="-122"/>
                  <a:cs typeface="Calibri" pitchFamily="34" charset="-120"/>
                </a:rPr>
                <a:t>mô phỏng</a:t>
              </a:r>
              <a:endParaRPr lang="en-US" sz="1250" dirty="0"/>
            </a:p>
          </p:txBody>
        </p:sp>
        <p:sp>
          <p:nvSpPr>
            <p:cNvPr id="17" name="Shape 14"/>
            <p:cNvSpPr/>
            <p:nvPr/>
          </p:nvSpPr>
          <p:spPr>
            <a:xfrm>
              <a:off x="6245352" y="1143000"/>
              <a:ext cx="5486400" cy="3657600"/>
            </a:xfrm>
            <a:prstGeom prst="roundRect">
              <a:avLst>
                <a:gd name="adj" fmla="val 2000"/>
              </a:avLst>
            </a:prstGeom>
            <a:solidFill>
              <a:srgbClr val="FFFFFF"/>
            </a:solidFill>
            <a:ln w="12700">
              <a:solidFill>
                <a:srgbClr val="D9E3E9"/>
              </a:solidFill>
              <a:prstDash val="solid"/>
            </a:ln>
            <a:effectLst>
              <a:outerShdw blurRad="76200" dist="25400" dir="5400000" algn="bl" rotWithShape="0">
                <a:srgbClr val="9FB3C0">
                  <a:alpha val="30000"/>
                </a:srgbClr>
              </a:outerShdw>
            </a:effectLst>
          </p:spPr>
          <p:txBody>
            <a:bodyPr/>
            <a:lstStyle/>
            <a:p>
              <a:endParaRPr lang="en-US"/>
            </a:p>
          </p:txBody>
        </p:sp>
        <p:sp>
          <p:nvSpPr>
            <p:cNvPr id="18" name="Text 15"/>
            <p:cNvSpPr txBox="1"/>
            <p:nvPr/>
          </p:nvSpPr>
          <p:spPr>
            <a:xfrm>
              <a:off x="6245352" y="1234440"/>
              <a:ext cx="5486400" cy="365760"/>
            </a:xfrm>
            <a:prstGeom prst="rect">
              <a:avLst/>
            </a:prstGeom>
            <a:noFill/>
            <a:ln/>
          </p:spPr>
          <p:txBody>
            <a:bodyPr wrap="square" lIns="0" tIns="0" rIns="0" bIns="0" rtlCol="0" anchor="t"/>
            <a:lstStyle/>
            <a:p>
              <a:pPr marL="0" indent="0" algn="ctr">
                <a:buNone/>
              </a:pPr>
              <a:r>
                <a:rPr lang="en-US" sz="1500" b="1" dirty="0">
                  <a:solidFill>
                    <a:srgbClr val="5B6B76"/>
                  </a:solidFill>
                  <a:latin typeface="Calibri" pitchFamily="34" charset="0"/>
                  <a:ea typeface="Calibri" pitchFamily="34" charset="-122"/>
                  <a:cs typeface="Calibri" pitchFamily="34" charset="-120"/>
                </a:rPr>
                <a:t>Sai số mô phỏng so với mức cải thiện (phút/ngày)</a:t>
              </a:r>
              <a:endParaRPr lang="en-US" sz="1500" dirty="0"/>
            </a:p>
          </p:txBody>
        </p:sp>
        <p:sp>
          <p:nvSpPr>
            <p:cNvPr id="19" name="Text 16"/>
            <p:cNvSpPr txBox="1"/>
            <p:nvPr/>
          </p:nvSpPr>
          <p:spPr>
            <a:xfrm>
              <a:off x="6446520" y="1618488"/>
              <a:ext cx="5120640" cy="320040"/>
            </a:xfrm>
            <a:prstGeom prst="rect">
              <a:avLst/>
            </a:prstGeom>
            <a:noFill/>
            <a:ln/>
          </p:spPr>
          <p:txBody>
            <a:bodyPr wrap="square" lIns="0" tIns="0" rIns="0" bIns="0" rtlCol="0" anchor="t"/>
            <a:lstStyle/>
            <a:p>
              <a:pPr marL="0" indent="0">
                <a:buNone/>
              </a:pPr>
              <a:r>
                <a:rPr lang="en-US" sz="1350" dirty="0">
                  <a:solidFill>
                    <a:srgbClr val="1E2A32"/>
                  </a:solidFill>
                  <a:latin typeface="Calibri" pitchFamily="34" charset="0"/>
                  <a:ea typeface="Calibri" pitchFamily="34" charset="-122"/>
                  <a:cs typeface="Calibri" pitchFamily="34" charset="-120"/>
                </a:rPr>
                <a:t>MAE của FCFS mô phỏng</a:t>
              </a:r>
              <a:endParaRPr lang="en-US" sz="1350" dirty="0"/>
            </a:p>
          </p:txBody>
        </p:sp>
        <p:sp>
          <p:nvSpPr>
            <p:cNvPr id="20" name="Shape 17"/>
            <p:cNvSpPr/>
            <p:nvPr/>
          </p:nvSpPr>
          <p:spPr>
            <a:xfrm>
              <a:off x="6446520" y="1965960"/>
              <a:ext cx="3832936" cy="566928"/>
            </a:xfrm>
            <a:prstGeom prst="rect">
              <a:avLst/>
            </a:prstGeom>
            <a:solidFill>
              <a:srgbClr val="E08A2E"/>
            </a:solidFill>
            <a:ln w="12700">
              <a:solidFill>
                <a:srgbClr val="E08A2E"/>
              </a:solidFill>
              <a:prstDash val="solid"/>
            </a:ln>
          </p:spPr>
          <p:txBody>
            <a:bodyPr/>
            <a:lstStyle/>
            <a:p>
              <a:endParaRPr lang="en-US"/>
            </a:p>
          </p:txBody>
        </p:sp>
        <p:sp>
          <p:nvSpPr>
            <p:cNvPr id="21" name="Text 18"/>
            <p:cNvSpPr txBox="1"/>
            <p:nvPr/>
          </p:nvSpPr>
          <p:spPr>
            <a:xfrm>
              <a:off x="10370896" y="1965960"/>
              <a:ext cx="1097280" cy="566928"/>
            </a:xfrm>
            <a:prstGeom prst="rect">
              <a:avLst/>
            </a:prstGeom>
            <a:noFill/>
            <a:ln/>
          </p:spPr>
          <p:txBody>
            <a:bodyPr wrap="square" lIns="0" tIns="0" rIns="0" bIns="0" rtlCol="0" anchor="ctr"/>
            <a:lstStyle/>
            <a:p>
              <a:pPr marL="0" indent="0">
                <a:buNone/>
              </a:pPr>
              <a:r>
                <a:rPr lang="en-US" sz="2000" b="1" dirty="0">
                  <a:solidFill>
                    <a:srgbClr val="E08A2E"/>
                  </a:solidFill>
                  <a:latin typeface="Cambria" pitchFamily="34" charset="0"/>
                  <a:ea typeface="Cambria" pitchFamily="34" charset="-122"/>
                  <a:cs typeface="Cambria" pitchFamily="34" charset="-120"/>
                </a:rPr>
                <a:t>21,87′</a:t>
              </a:r>
              <a:endParaRPr lang="en-US" sz="2000" dirty="0"/>
            </a:p>
          </p:txBody>
        </p:sp>
        <p:sp>
          <p:nvSpPr>
            <p:cNvPr id="22" name="Text 19"/>
            <p:cNvSpPr txBox="1"/>
            <p:nvPr/>
          </p:nvSpPr>
          <p:spPr>
            <a:xfrm>
              <a:off x="6446520" y="2807208"/>
              <a:ext cx="5120640" cy="320040"/>
            </a:xfrm>
            <a:prstGeom prst="rect">
              <a:avLst/>
            </a:prstGeom>
            <a:noFill/>
            <a:ln/>
          </p:spPr>
          <p:txBody>
            <a:bodyPr wrap="square" lIns="0" tIns="0" rIns="0" bIns="0" rtlCol="0" anchor="t"/>
            <a:lstStyle/>
            <a:p>
              <a:pPr marL="0" indent="0">
                <a:buNone/>
              </a:pPr>
              <a:r>
                <a:rPr lang="en-US" sz="1350" dirty="0">
                  <a:solidFill>
                    <a:srgbClr val="1E2A32"/>
                  </a:solidFill>
                  <a:latin typeface="Calibri" pitchFamily="34" charset="0"/>
                  <a:ea typeface="Calibri" pitchFamily="34" charset="-122"/>
                  <a:cs typeface="Calibri" pitchFamily="34" charset="-120"/>
                </a:rPr>
                <a:t>Cải thiện chính sách theo ngày</a:t>
              </a:r>
              <a:endParaRPr lang="en-US" sz="1350" dirty="0"/>
            </a:p>
          </p:txBody>
        </p:sp>
        <p:sp>
          <p:nvSpPr>
            <p:cNvPr id="23" name="Shape 20"/>
            <p:cNvSpPr/>
            <p:nvPr/>
          </p:nvSpPr>
          <p:spPr>
            <a:xfrm>
              <a:off x="6446520" y="3154680"/>
              <a:ext cx="986714" cy="566928"/>
            </a:xfrm>
            <a:prstGeom prst="rect">
              <a:avLst/>
            </a:prstGeom>
            <a:solidFill>
              <a:srgbClr val="1F6F8B"/>
            </a:solidFill>
            <a:ln w="12700">
              <a:solidFill>
                <a:srgbClr val="1F6F8B"/>
              </a:solidFill>
              <a:prstDash val="solid"/>
            </a:ln>
          </p:spPr>
          <p:txBody>
            <a:bodyPr/>
            <a:lstStyle/>
            <a:p>
              <a:endParaRPr lang="en-US"/>
            </a:p>
          </p:txBody>
        </p:sp>
        <p:sp>
          <p:nvSpPr>
            <p:cNvPr id="24" name="Text 21"/>
            <p:cNvSpPr txBox="1"/>
            <p:nvPr/>
          </p:nvSpPr>
          <p:spPr>
            <a:xfrm>
              <a:off x="7524674" y="3154680"/>
              <a:ext cx="1097280" cy="566928"/>
            </a:xfrm>
            <a:prstGeom prst="rect">
              <a:avLst/>
            </a:prstGeom>
            <a:noFill/>
            <a:ln/>
          </p:spPr>
          <p:txBody>
            <a:bodyPr wrap="square" lIns="0" tIns="0" rIns="0" bIns="0" rtlCol="0" anchor="ctr"/>
            <a:lstStyle/>
            <a:p>
              <a:pPr marL="0" indent="0">
                <a:buNone/>
              </a:pPr>
              <a:r>
                <a:rPr lang="en-US" sz="2000" b="1" dirty="0">
                  <a:solidFill>
                    <a:srgbClr val="1F6F8B"/>
                  </a:solidFill>
                  <a:latin typeface="Cambria" pitchFamily="34" charset="0"/>
                  <a:ea typeface="Cambria" pitchFamily="34" charset="-122"/>
                  <a:cs typeface="Cambria" pitchFamily="34" charset="-120"/>
                </a:rPr>
                <a:t>5,63′</a:t>
              </a:r>
              <a:endParaRPr lang="en-US" sz="2000" dirty="0"/>
            </a:p>
          </p:txBody>
        </p:sp>
        <p:sp>
          <p:nvSpPr>
            <p:cNvPr id="25" name="Text 22"/>
            <p:cNvSpPr txBox="1"/>
            <p:nvPr/>
          </p:nvSpPr>
          <p:spPr>
            <a:xfrm>
              <a:off x="6446520" y="4206240"/>
              <a:ext cx="5120640" cy="365760"/>
            </a:xfrm>
            <a:prstGeom prst="rect">
              <a:avLst/>
            </a:prstGeom>
            <a:noFill/>
            <a:ln/>
          </p:spPr>
          <p:txBody>
            <a:bodyPr wrap="square" lIns="0" tIns="0" rIns="0" bIns="0" rtlCol="0" anchor="t"/>
            <a:lstStyle/>
            <a:p>
              <a:pPr marL="0" indent="0">
                <a:buNone/>
              </a:pPr>
              <a:r>
                <a:rPr lang="en-US" sz="1350" i="1" dirty="0">
                  <a:solidFill>
                    <a:srgbClr val="A80000"/>
                  </a:solidFill>
                  <a:latin typeface="Calibri" pitchFamily="34" charset="0"/>
                  <a:ea typeface="Calibri" pitchFamily="34" charset="-122"/>
                  <a:cs typeface="Calibri" pitchFamily="34" charset="-120"/>
                </a:rPr>
                <a:t>→ chỉ so sánh có điều kiện trong cùng mô phỏng</a:t>
              </a:r>
              <a:endParaRPr lang="en-US" sz="1350" dirty="0"/>
            </a:p>
          </p:txBody>
        </p:sp>
        <p:sp>
          <p:nvSpPr>
            <p:cNvPr id="26" name="Shape 23"/>
            <p:cNvSpPr/>
            <p:nvPr/>
          </p:nvSpPr>
          <p:spPr>
            <a:xfrm>
              <a:off x="640080" y="4983480"/>
              <a:ext cx="594360" cy="594360"/>
            </a:xfrm>
            <a:prstGeom prst="ellipse">
              <a:avLst/>
            </a:prstGeom>
            <a:solidFill>
              <a:srgbClr val="6F7780"/>
            </a:solidFill>
            <a:ln w="12700">
              <a:solidFill>
                <a:srgbClr val="6F7780"/>
              </a:solidFill>
              <a:prstDash val="solid"/>
            </a:ln>
          </p:spPr>
          <p:txBody>
            <a:bodyPr/>
            <a:lstStyle/>
            <a:p>
              <a:endParaRPr lang="en-US"/>
            </a:p>
          </p:txBody>
        </p:sp>
        <p:pic>
          <p:nvPicPr>
            <p:cNvPr id="27" name="Image 0" descr="preencoded.png"/>
            <p:cNvPicPr>
              <a:picLocks noChangeAspect="1"/>
            </p:cNvPicPr>
            <p:nvPr/>
          </p:nvPicPr>
          <p:blipFill>
            <a:blip r:embed="rId2"/>
            <a:stretch>
              <a:fillRect/>
            </a:stretch>
          </p:blipFill>
          <p:spPr>
            <a:xfrm>
              <a:off x="782726" y="5126126"/>
              <a:ext cx="309067" cy="309067"/>
            </a:xfrm>
            <a:prstGeom prst="rect">
              <a:avLst/>
            </a:prstGeom>
          </p:spPr>
        </p:pic>
        <p:sp>
          <p:nvSpPr>
            <p:cNvPr id="28" name="Text 24"/>
            <p:cNvSpPr txBox="1"/>
            <p:nvPr/>
          </p:nvSpPr>
          <p:spPr>
            <a:xfrm>
              <a:off x="1325880" y="4937760"/>
              <a:ext cx="1737360" cy="68580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Hồi cứu
</a:t>
              </a:r>
              <a:r>
                <a:rPr lang="en-US" sz="1200" dirty="0">
                  <a:solidFill>
                    <a:srgbClr val="5B6B76"/>
                  </a:solidFill>
                  <a:latin typeface="Calibri" pitchFamily="34" charset="0"/>
                  <a:ea typeface="Calibri" pitchFamily="34" charset="-122"/>
                  <a:cs typeface="Calibri" pitchFamily="34" charset="-120"/>
                </a:rPr>
                <a:t>đã có</a:t>
              </a:r>
              <a:endParaRPr lang="en-US" sz="1500" dirty="0"/>
            </a:p>
          </p:txBody>
        </p:sp>
        <p:sp>
          <p:nvSpPr>
            <p:cNvPr id="29" name="Shape 25"/>
            <p:cNvSpPr/>
            <p:nvPr/>
          </p:nvSpPr>
          <p:spPr>
            <a:xfrm>
              <a:off x="3017520" y="5285232"/>
              <a:ext cx="365760" cy="914"/>
            </a:xfrm>
            <a:prstGeom prst="line">
              <a:avLst/>
            </a:prstGeom>
            <a:noFill/>
            <a:ln w="31750">
              <a:solidFill>
                <a:srgbClr val="9AA7B0"/>
              </a:solidFill>
              <a:prstDash val="solid"/>
              <a:tailEnd type="triangle"/>
            </a:ln>
          </p:spPr>
          <p:txBody>
            <a:bodyPr/>
            <a:lstStyle/>
            <a:p>
              <a:endParaRPr lang="en-US"/>
            </a:p>
          </p:txBody>
        </p:sp>
        <p:sp>
          <p:nvSpPr>
            <p:cNvPr id="30" name="Shape 26"/>
            <p:cNvSpPr/>
            <p:nvPr/>
          </p:nvSpPr>
          <p:spPr>
            <a:xfrm>
              <a:off x="3474720" y="4983480"/>
              <a:ext cx="594360" cy="594360"/>
            </a:xfrm>
            <a:prstGeom prst="ellipse">
              <a:avLst/>
            </a:prstGeom>
            <a:solidFill>
              <a:srgbClr val="1F6F8B"/>
            </a:solidFill>
            <a:ln w="12700">
              <a:solidFill>
                <a:srgbClr val="1F6F8B"/>
              </a:solidFill>
              <a:prstDash val="solid"/>
            </a:ln>
          </p:spPr>
          <p:txBody>
            <a:bodyPr/>
            <a:lstStyle/>
            <a:p>
              <a:endParaRPr lang="en-US"/>
            </a:p>
          </p:txBody>
        </p:sp>
        <p:pic>
          <p:nvPicPr>
            <p:cNvPr id="31" name="Image 1" descr="preencoded.png"/>
            <p:cNvPicPr>
              <a:picLocks noChangeAspect="1"/>
            </p:cNvPicPr>
            <p:nvPr/>
          </p:nvPicPr>
          <p:blipFill>
            <a:blip r:embed="rId3"/>
            <a:stretch>
              <a:fillRect/>
            </a:stretch>
          </p:blipFill>
          <p:spPr>
            <a:xfrm>
              <a:off x="3617366" y="5126126"/>
              <a:ext cx="309067" cy="309067"/>
            </a:xfrm>
            <a:prstGeom prst="rect">
              <a:avLst/>
            </a:prstGeom>
          </p:spPr>
        </p:pic>
        <p:sp>
          <p:nvSpPr>
            <p:cNvPr id="32" name="Text 27"/>
            <p:cNvSpPr txBox="1"/>
            <p:nvPr/>
          </p:nvSpPr>
          <p:spPr>
            <a:xfrm>
              <a:off x="4160520" y="4937760"/>
              <a:ext cx="1737360" cy="68580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Chạy song song
</a:t>
              </a:r>
              <a:r>
                <a:rPr lang="en-US" sz="1200" dirty="0">
                  <a:solidFill>
                    <a:srgbClr val="5B6B76"/>
                  </a:solidFill>
                  <a:latin typeface="Calibri" pitchFamily="34" charset="0"/>
                  <a:ea typeface="Calibri" pitchFamily="34" charset="-122"/>
                  <a:cs typeface="Calibri" pitchFamily="34" charset="-120"/>
                </a:rPr>
                <a:t>không can thiệp</a:t>
              </a:r>
              <a:endParaRPr lang="en-US" sz="1500" dirty="0"/>
            </a:p>
          </p:txBody>
        </p:sp>
        <p:sp>
          <p:nvSpPr>
            <p:cNvPr id="33" name="Shape 28"/>
            <p:cNvSpPr/>
            <p:nvPr/>
          </p:nvSpPr>
          <p:spPr>
            <a:xfrm>
              <a:off x="5852160" y="5285232"/>
              <a:ext cx="365760" cy="914"/>
            </a:xfrm>
            <a:prstGeom prst="line">
              <a:avLst/>
            </a:prstGeom>
            <a:noFill/>
            <a:ln w="31750">
              <a:solidFill>
                <a:srgbClr val="9AA7B0"/>
              </a:solidFill>
              <a:prstDash val="solid"/>
              <a:tailEnd type="triangle"/>
            </a:ln>
          </p:spPr>
          <p:txBody>
            <a:bodyPr/>
            <a:lstStyle/>
            <a:p>
              <a:endParaRPr lang="en-US"/>
            </a:p>
          </p:txBody>
        </p:sp>
        <p:sp>
          <p:nvSpPr>
            <p:cNvPr id="34" name="Shape 29"/>
            <p:cNvSpPr/>
            <p:nvPr/>
          </p:nvSpPr>
          <p:spPr>
            <a:xfrm>
              <a:off x="6309360" y="4983480"/>
              <a:ext cx="594360" cy="594360"/>
            </a:xfrm>
            <a:prstGeom prst="ellipse">
              <a:avLst/>
            </a:prstGeom>
            <a:solidFill>
              <a:srgbClr val="E08A2E"/>
            </a:solidFill>
            <a:ln w="12700">
              <a:solidFill>
                <a:srgbClr val="E08A2E"/>
              </a:solidFill>
              <a:prstDash val="solid"/>
            </a:ln>
          </p:spPr>
          <p:txBody>
            <a:bodyPr/>
            <a:lstStyle/>
            <a:p>
              <a:endParaRPr lang="en-US"/>
            </a:p>
          </p:txBody>
        </p:sp>
        <p:pic>
          <p:nvPicPr>
            <p:cNvPr id="35" name="Image 2" descr="preencoded.png"/>
            <p:cNvPicPr>
              <a:picLocks noChangeAspect="1"/>
            </p:cNvPicPr>
            <p:nvPr/>
          </p:nvPicPr>
          <p:blipFill>
            <a:blip r:embed="rId4"/>
            <a:stretch>
              <a:fillRect/>
            </a:stretch>
          </p:blipFill>
          <p:spPr>
            <a:xfrm>
              <a:off x="6452006" y="5126126"/>
              <a:ext cx="309067" cy="309067"/>
            </a:xfrm>
            <a:prstGeom prst="rect">
              <a:avLst/>
            </a:prstGeom>
          </p:spPr>
        </p:pic>
        <p:sp>
          <p:nvSpPr>
            <p:cNvPr id="36" name="Text 30"/>
            <p:cNvSpPr txBox="1"/>
            <p:nvPr/>
          </p:nvSpPr>
          <p:spPr>
            <a:xfrm>
              <a:off x="6995160" y="4937760"/>
              <a:ext cx="1737360" cy="68580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Hiệu chỉnh
</a:t>
              </a:r>
              <a:r>
                <a:rPr lang="en-US" sz="1200" dirty="0">
                  <a:solidFill>
                    <a:srgbClr val="5B6B76"/>
                  </a:solidFill>
                  <a:latin typeface="Calibri" pitchFamily="34" charset="0"/>
                  <a:ea typeface="Calibri" pitchFamily="34" charset="-122"/>
                  <a:cs typeface="Calibri" pitchFamily="34" charset="-120"/>
                </a:rPr>
                <a:t>kiểm chứng lại</a:t>
              </a:r>
              <a:endParaRPr lang="en-US" sz="1500" dirty="0"/>
            </a:p>
          </p:txBody>
        </p:sp>
        <p:sp>
          <p:nvSpPr>
            <p:cNvPr id="37" name="Shape 31"/>
            <p:cNvSpPr/>
            <p:nvPr/>
          </p:nvSpPr>
          <p:spPr>
            <a:xfrm>
              <a:off x="8686800" y="5285232"/>
              <a:ext cx="365760" cy="914"/>
            </a:xfrm>
            <a:prstGeom prst="line">
              <a:avLst/>
            </a:prstGeom>
            <a:noFill/>
            <a:ln w="31750">
              <a:solidFill>
                <a:srgbClr val="9AA7B0"/>
              </a:solidFill>
              <a:prstDash val="solid"/>
              <a:tailEnd type="triangle"/>
            </a:ln>
          </p:spPr>
          <p:txBody>
            <a:bodyPr/>
            <a:lstStyle/>
            <a:p>
              <a:endParaRPr lang="en-US"/>
            </a:p>
          </p:txBody>
        </p:sp>
        <p:sp>
          <p:nvSpPr>
            <p:cNvPr id="38" name="Shape 32"/>
            <p:cNvSpPr/>
            <p:nvPr/>
          </p:nvSpPr>
          <p:spPr>
            <a:xfrm>
              <a:off x="9144000" y="4983480"/>
              <a:ext cx="594360" cy="594360"/>
            </a:xfrm>
            <a:prstGeom prst="ellipse">
              <a:avLst/>
            </a:prstGeom>
            <a:solidFill>
              <a:srgbClr val="A80000"/>
            </a:solidFill>
            <a:ln w="12700">
              <a:solidFill>
                <a:srgbClr val="A80000"/>
              </a:solidFill>
              <a:prstDash val="solid"/>
            </a:ln>
          </p:spPr>
          <p:txBody>
            <a:bodyPr/>
            <a:lstStyle/>
            <a:p>
              <a:endParaRPr lang="en-US"/>
            </a:p>
          </p:txBody>
        </p:sp>
        <p:pic>
          <p:nvPicPr>
            <p:cNvPr id="39" name="Image 3" descr="preencoded.png"/>
            <p:cNvPicPr>
              <a:picLocks noChangeAspect="1"/>
            </p:cNvPicPr>
            <p:nvPr/>
          </p:nvPicPr>
          <p:blipFill>
            <a:blip r:embed="rId5"/>
            <a:stretch>
              <a:fillRect/>
            </a:stretch>
          </p:blipFill>
          <p:spPr>
            <a:xfrm>
              <a:off x="9286646" y="5126126"/>
              <a:ext cx="309067" cy="309067"/>
            </a:xfrm>
            <a:prstGeom prst="rect">
              <a:avLst/>
            </a:prstGeom>
          </p:spPr>
        </p:pic>
        <p:sp>
          <p:nvSpPr>
            <p:cNvPr id="40" name="Text 33"/>
            <p:cNvSpPr txBox="1"/>
            <p:nvPr/>
          </p:nvSpPr>
          <p:spPr>
            <a:xfrm>
              <a:off x="9829800" y="4937760"/>
              <a:ext cx="1737360" cy="685800"/>
            </a:xfrm>
            <a:prstGeom prst="rect">
              <a:avLst/>
            </a:prstGeom>
            <a:noFill/>
            <a:ln/>
          </p:spPr>
          <p:txBody>
            <a:bodyPr wrap="square" lIns="0" tIns="0" rIns="0" bIns="0"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Tiến cứu
</a:t>
              </a:r>
              <a:r>
                <a:rPr lang="en-US" sz="1200" dirty="0">
                  <a:solidFill>
                    <a:srgbClr val="5B6B76"/>
                  </a:solidFill>
                  <a:latin typeface="Calibri" pitchFamily="34" charset="0"/>
                  <a:ea typeface="Calibri" pitchFamily="34" charset="-122"/>
                  <a:cs typeface="Calibri" pitchFamily="34" charset="-120"/>
                </a:rPr>
                <a:t>trước khi khuyến nghị</a:t>
              </a:r>
              <a:endParaRPr lang="en-US" sz="1500" dirty="0"/>
            </a:p>
          </p:txBody>
        </p:sp>
        <p:sp>
          <p:nvSpPr>
            <p:cNvPr id="41" name="Text 34"/>
            <p:cNvSpPr txBox="1"/>
            <p:nvPr/>
          </p:nvSpPr>
          <p:spPr>
            <a:xfrm>
              <a:off x="457200" y="6144768"/>
              <a:ext cx="11247120" cy="237744"/>
            </a:xfrm>
            <a:prstGeom prst="rect">
              <a:avLst/>
            </a:prstGeom>
            <a:noFill/>
            <a:ln/>
          </p:spPr>
          <p:txBody>
            <a:bodyPr wrap="square" lIns="0" tIns="0" rIns="0" bIns="0" rtlCol="0" anchor="t"/>
            <a:lstStyle/>
            <a:p>
              <a:pPr marL="0" indent="0">
                <a:buNone/>
              </a:pPr>
              <a:r>
                <a:rPr lang="en-US" sz="1000" i="1" dirty="0">
                  <a:solidFill>
                    <a:srgbClr val="8A99A4"/>
                  </a:solidFill>
                  <a:latin typeface="Calibri" pitchFamily="34" charset="0"/>
                  <a:ea typeface="Calibri" pitchFamily="34" charset="-122"/>
                  <a:cs typeface="Calibri" pitchFamily="34" charset="-120"/>
                </a:rPr>
                <a:t>23,8% (ICTA) và 9,81% (JMIR) không so sánh trực tiếp: khác dữ liệu, mô hình, đối chứng [23, 24]</a:t>
              </a:r>
              <a:endParaRPr lang="en-US" sz="1000" dirty="0"/>
            </a:p>
          </p:txBody>
        </p:sp>
      </p:grpSp>
      <p:sp>
        <p:nvSpPr>
          <p:cNvPr id="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FD744-FD53-4432-119F-D8907D71E2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B86BD5-1557-DF90-6379-85B9A98CFCBC}"/>
              </a:ext>
            </a:extLst>
          </p:cNvPr>
          <p:cNvSpPr>
            <a:spLocks noGrp="1"/>
          </p:cNvSpPr>
          <p:nvPr>
            <p:ph type="title" idx="103" hasCustomPrompt="1"/>
          </p:nvPr>
        </p:nvSpPr>
        <p:spPr>
          <a:xfrm>
            <a:off x="1234440" y="91440"/>
            <a:ext cx="905256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DEMO </a:t>
            </a:r>
            <a:r>
              <a:rPr lang="en-US" sz="2800" b="1" dirty="0" err="1">
                <a:solidFill>
                  <a:srgbClr val="FFFFFF"/>
                </a:solidFill>
                <a:latin typeface="Cambria" pitchFamily="34" charset="0"/>
                <a:ea typeface="Cambria" pitchFamily="34" charset="-122"/>
                <a:cs typeface="Cambria" pitchFamily="34" charset="-120"/>
              </a:rPr>
              <a:t>Bản</a:t>
            </a:r>
            <a:r>
              <a:rPr lang="en-US" sz="2800" b="1" dirty="0">
                <a:solidFill>
                  <a:srgbClr val="FFFFFF"/>
                </a:solidFill>
                <a:latin typeface="Cambria" pitchFamily="34" charset="0"/>
                <a:ea typeface="Cambria" pitchFamily="34" charset="-122"/>
                <a:cs typeface="Cambria" pitchFamily="34" charset="-120"/>
              </a:rPr>
              <a:t> </a:t>
            </a:r>
            <a:r>
              <a:rPr lang="en-US" sz="2800" b="1" dirty="0" err="1">
                <a:solidFill>
                  <a:srgbClr val="FFFFFF"/>
                </a:solidFill>
                <a:latin typeface="Cambria" pitchFamily="34" charset="0"/>
                <a:ea typeface="Cambria" pitchFamily="34" charset="-122"/>
                <a:cs typeface="Cambria" pitchFamily="34" charset="-120"/>
              </a:rPr>
              <a:t>sao</a:t>
            </a:r>
            <a:r>
              <a:rPr lang="en-US" sz="2800" b="1" dirty="0">
                <a:solidFill>
                  <a:srgbClr val="FFFFFF"/>
                </a:solidFill>
                <a:latin typeface="Cambria" pitchFamily="34" charset="0"/>
                <a:ea typeface="Cambria" pitchFamily="34" charset="-122"/>
                <a:cs typeface="Cambria" pitchFamily="34" charset="-120"/>
              </a:rPr>
              <a:t> </a:t>
            </a:r>
            <a:r>
              <a:rPr lang="en-US" sz="2800" b="1" dirty="0" err="1">
                <a:solidFill>
                  <a:srgbClr val="FFFFFF"/>
                </a:solidFill>
                <a:latin typeface="Cambria" pitchFamily="34" charset="0"/>
                <a:ea typeface="Cambria" pitchFamily="34" charset="-122"/>
                <a:cs typeface="Cambria" pitchFamily="34" charset="-120"/>
              </a:rPr>
              <a:t>số</a:t>
            </a:r>
            <a:r>
              <a:rPr lang="en-US" sz="2800" b="1" dirty="0">
                <a:solidFill>
                  <a:srgbClr val="FFFFFF"/>
                </a:solidFill>
                <a:latin typeface="Cambria" pitchFamily="34" charset="0"/>
                <a:ea typeface="Cambria" pitchFamily="34" charset="-122"/>
                <a:cs typeface="Cambria" pitchFamily="34" charset="-120"/>
              </a:rPr>
              <a:t> </a:t>
            </a:r>
            <a:r>
              <a:rPr lang="en-US" sz="2800" b="1" dirty="0" err="1">
                <a:solidFill>
                  <a:srgbClr val="FFFFFF"/>
                </a:solidFill>
                <a:latin typeface="Cambria" pitchFamily="34" charset="0"/>
                <a:ea typeface="Cambria" pitchFamily="34" charset="-122"/>
                <a:cs typeface="Cambria" pitchFamily="34" charset="-120"/>
              </a:rPr>
              <a:t>hỗ</a:t>
            </a:r>
            <a:r>
              <a:rPr lang="en-US" sz="2800" b="1" dirty="0">
                <a:solidFill>
                  <a:srgbClr val="FFFFFF"/>
                </a:solidFill>
                <a:latin typeface="Cambria" pitchFamily="34" charset="0"/>
                <a:ea typeface="Cambria" pitchFamily="34" charset="-122"/>
                <a:cs typeface="Cambria" pitchFamily="34" charset="-120"/>
              </a:rPr>
              <a:t> </a:t>
            </a:r>
            <a:r>
              <a:rPr lang="en-US" sz="2800" b="1" dirty="0" err="1">
                <a:solidFill>
                  <a:srgbClr val="FFFFFF"/>
                </a:solidFill>
                <a:latin typeface="Cambria" pitchFamily="34" charset="0"/>
                <a:ea typeface="Cambria" pitchFamily="34" charset="-122"/>
                <a:cs typeface="Cambria" pitchFamily="34" charset="-120"/>
              </a:rPr>
              <a:t>trợ</a:t>
            </a:r>
            <a:r>
              <a:rPr lang="en-US" sz="2800" b="1" dirty="0">
                <a:solidFill>
                  <a:srgbClr val="FFFFFF"/>
                </a:solidFill>
                <a:latin typeface="Cambria" pitchFamily="34" charset="0"/>
                <a:ea typeface="Cambria" pitchFamily="34" charset="-122"/>
                <a:cs typeface="Cambria" pitchFamily="34" charset="-120"/>
              </a:rPr>
              <a:t> </a:t>
            </a:r>
            <a:r>
              <a:rPr lang="en-US" sz="2800" b="1" dirty="0" err="1">
                <a:solidFill>
                  <a:srgbClr val="FFFFFF"/>
                </a:solidFill>
                <a:latin typeface="Cambria" pitchFamily="34" charset="0"/>
                <a:ea typeface="Cambria" pitchFamily="34" charset="-122"/>
                <a:cs typeface="Cambria" pitchFamily="34" charset="-120"/>
              </a:rPr>
              <a:t>xét</a:t>
            </a:r>
            <a:r>
              <a:rPr lang="en-US" sz="2800" b="1" dirty="0">
                <a:solidFill>
                  <a:srgbClr val="FFFFFF"/>
                </a:solidFill>
                <a:latin typeface="Cambria" pitchFamily="34" charset="0"/>
                <a:ea typeface="Cambria" pitchFamily="34" charset="-122"/>
                <a:cs typeface="Cambria" pitchFamily="34" charset="-120"/>
              </a:rPr>
              <a:t> </a:t>
            </a:r>
            <a:r>
              <a:rPr lang="en-US" sz="2800" b="1" dirty="0" err="1">
                <a:solidFill>
                  <a:srgbClr val="FFFFFF"/>
                </a:solidFill>
                <a:latin typeface="Cambria" pitchFamily="34" charset="0"/>
                <a:ea typeface="Cambria" pitchFamily="34" charset="-122"/>
                <a:cs typeface="Cambria" pitchFamily="34" charset="-120"/>
              </a:rPr>
              <a:t>nghiệm</a:t>
            </a:r>
            <a:endParaRPr lang="en-US" sz="2800" dirty="0"/>
          </a:p>
        </p:txBody>
      </p:sp>
      <p:sp>
        <p:nvSpPr>
          <p:cNvPr id="3" name="Shape 1">
            <a:extLst>
              <a:ext uri="{FF2B5EF4-FFF2-40B4-BE49-F238E27FC236}">
                <a16:creationId xmlns:a16="http://schemas.microsoft.com/office/drawing/2014/main" id="{28C0115C-DB1F-6A38-E003-CE281C7E0BE9}"/>
              </a:ext>
            </a:extLst>
          </p:cNvPr>
          <p:cNvSpPr/>
          <p:nvPr/>
        </p:nvSpPr>
        <p:spPr>
          <a:xfrm>
            <a:off x="457200" y="6510528"/>
            <a:ext cx="128016" cy="128016"/>
          </a:xfrm>
          <a:prstGeom prst="ellipse">
            <a:avLst/>
          </a:prstGeom>
          <a:solidFill>
            <a:srgbClr val="4B4B9C"/>
          </a:solidFill>
          <a:ln w="12700">
            <a:solidFill>
              <a:srgbClr val="4B4B9C"/>
            </a:solidFill>
            <a:prstDash val="solid"/>
          </a:ln>
        </p:spPr>
        <p:txBody>
          <a:bodyPr/>
          <a:lstStyle/>
          <a:p>
            <a:endParaRPr lang="en-US"/>
          </a:p>
        </p:txBody>
      </p:sp>
      <p:sp>
        <p:nvSpPr>
          <p:cNvPr id="4" name="Text 2">
            <a:extLst>
              <a:ext uri="{FF2B5EF4-FFF2-40B4-BE49-F238E27FC236}">
                <a16:creationId xmlns:a16="http://schemas.microsoft.com/office/drawing/2014/main" id="{389F9193-AE57-EDD2-FA03-25479297E69D}"/>
              </a:ext>
            </a:extLst>
          </p:cNvPr>
          <p:cNvSpPr txBox="1"/>
          <p:nvPr/>
        </p:nvSpPr>
        <p:spPr>
          <a:xfrm>
            <a:off x="658368" y="6446520"/>
            <a:ext cx="5486400" cy="256032"/>
          </a:xfrm>
          <a:prstGeom prst="rect">
            <a:avLst/>
          </a:prstGeom>
          <a:noFill/>
          <a:ln/>
        </p:spPr>
        <p:txBody>
          <a:bodyPr wrap="square" lIns="0" tIns="0" rIns="0" bIns="0" rtlCol="0" anchor="ctr"/>
          <a:lstStyle/>
          <a:p>
            <a:pPr marL="0" indent="0">
              <a:buNone/>
            </a:pPr>
            <a:r>
              <a:rPr lang="en-US" sz="1100" b="1" kern="0" spc="100" dirty="0">
                <a:solidFill>
                  <a:srgbClr val="4B4B9C"/>
                </a:solidFill>
                <a:latin typeface="Calibri" pitchFamily="34" charset="0"/>
                <a:ea typeface="Calibri" pitchFamily="34" charset="-122"/>
                <a:cs typeface="Calibri" pitchFamily="34" charset="-120"/>
              </a:rPr>
              <a:t>4 · BẢN SAO SỐ</a:t>
            </a:r>
            <a:endParaRPr lang="en-US" sz="1100" dirty="0"/>
          </a:p>
        </p:txBody>
      </p:sp>
      <p:sp>
        <p:nvSpPr>
          <p:cNvPr id="5" name="Slide Number Placeholder 0">
            <a:extLst>
              <a:ext uri="{FF2B5EF4-FFF2-40B4-BE49-F238E27FC236}">
                <a16:creationId xmlns:a16="http://schemas.microsoft.com/office/drawing/2014/main" id="{D2FAE36B-3E9B-1396-A911-282C522D9911}"/>
              </a:ext>
            </a:extLst>
          </p:cNvPr>
          <p:cNvSpPr>
            <a:spLocks noGrp="1"/>
          </p:cNvSpPr>
          <p:nvPr>
            <p:ph type="sldNum" sz="quarter" idx="4294967295"/>
          </p:nvPr>
        </p:nvSpPr>
        <p:spPr>
          <a:xfrm>
            <a:off x="11274552" y="647395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9A4"/>
                </a:solidFill>
                <a:latin typeface="Calibri"/>
                <a:ea typeface="Calibri"/>
                <a:cs typeface="Calibri"/>
              </a:defRPr>
            </a:lvl1pPr>
          </a:lstStyle>
          <a:p>
            <a:pPr algn="r"/>
            <a:fld id="{F7021451-1387-4CA6-816F-3879F97B5CBC}" type="slidenum">
              <a:rPr lang="en-US" b="0"/>
              <a:t>36</a:t>
            </a:fld>
            <a:endParaRPr lang="en-US"/>
          </a:p>
        </p:txBody>
      </p:sp>
      <p:pic>
        <p:nvPicPr>
          <p:cNvPr id="6" name="Online Media 5" title="AIRC | Digital Twin Y Tế: Giải Pháp Cảnh Báo Điểm Nghẽn &amp; Dự Báo Chính Xác Giờ Trả Kết Quả">
            <a:hlinkClick r:id="" action="ppaction://media"/>
            <a:extLst>
              <a:ext uri="{FF2B5EF4-FFF2-40B4-BE49-F238E27FC236}">
                <a16:creationId xmlns:a16="http://schemas.microsoft.com/office/drawing/2014/main" id="{F89C33AC-B9D8-A113-8487-A68FEE126DBC}"/>
              </a:ext>
            </a:extLst>
          </p:cNvPr>
          <p:cNvPicPr>
            <a:picLocks noRot="1" noChangeAspect="1"/>
          </p:cNvPicPr>
          <p:nvPr>
            <a:videoFile r:link="rId1"/>
          </p:nvPr>
        </p:nvPicPr>
        <p:blipFill>
          <a:blip r:embed="rId3"/>
          <a:stretch>
            <a:fillRect/>
          </a:stretch>
        </p:blipFill>
        <p:spPr>
          <a:xfrm>
            <a:off x="53602" y="967346"/>
            <a:ext cx="12138398" cy="5376698"/>
          </a:xfrm>
          <a:prstGeom prst="rect">
            <a:avLst/>
          </a:prstGeom>
        </p:spPr>
      </p:pic>
    </p:spTree>
    <p:extLst>
      <p:ext uri="{BB962C8B-B14F-4D97-AF65-F5344CB8AC3E}">
        <p14:creationId xmlns:p14="http://schemas.microsoft.com/office/powerpoint/2010/main" val="52396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home/claude/deck/img/band_title.png"/>
          <p:cNvPicPr>
            <a:picLocks noChangeAspect="1"/>
          </p:cNvPicPr>
          <p:nvPr/>
        </p:nvPicPr>
        <p:blipFill>
          <a:blip r:embed="rId2"/>
          <a:stretch>
            <a:fillRect/>
          </a:stretch>
        </p:blipFill>
        <p:spPr>
          <a:xfrm>
            <a:off x="0" y="0"/>
            <a:ext cx="12191695" cy="2743200"/>
          </a:xfrm>
          <a:prstGeom prst="rect">
            <a:avLst/>
          </a:prstGeom>
        </p:spPr>
      </p:pic>
      <p:pic>
        <p:nvPicPr>
          <p:cNvPr id="3" name="Image 1" descr="/home/claude/deck/img/airc_logo.png"/>
          <p:cNvPicPr>
            <a:picLocks noChangeAspect="1"/>
          </p:cNvPicPr>
          <p:nvPr/>
        </p:nvPicPr>
        <p:blipFill>
          <a:blip r:embed="rId3"/>
          <a:stretch>
            <a:fillRect/>
          </a:stretch>
        </p:blipFill>
        <p:spPr>
          <a:xfrm>
            <a:off x="10241280" y="274320"/>
            <a:ext cx="1600200" cy="1600200"/>
          </a:xfrm>
          <a:prstGeom prst="rect">
            <a:avLst/>
          </a:prstGeom>
        </p:spPr>
      </p:pic>
      <p:sp>
        <p:nvSpPr>
          <p:cNvPr id="4" name="Text 0"/>
          <p:cNvSpPr txBox="1"/>
          <p:nvPr/>
        </p:nvSpPr>
        <p:spPr>
          <a:xfrm>
            <a:off x="685800" y="502920"/>
            <a:ext cx="8229600" cy="8229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Xin cảm ơn thầy cô!</a:t>
            </a:r>
            <a:endParaRPr lang="en-US" sz="4400" dirty="0"/>
          </a:p>
        </p:txBody>
      </p:sp>
      <p:sp>
        <p:nvSpPr>
          <p:cNvPr id="5" name="Text 1"/>
          <p:cNvSpPr txBox="1"/>
          <p:nvPr/>
        </p:nvSpPr>
        <p:spPr>
          <a:xfrm>
            <a:off x="685800" y="1463040"/>
            <a:ext cx="9144000" cy="548640"/>
          </a:xfrm>
          <a:prstGeom prst="rect">
            <a:avLst/>
          </a:prstGeom>
          <a:noFill/>
          <a:ln/>
        </p:spPr>
        <p:txBody>
          <a:bodyPr wrap="square" lIns="0" tIns="0" rIns="0" bIns="0" rtlCol="0" anchor="ctr"/>
          <a:lstStyle/>
          <a:p>
            <a:pPr marL="0" indent="0">
              <a:buNone/>
            </a:pPr>
            <a:r>
              <a:rPr lang="en-US" sz="2100" i="1" dirty="0">
                <a:solidFill>
                  <a:srgbClr val="FFFFFF"/>
                </a:solidFill>
                <a:latin typeface="Calibri" pitchFamily="34" charset="0"/>
                <a:ea typeface="Calibri" pitchFamily="34" charset="-122"/>
                <a:cs typeface="Calibri" pitchFamily="34" charset="-120"/>
              </a:rPr>
              <a:t>Viện Công nghệ Thông tin, ĐHQGHN  ·  Trường Đại học Hùng Vương</a:t>
            </a:r>
            <a:endParaRPr lang="en-US" sz="2100" dirty="0"/>
          </a:p>
        </p:txBody>
      </p:sp>
      <p:grpSp>
        <p:nvGrpSpPr>
          <p:cNvPr id="22" name="Group 21">
            <a:extLst>
              <a:ext uri="{FF2B5EF4-FFF2-40B4-BE49-F238E27FC236}">
                <a16:creationId xmlns:a16="http://schemas.microsoft.com/office/drawing/2014/main" id="{C8A7525F-317C-F4E3-FACB-F9FDFCF8E22F}"/>
              </a:ext>
            </a:extLst>
          </p:cNvPr>
          <p:cNvGrpSpPr/>
          <p:nvPr/>
        </p:nvGrpSpPr>
        <p:grpSpPr>
          <a:xfrm>
            <a:off x="548640" y="3063240"/>
            <a:ext cx="11201400" cy="2057400"/>
            <a:chOff x="548640" y="3063240"/>
            <a:chExt cx="11201400" cy="2057400"/>
          </a:xfrm>
        </p:grpSpPr>
        <p:sp>
          <p:nvSpPr>
            <p:cNvPr id="6" name="Shape 2"/>
            <p:cNvSpPr/>
            <p:nvPr/>
          </p:nvSpPr>
          <p:spPr>
            <a:xfrm>
              <a:off x="1965960" y="3063240"/>
              <a:ext cx="822960" cy="822960"/>
            </a:xfrm>
            <a:prstGeom prst="ellipse">
              <a:avLst/>
            </a:prstGeom>
            <a:solidFill>
              <a:srgbClr val="1F6F8B"/>
            </a:solidFill>
            <a:ln w="12700">
              <a:solidFill>
                <a:srgbClr val="1F6F8B"/>
              </a:solidFill>
              <a:prstDash val="solid"/>
            </a:ln>
          </p:spPr>
          <p:txBody>
            <a:bodyPr/>
            <a:lstStyle/>
            <a:p>
              <a:endParaRPr lang="en-US"/>
            </a:p>
          </p:txBody>
        </p:sp>
        <p:pic>
          <p:nvPicPr>
            <p:cNvPr id="7" name="Image 2" descr="preencoded.png"/>
            <p:cNvPicPr>
              <a:picLocks noChangeAspect="1"/>
            </p:cNvPicPr>
            <p:nvPr/>
          </p:nvPicPr>
          <p:blipFill>
            <a:blip r:embed="rId4"/>
            <a:stretch>
              <a:fillRect/>
            </a:stretch>
          </p:blipFill>
          <p:spPr>
            <a:xfrm>
              <a:off x="2163470" y="3260750"/>
              <a:ext cx="427939" cy="427939"/>
            </a:xfrm>
            <a:prstGeom prst="rect">
              <a:avLst/>
            </a:prstGeom>
          </p:spPr>
        </p:pic>
        <p:sp>
          <p:nvSpPr>
            <p:cNvPr id="8" name="Text 3"/>
            <p:cNvSpPr txBox="1"/>
            <p:nvPr/>
          </p:nvSpPr>
          <p:spPr>
            <a:xfrm>
              <a:off x="548640" y="4023360"/>
              <a:ext cx="3611880" cy="457200"/>
            </a:xfrm>
            <a:prstGeom prst="rect">
              <a:avLst/>
            </a:prstGeom>
            <a:noFill/>
            <a:ln/>
          </p:spPr>
          <p:txBody>
            <a:bodyPr wrap="square" lIns="0" tIns="0" rIns="0" bIns="0" rtlCol="0" anchor="t"/>
            <a:lstStyle/>
            <a:p>
              <a:pPr marL="0" indent="0" algn="ctr">
                <a:buNone/>
              </a:pPr>
              <a:r>
                <a:rPr lang="en-US" sz="2000" b="1" dirty="0">
                  <a:solidFill>
                    <a:srgbClr val="1F6F8B"/>
                  </a:solidFill>
                  <a:latin typeface="Cambria" pitchFamily="34" charset="0"/>
                  <a:ea typeface="Cambria" pitchFamily="34" charset="-122"/>
                  <a:cs typeface="Cambria" pitchFamily="34" charset="-120"/>
                </a:rPr>
                <a:t>Từ bài toán thực tiễn</a:t>
              </a:r>
              <a:endParaRPr lang="en-US" sz="2000" dirty="0"/>
            </a:p>
          </p:txBody>
        </p:sp>
        <p:sp>
          <p:nvSpPr>
            <p:cNvPr id="9" name="Text 4"/>
            <p:cNvSpPr txBox="1"/>
            <p:nvPr/>
          </p:nvSpPr>
          <p:spPr>
            <a:xfrm>
              <a:off x="548640" y="4480560"/>
              <a:ext cx="3611880" cy="640080"/>
            </a:xfrm>
            <a:prstGeom prst="rect">
              <a:avLst/>
            </a:prstGeom>
            <a:noFill/>
            <a:ln/>
          </p:spPr>
          <p:txBody>
            <a:bodyPr wrap="square" lIns="0" tIns="0" rIns="0" bIns="0" rtlCol="0" anchor="t"/>
            <a:lstStyle/>
            <a:p>
              <a:pPr marL="0" indent="0" algn="ctr">
                <a:buNone/>
              </a:pPr>
              <a:r>
                <a:rPr lang="en-US" sz="1600" dirty="0">
                  <a:solidFill>
                    <a:srgbClr val="13293D"/>
                  </a:solidFill>
                  <a:latin typeface="Calibri" pitchFamily="34" charset="0"/>
                  <a:ea typeface="Calibri" pitchFamily="34" charset="-122"/>
                  <a:cs typeface="Calibri" pitchFamily="34" charset="-120"/>
                </a:rPr>
                <a:t>đến nghiên cứu khoa học có tính mới</a:t>
              </a:r>
              <a:endParaRPr lang="en-US" sz="1600" dirty="0"/>
            </a:p>
          </p:txBody>
        </p:sp>
        <p:sp>
          <p:nvSpPr>
            <p:cNvPr id="10" name="Shape 5"/>
            <p:cNvSpPr/>
            <p:nvPr/>
          </p:nvSpPr>
          <p:spPr>
            <a:xfrm>
              <a:off x="4160520" y="3474720"/>
              <a:ext cx="182880" cy="914"/>
            </a:xfrm>
            <a:prstGeom prst="line">
              <a:avLst/>
            </a:prstGeom>
            <a:noFill/>
            <a:ln w="38100">
              <a:solidFill>
                <a:srgbClr val="B8C4CC"/>
              </a:solidFill>
              <a:prstDash val="solid"/>
              <a:tailEnd type="triangle"/>
            </a:ln>
          </p:spPr>
          <p:txBody>
            <a:bodyPr/>
            <a:lstStyle/>
            <a:p>
              <a:endParaRPr lang="en-US"/>
            </a:p>
          </p:txBody>
        </p:sp>
        <p:sp>
          <p:nvSpPr>
            <p:cNvPr id="11" name="Shape 6"/>
            <p:cNvSpPr/>
            <p:nvPr/>
          </p:nvSpPr>
          <p:spPr>
            <a:xfrm>
              <a:off x="5760720" y="3063240"/>
              <a:ext cx="822960" cy="822960"/>
            </a:xfrm>
            <a:prstGeom prst="ellipse">
              <a:avLst/>
            </a:prstGeom>
            <a:solidFill>
              <a:srgbClr val="A80000"/>
            </a:solidFill>
            <a:ln w="12700">
              <a:solidFill>
                <a:srgbClr val="A80000"/>
              </a:solidFill>
              <a:prstDash val="solid"/>
            </a:ln>
          </p:spPr>
          <p:txBody>
            <a:bodyPr/>
            <a:lstStyle/>
            <a:p>
              <a:endParaRPr lang="en-US"/>
            </a:p>
          </p:txBody>
        </p:sp>
        <p:pic>
          <p:nvPicPr>
            <p:cNvPr id="12" name="Image 3" descr="preencoded.png"/>
            <p:cNvPicPr>
              <a:picLocks noChangeAspect="1"/>
            </p:cNvPicPr>
            <p:nvPr/>
          </p:nvPicPr>
          <p:blipFill>
            <a:blip r:embed="rId5"/>
            <a:stretch>
              <a:fillRect/>
            </a:stretch>
          </p:blipFill>
          <p:spPr>
            <a:xfrm>
              <a:off x="5958230" y="3260750"/>
              <a:ext cx="427939" cy="427939"/>
            </a:xfrm>
            <a:prstGeom prst="rect">
              <a:avLst/>
            </a:prstGeom>
          </p:spPr>
        </p:pic>
        <p:sp>
          <p:nvSpPr>
            <p:cNvPr id="13" name="Text 7"/>
            <p:cNvSpPr txBox="1"/>
            <p:nvPr/>
          </p:nvSpPr>
          <p:spPr>
            <a:xfrm>
              <a:off x="4343400" y="4023360"/>
              <a:ext cx="3611880" cy="457200"/>
            </a:xfrm>
            <a:prstGeom prst="rect">
              <a:avLst/>
            </a:prstGeom>
            <a:noFill/>
            <a:ln/>
          </p:spPr>
          <p:txBody>
            <a:bodyPr wrap="square" lIns="0" tIns="0" rIns="0" bIns="0" rtlCol="0" anchor="t"/>
            <a:lstStyle/>
            <a:p>
              <a:pPr marL="0" indent="0" algn="ctr">
                <a:buNone/>
              </a:pPr>
              <a:r>
                <a:rPr lang="en-US" sz="2000" b="1" dirty="0">
                  <a:solidFill>
                    <a:srgbClr val="A80000"/>
                  </a:solidFill>
                  <a:latin typeface="Cambria" pitchFamily="34" charset="0"/>
                  <a:ea typeface="Cambria" pitchFamily="34" charset="-122"/>
                  <a:cs typeface="Cambria" pitchFamily="34" charset="-120"/>
                </a:rPr>
                <a:t>Từ công bố quốc tế</a:t>
              </a:r>
              <a:endParaRPr lang="en-US" sz="2000" dirty="0"/>
            </a:p>
          </p:txBody>
        </p:sp>
        <p:sp>
          <p:nvSpPr>
            <p:cNvPr id="14" name="Text 8"/>
            <p:cNvSpPr txBox="1"/>
            <p:nvPr/>
          </p:nvSpPr>
          <p:spPr>
            <a:xfrm>
              <a:off x="4343400" y="4480560"/>
              <a:ext cx="3611880" cy="640080"/>
            </a:xfrm>
            <a:prstGeom prst="rect">
              <a:avLst/>
            </a:prstGeom>
            <a:noFill/>
            <a:ln/>
          </p:spPr>
          <p:txBody>
            <a:bodyPr wrap="square" lIns="0" tIns="0" rIns="0" bIns="0" rtlCol="0" anchor="t"/>
            <a:lstStyle/>
            <a:p>
              <a:pPr marL="0" indent="0" algn="ctr">
                <a:buNone/>
              </a:pPr>
              <a:r>
                <a:rPr lang="en-US" sz="1600" dirty="0">
                  <a:solidFill>
                    <a:srgbClr val="13293D"/>
                  </a:solidFill>
                  <a:latin typeface="Calibri" pitchFamily="34" charset="0"/>
                  <a:ea typeface="Calibri" pitchFamily="34" charset="-122"/>
                  <a:cs typeface="Calibri" pitchFamily="34" charset="-120"/>
                </a:rPr>
                <a:t>đến sở hữu trí tuệ</a:t>
              </a:r>
              <a:endParaRPr lang="en-US" sz="1600" dirty="0"/>
            </a:p>
          </p:txBody>
        </p:sp>
        <p:sp>
          <p:nvSpPr>
            <p:cNvPr id="15" name="Shape 9"/>
            <p:cNvSpPr/>
            <p:nvPr/>
          </p:nvSpPr>
          <p:spPr>
            <a:xfrm>
              <a:off x="7955280" y="3474720"/>
              <a:ext cx="182880" cy="914"/>
            </a:xfrm>
            <a:prstGeom prst="line">
              <a:avLst/>
            </a:prstGeom>
            <a:noFill/>
            <a:ln w="38100">
              <a:solidFill>
                <a:srgbClr val="B8C4CC"/>
              </a:solidFill>
              <a:prstDash val="solid"/>
              <a:tailEnd type="triangle"/>
            </a:ln>
          </p:spPr>
          <p:txBody>
            <a:bodyPr/>
            <a:lstStyle/>
            <a:p>
              <a:endParaRPr lang="en-US"/>
            </a:p>
          </p:txBody>
        </p:sp>
        <p:sp>
          <p:nvSpPr>
            <p:cNvPr id="16" name="Shape 10"/>
            <p:cNvSpPr/>
            <p:nvPr/>
          </p:nvSpPr>
          <p:spPr>
            <a:xfrm>
              <a:off x="9555480" y="3063240"/>
              <a:ext cx="822960" cy="822960"/>
            </a:xfrm>
            <a:prstGeom prst="ellipse">
              <a:avLst/>
            </a:prstGeom>
            <a:solidFill>
              <a:srgbClr val="E08A2E"/>
            </a:solidFill>
            <a:ln w="12700">
              <a:solidFill>
                <a:srgbClr val="E08A2E"/>
              </a:solidFill>
              <a:prstDash val="solid"/>
            </a:ln>
          </p:spPr>
          <p:txBody>
            <a:bodyPr/>
            <a:lstStyle/>
            <a:p>
              <a:endParaRPr lang="en-US"/>
            </a:p>
          </p:txBody>
        </p:sp>
        <p:pic>
          <p:nvPicPr>
            <p:cNvPr id="17" name="Image 4" descr="preencoded.png"/>
            <p:cNvPicPr>
              <a:picLocks noChangeAspect="1"/>
            </p:cNvPicPr>
            <p:nvPr/>
          </p:nvPicPr>
          <p:blipFill>
            <a:blip r:embed="rId6"/>
            <a:stretch>
              <a:fillRect/>
            </a:stretch>
          </p:blipFill>
          <p:spPr>
            <a:xfrm>
              <a:off x="9752990" y="3260750"/>
              <a:ext cx="427939" cy="427939"/>
            </a:xfrm>
            <a:prstGeom prst="rect">
              <a:avLst/>
            </a:prstGeom>
          </p:spPr>
        </p:pic>
        <p:sp>
          <p:nvSpPr>
            <p:cNvPr id="18" name="Text 11"/>
            <p:cNvSpPr txBox="1"/>
            <p:nvPr/>
          </p:nvSpPr>
          <p:spPr>
            <a:xfrm>
              <a:off x="8138160" y="4023360"/>
              <a:ext cx="3611880" cy="457200"/>
            </a:xfrm>
            <a:prstGeom prst="rect">
              <a:avLst/>
            </a:prstGeom>
            <a:noFill/>
            <a:ln/>
          </p:spPr>
          <p:txBody>
            <a:bodyPr wrap="square" lIns="0" tIns="0" rIns="0" bIns="0" rtlCol="0" anchor="t"/>
            <a:lstStyle/>
            <a:p>
              <a:pPr marL="0" indent="0" algn="ctr">
                <a:buNone/>
              </a:pPr>
              <a:r>
                <a:rPr lang="en-US" sz="2000" b="1" dirty="0">
                  <a:solidFill>
                    <a:srgbClr val="E08A2E"/>
                  </a:solidFill>
                  <a:latin typeface="Cambria" pitchFamily="34" charset="0"/>
                  <a:ea typeface="Cambria" pitchFamily="34" charset="-122"/>
                  <a:cs typeface="Cambria" pitchFamily="34" charset="-120"/>
                </a:rPr>
                <a:t>Từ nguyên mẫu AI</a:t>
              </a:r>
              <a:endParaRPr lang="en-US" sz="2000" dirty="0"/>
            </a:p>
          </p:txBody>
        </p:sp>
        <p:sp>
          <p:nvSpPr>
            <p:cNvPr id="19" name="Text 12"/>
            <p:cNvSpPr txBox="1"/>
            <p:nvPr/>
          </p:nvSpPr>
          <p:spPr>
            <a:xfrm>
              <a:off x="8138160" y="4480560"/>
              <a:ext cx="3611880" cy="640080"/>
            </a:xfrm>
            <a:prstGeom prst="rect">
              <a:avLst/>
            </a:prstGeom>
            <a:noFill/>
            <a:ln/>
          </p:spPr>
          <p:txBody>
            <a:bodyPr wrap="square" lIns="0" tIns="0" rIns="0" bIns="0" rtlCol="0" anchor="t"/>
            <a:lstStyle/>
            <a:p>
              <a:pPr marL="0" indent="0" algn="ctr">
                <a:buNone/>
              </a:pPr>
              <a:r>
                <a:rPr lang="en-US" sz="1600" dirty="0">
                  <a:solidFill>
                    <a:srgbClr val="13293D"/>
                  </a:solidFill>
                  <a:latin typeface="Calibri" pitchFamily="34" charset="0"/>
                  <a:ea typeface="Calibri" pitchFamily="34" charset="-122"/>
                  <a:cs typeface="Calibri" pitchFamily="34" charset="-120"/>
                </a:rPr>
                <a:t>đến sản phẩm ứng dụng, chuyển giao</a:t>
              </a:r>
              <a:endParaRPr lang="en-US" sz="1600" dirty="0"/>
            </a:p>
          </p:txBody>
        </p:sp>
      </p:grpSp>
      <p:pic>
        <p:nvPicPr>
          <p:cNvPr id="21" name="Logo ITI"/>
          <p:cNvPicPr>
            <a:picLocks noChangeAspect="1"/>
          </p:cNvPicPr>
          <p:nvPr/>
        </p:nvPicPr>
        <p:blipFill>
          <a:blip r:embed="rId7"/>
          <a:stretch>
            <a:fillRect/>
          </a:stretch>
        </p:blipFill>
        <p:spPr>
          <a:xfrm>
            <a:off x="8631936" y="321918"/>
            <a:ext cx="1472184" cy="1505003"/>
          </a:xfrm>
          <a:prstGeom prst="rect">
            <a:avLst/>
          </a:prstGeom>
        </p:spPr>
      </p:pic>
    </p:spTree>
  </p:cSld>
  <p:clrMapOvr>
    <a:masterClrMapping/>
  </p:clrMapOvr>
</p:sld>
</file>

<file path=ppt/theme/theme1.xml><?xml version="1.0" encoding="utf-8"?>
<a:theme xmlns:a="http://schemas.openxmlformats.org/drawingml/2006/main" name="VNU AIRC Digital Twin">
  <a:themeElements>
    <a:clrScheme name="VNU AIRC Digital Twin">
      <a:dk1>
        <a:srgbClr val="1E2A32"/>
      </a:dk1>
      <a:lt1>
        <a:srgbClr val="FFFFFF"/>
      </a:lt1>
      <a:dk2>
        <a:srgbClr val="13293D"/>
      </a:dk2>
      <a:lt2>
        <a:srgbClr val="F3F6F8"/>
      </a:lt2>
      <a:accent1>
        <a:srgbClr val="A80000"/>
      </a:accent1>
      <a:accent2>
        <a:srgbClr val="1F6F8B"/>
      </a:accent2>
      <a:accent3>
        <a:srgbClr val="1BA39C"/>
      </a:accent3>
      <a:accent4>
        <a:srgbClr val="E08A2E"/>
      </a:accent4>
      <a:accent5>
        <a:srgbClr val="4B4B9C"/>
      </a:accent5>
      <a:accent6>
        <a:srgbClr val="2D6A9F"/>
      </a:accent6>
      <a:hlink>
        <a:srgbClr val="1F6F8B"/>
      </a:hlink>
      <a:folHlink>
        <a:srgbClr val="4B4B9C"/>
      </a:folHlink>
    </a:clrScheme>
    <a:fontScheme name="VNU AIRC Digital 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3402</Words>
  <Application>Microsoft Office PowerPoint</Application>
  <PresentationFormat>Widescreen</PresentationFormat>
  <Paragraphs>618</Paragraphs>
  <Slides>37</Slides>
  <Notes>1</Notes>
  <HiddenSlides>0</HiddenSlides>
  <MMClips>6</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Cambria</vt:lpstr>
      <vt:lpstr>DejaVu Sans</vt:lpstr>
      <vt:lpstr>VNU AIRC Digital Twin</vt:lpstr>
      <vt:lpstr>PowerPoint Presentation</vt:lpstr>
      <vt:lpstr>NỘI DUNG</vt:lpstr>
      <vt:lpstr>PowerPoint Presentation</vt:lpstr>
      <vt:lpstr>AI năm 2026: từ mô hình riêng lẻ đến hệ thống tích hợp</vt:lpstr>
      <vt:lpstr>AI năm 2026: từ mô hình riêng lẻ đến hệ thống tích hợp</vt:lpstr>
      <vt:lpstr>Năm xu hướng nghiên cứu AI chủ đạo</vt:lpstr>
      <vt:lpstr>Việt Nam: chính sách đã có, năng lực cần tăng</vt:lpstr>
      <vt:lpstr>Đánh giá năng lực AI: không chỉ đếm bài WoS/Scopus</vt:lpstr>
      <vt:lpstr>PowerPoint Presentation</vt:lpstr>
      <vt:lpstr>Bảy hướng nghiên cứu ưu tiên từ năm 2026</vt:lpstr>
      <vt:lpstr>Bảy hướng nghiên cứu ưu tiên từ năm 2026</vt:lpstr>
      <vt:lpstr>Mô hình suy luận và tác tử AI</vt:lpstr>
      <vt:lpstr>Mô hình AI chuyên ngành và AI tiếng Việt</vt:lpstr>
      <vt:lpstr>Đa phương thức và mô hình lai</vt:lpstr>
      <vt:lpstr>AI tin cậy và có trách nhiệm</vt:lpstr>
      <vt:lpstr>PowerPoint Presentation</vt:lpstr>
      <vt:lpstr>Viện CNTT và Trung tâm AIRC</vt:lpstr>
      <vt:lpstr>Viện CNTT và Trung tâm AIRC</vt:lpstr>
      <vt:lpstr>VNU-DIAGNOSIS: AI hỗ trợ chẩn đoán nha khoa</vt:lpstr>
      <vt:lpstr>Video: VNU-DIAGNOSIS chẩn đoán viêm quanh cuống</vt:lpstr>
      <vt:lpstr>AIRC-KNEE: đánh giá thoái hóa khớp gối</vt:lpstr>
      <vt:lpstr>AI đa phương thức: hỏi đáp ảnh, camera, cảm xúc</vt:lpstr>
      <vt:lpstr>Video: Camera AI giám sát và nhận diện khuôn mặt</vt:lpstr>
      <vt:lpstr>Tính toán mờ và AIoT: từ tri thức đến phần cứng</vt:lpstr>
      <vt:lpstr>Thực tập sinh AIRC: từ Viện CNTT ra quốc tế</vt:lpstr>
      <vt:lpstr>PowerPoint Presentation</vt:lpstr>
      <vt:lpstr>Bản sao số</vt:lpstr>
      <vt:lpstr>Mô hình số · Bóng số · Bản sao số</vt:lpstr>
      <vt:lpstr>Khung tổ chức bốn tầng</vt:lpstr>
      <vt:lpstr>AI trong bản sao số: bốn nhóm chức năng</vt:lpstr>
      <vt:lpstr>Bài toán thật: điều phối xét nghiệm Fork–Join</vt:lpstr>
      <vt:lpstr>Nghiên cứu 1 (ICTA 2026): kết quả</vt:lpstr>
      <vt:lpstr>Nghiên cứu 2 (bản thảo JMIR): thiết kế dữ liệu</vt:lpstr>
      <vt:lpstr>Nghiên cứu 2: kết quả trên 31 ngày giữ riêng</vt:lpstr>
      <vt:lpstr>Khoảng cách mô phỏng – vận hành</vt:lpstr>
      <vt:lpstr>DEMO Bản sao số hỗ trợ xét nghiệm</vt:lpstr>
      <vt:lpstr>PowerPoint Presentation</vt:lpstr>
    </vt:vector>
  </TitlesOfParts>
  <Company>VNU AIRC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Một số hướng nghiên cứu hiện đại về AI, sản phẩm AI tại Viện CNTT và tiềm năng bản sao số</dc:title>
  <dc:subject>PptxGenJS Presentation</dc:subject>
  <dc:creator>PGS.TS. Lê Hoàng Sơn</dc:creator>
  <cp:lastModifiedBy>K72A05_37_Lê Hoàng Sơn</cp:lastModifiedBy>
  <cp:revision>9</cp:revision>
  <dcterms:created xsi:type="dcterms:W3CDTF">2026-10-15T13:36:29Z</dcterms:created>
  <dcterms:modified xsi:type="dcterms:W3CDTF">2026-10-25T13:39:44Z</dcterms:modified>
</cp:coreProperties>
</file>