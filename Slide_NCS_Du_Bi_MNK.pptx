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1" r:id="rId3"/>
    <p:sldId id="272" r:id="rId4"/>
    <p:sldId id="273" r:id="rId5"/>
    <p:sldId id="274" r:id="rId6"/>
    <p:sldId id="275" r:id="rId7"/>
    <p:sldId id="276" r:id="rId8"/>
    <p:sldId id="277" r:id="rId9"/>
    <p:sldId id="278" r:id="rId10"/>
    <p:sldId id="279" r:id="rId11"/>
    <p:sldId id="281" r:id="rId12"/>
    <p:sldId id="280" r:id="rId13"/>
    <p:sldId id="269" r:id="rId14"/>
    <p:sldId id="270" r:id="rId15"/>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8" d="100"/>
          <a:sy n="88" d="100"/>
        </p:scale>
        <p:origin x="762"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78788" y="2346782"/>
            <a:ext cx="12080875" cy="360680"/>
          </a:xfrm>
          <a:prstGeom prst="rect">
            <a:avLst/>
          </a:prstGeom>
        </p:spPr>
        <p:txBody>
          <a:bodyPr wrap="square" lIns="0" tIns="0" rIns="0" bIns="0">
            <a:spAutoFit/>
          </a:bodyPr>
          <a:lstStyle>
            <a:lvl1pPr>
              <a:defRPr sz="3300" b="1" i="0">
                <a:solidFill>
                  <a:srgbClr val="FC2905"/>
                </a:solidFill>
                <a:latin typeface="Tahoma"/>
                <a:cs typeface="Tahoma"/>
              </a:defRPr>
            </a:lvl1pPr>
          </a:lstStyle>
          <a:p>
            <a:endParaRPr/>
          </a:p>
        </p:txBody>
      </p:sp>
      <p:sp>
        <p:nvSpPr>
          <p:cNvPr id="3" name="Holder 3"/>
          <p:cNvSpPr>
            <a:spLocks noGrp="1"/>
          </p:cNvSpPr>
          <p:nvPr>
            <p:ph type="subTitle" idx="4"/>
          </p:nvPr>
        </p:nvSpPr>
        <p:spPr>
          <a:xfrm>
            <a:off x="2194560" y="4608576"/>
            <a:ext cx="10241280" cy="2057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FC2905"/>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pic>
        <p:nvPicPr>
          <p:cNvPr id="8" name="Image 1" descr="/home/claude/deck/img/airc_logo.png">
            <a:extLst>
              <a:ext uri="{FF2B5EF4-FFF2-40B4-BE49-F238E27FC236}">
                <a16:creationId xmlns:a16="http://schemas.microsoft.com/office/drawing/2014/main" id="{E49022D3-3B97-602E-B066-ABAEC2FB0F0E}"/>
              </a:ext>
            </a:extLst>
          </p:cNvPr>
          <p:cNvPicPr>
            <a:picLocks noChangeAspect="1"/>
          </p:cNvPicPr>
          <p:nvPr userDrawn="1"/>
        </p:nvPicPr>
        <p:blipFill>
          <a:blip r:embed="rId2"/>
          <a:stretch>
            <a:fillRect/>
          </a:stretch>
        </p:blipFill>
        <p:spPr>
          <a:xfrm>
            <a:off x="12408687" y="328872"/>
            <a:ext cx="868680" cy="868680"/>
          </a:xfrm>
          <a:prstGeom prst="rect">
            <a:avLst/>
          </a:prstGeom>
        </p:spPr>
      </p:pic>
      <p:pic>
        <p:nvPicPr>
          <p:cNvPr id="10" name="Logo ITI">
            <a:extLst>
              <a:ext uri="{FF2B5EF4-FFF2-40B4-BE49-F238E27FC236}">
                <a16:creationId xmlns:a16="http://schemas.microsoft.com/office/drawing/2014/main" id="{60E10B32-6DA2-75F4-4F44-6369BFCE7BDF}"/>
              </a:ext>
            </a:extLst>
          </p:cNvPr>
          <p:cNvPicPr>
            <a:picLocks noChangeAspect="1"/>
          </p:cNvPicPr>
          <p:nvPr userDrawn="1"/>
        </p:nvPicPr>
        <p:blipFill>
          <a:blip r:embed="rId3"/>
          <a:stretch>
            <a:fillRect/>
          </a:stretch>
        </p:blipFill>
        <p:spPr>
          <a:xfrm>
            <a:off x="13326998" y="398646"/>
            <a:ext cx="713232" cy="7291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FC2905"/>
                </a:solidFill>
                <a:latin typeface="Tahoma"/>
                <a:cs typeface="Tahoma"/>
              </a:defRPr>
            </a:lvl1pPr>
          </a:lstStyle>
          <a:p>
            <a:endParaRPr/>
          </a:p>
        </p:txBody>
      </p:sp>
      <p:sp>
        <p:nvSpPr>
          <p:cNvPr id="3" name="Holder 3"/>
          <p:cNvSpPr>
            <a:spLocks noGrp="1"/>
          </p:cNvSpPr>
          <p:nvPr>
            <p:ph sz="half" idx="2"/>
          </p:nvPr>
        </p:nvSpPr>
        <p:spPr>
          <a:xfrm>
            <a:off x="1015695" y="2070013"/>
            <a:ext cx="5989955" cy="4932680"/>
          </a:xfrm>
          <a:prstGeom prst="rect">
            <a:avLst/>
          </a:prstGeom>
        </p:spPr>
        <p:txBody>
          <a:bodyPr wrap="square" lIns="0" tIns="0" rIns="0" bIns="0">
            <a:spAutoFit/>
          </a:bodyPr>
          <a:lstStyle>
            <a:lvl1pPr>
              <a:defRPr sz="2200" b="1" i="0">
                <a:solidFill>
                  <a:schemeClr val="tx1"/>
                </a:solidFill>
                <a:latin typeface="Tahoma"/>
                <a:cs typeface="Tahoma"/>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FC2905"/>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91692" y="592074"/>
            <a:ext cx="11737543" cy="1023238"/>
          </a:xfrm>
          <a:prstGeom prst="rect">
            <a:avLst/>
          </a:prstGeom>
        </p:spPr>
        <p:txBody>
          <a:bodyPr wrap="square" lIns="0" tIns="0" rIns="0" bIns="0">
            <a:spAutoFit/>
          </a:bodyPr>
          <a:lstStyle>
            <a:lvl1pPr>
              <a:defRPr sz="3300" b="1" i="0">
                <a:solidFill>
                  <a:srgbClr val="FC2905"/>
                </a:solidFill>
                <a:latin typeface="Tahoma"/>
                <a:cs typeface="Tahoma"/>
              </a:defRPr>
            </a:lvl1pPr>
          </a:lstStyle>
          <a:p>
            <a:endParaRPr/>
          </a:p>
        </p:txBody>
      </p:sp>
      <p:sp>
        <p:nvSpPr>
          <p:cNvPr id="3" name="Holder 3"/>
          <p:cNvSpPr>
            <a:spLocks noGrp="1"/>
          </p:cNvSpPr>
          <p:nvPr>
            <p:ph type="body" idx="1"/>
          </p:nvPr>
        </p:nvSpPr>
        <p:spPr>
          <a:xfrm>
            <a:off x="731520" y="1892808"/>
            <a:ext cx="13167360"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10/28/2026</a:t>
            </a:fld>
            <a:endParaRPr lang="en-US"/>
          </a:p>
        </p:txBody>
      </p:sp>
      <p:sp>
        <p:nvSpPr>
          <p:cNvPr id="6" name="Holder 6"/>
          <p:cNvSpPr>
            <a:spLocks noGrp="1"/>
          </p:cNvSpPr>
          <p:nvPr>
            <p:ph type="sldNum" sz="quarter" idx="7"/>
          </p:nvPr>
        </p:nvSpPr>
        <p:spPr>
          <a:xfrm>
            <a:off x="14007084" y="7727848"/>
            <a:ext cx="320928"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153670">
              <a:lnSpc>
                <a:spcPts val="1810"/>
              </a:lnSpc>
            </a:pPr>
            <a:fld id="{81D60167-4931-47E6-BA6A-407CBD079E47}" type="slidenum">
              <a:rPr spc="-50" dirty="0"/>
              <a:t>‹#›</a:t>
            </a:fld>
            <a:endParaRPr spc="-50" dirty="0"/>
          </a:p>
        </p:txBody>
      </p:sp>
      <p:pic>
        <p:nvPicPr>
          <p:cNvPr id="8" name="Image 1" descr="/home/claude/deck/img/airc_logo.png">
            <a:extLst>
              <a:ext uri="{FF2B5EF4-FFF2-40B4-BE49-F238E27FC236}">
                <a16:creationId xmlns:a16="http://schemas.microsoft.com/office/drawing/2014/main" id="{2CEDAA09-8F89-5F6E-4B0E-BD7BA9CD5F22}"/>
              </a:ext>
            </a:extLst>
          </p:cNvPr>
          <p:cNvPicPr>
            <a:picLocks noChangeAspect="1"/>
          </p:cNvPicPr>
          <p:nvPr userDrawn="1"/>
        </p:nvPicPr>
        <p:blipFill>
          <a:blip r:embed="rId7"/>
          <a:stretch>
            <a:fillRect/>
          </a:stretch>
        </p:blipFill>
        <p:spPr>
          <a:xfrm>
            <a:off x="12429235" y="314578"/>
            <a:ext cx="868680" cy="868680"/>
          </a:xfrm>
          <a:prstGeom prst="rect">
            <a:avLst/>
          </a:prstGeom>
        </p:spPr>
      </p:pic>
      <p:pic>
        <p:nvPicPr>
          <p:cNvPr id="10" name="Logo ITI">
            <a:extLst>
              <a:ext uri="{FF2B5EF4-FFF2-40B4-BE49-F238E27FC236}">
                <a16:creationId xmlns:a16="http://schemas.microsoft.com/office/drawing/2014/main" id="{BDE228B2-E6D3-A795-C6E1-80D016731BF2}"/>
              </a:ext>
            </a:extLst>
          </p:cNvPr>
          <p:cNvPicPr>
            <a:picLocks noChangeAspect="1"/>
          </p:cNvPicPr>
          <p:nvPr userDrawn="1"/>
        </p:nvPicPr>
        <p:blipFill>
          <a:blip r:embed="rId8"/>
          <a:stretch>
            <a:fillRect/>
          </a:stretch>
        </p:blipFill>
        <p:spPr>
          <a:xfrm>
            <a:off x="13326998" y="398646"/>
            <a:ext cx="713232" cy="729132"/>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91693" y="3140811"/>
            <a:ext cx="13252908" cy="1199496"/>
          </a:xfrm>
          <a:prstGeom prst="rect">
            <a:avLst/>
          </a:prstGeom>
        </p:spPr>
        <p:txBody>
          <a:bodyPr vert="horz" wrap="square" lIns="0" tIns="12065" rIns="0" bIns="0" rtlCol="0">
            <a:spAutoFit/>
          </a:bodyPr>
          <a:lstStyle/>
          <a:p>
            <a:pPr marL="192405" marR="5080" indent="-180340" algn="just">
              <a:lnSpc>
                <a:spcPct val="127899"/>
              </a:lnSpc>
              <a:spcBef>
                <a:spcPts val="95"/>
              </a:spcBef>
            </a:pPr>
            <a:r>
              <a:rPr lang="vi-VN" sz="3200" b="1" spc="-135" dirty="0">
                <a:solidFill>
                  <a:srgbClr val="FC2905"/>
                </a:solidFill>
                <a:latin typeface="Tahoma"/>
                <a:cs typeface="Tahoma"/>
              </a:rPr>
              <a:t>Nghiên cứu phương pháp thích nghi mô hình không-thời gian có ràng buộc cân bằng nước cho dự báo dòng chảy tại lưu vực ít dữ liệu</a:t>
            </a:r>
          </a:p>
        </p:txBody>
      </p:sp>
      <p:sp>
        <p:nvSpPr>
          <p:cNvPr id="3" name="object 3"/>
          <p:cNvSpPr txBox="1"/>
          <p:nvPr/>
        </p:nvSpPr>
        <p:spPr>
          <a:xfrm>
            <a:off x="5891276" y="7253122"/>
            <a:ext cx="2654935" cy="330835"/>
          </a:xfrm>
          <a:prstGeom prst="rect">
            <a:avLst/>
          </a:prstGeom>
        </p:spPr>
        <p:txBody>
          <a:bodyPr vert="horz" wrap="square" lIns="0" tIns="12700" rIns="0" bIns="0" rtlCol="0">
            <a:spAutoFit/>
          </a:bodyPr>
          <a:lstStyle/>
          <a:p>
            <a:pPr marL="12700" algn="ctr">
              <a:lnSpc>
                <a:spcPct val="100000"/>
              </a:lnSpc>
              <a:spcBef>
                <a:spcPts val="100"/>
              </a:spcBef>
            </a:pPr>
            <a:r>
              <a:rPr lang="en-US" sz="2000" b="1" spc="-10" dirty="0">
                <a:latin typeface="Arial"/>
                <a:cs typeface="Arial"/>
              </a:rPr>
              <a:t>HÀ NỘI</a:t>
            </a:r>
            <a:r>
              <a:rPr sz="2000" b="1" spc="-45" dirty="0">
                <a:latin typeface="Arial"/>
                <a:cs typeface="Arial"/>
              </a:rPr>
              <a:t> </a:t>
            </a:r>
            <a:r>
              <a:rPr sz="2000" b="1" dirty="0">
                <a:latin typeface="Arial"/>
                <a:cs typeface="Arial"/>
              </a:rPr>
              <a:t>–</a:t>
            </a:r>
            <a:r>
              <a:rPr sz="2000" b="1" spc="-50" dirty="0">
                <a:latin typeface="Arial"/>
                <a:cs typeface="Arial"/>
              </a:rPr>
              <a:t> </a:t>
            </a:r>
            <a:r>
              <a:rPr sz="2000" b="1" spc="60" dirty="0">
                <a:latin typeface="Arial"/>
                <a:cs typeface="Arial"/>
              </a:rPr>
              <a:t>2026</a:t>
            </a:r>
            <a:endParaRPr sz="2000" dirty="0">
              <a:latin typeface="Arial"/>
              <a:cs typeface="Arial"/>
            </a:endParaRPr>
          </a:p>
        </p:txBody>
      </p:sp>
      <p:sp>
        <p:nvSpPr>
          <p:cNvPr id="4" name="object 4" descr="$PPTXTitle"/>
          <p:cNvSpPr txBox="1">
            <a:spLocks noGrp="1"/>
          </p:cNvSpPr>
          <p:nvPr>
            <p:ph type="title"/>
          </p:nvPr>
        </p:nvSpPr>
        <p:spPr>
          <a:xfrm>
            <a:off x="1158689" y="1865360"/>
            <a:ext cx="10355747" cy="937693"/>
          </a:xfrm>
          <a:prstGeom prst="rect">
            <a:avLst/>
          </a:prstGeom>
        </p:spPr>
        <p:txBody>
          <a:bodyPr vert="horz" wrap="square" lIns="0" tIns="197104" rIns="0" bIns="0" rtlCol="0">
            <a:spAutoFit/>
          </a:bodyPr>
          <a:lstStyle/>
          <a:p>
            <a:pPr marL="2061845" algn="ctr">
              <a:spcBef>
                <a:spcPts val="100"/>
              </a:spcBef>
            </a:pPr>
            <a:r>
              <a:rPr lang="vi-VN" altLang="ja-JP" sz="2400" dirty="0">
                <a:solidFill>
                  <a:srgbClr val="FF0000"/>
                </a:solidFill>
                <a:latin typeface="Arial"/>
                <a:cs typeface="Arial"/>
              </a:rPr>
              <a:t>BÁO</a:t>
            </a:r>
            <a:r>
              <a:rPr lang="vi-VN" altLang="ja-JP" sz="2400" spc="-50" dirty="0">
                <a:solidFill>
                  <a:srgbClr val="FF0000"/>
                </a:solidFill>
                <a:latin typeface="Arial"/>
                <a:cs typeface="Arial"/>
              </a:rPr>
              <a:t> </a:t>
            </a:r>
            <a:r>
              <a:rPr lang="vi-VN" altLang="ja-JP" sz="2400" dirty="0">
                <a:solidFill>
                  <a:srgbClr val="FF0000"/>
                </a:solidFill>
                <a:latin typeface="Arial"/>
                <a:cs typeface="Arial"/>
              </a:rPr>
              <a:t>CÁO</a:t>
            </a:r>
            <a:r>
              <a:rPr lang="vi-VN" altLang="ja-JP" sz="2400" spc="-40" dirty="0">
                <a:solidFill>
                  <a:srgbClr val="FF0000"/>
                </a:solidFill>
                <a:latin typeface="Arial"/>
                <a:cs typeface="Arial"/>
              </a:rPr>
              <a:t> </a:t>
            </a:r>
            <a:r>
              <a:rPr lang="vi-VN" altLang="ja-JP" sz="2400" spc="-50" dirty="0">
                <a:solidFill>
                  <a:srgbClr val="FF0000"/>
                </a:solidFill>
                <a:latin typeface="Arial"/>
                <a:cs typeface="Arial"/>
              </a:rPr>
              <a:t>ĐỀ</a:t>
            </a:r>
            <a:r>
              <a:rPr lang="vi-VN" altLang="ja-JP" sz="2400" spc="-40" dirty="0">
                <a:solidFill>
                  <a:srgbClr val="FF0000"/>
                </a:solidFill>
                <a:latin typeface="Arial"/>
                <a:cs typeface="Arial"/>
              </a:rPr>
              <a:t> </a:t>
            </a:r>
            <a:r>
              <a:rPr lang="vi-VN" altLang="ja-JP" sz="2400" spc="-140" dirty="0">
                <a:solidFill>
                  <a:srgbClr val="FF0000"/>
                </a:solidFill>
                <a:latin typeface="Arial"/>
                <a:cs typeface="Arial"/>
              </a:rPr>
              <a:t>CƯƠNG</a:t>
            </a:r>
            <a:r>
              <a:rPr lang="vi-VN" altLang="ja-JP" sz="2400" spc="-65" dirty="0">
                <a:solidFill>
                  <a:srgbClr val="FF0000"/>
                </a:solidFill>
                <a:latin typeface="Arial"/>
                <a:cs typeface="Arial"/>
              </a:rPr>
              <a:t> </a:t>
            </a:r>
            <a:r>
              <a:rPr lang="vi-VN" altLang="ja-JP" sz="2400" spc="-35" dirty="0">
                <a:solidFill>
                  <a:srgbClr val="FF0000"/>
                </a:solidFill>
                <a:latin typeface="Arial"/>
                <a:cs typeface="Arial"/>
              </a:rPr>
              <a:t>NGHIÊN</a:t>
            </a:r>
            <a:r>
              <a:rPr lang="vi-VN" altLang="ja-JP" sz="2400" spc="-65" dirty="0">
                <a:solidFill>
                  <a:srgbClr val="FF0000"/>
                </a:solidFill>
                <a:latin typeface="Arial"/>
                <a:cs typeface="Arial"/>
              </a:rPr>
              <a:t> </a:t>
            </a:r>
            <a:r>
              <a:rPr lang="vi-VN" altLang="ja-JP" sz="2400" spc="-130" dirty="0">
                <a:solidFill>
                  <a:srgbClr val="FF0000"/>
                </a:solidFill>
                <a:latin typeface="Arial"/>
                <a:cs typeface="Arial"/>
              </a:rPr>
              <a:t>CỨU</a:t>
            </a:r>
            <a:r>
              <a:rPr lang="vi-VN" altLang="ja-JP" sz="2400" spc="-60" dirty="0">
                <a:solidFill>
                  <a:srgbClr val="FF0000"/>
                </a:solidFill>
                <a:latin typeface="Arial"/>
                <a:cs typeface="Arial"/>
              </a:rPr>
              <a:t> </a:t>
            </a:r>
            <a:r>
              <a:rPr lang="vi-VN" altLang="ja-JP" sz="2400" spc="-20" dirty="0">
                <a:solidFill>
                  <a:srgbClr val="FF0000"/>
                </a:solidFill>
                <a:latin typeface="Arial"/>
                <a:cs typeface="Arial"/>
              </a:rPr>
              <a:t>SINH</a:t>
            </a:r>
            <a:br>
              <a:rPr lang="vi-VN" altLang="ja-JP" sz="2400" dirty="0">
                <a:latin typeface="Arial"/>
                <a:cs typeface="Arial"/>
              </a:rPr>
            </a:br>
            <a:endParaRPr sz="2400" dirty="0">
              <a:latin typeface="Times New Roman"/>
              <a:cs typeface="Times New Roman"/>
            </a:endParaRPr>
          </a:p>
        </p:txBody>
      </p:sp>
      <p:sp>
        <p:nvSpPr>
          <p:cNvPr id="7" name="object 7"/>
          <p:cNvSpPr txBox="1"/>
          <p:nvPr/>
        </p:nvSpPr>
        <p:spPr>
          <a:xfrm>
            <a:off x="2241294" y="5305018"/>
            <a:ext cx="4616705" cy="782265"/>
          </a:xfrm>
          <a:prstGeom prst="rect">
            <a:avLst/>
          </a:prstGeom>
        </p:spPr>
        <p:txBody>
          <a:bodyPr vert="horz" wrap="square" lIns="0" tIns="88900" rIns="0" bIns="0" rtlCol="0">
            <a:spAutoFit/>
          </a:bodyPr>
          <a:lstStyle/>
          <a:p>
            <a:pPr marL="12700">
              <a:lnSpc>
                <a:spcPct val="100000"/>
              </a:lnSpc>
              <a:spcBef>
                <a:spcPts val="700"/>
              </a:spcBef>
            </a:pPr>
            <a:r>
              <a:rPr sz="2000" b="1" spc="-30" dirty="0">
                <a:latin typeface="Arial"/>
                <a:cs typeface="Arial"/>
              </a:rPr>
              <a:t>Ngành</a:t>
            </a:r>
            <a:r>
              <a:rPr sz="2000" spc="-30" dirty="0">
                <a:latin typeface="Arial"/>
                <a:cs typeface="Arial"/>
              </a:rPr>
              <a:t>:</a:t>
            </a:r>
            <a:r>
              <a:rPr sz="2000" spc="-90" dirty="0">
                <a:latin typeface="Arial"/>
                <a:cs typeface="Arial"/>
              </a:rPr>
              <a:t> </a:t>
            </a:r>
            <a:r>
              <a:rPr sz="2000" spc="-20" dirty="0">
                <a:latin typeface="Arial"/>
                <a:cs typeface="Arial"/>
              </a:rPr>
              <a:t>Khoa</a:t>
            </a:r>
            <a:r>
              <a:rPr sz="2000" spc="-90" dirty="0">
                <a:latin typeface="Arial"/>
                <a:cs typeface="Arial"/>
              </a:rPr>
              <a:t> </a:t>
            </a:r>
            <a:r>
              <a:rPr sz="2000" dirty="0">
                <a:latin typeface="Arial"/>
                <a:cs typeface="Arial"/>
              </a:rPr>
              <a:t>học</a:t>
            </a:r>
            <a:r>
              <a:rPr sz="2000" spc="-95" dirty="0">
                <a:latin typeface="Arial"/>
                <a:cs typeface="Arial"/>
              </a:rPr>
              <a:t> </a:t>
            </a:r>
            <a:r>
              <a:rPr sz="2000" dirty="0">
                <a:latin typeface="Arial"/>
                <a:cs typeface="Arial"/>
              </a:rPr>
              <a:t>máy</a:t>
            </a:r>
            <a:r>
              <a:rPr sz="2000" spc="-110" dirty="0">
                <a:latin typeface="Arial"/>
                <a:cs typeface="Arial"/>
              </a:rPr>
              <a:t> </a:t>
            </a:r>
            <a:r>
              <a:rPr sz="2000" spc="-20" dirty="0">
                <a:latin typeface="Arial"/>
                <a:cs typeface="Arial"/>
              </a:rPr>
              <a:t>tính</a:t>
            </a:r>
            <a:endParaRPr sz="2000" dirty="0">
              <a:latin typeface="Arial"/>
              <a:cs typeface="Arial"/>
            </a:endParaRPr>
          </a:p>
          <a:p>
            <a:pPr marL="12700">
              <a:lnSpc>
                <a:spcPct val="100000"/>
              </a:lnSpc>
              <a:spcBef>
                <a:spcPts val="605"/>
              </a:spcBef>
            </a:pPr>
            <a:r>
              <a:rPr sz="2000" b="1" spc="-10" dirty="0">
                <a:latin typeface="Arial"/>
                <a:cs typeface="Arial"/>
              </a:rPr>
              <a:t>Nghiên</a:t>
            </a:r>
            <a:r>
              <a:rPr sz="2000" b="1" spc="-35" dirty="0">
                <a:latin typeface="Arial"/>
                <a:cs typeface="Arial"/>
              </a:rPr>
              <a:t> </a:t>
            </a:r>
            <a:r>
              <a:rPr sz="2000" b="1" spc="-185" dirty="0">
                <a:latin typeface="Arial"/>
                <a:cs typeface="Arial"/>
              </a:rPr>
              <a:t>cứu</a:t>
            </a:r>
            <a:r>
              <a:rPr sz="2000" b="1" spc="-10" dirty="0">
                <a:latin typeface="Arial"/>
                <a:cs typeface="Arial"/>
              </a:rPr>
              <a:t> </a:t>
            </a:r>
            <a:r>
              <a:rPr sz="2000" b="1" spc="-85" dirty="0">
                <a:latin typeface="Arial"/>
                <a:cs typeface="Arial"/>
              </a:rPr>
              <a:t>sinh</a:t>
            </a:r>
            <a:r>
              <a:rPr sz="2000" spc="-85" dirty="0">
                <a:latin typeface="Arial"/>
                <a:cs typeface="Arial"/>
              </a:rPr>
              <a:t>:</a:t>
            </a:r>
            <a:r>
              <a:rPr sz="2000" spc="-65" dirty="0">
                <a:latin typeface="Arial"/>
                <a:cs typeface="Arial"/>
              </a:rPr>
              <a:t> </a:t>
            </a:r>
            <a:r>
              <a:rPr lang="en-US" sz="2000" dirty="0">
                <a:latin typeface="Arial"/>
                <a:cs typeface="Arial"/>
              </a:rPr>
              <a:t>Mai Ngọc </a:t>
            </a:r>
            <a:r>
              <a:rPr lang="en-US" sz="2000" dirty="0" err="1">
                <a:latin typeface="Arial"/>
                <a:cs typeface="Arial"/>
              </a:rPr>
              <a:t>Khương</a:t>
            </a:r>
            <a:endParaRPr sz="2000" dirty="0">
              <a:latin typeface="Arial"/>
              <a:cs typeface="Arial"/>
            </a:endParaRPr>
          </a:p>
        </p:txBody>
      </p:sp>
      <p:sp>
        <p:nvSpPr>
          <p:cNvPr id="8" name="object 8"/>
          <p:cNvSpPr txBox="1"/>
          <p:nvPr/>
        </p:nvSpPr>
        <p:spPr>
          <a:xfrm>
            <a:off x="8269985" y="5269966"/>
            <a:ext cx="4303015" cy="1215076"/>
          </a:xfrm>
          <a:prstGeom prst="rect">
            <a:avLst/>
          </a:prstGeom>
        </p:spPr>
        <p:txBody>
          <a:bodyPr vert="horz" wrap="square" lIns="0" tIns="123825" rIns="0" bIns="0" rtlCol="0">
            <a:spAutoFit/>
          </a:bodyPr>
          <a:lstStyle/>
          <a:p>
            <a:pPr marL="12700">
              <a:lnSpc>
                <a:spcPct val="100000"/>
              </a:lnSpc>
              <a:spcBef>
                <a:spcPts val="975"/>
              </a:spcBef>
            </a:pPr>
            <a:r>
              <a:rPr sz="2000" b="1" spc="-45" dirty="0">
                <a:latin typeface="Arial"/>
                <a:cs typeface="Arial"/>
              </a:rPr>
              <a:t>Tập</a:t>
            </a:r>
            <a:r>
              <a:rPr sz="2000" b="1" spc="-40" dirty="0">
                <a:latin typeface="Arial"/>
                <a:cs typeface="Arial"/>
              </a:rPr>
              <a:t> </a:t>
            </a:r>
            <a:r>
              <a:rPr sz="2000" b="1" dirty="0">
                <a:latin typeface="Arial"/>
                <a:cs typeface="Arial"/>
              </a:rPr>
              <a:t>thể</a:t>
            </a:r>
            <a:r>
              <a:rPr sz="2000" b="1" spc="-30" dirty="0">
                <a:latin typeface="Arial"/>
                <a:cs typeface="Arial"/>
              </a:rPr>
              <a:t> </a:t>
            </a:r>
            <a:r>
              <a:rPr sz="2000" b="1" spc="-145" dirty="0">
                <a:latin typeface="Arial"/>
                <a:cs typeface="Arial"/>
              </a:rPr>
              <a:t>hướng</a:t>
            </a:r>
            <a:r>
              <a:rPr sz="2000" b="1" spc="-25" dirty="0">
                <a:latin typeface="Arial"/>
                <a:cs typeface="Arial"/>
              </a:rPr>
              <a:t> </a:t>
            </a:r>
            <a:r>
              <a:rPr sz="2000" b="1" spc="-20" dirty="0">
                <a:latin typeface="Arial"/>
                <a:cs typeface="Arial"/>
              </a:rPr>
              <a:t>dẫn:</a:t>
            </a:r>
            <a:endParaRPr sz="2000" dirty="0">
              <a:latin typeface="Arial"/>
              <a:cs typeface="Arial"/>
            </a:endParaRPr>
          </a:p>
          <a:p>
            <a:pPr marL="285115" indent="-272415">
              <a:lnSpc>
                <a:spcPct val="100000"/>
              </a:lnSpc>
              <a:spcBef>
                <a:spcPts val="880"/>
              </a:spcBef>
              <a:buAutoNum type="arabicPeriod"/>
              <a:tabLst>
                <a:tab pos="285115" algn="l"/>
              </a:tabLst>
            </a:pPr>
            <a:r>
              <a:rPr sz="2000" spc="-125" dirty="0">
                <a:latin typeface="Arial"/>
                <a:cs typeface="Arial"/>
              </a:rPr>
              <a:t>PGS.TS</a:t>
            </a:r>
            <a:r>
              <a:rPr sz="2000" spc="-65" dirty="0">
                <a:latin typeface="Arial"/>
                <a:cs typeface="Arial"/>
              </a:rPr>
              <a:t> </a:t>
            </a:r>
            <a:r>
              <a:rPr sz="2000" spc="-20" dirty="0">
                <a:latin typeface="Arial"/>
                <a:cs typeface="Arial"/>
              </a:rPr>
              <a:t>Lê</a:t>
            </a:r>
            <a:r>
              <a:rPr sz="2000" spc="-40" dirty="0">
                <a:latin typeface="Arial"/>
                <a:cs typeface="Arial"/>
              </a:rPr>
              <a:t> </a:t>
            </a:r>
            <a:r>
              <a:rPr sz="2000" dirty="0">
                <a:latin typeface="Arial"/>
                <a:cs typeface="Arial"/>
              </a:rPr>
              <a:t>Hoàng</a:t>
            </a:r>
            <a:r>
              <a:rPr sz="2000" spc="-30" dirty="0">
                <a:latin typeface="Arial"/>
                <a:cs typeface="Arial"/>
              </a:rPr>
              <a:t> </a:t>
            </a:r>
            <a:r>
              <a:rPr sz="2000" spc="-35" dirty="0">
                <a:latin typeface="Arial"/>
                <a:cs typeface="Arial"/>
              </a:rPr>
              <a:t>Sơn</a:t>
            </a:r>
            <a:endParaRPr sz="2000" dirty="0">
              <a:latin typeface="Arial"/>
              <a:cs typeface="Arial"/>
            </a:endParaRPr>
          </a:p>
          <a:p>
            <a:pPr marL="285115" indent="-272415">
              <a:lnSpc>
                <a:spcPct val="100000"/>
              </a:lnSpc>
              <a:spcBef>
                <a:spcPts val="360"/>
              </a:spcBef>
              <a:buAutoNum type="arabicPeriod"/>
              <a:tabLst>
                <a:tab pos="285115" algn="l"/>
              </a:tabLst>
            </a:pPr>
            <a:r>
              <a:rPr lang="en-US" sz="2000" spc="-105" dirty="0">
                <a:latin typeface="Arial"/>
                <a:cs typeface="Arial"/>
              </a:rPr>
              <a:t>PGS.</a:t>
            </a:r>
            <a:r>
              <a:rPr sz="2000" spc="-105" dirty="0">
                <a:latin typeface="Arial"/>
                <a:cs typeface="Arial"/>
              </a:rPr>
              <a:t>TS</a:t>
            </a:r>
            <a:r>
              <a:rPr sz="2000" spc="-65" dirty="0">
                <a:latin typeface="Arial"/>
                <a:cs typeface="Arial"/>
              </a:rPr>
              <a:t> </a:t>
            </a:r>
            <a:r>
              <a:rPr lang="en-US" sz="2000" dirty="0">
                <a:latin typeface="Arial"/>
                <a:cs typeface="Arial"/>
              </a:rPr>
              <a:t>Nguyễn Long Giang</a:t>
            </a:r>
            <a:endParaRPr sz="2000" dirty="0">
              <a:latin typeface="Arial"/>
              <a:cs typeface="Arial"/>
            </a:endParaRPr>
          </a:p>
        </p:txBody>
      </p:sp>
      <p:pic>
        <p:nvPicPr>
          <p:cNvPr id="10" name="Image 1" descr="/home/claude/deck/img/airc_logo.png">
            <a:extLst>
              <a:ext uri="{FF2B5EF4-FFF2-40B4-BE49-F238E27FC236}">
                <a16:creationId xmlns:a16="http://schemas.microsoft.com/office/drawing/2014/main" id="{EBE8ED48-3C41-B998-2D32-60F4172ECADC}"/>
              </a:ext>
            </a:extLst>
          </p:cNvPr>
          <p:cNvPicPr>
            <a:picLocks noChangeAspect="1"/>
          </p:cNvPicPr>
          <p:nvPr/>
        </p:nvPicPr>
        <p:blipFill>
          <a:blip r:embed="rId2"/>
          <a:stretch>
            <a:fillRect/>
          </a:stretch>
        </p:blipFill>
        <p:spPr>
          <a:xfrm>
            <a:off x="691692" y="228600"/>
            <a:ext cx="868680" cy="868680"/>
          </a:xfrm>
          <a:prstGeom prst="rect">
            <a:avLst/>
          </a:prstGeom>
        </p:spPr>
      </p:pic>
      <p:pic>
        <p:nvPicPr>
          <p:cNvPr id="12" name="Logo ITI">
            <a:extLst>
              <a:ext uri="{FF2B5EF4-FFF2-40B4-BE49-F238E27FC236}">
                <a16:creationId xmlns:a16="http://schemas.microsoft.com/office/drawing/2014/main" id="{1BB2F94A-7118-FA63-A6E2-4B3DEA643C53}"/>
              </a:ext>
            </a:extLst>
          </p:cNvPr>
          <p:cNvPicPr>
            <a:picLocks noChangeAspect="1"/>
          </p:cNvPicPr>
          <p:nvPr/>
        </p:nvPicPr>
        <p:blipFill>
          <a:blip r:embed="rId3"/>
          <a:stretch>
            <a:fillRect/>
          </a:stretch>
        </p:blipFill>
        <p:spPr>
          <a:xfrm>
            <a:off x="13326998" y="398646"/>
            <a:ext cx="713232" cy="7291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1431-D90B-E31A-D4B0-F60D2463D7BF}"/>
              </a:ext>
            </a:extLst>
          </p:cNvPr>
          <p:cNvSpPr>
            <a:spLocks noGrp="1"/>
          </p:cNvSpPr>
          <p:nvPr>
            <p:ph type="title"/>
          </p:nvPr>
        </p:nvSpPr>
        <p:spPr>
          <a:xfrm>
            <a:off x="1905000" y="592074"/>
            <a:ext cx="10524235" cy="1023238"/>
          </a:xfrm>
        </p:spPr>
        <p:txBody>
          <a:bodyPr/>
          <a:lstStyle/>
          <a:p>
            <a:r>
              <a:rPr lang="ja-JP" altLang="ja-JP" dirty="0"/>
              <a:t>1. ĐẶT VẤN ĐỀ VÀ ĐỘNG LỰC NGHIÊN CỨU</a:t>
            </a:r>
            <a:br>
              <a:rPr lang="ja-JP" altLang="ja-JP" dirty="0"/>
            </a:br>
            <a:endParaRPr kumimoji="1" lang="ja-JP" altLang="en-US" dirty="0"/>
          </a:p>
        </p:txBody>
      </p:sp>
      <p:sp>
        <p:nvSpPr>
          <p:cNvPr id="3" name="Text Placeholder 2">
            <a:extLst>
              <a:ext uri="{FF2B5EF4-FFF2-40B4-BE49-F238E27FC236}">
                <a16:creationId xmlns:a16="http://schemas.microsoft.com/office/drawing/2014/main" id="{050F47FF-DBDD-A379-4920-467974BB31D2}"/>
              </a:ext>
            </a:extLst>
          </p:cNvPr>
          <p:cNvSpPr>
            <a:spLocks noGrp="1"/>
          </p:cNvSpPr>
          <p:nvPr>
            <p:ph type="body" idx="1"/>
          </p:nvPr>
        </p:nvSpPr>
        <p:spPr>
          <a:xfrm>
            <a:off x="731520" y="1892808"/>
            <a:ext cx="13167360" cy="5601533"/>
          </a:xfrm>
        </p:spPr>
        <p:txBody>
          <a:bodyPr/>
          <a:lstStyle/>
          <a:p>
            <a:pPr algn="just" fontAlgn="t">
              <a:lnSpc>
                <a:spcPct val="100000"/>
              </a:lnSpc>
              <a:buNone/>
            </a:pPr>
            <a:r>
              <a:rPr lang="ja-JP" altLang="ja-JP" sz="2800" b="1" dirty="0"/>
              <a:t>Thách thức 1: Thiếu dữ liệu quan trắc</a:t>
            </a:r>
          </a:p>
          <a:p>
            <a:pPr marL="342900" lvl="0" indent="-342900" algn="just" fontAlgn="t">
              <a:lnSpc>
                <a:spcPct val="100000"/>
              </a:lnSpc>
              <a:buFont typeface="Arial" panose="020B0604020202020204" pitchFamily="34" charset="0"/>
              <a:buChar char="•"/>
            </a:pPr>
            <a:r>
              <a:rPr lang="ja-JP" altLang="ja-JP" sz="2800" dirty="0"/>
              <a:t>Nhiều lưu vực không có hoặc có rất ít trạm đo lưu lượng.</a:t>
            </a:r>
          </a:p>
          <a:p>
            <a:pPr marL="342900" lvl="0" indent="-342900" algn="just" fontAlgn="t">
              <a:lnSpc>
                <a:spcPct val="100000"/>
              </a:lnSpc>
              <a:buFont typeface="Arial" panose="020B0604020202020204" pitchFamily="34" charset="0"/>
              <a:buChar char="•"/>
            </a:pPr>
            <a:r>
              <a:rPr lang="ja-JP" altLang="ja-JP" sz="2800" dirty="0"/>
              <a:t>Dữ liệu lịch sử ngắn, gián đoạn hoặc không đồng nhất.</a:t>
            </a:r>
          </a:p>
          <a:p>
            <a:pPr marL="342900" lvl="0" indent="-342900" algn="just" fontAlgn="t">
              <a:lnSpc>
                <a:spcPct val="100000"/>
              </a:lnSpc>
              <a:buFont typeface="Arial" panose="020B0604020202020204" pitchFamily="34" charset="0"/>
              <a:buChar char="•"/>
            </a:pPr>
            <a:r>
              <a:rPr lang="ja-JP" altLang="ja-JP" sz="2800" dirty="0"/>
              <a:t>Khó xây dựng mô hình dự báo truyền thống.</a:t>
            </a:r>
          </a:p>
          <a:p>
            <a:pPr algn="just" fontAlgn="t">
              <a:lnSpc>
                <a:spcPct val="100000"/>
              </a:lnSpc>
              <a:buNone/>
            </a:pPr>
            <a:r>
              <a:rPr lang="ja-JP" altLang="ja-JP" sz="2800" b="1" dirty="0"/>
              <a:t>Thách thức 2: Khả năng chuyển giao mô hình</a:t>
            </a:r>
          </a:p>
          <a:p>
            <a:pPr marL="342900" lvl="0" indent="-342900" algn="just" fontAlgn="t">
              <a:lnSpc>
                <a:spcPct val="100000"/>
              </a:lnSpc>
              <a:buFont typeface="Arial" panose="020B0604020202020204" pitchFamily="34" charset="0"/>
              <a:buChar char="•"/>
            </a:pPr>
            <a:r>
              <a:rPr lang="ja-JP" altLang="ja-JP" sz="2800" dirty="0"/>
              <a:t>Các mô hình học sâu thường yêu cầu lượng dữ liệu lớn.</a:t>
            </a:r>
          </a:p>
          <a:p>
            <a:pPr marL="342900" lvl="0" indent="-342900" algn="just" fontAlgn="t">
              <a:lnSpc>
                <a:spcPct val="100000"/>
              </a:lnSpc>
              <a:buFont typeface="Arial" panose="020B0604020202020204" pitchFamily="34" charset="0"/>
              <a:buChar char="•"/>
            </a:pPr>
            <a:r>
              <a:rPr lang="ja-JP" altLang="ja-JP" sz="2800" dirty="0"/>
              <a:t>Hiệu năng suy giảm khi áp dụng cho lưu vực chưa từng quan sát.</a:t>
            </a:r>
          </a:p>
          <a:p>
            <a:pPr marL="342900" lvl="0" indent="-342900" algn="just" fontAlgn="t">
              <a:lnSpc>
                <a:spcPct val="100000"/>
              </a:lnSpc>
              <a:buFont typeface="Arial" panose="020B0604020202020204" pitchFamily="34" charset="0"/>
              <a:buChar char="•"/>
            </a:pPr>
            <a:r>
              <a:rPr lang="ja-JP" altLang="ja-JP" sz="2800" dirty="0"/>
              <a:t>Chưa tận dụng đầy đủ kiến thức từ các lưu vực nguồn.</a:t>
            </a:r>
          </a:p>
          <a:p>
            <a:pPr algn="just" fontAlgn="t">
              <a:lnSpc>
                <a:spcPct val="100000"/>
              </a:lnSpc>
              <a:buNone/>
            </a:pPr>
            <a:r>
              <a:rPr lang="ja-JP" altLang="ja-JP" sz="2800" b="1" dirty="0"/>
              <a:t>Thách thức 3: Tính nhất quán vật lý</a:t>
            </a:r>
          </a:p>
          <a:p>
            <a:pPr marL="342900" lvl="0" indent="-342900" algn="just" fontAlgn="t">
              <a:lnSpc>
                <a:spcPct val="100000"/>
              </a:lnSpc>
              <a:buFont typeface="Arial" panose="020B0604020202020204" pitchFamily="34" charset="0"/>
              <a:buChar char="•"/>
            </a:pPr>
            <a:r>
              <a:rPr lang="ja-JP" altLang="ja-JP" sz="2800" dirty="0"/>
              <a:t>Nhiều mô hình AI cho kết quả chính xác nhưng vi phạm cân bằng nước.</a:t>
            </a:r>
          </a:p>
          <a:p>
            <a:pPr marL="342900" lvl="0" indent="-342900" algn="just" fontAlgn="t">
              <a:lnSpc>
                <a:spcPct val="100000"/>
              </a:lnSpc>
              <a:buFont typeface="Arial" panose="020B0604020202020204" pitchFamily="34" charset="0"/>
              <a:buChar char="•"/>
            </a:pPr>
            <a:r>
              <a:rPr lang="ja-JP" altLang="ja-JP" sz="2800" dirty="0"/>
              <a:t>Trữ lượng nước lưu vực thường không được quan trắc trực tiếp.</a:t>
            </a:r>
          </a:p>
          <a:p>
            <a:pPr marL="342900" lvl="0" indent="-342900" algn="just" fontAlgn="t">
              <a:lnSpc>
                <a:spcPct val="100000"/>
              </a:lnSpc>
              <a:buFont typeface="Arial" panose="020B0604020202020204" pitchFamily="34" charset="0"/>
              <a:buChar char="•"/>
            </a:pPr>
            <a:r>
              <a:rPr lang="ja-JP" altLang="ja-JP" sz="2800" dirty="0"/>
              <a:t>Dự báo khó giải thích và thiếu độ tin cậy khi vận hành thực tế.</a:t>
            </a:r>
          </a:p>
          <a:p>
            <a:pPr algn="just"/>
            <a:endParaRPr kumimoji="1" lang="ja-JP" altLang="en-US" sz="2800" dirty="0"/>
          </a:p>
        </p:txBody>
      </p:sp>
    </p:spTree>
    <p:extLst>
      <p:ext uri="{BB962C8B-B14F-4D97-AF65-F5344CB8AC3E}">
        <p14:creationId xmlns:p14="http://schemas.microsoft.com/office/powerpoint/2010/main" val="2050612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0EC8-4039-5955-5ECA-F95E458D5393}"/>
              </a:ext>
            </a:extLst>
          </p:cNvPr>
          <p:cNvSpPr>
            <a:spLocks noGrp="1"/>
          </p:cNvSpPr>
          <p:nvPr>
            <p:ph type="title"/>
          </p:nvPr>
        </p:nvSpPr>
        <p:spPr/>
        <p:txBody>
          <a:bodyPr/>
          <a:lstStyle/>
          <a:p>
            <a:r>
              <a:rPr lang="ja-JP" altLang="ja-JP" dirty="0"/>
              <a:t>2. KHOẢNG TRỐNG NGHIÊN CỨU</a:t>
            </a:r>
            <a:br>
              <a:rPr lang="ja-JP" altLang="ja-JP" dirty="0"/>
            </a:br>
            <a:endParaRPr kumimoji="1" lang="ja-JP" altLang="en-US" dirty="0"/>
          </a:p>
        </p:txBody>
      </p:sp>
      <p:sp>
        <p:nvSpPr>
          <p:cNvPr id="3" name="Text Placeholder 2">
            <a:extLst>
              <a:ext uri="{FF2B5EF4-FFF2-40B4-BE49-F238E27FC236}">
                <a16:creationId xmlns:a16="http://schemas.microsoft.com/office/drawing/2014/main" id="{B0BE6251-CE55-7B80-4480-98A5BEEDE6C3}"/>
              </a:ext>
            </a:extLst>
          </p:cNvPr>
          <p:cNvSpPr>
            <a:spLocks noGrp="1"/>
          </p:cNvSpPr>
          <p:nvPr>
            <p:ph type="body" idx="1"/>
          </p:nvPr>
        </p:nvSpPr>
        <p:spPr>
          <a:xfrm>
            <a:off x="731520" y="1892808"/>
            <a:ext cx="13517880" cy="5909310"/>
          </a:xfrm>
        </p:spPr>
        <p:txBody>
          <a:bodyPr/>
          <a:lstStyle/>
          <a:p>
            <a:pPr fontAlgn="t">
              <a:lnSpc>
                <a:spcPct val="100000"/>
              </a:lnSpc>
              <a:buNone/>
            </a:pPr>
            <a:r>
              <a:rPr lang="ja-JP" altLang="ja-JP" sz="3200" b="1" dirty="0"/>
              <a:t>Về mô hình học máy</a:t>
            </a:r>
          </a:p>
          <a:p>
            <a:pPr marL="342900" lvl="0" indent="-342900" fontAlgn="t">
              <a:lnSpc>
                <a:spcPct val="100000"/>
              </a:lnSpc>
              <a:buFont typeface="Arial" panose="020B0604020202020204" pitchFamily="34" charset="0"/>
              <a:buChar char="•"/>
            </a:pPr>
            <a:r>
              <a:rPr lang="ja-JP" altLang="ja-JP" sz="3200" dirty="0"/>
              <a:t>TSFM (Time Series Foundation Model) đang cho kết quả tốt trên chuỗi thời gian.</a:t>
            </a:r>
          </a:p>
          <a:p>
            <a:pPr marL="342900" lvl="0" indent="-342900" fontAlgn="t">
              <a:lnSpc>
                <a:spcPct val="100000"/>
              </a:lnSpc>
              <a:buFont typeface="Arial" panose="020B0604020202020204" pitchFamily="34" charset="0"/>
              <a:buChar char="•"/>
            </a:pPr>
            <a:r>
              <a:rPr lang="ja-JP" altLang="ja-JP" sz="3200" dirty="0"/>
              <a:t>Chưa có nhiều nghiên cứu TSFM cho bài toán thủy văn lưu vực ít dữ liệu.</a:t>
            </a:r>
          </a:p>
          <a:p>
            <a:pPr fontAlgn="t">
              <a:lnSpc>
                <a:spcPct val="100000"/>
              </a:lnSpc>
              <a:buNone/>
            </a:pPr>
            <a:r>
              <a:rPr lang="ja-JP" altLang="ja-JP" sz="3200" b="1" dirty="0"/>
              <a:t>Về học thích nghi</a:t>
            </a:r>
          </a:p>
          <a:p>
            <a:pPr marL="342900" lvl="0" indent="-342900" fontAlgn="t">
              <a:lnSpc>
                <a:spcPct val="100000"/>
              </a:lnSpc>
              <a:buFont typeface="Arial" panose="020B0604020202020204" pitchFamily="34" charset="0"/>
              <a:buChar char="•"/>
            </a:pPr>
            <a:r>
              <a:rPr lang="ja-JP" altLang="ja-JP" sz="3200" dirty="0"/>
              <a:t>Fine-tuning toàn bộ mô hình tốn tài nguyên.</a:t>
            </a:r>
          </a:p>
          <a:p>
            <a:pPr marL="342900" lvl="0" indent="-342900" fontAlgn="t">
              <a:lnSpc>
                <a:spcPct val="100000"/>
              </a:lnSpc>
              <a:buFont typeface="Arial" panose="020B0604020202020204" pitchFamily="34" charset="0"/>
              <a:buChar char="•"/>
            </a:pPr>
            <a:r>
              <a:rPr lang="ja-JP" altLang="ja-JP" sz="3200" dirty="0"/>
              <a:t>Chưa khai thác hiệu quả các phương pháp thích nghi tiết kiệm tham số (PEFT, Adapter).</a:t>
            </a:r>
          </a:p>
          <a:p>
            <a:pPr fontAlgn="t">
              <a:lnSpc>
                <a:spcPct val="100000"/>
              </a:lnSpc>
              <a:buNone/>
            </a:pPr>
            <a:r>
              <a:rPr lang="ja-JP" altLang="ja-JP" sz="3200" b="1" dirty="0"/>
              <a:t>Về ràng buộc vật lý</a:t>
            </a:r>
          </a:p>
          <a:p>
            <a:pPr marL="342900" lvl="0" indent="-342900" fontAlgn="t">
              <a:lnSpc>
                <a:spcPct val="100000"/>
              </a:lnSpc>
              <a:buFont typeface="Arial" panose="020B0604020202020204" pitchFamily="34" charset="0"/>
              <a:buChar char="•"/>
            </a:pPr>
            <a:r>
              <a:rPr lang="ja-JP" altLang="ja-JP" sz="3200" dirty="0"/>
              <a:t>Đa số nghiên cứu tập trung tối ưu sai số.</a:t>
            </a:r>
          </a:p>
          <a:p>
            <a:pPr marL="342900" lvl="0" indent="-342900" fontAlgn="t">
              <a:lnSpc>
                <a:spcPct val="100000"/>
              </a:lnSpc>
              <a:buFont typeface="Arial" panose="020B0604020202020204" pitchFamily="34" charset="0"/>
              <a:buChar char="•"/>
            </a:pPr>
            <a:r>
              <a:rPr lang="ja-JP" altLang="ja-JP" sz="3200" dirty="0"/>
              <a:t>Ít nghiên cứu tích hợp cân bằng nước trực tiếp vào kiến trúc mô hình.</a:t>
            </a:r>
          </a:p>
          <a:p>
            <a:endParaRPr kumimoji="1" lang="ja-JP" altLang="en-US" sz="3200" dirty="0"/>
          </a:p>
        </p:txBody>
      </p:sp>
    </p:spTree>
    <p:extLst>
      <p:ext uri="{BB962C8B-B14F-4D97-AF65-F5344CB8AC3E}">
        <p14:creationId xmlns:p14="http://schemas.microsoft.com/office/powerpoint/2010/main" val="2779779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71D9-B42A-6D0F-9875-5CBC764A2FEC}"/>
              </a:ext>
            </a:extLst>
          </p:cNvPr>
          <p:cNvSpPr>
            <a:spLocks noGrp="1"/>
          </p:cNvSpPr>
          <p:nvPr>
            <p:ph type="title"/>
          </p:nvPr>
        </p:nvSpPr>
        <p:spPr>
          <a:xfrm>
            <a:off x="691692" y="592074"/>
            <a:ext cx="11737543" cy="1015663"/>
          </a:xfrm>
        </p:spPr>
        <p:txBody>
          <a:bodyPr/>
          <a:lstStyle/>
          <a:p>
            <a:r>
              <a:rPr lang="ja-JP" altLang="ja-JP" dirty="0"/>
              <a:t>3. MỤC TIÊU NGHIÊN CỨU</a:t>
            </a:r>
            <a:br>
              <a:rPr lang="ja-JP" altLang="ja-JP" dirty="0"/>
            </a:br>
            <a:endParaRPr kumimoji="1" lang="ja-JP" altLang="en-US" dirty="0"/>
          </a:p>
        </p:txBody>
      </p:sp>
      <p:sp>
        <p:nvSpPr>
          <p:cNvPr id="3" name="Text Placeholder 2">
            <a:extLst>
              <a:ext uri="{FF2B5EF4-FFF2-40B4-BE49-F238E27FC236}">
                <a16:creationId xmlns:a16="http://schemas.microsoft.com/office/drawing/2014/main" id="{8CBA41D0-5972-FD38-8036-9658C821F4B5}"/>
              </a:ext>
            </a:extLst>
          </p:cNvPr>
          <p:cNvSpPr>
            <a:spLocks noGrp="1"/>
          </p:cNvSpPr>
          <p:nvPr>
            <p:ph type="body" idx="1"/>
          </p:nvPr>
        </p:nvSpPr>
        <p:spPr>
          <a:xfrm>
            <a:off x="381000" y="1295400"/>
            <a:ext cx="13395960" cy="6647974"/>
          </a:xfrm>
        </p:spPr>
        <p:txBody>
          <a:bodyPr/>
          <a:lstStyle/>
          <a:p>
            <a:pPr fontAlgn="t">
              <a:lnSpc>
                <a:spcPct val="100000"/>
              </a:lnSpc>
              <a:buNone/>
            </a:pPr>
            <a:r>
              <a:rPr lang="ja-JP" altLang="ja-JP" b="1" dirty="0"/>
              <a:t>Mục tiêu tổng quát</a:t>
            </a:r>
          </a:p>
          <a:p>
            <a:pPr fontAlgn="t">
              <a:lnSpc>
                <a:spcPct val="100000"/>
              </a:lnSpc>
              <a:buNone/>
            </a:pPr>
            <a:r>
              <a:rPr lang="ja-JP" altLang="ja-JP" dirty="0"/>
              <a:t>Phát triển phương pháp học thích nghi cho mô hình không-thời gian, kết hợp thông tin lưu vực và ràng buộc cân bằng nước nhằm nâng cao chất lượng dự báo dòng chảy và tính nhất quán vật lý trong điều kiện hạn chế dữ liệu.</a:t>
            </a:r>
          </a:p>
          <a:p>
            <a:pPr fontAlgn="t">
              <a:lnSpc>
                <a:spcPct val="100000"/>
              </a:lnSpc>
              <a:buNone/>
            </a:pPr>
            <a:r>
              <a:rPr lang="ja-JP" altLang="ja-JP" b="1" dirty="0"/>
              <a:t>Mục tiêu 1</a:t>
            </a:r>
          </a:p>
          <a:p>
            <a:pPr fontAlgn="t">
              <a:lnSpc>
                <a:spcPct val="100000"/>
              </a:lnSpc>
              <a:buNone/>
            </a:pPr>
            <a:r>
              <a:rPr lang="ja-JP" altLang="ja-JP" b="1" dirty="0"/>
              <a:t>Học thích nghi tiết kiệm tham số</a:t>
            </a:r>
          </a:p>
          <a:p>
            <a:pPr marL="342900" lvl="0" indent="-342900" fontAlgn="t">
              <a:lnSpc>
                <a:spcPct val="100000"/>
              </a:lnSpc>
              <a:buFont typeface="Arial" panose="020B0604020202020204" pitchFamily="34" charset="0"/>
              <a:buChar char="•"/>
            </a:pPr>
            <a:r>
              <a:rPr lang="ja-JP" altLang="ja-JP" dirty="0"/>
              <a:t>Khai thác dữ liệu lịch sử khí tượng - thủy văn.</a:t>
            </a:r>
          </a:p>
          <a:p>
            <a:pPr marL="342900" lvl="0" indent="-342900" fontAlgn="t">
              <a:lnSpc>
                <a:spcPct val="100000"/>
              </a:lnSpc>
              <a:buFont typeface="Arial" panose="020B0604020202020204" pitchFamily="34" charset="0"/>
              <a:buChar char="•"/>
            </a:pPr>
            <a:r>
              <a:rPr lang="ja-JP" altLang="ja-JP" dirty="0"/>
              <a:t>Tích hợp thuộc tính lưu vực.</a:t>
            </a:r>
          </a:p>
          <a:p>
            <a:pPr marL="342900" lvl="0" indent="-342900" fontAlgn="t">
              <a:lnSpc>
                <a:spcPct val="100000"/>
              </a:lnSpc>
              <a:buFont typeface="Arial" panose="020B0604020202020204" pitchFamily="34" charset="0"/>
              <a:buChar char="•"/>
            </a:pPr>
            <a:r>
              <a:rPr lang="ja-JP" altLang="ja-JP" dirty="0"/>
              <a:t>Lựa chọn thông tin hữu ích từ lưu vực nguồn.</a:t>
            </a:r>
          </a:p>
          <a:p>
            <a:pPr marL="342900" lvl="0" indent="-342900" fontAlgn="t">
              <a:lnSpc>
                <a:spcPct val="100000"/>
              </a:lnSpc>
              <a:buFont typeface="Arial" panose="020B0604020202020204" pitchFamily="34" charset="0"/>
              <a:buChar char="•"/>
            </a:pPr>
            <a:r>
              <a:rPr lang="ja-JP" altLang="ja-JP" dirty="0"/>
              <a:t>Giảm yêu cầu dữ liệu huấn luyện tại lưu vực đích.</a:t>
            </a:r>
          </a:p>
          <a:p>
            <a:pPr fontAlgn="t">
              <a:lnSpc>
                <a:spcPct val="100000"/>
              </a:lnSpc>
              <a:buNone/>
            </a:pPr>
            <a:r>
              <a:rPr lang="ja-JP" altLang="ja-JP" b="1" dirty="0"/>
              <a:t>Mục tiêu 2</a:t>
            </a:r>
          </a:p>
          <a:p>
            <a:pPr fontAlgn="t">
              <a:lnSpc>
                <a:spcPct val="100000"/>
              </a:lnSpc>
              <a:buNone/>
            </a:pPr>
            <a:r>
              <a:rPr lang="ja-JP" altLang="ja-JP" b="1" dirty="0"/>
              <a:t>Ràng buộc thủy văn khả vi</a:t>
            </a:r>
          </a:p>
          <a:p>
            <a:pPr marL="342900" lvl="0" indent="-342900" fontAlgn="t">
              <a:lnSpc>
                <a:spcPct val="100000"/>
              </a:lnSpc>
              <a:buFont typeface="Arial" panose="020B0604020202020204" pitchFamily="34" charset="0"/>
              <a:buChar char="•"/>
            </a:pPr>
            <a:r>
              <a:rPr lang="ja-JP" altLang="ja-JP" dirty="0"/>
              <a:t>Thiết kế lớp trạng thái thủy văn khả vi.</a:t>
            </a:r>
          </a:p>
          <a:p>
            <a:pPr marL="342900" lvl="0" indent="-342900" fontAlgn="t">
              <a:lnSpc>
                <a:spcPct val="100000"/>
              </a:lnSpc>
              <a:buFont typeface="Arial" panose="020B0604020202020204" pitchFamily="34" charset="0"/>
              <a:buChar char="•"/>
            </a:pPr>
            <a:r>
              <a:rPr lang="ja-JP" altLang="ja-JP" dirty="0"/>
              <a:t>Mô hình hóa lưu trữ nước và các dòng vào-ra.</a:t>
            </a:r>
          </a:p>
          <a:p>
            <a:pPr marL="342900" lvl="0" indent="-342900" fontAlgn="t">
              <a:lnSpc>
                <a:spcPct val="100000"/>
              </a:lnSpc>
              <a:buFont typeface="Arial" panose="020B0604020202020204" pitchFamily="34" charset="0"/>
              <a:buChar char="•"/>
            </a:pPr>
            <a:r>
              <a:rPr lang="ja-JP" altLang="ja-JP" dirty="0"/>
              <a:t>Đảm bảo tuân thủ nguyên lý cân bằng nước.</a:t>
            </a:r>
          </a:p>
          <a:p>
            <a:pPr marL="342900" lvl="0" indent="-342900" fontAlgn="t">
              <a:lnSpc>
                <a:spcPct val="100000"/>
              </a:lnSpc>
              <a:buFont typeface="Arial" panose="020B0604020202020204" pitchFamily="34" charset="0"/>
              <a:buChar char="•"/>
            </a:pPr>
            <a:r>
              <a:rPr lang="ja-JP" altLang="ja-JP" dirty="0"/>
              <a:t>Hạn chế sai lệch phi vật lý.</a:t>
            </a:r>
          </a:p>
          <a:p>
            <a:pPr fontAlgn="t">
              <a:lnSpc>
                <a:spcPct val="100000"/>
              </a:lnSpc>
              <a:buNone/>
            </a:pPr>
            <a:r>
              <a:rPr lang="ja-JP" altLang="ja-JP" b="1" dirty="0"/>
              <a:t>Mục tiêu 3</a:t>
            </a:r>
          </a:p>
          <a:p>
            <a:pPr fontAlgn="t">
              <a:lnSpc>
                <a:spcPct val="100000"/>
              </a:lnSpc>
              <a:buNone/>
            </a:pPr>
            <a:r>
              <a:rPr lang="ja-JP" altLang="ja-JP" b="1" dirty="0"/>
              <a:t>Khung đánh giá toàn diện</a:t>
            </a:r>
          </a:p>
          <a:p>
            <a:pPr marL="342900" lvl="0" indent="-342900" fontAlgn="t">
              <a:lnSpc>
                <a:spcPct val="100000"/>
              </a:lnSpc>
              <a:buFont typeface="Arial" panose="020B0604020202020204" pitchFamily="34" charset="0"/>
              <a:buChar char="•"/>
            </a:pPr>
            <a:r>
              <a:rPr lang="ja-JP" altLang="ja-JP" dirty="0"/>
              <a:t>Đánh giá theo thời gian.</a:t>
            </a:r>
          </a:p>
          <a:p>
            <a:pPr marL="342900" lvl="0" indent="-342900" fontAlgn="t">
              <a:lnSpc>
                <a:spcPct val="100000"/>
              </a:lnSpc>
              <a:buFont typeface="Arial" panose="020B0604020202020204" pitchFamily="34" charset="0"/>
              <a:buChar char="•"/>
            </a:pPr>
            <a:r>
              <a:rPr lang="ja-JP" altLang="ja-JP" dirty="0"/>
              <a:t>Đánh giá theo không gian (lưu vực).</a:t>
            </a:r>
          </a:p>
          <a:p>
            <a:pPr marL="342900" lvl="0" indent="-342900" fontAlgn="t">
              <a:lnSpc>
                <a:spcPct val="100000"/>
              </a:lnSpc>
              <a:buFont typeface="Arial" panose="020B0604020202020204" pitchFamily="34" charset="0"/>
              <a:buChar char="•"/>
            </a:pPr>
            <a:r>
              <a:rPr lang="ja-JP" altLang="ja-JP" dirty="0"/>
              <a:t>Đánh giá theo mức độ thiếu dữ liệu.</a:t>
            </a:r>
          </a:p>
          <a:p>
            <a:pPr marL="342900" lvl="0" indent="-342900" fontAlgn="t">
              <a:lnSpc>
                <a:spcPct val="100000"/>
              </a:lnSpc>
              <a:buFont typeface="Arial" panose="020B0604020202020204" pitchFamily="34" charset="0"/>
              <a:buChar char="•"/>
            </a:pPr>
            <a:r>
              <a:rPr lang="ja-JP" altLang="ja-JP" dirty="0"/>
              <a:t>Đánh giá đỉnh lũ.</a:t>
            </a:r>
          </a:p>
          <a:p>
            <a:pPr marL="342900" lvl="0" indent="-342900" fontAlgn="t">
              <a:lnSpc>
                <a:spcPct val="100000"/>
              </a:lnSpc>
              <a:buFont typeface="Arial" panose="020B0604020202020204" pitchFamily="34" charset="0"/>
              <a:buChar char="•"/>
            </a:pPr>
            <a:r>
              <a:rPr lang="ja-JP" altLang="ja-JP" dirty="0"/>
              <a:t>Đánh giá dòng chảy thấp.</a:t>
            </a:r>
          </a:p>
          <a:p>
            <a:pPr marL="342900" lvl="0" indent="-342900" fontAlgn="t">
              <a:lnSpc>
                <a:spcPct val="100000"/>
              </a:lnSpc>
              <a:buFont typeface="Arial" panose="020B0604020202020204" pitchFamily="34" charset="0"/>
              <a:buChar char="•"/>
            </a:pPr>
            <a:r>
              <a:rPr lang="ja-JP" altLang="ja-JP" dirty="0"/>
              <a:t>Đánh giá bất định.</a:t>
            </a:r>
          </a:p>
          <a:p>
            <a:endParaRPr kumimoji="1" lang="ja-JP" altLang="en-US" dirty="0"/>
          </a:p>
        </p:txBody>
      </p:sp>
    </p:spTree>
    <p:extLst>
      <p:ext uri="{BB962C8B-B14F-4D97-AF65-F5344CB8AC3E}">
        <p14:creationId xmlns:p14="http://schemas.microsoft.com/office/powerpoint/2010/main" val="270671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8979-8A9E-D11B-90E2-B906DA787A8C}"/>
              </a:ext>
            </a:extLst>
          </p:cNvPr>
          <p:cNvSpPr>
            <a:spLocks noGrp="1"/>
          </p:cNvSpPr>
          <p:nvPr>
            <p:ph type="title"/>
          </p:nvPr>
        </p:nvSpPr>
        <p:spPr>
          <a:xfrm>
            <a:off x="691692" y="592074"/>
            <a:ext cx="11737543" cy="1015663"/>
          </a:xfrm>
        </p:spPr>
        <p:txBody>
          <a:bodyPr/>
          <a:lstStyle/>
          <a:p>
            <a:r>
              <a:rPr lang="ja-JP" altLang="ja-JP" dirty="0"/>
              <a:t>4. GIẢI PHÁP ĐỀ XUẤT</a:t>
            </a:r>
            <a:br>
              <a:rPr lang="ja-JP" altLang="ja-JP" dirty="0"/>
            </a:br>
            <a:endParaRPr kumimoji="1" lang="ja-JP" altLang="en-US" dirty="0"/>
          </a:p>
        </p:txBody>
      </p:sp>
      <p:sp>
        <p:nvSpPr>
          <p:cNvPr id="3" name="Text Placeholder 2">
            <a:extLst>
              <a:ext uri="{FF2B5EF4-FFF2-40B4-BE49-F238E27FC236}">
                <a16:creationId xmlns:a16="http://schemas.microsoft.com/office/drawing/2014/main" id="{EA19492D-25C1-B4BB-5275-05124F79A096}"/>
              </a:ext>
            </a:extLst>
          </p:cNvPr>
          <p:cNvSpPr>
            <a:spLocks noGrp="1"/>
          </p:cNvSpPr>
          <p:nvPr>
            <p:ph type="body" idx="1"/>
          </p:nvPr>
        </p:nvSpPr>
        <p:spPr>
          <a:xfrm>
            <a:off x="731520" y="1892808"/>
            <a:ext cx="13167360" cy="6032421"/>
          </a:xfrm>
        </p:spPr>
        <p:txBody>
          <a:bodyPr/>
          <a:lstStyle/>
          <a:p>
            <a:r>
              <a:rPr lang="ja-JP" altLang="ja-JP" sz="2800" dirty="0"/>
              <a:t>Khí tượng</a:t>
            </a:r>
            <a:r>
              <a:rPr lang="en-US" altLang="ja-JP" sz="2800" dirty="0"/>
              <a:t> </a:t>
            </a:r>
            <a:r>
              <a:rPr lang="ja-JP" altLang="ja-JP" sz="2800" dirty="0"/>
              <a:t>(Mưa, Nhiệt độ,</a:t>
            </a:r>
            <a:r>
              <a:rPr lang="en-US" altLang="ja-JP" sz="2800" dirty="0"/>
              <a:t> </a:t>
            </a:r>
            <a:r>
              <a:rPr lang="ja-JP" altLang="ja-JP" sz="2800" dirty="0"/>
              <a:t>Bốc thoát hơi</a:t>
            </a:r>
            <a:r>
              <a:rPr lang="en-US" altLang="ja-JP" sz="2800" dirty="0"/>
              <a:t>,…</a:t>
            </a:r>
            <a:r>
              <a:rPr lang="ja-JP" altLang="ja-JP" sz="2800" dirty="0"/>
              <a:t>)</a:t>
            </a:r>
          </a:p>
          <a:p>
            <a:r>
              <a:rPr lang="ja-JP" altLang="ja-JP" sz="2800" dirty="0"/>
              <a:t> ▼</a:t>
            </a:r>
            <a:endParaRPr lang="en-US" altLang="ja-JP" sz="2800" dirty="0"/>
          </a:p>
          <a:p>
            <a:r>
              <a:rPr lang="ja-JP" altLang="ja-JP" sz="2800" dirty="0"/>
              <a:t>Tiền xử lý dữ liệu</a:t>
            </a:r>
          </a:p>
          <a:p>
            <a:r>
              <a:rPr lang="ja-JP" altLang="ja-JP" sz="2800" dirty="0"/>
              <a:t> ▼</a:t>
            </a:r>
          </a:p>
          <a:p>
            <a:r>
              <a:rPr lang="ja-JP" altLang="ja-JP" sz="2800" dirty="0"/>
              <a:t>Mã hóa bối cảnh lưu vực</a:t>
            </a:r>
          </a:p>
          <a:p>
            <a:r>
              <a:rPr lang="ja-JP" altLang="ja-JP" sz="2800" dirty="0"/>
              <a:t>▼</a:t>
            </a:r>
          </a:p>
          <a:p>
            <a:r>
              <a:rPr lang="ja-JP" altLang="ja-JP" sz="2800" dirty="0"/>
              <a:t>TSFM tiền huấn luyện</a:t>
            </a:r>
          </a:p>
          <a:p>
            <a:r>
              <a:rPr lang="ja-JP" altLang="ja-JP" sz="2800" dirty="0"/>
              <a:t>▼</a:t>
            </a:r>
          </a:p>
          <a:p>
            <a:r>
              <a:rPr lang="ja-JP" altLang="ja-JP" sz="2800" dirty="0"/>
              <a:t>Adapter / PEFT</a:t>
            </a:r>
          </a:p>
          <a:p>
            <a:r>
              <a:rPr lang="ja-JP" altLang="ja-JP" sz="2800" dirty="0"/>
              <a:t>▼</a:t>
            </a:r>
          </a:p>
          <a:p>
            <a:r>
              <a:rPr lang="ja-JP" altLang="ja-JP" sz="2800" dirty="0"/>
              <a:t>Lớp thủy văn</a:t>
            </a:r>
            <a:r>
              <a:rPr lang="en-US" altLang="ja-JP" sz="2800" dirty="0"/>
              <a:t> </a:t>
            </a:r>
            <a:r>
              <a:rPr lang="ja-JP" altLang="ja-JP" sz="2800" dirty="0"/>
              <a:t>có ràng buộc</a:t>
            </a:r>
            <a:r>
              <a:rPr lang="en-US" altLang="ja-JP" sz="2800" dirty="0"/>
              <a:t> </a:t>
            </a:r>
            <a:r>
              <a:rPr lang="ja-JP" altLang="ja-JP" sz="2800" dirty="0"/>
              <a:t>cân bằng nước</a:t>
            </a:r>
          </a:p>
          <a:p>
            <a:r>
              <a:rPr lang="ja-JP" altLang="ja-JP" sz="2800" dirty="0"/>
              <a:t>▼</a:t>
            </a:r>
          </a:p>
          <a:p>
            <a:r>
              <a:rPr lang="ja-JP" altLang="ja-JP" sz="2800" dirty="0"/>
              <a:t>Dự báo dòng chảy</a:t>
            </a:r>
            <a:r>
              <a:rPr lang="en-US" altLang="ja-JP" sz="2800" dirty="0"/>
              <a:t> + </a:t>
            </a:r>
            <a:r>
              <a:rPr lang="ja-JP" altLang="ja-JP" sz="2800" dirty="0"/>
              <a:t>Khoảng bất định</a:t>
            </a:r>
            <a:r>
              <a:rPr lang="en-US" altLang="ja-JP" sz="2800" dirty="0"/>
              <a:t> + </a:t>
            </a:r>
            <a:r>
              <a:rPr lang="ja-JP" altLang="ja-JP" sz="2800" dirty="0"/>
              <a:t>Chỉ số vật lý</a:t>
            </a:r>
          </a:p>
          <a:p>
            <a:endParaRPr kumimoji="1" lang="ja-JP" altLang="en-US" sz="2800" dirty="0"/>
          </a:p>
        </p:txBody>
      </p:sp>
    </p:spTree>
    <p:extLst>
      <p:ext uri="{BB962C8B-B14F-4D97-AF65-F5344CB8AC3E}">
        <p14:creationId xmlns:p14="http://schemas.microsoft.com/office/powerpoint/2010/main" val="3091191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DDB1A-A25F-0732-4910-B5B4DB7DE0C6}"/>
              </a:ext>
            </a:extLst>
          </p:cNvPr>
          <p:cNvSpPr>
            <a:spLocks noGrp="1"/>
          </p:cNvSpPr>
          <p:nvPr>
            <p:ph type="title"/>
          </p:nvPr>
        </p:nvSpPr>
        <p:spPr>
          <a:xfrm>
            <a:off x="691692" y="592074"/>
            <a:ext cx="11737543" cy="1015663"/>
          </a:xfrm>
        </p:spPr>
        <p:txBody>
          <a:bodyPr/>
          <a:lstStyle/>
          <a:p>
            <a:r>
              <a:rPr lang="ja-JP" altLang="ja-JP" dirty="0"/>
              <a:t>5. QUY TRÌNH XỬ LÝ DỮ LIỆU</a:t>
            </a:r>
            <a:br>
              <a:rPr lang="ja-JP" altLang="ja-JP" dirty="0"/>
            </a:br>
            <a:endParaRPr kumimoji="1" lang="ja-JP" altLang="en-US" dirty="0"/>
          </a:p>
        </p:txBody>
      </p:sp>
      <p:sp>
        <p:nvSpPr>
          <p:cNvPr id="3" name="Text Placeholder 2">
            <a:extLst>
              <a:ext uri="{FF2B5EF4-FFF2-40B4-BE49-F238E27FC236}">
                <a16:creationId xmlns:a16="http://schemas.microsoft.com/office/drawing/2014/main" id="{26D7AA9A-FF62-89D9-39AF-494E0330E67F}"/>
              </a:ext>
            </a:extLst>
          </p:cNvPr>
          <p:cNvSpPr>
            <a:spLocks noGrp="1"/>
          </p:cNvSpPr>
          <p:nvPr>
            <p:ph type="body" idx="1"/>
          </p:nvPr>
        </p:nvSpPr>
        <p:spPr>
          <a:xfrm>
            <a:off x="731520" y="1892808"/>
            <a:ext cx="3154680" cy="3046988"/>
          </a:xfrm>
        </p:spPr>
        <p:txBody>
          <a:bodyPr/>
          <a:lstStyle/>
          <a:p>
            <a:pPr fontAlgn="t">
              <a:lnSpc>
                <a:spcPct val="100000"/>
              </a:lnSpc>
              <a:buNone/>
            </a:pPr>
            <a:r>
              <a:rPr lang="ja-JP" altLang="ja-JP" b="1" dirty="0"/>
              <a:t>Bước 1: Chuẩn hóa dữ liệu</a:t>
            </a:r>
          </a:p>
          <a:p>
            <a:pPr fontAlgn="t">
              <a:lnSpc>
                <a:spcPct val="100000"/>
              </a:lnSpc>
              <a:buNone/>
            </a:pPr>
            <a:r>
              <a:rPr lang="ja-JP" altLang="ja-JP" dirty="0"/>
              <a:t>Đồng bộ:</a:t>
            </a:r>
          </a:p>
          <a:p>
            <a:pPr marL="342900" lvl="0" indent="-342900" fontAlgn="t">
              <a:lnSpc>
                <a:spcPct val="100000"/>
              </a:lnSpc>
              <a:buFont typeface="Arial" panose="020B0604020202020204" pitchFamily="34" charset="0"/>
              <a:buChar char="•"/>
            </a:pPr>
            <a:r>
              <a:rPr lang="ja-JP" altLang="ja-JP" dirty="0"/>
              <a:t>Lượng mưa</a:t>
            </a:r>
          </a:p>
          <a:p>
            <a:pPr marL="342900" lvl="0" indent="-342900" fontAlgn="t">
              <a:lnSpc>
                <a:spcPct val="100000"/>
              </a:lnSpc>
              <a:buFont typeface="Arial" panose="020B0604020202020204" pitchFamily="34" charset="0"/>
              <a:buChar char="•"/>
            </a:pPr>
            <a:r>
              <a:rPr lang="ja-JP" altLang="ja-JP" dirty="0"/>
              <a:t>Lưu lượng</a:t>
            </a:r>
          </a:p>
          <a:p>
            <a:pPr marL="342900" lvl="0" indent="-342900" fontAlgn="t">
              <a:lnSpc>
                <a:spcPct val="100000"/>
              </a:lnSpc>
              <a:buFont typeface="Arial" panose="020B0604020202020204" pitchFamily="34" charset="0"/>
              <a:buChar char="•"/>
            </a:pPr>
            <a:r>
              <a:rPr lang="ja-JP" altLang="ja-JP" dirty="0"/>
              <a:t>Nhiệt độ</a:t>
            </a:r>
          </a:p>
          <a:p>
            <a:pPr marL="342900" lvl="0" indent="-342900" fontAlgn="t">
              <a:lnSpc>
                <a:spcPct val="100000"/>
              </a:lnSpc>
              <a:buFont typeface="Arial" panose="020B0604020202020204" pitchFamily="34" charset="0"/>
              <a:buChar char="•"/>
            </a:pPr>
            <a:r>
              <a:rPr lang="ja-JP" altLang="ja-JP" dirty="0"/>
              <a:t>Bốc thoát hơi</a:t>
            </a:r>
          </a:p>
          <a:p>
            <a:pPr marL="342900" lvl="0" indent="-342900" fontAlgn="t">
              <a:lnSpc>
                <a:spcPct val="100000"/>
              </a:lnSpc>
              <a:buFont typeface="Arial" panose="020B0604020202020204" pitchFamily="34" charset="0"/>
              <a:buChar char="•"/>
            </a:pPr>
            <a:r>
              <a:rPr lang="ja-JP" altLang="ja-JP" dirty="0"/>
              <a:t>Thuộc tính lưu vực</a:t>
            </a:r>
          </a:p>
          <a:p>
            <a:pPr fontAlgn="t">
              <a:lnSpc>
                <a:spcPct val="100000"/>
              </a:lnSpc>
              <a:buNone/>
            </a:pPr>
            <a:r>
              <a:rPr lang="ja-JP" altLang="ja-JP" dirty="0"/>
              <a:t>Lưu giữ:</a:t>
            </a:r>
          </a:p>
          <a:p>
            <a:pPr marL="342900" lvl="0" indent="-342900" fontAlgn="t">
              <a:lnSpc>
                <a:spcPct val="100000"/>
              </a:lnSpc>
              <a:buFont typeface="Arial" panose="020B0604020202020204" pitchFamily="34" charset="0"/>
              <a:buChar char="•"/>
            </a:pPr>
            <a:r>
              <a:rPr lang="ja-JP" altLang="ja-JP" dirty="0"/>
              <a:t>Mặt nạ dữ liệu thiếu</a:t>
            </a:r>
          </a:p>
          <a:p>
            <a:pPr marL="342900" lvl="0" indent="-342900" fontAlgn="t">
              <a:lnSpc>
                <a:spcPct val="100000"/>
              </a:lnSpc>
              <a:buFont typeface="Arial" panose="020B0604020202020204" pitchFamily="34" charset="0"/>
              <a:buChar char="•"/>
            </a:pPr>
            <a:r>
              <a:rPr lang="ja-JP" altLang="ja-JP" dirty="0"/>
              <a:t>Thông tin chất lượng dữ liệu</a:t>
            </a:r>
          </a:p>
          <a:p>
            <a:endParaRPr kumimoji="1" lang="ja-JP" altLang="en-US" dirty="0"/>
          </a:p>
        </p:txBody>
      </p:sp>
      <p:sp>
        <p:nvSpPr>
          <p:cNvPr id="4" name="Text Placeholder 2">
            <a:extLst>
              <a:ext uri="{FF2B5EF4-FFF2-40B4-BE49-F238E27FC236}">
                <a16:creationId xmlns:a16="http://schemas.microsoft.com/office/drawing/2014/main" id="{0F651795-A8C1-69AC-DDFE-4919DA6666D0}"/>
              </a:ext>
            </a:extLst>
          </p:cNvPr>
          <p:cNvSpPr txBox="1">
            <a:spLocks/>
          </p:cNvSpPr>
          <p:nvPr/>
        </p:nvSpPr>
        <p:spPr>
          <a:xfrm>
            <a:off x="4038600" y="1892808"/>
            <a:ext cx="3154680" cy="3046988"/>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t">
              <a:lnSpc>
                <a:spcPct val="100000"/>
              </a:lnSpc>
              <a:buNone/>
            </a:pPr>
            <a:r>
              <a:rPr lang="ja-JP" altLang="ja-JP" b="1" dirty="0"/>
              <a:t>Bước 2: Mã hóa bối cảnh lưu vực</a:t>
            </a:r>
          </a:p>
          <a:p>
            <a:pPr fontAlgn="t">
              <a:lnSpc>
                <a:spcPct val="100000"/>
              </a:lnSpc>
              <a:buNone/>
            </a:pPr>
            <a:r>
              <a:rPr lang="ja-JP" altLang="ja-JP" dirty="0"/>
              <a:t>Biểu diễn:</a:t>
            </a:r>
          </a:p>
          <a:p>
            <a:pPr marL="342900" lvl="0" indent="-342900" fontAlgn="t">
              <a:lnSpc>
                <a:spcPct val="100000"/>
              </a:lnSpc>
              <a:buFont typeface="Arial" panose="020B0604020202020204" pitchFamily="34" charset="0"/>
              <a:buChar char="•"/>
            </a:pPr>
            <a:r>
              <a:rPr lang="ja-JP" altLang="ja-JP" dirty="0"/>
              <a:t>Địa hình</a:t>
            </a:r>
          </a:p>
          <a:p>
            <a:pPr marL="342900" lvl="0" indent="-342900" fontAlgn="t">
              <a:lnSpc>
                <a:spcPct val="100000"/>
              </a:lnSpc>
              <a:buFont typeface="Arial" panose="020B0604020202020204" pitchFamily="34" charset="0"/>
              <a:buChar char="•"/>
            </a:pPr>
            <a:r>
              <a:rPr lang="ja-JP" altLang="ja-JP" dirty="0"/>
              <a:t>Thổ nhưỡng</a:t>
            </a:r>
          </a:p>
          <a:p>
            <a:pPr marL="342900" lvl="0" indent="-342900" fontAlgn="t">
              <a:lnSpc>
                <a:spcPct val="100000"/>
              </a:lnSpc>
              <a:buFont typeface="Arial" panose="020B0604020202020204" pitchFamily="34" charset="0"/>
              <a:buChar char="•"/>
            </a:pPr>
            <a:r>
              <a:rPr lang="ja-JP" altLang="ja-JP" dirty="0"/>
              <a:t>Sử dụng đất</a:t>
            </a:r>
          </a:p>
          <a:p>
            <a:pPr marL="342900" lvl="0" indent="-342900" fontAlgn="t">
              <a:lnSpc>
                <a:spcPct val="100000"/>
              </a:lnSpc>
              <a:buFont typeface="Arial" panose="020B0604020202020204" pitchFamily="34" charset="0"/>
              <a:buChar char="•"/>
            </a:pPr>
            <a:r>
              <a:rPr lang="ja-JP" altLang="ja-JP" dirty="0"/>
              <a:t>Khí hậu</a:t>
            </a:r>
          </a:p>
          <a:p>
            <a:pPr fontAlgn="t">
              <a:lnSpc>
                <a:spcPct val="100000"/>
              </a:lnSpc>
              <a:buNone/>
            </a:pPr>
            <a:r>
              <a:rPr lang="ja-JP" altLang="ja-JP" dirty="0"/>
              <a:t>Mở rộng:</a:t>
            </a:r>
          </a:p>
          <a:p>
            <a:pPr marL="342900" lvl="0" indent="-342900" fontAlgn="t">
              <a:lnSpc>
                <a:spcPct val="100000"/>
              </a:lnSpc>
              <a:buFont typeface="Arial" panose="020B0604020202020204" pitchFamily="34" charset="0"/>
              <a:buChar char="•"/>
            </a:pPr>
            <a:r>
              <a:rPr lang="ja-JP" altLang="ja-JP" dirty="0"/>
              <a:t>Quan hệ thượng lưu - hạ lưu</a:t>
            </a:r>
          </a:p>
          <a:p>
            <a:pPr marL="342900" lvl="0" indent="-342900" fontAlgn="t">
              <a:lnSpc>
                <a:spcPct val="100000"/>
              </a:lnSpc>
              <a:buFont typeface="Arial" panose="020B0604020202020204" pitchFamily="34" charset="0"/>
              <a:buChar char="•"/>
            </a:pPr>
            <a:r>
              <a:rPr lang="ja-JP" altLang="ja-JP" dirty="0"/>
              <a:t>Mạng sông (khi dữ liệu cho phép)</a:t>
            </a:r>
            <a:endParaRPr lang="ja-JP" altLang="ja-JP" sz="1800" b="0" i="0" dirty="0">
              <a:effectLst/>
              <a:latin typeface="+mn-lt"/>
            </a:endParaRPr>
          </a:p>
        </p:txBody>
      </p:sp>
      <p:sp>
        <p:nvSpPr>
          <p:cNvPr id="6" name="Text Placeholder 2">
            <a:extLst>
              <a:ext uri="{FF2B5EF4-FFF2-40B4-BE49-F238E27FC236}">
                <a16:creationId xmlns:a16="http://schemas.microsoft.com/office/drawing/2014/main" id="{36950BD4-C883-5670-AFDF-0793E7B593D4}"/>
              </a:ext>
            </a:extLst>
          </p:cNvPr>
          <p:cNvSpPr txBox="1">
            <a:spLocks/>
          </p:cNvSpPr>
          <p:nvPr/>
        </p:nvSpPr>
        <p:spPr>
          <a:xfrm>
            <a:off x="7345680" y="1892808"/>
            <a:ext cx="3154680" cy="3046988"/>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t">
              <a:lnSpc>
                <a:spcPct val="100000"/>
              </a:lnSpc>
              <a:buNone/>
            </a:pPr>
            <a:r>
              <a:rPr lang="ja-JP" altLang="ja-JP" b="1" dirty="0"/>
              <a:t>Bước 3: Thích nghi TSFM</a:t>
            </a:r>
          </a:p>
          <a:p>
            <a:pPr fontAlgn="t">
              <a:lnSpc>
                <a:spcPct val="100000"/>
              </a:lnSpc>
              <a:buNone/>
            </a:pPr>
            <a:r>
              <a:rPr lang="ja-JP" altLang="ja-JP" b="1" dirty="0"/>
              <a:t>Thành phần chính</a:t>
            </a:r>
          </a:p>
          <a:p>
            <a:pPr marL="342900" lvl="0" indent="-342900" fontAlgn="t">
              <a:lnSpc>
                <a:spcPct val="100000"/>
              </a:lnSpc>
              <a:buFont typeface="Arial" panose="020B0604020202020204" pitchFamily="34" charset="0"/>
              <a:buChar char="•"/>
            </a:pPr>
            <a:r>
              <a:rPr lang="ja-JP" altLang="ja-JP" dirty="0"/>
              <a:t>TSFM tiền huấn luyện</a:t>
            </a:r>
          </a:p>
          <a:p>
            <a:pPr marL="342900" lvl="0" indent="-342900" fontAlgn="t">
              <a:lnSpc>
                <a:spcPct val="100000"/>
              </a:lnSpc>
              <a:buFont typeface="Arial" panose="020B0604020202020204" pitchFamily="34" charset="0"/>
              <a:buChar char="•"/>
            </a:pPr>
            <a:r>
              <a:rPr lang="ja-JP" altLang="ja-JP" dirty="0"/>
              <a:t>Adapter / PEFT</a:t>
            </a:r>
          </a:p>
          <a:p>
            <a:pPr marL="342900" lvl="0" indent="-342900" fontAlgn="t">
              <a:lnSpc>
                <a:spcPct val="100000"/>
              </a:lnSpc>
              <a:buFont typeface="Arial" panose="020B0604020202020204" pitchFamily="34" charset="0"/>
              <a:buChar char="•"/>
            </a:pPr>
            <a:r>
              <a:rPr lang="ja-JP" altLang="ja-JP" dirty="0"/>
              <a:t>Lớp thủy văn</a:t>
            </a:r>
          </a:p>
          <a:p>
            <a:pPr fontAlgn="t">
              <a:lnSpc>
                <a:spcPct val="100000"/>
              </a:lnSpc>
              <a:buNone/>
            </a:pPr>
            <a:r>
              <a:rPr lang="ja-JP" altLang="ja-JP" b="1" dirty="0"/>
              <a:t>Thành phần mở rộng</a:t>
            </a:r>
          </a:p>
          <a:p>
            <a:pPr fontAlgn="t">
              <a:lnSpc>
                <a:spcPct val="100000"/>
              </a:lnSpc>
              <a:buNone/>
            </a:pPr>
            <a:r>
              <a:rPr lang="ja-JP" altLang="ja-JP" dirty="0"/>
              <a:t>GNN chỉ được sử dụng khi cần chứng minh:</a:t>
            </a:r>
          </a:p>
          <a:p>
            <a:pPr fontAlgn="t">
              <a:lnSpc>
                <a:spcPct val="100000"/>
              </a:lnSpc>
              <a:buNone/>
            </a:pPr>
            <a:r>
              <a:rPr lang="ja-JP" altLang="ja-JP" dirty="0"/>
              <a:t>Quan hệ mạng sông tạo ra lợi ích vượt lên trên mô hình lưu vực độc lập.</a:t>
            </a:r>
            <a:endParaRPr lang="ja-JP" altLang="ja-JP" sz="1800" b="0" i="0" dirty="0">
              <a:effectLst/>
              <a:latin typeface="+mn-lt"/>
            </a:endParaRPr>
          </a:p>
        </p:txBody>
      </p:sp>
      <p:sp>
        <p:nvSpPr>
          <p:cNvPr id="8" name="Text Placeholder 2">
            <a:extLst>
              <a:ext uri="{FF2B5EF4-FFF2-40B4-BE49-F238E27FC236}">
                <a16:creationId xmlns:a16="http://schemas.microsoft.com/office/drawing/2014/main" id="{B61B4634-08DF-DB5D-DADC-AD5F8A7078DD}"/>
              </a:ext>
            </a:extLst>
          </p:cNvPr>
          <p:cNvSpPr txBox="1">
            <a:spLocks/>
          </p:cNvSpPr>
          <p:nvPr/>
        </p:nvSpPr>
        <p:spPr>
          <a:xfrm>
            <a:off x="10641874" y="1892808"/>
            <a:ext cx="3154680" cy="4154984"/>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t">
              <a:lnSpc>
                <a:spcPct val="100000"/>
              </a:lnSpc>
              <a:buNone/>
            </a:pPr>
            <a:r>
              <a:rPr lang="ja-JP" altLang="ja-JP" b="1" dirty="0"/>
              <a:t>Bước 4: Lớp thủy văn có ràng buộc</a:t>
            </a:r>
          </a:p>
          <a:p>
            <a:pPr fontAlgn="t">
              <a:lnSpc>
                <a:spcPct val="100000"/>
              </a:lnSpc>
              <a:buNone/>
            </a:pPr>
            <a:r>
              <a:rPr lang="ja-JP" altLang="ja-JP" b="1" dirty="0"/>
              <a:t>Cân bằng nước</a:t>
            </a:r>
          </a:p>
          <a:p>
            <a:pPr fontAlgn="t">
              <a:lnSpc>
                <a:spcPct val="100000"/>
              </a:lnSpc>
              <a:buNone/>
            </a:pPr>
            <a:r>
              <a:rPr lang="ja-JP" altLang="ja-JP" dirty="0"/>
              <a:t>Plain Text</a:t>
            </a:r>
          </a:p>
          <a:p>
            <a:pPr fontAlgn="t">
              <a:lnSpc>
                <a:spcPct val="100000"/>
              </a:lnSpc>
              <a:buNone/>
            </a:pPr>
            <a:r>
              <a:rPr lang="ja-JP" altLang="ja-JP" dirty="0"/>
              <a:t>ΔS = P − ET − Q + ε</a:t>
            </a:r>
          </a:p>
          <a:p>
            <a:pPr fontAlgn="t">
              <a:lnSpc>
                <a:spcPct val="100000"/>
              </a:lnSpc>
              <a:buNone/>
            </a:pPr>
            <a:r>
              <a:rPr lang="ja-JP" altLang="ja-JP" dirty="0"/>
              <a:t>Trong đó:</a:t>
            </a:r>
          </a:p>
          <a:p>
            <a:pPr marL="342900" lvl="0" indent="-342900" fontAlgn="t">
              <a:lnSpc>
                <a:spcPct val="100000"/>
              </a:lnSpc>
              <a:buFont typeface="Arial" panose="020B0604020202020204" pitchFamily="34" charset="0"/>
              <a:buChar char="•"/>
            </a:pPr>
            <a:r>
              <a:rPr lang="ja-JP" altLang="ja-JP" dirty="0"/>
              <a:t>ΔS: thay đổi trữ lượng nước</a:t>
            </a:r>
          </a:p>
          <a:p>
            <a:pPr marL="342900" lvl="0" indent="-342900" fontAlgn="t">
              <a:lnSpc>
                <a:spcPct val="100000"/>
              </a:lnSpc>
              <a:buFont typeface="Arial" panose="020B0604020202020204" pitchFamily="34" charset="0"/>
              <a:buChar char="•"/>
            </a:pPr>
            <a:r>
              <a:rPr lang="ja-JP" altLang="ja-JP" dirty="0"/>
              <a:t>P: lượng mưa</a:t>
            </a:r>
          </a:p>
          <a:p>
            <a:pPr marL="342900" lvl="0" indent="-342900" fontAlgn="t">
              <a:lnSpc>
                <a:spcPct val="100000"/>
              </a:lnSpc>
              <a:buFont typeface="Arial" panose="020B0604020202020204" pitchFamily="34" charset="0"/>
              <a:buChar char="•"/>
            </a:pPr>
            <a:r>
              <a:rPr lang="ja-JP" altLang="ja-JP" dirty="0"/>
              <a:t>ET: bốc thoát hơi</a:t>
            </a:r>
          </a:p>
          <a:p>
            <a:pPr marL="342900" lvl="0" indent="-342900" fontAlgn="t">
              <a:lnSpc>
                <a:spcPct val="100000"/>
              </a:lnSpc>
              <a:buFont typeface="Arial" panose="020B0604020202020204" pitchFamily="34" charset="0"/>
              <a:buChar char="•"/>
            </a:pPr>
            <a:r>
              <a:rPr lang="ja-JP" altLang="ja-JP" dirty="0"/>
              <a:t>Q: dòng chảy</a:t>
            </a:r>
          </a:p>
          <a:p>
            <a:pPr marL="342900" lvl="0" indent="-342900" fontAlgn="t">
              <a:lnSpc>
                <a:spcPct val="100000"/>
              </a:lnSpc>
              <a:buFont typeface="Arial" panose="020B0604020202020204" pitchFamily="34" charset="0"/>
              <a:buChar char="•"/>
            </a:pPr>
            <a:r>
              <a:rPr lang="ja-JP" altLang="ja-JP" dirty="0"/>
              <a:t>ε: sai số còn lại</a:t>
            </a:r>
          </a:p>
          <a:p>
            <a:pPr fontAlgn="t">
              <a:lnSpc>
                <a:spcPct val="100000"/>
              </a:lnSpc>
              <a:buNone/>
            </a:pPr>
            <a:r>
              <a:rPr lang="ja-JP" altLang="ja-JP" dirty="0"/>
              <a:t>Mục tiêu:</a:t>
            </a:r>
          </a:p>
          <a:p>
            <a:pPr marL="342900" lvl="0" indent="-342900" fontAlgn="t">
              <a:lnSpc>
                <a:spcPct val="100000"/>
              </a:lnSpc>
              <a:buFont typeface="Arial" panose="020B0604020202020204" pitchFamily="34" charset="0"/>
              <a:buChar char="•"/>
            </a:pPr>
            <a:r>
              <a:rPr lang="ja-JP" altLang="ja-JP" dirty="0"/>
              <a:t>Giảm phần dư vật lý.</a:t>
            </a:r>
          </a:p>
          <a:p>
            <a:pPr marL="342900" lvl="0" indent="-342900" fontAlgn="t">
              <a:lnSpc>
                <a:spcPct val="100000"/>
              </a:lnSpc>
              <a:buFont typeface="Arial" panose="020B0604020202020204" pitchFamily="34" charset="0"/>
              <a:buChar char="•"/>
            </a:pPr>
            <a:r>
              <a:rPr lang="ja-JP" altLang="ja-JP" dirty="0"/>
              <a:t>Duy trì tính nhất quán thủy văn.</a:t>
            </a:r>
            <a:endParaRPr lang="ja-JP" altLang="ja-JP" sz="1800" b="0" i="0" dirty="0">
              <a:effectLst/>
              <a:latin typeface="+mn-lt"/>
            </a:endParaRPr>
          </a:p>
        </p:txBody>
      </p:sp>
    </p:spTree>
    <p:extLst>
      <p:ext uri="{BB962C8B-B14F-4D97-AF65-F5344CB8AC3E}">
        <p14:creationId xmlns:p14="http://schemas.microsoft.com/office/powerpoint/2010/main" val="315219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17959-C61E-7F84-51C5-E0919C91E34B}"/>
              </a:ext>
            </a:extLst>
          </p:cNvPr>
          <p:cNvSpPr>
            <a:spLocks noGrp="1"/>
          </p:cNvSpPr>
          <p:nvPr>
            <p:ph type="title"/>
          </p:nvPr>
        </p:nvSpPr>
        <p:spPr>
          <a:xfrm>
            <a:off x="691692" y="592074"/>
            <a:ext cx="11737543" cy="1015663"/>
          </a:xfrm>
        </p:spPr>
        <p:txBody>
          <a:bodyPr/>
          <a:lstStyle/>
          <a:p>
            <a:r>
              <a:rPr lang="ja-JP" altLang="ja-JP" dirty="0"/>
              <a:t>6. TRƯỜNG HỢP HỒ CHỨA</a:t>
            </a:r>
            <a:br>
              <a:rPr lang="ja-JP" altLang="ja-JP" dirty="0"/>
            </a:br>
            <a:endParaRPr kumimoji="1" lang="ja-JP" altLang="en-US" dirty="0"/>
          </a:p>
        </p:txBody>
      </p:sp>
      <p:sp>
        <p:nvSpPr>
          <p:cNvPr id="3" name="Text Placeholder 2">
            <a:extLst>
              <a:ext uri="{FF2B5EF4-FFF2-40B4-BE49-F238E27FC236}">
                <a16:creationId xmlns:a16="http://schemas.microsoft.com/office/drawing/2014/main" id="{841BEC4A-8E26-9DA6-FD7F-E41C7A2312D4}"/>
              </a:ext>
            </a:extLst>
          </p:cNvPr>
          <p:cNvSpPr>
            <a:spLocks noGrp="1"/>
          </p:cNvSpPr>
          <p:nvPr>
            <p:ph type="body" idx="1"/>
          </p:nvPr>
        </p:nvSpPr>
        <p:spPr>
          <a:xfrm>
            <a:off x="731520" y="1892808"/>
            <a:ext cx="13167360" cy="4154984"/>
          </a:xfrm>
        </p:spPr>
        <p:txBody>
          <a:bodyPr/>
          <a:lstStyle/>
          <a:p>
            <a:pPr fontAlgn="t">
              <a:lnSpc>
                <a:spcPct val="100000"/>
              </a:lnSpc>
              <a:buNone/>
            </a:pPr>
            <a:r>
              <a:rPr lang="ja-JP" altLang="ja-JP" b="1" dirty="0"/>
              <a:t>Bổ sung ràng buộc cân bằng dung tích</a:t>
            </a:r>
          </a:p>
          <a:p>
            <a:r>
              <a:rPr lang="ja-JP" altLang="ja-JP" dirty="0"/>
              <a:t>ΔV = Qin − Qout</a:t>
            </a:r>
          </a:p>
          <a:p>
            <a:r>
              <a:rPr lang="ja-JP" altLang="ja-JP" dirty="0"/>
              <a:t>     + P_lake</a:t>
            </a:r>
          </a:p>
          <a:p>
            <a:r>
              <a:rPr lang="ja-JP" altLang="ja-JP" dirty="0"/>
              <a:t>     − E_lake</a:t>
            </a:r>
          </a:p>
          <a:p>
            <a:r>
              <a:rPr lang="ja-JP" altLang="ja-JP" dirty="0"/>
              <a:t>     − Loss</a:t>
            </a:r>
          </a:p>
          <a:p>
            <a:pPr fontAlgn="t">
              <a:lnSpc>
                <a:spcPct val="100000"/>
              </a:lnSpc>
              <a:buNone/>
            </a:pPr>
            <a:r>
              <a:rPr lang="ja-JP" altLang="ja-JP" dirty="0"/>
              <a:t>Trong đó:</a:t>
            </a:r>
          </a:p>
          <a:p>
            <a:pPr marL="342900" lvl="0" indent="-342900" fontAlgn="t">
              <a:lnSpc>
                <a:spcPct val="100000"/>
              </a:lnSpc>
              <a:buFont typeface="Arial" panose="020B0604020202020204" pitchFamily="34" charset="0"/>
              <a:buChar char="•"/>
            </a:pPr>
            <a:r>
              <a:rPr lang="ja-JP" altLang="ja-JP" dirty="0"/>
              <a:t>Qin: lưu lượng đến</a:t>
            </a:r>
          </a:p>
          <a:p>
            <a:pPr marL="342900" lvl="0" indent="-342900" fontAlgn="t">
              <a:lnSpc>
                <a:spcPct val="100000"/>
              </a:lnSpc>
              <a:buFont typeface="Arial" panose="020B0604020202020204" pitchFamily="34" charset="0"/>
              <a:buChar char="•"/>
            </a:pPr>
            <a:r>
              <a:rPr lang="ja-JP" altLang="ja-JP" dirty="0"/>
              <a:t>Qout: lưu lượng xả</a:t>
            </a:r>
          </a:p>
          <a:p>
            <a:pPr marL="342900" lvl="0" indent="-342900" fontAlgn="t">
              <a:lnSpc>
                <a:spcPct val="100000"/>
              </a:lnSpc>
              <a:buFont typeface="Arial" panose="020B0604020202020204" pitchFamily="34" charset="0"/>
              <a:buChar char="•"/>
            </a:pPr>
            <a:r>
              <a:rPr lang="ja-JP" altLang="ja-JP" dirty="0"/>
              <a:t>P_lake: mưa trên mặt hồ</a:t>
            </a:r>
          </a:p>
          <a:p>
            <a:pPr marL="342900" lvl="0" indent="-342900" fontAlgn="t">
              <a:lnSpc>
                <a:spcPct val="100000"/>
              </a:lnSpc>
              <a:buFont typeface="Arial" panose="020B0604020202020204" pitchFamily="34" charset="0"/>
              <a:buChar char="•"/>
            </a:pPr>
            <a:r>
              <a:rPr lang="ja-JP" altLang="ja-JP" dirty="0"/>
              <a:t>E_lake: bốc hơi mặt hồ</a:t>
            </a:r>
          </a:p>
          <a:p>
            <a:pPr marL="342900" lvl="0" indent="-342900" fontAlgn="t">
              <a:lnSpc>
                <a:spcPct val="100000"/>
              </a:lnSpc>
              <a:buFont typeface="Arial" panose="020B0604020202020204" pitchFamily="34" charset="0"/>
              <a:buChar char="•"/>
            </a:pPr>
            <a:r>
              <a:rPr lang="ja-JP" altLang="ja-JP" dirty="0"/>
              <a:t>Loss: tổn thất khác</a:t>
            </a:r>
          </a:p>
          <a:p>
            <a:pPr fontAlgn="t">
              <a:lnSpc>
                <a:spcPct val="100000"/>
              </a:lnSpc>
              <a:buNone/>
            </a:pPr>
            <a:r>
              <a:rPr lang="ja-JP" altLang="ja-JP" b="1" dirty="0"/>
              <a:t>Lưu ý</a:t>
            </a:r>
          </a:p>
          <a:p>
            <a:pPr marL="342900" lvl="0" indent="-342900" fontAlgn="t">
              <a:lnSpc>
                <a:spcPct val="100000"/>
              </a:lnSpc>
              <a:buFont typeface="Arial" panose="020B0604020202020204" pitchFamily="34" charset="0"/>
              <a:buChar char="•"/>
            </a:pPr>
            <a:r>
              <a:rPr lang="ja-JP" altLang="ja-JP" dirty="0"/>
              <a:t>Không dùng phương trình hồ chứa thay cho cân bằng lưu vực.</a:t>
            </a:r>
          </a:p>
          <a:p>
            <a:pPr marL="342900" lvl="0" indent="-342900" fontAlgn="t">
              <a:lnSpc>
                <a:spcPct val="100000"/>
              </a:lnSpc>
              <a:buFont typeface="Arial" panose="020B0604020202020204" pitchFamily="34" charset="0"/>
              <a:buChar char="•"/>
            </a:pPr>
            <a:r>
              <a:rPr lang="ja-JP" altLang="ja-JP" dirty="0"/>
              <a:t>Phải xác định rõ các hoạt động điều tiết, khai thác và chuyển nước trong biên hệ thống.</a:t>
            </a:r>
          </a:p>
          <a:p>
            <a:endParaRPr kumimoji="1" lang="ja-JP" altLang="en-US" dirty="0"/>
          </a:p>
        </p:txBody>
      </p:sp>
    </p:spTree>
    <p:extLst>
      <p:ext uri="{BB962C8B-B14F-4D97-AF65-F5344CB8AC3E}">
        <p14:creationId xmlns:p14="http://schemas.microsoft.com/office/powerpoint/2010/main" val="356765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E8979-E4D1-BD4A-898B-2B72A80F95AF}"/>
              </a:ext>
            </a:extLst>
          </p:cNvPr>
          <p:cNvSpPr>
            <a:spLocks noGrp="1"/>
          </p:cNvSpPr>
          <p:nvPr>
            <p:ph type="title"/>
          </p:nvPr>
        </p:nvSpPr>
        <p:spPr>
          <a:xfrm>
            <a:off x="691692" y="592074"/>
            <a:ext cx="11737543" cy="507831"/>
          </a:xfrm>
        </p:spPr>
        <p:txBody>
          <a:bodyPr/>
          <a:lstStyle/>
          <a:p>
            <a:pPr fontAlgn="t">
              <a:lnSpc>
                <a:spcPct val="100000"/>
              </a:lnSpc>
              <a:buNone/>
            </a:pPr>
            <a:r>
              <a:rPr lang="ja-JP" altLang="ja-JP" b="0" dirty="0"/>
              <a:t>7. KHÓ KHĂN KHOA HỌC CHÍNH</a:t>
            </a:r>
          </a:p>
        </p:txBody>
      </p:sp>
      <p:sp>
        <p:nvSpPr>
          <p:cNvPr id="3" name="Text Placeholder 2">
            <a:extLst>
              <a:ext uri="{FF2B5EF4-FFF2-40B4-BE49-F238E27FC236}">
                <a16:creationId xmlns:a16="http://schemas.microsoft.com/office/drawing/2014/main" id="{C7425275-874D-F8E3-3A4B-D872BF311511}"/>
              </a:ext>
            </a:extLst>
          </p:cNvPr>
          <p:cNvSpPr>
            <a:spLocks noGrp="1"/>
          </p:cNvSpPr>
          <p:nvPr>
            <p:ph type="body" idx="1"/>
          </p:nvPr>
        </p:nvSpPr>
        <p:spPr>
          <a:xfrm>
            <a:off x="731520" y="1892808"/>
            <a:ext cx="13167360" cy="4985980"/>
          </a:xfrm>
        </p:spPr>
        <p:txBody>
          <a:bodyPr/>
          <a:lstStyle/>
          <a:p>
            <a:pPr fontAlgn="t">
              <a:lnSpc>
                <a:spcPct val="100000"/>
              </a:lnSpc>
              <a:buNone/>
            </a:pPr>
            <a:r>
              <a:rPr lang="ja-JP" altLang="ja-JP" sz="3600" b="1" dirty="0"/>
              <a:t>Trữ lượng nước không được quan trắc trực tiếp</a:t>
            </a:r>
          </a:p>
          <a:p>
            <a:pPr fontAlgn="t">
              <a:lnSpc>
                <a:spcPct val="100000"/>
              </a:lnSpc>
              <a:buNone/>
            </a:pPr>
            <a:r>
              <a:rPr lang="ja-JP" altLang="ja-JP" sz="3600" dirty="0"/>
              <a:t>Giải pháp:</a:t>
            </a:r>
          </a:p>
          <a:p>
            <a:pPr marL="342900" lvl="0" indent="-342900" fontAlgn="t">
              <a:lnSpc>
                <a:spcPct val="100000"/>
              </a:lnSpc>
              <a:buFont typeface="Arial" panose="020B0604020202020204" pitchFamily="34" charset="0"/>
              <a:buChar char="•"/>
            </a:pPr>
            <a:r>
              <a:rPr lang="ja-JP" altLang="ja-JP" sz="3600" dirty="0"/>
              <a:t>Trạng thái ẩn có ràng buộc vật lý.</a:t>
            </a:r>
          </a:p>
          <a:p>
            <a:pPr marL="342900" lvl="0" indent="-342900" fontAlgn="t">
              <a:lnSpc>
                <a:spcPct val="100000"/>
              </a:lnSpc>
              <a:buFont typeface="Arial" panose="020B0604020202020204" pitchFamily="34" charset="0"/>
              <a:buChar char="•"/>
            </a:pPr>
            <a:r>
              <a:rPr lang="ja-JP" altLang="ja-JP" sz="3600" dirty="0"/>
              <a:t>Dữ liệu viễn thám hỗ trợ.</a:t>
            </a:r>
          </a:p>
          <a:p>
            <a:pPr marL="342900" lvl="0" indent="-342900" fontAlgn="t">
              <a:lnSpc>
                <a:spcPct val="100000"/>
              </a:lnSpc>
              <a:buFont typeface="Arial" panose="020B0604020202020204" pitchFamily="34" charset="0"/>
              <a:buChar char="•"/>
            </a:pPr>
            <a:r>
              <a:rPr lang="ja-JP" altLang="ja-JP" sz="3600" dirty="0"/>
              <a:t>Mô hình quá trình thủy văn.</a:t>
            </a:r>
          </a:p>
          <a:p>
            <a:pPr marL="342900" lvl="0" indent="-342900" fontAlgn="t">
              <a:lnSpc>
                <a:spcPct val="100000"/>
              </a:lnSpc>
              <a:buFont typeface="Arial" panose="020B0604020202020204" pitchFamily="34" charset="0"/>
              <a:buChar char="•"/>
            </a:pPr>
            <a:r>
              <a:rPr lang="ja-JP" altLang="ja-JP" sz="3600" dirty="0"/>
              <a:t>Regularization theo cân bằng nước.</a:t>
            </a:r>
          </a:p>
          <a:p>
            <a:pPr fontAlgn="t">
              <a:lnSpc>
                <a:spcPct val="100000"/>
              </a:lnSpc>
              <a:buNone/>
            </a:pPr>
            <a:r>
              <a:rPr lang="ja-JP" altLang="ja-JP" sz="3600" dirty="0"/>
              <a:t>Mục tiêu:</a:t>
            </a:r>
          </a:p>
          <a:p>
            <a:pPr fontAlgn="t">
              <a:lnSpc>
                <a:spcPct val="100000"/>
              </a:lnSpc>
              <a:buNone/>
            </a:pPr>
            <a:r>
              <a:rPr lang="ja-JP" altLang="ja-JP" sz="3600" dirty="0"/>
              <a:t>Ngăn mô hình điều chỉnh tùy ý trạng thái lưu trữ chỉ để giảm sai số.</a:t>
            </a:r>
          </a:p>
          <a:p>
            <a:endParaRPr kumimoji="1" lang="ja-JP" altLang="en-US" sz="3600" dirty="0"/>
          </a:p>
        </p:txBody>
      </p:sp>
    </p:spTree>
    <p:extLst>
      <p:ext uri="{BB962C8B-B14F-4D97-AF65-F5344CB8AC3E}">
        <p14:creationId xmlns:p14="http://schemas.microsoft.com/office/powerpoint/2010/main" val="157575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CD96-4B38-0EBF-6C08-3C3269EB23E6}"/>
              </a:ext>
            </a:extLst>
          </p:cNvPr>
          <p:cNvSpPr>
            <a:spLocks noGrp="1"/>
          </p:cNvSpPr>
          <p:nvPr>
            <p:ph type="title"/>
          </p:nvPr>
        </p:nvSpPr>
        <p:spPr>
          <a:xfrm>
            <a:off x="691692" y="592074"/>
            <a:ext cx="11737543" cy="1015663"/>
          </a:xfrm>
        </p:spPr>
        <p:txBody>
          <a:bodyPr/>
          <a:lstStyle/>
          <a:p>
            <a:r>
              <a:rPr lang="ja-JP" altLang="ja-JP" dirty="0"/>
              <a:t>8. ĐÁNH GIÁ THỰC NGHIỆM</a:t>
            </a:r>
            <a:br>
              <a:rPr lang="ja-JP" altLang="ja-JP" dirty="0"/>
            </a:br>
            <a:endParaRPr kumimoji="1" lang="ja-JP" altLang="en-US" dirty="0"/>
          </a:p>
        </p:txBody>
      </p:sp>
      <p:sp>
        <p:nvSpPr>
          <p:cNvPr id="3" name="Text Placeholder 2">
            <a:extLst>
              <a:ext uri="{FF2B5EF4-FFF2-40B4-BE49-F238E27FC236}">
                <a16:creationId xmlns:a16="http://schemas.microsoft.com/office/drawing/2014/main" id="{D8106A2F-3CCF-03A8-50D4-B4B85AA996F3}"/>
              </a:ext>
            </a:extLst>
          </p:cNvPr>
          <p:cNvSpPr>
            <a:spLocks noGrp="1"/>
          </p:cNvSpPr>
          <p:nvPr>
            <p:ph type="body" idx="1"/>
          </p:nvPr>
        </p:nvSpPr>
        <p:spPr>
          <a:xfrm>
            <a:off x="691692" y="1335405"/>
            <a:ext cx="13167360" cy="6894195"/>
          </a:xfrm>
        </p:spPr>
        <p:txBody>
          <a:bodyPr/>
          <a:lstStyle/>
          <a:p>
            <a:pPr fontAlgn="t">
              <a:lnSpc>
                <a:spcPct val="100000"/>
              </a:lnSpc>
              <a:buNone/>
            </a:pPr>
            <a:r>
              <a:rPr lang="ja-JP" altLang="ja-JP" sz="2800" b="1" dirty="0"/>
              <a:t>Dữ liệu Benchmark</a:t>
            </a:r>
          </a:p>
          <a:p>
            <a:pPr fontAlgn="t">
              <a:lnSpc>
                <a:spcPct val="100000"/>
              </a:lnSpc>
              <a:buNone/>
            </a:pPr>
            <a:r>
              <a:rPr lang="ja-JP" altLang="ja-JP" sz="2800" b="1" dirty="0"/>
              <a:t>Giai đoạn 1</a:t>
            </a:r>
          </a:p>
          <a:p>
            <a:pPr fontAlgn="t">
              <a:lnSpc>
                <a:spcPct val="100000"/>
              </a:lnSpc>
              <a:buNone/>
            </a:pPr>
            <a:r>
              <a:rPr lang="ja-JP" altLang="ja-JP" sz="2800" dirty="0"/>
              <a:t>CAMELS-US</a:t>
            </a:r>
          </a:p>
          <a:p>
            <a:pPr marL="342900" lvl="0" indent="-342900" fontAlgn="t">
              <a:lnSpc>
                <a:spcPct val="100000"/>
              </a:lnSpc>
              <a:buFont typeface="Arial" panose="020B0604020202020204" pitchFamily="34" charset="0"/>
              <a:buChar char="•"/>
            </a:pPr>
            <a:r>
              <a:rPr lang="ja-JP" altLang="ja-JP" sz="2800" dirty="0"/>
              <a:t>Benchmark chính</a:t>
            </a:r>
          </a:p>
          <a:p>
            <a:pPr marL="342900" lvl="0" indent="-342900" fontAlgn="t">
              <a:lnSpc>
                <a:spcPct val="100000"/>
              </a:lnSpc>
              <a:buFont typeface="Arial" panose="020B0604020202020204" pitchFamily="34" charset="0"/>
              <a:buChar char="•"/>
            </a:pPr>
            <a:r>
              <a:rPr lang="ja-JP" altLang="ja-JP" sz="2800" dirty="0"/>
              <a:t>Đánh giá khả năng tổng quát hóa</a:t>
            </a:r>
          </a:p>
          <a:p>
            <a:pPr fontAlgn="t">
              <a:lnSpc>
                <a:spcPct val="100000"/>
              </a:lnSpc>
              <a:buNone/>
            </a:pPr>
            <a:r>
              <a:rPr lang="ja-JP" altLang="ja-JP" sz="2800" b="1" dirty="0"/>
              <a:t>Giai đoạn 2</a:t>
            </a:r>
          </a:p>
          <a:p>
            <a:pPr fontAlgn="t">
              <a:lnSpc>
                <a:spcPct val="100000"/>
              </a:lnSpc>
              <a:buNone/>
            </a:pPr>
            <a:r>
              <a:rPr lang="ja-JP" altLang="ja-JP" sz="2800" dirty="0"/>
              <a:t>Caravan</a:t>
            </a:r>
          </a:p>
          <a:p>
            <a:pPr marL="342900" lvl="0" indent="-342900" fontAlgn="t">
              <a:lnSpc>
                <a:spcPct val="100000"/>
              </a:lnSpc>
              <a:buFont typeface="Arial" panose="020B0604020202020204" pitchFamily="34" charset="0"/>
              <a:buChar char="•"/>
            </a:pPr>
            <a:r>
              <a:rPr lang="ja-JP" altLang="ja-JP" sz="2800" dirty="0"/>
              <a:t>Đánh giá khả năng chuyển giao đa vùng</a:t>
            </a:r>
          </a:p>
          <a:p>
            <a:pPr fontAlgn="t">
              <a:lnSpc>
                <a:spcPct val="100000"/>
              </a:lnSpc>
              <a:buNone/>
            </a:pPr>
            <a:r>
              <a:rPr lang="ja-JP" altLang="ja-JP" sz="2800" b="1" dirty="0"/>
              <a:t>Giai đoạn 3</a:t>
            </a:r>
          </a:p>
          <a:p>
            <a:pPr fontAlgn="t">
              <a:lnSpc>
                <a:spcPct val="100000"/>
              </a:lnSpc>
              <a:buNone/>
            </a:pPr>
            <a:r>
              <a:rPr lang="ja-JP" altLang="ja-JP" sz="2800" dirty="0"/>
              <a:t>CAMELS-GB v2</a:t>
            </a:r>
          </a:p>
          <a:p>
            <a:pPr marL="342900" lvl="0" indent="-342900" fontAlgn="t">
              <a:lnSpc>
                <a:spcPct val="100000"/>
              </a:lnSpc>
              <a:buFont typeface="Arial" panose="020B0604020202020204" pitchFamily="34" charset="0"/>
              <a:buChar char="•"/>
            </a:pPr>
            <a:r>
              <a:rPr lang="ja-JP" altLang="ja-JP" sz="2800" dirty="0"/>
              <a:t>Phân tích độ phân giải thời gian cao</a:t>
            </a:r>
          </a:p>
          <a:p>
            <a:pPr marL="342900" lvl="0" indent="-342900" fontAlgn="t">
              <a:lnSpc>
                <a:spcPct val="100000"/>
              </a:lnSpc>
              <a:buFont typeface="Arial" panose="020B0604020202020204" pitchFamily="34" charset="0"/>
              <a:buChar char="•"/>
            </a:pPr>
            <a:r>
              <a:rPr lang="ja-JP" altLang="ja-JP" sz="2800" dirty="0"/>
              <a:t>Thực nghiệm theo giờ</a:t>
            </a:r>
          </a:p>
          <a:p>
            <a:pPr fontAlgn="t">
              <a:lnSpc>
                <a:spcPct val="100000"/>
              </a:lnSpc>
              <a:buNone/>
            </a:pPr>
            <a:r>
              <a:rPr lang="ja-JP" altLang="ja-JP" sz="2800" b="1" dirty="0"/>
              <a:t>Giai đoạn 4</a:t>
            </a:r>
          </a:p>
          <a:p>
            <a:pPr fontAlgn="t">
              <a:lnSpc>
                <a:spcPct val="100000"/>
              </a:lnSpc>
              <a:buNone/>
            </a:pPr>
            <a:r>
              <a:rPr lang="ja-JP" altLang="ja-JP" sz="2800" dirty="0"/>
              <a:t>Dữ liệu Việt Nam</a:t>
            </a:r>
          </a:p>
          <a:p>
            <a:pPr marL="342900" lvl="0" indent="-342900" fontAlgn="t">
              <a:lnSpc>
                <a:spcPct val="100000"/>
              </a:lnSpc>
              <a:buFont typeface="Arial" panose="020B0604020202020204" pitchFamily="34" charset="0"/>
              <a:buChar char="•"/>
            </a:pPr>
            <a:r>
              <a:rPr lang="ja-JP" altLang="ja-JP" sz="2800" dirty="0"/>
              <a:t>Kiểm chứng thực tế trong dự án WebAtlas</a:t>
            </a:r>
          </a:p>
          <a:p>
            <a:endParaRPr kumimoji="1" lang="ja-JP" altLang="en-US" sz="2800" dirty="0"/>
          </a:p>
        </p:txBody>
      </p:sp>
    </p:spTree>
    <p:extLst>
      <p:ext uri="{BB962C8B-B14F-4D97-AF65-F5344CB8AC3E}">
        <p14:creationId xmlns:p14="http://schemas.microsoft.com/office/powerpoint/2010/main" val="279813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A10C-F659-0E2D-9314-FC37923D57E3}"/>
              </a:ext>
            </a:extLst>
          </p:cNvPr>
          <p:cNvSpPr>
            <a:spLocks noGrp="1"/>
          </p:cNvSpPr>
          <p:nvPr>
            <p:ph type="title"/>
          </p:nvPr>
        </p:nvSpPr>
        <p:spPr>
          <a:xfrm>
            <a:off x="691692" y="592074"/>
            <a:ext cx="11737543" cy="507831"/>
          </a:xfrm>
        </p:spPr>
        <p:txBody>
          <a:bodyPr/>
          <a:lstStyle/>
          <a:p>
            <a:pPr fontAlgn="t">
              <a:lnSpc>
                <a:spcPct val="100000"/>
              </a:lnSpc>
              <a:buNone/>
            </a:pPr>
            <a:r>
              <a:rPr lang="ja-JP" altLang="ja-JP" dirty="0"/>
              <a:t>9. CHỈ SỐ ĐÁNH GIÁ</a:t>
            </a:r>
          </a:p>
        </p:txBody>
      </p:sp>
      <p:sp>
        <p:nvSpPr>
          <p:cNvPr id="3" name="Text Placeholder 2">
            <a:extLst>
              <a:ext uri="{FF2B5EF4-FFF2-40B4-BE49-F238E27FC236}">
                <a16:creationId xmlns:a16="http://schemas.microsoft.com/office/drawing/2014/main" id="{DE999539-FCD6-7569-95D0-DC562D495529}"/>
              </a:ext>
            </a:extLst>
          </p:cNvPr>
          <p:cNvSpPr>
            <a:spLocks noGrp="1"/>
          </p:cNvSpPr>
          <p:nvPr>
            <p:ph type="body" idx="1"/>
          </p:nvPr>
        </p:nvSpPr>
        <p:spPr>
          <a:xfrm>
            <a:off x="731520" y="1892808"/>
            <a:ext cx="6736080" cy="5416868"/>
          </a:xfrm>
        </p:spPr>
        <p:txBody>
          <a:bodyPr/>
          <a:lstStyle/>
          <a:p>
            <a:pPr fontAlgn="t">
              <a:lnSpc>
                <a:spcPct val="100000"/>
              </a:lnSpc>
              <a:buNone/>
            </a:pPr>
            <a:r>
              <a:rPr lang="ja-JP" altLang="ja-JP" sz="3200" b="1" dirty="0"/>
              <a:t>Hai metric chính</a:t>
            </a:r>
          </a:p>
          <a:p>
            <a:pPr fontAlgn="t">
              <a:lnSpc>
                <a:spcPct val="100000"/>
              </a:lnSpc>
              <a:buNone/>
            </a:pPr>
            <a:r>
              <a:rPr lang="ja-JP" altLang="ja-JP" sz="3200" b="1" dirty="0"/>
              <a:t>NSE</a:t>
            </a:r>
          </a:p>
          <a:p>
            <a:pPr fontAlgn="t">
              <a:lnSpc>
                <a:spcPct val="100000"/>
              </a:lnSpc>
              <a:buNone/>
            </a:pPr>
            <a:r>
              <a:rPr lang="ja-JP" altLang="ja-JP" sz="3200" dirty="0"/>
              <a:t>(Nash-Sutcliffe Efficiency)</a:t>
            </a:r>
          </a:p>
          <a:p>
            <a:pPr fontAlgn="t">
              <a:lnSpc>
                <a:spcPct val="100000"/>
              </a:lnSpc>
              <a:buNone/>
            </a:pPr>
            <a:r>
              <a:rPr lang="ja-JP" altLang="ja-JP" sz="3200" dirty="0"/>
              <a:t>Đánh giá mức độ phù hợp giữa dự báo và quan trắc.</a:t>
            </a:r>
          </a:p>
          <a:p>
            <a:pPr fontAlgn="t">
              <a:lnSpc>
                <a:spcPct val="100000"/>
              </a:lnSpc>
              <a:buNone/>
            </a:pPr>
            <a:r>
              <a:rPr lang="ja-JP" altLang="ja-JP" sz="3200" b="1" dirty="0"/>
              <a:t>KGE</a:t>
            </a:r>
          </a:p>
          <a:p>
            <a:pPr fontAlgn="t">
              <a:lnSpc>
                <a:spcPct val="100000"/>
              </a:lnSpc>
              <a:buNone/>
            </a:pPr>
            <a:r>
              <a:rPr lang="ja-JP" altLang="ja-JP" sz="3200" dirty="0"/>
              <a:t>(Kling-Gupta Efficiency)</a:t>
            </a:r>
          </a:p>
          <a:p>
            <a:pPr fontAlgn="t">
              <a:lnSpc>
                <a:spcPct val="100000"/>
              </a:lnSpc>
              <a:buNone/>
            </a:pPr>
            <a:r>
              <a:rPr lang="ja-JP" altLang="ja-JP" sz="3200" dirty="0"/>
              <a:t>Đánh giá đồng thời:</a:t>
            </a:r>
          </a:p>
          <a:p>
            <a:pPr marL="342900" lvl="0" indent="-342900" fontAlgn="t">
              <a:lnSpc>
                <a:spcPct val="100000"/>
              </a:lnSpc>
              <a:buFont typeface="Arial" panose="020B0604020202020204" pitchFamily="34" charset="0"/>
              <a:buChar char="•"/>
            </a:pPr>
            <a:r>
              <a:rPr lang="ja-JP" altLang="ja-JP" sz="3200" dirty="0"/>
              <a:t>Tương quan</a:t>
            </a:r>
          </a:p>
          <a:p>
            <a:pPr marL="342900" lvl="0" indent="-342900" fontAlgn="t">
              <a:lnSpc>
                <a:spcPct val="100000"/>
              </a:lnSpc>
              <a:buFont typeface="Arial" panose="020B0604020202020204" pitchFamily="34" charset="0"/>
              <a:buChar char="•"/>
            </a:pPr>
            <a:r>
              <a:rPr lang="ja-JP" altLang="ja-JP" sz="3200" dirty="0"/>
              <a:t>Độ lệch trung bình</a:t>
            </a:r>
          </a:p>
          <a:p>
            <a:pPr marL="342900" lvl="0" indent="-342900" fontAlgn="t">
              <a:lnSpc>
                <a:spcPct val="100000"/>
              </a:lnSpc>
              <a:buFont typeface="Arial" panose="020B0604020202020204" pitchFamily="34" charset="0"/>
              <a:buChar char="•"/>
            </a:pPr>
            <a:r>
              <a:rPr lang="ja-JP" altLang="ja-JP" sz="3200" dirty="0"/>
              <a:t>Độ biến thiên</a:t>
            </a:r>
          </a:p>
          <a:p>
            <a:endParaRPr kumimoji="1" lang="ja-JP" altLang="en-US" sz="3200" dirty="0"/>
          </a:p>
        </p:txBody>
      </p:sp>
      <p:sp>
        <p:nvSpPr>
          <p:cNvPr id="5" name="TextBox 4">
            <a:extLst>
              <a:ext uri="{FF2B5EF4-FFF2-40B4-BE49-F238E27FC236}">
                <a16:creationId xmlns:a16="http://schemas.microsoft.com/office/drawing/2014/main" id="{E65CA4A6-FC7C-F1AE-667B-C1BF31124D13}"/>
              </a:ext>
            </a:extLst>
          </p:cNvPr>
          <p:cNvSpPr txBox="1"/>
          <p:nvPr/>
        </p:nvSpPr>
        <p:spPr>
          <a:xfrm>
            <a:off x="7726682" y="1945930"/>
            <a:ext cx="6172198" cy="3970318"/>
          </a:xfrm>
          <a:prstGeom prst="rect">
            <a:avLst/>
          </a:prstGeom>
          <a:noFill/>
        </p:spPr>
        <p:txBody>
          <a:bodyPr wrap="square">
            <a:spAutoFit/>
          </a:bodyPr>
          <a:lstStyle/>
          <a:p>
            <a:pPr fontAlgn="t">
              <a:lnSpc>
                <a:spcPct val="100000"/>
              </a:lnSpc>
              <a:buNone/>
            </a:pPr>
            <a:r>
              <a:rPr lang="ja-JP" altLang="ja-JP" sz="2800" b="1" i="0" dirty="0">
                <a:effectLst/>
                <a:latin typeface="Segoe UI" panose="020B0502040204020203" pitchFamily="34" charset="0"/>
              </a:rPr>
              <a:t>Chỉ số bổ sung</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RMSE</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MAE</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Peak Flow Error</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Low Flow Error</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CRPS</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Prediction Interval Coverage Probability (PICP)</a:t>
            </a:r>
          </a:p>
          <a:p>
            <a:pPr marL="342900" lvl="0" indent="-342900" fontAlgn="t">
              <a:lnSpc>
                <a:spcPct val="100000"/>
              </a:lnSpc>
              <a:buFont typeface="Arial" panose="020B0604020202020204" pitchFamily="34" charset="0"/>
              <a:buChar char="•"/>
            </a:pPr>
            <a:r>
              <a:rPr lang="ja-JP" altLang="ja-JP" sz="2800" b="0" i="0" dirty="0">
                <a:effectLst/>
                <a:latin typeface="Segoe UI" panose="020B0502040204020203" pitchFamily="34" charset="0"/>
              </a:rPr>
              <a:t>Water Balance Error</a:t>
            </a:r>
          </a:p>
        </p:txBody>
      </p:sp>
    </p:spTree>
    <p:extLst>
      <p:ext uri="{BB962C8B-B14F-4D97-AF65-F5344CB8AC3E}">
        <p14:creationId xmlns:p14="http://schemas.microsoft.com/office/powerpoint/2010/main" val="1894676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1620-24A4-C8F7-6A07-4EC85E5E0703}"/>
              </a:ext>
            </a:extLst>
          </p:cNvPr>
          <p:cNvSpPr>
            <a:spLocks noGrp="1"/>
          </p:cNvSpPr>
          <p:nvPr>
            <p:ph type="title"/>
          </p:nvPr>
        </p:nvSpPr>
        <p:spPr>
          <a:xfrm>
            <a:off x="691692" y="592074"/>
            <a:ext cx="11737543" cy="1015663"/>
          </a:xfrm>
        </p:spPr>
        <p:txBody>
          <a:bodyPr/>
          <a:lstStyle/>
          <a:p>
            <a:r>
              <a:rPr lang="ja-JP" altLang="ja-JP" dirty="0"/>
              <a:t>10. ĐÓNG GÓP DỰ KIẾN</a:t>
            </a:r>
            <a:br>
              <a:rPr lang="ja-JP" altLang="ja-JP" dirty="0"/>
            </a:br>
            <a:endParaRPr kumimoji="1" lang="ja-JP" altLang="en-US" dirty="0"/>
          </a:p>
        </p:txBody>
      </p:sp>
      <p:sp>
        <p:nvSpPr>
          <p:cNvPr id="3" name="Text Placeholder 2">
            <a:extLst>
              <a:ext uri="{FF2B5EF4-FFF2-40B4-BE49-F238E27FC236}">
                <a16:creationId xmlns:a16="http://schemas.microsoft.com/office/drawing/2014/main" id="{F868A111-DE38-F09B-FCA2-CD06AD49BBB8}"/>
              </a:ext>
            </a:extLst>
          </p:cNvPr>
          <p:cNvSpPr>
            <a:spLocks noGrp="1"/>
          </p:cNvSpPr>
          <p:nvPr>
            <p:ph type="body" idx="1"/>
          </p:nvPr>
        </p:nvSpPr>
        <p:spPr>
          <a:xfrm>
            <a:off x="731520" y="1892808"/>
            <a:ext cx="13167360" cy="5170646"/>
          </a:xfrm>
        </p:spPr>
        <p:txBody>
          <a:bodyPr/>
          <a:lstStyle/>
          <a:p>
            <a:pPr fontAlgn="t">
              <a:lnSpc>
                <a:spcPct val="100000"/>
              </a:lnSpc>
              <a:buNone/>
            </a:pPr>
            <a:r>
              <a:rPr lang="ja-JP" altLang="ja-JP" sz="2800" b="1" dirty="0"/>
              <a:t>Về phương pháp</a:t>
            </a:r>
          </a:p>
          <a:p>
            <a:pPr marL="342900" lvl="0" indent="-342900" fontAlgn="t">
              <a:lnSpc>
                <a:spcPct val="100000"/>
              </a:lnSpc>
              <a:buFont typeface="Arial" panose="020B0604020202020204" pitchFamily="34" charset="0"/>
              <a:buChar char="•"/>
            </a:pPr>
            <a:r>
              <a:rPr lang="ja-JP" altLang="ja-JP" sz="2800" dirty="0"/>
              <a:t>Đề xuất kiến trúc TSFM + Adapter + Lớp thủy văn.</a:t>
            </a:r>
          </a:p>
          <a:p>
            <a:pPr marL="342900" lvl="0" indent="-342900" fontAlgn="t">
              <a:lnSpc>
                <a:spcPct val="100000"/>
              </a:lnSpc>
              <a:buFont typeface="Arial" panose="020B0604020202020204" pitchFamily="34" charset="0"/>
              <a:buChar char="•"/>
            </a:pPr>
            <a:r>
              <a:rPr lang="ja-JP" altLang="ja-JP" sz="2800" dirty="0"/>
              <a:t>Học thích nghi cho lưu vực ít dữ liệu.</a:t>
            </a:r>
          </a:p>
          <a:p>
            <a:pPr marL="342900" lvl="0" indent="-342900" fontAlgn="t">
              <a:lnSpc>
                <a:spcPct val="100000"/>
              </a:lnSpc>
              <a:buFont typeface="Arial" panose="020B0604020202020204" pitchFamily="34" charset="0"/>
              <a:buChar char="•"/>
            </a:pPr>
            <a:r>
              <a:rPr lang="ja-JP" altLang="ja-JP" sz="2800" dirty="0"/>
              <a:t>Chuyển giao kiến thức giữa các lưu vực.</a:t>
            </a:r>
          </a:p>
          <a:p>
            <a:pPr fontAlgn="t">
              <a:lnSpc>
                <a:spcPct val="100000"/>
              </a:lnSpc>
              <a:buNone/>
            </a:pPr>
            <a:r>
              <a:rPr lang="ja-JP" altLang="ja-JP" sz="2800" b="1" dirty="0"/>
              <a:t>Về tính vật lý</a:t>
            </a:r>
          </a:p>
          <a:p>
            <a:pPr marL="342900" lvl="0" indent="-342900" fontAlgn="t">
              <a:lnSpc>
                <a:spcPct val="100000"/>
              </a:lnSpc>
              <a:buFont typeface="Arial" panose="020B0604020202020204" pitchFamily="34" charset="0"/>
              <a:buChar char="•"/>
            </a:pPr>
            <a:r>
              <a:rPr lang="ja-JP" altLang="ja-JP" sz="2800" dirty="0"/>
              <a:t>Tích hợp ràng buộc cân bằng nước vào dự báo.</a:t>
            </a:r>
          </a:p>
          <a:p>
            <a:pPr marL="342900" lvl="0" indent="-342900" fontAlgn="t">
              <a:lnSpc>
                <a:spcPct val="100000"/>
              </a:lnSpc>
              <a:buFont typeface="Arial" panose="020B0604020202020204" pitchFamily="34" charset="0"/>
              <a:buChar char="•"/>
            </a:pPr>
            <a:r>
              <a:rPr lang="ja-JP" altLang="ja-JP" sz="2800" dirty="0"/>
              <a:t>Nâng cao khả năng giải thích và độ tin cậy.</a:t>
            </a:r>
          </a:p>
          <a:p>
            <a:pPr fontAlgn="t">
              <a:lnSpc>
                <a:spcPct val="100000"/>
              </a:lnSpc>
              <a:buNone/>
            </a:pPr>
            <a:r>
              <a:rPr lang="ja-JP" altLang="ja-JP" sz="2800" b="1" dirty="0"/>
              <a:t>Về ứng dụng</a:t>
            </a:r>
          </a:p>
          <a:p>
            <a:pPr marL="342900" lvl="0" indent="-342900" fontAlgn="t">
              <a:lnSpc>
                <a:spcPct val="100000"/>
              </a:lnSpc>
              <a:buFont typeface="Arial" panose="020B0604020202020204" pitchFamily="34" charset="0"/>
              <a:buChar char="•"/>
            </a:pPr>
            <a:r>
              <a:rPr lang="ja-JP" altLang="ja-JP" sz="2800" dirty="0"/>
              <a:t>Dự báo dòng chảy cho lưu vực ít dữ liệu.</a:t>
            </a:r>
          </a:p>
          <a:p>
            <a:pPr marL="342900" lvl="0" indent="-342900" fontAlgn="t">
              <a:lnSpc>
                <a:spcPct val="100000"/>
              </a:lnSpc>
              <a:buFont typeface="Arial" panose="020B0604020202020204" pitchFamily="34" charset="0"/>
              <a:buChar char="•"/>
            </a:pPr>
            <a:r>
              <a:rPr lang="ja-JP" altLang="ja-JP" sz="2800" dirty="0"/>
              <a:t>Cung cấp API cho hệ thống WebAtlas.</a:t>
            </a:r>
          </a:p>
          <a:p>
            <a:pPr marL="342900" lvl="0" indent="-342900" fontAlgn="t">
              <a:lnSpc>
                <a:spcPct val="100000"/>
              </a:lnSpc>
              <a:buFont typeface="Arial" panose="020B0604020202020204" pitchFamily="34" charset="0"/>
              <a:buChar char="•"/>
            </a:pPr>
            <a:r>
              <a:rPr lang="ja-JP" altLang="ja-JP" sz="2800" dirty="0"/>
              <a:t>Hỗ trợ cảnh báo lũ và quản lý tài nguyên nước.</a:t>
            </a:r>
          </a:p>
          <a:p>
            <a:endParaRPr kumimoji="1" lang="ja-JP" altLang="en-US" sz="2800" dirty="0"/>
          </a:p>
        </p:txBody>
      </p:sp>
    </p:spTree>
    <p:extLst>
      <p:ext uri="{BB962C8B-B14F-4D97-AF65-F5344CB8AC3E}">
        <p14:creationId xmlns:p14="http://schemas.microsoft.com/office/powerpoint/2010/main" val="1316178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93B25-F30A-47E1-6236-A7E58D31814F}"/>
              </a:ext>
            </a:extLst>
          </p:cNvPr>
          <p:cNvSpPr>
            <a:spLocks noGrp="1"/>
          </p:cNvSpPr>
          <p:nvPr>
            <p:ph type="title"/>
          </p:nvPr>
        </p:nvSpPr>
        <p:spPr>
          <a:xfrm>
            <a:off x="691692" y="592074"/>
            <a:ext cx="11737543" cy="1015663"/>
          </a:xfrm>
        </p:spPr>
        <p:txBody>
          <a:bodyPr/>
          <a:lstStyle/>
          <a:p>
            <a:r>
              <a:rPr lang="ja-JP" altLang="ja-JP" dirty="0"/>
              <a:t>Kết quả đầu ra kỳ vọng</a:t>
            </a:r>
            <a:br>
              <a:rPr lang="ja-JP" altLang="ja-JP" dirty="0"/>
            </a:br>
            <a:endParaRPr kumimoji="1" lang="ja-JP" altLang="en-US" dirty="0"/>
          </a:p>
        </p:txBody>
      </p:sp>
      <p:sp>
        <p:nvSpPr>
          <p:cNvPr id="3" name="Text Placeholder 2">
            <a:extLst>
              <a:ext uri="{FF2B5EF4-FFF2-40B4-BE49-F238E27FC236}">
                <a16:creationId xmlns:a16="http://schemas.microsoft.com/office/drawing/2014/main" id="{0B19BC48-E5D9-6DD3-AE1B-17E9C84A3D9E}"/>
              </a:ext>
            </a:extLst>
          </p:cNvPr>
          <p:cNvSpPr>
            <a:spLocks noGrp="1"/>
          </p:cNvSpPr>
          <p:nvPr>
            <p:ph type="body" idx="1"/>
          </p:nvPr>
        </p:nvSpPr>
        <p:spPr>
          <a:xfrm>
            <a:off x="731520" y="1892808"/>
            <a:ext cx="13167360" cy="4308872"/>
          </a:xfrm>
        </p:spPr>
        <p:txBody>
          <a:bodyPr/>
          <a:lstStyle/>
          <a:p>
            <a:pPr fontAlgn="t">
              <a:lnSpc>
                <a:spcPct val="100000"/>
              </a:lnSpc>
              <a:buNone/>
            </a:pPr>
            <a:r>
              <a:rPr lang="ja-JP" altLang="ja-JP" sz="4000" dirty="0"/>
              <a:t>✅ Mô hình TSFM thích nghi cho lưu vực ít dữ liệu</a:t>
            </a:r>
          </a:p>
          <a:p>
            <a:pPr fontAlgn="t">
              <a:lnSpc>
                <a:spcPct val="100000"/>
              </a:lnSpc>
              <a:buNone/>
            </a:pPr>
            <a:r>
              <a:rPr lang="ja-JP" altLang="ja-JP" sz="4000" dirty="0"/>
              <a:t>✅ Lớp thủy văn có ràng buộc cân bằng nước</a:t>
            </a:r>
          </a:p>
          <a:p>
            <a:pPr fontAlgn="t">
              <a:lnSpc>
                <a:spcPct val="100000"/>
              </a:lnSpc>
              <a:buNone/>
            </a:pPr>
            <a:r>
              <a:rPr lang="ja-JP" altLang="ja-JP" sz="4000" dirty="0"/>
              <a:t>✅ Bộ benchmark đánh giá chuẩn</a:t>
            </a:r>
          </a:p>
          <a:p>
            <a:pPr fontAlgn="t">
              <a:lnSpc>
                <a:spcPct val="100000"/>
              </a:lnSpc>
              <a:buNone/>
            </a:pPr>
            <a:r>
              <a:rPr lang="ja-JP" altLang="ja-JP" sz="4000" dirty="0"/>
              <a:t>✅ Công bố quốc tế SCI/SCIE</a:t>
            </a:r>
          </a:p>
          <a:p>
            <a:pPr fontAlgn="t">
              <a:lnSpc>
                <a:spcPct val="100000"/>
              </a:lnSpc>
              <a:buNone/>
            </a:pPr>
            <a:r>
              <a:rPr lang="ja-JP" altLang="ja-JP" sz="4000" dirty="0"/>
              <a:t>✅ API dự báo tích hợp WebAtlas</a:t>
            </a:r>
          </a:p>
          <a:p>
            <a:pPr fontAlgn="t">
              <a:lnSpc>
                <a:spcPct val="100000"/>
              </a:lnSpc>
              <a:buNone/>
            </a:pPr>
            <a:r>
              <a:rPr lang="ja-JP" altLang="ja-JP" sz="4000" dirty="0"/>
              <a:t>✅ Bộ dữ liệu và quy trình thực nghiệm tái sử dụng được</a:t>
            </a:r>
          </a:p>
          <a:p>
            <a:endParaRPr kumimoji="1" lang="ja-JP" altLang="en-US" sz="4000" dirty="0"/>
          </a:p>
        </p:txBody>
      </p:sp>
    </p:spTree>
    <p:extLst>
      <p:ext uri="{BB962C8B-B14F-4D97-AF65-F5344CB8AC3E}">
        <p14:creationId xmlns:p14="http://schemas.microsoft.com/office/powerpoint/2010/main" val="2710212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154807" y="3716477"/>
            <a:ext cx="6859270" cy="940435"/>
          </a:xfrm>
          <a:prstGeom prst="rect">
            <a:avLst/>
          </a:prstGeom>
        </p:spPr>
        <p:txBody>
          <a:bodyPr vert="horz" wrap="square" lIns="0" tIns="12700" rIns="0" bIns="0" rtlCol="0">
            <a:spAutoFit/>
          </a:bodyPr>
          <a:lstStyle/>
          <a:p>
            <a:pPr marL="12700">
              <a:lnSpc>
                <a:spcPct val="100000"/>
              </a:lnSpc>
              <a:spcBef>
                <a:spcPts val="100"/>
              </a:spcBef>
            </a:pPr>
            <a:r>
              <a:rPr sz="6000" b="1" i="1" spc="-450" dirty="0">
                <a:solidFill>
                  <a:srgbClr val="FB2905"/>
                </a:solidFill>
                <a:latin typeface="Arial"/>
                <a:cs typeface="Arial"/>
              </a:rPr>
              <a:t>T</a:t>
            </a:r>
            <a:r>
              <a:rPr sz="6000" b="1" i="1" spc="70" dirty="0">
                <a:solidFill>
                  <a:srgbClr val="FB2905"/>
                </a:solidFill>
                <a:latin typeface="Arial"/>
                <a:cs typeface="Arial"/>
              </a:rPr>
              <a:t>r</a:t>
            </a:r>
            <a:r>
              <a:rPr sz="6000" b="1" i="1" spc="185" dirty="0">
                <a:solidFill>
                  <a:srgbClr val="FB2905"/>
                </a:solidFill>
                <a:latin typeface="Arial"/>
                <a:cs typeface="Arial"/>
              </a:rPr>
              <a:t>ân</a:t>
            </a:r>
            <a:r>
              <a:rPr sz="6000" b="1" i="1" spc="-65" dirty="0">
                <a:solidFill>
                  <a:srgbClr val="FB2905"/>
                </a:solidFill>
                <a:latin typeface="Arial"/>
                <a:cs typeface="Arial"/>
              </a:rPr>
              <a:t> </a:t>
            </a:r>
            <a:r>
              <a:rPr sz="6000" b="1" i="1" dirty="0">
                <a:solidFill>
                  <a:srgbClr val="FB2905"/>
                </a:solidFill>
                <a:latin typeface="Arial"/>
                <a:cs typeface="Arial"/>
              </a:rPr>
              <a:t>trọng</a:t>
            </a:r>
            <a:r>
              <a:rPr sz="6000" b="1" i="1" spc="-65" dirty="0">
                <a:solidFill>
                  <a:srgbClr val="FB2905"/>
                </a:solidFill>
                <a:latin typeface="Arial"/>
                <a:cs typeface="Arial"/>
              </a:rPr>
              <a:t> </a:t>
            </a:r>
            <a:r>
              <a:rPr sz="6000" b="1" i="1" dirty="0">
                <a:solidFill>
                  <a:srgbClr val="FB2905"/>
                </a:solidFill>
                <a:latin typeface="Arial"/>
                <a:cs typeface="Arial"/>
              </a:rPr>
              <a:t>cảm</a:t>
            </a:r>
            <a:r>
              <a:rPr sz="6000" b="1" i="1" spc="-65" dirty="0">
                <a:solidFill>
                  <a:srgbClr val="FB2905"/>
                </a:solidFill>
                <a:latin typeface="Arial"/>
                <a:cs typeface="Arial"/>
              </a:rPr>
              <a:t> </a:t>
            </a:r>
            <a:r>
              <a:rPr sz="6000" b="1" i="1" spc="-445" dirty="0">
                <a:solidFill>
                  <a:srgbClr val="FB2905"/>
                </a:solidFill>
                <a:latin typeface="Arial"/>
                <a:cs typeface="Arial"/>
              </a:rPr>
              <a:t>ơn!</a:t>
            </a:r>
            <a:endParaRPr sz="6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13</a:t>
            </a:fld>
            <a:endParaRPr spc="-25" dirty="0"/>
          </a:p>
        </p:txBody>
      </p:sp>
      <p:sp>
        <p:nvSpPr>
          <p:cNvPr id="7" name="Title 6">
            <a:extLst>
              <a:ext uri="{FF2B5EF4-FFF2-40B4-BE49-F238E27FC236}">
                <a16:creationId xmlns:a16="http://schemas.microsoft.com/office/drawing/2014/main" id="{A96C1753-2128-BF25-3D88-848CDDD08C11}"/>
              </a:ext>
            </a:extLst>
          </p:cNvPr>
          <p:cNvSpPr>
            <a:spLocks noGrp="1"/>
          </p:cNvSpPr>
          <p:nvPr>
            <p:ph type="ctrTitle"/>
          </p:nvPr>
        </p:nvSpPr>
        <p:spPr/>
        <p:txBody>
          <a:bodyPr/>
          <a:lstStyle/>
          <a:p>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91692" y="716660"/>
            <a:ext cx="2705100" cy="391160"/>
          </a:xfrm>
          <a:prstGeom prst="rect">
            <a:avLst/>
          </a:prstGeom>
        </p:spPr>
        <p:txBody>
          <a:bodyPr vert="horz" wrap="square" lIns="0" tIns="12700" rIns="0" bIns="0" rtlCol="0">
            <a:spAutoFit/>
          </a:bodyPr>
          <a:lstStyle/>
          <a:p>
            <a:pPr marL="12700">
              <a:lnSpc>
                <a:spcPct val="100000"/>
              </a:lnSpc>
              <a:spcBef>
                <a:spcPts val="100"/>
              </a:spcBef>
            </a:pPr>
            <a:r>
              <a:rPr sz="2400" spc="-80" dirty="0">
                <a:solidFill>
                  <a:srgbClr val="FB2905"/>
                </a:solidFill>
              </a:rPr>
              <a:t>Tài</a:t>
            </a:r>
            <a:r>
              <a:rPr sz="2400" spc="-95" dirty="0">
                <a:solidFill>
                  <a:srgbClr val="FB2905"/>
                </a:solidFill>
              </a:rPr>
              <a:t> </a:t>
            </a:r>
            <a:r>
              <a:rPr sz="2400" spc="-60" dirty="0">
                <a:solidFill>
                  <a:srgbClr val="FB2905"/>
                </a:solidFill>
              </a:rPr>
              <a:t>liệu</a:t>
            </a:r>
            <a:r>
              <a:rPr sz="2400" spc="-100" dirty="0">
                <a:solidFill>
                  <a:srgbClr val="FB2905"/>
                </a:solidFill>
              </a:rPr>
              <a:t> </a:t>
            </a:r>
            <a:r>
              <a:rPr sz="2400" spc="-105" dirty="0">
                <a:solidFill>
                  <a:srgbClr val="FB2905"/>
                </a:solidFill>
              </a:rPr>
              <a:t>tham</a:t>
            </a:r>
            <a:r>
              <a:rPr sz="2400" spc="-70" dirty="0">
                <a:solidFill>
                  <a:srgbClr val="FB2905"/>
                </a:solidFill>
              </a:rPr>
              <a:t> </a:t>
            </a:r>
            <a:r>
              <a:rPr sz="2400" spc="-20" dirty="0">
                <a:solidFill>
                  <a:srgbClr val="FB2905"/>
                </a:solidFill>
              </a:rPr>
              <a:t>khảo</a:t>
            </a:r>
            <a:endParaRPr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TotalTime>
  <Words>1794</Words>
  <Application>Microsoft Office PowerPoint</Application>
  <PresentationFormat>Custom</PresentationFormat>
  <Paragraphs>190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Tahoma</vt:lpstr>
      <vt:lpstr>Times New Roman</vt:lpstr>
      <vt:lpstr>Office Theme</vt:lpstr>
      <vt:lpstr>BÁO CÁO ĐỀ CƯƠNG NGHIÊN CỨU SINH </vt:lpstr>
      <vt:lpstr>1. ĐẶT VẤN ĐỀ VÀ ĐỘNG LỰC NGHIÊN CỨU </vt:lpstr>
      <vt:lpstr>2. KHOẢNG TRỐNG NGHIÊN CỨU </vt:lpstr>
      <vt:lpstr>3. MỤC TIÊU NGHIÊN CỨU </vt:lpstr>
      <vt:lpstr>4. GIẢI PHÁP ĐỀ XUẤT </vt:lpstr>
      <vt:lpstr>5. QUY TRÌNH XỬ LÝ DỮ LIỆU </vt:lpstr>
      <vt:lpstr>6. TRƯỜNG HỢP HỒ CHỨA </vt:lpstr>
      <vt:lpstr>7. KHÓ KHĂN KHOA HỌC CHÍNH</vt:lpstr>
      <vt:lpstr>8. ĐÁNH GIÁ THỰC NGHIỆM </vt:lpstr>
      <vt:lpstr>9. CHỈ SỐ ĐÁNH GIÁ</vt:lpstr>
      <vt:lpstr>10. ĐÓNG GÓP DỰ KIẾN </vt:lpstr>
      <vt:lpstr>Kết quả đầu ra kỳ vọng </vt:lpstr>
      <vt:lpstr>PowerPoint Presentation</vt:lpstr>
      <vt:lpstr>Tài liệu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The Nguyen</dc:creator>
  <cp:lastModifiedBy>Mai Ngoc Khuong</cp:lastModifiedBy>
  <cp:revision>26</cp:revision>
  <dcterms:created xsi:type="dcterms:W3CDTF">2026-10-28T09:58:30Z</dcterms:created>
  <dcterms:modified xsi:type="dcterms:W3CDTF">2026-10-28T10:22:30Z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2026-03-23T00:00:00Z</vt:filetime>
  </property>
  <property fmtid="{D5CDD505-2E9C-101B-9397-08002B2CF9AE}" pid="3" name="Creator">
    <vt:lpwstr>Microsoft® PowerPoint® 2021</vt:lpwstr>
  </property>
  <property fmtid="{D5CDD505-2E9C-101B-9397-08002B2CF9AE}" pid="4" name="LastSaved">
    <vt:filetime>2026-10-28T00:00:00Z</vt:filetime>
  </property>
  <property fmtid="{D5CDD505-2E9C-101B-9397-08002B2CF9AE}" pid="5" name="Producer">
    <vt:lpwstr>Microsoft® PowerPoint® 2021</vt:lpwstr>
  </property>
</Properties>
</file>