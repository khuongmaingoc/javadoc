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44"/>
  </p:notesMasterIdLst>
  <p:handoutMasterIdLst>
    <p:handoutMasterId r:id="rId45"/>
  </p:handoutMasterIdLst>
  <p:sldIdLst>
    <p:sldId id="334" r:id="rId3"/>
    <p:sldId id="366" r:id="rId4"/>
    <p:sldId id="385" r:id="rId5"/>
    <p:sldId id="387" r:id="rId6"/>
    <p:sldId id="435" r:id="rId7"/>
    <p:sldId id="445" r:id="rId8"/>
    <p:sldId id="446" r:id="rId9"/>
    <p:sldId id="447" r:id="rId10"/>
    <p:sldId id="448" r:id="rId11"/>
    <p:sldId id="451" r:id="rId12"/>
    <p:sldId id="450" r:id="rId13"/>
    <p:sldId id="455" r:id="rId14"/>
    <p:sldId id="452" r:id="rId15"/>
    <p:sldId id="456" r:id="rId16"/>
    <p:sldId id="454" r:id="rId17"/>
    <p:sldId id="457" r:id="rId18"/>
    <p:sldId id="458" r:id="rId19"/>
    <p:sldId id="459" r:id="rId20"/>
    <p:sldId id="460" r:id="rId21"/>
    <p:sldId id="461" r:id="rId22"/>
    <p:sldId id="404" r:id="rId23"/>
    <p:sldId id="405" r:id="rId24"/>
    <p:sldId id="462" r:id="rId25"/>
    <p:sldId id="407" r:id="rId26"/>
    <p:sldId id="423" r:id="rId27"/>
    <p:sldId id="411" r:id="rId28"/>
    <p:sldId id="408" r:id="rId29"/>
    <p:sldId id="412" r:id="rId30"/>
    <p:sldId id="395" r:id="rId31"/>
    <p:sldId id="413" r:id="rId32"/>
    <p:sldId id="414" r:id="rId33"/>
    <p:sldId id="463" r:id="rId34"/>
    <p:sldId id="464" r:id="rId35"/>
    <p:sldId id="424" r:id="rId36"/>
    <p:sldId id="426" r:id="rId37"/>
    <p:sldId id="428" r:id="rId38"/>
    <p:sldId id="465" r:id="rId39"/>
    <p:sldId id="432" r:id="rId40"/>
    <p:sldId id="466" r:id="rId41"/>
    <p:sldId id="467" r:id="rId42"/>
    <p:sldId id="468" r:id="rId43"/>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6247" autoAdjust="0"/>
  </p:normalViewPr>
  <p:slideViewPr>
    <p:cSldViewPr>
      <p:cViewPr varScale="1">
        <p:scale>
          <a:sx n="106" d="100"/>
          <a:sy n="106" d="100"/>
        </p:scale>
        <p:origin x="1548" y="120"/>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handoutMaster" Target="handoutMasters/handout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A7F5AA58-23B3-6B43-2100-3CF2A39C79BD}"/>
              </a:ext>
            </a:extLst>
          </p:cNvPr>
          <p:cNvSpPr>
            <a:spLocks noRot="1" noChangeAspect="1" noChangeArrowheads="1" noTextEdit="1"/>
          </p:cNvSpPr>
          <p:nvPr>
            <p:ph type="sldImg"/>
          </p:nvPr>
        </p:nvSpPr>
        <p:spPr>
          <a:xfrm>
            <a:off x="784225" y="766763"/>
            <a:ext cx="5541963" cy="3836987"/>
          </a:xfrm>
          <a:ln/>
        </p:spPr>
      </p:sp>
      <p:sp>
        <p:nvSpPr>
          <p:cNvPr id="257029" name="Rectangle 5">
            <a:extLst>
              <a:ext uri="{FF2B5EF4-FFF2-40B4-BE49-F238E27FC236}">
                <a16:creationId xmlns:a16="http://schemas.microsoft.com/office/drawing/2014/main" id="{310E2275-0C70-1DD3-3F25-F006F1A9A897}"/>
              </a:ext>
            </a:extLst>
          </p:cNvPr>
          <p:cNvSpPr>
            <a:spLocks noGrp="1" noChangeArrowheads="1"/>
          </p:cNvSpPr>
          <p:nvPr>
            <p:ph type="body" idx="1"/>
          </p:nvPr>
        </p:nvSpPr>
        <p:spPr/>
        <p:txBody>
          <a:bodyPr/>
          <a:lstStyle/>
          <a:p>
            <a:r>
              <a:rPr lang="en-US" altLang="ja-JP">
                <a:latin typeface="Arial" panose="020B0604020202020204" pitchFamily="34" charset="0"/>
              </a:rPr>
              <a:t>Ở chương 2 sử dụng các nội dung sau đây:</a:t>
            </a:r>
          </a:p>
          <a:p>
            <a:endParaRPr lang="en-US" altLang="ja-JP">
              <a:latin typeface="Arial" panose="020B0604020202020204" pitchFamily="34" charset="0"/>
            </a:endParaRPr>
          </a:p>
          <a:p>
            <a:r>
              <a:rPr lang="en-US" altLang="ja-JP">
                <a:latin typeface="Arial" panose="020B0604020202020204" pitchFamily="34" charset="0"/>
              </a:rPr>
              <a:t>2.1</a:t>
            </a:r>
            <a:r>
              <a:rPr lang="ja-JP" altLang="en-US">
                <a:latin typeface="Arial" panose="020B0604020202020204" pitchFamily="34" charset="0"/>
              </a:rPr>
              <a:t>　</a:t>
            </a:r>
            <a:r>
              <a:rPr lang="en-US" altLang="ja-JP">
                <a:latin typeface="Arial" panose="020B0604020202020204" pitchFamily="34" charset="0"/>
              </a:rPr>
              <a:t>Định nghĩa class</a:t>
            </a:r>
            <a:r>
              <a:rPr lang="ja-JP" altLang="en-US">
                <a:latin typeface="Arial" panose="020B0604020202020204" pitchFamily="34" charset="0"/>
              </a:rPr>
              <a:t>　</a:t>
            </a:r>
          </a:p>
          <a:p>
            <a:r>
              <a:rPr lang="en-US" altLang="ja-JP">
                <a:latin typeface="Arial" panose="020B0604020202020204" pitchFamily="34" charset="0"/>
              </a:rPr>
              <a:t>2.2</a:t>
            </a:r>
            <a:r>
              <a:rPr lang="ja-JP" altLang="en-US">
                <a:latin typeface="Arial" panose="020B0604020202020204" pitchFamily="34" charset="0"/>
              </a:rPr>
              <a:t>　</a:t>
            </a:r>
            <a:r>
              <a:rPr lang="en-US" altLang="ja-JP">
                <a:latin typeface="Arial" panose="020B0604020202020204" pitchFamily="34" charset="0"/>
              </a:rPr>
              <a:t>Định nghĩa thuộc tính</a:t>
            </a:r>
          </a:p>
          <a:p>
            <a:r>
              <a:rPr lang="en-US" altLang="ja-JP">
                <a:latin typeface="Arial" panose="020B0604020202020204" pitchFamily="34" charset="0"/>
              </a:rPr>
              <a:t>2.3</a:t>
            </a:r>
            <a:r>
              <a:rPr lang="ja-JP" altLang="en-US">
                <a:latin typeface="Arial" panose="020B0604020202020204" pitchFamily="34" charset="0"/>
              </a:rPr>
              <a:t>　</a:t>
            </a:r>
            <a:r>
              <a:rPr lang="en-US" altLang="ja-JP">
                <a:latin typeface="Arial" panose="020B0604020202020204" pitchFamily="34" charset="0"/>
              </a:rPr>
              <a:t>Định nghĩa method</a:t>
            </a:r>
          </a:p>
          <a:p>
            <a:r>
              <a:rPr lang="en-US" altLang="ja-JP">
                <a:latin typeface="Arial" panose="020B0604020202020204" pitchFamily="34" charset="0"/>
              </a:rPr>
              <a:t>2.4</a:t>
            </a:r>
            <a:r>
              <a:rPr lang="ja-JP" altLang="en-US">
                <a:latin typeface="Arial" panose="020B0604020202020204" pitchFamily="34" charset="0"/>
              </a:rPr>
              <a:t>　</a:t>
            </a:r>
            <a:r>
              <a:rPr lang="en-US" altLang="ja-JP">
                <a:latin typeface="Arial" panose="020B0604020202020204" pitchFamily="34" charset="0"/>
              </a:rPr>
              <a:t>Constructor</a:t>
            </a:r>
          </a:p>
          <a:p>
            <a:r>
              <a:rPr lang="en-US" altLang="ja-JP">
                <a:latin typeface="Arial" panose="020B0604020202020204" pitchFamily="34" charset="0"/>
              </a:rPr>
              <a:t>2.5</a:t>
            </a:r>
            <a:r>
              <a:rPr lang="ja-JP" altLang="en-US">
                <a:latin typeface="Arial" panose="020B0604020202020204" pitchFamily="34" charset="0"/>
              </a:rPr>
              <a:t>　</a:t>
            </a:r>
            <a:r>
              <a:rPr lang="en-US" altLang="ja-JP">
                <a:latin typeface="Arial" panose="020B0604020202020204" pitchFamily="34" charset="0"/>
              </a:rPr>
              <a:t>Sinh/giải phóng object</a:t>
            </a:r>
          </a:p>
          <a:p>
            <a:r>
              <a:rPr lang="en-US" altLang="ja-JP">
                <a:latin typeface="Arial" panose="020B0604020202020204" pitchFamily="34" charset="0"/>
              </a:rPr>
              <a:t>2.6</a:t>
            </a:r>
            <a:r>
              <a:rPr lang="ja-JP" altLang="en-US">
                <a:latin typeface="Arial" panose="020B0604020202020204" pitchFamily="34" charset="0"/>
              </a:rPr>
              <a:t>　</a:t>
            </a:r>
            <a:r>
              <a:rPr lang="en-US" altLang="ja-JP">
                <a:latin typeface="Arial" panose="020B0604020202020204" pitchFamily="34" charset="0"/>
              </a:rPr>
              <a:t>Gọi method</a:t>
            </a:r>
          </a:p>
          <a:p>
            <a:r>
              <a:rPr lang="en-US" altLang="ja-JP">
                <a:latin typeface="Arial" panose="020B0604020202020204" pitchFamily="34" charset="0"/>
              </a:rPr>
              <a:t>2.7</a:t>
            </a:r>
            <a:r>
              <a:rPr lang="ja-JP" altLang="en-US">
                <a:latin typeface="Arial" panose="020B0604020202020204" pitchFamily="34" charset="0"/>
              </a:rPr>
              <a:t>　</a:t>
            </a:r>
            <a:r>
              <a:rPr lang="en-US" altLang="ja-JP">
                <a:latin typeface="Arial" panose="020B0604020202020204" pitchFamily="34" charset="0"/>
              </a:rPr>
              <a:t>Overload</a:t>
            </a:r>
          </a:p>
          <a:p>
            <a:r>
              <a:rPr lang="en-US" altLang="ja-JP">
                <a:latin typeface="Arial" panose="020B0604020202020204" pitchFamily="34" charset="0"/>
              </a:rPr>
              <a:t>2.8</a:t>
            </a:r>
            <a:r>
              <a:rPr lang="ja-JP" altLang="en-US">
                <a:latin typeface="Arial" panose="020B0604020202020204" pitchFamily="34" charset="0"/>
              </a:rPr>
              <a:t>　</a:t>
            </a:r>
            <a:r>
              <a:rPr lang="en-US" altLang="ja-JP">
                <a:latin typeface="Arial" panose="020B0604020202020204" pitchFamily="34" charset="0"/>
              </a:rPr>
              <a:t>Biến static, static method</a:t>
            </a:r>
          </a:p>
          <a:p>
            <a:r>
              <a:rPr lang="en-US" altLang="ja-JP">
                <a:latin typeface="Arial" panose="020B0604020202020204" pitchFamily="34" charset="0"/>
              </a:rPr>
              <a:t>2.9</a:t>
            </a:r>
            <a:r>
              <a:rPr lang="ja-JP" altLang="en-US">
                <a:latin typeface="Arial" panose="020B0604020202020204" pitchFamily="34" charset="0"/>
              </a:rPr>
              <a:t>　</a:t>
            </a:r>
            <a:r>
              <a:rPr lang="en-US" altLang="ja-JP">
                <a:latin typeface="Arial" panose="020B0604020202020204" pitchFamily="34" charset="0"/>
              </a:rPr>
              <a:t>main method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666" name="Rectangle 2">
            <a:extLst>
              <a:ext uri="{FF2B5EF4-FFF2-40B4-BE49-F238E27FC236}">
                <a16:creationId xmlns:a16="http://schemas.microsoft.com/office/drawing/2014/main" id="{E126876A-6234-BC41-5F14-5F2D4FA8E566}"/>
              </a:ext>
            </a:extLst>
          </p:cNvPr>
          <p:cNvSpPr>
            <a:spLocks noRot="1" noChangeAspect="1" noChangeArrowheads="1" noTextEdit="1"/>
          </p:cNvSpPr>
          <p:nvPr>
            <p:ph type="sldImg"/>
          </p:nvPr>
        </p:nvSpPr>
        <p:spPr>
          <a:ln/>
        </p:spPr>
      </p:sp>
      <p:sp>
        <p:nvSpPr>
          <p:cNvPr id="369667" name="Rectangle 3">
            <a:extLst>
              <a:ext uri="{FF2B5EF4-FFF2-40B4-BE49-F238E27FC236}">
                <a16:creationId xmlns:a16="http://schemas.microsoft.com/office/drawing/2014/main" id="{D0C0028E-91DA-4FAA-5695-EB18240D07A8}"/>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Định nghĩa class</a:t>
            </a:r>
          </a:p>
          <a:p>
            <a:pPr marL="0" indent="0"/>
            <a:r>
              <a:rPr lang="ja-JP" altLang="en-US">
                <a:latin typeface="Arial" panose="020B0604020202020204" pitchFamily="34" charset="0"/>
              </a:rPr>
              <a:t>　</a:t>
            </a:r>
            <a:r>
              <a:rPr lang="en-US" altLang="ja-JP">
                <a:latin typeface="Arial" panose="020B0604020202020204" pitchFamily="34" charset="0"/>
              </a:rPr>
              <a:t>Ở Java, sẽ miêu tả program theo đơn vị class.</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Trong class, sẽ định nghĩa thuộc tính và thao tác.</a:t>
            </a:r>
          </a:p>
          <a:p>
            <a:pPr marL="0" indent="0"/>
            <a:r>
              <a:rPr lang="ja-JP" altLang="en-US">
                <a:latin typeface="Arial" panose="020B0604020202020204" pitchFamily="34" charset="0"/>
              </a:rPr>
              <a:t>　</a:t>
            </a:r>
            <a:r>
              <a:rPr lang="en-US" altLang="ja-JP">
                <a:latin typeface="Arial" panose="020B0604020202020204" pitchFamily="34" charset="0"/>
              </a:rPr>
              <a:t>field và method định nghĩa trong class được gọi chung là </a:t>
            </a:r>
            <a:r>
              <a:rPr lang="ja-JP" altLang="en-US">
                <a:latin typeface="Arial" panose="020B0604020202020204" pitchFamily="34" charset="0"/>
              </a:rPr>
              <a:t>「</a:t>
            </a:r>
            <a:r>
              <a:rPr lang="en-US" altLang="ja-JP">
                <a:latin typeface="Arial" panose="020B0604020202020204" pitchFamily="34" charset="0"/>
              </a:rPr>
              <a:t>member</a:t>
            </a:r>
            <a:r>
              <a:rPr lang="ja-JP" altLang="en-US">
                <a:latin typeface="Arial" panose="020B0604020202020204" pitchFamily="34" charset="0"/>
              </a:rPr>
              <a:t>」 </a:t>
            </a:r>
            <a:r>
              <a:rPr lang="en-US" altLang="ja-JP">
                <a:latin typeface="Arial" panose="020B0604020202020204" pitchFamily="34" charset="0"/>
              </a:rPr>
              <a:t>của class.</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thuộc tính</a:t>
            </a:r>
            <a:r>
              <a:rPr lang="ja-JP" altLang="en-US">
                <a:latin typeface="Arial" panose="020B0604020202020204" pitchFamily="34" charset="0"/>
              </a:rPr>
              <a:t>」</a:t>
            </a:r>
            <a:r>
              <a:rPr lang="en-US" altLang="ja-JP">
                <a:latin typeface="Arial" panose="020B0604020202020204" pitchFamily="34" charset="0"/>
              </a:rPr>
              <a:t>được miêu tả như là </a:t>
            </a:r>
            <a:r>
              <a:rPr lang="ja-JP" altLang="en-US">
                <a:latin typeface="Arial" panose="020B0604020202020204" pitchFamily="34" charset="0"/>
              </a:rPr>
              <a:t>「</a:t>
            </a:r>
            <a:r>
              <a:rPr lang="en-US" altLang="ja-JP">
                <a:latin typeface="Arial" panose="020B0604020202020204" pitchFamily="34" charset="0"/>
              </a:rPr>
              <a:t>biến số</a:t>
            </a:r>
            <a:r>
              <a:rPr lang="ja-JP" altLang="en-US">
                <a:latin typeface="Arial" panose="020B0604020202020204" pitchFamily="34" charset="0"/>
              </a:rPr>
              <a:t>」</a:t>
            </a:r>
            <a:r>
              <a:rPr lang="en-US" altLang="ja-JP">
                <a:latin typeface="Arial" panose="020B0604020202020204" pitchFamily="34" charset="0"/>
              </a:rPr>
              <a:t>. Biến số thể hiện thuộc tính người ta còn gọi là field.</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thao tác</a:t>
            </a:r>
            <a:r>
              <a:rPr lang="ja-JP" altLang="en-US">
                <a:latin typeface="Arial" panose="020B0604020202020204" pitchFamily="34" charset="0"/>
              </a:rPr>
              <a:t>」</a:t>
            </a:r>
            <a:r>
              <a:rPr lang="en-US" altLang="ja-JP">
                <a:latin typeface="Arial" panose="020B0604020202020204" pitchFamily="34" charset="0"/>
              </a:rPr>
              <a:t>được miêu tả như là </a:t>
            </a:r>
            <a:r>
              <a:rPr lang="ja-JP" altLang="en-US">
                <a:latin typeface="Arial" panose="020B0604020202020204" pitchFamily="34" charset="0"/>
              </a:rPr>
              <a:t>「</a:t>
            </a:r>
            <a:r>
              <a:rPr lang="en-US" altLang="ja-JP">
                <a:latin typeface="Arial" panose="020B0604020202020204" pitchFamily="34" charset="0"/>
              </a:rPr>
              <a:t>method</a:t>
            </a:r>
            <a:r>
              <a:rPr lang="ja-JP" altLang="en-US">
                <a:latin typeface="Arial" panose="020B0604020202020204" pitchFamily="34" charset="0"/>
              </a:rPr>
              <a:t>」</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【Tham khảo】</a:t>
            </a:r>
          </a:p>
          <a:p>
            <a:pPr marL="0" indent="0"/>
            <a:r>
              <a:rPr lang="ja-JP" altLang="en-US">
                <a:latin typeface="Arial" panose="020B0604020202020204" pitchFamily="34" charset="0"/>
              </a:rPr>
              <a:t>　</a:t>
            </a:r>
            <a:r>
              <a:rPr lang="en-US" altLang="ja-JP">
                <a:latin typeface="Arial" panose="020B0604020202020204" pitchFamily="34" charset="0"/>
              </a:rPr>
              <a:t>Trong biến số và method định nghĩa trong class thì có loại sử dụng theo đơn vị từng instance và có loại sử dụng bằng đơn vị class(loại static). Về loại static sẽ giải thích sau.</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Access modifier</a:t>
            </a:r>
          </a:p>
          <a:p>
            <a:pPr marL="0" indent="0"/>
            <a:r>
              <a:rPr lang="ja-JP" altLang="en-US">
                <a:latin typeface="Arial" panose="020B0604020202020204" pitchFamily="34" charset="0"/>
              </a:rPr>
              <a:t>　</a:t>
            </a:r>
            <a:r>
              <a:rPr lang="en-US" altLang="ja-JP">
                <a:latin typeface="Arial" panose="020B0604020202020204" pitchFamily="34" charset="0"/>
              </a:rPr>
              <a:t>modifier biểu thị phạm vi có hiệu lực thì gọi là access modifier.</a:t>
            </a:r>
          </a:p>
          <a:p>
            <a:pPr marL="0" indent="0"/>
            <a:r>
              <a:rPr lang="ja-JP" altLang="en-US">
                <a:latin typeface="Arial" panose="020B0604020202020204" pitchFamily="34" charset="0"/>
              </a:rPr>
              <a:t>　</a:t>
            </a:r>
            <a:r>
              <a:rPr lang="en-US" altLang="ja-JP">
                <a:latin typeface="Arial" panose="020B0604020202020204" pitchFamily="34" charset="0"/>
              </a:rPr>
              <a:t>Nó được chỉ định lúc định nghĩa class và member của nó (thuộc tính và thao tác).</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Định nghĩa class và access modifier.</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Package sẽ học ở chương 5.</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Chi tiết về access modifier sẽ học ở chương 5.</a:t>
            </a:r>
          </a:p>
          <a:p>
            <a:pPr marL="0" indent="0"/>
            <a:endParaRPr lang="en-US" altLang="ja-JP">
              <a:latin typeface="Arial" panose="020B0604020202020204" pitchFamily="34" charset="0"/>
            </a:endParaRPr>
          </a:p>
        </p:txBody>
      </p:sp>
      <p:graphicFrame>
        <p:nvGraphicFramePr>
          <p:cNvPr id="369754" name="Group 90">
            <a:extLst>
              <a:ext uri="{FF2B5EF4-FFF2-40B4-BE49-F238E27FC236}">
                <a16:creationId xmlns:a16="http://schemas.microsoft.com/office/drawing/2014/main" id="{41FDD833-2F3E-7BD0-E819-1C7AA717A76F}"/>
              </a:ext>
            </a:extLst>
          </p:cNvPr>
          <p:cNvGraphicFramePr>
            <a:graphicFrameLocks noGrp="1"/>
          </p:cNvGraphicFramePr>
          <p:nvPr/>
        </p:nvGraphicFramePr>
        <p:xfrm>
          <a:off x="769938" y="8397875"/>
          <a:ext cx="5651500" cy="781050"/>
        </p:xfrm>
        <a:graphic>
          <a:graphicData uri="http://schemas.openxmlformats.org/drawingml/2006/table">
            <a:tbl>
              <a:tblPr/>
              <a:tblGrid>
                <a:gridCol w="1135062">
                  <a:extLst>
                    <a:ext uri="{9D8B030D-6E8A-4147-A177-3AD203B41FA5}">
                      <a16:colId xmlns:a16="http://schemas.microsoft.com/office/drawing/2014/main" val="2267589821"/>
                    </a:ext>
                  </a:extLst>
                </a:gridCol>
                <a:gridCol w="4516438">
                  <a:extLst>
                    <a:ext uri="{9D8B030D-6E8A-4147-A177-3AD203B41FA5}">
                      <a16:colId xmlns:a16="http://schemas.microsoft.com/office/drawing/2014/main" val="3586536446"/>
                    </a:ext>
                  </a:extLst>
                </a:gridCol>
              </a:tblGrid>
              <a:tr h="24765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modifier</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Nội dung trong nó</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129877235"/>
                  </a:ext>
                </a:extLst>
              </a:tr>
              <a:tr h="26828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public</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Có thể access từ bất kỳ đâu</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492806006"/>
                  </a:ext>
                </a:extLst>
              </a:tr>
              <a:tr h="2651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không chỉ định</a:t>
                      </a: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Chỉ có thể access từ class trong cùng package</a:t>
                      </a:r>
                    </a:p>
                  </a:txBody>
                  <a:tcPr marL="91410" marR="91410" marT="45704" marB="4570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74835259"/>
                  </a:ext>
                </a:extLst>
              </a:tr>
            </a:tbl>
          </a:graphicData>
        </a:graphic>
      </p:graphicFrame>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578" name="Rectangle 2">
            <a:extLst>
              <a:ext uri="{FF2B5EF4-FFF2-40B4-BE49-F238E27FC236}">
                <a16:creationId xmlns:a16="http://schemas.microsoft.com/office/drawing/2014/main" id="{C7E037DB-5967-D17A-50E1-19797E361B19}"/>
              </a:ext>
            </a:extLst>
          </p:cNvPr>
          <p:cNvSpPr>
            <a:spLocks noRot="1" noChangeAspect="1" noChangeArrowheads="1" noTextEdit="1"/>
          </p:cNvSpPr>
          <p:nvPr>
            <p:ph type="sldImg"/>
          </p:nvPr>
        </p:nvSpPr>
        <p:spPr>
          <a:xfrm>
            <a:off x="531813" y="835025"/>
            <a:ext cx="6024562" cy="4170363"/>
          </a:xfrm>
          <a:ln/>
        </p:spPr>
      </p:sp>
      <p:sp>
        <p:nvSpPr>
          <p:cNvPr id="408579" name="Rectangle 3">
            <a:extLst>
              <a:ext uri="{FF2B5EF4-FFF2-40B4-BE49-F238E27FC236}">
                <a16:creationId xmlns:a16="http://schemas.microsoft.com/office/drawing/2014/main" id="{204C0139-3DCD-1D34-B6C9-D74FF4AF5B99}"/>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Định nghĩa thuộc tính</a:t>
            </a:r>
            <a:r>
              <a:rPr lang="ja-JP" altLang="en-US">
                <a:latin typeface="Arial" panose="020B0604020202020204" pitchFamily="34" charset="0"/>
              </a:rPr>
              <a:t>（</a:t>
            </a:r>
            <a:r>
              <a:rPr lang="en-US" altLang="ja-JP">
                <a:latin typeface="Arial" panose="020B0604020202020204" pitchFamily="34" charset="0"/>
              </a:rPr>
              <a:t>biến instance</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Biến thể hiện thuộc tính mà các object đang có gọi là biến instance.</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Biến instance được định nghĩa bên trong định nghĩa class và bên ngoài định nghĩa method.</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Vị trí định nghĩa</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 </a:t>
            </a:r>
            <a:r>
              <a:rPr lang="ja-JP" altLang="en-US">
                <a:latin typeface="Arial" panose="020B0604020202020204" pitchFamily="34" charset="0"/>
              </a:rPr>
              <a:t>「</a:t>
            </a:r>
            <a:r>
              <a:rPr lang="en-US" altLang="ja-JP">
                <a:latin typeface="Arial" panose="020B0604020202020204" pitchFamily="34" charset="0"/>
              </a:rPr>
              <a:t>modifier</a:t>
            </a:r>
            <a:r>
              <a:rPr lang="ja-JP" altLang="en-US">
                <a:latin typeface="Arial" panose="020B0604020202020204" pitchFamily="34" charset="0"/>
              </a:rPr>
              <a:t>」 </a:t>
            </a:r>
            <a:r>
              <a:rPr lang="en-US" altLang="ja-JP">
                <a:latin typeface="Arial" panose="020B0604020202020204" pitchFamily="34" charset="0"/>
              </a:rPr>
              <a:t>của cú pháp có thể lược đi được.</a:t>
            </a: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a:t>
            </a:r>
            <a:r>
              <a:rPr lang="ja-JP" altLang="en-US">
                <a:latin typeface="Arial" panose="020B0604020202020204" pitchFamily="34" charset="0"/>
              </a:rPr>
              <a:t>）</a:t>
            </a:r>
          </a:p>
          <a:p>
            <a:pPr marL="0" indent="0"/>
            <a:r>
              <a:rPr lang="ja-JP" altLang="en-US" i="1">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private String firstName = ""; </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private int age;</a:t>
            </a:r>
          </a:p>
          <a:p>
            <a:pPr marL="0" indent="0"/>
            <a:endParaRPr lang="en-US" altLang="ja-JP">
              <a:latin typeface="Arial" panose="020B0604020202020204" pitchFamily="34" charset="0"/>
              <a:ea typeface="ＭＳ ゴシック" panose="020B0609070205080204" pitchFamily="49" charset="-128"/>
            </a:endParaRPr>
          </a:p>
          <a:p>
            <a:pPr marL="0" indent="0"/>
            <a:endParaRPr lang="en-US" altLang="ja-JP">
              <a:latin typeface="Arial" panose="020B0604020202020204" pitchFamily="34" charset="0"/>
            </a:endParaRPr>
          </a:p>
        </p:txBody>
      </p:sp>
      <p:sp>
        <p:nvSpPr>
          <p:cNvPr id="408580" name="Text Box 4">
            <a:extLst>
              <a:ext uri="{FF2B5EF4-FFF2-40B4-BE49-F238E27FC236}">
                <a16:creationId xmlns:a16="http://schemas.microsoft.com/office/drawing/2014/main" id="{929D4F1F-F974-30CB-9382-7A056E1A33D4}"/>
              </a:ext>
            </a:extLst>
          </p:cNvPr>
          <p:cNvSpPr txBox="1">
            <a:spLocks noChangeArrowheads="1"/>
          </p:cNvSpPr>
          <p:nvPr/>
        </p:nvSpPr>
        <p:spPr bwMode="auto">
          <a:xfrm>
            <a:off x="719138" y="6330950"/>
            <a:ext cx="5702300" cy="103346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en-US" altLang="ja-JP" b="0">
                <a:latin typeface="ＭＳ ゴシック" panose="020B0609070205080204" pitchFamily="49" charset="-128"/>
                <a:ea typeface="ＭＳ ゴシック" panose="020B0609070205080204" pitchFamily="49" charset="-128"/>
              </a:rPr>
              <a:t> class </a:t>
            </a:r>
            <a:r>
              <a:rPr lang="en-US" altLang="ja-JP" b="0">
                <a:ea typeface="ＭＳ ゴシック" panose="020B0609070205080204" pitchFamily="49" charset="-128"/>
              </a:rPr>
              <a:t>class name</a:t>
            </a:r>
            <a:r>
              <a:rPr lang="en-US" altLang="ja-JP" b="0">
                <a:latin typeface="ＭＳ ゴシック" panose="020B0609070205080204" pitchFamily="49" charset="-128"/>
                <a:ea typeface="ＭＳ ゴシック" panose="020B0609070205080204" pitchFamily="49" charset="-128"/>
              </a:rPr>
              <a:t> {</a:t>
            </a:r>
          </a:p>
          <a:p>
            <a:pPr lvl="1" algn="just"/>
            <a:endParaRPr lang="en-US" altLang="ja-JP" b="0">
              <a:latin typeface="MS UI Gothic" panose="020B0600070205080204" pitchFamily="50" charset="-128"/>
              <a:ea typeface="MS UI Gothic" panose="020B0600070205080204" pitchFamily="50" charset="-128"/>
            </a:endParaRPr>
          </a:p>
          <a:p>
            <a:pPr lvl="1" algn="just"/>
            <a:r>
              <a:rPr lang="en-US"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biến instance</a:t>
            </a:r>
            <a:endParaRPr lang="en-US" altLang="ja-JP" b="0">
              <a:ea typeface="MS UI Gothic" panose="020B0600070205080204" pitchFamily="50" charset="-128"/>
            </a:endParaRPr>
          </a:p>
          <a:p>
            <a:pPr lvl="1" algn="just"/>
            <a:endParaRPr lang="en-US" altLang="ja-JP" b="0">
              <a:ea typeface="MS UI Gothic" panose="020B0600070205080204" pitchFamily="50" charset="-128"/>
            </a:endParaRPr>
          </a:p>
          <a:p>
            <a:pPr lvl="1" algn="just"/>
            <a:r>
              <a:rPr lang="en-US"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method</a:t>
            </a:r>
            <a:endParaRPr lang="en-US" altLang="ja-JP" b="0">
              <a:ea typeface="MS UI Gothic" panose="020B0600070205080204" pitchFamily="50" charset="-128"/>
            </a:endParaRPr>
          </a:p>
          <a:p>
            <a:pPr lvl="1" algn="just"/>
            <a:r>
              <a:rPr lang="en-US" altLang="ja-JP" b="0">
                <a:latin typeface="ＭＳ ゴシック" panose="020B0609070205080204" pitchFamily="49" charset="-128"/>
                <a:ea typeface="ＭＳ ゴシック" panose="020B0609070205080204" pitchFamily="49" charset="-128"/>
              </a:rPr>
              <a:t>}</a:t>
            </a:r>
          </a:p>
        </p:txBody>
      </p:sp>
      <p:grpSp>
        <p:nvGrpSpPr>
          <p:cNvPr id="408590" name="Group 14">
            <a:extLst>
              <a:ext uri="{FF2B5EF4-FFF2-40B4-BE49-F238E27FC236}">
                <a16:creationId xmlns:a16="http://schemas.microsoft.com/office/drawing/2014/main" id="{9C15B56F-63AF-C77B-92AC-C8093EB78477}"/>
              </a:ext>
            </a:extLst>
          </p:cNvPr>
          <p:cNvGrpSpPr>
            <a:grpSpLocks/>
          </p:cNvGrpSpPr>
          <p:nvPr/>
        </p:nvGrpSpPr>
        <p:grpSpPr bwMode="auto">
          <a:xfrm>
            <a:off x="1127125" y="6527800"/>
            <a:ext cx="4645025" cy="415925"/>
            <a:chOff x="710" y="4112"/>
            <a:chExt cx="2414" cy="262"/>
          </a:xfrm>
        </p:grpSpPr>
        <p:sp>
          <p:nvSpPr>
            <p:cNvPr id="408581" name="Rectangle 5">
              <a:extLst>
                <a:ext uri="{FF2B5EF4-FFF2-40B4-BE49-F238E27FC236}">
                  <a16:creationId xmlns:a16="http://schemas.microsoft.com/office/drawing/2014/main" id="{2EE04A71-0004-CABF-8D7C-FBAE70CFF462}"/>
                </a:ext>
              </a:extLst>
            </p:cNvPr>
            <p:cNvSpPr>
              <a:spLocks noChangeArrowheads="1"/>
            </p:cNvSpPr>
            <p:nvPr/>
          </p:nvSpPr>
          <p:spPr bwMode="auto">
            <a:xfrm>
              <a:off x="710" y="4155"/>
              <a:ext cx="1042" cy="176"/>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408582" name="Rectangle 6">
              <a:extLst>
                <a:ext uri="{FF2B5EF4-FFF2-40B4-BE49-F238E27FC236}">
                  <a16:creationId xmlns:a16="http://schemas.microsoft.com/office/drawing/2014/main" id="{7D5655C5-F9F6-6EB6-2512-5B0B250D3363}"/>
                </a:ext>
              </a:extLst>
            </p:cNvPr>
            <p:cNvSpPr>
              <a:spLocks noChangeArrowheads="1"/>
            </p:cNvSpPr>
            <p:nvPr/>
          </p:nvSpPr>
          <p:spPr bwMode="auto">
            <a:xfrm>
              <a:off x="2286" y="4112"/>
              <a:ext cx="838" cy="26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Chú ý vị trí định nghĩa</a:t>
              </a:r>
              <a:r>
                <a:rPr lang="ja-JP" altLang="en-US">
                  <a:ea typeface="MS UI Gothic" panose="020B0600070205080204" pitchFamily="50" charset="-128"/>
                </a:rPr>
                <a:t>！</a:t>
              </a:r>
            </a:p>
          </p:txBody>
        </p:sp>
        <p:cxnSp>
          <p:nvCxnSpPr>
            <p:cNvPr id="408583" name="AutoShape 7">
              <a:extLst>
                <a:ext uri="{FF2B5EF4-FFF2-40B4-BE49-F238E27FC236}">
                  <a16:creationId xmlns:a16="http://schemas.microsoft.com/office/drawing/2014/main" id="{79E53263-195A-CBF0-6030-E0E5DEF7DCA3}"/>
                </a:ext>
              </a:extLst>
            </p:cNvPr>
            <p:cNvCxnSpPr>
              <a:cxnSpLocks noChangeShapeType="1"/>
              <a:stCxn id="408581" idx="3"/>
              <a:endCxn id="408582" idx="1"/>
            </p:cNvCxnSpPr>
            <p:nvPr/>
          </p:nvCxnSpPr>
          <p:spPr bwMode="auto">
            <a:xfrm>
              <a:off x="1758" y="4243"/>
              <a:ext cx="522" cy="0"/>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408587" name="Text Box 11">
            <a:extLst>
              <a:ext uri="{FF2B5EF4-FFF2-40B4-BE49-F238E27FC236}">
                <a16:creationId xmlns:a16="http://schemas.microsoft.com/office/drawing/2014/main" id="{D6C186C9-B011-51E2-AFF6-0268F745C656}"/>
              </a:ext>
            </a:extLst>
          </p:cNvPr>
          <p:cNvSpPr txBox="1">
            <a:spLocks noChangeArrowheads="1"/>
          </p:cNvSpPr>
          <p:nvPr/>
        </p:nvSpPr>
        <p:spPr bwMode="auto">
          <a:xfrm>
            <a:off x="776288" y="7789863"/>
            <a:ext cx="5643562" cy="24606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en-US" b="0">
                <a:ea typeface="MS UI Gothic" panose="020B0600070205080204" pitchFamily="50" charset="-128"/>
              </a:rPr>
              <a:t>　</a:t>
            </a:r>
            <a:r>
              <a:rPr lang="en-US" altLang="ja-JP" b="0">
                <a:ea typeface="MS UI Gothic" panose="020B0600070205080204" pitchFamily="50" charset="-128"/>
              </a:rPr>
              <a:t>modifier</a:t>
            </a:r>
            <a:r>
              <a:rPr lang="ja-JP" altLang="en-US" b="0">
                <a:ea typeface="MS UI Gothic" panose="020B0600070205080204" pitchFamily="50" charset="-128"/>
              </a:rPr>
              <a:t>　　</a:t>
            </a:r>
            <a:r>
              <a:rPr lang="en-US" altLang="ja-JP" b="0">
                <a:ea typeface="MS UI Gothic" panose="020B0600070205080204" pitchFamily="50" charset="-128"/>
              </a:rPr>
              <a:t>kiểu data</a:t>
            </a:r>
            <a:r>
              <a:rPr lang="ja-JP" altLang="en-US" b="0">
                <a:ea typeface="MS UI Gothic" panose="020B0600070205080204" pitchFamily="50" charset="-128"/>
              </a:rPr>
              <a:t>　　</a:t>
            </a:r>
            <a:r>
              <a:rPr lang="en-US" altLang="ja-JP" b="0">
                <a:ea typeface="MS UI Gothic" panose="020B0600070205080204" pitchFamily="50" charset="-128"/>
              </a:rPr>
              <a:t>tên biến</a:t>
            </a:r>
            <a:r>
              <a:rPr lang="en-US" altLang="ja-JP" b="0">
                <a:ea typeface="ＭＳ ゴシック" panose="020B0609070205080204" pitchFamily="49" charset="-128"/>
              </a:rPr>
              <a:t>;</a:t>
            </a:r>
            <a:endParaRPr lang="en-US" altLang="en-US" b="0">
              <a:ea typeface="ＭＳ ゴシック" panose="020B0609070205080204" pitchFamily="49" charset="-128"/>
            </a:endParaRPr>
          </a:p>
        </p:txBody>
      </p:sp>
      <p:sp>
        <p:nvSpPr>
          <p:cNvPr id="408588" name="Text Box 12">
            <a:extLst>
              <a:ext uri="{FF2B5EF4-FFF2-40B4-BE49-F238E27FC236}">
                <a16:creationId xmlns:a16="http://schemas.microsoft.com/office/drawing/2014/main" id="{277E2C0B-9C5F-C88D-DF2F-B6279C525B2F}"/>
              </a:ext>
            </a:extLst>
          </p:cNvPr>
          <p:cNvSpPr txBox="1">
            <a:spLocks noChangeArrowheads="1"/>
          </p:cNvSpPr>
          <p:nvPr/>
        </p:nvSpPr>
        <p:spPr bwMode="auto">
          <a:xfrm>
            <a:off x="776288" y="8158163"/>
            <a:ext cx="5643562" cy="2794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en-US" b="0">
                <a:ea typeface="MS UI Gothic" panose="020B0600070205080204" pitchFamily="50" charset="-128"/>
              </a:rPr>
              <a:t>　</a:t>
            </a:r>
            <a:r>
              <a:rPr lang="en-US" altLang="ja-JP" b="0">
                <a:ea typeface="MS UI Gothic" panose="020B0600070205080204" pitchFamily="50" charset="-128"/>
              </a:rPr>
              <a:t>modifier</a:t>
            </a:r>
            <a:r>
              <a:rPr lang="ja-JP" altLang="en-US" b="0">
                <a:ea typeface="MS UI Gothic" panose="020B0600070205080204" pitchFamily="50" charset="-128"/>
              </a:rPr>
              <a:t>　　</a:t>
            </a:r>
            <a:r>
              <a:rPr lang="en-US" altLang="ja-JP" b="0">
                <a:ea typeface="MS UI Gothic" panose="020B0600070205080204" pitchFamily="50" charset="-128"/>
              </a:rPr>
              <a:t>kiểu data</a:t>
            </a:r>
            <a:r>
              <a:rPr lang="ja-JP" altLang="en-US" b="0">
                <a:ea typeface="MS UI Gothic" panose="020B0600070205080204" pitchFamily="50" charset="-128"/>
              </a:rPr>
              <a:t>　　</a:t>
            </a:r>
            <a:r>
              <a:rPr lang="en-US" altLang="ja-JP" b="0">
                <a:ea typeface="MS UI Gothic" panose="020B0600070205080204" pitchFamily="50" charset="-128"/>
              </a:rPr>
              <a:t>tên biến</a:t>
            </a:r>
            <a:r>
              <a:rPr lang="en-US" altLang="ja-JP" b="0">
                <a:ea typeface="ＭＳ ゴシック" panose="020B0609070205080204" pitchFamily="49" charset="-128"/>
              </a:rPr>
              <a:t> = giá trị khởi tạo;</a:t>
            </a:r>
            <a:endParaRPr lang="en-US" altLang="en-US" b="0">
              <a:ea typeface="ＭＳ ゴシック" panose="020B0609070205080204" pitchFamily="49" charset="-128"/>
            </a:endParaRPr>
          </a:p>
        </p:txBody>
      </p:sp>
      <p:sp>
        <p:nvSpPr>
          <p:cNvPr id="408589" name="AutoShape 13">
            <a:extLst>
              <a:ext uri="{FF2B5EF4-FFF2-40B4-BE49-F238E27FC236}">
                <a16:creationId xmlns:a16="http://schemas.microsoft.com/office/drawing/2014/main" id="{E6E3A70B-2CDD-4538-62EE-1E38B4D9942C}"/>
              </a:ext>
            </a:extLst>
          </p:cNvPr>
          <p:cNvSpPr>
            <a:spLocks noChangeArrowheads="1"/>
          </p:cNvSpPr>
          <p:nvPr/>
        </p:nvSpPr>
        <p:spPr bwMode="auto">
          <a:xfrm>
            <a:off x="3405188" y="7491413"/>
            <a:ext cx="2717800" cy="493712"/>
          </a:xfrm>
          <a:prstGeom prst="wedgeRoundRectCallout">
            <a:avLst>
              <a:gd name="adj1" fmla="val -62991"/>
              <a:gd name="adj2" fmla="val 37667"/>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Nếu lược phần chỉ định giá trị khởi tạo thì giá trị của biến sẽ thành giá trị default của các kiểu data.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674" name="Rectangle 2">
            <a:extLst>
              <a:ext uri="{FF2B5EF4-FFF2-40B4-BE49-F238E27FC236}">
                <a16:creationId xmlns:a16="http://schemas.microsoft.com/office/drawing/2014/main" id="{27724EF0-1CB8-F9A3-4BC2-CB174F100E1B}"/>
              </a:ext>
            </a:extLst>
          </p:cNvPr>
          <p:cNvSpPr>
            <a:spLocks noGrp="1" noChangeArrowheads="1"/>
          </p:cNvSpPr>
          <p:nvPr>
            <p:ph type="body" idx="1"/>
          </p:nvPr>
        </p:nvSpPr>
        <p:spPr>
          <a:xfrm>
            <a:off x="706438" y="682625"/>
            <a:ext cx="5635625" cy="9305925"/>
          </a:xfrm>
        </p:spPr>
        <p:txBody>
          <a:bodyPr/>
          <a:lstStyle/>
          <a:p>
            <a:pPr marL="0" indent="0"/>
            <a:r>
              <a:rPr lang="en-US" altLang="ja-JP">
                <a:latin typeface="Arial" panose="020B0604020202020204" pitchFamily="34" charset="0"/>
              </a:rPr>
              <a:t>【modifier】</a:t>
            </a:r>
          </a:p>
          <a:p>
            <a:pPr marL="0" indent="0"/>
            <a:r>
              <a:rPr lang="ja-JP" altLang="en-US">
                <a:latin typeface="Arial" panose="020B0604020202020204" pitchFamily="34" charset="0"/>
              </a:rPr>
              <a:t>・</a:t>
            </a:r>
            <a:r>
              <a:rPr lang="en-US" altLang="ja-JP">
                <a:latin typeface="Arial" panose="020B0604020202020204" pitchFamily="34" charset="0"/>
              </a:rPr>
              <a:t>access modifier</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Package sẽ học ở chương 5, sub class sẽ học ở chương 3.</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Chi tiết về access modifier sẽ học ở chương 5.</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ja-JP" altLang="en-US">
                <a:latin typeface="Arial" panose="020B0604020202020204" pitchFamily="34" charset="0"/>
              </a:rPr>
              <a:t>・</a:t>
            </a:r>
            <a:r>
              <a:rPr lang="en-US" altLang="ja-JP">
                <a:latin typeface="Arial" panose="020B0604020202020204" pitchFamily="34" charset="0"/>
              </a:rPr>
              <a:t>Không phải access modifier</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a:t>
            </a:r>
            <a:r>
              <a:rPr lang="ja-JP" altLang="en-US">
                <a:latin typeface="Arial" panose="020B0604020202020204" pitchFamily="34" charset="0"/>
              </a:rPr>
              <a:t>）</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final double PI = 3.14;</a:t>
            </a:r>
          </a:p>
          <a:p>
            <a:pPr marL="0" indent="0"/>
            <a:endParaRPr lang="en-US" altLang="ja-JP">
              <a:latin typeface="Arial" panose="020B0604020202020204" pitchFamily="34" charset="0"/>
              <a:ea typeface="ＭＳ ゴシック" panose="020B0609070205080204" pitchFamily="49" charset="-128"/>
            </a:endParaRPr>
          </a:p>
          <a:p>
            <a:pPr marL="0" indent="0"/>
            <a:endParaRPr lang="en-US" altLang="ja-JP">
              <a:latin typeface="Arial" panose="020B0604020202020204" pitchFamily="34" charset="0"/>
            </a:endParaRPr>
          </a:p>
        </p:txBody>
      </p:sp>
      <p:graphicFrame>
        <p:nvGraphicFramePr>
          <p:cNvPr id="412822" name="Group 150">
            <a:extLst>
              <a:ext uri="{FF2B5EF4-FFF2-40B4-BE49-F238E27FC236}">
                <a16:creationId xmlns:a16="http://schemas.microsoft.com/office/drawing/2014/main" id="{1410DDAD-2902-61DD-EE2A-45E03964F733}"/>
              </a:ext>
            </a:extLst>
          </p:cNvPr>
          <p:cNvGraphicFramePr>
            <a:graphicFrameLocks noGrp="1"/>
          </p:cNvGraphicFramePr>
          <p:nvPr/>
        </p:nvGraphicFramePr>
        <p:xfrm>
          <a:off x="727075" y="1060450"/>
          <a:ext cx="5640388" cy="1473200"/>
        </p:xfrm>
        <a:graphic>
          <a:graphicData uri="http://schemas.openxmlformats.org/drawingml/2006/table">
            <a:tbl>
              <a:tblPr/>
              <a:tblGrid>
                <a:gridCol w="1158875">
                  <a:extLst>
                    <a:ext uri="{9D8B030D-6E8A-4147-A177-3AD203B41FA5}">
                      <a16:colId xmlns:a16="http://schemas.microsoft.com/office/drawing/2014/main" val="3222954656"/>
                    </a:ext>
                  </a:extLst>
                </a:gridCol>
                <a:gridCol w="4481513">
                  <a:extLst>
                    <a:ext uri="{9D8B030D-6E8A-4147-A177-3AD203B41FA5}">
                      <a16:colId xmlns:a16="http://schemas.microsoft.com/office/drawing/2014/main" val="3586927228"/>
                    </a:ext>
                  </a:extLst>
                </a:gridCol>
              </a:tblGrid>
              <a:tr h="300038">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modifier</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Explanation</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3795544867"/>
                  </a:ext>
                </a:extLst>
              </a:tr>
              <a:tr h="25876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0"/>
                        </a:spcBef>
                        <a:spcAft>
                          <a:spcPct val="0"/>
                        </a:spcAft>
                        <a:buClrTx/>
                        <a:buSzTx/>
                        <a:buFontTx/>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public</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Có thể access từ bất kỳ đâu</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016038553"/>
                  </a:ext>
                </a:extLst>
              </a:tr>
              <a:tr h="260350">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protected</a:t>
                      </a:r>
                      <a:endParaRPr kumimoji="1" lang="en-US"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endParaRP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0"/>
                        </a:spcBef>
                        <a:spcAft>
                          <a:spcPct val="0"/>
                        </a:spcAft>
                        <a:buClrTx/>
                        <a:buSzTx/>
                        <a:buFontTx/>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Chỉ có thể access từ class hoặc sub class có quan hệ kế thừa trong package.</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138544397"/>
                  </a:ext>
                </a:extLst>
              </a:tr>
              <a:tr h="261938">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0"/>
                        </a:spcBef>
                        <a:spcAft>
                          <a:spcPct val="0"/>
                        </a:spcAft>
                        <a:buClrTx/>
                        <a:buSzTx/>
                        <a:buFontTx/>
                        <a:buNone/>
                        <a:tabLst/>
                      </a:pP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Không chỉ định</a:t>
                      </a: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0"/>
                        </a:spcBef>
                        <a:spcAft>
                          <a:spcPct val="0"/>
                        </a:spcAft>
                        <a:buClrTx/>
                        <a:buSzTx/>
                        <a:buFontTx/>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Chỉ có thể access từ class trong cùng package.</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53168689"/>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0"/>
                        </a:spcBef>
                        <a:spcAft>
                          <a:spcPct val="0"/>
                        </a:spcAft>
                        <a:buClrTx/>
                        <a:buSzTx/>
                        <a:buFontTx/>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private</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0"/>
                        </a:spcBef>
                        <a:spcAft>
                          <a:spcPct val="0"/>
                        </a:spcAft>
                        <a:buClrTx/>
                        <a:buSzTx/>
                        <a:buFontTx/>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Chỉ có thể access từ trong cùng class.</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extLst>
                  <a:ext uri="{0D108BD9-81ED-4DB2-BD59-A6C34878D82A}">
                    <a16:rowId xmlns:a16="http://schemas.microsoft.com/office/drawing/2014/main" val="3401411805"/>
                  </a:ext>
                </a:extLst>
              </a:tr>
            </a:tbl>
          </a:graphicData>
        </a:graphic>
      </p:graphicFrame>
      <p:graphicFrame>
        <p:nvGraphicFramePr>
          <p:cNvPr id="412823" name="Group 151">
            <a:extLst>
              <a:ext uri="{FF2B5EF4-FFF2-40B4-BE49-F238E27FC236}">
                <a16:creationId xmlns:a16="http://schemas.microsoft.com/office/drawing/2014/main" id="{5D3261A3-6576-AD54-0875-A5CCFD97AE8E}"/>
              </a:ext>
            </a:extLst>
          </p:cNvPr>
          <p:cNvGraphicFramePr>
            <a:graphicFrameLocks noGrp="1"/>
          </p:cNvGraphicFramePr>
          <p:nvPr/>
        </p:nvGraphicFramePr>
        <p:xfrm>
          <a:off x="720725" y="3476625"/>
          <a:ext cx="5640388" cy="700088"/>
        </p:xfrm>
        <a:graphic>
          <a:graphicData uri="http://schemas.openxmlformats.org/drawingml/2006/table">
            <a:tbl>
              <a:tblPr/>
              <a:tblGrid>
                <a:gridCol w="1065213">
                  <a:extLst>
                    <a:ext uri="{9D8B030D-6E8A-4147-A177-3AD203B41FA5}">
                      <a16:colId xmlns:a16="http://schemas.microsoft.com/office/drawing/2014/main" val="2283175347"/>
                    </a:ext>
                  </a:extLst>
                </a:gridCol>
                <a:gridCol w="4575175">
                  <a:extLst>
                    <a:ext uri="{9D8B030D-6E8A-4147-A177-3AD203B41FA5}">
                      <a16:colId xmlns:a16="http://schemas.microsoft.com/office/drawing/2014/main" val="1794305810"/>
                    </a:ext>
                  </a:extLst>
                </a:gridCol>
              </a:tblGrid>
              <a:tr h="300038">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modifier</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Explanation</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474830535"/>
                  </a:ext>
                </a:extLst>
              </a:tr>
              <a:tr h="25876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final</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0"/>
                        </a:spcBef>
                        <a:spcAft>
                          <a:spcPct val="0"/>
                        </a:spcAft>
                        <a:buClrTx/>
                        <a:buSzTx/>
                        <a:buFontTx/>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Chỉ định trong trường hợp hằng số</a:t>
                      </a: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về sau sẽ không thay đổi giá trị được nữa</a:t>
                      </a: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572127439"/>
                  </a:ext>
                </a:extLst>
              </a:tr>
            </a:tbl>
          </a:graphicData>
        </a:graphic>
      </p:graphicFrame>
      <p:sp>
        <p:nvSpPr>
          <p:cNvPr id="412807" name="AutoShape 135">
            <a:extLst>
              <a:ext uri="{FF2B5EF4-FFF2-40B4-BE49-F238E27FC236}">
                <a16:creationId xmlns:a16="http://schemas.microsoft.com/office/drawing/2014/main" id="{E072220D-07CA-F863-8CEB-243507A1B0D3}"/>
              </a:ext>
            </a:extLst>
          </p:cNvPr>
          <p:cNvSpPr>
            <a:spLocks noChangeArrowheads="1"/>
          </p:cNvSpPr>
          <p:nvPr/>
        </p:nvSpPr>
        <p:spPr bwMode="auto">
          <a:xfrm>
            <a:off x="4176713" y="2262188"/>
            <a:ext cx="2066925" cy="361950"/>
          </a:xfrm>
          <a:prstGeom prst="wedgeRoundRectCallout">
            <a:avLst>
              <a:gd name="adj1" fmla="val -70125"/>
              <a:gd name="adj2" fmla="val -28509"/>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Trường hợp là thuộc tính thì private là phổ biến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074" name="AutoShape 2">
            <a:extLst>
              <a:ext uri="{FF2B5EF4-FFF2-40B4-BE49-F238E27FC236}">
                <a16:creationId xmlns:a16="http://schemas.microsoft.com/office/drawing/2014/main" id="{C1B7A3E9-BDA5-318D-8EE3-609987BEC493}"/>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r>
              <a:rPr lang="en-US" altLang="ja-JP" sz="1300">
                <a:ea typeface="MS UI Gothic" panose="020B0600070205080204" pitchFamily="50" charset="-128"/>
              </a:rPr>
              <a:t>Các loại biến</a:t>
            </a: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Biến số được chia làm 3 loại lớn là biến local, biến instance, biến static.</a:t>
            </a: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Biến local</a:t>
            </a:r>
            <a:r>
              <a:rPr lang="ja-JP" altLang="en-US" b="0">
                <a:ea typeface="MS UI Gothic" panose="020B0600070205080204" pitchFamily="50" charset="-128"/>
              </a:rPr>
              <a:t>　</a:t>
            </a:r>
          </a:p>
          <a:p>
            <a:r>
              <a:rPr lang="ja-JP" altLang="en-US" b="0">
                <a:ea typeface="MS UI Gothic" panose="020B0600070205080204" pitchFamily="50" charset="-128"/>
              </a:rPr>
              <a:t>　</a:t>
            </a:r>
            <a:r>
              <a:rPr lang="en-US" altLang="ja-JP" b="0">
                <a:ea typeface="MS UI Gothic" panose="020B0600070205080204" pitchFamily="50" charset="-128"/>
              </a:rPr>
              <a:t>Biến local là biến được định nghĩa bên trong method, sau khi được định nghĩa nó sẽ trở thành biến hợp lệ bên trong block </a:t>
            </a:r>
            <a:r>
              <a:rPr lang="ja-JP" altLang="en-US" b="0">
                <a:ea typeface="MS UI Gothic" panose="020B0600070205080204" pitchFamily="50" charset="-128"/>
              </a:rPr>
              <a:t>（</a:t>
            </a:r>
            <a:r>
              <a:rPr lang="en-US" altLang="ja-JP" b="0">
                <a:ea typeface="MS UI Gothic" panose="020B0600070205080204" pitchFamily="50" charset="-128"/>
              </a:rPr>
              <a:t>{ }</a:t>
            </a:r>
            <a:r>
              <a:rPr lang="ja-JP" altLang="en-US" b="0">
                <a:ea typeface="MS UI Gothic" panose="020B0600070205080204" pitchFamily="50" charset="-128"/>
              </a:rPr>
              <a:t>） </a:t>
            </a:r>
            <a:r>
              <a:rPr lang="en-US" altLang="ja-JP" b="0">
                <a:ea typeface="MS UI Gothic" panose="020B0600070205080204" pitchFamily="50" charset="-128"/>
              </a:rPr>
              <a:t>đã định nghĩa.</a:t>
            </a:r>
          </a:p>
          <a:p>
            <a:r>
              <a:rPr lang="ja-JP" altLang="en-US" b="0">
                <a:ea typeface="MS UI Gothic" panose="020B0600070205080204" pitchFamily="50" charset="-128"/>
              </a:rPr>
              <a:t>　</a:t>
            </a:r>
            <a:r>
              <a:rPr lang="en-US" altLang="ja-JP" b="0">
                <a:ea typeface="MS UI Gothic" panose="020B0600070205080204" pitchFamily="50" charset="-128"/>
              </a:rPr>
              <a:t>Mỗi khi method được gọi ra thì một khu vực sẽ bị chiếm chỗ, và giá trị của biến chỉ được duy trì trong khoảng thời gian method được thực hiện.</a:t>
            </a:r>
          </a:p>
          <a:p>
            <a:r>
              <a:rPr lang="ja-JP" altLang="en-US" b="0">
                <a:ea typeface="MS UI Gothic" panose="020B0600070205080204" pitchFamily="50" charset="-128"/>
              </a:rPr>
              <a:t>　</a:t>
            </a:r>
            <a:r>
              <a:rPr lang="en-US" altLang="ja-JP" b="0">
                <a:ea typeface="MS UI Gothic" panose="020B0600070205080204" pitchFamily="50" charset="-128"/>
              </a:rPr>
              <a:t>Đây là biến mà người tạo program sử dụng để làm việc. Nó được sử dụng trong các trường hợp bảo quản data tạm thời.</a:t>
            </a:r>
          </a:p>
          <a:p>
            <a:r>
              <a:rPr lang="ja-JP" altLang="en-US" b="0">
                <a:ea typeface="MS UI Gothic" panose="020B0600070205080204" pitchFamily="50" charset="-128"/>
              </a:rPr>
              <a:t>　</a:t>
            </a:r>
            <a:r>
              <a:rPr lang="en-US" altLang="ja-JP" b="0">
                <a:ea typeface="MS UI Gothic" panose="020B0600070205080204" pitchFamily="50" charset="-128"/>
              </a:rPr>
              <a:t>Biến local không phải là phần tử của mảng thì sẽ không được khởi tạo. Hãy gán giá trị phù hợp để sử dụng.</a:t>
            </a:r>
          </a:p>
          <a:p>
            <a:r>
              <a:rPr lang="ja-JP" altLang="en-US" b="0">
                <a:ea typeface="MS UI Gothic" panose="020B0600070205080204" pitchFamily="50" charset="-128"/>
              </a:rPr>
              <a:t>　</a:t>
            </a:r>
          </a:p>
          <a:p>
            <a:r>
              <a:rPr lang="ja-JP" altLang="en-US" b="0">
                <a:ea typeface="MS UI Gothic" panose="020B0600070205080204" pitchFamily="50" charset="-128"/>
              </a:rPr>
              <a:t>　</a:t>
            </a:r>
            <a:r>
              <a:rPr lang="en-US" altLang="ja-JP" b="0">
                <a:ea typeface="MS UI Gothic" panose="020B0600070205080204" pitchFamily="50" charset="-128"/>
              </a:rPr>
              <a:t>Đến đây biến mà được khai báo và sử dụng bên trong main method được gọi là biến local.</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Biến instance</a:t>
            </a:r>
          </a:p>
          <a:p>
            <a:r>
              <a:rPr lang="ja-JP" altLang="en-US" b="0">
                <a:ea typeface="MS UI Gothic" panose="020B0600070205080204" pitchFamily="50" charset="-128"/>
              </a:rPr>
              <a:t>　</a:t>
            </a:r>
            <a:r>
              <a:rPr lang="en-US" altLang="ja-JP" b="0">
                <a:ea typeface="MS UI Gothic" panose="020B0600070205080204" pitchFamily="50" charset="-128"/>
              </a:rPr>
              <a:t>Biến thể hiện thuộc tính mà các object đang có thì gọi là biến instance.</a:t>
            </a:r>
          </a:p>
          <a:p>
            <a:r>
              <a:rPr lang="ja-JP" altLang="en-US" b="0">
                <a:ea typeface="MS UI Gothic" panose="020B0600070205080204" pitchFamily="50" charset="-128"/>
              </a:rPr>
              <a:t>　</a:t>
            </a:r>
            <a:r>
              <a:rPr lang="en-US" altLang="ja-JP" b="0">
                <a:ea typeface="MS UI Gothic" panose="020B0600070205080204" pitchFamily="50" charset="-128"/>
              </a:rPr>
              <a:t>Giá trị của biến được duy trì cho đến khi object bị phá hủy.</a:t>
            </a:r>
          </a:p>
          <a:p>
            <a:r>
              <a:rPr lang="ja-JP" altLang="en-US" b="0">
                <a:ea typeface="MS UI Gothic" panose="020B0600070205080204" pitchFamily="50" charset="-128"/>
              </a:rPr>
              <a:t>　</a:t>
            </a:r>
            <a:r>
              <a:rPr lang="en-US" altLang="ja-JP" b="0">
                <a:ea typeface="MS UI Gothic" panose="020B0600070205080204" pitchFamily="50" charset="-128"/>
              </a:rPr>
              <a:t>Biến instance được định nghĩa bên trong định nghĩa class và bên ngoài định nghĩa method.</a:t>
            </a:r>
          </a:p>
          <a:p>
            <a:r>
              <a:rPr lang="ja-JP" altLang="en-US" b="0">
                <a:ea typeface="MS UI Gothic" panose="020B0600070205080204" pitchFamily="50" charset="-128"/>
              </a:rPr>
              <a:t>　</a:t>
            </a:r>
            <a:r>
              <a:rPr lang="en-US" altLang="ja-JP" b="0">
                <a:ea typeface="MS UI Gothic" panose="020B0600070205080204" pitchFamily="50" charset="-128"/>
              </a:rPr>
              <a:t>cú pháp hầu như giống với cú pháp của biến local được định nghĩa ở trong method nhưng nơi định nghĩa, có thể chỉ định modifier và giá trị khi lược giá trị khởi tạo lại khác nhau.</a:t>
            </a: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【Tham khảo】</a:t>
            </a:r>
          </a:p>
          <a:p>
            <a:r>
              <a:rPr lang="ja-JP" altLang="en-US" b="0">
                <a:ea typeface="MS UI Gothic" panose="020B0600070205080204" pitchFamily="50" charset="-128"/>
              </a:rPr>
              <a:t>　</a:t>
            </a:r>
            <a:r>
              <a:rPr lang="en-US" altLang="ja-JP" b="0">
                <a:ea typeface="MS UI Gothic" panose="020B0600070205080204" pitchFamily="50" charset="-128"/>
              </a:rPr>
              <a:t>Biến static là biến được xác định theo đơn vị class. Về biến static chúng ta sẽ học sau.</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p:txBody>
      </p:sp>
      <p:sp>
        <p:nvSpPr>
          <p:cNvPr id="515075" name="AutoShape 3">
            <a:extLst>
              <a:ext uri="{FF2B5EF4-FFF2-40B4-BE49-F238E27FC236}">
                <a16:creationId xmlns:a16="http://schemas.microsoft.com/office/drawing/2014/main" id="{DD783FC3-A4EF-BB70-A75B-D249C1B2CF1B}"/>
              </a:ext>
            </a:extLst>
          </p:cNvPr>
          <p:cNvSpPr>
            <a:spLocks noChangeArrowheads="1"/>
          </p:cNvSpPr>
          <p:nvPr/>
        </p:nvSpPr>
        <p:spPr bwMode="auto">
          <a:xfrm>
            <a:off x="603250" y="442913"/>
            <a:ext cx="11176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COLUMN</a:t>
            </a:r>
          </a:p>
        </p:txBody>
      </p:sp>
      <p:grpSp>
        <p:nvGrpSpPr>
          <p:cNvPr id="515136" name="Group 64">
            <a:extLst>
              <a:ext uri="{FF2B5EF4-FFF2-40B4-BE49-F238E27FC236}">
                <a16:creationId xmlns:a16="http://schemas.microsoft.com/office/drawing/2014/main" id="{FEB432ED-0951-8744-23B9-1794E54AEF91}"/>
              </a:ext>
            </a:extLst>
          </p:cNvPr>
          <p:cNvGrpSpPr>
            <a:grpSpLocks/>
          </p:cNvGrpSpPr>
          <p:nvPr/>
        </p:nvGrpSpPr>
        <p:grpSpPr bwMode="auto">
          <a:xfrm>
            <a:off x="677863" y="3116263"/>
            <a:ext cx="5726112" cy="2259012"/>
            <a:chOff x="438" y="1443"/>
            <a:chExt cx="3607" cy="1423"/>
          </a:xfrm>
        </p:grpSpPr>
        <p:sp>
          <p:nvSpPr>
            <p:cNvPr id="515084" name="Text Box 12">
              <a:extLst>
                <a:ext uri="{FF2B5EF4-FFF2-40B4-BE49-F238E27FC236}">
                  <a16:creationId xmlns:a16="http://schemas.microsoft.com/office/drawing/2014/main" id="{118D3D3F-EC40-4438-0A37-BB35D91AE738}"/>
                </a:ext>
              </a:extLst>
            </p:cNvPr>
            <p:cNvSpPr txBox="1">
              <a:spLocks noChangeArrowheads="1"/>
            </p:cNvSpPr>
            <p:nvPr/>
          </p:nvSpPr>
          <p:spPr bwMode="auto">
            <a:xfrm>
              <a:off x="438" y="1443"/>
              <a:ext cx="3607" cy="142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42900" indent="-342900" defTabSz="447675">
                <a:defRPr kumimoji="1">
                  <a:solidFill>
                    <a:schemeClr val="tx1"/>
                  </a:solidFill>
                  <a:latin typeface="Arial" panose="020B0604020202020204" pitchFamily="34" charset="0"/>
                  <a:ea typeface="ＭＳ Ｐゴシック" panose="020B0600070205080204" pitchFamily="50" charset="-128"/>
                </a:defRPr>
              </a:lvl1pPr>
              <a:lvl2pPr marL="522288" indent="-342900" defTabSz="447675">
                <a:defRPr kumimoji="1">
                  <a:solidFill>
                    <a:schemeClr val="tx1"/>
                  </a:solidFill>
                  <a:latin typeface="Arial" panose="020B0604020202020204" pitchFamily="34" charset="0"/>
                  <a:ea typeface="ＭＳ Ｐゴシック" panose="020B0600070205080204" pitchFamily="50" charset="-128"/>
                </a:defRPr>
              </a:lvl2pPr>
              <a:lvl3pPr marL="1296988" indent="-342900" defTabSz="447675">
                <a:defRPr kumimoji="1">
                  <a:solidFill>
                    <a:schemeClr val="tx1"/>
                  </a:solidFill>
                  <a:latin typeface="Arial" panose="020B0604020202020204" pitchFamily="34" charset="0"/>
                  <a:ea typeface="ＭＳ Ｐゴシック" panose="020B0600070205080204" pitchFamily="50" charset="-128"/>
                </a:defRPr>
              </a:lvl3pPr>
              <a:lvl4pPr marL="1774825" indent="-342900" defTabSz="447675">
                <a:defRPr kumimoji="1">
                  <a:solidFill>
                    <a:schemeClr val="tx1"/>
                  </a:solidFill>
                  <a:latin typeface="Arial" panose="020B0604020202020204" pitchFamily="34" charset="0"/>
                  <a:ea typeface="ＭＳ Ｐゴシック" panose="020B0600070205080204" pitchFamily="50" charset="-128"/>
                </a:defRPr>
              </a:lvl4pPr>
              <a:lvl5pPr marL="2252663" indent="-342900" defTabSz="447675">
                <a:defRPr kumimoji="1">
                  <a:solidFill>
                    <a:schemeClr val="tx1"/>
                  </a:solidFill>
                  <a:latin typeface="Arial" panose="020B0604020202020204" pitchFamily="34" charset="0"/>
                  <a:ea typeface="ＭＳ Ｐゴシック" panose="020B0600070205080204" pitchFamily="50" charset="-128"/>
                </a:defRPr>
              </a:lvl5pPr>
              <a:lvl6pPr marL="27098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public class LocalVariable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public static void main(String[] args)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a:t>
              </a:r>
              <a:r>
                <a:rPr lang="ja-JP" altLang="ja-JP" b="0">
                  <a:latin typeface="ＭＳ ゴシック" panose="020B0609070205080204" pitchFamily="49" charset="-128"/>
                  <a:ea typeface="ＭＳ ゴシック" panose="020B0609070205080204" pitchFamily="49" charset="-128"/>
                </a:rPr>
                <a:t>  int[] numArray = {10, 20, 30};</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for (int i = 0; i &lt; numArray.length; i++)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System.out.println(i + " 番目の要素は " + numArray[i]);</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(phần tử thứ…là)</a:t>
              </a:r>
              <a:endParaRPr lang="ja-JP" altLang="ja-JP" b="0">
                <a:ea typeface="ＭＳ ゴシック" panose="020B0609070205080204" pitchFamily="49" charset="-128"/>
              </a:endParaRP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a:t>
              </a:r>
            </a:p>
          </p:txBody>
        </p:sp>
        <p:sp>
          <p:nvSpPr>
            <p:cNvPr id="515085" name="Rectangle 13">
              <a:extLst>
                <a:ext uri="{FF2B5EF4-FFF2-40B4-BE49-F238E27FC236}">
                  <a16:creationId xmlns:a16="http://schemas.microsoft.com/office/drawing/2014/main" id="{BC766655-6B09-7519-43B5-EFB8093C1FBF}"/>
                </a:ext>
              </a:extLst>
            </p:cNvPr>
            <p:cNvSpPr>
              <a:spLocks noChangeArrowheads="1"/>
            </p:cNvSpPr>
            <p:nvPr/>
          </p:nvSpPr>
          <p:spPr bwMode="auto">
            <a:xfrm>
              <a:off x="2844" y="1542"/>
              <a:ext cx="931" cy="164"/>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t>Phạm vi có hiệu lực </a:t>
              </a:r>
            </a:p>
            <a:p>
              <a:pPr algn="ctr"/>
              <a:r>
                <a:rPr lang="en-US" altLang="ja-JP" b="0"/>
                <a:t>của</a:t>
              </a:r>
              <a:r>
                <a:rPr lang="en-US" altLang="ja-JP" sz="1100" b="0">
                  <a:latin typeface="ＭＳ Ｐゴシック" panose="020B0600070205080204" pitchFamily="50" charset="-128"/>
                </a:rPr>
                <a:t> </a:t>
              </a:r>
              <a:r>
                <a:rPr lang="en-US" altLang="en-US" sz="1100" b="0">
                  <a:latin typeface="ＭＳ Ｐゴシック" panose="020B0600070205080204" pitchFamily="50" charset="-128"/>
                </a:rPr>
                <a:t>numArray</a:t>
              </a:r>
              <a:endParaRPr lang="en-US" altLang="ja-JP" sz="1100" b="0">
                <a:latin typeface="ＭＳ Ｐゴシック" panose="020B0600070205080204" pitchFamily="50" charset="-128"/>
              </a:endParaRPr>
            </a:p>
          </p:txBody>
        </p:sp>
        <p:cxnSp>
          <p:nvCxnSpPr>
            <p:cNvPr id="515086" name="AutoShape 14">
              <a:extLst>
                <a:ext uri="{FF2B5EF4-FFF2-40B4-BE49-F238E27FC236}">
                  <a16:creationId xmlns:a16="http://schemas.microsoft.com/office/drawing/2014/main" id="{CAB90D5D-B9F4-7168-5365-79F6A63876A1}"/>
                </a:ext>
              </a:extLst>
            </p:cNvPr>
            <p:cNvCxnSpPr>
              <a:cxnSpLocks noChangeShapeType="1"/>
              <a:stCxn id="515085" idx="3"/>
              <a:endCxn id="515087" idx="3"/>
            </p:cNvCxnSpPr>
            <p:nvPr/>
          </p:nvCxnSpPr>
          <p:spPr bwMode="auto">
            <a:xfrm>
              <a:off x="3783" y="1624"/>
              <a:ext cx="10" cy="525"/>
            </a:xfrm>
            <a:prstGeom prst="bentConnector3">
              <a:avLst>
                <a:gd name="adj1" fmla="val 1450000"/>
              </a:avLst>
            </a:prstGeom>
            <a:noFill/>
            <a:ln w="1905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15087" name="Rectangle 15">
              <a:extLst>
                <a:ext uri="{FF2B5EF4-FFF2-40B4-BE49-F238E27FC236}">
                  <a16:creationId xmlns:a16="http://schemas.microsoft.com/office/drawing/2014/main" id="{CFB8853F-B62F-ADDB-9632-5AB24AF4C8A7}"/>
                </a:ext>
              </a:extLst>
            </p:cNvPr>
            <p:cNvSpPr>
              <a:spLocks noChangeArrowheads="1"/>
            </p:cNvSpPr>
            <p:nvPr/>
          </p:nvSpPr>
          <p:spPr bwMode="auto">
            <a:xfrm>
              <a:off x="874" y="1771"/>
              <a:ext cx="2911" cy="75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15088" name="Rectangle 16">
              <a:extLst>
                <a:ext uri="{FF2B5EF4-FFF2-40B4-BE49-F238E27FC236}">
                  <a16:creationId xmlns:a16="http://schemas.microsoft.com/office/drawing/2014/main" id="{1605AE4C-B65A-844E-805A-AC74A46BD74E}"/>
                </a:ext>
              </a:extLst>
            </p:cNvPr>
            <p:cNvSpPr>
              <a:spLocks noChangeArrowheads="1"/>
            </p:cNvSpPr>
            <p:nvPr/>
          </p:nvSpPr>
          <p:spPr bwMode="auto">
            <a:xfrm>
              <a:off x="2780" y="2637"/>
              <a:ext cx="785" cy="170"/>
            </a:xfrm>
            <a:prstGeom prst="rect">
              <a:avLst/>
            </a:prstGeom>
            <a:noFill/>
            <a:ln w="1905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Phạm vi có hiệu lực </a:t>
              </a:r>
            </a:p>
            <a:p>
              <a:pPr algn="ctr"/>
              <a:r>
                <a:rPr lang="en-US" altLang="ja-JP" b="0">
                  <a:ea typeface="MS UI Gothic" panose="020B0600070205080204" pitchFamily="50" charset="-128"/>
                </a:rPr>
                <a:t>của</a:t>
              </a:r>
              <a:r>
                <a:rPr lang="en-US" altLang="ja-JP">
                  <a:ea typeface="MS UI Gothic" panose="020B0600070205080204" pitchFamily="50" charset="-128"/>
                </a:rPr>
                <a:t> </a:t>
              </a:r>
              <a:r>
                <a:rPr lang="en-US" altLang="ja-JP" sz="1100" b="0">
                  <a:latin typeface="ＭＳ Ｐゴシック" panose="020B0600070205080204" pitchFamily="50" charset="-128"/>
                </a:rPr>
                <a:t>i</a:t>
              </a:r>
            </a:p>
          </p:txBody>
        </p:sp>
        <p:cxnSp>
          <p:nvCxnSpPr>
            <p:cNvPr id="515089" name="AutoShape 17">
              <a:extLst>
                <a:ext uri="{FF2B5EF4-FFF2-40B4-BE49-F238E27FC236}">
                  <a16:creationId xmlns:a16="http://schemas.microsoft.com/office/drawing/2014/main" id="{C12C8114-2300-69E4-5703-0DB044DE8ED4}"/>
                </a:ext>
              </a:extLst>
            </p:cNvPr>
            <p:cNvCxnSpPr>
              <a:cxnSpLocks noChangeShapeType="1"/>
              <a:stCxn id="515088" idx="3"/>
              <a:endCxn id="515090" idx="3"/>
            </p:cNvCxnSpPr>
            <p:nvPr/>
          </p:nvCxnSpPr>
          <p:spPr bwMode="auto">
            <a:xfrm flipH="1" flipV="1">
              <a:off x="3572" y="2280"/>
              <a:ext cx="1" cy="442"/>
            </a:xfrm>
            <a:prstGeom prst="bentConnector3">
              <a:avLst>
                <a:gd name="adj1" fmla="val -13500000"/>
              </a:avLst>
            </a:prstGeom>
            <a:noFill/>
            <a:ln w="19050">
              <a:solidFill>
                <a:srgbClr val="FF8519"/>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15090" name="Rectangle 18">
              <a:extLst>
                <a:ext uri="{FF2B5EF4-FFF2-40B4-BE49-F238E27FC236}">
                  <a16:creationId xmlns:a16="http://schemas.microsoft.com/office/drawing/2014/main" id="{9287FB81-01E1-110B-FF9B-4728A113B8AE}"/>
                </a:ext>
              </a:extLst>
            </p:cNvPr>
            <p:cNvSpPr>
              <a:spLocks noChangeArrowheads="1"/>
            </p:cNvSpPr>
            <p:nvPr/>
          </p:nvSpPr>
          <p:spPr bwMode="auto">
            <a:xfrm>
              <a:off x="983" y="2060"/>
              <a:ext cx="2581" cy="440"/>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gr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5555" name="Rectangle 3">
            <a:extLst>
              <a:ext uri="{FF2B5EF4-FFF2-40B4-BE49-F238E27FC236}">
                <a16:creationId xmlns:a16="http://schemas.microsoft.com/office/drawing/2014/main" id="{4219C0AC-A9A4-DE7D-2E92-427A582EEA40}"/>
              </a:ext>
            </a:extLst>
          </p:cNvPr>
          <p:cNvSpPr>
            <a:spLocks noGrp="1" noChangeArrowheads="1"/>
          </p:cNvSpPr>
          <p:nvPr>
            <p:ph type="body" idx="1"/>
          </p:nvPr>
        </p:nvSpPr>
        <p:spPr/>
        <p:txBody>
          <a:bodyPr/>
          <a:lstStyle/>
          <a:p>
            <a:pPr marL="0" indent="0">
              <a:lnSpc>
                <a:spcPct val="90000"/>
              </a:lnSpc>
            </a:pPr>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Method</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Cái đặt tên cho xử lý của một cụm code được gọi là method.</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Method được định nghĩa bên trong định nghĩa class.</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Trình tự định nghĩa field và method là tùy ý nhưng thông thường sẽ miêu tả method tiếp theo sau field.</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Method sẽ được chỉ định tên và được gọi ra.</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Trường hợp định nghĩa nhiều method thì trình tự định nghĩa giữa các method sẽ là trình tự không bắt buộc.</a:t>
            </a:r>
          </a:p>
          <a:p>
            <a:pPr marL="0" indent="0">
              <a:lnSpc>
                <a:spcPct val="90000"/>
              </a:lnSpc>
            </a:pPr>
            <a:endParaRPr lang="en-US" altLang="ja-JP">
              <a:latin typeface="Arial" panose="020B0604020202020204" pitchFamily="34" charset="0"/>
            </a:endParaRPr>
          </a:p>
          <a:p>
            <a:pPr marL="0" indent="0">
              <a:lnSpc>
                <a:spcPct val="90000"/>
              </a:lnSpc>
            </a:pPr>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trí định nghĩa.</a:t>
            </a: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r>
              <a:rPr lang="en-US" altLang="ja-JP">
                <a:latin typeface="Arial" panose="020B0604020202020204" pitchFamily="34" charset="0"/>
              </a:rPr>
              <a:t>●</a:t>
            </a:r>
            <a:r>
              <a:rPr lang="ja-JP" altLang="en-US">
                <a:latin typeface="Arial" panose="020B0604020202020204" pitchFamily="34" charset="0"/>
              </a:rPr>
              <a:t>　実行の流れの例（①→②→③）</a:t>
            </a: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r>
              <a:rPr lang="en-US" altLang="en-US">
                <a:latin typeface="Arial" panose="020B0604020202020204" pitchFamily="34" charset="0"/>
              </a:rPr>
              <a:t>※　methodA</a:t>
            </a:r>
            <a:r>
              <a:rPr lang="en-US" altLang="ja-JP">
                <a:latin typeface="Arial" panose="020B0604020202020204" pitchFamily="34" charset="0"/>
              </a:rPr>
              <a:t> là method có trong object sẽ đề nghị xử lý với </a:t>
            </a:r>
            <a:r>
              <a:rPr lang="en-US" altLang="en-US">
                <a:latin typeface="Arial" panose="020B0604020202020204" pitchFamily="34" charset="0"/>
              </a:rPr>
              <a:t>Person</a:t>
            </a:r>
            <a:r>
              <a:rPr lang="en-US" altLang="ja-JP">
                <a:latin typeface="Arial" panose="020B0604020202020204" pitchFamily="34" charset="0"/>
              </a:rPr>
              <a:t> object. </a:t>
            </a:r>
            <a:endParaRPr lang="en-US" altLang="en-US">
              <a:latin typeface="Arial" panose="020B0604020202020204" pitchFamily="34" charset="0"/>
            </a:endParaRPr>
          </a:p>
          <a:p>
            <a:pPr marL="0" indent="0">
              <a:lnSpc>
                <a:spcPct val="90000"/>
              </a:lnSpc>
            </a:pPr>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Về việc gọi ra method thì sẽ học sau.</a:t>
            </a:r>
          </a:p>
        </p:txBody>
      </p:sp>
      <p:sp>
        <p:nvSpPr>
          <p:cNvPr id="535554" name="Rectangle 2">
            <a:extLst>
              <a:ext uri="{FF2B5EF4-FFF2-40B4-BE49-F238E27FC236}">
                <a16:creationId xmlns:a16="http://schemas.microsoft.com/office/drawing/2014/main" id="{E83ACC80-F9AC-C35B-1F53-B288E52145EF}"/>
              </a:ext>
            </a:extLst>
          </p:cNvPr>
          <p:cNvSpPr>
            <a:spLocks noRot="1" noChangeAspect="1" noChangeArrowheads="1" noTextEdit="1"/>
          </p:cNvSpPr>
          <p:nvPr>
            <p:ph type="sldImg"/>
          </p:nvPr>
        </p:nvSpPr>
        <p:spPr>
          <a:xfrm>
            <a:off x="531813" y="835025"/>
            <a:ext cx="6024562" cy="4170363"/>
          </a:xfrm>
          <a:ln/>
        </p:spPr>
      </p:sp>
      <p:sp>
        <p:nvSpPr>
          <p:cNvPr id="535556" name="Text Box 4">
            <a:extLst>
              <a:ext uri="{FF2B5EF4-FFF2-40B4-BE49-F238E27FC236}">
                <a16:creationId xmlns:a16="http://schemas.microsoft.com/office/drawing/2014/main" id="{62B59E2A-52DA-300A-2636-797570D142AB}"/>
              </a:ext>
            </a:extLst>
          </p:cNvPr>
          <p:cNvSpPr txBox="1">
            <a:spLocks noChangeArrowheads="1"/>
          </p:cNvSpPr>
          <p:nvPr/>
        </p:nvSpPr>
        <p:spPr bwMode="auto">
          <a:xfrm>
            <a:off x="777875" y="6710363"/>
            <a:ext cx="5643563" cy="103346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en-US" altLang="ja-JP" b="0">
                <a:latin typeface="ＭＳ ゴシック" panose="020B0609070205080204" pitchFamily="49" charset="-128"/>
                <a:ea typeface="ＭＳ ゴシック" panose="020B0609070205080204" pitchFamily="49" charset="-128"/>
              </a:rPr>
              <a:t> class </a:t>
            </a:r>
            <a:r>
              <a:rPr lang="en-US" altLang="ja-JP" b="0">
                <a:ea typeface="ＭＳ ゴシック" panose="020B0609070205080204" pitchFamily="49" charset="-128"/>
              </a:rPr>
              <a:t>class name</a:t>
            </a:r>
            <a:r>
              <a:rPr lang="en-US" altLang="ja-JP" b="0">
                <a:latin typeface="ＭＳ ゴシック" panose="020B0609070205080204" pitchFamily="49" charset="-128"/>
                <a:ea typeface="ＭＳ ゴシック" panose="020B0609070205080204" pitchFamily="49" charset="-128"/>
              </a:rPr>
              <a:t> {</a:t>
            </a:r>
          </a:p>
          <a:p>
            <a:pPr lvl="1" algn="just"/>
            <a:endParaRPr lang="en-US" altLang="ja-JP" b="0">
              <a:latin typeface="ＭＳ ゴシック" panose="020B0609070205080204" pitchFamily="49" charset="-128"/>
              <a:ea typeface="ＭＳ ゴシック" panose="020B0609070205080204" pitchFamily="49" charset="-128"/>
            </a:endParaRPr>
          </a:p>
          <a:p>
            <a:pPr lvl="1" algn="just"/>
            <a:r>
              <a:rPr lang="en-US"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field</a:t>
            </a:r>
            <a:r>
              <a:rPr lang="ja-JP" altLang="en-US" b="0">
                <a:ea typeface="MS UI Gothic" panose="020B0600070205080204" pitchFamily="50" charset="-128"/>
              </a:rPr>
              <a:t>（</a:t>
            </a:r>
            <a:r>
              <a:rPr lang="en-US" altLang="ja-JP" b="0">
                <a:ea typeface="MS UI Gothic" panose="020B0600070205080204" pitchFamily="50" charset="-128"/>
              </a:rPr>
              <a:t>thuộc tính</a:t>
            </a:r>
            <a:r>
              <a:rPr lang="ja-JP" altLang="en-US" b="0">
                <a:ea typeface="MS UI Gothic" panose="020B0600070205080204" pitchFamily="50" charset="-128"/>
              </a:rPr>
              <a:t>）</a:t>
            </a:r>
          </a:p>
          <a:p>
            <a:pPr lvl="1" algn="just"/>
            <a:endParaRPr lang="ja-JP" altLang="en-US" b="0">
              <a:latin typeface="ＭＳ ゴシック" panose="020B0609070205080204" pitchFamily="49" charset="-128"/>
              <a:ea typeface="ＭＳ ゴシック" panose="020B0609070205080204" pitchFamily="49" charset="-128"/>
            </a:endParaRPr>
          </a:p>
          <a:p>
            <a:pPr lvl="1" algn="just"/>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Định nghĩa instance method</a:t>
            </a:r>
            <a:endParaRPr lang="en-US" altLang="ja-JP" b="0">
              <a:ea typeface="MS UI Gothic" panose="020B0600070205080204" pitchFamily="50" charset="-128"/>
            </a:endParaRPr>
          </a:p>
          <a:p>
            <a:pPr lvl="1" algn="just"/>
            <a:r>
              <a:rPr lang="en-US" altLang="ja-JP" b="0">
                <a:latin typeface="ＭＳ ゴシック" panose="020B0609070205080204" pitchFamily="49" charset="-128"/>
                <a:ea typeface="ＭＳ ゴシック" panose="020B0609070205080204" pitchFamily="49" charset="-128"/>
              </a:rPr>
              <a:t>}</a:t>
            </a:r>
          </a:p>
        </p:txBody>
      </p:sp>
      <p:grpSp>
        <p:nvGrpSpPr>
          <p:cNvPr id="535589" name="Group 37">
            <a:extLst>
              <a:ext uri="{FF2B5EF4-FFF2-40B4-BE49-F238E27FC236}">
                <a16:creationId xmlns:a16="http://schemas.microsoft.com/office/drawing/2014/main" id="{5D31834D-9659-5395-033D-82D9BEE44826}"/>
              </a:ext>
            </a:extLst>
          </p:cNvPr>
          <p:cNvGrpSpPr>
            <a:grpSpLocks/>
          </p:cNvGrpSpPr>
          <p:nvPr/>
        </p:nvGrpSpPr>
        <p:grpSpPr bwMode="auto">
          <a:xfrm>
            <a:off x="1176338" y="6918325"/>
            <a:ext cx="3498850" cy="568325"/>
            <a:chOff x="741" y="4389"/>
            <a:chExt cx="2204" cy="328"/>
          </a:xfrm>
        </p:grpSpPr>
        <p:sp>
          <p:nvSpPr>
            <p:cNvPr id="535557" name="Rectangle 5">
              <a:extLst>
                <a:ext uri="{FF2B5EF4-FFF2-40B4-BE49-F238E27FC236}">
                  <a16:creationId xmlns:a16="http://schemas.microsoft.com/office/drawing/2014/main" id="{34919B4D-31E4-EA1A-2A6C-3953180576DB}"/>
                </a:ext>
              </a:extLst>
            </p:cNvPr>
            <p:cNvSpPr>
              <a:spLocks noChangeArrowheads="1"/>
            </p:cNvSpPr>
            <p:nvPr/>
          </p:nvSpPr>
          <p:spPr bwMode="auto">
            <a:xfrm>
              <a:off x="741" y="4472"/>
              <a:ext cx="1336" cy="16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35558" name="Rectangle 6">
              <a:extLst>
                <a:ext uri="{FF2B5EF4-FFF2-40B4-BE49-F238E27FC236}">
                  <a16:creationId xmlns:a16="http://schemas.microsoft.com/office/drawing/2014/main" id="{B663DC51-7D00-EB38-1037-A229DA784146}"/>
                </a:ext>
              </a:extLst>
            </p:cNvPr>
            <p:cNvSpPr>
              <a:spLocks noChangeArrowheads="1"/>
            </p:cNvSpPr>
            <p:nvPr/>
          </p:nvSpPr>
          <p:spPr bwMode="auto">
            <a:xfrm>
              <a:off x="2455" y="4389"/>
              <a:ext cx="490" cy="32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Vị trí định nghĩa</a:t>
              </a:r>
            </a:p>
          </p:txBody>
        </p:sp>
        <p:cxnSp>
          <p:nvCxnSpPr>
            <p:cNvPr id="535559" name="AutoShape 7">
              <a:extLst>
                <a:ext uri="{FF2B5EF4-FFF2-40B4-BE49-F238E27FC236}">
                  <a16:creationId xmlns:a16="http://schemas.microsoft.com/office/drawing/2014/main" id="{40C239DD-25B5-179F-C0CA-58164A947E06}"/>
                </a:ext>
              </a:extLst>
            </p:cNvPr>
            <p:cNvCxnSpPr>
              <a:cxnSpLocks noChangeShapeType="1"/>
              <a:stCxn id="535557" idx="3"/>
              <a:endCxn id="535558" idx="1"/>
            </p:cNvCxnSpPr>
            <p:nvPr/>
          </p:nvCxnSpPr>
          <p:spPr bwMode="auto">
            <a:xfrm>
              <a:off x="2085" y="4553"/>
              <a:ext cx="362" cy="0"/>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grpSp>
        <p:nvGrpSpPr>
          <p:cNvPr id="535588" name="Group 36">
            <a:extLst>
              <a:ext uri="{FF2B5EF4-FFF2-40B4-BE49-F238E27FC236}">
                <a16:creationId xmlns:a16="http://schemas.microsoft.com/office/drawing/2014/main" id="{27F35799-62B2-2A1B-0874-5D01DA75884A}"/>
              </a:ext>
            </a:extLst>
          </p:cNvPr>
          <p:cNvGrpSpPr>
            <a:grpSpLocks/>
          </p:cNvGrpSpPr>
          <p:nvPr/>
        </p:nvGrpSpPr>
        <p:grpSpPr bwMode="auto">
          <a:xfrm>
            <a:off x="787400" y="7839075"/>
            <a:ext cx="5634038" cy="1473200"/>
            <a:chOff x="496" y="4938"/>
            <a:chExt cx="3549" cy="928"/>
          </a:xfrm>
        </p:grpSpPr>
        <p:sp>
          <p:nvSpPr>
            <p:cNvPr id="535579" name="Text Box 27">
              <a:extLst>
                <a:ext uri="{FF2B5EF4-FFF2-40B4-BE49-F238E27FC236}">
                  <a16:creationId xmlns:a16="http://schemas.microsoft.com/office/drawing/2014/main" id="{AAB3C06B-B1F7-E7CD-4A5A-577993434171}"/>
                </a:ext>
              </a:extLst>
            </p:cNvPr>
            <p:cNvSpPr txBox="1">
              <a:spLocks noChangeArrowheads="1"/>
            </p:cNvSpPr>
            <p:nvPr/>
          </p:nvSpPr>
          <p:spPr bwMode="auto">
            <a:xfrm>
              <a:off x="496" y="4938"/>
              <a:ext cx="3549" cy="92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endParaRPr lang="ja-JP" altLang="ja-JP" b="0">
                <a:latin typeface="MS UI Gothic" panose="020B0600070205080204" pitchFamily="50" charset="-128"/>
                <a:ea typeface="MS UI Gothic" panose="020B0600070205080204" pitchFamily="50" charset="-128"/>
              </a:endParaRPr>
            </a:p>
          </p:txBody>
        </p:sp>
        <p:sp>
          <p:nvSpPr>
            <p:cNvPr id="535560" name="Text Box 8">
              <a:extLst>
                <a:ext uri="{FF2B5EF4-FFF2-40B4-BE49-F238E27FC236}">
                  <a16:creationId xmlns:a16="http://schemas.microsoft.com/office/drawing/2014/main" id="{1BC8F91B-5AF2-609F-285A-51CBF01DB44B}"/>
                </a:ext>
              </a:extLst>
            </p:cNvPr>
            <p:cNvSpPr txBox="1">
              <a:spLocks noChangeArrowheads="1"/>
            </p:cNvSpPr>
            <p:nvPr/>
          </p:nvSpPr>
          <p:spPr bwMode="auto">
            <a:xfrm>
              <a:off x="621" y="5007"/>
              <a:ext cx="1302" cy="7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tabLst>
                  <a:tab pos="0" algn="l"/>
                </a:tabLst>
                <a:defRPr kumimoji="1">
                  <a:solidFill>
                    <a:schemeClr val="tx1"/>
                  </a:solidFill>
                  <a:latin typeface="Arial" panose="020B0604020202020204" pitchFamily="34" charset="0"/>
                  <a:ea typeface="ＭＳ Ｐゴシック" panose="020B0600070205080204" pitchFamily="50" charset="-128"/>
                </a:defRPr>
              </a:lvl1pPr>
              <a:lvl2pPr marL="187325" defTabSz="954088">
                <a:tabLst>
                  <a:tab pos="0" algn="l"/>
                </a:tabLst>
                <a:defRPr kumimoji="1">
                  <a:solidFill>
                    <a:schemeClr val="tx1"/>
                  </a:solidFill>
                  <a:latin typeface="Arial" panose="020B0604020202020204" pitchFamily="34" charset="0"/>
                  <a:ea typeface="ＭＳ Ｐゴシック" panose="020B0600070205080204" pitchFamily="50" charset="-128"/>
                </a:defRPr>
              </a:lvl2pPr>
              <a:lvl3pPr marL="954088" defTabSz="954088">
                <a:tabLst>
                  <a:tab pos="0" algn="l"/>
                </a:tabLst>
                <a:defRPr kumimoji="1">
                  <a:solidFill>
                    <a:schemeClr val="tx1"/>
                  </a:solidFill>
                  <a:latin typeface="Arial" panose="020B0604020202020204" pitchFamily="34" charset="0"/>
                  <a:ea typeface="ＭＳ Ｐゴシック" panose="020B0600070205080204" pitchFamily="50" charset="-128"/>
                </a:defRPr>
              </a:lvl3pPr>
              <a:lvl4pPr marL="1431925" defTabSz="954088">
                <a:tabLst>
                  <a:tab pos="0" algn="l"/>
                </a:tabLst>
                <a:defRPr kumimoji="1">
                  <a:solidFill>
                    <a:schemeClr val="tx1"/>
                  </a:solidFill>
                  <a:latin typeface="Arial" panose="020B0604020202020204" pitchFamily="34" charset="0"/>
                  <a:ea typeface="ＭＳ Ｐゴシック" panose="020B0600070205080204" pitchFamily="50" charset="-128"/>
                </a:defRPr>
              </a:lvl4pPr>
              <a:lvl5pPr marL="1909763" defTabSz="954088">
                <a:tabLst>
                  <a:tab pos="0" algn="l"/>
                </a:tabLst>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tabLst>
                  <a:tab pos="0" algn="l"/>
                </a:tabLs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tabLst>
                  <a:tab pos="0" algn="l"/>
                </a:tabLs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tabLst>
                  <a:tab pos="0" algn="l"/>
                </a:tabLs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tabLst>
                  <a:tab pos="0" algn="l"/>
                </a:tabLs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latin typeface="ＭＳ ゴシック" panose="020B0609070205080204" pitchFamily="49" charset="-128"/>
                  <a:ea typeface="ＭＳ ゴシック" panose="020B0609070205080204" pitchFamily="49" charset="-128"/>
                </a:rPr>
                <a:t>public void methodA() {</a:t>
              </a:r>
            </a:p>
            <a:p>
              <a:pPr lvl="1" algn="just"/>
              <a:r>
                <a:rPr lang="en-US" altLang="ja-JP" b="0">
                  <a:latin typeface="ＭＳ ゴシック" panose="020B0609070205080204" pitchFamily="49" charset="-128"/>
                  <a:ea typeface="ＭＳ ゴシック" panose="020B0609070205080204" pitchFamily="49" charset="-128"/>
                </a:rPr>
                <a:t>     </a:t>
              </a:r>
              <a:r>
                <a:rPr lang="ja-JP" altLang="en-US" b="0">
                  <a:latin typeface="ＭＳ ゴシック" panose="020B0609070205080204" pitchFamily="49" charset="-128"/>
                  <a:ea typeface="ＭＳ ゴシック" panose="020B0609070205080204" pitchFamily="49" charset="-128"/>
                </a:rPr>
                <a:t>　：</a:t>
              </a:r>
            </a:p>
            <a:p>
              <a:pPr lvl="1" algn="just"/>
              <a:endParaRPr lang="ja-JP" altLang="en-US" b="0">
                <a:latin typeface="ＭＳ ゴシック" panose="020B0609070205080204" pitchFamily="49" charset="-128"/>
                <a:ea typeface="ＭＳ ゴシック" panose="020B0609070205080204" pitchFamily="49" charset="-128"/>
              </a:endParaRPr>
            </a:p>
            <a:p>
              <a:pPr lvl="1" algn="just">
                <a:spcBef>
                  <a:spcPct val="20000"/>
                </a:spcBef>
              </a:pPr>
              <a:r>
                <a:rPr lang="ja-JP" altLang="en-US"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Gọi ra</a:t>
              </a:r>
              <a:r>
                <a:rPr lang="en-US" altLang="ja-JP" b="0">
                  <a:latin typeface="ＭＳ ゴシック" panose="020B0609070205080204" pitchFamily="49" charset="-128"/>
                  <a:ea typeface="ＭＳ ゴシック" panose="020B0609070205080204" pitchFamily="49" charset="-128"/>
                </a:rPr>
                <a:t> setLastName</a:t>
              </a:r>
            </a:p>
            <a:p>
              <a:pPr lvl="1" algn="just"/>
              <a:endParaRPr lang="en-US" altLang="ja-JP" b="0">
                <a:latin typeface="ＭＳ ゴシック" panose="020B0609070205080204" pitchFamily="49" charset="-128"/>
                <a:ea typeface="ＭＳ ゴシック" panose="020B0609070205080204" pitchFamily="49" charset="-128"/>
              </a:endParaRPr>
            </a:p>
            <a:p>
              <a:pPr lvl="1" algn="just"/>
              <a:r>
                <a:rPr lang="en-US" altLang="ja-JP" b="0">
                  <a:latin typeface="ＭＳ ゴシック" panose="020B0609070205080204" pitchFamily="49" charset="-128"/>
                  <a:ea typeface="ＭＳ ゴシック" panose="020B0609070205080204" pitchFamily="49" charset="-128"/>
                </a:rPr>
                <a:t>     </a:t>
              </a:r>
              <a:r>
                <a:rPr lang="ja-JP" altLang="en-US" b="0">
                  <a:latin typeface="ＭＳ ゴシック" panose="020B0609070205080204" pitchFamily="49" charset="-128"/>
                  <a:ea typeface="ＭＳ ゴシック" panose="020B0609070205080204" pitchFamily="49" charset="-128"/>
                </a:rPr>
                <a:t>　：</a:t>
              </a:r>
            </a:p>
            <a:p>
              <a:pPr lvl="1" algn="just"/>
              <a:r>
                <a:rPr lang="en-US" altLang="ja-JP" b="0">
                  <a:latin typeface="ＭＳ ゴシック" panose="020B0609070205080204" pitchFamily="49" charset="-128"/>
                  <a:ea typeface="ＭＳ ゴシック" panose="020B0609070205080204" pitchFamily="49" charset="-128"/>
                </a:rPr>
                <a:t>}</a:t>
              </a:r>
            </a:p>
            <a:p>
              <a:pPr lvl="1" algn="just"/>
              <a:endParaRPr lang="en-US" altLang="ja-JP" b="0">
                <a:latin typeface="ＭＳ ゴシック" panose="020B0609070205080204" pitchFamily="49" charset="-128"/>
                <a:ea typeface="ＭＳ ゴシック" panose="020B0609070205080204" pitchFamily="49" charset="-128"/>
              </a:endParaRPr>
            </a:p>
          </p:txBody>
        </p:sp>
        <p:sp>
          <p:nvSpPr>
            <p:cNvPr id="535567" name="Rectangle 15">
              <a:extLst>
                <a:ext uri="{FF2B5EF4-FFF2-40B4-BE49-F238E27FC236}">
                  <a16:creationId xmlns:a16="http://schemas.microsoft.com/office/drawing/2014/main" id="{447D5349-5310-8485-145D-8B619A3AC5D5}"/>
                </a:ext>
              </a:extLst>
            </p:cNvPr>
            <p:cNvSpPr>
              <a:spLocks noChangeArrowheads="1"/>
            </p:cNvSpPr>
            <p:nvPr/>
          </p:nvSpPr>
          <p:spPr bwMode="auto">
            <a:xfrm>
              <a:off x="839" y="5320"/>
              <a:ext cx="925" cy="126"/>
            </a:xfrm>
            <a:prstGeom prst="rect">
              <a:avLst/>
            </a:prstGeom>
            <a:noFill/>
            <a:ln w="1905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35569" name="Rectangle 17">
              <a:extLst>
                <a:ext uri="{FF2B5EF4-FFF2-40B4-BE49-F238E27FC236}">
                  <a16:creationId xmlns:a16="http://schemas.microsoft.com/office/drawing/2014/main" id="{ED80A0FC-DB26-C91F-6557-73CCBB3B7C6C}"/>
                </a:ext>
              </a:extLst>
            </p:cNvPr>
            <p:cNvSpPr>
              <a:spLocks noChangeArrowheads="1"/>
            </p:cNvSpPr>
            <p:nvPr/>
          </p:nvSpPr>
          <p:spPr bwMode="auto">
            <a:xfrm>
              <a:off x="1545" y="5191"/>
              <a:ext cx="208" cy="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lgn="ctr">
                  <a:solidFill>
                    <a:srgbClr val="3FB007"/>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1" tIns="45700" rIns="91401" bIns="45700"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latin typeface="MS UI Gothic" panose="020B0600070205080204" pitchFamily="50" charset="-128"/>
                  <a:ea typeface="MS UI Gothic" panose="020B0600070205080204" pitchFamily="50" charset="-128"/>
                </a:rPr>
                <a:t>①</a:t>
              </a:r>
            </a:p>
          </p:txBody>
        </p:sp>
        <p:sp>
          <p:nvSpPr>
            <p:cNvPr id="535570" name="Rectangle 18">
              <a:extLst>
                <a:ext uri="{FF2B5EF4-FFF2-40B4-BE49-F238E27FC236}">
                  <a16:creationId xmlns:a16="http://schemas.microsoft.com/office/drawing/2014/main" id="{B09CAC4F-F51F-57FB-2A28-49B2B1303B59}"/>
                </a:ext>
              </a:extLst>
            </p:cNvPr>
            <p:cNvSpPr>
              <a:spLocks noChangeArrowheads="1"/>
            </p:cNvSpPr>
            <p:nvPr/>
          </p:nvSpPr>
          <p:spPr bwMode="auto">
            <a:xfrm>
              <a:off x="2092" y="5307"/>
              <a:ext cx="301" cy="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lgn="ctr">
                  <a:solidFill>
                    <a:srgbClr val="3FB007"/>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1" tIns="45700" rIns="91401" bIns="45700"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latin typeface="MS UI Gothic" panose="020B0600070205080204" pitchFamily="50" charset="-128"/>
                  <a:ea typeface="MS UI Gothic" panose="020B0600070205080204" pitchFamily="50" charset="-128"/>
                </a:rPr>
                <a:t>②</a:t>
              </a:r>
            </a:p>
          </p:txBody>
        </p:sp>
        <p:sp>
          <p:nvSpPr>
            <p:cNvPr id="535571" name="Rectangle 19">
              <a:extLst>
                <a:ext uri="{FF2B5EF4-FFF2-40B4-BE49-F238E27FC236}">
                  <a16:creationId xmlns:a16="http://schemas.microsoft.com/office/drawing/2014/main" id="{947831B5-D95C-0779-D52F-30757DAC7A02}"/>
                </a:ext>
              </a:extLst>
            </p:cNvPr>
            <p:cNvSpPr>
              <a:spLocks noChangeArrowheads="1"/>
            </p:cNvSpPr>
            <p:nvPr/>
          </p:nvSpPr>
          <p:spPr bwMode="auto">
            <a:xfrm>
              <a:off x="1560" y="5515"/>
              <a:ext cx="208" cy="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lgn="ctr">
                  <a:solidFill>
                    <a:srgbClr val="3FB007"/>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1" tIns="45700" rIns="91401" bIns="45700"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latin typeface="MS UI Gothic" panose="020B0600070205080204" pitchFamily="50" charset="-128"/>
                  <a:ea typeface="MS UI Gothic" panose="020B0600070205080204" pitchFamily="50" charset="-128"/>
                </a:rPr>
                <a:t>③</a:t>
              </a:r>
            </a:p>
          </p:txBody>
        </p:sp>
        <p:sp>
          <p:nvSpPr>
            <p:cNvPr id="535572" name="Line 20">
              <a:extLst>
                <a:ext uri="{FF2B5EF4-FFF2-40B4-BE49-F238E27FC236}">
                  <a16:creationId xmlns:a16="http://schemas.microsoft.com/office/drawing/2014/main" id="{F8D745CB-6C82-7F4A-74D7-6011ED63E011}"/>
                </a:ext>
              </a:extLst>
            </p:cNvPr>
            <p:cNvSpPr>
              <a:spLocks noChangeShapeType="1"/>
            </p:cNvSpPr>
            <p:nvPr/>
          </p:nvSpPr>
          <p:spPr bwMode="auto">
            <a:xfrm flipH="1">
              <a:off x="1757" y="5475"/>
              <a:ext cx="0" cy="178"/>
            </a:xfrm>
            <a:prstGeom prst="line">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5576" name="Line 24">
              <a:extLst>
                <a:ext uri="{FF2B5EF4-FFF2-40B4-BE49-F238E27FC236}">
                  <a16:creationId xmlns:a16="http://schemas.microsoft.com/office/drawing/2014/main" id="{E868A5C8-6AE1-CD55-8832-68DFC434600C}"/>
                </a:ext>
              </a:extLst>
            </p:cNvPr>
            <p:cNvSpPr>
              <a:spLocks noChangeShapeType="1"/>
            </p:cNvSpPr>
            <p:nvPr/>
          </p:nvSpPr>
          <p:spPr bwMode="auto">
            <a:xfrm>
              <a:off x="2265" y="5189"/>
              <a:ext cx="0" cy="328"/>
            </a:xfrm>
            <a:prstGeom prst="line">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5577" name="Line 25">
              <a:extLst>
                <a:ext uri="{FF2B5EF4-FFF2-40B4-BE49-F238E27FC236}">
                  <a16:creationId xmlns:a16="http://schemas.microsoft.com/office/drawing/2014/main" id="{374EA1E1-58B8-8363-47D1-2D61E835D1FA}"/>
                </a:ext>
              </a:extLst>
            </p:cNvPr>
            <p:cNvSpPr>
              <a:spLocks noChangeShapeType="1"/>
            </p:cNvSpPr>
            <p:nvPr/>
          </p:nvSpPr>
          <p:spPr bwMode="auto">
            <a:xfrm flipV="1">
              <a:off x="1801" y="5209"/>
              <a:ext cx="430" cy="113"/>
            </a:xfrm>
            <a:prstGeom prst="line">
              <a:avLst/>
            </a:prstGeom>
            <a:noFill/>
            <a:ln w="19050">
              <a:solidFill>
                <a:srgbClr val="FF8519"/>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5578" name="Line 26">
              <a:extLst>
                <a:ext uri="{FF2B5EF4-FFF2-40B4-BE49-F238E27FC236}">
                  <a16:creationId xmlns:a16="http://schemas.microsoft.com/office/drawing/2014/main" id="{10096DCF-28BF-1BA7-68D5-6DBCEA8EBFD8}"/>
                </a:ext>
              </a:extLst>
            </p:cNvPr>
            <p:cNvSpPr>
              <a:spLocks noChangeShapeType="1"/>
            </p:cNvSpPr>
            <p:nvPr/>
          </p:nvSpPr>
          <p:spPr bwMode="auto">
            <a:xfrm>
              <a:off x="1797" y="5459"/>
              <a:ext cx="434" cy="41"/>
            </a:xfrm>
            <a:prstGeom prst="line">
              <a:avLst/>
            </a:prstGeom>
            <a:noFill/>
            <a:ln w="19050">
              <a:solidFill>
                <a:srgbClr val="FF8519"/>
              </a:solidFill>
              <a:prstDash val="sysDot"/>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5561" name="Line 9">
              <a:extLst>
                <a:ext uri="{FF2B5EF4-FFF2-40B4-BE49-F238E27FC236}">
                  <a16:creationId xmlns:a16="http://schemas.microsoft.com/office/drawing/2014/main" id="{CCC2ECCC-3434-980B-EE48-F1C1374162E4}"/>
                </a:ext>
              </a:extLst>
            </p:cNvPr>
            <p:cNvSpPr>
              <a:spLocks noChangeShapeType="1"/>
            </p:cNvSpPr>
            <p:nvPr/>
          </p:nvSpPr>
          <p:spPr bwMode="auto">
            <a:xfrm>
              <a:off x="1761" y="5114"/>
              <a:ext cx="0" cy="212"/>
            </a:xfrm>
            <a:prstGeom prst="line">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5585" name="Rectangle 33">
              <a:extLst>
                <a:ext uri="{FF2B5EF4-FFF2-40B4-BE49-F238E27FC236}">
                  <a16:creationId xmlns:a16="http://schemas.microsoft.com/office/drawing/2014/main" id="{14A2D1BA-50DE-C3D0-AB82-D161A37D6797}"/>
                </a:ext>
              </a:extLst>
            </p:cNvPr>
            <p:cNvSpPr>
              <a:spLocks noChangeArrowheads="1"/>
            </p:cNvSpPr>
            <p:nvPr/>
          </p:nvSpPr>
          <p:spPr bwMode="auto">
            <a:xfrm>
              <a:off x="2307" y="5170"/>
              <a:ext cx="1654" cy="349"/>
            </a:xfrm>
            <a:prstGeom prst="rect">
              <a:avLst/>
            </a:prstGeom>
            <a:solidFill>
              <a:srgbClr val="FFFF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73" tIns="47736" rIns="95473" bIns="47736"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10000"/>
                </a:spcBef>
              </a:pPr>
              <a:r>
                <a:rPr lang="en-US" altLang="ja-JP" b="0">
                  <a:latin typeface="ＭＳ ゴシック" panose="020B0609070205080204" pitchFamily="49" charset="-128"/>
                  <a:ea typeface="ＭＳ ゴシック" panose="020B0609070205080204" pitchFamily="49" charset="-128"/>
                </a:rPr>
                <a:t>public void setLastName(String lname) {</a:t>
              </a:r>
            </a:p>
            <a:p>
              <a:r>
                <a:rPr lang="en-US" altLang="ja-JP" b="0">
                  <a:latin typeface="ＭＳ ゴシック" panose="020B0609070205080204" pitchFamily="49" charset="-128"/>
                  <a:ea typeface="ＭＳ ゴシック" panose="020B0609070205080204" pitchFamily="49" charset="-128"/>
                </a:rPr>
                <a:t>    lastName = lname;</a:t>
              </a:r>
            </a:p>
            <a:p>
              <a:r>
                <a:rPr lang="en-US" altLang="ja-JP" b="0">
                  <a:latin typeface="ＭＳ ゴシック" panose="020B0609070205080204" pitchFamily="49" charset="-128"/>
                  <a:ea typeface="ＭＳ ゴシック" panose="020B0609070205080204" pitchFamily="49" charset="-128"/>
                </a:rPr>
                <a:t>}</a:t>
              </a:r>
            </a:p>
          </p:txBody>
        </p:sp>
      </p:gr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7602" name="Rectangle 2">
            <a:extLst>
              <a:ext uri="{FF2B5EF4-FFF2-40B4-BE49-F238E27FC236}">
                <a16:creationId xmlns:a16="http://schemas.microsoft.com/office/drawing/2014/main" id="{EA09EC9D-DC20-FF61-F745-3F567529191C}"/>
              </a:ext>
            </a:extLst>
          </p:cNvPr>
          <p:cNvSpPr>
            <a:spLocks noGrp="1" noChangeArrowheads="1"/>
          </p:cNvSpPr>
          <p:nvPr>
            <p:ph type="body" idx="1"/>
          </p:nvPr>
        </p:nvSpPr>
        <p:spPr>
          <a:xfrm>
            <a:off x="706438" y="682625"/>
            <a:ext cx="5635625" cy="9305925"/>
          </a:xfrm>
        </p:spPr>
        <p:txBody>
          <a:bodyPr/>
          <a:lstStyle/>
          <a:p>
            <a:pPr marL="0" indent="0"/>
            <a:r>
              <a:rPr lang="ja-JP" altLang="en-US">
                <a:latin typeface="Arial" panose="020B0604020202020204" pitchFamily="34" charset="0"/>
              </a:rPr>
              <a:t>　</a:t>
            </a:r>
            <a:r>
              <a:rPr lang="en-US" altLang="ja-JP">
                <a:latin typeface="Arial" panose="020B0604020202020204" pitchFamily="34" charset="0"/>
              </a:rPr>
              <a:t>Method có loại có giá trị trả về và loại không có giá trị trả về.</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Method không có giá trị trả về</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 </a:t>
            </a:r>
            <a:r>
              <a:rPr lang="ja-JP" altLang="en-US">
                <a:latin typeface="Arial" panose="020B0604020202020204" pitchFamily="34" charset="0"/>
              </a:rPr>
              <a:t>「</a:t>
            </a:r>
            <a:r>
              <a:rPr lang="en-US" altLang="ja-JP">
                <a:latin typeface="Arial" panose="020B0604020202020204" pitchFamily="34" charset="0"/>
              </a:rPr>
              <a:t>modifier</a:t>
            </a:r>
            <a:r>
              <a:rPr lang="ja-JP" altLang="en-US">
                <a:latin typeface="Arial" panose="020B0604020202020204" pitchFamily="34" charset="0"/>
              </a:rPr>
              <a:t>」</a:t>
            </a:r>
            <a:r>
              <a:rPr lang="en-US" altLang="ja-JP">
                <a:latin typeface="Arial" panose="020B0604020202020204" pitchFamily="34" charset="0"/>
              </a:rPr>
              <a:t>trong cú pháp có thể lược.</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【modifier】</a:t>
            </a:r>
          </a:p>
          <a:p>
            <a:pPr marL="0" indent="0"/>
            <a:r>
              <a:rPr lang="ja-JP" altLang="en-US">
                <a:latin typeface="Arial" panose="020B0604020202020204" pitchFamily="34" charset="0"/>
              </a:rPr>
              <a:t>・</a:t>
            </a:r>
            <a:r>
              <a:rPr lang="en-US" altLang="ja-JP">
                <a:latin typeface="Arial" panose="020B0604020202020204" pitchFamily="34" charset="0"/>
              </a:rPr>
              <a:t>access modifier</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Package sẽ học ở chương 5, sub class sẽ học ở chương 3.</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Chi tiết về modifier sẽ học ở chương 5.</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537603" name="Text Box 3">
            <a:extLst>
              <a:ext uri="{FF2B5EF4-FFF2-40B4-BE49-F238E27FC236}">
                <a16:creationId xmlns:a16="http://schemas.microsoft.com/office/drawing/2014/main" id="{62757ABD-3441-B738-54CD-15D01A30021C}"/>
              </a:ext>
            </a:extLst>
          </p:cNvPr>
          <p:cNvSpPr txBox="1">
            <a:spLocks noChangeArrowheads="1"/>
          </p:cNvSpPr>
          <p:nvPr/>
        </p:nvSpPr>
        <p:spPr bwMode="auto">
          <a:xfrm>
            <a:off x="766763" y="1603375"/>
            <a:ext cx="5548312" cy="5921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MS UI Gothic" panose="020B0600070205080204" pitchFamily="50" charset="-128"/>
              </a:rPr>
              <a:t>　</a:t>
            </a:r>
            <a:r>
              <a:rPr lang="en-US" altLang="ja-JP" b="0">
                <a:ea typeface="ＭＳ ゴシック" panose="020B0609070205080204" pitchFamily="49" charset="-128"/>
              </a:rPr>
              <a:t>void</a:t>
            </a:r>
            <a:r>
              <a:rPr lang="ja-JP" altLang="en-US" b="0">
                <a:ea typeface="MS UI Gothic" panose="020B0600070205080204" pitchFamily="50" charset="-128"/>
              </a:rPr>
              <a:t>　</a:t>
            </a:r>
            <a:r>
              <a:rPr lang="en-US" altLang="ja-JP" b="0">
                <a:ea typeface="MS UI Gothic" panose="020B0600070205080204" pitchFamily="50" charset="-128"/>
              </a:rPr>
              <a:t>Tên method</a:t>
            </a:r>
            <a:r>
              <a:rPr lang="en-US" altLang="ja-JP" b="0">
                <a:ea typeface="ＭＳ ゴシック" panose="020B0609070205080204" pitchFamily="49" charset="-128"/>
              </a:rPr>
              <a:t>(Kiểu data</a:t>
            </a:r>
            <a:r>
              <a:rPr lang="en-US" altLang="ja-JP" b="0">
                <a:ea typeface="MS UI Gothic" panose="020B0600070205080204" pitchFamily="50" charset="-128"/>
              </a:rPr>
              <a:t>  đối số </a:t>
            </a:r>
            <a:r>
              <a:rPr lang="ja-JP" altLang="en-US" b="0">
                <a:ea typeface="MS UI Gothic" panose="020B0600070205080204" pitchFamily="50" charset="-128"/>
              </a:rPr>
              <a:t>１</a:t>
            </a:r>
            <a:r>
              <a:rPr lang="en-US" altLang="ja-JP" b="0">
                <a:ea typeface="ＭＳ ゴシック" panose="020B0609070205080204" pitchFamily="49" charset="-128"/>
              </a:rPr>
              <a:t>, </a:t>
            </a:r>
            <a:r>
              <a:rPr lang="en-US" altLang="ja-JP" b="0">
                <a:ea typeface="MS UI Gothic" panose="020B0600070205080204" pitchFamily="50" charset="-128"/>
              </a:rPr>
              <a:t> …</a:t>
            </a:r>
            <a:r>
              <a:rPr lang="ja-JP" altLang="en-US" b="0">
                <a:ea typeface="MS UI Gothic" panose="020B0600070205080204" pitchFamily="50" charset="-128"/>
              </a:rPr>
              <a:t>　</a:t>
            </a:r>
            <a:r>
              <a:rPr lang="en-US" altLang="ja-JP" b="0">
                <a:ea typeface="ＭＳ ゴシック" panose="020B0609070205080204" pitchFamily="49" charset="-128"/>
              </a:rPr>
              <a:t>) {</a:t>
            </a:r>
          </a:p>
          <a:p>
            <a:pPr lvl="1" algn="just"/>
            <a:r>
              <a:rPr lang="ja-JP" altLang="en-US" b="0">
                <a:ea typeface="MS UI Gothic" panose="020B0600070205080204" pitchFamily="50" charset="-128"/>
              </a:rPr>
              <a:t>　　　　　</a:t>
            </a:r>
            <a:r>
              <a:rPr lang="en-US" altLang="ja-JP" b="0">
                <a:ea typeface="MS UI Gothic" panose="020B0600070205080204" pitchFamily="50" charset="-128"/>
              </a:rPr>
              <a:t>Xử lý</a:t>
            </a:r>
          </a:p>
          <a:p>
            <a:pPr lvl="1" algn="just"/>
            <a:r>
              <a:rPr lang="en-US" altLang="ja-JP" b="0">
                <a:ea typeface="ＭＳ ゴシック" panose="020B0609070205080204" pitchFamily="49" charset="-128"/>
              </a:rPr>
              <a:t>}</a:t>
            </a:r>
          </a:p>
        </p:txBody>
      </p:sp>
      <p:graphicFrame>
        <p:nvGraphicFramePr>
          <p:cNvPr id="537645" name="Group 45">
            <a:extLst>
              <a:ext uri="{FF2B5EF4-FFF2-40B4-BE49-F238E27FC236}">
                <a16:creationId xmlns:a16="http://schemas.microsoft.com/office/drawing/2014/main" id="{B4A2A6F0-0A93-FCA1-AD8A-D54ADB40B4DB}"/>
              </a:ext>
            </a:extLst>
          </p:cNvPr>
          <p:cNvGraphicFramePr>
            <a:graphicFrameLocks noGrp="1"/>
          </p:cNvGraphicFramePr>
          <p:nvPr/>
        </p:nvGraphicFramePr>
        <p:xfrm>
          <a:off x="720725" y="3071813"/>
          <a:ext cx="5640388" cy="1563687"/>
        </p:xfrm>
        <a:graphic>
          <a:graphicData uri="http://schemas.openxmlformats.org/drawingml/2006/table">
            <a:tbl>
              <a:tblPr/>
              <a:tblGrid>
                <a:gridCol w="1065213">
                  <a:extLst>
                    <a:ext uri="{9D8B030D-6E8A-4147-A177-3AD203B41FA5}">
                      <a16:colId xmlns:a16="http://schemas.microsoft.com/office/drawing/2014/main" val="1697982209"/>
                    </a:ext>
                  </a:extLst>
                </a:gridCol>
                <a:gridCol w="4575175">
                  <a:extLst>
                    <a:ext uri="{9D8B030D-6E8A-4147-A177-3AD203B41FA5}">
                      <a16:colId xmlns:a16="http://schemas.microsoft.com/office/drawing/2014/main" val="3424481149"/>
                    </a:ext>
                  </a:extLst>
                </a:gridCol>
              </a:tblGrid>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modifier</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Explanation</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281593408"/>
                  </a:ext>
                </a:extLst>
              </a:tr>
              <a:tr h="25876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0"/>
                        </a:spcBef>
                        <a:spcAft>
                          <a:spcPct val="0"/>
                        </a:spcAft>
                        <a:buClrTx/>
                        <a:buSzTx/>
                        <a:buFontTx/>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public</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Có thể access từ bất cứ đâu</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866988990"/>
                  </a:ext>
                </a:extLst>
              </a:tr>
              <a:tr h="261938">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protected</a:t>
                      </a:r>
                      <a:endParaRPr kumimoji="1" lang="en-US"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endParaRP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0"/>
                        </a:spcBef>
                        <a:spcAft>
                          <a:spcPct val="0"/>
                        </a:spcAft>
                        <a:buClrTx/>
                        <a:buSzTx/>
                        <a:buFontTx/>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Có thể access được từ class hoặc sub class có quan hệ kế thừa trong cùng package.</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435704971"/>
                  </a:ext>
                </a:extLst>
              </a:tr>
              <a:tr h="260350">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0"/>
                        </a:spcBef>
                        <a:spcAft>
                          <a:spcPct val="0"/>
                        </a:spcAft>
                        <a:buClrTx/>
                        <a:buSzTx/>
                        <a:buFontTx/>
                        <a:buNone/>
                        <a:tabLst/>
                      </a:pP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Không chỉ định</a:t>
                      </a:r>
                      <a:r>
                        <a:rPr kumimoji="1" lang="ja-JP" altLang="en-US"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0"/>
                        </a:spcBef>
                        <a:spcAft>
                          <a:spcPct val="0"/>
                        </a:spcAft>
                        <a:buClrTx/>
                        <a:buSzTx/>
                        <a:buFontTx/>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Chỉ có thể access từ class trong cùng package</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477387829"/>
                  </a:ext>
                </a:extLst>
              </a:tr>
              <a:tr h="252413">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54088" rtl="0" eaLnBrk="1" fontAlgn="base" latinLnBrk="0" hangingPunct="1">
                        <a:lnSpc>
                          <a:spcPct val="100000"/>
                        </a:lnSpc>
                        <a:spcBef>
                          <a:spcPct val="0"/>
                        </a:spcBef>
                        <a:spcAft>
                          <a:spcPct val="0"/>
                        </a:spcAft>
                        <a:buClrTx/>
                        <a:buSzTx/>
                        <a:buFontTx/>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private</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66725" defTabSz="954088">
                        <a:defRPr kumimoji="1">
                          <a:solidFill>
                            <a:schemeClr val="tx1"/>
                          </a:solidFill>
                          <a:latin typeface="Arial" panose="020B0604020202020204" pitchFamily="34" charset="0"/>
                          <a:ea typeface="ＭＳ Ｐゴシック" panose="020B0600070205080204" pitchFamily="50" charset="-128"/>
                        </a:defRPr>
                      </a:lvl2pPr>
                      <a:lvl3pPr marL="933450" defTabSz="954088">
                        <a:defRPr kumimoji="1">
                          <a:solidFill>
                            <a:schemeClr val="tx1"/>
                          </a:solidFill>
                          <a:latin typeface="Arial" panose="020B0604020202020204" pitchFamily="34" charset="0"/>
                          <a:ea typeface="ＭＳ Ｐゴシック" panose="020B0600070205080204" pitchFamily="50" charset="-128"/>
                        </a:defRPr>
                      </a:lvl3pPr>
                      <a:lvl4pPr marL="1398588" defTabSz="954088">
                        <a:defRPr kumimoji="1">
                          <a:solidFill>
                            <a:schemeClr val="tx1"/>
                          </a:solidFill>
                          <a:latin typeface="Arial" panose="020B0604020202020204" pitchFamily="34" charset="0"/>
                          <a:ea typeface="ＭＳ Ｐゴシック" panose="020B0600070205080204" pitchFamily="50" charset="-128"/>
                        </a:defRPr>
                      </a:lvl4pPr>
                      <a:lvl5pPr marL="1825625" defTabSz="954088">
                        <a:defRPr kumimoji="1">
                          <a:solidFill>
                            <a:schemeClr val="tx1"/>
                          </a:solidFill>
                          <a:latin typeface="Arial" panose="020B0604020202020204" pitchFamily="34" charset="0"/>
                          <a:ea typeface="ＭＳ Ｐゴシック" panose="020B0600070205080204" pitchFamily="50" charset="-128"/>
                        </a:defRPr>
                      </a:lvl5pPr>
                      <a:lvl6pPr marL="22828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00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72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4425"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54088" rtl="0" eaLnBrk="1" fontAlgn="base" latinLnBrk="0" hangingPunct="1">
                        <a:lnSpc>
                          <a:spcPct val="100000"/>
                        </a:lnSpc>
                        <a:spcBef>
                          <a:spcPct val="0"/>
                        </a:spcBef>
                        <a:spcAft>
                          <a:spcPct val="0"/>
                        </a:spcAft>
                        <a:buClrTx/>
                        <a:buSzTx/>
                        <a:buFontTx/>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Chỉ có thể access từ trong cùng class.</a:t>
                      </a:r>
                    </a:p>
                  </a:txBody>
                  <a:tcPr marL="95441" marR="95441" marT="47720" marB="4772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741394246"/>
                  </a:ext>
                </a:extLst>
              </a:tr>
            </a:tbl>
          </a:graphicData>
        </a:graphic>
      </p:graphicFrame>
      <p:sp>
        <p:nvSpPr>
          <p:cNvPr id="537638" name="AutoShape 38">
            <a:extLst>
              <a:ext uri="{FF2B5EF4-FFF2-40B4-BE49-F238E27FC236}">
                <a16:creationId xmlns:a16="http://schemas.microsoft.com/office/drawing/2014/main" id="{FCBBA6A7-AA4A-A887-1C8C-4637D4E9A2BE}"/>
              </a:ext>
            </a:extLst>
          </p:cNvPr>
          <p:cNvSpPr>
            <a:spLocks noChangeArrowheads="1"/>
          </p:cNvSpPr>
          <p:nvPr/>
        </p:nvSpPr>
        <p:spPr bwMode="auto">
          <a:xfrm>
            <a:off x="2759075" y="984250"/>
            <a:ext cx="3662363" cy="493713"/>
          </a:xfrm>
          <a:prstGeom prst="wedgeRoundRectCallout">
            <a:avLst>
              <a:gd name="adj1" fmla="val -39764"/>
              <a:gd name="adj2" fmla="val 71000"/>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Trường hợp nhận giá trị đã chỉ định lúc gọi ra method thì sẽ chỉ định, trường hợp không có giá trị để tiến hành truyền thì chỉ chỉ định là ( )</a:t>
            </a:r>
          </a:p>
        </p:txBody>
      </p:sp>
      <p:sp>
        <p:nvSpPr>
          <p:cNvPr id="537639" name="AutoShape 39">
            <a:extLst>
              <a:ext uri="{FF2B5EF4-FFF2-40B4-BE49-F238E27FC236}">
                <a16:creationId xmlns:a16="http://schemas.microsoft.com/office/drawing/2014/main" id="{F411350A-D2D9-CEFC-9C77-9546B38E1690}"/>
              </a:ext>
            </a:extLst>
          </p:cNvPr>
          <p:cNvSpPr>
            <a:spLocks noChangeArrowheads="1"/>
          </p:cNvSpPr>
          <p:nvPr/>
        </p:nvSpPr>
        <p:spPr bwMode="auto">
          <a:xfrm>
            <a:off x="1914525" y="2586038"/>
            <a:ext cx="2797175" cy="354012"/>
          </a:xfrm>
          <a:prstGeom prst="wedgeRoundRectCallout">
            <a:avLst>
              <a:gd name="adj1" fmla="val -37060"/>
              <a:gd name="adj2" fmla="val 146861"/>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Trường hợp muốn công khai thao tác ra ngoài thì chỉ định là public</a:t>
            </a:r>
          </a:p>
        </p:txBody>
      </p:sp>
      <p:sp>
        <p:nvSpPr>
          <p:cNvPr id="537641" name="AutoShape 41">
            <a:extLst>
              <a:ext uri="{FF2B5EF4-FFF2-40B4-BE49-F238E27FC236}">
                <a16:creationId xmlns:a16="http://schemas.microsoft.com/office/drawing/2014/main" id="{8E59A597-962C-93FA-9187-142B452EAE09}"/>
              </a:ext>
            </a:extLst>
          </p:cNvPr>
          <p:cNvSpPr>
            <a:spLocks noChangeArrowheads="1"/>
          </p:cNvSpPr>
          <p:nvPr/>
        </p:nvSpPr>
        <p:spPr bwMode="auto">
          <a:xfrm>
            <a:off x="3482975" y="5080000"/>
            <a:ext cx="2857500" cy="531813"/>
          </a:xfrm>
          <a:prstGeom prst="wedgeRoundRectCallout">
            <a:avLst>
              <a:gd name="adj1" fmla="val -41389"/>
              <a:gd name="adj2" fmla="val -207912"/>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Với method tiến hành xử lý nội bộ được  gọi ra từ method khác trong cùng class thì chỉ định private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9650" name="Rectangle 2">
            <a:extLst>
              <a:ext uri="{FF2B5EF4-FFF2-40B4-BE49-F238E27FC236}">
                <a16:creationId xmlns:a16="http://schemas.microsoft.com/office/drawing/2014/main" id="{DA722C4E-9277-A9A0-D11A-772FA25A1F45}"/>
              </a:ext>
            </a:extLst>
          </p:cNvPr>
          <p:cNvSpPr>
            <a:spLocks noGrp="1" noChangeArrowheads="1"/>
          </p:cNvSpPr>
          <p:nvPr>
            <p:ph type="body" idx="1"/>
          </p:nvPr>
        </p:nvSpPr>
        <p:spPr/>
        <p:txBody>
          <a:bodyPr/>
          <a:lstStyle/>
          <a:p>
            <a:pPr marL="0" indent="0">
              <a:lnSpc>
                <a:spcPct val="90000"/>
              </a:lnSpc>
            </a:pPr>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Method có giá trị trả về</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Giá trị trả về cho phía gọi ra method gọi là giá trị trả về.</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Trường hợp có giá trị trả về thì sẽ ghi kiểu data của giá trị trả về ở trước tên method, rồi sử dụng câu lệnh return để chỉ định giá trị.</a:t>
            </a:r>
          </a:p>
          <a:p>
            <a:pPr marL="0" indent="0">
              <a:lnSpc>
                <a:spcPct val="90000"/>
              </a:lnSpc>
            </a:pPr>
            <a:r>
              <a:rPr lang="ja-JP" altLang="en-US">
                <a:latin typeface="Arial" panose="020B0604020202020204" pitchFamily="34" charset="0"/>
              </a:rPr>
              <a:t>　</a:t>
            </a:r>
            <a:r>
              <a:rPr lang="en-US" altLang="ja-JP">
                <a:latin typeface="Arial" panose="020B0604020202020204" pitchFamily="34" charset="0"/>
              </a:rPr>
              <a:t>Các cú pháp khác giống với trường hợp của method không có giá trị trả về.</a:t>
            </a:r>
          </a:p>
          <a:p>
            <a:pPr marL="0" indent="0">
              <a:lnSpc>
                <a:spcPct val="90000"/>
              </a:lnSpc>
            </a:pPr>
            <a:endParaRPr lang="en-US" altLang="ja-JP">
              <a:latin typeface="Arial" panose="020B0604020202020204" pitchFamily="34" charset="0"/>
            </a:endParaRPr>
          </a:p>
          <a:p>
            <a:pPr marL="0" indent="0">
              <a:lnSpc>
                <a:spcPct val="90000"/>
              </a:lnSpc>
            </a:pPr>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endParaRPr lang="en-US" altLang="ja-JP">
              <a:latin typeface="Arial" panose="020B0604020202020204" pitchFamily="34" charset="0"/>
            </a:endParaRPr>
          </a:p>
          <a:p>
            <a:pPr marL="0" indent="0">
              <a:lnSpc>
                <a:spcPct val="90000"/>
              </a:lnSpc>
            </a:pPr>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dụ về flow thực hiện</a:t>
            </a:r>
            <a:r>
              <a:rPr lang="ja-JP" altLang="en-US">
                <a:latin typeface="Arial" panose="020B0604020202020204" pitchFamily="34" charset="0"/>
              </a:rPr>
              <a:t>（①→②→③）</a:t>
            </a: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endParaRPr lang="ja-JP" altLang="en-US">
              <a:latin typeface="Arial" panose="020B0604020202020204" pitchFamily="34" charset="0"/>
            </a:endParaRPr>
          </a:p>
          <a:p>
            <a:pPr marL="0" indent="0">
              <a:lnSpc>
                <a:spcPct val="90000"/>
              </a:lnSpc>
            </a:pPr>
            <a:r>
              <a:rPr lang="en-US" altLang="en-US">
                <a:latin typeface="Arial" panose="020B0604020202020204" pitchFamily="34" charset="0"/>
              </a:rPr>
              <a:t>※　method</a:t>
            </a:r>
            <a:r>
              <a:rPr lang="en-US" altLang="ja-JP">
                <a:latin typeface="Arial" panose="020B0604020202020204" pitchFamily="34" charset="0"/>
              </a:rPr>
              <a:t>B là method được mang bởi object để yêu cầu xử lý đến </a:t>
            </a:r>
            <a:r>
              <a:rPr lang="en-US" altLang="en-US">
                <a:latin typeface="Arial" panose="020B0604020202020204" pitchFamily="34" charset="0"/>
              </a:rPr>
              <a:t>Person</a:t>
            </a:r>
            <a:r>
              <a:rPr lang="en-US" altLang="ja-JP">
                <a:latin typeface="Arial" panose="020B0604020202020204" pitchFamily="34" charset="0"/>
              </a:rPr>
              <a:t> object.</a:t>
            </a:r>
          </a:p>
          <a:p>
            <a:pPr marL="0" indent="0">
              <a:lnSpc>
                <a:spcPct val="90000"/>
              </a:lnSpc>
            </a:pPr>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Về việc gọi ra method sẽ học sau.</a:t>
            </a:r>
          </a:p>
        </p:txBody>
      </p:sp>
      <p:sp>
        <p:nvSpPr>
          <p:cNvPr id="539652" name="Rectangle 4">
            <a:extLst>
              <a:ext uri="{FF2B5EF4-FFF2-40B4-BE49-F238E27FC236}">
                <a16:creationId xmlns:a16="http://schemas.microsoft.com/office/drawing/2014/main" id="{8B43CC45-4C28-276B-A7AD-CAD3D87884C3}"/>
              </a:ext>
            </a:extLst>
          </p:cNvPr>
          <p:cNvSpPr>
            <a:spLocks noRot="1" noChangeAspect="1" noChangeArrowheads="1" noTextEdit="1"/>
          </p:cNvSpPr>
          <p:nvPr>
            <p:ph type="sldImg"/>
          </p:nvPr>
        </p:nvSpPr>
        <p:spPr>
          <a:xfrm>
            <a:off x="528638" y="950913"/>
            <a:ext cx="6026150" cy="4171950"/>
          </a:xfrm>
          <a:ln/>
        </p:spPr>
      </p:sp>
      <p:grpSp>
        <p:nvGrpSpPr>
          <p:cNvPr id="539696" name="Group 48">
            <a:extLst>
              <a:ext uri="{FF2B5EF4-FFF2-40B4-BE49-F238E27FC236}">
                <a16:creationId xmlns:a16="http://schemas.microsoft.com/office/drawing/2014/main" id="{66A82DE5-A20A-FC82-2254-C7309BA359B6}"/>
              </a:ext>
            </a:extLst>
          </p:cNvPr>
          <p:cNvGrpSpPr>
            <a:grpSpLocks/>
          </p:cNvGrpSpPr>
          <p:nvPr/>
        </p:nvGrpSpPr>
        <p:grpSpPr bwMode="auto">
          <a:xfrm>
            <a:off x="769938" y="6003925"/>
            <a:ext cx="5651500" cy="1346200"/>
            <a:chOff x="485" y="3782"/>
            <a:chExt cx="3560" cy="848"/>
          </a:xfrm>
        </p:grpSpPr>
        <p:sp>
          <p:nvSpPr>
            <p:cNvPr id="539668" name="Text Box 20">
              <a:extLst>
                <a:ext uri="{FF2B5EF4-FFF2-40B4-BE49-F238E27FC236}">
                  <a16:creationId xmlns:a16="http://schemas.microsoft.com/office/drawing/2014/main" id="{3C83BFE1-FAA8-EBF5-8500-1E14A3FA9AE8}"/>
                </a:ext>
              </a:extLst>
            </p:cNvPr>
            <p:cNvSpPr txBox="1">
              <a:spLocks noChangeArrowheads="1"/>
            </p:cNvSpPr>
            <p:nvPr/>
          </p:nvSpPr>
          <p:spPr bwMode="auto">
            <a:xfrm>
              <a:off x="485" y="3955"/>
              <a:ext cx="3560" cy="6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50000"/>
                </a:lnSpc>
              </a:pPr>
              <a:r>
                <a:rPr lang="ja-JP" altLang="ja-JP" b="0">
                  <a:ea typeface="MS UI Gothic" panose="020B0600070205080204" pitchFamily="50" charset="-128"/>
                </a:rPr>
                <a:t>　</a:t>
              </a:r>
              <a:r>
                <a:rPr lang="en-US" altLang="ja-JP" b="0">
                  <a:ea typeface="MS UI Gothic" panose="020B0600070205080204" pitchFamily="50" charset="-128"/>
                </a:rPr>
                <a:t>modifier</a:t>
              </a:r>
              <a:r>
                <a:rPr lang="ja-JP" altLang="ja-JP" b="0">
                  <a:ea typeface="MS UI Gothic" panose="020B0600070205080204" pitchFamily="50" charset="-128"/>
                </a:rPr>
                <a:t>　　</a:t>
              </a:r>
              <a:r>
                <a:rPr lang="en-US" altLang="ja-JP" b="0">
                  <a:ea typeface="MS UI Gothic" panose="020B0600070205080204" pitchFamily="50" charset="-128"/>
                </a:rPr>
                <a:t>Kiểu data của giá trị trả về</a:t>
              </a:r>
              <a:r>
                <a:rPr lang="ja-JP" altLang="ja-JP" b="0">
                  <a:ea typeface="MS UI Gothic" panose="020B0600070205080204" pitchFamily="50" charset="-128"/>
                </a:rPr>
                <a:t>　　</a:t>
              </a:r>
              <a:r>
                <a:rPr lang="en-US" altLang="ja-JP" b="0">
                  <a:ea typeface="MS UI Gothic" panose="020B0600070205080204" pitchFamily="50" charset="-128"/>
                </a:rPr>
                <a:t>tên method</a:t>
              </a:r>
              <a:r>
                <a:rPr lang="ja-JP" altLang="ja-JP" b="0">
                  <a:ea typeface="ＭＳ ゴシック" panose="020B0609070205080204" pitchFamily="49" charset="-128"/>
                </a:rPr>
                <a:t>(</a:t>
              </a:r>
              <a:r>
                <a:rPr lang="en-US" altLang="ja-JP" b="0">
                  <a:ea typeface="ＭＳ ゴシック" panose="020B0609070205080204" pitchFamily="49" charset="-128"/>
                </a:rPr>
                <a:t>kiểu data</a:t>
              </a:r>
              <a:r>
                <a:rPr lang="ja-JP" altLang="ja-JP" b="0">
                  <a:ea typeface="MS UI Gothic" panose="020B0600070205080204" pitchFamily="50" charset="-128"/>
                </a:rPr>
                <a:t>  </a:t>
              </a:r>
              <a:r>
                <a:rPr lang="en-US" altLang="ja-JP" b="0">
                  <a:ea typeface="MS UI Gothic" panose="020B0600070205080204" pitchFamily="50" charset="-128"/>
                </a:rPr>
                <a:t>đối số 1</a:t>
              </a:r>
              <a:r>
                <a:rPr lang="ja-JP" altLang="ja-JP" b="0">
                  <a:ea typeface="ＭＳ ゴシック" panose="020B0609070205080204" pitchFamily="49" charset="-128"/>
                </a:rPr>
                <a:t>,</a:t>
              </a:r>
              <a:r>
                <a:rPr lang="ja-JP" altLang="ja-JP" b="0">
                  <a:ea typeface="MS UI Gothic" panose="020B0600070205080204" pitchFamily="50" charset="-128"/>
                </a:rPr>
                <a:t> …　</a:t>
              </a:r>
              <a:r>
                <a:rPr lang="ja-JP" altLang="ja-JP" b="0">
                  <a:ea typeface="ＭＳ ゴシック" panose="020B0609070205080204" pitchFamily="49" charset="-128"/>
                </a:rPr>
                <a:t>) {</a:t>
              </a:r>
            </a:p>
            <a:p>
              <a:pPr lvl="1" algn="just">
                <a:lnSpc>
                  <a:spcPct val="150000"/>
                </a:lnSpc>
              </a:pPr>
              <a:r>
                <a:rPr lang="ja-JP" altLang="ja-JP" b="0">
                  <a:ea typeface="MS UI Gothic" panose="020B0600070205080204" pitchFamily="50" charset="-128"/>
                </a:rPr>
                <a:t>　　　　　　</a:t>
              </a:r>
              <a:r>
                <a:rPr lang="ja-JP" altLang="ja-JP" b="0">
                  <a:ea typeface="ＭＳ ゴシック" panose="020B0609070205080204" pitchFamily="49" charset="-128"/>
                </a:rPr>
                <a:t>//</a:t>
              </a:r>
              <a:r>
                <a:rPr lang="ja-JP" altLang="ja-JP" b="0">
                  <a:ea typeface="MS UI Gothic" panose="020B0600070205080204" pitchFamily="50" charset="-128"/>
                </a:rPr>
                <a:t>  </a:t>
              </a:r>
              <a:r>
                <a:rPr lang="en-US" altLang="ja-JP" b="0">
                  <a:ea typeface="MS UI Gothic" panose="020B0600070205080204" pitchFamily="50" charset="-128"/>
                </a:rPr>
                <a:t>Xử lý</a:t>
              </a:r>
              <a:endParaRPr lang="ja-JP" altLang="ja-JP" b="0">
                <a:ea typeface="MS UI Gothic" panose="020B0600070205080204" pitchFamily="50" charset="-128"/>
              </a:endParaRPr>
            </a:p>
            <a:p>
              <a:pPr lvl="1" algn="just">
                <a:lnSpc>
                  <a:spcPct val="150000"/>
                </a:lnSpc>
                <a:spcBef>
                  <a:spcPct val="10000"/>
                </a:spcBef>
              </a:pPr>
              <a:r>
                <a:rPr lang="ja-JP" altLang="ja-JP" b="0">
                  <a:ea typeface="MS UI Gothic" panose="020B0600070205080204" pitchFamily="50" charset="-128"/>
                </a:rPr>
                <a:t>　　　　　　</a:t>
              </a:r>
              <a:r>
                <a:rPr lang="ja-JP" altLang="ja-JP" b="0">
                  <a:ea typeface="ＭＳ ゴシック" panose="020B0609070205080204" pitchFamily="49" charset="-128"/>
                </a:rPr>
                <a:t>return　</a:t>
              </a:r>
              <a:r>
                <a:rPr lang="en-US" altLang="ja-JP" b="0">
                  <a:ea typeface="ＭＳ ゴシック" panose="020B0609070205080204" pitchFamily="49" charset="-128"/>
                </a:rPr>
                <a:t>giá trị trả về</a:t>
              </a:r>
              <a:r>
                <a:rPr lang="ja-JP" altLang="ja-JP" b="0">
                  <a:ea typeface="ＭＳ ゴシック" panose="020B0609070205080204" pitchFamily="49" charset="-128"/>
                </a:rPr>
                <a:t> ;</a:t>
              </a:r>
            </a:p>
            <a:p>
              <a:pPr lvl="1" algn="just">
                <a:lnSpc>
                  <a:spcPct val="150000"/>
                </a:lnSpc>
              </a:pPr>
              <a:r>
                <a:rPr lang="ja-JP" altLang="ja-JP" b="0">
                  <a:ea typeface="MS UI Gothic" panose="020B0600070205080204" pitchFamily="50" charset="-128"/>
                </a:rPr>
                <a:t>　</a:t>
              </a:r>
              <a:r>
                <a:rPr lang="ja-JP" altLang="ja-JP" b="0">
                  <a:ea typeface="ＭＳ ゴシック" panose="020B0609070205080204" pitchFamily="49" charset="-128"/>
                </a:rPr>
                <a:t>}</a:t>
              </a:r>
            </a:p>
          </p:txBody>
        </p:sp>
        <p:sp>
          <p:nvSpPr>
            <p:cNvPr id="539669" name="AutoShape 21">
              <a:extLst>
                <a:ext uri="{FF2B5EF4-FFF2-40B4-BE49-F238E27FC236}">
                  <a16:creationId xmlns:a16="http://schemas.microsoft.com/office/drawing/2014/main" id="{673060F9-A7D5-A011-2143-12DA3AFB732F}"/>
                </a:ext>
              </a:extLst>
            </p:cNvPr>
            <p:cNvSpPr>
              <a:spLocks noChangeArrowheads="1"/>
            </p:cNvSpPr>
            <p:nvPr/>
          </p:nvSpPr>
          <p:spPr bwMode="auto">
            <a:xfrm>
              <a:off x="1291" y="3782"/>
              <a:ext cx="2382" cy="154"/>
            </a:xfrm>
            <a:prstGeom prst="wedgeRoundRectCallout">
              <a:avLst>
                <a:gd name="adj1" fmla="val -41185"/>
                <a:gd name="adj2" fmla="val 82468"/>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Trường hợp không có giá trị trả về thì sẽ chỉ định void</a:t>
              </a:r>
            </a:p>
          </p:txBody>
        </p:sp>
        <p:sp>
          <p:nvSpPr>
            <p:cNvPr id="539670" name="Rectangle 22">
              <a:extLst>
                <a:ext uri="{FF2B5EF4-FFF2-40B4-BE49-F238E27FC236}">
                  <a16:creationId xmlns:a16="http://schemas.microsoft.com/office/drawing/2014/main" id="{4657A1B0-AE26-4102-570B-CD20CC24C0B3}"/>
                </a:ext>
              </a:extLst>
            </p:cNvPr>
            <p:cNvSpPr>
              <a:spLocks noChangeArrowheads="1"/>
            </p:cNvSpPr>
            <p:nvPr/>
          </p:nvSpPr>
          <p:spPr bwMode="auto">
            <a:xfrm>
              <a:off x="887" y="4302"/>
              <a:ext cx="788" cy="139"/>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539673" name="Rectangle 25">
              <a:extLst>
                <a:ext uri="{FF2B5EF4-FFF2-40B4-BE49-F238E27FC236}">
                  <a16:creationId xmlns:a16="http://schemas.microsoft.com/office/drawing/2014/main" id="{242C0616-556F-35AF-2BC1-395593F9A2D9}"/>
                </a:ext>
              </a:extLst>
            </p:cNvPr>
            <p:cNvSpPr>
              <a:spLocks noChangeArrowheads="1"/>
            </p:cNvSpPr>
            <p:nvPr/>
          </p:nvSpPr>
          <p:spPr bwMode="auto">
            <a:xfrm>
              <a:off x="1185" y="4000"/>
              <a:ext cx="951" cy="139"/>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539674" name="AutoShape 26">
              <a:extLst>
                <a:ext uri="{FF2B5EF4-FFF2-40B4-BE49-F238E27FC236}">
                  <a16:creationId xmlns:a16="http://schemas.microsoft.com/office/drawing/2014/main" id="{F2C60850-E0BF-57AC-817D-E4F1210BF989}"/>
                </a:ext>
              </a:extLst>
            </p:cNvPr>
            <p:cNvSpPr>
              <a:spLocks noChangeArrowheads="1"/>
            </p:cNvSpPr>
            <p:nvPr/>
          </p:nvSpPr>
          <p:spPr bwMode="auto">
            <a:xfrm>
              <a:off x="1818" y="4208"/>
              <a:ext cx="1449" cy="230"/>
            </a:xfrm>
            <a:prstGeom prst="wedgeRoundRectCallout">
              <a:avLst>
                <a:gd name="adj1" fmla="val -59042"/>
                <a:gd name="adj2" fmla="val 15653"/>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Chỉ định giá trị sẽ trả về cho phía gọi method ra</a:t>
              </a:r>
            </a:p>
          </p:txBody>
        </p:sp>
      </p:grpSp>
      <p:sp>
        <p:nvSpPr>
          <p:cNvPr id="539675" name="Text Box 27">
            <a:extLst>
              <a:ext uri="{FF2B5EF4-FFF2-40B4-BE49-F238E27FC236}">
                <a16:creationId xmlns:a16="http://schemas.microsoft.com/office/drawing/2014/main" id="{37488353-F69D-79B5-894D-F3CC2BD941FE}"/>
              </a:ext>
            </a:extLst>
          </p:cNvPr>
          <p:cNvSpPr txBox="1">
            <a:spLocks noChangeArrowheads="1"/>
          </p:cNvSpPr>
          <p:nvPr/>
        </p:nvSpPr>
        <p:spPr bwMode="auto">
          <a:xfrm>
            <a:off x="774700" y="7743825"/>
            <a:ext cx="5634038" cy="16335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endParaRPr lang="ja-JP" altLang="ja-JP" b="0">
              <a:latin typeface="MS UI Gothic" panose="020B0600070205080204" pitchFamily="50" charset="-128"/>
              <a:ea typeface="MS UI Gothic" panose="020B0600070205080204" pitchFamily="50" charset="-128"/>
            </a:endParaRPr>
          </a:p>
        </p:txBody>
      </p:sp>
      <p:sp>
        <p:nvSpPr>
          <p:cNvPr id="539676" name="Text Box 28">
            <a:extLst>
              <a:ext uri="{FF2B5EF4-FFF2-40B4-BE49-F238E27FC236}">
                <a16:creationId xmlns:a16="http://schemas.microsoft.com/office/drawing/2014/main" id="{341008B0-7303-4EC8-55E7-9754888A9453}"/>
              </a:ext>
            </a:extLst>
          </p:cNvPr>
          <p:cNvSpPr txBox="1">
            <a:spLocks noChangeArrowheads="1"/>
          </p:cNvSpPr>
          <p:nvPr/>
        </p:nvSpPr>
        <p:spPr bwMode="auto">
          <a:xfrm>
            <a:off x="985838" y="8039100"/>
            <a:ext cx="2066925" cy="122872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tabLst>
                <a:tab pos="0" algn="l"/>
              </a:tabLst>
              <a:defRPr kumimoji="1">
                <a:solidFill>
                  <a:schemeClr val="tx1"/>
                </a:solidFill>
                <a:latin typeface="Arial" panose="020B0604020202020204" pitchFamily="34" charset="0"/>
                <a:ea typeface="ＭＳ Ｐゴシック" panose="020B0600070205080204" pitchFamily="50" charset="-128"/>
              </a:defRPr>
            </a:lvl1pPr>
            <a:lvl2pPr marL="187325" defTabSz="954088">
              <a:tabLst>
                <a:tab pos="0" algn="l"/>
              </a:tabLst>
              <a:defRPr kumimoji="1">
                <a:solidFill>
                  <a:schemeClr val="tx1"/>
                </a:solidFill>
                <a:latin typeface="Arial" panose="020B0604020202020204" pitchFamily="34" charset="0"/>
                <a:ea typeface="ＭＳ Ｐゴシック" panose="020B0600070205080204" pitchFamily="50" charset="-128"/>
              </a:defRPr>
            </a:lvl2pPr>
            <a:lvl3pPr marL="954088" defTabSz="954088">
              <a:tabLst>
                <a:tab pos="0" algn="l"/>
              </a:tabLst>
              <a:defRPr kumimoji="1">
                <a:solidFill>
                  <a:schemeClr val="tx1"/>
                </a:solidFill>
                <a:latin typeface="Arial" panose="020B0604020202020204" pitchFamily="34" charset="0"/>
                <a:ea typeface="ＭＳ Ｐゴシック" panose="020B0600070205080204" pitchFamily="50" charset="-128"/>
              </a:defRPr>
            </a:lvl3pPr>
            <a:lvl4pPr marL="1431925" defTabSz="954088">
              <a:tabLst>
                <a:tab pos="0" algn="l"/>
              </a:tabLst>
              <a:defRPr kumimoji="1">
                <a:solidFill>
                  <a:schemeClr val="tx1"/>
                </a:solidFill>
                <a:latin typeface="Arial" panose="020B0604020202020204" pitchFamily="34" charset="0"/>
                <a:ea typeface="ＭＳ Ｐゴシック" panose="020B0600070205080204" pitchFamily="50" charset="-128"/>
              </a:defRPr>
            </a:lvl4pPr>
            <a:lvl5pPr marL="1909763" defTabSz="954088">
              <a:tabLst>
                <a:tab pos="0" algn="l"/>
              </a:tabLst>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tabLst>
                <a:tab pos="0" algn="l"/>
              </a:tabLs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tabLst>
                <a:tab pos="0" algn="l"/>
              </a:tabLs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tabLst>
                <a:tab pos="0" algn="l"/>
              </a:tabLs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tabLst>
                <a:tab pos="0" algn="l"/>
              </a:tabLs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latin typeface="ＭＳ ゴシック" panose="020B0609070205080204" pitchFamily="49" charset="-128"/>
                <a:ea typeface="ＭＳ ゴシック" panose="020B0609070205080204" pitchFamily="49" charset="-128"/>
              </a:rPr>
              <a:t>public void methodB() {</a:t>
            </a:r>
          </a:p>
          <a:p>
            <a:pPr lvl="1" algn="just"/>
            <a:r>
              <a:rPr lang="en-US" altLang="ja-JP" b="0">
                <a:latin typeface="ＭＳ ゴシック" panose="020B0609070205080204" pitchFamily="49" charset="-128"/>
                <a:ea typeface="ＭＳ ゴシック" panose="020B0609070205080204" pitchFamily="49" charset="-128"/>
              </a:rPr>
              <a:t>       </a:t>
            </a:r>
            <a:r>
              <a:rPr lang="ja-JP" altLang="en-US" b="0">
                <a:latin typeface="ＭＳ ゴシック" panose="020B0609070205080204" pitchFamily="49" charset="-128"/>
                <a:ea typeface="ＭＳ ゴシック" panose="020B0609070205080204" pitchFamily="49" charset="-128"/>
              </a:rPr>
              <a:t>：</a:t>
            </a:r>
          </a:p>
          <a:p>
            <a:pPr lvl="1" algn="just"/>
            <a:endParaRPr lang="ja-JP" altLang="en-US" b="0">
              <a:latin typeface="ＭＳ ゴシック" panose="020B0609070205080204" pitchFamily="49" charset="-128"/>
              <a:ea typeface="ＭＳ ゴシック" panose="020B0609070205080204" pitchFamily="49" charset="-128"/>
            </a:endParaRPr>
          </a:p>
          <a:p>
            <a:pPr lvl="1" algn="just"/>
            <a:r>
              <a:rPr lang="ja-JP" altLang="en-US"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Gọi ra</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getFullName</a:t>
            </a:r>
            <a:endParaRPr lang="en-US" altLang="ja-JP" b="0">
              <a:latin typeface="ＭＳ ゴシック" panose="020B0609070205080204" pitchFamily="49" charset="-128"/>
              <a:ea typeface="ＭＳ ゴシック" panose="020B0609070205080204" pitchFamily="49" charset="-128"/>
            </a:endParaRPr>
          </a:p>
          <a:p>
            <a:pPr lvl="1" algn="just"/>
            <a:endParaRPr lang="en-US" altLang="ja-JP" b="0">
              <a:latin typeface="ＭＳ ゴシック" panose="020B0609070205080204" pitchFamily="49" charset="-128"/>
              <a:ea typeface="ＭＳ ゴシック" panose="020B0609070205080204" pitchFamily="49" charset="-128"/>
            </a:endParaRPr>
          </a:p>
          <a:p>
            <a:pPr lvl="1" algn="just"/>
            <a:r>
              <a:rPr lang="en-US" altLang="ja-JP" b="0">
                <a:latin typeface="ＭＳ ゴシック" panose="020B0609070205080204" pitchFamily="49" charset="-128"/>
                <a:ea typeface="ＭＳ ゴシック" panose="020B0609070205080204" pitchFamily="49" charset="-128"/>
              </a:rPr>
              <a:t>    </a:t>
            </a:r>
            <a:r>
              <a:rPr lang="ja-JP" altLang="en-US" b="0">
                <a:latin typeface="ＭＳ ゴシック" panose="020B0609070205080204" pitchFamily="49" charset="-128"/>
                <a:ea typeface="ＭＳ ゴシック" panose="020B0609070205080204" pitchFamily="49" charset="-128"/>
              </a:rPr>
              <a:t>　 ：</a:t>
            </a:r>
          </a:p>
          <a:p>
            <a:pPr lvl="1" algn="just"/>
            <a:r>
              <a:rPr lang="en-US" altLang="ja-JP" b="0">
                <a:latin typeface="ＭＳ ゴシック" panose="020B0609070205080204" pitchFamily="49" charset="-128"/>
                <a:ea typeface="ＭＳ ゴシック" panose="020B0609070205080204" pitchFamily="49" charset="-128"/>
              </a:rPr>
              <a:t>}</a:t>
            </a:r>
          </a:p>
          <a:p>
            <a:pPr lvl="1" algn="just"/>
            <a:endParaRPr lang="en-US" altLang="ja-JP" b="0">
              <a:latin typeface="ＭＳ ゴシック" panose="020B0609070205080204" pitchFamily="49" charset="-128"/>
              <a:ea typeface="ＭＳ ゴシック" panose="020B0609070205080204" pitchFamily="49" charset="-128"/>
            </a:endParaRPr>
          </a:p>
        </p:txBody>
      </p:sp>
      <p:sp>
        <p:nvSpPr>
          <p:cNvPr id="539677" name="Rectangle 29">
            <a:extLst>
              <a:ext uri="{FF2B5EF4-FFF2-40B4-BE49-F238E27FC236}">
                <a16:creationId xmlns:a16="http://schemas.microsoft.com/office/drawing/2014/main" id="{5A60DC10-1158-00C2-2D1C-63A49C650A6C}"/>
              </a:ext>
            </a:extLst>
          </p:cNvPr>
          <p:cNvSpPr>
            <a:spLocks noChangeArrowheads="1"/>
          </p:cNvSpPr>
          <p:nvPr/>
        </p:nvSpPr>
        <p:spPr bwMode="auto">
          <a:xfrm>
            <a:off x="1331913" y="8505825"/>
            <a:ext cx="1468437" cy="200025"/>
          </a:xfrm>
          <a:prstGeom prst="rect">
            <a:avLst/>
          </a:prstGeom>
          <a:noFill/>
          <a:ln w="1905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539678" name="Rectangle 30">
            <a:extLst>
              <a:ext uri="{FF2B5EF4-FFF2-40B4-BE49-F238E27FC236}">
                <a16:creationId xmlns:a16="http://schemas.microsoft.com/office/drawing/2014/main" id="{6E6AEB1D-3E0F-2450-0C42-D73B9F29DEA0}"/>
              </a:ext>
            </a:extLst>
          </p:cNvPr>
          <p:cNvSpPr>
            <a:spLocks noChangeArrowheads="1"/>
          </p:cNvSpPr>
          <p:nvPr/>
        </p:nvSpPr>
        <p:spPr bwMode="auto">
          <a:xfrm>
            <a:off x="2452688" y="8331200"/>
            <a:ext cx="330200" cy="123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lgn="ctr">
                <a:solidFill>
                  <a:srgbClr val="3FB007"/>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1" tIns="45700" rIns="91401" bIns="45700"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latin typeface="MS UI Gothic" panose="020B0600070205080204" pitchFamily="50" charset="-128"/>
                <a:ea typeface="MS UI Gothic" panose="020B0600070205080204" pitchFamily="50" charset="-128"/>
              </a:rPr>
              <a:t>①</a:t>
            </a:r>
          </a:p>
        </p:txBody>
      </p:sp>
      <p:sp>
        <p:nvSpPr>
          <p:cNvPr id="539679" name="Rectangle 31">
            <a:extLst>
              <a:ext uri="{FF2B5EF4-FFF2-40B4-BE49-F238E27FC236}">
                <a16:creationId xmlns:a16="http://schemas.microsoft.com/office/drawing/2014/main" id="{AE1F3FDF-81C7-0DEE-C50C-FBFB10A47675}"/>
              </a:ext>
            </a:extLst>
          </p:cNvPr>
          <p:cNvSpPr>
            <a:spLocks noChangeArrowheads="1"/>
          </p:cNvSpPr>
          <p:nvPr/>
        </p:nvSpPr>
        <p:spPr bwMode="auto">
          <a:xfrm>
            <a:off x="3214688" y="8515350"/>
            <a:ext cx="476250" cy="130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lgn="ctr">
                <a:solidFill>
                  <a:srgbClr val="3FB007"/>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1" tIns="45700" rIns="91401" bIns="45700"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latin typeface="MS UI Gothic" panose="020B0600070205080204" pitchFamily="50" charset="-128"/>
                <a:ea typeface="MS UI Gothic" panose="020B0600070205080204" pitchFamily="50" charset="-128"/>
              </a:rPr>
              <a:t>②</a:t>
            </a:r>
          </a:p>
        </p:txBody>
      </p:sp>
      <p:sp>
        <p:nvSpPr>
          <p:cNvPr id="539680" name="Rectangle 32">
            <a:extLst>
              <a:ext uri="{FF2B5EF4-FFF2-40B4-BE49-F238E27FC236}">
                <a16:creationId xmlns:a16="http://schemas.microsoft.com/office/drawing/2014/main" id="{A751157C-A591-FF35-A353-C53E396B4917}"/>
              </a:ext>
            </a:extLst>
          </p:cNvPr>
          <p:cNvSpPr>
            <a:spLocks noChangeArrowheads="1"/>
          </p:cNvSpPr>
          <p:nvPr/>
        </p:nvSpPr>
        <p:spPr bwMode="auto">
          <a:xfrm>
            <a:off x="2476500" y="8843963"/>
            <a:ext cx="330200" cy="1254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lgn="ctr">
                <a:solidFill>
                  <a:srgbClr val="3FB007"/>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1" tIns="45700" rIns="91401" bIns="45700"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latin typeface="MS UI Gothic" panose="020B0600070205080204" pitchFamily="50" charset="-128"/>
                <a:ea typeface="MS UI Gothic" panose="020B0600070205080204" pitchFamily="50" charset="-128"/>
              </a:rPr>
              <a:t>③</a:t>
            </a:r>
          </a:p>
        </p:txBody>
      </p:sp>
      <p:sp>
        <p:nvSpPr>
          <p:cNvPr id="539681" name="Line 33">
            <a:extLst>
              <a:ext uri="{FF2B5EF4-FFF2-40B4-BE49-F238E27FC236}">
                <a16:creationId xmlns:a16="http://schemas.microsoft.com/office/drawing/2014/main" id="{934A47F5-FAAB-0BF5-2F58-D555ABBDDF08}"/>
              </a:ext>
            </a:extLst>
          </p:cNvPr>
          <p:cNvSpPr>
            <a:spLocks noChangeShapeType="1"/>
          </p:cNvSpPr>
          <p:nvPr/>
        </p:nvSpPr>
        <p:spPr bwMode="auto">
          <a:xfrm flipH="1">
            <a:off x="2789238" y="8742363"/>
            <a:ext cx="0" cy="284162"/>
          </a:xfrm>
          <a:prstGeom prst="line">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9683" name="Line 35">
            <a:extLst>
              <a:ext uri="{FF2B5EF4-FFF2-40B4-BE49-F238E27FC236}">
                <a16:creationId xmlns:a16="http://schemas.microsoft.com/office/drawing/2014/main" id="{68C83372-F1D1-26AC-4F5D-36FE2B2FB85C}"/>
              </a:ext>
            </a:extLst>
          </p:cNvPr>
          <p:cNvSpPr>
            <a:spLocks noChangeShapeType="1"/>
          </p:cNvSpPr>
          <p:nvPr/>
        </p:nvSpPr>
        <p:spPr bwMode="auto">
          <a:xfrm>
            <a:off x="3556000" y="8326438"/>
            <a:ext cx="0" cy="520700"/>
          </a:xfrm>
          <a:prstGeom prst="line">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9684" name="Line 36">
            <a:extLst>
              <a:ext uri="{FF2B5EF4-FFF2-40B4-BE49-F238E27FC236}">
                <a16:creationId xmlns:a16="http://schemas.microsoft.com/office/drawing/2014/main" id="{8D0BCBC0-5D4E-FD9C-F3D9-E4C9F056BD40}"/>
              </a:ext>
            </a:extLst>
          </p:cNvPr>
          <p:cNvSpPr>
            <a:spLocks noChangeShapeType="1"/>
          </p:cNvSpPr>
          <p:nvPr/>
        </p:nvSpPr>
        <p:spPr bwMode="auto">
          <a:xfrm flipV="1">
            <a:off x="2822575" y="8358188"/>
            <a:ext cx="693738" cy="160337"/>
          </a:xfrm>
          <a:prstGeom prst="line">
            <a:avLst/>
          </a:prstGeom>
          <a:noFill/>
          <a:ln w="19050">
            <a:solidFill>
              <a:srgbClr val="FF8519"/>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9685" name="Line 37">
            <a:extLst>
              <a:ext uri="{FF2B5EF4-FFF2-40B4-BE49-F238E27FC236}">
                <a16:creationId xmlns:a16="http://schemas.microsoft.com/office/drawing/2014/main" id="{22508A09-0286-B471-73F0-5268BF7F1D53}"/>
              </a:ext>
            </a:extLst>
          </p:cNvPr>
          <p:cNvSpPr>
            <a:spLocks noChangeShapeType="1"/>
          </p:cNvSpPr>
          <p:nvPr/>
        </p:nvSpPr>
        <p:spPr bwMode="auto">
          <a:xfrm>
            <a:off x="2816225" y="8726488"/>
            <a:ext cx="700088" cy="93662"/>
          </a:xfrm>
          <a:prstGeom prst="line">
            <a:avLst/>
          </a:prstGeom>
          <a:noFill/>
          <a:ln w="19050">
            <a:solidFill>
              <a:srgbClr val="FF8519"/>
            </a:solidFill>
            <a:prstDash val="sysDot"/>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9686" name="Line 38">
            <a:extLst>
              <a:ext uri="{FF2B5EF4-FFF2-40B4-BE49-F238E27FC236}">
                <a16:creationId xmlns:a16="http://schemas.microsoft.com/office/drawing/2014/main" id="{98997CF5-55EF-EE4C-B33A-BF786A023C98}"/>
              </a:ext>
            </a:extLst>
          </p:cNvPr>
          <p:cNvSpPr>
            <a:spLocks noChangeShapeType="1"/>
          </p:cNvSpPr>
          <p:nvPr/>
        </p:nvSpPr>
        <p:spPr bwMode="auto">
          <a:xfrm>
            <a:off x="2795588" y="8170863"/>
            <a:ext cx="0" cy="334962"/>
          </a:xfrm>
          <a:prstGeom prst="line">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p>
            <a:endParaRPr lang="ja-JP" altLang="en-US"/>
          </a:p>
        </p:txBody>
      </p:sp>
      <p:sp>
        <p:nvSpPr>
          <p:cNvPr id="539687" name="AutoShape 39">
            <a:extLst>
              <a:ext uri="{FF2B5EF4-FFF2-40B4-BE49-F238E27FC236}">
                <a16:creationId xmlns:a16="http://schemas.microsoft.com/office/drawing/2014/main" id="{0020128C-8AA0-D7AA-5243-96AE4029C798}"/>
              </a:ext>
            </a:extLst>
          </p:cNvPr>
          <p:cNvSpPr>
            <a:spLocks noChangeArrowheads="1"/>
          </p:cNvSpPr>
          <p:nvPr/>
        </p:nvSpPr>
        <p:spPr bwMode="auto">
          <a:xfrm>
            <a:off x="2849563" y="9040813"/>
            <a:ext cx="3546475" cy="290512"/>
          </a:xfrm>
          <a:prstGeom prst="wedgeRoundRectCallout">
            <a:avLst>
              <a:gd name="adj1" fmla="val -37556"/>
              <a:gd name="adj2" fmla="val -116120"/>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Họ tên</a:t>
            </a:r>
            <a:r>
              <a:rPr lang="ja-JP" altLang="en-US" b="0">
                <a:ea typeface="MS UI Gothic" panose="020B0600070205080204" pitchFamily="50" charset="-128"/>
              </a:rPr>
              <a:t>（</a:t>
            </a:r>
            <a:r>
              <a:rPr lang="en-US" altLang="ja-JP" b="0">
                <a:ea typeface="MS UI Gothic" panose="020B0600070205080204" pitchFamily="50" charset="-128"/>
              </a:rPr>
              <a:t>Ví dụ</a:t>
            </a:r>
            <a:r>
              <a:rPr lang="ja-JP" altLang="en-US" b="0">
                <a:ea typeface="MS UI Gothic" panose="020B0600070205080204" pitchFamily="50" charset="-128"/>
              </a:rPr>
              <a:t>：</a:t>
            </a:r>
            <a:r>
              <a:rPr lang="en-US" altLang="ja-JP" b="0">
                <a:ea typeface="MS UI Gothic" panose="020B0600070205080204" pitchFamily="50" charset="-128"/>
              </a:rPr>
              <a:t>"</a:t>
            </a:r>
            <a:r>
              <a:rPr lang="ja-JP" altLang="en-US" b="0">
                <a:ea typeface="MS UI Gothic" panose="020B0600070205080204" pitchFamily="50" charset="-128"/>
              </a:rPr>
              <a:t>山田　一郎</a:t>
            </a:r>
            <a:r>
              <a:rPr lang="en-US" altLang="ja-JP" b="0">
                <a:ea typeface="MS UI Gothic" panose="020B0600070205080204" pitchFamily="50" charset="-128"/>
              </a:rPr>
              <a:t>(Yamada ichiro)"</a:t>
            </a:r>
            <a:r>
              <a:rPr lang="ja-JP" altLang="en-US" b="0">
                <a:ea typeface="MS UI Gothic" panose="020B0600070205080204" pitchFamily="50" charset="-128"/>
              </a:rPr>
              <a:t>）</a:t>
            </a:r>
            <a:r>
              <a:rPr lang="en-US" altLang="ja-JP" b="0">
                <a:ea typeface="MS UI Gothic" panose="020B0600070205080204" pitchFamily="50" charset="-128"/>
              </a:rPr>
              <a:t>được trả lại.</a:t>
            </a:r>
          </a:p>
        </p:txBody>
      </p:sp>
      <p:sp>
        <p:nvSpPr>
          <p:cNvPr id="539691" name="Rectangle 43">
            <a:extLst>
              <a:ext uri="{FF2B5EF4-FFF2-40B4-BE49-F238E27FC236}">
                <a16:creationId xmlns:a16="http://schemas.microsoft.com/office/drawing/2014/main" id="{341CF730-8307-61F3-45F3-75B38FBF268C}"/>
              </a:ext>
            </a:extLst>
          </p:cNvPr>
          <p:cNvSpPr>
            <a:spLocks noChangeArrowheads="1"/>
          </p:cNvSpPr>
          <p:nvPr/>
        </p:nvSpPr>
        <p:spPr bwMode="auto">
          <a:xfrm>
            <a:off x="3636963" y="8321675"/>
            <a:ext cx="2663825" cy="554038"/>
          </a:xfrm>
          <a:prstGeom prst="rect">
            <a:avLst/>
          </a:prstGeom>
          <a:solidFill>
            <a:srgbClr val="FFFF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73" tIns="47736" rIns="95473" bIns="47736"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10000"/>
              </a:spcBef>
            </a:pPr>
            <a:r>
              <a:rPr lang="en-US" altLang="ja-JP" b="0">
                <a:latin typeface="ＭＳ ゴシック" panose="020B0609070205080204" pitchFamily="49" charset="-128"/>
                <a:ea typeface="ＭＳ ゴシック" panose="020B0609070205080204" pitchFamily="49" charset="-128"/>
              </a:rPr>
              <a:t>public String getFullName() {</a:t>
            </a:r>
          </a:p>
          <a:p>
            <a:pPr>
              <a:spcBef>
                <a:spcPct val="10000"/>
              </a:spcBef>
            </a:pPr>
            <a:r>
              <a:rPr lang="en-US" altLang="ja-JP" b="0">
                <a:latin typeface="ＭＳ ゴシック" panose="020B0609070205080204" pitchFamily="49" charset="-128"/>
                <a:ea typeface="ＭＳ ゴシック" panose="020B0609070205080204" pitchFamily="49" charset="-128"/>
              </a:rPr>
              <a:t>    return (lastName + " " + firstName);</a:t>
            </a:r>
          </a:p>
          <a:p>
            <a:pPr>
              <a:spcBef>
                <a:spcPct val="10000"/>
              </a:spcBef>
            </a:pPr>
            <a:r>
              <a:rPr lang="en-US" altLang="ja-JP" b="0">
                <a:latin typeface="ＭＳ ゴシック" panose="020B0609070205080204" pitchFamily="49" charset="-128"/>
                <a:ea typeface="ＭＳ ゴシック" panose="020B0609070205080204" pitchFamily="49" charset="-128"/>
              </a:rPr>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1740" name="Rectangle 44">
            <a:extLst>
              <a:ext uri="{FF2B5EF4-FFF2-40B4-BE49-F238E27FC236}">
                <a16:creationId xmlns:a16="http://schemas.microsoft.com/office/drawing/2014/main" id="{4768B4E5-6CB4-04BC-6014-9C309B63B2BC}"/>
              </a:ext>
            </a:extLst>
          </p:cNvPr>
          <p:cNvSpPr>
            <a:spLocks noChangeArrowheads="1"/>
          </p:cNvSpPr>
          <p:nvPr/>
        </p:nvSpPr>
        <p:spPr bwMode="auto">
          <a:xfrm>
            <a:off x="730250" y="3954463"/>
            <a:ext cx="5691188" cy="4959350"/>
          </a:xfrm>
          <a:prstGeom prst="rect">
            <a:avLst/>
          </a:prstGeom>
          <a:solidFill>
            <a:srgbClr val="FFFFCC">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41698" name="AutoShape 2">
            <a:extLst>
              <a:ext uri="{FF2B5EF4-FFF2-40B4-BE49-F238E27FC236}">
                <a16:creationId xmlns:a16="http://schemas.microsoft.com/office/drawing/2014/main" id="{B5D46D76-A0C2-18C8-77A3-9D9B089CAA9E}"/>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r>
              <a:rPr lang="en-US" altLang="ja-JP" sz="1300">
                <a:ea typeface="MS UI Gothic" panose="020B0600070205080204" pitchFamily="50" charset="-128"/>
              </a:rPr>
              <a:t>Câu lệnh return</a:t>
            </a: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Câu lệnh return dùng khi kết thúc xử lý trong method mà muốn quay trở lại gốc gọi ra của method.</a:t>
            </a: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Trường hợp định nghĩa method có giá trị trả về, thì nhất thiết phải sử dụng câu lệnh return để trả về giá trị.</a:t>
            </a: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Trường hợp method không có giá trị trả về</a:t>
            </a:r>
            <a:r>
              <a:rPr lang="ja-JP" altLang="en-US" b="0">
                <a:ea typeface="MS UI Gothic" panose="020B0600070205080204" pitchFamily="50" charset="-128"/>
              </a:rPr>
              <a:t>（</a:t>
            </a:r>
            <a:r>
              <a:rPr lang="en-US" altLang="ja-JP" b="0">
                <a:ea typeface="MS UI Gothic" panose="020B0600070205080204" pitchFamily="50" charset="-128"/>
              </a:rPr>
              <a:t>chỉ định void</a:t>
            </a:r>
            <a:r>
              <a:rPr lang="ja-JP" altLang="en-US" b="0">
                <a:ea typeface="MS UI Gothic" panose="020B0600070205080204" pitchFamily="50" charset="-128"/>
              </a:rPr>
              <a:t>）</a:t>
            </a:r>
            <a:r>
              <a:rPr lang="en-US" altLang="ja-JP" b="0">
                <a:ea typeface="MS UI Gothic" panose="020B0600070205080204" pitchFamily="50" charset="-128"/>
              </a:rPr>
              <a:t>thì không cần câu lệnh return.</a:t>
            </a:r>
          </a:p>
          <a:p>
            <a:r>
              <a:rPr lang="ja-JP" altLang="en-US" b="0">
                <a:ea typeface="MS UI Gothic" panose="020B0600070205080204" pitchFamily="50" charset="-128"/>
              </a:rPr>
              <a:t>　</a:t>
            </a:r>
            <a:r>
              <a:rPr lang="en-US" altLang="ja-JP" b="0">
                <a:ea typeface="MS UI Gothic" panose="020B0600070205080204" pitchFamily="50" charset="-128"/>
              </a:rPr>
              <a:t>Thực hiện trình tự các xử lý trong method, khi chạy đến </a:t>
            </a:r>
            <a:r>
              <a:rPr lang="ja-JP" altLang="en-US" b="0">
                <a:ea typeface="MS UI Gothic" panose="020B0600070205080204" pitchFamily="50" charset="-128"/>
              </a:rPr>
              <a:t>「</a:t>
            </a:r>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ở cuối method thì quay về gốc gọi ra.</a:t>
            </a:r>
          </a:p>
          <a:p>
            <a:r>
              <a:rPr lang="en-US" altLang="ja-JP" b="0">
                <a:ea typeface="MS UI Gothic" panose="020B0600070205080204" pitchFamily="50" charset="-128"/>
              </a:rPr>
              <a:t>   Trong method không có giá trị trả về, nếu chỉ định </a:t>
            </a:r>
            <a:r>
              <a:rPr lang="ja-JP" altLang="en-US" b="0">
                <a:ea typeface="MS UI Gothic" panose="020B0600070205080204" pitchFamily="50" charset="-128"/>
              </a:rPr>
              <a:t>「 </a:t>
            </a:r>
            <a:r>
              <a:rPr lang="en-US" altLang="ja-JP" b="0">
                <a:ea typeface="MS UI Gothic" panose="020B0600070205080204" pitchFamily="50" charset="-128"/>
              </a:rPr>
              <a:t>return;</a:t>
            </a:r>
            <a:r>
              <a:rPr lang="en-US" altLang="ja-JP">
                <a:ea typeface="MS UI Gothic" panose="020B0600070205080204" pitchFamily="50" charset="-128"/>
              </a:rPr>
              <a:t> </a:t>
            </a:r>
            <a:r>
              <a:rPr lang="ja-JP" altLang="en-US" b="0">
                <a:ea typeface="MS UI Gothic" panose="020B0600070205080204" pitchFamily="50" charset="-128"/>
              </a:rPr>
              <a:t>」　</a:t>
            </a:r>
            <a:r>
              <a:rPr lang="en-US" altLang="ja-JP" b="0">
                <a:ea typeface="MS UI Gothic" panose="020B0600070205080204" pitchFamily="50" charset="-128"/>
              </a:rPr>
              <a:t>thì sẽ có thể quay về gốc gọi ra mà không tiến hành xử lý sau đó nữa.</a:t>
            </a:r>
          </a:p>
          <a:p>
            <a:r>
              <a:rPr lang="ja-JP" altLang="en-US" b="0">
                <a:ea typeface="MS UI Gothic" panose="020B0600070205080204" pitchFamily="50" charset="-128"/>
              </a:rPr>
              <a:t>　（</a:t>
            </a:r>
            <a:r>
              <a:rPr lang="en-US" altLang="ja-JP" b="0">
                <a:ea typeface="MS UI Gothic" panose="020B0600070205080204" pitchFamily="50" charset="-128"/>
              </a:rPr>
              <a:t>giống với câu lệnh break của câu lệnh vòng lặp</a:t>
            </a:r>
            <a:r>
              <a:rPr lang="ja-JP" altLang="en-US" b="0">
                <a:ea typeface="MS UI Gothic" panose="020B0600070205080204" pitchFamily="50" charset="-128"/>
              </a:rPr>
              <a:t>）</a:t>
            </a: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Câu lệnh return sử dụng ở method có giá trị trả về</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Câu lệnh return sử dụng ở method không có giá trị trả về</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p>
          <a:p>
            <a:r>
              <a:rPr lang="ja-JP" altLang="en-US" b="0">
                <a:ea typeface="MS UI Gothic" panose="020B0600070205080204" pitchFamily="50" charset="-128"/>
              </a:rPr>
              <a:t>　　</a:t>
            </a: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en-US" altLang="ja-JP" b="0">
              <a:ea typeface="MS UI Gothic" panose="020B0600070205080204" pitchFamily="50" charset="-128"/>
            </a:endParaRPr>
          </a:p>
        </p:txBody>
      </p:sp>
      <p:sp>
        <p:nvSpPr>
          <p:cNvPr id="541699" name="AutoShape 3">
            <a:extLst>
              <a:ext uri="{FF2B5EF4-FFF2-40B4-BE49-F238E27FC236}">
                <a16:creationId xmlns:a16="http://schemas.microsoft.com/office/drawing/2014/main" id="{6385F0AC-9A8E-0DEB-ACAC-F34E4BE88407}"/>
              </a:ext>
            </a:extLst>
          </p:cNvPr>
          <p:cNvSpPr>
            <a:spLocks noChangeArrowheads="1"/>
          </p:cNvSpPr>
          <p:nvPr/>
        </p:nvSpPr>
        <p:spPr bwMode="auto">
          <a:xfrm>
            <a:off x="603250" y="442913"/>
            <a:ext cx="11176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COLUMN</a:t>
            </a:r>
          </a:p>
        </p:txBody>
      </p:sp>
      <p:sp>
        <p:nvSpPr>
          <p:cNvPr id="541707" name="Text Box 11">
            <a:extLst>
              <a:ext uri="{FF2B5EF4-FFF2-40B4-BE49-F238E27FC236}">
                <a16:creationId xmlns:a16="http://schemas.microsoft.com/office/drawing/2014/main" id="{5381318E-4049-177F-E621-12159A52A529}"/>
              </a:ext>
            </a:extLst>
          </p:cNvPr>
          <p:cNvSpPr txBox="1">
            <a:spLocks noChangeArrowheads="1"/>
          </p:cNvSpPr>
          <p:nvPr/>
        </p:nvSpPr>
        <p:spPr bwMode="auto">
          <a:xfrm>
            <a:off x="763588" y="2692400"/>
            <a:ext cx="5643562" cy="2619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latin typeface="ＭＳ ゴシック" panose="020B0609070205080204" pitchFamily="49" charset="-128"/>
                <a:ea typeface="ＭＳ ゴシック" panose="020B0609070205080204" pitchFamily="49" charset="-128"/>
              </a:rPr>
              <a:t>return</a:t>
            </a:r>
            <a:r>
              <a:rPr lang="ja-JP" altLang="en-US" b="0">
                <a:latin typeface="ＭＳ ゴシック" panose="020B0609070205080204" pitchFamily="49" charset="-128"/>
                <a:ea typeface="ＭＳ ゴシック" panose="020B0609070205080204" pitchFamily="49" charset="-128"/>
              </a:rPr>
              <a:t>　</a:t>
            </a:r>
            <a:r>
              <a:rPr lang="en-US" altLang="ja-JP" b="0">
                <a:ea typeface="MS UI Gothic" panose="020B0600070205080204" pitchFamily="50" charset="-128"/>
              </a:rPr>
              <a:t>biểu thức hoặc giá trị</a:t>
            </a:r>
            <a:r>
              <a:rPr lang="en-US" altLang="ja-JP" b="0">
                <a:latin typeface="ＭＳ ゴシック" panose="020B0609070205080204" pitchFamily="49" charset="-128"/>
                <a:ea typeface="ＭＳ ゴシック" panose="020B0609070205080204" pitchFamily="49" charset="-128"/>
              </a:rPr>
              <a:t>;</a:t>
            </a:r>
          </a:p>
        </p:txBody>
      </p:sp>
      <p:sp>
        <p:nvSpPr>
          <p:cNvPr id="541715" name="Text Box 19">
            <a:extLst>
              <a:ext uri="{FF2B5EF4-FFF2-40B4-BE49-F238E27FC236}">
                <a16:creationId xmlns:a16="http://schemas.microsoft.com/office/drawing/2014/main" id="{0928EB48-1AEF-7038-8887-663B30F4225C}"/>
              </a:ext>
            </a:extLst>
          </p:cNvPr>
          <p:cNvSpPr txBox="1">
            <a:spLocks noChangeArrowheads="1"/>
          </p:cNvSpPr>
          <p:nvPr/>
        </p:nvSpPr>
        <p:spPr bwMode="auto">
          <a:xfrm>
            <a:off x="3517900" y="4378325"/>
            <a:ext cx="2760663" cy="117475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37581" rIns="37581" bIns="3758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2563"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96000"/>
              </a:lnSpc>
            </a:pPr>
            <a:r>
              <a:rPr lang="en-US" altLang="ja-JP" b="0">
                <a:latin typeface="ＭＳ ゴシック" panose="020B0609070205080204" pitchFamily="49" charset="-128"/>
                <a:ea typeface="ＭＳ ゴシック" panose="020B0609070205080204" pitchFamily="49" charset="-128"/>
              </a:rPr>
              <a:t>public void method1() {</a:t>
            </a:r>
          </a:p>
          <a:p>
            <a:pPr lvl="1" algn="just">
              <a:lnSpc>
                <a:spcPct val="96000"/>
              </a:lnSpc>
            </a:pPr>
            <a:r>
              <a:rPr lang="en-US" altLang="ja-JP" b="0">
                <a:latin typeface="ＭＳ ゴシック" panose="020B0609070205080204" pitchFamily="49" charset="-128"/>
                <a:ea typeface="ＭＳ ゴシック" panose="020B0609070205080204" pitchFamily="49" charset="-128"/>
              </a:rPr>
              <a:t>    if (hantei == true) {</a:t>
            </a:r>
          </a:p>
          <a:p>
            <a:pPr lvl="1" algn="just">
              <a:lnSpc>
                <a:spcPct val="96000"/>
              </a:lnSpc>
            </a:pPr>
            <a:r>
              <a:rPr lang="en-US"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xử lý</a:t>
            </a:r>
          </a:p>
          <a:p>
            <a:pPr lvl="1" algn="just">
              <a:lnSpc>
                <a:spcPct val="96000"/>
              </a:lnSpc>
            </a:pPr>
            <a:r>
              <a:rPr lang="en-US" altLang="ja-JP" b="0">
                <a:latin typeface="ＭＳ ゴシック" panose="020B0609070205080204" pitchFamily="49" charset="-128"/>
                <a:ea typeface="ＭＳ ゴシック" panose="020B0609070205080204" pitchFamily="49" charset="-128"/>
              </a:rPr>
              <a:t>        return;</a:t>
            </a:r>
          </a:p>
          <a:p>
            <a:pPr lvl="1" algn="just">
              <a:lnSpc>
                <a:spcPct val="96000"/>
              </a:lnSpc>
            </a:pPr>
            <a:r>
              <a:rPr lang="en-US" altLang="ja-JP" b="0">
                <a:latin typeface="ＭＳ ゴシック" panose="020B0609070205080204" pitchFamily="49" charset="-128"/>
                <a:ea typeface="ＭＳ ゴシック" panose="020B0609070205080204" pitchFamily="49" charset="-128"/>
              </a:rPr>
              <a:t>    }</a:t>
            </a:r>
          </a:p>
          <a:p>
            <a:pPr lvl="1" algn="just">
              <a:lnSpc>
                <a:spcPct val="96000"/>
              </a:lnSpc>
            </a:pPr>
            <a:r>
              <a:rPr lang="en-US"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xử lý</a:t>
            </a:r>
          </a:p>
          <a:p>
            <a:pPr lvl="1" algn="just">
              <a:lnSpc>
                <a:spcPct val="96000"/>
              </a:lnSpc>
            </a:pPr>
            <a:r>
              <a:rPr lang="en-US" altLang="ja-JP" b="0">
                <a:latin typeface="ＭＳ ゴシック" panose="020B0609070205080204" pitchFamily="49" charset="-128"/>
                <a:ea typeface="ＭＳ ゴシック" panose="020B0609070205080204" pitchFamily="49" charset="-128"/>
              </a:rPr>
              <a:t>}</a:t>
            </a:r>
            <a:endParaRPr lang="en-US" altLang="ja-JP">
              <a:latin typeface="ＭＳ ゴシック" panose="020B0609070205080204" pitchFamily="49" charset="-128"/>
              <a:ea typeface="ＭＳ ゴシック" panose="020B0609070205080204" pitchFamily="49" charset="-128"/>
            </a:endParaRPr>
          </a:p>
        </p:txBody>
      </p:sp>
      <p:sp>
        <p:nvSpPr>
          <p:cNvPr id="541716" name="Line 20">
            <a:extLst>
              <a:ext uri="{FF2B5EF4-FFF2-40B4-BE49-F238E27FC236}">
                <a16:creationId xmlns:a16="http://schemas.microsoft.com/office/drawing/2014/main" id="{3E3110EC-69F6-F12C-DB2D-E6DE05D3AD44}"/>
              </a:ext>
            </a:extLst>
          </p:cNvPr>
          <p:cNvSpPr>
            <a:spLocks noChangeShapeType="1"/>
          </p:cNvSpPr>
          <p:nvPr/>
        </p:nvSpPr>
        <p:spPr bwMode="auto">
          <a:xfrm flipV="1">
            <a:off x="3117850" y="4540250"/>
            <a:ext cx="554038" cy="0"/>
          </a:xfrm>
          <a:prstGeom prst="line">
            <a:avLst/>
          </a:prstGeom>
          <a:noFill/>
          <a:ln w="19050">
            <a:solidFill>
              <a:srgbClr val="0000FF"/>
            </a:solidFill>
            <a:round/>
            <a:headEnd/>
            <a:tailEnd/>
          </a:ln>
          <a:extLst>
            <a:ext uri="{909E8E84-426E-40DD-AFC4-6F175D3DCCD1}">
              <a14:hiddenFill xmlns:a14="http://schemas.microsoft.com/office/drawing/2010/main">
                <a:noFill/>
              </a14:hiddenFill>
            </a:ext>
          </a:extLst>
        </p:spPr>
        <p:txBody>
          <a:bodyPr/>
          <a:lstStyle/>
          <a:p>
            <a:endParaRPr lang="ja-JP" altLang="en-US"/>
          </a:p>
        </p:txBody>
      </p:sp>
      <p:sp>
        <p:nvSpPr>
          <p:cNvPr id="541717" name="Line 21">
            <a:extLst>
              <a:ext uri="{FF2B5EF4-FFF2-40B4-BE49-F238E27FC236}">
                <a16:creationId xmlns:a16="http://schemas.microsoft.com/office/drawing/2014/main" id="{6C1E03B9-20C5-E89D-F063-60B388C4A0F9}"/>
              </a:ext>
            </a:extLst>
          </p:cNvPr>
          <p:cNvSpPr>
            <a:spLocks noChangeShapeType="1"/>
          </p:cNvSpPr>
          <p:nvPr/>
        </p:nvSpPr>
        <p:spPr bwMode="auto">
          <a:xfrm>
            <a:off x="3665538" y="4529138"/>
            <a:ext cx="1587" cy="409575"/>
          </a:xfrm>
          <a:prstGeom prst="line">
            <a:avLst/>
          </a:prstGeom>
          <a:noFill/>
          <a:ln w="19050">
            <a:solidFill>
              <a:srgbClr val="0000FF"/>
            </a:solidFill>
            <a:round/>
            <a:headEnd/>
            <a:tailEnd/>
          </a:ln>
          <a:extLst>
            <a:ext uri="{909E8E84-426E-40DD-AFC4-6F175D3DCCD1}">
              <a14:hiddenFill xmlns:a14="http://schemas.microsoft.com/office/drawing/2010/main">
                <a:noFill/>
              </a14:hiddenFill>
            </a:ext>
          </a:extLst>
        </p:spPr>
        <p:txBody>
          <a:bodyPr/>
          <a:lstStyle/>
          <a:p>
            <a:endParaRPr lang="ja-JP" altLang="en-US"/>
          </a:p>
        </p:txBody>
      </p:sp>
      <p:sp>
        <p:nvSpPr>
          <p:cNvPr id="541722" name="Text Box 26">
            <a:extLst>
              <a:ext uri="{FF2B5EF4-FFF2-40B4-BE49-F238E27FC236}">
                <a16:creationId xmlns:a16="http://schemas.microsoft.com/office/drawing/2014/main" id="{42B7B295-B710-BCE4-5F45-E693BD31A4E2}"/>
              </a:ext>
            </a:extLst>
          </p:cNvPr>
          <p:cNvSpPr txBox="1">
            <a:spLocks noChangeArrowheads="1"/>
          </p:cNvSpPr>
          <p:nvPr/>
        </p:nvSpPr>
        <p:spPr bwMode="auto">
          <a:xfrm>
            <a:off x="1001713" y="4448175"/>
            <a:ext cx="1911350" cy="561975"/>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37581" rIns="37581" bIns="3758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a:ea typeface="MS UI Gothic" panose="020B0600070205080204" pitchFamily="50" charset="-128"/>
              </a:rPr>
              <a:t>Quay về gốc gọi ra bằng câu lệnh return</a:t>
            </a:r>
          </a:p>
          <a:p>
            <a:pPr algn="just"/>
            <a:r>
              <a:rPr lang="en-US" altLang="ja-JP" b="0">
                <a:ea typeface="MS UI Gothic" panose="020B0600070205080204" pitchFamily="50" charset="-128"/>
              </a:rPr>
              <a:t>Kết quả xử lý không được trả về.</a:t>
            </a:r>
          </a:p>
        </p:txBody>
      </p:sp>
      <p:sp>
        <p:nvSpPr>
          <p:cNvPr id="541723" name="Text Box 27">
            <a:extLst>
              <a:ext uri="{FF2B5EF4-FFF2-40B4-BE49-F238E27FC236}">
                <a16:creationId xmlns:a16="http://schemas.microsoft.com/office/drawing/2014/main" id="{594DDF0C-39DA-F592-4FEA-82E071639FD7}"/>
              </a:ext>
            </a:extLst>
          </p:cNvPr>
          <p:cNvSpPr txBox="1">
            <a:spLocks noChangeArrowheads="1"/>
          </p:cNvSpPr>
          <p:nvPr/>
        </p:nvSpPr>
        <p:spPr bwMode="auto">
          <a:xfrm>
            <a:off x="1001713" y="6118225"/>
            <a:ext cx="1911350" cy="871538"/>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37581" rIns="37581" bIns="3758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a:ea typeface="MS UI Gothic" panose="020B0600070205080204" pitchFamily="50" charset="-128"/>
              </a:rPr>
              <a:t>Trường hợp không có câu lệnh return, thì sẽ tiến đến cuối method, quay trở về gốc gọi ra, kết quả xử lý không được trả về.</a:t>
            </a:r>
          </a:p>
        </p:txBody>
      </p:sp>
      <p:sp>
        <p:nvSpPr>
          <p:cNvPr id="541724" name="Text Box 28">
            <a:extLst>
              <a:ext uri="{FF2B5EF4-FFF2-40B4-BE49-F238E27FC236}">
                <a16:creationId xmlns:a16="http://schemas.microsoft.com/office/drawing/2014/main" id="{ACB1ED32-BD98-DD0D-449B-7C3CFA9B6215}"/>
              </a:ext>
            </a:extLst>
          </p:cNvPr>
          <p:cNvSpPr txBox="1">
            <a:spLocks noChangeArrowheads="1"/>
          </p:cNvSpPr>
          <p:nvPr/>
        </p:nvSpPr>
        <p:spPr bwMode="auto">
          <a:xfrm>
            <a:off x="3517900" y="6024563"/>
            <a:ext cx="2760663" cy="1038225"/>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37581" rIns="37581" bIns="3758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96000"/>
              </a:lnSpc>
            </a:pPr>
            <a:r>
              <a:rPr lang="en-US" altLang="ja-JP" b="0">
                <a:latin typeface="ＭＳ ゴシック" panose="020B0609070205080204" pitchFamily="49" charset="-128"/>
                <a:ea typeface="ＭＳ ゴシック" panose="020B0609070205080204" pitchFamily="49" charset="-128"/>
              </a:rPr>
              <a:t>public void method2() {</a:t>
            </a:r>
          </a:p>
          <a:p>
            <a:pPr lvl="1" algn="just">
              <a:lnSpc>
                <a:spcPct val="96000"/>
              </a:lnSpc>
            </a:pPr>
            <a:r>
              <a:rPr lang="en-US" altLang="ja-JP" b="0">
                <a:latin typeface="ＭＳ ゴシック" panose="020B0609070205080204" pitchFamily="49" charset="-128"/>
                <a:ea typeface="ＭＳ ゴシック" panose="020B0609070205080204" pitchFamily="49" charset="-128"/>
              </a:rPr>
              <a:t>    if (hantei  ==  true) {</a:t>
            </a:r>
          </a:p>
          <a:p>
            <a:pPr lvl="1" algn="just">
              <a:lnSpc>
                <a:spcPct val="96000"/>
              </a:lnSpc>
            </a:pPr>
            <a:r>
              <a:rPr lang="en-US"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xử lý</a:t>
            </a:r>
          </a:p>
          <a:p>
            <a:pPr lvl="1" algn="just">
              <a:lnSpc>
                <a:spcPct val="96000"/>
              </a:lnSpc>
            </a:pPr>
            <a:r>
              <a:rPr lang="en-US" altLang="ja-JP" b="0">
                <a:latin typeface="ＭＳ ゴシック" panose="020B0609070205080204" pitchFamily="49" charset="-128"/>
                <a:ea typeface="ＭＳ ゴシック" panose="020B0609070205080204" pitchFamily="49" charset="-128"/>
              </a:rPr>
              <a:t>    }</a:t>
            </a:r>
          </a:p>
          <a:p>
            <a:pPr lvl="1" algn="just">
              <a:lnSpc>
                <a:spcPct val="96000"/>
              </a:lnSpc>
            </a:pPr>
            <a:r>
              <a:rPr lang="en-US"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xử lý</a:t>
            </a:r>
          </a:p>
          <a:p>
            <a:pPr lvl="1" algn="just">
              <a:lnSpc>
                <a:spcPct val="96000"/>
              </a:lnSpc>
            </a:pPr>
            <a:r>
              <a:rPr lang="en-US" altLang="ja-JP" b="0">
                <a:latin typeface="ＭＳ ゴシック" panose="020B0609070205080204" pitchFamily="49" charset="-128"/>
                <a:ea typeface="ＭＳ ゴシック" panose="020B0609070205080204" pitchFamily="49" charset="-128"/>
              </a:rPr>
              <a:t>}</a:t>
            </a:r>
            <a:endParaRPr lang="en-US" altLang="ja-JP">
              <a:latin typeface="ＭＳ ゴシック" panose="020B0609070205080204" pitchFamily="49" charset="-128"/>
              <a:ea typeface="ＭＳ ゴシック" panose="020B0609070205080204" pitchFamily="49" charset="-128"/>
            </a:endParaRPr>
          </a:p>
        </p:txBody>
      </p:sp>
      <p:sp>
        <p:nvSpPr>
          <p:cNvPr id="541730" name="Line 34">
            <a:extLst>
              <a:ext uri="{FF2B5EF4-FFF2-40B4-BE49-F238E27FC236}">
                <a16:creationId xmlns:a16="http://schemas.microsoft.com/office/drawing/2014/main" id="{64D8E49D-CADE-D36B-6ABF-E90E68E5DD86}"/>
              </a:ext>
            </a:extLst>
          </p:cNvPr>
          <p:cNvSpPr>
            <a:spLocks noChangeShapeType="1"/>
          </p:cNvSpPr>
          <p:nvPr/>
        </p:nvSpPr>
        <p:spPr bwMode="auto">
          <a:xfrm>
            <a:off x="3670300" y="6151563"/>
            <a:ext cx="1588" cy="77311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41732" name="Text Box 36">
            <a:extLst>
              <a:ext uri="{FF2B5EF4-FFF2-40B4-BE49-F238E27FC236}">
                <a16:creationId xmlns:a16="http://schemas.microsoft.com/office/drawing/2014/main" id="{0224BEA4-C4E3-F5D6-DF66-0DD865C1E0DA}"/>
              </a:ext>
            </a:extLst>
          </p:cNvPr>
          <p:cNvSpPr txBox="1">
            <a:spLocks noChangeArrowheads="1"/>
          </p:cNvSpPr>
          <p:nvPr/>
        </p:nvSpPr>
        <p:spPr bwMode="auto">
          <a:xfrm>
            <a:off x="3517900" y="7539038"/>
            <a:ext cx="2760663" cy="769937"/>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37581" rIns="37581" bIns="3758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2563"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96000"/>
              </a:lnSpc>
            </a:pPr>
            <a:r>
              <a:rPr lang="en-US" altLang="ja-JP" b="0">
                <a:latin typeface="ＭＳ ゴシック" panose="020B0609070205080204" pitchFamily="49" charset="-128"/>
                <a:ea typeface="ＭＳ ゴシック" panose="020B0609070205080204" pitchFamily="49" charset="-128"/>
              </a:rPr>
              <a:t>public string method3() {</a:t>
            </a:r>
          </a:p>
          <a:p>
            <a:pPr lvl="1" algn="just">
              <a:lnSpc>
                <a:spcPct val="96000"/>
              </a:lnSpc>
            </a:pPr>
            <a:r>
              <a:rPr lang="en-US"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xử lý</a:t>
            </a:r>
          </a:p>
          <a:p>
            <a:pPr lvl="1" algn="just">
              <a:lnSpc>
                <a:spcPct val="96000"/>
              </a:lnSpc>
            </a:pPr>
            <a:r>
              <a:rPr lang="en-US" altLang="ja-JP" b="0">
                <a:latin typeface="ＭＳ ゴシック" panose="020B0609070205080204" pitchFamily="49" charset="-128"/>
                <a:ea typeface="ＭＳ ゴシック" panose="020B0609070205080204" pitchFamily="49" charset="-128"/>
              </a:rPr>
              <a:t>    return str;</a:t>
            </a:r>
          </a:p>
          <a:p>
            <a:pPr lvl="1" algn="just">
              <a:lnSpc>
                <a:spcPct val="96000"/>
              </a:lnSpc>
            </a:pPr>
            <a:r>
              <a:rPr lang="en-US" altLang="ja-JP" b="0">
                <a:latin typeface="ＭＳ ゴシック" panose="020B0609070205080204" pitchFamily="49" charset="-128"/>
                <a:ea typeface="ＭＳ ゴシック" panose="020B0609070205080204" pitchFamily="49" charset="-128"/>
              </a:rPr>
              <a:t>}</a:t>
            </a:r>
            <a:endParaRPr lang="en-US" altLang="ja-JP">
              <a:latin typeface="ＭＳ ゴシック" panose="020B0609070205080204" pitchFamily="49" charset="-128"/>
              <a:ea typeface="ＭＳ ゴシック" panose="020B0609070205080204" pitchFamily="49" charset="-128"/>
            </a:endParaRPr>
          </a:p>
        </p:txBody>
      </p:sp>
      <p:sp>
        <p:nvSpPr>
          <p:cNvPr id="541734" name="Line 38">
            <a:extLst>
              <a:ext uri="{FF2B5EF4-FFF2-40B4-BE49-F238E27FC236}">
                <a16:creationId xmlns:a16="http://schemas.microsoft.com/office/drawing/2014/main" id="{C2E5B095-0F27-0079-914C-44C0BE2ACE7B}"/>
              </a:ext>
            </a:extLst>
          </p:cNvPr>
          <p:cNvSpPr>
            <a:spLocks noChangeShapeType="1"/>
          </p:cNvSpPr>
          <p:nvPr/>
        </p:nvSpPr>
        <p:spPr bwMode="auto">
          <a:xfrm flipH="1">
            <a:off x="3646488" y="7688263"/>
            <a:ext cx="3175" cy="295275"/>
          </a:xfrm>
          <a:prstGeom prst="line">
            <a:avLst/>
          </a:prstGeom>
          <a:noFill/>
          <a:ln w="19050">
            <a:solidFill>
              <a:srgbClr val="0000FF"/>
            </a:solidFill>
            <a:round/>
            <a:headEnd/>
            <a:tailEnd/>
          </a:ln>
          <a:extLst>
            <a:ext uri="{909E8E84-426E-40DD-AFC4-6F175D3DCCD1}">
              <a14:hiddenFill xmlns:a14="http://schemas.microsoft.com/office/drawing/2010/main">
                <a:noFill/>
              </a14:hiddenFill>
            </a:ext>
          </a:extLst>
        </p:spPr>
        <p:txBody>
          <a:bodyPr/>
          <a:lstStyle/>
          <a:p>
            <a:endParaRPr lang="ja-JP" altLang="en-US"/>
          </a:p>
        </p:txBody>
      </p:sp>
      <p:sp>
        <p:nvSpPr>
          <p:cNvPr id="541737" name="Text Box 41">
            <a:extLst>
              <a:ext uri="{FF2B5EF4-FFF2-40B4-BE49-F238E27FC236}">
                <a16:creationId xmlns:a16="http://schemas.microsoft.com/office/drawing/2014/main" id="{F250E9D0-66DC-3F4B-D7F9-7D063B582A0F}"/>
              </a:ext>
            </a:extLst>
          </p:cNvPr>
          <p:cNvSpPr txBox="1">
            <a:spLocks noChangeArrowheads="1"/>
          </p:cNvSpPr>
          <p:nvPr/>
        </p:nvSpPr>
        <p:spPr bwMode="auto">
          <a:xfrm>
            <a:off x="1001713" y="7589838"/>
            <a:ext cx="1885950" cy="617537"/>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37581" rIns="37581" bIns="3758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a:ea typeface="MS UI Gothic" panose="020B0600070205080204" pitchFamily="50" charset="-128"/>
              </a:rPr>
              <a:t>Quay về gốc gọi ra bằng câu lệnh return</a:t>
            </a:r>
          </a:p>
          <a:p>
            <a:pPr algn="just"/>
            <a:r>
              <a:rPr lang="en-US" altLang="ja-JP" b="0">
                <a:ea typeface="MS UI Gothic" panose="020B0600070205080204" pitchFamily="50" charset="-128"/>
              </a:rPr>
              <a:t>Kết quả xử lý được trả về</a:t>
            </a:r>
          </a:p>
        </p:txBody>
      </p:sp>
      <p:sp>
        <p:nvSpPr>
          <p:cNvPr id="541738" name="Rectangle 42">
            <a:extLst>
              <a:ext uri="{FF2B5EF4-FFF2-40B4-BE49-F238E27FC236}">
                <a16:creationId xmlns:a16="http://schemas.microsoft.com/office/drawing/2014/main" id="{A934E7F4-5A35-1C08-4E03-013E01CF1976}"/>
              </a:ext>
            </a:extLst>
          </p:cNvPr>
          <p:cNvSpPr>
            <a:spLocks noChangeArrowheads="1"/>
          </p:cNvSpPr>
          <p:nvPr/>
        </p:nvSpPr>
        <p:spPr bwMode="auto">
          <a:xfrm>
            <a:off x="3213100" y="7715250"/>
            <a:ext cx="481013" cy="2397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7581" tIns="26306" rIns="37581" bIns="26306"/>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a:latin typeface="MS UI Gothic" panose="020B0600070205080204" pitchFamily="50" charset="-128"/>
                <a:ea typeface="MS UI Gothic" panose="020B0600070205080204" pitchFamily="50" charset="-128"/>
              </a:rPr>
              <a:t>str</a:t>
            </a:r>
            <a:endParaRPr lang="en-US" altLang="ja-JP">
              <a:latin typeface="MS UI Gothic" panose="020B0600070205080204" pitchFamily="50" charset="-128"/>
              <a:ea typeface="MS UI Gothic" panose="020B0600070205080204" pitchFamily="50" charset="-128"/>
            </a:endParaRPr>
          </a:p>
        </p:txBody>
      </p:sp>
      <p:sp>
        <p:nvSpPr>
          <p:cNvPr id="541739" name="Text Box 43">
            <a:extLst>
              <a:ext uri="{FF2B5EF4-FFF2-40B4-BE49-F238E27FC236}">
                <a16:creationId xmlns:a16="http://schemas.microsoft.com/office/drawing/2014/main" id="{6B2B9A50-835F-1652-CC41-7B1FA43CBF6F}"/>
              </a:ext>
            </a:extLst>
          </p:cNvPr>
          <p:cNvSpPr txBox="1">
            <a:spLocks noChangeArrowheads="1"/>
          </p:cNvSpPr>
          <p:nvPr/>
        </p:nvSpPr>
        <p:spPr bwMode="auto">
          <a:xfrm>
            <a:off x="782638" y="3495675"/>
            <a:ext cx="5643562" cy="2603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latin typeface="ＭＳ ゴシック" panose="020B0609070205080204" pitchFamily="49" charset="-128"/>
                <a:ea typeface="ＭＳ ゴシック" panose="020B0609070205080204" pitchFamily="49" charset="-128"/>
              </a:rPr>
              <a:t>return;</a:t>
            </a:r>
          </a:p>
        </p:txBody>
      </p:sp>
      <p:sp>
        <p:nvSpPr>
          <p:cNvPr id="541742" name="Line 46">
            <a:extLst>
              <a:ext uri="{FF2B5EF4-FFF2-40B4-BE49-F238E27FC236}">
                <a16:creationId xmlns:a16="http://schemas.microsoft.com/office/drawing/2014/main" id="{F85553AE-8AF4-59A4-6598-17673419D324}"/>
              </a:ext>
            </a:extLst>
          </p:cNvPr>
          <p:cNvSpPr>
            <a:spLocks noChangeShapeType="1"/>
          </p:cNvSpPr>
          <p:nvPr/>
        </p:nvSpPr>
        <p:spPr bwMode="auto">
          <a:xfrm>
            <a:off x="2949575" y="4930775"/>
            <a:ext cx="722313" cy="0"/>
          </a:xfrm>
          <a:prstGeom prst="line">
            <a:avLst/>
          </a:prstGeom>
          <a:noFill/>
          <a:ln w="19050">
            <a:solidFill>
              <a:srgbClr val="0000FF"/>
            </a:solidFill>
            <a:round/>
            <a:headEnd type="triangle" w="med" len="med"/>
            <a:tailEnd/>
          </a:ln>
          <a:extLst>
            <a:ext uri="{909E8E84-426E-40DD-AFC4-6F175D3DCCD1}">
              <a14:hiddenFill xmlns:a14="http://schemas.microsoft.com/office/drawing/2010/main">
                <a:noFill/>
              </a14:hiddenFill>
            </a:ext>
          </a:extLst>
        </p:spPr>
        <p:txBody>
          <a:bodyPr/>
          <a:lstStyle/>
          <a:p>
            <a:endParaRPr lang="ja-JP" altLang="en-US"/>
          </a:p>
        </p:txBody>
      </p:sp>
      <p:sp>
        <p:nvSpPr>
          <p:cNvPr id="541743" name="Line 47">
            <a:extLst>
              <a:ext uri="{FF2B5EF4-FFF2-40B4-BE49-F238E27FC236}">
                <a16:creationId xmlns:a16="http://schemas.microsoft.com/office/drawing/2014/main" id="{D79EB62B-EE98-D97E-3C96-415A65ADE152}"/>
              </a:ext>
            </a:extLst>
          </p:cNvPr>
          <p:cNvSpPr>
            <a:spLocks noChangeShapeType="1"/>
          </p:cNvSpPr>
          <p:nvPr/>
        </p:nvSpPr>
        <p:spPr bwMode="auto">
          <a:xfrm>
            <a:off x="2957513" y="6931025"/>
            <a:ext cx="722312" cy="0"/>
          </a:xfrm>
          <a:prstGeom prst="line">
            <a:avLst/>
          </a:prstGeom>
          <a:noFill/>
          <a:ln w="19050">
            <a:solidFill>
              <a:srgbClr val="0000FF"/>
            </a:solidFill>
            <a:round/>
            <a:headEnd type="triangle" w="med" len="med"/>
            <a:tailEnd/>
          </a:ln>
          <a:extLst>
            <a:ext uri="{909E8E84-426E-40DD-AFC4-6F175D3DCCD1}">
              <a14:hiddenFill xmlns:a14="http://schemas.microsoft.com/office/drawing/2010/main">
                <a:noFill/>
              </a14:hiddenFill>
            </a:ext>
          </a:extLst>
        </p:spPr>
        <p:txBody>
          <a:bodyPr/>
          <a:lstStyle/>
          <a:p>
            <a:endParaRPr lang="ja-JP" altLang="en-US"/>
          </a:p>
        </p:txBody>
      </p:sp>
      <p:sp>
        <p:nvSpPr>
          <p:cNvPr id="541744" name="Line 48">
            <a:extLst>
              <a:ext uri="{FF2B5EF4-FFF2-40B4-BE49-F238E27FC236}">
                <a16:creationId xmlns:a16="http://schemas.microsoft.com/office/drawing/2014/main" id="{D68158FF-DFE3-6F3F-0629-5BAC20687C10}"/>
              </a:ext>
            </a:extLst>
          </p:cNvPr>
          <p:cNvSpPr>
            <a:spLocks noChangeShapeType="1"/>
          </p:cNvSpPr>
          <p:nvPr/>
        </p:nvSpPr>
        <p:spPr bwMode="auto">
          <a:xfrm flipV="1">
            <a:off x="3113088" y="6159500"/>
            <a:ext cx="554037" cy="0"/>
          </a:xfrm>
          <a:prstGeom prst="line">
            <a:avLst/>
          </a:prstGeom>
          <a:noFill/>
          <a:ln w="19050">
            <a:solidFill>
              <a:srgbClr val="0000FF"/>
            </a:solidFill>
            <a:round/>
            <a:headEnd/>
            <a:tailEnd/>
          </a:ln>
          <a:extLst>
            <a:ext uri="{909E8E84-426E-40DD-AFC4-6F175D3DCCD1}">
              <a14:hiddenFill xmlns:a14="http://schemas.microsoft.com/office/drawing/2010/main">
                <a:noFill/>
              </a14:hiddenFill>
            </a:ext>
          </a:extLst>
        </p:spPr>
        <p:txBody>
          <a:bodyPr/>
          <a:lstStyle/>
          <a:p>
            <a:endParaRPr lang="ja-JP" altLang="en-US"/>
          </a:p>
        </p:txBody>
      </p:sp>
      <p:sp>
        <p:nvSpPr>
          <p:cNvPr id="541746" name="Line 50">
            <a:extLst>
              <a:ext uri="{FF2B5EF4-FFF2-40B4-BE49-F238E27FC236}">
                <a16:creationId xmlns:a16="http://schemas.microsoft.com/office/drawing/2014/main" id="{D19D903B-C0FE-2DDC-8F6D-3BE0E6861D49}"/>
              </a:ext>
            </a:extLst>
          </p:cNvPr>
          <p:cNvSpPr>
            <a:spLocks noChangeShapeType="1"/>
          </p:cNvSpPr>
          <p:nvPr/>
        </p:nvSpPr>
        <p:spPr bwMode="auto">
          <a:xfrm>
            <a:off x="2928938" y="7983538"/>
            <a:ext cx="722312" cy="0"/>
          </a:xfrm>
          <a:prstGeom prst="line">
            <a:avLst/>
          </a:prstGeom>
          <a:noFill/>
          <a:ln w="19050">
            <a:solidFill>
              <a:srgbClr val="0000FF"/>
            </a:solidFill>
            <a:round/>
            <a:headEnd type="triangle" w="med" len="med"/>
            <a:tailEnd/>
          </a:ln>
          <a:extLst>
            <a:ext uri="{909E8E84-426E-40DD-AFC4-6F175D3DCCD1}">
              <a14:hiddenFill xmlns:a14="http://schemas.microsoft.com/office/drawing/2010/main">
                <a:noFill/>
              </a14:hiddenFill>
            </a:ext>
          </a:extLst>
        </p:spPr>
        <p:txBody>
          <a:bodyPr/>
          <a:lstStyle/>
          <a:p>
            <a:endParaRPr lang="ja-JP" altLang="en-US"/>
          </a:p>
        </p:txBody>
      </p:sp>
      <p:sp>
        <p:nvSpPr>
          <p:cNvPr id="541736" name="Rectangle 40">
            <a:extLst>
              <a:ext uri="{FF2B5EF4-FFF2-40B4-BE49-F238E27FC236}">
                <a16:creationId xmlns:a16="http://schemas.microsoft.com/office/drawing/2014/main" id="{45CA952B-E7D8-313D-0A33-56E763114ACB}"/>
              </a:ext>
            </a:extLst>
          </p:cNvPr>
          <p:cNvSpPr>
            <a:spLocks noChangeArrowheads="1"/>
          </p:cNvSpPr>
          <p:nvPr/>
        </p:nvSpPr>
        <p:spPr bwMode="auto">
          <a:xfrm>
            <a:off x="3198813" y="7923213"/>
            <a:ext cx="252412" cy="142875"/>
          </a:xfrm>
          <a:prstGeom prst="rect">
            <a:avLst/>
          </a:prstGeom>
          <a:solidFill>
            <a:srgbClr val="FFFFFF"/>
          </a:solidFill>
          <a:ln w="19050">
            <a:solidFill>
              <a:srgbClr val="000000"/>
            </a:solidFill>
            <a:miter lim="800000"/>
            <a:headEnd/>
            <a:tailEnd/>
          </a:ln>
        </p:spPr>
        <p:txBody>
          <a:bodyPr/>
          <a:lstStyle/>
          <a:p>
            <a:endParaRPr lang="ja-JP" altLang="en-US"/>
          </a:p>
        </p:txBody>
      </p:sp>
      <p:sp>
        <p:nvSpPr>
          <p:cNvPr id="541747" name="Line 51">
            <a:extLst>
              <a:ext uri="{FF2B5EF4-FFF2-40B4-BE49-F238E27FC236}">
                <a16:creationId xmlns:a16="http://schemas.microsoft.com/office/drawing/2014/main" id="{4747758B-2A42-AEA4-A8E5-809E55A9F198}"/>
              </a:ext>
            </a:extLst>
          </p:cNvPr>
          <p:cNvSpPr>
            <a:spLocks noChangeShapeType="1"/>
          </p:cNvSpPr>
          <p:nvPr/>
        </p:nvSpPr>
        <p:spPr bwMode="auto">
          <a:xfrm flipV="1">
            <a:off x="3098800" y="7693025"/>
            <a:ext cx="554038" cy="0"/>
          </a:xfrm>
          <a:prstGeom prst="line">
            <a:avLst/>
          </a:prstGeom>
          <a:noFill/>
          <a:ln w="19050">
            <a:solidFill>
              <a:srgbClr val="0000FF"/>
            </a:solidFill>
            <a:round/>
            <a:headEnd/>
            <a:tailEnd/>
          </a:ln>
          <a:extLst>
            <a:ext uri="{909E8E84-426E-40DD-AFC4-6F175D3DCCD1}">
              <a14:hiddenFill xmlns:a14="http://schemas.microsoft.com/office/drawing/2010/main">
                <a:noFill/>
              </a14:hiddenFill>
            </a:ext>
          </a:extLst>
        </p:spPr>
        <p:txBody>
          <a:bodyPr/>
          <a:lstStyle/>
          <a:p>
            <a:endParaRPr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2" name="Rectangle 2">
            <a:extLst>
              <a:ext uri="{FF2B5EF4-FFF2-40B4-BE49-F238E27FC236}">
                <a16:creationId xmlns:a16="http://schemas.microsoft.com/office/drawing/2014/main" id="{D8B2F402-66FD-5901-2A3E-E8384EFDE72E}"/>
              </a:ext>
            </a:extLst>
          </p:cNvPr>
          <p:cNvSpPr>
            <a:spLocks noRot="1" noChangeAspect="1" noChangeArrowheads="1" noTextEdit="1"/>
          </p:cNvSpPr>
          <p:nvPr>
            <p:ph type="sldImg"/>
          </p:nvPr>
        </p:nvSpPr>
        <p:spPr>
          <a:xfrm>
            <a:off x="531813" y="835025"/>
            <a:ext cx="6024562" cy="4170363"/>
          </a:xfrm>
          <a:ln/>
        </p:spPr>
      </p:sp>
      <p:sp>
        <p:nvSpPr>
          <p:cNvPr id="547843" name="Rectangle 3">
            <a:extLst>
              <a:ext uri="{FF2B5EF4-FFF2-40B4-BE49-F238E27FC236}">
                <a16:creationId xmlns:a16="http://schemas.microsoft.com/office/drawing/2014/main" id="{00046B31-93B5-819E-AB87-0C1215C243D2}"/>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Constructor</a:t>
            </a:r>
          </a:p>
          <a:p>
            <a:pPr marL="0" indent="0"/>
            <a:r>
              <a:rPr lang="ja-JP" altLang="en-US">
                <a:latin typeface="Arial" panose="020B0604020202020204" pitchFamily="34" charset="0"/>
              </a:rPr>
              <a:t>　</a:t>
            </a:r>
            <a:r>
              <a:rPr lang="en-US" altLang="ja-JP">
                <a:latin typeface="Arial" panose="020B0604020202020204" pitchFamily="34" charset="0"/>
              </a:rPr>
              <a:t>Khi định nghĩa constructor sẽ có thể mô tả xử lý tiến hành khi sinh object.</a:t>
            </a:r>
          </a:p>
          <a:p>
            <a:pPr marL="0" indent="0"/>
            <a:r>
              <a:rPr lang="ja-JP" altLang="en-US">
                <a:latin typeface="Arial" panose="020B0604020202020204" pitchFamily="34" charset="0"/>
              </a:rPr>
              <a:t>　</a:t>
            </a:r>
            <a:r>
              <a:rPr lang="en-US" altLang="ja-JP">
                <a:latin typeface="Arial" panose="020B0604020202020204" pitchFamily="34" charset="0"/>
              </a:rPr>
              <a:t>Vì có thể chỉ định đối số như method nên có thể nhận giá trị sẽ set cho thuộc tính.</a:t>
            </a:r>
          </a:p>
          <a:p>
            <a:pPr marL="0" indent="0"/>
            <a:r>
              <a:rPr lang="ja-JP" altLang="en-US">
                <a:latin typeface="Arial" panose="020B0604020202020204" pitchFamily="34" charset="0"/>
              </a:rPr>
              <a:t>　</a:t>
            </a:r>
            <a:r>
              <a:rPr lang="en-US" altLang="ja-JP">
                <a:latin typeface="Arial" panose="020B0604020202020204" pitchFamily="34" charset="0"/>
              </a:rPr>
              <a:t>Có thể định nghĩa nhiều constructor có số lượng và kiểu data của đối số khác nhau.</a:t>
            </a:r>
          </a:p>
          <a:p>
            <a:pPr marL="0" indent="0"/>
            <a:r>
              <a:rPr lang="ja-JP" altLang="en-US">
                <a:latin typeface="Arial" panose="020B0604020202020204" pitchFamily="34" charset="0"/>
              </a:rPr>
              <a:t>　（</a:t>
            </a:r>
            <a:r>
              <a:rPr lang="en-US" altLang="ja-JP">
                <a:latin typeface="Arial" panose="020B0604020202020204" pitchFamily="34" charset="0"/>
              </a:rPr>
              <a:t>Về việc sinh object sẽ học sau.</a:t>
            </a:r>
            <a:r>
              <a:rPr lang="ja-JP" altLang="en-US">
                <a:latin typeface="Arial" panose="020B0604020202020204" pitchFamily="34" charset="0"/>
              </a:rPr>
              <a:t>）</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Default constructor</a:t>
            </a:r>
          </a:p>
          <a:p>
            <a:pPr marL="0" indent="0"/>
            <a:r>
              <a:rPr lang="ja-JP" altLang="en-US">
                <a:latin typeface="Arial" panose="020B0604020202020204" pitchFamily="34" charset="0"/>
              </a:rPr>
              <a:t>　</a:t>
            </a:r>
            <a:r>
              <a:rPr lang="en-US" altLang="ja-JP">
                <a:latin typeface="Arial" panose="020B0604020202020204" pitchFamily="34" charset="0"/>
              </a:rPr>
              <a:t>Trường hợp trong class không định nghĩa 1 constructor nào(trường hợp 0 cái) thì default contract (không có đối số, phần body rỗng) sẽ được tự động add thêm vào lúc compile.</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Định nghĩa constructor</a:t>
            </a:r>
          </a:p>
          <a:p>
            <a:pPr marL="0" indent="0"/>
            <a:r>
              <a:rPr lang="ja-JP" altLang="en-US">
                <a:latin typeface="Arial" panose="020B0604020202020204" pitchFamily="34" charset="0"/>
              </a:rPr>
              <a:t>　</a:t>
            </a:r>
            <a:r>
              <a:rPr lang="en-US" altLang="ja-JP">
                <a:latin typeface="Arial" panose="020B0604020202020204" pitchFamily="34" charset="0"/>
              </a:rPr>
              <a:t>Constructor được định nghĩa bên trong định nghĩa class.</a:t>
            </a:r>
          </a:p>
          <a:p>
            <a:pPr marL="0" indent="0"/>
            <a:r>
              <a:rPr lang="ja-JP" altLang="en-US">
                <a:latin typeface="Arial" panose="020B0604020202020204" pitchFamily="34" charset="0"/>
              </a:rPr>
              <a:t>　</a:t>
            </a:r>
            <a:r>
              <a:rPr lang="en-US" altLang="ja-JP">
                <a:latin typeface="Arial" panose="020B0604020202020204" pitchFamily="34" charset="0"/>
              </a:rPr>
              <a:t>Trình tư định nghĩa là tùy ý nhưng thông thường thì sẽ miêu tả tiếp theo sau field</a:t>
            </a:r>
            <a:r>
              <a:rPr lang="ja-JP" altLang="en-US">
                <a:latin typeface="Arial" panose="020B0604020202020204" pitchFamily="34" charset="0"/>
              </a:rPr>
              <a:t>（</a:t>
            </a:r>
            <a:r>
              <a:rPr lang="en-US" altLang="ja-JP">
                <a:latin typeface="Arial" panose="020B0604020202020204" pitchFamily="34" charset="0"/>
              </a:rPr>
              <a:t>biến số thể hiện thuộc tính</a:t>
            </a:r>
            <a:r>
              <a:rPr lang="ja-JP" altLang="en-US">
                <a:latin typeface="Arial" panose="020B0604020202020204" pitchFamily="34" charset="0"/>
              </a:rPr>
              <a:t>）</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trí định nghĩa</a:t>
            </a:r>
          </a:p>
        </p:txBody>
      </p:sp>
      <p:sp>
        <p:nvSpPr>
          <p:cNvPr id="547849" name="Text Box 9">
            <a:extLst>
              <a:ext uri="{FF2B5EF4-FFF2-40B4-BE49-F238E27FC236}">
                <a16:creationId xmlns:a16="http://schemas.microsoft.com/office/drawing/2014/main" id="{3819A1DF-EE4E-1474-ED92-685C5C911298}"/>
              </a:ext>
            </a:extLst>
          </p:cNvPr>
          <p:cNvSpPr txBox="1">
            <a:spLocks noChangeArrowheads="1"/>
          </p:cNvSpPr>
          <p:nvPr/>
        </p:nvSpPr>
        <p:spPr bwMode="auto">
          <a:xfrm>
            <a:off x="752475" y="6762750"/>
            <a:ext cx="5654675" cy="4413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ＭＳ ゴシック" panose="020B0609070205080204" pitchFamily="49" charset="-128"/>
              </a:rPr>
              <a:t>　</a:t>
            </a:r>
            <a:r>
              <a:rPr lang="en-US" altLang="ja-JP" b="0">
                <a:ea typeface="ＭＳ ゴシック" panose="020B0609070205080204" pitchFamily="49" charset="-128"/>
              </a:rPr>
              <a:t>Class name() {</a:t>
            </a:r>
          </a:p>
          <a:p>
            <a:pPr lvl="1" algn="just"/>
            <a:r>
              <a:rPr lang="en-US" altLang="ja-JP" b="0">
                <a:ea typeface="ＭＳ ゴシック" panose="020B0609070205080204" pitchFamily="49" charset="-128"/>
              </a:rPr>
              <a:t>}</a:t>
            </a:r>
          </a:p>
        </p:txBody>
      </p:sp>
      <p:sp>
        <p:nvSpPr>
          <p:cNvPr id="547851" name="Text Box 11">
            <a:extLst>
              <a:ext uri="{FF2B5EF4-FFF2-40B4-BE49-F238E27FC236}">
                <a16:creationId xmlns:a16="http://schemas.microsoft.com/office/drawing/2014/main" id="{58AD2E91-CE64-FDF4-0E4F-AC505B3A508E}"/>
              </a:ext>
            </a:extLst>
          </p:cNvPr>
          <p:cNvSpPr txBox="1">
            <a:spLocks noChangeArrowheads="1"/>
          </p:cNvSpPr>
          <p:nvPr/>
        </p:nvSpPr>
        <p:spPr bwMode="auto">
          <a:xfrm>
            <a:off x="777875" y="8359775"/>
            <a:ext cx="5643563" cy="137318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ＭＳ ゴシック" panose="020B0609070205080204" pitchFamily="49" charset="-128"/>
              </a:rPr>
              <a:t>　</a:t>
            </a:r>
            <a:r>
              <a:rPr lang="en-US" altLang="ja-JP" b="0">
                <a:ea typeface="ＭＳ ゴシック" panose="020B0609070205080204" pitchFamily="49" charset="-128"/>
              </a:rPr>
              <a:t>class</a:t>
            </a:r>
            <a:r>
              <a:rPr lang="en-US" altLang="ja-JP" b="0">
                <a:ea typeface="MS UI Gothic" panose="020B0600070205080204" pitchFamily="50" charset="-128"/>
              </a:rPr>
              <a:t>  class name </a:t>
            </a:r>
            <a:r>
              <a:rPr lang="en-US" altLang="ja-JP" b="0">
                <a:ea typeface="ＭＳ ゴシック" panose="020B0609070205080204" pitchFamily="49" charset="-128"/>
              </a:rPr>
              <a:t>{</a:t>
            </a:r>
          </a:p>
          <a:p>
            <a:pPr lvl="1" algn="just"/>
            <a:endParaRPr lang="en-US" altLang="ja-JP"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field</a:t>
            </a:r>
            <a:r>
              <a:rPr lang="ja-JP" altLang="en-US" b="0">
                <a:ea typeface="MS UI Gothic" panose="020B0600070205080204" pitchFamily="50" charset="-128"/>
              </a:rPr>
              <a:t>（</a:t>
            </a:r>
            <a:r>
              <a:rPr lang="en-US" altLang="ja-JP" b="0">
                <a:ea typeface="MS UI Gothic" panose="020B0600070205080204" pitchFamily="50" charset="-128"/>
              </a:rPr>
              <a:t>thuộc tính</a:t>
            </a:r>
            <a:r>
              <a:rPr lang="ja-JP" altLang="en-US" b="0">
                <a:ea typeface="MS UI Gothic" panose="020B0600070205080204" pitchFamily="50" charset="-128"/>
              </a:rPr>
              <a:t>）</a:t>
            </a:r>
          </a:p>
          <a:p>
            <a:pPr lvl="1" algn="just"/>
            <a:endParaRPr lang="ja-JP" altLang="en-US"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constructor</a:t>
            </a:r>
          </a:p>
          <a:p>
            <a:pPr lvl="1" algn="just"/>
            <a:endParaRPr lang="en-US" altLang="ja-JP"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method</a:t>
            </a:r>
          </a:p>
          <a:p>
            <a:pPr lvl="1" algn="just"/>
            <a:r>
              <a:rPr lang="en-US" altLang="ja-JP" b="0">
                <a:ea typeface="ＭＳ ゴシック" panose="020B0609070205080204" pitchFamily="49" charset="-128"/>
              </a:rPr>
              <a:t>}</a:t>
            </a:r>
          </a:p>
        </p:txBody>
      </p:sp>
      <p:grpSp>
        <p:nvGrpSpPr>
          <p:cNvPr id="547855" name="Group 15">
            <a:extLst>
              <a:ext uri="{FF2B5EF4-FFF2-40B4-BE49-F238E27FC236}">
                <a16:creationId xmlns:a16="http://schemas.microsoft.com/office/drawing/2014/main" id="{D5B2445A-B074-CF36-5FAD-7146B4273788}"/>
              </a:ext>
            </a:extLst>
          </p:cNvPr>
          <p:cNvGrpSpPr>
            <a:grpSpLocks/>
          </p:cNvGrpSpPr>
          <p:nvPr/>
        </p:nvGrpSpPr>
        <p:grpSpPr bwMode="auto">
          <a:xfrm>
            <a:off x="1233488" y="8732838"/>
            <a:ext cx="3602037" cy="568325"/>
            <a:chOff x="777" y="5555"/>
            <a:chExt cx="2269" cy="358"/>
          </a:xfrm>
        </p:grpSpPr>
        <p:sp>
          <p:nvSpPr>
            <p:cNvPr id="547852" name="Rectangle 12">
              <a:extLst>
                <a:ext uri="{FF2B5EF4-FFF2-40B4-BE49-F238E27FC236}">
                  <a16:creationId xmlns:a16="http://schemas.microsoft.com/office/drawing/2014/main" id="{B4CCB895-B327-480B-9535-32F3E865816A}"/>
                </a:ext>
              </a:extLst>
            </p:cNvPr>
            <p:cNvSpPr>
              <a:spLocks noChangeArrowheads="1"/>
            </p:cNvSpPr>
            <p:nvPr/>
          </p:nvSpPr>
          <p:spPr bwMode="auto">
            <a:xfrm>
              <a:off x="777" y="5646"/>
              <a:ext cx="1153" cy="176"/>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47853" name="Rectangle 13">
              <a:extLst>
                <a:ext uri="{FF2B5EF4-FFF2-40B4-BE49-F238E27FC236}">
                  <a16:creationId xmlns:a16="http://schemas.microsoft.com/office/drawing/2014/main" id="{CA09FD46-EAEE-4A19-0967-4C3F066A2E22}"/>
                </a:ext>
              </a:extLst>
            </p:cNvPr>
            <p:cNvSpPr>
              <a:spLocks noChangeArrowheads="1"/>
            </p:cNvSpPr>
            <p:nvPr/>
          </p:nvSpPr>
          <p:spPr bwMode="auto">
            <a:xfrm>
              <a:off x="2556" y="5555"/>
              <a:ext cx="490" cy="35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Vị trí định nghĩa</a:t>
              </a:r>
            </a:p>
          </p:txBody>
        </p:sp>
        <p:cxnSp>
          <p:nvCxnSpPr>
            <p:cNvPr id="547854" name="AutoShape 14">
              <a:extLst>
                <a:ext uri="{FF2B5EF4-FFF2-40B4-BE49-F238E27FC236}">
                  <a16:creationId xmlns:a16="http://schemas.microsoft.com/office/drawing/2014/main" id="{2958CF2F-5D82-7DC5-3B86-BE4A54E586C8}"/>
                </a:ext>
              </a:extLst>
            </p:cNvPr>
            <p:cNvCxnSpPr>
              <a:cxnSpLocks noChangeShapeType="1"/>
              <a:stCxn id="547852" idx="3"/>
              <a:endCxn id="547853" idx="1"/>
            </p:cNvCxnSpPr>
            <p:nvPr/>
          </p:nvCxnSpPr>
          <p:spPr bwMode="auto">
            <a:xfrm>
              <a:off x="1938" y="5734"/>
              <a:ext cx="610" cy="0"/>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5794" name="Rectangle 2">
            <a:extLst>
              <a:ext uri="{FF2B5EF4-FFF2-40B4-BE49-F238E27FC236}">
                <a16:creationId xmlns:a16="http://schemas.microsoft.com/office/drawing/2014/main" id="{5E99E39C-9B1F-31D3-3A0A-61B571F3AD54}"/>
              </a:ext>
            </a:extLst>
          </p:cNvPr>
          <p:cNvSpPr>
            <a:spLocks noGrp="1" noChangeArrowheads="1"/>
          </p:cNvSpPr>
          <p:nvPr>
            <p:ph type="body" idx="1"/>
          </p:nvPr>
        </p:nvSpPr>
        <p:spPr>
          <a:xfrm>
            <a:off x="706438" y="682625"/>
            <a:ext cx="5635625" cy="9305925"/>
          </a:xfrm>
        </p:spPr>
        <p:txBody>
          <a:bodyPr/>
          <a:lstStyle/>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en-US">
                <a:latin typeface="Arial" panose="020B0604020202020204" pitchFamily="34" charset="0"/>
              </a:rPr>
              <a:t>※ </a:t>
            </a:r>
            <a:r>
              <a:rPr lang="en-US" altLang="ja-JP">
                <a:latin typeface="Arial" panose="020B0604020202020204" pitchFamily="34" charset="0"/>
              </a:rPr>
              <a:t>Hình thức giống với định nghĩa method</a:t>
            </a:r>
            <a:r>
              <a:rPr lang="en-US" altLang="en-US">
                <a:latin typeface="Arial" panose="020B0604020202020204" pitchFamily="34" charset="0"/>
              </a:rPr>
              <a:t> </a:t>
            </a:r>
            <a:r>
              <a:rPr lang="en-US" altLang="ja-JP">
                <a:latin typeface="Arial" panose="020B0604020202020204" pitchFamily="34" charset="0"/>
              </a:rPr>
              <a:t>ngoại trừ việc tạo bằng tên giống class và không có chỉ định giá trị trả về.</a:t>
            </a:r>
          </a:p>
          <a:p>
            <a:pPr marL="0" indent="0"/>
            <a:r>
              <a:rPr lang="ja-JP" altLang="en-US">
                <a:latin typeface="Arial" panose="020B0604020202020204" pitchFamily="34" charset="0"/>
              </a:rPr>
              <a:t>　　</a:t>
            </a: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【Tham khảo】</a:t>
            </a:r>
            <a:r>
              <a:rPr lang="ja-JP" altLang="en-US">
                <a:latin typeface="Arial" panose="020B0604020202020204" pitchFamily="34" charset="0"/>
              </a:rPr>
              <a:t>　</a:t>
            </a:r>
            <a:r>
              <a:rPr lang="en-US" altLang="ja-JP">
                <a:latin typeface="Arial" panose="020B0604020202020204" pitchFamily="34" charset="0"/>
              </a:rPr>
              <a:t>Định nghĩa nhiều constructor</a:t>
            </a:r>
          </a:p>
          <a:p>
            <a:pPr marL="0" indent="0"/>
            <a:r>
              <a:rPr lang="ja-JP" altLang="en-US">
                <a:latin typeface="Arial" panose="020B0604020202020204" pitchFamily="34" charset="0"/>
              </a:rPr>
              <a:t>　</a:t>
            </a:r>
            <a:r>
              <a:rPr lang="en-US" altLang="ja-JP">
                <a:latin typeface="Arial" panose="020B0604020202020204" pitchFamily="34" charset="0"/>
              </a:rPr>
              <a:t>Method và constructor có thể định nghĩa nhiều hàm có tên giống nhau nếu như kiểu data và số lượng của đối số, trình tự chỉ định là khác nhau. </a:t>
            </a:r>
            <a:r>
              <a:rPr lang="ja-JP" altLang="en-US">
                <a:latin typeface="Arial" panose="020B0604020202020204" pitchFamily="34" charset="0"/>
              </a:rPr>
              <a:t>（</a:t>
            </a:r>
            <a:r>
              <a:rPr lang="en-US" altLang="ja-JP">
                <a:latin typeface="Arial" panose="020B0604020202020204" pitchFamily="34" charset="0"/>
              </a:rPr>
              <a:t>overload</a:t>
            </a:r>
            <a:r>
              <a:rPr lang="ja-JP" altLang="en-US">
                <a:latin typeface="Arial" panose="020B0604020202020204" pitchFamily="34" charset="0"/>
              </a:rPr>
              <a:t>）</a:t>
            </a:r>
            <a:r>
              <a:rPr lang="en-US" altLang="ja-JP">
                <a:latin typeface="Arial" panose="020B0604020202020204" pitchFamily="34" charset="0"/>
              </a:rPr>
              <a:t>. Về overload sẽ học sau.</a:t>
            </a:r>
          </a:p>
          <a:p>
            <a:pPr marL="0" indent="0"/>
            <a:endParaRPr lang="en-US" altLang="ja-JP">
              <a:latin typeface="Arial" panose="020B0604020202020204" pitchFamily="34" charset="0"/>
            </a:endParaRPr>
          </a:p>
          <a:p>
            <a:pPr marL="0" indent="0">
              <a:spcBef>
                <a:spcPct val="50000"/>
              </a:spcBef>
            </a:pPr>
            <a:r>
              <a:rPr lang="en-US" altLang="ja-JP">
                <a:latin typeface="Arial" panose="020B0604020202020204" pitchFamily="34" charset="0"/>
              </a:rPr>
              <a:t>Ví dụ</a:t>
            </a:r>
            <a:r>
              <a:rPr lang="ja-JP" altLang="en-US">
                <a:latin typeface="Arial" panose="020B0604020202020204" pitchFamily="34" charset="0"/>
              </a:rPr>
              <a:t>）</a:t>
            </a:r>
          </a:p>
          <a:p>
            <a:pPr marL="0" indent="0"/>
            <a:endParaRPr lang="ja-JP" altLang="en-US">
              <a:latin typeface="Arial" panose="020B0604020202020204" pitchFamily="34" charset="0"/>
            </a:endParaRPr>
          </a:p>
          <a:p>
            <a:pPr marL="0" indent="0"/>
            <a:endParaRPr lang="en-US" altLang="ja-JP">
              <a:latin typeface="Arial" panose="020B0604020202020204" pitchFamily="34" charset="0"/>
            </a:endParaRPr>
          </a:p>
        </p:txBody>
      </p:sp>
      <p:sp>
        <p:nvSpPr>
          <p:cNvPr id="545795" name="Text Box 3">
            <a:extLst>
              <a:ext uri="{FF2B5EF4-FFF2-40B4-BE49-F238E27FC236}">
                <a16:creationId xmlns:a16="http://schemas.microsoft.com/office/drawing/2014/main" id="{F52D5C01-868D-CF97-FDE4-50F1DBAE8D2A}"/>
              </a:ext>
            </a:extLst>
          </p:cNvPr>
          <p:cNvSpPr txBox="1">
            <a:spLocks noChangeArrowheads="1"/>
          </p:cNvSpPr>
          <p:nvPr/>
        </p:nvSpPr>
        <p:spPr bwMode="auto">
          <a:xfrm>
            <a:off x="747713" y="1165225"/>
            <a:ext cx="5646737" cy="5921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MS UI Gothic" panose="020B0600070205080204" pitchFamily="50" charset="-128"/>
              </a:rPr>
              <a:t>　　</a:t>
            </a:r>
            <a:r>
              <a:rPr lang="en-US" altLang="ja-JP" b="0">
                <a:ea typeface="MS UI Gothic" panose="020B0600070205080204" pitchFamily="50" charset="-128"/>
              </a:rPr>
              <a:t>Class name</a:t>
            </a:r>
            <a:r>
              <a:rPr lang="en-US" altLang="ja-JP" b="0">
                <a:ea typeface="ＭＳ ゴシック" panose="020B0609070205080204" pitchFamily="49" charset="-128"/>
              </a:rPr>
              <a:t>(</a:t>
            </a:r>
            <a:r>
              <a:rPr lang="en-US" altLang="ja-JP" b="0">
                <a:ea typeface="MS UI Gothic" panose="020B0600070205080204" pitchFamily="50" charset="-128"/>
              </a:rPr>
              <a:t> kiểu data  đối số </a:t>
            </a:r>
            <a:r>
              <a:rPr lang="ja-JP" altLang="en-US" b="0">
                <a:ea typeface="MS UI Gothic" panose="020B0600070205080204" pitchFamily="50" charset="-128"/>
              </a:rPr>
              <a:t>１</a:t>
            </a:r>
            <a:r>
              <a:rPr lang="en-US" altLang="ja-JP" b="0">
                <a:ea typeface="ＭＳ ゴシック" panose="020B0609070205080204" pitchFamily="49" charset="-128"/>
              </a:rPr>
              <a:t>,</a:t>
            </a:r>
            <a:r>
              <a:rPr lang="en-US" altLang="ja-JP" b="0">
                <a:ea typeface="MS UI Gothic" panose="020B0600070205080204" pitchFamily="50" charset="-128"/>
              </a:rPr>
              <a:t> …</a:t>
            </a:r>
            <a:r>
              <a:rPr lang="ja-JP" altLang="en-US" b="0">
                <a:ea typeface="MS UI Gothic" panose="020B0600070205080204" pitchFamily="50" charset="-128"/>
              </a:rPr>
              <a:t>　</a:t>
            </a:r>
            <a:r>
              <a:rPr lang="en-US" altLang="ja-JP" b="0">
                <a:ea typeface="ＭＳ ゴシック" panose="020B0609070205080204" pitchFamily="49" charset="-128"/>
              </a:rPr>
              <a:t>) {</a:t>
            </a: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Xử lý khởi tạo khi sinh object</a:t>
            </a:r>
          </a:p>
          <a:p>
            <a:pPr lvl="1" algn="just"/>
            <a:r>
              <a:rPr lang="en-US" altLang="ja-JP" b="0">
                <a:ea typeface="ＭＳ ゴシック" panose="020B0609070205080204" pitchFamily="49" charset="-128"/>
              </a:rPr>
              <a:t>}</a:t>
            </a:r>
          </a:p>
        </p:txBody>
      </p:sp>
      <p:sp>
        <p:nvSpPr>
          <p:cNvPr id="545823" name="Text Box 31">
            <a:extLst>
              <a:ext uri="{FF2B5EF4-FFF2-40B4-BE49-F238E27FC236}">
                <a16:creationId xmlns:a16="http://schemas.microsoft.com/office/drawing/2014/main" id="{DC72AF97-5AD8-8586-6060-0447EE83D6A7}"/>
              </a:ext>
            </a:extLst>
          </p:cNvPr>
          <p:cNvSpPr txBox="1">
            <a:spLocks noChangeArrowheads="1"/>
          </p:cNvSpPr>
          <p:nvPr/>
        </p:nvSpPr>
        <p:spPr bwMode="auto">
          <a:xfrm>
            <a:off x="625475" y="3313113"/>
            <a:ext cx="5783263" cy="38036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buFontTx/>
              <a:buAutoNum type="arabicPeriod"/>
            </a:pPr>
            <a:r>
              <a:rPr lang="en-US" altLang="en-US" b="0">
                <a:latin typeface="ＭＳ ゴシック" panose="020B0609070205080204" pitchFamily="49" charset="-128"/>
                <a:ea typeface="ＭＳ ゴシック" panose="020B0609070205080204" pitchFamily="49" charset="-128"/>
              </a:rPr>
              <a:t>public class Person</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field</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private String lastName;   // </a:t>
            </a:r>
            <a:r>
              <a:rPr lang="en-US" altLang="ja-JP" b="0">
                <a:ea typeface="ＭＳ ゴシック" panose="020B0609070205080204" pitchFamily="49" charset="-128"/>
              </a:rPr>
              <a:t>họ</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private String firstName;  // </a:t>
            </a:r>
            <a:r>
              <a:rPr lang="en-US" altLang="ja-JP" b="0">
                <a:ea typeface="ＭＳ ゴシック" panose="020B0609070205080204" pitchFamily="49" charset="-128"/>
              </a:rPr>
              <a:t>tên</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private int age;           // </a:t>
            </a:r>
            <a:r>
              <a:rPr lang="en-US" altLang="ja-JP" b="0">
                <a:ea typeface="ＭＳ ゴシック" panose="020B0609070205080204" pitchFamily="49" charset="-128"/>
              </a:rPr>
              <a:t>tuổi</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constructor không có đối số</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public Person</a:t>
            </a: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lastName = "姓なし</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Không có họ</a:t>
            </a:r>
            <a:r>
              <a:rPr lang="en-US" altLang="ja-JP" b="0">
                <a:latin typeface="ＭＳ ゴシック" panose="020B0609070205080204" pitchFamily="49" charset="-128"/>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firstName = "名なし</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Không có tên</a:t>
            </a:r>
            <a:r>
              <a:rPr lang="en-US" altLang="ja-JP" b="0">
                <a:latin typeface="ＭＳ ゴシック" panose="020B0609070205080204" pitchFamily="49" charset="-128"/>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age = 20;</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endParaRPr lang="en-US" altLang="ja-JP" b="0">
              <a:latin typeface="ＭＳ ゴシック" panose="020B0609070205080204" pitchFamily="49" charset="-128"/>
              <a:ea typeface="ＭＳ ゴシック" panose="020B0609070205080204" pitchFamily="49" charset="-128"/>
            </a:endParaRPr>
          </a:p>
          <a:p>
            <a:pPr lvl="1" algn="just">
              <a:buFontTx/>
              <a:buAutoNum type="arabicPeriod"/>
            </a:pP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Định nghĩa constructor có đối số</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public Person(String </a:t>
            </a:r>
            <a:r>
              <a:rPr lang="en-US" altLang="ja-JP" b="0">
                <a:latin typeface="ＭＳ ゴシック" panose="020B0609070205080204" pitchFamily="49" charset="-128"/>
                <a:ea typeface="ＭＳ ゴシック" panose="020B0609070205080204" pitchFamily="49" charset="-128"/>
              </a:rPr>
              <a:t>lname, String</a:t>
            </a:r>
            <a:r>
              <a:rPr lang="en-US"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fname, int</a:t>
            </a:r>
            <a:r>
              <a:rPr lang="en-US" altLang="en-US" b="0">
                <a:latin typeface="ＭＳ ゴシック" panose="020B0609070205080204" pitchFamily="49" charset="-128"/>
                <a:ea typeface="ＭＳ ゴシック" panose="020B0609070205080204" pitchFamily="49" charset="-128"/>
              </a:rPr>
              <a:t> a</a:t>
            </a: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lastName = lname;</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firstName = fname;</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age = a;</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thao tác</a:t>
            </a:r>
            <a:r>
              <a:rPr lang="ja-JP" altLang="en-US" b="0">
                <a:ea typeface="ＭＳ ゴシック" panose="020B0609070205080204" pitchFamily="49" charset="-128"/>
              </a:rPr>
              <a:t>（</a:t>
            </a:r>
            <a:r>
              <a:rPr lang="en-US" altLang="ja-JP" b="0">
                <a:ea typeface="ＭＳ ゴシック" panose="020B0609070205080204" pitchFamily="49" charset="-128"/>
              </a:rPr>
              <a:t>method</a:t>
            </a:r>
            <a:r>
              <a:rPr lang="ja-JP" altLang="en-US" b="0">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 </a:t>
            </a:r>
            <a:endParaRPr lang="ja-JP" altLang="en-US" b="0">
              <a:latin typeface="ＭＳ ゴシック" panose="020B0609070205080204" pitchFamily="49" charset="-128"/>
              <a:ea typeface="ＭＳ ゴシック" panose="020B0609070205080204" pitchFamily="49" charset="-128"/>
            </a:endParaRPr>
          </a:p>
          <a:p>
            <a:pPr lvl="1" algn="just">
              <a:buFontTx/>
              <a:buAutoNum type="arabicPeriod"/>
            </a:pPr>
            <a:r>
              <a:rPr lang="en-US" altLang="ja-JP" b="0">
                <a:latin typeface="ＭＳ ゴシック" panose="020B0609070205080204" pitchFamily="49" charset="-128"/>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   </a:t>
            </a:r>
            <a:endParaRPr lang="ja-JP" altLang="ja-JP" b="0">
              <a:latin typeface="ＭＳ ゴシック" panose="020B0609070205080204" pitchFamily="49" charset="-128"/>
              <a:ea typeface="ＭＳ ゴシック" panose="020B0609070205080204" pitchFamily="49" charset="-128"/>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6034" name="AutoShape 2">
            <a:extLst>
              <a:ext uri="{FF2B5EF4-FFF2-40B4-BE49-F238E27FC236}">
                <a16:creationId xmlns:a16="http://schemas.microsoft.com/office/drawing/2014/main" id="{76F4CC4A-BA9D-27FC-12A5-BB7197B463D8}"/>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latin typeface="MS UI Gothic" panose="020B0600070205080204" pitchFamily="50" charset="-128"/>
                <a:ea typeface="MS UI Gothic" panose="020B0600070205080204" pitchFamily="50" charset="-128"/>
              </a:rPr>
              <a:t>　　　　　　　　　　　　　　　</a:t>
            </a:r>
            <a:endParaRPr lang="ja-JP" altLang="en-US" sz="130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r>
              <a:rPr lang="ja-JP" altLang="en-US" b="0">
                <a:latin typeface="MS UI Gothic" panose="020B0600070205080204" pitchFamily="50" charset="-128"/>
                <a:ea typeface="MS UI Gothic" panose="020B0600070205080204" pitchFamily="50" charset="-128"/>
              </a:rPr>
              <a:t>　</a:t>
            </a:r>
            <a:r>
              <a:rPr lang="en-US" altLang="ja-JP" b="0">
                <a:ea typeface="MS UI Gothic" panose="020B0600070205080204" pitchFamily="50" charset="-128"/>
              </a:rPr>
              <a:t>Ở 2.1</a:t>
            </a:r>
            <a:r>
              <a:rPr lang="ja-JP" altLang="en-US" b="0">
                <a:ea typeface="MS UI Gothic" panose="020B0600070205080204" pitchFamily="50" charset="-128"/>
              </a:rPr>
              <a:t>～</a:t>
            </a:r>
            <a:r>
              <a:rPr lang="en-US" altLang="ja-JP" b="0">
                <a:ea typeface="MS UI Gothic" panose="020B0600070205080204" pitchFamily="50" charset="-128"/>
              </a:rPr>
              <a:t>2.4, chúng ta đã học kiến thức cơ bản của định nghĩa class lấy Person class biểu thị người làm ví dụ</a:t>
            </a:r>
            <a:r>
              <a:rPr lang="en-US" altLang="ja-JP" b="0">
                <a:latin typeface="MS UI Gothic" panose="020B0600070205080204" pitchFamily="50" charset="-128"/>
                <a:ea typeface="MS UI Gothic" panose="020B0600070205080204" pitchFamily="50" charset="-128"/>
              </a:rPr>
              <a:t>.</a:t>
            </a:r>
          </a:p>
          <a:p>
            <a:endParaRPr lang="en-US" altLang="ja-JP" b="0">
              <a:latin typeface="MS UI Gothic" panose="020B0600070205080204" pitchFamily="50" charset="-128"/>
              <a:ea typeface="MS UI Gothic" panose="020B0600070205080204" pitchFamily="50" charset="-128"/>
            </a:endParaRPr>
          </a:p>
          <a:p>
            <a:r>
              <a:rPr lang="en-US" altLang="ja-JP" b="0">
                <a:latin typeface="MS UI Gothic" panose="020B0600070205080204" pitchFamily="50" charset="-128"/>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Class định nghĩa</a:t>
            </a:r>
            <a:r>
              <a:rPr lang="ja-JP" altLang="en-US" b="0">
                <a:ea typeface="MS UI Gothic" panose="020B0600070205080204" pitchFamily="50" charset="-128"/>
              </a:rPr>
              <a:t>（</a:t>
            </a:r>
            <a:r>
              <a:rPr lang="en-US" altLang="ja-JP" b="0">
                <a:ea typeface="MS UI Gothic" panose="020B0600070205080204" pitchFamily="50" charset="-128"/>
              </a:rPr>
              <a:t>Person class</a:t>
            </a:r>
            <a:r>
              <a:rPr lang="ja-JP" altLang="en-US" b="0">
                <a:ea typeface="MS UI Gothic" panose="020B0600070205080204" pitchFamily="50" charset="-128"/>
              </a:rPr>
              <a:t>）</a:t>
            </a: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r>
              <a:rPr lang="ja-JP" altLang="en-US" b="0">
                <a:latin typeface="MS UI Gothic" panose="020B0600070205080204" pitchFamily="50" charset="-128"/>
                <a:ea typeface="MS UI Gothic" panose="020B0600070205080204" pitchFamily="50" charset="-128"/>
              </a:rPr>
              <a:t>■　</a:t>
            </a:r>
            <a:r>
              <a:rPr lang="en-US" altLang="ja-JP" b="0">
                <a:ea typeface="MS UI Gothic" panose="020B0600070205080204" pitchFamily="50" charset="-128"/>
              </a:rPr>
              <a:t>Ví dụ implement bằng Java</a:t>
            </a:r>
            <a:r>
              <a:rPr lang="ja-JP" altLang="en-US" b="0">
                <a:ea typeface="MS UI Gothic" panose="020B0600070205080204" pitchFamily="50" charset="-128"/>
              </a:rPr>
              <a:t>（</a:t>
            </a:r>
            <a:r>
              <a:rPr lang="en-US" altLang="ja-JP" b="0">
                <a:ea typeface="MS UI Gothic" panose="020B0600070205080204" pitchFamily="50" charset="-128"/>
              </a:rPr>
              <a:t>Person class</a:t>
            </a:r>
            <a:r>
              <a:rPr lang="ja-JP" altLang="en-US" b="0">
                <a:ea typeface="MS UI Gothic" panose="020B0600070205080204" pitchFamily="50" charset="-128"/>
              </a:rPr>
              <a:t>）</a:t>
            </a:r>
            <a:r>
              <a:rPr lang="ja-JP" altLang="en-US" b="0">
                <a:latin typeface="MS UI Gothic" panose="020B0600070205080204" pitchFamily="50" charset="-128"/>
                <a:ea typeface="MS UI Gothic" panose="020B0600070205080204" pitchFamily="50" charset="-128"/>
              </a:rPr>
              <a:t>　</a:t>
            </a:r>
          </a:p>
          <a:p>
            <a:r>
              <a:rPr lang="ja-JP" altLang="en-US" b="0">
                <a:latin typeface="MS UI Gothic" panose="020B0600070205080204" pitchFamily="50" charset="-128"/>
                <a:ea typeface="MS UI Gothic" panose="020B0600070205080204" pitchFamily="50" charset="-128"/>
              </a:rPr>
              <a:t> </a:t>
            </a:r>
          </a:p>
          <a:p>
            <a:endParaRPr lang="en-US" altLang="ja-JP" b="0">
              <a:latin typeface="MS UI Gothic" panose="020B0600070205080204" pitchFamily="50" charset="-128"/>
              <a:ea typeface="MS UI Gothic" panose="020B0600070205080204" pitchFamily="50" charset="-128"/>
            </a:endParaRPr>
          </a:p>
        </p:txBody>
      </p:sp>
      <p:sp>
        <p:nvSpPr>
          <p:cNvPr id="556035" name="AutoShape 3">
            <a:extLst>
              <a:ext uri="{FF2B5EF4-FFF2-40B4-BE49-F238E27FC236}">
                <a16:creationId xmlns:a16="http://schemas.microsoft.com/office/drawing/2014/main" id="{01F703DD-4975-2B54-D152-FFFE694E05A4}"/>
              </a:ext>
            </a:extLst>
          </p:cNvPr>
          <p:cNvSpPr>
            <a:spLocks noChangeArrowheads="1"/>
          </p:cNvSpPr>
          <p:nvPr/>
        </p:nvSpPr>
        <p:spPr bwMode="auto">
          <a:xfrm>
            <a:off x="603250" y="442913"/>
            <a:ext cx="2932113" cy="366712"/>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Tóm tắt nội dung từ đâu đến đây</a:t>
            </a:r>
          </a:p>
        </p:txBody>
      </p:sp>
      <p:sp>
        <p:nvSpPr>
          <p:cNvPr id="556057" name="Text Box 25">
            <a:extLst>
              <a:ext uri="{FF2B5EF4-FFF2-40B4-BE49-F238E27FC236}">
                <a16:creationId xmlns:a16="http://schemas.microsoft.com/office/drawing/2014/main" id="{0E0F1302-AB82-437E-37CF-67F40ED8182A}"/>
              </a:ext>
            </a:extLst>
          </p:cNvPr>
          <p:cNvSpPr txBox="1">
            <a:spLocks noChangeArrowheads="1"/>
          </p:cNvSpPr>
          <p:nvPr/>
        </p:nvSpPr>
        <p:spPr bwMode="auto">
          <a:xfrm>
            <a:off x="612775" y="3694113"/>
            <a:ext cx="5808663" cy="58102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Định nghĩa </a:t>
            </a:r>
            <a:r>
              <a:rPr lang="en-US" altLang="en-US" b="0">
                <a:ea typeface="ＭＳ ゴシック" panose="020B0609070205080204" pitchFamily="49" charset="-128"/>
              </a:rPr>
              <a:t>Person</a:t>
            </a:r>
            <a:r>
              <a:rPr lang="en-US" altLang="ja-JP" b="0">
                <a:ea typeface="ＭＳ ゴシック" panose="020B0609070205080204" pitchFamily="49" charset="-128"/>
              </a:rPr>
              <a:t> class</a:t>
            </a:r>
            <a:endParaRPr lang="en-US" altLang="en-US" b="0">
              <a:ea typeface="ＭＳ ゴシック" panose="020B0609070205080204" pitchFamily="49" charset="-128"/>
            </a:endParaRPr>
          </a:p>
          <a:p>
            <a:pPr lvl="1" algn="just">
              <a:buFontTx/>
              <a:buAutoNum type="arabicPeriod"/>
            </a:pPr>
            <a:r>
              <a:rPr lang="en-US" altLang="ja-JP" b="0">
                <a:latin typeface="ＭＳ ゴシック" panose="020B0609070205080204" pitchFamily="49" charset="-128"/>
                <a:ea typeface="ＭＳ ゴシック" panose="020B0609070205080204" pitchFamily="49" charset="-128"/>
              </a:rPr>
              <a:t>public class</a:t>
            </a:r>
            <a:r>
              <a:rPr lang="en-US" altLang="en-US" b="0">
                <a:latin typeface="ＭＳ ゴシック" panose="020B0609070205080204" pitchFamily="49" charset="-128"/>
                <a:ea typeface="ＭＳ ゴシック" panose="020B0609070205080204" pitchFamily="49" charset="-128"/>
              </a:rPr>
              <a:t> Person</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field</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private String lastName;   // </a:t>
            </a:r>
            <a:r>
              <a:rPr lang="en-US" altLang="ja-JP" b="0">
                <a:ea typeface="ＭＳ ゴシック" panose="020B0609070205080204" pitchFamily="49" charset="-128"/>
              </a:rPr>
              <a:t>họ</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private String firstName;  // </a:t>
            </a:r>
            <a:r>
              <a:rPr lang="en-US" altLang="ja-JP" b="0">
                <a:ea typeface="ＭＳ ゴシック" panose="020B0609070205080204" pitchFamily="49" charset="-128"/>
              </a:rPr>
              <a:t>tên</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private int age;           // </a:t>
            </a:r>
            <a:r>
              <a:rPr lang="en-US" altLang="ja-JP" b="0">
                <a:ea typeface="ＭＳ ゴシック" panose="020B0609070205080204" pitchFamily="49" charset="-128"/>
              </a:rPr>
              <a:t>tuổi</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constructor</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public Person</a:t>
            </a: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lastName = "姓なし</a:t>
            </a:r>
            <a:r>
              <a:rPr lang="en-US" altLang="ja-JP" b="0">
                <a:ea typeface="ＭＳ ゴシック" panose="020B0609070205080204" pitchFamily="49" charset="-128"/>
              </a:rPr>
              <a:t>(Không có họ</a:t>
            </a:r>
            <a:r>
              <a:rPr lang="en-US" altLang="ja-JP" b="0">
                <a:latin typeface="ＭＳ ゴシック" panose="020B0609070205080204" pitchFamily="49" charset="-128"/>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firstName = "名なし</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Không có tên</a:t>
            </a:r>
            <a:r>
              <a:rPr lang="en-US" altLang="ja-JP" b="0">
                <a:latin typeface="ＭＳ ゴシック" panose="020B0609070205080204" pitchFamily="49" charset="-128"/>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age = 20;</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public Person(String </a:t>
            </a:r>
            <a:r>
              <a:rPr lang="en-US" altLang="ja-JP" b="0">
                <a:latin typeface="ＭＳ ゴシック" panose="020B0609070205080204" pitchFamily="49" charset="-128"/>
                <a:ea typeface="ＭＳ ゴシック" panose="020B0609070205080204" pitchFamily="49" charset="-128"/>
              </a:rPr>
              <a:t>lname, String</a:t>
            </a:r>
            <a:r>
              <a:rPr lang="en-US"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fname, int</a:t>
            </a:r>
            <a:r>
              <a:rPr lang="en-US" altLang="en-US" b="0">
                <a:latin typeface="ＭＳ ゴシック" panose="020B0609070205080204" pitchFamily="49" charset="-128"/>
                <a:ea typeface="ＭＳ ゴシック" panose="020B0609070205080204" pitchFamily="49" charset="-128"/>
              </a:rPr>
              <a:t> a</a:t>
            </a: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lastName = lname;</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firstName = fname;</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age = a;</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method</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public void setLastName(String lname</a:t>
            </a: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lastName = lname;</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public String getFullName</a:t>
            </a: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return (lastName + " " + firstName);</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public void printInfo</a:t>
            </a: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System.out.println(lastName + "さんは</a:t>
            </a:r>
            <a:r>
              <a:rPr lang="en-US" altLang="ja-JP" b="0">
                <a:latin typeface="ＭＳ ゴシック" panose="020B0609070205080204" pitchFamily="49" charset="-128"/>
                <a:ea typeface="ＭＳ ゴシック" panose="020B0609070205080204" pitchFamily="49" charset="-128"/>
              </a:rPr>
              <a:t>(san wa)</a:t>
            </a:r>
            <a:r>
              <a:rPr lang="en-US" altLang="en-US" b="0">
                <a:latin typeface="ＭＳ ゴシック" panose="020B0609070205080204" pitchFamily="49" charset="-128"/>
                <a:ea typeface="ＭＳ ゴシック" panose="020B0609070205080204" pitchFamily="49" charset="-128"/>
              </a:rPr>
              <a:t>" + age + "才です</a:t>
            </a:r>
            <a:r>
              <a:rPr lang="en-US" altLang="ja-JP" b="0">
                <a:latin typeface="ＭＳ ゴシック" panose="020B0609070205080204" pitchFamily="49" charset="-128"/>
                <a:ea typeface="ＭＳ ゴシック" panose="020B0609070205080204" pitchFamily="49" charset="-128"/>
              </a:rPr>
              <a:t>(tuổi)</a:t>
            </a:r>
            <a:r>
              <a:rPr lang="en-US" altLang="en-US" b="0">
                <a:latin typeface="ＭＳ ゴシック" panose="020B0609070205080204" pitchFamily="49" charset="-128"/>
                <a:ea typeface="ＭＳ ゴシック" panose="020B0609070205080204" pitchFamily="49" charset="-128"/>
              </a:rPr>
              <a:t>");</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a:t>
            </a:r>
            <a:endParaRPr lang="ja-JP" altLang="ja-JP" b="0">
              <a:latin typeface="ＭＳ ゴシック" panose="020B0609070205080204" pitchFamily="49" charset="-128"/>
              <a:ea typeface="ＭＳ ゴシック" panose="020B0609070205080204" pitchFamily="49" charset="-128"/>
            </a:endParaRPr>
          </a:p>
        </p:txBody>
      </p:sp>
      <p:grpSp>
        <p:nvGrpSpPr>
          <p:cNvPr id="556058" name="Group 26">
            <a:extLst>
              <a:ext uri="{FF2B5EF4-FFF2-40B4-BE49-F238E27FC236}">
                <a16:creationId xmlns:a16="http://schemas.microsoft.com/office/drawing/2014/main" id="{A72E7F08-D432-0A17-5586-803A96150C6C}"/>
              </a:ext>
            </a:extLst>
          </p:cNvPr>
          <p:cNvGrpSpPr>
            <a:grpSpLocks/>
          </p:cNvGrpSpPr>
          <p:nvPr/>
        </p:nvGrpSpPr>
        <p:grpSpPr bwMode="auto">
          <a:xfrm>
            <a:off x="771525" y="1512888"/>
            <a:ext cx="2678113" cy="1779587"/>
            <a:chOff x="1949" y="901"/>
            <a:chExt cx="1463" cy="1137"/>
          </a:xfrm>
        </p:grpSpPr>
        <p:sp>
          <p:nvSpPr>
            <p:cNvPr id="556052" name="Text Box 20">
              <a:extLst>
                <a:ext uri="{FF2B5EF4-FFF2-40B4-BE49-F238E27FC236}">
                  <a16:creationId xmlns:a16="http://schemas.microsoft.com/office/drawing/2014/main" id="{4F8C522C-4F54-1545-A3E1-C1E05897A870}"/>
                </a:ext>
              </a:extLst>
            </p:cNvPr>
            <p:cNvSpPr txBox="1">
              <a:spLocks noChangeArrowheads="1"/>
            </p:cNvSpPr>
            <p:nvPr/>
          </p:nvSpPr>
          <p:spPr bwMode="auto">
            <a:xfrm>
              <a:off x="1949" y="901"/>
              <a:ext cx="1458" cy="1137"/>
            </a:xfrm>
            <a:prstGeom prst="rect">
              <a:avLst/>
            </a:prstGeom>
            <a:solidFill>
              <a:srgbClr val="FFFFCC"/>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900" b="0">
                  <a:latin typeface="ＭＳ ゴシック" panose="020B0609070205080204" pitchFamily="49" charset="-128"/>
                  <a:ea typeface="ＭＳ ゴシック" panose="020B0609070205080204" pitchFamily="49" charset="-128"/>
                </a:rPr>
                <a:t>Person</a:t>
              </a:r>
            </a:p>
            <a:p>
              <a:pPr algn="just"/>
              <a:endParaRPr lang="en-US" altLang="ja-JP" sz="900" b="0">
                <a:latin typeface="ＭＳ ゴシック" panose="020B0609070205080204" pitchFamily="49" charset="-128"/>
                <a:ea typeface="ＭＳ ゴシック" panose="020B0609070205080204" pitchFamily="49" charset="-128"/>
              </a:endParaRPr>
            </a:p>
            <a:p>
              <a:pPr algn="just"/>
              <a:r>
                <a:rPr lang="ja-JP" altLang="en-US" sz="900" b="0">
                  <a:latin typeface="ＭＳ ゴシック" panose="020B0609070205080204" pitchFamily="49" charset="-128"/>
                  <a:ea typeface="ＭＳ ゴシック" panose="020B0609070205080204" pitchFamily="49" charset="-128"/>
                </a:rPr>
                <a:t>　</a:t>
              </a:r>
              <a:r>
                <a:rPr lang="en-US" altLang="ja-JP" sz="900" b="0">
                  <a:latin typeface="ＭＳ ゴシック" panose="020B0609070205080204" pitchFamily="49" charset="-128"/>
                  <a:ea typeface="ＭＳ ゴシック" panose="020B0609070205080204" pitchFamily="49" charset="-128"/>
                </a:rPr>
                <a:t>lastName:String</a:t>
              </a:r>
            </a:p>
            <a:p>
              <a:pPr algn="just"/>
              <a:r>
                <a:rPr lang="ja-JP" altLang="en-US" sz="900" b="0">
                  <a:latin typeface="ＭＳ ゴシック" panose="020B0609070205080204" pitchFamily="49" charset="-128"/>
                  <a:ea typeface="ＭＳ ゴシック" panose="020B0609070205080204" pitchFamily="49" charset="-128"/>
                </a:rPr>
                <a:t>　</a:t>
              </a:r>
              <a:r>
                <a:rPr lang="en-US" altLang="ja-JP" sz="900" b="0">
                  <a:latin typeface="ＭＳ ゴシック" panose="020B0609070205080204" pitchFamily="49" charset="-128"/>
                  <a:ea typeface="ＭＳ ゴシック" panose="020B0609070205080204" pitchFamily="49" charset="-128"/>
                </a:rPr>
                <a:t>firstName:String</a:t>
              </a:r>
            </a:p>
            <a:p>
              <a:pPr algn="just"/>
              <a:r>
                <a:rPr lang="ja-JP" altLang="en-US" sz="900" b="0">
                  <a:latin typeface="ＭＳ ゴシック" panose="020B0609070205080204" pitchFamily="49" charset="-128"/>
                  <a:ea typeface="ＭＳ ゴシック" panose="020B0609070205080204" pitchFamily="49" charset="-128"/>
                </a:rPr>
                <a:t>　</a:t>
              </a:r>
              <a:r>
                <a:rPr lang="en-US" altLang="ja-JP" sz="900" b="0">
                  <a:latin typeface="ＭＳ ゴシック" panose="020B0609070205080204" pitchFamily="49" charset="-128"/>
                  <a:ea typeface="ＭＳ ゴシック" panose="020B0609070205080204" pitchFamily="49" charset="-128"/>
                </a:rPr>
                <a:t>age:int</a:t>
              </a:r>
            </a:p>
            <a:p>
              <a:pPr algn="just"/>
              <a:endParaRPr lang="en-US" altLang="ja-JP" sz="900" b="0">
                <a:latin typeface="ＭＳ ゴシック" panose="020B0609070205080204" pitchFamily="49" charset="-128"/>
                <a:ea typeface="ＭＳ ゴシック" panose="020B0609070205080204" pitchFamily="49" charset="-128"/>
              </a:endParaRPr>
            </a:p>
            <a:p>
              <a:pPr algn="just">
                <a:spcBef>
                  <a:spcPct val="50000"/>
                </a:spcBef>
              </a:pPr>
              <a:r>
                <a:rPr lang="ja-JP" altLang="en-US" sz="900" b="0">
                  <a:latin typeface="ＭＳ ゴシック" panose="020B0609070205080204" pitchFamily="49" charset="-128"/>
                  <a:ea typeface="ＭＳ ゴシック" panose="020B0609070205080204" pitchFamily="49" charset="-128"/>
                </a:rPr>
                <a:t>　</a:t>
              </a:r>
              <a:r>
                <a:rPr lang="en-US" altLang="ja-JP" sz="900" b="0">
                  <a:latin typeface="ＭＳ ゴシック" panose="020B0609070205080204" pitchFamily="49" charset="-128"/>
                  <a:ea typeface="ＭＳ ゴシック" panose="020B0609070205080204" pitchFamily="49" charset="-128"/>
                </a:rPr>
                <a:t>Person()</a:t>
              </a:r>
            </a:p>
            <a:p>
              <a:pPr algn="just"/>
              <a:r>
                <a:rPr lang="ja-JP" altLang="en-US" sz="900" b="0">
                  <a:latin typeface="ＭＳ ゴシック" panose="020B0609070205080204" pitchFamily="49" charset="-128"/>
                  <a:ea typeface="ＭＳ ゴシック" panose="020B0609070205080204" pitchFamily="49" charset="-128"/>
                </a:rPr>
                <a:t>　</a:t>
              </a:r>
              <a:r>
                <a:rPr lang="en-US" altLang="ja-JP" sz="900" b="0">
                  <a:latin typeface="ＭＳ ゴシック" panose="020B0609070205080204" pitchFamily="49" charset="-128"/>
                  <a:ea typeface="ＭＳ ゴシック" panose="020B0609070205080204" pitchFamily="49" charset="-128"/>
                </a:rPr>
                <a:t>Person(l:String, f:String, a:int)</a:t>
              </a:r>
            </a:p>
            <a:p>
              <a:pPr algn="just"/>
              <a:r>
                <a:rPr lang="ja-JP" altLang="en-US" sz="900" b="0">
                  <a:latin typeface="ＭＳ ゴシック" panose="020B0609070205080204" pitchFamily="49" charset="-128"/>
                  <a:ea typeface="ＭＳ ゴシック" panose="020B0609070205080204" pitchFamily="49" charset="-128"/>
                </a:rPr>
                <a:t>　</a:t>
              </a:r>
              <a:r>
                <a:rPr lang="en-US" altLang="ja-JP" sz="900" b="0">
                  <a:latin typeface="ＭＳ ゴシック" panose="020B0609070205080204" pitchFamily="49" charset="-128"/>
                  <a:ea typeface="ＭＳ ゴシック" panose="020B0609070205080204" pitchFamily="49" charset="-128"/>
                </a:rPr>
                <a:t>setLastName(l:String):void</a:t>
              </a:r>
            </a:p>
            <a:p>
              <a:pPr algn="just"/>
              <a:r>
                <a:rPr lang="ja-JP" altLang="en-US" sz="900" b="0">
                  <a:latin typeface="ＭＳ ゴシック" panose="020B0609070205080204" pitchFamily="49" charset="-128"/>
                  <a:ea typeface="ＭＳ ゴシック" panose="020B0609070205080204" pitchFamily="49" charset="-128"/>
                </a:rPr>
                <a:t>　</a:t>
              </a:r>
              <a:r>
                <a:rPr lang="en-US" altLang="ja-JP" sz="900" b="0">
                  <a:latin typeface="ＭＳ ゴシック" panose="020B0609070205080204" pitchFamily="49" charset="-128"/>
                  <a:ea typeface="ＭＳ ゴシック" panose="020B0609070205080204" pitchFamily="49" charset="-128"/>
                </a:rPr>
                <a:t>getFullName():String</a:t>
              </a:r>
            </a:p>
            <a:p>
              <a:pPr algn="just"/>
              <a:r>
                <a:rPr lang="ja-JP" altLang="en-US" sz="900" b="0">
                  <a:latin typeface="ＭＳ ゴシック" panose="020B0609070205080204" pitchFamily="49" charset="-128"/>
                  <a:ea typeface="ＭＳ ゴシック" panose="020B0609070205080204" pitchFamily="49" charset="-128"/>
                </a:rPr>
                <a:t>　</a:t>
              </a:r>
              <a:r>
                <a:rPr lang="en-US" altLang="ja-JP" sz="900" b="0">
                  <a:latin typeface="ＭＳ ゴシック" panose="020B0609070205080204" pitchFamily="49" charset="-128"/>
                  <a:ea typeface="ＭＳ ゴシック" panose="020B0609070205080204" pitchFamily="49" charset="-128"/>
                </a:rPr>
                <a:t>printInfo():void</a:t>
              </a:r>
            </a:p>
          </p:txBody>
        </p:sp>
        <p:sp>
          <p:nvSpPr>
            <p:cNvPr id="556054" name="Line 22">
              <a:extLst>
                <a:ext uri="{FF2B5EF4-FFF2-40B4-BE49-F238E27FC236}">
                  <a16:creationId xmlns:a16="http://schemas.microsoft.com/office/drawing/2014/main" id="{B64D53DB-1CD1-87C4-0F97-A3B6BD3BB946}"/>
                </a:ext>
              </a:extLst>
            </p:cNvPr>
            <p:cNvSpPr>
              <a:spLocks noChangeShapeType="1"/>
            </p:cNvSpPr>
            <p:nvPr/>
          </p:nvSpPr>
          <p:spPr bwMode="auto">
            <a:xfrm>
              <a:off x="1949" y="1073"/>
              <a:ext cx="1458"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56055" name="Line 23">
              <a:extLst>
                <a:ext uri="{FF2B5EF4-FFF2-40B4-BE49-F238E27FC236}">
                  <a16:creationId xmlns:a16="http://schemas.microsoft.com/office/drawing/2014/main" id="{C6E2B7C2-C392-9BB7-8DCF-8988068B3432}"/>
                </a:ext>
              </a:extLst>
            </p:cNvPr>
            <p:cNvSpPr>
              <a:spLocks noChangeShapeType="1"/>
            </p:cNvSpPr>
            <p:nvPr/>
          </p:nvSpPr>
          <p:spPr bwMode="auto">
            <a:xfrm>
              <a:off x="1954" y="1450"/>
              <a:ext cx="1458"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grpSp>
      <p:sp>
        <p:nvSpPr>
          <p:cNvPr id="556063" name="Rectangle 31">
            <a:extLst>
              <a:ext uri="{FF2B5EF4-FFF2-40B4-BE49-F238E27FC236}">
                <a16:creationId xmlns:a16="http://schemas.microsoft.com/office/drawing/2014/main" id="{185123D5-167B-F584-5594-9BE3D013E2E3}"/>
              </a:ext>
            </a:extLst>
          </p:cNvPr>
          <p:cNvSpPr>
            <a:spLocks noChangeArrowheads="1"/>
          </p:cNvSpPr>
          <p:nvPr/>
        </p:nvSpPr>
        <p:spPr bwMode="auto">
          <a:xfrm>
            <a:off x="1270000" y="4097338"/>
            <a:ext cx="4541838" cy="74136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56068" name="Rectangle 36">
            <a:extLst>
              <a:ext uri="{FF2B5EF4-FFF2-40B4-BE49-F238E27FC236}">
                <a16:creationId xmlns:a16="http://schemas.microsoft.com/office/drawing/2014/main" id="{07160550-27BF-C812-5162-14C1B60780EB}"/>
              </a:ext>
            </a:extLst>
          </p:cNvPr>
          <p:cNvSpPr>
            <a:spLocks noChangeArrowheads="1"/>
          </p:cNvSpPr>
          <p:nvPr/>
        </p:nvSpPr>
        <p:spPr bwMode="auto">
          <a:xfrm>
            <a:off x="1279525" y="4918075"/>
            <a:ext cx="4522788" cy="2017713"/>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56069" name="Rectangle 37">
            <a:extLst>
              <a:ext uri="{FF2B5EF4-FFF2-40B4-BE49-F238E27FC236}">
                <a16:creationId xmlns:a16="http://schemas.microsoft.com/office/drawing/2014/main" id="{449280FE-8019-CFCA-A342-0B3CDC7310AB}"/>
              </a:ext>
            </a:extLst>
          </p:cNvPr>
          <p:cNvSpPr>
            <a:spLocks noChangeArrowheads="1"/>
          </p:cNvSpPr>
          <p:nvPr/>
        </p:nvSpPr>
        <p:spPr bwMode="auto">
          <a:xfrm>
            <a:off x="1263650" y="7054850"/>
            <a:ext cx="4556125" cy="2016125"/>
          </a:xfrm>
          <a:prstGeom prst="rect">
            <a:avLst/>
          </a:prstGeom>
          <a:noFill/>
          <a:ln w="19050" algn="ctr">
            <a:solidFill>
              <a:srgbClr val="673EC1"/>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56073" name="AutoShape 41">
            <a:extLst>
              <a:ext uri="{FF2B5EF4-FFF2-40B4-BE49-F238E27FC236}">
                <a16:creationId xmlns:a16="http://schemas.microsoft.com/office/drawing/2014/main" id="{7FEB2374-AA91-AE1C-B837-E29DCA824339}"/>
              </a:ext>
            </a:extLst>
          </p:cNvPr>
          <p:cNvSpPr>
            <a:spLocks noChangeArrowheads="1"/>
          </p:cNvSpPr>
          <p:nvPr/>
        </p:nvSpPr>
        <p:spPr bwMode="auto">
          <a:xfrm>
            <a:off x="4071938" y="1531938"/>
            <a:ext cx="2465387" cy="1327150"/>
          </a:xfrm>
          <a:prstGeom prst="wedgeRoundRectCallout">
            <a:avLst>
              <a:gd name="adj1" fmla="val -71569"/>
              <a:gd name="adj2" fmla="val 15671"/>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a:latin typeface="MS UI Gothic" panose="020B0600070205080204" pitchFamily="50" charset="-128"/>
              <a:ea typeface="MS UI Gothic" panose="020B0600070205080204" pitchFamily="50" charset="-128"/>
            </a:endParaRPr>
          </a:p>
        </p:txBody>
      </p:sp>
      <p:grpSp>
        <p:nvGrpSpPr>
          <p:cNvPr id="556074" name="Group 42">
            <a:extLst>
              <a:ext uri="{FF2B5EF4-FFF2-40B4-BE49-F238E27FC236}">
                <a16:creationId xmlns:a16="http://schemas.microsoft.com/office/drawing/2014/main" id="{7A60EA64-91F4-C70F-10F0-246B5CD747AC}"/>
              </a:ext>
            </a:extLst>
          </p:cNvPr>
          <p:cNvGrpSpPr>
            <a:grpSpLocks/>
          </p:cNvGrpSpPr>
          <p:nvPr/>
        </p:nvGrpSpPr>
        <p:grpSpPr bwMode="auto">
          <a:xfrm>
            <a:off x="4252913" y="1687513"/>
            <a:ext cx="2216150" cy="939800"/>
            <a:chOff x="1404" y="2823"/>
            <a:chExt cx="995" cy="592"/>
          </a:xfrm>
        </p:grpSpPr>
        <p:sp>
          <p:nvSpPr>
            <p:cNvPr id="556075" name="Text Box 43">
              <a:extLst>
                <a:ext uri="{FF2B5EF4-FFF2-40B4-BE49-F238E27FC236}">
                  <a16:creationId xmlns:a16="http://schemas.microsoft.com/office/drawing/2014/main" id="{81F54E2D-2665-C7E9-B15B-BE705FD2D657}"/>
                </a:ext>
              </a:extLst>
            </p:cNvPr>
            <p:cNvSpPr txBox="1">
              <a:spLocks noChangeArrowheads="1"/>
            </p:cNvSpPr>
            <p:nvPr/>
          </p:nvSpPr>
          <p:spPr bwMode="auto">
            <a:xfrm>
              <a:off x="1404" y="2823"/>
              <a:ext cx="992" cy="592"/>
            </a:xfrm>
            <a:prstGeom prst="rect">
              <a:avLst/>
            </a:prstGeom>
            <a:solidFill>
              <a:schemeClr val="bg1"/>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a:ea typeface="MS UI Gothic" panose="020B0600070205080204" pitchFamily="50" charset="-128"/>
                </a:rPr>
                <a:t>Tên class</a:t>
              </a:r>
            </a:p>
            <a:p>
              <a:pPr algn="just"/>
              <a:endParaRPr lang="en-US" altLang="ja-JP" b="0">
                <a:ea typeface="MS UI Gothic" panose="020B0600070205080204" pitchFamily="50" charset="-128"/>
              </a:endParaRPr>
            </a:p>
            <a:p>
              <a:pPr algn="just"/>
              <a:r>
                <a:rPr lang="ja-JP" altLang="en-US" b="0">
                  <a:ea typeface="MS UI Gothic" panose="020B0600070205080204" pitchFamily="50" charset="-128"/>
                </a:rPr>
                <a:t>　</a:t>
              </a:r>
              <a:r>
                <a:rPr lang="en-US" altLang="ja-JP" b="0">
                  <a:ea typeface="MS UI Gothic" panose="020B0600070205080204" pitchFamily="50" charset="-128"/>
                </a:rPr>
                <a:t>Tên thuộc tính : kiểu data</a:t>
              </a:r>
            </a:p>
            <a:p>
              <a:pPr algn="just"/>
              <a:endParaRPr lang="en-US" altLang="ja-JP" b="0">
                <a:ea typeface="MS UI Gothic" panose="020B0600070205080204" pitchFamily="50" charset="-128"/>
              </a:endParaRPr>
            </a:p>
            <a:p>
              <a:pPr algn="just"/>
              <a:r>
                <a:rPr lang="ja-JP" altLang="en-US" b="0">
                  <a:ea typeface="MS UI Gothic" panose="020B0600070205080204" pitchFamily="50" charset="-128"/>
                </a:rPr>
                <a:t>　</a:t>
              </a:r>
              <a:r>
                <a:rPr lang="en-US" altLang="ja-JP" b="0">
                  <a:ea typeface="MS UI Gothic" panose="020B0600070205080204" pitchFamily="50" charset="-128"/>
                </a:rPr>
                <a:t>Tên thao tác (đối số )</a:t>
              </a:r>
              <a:r>
                <a:rPr lang="ja-JP" altLang="en-US" b="0">
                  <a:ea typeface="MS UI Gothic" panose="020B0600070205080204" pitchFamily="50" charset="-128"/>
                </a:rPr>
                <a:t>：</a:t>
              </a:r>
              <a:r>
                <a:rPr lang="en-US" altLang="ja-JP" b="0">
                  <a:ea typeface="MS UI Gothic" panose="020B0600070205080204" pitchFamily="50" charset="-128"/>
                </a:rPr>
                <a:t>Giá trị trả về</a:t>
              </a:r>
            </a:p>
            <a:p>
              <a:pPr algn="just"/>
              <a:r>
                <a:rPr lang="ja-JP" altLang="en-US" b="0">
                  <a:latin typeface="MS UI Gothic" panose="020B0600070205080204" pitchFamily="50" charset="-128"/>
                  <a:ea typeface="MS UI Gothic" panose="020B0600070205080204" pitchFamily="50" charset="-128"/>
                </a:rPr>
                <a:t>　</a:t>
              </a:r>
              <a:endParaRPr lang="ja-JP" altLang="en-US">
                <a:latin typeface="MS UI Gothic" panose="020B0600070205080204" pitchFamily="50" charset="-128"/>
                <a:ea typeface="MS UI Gothic" panose="020B0600070205080204" pitchFamily="50" charset="-128"/>
              </a:endParaRPr>
            </a:p>
          </p:txBody>
        </p:sp>
        <p:sp>
          <p:nvSpPr>
            <p:cNvPr id="556076" name="Line 44">
              <a:extLst>
                <a:ext uri="{FF2B5EF4-FFF2-40B4-BE49-F238E27FC236}">
                  <a16:creationId xmlns:a16="http://schemas.microsoft.com/office/drawing/2014/main" id="{CAD93F8C-42C8-66CA-0F70-B9EC8AE2388F}"/>
                </a:ext>
              </a:extLst>
            </p:cNvPr>
            <p:cNvSpPr>
              <a:spLocks noChangeShapeType="1"/>
            </p:cNvSpPr>
            <p:nvPr/>
          </p:nvSpPr>
          <p:spPr bwMode="auto">
            <a:xfrm>
              <a:off x="1404" y="2974"/>
              <a:ext cx="992"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56077" name="Line 45">
              <a:extLst>
                <a:ext uri="{FF2B5EF4-FFF2-40B4-BE49-F238E27FC236}">
                  <a16:creationId xmlns:a16="http://schemas.microsoft.com/office/drawing/2014/main" id="{7250F2B5-710E-3030-EC3A-13030337849E}"/>
                </a:ext>
              </a:extLst>
            </p:cNvPr>
            <p:cNvSpPr>
              <a:spLocks noChangeShapeType="1"/>
            </p:cNvSpPr>
            <p:nvPr/>
          </p:nvSpPr>
          <p:spPr bwMode="auto">
            <a:xfrm>
              <a:off x="1407" y="3179"/>
              <a:ext cx="992"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gr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890" name="Rectangle 2">
            <a:extLst>
              <a:ext uri="{FF2B5EF4-FFF2-40B4-BE49-F238E27FC236}">
                <a16:creationId xmlns:a16="http://schemas.microsoft.com/office/drawing/2014/main" id="{5ABFA7CC-F27D-F5CC-12D8-A32A4FADAC40}"/>
              </a:ext>
            </a:extLst>
          </p:cNvPr>
          <p:cNvSpPr>
            <a:spLocks noRot="1" noChangeAspect="1" noChangeArrowheads="1" noTextEdit="1"/>
          </p:cNvSpPr>
          <p:nvPr>
            <p:ph type="sldImg"/>
          </p:nvPr>
        </p:nvSpPr>
        <p:spPr>
          <a:xfrm>
            <a:off x="531813" y="835025"/>
            <a:ext cx="6024562" cy="4170363"/>
          </a:xfrm>
          <a:ln/>
        </p:spPr>
      </p:sp>
      <p:sp>
        <p:nvSpPr>
          <p:cNvPr id="549891" name="Rectangle 3">
            <a:extLst>
              <a:ext uri="{FF2B5EF4-FFF2-40B4-BE49-F238E27FC236}">
                <a16:creationId xmlns:a16="http://schemas.microsoft.com/office/drawing/2014/main" id="{4B0F2C48-8684-2B76-5500-857AE91F4C8B}"/>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Sinh object</a:t>
            </a:r>
          </a:p>
          <a:p>
            <a:pPr marL="0" indent="0"/>
            <a:r>
              <a:rPr lang="ja-JP" altLang="en-US">
                <a:latin typeface="Arial" panose="020B0604020202020204" pitchFamily="34" charset="0"/>
              </a:rPr>
              <a:t>　</a:t>
            </a:r>
            <a:r>
              <a:rPr lang="en-US" altLang="ja-JP">
                <a:latin typeface="Arial" panose="020B0604020202020204" pitchFamily="34" charset="0"/>
              </a:rPr>
              <a:t>Instance(object) của một class sẽ không được tự động sinh ra.</a:t>
            </a:r>
          </a:p>
          <a:p>
            <a:pPr marL="0" indent="0"/>
            <a:r>
              <a:rPr lang="ja-JP" altLang="en-US">
                <a:latin typeface="Arial" panose="020B0604020202020204" pitchFamily="34" charset="0"/>
              </a:rPr>
              <a:t>　</a:t>
            </a:r>
            <a:r>
              <a:rPr lang="en-US" altLang="ja-JP">
                <a:latin typeface="Arial" panose="020B0604020202020204" pitchFamily="34" charset="0"/>
              </a:rPr>
              <a:t>Để sinh object sẽ sử dụng toán tử new.</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Để thao tác object thì cần có biến số.</a:t>
            </a:r>
          </a:p>
          <a:p>
            <a:pPr marL="0" indent="0"/>
            <a:r>
              <a:rPr lang="ja-JP" altLang="en-US">
                <a:latin typeface="Arial" panose="020B0604020202020204" pitchFamily="34" charset="0"/>
              </a:rPr>
              <a:t>　</a:t>
            </a:r>
            <a:r>
              <a:rPr lang="en-US" altLang="ja-JP">
                <a:latin typeface="Arial" panose="020B0604020202020204" pitchFamily="34" charset="0"/>
              </a:rPr>
              <a:t>Kiểu data của biến số để thao tác object thông thường sẽ sử dụng tên class.</a:t>
            </a:r>
          </a:p>
          <a:p>
            <a:pPr marL="0" indent="0"/>
            <a:r>
              <a:rPr lang="ja-JP" altLang="en-US">
                <a:latin typeface="Arial" panose="020B0604020202020204" pitchFamily="34" charset="0"/>
              </a:rPr>
              <a:t>　</a:t>
            </a:r>
            <a:r>
              <a:rPr lang="en-US" altLang="ja-JP">
                <a:latin typeface="Arial" panose="020B0604020202020204" pitchFamily="34" charset="0"/>
              </a:rPr>
              <a:t>Trong biến số để thao tác với object thì không phải object mà là tham chiếu đến object được store.</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 List đối số phải chỉ định những cái tương ứng với định nghĩa của constructor.</a:t>
            </a:r>
          </a:p>
          <a:p>
            <a:pPr marL="0" indent="0"/>
            <a:r>
              <a:rPr lang="en-US" altLang="ja-JP">
                <a:latin typeface="Arial" panose="020B0604020202020204" pitchFamily="34" charset="0"/>
              </a:rPr>
              <a:t>※ Nếu không chỉ định list đối số mà chỉ chỉ định ( ) thôi thì sẽ trở thành gọi ra constructor không có đối số.</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Sinh object và constructor</a:t>
            </a:r>
          </a:p>
          <a:p>
            <a:pPr marL="0" indent="0"/>
            <a:r>
              <a:rPr lang="ja-JP" altLang="en-US">
                <a:latin typeface="Arial" panose="020B0604020202020204" pitchFamily="34" charset="0"/>
              </a:rPr>
              <a:t>　</a:t>
            </a:r>
            <a:r>
              <a:rPr lang="en-US" altLang="ja-JP">
                <a:latin typeface="Arial" panose="020B0604020202020204" pitchFamily="34" charset="0"/>
              </a:rPr>
              <a:t>Khi sử dụng toán tử new để sinh object, ở trong </a:t>
            </a:r>
            <a:r>
              <a:rPr lang="ja-JP" altLang="en-US">
                <a:latin typeface="Arial" panose="020B0604020202020204" pitchFamily="34" charset="0"/>
              </a:rPr>
              <a:t>（ ） </a:t>
            </a:r>
            <a:r>
              <a:rPr lang="en-US" altLang="ja-JP">
                <a:latin typeface="Arial" panose="020B0604020202020204" pitchFamily="34" charset="0"/>
              </a:rPr>
              <a:t>ở đằng sau class name có thể chỉ định giá trị </a:t>
            </a:r>
            <a:r>
              <a:rPr lang="ja-JP" altLang="en-US">
                <a:latin typeface="Arial" panose="020B0604020202020204" pitchFamily="34" charset="0"/>
              </a:rPr>
              <a:t>（</a:t>
            </a:r>
            <a:r>
              <a:rPr lang="en-US" altLang="ja-JP">
                <a:latin typeface="Arial" panose="020B0604020202020204" pitchFamily="34" charset="0"/>
              </a:rPr>
              <a:t>giá trị dùng để setting ban đầu</a:t>
            </a:r>
            <a:r>
              <a:rPr lang="ja-JP" altLang="en-US">
                <a:latin typeface="Arial" panose="020B0604020202020204" pitchFamily="34" charset="0"/>
              </a:rPr>
              <a:t>） </a:t>
            </a:r>
            <a:r>
              <a:rPr lang="en-US" altLang="ja-JP">
                <a:latin typeface="Arial" panose="020B0604020202020204" pitchFamily="34" charset="0"/>
              </a:rPr>
              <a:t>muốn truyền vào constructor như một đối số.</a:t>
            </a:r>
          </a:p>
          <a:p>
            <a:pPr marL="0" indent="0"/>
            <a:r>
              <a:rPr lang="ja-JP" altLang="en-US">
                <a:latin typeface="Arial" panose="020B0604020202020204" pitchFamily="34" charset="0"/>
              </a:rPr>
              <a:t>　</a:t>
            </a:r>
            <a:r>
              <a:rPr lang="en-US" altLang="ja-JP">
                <a:latin typeface="Arial" panose="020B0604020202020204" pitchFamily="34" charset="0"/>
              </a:rPr>
              <a:t>Sau khi sinh object, các constructor có đối số phù hợp sẽ được tự động gọi ra.</a:t>
            </a:r>
          </a:p>
          <a:p>
            <a:pPr marL="0" indent="0"/>
            <a:r>
              <a:rPr lang="ja-JP" altLang="en-US">
                <a:latin typeface="Arial" panose="020B0604020202020204" pitchFamily="34" charset="0"/>
              </a:rPr>
              <a:t>　</a:t>
            </a:r>
            <a:r>
              <a:rPr lang="en-US" altLang="ja-JP">
                <a:latin typeface="Arial" panose="020B0604020202020204" pitchFamily="34" charset="0"/>
              </a:rPr>
              <a:t>Nếu không có constructor mà kiểu data và số lượng của đối số thống nhất thì sẽ bị compile error.</a:t>
            </a:r>
          </a:p>
          <a:p>
            <a:pPr marL="0" indent="0"/>
            <a:r>
              <a:rPr lang="ja-JP" altLang="en-US">
                <a:latin typeface="Arial" panose="020B0604020202020204" pitchFamily="34" charset="0"/>
              </a:rPr>
              <a:t>　　</a:t>
            </a:r>
          </a:p>
        </p:txBody>
      </p:sp>
      <p:sp>
        <p:nvSpPr>
          <p:cNvPr id="549894" name="Text Box 6">
            <a:extLst>
              <a:ext uri="{FF2B5EF4-FFF2-40B4-BE49-F238E27FC236}">
                <a16:creationId xmlns:a16="http://schemas.microsoft.com/office/drawing/2014/main" id="{7E501D39-AAF7-BBD8-F0C1-54DF6BBFA614}"/>
              </a:ext>
            </a:extLst>
          </p:cNvPr>
          <p:cNvSpPr txBox="1">
            <a:spLocks noChangeArrowheads="1"/>
          </p:cNvSpPr>
          <p:nvPr/>
        </p:nvSpPr>
        <p:spPr bwMode="auto">
          <a:xfrm>
            <a:off x="777875" y="6815138"/>
            <a:ext cx="5643563" cy="3905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en-US" b="0">
                <a:ea typeface="MS UI Gothic" panose="020B0600070205080204" pitchFamily="50" charset="-128"/>
              </a:rPr>
              <a:t>　</a:t>
            </a:r>
            <a:r>
              <a:rPr lang="en-US" altLang="ja-JP" b="0">
                <a:ea typeface="MS UI Gothic" panose="020B0600070205080204" pitchFamily="50" charset="-128"/>
              </a:rPr>
              <a:t>class name</a:t>
            </a:r>
            <a:r>
              <a:rPr lang="ja-JP" altLang="en-US" b="0">
                <a:ea typeface="MS UI Gothic" panose="020B0600070205080204" pitchFamily="50" charset="-128"/>
              </a:rPr>
              <a:t>　　</a:t>
            </a:r>
            <a:r>
              <a:rPr lang="en-US" altLang="ja-JP" b="0">
                <a:ea typeface="MS UI Gothic" panose="020B0600070205080204" pitchFamily="50" charset="-128"/>
              </a:rPr>
              <a:t>Tên biến ;</a:t>
            </a:r>
          </a:p>
          <a:p>
            <a:pPr lvl="1" algn="just"/>
            <a:r>
              <a:rPr lang="ja-JP" altLang="en-US" b="0">
                <a:ea typeface="MS UI Gothic" panose="020B0600070205080204" pitchFamily="50" charset="-128"/>
              </a:rPr>
              <a:t>　</a:t>
            </a:r>
            <a:r>
              <a:rPr lang="en-US" altLang="ja-JP" b="0">
                <a:ea typeface="MS UI Gothic" panose="020B0600070205080204" pitchFamily="50" charset="-128"/>
              </a:rPr>
              <a:t>Tên biến</a:t>
            </a:r>
            <a:r>
              <a:rPr lang="en-US" altLang="ja-JP" b="0">
                <a:ea typeface="ＭＳ ゴシック" panose="020B0609070205080204" pitchFamily="49" charset="-128"/>
              </a:rPr>
              <a:t> = new class name(list đối số);</a:t>
            </a:r>
          </a:p>
        </p:txBody>
      </p:sp>
      <p:sp>
        <p:nvSpPr>
          <p:cNvPr id="549895" name="Text Box 7">
            <a:extLst>
              <a:ext uri="{FF2B5EF4-FFF2-40B4-BE49-F238E27FC236}">
                <a16:creationId xmlns:a16="http://schemas.microsoft.com/office/drawing/2014/main" id="{BABCC492-6F40-D227-458B-ED9B9954C4F6}"/>
              </a:ext>
            </a:extLst>
          </p:cNvPr>
          <p:cNvSpPr txBox="1">
            <a:spLocks noChangeArrowheads="1"/>
          </p:cNvSpPr>
          <p:nvPr/>
        </p:nvSpPr>
        <p:spPr bwMode="auto">
          <a:xfrm>
            <a:off x="777875" y="7265988"/>
            <a:ext cx="5643563" cy="2571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en-US" b="0">
                <a:ea typeface="MS UI Gothic" panose="020B0600070205080204" pitchFamily="50" charset="-128"/>
              </a:rPr>
              <a:t>　</a:t>
            </a:r>
            <a:r>
              <a:rPr lang="en-US" altLang="ja-JP" b="0">
                <a:ea typeface="MS UI Gothic" panose="020B0600070205080204" pitchFamily="50" charset="-128"/>
              </a:rPr>
              <a:t>Class name</a:t>
            </a:r>
            <a:r>
              <a:rPr lang="ja-JP" altLang="en-US" b="0">
                <a:ea typeface="MS UI Gothic" panose="020B0600070205080204" pitchFamily="50" charset="-128"/>
              </a:rPr>
              <a:t>　　</a:t>
            </a:r>
            <a:r>
              <a:rPr lang="en-US" altLang="ja-JP" b="0">
                <a:ea typeface="MS UI Gothic" panose="020B0600070205080204" pitchFamily="50" charset="-128"/>
              </a:rPr>
              <a:t>tên biến</a:t>
            </a:r>
            <a:r>
              <a:rPr lang="en-US" altLang="ja-JP" b="0">
                <a:ea typeface="ＭＳ ゴシック" panose="020B0609070205080204" pitchFamily="49" charset="-128"/>
              </a:rPr>
              <a:t> = new class name(list đối số);</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8082" name="Rectangle 2">
            <a:extLst>
              <a:ext uri="{FF2B5EF4-FFF2-40B4-BE49-F238E27FC236}">
                <a16:creationId xmlns:a16="http://schemas.microsoft.com/office/drawing/2014/main" id="{99F2F2B9-BF70-8855-EDC4-2E4A0E7A92FB}"/>
              </a:ext>
            </a:extLst>
          </p:cNvPr>
          <p:cNvSpPr>
            <a:spLocks noGrp="1" noChangeArrowheads="1"/>
          </p:cNvSpPr>
          <p:nvPr>
            <p:ph type="body" idx="1"/>
          </p:nvPr>
        </p:nvSpPr>
        <p:spPr>
          <a:xfrm>
            <a:off x="706438" y="682625"/>
            <a:ext cx="5635625" cy="9305925"/>
          </a:xfrm>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Định nghĩa constructor và sinh object</a:t>
            </a: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 định nghĩa class có constructor】</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 sinh object sử dụng constructor】</a:t>
            </a:r>
          </a:p>
          <a:p>
            <a:pPr marL="0" indent="0"/>
            <a:endParaRPr lang="en-US" altLang="ja-JP">
              <a:latin typeface="Arial" panose="020B0604020202020204" pitchFamily="34" charset="0"/>
            </a:endParaRPr>
          </a:p>
        </p:txBody>
      </p:sp>
      <p:grpSp>
        <p:nvGrpSpPr>
          <p:cNvPr id="558135" name="Group 55">
            <a:extLst>
              <a:ext uri="{FF2B5EF4-FFF2-40B4-BE49-F238E27FC236}">
                <a16:creationId xmlns:a16="http://schemas.microsoft.com/office/drawing/2014/main" id="{2901687C-5F8B-8682-B279-02D9BEF29D54}"/>
              </a:ext>
            </a:extLst>
          </p:cNvPr>
          <p:cNvGrpSpPr>
            <a:grpSpLocks/>
          </p:cNvGrpSpPr>
          <p:nvPr/>
        </p:nvGrpSpPr>
        <p:grpSpPr bwMode="auto">
          <a:xfrm>
            <a:off x="649288" y="1266825"/>
            <a:ext cx="5783262" cy="6146800"/>
            <a:chOff x="409" y="798"/>
            <a:chExt cx="3643" cy="3872"/>
          </a:xfrm>
        </p:grpSpPr>
        <p:sp>
          <p:nvSpPr>
            <p:cNvPr id="558133" name="Text Box 53">
              <a:extLst>
                <a:ext uri="{FF2B5EF4-FFF2-40B4-BE49-F238E27FC236}">
                  <a16:creationId xmlns:a16="http://schemas.microsoft.com/office/drawing/2014/main" id="{9BC133CA-3BE5-E72C-5D65-5E9D3BB3934B}"/>
                </a:ext>
              </a:extLst>
            </p:cNvPr>
            <p:cNvSpPr txBox="1">
              <a:spLocks noChangeArrowheads="1"/>
            </p:cNvSpPr>
            <p:nvPr/>
          </p:nvSpPr>
          <p:spPr bwMode="auto">
            <a:xfrm>
              <a:off x="409" y="798"/>
              <a:ext cx="3643" cy="239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buFontTx/>
                <a:buAutoNum type="arabicPeriod"/>
              </a:pPr>
              <a:r>
                <a:rPr lang="en-US" altLang="ja-JP" b="0">
                  <a:latin typeface="ＭＳ ゴシック" panose="020B0609070205080204" pitchFamily="49" charset="-128"/>
                  <a:ea typeface="ＭＳ ゴシック" panose="020B0609070205080204" pitchFamily="49" charset="-128"/>
                </a:rPr>
                <a:t>public class</a:t>
              </a:r>
              <a:r>
                <a:rPr lang="en-US" altLang="en-US" b="0">
                  <a:latin typeface="ＭＳ ゴシック" panose="020B0609070205080204" pitchFamily="49" charset="-128"/>
                  <a:ea typeface="ＭＳ ゴシック" panose="020B0609070205080204" pitchFamily="49" charset="-128"/>
                </a:rPr>
                <a:t> Person</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field</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private String lastName;   // </a:t>
              </a:r>
              <a:r>
                <a:rPr lang="en-US" altLang="ja-JP" b="0">
                  <a:ea typeface="ＭＳ ゴシック" panose="020B0609070205080204" pitchFamily="49" charset="-128"/>
                </a:rPr>
                <a:t>họ</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private String firstName;  // </a:t>
              </a:r>
              <a:r>
                <a:rPr lang="en-US" altLang="ja-JP" b="0">
                  <a:ea typeface="ＭＳ ゴシック" panose="020B0609070205080204" pitchFamily="49" charset="-128"/>
                </a:rPr>
                <a:t>tên</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private int age;           // </a:t>
              </a:r>
              <a:r>
                <a:rPr lang="en-US" altLang="ja-JP" b="0">
                  <a:ea typeface="ＭＳ ゴシック" panose="020B0609070205080204" pitchFamily="49" charset="-128"/>
                </a:rPr>
                <a:t>tuổi</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constructor không có đối số</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public Person</a:t>
              </a: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lastName = "姓なし</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Không có họ</a:t>
              </a:r>
              <a:r>
                <a:rPr lang="en-US" altLang="ja-JP" b="0">
                  <a:latin typeface="ＭＳ ゴシック" panose="020B0609070205080204" pitchFamily="49" charset="-128"/>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firstName = "名なし</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Không có tên</a:t>
              </a:r>
              <a:r>
                <a:rPr lang="en-US" altLang="ja-JP" b="0">
                  <a:latin typeface="ＭＳ ゴシック" panose="020B0609070205080204" pitchFamily="49" charset="-128"/>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age = 20;</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endParaRPr lang="en-US" altLang="ja-JP" b="0">
                <a:latin typeface="ＭＳ ゴシック" panose="020B0609070205080204" pitchFamily="49" charset="-128"/>
                <a:ea typeface="ＭＳ ゴシック" panose="020B0609070205080204" pitchFamily="49" charset="-128"/>
              </a:endParaRPr>
            </a:p>
            <a:p>
              <a:pPr lvl="1" algn="just">
                <a:buFontTx/>
                <a:buAutoNum type="arabicPeriod"/>
              </a:pP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 </a:t>
              </a:r>
              <a:r>
                <a:rPr lang="en-US" altLang="ja-JP" b="0">
                  <a:ea typeface="MS UI Gothic" panose="020B0600070205080204" pitchFamily="50" charset="-128"/>
                </a:rPr>
                <a:t>Định nghĩa constructor có đối số</a:t>
              </a:r>
              <a:endParaRPr lang="en-US" altLang="en-US" b="0">
                <a:latin typeface="ＭＳ ゴシック" panose="020B0609070205080204" pitchFamily="49" charset="-128"/>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public Person(String </a:t>
              </a:r>
              <a:r>
                <a:rPr lang="en-US" altLang="ja-JP" b="0">
                  <a:latin typeface="ＭＳ ゴシック" panose="020B0609070205080204" pitchFamily="49" charset="-128"/>
                  <a:ea typeface="ＭＳ ゴシック" panose="020B0609070205080204" pitchFamily="49" charset="-128"/>
                </a:rPr>
                <a:t>lname, String</a:t>
              </a:r>
              <a:r>
                <a:rPr lang="en-US"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fname, int</a:t>
              </a:r>
              <a:r>
                <a:rPr lang="en-US" altLang="en-US" b="0">
                  <a:latin typeface="ＭＳ ゴシック" panose="020B0609070205080204" pitchFamily="49" charset="-128"/>
                  <a:ea typeface="ＭＳ ゴシック" panose="020B0609070205080204" pitchFamily="49" charset="-128"/>
                </a:rPr>
                <a:t> a</a:t>
              </a: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lastName = lname;</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firstName = fname;</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age = a;</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thao tác</a:t>
              </a:r>
              <a:r>
                <a:rPr lang="ja-JP" altLang="en-US" b="0">
                  <a:ea typeface="ＭＳ ゴシック" panose="020B0609070205080204" pitchFamily="49" charset="-128"/>
                </a:rPr>
                <a:t>（</a:t>
              </a:r>
              <a:r>
                <a:rPr lang="en-US" altLang="ja-JP" b="0">
                  <a:ea typeface="ＭＳ ゴシック" panose="020B0609070205080204" pitchFamily="49" charset="-128"/>
                </a:rPr>
                <a:t>method</a:t>
              </a:r>
              <a:r>
                <a:rPr lang="ja-JP" altLang="en-US" b="0">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 </a:t>
              </a:r>
              <a:endParaRPr lang="ja-JP" altLang="en-US" b="0">
                <a:latin typeface="ＭＳ ゴシック" panose="020B0609070205080204" pitchFamily="49" charset="-128"/>
                <a:ea typeface="ＭＳ ゴシック" panose="020B0609070205080204" pitchFamily="49" charset="-128"/>
              </a:endParaRPr>
            </a:p>
            <a:p>
              <a:pPr lvl="1" algn="just">
                <a:buFontTx/>
                <a:buAutoNum type="arabicPeriod"/>
              </a:pPr>
              <a:r>
                <a:rPr lang="en-US" altLang="ja-JP" b="0">
                  <a:latin typeface="ＭＳ ゴシック" panose="020B0609070205080204" pitchFamily="49" charset="-128"/>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   </a:t>
              </a:r>
              <a:endParaRPr lang="ja-JP" altLang="ja-JP" b="0">
                <a:latin typeface="ＭＳ ゴシック" panose="020B0609070205080204" pitchFamily="49" charset="-128"/>
                <a:ea typeface="ＭＳ ゴシック" panose="020B0609070205080204" pitchFamily="49" charset="-128"/>
              </a:endParaRPr>
            </a:p>
          </p:txBody>
        </p:sp>
        <p:sp>
          <p:nvSpPr>
            <p:cNvPr id="558083" name="Rectangle 3">
              <a:extLst>
                <a:ext uri="{FF2B5EF4-FFF2-40B4-BE49-F238E27FC236}">
                  <a16:creationId xmlns:a16="http://schemas.microsoft.com/office/drawing/2014/main" id="{A420DA13-0706-086B-99A2-A362B0FF3D39}"/>
                </a:ext>
              </a:extLst>
            </p:cNvPr>
            <p:cNvSpPr>
              <a:spLocks noChangeArrowheads="1"/>
            </p:cNvSpPr>
            <p:nvPr/>
          </p:nvSpPr>
          <p:spPr bwMode="auto">
            <a:xfrm>
              <a:off x="460" y="3401"/>
              <a:ext cx="3585" cy="1269"/>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Bef>
                  <a:spcPct val="10000"/>
                </a:spcBef>
                <a:buFont typeface="Wingdings" panose="05000000000000000000" pitchFamily="2" charset="2"/>
                <a:buNone/>
              </a:pPr>
              <a:r>
                <a:rPr lang="en-US"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Sinh object sử dụng constructor không có đối số</a:t>
              </a:r>
            </a:p>
            <a:p>
              <a:pPr lvl="1">
                <a:spcBef>
                  <a:spcPct val="10000"/>
                </a:spcBef>
                <a:buFont typeface="Wingdings" panose="05000000000000000000" pitchFamily="2" charset="2"/>
                <a:buNone/>
              </a:pPr>
              <a:r>
                <a:rPr lang="en-US" altLang="ja-JP" b="0">
                  <a:latin typeface="ＭＳ ゴシック" panose="020B0609070205080204" pitchFamily="49" charset="-128"/>
                  <a:ea typeface="ＭＳ ゴシック" panose="020B0609070205080204" pitchFamily="49" charset="-128"/>
                </a:rPr>
                <a:t>Person  personA;</a:t>
              </a:r>
            </a:p>
            <a:p>
              <a:pPr lvl="1">
                <a:spcBef>
                  <a:spcPct val="10000"/>
                </a:spcBef>
                <a:buFont typeface="Wingdings" panose="05000000000000000000" pitchFamily="2" charset="2"/>
                <a:buNone/>
              </a:pPr>
              <a:r>
                <a:rPr lang="en-US" altLang="ja-JP" b="0">
                  <a:latin typeface="ＭＳ ゴシック" panose="020B0609070205080204" pitchFamily="49" charset="-128"/>
                  <a:ea typeface="ＭＳ ゴシック" panose="020B0609070205080204" pitchFamily="49" charset="-128"/>
                </a:rPr>
                <a:t>personA = new Person();</a:t>
              </a:r>
            </a:p>
            <a:p>
              <a:pPr lvl="1">
                <a:spcBef>
                  <a:spcPct val="10000"/>
                </a:spcBef>
                <a:buFont typeface="Wingdings" panose="05000000000000000000" pitchFamily="2" charset="2"/>
                <a:buNone/>
              </a:pPr>
              <a:endParaRPr lang="en-US" altLang="ja-JP" b="0">
                <a:latin typeface="ＭＳ ゴシック" panose="020B0609070205080204" pitchFamily="49" charset="-128"/>
                <a:ea typeface="ＭＳ ゴシック" panose="020B0609070205080204" pitchFamily="49" charset="-128"/>
              </a:endParaRPr>
            </a:p>
            <a:p>
              <a:pPr lvl="1">
                <a:spcBef>
                  <a:spcPct val="10000"/>
                </a:spcBef>
                <a:buFont typeface="Wingdings" panose="05000000000000000000" pitchFamily="2" charset="2"/>
                <a:buNone/>
              </a:pPr>
              <a:r>
                <a:rPr lang="en-US"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Gọi ra method.v.v...</a:t>
              </a:r>
            </a:p>
            <a:p>
              <a:pPr lvl="1">
                <a:spcBef>
                  <a:spcPct val="10000"/>
                </a:spcBef>
                <a:buFont typeface="Wingdings" panose="05000000000000000000" pitchFamily="2" charset="2"/>
                <a:buNone/>
              </a:pPr>
              <a:endParaRPr lang="en-US" altLang="ja-JP" b="0">
                <a:latin typeface="ＭＳ ゴシック" panose="020B0609070205080204" pitchFamily="49" charset="-128"/>
                <a:ea typeface="ＭＳ ゴシック" panose="020B0609070205080204" pitchFamily="49" charset="-128"/>
              </a:endParaRPr>
            </a:p>
            <a:p>
              <a:pPr lvl="1">
                <a:spcBef>
                  <a:spcPct val="10000"/>
                </a:spcBef>
                <a:buFont typeface="Wingdings" panose="05000000000000000000" pitchFamily="2" charset="2"/>
                <a:buNone/>
              </a:pPr>
              <a:r>
                <a:rPr lang="en-US" altLang="ja-JP" b="0">
                  <a:latin typeface="ＭＳ ゴシック" panose="020B0609070205080204" pitchFamily="49" charset="-128"/>
                  <a:ea typeface="ＭＳ ゴシック" panose="020B0609070205080204" pitchFamily="49" charset="-128"/>
                </a:rPr>
                <a:t>// </a:t>
              </a:r>
              <a:r>
                <a:rPr lang="en-US" altLang="ja-JP" b="0">
                  <a:ea typeface="MS UI Gothic" panose="020B0600070205080204" pitchFamily="50" charset="-128"/>
                </a:rPr>
                <a:t>Sinh object sử dụng constructor có đối số</a:t>
              </a:r>
              <a:endParaRPr lang="en-US" altLang="ja-JP" b="0">
                <a:latin typeface="ＭＳ ゴシック" panose="020B0609070205080204" pitchFamily="49" charset="-128"/>
                <a:ea typeface="ＭＳ ゴシック" panose="020B0609070205080204" pitchFamily="49" charset="-128"/>
              </a:endParaRPr>
            </a:p>
            <a:p>
              <a:pPr lvl="1">
                <a:spcBef>
                  <a:spcPct val="10000"/>
                </a:spcBef>
                <a:buFont typeface="Wingdings" panose="05000000000000000000" pitchFamily="2" charset="2"/>
                <a:buNone/>
              </a:pPr>
              <a:r>
                <a:rPr lang="en-US" altLang="ja-JP" b="0">
                  <a:latin typeface="ＭＳ ゴシック" panose="020B0609070205080204" pitchFamily="49" charset="-128"/>
                  <a:ea typeface="ＭＳ ゴシック" panose="020B0609070205080204" pitchFamily="49" charset="-128"/>
                </a:rPr>
                <a:t>Person personB = new Person("</a:t>
              </a:r>
              <a:r>
                <a:rPr lang="ja-JP" altLang="en-US" b="0">
                  <a:latin typeface="ＭＳ ゴシック" panose="020B0609070205080204" pitchFamily="49" charset="-128"/>
                  <a:ea typeface="ＭＳ ゴシック" panose="020B0609070205080204" pitchFamily="49" charset="-128"/>
                </a:rPr>
                <a:t>山田</a:t>
              </a:r>
              <a:r>
                <a:rPr lang="en-US" altLang="ja-JP" b="0">
                  <a:latin typeface="ＭＳ ゴシック" panose="020B0609070205080204" pitchFamily="49" charset="-128"/>
                  <a:ea typeface="ＭＳ ゴシック" panose="020B0609070205080204" pitchFamily="49" charset="-128"/>
                </a:rPr>
                <a:t>(Yamada)", "</a:t>
              </a:r>
              <a:r>
                <a:rPr lang="ja-JP" altLang="en-US" b="0">
                  <a:latin typeface="ＭＳ ゴシック" panose="020B0609070205080204" pitchFamily="49" charset="-128"/>
                  <a:ea typeface="ＭＳ ゴシック" panose="020B0609070205080204" pitchFamily="49" charset="-128"/>
                </a:rPr>
                <a:t>一郎</a:t>
              </a:r>
              <a:r>
                <a:rPr lang="en-US" altLang="ja-JP" b="0">
                  <a:latin typeface="ＭＳ ゴシック" panose="020B0609070205080204" pitchFamily="49" charset="-128"/>
                  <a:ea typeface="ＭＳ ゴシック" panose="020B0609070205080204" pitchFamily="49" charset="-128"/>
                </a:rPr>
                <a:t>(ichiro)", 25);</a:t>
              </a:r>
            </a:p>
            <a:p>
              <a:pPr lvl="1">
                <a:spcBef>
                  <a:spcPct val="10000"/>
                </a:spcBef>
                <a:buFont typeface="Wingdings" panose="05000000000000000000" pitchFamily="2" charset="2"/>
                <a:buNone/>
              </a:pPr>
              <a:endParaRPr lang="en-US" altLang="ja-JP" b="0">
                <a:latin typeface="ＭＳ ゴシック" panose="020B0609070205080204" pitchFamily="49" charset="-128"/>
                <a:ea typeface="ＭＳ ゴシック" panose="020B0609070205080204" pitchFamily="49" charset="-128"/>
              </a:endParaRPr>
            </a:p>
            <a:p>
              <a:pPr lvl="1">
                <a:spcBef>
                  <a:spcPct val="10000"/>
                </a:spcBef>
                <a:buFont typeface="Wingdings" panose="05000000000000000000" pitchFamily="2" charset="2"/>
                <a:buNone/>
              </a:pPr>
              <a:r>
                <a:rPr lang="en-US" altLang="ja-JP" b="0">
                  <a:latin typeface="ＭＳ ゴシック" panose="020B0609070205080204" pitchFamily="49" charset="-128"/>
                  <a:ea typeface="ＭＳ ゴシック" panose="020B0609070205080204" pitchFamily="49" charset="-128"/>
                </a:rPr>
                <a:t>//</a:t>
              </a:r>
              <a:r>
                <a:rPr lang="ja-JP" altLang="en-US"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Gọi ra method.v.v...</a:t>
              </a:r>
            </a:p>
          </p:txBody>
        </p:sp>
        <p:sp>
          <p:nvSpPr>
            <p:cNvPr id="558085" name="Rectangle 5">
              <a:extLst>
                <a:ext uri="{FF2B5EF4-FFF2-40B4-BE49-F238E27FC236}">
                  <a16:creationId xmlns:a16="http://schemas.microsoft.com/office/drawing/2014/main" id="{B7AB6475-F23A-F3C7-16AA-DB5F78CA27FD}"/>
                </a:ext>
              </a:extLst>
            </p:cNvPr>
            <p:cNvSpPr>
              <a:spLocks noChangeArrowheads="1"/>
            </p:cNvSpPr>
            <p:nvPr/>
          </p:nvSpPr>
          <p:spPr bwMode="auto">
            <a:xfrm>
              <a:off x="516" y="3652"/>
              <a:ext cx="2642" cy="117"/>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558086" name="AutoShape 6">
              <a:extLst>
                <a:ext uri="{FF2B5EF4-FFF2-40B4-BE49-F238E27FC236}">
                  <a16:creationId xmlns:a16="http://schemas.microsoft.com/office/drawing/2014/main" id="{A0BCFE8A-153A-0F7D-538C-F5F7FE3486F5}"/>
                </a:ext>
              </a:extLst>
            </p:cNvPr>
            <p:cNvCxnSpPr>
              <a:cxnSpLocks noChangeShapeType="1"/>
              <a:stCxn id="558085" idx="3"/>
              <a:endCxn id="558088" idx="3"/>
            </p:cNvCxnSpPr>
            <p:nvPr/>
          </p:nvCxnSpPr>
          <p:spPr bwMode="auto">
            <a:xfrm flipH="1" flipV="1">
              <a:off x="2991" y="1776"/>
              <a:ext cx="175" cy="1935"/>
            </a:xfrm>
            <a:prstGeom prst="bentConnector3">
              <a:avLst>
                <a:gd name="adj1" fmla="val -77713"/>
              </a:avLst>
            </a:prstGeom>
            <a:noFill/>
            <a:ln w="1905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58087" name="Rectangle 7">
              <a:extLst>
                <a:ext uri="{FF2B5EF4-FFF2-40B4-BE49-F238E27FC236}">
                  <a16:creationId xmlns:a16="http://schemas.microsoft.com/office/drawing/2014/main" id="{E2292010-70CD-791F-41B4-C31948C4FAE2}"/>
                </a:ext>
              </a:extLst>
            </p:cNvPr>
            <p:cNvSpPr>
              <a:spLocks noChangeArrowheads="1"/>
            </p:cNvSpPr>
            <p:nvPr/>
          </p:nvSpPr>
          <p:spPr bwMode="auto">
            <a:xfrm>
              <a:off x="859" y="2144"/>
              <a:ext cx="2146" cy="610"/>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58088" name="Rectangle 8">
              <a:extLst>
                <a:ext uri="{FF2B5EF4-FFF2-40B4-BE49-F238E27FC236}">
                  <a16:creationId xmlns:a16="http://schemas.microsoft.com/office/drawing/2014/main" id="{37371370-1FA8-58EA-C368-55D1268C6BF6}"/>
                </a:ext>
              </a:extLst>
            </p:cNvPr>
            <p:cNvSpPr>
              <a:spLocks noChangeArrowheads="1"/>
            </p:cNvSpPr>
            <p:nvPr/>
          </p:nvSpPr>
          <p:spPr bwMode="auto">
            <a:xfrm>
              <a:off x="856" y="1482"/>
              <a:ext cx="2127" cy="58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58089" name="Rectangle 9">
              <a:extLst>
                <a:ext uri="{FF2B5EF4-FFF2-40B4-BE49-F238E27FC236}">
                  <a16:creationId xmlns:a16="http://schemas.microsoft.com/office/drawing/2014/main" id="{F3FA5DD7-A5BA-2563-D2F8-C769A37D416E}"/>
                </a:ext>
              </a:extLst>
            </p:cNvPr>
            <p:cNvSpPr>
              <a:spLocks noChangeArrowheads="1"/>
            </p:cNvSpPr>
            <p:nvPr/>
          </p:nvSpPr>
          <p:spPr bwMode="auto">
            <a:xfrm>
              <a:off x="513" y="4187"/>
              <a:ext cx="2642" cy="116"/>
            </a:xfrm>
            <a:prstGeom prst="rect">
              <a:avLst/>
            </a:prstGeom>
            <a:noFill/>
            <a:ln w="1905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558090" name="AutoShape 10">
              <a:extLst>
                <a:ext uri="{FF2B5EF4-FFF2-40B4-BE49-F238E27FC236}">
                  <a16:creationId xmlns:a16="http://schemas.microsoft.com/office/drawing/2014/main" id="{87F3AAE6-0838-0023-B727-AC8F5DD5FDEB}"/>
                </a:ext>
              </a:extLst>
            </p:cNvPr>
            <p:cNvCxnSpPr>
              <a:cxnSpLocks noChangeShapeType="1"/>
              <a:stCxn id="558089" idx="3"/>
              <a:endCxn id="558087" idx="3"/>
            </p:cNvCxnSpPr>
            <p:nvPr/>
          </p:nvCxnSpPr>
          <p:spPr bwMode="auto">
            <a:xfrm flipH="1" flipV="1">
              <a:off x="3013" y="2449"/>
              <a:ext cx="150" cy="1796"/>
            </a:xfrm>
            <a:prstGeom prst="bentConnector3">
              <a:avLst>
                <a:gd name="adj1" fmla="val -278667"/>
              </a:avLst>
            </a:prstGeom>
            <a:noFill/>
            <a:ln w="19050">
              <a:solidFill>
                <a:srgbClr val="FF8519"/>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558099" name="Cloud">
            <a:extLst>
              <a:ext uri="{FF2B5EF4-FFF2-40B4-BE49-F238E27FC236}">
                <a16:creationId xmlns:a16="http://schemas.microsoft.com/office/drawing/2014/main" id="{CD5923A6-E11E-B592-A2ED-D83960B2573C}"/>
              </a:ext>
            </a:extLst>
          </p:cNvPr>
          <p:cNvSpPr>
            <a:spLocks noChangeAspect="1" noEditPoints="1" noChangeArrowheads="1"/>
          </p:cNvSpPr>
          <p:nvPr/>
        </p:nvSpPr>
        <p:spPr bwMode="auto">
          <a:xfrm>
            <a:off x="1009650" y="8143875"/>
            <a:ext cx="2659063" cy="1736725"/>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lIns="91410" tIns="9716" rIns="91410" bIns="971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ea typeface="MS UI Gothic" panose="020B0600070205080204" pitchFamily="50" charset="-128"/>
            </a:endParaRPr>
          </a:p>
        </p:txBody>
      </p:sp>
      <p:sp>
        <p:nvSpPr>
          <p:cNvPr id="558100" name="Text Box 20">
            <a:extLst>
              <a:ext uri="{FF2B5EF4-FFF2-40B4-BE49-F238E27FC236}">
                <a16:creationId xmlns:a16="http://schemas.microsoft.com/office/drawing/2014/main" id="{6BCA6735-074E-8494-DAD2-926C2B0FD500}"/>
              </a:ext>
            </a:extLst>
          </p:cNvPr>
          <p:cNvSpPr txBox="1">
            <a:spLocks noChangeArrowheads="1"/>
          </p:cNvSpPr>
          <p:nvPr/>
        </p:nvSpPr>
        <p:spPr bwMode="auto">
          <a:xfrm>
            <a:off x="1635125" y="8401050"/>
            <a:ext cx="1622425" cy="1154113"/>
          </a:xfrm>
          <a:prstGeom prst="rect">
            <a:avLst/>
          </a:prstGeom>
          <a:noFill/>
          <a:ln w="12700">
            <a:solidFill>
              <a:srgbClr val="80808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ja-JP" altLang="ja-JP" sz="800" b="0">
                <a:latin typeface="ＭＳ ゴシック" panose="020B0609070205080204" pitchFamily="49" charset="-128"/>
                <a:ea typeface="ＭＳ ゴシック" panose="020B0609070205080204" pitchFamily="49" charset="-128"/>
              </a:rPr>
              <a:t>　lastName</a:t>
            </a:r>
          </a:p>
          <a:p>
            <a:pPr algn="just"/>
            <a:r>
              <a:rPr lang="ja-JP" altLang="ja-JP" sz="800" b="0">
                <a:latin typeface="ＭＳ ゴシック" panose="020B0609070205080204" pitchFamily="49" charset="-128"/>
                <a:ea typeface="ＭＳ ゴシック" panose="020B0609070205080204" pitchFamily="49" charset="-128"/>
              </a:rPr>
              <a:t>　firstName </a:t>
            </a:r>
            <a:endParaRPr lang="en-US" altLang="ja-JP" sz="800" b="0">
              <a:latin typeface="ＭＳ ゴシック" panose="020B0609070205080204" pitchFamily="49" charset="-128"/>
              <a:ea typeface="ＭＳ ゴシック" panose="020B0609070205080204" pitchFamily="49" charset="-128"/>
            </a:endParaRPr>
          </a:p>
          <a:p>
            <a:pPr algn="just"/>
            <a:r>
              <a:rPr lang="ja-JP" altLang="ja-JP" sz="800" b="0">
                <a:latin typeface="ＭＳ ゴシック" panose="020B0609070205080204" pitchFamily="49" charset="-128"/>
                <a:ea typeface="ＭＳ ゴシック" panose="020B0609070205080204" pitchFamily="49" charset="-128"/>
              </a:rPr>
              <a:t>　age</a:t>
            </a:r>
            <a:endParaRPr lang="en-US" altLang="ja-JP" sz="800" b="0">
              <a:latin typeface="ＭＳ ゴシック" panose="020B0609070205080204" pitchFamily="49" charset="-128"/>
              <a:ea typeface="ＭＳ ゴシック" panose="020B0609070205080204" pitchFamily="49" charset="-128"/>
            </a:endParaRPr>
          </a:p>
          <a:p>
            <a:pPr algn="just"/>
            <a:endParaRPr lang="ja-JP" altLang="ja-JP" sz="800" b="0">
              <a:latin typeface="ＭＳ ゴシック" panose="020B0609070205080204" pitchFamily="49" charset="-128"/>
              <a:ea typeface="ＭＳ ゴシック" panose="020B0609070205080204" pitchFamily="49" charset="-128"/>
            </a:endParaRP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setLastName(l:String):void</a:t>
            </a:r>
          </a:p>
          <a:p>
            <a:pPr algn="just"/>
            <a:r>
              <a:rPr lang="ja-JP" altLang="ja-JP" sz="800" b="0">
                <a:latin typeface="ＭＳ ゴシック" panose="020B0609070205080204" pitchFamily="49" charset="-128"/>
                <a:ea typeface="ＭＳ ゴシック" panose="020B0609070205080204" pitchFamily="49" charset="-128"/>
              </a:rPr>
              <a:t>　getFullName():String</a:t>
            </a:r>
          </a:p>
          <a:p>
            <a:pPr algn="just"/>
            <a:r>
              <a:rPr lang="ja-JP" altLang="ja-JP" sz="800" b="0">
                <a:latin typeface="ＭＳ ゴシック" panose="020B0609070205080204" pitchFamily="49" charset="-128"/>
                <a:ea typeface="ＭＳ ゴシック" panose="020B0609070205080204" pitchFamily="49" charset="-128"/>
              </a:rPr>
              <a:t>　printInfo():void</a:t>
            </a:r>
          </a:p>
        </p:txBody>
      </p:sp>
      <p:sp>
        <p:nvSpPr>
          <p:cNvPr id="558101" name="Line 21">
            <a:extLst>
              <a:ext uri="{FF2B5EF4-FFF2-40B4-BE49-F238E27FC236}">
                <a16:creationId xmlns:a16="http://schemas.microsoft.com/office/drawing/2014/main" id="{CE5AB4DE-DB73-F733-8A74-4A9B92CE9FFA}"/>
              </a:ext>
            </a:extLst>
          </p:cNvPr>
          <p:cNvSpPr>
            <a:spLocks noChangeShapeType="1"/>
          </p:cNvSpPr>
          <p:nvPr/>
        </p:nvSpPr>
        <p:spPr bwMode="auto">
          <a:xfrm>
            <a:off x="1641475" y="8909050"/>
            <a:ext cx="1616075" cy="1588"/>
          </a:xfrm>
          <a:prstGeom prst="line">
            <a:avLst/>
          </a:prstGeom>
          <a:noFill/>
          <a:ln w="12700">
            <a:solidFill>
              <a:srgbClr val="80808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58102" name="Rectangle 22">
            <a:extLst>
              <a:ext uri="{FF2B5EF4-FFF2-40B4-BE49-F238E27FC236}">
                <a16:creationId xmlns:a16="http://schemas.microsoft.com/office/drawing/2014/main" id="{49BD6558-2B22-F15C-5134-200D4DE6D326}"/>
              </a:ext>
            </a:extLst>
          </p:cNvPr>
          <p:cNvSpPr>
            <a:spLocks noChangeArrowheads="1"/>
          </p:cNvSpPr>
          <p:nvPr/>
        </p:nvSpPr>
        <p:spPr bwMode="auto">
          <a:xfrm>
            <a:off x="2392363" y="8737600"/>
            <a:ext cx="598487" cy="127000"/>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80000"/>
              </a:lnSpc>
            </a:pPr>
            <a:r>
              <a:rPr lang="en-US" altLang="ja-JP" sz="800" b="0">
                <a:latin typeface="MS UI Gothic" panose="020B0600070205080204" pitchFamily="50" charset="-128"/>
                <a:ea typeface="MS UI Gothic" panose="020B0600070205080204" pitchFamily="50" charset="-128"/>
              </a:rPr>
              <a:t>20</a:t>
            </a:r>
            <a:endParaRPr lang="en-US" altLang="ja-JP" sz="800">
              <a:latin typeface="MS UI Gothic" panose="020B0600070205080204" pitchFamily="50" charset="-128"/>
              <a:ea typeface="MS UI Gothic" panose="020B0600070205080204" pitchFamily="50" charset="-128"/>
            </a:endParaRPr>
          </a:p>
        </p:txBody>
      </p:sp>
      <p:sp>
        <p:nvSpPr>
          <p:cNvPr id="558103" name="Rectangle 23">
            <a:extLst>
              <a:ext uri="{FF2B5EF4-FFF2-40B4-BE49-F238E27FC236}">
                <a16:creationId xmlns:a16="http://schemas.microsoft.com/office/drawing/2014/main" id="{C6ACF8F2-4C69-8487-32AB-4444FEAF1CB3}"/>
              </a:ext>
            </a:extLst>
          </p:cNvPr>
          <p:cNvSpPr>
            <a:spLocks noChangeArrowheads="1"/>
          </p:cNvSpPr>
          <p:nvPr/>
        </p:nvSpPr>
        <p:spPr bwMode="auto">
          <a:xfrm>
            <a:off x="2392363" y="8597900"/>
            <a:ext cx="595312" cy="112713"/>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80000"/>
              </a:lnSpc>
            </a:pPr>
            <a:r>
              <a:rPr lang="en-US" altLang="ja-JP" sz="800" b="0">
                <a:ea typeface="MS UI Gothic" panose="020B0600070205080204" pitchFamily="50" charset="-128"/>
              </a:rPr>
              <a:t>Ko có tên</a:t>
            </a:r>
          </a:p>
        </p:txBody>
      </p:sp>
      <p:sp>
        <p:nvSpPr>
          <p:cNvPr id="558104" name="Rectangle 24">
            <a:extLst>
              <a:ext uri="{FF2B5EF4-FFF2-40B4-BE49-F238E27FC236}">
                <a16:creationId xmlns:a16="http://schemas.microsoft.com/office/drawing/2014/main" id="{3FDFFD2F-5003-51CD-32E0-4B24C9F5E99D}"/>
              </a:ext>
            </a:extLst>
          </p:cNvPr>
          <p:cNvSpPr>
            <a:spLocks noChangeArrowheads="1"/>
          </p:cNvSpPr>
          <p:nvPr/>
        </p:nvSpPr>
        <p:spPr bwMode="auto">
          <a:xfrm>
            <a:off x="2392363" y="8432800"/>
            <a:ext cx="601662" cy="142875"/>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90000"/>
              </a:lnSpc>
            </a:pPr>
            <a:r>
              <a:rPr lang="en-US" altLang="ja-JP" sz="800">
                <a:ea typeface="MS UI Gothic" panose="020B0600070205080204" pitchFamily="50" charset="-128"/>
              </a:rPr>
              <a:t>Ko có họ</a:t>
            </a:r>
          </a:p>
        </p:txBody>
      </p:sp>
      <p:sp>
        <p:nvSpPr>
          <p:cNvPr id="558107" name="Text Box 27">
            <a:extLst>
              <a:ext uri="{FF2B5EF4-FFF2-40B4-BE49-F238E27FC236}">
                <a16:creationId xmlns:a16="http://schemas.microsoft.com/office/drawing/2014/main" id="{47ADA2C3-3676-A340-DFC7-9A17EAE1D2D4}"/>
              </a:ext>
            </a:extLst>
          </p:cNvPr>
          <p:cNvSpPr txBox="1">
            <a:spLocks noChangeArrowheads="1"/>
          </p:cNvSpPr>
          <p:nvPr/>
        </p:nvSpPr>
        <p:spPr bwMode="auto">
          <a:xfrm>
            <a:off x="685800" y="7646988"/>
            <a:ext cx="823913" cy="4191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Biến</a:t>
            </a:r>
            <a:r>
              <a:rPr lang="ja-JP" altLang="en-US" b="0">
                <a:latin typeface="MS UI Gothic" panose="020B0600070205080204" pitchFamily="50" charset="-128"/>
                <a:ea typeface="MS UI Gothic" panose="020B0600070205080204" pitchFamily="50" charset="-128"/>
              </a:rPr>
              <a:t>　</a:t>
            </a:r>
            <a:r>
              <a:rPr lang="en-US" altLang="ja-JP" b="0">
                <a:latin typeface="MS UI Gothic" panose="020B0600070205080204" pitchFamily="50" charset="-128"/>
                <a:ea typeface="MS UI Gothic" panose="020B0600070205080204" pitchFamily="50" charset="-128"/>
              </a:rPr>
              <a:t>personA</a:t>
            </a:r>
            <a:endParaRPr lang="en-US" altLang="ja-JP">
              <a:latin typeface="MS UI Gothic" panose="020B0600070205080204" pitchFamily="50" charset="-128"/>
              <a:ea typeface="MS UI Gothic" panose="020B0600070205080204" pitchFamily="50" charset="-128"/>
            </a:endParaRPr>
          </a:p>
        </p:txBody>
      </p:sp>
      <p:grpSp>
        <p:nvGrpSpPr>
          <p:cNvPr id="558138" name="Group 58">
            <a:extLst>
              <a:ext uri="{FF2B5EF4-FFF2-40B4-BE49-F238E27FC236}">
                <a16:creationId xmlns:a16="http://schemas.microsoft.com/office/drawing/2014/main" id="{3ECE8C0C-1BCE-B50A-8F1D-F2797A20EEDF}"/>
              </a:ext>
            </a:extLst>
          </p:cNvPr>
          <p:cNvGrpSpPr>
            <a:grpSpLocks/>
          </p:cNvGrpSpPr>
          <p:nvPr/>
        </p:nvGrpSpPr>
        <p:grpSpPr bwMode="auto">
          <a:xfrm>
            <a:off x="4160838" y="8105775"/>
            <a:ext cx="2395537" cy="1736725"/>
            <a:chOff x="2621" y="5106"/>
            <a:chExt cx="1509" cy="1094"/>
          </a:xfrm>
        </p:grpSpPr>
        <p:sp>
          <p:nvSpPr>
            <p:cNvPr id="558111" name="Cloud">
              <a:extLst>
                <a:ext uri="{FF2B5EF4-FFF2-40B4-BE49-F238E27FC236}">
                  <a16:creationId xmlns:a16="http://schemas.microsoft.com/office/drawing/2014/main" id="{90EE1ADE-020E-04C2-D051-1051F6EDB9CE}"/>
                </a:ext>
              </a:extLst>
            </p:cNvPr>
            <p:cNvSpPr>
              <a:spLocks noChangeAspect="1" noEditPoints="1" noChangeArrowheads="1"/>
            </p:cNvSpPr>
            <p:nvPr/>
          </p:nvSpPr>
          <p:spPr bwMode="auto">
            <a:xfrm>
              <a:off x="2621" y="5106"/>
              <a:ext cx="1509" cy="1094"/>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lIns="91410" tIns="9716" rIns="91410" bIns="971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ea typeface="MS UI Gothic" panose="020B0600070205080204" pitchFamily="50" charset="-128"/>
              </a:endParaRPr>
            </a:p>
          </p:txBody>
        </p:sp>
        <p:grpSp>
          <p:nvGrpSpPr>
            <p:cNvPr id="558137" name="Group 57">
              <a:extLst>
                <a:ext uri="{FF2B5EF4-FFF2-40B4-BE49-F238E27FC236}">
                  <a16:creationId xmlns:a16="http://schemas.microsoft.com/office/drawing/2014/main" id="{DAFAC65D-3878-CBDF-0D3C-74F770944094}"/>
                </a:ext>
              </a:extLst>
            </p:cNvPr>
            <p:cNvGrpSpPr>
              <a:grpSpLocks/>
            </p:cNvGrpSpPr>
            <p:nvPr/>
          </p:nvGrpSpPr>
          <p:grpSpPr bwMode="auto">
            <a:xfrm>
              <a:off x="2865" y="5262"/>
              <a:ext cx="976" cy="736"/>
              <a:chOff x="2865" y="5262"/>
              <a:chExt cx="976" cy="736"/>
            </a:xfrm>
          </p:grpSpPr>
          <p:sp>
            <p:nvSpPr>
              <p:cNvPr id="558113" name="Text Box 33">
                <a:extLst>
                  <a:ext uri="{FF2B5EF4-FFF2-40B4-BE49-F238E27FC236}">
                    <a16:creationId xmlns:a16="http://schemas.microsoft.com/office/drawing/2014/main" id="{ABF1C7A1-4F39-8452-D99D-220D70B77E23}"/>
                  </a:ext>
                </a:extLst>
              </p:cNvPr>
              <p:cNvSpPr txBox="1">
                <a:spLocks noChangeArrowheads="1"/>
              </p:cNvSpPr>
              <p:nvPr/>
            </p:nvSpPr>
            <p:spPr bwMode="auto">
              <a:xfrm>
                <a:off x="2865" y="5262"/>
                <a:ext cx="976" cy="736"/>
              </a:xfrm>
              <a:prstGeom prst="rect">
                <a:avLst/>
              </a:prstGeom>
              <a:noFill/>
              <a:ln w="12700">
                <a:solidFill>
                  <a:srgbClr val="80808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ja-JP" altLang="ja-JP" sz="800" b="0">
                    <a:latin typeface="ＭＳ ゴシック" panose="020B0609070205080204" pitchFamily="49" charset="-128"/>
                    <a:ea typeface="ＭＳ ゴシック" panose="020B0609070205080204" pitchFamily="49" charset="-128"/>
                  </a:rPr>
                  <a:t>　lastName</a:t>
                </a:r>
              </a:p>
              <a:p>
                <a:pPr algn="just"/>
                <a:r>
                  <a:rPr lang="ja-JP" altLang="ja-JP" sz="800" b="0">
                    <a:latin typeface="ＭＳ ゴシック" panose="020B0609070205080204" pitchFamily="49" charset="-128"/>
                    <a:ea typeface="ＭＳ ゴシック" panose="020B0609070205080204" pitchFamily="49" charset="-128"/>
                  </a:rPr>
                  <a:t>　firstName </a:t>
                </a:r>
                <a:endParaRPr lang="en-US" altLang="ja-JP" sz="800" b="0">
                  <a:latin typeface="ＭＳ ゴシック" panose="020B0609070205080204" pitchFamily="49" charset="-128"/>
                  <a:ea typeface="ＭＳ ゴシック" panose="020B0609070205080204" pitchFamily="49" charset="-128"/>
                </a:endParaRPr>
              </a:p>
              <a:p>
                <a:pPr algn="just"/>
                <a:r>
                  <a:rPr lang="ja-JP" altLang="ja-JP" sz="800" b="0">
                    <a:latin typeface="ＭＳ ゴシック" panose="020B0609070205080204" pitchFamily="49" charset="-128"/>
                    <a:ea typeface="ＭＳ ゴシック" panose="020B0609070205080204" pitchFamily="49" charset="-128"/>
                  </a:rPr>
                  <a:t>　age</a:t>
                </a:r>
                <a:endParaRPr lang="en-US" altLang="ja-JP" sz="800" b="0">
                  <a:latin typeface="ＭＳ ゴシック" panose="020B0609070205080204" pitchFamily="49" charset="-128"/>
                  <a:ea typeface="ＭＳ ゴシック" panose="020B0609070205080204" pitchFamily="49" charset="-128"/>
                </a:endParaRPr>
              </a:p>
              <a:p>
                <a:pPr algn="just"/>
                <a:endParaRPr lang="ja-JP" altLang="ja-JP" sz="800" b="0">
                  <a:latin typeface="ＭＳ ゴシック" panose="020B0609070205080204" pitchFamily="49" charset="-128"/>
                  <a:ea typeface="ＭＳ ゴシック" panose="020B0609070205080204" pitchFamily="49" charset="-128"/>
                </a:endParaRP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setLastName(l:String):void</a:t>
                </a:r>
              </a:p>
              <a:p>
                <a:pPr algn="just"/>
                <a:r>
                  <a:rPr lang="ja-JP" altLang="ja-JP" sz="800" b="0">
                    <a:latin typeface="ＭＳ ゴシック" panose="020B0609070205080204" pitchFamily="49" charset="-128"/>
                    <a:ea typeface="ＭＳ ゴシック" panose="020B0609070205080204" pitchFamily="49" charset="-128"/>
                  </a:rPr>
                  <a:t>　getFullName():String</a:t>
                </a:r>
              </a:p>
              <a:p>
                <a:pPr algn="just"/>
                <a:r>
                  <a:rPr lang="ja-JP" altLang="ja-JP" sz="800" b="0">
                    <a:latin typeface="ＭＳ ゴシック" panose="020B0609070205080204" pitchFamily="49" charset="-128"/>
                    <a:ea typeface="ＭＳ ゴシック" panose="020B0609070205080204" pitchFamily="49" charset="-128"/>
                  </a:rPr>
                  <a:t>　printInfo():void</a:t>
                </a:r>
              </a:p>
            </p:txBody>
          </p:sp>
          <p:sp>
            <p:nvSpPr>
              <p:cNvPr id="558114" name="Line 34">
                <a:extLst>
                  <a:ext uri="{FF2B5EF4-FFF2-40B4-BE49-F238E27FC236}">
                    <a16:creationId xmlns:a16="http://schemas.microsoft.com/office/drawing/2014/main" id="{F36CF4AC-72C2-4866-A089-1C4600213F3C}"/>
                  </a:ext>
                </a:extLst>
              </p:cNvPr>
              <p:cNvSpPr>
                <a:spLocks noChangeShapeType="1"/>
              </p:cNvSpPr>
              <p:nvPr/>
            </p:nvSpPr>
            <p:spPr bwMode="auto">
              <a:xfrm>
                <a:off x="2869" y="5567"/>
                <a:ext cx="972" cy="0"/>
              </a:xfrm>
              <a:prstGeom prst="line">
                <a:avLst/>
              </a:prstGeom>
              <a:noFill/>
              <a:ln w="12700">
                <a:solidFill>
                  <a:srgbClr val="80808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58115" name="Rectangle 35">
                <a:extLst>
                  <a:ext uri="{FF2B5EF4-FFF2-40B4-BE49-F238E27FC236}">
                    <a16:creationId xmlns:a16="http://schemas.microsoft.com/office/drawing/2014/main" id="{971D9409-B9DE-0E20-3D28-6C0DB2422131}"/>
                  </a:ext>
                </a:extLst>
              </p:cNvPr>
              <p:cNvSpPr>
                <a:spLocks noChangeArrowheads="1"/>
              </p:cNvSpPr>
              <p:nvPr/>
            </p:nvSpPr>
            <p:spPr bwMode="auto">
              <a:xfrm>
                <a:off x="3289" y="5473"/>
                <a:ext cx="280" cy="81"/>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80000"/>
                  </a:lnSpc>
                </a:pPr>
                <a:r>
                  <a:rPr lang="en-US" altLang="ja-JP" sz="800" b="0">
                    <a:latin typeface="MS UI Gothic" panose="020B0600070205080204" pitchFamily="50" charset="-128"/>
                    <a:ea typeface="MS UI Gothic" panose="020B0600070205080204" pitchFamily="50" charset="-128"/>
                  </a:rPr>
                  <a:t>25</a:t>
                </a:r>
                <a:endParaRPr lang="en-US" altLang="ja-JP" sz="800">
                  <a:latin typeface="MS UI Gothic" panose="020B0600070205080204" pitchFamily="50" charset="-128"/>
                  <a:ea typeface="MS UI Gothic" panose="020B0600070205080204" pitchFamily="50" charset="-128"/>
                </a:endParaRPr>
              </a:p>
            </p:txBody>
          </p:sp>
          <p:sp>
            <p:nvSpPr>
              <p:cNvPr id="558116" name="Rectangle 36">
                <a:extLst>
                  <a:ext uri="{FF2B5EF4-FFF2-40B4-BE49-F238E27FC236}">
                    <a16:creationId xmlns:a16="http://schemas.microsoft.com/office/drawing/2014/main" id="{DE753649-32F2-6C4D-E5E6-CE0DB417299D}"/>
                  </a:ext>
                </a:extLst>
              </p:cNvPr>
              <p:cNvSpPr>
                <a:spLocks noChangeArrowheads="1"/>
              </p:cNvSpPr>
              <p:nvPr/>
            </p:nvSpPr>
            <p:spPr bwMode="auto">
              <a:xfrm>
                <a:off x="3289" y="5376"/>
                <a:ext cx="282" cy="87"/>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80000"/>
                  </a:lnSpc>
                </a:pPr>
                <a:r>
                  <a:rPr lang="en-US" altLang="ja-JP" sz="800" b="0">
                    <a:latin typeface="MS UI Gothic" panose="020B0600070205080204" pitchFamily="50" charset="-128"/>
                    <a:ea typeface="MS UI Gothic" panose="020B0600070205080204" pitchFamily="50" charset="-128"/>
                  </a:rPr>
                  <a:t>ichiro</a:t>
                </a:r>
                <a:endParaRPr lang="en-US" altLang="ja-JP" sz="800">
                  <a:latin typeface="MS UI Gothic" panose="020B0600070205080204" pitchFamily="50" charset="-128"/>
                  <a:ea typeface="MS UI Gothic" panose="020B0600070205080204" pitchFamily="50" charset="-128"/>
                </a:endParaRPr>
              </a:p>
            </p:txBody>
          </p:sp>
          <p:sp>
            <p:nvSpPr>
              <p:cNvPr id="558117" name="Rectangle 37">
                <a:extLst>
                  <a:ext uri="{FF2B5EF4-FFF2-40B4-BE49-F238E27FC236}">
                    <a16:creationId xmlns:a16="http://schemas.microsoft.com/office/drawing/2014/main" id="{4A0E3440-3C39-FE5E-621B-4987FAE804A9}"/>
                  </a:ext>
                </a:extLst>
              </p:cNvPr>
              <p:cNvSpPr>
                <a:spLocks noChangeArrowheads="1"/>
              </p:cNvSpPr>
              <p:nvPr/>
            </p:nvSpPr>
            <p:spPr bwMode="auto">
              <a:xfrm>
                <a:off x="3289" y="5278"/>
                <a:ext cx="280" cy="88"/>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80000"/>
                  </a:lnSpc>
                </a:pPr>
                <a:r>
                  <a:rPr lang="en-US" altLang="ja-JP" sz="800" b="0">
                    <a:latin typeface="MS UI Gothic" panose="020B0600070205080204" pitchFamily="50" charset="-128"/>
                    <a:ea typeface="MS UI Gothic" panose="020B0600070205080204" pitchFamily="50" charset="-128"/>
                  </a:rPr>
                  <a:t>Yamada</a:t>
                </a:r>
                <a:endParaRPr lang="en-US" altLang="ja-JP" sz="800">
                  <a:latin typeface="MS UI Gothic" panose="020B0600070205080204" pitchFamily="50" charset="-128"/>
                  <a:ea typeface="MS UI Gothic" panose="020B0600070205080204" pitchFamily="50" charset="-128"/>
                </a:endParaRPr>
              </a:p>
            </p:txBody>
          </p:sp>
        </p:grpSp>
      </p:grpSp>
      <p:sp>
        <p:nvSpPr>
          <p:cNvPr id="558118" name="Rectangle 38">
            <a:extLst>
              <a:ext uri="{FF2B5EF4-FFF2-40B4-BE49-F238E27FC236}">
                <a16:creationId xmlns:a16="http://schemas.microsoft.com/office/drawing/2014/main" id="{A6E92BB9-B42A-4E43-B5B4-091BDB9EEE82}"/>
              </a:ext>
            </a:extLst>
          </p:cNvPr>
          <p:cNvSpPr>
            <a:spLocks noChangeArrowheads="1"/>
          </p:cNvSpPr>
          <p:nvPr/>
        </p:nvSpPr>
        <p:spPr bwMode="auto">
          <a:xfrm>
            <a:off x="900113" y="8026400"/>
            <a:ext cx="358775" cy="147638"/>
          </a:xfrm>
          <a:prstGeom prst="rect">
            <a:avLst/>
          </a:prstGeom>
          <a:noFill/>
          <a:ln w="12700" algn="ctr">
            <a:solidFill>
              <a:schemeClr val="tx1"/>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8119" name="Line 39">
            <a:extLst>
              <a:ext uri="{FF2B5EF4-FFF2-40B4-BE49-F238E27FC236}">
                <a16:creationId xmlns:a16="http://schemas.microsoft.com/office/drawing/2014/main" id="{3DF817B2-68F5-30ED-8B60-61FEAAD926A4}"/>
              </a:ext>
            </a:extLst>
          </p:cNvPr>
          <p:cNvSpPr>
            <a:spLocks noChangeShapeType="1"/>
          </p:cNvSpPr>
          <p:nvPr/>
        </p:nvSpPr>
        <p:spPr bwMode="auto">
          <a:xfrm>
            <a:off x="1131888" y="8107363"/>
            <a:ext cx="474662" cy="290512"/>
          </a:xfrm>
          <a:prstGeom prst="line">
            <a:avLst/>
          </a:prstGeom>
          <a:noFill/>
          <a:ln w="12700">
            <a:solidFill>
              <a:srgbClr val="00008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8120" name="Rectangle 40">
            <a:extLst>
              <a:ext uri="{FF2B5EF4-FFF2-40B4-BE49-F238E27FC236}">
                <a16:creationId xmlns:a16="http://schemas.microsoft.com/office/drawing/2014/main" id="{E5D5A788-6752-34B7-0287-97B567F2BB3B}"/>
              </a:ext>
            </a:extLst>
          </p:cNvPr>
          <p:cNvSpPr>
            <a:spLocks noChangeArrowheads="1"/>
          </p:cNvSpPr>
          <p:nvPr/>
        </p:nvSpPr>
        <p:spPr bwMode="auto">
          <a:xfrm>
            <a:off x="3778250" y="8031163"/>
            <a:ext cx="358775" cy="147637"/>
          </a:xfrm>
          <a:prstGeom prst="rect">
            <a:avLst/>
          </a:prstGeom>
          <a:noFill/>
          <a:ln w="12700" algn="ctr">
            <a:solidFill>
              <a:schemeClr val="tx1"/>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8121" name="Text Box 41">
            <a:extLst>
              <a:ext uri="{FF2B5EF4-FFF2-40B4-BE49-F238E27FC236}">
                <a16:creationId xmlns:a16="http://schemas.microsoft.com/office/drawing/2014/main" id="{5900E3C5-9759-DCAA-8EF2-E82E838A8761}"/>
              </a:ext>
            </a:extLst>
          </p:cNvPr>
          <p:cNvSpPr txBox="1">
            <a:spLocks noChangeArrowheads="1"/>
          </p:cNvSpPr>
          <p:nvPr/>
        </p:nvSpPr>
        <p:spPr bwMode="auto">
          <a:xfrm>
            <a:off x="3541713" y="7632700"/>
            <a:ext cx="823912" cy="4206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Biến</a:t>
            </a:r>
            <a:r>
              <a:rPr lang="ja-JP" altLang="en-US" b="0">
                <a:ea typeface="MS UI Gothic" panose="020B0600070205080204" pitchFamily="50" charset="-128"/>
              </a:rPr>
              <a:t>　</a:t>
            </a:r>
            <a:r>
              <a:rPr lang="en-US" altLang="ja-JP" b="0">
                <a:latin typeface="MS UI Gothic" panose="020B0600070205080204" pitchFamily="50" charset="-128"/>
                <a:ea typeface="MS UI Gothic" panose="020B0600070205080204" pitchFamily="50" charset="-128"/>
              </a:rPr>
              <a:t>personB</a:t>
            </a:r>
            <a:endParaRPr lang="en-US" altLang="ja-JP">
              <a:latin typeface="MS UI Gothic" panose="020B0600070205080204" pitchFamily="50" charset="-128"/>
              <a:ea typeface="MS UI Gothic" panose="020B0600070205080204" pitchFamily="50" charset="-128"/>
            </a:endParaRPr>
          </a:p>
        </p:txBody>
      </p:sp>
      <p:sp>
        <p:nvSpPr>
          <p:cNvPr id="558122" name="Line 42">
            <a:extLst>
              <a:ext uri="{FF2B5EF4-FFF2-40B4-BE49-F238E27FC236}">
                <a16:creationId xmlns:a16="http://schemas.microsoft.com/office/drawing/2014/main" id="{97340BA9-E0B2-F047-0B1F-B9F5A64C848F}"/>
              </a:ext>
            </a:extLst>
          </p:cNvPr>
          <p:cNvSpPr>
            <a:spLocks noChangeShapeType="1"/>
          </p:cNvSpPr>
          <p:nvPr/>
        </p:nvSpPr>
        <p:spPr bwMode="auto">
          <a:xfrm>
            <a:off x="4017963" y="8105775"/>
            <a:ext cx="474662" cy="368300"/>
          </a:xfrm>
          <a:prstGeom prst="line">
            <a:avLst/>
          </a:prstGeom>
          <a:noFill/>
          <a:ln w="12700">
            <a:solidFill>
              <a:srgbClr val="00008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8125" name="Text Box 45">
            <a:extLst>
              <a:ext uri="{FF2B5EF4-FFF2-40B4-BE49-F238E27FC236}">
                <a16:creationId xmlns:a16="http://schemas.microsoft.com/office/drawing/2014/main" id="{AA8B7F82-D26D-8667-8D09-3C79B1873E72}"/>
              </a:ext>
            </a:extLst>
          </p:cNvPr>
          <p:cNvSpPr txBox="1">
            <a:spLocks noChangeArrowheads="1"/>
          </p:cNvSpPr>
          <p:nvPr/>
        </p:nvSpPr>
        <p:spPr bwMode="auto">
          <a:xfrm>
            <a:off x="4554538" y="7861300"/>
            <a:ext cx="1866900" cy="2444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Object của Person class</a:t>
            </a:r>
            <a:endParaRPr lang="en-US" altLang="ja-JP">
              <a:ea typeface="MS UI Gothic" panose="020B0600070205080204" pitchFamily="50" charset="-128"/>
            </a:endParaRPr>
          </a:p>
        </p:txBody>
      </p:sp>
      <p:sp>
        <p:nvSpPr>
          <p:cNvPr id="558126" name="Text Box 46">
            <a:extLst>
              <a:ext uri="{FF2B5EF4-FFF2-40B4-BE49-F238E27FC236}">
                <a16:creationId xmlns:a16="http://schemas.microsoft.com/office/drawing/2014/main" id="{02D3D8C7-033A-D8B9-7B5C-67229556B20A}"/>
              </a:ext>
            </a:extLst>
          </p:cNvPr>
          <p:cNvSpPr txBox="1">
            <a:spLocks noChangeArrowheads="1"/>
          </p:cNvSpPr>
          <p:nvPr/>
        </p:nvSpPr>
        <p:spPr bwMode="auto">
          <a:xfrm>
            <a:off x="1674813" y="7927975"/>
            <a:ext cx="1866900" cy="2428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Object của Person class</a:t>
            </a:r>
            <a:endParaRPr lang="en-US" altLang="ja-JP">
              <a:ea typeface="MS UI Gothic" panose="020B0600070205080204" pitchFamily="50" charset="-128"/>
            </a:endParaRPr>
          </a:p>
        </p:txBody>
      </p:sp>
      <p:sp>
        <p:nvSpPr>
          <p:cNvPr id="558127" name="Rectangle 47">
            <a:extLst>
              <a:ext uri="{FF2B5EF4-FFF2-40B4-BE49-F238E27FC236}">
                <a16:creationId xmlns:a16="http://schemas.microsoft.com/office/drawing/2014/main" id="{A2219C26-1BEA-3193-B8E0-67527DA20B0F}"/>
              </a:ext>
            </a:extLst>
          </p:cNvPr>
          <p:cNvSpPr>
            <a:spLocks noChangeArrowheads="1"/>
          </p:cNvSpPr>
          <p:nvPr/>
        </p:nvSpPr>
        <p:spPr bwMode="auto">
          <a:xfrm>
            <a:off x="1690688" y="8955088"/>
            <a:ext cx="592137" cy="100012"/>
          </a:xfrm>
          <a:prstGeom prst="rect">
            <a:avLst/>
          </a:prstGeom>
          <a:noFill/>
          <a:ln w="22225">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58128" name="Rectangle 48">
            <a:extLst>
              <a:ext uri="{FF2B5EF4-FFF2-40B4-BE49-F238E27FC236}">
                <a16:creationId xmlns:a16="http://schemas.microsoft.com/office/drawing/2014/main" id="{A6F40A58-7229-E7FF-DC58-FA25D08A1F0C}"/>
              </a:ext>
            </a:extLst>
          </p:cNvPr>
          <p:cNvSpPr>
            <a:spLocks noChangeArrowheads="1"/>
          </p:cNvSpPr>
          <p:nvPr/>
        </p:nvSpPr>
        <p:spPr bwMode="auto">
          <a:xfrm>
            <a:off x="4625975" y="9018588"/>
            <a:ext cx="665163" cy="104775"/>
          </a:xfrm>
          <a:prstGeom prst="rect">
            <a:avLst/>
          </a:prstGeom>
          <a:noFill/>
          <a:ln w="22225">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3986" name="Rectangle 2">
            <a:extLst>
              <a:ext uri="{FF2B5EF4-FFF2-40B4-BE49-F238E27FC236}">
                <a16:creationId xmlns:a16="http://schemas.microsoft.com/office/drawing/2014/main" id="{E41E5FB8-B518-254A-0E48-1693A985EB51}"/>
              </a:ext>
            </a:extLst>
          </p:cNvPr>
          <p:cNvSpPr>
            <a:spLocks noRot="1" noChangeAspect="1" noChangeArrowheads="1" noTextEdit="1"/>
          </p:cNvSpPr>
          <p:nvPr>
            <p:ph type="sldImg"/>
          </p:nvPr>
        </p:nvSpPr>
        <p:spPr>
          <a:xfrm>
            <a:off x="531813" y="835025"/>
            <a:ext cx="6024562" cy="4170363"/>
          </a:xfrm>
          <a:ln/>
        </p:spPr>
      </p:sp>
      <p:sp>
        <p:nvSpPr>
          <p:cNvPr id="553987" name="Rectangle 3">
            <a:extLst>
              <a:ext uri="{FF2B5EF4-FFF2-40B4-BE49-F238E27FC236}">
                <a16:creationId xmlns:a16="http://schemas.microsoft.com/office/drawing/2014/main" id="{52B7AEE6-3235-AED6-80A5-25D23D54436F}"/>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Giá trị null</a:t>
            </a:r>
          </a:p>
          <a:p>
            <a:pPr marL="0" indent="0"/>
            <a:r>
              <a:rPr lang="ja-JP" altLang="en-US">
                <a:latin typeface="Arial" panose="020B0604020202020204" pitchFamily="34" charset="0"/>
              </a:rPr>
              <a:t>　</a:t>
            </a:r>
            <a:r>
              <a:rPr lang="en-US" altLang="ja-JP">
                <a:latin typeface="Arial" panose="020B0604020202020204" pitchFamily="34" charset="0"/>
              </a:rPr>
              <a:t>Giá trị default của biến mà coi class là kiểu data là null.</a:t>
            </a:r>
          </a:p>
          <a:p>
            <a:pPr marL="0" indent="0"/>
            <a:r>
              <a:rPr lang="ja-JP" altLang="en-US">
                <a:latin typeface="Arial" panose="020B0604020202020204" pitchFamily="34" charset="0"/>
              </a:rPr>
              <a:t>　</a:t>
            </a:r>
            <a:r>
              <a:rPr lang="en-US" altLang="ja-JP">
                <a:latin typeface="Arial" panose="020B0604020202020204" pitchFamily="34" charset="0"/>
              </a:rPr>
              <a:t>null là giá trị thể hiện rằng không có bất kỳ một thao chiếu của object nào cả.</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Giải phóng object.</a:t>
            </a:r>
          </a:p>
          <a:p>
            <a:pPr marL="0" indent="0"/>
            <a:r>
              <a:rPr lang="ja-JP" altLang="en-US">
                <a:latin typeface="Arial" panose="020B0604020202020204" pitchFamily="34" charset="0"/>
              </a:rPr>
              <a:t>　</a:t>
            </a:r>
            <a:r>
              <a:rPr lang="en-US" altLang="ja-JP">
                <a:latin typeface="Arial" panose="020B0604020202020204" pitchFamily="34" charset="0"/>
              </a:rPr>
              <a:t>Nếu như object trở nên không cần thiết nữa thì gán giá trị null vào biến dùng để thao tác object. </a:t>
            </a:r>
            <a:r>
              <a:rPr lang="ja-JP" altLang="en-US">
                <a:latin typeface="Arial" panose="020B0604020202020204" pitchFamily="34" charset="0"/>
              </a:rPr>
              <a:t>　</a:t>
            </a:r>
            <a:r>
              <a:rPr lang="en-US" altLang="ja-JP">
                <a:latin typeface="Arial" panose="020B0604020202020204" pitchFamily="34" charset="0"/>
              </a:rPr>
              <a:t>nếu gán giá trị null thì không có nghĩa là vùng nhớ mà object đó đang sử dụng sẽ được giải phóng ngay lập tức nhưng chức năng garbage collector sẽ giúp tiến hành giải phóng vùng nhớ nào đó mà object không được tham chiếu từ bất kỳ đâu đang sử dụng.</a:t>
            </a:r>
          </a:p>
          <a:p>
            <a:pPr marL="0" indent="0"/>
            <a:r>
              <a:rPr lang="ja-JP" altLang="en-US">
                <a:latin typeface="Arial" panose="020B0604020202020204" pitchFamily="34" charset="0"/>
              </a:rPr>
              <a:t>　</a:t>
            </a:r>
            <a:r>
              <a:rPr lang="en-US" altLang="ja-JP">
                <a:latin typeface="Arial" panose="020B0604020202020204" pitchFamily="34" charset="0"/>
              </a:rPr>
              <a:t>Ví dụ</a:t>
            </a:r>
            <a:r>
              <a:rPr lang="ja-JP" altLang="en-US">
                <a:latin typeface="Arial" panose="020B0604020202020204" pitchFamily="34" charset="0"/>
              </a:rPr>
              <a:t>）</a:t>
            </a: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en-US" altLang="ja-JP">
              <a:latin typeface="Arial" panose="020B0604020202020204" pitchFamily="34" charset="0"/>
            </a:endParaRPr>
          </a:p>
        </p:txBody>
      </p:sp>
      <p:sp>
        <p:nvSpPr>
          <p:cNvPr id="553988" name="Text Box 4">
            <a:extLst>
              <a:ext uri="{FF2B5EF4-FFF2-40B4-BE49-F238E27FC236}">
                <a16:creationId xmlns:a16="http://schemas.microsoft.com/office/drawing/2014/main" id="{E7A58D19-5C5B-8CFF-25D3-4024748ECB61}"/>
              </a:ext>
            </a:extLst>
          </p:cNvPr>
          <p:cNvSpPr txBox="1">
            <a:spLocks noChangeArrowheads="1"/>
          </p:cNvSpPr>
          <p:nvPr/>
        </p:nvSpPr>
        <p:spPr bwMode="auto">
          <a:xfrm>
            <a:off x="719138" y="6900863"/>
            <a:ext cx="5643562" cy="5524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latin typeface="ＭＳ ゴシック" panose="020B0609070205080204" pitchFamily="49" charset="-128"/>
                <a:ea typeface="ＭＳ ゴシック" panose="020B0609070205080204" pitchFamily="49" charset="-128"/>
              </a:rPr>
              <a:t>Person personA = new Person();</a:t>
            </a:r>
          </a:p>
          <a:p>
            <a:pPr lvl="1" algn="just"/>
            <a:r>
              <a:rPr lang="ja-JP"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Gọi ra method đối với</a:t>
            </a:r>
            <a:r>
              <a:rPr lang="en-US" altLang="ja-JP" b="0">
                <a:latin typeface="ＭＳ ゴシック" panose="020B0609070205080204" pitchFamily="49" charset="-128"/>
                <a:ea typeface="ＭＳ ゴシック" panose="020B0609070205080204" pitchFamily="49" charset="-128"/>
              </a:rPr>
              <a:t> </a:t>
            </a:r>
            <a:r>
              <a:rPr lang="ja-JP" altLang="ja-JP" b="0">
                <a:latin typeface="ＭＳ ゴシック" panose="020B0609070205080204" pitchFamily="49" charset="-128"/>
                <a:ea typeface="ＭＳ ゴシック" panose="020B0609070205080204" pitchFamily="49" charset="-128"/>
              </a:rPr>
              <a:t>personA</a:t>
            </a:r>
            <a:r>
              <a:rPr lang="en-US" altLang="ja-JP" b="0">
                <a:latin typeface="ＭＳ ゴシック" panose="020B0609070205080204" pitchFamily="49" charset="-128"/>
                <a:ea typeface="ＭＳ ゴシック" panose="020B0609070205080204" pitchFamily="49" charset="-128"/>
              </a:rPr>
              <a:t>.v.v...</a:t>
            </a:r>
            <a:endParaRPr lang="ja-JP" altLang="ja-JP" b="0">
              <a:latin typeface="ＭＳ ゴシック" panose="020B0609070205080204" pitchFamily="49" charset="-128"/>
              <a:ea typeface="ＭＳ ゴシック" panose="020B0609070205080204" pitchFamily="49" charset="-128"/>
            </a:endParaRPr>
          </a:p>
          <a:p>
            <a:pPr lvl="1" algn="just"/>
            <a:r>
              <a:rPr lang="ja-JP" altLang="ja-JP" b="0">
                <a:latin typeface="ＭＳ ゴシック" panose="020B0609070205080204" pitchFamily="49" charset="-128"/>
                <a:ea typeface="ＭＳ ゴシック" panose="020B0609070205080204" pitchFamily="49" charset="-128"/>
              </a:rPr>
              <a:t>personA = null;</a:t>
            </a:r>
          </a:p>
          <a:p>
            <a:pPr lvl="1" algn="just"/>
            <a:endParaRPr lang="ja-JP" altLang="ja-JP" b="0">
              <a:latin typeface="ＭＳ ゴシック" panose="020B0609070205080204" pitchFamily="49" charset="-128"/>
              <a:ea typeface="ＭＳ ゴシック" panose="020B0609070205080204" pitchFamily="49" charset="-128"/>
            </a:endParaRPr>
          </a:p>
          <a:p>
            <a:pPr lvl="1" algn="just"/>
            <a:endParaRPr lang="ja-JP" altLang="ja-JP" b="0">
              <a:latin typeface="ＭＳ ゴシック" panose="020B0609070205080204" pitchFamily="49" charset="-128"/>
              <a:ea typeface="ＭＳ ゴシック" panose="020B0609070205080204" pitchFamily="49" charset="-128"/>
            </a:endParaRPr>
          </a:p>
        </p:txBody>
      </p:sp>
      <p:grpSp>
        <p:nvGrpSpPr>
          <p:cNvPr id="554023" name="Group 39">
            <a:extLst>
              <a:ext uri="{FF2B5EF4-FFF2-40B4-BE49-F238E27FC236}">
                <a16:creationId xmlns:a16="http://schemas.microsoft.com/office/drawing/2014/main" id="{7931B6E2-2A99-E83B-BCCE-593BFC775D74}"/>
              </a:ext>
            </a:extLst>
          </p:cNvPr>
          <p:cNvGrpSpPr>
            <a:grpSpLocks/>
          </p:cNvGrpSpPr>
          <p:nvPr/>
        </p:nvGrpSpPr>
        <p:grpSpPr bwMode="auto">
          <a:xfrm>
            <a:off x="855663" y="8116888"/>
            <a:ext cx="2498725" cy="1736725"/>
            <a:chOff x="539" y="5113"/>
            <a:chExt cx="1574" cy="1094"/>
          </a:xfrm>
        </p:grpSpPr>
        <p:sp>
          <p:nvSpPr>
            <p:cNvPr id="553991" name="Cloud">
              <a:extLst>
                <a:ext uri="{FF2B5EF4-FFF2-40B4-BE49-F238E27FC236}">
                  <a16:creationId xmlns:a16="http://schemas.microsoft.com/office/drawing/2014/main" id="{3003145B-14FD-658D-3AE3-FD262AE48D34}"/>
                </a:ext>
              </a:extLst>
            </p:cNvPr>
            <p:cNvSpPr>
              <a:spLocks noChangeAspect="1" noEditPoints="1" noChangeArrowheads="1"/>
            </p:cNvSpPr>
            <p:nvPr/>
          </p:nvSpPr>
          <p:spPr bwMode="auto">
            <a:xfrm>
              <a:off x="539" y="5113"/>
              <a:ext cx="1574" cy="1094"/>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lIns="91410" tIns="9716" rIns="91410" bIns="971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ea typeface="MS UI Gothic" panose="020B0600070205080204" pitchFamily="50" charset="-128"/>
              </a:endParaRPr>
            </a:p>
          </p:txBody>
        </p:sp>
        <p:grpSp>
          <p:nvGrpSpPr>
            <p:cNvPr id="554022" name="Group 38">
              <a:extLst>
                <a:ext uri="{FF2B5EF4-FFF2-40B4-BE49-F238E27FC236}">
                  <a16:creationId xmlns:a16="http://schemas.microsoft.com/office/drawing/2014/main" id="{CA030B4C-4921-F2C2-0E90-C146BE0002B8}"/>
                </a:ext>
              </a:extLst>
            </p:cNvPr>
            <p:cNvGrpSpPr>
              <a:grpSpLocks/>
            </p:cNvGrpSpPr>
            <p:nvPr/>
          </p:nvGrpSpPr>
          <p:grpSpPr bwMode="auto">
            <a:xfrm>
              <a:off x="796" y="5275"/>
              <a:ext cx="982" cy="757"/>
              <a:chOff x="796" y="5275"/>
              <a:chExt cx="982" cy="757"/>
            </a:xfrm>
          </p:grpSpPr>
          <p:sp>
            <p:nvSpPr>
              <p:cNvPr id="553993" name="Text Box 9">
                <a:extLst>
                  <a:ext uri="{FF2B5EF4-FFF2-40B4-BE49-F238E27FC236}">
                    <a16:creationId xmlns:a16="http://schemas.microsoft.com/office/drawing/2014/main" id="{65EBDFF3-3701-D420-D565-D08FD59AA6A6}"/>
                  </a:ext>
                </a:extLst>
              </p:cNvPr>
              <p:cNvSpPr txBox="1">
                <a:spLocks noChangeArrowheads="1"/>
              </p:cNvSpPr>
              <p:nvPr/>
            </p:nvSpPr>
            <p:spPr bwMode="auto">
              <a:xfrm>
                <a:off x="796" y="5275"/>
                <a:ext cx="982" cy="757"/>
              </a:xfrm>
              <a:prstGeom prst="rect">
                <a:avLst/>
              </a:prstGeom>
              <a:noFill/>
              <a:ln w="12700">
                <a:solidFill>
                  <a:srgbClr val="80808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ja-JP" altLang="ja-JP" sz="800" b="0">
                    <a:latin typeface="ＭＳ ゴシック" panose="020B0609070205080204" pitchFamily="49" charset="-128"/>
                    <a:ea typeface="ＭＳ ゴシック" panose="020B0609070205080204" pitchFamily="49" charset="-128"/>
                  </a:rPr>
                  <a:t>　lastName</a:t>
                </a:r>
              </a:p>
              <a:p>
                <a:pPr algn="just">
                  <a:spcBef>
                    <a:spcPct val="50000"/>
                  </a:spcBef>
                </a:pPr>
                <a:r>
                  <a:rPr lang="ja-JP" altLang="ja-JP" sz="800" b="0">
                    <a:latin typeface="ＭＳ ゴシック" panose="020B0609070205080204" pitchFamily="49" charset="-128"/>
                    <a:ea typeface="ＭＳ ゴシック" panose="020B0609070205080204" pitchFamily="49" charset="-128"/>
                  </a:rPr>
                  <a:t>　firstName </a:t>
                </a:r>
                <a:endParaRPr lang="en-US" altLang="ja-JP" sz="800" b="0">
                  <a:latin typeface="ＭＳ ゴシック" panose="020B0609070205080204" pitchFamily="49" charset="-128"/>
                  <a:ea typeface="ＭＳ ゴシック" panose="020B0609070205080204" pitchFamily="49" charset="-128"/>
                </a:endParaRPr>
              </a:p>
              <a:p>
                <a:pPr algn="just">
                  <a:spcBef>
                    <a:spcPct val="20000"/>
                  </a:spcBef>
                </a:pPr>
                <a:r>
                  <a:rPr lang="ja-JP" altLang="ja-JP" sz="800" b="0">
                    <a:latin typeface="ＭＳ ゴシック" panose="020B0609070205080204" pitchFamily="49" charset="-128"/>
                    <a:ea typeface="ＭＳ ゴシック" panose="020B0609070205080204" pitchFamily="49" charset="-128"/>
                  </a:rPr>
                  <a:t>　age</a:t>
                </a:r>
                <a:endParaRPr lang="en-US" altLang="ja-JP" sz="800" b="0">
                  <a:latin typeface="ＭＳ ゴシック" panose="020B0609070205080204" pitchFamily="49" charset="-128"/>
                  <a:ea typeface="ＭＳ ゴシック" panose="020B0609070205080204" pitchFamily="49" charset="-128"/>
                </a:endParaRPr>
              </a:p>
              <a:p>
                <a:pPr algn="just">
                  <a:lnSpc>
                    <a:spcPct val="50000"/>
                  </a:lnSpc>
                </a:pPr>
                <a:r>
                  <a:rPr lang="ja-JP" altLang="ja-JP" sz="800" b="0">
                    <a:latin typeface="ＭＳ ゴシック" panose="020B0609070205080204" pitchFamily="49" charset="-128"/>
                    <a:ea typeface="ＭＳ ゴシック" panose="020B0609070205080204" pitchFamily="49" charset="-128"/>
                  </a:rPr>
                  <a:t>　</a:t>
                </a:r>
                <a:endParaRPr lang="ja-JP" altLang="en-US" sz="800" b="0">
                  <a:latin typeface="ＭＳ ゴシック" panose="020B0609070205080204" pitchFamily="49" charset="-128"/>
                  <a:ea typeface="ＭＳ ゴシック" panose="020B0609070205080204" pitchFamily="49" charset="-128"/>
                </a:endParaRPr>
              </a:p>
              <a:p>
                <a:pPr algn="just"/>
                <a:r>
                  <a:rPr lang="ja-JP" altLang="en-US" sz="800" b="0">
                    <a:latin typeface="ＭＳ ゴシック" panose="020B0609070205080204" pitchFamily="49" charset="-128"/>
                    <a:ea typeface="ＭＳ ゴシック" panose="020B0609070205080204" pitchFamily="49" charset="-128"/>
                  </a:rPr>
                  <a:t>  </a:t>
                </a:r>
                <a:r>
                  <a:rPr lang="ja-JP" altLang="ja-JP" sz="800" b="0">
                    <a:latin typeface="ＭＳ ゴシック" panose="020B0609070205080204" pitchFamily="49" charset="-128"/>
                    <a:ea typeface="ＭＳ ゴシック" panose="020B0609070205080204" pitchFamily="49" charset="-128"/>
                  </a:rPr>
                  <a:t>Person()</a:t>
                </a: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setLastName(l:String):void</a:t>
                </a:r>
              </a:p>
              <a:p>
                <a:pPr algn="just"/>
                <a:r>
                  <a:rPr lang="ja-JP" altLang="ja-JP" sz="800" b="0">
                    <a:latin typeface="ＭＳ ゴシック" panose="020B0609070205080204" pitchFamily="49" charset="-128"/>
                    <a:ea typeface="ＭＳ ゴシック" panose="020B0609070205080204" pitchFamily="49" charset="-128"/>
                  </a:rPr>
                  <a:t>　getFullName():String</a:t>
                </a:r>
              </a:p>
              <a:p>
                <a:pPr algn="just"/>
                <a:r>
                  <a:rPr lang="ja-JP" altLang="ja-JP" sz="800" b="0">
                    <a:latin typeface="ＭＳ ゴシック" panose="020B0609070205080204" pitchFamily="49" charset="-128"/>
                    <a:ea typeface="ＭＳ ゴシック" panose="020B0609070205080204" pitchFamily="49" charset="-128"/>
                  </a:rPr>
                  <a:t>　printInfo():void</a:t>
                </a:r>
              </a:p>
            </p:txBody>
          </p:sp>
          <p:sp>
            <p:nvSpPr>
              <p:cNvPr id="553994" name="Line 10">
                <a:extLst>
                  <a:ext uri="{FF2B5EF4-FFF2-40B4-BE49-F238E27FC236}">
                    <a16:creationId xmlns:a16="http://schemas.microsoft.com/office/drawing/2014/main" id="{9FD85429-14DF-ECE0-01F7-2821680627AB}"/>
                  </a:ext>
                </a:extLst>
              </p:cNvPr>
              <p:cNvSpPr>
                <a:spLocks noChangeShapeType="1"/>
              </p:cNvSpPr>
              <p:nvPr/>
            </p:nvSpPr>
            <p:spPr bwMode="auto">
              <a:xfrm>
                <a:off x="800" y="5619"/>
                <a:ext cx="978" cy="1"/>
              </a:xfrm>
              <a:prstGeom prst="line">
                <a:avLst/>
              </a:prstGeom>
              <a:noFill/>
              <a:ln w="12700">
                <a:solidFill>
                  <a:srgbClr val="80808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53995" name="Rectangle 11">
                <a:extLst>
                  <a:ext uri="{FF2B5EF4-FFF2-40B4-BE49-F238E27FC236}">
                    <a16:creationId xmlns:a16="http://schemas.microsoft.com/office/drawing/2014/main" id="{134D9A4D-6504-8EEE-1C17-E6D478C214D9}"/>
                  </a:ext>
                </a:extLst>
              </p:cNvPr>
              <p:cNvSpPr>
                <a:spLocks noChangeArrowheads="1"/>
              </p:cNvSpPr>
              <p:nvPr/>
            </p:nvSpPr>
            <p:spPr bwMode="auto">
              <a:xfrm>
                <a:off x="1275" y="5529"/>
                <a:ext cx="329" cy="83"/>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latin typeface="MS UI Gothic" panose="020B0600070205080204" pitchFamily="50" charset="-128"/>
                    <a:ea typeface="MS UI Gothic" panose="020B0600070205080204" pitchFamily="50" charset="-128"/>
                  </a:rPr>
                  <a:t>20</a:t>
                </a:r>
                <a:endParaRPr lang="en-US" altLang="ja-JP" sz="800">
                  <a:latin typeface="MS UI Gothic" panose="020B0600070205080204" pitchFamily="50" charset="-128"/>
                  <a:ea typeface="MS UI Gothic" panose="020B0600070205080204" pitchFamily="50" charset="-128"/>
                </a:endParaRPr>
              </a:p>
            </p:txBody>
          </p:sp>
          <p:sp>
            <p:nvSpPr>
              <p:cNvPr id="553996" name="Rectangle 12">
                <a:extLst>
                  <a:ext uri="{FF2B5EF4-FFF2-40B4-BE49-F238E27FC236}">
                    <a16:creationId xmlns:a16="http://schemas.microsoft.com/office/drawing/2014/main" id="{750FE27C-5CC4-1101-5131-186D33C85E77}"/>
                  </a:ext>
                </a:extLst>
              </p:cNvPr>
              <p:cNvSpPr>
                <a:spLocks noChangeArrowheads="1"/>
              </p:cNvSpPr>
              <p:nvPr/>
            </p:nvSpPr>
            <p:spPr bwMode="auto">
              <a:xfrm>
                <a:off x="1275" y="5423"/>
                <a:ext cx="331" cy="89"/>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80000"/>
                  </a:lnSpc>
                </a:pPr>
                <a:r>
                  <a:rPr lang="en-US" altLang="ja-JP" sz="800" b="0">
                    <a:ea typeface="MS UI Gothic" panose="020B0600070205080204" pitchFamily="50" charset="-128"/>
                  </a:rPr>
                  <a:t>Ko có tên</a:t>
                </a:r>
              </a:p>
            </p:txBody>
          </p:sp>
          <p:sp>
            <p:nvSpPr>
              <p:cNvPr id="553997" name="Rectangle 13">
                <a:extLst>
                  <a:ext uri="{FF2B5EF4-FFF2-40B4-BE49-F238E27FC236}">
                    <a16:creationId xmlns:a16="http://schemas.microsoft.com/office/drawing/2014/main" id="{73EB714C-7CF5-BC48-1BEC-12054237B615}"/>
                  </a:ext>
                </a:extLst>
              </p:cNvPr>
              <p:cNvSpPr>
                <a:spLocks noChangeArrowheads="1"/>
              </p:cNvSpPr>
              <p:nvPr/>
            </p:nvSpPr>
            <p:spPr bwMode="auto">
              <a:xfrm>
                <a:off x="1275" y="5310"/>
                <a:ext cx="335" cy="90"/>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ea typeface="MS UI Gothic" panose="020B0600070205080204" pitchFamily="50" charset="-128"/>
                  </a:rPr>
                  <a:t>Ko có họ</a:t>
                </a:r>
                <a:endParaRPr lang="en-US" altLang="ja-JP" sz="800">
                  <a:ea typeface="MS UI Gothic" panose="020B0600070205080204" pitchFamily="50" charset="-128"/>
                </a:endParaRPr>
              </a:p>
            </p:txBody>
          </p:sp>
        </p:grpSp>
      </p:grpSp>
      <p:sp>
        <p:nvSpPr>
          <p:cNvPr id="553998" name="Text Box 14">
            <a:extLst>
              <a:ext uri="{FF2B5EF4-FFF2-40B4-BE49-F238E27FC236}">
                <a16:creationId xmlns:a16="http://schemas.microsoft.com/office/drawing/2014/main" id="{FFBDC7D3-E2C7-23BA-B187-AA4272ED609F}"/>
              </a:ext>
            </a:extLst>
          </p:cNvPr>
          <p:cNvSpPr txBox="1">
            <a:spLocks noChangeArrowheads="1"/>
          </p:cNvSpPr>
          <p:nvPr/>
        </p:nvSpPr>
        <p:spPr bwMode="auto">
          <a:xfrm>
            <a:off x="569913" y="7620000"/>
            <a:ext cx="822325" cy="4191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Biến</a:t>
            </a:r>
            <a:r>
              <a:rPr lang="ja-JP" altLang="en-US" b="0">
                <a:latin typeface="MS UI Gothic" panose="020B0600070205080204" pitchFamily="50" charset="-128"/>
                <a:ea typeface="MS UI Gothic" panose="020B0600070205080204" pitchFamily="50" charset="-128"/>
              </a:rPr>
              <a:t>　</a:t>
            </a:r>
            <a:r>
              <a:rPr lang="en-US" altLang="ja-JP" b="0">
                <a:latin typeface="MS UI Gothic" panose="020B0600070205080204" pitchFamily="50" charset="-128"/>
                <a:ea typeface="MS UI Gothic" panose="020B0600070205080204" pitchFamily="50" charset="-128"/>
              </a:rPr>
              <a:t>personA</a:t>
            </a:r>
            <a:endParaRPr lang="en-US" altLang="ja-JP">
              <a:latin typeface="MS UI Gothic" panose="020B0600070205080204" pitchFamily="50" charset="-128"/>
              <a:ea typeface="MS UI Gothic" panose="020B0600070205080204" pitchFamily="50" charset="-128"/>
            </a:endParaRPr>
          </a:p>
        </p:txBody>
      </p:sp>
      <p:sp>
        <p:nvSpPr>
          <p:cNvPr id="554000" name="Cloud">
            <a:extLst>
              <a:ext uri="{FF2B5EF4-FFF2-40B4-BE49-F238E27FC236}">
                <a16:creationId xmlns:a16="http://schemas.microsoft.com/office/drawing/2014/main" id="{856B0B2B-E063-4E80-3C4A-E451FA1423F6}"/>
              </a:ext>
            </a:extLst>
          </p:cNvPr>
          <p:cNvSpPr>
            <a:spLocks noChangeAspect="1" noEditPoints="1" noChangeArrowheads="1"/>
          </p:cNvSpPr>
          <p:nvPr/>
        </p:nvSpPr>
        <p:spPr bwMode="auto">
          <a:xfrm>
            <a:off x="4106863" y="8243888"/>
            <a:ext cx="2314575" cy="1709737"/>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lIns="91410" tIns="9716" rIns="91410" bIns="971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ea typeface="MS UI Gothic" panose="020B0600070205080204" pitchFamily="50" charset="-128"/>
            </a:endParaRPr>
          </a:p>
        </p:txBody>
      </p:sp>
      <p:sp>
        <p:nvSpPr>
          <p:cNvPr id="554002" name="Text Box 18">
            <a:extLst>
              <a:ext uri="{FF2B5EF4-FFF2-40B4-BE49-F238E27FC236}">
                <a16:creationId xmlns:a16="http://schemas.microsoft.com/office/drawing/2014/main" id="{0F842002-9964-BF7E-7020-BAF1138E85B7}"/>
              </a:ext>
            </a:extLst>
          </p:cNvPr>
          <p:cNvSpPr txBox="1">
            <a:spLocks noChangeArrowheads="1"/>
          </p:cNvSpPr>
          <p:nvPr/>
        </p:nvSpPr>
        <p:spPr bwMode="auto">
          <a:xfrm>
            <a:off x="4514850" y="8496300"/>
            <a:ext cx="1558925" cy="1182688"/>
          </a:xfrm>
          <a:prstGeom prst="rect">
            <a:avLst/>
          </a:prstGeom>
          <a:noFill/>
          <a:ln w="12700">
            <a:solidFill>
              <a:srgbClr val="80808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ja-JP" altLang="ja-JP" sz="800" b="0">
                <a:latin typeface="ＭＳ ゴシック" panose="020B0609070205080204" pitchFamily="49" charset="-128"/>
                <a:ea typeface="ＭＳ ゴシック" panose="020B0609070205080204" pitchFamily="49" charset="-128"/>
              </a:rPr>
              <a:t>　lastName</a:t>
            </a:r>
          </a:p>
          <a:p>
            <a:pPr algn="just">
              <a:spcBef>
                <a:spcPct val="50000"/>
              </a:spcBef>
            </a:pPr>
            <a:r>
              <a:rPr lang="ja-JP" altLang="ja-JP" sz="800" b="0">
                <a:latin typeface="ＭＳ ゴシック" panose="020B0609070205080204" pitchFamily="49" charset="-128"/>
                <a:ea typeface="ＭＳ ゴシック" panose="020B0609070205080204" pitchFamily="49" charset="-128"/>
              </a:rPr>
              <a:t>　firstName </a:t>
            </a:r>
            <a:endParaRPr lang="en-US" altLang="ja-JP" sz="800" b="0">
              <a:latin typeface="ＭＳ ゴシック" panose="020B0609070205080204" pitchFamily="49" charset="-128"/>
              <a:ea typeface="ＭＳ ゴシック" panose="020B0609070205080204" pitchFamily="49" charset="-128"/>
            </a:endParaRPr>
          </a:p>
          <a:p>
            <a:pPr algn="just">
              <a:spcBef>
                <a:spcPct val="20000"/>
              </a:spcBef>
            </a:pPr>
            <a:r>
              <a:rPr lang="ja-JP" altLang="ja-JP" sz="800" b="0">
                <a:latin typeface="ＭＳ ゴシック" panose="020B0609070205080204" pitchFamily="49" charset="-128"/>
                <a:ea typeface="ＭＳ ゴシック" panose="020B0609070205080204" pitchFamily="49" charset="-128"/>
              </a:rPr>
              <a:t>　age</a:t>
            </a:r>
            <a:endParaRPr lang="en-US" altLang="ja-JP" sz="800" b="0">
              <a:latin typeface="ＭＳ ゴシック" panose="020B0609070205080204" pitchFamily="49" charset="-128"/>
              <a:ea typeface="ＭＳ ゴシック" panose="020B0609070205080204" pitchFamily="49" charset="-128"/>
            </a:endParaRPr>
          </a:p>
          <a:p>
            <a:pPr algn="just">
              <a:lnSpc>
                <a:spcPct val="50000"/>
              </a:lnSpc>
            </a:pPr>
            <a:endParaRPr lang="ja-JP" altLang="ja-JP" sz="800" b="0">
              <a:latin typeface="ＭＳ ゴシック" panose="020B0609070205080204" pitchFamily="49" charset="-128"/>
              <a:ea typeface="ＭＳ ゴシック" panose="020B0609070205080204" pitchFamily="49" charset="-128"/>
            </a:endParaRP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setLastName(l:String):void</a:t>
            </a:r>
          </a:p>
          <a:p>
            <a:pPr algn="just"/>
            <a:r>
              <a:rPr lang="ja-JP" altLang="ja-JP" sz="800" b="0">
                <a:latin typeface="ＭＳ ゴシック" panose="020B0609070205080204" pitchFamily="49" charset="-128"/>
                <a:ea typeface="ＭＳ ゴシック" panose="020B0609070205080204" pitchFamily="49" charset="-128"/>
              </a:rPr>
              <a:t>　getFullName():String</a:t>
            </a:r>
          </a:p>
          <a:p>
            <a:pPr algn="just"/>
            <a:r>
              <a:rPr lang="ja-JP" altLang="ja-JP" sz="800" b="0">
                <a:latin typeface="ＭＳ ゴシック" panose="020B0609070205080204" pitchFamily="49" charset="-128"/>
                <a:ea typeface="ＭＳ ゴシック" panose="020B0609070205080204" pitchFamily="49" charset="-128"/>
              </a:rPr>
              <a:t>　printInfo():void</a:t>
            </a:r>
          </a:p>
        </p:txBody>
      </p:sp>
      <p:sp>
        <p:nvSpPr>
          <p:cNvPr id="554003" name="Line 19">
            <a:extLst>
              <a:ext uri="{FF2B5EF4-FFF2-40B4-BE49-F238E27FC236}">
                <a16:creationId xmlns:a16="http://schemas.microsoft.com/office/drawing/2014/main" id="{EF9A508E-03F4-DDCC-554D-6B8AA69FDF99}"/>
              </a:ext>
            </a:extLst>
          </p:cNvPr>
          <p:cNvSpPr>
            <a:spLocks noChangeShapeType="1"/>
          </p:cNvSpPr>
          <p:nvPr/>
        </p:nvSpPr>
        <p:spPr bwMode="auto">
          <a:xfrm>
            <a:off x="4521200" y="9034463"/>
            <a:ext cx="1552575" cy="0"/>
          </a:xfrm>
          <a:prstGeom prst="line">
            <a:avLst/>
          </a:prstGeom>
          <a:noFill/>
          <a:ln w="12700">
            <a:solidFill>
              <a:srgbClr val="80808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54004" name="Rectangle 20">
            <a:extLst>
              <a:ext uri="{FF2B5EF4-FFF2-40B4-BE49-F238E27FC236}">
                <a16:creationId xmlns:a16="http://schemas.microsoft.com/office/drawing/2014/main" id="{057DCA2E-871C-7001-9BE4-4CC202C5726C}"/>
              </a:ext>
            </a:extLst>
          </p:cNvPr>
          <p:cNvSpPr>
            <a:spLocks noChangeArrowheads="1"/>
          </p:cNvSpPr>
          <p:nvPr/>
        </p:nvSpPr>
        <p:spPr bwMode="auto">
          <a:xfrm>
            <a:off x="5275263" y="8893175"/>
            <a:ext cx="458787" cy="130175"/>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latin typeface="MS UI Gothic" panose="020B0600070205080204" pitchFamily="50" charset="-128"/>
                <a:ea typeface="MS UI Gothic" panose="020B0600070205080204" pitchFamily="50" charset="-128"/>
              </a:rPr>
              <a:t>20</a:t>
            </a:r>
            <a:endParaRPr lang="en-US" altLang="ja-JP" sz="800">
              <a:latin typeface="MS UI Gothic" panose="020B0600070205080204" pitchFamily="50" charset="-128"/>
              <a:ea typeface="MS UI Gothic" panose="020B0600070205080204" pitchFamily="50" charset="-128"/>
            </a:endParaRPr>
          </a:p>
        </p:txBody>
      </p:sp>
      <p:sp>
        <p:nvSpPr>
          <p:cNvPr id="554005" name="Rectangle 21">
            <a:extLst>
              <a:ext uri="{FF2B5EF4-FFF2-40B4-BE49-F238E27FC236}">
                <a16:creationId xmlns:a16="http://schemas.microsoft.com/office/drawing/2014/main" id="{A431E454-C0CB-1749-3D29-7BEBAF72CAA4}"/>
              </a:ext>
            </a:extLst>
          </p:cNvPr>
          <p:cNvSpPr>
            <a:spLocks noChangeArrowheads="1"/>
          </p:cNvSpPr>
          <p:nvPr/>
        </p:nvSpPr>
        <p:spPr bwMode="auto">
          <a:xfrm>
            <a:off x="5275263" y="8728075"/>
            <a:ext cx="538162" cy="139700"/>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80000"/>
              </a:lnSpc>
            </a:pPr>
            <a:r>
              <a:rPr lang="en-US" altLang="ja-JP" sz="800" b="0">
                <a:ea typeface="MS UI Gothic" panose="020B0600070205080204" pitchFamily="50" charset="-128"/>
              </a:rPr>
              <a:t>Ko có tên</a:t>
            </a:r>
          </a:p>
        </p:txBody>
      </p:sp>
      <p:sp>
        <p:nvSpPr>
          <p:cNvPr id="554006" name="Rectangle 22">
            <a:extLst>
              <a:ext uri="{FF2B5EF4-FFF2-40B4-BE49-F238E27FC236}">
                <a16:creationId xmlns:a16="http://schemas.microsoft.com/office/drawing/2014/main" id="{D13E11FA-3B4F-C4CE-3A20-A6EDD1EEB351}"/>
              </a:ext>
            </a:extLst>
          </p:cNvPr>
          <p:cNvSpPr>
            <a:spLocks noChangeArrowheads="1"/>
          </p:cNvSpPr>
          <p:nvPr/>
        </p:nvSpPr>
        <p:spPr bwMode="auto">
          <a:xfrm>
            <a:off x="5275263" y="8551863"/>
            <a:ext cx="531812" cy="139700"/>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ea typeface="MS UI Gothic" panose="020B0600070205080204" pitchFamily="50" charset="-128"/>
              </a:rPr>
              <a:t>Ko có họ</a:t>
            </a:r>
            <a:endParaRPr lang="en-US" altLang="ja-JP" sz="800">
              <a:ea typeface="MS UI Gothic" panose="020B0600070205080204" pitchFamily="50" charset="-128"/>
            </a:endParaRPr>
          </a:p>
        </p:txBody>
      </p:sp>
      <p:sp>
        <p:nvSpPr>
          <p:cNvPr id="554007" name="Rectangle 23">
            <a:extLst>
              <a:ext uri="{FF2B5EF4-FFF2-40B4-BE49-F238E27FC236}">
                <a16:creationId xmlns:a16="http://schemas.microsoft.com/office/drawing/2014/main" id="{D32FF0F5-BB9D-8A7B-5B73-01AE8FF47444}"/>
              </a:ext>
            </a:extLst>
          </p:cNvPr>
          <p:cNvSpPr>
            <a:spLocks noChangeArrowheads="1"/>
          </p:cNvSpPr>
          <p:nvPr/>
        </p:nvSpPr>
        <p:spPr bwMode="auto">
          <a:xfrm>
            <a:off x="782638" y="8001000"/>
            <a:ext cx="358775" cy="200025"/>
          </a:xfrm>
          <a:prstGeom prst="rect">
            <a:avLst/>
          </a:prstGeom>
          <a:noFill/>
          <a:ln w="12700" algn="ctr">
            <a:solidFill>
              <a:schemeClr val="tx1"/>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4008" name="Line 24">
            <a:extLst>
              <a:ext uri="{FF2B5EF4-FFF2-40B4-BE49-F238E27FC236}">
                <a16:creationId xmlns:a16="http://schemas.microsoft.com/office/drawing/2014/main" id="{6B78C9A9-1B86-C30A-7382-98DAAA68D923}"/>
              </a:ext>
            </a:extLst>
          </p:cNvPr>
          <p:cNvSpPr>
            <a:spLocks noChangeShapeType="1"/>
          </p:cNvSpPr>
          <p:nvPr/>
        </p:nvSpPr>
        <p:spPr bwMode="auto">
          <a:xfrm>
            <a:off x="1014413" y="8080375"/>
            <a:ext cx="214312" cy="236538"/>
          </a:xfrm>
          <a:prstGeom prst="line">
            <a:avLst/>
          </a:prstGeom>
          <a:noFill/>
          <a:ln w="12700">
            <a:solidFill>
              <a:srgbClr val="00008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54009" name="Rectangle 25">
            <a:extLst>
              <a:ext uri="{FF2B5EF4-FFF2-40B4-BE49-F238E27FC236}">
                <a16:creationId xmlns:a16="http://schemas.microsoft.com/office/drawing/2014/main" id="{A2C67BF8-A45C-7D7E-7C57-5CB8AA9F274D}"/>
              </a:ext>
            </a:extLst>
          </p:cNvPr>
          <p:cNvSpPr>
            <a:spLocks noChangeArrowheads="1"/>
          </p:cNvSpPr>
          <p:nvPr/>
        </p:nvSpPr>
        <p:spPr bwMode="auto">
          <a:xfrm>
            <a:off x="3600450" y="8008938"/>
            <a:ext cx="400050" cy="277812"/>
          </a:xfrm>
          <a:prstGeom prst="rect">
            <a:avLst/>
          </a:prstGeom>
          <a:noFill/>
          <a:ln w="12700" algn="ctr">
            <a:solidFill>
              <a:schemeClr val="tx1"/>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57" tIns="47728" rIns="95457" bIns="47728"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a:ea typeface="MS UI Gothic" panose="020B0600070205080204" pitchFamily="50" charset="-128"/>
              </a:rPr>
              <a:t>null</a:t>
            </a:r>
          </a:p>
        </p:txBody>
      </p:sp>
      <p:sp>
        <p:nvSpPr>
          <p:cNvPr id="554010" name="Text Box 26">
            <a:extLst>
              <a:ext uri="{FF2B5EF4-FFF2-40B4-BE49-F238E27FC236}">
                <a16:creationId xmlns:a16="http://schemas.microsoft.com/office/drawing/2014/main" id="{2919716E-E823-C4CE-D597-F5D99FE986B0}"/>
              </a:ext>
            </a:extLst>
          </p:cNvPr>
          <p:cNvSpPr txBox="1">
            <a:spLocks noChangeArrowheads="1"/>
          </p:cNvSpPr>
          <p:nvPr/>
        </p:nvSpPr>
        <p:spPr bwMode="auto">
          <a:xfrm>
            <a:off x="3363913" y="7610475"/>
            <a:ext cx="823912" cy="4191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Biến</a:t>
            </a:r>
            <a:r>
              <a:rPr lang="ja-JP" altLang="en-US" b="0">
                <a:latin typeface="MS UI Gothic" panose="020B0600070205080204" pitchFamily="50" charset="-128"/>
                <a:ea typeface="MS UI Gothic" panose="020B0600070205080204" pitchFamily="50" charset="-128"/>
              </a:rPr>
              <a:t>　</a:t>
            </a:r>
            <a:r>
              <a:rPr lang="en-US" altLang="ja-JP" b="0">
                <a:latin typeface="MS UI Gothic" panose="020B0600070205080204" pitchFamily="50" charset="-128"/>
                <a:ea typeface="MS UI Gothic" panose="020B0600070205080204" pitchFamily="50" charset="-128"/>
              </a:rPr>
              <a:t>personA</a:t>
            </a:r>
            <a:endParaRPr lang="en-US" altLang="ja-JP">
              <a:latin typeface="MS UI Gothic" panose="020B0600070205080204" pitchFamily="50" charset="-128"/>
              <a:ea typeface="MS UI Gothic" panose="020B0600070205080204" pitchFamily="50" charset="-128"/>
            </a:endParaRPr>
          </a:p>
        </p:txBody>
      </p:sp>
      <p:sp>
        <p:nvSpPr>
          <p:cNvPr id="554012" name="Text Box 28">
            <a:extLst>
              <a:ext uri="{FF2B5EF4-FFF2-40B4-BE49-F238E27FC236}">
                <a16:creationId xmlns:a16="http://schemas.microsoft.com/office/drawing/2014/main" id="{35CB9832-AA12-3B60-3E1B-66AB122D4517}"/>
              </a:ext>
            </a:extLst>
          </p:cNvPr>
          <p:cNvSpPr txBox="1">
            <a:spLocks noChangeArrowheads="1"/>
          </p:cNvSpPr>
          <p:nvPr/>
        </p:nvSpPr>
        <p:spPr bwMode="auto">
          <a:xfrm>
            <a:off x="4357688" y="8042275"/>
            <a:ext cx="1865312" cy="2428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Object của Person class</a:t>
            </a:r>
            <a:endParaRPr lang="en-US" altLang="ja-JP">
              <a:ea typeface="MS UI Gothic" panose="020B0600070205080204" pitchFamily="50" charset="-128"/>
            </a:endParaRPr>
          </a:p>
        </p:txBody>
      </p:sp>
      <p:sp>
        <p:nvSpPr>
          <p:cNvPr id="554013" name="Text Box 29">
            <a:extLst>
              <a:ext uri="{FF2B5EF4-FFF2-40B4-BE49-F238E27FC236}">
                <a16:creationId xmlns:a16="http://schemas.microsoft.com/office/drawing/2014/main" id="{272A52BC-B2B2-9F62-0514-DD702CBD1524}"/>
              </a:ext>
            </a:extLst>
          </p:cNvPr>
          <p:cNvSpPr txBox="1">
            <a:spLocks noChangeArrowheads="1"/>
          </p:cNvSpPr>
          <p:nvPr/>
        </p:nvSpPr>
        <p:spPr bwMode="auto">
          <a:xfrm>
            <a:off x="1233488" y="7861300"/>
            <a:ext cx="1866900" cy="2444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Object của Person class</a:t>
            </a:r>
            <a:endParaRPr lang="en-US" altLang="ja-JP">
              <a:ea typeface="MS UI Gothic" panose="020B0600070205080204" pitchFamily="50" charset="-128"/>
            </a:endParaRPr>
          </a:p>
        </p:txBody>
      </p:sp>
      <p:sp>
        <p:nvSpPr>
          <p:cNvPr id="554016" name="AutoShape 32">
            <a:extLst>
              <a:ext uri="{FF2B5EF4-FFF2-40B4-BE49-F238E27FC236}">
                <a16:creationId xmlns:a16="http://schemas.microsoft.com/office/drawing/2014/main" id="{62E476F4-A159-2B08-C95B-0EB77FCCE275}"/>
              </a:ext>
            </a:extLst>
          </p:cNvPr>
          <p:cNvSpPr>
            <a:spLocks noChangeArrowheads="1"/>
          </p:cNvSpPr>
          <p:nvPr/>
        </p:nvSpPr>
        <p:spPr bwMode="auto">
          <a:xfrm>
            <a:off x="4044950" y="7532688"/>
            <a:ext cx="2376488" cy="460375"/>
          </a:xfrm>
          <a:prstGeom prst="wedgeRoundRectCallout">
            <a:avLst>
              <a:gd name="adj1" fmla="val -46199"/>
              <a:gd name="adj2" fmla="val 89644"/>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Nếu gán null thì nơi tham chiếu của personA sẽ trở thành </a:t>
            </a:r>
            <a:r>
              <a:rPr lang="ja-JP" altLang="en-US" b="0">
                <a:ea typeface="MS UI Gothic" panose="020B0600070205080204" pitchFamily="50" charset="-128"/>
              </a:rPr>
              <a:t>「</a:t>
            </a:r>
            <a:r>
              <a:rPr lang="en-US" altLang="ja-JP" b="0">
                <a:ea typeface="MS UI Gothic" panose="020B0600070205080204" pitchFamily="50" charset="-128"/>
              </a:rPr>
              <a:t>không có</a:t>
            </a:r>
            <a:r>
              <a:rPr lang="ja-JP" altLang="en-US" b="0">
                <a:ea typeface="MS UI Gothic" panose="020B0600070205080204" pitchFamily="50" charset="-128"/>
              </a:rPr>
              <a:t>」</a:t>
            </a:r>
            <a:r>
              <a:rPr lang="en-US" altLang="ja-JP" b="0">
                <a:ea typeface="MS UI Gothic" panose="020B0600070205080204" pitchFamily="50" charset="-128"/>
              </a:rPr>
              <a:t>.</a:t>
            </a:r>
          </a:p>
        </p:txBody>
      </p:sp>
      <p:sp>
        <p:nvSpPr>
          <p:cNvPr id="554017" name="AutoShape 33">
            <a:extLst>
              <a:ext uri="{FF2B5EF4-FFF2-40B4-BE49-F238E27FC236}">
                <a16:creationId xmlns:a16="http://schemas.microsoft.com/office/drawing/2014/main" id="{0151AB59-BB24-5878-9FFD-F1738FF68074}"/>
              </a:ext>
            </a:extLst>
          </p:cNvPr>
          <p:cNvSpPr>
            <a:spLocks noChangeArrowheads="1"/>
          </p:cNvSpPr>
          <p:nvPr/>
        </p:nvSpPr>
        <p:spPr bwMode="auto">
          <a:xfrm>
            <a:off x="2994025" y="9302750"/>
            <a:ext cx="1482725" cy="511175"/>
          </a:xfrm>
          <a:prstGeom prst="wedgeRoundRectCallout">
            <a:avLst>
              <a:gd name="adj1" fmla="val 42398"/>
              <a:gd name="adj2" fmla="val -115218"/>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Trở thành đối tượng giải phóng nhờ garbage collector.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130" name="Rectangle 2">
            <a:extLst>
              <a:ext uri="{FF2B5EF4-FFF2-40B4-BE49-F238E27FC236}">
                <a16:creationId xmlns:a16="http://schemas.microsoft.com/office/drawing/2014/main" id="{F9293D8D-CED8-EC0B-B1F4-853143E745FA}"/>
              </a:ext>
            </a:extLst>
          </p:cNvPr>
          <p:cNvSpPr>
            <a:spLocks noRot="1" noChangeAspect="1" noChangeArrowheads="1" noTextEdit="1"/>
          </p:cNvSpPr>
          <p:nvPr>
            <p:ph type="sldImg"/>
          </p:nvPr>
        </p:nvSpPr>
        <p:spPr>
          <a:xfrm>
            <a:off x="531813" y="835025"/>
            <a:ext cx="6024562" cy="4170363"/>
          </a:xfrm>
          <a:ln/>
        </p:spPr>
      </p:sp>
      <p:sp>
        <p:nvSpPr>
          <p:cNvPr id="560131" name="Rectangle 3">
            <a:extLst>
              <a:ext uri="{FF2B5EF4-FFF2-40B4-BE49-F238E27FC236}">
                <a16:creationId xmlns:a16="http://schemas.microsoft.com/office/drawing/2014/main" id="{04A20E35-17DF-A0B3-5240-AAFB5A878AA5}"/>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Instance method</a:t>
            </a:r>
          </a:p>
          <a:p>
            <a:pPr marL="0" indent="0"/>
            <a:r>
              <a:rPr lang="ja-JP" altLang="en-US">
                <a:latin typeface="Arial" panose="020B0604020202020204" pitchFamily="34" charset="0"/>
              </a:rPr>
              <a:t>　</a:t>
            </a:r>
            <a:r>
              <a:rPr lang="en-US" altLang="ja-JP">
                <a:latin typeface="Arial" panose="020B0604020202020204" pitchFamily="34" charset="0"/>
              </a:rPr>
              <a:t>Method có 2 loại là instance method, static method.</a:t>
            </a:r>
          </a:p>
          <a:p>
            <a:pPr marL="0" indent="0"/>
            <a:r>
              <a:rPr lang="ja-JP" altLang="en-US">
                <a:latin typeface="Arial" panose="020B0604020202020204" pitchFamily="34" charset="0"/>
              </a:rPr>
              <a:t>　</a:t>
            </a:r>
            <a:r>
              <a:rPr lang="en-US" altLang="ja-JP">
                <a:latin typeface="Arial" panose="020B0604020202020204" pitchFamily="34" charset="0"/>
              </a:rPr>
              <a:t>Instance method là method thể hiện thao tác mà các object có, và được sử dụng trong trường hợp set hoặc get giá trị của thuộc tính. </a:t>
            </a:r>
          </a:p>
          <a:p>
            <a:pPr marL="0" indent="0"/>
            <a:r>
              <a:rPr lang="ja-JP" altLang="en-US">
                <a:latin typeface="Arial" panose="020B0604020202020204" pitchFamily="34" charset="0"/>
              </a:rPr>
              <a:t>　</a:t>
            </a:r>
            <a:r>
              <a:rPr lang="en-US" altLang="ja-JP">
                <a:latin typeface="Arial" panose="020B0604020202020204" pitchFamily="34" charset="0"/>
              </a:rPr>
              <a:t>static method là method được xác lập ở đơn vị class. Về static method sẽ giải thích sau.</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Gọi ra instance method</a:t>
            </a:r>
          </a:p>
          <a:p>
            <a:pPr marL="0" indent="0"/>
            <a:r>
              <a:rPr lang="ja-JP" altLang="en-US">
                <a:latin typeface="Arial" panose="020B0604020202020204" pitchFamily="34" charset="0"/>
              </a:rPr>
              <a:t>　</a:t>
            </a:r>
            <a:r>
              <a:rPr lang="en-US" altLang="ja-JP">
                <a:latin typeface="Arial" panose="020B0604020202020204" pitchFamily="34" charset="0"/>
              </a:rPr>
              <a:t>Instance method sẽ chỉ định object của class đó và gọi ra.</a:t>
            </a:r>
          </a:p>
          <a:p>
            <a:pPr marL="0" indent="0"/>
            <a:r>
              <a:rPr lang="ja-JP" altLang="en-US">
                <a:latin typeface="Arial" panose="020B0604020202020204" pitchFamily="34" charset="0"/>
              </a:rPr>
              <a:t>　</a:t>
            </a:r>
            <a:r>
              <a:rPr lang="en-US" altLang="ja-JP">
                <a:latin typeface="Arial" panose="020B0604020202020204" pitchFamily="34" charset="0"/>
              </a:rPr>
              <a:t>Method có thể được gọi ra ở giữa chừng của statement đơn đọc hoặc giữa chừng của biểu thức.</a:t>
            </a:r>
          </a:p>
          <a:p>
            <a:pPr marL="0" indent="0"/>
            <a:r>
              <a:rPr lang="ja-JP" altLang="en-US">
                <a:latin typeface="Arial" panose="020B0604020202020204" pitchFamily="34" charset="0"/>
              </a:rPr>
              <a:t>　</a:t>
            </a:r>
            <a:r>
              <a:rPr lang="en-US" altLang="ja-JP">
                <a:latin typeface="Arial" panose="020B0604020202020204" pitchFamily="34" charset="0"/>
              </a:rPr>
              <a:t>Method có giá trị trả về thông thường sẽ được gọi ra bằng hình thức nhận giá trị trả về.</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 Trường hợp tiến hành nhân truyền giá trị thì phải chỉ định list đối số.</a:t>
            </a:r>
          </a:p>
          <a:p>
            <a:pPr marL="0" indent="0"/>
            <a:r>
              <a:rPr lang="ja-JP" altLang="en-US">
                <a:latin typeface="Arial" panose="020B0604020202020204" pitchFamily="34" charset="0"/>
              </a:rPr>
              <a:t>　　</a:t>
            </a:r>
            <a:r>
              <a:rPr lang="en-US" altLang="ja-JP">
                <a:latin typeface="Arial" panose="020B0604020202020204" pitchFamily="34" charset="0"/>
              </a:rPr>
              <a:t>Trường hợp không có giá trị tiến hành nhận truyền thì chỉ chỉ định (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560132" name="Text Box 4">
            <a:extLst>
              <a:ext uri="{FF2B5EF4-FFF2-40B4-BE49-F238E27FC236}">
                <a16:creationId xmlns:a16="http://schemas.microsoft.com/office/drawing/2014/main" id="{F4A899F3-755C-5172-2C56-52E6B7DD4557}"/>
              </a:ext>
            </a:extLst>
          </p:cNvPr>
          <p:cNvSpPr txBox="1">
            <a:spLocks noChangeArrowheads="1"/>
          </p:cNvSpPr>
          <p:nvPr/>
        </p:nvSpPr>
        <p:spPr bwMode="auto">
          <a:xfrm>
            <a:off x="719138" y="7337425"/>
            <a:ext cx="5643562" cy="2571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MS UI Gothic" panose="020B0600070205080204" pitchFamily="50" charset="-128"/>
              </a:rPr>
              <a:t>　</a:t>
            </a:r>
            <a:r>
              <a:rPr lang="en-US" altLang="ja-JP" b="0">
                <a:ea typeface="MS UI Gothic" panose="020B0600070205080204" pitchFamily="50" charset="-128"/>
              </a:rPr>
              <a:t>Tên biến có tham chiếu của object</a:t>
            </a:r>
            <a:r>
              <a:rPr lang="ja-JP" altLang="ja-JP" b="0">
                <a:ea typeface="ＭＳ ゴシック" panose="020B0609070205080204" pitchFamily="49" charset="-128"/>
              </a:rPr>
              <a:t>.</a:t>
            </a:r>
            <a:r>
              <a:rPr lang="en-US" altLang="ja-JP" b="0">
                <a:ea typeface="ＭＳ ゴシック" panose="020B0609070205080204" pitchFamily="49" charset="-128"/>
              </a:rPr>
              <a:t>tên method</a:t>
            </a:r>
            <a:r>
              <a:rPr lang="ja-JP" altLang="ja-JP" b="0">
                <a:ea typeface="ＭＳ ゴシック" panose="020B0609070205080204" pitchFamily="49" charset="-128"/>
              </a:rPr>
              <a:t>(</a:t>
            </a:r>
            <a:r>
              <a:rPr lang="ja-JP" altLang="ja-JP" b="0">
                <a:ea typeface="MS UI Gothic" panose="020B0600070205080204" pitchFamily="50" charset="-128"/>
              </a:rPr>
              <a:t> </a:t>
            </a:r>
            <a:r>
              <a:rPr lang="en-US" altLang="ja-JP" b="0">
                <a:ea typeface="MS UI Gothic" panose="020B0600070205080204" pitchFamily="50" charset="-128"/>
              </a:rPr>
              <a:t>list đối số</a:t>
            </a:r>
            <a:r>
              <a:rPr lang="ja-JP" altLang="ja-JP" b="0">
                <a:ea typeface="MS UI Gothic" panose="020B0600070205080204" pitchFamily="50" charset="-128"/>
              </a:rPr>
              <a:t> </a:t>
            </a:r>
            <a:r>
              <a:rPr lang="ja-JP" altLang="ja-JP" b="0">
                <a:ea typeface="ＭＳ ゴシック" panose="020B0609070205080204" pitchFamily="49" charset="-128"/>
              </a:rPr>
              <a:t>)</a:t>
            </a:r>
            <a:r>
              <a:rPr lang="ja-JP" altLang="ja-JP" b="0">
                <a:ea typeface="MS UI Gothic" panose="020B0600070205080204" pitchFamily="50" charset="-128"/>
              </a:rPr>
              <a:t> </a:t>
            </a:r>
            <a:endParaRPr lang="en-US" altLang="ja-JP" b="0">
              <a:ea typeface="MS UI Gothic" panose="020B0600070205080204" pitchFamily="50" charset="-128"/>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2179" name="Rectangle 3">
            <a:extLst>
              <a:ext uri="{FF2B5EF4-FFF2-40B4-BE49-F238E27FC236}">
                <a16:creationId xmlns:a16="http://schemas.microsoft.com/office/drawing/2014/main" id="{6948032D-7614-DB27-8F91-FC04485AB099}"/>
              </a:ext>
            </a:extLst>
          </p:cNvPr>
          <p:cNvSpPr>
            <a:spLocks noGrp="1" noChangeArrowheads="1"/>
          </p:cNvSpPr>
          <p:nvPr>
            <p:ph type="body" idx="1"/>
          </p:nvPr>
        </p:nvSpPr>
        <p:spPr>
          <a:xfrm>
            <a:off x="723900" y="682625"/>
            <a:ext cx="5635625" cy="9305925"/>
          </a:xfrm>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dụ</a:t>
            </a:r>
          </a:p>
          <a:p>
            <a:pPr marL="0" indent="0"/>
            <a:endParaRPr lang="en-US" altLang="ja-JP">
              <a:latin typeface="Arial" panose="020B0604020202020204" pitchFamily="34" charset="0"/>
            </a:endParaRPr>
          </a:p>
          <a:p>
            <a:pPr marL="0" indent="0"/>
            <a:r>
              <a:rPr lang="en-US" altLang="ja-JP">
                <a:latin typeface="Arial" panose="020B0604020202020204" pitchFamily="34" charset="0"/>
              </a:rPr>
              <a:t>【Person class】</a:t>
            </a:r>
            <a:r>
              <a:rPr lang="ja-JP" altLang="en-US">
                <a:latin typeface="Arial" panose="020B0604020202020204" pitchFamily="34" charset="0"/>
              </a:rPr>
              <a:t>（</a:t>
            </a:r>
            <a:r>
              <a:rPr lang="en-US" altLang="ja-JP">
                <a:latin typeface="Arial" panose="020B0604020202020204" pitchFamily="34" charset="0"/>
              </a:rPr>
              <a:t>Trích ra một phần</a:t>
            </a:r>
            <a:r>
              <a:rPr lang="ja-JP" altLang="en-US">
                <a:latin typeface="Arial" panose="020B0604020202020204" pitchFamily="34" charset="0"/>
              </a:rPr>
              <a:t>）</a:t>
            </a: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r>
              <a:rPr lang="en-US" altLang="ja-JP">
                <a:latin typeface="Arial" panose="020B0604020202020204" pitchFamily="34" charset="0"/>
              </a:rPr>
              <a:t>【Sinh object và gọi ra method】</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 thực hiện】</a:t>
            </a:r>
          </a:p>
        </p:txBody>
      </p:sp>
      <p:grpSp>
        <p:nvGrpSpPr>
          <p:cNvPr id="562201" name="Group 25">
            <a:extLst>
              <a:ext uri="{FF2B5EF4-FFF2-40B4-BE49-F238E27FC236}">
                <a16:creationId xmlns:a16="http://schemas.microsoft.com/office/drawing/2014/main" id="{133D8FB1-75DD-D812-93BE-6336F0BB282C}"/>
              </a:ext>
            </a:extLst>
          </p:cNvPr>
          <p:cNvGrpSpPr>
            <a:grpSpLocks/>
          </p:cNvGrpSpPr>
          <p:nvPr/>
        </p:nvGrpSpPr>
        <p:grpSpPr bwMode="auto">
          <a:xfrm>
            <a:off x="561975" y="1295400"/>
            <a:ext cx="5859463" cy="8566150"/>
            <a:chOff x="354" y="816"/>
            <a:chExt cx="3691" cy="5396"/>
          </a:xfrm>
        </p:grpSpPr>
        <p:sp>
          <p:nvSpPr>
            <p:cNvPr id="562195" name="Text Box 19">
              <a:extLst>
                <a:ext uri="{FF2B5EF4-FFF2-40B4-BE49-F238E27FC236}">
                  <a16:creationId xmlns:a16="http://schemas.microsoft.com/office/drawing/2014/main" id="{D8BF1A7E-9E5E-BC09-60BB-662B9BDD6EBB}"/>
                </a:ext>
              </a:extLst>
            </p:cNvPr>
            <p:cNvSpPr txBox="1">
              <a:spLocks noChangeArrowheads="1"/>
            </p:cNvSpPr>
            <p:nvPr/>
          </p:nvSpPr>
          <p:spPr bwMode="auto">
            <a:xfrm>
              <a:off x="379" y="816"/>
              <a:ext cx="3658" cy="294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Định nghĩa </a:t>
              </a:r>
              <a:r>
                <a:rPr lang="en-US" altLang="en-US" b="0">
                  <a:ea typeface="ＭＳ ゴシック" panose="020B0609070205080204" pitchFamily="49" charset="-128"/>
                </a:rPr>
                <a:t>Person</a:t>
              </a:r>
              <a:r>
                <a:rPr lang="en-US" altLang="ja-JP" b="0">
                  <a:ea typeface="ＭＳ ゴシック" panose="020B0609070205080204" pitchFamily="49" charset="-128"/>
                </a:rPr>
                <a:t> class</a:t>
              </a:r>
              <a:endParaRPr lang="en-US" altLang="en-US" b="0">
                <a:ea typeface="ＭＳ ゴシック" panose="020B0609070205080204" pitchFamily="49" charset="-128"/>
              </a:endParaRPr>
            </a:p>
            <a:p>
              <a:pPr lvl="1" algn="just">
                <a:buFontTx/>
                <a:buAutoNum type="arabicPeriod"/>
              </a:pPr>
              <a:r>
                <a:rPr lang="en-US" altLang="ja-JP" b="0">
                  <a:latin typeface="ＭＳ ゴシック" panose="020B0609070205080204" pitchFamily="49" charset="-128"/>
                  <a:ea typeface="ＭＳ ゴシック" panose="020B0609070205080204" pitchFamily="49" charset="-128"/>
                </a:rPr>
                <a:t>public class</a:t>
              </a:r>
              <a:r>
                <a:rPr lang="en-US" altLang="en-US" b="0">
                  <a:latin typeface="ＭＳ ゴシック" panose="020B0609070205080204" pitchFamily="49" charset="-128"/>
                  <a:ea typeface="ＭＳ ゴシック" panose="020B0609070205080204" pitchFamily="49" charset="-128"/>
                </a:rPr>
                <a:t> Person</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field</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private String lastName;   // </a:t>
              </a:r>
              <a:r>
                <a:rPr lang="en-US" altLang="ja-JP" b="0">
                  <a:ea typeface="ＭＳ ゴシック" panose="020B0609070205080204" pitchFamily="49" charset="-128"/>
                </a:rPr>
                <a:t>họ</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private String firstName;  // </a:t>
              </a:r>
              <a:r>
                <a:rPr lang="en-US" altLang="ja-JP" b="0">
                  <a:ea typeface="ＭＳ ゴシック" panose="020B0609070205080204" pitchFamily="49" charset="-128"/>
                </a:rPr>
                <a:t>tên</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private int age;           // </a:t>
              </a:r>
              <a:r>
                <a:rPr lang="en-US" altLang="ja-JP" b="0">
                  <a:ea typeface="ＭＳ ゴシック" panose="020B0609070205080204" pitchFamily="49" charset="-128"/>
                </a:rPr>
                <a:t>tuổi</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constructor</a:t>
              </a:r>
              <a:endParaRPr lang="en-US" altLang="en-US" b="0">
                <a:ea typeface="ＭＳ ゴシック" panose="020B0609070205080204" pitchFamily="49" charset="-128"/>
              </a:endParaRPr>
            </a:p>
            <a:p>
              <a:pPr lvl="1" algn="just">
                <a:buFontTx/>
                <a:buAutoNum type="arabicPeriod"/>
              </a:pP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public Person(String </a:t>
              </a:r>
              <a:r>
                <a:rPr lang="en-US" altLang="ja-JP" b="0">
                  <a:latin typeface="ＭＳ ゴシック" panose="020B0609070205080204" pitchFamily="49" charset="-128"/>
                  <a:ea typeface="ＭＳ ゴシック" panose="020B0609070205080204" pitchFamily="49" charset="-128"/>
                </a:rPr>
                <a:t>lname, String</a:t>
              </a:r>
              <a:r>
                <a:rPr lang="en-US"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fname, int</a:t>
              </a:r>
              <a:r>
                <a:rPr lang="en-US" altLang="en-US" b="0">
                  <a:latin typeface="ＭＳ ゴシック" panose="020B0609070205080204" pitchFamily="49" charset="-128"/>
                  <a:ea typeface="ＭＳ ゴシック" panose="020B0609070205080204" pitchFamily="49" charset="-128"/>
                </a:rPr>
                <a:t> a</a:t>
              </a: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lastName = lname;</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firstName = fname;</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age = a;</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method</a:t>
              </a:r>
              <a:endParaRPr lang="en-US" altLang="en-US" b="0">
                <a:ea typeface="ＭＳ ゴシック" panose="020B0609070205080204" pitchFamily="49" charset="-128"/>
              </a:endParaRP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public void setLastName(String lname</a:t>
              </a: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lastName = lname;</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public String getFullName</a:t>
              </a: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return (lastName + " " + firstName);</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public void printInfo</a:t>
              </a: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System.out.println(lastName + "さんは</a:t>
              </a:r>
              <a:r>
                <a:rPr lang="en-US" altLang="ja-JP" b="0">
                  <a:ea typeface="ＭＳ ゴシック" panose="020B0609070205080204" pitchFamily="49" charset="-128"/>
                </a:rPr>
                <a:t>(san wa</a:t>
              </a:r>
              <a:r>
                <a:rPr lang="en-US" altLang="ja-JP" b="0">
                  <a:latin typeface="ＭＳ ゴシック" panose="020B0609070205080204" pitchFamily="49" charset="-128"/>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 + age + "才です</a:t>
              </a:r>
              <a:r>
                <a:rPr lang="en-US" altLang="ja-JP" b="0">
                  <a:ea typeface="ＭＳ ゴシック" panose="020B0609070205080204" pitchFamily="49" charset="-128"/>
                </a:rPr>
                <a:t>(sai desu</a:t>
              </a:r>
              <a:r>
                <a:rPr lang="en-US" altLang="ja-JP" b="0">
                  <a:latin typeface="ＭＳ ゴシック" panose="020B0609070205080204" pitchFamily="49" charset="-128"/>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    }</a:t>
              </a:r>
            </a:p>
            <a:p>
              <a:pPr lvl="1" algn="just">
                <a:buFontTx/>
                <a:buAutoNum type="arabicPeriod"/>
              </a:pPr>
              <a:r>
                <a:rPr lang="en-US" altLang="en-US" b="0">
                  <a:latin typeface="ＭＳ ゴシック" panose="020B0609070205080204" pitchFamily="49" charset="-128"/>
                  <a:ea typeface="ＭＳ ゴシック" panose="020B0609070205080204" pitchFamily="49" charset="-128"/>
                </a:rPr>
                <a:t>}</a:t>
              </a:r>
              <a:endParaRPr lang="ja-JP" altLang="ja-JP" b="0">
                <a:latin typeface="ＭＳ ゴシック" panose="020B0609070205080204" pitchFamily="49" charset="-128"/>
                <a:ea typeface="ＭＳ ゴシック" panose="020B0609070205080204" pitchFamily="49" charset="-128"/>
              </a:endParaRPr>
            </a:p>
          </p:txBody>
        </p:sp>
        <p:sp>
          <p:nvSpPr>
            <p:cNvPr id="562180" name="Rectangle 4">
              <a:extLst>
                <a:ext uri="{FF2B5EF4-FFF2-40B4-BE49-F238E27FC236}">
                  <a16:creationId xmlns:a16="http://schemas.microsoft.com/office/drawing/2014/main" id="{4D01170A-3D4B-882A-51B5-32D1DAED0C13}"/>
                </a:ext>
              </a:extLst>
            </p:cNvPr>
            <p:cNvSpPr>
              <a:spLocks noChangeArrowheads="1"/>
            </p:cNvSpPr>
            <p:nvPr/>
          </p:nvSpPr>
          <p:spPr bwMode="auto">
            <a:xfrm>
              <a:off x="354" y="4125"/>
              <a:ext cx="3691" cy="1441"/>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Bef>
                  <a:spcPct val="10000"/>
                </a:spcBef>
                <a:buFont typeface="Wingdings" panose="05000000000000000000" pitchFamily="2" charset="2"/>
                <a:buNone/>
              </a:pPr>
              <a:r>
                <a:rPr lang="en-US" altLang="en-US" b="0">
                  <a:latin typeface="ＭＳ ゴシック" panose="020B0609070205080204" pitchFamily="49" charset="-128"/>
                  <a:ea typeface="ＭＳ ゴシック" panose="020B0609070205080204" pitchFamily="49" charset="-128"/>
                </a:rPr>
                <a:t>Person personA = new Person("佐藤</a:t>
              </a:r>
              <a:r>
                <a:rPr lang="en-US" altLang="ja-JP" b="0">
                  <a:latin typeface="ＭＳ ゴシック" panose="020B0609070205080204" pitchFamily="49" charset="-128"/>
                  <a:ea typeface="ＭＳ ゴシック" panose="020B0609070205080204" pitchFamily="49" charset="-128"/>
                </a:rPr>
                <a:t>(Sato)", "</a:t>
              </a:r>
              <a:r>
                <a:rPr lang="en-US" altLang="en-US" b="0">
                  <a:latin typeface="ＭＳ ゴシック" panose="020B0609070205080204" pitchFamily="49" charset="-128"/>
                  <a:ea typeface="ＭＳ ゴシック" panose="020B0609070205080204" pitchFamily="49" charset="-128"/>
                </a:rPr>
                <a:t>花子</a:t>
              </a:r>
              <a:r>
                <a:rPr lang="en-US" altLang="ja-JP" b="0">
                  <a:latin typeface="ＭＳ ゴシック" panose="020B0609070205080204" pitchFamily="49" charset="-128"/>
                  <a:ea typeface="ＭＳ ゴシック" panose="020B0609070205080204" pitchFamily="49" charset="-128"/>
                </a:rPr>
                <a:t>(Hanako)</a:t>
              </a:r>
              <a:r>
                <a:rPr lang="en-US" altLang="en-US" b="0">
                  <a:latin typeface="ＭＳ ゴシック" panose="020B0609070205080204" pitchFamily="49" charset="-128"/>
                  <a:ea typeface="ＭＳ ゴシック" panose="020B0609070205080204" pitchFamily="49" charset="-128"/>
                </a:rPr>
                <a:t>",</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22);</a:t>
              </a:r>
            </a:p>
            <a:p>
              <a:pPr lvl="1">
                <a:spcBef>
                  <a:spcPct val="10000"/>
                </a:spcBef>
                <a:buFont typeface="Wingdings" panose="05000000000000000000" pitchFamily="2" charset="2"/>
                <a:buNone/>
              </a:pPr>
              <a:endParaRPr lang="en-US" altLang="en-US" b="0">
                <a:latin typeface="ＭＳ ゴシック" panose="020B0609070205080204" pitchFamily="49" charset="-128"/>
                <a:ea typeface="ＭＳ ゴシック" panose="020B0609070205080204" pitchFamily="49" charset="-128"/>
              </a:endParaRPr>
            </a:p>
            <a:p>
              <a:pPr lvl="1">
                <a:spcBef>
                  <a:spcPct val="10000"/>
                </a:spcBef>
                <a:buFont typeface="Wingdings" panose="05000000000000000000" pitchFamily="2" charset="2"/>
                <a:buNone/>
              </a:pPr>
              <a:r>
                <a:rPr lang="en-US" altLang="en-US"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Hiển thị thông tin cá nhân</a:t>
              </a:r>
              <a:endParaRPr lang="en-US" altLang="en-US" b="0">
                <a:ea typeface="ＭＳ ゴシック" panose="020B0609070205080204" pitchFamily="49" charset="-128"/>
              </a:endParaRPr>
            </a:p>
            <a:p>
              <a:pPr lvl="1">
                <a:spcBef>
                  <a:spcPct val="10000"/>
                </a:spcBef>
                <a:buFont typeface="Wingdings" panose="05000000000000000000" pitchFamily="2" charset="2"/>
                <a:buNone/>
              </a:pPr>
              <a:r>
                <a:rPr lang="en-US" altLang="en-US" b="0">
                  <a:latin typeface="ＭＳ ゴシック" panose="020B0609070205080204" pitchFamily="49" charset="-128"/>
                  <a:ea typeface="ＭＳ ゴシック" panose="020B0609070205080204" pitchFamily="49" charset="-128"/>
                </a:rPr>
                <a:t>personA.printInfo();</a:t>
              </a:r>
            </a:p>
            <a:p>
              <a:pPr lvl="1">
                <a:spcBef>
                  <a:spcPct val="10000"/>
                </a:spcBef>
                <a:buFont typeface="Wingdings" panose="05000000000000000000" pitchFamily="2" charset="2"/>
                <a:buNone/>
              </a:pPr>
              <a:endParaRPr lang="en-US" altLang="ja-JP" b="0">
                <a:latin typeface="ＭＳ ゴシック" panose="020B0609070205080204" pitchFamily="49" charset="-128"/>
                <a:ea typeface="ＭＳ ゴシック" panose="020B0609070205080204" pitchFamily="49" charset="-128"/>
              </a:endParaRPr>
            </a:p>
            <a:p>
              <a:pPr lvl="1">
                <a:spcBef>
                  <a:spcPct val="10000"/>
                </a:spcBef>
                <a:buFont typeface="Wingdings" panose="05000000000000000000" pitchFamily="2" charset="2"/>
                <a:buNone/>
              </a:pPr>
              <a:r>
                <a:rPr lang="en-US" altLang="en-US"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Thay đổi họ</a:t>
              </a:r>
              <a:endParaRPr lang="en-US" altLang="en-US" b="0">
                <a:ea typeface="ＭＳ ゴシック" panose="020B0609070205080204" pitchFamily="49" charset="-128"/>
              </a:endParaRPr>
            </a:p>
            <a:p>
              <a:pPr lvl="1">
                <a:spcBef>
                  <a:spcPct val="10000"/>
                </a:spcBef>
                <a:buFont typeface="Wingdings" panose="05000000000000000000" pitchFamily="2" charset="2"/>
                <a:buNone/>
              </a:pPr>
              <a:r>
                <a:rPr lang="en-US" altLang="en-US" b="0">
                  <a:latin typeface="ＭＳ ゴシック" panose="020B0609070205080204" pitchFamily="49" charset="-128"/>
                  <a:ea typeface="ＭＳ ゴシック" panose="020B0609070205080204" pitchFamily="49" charset="-128"/>
                </a:rPr>
                <a:t>personA.setLastName("川村</a:t>
              </a:r>
              <a:r>
                <a:rPr lang="en-US" altLang="ja-JP" b="0">
                  <a:latin typeface="ＭＳ ゴシック" panose="020B0609070205080204" pitchFamily="49" charset="-128"/>
                  <a:ea typeface="ＭＳ ゴシック" panose="020B0609070205080204" pitchFamily="49" charset="-128"/>
                </a:rPr>
                <a:t>(Kawamura)</a:t>
              </a:r>
              <a:r>
                <a:rPr lang="en-US" altLang="en-US" b="0">
                  <a:latin typeface="ＭＳ ゴシック" panose="020B0609070205080204" pitchFamily="49" charset="-128"/>
                  <a:ea typeface="ＭＳ ゴシック" panose="020B0609070205080204" pitchFamily="49" charset="-128"/>
                </a:rPr>
                <a:t>");</a:t>
              </a:r>
              <a:endParaRPr lang="en-US" altLang="ja-JP" b="0">
                <a:latin typeface="ＭＳ ゴシック" panose="020B0609070205080204" pitchFamily="49" charset="-128"/>
                <a:ea typeface="ＭＳ ゴシック" panose="020B0609070205080204" pitchFamily="49" charset="-128"/>
              </a:endParaRPr>
            </a:p>
            <a:p>
              <a:pPr lvl="1">
                <a:spcBef>
                  <a:spcPct val="10000"/>
                </a:spcBef>
                <a:buFont typeface="Wingdings" panose="05000000000000000000" pitchFamily="2" charset="2"/>
                <a:buNone/>
              </a:pPr>
              <a:endParaRPr lang="en-US" altLang="ja-JP" b="0">
                <a:latin typeface="ＭＳ ゴシック" panose="020B0609070205080204" pitchFamily="49" charset="-128"/>
                <a:ea typeface="ＭＳ ゴシック" panose="020B0609070205080204" pitchFamily="49" charset="-128"/>
              </a:endParaRPr>
            </a:p>
            <a:p>
              <a:pPr lvl="1">
                <a:spcBef>
                  <a:spcPct val="10000"/>
                </a:spcBef>
                <a:buFont typeface="Wingdings" panose="05000000000000000000" pitchFamily="2" charset="2"/>
                <a:buNone/>
              </a:pPr>
              <a:r>
                <a:rPr lang="en-US" altLang="en-US"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Get họ tên</a:t>
              </a:r>
              <a:endParaRPr lang="en-US" altLang="en-US" b="0">
                <a:ea typeface="ＭＳ ゴシック" panose="020B0609070205080204" pitchFamily="49" charset="-128"/>
              </a:endParaRPr>
            </a:p>
            <a:p>
              <a:pPr lvl="1">
                <a:spcBef>
                  <a:spcPct val="10000"/>
                </a:spcBef>
                <a:buFont typeface="Wingdings" panose="05000000000000000000" pitchFamily="2" charset="2"/>
                <a:buNone/>
              </a:pPr>
              <a:r>
                <a:rPr lang="en-US" altLang="en-US" b="0">
                  <a:latin typeface="ＭＳ ゴシック" panose="020B0609070205080204" pitchFamily="49" charset="-128"/>
                  <a:ea typeface="ＭＳ ゴシック" panose="020B0609070205080204" pitchFamily="49" charset="-128"/>
                </a:rPr>
                <a:t>String fullName = personA.getFullName();</a:t>
              </a:r>
              <a:endParaRPr lang="en-US" altLang="ja-JP" b="0">
                <a:latin typeface="ＭＳ ゴシック" panose="020B0609070205080204" pitchFamily="49" charset="-128"/>
                <a:ea typeface="ＭＳ ゴシック" panose="020B0609070205080204" pitchFamily="49" charset="-128"/>
              </a:endParaRPr>
            </a:p>
            <a:p>
              <a:pPr lvl="1">
                <a:spcBef>
                  <a:spcPct val="10000"/>
                </a:spcBef>
                <a:buFont typeface="Wingdings" panose="05000000000000000000" pitchFamily="2" charset="2"/>
                <a:buNone/>
              </a:pPr>
              <a:r>
                <a:rPr lang="en-US" altLang="en-US" b="0">
                  <a:latin typeface="ＭＳ ゴシック" panose="020B0609070205080204" pitchFamily="49" charset="-128"/>
                  <a:ea typeface="ＭＳ ゴシック" panose="020B0609070205080204" pitchFamily="49" charset="-128"/>
                </a:rPr>
                <a:t>      </a:t>
              </a:r>
            </a:p>
            <a:p>
              <a:pPr lvl="1">
                <a:spcBef>
                  <a:spcPct val="10000"/>
                </a:spcBef>
                <a:buFont typeface="Wingdings" panose="05000000000000000000" pitchFamily="2" charset="2"/>
                <a:buNone/>
              </a:pPr>
              <a:r>
                <a:rPr lang="en-US" altLang="en-US" b="0">
                  <a:latin typeface="ＭＳ ゴシック" panose="020B0609070205080204" pitchFamily="49" charset="-128"/>
                  <a:ea typeface="ＭＳ ゴシック" panose="020B0609070205080204" pitchFamily="49" charset="-128"/>
                </a:rPr>
                <a:t>System.out.println("変更後の姓名は</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Họ tên sau khi thay đổi là</a:t>
              </a:r>
              <a:r>
                <a:rPr lang="en-US" altLang="ja-JP" b="0">
                  <a:latin typeface="ＭＳ ゴシック" panose="020B0609070205080204" pitchFamily="49" charset="-128"/>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 + fullName + "です</a:t>
              </a:r>
              <a:r>
                <a:rPr lang="en-US" altLang="ja-JP" b="0">
                  <a:latin typeface="ＭＳ ゴシック" panose="020B0609070205080204" pitchFamily="49" charset="-128"/>
                  <a:ea typeface="ＭＳ ゴシック" panose="020B0609070205080204" pitchFamily="49" charset="-128"/>
                </a:rPr>
                <a:t>(desu)</a:t>
              </a:r>
              <a:r>
                <a:rPr lang="en-US" altLang="en-US" b="0">
                  <a:latin typeface="ＭＳ ゴシック" panose="020B0609070205080204" pitchFamily="49" charset="-128"/>
                  <a:ea typeface="ＭＳ ゴシック" panose="020B0609070205080204" pitchFamily="49" charset="-128"/>
                </a:rPr>
                <a:t>");</a:t>
              </a:r>
            </a:p>
          </p:txBody>
        </p:sp>
        <p:sp>
          <p:nvSpPr>
            <p:cNvPr id="562181" name="Rectangle 5">
              <a:extLst>
                <a:ext uri="{FF2B5EF4-FFF2-40B4-BE49-F238E27FC236}">
                  <a16:creationId xmlns:a16="http://schemas.microsoft.com/office/drawing/2014/main" id="{9F2CA428-7997-47E4-3677-9393EF1A83CD}"/>
                </a:ext>
              </a:extLst>
            </p:cNvPr>
            <p:cNvSpPr>
              <a:spLocks noChangeArrowheads="1"/>
            </p:cNvSpPr>
            <p:nvPr/>
          </p:nvSpPr>
          <p:spPr bwMode="auto">
            <a:xfrm>
              <a:off x="491" y="4154"/>
              <a:ext cx="2156" cy="125"/>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562182" name="AutoShape 6">
              <a:extLst>
                <a:ext uri="{FF2B5EF4-FFF2-40B4-BE49-F238E27FC236}">
                  <a16:creationId xmlns:a16="http://schemas.microsoft.com/office/drawing/2014/main" id="{394D3C6C-07FD-6521-0D0C-73DC251C0D60}"/>
                </a:ext>
              </a:extLst>
            </p:cNvPr>
            <p:cNvCxnSpPr>
              <a:cxnSpLocks noChangeShapeType="1"/>
              <a:stCxn id="562181" idx="3"/>
              <a:endCxn id="562184" idx="3"/>
            </p:cNvCxnSpPr>
            <p:nvPr/>
          </p:nvCxnSpPr>
          <p:spPr bwMode="auto">
            <a:xfrm flipV="1">
              <a:off x="2655" y="1936"/>
              <a:ext cx="847" cy="2281"/>
            </a:xfrm>
            <a:prstGeom prst="bentConnector3">
              <a:avLst>
                <a:gd name="adj1" fmla="val 147815"/>
              </a:avLst>
            </a:prstGeom>
            <a:noFill/>
            <a:ln w="1905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62183" name="Rectangle 7">
              <a:extLst>
                <a:ext uri="{FF2B5EF4-FFF2-40B4-BE49-F238E27FC236}">
                  <a16:creationId xmlns:a16="http://schemas.microsoft.com/office/drawing/2014/main" id="{4CBA617E-FDDB-13CC-055A-E57E9B5D7B88}"/>
                </a:ext>
              </a:extLst>
            </p:cNvPr>
            <p:cNvSpPr>
              <a:spLocks noChangeArrowheads="1"/>
            </p:cNvSpPr>
            <p:nvPr/>
          </p:nvSpPr>
          <p:spPr bwMode="auto">
            <a:xfrm>
              <a:off x="829" y="2830"/>
              <a:ext cx="2681" cy="320"/>
            </a:xfrm>
            <a:prstGeom prst="rect">
              <a:avLst/>
            </a:prstGeom>
            <a:noFill/>
            <a:ln w="19050" algn="ctr">
              <a:solidFill>
                <a:srgbClr val="F46292"/>
              </a:solidFill>
              <a:prstDash val="dash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62184" name="Rectangle 8">
              <a:extLst>
                <a:ext uri="{FF2B5EF4-FFF2-40B4-BE49-F238E27FC236}">
                  <a16:creationId xmlns:a16="http://schemas.microsoft.com/office/drawing/2014/main" id="{1BE8B784-4068-275C-048E-4C925FBBB2EB}"/>
                </a:ext>
              </a:extLst>
            </p:cNvPr>
            <p:cNvSpPr>
              <a:spLocks noChangeArrowheads="1"/>
            </p:cNvSpPr>
            <p:nvPr/>
          </p:nvSpPr>
          <p:spPr bwMode="auto">
            <a:xfrm>
              <a:off x="829" y="1699"/>
              <a:ext cx="2665" cy="474"/>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62185" name="Rectangle 9">
              <a:extLst>
                <a:ext uri="{FF2B5EF4-FFF2-40B4-BE49-F238E27FC236}">
                  <a16:creationId xmlns:a16="http://schemas.microsoft.com/office/drawing/2014/main" id="{BF581E01-C942-8311-EB58-D8C3D77EF1F3}"/>
                </a:ext>
              </a:extLst>
            </p:cNvPr>
            <p:cNvSpPr>
              <a:spLocks noChangeArrowheads="1"/>
            </p:cNvSpPr>
            <p:nvPr/>
          </p:nvSpPr>
          <p:spPr bwMode="auto">
            <a:xfrm>
              <a:off x="491" y="4788"/>
              <a:ext cx="2189" cy="125"/>
            </a:xfrm>
            <a:prstGeom prst="rect">
              <a:avLst/>
            </a:prstGeom>
            <a:noFill/>
            <a:ln w="19050">
              <a:solidFill>
                <a:srgbClr val="673EC1"/>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562186" name="AutoShape 10">
              <a:extLst>
                <a:ext uri="{FF2B5EF4-FFF2-40B4-BE49-F238E27FC236}">
                  <a16:creationId xmlns:a16="http://schemas.microsoft.com/office/drawing/2014/main" id="{0E95C0B8-092B-87F5-E257-09215EE2FBFB}"/>
                </a:ext>
              </a:extLst>
            </p:cNvPr>
            <p:cNvCxnSpPr>
              <a:cxnSpLocks noChangeShapeType="1"/>
              <a:stCxn id="562185" idx="3"/>
              <a:endCxn id="562190" idx="3"/>
            </p:cNvCxnSpPr>
            <p:nvPr/>
          </p:nvCxnSpPr>
          <p:spPr bwMode="auto">
            <a:xfrm flipV="1">
              <a:off x="2688" y="2605"/>
              <a:ext cx="816" cy="2246"/>
            </a:xfrm>
            <a:prstGeom prst="bentConnector3">
              <a:avLst>
                <a:gd name="adj1" fmla="val 129653"/>
              </a:avLst>
            </a:prstGeom>
            <a:noFill/>
            <a:ln w="19050">
              <a:solidFill>
                <a:srgbClr val="673EC1"/>
              </a:solidFill>
              <a:prstDash val="dash"/>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62187" name="Rectangle 11">
              <a:extLst>
                <a:ext uri="{FF2B5EF4-FFF2-40B4-BE49-F238E27FC236}">
                  <a16:creationId xmlns:a16="http://schemas.microsoft.com/office/drawing/2014/main" id="{F06CBA23-A0BA-EA06-E62E-9E377F065D88}"/>
                </a:ext>
              </a:extLst>
            </p:cNvPr>
            <p:cNvSpPr>
              <a:spLocks noChangeArrowheads="1"/>
            </p:cNvSpPr>
            <p:nvPr/>
          </p:nvSpPr>
          <p:spPr bwMode="auto">
            <a:xfrm>
              <a:off x="491" y="4484"/>
              <a:ext cx="2179" cy="125"/>
            </a:xfrm>
            <a:prstGeom prst="rect">
              <a:avLst/>
            </a:prstGeom>
            <a:noFill/>
            <a:ln w="1905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562188" name="AutoShape 12">
              <a:extLst>
                <a:ext uri="{FF2B5EF4-FFF2-40B4-BE49-F238E27FC236}">
                  <a16:creationId xmlns:a16="http://schemas.microsoft.com/office/drawing/2014/main" id="{926995BA-825E-DCE3-ADF9-4ACB69920A61}"/>
                </a:ext>
              </a:extLst>
            </p:cNvPr>
            <p:cNvCxnSpPr>
              <a:cxnSpLocks noChangeShapeType="1"/>
              <a:stCxn id="562187" idx="3"/>
              <a:endCxn id="562189" idx="3"/>
            </p:cNvCxnSpPr>
            <p:nvPr/>
          </p:nvCxnSpPr>
          <p:spPr bwMode="auto">
            <a:xfrm flipV="1">
              <a:off x="2678" y="3374"/>
              <a:ext cx="854" cy="1173"/>
            </a:xfrm>
            <a:prstGeom prst="bentConnector3">
              <a:avLst>
                <a:gd name="adj1" fmla="val 115810"/>
              </a:avLst>
            </a:prstGeom>
            <a:noFill/>
            <a:ln w="19050">
              <a:solidFill>
                <a:srgbClr val="FF8519"/>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62189" name="Rectangle 13">
              <a:extLst>
                <a:ext uri="{FF2B5EF4-FFF2-40B4-BE49-F238E27FC236}">
                  <a16:creationId xmlns:a16="http://schemas.microsoft.com/office/drawing/2014/main" id="{21EA139A-835B-BAEE-1A3A-173A0E537E7E}"/>
                </a:ext>
              </a:extLst>
            </p:cNvPr>
            <p:cNvSpPr>
              <a:spLocks noChangeArrowheads="1"/>
            </p:cNvSpPr>
            <p:nvPr/>
          </p:nvSpPr>
          <p:spPr bwMode="auto">
            <a:xfrm>
              <a:off x="829" y="3217"/>
              <a:ext cx="2695" cy="313"/>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62190" name="Rectangle 14">
              <a:extLst>
                <a:ext uri="{FF2B5EF4-FFF2-40B4-BE49-F238E27FC236}">
                  <a16:creationId xmlns:a16="http://schemas.microsoft.com/office/drawing/2014/main" id="{3672EE87-BC64-7892-E112-10F837A0A13E}"/>
                </a:ext>
              </a:extLst>
            </p:cNvPr>
            <p:cNvSpPr>
              <a:spLocks noChangeArrowheads="1"/>
            </p:cNvSpPr>
            <p:nvPr/>
          </p:nvSpPr>
          <p:spPr bwMode="auto">
            <a:xfrm>
              <a:off x="829" y="2440"/>
              <a:ext cx="2667" cy="330"/>
            </a:xfrm>
            <a:prstGeom prst="rect">
              <a:avLst/>
            </a:prstGeom>
            <a:noFill/>
            <a:ln w="19050" algn="ctr">
              <a:solidFill>
                <a:srgbClr val="673EC1"/>
              </a:solidFill>
              <a:prstDash val="dash"/>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62191" name="Rectangle 15">
              <a:extLst>
                <a:ext uri="{FF2B5EF4-FFF2-40B4-BE49-F238E27FC236}">
                  <a16:creationId xmlns:a16="http://schemas.microsoft.com/office/drawing/2014/main" id="{C66F6E1B-079B-A3FF-CCAF-5FB452884AD3}"/>
                </a:ext>
              </a:extLst>
            </p:cNvPr>
            <p:cNvSpPr>
              <a:spLocks noChangeArrowheads="1"/>
            </p:cNvSpPr>
            <p:nvPr/>
          </p:nvSpPr>
          <p:spPr bwMode="auto">
            <a:xfrm>
              <a:off x="491" y="5104"/>
              <a:ext cx="2230" cy="125"/>
            </a:xfrm>
            <a:prstGeom prst="rect">
              <a:avLst/>
            </a:prstGeom>
            <a:noFill/>
            <a:ln w="19050">
              <a:solidFill>
                <a:srgbClr val="F46292"/>
              </a:solidFill>
              <a:prstDash val="dash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562192" name="AutoShape 16">
              <a:extLst>
                <a:ext uri="{FF2B5EF4-FFF2-40B4-BE49-F238E27FC236}">
                  <a16:creationId xmlns:a16="http://schemas.microsoft.com/office/drawing/2014/main" id="{325A4D0B-0A8E-8F49-FBCB-4F43A4634E53}"/>
                </a:ext>
              </a:extLst>
            </p:cNvPr>
            <p:cNvCxnSpPr>
              <a:cxnSpLocks noChangeShapeType="1"/>
              <a:stCxn id="562191" idx="3"/>
              <a:endCxn id="562183" idx="3"/>
            </p:cNvCxnSpPr>
            <p:nvPr/>
          </p:nvCxnSpPr>
          <p:spPr bwMode="auto">
            <a:xfrm flipV="1">
              <a:off x="2729" y="2990"/>
              <a:ext cx="789" cy="2177"/>
            </a:xfrm>
            <a:prstGeom prst="bentConnector3">
              <a:avLst>
                <a:gd name="adj1" fmla="val 139162"/>
              </a:avLst>
            </a:prstGeom>
            <a:noFill/>
            <a:ln w="19050">
              <a:solidFill>
                <a:srgbClr val="F46292"/>
              </a:solidFill>
              <a:prstDash val="dash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62193" name="Rectangle 17">
              <a:extLst>
                <a:ext uri="{FF2B5EF4-FFF2-40B4-BE49-F238E27FC236}">
                  <a16:creationId xmlns:a16="http://schemas.microsoft.com/office/drawing/2014/main" id="{CF911933-DD0F-0680-CEA5-2B15C1D1FD7D}"/>
                </a:ext>
              </a:extLst>
            </p:cNvPr>
            <p:cNvSpPr>
              <a:spLocks noChangeArrowheads="1"/>
            </p:cNvSpPr>
            <p:nvPr/>
          </p:nvSpPr>
          <p:spPr bwMode="auto">
            <a:xfrm>
              <a:off x="354" y="5879"/>
              <a:ext cx="3691" cy="333"/>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Bef>
                  <a:spcPct val="10000"/>
                </a:spcBef>
                <a:buFont typeface="Wingdings" panose="05000000000000000000" pitchFamily="2" charset="2"/>
                <a:buNone/>
              </a:pPr>
              <a:r>
                <a:rPr lang="en-US" altLang="en-US" b="0">
                  <a:latin typeface="ＭＳ ゴシック" panose="020B0609070205080204" pitchFamily="49" charset="-128"/>
                  <a:ea typeface="ＭＳ ゴシック" panose="020B0609070205080204" pitchFamily="49" charset="-128"/>
                </a:rPr>
                <a:t>佐藤さんは22才です</a:t>
              </a:r>
              <a:r>
                <a:rPr lang="en-US" altLang="ja-JP" b="0">
                  <a:ea typeface="ＭＳ ゴシック" panose="020B0609070205080204" pitchFamily="49" charset="-128"/>
                </a:rPr>
                <a:t>(Sato san 22 tuổi)</a:t>
              </a:r>
              <a:endParaRPr lang="en-US" altLang="en-US" b="0">
                <a:ea typeface="ＭＳ ゴシック" panose="020B0609070205080204" pitchFamily="49" charset="-128"/>
              </a:endParaRPr>
            </a:p>
            <a:p>
              <a:pPr lvl="1">
                <a:spcBef>
                  <a:spcPct val="10000"/>
                </a:spcBef>
                <a:buFont typeface="Wingdings" panose="05000000000000000000" pitchFamily="2" charset="2"/>
                <a:buNone/>
              </a:pPr>
              <a:r>
                <a:rPr lang="en-US" altLang="en-US" b="0">
                  <a:latin typeface="ＭＳ ゴシック" panose="020B0609070205080204" pitchFamily="49" charset="-128"/>
                  <a:ea typeface="ＭＳ ゴシック" panose="020B0609070205080204" pitchFamily="49" charset="-128"/>
                </a:rPr>
                <a:t>変更後の姓名は川村 花子です</a:t>
              </a:r>
              <a:r>
                <a:rPr lang="en-US" altLang="ja-JP" b="0">
                  <a:ea typeface="ＭＳ ゴシック" panose="020B0609070205080204" pitchFamily="49" charset="-128"/>
                </a:rPr>
                <a:t>(Họ tên sau khi thay đổi là Kawamura Hanako.)</a:t>
              </a:r>
              <a:endParaRPr lang="en-US" altLang="en-US" b="0">
                <a:ea typeface="ＭＳ ゴシック" panose="020B0609070205080204" pitchFamily="49" charset="-128"/>
              </a:endParaRPr>
            </a:p>
          </p:txBody>
        </p:sp>
      </p:gr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4226" name="AutoShape 2">
            <a:extLst>
              <a:ext uri="{FF2B5EF4-FFF2-40B4-BE49-F238E27FC236}">
                <a16:creationId xmlns:a16="http://schemas.microsoft.com/office/drawing/2014/main" id="{BC8A818F-D472-F800-FA5D-76ADAD8119CC}"/>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r>
              <a:rPr lang="en-US" altLang="ja-JP">
                <a:ea typeface="MS UI Gothic" panose="020B0600070205080204" pitchFamily="50" charset="-128"/>
              </a:rPr>
              <a:t>Gọi ra method khác của cùng class</a:t>
            </a: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Trường hợp từ trong instance method của một class</a:t>
            </a:r>
            <a:r>
              <a:rPr lang="en-US" altLang="ja-JP">
                <a:ea typeface="MS UI Gothic" panose="020B0600070205080204" pitchFamily="50" charset="-128"/>
              </a:rPr>
              <a:t> </a:t>
            </a:r>
            <a:r>
              <a:rPr lang="en-US" altLang="ja-JP" b="0">
                <a:ea typeface="MS UI Gothic" panose="020B0600070205080204" pitchFamily="50" charset="-128"/>
              </a:rPr>
              <a:t>gọi ra một method khác của cùng một class đó, thì sẽ phải chỉ định </a:t>
            </a:r>
            <a:r>
              <a:rPr lang="ja-JP" altLang="en-US" b="0">
                <a:ea typeface="MS UI Gothic" panose="020B0600070205080204" pitchFamily="50" charset="-128"/>
              </a:rPr>
              <a:t>「</a:t>
            </a:r>
            <a:r>
              <a:rPr lang="en-US" altLang="ja-JP" b="0">
                <a:ea typeface="MS UI Gothic" panose="020B0600070205080204" pitchFamily="50" charset="-128"/>
              </a:rPr>
              <a:t>tên method</a:t>
            </a:r>
            <a:r>
              <a:rPr lang="ja-JP" altLang="en-US" b="0">
                <a:ea typeface="MS UI Gothic" panose="020B0600070205080204" pitchFamily="50" charset="-128"/>
              </a:rPr>
              <a:t>（</a:t>
            </a:r>
            <a:r>
              <a:rPr lang="en-US" altLang="ja-JP" b="0">
                <a:ea typeface="MS UI Gothic" panose="020B0600070205080204" pitchFamily="50" charset="-128"/>
              </a:rPr>
              <a:t>list đối số</a:t>
            </a:r>
            <a:r>
              <a:rPr lang="ja-JP" altLang="en-US" b="0">
                <a:ea typeface="MS UI Gothic" panose="020B0600070205080204" pitchFamily="50" charset="-128"/>
              </a:rPr>
              <a:t>）」</a:t>
            </a:r>
            <a:r>
              <a:rPr lang="en-US" altLang="ja-JP" b="0">
                <a:ea typeface="MS UI Gothic" panose="020B0600070205080204" pitchFamily="50" charset="-128"/>
              </a:rPr>
              <a:t>hoặc</a:t>
            </a:r>
            <a:r>
              <a:rPr lang="ja-JP" altLang="en-US" b="0">
                <a:ea typeface="MS UI Gothic" panose="020B0600070205080204" pitchFamily="50" charset="-128"/>
              </a:rPr>
              <a:t>「</a:t>
            </a:r>
            <a:r>
              <a:rPr lang="en-US" altLang="ja-JP" b="0">
                <a:ea typeface="MS UI Gothic" panose="020B0600070205080204" pitchFamily="50" charset="-128"/>
              </a:rPr>
              <a:t>this.tên method</a:t>
            </a:r>
            <a:r>
              <a:rPr lang="ja-JP" altLang="en-US" b="0">
                <a:ea typeface="MS UI Gothic" panose="020B0600070205080204" pitchFamily="50" charset="-128"/>
              </a:rPr>
              <a:t>（</a:t>
            </a:r>
            <a:r>
              <a:rPr lang="en-US" altLang="ja-JP" b="0">
                <a:ea typeface="MS UI Gothic" panose="020B0600070205080204" pitchFamily="50" charset="-128"/>
              </a:rPr>
              <a:t>list đối số</a:t>
            </a:r>
            <a:r>
              <a:rPr lang="ja-JP" altLang="en-US" b="0">
                <a:ea typeface="MS UI Gothic" panose="020B0600070205080204" pitchFamily="50" charset="-128"/>
              </a:rPr>
              <a:t>）」</a:t>
            </a:r>
            <a:r>
              <a:rPr lang="en-US" altLang="ja-JP" b="0">
                <a:ea typeface="MS UI Gothic" panose="020B0600070205080204" pitchFamily="50" charset="-128"/>
              </a:rPr>
              <a:t>. </a:t>
            </a:r>
            <a:r>
              <a:rPr lang="ja-JP" altLang="en-US" b="0">
                <a:ea typeface="MS UI Gothic" panose="020B0600070205080204" pitchFamily="50" charset="-128"/>
              </a:rPr>
              <a:t>（</a:t>
            </a:r>
            <a:r>
              <a:rPr lang="en-US" altLang="ja-JP" b="0">
                <a:ea typeface="MS UI Gothic" panose="020B0600070205080204" pitchFamily="50" charset="-128"/>
              </a:rPr>
              <a:t>Về this sẽ giải thích ở chương 3</a:t>
            </a:r>
            <a:r>
              <a:rPr lang="ja-JP" altLang="en-US" b="0">
                <a:ea typeface="MS UI Gothic" panose="020B0600070205080204" pitchFamily="50" charset="-128"/>
              </a:rPr>
              <a:t>）</a:t>
            </a:r>
            <a:r>
              <a:rPr lang="en-US" altLang="ja-JP" b="0">
                <a:ea typeface="MS UI Gothic" panose="020B0600070205080204" pitchFamily="50" charset="-128"/>
              </a:rPr>
              <a:t>.</a:t>
            </a: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Ví dụ program</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※Dòng thứ 23</a:t>
            </a:r>
            <a:r>
              <a:rPr lang="ja-JP" altLang="en-US" b="0">
                <a:ea typeface="MS UI Gothic" panose="020B0600070205080204" pitchFamily="50" charset="-128"/>
              </a:rPr>
              <a:t>： </a:t>
            </a:r>
            <a:r>
              <a:rPr lang="en-US" altLang="ja-JP" b="0">
                <a:ea typeface="ＭＳ ゴシック" panose="020B0609070205080204" pitchFamily="49" charset="-128"/>
              </a:rPr>
              <a:t>getFullName() </a:t>
            </a:r>
            <a:r>
              <a:rPr lang="ja-JP" altLang="en-US" b="0">
                <a:ea typeface="ＭＳ ゴシック" panose="020B0609070205080204" pitchFamily="49" charset="-128"/>
              </a:rPr>
              <a:t>　← </a:t>
            </a:r>
            <a:r>
              <a:rPr lang="en-US" altLang="ja-JP" b="0">
                <a:ea typeface="ＭＳ ゴシック" panose="020B0609070205080204" pitchFamily="49" charset="-128"/>
              </a:rPr>
              <a:t>this.getFullName()</a:t>
            </a:r>
            <a:r>
              <a:rPr lang="en-US" altLang="ja-JP" b="0">
                <a:ea typeface="MS UI Gothic" panose="020B0600070205080204" pitchFamily="50" charset="-128"/>
              </a:rPr>
              <a:t> cũng tương tự.</a:t>
            </a: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Ví dụ thực hiện</a:t>
            </a:r>
          </a:p>
        </p:txBody>
      </p:sp>
      <p:sp>
        <p:nvSpPr>
          <p:cNvPr id="564227" name="AutoShape 3">
            <a:extLst>
              <a:ext uri="{FF2B5EF4-FFF2-40B4-BE49-F238E27FC236}">
                <a16:creationId xmlns:a16="http://schemas.microsoft.com/office/drawing/2014/main" id="{09B37F48-64FB-9B83-8FFA-F0430245145A}"/>
              </a:ext>
            </a:extLst>
          </p:cNvPr>
          <p:cNvSpPr>
            <a:spLocks noChangeArrowheads="1"/>
          </p:cNvSpPr>
          <p:nvPr/>
        </p:nvSpPr>
        <p:spPr bwMode="auto">
          <a:xfrm>
            <a:off x="603250" y="442913"/>
            <a:ext cx="11176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COLUMN</a:t>
            </a:r>
          </a:p>
        </p:txBody>
      </p:sp>
      <p:grpSp>
        <p:nvGrpSpPr>
          <p:cNvPr id="564243" name="Group 19">
            <a:extLst>
              <a:ext uri="{FF2B5EF4-FFF2-40B4-BE49-F238E27FC236}">
                <a16:creationId xmlns:a16="http://schemas.microsoft.com/office/drawing/2014/main" id="{330E4A61-F607-E72B-37BD-D087629C3ACF}"/>
              </a:ext>
            </a:extLst>
          </p:cNvPr>
          <p:cNvGrpSpPr>
            <a:grpSpLocks/>
          </p:cNvGrpSpPr>
          <p:nvPr/>
        </p:nvGrpSpPr>
        <p:grpSpPr bwMode="auto">
          <a:xfrm>
            <a:off x="657225" y="1711325"/>
            <a:ext cx="5764213" cy="7137400"/>
            <a:chOff x="414" y="1078"/>
            <a:chExt cx="3631" cy="4496"/>
          </a:xfrm>
        </p:grpSpPr>
        <p:sp>
          <p:nvSpPr>
            <p:cNvPr id="564228" name="Text Box 4">
              <a:extLst>
                <a:ext uri="{FF2B5EF4-FFF2-40B4-BE49-F238E27FC236}">
                  <a16:creationId xmlns:a16="http://schemas.microsoft.com/office/drawing/2014/main" id="{0BB41415-6AF6-F81B-7917-BD9DAD7BC872}"/>
                </a:ext>
              </a:extLst>
            </p:cNvPr>
            <p:cNvSpPr txBox="1">
              <a:spLocks noChangeArrowheads="1"/>
            </p:cNvSpPr>
            <p:nvPr/>
          </p:nvSpPr>
          <p:spPr bwMode="auto">
            <a:xfrm>
              <a:off x="414" y="1078"/>
              <a:ext cx="3631" cy="3014"/>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5363" indent="-355600" defTabSz="447675">
                <a:defRPr kumimoji="1">
                  <a:solidFill>
                    <a:schemeClr val="tx1"/>
                  </a:solidFill>
                  <a:latin typeface="Arial" panose="020B0604020202020204" pitchFamily="34" charset="0"/>
                  <a:ea typeface="ＭＳ Ｐゴシック" panose="020B0600070205080204" pitchFamily="50" charset="-128"/>
                </a:defRPr>
              </a:lvl5pPr>
              <a:lvl6pPr marL="27225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797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69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41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Định nghĩa </a:t>
              </a:r>
              <a:r>
                <a:rPr lang="ja-JP" altLang="ja-JP" b="0">
                  <a:ea typeface="ＭＳ ゴシック" panose="020B0609070205080204" pitchFamily="49" charset="-128"/>
                </a:rPr>
                <a:t>Person</a:t>
              </a:r>
              <a:r>
                <a:rPr lang="en-US" altLang="ja-JP" b="0">
                  <a:ea typeface="ＭＳ ゴシック" panose="020B0609070205080204" pitchFamily="49" charset="-128"/>
                </a:rPr>
                <a:t> class</a:t>
              </a:r>
              <a:r>
                <a:rPr lang="ja-JP" altLang="ja-JP" b="0">
                  <a:ea typeface="ＭＳ ゴシック" panose="020B0609070205080204" pitchFamily="49" charset="-128"/>
                </a:rPr>
                <a:t>（</a:t>
              </a:r>
              <a:r>
                <a:rPr lang="en-US" altLang="ja-JP" b="0">
                  <a:ea typeface="ＭＳ ゴシック" panose="020B0609070205080204" pitchFamily="49" charset="-128"/>
                </a:rPr>
                <a:t>trích</a:t>
              </a:r>
              <a:r>
                <a:rPr lang="ja-JP" altLang="ja-JP" b="0">
                  <a:ea typeface="ＭＳ ゴシック" panose="020B0609070205080204" pitchFamily="49" charset="-128"/>
                </a:rPr>
                <a:t>）</a:t>
              </a: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public class Person {</a:t>
              </a: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field</a:t>
              </a:r>
              <a:endParaRPr lang="ja-JP" altLang="ja-JP" b="0">
                <a:ea typeface="ＭＳ ゴシック" panose="020B0609070205080204" pitchFamily="49" charset="-128"/>
              </a:endParaRP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private String lastName;    //  </a:t>
              </a:r>
              <a:r>
                <a:rPr lang="en-US" altLang="ja-JP" b="0">
                  <a:ea typeface="ＭＳ ゴシック" panose="020B0609070205080204" pitchFamily="49" charset="-128"/>
                </a:rPr>
                <a:t>họ</a:t>
              </a:r>
              <a:endParaRPr lang="ja-JP" altLang="ja-JP" b="0">
                <a:ea typeface="ＭＳ ゴシック" panose="020B0609070205080204" pitchFamily="49" charset="-128"/>
              </a:endParaRP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private String firstName;   //  </a:t>
              </a:r>
              <a:r>
                <a:rPr lang="en-US" altLang="ja-JP" b="0">
                  <a:ea typeface="ＭＳ ゴシック" panose="020B0609070205080204" pitchFamily="49" charset="-128"/>
                </a:rPr>
                <a:t>tên</a:t>
              </a:r>
              <a:endParaRPr lang="ja-JP" altLang="ja-JP" b="0">
                <a:ea typeface="ＭＳ ゴシック" panose="020B0609070205080204" pitchFamily="49" charset="-128"/>
              </a:endParaRP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private int age;            //  </a:t>
              </a:r>
              <a:r>
                <a:rPr lang="en-US" altLang="ja-JP" b="0">
                  <a:ea typeface="ＭＳ ゴシック" panose="020B0609070205080204" pitchFamily="49" charset="-128"/>
                </a:rPr>
                <a:t>tuổi</a:t>
              </a:r>
              <a:endParaRPr lang="ja-JP" altLang="ja-JP" b="0">
                <a:ea typeface="ＭＳ ゴシック" panose="020B0609070205080204" pitchFamily="49" charset="-128"/>
              </a:endParaRP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a:t>
              </a: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constructor</a:t>
              </a:r>
              <a:endParaRPr lang="ja-JP" altLang="ja-JP" b="0">
                <a:ea typeface="ＭＳ ゴシック" panose="020B0609070205080204" pitchFamily="49" charset="-128"/>
              </a:endParaRP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public Person(String lname, String fname, int a) {</a:t>
              </a: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lastName = lname;</a:t>
              </a: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firstName = fname;</a:t>
              </a: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age = a;</a:t>
              </a: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a:t>
              </a: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method</a:t>
              </a:r>
              <a:endParaRPr lang="ja-JP" altLang="ja-JP" b="0">
                <a:ea typeface="ＭＳ ゴシック" panose="020B0609070205080204" pitchFamily="49" charset="-128"/>
              </a:endParaRP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public String getFullName() {</a:t>
              </a: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return (lastName + " " + firstName);</a:t>
              </a: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a:t>
              </a: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public void printInfo() {</a:t>
              </a: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Ví dụ gọi ra method khác của class hiện tại</a:t>
              </a:r>
              <a:endParaRPr lang="ja-JP" altLang="ja-JP" b="0">
                <a:ea typeface="ＭＳ ゴシック" panose="020B0609070205080204" pitchFamily="49" charset="-128"/>
              </a:endParaRPr>
            </a:p>
            <a:p>
              <a:pPr lvl="1" algn="just">
                <a:spcBef>
                  <a:spcPct val="40000"/>
                </a:spcBef>
                <a:spcAft>
                  <a:spcPct val="40000"/>
                </a:spcAft>
                <a:buFontTx/>
                <a:buAutoNum type="arabicPeriod"/>
              </a:pPr>
              <a:r>
                <a:rPr lang="ja-JP" altLang="ja-JP" b="0">
                  <a:latin typeface="ＭＳ ゴシック" panose="020B0609070205080204" pitchFamily="49" charset="-128"/>
                  <a:ea typeface="ＭＳ ゴシック" panose="020B0609070205080204" pitchFamily="49" charset="-128"/>
                </a:rPr>
                <a:t>        System.out.println( getFullName() + "さんは" + age + "才です");</a:t>
              </a: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    }</a:t>
              </a: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spcAft>
                  <a:spcPct val="10000"/>
                </a:spcAft>
                <a:buFontTx/>
                <a:buAutoNum type="arabicPeriod"/>
              </a:pPr>
              <a:r>
                <a:rPr lang="ja-JP" altLang="ja-JP" b="0">
                  <a:latin typeface="ＭＳ ゴシック" panose="020B0609070205080204" pitchFamily="49" charset="-128"/>
                  <a:ea typeface="ＭＳ ゴシック" panose="020B0609070205080204" pitchFamily="49" charset="-128"/>
                </a:rPr>
                <a:t>}</a:t>
              </a:r>
            </a:p>
          </p:txBody>
        </p:sp>
        <p:sp>
          <p:nvSpPr>
            <p:cNvPr id="564231" name="Rectangle 7">
              <a:extLst>
                <a:ext uri="{FF2B5EF4-FFF2-40B4-BE49-F238E27FC236}">
                  <a16:creationId xmlns:a16="http://schemas.microsoft.com/office/drawing/2014/main" id="{781EFD90-6F59-32D1-335E-88DD57397D54}"/>
                </a:ext>
              </a:extLst>
            </p:cNvPr>
            <p:cNvSpPr>
              <a:spLocks noChangeArrowheads="1"/>
            </p:cNvSpPr>
            <p:nvPr/>
          </p:nvSpPr>
          <p:spPr bwMode="auto">
            <a:xfrm>
              <a:off x="849" y="3395"/>
              <a:ext cx="2925" cy="531"/>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ゴシック" panose="020B0609070205080204" pitchFamily="49" charset="-128"/>
                <a:ea typeface="ＭＳ ゴシック" panose="020B0609070205080204" pitchFamily="49" charset="-128"/>
              </a:endParaRPr>
            </a:p>
          </p:txBody>
        </p:sp>
        <p:sp>
          <p:nvSpPr>
            <p:cNvPr id="564232" name="Rectangle 8">
              <a:extLst>
                <a:ext uri="{FF2B5EF4-FFF2-40B4-BE49-F238E27FC236}">
                  <a16:creationId xmlns:a16="http://schemas.microsoft.com/office/drawing/2014/main" id="{FA266E6C-4073-85CD-A179-F5B0C0C7B1B4}"/>
                </a:ext>
              </a:extLst>
            </p:cNvPr>
            <p:cNvSpPr>
              <a:spLocks noChangeArrowheads="1"/>
            </p:cNvSpPr>
            <p:nvPr/>
          </p:nvSpPr>
          <p:spPr bwMode="auto">
            <a:xfrm>
              <a:off x="1863" y="3668"/>
              <a:ext cx="532" cy="110"/>
            </a:xfrm>
            <a:prstGeom prst="rect">
              <a:avLst/>
            </a:prstGeom>
            <a:noFill/>
            <a:ln w="1905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ゴシック" panose="020B0609070205080204" pitchFamily="49" charset="-128"/>
                <a:ea typeface="ＭＳ ゴシック" panose="020B0609070205080204" pitchFamily="49" charset="-128"/>
              </a:endParaRPr>
            </a:p>
          </p:txBody>
        </p:sp>
        <p:cxnSp>
          <p:nvCxnSpPr>
            <p:cNvPr id="564233" name="AutoShape 9">
              <a:extLst>
                <a:ext uri="{FF2B5EF4-FFF2-40B4-BE49-F238E27FC236}">
                  <a16:creationId xmlns:a16="http://schemas.microsoft.com/office/drawing/2014/main" id="{38ABD5A1-BC54-322C-6B61-C8B8B0F0FCE5}"/>
                </a:ext>
              </a:extLst>
            </p:cNvPr>
            <p:cNvCxnSpPr>
              <a:cxnSpLocks noChangeShapeType="1"/>
              <a:stCxn id="564232" idx="2"/>
              <a:endCxn id="564234" idx="3"/>
            </p:cNvCxnSpPr>
            <p:nvPr/>
          </p:nvCxnSpPr>
          <p:spPr bwMode="auto">
            <a:xfrm rot="5400000" flipH="1" flipV="1">
              <a:off x="2437" y="2811"/>
              <a:ext cx="665" cy="1281"/>
            </a:xfrm>
            <a:prstGeom prst="bentConnector4">
              <a:avLst>
                <a:gd name="adj1" fmla="val -8273"/>
                <a:gd name="adj2" fmla="val 122245"/>
              </a:avLst>
            </a:prstGeom>
            <a:noFill/>
            <a:ln w="19050">
              <a:solidFill>
                <a:srgbClr val="FF8519"/>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64234" name="Rectangle 10">
              <a:extLst>
                <a:ext uri="{FF2B5EF4-FFF2-40B4-BE49-F238E27FC236}">
                  <a16:creationId xmlns:a16="http://schemas.microsoft.com/office/drawing/2014/main" id="{5382204E-C5B4-02F6-D996-067889AA7F30}"/>
                </a:ext>
              </a:extLst>
            </p:cNvPr>
            <p:cNvSpPr>
              <a:spLocks noChangeArrowheads="1"/>
            </p:cNvSpPr>
            <p:nvPr/>
          </p:nvSpPr>
          <p:spPr bwMode="auto">
            <a:xfrm>
              <a:off x="855" y="2944"/>
              <a:ext cx="2549" cy="349"/>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ゴシック" panose="020B0609070205080204" pitchFamily="49" charset="-128"/>
                <a:ea typeface="ＭＳ ゴシック" panose="020B0609070205080204" pitchFamily="49" charset="-128"/>
              </a:endParaRPr>
            </a:p>
          </p:txBody>
        </p:sp>
        <p:sp>
          <p:nvSpPr>
            <p:cNvPr id="564235" name="Rectangle 11">
              <a:extLst>
                <a:ext uri="{FF2B5EF4-FFF2-40B4-BE49-F238E27FC236}">
                  <a16:creationId xmlns:a16="http://schemas.microsoft.com/office/drawing/2014/main" id="{70096054-77A9-2DBC-F5E3-B2B53608D23B}"/>
                </a:ext>
              </a:extLst>
            </p:cNvPr>
            <p:cNvSpPr>
              <a:spLocks noChangeArrowheads="1"/>
            </p:cNvSpPr>
            <p:nvPr/>
          </p:nvSpPr>
          <p:spPr bwMode="auto">
            <a:xfrm>
              <a:off x="430" y="4603"/>
              <a:ext cx="3602" cy="66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Bef>
                  <a:spcPct val="10000"/>
                </a:spcBef>
                <a:buFont typeface="Wingdings" panose="05000000000000000000" pitchFamily="2" charset="2"/>
                <a:buNone/>
              </a:pPr>
              <a:r>
                <a:rPr lang="en-US"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Sinh object</a:t>
              </a:r>
            </a:p>
            <a:p>
              <a:pPr lvl="1">
                <a:spcBef>
                  <a:spcPct val="10000"/>
                </a:spcBef>
                <a:buFont typeface="Wingdings" panose="05000000000000000000" pitchFamily="2" charset="2"/>
                <a:buNone/>
              </a:pPr>
              <a:r>
                <a:rPr lang="en-US" altLang="ja-JP" b="0">
                  <a:latin typeface="ＭＳ ゴシック" panose="020B0609070205080204" pitchFamily="49" charset="-128"/>
                  <a:ea typeface="ＭＳ ゴシック" panose="020B0609070205080204" pitchFamily="49" charset="-128"/>
                </a:rPr>
                <a:t>Person personA = new Person("</a:t>
              </a:r>
              <a:r>
                <a:rPr lang="ja-JP" altLang="en-US" b="0">
                  <a:latin typeface="ＭＳ ゴシック" panose="020B0609070205080204" pitchFamily="49" charset="-128"/>
                  <a:ea typeface="ＭＳ ゴシック" panose="020B0609070205080204" pitchFamily="49" charset="-128"/>
                </a:rPr>
                <a:t>佐藤</a:t>
              </a:r>
              <a:r>
                <a:rPr lang="en-US" altLang="ja-JP" b="0">
                  <a:latin typeface="ＭＳ ゴシック" panose="020B0609070205080204" pitchFamily="49" charset="-128"/>
                  <a:ea typeface="ＭＳ ゴシック" panose="020B0609070205080204" pitchFamily="49" charset="-128"/>
                </a:rPr>
                <a:t>(Sato)", "</a:t>
              </a:r>
              <a:r>
                <a:rPr lang="ja-JP" altLang="en-US" b="0">
                  <a:latin typeface="ＭＳ ゴシック" panose="020B0609070205080204" pitchFamily="49" charset="-128"/>
                  <a:ea typeface="ＭＳ ゴシック" panose="020B0609070205080204" pitchFamily="49" charset="-128"/>
                </a:rPr>
                <a:t>花子</a:t>
              </a:r>
              <a:r>
                <a:rPr lang="en-US" altLang="ja-JP" b="0">
                  <a:latin typeface="ＭＳ ゴシック" panose="020B0609070205080204" pitchFamily="49" charset="-128"/>
                  <a:ea typeface="ＭＳ ゴシック" panose="020B0609070205080204" pitchFamily="49" charset="-128"/>
                </a:rPr>
                <a:t>(Hanako)", 22);</a:t>
              </a:r>
            </a:p>
            <a:p>
              <a:pPr lvl="1">
                <a:spcBef>
                  <a:spcPct val="10000"/>
                </a:spcBef>
                <a:buFont typeface="Wingdings" panose="05000000000000000000" pitchFamily="2" charset="2"/>
                <a:buNone/>
              </a:pPr>
              <a:endParaRPr lang="en-US" altLang="ja-JP" b="0">
                <a:latin typeface="ＭＳ ゴシック" panose="020B0609070205080204" pitchFamily="49" charset="-128"/>
                <a:ea typeface="ＭＳ ゴシック" panose="020B0609070205080204" pitchFamily="49" charset="-128"/>
              </a:endParaRPr>
            </a:p>
            <a:p>
              <a:pPr lvl="1">
                <a:spcBef>
                  <a:spcPct val="10000"/>
                </a:spcBef>
                <a:buFont typeface="Wingdings" panose="05000000000000000000" pitchFamily="2" charset="2"/>
                <a:buNone/>
              </a:pPr>
              <a:r>
                <a:rPr lang="en-US"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Hiển thị thông tin cá nhân</a:t>
              </a:r>
            </a:p>
            <a:p>
              <a:pPr lvl="1">
                <a:spcBef>
                  <a:spcPct val="40000"/>
                </a:spcBef>
                <a:spcAft>
                  <a:spcPct val="40000"/>
                </a:spcAft>
                <a:buFont typeface="Wingdings" panose="05000000000000000000" pitchFamily="2" charset="2"/>
                <a:buNone/>
              </a:pPr>
              <a:r>
                <a:rPr lang="en-US" altLang="ja-JP" b="0">
                  <a:latin typeface="ＭＳ ゴシック" panose="020B0609070205080204" pitchFamily="49" charset="-128"/>
                  <a:ea typeface="ＭＳ ゴシック" panose="020B0609070205080204" pitchFamily="49" charset="-128"/>
                </a:rPr>
                <a:t>personA.printInfo();</a:t>
              </a:r>
            </a:p>
          </p:txBody>
        </p:sp>
        <p:sp>
          <p:nvSpPr>
            <p:cNvPr id="564229" name="Rectangle 5">
              <a:extLst>
                <a:ext uri="{FF2B5EF4-FFF2-40B4-BE49-F238E27FC236}">
                  <a16:creationId xmlns:a16="http://schemas.microsoft.com/office/drawing/2014/main" id="{1A65FF78-17DE-209A-DDF8-2533502332DA}"/>
                </a:ext>
              </a:extLst>
            </p:cNvPr>
            <p:cNvSpPr>
              <a:spLocks noChangeArrowheads="1"/>
            </p:cNvSpPr>
            <p:nvPr/>
          </p:nvSpPr>
          <p:spPr bwMode="auto">
            <a:xfrm>
              <a:off x="576" y="5079"/>
              <a:ext cx="1814" cy="123"/>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ゴシック" panose="020B0609070205080204" pitchFamily="49" charset="-128"/>
                <a:ea typeface="ＭＳ ゴシック" panose="020B0609070205080204" pitchFamily="49" charset="-128"/>
              </a:endParaRPr>
            </a:p>
          </p:txBody>
        </p:sp>
        <p:cxnSp>
          <p:nvCxnSpPr>
            <p:cNvPr id="564230" name="AutoShape 6">
              <a:extLst>
                <a:ext uri="{FF2B5EF4-FFF2-40B4-BE49-F238E27FC236}">
                  <a16:creationId xmlns:a16="http://schemas.microsoft.com/office/drawing/2014/main" id="{8F27CEA7-E7C8-B937-BDAA-DC6324D96A8F}"/>
                </a:ext>
              </a:extLst>
            </p:cNvPr>
            <p:cNvCxnSpPr>
              <a:cxnSpLocks noChangeShapeType="1"/>
              <a:stCxn id="564229" idx="3"/>
              <a:endCxn id="564231" idx="3"/>
            </p:cNvCxnSpPr>
            <p:nvPr/>
          </p:nvCxnSpPr>
          <p:spPr bwMode="auto">
            <a:xfrm flipV="1">
              <a:off x="2396" y="3661"/>
              <a:ext cx="1384" cy="1480"/>
            </a:xfrm>
            <a:prstGeom prst="bentConnector3">
              <a:avLst>
                <a:gd name="adj1" fmla="val 109898"/>
              </a:avLst>
            </a:prstGeom>
            <a:noFill/>
            <a:ln w="1905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64237" name="AutoShape 13">
              <a:extLst>
                <a:ext uri="{FF2B5EF4-FFF2-40B4-BE49-F238E27FC236}">
                  <a16:creationId xmlns:a16="http://schemas.microsoft.com/office/drawing/2014/main" id="{8C05E9AE-2E3B-9628-CEBA-C5C4854B3061}"/>
                </a:ext>
              </a:extLst>
            </p:cNvPr>
            <p:cNvSpPr>
              <a:spLocks noChangeArrowheads="1"/>
            </p:cNvSpPr>
            <p:nvPr/>
          </p:nvSpPr>
          <p:spPr bwMode="auto">
            <a:xfrm>
              <a:off x="1091" y="5345"/>
              <a:ext cx="1462" cy="229"/>
            </a:xfrm>
            <a:prstGeom prst="wedgeRoundRectCallout">
              <a:avLst>
                <a:gd name="adj1" fmla="val -20315"/>
                <a:gd name="adj2" fmla="val -95417"/>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Hiển thị là</a:t>
              </a:r>
              <a:r>
                <a:rPr lang="en-US" altLang="ja-JP" b="0">
                  <a:latin typeface="MS UI Gothic" panose="020B0600070205080204" pitchFamily="50" charset="-128"/>
                  <a:ea typeface="MS UI Gothic" panose="020B0600070205080204" pitchFamily="50" charset="-128"/>
                </a:rPr>
                <a:t> </a:t>
              </a:r>
              <a:r>
                <a:rPr lang="ja-JP" altLang="en-US" b="0">
                  <a:latin typeface="MS UI Gothic" panose="020B0600070205080204" pitchFamily="50" charset="-128"/>
                  <a:ea typeface="MS UI Gothic" panose="020B0600070205080204" pitchFamily="50" charset="-128"/>
                </a:rPr>
                <a:t>「佐藤 花子さんは</a:t>
              </a:r>
              <a:r>
                <a:rPr lang="en-US" altLang="ja-JP" b="0">
                  <a:latin typeface="MS UI Gothic" panose="020B0600070205080204" pitchFamily="50" charset="-128"/>
                  <a:ea typeface="MS UI Gothic" panose="020B0600070205080204" pitchFamily="50" charset="-128"/>
                </a:rPr>
                <a:t>22</a:t>
              </a:r>
              <a:r>
                <a:rPr lang="ja-JP" altLang="en-US" b="0">
                  <a:latin typeface="MS UI Gothic" panose="020B0600070205080204" pitchFamily="50" charset="-128"/>
                  <a:ea typeface="MS UI Gothic" panose="020B0600070205080204" pitchFamily="50" charset="-128"/>
                </a:rPr>
                <a:t>才です</a:t>
              </a:r>
              <a:r>
                <a:rPr lang="en-US" altLang="ja-JP" b="0">
                  <a:ea typeface="MS UI Gothic" panose="020B0600070205080204" pitchFamily="50" charset="-128"/>
                </a:rPr>
                <a:t>(Sato Hanako san 22 tuổi.)</a:t>
              </a:r>
              <a:r>
                <a:rPr lang="ja-JP" altLang="en-US" b="0">
                  <a:latin typeface="MS UI Gothic" panose="020B0600070205080204" pitchFamily="50" charset="-128"/>
                  <a:ea typeface="MS UI Gothic" panose="020B0600070205080204" pitchFamily="50" charset="-128"/>
                </a:rPr>
                <a:t>」</a:t>
              </a:r>
            </a:p>
          </p:txBody>
        </p:sp>
      </p:gr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274" name="Rectangle 2">
            <a:extLst>
              <a:ext uri="{FF2B5EF4-FFF2-40B4-BE49-F238E27FC236}">
                <a16:creationId xmlns:a16="http://schemas.microsoft.com/office/drawing/2014/main" id="{42A561FB-D31A-DFE7-0236-F361C9D36918}"/>
              </a:ext>
            </a:extLst>
          </p:cNvPr>
          <p:cNvSpPr>
            <a:spLocks noRot="1" noChangeAspect="1" noChangeArrowheads="1" noTextEdit="1"/>
          </p:cNvSpPr>
          <p:nvPr>
            <p:ph type="sldImg"/>
          </p:nvPr>
        </p:nvSpPr>
        <p:spPr>
          <a:xfrm>
            <a:off x="531813" y="835025"/>
            <a:ext cx="6024562" cy="4170363"/>
          </a:xfrm>
          <a:ln/>
        </p:spPr>
      </p:sp>
      <p:sp>
        <p:nvSpPr>
          <p:cNvPr id="566275" name="Rectangle 3">
            <a:extLst>
              <a:ext uri="{FF2B5EF4-FFF2-40B4-BE49-F238E27FC236}">
                <a16:creationId xmlns:a16="http://schemas.microsoft.com/office/drawing/2014/main" id="{18D11FDB-8D2A-7473-80BC-8534D9B8C77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Overload</a:t>
            </a:r>
          </a:p>
          <a:p>
            <a:pPr marL="0" indent="0"/>
            <a:r>
              <a:rPr lang="ja-JP" altLang="en-US">
                <a:latin typeface="Arial" panose="020B0604020202020204" pitchFamily="34" charset="0"/>
              </a:rPr>
              <a:t>　</a:t>
            </a:r>
            <a:r>
              <a:rPr lang="en-US" altLang="ja-JP">
                <a:latin typeface="Arial" panose="020B0604020202020204" pitchFamily="34" charset="0"/>
              </a:rPr>
              <a:t>Với method và constructor định nghĩa trong class nếu như có số lượng của đối số, kiểu data, trình tự chỉ định khác nhau thì có thể định nghĩa nhiều method và constructor có tên trùng nhau. Việc này gọi là overload.</a:t>
            </a:r>
          </a:p>
          <a:p>
            <a:pPr marL="0" indent="0"/>
            <a:r>
              <a:rPr lang="ja-JP" altLang="en-US">
                <a:latin typeface="Arial" panose="020B0604020202020204" pitchFamily="34" charset="0"/>
              </a:rPr>
              <a:t>　</a:t>
            </a:r>
            <a:r>
              <a:rPr lang="en-US" altLang="ja-JP">
                <a:latin typeface="Arial" panose="020B0604020202020204" pitchFamily="34" charset="0"/>
              </a:rPr>
              <a:t>Những method và constructor sẽ được thực hiện đã được xác định bởi đối số đã chỉ định lúc gọi ra.</a:t>
            </a:r>
          </a:p>
          <a:p>
            <a:pPr marL="0" indent="0"/>
            <a:endParaRPr lang="en-US" altLang="ja-JP">
              <a:latin typeface="Arial" panose="020B0604020202020204" pitchFamily="34" charset="0"/>
            </a:endParaRPr>
          </a:p>
          <a:p>
            <a:pPr marL="0" indent="0"/>
            <a:r>
              <a:rPr lang="en-US" altLang="ja-JP">
                <a:latin typeface="Arial" panose="020B0604020202020204" pitchFamily="34" charset="0"/>
              </a:rPr>
              <a:t>【Chú ý】</a:t>
            </a:r>
          </a:p>
          <a:p>
            <a:pPr marL="0" indent="0"/>
            <a:r>
              <a:rPr lang="ja-JP" altLang="en-US">
                <a:latin typeface="Arial" panose="020B0604020202020204" pitchFamily="34" charset="0"/>
              </a:rPr>
              <a:t>　</a:t>
            </a:r>
            <a:r>
              <a:rPr lang="en-US" altLang="ja-JP">
                <a:latin typeface="Arial" panose="020B0604020202020204" pitchFamily="34" charset="0"/>
              </a:rPr>
              <a:t>Không thể định nghĩa nhiều method có đối số giống nhau, chỉ có giá trị trả về khác nhau.</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Overload sử dụng trong trường hợp muốn định nghĩa một chức năng nào đó nhưng có rất nhiều pattern của đối số.</a:t>
            </a:r>
          </a:p>
          <a:p>
            <a:pPr marL="0" indent="0"/>
            <a:r>
              <a:rPr lang="ja-JP" altLang="en-US">
                <a:latin typeface="Arial" panose="020B0604020202020204" pitchFamily="34" charset="0"/>
              </a:rPr>
              <a:t>　</a:t>
            </a:r>
            <a:r>
              <a:rPr lang="en-US" altLang="ja-JP">
                <a:latin typeface="Arial" panose="020B0604020202020204" pitchFamily="34" charset="0"/>
              </a:rPr>
              <a:t>Cả phía định nghĩa và phía sử dụng đều chỉ là 1 tên thế là xong nên rất tiện lợi.</a:t>
            </a:r>
          </a:p>
        </p:txBody>
      </p:sp>
      <p:sp>
        <p:nvSpPr>
          <p:cNvPr id="566276" name="Text Box 4">
            <a:extLst>
              <a:ext uri="{FF2B5EF4-FFF2-40B4-BE49-F238E27FC236}">
                <a16:creationId xmlns:a16="http://schemas.microsoft.com/office/drawing/2014/main" id="{40F4DDB5-70F7-7BE2-6A0E-E8120E4316E7}"/>
              </a:ext>
            </a:extLst>
          </p:cNvPr>
          <p:cNvSpPr txBox="1">
            <a:spLocks noChangeArrowheads="1"/>
          </p:cNvSpPr>
          <p:nvPr/>
        </p:nvSpPr>
        <p:spPr bwMode="auto">
          <a:xfrm>
            <a:off x="803275" y="7670800"/>
            <a:ext cx="5618163" cy="1079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68233" tIns="116482" rIns="368233" bIns="116482">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t>Check kiểu nghiêm ngặt</a:t>
            </a:r>
          </a:p>
          <a:p>
            <a:pPr>
              <a:lnSpc>
                <a:spcPct val="50000"/>
              </a:lnSpc>
            </a:pPr>
            <a:endParaRPr lang="en-US" altLang="ja-JP" b="0"/>
          </a:p>
          <a:p>
            <a:r>
              <a:rPr lang="ja-JP" altLang="en-US" b="0"/>
              <a:t>　</a:t>
            </a:r>
            <a:r>
              <a:rPr lang="en-US" altLang="ja-JP" b="0"/>
              <a:t>Ở Java, cho dù có overload hay không thì khi gọi ra một method, số lượng của đối số và kiểu sẽ được check.</a:t>
            </a:r>
          </a:p>
          <a:p>
            <a:r>
              <a:rPr lang="ja-JP" altLang="en-US" b="0"/>
              <a:t>　</a:t>
            </a:r>
            <a:r>
              <a:rPr lang="en-US" altLang="ja-JP" b="0"/>
              <a:t>Nếu không có một method  nào tương ứng thì sẽ bị compile error nên hãy chú ý điều này!</a:t>
            </a:r>
          </a:p>
        </p:txBody>
      </p:sp>
      <p:grpSp>
        <p:nvGrpSpPr>
          <p:cNvPr id="566277" name="Group 5">
            <a:extLst>
              <a:ext uri="{FF2B5EF4-FFF2-40B4-BE49-F238E27FC236}">
                <a16:creationId xmlns:a16="http://schemas.microsoft.com/office/drawing/2014/main" id="{ED0DD607-FC05-0CDD-890B-837F119CA4FE}"/>
              </a:ext>
            </a:extLst>
          </p:cNvPr>
          <p:cNvGrpSpPr>
            <a:grpSpLocks/>
          </p:cNvGrpSpPr>
          <p:nvPr/>
        </p:nvGrpSpPr>
        <p:grpSpPr bwMode="auto">
          <a:xfrm>
            <a:off x="800100" y="7413625"/>
            <a:ext cx="5622925" cy="301625"/>
            <a:chOff x="351" y="1572"/>
            <a:chExt cx="4968" cy="204"/>
          </a:xfrm>
        </p:grpSpPr>
        <p:pic>
          <p:nvPicPr>
            <p:cNvPr id="566278" name="Picture 6">
              <a:extLst>
                <a:ext uri="{FF2B5EF4-FFF2-40B4-BE49-F238E27FC236}">
                  <a16:creationId xmlns:a16="http://schemas.microsoft.com/office/drawing/2014/main" id="{85CB728C-0186-F957-C14D-C064D7B6E6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566279" name="Text Box 7">
              <a:extLst>
                <a:ext uri="{FF2B5EF4-FFF2-40B4-BE49-F238E27FC236}">
                  <a16:creationId xmlns:a16="http://schemas.microsoft.com/office/drawing/2014/main" id="{E0E7B765-273B-BB10-9F37-30EDC75D3FF5}"/>
                </a:ext>
              </a:extLst>
            </p:cNvPr>
            <p:cNvSpPr txBox="1">
              <a:spLocks noChangeArrowheads="1"/>
            </p:cNvSpPr>
            <p:nvPr/>
          </p:nvSpPr>
          <p:spPr bwMode="auto">
            <a:xfrm>
              <a:off x="517" y="1598"/>
              <a:ext cx="511" cy="1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41" tIns="47720" rIns="95441" bIns="47720">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rPr>
                <a:t>Chú ý</a:t>
              </a:r>
            </a:p>
          </p:txBody>
        </p:sp>
      </p:gr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322" name="Rectangle 2">
            <a:extLst>
              <a:ext uri="{FF2B5EF4-FFF2-40B4-BE49-F238E27FC236}">
                <a16:creationId xmlns:a16="http://schemas.microsoft.com/office/drawing/2014/main" id="{4C91A6D7-72D1-0FE6-1BDB-C95D11B6F7B1}"/>
              </a:ext>
            </a:extLst>
          </p:cNvPr>
          <p:cNvSpPr>
            <a:spLocks noGrp="1" noChangeArrowheads="1"/>
          </p:cNvSpPr>
          <p:nvPr>
            <p:ph type="body" idx="1"/>
          </p:nvPr>
        </p:nvSpPr>
        <p:spPr>
          <a:xfrm>
            <a:off x="561975" y="682625"/>
            <a:ext cx="5797550" cy="9305925"/>
          </a:xfrm>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dụ về overload</a:t>
            </a: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 định nghĩa class có method đã overload】</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 gọi ra method đã bị overload】</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 thực hiện】</a:t>
            </a:r>
          </a:p>
          <a:p>
            <a:pPr marL="0" indent="0"/>
            <a:endParaRPr lang="en-US" altLang="ja-JP">
              <a:latin typeface="Arial" panose="020B0604020202020204" pitchFamily="34" charset="0"/>
            </a:endParaRPr>
          </a:p>
        </p:txBody>
      </p:sp>
      <p:sp>
        <p:nvSpPr>
          <p:cNvPr id="568324" name="Text Box 4">
            <a:extLst>
              <a:ext uri="{FF2B5EF4-FFF2-40B4-BE49-F238E27FC236}">
                <a16:creationId xmlns:a16="http://schemas.microsoft.com/office/drawing/2014/main" id="{42773037-3B32-7473-F752-B8F373AA1A0B}"/>
              </a:ext>
            </a:extLst>
          </p:cNvPr>
          <p:cNvSpPr txBox="1">
            <a:spLocks noChangeArrowheads="1"/>
          </p:cNvSpPr>
          <p:nvPr/>
        </p:nvSpPr>
        <p:spPr bwMode="auto">
          <a:xfrm>
            <a:off x="561975" y="1249363"/>
            <a:ext cx="5859463" cy="38735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5363" indent="-355600" defTabSz="447675">
              <a:defRPr kumimoji="1">
                <a:solidFill>
                  <a:schemeClr val="tx1"/>
                </a:solidFill>
                <a:latin typeface="Arial" panose="020B0604020202020204" pitchFamily="34" charset="0"/>
                <a:ea typeface="ＭＳ Ｐゴシック" panose="020B0600070205080204" pitchFamily="50" charset="-128"/>
              </a:defRPr>
            </a:lvl5pPr>
            <a:lvl6pPr marL="27225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797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69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41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buFontTx/>
              <a:buAutoNum type="arabicPeriod"/>
            </a:pPr>
            <a:r>
              <a:rPr lang="ja-JP" altLang="ja-JP" b="0">
                <a:latin typeface="ＭＳ ゴシック" panose="020B0609070205080204" pitchFamily="49" charset="-128"/>
                <a:ea typeface="ＭＳ ゴシック" panose="020B0609070205080204" pitchFamily="49" charset="-128"/>
              </a:rPr>
              <a:t>public class Person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field</a:t>
            </a:r>
            <a:endParaRPr lang="ja-JP" altLang="ja-JP" b="0">
              <a:ea typeface="ＭＳ ゴシック" panose="020B0609070205080204" pitchFamily="49" charset="-128"/>
            </a:endParaRP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private String lastName; </a:t>
            </a:r>
            <a:r>
              <a:rPr lang="en-US" altLang="ja-JP" b="0">
                <a:latin typeface="ＭＳ ゴシック" panose="020B0609070205080204" pitchFamily="49" charset="-128"/>
                <a:ea typeface="ＭＳ ゴシック" panose="020B0609070205080204" pitchFamily="49" charset="-128"/>
              </a:rPr>
              <a:t> </a:t>
            </a: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họ</a:t>
            </a:r>
            <a:endParaRPr lang="ja-JP" altLang="ja-JP" b="0">
              <a:ea typeface="ＭＳ ゴシック" panose="020B0609070205080204" pitchFamily="49" charset="-128"/>
            </a:endParaRP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private String firstName; </a:t>
            </a:r>
            <a:r>
              <a:rPr lang="en-US" altLang="ja-JP" b="0">
                <a:latin typeface="ＭＳ ゴシック" panose="020B0609070205080204" pitchFamily="49" charset="-128"/>
                <a:ea typeface="ＭＳ ゴシック" panose="020B0609070205080204" pitchFamily="49" charset="-128"/>
              </a:rPr>
              <a:t> </a:t>
            </a:r>
            <a:r>
              <a:rPr lang="ja-JP"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tên</a:t>
            </a:r>
            <a:endParaRPr lang="ja-JP" altLang="ja-JP" b="0">
              <a:ea typeface="ＭＳ ゴシック" panose="020B0609070205080204" pitchFamily="49" charset="-128"/>
            </a:endParaRP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private int age;           // </a:t>
            </a:r>
            <a:r>
              <a:rPr lang="en-US" altLang="ja-JP" b="0">
                <a:ea typeface="ＭＳ ゴシック" panose="020B0609070205080204" pitchFamily="49" charset="-128"/>
              </a:rPr>
              <a:t>tuổi</a:t>
            </a:r>
            <a:endParaRPr lang="ja-JP" altLang="ja-JP" b="0">
              <a:ea typeface="ＭＳ ゴシック" panose="020B0609070205080204" pitchFamily="49" charset="-128"/>
            </a:endParaRP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public Person(String lname, String fname, int a)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lastName = lname;</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firstName = fname;</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age = a;</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Ví dụ về overload, trường hợp không có đối số và được ngăn cách bằng space</a:t>
            </a:r>
            <a:endParaRPr lang="ja-JP" altLang="ja-JP" b="0">
              <a:ea typeface="ＭＳ ゴシック" panose="020B0609070205080204" pitchFamily="49" charset="-128"/>
            </a:endParaRP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public String getFullName()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return (lastName + "  " + firstName);</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Ví dụ về overload, trường hợp có đối số và được ngăn cách bởi ký tự ngăn cách đã chỉ định.</a:t>
            </a:r>
            <a:endParaRPr lang="ja-JP" altLang="ja-JP" b="0">
              <a:ea typeface="ＭＳ ゴシック" panose="020B0609070205080204" pitchFamily="49" charset="-128"/>
            </a:endParaRP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public String getFullName(String delim)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return (lastName + delim + firstName);</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Các method khác đã được lược đi.</a:t>
            </a:r>
            <a:endParaRPr lang="ja-JP" altLang="ja-JP" b="0">
              <a:ea typeface="ＭＳ ゴシック" panose="020B0609070205080204" pitchFamily="49" charset="-128"/>
            </a:endParaRP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a:t>
            </a:r>
          </a:p>
        </p:txBody>
      </p:sp>
      <p:sp>
        <p:nvSpPr>
          <p:cNvPr id="568323" name="Rectangle 3">
            <a:extLst>
              <a:ext uri="{FF2B5EF4-FFF2-40B4-BE49-F238E27FC236}">
                <a16:creationId xmlns:a16="http://schemas.microsoft.com/office/drawing/2014/main" id="{979C77C1-BA3A-2A9C-7C9E-CF1D4EDD0116}"/>
              </a:ext>
            </a:extLst>
          </p:cNvPr>
          <p:cNvSpPr>
            <a:spLocks noChangeArrowheads="1"/>
          </p:cNvSpPr>
          <p:nvPr/>
        </p:nvSpPr>
        <p:spPr bwMode="auto">
          <a:xfrm>
            <a:off x="561975" y="5830888"/>
            <a:ext cx="5859463" cy="17764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Aft>
                <a:spcPct val="50000"/>
              </a:spcAft>
            </a:pPr>
            <a:r>
              <a:rPr lang="en-US" altLang="ja-JP" b="0">
                <a:latin typeface="ＭＳ ゴシック" panose="020B0609070205080204" pitchFamily="49" charset="-128"/>
                <a:ea typeface="ＭＳ ゴシック" panose="020B0609070205080204" pitchFamily="49" charset="-128"/>
              </a:rPr>
              <a:t>Person personA = new Person("</a:t>
            </a:r>
            <a:r>
              <a:rPr lang="ja-JP" altLang="en-US" b="0">
                <a:latin typeface="ＭＳ ゴシック" panose="020B0609070205080204" pitchFamily="49" charset="-128"/>
                <a:ea typeface="ＭＳ ゴシック" panose="020B0609070205080204" pitchFamily="49" charset="-128"/>
              </a:rPr>
              <a:t>山田</a:t>
            </a:r>
            <a:r>
              <a:rPr lang="en-US" altLang="ja-JP" b="0">
                <a:latin typeface="ＭＳ ゴシック" panose="020B0609070205080204" pitchFamily="49" charset="-128"/>
                <a:ea typeface="ＭＳ ゴシック" panose="020B0609070205080204" pitchFamily="49" charset="-128"/>
              </a:rPr>
              <a:t>(Yamada)", "</a:t>
            </a:r>
            <a:r>
              <a:rPr lang="ja-JP" altLang="en-US" b="0">
                <a:latin typeface="ＭＳ ゴシック" panose="020B0609070205080204" pitchFamily="49" charset="-128"/>
                <a:ea typeface="ＭＳ ゴシック" panose="020B0609070205080204" pitchFamily="49" charset="-128"/>
              </a:rPr>
              <a:t>一郎</a:t>
            </a:r>
            <a:r>
              <a:rPr lang="en-US" altLang="ja-JP" b="0">
                <a:latin typeface="ＭＳ ゴシック" panose="020B0609070205080204" pitchFamily="49" charset="-128"/>
                <a:ea typeface="ＭＳ ゴシック" panose="020B0609070205080204" pitchFamily="49" charset="-128"/>
              </a:rPr>
              <a:t>(ichoro)", 25);</a:t>
            </a:r>
          </a:p>
          <a:p>
            <a:pPr lvl="1">
              <a:spcAft>
                <a:spcPct val="50000"/>
              </a:spcAft>
            </a:pPr>
            <a:endParaRPr lang="en-US" altLang="ja-JP" b="0">
              <a:latin typeface="ＭＳ ゴシック" panose="020B0609070205080204" pitchFamily="49" charset="-128"/>
              <a:ea typeface="ＭＳ ゴシック" panose="020B0609070205080204" pitchFamily="49" charset="-128"/>
            </a:endParaRPr>
          </a:p>
          <a:p>
            <a:pPr lvl="1">
              <a:spcAft>
                <a:spcPct val="50000"/>
              </a:spcAft>
            </a:pPr>
            <a:r>
              <a:rPr lang="en-US"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Gọi ra method printInfo không có đối số</a:t>
            </a:r>
          </a:p>
          <a:p>
            <a:pPr lvl="1">
              <a:spcAft>
                <a:spcPct val="50000"/>
              </a:spcAft>
            </a:pPr>
            <a:r>
              <a:rPr lang="en-US" altLang="ja-JP" b="0">
                <a:latin typeface="ＭＳ ゴシック" panose="020B0609070205080204" pitchFamily="49" charset="-128"/>
                <a:ea typeface="ＭＳ ゴシック" panose="020B0609070205080204" pitchFamily="49" charset="-128"/>
              </a:rPr>
              <a:t>System.out.println( personA.getFullName() ) ;</a:t>
            </a:r>
          </a:p>
          <a:p>
            <a:pPr lvl="1">
              <a:spcAft>
                <a:spcPct val="50000"/>
              </a:spcAft>
            </a:pPr>
            <a:endParaRPr lang="en-US" altLang="ja-JP" b="0">
              <a:latin typeface="ＭＳ ゴシック" panose="020B0609070205080204" pitchFamily="49" charset="-128"/>
              <a:ea typeface="ＭＳ ゴシック" panose="020B0609070205080204" pitchFamily="49" charset="-128"/>
            </a:endParaRPr>
          </a:p>
          <a:p>
            <a:pPr lvl="1">
              <a:spcAft>
                <a:spcPct val="50000"/>
              </a:spcAft>
            </a:pPr>
            <a:r>
              <a:rPr lang="en-US"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Gọi ra method printInfo có đối số</a:t>
            </a:r>
          </a:p>
          <a:p>
            <a:pPr lvl="1">
              <a:spcAft>
                <a:spcPct val="50000"/>
              </a:spcAft>
            </a:pPr>
            <a:r>
              <a:rPr lang="en-US" altLang="ja-JP" b="0">
                <a:latin typeface="ＭＳ ゴシック" panose="020B0609070205080204" pitchFamily="49" charset="-128"/>
                <a:ea typeface="ＭＳ ゴシック" panose="020B0609070205080204" pitchFamily="49" charset="-128"/>
              </a:rPr>
              <a:t>System.out.println( personA.getFullName("</a:t>
            </a:r>
            <a:r>
              <a:rPr lang="ja-JP" altLang="en-US" b="0">
                <a:latin typeface="ＭＳ ゴシック" panose="020B0609070205080204" pitchFamily="49" charset="-128"/>
                <a:ea typeface="ＭＳ ゴシック" panose="020B0609070205080204" pitchFamily="49" charset="-128"/>
              </a:rPr>
              <a:t>：</a:t>
            </a:r>
            <a:r>
              <a:rPr lang="en-US" altLang="ja-JP" b="0">
                <a:latin typeface="ＭＳ ゴシック" panose="020B0609070205080204" pitchFamily="49" charset="-128"/>
                <a:ea typeface="ＭＳ ゴシック" panose="020B0609070205080204" pitchFamily="49" charset="-128"/>
              </a:rPr>
              <a:t>") ) ;</a:t>
            </a:r>
          </a:p>
        </p:txBody>
      </p:sp>
      <p:sp>
        <p:nvSpPr>
          <p:cNvPr id="568325" name="Rectangle 5">
            <a:extLst>
              <a:ext uri="{FF2B5EF4-FFF2-40B4-BE49-F238E27FC236}">
                <a16:creationId xmlns:a16="http://schemas.microsoft.com/office/drawing/2014/main" id="{A4526ECF-467B-C5BD-801F-305A93CDDE31}"/>
              </a:ext>
            </a:extLst>
          </p:cNvPr>
          <p:cNvSpPr>
            <a:spLocks noChangeArrowheads="1"/>
          </p:cNvSpPr>
          <p:nvPr/>
        </p:nvSpPr>
        <p:spPr bwMode="auto">
          <a:xfrm>
            <a:off x="663575" y="6543675"/>
            <a:ext cx="4195763" cy="230188"/>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568326" name="AutoShape 6">
            <a:extLst>
              <a:ext uri="{FF2B5EF4-FFF2-40B4-BE49-F238E27FC236}">
                <a16:creationId xmlns:a16="http://schemas.microsoft.com/office/drawing/2014/main" id="{0CE5233B-95B5-DF48-1195-62300868D778}"/>
              </a:ext>
            </a:extLst>
          </p:cNvPr>
          <p:cNvCxnSpPr>
            <a:cxnSpLocks noChangeShapeType="1"/>
            <a:stCxn id="568325" idx="3"/>
            <a:endCxn id="568328" idx="3"/>
          </p:cNvCxnSpPr>
          <p:nvPr/>
        </p:nvCxnSpPr>
        <p:spPr bwMode="auto">
          <a:xfrm flipV="1">
            <a:off x="4868863" y="3406775"/>
            <a:ext cx="915987" cy="3252788"/>
          </a:xfrm>
          <a:prstGeom prst="bentConnector3">
            <a:avLst>
              <a:gd name="adj1" fmla="val 145231"/>
            </a:avLst>
          </a:prstGeom>
          <a:noFill/>
          <a:ln w="1905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68327" name="Rectangle 7">
            <a:extLst>
              <a:ext uri="{FF2B5EF4-FFF2-40B4-BE49-F238E27FC236}">
                <a16:creationId xmlns:a16="http://schemas.microsoft.com/office/drawing/2014/main" id="{A4A8E434-5A39-BD55-997A-8EEF81363790}"/>
              </a:ext>
            </a:extLst>
          </p:cNvPr>
          <p:cNvSpPr>
            <a:spLocks noChangeArrowheads="1"/>
          </p:cNvSpPr>
          <p:nvPr/>
        </p:nvSpPr>
        <p:spPr bwMode="auto">
          <a:xfrm>
            <a:off x="1258888" y="3846513"/>
            <a:ext cx="4491037" cy="655637"/>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68328" name="Rectangle 8">
            <a:extLst>
              <a:ext uri="{FF2B5EF4-FFF2-40B4-BE49-F238E27FC236}">
                <a16:creationId xmlns:a16="http://schemas.microsoft.com/office/drawing/2014/main" id="{8AF530B5-AA39-4422-4850-15FFC98A5EC8}"/>
              </a:ext>
            </a:extLst>
          </p:cNvPr>
          <p:cNvSpPr>
            <a:spLocks noChangeArrowheads="1"/>
          </p:cNvSpPr>
          <p:nvPr/>
        </p:nvSpPr>
        <p:spPr bwMode="auto">
          <a:xfrm>
            <a:off x="1258888" y="3070225"/>
            <a:ext cx="4516437" cy="67310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68329" name="Rectangle 9">
            <a:extLst>
              <a:ext uri="{FF2B5EF4-FFF2-40B4-BE49-F238E27FC236}">
                <a16:creationId xmlns:a16="http://schemas.microsoft.com/office/drawing/2014/main" id="{B71BCB9E-2C82-BB3B-D034-E71B38879172}"/>
              </a:ext>
            </a:extLst>
          </p:cNvPr>
          <p:cNvSpPr>
            <a:spLocks noChangeArrowheads="1"/>
          </p:cNvSpPr>
          <p:nvPr/>
        </p:nvSpPr>
        <p:spPr bwMode="auto">
          <a:xfrm>
            <a:off x="661988" y="7234238"/>
            <a:ext cx="4194175" cy="230187"/>
          </a:xfrm>
          <a:prstGeom prst="rect">
            <a:avLst/>
          </a:prstGeom>
          <a:noFill/>
          <a:ln w="1905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568330" name="AutoShape 10">
            <a:extLst>
              <a:ext uri="{FF2B5EF4-FFF2-40B4-BE49-F238E27FC236}">
                <a16:creationId xmlns:a16="http://schemas.microsoft.com/office/drawing/2014/main" id="{BDB75CFB-3730-F4AD-37D3-074942DF86C8}"/>
              </a:ext>
            </a:extLst>
          </p:cNvPr>
          <p:cNvCxnSpPr>
            <a:cxnSpLocks noChangeShapeType="1"/>
            <a:stCxn id="568329" idx="3"/>
            <a:endCxn id="568327" idx="3"/>
          </p:cNvCxnSpPr>
          <p:nvPr/>
        </p:nvCxnSpPr>
        <p:spPr bwMode="auto">
          <a:xfrm flipV="1">
            <a:off x="4865688" y="4175125"/>
            <a:ext cx="893762" cy="3175000"/>
          </a:xfrm>
          <a:prstGeom prst="bentConnector3">
            <a:avLst>
              <a:gd name="adj1" fmla="val 124333"/>
            </a:avLst>
          </a:prstGeom>
          <a:noFill/>
          <a:ln w="19050">
            <a:solidFill>
              <a:srgbClr val="FF8519"/>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68331" name="AutoShape 11">
            <a:extLst>
              <a:ext uri="{FF2B5EF4-FFF2-40B4-BE49-F238E27FC236}">
                <a16:creationId xmlns:a16="http://schemas.microsoft.com/office/drawing/2014/main" id="{A4525973-3BD1-5D9F-E735-65BBE6901219}"/>
              </a:ext>
            </a:extLst>
          </p:cNvPr>
          <p:cNvSpPr>
            <a:spLocks noChangeArrowheads="1"/>
          </p:cNvSpPr>
          <p:nvPr/>
        </p:nvSpPr>
        <p:spPr bwMode="auto">
          <a:xfrm>
            <a:off x="3843338" y="5208588"/>
            <a:ext cx="1874837" cy="577850"/>
          </a:xfrm>
          <a:prstGeom prst="wedgeRoundRectCallout">
            <a:avLst>
              <a:gd name="adj1" fmla="val 62616"/>
              <a:gd name="adj2" fmla="val -824"/>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a:ea typeface="MS UI Gothic" panose="020B0600070205080204" pitchFamily="50" charset="-128"/>
              </a:rPr>
              <a:t>Method sẽ gọi ra được xác định bởi đối số đã chỉ định.</a:t>
            </a:r>
          </a:p>
        </p:txBody>
      </p:sp>
      <p:sp>
        <p:nvSpPr>
          <p:cNvPr id="568332" name="Rectangle 12">
            <a:extLst>
              <a:ext uri="{FF2B5EF4-FFF2-40B4-BE49-F238E27FC236}">
                <a16:creationId xmlns:a16="http://schemas.microsoft.com/office/drawing/2014/main" id="{0FDF3AA4-11C7-9CEE-4E92-D27C9B9F0F98}"/>
              </a:ext>
            </a:extLst>
          </p:cNvPr>
          <p:cNvSpPr>
            <a:spLocks noChangeArrowheads="1"/>
          </p:cNvSpPr>
          <p:nvPr/>
        </p:nvSpPr>
        <p:spPr bwMode="auto">
          <a:xfrm>
            <a:off x="561975" y="8229600"/>
            <a:ext cx="5859463" cy="9302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Aft>
                <a:spcPct val="50000"/>
              </a:spcAft>
            </a:pP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Trường hợp không có đối số thì sẽ ngăn cách bằng space</a:t>
            </a:r>
          </a:p>
          <a:p>
            <a:pPr lvl="1">
              <a:spcAft>
                <a:spcPct val="50000"/>
              </a:spcAft>
            </a:pPr>
            <a:r>
              <a:rPr lang="ja-JP" altLang="en-US" b="0">
                <a:latin typeface="ＭＳ ゴシック" panose="020B0609070205080204" pitchFamily="49" charset="-128"/>
                <a:ea typeface="ＭＳ ゴシック" panose="020B0609070205080204" pitchFamily="49" charset="-128"/>
              </a:rPr>
              <a:t>山田　 一郎</a:t>
            </a:r>
          </a:p>
          <a:p>
            <a:pPr lvl="1">
              <a:spcAft>
                <a:spcPct val="50000"/>
              </a:spcAft>
            </a:pPr>
            <a:r>
              <a:rPr lang="ja-JP" altLang="en-US" b="0">
                <a:latin typeface="ＭＳ ゴシック" panose="020B0609070205080204" pitchFamily="49" charset="-128"/>
                <a:ea typeface="ＭＳ ゴシック" panose="020B0609070205080204" pitchFamily="49" charset="-128"/>
              </a:rPr>
              <a:t>◆</a:t>
            </a:r>
            <a:r>
              <a:rPr lang="ja-JP" altLang="en-US">
                <a:latin typeface="ＭＳ ゴシック" panose="020B0609070205080204" pitchFamily="49" charset="-128"/>
                <a:ea typeface="ＭＳ ゴシック" panose="020B0609070205080204" pitchFamily="49" charset="-128"/>
              </a:rPr>
              <a:t> </a:t>
            </a:r>
            <a:r>
              <a:rPr lang="en-US" altLang="ja-JP">
                <a:ea typeface="ＭＳ ゴシック" panose="020B0609070205080204" pitchFamily="49" charset="-128"/>
              </a:rPr>
              <a:t>Trường hợp có đối số thì sẽ ngăn cách bằng ký tự</a:t>
            </a:r>
            <a:r>
              <a:rPr lang="ja-JP" altLang="en-US" b="0">
                <a:ea typeface="ＭＳ ゴシック" panose="020B0609070205080204" pitchFamily="49" charset="-128"/>
              </a:rPr>
              <a:t>「：」</a:t>
            </a:r>
            <a:r>
              <a:rPr lang="en-US" altLang="ja-JP" b="0">
                <a:ea typeface="ＭＳ ゴシック" panose="020B0609070205080204" pitchFamily="49" charset="-128"/>
              </a:rPr>
              <a:t>đã được chỉ định.</a:t>
            </a:r>
          </a:p>
          <a:p>
            <a:pPr lvl="1">
              <a:spcAft>
                <a:spcPct val="50000"/>
              </a:spcAft>
            </a:pPr>
            <a:r>
              <a:rPr lang="ja-JP" altLang="en-US" b="0">
                <a:latin typeface="ＭＳ ゴシック" panose="020B0609070205080204" pitchFamily="49" charset="-128"/>
                <a:ea typeface="ＭＳ ゴシック" panose="020B0609070205080204" pitchFamily="49" charset="-128"/>
              </a:rPr>
              <a:t>山田 ： 一郎</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7490" name="Rectangle 2">
            <a:extLst>
              <a:ext uri="{FF2B5EF4-FFF2-40B4-BE49-F238E27FC236}">
                <a16:creationId xmlns:a16="http://schemas.microsoft.com/office/drawing/2014/main" id="{E80537CA-5DD6-584A-0B2E-2B0DB3A2DA90}"/>
              </a:ext>
            </a:extLst>
          </p:cNvPr>
          <p:cNvSpPr>
            <a:spLocks noRot="1" noChangeAspect="1" noChangeArrowheads="1" noTextEdit="1"/>
          </p:cNvSpPr>
          <p:nvPr>
            <p:ph type="sldImg"/>
          </p:nvPr>
        </p:nvSpPr>
        <p:spPr>
          <a:xfrm>
            <a:off x="531813" y="835025"/>
            <a:ext cx="6024562" cy="4170363"/>
          </a:xfrm>
          <a:ln/>
        </p:spPr>
      </p:sp>
      <p:sp>
        <p:nvSpPr>
          <p:cNvPr id="447491" name="Rectangle 3">
            <a:extLst>
              <a:ext uri="{FF2B5EF4-FFF2-40B4-BE49-F238E27FC236}">
                <a16:creationId xmlns:a16="http://schemas.microsoft.com/office/drawing/2014/main" id="{2E8595F0-900B-488E-B8CA-656AA798C7C1}"/>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Biến static</a:t>
            </a:r>
          </a:p>
          <a:p>
            <a:pPr marL="0" indent="0"/>
            <a:r>
              <a:rPr lang="ja-JP" altLang="en-US">
                <a:latin typeface="Arial" panose="020B0604020202020204" pitchFamily="34" charset="0"/>
              </a:rPr>
              <a:t>　</a:t>
            </a:r>
            <a:r>
              <a:rPr lang="en-US" altLang="ja-JP">
                <a:latin typeface="Arial" panose="020B0604020202020204" pitchFamily="34" charset="0"/>
              </a:rPr>
              <a:t>Biến instance đã là biến thể hiện giá trị hiện thực của thuộc tính mà các object vốn có.</a:t>
            </a:r>
          </a:p>
          <a:p>
            <a:pPr marL="0" indent="0"/>
            <a:r>
              <a:rPr lang="ja-JP" altLang="en-US">
                <a:latin typeface="Arial" panose="020B0604020202020204" pitchFamily="34" charset="0"/>
              </a:rPr>
              <a:t>　</a:t>
            </a:r>
            <a:r>
              <a:rPr lang="en-US" altLang="ja-JP">
                <a:latin typeface="Arial" panose="020B0604020202020204" pitchFamily="34" charset="0"/>
              </a:rPr>
              <a:t>Ngược lại, biến static là biến mà được đảm bảo một vùng nhớ theo đơn vị class và có thể sử dụng được ngay cả khi không sinh object của class đó.</a:t>
            </a:r>
          </a:p>
          <a:p>
            <a:pPr marL="0" indent="0"/>
            <a:r>
              <a:rPr lang="ja-JP" altLang="en-US">
                <a:latin typeface="Arial" panose="020B0604020202020204" pitchFamily="34" charset="0"/>
              </a:rPr>
              <a:t>　</a:t>
            </a:r>
            <a:r>
              <a:rPr lang="en-US" altLang="ja-JP">
                <a:latin typeface="Arial" panose="020B0604020202020204" pitchFamily="34" charset="0"/>
              </a:rPr>
              <a:t>Sử dụng trong định nghĩa của các hằng số muốn sử dụng chung.</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Định nghĩa biến static</a:t>
            </a:r>
          </a:p>
          <a:p>
            <a:pPr marL="0" indent="0"/>
            <a:r>
              <a:rPr lang="ja-JP" altLang="en-US">
                <a:latin typeface="Arial" panose="020B0604020202020204" pitchFamily="34" charset="0"/>
              </a:rPr>
              <a:t>　</a:t>
            </a:r>
            <a:r>
              <a:rPr lang="en-US" altLang="ja-JP">
                <a:latin typeface="Arial" panose="020B0604020202020204" pitchFamily="34" charset="0"/>
              </a:rPr>
              <a:t>Vị trí định nghĩa biến static giống với biến instance.</a:t>
            </a:r>
          </a:p>
          <a:p>
            <a:pPr marL="0" indent="0"/>
            <a:r>
              <a:rPr lang="ja-JP" altLang="en-US">
                <a:latin typeface="Arial" panose="020B0604020202020204" pitchFamily="34" charset="0"/>
              </a:rPr>
              <a:t>　</a:t>
            </a:r>
            <a:r>
              <a:rPr lang="en-US" altLang="ja-JP">
                <a:latin typeface="Arial" panose="020B0604020202020204" pitchFamily="34" charset="0"/>
              </a:rPr>
              <a:t>Được định nghĩa bên trong định nghĩa class và bên ngoài định nghĩa method.</a:t>
            </a:r>
          </a:p>
          <a:p>
            <a:pPr marL="0" indent="0"/>
            <a:r>
              <a:rPr lang="ja-JP" altLang="en-US">
                <a:latin typeface="Arial" panose="020B0604020202020204" pitchFamily="34" charset="0"/>
              </a:rPr>
              <a:t>　</a:t>
            </a:r>
            <a:r>
              <a:rPr lang="en-US" altLang="ja-JP">
                <a:latin typeface="Arial" panose="020B0604020202020204" pitchFamily="34" charset="0"/>
              </a:rPr>
              <a:t>Cú pháp thì hầu như giống với cú pháp của biến instance nhưng chỗ chỉ định static modifier khác nhau.</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trí định nghĩa</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447494" name="Text Box 6">
            <a:extLst>
              <a:ext uri="{FF2B5EF4-FFF2-40B4-BE49-F238E27FC236}">
                <a16:creationId xmlns:a16="http://schemas.microsoft.com/office/drawing/2014/main" id="{12E740A5-A36E-F886-EBFF-30BA42F7766F}"/>
              </a:ext>
            </a:extLst>
          </p:cNvPr>
          <p:cNvSpPr txBox="1">
            <a:spLocks noChangeArrowheads="1"/>
          </p:cNvSpPr>
          <p:nvPr/>
        </p:nvSpPr>
        <p:spPr bwMode="auto">
          <a:xfrm>
            <a:off x="719138" y="7312025"/>
            <a:ext cx="5643562" cy="103346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ＭＳ ゴシック" panose="020B0609070205080204" pitchFamily="49" charset="-128"/>
              </a:rPr>
              <a:t>　</a:t>
            </a:r>
            <a:r>
              <a:rPr lang="en-US" altLang="ja-JP" b="0">
                <a:ea typeface="ＭＳ ゴシック" panose="020B0609070205080204" pitchFamily="49" charset="-128"/>
              </a:rPr>
              <a:t>class</a:t>
            </a:r>
            <a:r>
              <a:rPr lang="en-US" altLang="ja-JP" b="0">
                <a:ea typeface="MS UI Gothic" panose="020B0600070205080204" pitchFamily="50" charset="-128"/>
              </a:rPr>
              <a:t>  class name  </a:t>
            </a:r>
            <a:r>
              <a:rPr lang="en-US" altLang="ja-JP" b="0">
                <a:ea typeface="ＭＳ ゴシック" panose="020B0609070205080204" pitchFamily="49" charset="-128"/>
              </a:rPr>
              <a:t>{</a:t>
            </a:r>
          </a:p>
          <a:p>
            <a:pPr lvl="1" algn="just"/>
            <a:endParaRPr lang="en-US" altLang="ja-JP"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của biến instance hoặc biến static</a:t>
            </a:r>
          </a:p>
          <a:p>
            <a:pPr lvl="1" algn="just"/>
            <a:endParaRPr lang="en-US" altLang="ja-JP"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method</a:t>
            </a:r>
          </a:p>
          <a:p>
            <a:pPr lvl="1" algn="just"/>
            <a:r>
              <a:rPr lang="en-US" altLang="ja-JP" b="0">
                <a:ea typeface="ＭＳ ゴシック" panose="020B0609070205080204" pitchFamily="49" charset="-128"/>
              </a:rPr>
              <a:t>}</a:t>
            </a:r>
          </a:p>
        </p:txBody>
      </p:sp>
      <p:grpSp>
        <p:nvGrpSpPr>
          <p:cNvPr id="447498" name="Group 10">
            <a:extLst>
              <a:ext uri="{FF2B5EF4-FFF2-40B4-BE49-F238E27FC236}">
                <a16:creationId xmlns:a16="http://schemas.microsoft.com/office/drawing/2014/main" id="{A7699333-E8C0-AB9C-2384-B8DB218D48AD}"/>
              </a:ext>
            </a:extLst>
          </p:cNvPr>
          <p:cNvGrpSpPr>
            <a:grpSpLocks/>
          </p:cNvGrpSpPr>
          <p:nvPr/>
        </p:nvGrpSpPr>
        <p:grpSpPr bwMode="auto">
          <a:xfrm>
            <a:off x="1333500" y="7519988"/>
            <a:ext cx="4632325" cy="415925"/>
            <a:chOff x="740" y="4681"/>
            <a:chExt cx="2918" cy="262"/>
          </a:xfrm>
        </p:grpSpPr>
        <p:sp>
          <p:nvSpPr>
            <p:cNvPr id="447495" name="Rectangle 7">
              <a:extLst>
                <a:ext uri="{FF2B5EF4-FFF2-40B4-BE49-F238E27FC236}">
                  <a16:creationId xmlns:a16="http://schemas.microsoft.com/office/drawing/2014/main" id="{F4894FB9-38D9-DE00-9F71-AB4845CA1C0F}"/>
                </a:ext>
              </a:extLst>
            </p:cNvPr>
            <p:cNvSpPr>
              <a:spLocks noChangeArrowheads="1"/>
            </p:cNvSpPr>
            <p:nvPr/>
          </p:nvSpPr>
          <p:spPr bwMode="auto">
            <a:xfrm>
              <a:off x="740" y="4729"/>
              <a:ext cx="1666" cy="176"/>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p>
          </p:txBody>
        </p:sp>
        <p:sp>
          <p:nvSpPr>
            <p:cNvPr id="447496" name="Rectangle 8">
              <a:extLst>
                <a:ext uri="{FF2B5EF4-FFF2-40B4-BE49-F238E27FC236}">
                  <a16:creationId xmlns:a16="http://schemas.microsoft.com/office/drawing/2014/main" id="{3BD7E599-5319-3E78-CBCB-4F37CDF10214}"/>
                </a:ext>
              </a:extLst>
            </p:cNvPr>
            <p:cNvSpPr>
              <a:spLocks noChangeArrowheads="1"/>
            </p:cNvSpPr>
            <p:nvPr/>
          </p:nvSpPr>
          <p:spPr bwMode="auto">
            <a:xfrm>
              <a:off x="2820" y="4681"/>
              <a:ext cx="838" cy="26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Chú ý vị trí định nghĩa</a:t>
              </a:r>
              <a:r>
                <a:rPr lang="ja-JP" altLang="en-US">
                  <a:ea typeface="MS UI Gothic" panose="020B0600070205080204" pitchFamily="50" charset="-128"/>
                </a:rPr>
                <a:t>！</a:t>
              </a:r>
            </a:p>
          </p:txBody>
        </p:sp>
        <p:cxnSp>
          <p:nvCxnSpPr>
            <p:cNvPr id="447497" name="AutoShape 9">
              <a:extLst>
                <a:ext uri="{FF2B5EF4-FFF2-40B4-BE49-F238E27FC236}">
                  <a16:creationId xmlns:a16="http://schemas.microsoft.com/office/drawing/2014/main" id="{8322F9FB-71FB-6EA7-51FD-CC03B7F921EF}"/>
                </a:ext>
              </a:extLst>
            </p:cNvPr>
            <p:cNvCxnSpPr>
              <a:cxnSpLocks noChangeShapeType="1"/>
              <a:stCxn id="447495" idx="3"/>
              <a:endCxn id="447496" idx="1"/>
            </p:cNvCxnSpPr>
            <p:nvPr/>
          </p:nvCxnSpPr>
          <p:spPr bwMode="auto">
            <a:xfrm flipV="1">
              <a:off x="2414" y="4812"/>
              <a:ext cx="398" cy="5"/>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538" name="Rectangle 2">
            <a:extLst>
              <a:ext uri="{FF2B5EF4-FFF2-40B4-BE49-F238E27FC236}">
                <a16:creationId xmlns:a16="http://schemas.microsoft.com/office/drawing/2014/main" id="{86CC1D2A-3F87-0579-FDFA-F8643F901E91}"/>
              </a:ext>
            </a:extLst>
          </p:cNvPr>
          <p:cNvSpPr>
            <a:spLocks noGrp="1" noChangeArrowheads="1"/>
          </p:cNvSpPr>
          <p:nvPr>
            <p:ph type="body" idx="1"/>
          </p:nvPr>
        </p:nvSpPr>
        <p:spPr>
          <a:xfrm>
            <a:off x="706438" y="682625"/>
            <a:ext cx="5635625" cy="9305925"/>
          </a:xfrm>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 </a:t>
            </a:r>
            <a:r>
              <a:rPr lang="ja-JP" altLang="en-US">
                <a:latin typeface="Arial" panose="020B0604020202020204" pitchFamily="34" charset="0"/>
              </a:rPr>
              <a:t>「</a:t>
            </a:r>
            <a:r>
              <a:rPr lang="en-US" altLang="ja-JP">
                <a:latin typeface="Arial" panose="020B0604020202020204" pitchFamily="34" charset="0"/>
              </a:rPr>
              <a:t>modifier</a:t>
            </a:r>
            <a:r>
              <a:rPr lang="ja-JP" altLang="en-US">
                <a:latin typeface="Arial" panose="020B0604020202020204" pitchFamily="34" charset="0"/>
              </a:rPr>
              <a:t>」</a:t>
            </a:r>
            <a:r>
              <a:rPr lang="en-US" altLang="ja-JP">
                <a:latin typeface="Arial" panose="020B0604020202020204" pitchFamily="34" charset="0"/>
              </a:rPr>
              <a:t>của câu lệnh có thể lược đi. </a:t>
            </a:r>
            <a:r>
              <a:rPr lang="ja-JP" altLang="en-US">
                <a:latin typeface="Arial" panose="020B0604020202020204" pitchFamily="34" charset="0"/>
              </a:rPr>
              <a:t>（</a:t>
            </a:r>
            <a:r>
              <a:rPr lang="en-US" altLang="ja-JP">
                <a:latin typeface="Arial" panose="020B0604020202020204" pitchFamily="34" charset="0"/>
              </a:rPr>
              <a:t>static là bắt buộc</a:t>
            </a:r>
            <a:r>
              <a:rPr lang="ja-JP" altLang="en-US">
                <a:latin typeface="Arial" panose="020B0604020202020204" pitchFamily="34" charset="0"/>
              </a:rPr>
              <a:t>）</a:t>
            </a:r>
          </a:p>
          <a:p>
            <a:pPr marL="0" indent="0"/>
            <a:r>
              <a:rPr lang="en-US" altLang="ja-JP">
                <a:latin typeface="Arial" panose="020B0604020202020204" pitchFamily="34" charset="0"/>
              </a:rPr>
              <a:t>※ Nếu lược phần chỉ định giá trị khởi tạo thì giá trị default của các kiểu data sẽ được set.</a:t>
            </a: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a:t>
            </a:r>
            <a:r>
              <a:rPr lang="ja-JP" altLang="en-US">
                <a:latin typeface="Arial" panose="020B0604020202020204" pitchFamily="34" charset="0"/>
              </a:rPr>
              <a:t>）</a:t>
            </a:r>
          </a:p>
          <a:p>
            <a:pPr marL="180975" lvl="1" indent="-1588">
              <a:buFontTx/>
              <a:buNone/>
            </a:pPr>
            <a:r>
              <a:rPr lang="en-US" altLang="ja-JP">
                <a:latin typeface="Arial" panose="020B0604020202020204" pitchFamily="34" charset="0"/>
                <a:ea typeface="ＭＳ ゴシック" panose="020B0609070205080204" pitchFamily="49" charset="-128"/>
              </a:rPr>
              <a:t>static int numOfPerson;      // giá trị khi lược kiểu int là 0</a:t>
            </a:r>
          </a:p>
          <a:p>
            <a:pPr marL="180975" lvl="1" indent="-1588">
              <a:buFontTx/>
              <a:buNone/>
            </a:pPr>
            <a:endParaRPr lang="en-US" altLang="ja-JP">
              <a:latin typeface="Arial" panose="020B0604020202020204" pitchFamily="34" charset="0"/>
              <a:ea typeface="ＭＳ ゴシック" panose="020B0609070205080204" pitchFamily="49" charset="-128"/>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【Tham khảo】</a:t>
            </a:r>
          </a:p>
          <a:p>
            <a:pPr marL="0" indent="0"/>
            <a:r>
              <a:rPr lang="ja-JP" altLang="en-US">
                <a:latin typeface="Arial" panose="020B0604020202020204" pitchFamily="34" charset="0"/>
              </a:rPr>
              <a:t>　</a:t>
            </a:r>
            <a:r>
              <a:rPr lang="en-US" altLang="ja-JP">
                <a:latin typeface="Arial" panose="020B0604020202020204" pitchFamily="34" charset="0"/>
              </a:rPr>
              <a:t>static keyword là một loại modifier và không tuân theo trình từ nào với các modifier khác.</a:t>
            </a:r>
          </a:p>
          <a:p>
            <a:pPr marL="0" indent="0"/>
            <a:r>
              <a:rPr lang="ja-JP" altLang="en-US">
                <a:latin typeface="Arial" panose="020B0604020202020204" pitchFamily="34" charset="0"/>
              </a:rPr>
              <a:t>　</a:t>
            </a:r>
            <a:r>
              <a:rPr lang="en-US" altLang="ja-JP">
                <a:latin typeface="Arial" panose="020B0604020202020204" pitchFamily="34" charset="0"/>
              </a:rPr>
              <a:t>Để là </a:t>
            </a:r>
            <a:r>
              <a:rPr lang="ja-JP" altLang="en-US">
                <a:latin typeface="Arial" panose="020B0604020202020204" pitchFamily="34" charset="0"/>
              </a:rPr>
              <a:t>「</a:t>
            </a:r>
            <a:r>
              <a:rPr lang="en-US" altLang="ja-JP">
                <a:latin typeface="Arial" panose="020B0604020202020204" pitchFamily="34" charset="0"/>
              </a:rPr>
              <a:t>static </a:t>
            </a:r>
            <a:r>
              <a:rPr lang="ja-JP" altLang="en-US">
                <a:latin typeface="Arial" panose="020B0604020202020204" pitchFamily="34" charset="0"/>
              </a:rPr>
              <a:t>　</a:t>
            </a:r>
            <a:r>
              <a:rPr lang="en-US" altLang="ja-JP">
                <a:latin typeface="Arial" panose="020B0604020202020204" pitchFamily="34" charset="0"/>
              </a:rPr>
              <a:t>modifier</a:t>
            </a:r>
            <a:r>
              <a:rPr lang="ja-JP" altLang="en-US">
                <a:latin typeface="Arial" panose="020B0604020202020204" pitchFamily="34" charset="0"/>
              </a:rPr>
              <a:t>」</a:t>
            </a:r>
            <a:r>
              <a:rPr lang="en-US" altLang="ja-JP">
                <a:latin typeface="Arial" panose="020B0604020202020204" pitchFamily="34" charset="0"/>
              </a:rPr>
              <a:t>hay </a:t>
            </a:r>
            <a:r>
              <a:rPr lang="ja-JP" altLang="en-US">
                <a:latin typeface="Arial" panose="020B0604020202020204" pitchFamily="34" charset="0"/>
              </a:rPr>
              <a:t>「</a:t>
            </a:r>
            <a:r>
              <a:rPr lang="en-US" altLang="ja-JP">
                <a:latin typeface="Arial" panose="020B0604020202020204" pitchFamily="34" charset="0"/>
              </a:rPr>
              <a:t>modifier  static</a:t>
            </a:r>
            <a:r>
              <a:rPr lang="ja-JP" altLang="en-US">
                <a:latin typeface="Arial" panose="020B0604020202020204" pitchFamily="34" charset="0"/>
              </a:rPr>
              <a:t>」</a:t>
            </a:r>
            <a:r>
              <a:rPr lang="en-US" altLang="ja-JP">
                <a:latin typeface="Arial" panose="020B0604020202020204" pitchFamily="34" charset="0"/>
              </a:rPr>
              <a:t>đều được.</a:t>
            </a: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a:t>
            </a:r>
            <a:r>
              <a:rPr lang="ja-JP" altLang="en-US">
                <a:latin typeface="Arial" panose="020B0604020202020204" pitchFamily="34" charset="0"/>
              </a:rPr>
              <a:t>）</a:t>
            </a:r>
            <a:r>
              <a:rPr lang="ja-JP" altLang="en-US" i="1">
                <a:latin typeface="Arial" panose="020B0604020202020204" pitchFamily="34" charset="0"/>
              </a:rPr>
              <a:t>　</a:t>
            </a:r>
            <a:r>
              <a:rPr lang="en-US" altLang="ja-JP" i="1">
                <a:latin typeface="Arial" panose="020B0604020202020204" pitchFamily="34" charset="0"/>
              </a:rPr>
              <a:t>Cách ghi nào cũng đúng về mặt ngữ pháp</a:t>
            </a:r>
            <a:endParaRPr lang="en-US" altLang="ja-JP">
              <a:latin typeface="Arial" panose="020B0604020202020204" pitchFamily="34" charset="0"/>
            </a:endParaRP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public static final String SPECIES = "Homo sapiens";</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public final static String SPECIES = "Homo sapiens";</a:t>
            </a:r>
          </a:p>
          <a:p>
            <a:pPr marL="0" indent="0"/>
            <a:r>
              <a:rPr lang="ja-JP" altLang="en-US">
                <a:latin typeface="Arial" panose="020B0604020202020204" pitchFamily="34" charset="0"/>
                <a:ea typeface="ＭＳ ゴシック" panose="020B0609070205080204" pitchFamily="49" charset="-128"/>
              </a:rPr>
              <a:t>　　 </a:t>
            </a:r>
            <a:r>
              <a:rPr lang="en-US" altLang="ja-JP">
                <a:latin typeface="Arial" panose="020B0604020202020204" pitchFamily="34" charset="0"/>
                <a:ea typeface="ＭＳ ゴシック" panose="020B0609070205080204" pitchFamily="49" charset="-128"/>
              </a:rPr>
              <a:t>static final public String SPECIES = "Homo sapiens";</a:t>
            </a:r>
          </a:p>
        </p:txBody>
      </p:sp>
      <p:sp>
        <p:nvSpPr>
          <p:cNvPr id="449539" name="Text Box 3">
            <a:extLst>
              <a:ext uri="{FF2B5EF4-FFF2-40B4-BE49-F238E27FC236}">
                <a16:creationId xmlns:a16="http://schemas.microsoft.com/office/drawing/2014/main" id="{2883B8DA-BDB0-222D-6F26-936AB97A23C1}"/>
              </a:ext>
            </a:extLst>
          </p:cNvPr>
          <p:cNvSpPr txBox="1">
            <a:spLocks noChangeArrowheads="1"/>
          </p:cNvSpPr>
          <p:nvPr/>
        </p:nvSpPr>
        <p:spPr bwMode="auto">
          <a:xfrm>
            <a:off x="719138" y="954088"/>
            <a:ext cx="5643562" cy="2476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en-US" b="0">
                <a:ea typeface="MS UI Gothic" panose="020B0600070205080204" pitchFamily="50" charset="-128"/>
              </a:rPr>
              <a:t>　</a:t>
            </a:r>
            <a:r>
              <a:rPr lang="en-US" altLang="ja-JP" b="0">
                <a:ea typeface="MS UI Gothic" panose="020B0600070205080204" pitchFamily="50" charset="-128"/>
              </a:rPr>
              <a:t>modifier</a:t>
            </a:r>
            <a:r>
              <a:rPr lang="ja-JP" altLang="en-US" b="0">
                <a:ea typeface="MS UI Gothic" panose="020B0600070205080204" pitchFamily="50" charset="-128"/>
              </a:rPr>
              <a:t>　　</a:t>
            </a:r>
            <a:r>
              <a:rPr lang="en-US" altLang="ja-JP" b="0">
                <a:ea typeface="ＭＳ ゴシック" panose="020B0609070205080204" pitchFamily="49" charset="-128"/>
              </a:rPr>
              <a:t>static</a:t>
            </a:r>
            <a:r>
              <a:rPr lang="en-US" altLang="ja-JP" b="0">
                <a:ea typeface="MS UI Gothic" panose="020B0600070205080204" pitchFamily="50" charset="-128"/>
              </a:rPr>
              <a:t>   kiểu data</a:t>
            </a:r>
            <a:r>
              <a:rPr lang="ja-JP" altLang="en-US" b="0">
                <a:ea typeface="MS UI Gothic" panose="020B0600070205080204" pitchFamily="50" charset="-128"/>
              </a:rPr>
              <a:t>　　</a:t>
            </a:r>
            <a:r>
              <a:rPr lang="en-US" altLang="ja-JP" b="0">
                <a:ea typeface="MS UI Gothic" panose="020B0600070205080204" pitchFamily="50" charset="-128"/>
              </a:rPr>
              <a:t>tên biến</a:t>
            </a:r>
            <a:r>
              <a:rPr lang="en-US" altLang="ja-JP" b="0">
                <a:ea typeface="ＭＳ ゴシック" panose="020B0609070205080204" pitchFamily="49" charset="-128"/>
              </a:rPr>
              <a:t>;</a:t>
            </a:r>
            <a:endParaRPr lang="en-US" altLang="en-US" b="0">
              <a:ea typeface="ＭＳ ゴシック" panose="020B0609070205080204" pitchFamily="49" charset="-128"/>
            </a:endParaRPr>
          </a:p>
        </p:txBody>
      </p:sp>
      <p:sp>
        <p:nvSpPr>
          <p:cNvPr id="449540" name="Text Box 4">
            <a:extLst>
              <a:ext uri="{FF2B5EF4-FFF2-40B4-BE49-F238E27FC236}">
                <a16:creationId xmlns:a16="http://schemas.microsoft.com/office/drawing/2014/main" id="{DF21EA5E-490A-B9C5-870D-250E7CE5C82E}"/>
              </a:ext>
            </a:extLst>
          </p:cNvPr>
          <p:cNvSpPr txBox="1">
            <a:spLocks noChangeArrowheads="1"/>
          </p:cNvSpPr>
          <p:nvPr/>
        </p:nvSpPr>
        <p:spPr bwMode="auto">
          <a:xfrm>
            <a:off x="719138" y="1284288"/>
            <a:ext cx="5643562" cy="2794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en-US" b="0">
                <a:ea typeface="MS UI Gothic" panose="020B0600070205080204" pitchFamily="50" charset="-128"/>
              </a:rPr>
              <a:t>　 </a:t>
            </a:r>
            <a:r>
              <a:rPr lang="en-US" altLang="ja-JP" b="0">
                <a:ea typeface="MS UI Gothic" panose="020B0600070205080204" pitchFamily="50" charset="-128"/>
              </a:rPr>
              <a:t>modifier</a:t>
            </a:r>
            <a:r>
              <a:rPr lang="en-US" altLang="ja-JP">
                <a:ea typeface="MS UI Gothic" panose="020B0600070205080204" pitchFamily="50" charset="-128"/>
              </a:rPr>
              <a:t> </a:t>
            </a:r>
            <a:r>
              <a:rPr lang="ja-JP" altLang="en-US" b="0">
                <a:ea typeface="MS UI Gothic" panose="020B0600070205080204" pitchFamily="50" charset="-128"/>
              </a:rPr>
              <a:t>　</a:t>
            </a:r>
            <a:r>
              <a:rPr lang="en-US" altLang="ja-JP" b="0">
                <a:ea typeface="ＭＳ ゴシック" panose="020B0609070205080204" pitchFamily="49" charset="-128"/>
              </a:rPr>
              <a:t>static</a:t>
            </a:r>
            <a:r>
              <a:rPr lang="en-US" altLang="ja-JP" b="0">
                <a:ea typeface="MS UI Gothic" panose="020B0600070205080204" pitchFamily="50" charset="-128"/>
              </a:rPr>
              <a:t>   kiểu data</a:t>
            </a:r>
            <a:r>
              <a:rPr lang="ja-JP" altLang="en-US" b="0">
                <a:ea typeface="MS UI Gothic" panose="020B0600070205080204" pitchFamily="50" charset="-128"/>
              </a:rPr>
              <a:t>　　</a:t>
            </a:r>
            <a:r>
              <a:rPr lang="en-US" altLang="ja-JP" b="0">
                <a:ea typeface="MS UI Gothic" panose="020B0600070205080204" pitchFamily="50" charset="-128"/>
              </a:rPr>
              <a:t>tên biến</a:t>
            </a:r>
            <a:r>
              <a:rPr lang="en-US" altLang="ja-JP" b="0">
                <a:ea typeface="ＭＳ ゴシック" panose="020B0609070205080204" pitchFamily="49" charset="-128"/>
              </a:rPr>
              <a:t> = giá trị khởi tạo;</a:t>
            </a:r>
            <a:endParaRPr lang="en-US" altLang="en-US" b="0">
              <a:ea typeface="ＭＳ ゴシック" panose="020B0609070205080204" pitchFamily="49" charset="-128"/>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2418" name="Rectangle 2">
            <a:extLst>
              <a:ext uri="{FF2B5EF4-FFF2-40B4-BE49-F238E27FC236}">
                <a16:creationId xmlns:a16="http://schemas.microsoft.com/office/drawing/2014/main" id="{BA384303-5083-D83C-F804-EC14397BB5EE}"/>
              </a:ext>
            </a:extLst>
          </p:cNvPr>
          <p:cNvSpPr>
            <a:spLocks noRot="1" noChangeAspect="1" noChangeArrowheads="1" noTextEdit="1"/>
          </p:cNvSpPr>
          <p:nvPr>
            <p:ph type="sldImg"/>
          </p:nvPr>
        </p:nvSpPr>
        <p:spPr>
          <a:xfrm>
            <a:off x="531813" y="835025"/>
            <a:ext cx="6024562" cy="4170363"/>
          </a:xfrm>
          <a:ln/>
        </p:spPr>
      </p:sp>
      <p:sp>
        <p:nvSpPr>
          <p:cNvPr id="572419" name="Rectangle 3">
            <a:extLst>
              <a:ext uri="{FF2B5EF4-FFF2-40B4-BE49-F238E27FC236}">
                <a16:creationId xmlns:a16="http://schemas.microsoft.com/office/drawing/2014/main" id="{31F39D43-056A-2F99-346B-C3F8E13FBE9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static method</a:t>
            </a:r>
          </a:p>
          <a:p>
            <a:pPr marL="0" indent="0"/>
            <a:r>
              <a:rPr lang="ja-JP" altLang="en-US">
                <a:latin typeface="Arial" panose="020B0604020202020204" pitchFamily="34" charset="0"/>
              </a:rPr>
              <a:t>　</a:t>
            </a:r>
            <a:r>
              <a:rPr lang="en-US" altLang="ja-JP">
                <a:latin typeface="Arial" panose="020B0604020202020204" pitchFamily="34" charset="0"/>
              </a:rPr>
              <a:t>Instance method là cái tiến hành các thao tác của giá trị thuộc tính mà các object vốn có.</a:t>
            </a:r>
          </a:p>
          <a:p>
            <a:pPr marL="0" indent="0"/>
            <a:r>
              <a:rPr lang="ja-JP" altLang="en-US">
                <a:latin typeface="Arial" panose="020B0604020202020204" pitchFamily="34" charset="0"/>
              </a:rPr>
              <a:t>　</a:t>
            </a:r>
            <a:r>
              <a:rPr lang="en-US" altLang="ja-JP">
                <a:latin typeface="Arial" panose="020B0604020202020204" pitchFamily="34" charset="0"/>
              </a:rPr>
              <a:t>static method là method đã được đảm bảo một vùng nhớ theo đơn vị class và có thể sử dụng được cho dù không sinh object của class.</a:t>
            </a:r>
          </a:p>
          <a:p>
            <a:pPr marL="0" indent="0"/>
            <a:r>
              <a:rPr lang="ja-JP" altLang="en-US">
                <a:latin typeface="Arial" panose="020B0604020202020204" pitchFamily="34" charset="0"/>
              </a:rPr>
              <a:t>　</a:t>
            </a:r>
            <a:r>
              <a:rPr lang="en-US" altLang="ja-JP">
                <a:latin typeface="Arial" panose="020B0604020202020204" pitchFamily="34" charset="0"/>
              </a:rPr>
              <a:t>Sử dụng ở các định nghĩa của các xử lý đa năng sử dụng thường xuyên.</a:t>
            </a:r>
          </a:p>
          <a:p>
            <a:pPr marL="0" indent="0"/>
            <a:r>
              <a:rPr lang="ja-JP" altLang="en-US">
                <a:latin typeface="Arial" panose="020B0604020202020204" pitchFamily="34" charset="0"/>
              </a:rPr>
              <a:t>　</a:t>
            </a: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Định nghĩa static method</a:t>
            </a:r>
          </a:p>
          <a:p>
            <a:pPr marL="0" indent="0"/>
            <a:r>
              <a:rPr lang="ja-JP" altLang="en-US">
                <a:latin typeface="Arial" panose="020B0604020202020204" pitchFamily="34" charset="0"/>
              </a:rPr>
              <a:t>　</a:t>
            </a:r>
            <a:r>
              <a:rPr lang="en-US" altLang="ja-JP">
                <a:latin typeface="Arial" panose="020B0604020202020204" pitchFamily="34" charset="0"/>
              </a:rPr>
              <a:t>Vị trí định nghĩa static method giống với instance method, định nghĩa bên trong định nghĩa class.</a:t>
            </a:r>
          </a:p>
          <a:p>
            <a:pPr marL="0" indent="0"/>
            <a:r>
              <a:rPr lang="ja-JP" altLang="en-US">
                <a:latin typeface="Arial" panose="020B0604020202020204" pitchFamily="34" charset="0"/>
              </a:rPr>
              <a:t>　</a:t>
            </a:r>
            <a:r>
              <a:rPr lang="en-US" altLang="ja-JP">
                <a:latin typeface="Arial" panose="020B0604020202020204" pitchFamily="34" charset="0"/>
              </a:rPr>
              <a:t>Gần giống với cú pháp của instance method nhưng chỗ chỉ định modifier static thì khác.</a:t>
            </a:r>
          </a:p>
          <a:p>
            <a:pPr marL="0" indent="0"/>
            <a:r>
              <a:rPr lang="ja-JP" altLang="en-US">
                <a:latin typeface="Arial" panose="020B0604020202020204" pitchFamily="34" charset="0"/>
              </a:rPr>
              <a:t>　</a:t>
            </a:r>
            <a:r>
              <a:rPr lang="en-US" altLang="ja-JP">
                <a:latin typeface="Arial" panose="020B0604020202020204" pitchFamily="34" charset="0"/>
              </a:rPr>
              <a:t>Trình tự định nghĩa field và method là tùy ý nhưng thông thường method sẽ được miêu tả tiếp theo sau field.</a:t>
            </a:r>
          </a:p>
          <a:p>
            <a:pPr marL="0" indent="0"/>
            <a:r>
              <a:rPr lang="ja-JP" altLang="en-US">
                <a:latin typeface="Arial" panose="020B0604020202020204" pitchFamily="34" charset="0"/>
              </a:rPr>
              <a:t>　</a:t>
            </a:r>
            <a:r>
              <a:rPr lang="en-US" altLang="ja-JP">
                <a:latin typeface="Arial" panose="020B0604020202020204" pitchFamily="34" charset="0"/>
              </a:rPr>
              <a:t>Trình tự định nghĩa giữa các method cũng là tùy ý.</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trí định nghĩa</a:t>
            </a:r>
          </a:p>
          <a:p>
            <a:pPr marL="0" indent="0"/>
            <a:endParaRPr lang="en-US" altLang="ja-JP">
              <a:latin typeface="Arial" panose="020B0604020202020204" pitchFamily="34" charset="0"/>
            </a:endParaRPr>
          </a:p>
        </p:txBody>
      </p:sp>
      <p:sp>
        <p:nvSpPr>
          <p:cNvPr id="572420" name="Text Box 4">
            <a:extLst>
              <a:ext uri="{FF2B5EF4-FFF2-40B4-BE49-F238E27FC236}">
                <a16:creationId xmlns:a16="http://schemas.microsoft.com/office/drawing/2014/main" id="{7BC03F82-93BF-500B-17D7-7F55CDE46BB0}"/>
              </a:ext>
            </a:extLst>
          </p:cNvPr>
          <p:cNvSpPr txBox="1">
            <a:spLocks noChangeArrowheads="1"/>
          </p:cNvSpPr>
          <p:nvPr/>
        </p:nvSpPr>
        <p:spPr bwMode="auto">
          <a:xfrm>
            <a:off x="719138" y="7588250"/>
            <a:ext cx="5643562" cy="103346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ＭＳ ゴシック" panose="020B0609070205080204" pitchFamily="49" charset="-128"/>
              </a:rPr>
              <a:t>　</a:t>
            </a:r>
            <a:r>
              <a:rPr lang="en-US" altLang="ja-JP" b="0">
                <a:ea typeface="ＭＳ ゴシック" panose="020B0609070205080204" pitchFamily="49" charset="-128"/>
              </a:rPr>
              <a:t>class</a:t>
            </a:r>
            <a:r>
              <a:rPr lang="ja-JP" altLang="en-US" b="0">
                <a:ea typeface="ＭＳ ゴシック" panose="020B0609070205080204" pitchFamily="49" charset="-128"/>
              </a:rPr>
              <a:t>　</a:t>
            </a:r>
            <a:r>
              <a:rPr lang="en-US" altLang="ja-JP" b="0">
                <a:ea typeface="ＭＳ ゴシック" panose="020B0609070205080204" pitchFamily="49" charset="-128"/>
              </a:rPr>
              <a:t>class name</a:t>
            </a:r>
            <a:r>
              <a:rPr lang="en-US" altLang="ja-JP" b="0">
                <a:ea typeface="MS UI Gothic" panose="020B0600070205080204" pitchFamily="50" charset="-128"/>
              </a:rPr>
              <a:t>  </a:t>
            </a:r>
            <a:r>
              <a:rPr lang="en-US" altLang="ja-JP" b="0">
                <a:ea typeface="ＭＳ ゴシック" panose="020B0609070205080204" pitchFamily="49" charset="-128"/>
              </a:rPr>
              <a:t>{</a:t>
            </a:r>
          </a:p>
          <a:p>
            <a:pPr lvl="1" algn="just"/>
            <a:endParaRPr lang="en-US" altLang="ja-JP"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field</a:t>
            </a:r>
            <a:r>
              <a:rPr lang="ja-JP" altLang="en-US" b="0">
                <a:ea typeface="MS UI Gothic" panose="020B0600070205080204" pitchFamily="50" charset="-128"/>
              </a:rPr>
              <a:t>（</a:t>
            </a:r>
            <a:r>
              <a:rPr lang="en-US" altLang="ja-JP" b="0">
                <a:ea typeface="MS UI Gothic" panose="020B0600070205080204" pitchFamily="50" charset="-128"/>
              </a:rPr>
              <a:t>thuộc tính</a:t>
            </a:r>
            <a:r>
              <a:rPr lang="ja-JP" altLang="en-US" b="0">
                <a:ea typeface="MS UI Gothic" panose="020B0600070205080204" pitchFamily="50" charset="-128"/>
              </a:rPr>
              <a:t>）</a:t>
            </a:r>
          </a:p>
          <a:p>
            <a:pPr lvl="1" algn="just"/>
            <a:endParaRPr lang="ja-JP" altLang="en-US"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instance method hoặc static method</a:t>
            </a:r>
          </a:p>
          <a:p>
            <a:pPr lvl="1" algn="just"/>
            <a:r>
              <a:rPr lang="en-US" altLang="ja-JP" b="0">
                <a:ea typeface="ＭＳ ゴシック" panose="020B0609070205080204" pitchFamily="49" charset="-128"/>
              </a:rPr>
              <a:t>}</a:t>
            </a:r>
          </a:p>
        </p:txBody>
      </p:sp>
      <p:grpSp>
        <p:nvGrpSpPr>
          <p:cNvPr id="572424" name="Group 8">
            <a:extLst>
              <a:ext uri="{FF2B5EF4-FFF2-40B4-BE49-F238E27FC236}">
                <a16:creationId xmlns:a16="http://schemas.microsoft.com/office/drawing/2014/main" id="{16352D70-479C-79FF-DE22-D1C3A7C352ED}"/>
              </a:ext>
            </a:extLst>
          </p:cNvPr>
          <p:cNvGrpSpPr>
            <a:grpSpLocks/>
          </p:cNvGrpSpPr>
          <p:nvPr/>
        </p:nvGrpSpPr>
        <p:grpSpPr bwMode="auto">
          <a:xfrm>
            <a:off x="1371600" y="8012113"/>
            <a:ext cx="4537075" cy="568325"/>
            <a:chOff x="740" y="5047"/>
            <a:chExt cx="2858" cy="358"/>
          </a:xfrm>
        </p:grpSpPr>
        <p:sp>
          <p:nvSpPr>
            <p:cNvPr id="572421" name="Rectangle 5">
              <a:extLst>
                <a:ext uri="{FF2B5EF4-FFF2-40B4-BE49-F238E27FC236}">
                  <a16:creationId xmlns:a16="http://schemas.microsoft.com/office/drawing/2014/main" id="{8D2091EB-32F0-A7B9-E396-B9413A02FC70}"/>
                </a:ext>
              </a:extLst>
            </p:cNvPr>
            <p:cNvSpPr>
              <a:spLocks noChangeArrowheads="1"/>
            </p:cNvSpPr>
            <p:nvPr/>
          </p:nvSpPr>
          <p:spPr bwMode="auto">
            <a:xfrm>
              <a:off x="740" y="5149"/>
              <a:ext cx="1727" cy="176"/>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72422" name="Rectangle 6">
              <a:extLst>
                <a:ext uri="{FF2B5EF4-FFF2-40B4-BE49-F238E27FC236}">
                  <a16:creationId xmlns:a16="http://schemas.microsoft.com/office/drawing/2014/main" id="{0B20683D-0C84-F90A-FD75-E1ADDF51DD06}"/>
                </a:ext>
              </a:extLst>
            </p:cNvPr>
            <p:cNvSpPr>
              <a:spLocks noChangeArrowheads="1"/>
            </p:cNvSpPr>
            <p:nvPr/>
          </p:nvSpPr>
          <p:spPr bwMode="auto">
            <a:xfrm>
              <a:off x="3114" y="5047"/>
              <a:ext cx="484" cy="35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Vị trí định nghĩa</a:t>
              </a:r>
            </a:p>
          </p:txBody>
        </p:sp>
        <p:cxnSp>
          <p:nvCxnSpPr>
            <p:cNvPr id="572423" name="AutoShape 7">
              <a:extLst>
                <a:ext uri="{FF2B5EF4-FFF2-40B4-BE49-F238E27FC236}">
                  <a16:creationId xmlns:a16="http://schemas.microsoft.com/office/drawing/2014/main" id="{56ADD57C-8C5B-680D-5D13-E1500D805D81}"/>
                </a:ext>
              </a:extLst>
            </p:cNvPr>
            <p:cNvCxnSpPr>
              <a:cxnSpLocks noChangeShapeType="1"/>
              <a:stCxn id="572421" idx="3"/>
              <a:endCxn id="572422" idx="1"/>
            </p:cNvCxnSpPr>
            <p:nvPr/>
          </p:nvCxnSpPr>
          <p:spPr bwMode="auto">
            <a:xfrm flipV="1">
              <a:off x="2473" y="5226"/>
              <a:ext cx="635" cy="11"/>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045385A3-393A-F8F6-B8A7-68023756C381}"/>
              </a:ext>
            </a:extLst>
          </p:cNvPr>
          <p:cNvSpPr>
            <a:spLocks noGrp="1" noChangeArrowheads="1"/>
          </p:cNvSpPr>
          <p:nvPr>
            <p:ph type="body" idx="1"/>
          </p:nvPr>
        </p:nvSpPr>
        <p:spPr>
          <a:xfrm>
            <a:off x="706438" y="682625"/>
            <a:ext cx="5635625" cy="9305925"/>
          </a:xfrm>
        </p:spPr>
        <p:txBody>
          <a:bodyPr/>
          <a:lstStyle/>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 </a:t>
            </a:r>
            <a:r>
              <a:rPr lang="ja-JP" altLang="en-US">
                <a:latin typeface="Arial" panose="020B0604020202020204" pitchFamily="34" charset="0"/>
              </a:rPr>
              <a:t>「</a:t>
            </a:r>
            <a:r>
              <a:rPr lang="en-US" altLang="ja-JP">
                <a:latin typeface="Arial" panose="020B0604020202020204" pitchFamily="34" charset="0"/>
              </a:rPr>
              <a:t>modifier</a:t>
            </a:r>
            <a:r>
              <a:rPr lang="ja-JP" altLang="en-US">
                <a:latin typeface="Arial" panose="020B0604020202020204" pitchFamily="34" charset="0"/>
              </a:rPr>
              <a:t>」</a:t>
            </a:r>
            <a:r>
              <a:rPr lang="en-US" altLang="ja-JP">
                <a:latin typeface="Arial" panose="020B0604020202020204" pitchFamily="34" charset="0"/>
              </a:rPr>
              <a:t>của cú pháp có thể lược đi được.</a:t>
            </a:r>
            <a:r>
              <a:rPr lang="ja-JP" altLang="en-US">
                <a:latin typeface="Arial" panose="020B0604020202020204" pitchFamily="34" charset="0"/>
              </a:rPr>
              <a:t>（</a:t>
            </a:r>
            <a:r>
              <a:rPr lang="en-US" altLang="ja-JP">
                <a:latin typeface="Arial" panose="020B0604020202020204" pitchFamily="34" charset="0"/>
              </a:rPr>
              <a:t>static là bắt buộc</a:t>
            </a:r>
            <a:r>
              <a:rPr lang="ja-JP" altLang="en-US">
                <a:latin typeface="Arial" panose="020B0604020202020204" pitchFamily="34" charset="0"/>
              </a:rPr>
              <a:t>）</a:t>
            </a:r>
          </a:p>
          <a:p>
            <a:pPr marL="0" indent="0"/>
            <a:r>
              <a:rPr lang="en-US" altLang="ja-JP">
                <a:latin typeface="Arial" panose="020B0604020202020204" pitchFamily="34" charset="0"/>
              </a:rPr>
              <a:t>※ Trường hợp không có giá trị trả về thì phải chỉ định </a:t>
            </a:r>
            <a:r>
              <a:rPr lang="ja-JP" altLang="en-US">
                <a:latin typeface="Arial" panose="020B0604020202020204" pitchFamily="34" charset="0"/>
              </a:rPr>
              <a:t>「</a:t>
            </a:r>
            <a:r>
              <a:rPr lang="en-US" altLang="ja-JP">
                <a:latin typeface="Arial" panose="020B0604020202020204" pitchFamily="34" charset="0"/>
              </a:rPr>
              <a:t>void</a:t>
            </a:r>
            <a:r>
              <a:rPr lang="ja-JP" altLang="en-US">
                <a:latin typeface="Arial" panose="020B0604020202020204" pitchFamily="34" charset="0"/>
              </a:rPr>
              <a:t>」 </a:t>
            </a:r>
            <a:r>
              <a:rPr lang="en-US" altLang="ja-JP">
                <a:latin typeface="Arial" panose="020B0604020202020204" pitchFamily="34" charset="0"/>
              </a:rPr>
              <a:t>vào phần</a:t>
            </a:r>
            <a:r>
              <a:rPr lang="ja-JP" altLang="en-US">
                <a:latin typeface="Arial" panose="020B0604020202020204" pitchFamily="34" charset="0"/>
              </a:rPr>
              <a:t>「</a:t>
            </a:r>
            <a:r>
              <a:rPr lang="en-US" altLang="ja-JP">
                <a:latin typeface="Arial" panose="020B0604020202020204" pitchFamily="34" charset="0"/>
              </a:rPr>
              <a:t>kiểu giá trị trả về</a:t>
            </a:r>
            <a:r>
              <a:rPr lang="ja-JP" altLang="en-US">
                <a:latin typeface="Arial" panose="020B0604020202020204" pitchFamily="34" charset="0"/>
              </a:rPr>
              <a:t>」</a:t>
            </a:r>
            <a:r>
              <a:rPr lang="en-US" altLang="ja-JP">
                <a:latin typeface="Arial" panose="020B0604020202020204" pitchFamily="34" charset="0"/>
              </a:rPr>
              <a:t>.</a:t>
            </a:r>
          </a:p>
          <a:p>
            <a:pPr marL="0" indent="0"/>
            <a:r>
              <a:rPr lang="en-US" altLang="ja-JP">
                <a:latin typeface="Arial" panose="020B0604020202020204" pitchFamily="34" charset="0"/>
              </a:rPr>
              <a:t>※ Trường hợp tiến hành nhận truyền giá trị khi gọi ra method thì sẽ chỉ định đối số.</a:t>
            </a:r>
            <a:br>
              <a:rPr lang="en-US" altLang="ja-JP">
                <a:latin typeface="Arial" panose="020B0604020202020204" pitchFamily="34" charset="0"/>
              </a:rPr>
            </a:br>
            <a:r>
              <a:rPr lang="ja-JP" altLang="en-US">
                <a:latin typeface="Arial" panose="020B0604020202020204" pitchFamily="34" charset="0"/>
              </a:rPr>
              <a:t>　　</a:t>
            </a:r>
            <a:r>
              <a:rPr lang="en-US" altLang="ja-JP">
                <a:latin typeface="Arial" panose="020B0604020202020204" pitchFamily="34" charset="0"/>
              </a:rPr>
              <a:t>Trường hợp không có giá trị để tiến hành nhận truyền thì chỉ chỉ định ( ).</a:t>
            </a:r>
          </a:p>
          <a:p>
            <a:pPr marL="0" indent="0"/>
            <a:r>
              <a:rPr lang="en-US" altLang="ja-JP">
                <a:latin typeface="Arial" panose="020B0604020202020204" pitchFamily="34" charset="0"/>
              </a:rPr>
              <a:t>※ Trường hợp có giá trị trả về thì trong xử lý cần phải ghi </a:t>
            </a:r>
            <a:r>
              <a:rPr lang="ja-JP" altLang="en-US">
                <a:latin typeface="Arial" panose="020B0604020202020204" pitchFamily="34" charset="0"/>
              </a:rPr>
              <a:t>「</a:t>
            </a:r>
            <a:r>
              <a:rPr lang="en-US" altLang="ja-JP">
                <a:latin typeface="Arial" panose="020B0604020202020204" pitchFamily="34" charset="0"/>
              </a:rPr>
              <a:t>câu lệnh return</a:t>
            </a:r>
            <a:r>
              <a:rPr lang="ja-JP" altLang="en-US">
                <a:latin typeface="Arial" panose="020B0604020202020204" pitchFamily="34" charset="0"/>
              </a:rPr>
              <a:t>」</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【Chú ý】</a:t>
            </a:r>
            <a:r>
              <a:rPr lang="ja-JP" altLang="en-US">
                <a:latin typeface="Arial" panose="020B0604020202020204" pitchFamily="34" charset="0"/>
              </a:rPr>
              <a:t>　</a:t>
            </a:r>
            <a:r>
              <a:rPr lang="en-US" altLang="ja-JP">
                <a:latin typeface="Arial" panose="020B0604020202020204" pitchFamily="34" charset="0"/>
              </a:rPr>
              <a:t>static method và biến instance</a:t>
            </a:r>
          </a:p>
          <a:p>
            <a:pPr marL="0" indent="0"/>
            <a:r>
              <a:rPr lang="ja-JP" altLang="en-US">
                <a:latin typeface="Arial" panose="020B0604020202020204" pitchFamily="34" charset="0"/>
              </a:rPr>
              <a:t>　</a:t>
            </a:r>
            <a:r>
              <a:rPr lang="en-US" altLang="ja-JP">
                <a:latin typeface="Arial" panose="020B0604020202020204" pitchFamily="34" charset="0"/>
              </a:rPr>
              <a:t>Từ static method có thể access vào biến static hoặc biến local trong method hiện tại.</a:t>
            </a:r>
          </a:p>
          <a:p>
            <a:pPr marL="0" indent="0"/>
            <a:r>
              <a:rPr lang="ja-JP" altLang="en-US">
                <a:latin typeface="Arial" panose="020B0604020202020204" pitchFamily="34" charset="0"/>
              </a:rPr>
              <a:t>　</a:t>
            </a:r>
            <a:r>
              <a:rPr lang="en-US" altLang="ja-JP">
                <a:latin typeface="Arial" panose="020B0604020202020204" pitchFamily="34" charset="0"/>
              </a:rPr>
              <a:t>Nhưng, từ static method không thể access vào biến instance và instance method mà object của class đó chứa.</a:t>
            </a:r>
            <a:r>
              <a:rPr lang="ja-JP" altLang="en-US">
                <a:latin typeface="Arial" panose="020B0604020202020204" pitchFamily="34" charset="0"/>
              </a:rPr>
              <a:t>（</a:t>
            </a:r>
            <a:r>
              <a:rPr lang="en-US" altLang="ja-JP">
                <a:latin typeface="Arial" panose="020B0604020202020204" pitchFamily="34" charset="0"/>
              </a:rPr>
              <a:t>sẽ bị compile error</a:t>
            </a:r>
            <a:r>
              <a:rPr lang="ja-JP" altLang="en-US">
                <a:latin typeface="Arial" panose="020B0604020202020204" pitchFamily="34" charset="0"/>
              </a:rPr>
              <a:t>）</a:t>
            </a:r>
            <a:r>
              <a:rPr lang="en-US" altLang="ja-JP">
                <a:latin typeface="Arial" panose="020B0604020202020204" pitchFamily="34" charset="0"/>
              </a:rPr>
              <a:t>.</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453635" name="Text Box 3">
            <a:extLst>
              <a:ext uri="{FF2B5EF4-FFF2-40B4-BE49-F238E27FC236}">
                <a16:creationId xmlns:a16="http://schemas.microsoft.com/office/drawing/2014/main" id="{8CF090F2-1602-8BB7-CD1F-0CAB7FC7E12C}"/>
              </a:ext>
            </a:extLst>
          </p:cNvPr>
          <p:cNvSpPr txBox="1">
            <a:spLocks noChangeArrowheads="1"/>
          </p:cNvSpPr>
          <p:nvPr/>
        </p:nvSpPr>
        <p:spPr bwMode="auto">
          <a:xfrm>
            <a:off x="766763" y="1344613"/>
            <a:ext cx="5548312" cy="53181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MS UI Gothic" panose="020B0600070205080204" pitchFamily="50" charset="-128"/>
              </a:rPr>
              <a:t>　</a:t>
            </a:r>
            <a:r>
              <a:rPr lang="en-US" altLang="ja-JP" b="0">
                <a:ea typeface="MS UI Gothic" panose="020B0600070205080204" pitchFamily="50" charset="-128"/>
              </a:rPr>
              <a:t>modifier</a:t>
            </a:r>
            <a:r>
              <a:rPr lang="ja-JP" altLang="ja-JP" b="0">
                <a:ea typeface="MS UI Gothic" panose="020B0600070205080204" pitchFamily="50" charset="-128"/>
              </a:rPr>
              <a:t>　</a:t>
            </a:r>
            <a:r>
              <a:rPr lang="ja-JP" altLang="ja-JP" b="0">
                <a:ea typeface="ＭＳ ゴシック" panose="020B0609070205080204" pitchFamily="49" charset="-128"/>
              </a:rPr>
              <a:t>static</a:t>
            </a:r>
            <a:r>
              <a:rPr lang="ja-JP" altLang="ja-JP" b="0">
                <a:ea typeface="MS UI Gothic" panose="020B0600070205080204" pitchFamily="50" charset="-128"/>
              </a:rPr>
              <a:t>　</a:t>
            </a:r>
            <a:r>
              <a:rPr lang="en-US" altLang="ja-JP" b="0">
                <a:ea typeface="MS UI Gothic" panose="020B0600070205080204" pitchFamily="50" charset="-128"/>
              </a:rPr>
              <a:t>kiểu giá trị trả về</a:t>
            </a:r>
            <a:r>
              <a:rPr lang="ja-JP" altLang="ja-JP" b="0">
                <a:ea typeface="MS UI Gothic" panose="020B0600070205080204" pitchFamily="50" charset="-128"/>
              </a:rPr>
              <a:t>　　</a:t>
            </a:r>
            <a:r>
              <a:rPr lang="en-US" altLang="ja-JP" b="0">
                <a:ea typeface="MS UI Gothic" panose="020B0600070205080204" pitchFamily="50" charset="-128"/>
              </a:rPr>
              <a:t>tên method</a:t>
            </a:r>
            <a:r>
              <a:rPr lang="ja-JP" altLang="ja-JP" b="0">
                <a:ea typeface="ＭＳ ゴシック" panose="020B0609070205080204" pitchFamily="49" charset="-128"/>
              </a:rPr>
              <a:t>(</a:t>
            </a:r>
            <a:r>
              <a:rPr lang="ja-JP" altLang="ja-JP" b="0">
                <a:ea typeface="MS UI Gothic" panose="020B0600070205080204" pitchFamily="50" charset="-128"/>
              </a:rPr>
              <a:t> </a:t>
            </a:r>
            <a:r>
              <a:rPr lang="en-US" altLang="ja-JP" b="0">
                <a:ea typeface="MS UI Gothic" panose="020B0600070205080204" pitchFamily="50" charset="-128"/>
              </a:rPr>
              <a:t>kiểu data</a:t>
            </a:r>
            <a:r>
              <a:rPr lang="ja-JP" altLang="ja-JP" b="0">
                <a:ea typeface="MS UI Gothic" panose="020B0600070205080204" pitchFamily="50" charset="-128"/>
              </a:rPr>
              <a:t>  </a:t>
            </a:r>
            <a:r>
              <a:rPr lang="en-US" altLang="ja-JP" b="0">
                <a:ea typeface="MS UI Gothic" panose="020B0600070205080204" pitchFamily="50" charset="-128"/>
              </a:rPr>
              <a:t>đối số 1</a:t>
            </a:r>
            <a:r>
              <a:rPr lang="ja-JP" altLang="ja-JP" b="0">
                <a:ea typeface="ＭＳ ゴシック" panose="020B0609070205080204" pitchFamily="49" charset="-128"/>
              </a:rPr>
              <a:t>,</a:t>
            </a:r>
            <a:r>
              <a:rPr lang="ja-JP" altLang="ja-JP" b="0">
                <a:ea typeface="MS UI Gothic" panose="020B0600070205080204" pitchFamily="50" charset="-128"/>
              </a:rPr>
              <a:t> …　</a:t>
            </a:r>
            <a:r>
              <a:rPr lang="ja-JP" altLang="ja-JP" b="0">
                <a:ea typeface="ＭＳ ゴシック" panose="020B0609070205080204" pitchFamily="49" charset="-128"/>
              </a:rPr>
              <a:t>) {</a:t>
            </a:r>
          </a:p>
          <a:p>
            <a:pPr lvl="1" algn="just"/>
            <a:r>
              <a:rPr lang="ja-JP" altLang="ja-JP" b="0">
                <a:ea typeface="MS UI Gothic" panose="020B0600070205080204" pitchFamily="50" charset="-128"/>
              </a:rPr>
              <a:t>　　　　　　</a:t>
            </a:r>
            <a:r>
              <a:rPr lang="ja-JP" altLang="ja-JP" b="0">
                <a:ea typeface="ＭＳ ゴシック" panose="020B0609070205080204" pitchFamily="49" charset="-128"/>
              </a:rPr>
              <a:t>//</a:t>
            </a:r>
            <a:r>
              <a:rPr lang="ja-JP" altLang="ja-JP" b="0">
                <a:ea typeface="MS UI Gothic" panose="020B0600070205080204" pitchFamily="50" charset="-128"/>
              </a:rPr>
              <a:t>  </a:t>
            </a:r>
            <a:r>
              <a:rPr lang="en-US" altLang="ja-JP" b="0">
                <a:ea typeface="MS UI Gothic" panose="020B0600070205080204" pitchFamily="50" charset="-128"/>
              </a:rPr>
              <a:t>xử lý</a:t>
            </a:r>
            <a:r>
              <a:rPr lang="ja-JP" altLang="ja-JP" b="0">
                <a:ea typeface="MS UI Gothic" panose="020B0600070205080204" pitchFamily="50" charset="-128"/>
              </a:rPr>
              <a:t>   （</a:t>
            </a:r>
            <a:r>
              <a:rPr lang="en-US" altLang="ja-JP" b="0">
                <a:ea typeface="MS UI Gothic" panose="020B0600070205080204" pitchFamily="50" charset="-128"/>
              </a:rPr>
              <a:t>Trường hợp có giá trị trả về thì sẽ bao gồm cả câu lệnh </a:t>
            </a:r>
            <a:r>
              <a:rPr lang="ja-JP" altLang="ja-JP" b="0">
                <a:ea typeface="MS UI Gothic" panose="020B0600070205080204" pitchFamily="50" charset="-128"/>
              </a:rPr>
              <a:t>return）</a:t>
            </a:r>
          </a:p>
          <a:p>
            <a:pPr lvl="1" algn="just"/>
            <a:r>
              <a:rPr lang="ja-JP" altLang="ja-JP" b="0">
                <a:ea typeface="MS UI Gothic" panose="020B0600070205080204" pitchFamily="50" charset="-128"/>
              </a:rPr>
              <a:t>　</a:t>
            </a:r>
            <a:r>
              <a:rPr lang="ja-JP" altLang="ja-JP" b="0">
                <a:ea typeface="ＭＳ ゴシック" panose="020B0609070205080204" pitchFamily="49" charset="-128"/>
              </a:rPr>
              <a:t>}</a:t>
            </a:r>
          </a:p>
        </p:txBody>
      </p:sp>
      <p:sp>
        <p:nvSpPr>
          <p:cNvPr id="453673" name="AutoShape 41">
            <a:extLst>
              <a:ext uri="{FF2B5EF4-FFF2-40B4-BE49-F238E27FC236}">
                <a16:creationId xmlns:a16="http://schemas.microsoft.com/office/drawing/2014/main" id="{CB029018-994A-E024-2B8E-E5F83F2177A9}"/>
              </a:ext>
            </a:extLst>
          </p:cNvPr>
          <p:cNvSpPr>
            <a:spLocks noChangeArrowheads="1"/>
          </p:cNvSpPr>
          <p:nvPr/>
        </p:nvSpPr>
        <p:spPr bwMode="auto">
          <a:xfrm>
            <a:off x="2387600" y="941388"/>
            <a:ext cx="3302000" cy="325437"/>
          </a:xfrm>
          <a:prstGeom prst="wedgeRoundRectCallout">
            <a:avLst>
              <a:gd name="adj1" fmla="val -63269"/>
              <a:gd name="adj2" fmla="val 83657"/>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a:ea typeface="MS UI Gothic" panose="020B0600070205080204" pitchFamily="50" charset="-128"/>
              </a:rPr>
              <a:t>Các hình thức khác modifier static thì giống với instance method</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8450" name="Rectangle 2">
            <a:extLst>
              <a:ext uri="{FF2B5EF4-FFF2-40B4-BE49-F238E27FC236}">
                <a16:creationId xmlns:a16="http://schemas.microsoft.com/office/drawing/2014/main" id="{EDAC406B-32F8-FA74-955F-A77A9A3670EC}"/>
              </a:ext>
            </a:extLst>
          </p:cNvPr>
          <p:cNvSpPr>
            <a:spLocks noGrp="1" noChangeArrowheads="1"/>
          </p:cNvSpPr>
          <p:nvPr>
            <p:ph type="body" idx="1"/>
          </p:nvPr>
        </p:nvSpPr>
        <p:spPr>
          <a:xfrm>
            <a:off x="561975" y="682625"/>
            <a:ext cx="5797550" cy="9305925"/>
          </a:xfrm>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Ví dụ về biến static, static method</a:t>
            </a:r>
          </a:p>
          <a:p>
            <a:pPr marL="0" indent="0"/>
            <a:endParaRPr lang="en-US" altLang="ja-JP">
              <a:latin typeface="Arial" panose="020B0604020202020204" pitchFamily="34" charset="0"/>
            </a:endParaRPr>
          </a:p>
          <a:p>
            <a:pPr marL="0" indent="0"/>
            <a:r>
              <a:rPr lang="en-US" altLang="ja-JP">
                <a:latin typeface="Arial" panose="020B0604020202020204" pitchFamily="34" charset="0"/>
              </a:rPr>
              <a:t>【 Ví dụ định nghĩa class có biến static, static method】</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 Ví dụ gọi ra biến static, static method】</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【Ví dụ thực hiện】</a:t>
            </a:r>
          </a:p>
          <a:p>
            <a:pPr marL="0" indent="0"/>
            <a:endParaRPr lang="en-US" altLang="ja-JP">
              <a:latin typeface="Arial" panose="020B0604020202020204" pitchFamily="34" charset="0"/>
            </a:endParaRPr>
          </a:p>
        </p:txBody>
      </p:sp>
      <p:grpSp>
        <p:nvGrpSpPr>
          <p:cNvPr id="488465" name="Group 17">
            <a:extLst>
              <a:ext uri="{FF2B5EF4-FFF2-40B4-BE49-F238E27FC236}">
                <a16:creationId xmlns:a16="http://schemas.microsoft.com/office/drawing/2014/main" id="{299E036C-8921-B5EC-9402-689BA5581065}"/>
              </a:ext>
            </a:extLst>
          </p:cNvPr>
          <p:cNvGrpSpPr>
            <a:grpSpLocks/>
          </p:cNvGrpSpPr>
          <p:nvPr/>
        </p:nvGrpSpPr>
        <p:grpSpPr bwMode="auto">
          <a:xfrm>
            <a:off x="561975" y="1303338"/>
            <a:ext cx="5859463" cy="6672262"/>
            <a:chOff x="354" y="821"/>
            <a:chExt cx="3691" cy="4203"/>
          </a:xfrm>
        </p:grpSpPr>
        <p:sp>
          <p:nvSpPr>
            <p:cNvPr id="488451" name="Rectangle 3">
              <a:extLst>
                <a:ext uri="{FF2B5EF4-FFF2-40B4-BE49-F238E27FC236}">
                  <a16:creationId xmlns:a16="http://schemas.microsoft.com/office/drawing/2014/main" id="{BF46EE85-D703-4CD1-00E2-B2E20C1B0CE2}"/>
                </a:ext>
              </a:extLst>
            </p:cNvPr>
            <p:cNvSpPr>
              <a:spLocks noChangeArrowheads="1"/>
            </p:cNvSpPr>
            <p:nvPr/>
          </p:nvSpPr>
          <p:spPr bwMode="auto">
            <a:xfrm>
              <a:off x="354" y="2503"/>
              <a:ext cx="3691" cy="1649"/>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defTabSz="442913">
                <a:defRPr kumimoji="1">
                  <a:solidFill>
                    <a:schemeClr val="tx1"/>
                  </a:solidFill>
                  <a:latin typeface="Arial" panose="020B0604020202020204" pitchFamily="34" charset="0"/>
                  <a:ea typeface="ＭＳ Ｐゴシック" panose="020B0600070205080204" pitchFamily="50" charset="-128"/>
                </a:defRPr>
              </a:lvl1pPr>
              <a:lvl2pPr marL="179388" defTabSz="442913">
                <a:defRPr kumimoji="1">
                  <a:solidFill>
                    <a:schemeClr val="tx1"/>
                  </a:solidFill>
                  <a:latin typeface="Arial" panose="020B0604020202020204" pitchFamily="34" charset="0"/>
                  <a:ea typeface="ＭＳ Ｐゴシック" panose="020B0600070205080204" pitchFamily="50" charset="-128"/>
                </a:defRPr>
              </a:lvl2pPr>
              <a:lvl3pPr marL="893763" defTabSz="442913">
                <a:defRPr kumimoji="1">
                  <a:solidFill>
                    <a:schemeClr val="tx1"/>
                  </a:solidFill>
                  <a:latin typeface="Arial" panose="020B0604020202020204" pitchFamily="34" charset="0"/>
                  <a:ea typeface="ＭＳ Ｐゴシック" panose="020B0600070205080204" pitchFamily="50" charset="-128"/>
                </a:defRPr>
              </a:lvl3pPr>
              <a:lvl4pPr marL="1339850" defTabSz="442913">
                <a:defRPr kumimoji="1">
                  <a:solidFill>
                    <a:schemeClr val="tx1"/>
                  </a:solidFill>
                  <a:latin typeface="Arial" panose="020B0604020202020204" pitchFamily="34" charset="0"/>
                  <a:ea typeface="ＭＳ Ｐゴシック" panose="020B0600070205080204" pitchFamily="50" charset="-128"/>
                </a:defRPr>
              </a:lvl4pPr>
              <a:lvl5pPr marL="1744663" defTabSz="442913">
                <a:defRPr kumimoji="1">
                  <a:solidFill>
                    <a:schemeClr val="tx1"/>
                  </a:solidFill>
                  <a:latin typeface="Arial" panose="020B0604020202020204" pitchFamily="34" charset="0"/>
                  <a:ea typeface="ＭＳ Ｐゴシック" panose="020B0600070205080204" pitchFamily="50" charset="-128"/>
                </a:defRPr>
              </a:lvl5pPr>
              <a:lvl6pPr marL="22018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Aft>
                  <a:spcPct val="50000"/>
                </a:spcAft>
              </a:pPr>
              <a:r>
                <a:rPr lang="en-US" altLang="en-US" b="0">
                  <a:latin typeface="ＭＳ ゴシック" panose="020B0609070205080204" pitchFamily="49" charset="-128"/>
                  <a:ea typeface="ＭＳ ゴシック" panose="020B0609070205080204" pitchFamily="49" charset="-128"/>
                </a:rPr>
                <a:t>public class Sample0208</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a:t>
              </a:r>
            </a:p>
            <a:p>
              <a:pPr lvl="1">
                <a:spcAft>
                  <a:spcPct val="50000"/>
                </a:spcAft>
              </a:pPr>
              <a:r>
                <a:rPr lang="en-US" altLang="en-US" b="0">
                  <a:latin typeface="ＭＳ ゴシック" panose="020B0609070205080204" pitchFamily="49" charset="-128"/>
                  <a:ea typeface="ＭＳ ゴシック" panose="020B0609070205080204" pitchFamily="49" charset="-128"/>
                </a:rPr>
                <a:t>    public static void main(String[] args</a:t>
              </a:r>
              <a:r>
                <a:rPr lang="en-US" altLang="ja-JP" b="0">
                  <a:latin typeface="ＭＳ ゴシック" panose="020B0609070205080204" pitchFamily="49" charset="-128"/>
                  <a:ea typeface="ＭＳ ゴシック" panose="020B0609070205080204" pitchFamily="49" charset="-128"/>
                </a:rPr>
                <a:t>) {</a:t>
              </a:r>
            </a:p>
            <a:p>
              <a:pPr lvl="1">
                <a:spcAft>
                  <a:spcPct val="50000"/>
                </a:spcAft>
              </a:pPr>
              <a:endParaRPr lang="en-US" altLang="en-US" b="0">
                <a:latin typeface="ＭＳ ゴシック" panose="020B0609070205080204" pitchFamily="49" charset="-128"/>
                <a:ea typeface="ＭＳ ゴシック" panose="020B0609070205080204" pitchFamily="49" charset="-128"/>
              </a:endParaRPr>
            </a:p>
            <a:p>
              <a:pPr lvl="1">
                <a:spcAft>
                  <a:spcPct val="50000"/>
                </a:spcAft>
              </a:pPr>
              <a:r>
                <a:rPr lang="en-US"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Sử dụng </a:t>
              </a:r>
              <a:r>
                <a:rPr lang="en-US" altLang="en-US" b="0">
                  <a:ea typeface="ＭＳ ゴシック" panose="020B0609070205080204" pitchFamily="49" charset="-128"/>
                </a:rPr>
                <a:t>static</a:t>
              </a:r>
              <a:r>
                <a:rPr lang="en-US" altLang="ja-JP" b="0">
                  <a:ea typeface="ＭＳ ゴシック" panose="020B0609070205080204" pitchFamily="49" charset="-128"/>
                </a:rPr>
                <a:t> field</a:t>
              </a:r>
              <a:endParaRPr lang="en-US" altLang="en-US" b="0">
                <a:ea typeface="ＭＳ ゴシック" panose="020B0609070205080204" pitchFamily="49" charset="-128"/>
              </a:endParaRPr>
            </a:p>
            <a:p>
              <a:pPr lvl="1">
                <a:spcAft>
                  <a:spcPct val="50000"/>
                </a:spcAft>
              </a:pPr>
              <a:r>
                <a:rPr lang="en-US"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System.out.println("種</a:t>
              </a:r>
              <a:r>
                <a:rPr lang="en-US" altLang="ja-JP" b="0">
                  <a:ea typeface="ＭＳ ゴシック" panose="020B0609070205080204" pitchFamily="49" charset="-128"/>
                </a:rPr>
                <a:t>(chủng loại</a:t>
              </a:r>
              <a:r>
                <a:rPr lang="en-US" altLang="ja-JP" b="0">
                  <a:latin typeface="ＭＳ ゴシック" panose="020B0609070205080204" pitchFamily="49" charset="-128"/>
                  <a:ea typeface="ＭＳ ゴシック" panose="020B0609070205080204" pitchFamily="49" charset="-128"/>
                </a:rPr>
                <a:t>)</a:t>
              </a:r>
              <a:r>
                <a:rPr lang="en-US"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Person.SPECIES );</a:t>
              </a:r>
            </a:p>
            <a:p>
              <a:pPr lvl="1">
                <a:spcAft>
                  <a:spcPct val="50000"/>
                </a:spcAft>
              </a:pPr>
              <a:endParaRPr lang="en-US" altLang="en-US" b="0">
                <a:latin typeface="ＭＳ ゴシック" panose="020B0609070205080204" pitchFamily="49" charset="-128"/>
                <a:ea typeface="ＭＳ ゴシック" panose="020B0609070205080204" pitchFamily="49" charset="-128"/>
              </a:endParaRPr>
            </a:p>
            <a:p>
              <a:pPr lvl="1">
                <a:spcAft>
                  <a:spcPct val="50000"/>
                </a:spcAft>
              </a:pPr>
              <a:r>
                <a:rPr lang="en-US"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Sử dụng </a:t>
              </a:r>
              <a:r>
                <a:rPr lang="en-US" altLang="en-US" b="0">
                  <a:ea typeface="ＭＳ ゴシック" panose="020B0609070205080204" pitchFamily="49" charset="-128"/>
                </a:rPr>
                <a:t>static</a:t>
              </a:r>
              <a:r>
                <a:rPr lang="en-US" altLang="ja-JP" b="0">
                  <a:ea typeface="ＭＳ ゴシック" panose="020B0609070205080204" pitchFamily="49" charset="-128"/>
                </a:rPr>
                <a:t> method</a:t>
              </a:r>
              <a:endParaRPr lang="en-US" altLang="en-US" b="0">
                <a:ea typeface="ＭＳ ゴシック" panose="020B0609070205080204" pitchFamily="49" charset="-128"/>
              </a:endParaRPr>
            </a:p>
            <a:p>
              <a:pPr lvl="1">
                <a:spcAft>
                  <a:spcPct val="50000"/>
                </a:spcAft>
              </a:pPr>
              <a:r>
                <a:rPr lang="en-US"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    </a:t>
              </a:r>
              <a:r>
                <a:rPr lang="en-US" altLang="en-US" b="0">
                  <a:latin typeface="ＭＳ ゴシック" panose="020B0609070205080204" pitchFamily="49" charset="-128"/>
                  <a:ea typeface="ＭＳ ゴシック" panose="020B0609070205080204" pitchFamily="49" charset="-128"/>
                </a:rPr>
                <a:t>Person.printSpecies();</a:t>
              </a:r>
            </a:p>
            <a:p>
              <a:pPr lvl="1">
                <a:spcAft>
                  <a:spcPct val="50000"/>
                </a:spcAft>
              </a:pPr>
              <a:endParaRPr lang="en-US" altLang="en-US" b="0">
                <a:latin typeface="ＭＳ ゴシック" panose="020B0609070205080204" pitchFamily="49" charset="-128"/>
                <a:ea typeface="ＭＳ ゴシック" panose="020B0609070205080204" pitchFamily="49" charset="-128"/>
              </a:endParaRPr>
            </a:p>
            <a:p>
              <a:pPr lvl="1">
                <a:spcAft>
                  <a:spcPct val="50000"/>
                </a:spcAft>
              </a:pPr>
              <a:r>
                <a:rPr lang="en-US" altLang="en-US" b="0">
                  <a:latin typeface="ＭＳ ゴシック" panose="020B0609070205080204" pitchFamily="49" charset="-128"/>
                  <a:ea typeface="ＭＳ ゴシック" panose="020B0609070205080204" pitchFamily="49" charset="-128"/>
                </a:rPr>
                <a:t>	}</a:t>
              </a:r>
            </a:p>
            <a:p>
              <a:pPr lvl="1">
                <a:spcAft>
                  <a:spcPct val="50000"/>
                </a:spcAft>
              </a:pPr>
              <a:r>
                <a:rPr lang="en-US" altLang="en-US" b="0">
                  <a:latin typeface="ＭＳ ゴシック" panose="020B0609070205080204" pitchFamily="49" charset="-128"/>
                  <a:ea typeface="ＭＳ ゴシック" panose="020B0609070205080204" pitchFamily="49" charset="-128"/>
                </a:rPr>
                <a:t>}</a:t>
              </a:r>
              <a:endParaRPr lang="en-US" altLang="ja-JP" b="0">
                <a:latin typeface="ＭＳ ゴシック" panose="020B0609070205080204" pitchFamily="49" charset="-128"/>
                <a:ea typeface="ＭＳ ゴシック" panose="020B0609070205080204" pitchFamily="49" charset="-128"/>
              </a:endParaRPr>
            </a:p>
          </p:txBody>
        </p:sp>
        <p:sp>
          <p:nvSpPr>
            <p:cNvPr id="488452" name="Text Box 4">
              <a:extLst>
                <a:ext uri="{FF2B5EF4-FFF2-40B4-BE49-F238E27FC236}">
                  <a16:creationId xmlns:a16="http://schemas.microsoft.com/office/drawing/2014/main" id="{10E91962-8A92-73DE-FAB9-06C58C1575B6}"/>
                </a:ext>
              </a:extLst>
            </p:cNvPr>
            <p:cNvSpPr txBox="1">
              <a:spLocks noChangeArrowheads="1"/>
            </p:cNvSpPr>
            <p:nvPr/>
          </p:nvSpPr>
          <p:spPr bwMode="auto">
            <a:xfrm>
              <a:off x="354" y="821"/>
              <a:ext cx="3691" cy="1219"/>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5363" indent="-355600" defTabSz="447675">
                <a:defRPr kumimoji="1">
                  <a:solidFill>
                    <a:schemeClr val="tx1"/>
                  </a:solidFill>
                  <a:latin typeface="Arial" panose="020B0604020202020204" pitchFamily="34" charset="0"/>
                  <a:ea typeface="ＭＳ Ｐゴシック" panose="020B0600070205080204" pitchFamily="50" charset="-128"/>
                </a:defRPr>
              </a:lvl5pPr>
              <a:lvl6pPr marL="27225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797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69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41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buFontTx/>
                <a:buAutoNum type="arabicPeriod"/>
              </a:pPr>
              <a:r>
                <a:rPr lang="ja-JP" altLang="ja-JP" b="0">
                  <a:latin typeface="ＭＳ ゴシック" panose="020B0609070205080204" pitchFamily="49" charset="-128"/>
                  <a:ea typeface="ＭＳ ゴシック" panose="020B0609070205080204" pitchFamily="49" charset="-128"/>
                </a:rPr>
                <a:t>public class Person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a:t>
              </a:r>
              <a:r>
                <a:rPr lang="ja-JP" altLang="ja-JP" b="0">
                  <a:ea typeface="ＭＳ ゴシック" panose="020B0609070205080204" pitchFamily="49" charset="-128"/>
                </a:rPr>
                <a:t>static</a:t>
              </a:r>
              <a:r>
                <a:rPr lang="en-US" altLang="ja-JP" b="0">
                  <a:ea typeface="ＭＳ ゴシック" panose="020B0609070205080204" pitchFamily="49" charset="-128"/>
                </a:rPr>
                <a:t> field</a:t>
              </a:r>
              <a:endParaRPr lang="ja-JP" altLang="ja-JP" b="0">
                <a:ea typeface="ＭＳ ゴシック" panose="020B0609070205080204" pitchFamily="49" charset="-128"/>
              </a:endParaRP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public static final String SPECIES = "Homo sapiens";</a:t>
              </a:r>
              <a:endParaRPr lang="en-US" altLang="ja-JP" b="0">
                <a:latin typeface="ＭＳ ゴシック" panose="020B0609070205080204" pitchFamily="49" charset="-128"/>
                <a:ea typeface="ＭＳ ゴシック" panose="020B0609070205080204" pitchFamily="49" charset="-128"/>
              </a:endParaRP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a:t>
              </a:r>
              <a:endParaRPr lang="en-US" altLang="ja-JP" b="0">
                <a:latin typeface="ＭＳ ゴシック" panose="020B0609070205080204" pitchFamily="49" charset="-128"/>
                <a:ea typeface="ＭＳ ゴシック" panose="020B0609070205080204" pitchFamily="49" charset="-128"/>
              </a:endParaRP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a:t>
              </a:r>
              <a:r>
                <a:rPr lang="ja-JP" altLang="ja-JP" b="0">
                  <a:ea typeface="ＭＳ ゴシック" panose="020B0609070205080204" pitchFamily="49" charset="-128"/>
                </a:rPr>
                <a:t>static</a:t>
              </a:r>
              <a:r>
                <a:rPr lang="en-US" altLang="ja-JP" b="0">
                  <a:ea typeface="ＭＳ ゴシック" panose="020B0609070205080204" pitchFamily="49" charset="-128"/>
                </a:rPr>
                <a:t> method</a:t>
              </a:r>
              <a:endParaRPr lang="ja-JP" altLang="ja-JP" b="0">
                <a:ea typeface="ＭＳ ゴシック" panose="020B0609070205080204" pitchFamily="49" charset="-128"/>
              </a:endParaRP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public static void printSpecies()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System.out.println(SPECIES);  // </a:t>
              </a:r>
              <a:r>
                <a:rPr lang="en-US" altLang="ja-JP" b="0">
                  <a:ea typeface="ＭＳ ゴシック" panose="020B0609070205080204" pitchFamily="49" charset="-128"/>
                </a:rPr>
                <a:t>Chỉ định là </a:t>
              </a:r>
              <a:r>
                <a:rPr lang="ja-JP" altLang="ja-JP" b="0">
                  <a:ea typeface="ＭＳ ゴシック" panose="020B0609070205080204" pitchFamily="49" charset="-128"/>
                </a:rPr>
                <a:t>Person.SPECIES</a:t>
              </a:r>
              <a:r>
                <a:rPr lang="en-US" altLang="ja-JP" b="0">
                  <a:ea typeface="ＭＳ ゴシック" panose="020B0609070205080204" pitchFamily="49" charset="-128"/>
                </a:rPr>
                <a:t> cũng được</a:t>
              </a:r>
              <a:endParaRPr lang="ja-JP" altLang="ja-JP" b="0">
                <a:ea typeface="ＭＳ ゴシック" panose="020B0609070205080204" pitchFamily="49" charset="-128"/>
              </a:endParaRP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a:t>
              </a:r>
              <a:endParaRPr lang="en-US" altLang="ja-JP" b="0">
                <a:latin typeface="ＭＳ ゴシック" panose="020B0609070205080204" pitchFamily="49" charset="-128"/>
                <a:ea typeface="ＭＳ ゴシック" panose="020B0609070205080204" pitchFamily="49" charset="-128"/>
              </a:endParaRPr>
            </a:p>
            <a:p>
              <a:pPr lvl="1" algn="just">
                <a:buFontTx/>
                <a:buAutoNum type="arabicPeriod"/>
              </a:pPr>
              <a:r>
                <a:rPr lang="en-US" altLang="ja-JP" b="0">
                  <a:latin typeface="ＭＳ ゴシック" panose="020B0609070205080204" pitchFamily="49" charset="-128"/>
                  <a:ea typeface="ＭＳ ゴシック" panose="020B0609070205080204" pitchFamily="49" charset="-128"/>
                </a:rPr>
                <a:t> </a:t>
              </a: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của biến instance, instance method bị lược đi.</a:t>
              </a:r>
              <a:endParaRPr lang="ja-JP" altLang="ja-JP" b="0">
                <a:ea typeface="ＭＳ ゴシック" panose="020B0609070205080204" pitchFamily="49" charset="-128"/>
              </a:endParaRPr>
            </a:p>
            <a:p>
              <a:pPr lvl="1" algn="just">
                <a:buFontTx/>
                <a:buAutoNum type="arabicPeriod"/>
              </a:pPr>
              <a:r>
                <a:rPr lang="ja-JP" altLang="ja-JP" b="0">
                  <a:latin typeface="ＭＳ ゴシック" panose="020B0609070205080204" pitchFamily="49" charset="-128"/>
                  <a:ea typeface="ＭＳ ゴシック" panose="020B0609070205080204" pitchFamily="49" charset="-128"/>
                </a:rPr>
                <a:t>}</a:t>
              </a:r>
            </a:p>
          </p:txBody>
        </p:sp>
        <p:sp>
          <p:nvSpPr>
            <p:cNvPr id="488453" name="Rectangle 5">
              <a:extLst>
                <a:ext uri="{FF2B5EF4-FFF2-40B4-BE49-F238E27FC236}">
                  <a16:creationId xmlns:a16="http://schemas.microsoft.com/office/drawing/2014/main" id="{D2BA8D76-6DBF-4CDB-E615-95973FBD9AE5}"/>
                </a:ext>
              </a:extLst>
            </p:cNvPr>
            <p:cNvSpPr>
              <a:spLocks noChangeArrowheads="1"/>
            </p:cNvSpPr>
            <p:nvPr/>
          </p:nvSpPr>
          <p:spPr bwMode="auto">
            <a:xfrm>
              <a:off x="2032" y="3083"/>
              <a:ext cx="602" cy="183"/>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488454" name="AutoShape 6">
              <a:extLst>
                <a:ext uri="{FF2B5EF4-FFF2-40B4-BE49-F238E27FC236}">
                  <a16:creationId xmlns:a16="http://schemas.microsoft.com/office/drawing/2014/main" id="{4672C079-62B1-F314-BA2B-426EE0FBD9C5}"/>
                </a:ext>
              </a:extLst>
            </p:cNvPr>
            <p:cNvCxnSpPr>
              <a:cxnSpLocks noChangeShapeType="1"/>
              <a:stCxn id="488453" idx="2"/>
              <a:endCxn id="488456" idx="3"/>
            </p:cNvCxnSpPr>
            <p:nvPr/>
          </p:nvCxnSpPr>
          <p:spPr bwMode="auto">
            <a:xfrm rot="5400000" flipH="1" flipV="1">
              <a:off x="1972" y="1546"/>
              <a:ext cx="2089" cy="1367"/>
            </a:xfrm>
            <a:prstGeom prst="bentConnector4">
              <a:avLst>
                <a:gd name="adj1" fmla="val -6463"/>
                <a:gd name="adj2" fmla="val 109875"/>
              </a:avLst>
            </a:prstGeom>
            <a:noFill/>
            <a:ln w="1905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88455" name="Rectangle 7">
              <a:extLst>
                <a:ext uri="{FF2B5EF4-FFF2-40B4-BE49-F238E27FC236}">
                  <a16:creationId xmlns:a16="http://schemas.microsoft.com/office/drawing/2014/main" id="{F29C3534-94A1-F4DA-6EE6-4BCCC80EBD6A}"/>
                </a:ext>
              </a:extLst>
            </p:cNvPr>
            <p:cNvSpPr>
              <a:spLocks noChangeArrowheads="1"/>
            </p:cNvSpPr>
            <p:nvPr/>
          </p:nvSpPr>
          <p:spPr bwMode="auto">
            <a:xfrm>
              <a:off x="785" y="1424"/>
              <a:ext cx="2919" cy="308"/>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488456" name="Rectangle 8">
              <a:extLst>
                <a:ext uri="{FF2B5EF4-FFF2-40B4-BE49-F238E27FC236}">
                  <a16:creationId xmlns:a16="http://schemas.microsoft.com/office/drawing/2014/main" id="{AFE9B277-8AD1-D407-8A29-51AC23EF8949}"/>
                </a:ext>
              </a:extLst>
            </p:cNvPr>
            <p:cNvSpPr>
              <a:spLocks noChangeArrowheads="1"/>
            </p:cNvSpPr>
            <p:nvPr/>
          </p:nvSpPr>
          <p:spPr bwMode="auto">
            <a:xfrm>
              <a:off x="773" y="1119"/>
              <a:ext cx="2919" cy="131"/>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488457" name="Rectangle 9">
              <a:extLst>
                <a:ext uri="{FF2B5EF4-FFF2-40B4-BE49-F238E27FC236}">
                  <a16:creationId xmlns:a16="http://schemas.microsoft.com/office/drawing/2014/main" id="{84E1E41D-F85F-869A-AFD6-71FEDC4E40C0}"/>
                </a:ext>
              </a:extLst>
            </p:cNvPr>
            <p:cNvSpPr>
              <a:spLocks noChangeArrowheads="1"/>
            </p:cNvSpPr>
            <p:nvPr/>
          </p:nvSpPr>
          <p:spPr bwMode="auto">
            <a:xfrm>
              <a:off x="795" y="3535"/>
              <a:ext cx="2416" cy="143"/>
            </a:xfrm>
            <a:prstGeom prst="rect">
              <a:avLst/>
            </a:prstGeom>
            <a:noFill/>
            <a:ln w="1905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488458" name="AutoShape 10">
              <a:extLst>
                <a:ext uri="{FF2B5EF4-FFF2-40B4-BE49-F238E27FC236}">
                  <a16:creationId xmlns:a16="http://schemas.microsoft.com/office/drawing/2014/main" id="{2098C9D1-6D72-F48E-1E9E-52A5BDFFE316}"/>
                </a:ext>
              </a:extLst>
            </p:cNvPr>
            <p:cNvCxnSpPr>
              <a:cxnSpLocks noChangeShapeType="1"/>
              <a:stCxn id="488457" idx="3"/>
              <a:endCxn id="488455" idx="3"/>
            </p:cNvCxnSpPr>
            <p:nvPr/>
          </p:nvCxnSpPr>
          <p:spPr bwMode="auto">
            <a:xfrm flipV="1">
              <a:off x="3219" y="1578"/>
              <a:ext cx="493" cy="2029"/>
            </a:xfrm>
            <a:prstGeom prst="bentConnector3">
              <a:avLst>
                <a:gd name="adj1" fmla="val 147667"/>
              </a:avLst>
            </a:prstGeom>
            <a:noFill/>
            <a:ln w="19050">
              <a:solidFill>
                <a:srgbClr val="FF8519"/>
              </a:solidFill>
              <a:prstDash val="sysDot"/>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88459" name="AutoShape 11">
              <a:extLst>
                <a:ext uri="{FF2B5EF4-FFF2-40B4-BE49-F238E27FC236}">
                  <a16:creationId xmlns:a16="http://schemas.microsoft.com/office/drawing/2014/main" id="{4CEBE2E5-0E49-6C21-5DA6-4C793E8D006B}"/>
                </a:ext>
              </a:extLst>
            </p:cNvPr>
            <p:cNvSpPr>
              <a:spLocks noChangeArrowheads="1"/>
            </p:cNvSpPr>
            <p:nvPr/>
          </p:nvSpPr>
          <p:spPr bwMode="auto">
            <a:xfrm>
              <a:off x="2380" y="2614"/>
              <a:ext cx="1214" cy="329"/>
            </a:xfrm>
            <a:prstGeom prst="wedgeRoundRectCallout">
              <a:avLst>
                <a:gd name="adj1" fmla="val 59037"/>
                <a:gd name="adj2" fmla="val -57884"/>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ea typeface="MS UI Gothic" panose="020B0600070205080204" pitchFamily="50" charset="-128"/>
                </a:rPr>
                <a:t>Có thể sử dụng được dù không sinh object</a:t>
              </a:r>
            </a:p>
          </p:txBody>
        </p:sp>
        <p:sp>
          <p:nvSpPr>
            <p:cNvPr id="488460" name="Rectangle 12">
              <a:extLst>
                <a:ext uri="{FF2B5EF4-FFF2-40B4-BE49-F238E27FC236}">
                  <a16:creationId xmlns:a16="http://schemas.microsoft.com/office/drawing/2014/main" id="{1E7ADCC5-08CC-6C64-DB35-3E081B39DE65}"/>
                </a:ext>
              </a:extLst>
            </p:cNvPr>
            <p:cNvSpPr>
              <a:spLocks noChangeArrowheads="1"/>
            </p:cNvSpPr>
            <p:nvPr/>
          </p:nvSpPr>
          <p:spPr bwMode="auto">
            <a:xfrm>
              <a:off x="354" y="4670"/>
              <a:ext cx="3691" cy="35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4663">
                <a:defRPr kumimoji="1">
                  <a:solidFill>
                    <a:schemeClr val="tx1"/>
                  </a:solidFill>
                  <a:latin typeface="Arial" panose="020B0604020202020204" pitchFamily="34" charset="0"/>
                  <a:ea typeface="ＭＳ Ｐゴシック" panose="020B0600070205080204" pitchFamily="50" charset="-128"/>
                </a:defRPr>
              </a:lvl5pPr>
              <a:lvl6pPr marL="22018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590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62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346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Aft>
                  <a:spcPct val="50000"/>
                </a:spcAft>
              </a:pPr>
              <a:r>
                <a:rPr lang="ja-JP" altLang="en-US" b="0">
                  <a:latin typeface="ＭＳ ゴシック" panose="020B0609070205080204" pitchFamily="49" charset="-128"/>
                  <a:ea typeface="ＭＳ ゴシック" panose="020B0609070205080204" pitchFamily="49" charset="-128"/>
                </a:rPr>
                <a:t>種</a:t>
              </a:r>
              <a:r>
                <a:rPr lang="en-US" altLang="ja-JP" b="0">
                  <a:ea typeface="ＭＳ ゴシック" panose="020B0609070205080204" pitchFamily="49" charset="-128"/>
                </a:rPr>
                <a:t>(chủng loại)</a:t>
              </a:r>
              <a:r>
                <a:rPr lang="ja-JP" altLang="en-US" b="0">
                  <a:latin typeface="ＭＳ ゴシック" panose="020B0609070205080204" pitchFamily="49" charset="-128"/>
                  <a:ea typeface="ＭＳ ゴシック" panose="020B0609070205080204" pitchFamily="49" charset="-128"/>
                </a:rPr>
                <a:t>：</a:t>
              </a:r>
              <a:r>
                <a:rPr lang="en-US" altLang="ja-JP" b="0">
                  <a:latin typeface="ＭＳ ゴシック" panose="020B0609070205080204" pitchFamily="49" charset="-128"/>
                  <a:ea typeface="ＭＳ ゴシック" panose="020B0609070205080204" pitchFamily="49" charset="-128"/>
                </a:rPr>
                <a:t>Homo sapiens</a:t>
              </a:r>
            </a:p>
            <a:p>
              <a:pPr lvl="1">
                <a:spcAft>
                  <a:spcPct val="50000"/>
                </a:spcAft>
              </a:pPr>
              <a:r>
                <a:rPr lang="en-US" altLang="ja-JP" b="0">
                  <a:latin typeface="ＭＳ ゴシック" panose="020B0609070205080204" pitchFamily="49" charset="-128"/>
                  <a:ea typeface="ＭＳ ゴシック" panose="020B0609070205080204" pitchFamily="49" charset="-128"/>
                </a:rPr>
                <a:t>Homo sapiens</a:t>
              </a:r>
            </a:p>
          </p:txBody>
        </p:sp>
      </p:gr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826" name="AutoShape 2">
            <a:extLst>
              <a:ext uri="{FF2B5EF4-FFF2-40B4-BE49-F238E27FC236}">
                <a16:creationId xmlns:a16="http://schemas.microsoft.com/office/drawing/2014/main" id="{2E3873DC-6AC7-5CA5-5009-2E324F66A480}"/>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r>
              <a:rPr lang="en-US" altLang="ja-JP" sz="1300">
                <a:ea typeface="MS UI Gothic" panose="020B0600070205080204" pitchFamily="50" charset="-128"/>
              </a:rPr>
              <a:t>Access vào biến static, static method của class hiện tại</a:t>
            </a: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Access vào biến static của class hiện tại</a:t>
            </a:r>
          </a:p>
          <a:p>
            <a:r>
              <a:rPr lang="ja-JP" altLang="en-US" b="0">
                <a:ea typeface="MS UI Gothic" panose="020B0600070205080204" pitchFamily="50" charset="-128"/>
              </a:rPr>
              <a:t>　</a:t>
            </a:r>
            <a:r>
              <a:rPr lang="en-US" altLang="ja-JP" b="0">
                <a:ea typeface="MS UI Gothic" panose="020B0600070205080204" pitchFamily="50" charset="-128"/>
              </a:rPr>
              <a:t>Trường hợp từ trong method của một class mà access vào biến static của class đó thì có thể chỉ định </a:t>
            </a:r>
            <a:r>
              <a:rPr lang="ja-JP" altLang="en-US" b="0">
                <a:ea typeface="MS UI Gothic" panose="020B0600070205080204" pitchFamily="50" charset="-128"/>
              </a:rPr>
              <a:t>「 </a:t>
            </a:r>
            <a:r>
              <a:rPr lang="en-US" altLang="ja-JP" b="0">
                <a:ea typeface="MS UI Gothic" panose="020B0600070205080204" pitchFamily="50" charset="-128"/>
              </a:rPr>
              <a:t>static tên biến </a:t>
            </a:r>
            <a:r>
              <a:rPr lang="ja-JP" altLang="en-US" b="0">
                <a:ea typeface="MS UI Gothic" panose="020B0600070205080204" pitchFamily="50" charset="-128"/>
              </a:rPr>
              <a:t>」</a:t>
            </a:r>
            <a:r>
              <a:rPr lang="en-US" altLang="ja-JP" b="0">
                <a:ea typeface="MS UI Gothic" panose="020B0600070205080204" pitchFamily="50" charset="-128"/>
              </a:rPr>
              <a:t>mà không cần </a:t>
            </a:r>
            <a:r>
              <a:rPr lang="ja-JP" altLang="en-US" b="0">
                <a:ea typeface="MS UI Gothic" panose="020B0600070205080204" pitchFamily="50" charset="-128"/>
              </a:rPr>
              <a:t>「 </a:t>
            </a:r>
            <a:r>
              <a:rPr lang="en-US" altLang="ja-JP" b="0">
                <a:ea typeface="MS UI Gothic" panose="020B0600070205080204" pitchFamily="50" charset="-128"/>
              </a:rPr>
              <a:t>Class name. </a:t>
            </a:r>
            <a:r>
              <a:rPr lang="ja-JP" altLang="en-US" b="0">
                <a:ea typeface="MS UI Gothic" panose="020B0600070205080204" pitchFamily="50" charset="-128"/>
              </a:rPr>
              <a:t>」</a:t>
            </a:r>
            <a:r>
              <a:rPr lang="en-US" altLang="ja-JP" b="0">
                <a:ea typeface="MS UI Gothic" panose="020B0600070205080204" pitchFamily="50" charset="-128"/>
              </a:rPr>
              <a:t>.</a:t>
            </a: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Ví dụ</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Access vào static method của class hiện tại</a:t>
            </a:r>
          </a:p>
          <a:p>
            <a:r>
              <a:rPr lang="ja-JP" altLang="en-US" b="0">
                <a:ea typeface="MS UI Gothic" panose="020B0600070205080204" pitchFamily="50" charset="-128"/>
              </a:rPr>
              <a:t>　</a:t>
            </a:r>
            <a:r>
              <a:rPr lang="en-US" altLang="ja-JP" b="0">
                <a:ea typeface="MS UI Gothic" panose="020B0600070205080204" pitchFamily="50" charset="-128"/>
              </a:rPr>
              <a:t>Trường hợp từ trong method của một class gọi ra static method của class đó thì có thể chỉ định </a:t>
            </a:r>
            <a:r>
              <a:rPr lang="ja-JP" altLang="en-US" b="0">
                <a:ea typeface="MS UI Gothic" panose="020B0600070205080204" pitchFamily="50" charset="-128"/>
              </a:rPr>
              <a:t>「 </a:t>
            </a:r>
            <a:r>
              <a:rPr lang="en-US" altLang="ja-JP" b="0">
                <a:ea typeface="MS UI Gothic" panose="020B0600070205080204" pitchFamily="50" charset="-128"/>
              </a:rPr>
              <a:t>static method name</a:t>
            </a:r>
            <a:r>
              <a:rPr lang="ja-JP" altLang="en-US" b="0">
                <a:ea typeface="MS UI Gothic" panose="020B0600070205080204" pitchFamily="50" charset="-128"/>
              </a:rPr>
              <a:t>（</a:t>
            </a:r>
            <a:r>
              <a:rPr lang="en-US" altLang="ja-JP" b="0">
                <a:ea typeface="MS UI Gothic" panose="020B0600070205080204" pitchFamily="50" charset="-128"/>
              </a:rPr>
              <a:t>list đối số</a:t>
            </a:r>
            <a:r>
              <a:rPr lang="ja-JP" altLang="en-US" b="0">
                <a:ea typeface="MS UI Gothic" panose="020B0600070205080204" pitchFamily="50" charset="-128"/>
              </a:rPr>
              <a:t>） 」</a:t>
            </a:r>
            <a:r>
              <a:rPr lang="ja-JP" altLang="en-US">
                <a:ea typeface="MS UI Gothic" panose="020B0600070205080204" pitchFamily="50" charset="-128"/>
              </a:rPr>
              <a:t> </a:t>
            </a:r>
            <a:r>
              <a:rPr lang="en-US" altLang="ja-JP" b="0">
                <a:ea typeface="MS UI Gothic" panose="020B0600070205080204" pitchFamily="50" charset="-128"/>
              </a:rPr>
              <a:t>mà không cần có</a:t>
            </a:r>
            <a:r>
              <a:rPr lang="ja-JP" altLang="en-US" b="0">
                <a:ea typeface="MS UI Gothic" panose="020B0600070205080204" pitchFamily="50" charset="-128"/>
              </a:rPr>
              <a:t>「 </a:t>
            </a:r>
            <a:r>
              <a:rPr lang="en-US" altLang="ja-JP" b="0">
                <a:ea typeface="MS UI Gothic" panose="020B0600070205080204" pitchFamily="50" charset="-128"/>
              </a:rPr>
              <a:t>Class name. </a:t>
            </a:r>
            <a:r>
              <a:rPr lang="ja-JP" altLang="en-US" b="0">
                <a:ea typeface="MS UI Gothic" panose="020B0600070205080204" pitchFamily="50" charset="-128"/>
              </a:rPr>
              <a:t>」</a:t>
            </a:r>
            <a:r>
              <a:rPr lang="en-US" altLang="ja-JP" b="0">
                <a:ea typeface="MS UI Gothic" panose="020B0600070205080204" pitchFamily="50" charset="-128"/>
              </a:rPr>
              <a:t>.</a:t>
            </a: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Ví dụ</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p:txBody>
      </p:sp>
      <p:sp>
        <p:nvSpPr>
          <p:cNvPr id="461827" name="AutoShape 3">
            <a:extLst>
              <a:ext uri="{FF2B5EF4-FFF2-40B4-BE49-F238E27FC236}">
                <a16:creationId xmlns:a16="http://schemas.microsoft.com/office/drawing/2014/main" id="{DD0C47F0-3F27-D803-CD0F-FD107593A8DE}"/>
              </a:ext>
            </a:extLst>
          </p:cNvPr>
          <p:cNvSpPr>
            <a:spLocks noChangeArrowheads="1"/>
          </p:cNvSpPr>
          <p:nvPr/>
        </p:nvSpPr>
        <p:spPr bwMode="auto">
          <a:xfrm>
            <a:off x="603250" y="442913"/>
            <a:ext cx="11176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COLUMN</a:t>
            </a:r>
          </a:p>
        </p:txBody>
      </p:sp>
      <p:sp>
        <p:nvSpPr>
          <p:cNvPr id="461828" name="Text Box 4">
            <a:extLst>
              <a:ext uri="{FF2B5EF4-FFF2-40B4-BE49-F238E27FC236}">
                <a16:creationId xmlns:a16="http://schemas.microsoft.com/office/drawing/2014/main" id="{1ACA8F82-25BA-1F0A-621D-D1E557C68D69}"/>
              </a:ext>
            </a:extLst>
          </p:cNvPr>
          <p:cNvSpPr txBox="1">
            <a:spLocks noChangeArrowheads="1"/>
          </p:cNvSpPr>
          <p:nvPr/>
        </p:nvSpPr>
        <p:spPr bwMode="auto">
          <a:xfrm>
            <a:off x="701675" y="5635625"/>
            <a:ext cx="5678488" cy="20653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5363" indent="-355600" defTabSz="447675">
              <a:defRPr kumimoji="1">
                <a:solidFill>
                  <a:schemeClr val="tx1"/>
                </a:solidFill>
                <a:latin typeface="Arial" panose="020B0604020202020204" pitchFamily="34" charset="0"/>
                <a:ea typeface="ＭＳ Ｐゴシック" panose="020B0600070205080204" pitchFamily="50" charset="-128"/>
              </a:defRPr>
            </a:lvl5pPr>
            <a:lvl6pPr marL="27225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797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69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41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public class Sample0208b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public static void main(String[] args)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System.out.println( proc1() );   // Sample0208b.proc1()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private static String proc1()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return "Hello";</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a:t>
            </a:r>
          </a:p>
        </p:txBody>
      </p:sp>
      <p:grpSp>
        <p:nvGrpSpPr>
          <p:cNvPr id="461842" name="Group 18">
            <a:extLst>
              <a:ext uri="{FF2B5EF4-FFF2-40B4-BE49-F238E27FC236}">
                <a16:creationId xmlns:a16="http://schemas.microsoft.com/office/drawing/2014/main" id="{ED87689C-F93A-C907-C1A4-E66CDEA60F56}"/>
              </a:ext>
            </a:extLst>
          </p:cNvPr>
          <p:cNvGrpSpPr>
            <a:grpSpLocks/>
          </p:cNvGrpSpPr>
          <p:nvPr/>
        </p:nvGrpSpPr>
        <p:grpSpPr bwMode="auto">
          <a:xfrm>
            <a:off x="1473200" y="6154738"/>
            <a:ext cx="3200400" cy="1171575"/>
            <a:chOff x="928" y="3877"/>
            <a:chExt cx="2016" cy="738"/>
          </a:xfrm>
        </p:grpSpPr>
        <p:sp>
          <p:nvSpPr>
            <p:cNvPr id="461829" name="Rectangle 5">
              <a:extLst>
                <a:ext uri="{FF2B5EF4-FFF2-40B4-BE49-F238E27FC236}">
                  <a16:creationId xmlns:a16="http://schemas.microsoft.com/office/drawing/2014/main" id="{28700612-63D6-BE37-B4D8-08420AAA7FDD}"/>
                </a:ext>
              </a:extLst>
            </p:cNvPr>
            <p:cNvSpPr>
              <a:spLocks noChangeArrowheads="1"/>
            </p:cNvSpPr>
            <p:nvPr/>
          </p:nvSpPr>
          <p:spPr bwMode="auto">
            <a:xfrm>
              <a:off x="1961" y="3877"/>
              <a:ext cx="340" cy="117"/>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461830" name="AutoShape 6">
              <a:extLst>
                <a:ext uri="{FF2B5EF4-FFF2-40B4-BE49-F238E27FC236}">
                  <a16:creationId xmlns:a16="http://schemas.microsoft.com/office/drawing/2014/main" id="{64B2D0D4-4129-504B-32D3-4BEA72ABC42D}"/>
                </a:ext>
              </a:extLst>
            </p:cNvPr>
            <p:cNvCxnSpPr>
              <a:cxnSpLocks noChangeShapeType="1"/>
              <a:stCxn id="461829" idx="2"/>
              <a:endCxn id="461831" idx="3"/>
            </p:cNvCxnSpPr>
            <p:nvPr/>
          </p:nvCxnSpPr>
          <p:spPr bwMode="auto">
            <a:xfrm rot="16200000" flipH="1">
              <a:off x="2341" y="3790"/>
              <a:ext cx="393" cy="813"/>
            </a:xfrm>
            <a:prstGeom prst="bentConnector4">
              <a:avLst>
                <a:gd name="adj1" fmla="val 20611"/>
                <a:gd name="adj2" fmla="val 116972"/>
              </a:avLst>
            </a:prstGeom>
            <a:noFill/>
            <a:ln w="1905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61831" name="Rectangle 7">
              <a:extLst>
                <a:ext uri="{FF2B5EF4-FFF2-40B4-BE49-F238E27FC236}">
                  <a16:creationId xmlns:a16="http://schemas.microsoft.com/office/drawing/2014/main" id="{47AB760E-B0C9-BE47-D059-7936D66750B4}"/>
                </a:ext>
              </a:extLst>
            </p:cNvPr>
            <p:cNvSpPr>
              <a:spLocks noChangeArrowheads="1"/>
            </p:cNvSpPr>
            <p:nvPr/>
          </p:nvSpPr>
          <p:spPr bwMode="auto">
            <a:xfrm>
              <a:off x="928" y="4170"/>
              <a:ext cx="2010" cy="44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grpSp>
      <p:sp>
        <p:nvSpPr>
          <p:cNvPr id="461832" name="Text Box 8">
            <a:extLst>
              <a:ext uri="{FF2B5EF4-FFF2-40B4-BE49-F238E27FC236}">
                <a16:creationId xmlns:a16="http://schemas.microsoft.com/office/drawing/2014/main" id="{45CAABB6-CDBD-E0BB-66BB-7E2F3B06899B}"/>
              </a:ext>
            </a:extLst>
          </p:cNvPr>
          <p:cNvSpPr txBox="1">
            <a:spLocks noChangeArrowheads="1"/>
          </p:cNvSpPr>
          <p:nvPr/>
        </p:nvSpPr>
        <p:spPr bwMode="auto">
          <a:xfrm>
            <a:off x="628650" y="1811338"/>
            <a:ext cx="5692775" cy="22828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5363" indent="-355600" defTabSz="447675">
              <a:defRPr kumimoji="1">
                <a:solidFill>
                  <a:schemeClr val="tx1"/>
                </a:solidFill>
                <a:latin typeface="Arial" panose="020B0604020202020204" pitchFamily="34" charset="0"/>
                <a:ea typeface="ＭＳ Ｐゴシック" panose="020B0600070205080204" pitchFamily="50" charset="-128"/>
              </a:defRPr>
            </a:lvl5pPr>
            <a:lvl6pPr marL="27225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797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69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41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public class Person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a:t>
            </a:r>
            <a:r>
              <a:rPr lang="ja-JP" altLang="ja-JP" b="0">
                <a:ea typeface="ＭＳ ゴシック" panose="020B0609070205080204" pitchFamily="49" charset="-128"/>
              </a:rPr>
              <a:t>static</a:t>
            </a:r>
            <a:r>
              <a:rPr lang="en-US" altLang="ja-JP" b="0">
                <a:ea typeface="ＭＳ ゴシック" panose="020B0609070205080204" pitchFamily="49" charset="-128"/>
              </a:rPr>
              <a:t> field</a:t>
            </a:r>
            <a:endParaRPr lang="ja-JP" altLang="ja-JP" b="0">
              <a:ea typeface="ＭＳ ゴシック" panose="020B0609070205080204" pitchFamily="49" charset="-128"/>
            </a:endParaRP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public static final String SPECIES = "Homo sapiens";</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a:t>
            </a:r>
            <a:r>
              <a:rPr lang="ja-JP" altLang="ja-JP" b="0">
                <a:ea typeface="ＭＳ ゴシック" panose="020B0609070205080204" pitchFamily="49" charset="-128"/>
              </a:rPr>
              <a:t>static</a:t>
            </a:r>
            <a:r>
              <a:rPr lang="en-US" altLang="ja-JP" b="0">
                <a:ea typeface="ＭＳ ゴシック" panose="020B0609070205080204" pitchFamily="49" charset="-128"/>
              </a:rPr>
              <a:t> method</a:t>
            </a:r>
            <a:endParaRPr lang="ja-JP" altLang="ja-JP" b="0">
              <a:ea typeface="ＭＳ ゴシック" panose="020B0609070205080204" pitchFamily="49" charset="-128"/>
            </a:endParaRP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public static void printSpecies()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System.out.println( SPECIES );  // Person.SPECIES</a:t>
            </a:r>
            <a:r>
              <a:rPr lang="en-US"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cũng được</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a:t>
            </a:r>
          </a:p>
        </p:txBody>
      </p:sp>
      <p:grpSp>
        <p:nvGrpSpPr>
          <p:cNvPr id="461841" name="Group 17">
            <a:extLst>
              <a:ext uri="{FF2B5EF4-FFF2-40B4-BE49-F238E27FC236}">
                <a16:creationId xmlns:a16="http://schemas.microsoft.com/office/drawing/2014/main" id="{3E26F0AD-BEFD-82FA-8EEE-F59FF6FFD704}"/>
              </a:ext>
            </a:extLst>
          </p:cNvPr>
          <p:cNvGrpSpPr>
            <a:grpSpLocks/>
          </p:cNvGrpSpPr>
          <p:nvPr/>
        </p:nvGrpSpPr>
        <p:grpSpPr bwMode="auto">
          <a:xfrm>
            <a:off x="1343025" y="2287588"/>
            <a:ext cx="4057650" cy="1185862"/>
            <a:chOff x="846" y="1441"/>
            <a:chExt cx="2556" cy="747"/>
          </a:xfrm>
        </p:grpSpPr>
        <p:sp>
          <p:nvSpPr>
            <p:cNvPr id="461833" name="Rectangle 9">
              <a:extLst>
                <a:ext uri="{FF2B5EF4-FFF2-40B4-BE49-F238E27FC236}">
                  <a16:creationId xmlns:a16="http://schemas.microsoft.com/office/drawing/2014/main" id="{3F05C78B-1201-78A3-CBF0-B334BBF39AAD}"/>
                </a:ext>
              </a:extLst>
            </p:cNvPr>
            <p:cNvSpPr>
              <a:spLocks noChangeArrowheads="1"/>
            </p:cNvSpPr>
            <p:nvPr/>
          </p:nvSpPr>
          <p:spPr bwMode="auto">
            <a:xfrm>
              <a:off x="1830" y="2089"/>
              <a:ext cx="344" cy="92"/>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cxnSp>
          <p:nvCxnSpPr>
            <p:cNvPr id="461834" name="AutoShape 10">
              <a:extLst>
                <a:ext uri="{FF2B5EF4-FFF2-40B4-BE49-F238E27FC236}">
                  <a16:creationId xmlns:a16="http://schemas.microsoft.com/office/drawing/2014/main" id="{5B5EE9C5-0511-59F5-1027-578DEA1A2B1F}"/>
                </a:ext>
              </a:extLst>
            </p:cNvPr>
            <p:cNvCxnSpPr>
              <a:cxnSpLocks noChangeShapeType="1"/>
              <a:stCxn id="461833" idx="2"/>
              <a:endCxn id="461835" idx="3"/>
            </p:cNvCxnSpPr>
            <p:nvPr/>
          </p:nvCxnSpPr>
          <p:spPr bwMode="auto">
            <a:xfrm rot="5400000" flipH="1" flipV="1">
              <a:off x="2376" y="1163"/>
              <a:ext cx="651" cy="1400"/>
            </a:xfrm>
            <a:prstGeom prst="bentConnector4">
              <a:avLst>
                <a:gd name="adj1" fmla="val -21046"/>
                <a:gd name="adj2" fmla="val 109713"/>
              </a:avLst>
            </a:prstGeom>
            <a:noFill/>
            <a:ln w="1905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61835" name="Rectangle 11">
              <a:extLst>
                <a:ext uri="{FF2B5EF4-FFF2-40B4-BE49-F238E27FC236}">
                  <a16:creationId xmlns:a16="http://schemas.microsoft.com/office/drawing/2014/main" id="{7B85E5FF-13CB-B6DA-EED2-03A80BAD4EE3}"/>
                </a:ext>
              </a:extLst>
            </p:cNvPr>
            <p:cNvSpPr>
              <a:spLocks noChangeArrowheads="1"/>
            </p:cNvSpPr>
            <p:nvPr/>
          </p:nvSpPr>
          <p:spPr bwMode="auto">
            <a:xfrm>
              <a:off x="846" y="1441"/>
              <a:ext cx="2548" cy="19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gr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5682" name="AutoShape 2">
            <a:extLst>
              <a:ext uri="{FF2B5EF4-FFF2-40B4-BE49-F238E27FC236}">
                <a16:creationId xmlns:a16="http://schemas.microsoft.com/office/drawing/2014/main" id="{79142C27-63AB-5425-B4FF-AAFC93FF531A}"/>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r>
              <a:rPr lang="en-US" altLang="ja-JP" sz="1300">
                <a:ea typeface="MS UI Gothic" panose="020B0600070205080204" pitchFamily="50" charset="-128"/>
              </a:rPr>
              <a:t>static initializer</a:t>
            </a: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Biến static, static method được đảm bảo một khu vực và sẽ trở nên có thể access được khi class của nó được load.</a:t>
            </a:r>
          </a:p>
          <a:p>
            <a:r>
              <a:rPr lang="ja-JP" altLang="en-US" b="0">
                <a:ea typeface="MS UI Gothic" panose="020B0600070205080204" pitchFamily="50" charset="-128"/>
              </a:rPr>
              <a:t>　</a:t>
            </a:r>
            <a:r>
              <a:rPr lang="en-US" altLang="ja-JP" b="0">
                <a:ea typeface="MS UI Gothic" panose="020B0600070205080204" pitchFamily="50" charset="-128"/>
              </a:rPr>
              <a:t>Trường hợp muốn miêu tả xử lý tiến hành lúc load của class này thì sẽ định nghĩa static initializer.</a:t>
            </a: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cú pháp</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p>
          <a:p>
            <a:r>
              <a:rPr lang="ja-JP" altLang="en-US" b="0">
                <a:ea typeface="MS UI Gothic" panose="020B0600070205080204" pitchFamily="50" charset="-128"/>
              </a:rPr>
              <a:t>●　</a:t>
            </a:r>
            <a:r>
              <a:rPr lang="en-US" altLang="ja-JP" b="0">
                <a:ea typeface="MS UI Gothic" panose="020B0600070205080204" pitchFamily="50" charset="-128"/>
              </a:rPr>
              <a:t>Ví dụ</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Trường hợp chỉ định biến static dạng final trong static initializer thì sẽ không thêm class name.</a:t>
            </a:r>
          </a:p>
        </p:txBody>
      </p:sp>
      <p:sp>
        <p:nvSpPr>
          <p:cNvPr id="455691" name="Text Box 11">
            <a:extLst>
              <a:ext uri="{FF2B5EF4-FFF2-40B4-BE49-F238E27FC236}">
                <a16:creationId xmlns:a16="http://schemas.microsoft.com/office/drawing/2014/main" id="{2E3686D2-E0F1-EF1A-B0CC-2A713937D01E}"/>
              </a:ext>
            </a:extLst>
          </p:cNvPr>
          <p:cNvSpPr txBox="1">
            <a:spLocks noChangeArrowheads="1"/>
          </p:cNvSpPr>
          <p:nvPr/>
        </p:nvSpPr>
        <p:spPr bwMode="auto">
          <a:xfrm>
            <a:off x="695325" y="1828800"/>
            <a:ext cx="5692775" cy="17811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42900" indent="-342900" defTabSz="447675">
              <a:defRPr kumimoji="1">
                <a:solidFill>
                  <a:schemeClr val="tx1"/>
                </a:solidFill>
                <a:latin typeface="Arial" panose="020B0604020202020204" pitchFamily="34" charset="0"/>
                <a:ea typeface="ＭＳ Ｐゴシック" panose="020B0600070205080204" pitchFamily="50" charset="-128"/>
              </a:defRPr>
            </a:lvl1pPr>
            <a:lvl2pPr marL="522288" indent="-342900" defTabSz="447675">
              <a:defRPr kumimoji="1">
                <a:solidFill>
                  <a:schemeClr val="tx1"/>
                </a:solidFill>
                <a:latin typeface="Arial" panose="020B0604020202020204" pitchFamily="34" charset="0"/>
                <a:ea typeface="ＭＳ Ｐゴシック" panose="020B0600070205080204" pitchFamily="50" charset="-128"/>
              </a:defRPr>
            </a:lvl2pPr>
            <a:lvl3pPr marL="1293813" indent="-339725" defTabSz="447675">
              <a:defRPr kumimoji="1">
                <a:solidFill>
                  <a:schemeClr val="tx1"/>
                </a:solidFill>
                <a:latin typeface="Arial" panose="020B0604020202020204" pitchFamily="34" charset="0"/>
                <a:ea typeface="ＭＳ Ｐゴシック" panose="020B0600070205080204" pitchFamily="50" charset="-128"/>
              </a:defRPr>
            </a:lvl3pPr>
            <a:lvl4pPr marL="1774825" indent="-342900" defTabSz="447675">
              <a:defRPr kumimoji="1">
                <a:solidFill>
                  <a:schemeClr val="tx1"/>
                </a:solidFill>
                <a:latin typeface="Arial" panose="020B0604020202020204" pitchFamily="34" charset="0"/>
                <a:ea typeface="ＭＳ Ｐゴシック" panose="020B0600070205080204" pitchFamily="50" charset="-128"/>
              </a:defRPr>
            </a:lvl4pPr>
            <a:lvl5pPr marL="2252663" indent="-342900" defTabSz="447675">
              <a:defRPr kumimoji="1">
                <a:solidFill>
                  <a:schemeClr val="tx1"/>
                </a:solidFill>
                <a:latin typeface="Arial" panose="020B0604020202020204" pitchFamily="34" charset="0"/>
                <a:ea typeface="ＭＳ Ｐゴシック" panose="020B0600070205080204" pitchFamily="50" charset="-128"/>
              </a:defRPr>
            </a:lvl5pPr>
            <a:lvl6pPr marL="27098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spcAft>
                <a:spcPct val="50000"/>
              </a:spcAft>
            </a:pPr>
            <a:r>
              <a:rPr lang="en-US" altLang="ja-JP" b="0">
                <a:latin typeface="ＭＳ ゴシック" panose="020B0609070205080204" pitchFamily="49" charset="-128"/>
                <a:ea typeface="ＭＳ ゴシック" panose="020B0609070205080204" pitchFamily="49" charset="-128"/>
              </a:rPr>
              <a:t>modifier</a:t>
            </a:r>
            <a:r>
              <a:rPr lang="ja-JP" altLang="ja-JP" b="0">
                <a:latin typeface="ＭＳ ゴシック" panose="020B0609070205080204" pitchFamily="49" charset="-128"/>
                <a:ea typeface="ＭＳ ゴシック" panose="020B0609070205080204" pitchFamily="49" charset="-128"/>
              </a:rPr>
              <a:t>　class </a:t>
            </a:r>
            <a:r>
              <a:rPr lang="en-US" altLang="ja-JP" b="0">
                <a:latin typeface="ＭＳ ゴシック" panose="020B0609070205080204" pitchFamily="49" charset="-128"/>
                <a:ea typeface="ＭＳ ゴシック" panose="020B0609070205080204" pitchFamily="49" charset="-128"/>
              </a:rPr>
              <a:t>class name</a:t>
            </a:r>
            <a:r>
              <a:rPr lang="ja-JP" altLang="ja-JP" b="0">
                <a:latin typeface="ＭＳ ゴシック" panose="020B0609070205080204" pitchFamily="49" charset="-128"/>
                <a:ea typeface="ＭＳ ゴシック" panose="020B0609070205080204" pitchFamily="49" charset="-128"/>
              </a:rPr>
              <a:t> {</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    static {</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Thông thường sử dụng ở giá trị có ngày xử lý sẽ biến đổi động</a:t>
            </a:r>
            <a:endParaRPr lang="ja-JP" altLang="ja-JP" b="0">
              <a:ea typeface="MS UI Gothic" panose="020B0600070205080204" pitchFamily="50" charset="-128"/>
            </a:endParaRP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a:t>
            </a:r>
          </a:p>
        </p:txBody>
      </p:sp>
      <p:sp>
        <p:nvSpPr>
          <p:cNvPr id="455683" name="AutoShape 3">
            <a:extLst>
              <a:ext uri="{FF2B5EF4-FFF2-40B4-BE49-F238E27FC236}">
                <a16:creationId xmlns:a16="http://schemas.microsoft.com/office/drawing/2014/main" id="{FCE9525C-8E62-B885-7B08-BA14E1BE83DA}"/>
              </a:ext>
            </a:extLst>
          </p:cNvPr>
          <p:cNvSpPr>
            <a:spLocks noChangeArrowheads="1"/>
          </p:cNvSpPr>
          <p:nvPr/>
        </p:nvSpPr>
        <p:spPr bwMode="auto">
          <a:xfrm>
            <a:off x="603250" y="442913"/>
            <a:ext cx="11176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COLUMN</a:t>
            </a:r>
          </a:p>
        </p:txBody>
      </p:sp>
      <p:sp>
        <p:nvSpPr>
          <p:cNvPr id="455687" name="Rectangle 7">
            <a:extLst>
              <a:ext uri="{FF2B5EF4-FFF2-40B4-BE49-F238E27FC236}">
                <a16:creationId xmlns:a16="http://schemas.microsoft.com/office/drawing/2014/main" id="{C75C913C-5067-5924-0059-2E9906271E2E}"/>
              </a:ext>
            </a:extLst>
          </p:cNvPr>
          <p:cNvSpPr>
            <a:spLocks noChangeArrowheads="1"/>
          </p:cNvSpPr>
          <p:nvPr/>
        </p:nvSpPr>
        <p:spPr bwMode="auto">
          <a:xfrm>
            <a:off x="1016000" y="2125663"/>
            <a:ext cx="3436938" cy="74136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grpSp>
        <p:nvGrpSpPr>
          <p:cNvPr id="455693" name="Group 13">
            <a:extLst>
              <a:ext uri="{FF2B5EF4-FFF2-40B4-BE49-F238E27FC236}">
                <a16:creationId xmlns:a16="http://schemas.microsoft.com/office/drawing/2014/main" id="{619BB226-7F59-2B54-ECDD-4F9B841A49C8}"/>
              </a:ext>
            </a:extLst>
          </p:cNvPr>
          <p:cNvGrpSpPr>
            <a:grpSpLocks/>
          </p:cNvGrpSpPr>
          <p:nvPr/>
        </p:nvGrpSpPr>
        <p:grpSpPr bwMode="auto">
          <a:xfrm>
            <a:off x="682625" y="4300538"/>
            <a:ext cx="5692775" cy="1524000"/>
            <a:chOff x="438" y="2627"/>
            <a:chExt cx="3586" cy="960"/>
          </a:xfrm>
        </p:grpSpPr>
        <p:sp>
          <p:nvSpPr>
            <p:cNvPr id="455684" name="Text Box 4">
              <a:extLst>
                <a:ext uri="{FF2B5EF4-FFF2-40B4-BE49-F238E27FC236}">
                  <a16:creationId xmlns:a16="http://schemas.microsoft.com/office/drawing/2014/main" id="{10B14554-1F40-1C37-CB6F-D310076A9DEF}"/>
                </a:ext>
              </a:extLst>
            </p:cNvPr>
            <p:cNvSpPr txBox="1">
              <a:spLocks noChangeArrowheads="1"/>
            </p:cNvSpPr>
            <p:nvPr/>
          </p:nvSpPr>
          <p:spPr bwMode="auto">
            <a:xfrm>
              <a:off x="438" y="2627"/>
              <a:ext cx="3586" cy="96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5363" indent="-355600" defTabSz="447675">
                <a:defRPr kumimoji="1">
                  <a:solidFill>
                    <a:schemeClr val="tx1"/>
                  </a:solidFill>
                  <a:latin typeface="Arial" panose="020B0604020202020204" pitchFamily="34" charset="0"/>
                  <a:ea typeface="ＭＳ Ｐゴシック" panose="020B0600070205080204" pitchFamily="50" charset="-128"/>
                </a:defRPr>
              </a:lvl5pPr>
              <a:lvl6pPr marL="27225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797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69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41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public class Person {</a:t>
              </a: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spcAft>
                  <a:spcPct val="50000"/>
                </a:spcAft>
                <a:buFontTx/>
                <a:buAutoNum type="arabicPeriod"/>
              </a:pPr>
              <a:r>
                <a:rPr lang="ja-JP" altLang="ja-JP" b="0">
                  <a:latin typeface="ＭＳ ゴシック" panose="020B0609070205080204" pitchFamily="49" charset="-128"/>
                  <a:ea typeface="ＭＳ ゴシック" panose="020B0609070205080204" pitchFamily="49" charset="-128"/>
                </a:rPr>
                <a:t>    public static final String SPECIES;</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3.	    static {</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4.	　　　　 SPECIES = "Homo sapiens";　</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5.	    }</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6.	}</a:t>
              </a:r>
            </a:p>
          </p:txBody>
        </p:sp>
        <p:sp>
          <p:nvSpPr>
            <p:cNvPr id="455692" name="Rectangle 12">
              <a:extLst>
                <a:ext uri="{FF2B5EF4-FFF2-40B4-BE49-F238E27FC236}">
                  <a16:creationId xmlns:a16="http://schemas.microsoft.com/office/drawing/2014/main" id="{662CA2D9-0DD1-C2D4-C0C8-198274019E2D}"/>
                </a:ext>
              </a:extLst>
            </p:cNvPr>
            <p:cNvSpPr>
              <a:spLocks noChangeArrowheads="1"/>
            </p:cNvSpPr>
            <p:nvPr/>
          </p:nvSpPr>
          <p:spPr bwMode="auto">
            <a:xfrm>
              <a:off x="883" y="2911"/>
              <a:ext cx="2864" cy="48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gr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5922" name="Rectangle 2">
            <a:extLst>
              <a:ext uri="{FF2B5EF4-FFF2-40B4-BE49-F238E27FC236}">
                <a16:creationId xmlns:a16="http://schemas.microsoft.com/office/drawing/2014/main" id="{211379C6-EF44-D883-8390-A77D05EF0596}"/>
              </a:ext>
            </a:extLst>
          </p:cNvPr>
          <p:cNvSpPr>
            <a:spLocks noRot="1" noChangeAspect="1" noChangeArrowheads="1" noTextEdit="1"/>
          </p:cNvSpPr>
          <p:nvPr>
            <p:ph type="sldImg"/>
          </p:nvPr>
        </p:nvSpPr>
        <p:spPr>
          <a:xfrm>
            <a:off x="531813" y="835025"/>
            <a:ext cx="6024562" cy="4170363"/>
          </a:xfrm>
          <a:ln/>
        </p:spPr>
      </p:sp>
      <p:sp>
        <p:nvSpPr>
          <p:cNvPr id="465923" name="Rectangle 3">
            <a:extLst>
              <a:ext uri="{FF2B5EF4-FFF2-40B4-BE49-F238E27FC236}">
                <a16:creationId xmlns:a16="http://schemas.microsoft.com/office/drawing/2014/main" id="{0B5307C0-CAB9-EB97-5FE2-3C2D00A79957}"/>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main method</a:t>
            </a:r>
          </a:p>
          <a:p>
            <a:pPr marL="0" indent="0"/>
            <a:r>
              <a:rPr lang="ja-JP" altLang="en-US">
                <a:latin typeface="Arial" panose="020B0604020202020204" pitchFamily="34" charset="0"/>
              </a:rPr>
              <a:t>　</a:t>
            </a:r>
            <a:r>
              <a:rPr lang="en-US" altLang="ja-JP">
                <a:latin typeface="Arial" panose="020B0604020202020204" pitchFamily="34" charset="0"/>
              </a:rPr>
              <a:t>main method được gọi đầu tiên khi thực hiện application cũng là method static.</a:t>
            </a:r>
          </a:p>
          <a:p>
            <a:pPr marL="0" indent="0"/>
            <a:r>
              <a:rPr lang="ja-JP" altLang="en-US">
                <a:latin typeface="Arial" panose="020B0604020202020204" pitchFamily="34" charset="0"/>
              </a:rPr>
              <a:t>　</a:t>
            </a:r>
            <a:r>
              <a:rPr lang="en-US" altLang="ja-JP">
                <a:latin typeface="Arial" panose="020B0604020202020204" pitchFamily="34" charset="0"/>
              </a:rPr>
              <a:t>Chúng ta hãy cùng xác nhận lại một lần nữa cú pháp của main method.</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 Do đã được chỉ định là public nên có thể gọi ra từ bên ngoài.</a:t>
            </a:r>
          </a:p>
          <a:p>
            <a:pPr marL="0" indent="0"/>
            <a:r>
              <a:rPr lang="en-US" altLang="ja-JP">
                <a:latin typeface="Arial" panose="020B0604020202020204" pitchFamily="34" charset="0"/>
              </a:rPr>
              <a:t>※ Do đã được chỉ định là static nên có thể gọi ra cho dù không tồn tại object.</a:t>
            </a:r>
          </a:p>
          <a:p>
            <a:pPr marL="0" indent="0"/>
            <a:r>
              <a:rPr lang="en-US" altLang="ja-JP">
                <a:latin typeface="Arial" panose="020B0604020202020204" pitchFamily="34" charset="0"/>
              </a:rPr>
              <a:t>※ Do không có giá trị trả về nên chỉ định </a:t>
            </a:r>
            <a:r>
              <a:rPr lang="ja-JP" altLang="en-US">
                <a:latin typeface="Arial" panose="020B0604020202020204" pitchFamily="34" charset="0"/>
              </a:rPr>
              <a:t>「</a:t>
            </a:r>
            <a:r>
              <a:rPr lang="en-US" altLang="ja-JP">
                <a:latin typeface="Arial" panose="020B0604020202020204" pitchFamily="34" charset="0"/>
              </a:rPr>
              <a:t>void</a:t>
            </a:r>
            <a:r>
              <a:rPr lang="ja-JP" altLang="en-US">
                <a:latin typeface="Arial" panose="020B0604020202020204" pitchFamily="34" charset="0"/>
              </a:rPr>
              <a:t>」 </a:t>
            </a:r>
            <a:r>
              <a:rPr lang="en-US" altLang="ja-JP">
                <a:latin typeface="Arial" panose="020B0604020202020204" pitchFamily="34" charset="0"/>
              </a:rPr>
              <a:t>vào phần </a:t>
            </a:r>
            <a:r>
              <a:rPr lang="ja-JP" altLang="en-US">
                <a:latin typeface="Arial" panose="020B0604020202020204" pitchFamily="34" charset="0"/>
              </a:rPr>
              <a:t>「</a:t>
            </a:r>
            <a:r>
              <a:rPr lang="en-US" altLang="ja-JP">
                <a:latin typeface="Arial" panose="020B0604020202020204" pitchFamily="34" charset="0"/>
              </a:rPr>
              <a:t>kiểu giá trị trả về</a:t>
            </a:r>
            <a:r>
              <a:rPr lang="ja-JP" altLang="en-US">
                <a:latin typeface="Arial" panose="020B0604020202020204" pitchFamily="34" charset="0"/>
              </a:rPr>
              <a:t>」</a:t>
            </a:r>
            <a:r>
              <a:rPr lang="en-US" altLang="ja-JP">
                <a:latin typeface="Arial" panose="020B0604020202020204" pitchFamily="34" charset="0"/>
              </a:rPr>
              <a:t>.</a:t>
            </a:r>
          </a:p>
          <a:p>
            <a:pPr marL="0" indent="0"/>
            <a:r>
              <a:rPr lang="en-US" altLang="ja-JP">
                <a:latin typeface="Arial" panose="020B0604020202020204" pitchFamily="34" charset="0"/>
              </a:rPr>
              <a:t>※ tên method là </a:t>
            </a:r>
            <a:r>
              <a:rPr lang="ja-JP" altLang="en-US">
                <a:latin typeface="Arial" panose="020B0604020202020204" pitchFamily="34" charset="0"/>
              </a:rPr>
              <a:t>「</a:t>
            </a:r>
            <a:r>
              <a:rPr lang="en-US" altLang="ja-JP">
                <a:latin typeface="Arial" panose="020B0604020202020204" pitchFamily="34" charset="0"/>
              </a:rPr>
              <a:t>main</a:t>
            </a:r>
            <a:r>
              <a:rPr lang="ja-JP" altLang="en-US">
                <a:latin typeface="Arial" panose="020B0604020202020204" pitchFamily="34" charset="0"/>
              </a:rPr>
              <a:t>」</a:t>
            </a:r>
            <a:r>
              <a:rPr lang="en-US" altLang="ja-JP">
                <a:latin typeface="Arial" panose="020B0604020202020204" pitchFamily="34" charset="0"/>
              </a:rPr>
              <a:t>.</a:t>
            </a:r>
          </a:p>
          <a:p>
            <a:pPr marL="0" indent="0"/>
            <a:r>
              <a:rPr lang="en-US" altLang="ja-JP">
                <a:latin typeface="Arial" panose="020B0604020202020204" pitchFamily="34" charset="0"/>
              </a:rPr>
              <a:t>※ main method có thể nhận giá trị đã được chỉ định khi thực hiện như là một mảng String.</a:t>
            </a:r>
          </a:p>
          <a:p>
            <a:pPr marL="0" indent="0"/>
            <a:r>
              <a:rPr lang="ja-JP" altLang="en-US">
                <a:latin typeface="Arial" panose="020B0604020202020204" pitchFamily="34" charset="0"/>
              </a:rPr>
              <a:t>　　「</a:t>
            </a:r>
            <a:r>
              <a:rPr lang="en-US" altLang="ja-JP">
                <a:latin typeface="Arial" panose="020B0604020202020204" pitchFamily="34" charset="0"/>
              </a:rPr>
              <a:t>args</a:t>
            </a:r>
            <a:r>
              <a:rPr lang="ja-JP" altLang="en-US">
                <a:latin typeface="Arial" panose="020B0604020202020204" pitchFamily="34" charset="0"/>
              </a:rPr>
              <a:t>」</a:t>
            </a:r>
            <a:r>
              <a:rPr lang="en-US" altLang="ja-JP">
                <a:latin typeface="Arial" panose="020B0604020202020204" pitchFamily="34" charset="0"/>
              </a:rPr>
              <a:t>là tên biến nên có thể chỉ định tên tùy ý.</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465928" name="Text Box 8">
            <a:extLst>
              <a:ext uri="{FF2B5EF4-FFF2-40B4-BE49-F238E27FC236}">
                <a16:creationId xmlns:a16="http://schemas.microsoft.com/office/drawing/2014/main" id="{4BF5F1DF-6279-2625-D3AD-408286DF3D96}"/>
              </a:ext>
            </a:extLst>
          </p:cNvPr>
          <p:cNvSpPr txBox="1">
            <a:spLocks noChangeArrowheads="1"/>
          </p:cNvSpPr>
          <p:nvPr/>
        </p:nvSpPr>
        <p:spPr bwMode="auto">
          <a:xfrm>
            <a:off x="766763" y="6134100"/>
            <a:ext cx="5654675" cy="5921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latin typeface="ＭＳ ゴシック" panose="020B0609070205080204" pitchFamily="49" charset="-128"/>
                <a:ea typeface="ＭＳ ゴシック" panose="020B0609070205080204" pitchFamily="49" charset="-128"/>
              </a:rPr>
              <a:t>　public static void main(String[] args) {</a:t>
            </a:r>
          </a:p>
          <a:p>
            <a:pPr lvl="1" algn="just"/>
            <a:r>
              <a:rPr lang="ja-JP" altLang="ja-JP" b="0">
                <a:latin typeface="ＭＳ ゴシック" panose="020B0609070205080204" pitchFamily="49" charset="-128"/>
                <a:ea typeface="ＭＳ ゴシック" panose="020B0609070205080204" pitchFamily="49" charset="-128"/>
              </a:rPr>
              <a:t>　　　　　　//  </a:t>
            </a:r>
            <a:r>
              <a:rPr lang="en-US" altLang="ja-JP" b="0">
                <a:ea typeface="MS UI Gothic" panose="020B0600070205080204" pitchFamily="50" charset="-128"/>
              </a:rPr>
              <a:t>Xử lý</a:t>
            </a:r>
            <a:endParaRPr lang="ja-JP" altLang="ja-JP" b="0">
              <a:ea typeface="MS UI Gothic" panose="020B0600070205080204" pitchFamily="50" charset="-128"/>
            </a:endParaRPr>
          </a:p>
          <a:p>
            <a:pPr lvl="1" algn="just"/>
            <a:r>
              <a:rPr lang="ja-JP" altLang="ja-JP" b="0">
                <a:latin typeface="ＭＳ ゴシック" panose="020B0609070205080204" pitchFamily="49" charset="-128"/>
                <a:ea typeface="ＭＳ ゴシック" panose="020B0609070205080204" pitchFamily="49" charset="-128"/>
              </a:rPr>
              <a:t>　}</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058" name="Rectangle 2">
            <a:extLst>
              <a:ext uri="{FF2B5EF4-FFF2-40B4-BE49-F238E27FC236}">
                <a16:creationId xmlns:a16="http://schemas.microsoft.com/office/drawing/2014/main" id="{1901DCF7-8C6E-3562-114F-55EAAF108F79}"/>
              </a:ext>
            </a:extLst>
          </p:cNvPr>
          <p:cNvSpPr>
            <a:spLocks noGrp="1" noChangeArrowheads="1"/>
          </p:cNvSpPr>
          <p:nvPr>
            <p:ph type="body" idx="1"/>
          </p:nvPr>
        </p:nvSpPr>
        <p:spPr>
          <a:xfrm>
            <a:off x="706438" y="682625"/>
            <a:ext cx="5957887" cy="9305925"/>
          </a:xfrm>
        </p:spPr>
        <p:txBody>
          <a:bodyPr/>
          <a:lstStyle/>
          <a:p>
            <a:pPr marL="0" indent="0"/>
            <a:r>
              <a:rPr lang="en-US" altLang="ja-JP">
                <a:latin typeface="Arial" panose="020B0604020202020204" pitchFamily="34" charset="0"/>
              </a:rPr>
              <a:t>■Đối số của main method</a:t>
            </a:r>
            <a:r>
              <a:rPr lang="ja-JP" altLang="en-US">
                <a:latin typeface="Arial" panose="020B0604020202020204" pitchFamily="34" charset="0"/>
              </a:rPr>
              <a:t>（</a:t>
            </a:r>
            <a:r>
              <a:rPr lang="en-US" altLang="ja-JP">
                <a:latin typeface="Arial" panose="020B0604020202020204" pitchFamily="34" charset="0"/>
              </a:rPr>
              <a:t>Nhận giá trị từ command line</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Main method có thể nhận giá trị đã chỉ định ở command line lúc thực hiện như một mảng của String.</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【Chỉ định java command】</a:t>
            </a:r>
            <a:r>
              <a:rPr lang="ja-JP" altLang="en-US">
                <a:latin typeface="Arial" panose="020B0604020202020204" pitchFamily="34" charset="0"/>
              </a:rPr>
              <a:t>　</a:t>
            </a:r>
            <a:r>
              <a:rPr lang="en-US" altLang="ja-JP">
                <a:latin typeface="Arial" panose="020B0604020202020204" pitchFamily="34" charset="0"/>
              </a:rPr>
              <a:t>Chỉ định giá trị muốn ngăn cách bằng space và truyền vào sau class name</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Sẽ được store theo trình tự chỉ định là giá trị 1 vào phần tử thứ 0, giá trị 2 vào phần tử thứ 1 của đối số</a:t>
            </a:r>
            <a:r>
              <a:rPr lang="ja-JP" altLang="en-US">
                <a:latin typeface="Arial" panose="020B0604020202020204" pitchFamily="34" charset="0"/>
              </a:rPr>
              <a:t>（</a:t>
            </a:r>
            <a:r>
              <a:rPr lang="en-US" altLang="ja-JP">
                <a:latin typeface="Arial" panose="020B0604020202020204" pitchFamily="34" charset="0"/>
              </a:rPr>
              <a:t>args</a:t>
            </a:r>
            <a:r>
              <a:rPr lang="ja-JP" altLang="en-US">
                <a:latin typeface="Arial" panose="020B0604020202020204" pitchFamily="34" charset="0"/>
              </a:rPr>
              <a:t>）</a:t>
            </a:r>
            <a:r>
              <a:rPr lang="en-US" altLang="ja-JP">
                <a:latin typeface="Arial" panose="020B0604020202020204" pitchFamily="34" charset="0"/>
              </a:rPr>
              <a:t>của main method.</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Nếu không có giá trị nào được chỉ định sau class name thì sẽ trở thành mảng có số phần tử là 0</a:t>
            </a:r>
          </a:p>
          <a:p>
            <a:pPr marL="0" indent="0"/>
            <a:r>
              <a:rPr lang="ja-JP" altLang="en-US">
                <a:latin typeface="Arial" panose="020B0604020202020204" pitchFamily="34" charset="0"/>
              </a:rPr>
              <a:t>　　　（</a:t>
            </a:r>
            <a:r>
              <a:rPr lang="en-US" altLang="ja-JP">
                <a:latin typeface="Arial" panose="020B0604020202020204" pitchFamily="34" charset="0"/>
              </a:rPr>
              <a:t>Số phần tử của mảng được tra bằng tên mảng.length</a:t>
            </a:r>
            <a:r>
              <a:rPr lang="ja-JP" altLang="en-US">
                <a:latin typeface="Arial" panose="020B0604020202020204" pitchFamily="34" charset="0"/>
              </a:rPr>
              <a:t>）</a:t>
            </a: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Ví dụ program</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Ví dụ thực hiện</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p>
          <a:p>
            <a:pPr marL="0" indent="0"/>
            <a:endParaRPr lang="en-US" altLang="ja-JP">
              <a:latin typeface="Arial" panose="020B0604020202020204" pitchFamily="34" charset="0"/>
            </a:endParaRPr>
          </a:p>
        </p:txBody>
      </p:sp>
      <p:sp>
        <p:nvSpPr>
          <p:cNvPr id="429059" name="Text Box 3">
            <a:extLst>
              <a:ext uri="{FF2B5EF4-FFF2-40B4-BE49-F238E27FC236}">
                <a16:creationId xmlns:a16="http://schemas.microsoft.com/office/drawing/2014/main" id="{EF397851-0B34-D779-B3F8-9CCAC1678B51}"/>
              </a:ext>
            </a:extLst>
          </p:cNvPr>
          <p:cNvSpPr txBox="1">
            <a:spLocks noChangeArrowheads="1"/>
          </p:cNvSpPr>
          <p:nvPr/>
        </p:nvSpPr>
        <p:spPr bwMode="auto">
          <a:xfrm>
            <a:off x="776288" y="1414463"/>
            <a:ext cx="5643562" cy="2571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MS UI Gothic" panose="020B0600070205080204" pitchFamily="50" charset="-128"/>
              </a:rPr>
              <a:t>　</a:t>
            </a:r>
            <a:r>
              <a:rPr lang="ja-JP" altLang="ja-JP" b="0">
                <a:ea typeface="ＭＳ ゴシック" panose="020B0609070205080204" pitchFamily="49" charset="-128"/>
              </a:rPr>
              <a:t>java</a:t>
            </a:r>
            <a:r>
              <a:rPr lang="ja-JP" altLang="ja-JP" b="0">
                <a:ea typeface="MS UI Gothic" panose="020B0600070205080204" pitchFamily="50" charset="-128"/>
              </a:rPr>
              <a:t>　　</a:t>
            </a:r>
            <a:r>
              <a:rPr lang="en-US" altLang="ja-JP" b="0">
                <a:ea typeface="MS UI Gothic" panose="020B0600070205080204" pitchFamily="50" charset="-128"/>
              </a:rPr>
              <a:t>class name</a:t>
            </a:r>
            <a:r>
              <a:rPr lang="ja-JP" altLang="ja-JP" b="0">
                <a:ea typeface="MS UI Gothic" panose="020B0600070205080204" pitchFamily="50" charset="-128"/>
              </a:rPr>
              <a:t>　　</a:t>
            </a:r>
            <a:r>
              <a:rPr lang="en-US" altLang="ja-JP" b="0">
                <a:ea typeface="MS UI Gothic" panose="020B0600070205080204" pitchFamily="50" charset="-128"/>
              </a:rPr>
              <a:t>giá trị 1</a:t>
            </a:r>
            <a:r>
              <a:rPr lang="ja-JP" altLang="ja-JP" b="0">
                <a:ea typeface="MS UI Gothic" panose="020B0600070205080204" pitchFamily="50" charset="-128"/>
              </a:rPr>
              <a:t>　　</a:t>
            </a:r>
            <a:r>
              <a:rPr lang="en-US" altLang="ja-JP" b="0">
                <a:ea typeface="MS UI Gothic" panose="020B0600070205080204" pitchFamily="50" charset="-128"/>
              </a:rPr>
              <a:t>giá trị 2</a:t>
            </a:r>
            <a:r>
              <a:rPr lang="ja-JP" altLang="ja-JP" b="0">
                <a:ea typeface="MS UI Gothic" panose="020B0600070205080204" pitchFamily="50" charset="-128"/>
              </a:rPr>
              <a:t>　　…</a:t>
            </a:r>
            <a:endParaRPr lang="en-US" altLang="ja-JP" b="0">
              <a:ea typeface="MS UI Gothic" panose="020B0600070205080204" pitchFamily="50" charset="-128"/>
            </a:endParaRPr>
          </a:p>
        </p:txBody>
      </p:sp>
      <p:sp>
        <p:nvSpPr>
          <p:cNvPr id="429062" name="Text Box 6">
            <a:extLst>
              <a:ext uri="{FF2B5EF4-FFF2-40B4-BE49-F238E27FC236}">
                <a16:creationId xmlns:a16="http://schemas.microsoft.com/office/drawing/2014/main" id="{00E02899-6A56-4B68-8BA0-E4D9C65A55C9}"/>
              </a:ext>
            </a:extLst>
          </p:cNvPr>
          <p:cNvSpPr txBox="1">
            <a:spLocks noChangeArrowheads="1"/>
          </p:cNvSpPr>
          <p:nvPr/>
        </p:nvSpPr>
        <p:spPr bwMode="auto">
          <a:xfrm>
            <a:off x="711200" y="4979988"/>
            <a:ext cx="5703888" cy="164623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447675">
              <a:defRPr kumimoji="1">
                <a:solidFill>
                  <a:schemeClr val="tx1"/>
                </a:solidFill>
                <a:latin typeface="Arial" panose="020B0604020202020204" pitchFamily="34" charset="0"/>
                <a:ea typeface="ＭＳ Ｐゴシック" panose="020B0600070205080204" pitchFamily="50" charset="-128"/>
              </a:defRPr>
            </a:lvl1pPr>
            <a:lvl2pPr marL="187325" defTabSz="447675">
              <a:defRPr kumimoji="1">
                <a:solidFill>
                  <a:schemeClr val="tx1"/>
                </a:solidFill>
                <a:latin typeface="Arial" panose="020B0604020202020204" pitchFamily="34" charset="0"/>
                <a:ea typeface="ＭＳ Ｐゴシック" panose="020B0600070205080204" pitchFamily="50" charset="-128"/>
              </a:defRPr>
            </a:lvl2pPr>
            <a:lvl3pPr marL="954088" defTabSz="447675">
              <a:defRPr kumimoji="1">
                <a:solidFill>
                  <a:schemeClr val="tx1"/>
                </a:solidFill>
                <a:latin typeface="Arial" panose="020B0604020202020204" pitchFamily="34" charset="0"/>
                <a:ea typeface="ＭＳ Ｐゴシック" panose="020B0600070205080204" pitchFamily="50" charset="-128"/>
              </a:defRPr>
            </a:lvl3pPr>
            <a:lvl4pPr marL="1431925" defTabSz="447675">
              <a:defRPr kumimoji="1">
                <a:solidFill>
                  <a:schemeClr val="tx1"/>
                </a:solidFill>
                <a:latin typeface="Arial" panose="020B0604020202020204" pitchFamily="34" charset="0"/>
                <a:ea typeface="ＭＳ Ｐゴシック" panose="020B0600070205080204" pitchFamily="50" charset="-128"/>
              </a:defRPr>
            </a:lvl4pPr>
            <a:lvl5pPr marL="1909763" defTabSz="447675">
              <a:defRPr kumimoji="1">
                <a:solidFill>
                  <a:schemeClr val="tx1"/>
                </a:solidFill>
                <a:latin typeface="Arial" panose="020B0604020202020204" pitchFamily="34" charset="0"/>
                <a:ea typeface="ＭＳ Ｐゴシック" panose="020B0600070205080204" pitchFamily="50" charset="-128"/>
              </a:defRPr>
            </a:lvl5pPr>
            <a:lvl6pPr marL="2366963"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latin typeface="ＭＳ ゴシック" panose="020B0609070205080204" pitchFamily="49" charset="-128"/>
                <a:ea typeface="ＭＳ ゴシック" panose="020B0609070205080204" pitchFamily="49" charset="-128"/>
              </a:rPr>
              <a:t>1.	public class Main01 {</a:t>
            </a:r>
          </a:p>
          <a:p>
            <a:pPr lvl="1" algn="just"/>
            <a:r>
              <a:rPr lang="ja-JP" altLang="ja-JP" b="0">
                <a:latin typeface="ＭＳ ゴシック" panose="020B0609070205080204" pitchFamily="49" charset="-128"/>
                <a:ea typeface="ＭＳ ゴシック" panose="020B0609070205080204" pitchFamily="49" charset="-128"/>
              </a:rPr>
              <a:t>2.	    public static void main(String[] args) {</a:t>
            </a:r>
          </a:p>
          <a:p>
            <a:pPr lvl="1" algn="just"/>
            <a:r>
              <a:rPr lang="ja-JP" altLang="ja-JP" b="0">
                <a:latin typeface="ＭＳ ゴシック" panose="020B0609070205080204" pitchFamily="49" charset="-128"/>
                <a:ea typeface="ＭＳ ゴシック" panose="020B0609070205080204" pitchFamily="49" charset="-128"/>
              </a:rPr>
              <a:t>3.	        if (args.length != 2) {</a:t>
            </a:r>
          </a:p>
          <a:p>
            <a:pPr lvl="1" algn="just"/>
            <a:r>
              <a:rPr lang="ja-JP" altLang="ja-JP" b="0">
                <a:latin typeface="ＭＳ ゴシック" panose="020B0609070205080204" pitchFamily="49" charset="-128"/>
                <a:ea typeface="ＭＳ ゴシック" panose="020B0609070205080204" pitchFamily="49" charset="-128"/>
              </a:rPr>
              <a:t>4.	            System.out.println(“</a:t>
            </a:r>
            <a:r>
              <a:rPr lang="en-US" altLang="ja-JP" b="0">
                <a:ea typeface="ＭＳ ゴシック" panose="020B0609070205080204" pitchFamily="49" charset="-128"/>
              </a:rPr>
              <a:t>Phương pháp sử dụng</a:t>
            </a:r>
            <a:r>
              <a:rPr lang="ja-JP" altLang="ja-JP" b="0">
                <a:latin typeface="ＭＳ ゴシック" panose="020B0609070205080204" pitchFamily="49" charset="-128"/>
                <a:ea typeface="ＭＳ ゴシック" panose="020B0609070205080204" pitchFamily="49" charset="-128"/>
              </a:rPr>
              <a:t>：java Main01 値</a:t>
            </a:r>
            <a:r>
              <a:rPr lang="ja-JP" altLang="ja-JP" b="0">
                <a:ea typeface="ＭＳ ゴシック" panose="020B0609070205080204" pitchFamily="49" charset="-128"/>
              </a:rPr>
              <a:t>１</a:t>
            </a:r>
            <a:r>
              <a:rPr lang="en-US" altLang="ja-JP" b="0">
                <a:ea typeface="ＭＳ ゴシック" panose="020B0609070205080204" pitchFamily="49" charset="-128"/>
              </a:rPr>
              <a:t>(giá trị 1)</a:t>
            </a:r>
            <a:r>
              <a:rPr lang="ja-JP" altLang="ja-JP" b="0">
                <a:latin typeface="ＭＳ ゴシック" panose="020B0609070205080204" pitchFamily="49" charset="-128"/>
                <a:ea typeface="ＭＳ ゴシック" panose="020B0609070205080204" pitchFamily="49" charset="-128"/>
              </a:rPr>
              <a:t> 値２</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giá trị 2)</a:t>
            </a:r>
            <a:r>
              <a:rPr lang="ja-JP" altLang="ja-JP" b="0">
                <a:latin typeface="ＭＳ ゴシック" panose="020B0609070205080204" pitchFamily="49" charset="-128"/>
                <a:ea typeface="ＭＳ ゴシック" panose="020B0609070205080204" pitchFamily="49" charset="-128"/>
              </a:rPr>
              <a:t>");</a:t>
            </a:r>
          </a:p>
          <a:p>
            <a:pPr lvl="1" algn="just"/>
            <a:r>
              <a:rPr lang="ja-JP" altLang="ja-JP" b="0">
                <a:latin typeface="ＭＳ ゴシック" panose="020B0609070205080204" pitchFamily="49" charset="-128"/>
                <a:ea typeface="ＭＳ ゴシック" panose="020B0609070205080204" pitchFamily="49" charset="-128"/>
              </a:rPr>
              <a:t>5.	        } else {</a:t>
            </a:r>
          </a:p>
          <a:p>
            <a:pPr lvl="1" algn="just"/>
            <a:r>
              <a:rPr lang="ja-JP" altLang="ja-JP" b="0">
                <a:latin typeface="ＭＳ ゴシック" panose="020B0609070205080204" pitchFamily="49" charset="-128"/>
                <a:ea typeface="ＭＳ ゴシック" panose="020B0609070205080204" pitchFamily="49" charset="-128"/>
              </a:rPr>
              <a:t>6.              System.out.println("args[0]:" + args[0]);</a:t>
            </a:r>
          </a:p>
          <a:p>
            <a:pPr lvl="1" algn="just"/>
            <a:r>
              <a:rPr lang="ja-JP" altLang="ja-JP" b="0">
                <a:latin typeface="ＭＳ ゴシック" panose="020B0609070205080204" pitchFamily="49" charset="-128"/>
                <a:ea typeface="ＭＳ ゴシック" panose="020B0609070205080204" pitchFamily="49" charset="-128"/>
              </a:rPr>
              <a:t>7.	            System.out.println("args[1]:" + args[1]);</a:t>
            </a:r>
          </a:p>
          <a:p>
            <a:pPr lvl="1" algn="just"/>
            <a:r>
              <a:rPr lang="ja-JP" altLang="ja-JP" b="0">
                <a:latin typeface="ＭＳ ゴシック" panose="020B0609070205080204" pitchFamily="49" charset="-128"/>
                <a:ea typeface="ＭＳ ゴシック" panose="020B0609070205080204" pitchFamily="49" charset="-128"/>
              </a:rPr>
              <a:t>8.	        }</a:t>
            </a:r>
          </a:p>
          <a:p>
            <a:pPr lvl="1" algn="just"/>
            <a:r>
              <a:rPr lang="ja-JP" altLang="ja-JP" b="0">
                <a:latin typeface="ＭＳ ゴシック" panose="020B0609070205080204" pitchFamily="49" charset="-128"/>
                <a:ea typeface="ＭＳ ゴシック" panose="020B0609070205080204" pitchFamily="49" charset="-128"/>
              </a:rPr>
              <a:t>9.	    }</a:t>
            </a:r>
          </a:p>
          <a:p>
            <a:pPr lvl="1" algn="just"/>
            <a:r>
              <a:rPr lang="ja-JP" altLang="ja-JP" b="0">
                <a:latin typeface="ＭＳ ゴシック" panose="020B0609070205080204" pitchFamily="49" charset="-128"/>
                <a:ea typeface="ＭＳ ゴシック" panose="020B0609070205080204" pitchFamily="49" charset="-128"/>
              </a:rPr>
              <a:t>10.	}</a:t>
            </a:r>
            <a:endParaRPr lang="en-US" altLang="ja-JP" b="0">
              <a:latin typeface="ＭＳ ゴシック" panose="020B0609070205080204" pitchFamily="49" charset="-128"/>
              <a:ea typeface="ＭＳ ゴシック" panose="020B0609070205080204" pitchFamily="49" charset="-128"/>
            </a:endParaRPr>
          </a:p>
        </p:txBody>
      </p:sp>
      <p:sp>
        <p:nvSpPr>
          <p:cNvPr id="429064" name="Text Box 8">
            <a:extLst>
              <a:ext uri="{FF2B5EF4-FFF2-40B4-BE49-F238E27FC236}">
                <a16:creationId xmlns:a16="http://schemas.microsoft.com/office/drawing/2014/main" id="{09F23F34-E65D-FA4E-FEAD-1CF5C3F58B18}"/>
              </a:ext>
            </a:extLst>
          </p:cNvPr>
          <p:cNvSpPr txBox="1">
            <a:spLocks noChangeArrowheads="1"/>
          </p:cNvSpPr>
          <p:nvPr/>
        </p:nvSpPr>
        <p:spPr bwMode="auto">
          <a:xfrm>
            <a:off x="720725" y="2979738"/>
            <a:ext cx="5700713" cy="12319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68233" tIns="116482" rIns="368233" bIns="116482">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t>Giá trị sẽ được truyền cho đối số của main method</a:t>
            </a:r>
          </a:p>
          <a:p>
            <a:pPr>
              <a:lnSpc>
                <a:spcPct val="50000"/>
              </a:lnSpc>
            </a:pPr>
            <a:endParaRPr lang="en-US" altLang="ja-JP" b="0"/>
          </a:p>
          <a:p>
            <a:r>
              <a:rPr lang="ja-JP" altLang="en-US" b="0"/>
              <a:t>　</a:t>
            </a:r>
            <a:r>
              <a:rPr lang="en-US" altLang="ja-JP" b="0"/>
              <a:t>Trong giá trị đã được truyền vào main method không bao gồm class name.</a:t>
            </a:r>
          </a:p>
          <a:p>
            <a:r>
              <a:rPr lang="ja-JP" altLang="en-US" b="0"/>
              <a:t>　</a:t>
            </a:r>
            <a:r>
              <a:rPr lang="en-US" altLang="ja-JP" b="0"/>
              <a:t>Giá trị đã chỉ định trở thành giá trị kiểu String.</a:t>
            </a:r>
          </a:p>
          <a:p>
            <a:r>
              <a:rPr lang="ja-JP" altLang="en-US" b="0"/>
              <a:t>　</a:t>
            </a:r>
            <a:r>
              <a:rPr lang="en-US" altLang="ja-JP" b="0"/>
              <a:t>Trường hợp sử dụng đối số trong main method thì phải miểu tả sao cho sau khi xác nhận việc tồn tại giá trị đã được chỉ định khi thực hiện thì sẽ access vào phần tử của mảng.</a:t>
            </a:r>
          </a:p>
        </p:txBody>
      </p:sp>
      <p:grpSp>
        <p:nvGrpSpPr>
          <p:cNvPr id="429065" name="Group 9">
            <a:extLst>
              <a:ext uri="{FF2B5EF4-FFF2-40B4-BE49-F238E27FC236}">
                <a16:creationId xmlns:a16="http://schemas.microsoft.com/office/drawing/2014/main" id="{8E34BD3C-13B3-A3ED-E1C4-7822882490B3}"/>
              </a:ext>
            </a:extLst>
          </p:cNvPr>
          <p:cNvGrpSpPr>
            <a:grpSpLocks/>
          </p:cNvGrpSpPr>
          <p:nvPr/>
        </p:nvGrpSpPr>
        <p:grpSpPr bwMode="auto">
          <a:xfrm>
            <a:off x="717550" y="2725738"/>
            <a:ext cx="5703888" cy="301625"/>
            <a:chOff x="351" y="1572"/>
            <a:chExt cx="4968" cy="205"/>
          </a:xfrm>
        </p:grpSpPr>
        <p:pic>
          <p:nvPicPr>
            <p:cNvPr id="429066" name="Picture 10">
              <a:extLst>
                <a:ext uri="{FF2B5EF4-FFF2-40B4-BE49-F238E27FC236}">
                  <a16:creationId xmlns:a16="http://schemas.microsoft.com/office/drawing/2014/main" id="{AC3AA356-DB8D-62E1-2985-34A7A610ED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429067" name="Text Box 11">
              <a:extLst>
                <a:ext uri="{FF2B5EF4-FFF2-40B4-BE49-F238E27FC236}">
                  <a16:creationId xmlns:a16="http://schemas.microsoft.com/office/drawing/2014/main" id="{F73727DA-169D-4AC9-1AF9-A46685F17F31}"/>
                </a:ext>
              </a:extLst>
            </p:cNvPr>
            <p:cNvSpPr txBox="1">
              <a:spLocks noChangeArrowheads="1"/>
            </p:cNvSpPr>
            <p:nvPr/>
          </p:nvSpPr>
          <p:spPr bwMode="auto">
            <a:xfrm>
              <a:off x="517" y="1598"/>
              <a:ext cx="505" cy="1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41" tIns="47720" rIns="95441" bIns="47720">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rPr>
                <a:t>Chú ý</a:t>
              </a:r>
            </a:p>
          </p:txBody>
        </p:sp>
      </p:grpSp>
      <p:sp>
        <p:nvSpPr>
          <p:cNvPr id="429068" name="Text Box 12">
            <a:extLst>
              <a:ext uri="{FF2B5EF4-FFF2-40B4-BE49-F238E27FC236}">
                <a16:creationId xmlns:a16="http://schemas.microsoft.com/office/drawing/2014/main" id="{4EB5A214-1D34-E6CE-99B1-D007ABBC0CEC}"/>
              </a:ext>
            </a:extLst>
          </p:cNvPr>
          <p:cNvSpPr txBox="1">
            <a:spLocks noChangeArrowheads="1"/>
          </p:cNvSpPr>
          <p:nvPr/>
        </p:nvSpPr>
        <p:spPr bwMode="auto">
          <a:xfrm>
            <a:off x="777875" y="7329488"/>
            <a:ext cx="5643563" cy="149701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Aft>
                <a:spcPct val="50000"/>
              </a:spcAft>
            </a:pP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Trường hợp số lượng giá trị đã chỉ định khác 2</a:t>
            </a:r>
            <a:r>
              <a:rPr lang="ja-JP" altLang="en-US"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Ví dụ</a:t>
            </a:r>
          </a:p>
          <a:p>
            <a:pPr lvl="1" algn="just">
              <a:spcAft>
                <a:spcPct val="50000"/>
              </a:spcAft>
            </a:pPr>
            <a:r>
              <a:rPr lang="en-US" altLang="ja-JP" b="0">
                <a:ea typeface="ＭＳ ゴシック" panose="020B0609070205080204" pitchFamily="49" charset="-128"/>
              </a:rPr>
              <a:t>Phương pháp sử dụng</a:t>
            </a:r>
            <a:r>
              <a:rPr lang="ja-JP" altLang="ja-JP" b="0">
                <a:latin typeface="ＭＳ ゴシック" panose="020B0609070205080204" pitchFamily="49" charset="-128"/>
                <a:ea typeface="ＭＳ ゴシック" panose="020B0609070205080204" pitchFamily="49" charset="-128"/>
              </a:rPr>
              <a:t>：java Main01 値１</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giá trị 1)</a:t>
            </a:r>
            <a:r>
              <a:rPr lang="ja-JP" altLang="ja-JP" b="0">
                <a:latin typeface="ＭＳ ゴシック" panose="020B0609070205080204" pitchFamily="49" charset="-128"/>
                <a:ea typeface="ＭＳ ゴシック" panose="020B0609070205080204" pitchFamily="49" charset="-128"/>
              </a:rPr>
              <a:t> 値２</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giá trị 2)</a:t>
            </a:r>
            <a:endParaRPr lang="ja-JP" altLang="ja-JP" b="0">
              <a:ea typeface="ＭＳ ゴシック" panose="020B0609070205080204" pitchFamily="49" charset="-128"/>
            </a:endParaRPr>
          </a:p>
          <a:p>
            <a:pPr lvl="1" algn="just">
              <a:spcAft>
                <a:spcPct val="50000"/>
              </a:spcAft>
            </a:pPr>
            <a:endParaRPr lang="ja-JP" altLang="ja-JP" b="0">
              <a:latin typeface="ＭＳ ゴシック" panose="020B0609070205080204" pitchFamily="49" charset="-128"/>
              <a:ea typeface="ＭＳ ゴシック" panose="020B0609070205080204" pitchFamily="49" charset="-128"/>
            </a:endParaRPr>
          </a:p>
          <a:p>
            <a:pPr lvl="1" algn="just">
              <a:spcAft>
                <a:spcPct val="50000"/>
              </a:spcAft>
            </a:pP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Trường hợp số lượng giá trị đã chi định là 2</a:t>
            </a:r>
            <a:r>
              <a:rPr lang="ja-JP" altLang="en-US"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Ví dụ</a:t>
            </a:r>
            <a:r>
              <a:rPr lang="ja-JP" altLang="en-US" b="0">
                <a:latin typeface="ＭＳ ゴシック" panose="020B0609070205080204" pitchFamily="49" charset="-128"/>
                <a:ea typeface="ＭＳ ゴシック" panose="020B0609070205080204" pitchFamily="49" charset="-128"/>
              </a:rPr>
              <a:t>：</a:t>
            </a:r>
            <a:r>
              <a:rPr lang="ja-JP" altLang="ja-JP" b="0">
                <a:latin typeface="ＭＳ ゴシック" panose="020B0609070205080204" pitchFamily="49" charset="-128"/>
                <a:ea typeface="ＭＳ ゴシック" panose="020B0609070205080204" pitchFamily="49" charset="-128"/>
              </a:rPr>
              <a:t> java  Main01  Hello  Hi ）</a:t>
            </a:r>
          </a:p>
          <a:p>
            <a:pPr lvl="1" algn="just">
              <a:spcAft>
                <a:spcPct val="50000"/>
              </a:spcAft>
            </a:pPr>
            <a:r>
              <a:rPr lang="ja-JP" altLang="ja-JP" b="0">
                <a:latin typeface="ＭＳ ゴシック" panose="020B0609070205080204" pitchFamily="49" charset="-128"/>
                <a:ea typeface="ＭＳ ゴシック" panose="020B0609070205080204" pitchFamily="49" charset="-128"/>
              </a:rPr>
              <a:t>args[0]:Hello</a:t>
            </a:r>
          </a:p>
          <a:p>
            <a:pPr lvl="1" algn="just">
              <a:spcAft>
                <a:spcPct val="50000"/>
              </a:spcAft>
            </a:pPr>
            <a:r>
              <a:rPr lang="ja-JP" altLang="ja-JP" b="0">
                <a:latin typeface="ＭＳ ゴシック" panose="020B0609070205080204" pitchFamily="49" charset="-128"/>
                <a:ea typeface="ＭＳ ゴシック" panose="020B0609070205080204" pitchFamily="49" charset="-128"/>
              </a:rPr>
              <a:t>args[1]:Hi</a:t>
            </a:r>
          </a:p>
        </p:txBody>
      </p:sp>
      <p:sp>
        <p:nvSpPr>
          <p:cNvPr id="429069" name="Rectangle 13">
            <a:extLst>
              <a:ext uri="{FF2B5EF4-FFF2-40B4-BE49-F238E27FC236}">
                <a16:creationId xmlns:a16="http://schemas.microsoft.com/office/drawing/2014/main" id="{0C3E0298-0BBC-9297-734D-1712F80E3286}"/>
              </a:ext>
            </a:extLst>
          </p:cNvPr>
          <p:cNvSpPr>
            <a:spLocks noChangeArrowheads="1"/>
          </p:cNvSpPr>
          <p:nvPr/>
        </p:nvSpPr>
        <p:spPr bwMode="auto">
          <a:xfrm>
            <a:off x="919163" y="7504113"/>
            <a:ext cx="4486275" cy="28575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429070" name="Rectangle 14">
            <a:extLst>
              <a:ext uri="{FF2B5EF4-FFF2-40B4-BE49-F238E27FC236}">
                <a16:creationId xmlns:a16="http://schemas.microsoft.com/office/drawing/2014/main" id="{94884DCD-0845-3D61-9602-FE0DBDBDF918}"/>
              </a:ext>
            </a:extLst>
          </p:cNvPr>
          <p:cNvSpPr>
            <a:spLocks noChangeArrowheads="1"/>
          </p:cNvSpPr>
          <p:nvPr/>
        </p:nvSpPr>
        <p:spPr bwMode="auto">
          <a:xfrm>
            <a:off x="876300" y="8228013"/>
            <a:ext cx="2630488" cy="46672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7971" name="AutoShape 3">
            <a:extLst>
              <a:ext uri="{FF2B5EF4-FFF2-40B4-BE49-F238E27FC236}">
                <a16:creationId xmlns:a16="http://schemas.microsoft.com/office/drawing/2014/main" id="{983B0C19-C5BF-1DB8-6FC9-B7537919BF20}"/>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r>
              <a:rPr lang="en-US" altLang="ja-JP" sz="1300">
                <a:ea typeface="MS UI Gothic" panose="020B0600070205080204" pitchFamily="50" charset="-128"/>
              </a:rPr>
              <a:t>Về error khi thực hiện</a:t>
            </a: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Nếu không xác nhận việc đối số có được chỉ định ở command line hay không mà lại định sử dụng giá trị của args[0] và args[1] thì khi thực hiện sẽ bị error.</a:t>
            </a:r>
            <a:r>
              <a:rPr lang="ja-JP" altLang="en-US" b="0">
                <a:ea typeface="MS UI Gothic" panose="020B0600070205080204" pitchFamily="50" charset="-128"/>
              </a:rPr>
              <a:t>（</a:t>
            </a:r>
            <a:r>
              <a:rPr lang="en-US" altLang="ja-JP" b="0">
                <a:ea typeface="MS UI Gothic" panose="020B0600070205080204" pitchFamily="50" charset="-128"/>
              </a:rPr>
              <a:t>error do chỉ định phần tử không tồn tại của mảng phát sinh</a:t>
            </a:r>
            <a:r>
              <a:rPr lang="ja-JP" altLang="en-US" b="0">
                <a:ea typeface="MS UI Gothic" panose="020B0600070205080204" pitchFamily="50" charset="-128"/>
              </a:rPr>
              <a:t>）</a:t>
            </a:r>
            <a:r>
              <a:rPr lang="en-US" altLang="ja-JP" b="0">
                <a:ea typeface="MS UI Gothic" panose="020B0600070205080204" pitchFamily="50" charset="-128"/>
              </a:rPr>
              <a:t>.</a:t>
            </a:r>
          </a:p>
          <a:p>
            <a:r>
              <a:rPr lang="ja-JP" altLang="en-US" b="0">
                <a:ea typeface="MS UI Gothic" panose="020B0600070205080204" pitchFamily="50" charset="-128"/>
              </a:rPr>
              <a:t>　</a:t>
            </a:r>
            <a:r>
              <a:rPr lang="en-US" altLang="ja-JP" b="0">
                <a:ea typeface="MS UI Gothic" panose="020B0600070205080204" pitchFamily="50" charset="-128"/>
              </a:rPr>
              <a:t>Về việc xử lý khi phát sinh error lúc thực hiện sẽ học ở chương 7.</a:t>
            </a: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Ví dụ program</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Ví dụ thực hiện</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Tham khảo</a:t>
            </a:r>
            <a:r>
              <a:rPr lang="ja-JP" altLang="en-US" b="0">
                <a:ea typeface="MS UI Gothic" panose="020B0600070205080204" pitchFamily="50" charset="-128"/>
              </a:rPr>
              <a:t>）　</a:t>
            </a:r>
            <a:r>
              <a:rPr lang="en-US" altLang="ja-JP" b="0">
                <a:ea typeface="ＭＳ ゴシック" panose="020B0609070205080204" pitchFamily="49" charset="-128"/>
              </a:rPr>
              <a:t>java.lang.ArrayIndexOutOfBoundsException: 0</a:t>
            </a:r>
          </a:p>
          <a:p>
            <a:r>
              <a:rPr lang="ja-JP" altLang="en-US" b="0">
                <a:ea typeface="MS UI Gothic" panose="020B0600070205080204" pitchFamily="50" charset="-128"/>
              </a:rPr>
              <a:t>　　　　　　　　→　</a:t>
            </a:r>
            <a:r>
              <a:rPr lang="en-US" altLang="ja-JP" b="0">
                <a:ea typeface="MS UI Gothic" panose="020B0600070205080204" pitchFamily="50" charset="-128"/>
              </a:rPr>
              <a:t>error do không tồn tại phần tử của mảng của index đã chỉ định</a:t>
            </a:r>
            <a:r>
              <a:rPr lang="ja-JP" altLang="en-US" b="0">
                <a:ea typeface="MS UI Gothic" panose="020B0600070205080204" pitchFamily="50" charset="-128"/>
              </a:rPr>
              <a:t>（</a:t>
            </a:r>
            <a:r>
              <a:rPr lang="en-US" altLang="ja-JP" b="0">
                <a:ea typeface="MS UI Gothic" panose="020B0600070205080204" pitchFamily="50" charset="-128"/>
              </a:rPr>
              <a:t>0</a:t>
            </a:r>
            <a:r>
              <a:rPr lang="ja-JP" altLang="en-US" b="0">
                <a:ea typeface="MS UI Gothic" panose="020B0600070205080204" pitchFamily="50" charset="-128"/>
              </a:rPr>
              <a:t>）</a:t>
            </a:r>
          </a:p>
          <a:p>
            <a:endParaRPr lang="en-US" altLang="ja-JP" b="0">
              <a:ea typeface="MS UI Gothic" panose="020B0600070205080204" pitchFamily="50" charset="-128"/>
            </a:endParaRPr>
          </a:p>
        </p:txBody>
      </p:sp>
      <p:sp>
        <p:nvSpPr>
          <p:cNvPr id="467972" name="AutoShape 4">
            <a:extLst>
              <a:ext uri="{FF2B5EF4-FFF2-40B4-BE49-F238E27FC236}">
                <a16:creationId xmlns:a16="http://schemas.microsoft.com/office/drawing/2014/main" id="{B03CE0ED-215E-5FAF-E5FD-FFEE6BA7C2FD}"/>
              </a:ext>
            </a:extLst>
          </p:cNvPr>
          <p:cNvSpPr>
            <a:spLocks noChangeArrowheads="1"/>
          </p:cNvSpPr>
          <p:nvPr/>
        </p:nvSpPr>
        <p:spPr bwMode="auto">
          <a:xfrm>
            <a:off x="603250" y="442913"/>
            <a:ext cx="11176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COLUMN</a:t>
            </a:r>
          </a:p>
        </p:txBody>
      </p:sp>
      <p:sp>
        <p:nvSpPr>
          <p:cNvPr id="467973" name="Text Box 5">
            <a:extLst>
              <a:ext uri="{FF2B5EF4-FFF2-40B4-BE49-F238E27FC236}">
                <a16:creationId xmlns:a16="http://schemas.microsoft.com/office/drawing/2014/main" id="{FB47070F-DD8A-9DEF-F344-7AE08BB312C9}"/>
              </a:ext>
            </a:extLst>
          </p:cNvPr>
          <p:cNvSpPr txBox="1">
            <a:spLocks noChangeArrowheads="1"/>
          </p:cNvSpPr>
          <p:nvPr/>
        </p:nvSpPr>
        <p:spPr bwMode="auto">
          <a:xfrm>
            <a:off x="695325" y="2071688"/>
            <a:ext cx="5692775" cy="15240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42900" indent="-342900" defTabSz="447675">
              <a:defRPr kumimoji="1">
                <a:solidFill>
                  <a:schemeClr val="tx1"/>
                </a:solidFill>
                <a:latin typeface="Arial" panose="020B0604020202020204" pitchFamily="34" charset="0"/>
                <a:ea typeface="ＭＳ Ｐゴシック" panose="020B0600070205080204" pitchFamily="50" charset="-128"/>
              </a:defRPr>
            </a:lvl1pPr>
            <a:lvl2pPr marL="522288" indent="-342900" defTabSz="447675">
              <a:defRPr kumimoji="1">
                <a:solidFill>
                  <a:schemeClr val="tx1"/>
                </a:solidFill>
                <a:latin typeface="Arial" panose="020B0604020202020204" pitchFamily="34" charset="0"/>
                <a:ea typeface="ＭＳ Ｐゴシック" panose="020B0600070205080204" pitchFamily="50" charset="-128"/>
              </a:defRPr>
            </a:lvl2pPr>
            <a:lvl3pPr marL="1293813" indent="-339725" defTabSz="447675">
              <a:defRPr kumimoji="1">
                <a:solidFill>
                  <a:schemeClr val="tx1"/>
                </a:solidFill>
                <a:latin typeface="Arial" panose="020B0604020202020204" pitchFamily="34" charset="0"/>
                <a:ea typeface="ＭＳ Ｐゴシック" panose="020B0600070205080204" pitchFamily="50" charset="-128"/>
              </a:defRPr>
            </a:lvl3pPr>
            <a:lvl4pPr marL="1774825" indent="-342900" defTabSz="447675">
              <a:defRPr kumimoji="1">
                <a:solidFill>
                  <a:schemeClr val="tx1"/>
                </a:solidFill>
                <a:latin typeface="Arial" panose="020B0604020202020204" pitchFamily="34" charset="0"/>
                <a:ea typeface="ＭＳ Ｐゴシック" panose="020B0600070205080204" pitchFamily="50" charset="-128"/>
              </a:defRPr>
            </a:lvl4pPr>
            <a:lvl5pPr marL="2252663" indent="-342900" defTabSz="447675">
              <a:defRPr kumimoji="1">
                <a:solidFill>
                  <a:schemeClr val="tx1"/>
                </a:solidFill>
                <a:latin typeface="Arial" panose="020B0604020202020204" pitchFamily="34" charset="0"/>
                <a:ea typeface="ＭＳ Ｐゴシック" panose="020B0600070205080204" pitchFamily="50" charset="-128"/>
              </a:defRPr>
            </a:lvl5pPr>
            <a:lvl6pPr marL="27098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1.	public class Main01b {</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2.	    public static void main(String[] args) {</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3.	        System.out.println("args[0]:" + args[0]);</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4.	        System.out.println("args[1]:" + args[1]);</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5.	    }</a:t>
            </a:r>
          </a:p>
          <a:p>
            <a:pPr lvl="1" algn="just">
              <a:spcBef>
                <a:spcPct val="10000"/>
              </a:spcBef>
              <a:spcAft>
                <a:spcPct val="50000"/>
              </a:spcAft>
            </a:pPr>
            <a:r>
              <a:rPr lang="ja-JP" altLang="ja-JP" b="0">
                <a:latin typeface="ＭＳ ゴシック" panose="020B0609070205080204" pitchFamily="49" charset="-128"/>
                <a:ea typeface="ＭＳ ゴシック" panose="020B0609070205080204" pitchFamily="49" charset="-128"/>
              </a:rPr>
              <a:t>6.	}</a:t>
            </a:r>
          </a:p>
        </p:txBody>
      </p:sp>
      <p:sp>
        <p:nvSpPr>
          <p:cNvPr id="467974" name="Rectangle 6">
            <a:extLst>
              <a:ext uri="{FF2B5EF4-FFF2-40B4-BE49-F238E27FC236}">
                <a16:creationId xmlns:a16="http://schemas.microsoft.com/office/drawing/2014/main" id="{F7E583B5-6F7D-CED0-006A-8CDB9DA438C1}"/>
              </a:ext>
            </a:extLst>
          </p:cNvPr>
          <p:cNvSpPr>
            <a:spLocks noChangeArrowheads="1"/>
          </p:cNvSpPr>
          <p:nvPr/>
        </p:nvSpPr>
        <p:spPr bwMode="auto">
          <a:xfrm>
            <a:off x="1649413" y="2560638"/>
            <a:ext cx="3308350" cy="458787"/>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467977" name="Text Box 9">
            <a:extLst>
              <a:ext uri="{FF2B5EF4-FFF2-40B4-BE49-F238E27FC236}">
                <a16:creationId xmlns:a16="http://schemas.microsoft.com/office/drawing/2014/main" id="{432DBEC8-2F3A-6FFE-EBCE-C25B148F2571}"/>
              </a:ext>
            </a:extLst>
          </p:cNvPr>
          <p:cNvSpPr txBox="1">
            <a:spLocks noChangeArrowheads="1"/>
          </p:cNvSpPr>
          <p:nvPr/>
        </p:nvSpPr>
        <p:spPr bwMode="auto">
          <a:xfrm>
            <a:off x="679450" y="4359275"/>
            <a:ext cx="5741988" cy="17113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Aft>
                <a:spcPct val="50000"/>
              </a:spcAft>
            </a:pP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Trường hợp không có giá trị đã chỉ định</a:t>
            </a:r>
            <a:r>
              <a:rPr lang="ja-JP" altLang="en-US"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ví dụ</a:t>
            </a:r>
            <a:r>
              <a:rPr lang="ja-JP" altLang="en-US" b="0">
                <a:latin typeface="ＭＳ ゴシック" panose="020B0609070205080204" pitchFamily="49" charset="-128"/>
                <a:ea typeface="ＭＳ ゴシック" panose="020B0609070205080204" pitchFamily="49" charset="-128"/>
              </a:rPr>
              <a:t>：</a:t>
            </a:r>
            <a:r>
              <a:rPr lang="ja-JP" altLang="ja-JP" b="0">
                <a:latin typeface="ＭＳ ゴシック" panose="020B0609070205080204" pitchFamily="49" charset="-128"/>
                <a:ea typeface="ＭＳ ゴシック" panose="020B0609070205080204" pitchFamily="49" charset="-128"/>
              </a:rPr>
              <a:t> java  Main01b　）</a:t>
            </a:r>
          </a:p>
          <a:p>
            <a:pPr lvl="1" algn="just">
              <a:spcAft>
                <a:spcPct val="50000"/>
              </a:spcAft>
            </a:pPr>
            <a:r>
              <a:rPr lang="en-US" altLang="ja-JP" b="0">
                <a:latin typeface="ＭＳ ゴシック" panose="020B0609070205080204" pitchFamily="49" charset="-128"/>
                <a:ea typeface="ＭＳ ゴシック" panose="020B0609070205080204" pitchFamily="49" charset="-128"/>
              </a:rPr>
              <a:t>Exception in thread "main" java.lang.ArrayIndexOutOfBoundsException: 0</a:t>
            </a:r>
          </a:p>
          <a:p>
            <a:pPr lvl="1" algn="just">
              <a:spcAft>
                <a:spcPct val="50000"/>
              </a:spcAft>
            </a:pPr>
            <a:r>
              <a:rPr lang="en-US" altLang="ja-JP" b="0">
                <a:latin typeface="ＭＳ ゴシック" panose="020B0609070205080204" pitchFamily="49" charset="-128"/>
                <a:ea typeface="ＭＳ ゴシック" panose="020B0609070205080204" pitchFamily="49" charset="-128"/>
              </a:rPr>
              <a:t>        at Main01b.main(Main01b.java:3)</a:t>
            </a:r>
            <a:endParaRPr lang="ja-JP" altLang="ja-JP" b="0">
              <a:latin typeface="ＭＳ ゴシック" panose="020B0609070205080204" pitchFamily="49" charset="-128"/>
              <a:ea typeface="ＭＳ ゴシック" panose="020B0609070205080204" pitchFamily="49" charset="-128"/>
            </a:endParaRPr>
          </a:p>
          <a:p>
            <a:pPr lvl="1" algn="just">
              <a:spcAft>
                <a:spcPct val="50000"/>
              </a:spcAft>
            </a:pPr>
            <a:endParaRPr lang="ja-JP" altLang="ja-JP" b="0">
              <a:latin typeface="ＭＳ ゴシック" panose="020B0609070205080204" pitchFamily="49" charset="-128"/>
              <a:ea typeface="ＭＳ ゴシック" panose="020B0609070205080204" pitchFamily="49" charset="-128"/>
            </a:endParaRPr>
          </a:p>
          <a:p>
            <a:pPr lvl="1" algn="just">
              <a:spcAft>
                <a:spcPct val="50000"/>
              </a:spcAft>
            </a:pP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Trường hợp có 2 giá trị đã chỉ định</a:t>
            </a:r>
            <a:r>
              <a:rPr lang="ja-JP" altLang="en-US"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ví dụ</a:t>
            </a:r>
            <a:r>
              <a:rPr lang="ja-JP" altLang="en-US" b="0">
                <a:latin typeface="ＭＳ ゴシック" panose="020B0609070205080204" pitchFamily="49" charset="-128"/>
                <a:ea typeface="ＭＳ ゴシック" panose="020B0609070205080204" pitchFamily="49" charset="-128"/>
              </a:rPr>
              <a:t>：</a:t>
            </a:r>
            <a:r>
              <a:rPr lang="ja-JP" altLang="ja-JP" b="0">
                <a:latin typeface="ＭＳ ゴシック" panose="020B0609070205080204" pitchFamily="49" charset="-128"/>
                <a:ea typeface="ＭＳ ゴシック" panose="020B0609070205080204" pitchFamily="49" charset="-128"/>
              </a:rPr>
              <a:t> java  Main01b  Hello  Hi ）</a:t>
            </a:r>
          </a:p>
          <a:p>
            <a:pPr lvl="1" algn="just">
              <a:spcAft>
                <a:spcPct val="50000"/>
              </a:spcAft>
            </a:pPr>
            <a:r>
              <a:rPr lang="ja-JP" altLang="ja-JP" b="0">
                <a:latin typeface="ＭＳ ゴシック" panose="020B0609070205080204" pitchFamily="49" charset="-128"/>
                <a:ea typeface="ＭＳ ゴシック" panose="020B0609070205080204" pitchFamily="49" charset="-128"/>
              </a:rPr>
              <a:t>args[0]:Hello</a:t>
            </a:r>
          </a:p>
          <a:p>
            <a:pPr lvl="1" algn="just">
              <a:spcAft>
                <a:spcPct val="50000"/>
              </a:spcAft>
            </a:pPr>
            <a:r>
              <a:rPr lang="ja-JP" altLang="ja-JP" b="0">
                <a:latin typeface="ＭＳ ゴシック" panose="020B0609070205080204" pitchFamily="49" charset="-128"/>
                <a:ea typeface="ＭＳ ゴシック" panose="020B0609070205080204" pitchFamily="49" charset="-128"/>
              </a:rPr>
              <a:t>args[1]:Hi</a:t>
            </a:r>
          </a:p>
        </p:txBody>
      </p:sp>
      <p:sp>
        <p:nvSpPr>
          <p:cNvPr id="467978" name="Rectangle 10">
            <a:extLst>
              <a:ext uri="{FF2B5EF4-FFF2-40B4-BE49-F238E27FC236}">
                <a16:creationId xmlns:a16="http://schemas.microsoft.com/office/drawing/2014/main" id="{0DB5F714-4F7E-072B-8CEB-2B2E0E20D5A8}"/>
              </a:ext>
            </a:extLst>
          </p:cNvPr>
          <p:cNvSpPr>
            <a:spLocks noChangeArrowheads="1"/>
          </p:cNvSpPr>
          <p:nvPr/>
        </p:nvSpPr>
        <p:spPr bwMode="auto">
          <a:xfrm>
            <a:off x="820738" y="4573588"/>
            <a:ext cx="4824412" cy="446087"/>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467979" name="Rectangle 11">
            <a:extLst>
              <a:ext uri="{FF2B5EF4-FFF2-40B4-BE49-F238E27FC236}">
                <a16:creationId xmlns:a16="http://schemas.microsoft.com/office/drawing/2014/main" id="{FE1C8781-D624-12ED-3729-B4B2DC95BF1A}"/>
              </a:ext>
            </a:extLst>
          </p:cNvPr>
          <p:cNvSpPr>
            <a:spLocks noChangeArrowheads="1"/>
          </p:cNvSpPr>
          <p:nvPr/>
        </p:nvSpPr>
        <p:spPr bwMode="auto">
          <a:xfrm>
            <a:off x="820738" y="5472113"/>
            <a:ext cx="4819650" cy="44450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467980" name="AutoShape 12">
            <a:extLst>
              <a:ext uri="{FF2B5EF4-FFF2-40B4-BE49-F238E27FC236}">
                <a16:creationId xmlns:a16="http://schemas.microsoft.com/office/drawing/2014/main" id="{29DB043E-E8F7-37EB-EE93-56CA2FA98A64}"/>
              </a:ext>
            </a:extLst>
          </p:cNvPr>
          <p:cNvSpPr>
            <a:spLocks noChangeArrowheads="1"/>
          </p:cNvSpPr>
          <p:nvPr/>
        </p:nvSpPr>
        <p:spPr bwMode="auto">
          <a:xfrm>
            <a:off x="3306763" y="3282950"/>
            <a:ext cx="2881312" cy="509588"/>
          </a:xfrm>
          <a:prstGeom prst="wedgeRoundRectCallout">
            <a:avLst>
              <a:gd name="adj1" fmla="val -25977"/>
              <a:gd name="adj2" fmla="val -118847"/>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Không điều tra args.length mà access vào phần tử thì có khả năng sẽ bị error khi thực hiện.</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0019" name="AutoShape 3">
            <a:extLst>
              <a:ext uri="{FF2B5EF4-FFF2-40B4-BE49-F238E27FC236}">
                <a16:creationId xmlns:a16="http://schemas.microsoft.com/office/drawing/2014/main" id="{72D81069-FB3D-451B-64BA-44EDA02A7026}"/>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r>
              <a:rPr lang="en-US" altLang="ja-JP" sz="1300">
                <a:ea typeface="MS UI Gothic" panose="020B0600070205080204" pitchFamily="50" charset="-128"/>
              </a:rPr>
              <a:t>Sử dụng giá trị đã nhận từ command line</a:t>
            </a: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Main method sẽ nhận giá trị đã nhận được từ command lien như một mảng String.</a:t>
            </a:r>
          </a:p>
          <a:p>
            <a:r>
              <a:rPr lang="ja-JP" altLang="en-US" b="0">
                <a:ea typeface="MS UI Gothic" panose="020B0600070205080204" pitchFamily="50" charset="-128"/>
              </a:rPr>
              <a:t>　</a:t>
            </a:r>
            <a:r>
              <a:rPr lang="en-US" altLang="ja-JP" b="0">
                <a:ea typeface="MS UI Gothic" panose="020B0600070205080204" pitchFamily="50" charset="-128"/>
              </a:rPr>
              <a:t>Trường hợp muốn sử dụng giá trị đã get như một kiểu data khác ví dụ là giá trị số để tính toán thì cần phải convert kiểu tường minh.</a:t>
            </a:r>
          </a:p>
          <a:p>
            <a:r>
              <a:rPr lang="ja-JP" altLang="en-US" b="0">
                <a:ea typeface="MS UI Gothic" panose="020B0600070205080204" pitchFamily="50" charset="-128"/>
              </a:rPr>
              <a:t>　</a:t>
            </a: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Ví dụ program</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Ví dụ thực hiện</a:t>
            </a:r>
            <a:r>
              <a:rPr lang="ja-JP" altLang="en-US" b="0">
                <a:ea typeface="MS UI Gothic" panose="020B0600070205080204" pitchFamily="50" charset="-128"/>
              </a:rPr>
              <a:t>　（</a:t>
            </a:r>
            <a:r>
              <a:rPr lang="en-US" altLang="ja-JP" b="0">
                <a:ea typeface="MS UI Gothic" panose="020B0600070205080204" pitchFamily="50" charset="-128"/>
              </a:rPr>
              <a:t>về việc xử lý error khi thực hiện sẽ giải thích ở chương 7.</a:t>
            </a:r>
            <a:r>
              <a:rPr lang="ja-JP" altLang="en-US" b="0">
                <a:ea typeface="MS UI Gothic" panose="020B0600070205080204" pitchFamily="50" charset="-128"/>
              </a:rPr>
              <a:t>）</a:t>
            </a: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Tham khảo</a:t>
            </a:r>
            <a:r>
              <a:rPr lang="ja-JP" altLang="en-US" b="0">
                <a:ea typeface="MS UI Gothic" panose="020B0600070205080204" pitchFamily="50" charset="-128"/>
              </a:rPr>
              <a:t>）　</a:t>
            </a:r>
            <a:r>
              <a:rPr lang="en-US" altLang="ja-JP" b="0">
                <a:ea typeface="ＭＳ ゴシック" panose="020B0609070205080204" pitchFamily="49" charset="-128"/>
              </a:rPr>
              <a:t>java.lang.NumberFormatException: For input string: "a"</a:t>
            </a:r>
          </a:p>
          <a:p>
            <a:r>
              <a:rPr lang="ja-JP" altLang="en-US" b="0">
                <a:ea typeface="MS UI Gothic" panose="020B0600070205080204" pitchFamily="50" charset="-128"/>
              </a:rPr>
              <a:t>　　　　　　　　→　</a:t>
            </a:r>
            <a:r>
              <a:rPr lang="en-US" altLang="ja-JP" b="0">
                <a:ea typeface="MS UI Gothic" panose="020B0600070205080204" pitchFamily="50" charset="-128"/>
              </a:rPr>
              <a:t>error là giá trị đã chỉ định</a:t>
            </a:r>
            <a:r>
              <a:rPr lang="ja-JP" altLang="en-US" b="0">
                <a:ea typeface="MS UI Gothic" panose="020B0600070205080204" pitchFamily="50" charset="-128"/>
              </a:rPr>
              <a:t>（</a:t>
            </a:r>
            <a:r>
              <a:rPr lang="en-US" altLang="ja-JP" b="0">
                <a:ea typeface="MS UI Gothic" panose="020B0600070205080204" pitchFamily="50" charset="-128"/>
              </a:rPr>
              <a:t>"a"</a:t>
            </a:r>
            <a:r>
              <a:rPr lang="ja-JP" altLang="en-US" b="0">
                <a:ea typeface="MS UI Gothic" panose="020B0600070205080204" pitchFamily="50" charset="-128"/>
              </a:rPr>
              <a:t>）</a:t>
            </a:r>
            <a:r>
              <a:rPr lang="en-US" altLang="ja-JP" b="0">
                <a:ea typeface="MS UI Gothic" panose="020B0600070205080204" pitchFamily="50" charset="-128"/>
              </a:rPr>
              <a:t>không phải là kiểu của giá trị số của đích convert (giá trị số nguyên)</a:t>
            </a:r>
          </a:p>
          <a:p>
            <a:endParaRPr lang="en-US" altLang="ja-JP" b="0">
              <a:ea typeface="MS UI Gothic" panose="020B0600070205080204" pitchFamily="50" charset="-128"/>
            </a:endParaRPr>
          </a:p>
          <a:p>
            <a:endParaRPr lang="en-US" altLang="ja-JP" b="0">
              <a:ea typeface="MS UI Gothic" panose="020B0600070205080204" pitchFamily="50" charset="-128"/>
            </a:endParaRPr>
          </a:p>
        </p:txBody>
      </p:sp>
      <p:sp>
        <p:nvSpPr>
          <p:cNvPr id="470020" name="AutoShape 4">
            <a:extLst>
              <a:ext uri="{FF2B5EF4-FFF2-40B4-BE49-F238E27FC236}">
                <a16:creationId xmlns:a16="http://schemas.microsoft.com/office/drawing/2014/main" id="{8C03AE10-C217-7122-80D3-C92FACE6A824}"/>
              </a:ext>
            </a:extLst>
          </p:cNvPr>
          <p:cNvSpPr>
            <a:spLocks noChangeArrowheads="1"/>
          </p:cNvSpPr>
          <p:nvPr/>
        </p:nvSpPr>
        <p:spPr bwMode="auto">
          <a:xfrm>
            <a:off x="603250" y="442913"/>
            <a:ext cx="11176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COLUMN</a:t>
            </a:r>
          </a:p>
        </p:txBody>
      </p:sp>
      <p:sp>
        <p:nvSpPr>
          <p:cNvPr id="470021" name="Text Box 5">
            <a:extLst>
              <a:ext uri="{FF2B5EF4-FFF2-40B4-BE49-F238E27FC236}">
                <a16:creationId xmlns:a16="http://schemas.microsoft.com/office/drawing/2014/main" id="{B4978435-3AEC-8A45-14B9-4C644235BBFC}"/>
              </a:ext>
            </a:extLst>
          </p:cNvPr>
          <p:cNvSpPr txBox="1">
            <a:spLocks noChangeArrowheads="1"/>
          </p:cNvSpPr>
          <p:nvPr/>
        </p:nvSpPr>
        <p:spPr bwMode="auto">
          <a:xfrm>
            <a:off x="701675" y="1997075"/>
            <a:ext cx="5705475" cy="38576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42900" indent="-342900" defTabSz="447675">
              <a:defRPr kumimoji="1">
                <a:solidFill>
                  <a:schemeClr val="tx1"/>
                </a:solidFill>
                <a:latin typeface="Arial" panose="020B0604020202020204" pitchFamily="34" charset="0"/>
                <a:ea typeface="ＭＳ Ｐゴシック" panose="020B0600070205080204" pitchFamily="50" charset="-128"/>
              </a:defRPr>
            </a:lvl1pPr>
            <a:lvl2pPr marL="522288" indent="-342900" defTabSz="447675">
              <a:defRPr kumimoji="1">
                <a:solidFill>
                  <a:schemeClr val="tx1"/>
                </a:solidFill>
                <a:latin typeface="Arial" panose="020B0604020202020204" pitchFamily="34" charset="0"/>
                <a:ea typeface="ＭＳ Ｐゴシック" panose="020B0600070205080204" pitchFamily="50" charset="-128"/>
              </a:defRPr>
            </a:lvl2pPr>
            <a:lvl3pPr marL="1293813" indent="-339725" defTabSz="447675">
              <a:defRPr kumimoji="1">
                <a:solidFill>
                  <a:schemeClr val="tx1"/>
                </a:solidFill>
                <a:latin typeface="Arial" panose="020B0604020202020204" pitchFamily="34" charset="0"/>
                <a:ea typeface="ＭＳ Ｐゴシック" panose="020B0600070205080204" pitchFamily="50" charset="-128"/>
              </a:defRPr>
            </a:lvl3pPr>
            <a:lvl4pPr marL="1774825" indent="-342900" defTabSz="447675">
              <a:defRPr kumimoji="1">
                <a:solidFill>
                  <a:schemeClr val="tx1"/>
                </a:solidFill>
                <a:latin typeface="Arial" panose="020B0604020202020204" pitchFamily="34" charset="0"/>
                <a:ea typeface="ＭＳ Ｐゴシック" panose="020B0600070205080204" pitchFamily="50" charset="-128"/>
              </a:defRPr>
            </a:lvl4pPr>
            <a:lvl5pPr marL="2252663" indent="-342900" defTabSz="447675">
              <a:defRPr kumimoji="1">
                <a:solidFill>
                  <a:schemeClr val="tx1"/>
                </a:solidFill>
                <a:latin typeface="Arial" panose="020B0604020202020204" pitchFamily="34" charset="0"/>
                <a:ea typeface="ＭＳ Ｐゴシック" panose="020B0600070205080204" pitchFamily="50" charset="-128"/>
              </a:defRPr>
            </a:lvl5pPr>
            <a:lvl6pPr marL="27098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1.	public class Main02 {</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2.	    public static void main(String[] args) {</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3.	        if (args.length != 2) {</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4.	            System.out.println(“</a:t>
            </a:r>
            <a:r>
              <a:rPr lang="en-US" altLang="ja-JP" b="0">
                <a:ea typeface="ＭＳ ゴシック" panose="020B0609070205080204" pitchFamily="49" charset="-128"/>
              </a:rPr>
              <a:t>Phương pháp sử dụng</a:t>
            </a:r>
            <a:r>
              <a:rPr lang="ja-JP" altLang="ja-JP" b="0">
                <a:latin typeface="ＭＳ ゴシック" panose="020B0609070205080204" pitchFamily="49" charset="-128"/>
                <a:ea typeface="ＭＳ ゴシック" panose="020B0609070205080204" pitchFamily="49" charset="-128"/>
              </a:rPr>
              <a:t>：java Main01 </a:t>
            </a:r>
            <a:r>
              <a:rPr lang="en-US" altLang="ja-JP" b="0">
                <a:ea typeface="ＭＳ ゴシック" panose="020B0609070205080204" pitchFamily="49" charset="-128"/>
              </a:rPr>
              <a:t>Giá trị 1</a:t>
            </a:r>
            <a:r>
              <a:rPr lang="ja-JP"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Giá trị 2</a:t>
            </a:r>
            <a:r>
              <a:rPr lang="ja-JP" altLang="ja-JP" b="0">
                <a:latin typeface="ＭＳ ゴシック" panose="020B0609070205080204" pitchFamily="49" charset="-128"/>
                <a:ea typeface="ＭＳ ゴシック" panose="020B0609070205080204" pitchFamily="49" charset="-128"/>
              </a:rPr>
              <a:t>");</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5.	        } else {</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6.	            System.out.println("args[0]:" + args[0]);</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7.	            System.out.println("args[1]:" + args[1]);</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8.	</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9.	            int val1 = Integer.parseInt(args[0]);　// </a:t>
            </a:r>
            <a:r>
              <a:rPr lang="en-US" altLang="ja-JP" b="0">
                <a:ea typeface="ＭＳ ゴシック" panose="020B0609070205080204" pitchFamily="49" charset="-128"/>
              </a:rPr>
              <a:t>Convert giá trị </a:t>
            </a:r>
            <a:r>
              <a:rPr lang="ja-JP" altLang="ja-JP" b="0">
                <a:ea typeface="ＭＳ ゴシック" panose="020B0609070205080204" pitchFamily="49" charset="-128"/>
              </a:rPr>
              <a:t>String</a:t>
            </a:r>
            <a:r>
              <a:rPr lang="en-US" altLang="ja-JP" b="0">
                <a:ea typeface="ＭＳ ゴシック" panose="020B0609070205080204" pitchFamily="49" charset="-128"/>
              </a:rPr>
              <a:t> thànḥ </a:t>
            </a:r>
            <a:r>
              <a:rPr lang="ja-JP" altLang="ja-JP" b="0">
                <a:ea typeface="ＭＳ ゴシック" panose="020B0609070205080204" pitchFamily="49" charset="-128"/>
              </a:rPr>
              <a:t>int</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10.	            int val2 = Integer.parseInt(args[1]);　// </a:t>
            </a:r>
            <a:r>
              <a:rPr lang="en-US" altLang="ja-JP" b="0">
                <a:ea typeface="ＭＳ ゴシック" panose="020B0609070205080204" pitchFamily="49" charset="-128"/>
              </a:rPr>
              <a:t>Convert giá trị </a:t>
            </a:r>
            <a:r>
              <a:rPr lang="ja-JP" altLang="ja-JP" b="0">
                <a:ea typeface="ＭＳ ゴシック" panose="020B0609070205080204" pitchFamily="49" charset="-128"/>
              </a:rPr>
              <a:t>String</a:t>
            </a:r>
            <a:r>
              <a:rPr lang="en-US" altLang="ja-JP" b="0">
                <a:ea typeface="ＭＳ ゴシック" panose="020B0609070205080204" pitchFamily="49" charset="-128"/>
              </a:rPr>
              <a:t> thành </a:t>
            </a:r>
            <a:r>
              <a:rPr lang="ja-JP" altLang="ja-JP" b="0">
                <a:ea typeface="ＭＳ ゴシック" panose="020B0609070205080204" pitchFamily="49" charset="-128"/>
              </a:rPr>
              <a:t>int</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11.	</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12.	            System.out.println("args[0]+args[1]:" + (val1+val2));</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13.	            System.out.println("args[0]*args[1]:" + (val1*val2));</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14.	        }</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15.	    }</a:t>
            </a:r>
          </a:p>
          <a:p>
            <a:pPr lvl="1" algn="just">
              <a:spcBef>
                <a:spcPct val="10000"/>
              </a:spcBef>
              <a:spcAft>
                <a:spcPct val="30000"/>
              </a:spcAft>
            </a:pPr>
            <a:r>
              <a:rPr lang="ja-JP" altLang="ja-JP" b="0">
                <a:latin typeface="ＭＳ ゴシック" panose="020B0609070205080204" pitchFamily="49" charset="-128"/>
                <a:ea typeface="ＭＳ ゴシック" panose="020B0609070205080204" pitchFamily="49" charset="-128"/>
              </a:rPr>
              <a:t>16.	}</a:t>
            </a:r>
          </a:p>
        </p:txBody>
      </p:sp>
      <p:sp>
        <p:nvSpPr>
          <p:cNvPr id="470023" name="Rectangle 7">
            <a:extLst>
              <a:ext uri="{FF2B5EF4-FFF2-40B4-BE49-F238E27FC236}">
                <a16:creationId xmlns:a16="http://schemas.microsoft.com/office/drawing/2014/main" id="{BE56DEBC-F9D2-6C3B-C054-B306A0CBC3E2}"/>
              </a:ext>
            </a:extLst>
          </p:cNvPr>
          <p:cNvSpPr>
            <a:spLocks noChangeArrowheads="1"/>
          </p:cNvSpPr>
          <p:nvPr/>
        </p:nvSpPr>
        <p:spPr bwMode="auto">
          <a:xfrm>
            <a:off x="1103313" y="3846513"/>
            <a:ext cx="5381625" cy="515937"/>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grpSp>
        <p:nvGrpSpPr>
          <p:cNvPr id="470030" name="Group 14">
            <a:extLst>
              <a:ext uri="{FF2B5EF4-FFF2-40B4-BE49-F238E27FC236}">
                <a16:creationId xmlns:a16="http://schemas.microsoft.com/office/drawing/2014/main" id="{A33C8322-8A3D-0808-CDCC-D56D15DAB36D}"/>
              </a:ext>
            </a:extLst>
          </p:cNvPr>
          <p:cNvGrpSpPr>
            <a:grpSpLocks/>
          </p:cNvGrpSpPr>
          <p:nvPr/>
        </p:nvGrpSpPr>
        <p:grpSpPr bwMode="auto">
          <a:xfrm>
            <a:off x="758825" y="6007100"/>
            <a:ext cx="5662613" cy="2809875"/>
            <a:chOff x="478" y="3752"/>
            <a:chExt cx="3567" cy="1770"/>
          </a:xfrm>
        </p:grpSpPr>
        <p:sp>
          <p:nvSpPr>
            <p:cNvPr id="470026" name="Text Box 10">
              <a:extLst>
                <a:ext uri="{FF2B5EF4-FFF2-40B4-BE49-F238E27FC236}">
                  <a16:creationId xmlns:a16="http://schemas.microsoft.com/office/drawing/2014/main" id="{EB3A88CA-37CF-FA4A-85F2-1000EBC5A5A3}"/>
                </a:ext>
              </a:extLst>
            </p:cNvPr>
            <p:cNvSpPr txBox="1">
              <a:spLocks noChangeArrowheads="1"/>
            </p:cNvSpPr>
            <p:nvPr/>
          </p:nvSpPr>
          <p:spPr bwMode="auto">
            <a:xfrm>
              <a:off x="478" y="3752"/>
              <a:ext cx="3567" cy="177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Aft>
                  <a:spcPct val="30000"/>
                </a:spcAft>
              </a:pP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Trường hợp đã chỉ định giá trị đúng</a:t>
              </a:r>
              <a:r>
                <a:rPr lang="ja-JP" altLang="en-US"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Ví dụ</a:t>
              </a:r>
              <a:r>
                <a:rPr lang="ja-JP" altLang="en-US" b="0">
                  <a:latin typeface="ＭＳ ゴシック" panose="020B0609070205080204" pitchFamily="49" charset="-128"/>
                  <a:ea typeface="ＭＳ ゴシック" panose="020B0609070205080204" pitchFamily="49" charset="-128"/>
                </a:rPr>
                <a:t>：</a:t>
              </a:r>
              <a:r>
                <a:rPr lang="ja-JP" altLang="ja-JP" b="0">
                  <a:latin typeface="ＭＳ ゴシック" panose="020B0609070205080204" pitchFamily="49" charset="-128"/>
                  <a:ea typeface="ＭＳ ゴシック" panose="020B0609070205080204" pitchFamily="49" charset="-128"/>
                </a:rPr>
                <a:t> java  Main02  5  3</a:t>
              </a:r>
              <a:r>
                <a:rPr lang="ja-JP" altLang="ja-JP">
                  <a:latin typeface="ＭＳ ゴシック" panose="020B0609070205080204" pitchFamily="49" charset="-128"/>
                  <a:ea typeface="ＭＳ ゴシック" panose="020B0609070205080204" pitchFamily="49" charset="-128"/>
                </a:rPr>
                <a:t> </a:t>
              </a:r>
              <a:r>
                <a:rPr lang="ja-JP" altLang="ja-JP" b="0">
                  <a:latin typeface="ＭＳ ゴシック" panose="020B0609070205080204" pitchFamily="49" charset="-128"/>
                  <a:ea typeface="ＭＳ ゴシック" panose="020B0609070205080204" pitchFamily="49" charset="-128"/>
                </a:rPr>
                <a:t>）</a:t>
              </a:r>
            </a:p>
            <a:p>
              <a:pPr lvl="1">
                <a:spcAft>
                  <a:spcPct val="30000"/>
                </a:spcAft>
              </a:pPr>
              <a:r>
                <a:rPr lang="ja-JP" altLang="ja-JP" sz="900" b="0">
                  <a:latin typeface="ＭＳ ゴシック" panose="020B0609070205080204" pitchFamily="49" charset="-128"/>
                  <a:ea typeface="ＭＳ ゴシック" panose="020B0609070205080204" pitchFamily="49" charset="-128"/>
                </a:rPr>
                <a:t>args[0]:5</a:t>
              </a:r>
            </a:p>
            <a:p>
              <a:pPr lvl="1">
                <a:spcAft>
                  <a:spcPct val="30000"/>
                </a:spcAft>
              </a:pPr>
              <a:r>
                <a:rPr lang="ja-JP" altLang="ja-JP" sz="900" b="0">
                  <a:latin typeface="ＭＳ ゴシック" panose="020B0609070205080204" pitchFamily="49" charset="-128"/>
                  <a:ea typeface="ＭＳ ゴシック" panose="020B0609070205080204" pitchFamily="49" charset="-128"/>
                </a:rPr>
                <a:t>args[1]:3</a:t>
              </a:r>
            </a:p>
            <a:p>
              <a:pPr lvl="1">
                <a:spcAft>
                  <a:spcPct val="30000"/>
                </a:spcAft>
              </a:pPr>
              <a:r>
                <a:rPr lang="ja-JP" altLang="ja-JP" sz="900" b="0">
                  <a:latin typeface="ＭＳ ゴシック" panose="020B0609070205080204" pitchFamily="49" charset="-128"/>
                  <a:ea typeface="ＭＳ ゴシック" panose="020B0609070205080204" pitchFamily="49" charset="-128"/>
                </a:rPr>
                <a:t>args[0]+args[1]:8</a:t>
              </a:r>
            </a:p>
            <a:p>
              <a:pPr lvl="1">
                <a:spcAft>
                  <a:spcPct val="30000"/>
                </a:spcAft>
              </a:pPr>
              <a:r>
                <a:rPr lang="ja-JP" altLang="ja-JP" sz="900" b="0">
                  <a:latin typeface="ＭＳ ゴシック" panose="020B0609070205080204" pitchFamily="49" charset="-128"/>
                  <a:ea typeface="ＭＳ ゴシック" panose="020B0609070205080204" pitchFamily="49" charset="-128"/>
                </a:rPr>
                <a:t>args[0]*args[1]:15</a:t>
              </a:r>
            </a:p>
            <a:p>
              <a:pPr lvl="1">
                <a:spcAft>
                  <a:spcPct val="30000"/>
                </a:spcAft>
              </a:pPr>
              <a:endParaRPr lang="en-US" altLang="ja-JP" sz="900" b="0">
                <a:latin typeface="ＭＳ ゴシック" panose="020B0609070205080204" pitchFamily="49" charset="-128"/>
                <a:ea typeface="ＭＳ ゴシック" panose="020B0609070205080204" pitchFamily="49" charset="-128"/>
              </a:endParaRPr>
            </a:p>
            <a:p>
              <a:pPr lvl="1">
                <a:spcAft>
                  <a:spcPct val="30000"/>
                </a:spcAft>
              </a:pP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Trường hợp đã chỉ định giá trị không thích hợp</a:t>
              </a:r>
              <a:r>
                <a:rPr lang="ja-JP" altLang="en-US"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Ví dụ</a:t>
              </a:r>
              <a:r>
                <a:rPr lang="ja-JP" altLang="en-US" b="0">
                  <a:latin typeface="ＭＳ ゴシック" panose="020B0609070205080204" pitchFamily="49" charset="-128"/>
                  <a:ea typeface="ＭＳ ゴシック" panose="020B0609070205080204" pitchFamily="49" charset="-128"/>
                </a:rPr>
                <a:t>：</a:t>
              </a:r>
              <a:r>
                <a:rPr lang="ja-JP" altLang="ja-JP" b="0">
                  <a:latin typeface="ＭＳ ゴシック" panose="020B0609070205080204" pitchFamily="49" charset="-128"/>
                  <a:ea typeface="ＭＳ ゴシック" panose="020B0609070205080204" pitchFamily="49" charset="-128"/>
                </a:rPr>
                <a:t> java Main02 a b　）</a:t>
              </a:r>
            </a:p>
            <a:p>
              <a:pPr lvl="1" algn="just">
                <a:spcAft>
                  <a:spcPct val="30000"/>
                </a:spcAft>
              </a:pPr>
              <a:r>
                <a:rPr lang="ja-JP" altLang="ja-JP" sz="900" b="0">
                  <a:latin typeface="ＭＳ ゴシック" panose="020B0609070205080204" pitchFamily="49" charset="-128"/>
                  <a:ea typeface="ＭＳ ゴシック" panose="020B0609070205080204" pitchFamily="49" charset="-128"/>
                </a:rPr>
                <a:t>args[0]:a</a:t>
              </a:r>
            </a:p>
            <a:p>
              <a:pPr lvl="1" algn="just">
                <a:spcAft>
                  <a:spcPct val="30000"/>
                </a:spcAft>
              </a:pPr>
              <a:r>
                <a:rPr lang="ja-JP" altLang="ja-JP" sz="900" b="0">
                  <a:latin typeface="ＭＳ ゴシック" panose="020B0609070205080204" pitchFamily="49" charset="-128"/>
                  <a:ea typeface="ＭＳ ゴシック" panose="020B0609070205080204" pitchFamily="49" charset="-128"/>
                </a:rPr>
                <a:t>args[1]:b</a:t>
              </a:r>
            </a:p>
            <a:p>
              <a:pPr lvl="1" algn="just">
                <a:spcAft>
                  <a:spcPct val="30000"/>
                </a:spcAft>
              </a:pPr>
              <a:r>
                <a:rPr lang="ja-JP" altLang="ja-JP" sz="900" b="0">
                  <a:latin typeface="ＭＳ ゴシック" panose="020B0609070205080204" pitchFamily="49" charset="-128"/>
                  <a:ea typeface="ＭＳ ゴシック" panose="020B0609070205080204" pitchFamily="49" charset="-128"/>
                </a:rPr>
                <a:t>Exception in thread "main" java.lang.NumberFormatException: For input string: "a"</a:t>
              </a:r>
            </a:p>
            <a:p>
              <a:pPr lvl="1" algn="just">
                <a:spcAft>
                  <a:spcPct val="30000"/>
                </a:spcAft>
              </a:pPr>
              <a:r>
                <a:rPr lang="ja-JP" altLang="ja-JP" sz="900" b="0">
                  <a:latin typeface="ＭＳ ゴシック" panose="020B0609070205080204" pitchFamily="49" charset="-128"/>
                  <a:ea typeface="ＭＳ ゴシック" panose="020B0609070205080204" pitchFamily="49" charset="-128"/>
                </a:rPr>
                <a:t>        at java.lang.NumberFormatException.forInputString(NumberFormatException.java:48)</a:t>
              </a:r>
            </a:p>
            <a:p>
              <a:pPr lvl="1" algn="just">
                <a:spcAft>
                  <a:spcPct val="30000"/>
                </a:spcAft>
              </a:pPr>
              <a:r>
                <a:rPr lang="ja-JP" altLang="ja-JP" sz="900" b="0">
                  <a:latin typeface="ＭＳ ゴシック" panose="020B0609070205080204" pitchFamily="49" charset="-128"/>
                  <a:ea typeface="ＭＳ ゴシック" panose="020B0609070205080204" pitchFamily="49" charset="-128"/>
                </a:rPr>
                <a:t>        at java.lang.Integer.parseInt(Integer.java:447)</a:t>
              </a:r>
            </a:p>
            <a:p>
              <a:pPr lvl="1" algn="just">
                <a:spcAft>
                  <a:spcPct val="30000"/>
                </a:spcAft>
              </a:pPr>
              <a:r>
                <a:rPr lang="ja-JP" altLang="ja-JP" sz="900" b="0">
                  <a:latin typeface="ＭＳ ゴシック" panose="020B0609070205080204" pitchFamily="49" charset="-128"/>
                  <a:ea typeface="ＭＳ ゴシック" panose="020B0609070205080204" pitchFamily="49" charset="-128"/>
                </a:rPr>
                <a:t>        at java.lang.Integer.parseInt(Integer.java:497)</a:t>
              </a:r>
            </a:p>
            <a:p>
              <a:pPr lvl="1" algn="just">
                <a:spcAft>
                  <a:spcPct val="30000"/>
                </a:spcAft>
              </a:pPr>
              <a:r>
                <a:rPr lang="ja-JP" altLang="ja-JP" sz="900" b="0">
                  <a:latin typeface="ＭＳ ゴシック" panose="020B0609070205080204" pitchFamily="49" charset="-128"/>
                  <a:ea typeface="ＭＳ ゴシック" panose="020B0609070205080204" pitchFamily="49" charset="-128"/>
                </a:rPr>
                <a:t>        at Main02.main(Main02.java:9)</a:t>
              </a:r>
            </a:p>
          </p:txBody>
        </p:sp>
        <p:sp>
          <p:nvSpPr>
            <p:cNvPr id="470027" name="Rectangle 11">
              <a:extLst>
                <a:ext uri="{FF2B5EF4-FFF2-40B4-BE49-F238E27FC236}">
                  <a16:creationId xmlns:a16="http://schemas.microsoft.com/office/drawing/2014/main" id="{E72E81AE-D3C3-12BA-C6EF-6B37EBAD1775}"/>
                </a:ext>
              </a:extLst>
            </p:cNvPr>
            <p:cNvSpPr>
              <a:spLocks noChangeArrowheads="1"/>
            </p:cNvSpPr>
            <p:nvPr/>
          </p:nvSpPr>
          <p:spPr bwMode="auto">
            <a:xfrm>
              <a:off x="555" y="3904"/>
              <a:ext cx="3377" cy="441"/>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470028" name="Rectangle 12">
              <a:extLst>
                <a:ext uri="{FF2B5EF4-FFF2-40B4-BE49-F238E27FC236}">
                  <a16:creationId xmlns:a16="http://schemas.microsoft.com/office/drawing/2014/main" id="{C85DA1A4-C2D2-ECA6-121F-FF125F7C98F0}"/>
                </a:ext>
              </a:extLst>
            </p:cNvPr>
            <p:cNvSpPr>
              <a:spLocks noChangeArrowheads="1"/>
            </p:cNvSpPr>
            <p:nvPr/>
          </p:nvSpPr>
          <p:spPr bwMode="auto">
            <a:xfrm>
              <a:off x="565" y="4568"/>
              <a:ext cx="3388" cy="83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gr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4466" name="AutoShape 2">
            <a:extLst>
              <a:ext uri="{FF2B5EF4-FFF2-40B4-BE49-F238E27FC236}">
                <a16:creationId xmlns:a16="http://schemas.microsoft.com/office/drawing/2014/main" id="{23E7AE59-565C-0E58-D7E0-C1AA27A74BFA}"/>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endParaRPr lang="ja-JP" altLang="en-US" sz="130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Ở chương này, chúng ta đã học về phương pháp implement những nội dung cơ bản của lập trình hướng đối tượng với ví dụ là Person class</a:t>
            </a:r>
            <a:r>
              <a:rPr lang="en-US" altLang="ja-JP">
                <a:ea typeface="MS UI Gothic" panose="020B0600070205080204" pitchFamily="50" charset="-128"/>
              </a:rPr>
              <a:t> </a:t>
            </a:r>
            <a:r>
              <a:rPr lang="en-US" altLang="ja-JP" b="0">
                <a:ea typeface="MS UI Gothic" panose="020B0600070205080204" pitchFamily="50" charset="-128"/>
              </a:rPr>
              <a:t>như định nghĩa class, sinh object, gọi ra method.v.v... bằng ngôn ngữ Java.</a:t>
            </a: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Định nghĩa class</a:t>
            </a:r>
          </a:p>
          <a:p>
            <a:r>
              <a:rPr lang="ja-JP" altLang="en-US" b="0">
                <a:ea typeface="MS UI Gothic" panose="020B0600070205080204" pitchFamily="50" charset="-128"/>
              </a:rPr>
              <a:t>　  </a:t>
            </a:r>
            <a:r>
              <a:rPr lang="en-US" altLang="ja-JP" b="0">
                <a:ea typeface="MS UI Gothic" panose="020B0600070205080204" pitchFamily="50" charset="-128"/>
              </a:rPr>
              <a:t>Sample02 class</a:t>
            </a:r>
            <a:r>
              <a:rPr lang="ja-JP" altLang="en-US" b="0">
                <a:ea typeface="MS UI Gothic" panose="020B0600070205080204" pitchFamily="50" charset="-128"/>
              </a:rPr>
              <a:t>：</a:t>
            </a:r>
            <a:r>
              <a:rPr lang="en-US" altLang="ja-JP" b="0">
                <a:ea typeface="MS UI Gothic" panose="020B0600070205080204" pitchFamily="50" charset="-128"/>
              </a:rPr>
              <a:t>Sinh object của Person class rồi yêu cầu xử lý.</a:t>
            </a:r>
          </a:p>
          <a:p>
            <a:r>
              <a:rPr lang="ja-JP" altLang="en-US" b="0">
                <a:ea typeface="MS UI Gothic" panose="020B0600070205080204" pitchFamily="50" charset="-128"/>
              </a:rPr>
              <a:t>　　</a:t>
            </a:r>
            <a:r>
              <a:rPr lang="en-US" altLang="ja-JP" b="0">
                <a:ea typeface="MS UI Gothic" panose="020B0600070205080204" pitchFamily="50" charset="-128"/>
              </a:rPr>
              <a:t>Person class</a:t>
            </a:r>
            <a:r>
              <a:rPr lang="ja-JP" altLang="en-US" b="0">
                <a:ea typeface="MS UI Gothic" panose="020B0600070205080204" pitchFamily="50" charset="-128"/>
              </a:rPr>
              <a:t>：</a:t>
            </a:r>
            <a:r>
              <a:rPr lang="en-US" altLang="ja-JP" b="0">
                <a:ea typeface="MS UI Gothic" panose="020B0600070205080204" pitchFamily="50" charset="-128"/>
              </a:rPr>
              <a:t>biểu thị người</a:t>
            </a:r>
          </a:p>
          <a:p>
            <a:r>
              <a:rPr lang="en-US" altLang="ja-JP" b="0">
                <a:ea typeface="MS UI Gothic" panose="020B0600070205080204" pitchFamily="50" charset="-128"/>
              </a:rPr>
              <a:t> </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Đường gạch dưới thể hiện việc nó là static.</a:t>
            </a: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Định nghĩa class</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Định nghĩa thuộc tính</a:t>
            </a:r>
            <a:r>
              <a:rPr lang="ja-JP" altLang="en-US" b="0">
                <a:ea typeface="MS UI Gothic" panose="020B0600070205080204" pitchFamily="50" charset="-128"/>
              </a:rPr>
              <a:t>（</a:t>
            </a:r>
            <a:r>
              <a:rPr lang="en-US" altLang="ja-JP" b="0">
                <a:ea typeface="MS UI Gothic" panose="020B0600070205080204" pitchFamily="50" charset="-128"/>
              </a:rPr>
              <a:t>biến instance</a:t>
            </a:r>
            <a:r>
              <a:rPr lang="ja-JP" altLang="en-US" b="0">
                <a:ea typeface="MS UI Gothic" panose="020B0600070205080204" pitchFamily="50" charset="-128"/>
              </a:rPr>
              <a:t>）</a:t>
            </a: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Ví dụ</a:t>
            </a:r>
            <a:r>
              <a:rPr lang="ja-JP" altLang="en-US" b="0">
                <a:ea typeface="MS UI Gothic" panose="020B0600070205080204" pitchFamily="50" charset="-128"/>
              </a:rPr>
              <a:t>） </a:t>
            </a:r>
            <a:r>
              <a:rPr lang="en-US" altLang="ja-JP" b="0">
                <a:ea typeface="ＭＳ ゴシック" panose="020B0609070205080204" pitchFamily="49" charset="-128"/>
              </a:rPr>
              <a:t>private String lastName;</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Định nghĩa thao tác</a:t>
            </a:r>
            <a:r>
              <a:rPr lang="ja-JP" altLang="en-US" b="0">
                <a:ea typeface="MS UI Gothic" panose="020B0600070205080204" pitchFamily="50" charset="-128"/>
              </a:rPr>
              <a:t>（</a:t>
            </a:r>
            <a:r>
              <a:rPr lang="en-US" altLang="ja-JP" b="0">
                <a:ea typeface="MS UI Gothic" panose="020B0600070205080204" pitchFamily="50" charset="-128"/>
              </a:rPr>
              <a:t>method</a:t>
            </a:r>
            <a:r>
              <a:rPr lang="ja-JP" altLang="en-US" b="0">
                <a:ea typeface="MS UI Gothic" panose="020B0600070205080204" pitchFamily="50" charset="-128"/>
              </a:rPr>
              <a:t>）</a:t>
            </a: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Ví dụ</a:t>
            </a:r>
            <a:r>
              <a:rPr lang="ja-JP" altLang="en-US" b="0">
                <a:ea typeface="MS UI Gothic" panose="020B0600070205080204" pitchFamily="50" charset="-128"/>
              </a:rPr>
              <a:t>）  </a:t>
            </a:r>
            <a:r>
              <a:rPr lang="en-US" altLang="ja-JP" b="0">
                <a:ea typeface="ＭＳ ゴシック" panose="020B0609070205080204" pitchFamily="49" charset="-128"/>
              </a:rPr>
              <a:t>public String getFullName() {</a:t>
            </a:r>
          </a:p>
          <a:p>
            <a:r>
              <a:rPr lang="en-US" altLang="ja-JP" b="0">
                <a:ea typeface="ＭＳ ゴシック" panose="020B0609070205080204" pitchFamily="49" charset="-128"/>
              </a:rPr>
              <a:t>            return (lastName + "  " + firstName);</a:t>
            </a:r>
          </a:p>
          <a:p>
            <a:r>
              <a:rPr lang="en-US" altLang="ja-JP" b="0">
                <a:ea typeface="ＭＳ ゴシック" panose="020B0609070205080204" pitchFamily="49" charset="-128"/>
              </a:rPr>
              <a:t>   </a:t>
            </a:r>
            <a:r>
              <a:rPr lang="ja-JP" altLang="en-US" b="0">
                <a:ea typeface="ＭＳ ゴシック" panose="020B0609070205080204" pitchFamily="49" charset="-128"/>
              </a:rPr>
              <a:t>　　 </a:t>
            </a:r>
            <a:r>
              <a:rPr lang="en-US" altLang="ja-JP" b="0">
                <a:ea typeface="ＭＳ ゴシック" panose="020B0609070205080204" pitchFamily="49" charset="-128"/>
              </a:rPr>
              <a:t>}</a:t>
            </a:r>
          </a:p>
        </p:txBody>
      </p:sp>
      <p:sp>
        <p:nvSpPr>
          <p:cNvPr id="574467" name="AutoShape 3">
            <a:extLst>
              <a:ext uri="{FF2B5EF4-FFF2-40B4-BE49-F238E27FC236}">
                <a16:creationId xmlns:a16="http://schemas.microsoft.com/office/drawing/2014/main" id="{0E4440A8-C241-A02F-54A5-27CBC6408C2E}"/>
              </a:ext>
            </a:extLst>
          </p:cNvPr>
          <p:cNvSpPr>
            <a:spLocks noChangeArrowheads="1"/>
          </p:cNvSpPr>
          <p:nvPr/>
        </p:nvSpPr>
        <p:spPr bwMode="auto">
          <a:xfrm>
            <a:off x="603250" y="442913"/>
            <a:ext cx="14605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Tóm tắt (1)</a:t>
            </a:r>
          </a:p>
        </p:txBody>
      </p:sp>
      <p:grpSp>
        <p:nvGrpSpPr>
          <p:cNvPr id="574468" name="Group 4">
            <a:extLst>
              <a:ext uri="{FF2B5EF4-FFF2-40B4-BE49-F238E27FC236}">
                <a16:creationId xmlns:a16="http://schemas.microsoft.com/office/drawing/2014/main" id="{5DFA4E5C-2640-2973-2018-9D86C260B237}"/>
              </a:ext>
            </a:extLst>
          </p:cNvPr>
          <p:cNvGrpSpPr>
            <a:grpSpLocks/>
          </p:cNvGrpSpPr>
          <p:nvPr/>
        </p:nvGrpSpPr>
        <p:grpSpPr bwMode="auto">
          <a:xfrm>
            <a:off x="798513" y="2139950"/>
            <a:ext cx="1862137" cy="2309813"/>
            <a:chOff x="479" y="1286"/>
            <a:chExt cx="1173" cy="1413"/>
          </a:xfrm>
        </p:grpSpPr>
        <p:sp>
          <p:nvSpPr>
            <p:cNvPr id="574469" name="Text Box 5">
              <a:extLst>
                <a:ext uri="{FF2B5EF4-FFF2-40B4-BE49-F238E27FC236}">
                  <a16:creationId xmlns:a16="http://schemas.microsoft.com/office/drawing/2014/main" id="{DDAC53FF-55F4-CF3E-CB85-647CC0101C64}"/>
                </a:ext>
              </a:extLst>
            </p:cNvPr>
            <p:cNvSpPr txBox="1">
              <a:spLocks noChangeArrowheads="1"/>
            </p:cNvSpPr>
            <p:nvPr/>
          </p:nvSpPr>
          <p:spPr bwMode="auto">
            <a:xfrm>
              <a:off x="479" y="1286"/>
              <a:ext cx="1173" cy="1413"/>
            </a:xfrm>
            <a:prstGeom prst="rect">
              <a:avLst/>
            </a:prstGeom>
            <a:solidFill>
              <a:srgbClr val="FFFFCC"/>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a:latin typeface="ＭＳ ゴシック" panose="020B0609070205080204" pitchFamily="49" charset="-128"/>
                  <a:ea typeface="ＭＳ ゴシック" panose="020B0609070205080204" pitchFamily="49" charset="-128"/>
                </a:rPr>
                <a:t>Sample02</a:t>
              </a:r>
            </a:p>
            <a:p>
              <a:pPr algn="just"/>
              <a:endParaRPr lang="en-US" altLang="ja-JP" b="0">
                <a:latin typeface="ＭＳ ゴシック" panose="020B0609070205080204" pitchFamily="49" charset="-128"/>
                <a:ea typeface="ＭＳ ゴシック" panose="020B0609070205080204" pitchFamily="49" charset="-128"/>
              </a:endParaRPr>
            </a:p>
            <a:p>
              <a:pPr algn="just">
                <a:spcBef>
                  <a:spcPct val="20000"/>
                </a:spcBef>
              </a:pPr>
              <a:r>
                <a:rPr lang="en-US" altLang="ja-JP" b="0">
                  <a:ea typeface="ＭＳ ゴシック" panose="020B0609070205080204" pitchFamily="49" charset="-128"/>
                </a:rPr>
                <a:t>Thuộc tính</a:t>
              </a:r>
              <a:r>
                <a:rPr lang="ja-JP" altLang="en-US" b="0">
                  <a:ea typeface="ＭＳ ゴシック" panose="020B0609070205080204" pitchFamily="49" charset="-128"/>
                </a:rPr>
                <a:t>：</a:t>
              </a:r>
            </a:p>
            <a:p>
              <a:pPr algn="just"/>
              <a:r>
                <a:rPr lang="ja-JP" altLang="en-US"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không có</a:t>
              </a:r>
            </a:p>
            <a:p>
              <a:pPr algn="just"/>
              <a:endParaRPr lang="en-US" altLang="ja-JP" b="0">
                <a:latin typeface="ＭＳ ゴシック" panose="020B0609070205080204" pitchFamily="49" charset="-128"/>
                <a:ea typeface="ＭＳ ゴシック" panose="020B0609070205080204" pitchFamily="49" charset="-128"/>
              </a:endParaRPr>
            </a:p>
            <a:p>
              <a:pPr algn="just"/>
              <a:endParaRPr lang="en-US" altLang="ja-JP" b="0">
                <a:latin typeface="ＭＳ ゴシック" panose="020B0609070205080204" pitchFamily="49" charset="-128"/>
                <a:ea typeface="ＭＳ ゴシック" panose="020B0609070205080204" pitchFamily="49" charset="-128"/>
              </a:endParaRPr>
            </a:p>
            <a:p>
              <a:pPr algn="just"/>
              <a:endParaRPr lang="en-US" altLang="ja-JP" b="0">
                <a:latin typeface="ＭＳ ゴシック" panose="020B0609070205080204" pitchFamily="49" charset="-128"/>
                <a:ea typeface="ＭＳ ゴシック" panose="020B0609070205080204" pitchFamily="49" charset="-128"/>
              </a:endParaRPr>
            </a:p>
            <a:p>
              <a:pPr algn="just"/>
              <a:r>
                <a:rPr lang="en-US" altLang="ja-JP" b="0">
                  <a:ea typeface="ＭＳ ゴシック" panose="020B0609070205080204" pitchFamily="49" charset="-128"/>
                </a:rPr>
                <a:t>Thao tác</a:t>
              </a:r>
              <a:r>
                <a:rPr lang="ja-JP" altLang="en-US" b="0">
                  <a:ea typeface="ＭＳ ゴシック" panose="020B0609070205080204" pitchFamily="49" charset="-128"/>
                </a:rPr>
                <a:t>：</a:t>
              </a:r>
            </a:p>
            <a:p>
              <a:pPr algn="just"/>
              <a:r>
                <a:rPr lang="ja-JP" altLang="en-US" b="0">
                  <a:latin typeface="ＭＳ ゴシック" panose="020B0609070205080204" pitchFamily="49" charset="-128"/>
                  <a:ea typeface="ＭＳ ゴシック" panose="020B0609070205080204" pitchFamily="49" charset="-128"/>
                </a:rPr>
                <a:t>　</a:t>
              </a:r>
              <a:r>
                <a:rPr lang="en-US" altLang="ja-JP" b="0" u="sng">
                  <a:latin typeface="ＭＳ ゴシック" panose="020B0609070205080204" pitchFamily="49" charset="-128"/>
                  <a:ea typeface="ＭＳ ゴシック" panose="020B0609070205080204" pitchFamily="49" charset="-128"/>
                </a:rPr>
                <a:t>main(args:String[]):void</a:t>
              </a:r>
              <a:endParaRPr lang="en-US" altLang="ja-JP">
                <a:latin typeface="ＭＳ ゴシック" panose="020B0609070205080204" pitchFamily="49" charset="-128"/>
                <a:ea typeface="ＭＳ ゴシック" panose="020B0609070205080204" pitchFamily="49" charset="-128"/>
              </a:endParaRPr>
            </a:p>
          </p:txBody>
        </p:sp>
        <p:sp>
          <p:nvSpPr>
            <p:cNvPr id="574470" name="Line 6">
              <a:extLst>
                <a:ext uri="{FF2B5EF4-FFF2-40B4-BE49-F238E27FC236}">
                  <a16:creationId xmlns:a16="http://schemas.microsoft.com/office/drawing/2014/main" id="{C58EFA20-0F83-F056-6EAE-73E524C48442}"/>
                </a:ext>
              </a:extLst>
            </p:cNvPr>
            <p:cNvSpPr>
              <a:spLocks noChangeShapeType="1"/>
            </p:cNvSpPr>
            <p:nvPr/>
          </p:nvSpPr>
          <p:spPr bwMode="auto">
            <a:xfrm>
              <a:off x="479" y="1499"/>
              <a:ext cx="1173"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74471" name="Line 7">
              <a:extLst>
                <a:ext uri="{FF2B5EF4-FFF2-40B4-BE49-F238E27FC236}">
                  <a16:creationId xmlns:a16="http://schemas.microsoft.com/office/drawing/2014/main" id="{EC35907C-5918-FE29-8B1F-83044934F740}"/>
                </a:ext>
              </a:extLst>
            </p:cNvPr>
            <p:cNvSpPr>
              <a:spLocks noChangeShapeType="1"/>
            </p:cNvSpPr>
            <p:nvPr/>
          </p:nvSpPr>
          <p:spPr bwMode="auto">
            <a:xfrm>
              <a:off x="479" y="1963"/>
              <a:ext cx="1173"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grpSp>
      <p:grpSp>
        <p:nvGrpSpPr>
          <p:cNvPr id="574472" name="Group 8">
            <a:extLst>
              <a:ext uri="{FF2B5EF4-FFF2-40B4-BE49-F238E27FC236}">
                <a16:creationId xmlns:a16="http://schemas.microsoft.com/office/drawing/2014/main" id="{3BBE33E3-AB23-380A-B335-34221B98AD4B}"/>
              </a:ext>
            </a:extLst>
          </p:cNvPr>
          <p:cNvGrpSpPr>
            <a:grpSpLocks/>
          </p:cNvGrpSpPr>
          <p:nvPr/>
        </p:nvGrpSpPr>
        <p:grpSpPr bwMode="auto">
          <a:xfrm>
            <a:off x="3362325" y="2098675"/>
            <a:ext cx="3059113" cy="2344738"/>
            <a:chOff x="2116" y="1275"/>
            <a:chExt cx="1720" cy="1424"/>
          </a:xfrm>
        </p:grpSpPr>
        <p:sp>
          <p:nvSpPr>
            <p:cNvPr id="574473" name="Text Box 9">
              <a:extLst>
                <a:ext uri="{FF2B5EF4-FFF2-40B4-BE49-F238E27FC236}">
                  <a16:creationId xmlns:a16="http://schemas.microsoft.com/office/drawing/2014/main" id="{1612156F-B4FD-025B-12C3-250992B9D843}"/>
                </a:ext>
              </a:extLst>
            </p:cNvPr>
            <p:cNvSpPr txBox="1">
              <a:spLocks noChangeArrowheads="1"/>
            </p:cNvSpPr>
            <p:nvPr/>
          </p:nvSpPr>
          <p:spPr bwMode="auto">
            <a:xfrm>
              <a:off x="2123" y="1275"/>
              <a:ext cx="1713" cy="1424"/>
            </a:xfrm>
            <a:prstGeom prst="rect">
              <a:avLst/>
            </a:prstGeom>
            <a:solidFill>
              <a:srgbClr val="FFFFCC"/>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a:latin typeface="ＭＳ ゴシック" panose="020B0609070205080204" pitchFamily="49" charset="-128"/>
                  <a:ea typeface="ＭＳ ゴシック" panose="020B0609070205080204" pitchFamily="49" charset="-128"/>
                </a:rPr>
                <a:t>Person</a:t>
              </a:r>
            </a:p>
            <a:p>
              <a:pPr algn="just"/>
              <a:endParaRPr lang="en-US" altLang="ja-JP" b="0">
                <a:latin typeface="ＭＳ ゴシック" panose="020B0609070205080204" pitchFamily="49" charset="-128"/>
                <a:ea typeface="ＭＳ ゴシック" panose="020B0609070205080204" pitchFamily="49" charset="-128"/>
              </a:endParaRPr>
            </a:p>
            <a:p>
              <a:pPr algn="just"/>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lastName:String</a:t>
              </a:r>
            </a:p>
            <a:p>
              <a:pPr algn="just"/>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firstName:String</a:t>
              </a:r>
            </a:p>
            <a:p>
              <a:pPr algn="just"/>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age:int</a:t>
              </a:r>
            </a:p>
            <a:p>
              <a:pPr algn="just"/>
              <a:r>
                <a:rPr lang="ja-JP" altLang="en-US" b="0">
                  <a:latin typeface="ＭＳ ゴシック" panose="020B0609070205080204" pitchFamily="49" charset="-128"/>
                  <a:ea typeface="ＭＳ ゴシック" panose="020B0609070205080204" pitchFamily="49" charset="-128"/>
                </a:rPr>
                <a:t>　</a:t>
              </a:r>
              <a:r>
                <a:rPr lang="en-US" altLang="ja-JP" b="0" u="sng">
                  <a:latin typeface="ＭＳ ゴシック" panose="020B0609070205080204" pitchFamily="49" charset="-128"/>
                  <a:ea typeface="ＭＳ ゴシック" panose="020B0609070205080204" pitchFamily="49" charset="-128"/>
                </a:rPr>
                <a:t>SPECIES:String</a:t>
              </a:r>
            </a:p>
            <a:p>
              <a:pPr algn="just"/>
              <a:endParaRPr lang="en-US" altLang="ja-JP" b="0">
                <a:latin typeface="ＭＳ ゴシック" panose="020B0609070205080204" pitchFamily="49" charset="-128"/>
                <a:ea typeface="ＭＳ ゴシック" panose="020B0609070205080204" pitchFamily="49" charset="-128"/>
              </a:endParaRPr>
            </a:p>
            <a:p>
              <a:pPr algn="just">
                <a:spcBef>
                  <a:spcPct val="20000"/>
                </a:spcBef>
              </a:pPr>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Person()</a:t>
              </a:r>
            </a:p>
            <a:p>
              <a:pPr algn="just"/>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Person(lname:String, fname:String, a:int)</a:t>
              </a:r>
            </a:p>
            <a:p>
              <a:pPr algn="just"/>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setLastName(l:String):void</a:t>
              </a:r>
            </a:p>
            <a:p>
              <a:pPr algn="just"/>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getFullName():String</a:t>
              </a:r>
            </a:p>
            <a:p>
              <a:pPr algn="just"/>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getFullName(delim:String):String</a:t>
              </a:r>
            </a:p>
            <a:p>
              <a:pPr algn="just"/>
              <a:r>
                <a:rPr lang="en-US" altLang="ja-JP" b="0">
                  <a:latin typeface="ＭＳ ゴシック" panose="020B0609070205080204" pitchFamily="49" charset="-128"/>
                  <a:ea typeface="ＭＳ ゴシック" panose="020B0609070205080204" pitchFamily="49" charset="-128"/>
                </a:rPr>
                <a:t>  printInfo():void</a:t>
              </a:r>
            </a:p>
            <a:p>
              <a:pPr algn="just"/>
              <a:r>
                <a:rPr lang="en-US" altLang="ja-JP" b="0">
                  <a:latin typeface="ＭＳ ゴシック" panose="020B0609070205080204" pitchFamily="49" charset="-128"/>
                  <a:ea typeface="ＭＳ ゴシック" panose="020B0609070205080204" pitchFamily="49" charset="-128"/>
                </a:rPr>
                <a:t>  </a:t>
              </a:r>
              <a:r>
                <a:rPr lang="en-US" altLang="ja-JP" b="0" u="sng">
                  <a:latin typeface="ＭＳ ゴシック" panose="020B0609070205080204" pitchFamily="49" charset="-128"/>
                  <a:ea typeface="ＭＳ ゴシック" panose="020B0609070205080204" pitchFamily="49" charset="-128"/>
                </a:rPr>
                <a:t>printSpecies():void</a:t>
              </a:r>
            </a:p>
          </p:txBody>
        </p:sp>
        <p:sp>
          <p:nvSpPr>
            <p:cNvPr id="574474" name="Line 10">
              <a:extLst>
                <a:ext uri="{FF2B5EF4-FFF2-40B4-BE49-F238E27FC236}">
                  <a16:creationId xmlns:a16="http://schemas.microsoft.com/office/drawing/2014/main" id="{CF78C3A7-250A-0F90-9C11-606E89F62FDE}"/>
                </a:ext>
              </a:extLst>
            </p:cNvPr>
            <p:cNvSpPr>
              <a:spLocks noChangeShapeType="1"/>
            </p:cNvSpPr>
            <p:nvPr/>
          </p:nvSpPr>
          <p:spPr bwMode="auto">
            <a:xfrm>
              <a:off x="2116" y="1452"/>
              <a:ext cx="1720"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574475" name="Line 11">
              <a:extLst>
                <a:ext uri="{FF2B5EF4-FFF2-40B4-BE49-F238E27FC236}">
                  <a16:creationId xmlns:a16="http://schemas.microsoft.com/office/drawing/2014/main" id="{7E6A4533-F953-4A5A-3C73-5A01FF216629}"/>
                </a:ext>
              </a:extLst>
            </p:cNvPr>
            <p:cNvSpPr>
              <a:spLocks noChangeShapeType="1"/>
            </p:cNvSpPr>
            <p:nvPr/>
          </p:nvSpPr>
          <p:spPr bwMode="auto">
            <a:xfrm>
              <a:off x="2116" y="1953"/>
              <a:ext cx="1713"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grpSp>
      <p:sp>
        <p:nvSpPr>
          <p:cNvPr id="574476" name="Line 12">
            <a:extLst>
              <a:ext uri="{FF2B5EF4-FFF2-40B4-BE49-F238E27FC236}">
                <a16:creationId xmlns:a16="http://schemas.microsoft.com/office/drawing/2014/main" id="{5F8E16E3-43C9-F42F-9CAF-73FB47778C9D}"/>
              </a:ext>
            </a:extLst>
          </p:cNvPr>
          <p:cNvSpPr>
            <a:spLocks noChangeShapeType="1"/>
          </p:cNvSpPr>
          <p:nvPr/>
        </p:nvSpPr>
        <p:spPr bwMode="auto">
          <a:xfrm>
            <a:off x="2660650" y="3317875"/>
            <a:ext cx="673100" cy="317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74479" name="Text Box 15">
            <a:extLst>
              <a:ext uri="{FF2B5EF4-FFF2-40B4-BE49-F238E27FC236}">
                <a16:creationId xmlns:a16="http://schemas.microsoft.com/office/drawing/2014/main" id="{B9232F64-BE7B-3F28-5960-67E1906D9FF8}"/>
              </a:ext>
            </a:extLst>
          </p:cNvPr>
          <p:cNvSpPr txBox="1">
            <a:spLocks noChangeArrowheads="1"/>
          </p:cNvSpPr>
          <p:nvPr/>
        </p:nvSpPr>
        <p:spPr bwMode="auto">
          <a:xfrm>
            <a:off x="669925" y="5373688"/>
            <a:ext cx="5700713" cy="103346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ＭＳ ゴシック" panose="020B0609070205080204" pitchFamily="49" charset="-128"/>
              </a:rPr>
              <a:t>　</a:t>
            </a:r>
            <a:r>
              <a:rPr lang="en-US" altLang="ja-JP" b="0">
                <a:ea typeface="ＭＳ ゴシック" panose="020B0609070205080204" pitchFamily="49" charset="-128"/>
              </a:rPr>
              <a:t>class</a:t>
            </a:r>
            <a:r>
              <a:rPr lang="en-US" altLang="ja-JP" b="0">
                <a:ea typeface="MS UI Gothic" panose="020B0600070205080204" pitchFamily="50" charset="-128"/>
              </a:rPr>
              <a:t>  class name  </a:t>
            </a:r>
            <a:r>
              <a:rPr lang="en-US" altLang="ja-JP" b="0">
                <a:ea typeface="ＭＳ ゴシック" panose="020B0609070205080204" pitchFamily="49" charset="-128"/>
              </a:rPr>
              <a:t>{</a:t>
            </a:r>
          </a:p>
          <a:p>
            <a:pPr lvl="1" algn="just"/>
            <a:endParaRPr lang="en-US" altLang="ja-JP"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biến instance</a:t>
            </a:r>
          </a:p>
          <a:p>
            <a:pPr lvl="1" algn="just"/>
            <a:endParaRPr lang="en-US" altLang="ja-JP" b="0">
              <a:ea typeface="MS UI Gothic" panose="020B0600070205080204" pitchFamily="50" charset="-128"/>
            </a:endParaRP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Định nghĩa method</a:t>
            </a:r>
          </a:p>
          <a:p>
            <a:pPr lvl="1" algn="just"/>
            <a:r>
              <a:rPr lang="en-US" altLang="ja-JP" b="0">
                <a:ea typeface="ＭＳ ゴシック" panose="020B0609070205080204" pitchFamily="49" charset="-128"/>
              </a:rPr>
              <a:t>}</a:t>
            </a:r>
          </a:p>
        </p:txBody>
      </p:sp>
      <p:sp>
        <p:nvSpPr>
          <p:cNvPr id="574483" name="Text Box 19">
            <a:extLst>
              <a:ext uri="{FF2B5EF4-FFF2-40B4-BE49-F238E27FC236}">
                <a16:creationId xmlns:a16="http://schemas.microsoft.com/office/drawing/2014/main" id="{B6D50D90-FCC5-FFAC-0B15-017D9E85A9A0}"/>
              </a:ext>
            </a:extLst>
          </p:cNvPr>
          <p:cNvSpPr txBox="1">
            <a:spLocks noChangeArrowheads="1"/>
          </p:cNvSpPr>
          <p:nvPr/>
        </p:nvSpPr>
        <p:spPr bwMode="auto">
          <a:xfrm>
            <a:off x="719138" y="6873875"/>
            <a:ext cx="5643562" cy="24606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en-US" b="0">
                <a:ea typeface="MS UI Gothic" panose="020B0600070205080204" pitchFamily="50" charset="-128"/>
              </a:rPr>
              <a:t>　</a:t>
            </a:r>
            <a:r>
              <a:rPr lang="en-US" altLang="ja-JP" b="0">
                <a:ea typeface="MS UI Gothic" panose="020B0600070205080204" pitchFamily="50" charset="-128"/>
              </a:rPr>
              <a:t>modifier</a:t>
            </a:r>
            <a:r>
              <a:rPr lang="ja-JP" altLang="en-US" b="0">
                <a:ea typeface="MS UI Gothic" panose="020B0600070205080204" pitchFamily="50" charset="-128"/>
              </a:rPr>
              <a:t>　　</a:t>
            </a:r>
            <a:r>
              <a:rPr lang="en-US" altLang="ja-JP" b="0">
                <a:ea typeface="MS UI Gothic" panose="020B0600070205080204" pitchFamily="50" charset="-128"/>
              </a:rPr>
              <a:t>kiểu data</a:t>
            </a:r>
            <a:r>
              <a:rPr lang="ja-JP" altLang="en-US" b="0">
                <a:ea typeface="MS UI Gothic" panose="020B0600070205080204" pitchFamily="50" charset="-128"/>
              </a:rPr>
              <a:t>　　</a:t>
            </a:r>
            <a:r>
              <a:rPr lang="en-US" altLang="ja-JP" b="0">
                <a:ea typeface="MS UI Gothic" panose="020B0600070205080204" pitchFamily="50" charset="-128"/>
              </a:rPr>
              <a:t>tên biến</a:t>
            </a:r>
            <a:r>
              <a:rPr lang="en-US" altLang="ja-JP" b="0">
                <a:ea typeface="ＭＳ ゴシック" panose="020B0609070205080204" pitchFamily="49" charset="-128"/>
              </a:rPr>
              <a:t>;</a:t>
            </a:r>
            <a:endParaRPr lang="en-US" altLang="en-US" b="0">
              <a:ea typeface="ＭＳ ゴシック" panose="020B0609070205080204" pitchFamily="49" charset="-128"/>
            </a:endParaRPr>
          </a:p>
        </p:txBody>
      </p:sp>
      <p:sp>
        <p:nvSpPr>
          <p:cNvPr id="574487" name="Text Box 23">
            <a:extLst>
              <a:ext uri="{FF2B5EF4-FFF2-40B4-BE49-F238E27FC236}">
                <a16:creationId xmlns:a16="http://schemas.microsoft.com/office/drawing/2014/main" id="{36F66126-0406-C7D9-9643-ECDE0F20FE1A}"/>
              </a:ext>
            </a:extLst>
          </p:cNvPr>
          <p:cNvSpPr txBox="1">
            <a:spLocks noChangeArrowheads="1"/>
          </p:cNvSpPr>
          <p:nvPr/>
        </p:nvSpPr>
        <p:spPr bwMode="auto">
          <a:xfrm>
            <a:off x="688975" y="8007350"/>
            <a:ext cx="5678488" cy="8413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50000"/>
              </a:lnSpc>
            </a:pPr>
            <a:r>
              <a:rPr lang="ja-JP" altLang="ja-JP" b="0">
                <a:ea typeface="MS UI Gothic" panose="020B0600070205080204" pitchFamily="50" charset="-128"/>
              </a:rPr>
              <a:t>　</a:t>
            </a:r>
            <a:r>
              <a:rPr lang="en-US" altLang="ja-JP" b="0">
                <a:ea typeface="MS UI Gothic" panose="020B0600070205080204" pitchFamily="50" charset="-128"/>
              </a:rPr>
              <a:t>modifier</a:t>
            </a:r>
            <a:r>
              <a:rPr lang="ja-JP" altLang="ja-JP" b="0">
                <a:ea typeface="MS UI Gothic" panose="020B0600070205080204" pitchFamily="50" charset="-128"/>
              </a:rPr>
              <a:t>　　</a:t>
            </a:r>
            <a:r>
              <a:rPr lang="en-US" altLang="ja-JP" b="0">
                <a:ea typeface="MS UI Gothic" panose="020B0600070205080204" pitchFamily="50" charset="-128"/>
              </a:rPr>
              <a:t>kiểu data của giá trị trả về</a:t>
            </a:r>
            <a:r>
              <a:rPr lang="ja-JP" altLang="ja-JP" b="0">
                <a:ea typeface="MS UI Gothic" panose="020B0600070205080204" pitchFamily="50" charset="-128"/>
              </a:rPr>
              <a:t>　　</a:t>
            </a:r>
            <a:r>
              <a:rPr lang="en-US" altLang="ja-JP" b="0">
                <a:ea typeface="MS UI Gothic" panose="020B0600070205080204" pitchFamily="50" charset="-128"/>
              </a:rPr>
              <a:t>tên method</a:t>
            </a:r>
            <a:r>
              <a:rPr lang="ja-JP" altLang="ja-JP" b="0">
                <a:ea typeface="ＭＳ ゴシック" panose="020B0609070205080204" pitchFamily="49" charset="-128"/>
              </a:rPr>
              <a:t>(</a:t>
            </a:r>
            <a:r>
              <a:rPr lang="ja-JP" altLang="ja-JP" b="0">
                <a:ea typeface="MS UI Gothic" panose="020B0600070205080204" pitchFamily="50" charset="-128"/>
              </a:rPr>
              <a:t> </a:t>
            </a:r>
            <a:r>
              <a:rPr lang="en-US" altLang="ja-JP" b="0">
                <a:ea typeface="MS UI Gothic" panose="020B0600070205080204" pitchFamily="50" charset="-128"/>
              </a:rPr>
              <a:t>kiểu data</a:t>
            </a:r>
            <a:r>
              <a:rPr lang="ja-JP" altLang="ja-JP" b="0">
                <a:ea typeface="MS UI Gothic" panose="020B0600070205080204" pitchFamily="50" charset="-128"/>
              </a:rPr>
              <a:t>  </a:t>
            </a:r>
            <a:r>
              <a:rPr lang="en-US" altLang="ja-JP" b="0">
                <a:ea typeface="MS UI Gothic" panose="020B0600070205080204" pitchFamily="50" charset="-128"/>
              </a:rPr>
              <a:t>đối số </a:t>
            </a:r>
            <a:r>
              <a:rPr lang="ja-JP" altLang="ja-JP" b="0">
                <a:ea typeface="MS UI Gothic" panose="020B0600070205080204" pitchFamily="50" charset="-128"/>
              </a:rPr>
              <a:t>１</a:t>
            </a:r>
            <a:r>
              <a:rPr lang="ja-JP" altLang="ja-JP" b="0">
                <a:ea typeface="ＭＳ ゴシック" panose="020B0609070205080204" pitchFamily="49" charset="-128"/>
              </a:rPr>
              <a:t>,</a:t>
            </a:r>
            <a:r>
              <a:rPr lang="ja-JP" altLang="ja-JP" b="0">
                <a:ea typeface="MS UI Gothic" panose="020B0600070205080204" pitchFamily="50" charset="-128"/>
              </a:rPr>
              <a:t> …　</a:t>
            </a:r>
            <a:r>
              <a:rPr lang="ja-JP" altLang="ja-JP" b="0">
                <a:ea typeface="ＭＳ ゴシック" panose="020B0609070205080204" pitchFamily="49" charset="-128"/>
              </a:rPr>
              <a:t>) {</a:t>
            </a:r>
          </a:p>
          <a:p>
            <a:pPr lvl="1" algn="just">
              <a:lnSpc>
                <a:spcPct val="150000"/>
              </a:lnSpc>
            </a:pPr>
            <a:r>
              <a:rPr lang="ja-JP" altLang="ja-JP" b="0">
                <a:ea typeface="MS UI Gothic" panose="020B0600070205080204" pitchFamily="50" charset="-128"/>
              </a:rPr>
              <a:t>　　　　　　</a:t>
            </a:r>
            <a:r>
              <a:rPr lang="ja-JP" altLang="ja-JP" b="0">
                <a:ea typeface="ＭＳ ゴシック" panose="020B0609070205080204" pitchFamily="49" charset="-128"/>
              </a:rPr>
              <a:t>//</a:t>
            </a:r>
            <a:r>
              <a:rPr lang="ja-JP" altLang="ja-JP" b="0">
                <a:ea typeface="MS UI Gothic" panose="020B0600070205080204" pitchFamily="50" charset="-128"/>
              </a:rPr>
              <a:t>  </a:t>
            </a:r>
            <a:r>
              <a:rPr lang="en-US" altLang="ja-JP" b="0">
                <a:ea typeface="MS UI Gothic" panose="020B0600070205080204" pitchFamily="50" charset="-128"/>
              </a:rPr>
              <a:t>Xử lý</a:t>
            </a:r>
            <a:endParaRPr lang="ja-JP" altLang="ja-JP" b="0">
              <a:ea typeface="MS UI Gothic" panose="020B0600070205080204" pitchFamily="50" charset="-128"/>
            </a:endParaRPr>
          </a:p>
          <a:p>
            <a:pPr lvl="1" algn="just">
              <a:lnSpc>
                <a:spcPct val="150000"/>
              </a:lnSpc>
            </a:pPr>
            <a:r>
              <a:rPr lang="ja-JP" altLang="ja-JP" b="0">
                <a:ea typeface="MS UI Gothic" panose="020B0600070205080204" pitchFamily="50" charset="-128"/>
              </a:rPr>
              <a:t>　</a:t>
            </a:r>
            <a:r>
              <a:rPr lang="ja-JP" altLang="ja-JP" b="0">
                <a:ea typeface="ＭＳ ゴシック" panose="020B0609070205080204" pitchFamily="49" charset="-128"/>
              </a:rPr>
              <a:t>}</a:t>
            </a:r>
          </a:p>
        </p:txBody>
      </p:sp>
      <p:sp>
        <p:nvSpPr>
          <p:cNvPr id="574488" name="AutoShape 24">
            <a:extLst>
              <a:ext uri="{FF2B5EF4-FFF2-40B4-BE49-F238E27FC236}">
                <a16:creationId xmlns:a16="http://schemas.microsoft.com/office/drawing/2014/main" id="{E3470D2E-0B15-7F5B-BBDD-F31F989500FD}"/>
              </a:ext>
            </a:extLst>
          </p:cNvPr>
          <p:cNvSpPr>
            <a:spLocks noChangeArrowheads="1"/>
          </p:cNvSpPr>
          <p:nvPr/>
        </p:nvSpPr>
        <p:spPr bwMode="auto">
          <a:xfrm>
            <a:off x="2701925" y="7516813"/>
            <a:ext cx="2066925" cy="354012"/>
          </a:xfrm>
          <a:prstGeom prst="wedgeRoundRectCallout">
            <a:avLst>
              <a:gd name="adj1" fmla="val -66819"/>
              <a:gd name="adj2" fmla="val 99329"/>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Trường hợp không có giá trị trả về thì chỉ định là void</a:t>
            </a:r>
          </a:p>
        </p:txBody>
      </p:sp>
      <p:sp>
        <p:nvSpPr>
          <p:cNvPr id="574490" name="Rectangle 26">
            <a:extLst>
              <a:ext uri="{FF2B5EF4-FFF2-40B4-BE49-F238E27FC236}">
                <a16:creationId xmlns:a16="http://schemas.microsoft.com/office/drawing/2014/main" id="{0B8484D6-C041-0C25-7A25-17720D3BC8BC}"/>
              </a:ext>
            </a:extLst>
          </p:cNvPr>
          <p:cNvSpPr>
            <a:spLocks noChangeArrowheads="1"/>
          </p:cNvSpPr>
          <p:nvPr/>
        </p:nvSpPr>
        <p:spPr bwMode="auto">
          <a:xfrm>
            <a:off x="1800225" y="8077200"/>
            <a:ext cx="1471613" cy="220663"/>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74491" name="AutoShape 27">
            <a:extLst>
              <a:ext uri="{FF2B5EF4-FFF2-40B4-BE49-F238E27FC236}">
                <a16:creationId xmlns:a16="http://schemas.microsoft.com/office/drawing/2014/main" id="{059D130D-839E-21AC-09C5-64514F76FC7C}"/>
              </a:ext>
            </a:extLst>
          </p:cNvPr>
          <p:cNvSpPr>
            <a:spLocks noChangeArrowheads="1"/>
          </p:cNvSpPr>
          <p:nvPr/>
        </p:nvSpPr>
        <p:spPr bwMode="auto">
          <a:xfrm>
            <a:off x="2886075" y="8321675"/>
            <a:ext cx="2714625" cy="382588"/>
          </a:xfrm>
          <a:prstGeom prst="wedgeRoundRectCallout">
            <a:avLst>
              <a:gd name="adj1" fmla="val -78421"/>
              <a:gd name="adj2" fmla="val -18463"/>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Trường hợp có giá trị trả về sẽ cần </a:t>
            </a:r>
            <a:r>
              <a:rPr lang="ja-JP" altLang="en-US" b="0">
                <a:ea typeface="MS UI Gothic" panose="020B0600070205080204" pitchFamily="50" charset="-128"/>
              </a:rPr>
              <a:t>「</a:t>
            </a:r>
            <a:r>
              <a:rPr lang="en-US" altLang="ja-JP" b="0">
                <a:ea typeface="MS UI Gothic" panose="020B0600070205080204" pitchFamily="50" charset="-128"/>
              </a:rPr>
              <a:t>return  giá trị trả về;</a:t>
            </a:r>
            <a:r>
              <a:rPr lang="ja-JP" altLang="en-US" b="0">
                <a:ea typeface="MS UI Gothic" panose="020B0600070205080204" pitchFamily="50" charset="-128"/>
              </a:rPr>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6514" name="AutoShape 2">
            <a:extLst>
              <a:ext uri="{FF2B5EF4-FFF2-40B4-BE49-F238E27FC236}">
                <a16:creationId xmlns:a16="http://schemas.microsoft.com/office/drawing/2014/main" id="{06C8D6F9-9074-BCC7-D75C-F26EA64703A7}"/>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endParaRPr lang="ja-JP" altLang="en-US" sz="130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Định nghĩa constructor</a:t>
            </a:r>
          </a:p>
          <a:p>
            <a:r>
              <a:rPr lang="ja-JP" altLang="en-US" b="0">
                <a:ea typeface="MS UI Gothic" panose="020B0600070205080204" pitchFamily="50" charset="-128"/>
              </a:rPr>
              <a:t>　</a:t>
            </a:r>
            <a:r>
              <a:rPr lang="en-US" altLang="ja-JP" b="0">
                <a:ea typeface="MS UI Gothic" panose="020B0600070205080204" pitchFamily="50" charset="-128"/>
              </a:rPr>
              <a:t>Chúng ta đã học về constructor để tiến hành setting ban đầu khi sinh object.</a:t>
            </a:r>
          </a:p>
          <a:p>
            <a:r>
              <a:rPr lang="ja-JP" altLang="en-US" b="0">
                <a:ea typeface="MS UI Gothic" panose="020B0600070205080204" pitchFamily="50" charset="-128"/>
              </a:rPr>
              <a:t>　</a:t>
            </a:r>
            <a:r>
              <a:rPr lang="en-US" altLang="ja-JP" b="0">
                <a:ea typeface="MS UI Gothic" panose="020B0600070205080204" pitchFamily="50" charset="-128"/>
              </a:rPr>
              <a:t>Constructor khác định nghĩa method ở điểm tên giống với class nhưng không có chỉ định giá trị trả về(không có cả void).</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Ví dụ</a:t>
            </a:r>
            <a:r>
              <a:rPr lang="ja-JP" altLang="en-US" b="0">
                <a:ea typeface="MS UI Gothic" panose="020B0600070205080204" pitchFamily="50" charset="-128"/>
              </a:rPr>
              <a:t>） </a:t>
            </a:r>
            <a:r>
              <a:rPr lang="en-US" altLang="ja-JP" b="0">
                <a:ea typeface="ＭＳ ゴシック" panose="020B0609070205080204" pitchFamily="49" charset="-128"/>
              </a:rPr>
              <a:t>public Person(String lname, String fname, int a) {</a:t>
            </a:r>
            <a:r>
              <a:rPr lang="ja-JP" altLang="en-US" b="0">
                <a:ea typeface="ＭＳ ゴシック" panose="020B0609070205080204" pitchFamily="49" charset="-128"/>
              </a:rPr>
              <a:t>　　</a:t>
            </a:r>
          </a:p>
          <a:p>
            <a:r>
              <a:rPr lang="ja-JP" altLang="en-US" b="0">
                <a:ea typeface="ＭＳ ゴシック" panose="020B0609070205080204" pitchFamily="49" charset="-128"/>
              </a:rPr>
              <a:t>          </a:t>
            </a:r>
            <a:r>
              <a:rPr lang="en-US" altLang="ja-JP" b="0">
                <a:ea typeface="ＭＳ ゴシック" panose="020B0609070205080204" pitchFamily="49" charset="-128"/>
              </a:rPr>
              <a:t>lastName = lname;</a:t>
            </a:r>
          </a:p>
          <a:p>
            <a:r>
              <a:rPr lang="en-US" altLang="ja-JP" b="0">
                <a:ea typeface="ＭＳ ゴシック" panose="020B0609070205080204" pitchFamily="49" charset="-128"/>
              </a:rPr>
              <a:t>          firstName = fname;</a:t>
            </a:r>
          </a:p>
          <a:p>
            <a:r>
              <a:rPr lang="en-US" altLang="ja-JP" b="0">
                <a:ea typeface="ＭＳ ゴシック" panose="020B0609070205080204" pitchFamily="49" charset="-128"/>
              </a:rPr>
              <a:t>          age = a;</a:t>
            </a:r>
          </a:p>
          <a:p>
            <a:r>
              <a:rPr lang="ja-JP" altLang="en-US" b="0">
                <a:ea typeface="ＭＳ ゴシック" panose="020B0609070205080204" pitchFamily="49" charset="-128"/>
              </a:rPr>
              <a:t>　    </a:t>
            </a:r>
            <a:r>
              <a:rPr lang="en-US" altLang="ja-JP" b="0">
                <a:ea typeface="ＭＳ ゴシック" panose="020B0609070205080204" pitchFamily="49" charset="-128"/>
              </a:rPr>
              <a:t>}</a:t>
            </a:r>
          </a:p>
          <a:p>
            <a:endParaRPr lang="en-US" altLang="ja-JP" b="0">
              <a:ea typeface="ＭＳ ゴシック" panose="020B0609070205080204" pitchFamily="49"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Overload của method</a:t>
            </a:r>
          </a:p>
          <a:p>
            <a:r>
              <a:rPr lang="ja-JP" altLang="en-US" b="0">
                <a:ea typeface="MS UI Gothic" panose="020B0600070205080204" pitchFamily="50" charset="-128"/>
              </a:rPr>
              <a:t>　「</a:t>
            </a:r>
            <a:r>
              <a:rPr lang="en-US" altLang="ja-JP" b="0">
                <a:ea typeface="MS UI Gothic" panose="020B0600070205080204" pitchFamily="50" charset="-128"/>
              </a:rPr>
              <a:t>việc định nghĩa nhiều method hoặc constructor có tên giống nhau nhưng đối số khác nhau trong cùng một class</a:t>
            </a:r>
            <a:r>
              <a:rPr lang="ja-JP" altLang="en-US" b="0">
                <a:ea typeface="MS UI Gothic" panose="020B0600070205080204" pitchFamily="50" charset="-128"/>
              </a:rPr>
              <a:t>」</a:t>
            </a:r>
            <a:r>
              <a:rPr lang="en-US" altLang="ja-JP" b="0">
                <a:ea typeface="MS UI Gothic" panose="020B0600070205080204" pitchFamily="50" charset="-128"/>
              </a:rPr>
              <a:t>gọi là overload. Method sẽ được gọi ra được xác định tùy theo đối số đã chỉ định lúc gọi ra.</a:t>
            </a: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Định nghĩa của method đã overload</a:t>
            </a:r>
          </a:p>
          <a:p>
            <a:r>
              <a:rPr lang="ja-JP" altLang="en-US" b="0">
                <a:ea typeface="MS UI Gothic" panose="020B0600070205080204" pitchFamily="50" charset="-128"/>
              </a:rPr>
              <a:t>　</a:t>
            </a: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Gọi ra method đã overload</a:t>
            </a:r>
          </a:p>
          <a:p>
            <a:r>
              <a:rPr lang="ja-JP" altLang="en-US" b="0">
                <a:ea typeface="MS UI Gothic" panose="020B0600070205080204" pitchFamily="50" charset="-128"/>
              </a:rPr>
              <a:t>　</a:t>
            </a: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Biến static, static method</a:t>
            </a:r>
          </a:p>
          <a:p>
            <a:r>
              <a:rPr lang="ja-JP" altLang="en-US" b="0">
                <a:ea typeface="MS UI Gothic" panose="020B0600070205080204" pitchFamily="50" charset="-128"/>
              </a:rPr>
              <a:t>　</a:t>
            </a:r>
            <a:r>
              <a:rPr lang="en-US" altLang="ja-JP" b="0">
                <a:ea typeface="MS UI Gothic" panose="020B0600070205080204" pitchFamily="50" charset="-128"/>
              </a:rPr>
              <a:t>Nếu thêm modifier static để định nghĩa biến và method thì một vùng nhớ sẽ đảm bảo theo đơn vị class và biến và method đó có thể sử dụng được cho dù không sinh object của class đó. </a:t>
            </a:r>
          </a:p>
          <a:p>
            <a:endParaRPr lang="en-US" altLang="ja-JP" b="0">
              <a:ea typeface="MS UI Gothic" panose="020B0600070205080204" pitchFamily="50" charset="-128"/>
            </a:endParaRPr>
          </a:p>
          <a:p>
            <a:r>
              <a:rPr lang="en-US" altLang="ja-JP" b="0">
                <a:ea typeface="MS UI Gothic" panose="020B0600070205080204" pitchFamily="50" charset="-128"/>
              </a:rPr>
              <a:t>● Định nghĩa biến static, static method</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 Sử dụng biến static, static method</a:t>
            </a:r>
          </a:p>
          <a:p>
            <a:r>
              <a:rPr lang="ja-JP" altLang="en-US" b="0">
                <a:ea typeface="MS UI Gothic" panose="020B0600070205080204" pitchFamily="50" charset="-128"/>
              </a:rPr>
              <a:t>　</a:t>
            </a:r>
            <a:r>
              <a:rPr lang="en-US" altLang="ja-JP" b="0">
                <a:ea typeface="MS UI Gothic" panose="020B0600070205080204" pitchFamily="50" charset="-128"/>
              </a:rPr>
              <a:t>Nếu chỉ định </a:t>
            </a:r>
            <a:r>
              <a:rPr lang="ja-JP" altLang="en-US" b="0">
                <a:ea typeface="MS UI Gothic" panose="020B0600070205080204" pitchFamily="50" charset="-128"/>
              </a:rPr>
              <a:t>「</a:t>
            </a:r>
            <a:r>
              <a:rPr lang="en-US" altLang="ja-JP" b="0">
                <a:ea typeface="MS UI Gothic" panose="020B0600070205080204" pitchFamily="50" charset="-128"/>
              </a:rPr>
              <a:t>tên class.</a:t>
            </a:r>
            <a:r>
              <a:rPr lang="ja-JP" altLang="en-US" b="0">
                <a:ea typeface="MS UI Gothic" panose="020B0600070205080204" pitchFamily="50" charset="-128"/>
              </a:rPr>
              <a:t>」</a:t>
            </a:r>
            <a:r>
              <a:rPr lang="en-US" altLang="ja-JP" b="0">
                <a:ea typeface="MS UI Gothic" panose="020B0600070205080204" pitchFamily="50" charset="-128"/>
              </a:rPr>
              <a:t>thì có thể access được.</a:t>
            </a:r>
          </a:p>
        </p:txBody>
      </p:sp>
      <p:sp>
        <p:nvSpPr>
          <p:cNvPr id="576515" name="AutoShape 3">
            <a:extLst>
              <a:ext uri="{FF2B5EF4-FFF2-40B4-BE49-F238E27FC236}">
                <a16:creationId xmlns:a16="http://schemas.microsoft.com/office/drawing/2014/main" id="{25015FB1-6241-16E1-6F66-F5A49154B62F}"/>
              </a:ext>
            </a:extLst>
          </p:cNvPr>
          <p:cNvSpPr>
            <a:spLocks noChangeArrowheads="1"/>
          </p:cNvSpPr>
          <p:nvPr/>
        </p:nvSpPr>
        <p:spPr bwMode="auto">
          <a:xfrm>
            <a:off x="603250" y="442913"/>
            <a:ext cx="14605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Tóm tắt (2)</a:t>
            </a:r>
          </a:p>
        </p:txBody>
      </p:sp>
      <p:sp>
        <p:nvSpPr>
          <p:cNvPr id="576531" name="Text Box 19">
            <a:extLst>
              <a:ext uri="{FF2B5EF4-FFF2-40B4-BE49-F238E27FC236}">
                <a16:creationId xmlns:a16="http://schemas.microsoft.com/office/drawing/2014/main" id="{C497CEFD-0759-BF38-5385-35D036F476C2}"/>
              </a:ext>
            </a:extLst>
          </p:cNvPr>
          <p:cNvSpPr txBox="1">
            <a:spLocks noChangeArrowheads="1"/>
          </p:cNvSpPr>
          <p:nvPr/>
        </p:nvSpPr>
        <p:spPr bwMode="auto">
          <a:xfrm>
            <a:off x="717550" y="1539875"/>
            <a:ext cx="5646738" cy="5905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MS UI Gothic" panose="020B0600070205080204" pitchFamily="50" charset="-128"/>
              </a:rPr>
              <a:t>　　</a:t>
            </a:r>
            <a:r>
              <a:rPr lang="en-US" altLang="ja-JP" b="0">
                <a:ea typeface="MS UI Gothic" panose="020B0600070205080204" pitchFamily="50" charset="-128"/>
              </a:rPr>
              <a:t>class name</a:t>
            </a:r>
            <a:r>
              <a:rPr lang="ja-JP" altLang="en-US" b="0">
                <a:ea typeface="MS UI Gothic" panose="020B0600070205080204" pitchFamily="50" charset="-128"/>
              </a:rPr>
              <a:t>　</a:t>
            </a:r>
            <a:r>
              <a:rPr lang="en-US" altLang="ja-JP" b="0">
                <a:ea typeface="ＭＳ ゴシック" panose="020B0609070205080204" pitchFamily="49" charset="-128"/>
              </a:rPr>
              <a:t>(</a:t>
            </a:r>
            <a:r>
              <a:rPr lang="en-US" altLang="ja-JP" b="0">
                <a:ea typeface="MS UI Gothic" panose="020B0600070205080204" pitchFamily="50" charset="-128"/>
              </a:rPr>
              <a:t> kiểu data  đối số </a:t>
            </a:r>
            <a:r>
              <a:rPr lang="ja-JP" altLang="en-US" b="0">
                <a:ea typeface="MS UI Gothic" panose="020B0600070205080204" pitchFamily="50" charset="-128"/>
              </a:rPr>
              <a:t>１</a:t>
            </a:r>
            <a:r>
              <a:rPr lang="en-US" altLang="ja-JP" b="0">
                <a:ea typeface="ＭＳ ゴシック" panose="020B0609070205080204" pitchFamily="49" charset="-128"/>
              </a:rPr>
              <a:t>,</a:t>
            </a:r>
            <a:r>
              <a:rPr lang="en-US" altLang="ja-JP" b="0">
                <a:ea typeface="MS UI Gothic" panose="020B0600070205080204" pitchFamily="50" charset="-128"/>
              </a:rPr>
              <a:t> …</a:t>
            </a:r>
            <a:r>
              <a:rPr lang="ja-JP" altLang="en-US" b="0">
                <a:ea typeface="MS UI Gothic" panose="020B0600070205080204" pitchFamily="50" charset="-128"/>
              </a:rPr>
              <a:t>　</a:t>
            </a:r>
            <a:r>
              <a:rPr lang="en-US" altLang="ja-JP" b="0">
                <a:ea typeface="ＭＳ ゴシック" panose="020B0609070205080204" pitchFamily="49" charset="-128"/>
              </a:rPr>
              <a:t>) {</a:t>
            </a:r>
          </a:p>
          <a:p>
            <a:pPr lvl="1" algn="just"/>
            <a:r>
              <a:rPr lang="ja-JP" altLang="en-US" b="0">
                <a:ea typeface="MS UI Gothic" panose="020B0600070205080204" pitchFamily="50" charset="-128"/>
              </a:rPr>
              <a:t>　　　　　</a:t>
            </a:r>
            <a:r>
              <a:rPr lang="en-US" altLang="ja-JP" b="0">
                <a:ea typeface="ＭＳ ゴシック" panose="020B0609070205080204" pitchFamily="49" charset="-128"/>
              </a:rPr>
              <a:t>//</a:t>
            </a:r>
            <a:r>
              <a:rPr lang="ja-JP" altLang="en-US" b="0">
                <a:ea typeface="MS UI Gothic" panose="020B0600070205080204" pitchFamily="50" charset="-128"/>
              </a:rPr>
              <a:t>　</a:t>
            </a:r>
            <a:r>
              <a:rPr lang="en-US" altLang="ja-JP" b="0">
                <a:ea typeface="MS UI Gothic" panose="020B0600070205080204" pitchFamily="50" charset="-128"/>
              </a:rPr>
              <a:t>Xử lý ban đầu khi sinh object</a:t>
            </a:r>
          </a:p>
          <a:p>
            <a:pPr lvl="1" algn="just"/>
            <a:r>
              <a:rPr lang="en-US" altLang="ja-JP" b="0">
                <a:ea typeface="ＭＳ ゴシック" panose="020B0609070205080204" pitchFamily="49" charset="-128"/>
              </a:rPr>
              <a:t>}</a:t>
            </a:r>
          </a:p>
        </p:txBody>
      </p:sp>
      <p:sp>
        <p:nvSpPr>
          <p:cNvPr id="576532" name="Text Box 20">
            <a:extLst>
              <a:ext uri="{FF2B5EF4-FFF2-40B4-BE49-F238E27FC236}">
                <a16:creationId xmlns:a16="http://schemas.microsoft.com/office/drawing/2014/main" id="{13F79A41-1F20-3ACF-130E-D7C4308C9136}"/>
              </a:ext>
            </a:extLst>
          </p:cNvPr>
          <p:cNvSpPr txBox="1">
            <a:spLocks noChangeArrowheads="1"/>
          </p:cNvSpPr>
          <p:nvPr/>
        </p:nvSpPr>
        <p:spPr bwMode="auto">
          <a:xfrm>
            <a:off x="738188" y="4311650"/>
            <a:ext cx="5643562" cy="4508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442913">
              <a:defRPr kumimoji="1">
                <a:solidFill>
                  <a:schemeClr val="tx1"/>
                </a:solidFill>
                <a:latin typeface="Arial" panose="020B0604020202020204" pitchFamily="34" charset="0"/>
                <a:ea typeface="ＭＳ Ｐゴシック" panose="020B0600070205080204" pitchFamily="50" charset="-128"/>
              </a:defRPr>
            </a:lvl1pPr>
            <a:lvl2pPr marL="187325" defTabSz="442913">
              <a:defRPr kumimoji="1">
                <a:solidFill>
                  <a:schemeClr val="tx1"/>
                </a:solidFill>
                <a:latin typeface="Arial" panose="020B0604020202020204" pitchFamily="34" charset="0"/>
                <a:ea typeface="ＭＳ Ｐゴシック" panose="020B0600070205080204" pitchFamily="50" charset="-128"/>
              </a:defRPr>
            </a:lvl2pPr>
            <a:lvl3pPr marL="954088" defTabSz="442913">
              <a:defRPr kumimoji="1">
                <a:solidFill>
                  <a:schemeClr val="tx1"/>
                </a:solidFill>
                <a:latin typeface="Arial" panose="020B0604020202020204" pitchFamily="34" charset="0"/>
                <a:ea typeface="ＭＳ Ｐゴシック" panose="020B0600070205080204" pitchFamily="50" charset="-128"/>
              </a:defRPr>
            </a:lvl3pPr>
            <a:lvl4pPr marL="1431925" defTabSz="442913">
              <a:defRPr kumimoji="1">
                <a:solidFill>
                  <a:schemeClr val="tx1"/>
                </a:solidFill>
                <a:latin typeface="Arial" panose="020B0604020202020204" pitchFamily="34" charset="0"/>
                <a:ea typeface="ＭＳ Ｐゴシック" panose="020B0600070205080204" pitchFamily="50" charset="-128"/>
              </a:defRPr>
            </a:lvl4pPr>
            <a:lvl5pPr marL="1909763" defTabSz="442913">
              <a:defRPr kumimoji="1">
                <a:solidFill>
                  <a:schemeClr val="tx1"/>
                </a:solidFill>
                <a:latin typeface="Arial" panose="020B0604020202020204" pitchFamily="34" charset="0"/>
                <a:ea typeface="ＭＳ Ｐゴシック" panose="020B0600070205080204" pitchFamily="50" charset="-128"/>
              </a:defRPr>
            </a:lvl5pPr>
            <a:lvl6pPr marL="23669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latin typeface="ＭＳ ゴシック" panose="020B0609070205080204" pitchFamily="49" charset="-128"/>
                <a:ea typeface="ＭＳ ゴシック" panose="020B0609070205080204" pitchFamily="49" charset="-128"/>
              </a:rPr>
              <a:t>public String getFullName() { }</a:t>
            </a:r>
          </a:p>
          <a:p>
            <a:pPr lvl="1" algn="just"/>
            <a:r>
              <a:rPr lang="en-US" altLang="ja-JP" b="0">
                <a:latin typeface="ＭＳ ゴシック" panose="020B0609070205080204" pitchFamily="49" charset="-128"/>
                <a:ea typeface="ＭＳ ゴシック" panose="020B0609070205080204" pitchFamily="49" charset="-128"/>
              </a:rPr>
              <a:t>public String getFullName(String delim) { }</a:t>
            </a:r>
          </a:p>
        </p:txBody>
      </p:sp>
      <p:sp>
        <p:nvSpPr>
          <p:cNvPr id="576533" name="Text Box 21">
            <a:extLst>
              <a:ext uri="{FF2B5EF4-FFF2-40B4-BE49-F238E27FC236}">
                <a16:creationId xmlns:a16="http://schemas.microsoft.com/office/drawing/2014/main" id="{416F172C-E129-9BF2-3A6A-504B01EF1583}"/>
              </a:ext>
            </a:extLst>
          </p:cNvPr>
          <p:cNvSpPr txBox="1">
            <a:spLocks noChangeArrowheads="1"/>
          </p:cNvSpPr>
          <p:nvPr/>
        </p:nvSpPr>
        <p:spPr bwMode="auto">
          <a:xfrm>
            <a:off x="681038" y="5303838"/>
            <a:ext cx="5643562" cy="41751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latin typeface="ＭＳ ゴシック" panose="020B0609070205080204" pitchFamily="49" charset="-128"/>
                <a:ea typeface="ＭＳ ゴシック" panose="020B0609070205080204" pitchFamily="49" charset="-128"/>
              </a:rPr>
              <a:t>System.out.println(personA.</a:t>
            </a:r>
            <a:r>
              <a:rPr lang="en-US" altLang="ja-JP" b="0">
                <a:latin typeface="ＭＳ ゴシック" panose="020B0609070205080204" pitchFamily="49" charset="-128"/>
                <a:ea typeface="ＭＳ ゴシック" panose="020B0609070205080204" pitchFamily="49" charset="-128"/>
              </a:rPr>
              <a:t>getFullName</a:t>
            </a: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Gọi ra method không có đối số</a:t>
            </a:r>
          </a:p>
          <a:p>
            <a:pPr lvl="1" algn="just"/>
            <a:r>
              <a:rPr lang="ja-JP" altLang="ja-JP" b="0">
                <a:latin typeface="ＭＳ ゴシック" panose="020B0609070205080204" pitchFamily="49" charset="-128"/>
                <a:ea typeface="ＭＳ ゴシック" panose="020B0609070205080204" pitchFamily="49" charset="-128"/>
              </a:rPr>
              <a:t>System.out.println(personA.</a:t>
            </a:r>
            <a:r>
              <a:rPr lang="en-US" altLang="ja-JP" b="0">
                <a:latin typeface="ＭＳ ゴシック" panose="020B0609070205080204" pitchFamily="49" charset="-128"/>
                <a:ea typeface="ＭＳ ゴシック" panose="020B0609070205080204" pitchFamily="49" charset="-128"/>
              </a:rPr>
              <a:t>getFullName</a:t>
            </a:r>
            <a:r>
              <a:rPr lang="ja-JP" altLang="ja-JP" b="0">
                <a:latin typeface="ＭＳ ゴシック" panose="020B0609070205080204" pitchFamily="49" charset="-128"/>
                <a:ea typeface="ＭＳ ゴシック" panose="020B0609070205080204" pitchFamily="49" charset="-128"/>
              </a:rPr>
              <a:t>("："));   // </a:t>
            </a:r>
            <a:r>
              <a:rPr lang="en-US" altLang="ja-JP" b="0">
                <a:ea typeface="MS UI Gothic" panose="020B0600070205080204" pitchFamily="50" charset="-128"/>
              </a:rPr>
              <a:t>Gọi ra method có đối số</a:t>
            </a:r>
            <a:endParaRPr lang="ja-JP" altLang="ja-JP" b="0">
              <a:ea typeface="MS UI Gothic" panose="020B0600070205080204" pitchFamily="50" charset="-128"/>
            </a:endParaRPr>
          </a:p>
        </p:txBody>
      </p:sp>
      <p:sp>
        <p:nvSpPr>
          <p:cNvPr id="576534" name="Text Box 22">
            <a:extLst>
              <a:ext uri="{FF2B5EF4-FFF2-40B4-BE49-F238E27FC236}">
                <a16:creationId xmlns:a16="http://schemas.microsoft.com/office/drawing/2014/main" id="{3C7E93FD-0523-3C1E-FE2F-D05D502A9175}"/>
              </a:ext>
            </a:extLst>
          </p:cNvPr>
          <p:cNvSpPr txBox="1">
            <a:spLocks noChangeArrowheads="1"/>
          </p:cNvSpPr>
          <p:nvPr/>
        </p:nvSpPr>
        <p:spPr bwMode="auto">
          <a:xfrm>
            <a:off x="715963" y="8596313"/>
            <a:ext cx="5649912" cy="4000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latin typeface="ＭＳ ゴシック" panose="020B0609070205080204" pitchFamily="49" charset="-128"/>
                <a:ea typeface="ＭＳ ゴシック" panose="020B0609070205080204" pitchFamily="49" charset="-128"/>
              </a:rPr>
              <a:t>System.out.println(“</a:t>
            </a:r>
            <a:r>
              <a:rPr lang="en-US" altLang="ja-JP" b="0">
                <a:ea typeface="ＭＳ ゴシック" panose="020B0609070205080204" pitchFamily="49" charset="-128"/>
              </a:rPr>
              <a:t>chủng loại</a:t>
            </a:r>
            <a:r>
              <a:rPr lang="ja-JP" altLang="ja-JP" b="0">
                <a:latin typeface="ＭＳ ゴシック" panose="020B0609070205080204" pitchFamily="49" charset="-128"/>
                <a:ea typeface="ＭＳ ゴシック" panose="020B0609070205080204" pitchFamily="49" charset="-128"/>
              </a:rPr>
              <a:t>：" + Person.SPECIES);</a:t>
            </a:r>
            <a:endParaRPr lang="en-US" altLang="ja-JP" b="0">
              <a:latin typeface="ＭＳ ゴシック" panose="020B0609070205080204" pitchFamily="49" charset="-128"/>
              <a:ea typeface="ＭＳ ゴシック" panose="020B0609070205080204" pitchFamily="49" charset="-128"/>
            </a:endParaRPr>
          </a:p>
          <a:p>
            <a:pPr lvl="1" algn="just"/>
            <a:r>
              <a:rPr lang="ja-JP" altLang="ja-JP" b="0">
                <a:latin typeface="ＭＳ ゴシック" panose="020B0609070205080204" pitchFamily="49" charset="-128"/>
                <a:ea typeface="ＭＳ ゴシック" panose="020B0609070205080204" pitchFamily="49" charset="-128"/>
              </a:rPr>
              <a:t>Person.printSpecies();</a:t>
            </a:r>
          </a:p>
        </p:txBody>
      </p:sp>
      <p:sp>
        <p:nvSpPr>
          <p:cNvPr id="576535" name="Text Box 23">
            <a:extLst>
              <a:ext uri="{FF2B5EF4-FFF2-40B4-BE49-F238E27FC236}">
                <a16:creationId xmlns:a16="http://schemas.microsoft.com/office/drawing/2014/main" id="{10FF8B52-5D5E-BD37-FB39-26C2C7F275AF}"/>
              </a:ext>
            </a:extLst>
          </p:cNvPr>
          <p:cNvSpPr txBox="1">
            <a:spLocks noChangeArrowheads="1"/>
          </p:cNvSpPr>
          <p:nvPr/>
        </p:nvSpPr>
        <p:spPr bwMode="auto">
          <a:xfrm>
            <a:off x="717550" y="6931025"/>
            <a:ext cx="5646738" cy="9350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442913">
              <a:defRPr kumimoji="1">
                <a:solidFill>
                  <a:schemeClr val="tx1"/>
                </a:solidFill>
                <a:latin typeface="Arial" panose="020B0604020202020204" pitchFamily="34" charset="0"/>
                <a:ea typeface="ＭＳ Ｐゴシック" panose="020B0600070205080204" pitchFamily="50" charset="-128"/>
              </a:defRPr>
            </a:lvl1pPr>
            <a:lvl2pPr marL="187325" defTabSz="442913">
              <a:defRPr kumimoji="1">
                <a:solidFill>
                  <a:schemeClr val="tx1"/>
                </a:solidFill>
                <a:latin typeface="Arial" panose="020B0604020202020204" pitchFamily="34" charset="0"/>
                <a:ea typeface="ＭＳ Ｐゴシック" panose="020B0600070205080204" pitchFamily="50" charset="-128"/>
              </a:defRPr>
            </a:lvl2pPr>
            <a:lvl3pPr marL="954088" defTabSz="442913">
              <a:defRPr kumimoji="1">
                <a:solidFill>
                  <a:schemeClr val="tx1"/>
                </a:solidFill>
                <a:latin typeface="Arial" panose="020B0604020202020204" pitchFamily="34" charset="0"/>
                <a:ea typeface="ＭＳ Ｐゴシック" panose="020B0600070205080204" pitchFamily="50" charset="-128"/>
              </a:defRPr>
            </a:lvl3pPr>
            <a:lvl4pPr marL="1431925" defTabSz="442913">
              <a:defRPr kumimoji="1">
                <a:solidFill>
                  <a:schemeClr val="tx1"/>
                </a:solidFill>
                <a:latin typeface="Arial" panose="020B0604020202020204" pitchFamily="34" charset="0"/>
                <a:ea typeface="ＭＳ Ｐゴシック" panose="020B0600070205080204" pitchFamily="50" charset="-128"/>
              </a:defRPr>
            </a:lvl4pPr>
            <a:lvl5pPr marL="1909763" defTabSz="442913">
              <a:defRPr kumimoji="1">
                <a:solidFill>
                  <a:schemeClr val="tx1"/>
                </a:solidFill>
                <a:latin typeface="Arial" panose="020B0604020202020204" pitchFamily="34" charset="0"/>
                <a:ea typeface="ＭＳ Ｐゴシック" panose="020B0600070205080204" pitchFamily="50" charset="-128"/>
              </a:defRPr>
            </a:lvl5pPr>
            <a:lvl6pPr marL="23669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latin typeface="ＭＳ ゴシック" panose="020B0609070205080204" pitchFamily="49" charset="-128"/>
                <a:ea typeface="ＭＳ ゴシック" panose="020B0609070205080204" pitchFamily="49" charset="-128"/>
              </a:rPr>
              <a:t>public static final String SPECIES = "Homo sapiens";</a:t>
            </a:r>
          </a:p>
          <a:p>
            <a:pPr lvl="1" algn="just"/>
            <a:r>
              <a:rPr lang="en-US" altLang="ja-JP" b="0">
                <a:latin typeface="ＭＳ ゴシック" panose="020B0609070205080204" pitchFamily="49" charset="-128"/>
                <a:ea typeface="ＭＳ ゴシック" panose="020B0609070205080204" pitchFamily="49" charset="-128"/>
              </a:rPr>
              <a:t> </a:t>
            </a:r>
          </a:p>
          <a:p>
            <a:pPr lvl="1" algn="just"/>
            <a:r>
              <a:rPr lang="en-US" altLang="ja-JP" b="0">
                <a:latin typeface="ＭＳ ゴシック" panose="020B0609070205080204" pitchFamily="49" charset="-128"/>
                <a:ea typeface="ＭＳ ゴシック" panose="020B0609070205080204" pitchFamily="49" charset="-128"/>
              </a:rPr>
              <a:t>public static void printSpecies() {</a:t>
            </a:r>
          </a:p>
          <a:p>
            <a:pPr lvl="1" algn="just"/>
            <a:r>
              <a:rPr lang="en-US" altLang="ja-JP" b="0">
                <a:latin typeface="ＭＳ ゴシック" panose="020B0609070205080204" pitchFamily="49" charset="-128"/>
                <a:ea typeface="ＭＳ ゴシック" panose="020B0609070205080204" pitchFamily="49" charset="-128"/>
              </a:rPr>
              <a:t>    System.out.println(SPECIES);    // </a:t>
            </a:r>
            <a:r>
              <a:rPr lang="en-US" altLang="ja-JP" b="0">
                <a:ea typeface="ＭＳ ゴシック" panose="020B0609070205080204" pitchFamily="49" charset="-128"/>
              </a:rPr>
              <a:t>Chỉ định</a:t>
            </a:r>
            <a:r>
              <a:rPr lang="en-US" altLang="ja-JP" b="0">
                <a:latin typeface="ＭＳ ゴシック" panose="020B0609070205080204" pitchFamily="49" charset="-128"/>
                <a:ea typeface="ＭＳ ゴシック" panose="020B0609070205080204" pitchFamily="49" charset="-128"/>
              </a:rPr>
              <a:t> Person.SPECIES </a:t>
            </a:r>
            <a:r>
              <a:rPr lang="en-US" altLang="ja-JP" b="0">
                <a:ea typeface="ＭＳ ゴシック" panose="020B0609070205080204" pitchFamily="49" charset="-128"/>
              </a:rPr>
              <a:t>cũng được</a:t>
            </a:r>
            <a:r>
              <a:rPr lang="en-US" altLang="ja-JP" b="0">
                <a:latin typeface="ＭＳ ゴシック" panose="020B0609070205080204" pitchFamily="49" charset="-128"/>
                <a:ea typeface="ＭＳ ゴシック" panose="020B0609070205080204" pitchFamily="49" charset="-128"/>
              </a:rPr>
              <a:t>.</a:t>
            </a:r>
          </a:p>
          <a:p>
            <a:pPr lvl="1" algn="just"/>
            <a:r>
              <a:rPr lang="en-US" altLang="ja-JP" b="0">
                <a:latin typeface="ＭＳ ゴシック" panose="020B0609070205080204" pitchFamily="49" charset="-128"/>
                <a:ea typeface="ＭＳ ゴシック" panose="020B0609070205080204" pitchFamily="49" charset="-128"/>
              </a:rPr>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0498" name="AutoShape 2">
            <a:extLst>
              <a:ext uri="{FF2B5EF4-FFF2-40B4-BE49-F238E27FC236}">
                <a16:creationId xmlns:a16="http://schemas.microsoft.com/office/drawing/2014/main" id="{2FFE0C94-DC65-DCCF-3809-A317CE330FDF}"/>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endParaRPr lang="ja-JP" altLang="en-US" sz="130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Sinh/giải phóng object</a:t>
            </a:r>
          </a:p>
          <a:p>
            <a:r>
              <a:rPr lang="ja-JP" altLang="en-US" b="0">
                <a:ea typeface="MS UI Gothic" panose="020B0600070205080204" pitchFamily="50" charset="-128"/>
              </a:rPr>
              <a:t>　</a:t>
            </a:r>
            <a:r>
              <a:rPr lang="en-US" altLang="ja-JP" b="0">
                <a:ea typeface="MS UI Gothic" panose="020B0600070205080204" pitchFamily="50" charset="-128"/>
              </a:rPr>
              <a:t>Để sinh object(instance) dựa vào định nghĩa class thì sử dụng toán tử new.</a:t>
            </a:r>
          </a:p>
          <a:p>
            <a:r>
              <a:rPr lang="ja-JP" altLang="en-US" b="0">
                <a:ea typeface="MS UI Gothic" panose="020B0600070205080204" pitchFamily="50" charset="-128"/>
              </a:rPr>
              <a:t>　</a:t>
            </a:r>
          </a:p>
          <a:p>
            <a:r>
              <a:rPr lang="ja-JP" altLang="en-US" b="0">
                <a:ea typeface="MS UI Gothic" panose="020B0600070205080204" pitchFamily="50" charset="-128"/>
              </a:rPr>
              <a:t>●　</a:t>
            </a:r>
            <a:r>
              <a:rPr lang="en-US" altLang="ja-JP" b="0">
                <a:ea typeface="MS UI Gothic" panose="020B0600070205080204" pitchFamily="50" charset="-128"/>
              </a:rPr>
              <a:t>Sinh object</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Giải phóng object</a:t>
            </a:r>
          </a:p>
          <a:p>
            <a:endParaRPr lang="en-US" altLang="ja-JP" b="0">
              <a:ea typeface="MS UI Gothic" panose="020B0600070205080204" pitchFamily="50" charset="-128"/>
            </a:endParaRPr>
          </a:p>
        </p:txBody>
      </p:sp>
      <p:sp>
        <p:nvSpPr>
          <p:cNvPr id="490499" name="AutoShape 3">
            <a:extLst>
              <a:ext uri="{FF2B5EF4-FFF2-40B4-BE49-F238E27FC236}">
                <a16:creationId xmlns:a16="http://schemas.microsoft.com/office/drawing/2014/main" id="{BCF11021-D815-0861-0F5E-93DEFB274D60}"/>
              </a:ext>
            </a:extLst>
          </p:cNvPr>
          <p:cNvSpPr>
            <a:spLocks noChangeArrowheads="1"/>
          </p:cNvSpPr>
          <p:nvPr/>
        </p:nvSpPr>
        <p:spPr bwMode="auto">
          <a:xfrm>
            <a:off x="603250" y="442913"/>
            <a:ext cx="14605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Tóm tắt (3)</a:t>
            </a:r>
          </a:p>
        </p:txBody>
      </p:sp>
      <p:sp>
        <p:nvSpPr>
          <p:cNvPr id="490525" name="Text Box 29">
            <a:extLst>
              <a:ext uri="{FF2B5EF4-FFF2-40B4-BE49-F238E27FC236}">
                <a16:creationId xmlns:a16="http://schemas.microsoft.com/office/drawing/2014/main" id="{99974F4D-152C-9F63-AA78-2596236C05E7}"/>
              </a:ext>
            </a:extLst>
          </p:cNvPr>
          <p:cNvSpPr txBox="1">
            <a:spLocks noChangeArrowheads="1"/>
          </p:cNvSpPr>
          <p:nvPr/>
        </p:nvSpPr>
        <p:spPr bwMode="auto">
          <a:xfrm>
            <a:off x="747713" y="1649413"/>
            <a:ext cx="5643562" cy="2571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latin typeface="ＭＳ ゴシック" panose="020B0609070205080204" pitchFamily="49" charset="-128"/>
                <a:ea typeface="ＭＳ ゴシック" panose="020B0609070205080204" pitchFamily="49" charset="-128"/>
              </a:rPr>
              <a:t>Person personA = new Person();</a:t>
            </a:r>
          </a:p>
        </p:txBody>
      </p:sp>
      <p:sp>
        <p:nvSpPr>
          <p:cNvPr id="490527" name="Text Box 31">
            <a:extLst>
              <a:ext uri="{FF2B5EF4-FFF2-40B4-BE49-F238E27FC236}">
                <a16:creationId xmlns:a16="http://schemas.microsoft.com/office/drawing/2014/main" id="{E0152C84-2914-9142-86F8-5628B3A621AE}"/>
              </a:ext>
            </a:extLst>
          </p:cNvPr>
          <p:cNvSpPr txBox="1">
            <a:spLocks noChangeArrowheads="1"/>
          </p:cNvSpPr>
          <p:nvPr/>
        </p:nvSpPr>
        <p:spPr bwMode="auto">
          <a:xfrm>
            <a:off x="719138" y="5281613"/>
            <a:ext cx="5643562" cy="27463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latin typeface="ＭＳ ゴシック" panose="020B0609070205080204" pitchFamily="49" charset="-128"/>
                <a:ea typeface="ＭＳ ゴシック" panose="020B0609070205080204" pitchFamily="49" charset="-128"/>
              </a:rPr>
              <a:t>personA = null;</a:t>
            </a:r>
          </a:p>
        </p:txBody>
      </p:sp>
      <p:grpSp>
        <p:nvGrpSpPr>
          <p:cNvPr id="490557" name="Group 61">
            <a:extLst>
              <a:ext uri="{FF2B5EF4-FFF2-40B4-BE49-F238E27FC236}">
                <a16:creationId xmlns:a16="http://schemas.microsoft.com/office/drawing/2014/main" id="{612D2394-7178-34EB-615B-33F040C180C1}"/>
              </a:ext>
            </a:extLst>
          </p:cNvPr>
          <p:cNvGrpSpPr>
            <a:grpSpLocks/>
          </p:cNvGrpSpPr>
          <p:nvPr/>
        </p:nvGrpSpPr>
        <p:grpSpPr bwMode="auto">
          <a:xfrm>
            <a:off x="3046413" y="2751138"/>
            <a:ext cx="2506662" cy="1736725"/>
            <a:chOff x="1919" y="1733"/>
            <a:chExt cx="1579" cy="1094"/>
          </a:xfrm>
        </p:grpSpPr>
        <p:sp>
          <p:nvSpPr>
            <p:cNvPr id="490531" name="Cloud">
              <a:extLst>
                <a:ext uri="{FF2B5EF4-FFF2-40B4-BE49-F238E27FC236}">
                  <a16:creationId xmlns:a16="http://schemas.microsoft.com/office/drawing/2014/main" id="{C8447653-057E-12B5-9449-A37F89A92E96}"/>
                </a:ext>
              </a:extLst>
            </p:cNvPr>
            <p:cNvSpPr>
              <a:spLocks noChangeAspect="1" noEditPoints="1" noChangeArrowheads="1"/>
            </p:cNvSpPr>
            <p:nvPr/>
          </p:nvSpPr>
          <p:spPr bwMode="auto">
            <a:xfrm>
              <a:off x="1919" y="1733"/>
              <a:ext cx="1579" cy="1094"/>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lIns="91410" tIns="9716" rIns="91410" bIns="971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ea typeface="MS UI Gothic" panose="020B0600070205080204" pitchFamily="50" charset="-128"/>
              </a:endParaRPr>
            </a:p>
          </p:txBody>
        </p:sp>
        <p:grpSp>
          <p:nvGrpSpPr>
            <p:cNvPr id="490556" name="Group 60">
              <a:extLst>
                <a:ext uri="{FF2B5EF4-FFF2-40B4-BE49-F238E27FC236}">
                  <a16:creationId xmlns:a16="http://schemas.microsoft.com/office/drawing/2014/main" id="{F1690C7F-D194-C444-B5CF-463AF99E826E}"/>
                </a:ext>
              </a:extLst>
            </p:cNvPr>
            <p:cNvGrpSpPr>
              <a:grpSpLocks/>
            </p:cNvGrpSpPr>
            <p:nvPr/>
          </p:nvGrpSpPr>
          <p:grpSpPr bwMode="auto">
            <a:xfrm>
              <a:off x="2198" y="1895"/>
              <a:ext cx="1132" cy="757"/>
              <a:chOff x="2198" y="1895"/>
              <a:chExt cx="1132" cy="757"/>
            </a:xfrm>
          </p:grpSpPr>
          <p:sp>
            <p:nvSpPr>
              <p:cNvPr id="490533" name="Text Box 37">
                <a:extLst>
                  <a:ext uri="{FF2B5EF4-FFF2-40B4-BE49-F238E27FC236}">
                    <a16:creationId xmlns:a16="http://schemas.microsoft.com/office/drawing/2014/main" id="{C36F080D-68B5-F393-08D1-4615D487C6E0}"/>
                  </a:ext>
                </a:extLst>
              </p:cNvPr>
              <p:cNvSpPr txBox="1">
                <a:spLocks noChangeArrowheads="1"/>
              </p:cNvSpPr>
              <p:nvPr/>
            </p:nvSpPr>
            <p:spPr bwMode="auto">
              <a:xfrm>
                <a:off x="2198" y="1895"/>
                <a:ext cx="1132" cy="757"/>
              </a:xfrm>
              <a:prstGeom prst="rect">
                <a:avLst/>
              </a:prstGeom>
              <a:noFill/>
              <a:ln w="12700">
                <a:solidFill>
                  <a:srgbClr val="80808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ja-JP" altLang="ja-JP" sz="800" b="0">
                    <a:latin typeface="ＭＳ ゴシック" panose="020B0609070205080204" pitchFamily="49" charset="-128"/>
                    <a:ea typeface="ＭＳ ゴシック" panose="020B0609070205080204" pitchFamily="49" charset="-128"/>
                  </a:rPr>
                  <a:t>　lastName</a:t>
                </a:r>
              </a:p>
              <a:p>
                <a:pPr algn="just">
                  <a:spcBef>
                    <a:spcPct val="50000"/>
                  </a:spcBef>
                </a:pPr>
                <a:r>
                  <a:rPr lang="ja-JP" altLang="ja-JP" sz="800" b="0">
                    <a:latin typeface="ＭＳ ゴシック" panose="020B0609070205080204" pitchFamily="49" charset="-128"/>
                    <a:ea typeface="ＭＳ ゴシック" panose="020B0609070205080204" pitchFamily="49" charset="-128"/>
                  </a:rPr>
                  <a:t>　firstName </a:t>
                </a:r>
                <a:endParaRPr lang="en-US" altLang="ja-JP" sz="800" b="0">
                  <a:latin typeface="ＭＳ ゴシック" panose="020B0609070205080204" pitchFamily="49" charset="-128"/>
                  <a:ea typeface="ＭＳ ゴシック" panose="020B0609070205080204" pitchFamily="49" charset="-128"/>
                </a:endParaRPr>
              </a:p>
              <a:p>
                <a:pPr algn="just">
                  <a:spcBef>
                    <a:spcPct val="20000"/>
                  </a:spcBef>
                </a:pPr>
                <a:r>
                  <a:rPr lang="ja-JP" altLang="ja-JP" sz="800" b="0">
                    <a:latin typeface="ＭＳ ゴシック" panose="020B0609070205080204" pitchFamily="49" charset="-128"/>
                    <a:ea typeface="ＭＳ ゴシック" panose="020B0609070205080204" pitchFamily="49" charset="-128"/>
                  </a:rPr>
                  <a:t>　age</a:t>
                </a:r>
                <a:endParaRPr lang="en-US" altLang="ja-JP" sz="800" b="0">
                  <a:latin typeface="ＭＳ ゴシック" panose="020B0609070205080204" pitchFamily="49" charset="-128"/>
                  <a:ea typeface="ＭＳ ゴシック" panose="020B0609070205080204" pitchFamily="49" charset="-128"/>
                </a:endParaRPr>
              </a:p>
              <a:p>
                <a:pPr algn="just">
                  <a:lnSpc>
                    <a:spcPct val="75000"/>
                  </a:lnSpc>
                </a:pPr>
                <a:endParaRPr lang="ja-JP" altLang="ja-JP" sz="800" b="0">
                  <a:latin typeface="ＭＳ ゴシック" panose="020B0609070205080204" pitchFamily="49" charset="-128"/>
                  <a:ea typeface="ＭＳ ゴシック" panose="020B0609070205080204" pitchFamily="49" charset="-128"/>
                </a:endParaRP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setLastName(l:String):void</a:t>
                </a:r>
              </a:p>
              <a:p>
                <a:pPr algn="just"/>
                <a:r>
                  <a:rPr lang="ja-JP" altLang="ja-JP" sz="800" b="0">
                    <a:latin typeface="ＭＳ ゴシック" panose="020B0609070205080204" pitchFamily="49" charset="-128"/>
                    <a:ea typeface="ＭＳ ゴシック" panose="020B0609070205080204" pitchFamily="49" charset="-128"/>
                  </a:rPr>
                  <a:t>　getFullName():String</a:t>
                </a:r>
              </a:p>
              <a:p>
                <a:pPr algn="just"/>
                <a:r>
                  <a:rPr lang="ja-JP" altLang="ja-JP" sz="800" b="0">
                    <a:latin typeface="ＭＳ ゴシック" panose="020B0609070205080204" pitchFamily="49" charset="-128"/>
                    <a:ea typeface="ＭＳ ゴシック" panose="020B0609070205080204" pitchFamily="49" charset="-128"/>
                  </a:rPr>
                  <a:t>　printInfo():void</a:t>
                </a:r>
              </a:p>
            </p:txBody>
          </p:sp>
          <p:sp>
            <p:nvSpPr>
              <p:cNvPr id="490534" name="Line 38">
                <a:extLst>
                  <a:ext uri="{FF2B5EF4-FFF2-40B4-BE49-F238E27FC236}">
                    <a16:creationId xmlns:a16="http://schemas.microsoft.com/office/drawing/2014/main" id="{C131EDF3-C930-664B-6DBC-8C8ACFE8C7CC}"/>
                  </a:ext>
                </a:extLst>
              </p:cNvPr>
              <p:cNvSpPr>
                <a:spLocks noChangeShapeType="1"/>
              </p:cNvSpPr>
              <p:nvPr/>
            </p:nvSpPr>
            <p:spPr bwMode="auto">
              <a:xfrm>
                <a:off x="2203" y="2239"/>
                <a:ext cx="1127" cy="1"/>
              </a:xfrm>
              <a:prstGeom prst="line">
                <a:avLst/>
              </a:prstGeom>
              <a:noFill/>
              <a:ln w="12700">
                <a:solidFill>
                  <a:srgbClr val="80808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490535" name="Rectangle 39">
                <a:extLst>
                  <a:ext uri="{FF2B5EF4-FFF2-40B4-BE49-F238E27FC236}">
                    <a16:creationId xmlns:a16="http://schemas.microsoft.com/office/drawing/2014/main" id="{0E4CCF29-1E27-A28A-BDE9-BE9D0ADB8D4D}"/>
                  </a:ext>
                </a:extLst>
              </p:cNvPr>
              <p:cNvSpPr>
                <a:spLocks noChangeArrowheads="1"/>
              </p:cNvSpPr>
              <p:nvPr/>
            </p:nvSpPr>
            <p:spPr bwMode="auto">
              <a:xfrm>
                <a:off x="2660" y="2149"/>
                <a:ext cx="333" cy="83"/>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latin typeface="MS UI Gothic" panose="020B0600070205080204" pitchFamily="50" charset="-128"/>
                    <a:ea typeface="MS UI Gothic" panose="020B0600070205080204" pitchFamily="50" charset="-128"/>
                  </a:rPr>
                  <a:t>20</a:t>
                </a:r>
                <a:endParaRPr lang="en-US" altLang="ja-JP" sz="800">
                  <a:latin typeface="MS UI Gothic" panose="020B0600070205080204" pitchFamily="50" charset="-128"/>
                  <a:ea typeface="MS UI Gothic" panose="020B0600070205080204" pitchFamily="50" charset="-128"/>
                </a:endParaRPr>
              </a:p>
            </p:txBody>
          </p:sp>
          <p:sp>
            <p:nvSpPr>
              <p:cNvPr id="490536" name="Rectangle 40">
                <a:extLst>
                  <a:ext uri="{FF2B5EF4-FFF2-40B4-BE49-F238E27FC236}">
                    <a16:creationId xmlns:a16="http://schemas.microsoft.com/office/drawing/2014/main" id="{A9F8BC06-5429-31B3-E5DD-59479D4CE3D2}"/>
                  </a:ext>
                </a:extLst>
              </p:cNvPr>
              <p:cNvSpPr>
                <a:spLocks noChangeArrowheads="1"/>
              </p:cNvSpPr>
              <p:nvPr/>
            </p:nvSpPr>
            <p:spPr bwMode="auto">
              <a:xfrm>
                <a:off x="2658" y="2043"/>
                <a:ext cx="372" cy="89"/>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ea typeface="MS UI Gothic" panose="020B0600070205080204" pitchFamily="50" charset="-128"/>
                  </a:rPr>
                  <a:t>Ko có tên</a:t>
                </a:r>
              </a:p>
            </p:txBody>
          </p:sp>
          <p:sp>
            <p:nvSpPr>
              <p:cNvPr id="490537" name="Rectangle 41">
                <a:extLst>
                  <a:ext uri="{FF2B5EF4-FFF2-40B4-BE49-F238E27FC236}">
                    <a16:creationId xmlns:a16="http://schemas.microsoft.com/office/drawing/2014/main" id="{15C6FADD-0FBB-36B1-217F-9EEA3927A4DC}"/>
                  </a:ext>
                </a:extLst>
              </p:cNvPr>
              <p:cNvSpPr>
                <a:spLocks noChangeArrowheads="1"/>
              </p:cNvSpPr>
              <p:nvPr/>
            </p:nvSpPr>
            <p:spPr bwMode="auto">
              <a:xfrm>
                <a:off x="2663" y="1930"/>
                <a:ext cx="370" cy="90"/>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ea typeface="MS UI Gothic" panose="020B0600070205080204" pitchFamily="50" charset="-128"/>
                  </a:rPr>
                  <a:t>Ko có họ</a:t>
                </a:r>
              </a:p>
            </p:txBody>
          </p:sp>
        </p:grpSp>
      </p:grpSp>
      <p:sp>
        <p:nvSpPr>
          <p:cNvPr id="490538" name="Text Box 42">
            <a:extLst>
              <a:ext uri="{FF2B5EF4-FFF2-40B4-BE49-F238E27FC236}">
                <a16:creationId xmlns:a16="http://schemas.microsoft.com/office/drawing/2014/main" id="{3EA00AD8-8AD9-F2B9-976C-54EC77FE555D}"/>
              </a:ext>
            </a:extLst>
          </p:cNvPr>
          <p:cNvSpPr txBox="1">
            <a:spLocks noChangeArrowheads="1"/>
          </p:cNvSpPr>
          <p:nvPr/>
        </p:nvSpPr>
        <p:spPr bwMode="auto">
          <a:xfrm>
            <a:off x="1533525" y="2220913"/>
            <a:ext cx="823913" cy="4206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Biến</a:t>
            </a:r>
            <a:r>
              <a:rPr lang="ja-JP" altLang="en-US" b="0">
                <a:ea typeface="MS UI Gothic" panose="020B0600070205080204" pitchFamily="50" charset="-128"/>
              </a:rPr>
              <a:t>　</a:t>
            </a:r>
            <a:r>
              <a:rPr lang="en-US" altLang="ja-JP" b="0">
                <a:latin typeface="MS UI Gothic" panose="020B0600070205080204" pitchFamily="50" charset="-128"/>
                <a:ea typeface="MS UI Gothic" panose="020B0600070205080204" pitchFamily="50" charset="-128"/>
              </a:rPr>
              <a:t>personA</a:t>
            </a:r>
            <a:endParaRPr lang="en-US" altLang="ja-JP">
              <a:latin typeface="MS UI Gothic" panose="020B0600070205080204" pitchFamily="50" charset="-128"/>
              <a:ea typeface="MS UI Gothic" panose="020B0600070205080204" pitchFamily="50" charset="-128"/>
            </a:endParaRPr>
          </a:p>
        </p:txBody>
      </p:sp>
      <p:sp>
        <p:nvSpPr>
          <p:cNvPr id="490540" name="Cloud">
            <a:extLst>
              <a:ext uri="{FF2B5EF4-FFF2-40B4-BE49-F238E27FC236}">
                <a16:creationId xmlns:a16="http://schemas.microsoft.com/office/drawing/2014/main" id="{43AA55D3-31B2-F28B-66D7-15A025847631}"/>
              </a:ext>
            </a:extLst>
          </p:cNvPr>
          <p:cNvSpPr>
            <a:spLocks noChangeAspect="1" noEditPoints="1" noChangeArrowheads="1"/>
          </p:cNvSpPr>
          <p:nvPr/>
        </p:nvSpPr>
        <p:spPr bwMode="auto">
          <a:xfrm>
            <a:off x="3357563" y="6645275"/>
            <a:ext cx="2316162" cy="1736725"/>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0" y="8613"/>
                  <a:pt x="0" y="10137"/>
                </a:cubicBezTo>
                <a:cubicBezTo>
                  <a:pt x="0" y="11192"/>
                  <a:pt x="409" y="12169"/>
                  <a:pt x="1074" y="12702"/>
                </a:cubicBezTo>
                <a:lnTo>
                  <a:pt x="1063" y="12668"/>
                </a:lnTo>
                <a:cubicBezTo>
                  <a:pt x="685" y="13217"/>
                  <a:pt x="475" y="13940"/>
                  <a:pt x="475" y="14690"/>
                </a:cubicBezTo>
                <a:cubicBezTo>
                  <a:pt x="475" y="16325"/>
                  <a:pt x="1451" y="17650"/>
                  <a:pt x="2655" y="17650"/>
                </a:cubicBezTo>
                <a:cubicBezTo>
                  <a:pt x="2739" y="17649"/>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0"/>
                  <a:pt x="15367" y="426"/>
                  <a:pt x="14905" y="1165"/>
                </a:cubicBezTo>
                <a:lnTo>
                  <a:pt x="14909" y="1170"/>
                </a:lnTo>
                <a:cubicBezTo>
                  <a:pt x="14497" y="432"/>
                  <a:pt x="13855" y="0"/>
                  <a:pt x="13174" y="0"/>
                </a:cubicBezTo>
                <a:cubicBezTo>
                  <a:pt x="12347" y="0"/>
                  <a:pt x="11590" y="637"/>
                  <a:pt x="11221" y="1645"/>
                </a:cubicBezTo>
                <a:lnTo>
                  <a:pt x="11229" y="1694"/>
                </a:lnTo>
                <a:cubicBezTo>
                  <a:pt x="10730" y="1024"/>
                  <a:pt x="10058" y="650"/>
                  <a:pt x="9358" y="650"/>
                </a:cubicBezTo>
                <a:cubicBezTo>
                  <a:pt x="8372" y="650"/>
                  <a:pt x="7466" y="1391"/>
                  <a:pt x="7003" y="2578"/>
                </a:cubicBezTo>
                <a:lnTo>
                  <a:pt x="6995" y="2602"/>
                </a:lnTo>
                <a:cubicBezTo>
                  <a:pt x="6477" y="2189"/>
                  <a:pt x="5888" y="1972"/>
                  <a:pt x="5288" y="1972"/>
                </a:cubicBezTo>
                <a:cubicBezTo>
                  <a:pt x="3423" y="1972"/>
                  <a:pt x="1912" y="4029"/>
                  <a:pt x="1912" y="6567"/>
                </a:cubicBezTo>
                <a:cubicBezTo>
                  <a:pt x="1912"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FFCC"/>
          </a:solidFill>
          <a:ln w="9525">
            <a:solidFill>
              <a:srgbClr val="000000"/>
            </a:solidFill>
            <a:miter lim="800000"/>
            <a:headEnd/>
            <a:tailEnd/>
          </a:ln>
          <a:effectLst>
            <a:outerShdw dist="107763" dir="2700000" algn="ctr" rotWithShape="0">
              <a:srgbClr val="808080"/>
            </a:outerShdw>
          </a:effectLst>
        </p:spPr>
        <p:txBody>
          <a:bodyPr lIns="91410" tIns="9716" rIns="91410" bIns="971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endParaRPr lang="ja-JP" altLang="ja-JP">
              <a:ea typeface="MS UI Gothic" panose="020B0600070205080204" pitchFamily="50" charset="-128"/>
            </a:endParaRPr>
          </a:p>
        </p:txBody>
      </p:sp>
      <p:sp>
        <p:nvSpPr>
          <p:cNvPr id="490542" name="Text Box 46">
            <a:extLst>
              <a:ext uri="{FF2B5EF4-FFF2-40B4-BE49-F238E27FC236}">
                <a16:creationId xmlns:a16="http://schemas.microsoft.com/office/drawing/2014/main" id="{CF72238B-0E77-9955-332F-84342EA095D6}"/>
              </a:ext>
            </a:extLst>
          </p:cNvPr>
          <p:cNvSpPr txBox="1">
            <a:spLocks noChangeArrowheads="1"/>
          </p:cNvSpPr>
          <p:nvPr/>
        </p:nvSpPr>
        <p:spPr bwMode="auto">
          <a:xfrm>
            <a:off x="3765550" y="6902450"/>
            <a:ext cx="1590675" cy="1201738"/>
          </a:xfrm>
          <a:prstGeom prst="rect">
            <a:avLst/>
          </a:prstGeom>
          <a:noFill/>
          <a:ln w="12700">
            <a:solidFill>
              <a:srgbClr val="80808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ja-JP" altLang="ja-JP" sz="800" b="0">
                <a:latin typeface="ＭＳ ゴシック" panose="020B0609070205080204" pitchFamily="49" charset="-128"/>
                <a:ea typeface="ＭＳ ゴシック" panose="020B0609070205080204" pitchFamily="49" charset="-128"/>
              </a:rPr>
              <a:t>　lastName</a:t>
            </a:r>
          </a:p>
          <a:p>
            <a:pPr algn="just">
              <a:spcBef>
                <a:spcPct val="50000"/>
              </a:spcBef>
            </a:pPr>
            <a:r>
              <a:rPr lang="ja-JP" altLang="ja-JP" sz="800" b="0">
                <a:latin typeface="ＭＳ ゴシック" panose="020B0609070205080204" pitchFamily="49" charset="-128"/>
                <a:ea typeface="ＭＳ ゴシック" panose="020B0609070205080204" pitchFamily="49" charset="-128"/>
              </a:rPr>
              <a:t>　firstName </a:t>
            </a:r>
            <a:endParaRPr lang="en-US" altLang="ja-JP" sz="800" b="0">
              <a:latin typeface="ＭＳ ゴシック" panose="020B0609070205080204" pitchFamily="49" charset="-128"/>
              <a:ea typeface="ＭＳ ゴシック" panose="020B0609070205080204" pitchFamily="49" charset="-128"/>
            </a:endParaRPr>
          </a:p>
          <a:p>
            <a:pPr algn="just">
              <a:spcBef>
                <a:spcPct val="20000"/>
              </a:spcBef>
            </a:pPr>
            <a:r>
              <a:rPr lang="ja-JP" altLang="ja-JP" sz="800" b="0">
                <a:latin typeface="ＭＳ ゴシック" panose="020B0609070205080204" pitchFamily="49" charset="-128"/>
                <a:ea typeface="ＭＳ ゴシック" panose="020B0609070205080204" pitchFamily="49" charset="-128"/>
              </a:rPr>
              <a:t>　age</a:t>
            </a:r>
            <a:endParaRPr lang="en-US" altLang="ja-JP" sz="800" b="0">
              <a:latin typeface="ＭＳ ゴシック" panose="020B0609070205080204" pitchFamily="49" charset="-128"/>
              <a:ea typeface="ＭＳ ゴシック" panose="020B0609070205080204" pitchFamily="49" charset="-128"/>
            </a:endParaRPr>
          </a:p>
          <a:p>
            <a:pPr algn="just">
              <a:lnSpc>
                <a:spcPct val="75000"/>
              </a:lnSpc>
            </a:pPr>
            <a:endParaRPr lang="ja-JP" altLang="ja-JP" sz="800" b="0">
              <a:latin typeface="ＭＳ ゴシック" panose="020B0609070205080204" pitchFamily="49" charset="-128"/>
              <a:ea typeface="ＭＳ ゴシック" panose="020B0609070205080204" pitchFamily="49" charset="-128"/>
            </a:endParaRP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Person(…)</a:t>
            </a:r>
          </a:p>
          <a:p>
            <a:pPr algn="just"/>
            <a:r>
              <a:rPr lang="ja-JP" altLang="ja-JP" sz="800" b="0">
                <a:latin typeface="ＭＳ ゴシック" panose="020B0609070205080204" pitchFamily="49" charset="-128"/>
                <a:ea typeface="ＭＳ ゴシック" panose="020B0609070205080204" pitchFamily="49" charset="-128"/>
              </a:rPr>
              <a:t>　setLastName(l:String):void</a:t>
            </a:r>
          </a:p>
          <a:p>
            <a:pPr algn="just"/>
            <a:r>
              <a:rPr lang="ja-JP" altLang="ja-JP" sz="800" b="0">
                <a:latin typeface="ＭＳ ゴシック" panose="020B0609070205080204" pitchFamily="49" charset="-128"/>
                <a:ea typeface="ＭＳ ゴシック" panose="020B0609070205080204" pitchFamily="49" charset="-128"/>
              </a:rPr>
              <a:t>　getFullName():String</a:t>
            </a:r>
          </a:p>
          <a:p>
            <a:pPr algn="just"/>
            <a:r>
              <a:rPr lang="ja-JP" altLang="ja-JP" sz="800" b="0">
                <a:latin typeface="ＭＳ ゴシック" panose="020B0609070205080204" pitchFamily="49" charset="-128"/>
                <a:ea typeface="ＭＳ ゴシック" panose="020B0609070205080204" pitchFamily="49" charset="-128"/>
              </a:rPr>
              <a:t>　printInfo():void</a:t>
            </a:r>
          </a:p>
        </p:txBody>
      </p:sp>
      <p:sp>
        <p:nvSpPr>
          <p:cNvPr id="490543" name="Line 47">
            <a:extLst>
              <a:ext uri="{FF2B5EF4-FFF2-40B4-BE49-F238E27FC236}">
                <a16:creationId xmlns:a16="http://schemas.microsoft.com/office/drawing/2014/main" id="{48988F02-D470-40E9-2863-091F3E1770D5}"/>
              </a:ext>
            </a:extLst>
          </p:cNvPr>
          <p:cNvSpPr>
            <a:spLocks noChangeShapeType="1"/>
          </p:cNvSpPr>
          <p:nvPr/>
        </p:nvSpPr>
        <p:spPr bwMode="auto">
          <a:xfrm>
            <a:off x="3771900" y="7448550"/>
            <a:ext cx="1817688" cy="1588"/>
          </a:xfrm>
          <a:prstGeom prst="line">
            <a:avLst/>
          </a:prstGeom>
          <a:noFill/>
          <a:ln w="12700">
            <a:solidFill>
              <a:srgbClr val="80808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490544" name="Rectangle 48">
            <a:extLst>
              <a:ext uri="{FF2B5EF4-FFF2-40B4-BE49-F238E27FC236}">
                <a16:creationId xmlns:a16="http://schemas.microsoft.com/office/drawing/2014/main" id="{1C6D58AA-1BE3-5C55-34A9-C04807E3265A}"/>
              </a:ext>
            </a:extLst>
          </p:cNvPr>
          <p:cNvSpPr>
            <a:spLocks noChangeArrowheads="1"/>
          </p:cNvSpPr>
          <p:nvPr/>
        </p:nvSpPr>
        <p:spPr bwMode="auto">
          <a:xfrm>
            <a:off x="4445000" y="7305675"/>
            <a:ext cx="536575" cy="131763"/>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latin typeface="MS UI Gothic" panose="020B0600070205080204" pitchFamily="50" charset="-128"/>
                <a:ea typeface="MS UI Gothic" panose="020B0600070205080204" pitchFamily="50" charset="-128"/>
              </a:rPr>
              <a:t>20</a:t>
            </a:r>
            <a:endParaRPr lang="en-US" altLang="ja-JP" sz="800">
              <a:latin typeface="MS UI Gothic" panose="020B0600070205080204" pitchFamily="50" charset="-128"/>
              <a:ea typeface="MS UI Gothic" panose="020B0600070205080204" pitchFamily="50" charset="-128"/>
            </a:endParaRPr>
          </a:p>
        </p:txBody>
      </p:sp>
      <p:sp>
        <p:nvSpPr>
          <p:cNvPr id="490545" name="Rectangle 49">
            <a:extLst>
              <a:ext uri="{FF2B5EF4-FFF2-40B4-BE49-F238E27FC236}">
                <a16:creationId xmlns:a16="http://schemas.microsoft.com/office/drawing/2014/main" id="{0A02AC28-6CEA-AD9A-FC97-5C5F5C96DEF4}"/>
              </a:ext>
            </a:extLst>
          </p:cNvPr>
          <p:cNvSpPr>
            <a:spLocks noChangeArrowheads="1"/>
          </p:cNvSpPr>
          <p:nvPr/>
        </p:nvSpPr>
        <p:spPr bwMode="auto">
          <a:xfrm>
            <a:off x="4441825" y="7137400"/>
            <a:ext cx="539750" cy="141288"/>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lnSpc>
                <a:spcPct val="80000"/>
              </a:lnSpc>
            </a:pPr>
            <a:r>
              <a:rPr lang="en-US" altLang="ja-JP" sz="800" b="0">
                <a:ea typeface="MS UI Gothic" panose="020B0600070205080204" pitchFamily="50" charset="-128"/>
              </a:rPr>
              <a:t>Ko có tên</a:t>
            </a:r>
          </a:p>
        </p:txBody>
      </p:sp>
      <p:sp>
        <p:nvSpPr>
          <p:cNvPr id="490546" name="Rectangle 50">
            <a:extLst>
              <a:ext uri="{FF2B5EF4-FFF2-40B4-BE49-F238E27FC236}">
                <a16:creationId xmlns:a16="http://schemas.microsoft.com/office/drawing/2014/main" id="{D8148F6A-B092-452C-A39E-149290273D9E}"/>
              </a:ext>
            </a:extLst>
          </p:cNvPr>
          <p:cNvSpPr>
            <a:spLocks noChangeArrowheads="1"/>
          </p:cNvSpPr>
          <p:nvPr/>
        </p:nvSpPr>
        <p:spPr bwMode="auto">
          <a:xfrm>
            <a:off x="4448175" y="6958013"/>
            <a:ext cx="525463" cy="142875"/>
          </a:xfrm>
          <a:prstGeom prst="rect">
            <a:avLst/>
          </a:prstGeom>
          <a:noFill/>
          <a:ln w="12700">
            <a:solidFill>
              <a:srgbClr val="673EC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10796" rIns="35988" bIns="1079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800" b="0">
                <a:ea typeface="MS UI Gothic" panose="020B0600070205080204" pitchFamily="50" charset="-128"/>
              </a:rPr>
              <a:t>Ko có họ</a:t>
            </a:r>
          </a:p>
        </p:txBody>
      </p:sp>
      <p:sp>
        <p:nvSpPr>
          <p:cNvPr id="490547" name="Rectangle 51">
            <a:extLst>
              <a:ext uri="{FF2B5EF4-FFF2-40B4-BE49-F238E27FC236}">
                <a16:creationId xmlns:a16="http://schemas.microsoft.com/office/drawing/2014/main" id="{4BD5BF4B-C9F0-A802-91FD-0C186A4AA983}"/>
              </a:ext>
            </a:extLst>
          </p:cNvPr>
          <p:cNvSpPr>
            <a:spLocks noChangeArrowheads="1"/>
          </p:cNvSpPr>
          <p:nvPr/>
        </p:nvSpPr>
        <p:spPr bwMode="auto">
          <a:xfrm>
            <a:off x="1760538" y="2641600"/>
            <a:ext cx="358775" cy="158750"/>
          </a:xfrm>
          <a:prstGeom prst="rect">
            <a:avLst/>
          </a:prstGeom>
          <a:noFill/>
          <a:ln w="12700" algn="ctr">
            <a:solidFill>
              <a:schemeClr val="tx1"/>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0548" name="Line 52">
            <a:extLst>
              <a:ext uri="{FF2B5EF4-FFF2-40B4-BE49-F238E27FC236}">
                <a16:creationId xmlns:a16="http://schemas.microsoft.com/office/drawing/2014/main" id="{07638ACE-CB66-D9CF-AB67-6DCDFE613075}"/>
              </a:ext>
            </a:extLst>
          </p:cNvPr>
          <p:cNvSpPr>
            <a:spLocks noChangeShapeType="1"/>
          </p:cNvSpPr>
          <p:nvPr/>
        </p:nvSpPr>
        <p:spPr bwMode="auto">
          <a:xfrm>
            <a:off x="1976438" y="2725738"/>
            <a:ext cx="1152525" cy="490537"/>
          </a:xfrm>
          <a:prstGeom prst="line">
            <a:avLst/>
          </a:prstGeom>
          <a:noFill/>
          <a:ln w="12700">
            <a:solidFill>
              <a:srgbClr val="00008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0549" name="Rectangle 53">
            <a:extLst>
              <a:ext uri="{FF2B5EF4-FFF2-40B4-BE49-F238E27FC236}">
                <a16:creationId xmlns:a16="http://schemas.microsoft.com/office/drawing/2014/main" id="{33A3DDE9-39FE-03F9-7555-916AF9D7EA01}"/>
              </a:ext>
            </a:extLst>
          </p:cNvPr>
          <p:cNvSpPr>
            <a:spLocks noChangeArrowheads="1"/>
          </p:cNvSpPr>
          <p:nvPr/>
        </p:nvSpPr>
        <p:spPr bwMode="auto">
          <a:xfrm>
            <a:off x="1682750" y="6210300"/>
            <a:ext cx="400050" cy="277813"/>
          </a:xfrm>
          <a:prstGeom prst="rect">
            <a:avLst/>
          </a:prstGeom>
          <a:noFill/>
          <a:ln w="12700" algn="ctr">
            <a:solidFill>
              <a:schemeClr val="tx1"/>
            </a:solidFill>
            <a:miter lim="800000"/>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57" tIns="47728" rIns="95457" bIns="47728"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a:latin typeface="ＭＳ ゴシック" panose="020B0609070205080204" pitchFamily="49" charset="-128"/>
                <a:ea typeface="ＭＳ ゴシック" panose="020B0609070205080204" pitchFamily="49" charset="-128"/>
              </a:rPr>
              <a:t>null</a:t>
            </a:r>
          </a:p>
        </p:txBody>
      </p:sp>
      <p:sp>
        <p:nvSpPr>
          <p:cNvPr id="490550" name="Text Box 54">
            <a:extLst>
              <a:ext uri="{FF2B5EF4-FFF2-40B4-BE49-F238E27FC236}">
                <a16:creationId xmlns:a16="http://schemas.microsoft.com/office/drawing/2014/main" id="{06D2535B-58F6-BE7B-5C97-0CE8D61259AC}"/>
              </a:ext>
            </a:extLst>
          </p:cNvPr>
          <p:cNvSpPr txBox="1">
            <a:spLocks noChangeArrowheads="1"/>
          </p:cNvSpPr>
          <p:nvPr/>
        </p:nvSpPr>
        <p:spPr bwMode="auto">
          <a:xfrm>
            <a:off x="1446213" y="5811838"/>
            <a:ext cx="823912" cy="4206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Biến</a:t>
            </a:r>
            <a:r>
              <a:rPr lang="ja-JP" altLang="en-US" b="0">
                <a:latin typeface="MS UI Gothic" panose="020B0600070205080204" pitchFamily="50" charset="-128"/>
                <a:ea typeface="MS UI Gothic" panose="020B0600070205080204" pitchFamily="50" charset="-128"/>
              </a:rPr>
              <a:t>　</a:t>
            </a:r>
            <a:r>
              <a:rPr lang="en-US" altLang="ja-JP" b="0">
                <a:latin typeface="MS UI Gothic" panose="020B0600070205080204" pitchFamily="50" charset="-128"/>
                <a:ea typeface="MS UI Gothic" panose="020B0600070205080204" pitchFamily="50" charset="-128"/>
              </a:rPr>
              <a:t>personA</a:t>
            </a:r>
            <a:endParaRPr lang="en-US" altLang="ja-JP">
              <a:latin typeface="MS UI Gothic" panose="020B0600070205080204" pitchFamily="50" charset="-128"/>
              <a:ea typeface="MS UI Gothic" panose="020B0600070205080204" pitchFamily="50" charset="-128"/>
            </a:endParaRPr>
          </a:p>
        </p:txBody>
      </p:sp>
      <p:sp>
        <p:nvSpPr>
          <p:cNvPr id="490551" name="Text Box 55">
            <a:extLst>
              <a:ext uri="{FF2B5EF4-FFF2-40B4-BE49-F238E27FC236}">
                <a16:creationId xmlns:a16="http://schemas.microsoft.com/office/drawing/2014/main" id="{BCFA5523-51FF-88A3-6047-53062E042E16}"/>
              </a:ext>
            </a:extLst>
          </p:cNvPr>
          <p:cNvSpPr txBox="1">
            <a:spLocks noChangeArrowheads="1"/>
          </p:cNvSpPr>
          <p:nvPr/>
        </p:nvSpPr>
        <p:spPr bwMode="auto">
          <a:xfrm>
            <a:off x="3360738" y="6378575"/>
            <a:ext cx="1866900" cy="2428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Object của Person class</a:t>
            </a:r>
            <a:endParaRPr lang="en-US" altLang="ja-JP">
              <a:ea typeface="MS UI Gothic" panose="020B0600070205080204" pitchFamily="50" charset="-128"/>
            </a:endParaRPr>
          </a:p>
        </p:txBody>
      </p:sp>
      <p:sp>
        <p:nvSpPr>
          <p:cNvPr id="490552" name="Text Box 56">
            <a:extLst>
              <a:ext uri="{FF2B5EF4-FFF2-40B4-BE49-F238E27FC236}">
                <a16:creationId xmlns:a16="http://schemas.microsoft.com/office/drawing/2014/main" id="{58036C17-3418-ED87-A80A-32B245B2297C}"/>
              </a:ext>
            </a:extLst>
          </p:cNvPr>
          <p:cNvSpPr txBox="1">
            <a:spLocks noChangeArrowheads="1"/>
          </p:cNvSpPr>
          <p:nvPr/>
        </p:nvSpPr>
        <p:spPr bwMode="auto">
          <a:xfrm>
            <a:off x="3368675" y="2495550"/>
            <a:ext cx="1865313" cy="2444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5988" tIns="35988" rIns="35988" bIns="35988"/>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Object của Person class</a:t>
            </a:r>
            <a:endParaRPr lang="en-US" altLang="ja-JP">
              <a:ea typeface="MS UI Gothic" panose="020B0600070205080204" pitchFamily="50" charset="-128"/>
            </a:endParaRPr>
          </a:p>
        </p:txBody>
      </p:sp>
      <p:sp>
        <p:nvSpPr>
          <p:cNvPr id="490553" name="AutoShape 57">
            <a:extLst>
              <a:ext uri="{FF2B5EF4-FFF2-40B4-BE49-F238E27FC236}">
                <a16:creationId xmlns:a16="http://schemas.microsoft.com/office/drawing/2014/main" id="{9E033ABD-2459-6E41-D3A3-5AC11B0C6148}"/>
              </a:ext>
            </a:extLst>
          </p:cNvPr>
          <p:cNvSpPr>
            <a:spLocks noChangeArrowheads="1"/>
          </p:cNvSpPr>
          <p:nvPr/>
        </p:nvSpPr>
        <p:spPr bwMode="auto">
          <a:xfrm>
            <a:off x="830263" y="6953250"/>
            <a:ext cx="2128837" cy="530225"/>
          </a:xfrm>
          <a:prstGeom prst="wedgeRoundRectCallout">
            <a:avLst>
              <a:gd name="adj1" fmla="val -2870"/>
              <a:gd name="adj2" fmla="val -126046"/>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Nếu gán là null thì đích tham chiếu của personA sẽ thành </a:t>
            </a:r>
            <a:r>
              <a:rPr lang="ja-JP" altLang="en-US" b="0">
                <a:ea typeface="MS UI Gothic" panose="020B0600070205080204" pitchFamily="50" charset="-128"/>
              </a:rPr>
              <a:t>「</a:t>
            </a:r>
            <a:r>
              <a:rPr lang="en-US" altLang="ja-JP" b="0">
                <a:ea typeface="MS UI Gothic" panose="020B0600070205080204" pitchFamily="50" charset="-128"/>
              </a:rPr>
              <a:t>không có</a:t>
            </a:r>
            <a:r>
              <a:rPr lang="ja-JP" altLang="en-US" b="0">
                <a:ea typeface="MS UI Gothic" panose="020B0600070205080204" pitchFamily="50" charset="-128"/>
              </a:rPr>
              <a:t>」</a:t>
            </a:r>
          </a:p>
        </p:txBody>
      </p:sp>
      <p:sp>
        <p:nvSpPr>
          <p:cNvPr id="490554" name="AutoShape 58">
            <a:extLst>
              <a:ext uri="{FF2B5EF4-FFF2-40B4-BE49-F238E27FC236}">
                <a16:creationId xmlns:a16="http://schemas.microsoft.com/office/drawing/2014/main" id="{C35C3AFF-E01B-9CD0-05B3-6024B169446D}"/>
              </a:ext>
            </a:extLst>
          </p:cNvPr>
          <p:cNvSpPr>
            <a:spLocks noChangeArrowheads="1"/>
          </p:cNvSpPr>
          <p:nvPr/>
        </p:nvSpPr>
        <p:spPr bwMode="auto">
          <a:xfrm>
            <a:off x="1744663" y="8358188"/>
            <a:ext cx="1481137" cy="568325"/>
          </a:xfrm>
          <a:prstGeom prst="wedgeRoundRectCallout">
            <a:avLst>
              <a:gd name="adj1" fmla="val 59431"/>
              <a:gd name="adj2" fmla="val -109218"/>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Trở thành đối tượng giải phóng nhờ garbage collector</a:t>
            </a:r>
          </a:p>
        </p:txBody>
      </p:sp>
      <p:sp>
        <p:nvSpPr>
          <p:cNvPr id="490555" name="AutoShape 59">
            <a:extLst>
              <a:ext uri="{FF2B5EF4-FFF2-40B4-BE49-F238E27FC236}">
                <a16:creationId xmlns:a16="http://schemas.microsoft.com/office/drawing/2014/main" id="{9704F922-CBDC-23FE-1BB0-07F616C859AC}"/>
              </a:ext>
            </a:extLst>
          </p:cNvPr>
          <p:cNvSpPr>
            <a:spLocks noChangeArrowheads="1"/>
          </p:cNvSpPr>
          <p:nvPr/>
        </p:nvSpPr>
        <p:spPr bwMode="auto">
          <a:xfrm>
            <a:off x="974725" y="3387725"/>
            <a:ext cx="1770063" cy="596900"/>
          </a:xfrm>
          <a:prstGeom prst="wedgeRoundRectCallout">
            <a:avLst>
              <a:gd name="adj1" fmla="val 4255"/>
              <a:gd name="adj2" fmla="val -142819"/>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Sử dụng </a:t>
            </a:r>
            <a:r>
              <a:rPr lang="en-US" altLang="en-US" b="0">
                <a:ea typeface="MS UI Gothic" panose="020B0600070205080204" pitchFamily="50" charset="-128"/>
              </a:rPr>
              <a:t>personA</a:t>
            </a:r>
            <a:r>
              <a:rPr lang="en-US" altLang="ja-JP" b="0">
                <a:ea typeface="MS UI Gothic" panose="020B0600070205080204" pitchFamily="50" charset="-128"/>
              </a:rPr>
              <a:t>, có thể access vào object của Person class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4594" name="AutoShape 2">
            <a:extLst>
              <a:ext uri="{FF2B5EF4-FFF2-40B4-BE49-F238E27FC236}">
                <a16:creationId xmlns:a16="http://schemas.microsoft.com/office/drawing/2014/main" id="{1C368BB5-1582-ED5A-3AD5-A45246332476}"/>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endParaRPr lang="ja-JP" altLang="en-US" sz="130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Sinh object sử dụng constructor</a:t>
            </a:r>
          </a:p>
          <a:p>
            <a:r>
              <a:rPr lang="ja-JP" altLang="en-US" b="0">
                <a:ea typeface="MS UI Gothic" panose="020B0600070205080204" pitchFamily="50" charset="-128"/>
              </a:rPr>
              <a:t>　</a:t>
            </a: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Gọi ra instance method</a:t>
            </a:r>
          </a:p>
          <a:p>
            <a:r>
              <a:rPr lang="ja-JP" altLang="en-US" b="0">
                <a:ea typeface="MS UI Gothic" panose="020B0600070205080204" pitchFamily="50" charset="-128"/>
              </a:rPr>
              <a:t>　</a:t>
            </a:r>
            <a:r>
              <a:rPr lang="en-US" altLang="ja-JP" b="0">
                <a:ea typeface="MS UI Gothic" panose="020B0600070205080204" pitchFamily="50" charset="-128"/>
              </a:rPr>
              <a:t>Chỉ định object và gọi ra method.</a:t>
            </a:r>
            <a:r>
              <a:rPr lang="ja-JP" altLang="en-US" b="0">
                <a:ea typeface="MS UI Gothic" panose="020B0600070205080204" pitchFamily="50" charset="-128"/>
              </a:rPr>
              <a:t>（</a:t>
            </a:r>
            <a:r>
              <a:rPr lang="en-US" altLang="ja-JP" b="0">
                <a:ea typeface="MS UI Gothic" panose="020B0600070205080204" pitchFamily="50" charset="-128"/>
              </a:rPr>
              <a:t>gửi message</a:t>
            </a:r>
            <a:r>
              <a:rPr lang="ja-JP" altLang="en-US" b="0">
                <a:ea typeface="MS UI Gothic" panose="020B0600070205080204" pitchFamily="50" charset="-128"/>
              </a:rPr>
              <a:t>）</a:t>
            </a: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Ví dụ gọi ra method</a:t>
            </a:r>
          </a:p>
        </p:txBody>
      </p:sp>
      <p:sp>
        <p:nvSpPr>
          <p:cNvPr id="494641" name="Rectangle 49">
            <a:extLst>
              <a:ext uri="{FF2B5EF4-FFF2-40B4-BE49-F238E27FC236}">
                <a16:creationId xmlns:a16="http://schemas.microsoft.com/office/drawing/2014/main" id="{307FA8B2-C7B5-595F-4644-DE3FD208A33B}"/>
              </a:ext>
            </a:extLst>
          </p:cNvPr>
          <p:cNvSpPr>
            <a:spLocks noChangeArrowheads="1"/>
          </p:cNvSpPr>
          <p:nvPr/>
        </p:nvSpPr>
        <p:spPr bwMode="auto">
          <a:xfrm>
            <a:off x="735013" y="4205288"/>
            <a:ext cx="5686425" cy="3819525"/>
          </a:xfrm>
          <a:prstGeom prst="rect">
            <a:avLst/>
          </a:prstGeom>
          <a:solidFill>
            <a:srgbClr val="FFFFCC">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595" name="AutoShape 3">
            <a:extLst>
              <a:ext uri="{FF2B5EF4-FFF2-40B4-BE49-F238E27FC236}">
                <a16:creationId xmlns:a16="http://schemas.microsoft.com/office/drawing/2014/main" id="{9AA4C440-DB0D-B40A-AFC0-8207995BC794}"/>
              </a:ext>
            </a:extLst>
          </p:cNvPr>
          <p:cNvSpPr>
            <a:spLocks noChangeArrowheads="1"/>
          </p:cNvSpPr>
          <p:nvPr/>
        </p:nvSpPr>
        <p:spPr bwMode="auto">
          <a:xfrm>
            <a:off x="603250" y="442913"/>
            <a:ext cx="14605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Tóm tắt (4)</a:t>
            </a:r>
          </a:p>
        </p:txBody>
      </p:sp>
      <p:sp>
        <p:nvSpPr>
          <p:cNvPr id="494596" name="Text Box 4">
            <a:extLst>
              <a:ext uri="{FF2B5EF4-FFF2-40B4-BE49-F238E27FC236}">
                <a16:creationId xmlns:a16="http://schemas.microsoft.com/office/drawing/2014/main" id="{CE9F99A7-CD5B-AE42-69DB-C7D2DB502E39}"/>
              </a:ext>
            </a:extLst>
          </p:cNvPr>
          <p:cNvSpPr txBox="1">
            <a:spLocks noChangeArrowheads="1"/>
          </p:cNvSpPr>
          <p:nvPr/>
        </p:nvSpPr>
        <p:spPr bwMode="auto">
          <a:xfrm>
            <a:off x="719138" y="1223963"/>
            <a:ext cx="5643562" cy="89376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442913">
              <a:defRPr kumimoji="1">
                <a:solidFill>
                  <a:schemeClr val="tx1"/>
                </a:solidFill>
                <a:latin typeface="Arial" panose="020B0604020202020204" pitchFamily="34" charset="0"/>
                <a:ea typeface="ＭＳ Ｐゴシック" panose="020B0600070205080204" pitchFamily="50" charset="-128"/>
              </a:defRPr>
            </a:lvl1pPr>
            <a:lvl2pPr marL="187325" defTabSz="442913">
              <a:defRPr kumimoji="1">
                <a:solidFill>
                  <a:schemeClr val="tx1"/>
                </a:solidFill>
                <a:latin typeface="Arial" panose="020B0604020202020204" pitchFamily="34" charset="0"/>
                <a:ea typeface="ＭＳ Ｐゴシック" panose="020B0600070205080204" pitchFamily="50" charset="-128"/>
              </a:defRPr>
            </a:lvl2pPr>
            <a:lvl3pPr marL="954088" defTabSz="442913">
              <a:defRPr kumimoji="1">
                <a:solidFill>
                  <a:schemeClr val="tx1"/>
                </a:solidFill>
                <a:latin typeface="Arial" panose="020B0604020202020204" pitchFamily="34" charset="0"/>
                <a:ea typeface="ＭＳ Ｐゴシック" panose="020B0600070205080204" pitchFamily="50" charset="-128"/>
              </a:defRPr>
            </a:lvl3pPr>
            <a:lvl4pPr marL="1431925" defTabSz="442913">
              <a:defRPr kumimoji="1">
                <a:solidFill>
                  <a:schemeClr val="tx1"/>
                </a:solidFill>
                <a:latin typeface="Arial" panose="020B0604020202020204" pitchFamily="34" charset="0"/>
                <a:ea typeface="ＭＳ Ｐゴシック" panose="020B0600070205080204" pitchFamily="50" charset="-128"/>
              </a:defRPr>
            </a:lvl4pPr>
            <a:lvl5pPr marL="1909763" defTabSz="442913">
              <a:defRPr kumimoji="1">
                <a:solidFill>
                  <a:schemeClr val="tx1"/>
                </a:solidFill>
                <a:latin typeface="Arial" panose="020B0604020202020204" pitchFamily="34" charset="0"/>
                <a:ea typeface="ＭＳ Ｐゴシック" panose="020B0600070205080204" pitchFamily="50" charset="-128"/>
              </a:defRPr>
            </a:lvl5pPr>
            <a:lvl6pPr marL="23669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latin typeface="ＭＳ ゴシック" panose="020B0609070205080204" pitchFamily="49" charset="-128"/>
                <a:ea typeface="ＭＳ ゴシック" panose="020B0609070205080204" pitchFamily="49" charset="-128"/>
              </a:rPr>
              <a:t>public Person(String lname, String fname, int a) {</a:t>
            </a:r>
            <a:r>
              <a:rPr lang="ja-JP" altLang="en-US" b="0">
                <a:latin typeface="ＭＳ ゴシック" panose="020B0609070205080204" pitchFamily="49" charset="-128"/>
                <a:ea typeface="ＭＳ ゴシック" panose="020B0609070205080204" pitchFamily="49" charset="-128"/>
              </a:rPr>
              <a:t>　　</a:t>
            </a:r>
          </a:p>
          <a:p>
            <a:pPr lvl="1" algn="just"/>
            <a:r>
              <a:rPr lang="ja-JP" altLang="en-US"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lastName = lname;</a:t>
            </a:r>
          </a:p>
          <a:p>
            <a:pPr lvl="1" algn="just"/>
            <a:r>
              <a:rPr lang="en-US" altLang="ja-JP" b="0">
                <a:latin typeface="ＭＳ ゴシック" panose="020B0609070205080204" pitchFamily="49" charset="-128"/>
                <a:ea typeface="ＭＳ ゴシック" panose="020B0609070205080204" pitchFamily="49" charset="-128"/>
              </a:rPr>
              <a:t>    firstName = fname;</a:t>
            </a:r>
          </a:p>
          <a:p>
            <a:pPr lvl="1" algn="just"/>
            <a:r>
              <a:rPr lang="en-US" altLang="ja-JP" b="0">
                <a:latin typeface="ＭＳ ゴシック" panose="020B0609070205080204" pitchFamily="49" charset="-128"/>
                <a:ea typeface="ＭＳ ゴシック" panose="020B0609070205080204" pitchFamily="49" charset="-128"/>
              </a:rPr>
              <a:t>    age = a;</a:t>
            </a:r>
          </a:p>
          <a:p>
            <a:pPr lvl="1" algn="just"/>
            <a:r>
              <a:rPr lang="en-US" altLang="ja-JP" b="0">
                <a:latin typeface="ＭＳ ゴシック" panose="020B0609070205080204" pitchFamily="49" charset="-128"/>
                <a:ea typeface="ＭＳ ゴシック" panose="020B0609070205080204" pitchFamily="49" charset="-128"/>
              </a:rPr>
              <a:t>}</a:t>
            </a:r>
          </a:p>
        </p:txBody>
      </p:sp>
      <p:sp>
        <p:nvSpPr>
          <p:cNvPr id="494598" name="Text Box 6">
            <a:extLst>
              <a:ext uri="{FF2B5EF4-FFF2-40B4-BE49-F238E27FC236}">
                <a16:creationId xmlns:a16="http://schemas.microsoft.com/office/drawing/2014/main" id="{4C0240B0-704F-0F59-E368-B1964C456F4B}"/>
              </a:ext>
            </a:extLst>
          </p:cNvPr>
          <p:cNvSpPr txBox="1">
            <a:spLocks noChangeArrowheads="1"/>
          </p:cNvSpPr>
          <p:nvPr/>
        </p:nvSpPr>
        <p:spPr bwMode="auto">
          <a:xfrm>
            <a:off x="719138" y="2220913"/>
            <a:ext cx="5643562" cy="27463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latin typeface="ＭＳ ゴシック" panose="020B0609070205080204" pitchFamily="49" charset="-128"/>
                <a:ea typeface="ＭＳ ゴシック" panose="020B0609070205080204" pitchFamily="49" charset="-128"/>
              </a:rPr>
              <a:t>Person personA = new Person(“</a:t>
            </a:r>
            <a:r>
              <a:rPr lang="en-US" altLang="ja-JP" b="0">
                <a:latin typeface="ＭＳ ゴシック" panose="020B0609070205080204" pitchFamily="49" charset="-128"/>
                <a:ea typeface="ＭＳ ゴシック" panose="020B0609070205080204" pitchFamily="49" charset="-128"/>
              </a:rPr>
              <a:t>Sato</a:t>
            </a:r>
            <a:r>
              <a:rPr lang="ja-JP" altLang="ja-JP"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Hanako</a:t>
            </a:r>
            <a:r>
              <a:rPr lang="ja-JP" altLang="ja-JP" b="0">
                <a:latin typeface="ＭＳ ゴシック" panose="020B0609070205080204" pitchFamily="49" charset="-128"/>
                <a:ea typeface="ＭＳ ゴシック" panose="020B0609070205080204" pitchFamily="49" charset="-128"/>
              </a:rPr>
              <a:t>", 22);</a:t>
            </a:r>
          </a:p>
        </p:txBody>
      </p:sp>
      <p:sp>
        <p:nvSpPr>
          <p:cNvPr id="494600" name="Text Box 8">
            <a:extLst>
              <a:ext uri="{FF2B5EF4-FFF2-40B4-BE49-F238E27FC236}">
                <a16:creationId xmlns:a16="http://schemas.microsoft.com/office/drawing/2014/main" id="{3188C038-B944-E35B-24C0-900FD06BC2EF}"/>
              </a:ext>
            </a:extLst>
          </p:cNvPr>
          <p:cNvSpPr txBox="1">
            <a:spLocks noChangeArrowheads="1"/>
          </p:cNvSpPr>
          <p:nvPr/>
        </p:nvSpPr>
        <p:spPr bwMode="auto">
          <a:xfrm>
            <a:off x="704850" y="8275638"/>
            <a:ext cx="5676900" cy="1296987"/>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latin typeface="ＭＳ ゴシック" panose="020B0609070205080204" pitchFamily="49" charset="-128"/>
                <a:ea typeface="ＭＳ ゴシック" panose="020B0609070205080204" pitchFamily="49" charset="-128"/>
              </a:rPr>
              <a:t>Person personA = new Person(“</a:t>
            </a:r>
            <a:r>
              <a:rPr lang="en-US" altLang="ja-JP" b="0">
                <a:latin typeface="ＭＳ ゴシック" panose="020B0609070205080204" pitchFamily="49" charset="-128"/>
                <a:ea typeface="ＭＳ ゴシック" panose="020B0609070205080204" pitchFamily="49" charset="-128"/>
              </a:rPr>
              <a:t>Sato</a:t>
            </a:r>
            <a:r>
              <a:rPr lang="ja-JP" altLang="ja-JP" b="0">
                <a:latin typeface="ＭＳ ゴシック" panose="020B0609070205080204" pitchFamily="49" charset="-128"/>
                <a:ea typeface="ＭＳ ゴシック" panose="020B0609070205080204" pitchFamily="49" charset="-128"/>
              </a:rPr>
              <a:t>”, “</a:t>
            </a:r>
            <a:r>
              <a:rPr lang="en-US" altLang="ja-JP" b="0">
                <a:latin typeface="ＭＳ ゴシック" panose="020B0609070205080204" pitchFamily="49" charset="-128"/>
                <a:ea typeface="ＭＳ ゴシック" panose="020B0609070205080204" pitchFamily="49" charset="-128"/>
              </a:rPr>
              <a:t>Hanako</a:t>
            </a:r>
            <a:r>
              <a:rPr lang="ja-JP" altLang="ja-JP" b="0">
                <a:latin typeface="ＭＳ ゴシック" panose="020B0609070205080204" pitchFamily="49" charset="-128"/>
                <a:ea typeface="ＭＳ ゴシック" panose="020B0609070205080204" pitchFamily="49" charset="-128"/>
              </a:rPr>
              <a:t>", 22);</a:t>
            </a:r>
          </a:p>
          <a:p>
            <a:pPr lvl="1" algn="just"/>
            <a:endParaRPr lang="ja-JP" altLang="ja-JP" b="0">
              <a:latin typeface="ＭＳ ゴシック" panose="020B0609070205080204" pitchFamily="49" charset="-128"/>
              <a:ea typeface="ＭＳ ゴシック" panose="020B0609070205080204" pitchFamily="49" charset="-128"/>
            </a:endParaRPr>
          </a:p>
          <a:p>
            <a:pPr lvl="1" algn="just"/>
            <a:r>
              <a:rPr lang="ja-JP" altLang="ja-JP" b="0">
                <a:latin typeface="ＭＳ ゴシック" panose="020B0609070205080204" pitchFamily="49" charset="-128"/>
                <a:ea typeface="ＭＳ ゴシック" panose="020B0609070205080204" pitchFamily="49" charset="-128"/>
              </a:rPr>
              <a:t>personA.printInfo();</a:t>
            </a:r>
            <a:endParaRPr lang="en-US" altLang="ja-JP" b="0">
              <a:latin typeface="ＭＳ ゴシック" panose="020B0609070205080204" pitchFamily="49" charset="-128"/>
              <a:ea typeface="ＭＳ ゴシック" panose="020B0609070205080204" pitchFamily="49" charset="-128"/>
            </a:endParaRPr>
          </a:p>
          <a:p>
            <a:pPr lvl="1" algn="just"/>
            <a:endParaRPr lang="ja-JP" altLang="ja-JP" b="0">
              <a:latin typeface="ＭＳ ゴシック" panose="020B0609070205080204" pitchFamily="49" charset="-128"/>
              <a:ea typeface="ＭＳ ゴシック" panose="020B0609070205080204" pitchFamily="49" charset="-128"/>
            </a:endParaRPr>
          </a:p>
          <a:p>
            <a:pPr lvl="1" algn="just"/>
            <a:r>
              <a:rPr lang="ja-JP" altLang="ja-JP" b="0">
                <a:latin typeface="ＭＳ ゴシック" panose="020B0609070205080204" pitchFamily="49" charset="-128"/>
                <a:ea typeface="ＭＳ ゴシック" panose="020B0609070205080204" pitchFamily="49" charset="-128"/>
              </a:rPr>
              <a:t>personA.setLastName(“</a:t>
            </a:r>
            <a:r>
              <a:rPr lang="en-US" altLang="ja-JP" b="0">
                <a:latin typeface="ＭＳ ゴシック" panose="020B0609070205080204" pitchFamily="49" charset="-128"/>
                <a:ea typeface="ＭＳ ゴシック" panose="020B0609070205080204" pitchFamily="49" charset="-128"/>
              </a:rPr>
              <a:t>kawamura</a:t>
            </a:r>
            <a:r>
              <a:rPr lang="ja-JP" altLang="ja-JP" b="0">
                <a:latin typeface="ＭＳ ゴシック" panose="020B0609070205080204" pitchFamily="49" charset="-128"/>
                <a:ea typeface="ＭＳ ゴシック" panose="020B0609070205080204" pitchFamily="49" charset="-128"/>
              </a:rPr>
              <a:t>");</a:t>
            </a:r>
          </a:p>
          <a:p>
            <a:pPr lvl="1" algn="just"/>
            <a:endParaRPr lang="ja-JP" altLang="ja-JP" b="0">
              <a:latin typeface="ＭＳ ゴシック" panose="020B0609070205080204" pitchFamily="49" charset="-128"/>
              <a:ea typeface="ＭＳ ゴシック" panose="020B0609070205080204" pitchFamily="49" charset="-128"/>
            </a:endParaRPr>
          </a:p>
          <a:p>
            <a:pPr lvl="1" algn="just"/>
            <a:r>
              <a:rPr lang="ja-JP" altLang="ja-JP" b="0">
                <a:latin typeface="ＭＳ ゴシック" panose="020B0609070205080204" pitchFamily="49" charset="-128"/>
                <a:ea typeface="ＭＳ ゴシック" panose="020B0609070205080204" pitchFamily="49" charset="-128"/>
              </a:rPr>
              <a:t>String fullName = personA.getFullName();</a:t>
            </a:r>
          </a:p>
        </p:txBody>
      </p:sp>
      <p:sp>
        <p:nvSpPr>
          <p:cNvPr id="494628" name="Text Box 36">
            <a:extLst>
              <a:ext uri="{FF2B5EF4-FFF2-40B4-BE49-F238E27FC236}">
                <a16:creationId xmlns:a16="http://schemas.microsoft.com/office/drawing/2014/main" id="{DBCAF625-3705-3795-0674-58314564C0BE}"/>
              </a:ext>
            </a:extLst>
          </p:cNvPr>
          <p:cNvSpPr txBox="1">
            <a:spLocks noChangeArrowheads="1"/>
          </p:cNvSpPr>
          <p:nvPr/>
        </p:nvSpPr>
        <p:spPr bwMode="auto">
          <a:xfrm>
            <a:off x="719138" y="3349625"/>
            <a:ext cx="5643562" cy="2571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ＭＳ ゴシック" panose="020B0609070205080204" pitchFamily="49" charset="-128"/>
              </a:rPr>
              <a:t>Tên biến có refer object</a:t>
            </a:r>
            <a:r>
              <a:rPr lang="ja-JP" altLang="ja-JP" b="0">
                <a:ea typeface="ＭＳ ゴシック" panose="020B0609070205080204" pitchFamily="49" charset="-128"/>
              </a:rPr>
              <a:t>.</a:t>
            </a:r>
            <a:r>
              <a:rPr lang="en-US" altLang="ja-JP" b="0">
                <a:ea typeface="ＭＳ ゴシック" panose="020B0609070205080204" pitchFamily="49" charset="-128"/>
              </a:rPr>
              <a:t>Tên method</a:t>
            </a:r>
            <a:r>
              <a:rPr lang="ja-JP" altLang="ja-JP" b="0">
                <a:ea typeface="ＭＳ ゴシック" panose="020B0609070205080204" pitchFamily="49" charset="-128"/>
              </a:rPr>
              <a:t> (</a:t>
            </a:r>
            <a:r>
              <a:rPr lang="en-US" altLang="ja-JP" b="0">
                <a:ea typeface="ＭＳ ゴシック" panose="020B0609070205080204" pitchFamily="49" charset="-128"/>
              </a:rPr>
              <a:t>argument list</a:t>
            </a:r>
            <a:r>
              <a:rPr lang="ja-JP" altLang="ja-JP" b="0">
                <a:ea typeface="ＭＳ ゴシック" panose="020B0609070205080204" pitchFamily="49" charset="-128"/>
              </a:rPr>
              <a:t>) </a:t>
            </a:r>
            <a:endParaRPr lang="en-US" altLang="ja-JP" b="0">
              <a:ea typeface="ＭＳ ゴシック" panose="020B0609070205080204" pitchFamily="49" charset="-128"/>
            </a:endParaRPr>
          </a:p>
        </p:txBody>
      </p:sp>
      <p:sp>
        <p:nvSpPr>
          <p:cNvPr id="494630" name="Text Box 38">
            <a:extLst>
              <a:ext uri="{FF2B5EF4-FFF2-40B4-BE49-F238E27FC236}">
                <a16:creationId xmlns:a16="http://schemas.microsoft.com/office/drawing/2014/main" id="{082B81DA-FBF1-A1F3-5A2D-18045342E2AF}"/>
              </a:ext>
            </a:extLst>
          </p:cNvPr>
          <p:cNvSpPr txBox="1">
            <a:spLocks noChangeArrowheads="1"/>
          </p:cNvSpPr>
          <p:nvPr/>
        </p:nvSpPr>
        <p:spPr bwMode="auto">
          <a:xfrm>
            <a:off x="1295400" y="4978400"/>
            <a:ext cx="1358900" cy="1936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69" tIns="8886" rIns="74269" bIns="888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Sinh object</a:t>
            </a:r>
            <a:endParaRPr lang="en-US" altLang="ja-JP">
              <a:ea typeface="MS UI Gothic" panose="020B0600070205080204" pitchFamily="50" charset="-128"/>
            </a:endParaRPr>
          </a:p>
        </p:txBody>
      </p:sp>
      <p:sp>
        <p:nvSpPr>
          <p:cNvPr id="494631" name="Text Box 39">
            <a:extLst>
              <a:ext uri="{FF2B5EF4-FFF2-40B4-BE49-F238E27FC236}">
                <a16:creationId xmlns:a16="http://schemas.microsoft.com/office/drawing/2014/main" id="{6D1F8DF4-B292-EDDF-872D-5AC363F609EE}"/>
              </a:ext>
            </a:extLst>
          </p:cNvPr>
          <p:cNvSpPr txBox="1">
            <a:spLocks noChangeArrowheads="1"/>
          </p:cNvSpPr>
          <p:nvPr/>
        </p:nvSpPr>
        <p:spPr bwMode="auto">
          <a:xfrm>
            <a:off x="1295400" y="5427663"/>
            <a:ext cx="1858963" cy="1984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69" tIns="8886" rIns="74269" bIns="888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Hãy hiển thị thông tin cá nhân</a:t>
            </a:r>
            <a:endParaRPr lang="en-US" altLang="ja-JP">
              <a:ea typeface="MS UI Gothic" panose="020B0600070205080204" pitchFamily="50" charset="-128"/>
            </a:endParaRPr>
          </a:p>
        </p:txBody>
      </p:sp>
      <p:sp>
        <p:nvSpPr>
          <p:cNvPr id="494632" name="Rectangle 40">
            <a:extLst>
              <a:ext uri="{FF2B5EF4-FFF2-40B4-BE49-F238E27FC236}">
                <a16:creationId xmlns:a16="http://schemas.microsoft.com/office/drawing/2014/main" id="{A397EDD6-0E75-3C3B-D43E-0954A19CFFAD}"/>
              </a:ext>
            </a:extLst>
          </p:cNvPr>
          <p:cNvSpPr>
            <a:spLocks noChangeArrowheads="1"/>
          </p:cNvSpPr>
          <p:nvPr/>
        </p:nvSpPr>
        <p:spPr bwMode="auto">
          <a:xfrm>
            <a:off x="3509963" y="5048250"/>
            <a:ext cx="830262" cy="381000"/>
          </a:xfrm>
          <a:prstGeom prst="rect">
            <a:avLst/>
          </a:prstGeom>
          <a:solidFill>
            <a:schemeClr val="bg1"/>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1" tIns="19042" rIns="9521" bIns="9521"/>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ja-JP" altLang="en-US">
                <a:latin typeface="MS UI Gothic" panose="020B0600070205080204" pitchFamily="50" charset="-128"/>
                <a:ea typeface="MS UI Gothic" panose="020B0600070205080204" pitchFamily="50" charset="-128"/>
              </a:rPr>
              <a:t>：</a:t>
            </a:r>
            <a:r>
              <a:rPr lang="en-US" altLang="ja-JP">
                <a:latin typeface="MS UI Gothic" panose="020B0600070205080204" pitchFamily="50" charset="-128"/>
                <a:ea typeface="MS UI Gothic" panose="020B0600070205080204" pitchFamily="50" charset="-128"/>
              </a:rPr>
              <a:t>Person</a:t>
            </a:r>
          </a:p>
        </p:txBody>
      </p:sp>
      <p:sp>
        <p:nvSpPr>
          <p:cNvPr id="494633" name="Line 41">
            <a:extLst>
              <a:ext uri="{FF2B5EF4-FFF2-40B4-BE49-F238E27FC236}">
                <a16:creationId xmlns:a16="http://schemas.microsoft.com/office/drawing/2014/main" id="{EB57135A-507D-8E42-5670-271A64C92AE4}"/>
              </a:ext>
            </a:extLst>
          </p:cNvPr>
          <p:cNvSpPr>
            <a:spLocks noChangeShapeType="1"/>
          </p:cNvSpPr>
          <p:nvPr/>
        </p:nvSpPr>
        <p:spPr bwMode="auto">
          <a:xfrm>
            <a:off x="1182688" y="4724400"/>
            <a:ext cx="3175" cy="31083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34" name="Line 42">
            <a:extLst>
              <a:ext uri="{FF2B5EF4-FFF2-40B4-BE49-F238E27FC236}">
                <a16:creationId xmlns:a16="http://schemas.microsoft.com/office/drawing/2014/main" id="{9F219481-E74B-89F1-F9EF-FF9E0CD5B757}"/>
              </a:ext>
            </a:extLst>
          </p:cNvPr>
          <p:cNvSpPr>
            <a:spLocks noChangeShapeType="1"/>
          </p:cNvSpPr>
          <p:nvPr/>
        </p:nvSpPr>
        <p:spPr bwMode="auto">
          <a:xfrm>
            <a:off x="3886200" y="5432425"/>
            <a:ext cx="1588" cy="21939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35" name="Rectangle 43">
            <a:extLst>
              <a:ext uri="{FF2B5EF4-FFF2-40B4-BE49-F238E27FC236}">
                <a16:creationId xmlns:a16="http://schemas.microsoft.com/office/drawing/2014/main" id="{F649FBD0-0932-EB1E-ED51-C904166E4E42}"/>
              </a:ext>
            </a:extLst>
          </p:cNvPr>
          <p:cNvSpPr>
            <a:spLocks noChangeArrowheads="1"/>
          </p:cNvSpPr>
          <p:nvPr/>
        </p:nvSpPr>
        <p:spPr bwMode="auto">
          <a:xfrm>
            <a:off x="1131888" y="4914900"/>
            <a:ext cx="128587" cy="2762250"/>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36" name="Line 44">
            <a:extLst>
              <a:ext uri="{FF2B5EF4-FFF2-40B4-BE49-F238E27FC236}">
                <a16:creationId xmlns:a16="http://schemas.microsoft.com/office/drawing/2014/main" id="{C72DB4EE-D1C7-5B5C-D32C-6B0AF1127CDA}"/>
              </a:ext>
            </a:extLst>
          </p:cNvPr>
          <p:cNvSpPr>
            <a:spLocks noChangeShapeType="1"/>
          </p:cNvSpPr>
          <p:nvPr/>
        </p:nvSpPr>
        <p:spPr bwMode="auto">
          <a:xfrm>
            <a:off x="1268413" y="5238750"/>
            <a:ext cx="2230437" cy="1588"/>
          </a:xfrm>
          <a:prstGeom prst="line">
            <a:avLst/>
          </a:prstGeom>
          <a:noFill/>
          <a:ln w="12700">
            <a:solidFill>
              <a:schemeClr val="tx1"/>
            </a:solidFill>
            <a:prstDash val="dash"/>
            <a:round/>
            <a:headEnd/>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37" name="Rectangle 45">
            <a:extLst>
              <a:ext uri="{FF2B5EF4-FFF2-40B4-BE49-F238E27FC236}">
                <a16:creationId xmlns:a16="http://schemas.microsoft.com/office/drawing/2014/main" id="{6FCF28BD-45E4-E87E-E831-68869A444F2F}"/>
              </a:ext>
            </a:extLst>
          </p:cNvPr>
          <p:cNvSpPr>
            <a:spLocks noChangeArrowheads="1"/>
          </p:cNvSpPr>
          <p:nvPr/>
        </p:nvSpPr>
        <p:spPr bwMode="auto">
          <a:xfrm>
            <a:off x="3794125" y="5605463"/>
            <a:ext cx="182563" cy="420687"/>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38" name="Line 46">
            <a:extLst>
              <a:ext uri="{FF2B5EF4-FFF2-40B4-BE49-F238E27FC236}">
                <a16:creationId xmlns:a16="http://schemas.microsoft.com/office/drawing/2014/main" id="{270B0CB9-40CC-7BDE-94F9-434953A0678E}"/>
              </a:ext>
            </a:extLst>
          </p:cNvPr>
          <p:cNvSpPr>
            <a:spLocks noChangeShapeType="1"/>
          </p:cNvSpPr>
          <p:nvPr/>
        </p:nvSpPr>
        <p:spPr bwMode="auto">
          <a:xfrm>
            <a:off x="1265238" y="5694363"/>
            <a:ext cx="2516187" cy="47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39" name="Line 47">
            <a:extLst>
              <a:ext uri="{FF2B5EF4-FFF2-40B4-BE49-F238E27FC236}">
                <a16:creationId xmlns:a16="http://schemas.microsoft.com/office/drawing/2014/main" id="{07C3C837-ECEA-25A0-19B4-ECEA61D9DE57}"/>
              </a:ext>
            </a:extLst>
          </p:cNvPr>
          <p:cNvSpPr>
            <a:spLocks noChangeShapeType="1"/>
          </p:cNvSpPr>
          <p:nvPr/>
        </p:nvSpPr>
        <p:spPr bwMode="auto">
          <a:xfrm flipH="1">
            <a:off x="4011613" y="6430963"/>
            <a:ext cx="417512" cy="117475"/>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40" name="AutoShape 48">
            <a:extLst>
              <a:ext uri="{FF2B5EF4-FFF2-40B4-BE49-F238E27FC236}">
                <a16:creationId xmlns:a16="http://schemas.microsoft.com/office/drawing/2014/main" id="{694471F0-F11B-8388-CD74-F00B8DD83DB4}"/>
              </a:ext>
            </a:extLst>
          </p:cNvPr>
          <p:cNvSpPr>
            <a:spLocks noChangeArrowheads="1"/>
          </p:cNvSpPr>
          <p:nvPr/>
        </p:nvSpPr>
        <p:spPr bwMode="auto">
          <a:xfrm rot="16200000">
            <a:off x="4972050" y="5670551"/>
            <a:ext cx="465137" cy="1560512"/>
          </a:xfrm>
          <a:prstGeom prst="foldedCorner">
            <a:avLst>
              <a:gd name="adj" fmla="val 12500"/>
            </a:avLst>
          </a:prstGeom>
          <a:solidFill>
            <a:schemeClr val="bg1">
              <a:alpha val="5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lIns="91410" tIns="45704" rIns="91410" bIns="45704"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Thực hiện thao tác</a:t>
            </a:r>
          </a:p>
          <a:p>
            <a:pPr algn="ctr"/>
            <a:r>
              <a:rPr lang="ja-JP" altLang="en-US" b="0">
                <a:ea typeface="MS UI Gothic" panose="020B0600070205080204" pitchFamily="50" charset="-128"/>
              </a:rPr>
              <a:t>「 </a:t>
            </a:r>
            <a:r>
              <a:rPr lang="en-US" altLang="ja-JP" b="0">
                <a:ea typeface="MS UI Gothic" panose="020B0600070205080204" pitchFamily="50" charset="-128"/>
              </a:rPr>
              <a:t>setLastName</a:t>
            </a:r>
            <a:r>
              <a:rPr lang="en-US" altLang="ja-JP">
                <a:ea typeface="MS UI Gothic" panose="020B0600070205080204" pitchFamily="50" charset="-128"/>
              </a:rPr>
              <a:t> </a:t>
            </a:r>
            <a:r>
              <a:rPr lang="ja-JP" altLang="en-US" b="0">
                <a:ea typeface="MS UI Gothic" panose="020B0600070205080204" pitchFamily="50" charset="-128"/>
              </a:rPr>
              <a:t>」</a:t>
            </a:r>
            <a:endParaRPr lang="ja-JP" altLang="en-US">
              <a:ea typeface="MS UI Gothic" panose="020B0600070205080204" pitchFamily="50" charset="-128"/>
            </a:endParaRPr>
          </a:p>
        </p:txBody>
      </p:sp>
      <p:sp>
        <p:nvSpPr>
          <p:cNvPr id="494642" name="Text Box 50">
            <a:extLst>
              <a:ext uri="{FF2B5EF4-FFF2-40B4-BE49-F238E27FC236}">
                <a16:creationId xmlns:a16="http://schemas.microsoft.com/office/drawing/2014/main" id="{7C031CC7-C967-49E5-03F1-FEDB34C5B747}"/>
              </a:ext>
            </a:extLst>
          </p:cNvPr>
          <p:cNvSpPr txBox="1">
            <a:spLocks noChangeArrowheads="1"/>
          </p:cNvSpPr>
          <p:nvPr/>
        </p:nvSpPr>
        <p:spPr bwMode="auto">
          <a:xfrm>
            <a:off x="1295400" y="6127750"/>
            <a:ext cx="2479675" cy="2254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69" tIns="8886" rIns="74269" bIns="888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Thay đổi họ</a:t>
            </a:r>
            <a:endParaRPr lang="en-US" altLang="ja-JP">
              <a:ea typeface="MS UI Gothic" panose="020B0600070205080204" pitchFamily="50" charset="-128"/>
            </a:endParaRPr>
          </a:p>
        </p:txBody>
      </p:sp>
      <p:sp>
        <p:nvSpPr>
          <p:cNvPr id="494643" name="Line 51">
            <a:extLst>
              <a:ext uri="{FF2B5EF4-FFF2-40B4-BE49-F238E27FC236}">
                <a16:creationId xmlns:a16="http://schemas.microsoft.com/office/drawing/2014/main" id="{DAFA3D36-CADE-C13C-E312-05F6A00E8B6D}"/>
              </a:ext>
            </a:extLst>
          </p:cNvPr>
          <p:cNvSpPr>
            <a:spLocks noChangeShapeType="1"/>
          </p:cNvSpPr>
          <p:nvPr/>
        </p:nvSpPr>
        <p:spPr bwMode="auto">
          <a:xfrm flipH="1">
            <a:off x="3973513" y="5721350"/>
            <a:ext cx="455612" cy="117475"/>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44" name="AutoShape 52">
            <a:extLst>
              <a:ext uri="{FF2B5EF4-FFF2-40B4-BE49-F238E27FC236}">
                <a16:creationId xmlns:a16="http://schemas.microsoft.com/office/drawing/2014/main" id="{4A5AA5E2-14FC-3EF3-22FA-444943C2CB2F}"/>
              </a:ext>
            </a:extLst>
          </p:cNvPr>
          <p:cNvSpPr>
            <a:spLocks noChangeArrowheads="1"/>
          </p:cNvSpPr>
          <p:nvPr/>
        </p:nvSpPr>
        <p:spPr bwMode="auto">
          <a:xfrm rot="16200000">
            <a:off x="5008563" y="4924425"/>
            <a:ext cx="466725" cy="1635125"/>
          </a:xfrm>
          <a:prstGeom prst="foldedCorner">
            <a:avLst>
              <a:gd name="adj" fmla="val 12500"/>
            </a:avLst>
          </a:prstGeom>
          <a:solidFill>
            <a:schemeClr val="bg1">
              <a:alpha val="5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lIns="91410" tIns="45704" rIns="91410" bIns="45704"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Thực hiện thao tác</a:t>
            </a:r>
          </a:p>
          <a:p>
            <a:pPr algn="ctr"/>
            <a:r>
              <a:rPr lang="ja-JP" altLang="en-US" b="0">
                <a:ea typeface="MS UI Gothic" panose="020B0600070205080204" pitchFamily="50" charset="-128"/>
              </a:rPr>
              <a:t>「 </a:t>
            </a:r>
            <a:r>
              <a:rPr lang="en-US" altLang="ja-JP" b="0">
                <a:ea typeface="MS UI Gothic" panose="020B0600070205080204" pitchFamily="50" charset="-128"/>
              </a:rPr>
              <a:t>printInfo</a:t>
            </a:r>
            <a:r>
              <a:rPr lang="en-US" altLang="ja-JP">
                <a:ea typeface="MS UI Gothic" panose="020B0600070205080204" pitchFamily="50" charset="-128"/>
              </a:rPr>
              <a:t> </a:t>
            </a:r>
            <a:r>
              <a:rPr lang="ja-JP" altLang="en-US" b="0">
                <a:ea typeface="MS UI Gothic" panose="020B0600070205080204" pitchFamily="50" charset="-128"/>
              </a:rPr>
              <a:t>」</a:t>
            </a:r>
          </a:p>
        </p:txBody>
      </p:sp>
      <p:sp>
        <p:nvSpPr>
          <p:cNvPr id="494645" name="Rectangle 53">
            <a:extLst>
              <a:ext uri="{FF2B5EF4-FFF2-40B4-BE49-F238E27FC236}">
                <a16:creationId xmlns:a16="http://schemas.microsoft.com/office/drawing/2014/main" id="{1FE40B69-34A8-E597-A2CB-DB82DC1F3357}"/>
              </a:ext>
            </a:extLst>
          </p:cNvPr>
          <p:cNvSpPr>
            <a:spLocks noChangeArrowheads="1"/>
          </p:cNvSpPr>
          <p:nvPr/>
        </p:nvSpPr>
        <p:spPr bwMode="auto">
          <a:xfrm>
            <a:off x="850900" y="4433888"/>
            <a:ext cx="698500" cy="381000"/>
          </a:xfrm>
          <a:prstGeom prst="rect">
            <a:avLst/>
          </a:prstGeom>
          <a:solidFill>
            <a:schemeClr val="bg1"/>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1" tIns="19042" rIns="9521" bIns="9521"/>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ja-JP" altLang="en-US">
                <a:ea typeface="MS UI Gothic" panose="020B0600070205080204" pitchFamily="50" charset="-128"/>
              </a:rPr>
              <a:t>：</a:t>
            </a:r>
            <a:r>
              <a:rPr lang="en-US" altLang="ja-JP">
                <a:ea typeface="MS UI Gothic" panose="020B0600070205080204" pitchFamily="50" charset="-128"/>
              </a:rPr>
              <a:t>người thực hiện</a:t>
            </a:r>
          </a:p>
        </p:txBody>
      </p:sp>
      <p:sp>
        <p:nvSpPr>
          <p:cNvPr id="494646" name="Line 54">
            <a:extLst>
              <a:ext uri="{FF2B5EF4-FFF2-40B4-BE49-F238E27FC236}">
                <a16:creationId xmlns:a16="http://schemas.microsoft.com/office/drawing/2014/main" id="{E4FBD14E-751E-ED7C-CAA2-73D227FBD0DD}"/>
              </a:ext>
            </a:extLst>
          </p:cNvPr>
          <p:cNvSpPr>
            <a:spLocks noChangeShapeType="1"/>
          </p:cNvSpPr>
          <p:nvPr/>
        </p:nvSpPr>
        <p:spPr bwMode="auto">
          <a:xfrm>
            <a:off x="1260475" y="6397625"/>
            <a:ext cx="2516188" cy="635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47" name="Rectangle 55">
            <a:extLst>
              <a:ext uri="{FF2B5EF4-FFF2-40B4-BE49-F238E27FC236}">
                <a16:creationId xmlns:a16="http://schemas.microsoft.com/office/drawing/2014/main" id="{F782B31D-111F-1341-6AD4-567F8CD26D0C}"/>
              </a:ext>
            </a:extLst>
          </p:cNvPr>
          <p:cNvSpPr>
            <a:spLocks noChangeArrowheads="1"/>
          </p:cNvSpPr>
          <p:nvPr/>
        </p:nvSpPr>
        <p:spPr bwMode="auto">
          <a:xfrm>
            <a:off x="3794125" y="6288088"/>
            <a:ext cx="182563" cy="420687"/>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48" name="Line 56">
            <a:extLst>
              <a:ext uri="{FF2B5EF4-FFF2-40B4-BE49-F238E27FC236}">
                <a16:creationId xmlns:a16="http://schemas.microsoft.com/office/drawing/2014/main" id="{25F2D8D9-F00D-D404-060E-38A3359803C1}"/>
              </a:ext>
            </a:extLst>
          </p:cNvPr>
          <p:cNvSpPr>
            <a:spLocks noChangeShapeType="1"/>
          </p:cNvSpPr>
          <p:nvPr/>
        </p:nvSpPr>
        <p:spPr bwMode="auto">
          <a:xfrm flipH="1">
            <a:off x="3998913" y="7135813"/>
            <a:ext cx="417512" cy="117475"/>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49" name="AutoShape 57">
            <a:extLst>
              <a:ext uri="{FF2B5EF4-FFF2-40B4-BE49-F238E27FC236}">
                <a16:creationId xmlns:a16="http://schemas.microsoft.com/office/drawing/2014/main" id="{85DA511D-0991-608A-B904-23230D1DAB74}"/>
              </a:ext>
            </a:extLst>
          </p:cNvPr>
          <p:cNvSpPr>
            <a:spLocks noChangeArrowheads="1"/>
          </p:cNvSpPr>
          <p:nvPr/>
        </p:nvSpPr>
        <p:spPr bwMode="auto">
          <a:xfrm rot="16200000">
            <a:off x="4957763" y="6375400"/>
            <a:ext cx="465137" cy="1560513"/>
          </a:xfrm>
          <a:prstGeom prst="foldedCorner">
            <a:avLst>
              <a:gd name="adj" fmla="val 12500"/>
            </a:avLst>
          </a:prstGeom>
          <a:solidFill>
            <a:schemeClr val="bg1">
              <a:alpha val="5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lIns="91410" tIns="45704" rIns="91410" bIns="45704"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Thực hiện thao tác</a:t>
            </a:r>
          </a:p>
          <a:p>
            <a:pPr algn="ctr"/>
            <a:r>
              <a:rPr lang="ja-JP" altLang="en-US" b="0">
                <a:ea typeface="MS UI Gothic" panose="020B0600070205080204" pitchFamily="50" charset="-128"/>
              </a:rPr>
              <a:t>「 </a:t>
            </a:r>
            <a:r>
              <a:rPr lang="en-US" altLang="ja-JP" b="0">
                <a:ea typeface="MS UI Gothic" panose="020B0600070205080204" pitchFamily="50" charset="-128"/>
              </a:rPr>
              <a:t>getFullName</a:t>
            </a:r>
            <a:r>
              <a:rPr lang="en-US" altLang="ja-JP">
                <a:ea typeface="MS UI Gothic" panose="020B0600070205080204" pitchFamily="50" charset="-128"/>
              </a:rPr>
              <a:t> </a:t>
            </a:r>
            <a:r>
              <a:rPr lang="ja-JP" altLang="en-US" b="0">
                <a:ea typeface="MS UI Gothic" panose="020B0600070205080204" pitchFamily="50" charset="-128"/>
              </a:rPr>
              <a:t>」</a:t>
            </a:r>
            <a:endParaRPr lang="ja-JP" altLang="en-US">
              <a:ea typeface="MS UI Gothic" panose="020B0600070205080204" pitchFamily="50" charset="-128"/>
            </a:endParaRPr>
          </a:p>
        </p:txBody>
      </p:sp>
      <p:sp>
        <p:nvSpPr>
          <p:cNvPr id="494650" name="Line 58">
            <a:extLst>
              <a:ext uri="{FF2B5EF4-FFF2-40B4-BE49-F238E27FC236}">
                <a16:creationId xmlns:a16="http://schemas.microsoft.com/office/drawing/2014/main" id="{9452EDB8-60F6-160C-E1F2-7102B57E38EE}"/>
              </a:ext>
            </a:extLst>
          </p:cNvPr>
          <p:cNvSpPr>
            <a:spLocks noChangeShapeType="1"/>
          </p:cNvSpPr>
          <p:nvPr/>
        </p:nvSpPr>
        <p:spPr bwMode="auto">
          <a:xfrm>
            <a:off x="1268413" y="7329488"/>
            <a:ext cx="2503487" cy="7937"/>
          </a:xfrm>
          <a:prstGeom prst="line">
            <a:avLst/>
          </a:prstGeom>
          <a:noFill/>
          <a:ln w="12700">
            <a:solidFill>
              <a:schemeClr val="tx1"/>
            </a:solidFill>
            <a:prstDash val="dash"/>
            <a:round/>
            <a:headEnd type="arrow"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51" name="Line 59">
            <a:extLst>
              <a:ext uri="{FF2B5EF4-FFF2-40B4-BE49-F238E27FC236}">
                <a16:creationId xmlns:a16="http://schemas.microsoft.com/office/drawing/2014/main" id="{2A2F8B0B-17E0-48CC-1652-9196094F2907}"/>
              </a:ext>
            </a:extLst>
          </p:cNvPr>
          <p:cNvSpPr>
            <a:spLocks noChangeShapeType="1"/>
          </p:cNvSpPr>
          <p:nvPr/>
        </p:nvSpPr>
        <p:spPr bwMode="auto">
          <a:xfrm>
            <a:off x="1258888" y="7102475"/>
            <a:ext cx="2516187" cy="4763"/>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52" name="Rectangle 60">
            <a:extLst>
              <a:ext uri="{FF2B5EF4-FFF2-40B4-BE49-F238E27FC236}">
                <a16:creationId xmlns:a16="http://schemas.microsoft.com/office/drawing/2014/main" id="{160EEBFD-1971-4C78-7D73-6D84B9299E71}"/>
              </a:ext>
            </a:extLst>
          </p:cNvPr>
          <p:cNvSpPr>
            <a:spLocks noChangeArrowheads="1"/>
          </p:cNvSpPr>
          <p:nvPr/>
        </p:nvSpPr>
        <p:spPr bwMode="auto">
          <a:xfrm>
            <a:off x="3781425" y="6992938"/>
            <a:ext cx="182563" cy="420687"/>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4653" name="Text Box 61">
            <a:extLst>
              <a:ext uri="{FF2B5EF4-FFF2-40B4-BE49-F238E27FC236}">
                <a16:creationId xmlns:a16="http://schemas.microsoft.com/office/drawing/2014/main" id="{A5EB9728-C1C4-2CA2-B3EB-09FEF59A903D}"/>
              </a:ext>
            </a:extLst>
          </p:cNvPr>
          <p:cNvSpPr txBox="1">
            <a:spLocks noChangeArrowheads="1"/>
          </p:cNvSpPr>
          <p:nvPr/>
        </p:nvSpPr>
        <p:spPr bwMode="auto">
          <a:xfrm>
            <a:off x="1295400" y="6845300"/>
            <a:ext cx="2481263" cy="2254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69" tIns="8886" rIns="74269" bIns="8886"/>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Hãy cho biết họ tên</a:t>
            </a:r>
            <a:endParaRPr lang="en-US" altLang="ja-JP">
              <a:ea typeface="MS UI Gothic" panose="020B0600070205080204" pitchFamily="50" charset="-128"/>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0738" name="AutoShape 2">
            <a:extLst>
              <a:ext uri="{FF2B5EF4-FFF2-40B4-BE49-F238E27FC236}">
                <a16:creationId xmlns:a16="http://schemas.microsoft.com/office/drawing/2014/main" id="{E92F86C5-C691-2AFC-2A36-E7472265E6DF}"/>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latin typeface="MS UI Gothic" panose="020B0600070205080204" pitchFamily="50" charset="-128"/>
                <a:ea typeface="MS UI Gothic" panose="020B0600070205080204" pitchFamily="50" charset="-128"/>
              </a:rPr>
              <a:t>　　　　　　　　　　　　　　　</a:t>
            </a:r>
            <a:endParaRPr lang="ja-JP" altLang="en-US" sz="130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r>
              <a:rPr lang="ja-JP" altLang="en-US" b="0">
                <a:latin typeface="MS UI Gothic" panose="020B0600070205080204" pitchFamily="50" charset="-128"/>
                <a:ea typeface="MS UI Gothic" panose="020B0600070205080204" pitchFamily="50" charset="-128"/>
              </a:rPr>
              <a:t>　■　</a:t>
            </a:r>
            <a:r>
              <a:rPr lang="en-US" altLang="ja-JP" b="0">
                <a:ea typeface="MS UI Gothic" panose="020B0600070205080204" pitchFamily="50" charset="-128"/>
              </a:rPr>
              <a:t>Ví dụ program</a:t>
            </a:r>
            <a:r>
              <a:rPr lang="ja-JP" altLang="en-US" b="0">
                <a:latin typeface="MS UI Gothic" panose="020B0600070205080204" pitchFamily="50" charset="-128"/>
                <a:ea typeface="MS UI Gothic" panose="020B0600070205080204" pitchFamily="50" charset="-128"/>
              </a:rPr>
              <a:t>　（</a:t>
            </a:r>
            <a:r>
              <a:rPr lang="en-US" altLang="ja-JP" b="0">
                <a:latin typeface="MS UI Gothic" panose="020B0600070205080204" pitchFamily="50" charset="-128"/>
                <a:ea typeface="MS UI Gothic" panose="020B0600070205080204" pitchFamily="50" charset="-128"/>
              </a:rPr>
              <a:t>Sample02. java 1/2 </a:t>
            </a:r>
            <a:r>
              <a:rPr lang="ja-JP" altLang="en-US" b="0">
                <a:latin typeface="MS UI Gothic" panose="020B0600070205080204" pitchFamily="50" charset="-128"/>
                <a:ea typeface="MS UI Gothic" panose="020B0600070205080204" pitchFamily="50" charset="-128"/>
              </a:rPr>
              <a:t>）</a:t>
            </a: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en-US" altLang="ja-JP" b="0">
              <a:latin typeface="MS UI Gothic" panose="020B0600070205080204" pitchFamily="50" charset="-128"/>
              <a:ea typeface="MS UI Gothic" panose="020B0600070205080204" pitchFamily="50" charset="-128"/>
            </a:endParaRPr>
          </a:p>
        </p:txBody>
      </p:sp>
      <p:sp>
        <p:nvSpPr>
          <p:cNvPr id="500739" name="AutoShape 3">
            <a:extLst>
              <a:ext uri="{FF2B5EF4-FFF2-40B4-BE49-F238E27FC236}">
                <a16:creationId xmlns:a16="http://schemas.microsoft.com/office/drawing/2014/main" id="{011E0625-6A82-FDBA-A1FA-136B93C4BB9D}"/>
              </a:ext>
            </a:extLst>
          </p:cNvPr>
          <p:cNvSpPr>
            <a:spLocks noChangeArrowheads="1"/>
          </p:cNvSpPr>
          <p:nvPr/>
        </p:nvSpPr>
        <p:spPr bwMode="auto">
          <a:xfrm>
            <a:off x="603250" y="442913"/>
            <a:ext cx="14605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Tóm tắt (5)</a:t>
            </a:r>
          </a:p>
        </p:txBody>
      </p:sp>
      <p:sp>
        <p:nvSpPr>
          <p:cNvPr id="500740" name="Text Box 4">
            <a:extLst>
              <a:ext uri="{FF2B5EF4-FFF2-40B4-BE49-F238E27FC236}">
                <a16:creationId xmlns:a16="http://schemas.microsoft.com/office/drawing/2014/main" id="{37DD95A3-388F-C799-D515-2282AC86932B}"/>
              </a:ext>
            </a:extLst>
          </p:cNvPr>
          <p:cNvSpPr txBox="1">
            <a:spLocks noChangeArrowheads="1"/>
          </p:cNvSpPr>
          <p:nvPr/>
        </p:nvSpPr>
        <p:spPr bwMode="auto">
          <a:xfrm>
            <a:off x="661988" y="1133475"/>
            <a:ext cx="5759450" cy="85756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5363" indent="-355600" defTabSz="447675">
              <a:defRPr kumimoji="1">
                <a:solidFill>
                  <a:schemeClr val="tx1"/>
                </a:solidFill>
                <a:latin typeface="Arial" panose="020B0604020202020204" pitchFamily="34" charset="0"/>
                <a:ea typeface="ＭＳ Ｐゴシック" panose="020B0600070205080204" pitchFamily="50" charset="-128"/>
              </a:defRPr>
            </a:lvl5pPr>
            <a:lvl6pPr marL="27225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797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69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4163" indent="-3556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Sample02.java</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All Rights Reserved.</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Copyright(c) 2008 Nihon Unisys Learning Co.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Class để thực hiện sample của chương </a:t>
            </a:r>
            <a:r>
              <a:rPr lang="ja-JP" altLang="ja-JP" b="0">
                <a:ea typeface="ＭＳ ゴシック" panose="020B0609070205080204" pitchFamily="49" charset="-128"/>
              </a:rPr>
              <a:t>2</a:t>
            </a:r>
            <a:r>
              <a:rPr lang="en-US" altLang="ja-JP" b="0">
                <a:ea typeface="ＭＳ ゴシック" panose="020B0609070205080204" pitchFamily="49" charset="-128"/>
              </a:rPr>
              <a:t>.</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&lt;p&gt;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Sinh </a:t>
            </a:r>
            <a:r>
              <a:rPr lang="ja-JP" altLang="ja-JP" b="0">
                <a:ea typeface="ＭＳ ゴシック" panose="020B0609070205080204" pitchFamily="49" charset="-128"/>
              </a:rPr>
              <a:t>Person</a:t>
            </a:r>
            <a:r>
              <a:rPr lang="en-US" altLang="ja-JP" b="0">
                <a:ea typeface="ＭＳ ゴシック" panose="020B0609070205080204" pitchFamily="49" charset="-128"/>
              </a:rPr>
              <a:t> object và gọi ra method.</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@version	1.0</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public class Sample02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Điểm khởi đầu khi thực hiện.</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@param args String[]</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public static void main(String[] args)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Nhận giá trị đã được chỉ định khi thực hiện rồi hiển thị.</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if (args.length == 1)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System.out.println(“実行時に指定された値</a:t>
            </a:r>
            <a:r>
              <a:rPr lang="en-US" altLang="ja-JP" b="0">
                <a:ea typeface="ＭＳ ゴシック" panose="020B0609070205080204" pitchFamily="49" charset="-128"/>
              </a:rPr>
              <a:t>(Giá trị đã được chỉ định khi thực hiện)</a:t>
            </a:r>
            <a:r>
              <a:rPr lang="ja-JP" altLang="ja-JP" b="0">
                <a:latin typeface="ＭＳ ゴシック" panose="020B0609070205080204" pitchFamily="49" charset="-128"/>
                <a:ea typeface="ＭＳ ゴシック" panose="020B0609070205080204" pitchFamily="49" charset="-128"/>
              </a:rPr>
              <a:t>：" + args[0]);</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else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System.out.println(“実行時に１つの値が指定されませんでした</a:t>
            </a:r>
            <a:r>
              <a:rPr lang="en-US" altLang="ja-JP" b="0">
                <a:ea typeface="ＭＳ ゴシック" panose="020B0609070205080204" pitchFamily="49" charset="-128"/>
              </a:rPr>
              <a:t>(không có giá trị nào được chỉ định cả khi thực hiện )</a:t>
            </a: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System.out.println();</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Sử dụng biến </a:t>
            </a:r>
            <a:r>
              <a:rPr lang="ja-JP" altLang="ja-JP" b="0">
                <a:ea typeface="ＭＳ ゴシック" panose="020B0609070205080204" pitchFamily="49" charset="-128"/>
              </a:rPr>
              <a:t>static</a:t>
            </a:r>
            <a:r>
              <a:rPr lang="en-US" altLang="ja-JP" b="0">
                <a:ea typeface="ＭＳ ゴシック" panose="020B0609070205080204" pitchFamily="49" charset="-128"/>
              </a:rPr>
              <a:t>, </a:t>
            </a:r>
            <a:r>
              <a:rPr lang="ja-JP" altLang="ja-JP" b="0">
                <a:ea typeface="ＭＳ ゴシック" panose="020B0609070205080204" pitchFamily="49" charset="-128"/>
              </a:rPr>
              <a:t>static</a:t>
            </a:r>
            <a:r>
              <a:rPr lang="en-US" altLang="ja-JP" b="0">
                <a:ea typeface="ＭＳ ゴシック" panose="020B0609070205080204" pitchFamily="49" charset="-128"/>
              </a:rPr>
              <a:t> method</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System.out.println(“====static変数、staticメソッドの利用====</a:t>
            </a:r>
            <a:r>
              <a:rPr lang="en-US" altLang="ja-JP" b="0">
                <a:latin typeface="ＭＳ ゴシック" panose="020B0609070205080204" pitchFamily="49" charset="-128"/>
                <a:ea typeface="ＭＳ ゴシック" panose="020B0609070205080204" pitchFamily="49" charset="-128"/>
              </a:rPr>
              <a:t>(</a:t>
            </a:r>
            <a:r>
              <a:rPr lang="en-US" altLang="ja-JP" b="0">
                <a:ea typeface="MS UI Gothic" panose="020B0600070205080204" pitchFamily="50" charset="-128"/>
              </a:rPr>
              <a:t>Sử dụng biến </a:t>
            </a:r>
            <a:r>
              <a:rPr lang="ja-JP" altLang="ja-JP" b="0">
                <a:ea typeface="MS UI Gothic" panose="020B0600070205080204" pitchFamily="50" charset="-128"/>
              </a:rPr>
              <a:t>static</a:t>
            </a:r>
            <a:r>
              <a:rPr lang="en-US" altLang="ja-JP" b="0">
                <a:ea typeface="MS UI Gothic" panose="020B0600070205080204" pitchFamily="50" charset="-128"/>
              </a:rPr>
              <a:t>, </a:t>
            </a:r>
            <a:r>
              <a:rPr lang="ja-JP" altLang="ja-JP" b="0">
                <a:ea typeface="MS UI Gothic" panose="020B0600070205080204" pitchFamily="50" charset="-128"/>
              </a:rPr>
              <a:t>static</a:t>
            </a:r>
            <a:r>
              <a:rPr lang="en-US" altLang="ja-JP" b="0">
                <a:ea typeface="MS UI Gothic" panose="020B0600070205080204" pitchFamily="50" charset="-128"/>
              </a:rPr>
              <a:t> method</a:t>
            </a:r>
            <a:r>
              <a:rPr lang="en-US" altLang="ja-JP" b="0">
                <a:latin typeface="ＭＳ ゴシック" panose="020B0609070205080204" pitchFamily="49" charset="-128"/>
                <a:ea typeface="ＭＳ ゴシック" panose="020B0609070205080204" pitchFamily="49" charset="-128"/>
              </a:rPr>
              <a:t>)</a:t>
            </a: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Sử dụng </a:t>
            </a:r>
            <a:r>
              <a:rPr lang="ja-JP" altLang="ja-JP" b="0">
                <a:ea typeface="ＭＳ ゴシック" panose="020B0609070205080204" pitchFamily="49" charset="-128"/>
              </a:rPr>
              <a:t>static</a:t>
            </a:r>
            <a:r>
              <a:rPr lang="en-US" altLang="ja-JP" b="0">
                <a:ea typeface="ＭＳ ゴシック" panose="020B0609070205080204" pitchFamily="49" charset="-128"/>
              </a:rPr>
              <a:t> field</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System.out.println(“</a:t>
            </a:r>
            <a:r>
              <a:rPr lang="en-US" altLang="ja-JP" b="0">
                <a:ea typeface="ＭＳ ゴシック" panose="020B0609070205080204" pitchFamily="49" charset="-128"/>
              </a:rPr>
              <a:t>Chủng loại</a:t>
            </a:r>
            <a:r>
              <a:rPr lang="ja-JP" altLang="ja-JP" b="0">
                <a:latin typeface="ＭＳ ゴシック" panose="020B0609070205080204" pitchFamily="49" charset="-128"/>
                <a:ea typeface="ＭＳ ゴシック" panose="020B0609070205080204" pitchFamily="49" charset="-128"/>
              </a:rPr>
              <a:t>：" + Person.SPECIES);</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System.out.println("---------------------------------------");</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Sử dụng </a:t>
            </a:r>
            <a:r>
              <a:rPr lang="ja-JP" altLang="ja-JP" b="0">
                <a:ea typeface="ＭＳ ゴシック" panose="020B0609070205080204" pitchFamily="49" charset="-128"/>
              </a:rPr>
              <a:t>static</a:t>
            </a:r>
            <a:r>
              <a:rPr lang="en-US" altLang="ja-JP" b="0">
                <a:ea typeface="ＭＳ ゴシック" panose="020B0609070205080204" pitchFamily="49" charset="-128"/>
              </a:rPr>
              <a:t> method</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Person.printSpecies();</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System.out.println();</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System.out.println(“==オブジェクトの生成とメソッド呼び出し==</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Sinh object và gọi ra method</a:t>
            </a:r>
            <a:r>
              <a:rPr lang="en-US" altLang="ja-JP" b="0">
                <a:latin typeface="ＭＳ ゴシック" panose="020B0609070205080204" pitchFamily="49" charset="-128"/>
                <a:ea typeface="ＭＳ ゴシック" panose="020B0609070205080204" pitchFamily="49" charset="-128"/>
              </a:rPr>
              <a:t>)</a:t>
            </a: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Sinh object</a:t>
            </a:r>
            <a:r>
              <a:rPr lang="ja-JP" altLang="ja-JP" b="0">
                <a:ea typeface="ＭＳ ゴシック" panose="020B0609070205080204" pitchFamily="49" charset="-128"/>
              </a:rPr>
              <a:t>（</a:t>
            </a:r>
            <a:r>
              <a:rPr lang="en-US" altLang="ja-JP" b="0">
                <a:ea typeface="ＭＳ ゴシック" panose="020B0609070205080204" pitchFamily="49" charset="-128"/>
              </a:rPr>
              <a:t>Constructor có đối số</a:t>
            </a:r>
            <a:r>
              <a:rPr lang="ja-JP" altLang="ja-JP" b="0">
                <a:ea typeface="ＭＳ ゴシック" panose="020B0609070205080204" pitchFamily="49" charset="-128"/>
              </a:rPr>
              <a: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Person personA = new Person(“佐藤</a:t>
            </a:r>
            <a:r>
              <a:rPr lang="en-US" altLang="ja-JP" b="0">
                <a:latin typeface="ＭＳ ゴシック" panose="020B0609070205080204" pitchFamily="49" charset="-128"/>
                <a:ea typeface="ＭＳ ゴシック" panose="020B0609070205080204" pitchFamily="49" charset="-128"/>
              </a:rPr>
              <a:t>(Sato)</a:t>
            </a:r>
            <a:r>
              <a:rPr lang="ja-JP" altLang="ja-JP" b="0">
                <a:latin typeface="ＭＳ ゴシック" panose="020B0609070205080204" pitchFamily="49" charset="-128"/>
                <a:ea typeface="ＭＳ ゴシック" panose="020B0609070205080204" pitchFamily="49" charset="-128"/>
              </a:rPr>
              <a:t>”, “花子</a:t>
            </a:r>
            <a:r>
              <a:rPr lang="en-US" altLang="ja-JP" b="0">
                <a:latin typeface="ＭＳ ゴシック" panose="020B0609070205080204" pitchFamily="49" charset="-128"/>
                <a:ea typeface="ＭＳ ゴシック" panose="020B0609070205080204" pitchFamily="49" charset="-128"/>
              </a:rPr>
              <a:t>(Hanako)</a:t>
            </a:r>
            <a:r>
              <a:rPr lang="ja-JP" altLang="ja-JP" b="0">
                <a:latin typeface="ＭＳ ゴシック" panose="020B0609070205080204" pitchFamily="49" charset="-128"/>
                <a:ea typeface="ＭＳ ゴシック" panose="020B0609070205080204" pitchFamily="49" charset="-128"/>
              </a:rPr>
              <a:t>", 22);</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562" name="AutoShape 2">
            <a:extLst>
              <a:ext uri="{FF2B5EF4-FFF2-40B4-BE49-F238E27FC236}">
                <a16:creationId xmlns:a16="http://schemas.microsoft.com/office/drawing/2014/main" id="{E4794539-EB22-19AE-FD86-BA7282BDB852}"/>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latin typeface="MS UI Gothic" panose="020B0600070205080204" pitchFamily="50" charset="-128"/>
                <a:ea typeface="MS UI Gothic" panose="020B0600070205080204" pitchFamily="50" charset="-128"/>
              </a:rPr>
              <a:t>　　　　　　　　　　　　　　　</a:t>
            </a:r>
            <a:endParaRPr lang="ja-JP" altLang="en-US" sz="130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r>
              <a:rPr lang="ja-JP" altLang="en-US" b="0">
                <a:latin typeface="MS UI Gothic" panose="020B0600070205080204" pitchFamily="50" charset="-128"/>
                <a:ea typeface="MS UI Gothic" panose="020B0600070205080204" pitchFamily="50" charset="-128"/>
              </a:rPr>
              <a:t>　■　</a:t>
            </a:r>
            <a:r>
              <a:rPr lang="en-US" altLang="ja-JP" b="0">
                <a:ea typeface="MS UI Gothic" panose="020B0600070205080204" pitchFamily="50" charset="-128"/>
              </a:rPr>
              <a:t>Ví dụ program</a:t>
            </a:r>
            <a:r>
              <a:rPr lang="ja-JP" altLang="en-US" b="0">
                <a:latin typeface="MS UI Gothic" panose="020B0600070205080204" pitchFamily="50" charset="-128"/>
                <a:ea typeface="MS UI Gothic" panose="020B0600070205080204" pitchFamily="50" charset="-128"/>
              </a:rPr>
              <a:t>　（</a:t>
            </a:r>
            <a:r>
              <a:rPr lang="en-US" altLang="ja-JP" b="0">
                <a:latin typeface="MS UI Gothic" panose="020B0600070205080204" pitchFamily="50" charset="-128"/>
                <a:ea typeface="MS UI Gothic" panose="020B0600070205080204" pitchFamily="50" charset="-128"/>
              </a:rPr>
              <a:t>Sample02. java 2/2 </a:t>
            </a:r>
            <a:r>
              <a:rPr lang="ja-JP" altLang="en-US" b="0">
                <a:latin typeface="MS UI Gothic" panose="020B0600070205080204" pitchFamily="50" charset="-128"/>
                <a:ea typeface="MS UI Gothic" panose="020B0600070205080204" pitchFamily="50" charset="-128"/>
              </a:rPr>
              <a:t>）</a:t>
            </a: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en-US" altLang="ja-JP" b="0">
              <a:latin typeface="MS UI Gothic" panose="020B0600070205080204" pitchFamily="50" charset="-128"/>
              <a:ea typeface="MS UI Gothic" panose="020B0600070205080204" pitchFamily="50" charset="-128"/>
            </a:endParaRPr>
          </a:p>
        </p:txBody>
      </p:sp>
      <p:sp>
        <p:nvSpPr>
          <p:cNvPr id="578563" name="AutoShape 3">
            <a:extLst>
              <a:ext uri="{FF2B5EF4-FFF2-40B4-BE49-F238E27FC236}">
                <a16:creationId xmlns:a16="http://schemas.microsoft.com/office/drawing/2014/main" id="{DC068163-52B1-A87B-70F2-033E0077195D}"/>
              </a:ext>
            </a:extLst>
          </p:cNvPr>
          <p:cNvSpPr>
            <a:spLocks noChangeArrowheads="1"/>
          </p:cNvSpPr>
          <p:nvPr/>
        </p:nvSpPr>
        <p:spPr bwMode="auto">
          <a:xfrm>
            <a:off x="603250" y="442913"/>
            <a:ext cx="14605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Tóm tắt (6)</a:t>
            </a:r>
          </a:p>
        </p:txBody>
      </p:sp>
      <p:sp>
        <p:nvSpPr>
          <p:cNvPr id="578564" name="Text Box 4">
            <a:extLst>
              <a:ext uri="{FF2B5EF4-FFF2-40B4-BE49-F238E27FC236}">
                <a16:creationId xmlns:a16="http://schemas.microsoft.com/office/drawing/2014/main" id="{C9280233-66F6-32A6-8EC8-878AC9810BB6}"/>
              </a:ext>
            </a:extLst>
          </p:cNvPr>
          <p:cNvSpPr txBox="1">
            <a:spLocks noChangeArrowheads="1"/>
          </p:cNvSpPr>
          <p:nvPr/>
        </p:nvSpPr>
        <p:spPr bwMode="auto">
          <a:xfrm>
            <a:off x="712788" y="1122363"/>
            <a:ext cx="5708650" cy="53848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Hiển thị thông tin cá nhân</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personA.printInfo();</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Thay đổi họ</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personA.setLastName(“川村</a:t>
            </a:r>
            <a:r>
              <a:rPr lang="en-US" altLang="ja-JP" b="0">
                <a:latin typeface="ＭＳ ゴシック" panose="020B0609070205080204" pitchFamily="49" charset="-128"/>
                <a:ea typeface="ＭＳ ゴシック" panose="020B0609070205080204" pitchFamily="49" charset="-128"/>
              </a:rPr>
              <a:t>(Kawamura)</a:t>
            </a: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Get họ tên</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String fullName = personA.getFullName();</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System.out.println(“変更後の姓名は</a:t>
            </a:r>
            <a:r>
              <a:rPr lang="en-US" altLang="ja-JP" b="0">
                <a:ea typeface="ＭＳ ゴシック" panose="020B0609070205080204" pitchFamily="49" charset="-128"/>
              </a:rPr>
              <a:t>(Họ tên sau khi thay đổi là</a:t>
            </a:r>
            <a:r>
              <a:rPr lang="en-US" altLang="ja-JP" b="0">
                <a:latin typeface="ＭＳ ゴシック" panose="020B0609070205080204" pitchFamily="49" charset="-128"/>
                <a:ea typeface="ＭＳ ゴシック" panose="020B0609070205080204" pitchFamily="49" charset="-128"/>
              </a:rPr>
              <a:t>)</a:t>
            </a:r>
            <a:r>
              <a:rPr lang="ja-JP" altLang="ja-JP" b="0">
                <a:latin typeface="ＭＳ ゴシック" panose="020B0609070205080204" pitchFamily="49" charset="-128"/>
                <a:ea typeface="ＭＳ ゴシック" panose="020B0609070205080204" pitchFamily="49" charset="-128"/>
              </a:rPr>
              <a:t>” + fullName + “です</a:t>
            </a:r>
            <a:r>
              <a:rPr lang="en-US" altLang="ja-JP" b="0">
                <a:latin typeface="ＭＳ ゴシック" panose="020B0609070205080204" pitchFamily="49" charset="-128"/>
                <a:ea typeface="ＭＳ ゴシック" panose="020B0609070205080204" pitchFamily="49" charset="-128"/>
              </a:rPr>
              <a:t>(desu)</a:t>
            </a: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Giải phóng object</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personA = null;</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System.out.println();</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System.out.println(“===オーバーロードしたメソッド呼び出し===</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Gọi ra method đã overload</a:t>
            </a:r>
            <a:r>
              <a:rPr lang="en-US" altLang="ja-JP" b="0">
                <a:latin typeface="ＭＳ ゴシック" panose="020B0609070205080204" pitchFamily="49" charset="-128"/>
                <a:ea typeface="ＭＳ ゴシック" panose="020B0609070205080204" pitchFamily="49" charset="-128"/>
              </a:rPr>
              <a:t>)</a:t>
            </a: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Sinh object</a:t>
            </a:r>
            <a:r>
              <a:rPr lang="ja-JP" altLang="ja-JP" b="0">
                <a:ea typeface="ＭＳ ゴシック" panose="020B0609070205080204" pitchFamily="49" charset="-128"/>
              </a:rPr>
              <a:t>（</a:t>
            </a:r>
            <a:r>
              <a:rPr lang="en-US" altLang="ja-JP" b="0">
                <a:ea typeface="ＭＳ ゴシック" panose="020B0609070205080204" pitchFamily="49" charset="-128"/>
              </a:rPr>
              <a:t>Constructor không có đối số</a:t>
            </a: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Person personB = new Person();</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Gọi ra method </a:t>
            </a:r>
            <a:r>
              <a:rPr lang="ja-JP" altLang="ja-JP" b="0">
                <a:ea typeface="ＭＳ ゴシック" panose="020B0609070205080204" pitchFamily="49" charset="-128"/>
              </a:rPr>
              <a:t>printInfo</a:t>
            </a:r>
            <a:r>
              <a:rPr lang="en-US" altLang="ja-JP" b="0">
                <a:ea typeface="ＭＳ ゴシック" panose="020B0609070205080204" pitchFamily="49" charset="-128"/>
              </a:rPr>
              <a:t> không có đối số</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System.out.println(personB.getFullName());</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Gọi ra method </a:t>
            </a:r>
            <a:r>
              <a:rPr lang="ja-JP" altLang="ja-JP" b="0">
                <a:ea typeface="ＭＳ ゴシック" panose="020B0609070205080204" pitchFamily="49" charset="-128"/>
              </a:rPr>
              <a:t>printInfo</a:t>
            </a:r>
            <a:r>
              <a:rPr lang="en-US" altLang="ja-JP" b="0">
                <a:ea typeface="ＭＳ ゴシック" panose="020B0609070205080204" pitchFamily="49" charset="-128"/>
              </a:rPr>
              <a:t> có đối số</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System.out.println(personB.getFullName("："));</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Giải phóng object</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personB = null;</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AutoShape 2">
            <a:extLst>
              <a:ext uri="{FF2B5EF4-FFF2-40B4-BE49-F238E27FC236}">
                <a16:creationId xmlns:a16="http://schemas.microsoft.com/office/drawing/2014/main" id="{E796E55C-C3E0-840D-5717-60ADEAD2E183}"/>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latin typeface="MS UI Gothic" panose="020B0600070205080204" pitchFamily="50" charset="-128"/>
                <a:ea typeface="MS UI Gothic" panose="020B0600070205080204" pitchFamily="50" charset="-128"/>
              </a:rPr>
              <a:t>　　　　　　　　　　　　　　　</a:t>
            </a:r>
            <a:endParaRPr lang="ja-JP" altLang="en-US" sz="130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r>
              <a:rPr lang="ja-JP" altLang="en-US" b="0">
                <a:latin typeface="MS UI Gothic" panose="020B0600070205080204" pitchFamily="50" charset="-128"/>
                <a:ea typeface="MS UI Gothic" panose="020B0600070205080204" pitchFamily="50" charset="-128"/>
              </a:rPr>
              <a:t>　</a:t>
            </a:r>
          </a:p>
          <a:p>
            <a:r>
              <a:rPr lang="ja-JP" altLang="en-US" b="0">
                <a:latin typeface="MS UI Gothic" panose="020B0600070205080204" pitchFamily="50" charset="-128"/>
                <a:ea typeface="MS UI Gothic" panose="020B0600070205080204" pitchFamily="50" charset="-128"/>
              </a:rPr>
              <a:t>　■　</a:t>
            </a:r>
            <a:r>
              <a:rPr lang="en-US" altLang="ja-JP" b="0">
                <a:ea typeface="MS UI Gothic" panose="020B0600070205080204" pitchFamily="50" charset="-128"/>
              </a:rPr>
              <a:t>Ví dụ program</a:t>
            </a:r>
            <a:r>
              <a:rPr lang="ja-JP" altLang="en-US" b="0">
                <a:latin typeface="MS UI Gothic" panose="020B0600070205080204" pitchFamily="50" charset="-128"/>
                <a:ea typeface="MS UI Gothic" panose="020B0600070205080204" pitchFamily="50" charset="-128"/>
              </a:rPr>
              <a:t>　（</a:t>
            </a:r>
            <a:r>
              <a:rPr lang="en-US" altLang="ja-JP" b="0">
                <a:latin typeface="MS UI Gothic" panose="020B0600070205080204" pitchFamily="50" charset="-128"/>
                <a:ea typeface="MS UI Gothic" panose="020B0600070205080204" pitchFamily="50" charset="-128"/>
              </a:rPr>
              <a:t>Person. java 1/3 </a:t>
            </a:r>
            <a:r>
              <a:rPr lang="ja-JP" altLang="en-US" b="0">
                <a:latin typeface="MS UI Gothic" panose="020B0600070205080204" pitchFamily="50" charset="-128"/>
                <a:ea typeface="MS UI Gothic" panose="020B0600070205080204" pitchFamily="50" charset="-128"/>
              </a:rPr>
              <a:t>）</a:t>
            </a: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en-US" altLang="ja-JP" b="0">
              <a:latin typeface="MS UI Gothic" panose="020B0600070205080204" pitchFamily="50" charset="-128"/>
              <a:ea typeface="MS UI Gothic" panose="020B0600070205080204" pitchFamily="50" charset="-128"/>
            </a:endParaRPr>
          </a:p>
        </p:txBody>
      </p:sp>
      <p:sp>
        <p:nvSpPr>
          <p:cNvPr id="508931" name="AutoShape 3">
            <a:extLst>
              <a:ext uri="{FF2B5EF4-FFF2-40B4-BE49-F238E27FC236}">
                <a16:creationId xmlns:a16="http://schemas.microsoft.com/office/drawing/2014/main" id="{BEDCFA7A-739F-3139-C07D-6654977A1ACA}"/>
              </a:ext>
            </a:extLst>
          </p:cNvPr>
          <p:cNvSpPr>
            <a:spLocks noChangeArrowheads="1"/>
          </p:cNvSpPr>
          <p:nvPr/>
        </p:nvSpPr>
        <p:spPr bwMode="auto">
          <a:xfrm>
            <a:off x="603250" y="442913"/>
            <a:ext cx="14605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Tóm tắt (7)</a:t>
            </a:r>
          </a:p>
        </p:txBody>
      </p:sp>
      <p:sp>
        <p:nvSpPr>
          <p:cNvPr id="508933" name="Text Box 5">
            <a:extLst>
              <a:ext uri="{FF2B5EF4-FFF2-40B4-BE49-F238E27FC236}">
                <a16:creationId xmlns:a16="http://schemas.microsoft.com/office/drawing/2014/main" id="{7E14B181-DACE-5B50-FBC0-10F108D4DE90}"/>
              </a:ext>
            </a:extLst>
          </p:cNvPr>
          <p:cNvSpPr txBox="1">
            <a:spLocks noChangeArrowheads="1"/>
          </p:cNvSpPr>
          <p:nvPr/>
        </p:nvSpPr>
        <p:spPr bwMode="auto">
          <a:xfrm>
            <a:off x="661988" y="1128713"/>
            <a:ext cx="5759450" cy="844867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Person.java</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All Rights Reserved.</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Copyright(c) 2008 Nihon Unisys Learning Co.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Class thể hiện người</a:t>
            </a:r>
            <a:r>
              <a:rPr lang="en-US" altLang="ja-JP" b="0">
                <a:latin typeface="ＭＳ ゴシック" panose="020B0609070205080204" pitchFamily="49" charset="-128"/>
                <a:ea typeface="ＭＳ ゴシック" panose="020B0609070205080204" pitchFamily="49" charset="-128"/>
              </a:rPr>
              <a:t>.</a:t>
            </a:r>
            <a:endParaRPr lang="ja-JP" altLang="ja-JP" b="0">
              <a:latin typeface="ＭＳ ゴシック" panose="020B0609070205080204" pitchFamily="49" charset="-128"/>
              <a:ea typeface="ＭＳ ゴシック" panose="020B0609070205080204" pitchFamily="49" charset="-128"/>
            </a:endParaRPr>
          </a:p>
          <a:p>
            <a:pPr lvl="1" algn="just">
              <a:spcBef>
                <a:spcPct val="10000"/>
              </a:spcBef>
              <a:buFontTx/>
              <a:buAutoNum type="arabicPeriod"/>
            </a:pPr>
            <a:r>
              <a:rPr lang="ja-JP" altLang="ja-JP" b="0">
                <a:ea typeface="ＭＳ ゴシック" panose="020B0609070205080204" pitchFamily="49" charset="-128"/>
              </a:rPr>
              <a:t> * &lt;p&gt;</a:t>
            </a:r>
          </a:p>
          <a:p>
            <a:pPr lvl="1" algn="just">
              <a:spcBef>
                <a:spcPct val="10000"/>
              </a:spcBef>
              <a:buFontTx/>
              <a:buAutoNum type="arabicPeriod"/>
            </a:pPr>
            <a:r>
              <a:rPr lang="ja-JP" altLang="ja-JP" b="0">
                <a:ea typeface="ＭＳ ゴシック" panose="020B0609070205080204" pitchFamily="49" charset="-128"/>
              </a:rPr>
              <a:t> * </a:t>
            </a:r>
            <a:r>
              <a:rPr lang="en-US" altLang="ja-JP" b="0">
                <a:ea typeface="ＭＳ ゴシック" panose="020B0609070205080204" pitchFamily="49" charset="-128"/>
              </a:rPr>
              <a:t>Chứa thông tin</a:t>
            </a:r>
            <a:r>
              <a:rPr lang="ja-JP" altLang="ja-JP" b="0">
                <a:ea typeface="ＭＳ ゴシック" panose="020B0609070205080204" pitchFamily="49" charset="-128"/>
              </a:rPr>
              <a:t>（</a:t>
            </a:r>
            <a:r>
              <a:rPr lang="en-US" altLang="ja-JP" b="0">
                <a:ea typeface="ＭＳ ゴシック" panose="020B0609070205080204" pitchFamily="49" charset="-128"/>
              </a:rPr>
              <a:t>họ, tên, tuổi</a:t>
            </a:r>
            <a:r>
              <a:rPr lang="ja-JP" altLang="ja-JP" b="0">
                <a:ea typeface="ＭＳ ゴシック" panose="020B0609070205080204" pitchFamily="49" charset="-128"/>
              </a:rPr>
              <a:t>）</a:t>
            </a:r>
            <a:r>
              <a:rPr lang="en-US" altLang="ja-JP" b="0">
                <a:ea typeface="ＭＳ ゴシック" panose="020B0609070205080204" pitchFamily="49" charset="-128"/>
              </a:rPr>
              <a:t>và có các chức năng như hiển thị thông tin cá nhân, get họ tên.</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@version	1.0</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public class Person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Định nghĩa field</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private String lastName;  // </a:t>
            </a:r>
            <a:r>
              <a:rPr lang="en-US" altLang="ja-JP" b="0">
                <a:ea typeface="ＭＳ ゴシック" panose="020B0609070205080204" pitchFamily="49" charset="-128"/>
              </a:rPr>
              <a:t>Họ</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private String firstName; // </a:t>
            </a:r>
            <a:r>
              <a:rPr lang="en-US" altLang="ja-JP" b="0">
                <a:ea typeface="ＭＳ ゴシック" panose="020B0609070205080204" pitchFamily="49" charset="-128"/>
              </a:rPr>
              <a:t>tên</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private int age;          // </a:t>
            </a:r>
            <a:r>
              <a:rPr lang="en-US" altLang="ja-JP" b="0">
                <a:ea typeface="ＭＳ ゴシック" panose="020B0609070205080204" pitchFamily="49" charset="-128"/>
              </a:rPr>
              <a:t>tuổi</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Biến static thể hiện chủng loại. Hằng số thể hiện chủng loại.</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public static final String SPECIES = "Homo sapiens";</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t>
            </a:r>
            <a:r>
              <a:rPr lang="en-US" altLang="ja-JP" b="0">
                <a:latin typeface="ＭＳ ゴシック" panose="020B0609070205080204" pitchFamily="49" charset="-128"/>
                <a:ea typeface="ＭＳ ゴシック" panose="020B0609070205080204" pitchFamily="49" charset="-128"/>
              </a:rPr>
              <a:t>C</a:t>
            </a:r>
            <a:r>
              <a:rPr lang="ja-JP" altLang="ja-JP" b="0">
                <a:latin typeface="ＭＳ ゴシック" panose="020B0609070205080204" pitchFamily="49" charset="-128"/>
                <a:ea typeface="ＭＳ ゴシック" panose="020B0609070205080204" pitchFamily="49" charset="-128"/>
              </a:rPr>
              <a:t>onstructor</a:t>
            </a:r>
            <a:r>
              <a:rPr lang="en-US" altLang="ja-JP" b="0">
                <a:ea typeface="ＭＳ ゴシック" panose="020B0609070205080204" pitchFamily="49" charset="-128"/>
              </a:rPr>
              <a:t>. Sinh </a:t>
            </a:r>
            <a:r>
              <a:rPr lang="ja-JP" altLang="ja-JP" b="0">
                <a:ea typeface="ＭＳ ゴシック" panose="020B0609070205080204" pitchFamily="49" charset="-128"/>
              </a:rPr>
              <a:t>Person</a:t>
            </a:r>
            <a:r>
              <a:rPr lang="en-US" altLang="ja-JP" b="0">
                <a:ea typeface="ＭＳ ゴシック" panose="020B0609070205080204" pitchFamily="49" charset="-128"/>
              </a:rPr>
              <a:t> object.</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&lt;pre&gt;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lastName:</a:t>
            </a:r>
            <a:r>
              <a:rPr lang="en-US" altLang="ja-JP" b="0">
                <a:ea typeface="ＭＳ ゴシック" panose="020B0609070205080204" pitchFamily="49" charset="-128"/>
              </a:rPr>
              <a:t>Không có họ</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firstName:</a:t>
            </a:r>
            <a:r>
              <a:rPr lang="en-US" altLang="ja-JP" b="0">
                <a:ea typeface="ＭＳ ゴシック" panose="020B0609070205080204" pitchFamily="49" charset="-128"/>
              </a:rPr>
              <a:t>Không có tên</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age:20</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&lt;/pre&gt;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public Person()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lastName = “姓なし</a:t>
            </a:r>
            <a:r>
              <a:rPr lang="en-US" altLang="ja-JP" b="0">
                <a:ea typeface="ＭＳ ゴシック" panose="020B0609070205080204" pitchFamily="49" charset="-128"/>
              </a:rPr>
              <a:t>(Không có họ)</a:t>
            </a: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firstName = “名なし</a:t>
            </a:r>
            <a:r>
              <a:rPr lang="en-US" altLang="ja-JP" b="0">
                <a:ea typeface="ＭＳ ゴシック" panose="020B0609070205080204" pitchFamily="49" charset="-128"/>
              </a:rPr>
              <a:t>(Không có tên)</a:t>
            </a: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age = 20;</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constructor</a:t>
            </a:r>
            <a:r>
              <a:rPr lang="en-US" altLang="ja-JP" b="0">
                <a:ea typeface="ＭＳ ゴシック" panose="020B0609070205080204" pitchFamily="49" charset="-128"/>
              </a:rPr>
              <a:t>. Sinh </a:t>
            </a:r>
            <a:r>
              <a:rPr lang="ja-JP" altLang="ja-JP" b="0">
                <a:ea typeface="ＭＳ ゴシック" panose="020B0609070205080204" pitchFamily="49" charset="-128"/>
              </a:rPr>
              <a:t>Person</a:t>
            </a:r>
            <a:r>
              <a:rPr lang="en-US" altLang="ja-JP" b="0">
                <a:ea typeface="ＭＳ ゴシック" panose="020B0609070205080204" pitchFamily="49" charset="-128"/>
              </a:rPr>
              <a:t> object.</a:t>
            </a:r>
            <a:endParaRPr lang="ja-JP" altLang="ja-JP" b="0">
              <a:ea typeface="ＭＳ ゴシック" panose="020B0609070205080204" pitchFamily="49" charset="-128"/>
            </a:endParaRP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@param lname String</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@param fname String</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@param a int</a:t>
            </a:r>
          </a:p>
          <a:p>
            <a:pPr lvl="1" algn="just">
              <a:spcBef>
                <a:spcPct val="10000"/>
              </a:spcBef>
              <a:buFontTx/>
              <a:buAutoNum type="arabicPeriod"/>
            </a:pPr>
            <a:r>
              <a:rPr lang="ja-JP" altLang="ja-JP" b="0">
                <a:latin typeface="ＭＳ ゴシック" panose="020B0609070205080204" pitchFamily="49" charset="-128"/>
                <a:ea typeface="ＭＳ ゴシック" panose="020B0609070205080204" pitchFamily="49" charset="-128"/>
              </a:rPr>
              <a:t>     */ </a:t>
            </a:r>
            <a:endParaRPr lang="en-US" altLang="ja-JP" b="0">
              <a:latin typeface="ＭＳ ゴシック" panose="020B0609070205080204" pitchFamily="49" charset="-128"/>
              <a:ea typeface="ＭＳ ゴシック" panose="020B0609070205080204" pitchFamily="49" charset="-128"/>
            </a:endParaRPr>
          </a:p>
          <a:p>
            <a:pPr lvl="1" algn="just">
              <a:spcBef>
                <a:spcPct val="10000"/>
              </a:spcBef>
              <a:buFontTx/>
              <a:buAutoNum type="arabicPeriod"/>
            </a:pPr>
            <a:r>
              <a:rPr lang="en-US" altLang="ja-JP" b="0">
                <a:latin typeface="ＭＳ ゴシック" panose="020B0609070205080204" pitchFamily="49" charset="-128"/>
                <a:ea typeface="ＭＳ ゴシック" panose="020B0609070205080204" pitchFamily="49" charset="-128"/>
              </a:rPr>
              <a:t>    public Person(String lname, String fname, int a) {</a:t>
            </a:r>
            <a:endParaRPr lang="ja-JP" altLang="ja-JP" b="0">
              <a:latin typeface="ＭＳ ゴシック" panose="020B0609070205080204" pitchFamily="49" charset="-128"/>
              <a:ea typeface="ＭＳ ゴシック" panose="020B0609070205080204" pitchFamily="49" charset="-128"/>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0610" name="AutoShape 2">
            <a:extLst>
              <a:ext uri="{FF2B5EF4-FFF2-40B4-BE49-F238E27FC236}">
                <a16:creationId xmlns:a16="http://schemas.microsoft.com/office/drawing/2014/main" id="{0DC3F206-6BE8-25DE-0756-2312B1CDAEBE}"/>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latin typeface="MS UI Gothic" panose="020B0600070205080204" pitchFamily="50" charset="-128"/>
                <a:ea typeface="MS UI Gothic" panose="020B0600070205080204" pitchFamily="50" charset="-128"/>
              </a:rPr>
              <a:t>　　　　　　　　　　　　　　　</a:t>
            </a:r>
            <a:endParaRPr lang="ja-JP" altLang="en-US" sz="130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r>
              <a:rPr lang="ja-JP" altLang="en-US" b="0">
                <a:latin typeface="MS UI Gothic" panose="020B0600070205080204" pitchFamily="50" charset="-128"/>
                <a:ea typeface="MS UI Gothic" panose="020B0600070205080204" pitchFamily="50" charset="-128"/>
              </a:rPr>
              <a:t>　</a:t>
            </a:r>
          </a:p>
          <a:p>
            <a:r>
              <a:rPr lang="ja-JP" altLang="en-US" b="0">
                <a:latin typeface="MS UI Gothic" panose="020B0600070205080204" pitchFamily="50" charset="-128"/>
                <a:ea typeface="MS UI Gothic" panose="020B0600070205080204" pitchFamily="50" charset="-128"/>
              </a:rPr>
              <a:t>　■　</a:t>
            </a:r>
            <a:r>
              <a:rPr lang="en-US" altLang="ja-JP" b="0">
                <a:ea typeface="MS UI Gothic" panose="020B0600070205080204" pitchFamily="50" charset="-128"/>
              </a:rPr>
              <a:t>Ví dụ program</a:t>
            </a:r>
            <a:r>
              <a:rPr lang="ja-JP" altLang="en-US" b="0">
                <a:latin typeface="MS UI Gothic" panose="020B0600070205080204" pitchFamily="50" charset="-128"/>
                <a:ea typeface="MS UI Gothic" panose="020B0600070205080204" pitchFamily="50" charset="-128"/>
              </a:rPr>
              <a:t>　（</a:t>
            </a:r>
            <a:r>
              <a:rPr lang="en-US" altLang="en-US" b="0">
                <a:latin typeface="MS UI Gothic" panose="020B0600070205080204" pitchFamily="50" charset="-128"/>
                <a:ea typeface="MS UI Gothic" panose="020B0600070205080204" pitchFamily="50" charset="-128"/>
              </a:rPr>
              <a:t>Person. java </a:t>
            </a:r>
            <a:r>
              <a:rPr lang="en-US" altLang="ja-JP" b="0">
                <a:latin typeface="MS UI Gothic" panose="020B0600070205080204" pitchFamily="50" charset="-128"/>
                <a:ea typeface="MS UI Gothic" panose="020B0600070205080204" pitchFamily="50" charset="-128"/>
              </a:rPr>
              <a:t> 2/3 </a:t>
            </a:r>
            <a:r>
              <a:rPr lang="ja-JP" altLang="en-US" b="0">
                <a:latin typeface="MS UI Gothic" panose="020B0600070205080204" pitchFamily="50" charset="-128"/>
                <a:ea typeface="MS UI Gothic" panose="020B0600070205080204" pitchFamily="50" charset="-128"/>
              </a:rPr>
              <a:t>）</a:t>
            </a: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en-US" altLang="ja-JP" b="0">
              <a:latin typeface="MS UI Gothic" panose="020B0600070205080204" pitchFamily="50" charset="-128"/>
              <a:ea typeface="MS UI Gothic" panose="020B0600070205080204" pitchFamily="50" charset="-128"/>
            </a:endParaRPr>
          </a:p>
        </p:txBody>
      </p:sp>
      <p:sp>
        <p:nvSpPr>
          <p:cNvPr id="580611" name="AutoShape 3">
            <a:extLst>
              <a:ext uri="{FF2B5EF4-FFF2-40B4-BE49-F238E27FC236}">
                <a16:creationId xmlns:a16="http://schemas.microsoft.com/office/drawing/2014/main" id="{7C7F4F3F-2C7C-0161-63E2-5EFD368851F0}"/>
              </a:ext>
            </a:extLst>
          </p:cNvPr>
          <p:cNvSpPr>
            <a:spLocks noChangeArrowheads="1"/>
          </p:cNvSpPr>
          <p:nvPr/>
        </p:nvSpPr>
        <p:spPr bwMode="auto">
          <a:xfrm>
            <a:off x="603250" y="442913"/>
            <a:ext cx="14605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Tóm tắt (8)</a:t>
            </a:r>
          </a:p>
        </p:txBody>
      </p:sp>
      <p:sp>
        <p:nvSpPr>
          <p:cNvPr id="580612" name="Text Box 4">
            <a:extLst>
              <a:ext uri="{FF2B5EF4-FFF2-40B4-BE49-F238E27FC236}">
                <a16:creationId xmlns:a16="http://schemas.microsoft.com/office/drawing/2014/main" id="{C4FA89C2-091D-F8F1-C515-79A4A2CE2852}"/>
              </a:ext>
            </a:extLst>
          </p:cNvPr>
          <p:cNvSpPr txBox="1">
            <a:spLocks noChangeArrowheads="1"/>
          </p:cNvSpPr>
          <p:nvPr/>
        </p:nvSpPr>
        <p:spPr bwMode="auto">
          <a:xfrm>
            <a:off x="661988" y="1143000"/>
            <a:ext cx="5759450" cy="84074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buFontTx/>
              <a:buAutoNum type="arabicPeriod" startAt="49"/>
            </a:pPr>
            <a:r>
              <a:rPr lang="en-US" altLang="ja-JP" b="0">
                <a:latin typeface="ＭＳ ゴシック" panose="020B0609070205080204" pitchFamily="49" charset="-128"/>
                <a:ea typeface="ＭＳ ゴシック" panose="020B0609070205080204" pitchFamily="49" charset="-128"/>
              </a:rPr>
              <a:t>            </a:t>
            </a:r>
            <a:r>
              <a:rPr lang="ja-JP" altLang="ja-JP" b="0">
                <a:latin typeface="ＭＳ ゴシック" panose="020B0609070205080204" pitchFamily="49" charset="-128"/>
                <a:ea typeface="ＭＳ ゴシック" panose="020B0609070205080204" pitchFamily="49" charset="-128"/>
              </a:rPr>
              <a:t>lastName = lname;</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firstName = fname;</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age = a;</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Set bộ phận sở thuộc.</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@param lname String</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public void setLastName(String lname)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lastName = lname;</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Trả về chuỗi ký tự thể hiện họ tên được ngăn cách bởi space.</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Ví dụ về overload, trường hợp không có đối số thì ngăn cách bằng </a:t>
            </a:r>
            <a:r>
              <a:rPr lang="en-US" altLang="ja-JP" b="0">
                <a:ea typeface="MS UI Gothic" panose="020B0600070205080204" pitchFamily="50" charset="-128"/>
              </a:rPr>
              <a:t>space</a:t>
            </a:r>
            <a:r>
              <a:rPr lang="en-US" altLang="ja-JP" b="0">
                <a:ea typeface="ＭＳ ゴシック" panose="020B0609070205080204" pitchFamily="49" charset="-128"/>
              </a:rPr>
              <a:t>.</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@return String</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public String getFullName()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return (lastName + " " + firstName);</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Trả về chuỗi ký tự thể hiện họ tên được ngăn cách nhau bằng chuỗi ký tự đã chỉ định.</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Ví dụ về overload, trường hợp có 1 đối số kiểu </a:t>
            </a:r>
            <a:r>
              <a:rPr lang="ja-JP" altLang="ja-JP" b="0">
                <a:ea typeface="ＭＳ ゴシック" panose="020B0609070205080204" pitchFamily="49" charset="-128"/>
              </a:rPr>
              <a:t>String</a:t>
            </a:r>
            <a:r>
              <a:rPr lang="en-US" altLang="ja-JP" b="0">
                <a:ea typeface="ＭＳ ゴシック" panose="020B0609070205080204" pitchFamily="49" charset="-128"/>
              </a:rPr>
              <a:t> thì sẽ ngăn cách bằng chuỗi ký tự đã chỉ định.</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@param delim String</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@return String</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public String getFullName(String delim)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return (lastName + delim + firstName);</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Hiển thị thông tin cá nhân.</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public void printInfo()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System.out.println(lastName + “さんは</a:t>
            </a:r>
            <a:r>
              <a:rPr lang="en-US" altLang="ja-JP" b="0">
                <a:ea typeface="ＭＳ ゴシック" panose="020B0609070205080204" pitchFamily="49" charset="-128"/>
              </a:rPr>
              <a:t>(san wa)</a:t>
            </a:r>
            <a:r>
              <a:rPr lang="ja-JP" altLang="ja-JP" b="0">
                <a:latin typeface="ＭＳ ゴシック" panose="020B0609070205080204" pitchFamily="49" charset="-128"/>
                <a:ea typeface="ＭＳ ゴシック" panose="020B0609070205080204" pitchFamily="49" charset="-128"/>
              </a:rPr>
              <a:t>” + age + “才です</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sai desu</a:t>
            </a:r>
            <a:r>
              <a:rPr lang="en-US" altLang="ja-JP" b="0">
                <a:latin typeface="ＭＳ ゴシック" panose="020B0609070205080204" pitchFamily="49" charset="-128"/>
                <a:ea typeface="ＭＳ ゴシック" panose="020B0609070205080204" pitchFamily="49" charset="-128"/>
              </a:rPr>
              <a:t>)</a:t>
            </a:r>
            <a:r>
              <a:rPr lang="ja-JP" altLang="ja-JP" b="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 </a:t>
            </a:r>
            <a:r>
              <a:rPr lang="en-US" altLang="ja-JP" b="0">
                <a:ea typeface="ＭＳ ゴシック" panose="020B0609070205080204" pitchFamily="49" charset="-128"/>
              </a:rPr>
              <a:t>static method để hiển thị chủng loại.</a:t>
            </a:r>
            <a:endParaRPr lang="ja-JP" altLang="ja-JP" b="0">
              <a:ea typeface="ＭＳ ゴシック" panose="020B0609070205080204" pitchFamily="49" charset="-128"/>
            </a:endParaRP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49"/>
            </a:pPr>
            <a:r>
              <a:rPr lang="ja-JP" altLang="ja-JP" b="0">
                <a:latin typeface="ＭＳ ゴシック" panose="020B0609070205080204" pitchFamily="49" charset="-128"/>
                <a:ea typeface="ＭＳ ゴシック" panose="020B0609070205080204" pitchFamily="49" charset="-128"/>
              </a:rPr>
              <a:t>    public static void printSpecies() {</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2658" name="AutoShape 2">
            <a:extLst>
              <a:ext uri="{FF2B5EF4-FFF2-40B4-BE49-F238E27FC236}">
                <a16:creationId xmlns:a16="http://schemas.microsoft.com/office/drawing/2014/main" id="{51940CE4-EFF3-BD6C-E228-E574BE3D787B}"/>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latin typeface="MS UI Gothic" panose="020B0600070205080204" pitchFamily="50" charset="-128"/>
                <a:ea typeface="MS UI Gothic" panose="020B0600070205080204" pitchFamily="50" charset="-128"/>
              </a:rPr>
              <a:t>　　　　　　　　　　　　　　　</a:t>
            </a:r>
            <a:endParaRPr lang="ja-JP" altLang="en-US" sz="130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r>
              <a:rPr lang="ja-JP" altLang="en-US" b="0">
                <a:latin typeface="MS UI Gothic" panose="020B0600070205080204" pitchFamily="50" charset="-128"/>
                <a:ea typeface="MS UI Gothic" panose="020B0600070205080204" pitchFamily="50" charset="-128"/>
              </a:rPr>
              <a:t>　</a:t>
            </a:r>
          </a:p>
          <a:p>
            <a:r>
              <a:rPr lang="ja-JP" altLang="en-US" b="0">
                <a:latin typeface="MS UI Gothic" panose="020B0600070205080204" pitchFamily="50" charset="-128"/>
                <a:ea typeface="MS UI Gothic" panose="020B0600070205080204" pitchFamily="50" charset="-128"/>
              </a:rPr>
              <a:t>　■　</a:t>
            </a:r>
            <a:r>
              <a:rPr lang="en-US" altLang="ja-JP" b="0">
                <a:ea typeface="MS UI Gothic" panose="020B0600070205080204" pitchFamily="50" charset="-128"/>
              </a:rPr>
              <a:t>Ví dụ program</a:t>
            </a:r>
            <a:r>
              <a:rPr lang="ja-JP" altLang="en-US" b="0">
                <a:latin typeface="MS UI Gothic" panose="020B0600070205080204" pitchFamily="50" charset="-128"/>
                <a:ea typeface="MS UI Gothic" panose="020B0600070205080204" pitchFamily="50" charset="-128"/>
              </a:rPr>
              <a:t>　（</a:t>
            </a:r>
            <a:r>
              <a:rPr lang="en-US" altLang="en-US" b="0">
                <a:latin typeface="MS UI Gothic" panose="020B0600070205080204" pitchFamily="50" charset="-128"/>
                <a:ea typeface="MS UI Gothic" panose="020B0600070205080204" pitchFamily="50" charset="-128"/>
              </a:rPr>
              <a:t>Person. java </a:t>
            </a:r>
            <a:r>
              <a:rPr lang="en-US" altLang="ja-JP" b="0">
                <a:latin typeface="MS UI Gothic" panose="020B0600070205080204" pitchFamily="50" charset="-128"/>
                <a:ea typeface="MS UI Gothic" panose="020B0600070205080204" pitchFamily="50" charset="-128"/>
              </a:rPr>
              <a:t> 3/3 </a:t>
            </a:r>
            <a:r>
              <a:rPr lang="ja-JP" altLang="en-US" b="0">
                <a:latin typeface="MS UI Gothic" panose="020B0600070205080204" pitchFamily="50" charset="-128"/>
                <a:ea typeface="MS UI Gothic" panose="020B0600070205080204" pitchFamily="50" charset="-128"/>
              </a:rPr>
              <a:t>）</a:t>
            </a: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r>
              <a:rPr lang="ja-JP" altLang="en-US" b="0">
                <a:latin typeface="MS UI Gothic" panose="020B0600070205080204" pitchFamily="50" charset="-128"/>
                <a:ea typeface="MS UI Gothic" panose="020B0600070205080204" pitchFamily="50" charset="-128"/>
              </a:rPr>
              <a:t>■　</a:t>
            </a:r>
            <a:r>
              <a:rPr lang="en-US" altLang="ja-JP" b="0">
                <a:ea typeface="MS UI Gothic" panose="020B0600070205080204" pitchFamily="50" charset="-128"/>
              </a:rPr>
              <a:t>Ví dụ thực hiện</a:t>
            </a:r>
          </a:p>
          <a:p>
            <a:endParaRPr lang="en-US" altLang="ja-JP" b="0">
              <a:ea typeface="MS UI Gothic" panose="020B0600070205080204" pitchFamily="50" charset="-128"/>
            </a:endParaRPr>
          </a:p>
          <a:p>
            <a:endParaRPr lang="en-US" altLang="ja-JP" b="0">
              <a:latin typeface="MS UI Gothic" panose="020B0600070205080204" pitchFamily="50" charset="-128"/>
              <a:ea typeface="MS UI Gothic" panose="020B0600070205080204" pitchFamily="50" charset="-128"/>
            </a:endParaRPr>
          </a:p>
          <a:p>
            <a:endParaRPr lang="en-US" altLang="ja-JP" b="0">
              <a:latin typeface="MS UI Gothic" panose="020B0600070205080204" pitchFamily="50" charset="-128"/>
              <a:ea typeface="MS UI Gothic" panose="020B0600070205080204" pitchFamily="50" charset="-128"/>
            </a:endParaRPr>
          </a:p>
          <a:p>
            <a:endParaRPr lang="en-US" altLang="ja-JP" b="0">
              <a:latin typeface="MS UI Gothic" panose="020B0600070205080204" pitchFamily="50" charset="-128"/>
              <a:ea typeface="MS UI Gothic" panose="020B0600070205080204" pitchFamily="50" charset="-128"/>
            </a:endParaRPr>
          </a:p>
          <a:p>
            <a:endParaRPr lang="en-US" altLang="ja-JP" b="0">
              <a:latin typeface="MS UI Gothic" panose="020B0600070205080204" pitchFamily="50" charset="-128"/>
              <a:ea typeface="MS UI Gothic" panose="020B0600070205080204" pitchFamily="50" charset="-128"/>
            </a:endParaRPr>
          </a:p>
          <a:p>
            <a:endParaRPr lang="en-US" altLang="ja-JP" b="0">
              <a:latin typeface="MS UI Gothic" panose="020B0600070205080204" pitchFamily="50" charset="-128"/>
              <a:ea typeface="MS UI Gothic" panose="020B0600070205080204" pitchFamily="50" charset="-128"/>
            </a:endParaRPr>
          </a:p>
          <a:p>
            <a:endParaRPr lang="en-US" altLang="ja-JP" b="0">
              <a:latin typeface="MS UI Gothic" panose="020B0600070205080204" pitchFamily="50" charset="-128"/>
              <a:ea typeface="MS UI Gothic" panose="020B0600070205080204" pitchFamily="50" charset="-128"/>
            </a:endParaRPr>
          </a:p>
          <a:p>
            <a:endParaRPr lang="en-US" altLang="ja-JP" b="0">
              <a:latin typeface="MS UI Gothic" panose="020B0600070205080204" pitchFamily="50" charset="-128"/>
              <a:ea typeface="MS UI Gothic" panose="020B0600070205080204" pitchFamily="50" charset="-128"/>
            </a:endParaRPr>
          </a:p>
          <a:p>
            <a:endParaRPr lang="en-US" altLang="ja-JP" b="0">
              <a:latin typeface="MS UI Gothic" panose="020B0600070205080204" pitchFamily="50" charset="-128"/>
              <a:ea typeface="MS UI Gothic" panose="020B0600070205080204" pitchFamily="50" charset="-128"/>
            </a:endParaRPr>
          </a:p>
        </p:txBody>
      </p:sp>
      <p:sp>
        <p:nvSpPr>
          <p:cNvPr id="582659" name="AutoShape 3">
            <a:extLst>
              <a:ext uri="{FF2B5EF4-FFF2-40B4-BE49-F238E27FC236}">
                <a16:creationId xmlns:a16="http://schemas.microsoft.com/office/drawing/2014/main" id="{3DB93C92-2DFF-B027-8932-62C2EDF26153}"/>
              </a:ext>
            </a:extLst>
          </p:cNvPr>
          <p:cNvSpPr>
            <a:spLocks noChangeArrowheads="1"/>
          </p:cNvSpPr>
          <p:nvPr/>
        </p:nvSpPr>
        <p:spPr bwMode="auto">
          <a:xfrm>
            <a:off x="603250" y="442913"/>
            <a:ext cx="14605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Tóm tắt (9)</a:t>
            </a:r>
          </a:p>
        </p:txBody>
      </p:sp>
      <p:sp>
        <p:nvSpPr>
          <p:cNvPr id="582660" name="Text Box 4">
            <a:extLst>
              <a:ext uri="{FF2B5EF4-FFF2-40B4-BE49-F238E27FC236}">
                <a16:creationId xmlns:a16="http://schemas.microsoft.com/office/drawing/2014/main" id="{86710615-9319-66C3-07E3-A6439EDBED19}"/>
              </a:ext>
            </a:extLst>
          </p:cNvPr>
          <p:cNvSpPr txBox="1">
            <a:spLocks noChangeArrowheads="1"/>
          </p:cNvSpPr>
          <p:nvPr/>
        </p:nvSpPr>
        <p:spPr bwMode="auto">
          <a:xfrm>
            <a:off x="661988" y="1222375"/>
            <a:ext cx="5761037" cy="61436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58775"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buFontTx/>
              <a:buAutoNum type="arabicPeriod" startAt="97"/>
            </a:pPr>
            <a:r>
              <a:rPr lang="ja-JP" altLang="ja-JP" b="0">
                <a:latin typeface="ＭＳ ゴシック" panose="020B0609070205080204" pitchFamily="49" charset="-128"/>
                <a:ea typeface="ＭＳ ゴシック" panose="020B0609070205080204" pitchFamily="49" charset="-128"/>
              </a:rPr>
              <a:t>        System.out.println(SPECIES);  // </a:t>
            </a:r>
            <a:r>
              <a:rPr lang="en-US" altLang="ja-JP" b="0">
                <a:ea typeface="ＭＳ ゴシック" panose="020B0609070205080204" pitchFamily="49" charset="-128"/>
              </a:rPr>
              <a:t>Chỉ định là</a:t>
            </a:r>
            <a:r>
              <a:rPr lang="en-US" altLang="ja-JP" b="0">
                <a:latin typeface="ＭＳ ゴシック" panose="020B0609070205080204" pitchFamily="49" charset="-128"/>
                <a:ea typeface="ＭＳ ゴシック" panose="020B0609070205080204" pitchFamily="49" charset="-128"/>
              </a:rPr>
              <a:t> </a:t>
            </a:r>
            <a:r>
              <a:rPr lang="ja-JP" altLang="ja-JP" b="0">
                <a:latin typeface="ＭＳ ゴシック" panose="020B0609070205080204" pitchFamily="49" charset="-128"/>
                <a:ea typeface="ＭＳ ゴシック" panose="020B0609070205080204" pitchFamily="49" charset="-128"/>
              </a:rPr>
              <a:t>Person.SPECIES</a:t>
            </a:r>
            <a:r>
              <a:rPr lang="en-US" altLang="ja-JP" b="0">
                <a:latin typeface="ＭＳ ゴシック" panose="020B0609070205080204" pitchFamily="49" charset="-128"/>
                <a:ea typeface="ＭＳ ゴシック" panose="020B0609070205080204" pitchFamily="49" charset="-128"/>
              </a:rPr>
              <a:t> </a:t>
            </a:r>
            <a:r>
              <a:rPr lang="en-US" altLang="ja-JP" b="0">
                <a:ea typeface="ＭＳ ゴシック" panose="020B0609070205080204" pitchFamily="49" charset="-128"/>
              </a:rPr>
              <a:t>cũng được</a:t>
            </a:r>
            <a:r>
              <a:rPr lang="en-US" altLang="ja-JP" b="0">
                <a:latin typeface="ＭＳ ゴシック" panose="020B0609070205080204" pitchFamily="49" charset="-128"/>
                <a:ea typeface="ＭＳ ゴシック" panose="020B0609070205080204" pitchFamily="49" charset="-128"/>
              </a:rPr>
              <a:t>.</a:t>
            </a:r>
            <a:endParaRPr lang="ja-JP" altLang="ja-JP" b="0">
              <a:latin typeface="ＭＳ ゴシック" panose="020B0609070205080204" pitchFamily="49" charset="-128"/>
              <a:ea typeface="ＭＳ ゴシック" panose="020B0609070205080204" pitchFamily="49" charset="-128"/>
            </a:endParaRPr>
          </a:p>
          <a:p>
            <a:pPr lvl="1" algn="just">
              <a:spcBef>
                <a:spcPct val="10000"/>
              </a:spcBef>
              <a:buFontTx/>
              <a:buAutoNum type="arabicPeriod" startAt="97"/>
            </a:pPr>
            <a:r>
              <a:rPr lang="ja-JP" altLang="ja-JP" b="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startAt="97"/>
            </a:pPr>
            <a:r>
              <a:rPr lang="ja-JP" altLang="ja-JP" b="0">
                <a:latin typeface="ＭＳ ゴシック" panose="020B0609070205080204" pitchFamily="49" charset="-128"/>
                <a:ea typeface="ＭＳ ゴシック" panose="020B0609070205080204" pitchFamily="49" charset="-128"/>
              </a:rPr>
              <a:t>}</a:t>
            </a:r>
          </a:p>
        </p:txBody>
      </p:sp>
      <p:grpSp>
        <p:nvGrpSpPr>
          <p:cNvPr id="582676" name="Group 20">
            <a:extLst>
              <a:ext uri="{FF2B5EF4-FFF2-40B4-BE49-F238E27FC236}">
                <a16:creationId xmlns:a16="http://schemas.microsoft.com/office/drawing/2014/main" id="{E68FBBA0-031A-E65F-4EB4-2E677D8CDE05}"/>
              </a:ext>
            </a:extLst>
          </p:cNvPr>
          <p:cNvGrpSpPr>
            <a:grpSpLocks/>
          </p:cNvGrpSpPr>
          <p:nvPr/>
        </p:nvGrpSpPr>
        <p:grpSpPr bwMode="auto">
          <a:xfrm>
            <a:off x="649288" y="2762250"/>
            <a:ext cx="5772150" cy="3800475"/>
            <a:chOff x="388" y="1678"/>
            <a:chExt cx="3448" cy="2400"/>
          </a:xfrm>
        </p:grpSpPr>
        <p:sp>
          <p:nvSpPr>
            <p:cNvPr id="582661" name="Text Box 5">
              <a:extLst>
                <a:ext uri="{FF2B5EF4-FFF2-40B4-BE49-F238E27FC236}">
                  <a16:creationId xmlns:a16="http://schemas.microsoft.com/office/drawing/2014/main" id="{64D6B250-BBE3-7164-BB61-78469FA96A21}"/>
                </a:ext>
              </a:extLst>
            </p:cNvPr>
            <p:cNvSpPr txBox="1">
              <a:spLocks noChangeArrowheads="1"/>
            </p:cNvSpPr>
            <p:nvPr/>
          </p:nvSpPr>
          <p:spPr bwMode="auto">
            <a:xfrm>
              <a:off x="388" y="1678"/>
              <a:ext cx="3448" cy="24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Aft>
                  <a:spcPct val="50000"/>
                </a:spcAft>
              </a:pPr>
              <a:r>
                <a:rPr lang="ja-JP" altLang="ja-JP" b="0">
                  <a:latin typeface="ＭＳ ゴシック" panose="020B0609070205080204" pitchFamily="49" charset="-128"/>
                  <a:ea typeface="ＭＳ ゴシック" panose="020B0609070205080204" pitchFamily="49" charset="-128"/>
                </a:rPr>
                <a:t>&gt; java  Sample02  Hello</a:t>
              </a:r>
            </a:p>
            <a:p>
              <a:pPr lvl="1" algn="just">
                <a:spcAft>
                  <a:spcPct val="50000"/>
                </a:spcAft>
              </a:pPr>
              <a:r>
                <a:rPr lang="en-US" altLang="ja-JP" b="0">
                  <a:ea typeface="ＭＳ ゴシック" panose="020B0609070205080204" pitchFamily="49" charset="-128"/>
                </a:rPr>
                <a:t>Giá trị được chỉ định khi thực hiện</a:t>
              </a:r>
              <a:r>
                <a:rPr lang="ja-JP" altLang="ja-JP" b="0">
                  <a:latin typeface="ＭＳ ゴシック" panose="020B0609070205080204" pitchFamily="49" charset="-128"/>
                  <a:ea typeface="ＭＳ ゴシック" panose="020B0609070205080204" pitchFamily="49" charset="-128"/>
                </a:rPr>
                <a:t>：Hello</a:t>
              </a:r>
            </a:p>
            <a:p>
              <a:pPr lvl="1" algn="just">
                <a:spcAft>
                  <a:spcPct val="50000"/>
                </a:spcAft>
              </a:pPr>
              <a:endParaRPr lang="ja-JP" altLang="ja-JP" b="0">
                <a:latin typeface="ＭＳ ゴシック" panose="020B0609070205080204" pitchFamily="49" charset="-128"/>
                <a:ea typeface="ＭＳ ゴシック" panose="020B0609070205080204" pitchFamily="49" charset="-128"/>
              </a:endParaRPr>
            </a:p>
            <a:p>
              <a:pPr lvl="1" algn="just">
                <a:spcAft>
                  <a:spcPct val="50000"/>
                </a:spcAft>
              </a:pPr>
              <a:r>
                <a:rPr lang="ja-JP" altLang="ja-JP" b="0">
                  <a:latin typeface="ＭＳ ゴシック" panose="020B0609070205080204" pitchFamily="49" charset="-128"/>
                  <a:ea typeface="ＭＳ ゴシック" panose="020B0609070205080204" pitchFamily="49" charset="-128"/>
                </a:rPr>
                <a:t>====static変数、staticメソッドの利用</a:t>
              </a:r>
              <a:r>
                <a:rPr lang="en-US" altLang="ja-JP" b="0">
                  <a:ea typeface="MS UI Gothic" panose="020B0600070205080204" pitchFamily="50" charset="-128"/>
                </a:rPr>
                <a:t>(Sử dụng biến static, static method)</a:t>
              </a:r>
              <a:r>
                <a:rPr lang="ja-JP" altLang="ja-JP">
                  <a:ea typeface="MS UI Gothic" panose="020B0600070205080204" pitchFamily="50" charset="-128"/>
                </a:rPr>
                <a:t> </a:t>
              </a:r>
              <a:r>
                <a:rPr lang="ja-JP" altLang="ja-JP" b="0">
                  <a:latin typeface="ＭＳ ゴシック" panose="020B0609070205080204" pitchFamily="49" charset="-128"/>
                  <a:ea typeface="ＭＳ ゴシック" panose="020B0609070205080204" pitchFamily="49" charset="-128"/>
                </a:rPr>
                <a:t>====</a:t>
              </a:r>
            </a:p>
            <a:p>
              <a:pPr lvl="1" algn="just">
                <a:spcAft>
                  <a:spcPct val="50000"/>
                </a:spcAft>
              </a:pPr>
              <a:r>
                <a:rPr lang="ja-JP" altLang="ja-JP" b="0">
                  <a:latin typeface="ＭＳ ゴシック" panose="020B0609070205080204" pitchFamily="49" charset="-128"/>
                  <a:ea typeface="ＭＳ ゴシック" panose="020B0609070205080204" pitchFamily="49" charset="-128"/>
                </a:rPr>
                <a:t>種</a:t>
              </a:r>
              <a:r>
                <a:rPr lang="en-US" altLang="ja-JP" b="0">
                  <a:ea typeface="ＭＳ ゴシック" panose="020B0609070205080204" pitchFamily="49" charset="-128"/>
                </a:rPr>
                <a:t>(chủng loại)</a:t>
              </a:r>
              <a:r>
                <a:rPr lang="ja-JP" altLang="ja-JP" b="0">
                  <a:latin typeface="ＭＳ ゴシック" panose="020B0609070205080204" pitchFamily="49" charset="-128"/>
                  <a:ea typeface="ＭＳ ゴシック" panose="020B0609070205080204" pitchFamily="49" charset="-128"/>
                </a:rPr>
                <a:t>：Homo sapiens</a:t>
              </a:r>
            </a:p>
            <a:p>
              <a:pPr lvl="1" algn="just">
                <a:spcAft>
                  <a:spcPct val="50000"/>
                </a:spcAft>
              </a:pPr>
              <a:r>
                <a:rPr lang="ja-JP" altLang="ja-JP" b="0">
                  <a:latin typeface="ＭＳ ゴシック" panose="020B0609070205080204" pitchFamily="49" charset="-128"/>
                  <a:ea typeface="ＭＳ ゴシック" panose="020B0609070205080204" pitchFamily="49" charset="-128"/>
                </a:rPr>
                <a:t>---------------------------------------</a:t>
              </a:r>
            </a:p>
            <a:p>
              <a:pPr lvl="1" algn="just">
                <a:spcAft>
                  <a:spcPct val="50000"/>
                </a:spcAft>
              </a:pPr>
              <a:r>
                <a:rPr lang="ja-JP" altLang="ja-JP" b="0">
                  <a:latin typeface="ＭＳ ゴシック" panose="020B0609070205080204" pitchFamily="49" charset="-128"/>
                  <a:ea typeface="ＭＳ ゴシック" panose="020B0609070205080204" pitchFamily="49" charset="-128"/>
                </a:rPr>
                <a:t>Homo sapiens</a:t>
              </a:r>
            </a:p>
            <a:p>
              <a:pPr lvl="1" algn="just">
                <a:spcAft>
                  <a:spcPct val="50000"/>
                </a:spcAft>
              </a:pPr>
              <a:endParaRPr lang="ja-JP" altLang="ja-JP" b="0">
                <a:latin typeface="ＭＳ ゴシック" panose="020B0609070205080204" pitchFamily="49" charset="-128"/>
                <a:ea typeface="ＭＳ ゴシック" panose="020B0609070205080204" pitchFamily="49" charset="-128"/>
              </a:endParaRPr>
            </a:p>
            <a:p>
              <a:pPr lvl="1" algn="just">
                <a:spcAft>
                  <a:spcPct val="50000"/>
                </a:spcAft>
              </a:pPr>
              <a:r>
                <a:rPr lang="ja-JP" altLang="ja-JP" b="0">
                  <a:latin typeface="ＭＳ ゴシック" panose="020B0609070205080204" pitchFamily="49" charset="-128"/>
                  <a:ea typeface="ＭＳ ゴシック" panose="020B0609070205080204" pitchFamily="49" charset="-128"/>
                </a:rPr>
                <a:t>==オブジェクトの生成とメソッド呼び出し</a:t>
              </a:r>
              <a:r>
                <a:rPr lang="en-US" altLang="ja-JP" b="0">
                  <a:ea typeface="MS UI Gothic" panose="020B0600070205080204" pitchFamily="50" charset="-128"/>
                </a:rPr>
                <a:t>(Sinh object và gọi ra method)</a:t>
              </a:r>
              <a:r>
                <a:rPr lang="ja-JP" altLang="ja-JP">
                  <a:ea typeface="MS UI Gothic" panose="020B0600070205080204" pitchFamily="50" charset="-128"/>
                </a:rPr>
                <a:t> </a:t>
              </a:r>
              <a:r>
                <a:rPr lang="ja-JP" altLang="ja-JP" b="0">
                  <a:latin typeface="ＭＳ ゴシック" panose="020B0609070205080204" pitchFamily="49" charset="-128"/>
                  <a:ea typeface="ＭＳ ゴシック" panose="020B0609070205080204" pitchFamily="49" charset="-128"/>
                </a:rPr>
                <a:t>==</a:t>
              </a:r>
            </a:p>
            <a:p>
              <a:pPr lvl="1" algn="just">
                <a:spcAft>
                  <a:spcPct val="50000"/>
                </a:spcAft>
              </a:pPr>
              <a:r>
                <a:rPr lang="ja-JP" altLang="ja-JP" b="0">
                  <a:latin typeface="ＭＳ ゴシック" panose="020B0609070205080204" pitchFamily="49" charset="-128"/>
                  <a:ea typeface="ＭＳ ゴシック" panose="020B0609070205080204" pitchFamily="49" charset="-128"/>
                </a:rPr>
                <a:t>佐藤さんは22才です</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Sato san 22 tuổi</a:t>
              </a:r>
              <a:r>
                <a:rPr lang="en-US" altLang="ja-JP" b="0">
                  <a:latin typeface="ＭＳ ゴシック" panose="020B0609070205080204" pitchFamily="49" charset="-128"/>
                  <a:ea typeface="ＭＳ ゴシック" panose="020B0609070205080204" pitchFamily="49" charset="-128"/>
                </a:rPr>
                <a:t>)</a:t>
              </a:r>
              <a:endParaRPr lang="ja-JP" altLang="ja-JP" b="0">
                <a:latin typeface="ＭＳ ゴシック" panose="020B0609070205080204" pitchFamily="49" charset="-128"/>
                <a:ea typeface="ＭＳ ゴシック" panose="020B0609070205080204" pitchFamily="49" charset="-128"/>
              </a:endParaRPr>
            </a:p>
            <a:p>
              <a:pPr lvl="1" algn="just">
                <a:spcAft>
                  <a:spcPct val="50000"/>
                </a:spcAft>
              </a:pPr>
              <a:r>
                <a:rPr lang="ja-JP" altLang="ja-JP" b="0">
                  <a:latin typeface="ＭＳ ゴシック" panose="020B0609070205080204" pitchFamily="49" charset="-128"/>
                  <a:ea typeface="ＭＳ ゴシック" panose="020B0609070205080204" pitchFamily="49" charset="-128"/>
                </a:rPr>
                <a:t>変更後の姓名は川村 花子です</a:t>
              </a:r>
              <a:endParaRPr lang="ja-JP" altLang="en-US" b="0">
                <a:latin typeface="ＭＳ ゴシック" panose="020B0609070205080204" pitchFamily="49" charset="-128"/>
                <a:ea typeface="ＭＳ ゴシック" panose="020B0609070205080204" pitchFamily="49" charset="-128"/>
              </a:endParaRPr>
            </a:p>
            <a:p>
              <a:pPr lvl="1" algn="just">
                <a:spcAft>
                  <a:spcPct val="50000"/>
                </a:spcAft>
              </a:pPr>
              <a:r>
                <a:rPr lang="en-US" altLang="ja-JP" b="0">
                  <a:ea typeface="MS UI Gothic" panose="020B0600070205080204" pitchFamily="50" charset="-128"/>
                </a:rPr>
                <a:t>(Họ tên sau khi thay đổi là Kawamura Hanako.)</a:t>
              </a:r>
              <a:endParaRPr lang="ja-JP" altLang="ja-JP" b="0">
                <a:ea typeface="ＭＳ ゴシック" panose="020B0609070205080204" pitchFamily="49" charset="-128"/>
              </a:endParaRPr>
            </a:p>
            <a:p>
              <a:pPr lvl="1" algn="just">
                <a:spcAft>
                  <a:spcPct val="50000"/>
                </a:spcAft>
              </a:pPr>
              <a:endParaRPr lang="ja-JP" altLang="ja-JP" b="0">
                <a:latin typeface="ＭＳ ゴシック" panose="020B0609070205080204" pitchFamily="49" charset="-128"/>
                <a:ea typeface="ＭＳ ゴシック" panose="020B0609070205080204" pitchFamily="49" charset="-128"/>
              </a:endParaRPr>
            </a:p>
            <a:p>
              <a:pPr lvl="1" algn="just">
                <a:spcAft>
                  <a:spcPct val="50000"/>
                </a:spcAft>
              </a:pPr>
              <a:r>
                <a:rPr lang="ja-JP" altLang="ja-JP" b="0">
                  <a:latin typeface="ＭＳ ゴシック" panose="020B0609070205080204" pitchFamily="49" charset="-128"/>
                  <a:ea typeface="ＭＳ ゴシック" panose="020B0609070205080204" pitchFamily="49" charset="-128"/>
                </a:rPr>
                <a:t>===オーバーロードしたメソッド呼び出し</a:t>
              </a:r>
              <a:r>
                <a:rPr lang="en-US" altLang="ja-JP" b="0">
                  <a:ea typeface="MS UI Gothic" panose="020B0600070205080204" pitchFamily="50" charset="-128"/>
                </a:rPr>
                <a:t>(Gọi ra method đã overload)</a:t>
              </a:r>
              <a:r>
                <a:rPr lang="ja-JP" altLang="ja-JP">
                  <a:ea typeface="MS UI Gothic" panose="020B0600070205080204" pitchFamily="50" charset="-128"/>
                </a:rPr>
                <a:t> </a:t>
              </a:r>
              <a:r>
                <a:rPr lang="ja-JP" altLang="ja-JP" b="0">
                  <a:latin typeface="ＭＳ ゴシック" panose="020B0609070205080204" pitchFamily="49" charset="-128"/>
                  <a:ea typeface="ＭＳ ゴシック" panose="020B0609070205080204" pitchFamily="49" charset="-128"/>
                </a:rPr>
                <a:t>===</a:t>
              </a:r>
            </a:p>
            <a:p>
              <a:pPr lvl="1" algn="just">
                <a:spcAft>
                  <a:spcPct val="50000"/>
                </a:spcAft>
              </a:pPr>
              <a:r>
                <a:rPr lang="ja-JP" altLang="ja-JP" b="0">
                  <a:latin typeface="ＭＳ ゴシック" panose="020B0609070205080204" pitchFamily="49" charset="-128"/>
                  <a:ea typeface="ＭＳ ゴシック" panose="020B0609070205080204" pitchFamily="49" charset="-128"/>
                </a:rPr>
                <a:t>姓なし</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ko có họ</a:t>
              </a:r>
              <a:r>
                <a:rPr lang="en-US" altLang="ja-JP" b="0">
                  <a:latin typeface="ＭＳ ゴシック" panose="020B0609070205080204" pitchFamily="49" charset="-128"/>
                  <a:ea typeface="ＭＳ ゴシック" panose="020B0609070205080204" pitchFamily="49" charset="-128"/>
                </a:rPr>
                <a:t>)</a:t>
              </a:r>
              <a:r>
                <a:rPr lang="ja-JP" altLang="ja-JP" b="0">
                  <a:latin typeface="ＭＳ ゴシック" panose="020B0609070205080204" pitchFamily="49" charset="-128"/>
                  <a:ea typeface="ＭＳ ゴシック" panose="020B0609070205080204" pitchFamily="49" charset="-128"/>
                </a:rPr>
                <a:t>   名なし</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ko có tên</a:t>
              </a:r>
              <a:r>
                <a:rPr lang="en-US" altLang="ja-JP" b="0">
                  <a:latin typeface="ＭＳ ゴシック" panose="020B0609070205080204" pitchFamily="49" charset="-128"/>
                  <a:ea typeface="ＭＳ ゴシック" panose="020B0609070205080204" pitchFamily="49" charset="-128"/>
                </a:rPr>
                <a:t>)</a:t>
              </a:r>
              <a:endParaRPr lang="ja-JP" altLang="ja-JP" b="0">
                <a:latin typeface="ＭＳ ゴシック" panose="020B0609070205080204" pitchFamily="49" charset="-128"/>
                <a:ea typeface="ＭＳ ゴシック" panose="020B0609070205080204" pitchFamily="49" charset="-128"/>
              </a:endParaRPr>
            </a:p>
            <a:p>
              <a:pPr lvl="1" algn="just">
                <a:spcAft>
                  <a:spcPct val="50000"/>
                </a:spcAft>
              </a:pPr>
              <a:r>
                <a:rPr lang="ja-JP" altLang="ja-JP" b="0">
                  <a:latin typeface="ＭＳ ゴシック" panose="020B0609070205080204" pitchFamily="49" charset="-128"/>
                  <a:ea typeface="ＭＳ ゴシック" panose="020B0609070205080204" pitchFamily="49" charset="-128"/>
                </a:rPr>
                <a:t>姓なし</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ko có họ</a:t>
              </a:r>
              <a:r>
                <a:rPr lang="en-US" altLang="ja-JP" b="0">
                  <a:latin typeface="ＭＳ ゴシック" panose="020B0609070205080204" pitchFamily="49" charset="-128"/>
                  <a:ea typeface="ＭＳ ゴシック" panose="020B0609070205080204" pitchFamily="49" charset="-128"/>
                </a:rPr>
                <a:t>)</a:t>
              </a:r>
              <a:r>
                <a:rPr lang="ja-JP" altLang="ja-JP" b="0">
                  <a:latin typeface="ＭＳ ゴシック" panose="020B0609070205080204" pitchFamily="49" charset="-128"/>
                  <a:ea typeface="ＭＳ ゴシック" panose="020B0609070205080204" pitchFamily="49" charset="-128"/>
                </a:rPr>
                <a:t> ： 名なし</a:t>
              </a:r>
              <a:r>
                <a:rPr lang="en-US" altLang="ja-JP" b="0">
                  <a:latin typeface="ＭＳ ゴシック" panose="020B0609070205080204" pitchFamily="49" charset="-128"/>
                  <a:ea typeface="ＭＳ ゴシック" panose="020B0609070205080204" pitchFamily="49" charset="-128"/>
                </a:rPr>
                <a:t>(</a:t>
              </a:r>
              <a:r>
                <a:rPr lang="en-US" altLang="ja-JP" b="0">
                  <a:ea typeface="ＭＳ ゴシック" panose="020B0609070205080204" pitchFamily="49" charset="-128"/>
                </a:rPr>
                <a:t>ko có tên</a:t>
              </a:r>
              <a:r>
                <a:rPr lang="en-US" altLang="ja-JP" b="0">
                  <a:latin typeface="ＭＳ ゴシック" panose="020B0609070205080204" pitchFamily="49" charset="-128"/>
                  <a:ea typeface="ＭＳ ゴシック" panose="020B0609070205080204" pitchFamily="49" charset="-128"/>
                </a:rPr>
                <a:t>)</a:t>
              </a:r>
              <a:endParaRPr lang="ja-JP" altLang="ja-JP" b="0">
                <a:latin typeface="ＭＳ ゴシック" panose="020B0609070205080204" pitchFamily="49" charset="-128"/>
                <a:ea typeface="ＭＳ ゴシック" panose="020B0609070205080204" pitchFamily="49" charset="-128"/>
              </a:endParaRPr>
            </a:p>
            <a:p>
              <a:pPr lvl="1" algn="just">
                <a:spcAft>
                  <a:spcPct val="50000"/>
                </a:spcAft>
              </a:pPr>
              <a:endParaRPr lang="ja-JP" altLang="ja-JP" b="0">
                <a:latin typeface="ＭＳ ゴシック" panose="020B0609070205080204" pitchFamily="49" charset="-128"/>
                <a:ea typeface="ＭＳ ゴシック" panose="020B0609070205080204" pitchFamily="49" charset="-128"/>
              </a:endParaRPr>
            </a:p>
            <a:p>
              <a:pPr lvl="1" algn="just">
                <a:spcAft>
                  <a:spcPct val="50000"/>
                </a:spcAft>
              </a:pPr>
              <a:endParaRPr lang="ja-JP" altLang="ja-JP" b="0">
                <a:latin typeface="ＭＳ ゴシック" panose="020B0609070205080204" pitchFamily="49" charset="-128"/>
                <a:ea typeface="ＭＳ ゴシック" panose="020B0609070205080204" pitchFamily="49" charset="-128"/>
              </a:endParaRPr>
            </a:p>
          </p:txBody>
        </p:sp>
        <p:sp>
          <p:nvSpPr>
            <p:cNvPr id="582662" name="Rectangle 6">
              <a:extLst>
                <a:ext uri="{FF2B5EF4-FFF2-40B4-BE49-F238E27FC236}">
                  <a16:creationId xmlns:a16="http://schemas.microsoft.com/office/drawing/2014/main" id="{95A1BD8C-74E8-C9CA-808D-7A30C6BA5627}"/>
                </a:ext>
              </a:extLst>
            </p:cNvPr>
            <p:cNvSpPr>
              <a:spLocks noChangeArrowheads="1"/>
            </p:cNvSpPr>
            <p:nvPr/>
          </p:nvSpPr>
          <p:spPr bwMode="auto">
            <a:xfrm>
              <a:off x="441" y="1820"/>
              <a:ext cx="1856" cy="161"/>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82663" name="Rectangle 7">
              <a:extLst>
                <a:ext uri="{FF2B5EF4-FFF2-40B4-BE49-F238E27FC236}">
                  <a16:creationId xmlns:a16="http://schemas.microsoft.com/office/drawing/2014/main" id="{14D2216E-02EB-2F3A-5270-1EF6E3625493}"/>
                </a:ext>
              </a:extLst>
            </p:cNvPr>
            <p:cNvSpPr>
              <a:spLocks noChangeArrowheads="1"/>
            </p:cNvSpPr>
            <p:nvPr/>
          </p:nvSpPr>
          <p:spPr bwMode="auto">
            <a:xfrm>
              <a:off x="2670" y="1769"/>
              <a:ext cx="1039" cy="263"/>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Sử dụng đối số của main method</a:t>
              </a:r>
            </a:p>
          </p:txBody>
        </p:sp>
        <p:cxnSp>
          <p:nvCxnSpPr>
            <p:cNvPr id="582664" name="AutoShape 8">
              <a:extLst>
                <a:ext uri="{FF2B5EF4-FFF2-40B4-BE49-F238E27FC236}">
                  <a16:creationId xmlns:a16="http://schemas.microsoft.com/office/drawing/2014/main" id="{F1987CCE-2908-E718-A32A-AD6F987A9387}"/>
                </a:ext>
              </a:extLst>
            </p:cNvPr>
            <p:cNvCxnSpPr>
              <a:cxnSpLocks noChangeShapeType="1"/>
              <a:stCxn id="582662" idx="3"/>
              <a:endCxn id="582663" idx="1"/>
            </p:cNvCxnSpPr>
            <p:nvPr/>
          </p:nvCxnSpPr>
          <p:spPr bwMode="auto">
            <a:xfrm flipV="1">
              <a:off x="2305" y="1900"/>
              <a:ext cx="357" cy="1"/>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82665" name="Rectangle 9">
              <a:extLst>
                <a:ext uri="{FF2B5EF4-FFF2-40B4-BE49-F238E27FC236}">
                  <a16:creationId xmlns:a16="http://schemas.microsoft.com/office/drawing/2014/main" id="{45349620-9F82-033C-3812-801EC12B4CDA}"/>
                </a:ext>
              </a:extLst>
            </p:cNvPr>
            <p:cNvSpPr>
              <a:spLocks noChangeArrowheads="1"/>
            </p:cNvSpPr>
            <p:nvPr/>
          </p:nvSpPr>
          <p:spPr bwMode="auto">
            <a:xfrm>
              <a:off x="449" y="2250"/>
              <a:ext cx="1816" cy="494"/>
            </a:xfrm>
            <a:prstGeom prst="rect">
              <a:avLst/>
            </a:prstGeom>
            <a:noFill/>
            <a:ln w="19050" algn="ctr">
              <a:solidFill>
                <a:srgbClr val="FF851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82666" name="Rectangle 10">
              <a:extLst>
                <a:ext uri="{FF2B5EF4-FFF2-40B4-BE49-F238E27FC236}">
                  <a16:creationId xmlns:a16="http://schemas.microsoft.com/office/drawing/2014/main" id="{2D1D9335-B980-8B6B-5893-9D1BC29341D9}"/>
                </a:ext>
              </a:extLst>
            </p:cNvPr>
            <p:cNvSpPr>
              <a:spLocks noChangeArrowheads="1"/>
            </p:cNvSpPr>
            <p:nvPr/>
          </p:nvSpPr>
          <p:spPr bwMode="auto">
            <a:xfrm>
              <a:off x="2670" y="2365"/>
              <a:ext cx="1047" cy="262"/>
            </a:xfrm>
            <a:prstGeom prst="rect">
              <a:avLst/>
            </a:prstGeom>
            <a:noFill/>
            <a:ln w="19050" algn="ctr">
              <a:solidFill>
                <a:srgbClr val="FF851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Sử dụng biến, method static</a:t>
              </a:r>
            </a:p>
          </p:txBody>
        </p:sp>
        <p:cxnSp>
          <p:nvCxnSpPr>
            <p:cNvPr id="582667" name="AutoShape 11">
              <a:extLst>
                <a:ext uri="{FF2B5EF4-FFF2-40B4-BE49-F238E27FC236}">
                  <a16:creationId xmlns:a16="http://schemas.microsoft.com/office/drawing/2014/main" id="{95073C1B-25AE-916A-039A-5454F8B2C4DE}"/>
                </a:ext>
              </a:extLst>
            </p:cNvPr>
            <p:cNvCxnSpPr>
              <a:cxnSpLocks noChangeShapeType="1"/>
              <a:stCxn id="582665" idx="3"/>
              <a:endCxn id="582666" idx="1"/>
            </p:cNvCxnSpPr>
            <p:nvPr/>
          </p:nvCxnSpPr>
          <p:spPr bwMode="auto">
            <a:xfrm flipV="1">
              <a:off x="2273" y="2496"/>
              <a:ext cx="389" cy="1"/>
            </a:xfrm>
            <a:prstGeom prst="straightConnector1">
              <a:avLst/>
            </a:prstGeom>
            <a:noFill/>
            <a:ln w="19050">
              <a:solidFill>
                <a:srgbClr val="FF8519"/>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82668" name="Rectangle 12">
              <a:extLst>
                <a:ext uri="{FF2B5EF4-FFF2-40B4-BE49-F238E27FC236}">
                  <a16:creationId xmlns:a16="http://schemas.microsoft.com/office/drawing/2014/main" id="{7475CBA0-60A5-1689-4D27-0C450AB30D21}"/>
                </a:ext>
              </a:extLst>
            </p:cNvPr>
            <p:cNvSpPr>
              <a:spLocks noChangeArrowheads="1"/>
            </p:cNvSpPr>
            <p:nvPr/>
          </p:nvSpPr>
          <p:spPr bwMode="auto">
            <a:xfrm>
              <a:off x="449" y="2980"/>
              <a:ext cx="1824" cy="283"/>
            </a:xfrm>
            <a:prstGeom prst="rect">
              <a:avLst/>
            </a:prstGeom>
            <a:noFill/>
            <a:ln w="19050" algn="ctr">
              <a:solidFill>
                <a:srgbClr val="F4629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82669" name="Rectangle 13">
              <a:extLst>
                <a:ext uri="{FF2B5EF4-FFF2-40B4-BE49-F238E27FC236}">
                  <a16:creationId xmlns:a16="http://schemas.microsoft.com/office/drawing/2014/main" id="{AF3112AC-BF41-7DBB-15B0-6857B7878F04}"/>
                </a:ext>
              </a:extLst>
            </p:cNvPr>
            <p:cNvSpPr>
              <a:spLocks noChangeArrowheads="1"/>
            </p:cNvSpPr>
            <p:nvPr/>
          </p:nvSpPr>
          <p:spPr bwMode="auto">
            <a:xfrm>
              <a:off x="2694" y="2989"/>
              <a:ext cx="1056" cy="263"/>
            </a:xfrm>
            <a:prstGeom prst="rect">
              <a:avLst/>
            </a:prstGeom>
            <a:noFill/>
            <a:ln w="19050" algn="ctr">
              <a:solidFill>
                <a:srgbClr val="F4629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Sinh object, gọi ra instance method</a:t>
              </a:r>
            </a:p>
          </p:txBody>
        </p:sp>
        <p:cxnSp>
          <p:nvCxnSpPr>
            <p:cNvPr id="582670" name="AutoShape 14">
              <a:extLst>
                <a:ext uri="{FF2B5EF4-FFF2-40B4-BE49-F238E27FC236}">
                  <a16:creationId xmlns:a16="http://schemas.microsoft.com/office/drawing/2014/main" id="{D86FDA29-FBAB-25CC-54C0-7DC5F536F3F9}"/>
                </a:ext>
              </a:extLst>
            </p:cNvPr>
            <p:cNvCxnSpPr>
              <a:cxnSpLocks noChangeShapeType="1"/>
              <a:stCxn id="582668" idx="3"/>
              <a:endCxn id="582669" idx="1"/>
            </p:cNvCxnSpPr>
            <p:nvPr/>
          </p:nvCxnSpPr>
          <p:spPr bwMode="auto">
            <a:xfrm flipV="1">
              <a:off x="2281" y="3120"/>
              <a:ext cx="406" cy="2"/>
            </a:xfrm>
            <a:prstGeom prst="straightConnector1">
              <a:avLst/>
            </a:prstGeom>
            <a:noFill/>
            <a:ln w="19050">
              <a:solidFill>
                <a:srgbClr val="F4629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82671" name="Rectangle 15">
              <a:extLst>
                <a:ext uri="{FF2B5EF4-FFF2-40B4-BE49-F238E27FC236}">
                  <a16:creationId xmlns:a16="http://schemas.microsoft.com/office/drawing/2014/main" id="{C9B6BE6E-AE05-AA4C-9936-B8222128AEB0}"/>
                </a:ext>
              </a:extLst>
            </p:cNvPr>
            <p:cNvSpPr>
              <a:spLocks noChangeArrowheads="1"/>
            </p:cNvSpPr>
            <p:nvPr/>
          </p:nvSpPr>
          <p:spPr bwMode="auto">
            <a:xfrm>
              <a:off x="466" y="3564"/>
              <a:ext cx="1816" cy="279"/>
            </a:xfrm>
            <a:prstGeom prst="rect">
              <a:avLst/>
            </a:prstGeom>
            <a:noFill/>
            <a:ln w="19050" algn="ctr">
              <a:solidFill>
                <a:srgbClr val="673EC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0" tIns="45704" rIns="91410" bIns="45704"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82672" name="Rectangle 16">
              <a:extLst>
                <a:ext uri="{FF2B5EF4-FFF2-40B4-BE49-F238E27FC236}">
                  <a16:creationId xmlns:a16="http://schemas.microsoft.com/office/drawing/2014/main" id="{CFABD4EB-3DC0-CF4F-866B-40083662B095}"/>
                </a:ext>
              </a:extLst>
            </p:cNvPr>
            <p:cNvSpPr>
              <a:spLocks noChangeArrowheads="1"/>
            </p:cNvSpPr>
            <p:nvPr/>
          </p:nvSpPr>
          <p:spPr bwMode="auto">
            <a:xfrm>
              <a:off x="2711" y="3622"/>
              <a:ext cx="1012" cy="166"/>
            </a:xfrm>
            <a:prstGeom prst="rect">
              <a:avLst/>
            </a:prstGeom>
            <a:noFill/>
            <a:ln w="19050" algn="ctr">
              <a:solidFill>
                <a:srgbClr val="673EC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01" tIns="45700" rIns="91401" bIns="45700"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b="0">
                  <a:ea typeface="MS UI Gothic" panose="020B0600070205080204" pitchFamily="50" charset="-128"/>
                </a:rPr>
                <a:t>Sử dụng overload method</a:t>
              </a:r>
            </a:p>
          </p:txBody>
        </p:sp>
        <p:cxnSp>
          <p:nvCxnSpPr>
            <p:cNvPr id="582673" name="AutoShape 17">
              <a:extLst>
                <a:ext uri="{FF2B5EF4-FFF2-40B4-BE49-F238E27FC236}">
                  <a16:creationId xmlns:a16="http://schemas.microsoft.com/office/drawing/2014/main" id="{D6D41811-C53E-496C-56B4-A8C0267FD43E}"/>
                </a:ext>
              </a:extLst>
            </p:cNvPr>
            <p:cNvCxnSpPr>
              <a:cxnSpLocks noChangeShapeType="1"/>
              <a:stCxn id="582671" idx="3"/>
              <a:endCxn id="582672" idx="1"/>
            </p:cNvCxnSpPr>
            <p:nvPr/>
          </p:nvCxnSpPr>
          <p:spPr bwMode="auto">
            <a:xfrm flipV="1">
              <a:off x="2289" y="3703"/>
              <a:ext cx="415" cy="1"/>
            </a:xfrm>
            <a:prstGeom prst="straightConnector1">
              <a:avLst/>
            </a:prstGeom>
            <a:noFill/>
            <a:ln w="19050">
              <a:solidFill>
                <a:srgbClr val="673EC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6754" name="AutoShape 2">
            <a:extLst>
              <a:ext uri="{FF2B5EF4-FFF2-40B4-BE49-F238E27FC236}">
                <a16:creationId xmlns:a16="http://schemas.microsoft.com/office/drawing/2014/main" id="{B4D6606E-CE4F-72F2-DDAE-D5C5751BF180}"/>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41" tIns="47720" rIns="95441" bIns="47720"/>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latin typeface="MS UI Gothic" panose="020B0600070205080204" pitchFamily="50" charset="-128"/>
                <a:ea typeface="MS UI Gothic" panose="020B0600070205080204" pitchFamily="50" charset="-128"/>
              </a:rPr>
              <a:t>　　　　　　　　　　　　　　　</a:t>
            </a:r>
            <a:endParaRPr lang="ja-JP" altLang="en-US" sz="1300">
              <a:latin typeface="MS UI Gothic" panose="020B0600070205080204" pitchFamily="50" charset="-128"/>
              <a:ea typeface="MS UI Gothic" panose="020B0600070205080204" pitchFamily="50" charset="-128"/>
            </a:endParaRPr>
          </a:p>
          <a:p>
            <a:endParaRPr lang="ja-JP" altLang="en-US" b="0">
              <a:latin typeface="MS UI Gothic" panose="020B0600070205080204" pitchFamily="50" charset="-128"/>
              <a:ea typeface="MS UI Gothic" panose="020B0600070205080204" pitchFamily="50" charset="-128"/>
            </a:endParaRPr>
          </a:p>
          <a:p>
            <a:r>
              <a:rPr lang="ja-JP" altLang="en-US" b="0">
                <a:latin typeface="MS UI Gothic" panose="020B0600070205080204" pitchFamily="50" charset="-128"/>
                <a:ea typeface="MS UI Gothic" panose="020B0600070205080204" pitchFamily="50" charset="-128"/>
              </a:rPr>
              <a:t>　</a:t>
            </a:r>
          </a:p>
          <a:p>
            <a:endParaRPr lang="ja-JP" altLang="en-US" b="0">
              <a:latin typeface="MS UI Gothic" panose="020B0600070205080204" pitchFamily="50" charset="-128"/>
              <a:ea typeface="MS UI Gothic" panose="020B0600070205080204" pitchFamily="50" charset="-128"/>
            </a:endParaRPr>
          </a:p>
          <a:p>
            <a:endParaRPr lang="en-US" altLang="ja-JP" b="0">
              <a:latin typeface="MS UI Gothic" panose="020B0600070205080204" pitchFamily="50" charset="-128"/>
              <a:ea typeface="MS UI Gothic" panose="020B0600070205080204" pitchFamily="50" charset="-128"/>
            </a:endParaRPr>
          </a:p>
        </p:txBody>
      </p:sp>
      <p:sp>
        <p:nvSpPr>
          <p:cNvPr id="586755" name="AutoShape 3">
            <a:extLst>
              <a:ext uri="{FF2B5EF4-FFF2-40B4-BE49-F238E27FC236}">
                <a16:creationId xmlns:a16="http://schemas.microsoft.com/office/drawing/2014/main" id="{6997B0A5-A17E-C92C-1ADA-706101E9EE6A}"/>
              </a:ext>
            </a:extLst>
          </p:cNvPr>
          <p:cNvSpPr>
            <a:spLocks noChangeArrowheads="1"/>
          </p:cNvSpPr>
          <p:nvPr/>
        </p:nvSpPr>
        <p:spPr bwMode="auto">
          <a:xfrm>
            <a:off x="603250" y="442913"/>
            <a:ext cx="14605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41" tIns="47720" rIns="95441" bIns="47720"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NOTE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2F5A0-C116-12ED-3279-2C372D74E89B}"/>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ext Placeholder 2">
            <a:extLst>
              <a:ext uri="{FF2B5EF4-FFF2-40B4-BE49-F238E27FC236}">
                <a16:creationId xmlns:a16="http://schemas.microsoft.com/office/drawing/2014/main" id="{FAD19E75-810D-43D4-EB9A-2098DC605E15}"/>
              </a:ext>
            </a:extLst>
          </p:cNvPr>
          <p:cNvSpPr>
            <a:spLocks noGrp="1"/>
          </p:cNvSpPr>
          <p:nvPr>
            <p:ph type="body" sz="half" idx="1"/>
          </p:nvPr>
        </p:nvSpPr>
        <p:spPr>
          <a:xfrm>
            <a:off x="344488" y="796925"/>
            <a:ext cx="4532312"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4" name="Content Placeholder 3">
            <a:extLst>
              <a:ext uri="{FF2B5EF4-FFF2-40B4-BE49-F238E27FC236}">
                <a16:creationId xmlns:a16="http://schemas.microsoft.com/office/drawing/2014/main" id="{6FC38825-631D-9D08-DBFF-873F7EBD362A}"/>
              </a:ext>
            </a:extLst>
          </p:cNvPr>
          <p:cNvSpPr>
            <a:spLocks noGrp="1"/>
          </p:cNvSpPr>
          <p:nvPr>
            <p:ph sz="half" idx="2"/>
          </p:nvPr>
        </p:nvSpPr>
        <p:spPr>
          <a:xfrm>
            <a:off x="5029200" y="796925"/>
            <a:ext cx="4532313"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5" name="Slide Number Placeholder 4">
            <a:extLst>
              <a:ext uri="{FF2B5EF4-FFF2-40B4-BE49-F238E27FC236}">
                <a16:creationId xmlns:a16="http://schemas.microsoft.com/office/drawing/2014/main" id="{BDD2958A-8DC2-EF05-77E8-4C349E8DA705}"/>
              </a:ext>
            </a:extLst>
          </p:cNvPr>
          <p:cNvSpPr>
            <a:spLocks noGrp="1"/>
          </p:cNvSpPr>
          <p:nvPr>
            <p:ph type="sldNum" sz="quarter" idx="10"/>
          </p:nvPr>
        </p:nvSpPr>
        <p:spPr>
          <a:xfrm>
            <a:off x="7616825" y="6381750"/>
            <a:ext cx="2133600" cy="476250"/>
          </a:xfrm>
        </p:spPr>
        <p:txBody>
          <a:bodyPr/>
          <a:lstStyle>
            <a:lvl1pPr>
              <a:defRPr/>
            </a:lvl1pPr>
          </a:lstStyle>
          <a:p>
            <a:fld id="{4AC556BE-C330-47A4-A283-5CF881B2E858}" type="slidenum">
              <a:rPr lang="en-US" altLang="ja-JP"/>
              <a:pPr/>
              <a:t>‹#›</a:t>
            </a:fld>
            <a:endParaRPr lang="en-US" altLang="ja-JP"/>
          </a:p>
        </p:txBody>
      </p:sp>
    </p:spTree>
    <p:extLst>
      <p:ext uri="{BB962C8B-B14F-4D97-AF65-F5344CB8AC3E}">
        <p14:creationId xmlns:p14="http://schemas.microsoft.com/office/powerpoint/2010/main" val="7430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2026/8/7</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4" r:id="rId7"/>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2026/8/7</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C33404E-A9F1-3E64-FF69-6BDB0999FB96}"/>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B5CE9739-DACA-4344-B9BA-7CECFFDACFF5}" type="slidenum">
              <a:rPr lang="en-US" altLang="ja-JP" smtClean="0"/>
              <a:pPr/>
              <a:t>1</a:t>
            </a:fld>
            <a:endParaRPr lang="en-US" altLang="ja-JP"/>
          </a:p>
        </p:txBody>
      </p:sp>
      <p:sp>
        <p:nvSpPr>
          <p:cNvPr id="256003" name="Text Box 3">
            <a:extLst>
              <a:ext uri="{FF2B5EF4-FFF2-40B4-BE49-F238E27FC236}">
                <a16:creationId xmlns:a16="http://schemas.microsoft.com/office/drawing/2014/main" id="{EF0D6C3F-D28A-D39E-EB0A-5835E639340D}"/>
              </a:ext>
            </a:extLst>
          </p:cNvPr>
          <p:cNvSpPr txBox="1">
            <a:spLocks noChangeArrowheads="1"/>
          </p:cNvSpPr>
          <p:nvPr/>
        </p:nvSpPr>
        <p:spPr bwMode="auto">
          <a:xfrm>
            <a:off x="1330324" y="2336800"/>
            <a:ext cx="8194675" cy="8370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4700" b="0" dirty="0" err="1">
                <a:ea typeface="ヒラギノ明朝 Pro W6" pitchFamily="18" charset="-128"/>
              </a:rPr>
              <a:t>Lập</a:t>
            </a:r>
            <a:r>
              <a:rPr lang="en-US" altLang="ja-JP" sz="4700" b="0" dirty="0">
                <a:ea typeface="ヒラギノ明朝 Pro W6" pitchFamily="18" charset="-128"/>
              </a:rPr>
              <a:t> </a:t>
            </a:r>
            <a:r>
              <a:rPr lang="en-US" altLang="ja-JP" sz="4700" b="0" dirty="0" err="1">
                <a:ea typeface="ヒラギノ明朝 Pro W6" pitchFamily="18" charset="-128"/>
              </a:rPr>
              <a:t>trình</a:t>
            </a:r>
            <a:r>
              <a:rPr lang="en-US" altLang="ja-JP" sz="4700" b="0" dirty="0">
                <a:ea typeface="ヒラギノ明朝 Pro W6" pitchFamily="18" charset="-128"/>
              </a:rPr>
              <a:t> </a:t>
            </a:r>
            <a:r>
              <a:rPr lang="en-US" altLang="ja-JP" sz="4700" b="0" dirty="0" err="1">
                <a:ea typeface="ヒラギノ明朝 Pro W6" pitchFamily="18" charset="-128"/>
              </a:rPr>
              <a:t>hướng</a:t>
            </a:r>
            <a:r>
              <a:rPr lang="en-US" altLang="ja-JP" sz="4700" b="0" dirty="0">
                <a:ea typeface="ヒラギノ明朝 Pro W6" pitchFamily="18" charset="-128"/>
              </a:rPr>
              <a:t> </a:t>
            </a:r>
            <a:r>
              <a:rPr lang="en-US" altLang="ja-JP" sz="4700" b="0" dirty="0" err="1">
                <a:ea typeface="ヒラギノ明朝 Pro W6" pitchFamily="18" charset="-128"/>
              </a:rPr>
              <a:t>đối</a:t>
            </a:r>
            <a:r>
              <a:rPr lang="en-US" altLang="ja-JP" sz="4700" b="0" dirty="0">
                <a:ea typeface="ヒラギノ明朝 Pro W6" pitchFamily="18" charset="-128"/>
              </a:rPr>
              <a:t> </a:t>
            </a:r>
            <a:r>
              <a:rPr lang="en-US" altLang="ja-JP" sz="4700" b="0" dirty="0" err="1">
                <a:ea typeface="ヒラギノ明朝 Pro W6" pitchFamily="18" charset="-128"/>
              </a:rPr>
              <a:t>tượng</a:t>
            </a:r>
            <a:endParaRPr lang="en-US" altLang="ja-JP" sz="4700" b="0" dirty="0">
              <a:ea typeface="ヒラギノ明朝 Pro W6" pitchFamily="18" charset="-12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033001EA-C40B-7CCB-3A60-F53F54220CD5}"/>
              </a:ext>
            </a:extLst>
          </p:cNvPr>
          <p:cNvSpPr>
            <a:spLocks noGrp="1"/>
          </p:cNvSpPr>
          <p:nvPr>
            <p:ph type="sldNum" sz="quarter" idx="10"/>
          </p:nvPr>
        </p:nvSpPr>
        <p:spPr/>
        <p:txBody>
          <a:bodyPr/>
          <a:lstStyle/>
          <a:p>
            <a:fld id="{1D944B97-B97A-4631-9601-164B63D90FA8}" type="slidenum">
              <a:rPr lang="en-US" altLang="ja-JP"/>
              <a:pPr/>
              <a:t>2</a:t>
            </a:fld>
            <a:endParaRPr lang="en-US" altLang="ja-JP"/>
          </a:p>
        </p:txBody>
      </p:sp>
      <p:sp>
        <p:nvSpPr>
          <p:cNvPr id="368642" name="Rectangle 2">
            <a:extLst>
              <a:ext uri="{FF2B5EF4-FFF2-40B4-BE49-F238E27FC236}">
                <a16:creationId xmlns:a16="http://schemas.microsoft.com/office/drawing/2014/main" id="{BC7C632D-5D84-A391-0956-4F9EE2B58F68}"/>
              </a:ext>
            </a:extLst>
          </p:cNvPr>
          <p:cNvSpPr>
            <a:spLocks noGrp="1" noChangeArrowheads="1"/>
          </p:cNvSpPr>
          <p:nvPr>
            <p:ph type="title"/>
          </p:nvPr>
        </p:nvSpPr>
        <p:spPr>
          <a:xfrm>
            <a:off x="344488" y="367507"/>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Định</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nghĩa</a:t>
            </a:r>
            <a:r>
              <a:rPr lang="en-US" altLang="ja-JP" dirty="0">
                <a:latin typeface="Arial" panose="020B0604020202020204" pitchFamily="34" charset="0"/>
                <a:ea typeface="MS UI Gothic" panose="020B0600070205080204" pitchFamily="50" charset="-128"/>
              </a:rPr>
              <a:t> class</a:t>
            </a:r>
          </a:p>
        </p:txBody>
      </p:sp>
      <p:sp>
        <p:nvSpPr>
          <p:cNvPr id="368643" name="Rectangle 3">
            <a:extLst>
              <a:ext uri="{FF2B5EF4-FFF2-40B4-BE49-F238E27FC236}">
                <a16:creationId xmlns:a16="http://schemas.microsoft.com/office/drawing/2014/main" id="{B264BF80-2FC8-F619-8F51-9DAE3BEC11CF}"/>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68644" name="Rectangle 4">
            <a:extLst>
              <a:ext uri="{FF2B5EF4-FFF2-40B4-BE49-F238E27FC236}">
                <a16:creationId xmlns:a16="http://schemas.microsoft.com/office/drawing/2014/main" id="{020A8658-4599-C533-D857-FD6D2A75DA6D}"/>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Định nghĩa class</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368660" name="Text Box 20">
            <a:extLst>
              <a:ext uri="{FF2B5EF4-FFF2-40B4-BE49-F238E27FC236}">
                <a16:creationId xmlns:a16="http://schemas.microsoft.com/office/drawing/2014/main" id="{5A1F6FBD-C0EC-7B7D-1348-46BAEB84A2ED}"/>
              </a:ext>
            </a:extLst>
          </p:cNvPr>
          <p:cNvSpPr txBox="1">
            <a:spLocks noChangeArrowheads="1"/>
          </p:cNvSpPr>
          <p:nvPr/>
        </p:nvSpPr>
        <p:spPr bwMode="auto">
          <a:xfrm>
            <a:off x="344488" y="1751013"/>
            <a:ext cx="9120187" cy="153035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dirty="0">
                <a:latin typeface="+mj-lt"/>
                <a:ea typeface="MS UI Gothic" panose="020B0600070205080204" pitchFamily="50" charset="-128"/>
              </a:rPr>
              <a:t>modifier  </a:t>
            </a:r>
            <a:r>
              <a:rPr lang="en-US" altLang="ja-JP" sz="2000" dirty="0">
                <a:latin typeface="+mj-lt"/>
                <a:ea typeface="ＭＳ ゴシック" panose="020B0609070205080204" pitchFamily="49" charset="-128"/>
              </a:rPr>
              <a:t>class</a:t>
            </a:r>
            <a:r>
              <a:rPr lang="en-US" altLang="ja-JP" sz="2000" dirty="0">
                <a:latin typeface="+mj-lt"/>
                <a:ea typeface="MS UI Gothic" panose="020B0600070205080204" pitchFamily="50" charset="-128"/>
              </a:rPr>
              <a:t>  </a:t>
            </a:r>
            <a:r>
              <a:rPr lang="en-US" altLang="ja-JP" sz="2000" dirty="0" err="1">
                <a:latin typeface="+mj-lt"/>
                <a:ea typeface="MS UI Gothic" panose="020B0600070205080204" pitchFamily="50" charset="-128"/>
              </a:rPr>
              <a:t>class</a:t>
            </a:r>
            <a:r>
              <a:rPr lang="en-US" altLang="ja-JP" sz="2000" dirty="0">
                <a:latin typeface="+mj-lt"/>
                <a:ea typeface="MS UI Gothic" panose="020B0600070205080204" pitchFamily="50" charset="-128"/>
              </a:rPr>
              <a:t> name</a:t>
            </a:r>
            <a:r>
              <a:rPr lang="en-US" altLang="ja-JP" sz="2000" dirty="0">
                <a:latin typeface="+mj-lt"/>
                <a:ea typeface="ＭＳ ゴシック" panose="020B0609070205080204" pitchFamily="49" charset="-128"/>
              </a:rPr>
              <a:t> {</a:t>
            </a:r>
          </a:p>
          <a:p>
            <a:pPr lvl="1" algn="just">
              <a:lnSpc>
                <a:spcPct val="112000"/>
              </a:lnSpc>
            </a:pPr>
            <a:r>
              <a:rPr lang="ja-JP" altLang="en-US" sz="2000" b="0" dirty="0">
                <a:latin typeface="+mj-lt"/>
                <a:ea typeface="MS UI Gothic" panose="020B0600070205080204" pitchFamily="50" charset="-128"/>
              </a:rPr>
              <a:t>　　　　</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Định</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nghĩa</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thuộc</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tính</a:t>
            </a:r>
            <a:r>
              <a:rPr lang="ja-JP" altLang="en-US" sz="2000" b="0" dirty="0">
                <a:latin typeface="+mj-lt"/>
                <a:ea typeface="MS UI Gothic" panose="020B0600070205080204" pitchFamily="50" charset="-128"/>
              </a:rPr>
              <a:t>（</a:t>
            </a:r>
            <a:r>
              <a:rPr lang="en-US" altLang="ja-JP" sz="2000" b="0" dirty="0">
                <a:latin typeface="+mj-lt"/>
                <a:ea typeface="MS UI Gothic" panose="020B0600070205080204" pitchFamily="50" charset="-128"/>
              </a:rPr>
              <a:t>field</a:t>
            </a:r>
            <a:r>
              <a:rPr lang="ja-JP" altLang="en-US" sz="2000" b="0" dirty="0">
                <a:latin typeface="+mj-lt"/>
                <a:ea typeface="MS UI Gothic" panose="020B0600070205080204" pitchFamily="50" charset="-128"/>
              </a:rPr>
              <a:t>）</a:t>
            </a:r>
          </a:p>
          <a:p>
            <a:pPr lvl="1" algn="just">
              <a:lnSpc>
                <a:spcPct val="112000"/>
              </a:lnSpc>
            </a:pPr>
            <a:r>
              <a:rPr lang="ja-JP" altLang="en-US" sz="2000" b="0" dirty="0">
                <a:latin typeface="+mj-lt"/>
                <a:ea typeface="MS UI Gothic" panose="020B0600070205080204" pitchFamily="50" charset="-128"/>
              </a:rPr>
              <a:t>　　　　</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Định</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nghĩa</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thao</a:t>
            </a:r>
            <a:r>
              <a:rPr lang="en-US" altLang="ja-JP" sz="2000" b="0" dirty="0">
                <a:latin typeface="+mj-lt"/>
                <a:ea typeface="ＭＳ ゴシック" panose="020B0609070205080204" pitchFamily="49" charset="-128"/>
              </a:rPr>
              <a:t> </a:t>
            </a:r>
            <a:r>
              <a:rPr lang="en-US" altLang="ja-JP" sz="2000" b="0" dirty="0" err="1">
                <a:latin typeface="+mj-lt"/>
                <a:ea typeface="ＭＳ ゴシック" panose="020B0609070205080204" pitchFamily="49" charset="-128"/>
              </a:rPr>
              <a:t>tác</a:t>
            </a:r>
            <a:r>
              <a:rPr lang="ja-JP" altLang="en-US" sz="2000" b="0" dirty="0">
                <a:latin typeface="+mj-lt"/>
                <a:ea typeface="MS UI Gothic" panose="020B0600070205080204" pitchFamily="50" charset="-128"/>
              </a:rPr>
              <a:t>（</a:t>
            </a:r>
            <a:r>
              <a:rPr lang="en-US" altLang="ja-JP" sz="2000" b="0" dirty="0">
                <a:latin typeface="+mj-lt"/>
                <a:ea typeface="MS UI Gothic" panose="020B0600070205080204" pitchFamily="50" charset="-128"/>
              </a:rPr>
              <a:t>method</a:t>
            </a:r>
            <a:r>
              <a:rPr lang="ja-JP" altLang="en-US" sz="2000" b="0" dirty="0">
                <a:latin typeface="+mj-lt"/>
                <a:ea typeface="MS UI Gothic" panose="020B0600070205080204" pitchFamily="50" charset="-128"/>
              </a:rPr>
              <a:t>）</a:t>
            </a:r>
          </a:p>
          <a:p>
            <a:pPr lvl="1" algn="just">
              <a:lnSpc>
                <a:spcPct val="112000"/>
              </a:lnSpc>
            </a:pPr>
            <a:r>
              <a:rPr lang="en-US" altLang="ja-JP" sz="2000" dirty="0">
                <a:latin typeface="+mj-lt"/>
                <a:ea typeface="ＭＳ ゴシック" panose="020B0609070205080204" pitchFamily="49" charset="-128"/>
              </a:rPr>
              <a:t>}</a:t>
            </a:r>
          </a:p>
        </p:txBody>
      </p:sp>
      <p:sp>
        <p:nvSpPr>
          <p:cNvPr id="368663" name="Rectangle 23">
            <a:extLst>
              <a:ext uri="{FF2B5EF4-FFF2-40B4-BE49-F238E27FC236}">
                <a16:creationId xmlns:a16="http://schemas.microsoft.com/office/drawing/2014/main" id="{EAE7A8DF-0264-F6CB-C5A3-324892A6DD0B}"/>
              </a:ext>
            </a:extLst>
          </p:cNvPr>
          <p:cNvSpPr>
            <a:spLocks noChangeArrowheads="1"/>
          </p:cNvSpPr>
          <p:nvPr/>
        </p:nvSpPr>
        <p:spPr bwMode="auto">
          <a:xfrm>
            <a:off x="344488" y="37560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368664" name="Rectangle 24">
            <a:extLst>
              <a:ext uri="{FF2B5EF4-FFF2-40B4-BE49-F238E27FC236}">
                <a16:creationId xmlns:a16="http://schemas.microsoft.com/office/drawing/2014/main" id="{877D1EDD-4EE7-11AD-9EF5-C92E500AB1DB}"/>
              </a:ext>
            </a:extLst>
          </p:cNvPr>
          <p:cNvSpPr>
            <a:spLocks noChangeArrowheads="1"/>
          </p:cNvSpPr>
          <p:nvPr/>
        </p:nvSpPr>
        <p:spPr bwMode="auto">
          <a:xfrm>
            <a:off x="344488" y="4165600"/>
            <a:ext cx="9120187" cy="10779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dirty="0">
                <a:latin typeface="+mj-lt"/>
                <a:ea typeface="ＭＳ ゴシック" panose="020B0609070205080204" pitchFamily="49" charset="-128"/>
              </a:rPr>
              <a:t>public class</a:t>
            </a:r>
            <a:r>
              <a:rPr lang="en-US" altLang="en-US" sz="1800" b="0" dirty="0">
                <a:latin typeface="+mj-lt"/>
                <a:ea typeface="ＭＳ ゴシック" panose="020B0609070205080204" pitchFamily="49" charset="-128"/>
              </a:rPr>
              <a:t> </a:t>
            </a:r>
            <a:r>
              <a:rPr lang="en-US" altLang="ja-JP" sz="1800" b="0" dirty="0">
                <a:latin typeface="+mj-lt"/>
                <a:ea typeface="ＭＳ ゴシック" panose="020B0609070205080204" pitchFamily="49" charset="-128"/>
              </a:rPr>
              <a:t>Person</a:t>
            </a:r>
            <a:r>
              <a:rPr lang="en-US" altLang="en-US" sz="1800" b="0" dirty="0">
                <a:latin typeface="+mj-lt"/>
                <a:ea typeface="ＭＳ ゴシック" panose="020B0609070205080204" pitchFamily="49" charset="-128"/>
              </a:rPr>
              <a:t> {</a:t>
            </a:r>
          </a:p>
          <a:p>
            <a:pPr lvl="1"/>
            <a:r>
              <a:rPr lang="en-US" altLang="ja-JP" sz="1800" b="0" dirty="0">
                <a:latin typeface="+mj-lt"/>
                <a:ea typeface="ＭＳ ゴシック" panose="020B0609070205080204" pitchFamily="49" charset="-128"/>
              </a:rPr>
              <a:t>    </a:t>
            </a:r>
            <a:r>
              <a:rPr lang="en-US" altLang="en-US"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Định</a:t>
            </a:r>
            <a:r>
              <a:rPr lang="en-US" altLang="ja-JP" sz="1800" b="0" dirty="0">
                <a:latin typeface="+mj-lt"/>
                <a:ea typeface="ＭＳ ゴシック" panose="020B0609070205080204" pitchFamily="49" charset="-128"/>
              </a:rPr>
              <a:t> </a:t>
            </a:r>
            <a:r>
              <a:rPr lang="en-US" altLang="ja-JP" sz="1800" b="0" dirty="0" err="1">
                <a:latin typeface="+mj-lt"/>
                <a:ea typeface="ＭＳ ゴシック" panose="020B0609070205080204" pitchFamily="49" charset="-128"/>
              </a:rPr>
              <a:t>nghĩa</a:t>
            </a:r>
            <a:r>
              <a:rPr lang="en-US" altLang="ja-JP" sz="1800" b="0" dirty="0">
                <a:latin typeface="+mj-lt"/>
                <a:ea typeface="ＭＳ ゴシック" panose="020B0609070205080204" pitchFamily="49" charset="-128"/>
              </a:rPr>
              <a:t> field </a:t>
            </a:r>
            <a:r>
              <a:rPr lang="en-US" altLang="ja-JP" sz="1800" b="0" dirty="0" err="1">
                <a:latin typeface="+mj-lt"/>
                <a:ea typeface="ＭＳ ゴシック" panose="020B0609070205080204" pitchFamily="49" charset="-128"/>
              </a:rPr>
              <a:t>va</a:t>
            </a:r>
            <a:r>
              <a:rPr lang="en-US" altLang="ja-JP" sz="1800" b="0" dirty="0">
                <a:latin typeface="+mj-lt"/>
                <a:ea typeface="ＭＳ ゴシック" panose="020B0609070205080204" pitchFamily="49" charset="-128"/>
              </a:rPr>
              <a:t>̀ method</a:t>
            </a:r>
            <a:endParaRPr lang="en-US" altLang="en-US" sz="1800" b="0" dirty="0">
              <a:latin typeface="+mj-lt"/>
              <a:ea typeface="ＭＳ ゴシック" panose="020B0609070205080204" pitchFamily="49" charset="-128"/>
            </a:endParaRPr>
          </a:p>
          <a:p>
            <a:pPr lvl="1"/>
            <a:r>
              <a:rPr lang="en-US" altLang="en-US" sz="1800" b="0" dirty="0">
                <a:latin typeface="+mj-lt"/>
                <a:ea typeface="ＭＳ ゴシック" panose="020B0609070205080204" pitchFamily="49" charset="-128"/>
              </a:rPr>
              <a:t>}</a:t>
            </a:r>
            <a:endParaRPr lang="en-US" altLang="ja-JP" sz="1800" b="0" dirty="0">
              <a:latin typeface="+mj-lt"/>
              <a:ea typeface="ＭＳ ゴシック" panose="020B0609070205080204" pitchFamily="49" charset="-128"/>
            </a:endParaRPr>
          </a:p>
        </p:txBody>
      </p:sp>
      <p:sp>
        <p:nvSpPr>
          <p:cNvPr id="368666" name="AutoShape 26">
            <a:extLst>
              <a:ext uri="{FF2B5EF4-FFF2-40B4-BE49-F238E27FC236}">
                <a16:creationId xmlns:a16="http://schemas.microsoft.com/office/drawing/2014/main" id="{6A543BDE-EAAD-2C40-F89D-B5FA7D37650D}"/>
              </a:ext>
            </a:extLst>
          </p:cNvPr>
          <p:cNvSpPr>
            <a:spLocks noChangeArrowheads="1"/>
          </p:cNvSpPr>
          <p:nvPr/>
        </p:nvSpPr>
        <p:spPr bwMode="auto">
          <a:xfrm>
            <a:off x="1493838" y="3348038"/>
            <a:ext cx="4391025" cy="606425"/>
          </a:xfrm>
          <a:prstGeom prst="wedgeRoundRectCallout">
            <a:avLst>
              <a:gd name="adj1" fmla="val -48444"/>
              <a:gd name="adj2" fmla="val 9476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Class name </a:t>
            </a:r>
            <a:r>
              <a:rPr lang="en-US" altLang="ja-JP" sz="1800" dirty="0" err="1">
                <a:latin typeface="+mj-lt"/>
              </a:rPr>
              <a:t>thông</a:t>
            </a:r>
            <a:r>
              <a:rPr lang="en-US" altLang="ja-JP" sz="1800" dirty="0">
                <a:latin typeface="+mj-lt"/>
              </a:rPr>
              <a:t> </a:t>
            </a:r>
            <a:r>
              <a:rPr lang="en-US" altLang="ja-JP" sz="1800" dirty="0" err="1">
                <a:latin typeface="+mj-lt"/>
              </a:rPr>
              <a:t>thường</a:t>
            </a:r>
            <a:r>
              <a:rPr lang="en-US" altLang="ja-JP" sz="1800" dirty="0">
                <a:latin typeface="+mj-lt"/>
              </a:rPr>
              <a:t> sẽ </a:t>
            </a:r>
            <a:r>
              <a:rPr lang="en-US" altLang="ja-JP" sz="1800" dirty="0" err="1">
                <a:latin typeface="+mj-lt"/>
              </a:rPr>
              <a:t>sư</a:t>
            </a:r>
            <a:r>
              <a:rPr lang="en-US" altLang="ja-JP" sz="1800" dirty="0">
                <a:latin typeface="+mj-lt"/>
              </a:rPr>
              <a:t>̉ </a:t>
            </a:r>
            <a:r>
              <a:rPr lang="en-US" altLang="ja-JP" sz="1800" dirty="0" err="1">
                <a:latin typeface="+mj-lt"/>
              </a:rPr>
              <a:t>dụng</a:t>
            </a:r>
            <a:r>
              <a:rPr lang="en-US" altLang="ja-JP" sz="1800" dirty="0">
                <a:latin typeface="+mj-lt"/>
              </a:rPr>
              <a:t> </a:t>
            </a:r>
            <a:r>
              <a:rPr lang="en-US" altLang="ja-JP" sz="1800" dirty="0" err="1">
                <a:latin typeface="+mj-lt"/>
              </a:rPr>
              <a:t>chư</a:t>
            </a:r>
            <a:r>
              <a:rPr lang="en-US" altLang="ja-JP" sz="1800" dirty="0">
                <a:latin typeface="+mj-lt"/>
              </a:rPr>
              <a:t>̃ </a:t>
            </a:r>
            <a:r>
              <a:rPr lang="en-US" altLang="ja-JP" sz="1800" dirty="0" err="1">
                <a:latin typeface="+mj-lt"/>
              </a:rPr>
              <a:t>tiếng</a:t>
            </a:r>
            <a:r>
              <a:rPr lang="en-US" altLang="ja-JP" sz="1800" dirty="0">
                <a:latin typeface="+mj-lt"/>
              </a:rPr>
              <a:t> Anh in </a:t>
            </a:r>
            <a:r>
              <a:rPr lang="en-US" altLang="ja-JP" sz="1800" dirty="0" err="1">
                <a:latin typeface="+mj-lt"/>
              </a:rPr>
              <a:t>hoa</a:t>
            </a:r>
            <a:r>
              <a:rPr lang="en-US" altLang="ja-JP" sz="1800" dirty="0">
                <a:latin typeface="+mj-lt"/>
              </a:rPr>
              <a:t> ở </a:t>
            </a:r>
            <a:r>
              <a:rPr lang="en-US" altLang="ja-JP" sz="1800" dirty="0" err="1">
                <a:latin typeface="+mj-lt"/>
              </a:rPr>
              <a:t>đầu</a:t>
            </a:r>
            <a:endParaRPr lang="en-US" altLang="ja-JP" sz="1800" dirty="0">
              <a:latin typeface="+mj-lt"/>
            </a:endParaRPr>
          </a:p>
        </p:txBody>
      </p:sp>
      <p:sp>
        <p:nvSpPr>
          <p:cNvPr id="368667" name="AutoShape 27">
            <a:extLst>
              <a:ext uri="{FF2B5EF4-FFF2-40B4-BE49-F238E27FC236}">
                <a16:creationId xmlns:a16="http://schemas.microsoft.com/office/drawing/2014/main" id="{375EE0A9-92C2-86F1-A271-BDB6BEE37E0C}"/>
              </a:ext>
            </a:extLst>
          </p:cNvPr>
          <p:cNvSpPr>
            <a:spLocks/>
          </p:cNvSpPr>
          <p:nvPr/>
        </p:nvSpPr>
        <p:spPr bwMode="auto">
          <a:xfrm>
            <a:off x="4640263" y="2147888"/>
            <a:ext cx="88900" cy="685800"/>
          </a:xfrm>
          <a:prstGeom prst="rightBrace">
            <a:avLst>
              <a:gd name="adj1" fmla="val 64286"/>
              <a:gd name="adj2" fmla="val 50000"/>
            </a:avLst>
          </a:prstGeom>
          <a:noFill/>
          <a:ln w="38100">
            <a:solidFill>
              <a:srgbClr val="0033CC"/>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668" name="Rectangle 28">
            <a:extLst>
              <a:ext uri="{FF2B5EF4-FFF2-40B4-BE49-F238E27FC236}">
                <a16:creationId xmlns:a16="http://schemas.microsoft.com/office/drawing/2014/main" id="{DF9941C9-5C9D-BB2E-69D6-102246F9B790}"/>
              </a:ext>
            </a:extLst>
          </p:cNvPr>
          <p:cNvSpPr>
            <a:spLocks noChangeArrowheads="1"/>
          </p:cNvSpPr>
          <p:nvPr/>
        </p:nvSpPr>
        <p:spPr bwMode="auto">
          <a:xfrm>
            <a:off x="4824413" y="2222500"/>
            <a:ext cx="4645025" cy="51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a:solidFill>
                  <a:srgbClr val="0033CC"/>
                </a:solidFill>
                <a:latin typeface="Arial" panose="020B0604020202020204" pitchFamily="34" charset="0"/>
              </a:rPr>
              <a:t>Gọi chung gọi là </a:t>
            </a:r>
            <a:r>
              <a:rPr lang="ja-JP" altLang="en-US" sz="2000">
                <a:solidFill>
                  <a:srgbClr val="0033CC"/>
                </a:solidFill>
                <a:latin typeface="Arial" panose="020B0604020202020204" pitchFamily="34" charset="0"/>
              </a:rPr>
              <a:t>「</a:t>
            </a:r>
            <a:r>
              <a:rPr lang="en-US" altLang="ja-JP" sz="2000">
                <a:solidFill>
                  <a:srgbClr val="0033CC"/>
                </a:solidFill>
                <a:latin typeface="Arial" panose="020B0604020202020204" pitchFamily="34" charset="0"/>
              </a:rPr>
              <a:t>member</a:t>
            </a:r>
            <a:r>
              <a:rPr lang="ja-JP" altLang="en-US" sz="2000">
                <a:solidFill>
                  <a:srgbClr val="0033CC"/>
                </a:solidFill>
                <a:latin typeface="Arial" panose="020B0604020202020204" pitchFamily="34" charset="0"/>
              </a:rPr>
              <a:t>」 </a:t>
            </a:r>
            <a:r>
              <a:rPr lang="en-US" altLang="ja-JP" sz="2000">
                <a:solidFill>
                  <a:srgbClr val="0033CC"/>
                </a:solidFill>
                <a:latin typeface="Arial" panose="020B0604020202020204" pitchFamily="34" charset="0"/>
              </a:rPr>
              <a:t>của class</a:t>
            </a:r>
            <a:endParaRPr lang="en-US" altLang="ja-JP" sz="2400">
              <a:solidFill>
                <a:srgbClr val="0033CC"/>
              </a:solidFill>
              <a:latin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2EFE3210-8CCF-6C13-E3C1-0CF04B25D65B}"/>
              </a:ext>
            </a:extLst>
          </p:cNvPr>
          <p:cNvSpPr>
            <a:spLocks noGrp="1"/>
          </p:cNvSpPr>
          <p:nvPr>
            <p:ph type="sldNum" sz="quarter" idx="10"/>
          </p:nvPr>
        </p:nvSpPr>
        <p:spPr/>
        <p:txBody>
          <a:bodyPr/>
          <a:lstStyle/>
          <a:p>
            <a:fld id="{19DDD613-ABEF-4F3C-8AC8-28F7B25803B0}" type="slidenum">
              <a:rPr lang="en-US" altLang="ja-JP"/>
              <a:pPr/>
              <a:t>3</a:t>
            </a:fld>
            <a:endParaRPr lang="en-US" altLang="ja-JP"/>
          </a:p>
        </p:txBody>
      </p:sp>
      <p:sp>
        <p:nvSpPr>
          <p:cNvPr id="407554" name="Rectangle 2">
            <a:extLst>
              <a:ext uri="{FF2B5EF4-FFF2-40B4-BE49-F238E27FC236}">
                <a16:creationId xmlns:a16="http://schemas.microsoft.com/office/drawing/2014/main" id="{86DCA497-5EF4-D483-4CC5-09910C58AA39}"/>
              </a:ext>
            </a:extLst>
          </p:cNvPr>
          <p:cNvSpPr>
            <a:spLocks noGrp="1" noChangeArrowheads="1"/>
          </p:cNvSpPr>
          <p:nvPr>
            <p:ph type="title"/>
          </p:nvPr>
        </p:nvSpPr>
        <p:spPr>
          <a:xfrm>
            <a:off x="344488" y="30083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Định</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nghĩa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thuộc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tính</a:t>
            </a:r>
            <a:endParaRPr lang="en-US" altLang="ja-JP" dirty="0">
              <a:latin typeface="Arial" panose="020B0604020202020204" pitchFamily="34" charset="0"/>
              <a:ea typeface="MS UI Gothic" panose="020B0600070205080204" pitchFamily="50" charset="-128"/>
            </a:endParaRPr>
          </a:p>
        </p:txBody>
      </p:sp>
      <p:sp>
        <p:nvSpPr>
          <p:cNvPr id="407555" name="Rectangle 3">
            <a:extLst>
              <a:ext uri="{FF2B5EF4-FFF2-40B4-BE49-F238E27FC236}">
                <a16:creationId xmlns:a16="http://schemas.microsoft.com/office/drawing/2014/main" id="{4992E180-72AD-639B-E346-A8DA91AE2FD9}"/>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07556" name="Rectangle 4">
            <a:extLst>
              <a:ext uri="{FF2B5EF4-FFF2-40B4-BE49-F238E27FC236}">
                <a16:creationId xmlns:a16="http://schemas.microsoft.com/office/drawing/2014/main" id="{48D72146-B29B-B31B-1A1C-51632981FA78}"/>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Định nghĩa thuộc tính</a:t>
            </a:r>
            <a:r>
              <a:rPr lang="ja-JP" altLang="en-US" sz="2400" b="0">
                <a:latin typeface="Arial" panose="020B0604020202020204" pitchFamily="34" charset="0"/>
              </a:rPr>
              <a:t>（</a:t>
            </a:r>
            <a:r>
              <a:rPr lang="en-US" altLang="ja-JP" sz="2400" b="0">
                <a:latin typeface="Arial" panose="020B0604020202020204" pitchFamily="34" charset="0"/>
              </a:rPr>
              <a:t>biến instance</a:t>
            </a:r>
            <a:r>
              <a:rPr lang="ja-JP" altLang="en-US" sz="2400" b="0">
                <a:latin typeface="Arial" panose="020B0604020202020204" pitchFamily="34" charset="0"/>
              </a:rPr>
              <a:t>）</a:t>
            </a:r>
          </a:p>
          <a:p>
            <a:pPr>
              <a:spcBef>
                <a:spcPct val="50000"/>
              </a:spcBef>
              <a:buFont typeface="Wingdings" panose="05000000000000000000" pitchFamily="2" charset="2"/>
              <a:buNone/>
            </a:pPr>
            <a:r>
              <a:rPr lang="ja-JP" altLang="en-US" sz="2000" b="0">
                <a:latin typeface="Arial" panose="020B0604020202020204" pitchFamily="34" charset="0"/>
              </a:rPr>
              <a:t>●</a:t>
            </a: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07557" name="Text Box 5">
            <a:extLst>
              <a:ext uri="{FF2B5EF4-FFF2-40B4-BE49-F238E27FC236}">
                <a16:creationId xmlns:a16="http://schemas.microsoft.com/office/drawing/2014/main" id="{512A7E65-42BB-5DCA-20B1-2AA5895546CB}"/>
              </a:ext>
            </a:extLst>
          </p:cNvPr>
          <p:cNvSpPr txBox="1">
            <a:spLocks noChangeArrowheads="1"/>
          </p:cNvSpPr>
          <p:nvPr/>
        </p:nvSpPr>
        <p:spPr bwMode="auto">
          <a:xfrm>
            <a:off x="344488" y="1751013"/>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2000">
                <a:ea typeface="MS UI Gothic" panose="020B0600070205080204" pitchFamily="50" charset="-128"/>
              </a:rPr>
              <a:t>　</a:t>
            </a:r>
            <a:r>
              <a:rPr lang="en-US" altLang="ja-JP" sz="2000">
                <a:ea typeface="MS UI Gothic" panose="020B0600070205080204" pitchFamily="50" charset="-128"/>
              </a:rPr>
              <a:t>modifier</a:t>
            </a:r>
            <a:r>
              <a:rPr lang="ja-JP" altLang="en-US" sz="2000">
                <a:ea typeface="ＭＳ ゴシック" panose="020B0609070205080204" pitchFamily="49" charset="-128"/>
              </a:rPr>
              <a:t>　</a:t>
            </a:r>
            <a:r>
              <a:rPr lang="en-US" altLang="ja-JP" sz="2000">
                <a:ea typeface="ＭＳ ゴシック" panose="020B0609070205080204" pitchFamily="49" charset="-128"/>
              </a:rPr>
              <a:t>kiểu data</a:t>
            </a:r>
            <a:r>
              <a:rPr lang="ja-JP" altLang="en-US" sz="2000">
                <a:ea typeface="ＭＳ ゴシック" panose="020B0609070205080204" pitchFamily="49" charset="-128"/>
              </a:rPr>
              <a:t>　</a:t>
            </a:r>
            <a:r>
              <a:rPr lang="en-US" altLang="ja-JP" sz="2000">
                <a:ea typeface="ＭＳ ゴシック" panose="020B0609070205080204" pitchFamily="49" charset="-128"/>
              </a:rPr>
              <a:t>tên biến;</a:t>
            </a:r>
          </a:p>
        </p:txBody>
      </p:sp>
      <p:sp>
        <p:nvSpPr>
          <p:cNvPr id="407558" name="Rectangle 6">
            <a:extLst>
              <a:ext uri="{FF2B5EF4-FFF2-40B4-BE49-F238E27FC236}">
                <a16:creationId xmlns:a16="http://schemas.microsoft.com/office/drawing/2014/main" id="{85798EA1-405F-D669-9BD2-21E9CC45F82A}"/>
              </a:ext>
            </a:extLst>
          </p:cNvPr>
          <p:cNvSpPr>
            <a:spLocks noChangeArrowheads="1"/>
          </p:cNvSpPr>
          <p:nvPr/>
        </p:nvSpPr>
        <p:spPr bwMode="auto">
          <a:xfrm>
            <a:off x="344488" y="34544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407559" name="Rectangle 7">
            <a:extLst>
              <a:ext uri="{FF2B5EF4-FFF2-40B4-BE49-F238E27FC236}">
                <a16:creationId xmlns:a16="http://schemas.microsoft.com/office/drawing/2014/main" id="{CB4BE2C9-BC88-3E60-1D5E-89DB4755C600}"/>
              </a:ext>
            </a:extLst>
          </p:cNvPr>
          <p:cNvSpPr>
            <a:spLocks noChangeArrowheads="1"/>
          </p:cNvSpPr>
          <p:nvPr/>
        </p:nvSpPr>
        <p:spPr bwMode="auto">
          <a:xfrm>
            <a:off x="344488" y="3916363"/>
            <a:ext cx="9120187" cy="23812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public class Person {</a:t>
            </a:r>
          </a:p>
          <a:p>
            <a:pPr lvl="1"/>
            <a:r>
              <a:rPr lang="en-US" altLang="ja-JP" sz="1800" b="0">
                <a:latin typeface="ＭＳ ゴシック" panose="020B0609070205080204" pitchFamily="49" charset="-128"/>
                <a:ea typeface="ＭＳ ゴシック" panose="020B0609070205080204" pitchFamily="49" charset="-128"/>
              </a:rPr>
              <a:t>    // </a:t>
            </a:r>
            <a:r>
              <a:rPr lang="en-US" altLang="ja-JP" sz="1800" b="0">
                <a:latin typeface="Arial" panose="020B0604020202020204" pitchFamily="34" charset="0"/>
                <a:ea typeface="ＭＳ ゴシック" panose="020B0609070205080204" pitchFamily="49" charset="-128"/>
              </a:rPr>
              <a:t>Định nghĩa thuộc tính</a:t>
            </a:r>
          </a:p>
          <a:p>
            <a:pPr lvl="1"/>
            <a:r>
              <a:rPr lang="nb-NO" altLang="ja-JP" sz="1800">
                <a:solidFill>
                  <a:srgbClr val="0033CC"/>
                </a:solidFill>
                <a:latin typeface="ＭＳ ゴシック" panose="020B0609070205080204" pitchFamily="49" charset="-128"/>
                <a:ea typeface="ＭＳ ゴシック" panose="020B0609070205080204" pitchFamily="49" charset="-128"/>
              </a:rPr>
              <a:t>    private String lastName;    // </a:t>
            </a:r>
            <a:r>
              <a:rPr lang="nb-NO" altLang="ja-JP" sz="1800">
                <a:solidFill>
                  <a:srgbClr val="0033CC"/>
                </a:solidFill>
                <a:latin typeface="Arial" panose="020B0604020202020204" pitchFamily="34" charset="0"/>
                <a:ea typeface="ＭＳ ゴシック" panose="020B0609070205080204" pitchFamily="49" charset="-128"/>
              </a:rPr>
              <a:t>Họ</a:t>
            </a:r>
            <a:endParaRPr lang="ja-JP" altLang="nb-NO" sz="1800">
              <a:solidFill>
                <a:srgbClr val="0033CC"/>
              </a:solidFill>
              <a:latin typeface="Arial" panose="020B0604020202020204" pitchFamily="34" charset="0"/>
              <a:ea typeface="ＭＳ ゴシック" panose="020B0609070205080204" pitchFamily="49" charset="-128"/>
            </a:endParaRPr>
          </a:p>
          <a:p>
            <a:pPr lvl="1"/>
            <a:r>
              <a:rPr lang="nb-NO" altLang="ja-JP" sz="1800">
                <a:solidFill>
                  <a:srgbClr val="0033CC"/>
                </a:solidFill>
                <a:latin typeface="ＭＳ ゴシック" panose="020B0609070205080204" pitchFamily="49" charset="-128"/>
                <a:ea typeface="ＭＳ ゴシック" panose="020B0609070205080204" pitchFamily="49" charset="-128"/>
              </a:rPr>
              <a:t>    private String firstName;   // </a:t>
            </a:r>
            <a:r>
              <a:rPr lang="nb-NO" altLang="ja-JP" sz="1800">
                <a:solidFill>
                  <a:srgbClr val="0033CC"/>
                </a:solidFill>
                <a:latin typeface="Arial" panose="020B0604020202020204" pitchFamily="34" charset="0"/>
                <a:ea typeface="ＭＳ ゴシック" panose="020B0609070205080204" pitchFamily="49" charset="-128"/>
              </a:rPr>
              <a:t>Tên</a:t>
            </a:r>
            <a:endParaRPr lang="ja-JP" altLang="nb-NO" sz="1800">
              <a:solidFill>
                <a:srgbClr val="0033CC"/>
              </a:solidFill>
              <a:latin typeface="Arial" panose="020B0604020202020204" pitchFamily="34" charset="0"/>
              <a:ea typeface="ＭＳ ゴシック" panose="020B0609070205080204" pitchFamily="49" charset="-128"/>
            </a:endParaRPr>
          </a:p>
          <a:p>
            <a:pPr lvl="1"/>
            <a:r>
              <a:rPr lang="nb-NO" altLang="ja-JP" sz="1800">
                <a:solidFill>
                  <a:srgbClr val="0033CC"/>
                </a:solidFill>
                <a:latin typeface="ＭＳ ゴシック" panose="020B0609070205080204" pitchFamily="49" charset="-128"/>
                <a:ea typeface="ＭＳ ゴシック" panose="020B0609070205080204" pitchFamily="49" charset="-128"/>
              </a:rPr>
              <a:t>    private int age;            // </a:t>
            </a:r>
            <a:r>
              <a:rPr lang="nb-NO" altLang="ja-JP" sz="1800">
                <a:solidFill>
                  <a:srgbClr val="0033CC"/>
                </a:solidFill>
                <a:latin typeface="Arial" panose="020B0604020202020204" pitchFamily="34" charset="0"/>
                <a:ea typeface="ＭＳ ゴシック" panose="020B0609070205080204" pitchFamily="49" charset="-128"/>
              </a:rPr>
              <a:t>Tuổi</a:t>
            </a:r>
            <a:endParaRPr lang="ja-JP" altLang="nb-NO" sz="1800">
              <a:solidFill>
                <a:srgbClr val="0033CC"/>
              </a:solidFill>
              <a:latin typeface="Arial" panose="020B0604020202020204" pitchFamily="34" charset="0"/>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    // </a:t>
            </a:r>
            <a:r>
              <a:rPr lang="en-US" altLang="ja-JP" sz="1800" b="0">
                <a:latin typeface="Arial" panose="020B0604020202020204" pitchFamily="34" charset="0"/>
                <a:ea typeface="ＭＳ ゴシック" panose="020B0609070205080204" pitchFamily="49" charset="-128"/>
              </a:rPr>
              <a:t>Định nghĩa method</a:t>
            </a:r>
          </a:p>
          <a:p>
            <a:pPr lvl="1"/>
            <a:r>
              <a:rPr lang="en-US" altLang="ja-JP" sz="1800" b="0">
                <a:latin typeface="ＭＳ ゴシック" panose="020B0609070205080204" pitchFamily="49" charset="-128"/>
                <a:ea typeface="ＭＳ ゴシック" panose="020B0609070205080204" pitchFamily="49" charset="-128"/>
              </a:rPr>
              <a:t>}</a:t>
            </a:r>
          </a:p>
        </p:txBody>
      </p:sp>
      <p:sp>
        <p:nvSpPr>
          <p:cNvPr id="407561" name="AutoShape 9">
            <a:extLst>
              <a:ext uri="{FF2B5EF4-FFF2-40B4-BE49-F238E27FC236}">
                <a16:creationId xmlns:a16="http://schemas.microsoft.com/office/drawing/2014/main" id="{42711C8E-E431-9302-D7DB-7F669EAB1EAF}"/>
              </a:ext>
            </a:extLst>
          </p:cNvPr>
          <p:cNvSpPr>
            <a:spLocks noChangeArrowheads="1"/>
          </p:cNvSpPr>
          <p:nvPr/>
        </p:nvSpPr>
        <p:spPr bwMode="auto">
          <a:xfrm>
            <a:off x="4230688" y="1090613"/>
            <a:ext cx="5233987" cy="617537"/>
          </a:xfrm>
          <a:prstGeom prst="wedgeRoundRectCallout">
            <a:avLst>
              <a:gd name="adj1" fmla="val -47421"/>
              <a:gd name="adj2" fmla="val 100130"/>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err="1">
                <a:latin typeface="+mj-lt"/>
              </a:rPr>
              <a:t>Nếu</a:t>
            </a:r>
            <a:r>
              <a:rPr lang="en-US" altLang="ja-JP" sz="1800" dirty="0">
                <a:latin typeface="+mj-lt"/>
              </a:rPr>
              <a:t> </a:t>
            </a:r>
            <a:r>
              <a:rPr lang="en-US" altLang="ja-JP" sz="1800" dirty="0" err="1">
                <a:latin typeface="+mj-lt"/>
              </a:rPr>
              <a:t>lược</a:t>
            </a:r>
            <a:r>
              <a:rPr lang="en-US" altLang="ja-JP" sz="1800" dirty="0">
                <a:latin typeface="+mj-lt"/>
              </a:rPr>
              <a:t> </a:t>
            </a:r>
            <a:r>
              <a:rPr lang="en-US" altLang="ja-JP" sz="1800" dirty="0" err="1">
                <a:latin typeface="+mj-lt"/>
              </a:rPr>
              <a:t>gia</a:t>
            </a:r>
            <a:r>
              <a:rPr lang="en-US" altLang="ja-JP" sz="1800" dirty="0">
                <a:latin typeface="+mj-lt"/>
              </a:rPr>
              <a:t>́ trị </a:t>
            </a:r>
            <a:r>
              <a:rPr lang="en-US" altLang="ja-JP" sz="1800" dirty="0" err="1">
                <a:latin typeface="+mj-lt"/>
              </a:rPr>
              <a:t>khởi</a:t>
            </a:r>
            <a:r>
              <a:rPr lang="en-US" altLang="ja-JP" sz="1800" dirty="0">
                <a:latin typeface="+mj-lt"/>
              </a:rPr>
              <a:t> </a:t>
            </a:r>
            <a:r>
              <a:rPr lang="en-US" altLang="ja-JP" sz="1800" dirty="0" err="1">
                <a:latin typeface="+mj-lt"/>
              </a:rPr>
              <a:t>tạo</a:t>
            </a:r>
            <a:r>
              <a:rPr lang="en-US" altLang="ja-JP" sz="1800" dirty="0">
                <a:latin typeface="+mj-lt"/>
              </a:rPr>
              <a:t> </a:t>
            </a:r>
            <a:r>
              <a:rPr lang="en-US" altLang="ja-JP" sz="1800" dirty="0" err="1">
                <a:latin typeface="+mj-lt"/>
              </a:rPr>
              <a:t>thi</a:t>
            </a:r>
            <a:r>
              <a:rPr lang="en-US" altLang="ja-JP" sz="1800" dirty="0">
                <a:latin typeface="+mj-lt"/>
              </a:rPr>
              <a:t>̀ sẽ </a:t>
            </a:r>
            <a:r>
              <a:rPr lang="en-US" altLang="ja-JP" sz="1800" dirty="0" err="1">
                <a:latin typeface="+mj-lt"/>
              </a:rPr>
              <a:t>trơ</a:t>
            </a:r>
            <a:r>
              <a:rPr lang="en-US" altLang="ja-JP" sz="1800" dirty="0">
                <a:latin typeface="+mj-lt"/>
              </a:rPr>
              <a:t>̉ </a:t>
            </a:r>
            <a:r>
              <a:rPr lang="en-US" altLang="ja-JP" sz="1800" dirty="0" err="1">
                <a:latin typeface="+mj-lt"/>
              </a:rPr>
              <a:t>thành</a:t>
            </a:r>
            <a:r>
              <a:rPr lang="en-US" altLang="ja-JP" sz="1800" dirty="0">
                <a:latin typeface="+mj-lt"/>
              </a:rPr>
              <a:t> </a:t>
            </a:r>
            <a:r>
              <a:rPr lang="en-US" altLang="ja-JP" sz="1800" dirty="0" err="1">
                <a:latin typeface="+mj-lt"/>
              </a:rPr>
              <a:t>gia</a:t>
            </a:r>
            <a:r>
              <a:rPr lang="en-US" altLang="ja-JP" sz="1800" dirty="0">
                <a:latin typeface="+mj-lt"/>
              </a:rPr>
              <a:t>́ trị default </a:t>
            </a:r>
            <a:r>
              <a:rPr lang="en-US" altLang="ja-JP" sz="1800" dirty="0" err="1">
                <a:latin typeface="+mj-lt"/>
              </a:rPr>
              <a:t>của</a:t>
            </a:r>
            <a:r>
              <a:rPr lang="en-US" altLang="ja-JP" sz="1800" dirty="0">
                <a:latin typeface="+mj-lt"/>
              </a:rPr>
              <a:t> </a:t>
            </a:r>
            <a:r>
              <a:rPr lang="en-US" altLang="ja-JP" sz="1800" dirty="0" err="1">
                <a:latin typeface="+mj-lt"/>
              </a:rPr>
              <a:t>kiểu</a:t>
            </a:r>
            <a:r>
              <a:rPr lang="en-US" altLang="ja-JP" sz="1800" dirty="0">
                <a:latin typeface="+mj-lt"/>
              </a:rPr>
              <a:t> data.</a:t>
            </a:r>
          </a:p>
        </p:txBody>
      </p:sp>
      <p:sp>
        <p:nvSpPr>
          <p:cNvPr id="407564" name="Text Box 12">
            <a:extLst>
              <a:ext uri="{FF2B5EF4-FFF2-40B4-BE49-F238E27FC236}">
                <a16:creationId xmlns:a16="http://schemas.microsoft.com/office/drawing/2014/main" id="{33EF7490-D77F-C0B2-53CC-AA506A2E9C9F}"/>
              </a:ext>
            </a:extLst>
          </p:cNvPr>
          <p:cNvSpPr txBox="1">
            <a:spLocks noChangeArrowheads="1"/>
          </p:cNvSpPr>
          <p:nvPr/>
        </p:nvSpPr>
        <p:spPr bwMode="auto">
          <a:xfrm>
            <a:off x="344488" y="2430463"/>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2000">
                <a:ea typeface="MS UI Gothic" panose="020B0600070205080204" pitchFamily="50" charset="-128"/>
              </a:rPr>
              <a:t>　</a:t>
            </a:r>
            <a:r>
              <a:rPr lang="en-US" altLang="ja-JP" sz="2000">
                <a:ea typeface="MS UI Gothic" panose="020B0600070205080204" pitchFamily="50" charset="-128"/>
              </a:rPr>
              <a:t>modifier</a:t>
            </a:r>
            <a:r>
              <a:rPr lang="ja-JP" altLang="en-US" sz="2000">
                <a:ea typeface="ＭＳ ゴシック" panose="020B0609070205080204" pitchFamily="49" charset="-128"/>
              </a:rPr>
              <a:t>　</a:t>
            </a:r>
            <a:r>
              <a:rPr lang="en-US" altLang="ja-JP" sz="2000">
                <a:ea typeface="ＭＳ ゴシック" panose="020B0609070205080204" pitchFamily="49" charset="-128"/>
              </a:rPr>
              <a:t>kiểu data</a:t>
            </a:r>
            <a:r>
              <a:rPr lang="ja-JP" altLang="en-US" sz="2000">
                <a:ea typeface="ＭＳ ゴシック" panose="020B0609070205080204" pitchFamily="49" charset="-128"/>
              </a:rPr>
              <a:t>　</a:t>
            </a:r>
            <a:r>
              <a:rPr lang="en-US" altLang="ja-JP" sz="2000">
                <a:ea typeface="ＭＳ ゴシック" panose="020B0609070205080204" pitchFamily="49" charset="-128"/>
              </a:rPr>
              <a:t>tên biến = giá trị khởi tạo;</a:t>
            </a:r>
          </a:p>
        </p:txBody>
      </p:sp>
      <p:sp>
        <p:nvSpPr>
          <p:cNvPr id="407566" name="AutoShape 14">
            <a:extLst>
              <a:ext uri="{FF2B5EF4-FFF2-40B4-BE49-F238E27FC236}">
                <a16:creationId xmlns:a16="http://schemas.microsoft.com/office/drawing/2014/main" id="{4CF4C5ED-D1F7-C6E9-195D-6FC2895C6780}"/>
              </a:ext>
            </a:extLst>
          </p:cNvPr>
          <p:cNvSpPr>
            <a:spLocks noChangeArrowheads="1"/>
          </p:cNvSpPr>
          <p:nvPr/>
        </p:nvSpPr>
        <p:spPr bwMode="auto">
          <a:xfrm>
            <a:off x="1206500" y="3195638"/>
            <a:ext cx="6245225" cy="566737"/>
          </a:xfrm>
          <a:prstGeom prst="wedgeRoundRectCallout">
            <a:avLst>
              <a:gd name="adj1" fmla="val -48755"/>
              <a:gd name="adj2" fmla="val -10770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dirty="0">
                <a:latin typeface="+mj-lt"/>
              </a:rPr>
              <a:t>Thông </a:t>
            </a:r>
            <a:r>
              <a:rPr lang="en-US" altLang="ja-JP" sz="1800" dirty="0" err="1">
                <a:latin typeface="+mj-lt"/>
              </a:rPr>
              <a:t>thường</a:t>
            </a:r>
            <a:r>
              <a:rPr lang="en-US" altLang="ja-JP" sz="1800" dirty="0">
                <a:latin typeface="+mj-lt"/>
              </a:rPr>
              <a:t>, modifier </a:t>
            </a:r>
            <a:r>
              <a:rPr lang="en-US" altLang="ja-JP" sz="1800" dirty="0" err="1">
                <a:latin typeface="+mj-lt"/>
              </a:rPr>
              <a:t>của</a:t>
            </a:r>
            <a:r>
              <a:rPr lang="en-US" altLang="ja-JP" sz="1800" dirty="0">
                <a:latin typeface="+mj-lt"/>
              </a:rPr>
              <a:t> </a:t>
            </a:r>
            <a:r>
              <a:rPr lang="en-US" altLang="ja-JP" sz="1800" dirty="0" err="1">
                <a:latin typeface="+mj-lt"/>
              </a:rPr>
              <a:t>biến</a:t>
            </a:r>
            <a:r>
              <a:rPr lang="en-US" altLang="ja-JP" sz="1800" dirty="0">
                <a:latin typeface="+mj-lt"/>
              </a:rPr>
              <a:t> instance sẽ là private </a:t>
            </a:r>
            <a:r>
              <a:rPr lang="ja-JP" altLang="en-US" sz="1800" dirty="0">
                <a:latin typeface="+mj-lt"/>
              </a:rPr>
              <a:t>（</a:t>
            </a:r>
            <a:r>
              <a:rPr lang="en-US" altLang="ja-JP" sz="1800" dirty="0" err="1">
                <a:latin typeface="+mj-lt"/>
              </a:rPr>
              <a:t>không</a:t>
            </a:r>
            <a:r>
              <a:rPr lang="en-US" altLang="ja-JP" sz="1800" dirty="0">
                <a:latin typeface="+mj-lt"/>
              </a:rPr>
              <a:t> </a:t>
            </a:r>
            <a:r>
              <a:rPr lang="en-US" altLang="ja-JP" sz="1800" dirty="0" err="1">
                <a:latin typeface="+mj-lt"/>
              </a:rPr>
              <a:t>công</a:t>
            </a:r>
            <a:r>
              <a:rPr lang="en-US" altLang="ja-JP" sz="1800" dirty="0">
                <a:latin typeface="+mj-lt"/>
              </a:rPr>
              <a:t> </a:t>
            </a:r>
            <a:r>
              <a:rPr lang="en-US" altLang="ja-JP" sz="1800" dirty="0" err="1">
                <a:latin typeface="+mj-lt"/>
              </a:rPr>
              <a:t>khai</a:t>
            </a:r>
            <a:r>
              <a:rPr lang="en-US" altLang="ja-JP" sz="1800" dirty="0">
                <a:latin typeface="+mj-lt"/>
              </a:rPr>
              <a:t> </a:t>
            </a:r>
            <a:r>
              <a:rPr lang="en-US" altLang="ja-JP" sz="1800" dirty="0" err="1">
                <a:latin typeface="+mj-lt"/>
              </a:rPr>
              <a:t>ra</a:t>
            </a:r>
            <a:r>
              <a:rPr lang="en-US" altLang="ja-JP" sz="1800" dirty="0">
                <a:latin typeface="+mj-lt"/>
              </a:rPr>
              <a:t> </a:t>
            </a:r>
            <a:r>
              <a:rPr lang="en-US" altLang="ja-JP" sz="1800" dirty="0" err="1">
                <a:latin typeface="+mj-lt"/>
              </a:rPr>
              <a:t>bên</a:t>
            </a:r>
            <a:r>
              <a:rPr lang="en-US" altLang="ja-JP" sz="1800" dirty="0">
                <a:latin typeface="+mj-lt"/>
              </a:rPr>
              <a:t> </a:t>
            </a:r>
            <a:r>
              <a:rPr lang="en-US" altLang="ja-JP" sz="1800" dirty="0" err="1">
                <a:latin typeface="+mj-lt"/>
              </a:rPr>
              <a:t>ngoài</a:t>
            </a:r>
            <a:r>
              <a:rPr lang="ja-JP" altLang="en-US" sz="1800" dirty="0">
                <a:latin typeface="+mj-lt"/>
              </a:rPr>
              <a:t>）</a:t>
            </a:r>
          </a:p>
        </p:txBody>
      </p:sp>
      <p:sp>
        <p:nvSpPr>
          <p:cNvPr id="407567" name="Rectangle 15">
            <a:extLst>
              <a:ext uri="{FF2B5EF4-FFF2-40B4-BE49-F238E27FC236}">
                <a16:creationId xmlns:a16="http://schemas.microsoft.com/office/drawing/2014/main" id="{A7AB040C-3383-2E42-0EE0-4D68D1DCA31A}"/>
              </a:ext>
            </a:extLst>
          </p:cNvPr>
          <p:cNvSpPr>
            <a:spLocks noChangeArrowheads="1"/>
          </p:cNvSpPr>
          <p:nvPr/>
        </p:nvSpPr>
        <p:spPr bwMode="auto">
          <a:xfrm>
            <a:off x="817563" y="4578350"/>
            <a:ext cx="4768850" cy="9001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407568" name="Rectangle 16">
            <a:extLst>
              <a:ext uri="{FF2B5EF4-FFF2-40B4-BE49-F238E27FC236}">
                <a16:creationId xmlns:a16="http://schemas.microsoft.com/office/drawing/2014/main" id="{6BD937E5-49D8-25DF-5949-806DD8A574F6}"/>
              </a:ext>
            </a:extLst>
          </p:cNvPr>
          <p:cNvSpPr>
            <a:spLocks noChangeArrowheads="1"/>
          </p:cNvSpPr>
          <p:nvPr/>
        </p:nvSpPr>
        <p:spPr bwMode="auto">
          <a:xfrm>
            <a:off x="6365875" y="4148138"/>
            <a:ext cx="2230438" cy="176530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b="0" dirty="0" err="1">
                <a:latin typeface="+mj-lt"/>
                <a:ea typeface="MS UI Gothic" panose="020B0600070205080204" pitchFamily="50" charset="-128"/>
              </a:rPr>
              <a:t>Nếu</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lược</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gia</a:t>
            </a:r>
            <a:r>
              <a:rPr lang="en-US" altLang="ja-JP" sz="1800" b="0" dirty="0">
                <a:latin typeface="+mj-lt"/>
                <a:ea typeface="MS UI Gothic" panose="020B0600070205080204" pitchFamily="50" charset="-128"/>
              </a:rPr>
              <a:t>́ trị </a:t>
            </a:r>
            <a:r>
              <a:rPr lang="en-US" altLang="ja-JP" sz="1800" b="0" dirty="0" err="1">
                <a:latin typeface="+mj-lt"/>
                <a:ea typeface="MS UI Gothic" panose="020B0600070205080204" pitchFamily="50" charset="-128"/>
              </a:rPr>
              <a:t>khởi</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tạo</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đi</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thi</a:t>
            </a:r>
            <a:r>
              <a:rPr lang="en-US" altLang="ja-JP" sz="1800" b="0" dirty="0">
                <a:latin typeface="+mj-lt"/>
                <a:ea typeface="MS UI Gothic" panose="020B0600070205080204" pitchFamily="50" charset="-128"/>
              </a:rPr>
              <a:t>̀ </a:t>
            </a:r>
          </a:p>
          <a:p>
            <a:pPr marL="285750" indent="-285750">
              <a:buFont typeface="Arial" panose="020B0604020202020204" pitchFamily="34" charset="0"/>
              <a:buChar char="•"/>
            </a:pPr>
            <a:r>
              <a:rPr lang="en-US" altLang="ja-JP" sz="1800" b="0" dirty="0" err="1">
                <a:latin typeface="+mj-lt"/>
                <a:ea typeface="MS UI Gothic" panose="020B0600070205080204" pitchFamily="50" charset="-128"/>
              </a:rPr>
              <a:t>Trường</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hợp</a:t>
            </a:r>
            <a:r>
              <a:rPr lang="en-US" altLang="ja-JP" sz="1800" b="0" dirty="0">
                <a:latin typeface="+mj-lt"/>
                <a:ea typeface="MS UI Gothic" panose="020B0600070205080204" pitchFamily="50" charset="-128"/>
              </a:rPr>
              <a:t> là </a:t>
            </a:r>
            <a:r>
              <a:rPr lang="en-US" altLang="ja-JP" sz="1800" b="0" dirty="0" err="1">
                <a:latin typeface="+mj-lt"/>
                <a:ea typeface="MS UI Gothic" panose="020B0600070205080204" pitchFamily="50" charset="-128"/>
              </a:rPr>
              <a:t>kiểu</a:t>
            </a:r>
            <a:r>
              <a:rPr lang="en-US" altLang="ja-JP" sz="1800" b="0" dirty="0">
                <a:latin typeface="+mj-lt"/>
                <a:ea typeface="MS UI Gothic" panose="020B0600070205080204" pitchFamily="50" charset="-128"/>
              </a:rPr>
              <a:t> String</a:t>
            </a:r>
            <a:r>
              <a:rPr lang="ja-JP" altLang="en-US" sz="1800" b="0" dirty="0">
                <a:latin typeface="+mj-lt"/>
                <a:ea typeface="MS UI Gothic" panose="020B0600070205080204" pitchFamily="50" charset="-128"/>
              </a:rPr>
              <a:t>：</a:t>
            </a:r>
            <a:r>
              <a:rPr lang="en-US" altLang="ja-JP" sz="1800" b="0" dirty="0">
                <a:latin typeface="+mj-lt"/>
                <a:ea typeface="MS UI Gothic" panose="020B0600070205080204" pitchFamily="50" charset="-128"/>
              </a:rPr>
              <a:t>null</a:t>
            </a:r>
          </a:p>
          <a:p>
            <a:pPr marL="285750" indent="-285750">
              <a:buFont typeface="Arial" panose="020B0604020202020204" pitchFamily="34" charset="0"/>
              <a:buChar char="•"/>
            </a:pPr>
            <a:r>
              <a:rPr lang="en-US" altLang="ja-JP" sz="1800" b="0" dirty="0" err="1">
                <a:latin typeface="+mj-lt"/>
                <a:ea typeface="MS UI Gothic" panose="020B0600070205080204" pitchFamily="50" charset="-128"/>
              </a:rPr>
              <a:t>Trường</a:t>
            </a:r>
            <a:r>
              <a:rPr lang="en-US" altLang="ja-JP" sz="1800" b="0" dirty="0">
                <a:latin typeface="+mj-lt"/>
                <a:ea typeface="MS UI Gothic" panose="020B0600070205080204" pitchFamily="50" charset="-128"/>
              </a:rPr>
              <a:t> </a:t>
            </a:r>
            <a:r>
              <a:rPr lang="en-US" altLang="ja-JP" sz="1800" b="0" dirty="0" err="1">
                <a:latin typeface="+mj-lt"/>
                <a:ea typeface="MS UI Gothic" panose="020B0600070205080204" pitchFamily="50" charset="-128"/>
              </a:rPr>
              <a:t>hợp</a:t>
            </a:r>
            <a:r>
              <a:rPr lang="en-US" altLang="ja-JP" sz="1800" b="0" dirty="0">
                <a:latin typeface="+mj-lt"/>
                <a:ea typeface="MS UI Gothic" panose="020B0600070205080204" pitchFamily="50" charset="-128"/>
              </a:rPr>
              <a:t> là </a:t>
            </a:r>
            <a:r>
              <a:rPr lang="en-US" altLang="ja-JP" sz="1800" b="0" dirty="0" err="1">
                <a:latin typeface="+mj-lt"/>
                <a:ea typeface="MS UI Gothic" panose="020B0600070205080204" pitchFamily="50" charset="-128"/>
              </a:rPr>
              <a:t>kiểu</a:t>
            </a:r>
            <a:r>
              <a:rPr lang="en-US" altLang="ja-JP" sz="1800" b="0" dirty="0">
                <a:latin typeface="+mj-lt"/>
                <a:ea typeface="MS UI Gothic" panose="020B0600070205080204" pitchFamily="50" charset="-128"/>
              </a:rPr>
              <a:t> int</a:t>
            </a:r>
            <a:r>
              <a:rPr lang="ja-JP" altLang="en-US" sz="1800" b="0" dirty="0">
                <a:latin typeface="+mj-lt"/>
                <a:ea typeface="MS UI Gothic" panose="020B0600070205080204" pitchFamily="50" charset="-128"/>
              </a:rPr>
              <a:t>：</a:t>
            </a:r>
            <a:r>
              <a:rPr lang="en-US" altLang="ja-JP" sz="1800" b="0" dirty="0">
                <a:latin typeface="+mj-lt"/>
                <a:ea typeface="MS UI Gothic" panose="020B0600070205080204" pitchFamily="50" charset="-128"/>
              </a:rPr>
              <a:t>0</a:t>
            </a:r>
          </a:p>
        </p:txBody>
      </p:sp>
      <p:cxnSp>
        <p:nvCxnSpPr>
          <p:cNvPr id="407569" name="AutoShape 17">
            <a:extLst>
              <a:ext uri="{FF2B5EF4-FFF2-40B4-BE49-F238E27FC236}">
                <a16:creationId xmlns:a16="http://schemas.microsoft.com/office/drawing/2014/main" id="{F3A403C7-AB77-240F-D732-6234EB92019A}"/>
              </a:ext>
            </a:extLst>
          </p:cNvPr>
          <p:cNvCxnSpPr>
            <a:cxnSpLocks noChangeShapeType="1"/>
            <a:stCxn id="407567" idx="3"/>
            <a:endCxn id="407568" idx="1"/>
          </p:cNvCxnSpPr>
          <p:nvPr/>
        </p:nvCxnSpPr>
        <p:spPr bwMode="auto">
          <a:xfrm>
            <a:off x="5599113" y="5029200"/>
            <a:ext cx="754062" cy="1588"/>
          </a:xfrm>
          <a:prstGeom prst="straightConnector1">
            <a:avLst/>
          </a:prstGeom>
          <a:noFill/>
          <a:ln w="2540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968F89A7-F56F-C1AC-BE02-74A979F7FECA}"/>
              </a:ext>
            </a:extLst>
          </p:cNvPr>
          <p:cNvSpPr>
            <a:spLocks noGrp="1"/>
          </p:cNvSpPr>
          <p:nvPr>
            <p:ph type="sldNum" sz="quarter" idx="10"/>
          </p:nvPr>
        </p:nvSpPr>
        <p:spPr/>
        <p:txBody>
          <a:bodyPr/>
          <a:lstStyle/>
          <a:p>
            <a:fld id="{30EBCACB-2A7F-4EA0-AC15-DF7083B8368C}" type="slidenum">
              <a:rPr lang="en-US" altLang="ja-JP"/>
              <a:pPr/>
              <a:t>4</a:t>
            </a:fld>
            <a:endParaRPr lang="en-US" altLang="ja-JP"/>
          </a:p>
        </p:txBody>
      </p:sp>
      <p:sp>
        <p:nvSpPr>
          <p:cNvPr id="411653" name="Rectangle 5">
            <a:extLst>
              <a:ext uri="{FF2B5EF4-FFF2-40B4-BE49-F238E27FC236}">
                <a16:creationId xmlns:a16="http://schemas.microsoft.com/office/drawing/2014/main" id="{038C37BE-E194-1346-7A6E-950479536B6D}"/>
              </a:ext>
            </a:extLst>
          </p:cNvPr>
          <p:cNvSpPr>
            <a:spLocks noGrp="1" noChangeArrowheads="1"/>
          </p:cNvSpPr>
          <p:nvPr>
            <p:ph type="body" sz="half" idx="1"/>
          </p:nvPr>
        </p:nvSpPr>
        <p:spPr/>
        <p:txBody>
          <a:bodyPr/>
          <a:lstStyle/>
          <a:p>
            <a:endParaRPr lang="ja-JP" altLang="ja-JP" sz="1800"/>
          </a:p>
        </p:txBody>
      </p:sp>
      <p:sp>
        <p:nvSpPr>
          <p:cNvPr id="411654" name="Rectangle 6">
            <a:extLst>
              <a:ext uri="{FF2B5EF4-FFF2-40B4-BE49-F238E27FC236}">
                <a16:creationId xmlns:a16="http://schemas.microsoft.com/office/drawing/2014/main" id="{70FCF96E-A498-AC32-C568-E3BD8CD6EFCF}"/>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4A34D48-5F48-9CFA-10C1-4A4A0DBFD850}"/>
              </a:ext>
            </a:extLst>
          </p:cNvPr>
          <p:cNvSpPr>
            <a:spLocks noGrp="1"/>
          </p:cNvSpPr>
          <p:nvPr>
            <p:ph type="sldNum" sz="quarter" idx="10"/>
          </p:nvPr>
        </p:nvSpPr>
        <p:spPr/>
        <p:txBody>
          <a:bodyPr/>
          <a:lstStyle/>
          <a:p>
            <a:fld id="{FAF6A694-95A4-4880-9851-0194F868685C}" type="slidenum">
              <a:rPr lang="en-US" altLang="ja-JP"/>
              <a:pPr/>
              <a:t>5</a:t>
            </a:fld>
            <a:endParaRPr lang="en-US" altLang="ja-JP"/>
          </a:p>
        </p:txBody>
      </p:sp>
      <p:sp>
        <p:nvSpPr>
          <p:cNvPr id="514050" name="Rectangle 2">
            <a:extLst>
              <a:ext uri="{FF2B5EF4-FFF2-40B4-BE49-F238E27FC236}">
                <a16:creationId xmlns:a16="http://schemas.microsoft.com/office/drawing/2014/main" id="{2E606442-729F-36D1-96C4-B38DEF62D0D5}"/>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14051" name="Rectangle 3">
            <a:extLst>
              <a:ext uri="{FF2B5EF4-FFF2-40B4-BE49-F238E27FC236}">
                <a16:creationId xmlns:a16="http://schemas.microsoft.com/office/drawing/2014/main" id="{91D2AF07-5F17-768E-B257-EA1E91FE19E4}"/>
              </a:ext>
            </a:extLst>
          </p:cNvPr>
          <p:cNvSpPr>
            <a:spLocks noGrp="1" noChangeArrowheads="1"/>
          </p:cNvSpPr>
          <p:nvPr>
            <p:ph type="body" sz="half" idx="1"/>
          </p:nvPr>
        </p:nvSpPr>
        <p:spPr/>
        <p:txBody>
          <a:bodyPr/>
          <a:lstStyle/>
          <a:p>
            <a:endParaRPr lang="ja-JP" altLang="ja-JP" sz="1800"/>
          </a:p>
        </p:txBody>
      </p:sp>
      <p:sp>
        <p:nvSpPr>
          <p:cNvPr id="514052" name="Rectangle 4">
            <a:extLst>
              <a:ext uri="{FF2B5EF4-FFF2-40B4-BE49-F238E27FC236}">
                <a16:creationId xmlns:a16="http://schemas.microsoft.com/office/drawing/2014/main" id="{200494C9-4DC1-9744-9172-E9691262BF44}"/>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8606FA9-9E13-2BFB-615C-75F43C3C2759}"/>
              </a:ext>
            </a:extLst>
          </p:cNvPr>
          <p:cNvSpPr>
            <a:spLocks noGrp="1"/>
          </p:cNvSpPr>
          <p:nvPr>
            <p:ph type="sldNum" sz="quarter" idx="10"/>
          </p:nvPr>
        </p:nvSpPr>
        <p:spPr/>
        <p:txBody>
          <a:bodyPr/>
          <a:lstStyle/>
          <a:p>
            <a:fld id="{B0D2B8BF-51FE-4EE0-8443-BEF2094AC2B6}" type="slidenum">
              <a:rPr lang="en-US" altLang="ja-JP"/>
              <a:pPr/>
              <a:t>6</a:t>
            </a:fld>
            <a:endParaRPr lang="en-US" altLang="ja-JP"/>
          </a:p>
        </p:txBody>
      </p:sp>
      <p:sp>
        <p:nvSpPr>
          <p:cNvPr id="534530" name="Rectangle 2">
            <a:extLst>
              <a:ext uri="{FF2B5EF4-FFF2-40B4-BE49-F238E27FC236}">
                <a16:creationId xmlns:a16="http://schemas.microsoft.com/office/drawing/2014/main" id="{815A21C4-B3B4-A48F-6DF8-20D4EDA45AF3}"/>
              </a:ext>
            </a:extLst>
          </p:cNvPr>
          <p:cNvSpPr>
            <a:spLocks noGrp="1" noChangeArrowheads="1"/>
          </p:cNvSpPr>
          <p:nvPr>
            <p:ph type="title"/>
          </p:nvPr>
        </p:nvSpPr>
        <p:spPr/>
        <p:txBody>
          <a:bodyPr>
            <a:normAutofit fontScale="90000"/>
          </a:bodyPr>
          <a:lstStyle/>
          <a:p>
            <a:r>
              <a:rPr lang="en-US" altLang="ja-JP">
                <a:latin typeface="Arial" panose="020B0604020202020204" pitchFamily="34" charset="0"/>
                <a:ea typeface="MS UI Gothic" panose="020B0600070205080204" pitchFamily="50" charset="-128"/>
              </a:rPr>
              <a:t>2.3</a:t>
            </a:r>
            <a:r>
              <a:rPr lang="ja-JP" altLang="en-US">
                <a:latin typeface="Arial" panose="020B0604020202020204" pitchFamily="34" charset="0"/>
                <a:ea typeface="MS UI Gothic" panose="020B0600070205080204" pitchFamily="50" charset="-128"/>
              </a:rPr>
              <a:t>　</a:t>
            </a:r>
            <a:r>
              <a:rPr lang="en-US" altLang="ja-JP">
                <a:latin typeface="Arial" panose="020B0604020202020204" pitchFamily="34" charset="0"/>
                <a:ea typeface="MS UI Gothic" panose="020B0600070205080204" pitchFamily="50" charset="-128"/>
              </a:rPr>
              <a:t>Định nghĩa method (1)</a:t>
            </a:r>
          </a:p>
        </p:txBody>
      </p:sp>
      <p:sp>
        <p:nvSpPr>
          <p:cNvPr id="534531" name="Rectangle 3">
            <a:extLst>
              <a:ext uri="{FF2B5EF4-FFF2-40B4-BE49-F238E27FC236}">
                <a16:creationId xmlns:a16="http://schemas.microsoft.com/office/drawing/2014/main" id="{1D6F387A-1C67-7B51-B380-2F4ED927A110}"/>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34532" name="Rectangle 4">
            <a:extLst>
              <a:ext uri="{FF2B5EF4-FFF2-40B4-BE49-F238E27FC236}">
                <a16:creationId xmlns:a16="http://schemas.microsoft.com/office/drawing/2014/main" id="{E6C6F06F-6E2F-F2FA-8E9E-8EC49BA32E40}"/>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Định nghĩa method không có giá trị trả về</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34533" name="Text Box 5">
            <a:extLst>
              <a:ext uri="{FF2B5EF4-FFF2-40B4-BE49-F238E27FC236}">
                <a16:creationId xmlns:a16="http://schemas.microsoft.com/office/drawing/2014/main" id="{AEE71966-00AA-DB9D-2DE5-0AF49D16FDA3}"/>
              </a:ext>
            </a:extLst>
          </p:cNvPr>
          <p:cNvSpPr txBox="1">
            <a:spLocks noChangeArrowheads="1"/>
          </p:cNvSpPr>
          <p:nvPr/>
        </p:nvSpPr>
        <p:spPr bwMode="auto">
          <a:xfrm>
            <a:off x="344488" y="1751013"/>
            <a:ext cx="9120187" cy="120650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2000">
                <a:ea typeface="MS UI Gothic" panose="020B0600070205080204" pitchFamily="50" charset="-128"/>
              </a:rPr>
              <a:t>　</a:t>
            </a:r>
            <a:r>
              <a:rPr lang="en-US" altLang="ja-JP" sz="2000">
                <a:ea typeface="MS UI Gothic" panose="020B0600070205080204" pitchFamily="50" charset="-128"/>
              </a:rPr>
              <a:t>modifier</a:t>
            </a:r>
            <a:r>
              <a:rPr lang="ja-JP" altLang="en-US" sz="2000">
                <a:ea typeface="ＭＳ ゴシック" panose="020B0609070205080204" pitchFamily="49" charset="-128"/>
              </a:rPr>
              <a:t>　</a:t>
            </a:r>
            <a:r>
              <a:rPr lang="en-US" altLang="ja-JP" sz="2000">
                <a:ea typeface="ＭＳ ゴシック" panose="020B0609070205080204" pitchFamily="49" charset="-128"/>
              </a:rPr>
              <a:t>void</a:t>
            </a:r>
            <a:r>
              <a:rPr lang="ja-JP" altLang="en-US" sz="2000">
                <a:ea typeface="ＭＳ ゴシック" panose="020B0609070205080204" pitchFamily="49" charset="-128"/>
              </a:rPr>
              <a:t>　</a:t>
            </a:r>
            <a:r>
              <a:rPr lang="en-US" altLang="ja-JP" sz="2000">
                <a:ea typeface="ＭＳ ゴシック" panose="020B0609070205080204" pitchFamily="49" charset="-128"/>
              </a:rPr>
              <a:t>tên method(kiểu data</a:t>
            </a:r>
            <a:r>
              <a:rPr lang="ja-JP" altLang="en-US" sz="2000">
                <a:ea typeface="ＭＳ ゴシック" panose="020B0609070205080204" pitchFamily="49" charset="-128"/>
              </a:rPr>
              <a:t>　</a:t>
            </a:r>
            <a:r>
              <a:rPr lang="en-US" altLang="ja-JP" sz="2000">
                <a:ea typeface="ＭＳ ゴシック" panose="020B0609070205080204" pitchFamily="49" charset="-128"/>
              </a:rPr>
              <a:t>đối số</a:t>
            </a:r>
            <a:r>
              <a:rPr lang="ja-JP" altLang="en-US" sz="2000">
                <a:ea typeface="MS UI Gothic" panose="020B0600070205080204" pitchFamily="50" charset="-128"/>
              </a:rPr>
              <a:t>１</a:t>
            </a:r>
            <a:r>
              <a:rPr lang="en-US" altLang="ja-JP" sz="2000">
                <a:ea typeface="ＭＳ ゴシック" panose="020B0609070205080204" pitchFamily="49" charset="-128"/>
              </a:rPr>
              <a:t>, </a:t>
            </a:r>
            <a:r>
              <a:rPr lang="en-US" altLang="ja-JP" sz="2000">
                <a:ea typeface="MS UI Gothic" panose="020B0600070205080204" pitchFamily="50" charset="-128"/>
              </a:rPr>
              <a:t>…</a:t>
            </a:r>
            <a:r>
              <a:rPr lang="ja-JP" altLang="en-US" sz="2000">
                <a:ea typeface="MS UI Gothic" panose="020B0600070205080204" pitchFamily="50" charset="-128"/>
              </a:rPr>
              <a:t>　</a:t>
            </a:r>
            <a:r>
              <a:rPr lang="en-US" altLang="ja-JP" sz="2000">
                <a:ea typeface="ＭＳ ゴシック" panose="020B0609070205080204" pitchFamily="49" charset="-128"/>
              </a:rPr>
              <a:t>) {</a:t>
            </a:r>
          </a:p>
          <a:p>
            <a:pPr lvl="1" algn="just">
              <a:lnSpc>
                <a:spcPct val="112000"/>
              </a:lnSpc>
            </a:pPr>
            <a:r>
              <a:rPr lang="ja-JP" altLang="en-US" sz="2000">
                <a:ea typeface="MS UI Gothic" panose="020B0600070205080204" pitchFamily="50" charset="-128"/>
              </a:rPr>
              <a:t>　　　　　　</a:t>
            </a:r>
            <a:r>
              <a:rPr lang="en-US" altLang="ja-JP" sz="2000">
                <a:ea typeface="ＭＳ ゴシック" panose="020B0609070205080204" pitchFamily="49" charset="-128"/>
              </a:rPr>
              <a:t>// </a:t>
            </a:r>
            <a:r>
              <a:rPr lang="en-US" altLang="ja-JP" sz="2000">
                <a:ea typeface="MS UI Gothic" panose="020B0600070205080204" pitchFamily="50" charset="-128"/>
              </a:rPr>
              <a:t>Xử lý</a:t>
            </a:r>
          </a:p>
          <a:p>
            <a:pPr lvl="1" algn="just">
              <a:lnSpc>
                <a:spcPct val="112000"/>
              </a:lnSpc>
            </a:pPr>
            <a:r>
              <a:rPr lang="ja-JP" altLang="en-US" sz="2000">
                <a:ea typeface="MS UI Gothic" panose="020B0600070205080204" pitchFamily="50" charset="-128"/>
              </a:rPr>
              <a:t>　</a:t>
            </a:r>
            <a:r>
              <a:rPr lang="en-US" altLang="ja-JP" sz="2000">
                <a:ea typeface="ＭＳ ゴシック" panose="020B0609070205080204" pitchFamily="49" charset="-128"/>
              </a:rPr>
              <a:t>}</a:t>
            </a:r>
          </a:p>
        </p:txBody>
      </p:sp>
      <p:sp>
        <p:nvSpPr>
          <p:cNvPr id="534534" name="Rectangle 6">
            <a:extLst>
              <a:ext uri="{FF2B5EF4-FFF2-40B4-BE49-F238E27FC236}">
                <a16:creationId xmlns:a16="http://schemas.microsoft.com/office/drawing/2014/main" id="{48FBCCF6-0ACF-2E0D-B828-EADF9B5DF43D}"/>
              </a:ext>
            </a:extLst>
          </p:cNvPr>
          <p:cNvSpPr>
            <a:spLocks noChangeArrowheads="1"/>
          </p:cNvSpPr>
          <p:nvPr/>
        </p:nvSpPr>
        <p:spPr bwMode="auto">
          <a:xfrm>
            <a:off x="344488" y="31607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534535" name="Rectangle 7">
            <a:extLst>
              <a:ext uri="{FF2B5EF4-FFF2-40B4-BE49-F238E27FC236}">
                <a16:creationId xmlns:a16="http://schemas.microsoft.com/office/drawing/2014/main" id="{229ECEC7-C3B8-39AC-9939-5BC71F12CCCE}"/>
              </a:ext>
            </a:extLst>
          </p:cNvPr>
          <p:cNvSpPr>
            <a:spLocks noChangeArrowheads="1"/>
          </p:cNvSpPr>
          <p:nvPr/>
        </p:nvSpPr>
        <p:spPr bwMode="auto">
          <a:xfrm>
            <a:off x="344488" y="3622675"/>
            <a:ext cx="9120187" cy="246856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18000" rIns="90000" bIns="18000"/>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public class Person {</a:t>
            </a:r>
          </a:p>
          <a:p>
            <a:pPr lvl="1"/>
            <a:r>
              <a:rPr lang="en-US" altLang="ja-JP" sz="1800" b="0">
                <a:latin typeface="ＭＳ ゴシック" panose="020B0609070205080204" pitchFamily="49" charset="-128"/>
                <a:ea typeface="ＭＳ ゴシック" panose="020B0609070205080204" pitchFamily="49" charset="-128"/>
              </a:rPr>
              <a:t>    // </a:t>
            </a:r>
            <a:r>
              <a:rPr lang="en-US" altLang="ja-JP" sz="1800" b="0">
                <a:latin typeface="Arial" panose="020B0604020202020204" pitchFamily="34" charset="0"/>
                <a:ea typeface="ＭＳ ゴシック" panose="020B0609070205080204" pitchFamily="49" charset="-128"/>
              </a:rPr>
              <a:t>Định nghĩa field</a:t>
            </a:r>
            <a:r>
              <a:rPr lang="ja-JP" altLang="en-US" sz="1800" b="0">
                <a:latin typeface="Arial" panose="020B0604020202020204" pitchFamily="34" charset="0"/>
                <a:ea typeface="ＭＳ ゴシック" panose="020B0609070205080204" pitchFamily="49" charset="-128"/>
              </a:rPr>
              <a:t>（</a:t>
            </a:r>
            <a:r>
              <a:rPr lang="en-US" altLang="ja-JP" sz="1800" b="0">
                <a:latin typeface="Arial" panose="020B0604020202020204" pitchFamily="34" charset="0"/>
                <a:ea typeface="ＭＳ ゴシック" panose="020B0609070205080204" pitchFamily="49" charset="-128"/>
              </a:rPr>
              <a:t>thuộc tính</a:t>
            </a:r>
            <a:r>
              <a:rPr lang="ja-JP" altLang="en-US" sz="1800" b="0">
                <a:latin typeface="ＭＳ ゴシック" panose="020B0609070205080204" pitchFamily="49" charset="-128"/>
                <a:ea typeface="ＭＳ ゴシック" panose="020B0609070205080204" pitchFamily="49" charset="-128"/>
              </a:rPr>
              <a:t>）</a:t>
            </a:r>
          </a:p>
          <a:p>
            <a:pPr lvl="1"/>
            <a:r>
              <a:rPr lang="ja-JP" altLang="en-US" sz="1800" b="0">
                <a:latin typeface="ＭＳ ゴシック" panose="020B0609070205080204" pitchFamily="49" charset="-128"/>
                <a:ea typeface="ＭＳ ゴシック" panose="020B0609070205080204" pitchFamily="49" charset="-128"/>
              </a:rPr>
              <a:t>    </a:t>
            </a:r>
            <a:r>
              <a:rPr lang="en-US" altLang="ja-JP" sz="1800" b="0">
                <a:latin typeface="ＭＳ ゴシック" panose="020B0609070205080204" pitchFamily="49" charset="-128"/>
                <a:ea typeface="ＭＳ ゴシック" panose="020B0609070205080204" pitchFamily="49" charset="-128"/>
              </a:rPr>
              <a:t>private String lastName;</a:t>
            </a:r>
          </a:p>
          <a:p>
            <a:pPr lvl="1"/>
            <a:r>
              <a:rPr lang="en-US" altLang="ja-JP" sz="1800" b="0">
                <a:latin typeface="ＭＳ ゴシック" panose="020B0609070205080204" pitchFamily="49" charset="-128"/>
                <a:ea typeface="ＭＳ ゴシック" panose="020B0609070205080204" pitchFamily="49" charset="-128"/>
              </a:rPr>
              <a:t>    // </a:t>
            </a:r>
            <a:r>
              <a:rPr lang="en-US" altLang="ja-JP" sz="1800" b="0">
                <a:latin typeface="Arial" panose="020B0604020202020204" pitchFamily="34" charset="0"/>
                <a:ea typeface="ＭＳ ゴシック" panose="020B0609070205080204" pitchFamily="49" charset="-128"/>
              </a:rPr>
              <a:t>Định nghĩa method</a:t>
            </a:r>
          </a:p>
          <a:p>
            <a:pPr lvl="1"/>
            <a:r>
              <a:rPr lang="en-US" altLang="ja-JP" sz="1800">
                <a:solidFill>
                  <a:srgbClr val="0000FF"/>
                </a:solidFill>
                <a:latin typeface="ＭＳ ゴシック" panose="020B0609070205080204" pitchFamily="49" charset="-128"/>
                <a:ea typeface="ＭＳ ゴシック" panose="020B0609070205080204" pitchFamily="49" charset="-128"/>
              </a:rPr>
              <a:t>    </a:t>
            </a:r>
            <a:r>
              <a:rPr lang="ja-JP" altLang="ja-JP" sz="1800">
                <a:solidFill>
                  <a:srgbClr val="0000FF"/>
                </a:solidFill>
                <a:latin typeface="ＭＳ ゴシック" panose="020B0609070205080204" pitchFamily="49" charset="-128"/>
                <a:ea typeface="ＭＳ ゴシック" panose="020B0609070205080204" pitchFamily="49" charset="-128"/>
              </a:rPr>
              <a:t>public void setLastName(String lname) {</a:t>
            </a:r>
          </a:p>
          <a:p>
            <a:pPr lvl="1"/>
            <a:r>
              <a:rPr lang="en-US" altLang="ja-JP" sz="1800">
                <a:solidFill>
                  <a:srgbClr val="0000FF"/>
                </a:solidFill>
                <a:latin typeface="ＭＳ ゴシック" panose="020B0609070205080204" pitchFamily="49" charset="-128"/>
                <a:ea typeface="ＭＳ ゴシック" panose="020B0609070205080204" pitchFamily="49" charset="-128"/>
              </a:rPr>
              <a:t>        </a:t>
            </a:r>
            <a:r>
              <a:rPr lang="ja-JP" altLang="ja-JP" sz="1800">
                <a:solidFill>
                  <a:srgbClr val="0000FF"/>
                </a:solidFill>
                <a:latin typeface="ＭＳ ゴシック" panose="020B0609070205080204" pitchFamily="49" charset="-128"/>
                <a:ea typeface="ＭＳ ゴシック" panose="020B0609070205080204" pitchFamily="49" charset="-128"/>
              </a:rPr>
              <a:t>lastName = lname;</a:t>
            </a:r>
          </a:p>
          <a:p>
            <a:pPr lvl="1"/>
            <a:r>
              <a:rPr lang="en-US" altLang="ja-JP" sz="1800">
                <a:solidFill>
                  <a:srgbClr val="0000FF"/>
                </a:solidFill>
                <a:latin typeface="ＭＳ ゴシック" panose="020B0609070205080204" pitchFamily="49" charset="-128"/>
                <a:ea typeface="ＭＳ ゴシック" panose="020B0609070205080204" pitchFamily="49" charset="-128"/>
              </a:rPr>
              <a:t>    </a:t>
            </a:r>
            <a:r>
              <a:rPr lang="ja-JP" altLang="ja-JP" sz="1800">
                <a:solidFill>
                  <a:srgbClr val="0000FF"/>
                </a:solidFill>
                <a:latin typeface="ＭＳ ゴシック" panose="020B0609070205080204" pitchFamily="49" charset="-128"/>
                <a:ea typeface="ＭＳ ゴシック" panose="020B0609070205080204" pitchFamily="49" charset="-128"/>
              </a:rPr>
              <a:t>}</a:t>
            </a:r>
            <a:endParaRPr lang="en-US" altLang="ja-JP" sz="1800">
              <a:solidFill>
                <a:srgbClr val="0000FF"/>
              </a:solidFill>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a:t>
            </a:r>
          </a:p>
        </p:txBody>
      </p:sp>
      <p:sp>
        <p:nvSpPr>
          <p:cNvPr id="534536" name="AutoShape 8">
            <a:extLst>
              <a:ext uri="{FF2B5EF4-FFF2-40B4-BE49-F238E27FC236}">
                <a16:creationId xmlns:a16="http://schemas.microsoft.com/office/drawing/2014/main" id="{F22D601C-E317-386A-9B00-EF25FACFEF6D}"/>
              </a:ext>
            </a:extLst>
          </p:cNvPr>
          <p:cNvSpPr>
            <a:spLocks noChangeArrowheads="1"/>
          </p:cNvSpPr>
          <p:nvPr/>
        </p:nvSpPr>
        <p:spPr bwMode="auto">
          <a:xfrm>
            <a:off x="4286250" y="1112838"/>
            <a:ext cx="5233988" cy="541337"/>
          </a:xfrm>
          <a:prstGeom prst="wedgeRoundRectCallout">
            <a:avLst>
              <a:gd name="adj1" fmla="val -80301"/>
              <a:gd name="adj2" fmla="val 9164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600"/>
              <a:t>Trường hợp không có giá trị trả về thìsẽ chỉ định </a:t>
            </a:r>
            <a:r>
              <a:rPr lang="ja-JP" altLang="ja-JP" sz="1600"/>
              <a:t>「void」</a:t>
            </a:r>
            <a:r>
              <a:rPr lang="ja-JP" altLang="en-US" sz="1600"/>
              <a:t> </a:t>
            </a:r>
            <a:r>
              <a:rPr lang="en-US" altLang="ja-JP" sz="1600"/>
              <a:t>cho </a:t>
            </a:r>
            <a:r>
              <a:rPr lang="ja-JP" altLang="ja-JP" sz="1600"/>
              <a:t>「</a:t>
            </a:r>
            <a:r>
              <a:rPr lang="en-US" altLang="ja-JP" sz="1600"/>
              <a:t>kiểu giá trị trả về</a:t>
            </a:r>
            <a:r>
              <a:rPr lang="ja-JP" altLang="ja-JP" sz="1600"/>
              <a:t>」</a:t>
            </a:r>
            <a:endParaRPr lang="ja-JP" altLang="en-US" sz="1600"/>
          </a:p>
        </p:txBody>
      </p:sp>
      <p:sp>
        <p:nvSpPr>
          <p:cNvPr id="534538" name="AutoShape 10">
            <a:extLst>
              <a:ext uri="{FF2B5EF4-FFF2-40B4-BE49-F238E27FC236}">
                <a16:creationId xmlns:a16="http://schemas.microsoft.com/office/drawing/2014/main" id="{C623ED17-1D55-37F6-E063-8B63243041FC}"/>
              </a:ext>
            </a:extLst>
          </p:cNvPr>
          <p:cNvSpPr>
            <a:spLocks noChangeArrowheads="1"/>
          </p:cNvSpPr>
          <p:nvPr/>
        </p:nvSpPr>
        <p:spPr bwMode="auto">
          <a:xfrm>
            <a:off x="4318000" y="3981450"/>
            <a:ext cx="4391025" cy="581025"/>
          </a:xfrm>
          <a:prstGeom prst="wedgeRoundRectCallout">
            <a:avLst>
              <a:gd name="adj1" fmla="val -86838"/>
              <a:gd name="adj2" fmla="val 110657"/>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Tên method thông thường sẽ dùng kí tự alphabet thường ở đầu</a:t>
            </a:r>
          </a:p>
        </p:txBody>
      </p:sp>
      <p:sp>
        <p:nvSpPr>
          <p:cNvPr id="534539" name="Rectangle 11">
            <a:extLst>
              <a:ext uri="{FF2B5EF4-FFF2-40B4-BE49-F238E27FC236}">
                <a16:creationId xmlns:a16="http://schemas.microsoft.com/office/drawing/2014/main" id="{ACAAE9FC-D335-8E21-C295-9F677F4FA9D1}"/>
              </a:ext>
            </a:extLst>
          </p:cNvPr>
          <p:cNvSpPr>
            <a:spLocks noChangeArrowheads="1"/>
          </p:cNvSpPr>
          <p:nvPr/>
        </p:nvSpPr>
        <p:spPr bwMode="auto">
          <a:xfrm>
            <a:off x="957263" y="4854575"/>
            <a:ext cx="4737100" cy="9509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34540" name="Rectangle 12">
            <a:extLst>
              <a:ext uri="{FF2B5EF4-FFF2-40B4-BE49-F238E27FC236}">
                <a16:creationId xmlns:a16="http://schemas.microsoft.com/office/drawing/2014/main" id="{D5427182-D7FD-61F2-333F-E7189FFA6BD5}"/>
              </a:ext>
            </a:extLst>
          </p:cNvPr>
          <p:cNvSpPr>
            <a:spLocks noChangeArrowheads="1"/>
          </p:cNvSpPr>
          <p:nvPr/>
        </p:nvSpPr>
        <p:spPr bwMode="auto">
          <a:xfrm>
            <a:off x="5957888" y="4865688"/>
            <a:ext cx="3389312" cy="941387"/>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b="0">
                <a:ea typeface="MS UI Gothic" panose="020B0600070205080204" pitchFamily="50" charset="-128"/>
              </a:rPr>
              <a:t>Set giá trị </a:t>
            </a:r>
            <a:r>
              <a:rPr lang="ja-JP" altLang="en-US" sz="1400" b="0">
                <a:ea typeface="MS UI Gothic" panose="020B0600070205080204" pitchFamily="50" charset="-128"/>
              </a:rPr>
              <a:t>（</a:t>
            </a:r>
            <a:r>
              <a:rPr lang="en-US" altLang="en-US" sz="1400" b="0">
                <a:ea typeface="MS UI Gothic" panose="020B0600070205080204" pitchFamily="50" charset="-128"/>
              </a:rPr>
              <a:t>lname</a:t>
            </a:r>
            <a:r>
              <a:rPr lang="ja-JP" altLang="en-US" sz="1400" b="0">
                <a:ea typeface="MS UI Gothic" panose="020B0600070205080204" pitchFamily="50" charset="-128"/>
              </a:rPr>
              <a:t>）</a:t>
            </a:r>
            <a:r>
              <a:rPr lang="ja-JP" altLang="en-US" sz="1800" b="0">
                <a:ea typeface="MS UI Gothic" panose="020B0600070205080204" pitchFamily="50" charset="-128"/>
              </a:rPr>
              <a:t> </a:t>
            </a:r>
            <a:r>
              <a:rPr lang="en-US" altLang="ja-JP" sz="1800" b="0">
                <a:ea typeface="MS UI Gothic" panose="020B0600070205080204" pitchFamily="50" charset="-128"/>
              </a:rPr>
              <a:t>đã nhận bằng đối số vào thuộc tính </a:t>
            </a:r>
            <a:r>
              <a:rPr lang="ja-JP" altLang="en-US" sz="1400" b="0">
                <a:ea typeface="MS UI Gothic" panose="020B0600070205080204" pitchFamily="50" charset="-128"/>
              </a:rPr>
              <a:t>（</a:t>
            </a:r>
            <a:r>
              <a:rPr lang="en-US" altLang="en-US" sz="1400" b="0">
                <a:ea typeface="MS UI Gothic" panose="020B0600070205080204" pitchFamily="50" charset="-128"/>
              </a:rPr>
              <a:t>lastName</a:t>
            </a:r>
            <a:r>
              <a:rPr lang="ja-JP" altLang="en-US" sz="1400" b="0">
                <a:ea typeface="MS UI Gothic" panose="020B0600070205080204" pitchFamily="50" charset="-128"/>
              </a:rPr>
              <a:t>）</a:t>
            </a:r>
            <a:r>
              <a:rPr lang="ja-JP" altLang="en-US" sz="1800" b="0">
                <a:ea typeface="MS UI Gothic" panose="020B0600070205080204" pitchFamily="50" charset="-128"/>
              </a:rPr>
              <a:t> </a:t>
            </a:r>
            <a:r>
              <a:rPr lang="en-US" altLang="ja-JP" sz="1800" b="0">
                <a:ea typeface="MS UI Gothic" panose="020B0600070205080204" pitchFamily="50" charset="-128"/>
              </a:rPr>
              <a:t>thể hiện họ</a:t>
            </a:r>
          </a:p>
        </p:txBody>
      </p:sp>
      <p:cxnSp>
        <p:nvCxnSpPr>
          <p:cNvPr id="534541" name="AutoShape 13">
            <a:extLst>
              <a:ext uri="{FF2B5EF4-FFF2-40B4-BE49-F238E27FC236}">
                <a16:creationId xmlns:a16="http://schemas.microsoft.com/office/drawing/2014/main" id="{C953312A-D596-90F3-2B3A-DEA2658DA1BB}"/>
              </a:ext>
            </a:extLst>
          </p:cNvPr>
          <p:cNvCxnSpPr>
            <a:cxnSpLocks noChangeShapeType="1"/>
            <a:stCxn id="534539" idx="3"/>
            <a:endCxn id="534540" idx="1"/>
          </p:cNvCxnSpPr>
          <p:nvPr/>
        </p:nvCxnSpPr>
        <p:spPr bwMode="auto">
          <a:xfrm>
            <a:off x="5707063" y="5330825"/>
            <a:ext cx="238125" cy="6350"/>
          </a:xfrm>
          <a:prstGeom prst="straightConnector1">
            <a:avLst/>
          </a:prstGeom>
          <a:noFill/>
          <a:ln w="2540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34542" name="AutoShape 14">
            <a:extLst>
              <a:ext uri="{FF2B5EF4-FFF2-40B4-BE49-F238E27FC236}">
                <a16:creationId xmlns:a16="http://schemas.microsoft.com/office/drawing/2014/main" id="{D79B3474-10D7-AE67-04EF-5819D3F423DF}"/>
              </a:ext>
            </a:extLst>
          </p:cNvPr>
          <p:cNvSpPr>
            <a:spLocks noChangeArrowheads="1"/>
          </p:cNvSpPr>
          <p:nvPr/>
        </p:nvSpPr>
        <p:spPr bwMode="auto">
          <a:xfrm>
            <a:off x="3317875" y="2374900"/>
            <a:ext cx="5724525" cy="592138"/>
          </a:xfrm>
          <a:prstGeom prst="wedgeRoundRectCallout">
            <a:avLst>
              <a:gd name="adj1" fmla="val -17722"/>
              <a:gd name="adj2" fmla="val -81097"/>
              <a:gd name="adj3" fmla="val 16667"/>
            </a:avLst>
          </a:prstGeom>
          <a:solidFill>
            <a:srgbClr val="FFCC99">
              <a:alpha val="66000"/>
            </a:srgbClr>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Chỉ định trong trường hợp nhận giá trị đã chỉ định khi gọi method.</a:t>
            </a:r>
          </a:p>
        </p:txBody>
      </p:sp>
      <p:sp>
        <p:nvSpPr>
          <p:cNvPr id="534537" name="AutoShape 9">
            <a:extLst>
              <a:ext uri="{FF2B5EF4-FFF2-40B4-BE49-F238E27FC236}">
                <a16:creationId xmlns:a16="http://schemas.microsoft.com/office/drawing/2014/main" id="{3BC909BA-5524-8D48-8726-480C27B92E39}"/>
              </a:ext>
            </a:extLst>
          </p:cNvPr>
          <p:cNvSpPr>
            <a:spLocks noChangeArrowheads="1"/>
          </p:cNvSpPr>
          <p:nvPr/>
        </p:nvSpPr>
        <p:spPr bwMode="auto">
          <a:xfrm>
            <a:off x="687388" y="5981700"/>
            <a:ext cx="5721350" cy="630238"/>
          </a:xfrm>
          <a:prstGeom prst="wedgeRoundRectCallout">
            <a:avLst>
              <a:gd name="adj1" fmla="val -32352"/>
              <a:gd name="adj2" fmla="val -107431"/>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0" tIns="19050" rIns="0" bIns="9525"/>
          <a:lstStyle/>
          <a:p>
            <a:pPr algn="ctr"/>
            <a:r>
              <a:rPr lang="en-US" altLang="ja-JP" sz="1800"/>
              <a:t>modifier sẽ sử dụng trong method thông thường sẽ là public </a:t>
            </a:r>
            <a:r>
              <a:rPr lang="ja-JP" altLang="en-US" sz="1800"/>
              <a:t>（</a:t>
            </a:r>
            <a:r>
              <a:rPr lang="en-US" altLang="ja-JP" sz="1800"/>
              <a:t>công khai ra ngoài</a:t>
            </a:r>
            <a:r>
              <a:rPr lang="ja-JP" altLang="en-US" sz="1800"/>
              <a:t>）</a:t>
            </a:r>
          </a:p>
        </p:txBody>
      </p:sp>
      <p:sp>
        <p:nvSpPr>
          <p:cNvPr id="534544" name="Rectangle 16">
            <a:extLst>
              <a:ext uri="{FF2B5EF4-FFF2-40B4-BE49-F238E27FC236}">
                <a16:creationId xmlns:a16="http://schemas.microsoft.com/office/drawing/2014/main" id="{FE9DE706-7089-CEA7-F2E2-36206173E2B4}"/>
              </a:ext>
            </a:extLst>
          </p:cNvPr>
          <p:cNvSpPr>
            <a:spLocks noChangeArrowheads="1"/>
          </p:cNvSpPr>
          <p:nvPr/>
        </p:nvSpPr>
        <p:spPr bwMode="auto">
          <a:xfrm>
            <a:off x="6234113" y="6092825"/>
            <a:ext cx="3162300" cy="339725"/>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r"/>
            <a:r>
              <a:rPr lang="en-US" altLang="ja-JP" sz="1600" b="0"/>
              <a:t>※ Code giữa chừng đã bị lược đi.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71E43800-A4BA-91A7-B901-BBC7222106BB}"/>
              </a:ext>
            </a:extLst>
          </p:cNvPr>
          <p:cNvSpPr>
            <a:spLocks noGrp="1"/>
          </p:cNvSpPr>
          <p:nvPr>
            <p:ph type="sldNum" sz="quarter" idx="10"/>
          </p:nvPr>
        </p:nvSpPr>
        <p:spPr/>
        <p:txBody>
          <a:bodyPr/>
          <a:lstStyle/>
          <a:p>
            <a:fld id="{612294C6-98B2-4053-9029-996FB390D635}" type="slidenum">
              <a:rPr lang="en-US" altLang="ja-JP"/>
              <a:pPr/>
              <a:t>7</a:t>
            </a:fld>
            <a:endParaRPr lang="en-US" altLang="ja-JP"/>
          </a:p>
        </p:txBody>
      </p:sp>
      <p:sp>
        <p:nvSpPr>
          <p:cNvPr id="536578" name="Rectangle 2">
            <a:extLst>
              <a:ext uri="{FF2B5EF4-FFF2-40B4-BE49-F238E27FC236}">
                <a16:creationId xmlns:a16="http://schemas.microsoft.com/office/drawing/2014/main" id="{DCA96DE4-221E-DF4F-BC81-D58EA6C2920E}"/>
              </a:ext>
            </a:extLst>
          </p:cNvPr>
          <p:cNvSpPr>
            <a:spLocks noGrp="1" noChangeArrowheads="1"/>
          </p:cNvSpPr>
          <p:nvPr>
            <p:ph type="body" sz="half" idx="1"/>
          </p:nvPr>
        </p:nvSpPr>
        <p:spPr/>
        <p:txBody>
          <a:bodyPr/>
          <a:lstStyle/>
          <a:p>
            <a:endParaRPr lang="ja-JP" altLang="ja-JP" sz="1800"/>
          </a:p>
        </p:txBody>
      </p:sp>
      <p:sp>
        <p:nvSpPr>
          <p:cNvPr id="536579" name="Rectangle 3">
            <a:extLst>
              <a:ext uri="{FF2B5EF4-FFF2-40B4-BE49-F238E27FC236}">
                <a16:creationId xmlns:a16="http://schemas.microsoft.com/office/drawing/2014/main" id="{A2FBA037-E7AD-13D1-743A-BD1241F71207}"/>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6D595DA6-245C-8E09-FA86-ABAE106F5707}"/>
              </a:ext>
            </a:extLst>
          </p:cNvPr>
          <p:cNvSpPr>
            <a:spLocks noGrp="1"/>
          </p:cNvSpPr>
          <p:nvPr>
            <p:ph type="sldNum" sz="quarter" idx="10"/>
          </p:nvPr>
        </p:nvSpPr>
        <p:spPr/>
        <p:txBody>
          <a:bodyPr/>
          <a:lstStyle/>
          <a:p>
            <a:fld id="{B7779975-4937-4366-A6FF-4D0FC6C010F8}" type="slidenum">
              <a:rPr lang="en-US" altLang="ja-JP"/>
              <a:pPr/>
              <a:t>8</a:t>
            </a:fld>
            <a:endParaRPr lang="en-US" altLang="ja-JP"/>
          </a:p>
        </p:txBody>
      </p:sp>
      <p:sp>
        <p:nvSpPr>
          <p:cNvPr id="538626" name="Rectangle 2">
            <a:extLst>
              <a:ext uri="{FF2B5EF4-FFF2-40B4-BE49-F238E27FC236}">
                <a16:creationId xmlns:a16="http://schemas.microsoft.com/office/drawing/2014/main" id="{50EB65C1-3EEF-9CA9-762C-9B4727E5E141}"/>
              </a:ext>
            </a:extLst>
          </p:cNvPr>
          <p:cNvSpPr>
            <a:spLocks noGrp="1" noChangeArrowheads="1"/>
          </p:cNvSpPr>
          <p:nvPr>
            <p:ph type="title"/>
          </p:nvPr>
        </p:nvSpPr>
        <p:spPr/>
        <p:txBody>
          <a:bodyPr>
            <a:normAutofit fontScale="90000"/>
          </a:bodyPr>
          <a:lstStyle/>
          <a:p>
            <a:r>
              <a:rPr lang="en-US" altLang="ja-JP">
                <a:latin typeface="Arial" panose="020B0604020202020204" pitchFamily="34" charset="0"/>
                <a:ea typeface="MS UI Gothic" panose="020B0600070205080204" pitchFamily="50" charset="-128"/>
              </a:rPr>
              <a:t>2.3</a:t>
            </a:r>
            <a:r>
              <a:rPr lang="ja-JP" altLang="en-US">
                <a:latin typeface="Arial" panose="020B0604020202020204" pitchFamily="34" charset="0"/>
                <a:ea typeface="MS UI Gothic" panose="020B0600070205080204" pitchFamily="50" charset="-128"/>
              </a:rPr>
              <a:t>　</a:t>
            </a:r>
            <a:r>
              <a:rPr lang="en-US" altLang="ja-JP">
                <a:latin typeface="Arial" panose="020B0604020202020204" pitchFamily="34" charset="0"/>
                <a:ea typeface="MS UI Gothic" panose="020B0600070205080204" pitchFamily="50" charset="-128"/>
              </a:rPr>
              <a:t>Định nghĩa method (2)</a:t>
            </a:r>
          </a:p>
        </p:txBody>
      </p:sp>
      <p:sp>
        <p:nvSpPr>
          <p:cNvPr id="538627" name="Rectangle 3">
            <a:extLst>
              <a:ext uri="{FF2B5EF4-FFF2-40B4-BE49-F238E27FC236}">
                <a16:creationId xmlns:a16="http://schemas.microsoft.com/office/drawing/2014/main" id="{5562FE65-1E5F-1E88-62E7-645288C133AB}"/>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38628" name="Rectangle 4">
            <a:extLst>
              <a:ext uri="{FF2B5EF4-FFF2-40B4-BE49-F238E27FC236}">
                <a16:creationId xmlns:a16="http://schemas.microsoft.com/office/drawing/2014/main" id="{9F54F83C-FC98-3DE6-7851-15DF7DED29DF}"/>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Định nghĩa method có giá trị trả về</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38629" name="Text Box 5">
            <a:extLst>
              <a:ext uri="{FF2B5EF4-FFF2-40B4-BE49-F238E27FC236}">
                <a16:creationId xmlns:a16="http://schemas.microsoft.com/office/drawing/2014/main" id="{2CC20535-B019-39CE-BE18-E98B0DD9719E}"/>
              </a:ext>
            </a:extLst>
          </p:cNvPr>
          <p:cNvSpPr txBox="1">
            <a:spLocks noChangeArrowheads="1"/>
          </p:cNvSpPr>
          <p:nvPr/>
        </p:nvSpPr>
        <p:spPr bwMode="auto">
          <a:xfrm>
            <a:off x="344488" y="1700213"/>
            <a:ext cx="9120187" cy="1423987"/>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2000">
                <a:ea typeface="MS UI Gothic" panose="020B0600070205080204" pitchFamily="50" charset="-128"/>
              </a:rPr>
              <a:t>　</a:t>
            </a:r>
            <a:r>
              <a:rPr lang="en-US" altLang="ja-JP" sz="2000">
                <a:ea typeface="MS UI Gothic" panose="020B0600070205080204" pitchFamily="50" charset="-128"/>
              </a:rPr>
              <a:t>modifier</a:t>
            </a:r>
            <a:r>
              <a:rPr lang="ja-JP" altLang="en-US" sz="2000">
                <a:ea typeface="MS UI Gothic" panose="020B0600070205080204" pitchFamily="50" charset="-128"/>
              </a:rPr>
              <a:t>　　</a:t>
            </a:r>
            <a:r>
              <a:rPr lang="en-US" altLang="ja-JP" sz="2000">
                <a:ea typeface="MS UI Gothic" panose="020B0600070205080204" pitchFamily="50" charset="-128"/>
              </a:rPr>
              <a:t>kiểu data của giá trị trả về</a:t>
            </a:r>
            <a:r>
              <a:rPr lang="ja-JP" altLang="en-US" sz="2000">
                <a:ea typeface="MS UI Gothic" panose="020B0600070205080204" pitchFamily="50" charset="-128"/>
              </a:rPr>
              <a:t>　　</a:t>
            </a:r>
            <a:r>
              <a:rPr lang="en-US" altLang="ja-JP" sz="2000">
                <a:ea typeface="MS UI Gothic" panose="020B0600070205080204" pitchFamily="50" charset="-128"/>
              </a:rPr>
              <a:t>tênmethod</a:t>
            </a:r>
            <a:r>
              <a:rPr lang="en-US" altLang="ja-JP" sz="2000">
                <a:ea typeface="ＭＳ ゴシック" panose="020B0609070205080204" pitchFamily="49" charset="-128"/>
              </a:rPr>
              <a:t>(kiểu data</a:t>
            </a:r>
            <a:r>
              <a:rPr lang="en-US" altLang="ja-JP" sz="2000">
                <a:ea typeface="MS UI Gothic" panose="020B0600070205080204" pitchFamily="50" charset="-128"/>
              </a:rPr>
              <a:t>  đối số </a:t>
            </a:r>
            <a:r>
              <a:rPr lang="ja-JP" altLang="en-US" sz="2000">
                <a:ea typeface="MS UI Gothic" panose="020B0600070205080204" pitchFamily="50" charset="-128"/>
              </a:rPr>
              <a:t>１</a:t>
            </a:r>
            <a:r>
              <a:rPr lang="en-US" altLang="ja-JP" sz="2000">
                <a:ea typeface="ＭＳ ゴシック" panose="020B0609070205080204" pitchFamily="49" charset="-128"/>
              </a:rPr>
              <a:t>,</a:t>
            </a:r>
            <a:r>
              <a:rPr lang="en-US" altLang="ja-JP" sz="2000">
                <a:ea typeface="MS UI Gothic" panose="020B0600070205080204" pitchFamily="50" charset="-128"/>
              </a:rPr>
              <a:t> …</a:t>
            </a:r>
            <a:r>
              <a:rPr lang="ja-JP" altLang="en-US" sz="2000">
                <a:ea typeface="MS UI Gothic" panose="020B0600070205080204" pitchFamily="50" charset="-128"/>
              </a:rPr>
              <a:t>　</a:t>
            </a:r>
            <a:r>
              <a:rPr lang="en-US" altLang="ja-JP" sz="2000">
                <a:ea typeface="ＭＳ ゴシック" panose="020B0609070205080204" pitchFamily="49" charset="-128"/>
              </a:rPr>
              <a:t>) {</a:t>
            </a:r>
          </a:p>
          <a:p>
            <a:pPr lvl="1" algn="just">
              <a:lnSpc>
                <a:spcPct val="112000"/>
              </a:lnSpc>
            </a:pPr>
            <a:r>
              <a:rPr lang="ja-JP" altLang="en-US" sz="2000">
                <a:ea typeface="MS UI Gothic" panose="020B0600070205080204" pitchFamily="50" charset="-128"/>
              </a:rPr>
              <a:t>　　　　　　</a:t>
            </a:r>
            <a:r>
              <a:rPr lang="en-US" altLang="ja-JP" sz="2000">
                <a:ea typeface="ＭＳ ゴシック" panose="020B0609070205080204" pitchFamily="49" charset="-128"/>
              </a:rPr>
              <a:t>//  Xử lý</a:t>
            </a:r>
            <a:endParaRPr lang="en-US" altLang="ja-JP" sz="2000">
              <a:ea typeface="MS UI Gothic" panose="020B0600070205080204" pitchFamily="50" charset="-128"/>
            </a:endParaRPr>
          </a:p>
          <a:p>
            <a:pPr lvl="1" algn="just">
              <a:lnSpc>
                <a:spcPct val="112000"/>
              </a:lnSpc>
            </a:pPr>
            <a:r>
              <a:rPr lang="ja-JP" altLang="en-US" sz="2000">
                <a:ea typeface="MS UI Gothic" panose="020B0600070205080204" pitchFamily="50" charset="-128"/>
              </a:rPr>
              <a:t>　　　　　　</a:t>
            </a:r>
            <a:r>
              <a:rPr lang="en-US" altLang="ja-JP" sz="2000">
                <a:ea typeface="ＭＳ ゴシック" panose="020B0609070205080204" pitchFamily="49" charset="-128"/>
              </a:rPr>
              <a:t>return</a:t>
            </a:r>
            <a:r>
              <a:rPr lang="ja-JP" altLang="en-US" sz="2000">
                <a:ea typeface="ＭＳ ゴシック" panose="020B0609070205080204" pitchFamily="49" charset="-128"/>
              </a:rPr>
              <a:t>　</a:t>
            </a:r>
            <a:r>
              <a:rPr lang="en-US" altLang="ja-JP" sz="2000">
                <a:ea typeface="ＭＳ ゴシック" panose="020B0609070205080204" pitchFamily="49" charset="-128"/>
              </a:rPr>
              <a:t>giá trị trả về;</a:t>
            </a:r>
          </a:p>
          <a:p>
            <a:pPr lvl="1" algn="just">
              <a:lnSpc>
                <a:spcPct val="112000"/>
              </a:lnSpc>
            </a:pPr>
            <a:r>
              <a:rPr lang="ja-JP" altLang="en-US" sz="2000">
                <a:ea typeface="MS UI Gothic" panose="020B0600070205080204" pitchFamily="50" charset="-128"/>
              </a:rPr>
              <a:t>　</a:t>
            </a:r>
            <a:r>
              <a:rPr lang="en-US" altLang="ja-JP" sz="2000">
                <a:ea typeface="ＭＳ ゴシック" panose="020B0609070205080204" pitchFamily="49" charset="-128"/>
              </a:rPr>
              <a:t>}</a:t>
            </a:r>
          </a:p>
        </p:txBody>
      </p:sp>
      <p:sp>
        <p:nvSpPr>
          <p:cNvPr id="538630" name="Rectangle 6">
            <a:extLst>
              <a:ext uri="{FF2B5EF4-FFF2-40B4-BE49-F238E27FC236}">
                <a16:creationId xmlns:a16="http://schemas.microsoft.com/office/drawing/2014/main" id="{E2AD135D-1157-E718-E75F-F32C05F1F9C6}"/>
              </a:ext>
            </a:extLst>
          </p:cNvPr>
          <p:cNvSpPr>
            <a:spLocks noChangeArrowheads="1"/>
          </p:cNvSpPr>
          <p:nvPr/>
        </p:nvSpPr>
        <p:spPr bwMode="auto">
          <a:xfrm>
            <a:off x="344488" y="32369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   </a:t>
            </a: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538631" name="Rectangle 7">
            <a:extLst>
              <a:ext uri="{FF2B5EF4-FFF2-40B4-BE49-F238E27FC236}">
                <a16:creationId xmlns:a16="http://schemas.microsoft.com/office/drawing/2014/main" id="{A1A5AB59-FCC7-589E-48A0-FC1BF2A6D1B2}"/>
              </a:ext>
            </a:extLst>
          </p:cNvPr>
          <p:cNvSpPr>
            <a:spLocks noChangeArrowheads="1"/>
          </p:cNvSpPr>
          <p:nvPr/>
        </p:nvSpPr>
        <p:spPr bwMode="auto">
          <a:xfrm>
            <a:off x="344488" y="3622675"/>
            <a:ext cx="9120187" cy="26860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ＭＳ ゴシック" panose="020B0609070205080204" pitchFamily="49" charset="-128"/>
                <a:ea typeface="ＭＳ ゴシック" panose="020B0609070205080204" pitchFamily="49" charset="-128"/>
              </a:rPr>
              <a:t>public </a:t>
            </a:r>
            <a:r>
              <a:rPr lang="en-US" altLang="ja-JP" sz="1800" b="0">
                <a:latin typeface="ＭＳ ゴシック" panose="020B0609070205080204" pitchFamily="49" charset="-128"/>
                <a:ea typeface="ＭＳ ゴシック" panose="020B0609070205080204" pitchFamily="49" charset="-128"/>
              </a:rPr>
              <a:t>class Person {</a:t>
            </a:r>
            <a:r>
              <a:rPr lang="ja-JP" altLang="en-US" sz="1800" b="0">
                <a:latin typeface="ＭＳ ゴシック" panose="020B0609070205080204" pitchFamily="49" charset="-128"/>
                <a:ea typeface="ＭＳ ゴシック" panose="020B0609070205080204" pitchFamily="49" charset="-128"/>
              </a:rPr>
              <a:t>　</a:t>
            </a:r>
          </a:p>
          <a:p>
            <a:pPr lvl="1">
              <a:spcBef>
                <a:spcPct val="0"/>
              </a:spcBef>
            </a:pPr>
            <a:r>
              <a:rPr lang="ja-JP" altLang="en-US" sz="1800" b="0">
                <a:latin typeface="ＭＳ ゴシック" panose="020B0609070205080204" pitchFamily="49" charset="-128"/>
                <a:ea typeface="ＭＳ ゴシック" panose="020B0609070205080204" pitchFamily="49" charset="-128"/>
              </a:rPr>
              <a:t>    </a:t>
            </a:r>
            <a:r>
              <a:rPr lang="en-US" altLang="ja-JP" sz="1800" b="0">
                <a:latin typeface="ＭＳ ゴシック" panose="020B0609070205080204" pitchFamily="49" charset="-128"/>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Định nghĩa field</a:t>
            </a:r>
            <a:r>
              <a:rPr lang="ja-JP" altLang="en-US" sz="1800" b="0">
                <a:latin typeface="Arial" panose="020B0604020202020204" pitchFamily="34" charset="0"/>
                <a:ea typeface="ＭＳ ゴシック" panose="020B0609070205080204" pitchFamily="49" charset="-128"/>
              </a:rPr>
              <a:t>（</a:t>
            </a:r>
            <a:r>
              <a:rPr lang="en-US" altLang="ja-JP" sz="1800" b="0">
                <a:latin typeface="Arial" panose="020B0604020202020204" pitchFamily="34" charset="0"/>
                <a:ea typeface="ＭＳ ゴシック" panose="020B0609070205080204" pitchFamily="49" charset="-128"/>
              </a:rPr>
              <a:t>thuộc tính</a:t>
            </a:r>
            <a:r>
              <a:rPr lang="ja-JP" altLang="en-US" sz="1800" b="0">
                <a:latin typeface="Arial" panose="020B0604020202020204" pitchFamily="34" charset="0"/>
                <a:ea typeface="ＭＳ ゴシック" panose="020B0609070205080204" pitchFamily="49" charset="-128"/>
              </a:rPr>
              <a:t>）</a:t>
            </a:r>
          </a:p>
          <a:p>
            <a:pPr lvl="1">
              <a:spcBef>
                <a:spcPct val="0"/>
              </a:spcBef>
            </a:pPr>
            <a:r>
              <a:rPr lang="ja-JP" altLang="en-US" sz="1800" b="0">
                <a:latin typeface="ＭＳ ゴシック" panose="020B0609070205080204" pitchFamily="49" charset="-128"/>
                <a:ea typeface="ＭＳ ゴシック" panose="020B0609070205080204" pitchFamily="49" charset="-128"/>
              </a:rPr>
              <a:t>    </a:t>
            </a:r>
            <a:r>
              <a:rPr lang="en-US" altLang="ja-JP" sz="1800" b="0">
                <a:latin typeface="ＭＳ ゴシック" panose="020B0609070205080204" pitchFamily="49" charset="-128"/>
                <a:ea typeface="ＭＳ ゴシック" panose="020B0609070205080204" pitchFamily="49" charset="-128"/>
              </a:rPr>
              <a:t>private String lastName;</a:t>
            </a:r>
          </a:p>
          <a:p>
            <a:pPr lvl="1">
              <a:spcBef>
                <a:spcPct val="0"/>
              </a:spcBef>
            </a:pPr>
            <a:r>
              <a:rPr lang="en-US" altLang="ja-JP" sz="1800" b="0">
                <a:latin typeface="ＭＳ ゴシック" panose="020B0609070205080204" pitchFamily="49" charset="-128"/>
                <a:ea typeface="ＭＳ ゴシック" panose="020B0609070205080204" pitchFamily="49" charset="-128"/>
              </a:rPr>
              <a:t>    private String firstName;</a:t>
            </a:r>
          </a:p>
          <a:p>
            <a:pPr lvl="1"/>
            <a:r>
              <a:rPr lang="en-US" altLang="ja-JP" sz="1800" b="0">
                <a:latin typeface="ＭＳ ゴシック" panose="020B0609070205080204" pitchFamily="49" charset="-128"/>
                <a:ea typeface="ＭＳ ゴシック" panose="020B0609070205080204" pitchFamily="49" charset="-128"/>
              </a:rPr>
              <a:t>    // </a:t>
            </a:r>
            <a:r>
              <a:rPr lang="en-US" altLang="ja-JP" sz="1800" b="0">
                <a:latin typeface="Arial" panose="020B0604020202020204" pitchFamily="34" charset="0"/>
                <a:ea typeface="ＭＳ ゴシック" panose="020B0609070205080204" pitchFamily="49" charset="-128"/>
              </a:rPr>
              <a:t>Định nghĩa method</a:t>
            </a:r>
          </a:p>
          <a:p>
            <a:pPr lvl="1"/>
            <a:r>
              <a:rPr lang="en-US" altLang="ja-JP" sz="1800">
                <a:solidFill>
                  <a:srgbClr val="0033CC"/>
                </a:solidFill>
                <a:latin typeface="ＭＳ ゴシック" panose="020B0609070205080204" pitchFamily="49" charset="-128"/>
                <a:ea typeface="ＭＳ ゴシック" panose="020B0609070205080204" pitchFamily="49" charset="-128"/>
              </a:rPr>
              <a:t>    public String getFullName() {      </a:t>
            </a:r>
            <a:endParaRPr lang="en-US" altLang="ja-JP" sz="1800" b="0">
              <a:latin typeface="ＭＳ ゴシック" panose="020B0609070205080204" pitchFamily="49" charset="-128"/>
              <a:ea typeface="ＭＳ ゴシック" panose="020B0609070205080204" pitchFamily="49" charset="-128"/>
            </a:endParaRPr>
          </a:p>
          <a:p>
            <a:pPr lvl="1">
              <a:spcBef>
                <a:spcPct val="0"/>
              </a:spcBef>
            </a:pPr>
            <a:r>
              <a:rPr lang="en-US" altLang="ja-JP" sz="1800">
                <a:solidFill>
                  <a:srgbClr val="0033CC"/>
                </a:solidFill>
                <a:latin typeface="ＭＳ ゴシック" panose="020B0609070205080204" pitchFamily="49" charset="-128"/>
                <a:ea typeface="ＭＳ ゴシック" panose="020B0609070205080204" pitchFamily="49" charset="-128"/>
              </a:rPr>
              <a:t>        return (lastName + " " + firstName);</a:t>
            </a:r>
          </a:p>
          <a:p>
            <a:pPr lvl="1">
              <a:spcBef>
                <a:spcPct val="0"/>
              </a:spcBef>
            </a:pPr>
            <a:r>
              <a:rPr lang="en-US" altLang="ja-JP" sz="1800">
                <a:solidFill>
                  <a:srgbClr val="0033CC"/>
                </a:solidFill>
                <a:latin typeface="ＭＳ ゴシック" panose="020B0609070205080204" pitchFamily="49" charset="-128"/>
                <a:ea typeface="ＭＳ ゴシック" panose="020B0609070205080204" pitchFamily="49" charset="-128"/>
              </a:rPr>
              <a:t>    }</a:t>
            </a:r>
          </a:p>
          <a:p>
            <a:pPr lvl="1"/>
            <a:r>
              <a:rPr lang="en-US" altLang="ja-JP" sz="1800" b="0">
                <a:latin typeface="ＭＳ ゴシック" panose="020B0609070205080204" pitchFamily="49" charset="-128"/>
                <a:ea typeface="ＭＳ ゴシック" panose="020B0609070205080204" pitchFamily="49" charset="-128"/>
              </a:rPr>
              <a:t>}</a:t>
            </a:r>
          </a:p>
        </p:txBody>
      </p:sp>
      <p:sp>
        <p:nvSpPr>
          <p:cNvPr id="538634" name="Rectangle 10">
            <a:extLst>
              <a:ext uri="{FF2B5EF4-FFF2-40B4-BE49-F238E27FC236}">
                <a16:creationId xmlns:a16="http://schemas.microsoft.com/office/drawing/2014/main" id="{547C86E9-4B63-39AE-CF74-0D4E7EE2E93D}"/>
              </a:ext>
            </a:extLst>
          </p:cNvPr>
          <p:cNvSpPr>
            <a:spLocks noChangeArrowheads="1"/>
          </p:cNvSpPr>
          <p:nvPr/>
        </p:nvSpPr>
        <p:spPr bwMode="auto">
          <a:xfrm>
            <a:off x="817563" y="5083175"/>
            <a:ext cx="4941887" cy="9001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38635" name="Rectangle 11">
            <a:extLst>
              <a:ext uri="{FF2B5EF4-FFF2-40B4-BE49-F238E27FC236}">
                <a16:creationId xmlns:a16="http://schemas.microsoft.com/office/drawing/2014/main" id="{F3B6D853-7424-0344-0A7B-9FE97B1E0F7E}"/>
              </a:ext>
            </a:extLst>
          </p:cNvPr>
          <p:cNvSpPr>
            <a:spLocks noChangeArrowheads="1"/>
          </p:cNvSpPr>
          <p:nvPr/>
        </p:nvSpPr>
        <p:spPr bwMode="auto">
          <a:xfrm>
            <a:off x="6035675" y="5060950"/>
            <a:ext cx="3270250" cy="941388"/>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b="0">
                <a:ea typeface="MS UI Gothic" panose="020B0600070205080204" pitchFamily="50" charset="-128"/>
              </a:rPr>
              <a:t>Khi gọi ra method getFullName thì sẽ trả về chuỗi ký tự biểu thị họ tên.</a:t>
            </a:r>
          </a:p>
        </p:txBody>
      </p:sp>
      <p:cxnSp>
        <p:nvCxnSpPr>
          <p:cNvPr id="538636" name="AutoShape 12">
            <a:extLst>
              <a:ext uri="{FF2B5EF4-FFF2-40B4-BE49-F238E27FC236}">
                <a16:creationId xmlns:a16="http://schemas.microsoft.com/office/drawing/2014/main" id="{9A2B3378-C847-DC68-FA41-C7C14E34A63E}"/>
              </a:ext>
            </a:extLst>
          </p:cNvPr>
          <p:cNvCxnSpPr>
            <a:cxnSpLocks noChangeShapeType="1"/>
            <a:stCxn id="538634" idx="3"/>
            <a:endCxn id="538635" idx="1"/>
          </p:cNvCxnSpPr>
          <p:nvPr/>
        </p:nvCxnSpPr>
        <p:spPr bwMode="auto">
          <a:xfrm flipV="1">
            <a:off x="5772150" y="5532438"/>
            <a:ext cx="250825" cy="1587"/>
          </a:xfrm>
          <a:prstGeom prst="straightConnector1">
            <a:avLst/>
          </a:prstGeom>
          <a:noFill/>
          <a:ln w="2540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38637" name="AutoShape 13">
            <a:extLst>
              <a:ext uri="{FF2B5EF4-FFF2-40B4-BE49-F238E27FC236}">
                <a16:creationId xmlns:a16="http://schemas.microsoft.com/office/drawing/2014/main" id="{D98AD1E4-37E6-E1EC-DB9A-C1236D68A33B}"/>
              </a:ext>
            </a:extLst>
          </p:cNvPr>
          <p:cNvSpPr>
            <a:spLocks noChangeArrowheads="1"/>
          </p:cNvSpPr>
          <p:nvPr/>
        </p:nvSpPr>
        <p:spPr bwMode="auto">
          <a:xfrm>
            <a:off x="3767138" y="2278063"/>
            <a:ext cx="4094162" cy="617537"/>
          </a:xfrm>
          <a:prstGeom prst="wedgeRoundRectCallout">
            <a:avLst>
              <a:gd name="adj1" fmla="val -57481"/>
              <a:gd name="adj2" fmla="val 21981"/>
              <a:gd name="adj3" fmla="val 16667"/>
            </a:avLst>
          </a:prstGeom>
          <a:solidFill>
            <a:srgbClr val="FFCC99">
              <a:alpha val="66000"/>
            </a:srgbClr>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Chỉ định giá trị sẽ trả về cho phía gọi ra method.</a:t>
            </a:r>
          </a:p>
        </p:txBody>
      </p:sp>
      <p:sp>
        <p:nvSpPr>
          <p:cNvPr id="538638" name="AutoShape 14">
            <a:extLst>
              <a:ext uri="{FF2B5EF4-FFF2-40B4-BE49-F238E27FC236}">
                <a16:creationId xmlns:a16="http://schemas.microsoft.com/office/drawing/2014/main" id="{2A957326-9F5E-282B-B08D-7F3C8D50D1A6}"/>
              </a:ext>
            </a:extLst>
          </p:cNvPr>
          <p:cNvSpPr>
            <a:spLocks noChangeArrowheads="1"/>
          </p:cNvSpPr>
          <p:nvPr/>
        </p:nvSpPr>
        <p:spPr bwMode="auto">
          <a:xfrm>
            <a:off x="1250950" y="5854700"/>
            <a:ext cx="3405188" cy="630238"/>
          </a:xfrm>
          <a:prstGeom prst="wedgeRoundRectCallout">
            <a:avLst>
              <a:gd name="adj1" fmla="val -31213"/>
              <a:gd name="adj2" fmla="val -78968"/>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Trả về họ tên</a:t>
            </a:r>
            <a:r>
              <a:rPr lang="ja-JP" altLang="en-US" sz="1800"/>
              <a:t>（</a:t>
            </a:r>
            <a:r>
              <a:rPr lang="en-US" altLang="ja-JP" sz="1800"/>
              <a:t>ví dụ</a:t>
            </a:r>
            <a:r>
              <a:rPr lang="ja-JP" altLang="en-US" sz="1800"/>
              <a:t>：</a:t>
            </a:r>
            <a:r>
              <a:rPr lang="en-US" altLang="ja-JP" sz="1800"/>
              <a:t>"</a:t>
            </a:r>
            <a:r>
              <a:rPr lang="ja-JP" altLang="en-US" sz="1800"/>
              <a:t>山田　一郎</a:t>
            </a:r>
            <a:r>
              <a:rPr lang="en-US" altLang="ja-JP" sz="1800"/>
              <a:t>(Yamada ichiro)"</a:t>
            </a:r>
            <a:r>
              <a:rPr lang="ja-JP" altLang="en-US" sz="1800"/>
              <a:t>）</a:t>
            </a:r>
          </a:p>
        </p:txBody>
      </p:sp>
      <p:sp>
        <p:nvSpPr>
          <p:cNvPr id="538640" name="Rectangle 16">
            <a:extLst>
              <a:ext uri="{FF2B5EF4-FFF2-40B4-BE49-F238E27FC236}">
                <a16:creationId xmlns:a16="http://schemas.microsoft.com/office/drawing/2014/main" id="{58413388-59D8-E83D-CF11-F106399F7537}"/>
              </a:ext>
            </a:extLst>
          </p:cNvPr>
          <p:cNvSpPr>
            <a:spLocks noChangeArrowheads="1"/>
          </p:cNvSpPr>
          <p:nvPr/>
        </p:nvSpPr>
        <p:spPr bwMode="auto">
          <a:xfrm>
            <a:off x="2543175" y="1754188"/>
            <a:ext cx="3184525" cy="36830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38639" name="AutoShape 15">
            <a:extLst>
              <a:ext uri="{FF2B5EF4-FFF2-40B4-BE49-F238E27FC236}">
                <a16:creationId xmlns:a16="http://schemas.microsoft.com/office/drawing/2014/main" id="{AB669D57-9568-2E12-0934-B5F836A2BEDB}"/>
              </a:ext>
            </a:extLst>
          </p:cNvPr>
          <p:cNvSpPr>
            <a:spLocks noChangeArrowheads="1"/>
          </p:cNvSpPr>
          <p:nvPr/>
        </p:nvSpPr>
        <p:spPr bwMode="auto">
          <a:xfrm>
            <a:off x="4960938" y="841375"/>
            <a:ext cx="4459287" cy="814388"/>
          </a:xfrm>
          <a:prstGeom prst="wedgeRoundRectCallout">
            <a:avLst>
              <a:gd name="adj1" fmla="val -84069"/>
              <a:gd name="adj2" fmla="val 5682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Chỉ định kiểu data của giá trị trả về</a:t>
            </a:r>
          </a:p>
          <a:p>
            <a:pPr algn="ctr"/>
            <a:r>
              <a:rPr lang="ja-JP" altLang="ja-JP" sz="1800"/>
              <a:t>（</a:t>
            </a:r>
            <a:r>
              <a:rPr lang="en-US" altLang="ja-JP" sz="1800"/>
              <a:t>Trường hợp không có giá trị trả về sẽ chỉ định </a:t>
            </a:r>
            <a:r>
              <a:rPr lang="ja-JP" altLang="ja-JP" sz="1800"/>
              <a:t>void ）</a:t>
            </a:r>
            <a:endParaRPr lang="ja-JP" altLang="en-US" sz="1800"/>
          </a:p>
        </p:txBody>
      </p:sp>
      <p:sp>
        <p:nvSpPr>
          <p:cNvPr id="538641" name="Rectangle 17">
            <a:extLst>
              <a:ext uri="{FF2B5EF4-FFF2-40B4-BE49-F238E27FC236}">
                <a16:creationId xmlns:a16="http://schemas.microsoft.com/office/drawing/2014/main" id="{CEB9424F-A5F2-BB5B-1769-B861FA0997CA}"/>
              </a:ext>
            </a:extLst>
          </p:cNvPr>
          <p:cNvSpPr>
            <a:spLocks noChangeArrowheads="1"/>
          </p:cNvSpPr>
          <p:nvPr/>
        </p:nvSpPr>
        <p:spPr bwMode="auto">
          <a:xfrm>
            <a:off x="1485900" y="2425700"/>
            <a:ext cx="1914525" cy="368300"/>
          </a:xfrm>
          <a:prstGeom prst="rect">
            <a:avLst/>
          </a:prstGeom>
          <a:noFill/>
          <a:ln w="254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38633" name="AutoShape 9">
            <a:extLst>
              <a:ext uri="{FF2B5EF4-FFF2-40B4-BE49-F238E27FC236}">
                <a16:creationId xmlns:a16="http://schemas.microsoft.com/office/drawing/2014/main" id="{8ED70529-F642-0F2D-F673-21775822684D}"/>
              </a:ext>
            </a:extLst>
          </p:cNvPr>
          <p:cNvSpPr>
            <a:spLocks noChangeArrowheads="1"/>
          </p:cNvSpPr>
          <p:nvPr/>
        </p:nvSpPr>
        <p:spPr bwMode="auto">
          <a:xfrm>
            <a:off x="4057650" y="4325938"/>
            <a:ext cx="2898775" cy="428625"/>
          </a:xfrm>
          <a:prstGeom prst="wedgeRoundRectCallout">
            <a:avLst>
              <a:gd name="adj1" fmla="val -99014"/>
              <a:gd name="adj2" fmla="val 146667"/>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Trả lại giá trị kiểu String</a:t>
            </a:r>
          </a:p>
        </p:txBody>
      </p:sp>
      <p:sp>
        <p:nvSpPr>
          <p:cNvPr id="538642" name="Rectangle 18">
            <a:extLst>
              <a:ext uri="{FF2B5EF4-FFF2-40B4-BE49-F238E27FC236}">
                <a16:creationId xmlns:a16="http://schemas.microsoft.com/office/drawing/2014/main" id="{75CF1994-1C6F-247B-8370-576EEE6CCC40}"/>
              </a:ext>
            </a:extLst>
          </p:cNvPr>
          <p:cNvSpPr>
            <a:spLocks noChangeArrowheads="1"/>
          </p:cNvSpPr>
          <p:nvPr/>
        </p:nvSpPr>
        <p:spPr bwMode="auto">
          <a:xfrm>
            <a:off x="5929313" y="6300788"/>
            <a:ext cx="3378200" cy="339725"/>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r"/>
            <a:r>
              <a:rPr lang="en-US" altLang="ja-JP" sz="1600" b="0"/>
              <a:t>※ Code giữa chừng đã lược đi rồi.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901E7C04-AB32-4AC9-D977-0A1C317935D2}"/>
              </a:ext>
            </a:extLst>
          </p:cNvPr>
          <p:cNvSpPr>
            <a:spLocks noGrp="1"/>
          </p:cNvSpPr>
          <p:nvPr>
            <p:ph type="sldNum" sz="quarter" idx="10"/>
          </p:nvPr>
        </p:nvSpPr>
        <p:spPr/>
        <p:txBody>
          <a:bodyPr/>
          <a:lstStyle/>
          <a:p>
            <a:fld id="{BD65CE98-69CB-4CC6-90D7-03BB23BE544C}" type="slidenum">
              <a:rPr lang="en-US" altLang="ja-JP"/>
              <a:pPr/>
              <a:t>9</a:t>
            </a:fld>
            <a:endParaRPr lang="en-US" altLang="ja-JP"/>
          </a:p>
        </p:txBody>
      </p:sp>
      <p:sp>
        <p:nvSpPr>
          <p:cNvPr id="540674" name="Rectangle 2">
            <a:extLst>
              <a:ext uri="{FF2B5EF4-FFF2-40B4-BE49-F238E27FC236}">
                <a16:creationId xmlns:a16="http://schemas.microsoft.com/office/drawing/2014/main" id="{86C48047-CF99-4B6A-5415-9842FDB16A14}"/>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40675" name="Rectangle 3">
            <a:extLst>
              <a:ext uri="{FF2B5EF4-FFF2-40B4-BE49-F238E27FC236}">
                <a16:creationId xmlns:a16="http://schemas.microsoft.com/office/drawing/2014/main" id="{C6965CB6-959A-DBFD-3129-B89BBE0635E2}"/>
              </a:ext>
            </a:extLst>
          </p:cNvPr>
          <p:cNvSpPr>
            <a:spLocks noGrp="1" noChangeArrowheads="1"/>
          </p:cNvSpPr>
          <p:nvPr>
            <p:ph type="body" sz="half" idx="1"/>
          </p:nvPr>
        </p:nvSpPr>
        <p:spPr/>
        <p:txBody>
          <a:bodyPr/>
          <a:lstStyle/>
          <a:p>
            <a:endParaRPr lang="ja-JP" altLang="ja-JP" sz="1800"/>
          </a:p>
        </p:txBody>
      </p:sp>
      <p:sp>
        <p:nvSpPr>
          <p:cNvPr id="540676" name="Rectangle 4">
            <a:extLst>
              <a:ext uri="{FF2B5EF4-FFF2-40B4-BE49-F238E27FC236}">
                <a16:creationId xmlns:a16="http://schemas.microsoft.com/office/drawing/2014/main" id="{8E317239-EC49-9E7F-E84C-DE3E31A778B6}"/>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40ACA6D-532C-C912-B9A0-D5E030D635D6}"/>
              </a:ext>
            </a:extLst>
          </p:cNvPr>
          <p:cNvSpPr>
            <a:spLocks noGrp="1"/>
          </p:cNvSpPr>
          <p:nvPr>
            <p:ph type="sldNum" sz="quarter" idx="10"/>
          </p:nvPr>
        </p:nvSpPr>
        <p:spPr/>
        <p:txBody>
          <a:bodyPr/>
          <a:lstStyle/>
          <a:p>
            <a:fld id="{67867325-E493-44D0-BF56-3B6750D2953E}" type="slidenum">
              <a:rPr lang="en-US" altLang="ja-JP"/>
              <a:pPr/>
              <a:t>10</a:t>
            </a:fld>
            <a:endParaRPr lang="en-US" altLang="ja-JP"/>
          </a:p>
        </p:txBody>
      </p:sp>
      <p:sp>
        <p:nvSpPr>
          <p:cNvPr id="546818" name="Rectangle 2">
            <a:extLst>
              <a:ext uri="{FF2B5EF4-FFF2-40B4-BE49-F238E27FC236}">
                <a16:creationId xmlns:a16="http://schemas.microsoft.com/office/drawing/2014/main" id="{75F50A16-FA30-D64C-DE97-4D6967F53540}"/>
              </a:ext>
            </a:extLst>
          </p:cNvPr>
          <p:cNvSpPr>
            <a:spLocks noGrp="1" noChangeArrowheads="1"/>
          </p:cNvSpPr>
          <p:nvPr>
            <p:ph type="title"/>
          </p:nvPr>
        </p:nvSpPr>
        <p:spPr/>
        <p:txBody>
          <a:bodyPr>
            <a:normAutofit fontScale="90000"/>
          </a:bodyPr>
          <a:lstStyle/>
          <a:p>
            <a:r>
              <a:rPr lang="en-US" altLang="ja-JP">
                <a:latin typeface="Arial" panose="020B0604020202020204" pitchFamily="34" charset="0"/>
                <a:ea typeface="MS UI Gothic" panose="020B0600070205080204" pitchFamily="50" charset="-128"/>
              </a:rPr>
              <a:t>2.4</a:t>
            </a:r>
            <a:r>
              <a:rPr lang="ja-JP" altLang="en-US">
                <a:latin typeface="Arial" panose="020B0604020202020204" pitchFamily="34" charset="0"/>
                <a:ea typeface="MS UI Gothic" panose="020B0600070205080204" pitchFamily="50" charset="-128"/>
              </a:rPr>
              <a:t>　</a:t>
            </a:r>
            <a:r>
              <a:rPr lang="en-US" altLang="ja-JP">
                <a:latin typeface="Arial" panose="020B0604020202020204" pitchFamily="34" charset="0"/>
                <a:ea typeface="MS UI Gothic" panose="020B0600070205080204" pitchFamily="50" charset="-128"/>
              </a:rPr>
              <a:t>Constructor</a:t>
            </a:r>
          </a:p>
        </p:txBody>
      </p:sp>
      <p:sp>
        <p:nvSpPr>
          <p:cNvPr id="546819" name="Rectangle 3">
            <a:extLst>
              <a:ext uri="{FF2B5EF4-FFF2-40B4-BE49-F238E27FC236}">
                <a16:creationId xmlns:a16="http://schemas.microsoft.com/office/drawing/2014/main" id="{0BC30EFC-25C6-3937-54C9-1084F5100075}"/>
              </a:ext>
            </a:extLst>
          </p:cNvPr>
          <p:cNvSpPr>
            <a:spLocks noChangeArrowheads="1"/>
          </p:cNvSpPr>
          <p:nvPr/>
        </p:nvSpPr>
        <p:spPr bwMode="auto">
          <a:xfrm>
            <a:off x="-979488" y="20732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46820" name="Rectangle 4">
            <a:extLst>
              <a:ext uri="{FF2B5EF4-FFF2-40B4-BE49-F238E27FC236}">
                <a16:creationId xmlns:a16="http://schemas.microsoft.com/office/drawing/2014/main" id="{8D0F87AB-8184-A522-D238-4387AAAF4DA1}"/>
              </a:ext>
            </a:extLst>
          </p:cNvPr>
          <p:cNvSpPr>
            <a:spLocks noChangeArrowheads="1"/>
          </p:cNvSpPr>
          <p:nvPr/>
        </p:nvSpPr>
        <p:spPr bwMode="auto">
          <a:xfrm>
            <a:off x="344488" y="18780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46821" name="Text Box 5">
            <a:extLst>
              <a:ext uri="{FF2B5EF4-FFF2-40B4-BE49-F238E27FC236}">
                <a16:creationId xmlns:a16="http://schemas.microsoft.com/office/drawing/2014/main" id="{99415A38-0373-DAAA-33E1-F7EC6D075304}"/>
              </a:ext>
            </a:extLst>
          </p:cNvPr>
          <p:cNvSpPr txBox="1">
            <a:spLocks noChangeArrowheads="1"/>
          </p:cNvSpPr>
          <p:nvPr/>
        </p:nvSpPr>
        <p:spPr bwMode="auto">
          <a:xfrm>
            <a:off x="344488" y="2335213"/>
            <a:ext cx="9120187" cy="1106487"/>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2000">
                <a:ea typeface="MS UI Gothic" panose="020B0600070205080204" pitchFamily="50" charset="-128"/>
              </a:rPr>
              <a:t>　</a:t>
            </a:r>
            <a:r>
              <a:rPr lang="en-US" altLang="ja-JP" sz="2000">
                <a:ea typeface="MS UI Gothic" panose="020B0600070205080204" pitchFamily="50" charset="-128"/>
              </a:rPr>
              <a:t>modifier</a:t>
            </a:r>
            <a:r>
              <a:rPr lang="ja-JP" altLang="en-US" sz="2000">
                <a:ea typeface="MS UI Gothic" panose="020B0600070205080204" pitchFamily="50" charset="-128"/>
              </a:rPr>
              <a:t>　　</a:t>
            </a:r>
            <a:r>
              <a:rPr lang="en-US" altLang="ja-JP" sz="2000">
                <a:ea typeface="MS UI Gothic" panose="020B0600070205080204" pitchFamily="50" charset="-128"/>
              </a:rPr>
              <a:t>tên constructor</a:t>
            </a:r>
            <a:r>
              <a:rPr lang="en-US" altLang="ja-JP" sz="2000">
                <a:ea typeface="ＭＳ ゴシック" panose="020B0609070205080204" pitchFamily="49" charset="-128"/>
              </a:rPr>
              <a:t>(</a:t>
            </a:r>
            <a:r>
              <a:rPr lang="en-US" altLang="ja-JP" sz="2000">
                <a:ea typeface="MS UI Gothic" panose="020B0600070205080204" pitchFamily="50" charset="-128"/>
              </a:rPr>
              <a:t> kiểu data  đối số </a:t>
            </a:r>
            <a:r>
              <a:rPr lang="ja-JP" altLang="en-US" sz="2000">
                <a:ea typeface="MS UI Gothic" panose="020B0600070205080204" pitchFamily="50" charset="-128"/>
              </a:rPr>
              <a:t>１</a:t>
            </a:r>
            <a:r>
              <a:rPr lang="en-US" altLang="ja-JP" sz="2000">
                <a:ea typeface="ＭＳ ゴシック" panose="020B0609070205080204" pitchFamily="49" charset="-128"/>
              </a:rPr>
              <a:t>,</a:t>
            </a:r>
            <a:r>
              <a:rPr lang="en-US" altLang="ja-JP" sz="2000">
                <a:ea typeface="MS UI Gothic" panose="020B0600070205080204" pitchFamily="50" charset="-128"/>
              </a:rPr>
              <a:t> …</a:t>
            </a:r>
            <a:r>
              <a:rPr lang="ja-JP" altLang="en-US" sz="2000">
                <a:ea typeface="MS UI Gothic" panose="020B0600070205080204" pitchFamily="50" charset="-128"/>
              </a:rPr>
              <a:t>　</a:t>
            </a:r>
            <a:r>
              <a:rPr lang="en-US" altLang="ja-JP" sz="2000">
                <a:ea typeface="ＭＳ ゴシック" panose="020B0609070205080204" pitchFamily="49" charset="-128"/>
              </a:rPr>
              <a:t>) {</a:t>
            </a:r>
          </a:p>
          <a:p>
            <a:pPr lvl="1" algn="just">
              <a:lnSpc>
                <a:spcPct val="112000"/>
              </a:lnSpc>
            </a:pPr>
            <a:r>
              <a:rPr lang="ja-JP" altLang="en-US" sz="2000">
                <a:ea typeface="MS UI Gothic" panose="020B0600070205080204" pitchFamily="50" charset="-128"/>
              </a:rPr>
              <a:t>　　　　　　</a:t>
            </a:r>
            <a:r>
              <a:rPr lang="en-US" altLang="ja-JP" sz="2000">
                <a:ea typeface="ＭＳ ゴシック" panose="020B0609070205080204" pitchFamily="49" charset="-128"/>
              </a:rPr>
              <a:t>//</a:t>
            </a:r>
            <a:r>
              <a:rPr lang="en-US" altLang="ja-JP" sz="2000">
                <a:ea typeface="MS UI Gothic" panose="020B0600070205080204" pitchFamily="50" charset="-128"/>
              </a:rPr>
              <a:t>  xử lý ban đầu khi sinh object</a:t>
            </a:r>
          </a:p>
          <a:p>
            <a:pPr lvl="1" algn="just">
              <a:lnSpc>
                <a:spcPct val="112000"/>
              </a:lnSpc>
            </a:pPr>
            <a:r>
              <a:rPr lang="ja-JP" altLang="en-US" sz="2000">
                <a:ea typeface="MS UI Gothic" panose="020B0600070205080204" pitchFamily="50" charset="-128"/>
              </a:rPr>
              <a:t>　</a:t>
            </a:r>
            <a:r>
              <a:rPr lang="en-US" altLang="ja-JP" sz="2000">
                <a:ea typeface="ＭＳ ゴシック" panose="020B0609070205080204" pitchFamily="49" charset="-128"/>
              </a:rPr>
              <a:t>}</a:t>
            </a:r>
          </a:p>
        </p:txBody>
      </p:sp>
      <p:sp>
        <p:nvSpPr>
          <p:cNvPr id="546822" name="AutoShape 6">
            <a:extLst>
              <a:ext uri="{FF2B5EF4-FFF2-40B4-BE49-F238E27FC236}">
                <a16:creationId xmlns:a16="http://schemas.microsoft.com/office/drawing/2014/main" id="{32A42EC7-94CF-8BA8-0944-CE76A7483C69}"/>
              </a:ext>
            </a:extLst>
          </p:cNvPr>
          <p:cNvSpPr>
            <a:spLocks noChangeArrowheads="1"/>
          </p:cNvSpPr>
          <p:nvPr/>
        </p:nvSpPr>
        <p:spPr bwMode="auto">
          <a:xfrm>
            <a:off x="2554288" y="1647825"/>
            <a:ext cx="3779837" cy="554038"/>
          </a:xfrm>
          <a:prstGeom prst="wedgeRoundRectCallout">
            <a:avLst>
              <a:gd name="adj1" fmla="val -44542"/>
              <a:gd name="adj2" fmla="val 91833"/>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Nhất thiết phải chỉ định tên class trong tên của constructor</a:t>
            </a:r>
          </a:p>
        </p:txBody>
      </p:sp>
      <p:sp>
        <p:nvSpPr>
          <p:cNvPr id="546823" name="Rectangle 7">
            <a:extLst>
              <a:ext uri="{FF2B5EF4-FFF2-40B4-BE49-F238E27FC236}">
                <a16:creationId xmlns:a16="http://schemas.microsoft.com/office/drawing/2014/main" id="{E9F79B0C-9B6E-B05B-50A6-AFCB245F2A2D}"/>
              </a:ext>
            </a:extLst>
          </p:cNvPr>
          <p:cNvSpPr>
            <a:spLocks noChangeArrowheads="1"/>
          </p:cNvSpPr>
          <p:nvPr/>
        </p:nvSpPr>
        <p:spPr bwMode="auto">
          <a:xfrm>
            <a:off x="344488" y="1130300"/>
            <a:ext cx="9120187" cy="530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Là hàm định nghĩa xử lý sẽ tiến hành lúc sinh object.</a:t>
            </a:r>
          </a:p>
        </p:txBody>
      </p:sp>
      <p:sp>
        <p:nvSpPr>
          <p:cNvPr id="546824" name="Rectangle 8">
            <a:extLst>
              <a:ext uri="{FF2B5EF4-FFF2-40B4-BE49-F238E27FC236}">
                <a16:creationId xmlns:a16="http://schemas.microsoft.com/office/drawing/2014/main" id="{A8D985C3-9023-EB58-B561-C4FCEB1E6872}"/>
              </a:ext>
            </a:extLst>
          </p:cNvPr>
          <p:cNvSpPr>
            <a:spLocks noChangeArrowheads="1"/>
          </p:cNvSpPr>
          <p:nvPr/>
        </p:nvSpPr>
        <p:spPr bwMode="auto">
          <a:xfrm>
            <a:off x="344488" y="6762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Constructor</a:t>
            </a:r>
          </a:p>
        </p:txBody>
      </p:sp>
      <p:sp>
        <p:nvSpPr>
          <p:cNvPr id="546825" name="Rectangle 9">
            <a:extLst>
              <a:ext uri="{FF2B5EF4-FFF2-40B4-BE49-F238E27FC236}">
                <a16:creationId xmlns:a16="http://schemas.microsoft.com/office/drawing/2014/main" id="{B2BB52E9-106A-72B2-662E-161F0F533A90}"/>
              </a:ext>
            </a:extLst>
          </p:cNvPr>
          <p:cNvSpPr>
            <a:spLocks noChangeArrowheads="1"/>
          </p:cNvSpPr>
          <p:nvPr/>
        </p:nvSpPr>
        <p:spPr bwMode="auto">
          <a:xfrm>
            <a:off x="344488" y="3611563"/>
            <a:ext cx="91281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 </a:t>
            </a:r>
            <a:r>
              <a:rPr lang="ja-JP" altLang="en-US" sz="2000" b="0">
                <a:latin typeface="Arial" panose="020B0604020202020204" pitchFamily="34" charset="0"/>
              </a:rPr>
              <a:t>（</a:t>
            </a:r>
            <a:r>
              <a:rPr lang="en-US" altLang="ja-JP" sz="2000" b="0">
                <a:latin typeface="Arial" panose="020B0604020202020204" pitchFamily="34" charset="0"/>
              </a:rPr>
              <a:t>Khi sinh object, sẽ set giá trị đã chỉ định ở đối số vào biến instance.</a:t>
            </a:r>
            <a:r>
              <a:rPr lang="ja-JP" altLang="en-US" sz="2000" b="0">
                <a:latin typeface="Arial" panose="020B0604020202020204" pitchFamily="34" charset="0"/>
              </a:rPr>
              <a:t>）</a:t>
            </a:r>
            <a:endParaRPr lang="ja-JP" altLang="en-US" sz="2400" b="0">
              <a:latin typeface="Arial" panose="020B0604020202020204" pitchFamily="34" charset="0"/>
            </a:endParaRPr>
          </a:p>
        </p:txBody>
      </p:sp>
      <p:sp>
        <p:nvSpPr>
          <p:cNvPr id="546826" name="Rectangle 10">
            <a:extLst>
              <a:ext uri="{FF2B5EF4-FFF2-40B4-BE49-F238E27FC236}">
                <a16:creationId xmlns:a16="http://schemas.microsoft.com/office/drawing/2014/main" id="{0B26F6EA-A507-A841-2BE1-DAF34E19C3BE}"/>
              </a:ext>
            </a:extLst>
          </p:cNvPr>
          <p:cNvSpPr>
            <a:spLocks noChangeArrowheads="1"/>
          </p:cNvSpPr>
          <p:nvPr/>
        </p:nvSpPr>
        <p:spPr bwMode="auto">
          <a:xfrm>
            <a:off x="344488" y="4049713"/>
            <a:ext cx="8951912" cy="225901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tIns="10800"/>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spcBef>
                <a:spcPct val="0"/>
              </a:spcBef>
            </a:pPr>
            <a:r>
              <a:rPr lang="en-US" altLang="ja-JP" sz="1800" b="0">
                <a:latin typeface="ＭＳ ゴシック" panose="020B0609070205080204" pitchFamily="49" charset="-128"/>
                <a:ea typeface="ＭＳ ゴシック" panose="020B0609070205080204" pitchFamily="49" charset="-128"/>
              </a:rPr>
              <a:t>public class </a:t>
            </a:r>
            <a:r>
              <a:rPr lang="en-US" altLang="en-US" sz="1800" b="0">
                <a:latin typeface="ＭＳ ゴシック" panose="020B0609070205080204" pitchFamily="49" charset="-128"/>
                <a:ea typeface="ＭＳ ゴシック" panose="020B0609070205080204" pitchFamily="49" charset="-128"/>
              </a:rPr>
              <a:t>Person</a:t>
            </a:r>
            <a:r>
              <a:rPr lang="en-US" altLang="ja-JP" sz="1800" b="0">
                <a:latin typeface="ＭＳ ゴシック" panose="020B0609070205080204" pitchFamily="49" charset="-128"/>
                <a:ea typeface="ＭＳ ゴシック" panose="020B0609070205080204" pitchFamily="49" charset="-128"/>
              </a:rPr>
              <a:t> {</a:t>
            </a:r>
          </a:p>
          <a:p>
            <a:pPr lvl="1">
              <a:spcBef>
                <a:spcPct val="0"/>
              </a:spcBef>
            </a:pPr>
            <a:r>
              <a:rPr lang="en-US" altLang="ja-JP" sz="1800" b="0">
                <a:latin typeface="ＭＳ ゴシック" panose="020B0609070205080204" pitchFamily="49" charset="-128"/>
                <a:ea typeface="ＭＳ ゴシック" panose="020B0609070205080204" pitchFamily="49" charset="-128"/>
              </a:rPr>
              <a:t> </a:t>
            </a:r>
            <a:r>
              <a:rPr lang="ja-JP" altLang="en-US" sz="1800" b="0">
                <a:latin typeface="ＭＳ ゴシック" panose="020B0609070205080204" pitchFamily="49" charset="-128"/>
                <a:ea typeface="ＭＳ ゴシック" panose="020B0609070205080204" pitchFamily="49" charset="-128"/>
              </a:rPr>
              <a:t>　       　　　　　　　　　　　　　　　　　　　　　　　　　　　　　　　　　　　　　　　　　</a:t>
            </a:r>
          </a:p>
          <a:p>
            <a:pPr lvl="1">
              <a:spcBef>
                <a:spcPct val="0"/>
              </a:spcBef>
            </a:pPr>
            <a:r>
              <a:rPr lang="ja-JP" altLang="en-US" sz="1800">
                <a:solidFill>
                  <a:srgbClr val="0033CC"/>
                </a:solidFill>
                <a:latin typeface="ＭＳ ゴシック" panose="020B0609070205080204" pitchFamily="49" charset="-128"/>
                <a:ea typeface="ＭＳ ゴシック" panose="020B0609070205080204" pitchFamily="49" charset="-128"/>
              </a:rPr>
              <a:t>    </a:t>
            </a:r>
            <a:r>
              <a:rPr lang="en-US" altLang="ja-JP" sz="1800">
                <a:solidFill>
                  <a:srgbClr val="0033CC"/>
                </a:solidFill>
                <a:latin typeface="ＭＳ ゴシック" panose="020B0609070205080204" pitchFamily="49" charset="-128"/>
                <a:ea typeface="ＭＳ ゴシック" panose="020B0609070205080204" pitchFamily="49" charset="-128"/>
              </a:rPr>
              <a:t>public Person (String lname, String fname, int a) {</a:t>
            </a:r>
          </a:p>
          <a:p>
            <a:pPr lvl="1">
              <a:spcBef>
                <a:spcPct val="0"/>
              </a:spcBef>
            </a:pPr>
            <a:r>
              <a:rPr lang="en-US" altLang="ja-JP" sz="1800">
                <a:solidFill>
                  <a:srgbClr val="0033CC"/>
                </a:solidFill>
                <a:latin typeface="ＭＳ ゴシック" panose="020B0609070205080204" pitchFamily="49" charset="-128"/>
                <a:ea typeface="ＭＳ ゴシック" panose="020B0609070205080204" pitchFamily="49" charset="-128"/>
              </a:rPr>
              <a:t>        lastName = lname;</a:t>
            </a:r>
          </a:p>
          <a:p>
            <a:pPr lvl="1">
              <a:spcBef>
                <a:spcPct val="0"/>
              </a:spcBef>
            </a:pPr>
            <a:r>
              <a:rPr lang="en-US" altLang="ja-JP" sz="1800">
                <a:solidFill>
                  <a:srgbClr val="0033CC"/>
                </a:solidFill>
                <a:latin typeface="ＭＳ ゴシック" panose="020B0609070205080204" pitchFamily="49" charset="-128"/>
                <a:ea typeface="ＭＳ ゴシック" panose="020B0609070205080204" pitchFamily="49" charset="-128"/>
              </a:rPr>
              <a:t>        firstName = fname;</a:t>
            </a:r>
          </a:p>
          <a:p>
            <a:pPr lvl="1">
              <a:spcBef>
                <a:spcPct val="0"/>
              </a:spcBef>
            </a:pPr>
            <a:r>
              <a:rPr lang="en-US" altLang="ja-JP" sz="1800">
                <a:solidFill>
                  <a:srgbClr val="0033CC"/>
                </a:solidFill>
                <a:latin typeface="ＭＳ ゴシック" panose="020B0609070205080204" pitchFamily="49" charset="-128"/>
                <a:ea typeface="ＭＳ ゴシック" panose="020B0609070205080204" pitchFamily="49" charset="-128"/>
              </a:rPr>
              <a:t>        age = a;</a:t>
            </a:r>
          </a:p>
          <a:p>
            <a:pPr lvl="1">
              <a:spcBef>
                <a:spcPct val="0"/>
              </a:spcBef>
            </a:pPr>
            <a:r>
              <a:rPr lang="en-US" altLang="ja-JP" sz="1800">
                <a:solidFill>
                  <a:srgbClr val="0033CC"/>
                </a:solidFill>
                <a:latin typeface="ＭＳ ゴシック" panose="020B0609070205080204" pitchFamily="49" charset="-128"/>
                <a:ea typeface="ＭＳ ゴシック" panose="020B0609070205080204" pitchFamily="49" charset="-128"/>
              </a:rPr>
              <a:t>    }</a:t>
            </a:r>
          </a:p>
          <a:p>
            <a:pPr lvl="1">
              <a:spcBef>
                <a:spcPct val="0"/>
              </a:spcBef>
            </a:pPr>
            <a:r>
              <a:rPr lang="en-US" altLang="ja-JP" sz="1800" b="0">
                <a:latin typeface="ＭＳ ゴシック" panose="020B0609070205080204" pitchFamily="49" charset="-128"/>
                <a:ea typeface="ＭＳ ゴシック" panose="020B0609070205080204" pitchFamily="49" charset="-128"/>
              </a:rPr>
              <a:t>}</a:t>
            </a:r>
          </a:p>
        </p:txBody>
      </p:sp>
      <p:sp>
        <p:nvSpPr>
          <p:cNvPr id="546828" name="Rectangle 12">
            <a:extLst>
              <a:ext uri="{FF2B5EF4-FFF2-40B4-BE49-F238E27FC236}">
                <a16:creationId xmlns:a16="http://schemas.microsoft.com/office/drawing/2014/main" id="{2D1BC19F-2635-1AF0-664D-381C64CB9401}"/>
              </a:ext>
            </a:extLst>
          </p:cNvPr>
          <p:cNvSpPr>
            <a:spLocks noChangeArrowheads="1"/>
          </p:cNvSpPr>
          <p:nvPr/>
        </p:nvSpPr>
        <p:spPr bwMode="auto">
          <a:xfrm>
            <a:off x="1022350" y="4618038"/>
            <a:ext cx="6149975" cy="1403350"/>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46831" name="AutoShape 15">
            <a:extLst>
              <a:ext uri="{FF2B5EF4-FFF2-40B4-BE49-F238E27FC236}">
                <a16:creationId xmlns:a16="http://schemas.microsoft.com/office/drawing/2014/main" id="{BC668CC8-613C-E10E-5097-2F1A0FF34538}"/>
              </a:ext>
            </a:extLst>
          </p:cNvPr>
          <p:cNvSpPr>
            <a:spLocks noChangeArrowheads="1"/>
          </p:cNvSpPr>
          <p:nvPr/>
        </p:nvSpPr>
        <p:spPr bwMode="auto">
          <a:xfrm>
            <a:off x="5745163" y="2917825"/>
            <a:ext cx="3432175" cy="655638"/>
          </a:xfrm>
          <a:prstGeom prst="wedgeRoundRectCallout">
            <a:avLst>
              <a:gd name="adj1" fmla="val -51065"/>
              <a:gd name="adj2" fmla="val -8631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Có thể nhận giá trị đã chỉ định khi sinh object.</a:t>
            </a:r>
          </a:p>
        </p:txBody>
      </p:sp>
      <p:sp>
        <p:nvSpPr>
          <p:cNvPr id="546833" name="AutoShape 17">
            <a:extLst>
              <a:ext uri="{FF2B5EF4-FFF2-40B4-BE49-F238E27FC236}">
                <a16:creationId xmlns:a16="http://schemas.microsoft.com/office/drawing/2014/main" id="{144A8D9C-B829-A981-3D22-E1E7C3367D37}"/>
              </a:ext>
            </a:extLst>
          </p:cNvPr>
          <p:cNvSpPr>
            <a:spLocks noChangeArrowheads="1"/>
          </p:cNvSpPr>
          <p:nvPr/>
        </p:nvSpPr>
        <p:spPr bwMode="auto">
          <a:xfrm>
            <a:off x="5024438" y="5154613"/>
            <a:ext cx="3975100" cy="842962"/>
          </a:xfrm>
          <a:prstGeom prst="wedgeRoundRectCallout">
            <a:avLst>
              <a:gd name="adj1" fmla="val -61699"/>
              <a:gd name="adj2" fmla="val -3455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cú pháp giống với method nhưng trong constructor không có chỉ định giá trị trả về</a:t>
            </a:r>
          </a:p>
        </p:txBody>
      </p:sp>
      <p:sp>
        <p:nvSpPr>
          <p:cNvPr id="546827" name="AutoShape 11">
            <a:extLst>
              <a:ext uri="{FF2B5EF4-FFF2-40B4-BE49-F238E27FC236}">
                <a16:creationId xmlns:a16="http://schemas.microsoft.com/office/drawing/2014/main" id="{F273DA3F-17D4-3A79-375C-544ACAA1F477}"/>
              </a:ext>
            </a:extLst>
          </p:cNvPr>
          <p:cNvSpPr>
            <a:spLocks noChangeArrowheads="1"/>
          </p:cNvSpPr>
          <p:nvPr/>
        </p:nvSpPr>
        <p:spPr bwMode="auto">
          <a:xfrm>
            <a:off x="3306763" y="3990975"/>
            <a:ext cx="5618162" cy="592138"/>
          </a:xfrm>
          <a:prstGeom prst="wedgeRoundRectCallout">
            <a:avLst>
              <a:gd name="adj1" fmla="val -64324"/>
              <a:gd name="adj2" fmla="val 56167"/>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Tên constructor định nghĩa ở trong </a:t>
            </a:r>
            <a:r>
              <a:rPr lang="ja-JP" altLang="ja-JP" sz="1800"/>
              <a:t>Person </a:t>
            </a:r>
            <a:r>
              <a:rPr lang="en-US" altLang="ja-JP" sz="1800"/>
              <a:t>class là </a:t>
            </a:r>
            <a:r>
              <a:rPr lang="ja-JP" altLang="ja-JP" sz="1800"/>
              <a:t>Person</a:t>
            </a:r>
            <a:endParaRPr lang="en-US" altLang="ja-JP" sz="1800"/>
          </a:p>
        </p:txBody>
      </p:sp>
      <p:sp>
        <p:nvSpPr>
          <p:cNvPr id="546834" name="Rectangle 18">
            <a:extLst>
              <a:ext uri="{FF2B5EF4-FFF2-40B4-BE49-F238E27FC236}">
                <a16:creationId xmlns:a16="http://schemas.microsoft.com/office/drawing/2014/main" id="{7320B707-9638-A8AD-1FD6-BA6B6E06CE11}"/>
              </a:ext>
            </a:extLst>
          </p:cNvPr>
          <p:cNvSpPr>
            <a:spLocks noChangeArrowheads="1"/>
          </p:cNvSpPr>
          <p:nvPr/>
        </p:nvSpPr>
        <p:spPr bwMode="auto">
          <a:xfrm>
            <a:off x="5942013" y="6308725"/>
            <a:ext cx="3454400" cy="339725"/>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r"/>
            <a:r>
              <a:rPr lang="en-US" altLang="ja-JP" sz="1600" b="0"/>
              <a:t>※Code giữa chừng đã lược đi.</a:t>
            </a:r>
          </a:p>
        </p:txBody>
      </p:sp>
      <p:sp>
        <p:nvSpPr>
          <p:cNvPr id="546835" name="AutoShape 19">
            <a:extLst>
              <a:ext uri="{FF2B5EF4-FFF2-40B4-BE49-F238E27FC236}">
                <a16:creationId xmlns:a16="http://schemas.microsoft.com/office/drawing/2014/main" id="{C3A5FCA5-EE46-B1FB-38FF-BF09F12EBD62}"/>
              </a:ext>
            </a:extLst>
          </p:cNvPr>
          <p:cNvSpPr>
            <a:spLocks noChangeArrowheads="1"/>
          </p:cNvSpPr>
          <p:nvPr/>
        </p:nvSpPr>
        <p:spPr bwMode="auto">
          <a:xfrm>
            <a:off x="5314950" y="703263"/>
            <a:ext cx="4379913" cy="365125"/>
          </a:xfrm>
          <a:prstGeom prst="wedgeRoundRectCallout">
            <a:avLst>
              <a:gd name="adj1" fmla="val -18722"/>
              <a:gd name="adj2" fmla="val 85653"/>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Được gọi ra tự động khi sinh object.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CA047B4-C307-94E9-8594-C9BA807219EC}"/>
              </a:ext>
            </a:extLst>
          </p:cNvPr>
          <p:cNvSpPr>
            <a:spLocks noGrp="1"/>
          </p:cNvSpPr>
          <p:nvPr>
            <p:ph type="sldNum" sz="quarter" idx="10"/>
          </p:nvPr>
        </p:nvSpPr>
        <p:spPr/>
        <p:txBody>
          <a:bodyPr/>
          <a:lstStyle/>
          <a:p>
            <a:fld id="{D27072E8-06D9-457B-8AF6-687812136C5E}" type="slidenum">
              <a:rPr lang="en-US" altLang="ja-JP"/>
              <a:pPr/>
              <a:t>11</a:t>
            </a:fld>
            <a:endParaRPr lang="en-US" altLang="ja-JP"/>
          </a:p>
        </p:txBody>
      </p:sp>
      <p:sp>
        <p:nvSpPr>
          <p:cNvPr id="544770" name="Rectangle 2">
            <a:extLst>
              <a:ext uri="{FF2B5EF4-FFF2-40B4-BE49-F238E27FC236}">
                <a16:creationId xmlns:a16="http://schemas.microsoft.com/office/drawing/2014/main" id="{377C9CA6-2E7C-BF16-9BDD-E2EB6CC0A31A}"/>
              </a:ext>
            </a:extLst>
          </p:cNvPr>
          <p:cNvSpPr>
            <a:spLocks noGrp="1" noChangeArrowheads="1"/>
          </p:cNvSpPr>
          <p:nvPr>
            <p:ph type="body" sz="half" idx="1"/>
          </p:nvPr>
        </p:nvSpPr>
        <p:spPr/>
        <p:txBody>
          <a:bodyPr/>
          <a:lstStyle/>
          <a:p>
            <a:endParaRPr lang="ja-JP" altLang="ja-JP" sz="1800"/>
          </a:p>
        </p:txBody>
      </p:sp>
      <p:sp>
        <p:nvSpPr>
          <p:cNvPr id="544771" name="Rectangle 3">
            <a:extLst>
              <a:ext uri="{FF2B5EF4-FFF2-40B4-BE49-F238E27FC236}">
                <a16:creationId xmlns:a16="http://schemas.microsoft.com/office/drawing/2014/main" id="{A55D62C6-E29A-DA69-32DE-F1DA4370E847}"/>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4CD6CF3F-7F85-53C0-D2D1-210A7F4513A1}"/>
              </a:ext>
            </a:extLst>
          </p:cNvPr>
          <p:cNvSpPr>
            <a:spLocks noGrp="1"/>
          </p:cNvSpPr>
          <p:nvPr>
            <p:ph type="sldNum" sz="quarter" idx="10"/>
          </p:nvPr>
        </p:nvSpPr>
        <p:spPr/>
        <p:txBody>
          <a:bodyPr/>
          <a:lstStyle/>
          <a:p>
            <a:fld id="{F48CA585-BC51-48F8-843C-9D8D9D0657BD}" type="slidenum">
              <a:rPr lang="en-US" altLang="ja-JP"/>
              <a:pPr/>
              <a:t>12</a:t>
            </a:fld>
            <a:endParaRPr lang="en-US" altLang="ja-JP"/>
          </a:p>
        </p:txBody>
      </p:sp>
      <p:sp>
        <p:nvSpPr>
          <p:cNvPr id="555010" name="Rectangle 2">
            <a:extLst>
              <a:ext uri="{FF2B5EF4-FFF2-40B4-BE49-F238E27FC236}">
                <a16:creationId xmlns:a16="http://schemas.microsoft.com/office/drawing/2014/main" id="{39DC98A0-513D-2BC4-A442-16FE84556586}"/>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55011" name="Rectangle 3">
            <a:extLst>
              <a:ext uri="{FF2B5EF4-FFF2-40B4-BE49-F238E27FC236}">
                <a16:creationId xmlns:a16="http://schemas.microsoft.com/office/drawing/2014/main" id="{F177ABA5-2D3F-4AE2-644C-1C9416D09AFB}"/>
              </a:ext>
            </a:extLst>
          </p:cNvPr>
          <p:cNvSpPr>
            <a:spLocks noGrp="1" noChangeArrowheads="1"/>
          </p:cNvSpPr>
          <p:nvPr>
            <p:ph type="body" sz="half" idx="1"/>
          </p:nvPr>
        </p:nvSpPr>
        <p:spPr/>
        <p:txBody>
          <a:bodyPr/>
          <a:lstStyle/>
          <a:p>
            <a:endParaRPr lang="ja-JP" altLang="ja-JP" sz="1800"/>
          </a:p>
        </p:txBody>
      </p:sp>
      <p:sp>
        <p:nvSpPr>
          <p:cNvPr id="555012" name="Rectangle 4">
            <a:extLst>
              <a:ext uri="{FF2B5EF4-FFF2-40B4-BE49-F238E27FC236}">
                <a16:creationId xmlns:a16="http://schemas.microsoft.com/office/drawing/2014/main" id="{0CB928D5-802E-0EA1-4982-A25ED426B845}"/>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D2B3AA2A-8B75-FF61-7890-0C10824A68B0}"/>
              </a:ext>
            </a:extLst>
          </p:cNvPr>
          <p:cNvSpPr>
            <a:spLocks noGrp="1"/>
          </p:cNvSpPr>
          <p:nvPr>
            <p:ph type="sldNum" sz="quarter" idx="10"/>
          </p:nvPr>
        </p:nvSpPr>
        <p:spPr/>
        <p:txBody>
          <a:bodyPr/>
          <a:lstStyle/>
          <a:p>
            <a:fld id="{172BE8C9-FB5A-4471-B2F6-AAF157C4AE40}" type="slidenum">
              <a:rPr lang="en-US" altLang="ja-JP"/>
              <a:pPr/>
              <a:t>13</a:t>
            </a:fld>
            <a:endParaRPr lang="en-US" altLang="ja-JP"/>
          </a:p>
        </p:txBody>
      </p:sp>
      <p:sp>
        <p:nvSpPr>
          <p:cNvPr id="548866" name="Rectangle 2">
            <a:extLst>
              <a:ext uri="{FF2B5EF4-FFF2-40B4-BE49-F238E27FC236}">
                <a16:creationId xmlns:a16="http://schemas.microsoft.com/office/drawing/2014/main" id="{C7AEB7CD-BC1C-AB66-56FF-3D87D8E05688}"/>
              </a:ext>
            </a:extLst>
          </p:cNvPr>
          <p:cNvSpPr>
            <a:spLocks noGrp="1" noChangeArrowheads="1"/>
          </p:cNvSpPr>
          <p:nvPr>
            <p:ph type="title"/>
          </p:nvPr>
        </p:nvSpPr>
        <p:spPr/>
        <p:txBody>
          <a:bodyPr>
            <a:normAutofit fontScale="90000"/>
          </a:bodyPr>
          <a:lstStyle/>
          <a:p>
            <a:r>
              <a:rPr lang="en-US" altLang="ja-JP">
                <a:latin typeface="Arial" panose="020B0604020202020204" pitchFamily="34" charset="0"/>
                <a:ea typeface="MS UI Gothic" panose="020B0600070205080204" pitchFamily="50" charset="-128"/>
              </a:rPr>
              <a:t>2.5</a:t>
            </a:r>
            <a:r>
              <a:rPr lang="ja-JP" altLang="en-US">
                <a:latin typeface="Arial" panose="020B0604020202020204" pitchFamily="34" charset="0"/>
                <a:ea typeface="MS UI Gothic" panose="020B0600070205080204" pitchFamily="50" charset="-128"/>
              </a:rPr>
              <a:t>　</a:t>
            </a:r>
            <a:r>
              <a:rPr lang="en-US" altLang="ja-JP">
                <a:latin typeface="Arial" panose="020B0604020202020204" pitchFamily="34" charset="0"/>
                <a:ea typeface="MS UI Gothic" panose="020B0600070205080204" pitchFamily="50" charset="-128"/>
              </a:rPr>
              <a:t>Sinh/giải phóng object </a:t>
            </a:r>
            <a:r>
              <a:rPr lang="ja-JP" altLang="en-US">
                <a:latin typeface="Arial" panose="020B0604020202020204" pitchFamily="34" charset="0"/>
                <a:ea typeface="MS UI Gothic" panose="020B0600070205080204" pitchFamily="50" charset="-128"/>
              </a:rPr>
              <a:t>（</a:t>
            </a:r>
            <a:r>
              <a:rPr lang="en-US" altLang="ja-JP">
                <a:latin typeface="Arial" panose="020B0604020202020204" pitchFamily="34" charset="0"/>
                <a:ea typeface="MS UI Gothic" panose="020B0600070205080204" pitchFamily="50" charset="-128"/>
              </a:rPr>
              <a:t>1) </a:t>
            </a:r>
          </a:p>
        </p:txBody>
      </p:sp>
      <p:sp>
        <p:nvSpPr>
          <p:cNvPr id="548867" name="Rectangle 3">
            <a:extLst>
              <a:ext uri="{FF2B5EF4-FFF2-40B4-BE49-F238E27FC236}">
                <a16:creationId xmlns:a16="http://schemas.microsoft.com/office/drawing/2014/main" id="{DDAA9AC4-5121-27C8-625D-6741AAACB8CD}"/>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48868" name="Rectangle 4">
            <a:extLst>
              <a:ext uri="{FF2B5EF4-FFF2-40B4-BE49-F238E27FC236}">
                <a16:creationId xmlns:a16="http://schemas.microsoft.com/office/drawing/2014/main" id="{005AA118-84B2-3623-9258-1B64A8FA19DF}"/>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Sinh object</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48869" name="Text Box 5">
            <a:extLst>
              <a:ext uri="{FF2B5EF4-FFF2-40B4-BE49-F238E27FC236}">
                <a16:creationId xmlns:a16="http://schemas.microsoft.com/office/drawing/2014/main" id="{F53A3C40-069A-177A-B0A4-FCA94163782A}"/>
              </a:ext>
            </a:extLst>
          </p:cNvPr>
          <p:cNvSpPr txBox="1">
            <a:spLocks noChangeArrowheads="1"/>
          </p:cNvSpPr>
          <p:nvPr/>
        </p:nvSpPr>
        <p:spPr bwMode="auto">
          <a:xfrm>
            <a:off x="463550" y="2119313"/>
            <a:ext cx="9120188" cy="846137"/>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ja-JP" sz="2000">
                <a:ea typeface="MS UI Gothic" panose="020B0600070205080204" pitchFamily="50" charset="-128"/>
              </a:rPr>
              <a:t>　</a:t>
            </a:r>
            <a:r>
              <a:rPr lang="en-US" altLang="ja-JP" sz="2000">
                <a:ea typeface="MS UI Gothic" panose="020B0600070205080204" pitchFamily="50" charset="-128"/>
              </a:rPr>
              <a:t>Tên class</a:t>
            </a:r>
            <a:r>
              <a:rPr lang="ja-JP" altLang="ja-JP" sz="2000">
                <a:ea typeface="MS UI Gothic" panose="020B0600070205080204" pitchFamily="50" charset="-128"/>
              </a:rPr>
              <a:t>　　</a:t>
            </a:r>
            <a:r>
              <a:rPr lang="en-US" altLang="ja-JP" sz="2000">
                <a:ea typeface="MS UI Gothic" panose="020B0600070205080204" pitchFamily="50" charset="-128"/>
              </a:rPr>
              <a:t>Tên biến</a:t>
            </a:r>
            <a:r>
              <a:rPr lang="ja-JP" altLang="ja-JP" sz="2000">
                <a:ea typeface="MS UI Gothic" panose="020B0600070205080204" pitchFamily="50" charset="-128"/>
              </a:rPr>
              <a:t> ;</a:t>
            </a:r>
          </a:p>
          <a:p>
            <a:pPr lvl="1" algn="just">
              <a:lnSpc>
                <a:spcPct val="112000"/>
              </a:lnSpc>
            </a:pPr>
            <a:r>
              <a:rPr lang="ja-JP" altLang="ja-JP" sz="2000">
                <a:ea typeface="MS UI Gothic" panose="020B0600070205080204" pitchFamily="50" charset="-128"/>
              </a:rPr>
              <a:t>　</a:t>
            </a:r>
            <a:r>
              <a:rPr lang="en-US" altLang="ja-JP" sz="2000">
                <a:ea typeface="MS UI Gothic" panose="020B0600070205080204" pitchFamily="50" charset="-128"/>
              </a:rPr>
              <a:t>Tên biến</a:t>
            </a:r>
            <a:r>
              <a:rPr lang="ja-JP" altLang="ja-JP" sz="2000">
                <a:ea typeface="ＭＳ ゴシック" panose="020B0609070205080204" pitchFamily="49" charset="-128"/>
              </a:rPr>
              <a:t> = new</a:t>
            </a:r>
            <a:r>
              <a:rPr lang="en-US" altLang="ja-JP" sz="2000">
                <a:ea typeface="ＭＳ ゴシック" panose="020B0609070205080204" pitchFamily="49" charset="-128"/>
              </a:rPr>
              <a:t> tên class</a:t>
            </a:r>
            <a:r>
              <a:rPr lang="ja-JP" altLang="ja-JP" sz="2000">
                <a:ea typeface="ＭＳ ゴシック" panose="020B0609070205080204" pitchFamily="49" charset="-128"/>
              </a:rPr>
              <a:t>(</a:t>
            </a:r>
            <a:r>
              <a:rPr lang="en-US" altLang="ja-JP" sz="2000">
                <a:ea typeface="ＭＳ ゴシック" panose="020B0609070205080204" pitchFamily="49" charset="-128"/>
              </a:rPr>
              <a:t>list đối số</a:t>
            </a:r>
            <a:r>
              <a:rPr lang="ja-JP" altLang="ja-JP" sz="2000">
                <a:ea typeface="ＭＳ ゴシック" panose="020B0609070205080204" pitchFamily="49" charset="-128"/>
              </a:rPr>
              <a:t>);</a:t>
            </a:r>
          </a:p>
        </p:txBody>
      </p:sp>
      <p:sp>
        <p:nvSpPr>
          <p:cNvPr id="548870" name="Rectangle 6">
            <a:extLst>
              <a:ext uri="{FF2B5EF4-FFF2-40B4-BE49-F238E27FC236}">
                <a16:creationId xmlns:a16="http://schemas.microsoft.com/office/drawing/2014/main" id="{95F15933-31A6-B6CB-F0E9-49E3D0303E37}"/>
              </a:ext>
            </a:extLst>
          </p:cNvPr>
          <p:cNvSpPr>
            <a:spLocks noChangeArrowheads="1"/>
          </p:cNvSpPr>
          <p:nvPr/>
        </p:nvSpPr>
        <p:spPr bwMode="auto">
          <a:xfrm>
            <a:off x="344488" y="38052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548871" name="Rectangle 7">
            <a:extLst>
              <a:ext uri="{FF2B5EF4-FFF2-40B4-BE49-F238E27FC236}">
                <a16:creationId xmlns:a16="http://schemas.microsoft.com/office/drawing/2014/main" id="{208146D9-F6BD-CBE4-B869-ABBFD670FEA1}"/>
              </a:ext>
            </a:extLst>
          </p:cNvPr>
          <p:cNvSpPr>
            <a:spLocks noChangeArrowheads="1"/>
          </p:cNvSpPr>
          <p:nvPr/>
        </p:nvSpPr>
        <p:spPr bwMode="auto">
          <a:xfrm>
            <a:off x="344488" y="4276725"/>
            <a:ext cx="9120187" cy="202088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Sinh object có sử dụng constructor không có đối số</a:t>
            </a:r>
          </a:p>
          <a:p>
            <a:pPr lvl="1"/>
            <a:r>
              <a:rPr lang="en-US" altLang="ja-JP" sz="1800" b="0">
                <a:latin typeface="ＭＳ ゴシック" panose="020B0609070205080204" pitchFamily="49" charset="-128"/>
                <a:ea typeface="ＭＳ ゴシック" panose="020B0609070205080204" pitchFamily="49" charset="-128"/>
              </a:rPr>
              <a:t>Person personA;</a:t>
            </a:r>
          </a:p>
          <a:p>
            <a:pPr lvl="1"/>
            <a:r>
              <a:rPr lang="en-US" altLang="ja-JP" sz="1800" b="0">
                <a:latin typeface="ＭＳ ゴシック" panose="020B0609070205080204" pitchFamily="49" charset="-128"/>
                <a:ea typeface="ＭＳ ゴシック" panose="020B0609070205080204" pitchFamily="49" charset="-128"/>
              </a:rPr>
              <a:t>personA = new Person();</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Sinh object đã sử dụng constructor có đối số</a:t>
            </a:r>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Person personB = new Person("</a:t>
            </a:r>
            <a:r>
              <a:rPr lang="ja-JP" altLang="en-US" sz="1800" b="0">
                <a:latin typeface="ＭＳ ゴシック" panose="020B0609070205080204" pitchFamily="49" charset="-128"/>
                <a:ea typeface="ＭＳ ゴシック" panose="020B0609070205080204" pitchFamily="49" charset="-128"/>
              </a:rPr>
              <a:t>山田</a:t>
            </a:r>
            <a:r>
              <a:rPr lang="en-US" altLang="ja-JP" sz="1800" b="0">
                <a:latin typeface="ＭＳ ゴシック" panose="020B0609070205080204" pitchFamily="49" charset="-128"/>
                <a:ea typeface="ＭＳ ゴシック" panose="020B0609070205080204" pitchFamily="49" charset="-128"/>
              </a:rPr>
              <a:t>(Yamada)", "</a:t>
            </a:r>
            <a:r>
              <a:rPr lang="ja-JP" altLang="en-US" sz="1800" b="0">
                <a:latin typeface="ＭＳ ゴシック" panose="020B0609070205080204" pitchFamily="49" charset="-128"/>
                <a:ea typeface="ＭＳ ゴシック" panose="020B0609070205080204" pitchFamily="49" charset="-128"/>
              </a:rPr>
              <a:t>一郎</a:t>
            </a:r>
            <a:r>
              <a:rPr lang="en-US" altLang="ja-JP" sz="1800" b="0">
                <a:latin typeface="ＭＳ ゴシック" panose="020B0609070205080204" pitchFamily="49" charset="-128"/>
                <a:ea typeface="ＭＳ ゴシック" panose="020B0609070205080204" pitchFamily="49" charset="-128"/>
              </a:rPr>
              <a:t>(ichiro)", 25);</a:t>
            </a:r>
          </a:p>
        </p:txBody>
      </p:sp>
      <p:sp>
        <p:nvSpPr>
          <p:cNvPr id="548872" name="AutoShape 8">
            <a:extLst>
              <a:ext uri="{FF2B5EF4-FFF2-40B4-BE49-F238E27FC236}">
                <a16:creationId xmlns:a16="http://schemas.microsoft.com/office/drawing/2014/main" id="{316CE415-7326-EECB-60F6-48F1CD533D44}"/>
              </a:ext>
            </a:extLst>
          </p:cNvPr>
          <p:cNvSpPr>
            <a:spLocks noChangeArrowheads="1"/>
          </p:cNvSpPr>
          <p:nvPr/>
        </p:nvSpPr>
        <p:spPr bwMode="auto">
          <a:xfrm>
            <a:off x="3132138" y="795338"/>
            <a:ext cx="4878387" cy="604837"/>
          </a:xfrm>
          <a:prstGeom prst="wedgeRoundRectCallout">
            <a:avLst>
              <a:gd name="adj1" fmla="val -89083"/>
              <a:gd name="adj2" fmla="val 181495"/>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Ở kiểu data của biến phải chỉ định tên class của object</a:t>
            </a:r>
          </a:p>
        </p:txBody>
      </p:sp>
      <p:sp>
        <p:nvSpPr>
          <p:cNvPr id="548874" name="AutoShape 10">
            <a:extLst>
              <a:ext uri="{FF2B5EF4-FFF2-40B4-BE49-F238E27FC236}">
                <a16:creationId xmlns:a16="http://schemas.microsoft.com/office/drawing/2014/main" id="{0DA35490-D444-22BB-3DE6-286D25B9D671}"/>
              </a:ext>
            </a:extLst>
          </p:cNvPr>
          <p:cNvSpPr>
            <a:spLocks noChangeArrowheads="1"/>
          </p:cNvSpPr>
          <p:nvPr/>
        </p:nvSpPr>
        <p:spPr bwMode="auto">
          <a:xfrm>
            <a:off x="3578225" y="1857375"/>
            <a:ext cx="4887913" cy="401638"/>
          </a:xfrm>
          <a:prstGeom prst="wedgeRoundRectCallout">
            <a:avLst>
              <a:gd name="adj1" fmla="val -63444"/>
              <a:gd name="adj2" fmla="val 118773"/>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Để sinh object phải sử dụng toán tử new</a:t>
            </a:r>
          </a:p>
        </p:txBody>
      </p:sp>
      <p:sp>
        <p:nvSpPr>
          <p:cNvPr id="548875" name="AutoShape 11">
            <a:extLst>
              <a:ext uri="{FF2B5EF4-FFF2-40B4-BE49-F238E27FC236}">
                <a16:creationId xmlns:a16="http://schemas.microsoft.com/office/drawing/2014/main" id="{51E4E52B-FC3E-A4C0-3714-B686680DECC6}"/>
              </a:ext>
            </a:extLst>
          </p:cNvPr>
          <p:cNvSpPr>
            <a:spLocks noChangeArrowheads="1"/>
          </p:cNvSpPr>
          <p:nvPr/>
        </p:nvSpPr>
        <p:spPr bwMode="auto">
          <a:xfrm>
            <a:off x="565150" y="3252788"/>
            <a:ext cx="4953000" cy="592137"/>
          </a:xfrm>
          <a:prstGeom prst="wedgeRoundRectCallout">
            <a:avLst>
              <a:gd name="adj1" fmla="val -36829"/>
              <a:gd name="adj2" fmla="val -89944"/>
              <a:gd name="adj3" fmla="val 16667"/>
            </a:avLst>
          </a:prstGeom>
          <a:solidFill>
            <a:srgbClr val="FF99CC">
              <a:alpha val="30000"/>
            </a:srgbClr>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Những cái được store vào biến là </a:t>
            </a:r>
            <a:r>
              <a:rPr lang="ja-JP" altLang="en-US" sz="1800"/>
              <a:t>「</a:t>
            </a:r>
            <a:r>
              <a:rPr lang="en-US" altLang="ja-JP" sz="1800"/>
              <a:t>tham chiếu</a:t>
            </a:r>
            <a:r>
              <a:rPr lang="ja-JP" altLang="en-US" sz="1800"/>
              <a:t>」 </a:t>
            </a:r>
            <a:r>
              <a:rPr lang="en-US" altLang="ja-JP" sz="1800"/>
              <a:t>đến object.</a:t>
            </a:r>
          </a:p>
        </p:txBody>
      </p:sp>
      <p:sp>
        <p:nvSpPr>
          <p:cNvPr id="548876" name="AutoShape 12">
            <a:extLst>
              <a:ext uri="{FF2B5EF4-FFF2-40B4-BE49-F238E27FC236}">
                <a16:creationId xmlns:a16="http://schemas.microsoft.com/office/drawing/2014/main" id="{9DD4A429-5E47-FB55-5ADB-BEE9CD50FA51}"/>
              </a:ext>
            </a:extLst>
          </p:cNvPr>
          <p:cNvSpPr>
            <a:spLocks noChangeArrowheads="1"/>
          </p:cNvSpPr>
          <p:nvPr/>
        </p:nvSpPr>
        <p:spPr bwMode="auto">
          <a:xfrm>
            <a:off x="5259388" y="3265488"/>
            <a:ext cx="1766887" cy="706437"/>
          </a:xfrm>
          <a:prstGeom prst="irregularSeal1">
            <a:avLst/>
          </a:prstGeom>
          <a:solidFill>
            <a:srgbClr val="FFCC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73" tIns="47736" rIns="95473" bIns="47736"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ea typeface="MS UI Gothic" panose="020B0600070205080204" pitchFamily="50" charset="-128"/>
              </a:rPr>
              <a:t>Chú ý</a:t>
            </a:r>
            <a:r>
              <a:rPr lang="ja-JP" altLang="en-US" sz="1300">
                <a:ea typeface="MS UI Gothic" panose="020B0600070205080204" pitchFamily="50" charset="-128"/>
              </a:rPr>
              <a:t>！</a:t>
            </a:r>
          </a:p>
        </p:txBody>
      </p:sp>
      <p:sp>
        <p:nvSpPr>
          <p:cNvPr id="548877" name="AutoShape 13">
            <a:extLst>
              <a:ext uri="{FF2B5EF4-FFF2-40B4-BE49-F238E27FC236}">
                <a16:creationId xmlns:a16="http://schemas.microsoft.com/office/drawing/2014/main" id="{495552B0-7E76-68F4-B83B-010C1544E8FF}"/>
              </a:ext>
            </a:extLst>
          </p:cNvPr>
          <p:cNvSpPr>
            <a:spLocks noChangeArrowheads="1"/>
          </p:cNvSpPr>
          <p:nvPr/>
        </p:nvSpPr>
        <p:spPr bwMode="auto">
          <a:xfrm>
            <a:off x="5562600" y="2392363"/>
            <a:ext cx="3902075" cy="868362"/>
          </a:xfrm>
          <a:prstGeom prst="wedgeRoundRectCallout">
            <a:avLst>
              <a:gd name="adj1" fmla="val -66394"/>
              <a:gd name="adj2" fmla="val -20750"/>
              <a:gd name="adj3" fmla="val 16667"/>
            </a:avLst>
          </a:prstGeom>
          <a:solidFill>
            <a:srgbClr val="CCFFCC"/>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List đối số sẽ phải chỉ định những đối số phù hợp với định nghĩa constructor.</a:t>
            </a:r>
          </a:p>
        </p:txBody>
      </p:sp>
      <p:sp>
        <p:nvSpPr>
          <p:cNvPr id="548878" name="AutoShape 14">
            <a:extLst>
              <a:ext uri="{FF2B5EF4-FFF2-40B4-BE49-F238E27FC236}">
                <a16:creationId xmlns:a16="http://schemas.microsoft.com/office/drawing/2014/main" id="{3232C62F-6433-E093-BC35-CC5FC5532DBC}"/>
              </a:ext>
            </a:extLst>
          </p:cNvPr>
          <p:cNvSpPr>
            <a:spLocks noChangeArrowheads="1"/>
          </p:cNvSpPr>
          <p:nvPr/>
        </p:nvSpPr>
        <p:spPr bwMode="auto">
          <a:xfrm>
            <a:off x="4518025" y="4776788"/>
            <a:ext cx="4410075" cy="598487"/>
          </a:xfrm>
          <a:prstGeom prst="wedgeRoundRectCallout">
            <a:avLst>
              <a:gd name="adj1" fmla="val -76134"/>
              <a:gd name="adj2" fmla="val 2255"/>
              <a:gd name="adj3" fmla="val 16667"/>
            </a:avLst>
          </a:prstGeom>
          <a:solidFill>
            <a:srgbClr val="CCFFCC">
              <a:alpha val="50000"/>
            </a:srgbClr>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Trường hợp không chỉ định list đối số thì cũng phải chỉ định  ( )</a:t>
            </a:r>
          </a:p>
        </p:txBody>
      </p:sp>
      <p:sp>
        <p:nvSpPr>
          <p:cNvPr id="548879" name="AutoShape 15">
            <a:extLst>
              <a:ext uri="{FF2B5EF4-FFF2-40B4-BE49-F238E27FC236}">
                <a16:creationId xmlns:a16="http://schemas.microsoft.com/office/drawing/2014/main" id="{78F0A2D3-4930-1ADB-82FE-3D772538A062}"/>
              </a:ext>
            </a:extLst>
          </p:cNvPr>
          <p:cNvSpPr>
            <a:spLocks noChangeArrowheads="1"/>
          </p:cNvSpPr>
          <p:nvPr/>
        </p:nvSpPr>
        <p:spPr bwMode="auto">
          <a:xfrm>
            <a:off x="7697788" y="4108450"/>
            <a:ext cx="1766887" cy="706438"/>
          </a:xfrm>
          <a:prstGeom prst="irregularSeal1">
            <a:avLst/>
          </a:prstGeom>
          <a:solidFill>
            <a:srgbClr val="FFCC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73" tIns="47736" rIns="95473" bIns="47736"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ea typeface="MS UI Gothic" panose="020B0600070205080204" pitchFamily="50" charset="-128"/>
              </a:rPr>
              <a:t>Chú ý</a:t>
            </a:r>
            <a:r>
              <a:rPr lang="ja-JP" altLang="en-US" sz="1300">
                <a:ea typeface="MS UI Gothic" panose="020B0600070205080204" pitchFamily="50" charset="-128"/>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8279E78-9DC7-9822-451C-0BECA8E6B5D9}"/>
              </a:ext>
            </a:extLst>
          </p:cNvPr>
          <p:cNvSpPr>
            <a:spLocks noGrp="1"/>
          </p:cNvSpPr>
          <p:nvPr>
            <p:ph type="sldNum" sz="quarter" idx="10"/>
          </p:nvPr>
        </p:nvSpPr>
        <p:spPr/>
        <p:txBody>
          <a:bodyPr/>
          <a:lstStyle/>
          <a:p>
            <a:fld id="{A0811C62-D20A-4F34-88E9-5A09B16165A6}" type="slidenum">
              <a:rPr lang="en-US" altLang="ja-JP"/>
              <a:pPr/>
              <a:t>14</a:t>
            </a:fld>
            <a:endParaRPr lang="en-US" altLang="ja-JP"/>
          </a:p>
        </p:txBody>
      </p:sp>
      <p:sp>
        <p:nvSpPr>
          <p:cNvPr id="557058" name="Rectangle 2">
            <a:extLst>
              <a:ext uri="{FF2B5EF4-FFF2-40B4-BE49-F238E27FC236}">
                <a16:creationId xmlns:a16="http://schemas.microsoft.com/office/drawing/2014/main" id="{C2501392-5EC4-6754-A8F6-6C0C9D094D56}"/>
              </a:ext>
            </a:extLst>
          </p:cNvPr>
          <p:cNvSpPr>
            <a:spLocks noGrp="1" noChangeArrowheads="1"/>
          </p:cNvSpPr>
          <p:nvPr>
            <p:ph type="body" sz="half" idx="1"/>
          </p:nvPr>
        </p:nvSpPr>
        <p:spPr/>
        <p:txBody>
          <a:bodyPr/>
          <a:lstStyle/>
          <a:p>
            <a:endParaRPr lang="ja-JP" altLang="ja-JP" sz="1800"/>
          </a:p>
        </p:txBody>
      </p:sp>
      <p:sp>
        <p:nvSpPr>
          <p:cNvPr id="557059" name="Rectangle 3">
            <a:extLst>
              <a:ext uri="{FF2B5EF4-FFF2-40B4-BE49-F238E27FC236}">
                <a16:creationId xmlns:a16="http://schemas.microsoft.com/office/drawing/2014/main" id="{31477F63-4139-6EB5-DC0C-463F1C6539EA}"/>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C1DE1B80-8E5B-072A-87F8-17DBD5E92A6F}"/>
              </a:ext>
            </a:extLst>
          </p:cNvPr>
          <p:cNvSpPr>
            <a:spLocks noGrp="1"/>
          </p:cNvSpPr>
          <p:nvPr>
            <p:ph type="sldNum" sz="quarter" idx="10"/>
          </p:nvPr>
        </p:nvSpPr>
        <p:spPr/>
        <p:txBody>
          <a:bodyPr/>
          <a:lstStyle/>
          <a:p>
            <a:fld id="{607B85E3-289E-4072-8502-5A8731B8CB33}" type="slidenum">
              <a:rPr lang="en-US" altLang="ja-JP"/>
              <a:pPr/>
              <a:t>15</a:t>
            </a:fld>
            <a:endParaRPr lang="en-US" altLang="ja-JP"/>
          </a:p>
        </p:txBody>
      </p:sp>
      <p:sp>
        <p:nvSpPr>
          <p:cNvPr id="552962" name="Rectangle 2">
            <a:extLst>
              <a:ext uri="{FF2B5EF4-FFF2-40B4-BE49-F238E27FC236}">
                <a16:creationId xmlns:a16="http://schemas.microsoft.com/office/drawing/2014/main" id="{FE32F3B7-678D-E688-3FCB-C37B97520FB3}"/>
              </a:ext>
            </a:extLst>
          </p:cNvPr>
          <p:cNvSpPr>
            <a:spLocks noGrp="1" noChangeArrowheads="1"/>
          </p:cNvSpPr>
          <p:nvPr>
            <p:ph type="title"/>
          </p:nvPr>
        </p:nvSpPr>
        <p:spPr/>
        <p:txBody>
          <a:bodyPr>
            <a:normAutofit fontScale="90000"/>
          </a:bodyPr>
          <a:lstStyle/>
          <a:p>
            <a:r>
              <a:rPr lang="en-US" altLang="ja-JP">
                <a:latin typeface="Arial" panose="020B0604020202020204" pitchFamily="34" charset="0"/>
                <a:ea typeface="MS UI Gothic" panose="020B0600070205080204" pitchFamily="50" charset="-128"/>
              </a:rPr>
              <a:t>2.5</a:t>
            </a:r>
            <a:r>
              <a:rPr lang="ja-JP" altLang="en-US">
                <a:latin typeface="Arial" panose="020B0604020202020204" pitchFamily="34" charset="0"/>
                <a:ea typeface="MS UI Gothic" panose="020B0600070205080204" pitchFamily="50" charset="-128"/>
              </a:rPr>
              <a:t>　</a:t>
            </a:r>
            <a:r>
              <a:rPr lang="en-US" altLang="ja-JP">
                <a:latin typeface="Arial" panose="020B0604020202020204" pitchFamily="34" charset="0"/>
                <a:ea typeface="MS UI Gothic" panose="020B0600070205080204" pitchFamily="50" charset="-128"/>
              </a:rPr>
              <a:t>Sinh/giải phóng object (2) </a:t>
            </a:r>
          </a:p>
        </p:txBody>
      </p:sp>
      <p:sp>
        <p:nvSpPr>
          <p:cNvPr id="552963" name="Rectangle 3">
            <a:extLst>
              <a:ext uri="{FF2B5EF4-FFF2-40B4-BE49-F238E27FC236}">
                <a16:creationId xmlns:a16="http://schemas.microsoft.com/office/drawing/2014/main" id="{3D78A743-DA9C-9518-704F-F21B0109A450}"/>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52964" name="Rectangle 4">
            <a:extLst>
              <a:ext uri="{FF2B5EF4-FFF2-40B4-BE49-F238E27FC236}">
                <a16:creationId xmlns:a16="http://schemas.microsoft.com/office/drawing/2014/main" id="{06054847-F752-6A9F-5E52-169627D4BE09}"/>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Giải phóng object</a:t>
            </a:r>
          </a:p>
          <a:p>
            <a:pPr>
              <a:spcBef>
                <a:spcPct val="50000"/>
              </a:spcBef>
              <a:buFont typeface="Wingdings" panose="05000000000000000000" pitchFamily="2" charset="2"/>
              <a:buNone/>
            </a:pPr>
            <a:r>
              <a:rPr lang="en-US" altLang="ja-JP" sz="2000" b="0">
                <a:latin typeface="Arial" panose="020B0604020202020204" pitchFamily="34" charset="0"/>
              </a:rPr>
              <a:t>●Giá trị null</a:t>
            </a: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endParaRPr lang="en-US" altLang="ja-JP" sz="2000" b="0">
              <a:latin typeface="Arial" panose="020B0604020202020204" pitchFamily="34" charset="0"/>
            </a:endParaRP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52965" name="Rectangle 5">
            <a:extLst>
              <a:ext uri="{FF2B5EF4-FFF2-40B4-BE49-F238E27FC236}">
                <a16:creationId xmlns:a16="http://schemas.microsoft.com/office/drawing/2014/main" id="{FC7DC578-E16E-8D2E-ED27-FD8D7B0E54F1}"/>
              </a:ext>
            </a:extLst>
          </p:cNvPr>
          <p:cNvSpPr>
            <a:spLocks noChangeArrowheads="1"/>
          </p:cNvSpPr>
          <p:nvPr/>
        </p:nvSpPr>
        <p:spPr bwMode="auto">
          <a:xfrm>
            <a:off x="344488" y="3797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552966" name="Rectangle 6">
            <a:extLst>
              <a:ext uri="{FF2B5EF4-FFF2-40B4-BE49-F238E27FC236}">
                <a16:creationId xmlns:a16="http://schemas.microsoft.com/office/drawing/2014/main" id="{070E70C8-9B25-D841-4E4F-FDDEA44B67F7}"/>
              </a:ext>
            </a:extLst>
          </p:cNvPr>
          <p:cNvSpPr>
            <a:spLocks noChangeArrowheads="1"/>
          </p:cNvSpPr>
          <p:nvPr/>
        </p:nvSpPr>
        <p:spPr bwMode="auto">
          <a:xfrm>
            <a:off x="344488" y="4268788"/>
            <a:ext cx="9120187" cy="20288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Person personA;</a:t>
            </a:r>
          </a:p>
          <a:p>
            <a:pPr lvl="1"/>
            <a:r>
              <a:rPr lang="en-US" altLang="ja-JP" sz="1800" b="0">
                <a:latin typeface="ＭＳ ゴシック" panose="020B0609070205080204" pitchFamily="49" charset="-128"/>
                <a:ea typeface="ＭＳ ゴシック" panose="020B0609070205080204" pitchFamily="49" charset="-128"/>
              </a:rPr>
              <a:t>personA = new Person();</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Gọi ra method đối với</a:t>
            </a:r>
            <a:r>
              <a:rPr lang="en-US" altLang="ja-JP" sz="1800" b="0">
                <a:latin typeface="ＭＳ ゴシック" panose="020B0609070205080204" pitchFamily="49" charset="-128"/>
                <a:ea typeface="ＭＳ ゴシック" panose="020B0609070205080204" pitchFamily="49" charset="-128"/>
              </a:rPr>
              <a:t> personAv.v...</a:t>
            </a:r>
          </a:p>
          <a:p>
            <a:pPr lvl="1"/>
            <a:endParaRPr lang="en-US" altLang="ja-JP" sz="1800" b="0">
              <a:latin typeface="ＭＳ ゴシック" panose="020B0609070205080204" pitchFamily="49" charset="-128"/>
              <a:ea typeface="ＭＳ ゴシック" panose="020B0609070205080204" pitchFamily="49" charset="-128"/>
            </a:endParaRPr>
          </a:p>
          <a:p>
            <a:pPr lvl="1"/>
            <a:r>
              <a:rPr lang="en-US" altLang="ja-JP" sz="1800" b="0">
                <a:latin typeface="ＭＳ ゴシック" panose="020B0609070205080204" pitchFamily="49" charset="-128"/>
                <a:ea typeface="ＭＳ ゴシック" panose="020B0609070205080204" pitchFamily="49" charset="-128"/>
              </a:rPr>
              <a:t>personA = null;</a:t>
            </a:r>
          </a:p>
        </p:txBody>
      </p:sp>
      <p:sp>
        <p:nvSpPr>
          <p:cNvPr id="552967" name="Text Box 7">
            <a:extLst>
              <a:ext uri="{FF2B5EF4-FFF2-40B4-BE49-F238E27FC236}">
                <a16:creationId xmlns:a16="http://schemas.microsoft.com/office/drawing/2014/main" id="{E0988813-163D-7411-AB5C-93D82884B2E7}"/>
              </a:ext>
            </a:extLst>
          </p:cNvPr>
          <p:cNvSpPr txBox="1">
            <a:spLocks noChangeArrowheads="1"/>
          </p:cNvSpPr>
          <p:nvPr/>
        </p:nvSpPr>
        <p:spPr bwMode="auto">
          <a:xfrm>
            <a:off x="344488" y="3105150"/>
            <a:ext cx="9120187" cy="449263"/>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MS UI Gothic" panose="020B0600070205080204" pitchFamily="50" charset="-128"/>
              </a:rPr>
              <a:t>Biến có tham chiếu của object</a:t>
            </a:r>
            <a:r>
              <a:rPr lang="ja-JP" altLang="ja-JP" sz="2000">
                <a:ea typeface="ＭＳ ゴシック" panose="020B0609070205080204" pitchFamily="49" charset="-128"/>
              </a:rPr>
              <a:t> = null;</a:t>
            </a:r>
          </a:p>
        </p:txBody>
      </p:sp>
      <p:sp>
        <p:nvSpPr>
          <p:cNvPr id="552969" name="Text Box 9">
            <a:extLst>
              <a:ext uri="{FF2B5EF4-FFF2-40B4-BE49-F238E27FC236}">
                <a16:creationId xmlns:a16="http://schemas.microsoft.com/office/drawing/2014/main" id="{D9F3394C-8675-7D85-016F-1E643CDE6140}"/>
              </a:ext>
            </a:extLst>
          </p:cNvPr>
          <p:cNvSpPr txBox="1">
            <a:spLocks noChangeArrowheads="1"/>
          </p:cNvSpPr>
          <p:nvPr/>
        </p:nvSpPr>
        <p:spPr bwMode="auto">
          <a:xfrm>
            <a:off x="344488" y="1700213"/>
            <a:ext cx="9120187" cy="449262"/>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MS UI Gothic" panose="020B0600070205080204" pitchFamily="50" charset="-128"/>
              </a:rPr>
              <a:t>Giá trị thể hiển rằng không có bất kỳ tham chiếu của object nào.</a:t>
            </a:r>
            <a:endParaRPr lang="ja-JP" altLang="ja-JP" sz="2000">
              <a:ea typeface="MS UI Gothic" panose="020B0600070205080204" pitchFamily="50" charset="-128"/>
            </a:endParaRPr>
          </a:p>
        </p:txBody>
      </p:sp>
      <p:sp>
        <p:nvSpPr>
          <p:cNvPr id="552968" name="AutoShape 8">
            <a:extLst>
              <a:ext uri="{FF2B5EF4-FFF2-40B4-BE49-F238E27FC236}">
                <a16:creationId xmlns:a16="http://schemas.microsoft.com/office/drawing/2014/main" id="{B3EAA550-6E7F-193F-A7AC-D963336E41B2}"/>
              </a:ext>
            </a:extLst>
          </p:cNvPr>
          <p:cNvSpPr>
            <a:spLocks noChangeArrowheads="1"/>
          </p:cNvSpPr>
          <p:nvPr/>
        </p:nvSpPr>
        <p:spPr bwMode="auto">
          <a:xfrm>
            <a:off x="3746500" y="4335463"/>
            <a:ext cx="5399088" cy="641350"/>
          </a:xfrm>
          <a:prstGeom prst="wedgeRoundRectCallout">
            <a:avLst>
              <a:gd name="adj1" fmla="val -70583"/>
              <a:gd name="adj2" fmla="val -24755"/>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Giá trị default của biến coi class là kiểu data cũng là giá trị null.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BA643B9-D237-16DB-C8CD-CFB7434468CE}"/>
              </a:ext>
            </a:extLst>
          </p:cNvPr>
          <p:cNvSpPr>
            <a:spLocks noGrp="1"/>
          </p:cNvSpPr>
          <p:nvPr>
            <p:ph type="sldNum" sz="quarter" idx="10"/>
          </p:nvPr>
        </p:nvSpPr>
        <p:spPr/>
        <p:txBody>
          <a:bodyPr/>
          <a:lstStyle/>
          <a:p>
            <a:fld id="{1925CFD7-61DB-4977-A57B-1418C3E8A990}" type="slidenum">
              <a:rPr lang="en-US" altLang="ja-JP"/>
              <a:pPr/>
              <a:t>16</a:t>
            </a:fld>
            <a:endParaRPr lang="en-US" altLang="ja-JP"/>
          </a:p>
        </p:txBody>
      </p:sp>
      <p:sp>
        <p:nvSpPr>
          <p:cNvPr id="559106" name="Rectangle 2">
            <a:extLst>
              <a:ext uri="{FF2B5EF4-FFF2-40B4-BE49-F238E27FC236}">
                <a16:creationId xmlns:a16="http://schemas.microsoft.com/office/drawing/2014/main" id="{24398D11-8851-70E5-9CCC-A9D8C62CA8A9}"/>
              </a:ext>
            </a:extLst>
          </p:cNvPr>
          <p:cNvSpPr>
            <a:spLocks noGrp="1" noChangeArrowheads="1"/>
          </p:cNvSpPr>
          <p:nvPr>
            <p:ph type="title"/>
          </p:nvPr>
        </p:nvSpPr>
        <p:spPr/>
        <p:txBody>
          <a:bodyPr>
            <a:normAutofit fontScale="90000"/>
          </a:bodyPr>
          <a:lstStyle/>
          <a:p>
            <a:r>
              <a:rPr lang="en-US" altLang="ja-JP">
                <a:latin typeface="Arial" panose="020B0604020202020204" pitchFamily="34" charset="0"/>
                <a:ea typeface="MS UI Gothic" panose="020B0600070205080204" pitchFamily="50" charset="-128"/>
              </a:rPr>
              <a:t>2.6</a:t>
            </a:r>
            <a:r>
              <a:rPr lang="ja-JP" altLang="en-US">
                <a:latin typeface="Arial" panose="020B0604020202020204" pitchFamily="34" charset="0"/>
                <a:ea typeface="MS UI Gothic" panose="020B0600070205080204" pitchFamily="50" charset="-128"/>
              </a:rPr>
              <a:t>　</a:t>
            </a:r>
            <a:r>
              <a:rPr lang="en-US" altLang="ja-JP">
                <a:latin typeface="Arial" panose="020B0604020202020204" pitchFamily="34" charset="0"/>
                <a:ea typeface="MS UI Gothic" panose="020B0600070205080204" pitchFamily="50" charset="-128"/>
              </a:rPr>
              <a:t>Gọi ra method</a:t>
            </a:r>
          </a:p>
        </p:txBody>
      </p:sp>
      <p:sp>
        <p:nvSpPr>
          <p:cNvPr id="559107" name="Rectangle 3">
            <a:extLst>
              <a:ext uri="{FF2B5EF4-FFF2-40B4-BE49-F238E27FC236}">
                <a16:creationId xmlns:a16="http://schemas.microsoft.com/office/drawing/2014/main" id="{C47A37FC-5803-DA49-D042-90FF74E1F66B}"/>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59108" name="Rectangle 4">
            <a:extLst>
              <a:ext uri="{FF2B5EF4-FFF2-40B4-BE49-F238E27FC236}">
                <a16:creationId xmlns:a16="http://schemas.microsoft.com/office/drawing/2014/main" id="{64023770-2587-51F6-3988-5280D181038A}"/>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Gọi ra instance method</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59109" name="Rectangle 5">
            <a:extLst>
              <a:ext uri="{FF2B5EF4-FFF2-40B4-BE49-F238E27FC236}">
                <a16:creationId xmlns:a16="http://schemas.microsoft.com/office/drawing/2014/main" id="{627E9BF7-87FC-25E1-F8CE-EF8975668B7B}"/>
              </a:ext>
            </a:extLst>
          </p:cNvPr>
          <p:cNvSpPr>
            <a:spLocks noChangeArrowheads="1"/>
          </p:cNvSpPr>
          <p:nvPr/>
        </p:nvSpPr>
        <p:spPr bwMode="auto">
          <a:xfrm>
            <a:off x="344488" y="26638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endParaRPr lang="en-US" altLang="ja-JP" sz="2400" b="0">
              <a:latin typeface="Arial" panose="020B0604020202020204" pitchFamily="34" charset="0"/>
            </a:endParaRPr>
          </a:p>
        </p:txBody>
      </p:sp>
      <p:sp>
        <p:nvSpPr>
          <p:cNvPr id="559110" name="Rectangle 6">
            <a:extLst>
              <a:ext uri="{FF2B5EF4-FFF2-40B4-BE49-F238E27FC236}">
                <a16:creationId xmlns:a16="http://schemas.microsoft.com/office/drawing/2014/main" id="{E348D173-BC91-E4CB-4D7F-FF226612663B}"/>
              </a:ext>
            </a:extLst>
          </p:cNvPr>
          <p:cNvSpPr>
            <a:spLocks noChangeArrowheads="1"/>
          </p:cNvSpPr>
          <p:nvPr/>
        </p:nvSpPr>
        <p:spPr bwMode="auto">
          <a:xfrm>
            <a:off x="344488" y="3181350"/>
            <a:ext cx="9120187" cy="3170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spcBef>
                <a:spcPct val="0"/>
              </a:spcBef>
            </a:pPr>
            <a:r>
              <a:rPr lang="en-US" altLang="ja-JP" sz="1800" b="0">
                <a:latin typeface="ＭＳ ゴシック" panose="020B0609070205080204" pitchFamily="49" charset="-128"/>
                <a:ea typeface="ＭＳ ゴシック" panose="020B0609070205080204" pitchFamily="49" charset="-128"/>
              </a:rPr>
              <a:t>Person personA = new Person("</a:t>
            </a:r>
            <a:r>
              <a:rPr lang="ja-JP" altLang="en-US" sz="1800" b="0">
                <a:latin typeface="ＭＳ ゴシック" panose="020B0609070205080204" pitchFamily="49" charset="-128"/>
                <a:ea typeface="ＭＳ ゴシック" panose="020B0609070205080204" pitchFamily="49" charset="-128"/>
              </a:rPr>
              <a:t>佐藤</a:t>
            </a:r>
            <a:r>
              <a:rPr lang="en-US" altLang="ja-JP" sz="1800" b="0">
                <a:latin typeface="ＭＳ ゴシック" panose="020B0609070205080204" pitchFamily="49" charset="-128"/>
                <a:ea typeface="ＭＳ ゴシック" panose="020B0609070205080204" pitchFamily="49" charset="-128"/>
              </a:rPr>
              <a:t>(Sato)", "</a:t>
            </a:r>
            <a:r>
              <a:rPr lang="ja-JP" altLang="en-US" sz="1800" b="0">
                <a:latin typeface="ＭＳ ゴシック" panose="020B0609070205080204" pitchFamily="49" charset="-128"/>
                <a:ea typeface="ＭＳ ゴシック" panose="020B0609070205080204" pitchFamily="49" charset="-128"/>
              </a:rPr>
              <a:t>花子</a:t>
            </a:r>
            <a:r>
              <a:rPr lang="en-US" altLang="ja-JP" sz="1800" b="0">
                <a:latin typeface="ＭＳ ゴシック" panose="020B0609070205080204" pitchFamily="49" charset="-128"/>
                <a:ea typeface="ＭＳ ゴシック" panose="020B0609070205080204" pitchFamily="49" charset="-128"/>
              </a:rPr>
              <a:t>(Hanako)", 22);</a:t>
            </a:r>
          </a:p>
          <a:p>
            <a:pPr lvl="1">
              <a:spcBef>
                <a:spcPct val="0"/>
              </a:spcBef>
            </a:pPr>
            <a:endParaRPr lang="en-US" altLang="ja-JP" sz="1800" b="0">
              <a:latin typeface="ＭＳ ゴシック" panose="020B0609070205080204" pitchFamily="49" charset="-128"/>
              <a:ea typeface="ＭＳ ゴシック" panose="020B0609070205080204" pitchFamily="49" charset="-128"/>
            </a:endParaRPr>
          </a:p>
          <a:p>
            <a:pPr lvl="1">
              <a:spcBef>
                <a:spcPct val="0"/>
              </a:spcBef>
            </a:pPr>
            <a:r>
              <a:rPr lang="en-US" altLang="ja-JP" sz="1800" b="0">
                <a:latin typeface="ＭＳ ゴシック" panose="020B0609070205080204" pitchFamily="49" charset="-128"/>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Hiển thị thông tin cá nhân</a:t>
            </a:r>
          </a:p>
          <a:p>
            <a:pPr lvl="1">
              <a:spcBef>
                <a:spcPct val="0"/>
              </a:spcBef>
            </a:pPr>
            <a:r>
              <a:rPr lang="en-US" altLang="ja-JP" sz="1800">
                <a:solidFill>
                  <a:srgbClr val="0000FF"/>
                </a:solidFill>
                <a:latin typeface="ＭＳ ゴシック" panose="020B0609070205080204" pitchFamily="49" charset="-128"/>
                <a:ea typeface="ＭＳ ゴシック" panose="020B0609070205080204" pitchFamily="49" charset="-128"/>
              </a:rPr>
              <a:t>personA.printInfo();</a:t>
            </a:r>
            <a:r>
              <a:rPr lang="en-US" altLang="ja-JP" sz="1800" b="0">
                <a:latin typeface="ＭＳ ゴシック" panose="020B0609070205080204" pitchFamily="49" charset="-128"/>
                <a:ea typeface="ＭＳ ゴシック" panose="020B0609070205080204" pitchFamily="49" charset="-128"/>
              </a:rPr>
              <a:t>  // </a:t>
            </a:r>
            <a:r>
              <a:rPr lang="en-US" altLang="ja-JP" sz="1600" b="0">
                <a:latin typeface="Arial" panose="020B0604020202020204" pitchFamily="34" charset="0"/>
                <a:ea typeface="ＭＳ ゴシック" panose="020B0609070205080204" pitchFamily="49" charset="-128"/>
              </a:rPr>
              <a:t>Ví dụ gọi ra method không có đối số, không có giá trị trả về</a:t>
            </a:r>
          </a:p>
          <a:p>
            <a:pPr lvl="1"/>
            <a:r>
              <a:rPr lang="en-US" altLang="ja-JP" sz="1800" b="0">
                <a:latin typeface="ＭＳ ゴシック" panose="020B0609070205080204" pitchFamily="49" charset="-128"/>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Thay đổi họ</a:t>
            </a:r>
          </a:p>
          <a:p>
            <a:pPr lvl="1">
              <a:spcBef>
                <a:spcPct val="0"/>
              </a:spcBef>
            </a:pPr>
            <a:r>
              <a:rPr lang="en-US" altLang="ja-JP" sz="1800">
                <a:solidFill>
                  <a:srgbClr val="0000FF"/>
                </a:solidFill>
                <a:latin typeface="ＭＳ ゴシック" panose="020B0609070205080204" pitchFamily="49" charset="-128"/>
                <a:ea typeface="ＭＳ ゴシック" panose="020B0609070205080204" pitchFamily="49" charset="-128"/>
              </a:rPr>
              <a:t>personA.setLastName("</a:t>
            </a:r>
            <a:r>
              <a:rPr lang="ja-JP" altLang="en-US" sz="1800">
                <a:solidFill>
                  <a:srgbClr val="0000FF"/>
                </a:solidFill>
                <a:latin typeface="ＭＳ ゴシック" panose="020B0609070205080204" pitchFamily="49" charset="-128"/>
                <a:ea typeface="ＭＳ ゴシック" panose="020B0609070205080204" pitchFamily="49" charset="-128"/>
              </a:rPr>
              <a:t>川村</a:t>
            </a:r>
            <a:r>
              <a:rPr lang="en-US" altLang="ja-JP" sz="1800">
                <a:solidFill>
                  <a:srgbClr val="0000FF"/>
                </a:solidFill>
                <a:latin typeface="ＭＳ ゴシック" panose="020B0609070205080204" pitchFamily="49" charset="-128"/>
                <a:ea typeface="ＭＳ ゴシック" panose="020B0609070205080204" pitchFamily="49" charset="-128"/>
              </a:rPr>
              <a:t>(Kawamura)");</a:t>
            </a:r>
            <a:r>
              <a:rPr lang="en-US" altLang="ja-JP" sz="1800" b="0">
                <a:latin typeface="ＭＳ ゴシック" panose="020B0609070205080204" pitchFamily="49" charset="-128"/>
                <a:ea typeface="ＭＳ ゴシック" panose="020B0609070205080204" pitchFamily="49" charset="-128"/>
              </a:rPr>
              <a:t> // </a:t>
            </a:r>
            <a:r>
              <a:rPr lang="en-US" altLang="ja-JP" sz="1600" b="0">
                <a:latin typeface="Arial" panose="020B0604020202020204" pitchFamily="34" charset="0"/>
                <a:ea typeface="ＭＳ ゴシック" panose="020B0609070205080204" pitchFamily="49" charset="-128"/>
              </a:rPr>
              <a:t>Ví dụ gọi ra method có đối số, không có giá trị trả về.</a:t>
            </a:r>
          </a:p>
          <a:p>
            <a:pPr lvl="1"/>
            <a:r>
              <a:rPr lang="en-US" altLang="ja-JP" sz="1800" b="0">
                <a:latin typeface="ＭＳ ゴシック" panose="020B0609070205080204" pitchFamily="49" charset="-128"/>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Get họ tên</a:t>
            </a:r>
          </a:p>
          <a:p>
            <a:pPr lvl="1">
              <a:spcBef>
                <a:spcPct val="0"/>
              </a:spcBef>
            </a:pPr>
            <a:r>
              <a:rPr lang="en-US" altLang="ja-JP" sz="1800">
                <a:solidFill>
                  <a:srgbClr val="0000FF"/>
                </a:solidFill>
                <a:latin typeface="ＭＳ ゴシック" panose="020B0609070205080204" pitchFamily="49" charset="-128"/>
                <a:ea typeface="ＭＳ ゴシック" panose="020B0609070205080204" pitchFamily="49" charset="-128"/>
              </a:rPr>
              <a:t>String fullName = personA.getFullName();</a:t>
            </a:r>
          </a:p>
          <a:p>
            <a:pPr lvl="1">
              <a:spcBef>
                <a:spcPct val="0"/>
              </a:spcBef>
            </a:pPr>
            <a:r>
              <a:rPr lang="en-US" altLang="ja-JP" sz="1800">
                <a:solidFill>
                  <a:srgbClr val="0000FF"/>
                </a:solidFill>
                <a:latin typeface="ＭＳ ゴシック" panose="020B0609070205080204" pitchFamily="49" charset="-128"/>
                <a:ea typeface="ＭＳ ゴシック" panose="020B0609070205080204" pitchFamily="49" charset="-128"/>
              </a:rPr>
              <a:t>                           </a:t>
            </a:r>
            <a:r>
              <a:rPr lang="en-US" altLang="ja-JP" sz="1800" b="0">
                <a:latin typeface="ＭＳ ゴシック" panose="020B0609070205080204" pitchFamily="49" charset="-128"/>
                <a:ea typeface="ＭＳ ゴシック" panose="020B0609070205080204" pitchFamily="49" charset="-128"/>
              </a:rPr>
              <a:t>     // </a:t>
            </a:r>
            <a:r>
              <a:rPr lang="en-US" altLang="ja-JP" sz="1600" b="0">
                <a:latin typeface="Arial" panose="020B0604020202020204" pitchFamily="34" charset="0"/>
                <a:ea typeface="ＭＳ ゴシック" panose="020B0609070205080204" pitchFamily="49" charset="-128"/>
              </a:rPr>
              <a:t>Ví dụ gọi ra method không có đối số, có giá trị trả về</a:t>
            </a:r>
          </a:p>
          <a:p>
            <a:pPr lvl="1"/>
            <a:r>
              <a:rPr lang="en-US" altLang="ja-JP" sz="1800" b="0">
                <a:latin typeface="ＭＳ ゴシック" panose="020B0609070205080204" pitchFamily="49" charset="-128"/>
                <a:ea typeface="ＭＳ ゴシック" panose="020B0609070205080204" pitchFamily="49" charset="-128"/>
              </a:rPr>
              <a:t>System.out.println("</a:t>
            </a:r>
            <a:r>
              <a:rPr lang="ja-JP" altLang="en-US" sz="1800" b="0">
                <a:latin typeface="ＭＳ ゴシック" panose="020B0609070205080204" pitchFamily="49" charset="-128"/>
                <a:ea typeface="ＭＳ ゴシック" panose="020B0609070205080204" pitchFamily="49" charset="-128"/>
              </a:rPr>
              <a:t>変更後の姓名は</a:t>
            </a:r>
            <a:r>
              <a:rPr lang="en-US" altLang="ja-JP" sz="1600" b="0">
                <a:latin typeface="Arial" panose="020B0604020202020204" pitchFamily="34" charset="0"/>
                <a:ea typeface="ＭＳ ゴシック" panose="020B0609070205080204" pitchFamily="49" charset="-128"/>
              </a:rPr>
              <a:t>(Họ tên sau khi thay đổi là</a:t>
            </a:r>
            <a:r>
              <a:rPr lang="en-US" altLang="ja-JP" sz="1800" b="0">
                <a:latin typeface="Arial" panose="020B0604020202020204" pitchFamily="34" charset="0"/>
                <a:ea typeface="ＭＳ ゴシック" panose="020B0609070205080204" pitchFamily="49" charset="-128"/>
              </a:rPr>
              <a:t>)"</a:t>
            </a:r>
            <a:r>
              <a:rPr lang="en-US" altLang="ja-JP" sz="1800" b="0">
                <a:latin typeface="ＭＳ ゴシック" panose="020B0609070205080204" pitchFamily="49" charset="-128"/>
                <a:ea typeface="ＭＳ ゴシック" panose="020B0609070205080204" pitchFamily="49" charset="-128"/>
              </a:rPr>
              <a:t> + fullName + "</a:t>
            </a:r>
            <a:r>
              <a:rPr lang="ja-JP" altLang="en-US" sz="1800" b="0">
                <a:latin typeface="ＭＳ ゴシック" panose="020B0609070205080204" pitchFamily="49" charset="-128"/>
                <a:ea typeface="ＭＳ ゴシック" panose="020B0609070205080204" pitchFamily="49" charset="-128"/>
              </a:rPr>
              <a:t>です</a:t>
            </a:r>
            <a:r>
              <a:rPr lang="en-US" altLang="ja-JP" sz="1800" b="0">
                <a:latin typeface="ＭＳ ゴシック" panose="020B0609070205080204" pitchFamily="49" charset="-128"/>
                <a:ea typeface="ＭＳ ゴシック" panose="020B0609070205080204" pitchFamily="49" charset="-128"/>
              </a:rPr>
              <a:t>");</a:t>
            </a:r>
          </a:p>
        </p:txBody>
      </p:sp>
      <p:sp>
        <p:nvSpPr>
          <p:cNvPr id="559111" name="Text Box 7">
            <a:extLst>
              <a:ext uri="{FF2B5EF4-FFF2-40B4-BE49-F238E27FC236}">
                <a16:creationId xmlns:a16="http://schemas.microsoft.com/office/drawing/2014/main" id="{406A9BD5-BC9B-2D67-F569-D8C53CF72217}"/>
              </a:ext>
            </a:extLst>
          </p:cNvPr>
          <p:cNvSpPr txBox="1">
            <a:spLocks noChangeArrowheads="1"/>
          </p:cNvSpPr>
          <p:nvPr/>
        </p:nvSpPr>
        <p:spPr bwMode="auto">
          <a:xfrm>
            <a:off x="349250" y="1752600"/>
            <a:ext cx="9120188" cy="449263"/>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ja-JP" sz="2000">
                <a:ea typeface="MS UI Gothic" panose="020B0600070205080204" pitchFamily="50" charset="-128"/>
              </a:rPr>
              <a:t>　</a:t>
            </a:r>
            <a:r>
              <a:rPr lang="en-US" altLang="ja-JP" sz="2000">
                <a:ea typeface="MS UI Gothic" panose="020B0600070205080204" pitchFamily="50" charset="-128"/>
              </a:rPr>
              <a:t>Tên biến có tham chiếu của object</a:t>
            </a:r>
            <a:r>
              <a:rPr lang="ja-JP" altLang="ja-JP" sz="2000">
                <a:ea typeface="MS UI Gothic" panose="020B0600070205080204" pitchFamily="50" charset="-128"/>
              </a:rPr>
              <a:t> . </a:t>
            </a:r>
            <a:r>
              <a:rPr lang="en-US" altLang="ja-JP" sz="2000">
                <a:ea typeface="MS UI Gothic" panose="020B0600070205080204" pitchFamily="50" charset="-128"/>
              </a:rPr>
              <a:t>Tên method</a:t>
            </a:r>
            <a:r>
              <a:rPr lang="ja-JP" altLang="ja-JP" sz="2000">
                <a:ea typeface="ＭＳ ゴシック" panose="020B0609070205080204" pitchFamily="49" charset="-128"/>
              </a:rPr>
              <a:t>(</a:t>
            </a:r>
            <a:r>
              <a:rPr lang="ja-JP" altLang="ja-JP" sz="2000">
                <a:ea typeface="MS UI Gothic" panose="020B0600070205080204" pitchFamily="50" charset="-128"/>
              </a:rPr>
              <a:t> </a:t>
            </a:r>
            <a:r>
              <a:rPr lang="en-US" altLang="ja-JP" sz="2000">
                <a:ea typeface="MS UI Gothic" panose="020B0600070205080204" pitchFamily="50" charset="-128"/>
              </a:rPr>
              <a:t>List đối số</a:t>
            </a:r>
            <a:r>
              <a:rPr lang="ja-JP" altLang="ja-JP" sz="2000">
                <a:ea typeface="MS UI Gothic" panose="020B0600070205080204" pitchFamily="50" charset="-128"/>
              </a:rPr>
              <a:t> </a:t>
            </a:r>
            <a:r>
              <a:rPr lang="ja-JP" altLang="ja-JP" sz="2000">
                <a:ea typeface="ＭＳ ゴシック" panose="020B0609070205080204" pitchFamily="49" charset="-128"/>
              </a:rPr>
              <a:t>)</a:t>
            </a:r>
            <a:r>
              <a:rPr lang="ja-JP" altLang="ja-JP" sz="2000">
                <a:ea typeface="MS UI Gothic" panose="020B0600070205080204" pitchFamily="50" charset="-128"/>
              </a:rPr>
              <a:t> </a:t>
            </a:r>
          </a:p>
        </p:txBody>
      </p:sp>
      <p:sp>
        <p:nvSpPr>
          <p:cNvPr id="559112" name="AutoShape 8">
            <a:extLst>
              <a:ext uri="{FF2B5EF4-FFF2-40B4-BE49-F238E27FC236}">
                <a16:creationId xmlns:a16="http://schemas.microsoft.com/office/drawing/2014/main" id="{11BFC063-C03F-B413-8818-DD1D7C8CED17}"/>
              </a:ext>
            </a:extLst>
          </p:cNvPr>
          <p:cNvSpPr>
            <a:spLocks noChangeArrowheads="1"/>
          </p:cNvSpPr>
          <p:nvPr/>
        </p:nvSpPr>
        <p:spPr bwMode="auto">
          <a:xfrm>
            <a:off x="2601913" y="2430463"/>
            <a:ext cx="4845050" cy="615950"/>
          </a:xfrm>
          <a:prstGeom prst="wedgeRoundRectCallout">
            <a:avLst>
              <a:gd name="adj1" fmla="val 12778"/>
              <a:gd name="adj2" fmla="val -83245"/>
              <a:gd name="adj3" fmla="val 16667"/>
            </a:avLst>
          </a:prstGeom>
          <a:solidFill>
            <a:srgbClr val="FFCC99">
              <a:alpha val="66000"/>
            </a:srgbClr>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Kể cả trường hợp không có việc truyền nhận đối số thì () cũng cần thiết</a:t>
            </a:r>
          </a:p>
        </p:txBody>
      </p:sp>
      <p:sp>
        <p:nvSpPr>
          <p:cNvPr id="559113" name="AutoShape 9">
            <a:extLst>
              <a:ext uri="{FF2B5EF4-FFF2-40B4-BE49-F238E27FC236}">
                <a16:creationId xmlns:a16="http://schemas.microsoft.com/office/drawing/2014/main" id="{346D5CD9-4E68-9357-9675-C091E04B4F20}"/>
              </a:ext>
            </a:extLst>
          </p:cNvPr>
          <p:cNvSpPr>
            <a:spLocks noChangeArrowheads="1"/>
          </p:cNvSpPr>
          <p:nvPr/>
        </p:nvSpPr>
        <p:spPr bwMode="auto">
          <a:xfrm>
            <a:off x="6953250" y="2211388"/>
            <a:ext cx="1766888" cy="706437"/>
          </a:xfrm>
          <a:prstGeom prst="irregularSeal1">
            <a:avLst/>
          </a:prstGeom>
          <a:solidFill>
            <a:srgbClr val="FFCC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73" tIns="47736" rIns="95473" bIns="47736"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ea typeface="MS UI Gothic" panose="020B0600070205080204" pitchFamily="50" charset="-128"/>
              </a:rPr>
              <a:t>Chú ý</a:t>
            </a:r>
            <a:r>
              <a:rPr lang="ja-JP" altLang="en-US" sz="1300">
                <a:ea typeface="MS UI Gothic" panose="020B0600070205080204" pitchFamily="50" charset="-128"/>
              </a:rPr>
              <a:t>！</a:t>
            </a:r>
          </a:p>
        </p:txBody>
      </p:sp>
      <p:sp>
        <p:nvSpPr>
          <p:cNvPr id="559114" name="AutoShape 10">
            <a:extLst>
              <a:ext uri="{FF2B5EF4-FFF2-40B4-BE49-F238E27FC236}">
                <a16:creationId xmlns:a16="http://schemas.microsoft.com/office/drawing/2014/main" id="{F15E6858-04D4-05E5-3392-AAF01E097FF9}"/>
              </a:ext>
            </a:extLst>
          </p:cNvPr>
          <p:cNvSpPr>
            <a:spLocks noChangeArrowheads="1"/>
          </p:cNvSpPr>
          <p:nvPr/>
        </p:nvSpPr>
        <p:spPr bwMode="auto">
          <a:xfrm>
            <a:off x="3332163" y="1017588"/>
            <a:ext cx="6037262" cy="592137"/>
          </a:xfrm>
          <a:prstGeom prst="wedgeRoundRectCallout">
            <a:avLst>
              <a:gd name="adj1" fmla="val 18287"/>
              <a:gd name="adj2" fmla="val 77347"/>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List đối số sẽ chỉ định những đối số tương ứng với định nghĩa method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8AC6B1A-AFBB-1890-6128-CD9B468679D9}"/>
              </a:ext>
            </a:extLst>
          </p:cNvPr>
          <p:cNvSpPr>
            <a:spLocks noGrp="1"/>
          </p:cNvSpPr>
          <p:nvPr>
            <p:ph type="sldNum" sz="quarter" idx="10"/>
          </p:nvPr>
        </p:nvSpPr>
        <p:spPr/>
        <p:txBody>
          <a:bodyPr/>
          <a:lstStyle/>
          <a:p>
            <a:fld id="{206C0A67-E9FE-4EC0-8744-BB1047C57C0A}" type="slidenum">
              <a:rPr lang="en-US" altLang="ja-JP"/>
              <a:pPr/>
              <a:t>17</a:t>
            </a:fld>
            <a:endParaRPr lang="en-US" altLang="ja-JP"/>
          </a:p>
        </p:txBody>
      </p:sp>
      <p:sp>
        <p:nvSpPr>
          <p:cNvPr id="561154" name="Rectangle 2">
            <a:extLst>
              <a:ext uri="{FF2B5EF4-FFF2-40B4-BE49-F238E27FC236}">
                <a16:creationId xmlns:a16="http://schemas.microsoft.com/office/drawing/2014/main" id="{982EEAC6-CE2E-EE7A-0397-7ED00A8DDA6A}"/>
              </a:ext>
            </a:extLst>
          </p:cNvPr>
          <p:cNvSpPr>
            <a:spLocks noGrp="1" noChangeArrowheads="1"/>
          </p:cNvSpPr>
          <p:nvPr>
            <p:ph type="body" sz="half" idx="1"/>
          </p:nvPr>
        </p:nvSpPr>
        <p:spPr/>
        <p:txBody>
          <a:bodyPr/>
          <a:lstStyle/>
          <a:p>
            <a:endParaRPr lang="ja-JP" altLang="ja-JP" sz="1800"/>
          </a:p>
        </p:txBody>
      </p:sp>
      <p:sp>
        <p:nvSpPr>
          <p:cNvPr id="561155" name="Rectangle 3">
            <a:extLst>
              <a:ext uri="{FF2B5EF4-FFF2-40B4-BE49-F238E27FC236}">
                <a16:creationId xmlns:a16="http://schemas.microsoft.com/office/drawing/2014/main" id="{02407D38-DF82-306D-A4F3-A39F87C0A76D}"/>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D65BDB3E-3AB3-A69D-3415-08BC198C3102}"/>
              </a:ext>
            </a:extLst>
          </p:cNvPr>
          <p:cNvSpPr>
            <a:spLocks noGrp="1"/>
          </p:cNvSpPr>
          <p:nvPr>
            <p:ph type="sldNum" sz="quarter" idx="10"/>
          </p:nvPr>
        </p:nvSpPr>
        <p:spPr/>
        <p:txBody>
          <a:bodyPr/>
          <a:lstStyle/>
          <a:p>
            <a:fld id="{AB0F5672-FD49-47C5-A880-3C880553EACE}" type="slidenum">
              <a:rPr lang="en-US" altLang="ja-JP"/>
              <a:pPr/>
              <a:t>18</a:t>
            </a:fld>
            <a:endParaRPr lang="en-US" altLang="ja-JP"/>
          </a:p>
        </p:txBody>
      </p:sp>
      <p:sp>
        <p:nvSpPr>
          <p:cNvPr id="563202" name="Rectangle 2">
            <a:extLst>
              <a:ext uri="{FF2B5EF4-FFF2-40B4-BE49-F238E27FC236}">
                <a16:creationId xmlns:a16="http://schemas.microsoft.com/office/drawing/2014/main" id="{31283C8A-4FD9-394B-3BB1-5CFD81BCACE2}"/>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63203" name="Rectangle 3">
            <a:extLst>
              <a:ext uri="{FF2B5EF4-FFF2-40B4-BE49-F238E27FC236}">
                <a16:creationId xmlns:a16="http://schemas.microsoft.com/office/drawing/2014/main" id="{58BF2F9D-1671-C3D0-D153-B4BEA7A1EF35}"/>
              </a:ext>
            </a:extLst>
          </p:cNvPr>
          <p:cNvSpPr>
            <a:spLocks noGrp="1" noChangeArrowheads="1"/>
          </p:cNvSpPr>
          <p:nvPr>
            <p:ph type="body" sz="half" idx="1"/>
          </p:nvPr>
        </p:nvSpPr>
        <p:spPr/>
        <p:txBody>
          <a:bodyPr/>
          <a:lstStyle/>
          <a:p>
            <a:endParaRPr lang="ja-JP" altLang="ja-JP" sz="1800"/>
          </a:p>
        </p:txBody>
      </p:sp>
      <p:sp>
        <p:nvSpPr>
          <p:cNvPr id="563204" name="Rectangle 4">
            <a:extLst>
              <a:ext uri="{FF2B5EF4-FFF2-40B4-BE49-F238E27FC236}">
                <a16:creationId xmlns:a16="http://schemas.microsoft.com/office/drawing/2014/main" id="{327A6FAC-2B14-6707-2F35-8BE5AAA111F8}"/>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53E59520-2AD1-A431-7B3D-1EE18C22C6FE}"/>
              </a:ext>
            </a:extLst>
          </p:cNvPr>
          <p:cNvSpPr>
            <a:spLocks noGrp="1"/>
          </p:cNvSpPr>
          <p:nvPr>
            <p:ph type="sldNum" sz="quarter" idx="10"/>
          </p:nvPr>
        </p:nvSpPr>
        <p:spPr/>
        <p:txBody>
          <a:bodyPr/>
          <a:lstStyle/>
          <a:p>
            <a:fld id="{C6707BD3-8223-4D16-A864-18AA8BA491B4}" type="slidenum">
              <a:rPr lang="en-US" altLang="ja-JP"/>
              <a:pPr/>
              <a:t>19</a:t>
            </a:fld>
            <a:endParaRPr lang="en-US" altLang="ja-JP"/>
          </a:p>
        </p:txBody>
      </p:sp>
      <p:sp>
        <p:nvSpPr>
          <p:cNvPr id="565250" name="Rectangle 2">
            <a:extLst>
              <a:ext uri="{FF2B5EF4-FFF2-40B4-BE49-F238E27FC236}">
                <a16:creationId xmlns:a16="http://schemas.microsoft.com/office/drawing/2014/main" id="{264D8141-928B-CC93-842C-B7381E609FCB}"/>
              </a:ext>
            </a:extLst>
          </p:cNvPr>
          <p:cNvSpPr>
            <a:spLocks noGrp="1" noChangeArrowheads="1"/>
          </p:cNvSpPr>
          <p:nvPr>
            <p:ph type="title"/>
          </p:nvPr>
        </p:nvSpPr>
        <p:spPr/>
        <p:txBody>
          <a:bodyPr>
            <a:normAutofit fontScale="90000"/>
          </a:bodyPr>
          <a:lstStyle/>
          <a:p>
            <a:r>
              <a:rPr lang="en-US" altLang="ja-JP">
                <a:latin typeface="MS UI Gothic" panose="020B0600070205080204" pitchFamily="50" charset="-128"/>
                <a:ea typeface="MS UI Gothic" panose="020B0600070205080204" pitchFamily="50" charset="-128"/>
              </a:rPr>
              <a:t>2.7</a:t>
            </a:r>
            <a:r>
              <a:rPr lang="ja-JP" altLang="en-US">
                <a:latin typeface="MS UI Gothic" panose="020B0600070205080204" pitchFamily="50" charset="-128"/>
                <a:ea typeface="MS UI Gothic" panose="020B0600070205080204" pitchFamily="50" charset="-128"/>
              </a:rPr>
              <a:t>　</a:t>
            </a:r>
            <a:r>
              <a:rPr lang="en-US" altLang="ja-JP">
                <a:latin typeface="MS UI Gothic" panose="020B0600070205080204" pitchFamily="50" charset="-128"/>
                <a:ea typeface="MS UI Gothic" panose="020B0600070205080204" pitchFamily="50" charset="-128"/>
              </a:rPr>
              <a:t>Overload</a:t>
            </a:r>
          </a:p>
        </p:txBody>
      </p:sp>
      <p:sp>
        <p:nvSpPr>
          <p:cNvPr id="565251" name="Rectangle 3">
            <a:extLst>
              <a:ext uri="{FF2B5EF4-FFF2-40B4-BE49-F238E27FC236}">
                <a16:creationId xmlns:a16="http://schemas.microsoft.com/office/drawing/2014/main" id="{ED84BEBE-B2D9-E7AC-0FA3-0C9480C4ECB2}"/>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65252" name="Rectangle 4">
            <a:extLst>
              <a:ext uri="{FF2B5EF4-FFF2-40B4-BE49-F238E27FC236}">
                <a16:creationId xmlns:a16="http://schemas.microsoft.com/office/drawing/2014/main" id="{B31FF87B-0E62-49BE-D88C-36A8DB492ECC}"/>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Overload</a:t>
            </a:r>
          </a:p>
          <a:p>
            <a:pPr lvl="1"/>
            <a:endParaRPr lang="en-US" altLang="ja-JP" sz="2400" b="0"/>
          </a:p>
        </p:txBody>
      </p:sp>
      <p:sp>
        <p:nvSpPr>
          <p:cNvPr id="565253" name="Rectangle 5">
            <a:extLst>
              <a:ext uri="{FF2B5EF4-FFF2-40B4-BE49-F238E27FC236}">
                <a16:creationId xmlns:a16="http://schemas.microsoft.com/office/drawing/2014/main" id="{D377F195-DD81-8788-A6B8-5BF4DCBCC32E}"/>
              </a:ext>
            </a:extLst>
          </p:cNvPr>
          <p:cNvSpPr>
            <a:spLocks noChangeArrowheads="1"/>
          </p:cNvSpPr>
          <p:nvPr/>
        </p:nvSpPr>
        <p:spPr bwMode="auto">
          <a:xfrm>
            <a:off x="344488" y="23653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a:t>
            </a:r>
            <a:r>
              <a:rPr lang="en-US" altLang="ja-JP" sz="2000" b="0">
                <a:latin typeface="Arial" panose="020B0604020202020204" pitchFamily="34" charset="0"/>
              </a:rPr>
              <a:t>Ví dụ tốt</a:t>
            </a:r>
            <a:endParaRPr lang="en-US" altLang="ja-JP" sz="2400" b="0">
              <a:latin typeface="Arial" panose="020B0604020202020204" pitchFamily="34" charset="0"/>
            </a:endParaRPr>
          </a:p>
        </p:txBody>
      </p:sp>
      <p:sp>
        <p:nvSpPr>
          <p:cNvPr id="565254" name="Rectangle 6">
            <a:extLst>
              <a:ext uri="{FF2B5EF4-FFF2-40B4-BE49-F238E27FC236}">
                <a16:creationId xmlns:a16="http://schemas.microsoft.com/office/drawing/2014/main" id="{D46B7E95-B901-1545-49B5-C1C8FB4D3666}"/>
              </a:ext>
            </a:extLst>
          </p:cNvPr>
          <p:cNvSpPr>
            <a:spLocks noChangeArrowheads="1"/>
          </p:cNvSpPr>
          <p:nvPr/>
        </p:nvSpPr>
        <p:spPr bwMode="auto">
          <a:xfrm>
            <a:off x="344488" y="2930525"/>
            <a:ext cx="9120187" cy="104616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void proc1() { … }</a:t>
            </a:r>
          </a:p>
          <a:p>
            <a:pPr lvl="1"/>
            <a:r>
              <a:rPr lang="en-US" altLang="ja-JP" sz="1800" b="0">
                <a:latin typeface="ＭＳ ゴシック" panose="020B0609070205080204" pitchFamily="49" charset="-128"/>
                <a:ea typeface="ＭＳ ゴシック" panose="020B0609070205080204" pitchFamily="49" charset="-128"/>
              </a:rPr>
              <a:t>void proc1(int i, String str) { … }</a:t>
            </a:r>
          </a:p>
          <a:p>
            <a:pPr lvl="1"/>
            <a:r>
              <a:rPr lang="en-US" altLang="ja-JP" sz="1800" b="0">
                <a:latin typeface="ＭＳ ゴシック" panose="020B0609070205080204" pitchFamily="49" charset="-128"/>
                <a:ea typeface="ＭＳ ゴシック" panose="020B0609070205080204" pitchFamily="49" charset="-128"/>
              </a:rPr>
              <a:t>void proc1(String str, int i) { … }</a:t>
            </a:r>
          </a:p>
        </p:txBody>
      </p:sp>
      <p:sp>
        <p:nvSpPr>
          <p:cNvPr id="565255" name="AutoShape 7">
            <a:extLst>
              <a:ext uri="{FF2B5EF4-FFF2-40B4-BE49-F238E27FC236}">
                <a16:creationId xmlns:a16="http://schemas.microsoft.com/office/drawing/2014/main" id="{8E74E47D-422A-E122-DB8C-348DB09C83D8}"/>
              </a:ext>
            </a:extLst>
          </p:cNvPr>
          <p:cNvSpPr>
            <a:spLocks noChangeArrowheads="1"/>
          </p:cNvSpPr>
          <p:nvPr/>
        </p:nvSpPr>
        <p:spPr bwMode="auto">
          <a:xfrm>
            <a:off x="4256088" y="3724275"/>
            <a:ext cx="5068887" cy="617538"/>
          </a:xfrm>
          <a:prstGeom prst="wedgeRoundRectCallout">
            <a:avLst>
              <a:gd name="adj1" fmla="val -40481"/>
              <a:gd name="adj2" fmla="val -58741"/>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List đối số</a:t>
            </a:r>
            <a:r>
              <a:rPr lang="ja-JP" altLang="en-US" sz="1800"/>
              <a:t>（ </a:t>
            </a:r>
            <a:r>
              <a:rPr lang="en-US" altLang="ja-JP" sz="1800"/>
              <a:t>int , String </a:t>
            </a:r>
            <a:r>
              <a:rPr lang="ja-JP" altLang="en-US" sz="1800"/>
              <a:t>） </a:t>
            </a:r>
            <a:r>
              <a:rPr lang="en-US" altLang="ja-JP" sz="1800"/>
              <a:t>và </a:t>
            </a:r>
            <a:r>
              <a:rPr lang="ja-JP" altLang="en-US" sz="1800"/>
              <a:t>（ </a:t>
            </a:r>
            <a:r>
              <a:rPr lang="en-US" altLang="ja-JP" sz="1800"/>
              <a:t>String , int </a:t>
            </a:r>
            <a:r>
              <a:rPr lang="ja-JP" altLang="en-US" sz="1800"/>
              <a:t>）</a:t>
            </a:r>
            <a:r>
              <a:rPr lang="en-US" altLang="ja-JP" sz="1800"/>
              <a:t>là những method(constructor) riêng biệt</a:t>
            </a:r>
          </a:p>
        </p:txBody>
      </p:sp>
      <p:sp>
        <p:nvSpPr>
          <p:cNvPr id="565256" name="Rectangle 8">
            <a:extLst>
              <a:ext uri="{FF2B5EF4-FFF2-40B4-BE49-F238E27FC236}">
                <a16:creationId xmlns:a16="http://schemas.microsoft.com/office/drawing/2014/main" id="{6DC90A88-120C-0A3C-20D6-D4CF0CFA5805}"/>
              </a:ext>
            </a:extLst>
          </p:cNvPr>
          <p:cNvSpPr>
            <a:spLocks noChangeArrowheads="1"/>
          </p:cNvSpPr>
          <p:nvPr/>
        </p:nvSpPr>
        <p:spPr bwMode="auto">
          <a:xfrm>
            <a:off x="344488" y="1206500"/>
            <a:ext cx="9120187" cy="6556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Là việc định nghĩa các method hoặc constructor cùng tên nhưng có đối số khác nhau trong cùng class.</a:t>
            </a:r>
          </a:p>
        </p:txBody>
      </p:sp>
      <p:sp>
        <p:nvSpPr>
          <p:cNvPr id="565257" name="Rectangle 9">
            <a:extLst>
              <a:ext uri="{FF2B5EF4-FFF2-40B4-BE49-F238E27FC236}">
                <a16:creationId xmlns:a16="http://schemas.microsoft.com/office/drawing/2014/main" id="{C54C8401-59BA-A112-31B4-254B0C6DF075}"/>
              </a:ext>
            </a:extLst>
          </p:cNvPr>
          <p:cNvSpPr>
            <a:spLocks noChangeArrowheads="1"/>
          </p:cNvSpPr>
          <p:nvPr/>
        </p:nvSpPr>
        <p:spPr bwMode="auto">
          <a:xfrm>
            <a:off x="344488" y="4594225"/>
            <a:ext cx="9120187" cy="7016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void proc2(int x) { … }</a:t>
            </a:r>
          </a:p>
          <a:p>
            <a:pPr lvl="1"/>
            <a:r>
              <a:rPr lang="en-US" altLang="ja-JP" sz="1800" b="0">
                <a:latin typeface="ＭＳ ゴシック" panose="020B0609070205080204" pitchFamily="49" charset="-128"/>
                <a:ea typeface="ＭＳ ゴシック" panose="020B0609070205080204" pitchFamily="49" charset="-128"/>
              </a:rPr>
              <a:t>boolean proc2(int x) { … }</a:t>
            </a:r>
          </a:p>
        </p:txBody>
      </p:sp>
      <p:sp>
        <p:nvSpPr>
          <p:cNvPr id="565258" name="Rectangle 10">
            <a:extLst>
              <a:ext uri="{FF2B5EF4-FFF2-40B4-BE49-F238E27FC236}">
                <a16:creationId xmlns:a16="http://schemas.microsoft.com/office/drawing/2014/main" id="{79CA4EC1-9B40-42DA-7949-401A16D5F76A}"/>
              </a:ext>
            </a:extLst>
          </p:cNvPr>
          <p:cNvSpPr>
            <a:spLocks noChangeArrowheads="1"/>
          </p:cNvSpPr>
          <p:nvPr/>
        </p:nvSpPr>
        <p:spPr bwMode="auto">
          <a:xfrm>
            <a:off x="344488" y="5527675"/>
            <a:ext cx="9120187" cy="7016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void proc3(int x) { … }</a:t>
            </a:r>
          </a:p>
          <a:p>
            <a:pPr lvl="1"/>
            <a:r>
              <a:rPr lang="en-US" altLang="ja-JP" sz="1800" b="0">
                <a:latin typeface="ＭＳ ゴシック" panose="020B0609070205080204" pitchFamily="49" charset="-128"/>
                <a:ea typeface="ＭＳ ゴシック" panose="020B0609070205080204" pitchFamily="49" charset="-128"/>
              </a:rPr>
              <a:t>void proc3(int y) { … }</a:t>
            </a:r>
          </a:p>
        </p:txBody>
      </p:sp>
      <p:sp>
        <p:nvSpPr>
          <p:cNvPr id="565259" name="AutoShape 11">
            <a:extLst>
              <a:ext uri="{FF2B5EF4-FFF2-40B4-BE49-F238E27FC236}">
                <a16:creationId xmlns:a16="http://schemas.microsoft.com/office/drawing/2014/main" id="{A3EF1090-26BB-C48F-10C3-B93B3178C353}"/>
              </a:ext>
            </a:extLst>
          </p:cNvPr>
          <p:cNvSpPr>
            <a:spLocks noChangeArrowheads="1"/>
          </p:cNvSpPr>
          <p:nvPr/>
        </p:nvSpPr>
        <p:spPr bwMode="auto">
          <a:xfrm>
            <a:off x="1401763" y="1965325"/>
            <a:ext cx="8062912" cy="615950"/>
          </a:xfrm>
          <a:prstGeom prst="wedgeRoundRectCallout">
            <a:avLst>
              <a:gd name="adj1" fmla="val -30509"/>
              <a:gd name="adj2" fmla="val -74741"/>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Đối số giống nhau nghĩa là </a:t>
            </a:r>
            <a:r>
              <a:rPr lang="ja-JP" altLang="en-US" sz="1800"/>
              <a:t>「</a:t>
            </a:r>
            <a:r>
              <a:rPr lang="en-US" altLang="ja-JP" sz="1800"/>
              <a:t>số lượng của đối số</a:t>
            </a:r>
            <a:r>
              <a:rPr lang="ja-JP" altLang="en-US" sz="1800"/>
              <a:t>」「</a:t>
            </a:r>
            <a:r>
              <a:rPr lang="en-US" altLang="ja-JP" sz="1800"/>
              <a:t>kiểu data</a:t>
            </a:r>
            <a:r>
              <a:rPr lang="ja-JP" altLang="en-US" sz="1800"/>
              <a:t>」「</a:t>
            </a:r>
            <a:r>
              <a:rPr lang="en-US" altLang="ja-JP" sz="1800"/>
              <a:t>trình tự chỉ định của đối số</a:t>
            </a:r>
            <a:r>
              <a:rPr lang="ja-JP" altLang="en-US" sz="1800"/>
              <a:t>」 </a:t>
            </a:r>
            <a:r>
              <a:rPr lang="en-US" altLang="ja-JP" sz="1800"/>
              <a:t>là hoàn toàn giống nhau.</a:t>
            </a:r>
          </a:p>
        </p:txBody>
      </p:sp>
      <p:sp>
        <p:nvSpPr>
          <p:cNvPr id="565260" name="AutoShape 12">
            <a:extLst>
              <a:ext uri="{FF2B5EF4-FFF2-40B4-BE49-F238E27FC236}">
                <a16:creationId xmlns:a16="http://schemas.microsoft.com/office/drawing/2014/main" id="{BC7F1152-F8A6-5462-E03B-CA3ECE75B046}"/>
              </a:ext>
            </a:extLst>
          </p:cNvPr>
          <p:cNvSpPr>
            <a:spLocks noChangeArrowheads="1"/>
          </p:cNvSpPr>
          <p:nvPr/>
        </p:nvSpPr>
        <p:spPr bwMode="auto">
          <a:xfrm>
            <a:off x="3421063" y="5141913"/>
            <a:ext cx="1766887" cy="706437"/>
          </a:xfrm>
          <a:prstGeom prst="irregularSeal1">
            <a:avLst/>
          </a:prstGeom>
          <a:solidFill>
            <a:srgbClr val="FFCC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73" tIns="47736" rIns="95473" bIns="47736"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ea typeface="MS UI Gothic" panose="020B0600070205080204" pitchFamily="50" charset="-128"/>
              </a:rPr>
              <a:t>Chú ý</a:t>
            </a:r>
            <a:r>
              <a:rPr lang="ja-JP" altLang="en-US" sz="1300">
                <a:ea typeface="MS UI Gothic" panose="020B0600070205080204" pitchFamily="50" charset="-128"/>
              </a:rPr>
              <a:t>！</a:t>
            </a:r>
          </a:p>
        </p:txBody>
      </p:sp>
      <p:sp>
        <p:nvSpPr>
          <p:cNvPr id="565261" name="Rectangle 13">
            <a:extLst>
              <a:ext uri="{FF2B5EF4-FFF2-40B4-BE49-F238E27FC236}">
                <a16:creationId xmlns:a16="http://schemas.microsoft.com/office/drawing/2014/main" id="{24DE1947-BF94-4AFB-E7B0-3BBA38826937}"/>
              </a:ext>
            </a:extLst>
          </p:cNvPr>
          <p:cNvSpPr>
            <a:spLocks noChangeArrowheads="1"/>
          </p:cNvSpPr>
          <p:nvPr/>
        </p:nvSpPr>
        <p:spPr bwMode="auto">
          <a:xfrm>
            <a:off x="344488" y="412273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a:t>
            </a:r>
            <a:r>
              <a:rPr lang="en-US" altLang="ja-JP" sz="2000" b="0">
                <a:latin typeface="Arial" panose="020B0604020202020204" pitchFamily="34" charset="0"/>
              </a:rPr>
              <a:t>Ví dụ xấu</a:t>
            </a:r>
            <a:endParaRPr lang="en-US" altLang="ja-JP" sz="2400" b="0">
              <a:latin typeface="Arial" panose="020B0604020202020204" pitchFamily="34" charset="0"/>
            </a:endParaRPr>
          </a:p>
        </p:txBody>
      </p:sp>
      <p:sp>
        <p:nvSpPr>
          <p:cNvPr id="565262" name="AutoShape 14">
            <a:extLst>
              <a:ext uri="{FF2B5EF4-FFF2-40B4-BE49-F238E27FC236}">
                <a16:creationId xmlns:a16="http://schemas.microsoft.com/office/drawing/2014/main" id="{F8E329DA-7BBB-5A1E-FA6B-0C1D732E063D}"/>
              </a:ext>
            </a:extLst>
          </p:cNvPr>
          <p:cNvSpPr>
            <a:spLocks noChangeArrowheads="1"/>
          </p:cNvSpPr>
          <p:nvPr/>
        </p:nvSpPr>
        <p:spPr bwMode="auto">
          <a:xfrm>
            <a:off x="5111750" y="4489450"/>
            <a:ext cx="3990975" cy="881063"/>
          </a:xfrm>
          <a:prstGeom prst="wedgeRoundRectCallout">
            <a:avLst>
              <a:gd name="adj1" fmla="val -81824"/>
              <a:gd name="adj2" fmla="val 11981"/>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Nếu định nghĩa method có đối số giống nhau, giá trị trả về khác nhau sẽ bị compile error.</a:t>
            </a:r>
          </a:p>
        </p:txBody>
      </p:sp>
      <p:sp>
        <p:nvSpPr>
          <p:cNvPr id="565263" name="AutoShape 15">
            <a:extLst>
              <a:ext uri="{FF2B5EF4-FFF2-40B4-BE49-F238E27FC236}">
                <a16:creationId xmlns:a16="http://schemas.microsoft.com/office/drawing/2014/main" id="{2CE17F8D-8E6C-7A37-0B2D-FEDD0095C4BA}"/>
              </a:ext>
            </a:extLst>
          </p:cNvPr>
          <p:cNvSpPr>
            <a:spLocks noChangeArrowheads="1"/>
          </p:cNvSpPr>
          <p:nvPr/>
        </p:nvSpPr>
        <p:spPr bwMode="auto">
          <a:xfrm>
            <a:off x="5111750" y="5519738"/>
            <a:ext cx="4257675" cy="895350"/>
          </a:xfrm>
          <a:prstGeom prst="wedgeRoundRectCallout">
            <a:avLst>
              <a:gd name="adj1" fmla="val -82773"/>
              <a:gd name="adj2" fmla="val -3190"/>
              <a:gd name="adj3" fmla="val 16667"/>
            </a:avLst>
          </a:prstGeom>
          <a:solidFill>
            <a:srgbClr val="FFFF99"/>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Do dù tên biến của đối số có khác nhau đi nữa nhưng nếu kiểu data giống nhau thì vẫn bị compile error.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ACCE1B8-E7B9-C897-35B3-E166C864239D}"/>
              </a:ext>
            </a:extLst>
          </p:cNvPr>
          <p:cNvSpPr>
            <a:spLocks noGrp="1"/>
          </p:cNvSpPr>
          <p:nvPr>
            <p:ph type="sldNum" sz="quarter" idx="10"/>
          </p:nvPr>
        </p:nvSpPr>
        <p:spPr/>
        <p:txBody>
          <a:bodyPr/>
          <a:lstStyle/>
          <a:p>
            <a:fld id="{50C7277C-E4EB-4843-9EA4-6C0351F437D3}" type="slidenum">
              <a:rPr lang="en-US" altLang="ja-JP"/>
              <a:pPr/>
              <a:t>20</a:t>
            </a:fld>
            <a:endParaRPr lang="en-US" altLang="ja-JP"/>
          </a:p>
        </p:txBody>
      </p:sp>
      <p:sp>
        <p:nvSpPr>
          <p:cNvPr id="567298" name="Rectangle 2">
            <a:extLst>
              <a:ext uri="{FF2B5EF4-FFF2-40B4-BE49-F238E27FC236}">
                <a16:creationId xmlns:a16="http://schemas.microsoft.com/office/drawing/2014/main" id="{71BDE7BB-97C7-C0C0-4C7B-6EECA4C8690A}"/>
              </a:ext>
            </a:extLst>
          </p:cNvPr>
          <p:cNvSpPr>
            <a:spLocks noGrp="1" noChangeArrowheads="1"/>
          </p:cNvSpPr>
          <p:nvPr>
            <p:ph type="body" sz="half" idx="1"/>
          </p:nvPr>
        </p:nvSpPr>
        <p:spPr/>
        <p:txBody>
          <a:bodyPr/>
          <a:lstStyle/>
          <a:p>
            <a:endParaRPr lang="ja-JP" altLang="ja-JP" sz="1800"/>
          </a:p>
        </p:txBody>
      </p:sp>
      <p:sp>
        <p:nvSpPr>
          <p:cNvPr id="567299" name="Rectangle 3">
            <a:extLst>
              <a:ext uri="{FF2B5EF4-FFF2-40B4-BE49-F238E27FC236}">
                <a16:creationId xmlns:a16="http://schemas.microsoft.com/office/drawing/2014/main" id="{96478AA8-2E3A-4274-7E01-955D910E4385}"/>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96784DF5-DE95-9D36-EA58-2C4C7BFA51EE}"/>
              </a:ext>
            </a:extLst>
          </p:cNvPr>
          <p:cNvSpPr>
            <a:spLocks noGrp="1"/>
          </p:cNvSpPr>
          <p:nvPr>
            <p:ph type="sldNum" sz="quarter" idx="10"/>
          </p:nvPr>
        </p:nvSpPr>
        <p:spPr/>
        <p:txBody>
          <a:bodyPr/>
          <a:lstStyle/>
          <a:p>
            <a:fld id="{051EFF7E-8AA9-4A14-9ABC-2EFD19068D91}" type="slidenum">
              <a:rPr lang="en-US" altLang="ja-JP"/>
              <a:pPr/>
              <a:t>21</a:t>
            </a:fld>
            <a:endParaRPr lang="en-US" altLang="ja-JP"/>
          </a:p>
        </p:txBody>
      </p:sp>
      <p:sp>
        <p:nvSpPr>
          <p:cNvPr id="446466" name="Rectangle 2">
            <a:extLst>
              <a:ext uri="{FF2B5EF4-FFF2-40B4-BE49-F238E27FC236}">
                <a16:creationId xmlns:a16="http://schemas.microsoft.com/office/drawing/2014/main" id="{C950EBBB-1123-E340-543C-E911A67CCB3F}"/>
              </a:ext>
            </a:extLst>
          </p:cNvPr>
          <p:cNvSpPr>
            <a:spLocks noGrp="1" noChangeArrowheads="1"/>
          </p:cNvSpPr>
          <p:nvPr>
            <p:ph type="title"/>
          </p:nvPr>
        </p:nvSpPr>
        <p:spPr/>
        <p:txBody>
          <a:bodyPr>
            <a:normAutofit fontScale="90000"/>
          </a:bodyPr>
          <a:lstStyle/>
          <a:p>
            <a:r>
              <a:rPr lang="en-US" altLang="ja-JP">
                <a:latin typeface="Arial" panose="020B0604020202020204" pitchFamily="34" charset="0"/>
                <a:ea typeface="MS UI Gothic" panose="020B0600070205080204" pitchFamily="50" charset="-128"/>
              </a:rPr>
              <a:t>2.8</a:t>
            </a:r>
            <a:r>
              <a:rPr lang="ja-JP" altLang="en-US">
                <a:latin typeface="Arial" panose="020B0604020202020204" pitchFamily="34" charset="0"/>
                <a:ea typeface="MS UI Gothic" panose="020B0600070205080204" pitchFamily="50" charset="-128"/>
              </a:rPr>
              <a:t>　</a:t>
            </a:r>
            <a:r>
              <a:rPr lang="en-US" altLang="ja-JP">
                <a:latin typeface="Arial" panose="020B0604020202020204" pitchFamily="34" charset="0"/>
                <a:ea typeface="MS UI Gothic" panose="020B0600070205080204" pitchFamily="50" charset="-128"/>
              </a:rPr>
              <a:t>Biến static, static method (1)</a:t>
            </a:r>
          </a:p>
        </p:txBody>
      </p:sp>
      <p:sp>
        <p:nvSpPr>
          <p:cNvPr id="446468" name="Rectangle 4">
            <a:extLst>
              <a:ext uri="{FF2B5EF4-FFF2-40B4-BE49-F238E27FC236}">
                <a16:creationId xmlns:a16="http://schemas.microsoft.com/office/drawing/2014/main" id="{DFE2D350-A61F-228D-1F83-489B90036D1A}"/>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Biến static</a:t>
            </a:r>
          </a:p>
        </p:txBody>
      </p:sp>
      <p:sp>
        <p:nvSpPr>
          <p:cNvPr id="446476" name="Rectangle 12">
            <a:extLst>
              <a:ext uri="{FF2B5EF4-FFF2-40B4-BE49-F238E27FC236}">
                <a16:creationId xmlns:a16="http://schemas.microsoft.com/office/drawing/2014/main" id="{7A440A7B-152D-DD3B-697A-23E0A3258C60}"/>
              </a:ext>
            </a:extLst>
          </p:cNvPr>
          <p:cNvSpPr>
            <a:spLocks noChangeArrowheads="1"/>
          </p:cNvSpPr>
          <p:nvPr/>
        </p:nvSpPr>
        <p:spPr bwMode="auto">
          <a:xfrm>
            <a:off x="344488" y="1284288"/>
            <a:ext cx="9120187" cy="120173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a:latin typeface="Arial" panose="020B0604020202020204" pitchFamily="34" charset="0"/>
              </a:rPr>
              <a:t>Là biến có vùng nhớ được đảm bảo theo đơn vị class và có thể sử dụng được ngay cả khi không có object.</a:t>
            </a:r>
          </a:p>
          <a:p>
            <a:pPr>
              <a:buFont typeface="Wingdings" panose="05000000000000000000" pitchFamily="2" charset="2"/>
              <a:buNone/>
            </a:pPr>
            <a:r>
              <a:rPr lang="en-US" altLang="ja-JP" sz="1800">
                <a:latin typeface="Arial" panose="020B0604020202020204" pitchFamily="34" charset="0"/>
              </a:rPr>
              <a:t>Sử dụng static keyword để khai báo</a:t>
            </a:r>
          </a:p>
          <a:p>
            <a:pPr>
              <a:buFont typeface="Wingdings" panose="05000000000000000000" pitchFamily="2" charset="2"/>
              <a:buNone/>
            </a:pPr>
            <a:r>
              <a:rPr lang="en-US" altLang="ja-JP" sz="1800">
                <a:latin typeface="Arial" panose="020B0604020202020204" pitchFamily="34" charset="0"/>
              </a:rPr>
              <a:t>Trường hợp access vào biến static thì sẽ chỉ định là</a:t>
            </a:r>
            <a:r>
              <a:rPr lang="ja-JP" altLang="en-US" sz="1800">
                <a:latin typeface="Arial" panose="020B0604020202020204" pitchFamily="34" charset="0"/>
              </a:rPr>
              <a:t>「</a:t>
            </a:r>
            <a:r>
              <a:rPr lang="en-US" altLang="ja-JP" sz="1800">
                <a:latin typeface="Arial" panose="020B0604020202020204" pitchFamily="34" charset="0"/>
              </a:rPr>
              <a:t>class name.tên biến</a:t>
            </a:r>
            <a:r>
              <a:rPr lang="ja-JP" altLang="en-US" sz="1800">
                <a:latin typeface="Arial" panose="020B0604020202020204" pitchFamily="34" charset="0"/>
              </a:rPr>
              <a:t>」</a:t>
            </a:r>
          </a:p>
        </p:txBody>
      </p:sp>
      <p:sp>
        <p:nvSpPr>
          <p:cNvPr id="446483" name="Rectangle 19">
            <a:extLst>
              <a:ext uri="{FF2B5EF4-FFF2-40B4-BE49-F238E27FC236}">
                <a16:creationId xmlns:a16="http://schemas.microsoft.com/office/drawing/2014/main" id="{534A3F29-0A27-D0D7-0E26-CE9226A13616}"/>
              </a:ext>
            </a:extLst>
          </p:cNvPr>
          <p:cNvSpPr>
            <a:spLocks noChangeArrowheads="1"/>
          </p:cNvSpPr>
          <p:nvPr/>
        </p:nvSpPr>
        <p:spPr bwMode="auto">
          <a:xfrm>
            <a:off x="344488" y="26352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p>
          <a:p>
            <a:pPr>
              <a:spcBef>
                <a:spcPct val="50000"/>
              </a:spcBef>
              <a:buFont typeface="Wingdings" panose="05000000000000000000" pitchFamily="2" charset="2"/>
              <a:buNone/>
            </a:pPr>
            <a:r>
              <a:rPr lang="en-US" altLang="ja-JP" sz="2000" b="0">
                <a:latin typeface="Arial" panose="020B0604020202020204" pitchFamily="34" charset="0"/>
              </a:rPr>
              <a:t>【Biến static được định nghĩa trong Person class】</a:t>
            </a:r>
          </a:p>
        </p:txBody>
      </p:sp>
      <p:sp>
        <p:nvSpPr>
          <p:cNvPr id="446484" name="Rectangle 20">
            <a:extLst>
              <a:ext uri="{FF2B5EF4-FFF2-40B4-BE49-F238E27FC236}">
                <a16:creationId xmlns:a16="http://schemas.microsoft.com/office/drawing/2014/main" id="{C5EFCA22-1789-2AD7-10A7-78599C95A9AC}"/>
              </a:ext>
            </a:extLst>
          </p:cNvPr>
          <p:cNvSpPr>
            <a:spLocks noChangeArrowheads="1"/>
          </p:cNvSpPr>
          <p:nvPr/>
        </p:nvSpPr>
        <p:spPr bwMode="auto">
          <a:xfrm>
            <a:off x="344488" y="3621088"/>
            <a:ext cx="9120187" cy="43338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public </a:t>
            </a:r>
            <a:r>
              <a:rPr lang="en-US" altLang="ja-JP" sz="1800">
                <a:solidFill>
                  <a:srgbClr val="0000FF"/>
                </a:solidFill>
                <a:latin typeface="ＭＳ ゴシック" panose="020B0609070205080204" pitchFamily="49" charset="-128"/>
                <a:ea typeface="ＭＳ ゴシック" panose="020B0609070205080204" pitchFamily="49" charset="-128"/>
              </a:rPr>
              <a:t>static</a:t>
            </a:r>
            <a:r>
              <a:rPr lang="en-US" altLang="ja-JP" sz="1800" b="0">
                <a:latin typeface="ＭＳ ゴシック" panose="020B0609070205080204" pitchFamily="49" charset="-128"/>
                <a:ea typeface="ＭＳ ゴシック" panose="020B0609070205080204" pitchFamily="49" charset="-128"/>
              </a:rPr>
              <a:t> final String SPECIES = "Homo sapiens";</a:t>
            </a:r>
          </a:p>
        </p:txBody>
      </p:sp>
      <p:sp>
        <p:nvSpPr>
          <p:cNvPr id="446485" name="Rectangle 21">
            <a:extLst>
              <a:ext uri="{FF2B5EF4-FFF2-40B4-BE49-F238E27FC236}">
                <a16:creationId xmlns:a16="http://schemas.microsoft.com/office/drawing/2014/main" id="{150EB520-C5BE-2FC1-F791-AC1F9332984F}"/>
              </a:ext>
            </a:extLst>
          </p:cNvPr>
          <p:cNvSpPr>
            <a:spLocks noChangeArrowheads="1"/>
          </p:cNvSpPr>
          <p:nvPr/>
        </p:nvSpPr>
        <p:spPr bwMode="auto">
          <a:xfrm>
            <a:off x="344488" y="476726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 sử dụng】</a:t>
            </a:r>
          </a:p>
        </p:txBody>
      </p:sp>
      <p:sp>
        <p:nvSpPr>
          <p:cNvPr id="446486" name="Rectangle 22">
            <a:extLst>
              <a:ext uri="{FF2B5EF4-FFF2-40B4-BE49-F238E27FC236}">
                <a16:creationId xmlns:a16="http://schemas.microsoft.com/office/drawing/2014/main" id="{60911944-C395-486E-01BD-D4D6E515731F}"/>
              </a:ext>
            </a:extLst>
          </p:cNvPr>
          <p:cNvSpPr>
            <a:spLocks noChangeArrowheads="1"/>
          </p:cNvSpPr>
          <p:nvPr/>
        </p:nvSpPr>
        <p:spPr bwMode="auto">
          <a:xfrm>
            <a:off x="344488" y="5291138"/>
            <a:ext cx="9120187" cy="4191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System.out.println("</a:t>
            </a:r>
            <a:r>
              <a:rPr lang="ja-JP" altLang="en-US" sz="1800" b="0">
                <a:latin typeface="ＭＳ ゴシック" panose="020B0609070205080204" pitchFamily="49" charset="-128"/>
                <a:ea typeface="ＭＳ ゴシック" panose="020B0609070205080204" pitchFamily="49" charset="-128"/>
              </a:rPr>
              <a:t>種</a:t>
            </a:r>
            <a:r>
              <a:rPr lang="en-US" altLang="ja-JP" sz="1800" b="0">
                <a:latin typeface="Arial" panose="020B0604020202020204" pitchFamily="34" charset="0"/>
                <a:ea typeface="ＭＳ ゴシック" panose="020B0609070205080204" pitchFamily="49" charset="-128"/>
              </a:rPr>
              <a:t>(chủng loại)</a:t>
            </a:r>
            <a:r>
              <a:rPr lang="ja-JP" altLang="en-US" sz="1800" b="0">
                <a:latin typeface="ＭＳ ゴシック" panose="020B0609070205080204" pitchFamily="49" charset="-128"/>
                <a:ea typeface="ＭＳ ゴシック" panose="020B0609070205080204" pitchFamily="49" charset="-128"/>
              </a:rPr>
              <a:t>：</a:t>
            </a:r>
            <a:r>
              <a:rPr lang="en-US" altLang="ja-JP" sz="1800" b="0">
                <a:latin typeface="ＭＳ ゴシック" panose="020B0609070205080204" pitchFamily="49" charset="-128"/>
                <a:ea typeface="ＭＳ ゴシック" panose="020B0609070205080204" pitchFamily="49" charset="-128"/>
              </a:rPr>
              <a:t>" + </a:t>
            </a:r>
            <a:r>
              <a:rPr lang="en-US" altLang="ja-JP" sz="1800">
                <a:solidFill>
                  <a:srgbClr val="0000FF"/>
                </a:solidFill>
                <a:latin typeface="ＭＳ ゴシック" panose="020B0609070205080204" pitchFamily="49" charset="-128"/>
                <a:ea typeface="ＭＳ ゴシック" panose="020B0609070205080204" pitchFamily="49" charset="-128"/>
              </a:rPr>
              <a:t>Person.SPECIES</a:t>
            </a:r>
            <a:r>
              <a:rPr lang="en-US" altLang="ja-JP" sz="1800" b="0">
                <a:latin typeface="ＭＳ ゴシック" panose="020B0609070205080204" pitchFamily="49" charset="-128"/>
                <a:ea typeface="ＭＳ ゴシック" panose="020B0609070205080204" pitchFamily="49" charset="-128"/>
              </a:rPr>
              <a:t>);</a:t>
            </a:r>
          </a:p>
        </p:txBody>
      </p:sp>
      <p:sp>
        <p:nvSpPr>
          <p:cNvPr id="446487" name="AutoShape 23">
            <a:extLst>
              <a:ext uri="{FF2B5EF4-FFF2-40B4-BE49-F238E27FC236}">
                <a16:creationId xmlns:a16="http://schemas.microsoft.com/office/drawing/2014/main" id="{E42F0AA1-663D-D086-B882-3F21416F61F2}"/>
              </a:ext>
            </a:extLst>
          </p:cNvPr>
          <p:cNvSpPr>
            <a:spLocks noChangeArrowheads="1"/>
          </p:cNvSpPr>
          <p:nvPr/>
        </p:nvSpPr>
        <p:spPr bwMode="auto">
          <a:xfrm>
            <a:off x="2324100" y="5910263"/>
            <a:ext cx="6440488" cy="590550"/>
          </a:xfrm>
          <a:prstGeom prst="wedgeRoundRectCallout">
            <a:avLst>
              <a:gd name="adj1" fmla="val -21481"/>
              <a:gd name="adj2" fmla="val -94088"/>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Ngay cả khi không tồn tại object của class có biến </a:t>
            </a:r>
            <a:r>
              <a:rPr lang="en-US" altLang="en-US" sz="1800"/>
              <a:t>static</a:t>
            </a:r>
            <a:r>
              <a:rPr lang="en-US" altLang="ja-JP" sz="1800"/>
              <a:t> thì vẫn có thể sử dụng được.</a:t>
            </a:r>
          </a:p>
        </p:txBody>
      </p:sp>
      <p:sp>
        <p:nvSpPr>
          <p:cNvPr id="446479" name="AutoShape 15">
            <a:extLst>
              <a:ext uri="{FF2B5EF4-FFF2-40B4-BE49-F238E27FC236}">
                <a16:creationId xmlns:a16="http://schemas.microsoft.com/office/drawing/2014/main" id="{EF824F6B-070C-808B-65AC-EFF0D8DFFAFB}"/>
              </a:ext>
            </a:extLst>
          </p:cNvPr>
          <p:cNvSpPr>
            <a:spLocks noChangeArrowheads="1"/>
          </p:cNvSpPr>
          <p:nvPr/>
        </p:nvSpPr>
        <p:spPr bwMode="auto">
          <a:xfrm>
            <a:off x="509588" y="4259263"/>
            <a:ext cx="8267700" cy="590550"/>
          </a:xfrm>
          <a:prstGeom prst="wedgeRoundRectCallout">
            <a:avLst>
              <a:gd name="adj1" fmla="val -36616"/>
              <a:gd name="adj2" fmla="val -9892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Có nhiều trường hợp để modifier của biến static là public </a:t>
            </a:r>
            <a:r>
              <a:rPr lang="ja-JP" altLang="en-US" sz="1800"/>
              <a:t>（</a:t>
            </a:r>
            <a:r>
              <a:rPr lang="en-US" altLang="ja-JP" sz="1800"/>
              <a:t>công khai ra bên ngoài</a:t>
            </a:r>
            <a:r>
              <a:rPr lang="ja-JP" altLang="en-US" sz="1800"/>
              <a:t>）</a:t>
            </a:r>
            <a:r>
              <a:rPr lang="en-US" altLang="ja-JP" sz="1800"/>
              <a:t>, final</a:t>
            </a:r>
            <a:r>
              <a:rPr lang="ja-JP" altLang="en-US" sz="1800"/>
              <a:t>（</a:t>
            </a:r>
            <a:r>
              <a:rPr lang="en-US" altLang="ja-JP" sz="1800"/>
              <a:t>hằng số</a:t>
            </a:r>
            <a:r>
              <a:rPr lang="ja-JP" altLang="en-US" sz="1800"/>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59F10C99-7A8F-F3B0-4518-3BBAA4704F52}"/>
              </a:ext>
            </a:extLst>
          </p:cNvPr>
          <p:cNvSpPr>
            <a:spLocks noGrp="1"/>
          </p:cNvSpPr>
          <p:nvPr>
            <p:ph type="sldNum" sz="quarter" idx="10"/>
          </p:nvPr>
        </p:nvSpPr>
        <p:spPr/>
        <p:txBody>
          <a:bodyPr/>
          <a:lstStyle/>
          <a:p>
            <a:fld id="{C76CA744-68B1-4855-BBBA-13734CD92304}" type="slidenum">
              <a:rPr lang="en-US" altLang="ja-JP"/>
              <a:pPr/>
              <a:t>22</a:t>
            </a:fld>
            <a:endParaRPr lang="en-US" altLang="ja-JP"/>
          </a:p>
        </p:txBody>
      </p:sp>
      <p:sp>
        <p:nvSpPr>
          <p:cNvPr id="448514" name="Rectangle 2">
            <a:extLst>
              <a:ext uri="{FF2B5EF4-FFF2-40B4-BE49-F238E27FC236}">
                <a16:creationId xmlns:a16="http://schemas.microsoft.com/office/drawing/2014/main" id="{56E543C5-8CB9-237D-25C5-6869483BE738}"/>
              </a:ext>
            </a:extLst>
          </p:cNvPr>
          <p:cNvSpPr>
            <a:spLocks noGrp="1" noChangeArrowheads="1"/>
          </p:cNvSpPr>
          <p:nvPr>
            <p:ph type="body" sz="half" idx="1"/>
          </p:nvPr>
        </p:nvSpPr>
        <p:spPr/>
        <p:txBody>
          <a:bodyPr/>
          <a:lstStyle/>
          <a:p>
            <a:endParaRPr lang="ja-JP" altLang="ja-JP" sz="1800"/>
          </a:p>
        </p:txBody>
      </p:sp>
      <p:sp>
        <p:nvSpPr>
          <p:cNvPr id="448515" name="Rectangle 3">
            <a:extLst>
              <a:ext uri="{FF2B5EF4-FFF2-40B4-BE49-F238E27FC236}">
                <a16:creationId xmlns:a16="http://schemas.microsoft.com/office/drawing/2014/main" id="{2462875F-F465-26CC-9372-19954B62C841}"/>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68B78296-FB09-8DE7-6FC8-C833D57BE507}"/>
              </a:ext>
            </a:extLst>
          </p:cNvPr>
          <p:cNvSpPr>
            <a:spLocks noGrp="1"/>
          </p:cNvSpPr>
          <p:nvPr>
            <p:ph type="sldNum" sz="quarter" idx="10"/>
          </p:nvPr>
        </p:nvSpPr>
        <p:spPr/>
        <p:txBody>
          <a:bodyPr/>
          <a:lstStyle/>
          <a:p>
            <a:fld id="{62CB924C-0DBD-4A52-ACE8-2DE9CC0881FA}" type="slidenum">
              <a:rPr lang="en-US" altLang="ja-JP"/>
              <a:pPr/>
              <a:t>23</a:t>
            </a:fld>
            <a:endParaRPr lang="en-US" altLang="ja-JP"/>
          </a:p>
        </p:txBody>
      </p:sp>
      <p:sp>
        <p:nvSpPr>
          <p:cNvPr id="571394" name="Rectangle 2">
            <a:extLst>
              <a:ext uri="{FF2B5EF4-FFF2-40B4-BE49-F238E27FC236}">
                <a16:creationId xmlns:a16="http://schemas.microsoft.com/office/drawing/2014/main" id="{4F541C98-0B22-4920-4B39-F9AFF301F333}"/>
              </a:ext>
            </a:extLst>
          </p:cNvPr>
          <p:cNvSpPr>
            <a:spLocks noGrp="1" noChangeArrowheads="1"/>
          </p:cNvSpPr>
          <p:nvPr>
            <p:ph type="title"/>
          </p:nvPr>
        </p:nvSpPr>
        <p:spPr/>
        <p:txBody>
          <a:bodyPr>
            <a:normAutofit fontScale="90000"/>
          </a:bodyPr>
          <a:lstStyle/>
          <a:p>
            <a:r>
              <a:rPr lang="en-US" altLang="ja-JP">
                <a:latin typeface="Arial" panose="020B0604020202020204" pitchFamily="34" charset="0"/>
                <a:ea typeface="MS UI Gothic" panose="020B0600070205080204" pitchFamily="50" charset="-128"/>
              </a:rPr>
              <a:t>2.8</a:t>
            </a:r>
            <a:r>
              <a:rPr lang="ja-JP" altLang="en-US">
                <a:latin typeface="Arial" panose="020B0604020202020204" pitchFamily="34" charset="0"/>
                <a:ea typeface="MS UI Gothic" panose="020B0600070205080204" pitchFamily="50" charset="-128"/>
              </a:rPr>
              <a:t>　</a:t>
            </a:r>
            <a:r>
              <a:rPr lang="en-US" altLang="ja-JP">
                <a:latin typeface="Arial" panose="020B0604020202020204" pitchFamily="34" charset="0"/>
                <a:ea typeface="MS UI Gothic" panose="020B0600070205080204" pitchFamily="50" charset="-128"/>
              </a:rPr>
              <a:t>Biến static, static method (2)</a:t>
            </a:r>
          </a:p>
        </p:txBody>
      </p:sp>
      <p:sp>
        <p:nvSpPr>
          <p:cNvPr id="571395" name="Rectangle 3">
            <a:extLst>
              <a:ext uri="{FF2B5EF4-FFF2-40B4-BE49-F238E27FC236}">
                <a16:creationId xmlns:a16="http://schemas.microsoft.com/office/drawing/2014/main" id="{D1A3CBCD-B878-3BFA-AC8B-781079D78F10}"/>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71396" name="Rectangle 4">
            <a:extLst>
              <a:ext uri="{FF2B5EF4-FFF2-40B4-BE49-F238E27FC236}">
                <a16:creationId xmlns:a16="http://schemas.microsoft.com/office/drawing/2014/main" id="{CBF2FD59-FC33-F785-77A1-7FB1EEC95D79}"/>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static method</a:t>
            </a:r>
          </a:p>
          <a:p>
            <a:pPr lvl="1"/>
            <a:endParaRPr lang="en-US" altLang="ja-JP" sz="2400" b="0"/>
          </a:p>
        </p:txBody>
      </p:sp>
      <p:sp>
        <p:nvSpPr>
          <p:cNvPr id="571403" name="Rectangle 11">
            <a:extLst>
              <a:ext uri="{FF2B5EF4-FFF2-40B4-BE49-F238E27FC236}">
                <a16:creationId xmlns:a16="http://schemas.microsoft.com/office/drawing/2014/main" id="{829C6BCE-63E3-C522-7CA4-02D028E0E515}"/>
              </a:ext>
            </a:extLst>
          </p:cNvPr>
          <p:cNvSpPr>
            <a:spLocks noChangeArrowheads="1"/>
          </p:cNvSpPr>
          <p:nvPr/>
        </p:nvSpPr>
        <p:spPr bwMode="auto">
          <a:xfrm>
            <a:off x="344488" y="1250950"/>
            <a:ext cx="9120187" cy="13160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Có thể sử dụng cho dù không có object</a:t>
            </a:r>
          </a:p>
          <a:p>
            <a:pPr>
              <a:buFont typeface="Wingdings" panose="05000000000000000000" pitchFamily="2" charset="2"/>
              <a:buNone/>
            </a:pPr>
            <a:r>
              <a:rPr lang="en-US" altLang="ja-JP" sz="2000">
                <a:latin typeface="Arial" panose="020B0604020202020204" pitchFamily="34" charset="0"/>
              </a:rPr>
              <a:t>Sử dụng static keyword để khai báo</a:t>
            </a:r>
          </a:p>
          <a:p>
            <a:pPr>
              <a:buFont typeface="Wingdings" panose="05000000000000000000" pitchFamily="2" charset="2"/>
              <a:buNone/>
            </a:pPr>
            <a:r>
              <a:rPr lang="en-US" altLang="ja-JP" sz="2000">
                <a:latin typeface="Arial" panose="020B0604020202020204" pitchFamily="34" charset="0"/>
              </a:rPr>
              <a:t>Trường hợp gọi ra method static thì chỉ định </a:t>
            </a:r>
            <a:r>
              <a:rPr lang="ja-JP" altLang="en-US" sz="2000">
                <a:latin typeface="Arial" panose="020B0604020202020204" pitchFamily="34" charset="0"/>
              </a:rPr>
              <a:t>「</a:t>
            </a:r>
            <a:r>
              <a:rPr lang="en-US" altLang="ja-JP" sz="2000">
                <a:latin typeface="Arial" panose="020B0604020202020204" pitchFamily="34" charset="0"/>
              </a:rPr>
              <a:t>class name.tên method</a:t>
            </a:r>
            <a:r>
              <a:rPr lang="ja-JP" altLang="en-US" sz="2000">
                <a:latin typeface="Arial" panose="020B0604020202020204" pitchFamily="34" charset="0"/>
              </a:rPr>
              <a:t>（</a:t>
            </a:r>
            <a:r>
              <a:rPr lang="en-US" altLang="ja-JP" sz="2000">
                <a:latin typeface="Arial" panose="020B0604020202020204" pitchFamily="34" charset="0"/>
              </a:rPr>
              <a:t>list đối số</a:t>
            </a:r>
            <a:r>
              <a:rPr lang="ja-JP" altLang="en-US" sz="2000">
                <a:latin typeface="Arial" panose="020B0604020202020204" pitchFamily="34" charset="0"/>
              </a:rPr>
              <a:t>）」</a:t>
            </a:r>
          </a:p>
        </p:txBody>
      </p:sp>
      <p:sp>
        <p:nvSpPr>
          <p:cNvPr id="571404" name="Rectangle 12">
            <a:extLst>
              <a:ext uri="{FF2B5EF4-FFF2-40B4-BE49-F238E27FC236}">
                <a16:creationId xmlns:a16="http://schemas.microsoft.com/office/drawing/2014/main" id="{F770FD53-D7AB-C420-18D3-52A50B96EE47}"/>
              </a:ext>
            </a:extLst>
          </p:cNvPr>
          <p:cNvSpPr>
            <a:spLocks noChangeArrowheads="1"/>
          </p:cNvSpPr>
          <p:nvPr/>
        </p:nvSpPr>
        <p:spPr bwMode="auto">
          <a:xfrm>
            <a:off x="344488" y="24892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a:t>
            </a:r>
          </a:p>
          <a:p>
            <a:pPr>
              <a:spcBef>
                <a:spcPct val="50000"/>
              </a:spcBef>
              <a:buFont typeface="Wingdings" panose="05000000000000000000" pitchFamily="2" charset="2"/>
              <a:buNone/>
            </a:pPr>
            <a:r>
              <a:rPr lang="en-US" altLang="ja-JP" sz="2000" b="0">
                <a:latin typeface="Arial" panose="020B0604020202020204" pitchFamily="34" charset="0"/>
              </a:rPr>
              <a:t>【static method đang được định nghĩa trong Employee class】</a:t>
            </a:r>
          </a:p>
        </p:txBody>
      </p:sp>
      <p:sp>
        <p:nvSpPr>
          <p:cNvPr id="571405" name="Rectangle 13">
            <a:extLst>
              <a:ext uri="{FF2B5EF4-FFF2-40B4-BE49-F238E27FC236}">
                <a16:creationId xmlns:a16="http://schemas.microsoft.com/office/drawing/2014/main" id="{89665697-BE6A-01E1-018B-23C436E65317}"/>
              </a:ext>
            </a:extLst>
          </p:cNvPr>
          <p:cNvSpPr>
            <a:spLocks noChangeArrowheads="1"/>
          </p:cNvSpPr>
          <p:nvPr/>
        </p:nvSpPr>
        <p:spPr bwMode="auto">
          <a:xfrm>
            <a:off x="334963" y="3408363"/>
            <a:ext cx="9120187" cy="13620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54000" rIns="36000"/>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public static final String SPECIES = "Homo sapiens";</a:t>
            </a:r>
          </a:p>
          <a:p>
            <a:pPr lvl="1"/>
            <a:r>
              <a:rPr lang="en-US" altLang="ja-JP" sz="1800">
                <a:solidFill>
                  <a:srgbClr val="0000FF"/>
                </a:solidFill>
                <a:latin typeface="ＭＳ ゴシック" panose="020B0609070205080204" pitchFamily="49" charset="-128"/>
                <a:ea typeface="ＭＳ ゴシック" panose="020B0609070205080204" pitchFamily="49" charset="-128"/>
              </a:rPr>
              <a:t>public static void printSpecies() {</a:t>
            </a:r>
          </a:p>
          <a:p>
            <a:pPr lvl="1"/>
            <a:r>
              <a:rPr lang="en-US" altLang="ja-JP" sz="1800">
                <a:solidFill>
                  <a:srgbClr val="0000FF"/>
                </a:solidFill>
                <a:latin typeface="ＭＳ ゴシック" panose="020B0609070205080204" pitchFamily="49" charset="-128"/>
                <a:ea typeface="ＭＳ ゴシック" panose="020B0609070205080204" pitchFamily="49" charset="-128"/>
              </a:rPr>
              <a:t>    System.out.println(SPECIES);  // </a:t>
            </a:r>
            <a:r>
              <a:rPr lang="en-US" altLang="ja-JP" sz="1800">
                <a:solidFill>
                  <a:srgbClr val="0000FF"/>
                </a:solidFill>
                <a:latin typeface="Arial" panose="020B0604020202020204" pitchFamily="34" charset="0"/>
                <a:ea typeface="ＭＳ ゴシック" panose="020B0609070205080204" pitchFamily="49" charset="-128"/>
              </a:rPr>
              <a:t>Chỉ định </a:t>
            </a:r>
            <a:r>
              <a:rPr lang="en-US" altLang="ja-JP" sz="1800">
                <a:solidFill>
                  <a:srgbClr val="0000FF"/>
                </a:solidFill>
                <a:latin typeface="ＭＳ ゴシック" panose="020B0609070205080204" pitchFamily="49" charset="-128"/>
                <a:ea typeface="ＭＳ ゴシック" panose="020B0609070205080204" pitchFamily="49" charset="-128"/>
              </a:rPr>
              <a:t>SPECIES </a:t>
            </a:r>
            <a:r>
              <a:rPr lang="en-US" altLang="ja-JP" sz="1800">
                <a:solidFill>
                  <a:srgbClr val="0000FF"/>
                </a:solidFill>
                <a:latin typeface="Arial" panose="020B0604020202020204" pitchFamily="34" charset="0"/>
                <a:ea typeface="ＭＳ ゴシック" panose="020B0609070205080204" pitchFamily="49" charset="-128"/>
              </a:rPr>
              <a:t>thành </a:t>
            </a:r>
            <a:r>
              <a:rPr lang="en-US" altLang="ja-JP" sz="1800">
                <a:solidFill>
                  <a:srgbClr val="0000FF"/>
                </a:solidFill>
                <a:latin typeface="ＭＳ ゴシック" panose="020B0609070205080204" pitchFamily="49" charset="-128"/>
                <a:ea typeface="ＭＳ ゴシック" panose="020B0609070205080204" pitchFamily="49" charset="-128"/>
              </a:rPr>
              <a:t>Person.SPECIES </a:t>
            </a:r>
            <a:r>
              <a:rPr lang="en-US" altLang="ja-JP" sz="1800">
                <a:solidFill>
                  <a:srgbClr val="0000FF"/>
                </a:solidFill>
                <a:latin typeface="Arial" panose="020B0604020202020204" pitchFamily="34" charset="0"/>
                <a:ea typeface="ＭＳ ゴシック" panose="020B0609070205080204" pitchFamily="49" charset="-128"/>
              </a:rPr>
              <a:t>cũng được</a:t>
            </a:r>
          </a:p>
          <a:p>
            <a:pPr lvl="1"/>
            <a:r>
              <a:rPr lang="en-US" altLang="ja-JP" sz="1800">
                <a:solidFill>
                  <a:srgbClr val="0000FF"/>
                </a:solidFill>
                <a:latin typeface="ＭＳ ゴシック" panose="020B0609070205080204" pitchFamily="49" charset="-128"/>
                <a:ea typeface="ＭＳ ゴシック" panose="020B0609070205080204" pitchFamily="49" charset="-128"/>
              </a:rPr>
              <a:t>}</a:t>
            </a:r>
          </a:p>
        </p:txBody>
      </p:sp>
      <p:sp>
        <p:nvSpPr>
          <p:cNvPr id="571406" name="Rectangle 14">
            <a:extLst>
              <a:ext uri="{FF2B5EF4-FFF2-40B4-BE49-F238E27FC236}">
                <a16:creationId xmlns:a16="http://schemas.microsoft.com/office/drawing/2014/main" id="{2E8C1EA5-3DE7-AF3B-66DC-BB2BDBA708FC}"/>
              </a:ext>
            </a:extLst>
          </p:cNvPr>
          <p:cNvSpPr>
            <a:spLocks noChangeArrowheads="1"/>
          </p:cNvSpPr>
          <p:nvPr/>
        </p:nvSpPr>
        <p:spPr bwMode="auto">
          <a:xfrm>
            <a:off x="344488" y="49593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【Ví dụ sử dụng】</a:t>
            </a:r>
          </a:p>
        </p:txBody>
      </p:sp>
      <p:sp>
        <p:nvSpPr>
          <p:cNvPr id="571407" name="Rectangle 15">
            <a:extLst>
              <a:ext uri="{FF2B5EF4-FFF2-40B4-BE49-F238E27FC236}">
                <a16:creationId xmlns:a16="http://schemas.microsoft.com/office/drawing/2014/main" id="{DCB661CB-B99B-5FB6-9AE8-35DD72E86C9B}"/>
              </a:ext>
            </a:extLst>
          </p:cNvPr>
          <p:cNvSpPr>
            <a:spLocks noChangeArrowheads="1"/>
          </p:cNvSpPr>
          <p:nvPr/>
        </p:nvSpPr>
        <p:spPr bwMode="auto">
          <a:xfrm>
            <a:off x="344488" y="5430838"/>
            <a:ext cx="9120187" cy="4191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54000" rIns="36000"/>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a:solidFill>
                  <a:srgbClr val="0000FF"/>
                </a:solidFill>
                <a:latin typeface="ＭＳ ゴシック" panose="020B0609070205080204" pitchFamily="49" charset="-128"/>
                <a:ea typeface="ＭＳ ゴシック" panose="020B0609070205080204" pitchFamily="49" charset="-128"/>
              </a:rPr>
              <a:t>Person.printSpecies();</a:t>
            </a:r>
          </a:p>
        </p:txBody>
      </p:sp>
      <p:sp>
        <p:nvSpPr>
          <p:cNvPr id="571408" name="AutoShape 16">
            <a:extLst>
              <a:ext uri="{FF2B5EF4-FFF2-40B4-BE49-F238E27FC236}">
                <a16:creationId xmlns:a16="http://schemas.microsoft.com/office/drawing/2014/main" id="{FB887D94-B5E2-28DD-9962-496265FFA9CE}"/>
              </a:ext>
            </a:extLst>
          </p:cNvPr>
          <p:cNvSpPr>
            <a:spLocks noChangeArrowheads="1"/>
          </p:cNvSpPr>
          <p:nvPr/>
        </p:nvSpPr>
        <p:spPr bwMode="auto">
          <a:xfrm>
            <a:off x="2384425" y="4789488"/>
            <a:ext cx="6827838" cy="592137"/>
          </a:xfrm>
          <a:prstGeom prst="wedgeRoundRectCallout">
            <a:avLst>
              <a:gd name="adj1" fmla="val -43468"/>
              <a:gd name="adj2" fmla="val -88875"/>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a:t>modifier sử dụng ở static method thông thường là public </a:t>
            </a:r>
            <a:r>
              <a:rPr lang="ja-JP" altLang="en-US" sz="1800"/>
              <a:t>（</a:t>
            </a:r>
            <a:r>
              <a:rPr lang="en-US" altLang="ja-JP" sz="1800"/>
              <a:t>công khai ra bên ngoài</a:t>
            </a:r>
            <a:r>
              <a:rPr lang="ja-JP" altLang="en-US" sz="1800"/>
              <a:t>）</a:t>
            </a:r>
          </a:p>
        </p:txBody>
      </p:sp>
      <p:sp>
        <p:nvSpPr>
          <p:cNvPr id="571409" name="AutoShape 17">
            <a:extLst>
              <a:ext uri="{FF2B5EF4-FFF2-40B4-BE49-F238E27FC236}">
                <a16:creationId xmlns:a16="http://schemas.microsoft.com/office/drawing/2014/main" id="{74EAAA79-5728-D2B4-4138-7E031C135F02}"/>
              </a:ext>
            </a:extLst>
          </p:cNvPr>
          <p:cNvSpPr>
            <a:spLocks noChangeArrowheads="1"/>
          </p:cNvSpPr>
          <p:nvPr/>
        </p:nvSpPr>
        <p:spPr bwMode="auto">
          <a:xfrm>
            <a:off x="2533650" y="5910263"/>
            <a:ext cx="6589713" cy="590550"/>
          </a:xfrm>
          <a:prstGeom prst="wedgeRoundRectCallout">
            <a:avLst>
              <a:gd name="adj1" fmla="val -38556"/>
              <a:gd name="adj2" fmla="val -9005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Có thể sử dụng ngay cả khi không tồn tại object của class có </a:t>
            </a:r>
            <a:r>
              <a:rPr lang="en-US" altLang="en-US" sz="1800"/>
              <a:t>static</a:t>
            </a:r>
            <a:r>
              <a:rPr lang="en-US" altLang="ja-JP" sz="1800"/>
              <a:t> method.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9DE64727-AB7F-25E6-6A21-8B8860ED1BA8}"/>
              </a:ext>
            </a:extLst>
          </p:cNvPr>
          <p:cNvSpPr>
            <a:spLocks noGrp="1"/>
          </p:cNvSpPr>
          <p:nvPr>
            <p:ph type="sldNum" sz="quarter" idx="10"/>
          </p:nvPr>
        </p:nvSpPr>
        <p:spPr/>
        <p:txBody>
          <a:bodyPr/>
          <a:lstStyle/>
          <a:p>
            <a:fld id="{C08BDC86-8757-41F7-8D0C-5064512F30E3}" type="slidenum">
              <a:rPr lang="en-US" altLang="ja-JP"/>
              <a:pPr/>
              <a:t>24</a:t>
            </a:fld>
            <a:endParaRPr lang="en-US" altLang="ja-JP"/>
          </a:p>
        </p:txBody>
      </p:sp>
      <p:sp>
        <p:nvSpPr>
          <p:cNvPr id="452610" name="Rectangle 2">
            <a:extLst>
              <a:ext uri="{FF2B5EF4-FFF2-40B4-BE49-F238E27FC236}">
                <a16:creationId xmlns:a16="http://schemas.microsoft.com/office/drawing/2014/main" id="{45083026-FB6A-8B2F-7FFC-31174BBACE7A}"/>
              </a:ext>
            </a:extLst>
          </p:cNvPr>
          <p:cNvSpPr>
            <a:spLocks noGrp="1" noChangeArrowheads="1"/>
          </p:cNvSpPr>
          <p:nvPr>
            <p:ph type="body" sz="half" idx="1"/>
          </p:nvPr>
        </p:nvSpPr>
        <p:spPr/>
        <p:txBody>
          <a:bodyPr/>
          <a:lstStyle/>
          <a:p>
            <a:endParaRPr lang="ja-JP" altLang="ja-JP" sz="1800"/>
          </a:p>
        </p:txBody>
      </p:sp>
      <p:sp>
        <p:nvSpPr>
          <p:cNvPr id="452611" name="Rectangle 3">
            <a:extLst>
              <a:ext uri="{FF2B5EF4-FFF2-40B4-BE49-F238E27FC236}">
                <a16:creationId xmlns:a16="http://schemas.microsoft.com/office/drawing/2014/main" id="{72C5AA97-A568-C89A-DFA0-A4A1D69BB24F}"/>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2FE76BE-0E4C-ACCC-9A32-B58001E795DF}"/>
              </a:ext>
            </a:extLst>
          </p:cNvPr>
          <p:cNvSpPr>
            <a:spLocks noGrp="1"/>
          </p:cNvSpPr>
          <p:nvPr>
            <p:ph type="sldNum" sz="quarter" idx="10"/>
          </p:nvPr>
        </p:nvSpPr>
        <p:spPr/>
        <p:txBody>
          <a:bodyPr/>
          <a:lstStyle/>
          <a:p>
            <a:fld id="{67011CBA-0AE4-468A-A8D5-9B533D639A20}" type="slidenum">
              <a:rPr lang="en-US" altLang="ja-JP"/>
              <a:pPr/>
              <a:t>25</a:t>
            </a:fld>
            <a:endParaRPr lang="en-US" altLang="ja-JP"/>
          </a:p>
        </p:txBody>
      </p:sp>
      <p:sp>
        <p:nvSpPr>
          <p:cNvPr id="487426" name="Rectangle 2">
            <a:extLst>
              <a:ext uri="{FF2B5EF4-FFF2-40B4-BE49-F238E27FC236}">
                <a16:creationId xmlns:a16="http://schemas.microsoft.com/office/drawing/2014/main" id="{582A229A-A3DC-EB1E-DDAC-FCB7D992861D}"/>
              </a:ext>
            </a:extLst>
          </p:cNvPr>
          <p:cNvSpPr>
            <a:spLocks noGrp="1" noChangeArrowheads="1"/>
          </p:cNvSpPr>
          <p:nvPr>
            <p:ph type="body" sz="half" idx="1"/>
          </p:nvPr>
        </p:nvSpPr>
        <p:spPr/>
        <p:txBody>
          <a:bodyPr/>
          <a:lstStyle/>
          <a:p>
            <a:endParaRPr lang="ja-JP" altLang="ja-JP" sz="1800"/>
          </a:p>
        </p:txBody>
      </p:sp>
      <p:sp>
        <p:nvSpPr>
          <p:cNvPr id="487427" name="Rectangle 3">
            <a:extLst>
              <a:ext uri="{FF2B5EF4-FFF2-40B4-BE49-F238E27FC236}">
                <a16:creationId xmlns:a16="http://schemas.microsoft.com/office/drawing/2014/main" id="{B6EEDBCA-2A3E-66CF-B4DD-867E0705E7E1}"/>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91EDC21A-FA8E-1588-5272-5A47E6DE4017}"/>
              </a:ext>
            </a:extLst>
          </p:cNvPr>
          <p:cNvSpPr>
            <a:spLocks noGrp="1"/>
          </p:cNvSpPr>
          <p:nvPr>
            <p:ph type="sldNum" sz="quarter" idx="10"/>
          </p:nvPr>
        </p:nvSpPr>
        <p:spPr/>
        <p:txBody>
          <a:bodyPr/>
          <a:lstStyle/>
          <a:p>
            <a:fld id="{A7269C98-5C25-413E-85A9-428A191153F5}" type="slidenum">
              <a:rPr lang="en-US" altLang="ja-JP"/>
              <a:pPr/>
              <a:t>26</a:t>
            </a:fld>
            <a:endParaRPr lang="en-US" altLang="ja-JP"/>
          </a:p>
        </p:txBody>
      </p:sp>
      <p:sp>
        <p:nvSpPr>
          <p:cNvPr id="460802" name="Rectangle 2">
            <a:extLst>
              <a:ext uri="{FF2B5EF4-FFF2-40B4-BE49-F238E27FC236}">
                <a16:creationId xmlns:a16="http://schemas.microsoft.com/office/drawing/2014/main" id="{09494598-DB90-4EEB-72EF-115F64FF93A5}"/>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60803" name="Rectangle 3">
            <a:extLst>
              <a:ext uri="{FF2B5EF4-FFF2-40B4-BE49-F238E27FC236}">
                <a16:creationId xmlns:a16="http://schemas.microsoft.com/office/drawing/2014/main" id="{F269E8A2-C6EE-B06F-A7DA-4DF4FFA92435}"/>
              </a:ext>
            </a:extLst>
          </p:cNvPr>
          <p:cNvSpPr>
            <a:spLocks noGrp="1" noChangeArrowheads="1"/>
          </p:cNvSpPr>
          <p:nvPr>
            <p:ph type="body" sz="half" idx="1"/>
          </p:nvPr>
        </p:nvSpPr>
        <p:spPr/>
        <p:txBody>
          <a:bodyPr/>
          <a:lstStyle/>
          <a:p>
            <a:endParaRPr lang="ja-JP" altLang="ja-JP" sz="1800"/>
          </a:p>
        </p:txBody>
      </p:sp>
      <p:sp>
        <p:nvSpPr>
          <p:cNvPr id="460804" name="Rectangle 4">
            <a:extLst>
              <a:ext uri="{FF2B5EF4-FFF2-40B4-BE49-F238E27FC236}">
                <a16:creationId xmlns:a16="http://schemas.microsoft.com/office/drawing/2014/main" id="{DF7CF0D0-66C1-0005-CCAF-C35461DD577F}"/>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494214B0-5DF0-A1D1-771F-6C9565F761FE}"/>
              </a:ext>
            </a:extLst>
          </p:cNvPr>
          <p:cNvSpPr>
            <a:spLocks noGrp="1"/>
          </p:cNvSpPr>
          <p:nvPr>
            <p:ph type="sldNum" sz="quarter" idx="10"/>
          </p:nvPr>
        </p:nvSpPr>
        <p:spPr/>
        <p:txBody>
          <a:bodyPr/>
          <a:lstStyle/>
          <a:p>
            <a:fld id="{CF059527-7CD7-416F-955E-16F3B62CC650}" type="slidenum">
              <a:rPr lang="en-US" altLang="ja-JP"/>
              <a:pPr/>
              <a:t>27</a:t>
            </a:fld>
            <a:endParaRPr lang="en-US" altLang="ja-JP"/>
          </a:p>
        </p:txBody>
      </p:sp>
      <p:sp>
        <p:nvSpPr>
          <p:cNvPr id="454658" name="Rectangle 2">
            <a:extLst>
              <a:ext uri="{FF2B5EF4-FFF2-40B4-BE49-F238E27FC236}">
                <a16:creationId xmlns:a16="http://schemas.microsoft.com/office/drawing/2014/main" id="{CE2A278C-C058-B256-A4C2-983AD383742C}"/>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54659" name="Rectangle 3">
            <a:extLst>
              <a:ext uri="{FF2B5EF4-FFF2-40B4-BE49-F238E27FC236}">
                <a16:creationId xmlns:a16="http://schemas.microsoft.com/office/drawing/2014/main" id="{7C3F5AD5-20DF-980D-DCF5-611C444023ED}"/>
              </a:ext>
            </a:extLst>
          </p:cNvPr>
          <p:cNvSpPr>
            <a:spLocks noGrp="1" noChangeArrowheads="1"/>
          </p:cNvSpPr>
          <p:nvPr>
            <p:ph type="body" sz="half" idx="1"/>
          </p:nvPr>
        </p:nvSpPr>
        <p:spPr/>
        <p:txBody>
          <a:bodyPr/>
          <a:lstStyle/>
          <a:p>
            <a:endParaRPr lang="ja-JP" altLang="ja-JP" sz="1800"/>
          </a:p>
        </p:txBody>
      </p:sp>
      <p:sp>
        <p:nvSpPr>
          <p:cNvPr id="454660" name="Rectangle 4">
            <a:extLst>
              <a:ext uri="{FF2B5EF4-FFF2-40B4-BE49-F238E27FC236}">
                <a16:creationId xmlns:a16="http://schemas.microsoft.com/office/drawing/2014/main" id="{B51C0B2B-3BDD-3018-9310-41F1C27FF9CB}"/>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600B825-2F90-4D1D-1494-8C4E85329DDD}"/>
              </a:ext>
            </a:extLst>
          </p:cNvPr>
          <p:cNvSpPr>
            <a:spLocks noGrp="1"/>
          </p:cNvSpPr>
          <p:nvPr>
            <p:ph type="sldNum" sz="quarter" idx="10"/>
          </p:nvPr>
        </p:nvSpPr>
        <p:spPr/>
        <p:txBody>
          <a:bodyPr/>
          <a:lstStyle/>
          <a:p>
            <a:fld id="{1B398AD8-3427-4E66-8B5B-0E3F36166927}" type="slidenum">
              <a:rPr lang="en-US" altLang="ja-JP"/>
              <a:pPr/>
              <a:t>28</a:t>
            </a:fld>
            <a:endParaRPr lang="en-US" altLang="ja-JP"/>
          </a:p>
        </p:txBody>
      </p:sp>
      <p:sp>
        <p:nvSpPr>
          <p:cNvPr id="464898" name="Rectangle 2">
            <a:extLst>
              <a:ext uri="{FF2B5EF4-FFF2-40B4-BE49-F238E27FC236}">
                <a16:creationId xmlns:a16="http://schemas.microsoft.com/office/drawing/2014/main" id="{D28FE6C7-B795-3307-1645-88B94F32CEC5}"/>
              </a:ext>
            </a:extLst>
          </p:cNvPr>
          <p:cNvSpPr>
            <a:spLocks noGrp="1" noChangeArrowheads="1"/>
          </p:cNvSpPr>
          <p:nvPr>
            <p:ph type="title"/>
          </p:nvPr>
        </p:nvSpPr>
        <p:spPr/>
        <p:txBody>
          <a:bodyPr>
            <a:normAutofit fontScale="90000"/>
          </a:bodyPr>
          <a:lstStyle/>
          <a:p>
            <a:r>
              <a:rPr lang="en-US" altLang="ja-JP">
                <a:latin typeface="MS UI Gothic" panose="020B0600070205080204" pitchFamily="50" charset="-128"/>
                <a:ea typeface="MS UI Gothic" panose="020B0600070205080204" pitchFamily="50" charset="-128"/>
              </a:rPr>
              <a:t>2.9</a:t>
            </a:r>
            <a:r>
              <a:rPr lang="ja-JP" altLang="en-US">
                <a:latin typeface="MS UI Gothic" panose="020B0600070205080204" pitchFamily="50" charset="-128"/>
                <a:ea typeface="MS UI Gothic" panose="020B0600070205080204" pitchFamily="50" charset="-128"/>
              </a:rPr>
              <a:t>　</a:t>
            </a:r>
            <a:r>
              <a:rPr lang="en-US" altLang="ja-JP">
                <a:latin typeface="MS UI Gothic" panose="020B0600070205080204" pitchFamily="50" charset="-128"/>
                <a:ea typeface="MS UI Gothic" panose="020B0600070205080204" pitchFamily="50" charset="-128"/>
              </a:rPr>
              <a:t>main method</a:t>
            </a:r>
          </a:p>
        </p:txBody>
      </p:sp>
      <p:sp>
        <p:nvSpPr>
          <p:cNvPr id="464899" name="Rectangle 3">
            <a:extLst>
              <a:ext uri="{FF2B5EF4-FFF2-40B4-BE49-F238E27FC236}">
                <a16:creationId xmlns:a16="http://schemas.microsoft.com/office/drawing/2014/main" id="{3C5A3D4D-9310-4BC1-2F77-52C6D3C247B3}"/>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64900" name="Rectangle 4">
            <a:extLst>
              <a:ext uri="{FF2B5EF4-FFF2-40B4-BE49-F238E27FC236}">
                <a16:creationId xmlns:a16="http://schemas.microsoft.com/office/drawing/2014/main" id="{B748D8F4-A1F2-F91C-4E2A-8DEE1B41E85E}"/>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main method</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64901" name="Text Box 5">
            <a:extLst>
              <a:ext uri="{FF2B5EF4-FFF2-40B4-BE49-F238E27FC236}">
                <a16:creationId xmlns:a16="http://schemas.microsoft.com/office/drawing/2014/main" id="{A442ED41-40F0-D6B3-3A6C-23F06A7964EA}"/>
              </a:ext>
            </a:extLst>
          </p:cNvPr>
          <p:cNvSpPr txBox="1">
            <a:spLocks noChangeArrowheads="1"/>
          </p:cNvSpPr>
          <p:nvPr/>
        </p:nvSpPr>
        <p:spPr bwMode="auto">
          <a:xfrm>
            <a:off x="344488" y="1751013"/>
            <a:ext cx="9120187" cy="120650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ja-JP" sz="2000">
                <a:latin typeface="MS UI Gothic" panose="020B0600070205080204" pitchFamily="50" charset="-128"/>
                <a:ea typeface="MS UI Gothic" panose="020B0600070205080204" pitchFamily="50" charset="-128"/>
              </a:rPr>
              <a:t>　</a:t>
            </a:r>
            <a:r>
              <a:rPr lang="ja-JP" altLang="ja-JP" sz="2000">
                <a:latin typeface="ＭＳ ゴシック" panose="020B0609070205080204" pitchFamily="49" charset="-128"/>
                <a:ea typeface="ＭＳ ゴシック" panose="020B0609070205080204" pitchFamily="49" charset="-128"/>
              </a:rPr>
              <a:t>public</a:t>
            </a:r>
            <a:r>
              <a:rPr lang="en-US" altLang="ja-JP" sz="2000">
                <a:latin typeface="ＭＳ ゴシック" panose="020B0609070205080204" pitchFamily="49" charset="-128"/>
                <a:ea typeface="ＭＳ ゴシック" panose="020B0609070205080204" pitchFamily="49" charset="-128"/>
              </a:rPr>
              <a:t>  </a:t>
            </a:r>
            <a:r>
              <a:rPr lang="ja-JP" altLang="ja-JP" sz="2000">
                <a:latin typeface="ＭＳ ゴシック" panose="020B0609070205080204" pitchFamily="49" charset="-128"/>
                <a:ea typeface="ＭＳ ゴシック" panose="020B0609070205080204" pitchFamily="49" charset="-128"/>
              </a:rPr>
              <a:t>static </a:t>
            </a:r>
            <a:r>
              <a:rPr lang="en-US" altLang="ja-JP" sz="2000">
                <a:latin typeface="ＭＳ ゴシック" panose="020B0609070205080204" pitchFamily="49" charset="-128"/>
                <a:ea typeface="ＭＳ ゴシック" panose="020B0609070205080204" pitchFamily="49" charset="-128"/>
              </a:rPr>
              <a:t> </a:t>
            </a:r>
            <a:r>
              <a:rPr lang="ja-JP" altLang="ja-JP" sz="2000">
                <a:latin typeface="ＭＳ ゴシック" panose="020B0609070205080204" pitchFamily="49" charset="-128"/>
                <a:ea typeface="ＭＳ ゴシック" panose="020B0609070205080204" pitchFamily="49" charset="-128"/>
              </a:rPr>
              <a:t>void</a:t>
            </a:r>
            <a:r>
              <a:rPr lang="en-US" altLang="ja-JP" sz="2000">
                <a:latin typeface="ＭＳ ゴシック" panose="020B0609070205080204" pitchFamily="49" charset="-128"/>
                <a:ea typeface="ＭＳ ゴシック" panose="020B0609070205080204" pitchFamily="49" charset="-128"/>
              </a:rPr>
              <a:t>  </a:t>
            </a:r>
            <a:r>
              <a:rPr lang="ja-JP" altLang="ja-JP" sz="2000">
                <a:latin typeface="ＭＳ ゴシック" panose="020B0609070205080204" pitchFamily="49" charset="-128"/>
                <a:ea typeface="ＭＳ ゴシック" panose="020B0609070205080204" pitchFamily="49" charset="-128"/>
              </a:rPr>
              <a:t>main(</a:t>
            </a:r>
            <a:r>
              <a:rPr lang="en-US" altLang="ja-JP" sz="2000">
                <a:latin typeface="ＭＳ ゴシック" panose="020B0609070205080204" pitchFamily="49" charset="-128"/>
                <a:ea typeface="ＭＳ ゴシック" panose="020B0609070205080204" pitchFamily="49" charset="-128"/>
              </a:rPr>
              <a:t> </a:t>
            </a:r>
            <a:r>
              <a:rPr lang="ja-JP" altLang="ja-JP" sz="2000">
                <a:latin typeface="ＭＳ ゴシック" panose="020B0609070205080204" pitchFamily="49" charset="-128"/>
                <a:ea typeface="ＭＳ ゴシック" panose="020B0609070205080204" pitchFamily="49" charset="-128"/>
              </a:rPr>
              <a:t>String[] </a:t>
            </a:r>
            <a:r>
              <a:rPr lang="en-US" altLang="ja-JP" sz="2000">
                <a:latin typeface="ＭＳ ゴシック" panose="020B0609070205080204" pitchFamily="49" charset="-128"/>
                <a:ea typeface="ＭＳ ゴシック" panose="020B0609070205080204" pitchFamily="49" charset="-128"/>
              </a:rPr>
              <a:t> </a:t>
            </a:r>
            <a:r>
              <a:rPr lang="ja-JP" altLang="ja-JP" sz="2000">
                <a:latin typeface="ＭＳ ゴシック" panose="020B0609070205080204" pitchFamily="49" charset="-128"/>
                <a:ea typeface="ＭＳ ゴシック" panose="020B0609070205080204" pitchFamily="49" charset="-128"/>
              </a:rPr>
              <a:t>args</a:t>
            </a:r>
            <a:r>
              <a:rPr lang="en-US" altLang="ja-JP" sz="2000">
                <a:latin typeface="ＭＳ ゴシック" panose="020B0609070205080204" pitchFamily="49" charset="-128"/>
                <a:ea typeface="ＭＳ ゴシック" panose="020B0609070205080204" pitchFamily="49" charset="-128"/>
              </a:rPr>
              <a:t> </a:t>
            </a:r>
            <a:r>
              <a:rPr lang="ja-JP" altLang="ja-JP" sz="2000">
                <a:latin typeface="ＭＳ ゴシック" panose="020B0609070205080204" pitchFamily="49" charset="-128"/>
                <a:ea typeface="ＭＳ ゴシック" panose="020B0609070205080204" pitchFamily="49" charset="-128"/>
              </a:rPr>
              <a:t>) {</a:t>
            </a:r>
          </a:p>
          <a:p>
            <a:pPr lvl="1" algn="just">
              <a:lnSpc>
                <a:spcPct val="112000"/>
              </a:lnSpc>
            </a:pPr>
            <a:r>
              <a:rPr lang="ja-JP" altLang="ja-JP" sz="2000">
                <a:latin typeface="MS UI Gothic" panose="020B0600070205080204" pitchFamily="50" charset="-128"/>
                <a:ea typeface="MS UI Gothic" panose="020B0600070205080204" pitchFamily="50" charset="-128"/>
              </a:rPr>
              <a:t>　　　　　　</a:t>
            </a:r>
            <a:r>
              <a:rPr lang="ja-JP" altLang="ja-JP" sz="2000">
                <a:latin typeface="ＭＳ ゴシック" panose="020B0609070205080204" pitchFamily="49" charset="-128"/>
                <a:ea typeface="ＭＳ ゴシック" panose="020B0609070205080204" pitchFamily="49" charset="-128"/>
              </a:rPr>
              <a:t>//</a:t>
            </a:r>
            <a:r>
              <a:rPr lang="ja-JP" altLang="ja-JP" sz="2000">
                <a:latin typeface="MS UI Gothic" panose="020B0600070205080204" pitchFamily="50" charset="-128"/>
                <a:ea typeface="MS UI Gothic" panose="020B0600070205080204" pitchFamily="50" charset="-128"/>
              </a:rPr>
              <a:t>  </a:t>
            </a:r>
            <a:r>
              <a:rPr lang="en-US" altLang="ja-JP" sz="2000">
                <a:latin typeface="MS UI Gothic" panose="020B0600070205080204" pitchFamily="50" charset="-128"/>
                <a:ea typeface="MS UI Gothic" panose="020B0600070205080204" pitchFamily="50" charset="-128"/>
              </a:rPr>
              <a:t>Xử lý</a:t>
            </a:r>
            <a:endParaRPr lang="ja-JP" altLang="ja-JP" sz="2000">
              <a:latin typeface="MS UI Gothic" panose="020B0600070205080204" pitchFamily="50" charset="-128"/>
              <a:ea typeface="MS UI Gothic" panose="020B0600070205080204" pitchFamily="50" charset="-128"/>
            </a:endParaRPr>
          </a:p>
          <a:p>
            <a:pPr lvl="1" algn="just">
              <a:lnSpc>
                <a:spcPct val="112000"/>
              </a:lnSpc>
            </a:pPr>
            <a:r>
              <a:rPr lang="ja-JP" altLang="ja-JP" sz="2000">
                <a:latin typeface="MS UI Gothic" panose="020B0600070205080204" pitchFamily="50" charset="-128"/>
                <a:ea typeface="MS UI Gothic" panose="020B0600070205080204" pitchFamily="50" charset="-128"/>
              </a:rPr>
              <a:t>　</a:t>
            </a:r>
            <a:r>
              <a:rPr lang="ja-JP" altLang="ja-JP" sz="2000">
                <a:latin typeface="ＭＳ ゴシック" panose="020B0609070205080204" pitchFamily="49" charset="-128"/>
                <a:ea typeface="ＭＳ ゴシック" panose="020B0609070205080204" pitchFamily="49" charset="-128"/>
              </a:rPr>
              <a:t>}</a:t>
            </a:r>
          </a:p>
        </p:txBody>
      </p:sp>
      <p:sp>
        <p:nvSpPr>
          <p:cNvPr id="464902" name="Rectangle 6">
            <a:extLst>
              <a:ext uri="{FF2B5EF4-FFF2-40B4-BE49-F238E27FC236}">
                <a16:creationId xmlns:a16="http://schemas.microsoft.com/office/drawing/2014/main" id="{014E9DA1-758C-AEBF-0474-272732069F5B}"/>
              </a:ext>
            </a:extLst>
          </p:cNvPr>
          <p:cNvSpPr>
            <a:spLocks noChangeArrowheads="1"/>
          </p:cNvSpPr>
          <p:nvPr/>
        </p:nvSpPr>
        <p:spPr bwMode="auto">
          <a:xfrm>
            <a:off x="344488" y="34544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●Đối số của main method</a:t>
            </a:r>
            <a:r>
              <a:rPr lang="ja-JP" altLang="en-US" sz="2000" b="0">
                <a:latin typeface="Arial" panose="020B0604020202020204" pitchFamily="34" charset="0"/>
              </a:rPr>
              <a:t>（</a:t>
            </a:r>
            <a:r>
              <a:rPr lang="en-US" altLang="ja-JP" sz="2000" b="0">
                <a:latin typeface="Arial" panose="020B0604020202020204" pitchFamily="34" charset="0"/>
              </a:rPr>
              <a:t>nhận giá trị từ command line</a:t>
            </a:r>
            <a:r>
              <a:rPr lang="ja-JP" altLang="en-US" sz="2000" b="0">
                <a:latin typeface="Arial" panose="020B0604020202020204" pitchFamily="34" charset="0"/>
              </a:rPr>
              <a:t>）</a:t>
            </a:r>
          </a:p>
        </p:txBody>
      </p:sp>
      <p:sp>
        <p:nvSpPr>
          <p:cNvPr id="464905" name="AutoShape 9">
            <a:extLst>
              <a:ext uri="{FF2B5EF4-FFF2-40B4-BE49-F238E27FC236}">
                <a16:creationId xmlns:a16="http://schemas.microsoft.com/office/drawing/2014/main" id="{F9C5B59A-CD7F-47E6-5326-6F72D3C2E277}"/>
              </a:ext>
            </a:extLst>
          </p:cNvPr>
          <p:cNvSpPr>
            <a:spLocks noChangeArrowheads="1"/>
          </p:cNvSpPr>
          <p:nvPr/>
        </p:nvSpPr>
        <p:spPr bwMode="auto">
          <a:xfrm>
            <a:off x="3197225" y="939800"/>
            <a:ext cx="5775325" cy="579438"/>
          </a:xfrm>
          <a:prstGeom prst="wedgeRoundRectCallout">
            <a:avLst>
              <a:gd name="adj1" fmla="val -45023"/>
              <a:gd name="adj2" fmla="val 100958"/>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Là method được gọi ra đầu tiên khi thực hiện application.</a:t>
            </a:r>
          </a:p>
        </p:txBody>
      </p:sp>
      <p:sp>
        <p:nvSpPr>
          <p:cNvPr id="464906" name="Text Box 10">
            <a:extLst>
              <a:ext uri="{FF2B5EF4-FFF2-40B4-BE49-F238E27FC236}">
                <a16:creationId xmlns:a16="http://schemas.microsoft.com/office/drawing/2014/main" id="{BFF62938-E44A-92FD-15B0-49FD199BCB25}"/>
              </a:ext>
            </a:extLst>
          </p:cNvPr>
          <p:cNvSpPr txBox="1">
            <a:spLocks noChangeArrowheads="1"/>
          </p:cNvSpPr>
          <p:nvPr/>
        </p:nvSpPr>
        <p:spPr bwMode="auto">
          <a:xfrm>
            <a:off x="344488" y="3914775"/>
            <a:ext cx="9120187" cy="509588"/>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nchor="ctr"/>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ja-JP" sz="2000">
                <a:ea typeface="MS UI Gothic" panose="020B0600070205080204" pitchFamily="50" charset="-128"/>
              </a:rPr>
              <a:t>　</a:t>
            </a:r>
            <a:r>
              <a:rPr lang="ja-JP" altLang="ja-JP" sz="2000">
                <a:ea typeface="ＭＳ ゴシック" panose="020B0609070205080204" pitchFamily="49" charset="-128"/>
              </a:rPr>
              <a:t>java</a:t>
            </a:r>
            <a:r>
              <a:rPr lang="ja-JP" altLang="ja-JP" sz="2000">
                <a:ea typeface="MS UI Gothic" panose="020B0600070205080204" pitchFamily="50" charset="-128"/>
              </a:rPr>
              <a:t>　</a:t>
            </a:r>
            <a:r>
              <a:rPr lang="en-US" altLang="ja-JP" sz="2000">
                <a:ea typeface="MS UI Gothic" panose="020B0600070205080204" pitchFamily="50" charset="-128"/>
              </a:rPr>
              <a:t>class name</a:t>
            </a:r>
            <a:r>
              <a:rPr lang="ja-JP" altLang="ja-JP" sz="2000">
                <a:ea typeface="MS UI Gothic" panose="020B0600070205080204" pitchFamily="50" charset="-128"/>
              </a:rPr>
              <a:t>　　</a:t>
            </a:r>
            <a:r>
              <a:rPr lang="en-US" altLang="ja-JP" sz="2000">
                <a:ea typeface="MS UI Gothic" panose="020B0600070205080204" pitchFamily="50" charset="-128"/>
              </a:rPr>
              <a:t>giá trị 1</a:t>
            </a:r>
            <a:r>
              <a:rPr lang="ja-JP" altLang="ja-JP" sz="2000">
                <a:ea typeface="MS UI Gothic" panose="020B0600070205080204" pitchFamily="50" charset="-128"/>
              </a:rPr>
              <a:t>　　</a:t>
            </a:r>
            <a:r>
              <a:rPr lang="en-US" altLang="ja-JP" sz="2000">
                <a:ea typeface="MS UI Gothic" panose="020B0600070205080204" pitchFamily="50" charset="-128"/>
              </a:rPr>
              <a:t>giá trị 2</a:t>
            </a:r>
            <a:r>
              <a:rPr lang="ja-JP" altLang="ja-JP" sz="2000">
                <a:ea typeface="MS UI Gothic" panose="020B0600070205080204" pitchFamily="50" charset="-128"/>
              </a:rPr>
              <a:t>　　…</a:t>
            </a:r>
          </a:p>
        </p:txBody>
      </p:sp>
      <p:sp>
        <p:nvSpPr>
          <p:cNvPr id="464908" name="Rectangle 12">
            <a:extLst>
              <a:ext uri="{FF2B5EF4-FFF2-40B4-BE49-F238E27FC236}">
                <a16:creationId xmlns:a16="http://schemas.microsoft.com/office/drawing/2014/main" id="{618BE8C4-0674-6452-1B56-C1D42BB137E1}"/>
              </a:ext>
            </a:extLst>
          </p:cNvPr>
          <p:cNvSpPr>
            <a:spLocks noChangeArrowheads="1"/>
          </p:cNvSpPr>
          <p:nvPr/>
        </p:nvSpPr>
        <p:spPr bwMode="auto">
          <a:xfrm>
            <a:off x="2470150" y="4002088"/>
            <a:ext cx="3546475" cy="369887"/>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464909" name="AutoShape 13">
            <a:extLst>
              <a:ext uri="{FF2B5EF4-FFF2-40B4-BE49-F238E27FC236}">
                <a16:creationId xmlns:a16="http://schemas.microsoft.com/office/drawing/2014/main" id="{B76AA31F-A4C0-A24F-314A-F3704A8BF991}"/>
              </a:ext>
            </a:extLst>
          </p:cNvPr>
          <p:cNvCxnSpPr>
            <a:cxnSpLocks noChangeShapeType="1"/>
            <a:stCxn id="464908" idx="3"/>
            <a:endCxn id="464911" idx="2"/>
          </p:cNvCxnSpPr>
          <p:nvPr/>
        </p:nvCxnSpPr>
        <p:spPr bwMode="auto">
          <a:xfrm flipH="1" flipV="1">
            <a:off x="5202238" y="2152650"/>
            <a:ext cx="833437" cy="2035175"/>
          </a:xfrm>
          <a:prstGeom prst="bentConnector4">
            <a:avLst>
              <a:gd name="adj1" fmla="val -25144"/>
              <a:gd name="adj2" fmla="val 55069"/>
            </a:avLst>
          </a:prstGeom>
          <a:noFill/>
          <a:ln w="381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64911" name="Rectangle 15">
            <a:extLst>
              <a:ext uri="{FF2B5EF4-FFF2-40B4-BE49-F238E27FC236}">
                <a16:creationId xmlns:a16="http://schemas.microsoft.com/office/drawing/2014/main" id="{09FB33C4-E429-F972-7277-12790835E2EF}"/>
              </a:ext>
            </a:extLst>
          </p:cNvPr>
          <p:cNvSpPr>
            <a:spLocks noChangeArrowheads="1"/>
          </p:cNvSpPr>
          <p:nvPr/>
        </p:nvSpPr>
        <p:spPr bwMode="auto">
          <a:xfrm>
            <a:off x="4256088" y="1787525"/>
            <a:ext cx="1892300" cy="3460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ja-JP" altLang="ja-JP">
              <a:ea typeface="ＭＳ ゴシック" panose="020B0609070205080204" pitchFamily="49" charset="-128"/>
            </a:endParaRPr>
          </a:p>
        </p:txBody>
      </p:sp>
      <p:sp>
        <p:nvSpPr>
          <p:cNvPr id="464912" name="AutoShape 16">
            <a:extLst>
              <a:ext uri="{FF2B5EF4-FFF2-40B4-BE49-F238E27FC236}">
                <a16:creationId xmlns:a16="http://schemas.microsoft.com/office/drawing/2014/main" id="{0C299A14-B122-93B0-D920-F43DFA789A9C}"/>
              </a:ext>
            </a:extLst>
          </p:cNvPr>
          <p:cNvSpPr>
            <a:spLocks noChangeArrowheads="1"/>
          </p:cNvSpPr>
          <p:nvPr/>
        </p:nvSpPr>
        <p:spPr bwMode="auto">
          <a:xfrm>
            <a:off x="6581775" y="2416175"/>
            <a:ext cx="2619375" cy="1739900"/>
          </a:xfrm>
          <a:prstGeom prst="wedgeRoundRectCallout">
            <a:avLst>
              <a:gd name="adj1" fmla="val -59819"/>
              <a:gd name="adj2" fmla="val 21079"/>
              <a:gd name="adj3" fmla="val 16667"/>
            </a:avLst>
          </a:prstGeom>
          <a:solidFill>
            <a:srgbClr val="CCFF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r>
              <a:rPr lang="en-US" altLang="ja-JP" sz="2000"/>
              <a:t>Được truyền như là mảng String.</a:t>
            </a:r>
          </a:p>
          <a:p>
            <a:r>
              <a:rPr lang="ja-JP" altLang="en-US" sz="2000">
                <a:latin typeface="MS UI Gothic" panose="020B0600070205080204" pitchFamily="50" charset="-128"/>
              </a:rPr>
              <a:t>　</a:t>
            </a:r>
            <a:r>
              <a:rPr lang="en-US" altLang="ja-JP" sz="2000">
                <a:latin typeface="MS UI Gothic" panose="020B0600070205080204" pitchFamily="50" charset="-128"/>
              </a:rPr>
              <a:t>args[0] ← </a:t>
            </a:r>
            <a:r>
              <a:rPr lang="en-US" altLang="ja-JP" sz="2000"/>
              <a:t>giá trị 1</a:t>
            </a:r>
          </a:p>
          <a:p>
            <a:r>
              <a:rPr lang="ja-JP" altLang="en-US" sz="2000">
                <a:latin typeface="MS UI Gothic" panose="020B0600070205080204" pitchFamily="50" charset="-128"/>
              </a:rPr>
              <a:t>　</a:t>
            </a:r>
            <a:r>
              <a:rPr lang="en-US" altLang="ja-JP" sz="2000">
                <a:latin typeface="MS UI Gothic" panose="020B0600070205080204" pitchFamily="50" charset="-128"/>
              </a:rPr>
              <a:t>args[1] ← </a:t>
            </a:r>
            <a:r>
              <a:rPr lang="en-US" altLang="ja-JP" sz="2000"/>
              <a:t>giá trị 2</a:t>
            </a:r>
          </a:p>
          <a:p>
            <a:r>
              <a:rPr lang="en-US" altLang="ja-JP" sz="2000">
                <a:latin typeface="MS UI Gothic" panose="020B0600070205080204" pitchFamily="50" charset="-128"/>
              </a:rPr>
              <a:t>	</a:t>
            </a:r>
            <a:r>
              <a:rPr lang="ja-JP" altLang="en-US" sz="2000">
                <a:latin typeface="MS UI Gothic" panose="020B0600070205080204" pitchFamily="50" charset="-128"/>
              </a:rPr>
              <a:t>　：</a:t>
            </a:r>
          </a:p>
        </p:txBody>
      </p:sp>
      <p:sp>
        <p:nvSpPr>
          <p:cNvPr id="464913" name="Rectangle 17">
            <a:extLst>
              <a:ext uri="{FF2B5EF4-FFF2-40B4-BE49-F238E27FC236}">
                <a16:creationId xmlns:a16="http://schemas.microsoft.com/office/drawing/2014/main" id="{DC48D6BA-4934-8C7D-F22B-23CE55AF0887}"/>
              </a:ext>
            </a:extLst>
          </p:cNvPr>
          <p:cNvSpPr>
            <a:spLocks noChangeArrowheads="1"/>
          </p:cNvSpPr>
          <p:nvPr/>
        </p:nvSpPr>
        <p:spPr bwMode="auto">
          <a:xfrm>
            <a:off x="344488" y="46609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a:t>
            </a:r>
            <a:r>
              <a:rPr lang="ja-JP" altLang="en-US" sz="2000" b="0">
                <a:latin typeface="Arial" panose="020B0604020202020204" pitchFamily="34" charset="0"/>
              </a:rPr>
              <a:t>　</a:t>
            </a:r>
            <a:r>
              <a:rPr lang="en-US" altLang="ja-JP" sz="2000" b="0">
                <a:latin typeface="Arial" panose="020B0604020202020204" pitchFamily="34" charset="0"/>
              </a:rPr>
              <a:t>Chỉ định các giá trị muốn truyền cho main method ngăn cách nhau bằng blank vào sau class name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2A13A40C-E28B-B4AE-F974-11D4336E59D4}"/>
              </a:ext>
            </a:extLst>
          </p:cNvPr>
          <p:cNvSpPr>
            <a:spLocks noGrp="1"/>
          </p:cNvSpPr>
          <p:nvPr>
            <p:ph type="sldNum" sz="quarter" idx="10"/>
          </p:nvPr>
        </p:nvSpPr>
        <p:spPr/>
        <p:txBody>
          <a:bodyPr/>
          <a:lstStyle/>
          <a:p>
            <a:fld id="{C7FBC014-1B24-458C-8CA0-BE2AF264EEAA}" type="slidenum">
              <a:rPr lang="en-US" altLang="ja-JP"/>
              <a:pPr/>
              <a:t>29</a:t>
            </a:fld>
            <a:endParaRPr lang="en-US" altLang="ja-JP"/>
          </a:p>
        </p:txBody>
      </p:sp>
      <p:sp>
        <p:nvSpPr>
          <p:cNvPr id="428034" name="Rectangle 2">
            <a:extLst>
              <a:ext uri="{FF2B5EF4-FFF2-40B4-BE49-F238E27FC236}">
                <a16:creationId xmlns:a16="http://schemas.microsoft.com/office/drawing/2014/main" id="{04238427-B198-2842-2A55-CE496D9E55E2}"/>
              </a:ext>
            </a:extLst>
          </p:cNvPr>
          <p:cNvSpPr>
            <a:spLocks noGrp="1" noChangeArrowheads="1"/>
          </p:cNvSpPr>
          <p:nvPr>
            <p:ph type="body" sz="half" idx="1"/>
          </p:nvPr>
        </p:nvSpPr>
        <p:spPr/>
        <p:txBody>
          <a:bodyPr/>
          <a:lstStyle/>
          <a:p>
            <a:endParaRPr lang="ja-JP" altLang="ja-JP" sz="1800"/>
          </a:p>
        </p:txBody>
      </p:sp>
      <p:sp>
        <p:nvSpPr>
          <p:cNvPr id="428035" name="Rectangle 3">
            <a:extLst>
              <a:ext uri="{FF2B5EF4-FFF2-40B4-BE49-F238E27FC236}">
                <a16:creationId xmlns:a16="http://schemas.microsoft.com/office/drawing/2014/main" id="{DA5D3EFA-70AF-E4F3-8FE4-F912F450AF00}"/>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6E348E68-E6B1-3CA7-8A94-7586AD14B644}"/>
              </a:ext>
            </a:extLst>
          </p:cNvPr>
          <p:cNvSpPr>
            <a:spLocks noGrp="1"/>
          </p:cNvSpPr>
          <p:nvPr>
            <p:ph type="sldNum" sz="quarter" idx="10"/>
          </p:nvPr>
        </p:nvSpPr>
        <p:spPr/>
        <p:txBody>
          <a:bodyPr/>
          <a:lstStyle/>
          <a:p>
            <a:fld id="{945F48C2-981F-4E3D-B344-93D22F84660E}" type="slidenum">
              <a:rPr lang="en-US" altLang="ja-JP"/>
              <a:pPr/>
              <a:t>30</a:t>
            </a:fld>
            <a:endParaRPr lang="en-US" altLang="ja-JP"/>
          </a:p>
        </p:txBody>
      </p:sp>
      <p:sp>
        <p:nvSpPr>
          <p:cNvPr id="466946" name="Rectangle 2">
            <a:extLst>
              <a:ext uri="{FF2B5EF4-FFF2-40B4-BE49-F238E27FC236}">
                <a16:creationId xmlns:a16="http://schemas.microsoft.com/office/drawing/2014/main" id="{ED8854D8-8981-B966-3629-C754AC98334F}"/>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66947" name="Rectangle 3">
            <a:extLst>
              <a:ext uri="{FF2B5EF4-FFF2-40B4-BE49-F238E27FC236}">
                <a16:creationId xmlns:a16="http://schemas.microsoft.com/office/drawing/2014/main" id="{0A61963D-13C7-96F1-7367-5F4D442C2864}"/>
              </a:ext>
            </a:extLst>
          </p:cNvPr>
          <p:cNvSpPr>
            <a:spLocks noGrp="1" noChangeArrowheads="1"/>
          </p:cNvSpPr>
          <p:nvPr>
            <p:ph type="body" sz="half" idx="1"/>
          </p:nvPr>
        </p:nvSpPr>
        <p:spPr/>
        <p:txBody>
          <a:bodyPr/>
          <a:lstStyle/>
          <a:p>
            <a:endParaRPr lang="ja-JP" altLang="ja-JP" sz="1800"/>
          </a:p>
        </p:txBody>
      </p:sp>
      <p:sp>
        <p:nvSpPr>
          <p:cNvPr id="466948" name="Rectangle 4">
            <a:extLst>
              <a:ext uri="{FF2B5EF4-FFF2-40B4-BE49-F238E27FC236}">
                <a16:creationId xmlns:a16="http://schemas.microsoft.com/office/drawing/2014/main" id="{8764BA6F-E603-6115-D82C-5EF5324DD7FA}"/>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CBED520D-E8F2-6A9E-8816-43E00D37923D}"/>
              </a:ext>
            </a:extLst>
          </p:cNvPr>
          <p:cNvSpPr>
            <a:spLocks noGrp="1"/>
          </p:cNvSpPr>
          <p:nvPr>
            <p:ph type="sldNum" sz="quarter" idx="10"/>
          </p:nvPr>
        </p:nvSpPr>
        <p:spPr/>
        <p:txBody>
          <a:bodyPr/>
          <a:lstStyle/>
          <a:p>
            <a:fld id="{1F816789-B153-45A0-B105-72757B8405A5}" type="slidenum">
              <a:rPr lang="en-US" altLang="ja-JP"/>
              <a:pPr/>
              <a:t>31</a:t>
            </a:fld>
            <a:endParaRPr lang="en-US" altLang="ja-JP"/>
          </a:p>
        </p:txBody>
      </p:sp>
      <p:sp>
        <p:nvSpPr>
          <p:cNvPr id="468994" name="Rectangle 2">
            <a:extLst>
              <a:ext uri="{FF2B5EF4-FFF2-40B4-BE49-F238E27FC236}">
                <a16:creationId xmlns:a16="http://schemas.microsoft.com/office/drawing/2014/main" id="{F2739A4E-74B7-DE0E-2204-E259F4C0A948}"/>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68995" name="Rectangle 3">
            <a:extLst>
              <a:ext uri="{FF2B5EF4-FFF2-40B4-BE49-F238E27FC236}">
                <a16:creationId xmlns:a16="http://schemas.microsoft.com/office/drawing/2014/main" id="{D044F69F-8164-BB67-5229-79901F664AF7}"/>
              </a:ext>
            </a:extLst>
          </p:cNvPr>
          <p:cNvSpPr>
            <a:spLocks noGrp="1" noChangeArrowheads="1"/>
          </p:cNvSpPr>
          <p:nvPr>
            <p:ph type="body" sz="half" idx="1"/>
          </p:nvPr>
        </p:nvSpPr>
        <p:spPr/>
        <p:txBody>
          <a:bodyPr/>
          <a:lstStyle/>
          <a:p>
            <a:endParaRPr lang="ja-JP" altLang="ja-JP" sz="1800"/>
          </a:p>
        </p:txBody>
      </p:sp>
      <p:sp>
        <p:nvSpPr>
          <p:cNvPr id="468996" name="Rectangle 4">
            <a:extLst>
              <a:ext uri="{FF2B5EF4-FFF2-40B4-BE49-F238E27FC236}">
                <a16:creationId xmlns:a16="http://schemas.microsoft.com/office/drawing/2014/main" id="{86BC7A76-8A91-0568-F314-AEFA43618D02}"/>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FAC61D21-8791-2CA3-60C2-2B2B4F77D6A1}"/>
              </a:ext>
            </a:extLst>
          </p:cNvPr>
          <p:cNvSpPr>
            <a:spLocks noGrp="1"/>
          </p:cNvSpPr>
          <p:nvPr>
            <p:ph type="sldNum" sz="quarter" idx="10"/>
          </p:nvPr>
        </p:nvSpPr>
        <p:spPr/>
        <p:txBody>
          <a:bodyPr/>
          <a:lstStyle/>
          <a:p>
            <a:fld id="{B17A7505-286D-4E94-933E-18BB00C4D0AF}" type="slidenum">
              <a:rPr lang="en-US" altLang="ja-JP"/>
              <a:pPr/>
              <a:t>32</a:t>
            </a:fld>
            <a:endParaRPr lang="en-US" altLang="ja-JP"/>
          </a:p>
        </p:txBody>
      </p:sp>
      <p:sp>
        <p:nvSpPr>
          <p:cNvPr id="573442" name="Rectangle 2">
            <a:extLst>
              <a:ext uri="{FF2B5EF4-FFF2-40B4-BE49-F238E27FC236}">
                <a16:creationId xmlns:a16="http://schemas.microsoft.com/office/drawing/2014/main" id="{252DEAF7-76C2-A993-A808-FC3779931EF1}"/>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73443" name="Rectangle 3">
            <a:extLst>
              <a:ext uri="{FF2B5EF4-FFF2-40B4-BE49-F238E27FC236}">
                <a16:creationId xmlns:a16="http://schemas.microsoft.com/office/drawing/2014/main" id="{7D165E87-B9EE-C60D-7A5F-A3E605EF40DE}"/>
              </a:ext>
            </a:extLst>
          </p:cNvPr>
          <p:cNvSpPr>
            <a:spLocks noGrp="1" noChangeArrowheads="1"/>
          </p:cNvSpPr>
          <p:nvPr>
            <p:ph type="body" sz="half" idx="1"/>
          </p:nvPr>
        </p:nvSpPr>
        <p:spPr/>
        <p:txBody>
          <a:bodyPr/>
          <a:lstStyle/>
          <a:p>
            <a:endParaRPr lang="ja-JP" altLang="ja-JP" sz="1800"/>
          </a:p>
        </p:txBody>
      </p:sp>
      <p:sp>
        <p:nvSpPr>
          <p:cNvPr id="573444" name="Rectangle 4">
            <a:extLst>
              <a:ext uri="{FF2B5EF4-FFF2-40B4-BE49-F238E27FC236}">
                <a16:creationId xmlns:a16="http://schemas.microsoft.com/office/drawing/2014/main" id="{90A5E2D2-58E5-E6D1-CD0C-2DF9FE3B56D1}"/>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BF81494-05D1-F7F7-A604-B811380A6136}"/>
              </a:ext>
            </a:extLst>
          </p:cNvPr>
          <p:cNvSpPr>
            <a:spLocks noGrp="1"/>
          </p:cNvSpPr>
          <p:nvPr>
            <p:ph type="sldNum" sz="quarter" idx="10"/>
          </p:nvPr>
        </p:nvSpPr>
        <p:spPr/>
        <p:txBody>
          <a:bodyPr/>
          <a:lstStyle/>
          <a:p>
            <a:fld id="{DE3B6EF9-13D3-4164-A2D1-270E894EF1AB}" type="slidenum">
              <a:rPr lang="en-US" altLang="ja-JP"/>
              <a:pPr/>
              <a:t>33</a:t>
            </a:fld>
            <a:endParaRPr lang="en-US" altLang="ja-JP"/>
          </a:p>
        </p:txBody>
      </p:sp>
      <p:sp>
        <p:nvSpPr>
          <p:cNvPr id="575490" name="Rectangle 2">
            <a:extLst>
              <a:ext uri="{FF2B5EF4-FFF2-40B4-BE49-F238E27FC236}">
                <a16:creationId xmlns:a16="http://schemas.microsoft.com/office/drawing/2014/main" id="{F13CC20C-F7A4-0BF3-48CE-F7481F5AE3F4}"/>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75491" name="Rectangle 3">
            <a:extLst>
              <a:ext uri="{FF2B5EF4-FFF2-40B4-BE49-F238E27FC236}">
                <a16:creationId xmlns:a16="http://schemas.microsoft.com/office/drawing/2014/main" id="{BAB209F2-4CA1-81B9-4FCE-5DE7D364436B}"/>
              </a:ext>
            </a:extLst>
          </p:cNvPr>
          <p:cNvSpPr>
            <a:spLocks noGrp="1" noChangeArrowheads="1"/>
          </p:cNvSpPr>
          <p:nvPr>
            <p:ph type="body" sz="half" idx="1"/>
          </p:nvPr>
        </p:nvSpPr>
        <p:spPr/>
        <p:txBody>
          <a:bodyPr/>
          <a:lstStyle/>
          <a:p>
            <a:endParaRPr lang="ja-JP" altLang="ja-JP" sz="1800"/>
          </a:p>
        </p:txBody>
      </p:sp>
      <p:sp>
        <p:nvSpPr>
          <p:cNvPr id="575492" name="Rectangle 4">
            <a:extLst>
              <a:ext uri="{FF2B5EF4-FFF2-40B4-BE49-F238E27FC236}">
                <a16:creationId xmlns:a16="http://schemas.microsoft.com/office/drawing/2014/main" id="{75E2CCAB-DBFE-51ED-CAF4-CE0D6B0CFFB0}"/>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67386CFF-79C9-5535-99AE-38B39D72FEF9}"/>
              </a:ext>
            </a:extLst>
          </p:cNvPr>
          <p:cNvSpPr>
            <a:spLocks noGrp="1"/>
          </p:cNvSpPr>
          <p:nvPr>
            <p:ph type="sldNum" sz="quarter" idx="10"/>
          </p:nvPr>
        </p:nvSpPr>
        <p:spPr/>
        <p:txBody>
          <a:bodyPr/>
          <a:lstStyle/>
          <a:p>
            <a:fld id="{E2F7067A-CC7C-4AEE-B1EF-85517E3A65D4}" type="slidenum">
              <a:rPr lang="en-US" altLang="ja-JP"/>
              <a:pPr/>
              <a:t>34</a:t>
            </a:fld>
            <a:endParaRPr lang="en-US" altLang="ja-JP"/>
          </a:p>
        </p:txBody>
      </p:sp>
      <p:sp>
        <p:nvSpPr>
          <p:cNvPr id="489474" name="Rectangle 2">
            <a:extLst>
              <a:ext uri="{FF2B5EF4-FFF2-40B4-BE49-F238E27FC236}">
                <a16:creationId xmlns:a16="http://schemas.microsoft.com/office/drawing/2014/main" id="{DB2F1202-FCCE-A757-389E-E58137D18A60}"/>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89475" name="Rectangle 3">
            <a:extLst>
              <a:ext uri="{FF2B5EF4-FFF2-40B4-BE49-F238E27FC236}">
                <a16:creationId xmlns:a16="http://schemas.microsoft.com/office/drawing/2014/main" id="{AE2CA839-FC9F-749B-93D5-93832EDA6B6A}"/>
              </a:ext>
            </a:extLst>
          </p:cNvPr>
          <p:cNvSpPr>
            <a:spLocks noGrp="1" noChangeArrowheads="1"/>
          </p:cNvSpPr>
          <p:nvPr>
            <p:ph type="body" sz="half" idx="1"/>
          </p:nvPr>
        </p:nvSpPr>
        <p:spPr/>
        <p:txBody>
          <a:bodyPr/>
          <a:lstStyle/>
          <a:p>
            <a:endParaRPr lang="ja-JP" altLang="ja-JP" sz="1800"/>
          </a:p>
        </p:txBody>
      </p:sp>
      <p:sp>
        <p:nvSpPr>
          <p:cNvPr id="489476" name="Rectangle 4">
            <a:extLst>
              <a:ext uri="{FF2B5EF4-FFF2-40B4-BE49-F238E27FC236}">
                <a16:creationId xmlns:a16="http://schemas.microsoft.com/office/drawing/2014/main" id="{FD86504F-52CC-1B14-2133-C1E0153E452B}"/>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DC9EA2D4-1300-BFEF-A2CB-1C72DF73192A}"/>
              </a:ext>
            </a:extLst>
          </p:cNvPr>
          <p:cNvSpPr>
            <a:spLocks noGrp="1"/>
          </p:cNvSpPr>
          <p:nvPr>
            <p:ph type="sldNum" sz="quarter" idx="10"/>
          </p:nvPr>
        </p:nvSpPr>
        <p:spPr/>
        <p:txBody>
          <a:bodyPr/>
          <a:lstStyle/>
          <a:p>
            <a:fld id="{3B0D5848-A3BE-49F5-91ED-FB598FE87073}" type="slidenum">
              <a:rPr lang="en-US" altLang="ja-JP"/>
              <a:pPr/>
              <a:t>35</a:t>
            </a:fld>
            <a:endParaRPr lang="en-US" altLang="ja-JP"/>
          </a:p>
        </p:txBody>
      </p:sp>
      <p:sp>
        <p:nvSpPr>
          <p:cNvPr id="493570" name="Rectangle 2">
            <a:extLst>
              <a:ext uri="{FF2B5EF4-FFF2-40B4-BE49-F238E27FC236}">
                <a16:creationId xmlns:a16="http://schemas.microsoft.com/office/drawing/2014/main" id="{2A7A2F69-33CB-1EC9-B268-5DB06CC4711D}"/>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93571" name="Rectangle 3">
            <a:extLst>
              <a:ext uri="{FF2B5EF4-FFF2-40B4-BE49-F238E27FC236}">
                <a16:creationId xmlns:a16="http://schemas.microsoft.com/office/drawing/2014/main" id="{DB0303EC-A57D-A718-30BF-BBC341084695}"/>
              </a:ext>
            </a:extLst>
          </p:cNvPr>
          <p:cNvSpPr>
            <a:spLocks noGrp="1" noChangeArrowheads="1"/>
          </p:cNvSpPr>
          <p:nvPr>
            <p:ph type="body" sz="half" idx="1"/>
          </p:nvPr>
        </p:nvSpPr>
        <p:spPr/>
        <p:txBody>
          <a:bodyPr/>
          <a:lstStyle/>
          <a:p>
            <a:endParaRPr lang="ja-JP" altLang="ja-JP" sz="1800"/>
          </a:p>
        </p:txBody>
      </p:sp>
      <p:sp>
        <p:nvSpPr>
          <p:cNvPr id="493572" name="Rectangle 4">
            <a:extLst>
              <a:ext uri="{FF2B5EF4-FFF2-40B4-BE49-F238E27FC236}">
                <a16:creationId xmlns:a16="http://schemas.microsoft.com/office/drawing/2014/main" id="{A32A7A51-E3D3-CFC5-081E-86571CB21D87}"/>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94C6A5F-3B51-0764-ED20-D72693425308}"/>
              </a:ext>
            </a:extLst>
          </p:cNvPr>
          <p:cNvSpPr>
            <a:spLocks noGrp="1"/>
          </p:cNvSpPr>
          <p:nvPr>
            <p:ph type="sldNum" sz="quarter" idx="10"/>
          </p:nvPr>
        </p:nvSpPr>
        <p:spPr/>
        <p:txBody>
          <a:bodyPr/>
          <a:lstStyle/>
          <a:p>
            <a:fld id="{E3E38362-216B-4042-879F-7F1510C21CBD}" type="slidenum">
              <a:rPr lang="en-US" altLang="ja-JP"/>
              <a:pPr/>
              <a:t>36</a:t>
            </a:fld>
            <a:endParaRPr lang="en-US" altLang="ja-JP"/>
          </a:p>
        </p:txBody>
      </p:sp>
      <p:sp>
        <p:nvSpPr>
          <p:cNvPr id="499714" name="Rectangle 2">
            <a:extLst>
              <a:ext uri="{FF2B5EF4-FFF2-40B4-BE49-F238E27FC236}">
                <a16:creationId xmlns:a16="http://schemas.microsoft.com/office/drawing/2014/main" id="{B8E72273-5C38-72D5-60E5-08D1ED8C7F7F}"/>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99715" name="Rectangle 3">
            <a:extLst>
              <a:ext uri="{FF2B5EF4-FFF2-40B4-BE49-F238E27FC236}">
                <a16:creationId xmlns:a16="http://schemas.microsoft.com/office/drawing/2014/main" id="{B0594834-D518-6A64-66A9-32E28E86DA52}"/>
              </a:ext>
            </a:extLst>
          </p:cNvPr>
          <p:cNvSpPr>
            <a:spLocks noGrp="1" noChangeArrowheads="1"/>
          </p:cNvSpPr>
          <p:nvPr>
            <p:ph type="body" sz="half" idx="1"/>
          </p:nvPr>
        </p:nvSpPr>
        <p:spPr/>
        <p:txBody>
          <a:bodyPr/>
          <a:lstStyle/>
          <a:p>
            <a:endParaRPr lang="ja-JP" altLang="ja-JP" sz="1800"/>
          </a:p>
        </p:txBody>
      </p:sp>
      <p:sp>
        <p:nvSpPr>
          <p:cNvPr id="499716" name="Rectangle 4">
            <a:extLst>
              <a:ext uri="{FF2B5EF4-FFF2-40B4-BE49-F238E27FC236}">
                <a16:creationId xmlns:a16="http://schemas.microsoft.com/office/drawing/2014/main" id="{96DE786E-9B39-8735-4304-5CC6840B0CFF}"/>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D6519871-4FB1-2BCD-E47A-F3CF123E9283}"/>
              </a:ext>
            </a:extLst>
          </p:cNvPr>
          <p:cNvSpPr>
            <a:spLocks noGrp="1"/>
          </p:cNvSpPr>
          <p:nvPr>
            <p:ph type="sldNum" sz="quarter" idx="10"/>
          </p:nvPr>
        </p:nvSpPr>
        <p:spPr/>
        <p:txBody>
          <a:bodyPr/>
          <a:lstStyle/>
          <a:p>
            <a:fld id="{414B13F0-610E-4B03-B303-EA16C0D91FB6}" type="slidenum">
              <a:rPr lang="en-US" altLang="ja-JP"/>
              <a:pPr/>
              <a:t>37</a:t>
            </a:fld>
            <a:endParaRPr lang="en-US" altLang="ja-JP"/>
          </a:p>
        </p:txBody>
      </p:sp>
      <p:sp>
        <p:nvSpPr>
          <p:cNvPr id="577538" name="Rectangle 2">
            <a:extLst>
              <a:ext uri="{FF2B5EF4-FFF2-40B4-BE49-F238E27FC236}">
                <a16:creationId xmlns:a16="http://schemas.microsoft.com/office/drawing/2014/main" id="{6F028E91-B4A5-AC7B-78B1-BC33C0B3CC6D}"/>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77539" name="Rectangle 3">
            <a:extLst>
              <a:ext uri="{FF2B5EF4-FFF2-40B4-BE49-F238E27FC236}">
                <a16:creationId xmlns:a16="http://schemas.microsoft.com/office/drawing/2014/main" id="{6DE23E7B-F0EC-47F7-C575-9CB7BCA442DB}"/>
              </a:ext>
            </a:extLst>
          </p:cNvPr>
          <p:cNvSpPr>
            <a:spLocks noGrp="1" noChangeArrowheads="1"/>
          </p:cNvSpPr>
          <p:nvPr>
            <p:ph type="body" sz="half" idx="1"/>
          </p:nvPr>
        </p:nvSpPr>
        <p:spPr/>
        <p:txBody>
          <a:bodyPr/>
          <a:lstStyle/>
          <a:p>
            <a:endParaRPr lang="ja-JP" altLang="ja-JP" sz="1800"/>
          </a:p>
        </p:txBody>
      </p:sp>
      <p:sp>
        <p:nvSpPr>
          <p:cNvPr id="577540" name="Rectangle 4">
            <a:extLst>
              <a:ext uri="{FF2B5EF4-FFF2-40B4-BE49-F238E27FC236}">
                <a16:creationId xmlns:a16="http://schemas.microsoft.com/office/drawing/2014/main" id="{C974D909-A6AA-8BAC-0C1A-757FC3A465EC}"/>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D3C8173-C111-3078-CE77-A4CF613A64C2}"/>
              </a:ext>
            </a:extLst>
          </p:cNvPr>
          <p:cNvSpPr>
            <a:spLocks noGrp="1"/>
          </p:cNvSpPr>
          <p:nvPr>
            <p:ph type="sldNum" sz="quarter" idx="10"/>
          </p:nvPr>
        </p:nvSpPr>
        <p:spPr/>
        <p:txBody>
          <a:bodyPr/>
          <a:lstStyle/>
          <a:p>
            <a:fld id="{8E45B291-897C-4D0D-B7E0-D143F42F0898}" type="slidenum">
              <a:rPr lang="en-US" altLang="ja-JP"/>
              <a:pPr/>
              <a:t>38</a:t>
            </a:fld>
            <a:endParaRPr lang="en-US" altLang="ja-JP"/>
          </a:p>
        </p:txBody>
      </p:sp>
      <p:sp>
        <p:nvSpPr>
          <p:cNvPr id="507906" name="Rectangle 2">
            <a:extLst>
              <a:ext uri="{FF2B5EF4-FFF2-40B4-BE49-F238E27FC236}">
                <a16:creationId xmlns:a16="http://schemas.microsoft.com/office/drawing/2014/main" id="{57DF4A4B-2635-0C05-EAC0-001402E3A162}"/>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07907" name="Rectangle 3">
            <a:extLst>
              <a:ext uri="{FF2B5EF4-FFF2-40B4-BE49-F238E27FC236}">
                <a16:creationId xmlns:a16="http://schemas.microsoft.com/office/drawing/2014/main" id="{8C08DE93-C82C-ADEC-16F2-D889D9ADC4AA}"/>
              </a:ext>
            </a:extLst>
          </p:cNvPr>
          <p:cNvSpPr>
            <a:spLocks noGrp="1" noChangeArrowheads="1"/>
          </p:cNvSpPr>
          <p:nvPr>
            <p:ph type="body" sz="half" idx="1"/>
          </p:nvPr>
        </p:nvSpPr>
        <p:spPr/>
        <p:txBody>
          <a:bodyPr/>
          <a:lstStyle/>
          <a:p>
            <a:endParaRPr lang="ja-JP" altLang="ja-JP" sz="1800"/>
          </a:p>
        </p:txBody>
      </p:sp>
      <p:sp>
        <p:nvSpPr>
          <p:cNvPr id="507908" name="Rectangle 4">
            <a:extLst>
              <a:ext uri="{FF2B5EF4-FFF2-40B4-BE49-F238E27FC236}">
                <a16:creationId xmlns:a16="http://schemas.microsoft.com/office/drawing/2014/main" id="{3153562E-824E-F748-1B1C-B03866D43BA5}"/>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E6C7B0F-1AFC-948F-1326-81ADB682798F}"/>
              </a:ext>
            </a:extLst>
          </p:cNvPr>
          <p:cNvSpPr>
            <a:spLocks noGrp="1"/>
          </p:cNvSpPr>
          <p:nvPr>
            <p:ph type="sldNum" sz="quarter" idx="10"/>
          </p:nvPr>
        </p:nvSpPr>
        <p:spPr/>
        <p:txBody>
          <a:bodyPr/>
          <a:lstStyle/>
          <a:p>
            <a:fld id="{A00A64FA-B4B7-4450-982C-DEB2456BE895}" type="slidenum">
              <a:rPr lang="en-US" altLang="ja-JP"/>
              <a:pPr/>
              <a:t>39</a:t>
            </a:fld>
            <a:endParaRPr lang="en-US" altLang="ja-JP"/>
          </a:p>
        </p:txBody>
      </p:sp>
      <p:sp>
        <p:nvSpPr>
          <p:cNvPr id="579586" name="Rectangle 2">
            <a:extLst>
              <a:ext uri="{FF2B5EF4-FFF2-40B4-BE49-F238E27FC236}">
                <a16:creationId xmlns:a16="http://schemas.microsoft.com/office/drawing/2014/main" id="{7EAAD031-F900-C28B-E270-D62EF6B95D40}"/>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79587" name="Rectangle 3">
            <a:extLst>
              <a:ext uri="{FF2B5EF4-FFF2-40B4-BE49-F238E27FC236}">
                <a16:creationId xmlns:a16="http://schemas.microsoft.com/office/drawing/2014/main" id="{08682019-47F5-8E75-493C-0E6CEC6A22DC}"/>
              </a:ext>
            </a:extLst>
          </p:cNvPr>
          <p:cNvSpPr>
            <a:spLocks noGrp="1" noChangeArrowheads="1"/>
          </p:cNvSpPr>
          <p:nvPr>
            <p:ph type="body" sz="half" idx="1"/>
          </p:nvPr>
        </p:nvSpPr>
        <p:spPr/>
        <p:txBody>
          <a:bodyPr/>
          <a:lstStyle/>
          <a:p>
            <a:endParaRPr lang="ja-JP" altLang="ja-JP" sz="1800"/>
          </a:p>
        </p:txBody>
      </p:sp>
      <p:sp>
        <p:nvSpPr>
          <p:cNvPr id="579588" name="Rectangle 4">
            <a:extLst>
              <a:ext uri="{FF2B5EF4-FFF2-40B4-BE49-F238E27FC236}">
                <a16:creationId xmlns:a16="http://schemas.microsoft.com/office/drawing/2014/main" id="{48E09A03-8DB6-B6AE-F17E-D95AC8AEBDFD}"/>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343780E8-1533-1BC8-280F-ED148363F470}"/>
              </a:ext>
            </a:extLst>
          </p:cNvPr>
          <p:cNvSpPr>
            <a:spLocks noGrp="1"/>
          </p:cNvSpPr>
          <p:nvPr>
            <p:ph type="sldNum" sz="quarter" idx="10"/>
          </p:nvPr>
        </p:nvSpPr>
        <p:spPr/>
        <p:txBody>
          <a:bodyPr/>
          <a:lstStyle/>
          <a:p>
            <a:fld id="{4E0057CB-699C-45FA-AB6D-04BCB9268FA6}" type="slidenum">
              <a:rPr lang="en-US" altLang="ja-JP"/>
              <a:pPr/>
              <a:t>40</a:t>
            </a:fld>
            <a:endParaRPr lang="en-US" altLang="ja-JP"/>
          </a:p>
        </p:txBody>
      </p:sp>
      <p:sp>
        <p:nvSpPr>
          <p:cNvPr id="581634" name="Rectangle 2">
            <a:extLst>
              <a:ext uri="{FF2B5EF4-FFF2-40B4-BE49-F238E27FC236}">
                <a16:creationId xmlns:a16="http://schemas.microsoft.com/office/drawing/2014/main" id="{EEB9086C-449F-595D-A3AC-E78757853214}"/>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81635" name="Rectangle 3">
            <a:extLst>
              <a:ext uri="{FF2B5EF4-FFF2-40B4-BE49-F238E27FC236}">
                <a16:creationId xmlns:a16="http://schemas.microsoft.com/office/drawing/2014/main" id="{132391D4-6D0C-192D-71B0-DBA8D05BE7AA}"/>
              </a:ext>
            </a:extLst>
          </p:cNvPr>
          <p:cNvSpPr>
            <a:spLocks noGrp="1" noChangeArrowheads="1"/>
          </p:cNvSpPr>
          <p:nvPr>
            <p:ph type="body" sz="half" idx="1"/>
          </p:nvPr>
        </p:nvSpPr>
        <p:spPr/>
        <p:txBody>
          <a:bodyPr/>
          <a:lstStyle/>
          <a:p>
            <a:endParaRPr lang="ja-JP" altLang="ja-JP" sz="1800"/>
          </a:p>
        </p:txBody>
      </p:sp>
      <p:sp>
        <p:nvSpPr>
          <p:cNvPr id="581636" name="Rectangle 4">
            <a:extLst>
              <a:ext uri="{FF2B5EF4-FFF2-40B4-BE49-F238E27FC236}">
                <a16:creationId xmlns:a16="http://schemas.microsoft.com/office/drawing/2014/main" id="{A576089A-9B0B-AD3A-520D-FAE7B6A17FB3}"/>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5C173CCF-BAA3-EE56-79D4-C730DD9623C5}"/>
              </a:ext>
            </a:extLst>
          </p:cNvPr>
          <p:cNvSpPr>
            <a:spLocks noGrp="1"/>
          </p:cNvSpPr>
          <p:nvPr>
            <p:ph type="sldNum" sz="quarter" idx="10"/>
          </p:nvPr>
        </p:nvSpPr>
        <p:spPr/>
        <p:txBody>
          <a:bodyPr/>
          <a:lstStyle/>
          <a:p>
            <a:fld id="{743ECE96-6A59-4C29-AC98-7EA953EECF34}" type="slidenum">
              <a:rPr lang="en-US" altLang="ja-JP"/>
              <a:pPr/>
              <a:t>41</a:t>
            </a:fld>
            <a:endParaRPr lang="en-US" altLang="ja-JP"/>
          </a:p>
        </p:txBody>
      </p:sp>
      <p:sp>
        <p:nvSpPr>
          <p:cNvPr id="585730" name="Rectangle 2">
            <a:extLst>
              <a:ext uri="{FF2B5EF4-FFF2-40B4-BE49-F238E27FC236}">
                <a16:creationId xmlns:a16="http://schemas.microsoft.com/office/drawing/2014/main" id="{CFF33E9E-393F-EDE0-F02A-F125C4C2E07C}"/>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85731" name="Rectangle 3">
            <a:extLst>
              <a:ext uri="{FF2B5EF4-FFF2-40B4-BE49-F238E27FC236}">
                <a16:creationId xmlns:a16="http://schemas.microsoft.com/office/drawing/2014/main" id="{0197FB0C-37B3-75A5-200D-C0CC71A596FB}"/>
              </a:ext>
            </a:extLst>
          </p:cNvPr>
          <p:cNvSpPr>
            <a:spLocks noGrp="1" noChangeArrowheads="1"/>
          </p:cNvSpPr>
          <p:nvPr>
            <p:ph type="body" sz="half" idx="1"/>
          </p:nvPr>
        </p:nvSpPr>
        <p:spPr/>
        <p:txBody>
          <a:bodyPr/>
          <a:lstStyle/>
          <a:p>
            <a:endParaRPr lang="ja-JP" altLang="ja-JP" sz="1800"/>
          </a:p>
        </p:txBody>
      </p:sp>
      <p:sp>
        <p:nvSpPr>
          <p:cNvPr id="585732" name="Rectangle 4">
            <a:extLst>
              <a:ext uri="{FF2B5EF4-FFF2-40B4-BE49-F238E27FC236}">
                <a16:creationId xmlns:a16="http://schemas.microsoft.com/office/drawing/2014/main" id="{36B5C3E6-8240-D85C-4125-14B20433195E}"/>
              </a:ext>
            </a:extLst>
          </p:cNvPr>
          <p:cNvSpPr>
            <a:spLocks noGrp="1" noChangeArrowheads="1"/>
          </p:cNvSpPr>
          <p:nvPr>
            <p:ph type="title"/>
          </p:nvPr>
        </p:nvSpPr>
        <p:spPr/>
        <p:txBody>
          <a:bodyPr>
            <a:normAutofit fontScale="90000"/>
          </a:bodyPr>
          <a:lstStyle/>
          <a:p>
            <a:endParaRPr lang="ja-JP" altLang="ja-JP"/>
          </a:p>
        </p:txBody>
      </p:sp>
    </p:spTree>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25966</TotalTime>
  <Words>15658</Words>
  <Application>Microsoft Office PowerPoint</Application>
  <PresentationFormat>A4 Paper (210x297 mm)</PresentationFormat>
  <Paragraphs>2331</Paragraphs>
  <Slides>41</Slides>
  <Notes>41</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41</vt:i4>
      </vt:variant>
    </vt:vector>
  </HeadingPairs>
  <TitlesOfParts>
    <vt:vector size="54" baseType="lpstr">
      <vt:lpstr>HG丸ｺﾞｼｯｸM-PRO</vt:lpstr>
      <vt:lpstr>Meiryo UI</vt:lpstr>
      <vt:lpstr>ＭＳ Ｐゴシック</vt:lpstr>
      <vt:lpstr>MS UI Gothic</vt:lpstr>
      <vt:lpstr>ＭＳ ゴシック</vt:lpstr>
      <vt:lpstr>ヒラギノ明朝 Pro W6</vt:lpstr>
      <vt:lpstr>ADLaM Display</vt:lpstr>
      <vt:lpstr>Arial</vt:lpstr>
      <vt:lpstr>Segoe Script</vt:lpstr>
      <vt:lpstr>Times New Roman</vt:lpstr>
      <vt:lpstr>Wingdings</vt:lpstr>
      <vt:lpstr>標準デザイン</vt:lpstr>
      <vt:lpstr>デザインの設定</vt:lpstr>
      <vt:lpstr>PowerPoint Presentation</vt:lpstr>
      <vt:lpstr>Định nghĩa class</vt:lpstr>
      <vt:lpstr>Định nghĩa thuộc tính</vt:lpstr>
      <vt:lpstr>PowerPoint Presentation</vt:lpstr>
      <vt:lpstr>PowerPoint Presentation</vt:lpstr>
      <vt:lpstr>2.3　Định nghĩa method (1)</vt:lpstr>
      <vt:lpstr>PowerPoint Presentation</vt:lpstr>
      <vt:lpstr>2.3　Định nghĩa method (2)</vt:lpstr>
      <vt:lpstr>PowerPoint Presentation</vt:lpstr>
      <vt:lpstr>2.4　Constructor</vt:lpstr>
      <vt:lpstr>PowerPoint Presentation</vt:lpstr>
      <vt:lpstr>PowerPoint Presentation</vt:lpstr>
      <vt:lpstr>2.5　Sinh/giải phóng object （1) </vt:lpstr>
      <vt:lpstr>PowerPoint Presentation</vt:lpstr>
      <vt:lpstr>2.5　Sinh/giải phóng object (2) </vt:lpstr>
      <vt:lpstr>2.6　Gọi ra method</vt:lpstr>
      <vt:lpstr>PowerPoint Presentation</vt:lpstr>
      <vt:lpstr>PowerPoint Presentation</vt:lpstr>
      <vt:lpstr>2.7　Overload</vt:lpstr>
      <vt:lpstr>PowerPoint Presentation</vt:lpstr>
      <vt:lpstr>2.8　Biến static, static method (1)</vt:lpstr>
      <vt:lpstr>PowerPoint Presentation</vt:lpstr>
      <vt:lpstr>2.8　Biến static, static method (2)</vt:lpstr>
      <vt:lpstr>PowerPoint Presentation</vt:lpstr>
      <vt:lpstr>PowerPoint Presentation</vt:lpstr>
      <vt:lpstr>PowerPoint Presentation</vt:lpstr>
      <vt:lpstr>PowerPoint Presentation</vt:lpstr>
      <vt:lpstr>2.9　main method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418</cp:revision>
  <cp:lastPrinted>2018-04-10T08:59:30Z</cp:lastPrinted>
  <dcterms:created xsi:type="dcterms:W3CDTF">2025-05-21T02:38:07Z</dcterms:created>
  <dcterms:modified xsi:type="dcterms:W3CDTF">2026-08-10T02:05:43Z</dcterms:modified>
</cp:coreProperties>
</file>