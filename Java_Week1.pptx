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31"/>
  </p:notesMasterIdLst>
  <p:handoutMasterIdLst>
    <p:handoutMasterId r:id="rId32"/>
  </p:handoutMasterIdLst>
  <p:sldIdLst>
    <p:sldId id="689" r:id="rId3"/>
    <p:sldId id="690" r:id="rId4"/>
    <p:sldId id="691" r:id="rId5"/>
    <p:sldId id="692" r:id="rId6"/>
    <p:sldId id="697" r:id="rId7"/>
    <p:sldId id="700" r:id="rId8"/>
    <p:sldId id="703" r:id="rId9"/>
    <p:sldId id="704" r:id="rId10"/>
    <p:sldId id="696" r:id="rId11"/>
    <p:sldId id="701" r:id="rId12"/>
    <p:sldId id="693" r:id="rId13"/>
    <p:sldId id="694" r:id="rId14"/>
    <p:sldId id="695" r:id="rId15"/>
    <p:sldId id="711" r:id="rId16"/>
    <p:sldId id="705" r:id="rId17"/>
    <p:sldId id="707" r:id="rId18"/>
    <p:sldId id="706" r:id="rId19"/>
    <p:sldId id="708" r:id="rId20"/>
    <p:sldId id="709" r:id="rId21"/>
    <p:sldId id="710" r:id="rId22"/>
    <p:sldId id="712" r:id="rId23"/>
    <p:sldId id="713" r:id="rId24"/>
    <p:sldId id="714" r:id="rId25"/>
    <p:sldId id="715" r:id="rId26"/>
    <p:sldId id="716" r:id="rId27"/>
    <p:sldId id="717" r:id="rId28"/>
    <p:sldId id="699" r:id="rId29"/>
    <p:sldId id="698" r:id="rId30"/>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6" d="100"/>
          <a:sy n="106" d="100"/>
        </p:scale>
        <p:origin x="1548" y="108"/>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handoutMaster" Target="handoutMasters/handout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2026/7/31</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9"/>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2026/7/31</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survey.stackoverflow.co/2024/technology" TargetMode="External"/><Relationship Id="rId2" Type="http://schemas.openxmlformats.org/officeDocument/2006/relationships/hyperlink" Target="https://www.tiobe.com/tiobe-index/"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742950" y="2130425"/>
            <a:ext cx="7486650" cy="1470025"/>
          </a:xfrm>
        </p:spPr>
        <p:txBody>
          <a:bodyPr>
            <a:noAutofit/>
          </a:bodyPr>
          <a:lstStyle/>
          <a:p>
            <a:pPr eaLnBrk="0" hangingPunct="0"/>
            <a:r>
              <a:rPr lang="ja-JP" altLang="ja-JP" dirty="0">
                <a:latin typeface="+mj-lt"/>
              </a:rPr>
              <a:t>Java</a:t>
            </a:r>
            <a:r>
              <a:rPr lang="en-US" altLang="ja-JP" dirty="0">
                <a:latin typeface="+mj-lt"/>
              </a:rPr>
              <a:t> Course</a:t>
            </a:r>
            <a:br>
              <a:rPr lang="en-US" altLang="ja-JP" dirty="0">
                <a:latin typeface="+mj-lt"/>
              </a:rPr>
            </a:br>
            <a:br>
              <a:rPr lang="vi-VN" altLang="ja-JP" kern="1200" dirty="0">
                <a:latin typeface="+mj-lt"/>
              </a:rPr>
            </a:br>
            <a:endParaRPr kumimoji="1" lang="ja-JP" altLang="en-US" dirty="0">
              <a:latin typeface="+mj-lt"/>
              <a:cs typeface="Times New Roman" panose="02020603050405020304" pitchFamily="18" charset="0"/>
            </a:endParaRPr>
          </a:p>
        </p:txBody>
      </p:sp>
      <p:sp>
        <p:nvSpPr>
          <p:cNvPr id="3" name="Subtitle 2">
            <a:extLst>
              <a:ext uri="{FF2B5EF4-FFF2-40B4-BE49-F238E27FC236}">
                <a16:creationId xmlns:a16="http://schemas.microsoft.com/office/drawing/2014/main" id="{708F8EF2-D090-2D87-3C30-91D44315D1EC}"/>
              </a:ext>
            </a:extLst>
          </p:cNvPr>
          <p:cNvSpPr>
            <a:spLocks noGrp="1"/>
          </p:cNvSpPr>
          <p:nvPr>
            <p:ph type="subTitle" idx="1"/>
          </p:nvPr>
        </p:nvSpPr>
        <p:spPr>
          <a:xfrm>
            <a:off x="2231027" y="4419600"/>
            <a:ext cx="6934200" cy="1752600"/>
          </a:xfrm>
        </p:spPr>
        <p:txBody>
          <a:bodyPr/>
          <a:lstStyle/>
          <a:p>
            <a:pPr algn="r"/>
            <a:endParaRPr kumimoji="1" lang="en-US" altLang="ja-JP" dirty="0">
              <a:latin typeface="+mj-lt"/>
            </a:endParaRPr>
          </a:p>
          <a:p>
            <a:pPr algn="r"/>
            <a:r>
              <a:rPr lang="en-US" altLang="ja-JP" dirty="0">
                <a:latin typeface="+mj-lt"/>
              </a:rPr>
              <a:t>Mai </a:t>
            </a:r>
            <a:r>
              <a:rPr lang="en-US" altLang="ja-JP" dirty="0" err="1">
                <a:latin typeface="+mj-lt"/>
              </a:rPr>
              <a:t>Ngọc</a:t>
            </a:r>
            <a:r>
              <a:rPr lang="en-US" altLang="ja-JP" dirty="0">
                <a:latin typeface="+mj-lt"/>
              </a:rPr>
              <a:t> </a:t>
            </a:r>
            <a:r>
              <a:rPr lang="en-US" altLang="ja-JP" dirty="0" err="1">
                <a:latin typeface="+mj-lt"/>
              </a:rPr>
              <a:t>Khương</a:t>
            </a:r>
            <a:endParaRPr kumimoji="1" lang="ja-JP" altLang="en-US" dirty="0">
              <a:latin typeface="+mj-lt"/>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228BE-E2CB-C042-7EF5-BD98DA04D99F}"/>
              </a:ext>
            </a:extLst>
          </p:cNvPr>
          <p:cNvSpPr>
            <a:spLocks noGrp="1"/>
          </p:cNvSpPr>
          <p:nvPr>
            <p:ph type="title"/>
          </p:nvPr>
        </p:nvSpPr>
        <p:spPr/>
        <p:txBody>
          <a:bodyPr>
            <a:normAutofit fontScale="90000"/>
          </a:bodyPr>
          <a:lstStyle/>
          <a:p>
            <a:r>
              <a:rPr kumimoji="1" lang="en-US" altLang="ja-JP" dirty="0">
                <a:latin typeface="+mj-lt"/>
              </a:rPr>
              <a:t>Schedule</a:t>
            </a:r>
            <a:endParaRPr kumimoji="1" lang="ja-JP" altLang="en-US" dirty="0">
              <a:latin typeface="+mj-lt"/>
            </a:endParaRPr>
          </a:p>
        </p:txBody>
      </p:sp>
      <p:sp>
        <p:nvSpPr>
          <p:cNvPr id="3" name="Content Placeholder 2">
            <a:extLst>
              <a:ext uri="{FF2B5EF4-FFF2-40B4-BE49-F238E27FC236}">
                <a16:creationId xmlns:a16="http://schemas.microsoft.com/office/drawing/2014/main" id="{8A655533-A4F6-4C18-CF26-EF68C1A88784}"/>
              </a:ext>
            </a:extLst>
          </p:cNvPr>
          <p:cNvSpPr>
            <a:spLocks noGrp="1"/>
          </p:cNvSpPr>
          <p:nvPr>
            <p:ph idx="1"/>
          </p:nvPr>
        </p:nvSpPr>
        <p:spPr/>
        <p:txBody>
          <a:bodyPr>
            <a:normAutofit fontScale="47500" lnSpcReduction="20000"/>
          </a:bodyPr>
          <a:lstStyle/>
          <a:p>
            <a:r>
              <a:rPr lang="ja-JP" altLang="ja-JP" dirty="0">
                <a:latin typeface="+mj-lt"/>
              </a:rPr>
              <a:t>Phần 1: Lập trình Java Cơ Bản (Java Fundamentals)</a:t>
            </a:r>
          </a:p>
          <a:p>
            <a:r>
              <a:rPr lang="ja-JP" altLang="ja-JP" dirty="0">
                <a:latin typeface="+mj-lt"/>
              </a:rPr>
              <a:t>Bao gồm: </a:t>
            </a:r>
          </a:p>
          <a:p>
            <a:r>
              <a:rPr lang="ja-JP" altLang="ja-JP" dirty="0">
                <a:latin typeface="+mj-lt"/>
              </a:rPr>
              <a:t>- </a:t>
            </a:r>
            <a:r>
              <a:rPr lang="ja-JP" altLang="ja-JP" b="1" dirty="0">
                <a:latin typeface="+mj-lt"/>
              </a:rPr>
              <a:t>Chapter </a:t>
            </a:r>
            <a:r>
              <a:rPr lang="en-US" altLang="ja-JP" b="1" dirty="0">
                <a:latin typeface="+mj-lt"/>
              </a:rPr>
              <a:t>1</a:t>
            </a:r>
            <a:r>
              <a:rPr lang="ja-JP" altLang="ja-JP" dirty="0">
                <a:latin typeface="+mj-lt"/>
              </a:rPr>
              <a:t>: Giới thiệu về Java</a:t>
            </a:r>
          </a:p>
          <a:p>
            <a:r>
              <a:rPr lang="ja-JP" altLang="ja-JP" dirty="0">
                <a:latin typeface="+mj-lt"/>
              </a:rPr>
              <a:t>- </a:t>
            </a:r>
            <a:r>
              <a:rPr lang="ja-JP" altLang="ja-JP" b="1" dirty="0">
                <a:latin typeface="+mj-lt"/>
              </a:rPr>
              <a:t>Chapter </a:t>
            </a:r>
            <a:r>
              <a:rPr lang="en-US" altLang="ja-JP" b="1" dirty="0">
                <a:latin typeface="+mj-lt"/>
              </a:rPr>
              <a:t>2</a:t>
            </a:r>
            <a:r>
              <a:rPr lang="ja-JP" altLang="ja-JP" dirty="0">
                <a:latin typeface="+mj-lt"/>
              </a:rPr>
              <a:t>: Cú pháp cơ bản và biến</a:t>
            </a:r>
            <a:r>
              <a:rPr lang="en-US" altLang="ja-JP" dirty="0">
                <a:latin typeface="+mj-lt"/>
              </a:rPr>
              <a:t> / </a:t>
            </a:r>
            <a:r>
              <a:rPr lang="en-US" altLang="ja-JP" dirty="0" err="1">
                <a:latin typeface="Arial" panose="020B0604020202020204" pitchFamily="34" charset="0"/>
              </a:rPr>
              <a:t>Cấu</a:t>
            </a:r>
            <a:r>
              <a:rPr lang="en-US" altLang="ja-JP" dirty="0">
                <a:latin typeface="Arial" panose="020B0604020202020204" pitchFamily="34" charset="0"/>
              </a:rPr>
              <a:t> </a:t>
            </a:r>
            <a:r>
              <a:rPr lang="en-US" altLang="ja-JP" dirty="0" err="1">
                <a:latin typeface="Arial" panose="020B0604020202020204" pitchFamily="34" charset="0"/>
              </a:rPr>
              <a:t>tạo</a:t>
            </a:r>
            <a:r>
              <a:rPr lang="en-US" altLang="ja-JP" dirty="0">
                <a:latin typeface="Arial" panose="020B0604020202020204" pitchFamily="34" charset="0"/>
              </a:rPr>
              <a:t> </a:t>
            </a:r>
            <a:r>
              <a:rPr lang="en-US" altLang="ja-JP" dirty="0" err="1">
                <a:latin typeface="Arial" panose="020B0604020202020204" pitchFamily="34" charset="0"/>
              </a:rPr>
              <a:t>cơ</a:t>
            </a:r>
            <a:r>
              <a:rPr lang="en-US" altLang="ja-JP" dirty="0">
                <a:latin typeface="Arial" panose="020B0604020202020204" pitchFamily="34" charset="0"/>
              </a:rPr>
              <a:t> </a:t>
            </a:r>
            <a:r>
              <a:rPr lang="en-US" altLang="ja-JP" dirty="0" err="1">
                <a:latin typeface="Arial" panose="020B0604020202020204" pitchFamily="34" charset="0"/>
              </a:rPr>
              <a:t>bản</a:t>
            </a:r>
            <a:r>
              <a:rPr lang="en-US" altLang="ja-JP" dirty="0">
                <a:latin typeface="Arial" panose="020B0604020202020204" pitchFamily="34" charset="0"/>
              </a:rPr>
              <a:t> </a:t>
            </a:r>
            <a:r>
              <a:rPr lang="en-US" altLang="ja-JP" dirty="0" err="1">
                <a:latin typeface="Arial" panose="020B0604020202020204" pitchFamily="34" charset="0"/>
              </a:rPr>
              <a:t>của</a:t>
            </a:r>
            <a:r>
              <a:rPr lang="en-US" altLang="ja-JP" dirty="0">
                <a:latin typeface="Arial" panose="020B0604020202020204" pitchFamily="34" charset="0"/>
              </a:rPr>
              <a:t> program</a:t>
            </a:r>
            <a:r>
              <a:rPr lang="ja-JP" altLang="en-US" dirty="0">
                <a:latin typeface="Arial" panose="020B0604020202020204" pitchFamily="34" charset="0"/>
              </a:rPr>
              <a:t>　</a:t>
            </a:r>
            <a:endParaRPr lang="ja-JP" altLang="ja-JP" dirty="0">
              <a:latin typeface="+mj-lt"/>
            </a:endParaRPr>
          </a:p>
          <a:p>
            <a:r>
              <a:rPr lang="ja-JP" altLang="ja-JP" dirty="0">
                <a:latin typeface="+mj-lt"/>
              </a:rPr>
              <a:t>- </a:t>
            </a:r>
            <a:r>
              <a:rPr lang="ja-JP" altLang="ja-JP" b="1" dirty="0">
                <a:latin typeface="+mj-lt"/>
              </a:rPr>
              <a:t>Chapter </a:t>
            </a:r>
            <a:r>
              <a:rPr lang="en-US" altLang="ja-JP" b="1" dirty="0">
                <a:latin typeface="+mj-lt"/>
              </a:rPr>
              <a:t>3</a:t>
            </a:r>
            <a:r>
              <a:rPr lang="ja-JP" altLang="ja-JP" b="1" dirty="0">
                <a:latin typeface="+mj-lt"/>
              </a:rPr>
              <a:t>:</a:t>
            </a:r>
            <a:r>
              <a:rPr lang="ja-JP" altLang="ja-JP" dirty="0">
                <a:latin typeface="+mj-lt"/>
              </a:rPr>
              <a:t> Cấu trúc điều kiện</a:t>
            </a:r>
          </a:p>
          <a:p>
            <a:r>
              <a:rPr lang="ja-JP" altLang="ja-JP" dirty="0">
                <a:latin typeface="+mj-lt"/>
              </a:rPr>
              <a:t>-</a:t>
            </a:r>
            <a:r>
              <a:rPr lang="ja-JP" altLang="ja-JP" b="1" dirty="0">
                <a:latin typeface="+mj-lt"/>
              </a:rPr>
              <a:t> Chapter </a:t>
            </a:r>
            <a:r>
              <a:rPr lang="en-US" altLang="ja-JP" b="1" dirty="0">
                <a:latin typeface="+mj-lt"/>
              </a:rPr>
              <a:t>4</a:t>
            </a:r>
            <a:r>
              <a:rPr lang="ja-JP" altLang="ja-JP" b="1" dirty="0">
                <a:latin typeface="+mj-lt"/>
              </a:rPr>
              <a:t>:</a:t>
            </a:r>
            <a:r>
              <a:rPr lang="ja-JP" altLang="ja-JP" dirty="0">
                <a:latin typeface="+mj-lt"/>
              </a:rPr>
              <a:t> Mảng và chuỗi</a:t>
            </a:r>
          </a:p>
          <a:p>
            <a:r>
              <a:rPr lang="ja-JP" altLang="ja-JP" dirty="0">
                <a:latin typeface="+mj-lt"/>
              </a:rPr>
              <a:t> </a:t>
            </a:r>
          </a:p>
          <a:p>
            <a:r>
              <a:rPr lang="ja-JP" altLang="ja-JP" dirty="0">
                <a:latin typeface="+mj-lt"/>
              </a:rPr>
              <a:t>Phần 2: Lập trình hướng đối tượng (Object Oriented Programming)</a:t>
            </a:r>
          </a:p>
          <a:p>
            <a:r>
              <a:rPr lang="ja-JP" altLang="ja-JP" dirty="0">
                <a:latin typeface="+mj-lt"/>
              </a:rPr>
              <a:t>Bao gồm:</a:t>
            </a:r>
          </a:p>
          <a:p>
            <a:r>
              <a:rPr lang="ja-JP" altLang="ja-JP" dirty="0">
                <a:latin typeface="+mj-lt"/>
              </a:rPr>
              <a:t>-</a:t>
            </a:r>
            <a:r>
              <a:rPr lang="ja-JP" altLang="ja-JP" b="1" dirty="0">
                <a:latin typeface="+mj-lt"/>
              </a:rPr>
              <a:t> Chapter </a:t>
            </a:r>
            <a:r>
              <a:rPr lang="en-US" altLang="ja-JP" b="1" dirty="0">
                <a:latin typeface="+mj-lt"/>
              </a:rPr>
              <a:t>5</a:t>
            </a:r>
            <a:r>
              <a:rPr lang="ja-JP" altLang="ja-JP" b="1" dirty="0">
                <a:latin typeface="+mj-lt"/>
              </a:rPr>
              <a:t>: </a:t>
            </a:r>
            <a:r>
              <a:rPr lang="ja-JP" altLang="ja-JP" dirty="0">
                <a:latin typeface="+mj-lt"/>
              </a:rPr>
              <a:t>Lập trình hướng đối tượng cơ bản</a:t>
            </a:r>
          </a:p>
          <a:p>
            <a:r>
              <a:rPr lang="ja-JP" altLang="ja-JP" dirty="0">
                <a:latin typeface="+mj-lt"/>
              </a:rPr>
              <a:t>- </a:t>
            </a:r>
            <a:r>
              <a:rPr lang="ja-JP" altLang="ja-JP" b="1" dirty="0">
                <a:latin typeface="+mj-lt"/>
              </a:rPr>
              <a:t>Chapter </a:t>
            </a:r>
            <a:r>
              <a:rPr lang="en-US" altLang="ja-JP" b="1" dirty="0">
                <a:latin typeface="+mj-lt"/>
              </a:rPr>
              <a:t>6</a:t>
            </a:r>
            <a:r>
              <a:rPr lang="ja-JP" altLang="ja-JP" b="1" dirty="0">
                <a:latin typeface="+mj-lt"/>
              </a:rPr>
              <a:t>: </a:t>
            </a:r>
            <a:r>
              <a:rPr lang="ja-JP" altLang="ja-JP" dirty="0">
                <a:latin typeface="+mj-lt"/>
              </a:rPr>
              <a:t>Tính đóng gói và kế thừa</a:t>
            </a:r>
          </a:p>
          <a:p>
            <a:r>
              <a:rPr lang="ja-JP" altLang="ja-JP" dirty="0">
                <a:latin typeface="+mj-lt"/>
              </a:rPr>
              <a:t>-</a:t>
            </a:r>
            <a:r>
              <a:rPr lang="ja-JP" altLang="ja-JP" b="1" dirty="0">
                <a:latin typeface="+mj-lt"/>
              </a:rPr>
              <a:t> Chapter </a:t>
            </a:r>
            <a:r>
              <a:rPr lang="en-US" altLang="ja-JP" b="1" dirty="0">
                <a:latin typeface="+mj-lt"/>
              </a:rPr>
              <a:t>7</a:t>
            </a:r>
            <a:r>
              <a:rPr lang="ja-JP" altLang="ja-JP" b="1" dirty="0">
                <a:latin typeface="+mj-lt"/>
              </a:rPr>
              <a:t>:</a:t>
            </a:r>
            <a:r>
              <a:rPr lang="ja-JP" altLang="ja-JP" dirty="0">
                <a:latin typeface="+mj-lt"/>
              </a:rPr>
              <a:t> Đa hình và trừu tượng</a:t>
            </a:r>
          </a:p>
          <a:p>
            <a:r>
              <a:rPr lang="ja-JP" altLang="ja-JP" dirty="0">
                <a:latin typeface="+mj-lt"/>
              </a:rPr>
              <a:t>- </a:t>
            </a:r>
            <a:r>
              <a:rPr lang="ja-JP" altLang="ja-JP" b="1" dirty="0">
                <a:latin typeface="+mj-lt"/>
              </a:rPr>
              <a:t>Chapter </a:t>
            </a:r>
            <a:r>
              <a:rPr lang="en-US" altLang="ja-JP" b="1" dirty="0">
                <a:latin typeface="+mj-lt"/>
              </a:rPr>
              <a:t>8</a:t>
            </a:r>
            <a:r>
              <a:rPr lang="ja-JP" altLang="ja-JP" b="1" dirty="0">
                <a:latin typeface="+mj-lt"/>
              </a:rPr>
              <a:t>:</a:t>
            </a:r>
            <a:r>
              <a:rPr lang="ja-JP" altLang="ja-JP" dirty="0">
                <a:latin typeface="+mj-lt"/>
              </a:rPr>
              <a:t> Enum và Nested Class</a:t>
            </a:r>
          </a:p>
          <a:p>
            <a:r>
              <a:rPr lang="ja-JP" altLang="ja-JP" dirty="0">
                <a:latin typeface="+mj-lt"/>
              </a:rPr>
              <a:t> </a:t>
            </a:r>
          </a:p>
          <a:p>
            <a:r>
              <a:rPr lang="ja-JP" altLang="ja-JP" dirty="0">
                <a:latin typeface="+mj-lt"/>
              </a:rPr>
              <a:t>Phần 3: Kỹ thuật nâng cao</a:t>
            </a:r>
          </a:p>
          <a:p>
            <a:r>
              <a:rPr lang="ja-JP" altLang="ja-JP" dirty="0">
                <a:latin typeface="+mj-lt"/>
              </a:rPr>
              <a:t>- </a:t>
            </a:r>
            <a:r>
              <a:rPr lang="ja-JP" altLang="ja-JP" b="1" dirty="0">
                <a:latin typeface="+mj-lt"/>
              </a:rPr>
              <a:t>Chapter </a:t>
            </a:r>
            <a:r>
              <a:rPr lang="en-US" altLang="ja-JP" b="1" dirty="0">
                <a:latin typeface="+mj-lt"/>
              </a:rPr>
              <a:t>9</a:t>
            </a:r>
            <a:r>
              <a:rPr lang="ja-JP" altLang="ja-JP" b="1" dirty="0">
                <a:latin typeface="+mj-lt"/>
              </a:rPr>
              <a:t>:</a:t>
            </a:r>
            <a:r>
              <a:rPr lang="ja-JP" altLang="ja-JP" dirty="0">
                <a:latin typeface="+mj-lt"/>
              </a:rPr>
              <a:t> Xử lý ngoại lệ</a:t>
            </a:r>
          </a:p>
          <a:p>
            <a:r>
              <a:rPr lang="ja-JP" altLang="ja-JP" dirty="0">
                <a:latin typeface="+mj-lt"/>
              </a:rPr>
              <a:t>-</a:t>
            </a:r>
            <a:r>
              <a:rPr lang="ja-JP" altLang="ja-JP" b="1" dirty="0">
                <a:latin typeface="+mj-lt"/>
              </a:rPr>
              <a:t> Chapter 1</a:t>
            </a:r>
            <a:r>
              <a:rPr lang="en-US" altLang="ja-JP" b="1" dirty="0">
                <a:latin typeface="+mj-lt"/>
              </a:rPr>
              <a:t>0</a:t>
            </a:r>
            <a:r>
              <a:rPr lang="ja-JP" altLang="ja-JP" b="1" dirty="0">
                <a:latin typeface="+mj-lt"/>
              </a:rPr>
              <a:t>:</a:t>
            </a:r>
            <a:r>
              <a:rPr lang="ja-JP" altLang="ja-JP" dirty="0">
                <a:latin typeface="+mj-lt"/>
              </a:rPr>
              <a:t> Collection Framework</a:t>
            </a:r>
          </a:p>
          <a:p>
            <a:r>
              <a:rPr lang="ja-JP" altLang="ja-JP" dirty="0">
                <a:latin typeface="+mj-lt"/>
              </a:rPr>
              <a:t>- </a:t>
            </a:r>
            <a:r>
              <a:rPr lang="ja-JP" altLang="ja-JP" b="1" dirty="0">
                <a:latin typeface="+mj-lt"/>
              </a:rPr>
              <a:t>Chapter 1</a:t>
            </a:r>
            <a:r>
              <a:rPr lang="en-US" altLang="ja-JP" b="1" dirty="0">
                <a:latin typeface="+mj-lt"/>
              </a:rPr>
              <a:t>1</a:t>
            </a:r>
            <a:r>
              <a:rPr lang="ja-JP" altLang="ja-JP" b="1" dirty="0">
                <a:latin typeface="+mj-lt"/>
              </a:rPr>
              <a:t>:</a:t>
            </a:r>
            <a:r>
              <a:rPr lang="ja-JP" altLang="ja-JP" dirty="0">
                <a:latin typeface="+mj-lt"/>
              </a:rPr>
              <a:t> Generics</a:t>
            </a:r>
          </a:p>
          <a:p>
            <a:r>
              <a:rPr lang="ja-JP" altLang="ja-JP" dirty="0">
                <a:latin typeface="+mj-lt"/>
              </a:rPr>
              <a:t>- </a:t>
            </a:r>
            <a:r>
              <a:rPr lang="ja-JP" altLang="ja-JP" b="1" dirty="0">
                <a:latin typeface="+mj-lt"/>
              </a:rPr>
              <a:t>Chapter 1</a:t>
            </a:r>
            <a:r>
              <a:rPr lang="en-US" altLang="ja-JP" b="1" dirty="0">
                <a:latin typeface="+mj-lt"/>
              </a:rPr>
              <a:t>2</a:t>
            </a:r>
            <a:r>
              <a:rPr lang="ja-JP" altLang="ja-JP" b="1" dirty="0">
                <a:latin typeface="+mj-lt"/>
              </a:rPr>
              <a:t>:</a:t>
            </a:r>
            <a:r>
              <a:rPr lang="ja-JP" altLang="ja-JP" dirty="0">
                <a:latin typeface="+mj-lt"/>
              </a:rPr>
              <a:t> Java I/O (input/output)</a:t>
            </a:r>
          </a:p>
          <a:p>
            <a:r>
              <a:rPr lang="ja-JP" altLang="ja-JP" dirty="0">
                <a:latin typeface="+mj-lt"/>
              </a:rPr>
              <a:t>- </a:t>
            </a:r>
            <a:r>
              <a:rPr lang="ja-JP" altLang="ja-JP" b="1" dirty="0">
                <a:latin typeface="+mj-lt"/>
              </a:rPr>
              <a:t>Chapter 1</a:t>
            </a:r>
            <a:r>
              <a:rPr lang="en-US" altLang="ja-JP" b="1" dirty="0">
                <a:latin typeface="+mj-lt"/>
              </a:rPr>
              <a:t>3</a:t>
            </a:r>
            <a:r>
              <a:rPr lang="ja-JP" altLang="ja-JP" b="1" dirty="0">
                <a:latin typeface="+mj-lt"/>
              </a:rPr>
              <a:t>: </a:t>
            </a:r>
            <a:r>
              <a:rPr lang="ja-JP" altLang="ja-JP" dirty="0">
                <a:latin typeface="+mj-lt"/>
              </a:rPr>
              <a:t> Đa luồng trong Java</a:t>
            </a:r>
            <a:endParaRPr lang="en-US" altLang="ja-JP" dirty="0">
              <a:latin typeface="+mj-lt"/>
            </a:endParaRPr>
          </a:p>
          <a:p>
            <a:endParaRPr lang="ja-JP" altLang="ja-JP" dirty="0">
              <a:latin typeface="+mj-lt"/>
            </a:endParaRPr>
          </a:p>
          <a:p>
            <a:endParaRPr kumimoji="1" lang="ja-JP" altLang="en-US" dirty="0">
              <a:latin typeface="+mj-lt"/>
            </a:endParaRPr>
          </a:p>
        </p:txBody>
      </p:sp>
      <p:sp>
        <p:nvSpPr>
          <p:cNvPr id="4" name="Slide Number Placeholder 3">
            <a:extLst>
              <a:ext uri="{FF2B5EF4-FFF2-40B4-BE49-F238E27FC236}">
                <a16:creationId xmlns:a16="http://schemas.microsoft.com/office/drawing/2014/main" id="{A4EF34C3-D4E5-3EEC-3A70-F0888EF747D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a:t>
            </a:fld>
            <a:endParaRPr lang="en-US" altLang="ja-JP"/>
          </a:p>
        </p:txBody>
      </p:sp>
    </p:spTree>
    <p:extLst>
      <p:ext uri="{BB962C8B-B14F-4D97-AF65-F5344CB8AC3E}">
        <p14:creationId xmlns:p14="http://schemas.microsoft.com/office/powerpoint/2010/main" val="4200216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A0F42-05C0-8826-CCBD-0AEF7D23DA88}"/>
              </a:ext>
            </a:extLst>
          </p:cNvPr>
          <p:cNvSpPr>
            <a:spLocks noGrp="1"/>
          </p:cNvSpPr>
          <p:nvPr>
            <p:ph type="title"/>
          </p:nvPr>
        </p:nvSpPr>
        <p:spPr/>
        <p:txBody>
          <a:bodyPr>
            <a:normAutofit fontScale="90000"/>
          </a:bodyPr>
          <a:lstStyle/>
          <a:p>
            <a:r>
              <a:rPr kumimoji="1" lang="en-US" altLang="ja-JP" dirty="0">
                <a:latin typeface="+mj-lt"/>
              </a:rPr>
              <a:t>Chapter 1: </a:t>
            </a:r>
            <a:r>
              <a:rPr kumimoji="1" lang="en-US" altLang="ja-JP" dirty="0" err="1">
                <a:latin typeface="+mj-lt"/>
              </a:rPr>
              <a:t>Giới</a:t>
            </a:r>
            <a:r>
              <a:rPr kumimoji="1" lang="en-US" altLang="ja-JP" dirty="0">
                <a:latin typeface="+mj-lt"/>
              </a:rPr>
              <a:t> </a:t>
            </a:r>
            <a:r>
              <a:rPr kumimoji="1" lang="en-US" altLang="ja-JP" dirty="0" err="1">
                <a:latin typeface="+mj-lt"/>
              </a:rPr>
              <a:t>thiệu</a:t>
            </a:r>
            <a:r>
              <a:rPr kumimoji="1" lang="en-US" altLang="ja-JP" dirty="0">
                <a:latin typeface="+mj-lt"/>
              </a:rPr>
              <a:t> Java</a:t>
            </a:r>
            <a:endParaRPr kumimoji="1" lang="ja-JP" altLang="en-US" dirty="0">
              <a:latin typeface="+mj-lt"/>
            </a:endParaRPr>
          </a:p>
        </p:txBody>
      </p:sp>
      <p:sp>
        <p:nvSpPr>
          <p:cNvPr id="3" name="Content Placeholder 2">
            <a:extLst>
              <a:ext uri="{FF2B5EF4-FFF2-40B4-BE49-F238E27FC236}">
                <a16:creationId xmlns:a16="http://schemas.microsoft.com/office/drawing/2014/main" id="{A3281C51-5C2E-0CC3-6EAD-58E4C8480BF6}"/>
              </a:ext>
            </a:extLst>
          </p:cNvPr>
          <p:cNvSpPr>
            <a:spLocks noGrp="1"/>
          </p:cNvSpPr>
          <p:nvPr>
            <p:ph idx="1"/>
          </p:nvPr>
        </p:nvSpPr>
        <p:spPr/>
        <p:txBody>
          <a:bodyPr/>
          <a:lstStyle/>
          <a:p>
            <a:pPr lvl="0"/>
            <a:r>
              <a:rPr lang="ja-JP" altLang="ja-JP" dirty="0">
                <a:latin typeface="+mj-lt"/>
              </a:rPr>
              <a:t>Hiểu rõ Java là gì </a:t>
            </a:r>
            <a:endParaRPr lang="en-US" altLang="ja-JP" dirty="0">
              <a:latin typeface="+mj-lt"/>
            </a:endParaRPr>
          </a:p>
          <a:p>
            <a:pPr lvl="0"/>
            <a:r>
              <a:rPr lang="ja-JP" altLang="ja-JP" dirty="0">
                <a:latin typeface="+mj-lt"/>
              </a:rPr>
              <a:t>Lịch sử phát triển và các đặc điểm nổi bật của Java</a:t>
            </a:r>
            <a:endParaRPr lang="en-US" altLang="ja-JP" dirty="0">
              <a:latin typeface="+mj-lt"/>
            </a:endParaRPr>
          </a:p>
          <a:p>
            <a:pPr lvl="0"/>
            <a:r>
              <a:rPr lang="en-US" altLang="ja-JP" dirty="0" err="1"/>
              <a:t>Đặc</a:t>
            </a:r>
            <a:r>
              <a:rPr lang="en-US" altLang="ja-JP" dirty="0"/>
              <a:t> </a:t>
            </a:r>
            <a:r>
              <a:rPr lang="en-US" altLang="ja-JP" dirty="0" err="1"/>
              <a:t>trưng</a:t>
            </a:r>
            <a:r>
              <a:rPr lang="en-US" altLang="ja-JP" dirty="0"/>
              <a:t> </a:t>
            </a:r>
            <a:r>
              <a:rPr lang="ja-JP" altLang="ja-JP" dirty="0"/>
              <a:t>của Java.</a:t>
            </a:r>
          </a:p>
          <a:p>
            <a:pPr lvl="0"/>
            <a:r>
              <a:rPr lang="ja-JP" altLang="ja-JP" dirty="0"/>
              <a:t>Các lĩnh vực ứng dụng của Java. </a:t>
            </a:r>
            <a:endParaRPr kumimoji="1" lang="ja-JP" altLang="en-US" dirty="0">
              <a:latin typeface="+mj-lt"/>
            </a:endParaRPr>
          </a:p>
        </p:txBody>
      </p:sp>
      <p:sp>
        <p:nvSpPr>
          <p:cNvPr id="4" name="Slide Number Placeholder 3">
            <a:extLst>
              <a:ext uri="{FF2B5EF4-FFF2-40B4-BE49-F238E27FC236}">
                <a16:creationId xmlns:a16="http://schemas.microsoft.com/office/drawing/2014/main" id="{B7DC9917-8DC0-4266-0236-7A6808DAF2A4}"/>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a:t>
            </a:fld>
            <a:endParaRPr lang="en-US" altLang="ja-JP"/>
          </a:p>
        </p:txBody>
      </p:sp>
    </p:spTree>
    <p:extLst>
      <p:ext uri="{BB962C8B-B14F-4D97-AF65-F5344CB8AC3E}">
        <p14:creationId xmlns:p14="http://schemas.microsoft.com/office/powerpoint/2010/main" val="5740583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24E9F-FDF3-3B83-66C3-FF2DB5BFD87C}"/>
              </a:ext>
            </a:extLst>
          </p:cNvPr>
          <p:cNvSpPr>
            <a:spLocks noGrp="1"/>
          </p:cNvSpPr>
          <p:nvPr>
            <p:ph type="title"/>
          </p:nvPr>
        </p:nvSpPr>
        <p:spPr/>
        <p:txBody>
          <a:bodyPr>
            <a:normAutofit fontScale="90000"/>
          </a:bodyPr>
          <a:lstStyle/>
          <a:p>
            <a:r>
              <a:rPr lang="ja-JP" altLang="ja-JP" dirty="0">
                <a:latin typeface="+mj-lt"/>
              </a:rPr>
              <a:t>Java là gì ?</a:t>
            </a:r>
            <a:endParaRPr kumimoji="1" lang="ja-JP" altLang="en-US" dirty="0">
              <a:latin typeface="+mj-lt"/>
            </a:endParaRPr>
          </a:p>
        </p:txBody>
      </p:sp>
      <p:sp>
        <p:nvSpPr>
          <p:cNvPr id="3" name="Content Placeholder 2">
            <a:extLst>
              <a:ext uri="{FF2B5EF4-FFF2-40B4-BE49-F238E27FC236}">
                <a16:creationId xmlns:a16="http://schemas.microsoft.com/office/drawing/2014/main" id="{BBCE76EA-FC69-7A35-E91B-073D3161FCF3}"/>
              </a:ext>
            </a:extLst>
          </p:cNvPr>
          <p:cNvSpPr>
            <a:spLocks noGrp="1"/>
          </p:cNvSpPr>
          <p:nvPr>
            <p:ph idx="1"/>
          </p:nvPr>
        </p:nvSpPr>
        <p:spPr/>
        <p:txBody>
          <a:bodyPr>
            <a:normAutofit/>
          </a:bodyPr>
          <a:lstStyle/>
          <a:p>
            <a:pPr lvl="0" algn="just"/>
            <a:r>
              <a:rPr lang="ja-JP" altLang="ja-JP" dirty="0">
                <a:latin typeface="+mj-lt"/>
              </a:rPr>
              <a:t>Java là một ngôn ngữ lập trình hướng đối tượng (OOP) được phát triển bởi Sun Microsystems năm 1995 (sau này được </a:t>
            </a:r>
            <a:r>
              <a:rPr lang="ja-JP" altLang="ja-JP" b="1" dirty="0">
                <a:latin typeface="+mj-lt"/>
              </a:rPr>
              <a:t>Oracle mua lại</a:t>
            </a:r>
            <a:r>
              <a:rPr lang="ja-JP" altLang="ja-JP" dirty="0">
                <a:latin typeface="+mj-lt"/>
              </a:rPr>
              <a:t>).  </a:t>
            </a:r>
          </a:p>
          <a:p>
            <a:pPr lvl="0" algn="just"/>
            <a:r>
              <a:rPr lang="ja-JP" altLang="ja-JP" dirty="0">
                <a:latin typeface="+mj-lt"/>
              </a:rPr>
              <a:t>Java có cú pháp tương tự như C++ nhưng đơn giản hơn và loại bỏ nhiều tính năng phức tạp như con trỏ (pointers) (dùng toán tử </a:t>
            </a:r>
            <a:r>
              <a:rPr lang="ja-JP" altLang="ja-JP" b="1" dirty="0">
                <a:latin typeface="+mj-lt"/>
              </a:rPr>
              <a:t>this</a:t>
            </a:r>
            <a:r>
              <a:rPr lang="ja-JP" altLang="ja-JP" dirty="0">
                <a:latin typeface="+mj-lt"/>
              </a:rPr>
              <a:t>) </a:t>
            </a:r>
          </a:p>
          <a:p>
            <a:pPr lvl="0" algn="just"/>
            <a:r>
              <a:rPr lang="ja-JP" altLang="ja-JP" dirty="0">
                <a:latin typeface="+mj-lt"/>
              </a:rPr>
              <a:t>Java nổi tiếng với slogan: “Write Once, Run Anywhere” (Viết một lần, chạy mọi nơi).</a:t>
            </a:r>
            <a:endParaRPr kumimoji="1" lang="ja-JP" altLang="en-US" dirty="0">
              <a:latin typeface="+mj-lt"/>
            </a:endParaRPr>
          </a:p>
        </p:txBody>
      </p:sp>
      <p:sp>
        <p:nvSpPr>
          <p:cNvPr id="4" name="Slide Number Placeholder 3">
            <a:extLst>
              <a:ext uri="{FF2B5EF4-FFF2-40B4-BE49-F238E27FC236}">
                <a16:creationId xmlns:a16="http://schemas.microsoft.com/office/drawing/2014/main" id="{9604FA6F-D707-D031-AA92-E7DCD3CB7F4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a:t>
            </a:fld>
            <a:endParaRPr lang="en-US" altLang="ja-JP"/>
          </a:p>
        </p:txBody>
      </p:sp>
    </p:spTree>
    <p:extLst>
      <p:ext uri="{BB962C8B-B14F-4D97-AF65-F5344CB8AC3E}">
        <p14:creationId xmlns:p14="http://schemas.microsoft.com/office/powerpoint/2010/main" val="30798913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6B391-67FC-9F15-7BA7-B78051537683}"/>
              </a:ext>
            </a:extLst>
          </p:cNvPr>
          <p:cNvSpPr>
            <a:spLocks noGrp="1"/>
          </p:cNvSpPr>
          <p:nvPr>
            <p:ph type="title"/>
          </p:nvPr>
        </p:nvSpPr>
        <p:spPr/>
        <p:txBody>
          <a:bodyPr>
            <a:normAutofit fontScale="90000"/>
          </a:bodyPr>
          <a:lstStyle/>
          <a:p>
            <a:r>
              <a:rPr lang="en-US" altLang="ja-JP" dirty="0"/>
              <a:t>Java </a:t>
            </a:r>
            <a:r>
              <a:rPr lang="en-US" altLang="ja-JP" dirty="0" err="1"/>
              <a:t>là</a:t>
            </a:r>
            <a:r>
              <a:rPr lang="en-US" altLang="ja-JP" dirty="0"/>
              <a:t> </a:t>
            </a:r>
            <a:r>
              <a:rPr lang="en-US" altLang="ja-JP" dirty="0" err="1"/>
              <a:t>gì</a:t>
            </a:r>
            <a:endParaRPr kumimoji="1" lang="ja-JP" altLang="en-US" dirty="0"/>
          </a:p>
        </p:txBody>
      </p:sp>
      <p:graphicFrame>
        <p:nvGraphicFramePr>
          <p:cNvPr id="6" name="Content Placeholder 5">
            <a:extLst>
              <a:ext uri="{FF2B5EF4-FFF2-40B4-BE49-F238E27FC236}">
                <a16:creationId xmlns:a16="http://schemas.microsoft.com/office/drawing/2014/main" id="{E7BDF63C-4922-BCEF-7D49-678CA296922C}"/>
              </a:ext>
            </a:extLst>
          </p:cNvPr>
          <p:cNvGraphicFramePr>
            <a:graphicFrameLocks noGrp="1"/>
          </p:cNvGraphicFramePr>
          <p:nvPr>
            <p:ph idx="1"/>
            <p:extLst>
              <p:ext uri="{D42A27DB-BD31-4B8C-83A1-F6EECF244321}">
                <p14:modId xmlns:p14="http://schemas.microsoft.com/office/powerpoint/2010/main" val="2318422195"/>
              </p:ext>
            </p:extLst>
          </p:nvPr>
        </p:nvGraphicFramePr>
        <p:xfrm>
          <a:off x="533400" y="1219200"/>
          <a:ext cx="8915399" cy="3933934"/>
        </p:xfrm>
        <a:graphic>
          <a:graphicData uri="http://schemas.openxmlformats.org/drawingml/2006/table">
            <a:tbl>
              <a:tblPr>
                <a:tableStyleId>{08FB837D-C827-4EFA-A057-4D05807E0F7C}</a:tableStyleId>
              </a:tblPr>
              <a:tblGrid>
                <a:gridCol w="2850120">
                  <a:extLst>
                    <a:ext uri="{9D8B030D-6E8A-4147-A177-3AD203B41FA5}">
                      <a16:colId xmlns:a16="http://schemas.microsoft.com/office/drawing/2014/main" val="2583395907"/>
                    </a:ext>
                  </a:extLst>
                </a:gridCol>
                <a:gridCol w="2483880">
                  <a:extLst>
                    <a:ext uri="{9D8B030D-6E8A-4147-A177-3AD203B41FA5}">
                      <a16:colId xmlns:a16="http://schemas.microsoft.com/office/drawing/2014/main" val="577295616"/>
                    </a:ext>
                  </a:extLst>
                </a:gridCol>
                <a:gridCol w="3581399">
                  <a:extLst>
                    <a:ext uri="{9D8B030D-6E8A-4147-A177-3AD203B41FA5}">
                      <a16:colId xmlns:a16="http://schemas.microsoft.com/office/drawing/2014/main" val="558966284"/>
                    </a:ext>
                  </a:extLst>
                </a:gridCol>
              </a:tblGrid>
              <a:tr h="944880">
                <a:tc>
                  <a:txBody>
                    <a:bodyPr/>
                    <a:lstStyle/>
                    <a:p>
                      <a:pPr algn="ctr">
                        <a:lnSpc>
                          <a:spcPct val="115000"/>
                        </a:lnSpc>
                        <a:buNone/>
                      </a:pPr>
                      <a:r>
                        <a:rPr lang="ja-JP" sz="1800" b="0" kern="100" dirty="0">
                          <a:solidFill>
                            <a:srgbClr val="FF0000"/>
                          </a:solidFill>
                          <a:effectLst/>
                        </a:rPr>
                        <a:t>Tên gọi không chính thức</a:t>
                      </a:r>
                      <a:endParaRPr lang="ja-JP" sz="1600" b="0" kern="100" dirty="0">
                        <a:solidFill>
                          <a:srgbClr val="FF0000"/>
                        </a:solidFill>
                        <a:effectLst/>
                        <a:latin typeface="+mj-lt"/>
                        <a:ea typeface="游明朝" panose="02020400000000000000" pitchFamily="18" charset="-128"/>
                      </a:endParaRPr>
                    </a:p>
                  </a:txBody>
                  <a:tcPr marL="68580" marR="68580" marT="0" marB="0"/>
                </a:tc>
                <a:tc>
                  <a:txBody>
                    <a:bodyPr/>
                    <a:lstStyle/>
                    <a:p>
                      <a:pPr algn="ctr">
                        <a:lnSpc>
                          <a:spcPct val="115000"/>
                        </a:lnSpc>
                        <a:buNone/>
                      </a:pPr>
                      <a:r>
                        <a:rPr lang="ja-JP" sz="1800" b="0" kern="100">
                          <a:solidFill>
                            <a:srgbClr val="FF0000"/>
                          </a:solidFill>
                          <a:effectLst/>
                        </a:rPr>
                        <a:t>Tên gọi chuẩn</a:t>
                      </a:r>
                      <a:endParaRPr lang="ja-JP" sz="1600" b="0" kern="100">
                        <a:solidFill>
                          <a:srgbClr val="FF0000"/>
                        </a:solidFill>
                        <a:effectLst/>
                        <a:latin typeface="+mj-lt"/>
                        <a:ea typeface="游明朝" panose="02020400000000000000" pitchFamily="18" charset="-128"/>
                      </a:endParaRPr>
                    </a:p>
                  </a:txBody>
                  <a:tcPr marL="68580" marR="68580" marT="0" marB="0"/>
                </a:tc>
                <a:tc>
                  <a:txBody>
                    <a:bodyPr/>
                    <a:lstStyle/>
                    <a:p>
                      <a:pPr algn="ctr">
                        <a:lnSpc>
                          <a:spcPct val="115000"/>
                        </a:lnSpc>
                        <a:buNone/>
                      </a:pPr>
                      <a:r>
                        <a:rPr lang="ja-JP" sz="1800" b="0" kern="100" dirty="0">
                          <a:solidFill>
                            <a:srgbClr val="FF0000"/>
                          </a:solidFill>
                          <a:effectLst/>
                        </a:rPr>
                        <a:t>Ghi chú</a:t>
                      </a:r>
                      <a:endParaRPr lang="ja-JP" sz="1600" b="0" kern="100" dirty="0">
                        <a:solidFill>
                          <a:srgbClr val="FF0000"/>
                        </a:solidFill>
                        <a:effectLst/>
                        <a:latin typeface="+mj-lt"/>
                        <a:ea typeface="游明朝" panose="02020400000000000000" pitchFamily="18" charset="-128"/>
                      </a:endParaRPr>
                    </a:p>
                  </a:txBody>
                  <a:tcPr marL="68580" marR="68580" marT="0" marB="0"/>
                </a:tc>
                <a:extLst>
                  <a:ext uri="{0D108BD9-81ED-4DB2-BD59-A6C34878D82A}">
                    <a16:rowId xmlns:a16="http://schemas.microsoft.com/office/drawing/2014/main" val="742944513"/>
                  </a:ext>
                </a:extLst>
              </a:tr>
              <a:tr h="458489">
                <a:tc>
                  <a:txBody>
                    <a:bodyPr/>
                    <a:lstStyle/>
                    <a:p>
                      <a:pPr>
                        <a:lnSpc>
                          <a:spcPct val="115000"/>
                        </a:lnSpc>
                        <a:buNone/>
                      </a:pPr>
                      <a:r>
                        <a:rPr lang="ja-JP" sz="1800" b="0" kern="100" dirty="0">
                          <a:effectLst/>
                        </a:rPr>
                        <a:t>Java 1.0 – 1.4 </a:t>
                      </a:r>
                      <a:endParaRPr lang="ja-JP" sz="1600" b="0" kern="100" dirty="0">
                        <a:effectLst/>
                        <a:latin typeface="+mj-lt"/>
                        <a:ea typeface="游明朝" panose="02020400000000000000" pitchFamily="18" charset="-128"/>
                      </a:endParaRPr>
                    </a:p>
                  </a:txBody>
                  <a:tcPr marL="68580" marR="68580" marT="0" marB="0"/>
                </a:tc>
                <a:tc>
                  <a:txBody>
                    <a:bodyPr/>
                    <a:lstStyle/>
                    <a:p>
                      <a:pPr>
                        <a:lnSpc>
                          <a:spcPct val="115000"/>
                        </a:lnSpc>
                        <a:buNone/>
                      </a:pPr>
                      <a:r>
                        <a:rPr lang="ja-JP" sz="1800" b="0" kern="100">
                          <a:effectLst/>
                        </a:rPr>
                        <a:t>JDK 1.0 – 1.4</a:t>
                      </a:r>
                      <a:endParaRPr lang="ja-JP" sz="1600" b="0" kern="100">
                        <a:effectLst/>
                        <a:latin typeface="+mj-lt"/>
                        <a:ea typeface="游明朝" panose="02020400000000000000" pitchFamily="18" charset="-128"/>
                      </a:endParaRPr>
                    </a:p>
                  </a:txBody>
                  <a:tcPr marL="68580" marR="68580" marT="0" marB="0"/>
                </a:tc>
                <a:tc>
                  <a:txBody>
                    <a:bodyPr/>
                    <a:lstStyle/>
                    <a:p>
                      <a:pPr>
                        <a:lnSpc>
                          <a:spcPct val="115000"/>
                        </a:lnSpc>
                        <a:buNone/>
                      </a:pPr>
                      <a:r>
                        <a:rPr lang="ja-JP" sz="1800" b="0" kern="100">
                          <a:effectLst/>
                        </a:rPr>
                        <a:t>Các phiên bản đầu tiên, dùng số 1.x </a:t>
                      </a:r>
                      <a:endParaRPr lang="ja-JP" sz="1600" b="0" kern="100">
                        <a:effectLst/>
                        <a:latin typeface="+mj-lt"/>
                        <a:ea typeface="游明朝" panose="02020400000000000000" pitchFamily="18" charset="-128"/>
                      </a:endParaRPr>
                    </a:p>
                  </a:txBody>
                  <a:tcPr marL="68580" marR="68580" marT="0" marB="0"/>
                </a:tc>
                <a:extLst>
                  <a:ext uri="{0D108BD9-81ED-4DB2-BD59-A6C34878D82A}">
                    <a16:rowId xmlns:a16="http://schemas.microsoft.com/office/drawing/2014/main" val="1330423546"/>
                  </a:ext>
                </a:extLst>
              </a:tr>
              <a:tr h="944880">
                <a:tc>
                  <a:txBody>
                    <a:bodyPr/>
                    <a:lstStyle/>
                    <a:p>
                      <a:pPr>
                        <a:lnSpc>
                          <a:spcPct val="115000"/>
                        </a:lnSpc>
                        <a:buNone/>
                      </a:pPr>
                      <a:r>
                        <a:rPr lang="ja-JP" sz="1800" b="0" kern="100" dirty="0">
                          <a:effectLst/>
                        </a:rPr>
                        <a:t>Java 5 </a:t>
                      </a:r>
                      <a:endParaRPr lang="ja-JP" sz="1600" b="0" kern="100" dirty="0">
                        <a:effectLst/>
                        <a:latin typeface="+mj-lt"/>
                        <a:ea typeface="游明朝" panose="02020400000000000000" pitchFamily="18" charset="-128"/>
                      </a:endParaRPr>
                    </a:p>
                  </a:txBody>
                  <a:tcPr marL="68580" marR="68580" marT="0" marB="0"/>
                </a:tc>
                <a:tc>
                  <a:txBody>
                    <a:bodyPr/>
                    <a:lstStyle/>
                    <a:p>
                      <a:pPr>
                        <a:lnSpc>
                          <a:spcPct val="115000"/>
                        </a:lnSpc>
                        <a:buNone/>
                      </a:pPr>
                      <a:r>
                        <a:rPr lang="ja-JP" sz="1800" b="0" kern="100">
                          <a:effectLst/>
                        </a:rPr>
                        <a:t>JDK 5</a:t>
                      </a:r>
                      <a:endParaRPr lang="ja-JP" sz="1600" b="0" kern="100">
                        <a:effectLst/>
                        <a:latin typeface="+mj-lt"/>
                        <a:ea typeface="游明朝" panose="02020400000000000000" pitchFamily="18" charset="-128"/>
                      </a:endParaRPr>
                    </a:p>
                  </a:txBody>
                  <a:tcPr marL="68580" marR="68580" marT="0" marB="0"/>
                </a:tc>
                <a:tc>
                  <a:txBody>
                    <a:bodyPr/>
                    <a:lstStyle/>
                    <a:p>
                      <a:pPr>
                        <a:lnSpc>
                          <a:spcPct val="115000"/>
                        </a:lnSpc>
                        <a:buNone/>
                      </a:pPr>
                      <a:r>
                        <a:rPr lang="ja-JP" sz="1800" b="0" kern="100">
                          <a:effectLst/>
                        </a:rPr>
                        <a:t> Bắt đầu bỏ số 1, dùng trực tiếp số phiên bản</a:t>
                      </a:r>
                      <a:endParaRPr lang="ja-JP" sz="1600" b="0" kern="100">
                        <a:effectLst/>
                        <a:latin typeface="+mj-lt"/>
                        <a:ea typeface="游明朝" panose="02020400000000000000" pitchFamily="18" charset="-128"/>
                      </a:endParaRPr>
                    </a:p>
                  </a:txBody>
                  <a:tcPr marL="68580" marR="68580" marT="0" marB="0"/>
                </a:tc>
                <a:extLst>
                  <a:ext uri="{0D108BD9-81ED-4DB2-BD59-A6C34878D82A}">
                    <a16:rowId xmlns:a16="http://schemas.microsoft.com/office/drawing/2014/main" val="1797670450"/>
                  </a:ext>
                </a:extLst>
              </a:tr>
              <a:tr h="1431272">
                <a:tc>
                  <a:txBody>
                    <a:bodyPr/>
                    <a:lstStyle/>
                    <a:p>
                      <a:pPr>
                        <a:lnSpc>
                          <a:spcPct val="115000"/>
                        </a:lnSpc>
                        <a:buNone/>
                      </a:pPr>
                      <a:r>
                        <a:rPr lang="ja-JP" sz="1800" b="0" kern="100" dirty="0">
                          <a:effectLst/>
                        </a:rPr>
                        <a:t>Java 9 → Java 2</a:t>
                      </a:r>
                      <a:r>
                        <a:rPr lang="en-US" altLang="ja-JP" sz="1800" b="0" kern="100" dirty="0">
                          <a:effectLst/>
                        </a:rPr>
                        <a:t>5</a:t>
                      </a:r>
                      <a:r>
                        <a:rPr lang="ja-JP" sz="1800" b="0" kern="100" dirty="0">
                          <a:effectLst/>
                        </a:rPr>
                        <a:t>+</a:t>
                      </a:r>
                    </a:p>
                  </a:txBody>
                  <a:tcPr marL="68580" marR="68580" marT="0" marB="0"/>
                </a:tc>
                <a:tc>
                  <a:txBody>
                    <a:bodyPr/>
                    <a:lstStyle/>
                    <a:p>
                      <a:pPr>
                        <a:lnSpc>
                          <a:spcPct val="115000"/>
                        </a:lnSpc>
                        <a:buNone/>
                      </a:pPr>
                      <a:r>
                        <a:rPr lang="ja-JP" sz="1800" b="0" kern="100">
                          <a:effectLst/>
                        </a:rPr>
                        <a:t>JDK 9 → JDK 2</a:t>
                      </a:r>
                      <a:r>
                        <a:rPr lang="en-US" altLang="ja-JP" sz="1800" b="0" kern="100">
                          <a:effectLst/>
                        </a:rPr>
                        <a:t>5</a:t>
                      </a:r>
                      <a:endParaRPr lang="ja-JP" sz="1600" b="0" kern="100" dirty="0">
                        <a:effectLst/>
                        <a:latin typeface="+mj-lt"/>
                        <a:ea typeface="游明朝" panose="02020400000000000000" pitchFamily="18" charset="-128"/>
                      </a:endParaRPr>
                    </a:p>
                  </a:txBody>
                  <a:tcPr marL="68580" marR="68580" marT="0" marB="0"/>
                </a:tc>
                <a:tc>
                  <a:txBody>
                    <a:bodyPr/>
                    <a:lstStyle/>
                    <a:p>
                      <a:pPr>
                        <a:lnSpc>
                          <a:spcPct val="115000"/>
                        </a:lnSpc>
                        <a:buNone/>
                      </a:pPr>
                      <a:r>
                        <a:rPr lang="ja-JP" sz="1800" b="0" kern="100" dirty="0">
                          <a:effectLst/>
                        </a:rPr>
                        <a:t>Chu kỳ phát hành 6 tháng/lần từ Java 9  </a:t>
                      </a:r>
                      <a:endParaRPr lang="ja-JP" sz="1600" b="0" kern="100" dirty="0">
                        <a:effectLst/>
                        <a:latin typeface="+mj-lt"/>
                        <a:ea typeface="游明朝" panose="02020400000000000000" pitchFamily="18" charset="-128"/>
                      </a:endParaRPr>
                    </a:p>
                  </a:txBody>
                  <a:tcPr marL="68580" marR="68580" marT="0" marB="0"/>
                </a:tc>
                <a:extLst>
                  <a:ext uri="{0D108BD9-81ED-4DB2-BD59-A6C34878D82A}">
                    <a16:rowId xmlns:a16="http://schemas.microsoft.com/office/drawing/2014/main" val="3219025482"/>
                  </a:ext>
                </a:extLst>
              </a:tr>
            </a:tbl>
          </a:graphicData>
        </a:graphic>
      </p:graphicFrame>
      <p:sp>
        <p:nvSpPr>
          <p:cNvPr id="4" name="Slide Number Placeholder 3">
            <a:extLst>
              <a:ext uri="{FF2B5EF4-FFF2-40B4-BE49-F238E27FC236}">
                <a16:creationId xmlns:a16="http://schemas.microsoft.com/office/drawing/2014/main" id="{E6A1A95C-C550-5F02-5DAA-69758EE8E2E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5</a:t>
            </a:fld>
            <a:endParaRPr lang="en-US" altLang="ja-JP"/>
          </a:p>
        </p:txBody>
      </p:sp>
    </p:spTree>
    <p:extLst>
      <p:ext uri="{BB962C8B-B14F-4D97-AF65-F5344CB8AC3E}">
        <p14:creationId xmlns:p14="http://schemas.microsoft.com/office/powerpoint/2010/main" val="1289606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FEECF-B520-CB69-6CA7-E289051B36DA}"/>
              </a:ext>
            </a:extLst>
          </p:cNvPr>
          <p:cNvSpPr>
            <a:spLocks noGrp="1"/>
          </p:cNvSpPr>
          <p:nvPr>
            <p:ph type="title"/>
          </p:nvPr>
        </p:nvSpPr>
        <p:spPr/>
        <p:txBody>
          <a:bodyPr>
            <a:normAutofit/>
          </a:bodyPr>
          <a:lstStyle/>
          <a:p>
            <a:endParaRPr kumimoji="1" lang="ja-JP" altLang="en-US" sz="1800"/>
          </a:p>
        </p:txBody>
      </p:sp>
      <p:sp>
        <p:nvSpPr>
          <p:cNvPr id="3" name="Content Placeholder 2">
            <a:extLst>
              <a:ext uri="{FF2B5EF4-FFF2-40B4-BE49-F238E27FC236}">
                <a16:creationId xmlns:a16="http://schemas.microsoft.com/office/drawing/2014/main" id="{60B5D39C-3035-5B22-34BF-DA838F4983F9}"/>
              </a:ext>
            </a:extLst>
          </p:cNvPr>
          <p:cNvSpPr>
            <a:spLocks noGrp="1"/>
          </p:cNvSpPr>
          <p:nvPr>
            <p:ph idx="1"/>
          </p:nvPr>
        </p:nvSpPr>
        <p:spPr/>
        <p:txBody>
          <a:bodyPr/>
          <a:lstStyle/>
          <a:p>
            <a:endParaRPr kumimoji="1" lang="ja-JP" altLang="en-US" sz="1800"/>
          </a:p>
        </p:txBody>
      </p:sp>
      <p:sp>
        <p:nvSpPr>
          <p:cNvPr id="4" name="Slide Number Placeholder 3">
            <a:extLst>
              <a:ext uri="{FF2B5EF4-FFF2-40B4-BE49-F238E27FC236}">
                <a16:creationId xmlns:a16="http://schemas.microsoft.com/office/drawing/2014/main" id="{6D9E9CA0-3F3A-BB3C-12A4-FEE5AB5DB728}"/>
              </a:ext>
            </a:extLst>
          </p:cNvPr>
          <p:cNvSpPr>
            <a:spLocks noGrp="1"/>
          </p:cNvSpPr>
          <p:nvPr>
            <p:ph type="sldNum" sz="quarter" idx="11"/>
          </p:nvPr>
        </p:nvSpPr>
        <p:spPr/>
        <p:txBody>
          <a:bodyPr/>
          <a:lstStyle/>
          <a:p>
            <a:pPr>
              <a:defRPr/>
            </a:pPr>
            <a:r>
              <a:rPr lang="en-US" altLang="ja-JP" sz="700"/>
              <a:t>Page:</a:t>
            </a:r>
            <a:r>
              <a:rPr lang="ja-JP" altLang="en-US" sz="700"/>
              <a:t> </a:t>
            </a:r>
            <a:fld id="{DC07468E-517B-4E9D-8840-A4568A307980}" type="slidenum">
              <a:rPr lang="en-US" altLang="ja-JP" sz="700" smtClean="0"/>
              <a:pPr>
                <a:defRPr/>
              </a:pPr>
              <a:t>6</a:t>
            </a:fld>
            <a:endParaRPr lang="en-US" altLang="ja-JP" sz="700"/>
          </a:p>
        </p:txBody>
      </p:sp>
      <p:pic>
        <p:nvPicPr>
          <p:cNvPr id="9" name="Picture 8">
            <a:extLst>
              <a:ext uri="{FF2B5EF4-FFF2-40B4-BE49-F238E27FC236}">
                <a16:creationId xmlns:a16="http://schemas.microsoft.com/office/drawing/2014/main" id="{3D86E64E-68AC-9A0A-DD43-6E7F952AA0D1}"/>
              </a:ext>
            </a:extLst>
          </p:cNvPr>
          <p:cNvPicPr>
            <a:picLocks noChangeAspect="1"/>
          </p:cNvPicPr>
          <p:nvPr/>
        </p:nvPicPr>
        <p:blipFill>
          <a:blip r:embed="rId2"/>
          <a:stretch>
            <a:fillRect/>
          </a:stretch>
        </p:blipFill>
        <p:spPr>
          <a:xfrm>
            <a:off x="0" y="428051"/>
            <a:ext cx="9906000" cy="5572125"/>
          </a:xfrm>
          <a:prstGeom prst="rect">
            <a:avLst/>
          </a:prstGeom>
        </p:spPr>
      </p:pic>
      <p:sp>
        <p:nvSpPr>
          <p:cNvPr id="10" name="Rectangle 9">
            <a:extLst>
              <a:ext uri="{FF2B5EF4-FFF2-40B4-BE49-F238E27FC236}">
                <a16:creationId xmlns:a16="http://schemas.microsoft.com/office/drawing/2014/main" id="{B717E068-D72D-1F0C-F003-8F08909565DE}"/>
              </a:ext>
            </a:extLst>
          </p:cNvPr>
          <p:cNvSpPr/>
          <p:nvPr/>
        </p:nvSpPr>
        <p:spPr bwMode="auto">
          <a:xfrm>
            <a:off x="6629400" y="5638801"/>
            <a:ext cx="381000" cy="347014"/>
          </a:xfrm>
          <a:prstGeom prst="rect">
            <a:avLst/>
          </a:prstGeom>
          <a:noFill/>
          <a:ln w="12700" cap="flat" cmpd="sng" algn="ctr">
            <a:noFill/>
            <a:prstDash val="solid"/>
            <a:round/>
            <a:headEnd type="none" w="med" len="med"/>
            <a:tailEnd type="none" w="med" len="me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indent="0" algn="l" defTabSz="914400" rtl="0" eaLnBrk="1" fontAlgn="base" latinLnBrk="0" hangingPunct="1">
              <a:lnSpc>
                <a:spcPct val="100000"/>
              </a:lnSpc>
              <a:spcBef>
                <a:spcPct val="50000"/>
              </a:spcBef>
              <a:spcAft>
                <a:spcPct val="0"/>
              </a:spcAft>
              <a:buClrTx/>
              <a:buSzTx/>
              <a:buFontTx/>
              <a:buNone/>
              <a:tabLst/>
            </a:pPr>
            <a:r>
              <a:rPr kumimoji="1" lang="en-US" altLang="ja-JP" sz="1000" b="0" i="0" u="none" strike="noStrike" cap="none" normalizeH="0" baseline="0" dirty="0">
                <a:ln>
                  <a:solidFill>
                    <a:srgbClr val="FFFFFF"/>
                  </a:solidFill>
                </a:ln>
                <a:solidFill>
                  <a:srgbClr val="FFFFFF"/>
                </a:solidFill>
                <a:latin typeface="Meiryo UI" panose="020B0604030504040204" pitchFamily="50" charset="-128"/>
                <a:ea typeface="Meiryo UI" panose="020B0604030504040204" pitchFamily="50" charset="-128"/>
              </a:rPr>
              <a:t>5</a:t>
            </a:r>
            <a:endParaRPr kumimoji="1" lang="ja-JP" altLang="en-US" sz="1000" b="0" i="0" u="none" strike="noStrike" cap="none" normalizeH="0" baseline="0" dirty="0">
              <a:ln>
                <a:solidFill>
                  <a:srgbClr val="FFFFFF"/>
                </a:solidFill>
              </a:ln>
              <a:solidFill>
                <a:srgbClr val="FFFFFF"/>
              </a:solidFill>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96296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D8A5A6-9E34-29B5-F68F-A5EA4F29337E}"/>
              </a:ext>
            </a:extLst>
          </p:cNvPr>
          <p:cNvSpPr>
            <a:spLocks noGrp="1"/>
          </p:cNvSpPr>
          <p:nvPr>
            <p:ph type="sldNum" sz="quarter" idx="12"/>
          </p:nvPr>
        </p:nvSpPr>
        <p:spPr/>
        <p:txBody>
          <a:bodyPr/>
          <a:lstStyle/>
          <a:p>
            <a:pPr>
              <a:defRPr/>
            </a:pPr>
            <a:r>
              <a:rPr lang="en-US" altLang="ja-JP"/>
              <a:t>Page:</a:t>
            </a:r>
            <a:r>
              <a:rPr lang="ja-JP" altLang="en-US"/>
              <a:t> </a:t>
            </a:r>
            <a:fld id="{DC07468E-517B-4E9D-8840-A4568A307980}" type="slidenum">
              <a:rPr lang="en-US" altLang="ja-JP" smtClean="0"/>
              <a:pPr>
                <a:defRPr/>
              </a:pPr>
              <a:t>7</a:t>
            </a:fld>
            <a:endParaRPr lang="en-US" altLang="ja-JP"/>
          </a:p>
        </p:txBody>
      </p:sp>
      <p:sp>
        <p:nvSpPr>
          <p:cNvPr id="5" name="Slide Number Placeholder 3">
            <a:extLst>
              <a:ext uri="{FF2B5EF4-FFF2-40B4-BE49-F238E27FC236}">
                <a16:creationId xmlns:a16="http://schemas.microsoft.com/office/drawing/2014/main" id="{FCC73BDE-F73F-44B7-51BA-74FE311B3EF9}"/>
              </a:ext>
            </a:extLst>
          </p:cNvPr>
          <p:cNvSpPr txBox="1">
            <a:spLocks/>
          </p:cNvSpPr>
          <p:nvPr/>
        </p:nvSpPr>
        <p:spPr>
          <a:xfrm>
            <a:off x="7616825" y="6381750"/>
            <a:ext cx="2133600" cy="476250"/>
          </a:xfrm>
          <a:prstGeom prst="rect">
            <a:avLst/>
          </a:prstGeom>
        </p:spPr>
        <p:txBody>
          <a:bodyPr vert="horz" lIns="91440" tIns="45720" rIns="91440" bIns="45720" rtlCol="0" anchor="ctr"/>
          <a:lstStyle>
            <a:defPPr>
              <a:defRPr lang="ja-JP"/>
            </a:defPPr>
            <a:lvl1pPr algn="l" rtl="0" eaLnBrk="0" fontAlgn="base" hangingPunct="0">
              <a:spcBef>
                <a:spcPct val="0"/>
              </a:spcBef>
              <a:spcAft>
                <a:spcPct val="0"/>
              </a:spcAft>
              <a:defRPr kumimoji="1" sz="1200" b="1" kern="1200">
                <a:solidFill>
                  <a:schemeClr val="tx1">
                    <a:tint val="75000"/>
                  </a:schemeClr>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a:lstStyle>
          <a:p>
            <a:fld id="{DE54DDFE-72EB-4019-9AAD-C40C6AFA015F}" type="slidenum">
              <a:rPr lang="en-US" altLang="ja-JP" smtClean="0"/>
              <a:pPr/>
              <a:t>7</a:t>
            </a:fld>
            <a:endParaRPr lang="en-US" altLang="ja-JP"/>
          </a:p>
        </p:txBody>
      </p:sp>
      <p:sp>
        <p:nvSpPr>
          <p:cNvPr id="6" name="Rectangle 70">
            <a:extLst>
              <a:ext uri="{FF2B5EF4-FFF2-40B4-BE49-F238E27FC236}">
                <a16:creationId xmlns:a16="http://schemas.microsoft.com/office/drawing/2014/main" id="{A8E827E8-FCDB-E24F-06C2-51EB3FF37A50}"/>
              </a:ext>
            </a:extLst>
          </p:cNvPr>
          <p:cNvSpPr>
            <a:spLocks noChangeArrowheads="1"/>
          </p:cNvSpPr>
          <p:nvPr/>
        </p:nvSpPr>
        <p:spPr bwMode="auto">
          <a:xfrm>
            <a:off x="344488" y="1938338"/>
            <a:ext cx="9120187" cy="4344987"/>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dirty="0"/>
          </a:p>
        </p:txBody>
      </p:sp>
      <p:sp>
        <p:nvSpPr>
          <p:cNvPr id="7" name="Rectangle 2">
            <a:extLst>
              <a:ext uri="{FF2B5EF4-FFF2-40B4-BE49-F238E27FC236}">
                <a16:creationId xmlns:a16="http://schemas.microsoft.com/office/drawing/2014/main" id="{430ED679-01FF-D336-557F-BE3FD03FB836}"/>
              </a:ext>
            </a:extLst>
          </p:cNvPr>
          <p:cNvSpPr txBox="1">
            <a:spLocks noChangeArrowheads="1"/>
          </p:cNvSpPr>
          <p:nvPr/>
        </p:nvSpPr>
        <p:spPr>
          <a:xfrm>
            <a:off x="344488" y="84138"/>
            <a:ext cx="9217025" cy="490537"/>
          </a:xfrm>
          <a:prstGeom prst="rect">
            <a:avLst/>
          </a:prstGeom>
        </p:spPr>
        <p:txBody>
          <a:bodyPr/>
          <a:lst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a:lstStyle>
          <a:p>
            <a:pPr fontAlgn="auto">
              <a:spcAft>
                <a:spcPts val="0"/>
              </a:spcAft>
            </a:pPr>
            <a:r>
              <a:rPr lang="en-US" altLang="ja-JP" b="0" dirty="0">
                <a:latin typeface="Arial" panose="020B0604020202020204" pitchFamily="34" charset="0"/>
                <a:ea typeface="MS UI Gothic" panose="020B0600070205080204" pitchFamily="50" charset="-128"/>
              </a:rPr>
              <a:t>Java </a:t>
            </a:r>
            <a:r>
              <a:rPr lang="en-US" altLang="ja-JP" b="0" dirty="0" err="1">
                <a:latin typeface="Arial" panose="020B0604020202020204" pitchFamily="34" charset="0"/>
                <a:ea typeface="MS UI Gothic" panose="020B0600070205080204" pitchFamily="50" charset="-128"/>
              </a:rPr>
              <a:t>là</a:t>
            </a:r>
            <a:r>
              <a:rPr lang="en-US" altLang="ja-JP" b="0" dirty="0">
                <a:latin typeface="Arial" panose="020B0604020202020204" pitchFamily="34" charset="0"/>
                <a:ea typeface="MS UI Gothic" panose="020B0600070205080204" pitchFamily="50" charset="-128"/>
              </a:rPr>
              <a:t> </a:t>
            </a:r>
            <a:r>
              <a:rPr lang="en-US" altLang="ja-JP" b="0" dirty="0" err="1">
                <a:latin typeface="Arial" panose="020B0604020202020204" pitchFamily="34" charset="0"/>
                <a:ea typeface="MS UI Gothic" panose="020B0600070205080204" pitchFamily="50" charset="-128"/>
              </a:rPr>
              <a:t>gì</a:t>
            </a:r>
            <a:endParaRPr lang="en-US" altLang="ja-JP" b="0" dirty="0">
              <a:latin typeface="Arial" panose="020B0604020202020204" pitchFamily="34" charset="0"/>
              <a:ea typeface="MS UI Gothic" panose="020B0600070205080204" pitchFamily="50" charset="-128"/>
            </a:endParaRPr>
          </a:p>
        </p:txBody>
      </p:sp>
      <p:sp>
        <p:nvSpPr>
          <p:cNvPr id="8" name="Rectangle 3">
            <a:extLst>
              <a:ext uri="{FF2B5EF4-FFF2-40B4-BE49-F238E27FC236}">
                <a16:creationId xmlns:a16="http://schemas.microsoft.com/office/drawing/2014/main" id="{6947D6E5-6F78-C092-42BD-FFD1B4D51688}"/>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9" name="Rectangle 4">
            <a:extLst>
              <a:ext uri="{FF2B5EF4-FFF2-40B4-BE49-F238E27FC236}">
                <a16:creationId xmlns:a16="http://schemas.microsoft.com/office/drawing/2014/main" id="{7EB0054F-C3FB-7932-99EA-2213363F67B6}"/>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Arial" panose="020B0604020202020204" pitchFamily="34" charset="0"/>
              </a:rPr>
              <a:t>Java</a:t>
            </a:r>
          </a:p>
          <a:p>
            <a:pPr>
              <a:buFont typeface="Wingdings" panose="05000000000000000000" pitchFamily="2" charset="2"/>
              <a:buNone/>
            </a:pPr>
            <a:endParaRPr lang="en-US" altLang="ja-JP" sz="2400" b="0" dirty="0">
              <a:latin typeface="Arial" panose="020B0604020202020204" pitchFamily="34" charset="0"/>
            </a:endParaRPr>
          </a:p>
          <a:p>
            <a:pPr lvl="1"/>
            <a:endParaRPr lang="en-US" altLang="ja-JP" sz="2400" b="0" dirty="0">
              <a:latin typeface="Arial" panose="020B0604020202020204" pitchFamily="34" charset="0"/>
            </a:endParaRPr>
          </a:p>
        </p:txBody>
      </p:sp>
      <p:sp>
        <p:nvSpPr>
          <p:cNvPr id="10" name="Rectangle 8">
            <a:extLst>
              <a:ext uri="{FF2B5EF4-FFF2-40B4-BE49-F238E27FC236}">
                <a16:creationId xmlns:a16="http://schemas.microsoft.com/office/drawing/2014/main" id="{6667C650-D9D9-9236-2976-85AFAAD611C2}"/>
              </a:ext>
            </a:extLst>
          </p:cNvPr>
          <p:cNvSpPr>
            <a:spLocks noChangeArrowheads="1"/>
          </p:cNvSpPr>
          <p:nvPr/>
        </p:nvSpPr>
        <p:spPr bwMode="auto">
          <a:xfrm>
            <a:off x="344488" y="1254125"/>
            <a:ext cx="9120187" cy="5159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a:t>
            </a:r>
            <a:r>
              <a:rPr lang="en-US" altLang="ja-JP" sz="1800">
                <a:latin typeface="Arial" panose="020B0604020202020204" pitchFamily="34" charset="0"/>
              </a:rPr>
              <a:t>ngôn ngữ hướng đối tượng không phụ thuộc vào platform</a:t>
            </a:r>
            <a:endParaRPr lang="en-US" altLang="ja-JP" sz="2000">
              <a:latin typeface="Arial" panose="020B0604020202020204" pitchFamily="34" charset="0"/>
            </a:endParaRPr>
          </a:p>
        </p:txBody>
      </p:sp>
      <p:grpSp>
        <p:nvGrpSpPr>
          <p:cNvPr id="11" name="Group 91">
            <a:extLst>
              <a:ext uri="{FF2B5EF4-FFF2-40B4-BE49-F238E27FC236}">
                <a16:creationId xmlns:a16="http://schemas.microsoft.com/office/drawing/2014/main" id="{9DAD8EB0-AA08-4436-4684-D701D6A6455B}"/>
              </a:ext>
            </a:extLst>
          </p:cNvPr>
          <p:cNvGrpSpPr>
            <a:grpSpLocks/>
          </p:cNvGrpSpPr>
          <p:nvPr/>
        </p:nvGrpSpPr>
        <p:grpSpPr bwMode="auto">
          <a:xfrm>
            <a:off x="1008063" y="1922463"/>
            <a:ext cx="7450137" cy="4308475"/>
            <a:chOff x="635" y="1211"/>
            <a:chExt cx="4693" cy="2714"/>
          </a:xfrm>
        </p:grpSpPr>
        <p:sp>
          <p:nvSpPr>
            <p:cNvPr id="12" name="Rectangle 74">
              <a:extLst>
                <a:ext uri="{FF2B5EF4-FFF2-40B4-BE49-F238E27FC236}">
                  <a16:creationId xmlns:a16="http://schemas.microsoft.com/office/drawing/2014/main" id="{C6BD1C39-5FA3-0EA1-2B5A-02B61912F106}"/>
                </a:ext>
              </a:extLst>
            </p:cNvPr>
            <p:cNvSpPr>
              <a:spLocks noChangeArrowheads="1"/>
            </p:cNvSpPr>
            <p:nvPr/>
          </p:nvSpPr>
          <p:spPr bwMode="auto">
            <a:xfrm>
              <a:off x="706" y="3211"/>
              <a:ext cx="1647"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dirty="0">
                  <a:latin typeface="Arial" panose="020B0604020202020204" pitchFamily="34" charset="0"/>
                </a:rPr>
                <a:t>Windows note type PC</a:t>
              </a:r>
            </a:p>
          </p:txBody>
        </p:sp>
        <p:sp>
          <p:nvSpPr>
            <p:cNvPr id="13" name="Rectangle 61">
              <a:extLst>
                <a:ext uri="{FF2B5EF4-FFF2-40B4-BE49-F238E27FC236}">
                  <a16:creationId xmlns:a16="http://schemas.microsoft.com/office/drawing/2014/main" id="{0E784AE3-D0AF-A40A-2B8E-FC32869CF684}"/>
                </a:ext>
              </a:extLst>
            </p:cNvPr>
            <p:cNvSpPr>
              <a:spLocks noChangeArrowheads="1"/>
            </p:cNvSpPr>
            <p:nvPr/>
          </p:nvSpPr>
          <p:spPr bwMode="auto">
            <a:xfrm>
              <a:off x="1269" y="3664"/>
              <a:ext cx="3147"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b="0" dirty="0" err="1">
                  <a:latin typeface="Arial" panose="020B0604020202020204" pitchFamily="34" charset="0"/>
                </a:rPr>
                <a:t>Có</a:t>
              </a:r>
              <a:r>
                <a:rPr lang="en-US" altLang="ja-JP" sz="1800" b="0" dirty="0">
                  <a:latin typeface="Arial" panose="020B0604020202020204" pitchFamily="34" charset="0"/>
                </a:rPr>
                <a:t> </a:t>
              </a:r>
              <a:r>
                <a:rPr lang="en-US" altLang="ja-JP" sz="1800" b="0" dirty="0" err="1">
                  <a:latin typeface="Arial" panose="020B0604020202020204" pitchFamily="34" charset="0"/>
                </a:rPr>
                <a:t>thể</a:t>
              </a:r>
              <a:r>
                <a:rPr lang="en-US" altLang="ja-JP" sz="1800" b="0" dirty="0">
                  <a:latin typeface="Arial" panose="020B0604020202020204" pitchFamily="34" charset="0"/>
                </a:rPr>
                <a:t> </a:t>
              </a:r>
              <a:r>
                <a:rPr lang="en-US" altLang="ja-JP" sz="1800" b="0" dirty="0" err="1">
                  <a:latin typeface="Arial" panose="020B0604020202020204" pitchFamily="34" charset="0"/>
                </a:rPr>
                <a:t>chạy</a:t>
              </a:r>
              <a:r>
                <a:rPr lang="en-US" altLang="ja-JP" sz="1800" b="0" dirty="0">
                  <a:latin typeface="Arial" panose="020B0604020202020204" pitchFamily="34" charset="0"/>
                </a:rPr>
                <a:t> </a:t>
              </a:r>
              <a:r>
                <a:rPr lang="en-US" altLang="ja-JP" sz="1800" b="0" dirty="0" err="1">
                  <a:latin typeface="Arial" panose="020B0604020202020204" pitchFamily="34" charset="0"/>
                </a:rPr>
                <a:t>trên</a:t>
              </a:r>
              <a:r>
                <a:rPr lang="en-US" altLang="ja-JP" sz="1800" b="0" dirty="0">
                  <a:latin typeface="Arial" panose="020B0604020202020204" pitchFamily="34" charset="0"/>
                </a:rPr>
                <a:t> </a:t>
              </a:r>
              <a:r>
                <a:rPr lang="en-US" altLang="ja-JP" sz="1800" b="0" dirty="0" err="1">
                  <a:latin typeface="Arial" panose="020B0604020202020204" pitchFamily="34" charset="0"/>
                </a:rPr>
                <a:t>rất</a:t>
              </a:r>
              <a:r>
                <a:rPr lang="en-US" altLang="ja-JP" sz="1800" b="0" dirty="0">
                  <a:latin typeface="Arial" panose="020B0604020202020204" pitchFamily="34" charset="0"/>
                </a:rPr>
                <a:t> </a:t>
              </a:r>
              <a:r>
                <a:rPr lang="en-US" altLang="ja-JP" sz="1800" b="0" dirty="0" err="1">
                  <a:latin typeface="Arial" panose="020B0604020202020204" pitchFamily="34" charset="0"/>
                </a:rPr>
                <a:t>nhiều</a:t>
              </a:r>
              <a:r>
                <a:rPr lang="en-US" altLang="ja-JP" sz="1800" b="0" dirty="0">
                  <a:latin typeface="Arial" panose="020B0604020202020204" pitchFamily="34" charset="0"/>
                </a:rPr>
                <a:t> </a:t>
              </a:r>
              <a:r>
                <a:rPr lang="en-US" altLang="ja-JP" sz="1800" b="0" dirty="0" err="1">
                  <a:latin typeface="Arial" panose="020B0604020202020204" pitchFamily="34" charset="0"/>
                </a:rPr>
                <a:t>môi</a:t>
              </a:r>
              <a:r>
                <a:rPr lang="en-US" altLang="ja-JP" sz="1800" b="0" dirty="0">
                  <a:latin typeface="Arial" panose="020B0604020202020204" pitchFamily="34" charset="0"/>
                </a:rPr>
                <a:t> </a:t>
              </a:r>
              <a:r>
                <a:rPr lang="en-US" altLang="ja-JP" sz="1800" b="0" dirty="0" err="1">
                  <a:latin typeface="Arial" panose="020B0604020202020204" pitchFamily="34" charset="0"/>
                </a:rPr>
                <a:t>trường</a:t>
              </a:r>
              <a:endParaRPr lang="en-US" altLang="ja-JP" sz="1800" b="0" dirty="0">
                <a:latin typeface="Arial" panose="020B0604020202020204" pitchFamily="34" charset="0"/>
              </a:endParaRPr>
            </a:p>
          </p:txBody>
        </p:sp>
        <p:sp>
          <p:nvSpPr>
            <p:cNvPr id="14" name="Rectangle 73">
              <a:extLst>
                <a:ext uri="{FF2B5EF4-FFF2-40B4-BE49-F238E27FC236}">
                  <a16:creationId xmlns:a16="http://schemas.microsoft.com/office/drawing/2014/main" id="{84D3D19E-9BF8-30F8-C55E-2FBE03C0BD91}"/>
                </a:ext>
              </a:extLst>
            </p:cNvPr>
            <p:cNvSpPr>
              <a:spLocks noChangeArrowheads="1"/>
            </p:cNvSpPr>
            <p:nvPr/>
          </p:nvSpPr>
          <p:spPr bwMode="auto">
            <a:xfrm>
              <a:off x="635" y="2197"/>
              <a:ext cx="1671"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a:latin typeface="Arial" panose="020B0604020202020204" pitchFamily="34" charset="0"/>
                </a:rPr>
                <a:t>UNIX server machine</a:t>
              </a:r>
            </a:p>
          </p:txBody>
        </p:sp>
        <p:sp>
          <p:nvSpPr>
            <p:cNvPr id="15" name="Rectangle 54">
              <a:extLst>
                <a:ext uri="{FF2B5EF4-FFF2-40B4-BE49-F238E27FC236}">
                  <a16:creationId xmlns:a16="http://schemas.microsoft.com/office/drawing/2014/main" id="{B126691F-76FA-6431-50D2-6D4F585356AE}"/>
                </a:ext>
              </a:extLst>
            </p:cNvPr>
            <p:cNvSpPr>
              <a:spLocks noChangeArrowheads="1"/>
            </p:cNvSpPr>
            <p:nvPr/>
          </p:nvSpPr>
          <p:spPr bwMode="auto">
            <a:xfrm>
              <a:off x="1234" y="1211"/>
              <a:ext cx="3147"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ja-JP" altLang="en-US" sz="2400"/>
                <a:t>「 </a:t>
              </a:r>
              <a:r>
                <a:rPr lang="en-US" altLang="ja-JP" sz="2400"/>
                <a:t>Write Once, Run Anywhere </a:t>
              </a:r>
              <a:r>
                <a:rPr lang="ja-JP" altLang="en-US" sz="2400"/>
                <a:t>」</a:t>
              </a:r>
            </a:p>
          </p:txBody>
        </p:sp>
        <p:grpSp>
          <p:nvGrpSpPr>
            <p:cNvPr id="16" name="Group 62">
              <a:extLst>
                <a:ext uri="{FF2B5EF4-FFF2-40B4-BE49-F238E27FC236}">
                  <a16:creationId xmlns:a16="http://schemas.microsoft.com/office/drawing/2014/main" id="{3E3C092F-D2D5-BA2D-98DC-7154B04924EA}"/>
                </a:ext>
              </a:extLst>
            </p:cNvPr>
            <p:cNvGrpSpPr>
              <a:grpSpLocks/>
            </p:cNvGrpSpPr>
            <p:nvPr/>
          </p:nvGrpSpPr>
          <p:grpSpPr bwMode="auto">
            <a:xfrm>
              <a:off x="2572" y="1625"/>
              <a:ext cx="729" cy="711"/>
              <a:chOff x="3888" y="1674"/>
              <a:chExt cx="729" cy="711"/>
            </a:xfrm>
          </p:grpSpPr>
          <p:sp>
            <p:nvSpPr>
              <p:cNvPr id="31" name="AutoShape 63">
                <a:extLst>
                  <a:ext uri="{FF2B5EF4-FFF2-40B4-BE49-F238E27FC236}">
                    <a16:creationId xmlns:a16="http://schemas.microsoft.com/office/drawing/2014/main" id="{465821D5-F01C-F6FE-085E-67FF9D429027}"/>
                  </a:ext>
                </a:extLst>
              </p:cNvPr>
              <p:cNvSpPr>
                <a:spLocks noChangeArrowheads="1"/>
              </p:cNvSpPr>
              <p:nvPr/>
            </p:nvSpPr>
            <p:spPr bwMode="auto">
              <a:xfrm>
                <a:off x="3897" y="1674"/>
                <a:ext cx="720" cy="711"/>
              </a:xfrm>
              <a:prstGeom prst="foldedCorner">
                <a:avLst>
                  <a:gd name="adj" fmla="val 12500"/>
                </a:avLst>
              </a:prstGeom>
              <a:solidFill>
                <a:srgbClr val="FFCC99"/>
              </a:solidFill>
              <a:ln w="9525">
                <a:solidFill>
                  <a:schemeClr val="tx1"/>
                </a:solidFill>
                <a:round/>
                <a:headEnd/>
                <a:tailEnd/>
              </a:ln>
              <a:effectLst>
                <a:outerShdw dist="107763" dir="2700000" algn="ctr" rotWithShape="0">
                  <a:schemeClr val="bg2">
                    <a:alpha val="50000"/>
                  </a:schemeClr>
                </a:outerShdw>
              </a:effectLst>
            </p:spPr>
            <p:txBody>
              <a:bodyPr wrap="none" anchor="ctr"/>
              <a:lstStyle/>
              <a:p>
                <a:endParaRPr lang="ja-JP" altLang="en-US"/>
              </a:p>
            </p:txBody>
          </p:sp>
          <p:sp>
            <p:nvSpPr>
              <p:cNvPr id="32" name="Text Box 64">
                <a:extLst>
                  <a:ext uri="{FF2B5EF4-FFF2-40B4-BE49-F238E27FC236}">
                    <a16:creationId xmlns:a16="http://schemas.microsoft.com/office/drawing/2014/main" id="{0D53D457-2369-5460-C631-1E67D5229A94}"/>
                  </a:ext>
                </a:extLst>
              </p:cNvPr>
              <p:cNvSpPr txBox="1">
                <a:spLocks noChangeArrowheads="1"/>
              </p:cNvSpPr>
              <p:nvPr/>
            </p:nvSpPr>
            <p:spPr bwMode="auto">
              <a:xfrm>
                <a:off x="3888" y="1791"/>
                <a:ext cx="684" cy="491"/>
              </a:xfrm>
              <a:prstGeom prst="rect">
                <a:avLst/>
              </a:prstGeom>
              <a:solidFill>
                <a:srgbClr val="FFCC99">
                  <a:alpha val="0"/>
                </a:srgbClr>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a:latin typeface="MS UI Gothic" panose="020B0600070205080204" pitchFamily="50" charset="-128"/>
                  </a:rPr>
                  <a:t>Java</a:t>
                </a:r>
              </a:p>
              <a:p>
                <a:pPr algn="ctr">
                  <a:spcBef>
                    <a:spcPct val="50000"/>
                  </a:spcBef>
                </a:pPr>
                <a:r>
                  <a:rPr lang="en-US" altLang="ja-JP" sz="1800">
                    <a:latin typeface="MS UI Gothic" panose="020B0600070205080204" pitchFamily="50" charset="-128"/>
                  </a:rPr>
                  <a:t>program</a:t>
                </a:r>
              </a:p>
            </p:txBody>
          </p:sp>
        </p:grpSp>
        <p:sp>
          <p:nvSpPr>
            <p:cNvPr id="17" name="AutoShape 65">
              <a:extLst>
                <a:ext uri="{FF2B5EF4-FFF2-40B4-BE49-F238E27FC236}">
                  <a16:creationId xmlns:a16="http://schemas.microsoft.com/office/drawing/2014/main" id="{28BAB2CD-3C14-D435-A2F5-0E549E969280}"/>
                </a:ext>
              </a:extLst>
            </p:cNvPr>
            <p:cNvSpPr>
              <a:spLocks noChangeArrowheads="1"/>
            </p:cNvSpPr>
            <p:nvPr/>
          </p:nvSpPr>
          <p:spPr bwMode="auto">
            <a:xfrm>
              <a:off x="1942" y="1850"/>
              <a:ext cx="531" cy="225"/>
            </a:xfrm>
            <a:prstGeom prst="leftArrow">
              <a:avLst>
                <a:gd name="adj1" fmla="val 50000"/>
                <a:gd name="adj2" fmla="val 59000"/>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8" name="AutoShape 66">
              <a:extLst>
                <a:ext uri="{FF2B5EF4-FFF2-40B4-BE49-F238E27FC236}">
                  <a16:creationId xmlns:a16="http://schemas.microsoft.com/office/drawing/2014/main" id="{2B545D75-EA66-D8A0-9BA9-A58AAA2AB7CA}"/>
                </a:ext>
              </a:extLst>
            </p:cNvPr>
            <p:cNvSpPr>
              <a:spLocks noChangeArrowheads="1"/>
            </p:cNvSpPr>
            <p:nvPr/>
          </p:nvSpPr>
          <p:spPr bwMode="auto">
            <a:xfrm rot="-2477606">
              <a:off x="2064" y="2384"/>
              <a:ext cx="498" cy="225"/>
            </a:xfrm>
            <a:prstGeom prst="leftArrow">
              <a:avLst>
                <a:gd name="adj1" fmla="val 50000"/>
                <a:gd name="adj2" fmla="val 55333"/>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9" name="AutoShape 67">
              <a:extLst>
                <a:ext uri="{FF2B5EF4-FFF2-40B4-BE49-F238E27FC236}">
                  <a16:creationId xmlns:a16="http://schemas.microsoft.com/office/drawing/2014/main" id="{F5FD0562-0C07-57F5-282B-53E041DD6D1C}"/>
                </a:ext>
              </a:extLst>
            </p:cNvPr>
            <p:cNvSpPr>
              <a:spLocks noChangeArrowheads="1"/>
            </p:cNvSpPr>
            <p:nvPr/>
          </p:nvSpPr>
          <p:spPr bwMode="auto">
            <a:xfrm rot="16200000">
              <a:off x="2802" y="2435"/>
              <a:ext cx="284" cy="225"/>
            </a:xfrm>
            <a:prstGeom prst="leftArrow">
              <a:avLst>
                <a:gd name="adj1" fmla="val 50000"/>
                <a:gd name="adj2" fmla="val 31556"/>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0" name="AutoShape 68">
              <a:extLst>
                <a:ext uri="{FF2B5EF4-FFF2-40B4-BE49-F238E27FC236}">
                  <a16:creationId xmlns:a16="http://schemas.microsoft.com/office/drawing/2014/main" id="{D79DA8A7-4CB1-14EB-2080-C50CEDD42F67}"/>
                </a:ext>
              </a:extLst>
            </p:cNvPr>
            <p:cNvSpPr>
              <a:spLocks noChangeArrowheads="1"/>
            </p:cNvSpPr>
            <p:nvPr/>
          </p:nvSpPr>
          <p:spPr bwMode="auto">
            <a:xfrm rot="10800000">
              <a:off x="3401" y="1842"/>
              <a:ext cx="531" cy="225"/>
            </a:xfrm>
            <a:prstGeom prst="leftArrow">
              <a:avLst>
                <a:gd name="adj1" fmla="val 50000"/>
                <a:gd name="adj2" fmla="val 59000"/>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1" name="AutoShape 69">
              <a:extLst>
                <a:ext uri="{FF2B5EF4-FFF2-40B4-BE49-F238E27FC236}">
                  <a16:creationId xmlns:a16="http://schemas.microsoft.com/office/drawing/2014/main" id="{12F24D55-E7A7-D06E-8AF2-B5A7D12E724F}"/>
                </a:ext>
              </a:extLst>
            </p:cNvPr>
            <p:cNvSpPr>
              <a:spLocks noChangeArrowheads="1"/>
            </p:cNvSpPr>
            <p:nvPr/>
          </p:nvSpPr>
          <p:spPr bwMode="auto">
            <a:xfrm rot="13358687">
              <a:off x="3307" y="2439"/>
              <a:ext cx="498" cy="225"/>
            </a:xfrm>
            <a:prstGeom prst="leftArrow">
              <a:avLst>
                <a:gd name="adj1" fmla="val 50000"/>
                <a:gd name="adj2" fmla="val 55333"/>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2" name="Rectangle 75">
              <a:extLst>
                <a:ext uri="{FF2B5EF4-FFF2-40B4-BE49-F238E27FC236}">
                  <a16:creationId xmlns:a16="http://schemas.microsoft.com/office/drawing/2014/main" id="{E92BAAEC-60B8-298D-5421-FE1FC47953EF}"/>
                </a:ext>
              </a:extLst>
            </p:cNvPr>
            <p:cNvSpPr>
              <a:spLocks noChangeArrowheads="1"/>
            </p:cNvSpPr>
            <p:nvPr/>
          </p:nvSpPr>
          <p:spPr bwMode="auto">
            <a:xfrm>
              <a:off x="3109" y="3211"/>
              <a:ext cx="1931"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dirty="0">
                  <a:latin typeface="Arial" panose="020B0604020202020204" pitchFamily="34" charset="0"/>
                </a:rPr>
                <a:t>Mac OS desktop PC</a:t>
              </a:r>
            </a:p>
          </p:txBody>
        </p:sp>
        <p:sp>
          <p:nvSpPr>
            <p:cNvPr id="23" name="Rectangle 76">
              <a:extLst>
                <a:ext uri="{FF2B5EF4-FFF2-40B4-BE49-F238E27FC236}">
                  <a16:creationId xmlns:a16="http://schemas.microsoft.com/office/drawing/2014/main" id="{368937D2-A415-5326-0862-CAC65B6FEEE5}"/>
                </a:ext>
              </a:extLst>
            </p:cNvPr>
            <p:cNvSpPr>
              <a:spLocks noChangeArrowheads="1"/>
            </p:cNvSpPr>
            <p:nvPr/>
          </p:nvSpPr>
          <p:spPr bwMode="auto">
            <a:xfrm>
              <a:off x="2471" y="3211"/>
              <a:ext cx="826"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dirty="0">
                  <a:latin typeface="Arial" panose="020B0604020202020204" pitchFamily="34" charset="0"/>
                </a:rPr>
                <a:t>PDA</a:t>
              </a:r>
            </a:p>
          </p:txBody>
        </p:sp>
        <p:sp>
          <p:nvSpPr>
            <p:cNvPr id="24" name="Rectangle 77">
              <a:extLst>
                <a:ext uri="{FF2B5EF4-FFF2-40B4-BE49-F238E27FC236}">
                  <a16:creationId xmlns:a16="http://schemas.microsoft.com/office/drawing/2014/main" id="{1085A41A-A67F-B803-FC02-96DD6813814C}"/>
                </a:ext>
              </a:extLst>
            </p:cNvPr>
            <p:cNvSpPr>
              <a:spLocks noChangeArrowheads="1"/>
            </p:cNvSpPr>
            <p:nvPr/>
          </p:nvSpPr>
          <p:spPr bwMode="auto">
            <a:xfrm>
              <a:off x="3664" y="2197"/>
              <a:ext cx="1664"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dirty="0" err="1">
                  <a:latin typeface="Arial" panose="020B0604020202020204" pitchFamily="34" charset="0"/>
                </a:rPr>
                <a:t>Điện</a:t>
              </a:r>
              <a:r>
                <a:rPr lang="en-US" altLang="ja-JP" sz="1800" dirty="0">
                  <a:latin typeface="Arial" panose="020B0604020202020204" pitchFamily="34" charset="0"/>
                </a:rPr>
                <a:t> </a:t>
              </a:r>
              <a:r>
                <a:rPr lang="en-US" altLang="ja-JP" sz="1800" dirty="0" err="1">
                  <a:latin typeface="Arial" panose="020B0604020202020204" pitchFamily="34" charset="0"/>
                </a:rPr>
                <a:t>thoại</a:t>
              </a:r>
              <a:r>
                <a:rPr lang="en-US" altLang="ja-JP" sz="1800" dirty="0">
                  <a:latin typeface="Arial" panose="020B0604020202020204" pitchFamily="34" charset="0"/>
                </a:rPr>
                <a:t> di </a:t>
              </a:r>
              <a:r>
                <a:rPr lang="en-US" altLang="ja-JP" sz="1800" dirty="0" err="1">
                  <a:latin typeface="Arial" panose="020B0604020202020204" pitchFamily="34" charset="0"/>
                </a:rPr>
                <a:t>động</a:t>
              </a:r>
              <a:endParaRPr lang="en-US" altLang="ja-JP" sz="1800" dirty="0">
                <a:latin typeface="Arial" panose="020B0604020202020204" pitchFamily="34" charset="0"/>
              </a:endParaRPr>
            </a:p>
          </p:txBody>
        </p:sp>
        <p:pic>
          <p:nvPicPr>
            <p:cNvPr id="25" name="Picture 81">
              <a:extLst>
                <a:ext uri="{FF2B5EF4-FFF2-40B4-BE49-F238E27FC236}">
                  <a16:creationId xmlns:a16="http://schemas.microsoft.com/office/drawing/2014/main" id="{188685DE-61E1-DDF9-F705-8AA4C120D6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11" y="2682"/>
              <a:ext cx="288" cy="52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82">
              <a:extLst>
                <a:ext uri="{FF2B5EF4-FFF2-40B4-BE49-F238E27FC236}">
                  <a16:creationId xmlns:a16="http://schemas.microsoft.com/office/drawing/2014/main" id="{F6157561-3673-9FAD-EA43-C5D30FE1A3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28" y="2517"/>
              <a:ext cx="558" cy="678"/>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83">
              <a:extLst>
                <a:ext uri="{FF2B5EF4-FFF2-40B4-BE49-F238E27FC236}">
                  <a16:creationId xmlns:a16="http://schemas.microsoft.com/office/drawing/2014/main" id="{F8BCF99D-BC79-F63C-D757-03CE44EB21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56" y="2590"/>
              <a:ext cx="540" cy="528"/>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84">
              <a:extLst>
                <a:ext uri="{FF2B5EF4-FFF2-40B4-BE49-F238E27FC236}">
                  <a16:creationId xmlns:a16="http://schemas.microsoft.com/office/drawing/2014/main" id="{70494333-6C6F-F612-56E2-7FF1CEC280F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94" y="1527"/>
              <a:ext cx="510" cy="708"/>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87">
              <a:extLst>
                <a:ext uri="{FF2B5EF4-FFF2-40B4-BE49-F238E27FC236}">
                  <a16:creationId xmlns:a16="http://schemas.microsoft.com/office/drawing/2014/main" id="{B492CE07-19F1-8321-281C-13325460779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10" y="1491"/>
              <a:ext cx="348" cy="720"/>
            </a:xfrm>
            <a:prstGeom prst="rect">
              <a:avLst/>
            </a:prstGeom>
            <a:noFill/>
            <a:extLst>
              <a:ext uri="{909E8E84-426E-40DD-AFC4-6F175D3DCCD1}">
                <a14:hiddenFill xmlns:a14="http://schemas.microsoft.com/office/drawing/2010/main">
                  <a:solidFill>
                    <a:srgbClr val="FFFFFF"/>
                  </a:solidFill>
                </a14:hiddenFill>
              </a:ext>
            </a:extLst>
          </p:spPr>
        </p:pic>
        <p:sp>
          <p:nvSpPr>
            <p:cNvPr id="30" name="AutoShape 60">
              <a:extLst>
                <a:ext uri="{FF2B5EF4-FFF2-40B4-BE49-F238E27FC236}">
                  <a16:creationId xmlns:a16="http://schemas.microsoft.com/office/drawing/2014/main" id="{54DDE0A5-BFBF-F8F6-63BF-41720E7831DE}"/>
                </a:ext>
              </a:extLst>
            </p:cNvPr>
            <p:cNvSpPr>
              <a:spLocks/>
            </p:cNvSpPr>
            <p:nvPr/>
          </p:nvSpPr>
          <p:spPr bwMode="auto">
            <a:xfrm rot="16200000">
              <a:off x="2830" y="1639"/>
              <a:ext cx="261" cy="3827"/>
            </a:xfrm>
            <a:prstGeom prst="leftBrace">
              <a:avLst>
                <a:gd name="adj1" fmla="val 120086"/>
                <a:gd name="adj2" fmla="val 50009"/>
              </a:avLst>
            </a:prstGeom>
            <a:noFill/>
            <a:ln w="25400">
              <a:solidFill>
                <a:schemeClr val="bg2"/>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extLst>
      <p:ext uri="{BB962C8B-B14F-4D97-AF65-F5344CB8AC3E}">
        <p14:creationId xmlns:p14="http://schemas.microsoft.com/office/powerpoint/2010/main" val="3467881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D07AE194-0372-0AD3-8A8E-D840BF7BF9ED}"/>
              </a:ext>
            </a:extLst>
          </p:cNvPr>
          <p:cNvSpPr txBox="1">
            <a:spLocks/>
          </p:cNvSpPr>
          <p:nvPr/>
        </p:nvSpPr>
        <p:spPr>
          <a:xfrm>
            <a:off x="7616825" y="6381750"/>
            <a:ext cx="2133600" cy="476250"/>
          </a:xfrm>
          <a:prstGeom prst="rect">
            <a:avLst/>
          </a:prstGeom>
        </p:spPr>
        <p:txBody>
          <a:bodyPr vert="horz" lIns="91440" tIns="45720" rIns="91440" bIns="45720" rtlCol="0" anchor="ctr"/>
          <a:lstStyle>
            <a:defPPr>
              <a:defRPr lang="ja-JP"/>
            </a:defPPr>
            <a:lvl1pPr algn="l" rtl="0" eaLnBrk="0" fontAlgn="base" hangingPunct="0">
              <a:spcBef>
                <a:spcPct val="0"/>
              </a:spcBef>
              <a:spcAft>
                <a:spcPct val="0"/>
              </a:spcAft>
              <a:defRPr kumimoji="1" sz="1200" b="1" kern="1200">
                <a:solidFill>
                  <a:schemeClr val="tx1">
                    <a:tint val="75000"/>
                  </a:schemeClr>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a:lstStyle>
          <a:p>
            <a:fld id="{E80F1A68-15E1-4E03-8053-B1C0321DAD94}" type="slidenum">
              <a:rPr lang="en-US" altLang="ja-JP" smtClean="0"/>
              <a:pPr/>
              <a:t>8</a:t>
            </a:fld>
            <a:endParaRPr lang="en-US" altLang="ja-JP"/>
          </a:p>
        </p:txBody>
      </p:sp>
      <p:sp>
        <p:nvSpPr>
          <p:cNvPr id="3" name="Rectangle 2">
            <a:extLst>
              <a:ext uri="{FF2B5EF4-FFF2-40B4-BE49-F238E27FC236}">
                <a16:creationId xmlns:a16="http://schemas.microsoft.com/office/drawing/2014/main" id="{3B874A57-73A9-D6A9-D675-58EC97560A73}"/>
              </a:ext>
            </a:extLst>
          </p:cNvPr>
          <p:cNvSpPr txBox="1">
            <a:spLocks noChangeArrowheads="1"/>
          </p:cNvSpPr>
          <p:nvPr/>
        </p:nvSpPr>
        <p:spPr>
          <a:xfrm>
            <a:off x="344488" y="84138"/>
            <a:ext cx="9217025" cy="490537"/>
          </a:xfrm>
          <a:prstGeom prst="rect">
            <a:avLst/>
          </a:prstGeom>
        </p:spPr>
        <p:txBody>
          <a:bodyPr/>
          <a:lst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a:lstStyle>
          <a:p>
            <a:pPr fontAlgn="auto">
              <a:spcAft>
                <a:spcPts val="0"/>
              </a:spcAft>
            </a:pPr>
            <a:r>
              <a:rPr lang="en-US" altLang="ja-JP" b="0" dirty="0">
                <a:latin typeface="Arial" panose="020B0604020202020204" pitchFamily="34" charset="0"/>
                <a:ea typeface="MS UI Gothic" panose="020B0600070205080204" pitchFamily="50" charset="-128"/>
              </a:rPr>
              <a:t>Java là </a:t>
            </a:r>
            <a:r>
              <a:rPr lang="en-US" altLang="ja-JP" b="0" dirty="0" err="1">
                <a:latin typeface="Arial" panose="020B0604020202020204" pitchFamily="34" charset="0"/>
                <a:ea typeface="MS UI Gothic" panose="020B0600070205080204" pitchFamily="50" charset="-128"/>
              </a:rPr>
              <a:t>gì</a:t>
            </a:r>
            <a:endParaRPr lang="en-US" altLang="ja-JP" b="0" dirty="0">
              <a:latin typeface="Arial" panose="020B0604020202020204" pitchFamily="34" charset="0"/>
              <a:ea typeface="MS UI Gothic" panose="020B0600070205080204" pitchFamily="50" charset="-128"/>
            </a:endParaRPr>
          </a:p>
        </p:txBody>
      </p:sp>
      <p:sp>
        <p:nvSpPr>
          <p:cNvPr id="4" name="Rectangle 3">
            <a:extLst>
              <a:ext uri="{FF2B5EF4-FFF2-40B4-BE49-F238E27FC236}">
                <a16:creationId xmlns:a16="http://schemas.microsoft.com/office/drawing/2014/main" id="{B676DDC4-2617-48DF-1C75-14E11D7BAC19}"/>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 name="Rectangle 4">
            <a:extLst>
              <a:ext uri="{FF2B5EF4-FFF2-40B4-BE49-F238E27FC236}">
                <a16:creationId xmlns:a16="http://schemas.microsoft.com/office/drawing/2014/main" id="{83196E14-752B-8ABB-38CD-38F4029E471A}"/>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Không phụ thuộc vào platform và OS</a:t>
            </a:r>
          </a:p>
        </p:txBody>
      </p:sp>
      <p:sp>
        <p:nvSpPr>
          <p:cNvPr id="6" name="Rectangle 5">
            <a:extLst>
              <a:ext uri="{FF2B5EF4-FFF2-40B4-BE49-F238E27FC236}">
                <a16:creationId xmlns:a16="http://schemas.microsoft.com/office/drawing/2014/main" id="{DBF76AA0-FCFD-27E9-C94C-82B25673F9A0}"/>
              </a:ext>
            </a:extLst>
          </p:cNvPr>
          <p:cNvSpPr>
            <a:spLocks noChangeArrowheads="1"/>
          </p:cNvSpPr>
          <p:nvPr/>
        </p:nvSpPr>
        <p:spPr bwMode="auto">
          <a:xfrm>
            <a:off x="344488" y="1811338"/>
            <a:ext cx="9120187" cy="44862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 name="Rectangle 23">
            <a:extLst>
              <a:ext uri="{FF2B5EF4-FFF2-40B4-BE49-F238E27FC236}">
                <a16:creationId xmlns:a16="http://schemas.microsoft.com/office/drawing/2014/main" id="{70BE458B-F8F3-A55A-3578-CAAEA7A2208B}"/>
              </a:ext>
            </a:extLst>
          </p:cNvPr>
          <p:cNvSpPr>
            <a:spLocks noChangeArrowheads="1"/>
          </p:cNvSpPr>
          <p:nvPr/>
        </p:nvSpPr>
        <p:spPr bwMode="auto">
          <a:xfrm>
            <a:off x="344488" y="13366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dirty="0">
                <a:latin typeface="Arial" panose="020B0604020202020204" pitchFamily="34" charset="0"/>
              </a:rPr>
              <a:t>【Flow </a:t>
            </a:r>
            <a:r>
              <a:rPr lang="en-US" altLang="ja-JP" sz="2000" dirty="0" err="1">
                <a:latin typeface="Arial" panose="020B0604020202020204" pitchFamily="34" charset="0"/>
              </a:rPr>
              <a:t>tư</a:t>
            </a:r>
            <a:r>
              <a:rPr lang="en-US" altLang="ja-JP" sz="2000" dirty="0">
                <a:latin typeface="Arial" panose="020B0604020202020204" pitchFamily="34" charset="0"/>
              </a:rPr>
              <a:t>̀ </a:t>
            </a:r>
            <a:r>
              <a:rPr lang="en-US" altLang="ja-JP" sz="2000" dirty="0" err="1">
                <a:latin typeface="Arial" panose="020B0604020202020204" pitchFamily="34" charset="0"/>
              </a:rPr>
              <a:t>khi</a:t>
            </a:r>
            <a:r>
              <a:rPr lang="en-US" altLang="ja-JP" sz="2000" dirty="0">
                <a:latin typeface="Arial" panose="020B0604020202020204" pitchFamily="34" charset="0"/>
              </a:rPr>
              <a:t> </a:t>
            </a:r>
            <a:r>
              <a:rPr lang="en-US" altLang="ja-JP" sz="2000" dirty="0" err="1">
                <a:latin typeface="Arial" panose="020B0604020202020204" pitchFamily="34" charset="0"/>
              </a:rPr>
              <a:t>tạo</a:t>
            </a:r>
            <a:r>
              <a:rPr lang="en-US" altLang="ja-JP" sz="2000" dirty="0">
                <a:latin typeface="Arial" panose="020B0604020202020204" pitchFamily="34" charset="0"/>
              </a:rPr>
              <a:t> program </a:t>
            </a:r>
            <a:r>
              <a:rPr lang="en-US" altLang="ja-JP" sz="2000" dirty="0" err="1">
                <a:latin typeface="Arial" panose="020B0604020202020204" pitchFamily="34" charset="0"/>
              </a:rPr>
              <a:t>cho</a:t>
            </a:r>
            <a:r>
              <a:rPr lang="en-US" altLang="ja-JP" sz="2000" dirty="0">
                <a:latin typeface="Arial" panose="020B0604020202020204" pitchFamily="34" charset="0"/>
              </a:rPr>
              <a:t> </a:t>
            </a:r>
            <a:r>
              <a:rPr lang="en-US" altLang="ja-JP" sz="2000" dirty="0" err="1">
                <a:latin typeface="Arial" panose="020B0604020202020204" pitchFamily="34" charset="0"/>
              </a:rPr>
              <a:t>đến</a:t>
            </a:r>
            <a:r>
              <a:rPr lang="en-US" altLang="ja-JP" sz="2000" dirty="0">
                <a:latin typeface="Arial" panose="020B0604020202020204" pitchFamily="34" charset="0"/>
              </a:rPr>
              <a:t> </a:t>
            </a:r>
            <a:r>
              <a:rPr lang="en-US" altLang="ja-JP" sz="2000" dirty="0" err="1">
                <a:latin typeface="Arial" panose="020B0604020202020204" pitchFamily="34" charset="0"/>
              </a:rPr>
              <a:t>khi</a:t>
            </a:r>
            <a:r>
              <a:rPr lang="en-US" altLang="ja-JP" sz="2000" dirty="0">
                <a:latin typeface="Arial" panose="020B0604020202020204" pitchFamily="34" charset="0"/>
              </a:rPr>
              <a:t> </a:t>
            </a:r>
            <a:r>
              <a:rPr lang="en-US" altLang="ja-JP" sz="2000" dirty="0" err="1">
                <a:latin typeface="Arial" panose="020B0604020202020204" pitchFamily="34" charset="0"/>
              </a:rPr>
              <a:t>chạy</a:t>
            </a:r>
            <a:r>
              <a:rPr lang="en-US" altLang="ja-JP" sz="2000" dirty="0">
                <a:latin typeface="Arial" panose="020B0604020202020204" pitchFamily="34" charset="0"/>
              </a:rPr>
              <a:t>】</a:t>
            </a:r>
          </a:p>
          <a:p>
            <a:endParaRPr lang="en-US" altLang="ja-JP" sz="2000" dirty="0">
              <a:latin typeface="Arial" panose="020B0604020202020204" pitchFamily="34" charset="0"/>
            </a:endParaRPr>
          </a:p>
        </p:txBody>
      </p:sp>
      <p:sp>
        <p:nvSpPr>
          <p:cNvPr id="8" name="AutoShape 7">
            <a:extLst>
              <a:ext uri="{FF2B5EF4-FFF2-40B4-BE49-F238E27FC236}">
                <a16:creationId xmlns:a16="http://schemas.microsoft.com/office/drawing/2014/main" id="{40560F6A-A9DE-B75B-49AE-4666335A582E}"/>
              </a:ext>
            </a:extLst>
          </p:cNvPr>
          <p:cNvSpPr>
            <a:spLocks noChangeArrowheads="1"/>
          </p:cNvSpPr>
          <p:nvPr/>
        </p:nvSpPr>
        <p:spPr bwMode="auto">
          <a:xfrm>
            <a:off x="817563" y="3929063"/>
            <a:ext cx="1412875" cy="941387"/>
          </a:xfrm>
          <a:prstGeom prst="foldedCorner">
            <a:avLst>
              <a:gd name="adj" fmla="val 12500"/>
            </a:avLst>
          </a:prstGeom>
          <a:solidFill>
            <a:srgbClr val="FFFFCC"/>
          </a:solidFill>
          <a:ln w="9525">
            <a:solidFill>
              <a:srgbClr val="000000"/>
            </a:solidFill>
            <a:round/>
            <a:headEnd/>
            <a:tailEnd/>
          </a:ln>
          <a:effectLst>
            <a:outerShdw dist="57238" dir="2021404" algn="ctr" rotWithShape="0">
              <a:srgbClr val="000000"/>
            </a:outerShdw>
          </a:effectLst>
        </p:spPr>
        <p:txBody>
          <a:bodyPr lIns="9290" tIns="18579" rIns="9290" bIns="9290" anchor="ctr" anchorCtr="1"/>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MS UI Gothic" panose="020B0600070205080204" pitchFamily="50" charset="-128"/>
              </a:rPr>
              <a:t>Source program</a:t>
            </a:r>
            <a:endParaRPr lang="en-US" altLang="ja-JP" sz="1800">
              <a:ea typeface="MS UI Gothic" panose="020B0600070205080204" pitchFamily="50" charset="-128"/>
            </a:endParaRPr>
          </a:p>
        </p:txBody>
      </p:sp>
      <p:sp>
        <p:nvSpPr>
          <p:cNvPr id="9" name="AutoShape 8">
            <a:extLst>
              <a:ext uri="{FF2B5EF4-FFF2-40B4-BE49-F238E27FC236}">
                <a16:creationId xmlns:a16="http://schemas.microsoft.com/office/drawing/2014/main" id="{EA7401F9-67D6-CADA-8235-BF0766067FF5}"/>
              </a:ext>
            </a:extLst>
          </p:cNvPr>
          <p:cNvSpPr>
            <a:spLocks noChangeArrowheads="1"/>
          </p:cNvSpPr>
          <p:nvPr/>
        </p:nvSpPr>
        <p:spPr bwMode="auto">
          <a:xfrm>
            <a:off x="2836863" y="3368675"/>
            <a:ext cx="719137" cy="2498724"/>
          </a:xfrm>
          <a:prstGeom prst="roundRect">
            <a:avLst>
              <a:gd name="adj" fmla="val 16667"/>
            </a:avLst>
          </a:prstGeom>
          <a:solidFill>
            <a:srgbClr val="99CCFF">
              <a:alpha val="50000"/>
            </a:srgbClr>
          </a:solidFill>
          <a:ln w="9525" algn="ctr">
            <a:solidFill>
              <a:srgbClr val="000000"/>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10" name="AutoShape 9">
            <a:extLst>
              <a:ext uri="{FF2B5EF4-FFF2-40B4-BE49-F238E27FC236}">
                <a16:creationId xmlns:a16="http://schemas.microsoft.com/office/drawing/2014/main" id="{A7E19B43-D2D8-D0C8-BF70-499FE0F2EA17}"/>
              </a:ext>
            </a:extLst>
          </p:cNvPr>
          <p:cNvSpPr>
            <a:spLocks noChangeArrowheads="1"/>
          </p:cNvSpPr>
          <p:nvPr/>
        </p:nvSpPr>
        <p:spPr bwMode="auto">
          <a:xfrm>
            <a:off x="4140200" y="3929063"/>
            <a:ext cx="1414463" cy="941387"/>
          </a:xfrm>
          <a:prstGeom prst="foldedCorner">
            <a:avLst>
              <a:gd name="adj" fmla="val 12500"/>
            </a:avLst>
          </a:prstGeom>
          <a:solidFill>
            <a:srgbClr val="FFFFCC"/>
          </a:solidFill>
          <a:ln w="9525">
            <a:solidFill>
              <a:srgbClr val="000000"/>
            </a:solidFill>
            <a:round/>
            <a:headEnd/>
            <a:tailEnd/>
          </a:ln>
          <a:effectLst>
            <a:outerShdw dist="57238" dir="2021404" algn="ctr" rotWithShape="0">
              <a:srgbClr val="000000"/>
            </a:outerShdw>
          </a:effectLst>
        </p:spPr>
        <p:txBody>
          <a:bodyPr lIns="9290" tIns="18579" rIns="9290" bIns="9290" anchor="ctr" anchorCtr="1"/>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MS UI Gothic" panose="020B0600070205080204" pitchFamily="50" charset="-128"/>
              </a:rPr>
              <a:t>byte code</a:t>
            </a:r>
            <a:endParaRPr lang="en-US" altLang="ja-JP" sz="1800">
              <a:ea typeface="MS UI Gothic" panose="020B0600070205080204" pitchFamily="50" charset="-128"/>
            </a:endParaRPr>
          </a:p>
        </p:txBody>
      </p:sp>
      <p:sp>
        <p:nvSpPr>
          <p:cNvPr id="11" name="AutoShape 10">
            <a:extLst>
              <a:ext uri="{FF2B5EF4-FFF2-40B4-BE49-F238E27FC236}">
                <a16:creationId xmlns:a16="http://schemas.microsoft.com/office/drawing/2014/main" id="{F637B9FB-B68D-D8F9-C39F-793C6AC23F82}"/>
              </a:ext>
            </a:extLst>
          </p:cNvPr>
          <p:cNvSpPr>
            <a:spLocks noChangeArrowheads="1"/>
          </p:cNvSpPr>
          <p:nvPr/>
        </p:nvSpPr>
        <p:spPr bwMode="auto">
          <a:xfrm>
            <a:off x="6189663" y="3367088"/>
            <a:ext cx="720725" cy="2016125"/>
          </a:xfrm>
          <a:prstGeom prst="roundRect">
            <a:avLst>
              <a:gd name="adj" fmla="val 16667"/>
            </a:avLst>
          </a:prstGeom>
          <a:solidFill>
            <a:srgbClr val="99CCFF">
              <a:alpha val="50000"/>
            </a:srgbClr>
          </a:solidFill>
          <a:ln w="9525" algn="ctr">
            <a:solidFill>
              <a:srgbClr val="000000"/>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en-US" altLang="ja-JP"/>
          </a:p>
        </p:txBody>
      </p:sp>
      <p:sp>
        <p:nvSpPr>
          <p:cNvPr id="12" name="Text Box 12">
            <a:extLst>
              <a:ext uri="{FF2B5EF4-FFF2-40B4-BE49-F238E27FC236}">
                <a16:creationId xmlns:a16="http://schemas.microsoft.com/office/drawing/2014/main" id="{124112B3-F7DC-4194-FADA-4CAE053519AC}"/>
              </a:ext>
            </a:extLst>
          </p:cNvPr>
          <p:cNvSpPr txBox="1">
            <a:spLocks noChangeArrowheads="1"/>
          </p:cNvSpPr>
          <p:nvPr/>
        </p:nvSpPr>
        <p:spPr bwMode="auto">
          <a:xfrm>
            <a:off x="6438900" y="3859213"/>
            <a:ext cx="201613" cy="1263650"/>
          </a:xfrm>
          <a:prstGeom prst="rect">
            <a:avLst/>
          </a:prstGeom>
          <a:noFill/>
          <a:ln>
            <a:noFill/>
          </a:ln>
          <a:effectLst/>
          <a:extLst>
            <a:ext uri="{909E8E84-426E-40DD-AFC4-6F175D3DCCD1}">
              <a14:hiddenFill xmlns:a14="http://schemas.microsoft.com/office/drawing/2010/main">
                <a:solidFill>
                  <a:srgbClr val="99CCFF">
                    <a:alpha val="0"/>
                  </a:srgbClr>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290" tIns="18579" rIns="9290" bIns="9290"/>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800" b="0">
                <a:latin typeface="MS UI Gothic" panose="020B0600070205080204" pitchFamily="50" charset="-128"/>
                <a:ea typeface="MS UI Gothic" panose="020B0600070205080204" pitchFamily="50" charset="-128"/>
              </a:rPr>
              <a:t>JVM</a:t>
            </a:r>
            <a:endParaRPr lang="en-US" altLang="ja-JP" sz="1800">
              <a:latin typeface="MS UI Gothic" panose="020B0600070205080204" pitchFamily="50" charset="-128"/>
              <a:ea typeface="MS UI Gothic" panose="020B0600070205080204" pitchFamily="50" charset="-128"/>
            </a:endParaRPr>
          </a:p>
        </p:txBody>
      </p:sp>
      <p:sp>
        <p:nvSpPr>
          <p:cNvPr id="13" name="Text Box 13">
            <a:extLst>
              <a:ext uri="{FF2B5EF4-FFF2-40B4-BE49-F238E27FC236}">
                <a16:creationId xmlns:a16="http://schemas.microsoft.com/office/drawing/2014/main" id="{2EAD44B5-2044-8155-4DAA-5C8DBC55A96F}"/>
              </a:ext>
            </a:extLst>
          </p:cNvPr>
          <p:cNvSpPr txBox="1">
            <a:spLocks noChangeArrowheads="1"/>
          </p:cNvSpPr>
          <p:nvPr/>
        </p:nvSpPr>
        <p:spPr bwMode="auto">
          <a:xfrm>
            <a:off x="3086100" y="3571875"/>
            <a:ext cx="149225" cy="1781175"/>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290" tIns="18579" rIns="9290" bIns="9290"/>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800" b="0" dirty="0" err="1">
                <a:latin typeface="MS UI Gothic" panose="020B0600070205080204" pitchFamily="50" charset="-128"/>
                <a:ea typeface="MS UI Gothic" panose="020B0600070205080204" pitchFamily="50" charset="-128"/>
              </a:rPr>
              <a:t>Compi</a:t>
            </a:r>
            <a:endParaRPr lang="en-US" altLang="ja-JP" sz="1800" b="0" dirty="0">
              <a:latin typeface="MS UI Gothic" panose="020B0600070205080204" pitchFamily="50" charset="-128"/>
              <a:ea typeface="MS UI Gothic" panose="020B0600070205080204" pitchFamily="50" charset="-128"/>
            </a:endParaRPr>
          </a:p>
          <a:p>
            <a:pPr algn="just"/>
            <a:r>
              <a:rPr lang="en-US" altLang="ja-JP" sz="1800" b="0" dirty="0" err="1">
                <a:latin typeface="MS UI Gothic" panose="020B0600070205080204" pitchFamily="50" charset="-128"/>
                <a:ea typeface="MS UI Gothic" panose="020B0600070205080204" pitchFamily="50" charset="-128"/>
              </a:rPr>
              <a:t>ler</a:t>
            </a:r>
            <a:endParaRPr lang="en-US" altLang="ja-JP" sz="1800" dirty="0">
              <a:latin typeface="MS UI Gothic" panose="020B0600070205080204" pitchFamily="50" charset="-128"/>
              <a:ea typeface="MS UI Gothic" panose="020B0600070205080204" pitchFamily="50" charset="-128"/>
            </a:endParaRPr>
          </a:p>
        </p:txBody>
      </p:sp>
      <p:sp>
        <p:nvSpPr>
          <p:cNvPr id="14" name="AutoShape 14">
            <a:extLst>
              <a:ext uri="{FF2B5EF4-FFF2-40B4-BE49-F238E27FC236}">
                <a16:creationId xmlns:a16="http://schemas.microsoft.com/office/drawing/2014/main" id="{0013147C-7F1B-07E4-8931-E40E44D9EF45}"/>
              </a:ext>
            </a:extLst>
          </p:cNvPr>
          <p:cNvSpPr>
            <a:spLocks noChangeArrowheads="1"/>
          </p:cNvSpPr>
          <p:nvPr/>
        </p:nvSpPr>
        <p:spPr bwMode="auto">
          <a:xfrm>
            <a:off x="2319338" y="4197350"/>
            <a:ext cx="501650" cy="392113"/>
          </a:xfrm>
          <a:prstGeom prst="rightArrow">
            <a:avLst>
              <a:gd name="adj1" fmla="val 50000"/>
              <a:gd name="adj2" fmla="val 31984"/>
            </a:avLst>
          </a:prstGeom>
          <a:solidFill>
            <a:schemeClr val="accent2">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5" name="AutoShape 15">
            <a:extLst>
              <a:ext uri="{FF2B5EF4-FFF2-40B4-BE49-F238E27FC236}">
                <a16:creationId xmlns:a16="http://schemas.microsoft.com/office/drawing/2014/main" id="{C992CC6B-3EE7-12F1-7EF7-DD220CCC85BD}"/>
              </a:ext>
            </a:extLst>
          </p:cNvPr>
          <p:cNvSpPr>
            <a:spLocks noChangeArrowheads="1"/>
          </p:cNvSpPr>
          <p:nvPr/>
        </p:nvSpPr>
        <p:spPr bwMode="auto">
          <a:xfrm>
            <a:off x="3600450" y="4197350"/>
            <a:ext cx="501650" cy="392113"/>
          </a:xfrm>
          <a:prstGeom prst="rightArrow">
            <a:avLst>
              <a:gd name="adj1" fmla="val 50000"/>
              <a:gd name="adj2" fmla="val 31984"/>
            </a:avLst>
          </a:prstGeom>
          <a:solidFill>
            <a:schemeClr val="accent2">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6" name="AutoShape 16">
            <a:extLst>
              <a:ext uri="{FF2B5EF4-FFF2-40B4-BE49-F238E27FC236}">
                <a16:creationId xmlns:a16="http://schemas.microsoft.com/office/drawing/2014/main" id="{D4026C9C-2D5E-59AF-994F-24771AD9EB18}"/>
              </a:ext>
            </a:extLst>
          </p:cNvPr>
          <p:cNvSpPr>
            <a:spLocks noChangeArrowheads="1"/>
          </p:cNvSpPr>
          <p:nvPr/>
        </p:nvSpPr>
        <p:spPr bwMode="auto">
          <a:xfrm>
            <a:off x="5665788" y="4195763"/>
            <a:ext cx="500062" cy="392112"/>
          </a:xfrm>
          <a:prstGeom prst="rightArrow">
            <a:avLst>
              <a:gd name="adj1" fmla="val 50000"/>
              <a:gd name="adj2" fmla="val 31883"/>
            </a:avLst>
          </a:prstGeom>
          <a:solidFill>
            <a:schemeClr val="accent2">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7" name="AutoShape 17">
            <a:extLst>
              <a:ext uri="{FF2B5EF4-FFF2-40B4-BE49-F238E27FC236}">
                <a16:creationId xmlns:a16="http://schemas.microsoft.com/office/drawing/2014/main" id="{E3FFB4C9-471B-8016-3617-7D183450C5C0}"/>
              </a:ext>
            </a:extLst>
          </p:cNvPr>
          <p:cNvSpPr>
            <a:spLocks noChangeArrowheads="1"/>
          </p:cNvSpPr>
          <p:nvPr/>
        </p:nvSpPr>
        <p:spPr bwMode="auto">
          <a:xfrm>
            <a:off x="6950075" y="4195763"/>
            <a:ext cx="500063" cy="393700"/>
          </a:xfrm>
          <a:prstGeom prst="rightArrow">
            <a:avLst>
              <a:gd name="adj1" fmla="val 50000"/>
              <a:gd name="adj2" fmla="val 31754"/>
            </a:avLst>
          </a:prstGeom>
          <a:solidFill>
            <a:schemeClr val="accent2">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8" name="Text Box 20">
            <a:extLst>
              <a:ext uri="{FF2B5EF4-FFF2-40B4-BE49-F238E27FC236}">
                <a16:creationId xmlns:a16="http://schemas.microsoft.com/office/drawing/2014/main" id="{1DCBB94E-896C-7D06-7B30-6CBA45CC82E8}"/>
              </a:ext>
            </a:extLst>
          </p:cNvPr>
          <p:cNvSpPr txBox="1">
            <a:spLocks noChangeArrowheads="1"/>
          </p:cNvSpPr>
          <p:nvPr/>
        </p:nvSpPr>
        <p:spPr bwMode="auto">
          <a:xfrm>
            <a:off x="3533775" y="5553075"/>
            <a:ext cx="4851400" cy="5461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9181" tIns="44591" rIns="89181" bIns="44591">
            <a:spAutoFit/>
          </a:bodyPr>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500" b="0">
                <a:ea typeface="MS UI Gothic" panose="020B0600070205080204" pitchFamily="50" charset="-128"/>
              </a:rPr>
              <a:t>Cung cấp những phần tương ứng với các loại platform chẳng hạn như dùng cho Windows, dùng cho UNIX</a:t>
            </a:r>
            <a:endParaRPr lang="en-US" altLang="ja-JP" sz="1500">
              <a:ea typeface="MS UI Gothic" panose="020B0600070205080204" pitchFamily="50" charset="-128"/>
            </a:endParaRPr>
          </a:p>
        </p:txBody>
      </p:sp>
      <p:sp>
        <p:nvSpPr>
          <p:cNvPr id="19" name="Line 21">
            <a:extLst>
              <a:ext uri="{FF2B5EF4-FFF2-40B4-BE49-F238E27FC236}">
                <a16:creationId xmlns:a16="http://schemas.microsoft.com/office/drawing/2014/main" id="{F15E9A13-3066-DB3C-A9E3-75068DA7890A}"/>
              </a:ext>
            </a:extLst>
          </p:cNvPr>
          <p:cNvSpPr>
            <a:spLocks noChangeShapeType="1"/>
          </p:cNvSpPr>
          <p:nvPr/>
        </p:nvSpPr>
        <p:spPr bwMode="auto">
          <a:xfrm flipV="1">
            <a:off x="5761038" y="5121275"/>
            <a:ext cx="547687" cy="458788"/>
          </a:xfrm>
          <a:prstGeom prst="line">
            <a:avLst/>
          </a:prstGeom>
          <a:noFill/>
          <a:ln w="38100">
            <a:solidFill>
              <a:schemeClr val="tx1"/>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0" name="Line 22">
            <a:extLst>
              <a:ext uri="{FF2B5EF4-FFF2-40B4-BE49-F238E27FC236}">
                <a16:creationId xmlns:a16="http://schemas.microsoft.com/office/drawing/2014/main" id="{5F2A5AEA-7766-9348-D787-BEEF9BC630B1}"/>
              </a:ext>
            </a:extLst>
          </p:cNvPr>
          <p:cNvSpPr>
            <a:spLocks noChangeShapeType="1"/>
          </p:cNvSpPr>
          <p:nvPr/>
        </p:nvSpPr>
        <p:spPr bwMode="auto">
          <a:xfrm flipH="1" flipV="1">
            <a:off x="3373438" y="5173663"/>
            <a:ext cx="576262" cy="422275"/>
          </a:xfrm>
          <a:prstGeom prst="line">
            <a:avLst/>
          </a:prstGeom>
          <a:noFill/>
          <a:ln w="38100">
            <a:solidFill>
              <a:schemeClr val="tx1"/>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1" name="AutoShape 24">
            <a:extLst>
              <a:ext uri="{FF2B5EF4-FFF2-40B4-BE49-F238E27FC236}">
                <a16:creationId xmlns:a16="http://schemas.microsoft.com/office/drawing/2014/main" id="{E5AE3E28-C6DE-94F2-605D-1E2647A6AD62}"/>
              </a:ext>
            </a:extLst>
          </p:cNvPr>
          <p:cNvSpPr>
            <a:spLocks noChangeArrowheads="1"/>
          </p:cNvSpPr>
          <p:nvPr/>
        </p:nvSpPr>
        <p:spPr bwMode="auto">
          <a:xfrm>
            <a:off x="585788" y="2417763"/>
            <a:ext cx="2957512" cy="719137"/>
          </a:xfrm>
          <a:prstGeom prst="wedgeRoundRectCallout">
            <a:avLst>
              <a:gd name="adj1" fmla="val -18060"/>
              <a:gd name="adj2" fmla="val 158532"/>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5088"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500" b="0">
                <a:ea typeface="MS UI Gothic" panose="020B0600070205080204" pitchFamily="50" charset="-128"/>
              </a:rPr>
              <a:t>Tạo bằng cú pháp chung không phụ thuộc vào platform</a:t>
            </a:r>
          </a:p>
        </p:txBody>
      </p:sp>
      <p:sp>
        <p:nvSpPr>
          <p:cNvPr id="22" name="AutoShape 26">
            <a:extLst>
              <a:ext uri="{FF2B5EF4-FFF2-40B4-BE49-F238E27FC236}">
                <a16:creationId xmlns:a16="http://schemas.microsoft.com/office/drawing/2014/main" id="{005B917C-6FA6-830A-7E4C-5DDE71CEEB0A}"/>
              </a:ext>
            </a:extLst>
          </p:cNvPr>
          <p:cNvSpPr>
            <a:spLocks noChangeArrowheads="1"/>
          </p:cNvSpPr>
          <p:nvPr/>
        </p:nvSpPr>
        <p:spPr bwMode="auto">
          <a:xfrm>
            <a:off x="3881438" y="2417763"/>
            <a:ext cx="2957512" cy="719137"/>
          </a:xfrm>
          <a:prstGeom prst="wedgeRoundRectCallout">
            <a:avLst>
              <a:gd name="adj1" fmla="val -18060"/>
              <a:gd name="adj2" fmla="val 158532"/>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5088"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500" b="0">
                <a:ea typeface="MS UI Gothic" panose="020B0600070205080204" pitchFamily="50" charset="-128"/>
              </a:rPr>
              <a:t>Được generate như là ngôn ngữ trung gian không phụ thuộc vào platform</a:t>
            </a:r>
          </a:p>
        </p:txBody>
      </p:sp>
      <p:sp>
        <p:nvSpPr>
          <p:cNvPr id="23" name="Oval 28">
            <a:extLst>
              <a:ext uri="{FF2B5EF4-FFF2-40B4-BE49-F238E27FC236}">
                <a16:creationId xmlns:a16="http://schemas.microsoft.com/office/drawing/2014/main" id="{82FF3A0F-2507-B264-D60E-59F0A6612738}"/>
              </a:ext>
            </a:extLst>
          </p:cNvPr>
          <p:cNvSpPr>
            <a:spLocks noChangeArrowheads="1"/>
          </p:cNvSpPr>
          <p:nvPr/>
        </p:nvSpPr>
        <p:spPr bwMode="auto">
          <a:xfrm>
            <a:off x="7553325" y="4000500"/>
            <a:ext cx="1666875" cy="742950"/>
          </a:xfrm>
          <a:prstGeom prst="ellipse">
            <a:avLst/>
          </a:prstGeom>
          <a:solidFill>
            <a:srgbClr val="FFFF00">
              <a:alpha val="50000"/>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Chạy</a:t>
            </a:r>
          </a:p>
        </p:txBody>
      </p:sp>
    </p:spTree>
    <p:extLst>
      <p:ext uri="{BB962C8B-B14F-4D97-AF65-F5344CB8AC3E}">
        <p14:creationId xmlns:p14="http://schemas.microsoft.com/office/powerpoint/2010/main" val="15773282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C3560-8BD6-396F-76EE-E74770817BCF}"/>
              </a:ext>
            </a:extLst>
          </p:cNvPr>
          <p:cNvSpPr>
            <a:spLocks noGrp="1"/>
          </p:cNvSpPr>
          <p:nvPr>
            <p:ph type="title"/>
          </p:nvPr>
        </p:nvSpPr>
        <p:spPr/>
        <p:txBody>
          <a:bodyPr>
            <a:normAutofit fontScale="90000"/>
          </a:bodyPr>
          <a:lstStyle/>
          <a:p>
            <a:r>
              <a:rPr lang="en-US" altLang="ja-JP" dirty="0" err="1"/>
              <a:t>Đặc</a:t>
            </a:r>
            <a:r>
              <a:rPr lang="en-US" altLang="ja-JP" dirty="0"/>
              <a:t> </a:t>
            </a:r>
            <a:r>
              <a:rPr lang="en-US" altLang="ja-JP" dirty="0" err="1"/>
              <a:t>trưng</a:t>
            </a:r>
            <a:r>
              <a:rPr lang="en-US" altLang="ja-JP" dirty="0"/>
              <a:t> </a:t>
            </a:r>
            <a:r>
              <a:rPr lang="ja-JP" altLang="ja-JP" dirty="0"/>
              <a:t>của Java</a:t>
            </a:r>
            <a:endParaRPr kumimoji="1" lang="ja-JP" altLang="en-US" dirty="0"/>
          </a:p>
        </p:txBody>
      </p:sp>
      <p:sp>
        <p:nvSpPr>
          <p:cNvPr id="3" name="Content Placeholder 2">
            <a:extLst>
              <a:ext uri="{FF2B5EF4-FFF2-40B4-BE49-F238E27FC236}">
                <a16:creationId xmlns:a16="http://schemas.microsoft.com/office/drawing/2014/main" id="{56B51187-2E32-9DDA-0158-E0E14946F0B1}"/>
              </a:ext>
            </a:extLst>
          </p:cNvPr>
          <p:cNvSpPr>
            <a:spLocks noGrp="1"/>
          </p:cNvSpPr>
          <p:nvPr>
            <p:ph idx="1"/>
          </p:nvPr>
        </p:nvSpPr>
        <p:spPr/>
        <p:txBody>
          <a:bodyPr>
            <a:normAutofit fontScale="70000" lnSpcReduction="20000"/>
          </a:bodyPr>
          <a:lstStyle/>
          <a:p>
            <a:pPr lvl="0"/>
            <a:r>
              <a:rPr lang="ja-JP" altLang="ja-JP" b="1" dirty="0"/>
              <a:t>Platform Independence</a:t>
            </a:r>
            <a:r>
              <a:rPr lang="ja-JP" altLang="ja-JP" dirty="0"/>
              <a:t> (Tính độc lập nền tảng)</a:t>
            </a:r>
          </a:p>
          <a:p>
            <a:pPr lvl="1"/>
            <a:r>
              <a:rPr lang="ja-JP" altLang="ja-JP" dirty="0"/>
              <a:t>Nhờ JVM, code Java biên dịch thành bytecode và có thể chạy trên bất kỳ hệ điều hành nào. </a:t>
            </a:r>
          </a:p>
          <a:p>
            <a:pPr lvl="0"/>
            <a:r>
              <a:rPr lang="ja-JP" altLang="ja-JP" b="1" dirty="0"/>
              <a:t>Robustness </a:t>
            </a:r>
            <a:r>
              <a:rPr lang="ja-JP" altLang="ja-JP" dirty="0"/>
              <a:t>(Tính bền vững)</a:t>
            </a:r>
          </a:p>
          <a:p>
            <a:pPr lvl="1"/>
            <a:r>
              <a:rPr lang="ja-JP" altLang="ja-JP" dirty="0"/>
              <a:t>Kiểm tra lỗi nghiêm ngặt lúc biên dịch.</a:t>
            </a:r>
          </a:p>
          <a:p>
            <a:pPr lvl="1"/>
            <a:r>
              <a:rPr lang="ja-JP" altLang="ja-JP" dirty="0"/>
              <a:t>Cơ chế quản lý bộ nhớ tự động (Garbage Collector). </a:t>
            </a:r>
          </a:p>
          <a:p>
            <a:pPr lvl="0"/>
            <a:r>
              <a:rPr lang="ja-JP" altLang="ja-JP" b="1" dirty="0"/>
              <a:t>Security </a:t>
            </a:r>
            <a:r>
              <a:rPr lang="ja-JP" altLang="ja-JP" dirty="0"/>
              <a:t>(Bảo mật)</a:t>
            </a:r>
          </a:p>
          <a:p>
            <a:pPr lvl="1"/>
            <a:r>
              <a:rPr lang="ja-JP" altLang="ja-JP" dirty="0"/>
              <a:t>Java có sandbox để chạy các chương trình đáng ngờ một cách an toàn.</a:t>
            </a:r>
          </a:p>
          <a:p>
            <a:pPr lvl="1"/>
            <a:r>
              <a:rPr lang="ja-JP" altLang="ja-JP" dirty="0"/>
              <a:t>API bảo mật mạnh mẽ: mã hóa, xác thực, quyền truy cập.</a:t>
            </a:r>
          </a:p>
          <a:p>
            <a:pPr lvl="0"/>
            <a:r>
              <a:rPr lang="ja-JP" altLang="ja-JP" b="1" dirty="0"/>
              <a:t>Object-Oriented</a:t>
            </a:r>
            <a:endParaRPr lang="ja-JP" altLang="ja-JP" dirty="0"/>
          </a:p>
          <a:p>
            <a:pPr lvl="1"/>
            <a:r>
              <a:rPr lang="ja-JP" altLang="ja-JP" dirty="0"/>
              <a:t>Mọi thứ trong Java là đối tượng, tăng khả năng tái sử dụng và mở rộng.</a:t>
            </a:r>
          </a:p>
          <a:p>
            <a:pPr lvl="0"/>
            <a:r>
              <a:rPr lang="ja-JP" altLang="ja-JP" b="1" dirty="0"/>
              <a:t>Multithreaded &amp; Performance</a:t>
            </a:r>
            <a:endParaRPr lang="ja-JP" altLang="ja-JP" dirty="0"/>
          </a:p>
          <a:p>
            <a:pPr lvl="1"/>
            <a:r>
              <a:rPr lang="ja-JP" altLang="ja-JP" dirty="0"/>
              <a:t>Hỗ trợ đa luồng (multi-threading) tích hợp sẵn.</a:t>
            </a:r>
          </a:p>
          <a:p>
            <a:pPr lvl="1"/>
            <a:r>
              <a:rPr lang="ja-JP" altLang="ja-JP" dirty="0"/>
              <a:t>Tối ưu hóa hiệu năng qua JIT (Just-In-Time Compiler).</a:t>
            </a:r>
          </a:p>
          <a:p>
            <a:endParaRPr kumimoji="1" lang="ja-JP" altLang="en-US" dirty="0"/>
          </a:p>
        </p:txBody>
      </p:sp>
      <p:sp>
        <p:nvSpPr>
          <p:cNvPr id="4" name="Slide Number Placeholder 3">
            <a:extLst>
              <a:ext uri="{FF2B5EF4-FFF2-40B4-BE49-F238E27FC236}">
                <a16:creationId xmlns:a16="http://schemas.microsoft.com/office/drawing/2014/main" id="{8E0AF3F1-8683-D9F5-2658-92314AC2A235}"/>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9</a:t>
            </a:fld>
            <a:endParaRPr lang="en-US" altLang="ja-JP"/>
          </a:p>
        </p:txBody>
      </p:sp>
    </p:spTree>
    <p:extLst>
      <p:ext uri="{BB962C8B-B14F-4D97-AF65-F5344CB8AC3E}">
        <p14:creationId xmlns:p14="http://schemas.microsoft.com/office/powerpoint/2010/main" val="37519068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85BFE-8A6D-2ACD-7BF0-F8A520BD277A}"/>
              </a:ext>
            </a:extLst>
          </p:cNvPr>
          <p:cNvSpPr>
            <a:spLocks noGrp="1"/>
          </p:cNvSpPr>
          <p:nvPr>
            <p:ph type="title"/>
          </p:nvPr>
        </p:nvSpPr>
        <p:spPr/>
        <p:txBody>
          <a:bodyPr>
            <a:normAutofit fontScale="90000"/>
          </a:bodyPr>
          <a:lstStyle/>
          <a:p>
            <a:r>
              <a:rPr lang="en-US" altLang="ja-JP" dirty="0" err="1"/>
              <a:t>Đặc</a:t>
            </a:r>
            <a:r>
              <a:rPr lang="en-US" altLang="ja-JP" dirty="0"/>
              <a:t> </a:t>
            </a:r>
            <a:r>
              <a:rPr lang="en-US" altLang="ja-JP" dirty="0" err="1"/>
              <a:t>trưng</a:t>
            </a:r>
            <a:r>
              <a:rPr lang="en-US" altLang="ja-JP" dirty="0"/>
              <a:t> </a:t>
            </a:r>
            <a:r>
              <a:rPr lang="en-US" altLang="ja-JP" dirty="0" err="1"/>
              <a:t>của</a:t>
            </a:r>
            <a:r>
              <a:rPr lang="en-US" altLang="ja-JP" dirty="0"/>
              <a:t> JAVA</a:t>
            </a:r>
            <a:endParaRPr kumimoji="1" lang="ja-JP" altLang="en-US" dirty="0"/>
          </a:p>
        </p:txBody>
      </p:sp>
      <p:sp>
        <p:nvSpPr>
          <p:cNvPr id="3" name="Content Placeholder 2">
            <a:extLst>
              <a:ext uri="{FF2B5EF4-FFF2-40B4-BE49-F238E27FC236}">
                <a16:creationId xmlns:a16="http://schemas.microsoft.com/office/drawing/2014/main" id="{EE3B5EF6-0ED8-919C-9054-6D1F24602614}"/>
              </a:ext>
            </a:extLst>
          </p:cNvPr>
          <p:cNvSpPr>
            <a:spLocks noGrp="1"/>
          </p:cNvSpPr>
          <p:nvPr>
            <p:ph idx="1"/>
          </p:nvPr>
        </p:nvSpPr>
        <p:spPr>
          <a:xfrm>
            <a:off x="256928" y="1110436"/>
            <a:ext cx="9649072" cy="5214164"/>
          </a:xfrm>
        </p:spPr>
        <p:txBody>
          <a:bodyPr>
            <a:normAutofit fontScale="92500"/>
          </a:bodyPr>
          <a:lstStyle/>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pPr marL="0" indent="0">
              <a:buNone/>
            </a:pPr>
            <a:endParaRPr lang="en-US" altLang="ja-JP" sz="2400" dirty="0">
              <a:ea typeface="MS UI Gothic" panose="020B0600070205080204" pitchFamily="50" charset="-128"/>
            </a:endParaRPr>
          </a:p>
          <a:p>
            <a:r>
              <a:rPr lang="en-US" altLang="ja-JP" sz="2400" dirty="0">
                <a:ea typeface="MS UI Gothic" panose="020B0600070205080204" pitchFamily="50" charset="-128"/>
              </a:rPr>
              <a:t>Multi platform: </a:t>
            </a:r>
            <a:r>
              <a:rPr lang="en-US" altLang="ja-JP" sz="2400" dirty="0" err="1">
                <a:latin typeface="Arial" panose="020B0604020202020204" pitchFamily="34" charset="0"/>
              </a:rPr>
              <a:t>Ngôn</a:t>
            </a:r>
            <a:r>
              <a:rPr lang="en-US" altLang="ja-JP" sz="2400" dirty="0">
                <a:latin typeface="Arial" panose="020B0604020202020204" pitchFamily="34" charset="0"/>
              </a:rPr>
              <a:t> </a:t>
            </a:r>
            <a:r>
              <a:rPr lang="en-US" altLang="ja-JP" sz="2400" dirty="0" err="1">
                <a:latin typeface="Arial" panose="020B0604020202020204" pitchFamily="34" charset="0"/>
              </a:rPr>
              <a:t>ngữ</a:t>
            </a:r>
            <a:r>
              <a:rPr lang="en-US" altLang="ja-JP" sz="2400" dirty="0">
                <a:latin typeface="Arial" panose="020B0604020202020204" pitchFamily="34" charset="0"/>
              </a:rPr>
              <a:t> Java </a:t>
            </a:r>
            <a:r>
              <a:rPr lang="en-US" altLang="ja-JP" sz="2400" dirty="0" err="1">
                <a:latin typeface="Arial" panose="020B0604020202020204" pitchFamily="34" charset="0"/>
              </a:rPr>
              <a:t>là</a:t>
            </a:r>
            <a:r>
              <a:rPr lang="en-US" altLang="ja-JP" sz="2400" dirty="0">
                <a:latin typeface="Arial" panose="020B0604020202020204" pitchFamily="34" charset="0"/>
              </a:rPr>
              <a:t> </a:t>
            </a:r>
            <a:r>
              <a:rPr lang="en-US" altLang="ja-JP" sz="2400" dirty="0" err="1">
                <a:latin typeface="Arial" panose="020B0604020202020204" pitchFamily="34" charset="0"/>
              </a:rPr>
              <a:t>ngôn</a:t>
            </a:r>
            <a:r>
              <a:rPr lang="en-US" altLang="ja-JP" sz="2400" dirty="0">
                <a:latin typeface="Arial" panose="020B0604020202020204" pitchFamily="34" charset="0"/>
              </a:rPr>
              <a:t> </a:t>
            </a:r>
            <a:r>
              <a:rPr lang="en-US" altLang="ja-JP" sz="2400" dirty="0" err="1">
                <a:latin typeface="Arial" panose="020B0604020202020204" pitchFamily="34" charset="0"/>
              </a:rPr>
              <a:t>ngữ</a:t>
            </a:r>
            <a:r>
              <a:rPr lang="en-US" altLang="ja-JP" sz="2400" dirty="0">
                <a:latin typeface="Arial" panose="020B0604020202020204" pitchFamily="34" charset="0"/>
              </a:rPr>
              <a:t> </a:t>
            </a:r>
            <a:r>
              <a:rPr lang="en-US" altLang="ja-JP" sz="2400" dirty="0" err="1">
                <a:latin typeface="Arial" panose="020B0604020202020204" pitchFamily="34" charset="0"/>
              </a:rPr>
              <a:t>hướng</a:t>
            </a:r>
            <a:r>
              <a:rPr lang="en-US" altLang="ja-JP" sz="2400" dirty="0">
                <a:latin typeface="Arial" panose="020B0604020202020204" pitchFamily="34" charset="0"/>
              </a:rPr>
              <a:t> </a:t>
            </a:r>
            <a:r>
              <a:rPr lang="en-US" altLang="ja-JP" sz="2400" dirty="0" err="1">
                <a:latin typeface="Arial" panose="020B0604020202020204" pitchFamily="34" charset="0"/>
              </a:rPr>
              <a:t>đối</a:t>
            </a:r>
            <a:r>
              <a:rPr lang="en-US" altLang="ja-JP" sz="2400" dirty="0">
                <a:latin typeface="Arial" panose="020B0604020202020204" pitchFamily="34" charset="0"/>
              </a:rPr>
              <a:t> </a:t>
            </a:r>
            <a:r>
              <a:rPr lang="en-US" altLang="ja-JP" sz="2400" dirty="0" err="1">
                <a:latin typeface="Arial" panose="020B0604020202020204" pitchFamily="34" charset="0"/>
              </a:rPr>
              <a:t>tượng</a:t>
            </a:r>
            <a:r>
              <a:rPr lang="en-US" altLang="ja-JP" sz="2400" dirty="0">
                <a:latin typeface="Arial" panose="020B0604020202020204" pitchFamily="34" charset="0"/>
              </a:rPr>
              <a:t> </a:t>
            </a:r>
            <a:r>
              <a:rPr lang="en-US" altLang="ja-JP" sz="2400" dirty="0" err="1">
                <a:latin typeface="Arial" panose="020B0604020202020204" pitchFamily="34" charset="0"/>
              </a:rPr>
              <a:t>không</a:t>
            </a:r>
            <a:r>
              <a:rPr lang="en-US" altLang="ja-JP" sz="2400" dirty="0">
                <a:latin typeface="Arial" panose="020B0604020202020204" pitchFamily="34" charset="0"/>
              </a:rPr>
              <a:t> </a:t>
            </a:r>
            <a:r>
              <a:rPr lang="en-US" altLang="ja-JP" sz="2400" dirty="0" err="1">
                <a:latin typeface="Arial" panose="020B0604020202020204" pitchFamily="34" charset="0"/>
              </a:rPr>
              <a:t>phụ</a:t>
            </a:r>
            <a:r>
              <a:rPr lang="en-US" altLang="ja-JP" sz="2400" dirty="0">
                <a:latin typeface="Arial" panose="020B0604020202020204" pitchFamily="34" charset="0"/>
              </a:rPr>
              <a:t> </a:t>
            </a:r>
            <a:r>
              <a:rPr lang="en-US" altLang="ja-JP" sz="2400" dirty="0" err="1">
                <a:latin typeface="Arial" panose="020B0604020202020204" pitchFamily="34" charset="0"/>
              </a:rPr>
              <a:t>thuộc</a:t>
            </a:r>
            <a:r>
              <a:rPr lang="en-US" altLang="ja-JP" sz="2400" dirty="0">
                <a:latin typeface="Arial" panose="020B0604020202020204" pitchFamily="34" charset="0"/>
              </a:rPr>
              <a:t> </a:t>
            </a:r>
            <a:r>
              <a:rPr lang="en-US" altLang="ja-JP" sz="2400" dirty="0" err="1">
                <a:latin typeface="Arial" panose="020B0604020202020204" pitchFamily="34" charset="0"/>
              </a:rPr>
              <a:t>vào</a:t>
            </a:r>
            <a:r>
              <a:rPr lang="en-US" altLang="ja-JP" sz="2400" dirty="0">
                <a:latin typeface="Arial" panose="020B0604020202020204" pitchFamily="34" charset="0"/>
              </a:rPr>
              <a:t> platform (</a:t>
            </a:r>
            <a:r>
              <a:rPr lang="en-US" altLang="ja-JP" sz="2400" dirty="0" err="1">
                <a:latin typeface="Arial" panose="020B0604020202020204" pitchFamily="34" charset="0"/>
              </a:rPr>
              <a:t>Là</a:t>
            </a:r>
            <a:r>
              <a:rPr lang="en-US" altLang="ja-JP" sz="2400" dirty="0">
                <a:latin typeface="Arial" panose="020B0604020202020204" pitchFamily="34" charset="0"/>
              </a:rPr>
              <a:t> </a:t>
            </a:r>
            <a:r>
              <a:rPr lang="en-US" altLang="ja-JP" sz="2400" dirty="0" err="1">
                <a:latin typeface="Arial" panose="020B0604020202020204" pitchFamily="34" charset="0"/>
              </a:rPr>
              <a:t>môi</a:t>
            </a:r>
            <a:r>
              <a:rPr lang="en-US" altLang="ja-JP" sz="2400" dirty="0">
                <a:latin typeface="Arial" panose="020B0604020202020204" pitchFamily="34" charset="0"/>
              </a:rPr>
              <a:t> </a:t>
            </a:r>
            <a:r>
              <a:rPr lang="en-US" altLang="ja-JP" sz="2400" dirty="0" err="1">
                <a:latin typeface="Arial" panose="020B0604020202020204" pitchFamily="34" charset="0"/>
              </a:rPr>
              <a:t>trường</a:t>
            </a:r>
            <a:r>
              <a:rPr lang="en-US" altLang="ja-JP" sz="2400" dirty="0">
                <a:latin typeface="Arial" panose="020B0604020202020204" pitchFamily="34" charset="0"/>
              </a:rPr>
              <a:t> </a:t>
            </a:r>
            <a:r>
              <a:rPr lang="en-US" altLang="ja-JP" sz="2400" dirty="0" err="1">
                <a:latin typeface="Arial" panose="020B0604020202020204" pitchFamily="34" charset="0"/>
              </a:rPr>
              <a:t>thực</a:t>
            </a:r>
            <a:r>
              <a:rPr lang="en-US" altLang="ja-JP" sz="2400" dirty="0">
                <a:latin typeface="Arial" panose="020B0604020202020204" pitchFamily="34" charset="0"/>
              </a:rPr>
              <a:t> </a:t>
            </a:r>
            <a:r>
              <a:rPr lang="en-US" altLang="ja-JP" sz="2400" dirty="0" err="1">
                <a:latin typeface="Arial" panose="020B0604020202020204" pitchFamily="34" charset="0"/>
              </a:rPr>
              <a:t>thi</a:t>
            </a:r>
            <a:r>
              <a:rPr lang="en-US" altLang="ja-JP" sz="2400" dirty="0">
                <a:latin typeface="Arial" panose="020B0604020202020204" pitchFamily="34" charset="0"/>
              </a:rPr>
              <a:t> bao </a:t>
            </a:r>
            <a:r>
              <a:rPr lang="en-US" altLang="ja-JP" sz="2400" dirty="0" err="1">
                <a:latin typeface="Arial" panose="020B0604020202020204" pitchFamily="34" charset="0"/>
              </a:rPr>
              <a:t>gồm</a:t>
            </a:r>
            <a:r>
              <a:rPr lang="en-US" altLang="ja-JP" sz="2400" dirty="0">
                <a:latin typeface="Arial" panose="020B0604020202020204" pitchFamily="34" charset="0"/>
              </a:rPr>
              <a:t> hardware, OS </a:t>
            </a:r>
            <a:r>
              <a:rPr lang="en-US" altLang="ja-JP" sz="2400" dirty="0" err="1">
                <a:latin typeface="Arial" panose="020B0604020202020204" pitchFamily="34" charset="0"/>
              </a:rPr>
              <a:t>là</a:t>
            </a:r>
            <a:r>
              <a:rPr lang="en-US" altLang="ja-JP" sz="2400" dirty="0">
                <a:latin typeface="Arial" panose="020B0604020202020204" pitchFamily="34" charset="0"/>
              </a:rPr>
              <a:t> </a:t>
            </a:r>
            <a:r>
              <a:rPr lang="en-US" altLang="ja-JP" sz="2400" dirty="0" err="1">
                <a:latin typeface="Arial" panose="020B0604020202020204" pitchFamily="34" charset="0"/>
              </a:rPr>
              <a:t>nền</a:t>
            </a:r>
            <a:r>
              <a:rPr lang="en-US" altLang="ja-JP" sz="2400" dirty="0">
                <a:latin typeface="Arial" panose="020B0604020202020204" pitchFamily="34" charset="0"/>
              </a:rPr>
              <a:t> </a:t>
            </a:r>
            <a:r>
              <a:rPr lang="en-US" altLang="ja-JP" sz="2400" dirty="0" err="1">
                <a:latin typeface="Arial" panose="020B0604020202020204" pitchFamily="34" charset="0"/>
              </a:rPr>
              <a:t>tảng</a:t>
            </a:r>
            <a:r>
              <a:rPr lang="en-US" altLang="ja-JP" sz="2400" dirty="0">
                <a:latin typeface="Arial" panose="020B0604020202020204" pitchFamily="34" charset="0"/>
              </a:rPr>
              <a:t> </a:t>
            </a:r>
            <a:r>
              <a:rPr lang="en-US" altLang="ja-JP" sz="2400" dirty="0" err="1">
                <a:latin typeface="Arial" panose="020B0604020202020204" pitchFamily="34" charset="0"/>
              </a:rPr>
              <a:t>cần</a:t>
            </a:r>
            <a:r>
              <a:rPr lang="en-US" altLang="ja-JP" sz="2400" dirty="0">
                <a:latin typeface="Arial" panose="020B0604020202020204" pitchFamily="34" charset="0"/>
              </a:rPr>
              <a:t> </a:t>
            </a:r>
            <a:r>
              <a:rPr lang="en-US" altLang="ja-JP" sz="2400" dirty="0" err="1">
                <a:latin typeface="Arial" panose="020B0604020202020204" pitchFamily="34" charset="0"/>
              </a:rPr>
              <a:t>thiết</a:t>
            </a:r>
            <a:r>
              <a:rPr lang="en-US" altLang="ja-JP" sz="2400" dirty="0">
                <a:latin typeface="Arial" panose="020B0604020202020204" pitchFamily="34" charset="0"/>
              </a:rPr>
              <a:t> </a:t>
            </a:r>
            <a:r>
              <a:rPr lang="en-US" altLang="ja-JP" sz="2400" dirty="0" err="1">
                <a:latin typeface="Arial" panose="020B0604020202020204" pitchFamily="34" charset="0"/>
              </a:rPr>
              <a:t>cho</a:t>
            </a:r>
            <a:r>
              <a:rPr lang="en-US" altLang="ja-JP" sz="2400" dirty="0">
                <a:latin typeface="Arial" panose="020B0604020202020204" pitchFamily="34" charset="0"/>
              </a:rPr>
              <a:t> </a:t>
            </a:r>
            <a:r>
              <a:rPr lang="en-US" altLang="ja-JP" sz="2400" dirty="0" err="1">
                <a:latin typeface="Arial" panose="020B0604020202020204" pitchFamily="34" charset="0"/>
              </a:rPr>
              <a:t>việc</a:t>
            </a:r>
            <a:r>
              <a:rPr lang="en-US" altLang="ja-JP" sz="2400" dirty="0">
                <a:latin typeface="Arial" panose="020B0604020202020204" pitchFamily="34" charset="0"/>
              </a:rPr>
              <a:t> </a:t>
            </a:r>
            <a:r>
              <a:rPr lang="en-US" altLang="ja-JP" sz="2400" dirty="0" err="1">
                <a:latin typeface="Arial" panose="020B0604020202020204" pitchFamily="34" charset="0"/>
              </a:rPr>
              <a:t>chạy</a:t>
            </a:r>
            <a:r>
              <a:rPr lang="en-US" altLang="ja-JP" sz="2400" dirty="0">
                <a:latin typeface="Arial" panose="020B0604020202020204" pitchFamily="34" charset="0"/>
              </a:rPr>
              <a:t> application).</a:t>
            </a:r>
          </a:p>
          <a:p>
            <a:pPr marL="0" indent="0"/>
            <a:r>
              <a:rPr lang="ja-JP" altLang="en-US" sz="2400" dirty="0">
                <a:latin typeface="Arial" panose="020B0604020202020204" pitchFamily="34" charset="0"/>
              </a:rPr>
              <a:t>　</a:t>
            </a:r>
            <a:r>
              <a:rPr lang="en-US" altLang="ja-JP" sz="2400" dirty="0" err="1">
                <a:latin typeface="Arial" panose="020B0604020202020204" pitchFamily="34" charset="0"/>
              </a:rPr>
              <a:t>Gọi</a:t>
            </a:r>
            <a:r>
              <a:rPr lang="en-US" altLang="ja-JP" sz="2400" dirty="0">
                <a:latin typeface="Arial" panose="020B0604020202020204" pitchFamily="34" charset="0"/>
              </a:rPr>
              <a:t> </a:t>
            </a:r>
            <a:r>
              <a:rPr lang="en-US" altLang="ja-JP" sz="2400" dirty="0" err="1">
                <a:latin typeface="Arial" panose="020B0604020202020204" pitchFamily="34" charset="0"/>
              </a:rPr>
              <a:t>việc</a:t>
            </a:r>
            <a:r>
              <a:rPr lang="en-US" altLang="ja-JP" sz="2400" dirty="0">
                <a:latin typeface="Arial" panose="020B0604020202020204" pitchFamily="34" charset="0"/>
              </a:rPr>
              <a:t> </a:t>
            </a:r>
            <a:r>
              <a:rPr lang="en-US" altLang="ja-JP" sz="2400" dirty="0" err="1">
                <a:latin typeface="Arial" panose="020B0604020202020204" pitchFamily="34" charset="0"/>
              </a:rPr>
              <a:t>có</a:t>
            </a:r>
            <a:r>
              <a:rPr lang="en-US" altLang="ja-JP" sz="2400" dirty="0">
                <a:latin typeface="Arial" panose="020B0604020202020204" pitchFamily="34" charset="0"/>
              </a:rPr>
              <a:t> </a:t>
            </a:r>
            <a:r>
              <a:rPr lang="en-US" altLang="ja-JP" sz="2400" dirty="0" err="1">
                <a:latin typeface="Arial" panose="020B0604020202020204" pitchFamily="34" charset="0"/>
              </a:rPr>
              <a:t>thể</a:t>
            </a:r>
            <a:r>
              <a:rPr lang="en-US" altLang="ja-JP" sz="2400" dirty="0">
                <a:latin typeface="Arial" panose="020B0604020202020204" pitchFamily="34" charset="0"/>
              </a:rPr>
              <a:t> </a:t>
            </a:r>
            <a:r>
              <a:rPr lang="en-US" altLang="ja-JP" sz="2400" dirty="0" err="1">
                <a:latin typeface="Arial" panose="020B0604020202020204" pitchFamily="34" charset="0"/>
              </a:rPr>
              <a:t>sử</a:t>
            </a:r>
            <a:r>
              <a:rPr lang="en-US" altLang="ja-JP" sz="2400" dirty="0">
                <a:latin typeface="Arial" panose="020B0604020202020204" pitchFamily="34" charset="0"/>
              </a:rPr>
              <a:t> </a:t>
            </a:r>
            <a:r>
              <a:rPr lang="en-US" altLang="ja-JP" sz="2400" dirty="0" err="1">
                <a:latin typeface="Arial" panose="020B0604020202020204" pitchFamily="34" charset="0"/>
              </a:rPr>
              <a:t>dụng</a:t>
            </a:r>
            <a:r>
              <a:rPr lang="en-US" altLang="ja-JP" sz="2400" dirty="0">
                <a:latin typeface="Arial" panose="020B0604020202020204" pitchFamily="34" charset="0"/>
              </a:rPr>
              <a:t> </a:t>
            </a:r>
            <a:r>
              <a:rPr lang="en-US" altLang="ja-JP" sz="2400" dirty="0" err="1">
                <a:latin typeface="Arial" panose="020B0604020202020204" pitchFamily="34" charset="0"/>
              </a:rPr>
              <a:t>trong</a:t>
            </a:r>
            <a:r>
              <a:rPr lang="en-US" altLang="ja-JP" sz="2400" dirty="0">
                <a:latin typeface="Arial" panose="020B0604020202020204" pitchFamily="34" charset="0"/>
              </a:rPr>
              <a:t> </a:t>
            </a:r>
            <a:r>
              <a:rPr lang="en-US" altLang="ja-JP" sz="2400" dirty="0" err="1">
                <a:latin typeface="Arial" panose="020B0604020202020204" pitchFamily="34" charset="0"/>
              </a:rPr>
              <a:t>nhiều</a:t>
            </a:r>
            <a:r>
              <a:rPr lang="en-US" altLang="ja-JP" sz="2400" dirty="0">
                <a:latin typeface="Arial" panose="020B0604020202020204" pitchFamily="34" charset="0"/>
              </a:rPr>
              <a:t> platform </a:t>
            </a:r>
            <a:r>
              <a:rPr lang="en-US" altLang="ja-JP" sz="2400" dirty="0" err="1">
                <a:latin typeface="Arial" panose="020B0604020202020204" pitchFamily="34" charset="0"/>
              </a:rPr>
              <a:t>khác</a:t>
            </a:r>
            <a:r>
              <a:rPr lang="en-US" altLang="ja-JP" sz="2400" dirty="0">
                <a:latin typeface="Arial" panose="020B0604020202020204" pitchFamily="34" charset="0"/>
              </a:rPr>
              <a:t> </a:t>
            </a:r>
            <a:r>
              <a:rPr lang="en-US" altLang="ja-JP" sz="2400" dirty="0" err="1">
                <a:latin typeface="Arial" panose="020B0604020202020204" pitchFamily="34" charset="0"/>
              </a:rPr>
              <a:t>nhau</a:t>
            </a:r>
            <a:r>
              <a:rPr lang="en-US" altLang="ja-JP" sz="2400" dirty="0">
                <a:latin typeface="Arial" panose="020B0604020202020204" pitchFamily="34" charset="0"/>
              </a:rPr>
              <a:t> </a:t>
            </a:r>
            <a:r>
              <a:rPr lang="en-US" altLang="ja-JP" sz="2400" dirty="0" err="1">
                <a:latin typeface="Arial" panose="020B0604020202020204" pitchFamily="34" charset="0"/>
              </a:rPr>
              <a:t>là</a:t>
            </a:r>
            <a:r>
              <a:rPr lang="ja-JP" altLang="en-US" sz="2400" dirty="0">
                <a:latin typeface="Arial" panose="020B0604020202020204" pitchFamily="34" charset="0"/>
              </a:rPr>
              <a:t>「</a:t>
            </a:r>
            <a:r>
              <a:rPr lang="en-US" altLang="ja-JP" sz="2400" dirty="0">
                <a:latin typeface="Arial" panose="020B0604020202020204" pitchFamily="34" charset="0"/>
              </a:rPr>
              <a:t>multiplatform</a:t>
            </a:r>
            <a:r>
              <a:rPr lang="ja-JP" altLang="en-US" sz="2400" dirty="0">
                <a:latin typeface="Arial" panose="020B0604020202020204" pitchFamily="34" charset="0"/>
              </a:rPr>
              <a:t>」</a:t>
            </a:r>
            <a:r>
              <a:rPr lang="en-US" altLang="ja-JP" sz="2400" dirty="0">
                <a:latin typeface="Arial" panose="020B0604020202020204" pitchFamily="34" charset="0"/>
              </a:rPr>
              <a:t>.</a:t>
            </a:r>
          </a:p>
          <a:p>
            <a:endParaRPr kumimoji="1" lang="ja-JP" altLang="en-US" sz="2400" dirty="0"/>
          </a:p>
        </p:txBody>
      </p:sp>
      <p:sp>
        <p:nvSpPr>
          <p:cNvPr id="4" name="Slide Number Placeholder 3">
            <a:extLst>
              <a:ext uri="{FF2B5EF4-FFF2-40B4-BE49-F238E27FC236}">
                <a16:creationId xmlns:a16="http://schemas.microsoft.com/office/drawing/2014/main" id="{78EA612F-FAD3-A8B8-3CA8-9B0C9303EE71}"/>
              </a:ext>
            </a:extLst>
          </p:cNvPr>
          <p:cNvSpPr>
            <a:spLocks noGrp="1"/>
          </p:cNvSpPr>
          <p:nvPr>
            <p:ph type="sldNum" sz="quarter" idx="11"/>
          </p:nvPr>
        </p:nvSpPr>
        <p:spPr>
          <a:xfrm>
            <a:off x="5097463" y="8739957"/>
            <a:ext cx="2063750" cy="204787"/>
          </a:xfrm>
        </p:spPr>
        <p:txBody>
          <a:bodyPr/>
          <a:lstStyle/>
          <a:p>
            <a:pPr>
              <a:defRPr/>
            </a:pPr>
            <a:r>
              <a:rPr lang="en-US" altLang="ja-JP"/>
              <a:t>Page:</a:t>
            </a:r>
            <a:r>
              <a:rPr lang="ja-JP" altLang="en-US"/>
              <a:t> </a:t>
            </a:r>
            <a:fld id="{DC07468E-517B-4E9D-8840-A4568A307980}" type="slidenum">
              <a:rPr lang="en-US" altLang="ja-JP" smtClean="0"/>
              <a:pPr>
                <a:defRPr/>
              </a:pPr>
              <a:t>10</a:t>
            </a:fld>
            <a:endParaRPr lang="en-US" altLang="ja-JP"/>
          </a:p>
        </p:txBody>
      </p:sp>
      <p:grpSp>
        <p:nvGrpSpPr>
          <p:cNvPr id="5" name="Group 4">
            <a:extLst>
              <a:ext uri="{FF2B5EF4-FFF2-40B4-BE49-F238E27FC236}">
                <a16:creationId xmlns:a16="http://schemas.microsoft.com/office/drawing/2014/main" id="{CE3AE0FF-BAE1-5434-C42B-1B75C043D2E8}"/>
              </a:ext>
            </a:extLst>
          </p:cNvPr>
          <p:cNvGrpSpPr/>
          <p:nvPr/>
        </p:nvGrpSpPr>
        <p:grpSpPr>
          <a:xfrm>
            <a:off x="381000" y="1110436"/>
            <a:ext cx="9144000" cy="3461564"/>
            <a:chOff x="381000" y="3458344"/>
            <a:chExt cx="9144000" cy="2895600"/>
          </a:xfrm>
        </p:grpSpPr>
        <p:sp>
          <p:nvSpPr>
            <p:cNvPr id="12" name="Rectangle 77">
              <a:extLst>
                <a:ext uri="{FF2B5EF4-FFF2-40B4-BE49-F238E27FC236}">
                  <a16:creationId xmlns:a16="http://schemas.microsoft.com/office/drawing/2014/main" id="{87523E14-99D5-44E0-3CCD-B1EBC3FAC2F1}"/>
                </a:ext>
              </a:extLst>
            </p:cNvPr>
            <p:cNvSpPr>
              <a:spLocks noChangeArrowheads="1"/>
            </p:cNvSpPr>
            <p:nvPr/>
          </p:nvSpPr>
          <p:spPr bwMode="auto">
            <a:xfrm>
              <a:off x="381000" y="3458344"/>
              <a:ext cx="9144000" cy="2895600"/>
            </a:xfrm>
            <a:prstGeom prst="rect">
              <a:avLst/>
            </a:prstGeom>
            <a:solidFill>
              <a:srgbClr val="99CCFF">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1" tIns="45707" rIns="91411" bIns="45707" anchor="ctr"/>
            <a:lstStyle/>
            <a:p>
              <a:pPr algn="ctr"/>
              <a:endParaRPr lang="en-US" altLang="ja-JP" b="0"/>
            </a:p>
          </p:txBody>
        </p:sp>
        <p:sp>
          <p:nvSpPr>
            <p:cNvPr id="16" name="AutoShape 106">
              <a:extLst>
                <a:ext uri="{FF2B5EF4-FFF2-40B4-BE49-F238E27FC236}">
                  <a16:creationId xmlns:a16="http://schemas.microsoft.com/office/drawing/2014/main" id="{61BFA9AE-5503-2A08-A0B7-4F1449F26FC3}"/>
                </a:ext>
              </a:extLst>
            </p:cNvPr>
            <p:cNvSpPr>
              <a:spLocks noChangeArrowheads="1"/>
            </p:cNvSpPr>
            <p:nvPr/>
          </p:nvSpPr>
          <p:spPr bwMode="auto">
            <a:xfrm>
              <a:off x="457200" y="3993332"/>
              <a:ext cx="2667000" cy="1157288"/>
            </a:xfrm>
            <a:prstGeom prst="roundRect">
              <a:avLst>
                <a:gd name="adj" fmla="val 16667"/>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727" tIns="46863" rIns="93727" bIns="46863" anchor="ctr"/>
            <a:lstStyle>
              <a:lvl1pPr defTabSz="938213">
                <a:defRPr kumimoji="1">
                  <a:solidFill>
                    <a:schemeClr val="tx1"/>
                  </a:solidFill>
                  <a:latin typeface="Arial" panose="020B0604020202020204" pitchFamily="34" charset="0"/>
                  <a:ea typeface="ＭＳ Ｐゴシック" panose="020B0600070205080204" pitchFamily="50" charset="-128"/>
                </a:defRPr>
              </a:lvl1pPr>
              <a:lvl2pPr marL="468313" defTabSz="938213">
                <a:defRPr kumimoji="1">
                  <a:solidFill>
                    <a:schemeClr val="tx1"/>
                  </a:solidFill>
                  <a:latin typeface="Arial" panose="020B0604020202020204" pitchFamily="34" charset="0"/>
                  <a:ea typeface="ＭＳ Ｐゴシック" panose="020B0600070205080204" pitchFamily="50" charset="-128"/>
                </a:defRPr>
              </a:lvl2pPr>
              <a:lvl3pPr marL="938213" defTabSz="938213">
                <a:defRPr kumimoji="1">
                  <a:solidFill>
                    <a:schemeClr val="tx1"/>
                  </a:solidFill>
                  <a:latin typeface="Arial" panose="020B0604020202020204" pitchFamily="34" charset="0"/>
                  <a:ea typeface="ＭＳ Ｐゴシック" panose="020B0600070205080204" pitchFamily="50" charset="-128"/>
                </a:defRPr>
              </a:lvl3pPr>
              <a:lvl4pPr marL="1406525" defTabSz="938213">
                <a:defRPr kumimoji="1">
                  <a:solidFill>
                    <a:schemeClr val="tx1"/>
                  </a:solidFill>
                  <a:latin typeface="Arial" panose="020B0604020202020204" pitchFamily="34" charset="0"/>
                  <a:ea typeface="ＭＳ Ｐゴシック" panose="020B0600070205080204" pitchFamily="50" charset="-128"/>
                </a:defRPr>
              </a:lvl4pPr>
              <a:lvl5pPr marL="1873250" defTabSz="938213">
                <a:defRPr kumimoji="1">
                  <a:solidFill>
                    <a:schemeClr val="tx1"/>
                  </a:solidFill>
                  <a:latin typeface="Arial" panose="020B0604020202020204" pitchFamily="34" charset="0"/>
                  <a:ea typeface="ＭＳ Ｐゴシック" panose="020B0600070205080204" pitchFamily="50" charset="-128"/>
                </a:defRPr>
              </a:lvl5pPr>
              <a:lvl6pPr marL="23304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876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448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20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600" dirty="0" err="1">
                  <a:ea typeface="MS UI Gothic" panose="020B0600070205080204" pitchFamily="50" charset="-128"/>
                </a:rPr>
                <a:t>Ngôn</a:t>
              </a:r>
              <a:r>
                <a:rPr lang="en-US" altLang="ja-JP" sz="1600" dirty="0">
                  <a:ea typeface="MS UI Gothic" panose="020B0600070205080204" pitchFamily="50" charset="-128"/>
                </a:rPr>
                <a:t> </a:t>
              </a:r>
              <a:r>
                <a:rPr lang="en-US" altLang="ja-JP" sz="1600" dirty="0" err="1">
                  <a:ea typeface="MS UI Gothic" panose="020B0600070205080204" pitchFamily="50" charset="-128"/>
                </a:rPr>
                <a:t>ngữ</a:t>
              </a:r>
              <a:r>
                <a:rPr lang="en-US" altLang="ja-JP" sz="1600" dirty="0">
                  <a:ea typeface="MS UI Gothic" panose="020B0600070205080204" pitchFamily="50" charset="-128"/>
                </a:rPr>
                <a:t> Java</a:t>
              </a:r>
            </a:p>
          </p:txBody>
        </p:sp>
        <p:sp>
          <p:nvSpPr>
            <p:cNvPr id="18" name="AutoShape 107">
              <a:extLst>
                <a:ext uri="{FF2B5EF4-FFF2-40B4-BE49-F238E27FC236}">
                  <a16:creationId xmlns:a16="http://schemas.microsoft.com/office/drawing/2014/main" id="{26AAD485-BE60-E2E8-6AF3-394AF33AB619}"/>
                </a:ext>
              </a:extLst>
            </p:cNvPr>
            <p:cNvSpPr>
              <a:spLocks noChangeArrowheads="1"/>
            </p:cNvSpPr>
            <p:nvPr/>
          </p:nvSpPr>
          <p:spPr bwMode="auto">
            <a:xfrm>
              <a:off x="3273549" y="3993332"/>
              <a:ext cx="2971799" cy="1157288"/>
            </a:xfrm>
            <a:prstGeom prst="roundRect">
              <a:avLst>
                <a:gd name="adj" fmla="val 16667"/>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727" tIns="46863" rIns="93727" bIns="46863" anchor="ctr"/>
            <a:lstStyle>
              <a:lvl1pPr defTabSz="938213">
                <a:defRPr kumimoji="1">
                  <a:solidFill>
                    <a:schemeClr val="tx1"/>
                  </a:solidFill>
                  <a:latin typeface="Arial" panose="020B0604020202020204" pitchFamily="34" charset="0"/>
                  <a:ea typeface="ＭＳ Ｐゴシック" panose="020B0600070205080204" pitchFamily="50" charset="-128"/>
                </a:defRPr>
              </a:lvl1pPr>
              <a:lvl2pPr marL="468313" defTabSz="938213">
                <a:defRPr kumimoji="1">
                  <a:solidFill>
                    <a:schemeClr val="tx1"/>
                  </a:solidFill>
                  <a:latin typeface="Arial" panose="020B0604020202020204" pitchFamily="34" charset="0"/>
                  <a:ea typeface="ＭＳ Ｐゴシック" panose="020B0600070205080204" pitchFamily="50" charset="-128"/>
                </a:defRPr>
              </a:lvl2pPr>
              <a:lvl3pPr marL="938213" defTabSz="938213">
                <a:defRPr kumimoji="1">
                  <a:solidFill>
                    <a:schemeClr val="tx1"/>
                  </a:solidFill>
                  <a:latin typeface="Arial" panose="020B0604020202020204" pitchFamily="34" charset="0"/>
                  <a:ea typeface="ＭＳ Ｐゴシック" panose="020B0600070205080204" pitchFamily="50" charset="-128"/>
                </a:defRPr>
              </a:lvl3pPr>
              <a:lvl4pPr marL="1406525" defTabSz="938213">
                <a:defRPr kumimoji="1">
                  <a:solidFill>
                    <a:schemeClr val="tx1"/>
                  </a:solidFill>
                  <a:latin typeface="Arial" panose="020B0604020202020204" pitchFamily="34" charset="0"/>
                  <a:ea typeface="ＭＳ Ｐゴシック" panose="020B0600070205080204" pitchFamily="50" charset="-128"/>
                </a:defRPr>
              </a:lvl4pPr>
              <a:lvl5pPr marL="1873250" defTabSz="938213">
                <a:defRPr kumimoji="1">
                  <a:solidFill>
                    <a:schemeClr val="tx1"/>
                  </a:solidFill>
                  <a:latin typeface="Arial" panose="020B0604020202020204" pitchFamily="34" charset="0"/>
                  <a:ea typeface="ＭＳ Ｐゴシック" panose="020B0600070205080204" pitchFamily="50" charset="-128"/>
                </a:defRPr>
              </a:lvl5pPr>
              <a:lvl6pPr marL="23304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876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448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20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spcBef>
                  <a:spcPct val="50000"/>
                </a:spcBef>
              </a:pPr>
              <a:r>
                <a:rPr lang="en-US" altLang="ja-JP" sz="1600" dirty="0" err="1">
                  <a:ea typeface="MS UI Gothic" panose="020B0600070205080204" pitchFamily="50" charset="-128"/>
                </a:rPr>
                <a:t>Môi</a:t>
              </a:r>
              <a:r>
                <a:rPr lang="en-US" altLang="ja-JP" sz="1600" dirty="0">
                  <a:ea typeface="MS UI Gothic" panose="020B0600070205080204" pitchFamily="50" charset="-128"/>
                </a:rPr>
                <a:t> </a:t>
              </a:r>
              <a:r>
                <a:rPr lang="en-US" altLang="ja-JP" sz="1600" dirty="0" err="1">
                  <a:ea typeface="MS UI Gothic" panose="020B0600070205080204" pitchFamily="50" charset="-128"/>
                </a:rPr>
                <a:t>trường</a:t>
              </a:r>
              <a:r>
                <a:rPr lang="en-US" altLang="ja-JP" sz="1600" dirty="0">
                  <a:ea typeface="MS UI Gothic" panose="020B0600070205080204" pitchFamily="50" charset="-128"/>
                </a:rPr>
                <a:t> </a:t>
              </a:r>
            </a:p>
            <a:p>
              <a:pPr algn="ctr">
                <a:spcBef>
                  <a:spcPct val="50000"/>
                </a:spcBef>
              </a:pPr>
              <a:r>
                <a:rPr lang="en-US" altLang="ja-JP" sz="1600" dirty="0" err="1">
                  <a:ea typeface="MS UI Gothic" panose="020B0600070205080204" pitchFamily="50" charset="-128"/>
                </a:rPr>
                <a:t>thực</a:t>
              </a:r>
              <a:r>
                <a:rPr lang="en-US" altLang="ja-JP" sz="1600" dirty="0">
                  <a:ea typeface="MS UI Gothic" panose="020B0600070205080204" pitchFamily="50" charset="-128"/>
                </a:rPr>
                <a:t> </a:t>
              </a:r>
              <a:r>
                <a:rPr lang="en-US" altLang="ja-JP" sz="1600" dirty="0" err="1">
                  <a:ea typeface="MS UI Gothic" panose="020B0600070205080204" pitchFamily="50" charset="-128"/>
                </a:rPr>
                <a:t>thi</a:t>
              </a:r>
              <a:r>
                <a:rPr lang="en-US" altLang="ja-JP" sz="1600" dirty="0">
                  <a:ea typeface="MS UI Gothic" panose="020B0600070205080204" pitchFamily="50" charset="-128"/>
                </a:rPr>
                <a:t> Java</a:t>
              </a:r>
              <a:br>
                <a:rPr lang="en-US" altLang="ja-JP" sz="1600" dirty="0">
                  <a:ea typeface="MS UI Gothic" panose="020B0600070205080204" pitchFamily="50" charset="-128"/>
                </a:rPr>
              </a:br>
              <a:r>
                <a:rPr lang="en-US" altLang="ja-JP" sz="1600" dirty="0">
                  <a:ea typeface="MS UI Gothic" panose="020B0600070205080204" pitchFamily="50" charset="-128"/>
                </a:rPr>
                <a:t>(JRE)</a:t>
              </a:r>
            </a:p>
          </p:txBody>
        </p:sp>
        <p:sp>
          <p:nvSpPr>
            <p:cNvPr id="20" name="AutoShape 108">
              <a:extLst>
                <a:ext uri="{FF2B5EF4-FFF2-40B4-BE49-F238E27FC236}">
                  <a16:creationId xmlns:a16="http://schemas.microsoft.com/office/drawing/2014/main" id="{2C8C9E0F-3EEB-FB07-4BF4-47010D3C16DA}"/>
                </a:ext>
              </a:extLst>
            </p:cNvPr>
            <p:cNvSpPr>
              <a:spLocks noChangeArrowheads="1"/>
            </p:cNvSpPr>
            <p:nvPr/>
          </p:nvSpPr>
          <p:spPr bwMode="auto">
            <a:xfrm>
              <a:off x="6324600" y="3961188"/>
              <a:ext cx="2971800" cy="1157288"/>
            </a:xfrm>
            <a:prstGeom prst="roundRect">
              <a:avLst>
                <a:gd name="adj" fmla="val 16667"/>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727" tIns="46863" rIns="93727" bIns="46863" anchor="ctr"/>
            <a:lstStyle>
              <a:lvl1pPr defTabSz="938213">
                <a:defRPr kumimoji="1">
                  <a:solidFill>
                    <a:schemeClr val="tx1"/>
                  </a:solidFill>
                  <a:latin typeface="Arial" panose="020B0604020202020204" pitchFamily="34" charset="0"/>
                  <a:ea typeface="ＭＳ Ｐゴシック" panose="020B0600070205080204" pitchFamily="50" charset="-128"/>
                </a:defRPr>
              </a:lvl1pPr>
              <a:lvl2pPr marL="468313" defTabSz="938213">
                <a:defRPr kumimoji="1">
                  <a:solidFill>
                    <a:schemeClr val="tx1"/>
                  </a:solidFill>
                  <a:latin typeface="Arial" panose="020B0604020202020204" pitchFamily="34" charset="0"/>
                  <a:ea typeface="ＭＳ Ｐゴシック" panose="020B0600070205080204" pitchFamily="50" charset="-128"/>
                </a:defRPr>
              </a:lvl2pPr>
              <a:lvl3pPr marL="938213" defTabSz="938213">
                <a:defRPr kumimoji="1">
                  <a:solidFill>
                    <a:schemeClr val="tx1"/>
                  </a:solidFill>
                  <a:latin typeface="Arial" panose="020B0604020202020204" pitchFamily="34" charset="0"/>
                  <a:ea typeface="ＭＳ Ｐゴシック" panose="020B0600070205080204" pitchFamily="50" charset="-128"/>
                </a:defRPr>
              </a:lvl3pPr>
              <a:lvl4pPr marL="1406525" defTabSz="938213">
                <a:defRPr kumimoji="1">
                  <a:solidFill>
                    <a:schemeClr val="tx1"/>
                  </a:solidFill>
                  <a:latin typeface="Arial" panose="020B0604020202020204" pitchFamily="34" charset="0"/>
                  <a:ea typeface="ＭＳ Ｐゴシック" panose="020B0600070205080204" pitchFamily="50" charset="-128"/>
                </a:defRPr>
              </a:lvl4pPr>
              <a:lvl5pPr marL="1873250" defTabSz="938213">
                <a:defRPr kumimoji="1">
                  <a:solidFill>
                    <a:schemeClr val="tx1"/>
                  </a:solidFill>
                  <a:latin typeface="Arial" panose="020B0604020202020204" pitchFamily="34" charset="0"/>
                  <a:ea typeface="ＭＳ Ｐゴシック" panose="020B0600070205080204" pitchFamily="50" charset="-128"/>
                </a:defRPr>
              </a:lvl5pPr>
              <a:lvl6pPr marL="23304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876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448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20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spcBef>
                  <a:spcPct val="50000"/>
                </a:spcBef>
              </a:pPr>
              <a:r>
                <a:rPr lang="en-US" altLang="ja-JP" sz="1600" dirty="0" err="1">
                  <a:ea typeface="MS UI Gothic" panose="020B0600070205080204" pitchFamily="50" charset="-128"/>
                </a:rPr>
                <a:t>Môi</a:t>
              </a:r>
              <a:r>
                <a:rPr lang="en-US" altLang="ja-JP" sz="1600" dirty="0">
                  <a:ea typeface="MS UI Gothic" panose="020B0600070205080204" pitchFamily="50" charset="-128"/>
                </a:rPr>
                <a:t> </a:t>
              </a:r>
              <a:r>
                <a:rPr lang="en-US" altLang="ja-JP" sz="1600" dirty="0" err="1">
                  <a:ea typeface="MS UI Gothic" panose="020B0600070205080204" pitchFamily="50" charset="-128"/>
                </a:rPr>
                <a:t>trường</a:t>
              </a:r>
              <a:r>
                <a:rPr lang="en-US" altLang="ja-JP" sz="1600" dirty="0">
                  <a:ea typeface="MS UI Gothic" panose="020B0600070205080204" pitchFamily="50" charset="-128"/>
                </a:rPr>
                <a:t> </a:t>
              </a:r>
              <a:r>
                <a:rPr lang="en-US" altLang="ja-JP" sz="1600" dirty="0" err="1">
                  <a:ea typeface="MS UI Gothic" panose="020B0600070205080204" pitchFamily="50" charset="-128"/>
                </a:rPr>
                <a:t>phát</a:t>
              </a:r>
              <a:r>
                <a:rPr lang="en-US" altLang="ja-JP" sz="1600" dirty="0">
                  <a:ea typeface="MS UI Gothic" panose="020B0600070205080204" pitchFamily="50" charset="-128"/>
                </a:rPr>
                <a:t> </a:t>
              </a:r>
            </a:p>
            <a:p>
              <a:pPr algn="ctr">
                <a:spcBef>
                  <a:spcPct val="50000"/>
                </a:spcBef>
              </a:pPr>
              <a:r>
                <a:rPr lang="en-US" altLang="ja-JP" sz="1600" dirty="0" err="1">
                  <a:ea typeface="MS UI Gothic" panose="020B0600070205080204" pitchFamily="50" charset="-128"/>
                </a:rPr>
                <a:t>triển</a:t>
              </a:r>
              <a:r>
                <a:rPr lang="en-US" altLang="ja-JP" sz="1600" dirty="0">
                  <a:ea typeface="MS UI Gothic" panose="020B0600070205080204" pitchFamily="50" charset="-128"/>
                </a:rPr>
                <a:t> Java</a:t>
              </a:r>
              <a:r>
                <a:rPr lang="ja-JP" altLang="en-US" sz="1600" dirty="0">
                  <a:ea typeface="MS UI Gothic" panose="020B0600070205080204" pitchFamily="50" charset="-128"/>
                </a:rPr>
                <a:t>（</a:t>
              </a:r>
              <a:r>
                <a:rPr lang="en-US" altLang="ja-JP" sz="1600" dirty="0">
                  <a:ea typeface="MS UI Gothic" panose="020B0600070205080204" pitchFamily="50" charset="-128"/>
                </a:rPr>
                <a:t>JDK</a:t>
              </a:r>
              <a:r>
                <a:rPr lang="ja-JP" altLang="en-US" sz="1600" dirty="0">
                  <a:ea typeface="MS UI Gothic" panose="020B0600070205080204" pitchFamily="50" charset="-128"/>
                </a:rPr>
                <a:t>）</a:t>
              </a:r>
            </a:p>
          </p:txBody>
        </p:sp>
        <p:sp>
          <p:nvSpPr>
            <p:cNvPr id="22" name="AutoShape 85">
              <a:extLst>
                <a:ext uri="{FF2B5EF4-FFF2-40B4-BE49-F238E27FC236}">
                  <a16:creationId xmlns:a16="http://schemas.microsoft.com/office/drawing/2014/main" id="{05F7ED9E-A9BB-FF0C-4587-5EFAAFE20006}"/>
                </a:ext>
              </a:extLst>
            </p:cNvPr>
            <p:cNvSpPr>
              <a:spLocks noChangeArrowheads="1"/>
            </p:cNvSpPr>
            <p:nvPr/>
          </p:nvSpPr>
          <p:spPr bwMode="auto">
            <a:xfrm>
              <a:off x="457200" y="5555432"/>
              <a:ext cx="2816349" cy="611187"/>
            </a:xfrm>
            <a:prstGeom prst="wedgeRoundRectCallout">
              <a:avLst>
                <a:gd name="adj1" fmla="val 8194"/>
                <a:gd name="adj2" fmla="val -129481"/>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nchor="ctr"/>
            <a:lstStyle/>
            <a:p>
              <a:pPr algn="ctr"/>
              <a:r>
                <a:rPr lang="en-US" altLang="ja-JP" b="0" dirty="0" err="1"/>
                <a:t>Ngôn</a:t>
              </a:r>
              <a:r>
                <a:rPr lang="en-US" altLang="ja-JP" b="0" dirty="0"/>
                <a:t> </a:t>
              </a:r>
              <a:r>
                <a:rPr lang="en-US" altLang="ja-JP" b="0" dirty="0" err="1"/>
                <a:t>ngữ</a:t>
              </a:r>
              <a:r>
                <a:rPr lang="en-US" altLang="ja-JP" b="0" dirty="0"/>
                <a:t> </a:t>
              </a:r>
              <a:r>
                <a:rPr lang="en-US" altLang="ja-JP" b="0" dirty="0" err="1"/>
                <a:t>lập</a:t>
              </a:r>
              <a:r>
                <a:rPr lang="en-US" altLang="ja-JP" b="0" dirty="0"/>
                <a:t> </a:t>
              </a:r>
              <a:r>
                <a:rPr lang="en-US" altLang="ja-JP" b="0" dirty="0" err="1"/>
                <a:t>trình</a:t>
              </a:r>
              <a:r>
                <a:rPr lang="en-US" altLang="ja-JP" b="0" dirty="0"/>
                <a:t> </a:t>
              </a:r>
              <a:r>
                <a:rPr lang="en-US" altLang="ja-JP" b="0" dirty="0" err="1"/>
                <a:t>để</a:t>
              </a:r>
              <a:r>
                <a:rPr lang="en-US" altLang="ja-JP" b="0" dirty="0"/>
                <a:t> </a:t>
              </a:r>
              <a:r>
                <a:rPr lang="en-US" altLang="ja-JP" b="0" dirty="0" err="1"/>
                <a:t>mô</a:t>
              </a:r>
              <a:r>
                <a:rPr lang="en-US" altLang="ja-JP" b="0" dirty="0"/>
                <a:t> </a:t>
              </a:r>
              <a:r>
                <a:rPr lang="en-US" altLang="ja-JP" b="0" dirty="0" err="1"/>
                <a:t>tả</a:t>
              </a:r>
              <a:r>
                <a:rPr lang="en-US" altLang="ja-JP" b="0" dirty="0"/>
                <a:t> Java program</a:t>
              </a:r>
            </a:p>
          </p:txBody>
        </p:sp>
        <p:sp>
          <p:nvSpPr>
            <p:cNvPr id="24" name="AutoShape 87">
              <a:extLst>
                <a:ext uri="{FF2B5EF4-FFF2-40B4-BE49-F238E27FC236}">
                  <a16:creationId xmlns:a16="http://schemas.microsoft.com/office/drawing/2014/main" id="{1797A8AC-EF56-3FBD-9D09-C900F72EE4F2}"/>
                </a:ext>
              </a:extLst>
            </p:cNvPr>
            <p:cNvSpPr>
              <a:spLocks noChangeArrowheads="1"/>
            </p:cNvSpPr>
            <p:nvPr/>
          </p:nvSpPr>
          <p:spPr bwMode="auto">
            <a:xfrm>
              <a:off x="3346573" y="5560931"/>
              <a:ext cx="2898775" cy="609600"/>
            </a:xfrm>
            <a:prstGeom prst="wedgeRoundRectCallout">
              <a:avLst>
                <a:gd name="adj1" fmla="val 4144"/>
                <a:gd name="adj2" fmla="val -126440"/>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nchor="ctr"/>
            <a:lstStyle/>
            <a:p>
              <a:pPr algn="ctr"/>
              <a:r>
                <a:rPr lang="en-US" altLang="ja-JP" b="0"/>
                <a:t>Môi trường để thực thi Java program</a:t>
              </a:r>
            </a:p>
          </p:txBody>
        </p:sp>
        <p:sp>
          <p:nvSpPr>
            <p:cNvPr id="26" name="AutoShape 126">
              <a:extLst>
                <a:ext uri="{FF2B5EF4-FFF2-40B4-BE49-F238E27FC236}">
                  <a16:creationId xmlns:a16="http://schemas.microsoft.com/office/drawing/2014/main" id="{81B62ACE-13A9-C89C-CBCA-76907A063BA6}"/>
                </a:ext>
              </a:extLst>
            </p:cNvPr>
            <p:cNvSpPr>
              <a:spLocks noChangeArrowheads="1"/>
            </p:cNvSpPr>
            <p:nvPr/>
          </p:nvSpPr>
          <p:spPr bwMode="auto">
            <a:xfrm>
              <a:off x="6310436" y="5586855"/>
              <a:ext cx="2971800" cy="609600"/>
            </a:xfrm>
            <a:prstGeom prst="wedgeRoundRectCallout">
              <a:avLst>
                <a:gd name="adj1" fmla="val 4144"/>
                <a:gd name="adj2" fmla="val -126440"/>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nchor="ctr"/>
            <a:lstStyle/>
            <a:p>
              <a:pPr algn="ctr"/>
              <a:r>
                <a:rPr lang="en-US" altLang="ja-JP" b="0" dirty="0" err="1"/>
                <a:t>Môi</a:t>
              </a:r>
              <a:r>
                <a:rPr lang="en-US" altLang="ja-JP" b="0" dirty="0"/>
                <a:t> </a:t>
              </a:r>
              <a:r>
                <a:rPr lang="en-US" altLang="ja-JP" b="0" dirty="0" err="1"/>
                <a:t>trường</a:t>
              </a:r>
              <a:r>
                <a:rPr lang="en-US" altLang="ja-JP" b="0" dirty="0"/>
                <a:t> </a:t>
              </a:r>
              <a:r>
                <a:rPr lang="en-US" altLang="ja-JP" b="0" dirty="0" err="1"/>
                <a:t>để</a:t>
              </a:r>
              <a:r>
                <a:rPr lang="en-US" altLang="ja-JP" b="0" dirty="0"/>
                <a:t> </a:t>
              </a:r>
              <a:r>
                <a:rPr lang="en-US" altLang="ja-JP" b="0" dirty="0" err="1"/>
                <a:t>phát</a:t>
              </a:r>
              <a:r>
                <a:rPr lang="en-US" altLang="ja-JP" b="0" dirty="0"/>
                <a:t> </a:t>
              </a:r>
              <a:r>
                <a:rPr lang="en-US" altLang="ja-JP" b="0" dirty="0" err="1"/>
                <a:t>triển</a:t>
              </a:r>
              <a:r>
                <a:rPr lang="en-US" altLang="ja-JP" b="0" dirty="0"/>
                <a:t> Java program</a:t>
              </a:r>
            </a:p>
          </p:txBody>
        </p:sp>
      </p:grpSp>
    </p:spTree>
    <p:extLst>
      <p:ext uri="{BB962C8B-B14F-4D97-AF65-F5344CB8AC3E}">
        <p14:creationId xmlns:p14="http://schemas.microsoft.com/office/powerpoint/2010/main" val="1568563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97D57-5330-42C3-F007-DC1966ACE759}"/>
              </a:ext>
            </a:extLst>
          </p:cNvPr>
          <p:cNvSpPr>
            <a:spLocks noGrp="1"/>
          </p:cNvSpPr>
          <p:nvPr>
            <p:ph type="title"/>
          </p:nvPr>
        </p:nvSpPr>
        <p:spPr/>
        <p:txBody>
          <a:bodyPr>
            <a:normAutofit fontScale="90000"/>
          </a:bodyPr>
          <a:lstStyle/>
          <a:p>
            <a:r>
              <a:rPr lang="ja-JP" altLang="ja-JP" dirty="0"/>
              <a:t>Ứng dụng của Java</a:t>
            </a:r>
            <a:endParaRPr kumimoji="1" lang="ja-JP" altLang="en-US" dirty="0">
              <a:latin typeface="+mj-lt"/>
            </a:endParaRPr>
          </a:p>
        </p:txBody>
      </p:sp>
      <p:sp>
        <p:nvSpPr>
          <p:cNvPr id="3" name="Content Placeholder 2">
            <a:extLst>
              <a:ext uri="{FF2B5EF4-FFF2-40B4-BE49-F238E27FC236}">
                <a16:creationId xmlns:a16="http://schemas.microsoft.com/office/drawing/2014/main" id="{3E7D04D9-4FC0-490F-4D24-E88676A163D4}"/>
              </a:ext>
            </a:extLst>
          </p:cNvPr>
          <p:cNvSpPr>
            <a:spLocks noGrp="1"/>
          </p:cNvSpPr>
          <p:nvPr>
            <p:ph idx="1"/>
          </p:nvPr>
        </p:nvSpPr>
        <p:spPr/>
        <p:txBody>
          <a:bodyPr>
            <a:normAutofit/>
          </a:bodyPr>
          <a:lstStyle/>
          <a:p>
            <a:pPr lvl="0"/>
            <a:r>
              <a:rPr lang="ja-JP" altLang="ja-JP" dirty="0"/>
              <a:t>Ứng dụng </a:t>
            </a:r>
            <a:r>
              <a:rPr lang="ja-JP" altLang="ja-JP" b="1" dirty="0"/>
              <a:t>web</a:t>
            </a:r>
            <a:r>
              <a:rPr lang="ja-JP" altLang="ja-JP" dirty="0"/>
              <a:t>: Java EE (Servlet, JSP, Spring) </a:t>
            </a:r>
          </a:p>
          <a:p>
            <a:pPr lvl="0"/>
            <a:r>
              <a:rPr lang="ja-JP" altLang="ja-JP" dirty="0"/>
              <a:t>Ứng dụng </a:t>
            </a:r>
            <a:r>
              <a:rPr lang="ja-JP" altLang="ja-JP" b="1" dirty="0"/>
              <a:t>di động (mobile)</a:t>
            </a:r>
            <a:r>
              <a:rPr lang="ja-JP" altLang="ja-JP" dirty="0"/>
              <a:t>: Android sử dụng Java/Kotlin </a:t>
            </a:r>
          </a:p>
          <a:p>
            <a:pPr lvl="0"/>
            <a:r>
              <a:rPr lang="ja-JP" altLang="ja-JP" dirty="0"/>
              <a:t>Ứng dụng </a:t>
            </a:r>
            <a:r>
              <a:rPr lang="ja-JP" altLang="ja-JP" b="1" dirty="0"/>
              <a:t>desktop</a:t>
            </a:r>
            <a:r>
              <a:rPr lang="ja-JP" altLang="ja-JP" dirty="0"/>
              <a:t>: Swing, JavaFX </a:t>
            </a:r>
          </a:p>
          <a:p>
            <a:pPr lvl="0"/>
            <a:r>
              <a:rPr lang="ja-JP" altLang="ja-JP" dirty="0"/>
              <a:t>Ứng dụng </a:t>
            </a:r>
            <a:r>
              <a:rPr lang="ja-JP" altLang="ja-JP" b="1" dirty="0"/>
              <a:t>doanh nghiệp</a:t>
            </a:r>
            <a:r>
              <a:rPr lang="ja-JP" altLang="ja-JP" dirty="0"/>
              <a:t>: hệ thống ngân hàng, tài chính, bảo hiểm </a:t>
            </a:r>
          </a:p>
          <a:p>
            <a:pPr lvl="0"/>
            <a:r>
              <a:rPr lang="ja-JP" altLang="ja-JP" dirty="0"/>
              <a:t>Big Data &amp; Cloud: Java được dùng trong Hadoop, Spark </a:t>
            </a:r>
          </a:p>
          <a:p>
            <a:pPr lvl="0"/>
            <a:r>
              <a:rPr lang="ja-JP" altLang="ja-JP" dirty="0"/>
              <a:t>IoT &amp; nhúng: Java ME cho thiết bị nhúng</a:t>
            </a:r>
          </a:p>
        </p:txBody>
      </p:sp>
      <p:sp>
        <p:nvSpPr>
          <p:cNvPr id="4" name="Slide Number Placeholder 3">
            <a:extLst>
              <a:ext uri="{FF2B5EF4-FFF2-40B4-BE49-F238E27FC236}">
                <a16:creationId xmlns:a16="http://schemas.microsoft.com/office/drawing/2014/main" id="{FB26E164-203E-034D-18C6-B51A358836A6}"/>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11</a:t>
            </a:fld>
            <a:endParaRPr lang="en-US" altLang="ja-JP"/>
          </a:p>
        </p:txBody>
      </p:sp>
    </p:spTree>
    <p:extLst>
      <p:ext uri="{BB962C8B-B14F-4D97-AF65-F5344CB8AC3E}">
        <p14:creationId xmlns:p14="http://schemas.microsoft.com/office/powerpoint/2010/main" val="31965749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15FC6-FACF-D3AD-D99B-B2BB0278A619}"/>
              </a:ext>
            </a:extLst>
          </p:cNvPr>
          <p:cNvSpPr>
            <a:spLocks noGrp="1"/>
          </p:cNvSpPr>
          <p:nvPr>
            <p:ph type="title"/>
          </p:nvPr>
        </p:nvSpPr>
        <p:spPr/>
        <p:txBody>
          <a:bodyPr>
            <a:normAutofit fontScale="90000"/>
          </a:bodyPr>
          <a:lstStyle/>
          <a:p>
            <a:r>
              <a:rPr kumimoji="1" lang="en-US" altLang="ja-JP" dirty="0" err="1"/>
              <a:t>Việc</a:t>
            </a:r>
            <a:r>
              <a:rPr kumimoji="1" lang="en-US" altLang="ja-JP" dirty="0"/>
              <a:t> </a:t>
            </a:r>
            <a:r>
              <a:rPr kumimoji="1" lang="en-US" altLang="ja-JP" dirty="0" err="1"/>
              <a:t>làm</a:t>
            </a:r>
            <a:endParaRPr kumimoji="1" lang="ja-JP" altLang="en-US" dirty="0"/>
          </a:p>
        </p:txBody>
      </p:sp>
      <p:sp>
        <p:nvSpPr>
          <p:cNvPr id="3" name="Content Placeholder 2">
            <a:extLst>
              <a:ext uri="{FF2B5EF4-FFF2-40B4-BE49-F238E27FC236}">
                <a16:creationId xmlns:a16="http://schemas.microsoft.com/office/drawing/2014/main" id="{F0C344D9-AFED-8DE8-CF12-78A6BD4CB9DF}"/>
              </a:ext>
            </a:extLst>
          </p:cNvPr>
          <p:cNvSpPr>
            <a:spLocks noGrp="1"/>
          </p:cNvSpPr>
          <p:nvPr>
            <p:ph idx="1"/>
          </p:nvPr>
        </p:nvSpPr>
        <p:spPr/>
        <p:txBody>
          <a:bodyPr/>
          <a:lstStyle/>
          <a:p>
            <a:pPr lvl="0"/>
            <a:r>
              <a:rPr lang="ja-JP" altLang="ja-JP" dirty="0"/>
              <a:t>Java Developer</a:t>
            </a:r>
          </a:p>
          <a:p>
            <a:pPr lvl="0"/>
            <a:r>
              <a:rPr lang="ja-JP" altLang="ja-JP" dirty="0"/>
              <a:t>Android Developer</a:t>
            </a:r>
          </a:p>
          <a:p>
            <a:pPr lvl="0"/>
            <a:r>
              <a:rPr lang="ja-JP" altLang="ja-JP" dirty="0"/>
              <a:t>Backend Developer (Spring Boot)</a:t>
            </a:r>
          </a:p>
          <a:p>
            <a:pPr lvl="0"/>
            <a:r>
              <a:rPr lang="ja-JP" altLang="ja-JP" dirty="0"/>
              <a:t>DevOps/Automation (nhiều tool viết bằng Java: Jenkins, Maven...)</a:t>
            </a:r>
          </a:p>
          <a:p>
            <a:endParaRPr kumimoji="1" lang="ja-JP" altLang="en-US" dirty="0"/>
          </a:p>
        </p:txBody>
      </p:sp>
      <p:sp>
        <p:nvSpPr>
          <p:cNvPr id="4" name="Slide Number Placeholder 3">
            <a:extLst>
              <a:ext uri="{FF2B5EF4-FFF2-40B4-BE49-F238E27FC236}">
                <a16:creationId xmlns:a16="http://schemas.microsoft.com/office/drawing/2014/main" id="{0872CE84-D189-1162-0155-ED0C84C18005}"/>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12</a:t>
            </a:fld>
            <a:endParaRPr lang="en-US" altLang="ja-JP"/>
          </a:p>
        </p:txBody>
      </p:sp>
    </p:spTree>
    <p:extLst>
      <p:ext uri="{BB962C8B-B14F-4D97-AF65-F5344CB8AC3E}">
        <p14:creationId xmlns:p14="http://schemas.microsoft.com/office/powerpoint/2010/main" val="10616196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5185A-DEC8-AD22-1ADA-D033329F1F68}"/>
              </a:ext>
            </a:extLst>
          </p:cNvPr>
          <p:cNvSpPr>
            <a:spLocks noGrp="1"/>
          </p:cNvSpPr>
          <p:nvPr>
            <p:ph type="title"/>
          </p:nvPr>
        </p:nvSpPr>
        <p:spPr/>
        <p:txBody>
          <a:bodyPr>
            <a:normAutofit fontScale="90000"/>
          </a:bodyPr>
          <a:lstStyle/>
          <a:p>
            <a:r>
              <a:rPr lang="ja-JP" altLang="ja-JP" dirty="0"/>
              <a:t>Học Java có lỗi thời không?</a:t>
            </a:r>
            <a:endParaRPr kumimoji="1" lang="ja-JP" altLang="en-US" dirty="0"/>
          </a:p>
        </p:txBody>
      </p:sp>
      <p:sp>
        <p:nvSpPr>
          <p:cNvPr id="3" name="Content Placeholder 2">
            <a:extLst>
              <a:ext uri="{FF2B5EF4-FFF2-40B4-BE49-F238E27FC236}">
                <a16:creationId xmlns:a16="http://schemas.microsoft.com/office/drawing/2014/main" id="{B5F5E582-8994-CA14-543C-DB119BAD5635}"/>
              </a:ext>
            </a:extLst>
          </p:cNvPr>
          <p:cNvSpPr>
            <a:spLocks noGrp="1"/>
          </p:cNvSpPr>
          <p:nvPr>
            <p:ph idx="1"/>
          </p:nvPr>
        </p:nvSpPr>
        <p:spPr/>
        <p:txBody>
          <a:bodyPr>
            <a:normAutofit/>
          </a:bodyPr>
          <a:lstStyle/>
          <a:p>
            <a:pPr lvl="0"/>
            <a:r>
              <a:rPr lang="en-US" altLang="ja-JP" dirty="0"/>
              <a:t>K</a:t>
            </a:r>
            <a:r>
              <a:rPr lang="ja-JP" altLang="ja-JP" dirty="0"/>
              <a:t>hông lỗi thời: Java vẫn nằm trong Top 10 ngôn ngữ lập trình phổ biến trên các bảng xếp hạng (</a:t>
            </a:r>
            <a:r>
              <a:rPr lang="ja-JP" altLang="ja-JP" dirty="0">
                <a:hlinkClick r:id="rId2"/>
              </a:rPr>
              <a:t>TIOBE</a:t>
            </a:r>
            <a:r>
              <a:rPr lang="ja-JP" altLang="ja-JP" dirty="0"/>
              <a:t>, </a:t>
            </a:r>
            <a:r>
              <a:rPr lang="ja-JP" altLang="ja-JP" dirty="0">
                <a:hlinkClick r:id="rId3"/>
              </a:rPr>
              <a:t>StackOverflow</a:t>
            </a:r>
            <a:r>
              <a:rPr lang="ja-JP" altLang="ja-JP" dirty="0"/>
              <a:t>). </a:t>
            </a:r>
          </a:p>
          <a:p>
            <a:pPr lvl="0"/>
            <a:r>
              <a:rPr lang="ja-JP" altLang="ja-JP" dirty="0"/>
              <a:t>Hệ sinh thái lớn và ổn định: Spring Framework, Java EE, Hibernate,... </a:t>
            </a:r>
          </a:p>
          <a:p>
            <a:pPr lvl="0"/>
            <a:r>
              <a:rPr lang="ja-JP" altLang="ja-JP" dirty="0"/>
              <a:t>Doanh nghiệp lớn vẫn dùng: Các công ty tài chính, bảo hiểm, ngân hàng không dễ dàng thay đổi sang công nghệ mới. </a:t>
            </a:r>
          </a:p>
          <a:p>
            <a:pPr lvl="0"/>
            <a:r>
              <a:rPr lang="ja-JP" altLang="ja-JP" dirty="0"/>
              <a:t>Android vẫn hỗ trợ Java (dù Google ưu tiên Kotlin, Java vẫn được dùng rất nhiều).</a:t>
            </a:r>
          </a:p>
          <a:p>
            <a:endParaRPr kumimoji="1" lang="ja-JP" altLang="en-US" dirty="0"/>
          </a:p>
        </p:txBody>
      </p:sp>
      <p:sp>
        <p:nvSpPr>
          <p:cNvPr id="4" name="Slide Number Placeholder 3">
            <a:extLst>
              <a:ext uri="{FF2B5EF4-FFF2-40B4-BE49-F238E27FC236}">
                <a16:creationId xmlns:a16="http://schemas.microsoft.com/office/drawing/2014/main" id="{DDA663ED-FC78-A3EA-5708-9DA21F9041D3}"/>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13</a:t>
            </a:fld>
            <a:endParaRPr lang="en-US" altLang="ja-JP"/>
          </a:p>
        </p:txBody>
      </p:sp>
    </p:spTree>
    <p:extLst>
      <p:ext uri="{BB962C8B-B14F-4D97-AF65-F5344CB8AC3E}">
        <p14:creationId xmlns:p14="http://schemas.microsoft.com/office/powerpoint/2010/main" val="29921969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94995-E9AB-E3D3-679E-BBD93417A59A}"/>
              </a:ext>
            </a:extLst>
          </p:cNvPr>
          <p:cNvSpPr>
            <a:spLocks noGrp="1"/>
          </p:cNvSpPr>
          <p:nvPr>
            <p:ph type="title"/>
          </p:nvPr>
        </p:nvSpPr>
        <p:spPr/>
        <p:txBody>
          <a:bodyPr>
            <a:noAutofit/>
          </a:bodyPr>
          <a:lstStyle/>
          <a:p>
            <a:r>
              <a:rPr lang="en-US" altLang="ja-JP" sz="2400" dirty="0"/>
              <a:t>Chapter 2:</a:t>
            </a:r>
            <a:r>
              <a:rPr lang="ja-JP" altLang="ja-JP" sz="2400" dirty="0"/>
              <a:t> </a:t>
            </a:r>
            <a:r>
              <a:rPr lang="en-US" altLang="ja-JP" sz="2400" dirty="0" err="1">
                <a:latin typeface="Arial" panose="020B0604020202020204" pitchFamily="34" charset="0"/>
              </a:rPr>
              <a:t>Cấu</a:t>
            </a:r>
            <a:r>
              <a:rPr lang="en-US" altLang="ja-JP" sz="2400" dirty="0">
                <a:latin typeface="Arial" panose="020B0604020202020204" pitchFamily="34" charset="0"/>
              </a:rPr>
              <a:t> </a:t>
            </a:r>
            <a:r>
              <a:rPr lang="en-US" altLang="ja-JP" sz="2400" dirty="0" err="1">
                <a:latin typeface="Arial" panose="020B0604020202020204" pitchFamily="34" charset="0"/>
              </a:rPr>
              <a:t>tạo</a:t>
            </a:r>
            <a:r>
              <a:rPr lang="en-US" altLang="ja-JP" sz="2400" dirty="0">
                <a:latin typeface="Arial" panose="020B0604020202020204" pitchFamily="34" charset="0"/>
              </a:rPr>
              <a:t> </a:t>
            </a:r>
            <a:r>
              <a:rPr lang="en-US" altLang="ja-JP" sz="2400" dirty="0" err="1">
                <a:latin typeface="Arial" panose="020B0604020202020204" pitchFamily="34" charset="0"/>
              </a:rPr>
              <a:t>cơ</a:t>
            </a:r>
            <a:r>
              <a:rPr lang="en-US" altLang="ja-JP" sz="2400" dirty="0">
                <a:latin typeface="Arial" panose="020B0604020202020204" pitchFamily="34" charset="0"/>
              </a:rPr>
              <a:t> </a:t>
            </a:r>
            <a:r>
              <a:rPr lang="en-US" altLang="ja-JP" sz="2400" dirty="0" err="1">
                <a:latin typeface="Arial" panose="020B0604020202020204" pitchFamily="34" charset="0"/>
              </a:rPr>
              <a:t>bản</a:t>
            </a:r>
            <a:r>
              <a:rPr lang="en-US" altLang="ja-JP" sz="2400" dirty="0">
                <a:latin typeface="Arial" panose="020B0604020202020204" pitchFamily="34" charset="0"/>
              </a:rPr>
              <a:t> </a:t>
            </a:r>
            <a:r>
              <a:rPr lang="en-US" altLang="ja-JP" sz="2400" dirty="0" err="1">
                <a:latin typeface="Arial" panose="020B0604020202020204" pitchFamily="34" charset="0"/>
              </a:rPr>
              <a:t>của</a:t>
            </a:r>
            <a:r>
              <a:rPr lang="en-US" altLang="ja-JP" sz="2400" dirty="0">
                <a:latin typeface="Arial" panose="020B0604020202020204" pitchFamily="34" charset="0"/>
              </a:rPr>
              <a:t> program</a:t>
            </a:r>
            <a:r>
              <a:rPr lang="ja-JP" altLang="en-US" sz="2400" dirty="0">
                <a:latin typeface="Arial" panose="020B0604020202020204" pitchFamily="34" charset="0"/>
              </a:rPr>
              <a:t>　</a:t>
            </a:r>
            <a:endParaRPr kumimoji="1" lang="ja-JP" altLang="en-US" sz="2400" dirty="0"/>
          </a:p>
        </p:txBody>
      </p:sp>
      <p:sp>
        <p:nvSpPr>
          <p:cNvPr id="3" name="Content Placeholder 2">
            <a:extLst>
              <a:ext uri="{FF2B5EF4-FFF2-40B4-BE49-F238E27FC236}">
                <a16:creationId xmlns:a16="http://schemas.microsoft.com/office/drawing/2014/main" id="{E4E4A6B9-DEE9-607E-D2C2-C81C6B691FE5}"/>
              </a:ext>
            </a:extLst>
          </p:cNvPr>
          <p:cNvSpPr>
            <a:spLocks noGrp="1"/>
          </p:cNvSpPr>
          <p:nvPr>
            <p:ph idx="1"/>
          </p:nvPr>
        </p:nvSpPr>
        <p:spPr/>
        <p:txBody>
          <a:bodyPr>
            <a:normAutofit/>
          </a:bodyPr>
          <a:lstStyle/>
          <a:p>
            <a:r>
              <a:rPr lang="en-US" altLang="ja-JP" sz="2400" dirty="0">
                <a:latin typeface="Arial" panose="020B0604020202020204" pitchFamily="34" charset="0"/>
              </a:rPr>
              <a:t>Comment</a:t>
            </a:r>
          </a:p>
          <a:p>
            <a:r>
              <a:rPr lang="en-US" altLang="ja-JP" sz="2400" dirty="0">
                <a:latin typeface="Arial" panose="020B0604020202020204" pitchFamily="34" charset="0"/>
              </a:rPr>
              <a:t>Identifier (</a:t>
            </a:r>
            <a:r>
              <a:rPr lang="en-US" altLang="ja-JP" sz="2400" dirty="0" err="1">
                <a:latin typeface="Arial" panose="020B0604020202020204" pitchFamily="34" charset="0"/>
              </a:rPr>
              <a:t>Tư</a:t>
            </a:r>
            <a:r>
              <a:rPr lang="en-US" altLang="ja-JP" sz="2400" dirty="0">
                <a:latin typeface="Arial" panose="020B0604020202020204" pitchFamily="34" charset="0"/>
              </a:rPr>
              <a:t>̀ </a:t>
            </a:r>
            <a:r>
              <a:rPr lang="en-US" altLang="ja-JP" sz="2400" dirty="0" err="1">
                <a:latin typeface="Arial" panose="020B0604020202020204" pitchFamily="34" charset="0"/>
              </a:rPr>
              <a:t>định</a:t>
            </a:r>
            <a:r>
              <a:rPr lang="en-US" altLang="ja-JP" sz="2400" dirty="0">
                <a:latin typeface="Arial" panose="020B0604020202020204" pitchFamily="34" charset="0"/>
              </a:rPr>
              <a:t> </a:t>
            </a:r>
            <a:r>
              <a:rPr lang="en-US" altLang="ja-JP" sz="2400" dirty="0" err="1">
                <a:latin typeface="Arial" panose="020B0604020202020204" pitchFamily="34" charset="0"/>
              </a:rPr>
              <a:t>danh</a:t>
            </a:r>
            <a:r>
              <a:rPr lang="en-US" altLang="ja-JP" sz="2400" dirty="0">
                <a:latin typeface="Arial" panose="020B0604020202020204" pitchFamily="34" charset="0"/>
              </a:rPr>
              <a:t>) </a:t>
            </a:r>
          </a:p>
          <a:p>
            <a:r>
              <a:rPr lang="en-US" altLang="ja-JP" sz="2400" dirty="0" err="1">
                <a:latin typeface="Arial" panose="020B0604020202020204" pitchFamily="34" charset="0"/>
              </a:rPr>
              <a:t>Kiểu</a:t>
            </a:r>
            <a:r>
              <a:rPr lang="en-US" altLang="ja-JP" sz="2400" dirty="0">
                <a:latin typeface="Arial" panose="020B0604020202020204" pitchFamily="34" charset="0"/>
              </a:rPr>
              <a:t> data</a:t>
            </a:r>
          </a:p>
          <a:p>
            <a:r>
              <a:rPr lang="en-US" altLang="ja-JP" sz="2400" dirty="0">
                <a:latin typeface="Arial" panose="020B0604020202020204" pitchFamily="34" charset="0"/>
              </a:rPr>
              <a:t>Literal</a:t>
            </a:r>
            <a:r>
              <a:rPr lang="en-US" altLang="ja-JP" sz="2400" dirty="0"/>
              <a:t> </a:t>
            </a:r>
            <a:endParaRPr lang="en-US" altLang="ja-JP" sz="2400" dirty="0">
              <a:latin typeface="Arial" panose="020B0604020202020204" pitchFamily="34" charset="0"/>
            </a:endParaRPr>
          </a:p>
          <a:p>
            <a:r>
              <a:rPr lang="en-US" altLang="ja-JP" sz="2400" dirty="0" err="1">
                <a:latin typeface="Arial" panose="020B0604020202020204" pitchFamily="34" charset="0"/>
              </a:rPr>
              <a:t>Biến</a:t>
            </a:r>
            <a:r>
              <a:rPr lang="en-US" altLang="ja-JP" sz="2400" dirty="0">
                <a:latin typeface="Arial" panose="020B0604020202020204" pitchFamily="34" charset="0"/>
              </a:rPr>
              <a:t> </a:t>
            </a:r>
            <a:r>
              <a:rPr lang="en-US" altLang="ja-JP" sz="2400" dirty="0" err="1">
                <a:latin typeface="Arial" panose="020B0604020202020204" pitchFamily="34" charset="0"/>
              </a:rPr>
              <a:t>sô</a:t>
            </a:r>
            <a:r>
              <a:rPr lang="en-US" altLang="ja-JP" sz="2400" dirty="0">
                <a:latin typeface="Arial" panose="020B0604020202020204" pitchFamily="34" charset="0"/>
              </a:rPr>
              <a:t>́</a:t>
            </a:r>
          </a:p>
          <a:p>
            <a:r>
              <a:rPr lang="en-US" altLang="ja-JP" sz="2400" dirty="0" err="1">
                <a:latin typeface="Arial" panose="020B0604020202020204" pitchFamily="34" charset="0"/>
              </a:rPr>
              <a:t>Hằng</a:t>
            </a:r>
            <a:r>
              <a:rPr lang="en-US" altLang="ja-JP" sz="2400" dirty="0">
                <a:latin typeface="Arial" panose="020B0604020202020204" pitchFamily="34" charset="0"/>
              </a:rPr>
              <a:t> </a:t>
            </a:r>
            <a:r>
              <a:rPr lang="en-US" altLang="ja-JP" sz="2400" dirty="0" err="1">
                <a:latin typeface="Arial" panose="020B0604020202020204" pitchFamily="34" charset="0"/>
              </a:rPr>
              <a:t>sô</a:t>
            </a:r>
            <a:r>
              <a:rPr lang="en-US" altLang="ja-JP" sz="2400" dirty="0">
                <a:latin typeface="Arial" panose="020B0604020202020204" pitchFamily="34" charset="0"/>
              </a:rPr>
              <a:t>́</a:t>
            </a:r>
          </a:p>
          <a:p>
            <a:r>
              <a:rPr lang="en-US" altLang="ja-JP" sz="2400" dirty="0" err="1">
                <a:latin typeface="Arial" panose="020B0604020202020204" pitchFamily="34" charset="0"/>
              </a:rPr>
              <a:t>Kiểu</a:t>
            </a:r>
            <a:r>
              <a:rPr lang="en-US" altLang="ja-JP" sz="2400" dirty="0">
                <a:latin typeface="Arial" panose="020B0604020202020204" pitchFamily="34" charset="0"/>
              </a:rPr>
              <a:t> </a:t>
            </a:r>
            <a:r>
              <a:rPr lang="en-US" altLang="ja-JP" sz="2400" dirty="0" err="1">
                <a:latin typeface="Arial" panose="020B0604020202020204" pitchFamily="34" charset="0"/>
              </a:rPr>
              <a:t>gia</a:t>
            </a:r>
            <a:r>
              <a:rPr lang="en-US" altLang="ja-JP" sz="2400" dirty="0">
                <a:latin typeface="Arial" panose="020B0604020202020204" pitchFamily="34" charset="0"/>
              </a:rPr>
              <a:t>́ trị </a:t>
            </a:r>
            <a:r>
              <a:rPr lang="en-US" altLang="ja-JP" sz="2400" dirty="0" err="1">
                <a:latin typeface="Arial" panose="020B0604020202020204" pitchFamily="34" charset="0"/>
              </a:rPr>
              <a:t>va</a:t>
            </a:r>
            <a:r>
              <a:rPr lang="en-US" altLang="ja-JP" sz="2400" dirty="0">
                <a:latin typeface="Arial" panose="020B0604020202020204" pitchFamily="34" charset="0"/>
              </a:rPr>
              <a:t>̀ </a:t>
            </a:r>
            <a:r>
              <a:rPr lang="en-US" altLang="ja-JP" sz="2400" dirty="0" err="1">
                <a:latin typeface="Arial" panose="020B0604020202020204" pitchFamily="34" charset="0"/>
              </a:rPr>
              <a:t>kiểu</a:t>
            </a:r>
            <a:r>
              <a:rPr lang="en-US" altLang="ja-JP" sz="2400" dirty="0">
                <a:latin typeface="Arial" panose="020B0604020202020204" pitchFamily="34" charset="0"/>
              </a:rPr>
              <a:t> </a:t>
            </a:r>
            <a:r>
              <a:rPr lang="en-US" altLang="ja-JP" sz="2400" dirty="0" err="1">
                <a:latin typeface="Arial" panose="020B0604020202020204" pitchFamily="34" charset="0"/>
              </a:rPr>
              <a:t>tham</a:t>
            </a:r>
            <a:r>
              <a:rPr lang="en-US" altLang="ja-JP" sz="2400" dirty="0">
                <a:latin typeface="Arial" panose="020B0604020202020204" pitchFamily="34" charset="0"/>
              </a:rPr>
              <a:t> </a:t>
            </a:r>
            <a:r>
              <a:rPr lang="en-US" altLang="ja-JP" sz="2400" dirty="0" err="1">
                <a:latin typeface="Arial" panose="020B0604020202020204" pitchFamily="34" charset="0"/>
              </a:rPr>
              <a:t>chiếu</a:t>
            </a:r>
            <a:endParaRPr lang="en-US" altLang="ja-JP" sz="2400" dirty="0">
              <a:latin typeface="Arial" panose="020B0604020202020204" pitchFamily="34" charset="0"/>
            </a:endParaRPr>
          </a:p>
          <a:p>
            <a:r>
              <a:rPr lang="en-US" altLang="ja-JP" sz="2400" dirty="0" err="1">
                <a:latin typeface="Arial" panose="020B0604020202020204" pitchFamily="34" charset="0"/>
              </a:rPr>
              <a:t>Chuỗi</a:t>
            </a:r>
            <a:r>
              <a:rPr lang="en-US" altLang="ja-JP" sz="2400" dirty="0">
                <a:latin typeface="Arial" panose="020B0604020202020204" pitchFamily="34" charset="0"/>
              </a:rPr>
              <a:t> </a:t>
            </a:r>
            <a:r>
              <a:rPr lang="en-US" altLang="ja-JP" sz="2400" dirty="0" err="1">
                <a:latin typeface="Arial" panose="020B0604020202020204" pitchFamily="34" charset="0"/>
              </a:rPr>
              <a:t>ky</a:t>
            </a:r>
            <a:r>
              <a:rPr lang="en-US" altLang="ja-JP" sz="2400" dirty="0">
                <a:latin typeface="Arial" panose="020B0604020202020204" pitchFamily="34" charset="0"/>
              </a:rPr>
              <a:t>́ </a:t>
            </a:r>
            <a:r>
              <a:rPr lang="en-US" altLang="ja-JP" sz="2400" dirty="0" err="1">
                <a:latin typeface="Arial" panose="020B0604020202020204" pitchFamily="34" charset="0"/>
              </a:rPr>
              <a:t>tư</a:t>
            </a:r>
            <a:r>
              <a:rPr lang="en-US" altLang="ja-JP" sz="2400" dirty="0">
                <a:latin typeface="Arial" panose="020B0604020202020204" pitchFamily="34" charset="0"/>
              </a:rPr>
              <a:t>̣</a:t>
            </a:r>
          </a:p>
          <a:p>
            <a:r>
              <a:rPr lang="en-US" altLang="ja-JP" sz="2400" dirty="0" err="1">
                <a:latin typeface="Arial" panose="020B0604020202020204" pitchFamily="34" charset="0"/>
              </a:rPr>
              <a:t>Mảng</a:t>
            </a:r>
            <a:endParaRPr lang="en-US" altLang="ja-JP" sz="2400" dirty="0">
              <a:latin typeface="Arial" panose="020B0604020202020204" pitchFamily="34" charset="0"/>
            </a:endParaRPr>
          </a:p>
          <a:p>
            <a:r>
              <a:rPr lang="en-US" altLang="ja-JP" sz="2400" dirty="0" err="1">
                <a:latin typeface="Arial" panose="020B0604020202020204" pitchFamily="34" charset="0"/>
              </a:rPr>
              <a:t>Kiểu</a:t>
            </a:r>
            <a:r>
              <a:rPr lang="en-US" altLang="ja-JP" sz="2400" dirty="0">
                <a:latin typeface="Arial" panose="020B0604020202020204" pitchFamily="34" charset="0"/>
              </a:rPr>
              <a:t> </a:t>
            </a:r>
            <a:r>
              <a:rPr lang="en-US" altLang="ja-JP" sz="2400" dirty="0" err="1">
                <a:latin typeface="Arial" panose="020B0604020202020204" pitchFamily="34" charset="0"/>
              </a:rPr>
              <a:t>gia</a:t>
            </a:r>
            <a:r>
              <a:rPr lang="en-US" altLang="ja-JP" sz="2400" dirty="0">
                <a:latin typeface="Arial" panose="020B0604020202020204" pitchFamily="34" charset="0"/>
              </a:rPr>
              <a:t>́ trị </a:t>
            </a:r>
            <a:r>
              <a:rPr lang="en-US" altLang="ja-JP" sz="2400" dirty="0" err="1">
                <a:latin typeface="Arial" panose="020B0604020202020204" pitchFamily="34" charset="0"/>
              </a:rPr>
              <a:t>va</a:t>
            </a:r>
            <a:r>
              <a:rPr lang="en-US" altLang="ja-JP" sz="2400" dirty="0">
                <a:latin typeface="Arial" panose="020B0604020202020204" pitchFamily="34" charset="0"/>
              </a:rPr>
              <a:t>̀ </a:t>
            </a:r>
            <a:r>
              <a:rPr lang="en-US" altLang="ja-JP" sz="2400" dirty="0" err="1">
                <a:latin typeface="Arial" panose="020B0604020202020204" pitchFamily="34" charset="0"/>
              </a:rPr>
              <a:t>kiểu</a:t>
            </a:r>
            <a:r>
              <a:rPr lang="en-US" altLang="ja-JP" sz="2400" dirty="0">
                <a:latin typeface="Arial" panose="020B0604020202020204" pitchFamily="34" charset="0"/>
              </a:rPr>
              <a:t> </a:t>
            </a:r>
            <a:r>
              <a:rPr lang="en-US" altLang="ja-JP" sz="2400" dirty="0" err="1">
                <a:latin typeface="Arial" panose="020B0604020202020204" pitchFamily="34" charset="0"/>
              </a:rPr>
              <a:t>tham</a:t>
            </a:r>
            <a:r>
              <a:rPr lang="en-US" altLang="ja-JP" sz="2400" dirty="0">
                <a:latin typeface="Arial" panose="020B0604020202020204" pitchFamily="34" charset="0"/>
              </a:rPr>
              <a:t> </a:t>
            </a:r>
            <a:r>
              <a:rPr lang="en-US" altLang="ja-JP" sz="2400" dirty="0" err="1">
                <a:latin typeface="Arial" panose="020B0604020202020204" pitchFamily="34" charset="0"/>
              </a:rPr>
              <a:t>chiếu</a:t>
            </a:r>
            <a:r>
              <a:rPr lang="en-US" altLang="ja-JP" sz="2400" dirty="0">
                <a:latin typeface="Arial" panose="020B0604020202020204" pitchFamily="34" charset="0"/>
              </a:rPr>
              <a:t> (</a:t>
            </a:r>
            <a:r>
              <a:rPr lang="en-US" altLang="ja-JP" sz="2400" dirty="0" err="1">
                <a:latin typeface="Arial" panose="020B0604020202020204" pitchFamily="34" charset="0"/>
              </a:rPr>
              <a:t>tiếp</a:t>
            </a:r>
            <a:r>
              <a:rPr lang="en-US" altLang="ja-JP" sz="2400" dirty="0">
                <a:latin typeface="Arial" panose="020B0604020202020204" pitchFamily="34" charset="0"/>
              </a:rPr>
              <a:t>)</a:t>
            </a:r>
            <a:endParaRPr kumimoji="1" lang="ja-JP" altLang="en-US" sz="2400" dirty="0"/>
          </a:p>
        </p:txBody>
      </p:sp>
      <p:sp>
        <p:nvSpPr>
          <p:cNvPr id="4" name="Slide Number Placeholder 3">
            <a:extLst>
              <a:ext uri="{FF2B5EF4-FFF2-40B4-BE49-F238E27FC236}">
                <a16:creationId xmlns:a16="http://schemas.microsoft.com/office/drawing/2014/main" id="{205BBA95-AEF3-FFC7-7668-8FEC6BA35B8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14</a:t>
            </a:fld>
            <a:endParaRPr lang="en-US" altLang="ja-JP"/>
          </a:p>
        </p:txBody>
      </p:sp>
    </p:spTree>
    <p:extLst>
      <p:ext uri="{BB962C8B-B14F-4D97-AF65-F5344CB8AC3E}">
        <p14:creationId xmlns:p14="http://schemas.microsoft.com/office/powerpoint/2010/main" val="10783565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EB808-8357-D889-CF6C-F51F0B5484A7}"/>
              </a:ext>
            </a:extLst>
          </p:cNvPr>
          <p:cNvSpPr>
            <a:spLocks noGrp="1"/>
          </p:cNvSpPr>
          <p:nvPr>
            <p:ph type="title"/>
          </p:nvPr>
        </p:nvSpPr>
        <p:spPr/>
        <p:txBody>
          <a:bodyPr>
            <a:normAutofit fontScale="90000"/>
          </a:bodyPr>
          <a:lstStyle/>
          <a:p>
            <a:r>
              <a:rPr kumimoji="1" lang="en-US" altLang="ja-JP" dirty="0" err="1"/>
              <a:t>Tạo</a:t>
            </a:r>
            <a:r>
              <a:rPr kumimoji="1" lang="en-US" altLang="ja-JP" dirty="0"/>
              <a:t> program </a:t>
            </a:r>
            <a:r>
              <a:rPr kumimoji="1" lang="en-US" altLang="ja-JP" dirty="0" err="1"/>
              <a:t>đơn</a:t>
            </a:r>
            <a:r>
              <a:rPr kumimoji="1" lang="en-US" altLang="ja-JP" dirty="0"/>
              <a:t> </a:t>
            </a:r>
            <a:r>
              <a:rPr kumimoji="1" lang="en-US" altLang="ja-JP" dirty="0" err="1"/>
              <a:t>giản</a:t>
            </a:r>
            <a:endParaRPr kumimoji="1" lang="ja-JP" altLang="en-US" dirty="0"/>
          </a:p>
        </p:txBody>
      </p:sp>
      <p:sp>
        <p:nvSpPr>
          <p:cNvPr id="3" name="Content Placeholder 2">
            <a:extLst>
              <a:ext uri="{FF2B5EF4-FFF2-40B4-BE49-F238E27FC236}">
                <a16:creationId xmlns:a16="http://schemas.microsoft.com/office/drawing/2014/main" id="{8AC18C46-2F03-917C-1FD1-D65EA9865145}"/>
              </a:ext>
            </a:extLst>
          </p:cNvPr>
          <p:cNvSpPr>
            <a:spLocks noGrp="1"/>
          </p:cNvSpPr>
          <p:nvPr>
            <p:ph idx="1"/>
          </p:nvPr>
        </p:nvSpPr>
        <p:spPr/>
        <p:txBody>
          <a:bodyPr/>
          <a:lstStyle/>
          <a:p>
            <a:r>
              <a:rPr lang="en-US" altLang="ja-JP" dirty="0" err="1">
                <a:latin typeface="Times New Roman" panose="02020603050405020304" pitchFamily="18" charset="0"/>
              </a:rPr>
              <a:t>Trình</a:t>
            </a:r>
            <a:r>
              <a:rPr lang="en-US" altLang="ja-JP" dirty="0">
                <a:latin typeface="Times New Roman" panose="02020603050405020304" pitchFamily="18" charset="0"/>
              </a:rPr>
              <a:t> </a:t>
            </a:r>
            <a:r>
              <a:rPr lang="en-US" altLang="ja-JP" dirty="0" err="1">
                <a:latin typeface="Times New Roman" panose="02020603050405020304" pitchFamily="18" charset="0"/>
              </a:rPr>
              <a:t>tự</a:t>
            </a:r>
            <a:endParaRPr lang="en-US" altLang="ja-JP" dirty="0">
              <a:latin typeface="Times New Roman" panose="02020603050405020304" pitchFamily="18" charset="0"/>
            </a:endParaRPr>
          </a:p>
          <a:p>
            <a:pPr lvl="1"/>
            <a:r>
              <a:rPr lang="en-US" altLang="ja-JP" sz="2400" dirty="0" err="1">
                <a:latin typeface="Times New Roman" panose="02020603050405020304" pitchFamily="18" charset="0"/>
              </a:rPr>
              <a:t>Tạo</a:t>
            </a:r>
            <a:r>
              <a:rPr lang="en-US" altLang="ja-JP" sz="2400" dirty="0">
                <a:latin typeface="Times New Roman" panose="02020603050405020304" pitchFamily="18" charset="0"/>
              </a:rPr>
              <a:t> source program</a:t>
            </a:r>
          </a:p>
          <a:p>
            <a:pPr lvl="1"/>
            <a:r>
              <a:rPr lang="en-US" altLang="ja-JP" sz="2400" dirty="0">
                <a:latin typeface="Times New Roman" panose="02020603050405020304" pitchFamily="18" charset="0"/>
              </a:rPr>
              <a:t>Compile</a:t>
            </a:r>
          </a:p>
          <a:p>
            <a:pPr lvl="1"/>
            <a:r>
              <a:rPr lang="en-US" altLang="ja-JP" sz="2400" dirty="0" err="1">
                <a:latin typeface="Times New Roman" panose="02020603050405020304" pitchFamily="18" charset="0"/>
              </a:rPr>
              <a:t>Thực</a:t>
            </a:r>
            <a:r>
              <a:rPr lang="en-US" altLang="ja-JP" sz="2400" dirty="0">
                <a:latin typeface="Times New Roman" panose="02020603050405020304" pitchFamily="18" charset="0"/>
              </a:rPr>
              <a:t> </a:t>
            </a:r>
            <a:r>
              <a:rPr lang="en-US" altLang="ja-JP" sz="2400" dirty="0" err="1">
                <a:latin typeface="Times New Roman" panose="02020603050405020304" pitchFamily="18" charset="0"/>
              </a:rPr>
              <a:t>hiện</a:t>
            </a:r>
            <a:endParaRPr kumimoji="1" lang="ja-JP" altLang="en-US" sz="2400" dirty="0"/>
          </a:p>
        </p:txBody>
      </p:sp>
      <p:sp>
        <p:nvSpPr>
          <p:cNvPr id="4" name="Slide Number Placeholder 3">
            <a:extLst>
              <a:ext uri="{FF2B5EF4-FFF2-40B4-BE49-F238E27FC236}">
                <a16:creationId xmlns:a16="http://schemas.microsoft.com/office/drawing/2014/main" id="{5E6CB580-E26D-CF7E-D066-A3CA74D64C57}"/>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15</a:t>
            </a:fld>
            <a:endParaRPr lang="en-US" altLang="ja-JP"/>
          </a:p>
        </p:txBody>
      </p:sp>
      <p:sp>
        <p:nvSpPr>
          <p:cNvPr id="9" name="Text Box 62">
            <a:extLst>
              <a:ext uri="{FF2B5EF4-FFF2-40B4-BE49-F238E27FC236}">
                <a16:creationId xmlns:a16="http://schemas.microsoft.com/office/drawing/2014/main" id="{365D07EB-4824-A1AF-607C-21C18D4C23E5}"/>
              </a:ext>
            </a:extLst>
          </p:cNvPr>
          <p:cNvSpPr txBox="1">
            <a:spLocks noChangeArrowheads="1"/>
          </p:cNvSpPr>
          <p:nvPr/>
        </p:nvSpPr>
        <p:spPr bwMode="auto">
          <a:xfrm>
            <a:off x="609601" y="3384550"/>
            <a:ext cx="2971800" cy="126206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sz="1000" b="1">
                <a:solidFill>
                  <a:schemeClr val="tx1"/>
                </a:solidFill>
                <a:latin typeface="Arial" panose="020B0604020202020204" pitchFamily="34" charset="0"/>
                <a:ea typeface="MS UI Gothic" panose="020B0600070205080204" pitchFamily="50" charset="-128"/>
              </a:defRPr>
            </a:lvl1pPr>
            <a:lvl2pPr marL="536575" indent="-357188" defTabSz="447675">
              <a:defRPr kumimoji="1" sz="1000" b="1">
                <a:solidFill>
                  <a:schemeClr val="tx1"/>
                </a:solidFill>
                <a:latin typeface="Arial" panose="020B0604020202020204" pitchFamily="34" charset="0"/>
                <a:ea typeface="MS UI Gothic" panose="020B0600070205080204" pitchFamily="50" charset="-128"/>
              </a:defRPr>
            </a:lvl2pPr>
            <a:lvl3pPr marL="1312863" indent="-358775" defTabSz="447675">
              <a:defRPr kumimoji="1" sz="1000" b="1">
                <a:solidFill>
                  <a:schemeClr val="tx1"/>
                </a:solidFill>
                <a:latin typeface="Arial" panose="020B0604020202020204" pitchFamily="34" charset="0"/>
                <a:ea typeface="MS UI Gothic" panose="020B0600070205080204" pitchFamily="50" charset="-128"/>
              </a:defRPr>
            </a:lvl3pPr>
            <a:lvl4pPr marL="1790700" indent="-358775" defTabSz="447675">
              <a:defRPr kumimoji="1" sz="1000" b="1">
                <a:solidFill>
                  <a:schemeClr val="tx1"/>
                </a:solidFill>
                <a:latin typeface="Arial" panose="020B0604020202020204" pitchFamily="34" charset="0"/>
                <a:ea typeface="MS UI Gothic" panose="020B0600070205080204" pitchFamily="50" charset="-128"/>
              </a:defRPr>
            </a:lvl4pPr>
            <a:lvl5pPr marL="2266950" indent="-357188" defTabSz="447675">
              <a:defRPr kumimoji="1" sz="1000" b="1">
                <a:solidFill>
                  <a:schemeClr val="tx1"/>
                </a:solidFill>
                <a:latin typeface="Arial" panose="020B0604020202020204" pitchFamily="34" charset="0"/>
                <a:ea typeface="MS UI Gothic" panose="020B0600070205080204" pitchFamily="50" charset="-128"/>
              </a:defRPr>
            </a:lvl5pPr>
            <a:lvl6pPr marL="27241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31813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6385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40957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spcBef>
                <a:spcPct val="10000"/>
              </a:spcBef>
              <a:buFontTx/>
              <a:buAutoNum type="arabicPeriod"/>
            </a:pPr>
            <a:r>
              <a:rPr lang="en-US" altLang="ja-JP" b="0" dirty="0">
                <a:ea typeface="ＭＳ ゴシック" panose="020B0609070205080204" pitchFamily="49" charset="-128"/>
              </a:rPr>
              <a:t>// HelloWorld.java</a:t>
            </a:r>
          </a:p>
          <a:p>
            <a:pPr lvl="1" algn="just" eaLnBrk="1" hangingPunct="1">
              <a:spcBef>
                <a:spcPct val="10000"/>
              </a:spcBef>
              <a:buFontTx/>
              <a:buAutoNum type="arabicPeriod"/>
            </a:pPr>
            <a:r>
              <a:rPr lang="ja-JP" altLang="en-US" b="0" dirty="0">
                <a:ea typeface="ＭＳ ゴシック" panose="020B0609070205080204" pitchFamily="49" charset="-128"/>
              </a:rPr>
              <a:t>　</a:t>
            </a:r>
          </a:p>
          <a:p>
            <a:pPr lvl="1" algn="just" eaLnBrk="1" hangingPunct="1">
              <a:spcBef>
                <a:spcPct val="10000"/>
              </a:spcBef>
              <a:buFontTx/>
              <a:buAutoNum type="arabicPeriod"/>
            </a:pPr>
            <a:r>
              <a:rPr lang="en-US" altLang="ja-JP" b="0" dirty="0">
                <a:ea typeface="ＭＳ ゴシック" panose="020B0609070205080204" pitchFamily="49" charset="-128"/>
              </a:rPr>
              <a:t>public class HelloWorld {</a:t>
            </a:r>
          </a:p>
          <a:p>
            <a:pPr lvl="1" algn="just" eaLnBrk="1" hangingPunct="1">
              <a:spcBef>
                <a:spcPct val="10000"/>
              </a:spcBef>
              <a:buFontTx/>
              <a:buAutoNum type="arabicPeriod"/>
            </a:pPr>
            <a:r>
              <a:rPr lang="en-US" altLang="ja-JP" b="0" dirty="0">
                <a:ea typeface="ＭＳ ゴシック" panose="020B0609070205080204" pitchFamily="49" charset="-128"/>
              </a:rPr>
              <a:t>    public static void main(String[] </a:t>
            </a:r>
            <a:r>
              <a:rPr lang="en-US" altLang="ja-JP" b="0" dirty="0" err="1">
                <a:ea typeface="ＭＳ ゴシック" panose="020B0609070205080204" pitchFamily="49" charset="-128"/>
              </a:rPr>
              <a:t>args</a:t>
            </a:r>
            <a:r>
              <a:rPr lang="en-US" altLang="ja-JP" b="0" dirty="0">
                <a:ea typeface="ＭＳ ゴシック" panose="020B0609070205080204" pitchFamily="49" charset="-128"/>
              </a:rPr>
              <a:t>) {</a:t>
            </a:r>
          </a:p>
          <a:p>
            <a:pPr lvl="1" algn="just" eaLnBrk="1" hangingPunct="1">
              <a:spcBef>
                <a:spcPct val="10000"/>
              </a:spcBef>
              <a:buFontTx/>
              <a:buAutoNum type="arabicPeriod"/>
            </a:pPr>
            <a:r>
              <a:rPr lang="en-US" altLang="ja-JP" b="0" dirty="0">
                <a:ea typeface="ＭＳ ゴシック" panose="020B0609070205080204" pitchFamily="49" charset="-128"/>
              </a:rPr>
              <a:t>        </a:t>
            </a:r>
            <a:r>
              <a:rPr lang="en-US" altLang="ja-JP" b="0" dirty="0" err="1">
                <a:ea typeface="ＭＳ ゴシック" panose="020B0609070205080204" pitchFamily="49" charset="-128"/>
              </a:rPr>
              <a:t>System.out.println</a:t>
            </a:r>
            <a:r>
              <a:rPr lang="en-US" altLang="ja-JP" b="0" dirty="0">
                <a:ea typeface="ＭＳ ゴシック" panose="020B0609070205080204" pitchFamily="49" charset="-128"/>
              </a:rPr>
              <a:t>("Hello World!");</a:t>
            </a:r>
          </a:p>
          <a:p>
            <a:pPr lvl="1" algn="just" eaLnBrk="1" hangingPunct="1">
              <a:spcBef>
                <a:spcPct val="10000"/>
              </a:spcBef>
              <a:buFontTx/>
              <a:buAutoNum type="arabicPeriod"/>
            </a:pPr>
            <a:r>
              <a:rPr lang="en-US" altLang="ja-JP" b="0" dirty="0">
                <a:ea typeface="ＭＳ ゴシック" panose="020B0609070205080204" pitchFamily="49" charset="-128"/>
              </a:rPr>
              <a:t>    }</a:t>
            </a:r>
          </a:p>
          <a:p>
            <a:pPr lvl="1" algn="just" eaLnBrk="1" hangingPunct="1">
              <a:spcBef>
                <a:spcPct val="10000"/>
              </a:spcBef>
              <a:buFontTx/>
              <a:buAutoNum type="arabicPeriod"/>
            </a:pPr>
            <a:r>
              <a:rPr lang="en-US" altLang="ja-JP" b="0" dirty="0">
                <a:ea typeface="ＭＳ ゴシック" panose="020B0609070205080204" pitchFamily="49" charset="-128"/>
              </a:rPr>
              <a:t>}</a:t>
            </a:r>
            <a:endParaRPr lang="ja-JP" altLang="ja-JP" b="0" dirty="0">
              <a:ea typeface="ＭＳ ゴシック" panose="020B0609070205080204" pitchFamily="49" charset="-128"/>
            </a:endParaRPr>
          </a:p>
        </p:txBody>
      </p:sp>
      <p:sp>
        <p:nvSpPr>
          <p:cNvPr id="10" name="Text Box 63">
            <a:extLst>
              <a:ext uri="{FF2B5EF4-FFF2-40B4-BE49-F238E27FC236}">
                <a16:creationId xmlns:a16="http://schemas.microsoft.com/office/drawing/2014/main" id="{ED88246F-A53F-BF76-B13B-9E971A38ECB1}"/>
              </a:ext>
            </a:extLst>
          </p:cNvPr>
          <p:cNvSpPr txBox="1">
            <a:spLocks noChangeArrowheads="1"/>
          </p:cNvSpPr>
          <p:nvPr/>
        </p:nvSpPr>
        <p:spPr bwMode="auto">
          <a:xfrm>
            <a:off x="609380" y="4879219"/>
            <a:ext cx="8972832" cy="2857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42900" indent="-342900" defTabSz="954088">
              <a:defRPr kumimoji="1" sz="1000" b="1">
                <a:solidFill>
                  <a:schemeClr val="tx1"/>
                </a:solidFill>
                <a:latin typeface="Arial" panose="020B0604020202020204" pitchFamily="34" charset="0"/>
                <a:ea typeface="MS UI Gothic" panose="020B0600070205080204" pitchFamily="50" charset="-128"/>
              </a:defRPr>
            </a:lvl1pPr>
            <a:lvl2pPr marL="187325" defTabSz="954088">
              <a:defRPr kumimoji="1" sz="1000" b="1">
                <a:solidFill>
                  <a:schemeClr val="tx1"/>
                </a:solidFill>
                <a:latin typeface="Arial" panose="020B0604020202020204" pitchFamily="34" charset="0"/>
                <a:ea typeface="MS UI Gothic" panose="020B0600070205080204" pitchFamily="50" charset="-128"/>
              </a:defRPr>
            </a:lvl2pPr>
            <a:lvl3pPr marL="1143000" indent="-228600" defTabSz="954088">
              <a:defRPr kumimoji="1" sz="1000" b="1">
                <a:solidFill>
                  <a:schemeClr val="tx1"/>
                </a:solidFill>
                <a:latin typeface="Arial" panose="020B0604020202020204" pitchFamily="34" charset="0"/>
                <a:ea typeface="MS UI Gothic" panose="020B0600070205080204" pitchFamily="50" charset="-128"/>
              </a:defRPr>
            </a:lvl3pPr>
            <a:lvl4pPr marL="1600200" indent="-228600" defTabSz="954088">
              <a:defRPr kumimoji="1" sz="1000" b="1">
                <a:solidFill>
                  <a:schemeClr val="tx1"/>
                </a:solidFill>
                <a:latin typeface="Arial" panose="020B0604020202020204" pitchFamily="34" charset="0"/>
                <a:ea typeface="MS UI Gothic" panose="020B0600070205080204" pitchFamily="50" charset="-128"/>
              </a:defRPr>
            </a:lvl4pPr>
            <a:lvl5pPr marL="2057400" indent="-228600" defTabSz="954088">
              <a:defRPr kumimoji="1" sz="1000" b="1">
                <a:solidFill>
                  <a:schemeClr val="tx1"/>
                </a:solidFill>
                <a:latin typeface="Arial" panose="020B0604020202020204" pitchFamily="34" charset="0"/>
                <a:ea typeface="MS UI Gothic" panose="020B0600070205080204" pitchFamily="50" charset="-128"/>
              </a:defRPr>
            </a:lvl5pPr>
            <a:lvl6pPr marL="25146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spcAft>
                <a:spcPct val="50000"/>
              </a:spcAft>
            </a:pPr>
            <a:r>
              <a:rPr lang="ja-JP" altLang="ja-JP" b="0" dirty="0">
                <a:ea typeface="ＭＳ ゴシック" panose="020B0609070205080204" pitchFamily="49" charset="-128"/>
              </a:rPr>
              <a:t>&gt;java</a:t>
            </a:r>
            <a:r>
              <a:rPr lang="en-US" altLang="ja-JP" b="0" dirty="0">
                <a:ea typeface="ＭＳ ゴシック" panose="020B0609070205080204" pitchFamily="49" charset="-128"/>
              </a:rPr>
              <a:t>c</a:t>
            </a:r>
            <a:r>
              <a:rPr lang="ja-JP" altLang="ja-JP" b="0" dirty="0">
                <a:ea typeface="ＭＳ ゴシック" panose="020B0609070205080204" pitchFamily="49" charset="-128"/>
              </a:rPr>
              <a:t> </a:t>
            </a:r>
            <a:r>
              <a:rPr lang="en-US" altLang="ja-JP" b="0" dirty="0">
                <a:ea typeface="ＭＳ ゴシック" panose="020B0609070205080204" pitchFamily="49" charset="-128"/>
              </a:rPr>
              <a:t>HelloWorld.java</a:t>
            </a:r>
            <a:endParaRPr lang="ja-JP" altLang="ja-JP" b="0" dirty="0">
              <a:ea typeface="ＭＳ ゴシック" panose="020B0609070205080204" pitchFamily="49" charset="-128"/>
            </a:endParaRPr>
          </a:p>
        </p:txBody>
      </p:sp>
      <p:sp>
        <p:nvSpPr>
          <p:cNvPr id="11" name="Text Box 64">
            <a:extLst>
              <a:ext uri="{FF2B5EF4-FFF2-40B4-BE49-F238E27FC236}">
                <a16:creationId xmlns:a16="http://schemas.microsoft.com/office/drawing/2014/main" id="{786DAB22-2F7A-4CCE-5FAE-6A232E5BDE56}"/>
              </a:ext>
            </a:extLst>
          </p:cNvPr>
          <p:cNvSpPr txBox="1">
            <a:spLocks noChangeArrowheads="1"/>
          </p:cNvSpPr>
          <p:nvPr/>
        </p:nvSpPr>
        <p:spPr bwMode="auto">
          <a:xfrm>
            <a:off x="609380" y="5397575"/>
            <a:ext cx="8972832" cy="4762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42900" indent="-342900" defTabSz="954088">
              <a:defRPr kumimoji="1" sz="1000" b="1">
                <a:solidFill>
                  <a:schemeClr val="tx1"/>
                </a:solidFill>
                <a:latin typeface="Arial" panose="020B0604020202020204" pitchFamily="34" charset="0"/>
                <a:ea typeface="MS UI Gothic" panose="020B0600070205080204" pitchFamily="50" charset="-128"/>
              </a:defRPr>
            </a:lvl1pPr>
            <a:lvl2pPr marL="187325" defTabSz="954088">
              <a:defRPr kumimoji="1" sz="1000" b="1">
                <a:solidFill>
                  <a:schemeClr val="tx1"/>
                </a:solidFill>
                <a:latin typeface="Arial" panose="020B0604020202020204" pitchFamily="34" charset="0"/>
                <a:ea typeface="MS UI Gothic" panose="020B0600070205080204" pitchFamily="50" charset="-128"/>
              </a:defRPr>
            </a:lvl2pPr>
            <a:lvl3pPr marL="1143000" indent="-228600" defTabSz="954088">
              <a:defRPr kumimoji="1" sz="1000" b="1">
                <a:solidFill>
                  <a:schemeClr val="tx1"/>
                </a:solidFill>
                <a:latin typeface="Arial" panose="020B0604020202020204" pitchFamily="34" charset="0"/>
                <a:ea typeface="MS UI Gothic" panose="020B0600070205080204" pitchFamily="50" charset="-128"/>
              </a:defRPr>
            </a:lvl3pPr>
            <a:lvl4pPr marL="1600200" indent="-228600" defTabSz="954088">
              <a:defRPr kumimoji="1" sz="1000" b="1">
                <a:solidFill>
                  <a:schemeClr val="tx1"/>
                </a:solidFill>
                <a:latin typeface="Arial" panose="020B0604020202020204" pitchFamily="34" charset="0"/>
                <a:ea typeface="MS UI Gothic" panose="020B0600070205080204" pitchFamily="50" charset="-128"/>
              </a:defRPr>
            </a:lvl4pPr>
            <a:lvl5pPr marL="2057400" indent="-228600" defTabSz="954088">
              <a:defRPr kumimoji="1" sz="1000" b="1">
                <a:solidFill>
                  <a:schemeClr val="tx1"/>
                </a:solidFill>
                <a:latin typeface="Arial" panose="020B0604020202020204" pitchFamily="34" charset="0"/>
                <a:ea typeface="MS UI Gothic" panose="020B0600070205080204" pitchFamily="50" charset="-128"/>
              </a:defRPr>
            </a:lvl5pPr>
            <a:lvl6pPr marL="25146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eaLnBrk="1" hangingPunct="1">
              <a:spcAft>
                <a:spcPct val="50000"/>
              </a:spcAft>
            </a:pPr>
            <a:r>
              <a:rPr lang="ja-JP" altLang="ja-JP" b="0" dirty="0">
                <a:ea typeface="ＭＳ ゴシック" panose="020B0609070205080204" pitchFamily="49" charset="-128"/>
              </a:rPr>
              <a:t>&gt;java </a:t>
            </a:r>
            <a:r>
              <a:rPr lang="en-US" altLang="ja-JP" b="0" dirty="0">
                <a:ea typeface="ＭＳ ゴシック" panose="020B0609070205080204" pitchFamily="49" charset="-128"/>
              </a:rPr>
              <a:t>HelloWorld</a:t>
            </a:r>
            <a:br>
              <a:rPr lang="en-US" altLang="ja-JP" b="0" dirty="0">
                <a:ea typeface="ＭＳ ゴシック" panose="020B0609070205080204" pitchFamily="49" charset="-128"/>
              </a:rPr>
            </a:br>
            <a:r>
              <a:rPr lang="en-US" altLang="ja-JP" b="0" dirty="0">
                <a:ea typeface="ＭＳ ゴシック" panose="020B0609070205080204" pitchFamily="49" charset="-128"/>
              </a:rPr>
              <a:t>Hello World!</a:t>
            </a:r>
          </a:p>
          <a:p>
            <a:pPr lvl="1" algn="just" eaLnBrk="1" hangingPunct="1">
              <a:spcAft>
                <a:spcPct val="50000"/>
              </a:spcAft>
            </a:pPr>
            <a:endParaRPr lang="ja-JP" altLang="ja-JP" b="0" dirty="0">
              <a:ea typeface="ＭＳ ゴシック" panose="020B0609070205080204" pitchFamily="49" charset="-128"/>
            </a:endParaRPr>
          </a:p>
        </p:txBody>
      </p:sp>
      <p:grpSp>
        <p:nvGrpSpPr>
          <p:cNvPr id="62" name="Group 61">
            <a:extLst>
              <a:ext uri="{FF2B5EF4-FFF2-40B4-BE49-F238E27FC236}">
                <a16:creationId xmlns:a16="http://schemas.microsoft.com/office/drawing/2014/main" id="{1F628A08-4C8A-7A14-0739-03C897F8C378}"/>
              </a:ext>
            </a:extLst>
          </p:cNvPr>
          <p:cNvGrpSpPr/>
          <p:nvPr/>
        </p:nvGrpSpPr>
        <p:grpSpPr>
          <a:xfrm>
            <a:off x="3810000" y="1498653"/>
            <a:ext cx="5805488" cy="2632886"/>
            <a:chOff x="3657600" y="491314"/>
            <a:chExt cx="5805488" cy="2632886"/>
          </a:xfrm>
        </p:grpSpPr>
        <p:sp>
          <p:nvSpPr>
            <p:cNvPr id="12" name="Rectangle 82">
              <a:extLst>
                <a:ext uri="{FF2B5EF4-FFF2-40B4-BE49-F238E27FC236}">
                  <a16:creationId xmlns:a16="http://schemas.microsoft.com/office/drawing/2014/main" id="{3A29BCB3-3DBF-078D-C0D6-0043D9675B21}"/>
                </a:ext>
              </a:extLst>
            </p:cNvPr>
            <p:cNvSpPr>
              <a:spLocks noChangeArrowheads="1"/>
            </p:cNvSpPr>
            <p:nvPr/>
          </p:nvSpPr>
          <p:spPr bwMode="auto">
            <a:xfrm>
              <a:off x="3657600" y="1251074"/>
              <a:ext cx="5805488" cy="1873126"/>
            </a:xfrm>
            <a:prstGeom prst="rect">
              <a:avLst/>
            </a:prstGeom>
            <a:solidFill>
              <a:srgbClr val="DDDDDD">
                <a:alpha val="50195"/>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13" name="AutoShape 92">
              <a:extLst>
                <a:ext uri="{FF2B5EF4-FFF2-40B4-BE49-F238E27FC236}">
                  <a16:creationId xmlns:a16="http://schemas.microsoft.com/office/drawing/2014/main" id="{6AC9D10B-F883-D233-0908-59DC8EBECC73}"/>
                </a:ext>
              </a:extLst>
            </p:cNvPr>
            <p:cNvSpPr>
              <a:spLocks noChangeArrowheads="1"/>
            </p:cNvSpPr>
            <p:nvPr/>
          </p:nvSpPr>
          <p:spPr bwMode="auto">
            <a:xfrm>
              <a:off x="4848225" y="2020888"/>
              <a:ext cx="328613" cy="214312"/>
            </a:xfrm>
            <a:prstGeom prst="rightArrow">
              <a:avLst>
                <a:gd name="adj1" fmla="val 50000"/>
                <a:gd name="adj2" fmla="val 38333"/>
              </a:avLst>
            </a:prstGeom>
            <a:solidFill>
              <a:schemeClr val="accent2">
                <a:alpha val="50195"/>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14" name="AutoShape 93">
              <a:extLst>
                <a:ext uri="{FF2B5EF4-FFF2-40B4-BE49-F238E27FC236}">
                  <a16:creationId xmlns:a16="http://schemas.microsoft.com/office/drawing/2014/main" id="{73E573A9-364F-88B8-3361-C6AB608C3DC7}"/>
                </a:ext>
              </a:extLst>
            </p:cNvPr>
            <p:cNvSpPr>
              <a:spLocks noChangeArrowheads="1"/>
            </p:cNvSpPr>
            <p:nvPr/>
          </p:nvSpPr>
          <p:spPr bwMode="auto">
            <a:xfrm>
              <a:off x="5743575" y="2020888"/>
              <a:ext cx="328613" cy="214312"/>
            </a:xfrm>
            <a:prstGeom prst="rightArrow">
              <a:avLst>
                <a:gd name="adj1" fmla="val 50000"/>
                <a:gd name="adj2" fmla="val 38333"/>
              </a:avLst>
            </a:prstGeom>
            <a:solidFill>
              <a:schemeClr val="accent2">
                <a:alpha val="50195"/>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15" name="AutoShape 94">
              <a:extLst>
                <a:ext uri="{FF2B5EF4-FFF2-40B4-BE49-F238E27FC236}">
                  <a16:creationId xmlns:a16="http://schemas.microsoft.com/office/drawing/2014/main" id="{E56E143A-2A25-B1C9-DF5F-90EF4851ACFE}"/>
                </a:ext>
              </a:extLst>
            </p:cNvPr>
            <p:cNvSpPr>
              <a:spLocks noChangeArrowheads="1"/>
            </p:cNvSpPr>
            <p:nvPr/>
          </p:nvSpPr>
          <p:spPr bwMode="auto">
            <a:xfrm>
              <a:off x="7148513" y="2020888"/>
              <a:ext cx="328612" cy="214312"/>
            </a:xfrm>
            <a:prstGeom prst="rightArrow">
              <a:avLst>
                <a:gd name="adj1" fmla="val 50000"/>
                <a:gd name="adj2" fmla="val 38333"/>
              </a:avLst>
            </a:prstGeom>
            <a:solidFill>
              <a:schemeClr val="accent2">
                <a:alpha val="50195"/>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16" name="AutoShape 85">
              <a:extLst>
                <a:ext uri="{FF2B5EF4-FFF2-40B4-BE49-F238E27FC236}">
                  <a16:creationId xmlns:a16="http://schemas.microsoft.com/office/drawing/2014/main" id="{3B8D21D6-75F4-D3BD-F5C5-29E15DB4782E}"/>
                </a:ext>
              </a:extLst>
            </p:cNvPr>
            <p:cNvSpPr>
              <a:spLocks noChangeArrowheads="1"/>
            </p:cNvSpPr>
            <p:nvPr/>
          </p:nvSpPr>
          <p:spPr bwMode="auto">
            <a:xfrm>
              <a:off x="6122988" y="1862262"/>
              <a:ext cx="927100" cy="511175"/>
            </a:xfrm>
            <a:prstGeom prst="foldedCorner">
              <a:avLst>
                <a:gd name="adj" fmla="val 12500"/>
              </a:avLst>
            </a:prstGeom>
            <a:solidFill>
              <a:srgbClr val="FFFFCC"/>
            </a:solidFill>
            <a:ln w="9525">
              <a:solidFill>
                <a:srgbClr val="000000"/>
              </a:solidFill>
              <a:round/>
              <a:headEnd/>
              <a:tailEnd/>
            </a:ln>
            <a:effectLst>
              <a:outerShdw dist="57238" dir="2021404" algn="ctr" rotWithShape="0">
                <a:srgbClr val="000000"/>
              </a:outerShdw>
            </a:effectLst>
          </p:spPr>
          <p:txBody>
            <a:bodyPr lIns="9522" tIns="19043" rIns="9522" bIns="9522" anchor="ctr" anchorCtr="1"/>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b="0"/>
                <a:t>Byte code</a:t>
              </a:r>
            </a:p>
          </p:txBody>
        </p:sp>
        <p:sp>
          <p:nvSpPr>
            <p:cNvPr id="17" name="Text Box 55">
              <a:extLst>
                <a:ext uri="{FF2B5EF4-FFF2-40B4-BE49-F238E27FC236}">
                  <a16:creationId xmlns:a16="http://schemas.microsoft.com/office/drawing/2014/main" id="{5E240614-4FEE-4C5E-EDE7-F5E246A01D5F}"/>
                </a:ext>
              </a:extLst>
            </p:cNvPr>
            <p:cNvSpPr txBox="1">
              <a:spLocks noChangeArrowheads="1"/>
            </p:cNvSpPr>
            <p:nvPr/>
          </p:nvSpPr>
          <p:spPr bwMode="auto">
            <a:xfrm>
              <a:off x="6232525" y="2381374"/>
              <a:ext cx="857250" cy="244475"/>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a:t>(</a:t>
              </a:r>
              <a:r>
                <a:rPr lang="ja-JP" altLang="en-US"/>
                <a:t>～</a:t>
              </a:r>
              <a:r>
                <a:rPr lang="en-US" altLang="ja-JP"/>
                <a:t>. class)</a:t>
              </a:r>
            </a:p>
          </p:txBody>
        </p:sp>
        <p:sp>
          <p:nvSpPr>
            <p:cNvPr id="18" name="AutoShape 84">
              <a:extLst>
                <a:ext uri="{FF2B5EF4-FFF2-40B4-BE49-F238E27FC236}">
                  <a16:creationId xmlns:a16="http://schemas.microsoft.com/office/drawing/2014/main" id="{27AF1A6B-E892-489F-BB5E-D7C5536B61F6}"/>
                </a:ext>
              </a:extLst>
            </p:cNvPr>
            <p:cNvSpPr>
              <a:spLocks noChangeArrowheads="1"/>
            </p:cNvSpPr>
            <p:nvPr/>
          </p:nvSpPr>
          <p:spPr bwMode="auto">
            <a:xfrm>
              <a:off x="3830638" y="1832099"/>
              <a:ext cx="928687" cy="511175"/>
            </a:xfrm>
            <a:prstGeom prst="foldedCorner">
              <a:avLst>
                <a:gd name="adj" fmla="val 12500"/>
              </a:avLst>
            </a:prstGeom>
            <a:solidFill>
              <a:srgbClr val="FFFFCC"/>
            </a:solidFill>
            <a:ln w="9525">
              <a:solidFill>
                <a:srgbClr val="000000"/>
              </a:solidFill>
              <a:round/>
              <a:headEnd/>
              <a:tailEnd/>
            </a:ln>
            <a:effectLst>
              <a:outerShdw dist="57238" dir="2021404" algn="ctr" rotWithShape="0">
                <a:srgbClr val="000000"/>
              </a:outerShdw>
            </a:effectLst>
          </p:spPr>
          <p:txBody>
            <a:bodyPr lIns="9522" tIns="19043" rIns="9522" bIns="9522" anchor="ctr" anchorCtr="1"/>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r>
                <a:rPr lang="en-US" altLang="ja-JP" b="0"/>
                <a:t>source program</a:t>
              </a:r>
            </a:p>
          </p:txBody>
        </p:sp>
        <p:sp>
          <p:nvSpPr>
            <p:cNvPr id="19" name="Text Box 54">
              <a:extLst>
                <a:ext uri="{FF2B5EF4-FFF2-40B4-BE49-F238E27FC236}">
                  <a16:creationId xmlns:a16="http://schemas.microsoft.com/office/drawing/2014/main" id="{BB5C8A24-04CB-3111-A204-579EE602D724}"/>
                </a:ext>
              </a:extLst>
            </p:cNvPr>
            <p:cNvSpPr txBox="1">
              <a:spLocks noChangeArrowheads="1"/>
            </p:cNvSpPr>
            <p:nvPr/>
          </p:nvSpPr>
          <p:spPr bwMode="auto">
            <a:xfrm>
              <a:off x="3916363" y="2381374"/>
              <a:ext cx="773112" cy="244475"/>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a:t>(</a:t>
              </a:r>
              <a:r>
                <a:rPr lang="ja-JP" altLang="en-US"/>
                <a:t>～</a:t>
              </a:r>
              <a:r>
                <a:rPr lang="en-US" altLang="ja-JP"/>
                <a:t>. java)</a:t>
              </a:r>
            </a:p>
          </p:txBody>
        </p:sp>
        <p:sp>
          <p:nvSpPr>
            <p:cNvPr id="20" name="Text Box 58">
              <a:extLst>
                <a:ext uri="{FF2B5EF4-FFF2-40B4-BE49-F238E27FC236}">
                  <a16:creationId xmlns:a16="http://schemas.microsoft.com/office/drawing/2014/main" id="{C4334C10-7C71-E4A2-DCD0-C108163C1FCF}"/>
                </a:ext>
              </a:extLst>
            </p:cNvPr>
            <p:cNvSpPr txBox="1">
              <a:spLocks noChangeArrowheads="1"/>
            </p:cNvSpPr>
            <p:nvPr/>
          </p:nvSpPr>
          <p:spPr bwMode="auto">
            <a:xfrm>
              <a:off x="3717925" y="1562224"/>
              <a:ext cx="361950" cy="274638"/>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sz="1200"/>
                <a:t>1)</a:t>
              </a:r>
            </a:p>
          </p:txBody>
        </p:sp>
        <p:grpSp>
          <p:nvGrpSpPr>
            <p:cNvPr id="21" name="Group 89">
              <a:extLst>
                <a:ext uri="{FF2B5EF4-FFF2-40B4-BE49-F238E27FC236}">
                  <a16:creationId xmlns:a16="http://schemas.microsoft.com/office/drawing/2014/main" id="{F2BB7160-A32C-FB43-86FE-4B1422FAEADA}"/>
                </a:ext>
              </a:extLst>
            </p:cNvPr>
            <p:cNvGrpSpPr>
              <a:grpSpLocks/>
            </p:cNvGrpSpPr>
            <p:nvPr/>
          </p:nvGrpSpPr>
          <p:grpSpPr bwMode="auto">
            <a:xfrm>
              <a:off x="5218113" y="1532062"/>
              <a:ext cx="574675" cy="1416050"/>
              <a:chOff x="1602" y="1689"/>
              <a:chExt cx="305" cy="699"/>
            </a:xfrm>
          </p:grpSpPr>
          <p:sp>
            <p:nvSpPr>
              <p:cNvPr id="22" name="AutoShape 90">
                <a:extLst>
                  <a:ext uri="{FF2B5EF4-FFF2-40B4-BE49-F238E27FC236}">
                    <a16:creationId xmlns:a16="http://schemas.microsoft.com/office/drawing/2014/main" id="{833DACB3-11AD-D017-332E-1A51478A09E3}"/>
                  </a:ext>
                </a:extLst>
              </p:cNvPr>
              <p:cNvSpPr>
                <a:spLocks noChangeArrowheads="1"/>
              </p:cNvSpPr>
              <p:nvPr/>
            </p:nvSpPr>
            <p:spPr bwMode="auto">
              <a:xfrm>
                <a:off x="1602" y="1689"/>
                <a:ext cx="305" cy="699"/>
              </a:xfrm>
              <a:prstGeom prst="roundRect">
                <a:avLst>
                  <a:gd name="adj" fmla="val 16667"/>
                </a:avLst>
              </a:prstGeom>
              <a:solidFill>
                <a:srgbClr val="99CCFF">
                  <a:alpha val="50195"/>
                </a:srgbClr>
              </a:solidFill>
              <a:ln w="9525" algn="ctr">
                <a:solidFill>
                  <a:srgbClr val="000000"/>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23" name="Text Box 91">
                <a:extLst>
                  <a:ext uri="{FF2B5EF4-FFF2-40B4-BE49-F238E27FC236}">
                    <a16:creationId xmlns:a16="http://schemas.microsoft.com/office/drawing/2014/main" id="{D9A7CC81-87A8-6534-240C-E751AFB93554}"/>
                  </a:ext>
                </a:extLst>
              </p:cNvPr>
              <p:cNvSpPr txBox="1">
                <a:spLocks noChangeArrowheads="1"/>
              </p:cNvSpPr>
              <p:nvPr/>
            </p:nvSpPr>
            <p:spPr bwMode="auto">
              <a:xfrm>
                <a:off x="1722" y="1755"/>
                <a:ext cx="61" cy="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2" tIns="19043" rIns="9522" bIns="9522"/>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just" eaLnBrk="1" hangingPunct="1"/>
                <a:r>
                  <a:rPr lang="en-US" altLang="ja-JP" b="0" dirty="0" err="1"/>
                  <a:t>Compi</a:t>
                </a:r>
                <a:endParaRPr lang="en-US" altLang="ja-JP" b="0" dirty="0"/>
              </a:p>
              <a:p>
                <a:pPr algn="just" eaLnBrk="1" hangingPunct="1"/>
                <a:r>
                  <a:rPr lang="en-US" altLang="ja-JP" b="0" dirty="0" err="1"/>
                  <a:t>ler</a:t>
                </a:r>
                <a:endParaRPr lang="en-US" altLang="ja-JP" dirty="0"/>
              </a:p>
            </p:txBody>
          </p:sp>
        </p:grpSp>
        <p:sp>
          <p:nvSpPr>
            <p:cNvPr id="24" name="Text Box 56">
              <a:extLst>
                <a:ext uri="{FF2B5EF4-FFF2-40B4-BE49-F238E27FC236}">
                  <a16:creationId xmlns:a16="http://schemas.microsoft.com/office/drawing/2014/main" id="{650154BE-4699-0790-24CA-FDBB2AE4FEA3}"/>
                </a:ext>
              </a:extLst>
            </p:cNvPr>
            <p:cNvSpPr txBox="1">
              <a:spLocks noChangeArrowheads="1"/>
            </p:cNvSpPr>
            <p:nvPr/>
          </p:nvSpPr>
          <p:spPr bwMode="auto">
            <a:xfrm>
              <a:off x="5070475" y="1266949"/>
              <a:ext cx="1311275" cy="244475"/>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b="0" dirty="0"/>
                <a:t>Javac command</a:t>
              </a:r>
            </a:p>
          </p:txBody>
        </p:sp>
        <p:sp>
          <p:nvSpPr>
            <p:cNvPr id="25" name="Text Box 59">
              <a:extLst>
                <a:ext uri="{FF2B5EF4-FFF2-40B4-BE49-F238E27FC236}">
                  <a16:creationId xmlns:a16="http://schemas.microsoft.com/office/drawing/2014/main" id="{906FD3D0-F882-F9B4-6892-E965DAAB1980}"/>
                </a:ext>
              </a:extLst>
            </p:cNvPr>
            <p:cNvSpPr txBox="1">
              <a:spLocks noChangeArrowheads="1"/>
            </p:cNvSpPr>
            <p:nvPr/>
          </p:nvSpPr>
          <p:spPr bwMode="auto">
            <a:xfrm>
              <a:off x="4905375" y="1260599"/>
              <a:ext cx="361950" cy="274638"/>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sz="1200"/>
                <a:t>2)</a:t>
              </a:r>
            </a:p>
          </p:txBody>
        </p:sp>
        <p:grpSp>
          <p:nvGrpSpPr>
            <p:cNvPr id="26" name="Group 99">
              <a:extLst>
                <a:ext uri="{FF2B5EF4-FFF2-40B4-BE49-F238E27FC236}">
                  <a16:creationId xmlns:a16="http://schemas.microsoft.com/office/drawing/2014/main" id="{F5869977-662F-769F-C36C-498A61BC3131}"/>
                </a:ext>
              </a:extLst>
            </p:cNvPr>
            <p:cNvGrpSpPr>
              <a:grpSpLocks/>
            </p:cNvGrpSpPr>
            <p:nvPr/>
          </p:nvGrpSpPr>
          <p:grpSpPr bwMode="auto">
            <a:xfrm>
              <a:off x="7529513" y="1528887"/>
              <a:ext cx="484187" cy="1109662"/>
              <a:chOff x="1602" y="1689"/>
              <a:chExt cx="305" cy="699"/>
            </a:xfrm>
          </p:grpSpPr>
          <p:sp>
            <p:nvSpPr>
              <p:cNvPr id="27" name="AutoShape 100">
                <a:extLst>
                  <a:ext uri="{FF2B5EF4-FFF2-40B4-BE49-F238E27FC236}">
                    <a16:creationId xmlns:a16="http://schemas.microsoft.com/office/drawing/2014/main" id="{4DEAB8BE-F020-AC98-F52D-B5DB9FE93F67}"/>
                  </a:ext>
                </a:extLst>
              </p:cNvPr>
              <p:cNvSpPr>
                <a:spLocks noChangeArrowheads="1"/>
              </p:cNvSpPr>
              <p:nvPr/>
            </p:nvSpPr>
            <p:spPr bwMode="auto">
              <a:xfrm>
                <a:off x="1602" y="1689"/>
                <a:ext cx="305" cy="699"/>
              </a:xfrm>
              <a:prstGeom prst="roundRect">
                <a:avLst>
                  <a:gd name="adj" fmla="val 16667"/>
                </a:avLst>
              </a:prstGeom>
              <a:solidFill>
                <a:srgbClr val="99CCFF">
                  <a:alpha val="50195"/>
                </a:srgbClr>
              </a:solidFill>
              <a:ln w="9525" algn="ctr">
                <a:solidFill>
                  <a:srgbClr val="000000"/>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28" name="Text Box 101">
                <a:extLst>
                  <a:ext uri="{FF2B5EF4-FFF2-40B4-BE49-F238E27FC236}">
                    <a16:creationId xmlns:a16="http://schemas.microsoft.com/office/drawing/2014/main" id="{DD3C9A3D-F0AC-9977-C7CF-3257ADF82C1B}"/>
                  </a:ext>
                </a:extLst>
              </p:cNvPr>
              <p:cNvSpPr txBox="1">
                <a:spLocks noChangeArrowheads="1"/>
              </p:cNvSpPr>
              <p:nvPr/>
            </p:nvSpPr>
            <p:spPr bwMode="auto">
              <a:xfrm>
                <a:off x="1722" y="1755"/>
                <a:ext cx="61" cy="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2" tIns="19043" rIns="9522" bIns="9522"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just" eaLnBrk="1" hangingPunct="1"/>
                <a:r>
                  <a:rPr lang="en-US" altLang="ja-JP" b="0"/>
                  <a:t>JVM</a:t>
                </a:r>
                <a:endParaRPr lang="en-US" altLang="ja-JP"/>
              </a:p>
            </p:txBody>
          </p:sp>
        </p:grpSp>
        <p:sp>
          <p:nvSpPr>
            <p:cNvPr id="29" name="Text Box 102">
              <a:extLst>
                <a:ext uri="{FF2B5EF4-FFF2-40B4-BE49-F238E27FC236}">
                  <a16:creationId xmlns:a16="http://schemas.microsoft.com/office/drawing/2014/main" id="{F0709316-CE54-AD2B-5616-8441CCA7839E}"/>
                </a:ext>
              </a:extLst>
            </p:cNvPr>
            <p:cNvSpPr txBox="1">
              <a:spLocks noChangeArrowheads="1"/>
            </p:cNvSpPr>
            <p:nvPr/>
          </p:nvSpPr>
          <p:spPr bwMode="auto">
            <a:xfrm>
              <a:off x="7381875" y="1263774"/>
              <a:ext cx="1211263" cy="244475"/>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b="0"/>
                <a:t>java command</a:t>
              </a:r>
            </a:p>
          </p:txBody>
        </p:sp>
        <p:sp>
          <p:nvSpPr>
            <p:cNvPr id="30" name="Text Box 103">
              <a:extLst>
                <a:ext uri="{FF2B5EF4-FFF2-40B4-BE49-F238E27FC236}">
                  <a16:creationId xmlns:a16="http://schemas.microsoft.com/office/drawing/2014/main" id="{BB4D242D-0DE8-0089-4992-17C7B854D015}"/>
                </a:ext>
              </a:extLst>
            </p:cNvPr>
            <p:cNvSpPr txBox="1">
              <a:spLocks noChangeArrowheads="1"/>
            </p:cNvSpPr>
            <p:nvPr/>
          </p:nvSpPr>
          <p:spPr bwMode="auto">
            <a:xfrm>
              <a:off x="7216775" y="1251074"/>
              <a:ext cx="361950" cy="274638"/>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sz="1200"/>
                <a:t>3)</a:t>
              </a:r>
            </a:p>
          </p:txBody>
        </p:sp>
        <p:sp>
          <p:nvSpPr>
            <p:cNvPr id="31" name="AutoShape 104">
              <a:extLst>
                <a:ext uri="{FF2B5EF4-FFF2-40B4-BE49-F238E27FC236}">
                  <a16:creationId xmlns:a16="http://schemas.microsoft.com/office/drawing/2014/main" id="{9506A264-4D4C-2CD0-6D3B-A5E528989264}"/>
                </a:ext>
              </a:extLst>
            </p:cNvPr>
            <p:cNvSpPr>
              <a:spLocks noChangeArrowheads="1"/>
            </p:cNvSpPr>
            <p:nvPr/>
          </p:nvSpPr>
          <p:spPr bwMode="auto">
            <a:xfrm>
              <a:off x="8069263" y="2020888"/>
              <a:ext cx="328612" cy="214312"/>
            </a:xfrm>
            <a:prstGeom prst="rightArrow">
              <a:avLst>
                <a:gd name="adj1" fmla="val 50000"/>
                <a:gd name="adj2" fmla="val 38333"/>
              </a:avLst>
            </a:prstGeom>
            <a:solidFill>
              <a:schemeClr val="accent2">
                <a:alpha val="50195"/>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32" name="Oval 106">
              <a:extLst>
                <a:ext uri="{FF2B5EF4-FFF2-40B4-BE49-F238E27FC236}">
                  <a16:creationId xmlns:a16="http://schemas.microsoft.com/office/drawing/2014/main" id="{200BE904-BC57-15E8-7A3D-95E285427CC5}"/>
                </a:ext>
              </a:extLst>
            </p:cNvPr>
            <p:cNvSpPr>
              <a:spLocks noChangeArrowheads="1"/>
            </p:cNvSpPr>
            <p:nvPr/>
          </p:nvSpPr>
          <p:spPr bwMode="auto">
            <a:xfrm>
              <a:off x="8482013" y="1878137"/>
              <a:ext cx="831850" cy="379412"/>
            </a:xfrm>
            <a:prstGeom prst="ellipse">
              <a:avLst/>
            </a:prstGeom>
            <a:solidFill>
              <a:srgbClr val="FFFF00">
                <a:alpha val="50195"/>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b="0"/>
                <a:t>Execute</a:t>
              </a:r>
            </a:p>
          </p:txBody>
        </p:sp>
        <p:sp>
          <p:nvSpPr>
            <p:cNvPr id="58" name="AutoShape 28">
              <a:extLst>
                <a:ext uri="{FF2B5EF4-FFF2-40B4-BE49-F238E27FC236}">
                  <a16:creationId xmlns:a16="http://schemas.microsoft.com/office/drawing/2014/main" id="{D57D95AB-D91A-5CB9-989B-23599BF89401}"/>
                </a:ext>
              </a:extLst>
            </p:cNvPr>
            <p:cNvSpPr>
              <a:spLocks noChangeArrowheads="1"/>
            </p:cNvSpPr>
            <p:nvPr/>
          </p:nvSpPr>
          <p:spPr bwMode="auto">
            <a:xfrm>
              <a:off x="6542881" y="491314"/>
              <a:ext cx="1690688" cy="666750"/>
            </a:xfrm>
            <a:prstGeom prst="wedgeRoundRectCallout">
              <a:avLst>
                <a:gd name="adj1" fmla="val -44458"/>
                <a:gd name="adj2" fmla="val 155954"/>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r>
                <a:rPr lang="en-US" altLang="ja-JP" b="0" dirty="0" err="1"/>
                <a:t>Được</a:t>
              </a:r>
              <a:r>
                <a:rPr lang="en-US" altLang="ja-JP" b="0" dirty="0"/>
                <a:t> generate </a:t>
              </a:r>
              <a:r>
                <a:rPr lang="en-US" altLang="ja-JP" b="0" dirty="0" err="1"/>
                <a:t>làm</a:t>
              </a:r>
              <a:r>
                <a:rPr lang="en-US" altLang="ja-JP" b="0" dirty="0"/>
                <a:t> </a:t>
              </a:r>
              <a:r>
                <a:rPr lang="en-US" altLang="ja-JP" b="0" dirty="0" err="1"/>
                <a:t>ngôn</a:t>
              </a:r>
              <a:r>
                <a:rPr lang="en-US" altLang="ja-JP" b="0" dirty="0"/>
                <a:t> </a:t>
              </a:r>
              <a:r>
                <a:rPr lang="en-US" altLang="ja-JP" b="0" dirty="0" err="1"/>
                <a:t>ngữ</a:t>
              </a:r>
              <a:r>
                <a:rPr lang="en-US" altLang="ja-JP" b="0" dirty="0"/>
                <a:t> </a:t>
              </a:r>
              <a:r>
                <a:rPr lang="en-US" altLang="ja-JP" b="0" dirty="0" err="1"/>
                <a:t>trung</a:t>
              </a:r>
              <a:r>
                <a:rPr lang="en-US" altLang="ja-JP" b="0" dirty="0"/>
                <a:t> </a:t>
              </a:r>
              <a:r>
                <a:rPr lang="en-US" altLang="ja-JP" b="0" dirty="0" err="1"/>
                <a:t>gian</a:t>
              </a:r>
              <a:r>
                <a:rPr lang="en-US" altLang="ja-JP" b="0" dirty="0"/>
                <a:t> </a:t>
              </a:r>
              <a:r>
                <a:rPr lang="en-US" altLang="ja-JP" b="0" dirty="0" err="1"/>
                <a:t>không</a:t>
              </a:r>
              <a:r>
                <a:rPr lang="en-US" altLang="ja-JP" b="0" dirty="0"/>
                <a:t> </a:t>
              </a:r>
              <a:r>
                <a:rPr lang="en-US" altLang="ja-JP" b="0" dirty="0" err="1"/>
                <a:t>phụ</a:t>
              </a:r>
              <a:r>
                <a:rPr lang="en-US" altLang="ja-JP" b="0" dirty="0"/>
                <a:t> </a:t>
              </a:r>
              <a:r>
                <a:rPr lang="en-US" altLang="ja-JP" b="0" dirty="0" err="1"/>
                <a:t>thuộc</a:t>
              </a:r>
              <a:r>
                <a:rPr lang="en-US" altLang="ja-JP" b="0" dirty="0"/>
                <a:t> </a:t>
              </a:r>
              <a:r>
                <a:rPr lang="en-US" altLang="ja-JP" b="0" dirty="0" err="1"/>
                <a:t>vào</a:t>
              </a:r>
              <a:r>
                <a:rPr lang="en-US" altLang="ja-JP" b="0" dirty="0"/>
                <a:t> platform.</a:t>
              </a:r>
            </a:p>
          </p:txBody>
        </p:sp>
        <p:sp>
          <p:nvSpPr>
            <p:cNvPr id="60" name="AutoShape 27">
              <a:extLst>
                <a:ext uri="{FF2B5EF4-FFF2-40B4-BE49-F238E27FC236}">
                  <a16:creationId xmlns:a16="http://schemas.microsoft.com/office/drawing/2014/main" id="{FB354C0A-0D93-17A2-C8AB-EB7BA8AAA6EE}"/>
                </a:ext>
              </a:extLst>
            </p:cNvPr>
            <p:cNvSpPr>
              <a:spLocks noChangeArrowheads="1"/>
            </p:cNvSpPr>
            <p:nvPr/>
          </p:nvSpPr>
          <p:spPr bwMode="auto">
            <a:xfrm>
              <a:off x="4500562" y="517863"/>
              <a:ext cx="1881188" cy="590550"/>
            </a:xfrm>
            <a:prstGeom prst="wedgeRoundRectCallout">
              <a:avLst>
                <a:gd name="adj1" fmla="val -38606"/>
                <a:gd name="adj2" fmla="val 164245"/>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r>
                <a:rPr lang="en-US" altLang="ja-JP" b="0" dirty="0" err="1"/>
                <a:t>Tạo</a:t>
              </a:r>
              <a:r>
                <a:rPr lang="en-US" altLang="ja-JP" b="0" dirty="0"/>
                <a:t> </a:t>
              </a:r>
              <a:r>
                <a:rPr lang="en-US" altLang="ja-JP" b="0" dirty="0" err="1"/>
                <a:t>bằng</a:t>
              </a:r>
              <a:r>
                <a:rPr lang="en-US" altLang="ja-JP" b="0" dirty="0"/>
                <a:t> </a:t>
              </a:r>
              <a:r>
                <a:rPr lang="en-US" altLang="ja-JP" b="0" dirty="0" err="1"/>
                <a:t>phương</a:t>
              </a:r>
              <a:r>
                <a:rPr lang="en-US" altLang="ja-JP" b="0" dirty="0"/>
                <a:t> </a:t>
              </a:r>
              <a:r>
                <a:rPr lang="en-US" altLang="ja-JP" b="0" dirty="0" err="1"/>
                <a:t>pháp</a:t>
              </a:r>
              <a:r>
                <a:rPr lang="en-US" altLang="ja-JP" b="0" dirty="0"/>
                <a:t> </a:t>
              </a:r>
              <a:r>
                <a:rPr lang="en-US" altLang="ja-JP" b="0" dirty="0" err="1"/>
                <a:t>chung</a:t>
              </a:r>
              <a:r>
                <a:rPr lang="en-US" altLang="ja-JP" b="0" dirty="0"/>
                <a:t> </a:t>
              </a:r>
              <a:r>
                <a:rPr lang="en-US" altLang="ja-JP" b="0" dirty="0" err="1"/>
                <a:t>không</a:t>
              </a:r>
              <a:r>
                <a:rPr lang="en-US" altLang="ja-JP" b="0" dirty="0"/>
                <a:t> </a:t>
              </a:r>
              <a:r>
                <a:rPr lang="en-US" altLang="ja-JP" b="0" dirty="0" err="1"/>
                <a:t>phụ</a:t>
              </a:r>
              <a:r>
                <a:rPr lang="en-US" altLang="ja-JP" b="0" dirty="0"/>
                <a:t> </a:t>
              </a:r>
              <a:r>
                <a:rPr lang="en-US" altLang="ja-JP" b="0" dirty="0" err="1"/>
                <a:t>thuộc</a:t>
              </a:r>
              <a:r>
                <a:rPr lang="en-US" altLang="ja-JP" b="0" dirty="0"/>
                <a:t> </a:t>
              </a:r>
              <a:r>
                <a:rPr lang="en-US" altLang="ja-JP" b="0" dirty="0" err="1"/>
                <a:t>vào</a:t>
              </a:r>
              <a:r>
                <a:rPr lang="en-US" altLang="ja-JP" b="0" dirty="0"/>
                <a:t> platform</a:t>
              </a:r>
            </a:p>
          </p:txBody>
        </p:sp>
      </p:grpSp>
    </p:spTree>
    <p:extLst>
      <p:ext uri="{BB962C8B-B14F-4D97-AF65-F5344CB8AC3E}">
        <p14:creationId xmlns:p14="http://schemas.microsoft.com/office/powerpoint/2010/main" val="14059829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6396C-50D3-F747-66D5-F2DF41BDA133}"/>
              </a:ext>
            </a:extLst>
          </p:cNvPr>
          <p:cNvSpPr>
            <a:spLocks noGrp="1"/>
          </p:cNvSpPr>
          <p:nvPr>
            <p:ph type="title"/>
          </p:nvPr>
        </p:nvSpPr>
        <p:spPr/>
        <p:txBody>
          <a:bodyPr>
            <a:normAutofit fontScale="90000"/>
          </a:bodyPr>
          <a:lstStyle/>
          <a:p>
            <a:r>
              <a:rPr lang="en-US" altLang="ja-JP" dirty="0" err="1">
                <a:latin typeface="Times New Roman" panose="02020603050405020304" pitchFamily="18" charset="0"/>
                <a:ea typeface="MS UI Gothic" panose="020B0600070205080204" pitchFamily="50" charset="-128"/>
              </a:rPr>
              <a:t>Tạo</a:t>
            </a:r>
            <a:r>
              <a:rPr lang="en-US" altLang="ja-JP" dirty="0">
                <a:latin typeface="Times New Roman" panose="02020603050405020304" pitchFamily="18" charset="0"/>
                <a:ea typeface="MS UI Gothic" panose="020B0600070205080204" pitchFamily="50" charset="-128"/>
              </a:rPr>
              <a:t> source program</a:t>
            </a:r>
            <a:endParaRPr kumimoji="1" lang="ja-JP" altLang="en-US" dirty="0"/>
          </a:p>
        </p:txBody>
      </p:sp>
      <p:sp>
        <p:nvSpPr>
          <p:cNvPr id="3" name="Content Placeholder 2">
            <a:extLst>
              <a:ext uri="{FF2B5EF4-FFF2-40B4-BE49-F238E27FC236}">
                <a16:creationId xmlns:a16="http://schemas.microsoft.com/office/drawing/2014/main" id="{5D12AB71-878C-224C-C8B2-AC920C61A1B3}"/>
              </a:ext>
            </a:extLst>
          </p:cNvPr>
          <p:cNvSpPr>
            <a:spLocks noGrp="1"/>
          </p:cNvSpPr>
          <p:nvPr>
            <p:ph idx="1"/>
          </p:nvPr>
        </p:nvSpPr>
        <p:spPr/>
        <p:txBody>
          <a:bodyPr/>
          <a:lstStyle/>
          <a:p>
            <a:endParaRPr kumimoji="1" lang="ja-JP" altLang="en-US"/>
          </a:p>
        </p:txBody>
      </p:sp>
      <p:sp>
        <p:nvSpPr>
          <p:cNvPr id="4" name="Slide Number Placeholder 3">
            <a:extLst>
              <a:ext uri="{FF2B5EF4-FFF2-40B4-BE49-F238E27FC236}">
                <a16:creationId xmlns:a16="http://schemas.microsoft.com/office/drawing/2014/main" id="{CC538861-221D-3E88-965E-2857A93EA65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16</a:t>
            </a:fld>
            <a:endParaRPr lang="en-US" altLang="ja-JP"/>
          </a:p>
        </p:txBody>
      </p:sp>
      <p:sp>
        <p:nvSpPr>
          <p:cNvPr id="5" name="Rectangle 2">
            <a:extLst>
              <a:ext uri="{FF2B5EF4-FFF2-40B4-BE49-F238E27FC236}">
                <a16:creationId xmlns:a16="http://schemas.microsoft.com/office/drawing/2014/main" id="{6BFDA1D4-8D33-E2EE-0933-9FD724070A6D}"/>
              </a:ext>
            </a:extLst>
          </p:cNvPr>
          <p:cNvSpPr txBox="1">
            <a:spLocks noChangeArrowheads="1"/>
          </p:cNvSpPr>
          <p:nvPr/>
        </p:nvSpPr>
        <p:spPr bwMode="auto">
          <a:xfrm>
            <a:off x="344488" y="1250950"/>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endParaRPr lang="en-US" altLang="ja-JP" b="0" kern="0" dirty="0">
              <a:latin typeface="Times New Roman" panose="02020603050405020304" pitchFamily="18" charset="0"/>
            </a:endParaRPr>
          </a:p>
        </p:txBody>
      </p:sp>
      <p:sp>
        <p:nvSpPr>
          <p:cNvPr id="6" name="Rectangle 4">
            <a:extLst>
              <a:ext uri="{FF2B5EF4-FFF2-40B4-BE49-F238E27FC236}">
                <a16:creationId xmlns:a16="http://schemas.microsoft.com/office/drawing/2014/main" id="{D5D378A1-8A6D-A9CD-10C5-257D8DF0D515}"/>
              </a:ext>
            </a:extLst>
          </p:cNvPr>
          <p:cNvSpPr>
            <a:spLocks noChangeArrowheads="1"/>
          </p:cNvSpPr>
          <p:nvPr/>
        </p:nvSpPr>
        <p:spPr bwMode="auto">
          <a:xfrm>
            <a:off x="344488" y="1916112"/>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a:latin typeface="Times New Roman" panose="02020603050405020304" pitchFamily="18" charset="0"/>
              </a:rPr>
              <a:t>Trình tự tạo source program</a:t>
            </a:r>
          </a:p>
          <a:p>
            <a:pPr lvl="1" eaLnBrk="1" hangingPunct="1"/>
            <a:endParaRPr lang="en-US" altLang="ja-JP" sz="2400" b="0">
              <a:latin typeface="Times New Roman" panose="02020603050405020304" pitchFamily="18" charset="0"/>
            </a:endParaRPr>
          </a:p>
        </p:txBody>
      </p:sp>
      <p:sp>
        <p:nvSpPr>
          <p:cNvPr id="7" name="Text Box 6">
            <a:extLst>
              <a:ext uri="{FF2B5EF4-FFF2-40B4-BE49-F238E27FC236}">
                <a16:creationId xmlns:a16="http://schemas.microsoft.com/office/drawing/2014/main" id="{A4B61478-34B8-A3EF-5CCF-994122896099}"/>
              </a:ext>
            </a:extLst>
          </p:cNvPr>
          <p:cNvSpPr txBox="1">
            <a:spLocks noChangeArrowheads="1"/>
          </p:cNvSpPr>
          <p:nvPr/>
        </p:nvSpPr>
        <p:spPr bwMode="auto">
          <a:xfrm>
            <a:off x="344488" y="2474912"/>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1)</a:t>
            </a:r>
            <a:r>
              <a:rPr lang="ja-JP" altLang="en-US" sz="2000">
                <a:latin typeface="Times New Roman" panose="02020603050405020304" pitchFamily="18" charset="0"/>
              </a:rPr>
              <a:t>　</a:t>
            </a:r>
            <a:r>
              <a:rPr lang="en-US" altLang="ja-JP" sz="2000">
                <a:latin typeface="Times New Roman" panose="02020603050405020304" pitchFamily="18" charset="0"/>
              </a:rPr>
              <a:t>Khởi động text editor</a:t>
            </a:r>
          </a:p>
        </p:txBody>
      </p:sp>
      <p:sp>
        <p:nvSpPr>
          <p:cNvPr id="8" name="Text Box 7">
            <a:extLst>
              <a:ext uri="{FF2B5EF4-FFF2-40B4-BE49-F238E27FC236}">
                <a16:creationId xmlns:a16="http://schemas.microsoft.com/office/drawing/2014/main" id="{08C804DA-99B4-EC7E-C7A1-58FCE905B374}"/>
              </a:ext>
            </a:extLst>
          </p:cNvPr>
          <p:cNvSpPr txBox="1">
            <a:spLocks noChangeArrowheads="1"/>
          </p:cNvSpPr>
          <p:nvPr/>
        </p:nvSpPr>
        <p:spPr bwMode="auto">
          <a:xfrm>
            <a:off x="344488" y="3582987"/>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2)</a:t>
            </a:r>
            <a:r>
              <a:rPr lang="ja-JP" altLang="en-US" sz="2000">
                <a:latin typeface="Times New Roman" panose="02020603050405020304" pitchFamily="18" charset="0"/>
              </a:rPr>
              <a:t>　</a:t>
            </a:r>
            <a:r>
              <a:rPr lang="en-US" altLang="ja-JP" sz="2000">
                <a:latin typeface="Times New Roman" panose="02020603050405020304" pitchFamily="18" charset="0"/>
              </a:rPr>
              <a:t>Input program</a:t>
            </a:r>
          </a:p>
        </p:txBody>
      </p:sp>
      <p:sp>
        <p:nvSpPr>
          <p:cNvPr id="9" name="Text Box 9">
            <a:extLst>
              <a:ext uri="{FF2B5EF4-FFF2-40B4-BE49-F238E27FC236}">
                <a16:creationId xmlns:a16="http://schemas.microsoft.com/office/drawing/2014/main" id="{CEC78C53-5A1D-B8BC-97BA-D7D85EC15928}"/>
              </a:ext>
            </a:extLst>
          </p:cNvPr>
          <p:cNvSpPr txBox="1">
            <a:spLocks noChangeArrowheads="1"/>
          </p:cNvSpPr>
          <p:nvPr/>
        </p:nvSpPr>
        <p:spPr bwMode="auto">
          <a:xfrm>
            <a:off x="344488" y="4937125"/>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3)</a:t>
            </a:r>
            <a:r>
              <a:rPr lang="ja-JP" altLang="en-US" sz="2000">
                <a:latin typeface="Times New Roman" panose="02020603050405020304" pitchFamily="18" charset="0"/>
              </a:rPr>
              <a:t>　</a:t>
            </a:r>
            <a:r>
              <a:rPr lang="en-US" altLang="ja-JP" sz="2000">
                <a:latin typeface="Times New Roman" panose="02020603050405020304" pitchFamily="18" charset="0"/>
              </a:rPr>
              <a:t>Đặt tên là </a:t>
            </a:r>
            <a:r>
              <a:rPr lang="ja-JP" altLang="en-US" sz="2000">
                <a:latin typeface="Times New Roman" panose="02020603050405020304" pitchFamily="18" charset="0"/>
              </a:rPr>
              <a:t>「</a:t>
            </a:r>
            <a:r>
              <a:rPr lang="en-US" altLang="ja-JP" sz="2000">
                <a:latin typeface="Times New Roman" panose="02020603050405020304" pitchFamily="18" charset="0"/>
              </a:rPr>
              <a:t>class name</a:t>
            </a:r>
            <a:r>
              <a:rPr lang="en-US" altLang="ja-JP" sz="2000">
                <a:latin typeface="Times New Roman" panose="02020603050405020304" pitchFamily="18" charset="0"/>
                <a:ea typeface="ＭＳ ゴシック" panose="020B0609070205080204" pitchFamily="49" charset="-128"/>
              </a:rPr>
              <a:t>.java</a:t>
            </a:r>
            <a:r>
              <a:rPr lang="ja-JP" altLang="en-US" sz="2000">
                <a:latin typeface="Times New Roman" panose="02020603050405020304" pitchFamily="18" charset="0"/>
              </a:rPr>
              <a:t>」 </a:t>
            </a:r>
            <a:r>
              <a:rPr lang="en-US" altLang="ja-JP" sz="2000">
                <a:latin typeface="Times New Roman" panose="02020603050405020304" pitchFamily="18" charset="0"/>
              </a:rPr>
              <a:t>rồi save.</a:t>
            </a:r>
          </a:p>
        </p:txBody>
      </p:sp>
      <p:sp>
        <p:nvSpPr>
          <p:cNvPr id="10" name="AutoShape 12">
            <a:extLst>
              <a:ext uri="{FF2B5EF4-FFF2-40B4-BE49-F238E27FC236}">
                <a16:creationId xmlns:a16="http://schemas.microsoft.com/office/drawing/2014/main" id="{C7E572B2-E94C-8B08-705F-55617FE91837}"/>
              </a:ext>
            </a:extLst>
          </p:cNvPr>
          <p:cNvSpPr>
            <a:spLocks noChangeArrowheads="1"/>
          </p:cNvSpPr>
          <p:nvPr/>
        </p:nvSpPr>
        <p:spPr bwMode="auto">
          <a:xfrm>
            <a:off x="3870325" y="3030537"/>
            <a:ext cx="4300538" cy="779463"/>
          </a:xfrm>
          <a:prstGeom prst="wedgeRoundRectCallout">
            <a:avLst>
              <a:gd name="adj1" fmla="val -59597"/>
              <a:gd name="adj2" fmla="val 49593"/>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r>
              <a:rPr lang="en-US" altLang="ja-JP" sz="1800">
                <a:latin typeface="Times New Roman" panose="02020603050405020304" pitchFamily="18" charset="0"/>
              </a:rPr>
              <a:t>Nội dung input tham khảo trong phần </a:t>
            </a:r>
            <a:r>
              <a:rPr lang="ja-JP" altLang="en-US" sz="1800">
                <a:latin typeface="Times New Roman" panose="02020603050405020304" pitchFamily="18" charset="0"/>
              </a:rPr>
              <a:t>「</a:t>
            </a:r>
            <a:r>
              <a:rPr lang="en-US" altLang="ja-JP" sz="1800">
                <a:latin typeface="Times New Roman" panose="02020603050405020304" pitchFamily="18" charset="0"/>
              </a:rPr>
              <a:t>2.2 Tạo application đơn giản</a:t>
            </a:r>
            <a:r>
              <a:rPr lang="ja-JP" altLang="en-US" sz="1800">
                <a:latin typeface="Times New Roman" panose="02020603050405020304" pitchFamily="18" charset="0"/>
              </a:rPr>
              <a:t>」</a:t>
            </a:r>
          </a:p>
        </p:txBody>
      </p:sp>
      <p:sp>
        <p:nvSpPr>
          <p:cNvPr id="11" name="AutoShape 13">
            <a:extLst>
              <a:ext uri="{FF2B5EF4-FFF2-40B4-BE49-F238E27FC236}">
                <a16:creationId xmlns:a16="http://schemas.microsoft.com/office/drawing/2014/main" id="{1F0C3796-0AB7-07E2-D403-96BDB9BEB4C8}"/>
              </a:ext>
            </a:extLst>
          </p:cNvPr>
          <p:cNvSpPr>
            <a:spLocks noChangeArrowheads="1"/>
          </p:cNvSpPr>
          <p:nvPr/>
        </p:nvSpPr>
        <p:spPr bwMode="auto">
          <a:xfrm>
            <a:off x="847725" y="4240212"/>
            <a:ext cx="2284413" cy="481013"/>
          </a:xfrm>
          <a:prstGeom prst="wedgeRoundRectCallout">
            <a:avLst>
              <a:gd name="adj1" fmla="val -4968"/>
              <a:gd name="adj2" fmla="val 106764"/>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ja-JP" altLang="en-US" sz="1800">
                <a:latin typeface="Times New Roman" panose="02020603050405020304" pitchFamily="18" charset="0"/>
              </a:rPr>
              <a:t>「</a:t>
            </a:r>
            <a:r>
              <a:rPr lang="en-US" altLang="ja-JP" sz="1800">
                <a:latin typeface="Times New Roman" panose="02020603050405020304" pitchFamily="18" charset="0"/>
              </a:rPr>
              <a:t>HelloWorld. java</a:t>
            </a:r>
            <a:r>
              <a:rPr lang="ja-JP" altLang="en-US" sz="1800">
                <a:latin typeface="Times New Roman" panose="02020603050405020304" pitchFamily="18" charset="0"/>
              </a:rPr>
              <a:t>」</a:t>
            </a:r>
          </a:p>
        </p:txBody>
      </p:sp>
    </p:spTree>
    <p:extLst>
      <p:ext uri="{BB962C8B-B14F-4D97-AF65-F5344CB8AC3E}">
        <p14:creationId xmlns:p14="http://schemas.microsoft.com/office/powerpoint/2010/main" val="5023321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CAE0C-DA91-25E9-E721-73285DA63E1C}"/>
              </a:ext>
            </a:extLst>
          </p:cNvPr>
          <p:cNvSpPr>
            <a:spLocks noGrp="1"/>
          </p:cNvSpPr>
          <p:nvPr>
            <p:ph type="title"/>
          </p:nvPr>
        </p:nvSpPr>
        <p:spPr/>
        <p:txBody>
          <a:bodyPr>
            <a:normAutofit fontScale="90000"/>
          </a:bodyPr>
          <a:lstStyle/>
          <a:p>
            <a:r>
              <a:rPr lang="en-US" altLang="ja-JP" dirty="0" err="1">
                <a:latin typeface="Times New Roman" panose="02020603050405020304" pitchFamily="18" charset="0"/>
                <a:ea typeface="MS UI Gothic" panose="020B0600070205080204" pitchFamily="50" charset="-128"/>
              </a:rPr>
              <a:t>Tạo</a:t>
            </a:r>
            <a:r>
              <a:rPr lang="en-US" altLang="ja-JP" dirty="0">
                <a:latin typeface="Times New Roman" panose="02020603050405020304" pitchFamily="18" charset="0"/>
                <a:ea typeface="MS UI Gothic" panose="020B0600070205080204" pitchFamily="50" charset="-128"/>
              </a:rPr>
              <a:t> program </a:t>
            </a:r>
            <a:r>
              <a:rPr lang="en-US" altLang="ja-JP" dirty="0" err="1">
                <a:latin typeface="Times New Roman" panose="02020603050405020304" pitchFamily="18" charset="0"/>
                <a:ea typeface="MS UI Gothic" panose="020B0600070205080204" pitchFamily="50" charset="-128"/>
              </a:rPr>
              <a:t>đơn</a:t>
            </a:r>
            <a:r>
              <a:rPr lang="en-US" altLang="ja-JP" dirty="0">
                <a:latin typeface="Times New Roman" panose="02020603050405020304" pitchFamily="18" charset="0"/>
                <a:ea typeface="MS UI Gothic" panose="020B0600070205080204" pitchFamily="50" charset="-128"/>
              </a:rPr>
              <a:t> </a:t>
            </a:r>
            <a:r>
              <a:rPr lang="en-US" altLang="ja-JP" dirty="0" err="1">
                <a:latin typeface="Times New Roman" panose="02020603050405020304" pitchFamily="18" charset="0"/>
                <a:ea typeface="MS UI Gothic" panose="020B0600070205080204" pitchFamily="50" charset="-128"/>
              </a:rPr>
              <a:t>giản</a:t>
            </a:r>
            <a:endParaRPr kumimoji="1" lang="ja-JP" altLang="en-US" dirty="0"/>
          </a:p>
        </p:txBody>
      </p:sp>
      <p:sp>
        <p:nvSpPr>
          <p:cNvPr id="4" name="Slide Number Placeholder 3">
            <a:extLst>
              <a:ext uri="{FF2B5EF4-FFF2-40B4-BE49-F238E27FC236}">
                <a16:creationId xmlns:a16="http://schemas.microsoft.com/office/drawing/2014/main" id="{E714ABAC-B094-49D7-0E0B-B1DB159BAC0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17</a:t>
            </a:fld>
            <a:endParaRPr lang="en-US" altLang="ja-JP"/>
          </a:p>
        </p:txBody>
      </p:sp>
      <p:sp>
        <p:nvSpPr>
          <p:cNvPr id="5" name="Slide Number Placeholder 4">
            <a:extLst>
              <a:ext uri="{FF2B5EF4-FFF2-40B4-BE49-F238E27FC236}">
                <a16:creationId xmlns:a16="http://schemas.microsoft.com/office/drawing/2014/main" id="{8FA1361B-29BC-63C6-A6A7-7BF576E7BD21}"/>
              </a:ext>
            </a:extLst>
          </p:cNvPr>
          <p:cNvSpPr txBox="1">
            <a:spLocks/>
          </p:cNvSpPr>
          <p:nvPr/>
        </p:nvSpPr>
        <p:spPr>
          <a:xfrm>
            <a:off x="7616825" y="6381750"/>
            <a:ext cx="2133600" cy="476250"/>
          </a:xfrm>
          <a:prstGeom prst="rect">
            <a:avLst/>
          </a:prstGeom>
        </p:spPr>
        <p:txBody>
          <a:bodyPr anchor="ctr"/>
          <a:lstStyle>
            <a:defPPr>
              <a:defRPr lang="ja-JP"/>
            </a:defPPr>
            <a:lvl1pPr algn="l" rtl="0" eaLnBrk="0" fontAlgn="base" hangingPunct="0">
              <a:spcBef>
                <a:spcPct val="0"/>
              </a:spcBef>
              <a:spcAft>
                <a:spcPct val="0"/>
              </a:spcAft>
              <a:defRPr kumimoji="1" sz="105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a:lstStyle>
          <a:p>
            <a:pPr>
              <a:defRPr/>
            </a:pPr>
            <a:fld id="{9DE1E46D-4E33-45E5-9283-E01678CCEC9E}" type="slidenum">
              <a:rPr lang="en-US" altLang="ja-JP" smtClean="0"/>
              <a:pPr>
                <a:defRPr/>
              </a:pPr>
              <a:t>17</a:t>
            </a:fld>
            <a:endParaRPr lang="en-US" altLang="ja-JP"/>
          </a:p>
        </p:txBody>
      </p:sp>
      <p:sp>
        <p:nvSpPr>
          <p:cNvPr id="6" name="Rectangle 4">
            <a:extLst>
              <a:ext uri="{FF2B5EF4-FFF2-40B4-BE49-F238E27FC236}">
                <a16:creationId xmlns:a16="http://schemas.microsoft.com/office/drawing/2014/main" id="{B4083A6A-85EB-E865-682E-6F33176957E4}"/>
              </a:ext>
            </a:extLst>
          </p:cNvPr>
          <p:cNvSpPr>
            <a:spLocks noChangeArrowheads="1"/>
          </p:cNvSpPr>
          <p:nvPr/>
        </p:nvSpPr>
        <p:spPr bwMode="auto">
          <a:xfrm>
            <a:off x="348575" y="889738"/>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dirty="0">
                <a:latin typeface="Times New Roman" panose="02020603050405020304" pitchFamily="18" charset="0"/>
              </a:rPr>
              <a:t>Program </a:t>
            </a:r>
            <a:r>
              <a:rPr lang="en-US" altLang="ja-JP" sz="2400" b="0" dirty="0" err="1">
                <a:latin typeface="Times New Roman" panose="02020603050405020304" pitchFamily="18" charset="0"/>
              </a:rPr>
              <a:t>sẽ</a:t>
            </a:r>
            <a:r>
              <a:rPr lang="en-US" altLang="ja-JP" sz="2400" b="0" dirty="0">
                <a:latin typeface="Times New Roman" panose="02020603050405020304" pitchFamily="18" charset="0"/>
              </a:rPr>
              <a:t> </a:t>
            </a:r>
            <a:r>
              <a:rPr lang="en-US" altLang="ja-JP" sz="2400" b="0" dirty="0" err="1">
                <a:latin typeface="Times New Roman" panose="02020603050405020304" pitchFamily="18" charset="0"/>
              </a:rPr>
              <a:t>tạo</a:t>
            </a:r>
            <a:r>
              <a:rPr lang="en-US" altLang="ja-JP" sz="2400" b="0" dirty="0">
                <a:latin typeface="Times New Roman" panose="02020603050405020304" pitchFamily="18" charset="0"/>
              </a:rPr>
              <a:t> (</a:t>
            </a:r>
            <a:r>
              <a:rPr lang="en-US" altLang="ja-JP" sz="1800" b="0" dirty="0">
                <a:latin typeface="Times New Roman" panose="02020603050405020304" pitchFamily="18" charset="0"/>
              </a:rPr>
              <a:t>HelloWorld. java</a:t>
            </a:r>
            <a:r>
              <a:rPr lang="en-US" altLang="ja-JP" sz="2400" b="0" dirty="0">
                <a:latin typeface="Times New Roman" panose="02020603050405020304" pitchFamily="18" charset="0"/>
              </a:rPr>
              <a:t>)</a:t>
            </a: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r>
              <a:rPr lang="en-US" altLang="ja-JP" sz="2400" b="0" dirty="0" err="1">
                <a:latin typeface="Times New Roman" panose="02020603050405020304" pitchFamily="18" charset="0"/>
              </a:rPr>
              <a:t>Chú</a:t>
            </a:r>
            <a:r>
              <a:rPr lang="en-US" altLang="ja-JP" sz="2400" b="0" dirty="0">
                <a:latin typeface="Times New Roman" panose="02020603050405020304" pitchFamily="18" charset="0"/>
              </a:rPr>
              <a:t> ý </a:t>
            </a:r>
            <a:r>
              <a:rPr lang="en-US" altLang="ja-JP" sz="2400" b="0" dirty="0" err="1">
                <a:latin typeface="Times New Roman" panose="02020603050405020304" pitchFamily="18" charset="0"/>
              </a:rPr>
              <a:t>khi</a:t>
            </a:r>
            <a:r>
              <a:rPr lang="en-US" altLang="ja-JP" sz="2400" b="0" dirty="0">
                <a:latin typeface="Times New Roman" panose="02020603050405020304" pitchFamily="18" charset="0"/>
              </a:rPr>
              <a:t> </a:t>
            </a:r>
            <a:r>
              <a:rPr lang="en-US" altLang="ja-JP" sz="2400" b="0" dirty="0" err="1">
                <a:latin typeface="Times New Roman" panose="02020603050405020304" pitchFamily="18" charset="0"/>
              </a:rPr>
              <a:t>tạo</a:t>
            </a:r>
            <a:endParaRPr lang="en-US" altLang="ja-JP" sz="2400" b="0" dirty="0">
              <a:latin typeface="Times New Roman" panose="02020603050405020304" pitchFamily="18" charset="0"/>
            </a:endParaRPr>
          </a:p>
        </p:txBody>
      </p:sp>
      <p:sp>
        <p:nvSpPr>
          <p:cNvPr id="7" name="Text Box 20">
            <a:extLst>
              <a:ext uri="{FF2B5EF4-FFF2-40B4-BE49-F238E27FC236}">
                <a16:creationId xmlns:a16="http://schemas.microsoft.com/office/drawing/2014/main" id="{8EBFC0BF-81F5-12D0-2538-795C0600A507}"/>
              </a:ext>
            </a:extLst>
          </p:cNvPr>
          <p:cNvSpPr txBox="1">
            <a:spLocks noChangeArrowheads="1"/>
          </p:cNvSpPr>
          <p:nvPr/>
        </p:nvSpPr>
        <p:spPr bwMode="auto">
          <a:xfrm>
            <a:off x="363538" y="5438775"/>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Cũng có thể tự do ngắt dòng</a:t>
            </a:r>
          </a:p>
        </p:txBody>
      </p:sp>
      <p:sp>
        <p:nvSpPr>
          <p:cNvPr id="9" name="Text Box 17">
            <a:extLst>
              <a:ext uri="{FF2B5EF4-FFF2-40B4-BE49-F238E27FC236}">
                <a16:creationId xmlns:a16="http://schemas.microsoft.com/office/drawing/2014/main" id="{51EDC29C-DA2F-9698-28F8-BF0F9343FCB4}"/>
              </a:ext>
            </a:extLst>
          </p:cNvPr>
          <p:cNvSpPr txBox="1">
            <a:spLocks noChangeArrowheads="1"/>
          </p:cNvSpPr>
          <p:nvPr/>
        </p:nvSpPr>
        <p:spPr bwMode="auto">
          <a:xfrm>
            <a:off x="350838" y="4194175"/>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en-US" altLang="ja-JP" sz="2000">
                <a:latin typeface="Times New Roman" panose="02020603050405020304" pitchFamily="18" charset="0"/>
              </a:rPr>
              <a:t>Input chữ tiếng anh ở dạng haftsize, và phân biệt chữ hoa chữ thường.</a:t>
            </a:r>
          </a:p>
        </p:txBody>
      </p:sp>
      <p:sp>
        <p:nvSpPr>
          <p:cNvPr id="10" name="Text Box 18">
            <a:extLst>
              <a:ext uri="{FF2B5EF4-FFF2-40B4-BE49-F238E27FC236}">
                <a16:creationId xmlns:a16="http://schemas.microsoft.com/office/drawing/2014/main" id="{A5FADD02-A167-1AA6-DAF9-8220D4ADE300}"/>
              </a:ext>
            </a:extLst>
          </p:cNvPr>
          <p:cNvSpPr txBox="1">
            <a:spLocks noChangeArrowheads="1"/>
          </p:cNvSpPr>
          <p:nvPr/>
        </p:nvSpPr>
        <p:spPr bwMode="auto">
          <a:xfrm>
            <a:off x="357188" y="4821238"/>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Số lượng của blank có thể chỉ định tùy ý với số lượng &gt;=1</a:t>
            </a:r>
          </a:p>
        </p:txBody>
      </p:sp>
      <p:sp>
        <p:nvSpPr>
          <p:cNvPr id="11" name="AutoShape 19">
            <a:extLst>
              <a:ext uri="{FF2B5EF4-FFF2-40B4-BE49-F238E27FC236}">
                <a16:creationId xmlns:a16="http://schemas.microsoft.com/office/drawing/2014/main" id="{47599DA8-32D9-3EF9-26A6-B8E064882138}"/>
              </a:ext>
            </a:extLst>
          </p:cNvPr>
          <p:cNvSpPr>
            <a:spLocks noChangeArrowheads="1"/>
          </p:cNvSpPr>
          <p:nvPr/>
        </p:nvSpPr>
        <p:spPr bwMode="auto">
          <a:xfrm>
            <a:off x="5073650" y="5526088"/>
            <a:ext cx="3765550" cy="815975"/>
          </a:xfrm>
          <a:prstGeom prst="wedgeRoundRectCallout">
            <a:avLst>
              <a:gd name="adj1" fmla="val -48440"/>
              <a:gd name="adj2" fmla="val -110699"/>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latin typeface="Times New Roman" panose="02020603050405020304" pitchFamily="18" charset="0"/>
              </a:rPr>
              <a:t>Blank được chỉ định số lượng tùy ý bằng haftsize space , tab</a:t>
            </a:r>
          </a:p>
        </p:txBody>
      </p:sp>
      <p:sp>
        <p:nvSpPr>
          <p:cNvPr id="12" name="Text Box 21">
            <a:extLst>
              <a:ext uri="{FF2B5EF4-FFF2-40B4-BE49-F238E27FC236}">
                <a16:creationId xmlns:a16="http://schemas.microsoft.com/office/drawing/2014/main" id="{2FC4C13A-0FB8-47F9-5D56-BB25C17A85D0}"/>
              </a:ext>
            </a:extLst>
          </p:cNvPr>
          <p:cNvSpPr txBox="1">
            <a:spLocks noChangeArrowheads="1"/>
          </p:cNvSpPr>
          <p:nvPr/>
        </p:nvSpPr>
        <p:spPr bwMode="auto">
          <a:xfrm>
            <a:off x="1943100" y="1414463"/>
            <a:ext cx="7594600" cy="21304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sz="1000" b="1">
                <a:solidFill>
                  <a:schemeClr val="tx1"/>
                </a:solidFill>
                <a:latin typeface="Arial" panose="020B0604020202020204" pitchFamily="34" charset="0"/>
                <a:ea typeface="MS UI Gothic" panose="020B0600070205080204" pitchFamily="50" charset="-128"/>
              </a:defRPr>
            </a:lvl1pPr>
            <a:lvl2pPr marL="536575" indent="-357188" defTabSz="447675">
              <a:defRPr kumimoji="1" sz="1000" b="1">
                <a:solidFill>
                  <a:schemeClr val="tx1"/>
                </a:solidFill>
                <a:latin typeface="Arial" panose="020B0604020202020204" pitchFamily="34" charset="0"/>
                <a:ea typeface="MS UI Gothic" panose="020B0600070205080204" pitchFamily="50" charset="-128"/>
              </a:defRPr>
            </a:lvl2pPr>
            <a:lvl3pPr marL="1312863" indent="-358775" defTabSz="447675">
              <a:defRPr kumimoji="1" sz="1000" b="1">
                <a:solidFill>
                  <a:schemeClr val="tx1"/>
                </a:solidFill>
                <a:latin typeface="Arial" panose="020B0604020202020204" pitchFamily="34" charset="0"/>
                <a:ea typeface="MS UI Gothic" panose="020B0600070205080204" pitchFamily="50" charset="-128"/>
              </a:defRPr>
            </a:lvl3pPr>
            <a:lvl4pPr marL="1790700" indent="-358775" defTabSz="447675">
              <a:defRPr kumimoji="1" sz="1000" b="1">
                <a:solidFill>
                  <a:schemeClr val="tx1"/>
                </a:solidFill>
                <a:latin typeface="Arial" panose="020B0604020202020204" pitchFamily="34" charset="0"/>
                <a:ea typeface="MS UI Gothic" panose="020B0600070205080204" pitchFamily="50" charset="-128"/>
              </a:defRPr>
            </a:lvl4pPr>
            <a:lvl5pPr marL="2266950" indent="-357188" defTabSz="447675">
              <a:defRPr kumimoji="1" sz="1000" b="1">
                <a:solidFill>
                  <a:schemeClr val="tx1"/>
                </a:solidFill>
                <a:latin typeface="Arial" panose="020B0604020202020204" pitchFamily="34" charset="0"/>
                <a:ea typeface="MS UI Gothic" panose="020B0600070205080204" pitchFamily="50" charset="-128"/>
              </a:defRPr>
            </a:lvl5pPr>
            <a:lvl6pPr marL="27241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31813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6385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40957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buFontTx/>
              <a:buAutoNum type="arabicPeriod"/>
            </a:pPr>
            <a:r>
              <a:rPr lang="en-US" altLang="ja-JP" sz="1800" b="0" dirty="0">
                <a:latin typeface="Times New Roman" panose="02020603050405020304" pitchFamily="18" charset="0"/>
                <a:ea typeface="ＭＳ ゴシック" panose="020B0609070205080204" pitchFamily="49" charset="-128"/>
              </a:rPr>
              <a:t> //  HelloWorld.java</a:t>
            </a:r>
          </a:p>
          <a:p>
            <a:pPr lvl="1" algn="just" eaLnBrk="1" hangingPunct="1">
              <a:buFontTx/>
              <a:buAutoNum type="arabicPeriod"/>
            </a:pPr>
            <a:r>
              <a:rPr lang="ja-JP" altLang="en-US" sz="1800" b="0" dirty="0">
                <a:latin typeface="Times New Roman" panose="02020603050405020304" pitchFamily="18" charset="0"/>
                <a:ea typeface="ＭＳ ゴシック" panose="020B0609070205080204" pitchFamily="49" charset="-128"/>
              </a:rPr>
              <a:t>　</a:t>
            </a:r>
          </a:p>
          <a:p>
            <a:pPr lvl="1" algn="just" eaLnBrk="1" hangingPunct="1">
              <a:buFontTx/>
              <a:buAutoNum type="arabicPeriod"/>
            </a:pPr>
            <a:r>
              <a:rPr lang="ja-JP" altLang="en-US" sz="1800" b="0" dirty="0">
                <a:latin typeface="Times New Roman" panose="02020603050405020304" pitchFamily="18" charset="0"/>
                <a:ea typeface="ＭＳ ゴシック" panose="020B0609070205080204" pitchFamily="49" charset="-128"/>
              </a:rPr>
              <a:t> </a:t>
            </a:r>
            <a:r>
              <a:rPr lang="en-US" altLang="ja-JP" sz="1800" b="0" dirty="0">
                <a:latin typeface="Times New Roman" panose="02020603050405020304" pitchFamily="18" charset="0"/>
                <a:ea typeface="ＭＳ ゴシック" panose="020B0609070205080204" pitchFamily="49" charset="-128"/>
              </a:rPr>
              <a:t>public </a:t>
            </a:r>
            <a:r>
              <a:rPr lang="en-US" altLang="en-US" sz="1800" b="0" dirty="0">
                <a:latin typeface="Times New Roman" panose="02020603050405020304" pitchFamily="18" charset="0"/>
                <a:ea typeface="ＭＳ ゴシック" panose="020B0609070205080204" pitchFamily="49" charset="-128"/>
              </a:rPr>
              <a:t>class HelloWorld</a:t>
            </a: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a:t>
            </a:r>
          </a:p>
          <a:p>
            <a:pPr lvl="1" algn="just" eaLnBrk="1" hangingPunct="1">
              <a:buFontTx/>
              <a:buAutoNum type="arabicPeriod"/>
            </a:pP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    public static</a:t>
            </a: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void main(String[] </a:t>
            </a:r>
            <a:r>
              <a:rPr lang="en-US" altLang="en-US" sz="1800" b="0" dirty="0" err="1">
                <a:latin typeface="Times New Roman" panose="02020603050405020304" pitchFamily="18" charset="0"/>
                <a:ea typeface="ＭＳ ゴシック" panose="020B0609070205080204" pitchFamily="49" charset="-128"/>
              </a:rPr>
              <a:t>args</a:t>
            </a:r>
            <a:r>
              <a:rPr lang="en-US" altLang="en-US" sz="1800" b="0" dirty="0">
                <a:latin typeface="Times New Roman" panose="02020603050405020304" pitchFamily="18" charset="0"/>
                <a:ea typeface="ＭＳ ゴシック" panose="020B0609070205080204" pitchFamily="49" charset="-128"/>
              </a:rPr>
              <a:t>)</a:t>
            </a: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a:t>
            </a:r>
          </a:p>
          <a:p>
            <a:pPr lvl="1" algn="just" eaLnBrk="1" hangingPunct="1">
              <a:buFontTx/>
              <a:buAutoNum type="arabicPeriod"/>
            </a:pPr>
            <a:r>
              <a:rPr lang="en-US" altLang="ja-JP" sz="1800" b="0" dirty="0">
                <a:latin typeface="Times New Roman" panose="02020603050405020304" pitchFamily="18" charset="0"/>
                <a:ea typeface="ＭＳ ゴシック" panose="020B0609070205080204" pitchFamily="49" charset="-128"/>
              </a:rPr>
              <a:t>         </a:t>
            </a:r>
            <a:r>
              <a:rPr lang="en-US" altLang="en-US" sz="1800" b="0" dirty="0" err="1">
                <a:latin typeface="Times New Roman" panose="02020603050405020304" pitchFamily="18" charset="0"/>
                <a:ea typeface="ＭＳ ゴシック" panose="020B0609070205080204" pitchFamily="49" charset="-128"/>
              </a:rPr>
              <a:t>System.out.println</a:t>
            </a:r>
            <a:r>
              <a:rPr lang="en-US" altLang="en-US" sz="1800" b="0" dirty="0">
                <a:latin typeface="Times New Roman" panose="02020603050405020304" pitchFamily="18" charset="0"/>
                <a:ea typeface="ＭＳ ゴシック" panose="020B0609070205080204" pitchFamily="49" charset="-128"/>
              </a:rPr>
              <a:t>(</a:t>
            </a:r>
            <a:r>
              <a:rPr lang="en-US" altLang="ja-JP" sz="1800" b="0" dirty="0">
                <a:latin typeface="Times New Roman" panose="02020603050405020304" pitchFamily="18" charset="0"/>
                <a:ea typeface="ＭＳ ゴシック" panose="020B0609070205080204" pitchFamily="49" charset="-128"/>
              </a:rPr>
              <a:t>"</a:t>
            </a:r>
            <a:r>
              <a:rPr lang="en-US" altLang="en-US" sz="1800" b="0" dirty="0">
                <a:latin typeface="Times New Roman" panose="02020603050405020304" pitchFamily="18" charset="0"/>
                <a:ea typeface="ＭＳ ゴシック" panose="020B0609070205080204" pitchFamily="49" charset="-128"/>
              </a:rPr>
              <a:t>Hello World!</a:t>
            </a:r>
            <a:r>
              <a:rPr lang="en-US" altLang="ja-JP" sz="1800" b="0" dirty="0">
                <a:latin typeface="Times New Roman" panose="02020603050405020304" pitchFamily="18" charset="0"/>
                <a:ea typeface="ＭＳ ゴシック" panose="020B0609070205080204" pitchFamily="49" charset="-128"/>
              </a:rPr>
              <a:t>"</a:t>
            </a:r>
            <a:r>
              <a:rPr lang="en-US" altLang="en-US" sz="1800" b="0" dirty="0">
                <a:latin typeface="Times New Roman" panose="02020603050405020304" pitchFamily="18" charset="0"/>
                <a:ea typeface="ＭＳ ゴシック" panose="020B0609070205080204" pitchFamily="49" charset="-128"/>
              </a:rPr>
              <a:t>);</a:t>
            </a:r>
          </a:p>
          <a:p>
            <a:pPr lvl="1" algn="just" eaLnBrk="1" hangingPunct="1">
              <a:buFontTx/>
              <a:buAutoNum type="arabicPeriod"/>
            </a:pPr>
            <a:r>
              <a:rPr lang="en-US" altLang="en-US" sz="1800" b="0" dirty="0">
                <a:latin typeface="Times New Roman" panose="02020603050405020304" pitchFamily="18" charset="0"/>
                <a:ea typeface="ＭＳ ゴシック" panose="020B0609070205080204" pitchFamily="49" charset="-128"/>
              </a:rPr>
              <a:t>  </a:t>
            </a: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  }</a:t>
            </a:r>
          </a:p>
          <a:p>
            <a:pPr lvl="1" algn="just" eaLnBrk="1" hangingPunct="1">
              <a:buFontTx/>
              <a:buAutoNum type="arabicPeriod"/>
            </a:pP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a:t>
            </a:r>
          </a:p>
        </p:txBody>
      </p:sp>
      <p:sp>
        <p:nvSpPr>
          <p:cNvPr id="13" name="AutoShape 22">
            <a:extLst>
              <a:ext uri="{FF2B5EF4-FFF2-40B4-BE49-F238E27FC236}">
                <a16:creationId xmlns:a16="http://schemas.microsoft.com/office/drawing/2014/main" id="{BAF708F6-C29E-2898-AE2D-B4A84370C411}"/>
              </a:ext>
            </a:extLst>
          </p:cNvPr>
          <p:cNvSpPr>
            <a:spLocks noChangeArrowheads="1"/>
          </p:cNvSpPr>
          <p:nvPr/>
        </p:nvSpPr>
        <p:spPr bwMode="auto">
          <a:xfrm>
            <a:off x="5722938" y="871538"/>
            <a:ext cx="3619500" cy="963612"/>
          </a:xfrm>
          <a:prstGeom prst="wedgeRoundRectCallout">
            <a:avLst>
              <a:gd name="adj1" fmla="val -73116"/>
              <a:gd name="adj2" fmla="val 21005"/>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ja-JP" altLang="en-US" sz="1800">
                <a:latin typeface="Times New Roman" panose="02020603050405020304" pitchFamily="18" charset="0"/>
              </a:rPr>
              <a:t>「</a:t>
            </a:r>
            <a:r>
              <a:rPr lang="en-US" altLang="ja-JP" sz="1800">
                <a:latin typeface="Times New Roman" panose="02020603050405020304" pitchFamily="18" charset="0"/>
              </a:rPr>
              <a:t>//</a:t>
            </a:r>
            <a:r>
              <a:rPr lang="ja-JP" altLang="en-US" sz="1800">
                <a:latin typeface="Times New Roman" panose="02020603050405020304" pitchFamily="18" charset="0"/>
              </a:rPr>
              <a:t>　～」 </a:t>
            </a:r>
            <a:r>
              <a:rPr lang="en-US" altLang="ja-JP" sz="1800">
                <a:latin typeface="Times New Roman" panose="02020603050405020304" pitchFamily="18" charset="0"/>
              </a:rPr>
              <a:t>là comment, có thể lược bớt</a:t>
            </a:r>
            <a:r>
              <a:rPr lang="ja-JP" altLang="en-US" sz="1800">
                <a:latin typeface="Times New Roman" panose="02020603050405020304" pitchFamily="18" charset="0"/>
              </a:rPr>
              <a:t>（</a:t>
            </a:r>
            <a:r>
              <a:rPr lang="en-US" altLang="ja-JP" sz="1800">
                <a:latin typeface="Times New Roman" panose="02020603050405020304" pitchFamily="18" charset="0"/>
              </a:rPr>
              <a:t>không ảnh hưởng đến việc thực hiện chương trình</a:t>
            </a:r>
            <a:r>
              <a:rPr lang="ja-JP" altLang="en-US" sz="1800">
                <a:latin typeface="Times New Roman" panose="02020603050405020304" pitchFamily="18" charset="0"/>
              </a:rPr>
              <a:t>）</a:t>
            </a:r>
          </a:p>
        </p:txBody>
      </p:sp>
      <p:sp>
        <p:nvSpPr>
          <p:cNvPr id="14" name="AutoShape 23">
            <a:extLst>
              <a:ext uri="{FF2B5EF4-FFF2-40B4-BE49-F238E27FC236}">
                <a16:creationId xmlns:a16="http://schemas.microsoft.com/office/drawing/2014/main" id="{4B2D4DEB-C8AE-D9AB-267C-9BB8779FD848}"/>
              </a:ext>
            </a:extLst>
          </p:cNvPr>
          <p:cNvSpPr>
            <a:spLocks noChangeArrowheads="1"/>
          </p:cNvSpPr>
          <p:nvPr/>
        </p:nvSpPr>
        <p:spPr bwMode="auto">
          <a:xfrm>
            <a:off x="450850" y="1349375"/>
            <a:ext cx="1450975" cy="1023938"/>
          </a:xfrm>
          <a:prstGeom prst="wedgeRoundRectCallout">
            <a:avLst>
              <a:gd name="adj1" fmla="val 58204"/>
              <a:gd name="adj2" fmla="val 65505"/>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b="0">
                <a:latin typeface="Times New Roman" panose="02020603050405020304" pitchFamily="18" charset="0"/>
              </a:rPr>
              <a:t>Mã số dòng(không cần input)</a:t>
            </a:r>
          </a:p>
        </p:txBody>
      </p:sp>
      <p:sp>
        <p:nvSpPr>
          <p:cNvPr id="15" name="Rectangle 25">
            <a:extLst>
              <a:ext uri="{FF2B5EF4-FFF2-40B4-BE49-F238E27FC236}">
                <a16:creationId xmlns:a16="http://schemas.microsoft.com/office/drawing/2014/main" id="{3704035C-729A-4E74-31EC-BF583992DC8F}"/>
              </a:ext>
            </a:extLst>
          </p:cNvPr>
          <p:cNvSpPr>
            <a:spLocks noChangeArrowheads="1"/>
          </p:cNvSpPr>
          <p:nvPr/>
        </p:nvSpPr>
        <p:spPr bwMode="auto">
          <a:xfrm>
            <a:off x="1995488" y="1460500"/>
            <a:ext cx="398462" cy="2039938"/>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sz="1000" b="1">
                <a:solidFill>
                  <a:schemeClr val="tx1"/>
                </a:solidFill>
                <a:latin typeface="Arial" panose="020B0604020202020204" pitchFamily="34" charset="0"/>
                <a:ea typeface="MS UI Gothic" panose="020B0600070205080204" pitchFamily="50" charset="-128"/>
              </a:defRPr>
            </a:lvl1pPr>
            <a:lvl2pPr marL="742950" indent="-285750" defTabSz="863600">
              <a:defRPr kumimoji="1" sz="1000" b="1">
                <a:solidFill>
                  <a:schemeClr val="tx1"/>
                </a:solidFill>
                <a:latin typeface="Arial" panose="020B0604020202020204" pitchFamily="34" charset="0"/>
                <a:ea typeface="MS UI Gothic" panose="020B0600070205080204" pitchFamily="50" charset="-128"/>
              </a:defRPr>
            </a:lvl2pPr>
            <a:lvl3pPr marL="1143000" indent="-228600" defTabSz="863600">
              <a:defRPr kumimoji="1" sz="1000" b="1">
                <a:solidFill>
                  <a:schemeClr val="tx1"/>
                </a:solidFill>
                <a:latin typeface="Arial" panose="020B0604020202020204" pitchFamily="34" charset="0"/>
                <a:ea typeface="MS UI Gothic" panose="020B0600070205080204" pitchFamily="50" charset="-128"/>
              </a:defRPr>
            </a:lvl3pPr>
            <a:lvl4pPr marL="1600200" indent="-228600" defTabSz="863600">
              <a:defRPr kumimoji="1" sz="1000" b="1">
                <a:solidFill>
                  <a:schemeClr val="tx1"/>
                </a:solidFill>
                <a:latin typeface="Arial" panose="020B0604020202020204" pitchFamily="34" charset="0"/>
                <a:ea typeface="MS UI Gothic" panose="020B0600070205080204" pitchFamily="50" charset="-128"/>
              </a:defRPr>
            </a:lvl4pPr>
            <a:lvl5pPr marL="2057400" indent="-228600" defTabSz="863600">
              <a:defRPr kumimoji="1" sz="1000" b="1">
                <a:solidFill>
                  <a:schemeClr val="tx1"/>
                </a:solidFill>
                <a:latin typeface="Arial" panose="020B0604020202020204" pitchFamily="34" charset="0"/>
                <a:ea typeface="MS UI Gothic" panose="020B0600070205080204" pitchFamily="50" charset="-128"/>
              </a:defRPr>
            </a:lvl5pPr>
            <a:lvl6pPr marL="25146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endParaRPr lang="ja-JP" altLang="ja-JP" sz="1100" b="0">
              <a:latin typeface="Times New Roman" panose="02020603050405020304" pitchFamily="18" charset="0"/>
              <a:ea typeface="ＭＳ Ｐゴシック" panose="020B0600070205080204" pitchFamily="50" charset="-128"/>
            </a:endParaRPr>
          </a:p>
        </p:txBody>
      </p:sp>
    </p:spTree>
    <p:extLst>
      <p:ext uri="{BB962C8B-B14F-4D97-AF65-F5344CB8AC3E}">
        <p14:creationId xmlns:p14="http://schemas.microsoft.com/office/powerpoint/2010/main" val="2035988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80CF3-9EF2-2C2F-1220-C9DC4F7F3FE4}"/>
              </a:ext>
            </a:extLst>
          </p:cNvPr>
          <p:cNvSpPr>
            <a:spLocks noGrp="1"/>
          </p:cNvSpPr>
          <p:nvPr>
            <p:ph type="title"/>
          </p:nvPr>
        </p:nvSpPr>
        <p:spPr/>
        <p:txBody>
          <a:bodyPr>
            <a:normAutofit fontScale="90000"/>
          </a:bodyPr>
          <a:lstStyle/>
          <a:p>
            <a:r>
              <a:rPr lang="en-US" altLang="ja-JP" dirty="0">
                <a:latin typeface="Times New Roman" panose="02020603050405020304" pitchFamily="18" charset="0"/>
                <a:ea typeface="MS UI Gothic" panose="020B0600070205080204" pitchFamily="50" charset="-128"/>
              </a:rPr>
              <a:t>Compile</a:t>
            </a:r>
            <a:endParaRPr kumimoji="1" lang="ja-JP" altLang="en-US" dirty="0"/>
          </a:p>
        </p:txBody>
      </p:sp>
      <p:sp>
        <p:nvSpPr>
          <p:cNvPr id="4" name="Slide Number Placeholder 3">
            <a:extLst>
              <a:ext uri="{FF2B5EF4-FFF2-40B4-BE49-F238E27FC236}">
                <a16:creationId xmlns:a16="http://schemas.microsoft.com/office/drawing/2014/main" id="{2E897492-5C2D-840C-7587-79E93B81AE5D}"/>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18</a:t>
            </a:fld>
            <a:endParaRPr lang="en-US" altLang="ja-JP"/>
          </a:p>
        </p:txBody>
      </p:sp>
      <p:sp>
        <p:nvSpPr>
          <p:cNvPr id="5" name="Rectangle 2">
            <a:extLst>
              <a:ext uri="{FF2B5EF4-FFF2-40B4-BE49-F238E27FC236}">
                <a16:creationId xmlns:a16="http://schemas.microsoft.com/office/drawing/2014/main" id="{618EA05A-18B2-D82A-B3D5-95A3D2D554DA}"/>
              </a:ext>
            </a:extLst>
          </p:cNvPr>
          <p:cNvSpPr txBox="1">
            <a:spLocks noChangeArrowheads="1"/>
          </p:cNvSpPr>
          <p:nvPr/>
        </p:nvSpPr>
        <p:spPr bwMode="auto">
          <a:xfrm>
            <a:off x="344488" y="84138"/>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endParaRPr lang="en-US" altLang="ja-JP" b="0" kern="0" dirty="0">
              <a:latin typeface="Times New Roman" panose="02020603050405020304" pitchFamily="18" charset="0"/>
            </a:endParaRPr>
          </a:p>
        </p:txBody>
      </p:sp>
      <p:sp>
        <p:nvSpPr>
          <p:cNvPr id="6" name="Rectangle 13">
            <a:extLst>
              <a:ext uri="{FF2B5EF4-FFF2-40B4-BE49-F238E27FC236}">
                <a16:creationId xmlns:a16="http://schemas.microsoft.com/office/drawing/2014/main" id="{3E14EB8A-D5E1-0B11-6459-577B20DF3F86}"/>
              </a:ext>
            </a:extLst>
          </p:cNvPr>
          <p:cNvSpPr>
            <a:spLocks noChangeArrowheads="1"/>
          </p:cNvSpPr>
          <p:nvPr/>
        </p:nvSpPr>
        <p:spPr bwMode="auto">
          <a:xfrm>
            <a:off x="344488" y="873126"/>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dirty="0">
                <a:latin typeface="Times New Roman" panose="02020603050405020304" pitchFamily="18" charset="0"/>
                <a:ea typeface="ＭＳ ゴシック" panose="020B0609070205080204" pitchFamily="49" charset="-128"/>
              </a:rPr>
              <a:t>Javac command</a:t>
            </a:r>
            <a:r>
              <a:rPr lang="en-US" altLang="ja-JP" sz="2400" b="0" dirty="0">
                <a:latin typeface="Times New Roman" panose="02020603050405020304" pitchFamily="18" charset="0"/>
              </a:rPr>
              <a:t> </a:t>
            </a:r>
          </a:p>
          <a:p>
            <a:pPr eaLnBrk="1" hangingPunct="1">
              <a:spcBef>
                <a:spcPct val="50000"/>
              </a:spcBef>
              <a:buFont typeface="Wingdings" panose="05000000000000000000" pitchFamily="2" charset="2"/>
              <a:buNone/>
            </a:pPr>
            <a:r>
              <a:rPr lang="en-US" altLang="ja-JP" b="0" dirty="0">
                <a:latin typeface="Times New Roman" panose="02020603050405020304" pitchFamily="18" charset="0"/>
              </a:rPr>
              <a:t>●Cú </a:t>
            </a:r>
            <a:r>
              <a:rPr lang="en-US" altLang="ja-JP" b="0" dirty="0" err="1">
                <a:latin typeface="Times New Roman" panose="02020603050405020304" pitchFamily="18" charset="0"/>
              </a:rPr>
              <a:t>pháp</a:t>
            </a:r>
            <a:endParaRPr lang="en-US" altLang="ja-JP" sz="2400" b="0" dirty="0">
              <a:latin typeface="Times New Roman" panose="02020603050405020304" pitchFamily="18" charset="0"/>
            </a:endParaRPr>
          </a:p>
        </p:txBody>
      </p:sp>
      <p:sp>
        <p:nvSpPr>
          <p:cNvPr id="7" name="Text Box 14">
            <a:extLst>
              <a:ext uri="{FF2B5EF4-FFF2-40B4-BE49-F238E27FC236}">
                <a16:creationId xmlns:a16="http://schemas.microsoft.com/office/drawing/2014/main" id="{EC925A86-CEA1-3EF9-BBBC-38B8C1B5A03A}"/>
              </a:ext>
            </a:extLst>
          </p:cNvPr>
          <p:cNvSpPr txBox="1">
            <a:spLocks noChangeArrowheads="1"/>
          </p:cNvSpPr>
          <p:nvPr/>
        </p:nvSpPr>
        <p:spPr bwMode="auto">
          <a:xfrm>
            <a:off x="350838" y="1739900"/>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en-US" altLang="ja-JP" sz="2000">
                <a:latin typeface="Times New Roman" panose="02020603050405020304" pitchFamily="18" charset="0"/>
                <a:ea typeface="ＭＳ ゴシック" panose="020B0609070205080204" pitchFamily="49" charset="-128"/>
              </a:rPr>
              <a:t>javac source file name</a:t>
            </a:r>
            <a:endParaRPr lang="en-US" altLang="ja-JP" sz="2000">
              <a:latin typeface="Times New Roman" panose="02020603050405020304" pitchFamily="18" charset="0"/>
            </a:endParaRPr>
          </a:p>
        </p:txBody>
      </p:sp>
      <p:sp>
        <p:nvSpPr>
          <p:cNvPr id="8" name="Rectangle 15">
            <a:extLst>
              <a:ext uri="{FF2B5EF4-FFF2-40B4-BE49-F238E27FC236}">
                <a16:creationId xmlns:a16="http://schemas.microsoft.com/office/drawing/2014/main" id="{A060D99E-FEAA-5D84-3D66-687B4BBB6B29}"/>
              </a:ext>
            </a:extLst>
          </p:cNvPr>
          <p:cNvSpPr>
            <a:spLocks noChangeArrowheads="1"/>
          </p:cNvSpPr>
          <p:nvPr/>
        </p:nvSpPr>
        <p:spPr bwMode="auto">
          <a:xfrm>
            <a:off x="273050" y="242728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spcBef>
                <a:spcPct val="50000"/>
              </a:spcBef>
              <a:buFont typeface="Wingdings" panose="05000000000000000000" pitchFamily="2" charset="2"/>
              <a:buNone/>
            </a:pPr>
            <a:r>
              <a:rPr lang="en-US" altLang="ja-JP" b="0">
                <a:latin typeface="Times New Roman" panose="02020603050405020304" pitchFamily="18" charset="0"/>
              </a:rPr>
              <a:t>●Ví dụ</a:t>
            </a:r>
            <a:r>
              <a:rPr lang="ja-JP" altLang="en-US" b="0">
                <a:latin typeface="Times New Roman" panose="02020603050405020304" pitchFamily="18" charset="0"/>
              </a:rPr>
              <a:t>： </a:t>
            </a:r>
            <a:r>
              <a:rPr lang="en-US" altLang="ja-JP" b="0">
                <a:latin typeface="Times New Roman" panose="02020603050405020304" pitchFamily="18" charset="0"/>
              </a:rPr>
              <a:t>Trường hợp compile thành công</a:t>
            </a:r>
          </a:p>
        </p:txBody>
      </p:sp>
      <p:sp>
        <p:nvSpPr>
          <p:cNvPr id="9" name="Rectangle 16">
            <a:extLst>
              <a:ext uri="{FF2B5EF4-FFF2-40B4-BE49-F238E27FC236}">
                <a16:creationId xmlns:a16="http://schemas.microsoft.com/office/drawing/2014/main" id="{822E0495-022A-01AD-5251-0DEDAD31A307}"/>
              </a:ext>
            </a:extLst>
          </p:cNvPr>
          <p:cNvSpPr>
            <a:spLocks noChangeArrowheads="1"/>
          </p:cNvSpPr>
          <p:nvPr/>
        </p:nvSpPr>
        <p:spPr bwMode="auto">
          <a:xfrm>
            <a:off x="344488" y="2903538"/>
            <a:ext cx="9120187" cy="8715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lvl="1" eaLnBrk="1" hangingPunct="1">
              <a:lnSpc>
                <a:spcPct val="75000"/>
              </a:lnSpc>
            </a:pPr>
            <a:r>
              <a:rPr lang="en-US" altLang="ja-JP" sz="1800" b="0">
                <a:latin typeface="Times New Roman" panose="02020603050405020304" pitchFamily="18" charset="0"/>
                <a:ea typeface="ＭＳ ゴシック" panose="020B0609070205080204" pitchFamily="49" charset="-128"/>
              </a:rPr>
              <a:t>C:\javahome&gt;javac HelloWorld.java</a:t>
            </a:r>
            <a:br>
              <a:rPr lang="en-US" altLang="ja-JP" sz="1800" b="0">
                <a:latin typeface="Times New Roman" panose="02020603050405020304" pitchFamily="18" charset="0"/>
                <a:ea typeface="ＭＳ ゴシック" panose="020B0609070205080204" pitchFamily="49" charset="-128"/>
              </a:rPr>
            </a:br>
            <a:br>
              <a:rPr lang="en-US" altLang="ja-JP" sz="1800" b="0">
                <a:latin typeface="Times New Roman" panose="02020603050405020304" pitchFamily="18" charset="0"/>
                <a:ea typeface="ＭＳ ゴシック" panose="020B0609070205080204" pitchFamily="49" charset="-128"/>
              </a:rPr>
            </a:br>
            <a:r>
              <a:rPr lang="en-US" altLang="ja-JP" sz="1800" b="0">
                <a:latin typeface="Times New Roman" panose="02020603050405020304" pitchFamily="18" charset="0"/>
                <a:ea typeface="ＭＳ ゴシック" panose="020B0609070205080204" pitchFamily="49" charset="-128"/>
              </a:rPr>
              <a:t>C:\javahome&gt;</a:t>
            </a:r>
          </a:p>
        </p:txBody>
      </p:sp>
      <p:sp>
        <p:nvSpPr>
          <p:cNvPr id="10" name="Rectangle 17">
            <a:extLst>
              <a:ext uri="{FF2B5EF4-FFF2-40B4-BE49-F238E27FC236}">
                <a16:creationId xmlns:a16="http://schemas.microsoft.com/office/drawing/2014/main" id="{9512E413-173B-8E10-2696-8191B99385A3}"/>
              </a:ext>
            </a:extLst>
          </p:cNvPr>
          <p:cNvSpPr>
            <a:spLocks noChangeArrowheads="1"/>
          </p:cNvSpPr>
          <p:nvPr/>
        </p:nvSpPr>
        <p:spPr bwMode="auto">
          <a:xfrm>
            <a:off x="273050" y="38973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spcBef>
                <a:spcPct val="50000"/>
              </a:spcBef>
              <a:buFont typeface="Wingdings" panose="05000000000000000000" pitchFamily="2" charset="2"/>
              <a:buNone/>
            </a:pPr>
            <a:r>
              <a:rPr lang="en-US" altLang="ja-JP" b="0">
                <a:latin typeface="Times New Roman" panose="02020603050405020304" pitchFamily="18" charset="0"/>
              </a:rPr>
              <a:t>●Ví dụ</a:t>
            </a:r>
            <a:r>
              <a:rPr lang="ja-JP" altLang="en-US" b="0">
                <a:latin typeface="Times New Roman" panose="02020603050405020304" pitchFamily="18" charset="0"/>
              </a:rPr>
              <a:t>： </a:t>
            </a:r>
            <a:r>
              <a:rPr lang="en-US" altLang="ja-JP" b="0">
                <a:latin typeface="Times New Roman" panose="02020603050405020304" pitchFamily="18" charset="0"/>
              </a:rPr>
              <a:t>Trường hợp compile thất bại</a:t>
            </a:r>
          </a:p>
        </p:txBody>
      </p:sp>
      <p:sp>
        <p:nvSpPr>
          <p:cNvPr id="11" name="Rectangle 18">
            <a:extLst>
              <a:ext uri="{FF2B5EF4-FFF2-40B4-BE49-F238E27FC236}">
                <a16:creationId xmlns:a16="http://schemas.microsoft.com/office/drawing/2014/main" id="{FF53133D-72B0-1057-585B-488F2F744EFB}"/>
              </a:ext>
            </a:extLst>
          </p:cNvPr>
          <p:cNvSpPr>
            <a:spLocks noChangeArrowheads="1"/>
          </p:cNvSpPr>
          <p:nvPr/>
        </p:nvSpPr>
        <p:spPr bwMode="auto">
          <a:xfrm>
            <a:off x="344488" y="4387850"/>
            <a:ext cx="9120187" cy="20177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lvl="1" eaLnBrk="1" hangingPunct="1">
              <a:lnSpc>
                <a:spcPct val="85000"/>
              </a:lnSpc>
            </a:pPr>
            <a:r>
              <a:rPr lang="en-US" altLang="ja-JP" sz="1800" b="0">
                <a:latin typeface="Times New Roman" panose="02020603050405020304" pitchFamily="18" charset="0"/>
                <a:ea typeface="ＭＳ ゴシック" panose="020B0609070205080204" pitchFamily="49" charset="-128"/>
              </a:rPr>
              <a:t>C:\javahome&gt;javac HelloWorld.java</a:t>
            </a:r>
            <a:br>
              <a:rPr lang="en-US" altLang="ja-JP" sz="1800" b="0">
                <a:latin typeface="Times New Roman" panose="02020603050405020304" pitchFamily="18" charset="0"/>
                <a:ea typeface="ＭＳ ゴシック" panose="020B0609070205080204" pitchFamily="49" charset="-128"/>
              </a:rPr>
            </a:br>
            <a:r>
              <a:rPr lang="en-US" altLang="en-US" sz="1800" b="0">
                <a:latin typeface="Times New Roman" panose="02020603050405020304" pitchFamily="18" charset="0"/>
                <a:ea typeface="ＭＳ ゴシック" panose="020B0609070205080204" pitchFamily="49" charset="-128"/>
              </a:rPr>
              <a:t>HelloWorld.java:5: package system  không tồn tại.</a:t>
            </a:r>
          </a:p>
          <a:p>
            <a:pPr lvl="1" eaLnBrk="1" hangingPunct="1">
              <a:lnSpc>
                <a:spcPct val="85000"/>
              </a:lnSpc>
            </a:pPr>
            <a:r>
              <a:rPr lang="en-US" altLang="en-US" sz="1800" b="0">
                <a:latin typeface="Times New Roman" panose="02020603050405020304" pitchFamily="18" charset="0"/>
                <a:ea typeface="ＭＳ ゴシック" panose="020B0609070205080204" pitchFamily="49" charset="-128"/>
              </a:rPr>
              <a:t>        system.out.println("Hello World!");</a:t>
            </a:r>
          </a:p>
          <a:p>
            <a:pPr lvl="1" eaLnBrk="1" hangingPunct="1">
              <a:lnSpc>
                <a:spcPct val="85000"/>
              </a:lnSpc>
            </a:pPr>
            <a:r>
              <a:rPr lang="en-US" altLang="en-US" sz="1800" b="0">
                <a:latin typeface="Times New Roman" panose="02020603050405020304" pitchFamily="18" charset="0"/>
                <a:ea typeface="ＭＳ ゴシック" panose="020B0609070205080204" pitchFamily="49" charset="-128"/>
              </a:rPr>
              <a:t>              ^</a:t>
            </a:r>
          </a:p>
          <a:p>
            <a:pPr lvl="1" eaLnBrk="1" hangingPunct="1">
              <a:lnSpc>
                <a:spcPct val="85000"/>
              </a:lnSpc>
            </a:pPr>
            <a:r>
              <a:rPr lang="en-US" altLang="en-US" sz="1800" b="0">
                <a:latin typeface="Times New Roman" panose="02020603050405020304" pitchFamily="18" charset="0"/>
                <a:ea typeface="ＭＳ ゴシック" panose="020B0609070205080204" pitchFamily="49" charset="-128"/>
              </a:rPr>
              <a:t>1 error</a:t>
            </a:r>
          </a:p>
          <a:p>
            <a:pPr lvl="1" eaLnBrk="1" hangingPunct="1">
              <a:lnSpc>
                <a:spcPct val="85000"/>
              </a:lnSpc>
            </a:pPr>
            <a:endParaRPr lang="en-US" altLang="en-US" sz="1800" b="0">
              <a:latin typeface="Times New Roman" panose="02020603050405020304" pitchFamily="18" charset="0"/>
              <a:ea typeface="ＭＳ ゴシック" panose="020B0609070205080204" pitchFamily="49" charset="-128"/>
            </a:endParaRPr>
          </a:p>
          <a:p>
            <a:pPr lvl="1" eaLnBrk="1" hangingPunct="1">
              <a:lnSpc>
                <a:spcPct val="85000"/>
              </a:lnSpc>
            </a:pPr>
            <a:r>
              <a:rPr lang="en-US" altLang="en-US" sz="1800" b="0">
                <a:latin typeface="Times New Roman" panose="02020603050405020304" pitchFamily="18" charset="0"/>
                <a:ea typeface="ＭＳ ゴシック" panose="020B0609070205080204" pitchFamily="49" charset="-128"/>
              </a:rPr>
              <a:t>C:\javahome&gt;</a:t>
            </a:r>
            <a:endParaRPr lang="en-US" altLang="ja-JP" sz="1800" b="0">
              <a:latin typeface="Times New Roman" panose="02020603050405020304" pitchFamily="18" charset="0"/>
              <a:ea typeface="ＭＳ ゴシック" panose="020B0609070205080204" pitchFamily="49" charset="-128"/>
            </a:endParaRPr>
          </a:p>
        </p:txBody>
      </p:sp>
    </p:spTree>
    <p:extLst>
      <p:ext uri="{BB962C8B-B14F-4D97-AF65-F5344CB8AC3E}">
        <p14:creationId xmlns:p14="http://schemas.microsoft.com/office/powerpoint/2010/main" val="4392291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25E01-C529-CE8E-53E4-89D6F092C5B8}"/>
              </a:ext>
            </a:extLst>
          </p:cNvPr>
          <p:cNvSpPr>
            <a:spLocks noGrp="1"/>
          </p:cNvSpPr>
          <p:nvPr>
            <p:ph type="title"/>
          </p:nvPr>
        </p:nvSpPr>
        <p:spPr>
          <a:xfrm>
            <a:off x="128464" y="330970"/>
            <a:ext cx="9649072" cy="504056"/>
          </a:xfrm>
        </p:spPr>
        <p:txBody>
          <a:bodyPr>
            <a:normAutofit fontScale="90000"/>
          </a:bodyPr>
          <a:lstStyle/>
          <a:p>
            <a:r>
              <a:rPr lang="en-US" altLang="ja-JP" dirty="0">
                <a:latin typeface="Arial" panose="020B0604020202020204" pitchFamily="34" charset="0"/>
                <a:ea typeface="MS UI Gothic" panose="020B0600070205080204" pitchFamily="50" charset="-128"/>
              </a:rPr>
              <a:t>Execute</a:t>
            </a:r>
            <a:endParaRPr kumimoji="1" lang="ja-JP" altLang="en-US" dirty="0"/>
          </a:p>
        </p:txBody>
      </p:sp>
      <p:sp>
        <p:nvSpPr>
          <p:cNvPr id="4" name="Slide Number Placeholder 3">
            <a:extLst>
              <a:ext uri="{FF2B5EF4-FFF2-40B4-BE49-F238E27FC236}">
                <a16:creationId xmlns:a16="http://schemas.microsoft.com/office/drawing/2014/main" id="{F2ED3C70-7B63-C368-6AB7-9B1210AF4D04}"/>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19</a:t>
            </a:fld>
            <a:endParaRPr lang="en-US" altLang="ja-JP"/>
          </a:p>
        </p:txBody>
      </p:sp>
      <p:sp>
        <p:nvSpPr>
          <p:cNvPr id="5" name="Rectangle 2">
            <a:extLst>
              <a:ext uri="{FF2B5EF4-FFF2-40B4-BE49-F238E27FC236}">
                <a16:creationId xmlns:a16="http://schemas.microsoft.com/office/drawing/2014/main" id="{F584CD71-6FF7-AC99-9264-5678DDF3494D}"/>
              </a:ext>
            </a:extLst>
          </p:cNvPr>
          <p:cNvSpPr txBox="1">
            <a:spLocks noChangeArrowheads="1"/>
          </p:cNvSpPr>
          <p:nvPr/>
        </p:nvSpPr>
        <p:spPr bwMode="auto">
          <a:xfrm>
            <a:off x="344488" y="84138"/>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endParaRPr lang="en-US" altLang="ja-JP" b="0" kern="0" dirty="0">
              <a:latin typeface="Arial" panose="020B0604020202020204" pitchFamily="34" charset="0"/>
            </a:endParaRPr>
          </a:p>
        </p:txBody>
      </p:sp>
      <p:sp>
        <p:nvSpPr>
          <p:cNvPr id="6" name="Rectangle 4">
            <a:extLst>
              <a:ext uri="{FF2B5EF4-FFF2-40B4-BE49-F238E27FC236}">
                <a16:creationId xmlns:a16="http://schemas.microsoft.com/office/drawing/2014/main" id="{DDF6FF24-2C0F-1A20-BF16-E054B6504870}"/>
              </a:ext>
            </a:extLst>
          </p:cNvPr>
          <p:cNvSpPr>
            <a:spLocks noChangeArrowheads="1"/>
          </p:cNvSpPr>
          <p:nvPr/>
        </p:nvSpPr>
        <p:spPr bwMode="auto">
          <a:xfrm>
            <a:off x="344488" y="852410"/>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dirty="0">
                <a:latin typeface="Arial" panose="020B0604020202020204" pitchFamily="34" charset="0"/>
                <a:ea typeface="ＭＳ ゴシック" panose="020B0609070205080204" pitchFamily="49" charset="-128"/>
              </a:rPr>
              <a:t>java command</a:t>
            </a:r>
            <a:r>
              <a:rPr lang="en-US" altLang="ja-JP" sz="2400" b="0" dirty="0">
                <a:latin typeface="Arial" panose="020B0604020202020204" pitchFamily="34" charset="0"/>
              </a:rPr>
              <a:t> </a:t>
            </a:r>
          </a:p>
          <a:p>
            <a:pPr eaLnBrk="1" hangingPunct="1">
              <a:spcBef>
                <a:spcPct val="50000"/>
              </a:spcBef>
              <a:buFont typeface="Wingdings" panose="05000000000000000000" pitchFamily="2" charset="2"/>
              <a:buNone/>
            </a:pPr>
            <a:r>
              <a:rPr lang="en-US" altLang="ja-JP" b="0" dirty="0">
                <a:latin typeface="Arial" panose="020B0604020202020204" pitchFamily="34" charset="0"/>
              </a:rPr>
              <a:t>●Cú </a:t>
            </a:r>
            <a:r>
              <a:rPr lang="en-US" altLang="ja-JP" b="0" dirty="0" err="1">
                <a:latin typeface="Arial" panose="020B0604020202020204" pitchFamily="34" charset="0"/>
              </a:rPr>
              <a:t>pháp</a:t>
            </a:r>
            <a:endParaRPr lang="en-US" altLang="ja-JP" sz="2400" b="0" dirty="0">
              <a:latin typeface="Arial" panose="020B0604020202020204" pitchFamily="34" charset="0"/>
            </a:endParaRPr>
          </a:p>
        </p:txBody>
      </p:sp>
      <p:sp>
        <p:nvSpPr>
          <p:cNvPr id="7" name="Text Box 5">
            <a:extLst>
              <a:ext uri="{FF2B5EF4-FFF2-40B4-BE49-F238E27FC236}">
                <a16:creationId xmlns:a16="http://schemas.microsoft.com/office/drawing/2014/main" id="{55A1489A-CFF8-AE10-F438-280FA79F87EA}"/>
              </a:ext>
            </a:extLst>
          </p:cNvPr>
          <p:cNvSpPr txBox="1">
            <a:spLocks noChangeArrowheads="1"/>
          </p:cNvSpPr>
          <p:nvPr/>
        </p:nvSpPr>
        <p:spPr bwMode="auto">
          <a:xfrm>
            <a:off x="350838" y="1739900"/>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en-US" altLang="ja-JP" sz="2000">
                <a:ea typeface="ＭＳ ゴシック" panose="020B0609070205080204" pitchFamily="49" charset="-128"/>
              </a:rPr>
              <a:t>java main class name</a:t>
            </a:r>
            <a:endParaRPr lang="en-US" altLang="ja-JP" sz="2000"/>
          </a:p>
        </p:txBody>
      </p:sp>
      <p:sp>
        <p:nvSpPr>
          <p:cNvPr id="8" name="Rectangle 6">
            <a:extLst>
              <a:ext uri="{FF2B5EF4-FFF2-40B4-BE49-F238E27FC236}">
                <a16:creationId xmlns:a16="http://schemas.microsoft.com/office/drawing/2014/main" id="{790838B8-A844-C279-EC46-61E93C70FE97}"/>
              </a:ext>
            </a:extLst>
          </p:cNvPr>
          <p:cNvSpPr>
            <a:spLocks noChangeArrowheads="1"/>
          </p:cNvSpPr>
          <p:nvPr/>
        </p:nvSpPr>
        <p:spPr bwMode="auto">
          <a:xfrm>
            <a:off x="273050" y="238918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spcBef>
                <a:spcPct val="50000"/>
              </a:spcBef>
              <a:buFont typeface="Wingdings" panose="05000000000000000000" pitchFamily="2" charset="2"/>
              <a:buNone/>
            </a:pPr>
            <a:r>
              <a:rPr lang="en-US" altLang="ja-JP" b="0">
                <a:latin typeface="Arial" panose="020B0604020202020204" pitchFamily="34" charset="0"/>
              </a:rPr>
              <a:t>●ví dụ</a:t>
            </a:r>
            <a:r>
              <a:rPr lang="ja-JP" altLang="en-US" b="0">
                <a:latin typeface="Arial" panose="020B0604020202020204" pitchFamily="34" charset="0"/>
              </a:rPr>
              <a:t>： </a:t>
            </a:r>
            <a:r>
              <a:rPr lang="en-US" altLang="ja-JP" b="0">
                <a:latin typeface="Arial" panose="020B0604020202020204" pitchFamily="34" charset="0"/>
              </a:rPr>
              <a:t>trường hợp đã execute thành công</a:t>
            </a:r>
          </a:p>
        </p:txBody>
      </p:sp>
      <p:sp>
        <p:nvSpPr>
          <p:cNvPr id="9" name="Rectangle 7">
            <a:extLst>
              <a:ext uri="{FF2B5EF4-FFF2-40B4-BE49-F238E27FC236}">
                <a16:creationId xmlns:a16="http://schemas.microsoft.com/office/drawing/2014/main" id="{EE47BA5F-ACE1-5D20-057C-F5ED156A2115}"/>
              </a:ext>
            </a:extLst>
          </p:cNvPr>
          <p:cNvSpPr>
            <a:spLocks noChangeArrowheads="1"/>
          </p:cNvSpPr>
          <p:nvPr/>
        </p:nvSpPr>
        <p:spPr bwMode="auto">
          <a:xfrm>
            <a:off x="344488" y="2878138"/>
            <a:ext cx="9120187" cy="10287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lvl="1" eaLnBrk="1" hangingPunct="1">
              <a:lnSpc>
                <a:spcPct val="75000"/>
              </a:lnSpc>
            </a:pPr>
            <a:r>
              <a:rPr lang="en-US" altLang="en-US" sz="1800" b="0">
                <a:latin typeface="Arial" panose="020B0604020202020204" pitchFamily="34" charset="0"/>
                <a:ea typeface="ＭＳ ゴシック" panose="020B0609070205080204" pitchFamily="49" charset="-128"/>
              </a:rPr>
              <a:t>C:\javahome&gt;java HelloWorld</a:t>
            </a:r>
          </a:p>
          <a:p>
            <a:pPr lvl="1" eaLnBrk="1" hangingPunct="1">
              <a:lnSpc>
                <a:spcPct val="75000"/>
              </a:lnSpc>
            </a:pPr>
            <a:r>
              <a:rPr lang="en-US" altLang="en-US" sz="1800" b="0">
                <a:latin typeface="Arial" panose="020B0604020202020204" pitchFamily="34" charset="0"/>
                <a:ea typeface="ＭＳ ゴシック" panose="020B0609070205080204" pitchFamily="49" charset="-128"/>
              </a:rPr>
              <a:t>Hello World!</a:t>
            </a:r>
          </a:p>
          <a:p>
            <a:pPr lvl="1" eaLnBrk="1" hangingPunct="1">
              <a:lnSpc>
                <a:spcPct val="75000"/>
              </a:lnSpc>
            </a:pPr>
            <a:endParaRPr lang="en-US" altLang="en-US" sz="1800" b="0">
              <a:latin typeface="Arial" panose="020B0604020202020204" pitchFamily="34" charset="0"/>
              <a:ea typeface="ＭＳ ゴシック" panose="020B0609070205080204" pitchFamily="49" charset="-128"/>
            </a:endParaRPr>
          </a:p>
          <a:p>
            <a:pPr lvl="1" eaLnBrk="1" hangingPunct="1">
              <a:lnSpc>
                <a:spcPct val="75000"/>
              </a:lnSpc>
            </a:pPr>
            <a:r>
              <a:rPr lang="en-US" altLang="en-US" sz="1800" b="0">
                <a:latin typeface="Arial" panose="020B0604020202020204" pitchFamily="34" charset="0"/>
                <a:ea typeface="ＭＳ ゴシック" panose="020B0609070205080204" pitchFamily="49" charset="-128"/>
              </a:rPr>
              <a:t>C:\javahome&gt;</a:t>
            </a:r>
            <a:endParaRPr lang="en-US" altLang="ja-JP" sz="1800" b="0">
              <a:latin typeface="Arial" panose="020B0604020202020204" pitchFamily="34" charset="0"/>
              <a:ea typeface="ＭＳ ゴシック" panose="020B0609070205080204" pitchFamily="49" charset="-128"/>
            </a:endParaRPr>
          </a:p>
        </p:txBody>
      </p:sp>
      <p:sp>
        <p:nvSpPr>
          <p:cNvPr id="10" name="Rectangle 8">
            <a:extLst>
              <a:ext uri="{FF2B5EF4-FFF2-40B4-BE49-F238E27FC236}">
                <a16:creationId xmlns:a16="http://schemas.microsoft.com/office/drawing/2014/main" id="{8E5B43C2-9FF5-8A03-2AFC-994EFE1A81A0}"/>
              </a:ext>
            </a:extLst>
          </p:cNvPr>
          <p:cNvSpPr>
            <a:spLocks noChangeArrowheads="1"/>
          </p:cNvSpPr>
          <p:nvPr/>
        </p:nvSpPr>
        <p:spPr bwMode="auto">
          <a:xfrm>
            <a:off x="273050" y="39481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spcBef>
                <a:spcPct val="50000"/>
              </a:spcBef>
              <a:buFont typeface="Wingdings" panose="05000000000000000000" pitchFamily="2" charset="2"/>
              <a:buNone/>
            </a:pPr>
            <a:r>
              <a:rPr lang="en-US" altLang="ja-JP" b="0">
                <a:latin typeface="Arial" panose="020B0604020202020204" pitchFamily="34" charset="0"/>
              </a:rPr>
              <a:t>●Ví dụ</a:t>
            </a:r>
            <a:r>
              <a:rPr lang="ja-JP" altLang="en-US" b="0">
                <a:latin typeface="Arial" panose="020B0604020202020204" pitchFamily="34" charset="0"/>
              </a:rPr>
              <a:t>： </a:t>
            </a:r>
            <a:r>
              <a:rPr lang="en-US" altLang="ja-JP" b="0">
                <a:latin typeface="Arial" panose="020B0604020202020204" pitchFamily="34" charset="0"/>
              </a:rPr>
              <a:t>trường hợp đã execute thất bại</a:t>
            </a:r>
          </a:p>
        </p:txBody>
      </p:sp>
      <p:sp>
        <p:nvSpPr>
          <p:cNvPr id="11" name="Rectangle 9">
            <a:extLst>
              <a:ext uri="{FF2B5EF4-FFF2-40B4-BE49-F238E27FC236}">
                <a16:creationId xmlns:a16="http://schemas.microsoft.com/office/drawing/2014/main" id="{D9E5899B-0045-0718-230D-04D13C9FA85C}"/>
              </a:ext>
            </a:extLst>
          </p:cNvPr>
          <p:cNvSpPr>
            <a:spLocks noChangeArrowheads="1"/>
          </p:cNvSpPr>
          <p:nvPr/>
        </p:nvSpPr>
        <p:spPr bwMode="auto">
          <a:xfrm>
            <a:off x="344488" y="4451350"/>
            <a:ext cx="9120187" cy="20177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lvl="1" eaLnBrk="1" hangingPunct="1">
              <a:lnSpc>
                <a:spcPct val="85000"/>
              </a:lnSpc>
            </a:pPr>
            <a:r>
              <a:rPr lang="en-US" altLang="en-US" sz="1800" b="0">
                <a:latin typeface="Arial" panose="020B0604020202020204" pitchFamily="34" charset="0"/>
                <a:ea typeface="ＭＳ ゴシック" panose="020B0609070205080204" pitchFamily="49" charset="-128"/>
              </a:rPr>
              <a:t>C:\javahome&gt;java HelloWorld.class</a:t>
            </a:r>
          </a:p>
          <a:p>
            <a:pPr lvl="1" eaLnBrk="1" hangingPunct="1">
              <a:lnSpc>
                <a:spcPct val="85000"/>
              </a:lnSpc>
            </a:pPr>
            <a:r>
              <a:rPr lang="en-US" altLang="en-US" sz="1800" b="0">
                <a:latin typeface="Arial" panose="020B0604020202020204" pitchFamily="34" charset="0"/>
                <a:ea typeface="ＭＳ ゴシック" panose="020B0609070205080204" pitchFamily="49" charset="-128"/>
              </a:rPr>
              <a:t>Exception in thread "main" java.lang.NoClassDefFoundError: HelloWorld/class</a:t>
            </a:r>
          </a:p>
          <a:p>
            <a:pPr lvl="1" eaLnBrk="1" hangingPunct="1">
              <a:lnSpc>
                <a:spcPct val="85000"/>
              </a:lnSpc>
            </a:pPr>
            <a:r>
              <a:rPr lang="en-US" altLang="en-US" sz="1800" b="0">
                <a:latin typeface="Arial" panose="020B0604020202020204" pitchFamily="34" charset="0"/>
                <a:ea typeface="ＭＳ ゴシック" panose="020B0609070205080204" pitchFamily="49" charset="-128"/>
              </a:rPr>
              <a:t>Caused by: java.lang.ClassNotFoundException: HelloWorld.class</a:t>
            </a:r>
          </a:p>
          <a:p>
            <a:pPr lvl="1" eaLnBrk="1" hangingPunct="1">
              <a:lnSpc>
                <a:spcPct val="85000"/>
              </a:lnSpc>
            </a:pPr>
            <a:r>
              <a:rPr lang="ja-JP" altLang="en-US" sz="1800" b="0">
                <a:latin typeface="Arial" panose="020B0604020202020204" pitchFamily="34" charset="0"/>
                <a:ea typeface="ＭＳ ゴシック" panose="020B0609070205080204" pitchFamily="49" charset="-128"/>
              </a:rPr>
              <a:t>　　　　：</a:t>
            </a:r>
          </a:p>
          <a:p>
            <a:pPr lvl="1" eaLnBrk="1" hangingPunct="1">
              <a:lnSpc>
                <a:spcPct val="85000"/>
              </a:lnSpc>
            </a:pPr>
            <a:r>
              <a:rPr lang="en-US" altLang="en-US" sz="1800" b="0">
                <a:latin typeface="Arial" panose="020B0604020202020204" pitchFamily="34" charset="0"/>
                <a:ea typeface="ＭＳ ゴシック" panose="020B0609070205080204" pitchFamily="49" charset="-128"/>
              </a:rPr>
              <a:t>Could not find the main class: HelloWorld.class.  Program will exit.</a:t>
            </a:r>
          </a:p>
          <a:p>
            <a:pPr lvl="1" eaLnBrk="1" hangingPunct="1">
              <a:lnSpc>
                <a:spcPct val="85000"/>
              </a:lnSpc>
            </a:pPr>
            <a:endParaRPr lang="en-US" altLang="en-US" sz="1800" b="0">
              <a:latin typeface="Arial" panose="020B0604020202020204" pitchFamily="34" charset="0"/>
              <a:ea typeface="ＭＳ ゴシック" panose="020B0609070205080204" pitchFamily="49" charset="-128"/>
            </a:endParaRPr>
          </a:p>
          <a:p>
            <a:pPr lvl="1" eaLnBrk="1" hangingPunct="1">
              <a:lnSpc>
                <a:spcPct val="85000"/>
              </a:lnSpc>
            </a:pPr>
            <a:r>
              <a:rPr lang="en-US" altLang="en-US" sz="1800" b="0">
                <a:latin typeface="Arial" panose="020B0604020202020204" pitchFamily="34" charset="0"/>
                <a:ea typeface="ＭＳ ゴシック" panose="020B0609070205080204" pitchFamily="49" charset="-128"/>
              </a:rPr>
              <a:t>C:\javahome&gt;</a:t>
            </a:r>
            <a:endParaRPr lang="en-US" altLang="ja-JP" sz="1800" b="0">
              <a:latin typeface="Arial" panose="020B0604020202020204" pitchFamily="34" charset="0"/>
              <a:ea typeface="ＭＳ ゴシック" panose="020B0609070205080204" pitchFamily="49" charset="-128"/>
            </a:endParaRPr>
          </a:p>
        </p:txBody>
      </p:sp>
      <p:sp>
        <p:nvSpPr>
          <p:cNvPr id="12" name="AutoShape 10">
            <a:extLst>
              <a:ext uri="{FF2B5EF4-FFF2-40B4-BE49-F238E27FC236}">
                <a16:creationId xmlns:a16="http://schemas.microsoft.com/office/drawing/2014/main" id="{1B1FA100-8584-F422-BA39-0BB65EE94F51}"/>
              </a:ext>
            </a:extLst>
          </p:cNvPr>
          <p:cNvSpPr>
            <a:spLocks noChangeArrowheads="1"/>
          </p:cNvSpPr>
          <p:nvPr/>
        </p:nvSpPr>
        <p:spPr bwMode="auto">
          <a:xfrm>
            <a:off x="3179763" y="1039813"/>
            <a:ext cx="3425825" cy="588962"/>
          </a:xfrm>
          <a:prstGeom prst="wedgeRoundRectCallout">
            <a:avLst>
              <a:gd name="adj1" fmla="val -56440"/>
              <a:gd name="adj2" fmla="val 9420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ea typeface="ＭＳ ゴシック" panose="020B0609070205080204" pitchFamily="49" charset="-128"/>
              </a:rPr>
              <a:t>Tên của class có main method</a:t>
            </a:r>
            <a:endParaRPr lang="en-US" altLang="ja-JP" sz="1800"/>
          </a:p>
        </p:txBody>
      </p:sp>
      <p:sp>
        <p:nvSpPr>
          <p:cNvPr id="13" name="AutoShape 11">
            <a:extLst>
              <a:ext uri="{FF2B5EF4-FFF2-40B4-BE49-F238E27FC236}">
                <a16:creationId xmlns:a16="http://schemas.microsoft.com/office/drawing/2014/main" id="{3FBC5E5C-71F8-595C-2BCA-D7E0AEA97729}"/>
              </a:ext>
            </a:extLst>
          </p:cNvPr>
          <p:cNvSpPr>
            <a:spLocks noChangeArrowheads="1"/>
          </p:cNvSpPr>
          <p:nvPr/>
        </p:nvSpPr>
        <p:spPr bwMode="auto">
          <a:xfrm>
            <a:off x="5089525" y="3922713"/>
            <a:ext cx="4017963" cy="433387"/>
          </a:xfrm>
          <a:prstGeom prst="wedgeRoundRectCallout">
            <a:avLst>
              <a:gd name="adj1" fmla="val -72681"/>
              <a:gd name="adj2" fmla="val 9029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t>Ví dụ đã chỉ định tên file bị nhầm</a:t>
            </a:r>
          </a:p>
        </p:txBody>
      </p:sp>
      <p:sp>
        <p:nvSpPr>
          <p:cNvPr id="14" name="Rectangle 12">
            <a:extLst>
              <a:ext uri="{FF2B5EF4-FFF2-40B4-BE49-F238E27FC236}">
                <a16:creationId xmlns:a16="http://schemas.microsoft.com/office/drawing/2014/main" id="{4DAC099B-88A9-10FC-0DEE-DC461E8523CA}"/>
              </a:ext>
            </a:extLst>
          </p:cNvPr>
          <p:cNvSpPr>
            <a:spLocks noChangeArrowheads="1"/>
          </p:cNvSpPr>
          <p:nvPr/>
        </p:nvSpPr>
        <p:spPr bwMode="auto">
          <a:xfrm>
            <a:off x="2517775" y="4505325"/>
            <a:ext cx="1993900" cy="3032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sz="1000" b="1">
                <a:solidFill>
                  <a:schemeClr val="tx1"/>
                </a:solidFill>
                <a:latin typeface="Arial" panose="020B0604020202020204" pitchFamily="34" charset="0"/>
                <a:ea typeface="MS UI Gothic" panose="020B0600070205080204" pitchFamily="50" charset="-128"/>
              </a:defRPr>
            </a:lvl1pPr>
            <a:lvl2pPr marL="742950" indent="-285750" defTabSz="863600">
              <a:defRPr kumimoji="1" sz="1000" b="1">
                <a:solidFill>
                  <a:schemeClr val="tx1"/>
                </a:solidFill>
                <a:latin typeface="Arial" panose="020B0604020202020204" pitchFamily="34" charset="0"/>
                <a:ea typeface="MS UI Gothic" panose="020B0600070205080204" pitchFamily="50" charset="-128"/>
              </a:defRPr>
            </a:lvl2pPr>
            <a:lvl3pPr marL="1143000" indent="-228600" defTabSz="863600">
              <a:defRPr kumimoji="1" sz="1000" b="1">
                <a:solidFill>
                  <a:schemeClr val="tx1"/>
                </a:solidFill>
                <a:latin typeface="Arial" panose="020B0604020202020204" pitchFamily="34" charset="0"/>
                <a:ea typeface="MS UI Gothic" panose="020B0600070205080204" pitchFamily="50" charset="-128"/>
              </a:defRPr>
            </a:lvl3pPr>
            <a:lvl4pPr marL="1600200" indent="-228600" defTabSz="863600">
              <a:defRPr kumimoji="1" sz="1000" b="1">
                <a:solidFill>
                  <a:schemeClr val="tx1"/>
                </a:solidFill>
                <a:latin typeface="Arial" panose="020B0604020202020204" pitchFamily="34" charset="0"/>
                <a:ea typeface="MS UI Gothic" panose="020B0600070205080204" pitchFamily="50" charset="-128"/>
              </a:defRPr>
            </a:lvl4pPr>
            <a:lvl5pPr marL="2057400" indent="-228600" defTabSz="863600">
              <a:defRPr kumimoji="1" sz="1000" b="1">
                <a:solidFill>
                  <a:schemeClr val="tx1"/>
                </a:solidFill>
                <a:latin typeface="Arial" panose="020B0604020202020204" pitchFamily="34" charset="0"/>
                <a:ea typeface="MS UI Gothic" panose="020B0600070205080204" pitchFamily="50" charset="-128"/>
              </a:defRPr>
            </a:lvl5pPr>
            <a:lvl6pPr marL="25146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endParaRPr lang="ja-JP" altLang="ja-JP" sz="1100" b="0">
              <a:ea typeface="ＭＳ Ｐゴシック" panose="020B0600070205080204" pitchFamily="50" charset="-128"/>
            </a:endParaRPr>
          </a:p>
        </p:txBody>
      </p:sp>
    </p:spTree>
    <p:extLst>
      <p:ext uri="{BB962C8B-B14F-4D97-AF65-F5344CB8AC3E}">
        <p14:creationId xmlns:p14="http://schemas.microsoft.com/office/powerpoint/2010/main" val="13486617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89E1D-A708-9C22-5E57-CC4C14DE31EC}"/>
              </a:ext>
            </a:extLst>
          </p:cNvPr>
          <p:cNvSpPr>
            <a:spLocks noGrp="1"/>
          </p:cNvSpPr>
          <p:nvPr>
            <p:ph type="title"/>
          </p:nvPr>
        </p:nvSpPr>
        <p:spPr>
          <a:xfrm>
            <a:off x="128464" y="334144"/>
            <a:ext cx="9649072" cy="504056"/>
          </a:xfrm>
        </p:spPr>
        <p:txBody>
          <a:bodyPr>
            <a:normAutofit fontScale="90000"/>
          </a:bodyPr>
          <a:lstStyle/>
          <a:p>
            <a:r>
              <a:rPr lang="en-US" altLang="ja-JP" dirty="0">
                <a:latin typeface="Arial" panose="020B0604020202020204" pitchFamily="34" charset="0"/>
                <a:ea typeface="MS UI Gothic" panose="020B0600070205080204" pitchFamily="50" charset="-128"/>
              </a:rPr>
              <a:t>Execute</a:t>
            </a:r>
            <a:endParaRPr kumimoji="1" lang="ja-JP" altLang="en-US" dirty="0"/>
          </a:p>
        </p:txBody>
      </p:sp>
      <p:sp>
        <p:nvSpPr>
          <p:cNvPr id="4" name="Slide Number Placeholder 3">
            <a:extLst>
              <a:ext uri="{FF2B5EF4-FFF2-40B4-BE49-F238E27FC236}">
                <a16:creationId xmlns:a16="http://schemas.microsoft.com/office/drawing/2014/main" id="{A77AC074-9F1C-A84B-3D39-81C9FB421447}"/>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20</a:t>
            </a:fld>
            <a:endParaRPr lang="en-US" altLang="ja-JP"/>
          </a:p>
        </p:txBody>
      </p:sp>
      <p:sp>
        <p:nvSpPr>
          <p:cNvPr id="7" name="Rectangle 3">
            <a:extLst>
              <a:ext uri="{FF2B5EF4-FFF2-40B4-BE49-F238E27FC236}">
                <a16:creationId xmlns:a16="http://schemas.microsoft.com/office/drawing/2014/main" id="{8EC50CDB-374B-F32E-E5FE-585B68904B85}"/>
              </a:ext>
            </a:extLst>
          </p:cNvPr>
          <p:cNvSpPr>
            <a:spLocks noChangeArrowheads="1"/>
          </p:cNvSpPr>
          <p:nvPr/>
        </p:nvSpPr>
        <p:spPr bwMode="auto">
          <a:xfrm>
            <a:off x="304800" y="9398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dirty="0" err="1">
                <a:latin typeface="Arial" panose="020B0604020202020204" pitchFamily="34" charset="0"/>
              </a:rPr>
              <a:t>Trình</a:t>
            </a:r>
            <a:r>
              <a:rPr lang="en-US" altLang="ja-JP" sz="2400" b="0" dirty="0">
                <a:latin typeface="Arial" panose="020B0604020202020204" pitchFamily="34" charset="0"/>
              </a:rPr>
              <a:t> </a:t>
            </a:r>
            <a:r>
              <a:rPr lang="en-US" altLang="ja-JP" sz="2400" b="0" dirty="0" err="1">
                <a:latin typeface="Arial" panose="020B0604020202020204" pitchFamily="34" charset="0"/>
              </a:rPr>
              <a:t>tư</a:t>
            </a:r>
            <a:r>
              <a:rPr lang="en-US" altLang="ja-JP" sz="2400" b="0" dirty="0">
                <a:latin typeface="Arial" panose="020B0604020202020204" pitchFamily="34" charset="0"/>
              </a:rPr>
              <a:t>̣ execute</a:t>
            </a:r>
          </a:p>
          <a:p>
            <a:pPr lvl="1" eaLnBrk="1" hangingPunct="1"/>
            <a:endParaRPr lang="en-US" altLang="ja-JP" sz="2400" b="0" dirty="0">
              <a:latin typeface="Arial" panose="020B0604020202020204" pitchFamily="34" charset="0"/>
            </a:endParaRPr>
          </a:p>
        </p:txBody>
      </p:sp>
      <p:sp>
        <p:nvSpPr>
          <p:cNvPr id="8" name="Text Box 4">
            <a:extLst>
              <a:ext uri="{FF2B5EF4-FFF2-40B4-BE49-F238E27FC236}">
                <a16:creationId xmlns:a16="http://schemas.microsoft.com/office/drawing/2014/main" id="{CE64ACCA-C247-BE04-52BA-8C70ECD0F263}"/>
              </a:ext>
            </a:extLst>
          </p:cNvPr>
          <p:cNvSpPr txBox="1">
            <a:spLocks noChangeArrowheads="1"/>
          </p:cNvSpPr>
          <p:nvPr/>
        </p:nvSpPr>
        <p:spPr bwMode="auto">
          <a:xfrm>
            <a:off x="527050" y="2593975"/>
            <a:ext cx="8937625"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t>　</a:t>
            </a:r>
            <a:r>
              <a:rPr lang="en-US" altLang="ja-JP" sz="2000"/>
              <a:t>2)</a:t>
            </a:r>
            <a:r>
              <a:rPr lang="ja-JP" altLang="en-US" sz="2000"/>
              <a:t>　</a:t>
            </a:r>
            <a:r>
              <a:rPr lang="en-US" altLang="ja-JP" sz="2000"/>
              <a:t>Thay đổi current folder thành chỗ lưu file</a:t>
            </a:r>
          </a:p>
        </p:txBody>
      </p:sp>
      <p:sp>
        <p:nvSpPr>
          <p:cNvPr id="9" name="Text Box 5">
            <a:extLst>
              <a:ext uri="{FF2B5EF4-FFF2-40B4-BE49-F238E27FC236}">
                <a16:creationId xmlns:a16="http://schemas.microsoft.com/office/drawing/2014/main" id="{D85029B3-6D03-06C3-B648-8876CAE163A7}"/>
              </a:ext>
            </a:extLst>
          </p:cNvPr>
          <p:cNvSpPr txBox="1">
            <a:spLocks noChangeArrowheads="1"/>
          </p:cNvSpPr>
          <p:nvPr/>
        </p:nvSpPr>
        <p:spPr bwMode="auto">
          <a:xfrm>
            <a:off x="527050" y="1919288"/>
            <a:ext cx="8937625"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t>　</a:t>
            </a:r>
            <a:r>
              <a:rPr lang="en-US" altLang="ja-JP" sz="2000"/>
              <a:t>1)</a:t>
            </a:r>
            <a:r>
              <a:rPr lang="ja-JP" altLang="en-US" sz="2000"/>
              <a:t>　</a:t>
            </a:r>
            <a:r>
              <a:rPr lang="en-US" altLang="ja-JP" sz="2000"/>
              <a:t>Khởi động command prompt.</a:t>
            </a:r>
          </a:p>
        </p:txBody>
      </p:sp>
      <p:sp>
        <p:nvSpPr>
          <p:cNvPr id="10" name="Text Box 6">
            <a:extLst>
              <a:ext uri="{FF2B5EF4-FFF2-40B4-BE49-F238E27FC236}">
                <a16:creationId xmlns:a16="http://schemas.microsoft.com/office/drawing/2014/main" id="{60862BB3-43F9-12B9-8816-80FE49C72F70}"/>
              </a:ext>
            </a:extLst>
          </p:cNvPr>
          <p:cNvSpPr txBox="1">
            <a:spLocks noChangeArrowheads="1"/>
          </p:cNvSpPr>
          <p:nvPr/>
        </p:nvSpPr>
        <p:spPr bwMode="auto">
          <a:xfrm>
            <a:off x="527050" y="4464050"/>
            <a:ext cx="8937625"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t>　</a:t>
            </a:r>
            <a:r>
              <a:rPr lang="en-US" altLang="ja-JP" sz="2000"/>
              <a:t>3)</a:t>
            </a:r>
            <a:r>
              <a:rPr lang="ja-JP" altLang="en-US" sz="2000"/>
              <a:t>　</a:t>
            </a:r>
            <a:r>
              <a:rPr lang="en-US" altLang="ja-JP" sz="2000"/>
              <a:t>Sử dụng </a:t>
            </a:r>
            <a:r>
              <a:rPr lang="en-US" altLang="ja-JP" sz="2000">
                <a:ea typeface="ＭＳ ゴシック" panose="020B0609070205080204" pitchFamily="49" charset="-128"/>
              </a:rPr>
              <a:t>java command để execute</a:t>
            </a:r>
            <a:r>
              <a:rPr lang="en-US" altLang="ja-JP" sz="2000"/>
              <a:t>.</a:t>
            </a:r>
          </a:p>
        </p:txBody>
      </p:sp>
      <p:sp>
        <p:nvSpPr>
          <p:cNvPr id="11" name="Text Box 7">
            <a:extLst>
              <a:ext uri="{FF2B5EF4-FFF2-40B4-BE49-F238E27FC236}">
                <a16:creationId xmlns:a16="http://schemas.microsoft.com/office/drawing/2014/main" id="{5B41D08F-DC21-978F-64D9-9B7ECC648EAF}"/>
              </a:ext>
            </a:extLst>
          </p:cNvPr>
          <p:cNvSpPr txBox="1">
            <a:spLocks noChangeArrowheads="1"/>
          </p:cNvSpPr>
          <p:nvPr/>
        </p:nvSpPr>
        <p:spPr bwMode="auto">
          <a:xfrm>
            <a:off x="527050" y="5303838"/>
            <a:ext cx="8937625"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t>　</a:t>
            </a:r>
            <a:r>
              <a:rPr lang="en-US" altLang="ja-JP" sz="2000"/>
              <a:t>4)</a:t>
            </a:r>
            <a:r>
              <a:rPr lang="ja-JP" altLang="en-US" sz="2000"/>
              <a:t>　</a:t>
            </a:r>
            <a:r>
              <a:rPr lang="en-US" altLang="ja-JP" sz="2000"/>
              <a:t>Xác nhận kết quả execute.</a:t>
            </a:r>
          </a:p>
        </p:txBody>
      </p:sp>
      <p:sp>
        <p:nvSpPr>
          <p:cNvPr id="12" name="Rectangle 10">
            <a:extLst>
              <a:ext uri="{FF2B5EF4-FFF2-40B4-BE49-F238E27FC236}">
                <a16:creationId xmlns:a16="http://schemas.microsoft.com/office/drawing/2014/main" id="{6EEF02F2-0560-0988-182E-724792534718}"/>
              </a:ext>
            </a:extLst>
          </p:cNvPr>
          <p:cNvSpPr>
            <a:spLocks noChangeArrowheads="1"/>
          </p:cNvSpPr>
          <p:nvPr/>
        </p:nvSpPr>
        <p:spPr bwMode="auto">
          <a:xfrm>
            <a:off x="349250" y="4078288"/>
            <a:ext cx="9313863" cy="2033587"/>
          </a:xfrm>
          <a:prstGeom prst="rect">
            <a:avLst/>
          </a:prstGeom>
          <a:noFill/>
          <a:ln w="381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sz="1000" b="1">
                <a:solidFill>
                  <a:schemeClr val="tx1"/>
                </a:solidFill>
                <a:latin typeface="Arial" panose="020B0604020202020204" pitchFamily="34" charset="0"/>
                <a:ea typeface="MS UI Gothic" panose="020B0600070205080204" pitchFamily="50" charset="-128"/>
              </a:defRPr>
            </a:lvl1pPr>
            <a:lvl2pPr marL="742950" indent="-285750" defTabSz="863600">
              <a:defRPr kumimoji="1" sz="1000" b="1">
                <a:solidFill>
                  <a:schemeClr val="tx1"/>
                </a:solidFill>
                <a:latin typeface="Arial" panose="020B0604020202020204" pitchFamily="34" charset="0"/>
                <a:ea typeface="MS UI Gothic" panose="020B0600070205080204" pitchFamily="50" charset="-128"/>
              </a:defRPr>
            </a:lvl2pPr>
            <a:lvl3pPr marL="1143000" indent="-228600" defTabSz="863600">
              <a:defRPr kumimoji="1" sz="1000" b="1">
                <a:solidFill>
                  <a:schemeClr val="tx1"/>
                </a:solidFill>
                <a:latin typeface="Arial" panose="020B0604020202020204" pitchFamily="34" charset="0"/>
                <a:ea typeface="MS UI Gothic" panose="020B0600070205080204" pitchFamily="50" charset="-128"/>
              </a:defRPr>
            </a:lvl3pPr>
            <a:lvl4pPr marL="1600200" indent="-228600" defTabSz="863600">
              <a:defRPr kumimoji="1" sz="1000" b="1">
                <a:solidFill>
                  <a:schemeClr val="tx1"/>
                </a:solidFill>
                <a:latin typeface="Arial" panose="020B0604020202020204" pitchFamily="34" charset="0"/>
                <a:ea typeface="MS UI Gothic" panose="020B0600070205080204" pitchFamily="50" charset="-128"/>
              </a:defRPr>
            </a:lvl4pPr>
            <a:lvl5pPr marL="2057400" indent="-228600" defTabSz="863600">
              <a:defRPr kumimoji="1" sz="1000" b="1">
                <a:solidFill>
                  <a:schemeClr val="tx1"/>
                </a:solidFill>
                <a:latin typeface="Arial" panose="020B0604020202020204" pitchFamily="34" charset="0"/>
                <a:ea typeface="MS UI Gothic" panose="020B0600070205080204" pitchFamily="50" charset="-128"/>
              </a:defRPr>
            </a:lvl5pPr>
            <a:lvl6pPr marL="25146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endParaRPr lang="ja-JP" altLang="ja-JP" sz="1100" b="0">
              <a:ea typeface="ＭＳ Ｐゴシック" panose="020B0600070205080204" pitchFamily="50" charset="-128"/>
            </a:endParaRPr>
          </a:p>
        </p:txBody>
      </p:sp>
      <p:sp>
        <p:nvSpPr>
          <p:cNvPr id="13" name="Rectangle 12">
            <a:extLst>
              <a:ext uri="{FF2B5EF4-FFF2-40B4-BE49-F238E27FC236}">
                <a16:creationId xmlns:a16="http://schemas.microsoft.com/office/drawing/2014/main" id="{F120B444-5BB3-2A24-1536-5B47682C7171}"/>
              </a:ext>
            </a:extLst>
          </p:cNvPr>
          <p:cNvSpPr>
            <a:spLocks noChangeArrowheads="1"/>
          </p:cNvSpPr>
          <p:nvPr/>
        </p:nvSpPr>
        <p:spPr bwMode="auto">
          <a:xfrm>
            <a:off x="344488" y="1597025"/>
            <a:ext cx="9313862" cy="1792288"/>
          </a:xfrm>
          <a:prstGeom prst="rect">
            <a:avLst/>
          </a:prstGeom>
          <a:noFill/>
          <a:ln w="381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sz="1000" b="1">
                <a:solidFill>
                  <a:schemeClr val="tx1"/>
                </a:solidFill>
                <a:latin typeface="Arial" panose="020B0604020202020204" pitchFamily="34" charset="0"/>
                <a:ea typeface="MS UI Gothic" panose="020B0600070205080204" pitchFamily="50" charset="-128"/>
              </a:defRPr>
            </a:lvl1pPr>
            <a:lvl2pPr marL="742950" indent="-285750" defTabSz="863600">
              <a:defRPr kumimoji="1" sz="1000" b="1">
                <a:solidFill>
                  <a:schemeClr val="tx1"/>
                </a:solidFill>
                <a:latin typeface="Arial" panose="020B0604020202020204" pitchFamily="34" charset="0"/>
                <a:ea typeface="MS UI Gothic" panose="020B0600070205080204" pitchFamily="50" charset="-128"/>
              </a:defRPr>
            </a:lvl2pPr>
            <a:lvl3pPr marL="1143000" indent="-228600" defTabSz="863600">
              <a:defRPr kumimoji="1" sz="1000" b="1">
                <a:solidFill>
                  <a:schemeClr val="tx1"/>
                </a:solidFill>
                <a:latin typeface="Arial" panose="020B0604020202020204" pitchFamily="34" charset="0"/>
                <a:ea typeface="MS UI Gothic" panose="020B0600070205080204" pitchFamily="50" charset="-128"/>
              </a:defRPr>
            </a:lvl3pPr>
            <a:lvl4pPr marL="1600200" indent="-228600" defTabSz="863600">
              <a:defRPr kumimoji="1" sz="1000" b="1">
                <a:solidFill>
                  <a:schemeClr val="tx1"/>
                </a:solidFill>
                <a:latin typeface="Arial" panose="020B0604020202020204" pitchFamily="34" charset="0"/>
                <a:ea typeface="MS UI Gothic" panose="020B0600070205080204" pitchFamily="50" charset="-128"/>
              </a:defRPr>
            </a:lvl4pPr>
            <a:lvl5pPr marL="2057400" indent="-228600" defTabSz="863600">
              <a:defRPr kumimoji="1" sz="1000" b="1">
                <a:solidFill>
                  <a:schemeClr val="tx1"/>
                </a:solidFill>
                <a:latin typeface="Arial" panose="020B0604020202020204" pitchFamily="34" charset="0"/>
                <a:ea typeface="MS UI Gothic" panose="020B0600070205080204" pitchFamily="50" charset="-128"/>
              </a:defRPr>
            </a:lvl5pPr>
            <a:lvl6pPr marL="25146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endParaRPr lang="ja-JP" altLang="ja-JP" sz="1100" b="0">
              <a:ea typeface="ＭＳ Ｐゴシック" panose="020B0600070205080204" pitchFamily="50" charset="-128"/>
            </a:endParaRPr>
          </a:p>
        </p:txBody>
      </p:sp>
      <p:sp>
        <p:nvSpPr>
          <p:cNvPr id="14" name="AutoShape 11">
            <a:extLst>
              <a:ext uri="{FF2B5EF4-FFF2-40B4-BE49-F238E27FC236}">
                <a16:creationId xmlns:a16="http://schemas.microsoft.com/office/drawing/2014/main" id="{3556EAAE-8891-C921-45D2-2AEA262499F6}"/>
              </a:ext>
            </a:extLst>
          </p:cNvPr>
          <p:cNvSpPr>
            <a:spLocks noChangeArrowheads="1"/>
          </p:cNvSpPr>
          <p:nvPr/>
        </p:nvSpPr>
        <p:spPr bwMode="auto">
          <a:xfrm>
            <a:off x="4035425" y="1160463"/>
            <a:ext cx="5429250" cy="558800"/>
          </a:xfrm>
          <a:prstGeom prst="wedgeRoundRectCallout">
            <a:avLst>
              <a:gd name="adj1" fmla="val -37690"/>
              <a:gd name="adj2" fmla="val 37218"/>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t>Trường hợp tiếp tục compile để execute thì có thể lược 1) và 2)</a:t>
            </a:r>
          </a:p>
        </p:txBody>
      </p:sp>
      <p:sp>
        <p:nvSpPr>
          <p:cNvPr id="15" name="AutoShape 13">
            <a:extLst>
              <a:ext uri="{FF2B5EF4-FFF2-40B4-BE49-F238E27FC236}">
                <a16:creationId xmlns:a16="http://schemas.microsoft.com/office/drawing/2014/main" id="{62071C8C-5646-3A2B-EA61-FECF48911CD2}"/>
              </a:ext>
            </a:extLst>
          </p:cNvPr>
          <p:cNvSpPr>
            <a:spLocks noChangeArrowheads="1"/>
          </p:cNvSpPr>
          <p:nvPr/>
        </p:nvSpPr>
        <p:spPr bwMode="auto">
          <a:xfrm>
            <a:off x="4071938" y="3651250"/>
            <a:ext cx="5392737" cy="558800"/>
          </a:xfrm>
          <a:prstGeom prst="wedgeRoundRectCallout">
            <a:avLst>
              <a:gd name="adj1" fmla="val -8903"/>
              <a:gd name="adj2" fmla="val 18181"/>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t>Trường hợp tiếp tục compile để execute thì chỉ tiến hành 3) và 4)</a:t>
            </a:r>
          </a:p>
        </p:txBody>
      </p:sp>
      <p:sp>
        <p:nvSpPr>
          <p:cNvPr id="16" name="AutoShape 14">
            <a:extLst>
              <a:ext uri="{FF2B5EF4-FFF2-40B4-BE49-F238E27FC236}">
                <a16:creationId xmlns:a16="http://schemas.microsoft.com/office/drawing/2014/main" id="{E9346784-2CB4-64A0-A00F-B9EA0F8F518D}"/>
              </a:ext>
            </a:extLst>
          </p:cNvPr>
          <p:cNvSpPr>
            <a:spLocks noChangeArrowheads="1"/>
          </p:cNvSpPr>
          <p:nvPr/>
        </p:nvSpPr>
        <p:spPr bwMode="auto">
          <a:xfrm>
            <a:off x="5614988" y="5124450"/>
            <a:ext cx="2943225" cy="390525"/>
          </a:xfrm>
          <a:prstGeom prst="wedgeRoundRectCallout">
            <a:avLst>
              <a:gd name="adj1" fmla="val -68931"/>
              <a:gd name="adj2" fmla="val 3983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700"/>
              <a:t>Hiển thị là </a:t>
            </a:r>
            <a:r>
              <a:rPr lang="ja-JP" altLang="en-US" sz="1700"/>
              <a:t>「</a:t>
            </a:r>
            <a:r>
              <a:rPr lang="en-US" altLang="ja-JP" sz="1700">
                <a:ea typeface="ＭＳ ゴシック" panose="020B0609070205080204" pitchFamily="49" charset="-128"/>
              </a:rPr>
              <a:t>Hello World!</a:t>
            </a:r>
            <a:r>
              <a:rPr lang="ja-JP" altLang="en-US" sz="1700"/>
              <a:t>」 </a:t>
            </a:r>
          </a:p>
        </p:txBody>
      </p:sp>
      <p:sp>
        <p:nvSpPr>
          <p:cNvPr id="17" name="AutoShape 15">
            <a:extLst>
              <a:ext uri="{FF2B5EF4-FFF2-40B4-BE49-F238E27FC236}">
                <a16:creationId xmlns:a16="http://schemas.microsoft.com/office/drawing/2014/main" id="{D452F009-3252-0617-1CD9-4D57CBEBA9BC}"/>
              </a:ext>
            </a:extLst>
          </p:cNvPr>
          <p:cNvSpPr>
            <a:spLocks noChangeArrowheads="1"/>
          </p:cNvSpPr>
          <p:nvPr/>
        </p:nvSpPr>
        <p:spPr bwMode="auto">
          <a:xfrm>
            <a:off x="5640388" y="4289425"/>
            <a:ext cx="2903537" cy="350838"/>
          </a:xfrm>
          <a:prstGeom prst="wedgeRoundRectCallout">
            <a:avLst>
              <a:gd name="adj1" fmla="val -70009"/>
              <a:gd name="adj2" fmla="val 4230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ea typeface="ＭＳ ゴシック" panose="020B0609070205080204" pitchFamily="49" charset="-128"/>
              </a:rPr>
              <a:t>java HelloWorld</a:t>
            </a:r>
          </a:p>
        </p:txBody>
      </p:sp>
    </p:spTree>
    <p:extLst>
      <p:ext uri="{BB962C8B-B14F-4D97-AF65-F5344CB8AC3E}">
        <p14:creationId xmlns:p14="http://schemas.microsoft.com/office/powerpoint/2010/main" val="31949363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9DF01-B8FA-ECE2-A5F7-F56E72DA5372}"/>
              </a:ext>
            </a:extLst>
          </p:cNvPr>
          <p:cNvSpPr>
            <a:spLocks noGrp="1"/>
          </p:cNvSpPr>
          <p:nvPr>
            <p:ph type="title"/>
          </p:nvPr>
        </p:nvSpPr>
        <p:spPr/>
        <p:txBody>
          <a:bodyPr>
            <a:normAutofit fontScale="90000"/>
          </a:bodyPr>
          <a:lstStyle/>
          <a:p>
            <a:r>
              <a:rPr lang="en-US" altLang="ja-JP" dirty="0" err="1">
                <a:ea typeface="MS UI Gothic" panose="020B0600070205080204" pitchFamily="50" charset="-128"/>
              </a:rPr>
              <a:t>Cấu</a:t>
            </a:r>
            <a:r>
              <a:rPr lang="en-US" altLang="ja-JP" dirty="0">
                <a:ea typeface="MS UI Gothic" panose="020B0600070205080204" pitchFamily="50" charset="-128"/>
              </a:rPr>
              <a:t> </a:t>
            </a:r>
            <a:r>
              <a:rPr lang="en-US" altLang="ja-JP" dirty="0" err="1">
                <a:ea typeface="MS UI Gothic" panose="020B0600070205080204" pitchFamily="50" charset="-128"/>
              </a:rPr>
              <a:t>tạo</a:t>
            </a:r>
            <a:r>
              <a:rPr lang="en-US" altLang="ja-JP" dirty="0">
                <a:ea typeface="MS UI Gothic" panose="020B0600070205080204" pitchFamily="50" charset="-128"/>
              </a:rPr>
              <a:t> </a:t>
            </a:r>
            <a:r>
              <a:rPr lang="en-US" altLang="ja-JP" dirty="0" err="1">
                <a:ea typeface="MS UI Gothic" panose="020B0600070205080204" pitchFamily="50" charset="-128"/>
              </a:rPr>
              <a:t>cơ</a:t>
            </a:r>
            <a:r>
              <a:rPr lang="en-US" altLang="ja-JP" dirty="0">
                <a:ea typeface="MS UI Gothic" panose="020B0600070205080204" pitchFamily="50" charset="-128"/>
              </a:rPr>
              <a:t> </a:t>
            </a:r>
            <a:r>
              <a:rPr lang="en-US" altLang="ja-JP" dirty="0" err="1">
                <a:ea typeface="MS UI Gothic" panose="020B0600070205080204" pitchFamily="50" charset="-128"/>
              </a:rPr>
              <a:t>bản</a:t>
            </a:r>
            <a:r>
              <a:rPr lang="en-US" altLang="ja-JP" dirty="0">
                <a:ea typeface="MS UI Gothic" panose="020B0600070205080204" pitchFamily="50" charset="-128"/>
              </a:rPr>
              <a:t> </a:t>
            </a:r>
            <a:r>
              <a:rPr lang="en-US" altLang="ja-JP" dirty="0" err="1">
                <a:ea typeface="MS UI Gothic" panose="020B0600070205080204" pitchFamily="50" charset="-128"/>
              </a:rPr>
              <a:t>của</a:t>
            </a:r>
            <a:r>
              <a:rPr lang="en-US" altLang="ja-JP" dirty="0">
                <a:ea typeface="MS UI Gothic" panose="020B0600070205080204" pitchFamily="50" charset="-128"/>
              </a:rPr>
              <a:t> program</a:t>
            </a:r>
            <a:endParaRPr kumimoji="1" lang="ja-JP" altLang="en-US" dirty="0"/>
          </a:p>
        </p:txBody>
      </p:sp>
      <p:sp>
        <p:nvSpPr>
          <p:cNvPr id="3" name="Content Placeholder 2">
            <a:extLst>
              <a:ext uri="{FF2B5EF4-FFF2-40B4-BE49-F238E27FC236}">
                <a16:creationId xmlns:a16="http://schemas.microsoft.com/office/drawing/2014/main" id="{8C91EDC7-E885-E9D5-4786-4773ADE0BA1C}"/>
              </a:ext>
            </a:extLst>
          </p:cNvPr>
          <p:cNvSpPr>
            <a:spLocks noGrp="1"/>
          </p:cNvSpPr>
          <p:nvPr>
            <p:ph idx="1"/>
          </p:nvPr>
        </p:nvSpPr>
        <p:spPr/>
        <p:txBody>
          <a:bodyPr/>
          <a:lstStyle/>
          <a:p>
            <a:r>
              <a:rPr lang="en-US" altLang="ja-JP" dirty="0">
                <a:ea typeface="MS UI Gothic" panose="020B0600070205080204" pitchFamily="50" charset="-128"/>
              </a:rPr>
              <a:t>Khi </a:t>
            </a:r>
            <a:r>
              <a:rPr lang="en-US" altLang="ja-JP" dirty="0" err="1">
                <a:ea typeface="MS UI Gothic" panose="020B0600070205080204" pitchFamily="50" charset="-128"/>
              </a:rPr>
              <a:t>tạo</a:t>
            </a:r>
            <a:r>
              <a:rPr lang="en-US" altLang="ja-JP" dirty="0">
                <a:ea typeface="MS UI Gothic" panose="020B0600070205080204" pitchFamily="50" charset="-128"/>
              </a:rPr>
              <a:t> program </a:t>
            </a:r>
            <a:r>
              <a:rPr lang="en-US" altLang="ja-JP" dirty="0" err="1">
                <a:ea typeface="MS UI Gothic" panose="020B0600070205080204" pitchFamily="50" charset="-128"/>
              </a:rPr>
              <a:t>bằng</a:t>
            </a:r>
            <a:r>
              <a:rPr lang="en-US" altLang="ja-JP" dirty="0">
                <a:ea typeface="MS UI Gothic" panose="020B0600070205080204" pitchFamily="50" charset="-128"/>
              </a:rPr>
              <a:t> Java </a:t>
            </a:r>
            <a:r>
              <a:rPr lang="en-US" altLang="ja-JP" dirty="0" err="1">
                <a:ea typeface="MS UI Gothic" panose="020B0600070205080204" pitchFamily="50" charset="-128"/>
              </a:rPr>
              <a:t>thi</a:t>
            </a:r>
            <a:r>
              <a:rPr lang="en-US" altLang="ja-JP" dirty="0">
                <a:ea typeface="MS UI Gothic" panose="020B0600070205080204" pitchFamily="50" charset="-128"/>
              </a:rPr>
              <a:t>̀ sẽ </a:t>
            </a:r>
            <a:r>
              <a:rPr lang="en-US" altLang="ja-JP" dirty="0" err="1">
                <a:ea typeface="MS UI Gothic" panose="020B0600070205080204" pitchFamily="50" charset="-128"/>
              </a:rPr>
              <a:t>phải</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a:t>
            </a:r>
            <a:r>
              <a:rPr lang="en-US" altLang="ja-JP" dirty="0" err="1">
                <a:ea typeface="MS UI Gothic" panose="020B0600070205080204" pitchFamily="50" charset="-128"/>
              </a:rPr>
              <a:t>tư</a:t>
            </a:r>
            <a:r>
              <a:rPr lang="en-US" altLang="ja-JP" dirty="0">
                <a:ea typeface="MS UI Gothic" panose="020B0600070205080204" pitchFamily="50" charset="-128"/>
              </a:rPr>
              <a:t>̀ 1 class </a:t>
            </a:r>
            <a:r>
              <a:rPr lang="en-US" altLang="ja-JP" dirty="0" err="1">
                <a:ea typeface="MS UI Gothic" panose="020B0600070205080204" pitchFamily="50" charset="-128"/>
              </a:rPr>
              <a:t>trơ</a:t>
            </a:r>
            <a:r>
              <a:rPr lang="en-US" altLang="ja-JP" dirty="0">
                <a:ea typeface="MS UI Gothic" panose="020B0600070205080204" pitchFamily="50" charset="-128"/>
              </a:rPr>
              <a:t>̉ </a:t>
            </a:r>
            <a:r>
              <a:rPr lang="en-US" altLang="ja-JP" dirty="0" err="1">
                <a:ea typeface="MS UI Gothic" panose="020B0600070205080204" pitchFamily="50" charset="-128"/>
              </a:rPr>
              <a:t>lên</a:t>
            </a:r>
            <a:r>
              <a:rPr lang="en-US" altLang="ja-JP" dirty="0">
                <a:ea typeface="MS UI Gothic" panose="020B0600070205080204" pitchFamily="50" charset="-128"/>
              </a:rPr>
              <a:t>.</a:t>
            </a:r>
            <a:endParaRPr kumimoji="1" lang="ja-JP" altLang="en-US" dirty="0"/>
          </a:p>
        </p:txBody>
      </p:sp>
      <p:sp>
        <p:nvSpPr>
          <p:cNvPr id="4" name="Slide Number Placeholder 3">
            <a:extLst>
              <a:ext uri="{FF2B5EF4-FFF2-40B4-BE49-F238E27FC236}">
                <a16:creationId xmlns:a16="http://schemas.microsoft.com/office/drawing/2014/main" id="{28F0C5B1-0BD7-954B-664E-FE8656EE8487}"/>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21</a:t>
            </a:fld>
            <a:endParaRPr lang="en-US" altLang="ja-JP"/>
          </a:p>
        </p:txBody>
      </p:sp>
      <p:sp>
        <p:nvSpPr>
          <p:cNvPr id="5" name="Text Box 85">
            <a:extLst>
              <a:ext uri="{FF2B5EF4-FFF2-40B4-BE49-F238E27FC236}">
                <a16:creationId xmlns:a16="http://schemas.microsoft.com/office/drawing/2014/main" id="{935E34A4-2069-2A17-0D05-5C8F4DCA19F7}"/>
              </a:ext>
            </a:extLst>
          </p:cNvPr>
          <p:cNvSpPr txBox="1">
            <a:spLocks noChangeArrowheads="1"/>
          </p:cNvSpPr>
          <p:nvPr/>
        </p:nvSpPr>
        <p:spPr bwMode="auto">
          <a:xfrm>
            <a:off x="725488" y="4386263"/>
            <a:ext cx="5794375" cy="206707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endParaRPr lang="en-US" altLang="ja-JP" b="0" dirty="0">
              <a:latin typeface="ＭＳ ゴシック" panose="020B0609070205080204" pitchFamily="49" charset="-128"/>
              <a:ea typeface="ＭＳ ゴシック" panose="020B0609070205080204" pitchFamily="49" charset="-128"/>
            </a:endParaRPr>
          </a:p>
          <a:p>
            <a:pPr lvl="1" algn="just"/>
            <a:r>
              <a:rPr lang="en-US" altLang="ja-JP" b="0" dirty="0">
                <a:latin typeface="ＭＳ ゴシック" panose="020B0609070205080204" pitchFamily="49" charset="-128"/>
                <a:ea typeface="ＭＳ ゴシック" panose="020B0609070205080204" pitchFamily="49" charset="-128"/>
              </a:rPr>
              <a:t>class HelloWorld {</a:t>
            </a:r>
          </a:p>
          <a:p>
            <a:pPr lvl="1" algn="just"/>
            <a:endParaRPr lang="en-US" altLang="ja-JP" b="0" dirty="0">
              <a:latin typeface="ＭＳ ゴシック" panose="020B0609070205080204" pitchFamily="49" charset="-128"/>
              <a:ea typeface="ＭＳ ゴシック" panose="020B0609070205080204" pitchFamily="49" charset="-128"/>
            </a:endParaRPr>
          </a:p>
          <a:p>
            <a:pPr lvl="1" algn="just"/>
            <a:r>
              <a:rPr lang="en-US" altLang="ja-JP" b="0" dirty="0">
                <a:latin typeface="ＭＳ ゴシック" panose="020B0609070205080204" pitchFamily="49" charset="-128"/>
                <a:ea typeface="ＭＳ ゴシック" panose="020B0609070205080204" pitchFamily="49" charset="-128"/>
              </a:rPr>
              <a:t>    // main</a:t>
            </a:r>
            <a:r>
              <a:rPr lang="en-US" altLang="ja-JP" b="0" dirty="0">
                <a:latin typeface="MS UI Gothic" panose="020B0600070205080204" pitchFamily="50" charset="-128"/>
                <a:ea typeface="MS UI Gothic" panose="020B0600070205080204" pitchFamily="50" charset="-128"/>
              </a:rPr>
              <a:t> method</a:t>
            </a:r>
          </a:p>
          <a:p>
            <a:pPr lvl="1" algn="just"/>
            <a:r>
              <a:rPr lang="en-US" altLang="ja-JP" b="0" dirty="0">
                <a:latin typeface="ＭＳ ゴシック" panose="020B0609070205080204" pitchFamily="49" charset="-128"/>
                <a:ea typeface="ＭＳ ゴシック" panose="020B0609070205080204" pitchFamily="49" charset="-128"/>
              </a:rPr>
              <a:t>    public static void main(String[] </a:t>
            </a:r>
            <a:r>
              <a:rPr lang="en-US" altLang="ja-JP" b="0" dirty="0" err="1">
                <a:latin typeface="ＭＳ ゴシック" panose="020B0609070205080204" pitchFamily="49" charset="-128"/>
                <a:ea typeface="ＭＳ ゴシック" panose="020B0609070205080204" pitchFamily="49" charset="-128"/>
              </a:rPr>
              <a:t>args</a:t>
            </a:r>
            <a:r>
              <a:rPr lang="en-US" altLang="ja-JP" b="0" dirty="0">
                <a:latin typeface="ＭＳ ゴシック" panose="020B0609070205080204" pitchFamily="49" charset="-128"/>
                <a:ea typeface="ＭＳ ゴシック" panose="020B0609070205080204" pitchFamily="49" charset="-128"/>
              </a:rPr>
              <a:t>) {</a:t>
            </a:r>
          </a:p>
          <a:p>
            <a:pPr lvl="1" algn="just"/>
            <a:r>
              <a:rPr lang="en-US" altLang="ja-JP" b="0" dirty="0">
                <a:latin typeface="ＭＳ ゴシック" panose="020B0609070205080204" pitchFamily="49" charset="-128"/>
                <a:ea typeface="ＭＳ ゴシック" panose="020B0609070205080204" pitchFamily="49" charset="-128"/>
              </a:rPr>
              <a:t>              </a:t>
            </a:r>
            <a:r>
              <a:rPr lang="ja-JP" altLang="en-US" b="0" dirty="0">
                <a:latin typeface="ＭＳ ゴシック" panose="020B0609070205080204" pitchFamily="49" charset="-128"/>
                <a:ea typeface="ＭＳ ゴシック" panose="020B0609070205080204" pitchFamily="49" charset="-128"/>
              </a:rPr>
              <a:t>：</a:t>
            </a:r>
          </a:p>
          <a:p>
            <a:pPr lvl="1" algn="just"/>
            <a:r>
              <a:rPr lang="ja-JP" altLang="en-US" b="0" dirty="0">
                <a:latin typeface="ＭＳ ゴシック" panose="020B0609070205080204" pitchFamily="49" charset="-128"/>
                <a:ea typeface="ＭＳ ゴシック" panose="020B0609070205080204" pitchFamily="49" charset="-128"/>
              </a:rPr>
              <a:t>    </a:t>
            </a:r>
            <a:r>
              <a:rPr lang="en-US" altLang="ja-JP" b="0" dirty="0">
                <a:latin typeface="ＭＳ ゴシック" panose="020B0609070205080204" pitchFamily="49" charset="-128"/>
                <a:ea typeface="ＭＳ ゴシック" panose="020B0609070205080204" pitchFamily="49" charset="-128"/>
              </a:rPr>
              <a:t>}</a:t>
            </a:r>
          </a:p>
          <a:p>
            <a:pPr lvl="1" algn="just"/>
            <a:r>
              <a:rPr lang="en-US" altLang="ja-JP" b="0" dirty="0">
                <a:latin typeface="ＭＳ ゴシック" panose="020B0609070205080204" pitchFamily="49" charset="-128"/>
                <a:ea typeface="ＭＳ ゴシック" panose="020B0609070205080204" pitchFamily="49" charset="-128"/>
              </a:rPr>
              <a:t>}</a:t>
            </a:r>
          </a:p>
        </p:txBody>
      </p:sp>
      <p:sp>
        <p:nvSpPr>
          <p:cNvPr id="6" name="Rectangle 86">
            <a:extLst>
              <a:ext uri="{FF2B5EF4-FFF2-40B4-BE49-F238E27FC236}">
                <a16:creationId xmlns:a16="http://schemas.microsoft.com/office/drawing/2014/main" id="{67D67606-4418-A230-5508-29D1A0EE5887}"/>
              </a:ext>
            </a:extLst>
          </p:cNvPr>
          <p:cNvSpPr>
            <a:spLocks noChangeArrowheads="1"/>
          </p:cNvSpPr>
          <p:nvPr/>
        </p:nvSpPr>
        <p:spPr bwMode="auto">
          <a:xfrm>
            <a:off x="841375" y="4511675"/>
            <a:ext cx="5254625" cy="1293813"/>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 name="Rectangle 87">
            <a:extLst>
              <a:ext uri="{FF2B5EF4-FFF2-40B4-BE49-F238E27FC236}">
                <a16:creationId xmlns:a16="http://schemas.microsoft.com/office/drawing/2014/main" id="{3B76D225-BC6F-7068-5869-EF59271EBFBD}"/>
              </a:ext>
            </a:extLst>
          </p:cNvPr>
          <p:cNvSpPr>
            <a:spLocks noChangeArrowheads="1"/>
          </p:cNvSpPr>
          <p:nvPr/>
        </p:nvSpPr>
        <p:spPr bwMode="auto">
          <a:xfrm>
            <a:off x="841375" y="4600575"/>
            <a:ext cx="3241675" cy="428625"/>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8" name="AutoShape 88">
            <a:extLst>
              <a:ext uri="{FF2B5EF4-FFF2-40B4-BE49-F238E27FC236}">
                <a16:creationId xmlns:a16="http://schemas.microsoft.com/office/drawing/2014/main" id="{8DBCC705-15FD-2E7B-98D6-4E3170492816}"/>
              </a:ext>
            </a:extLst>
          </p:cNvPr>
          <p:cNvSpPr>
            <a:spLocks noChangeArrowheads="1"/>
          </p:cNvSpPr>
          <p:nvPr/>
        </p:nvSpPr>
        <p:spPr bwMode="auto">
          <a:xfrm>
            <a:off x="4450564" y="4687801"/>
            <a:ext cx="4236236" cy="457200"/>
          </a:xfrm>
          <a:prstGeom prst="wedgeRoundRectCallout">
            <a:avLst>
              <a:gd name="adj1" fmla="val -43759"/>
              <a:gd name="adj2" fmla="val 112500"/>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394" tIns="45695" rIns="91394" bIns="45695"/>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ea typeface="ＭＳ ゴシック" panose="020B0609070205080204" pitchFamily="49" charset="-128"/>
              </a:rPr>
              <a:t>main method là </a:t>
            </a:r>
            <a:r>
              <a:rPr lang="en-US" altLang="ja-JP" b="0" dirty="0" err="1">
                <a:ea typeface="ＭＳ ゴシック" panose="020B0609070205080204" pitchFamily="49" charset="-128"/>
              </a:rPr>
              <a:t>điểm</a:t>
            </a:r>
            <a:r>
              <a:rPr lang="en-US" altLang="ja-JP" b="0" dirty="0">
                <a:ea typeface="ＭＳ ゴシック" panose="020B0609070205080204" pitchFamily="49" charset="-128"/>
              </a:rPr>
              <a:t> </a:t>
            </a:r>
            <a:r>
              <a:rPr lang="en-US" altLang="ja-JP" b="0" dirty="0" err="1">
                <a:ea typeface="ＭＳ ゴシック" panose="020B0609070205080204" pitchFamily="49" charset="-128"/>
              </a:rPr>
              <a:t>bắt</a:t>
            </a:r>
            <a:r>
              <a:rPr lang="en-US" altLang="ja-JP" b="0" dirty="0">
                <a:ea typeface="ＭＳ ゴシック" panose="020B0609070205080204" pitchFamily="49" charset="-128"/>
              </a:rPr>
              <a:t> </a:t>
            </a:r>
            <a:r>
              <a:rPr lang="en-US" altLang="ja-JP" b="0" dirty="0" err="1">
                <a:ea typeface="ＭＳ ゴシック" panose="020B0609070205080204" pitchFamily="49" charset="-128"/>
              </a:rPr>
              <a:t>đầu</a:t>
            </a:r>
            <a:r>
              <a:rPr lang="en-US" altLang="ja-JP" b="0" dirty="0">
                <a:ea typeface="ＭＳ ゴシック" panose="020B0609070205080204" pitchFamily="49" charset="-128"/>
              </a:rPr>
              <a:t> program</a:t>
            </a:r>
            <a:endParaRPr lang="en-US" altLang="ja-JP" b="0" dirty="0">
              <a:ea typeface="MS UI Gothic" panose="020B0600070205080204" pitchFamily="50" charset="-128"/>
            </a:endParaRPr>
          </a:p>
        </p:txBody>
      </p:sp>
      <p:grpSp>
        <p:nvGrpSpPr>
          <p:cNvPr id="9" name="Group 118">
            <a:extLst>
              <a:ext uri="{FF2B5EF4-FFF2-40B4-BE49-F238E27FC236}">
                <a16:creationId xmlns:a16="http://schemas.microsoft.com/office/drawing/2014/main" id="{E674BE71-095E-5C89-C61C-ACA38405303E}"/>
              </a:ext>
            </a:extLst>
          </p:cNvPr>
          <p:cNvGrpSpPr>
            <a:grpSpLocks/>
          </p:cNvGrpSpPr>
          <p:nvPr/>
        </p:nvGrpSpPr>
        <p:grpSpPr bwMode="auto">
          <a:xfrm>
            <a:off x="754912" y="2245310"/>
            <a:ext cx="5794375" cy="1782003"/>
            <a:chOff x="437" y="1390"/>
            <a:chExt cx="3518" cy="805"/>
          </a:xfrm>
        </p:grpSpPr>
        <p:sp>
          <p:nvSpPr>
            <p:cNvPr id="10" name="Text Box 90">
              <a:extLst>
                <a:ext uri="{FF2B5EF4-FFF2-40B4-BE49-F238E27FC236}">
                  <a16:creationId xmlns:a16="http://schemas.microsoft.com/office/drawing/2014/main" id="{00B83233-9179-E74F-E9B5-F378455B0FA4}"/>
                </a:ext>
              </a:extLst>
            </p:cNvPr>
            <p:cNvSpPr txBox="1">
              <a:spLocks noChangeArrowheads="1"/>
            </p:cNvSpPr>
            <p:nvPr/>
          </p:nvSpPr>
          <p:spPr bwMode="auto">
            <a:xfrm>
              <a:off x="437" y="1390"/>
              <a:ext cx="3518" cy="80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endParaRPr lang="en-US" altLang="ja-JP" b="0" dirty="0">
                <a:latin typeface="ＭＳ ゴシック" panose="020B0609070205080204" pitchFamily="49" charset="-128"/>
                <a:ea typeface="ＭＳ ゴシック" panose="020B0609070205080204" pitchFamily="49" charset="-128"/>
              </a:endParaRPr>
            </a:p>
            <a:p>
              <a:pPr lvl="1" algn="just"/>
              <a:r>
                <a:rPr lang="en-US" altLang="ja-JP" b="0" dirty="0">
                  <a:latin typeface="ＭＳ ゴシック" panose="020B0609070205080204" pitchFamily="49" charset="-128"/>
                  <a:ea typeface="ＭＳ ゴシック" panose="020B0609070205080204" pitchFamily="49" charset="-128"/>
                </a:rPr>
                <a:t>class </a:t>
              </a:r>
              <a:r>
                <a:rPr lang="en-US" altLang="ja-JP" b="0" dirty="0" err="1">
                  <a:latin typeface="MS UI Gothic" panose="020B0600070205080204" pitchFamily="50" charset="-128"/>
                  <a:ea typeface="MS UI Gothic" panose="020B0600070205080204" pitchFamily="50" charset="-128"/>
                </a:rPr>
                <a:t>Class</a:t>
              </a:r>
              <a:r>
                <a:rPr lang="en-US" altLang="ja-JP" b="0" dirty="0">
                  <a:latin typeface="MS UI Gothic" panose="020B0600070205080204" pitchFamily="50" charset="-128"/>
                  <a:ea typeface="MS UI Gothic" panose="020B0600070205080204" pitchFamily="50" charset="-128"/>
                </a:rPr>
                <a:t> name</a:t>
              </a:r>
              <a:r>
                <a:rPr lang="en-US" altLang="ja-JP" b="0" dirty="0">
                  <a:latin typeface="ＭＳ ゴシック" panose="020B0609070205080204" pitchFamily="49" charset="-128"/>
                  <a:ea typeface="ＭＳ ゴシック" panose="020B0609070205080204" pitchFamily="49" charset="-128"/>
                </a:rPr>
                <a:t> {</a:t>
              </a:r>
            </a:p>
            <a:p>
              <a:pPr lvl="1" algn="just"/>
              <a:r>
                <a:rPr lang="en-US" altLang="ja-JP" b="0" dirty="0">
                  <a:latin typeface="ＭＳ ゴシック" panose="020B0609070205080204" pitchFamily="49" charset="-128"/>
                  <a:ea typeface="ＭＳ ゴシック" panose="020B0609070205080204" pitchFamily="49" charset="-128"/>
                </a:rPr>
                <a:t>    :</a:t>
              </a:r>
            </a:p>
            <a:p>
              <a:pPr lvl="1" algn="just"/>
              <a:r>
                <a:rPr lang="en-US" altLang="ja-JP" b="0" dirty="0">
                  <a:latin typeface="ＭＳ ゴシック" panose="020B0609070205080204" pitchFamily="49" charset="-128"/>
                  <a:ea typeface="ＭＳ ゴシック" panose="020B0609070205080204" pitchFamily="49" charset="-128"/>
                </a:rPr>
                <a:t>    </a:t>
              </a:r>
              <a:r>
                <a:rPr lang="en-US" altLang="ja-JP" b="0" dirty="0">
                  <a:latin typeface="MS UI Gothic" panose="020B0600070205080204" pitchFamily="50" charset="-128"/>
                  <a:ea typeface="MS UI Gothic" panose="020B0600070205080204" pitchFamily="50" charset="-128"/>
                </a:rPr>
                <a:t>Method</a:t>
              </a:r>
              <a:r>
                <a:rPr lang="en-US" altLang="ja-JP" b="0" dirty="0">
                  <a:latin typeface="ＭＳ ゴシック" panose="020B0609070205080204" pitchFamily="49" charset="-128"/>
                  <a:ea typeface="ＭＳ ゴシック" panose="020B0609070205080204" pitchFamily="49" charset="-128"/>
                </a:rPr>
                <a:t> {</a:t>
              </a:r>
            </a:p>
            <a:p>
              <a:pPr lvl="1" algn="just"/>
              <a:r>
                <a:rPr lang="en-US" altLang="ja-JP" b="0" dirty="0">
                  <a:latin typeface="ＭＳ ゴシック" panose="020B0609070205080204" pitchFamily="49" charset="-128"/>
                  <a:ea typeface="ＭＳ ゴシック" panose="020B0609070205080204" pitchFamily="49" charset="-128"/>
                </a:rPr>
                <a:t>        </a:t>
              </a:r>
              <a:r>
                <a:rPr lang="ja-JP" altLang="en-US" b="0" dirty="0">
                  <a:latin typeface="ＭＳ ゴシック" panose="020B0609070205080204" pitchFamily="49" charset="-128"/>
                  <a:ea typeface="ＭＳ ゴシック" panose="020B0609070205080204" pitchFamily="49" charset="-128"/>
                </a:rPr>
                <a:t>：</a:t>
              </a:r>
            </a:p>
            <a:p>
              <a:pPr lvl="1" algn="just"/>
              <a:r>
                <a:rPr lang="ja-JP" altLang="en-US" b="0" dirty="0">
                  <a:latin typeface="ＭＳ ゴシック" panose="020B0609070205080204" pitchFamily="49" charset="-128"/>
                  <a:ea typeface="ＭＳ ゴシック" panose="020B0609070205080204" pitchFamily="49" charset="-128"/>
                </a:rPr>
                <a:t>    </a:t>
              </a:r>
              <a:r>
                <a:rPr lang="en-US" altLang="ja-JP" b="0" dirty="0">
                  <a:latin typeface="ＭＳ ゴシック" panose="020B0609070205080204" pitchFamily="49" charset="-128"/>
                  <a:ea typeface="ＭＳ ゴシック" panose="020B0609070205080204" pitchFamily="49" charset="-128"/>
                </a:rPr>
                <a:t>}</a:t>
              </a:r>
            </a:p>
            <a:p>
              <a:pPr lvl="1" algn="just"/>
              <a:r>
                <a:rPr lang="en-US" altLang="ja-JP" b="0" dirty="0">
                  <a:latin typeface="ＭＳ ゴシック" panose="020B0609070205080204" pitchFamily="49" charset="-128"/>
                  <a:ea typeface="ＭＳ ゴシック" panose="020B0609070205080204" pitchFamily="49" charset="-128"/>
                </a:rPr>
                <a:t>}</a:t>
              </a:r>
            </a:p>
          </p:txBody>
        </p:sp>
        <p:sp>
          <p:nvSpPr>
            <p:cNvPr id="11" name="Rectangle 91">
              <a:extLst>
                <a:ext uri="{FF2B5EF4-FFF2-40B4-BE49-F238E27FC236}">
                  <a16:creationId xmlns:a16="http://schemas.microsoft.com/office/drawing/2014/main" id="{82B80EA0-137D-FE09-549B-1E657A507971}"/>
                </a:ext>
              </a:extLst>
            </p:cNvPr>
            <p:cNvSpPr>
              <a:spLocks noChangeArrowheads="1"/>
            </p:cNvSpPr>
            <p:nvPr/>
          </p:nvSpPr>
          <p:spPr bwMode="auto">
            <a:xfrm>
              <a:off x="490" y="1479"/>
              <a:ext cx="2262" cy="623"/>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2" name="Rectangle 92">
              <a:extLst>
                <a:ext uri="{FF2B5EF4-FFF2-40B4-BE49-F238E27FC236}">
                  <a16:creationId xmlns:a16="http://schemas.microsoft.com/office/drawing/2014/main" id="{44C6B781-6ACC-BA5F-038E-9B44465D361B}"/>
                </a:ext>
              </a:extLst>
            </p:cNvPr>
            <p:cNvSpPr>
              <a:spLocks noChangeArrowheads="1"/>
            </p:cNvSpPr>
            <p:nvPr/>
          </p:nvSpPr>
          <p:spPr bwMode="auto">
            <a:xfrm>
              <a:off x="636" y="1712"/>
              <a:ext cx="1845" cy="225"/>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3" name="Rectangle 93">
              <a:extLst>
                <a:ext uri="{FF2B5EF4-FFF2-40B4-BE49-F238E27FC236}">
                  <a16:creationId xmlns:a16="http://schemas.microsoft.com/office/drawing/2014/main" id="{690A2A5E-7D50-272B-E26D-48D8810FFED1}"/>
                </a:ext>
              </a:extLst>
            </p:cNvPr>
            <p:cNvSpPr>
              <a:spLocks noChangeArrowheads="1"/>
            </p:cNvSpPr>
            <p:nvPr/>
          </p:nvSpPr>
          <p:spPr bwMode="auto">
            <a:xfrm>
              <a:off x="2933" y="1496"/>
              <a:ext cx="892" cy="182"/>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8" tIns="45703" rIns="91408" bIns="45703"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Class block</a:t>
              </a:r>
            </a:p>
          </p:txBody>
        </p:sp>
        <p:sp>
          <p:nvSpPr>
            <p:cNvPr id="14" name="Line 94">
              <a:extLst>
                <a:ext uri="{FF2B5EF4-FFF2-40B4-BE49-F238E27FC236}">
                  <a16:creationId xmlns:a16="http://schemas.microsoft.com/office/drawing/2014/main" id="{B6664204-14CA-246B-0B03-B42E66111494}"/>
                </a:ext>
              </a:extLst>
            </p:cNvPr>
            <p:cNvSpPr>
              <a:spLocks noChangeShapeType="1"/>
            </p:cNvSpPr>
            <p:nvPr/>
          </p:nvSpPr>
          <p:spPr bwMode="auto">
            <a:xfrm flipH="1">
              <a:off x="2747" y="1574"/>
              <a:ext cx="191" cy="0"/>
            </a:xfrm>
            <a:prstGeom prst="line">
              <a:avLst/>
            </a:prstGeom>
            <a:noFill/>
            <a:ln w="19050">
              <a:solidFill>
                <a:srgbClr val="3FB007"/>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15" name="Group 95">
              <a:extLst>
                <a:ext uri="{FF2B5EF4-FFF2-40B4-BE49-F238E27FC236}">
                  <a16:creationId xmlns:a16="http://schemas.microsoft.com/office/drawing/2014/main" id="{C67386C0-7FE3-2FF9-CB92-919C4884619D}"/>
                </a:ext>
              </a:extLst>
            </p:cNvPr>
            <p:cNvGrpSpPr>
              <a:grpSpLocks/>
            </p:cNvGrpSpPr>
            <p:nvPr/>
          </p:nvGrpSpPr>
          <p:grpSpPr bwMode="auto">
            <a:xfrm>
              <a:off x="2930" y="1725"/>
              <a:ext cx="1016" cy="207"/>
              <a:chOff x="3042" y="1775"/>
              <a:chExt cx="1054" cy="212"/>
            </a:xfrm>
          </p:grpSpPr>
          <p:sp>
            <p:nvSpPr>
              <p:cNvPr id="17" name="Rectangle 96">
                <a:extLst>
                  <a:ext uri="{FF2B5EF4-FFF2-40B4-BE49-F238E27FC236}">
                    <a16:creationId xmlns:a16="http://schemas.microsoft.com/office/drawing/2014/main" id="{0CD59097-FD50-D00B-0876-3BB0C8B85BEC}"/>
                  </a:ext>
                </a:extLst>
              </p:cNvPr>
              <p:cNvSpPr>
                <a:spLocks noChangeArrowheads="1"/>
              </p:cNvSpPr>
              <p:nvPr/>
            </p:nvSpPr>
            <p:spPr bwMode="auto">
              <a:xfrm>
                <a:off x="3060" y="1775"/>
                <a:ext cx="925" cy="194"/>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8" name="Text Box 97">
                <a:extLst>
                  <a:ext uri="{FF2B5EF4-FFF2-40B4-BE49-F238E27FC236}">
                    <a16:creationId xmlns:a16="http://schemas.microsoft.com/office/drawing/2014/main" id="{07E7801C-9FC1-4E40-9592-713A5987E599}"/>
                  </a:ext>
                </a:extLst>
              </p:cNvPr>
              <p:cNvSpPr txBox="1">
                <a:spLocks noChangeArrowheads="1"/>
              </p:cNvSpPr>
              <p:nvPr/>
            </p:nvSpPr>
            <p:spPr bwMode="auto">
              <a:xfrm>
                <a:off x="3042" y="1775"/>
                <a:ext cx="1054" cy="2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3" tIns="45712" rIns="91423" bIns="45712">
                <a:spAutoFit/>
              </a:bodyPr>
              <a:lstStyle/>
              <a:p>
                <a:pPr algn="ctr">
                  <a:spcBef>
                    <a:spcPct val="50000"/>
                  </a:spcBef>
                </a:pPr>
                <a:r>
                  <a:rPr lang="en-US" altLang="ja-JP" b="0"/>
                  <a:t>Method block</a:t>
                </a:r>
              </a:p>
            </p:txBody>
          </p:sp>
        </p:grpSp>
        <p:sp>
          <p:nvSpPr>
            <p:cNvPr id="16" name="Line 98">
              <a:extLst>
                <a:ext uri="{FF2B5EF4-FFF2-40B4-BE49-F238E27FC236}">
                  <a16:creationId xmlns:a16="http://schemas.microsoft.com/office/drawing/2014/main" id="{CA01B367-F3EC-6296-B59A-E6952A289C4C}"/>
                </a:ext>
              </a:extLst>
            </p:cNvPr>
            <p:cNvSpPr>
              <a:spLocks noChangeShapeType="1"/>
            </p:cNvSpPr>
            <p:nvPr/>
          </p:nvSpPr>
          <p:spPr bwMode="auto">
            <a:xfrm flipH="1">
              <a:off x="2481" y="1831"/>
              <a:ext cx="457" cy="0"/>
            </a:xfrm>
            <a:prstGeom prst="line">
              <a:avLst/>
            </a:prstGeom>
            <a:noFill/>
            <a:ln w="19050">
              <a:solidFill>
                <a:srgbClr val="FF8519"/>
              </a:solidFill>
              <a:prstDash val="sysDot"/>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extLst>
      <p:ext uri="{BB962C8B-B14F-4D97-AF65-F5344CB8AC3E}">
        <p14:creationId xmlns:p14="http://schemas.microsoft.com/office/powerpoint/2010/main" val="36849925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02392-63F3-2B2F-2C64-33F082DE3D8C}"/>
              </a:ext>
            </a:extLst>
          </p:cNvPr>
          <p:cNvSpPr>
            <a:spLocks noGrp="1"/>
          </p:cNvSpPr>
          <p:nvPr>
            <p:ph type="title"/>
          </p:nvPr>
        </p:nvSpPr>
        <p:spPr/>
        <p:txBody>
          <a:bodyPr>
            <a:normAutofit fontScale="90000"/>
          </a:bodyPr>
          <a:lstStyle/>
          <a:p>
            <a:r>
              <a:rPr lang="en-US" altLang="ja-JP" dirty="0">
                <a:ea typeface="MS UI Gothic" panose="020B0600070205080204" pitchFamily="50" charset="-128"/>
              </a:rPr>
              <a:t>Khai </a:t>
            </a:r>
            <a:r>
              <a:rPr lang="en-US" altLang="ja-JP" dirty="0" err="1">
                <a:ea typeface="MS UI Gothic" panose="020B0600070205080204" pitchFamily="50" charset="-128"/>
              </a:rPr>
              <a:t>báo</a:t>
            </a:r>
            <a:r>
              <a:rPr lang="en-US" altLang="ja-JP"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sư</a:t>
            </a:r>
            <a:r>
              <a:rPr lang="en-US" altLang="ja-JP" dirty="0">
                <a:ea typeface="MS UI Gothic" panose="020B0600070205080204" pitchFamily="50" charset="-128"/>
              </a:rPr>
              <a:t>̉ </a:t>
            </a:r>
            <a:r>
              <a:rPr lang="en-US" altLang="ja-JP" dirty="0" err="1">
                <a:ea typeface="MS UI Gothic" panose="020B0600070205080204" pitchFamily="50" charset="-128"/>
              </a:rPr>
              <a:t>dụng</a:t>
            </a:r>
            <a:r>
              <a:rPr lang="en-US" altLang="ja-JP" dirty="0">
                <a:ea typeface="MS UI Gothic" panose="020B0600070205080204" pitchFamily="50" charset="-128"/>
              </a:rPr>
              <a:t> </a:t>
            </a:r>
            <a:r>
              <a:rPr lang="en-US" altLang="ja-JP" dirty="0" err="1">
                <a:ea typeface="MS UI Gothic" panose="020B0600070205080204" pitchFamily="50" charset="-128"/>
              </a:rPr>
              <a:t>biến</a:t>
            </a:r>
            <a:endParaRPr kumimoji="1" lang="ja-JP" altLang="en-US" dirty="0"/>
          </a:p>
        </p:txBody>
      </p:sp>
      <p:sp>
        <p:nvSpPr>
          <p:cNvPr id="3" name="Content Placeholder 2">
            <a:extLst>
              <a:ext uri="{FF2B5EF4-FFF2-40B4-BE49-F238E27FC236}">
                <a16:creationId xmlns:a16="http://schemas.microsoft.com/office/drawing/2014/main" id="{BDDB394D-3044-E086-7FC6-2E22D89D6156}"/>
              </a:ext>
            </a:extLst>
          </p:cNvPr>
          <p:cNvSpPr>
            <a:spLocks noGrp="1"/>
          </p:cNvSpPr>
          <p:nvPr>
            <p:ph idx="1"/>
          </p:nvPr>
        </p:nvSpPr>
        <p:spPr/>
        <p:txBody>
          <a:bodyPr/>
          <a:lstStyle/>
          <a:p>
            <a:endParaRPr kumimoji="1" lang="ja-JP" altLang="en-US" dirty="0"/>
          </a:p>
        </p:txBody>
      </p:sp>
      <p:sp>
        <p:nvSpPr>
          <p:cNvPr id="4" name="Slide Number Placeholder 3">
            <a:extLst>
              <a:ext uri="{FF2B5EF4-FFF2-40B4-BE49-F238E27FC236}">
                <a16:creationId xmlns:a16="http://schemas.microsoft.com/office/drawing/2014/main" id="{D07404A3-8C6E-A264-7144-9E443B9B994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22</a:t>
            </a:fld>
            <a:endParaRPr lang="en-US" altLang="ja-JP"/>
          </a:p>
        </p:txBody>
      </p:sp>
      <p:grpSp>
        <p:nvGrpSpPr>
          <p:cNvPr id="5" name="Group 126">
            <a:extLst>
              <a:ext uri="{FF2B5EF4-FFF2-40B4-BE49-F238E27FC236}">
                <a16:creationId xmlns:a16="http://schemas.microsoft.com/office/drawing/2014/main" id="{6F474793-6071-6AA5-3FFB-4EB3E27947BA}"/>
              </a:ext>
            </a:extLst>
          </p:cNvPr>
          <p:cNvGrpSpPr>
            <a:grpSpLocks/>
          </p:cNvGrpSpPr>
          <p:nvPr/>
        </p:nvGrpSpPr>
        <p:grpSpPr bwMode="auto">
          <a:xfrm>
            <a:off x="358776" y="1124745"/>
            <a:ext cx="8861747" cy="4284664"/>
            <a:chOff x="453" y="4178"/>
            <a:chExt cx="5265" cy="2699"/>
          </a:xfrm>
        </p:grpSpPr>
        <p:sp>
          <p:nvSpPr>
            <p:cNvPr id="6" name="Text Box 102">
              <a:extLst>
                <a:ext uri="{FF2B5EF4-FFF2-40B4-BE49-F238E27FC236}">
                  <a16:creationId xmlns:a16="http://schemas.microsoft.com/office/drawing/2014/main" id="{0F185CDF-AB5B-9746-0BB5-2E7D004DF920}"/>
                </a:ext>
              </a:extLst>
            </p:cNvPr>
            <p:cNvSpPr txBox="1">
              <a:spLocks noChangeArrowheads="1"/>
            </p:cNvSpPr>
            <p:nvPr/>
          </p:nvSpPr>
          <p:spPr bwMode="auto">
            <a:xfrm>
              <a:off x="453" y="4178"/>
              <a:ext cx="5265" cy="2699"/>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60363"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HelloWorld.java</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class HelloWorld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public static void main(String[] </a:t>
              </a:r>
              <a:r>
                <a:rPr lang="en-US" altLang="ja-JP" b="0" dirty="0" err="1">
                  <a:latin typeface="ＭＳ ゴシック" panose="020B0609070205080204" pitchFamily="49" charset="-128"/>
                  <a:ea typeface="ＭＳ ゴシック" panose="020B0609070205080204" pitchFamily="49" charset="-128"/>
                </a:rPr>
                <a:t>args</a:t>
              </a: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int x;</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String str1;</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x = 10;</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str1 = "Hello";</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System.out.println</a:t>
              </a:r>
              <a:r>
                <a:rPr lang="en-US" altLang="ja-JP" b="0" dirty="0">
                  <a:latin typeface="ＭＳ ゴシック" panose="020B0609070205080204" pitchFamily="49" charset="-128"/>
                  <a:ea typeface="ＭＳ ゴシック" panose="020B0609070205080204" pitchFamily="49" charset="-128"/>
                </a:rPr>
                <a:t>(x);</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System.out.println</a:t>
              </a:r>
              <a:r>
                <a:rPr lang="en-US" altLang="ja-JP" b="0" dirty="0">
                  <a:latin typeface="ＭＳ ゴシック" panose="020B0609070205080204" pitchFamily="49" charset="-128"/>
                  <a:ea typeface="ＭＳ ゴシック" panose="020B0609070205080204" pitchFamily="49" charset="-128"/>
                </a:rPr>
                <a:t>(str1);</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a:pPr>
              <a:endParaRPr lang="ja-JP" altLang="ja-JP" b="0" dirty="0">
                <a:latin typeface="ＭＳ ゴシック" panose="020B0609070205080204" pitchFamily="49" charset="-128"/>
                <a:ea typeface="ＭＳ ゴシック" panose="020B0609070205080204" pitchFamily="49" charset="-128"/>
              </a:endParaRPr>
            </a:p>
          </p:txBody>
        </p:sp>
        <p:sp>
          <p:nvSpPr>
            <p:cNvPr id="7" name="Rectangle 103">
              <a:extLst>
                <a:ext uri="{FF2B5EF4-FFF2-40B4-BE49-F238E27FC236}">
                  <a16:creationId xmlns:a16="http://schemas.microsoft.com/office/drawing/2014/main" id="{21F10333-0582-75F7-3FA5-84ECD3C1B34C}"/>
                </a:ext>
              </a:extLst>
            </p:cNvPr>
            <p:cNvSpPr>
              <a:spLocks noChangeArrowheads="1"/>
            </p:cNvSpPr>
            <p:nvPr/>
          </p:nvSpPr>
          <p:spPr bwMode="auto">
            <a:xfrm>
              <a:off x="1026" y="4811"/>
              <a:ext cx="1213" cy="41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8" name="Rectangle 104">
              <a:extLst>
                <a:ext uri="{FF2B5EF4-FFF2-40B4-BE49-F238E27FC236}">
                  <a16:creationId xmlns:a16="http://schemas.microsoft.com/office/drawing/2014/main" id="{E202E5D7-08DD-AEF6-1B23-5DD5F7CCEE83}"/>
                </a:ext>
              </a:extLst>
            </p:cNvPr>
            <p:cNvSpPr>
              <a:spLocks noChangeArrowheads="1"/>
            </p:cNvSpPr>
            <p:nvPr/>
          </p:nvSpPr>
          <p:spPr bwMode="auto">
            <a:xfrm>
              <a:off x="1026" y="5294"/>
              <a:ext cx="1213" cy="439"/>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9" name="Rectangle 105">
              <a:extLst>
                <a:ext uri="{FF2B5EF4-FFF2-40B4-BE49-F238E27FC236}">
                  <a16:creationId xmlns:a16="http://schemas.microsoft.com/office/drawing/2014/main" id="{B3655C8A-7271-1710-765A-A072F0E65C86}"/>
                </a:ext>
              </a:extLst>
            </p:cNvPr>
            <p:cNvSpPr>
              <a:spLocks noChangeArrowheads="1"/>
            </p:cNvSpPr>
            <p:nvPr/>
          </p:nvSpPr>
          <p:spPr bwMode="auto">
            <a:xfrm>
              <a:off x="1032" y="5845"/>
              <a:ext cx="1788" cy="40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0" name="Rectangle 106">
              <a:extLst>
                <a:ext uri="{FF2B5EF4-FFF2-40B4-BE49-F238E27FC236}">
                  <a16:creationId xmlns:a16="http://schemas.microsoft.com/office/drawing/2014/main" id="{CA7DCAE8-51BA-F1CB-8DF4-52628647EB2E}"/>
                </a:ext>
              </a:extLst>
            </p:cNvPr>
            <p:cNvSpPr>
              <a:spLocks noChangeArrowheads="1"/>
            </p:cNvSpPr>
            <p:nvPr/>
          </p:nvSpPr>
          <p:spPr bwMode="auto">
            <a:xfrm>
              <a:off x="2820" y="4727"/>
              <a:ext cx="925" cy="186"/>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8" tIns="45703" rIns="91408" bIns="45703"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Khai báo biến</a:t>
              </a:r>
            </a:p>
          </p:txBody>
        </p:sp>
        <p:sp>
          <p:nvSpPr>
            <p:cNvPr id="11" name="Rectangle 112">
              <a:extLst>
                <a:ext uri="{FF2B5EF4-FFF2-40B4-BE49-F238E27FC236}">
                  <a16:creationId xmlns:a16="http://schemas.microsoft.com/office/drawing/2014/main" id="{EB67DF0C-9008-50BF-BCF7-D2A93269543C}"/>
                </a:ext>
              </a:extLst>
            </p:cNvPr>
            <p:cNvSpPr>
              <a:spLocks noChangeArrowheads="1"/>
            </p:cNvSpPr>
            <p:nvPr/>
          </p:nvSpPr>
          <p:spPr bwMode="auto">
            <a:xfrm>
              <a:off x="2823" y="4959"/>
              <a:ext cx="1304" cy="186"/>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8" tIns="45703" rIns="91408" bIns="45703"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err="1">
                  <a:ea typeface="MS UI Gothic" panose="020B0600070205080204" pitchFamily="50" charset="-128"/>
                </a:rPr>
                <a:t>Gán</a:t>
              </a:r>
              <a:r>
                <a:rPr lang="en-US" altLang="ja-JP" b="0" dirty="0">
                  <a:ea typeface="MS UI Gothic" panose="020B0600070205080204" pitchFamily="50" charset="-128"/>
                </a:rPr>
                <a:t> </a:t>
              </a:r>
              <a:r>
                <a:rPr lang="en-US" altLang="ja-JP" b="0" dirty="0" err="1">
                  <a:ea typeface="MS UI Gothic" panose="020B0600070205080204" pitchFamily="50" charset="-128"/>
                </a:rPr>
                <a:t>gia</a:t>
              </a:r>
              <a:r>
                <a:rPr lang="en-US" altLang="ja-JP" b="0" dirty="0">
                  <a:ea typeface="MS UI Gothic" panose="020B0600070205080204" pitchFamily="50" charset="-128"/>
                </a:rPr>
                <a:t>́ trị </a:t>
              </a:r>
              <a:r>
                <a:rPr lang="en-US" altLang="ja-JP" b="0" dirty="0" err="1">
                  <a:ea typeface="MS UI Gothic" panose="020B0600070205080204" pitchFamily="50" charset="-128"/>
                </a:rPr>
                <a:t>cho</a:t>
              </a:r>
              <a:r>
                <a:rPr lang="en-US" altLang="ja-JP" b="0" dirty="0">
                  <a:ea typeface="MS UI Gothic" panose="020B0600070205080204" pitchFamily="50" charset="-128"/>
                </a:rPr>
                <a:t> </a:t>
              </a:r>
              <a:r>
                <a:rPr lang="en-US" altLang="ja-JP" b="0" dirty="0" err="1">
                  <a:ea typeface="MS UI Gothic" panose="020B0600070205080204" pitchFamily="50" charset="-128"/>
                </a:rPr>
                <a:t>biến</a:t>
              </a:r>
              <a:endParaRPr lang="en-US" altLang="ja-JP" b="0" dirty="0">
                <a:ea typeface="MS UI Gothic" panose="020B0600070205080204" pitchFamily="50" charset="-128"/>
              </a:endParaRPr>
            </a:p>
          </p:txBody>
        </p:sp>
        <p:sp>
          <p:nvSpPr>
            <p:cNvPr id="12" name="Rectangle 115">
              <a:extLst>
                <a:ext uri="{FF2B5EF4-FFF2-40B4-BE49-F238E27FC236}">
                  <a16:creationId xmlns:a16="http://schemas.microsoft.com/office/drawing/2014/main" id="{6059B771-1717-A82D-28C4-737EBBE93C17}"/>
                </a:ext>
              </a:extLst>
            </p:cNvPr>
            <p:cNvSpPr>
              <a:spLocks noChangeArrowheads="1"/>
            </p:cNvSpPr>
            <p:nvPr/>
          </p:nvSpPr>
          <p:spPr bwMode="auto">
            <a:xfrm>
              <a:off x="3079" y="5439"/>
              <a:ext cx="1598" cy="186"/>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8" tIns="45703" rIns="91408" bIns="45703"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Hiển thị giá trị của biến</a:t>
              </a:r>
            </a:p>
          </p:txBody>
        </p:sp>
        <p:cxnSp>
          <p:nvCxnSpPr>
            <p:cNvPr id="13" name="AutoShape 123">
              <a:extLst>
                <a:ext uri="{FF2B5EF4-FFF2-40B4-BE49-F238E27FC236}">
                  <a16:creationId xmlns:a16="http://schemas.microsoft.com/office/drawing/2014/main" id="{31A4E033-7776-8451-A35E-F23481A23FA1}"/>
                </a:ext>
              </a:extLst>
            </p:cNvPr>
            <p:cNvCxnSpPr>
              <a:cxnSpLocks noChangeShapeType="1"/>
              <a:stCxn id="10" idx="1"/>
              <a:endCxn id="7" idx="3"/>
            </p:cNvCxnSpPr>
            <p:nvPr/>
          </p:nvCxnSpPr>
          <p:spPr bwMode="auto">
            <a:xfrm flipH="1">
              <a:off x="2239" y="4820"/>
              <a:ext cx="581" cy="196"/>
            </a:xfrm>
            <a:prstGeom prst="straightConnector1">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AutoShape 124">
              <a:extLst>
                <a:ext uri="{FF2B5EF4-FFF2-40B4-BE49-F238E27FC236}">
                  <a16:creationId xmlns:a16="http://schemas.microsoft.com/office/drawing/2014/main" id="{1E2B867D-A768-E599-A0D2-82670D3F7978}"/>
                </a:ext>
              </a:extLst>
            </p:cNvPr>
            <p:cNvCxnSpPr>
              <a:cxnSpLocks noChangeShapeType="1"/>
              <a:stCxn id="11" idx="1"/>
              <a:endCxn id="8" idx="3"/>
            </p:cNvCxnSpPr>
            <p:nvPr/>
          </p:nvCxnSpPr>
          <p:spPr bwMode="auto">
            <a:xfrm flipH="1">
              <a:off x="2239" y="5052"/>
              <a:ext cx="584" cy="462"/>
            </a:xfrm>
            <a:prstGeom prst="straightConnector1">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AutoShape 125">
              <a:extLst>
                <a:ext uri="{FF2B5EF4-FFF2-40B4-BE49-F238E27FC236}">
                  <a16:creationId xmlns:a16="http://schemas.microsoft.com/office/drawing/2014/main" id="{BEFE5951-E3B8-9F81-A5F4-28B0CAB0574E}"/>
                </a:ext>
              </a:extLst>
            </p:cNvPr>
            <p:cNvCxnSpPr>
              <a:cxnSpLocks noChangeShapeType="1"/>
              <a:stCxn id="12" idx="1"/>
              <a:endCxn id="9" idx="3"/>
            </p:cNvCxnSpPr>
            <p:nvPr/>
          </p:nvCxnSpPr>
          <p:spPr bwMode="auto">
            <a:xfrm flipH="1">
              <a:off x="2820" y="5532"/>
              <a:ext cx="259" cy="517"/>
            </a:xfrm>
            <a:prstGeom prst="straightConnector1">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1324841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888AE-DB55-FF52-EDC2-7B7A68863AE3}"/>
              </a:ext>
            </a:extLst>
          </p:cNvPr>
          <p:cNvSpPr>
            <a:spLocks noGrp="1"/>
          </p:cNvSpPr>
          <p:nvPr>
            <p:ph type="title"/>
          </p:nvPr>
        </p:nvSpPr>
        <p:spPr/>
        <p:txBody>
          <a:bodyPr>
            <a:normAutofit fontScale="90000"/>
          </a:bodyPr>
          <a:lstStyle/>
          <a:p>
            <a:r>
              <a:rPr lang="en-US" altLang="ja-JP" dirty="0" err="1">
                <a:ea typeface="MS UI Gothic" panose="020B0600070205080204" pitchFamily="50" charset="-128"/>
              </a:rPr>
              <a:t>Kiểu</a:t>
            </a:r>
            <a:r>
              <a:rPr lang="en-US" altLang="ja-JP" dirty="0">
                <a:ea typeface="MS UI Gothic" panose="020B0600070205080204" pitchFamily="50" charset="-128"/>
              </a:rPr>
              <a:t> </a:t>
            </a:r>
            <a:r>
              <a:rPr lang="en-US" altLang="ja-JP" dirty="0" err="1">
                <a:ea typeface="MS UI Gothic" panose="020B0600070205080204" pitchFamily="50" charset="-128"/>
              </a:rPr>
              <a:t>gia</a:t>
            </a:r>
            <a:r>
              <a:rPr lang="en-US" altLang="ja-JP" dirty="0">
                <a:ea typeface="MS UI Gothic" panose="020B0600070205080204" pitchFamily="50" charset="-128"/>
              </a:rPr>
              <a:t>́ trị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kiểu</a:t>
            </a:r>
            <a:r>
              <a:rPr lang="en-US" altLang="ja-JP" dirty="0">
                <a:ea typeface="MS UI Gothic" panose="020B0600070205080204" pitchFamily="50" charset="-128"/>
              </a:rPr>
              <a:t> </a:t>
            </a:r>
            <a:r>
              <a:rPr lang="en-US" altLang="ja-JP" dirty="0" err="1">
                <a:ea typeface="MS UI Gothic" panose="020B0600070205080204" pitchFamily="50" charset="-128"/>
              </a:rPr>
              <a:t>tham</a:t>
            </a:r>
            <a:r>
              <a:rPr lang="en-US" altLang="ja-JP" dirty="0">
                <a:ea typeface="MS UI Gothic" panose="020B0600070205080204" pitchFamily="50" charset="-128"/>
              </a:rPr>
              <a:t> </a:t>
            </a:r>
            <a:r>
              <a:rPr lang="en-US" altLang="ja-JP" dirty="0" err="1">
                <a:ea typeface="MS UI Gothic" panose="020B0600070205080204" pitchFamily="50" charset="-128"/>
              </a:rPr>
              <a:t>chiếu</a:t>
            </a:r>
            <a:endParaRPr kumimoji="1" lang="ja-JP" altLang="en-US" dirty="0"/>
          </a:p>
        </p:txBody>
      </p:sp>
      <p:sp>
        <p:nvSpPr>
          <p:cNvPr id="3" name="Content Placeholder 2">
            <a:extLst>
              <a:ext uri="{FF2B5EF4-FFF2-40B4-BE49-F238E27FC236}">
                <a16:creationId xmlns:a16="http://schemas.microsoft.com/office/drawing/2014/main" id="{CD6519A0-0ED1-7200-C95D-391C3C4D67AD}"/>
              </a:ext>
            </a:extLst>
          </p:cNvPr>
          <p:cNvSpPr>
            <a:spLocks noGrp="1"/>
          </p:cNvSpPr>
          <p:nvPr>
            <p:ph idx="1"/>
          </p:nvPr>
        </p:nvSpPr>
        <p:spPr/>
        <p:txBody>
          <a:bodyPr>
            <a:normAutofit/>
          </a:bodyPr>
          <a:lstStyle/>
          <a:p>
            <a:r>
              <a:rPr lang="ja-JP" altLang="en-US" sz="2800" dirty="0">
                <a:ea typeface="MS UI Gothic" panose="020B0600070205080204" pitchFamily="50" charset="-128"/>
              </a:rPr>
              <a:t>　</a:t>
            </a:r>
            <a:r>
              <a:rPr lang="en-US" altLang="ja-JP" sz="2800" dirty="0" err="1">
                <a:ea typeface="MS UI Gothic" panose="020B0600070205080204" pitchFamily="50" charset="-128"/>
              </a:rPr>
              <a:t>Kiểu</a:t>
            </a:r>
            <a:r>
              <a:rPr lang="en-US" altLang="ja-JP" sz="2800" dirty="0">
                <a:ea typeface="MS UI Gothic" panose="020B0600070205080204" pitchFamily="50" charset="-128"/>
              </a:rPr>
              <a:t> data </a:t>
            </a:r>
            <a:r>
              <a:rPr lang="en-US" altLang="ja-JP" sz="2800" dirty="0" err="1">
                <a:ea typeface="MS UI Gothic" panose="020B0600070205080204" pitchFamily="50" charset="-128"/>
              </a:rPr>
              <a:t>của</a:t>
            </a:r>
            <a:r>
              <a:rPr lang="en-US" altLang="ja-JP" sz="2800" dirty="0">
                <a:ea typeface="MS UI Gothic" panose="020B0600070205080204" pitchFamily="50" charset="-128"/>
              </a:rPr>
              <a:t> </a:t>
            </a:r>
            <a:r>
              <a:rPr lang="en-US" altLang="ja-JP" sz="2800" dirty="0" err="1">
                <a:ea typeface="MS UI Gothic" panose="020B0600070205080204" pitchFamily="50" charset="-128"/>
              </a:rPr>
              <a:t>biến</a:t>
            </a:r>
            <a:r>
              <a:rPr lang="en-US" altLang="ja-JP" sz="2800" dirty="0">
                <a:ea typeface="MS UI Gothic" panose="020B0600070205080204" pitchFamily="50" charset="-128"/>
              </a:rPr>
              <a:t> </a:t>
            </a:r>
            <a:r>
              <a:rPr lang="en-US" altLang="ja-JP" sz="2800" dirty="0" err="1">
                <a:ea typeface="MS UI Gothic" panose="020B0600070205080204" pitchFamily="50" charset="-128"/>
              </a:rPr>
              <a:t>sư</a:t>
            </a:r>
            <a:r>
              <a:rPr lang="en-US" altLang="ja-JP" sz="2800" dirty="0">
                <a:ea typeface="MS UI Gothic" panose="020B0600070205080204" pitchFamily="50" charset="-128"/>
              </a:rPr>
              <a:t>̉ </a:t>
            </a:r>
            <a:r>
              <a:rPr lang="en-US" altLang="ja-JP" sz="2800" dirty="0" err="1">
                <a:ea typeface="MS UI Gothic" panose="020B0600070205080204" pitchFamily="50" charset="-128"/>
              </a:rPr>
              <a:t>dụng</a:t>
            </a:r>
            <a:r>
              <a:rPr lang="en-US" altLang="ja-JP" sz="2800" dirty="0">
                <a:ea typeface="MS UI Gothic" panose="020B0600070205080204" pitchFamily="50" charset="-128"/>
              </a:rPr>
              <a:t> ở Java </a:t>
            </a:r>
            <a:r>
              <a:rPr lang="en-US" altLang="ja-JP" sz="2800" dirty="0" err="1">
                <a:ea typeface="MS UI Gothic" panose="020B0600070205080204" pitchFamily="50" charset="-128"/>
              </a:rPr>
              <a:t>được</a:t>
            </a:r>
            <a:r>
              <a:rPr lang="en-US" altLang="ja-JP" sz="2800" dirty="0">
                <a:ea typeface="MS UI Gothic" panose="020B0600070205080204" pitchFamily="50" charset="-128"/>
              </a:rPr>
              <a:t> chia </a:t>
            </a:r>
            <a:r>
              <a:rPr lang="en-US" altLang="ja-JP" sz="2800" dirty="0" err="1">
                <a:ea typeface="MS UI Gothic" panose="020B0600070205080204" pitchFamily="50" charset="-128"/>
              </a:rPr>
              <a:t>làm</a:t>
            </a:r>
            <a:r>
              <a:rPr lang="en-US" altLang="ja-JP" sz="2800" dirty="0">
                <a:ea typeface="MS UI Gothic" panose="020B0600070205080204" pitchFamily="50" charset="-128"/>
              </a:rPr>
              <a:t> 2 </a:t>
            </a:r>
            <a:r>
              <a:rPr lang="en-US" altLang="ja-JP" sz="2800" dirty="0" err="1">
                <a:ea typeface="MS UI Gothic" panose="020B0600070205080204" pitchFamily="50" charset="-128"/>
              </a:rPr>
              <a:t>loại</a:t>
            </a:r>
            <a:r>
              <a:rPr lang="en-US" altLang="ja-JP" sz="2800" dirty="0">
                <a:ea typeface="MS UI Gothic" panose="020B0600070205080204" pitchFamily="50" charset="-128"/>
              </a:rPr>
              <a:t> là </a:t>
            </a:r>
            <a:r>
              <a:rPr lang="en-US" altLang="ja-JP" sz="2800" dirty="0" err="1">
                <a:ea typeface="MS UI Gothic" panose="020B0600070205080204" pitchFamily="50" charset="-128"/>
              </a:rPr>
              <a:t>kiểu</a:t>
            </a:r>
            <a:r>
              <a:rPr lang="en-US" altLang="ja-JP" sz="2800" dirty="0">
                <a:ea typeface="MS UI Gothic" panose="020B0600070205080204" pitchFamily="50" charset="-128"/>
              </a:rPr>
              <a:t> </a:t>
            </a:r>
            <a:r>
              <a:rPr lang="en-US" altLang="ja-JP" sz="2800" dirty="0" err="1">
                <a:ea typeface="MS UI Gothic" panose="020B0600070205080204" pitchFamily="50" charset="-128"/>
              </a:rPr>
              <a:t>gia</a:t>
            </a:r>
            <a:r>
              <a:rPr lang="en-US" altLang="ja-JP" sz="2800" dirty="0">
                <a:ea typeface="MS UI Gothic" panose="020B0600070205080204" pitchFamily="50" charset="-128"/>
              </a:rPr>
              <a:t>́ trị </a:t>
            </a:r>
            <a:r>
              <a:rPr lang="en-US" altLang="ja-JP" sz="2800" dirty="0" err="1">
                <a:ea typeface="MS UI Gothic" panose="020B0600070205080204" pitchFamily="50" charset="-128"/>
              </a:rPr>
              <a:t>va</a:t>
            </a:r>
            <a:r>
              <a:rPr lang="en-US" altLang="ja-JP" sz="2800" dirty="0">
                <a:ea typeface="MS UI Gothic" panose="020B0600070205080204" pitchFamily="50" charset="-128"/>
              </a:rPr>
              <a:t>̀ </a:t>
            </a:r>
            <a:r>
              <a:rPr lang="en-US" altLang="ja-JP" sz="2800" dirty="0" err="1">
                <a:ea typeface="MS UI Gothic" panose="020B0600070205080204" pitchFamily="50" charset="-128"/>
              </a:rPr>
              <a:t>kiểu</a:t>
            </a:r>
            <a:r>
              <a:rPr lang="en-US" altLang="ja-JP" sz="2800" dirty="0">
                <a:ea typeface="MS UI Gothic" panose="020B0600070205080204" pitchFamily="50" charset="-128"/>
              </a:rPr>
              <a:t> </a:t>
            </a:r>
            <a:r>
              <a:rPr lang="en-US" altLang="ja-JP" sz="2800" dirty="0" err="1">
                <a:ea typeface="MS UI Gothic" panose="020B0600070205080204" pitchFamily="50" charset="-128"/>
              </a:rPr>
              <a:t>tham</a:t>
            </a:r>
            <a:r>
              <a:rPr lang="en-US" altLang="ja-JP" sz="2800" dirty="0">
                <a:ea typeface="MS UI Gothic" panose="020B0600070205080204" pitchFamily="50" charset="-128"/>
              </a:rPr>
              <a:t> </a:t>
            </a:r>
            <a:r>
              <a:rPr lang="en-US" altLang="ja-JP" sz="2800" dirty="0" err="1">
                <a:ea typeface="MS UI Gothic" panose="020B0600070205080204" pitchFamily="50" charset="-128"/>
              </a:rPr>
              <a:t>chiếu</a:t>
            </a:r>
            <a:r>
              <a:rPr lang="en-US" altLang="ja-JP" sz="2800" dirty="0">
                <a:ea typeface="MS UI Gothic" panose="020B0600070205080204" pitchFamily="50" charset="-128"/>
              </a:rPr>
              <a:t>.</a:t>
            </a:r>
          </a:p>
          <a:p>
            <a:r>
              <a:rPr lang="ja-JP" altLang="en-US" sz="2800" dirty="0">
                <a:ea typeface="MS UI Gothic" panose="020B0600070205080204" pitchFamily="50" charset="-128"/>
              </a:rPr>
              <a:t>　</a:t>
            </a:r>
            <a:r>
              <a:rPr lang="en-US" altLang="ja-JP" sz="2800" dirty="0">
                <a:ea typeface="MS UI Gothic" panose="020B0600070205080204" pitchFamily="50" charset="-128"/>
              </a:rPr>
              <a:t>Ở </a:t>
            </a:r>
            <a:r>
              <a:rPr lang="en-US" altLang="ja-JP" sz="2800" dirty="0" err="1">
                <a:ea typeface="MS UI Gothic" panose="020B0600070205080204" pitchFamily="50" charset="-128"/>
              </a:rPr>
              <a:t>kiểu</a:t>
            </a:r>
            <a:r>
              <a:rPr lang="en-US" altLang="ja-JP" sz="2800" dirty="0">
                <a:ea typeface="MS UI Gothic" panose="020B0600070205080204" pitchFamily="50" charset="-128"/>
              </a:rPr>
              <a:t> </a:t>
            </a:r>
            <a:r>
              <a:rPr lang="en-US" altLang="ja-JP" sz="2800" dirty="0" err="1">
                <a:ea typeface="MS UI Gothic" panose="020B0600070205080204" pitchFamily="50" charset="-128"/>
              </a:rPr>
              <a:t>gia</a:t>
            </a:r>
            <a:r>
              <a:rPr lang="en-US" altLang="ja-JP" sz="2800" dirty="0">
                <a:ea typeface="MS UI Gothic" panose="020B0600070205080204" pitchFamily="50" charset="-128"/>
              </a:rPr>
              <a:t>́ trị </a:t>
            </a:r>
            <a:r>
              <a:rPr lang="en-US" altLang="ja-JP" sz="2800" dirty="0" err="1">
                <a:ea typeface="MS UI Gothic" panose="020B0600070205080204" pitchFamily="50" charset="-128"/>
              </a:rPr>
              <a:t>va</a:t>
            </a:r>
            <a:r>
              <a:rPr lang="en-US" altLang="ja-JP" sz="2800" dirty="0">
                <a:ea typeface="MS UI Gothic" panose="020B0600070205080204" pitchFamily="50" charset="-128"/>
              </a:rPr>
              <a:t>̀ </a:t>
            </a:r>
            <a:r>
              <a:rPr lang="en-US" altLang="ja-JP" sz="2800" dirty="0" err="1">
                <a:ea typeface="MS UI Gothic" panose="020B0600070205080204" pitchFamily="50" charset="-128"/>
              </a:rPr>
              <a:t>kiểu</a:t>
            </a:r>
            <a:r>
              <a:rPr lang="en-US" altLang="ja-JP" sz="2800" dirty="0">
                <a:ea typeface="MS UI Gothic" panose="020B0600070205080204" pitchFamily="50" charset="-128"/>
              </a:rPr>
              <a:t> </a:t>
            </a:r>
            <a:r>
              <a:rPr lang="en-US" altLang="ja-JP" sz="2800" dirty="0" err="1">
                <a:ea typeface="MS UI Gothic" panose="020B0600070205080204" pitchFamily="50" charset="-128"/>
              </a:rPr>
              <a:t>tham</a:t>
            </a:r>
            <a:r>
              <a:rPr lang="en-US" altLang="ja-JP" sz="2800" dirty="0">
                <a:ea typeface="MS UI Gothic" panose="020B0600070205080204" pitchFamily="50" charset="-128"/>
              </a:rPr>
              <a:t> </a:t>
            </a:r>
            <a:r>
              <a:rPr lang="en-US" altLang="ja-JP" sz="2800" dirty="0" err="1">
                <a:ea typeface="MS UI Gothic" panose="020B0600070205080204" pitchFamily="50" charset="-128"/>
              </a:rPr>
              <a:t>chiếu</a:t>
            </a:r>
            <a:r>
              <a:rPr lang="en-US" altLang="ja-JP" sz="2800" dirty="0">
                <a:ea typeface="MS UI Gothic" panose="020B0600070205080204" pitchFamily="50" charset="-128"/>
              </a:rPr>
              <a:t> do </a:t>
            </a:r>
            <a:r>
              <a:rPr lang="en-US" altLang="ja-JP" sz="2800" dirty="0" err="1">
                <a:ea typeface="MS UI Gothic" panose="020B0600070205080204" pitchFamily="50" charset="-128"/>
              </a:rPr>
              <a:t>cách</a:t>
            </a:r>
            <a:r>
              <a:rPr lang="en-US" altLang="ja-JP" sz="2800" dirty="0">
                <a:ea typeface="MS UI Gothic" panose="020B0600070205080204" pitchFamily="50" charset="-128"/>
              </a:rPr>
              <a:t> </a:t>
            </a:r>
            <a:r>
              <a:rPr lang="en-US" altLang="ja-JP" sz="2800" dirty="0" err="1">
                <a:ea typeface="MS UI Gothic" panose="020B0600070205080204" pitchFamily="50" charset="-128"/>
              </a:rPr>
              <a:t>sư</a:t>
            </a:r>
            <a:r>
              <a:rPr lang="en-US" altLang="ja-JP" sz="2800" dirty="0">
                <a:ea typeface="MS UI Gothic" panose="020B0600070205080204" pitchFamily="50" charset="-128"/>
              </a:rPr>
              <a:t>̉ </a:t>
            </a:r>
            <a:r>
              <a:rPr lang="en-US" altLang="ja-JP" sz="2800" dirty="0" err="1">
                <a:ea typeface="MS UI Gothic" panose="020B0600070205080204" pitchFamily="50" charset="-128"/>
              </a:rPr>
              <a:t>dụng</a:t>
            </a:r>
            <a:r>
              <a:rPr lang="en-US" altLang="ja-JP" sz="2800" dirty="0">
                <a:ea typeface="MS UI Gothic" panose="020B0600070205080204" pitchFamily="50" charset="-128"/>
              </a:rPr>
              <a:t> memory </a:t>
            </a:r>
            <a:r>
              <a:rPr lang="en-US" altLang="ja-JP" sz="2800" dirty="0" err="1">
                <a:ea typeface="MS UI Gothic" panose="020B0600070205080204" pitchFamily="50" charset="-128"/>
              </a:rPr>
              <a:t>khác</a:t>
            </a:r>
            <a:r>
              <a:rPr lang="en-US" altLang="ja-JP" sz="2800" dirty="0">
                <a:ea typeface="MS UI Gothic" panose="020B0600070205080204" pitchFamily="50" charset="-128"/>
              </a:rPr>
              <a:t> </a:t>
            </a:r>
            <a:r>
              <a:rPr lang="en-US" altLang="ja-JP" sz="2800" dirty="0" err="1">
                <a:ea typeface="MS UI Gothic" panose="020B0600070205080204" pitchFamily="50" charset="-128"/>
              </a:rPr>
              <a:t>nhau</a:t>
            </a:r>
            <a:r>
              <a:rPr lang="en-US" altLang="ja-JP" sz="2800" dirty="0">
                <a:ea typeface="MS UI Gothic" panose="020B0600070205080204" pitchFamily="50" charset="-128"/>
              </a:rPr>
              <a:t> </a:t>
            </a:r>
            <a:r>
              <a:rPr lang="en-US" altLang="ja-JP" sz="2800" dirty="0" err="1">
                <a:ea typeface="MS UI Gothic" panose="020B0600070205080204" pitchFamily="50" charset="-128"/>
              </a:rPr>
              <a:t>nên</a:t>
            </a:r>
            <a:r>
              <a:rPr lang="en-US" altLang="ja-JP" sz="2800" dirty="0">
                <a:ea typeface="MS UI Gothic" panose="020B0600070205080204" pitchFamily="50" charset="-128"/>
              </a:rPr>
              <a:t> </a:t>
            </a:r>
            <a:r>
              <a:rPr lang="en-US" altLang="ja-JP" sz="2800" dirty="0" err="1">
                <a:ea typeface="MS UI Gothic" panose="020B0600070205080204" pitchFamily="50" charset="-128"/>
              </a:rPr>
              <a:t>chúng</a:t>
            </a:r>
            <a:r>
              <a:rPr lang="en-US" altLang="ja-JP" sz="2800" dirty="0">
                <a:ea typeface="MS UI Gothic" panose="020B0600070205080204" pitchFamily="50" charset="-128"/>
              </a:rPr>
              <a:t> ta </a:t>
            </a:r>
            <a:r>
              <a:rPr lang="en-US" altLang="ja-JP" sz="2800" dirty="0" err="1">
                <a:ea typeface="MS UI Gothic" panose="020B0600070205080204" pitchFamily="50" charset="-128"/>
              </a:rPr>
              <a:t>hãy</a:t>
            </a:r>
            <a:r>
              <a:rPr lang="en-US" altLang="ja-JP" sz="2800" dirty="0">
                <a:ea typeface="MS UI Gothic" panose="020B0600070205080204" pitchFamily="50" charset="-128"/>
              </a:rPr>
              <a:t> </a:t>
            </a:r>
            <a:r>
              <a:rPr lang="en-US" altLang="ja-JP" sz="2800" dirty="0" err="1">
                <a:ea typeface="MS UI Gothic" panose="020B0600070205080204" pitchFamily="50" charset="-128"/>
              </a:rPr>
              <a:t>cùng</a:t>
            </a:r>
            <a:r>
              <a:rPr lang="en-US" altLang="ja-JP" sz="2800" dirty="0">
                <a:ea typeface="MS UI Gothic" panose="020B0600070205080204" pitchFamily="50" charset="-128"/>
              </a:rPr>
              <a:t> </a:t>
            </a:r>
            <a:r>
              <a:rPr lang="en-US" altLang="ja-JP" sz="2800" dirty="0" err="1">
                <a:ea typeface="MS UI Gothic" panose="020B0600070205080204" pitchFamily="50" charset="-128"/>
              </a:rPr>
              <a:t>hạn</a:t>
            </a:r>
            <a:r>
              <a:rPr lang="en-US" altLang="ja-JP" sz="2800" dirty="0">
                <a:ea typeface="MS UI Gothic" panose="020B0600070205080204" pitchFamily="50" charset="-128"/>
              </a:rPr>
              <a:t> </a:t>
            </a:r>
            <a:r>
              <a:rPr lang="en-US" altLang="ja-JP" sz="2800" dirty="0" err="1">
                <a:ea typeface="MS UI Gothic" panose="020B0600070205080204" pitchFamily="50" charset="-128"/>
              </a:rPr>
              <a:t>chê</a:t>
            </a:r>
            <a:r>
              <a:rPr lang="en-US" altLang="ja-JP" sz="2800" dirty="0">
                <a:ea typeface="MS UI Gothic" panose="020B0600070205080204" pitchFamily="50" charset="-128"/>
              </a:rPr>
              <a:t>́ </a:t>
            </a:r>
            <a:r>
              <a:rPr lang="en-US" altLang="ja-JP" sz="2800" dirty="0" err="1">
                <a:ea typeface="MS UI Gothic" panose="020B0600070205080204" pitchFamily="50" charset="-128"/>
              </a:rPr>
              <a:t>sư</a:t>
            </a:r>
            <a:r>
              <a:rPr lang="en-US" altLang="ja-JP" sz="2800" dirty="0">
                <a:ea typeface="MS UI Gothic" panose="020B0600070205080204" pitchFamily="50" charset="-128"/>
              </a:rPr>
              <a:t>̣ </a:t>
            </a:r>
            <a:r>
              <a:rPr lang="en-US" altLang="ja-JP" sz="2800" dirty="0" err="1">
                <a:ea typeface="MS UI Gothic" panose="020B0600070205080204" pitchFamily="50" charset="-128"/>
              </a:rPr>
              <a:t>sai</a:t>
            </a:r>
            <a:r>
              <a:rPr lang="en-US" altLang="ja-JP" sz="2800" dirty="0">
                <a:ea typeface="MS UI Gothic" panose="020B0600070205080204" pitchFamily="50" charset="-128"/>
              </a:rPr>
              <a:t> </a:t>
            </a:r>
            <a:r>
              <a:rPr lang="en-US" altLang="ja-JP" sz="2800" dirty="0" err="1">
                <a:ea typeface="MS UI Gothic" panose="020B0600070205080204" pitchFamily="50" charset="-128"/>
              </a:rPr>
              <a:t>sót</a:t>
            </a:r>
            <a:r>
              <a:rPr lang="en-US" altLang="ja-JP" sz="2800" dirty="0">
                <a:ea typeface="MS UI Gothic" panose="020B0600070205080204" pitchFamily="50" charset="-128"/>
              </a:rPr>
              <a:t>.</a:t>
            </a:r>
          </a:p>
          <a:p>
            <a:r>
              <a:rPr lang="en-US" altLang="ja-JP" sz="2800" dirty="0" err="1">
                <a:ea typeface="MS UI Gothic" panose="020B0600070205080204" pitchFamily="50" charset="-128"/>
              </a:rPr>
              <a:t>Kiểu</a:t>
            </a:r>
            <a:r>
              <a:rPr lang="en-US" altLang="ja-JP" sz="2800" dirty="0">
                <a:ea typeface="MS UI Gothic" panose="020B0600070205080204" pitchFamily="50" charset="-128"/>
              </a:rPr>
              <a:t> </a:t>
            </a:r>
            <a:r>
              <a:rPr lang="en-US" altLang="ja-JP" sz="2800" dirty="0" err="1">
                <a:ea typeface="MS UI Gothic" panose="020B0600070205080204" pitchFamily="50" charset="-128"/>
              </a:rPr>
              <a:t>gia</a:t>
            </a:r>
            <a:r>
              <a:rPr lang="en-US" altLang="ja-JP" sz="2800" dirty="0">
                <a:ea typeface="MS UI Gothic" panose="020B0600070205080204" pitchFamily="50" charset="-128"/>
              </a:rPr>
              <a:t>́ trị: </a:t>
            </a:r>
            <a:r>
              <a:rPr lang="en-US" altLang="ja-JP" sz="2800" dirty="0" err="1">
                <a:ea typeface="MS UI Gothic" panose="020B0600070205080204" pitchFamily="50" charset="-128"/>
              </a:rPr>
              <a:t>Chính</a:t>
            </a:r>
            <a:r>
              <a:rPr lang="en-US" altLang="ja-JP" sz="2800" dirty="0">
                <a:ea typeface="MS UI Gothic" panose="020B0600070205080204" pitchFamily="50" charset="-128"/>
              </a:rPr>
              <a:t> </a:t>
            </a:r>
            <a:r>
              <a:rPr lang="en-US" altLang="ja-JP" sz="2800" dirty="0" err="1">
                <a:ea typeface="MS UI Gothic" panose="020B0600070205080204" pitchFamily="50" charset="-128"/>
              </a:rPr>
              <a:t>gia</a:t>
            </a:r>
            <a:r>
              <a:rPr lang="en-US" altLang="ja-JP" sz="2800" dirty="0">
                <a:ea typeface="MS UI Gothic" panose="020B0600070205080204" pitchFamily="50" charset="-128"/>
              </a:rPr>
              <a:t>́ </a:t>
            </a:r>
            <a:r>
              <a:rPr lang="en-US" altLang="ja-JP" sz="2800" dirty="0" err="1">
                <a:ea typeface="MS UI Gothic" panose="020B0600070205080204" pitchFamily="50" charset="-128"/>
              </a:rPr>
              <a:t>trị</a:t>
            </a:r>
            <a:r>
              <a:rPr lang="en-US" altLang="ja-JP" sz="2800" dirty="0">
                <a:ea typeface="MS UI Gothic" panose="020B0600070205080204" pitchFamily="50" charset="-128"/>
              </a:rPr>
              <a:t> </a:t>
            </a:r>
            <a:r>
              <a:rPr lang="en-US" altLang="ja-JP" sz="2800" dirty="0" err="1">
                <a:ea typeface="MS UI Gothic" panose="020B0600070205080204" pitchFamily="50" charset="-128"/>
              </a:rPr>
              <a:t>trong</a:t>
            </a:r>
            <a:r>
              <a:rPr lang="en-US" altLang="ja-JP" sz="2800" dirty="0">
                <a:ea typeface="MS UI Gothic" panose="020B0600070205080204" pitchFamily="50" charset="-128"/>
              </a:rPr>
              <a:t> </a:t>
            </a:r>
            <a:r>
              <a:rPr lang="en-US" altLang="ja-JP" sz="2800" dirty="0" err="1">
                <a:ea typeface="MS UI Gothic" panose="020B0600070205080204" pitchFamily="50" charset="-128"/>
              </a:rPr>
              <a:t>biến</a:t>
            </a:r>
            <a:r>
              <a:rPr lang="en-US" altLang="ja-JP" sz="2800" dirty="0">
                <a:ea typeface="MS UI Gothic" panose="020B0600070205080204" pitchFamily="50" charset="-128"/>
              </a:rPr>
              <a:t> </a:t>
            </a:r>
            <a:r>
              <a:rPr lang="en-US" altLang="ja-JP" sz="2800" dirty="0" err="1">
                <a:ea typeface="MS UI Gothic" panose="020B0600070205080204" pitchFamily="50" charset="-128"/>
              </a:rPr>
              <a:t>được</a:t>
            </a:r>
            <a:r>
              <a:rPr lang="en-US" altLang="ja-JP" sz="2800" dirty="0">
                <a:ea typeface="MS UI Gothic" panose="020B0600070205080204" pitchFamily="50" charset="-128"/>
              </a:rPr>
              <a:t> </a:t>
            </a:r>
            <a:r>
              <a:rPr lang="en-US" altLang="ja-JP" sz="2800" dirty="0" err="1">
                <a:ea typeface="MS UI Gothic" panose="020B0600070205080204" pitchFamily="50" charset="-128"/>
              </a:rPr>
              <a:t>lưu</a:t>
            </a:r>
            <a:r>
              <a:rPr lang="en-US" altLang="ja-JP" sz="2800" dirty="0">
                <a:ea typeface="MS UI Gothic" panose="020B0600070205080204" pitchFamily="50" charset="-128"/>
              </a:rPr>
              <a:t>.</a:t>
            </a:r>
          </a:p>
          <a:p>
            <a:endParaRPr kumimoji="1" lang="ja-JP" altLang="en-US" sz="2800" dirty="0"/>
          </a:p>
        </p:txBody>
      </p:sp>
      <p:sp>
        <p:nvSpPr>
          <p:cNvPr id="4" name="Slide Number Placeholder 3">
            <a:extLst>
              <a:ext uri="{FF2B5EF4-FFF2-40B4-BE49-F238E27FC236}">
                <a16:creationId xmlns:a16="http://schemas.microsoft.com/office/drawing/2014/main" id="{855C2960-ACC6-84FC-34BE-CCB5D2BB4403}"/>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23</a:t>
            </a:fld>
            <a:endParaRPr lang="en-US" altLang="ja-JP"/>
          </a:p>
        </p:txBody>
      </p:sp>
      <p:grpSp>
        <p:nvGrpSpPr>
          <p:cNvPr id="41" name="Group 40">
            <a:extLst>
              <a:ext uri="{FF2B5EF4-FFF2-40B4-BE49-F238E27FC236}">
                <a16:creationId xmlns:a16="http://schemas.microsoft.com/office/drawing/2014/main" id="{70F12DD0-CB7E-6F54-9850-1D16B38AF6FB}"/>
              </a:ext>
            </a:extLst>
          </p:cNvPr>
          <p:cNvGrpSpPr/>
          <p:nvPr/>
        </p:nvGrpSpPr>
        <p:grpSpPr>
          <a:xfrm>
            <a:off x="478531" y="4300419"/>
            <a:ext cx="9000327" cy="1463675"/>
            <a:chOff x="719138" y="2000250"/>
            <a:chExt cx="5764212" cy="1463675"/>
          </a:xfrm>
        </p:grpSpPr>
        <p:sp>
          <p:nvSpPr>
            <p:cNvPr id="24" name="Rectangle 77">
              <a:extLst>
                <a:ext uri="{FF2B5EF4-FFF2-40B4-BE49-F238E27FC236}">
                  <a16:creationId xmlns:a16="http://schemas.microsoft.com/office/drawing/2014/main" id="{8A5688DE-FD05-4619-88E2-C5801D767230}"/>
                </a:ext>
              </a:extLst>
            </p:cNvPr>
            <p:cNvSpPr>
              <a:spLocks noChangeArrowheads="1"/>
            </p:cNvSpPr>
            <p:nvPr/>
          </p:nvSpPr>
          <p:spPr bwMode="auto">
            <a:xfrm>
              <a:off x="719138" y="2000250"/>
              <a:ext cx="5764212" cy="14636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6" name="Rectangle 79">
              <a:extLst>
                <a:ext uri="{FF2B5EF4-FFF2-40B4-BE49-F238E27FC236}">
                  <a16:creationId xmlns:a16="http://schemas.microsoft.com/office/drawing/2014/main" id="{F16643A5-6E2C-5237-28C2-150C75946C4A}"/>
                </a:ext>
              </a:extLst>
            </p:cNvPr>
            <p:cNvSpPr>
              <a:spLocks noChangeArrowheads="1"/>
            </p:cNvSpPr>
            <p:nvPr/>
          </p:nvSpPr>
          <p:spPr bwMode="auto">
            <a:xfrm>
              <a:off x="2622412" y="2525713"/>
              <a:ext cx="3643452" cy="636587"/>
            </a:xfrm>
            <a:prstGeom prst="rect">
              <a:avLst/>
            </a:prstGeom>
            <a:solidFill>
              <a:schemeClr val="accent1">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8" name="AutoShape 80">
              <a:extLst>
                <a:ext uri="{FF2B5EF4-FFF2-40B4-BE49-F238E27FC236}">
                  <a16:creationId xmlns:a16="http://schemas.microsoft.com/office/drawing/2014/main" id="{3FE3A84E-1367-7CE9-E310-AB2D328579A9}"/>
                </a:ext>
              </a:extLst>
            </p:cNvPr>
            <p:cNvSpPr>
              <a:spLocks noChangeArrowheads="1"/>
            </p:cNvSpPr>
            <p:nvPr/>
          </p:nvSpPr>
          <p:spPr bwMode="auto">
            <a:xfrm>
              <a:off x="820738" y="2525713"/>
              <a:ext cx="1235075" cy="638175"/>
            </a:xfrm>
            <a:prstGeom prst="foldedCorner">
              <a:avLst>
                <a:gd name="adj" fmla="val 12500"/>
              </a:avLst>
            </a:prstGeom>
            <a:solidFill>
              <a:srgbClr val="FFFFCC"/>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en-US" altLang="ja-JP" b="0" dirty="0">
                <a:latin typeface="ＭＳ ゴシック" panose="020B0609070205080204" pitchFamily="49" charset="-128"/>
                <a:ea typeface="ＭＳ ゴシック" panose="020B0609070205080204" pitchFamily="49" charset="-128"/>
              </a:endParaRPr>
            </a:p>
            <a:p>
              <a:r>
                <a:rPr lang="en-US" altLang="ja-JP" b="0" dirty="0">
                  <a:latin typeface="ＭＳ ゴシック" panose="020B0609070205080204" pitchFamily="49" charset="-128"/>
                  <a:ea typeface="ＭＳ ゴシック" panose="020B0609070205080204" pitchFamily="49" charset="-128"/>
                </a:rPr>
                <a:t>int val1 = 10; </a:t>
              </a:r>
            </a:p>
          </p:txBody>
        </p:sp>
        <p:sp>
          <p:nvSpPr>
            <p:cNvPr id="30" name="Text Box 81">
              <a:extLst>
                <a:ext uri="{FF2B5EF4-FFF2-40B4-BE49-F238E27FC236}">
                  <a16:creationId xmlns:a16="http://schemas.microsoft.com/office/drawing/2014/main" id="{09662895-3B21-9242-2059-AA3AAE6D3DE1}"/>
                </a:ext>
              </a:extLst>
            </p:cNvPr>
            <p:cNvSpPr txBox="1">
              <a:spLocks noChangeArrowheads="1"/>
            </p:cNvSpPr>
            <p:nvPr/>
          </p:nvSpPr>
          <p:spPr bwMode="auto">
            <a:xfrm>
              <a:off x="844550" y="2232025"/>
              <a:ext cx="1019175" cy="3385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3" tIns="45712" rIns="91423" bIns="45712">
              <a:spAutoFit/>
            </a:bodyPr>
            <a:lstStyle/>
            <a:p>
              <a:pPr algn="ctr">
                <a:spcBef>
                  <a:spcPct val="50000"/>
                </a:spcBef>
              </a:pPr>
              <a:r>
                <a:rPr lang="en-US" altLang="ja-JP" b="0" dirty="0">
                  <a:latin typeface="+mj-lt"/>
                </a:rPr>
                <a:t>Ví dụ program</a:t>
              </a:r>
            </a:p>
          </p:txBody>
        </p:sp>
        <p:sp>
          <p:nvSpPr>
            <p:cNvPr id="32" name="Rectangle 82">
              <a:extLst>
                <a:ext uri="{FF2B5EF4-FFF2-40B4-BE49-F238E27FC236}">
                  <a16:creationId xmlns:a16="http://schemas.microsoft.com/office/drawing/2014/main" id="{4A4AEED7-8CF6-0F3F-4A5B-5B8BC4E4DBA0}"/>
                </a:ext>
              </a:extLst>
            </p:cNvPr>
            <p:cNvSpPr>
              <a:spLocks noChangeArrowheads="1"/>
            </p:cNvSpPr>
            <p:nvPr/>
          </p:nvSpPr>
          <p:spPr bwMode="auto">
            <a:xfrm>
              <a:off x="2735263" y="2738438"/>
              <a:ext cx="365125"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r>
                <a:rPr lang="en-US" altLang="ja-JP" b="0">
                  <a:latin typeface="ＭＳ ゴシック" panose="020B0609070205080204" pitchFamily="49" charset="-128"/>
                  <a:ea typeface="ＭＳ ゴシック" panose="020B0609070205080204" pitchFamily="49" charset="-128"/>
                </a:rPr>
                <a:t>val1</a:t>
              </a:r>
              <a:r>
                <a:rPr lang="ja-JP" altLang="en-US" b="0">
                  <a:latin typeface="ＭＳ ゴシック" panose="020B0609070205080204" pitchFamily="49" charset="-128"/>
                  <a:ea typeface="ＭＳ ゴシック" panose="020B0609070205080204" pitchFamily="49" charset="-128"/>
                </a:rPr>
                <a:t>　　　　　</a:t>
              </a:r>
            </a:p>
          </p:txBody>
        </p:sp>
        <p:sp>
          <p:nvSpPr>
            <p:cNvPr id="34" name="Text Box 83">
              <a:extLst>
                <a:ext uri="{FF2B5EF4-FFF2-40B4-BE49-F238E27FC236}">
                  <a16:creationId xmlns:a16="http://schemas.microsoft.com/office/drawing/2014/main" id="{85346A37-ECF3-CECD-467F-D85F057599B4}"/>
                </a:ext>
              </a:extLst>
            </p:cNvPr>
            <p:cNvSpPr txBox="1">
              <a:spLocks noChangeArrowheads="1"/>
            </p:cNvSpPr>
            <p:nvPr/>
          </p:nvSpPr>
          <p:spPr bwMode="auto">
            <a:xfrm>
              <a:off x="3055938" y="2736850"/>
              <a:ext cx="704850" cy="254000"/>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3" tIns="45712" rIns="91423" bIns="45712">
              <a:spAutoFit/>
            </a:bodyPr>
            <a:lstStyle/>
            <a:p>
              <a:pPr algn="ctr">
                <a:spcBef>
                  <a:spcPct val="50000"/>
                </a:spcBef>
              </a:pPr>
              <a:r>
                <a:rPr lang="en-US" altLang="ja-JP" b="0">
                  <a:latin typeface="ＭＳ ゴシック" panose="020B0609070205080204" pitchFamily="49" charset="-128"/>
                  <a:ea typeface="ＭＳ ゴシック" panose="020B0609070205080204" pitchFamily="49" charset="-128"/>
                </a:rPr>
                <a:t>10</a:t>
              </a:r>
            </a:p>
          </p:txBody>
        </p:sp>
        <p:sp>
          <p:nvSpPr>
            <p:cNvPr id="36" name="Text Box 84">
              <a:extLst>
                <a:ext uri="{FF2B5EF4-FFF2-40B4-BE49-F238E27FC236}">
                  <a16:creationId xmlns:a16="http://schemas.microsoft.com/office/drawing/2014/main" id="{E3710FF9-7E24-81A3-CDFD-B24ECFC12099}"/>
                </a:ext>
              </a:extLst>
            </p:cNvPr>
            <p:cNvSpPr txBox="1">
              <a:spLocks noChangeArrowheads="1"/>
            </p:cNvSpPr>
            <p:nvPr/>
          </p:nvSpPr>
          <p:spPr bwMode="auto">
            <a:xfrm>
              <a:off x="2527300" y="2228850"/>
              <a:ext cx="1685925" cy="3385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3" tIns="45712" rIns="91423" bIns="45712">
              <a:spAutoFit/>
            </a:bodyPr>
            <a:lstStyle/>
            <a:p>
              <a:pPr>
                <a:spcBef>
                  <a:spcPct val="50000"/>
                </a:spcBef>
              </a:pPr>
              <a:r>
                <a:rPr lang="en-US" altLang="ja-JP" b="0" dirty="0">
                  <a:latin typeface="+mj-lt"/>
                </a:rPr>
                <a:t>Image </a:t>
              </a:r>
              <a:r>
                <a:rPr lang="en-US" altLang="ja-JP" b="0" dirty="0" err="1">
                  <a:latin typeface="+mj-lt"/>
                </a:rPr>
                <a:t>của</a:t>
              </a:r>
              <a:r>
                <a:rPr lang="en-US" altLang="ja-JP" b="0" dirty="0">
                  <a:latin typeface="+mj-lt"/>
                </a:rPr>
                <a:t> memory</a:t>
              </a:r>
            </a:p>
          </p:txBody>
        </p:sp>
        <p:sp>
          <p:nvSpPr>
            <p:cNvPr id="38" name="AutoShape 85">
              <a:extLst>
                <a:ext uri="{FF2B5EF4-FFF2-40B4-BE49-F238E27FC236}">
                  <a16:creationId xmlns:a16="http://schemas.microsoft.com/office/drawing/2014/main" id="{4AE0471A-93AD-0307-DA54-C3EF6BB118B9}"/>
                </a:ext>
              </a:extLst>
            </p:cNvPr>
            <p:cNvSpPr>
              <a:spLocks noChangeArrowheads="1"/>
            </p:cNvSpPr>
            <p:nvPr/>
          </p:nvSpPr>
          <p:spPr bwMode="auto">
            <a:xfrm>
              <a:off x="2205038" y="2595562"/>
              <a:ext cx="342900" cy="496888"/>
            </a:xfrm>
            <a:prstGeom prst="rightArrow">
              <a:avLst>
                <a:gd name="adj1" fmla="val 50000"/>
                <a:gd name="adj2" fmla="val 25000"/>
              </a:avLst>
            </a:prstGeom>
            <a:solidFill>
              <a:srgbClr val="0000FF">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0" name="AutoShape 86">
              <a:extLst>
                <a:ext uri="{FF2B5EF4-FFF2-40B4-BE49-F238E27FC236}">
                  <a16:creationId xmlns:a16="http://schemas.microsoft.com/office/drawing/2014/main" id="{DDFD088B-FB23-FA2A-385D-588FA7774427}"/>
                </a:ext>
              </a:extLst>
            </p:cNvPr>
            <p:cNvSpPr>
              <a:spLocks noChangeArrowheads="1"/>
            </p:cNvSpPr>
            <p:nvPr/>
          </p:nvSpPr>
          <p:spPr bwMode="auto">
            <a:xfrm>
              <a:off x="3940063" y="2105025"/>
              <a:ext cx="2510375" cy="279400"/>
            </a:xfrm>
            <a:prstGeom prst="wedgeRoundRectCallout">
              <a:avLst>
                <a:gd name="adj1" fmla="val -55505"/>
                <a:gd name="adj2" fmla="val 17272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1" tIns="19043" rIns="9521" bIns="9521"/>
            <a:lstStyle/>
            <a:p>
              <a:pPr algn="ctr"/>
              <a:r>
                <a:rPr lang="en-US" altLang="ja-JP" b="0" dirty="0" err="1">
                  <a:latin typeface="+mj-lt"/>
                </a:rPr>
                <a:t>Chính</a:t>
              </a:r>
              <a:r>
                <a:rPr lang="en-US" altLang="ja-JP" dirty="0">
                  <a:latin typeface="+mj-lt"/>
                </a:rPr>
                <a:t> </a:t>
              </a:r>
              <a:r>
                <a:rPr lang="en-US" altLang="ja-JP" b="0" dirty="0" err="1">
                  <a:latin typeface="+mj-lt"/>
                </a:rPr>
                <a:t>g</a:t>
              </a:r>
              <a:r>
                <a:rPr lang="en-US" altLang="ja-JP" b="0" dirty="0" err="1">
                  <a:latin typeface="+mj-lt"/>
                  <a:ea typeface="ＭＳ ゴシック" panose="020B0609070205080204" pitchFamily="49" charset="-128"/>
                  <a:cs typeface="Times New Roman" panose="02020603050405020304" pitchFamily="18" charset="0"/>
                </a:rPr>
                <a:t>ia</a:t>
              </a:r>
              <a:r>
                <a:rPr lang="en-US" altLang="ja-JP" b="0" dirty="0">
                  <a:latin typeface="+mj-lt"/>
                  <a:ea typeface="ＭＳ ゴシック" panose="020B0609070205080204" pitchFamily="49" charset="-128"/>
                  <a:cs typeface="Times New Roman" panose="02020603050405020304" pitchFamily="18" charset="0"/>
                </a:rPr>
                <a:t>́ trị </a:t>
              </a:r>
              <a:r>
                <a:rPr lang="en-US" altLang="ja-JP" b="0" dirty="0" err="1">
                  <a:latin typeface="+mj-lt"/>
                  <a:ea typeface="ＭＳ ゴシック" panose="020B0609070205080204" pitchFamily="49" charset="-128"/>
                  <a:cs typeface="Times New Roman" panose="02020603050405020304" pitchFamily="18" charset="0"/>
                </a:rPr>
                <a:t>kiểu</a:t>
              </a:r>
              <a:r>
                <a:rPr lang="en-US" altLang="ja-JP" b="0" dirty="0">
                  <a:latin typeface="+mj-lt"/>
                  <a:ea typeface="ＭＳ ゴシック" panose="020B0609070205080204" pitchFamily="49" charset="-128"/>
                  <a:cs typeface="Times New Roman" panose="02020603050405020304" pitchFamily="18" charset="0"/>
                </a:rPr>
                <a:t> int </a:t>
              </a:r>
              <a:r>
                <a:rPr lang="en-US" altLang="ja-JP" b="0" dirty="0" err="1">
                  <a:latin typeface="+mj-lt"/>
                  <a:ea typeface="ＭＳ ゴシック" panose="020B0609070205080204" pitchFamily="49" charset="-128"/>
                  <a:cs typeface="Times New Roman" panose="02020603050405020304" pitchFamily="18" charset="0"/>
                </a:rPr>
                <a:t>được</a:t>
              </a:r>
              <a:r>
                <a:rPr lang="en-US" altLang="ja-JP" b="0" dirty="0">
                  <a:latin typeface="+mj-lt"/>
                  <a:ea typeface="ＭＳ ゴシック" panose="020B0609070205080204" pitchFamily="49" charset="-128"/>
                  <a:cs typeface="Times New Roman" panose="02020603050405020304" pitchFamily="18" charset="0"/>
                </a:rPr>
                <a:t> </a:t>
              </a:r>
              <a:r>
                <a:rPr lang="en-US" altLang="ja-JP" b="0" dirty="0" err="1">
                  <a:latin typeface="+mj-lt"/>
                  <a:ea typeface="ＭＳ ゴシック" panose="020B0609070205080204" pitchFamily="49" charset="-128"/>
                  <a:cs typeface="Times New Roman" panose="02020603050405020304" pitchFamily="18" charset="0"/>
                </a:rPr>
                <a:t>lưu</a:t>
              </a:r>
              <a:r>
                <a:rPr lang="en-US" altLang="ja-JP" b="0" dirty="0">
                  <a:latin typeface="+mj-lt"/>
                  <a:ea typeface="ＭＳ ゴシック" panose="020B0609070205080204" pitchFamily="49" charset="-128"/>
                  <a:cs typeface="Times New Roman" panose="02020603050405020304" pitchFamily="18" charset="0"/>
                </a:rPr>
                <a:t>.</a:t>
              </a:r>
            </a:p>
          </p:txBody>
        </p:sp>
      </p:grpSp>
    </p:spTree>
    <p:extLst>
      <p:ext uri="{BB962C8B-B14F-4D97-AF65-F5344CB8AC3E}">
        <p14:creationId xmlns:p14="http://schemas.microsoft.com/office/powerpoint/2010/main" val="34674740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1908DC-D518-62B2-5957-ACDCD7A6931E}"/>
              </a:ext>
            </a:extLst>
          </p:cNvPr>
          <p:cNvSpPr>
            <a:spLocks noGrp="1"/>
          </p:cNvSpPr>
          <p:nvPr>
            <p:ph type="title"/>
          </p:nvPr>
        </p:nvSpPr>
        <p:spPr/>
        <p:txBody>
          <a:bodyPr>
            <a:normAutofit fontScale="90000"/>
          </a:bodyPr>
          <a:lstStyle/>
          <a:p>
            <a:r>
              <a:rPr lang="en-US" altLang="ja-JP" dirty="0" err="1">
                <a:ea typeface="MS UI Gothic" panose="020B0600070205080204" pitchFamily="50" charset="-128"/>
              </a:rPr>
              <a:t>Kiểu</a:t>
            </a:r>
            <a:r>
              <a:rPr lang="en-US" altLang="ja-JP" dirty="0">
                <a:ea typeface="MS UI Gothic" panose="020B0600070205080204" pitchFamily="50" charset="-128"/>
              </a:rPr>
              <a:t> </a:t>
            </a:r>
            <a:r>
              <a:rPr lang="en-US" altLang="ja-JP" dirty="0" err="1">
                <a:ea typeface="MS UI Gothic" panose="020B0600070205080204" pitchFamily="50" charset="-128"/>
              </a:rPr>
              <a:t>gia</a:t>
            </a:r>
            <a:r>
              <a:rPr lang="en-US" altLang="ja-JP" dirty="0">
                <a:ea typeface="MS UI Gothic" panose="020B0600070205080204" pitchFamily="50" charset="-128"/>
              </a:rPr>
              <a:t>́ trị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kiểu</a:t>
            </a:r>
            <a:r>
              <a:rPr lang="en-US" altLang="ja-JP" dirty="0">
                <a:ea typeface="MS UI Gothic" panose="020B0600070205080204" pitchFamily="50" charset="-128"/>
              </a:rPr>
              <a:t> </a:t>
            </a:r>
            <a:r>
              <a:rPr lang="en-US" altLang="ja-JP" dirty="0" err="1">
                <a:ea typeface="MS UI Gothic" panose="020B0600070205080204" pitchFamily="50" charset="-128"/>
              </a:rPr>
              <a:t>tham</a:t>
            </a:r>
            <a:r>
              <a:rPr lang="en-US" altLang="ja-JP" dirty="0">
                <a:ea typeface="MS UI Gothic" panose="020B0600070205080204" pitchFamily="50" charset="-128"/>
              </a:rPr>
              <a:t> </a:t>
            </a:r>
            <a:r>
              <a:rPr lang="en-US" altLang="ja-JP" dirty="0" err="1">
                <a:ea typeface="MS UI Gothic" panose="020B0600070205080204" pitchFamily="50" charset="-128"/>
              </a:rPr>
              <a:t>chiếu</a:t>
            </a:r>
            <a:endParaRPr kumimoji="1" lang="ja-JP" altLang="en-US" dirty="0"/>
          </a:p>
        </p:txBody>
      </p:sp>
      <p:sp>
        <p:nvSpPr>
          <p:cNvPr id="3" name="Content Placeholder 2">
            <a:extLst>
              <a:ext uri="{FF2B5EF4-FFF2-40B4-BE49-F238E27FC236}">
                <a16:creationId xmlns:a16="http://schemas.microsoft.com/office/drawing/2014/main" id="{5DC44A14-A456-65D1-0054-644D7E5CB904}"/>
              </a:ext>
            </a:extLst>
          </p:cNvPr>
          <p:cNvSpPr>
            <a:spLocks noGrp="1"/>
          </p:cNvSpPr>
          <p:nvPr>
            <p:ph idx="1"/>
          </p:nvPr>
        </p:nvSpPr>
        <p:spPr/>
        <p:txBody>
          <a:bodyPr/>
          <a:lstStyle/>
          <a:p>
            <a:r>
              <a:rPr lang="en-US" altLang="ja-JP" dirty="0" err="1">
                <a:ea typeface="MS UI Gothic" panose="020B0600070205080204" pitchFamily="50" charset="-128"/>
              </a:rPr>
              <a:t>Kiểu</a:t>
            </a:r>
            <a:r>
              <a:rPr lang="en-US" altLang="ja-JP" dirty="0">
                <a:ea typeface="MS UI Gothic" panose="020B0600070205080204" pitchFamily="50" charset="-128"/>
              </a:rPr>
              <a:t> </a:t>
            </a:r>
            <a:r>
              <a:rPr lang="en-US" altLang="ja-JP" dirty="0" err="1">
                <a:ea typeface="MS UI Gothic" panose="020B0600070205080204" pitchFamily="50" charset="-128"/>
              </a:rPr>
              <a:t>tham</a:t>
            </a:r>
            <a:r>
              <a:rPr lang="en-US" altLang="ja-JP" dirty="0">
                <a:ea typeface="MS UI Gothic" panose="020B0600070205080204" pitchFamily="50" charset="-128"/>
              </a:rPr>
              <a:t> </a:t>
            </a:r>
            <a:r>
              <a:rPr lang="en-US" altLang="ja-JP" dirty="0" err="1">
                <a:ea typeface="MS UI Gothic" panose="020B0600070205080204" pitchFamily="50" charset="-128"/>
              </a:rPr>
              <a:t>chiếu</a:t>
            </a:r>
            <a:r>
              <a:rPr lang="en-US" altLang="ja-JP" dirty="0">
                <a:ea typeface="MS UI Gothic" panose="020B0600070205080204" pitchFamily="50" charset="-128"/>
              </a:rPr>
              <a:t>: Trong </a:t>
            </a:r>
            <a:r>
              <a:rPr lang="en-US" altLang="ja-JP" dirty="0" err="1">
                <a:ea typeface="MS UI Gothic" panose="020B0600070205080204" pitchFamily="50" charset="-128"/>
              </a:rPr>
              <a:t>biến</a:t>
            </a:r>
            <a:r>
              <a:rPr lang="en-US" altLang="ja-JP" dirty="0">
                <a:ea typeface="MS UI Gothic" panose="020B0600070205080204" pitchFamily="50" charset="-128"/>
              </a:rPr>
              <a:t>, sẽ </a:t>
            </a:r>
            <a:r>
              <a:rPr lang="en-US" altLang="ja-JP" dirty="0" err="1">
                <a:ea typeface="MS UI Gothic" panose="020B0600070205080204" pitchFamily="50" charset="-128"/>
              </a:rPr>
              <a:t>lưu</a:t>
            </a:r>
            <a:r>
              <a:rPr lang="en-US" altLang="ja-JP" dirty="0">
                <a:ea typeface="MS UI Gothic" panose="020B0600070205080204" pitchFamily="50" charset="-128"/>
              </a:rPr>
              <a:t> </a:t>
            </a:r>
            <a:r>
              <a:rPr lang="en-US" altLang="ja-JP" dirty="0" err="1">
                <a:ea typeface="MS UI Gothic" panose="020B0600070205080204" pitchFamily="50" charset="-128"/>
              </a:rPr>
              <a:t>gia</a:t>
            </a:r>
            <a:r>
              <a:rPr lang="en-US" altLang="ja-JP" dirty="0">
                <a:ea typeface="MS UI Gothic" panose="020B0600070205080204" pitchFamily="50" charset="-128"/>
              </a:rPr>
              <a:t>́ trị </a:t>
            </a:r>
            <a:r>
              <a:rPr lang="en-US" altLang="ja-JP" dirty="0" err="1">
                <a:ea typeface="MS UI Gothic" panose="020B0600070205080204" pitchFamily="50" charset="-128"/>
              </a:rPr>
              <a:t>biểu</a:t>
            </a:r>
            <a:r>
              <a:rPr lang="en-US" altLang="ja-JP" dirty="0">
                <a:ea typeface="MS UI Gothic" panose="020B0600070205080204" pitchFamily="50" charset="-128"/>
              </a:rPr>
              <a:t> </a:t>
            </a:r>
            <a:r>
              <a:rPr lang="en-US" altLang="ja-JP" dirty="0" err="1">
                <a:ea typeface="MS UI Gothic" panose="020B0600070205080204" pitchFamily="50" charset="-128"/>
              </a:rPr>
              <a:t>thi</a:t>
            </a:r>
            <a:r>
              <a:rPr lang="en-US" altLang="ja-JP" dirty="0">
                <a:ea typeface="MS UI Gothic" panose="020B0600070205080204" pitchFamily="50" charset="-128"/>
              </a:rPr>
              <a:t>̣ </a:t>
            </a:r>
            <a:r>
              <a:rPr lang="en-US" altLang="ja-JP" dirty="0" err="1">
                <a:ea typeface="MS UI Gothic" panose="020B0600070205080204" pitchFamily="50" charset="-128"/>
              </a:rPr>
              <a:t>chô</a:t>
            </a:r>
            <a:r>
              <a:rPr lang="en-US" altLang="ja-JP" dirty="0">
                <a:ea typeface="MS UI Gothic" panose="020B0600070205080204" pitchFamily="50" charset="-128"/>
              </a:rPr>
              <a:t>̃ mà data </a:t>
            </a:r>
            <a:r>
              <a:rPr lang="en-US" altLang="ja-JP" dirty="0" err="1">
                <a:ea typeface="MS UI Gothic" panose="020B0600070205080204" pitchFamily="50" charset="-128"/>
              </a:rPr>
              <a:t>của</a:t>
            </a:r>
            <a:r>
              <a:rPr lang="en-US" altLang="ja-JP" dirty="0">
                <a:ea typeface="MS UI Gothic" panose="020B0600070205080204" pitchFamily="50" charset="-128"/>
              </a:rPr>
              <a:t> </a:t>
            </a:r>
            <a:r>
              <a:rPr lang="en-US" altLang="ja-JP" dirty="0" err="1">
                <a:ea typeface="MS UI Gothic" panose="020B0600070205080204" pitchFamily="50" charset="-128"/>
              </a:rPr>
              <a:t>kiểu</a:t>
            </a:r>
            <a:r>
              <a:rPr lang="en-US" altLang="ja-JP" dirty="0">
                <a:ea typeface="MS UI Gothic" panose="020B0600070205080204" pitchFamily="50" charset="-128"/>
              </a:rPr>
              <a:t> </a:t>
            </a:r>
            <a:r>
              <a:rPr lang="en-US" altLang="ja-JP" dirty="0" err="1">
                <a:ea typeface="MS UI Gothic" panose="020B0600070205080204" pitchFamily="50" charset="-128"/>
              </a:rPr>
              <a:t>tham</a:t>
            </a:r>
            <a:r>
              <a:rPr lang="en-US" altLang="ja-JP" dirty="0">
                <a:ea typeface="MS UI Gothic" panose="020B0600070205080204" pitchFamily="50" charset="-128"/>
              </a:rPr>
              <a:t> </a:t>
            </a:r>
            <a:r>
              <a:rPr lang="en-US" altLang="ja-JP" dirty="0" err="1">
                <a:ea typeface="MS UI Gothic" panose="020B0600070205080204" pitchFamily="50" charset="-128"/>
              </a:rPr>
              <a:t>chiếu</a:t>
            </a:r>
            <a:r>
              <a:rPr lang="en-US" altLang="ja-JP" dirty="0">
                <a:ea typeface="MS UI Gothic" panose="020B0600070205080204" pitchFamily="50" charset="-128"/>
              </a:rPr>
              <a:t>(object) </a:t>
            </a:r>
            <a:r>
              <a:rPr lang="en-US" altLang="ja-JP" dirty="0" err="1">
                <a:ea typeface="MS UI Gothic" panose="020B0600070205080204" pitchFamily="50" charset="-128"/>
              </a:rPr>
              <a:t>đa</a:t>
            </a:r>
            <a:r>
              <a:rPr lang="en-US" altLang="ja-JP" dirty="0">
                <a:ea typeface="MS UI Gothic" panose="020B0600070205080204" pitchFamily="50" charset="-128"/>
              </a:rPr>
              <a:t>̃ </a:t>
            </a:r>
            <a:r>
              <a:rPr lang="en-US" altLang="ja-JP" dirty="0" err="1">
                <a:ea typeface="MS UI Gothic" panose="020B0600070205080204" pitchFamily="50" charset="-128"/>
              </a:rPr>
              <a:t>được</a:t>
            </a:r>
            <a:r>
              <a:rPr lang="en-US" altLang="ja-JP" dirty="0">
                <a:ea typeface="MS UI Gothic" panose="020B0600070205080204" pitchFamily="50" charset="-128"/>
              </a:rPr>
              <a:t> </a:t>
            </a:r>
            <a:r>
              <a:rPr lang="en-US" altLang="ja-JP" dirty="0" err="1">
                <a:ea typeface="MS UI Gothic" panose="020B0600070205080204" pitchFamily="50" charset="-128"/>
              </a:rPr>
              <a:t>lưu</a:t>
            </a:r>
            <a:r>
              <a:rPr lang="en-US" altLang="ja-JP" dirty="0">
                <a:ea typeface="MS UI Gothic" panose="020B0600070205080204" pitchFamily="50" charset="-128"/>
              </a:rPr>
              <a:t>. </a:t>
            </a:r>
          </a:p>
          <a:p>
            <a:endParaRPr kumimoji="1" lang="ja-JP" altLang="en-US" dirty="0"/>
          </a:p>
        </p:txBody>
      </p:sp>
      <p:sp>
        <p:nvSpPr>
          <p:cNvPr id="4" name="Slide Number Placeholder 3">
            <a:extLst>
              <a:ext uri="{FF2B5EF4-FFF2-40B4-BE49-F238E27FC236}">
                <a16:creationId xmlns:a16="http://schemas.microsoft.com/office/drawing/2014/main" id="{05CF412E-65B8-9F57-0D9F-1FC11CCF9CC1}"/>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24</a:t>
            </a:fld>
            <a:endParaRPr lang="en-US" altLang="ja-JP"/>
          </a:p>
        </p:txBody>
      </p:sp>
      <p:grpSp>
        <p:nvGrpSpPr>
          <p:cNvPr id="37" name="Group 36">
            <a:extLst>
              <a:ext uri="{FF2B5EF4-FFF2-40B4-BE49-F238E27FC236}">
                <a16:creationId xmlns:a16="http://schemas.microsoft.com/office/drawing/2014/main" id="{37BFBA9F-35C4-63BB-59B3-7B736EFAF403}"/>
              </a:ext>
            </a:extLst>
          </p:cNvPr>
          <p:cNvGrpSpPr/>
          <p:nvPr/>
        </p:nvGrpSpPr>
        <p:grpSpPr>
          <a:xfrm>
            <a:off x="2049463" y="2788243"/>
            <a:ext cx="7246936" cy="2850557"/>
            <a:chOff x="865188" y="4156668"/>
            <a:chExt cx="5457653" cy="2850557"/>
          </a:xfrm>
        </p:grpSpPr>
        <p:sp>
          <p:nvSpPr>
            <p:cNvPr id="6" name="Text Box 90">
              <a:extLst>
                <a:ext uri="{FF2B5EF4-FFF2-40B4-BE49-F238E27FC236}">
                  <a16:creationId xmlns:a16="http://schemas.microsoft.com/office/drawing/2014/main" id="{86EA60FD-A753-2FC5-CEA7-EC5BA82D1A06}"/>
                </a:ext>
              </a:extLst>
            </p:cNvPr>
            <p:cNvSpPr txBox="1">
              <a:spLocks noChangeArrowheads="1"/>
            </p:cNvSpPr>
            <p:nvPr/>
          </p:nvSpPr>
          <p:spPr bwMode="auto">
            <a:xfrm>
              <a:off x="2495551" y="4156668"/>
              <a:ext cx="1685925" cy="3385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3" tIns="45712" rIns="91423" bIns="45712">
              <a:spAutoFit/>
            </a:bodyPr>
            <a:lstStyle/>
            <a:p>
              <a:pPr>
                <a:spcBef>
                  <a:spcPct val="50000"/>
                </a:spcBef>
              </a:pPr>
              <a:r>
                <a:rPr lang="en-US" altLang="ja-JP" b="0" dirty="0">
                  <a:latin typeface="+mj-lt"/>
                </a:rPr>
                <a:t>Image </a:t>
              </a:r>
              <a:r>
                <a:rPr lang="en-US" altLang="ja-JP" b="0" dirty="0" err="1">
                  <a:latin typeface="+mj-lt"/>
                </a:rPr>
                <a:t>của</a:t>
              </a:r>
              <a:r>
                <a:rPr lang="en-US" altLang="ja-JP" b="0" dirty="0">
                  <a:latin typeface="+mj-lt"/>
                </a:rPr>
                <a:t> memory</a:t>
              </a:r>
            </a:p>
          </p:txBody>
        </p:sp>
        <p:sp>
          <p:nvSpPr>
            <p:cNvPr id="8" name="AutoShape 91">
              <a:extLst>
                <a:ext uri="{FF2B5EF4-FFF2-40B4-BE49-F238E27FC236}">
                  <a16:creationId xmlns:a16="http://schemas.microsoft.com/office/drawing/2014/main" id="{FEFDD839-9860-B629-DF18-F073D3C0A39E}"/>
                </a:ext>
              </a:extLst>
            </p:cNvPr>
            <p:cNvSpPr>
              <a:spLocks noChangeArrowheads="1"/>
            </p:cNvSpPr>
            <p:nvPr/>
          </p:nvSpPr>
          <p:spPr bwMode="auto">
            <a:xfrm>
              <a:off x="877888" y="5094288"/>
              <a:ext cx="1054100" cy="858837"/>
            </a:xfrm>
            <a:prstGeom prst="foldedCorner">
              <a:avLst>
                <a:gd name="adj" fmla="val 12500"/>
              </a:avLst>
            </a:prstGeom>
            <a:solidFill>
              <a:srgbClr val="FFFFCC"/>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dirty="0">
                  <a:latin typeface="ＭＳ ゴシック" panose="020B0609070205080204" pitchFamily="49" charset="-128"/>
                  <a:ea typeface="ＭＳ ゴシック" panose="020B0609070205080204" pitchFamily="49" charset="-128"/>
                </a:rPr>
                <a:t>String str1 =</a:t>
              </a:r>
              <a:br>
                <a:rPr lang="en-US" altLang="ja-JP" b="0" dirty="0">
                  <a:latin typeface="ＭＳ ゴシック" panose="020B0609070205080204" pitchFamily="49" charset="-128"/>
                  <a:ea typeface="ＭＳ ゴシック" panose="020B0609070205080204" pitchFamily="49" charset="-128"/>
                </a:rPr>
              </a:br>
              <a:r>
                <a:rPr lang="en-US" altLang="ja-JP" b="0" dirty="0">
                  <a:latin typeface="ＭＳ ゴシック" panose="020B0609070205080204" pitchFamily="49" charset="-128"/>
                  <a:ea typeface="ＭＳ ゴシック" panose="020B0609070205080204" pitchFamily="49" charset="-128"/>
                </a:rPr>
                <a:t>"Hello";</a:t>
              </a:r>
            </a:p>
          </p:txBody>
        </p:sp>
        <p:sp>
          <p:nvSpPr>
            <p:cNvPr id="10" name="Rectangle 93">
              <a:extLst>
                <a:ext uri="{FF2B5EF4-FFF2-40B4-BE49-F238E27FC236}">
                  <a16:creationId xmlns:a16="http://schemas.microsoft.com/office/drawing/2014/main" id="{5E6B22E8-5B8B-FB89-C9A9-C9A4443DA7C6}"/>
                </a:ext>
              </a:extLst>
            </p:cNvPr>
            <p:cNvSpPr>
              <a:spLocks noChangeArrowheads="1"/>
            </p:cNvSpPr>
            <p:nvPr/>
          </p:nvSpPr>
          <p:spPr bwMode="auto">
            <a:xfrm>
              <a:off x="2588947" y="5290392"/>
              <a:ext cx="2232025"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r>
                <a:rPr lang="en-US" altLang="ja-JP" b="0" dirty="0">
                  <a:latin typeface="ＭＳ ゴシック" panose="020B0609070205080204" pitchFamily="49" charset="-128"/>
                  <a:ea typeface="ＭＳ ゴシック" panose="020B0609070205080204" pitchFamily="49" charset="-128"/>
                </a:rPr>
                <a:t>str1</a:t>
              </a:r>
              <a:r>
                <a:rPr lang="ja-JP" altLang="en-US"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xxxx</a:t>
              </a:r>
              <a:r>
                <a:rPr lang="ja-JP" altLang="en-US" b="0" dirty="0">
                  <a:latin typeface="ＭＳ ゴシック" panose="020B0609070205080204" pitchFamily="49" charset="-128"/>
                  <a:ea typeface="ＭＳ ゴシック" panose="020B0609070205080204" pitchFamily="49" charset="-128"/>
                </a:rPr>
                <a:t>　　　　</a:t>
              </a:r>
            </a:p>
          </p:txBody>
        </p:sp>
        <p:sp>
          <p:nvSpPr>
            <p:cNvPr id="12" name="Text Box 94">
              <a:extLst>
                <a:ext uri="{FF2B5EF4-FFF2-40B4-BE49-F238E27FC236}">
                  <a16:creationId xmlns:a16="http://schemas.microsoft.com/office/drawing/2014/main" id="{55A7C137-9542-7B07-DF26-D08F80AEC542}"/>
                </a:ext>
              </a:extLst>
            </p:cNvPr>
            <p:cNvSpPr txBox="1">
              <a:spLocks noChangeArrowheads="1"/>
            </p:cNvSpPr>
            <p:nvPr/>
          </p:nvSpPr>
          <p:spPr bwMode="auto">
            <a:xfrm>
              <a:off x="3055938" y="5265738"/>
              <a:ext cx="704850" cy="254000"/>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3" tIns="45712" rIns="91423" bIns="45712">
              <a:spAutoFit/>
            </a:bodyPr>
            <a:lstStyle/>
            <a:p>
              <a:pPr algn="ctr">
                <a:spcBef>
                  <a:spcPct val="50000"/>
                </a:spcBef>
              </a:pPr>
              <a:r>
                <a:rPr lang="en-US" altLang="ja-JP" b="0">
                  <a:latin typeface="ＭＳ ゴシック" panose="020B0609070205080204" pitchFamily="49" charset="-128"/>
                  <a:ea typeface="ＭＳ ゴシック" panose="020B0609070205080204" pitchFamily="49" charset="-128"/>
                </a:rPr>
                <a:t>xxxx</a:t>
              </a:r>
            </a:p>
          </p:txBody>
        </p:sp>
        <p:sp>
          <p:nvSpPr>
            <p:cNvPr id="14" name="AutoShape 95">
              <a:extLst>
                <a:ext uri="{FF2B5EF4-FFF2-40B4-BE49-F238E27FC236}">
                  <a16:creationId xmlns:a16="http://schemas.microsoft.com/office/drawing/2014/main" id="{ADBAB2CB-DE2F-327F-C4F2-9314714D7649}"/>
                </a:ext>
              </a:extLst>
            </p:cNvPr>
            <p:cNvSpPr>
              <a:spLocks noChangeArrowheads="1"/>
            </p:cNvSpPr>
            <p:nvPr/>
          </p:nvSpPr>
          <p:spPr bwMode="auto">
            <a:xfrm>
              <a:off x="2055813" y="5132388"/>
              <a:ext cx="342900" cy="495300"/>
            </a:xfrm>
            <a:prstGeom prst="rightArrow">
              <a:avLst>
                <a:gd name="adj1" fmla="val 50000"/>
                <a:gd name="adj2" fmla="val 25000"/>
              </a:avLst>
            </a:prstGeom>
            <a:solidFill>
              <a:srgbClr val="0000FF">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6" name="Cloud">
              <a:extLst>
                <a:ext uri="{FF2B5EF4-FFF2-40B4-BE49-F238E27FC236}">
                  <a16:creationId xmlns:a16="http://schemas.microsoft.com/office/drawing/2014/main" id="{BC07615B-431E-D3CC-498B-2057710E8BAD}"/>
                </a:ext>
              </a:extLst>
            </p:cNvPr>
            <p:cNvSpPr>
              <a:spLocks noChangeAspect="1" noEditPoints="1" noChangeArrowheads="1"/>
            </p:cNvSpPr>
            <p:nvPr/>
          </p:nvSpPr>
          <p:spPr bwMode="auto">
            <a:xfrm>
              <a:off x="4849813" y="5208588"/>
              <a:ext cx="1128712" cy="812800"/>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a:lstStyle/>
            <a:p>
              <a:endParaRPr lang="ja-JP" altLang="en-US"/>
            </a:p>
          </p:txBody>
        </p:sp>
        <p:sp>
          <p:nvSpPr>
            <p:cNvPr id="18" name="AutoShape 98">
              <a:extLst>
                <a:ext uri="{FF2B5EF4-FFF2-40B4-BE49-F238E27FC236}">
                  <a16:creationId xmlns:a16="http://schemas.microsoft.com/office/drawing/2014/main" id="{4DDA2A4B-BCDF-B5AA-E49F-35B2F5B733BB}"/>
                </a:ext>
              </a:extLst>
            </p:cNvPr>
            <p:cNvSpPr>
              <a:spLocks noChangeArrowheads="1"/>
            </p:cNvSpPr>
            <p:nvPr/>
          </p:nvSpPr>
          <p:spPr bwMode="auto">
            <a:xfrm rot="21596852" flipV="1">
              <a:off x="3836988" y="5302250"/>
              <a:ext cx="588962" cy="146050"/>
            </a:xfrm>
            <a:prstGeom prst="rightArrow">
              <a:avLst>
                <a:gd name="adj1" fmla="val 59509"/>
                <a:gd name="adj2" fmla="val 62281"/>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0" name="Rectangle 99">
              <a:extLst>
                <a:ext uri="{FF2B5EF4-FFF2-40B4-BE49-F238E27FC236}">
                  <a16:creationId xmlns:a16="http://schemas.microsoft.com/office/drawing/2014/main" id="{EC006327-D031-EA49-FFC5-B3FDD1956E30}"/>
                </a:ext>
              </a:extLst>
            </p:cNvPr>
            <p:cNvSpPr>
              <a:spLocks noChangeArrowheads="1"/>
            </p:cNvSpPr>
            <p:nvPr/>
          </p:nvSpPr>
          <p:spPr bwMode="auto">
            <a:xfrm>
              <a:off x="4949825" y="5538788"/>
              <a:ext cx="927100"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a:latin typeface="ＭＳ ゴシック" panose="020B0609070205080204" pitchFamily="49" charset="-128"/>
                  <a:ea typeface="ＭＳ ゴシック" panose="020B0609070205080204" pitchFamily="49" charset="-128"/>
                </a:rPr>
                <a:t>"Hello"</a:t>
              </a:r>
            </a:p>
          </p:txBody>
        </p:sp>
        <p:sp>
          <p:nvSpPr>
            <p:cNvPr id="22" name="AutoShape 100">
              <a:extLst>
                <a:ext uri="{FF2B5EF4-FFF2-40B4-BE49-F238E27FC236}">
                  <a16:creationId xmlns:a16="http://schemas.microsoft.com/office/drawing/2014/main" id="{4ED93C70-8B71-A61F-2BF3-0BB3D3832AEF}"/>
                </a:ext>
              </a:extLst>
            </p:cNvPr>
            <p:cNvSpPr>
              <a:spLocks noChangeArrowheads="1"/>
            </p:cNvSpPr>
            <p:nvPr/>
          </p:nvSpPr>
          <p:spPr bwMode="auto">
            <a:xfrm>
              <a:off x="865188" y="6083300"/>
              <a:ext cx="1025525" cy="855662"/>
            </a:xfrm>
            <a:prstGeom prst="foldedCorner">
              <a:avLst>
                <a:gd name="adj" fmla="val 12500"/>
              </a:avLst>
            </a:prstGeom>
            <a:solidFill>
              <a:srgbClr val="FFFFCC"/>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latin typeface="ＭＳ ゴシック" panose="020B0609070205080204" pitchFamily="49" charset="-128"/>
                  <a:ea typeface="ＭＳ ゴシック" panose="020B0609070205080204" pitchFamily="49" charset="-128"/>
                </a:rPr>
                <a:t>Object obj1 =</a:t>
              </a:r>
            </a:p>
            <a:p>
              <a:r>
                <a:rPr lang="en-US" altLang="ja-JP" b="0">
                  <a:latin typeface="ＭＳ ゴシック" panose="020B0609070205080204" pitchFamily="49" charset="-128"/>
                  <a:ea typeface="ＭＳ ゴシック" panose="020B0609070205080204" pitchFamily="49" charset="-128"/>
                </a:rPr>
                <a:t>new Object();</a:t>
              </a:r>
            </a:p>
          </p:txBody>
        </p:sp>
        <p:sp>
          <p:nvSpPr>
            <p:cNvPr id="24" name="Rectangle 101">
              <a:extLst>
                <a:ext uri="{FF2B5EF4-FFF2-40B4-BE49-F238E27FC236}">
                  <a16:creationId xmlns:a16="http://schemas.microsoft.com/office/drawing/2014/main" id="{6622175D-1CB2-B888-38AC-B6CC747E02B3}"/>
                </a:ext>
              </a:extLst>
            </p:cNvPr>
            <p:cNvSpPr>
              <a:spLocks noChangeArrowheads="1"/>
            </p:cNvSpPr>
            <p:nvPr/>
          </p:nvSpPr>
          <p:spPr bwMode="auto">
            <a:xfrm>
              <a:off x="2495551" y="6275388"/>
              <a:ext cx="26193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ja-JP" b="0" dirty="0">
                  <a:latin typeface="ＭＳ ゴシック" panose="020B0609070205080204" pitchFamily="49" charset="-128"/>
                  <a:ea typeface="ＭＳ ゴシック" panose="020B0609070205080204" pitchFamily="49" charset="-128"/>
                </a:rPr>
                <a:t>obj1</a:t>
              </a:r>
              <a:r>
                <a:rPr lang="ja-JP" altLang="en-US"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yyyy</a:t>
              </a:r>
              <a:r>
                <a:rPr lang="ja-JP" altLang="en-US" b="0" dirty="0">
                  <a:latin typeface="ＭＳ ゴシック" panose="020B0609070205080204" pitchFamily="49" charset="-128"/>
                  <a:ea typeface="ＭＳ ゴシック" panose="020B0609070205080204" pitchFamily="49" charset="-128"/>
                </a:rPr>
                <a:t>　　　　</a:t>
              </a:r>
            </a:p>
          </p:txBody>
        </p:sp>
        <p:sp>
          <p:nvSpPr>
            <p:cNvPr id="26" name="Text Box 102">
              <a:extLst>
                <a:ext uri="{FF2B5EF4-FFF2-40B4-BE49-F238E27FC236}">
                  <a16:creationId xmlns:a16="http://schemas.microsoft.com/office/drawing/2014/main" id="{4ACAFB65-7F51-B541-771F-2A302FE6F225}"/>
                </a:ext>
              </a:extLst>
            </p:cNvPr>
            <p:cNvSpPr txBox="1">
              <a:spLocks noChangeArrowheads="1"/>
            </p:cNvSpPr>
            <p:nvPr/>
          </p:nvSpPr>
          <p:spPr bwMode="auto">
            <a:xfrm>
              <a:off x="3052763" y="6251575"/>
              <a:ext cx="704850" cy="254000"/>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3" tIns="45712" rIns="91423" bIns="45712">
              <a:spAutoFit/>
            </a:bodyPr>
            <a:lstStyle/>
            <a:p>
              <a:pPr algn="ctr">
                <a:spcBef>
                  <a:spcPct val="50000"/>
                </a:spcBef>
              </a:pPr>
              <a:r>
                <a:rPr lang="en-US" altLang="ja-JP" b="0">
                  <a:latin typeface="ＭＳ ゴシック" panose="020B0609070205080204" pitchFamily="49" charset="-128"/>
                  <a:ea typeface="ＭＳ ゴシック" panose="020B0609070205080204" pitchFamily="49" charset="-128"/>
                </a:rPr>
                <a:t>yyyy</a:t>
              </a:r>
            </a:p>
          </p:txBody>
        </p:sp>
        <p:sp>
          <p:nvSpPr>
            <p:cNvPr id="28" name="AutoShape 103">
              <a:extLst>
                <a:ext uri="{FF2B5EF4-FFF2-40B4-BE49-F238E27FC236}">
                  <a16:creationId xmlns:a16="http://schemas.microsoft.com/office/drawing/2014/main" id="{42B250D1-A66F-6599-F3D4-701AEDD4F5BF}"/>
                </a:ext>
              </a:extLst>
            </p:cNvPr>
            <p:cNvSpPr>
              <a:spLocks noChangeArrowheads="1"/>
            </p:cNvSpPr>
            <p:nvPr/>
          </p:nvSpPr>
          <p:spPr bwMode="auto">
            <a:xfrm>
              <a:off x="2052638" y="6118225"/>
              <a:ext cx="342900" cy="495300"/>
            </a:xfrm>
            <a:prstGeom prst="rightArrow">
              <a:avLst>
                <a:gd name="adj1" fmla="val 50000"/>
                <a:gd name="adj2" fmla="val 25000"/>
              </a:avLst>
            </a:prstGeom>
            <a:solidFill>
              <a:srgbClr val="0000FF">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0" name="Cloud">
              <a:extLst>
                <a:ext uri="{FF2B5EF4-FFF2-40B4-BE49-F238E27FC236}">
                  <a16:creationId xmlns:a16="http://schemas.microsoft.com/office/drawing/2014/main" id="{11F978FC-69F1-F337-D061-8D732801E1B2}"/>
                </a:ext>
              </a:extLst>
            </p:cNvPr>
            <p:cNvSpPr>
              <a:spLocks noChangeAspect="1" noEditPoints="1" noChangeArrowheads="1"/>
            </p:cNvSpPr>
            <p:nvPr/>
          </p:nvSpPr>
          <p:spPr bwMode="auto">
            <a:xfrm>
              <a:off x="4846638" y="6194425"/>
              <a:ext cx="1128712" cy="812800"/>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a:lstStyle/>
            <a:p>
              <a:endParaRPr lang="ja-JP" altLang="en-US"/>
            </a:p>
          </p:txBody>
        </p:sp>
        <p:sp>
          <p:nvSpPr>
            <p:cNvPr id="32" name="AutoShape 106">
              <a:extLst>
                <a:ext uri="{FF2B5EF4-FFF2-40B4-BE49-F238E27FC236}">
                  <a16:creationId xmlns:a16="http://schemas.microsoft.com/office/drawing/2014/main" id="{355312BB-586F-30CB-4717-B01DEB38A5B8}"/>
                </a:ext>
              </a:extLst>
            </p:cNvPr>
            <p:cNvSpPr>
              <a:spLocks noChangeArrowheads="1"/>
            </p:cNvSpPr>
            <p:nvPr/>
          </p:nvSpPr>
          <p:spPr bwMode="auto">
            <a:xfrm rot="21596852" flipV="1">
              <a:off x="3833813" y="6289675"/>
              <a:ext cx="588962" cy="144462"/>
            </a:xfrm>
            <a:prstGeom prst="rightArrow">
              <a:avLst>
                <a:gd name="adj1" fmla="val 59509"/>
                <a:gd name="adj2" fmla="val 62966"/>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4" name="Rectangle 107">
              <a:extLst>
                <a:ext uri="{FF2B5EF4-FFF2-40B4-BE49-F238E27FC236}">
                  <a16:creationId xmlns:a16="http://schemas.microsoft.com/office/drawing/2014/main" id="{70F43D19-1849-A823-9071-C7534DCA661B}"/>
                </a:ext>
              </a:extLst>
            </p:cNvPr>
            <p:cNvSpPr>
              <a:spLocks noChangeArrowheads="1"/>
            </p:cNvSpPr>
            <p:nvPr/>
          </p:nvSpPr>
          <p:spPr bwMode="auto">
            <a:xfrm>
              <a:off x="4946650" y="6527800"/>
              <a:ext cx="927100" cy="152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ja-JP"/>
                <a:t>Object</a:t>
              </a:r>
            </a:p>
          </p:txBody>
        </p:sp>
        <p:sp>
          <p:nvSpPr>
            <p:cNvPr id="36" name="AutoShape 108">
              <a:extLst>
                <a:ext uri="{FF2B5EF4-FFF2-40B4-BE49-F238E27FC236}">
                  <a16:creationId xmlns:a16="http://schemas.microsoft.com/office/drawing/2014/main" id="{2383726C-D944-6289-31C3-54620237B6F3}"/>
                </a:ext>
              </a:extLst>
            </p:cNvPr>
            <p:cNvSpPr>
              <a:spLocks noChangeArrowheads="1"/>
            </p:cNvSpPr>
            <p:nvPr/>
          </p:nvSpPr>
          <p:spPr bwMode="auto">
            <a:xfrm>
              <a:off x="3160631" y="4518025"/>
              <a:ext cx="3162210" cy="498475"/>
            </a:xfrm>
            <a:prstGeom prst="wedgeRoundRectCallout">
              <a:avLst>
                <a:gd name="adj1" fmla="val -32718"/>
                <a:gd name="adj2" fmla="val 10891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1" tIns="19043" rIns="9521" bIns="9521"/>
            <a:lstStyle/>
            <a:p>
              <a:r>
                <a:rPr lang="en-US" altLang="ja-JP" b="0" dirty="0">
                  <a:latin typeface="+mj-lt"/>
                  <a:cs typeface="Times New Roman" panose="02020603050405020304" pitchFamily="18" charset="0"/>
                </a:rPr>
                <a:t>Sẽ </a:t>
              </a:r>
              <a:r>
                <a:rPr lang="en-US" altLang="ja-JP" b="0" dirty="0" err="1">
                  <a:latin typeface="+mj-lt"/>
                  <a:cs typeface="Times New Roman" panose="02020603050405020304" pitchFamily="18" charset="0"/>
                </a:rPr>
                <a:t>lưu</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gia</a:t>
              </a:r>
              <a:r>
                <a:rPr lang="en-US" altLang="ja-JP" b="0" dirty="0">
                  <a:latin typeface="+mj-lt"/>
                  <a:cs typeface="Times New Roman" panose="02020603050405020304" pitchFamily="18" charset="0"/>
                </a:rPr>
                <a:t>́ trị (</a:t>
              </a:r>
              <a:r>
                <a:rPr lang="en-US" altLang="ja-JP" b="0" dirty="0" err="1">
                  <a:latin typeface="+mj-lt"/>
                  <a:cs typeface="Times New Roman" panose="02020603050405020304" pitchFamily="18" charset="0"/>
                </a:rPr>
                <a:t>tham</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chiếu</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biểu</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thi</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chô</a:t>
              </a:r>
              <a:r>
                <a:rPr lang="en-US" altLang="ja-JP" b="0" dirty="0">
                  <a:latin typeface="+mj-lt"/>
                  <a:cs typeface="Times New Roman" panose="02020603050405020304" pitchFamily="18" charset="0"/>
                </a:rPr>
                <a:t>̃ mà object </a:t>
              </a:r>
              <a:r>
                <a:rPr lang="en-US" altLang="ja-JP" b="0" dirty="0" err="1">
                  <a:latin typeface="+mj-lt"/>
                  <a:cs typeface="Times New Roman" panose="02020603050405020304" pitchFamily="18" charset="0"/>
                </a:rPr>
                <a:t>đa</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được</a:t>
              </a:r>
              <a:r>
                <a:rPr lang="en-US" altLang="ja-JP" b="0" dirty="0">
                  <a:latin typeface="+mj-lt"/>
                  <a:cs typeface="Times New Roman" panose="02020603050405020304" pitchFamily="18" charset="0"/>
                </a:rPr>
                <a:t> </a:t>
              </a:r>
              <a:r>
                <a:rPr lang="en-US" altLang="ja-JP" b="0" dirty="0" err="1">
                  <a:latin typeface="+mj-lt"/>
                  <a:cs typeface="Times New Roman" panose="02020603050405020304" pitchFamily="18" charset="0"/>
                </a:rPr>
                <a:t>lưu</a:t>
              </a:r>
              <a:r>
                <a:rPr lang="en-US" altLang="ja-JP" b="0" dirty="0">
                  <a:latin typeface="+mj-lt"/>
                  <a:cs typeface="Times New Roman" panose="02020603050405020304" pitchFamily="18" charset="0"/>
                </a:rPr>
                <a:t>.</a:t>
              </a:r>
            </a:p>
          </p:txBody>
        </p:sp>
      </p:grpSp>
      <p:sp>
        <p:nvSpPr>
          <p:cNvPr id="39" name="Text Box 92">
            <a:extLst>
              <a:ext uri="{FF2B5EF4-FFF2-40B4-BE49-F238E27FC236}">
                <a16:creationId xmlns:a16="http://schemas.microsoft.com/office/drawing/2014/main" id="{BB32C9DE-E23D-D9C1-F096-2D9EBA751CA1}"/>
              </a:ext>
            </a:extLst>
          </p:cNvPr>
          <p:cNvSpPr txBox="1">
            <a:spLocks noChangeArrowheads="1"/>
          </p:cNvSpPr>
          <p:nvPr/>
        </p:nvSpPr>
        <p:spPr bwMode="auto">
          <a:xfrm>
            <a:off x="1606497" y="3205337"/>
            <a:ext cx="2403073" cy="338538"/>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3" tIns="45712" rIns="91423" bIns="45712">
            <a:spAutoFit/>
          </a:bodyPr>
          <a:lstStyle/>
          <a:p>
            <a:pPr algn="ctr">
              <a:spcBef>
                <a:spcPct val="50000"/>
              </a:spcBef>
            </a:pPr>
            <a:r>
              <a:rPr lang="en-US" altLang="ja-JP" b="0" dirty="0">
                <a:latin typeface="+mj-lt"/>
              </a:rPr>
              <a:t>Ví dụ program</a:t>
            </a:r>
          </a:p>
        </p:txBody>
      </p:sp>
    </p:spTree>
    <p:extLst>
      <p:ext uri="{BB962C8B-B14F-4D97-AF65-F5344CB8AC3E}">
        <p14:creationId xmlns:p14="http://schemas.microsoft.com/office/powerpoint/2010/main" val="35543061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DDF4C2-2DFA-0888-4C82-E0A083C1B3D8}"/>
              </a:ext>
            </a:extLst>
          </p:cNvPr>
          <p:cNvSpPr>
            <a:spLocks noGrp="1"/>
          </p:cNvSpPr>
          <p:nvPr>
            <p:ph type="title"/>
          </p:nvPr>
        </p:nvSpPr>
        <p:spPr/>
        <p:txBody>
          <a:bodyPr>
            <a:normAutofit fontScale="90000"/>
          </a:bodyPr>
          <a:lstStyle/>
          <a:p>
            <a:r>
              <a:rPr lang="en-US" altLang="ja-JP" dirty="0" err="1">
                <a:latin typeface="Arial" panose="020B0604020202020204" pitchFamily="34" charset="0"/>
              </a:rPr>
              <a:t>Cấu</a:t>
            </a:r>
            <a:r>
              <a:rPr lang="en-US" altLang="ja-JP" dirty="0">
                <a:latin typeface="Arial" panose="020B0604020202020204" pitchFamily="34" charset="0"/>
              </a:rPr>
              <a:t> </a:t>
            </a:r>
            <a:r>
              <a:rPr lang="en-US" altLang="ja-JP" dirty="0" err="1">
                <a:latin typeface="Arial" panose="020B0604020202020204" pitchFamily="34" charset="0"/>
              </a:rPr>
              <a:t>tạo</a:t>
            </a:r>
            <a:r>
              <a:rPr lang="en-US" altLang="ja-JP" dirty="0">
                <a:latin typeface="Arial" panose="020B0604020202020204" pitchFamily="34" charset="0"/>
              </a:rPr>
              <a:t> </a:t>
            </a:r>
            <a:r>
              <a:rPr lang="en-US" altLang="ja-JP" dirty="0" err="1">
                <a:latin typeface="Arial" panose="020B0604020202020204" pitchFamily="34" charset="0"/>
              </a:rPr>
              <a:t>cơ</a:t>
            </a:r>
            <a:r>
              <a:rPr lang="en-US" altLang="ja-JP" dirty="0">
                <a:latin typeface="Arial" panose="020B0604020202020204" pitchFamily="34" charset="0"/>
              </a:rPr>
              <a:t> </a:t>
            </a:r>
            <a:r>
              <a:rPr lang="en-US" altLang="ja-JP" dirty="0" err="1">
                <a:latin typeface="Arial" panose="020B0604020202020204" pitchFamily="34" charset="0"/>
              </a:rPr>
              <a:t>bản</a:t>
            </a:r>
            <a:r>
              <a:rPr lang="en-US" altLang="ja-JP" dirty="0">
                <a:latin typeface="Arial" panose="020B0604020202020204" pitchFamily="34" charset="0"/>
              </a:rPr>
              <a:t> </a:t>
            </a:r>
            <a:r>
              <a:rPr lang="en-US" altLang="ja-JP" dirty="0" err="1">
                <a:latin typeface="Arial" panose="020B0604020202020204" pitchFamily="34" charset="0"/>
              </a:rPr>
              <a:t>của</a:t>
            </a:r>
            <a:r>
              <a:rPr lang="en-US" altLang="ja-JP" dirty="0">
                <a:latin typeface="Arial" panose="020B0604020202020204" pitchFamily="34" charset="0"/>
              </a:rPr>
              <a:t> class</a:t>
            </a:r>
            <a:endParaRPr kumimoji="1" lang="ja-JP" altLang="en-US" dirty="0"/>
          </a:p>
        </p:txBody>
      </p:sp>
      <p:sp>
        <p:nvSpPr>
          <p:cNvPr id="4" name="Slide Number Placeholder 3">
            <a:extLst>
              <a:ext uri="{FF2B5EF4-FFF2-40B4-BE49-F238E27FC236}">
                <a16:creationId xmlns:a16="http://schemas.microsoft.com/office/drawing/2014/main" id="{E74CAF34-D6B1-DA96-8257-F7B7643785E8}"/>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25</a:t>
            </a:fld>
            <a:endParaRPr lang="en-US" altLang="ja-JP"/>
          </a:p>
        </p:txBody>
      </p:sp>
      <p:sp>
        <p:nvSpPr>
          <p:cNvPr id="5" name="Rectangle 2">
            <a:extLst>
              <a:ext uri="{FF2B5EF4-FFF2-40B4-BE49-F238E27FC236}">
                <a16:creationId xmlns:a16="http://schemas.microsoft.com/office/drawing/2014/main" id="{993E74DD-9463-A8FE-82E3-9354F6ECA3C2}"/>
              </a:ext>
            </a:extLst>
          </p:cNvPr>
          <p:cNvSpPr txBox="1">
            <a:spLocks noChangeArrowheads="1"/>
          </p:cNvSpPr>
          <p:nvPr/>
        </p:nvSpPr>
        <p:spPr bwMode="auto">
          <a:xfrm>
            <a:off x="304800" y="682625"/>
            <a:ext cx="9296400" cy="57707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lvl1pPr marL="342900" indent="-342900" algn="l" rtl="0" eaLnBrk="1" fontAlgn="base" hangingPunct="1">
              <a:spcBef>
                <a:spcPct val="20000"/>
              </a:spcBef>
              <a:spcAft>
                <a:spcPct val="0"/>
              </a:spcAft>
              <a:buChar char="•"/>
              <a:defRPr kumimoji="1" sz="3200">
                <a:solidFill>
                  <a:schemeClr val="tx1"/>
                </a:solidFill>
                <a:latin typeface="+mj-lt"/>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j-lt"/>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j-lt"/>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a:lstStyle>
          <a:p>
            <a:pPr marL="0" indent="0"/>
            <a:endParaRPr lang="en-US" altLang="ja-JP" sz="1800" b="0" kern="0" dirty="0">
              <a:latin typeface="Arial" panose="020B0604020202020204" pitchFamily="34" charset="0"/>
            </a:endParaRPr>
          </a:p>
          <a:p>
            <a:pPr marL="0" indent="0"/>
            <a:r>
              <a:rPr lang="ja-JP" altLang="en-US" sz="1800" b="0" kern="0" dirty="0">
                <a:latin typeface="Arial" panose="020B0604020202020204" pitchFamily="34" charset="0"/>
              </a:rPr>
              <a:t>　</a:t>
            </a:r>
            <a:r>
              <a:rPr lang="en-US" altLang="ja-JP" sz="1800" b="0" kern="0" dirty="0">
                <a:latin typeface="Arial" panose="020B0604020202020204" pitchFamily="34" charset="0"/>
              </a:rPr>
              <a:t>Trong class sẽ </a:t>
            </a:r>
            <a:r>
              <a:rPr lang="en-US" altLang="ja-JP" sz="1800" b="0" kern="0" dirty="0" err="1">
                <a:latin typeface="Arial" panose="020B0604020202020204" pitchFamily="34" charset="0"/>
              </a:rPr>
              <a:t>định</a:t>
            </a:r>
            <a:r>
              <a:rPr lang="en-US" altLang="ja-JP" sz="1800" b="0" kern="0" dirty="0">
                <a:latin typeface="Arial" panose="020B0604020202020204" pitchFamily="34" charset="0"/>
              </a:rPr>
              <a:t> </a:t>
            </a:r>
            <a:r>
              <a:rPr lang="en-US" altLang="ja-JP" sz="1800" b="0" kern="0" dirty="0" err="1">
                <a:latin typeface="Arial" panose="020B0604020202020204" pitchFamily="34" charset="0"/>
              </a:rPr>
              <a:t>nghĩa</a:t>
            </a:r>
            <a:r>
              <a:rPr lang="en-US" altLang="ja-JP" sz="1800" b="0" kern="0" dirty="0">
                <a:latin typeface="Arial" panose="020B0604020202020204" pitchFamily="34" charset="0"/>
              </a:rPr>
              <a:t> </a:t>
            </a:r>
            <a:r>
              <a:rPr lang="en-US" altLang="ja-JP" sz="1800" b="0" kern="0" dirty="0" err="1">
                <a:latin typeface="Arial" panose="020B0604020202020204" pitchFamily="34" charset="0"/>
              </a:rPr>
              <a:t>biến</a:t>
            </a:r>
            <a:r>
              <a:rPr lang="en-US" altLang="ja-JP" sz="1800" b="0" kern="0" dirty="0">
                <a:latin typeface="Arial" panose="020B0604020202020204" pitchFamily="34" charset="0"/>
              </a:rPr>
              <a:t> </a:t>
            </a:r>
            <a:r>
              <a:rPr lang="en-US" altLang="ja-JP" sz="1800" b="0" kern="0" dirty="0" err="1">
                <a:latin typeface="Arial" panose="020B0604020202020204" pitchFamily="34" charset="0"/>
              </a:rPr>
              <a:t>sô</a:t>
            </a:r>
            <a:r>
              <a:rPr lang="en-US" altLang="ja-JP" sz="1800" b="0" kern="0" dirty="0">
                <a:latin typeface="Arial" panose="020B0604020202020204" pitchFamily="34" charset="0"/>
              </a:rPr>
              <a:t>́̉ </a:t>
            </a:r>
            <a:r>
              <a:rPr lang="en-US" altLang="ja-JP" sz="1800" b="0" kern="0" dirty="0" err="1">
                <a:latin typeface="Arial" panose="020B0604020202020204" pitchFamily="34" charset="0"/>
              </a:rPr>
              <a:t>biểu</a:t>
            </a:r>
            <a:r>
              <a:rPr lang="en-US" altLang="ja-JP" sz="1800" b="0" kern="0" dirty="0">
                <a:latin typeface="Arial" panose="020B0604020202020204" pitchFamily="34" charset="0"/>
              </a:rPr>
              <a:t> </a:t>
            </a:r>
            <a:r>
              <a:rPr lang="en-US" altLang="ja-JP" sz="1800" b="0" kern="0" dirty="0" err="1">
                <a:latin typeface="Arial" panose="020B0604020202020204" pitchFamily="34" charset="0"/>
              </a:rPr>
              <a:t>thi</a:t>
            </a:r>
            <a:r>
              <a:rPr lang="en-US" altLang="ja-JP" sz="1800" b="0" kern="0" dirty="0">
                <a:latin typeface="Arial" panose="020B0604020202020204" pitchFamily="34" charset="0"/>
              </a:rPr>
              <a:t>̣ </a:t>
            </a:r>
            <a:r>
              <a:rPr lang="en-US" altLang="ja-JP" sz="1800" b="0" kern="0" dirty="0" err="1">
                <a:latin typeface="Arial" panose="020B0604020202020204" pitchFamily="34" charset="0"/>
              </a:rPr>
              <a:t>thuộc</a:t>
            </a:r>
            <a:r>
              <a:rPr lang="en-US" altLang="ja-JP" sz="1800" b="0" kern="0" dirty="0">
                <a:latin typeface="Arial" panose="020B0604020202020204" pitchFamily="34" charset="0"/>
              </a:rPr>
              <a:t> </a:t>
            </a:r>
            <a:r>
              <a:rPr lang="en-US" altLang="ja-JP" sz="1800" b="0" kern="0" dirty="0" err="1">
                <a:latin typeface="Arial" panose="020B0604020202020204" pitchFamily="34" charset="0"/>
              </a:rPr>
              <a:t>tính</a:t>
            </a:r>
            <a:r>
              <a:rPr lang="en-US" altLang="ja-JP" sz="1800" b="0" kern="0" dirty="0">
                <a:latin typeface="Arial" panose="020B0604020202020204" pitchFamily="34" charset="0"/>
              </a:rPr>
              <a:t> </a:t>
            </a:r>
            <a:r>
              <a:rPr lang="en-US" altLang="ja-JP" sz="1800" b="0" kern="0" dirty="0" err="1">
                <a:latin typeface="Arial" panose="020B0604020202020204" pitchFamily="34" charset="0"/>
              </a:rPr>
              <a:t>va</a:t>
            </a:r>
            <a:r>
              <a:rPr lang="en-US" altLang="ja-JP" sz="1800" b="0" kern="0" dirty="0">
                <a:latin typeface="Arial" panose="020B0604020202020204" pitchFamily="34" charset="0"/>
              </a:rPr>
              <a:t>̀ method </a:t>
            </a:r>
            <a:r>
              <a:rPr lang="en-US" altLang="ja-JP" sz="1800" b="0" kern="0" dirty="0" err="1">
                <a:latin typeface="Arial" panose="020B0604020202020204" pitchFamily="34" charset="0"/>
              </a:rPr>
              <a:t>đê</a:t>
            </a:r>
            <a:r>
              <a:rPr lang="en-US" altLang="ja-JP" sz="1800" b="0" kern="0" dirty="0">
                <a:latin typeface="Arial" panose="020B0604020202020204" pitchFamily="34" charset="0"/>
              </a:rPr>
              <a:t>̉ </a:t>
            </a:r>
            <a:r>
              <a:rPr lang="en-US" altLang="ja-JP" sz="1800" b="0" kern="0" dirty="0" err="1">
                <a:latin typeface="Arial" panose="020B0604020202020204" pitchFamily="34" charset="0"/>
              </a:rPr>
              <a:t>biểu</a:t>
            </a:r>
            <a:r>
              <a:rPr lang="en-US" altLang="ja-JP" sz="1800" b="0" kern="0" dirty="0">
                <a:latin typeface="Arial" panose="020B0604020202020204" pitchFamily="34" charset="0"/>
              </a:rPr>
              <a:t> </a:t>
            </a:r>
            <a:r>
              <a:rPr lang="en-US" altLang="ja-JP" sz="1800" b="0" kern="0" dirty="0" err="1">
                <a:latin typeface="Arial" panose="020B0604020202020204" pitchFamily="34" charset="0"/>
              </a:rPr>
              <a:t>thi</a:t>
            </a:r>
            <a:r>
              <a:rPr lang="en-US" altLang="ja-JP" sz="1800" b="0" kern="0" dirty="0">
                <a:latin typeface="Arial" panose="020B0604020202020204" pitchFamily="34" charset="0"/>
              </a:rPr>
              <a:t>̣ behavior.</a:t>
            </a:r>
          </a:p>
          <a:p>
            <a:pPr marL="0" indent="0"/>
            <a:r>
              <a:rPr lang="en-US" altLang="ja-JP" sz="1800" b="0" kern="0" dirty="0">
                <a:latin typeface="Arial" panose="020B0604020202020204" pitchFamily="34" charset="0"/>
              </a:rPr>
              <a:t> Cú </a:t>
            </a:r>
            <a:r>
              <a:rPr lang="en-US" altLang="ja-JP" sz="1800" b="0" kern="0" dirty="0" err="1">
                <a:latin typeface="Arial" panose="020B0604020202020204" pitchFamily="34" charset="0"/>
              </a:rPr>
              <a:t>pháp</a:t>
            </a:r>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buNone/>
            </a:pPr>
            <a:r>
              <a:rPr lang="ja-JP" altLang="en-US" sz="1800" b="0" kern="0" dirty="0">
                <a:latin typeface="Arial" panose="020B0604020202020204" pitchFamily="34" charset="0"/>
              </a:rPr>
              <a:t>　</a:t>
            </a:r>
            <a:r>
              <a:rPr lang="en-US" altLang="ja-JP" sz="1800" b="0" kern="0" dirty="0">
                <a:latin typeface="Arial" panose="020B0604020202020204" pitchFamily="34" charset="0"/>
              </a:rPr>
              <a:t>Ví dụ:</a:t>
            </a:r>
            <a:r>
              <a:rPr lang="ja-JP" altLang="en-US" sz="1800" b="0" kern="0" dirty="0">
                <a:latin typeface="Arial" panose="020B0604020202020204" pitchFamily="34" charset="0"/>
              </a:rPr>
              <a:t>　</a:t>
            </a:r>
            <a:r>
              <a:rPr lang="en-US" altLang="ja-JP" sz="1800" b="0" kern="0" dirty="0">
                <a:latin typeface="Arial" panose="020B0604020202020204" pitchFamily="34" charset="0"/>
              </a:rPr>
              <a:t>Trong ví dụ </a:t>
            </a:r>
            <a:r>
              <a:rPr lang="en-US" altLang="ja-JP" sz="1800" b="0" kern="0" dirty="0" err="1">
                <a:latin typeface="Arial" panose="020B0604020202020204" pitchFamily="34" charset="0"/>
              </a:rPr>
              <a:t>vê</a:t>
            </a:r>
            <a:r>
              <a:rPr lang="en-US" altLang="ja-JP" sz="1800" b="0" kern="0" dirty="0">
                <a:latin typeface="Arial" panose="020B0604020202020204" pitchFamily="34" charset="0"/>
              </a:rPr>
              <a:t>̀ HelloWorld class, </a:t>
            </a:r>
            <a:r>
              <a:rPr lang="en-US" altLang="ja-JP" sz="1800" b="0" kern="0" dirty="0" err="1">
                <a:latin typeface="Arial" panose="020B0604020202020204" pitchFamily="34" charset="0"/>
              </a:rPr>
              <a:t>không</a:t>
            </a:r>
            <a:r>
              <a:rPr lang="en-US" altLang="ja-JP" sz="1800" b="0" kern="0" dirty="0">
                <a:latin typeface="Arial" panose="020B0604020202020204" pitchFamily="34" charset="0"/>
              </a:rPr>
              <a:t> có </a:t>
            </a:r>
            <a:r>
              <a:rPr lang="en-US" altLang="ja-JP" sz="1800" b="0" kern="0" dirty="0" err="1">
                <a:latin typeface="Arial" panose="020B0604020202020204" pitchFamily="34" charset="0"/>
              </a:rPr>
              <a:t>định</a:t>
            </a:r>
            <a:r>
              <a:rPr lang="en-US" altLang="ja-JP" sz="1800" b="0" kern="0" dirty="0">
                <a:latin typeface="Arial" panose="020B0604020202020204" pitchFamily="34" charset="0"/>
              </a:rPr>
              <a:t> </a:t>
            </a:r>
            <a:r>
              <a:rPr lang="en-US" altLang="ja-JP" sz="1800" b="0" kern="0" dirty="0" err="1">
                <a:latin typeface="Arial" panose="020B0604020202020204" pitchFamily="34" charset="0"/>
              </a:rPr>
              <a:t>nghĩa</a:t>
            </a:r>
            <a:r>
              <a:rPr lang="en-US" altLang="ja-JP" sz="1800" b="0" kern="0" dirty="0">
                <a:latin typeface="Arial" panose="020B0604020202020204" pitchFamily="34" charset="0"/>
              </a:rPr>
              <a:t> </a:t>
            </a:r>
            <a:r>
              <a:rPr lang="en-US" altLang="ja-JP" sz="1800" b="0" kern="0" dirty="0" err="1">
                <a:latin typeface="Arial" panose="020B0604020202020204" pitchFamily="34" charset="0"/>
              </a:rPr>
              <a:t>biến</a:t>
            </a:r>
            <a:r>
              <a:rPr lang="en-US" altLang="ja-JP" sz="1800" b="0" kern="0" dirty="0">
                <a:latin typeface="Arial" panose="020B0604020202020204" pitchFamily="34" charset="0"/>
              </a:rPr>
              <a:t> </a:t>
            </a:r>
            <a:r>
              <a:rPr lang="en-US" altLang="ja-JP" sz="1800" b="0" kern="0" dirty="0" err="1">
                <a:latin typeface="Arial" panose="020B0604020202020204" pitchFamily="34" charset="0"/>
              </a:rPr>
              <a:t>sô</a:t>
            </a:r>
            <a:r>
              <a:rPr lang="en-US" altLang="ja-JP" sz="1800" b="0" kern="0" dirty="0">
                <a:latin typeface="Arial" panose="020B0604020202020204" pitchFamily="34" charset="0"/>
              </a:rPr>
              <a:t>́ mà chỉ </a:t>
            </a:r>
            <a:r>
              <a:rPr lang="en-US" altLang="ja-JP" sz="1800" b="0" kern="0" dirty="0" err="1">
                <a:latin typeface="Arial" panose="020B0604020202020204" pitchFamily="34" charset="0"/>
              </a:rPr>
              <a:t>định</a:t>
            </a:r>
            <a:r>
              <a:rPr lang="en-US" altLang="ja-JP" sz="1800" b="0" kern="0" dirty="0">
                <a:latin typeface="Arial" panose="020B0604020202020204" pitchFamily="34" charset="0"/>
              </a:rPr>
              <a:t> </a:t>
            </a:r>
            <a:r>
              <a:rPr lang="en-US" altLang="ja-JP" sz="1800" b="0" kern="0" dirty="0" err="1">
                <a:latin typeface="Arial" panose="020B0604020202020204" pitchFamily="34" charset="0"/>
              </a:rPr>
              <a:t>nghĩa</a:t>
            </a:r>
            <a:r>
              <a:rPr lang="en-US" altLang="ja-JP" sz="1800" b="0" kern="0" dirty="0">
                <a:latin typeface="Arial" panose="020B0604020202020204" pitchFamily="34" charset="0"/>
              </a:rPr>
              <a:t> 1 method có </a:t>
            </a:r>
            <a:r>
              <a:rPr lang="en-US" altLang="ja-JP" sz="1800" b="0" kern="0" dirty="0" err="1">
                <a:latin typeface="Arial" panose="020B0604020202020204" pitchFamily="34" charset="0"/>
              </a:rPr>
              <a:t>tên</a:t>
            </a:r>
            <a:r>
              <a:rPr lang="en-US" altLang="ja-JP" sz="1800" b="0" kern="0" dirty="0">
                <a:latin typeface="Arial" panose="020B0604020202020204" pitchFamily="34" charset="0"/>
              </a:rPr>
              <a:t> là </a:t>
            </a:r>
            <a:r>
              <a:rPr lang="en-US" altLang="ja-JP" sz="1800" b="0" kern="0" dirty="0">
                <a:latin typeface="Arial" panose="020B0604020202020204" pitchFamily="34" charset="0"/>
                <a:ea typeface="ＭＳ ゴシック" panose="020B0609070205080204" pitchFamily="49" charset="-128"/>
              </a:rPr>
              <a:t>main.</a:t>
            </a:r>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a:p>
            <a:pPr marL="0" indent="0"/>
            <a:endParaRPr lang="en-US" altLang="ja-JP" sz="1800" b="0" kern="0" dirty="0">
              <a:latin typeface="Arial" panose="020B0604020202020204" pitchFamily="34" charset="0"/>
            </a:endParaRPr>
          </a:p>
        </p:txBody>
      </p:sp>
      <p:sp>
        <p:nvSpPr>
          <p:cNvPr id="6" name="Text Box 13">
            <a:extLst>
              <a:ext uri="{FF2B5EF4-FFF2-40B4-BE49-F238E27FC236}">
                <a16:creationId xmlns:a16="http://schemas.microsoft.com/office/drawing/2014/main" id="{DF285F76-688E-9E0F-6B8A-298D53199757}"/>
              </a:ext>
            </a:extLst>
          </p:cNvPr>
          <p:cNvSpPr txBox="1">
            <a:spLocks noChangeArrowheads="1"/>
          </p:cNvSpPr>
          <p:nvPr/>
        </p:nvSpPr>
        <p:spPr bwMode="auto">
          <a:xfrm>
            <a:off x="780108" y="1751013"/>
            <a:ext cx="6900862" cy="14097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dirty="0" err="1">
                <a:ea typeface="MS UI Gothic" panose="020B0600070205080204" pitchFamily="50" charset="-128"/>
              </a:rPr>
              <a:t>Tư</a:t>
            </a:r>
            <a:r>
              <a:rPr lang="en-US" altLang="ja-JP" b="0" dirty="0">
                <a:ea typeface="MS UI Gothic" panose="020B0600070205080204" pitchFamily="50" charset="-128"/>
              </a:rPr>
              <a:t>̀ </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danh</a:t>
            </a:r>
            <a:r>
              <a:rPr lang="en-US" altLang="ja-JP" b="0" dirty="0">
                <a:ea typeface="ＭＳ ゴシック" panose="020B0609070205080204" pitchFamily="49" charset="-128"/>
              </a:rPr>
              <a:t> class </a:t>
            </a:r>
            <a:r>
              <a:rPr lang="en-US" altLang="ja-JP" b="0" dirty="0" err="1">
                <a:ea typeface="ＭＳ ゴシック" panose="020B0609070205080204" pitchFamily="49" charset="-128"/>
              </a:rPr>
              <a:t>Class</a:t>
            </a:r>
            <a:r>
              <a:rPr lang="en-US" altLang="ja-JP" b="0" dirty="0">
                <a:ea typeface="ＭＳ ゴシック" panose="020B0609070205080204" pitchFamily="49" charset="-128"/>
              </a:rPr>
              <a:t> name {</a:t>
            </a:r>
          </a:p>
          <a:p>
            <a:pPr lvl="1" algn="just"/>
            <a:r>
              <a:rPr lang="en-US" altLang="ja-JP" b="0" dirty="0">
                <a:ea typeface="MS UI Gothic" panose="020B0600070205080204" pitchFamily="50" charset="-128"/>
              </a:rPr>
              <a:t>    </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nghĩa</a:t>
            </a:r>
            <a:r>
              <a:rPr lang="en-US" altLang="ja-JP" b="0" dirty="0">
                <a:ea typeface="MS UI Gothic" panose="020B0600070205080204" pitchFamily="50" charset="-128"/>
              </a:rPr>
              <a:t> </a:t>
            </a:r>
            <a:r>
              <a:rPr lang="en-US" altLang="ja-JP" b="0" dirty="0" err="1">
                <a:ea typeface="MS UI Gothic" panose="020B0600070205080204" pitchFamily="50" charset="-128"/>
              </a:rPr>
              <a:t>biến</a:t>
            </a:r>
            <a:r>
              <a:rPr lang="en-US" altLang="ja-JP" b="0" dirty="0">
                <a:ea typeface="MS UI Gothic" panose="020B0600070205080204" pitchFamily="50" charset="-128"/>
              </a:rPr>
              <a:t> </a:t>
            </a:r>
            <a:r>
              <a:rPr lang="en-US" altLang="ja-JP" b="0" dirty="0" err="1">
                <a:ea typeface="MS UI Gothic" panose="020B0600070205080204" pitchFamily="50" charset="-128"/>
              </a:rPr>
              <a:t>sô</a:t>
            </a:r>
            <a:r>
              <a:rPr lang="en-US" altLang="ja-JP" b="0" dirty="0">
                <a:ea typeface="MS UI Gothic" panose="020B0600070205080204" pitchFamily="50" charset="-128"/>
              </a:rPr>
              <a:t>́</a:t>
            </a:r>
            <a:r>
              <a:rPr lang="ja-JP" altLang="en-US" b="0" dirty="0">
                <a:ea typeface="MS UI Gothic" panose="020B0600070205080204" pitchFamily="50" charset="-128"/>
              </a:rPr>
              <a:t>（</a:t>
            </a:r>
            <a:r>
              <a:rPr lang="en-US" altLang="ja-JP" b="0" dirty="0" err="1">
                <a:ea typeface="MS UI Gothic" panose="020B0600070205080204" pitchFamily="50" charset="-128"/>
              </a:rPr>
              <a:t>Thuộc</a:t>
            </a:r>
            <a:r>
              <a:rPr lang="en-US" altLang="ja-JP" b="0" dirty="0">
                <a:ea typeface="MS UI Gothic" panose="020B0600070205080204" pitchFamily="50" charset="-128"/>
              </a:rPr>
              <a:t> </a:t>
            </a:r>
            <a:r>
              <a:rPr lang="en-US" altLang="ja-JP" b="0" dirty="0" err="1">
                <a:ea typeface="MS UI Gothic" panose="020B0600070205080204" pitchFamily="50" charset="-128"/>
              </a:rPr>
              <a:t>tính</a:t>
            </a:r>
            <a:r>
              <a:rPr lang="ja-JP" altLang="en-US" b="0" dirty="0">
                <a:ea typeface="MS UI Gothic" panose="020B0600070205080204" pitchFamily="50" charset="-128"/>
              </a:rPr>
              <a:t>）</a:t>
            </a:r>
          </a:p>
          <a:p>
            <a:pPr lvl="1" algn="just"/>
            <a:r>
              <a:rPr lang="ja-JP" altLang="en-US" b="0" dirty="0">
                <a:ea typeface="MS UI Gothic" panose="020B0600070205080204" pitchFamily="50" charset="-128"/>
              </a:rPr>
              <a:t>	：</a:t>
            </a:r>
          </a:p>
          <a:p>
            <a:pPr lvl="1" algn="just"/>
            <a:r>
              <a:rPr lang="ja-JP" altLang="en-US" b="0" dirty="0">
                <a:ea typeface="MS UI Gothic" panose="020B0600070205080204" pitchFamily="50" charset="-128"/>
              </a:rPr>
              <a:t>    </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nghĩa</a:t>
            </a:r>
            <a:r>
              <a:rPr lang="en-US" altLang="ja-JP" b="0" dirty="0">
                <a:ea typeface="MS UI Gothic" panose="020B0600070205080204" pitchFamily="50" charset="-128"/>
              </a:rPr>
              <a:t> method</a:t>
            </a:r>
            <a:r>
              <a:rPr lang="ja-JP" altLang="en-US" b="0" dirty="0">
                <a:ea typeface="MS UI Gothic" panose="020B0600070205080204" pitchFamily="50" charset="-128"/>
              </a:rPr>
              <a:t>（</a:t>
            </a:r>
            <a:r>
              <a:rPr lang="en-US" altLang="ja-JP" b="0" dirty="0">
                <a:ea typeface="MS UI Gothic" panose="020B0600070205080204" pitchFamily="50" charset="-128"/>
              </a:rPr>
              <a:t>behavior</a:t>
            </a:r>
            <a:r>
              <a:rPr lang="ja-JP" altLang="en-US" b="0" dirty="0">
                <a:ea typeface="MS UI Gothic" panose="020B0600070205080204" pitchFamily="50" charset="-128"/>
              </a:rPr>
              <a:t>）</a:t>
            </a:r>
          </a:p>
          <a:p>
            <a:pPr lvl="1" algn="just"/>
            <a:r>
              <a:rPr lang="en-US" altLang="ja-JP" b="0" dirty="0">
                <a:ea typeface="ＭＳ ゴシック" panose="020B0609070205080204" pitchFamily="49" charset="-128"/>
              </a:rPr>
              <a:t>}</a:t>
            </a:r>
          </a:p>
        </p:txBody>
      </p:sp>
      <p:grpSp>
        <p:nvGrpSpPr>
          <p:cNvPr id="7" name="Group 34">
            <a:extLst>
              <a:ext uri="{FF2B5EF4-FFF2-40B4-BE49-F238E27FC236}">
                <a16:creationId xmlns:a16="http://schemas.microsoft.com/office/drawing/2014/main" id="{E8565472-323F-A559-90A6-1A67BAAE144C}"/>
              </a:ext>
            </a:extLst>
          </p:cNvPr>
          <p:cNvGrpSpPr>
            <a:grpSpLocks/>
          </p:cNvGrpSpPr>
          <p:nvPr/>
        </p:nvGrpSpPr>
        <p:grpSpPr bwMode="auto">
          <a:xfrm>
            <a:off x="728545" y="4191000"/>
            <a:ext cx="5794375" cy="1722437"/>
            <a:chOff x="453" y="2105"/>
            <a:chExt cx="3650" cy="1085"/>
          </a:xfrm>
        </p:grpSpPr>
        <p:sp>
          <p:nvSpPr>
            <p:cNvPr id="8" name="Text Box 14">
              <a:extLst>
                <a:ext uri="{FF2B5EF4-FFF2-40B4-BE49-F238E27FC236}">
                  <a16:creationId xmlns:a16="http://schemas.microsoft.com/office/drawing/2014/main" id="{E7D09447-E38A-143F-7D92-746F8226E395}"/>
                </a:ext>
              </a:extLst>
            </p:cNvPr>
            <p:cNvSpPr txBox="1">
              <a:spLocks noChangeArrowheads="1"/>
            </p:cNvSpPr>
            <p:nvPr/>
          </p:nvSpPr>
          <p:spPr bwMode="auto">
            <a:xfrm>
              <a:off x="453" y="2105"/>
              <a:ext cx="3650" cy="108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dirty="0">
                  <a:ea typeface="ＭＳ ゴシック" panose="020B0609070205080204" pitchFamily="49" charset="-128"/>
                </a:rPr>
                <a:t>public class HelloWorld {</a:t>
              </a:r>
            </a:p>
            <a:p>
              <a:pPr lvl="1" algn="just"/>
              <a:endParaRPr lang="en-US" altLang="ja-JP" b="0" dirty="0">
                <a:ea typeface="ＭＳ ゴシック" panose="020B0609070205080204" pitchFamily="49" charset="-128"/>
              </a:endParaRPr>
            </a:p>
            <a:p>
              <a:pPr lvl="1" algn="just"/>
              <a:r>
                <a:rPr lang="en-US" altLang="ja-JP" b="0" dirty="0">
                  <a:ea typeface="ＭＳ ゴシック" panose="020B0609070205080204" pitchFamily="49" charset="-128"/>
                </a:rPr>
                <a:t>    // main method</a:t>
              </a:r>
            </a:p>
            <a:p>
              <a:pPr lvl="1" algn="just"/>
              <a:r>
                <a:rPr lang="en-US" altLang="ja-JP" b="0" dirty="0">
                  <a:ea typeface="ＭＳ ゴシック" panose="020B0609070205080204" pitchFamily="49" charset="-128"/>
                </a:rPr>
                <a:t>    public static void main(String[] </a:t>
              </a:r>
              <a:r>
                <a:rPr lang="en-US" altLang="ja-JP" b="0" dirty="0" err="1">
                  <a:ea typeface="ＭＳ ゴシック" panose="020B0609070205080204" pitchFamily="49" charset="-128"/>
                </a:rPr>
                <a:t>args</a:t>
              </a:r>
              <a:r>
                <a:rPr lang="en-US" altLang="ja-JP" b="0" dirty="0">
                  <a:ea typeface="ＭＳ ゴシック" panose="020B0609070205080204" pitchFamily="49" charset="-128"/>
                </a:rPr>
                <a:t>) {</a:t>
              </a:r>
            </a:p>
            <a:p>
              <a:pPr lvl="1" algn="just"/>
              <a:r>
                <a:rPr lang="en-US" altLang="ja-JP" b="0" dirty="0">
                  <a:ea typeface="ＭＳ ゴシック" panose="020B0609070205080204" pitchFamily="49" charset="-128"/>
                </a:rPr>
                <a:t>              </a:t>
              </a:r>
              <a:r>
                <a:rPr lang="ja-JP" altLang="en-US" b="0" dirty="0">
                  <a:ea typeface="ＭＳ ゴシック" panose="020B0609070205080204" pitchFamily="49" charset="-128"/>
                </a:rPr>
                <a:t>：</a:t>
              </a:r>
            </a:p>
            <a:p>
              <a:pPr lvl="1" algn="just"/>
              <a:r>
                <a:rPr lang="ja-JP" altLang="en-US" b="0" dirty="0">
                  <a:ea typeface="ＭＳ ゴシック" panose="020B0609070205080204" pitchFamily="49" charset="-128"/>
                </a:rPr>
                <a:t>    </a:t>
              </a:r>
              <a:r>
                <a:rPr lang="en-US" altLang="ja-JP" b="0" dirty="0">
                  <a:ea typeface="ＭＳ ゴシック" panose="020B0609070205080204" pitchFamily="49" charset="-128"/>
                </a:rPr>
                <a:t>}</a:t>
              </a:r>
            </a:p>
            <a:p>
              <a:pPr lvl="1" algn="just"/>
              <a:r>
                <a:rPr lang="en-US" altLang="ja-JP" b="0" dirty="0">
                  <a:ea typeface="ＭＳ ゴシック" panose="020B0609070205080204" pitchFamily="49" charset="-128"/>
                </a:rPr>
                <a:t>}</a:t>
              </a:r>
            </a:p>
          </p:txBody>
        </p:sp>
        <p:sp>
          <p:nvSpPr>
            <p:cNvPr id="9" name="Rectangle 15">
              <a:extLst>
                <a:ext uri="{FF2B5EF4-FFF2-40B4-BE49-F238E27FC236}">
                  <a16:creationId xmlns:a16="http://schemas.microsoft.com/office/drawing/2014/main" id="{D2F56DD7-764C-747C-B967-B2EB9E4852BF}"/>
                </a:ext>
              </a:extLst>
            </p:cNvPr>
            <p:cNvSpPr>
              <a:spLocks noChangeArrowheads="1"/>
            </p:cNvSpPr>
            <p:nvPr/>
          </p:nvSpPr>
          <p:spPr bwMode="auto">
            <a:xfrm>
              <a:off x="653" y="2259"/>
              <a:ext cx="2536" cy="839"/>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ea typeface="ＭＳ ゴシック" panose="020B0609070205080204" pitchFamily="49" charset="-128"/>
              </a:endParaRPr>
            </a:p>
          </p:txBody>
        </p:sp>
      </p:grpSp>
    </p:spTree>
    <p:extLst>
      <p:ext uri="{BB962C8B-B14F-4D97-AF65-F5344CB8AC3E}">
        <p14:creationId xmlns:p14="http://schemas.microsoft.com/office/powerpoint/2010/main" val="6583104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96CB9-50B7-92C6-102A-541486BF6A23}"/>
              </a:ext>
            </a:extLst>
          </p:cNvPr>
          <p:cNvSpPr>
            <a:spLocks noGrp="1"/>
          </p:cNvSpPr>
          <p:nvPr>
            <p:ph type="title"/>
          </p:nvPr>
        </p:nvSpPr>
        <p:spPr/>
        <p:txBody>
          <a:bodyPr/>
          <a:lstStyle/>
          <a:p>
            <a:endParaRPr kumimoji="1" lang="ja-JP" altLang="en-US"/>
          </a:p>
        </p:txBody>
      </p:sp>
      <p:sp>
        <p:nvSpPr>
          <p:cNvPr id="3" name="Content Placeholder 2">
            <a:extLst>
              <a:ext uri="{FF2B5EF4-FFF2-40B4-BE49-F238E27FC236}">
                <a16:creationId xmlns:a16="http://schemas.microsoft.com/office/drawing/2014/main" id="{84EA05B3-F347-562F-DFA0-9CE28DA91905}"/>
              </a:ext>
            </a:extLst>
          </p:cNvPr>
          <p:cNvSpPr>
            <a:spLocks noGrp="1"/>
          </p:cNvSpPr>
          <p:nvPr>
            <p:ph idx="1"/>
          </p:nvPr>
        </p:nvSpPr>
        <p:spPr/>
        <p:txBody>
          <a:bodyPr/>
          <a:lstStyle/>
          <a:p>
            <a:endParaRPr kumimoji="1" lang="ja-JP" altLang="en-US"/>
          </a:p>
        </p:txBody>
      </p:sp>
      <p:sp>
        <p:nvSpPr>
          <p:cNvPr id="4" name="Slide Number Placeholder 3">
            <a:extLst>
              <a:ext uri="{FF2B5EF4-FFF2-40B4-BE49-F238E27FC236}">
                <a16:creationId xmlns:a16="http://schemas.microsoft.com/office/drawing/2014/main" id="{036EA3B1-D51F-B654-5D6A-BC07963D159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26</a:t>
            </a:fld>
            <a:endParaRPr lang="en-US" altLang="ja-JP"/>
          </a:p>
        </p:txBody>
      </p:sp>
    </p:spTree>
    <p:extLst>
      <p:ext uri="{BB962C8B-B14F-4D97-AF65-F5344CB8AC3E}">
        <p14:creationId xmlns:p14="http://schemas.microsoft.com/office/powerpoint/2010/main" val="4246122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9B45F-315A-331E-6D6C-BA2B90E25A61}"/>
              </a:ext>
            </a:extLst>
          </p:cNvPr>
          <p:cNvSpPr>
            <a:spLocks noGrp="1"/>
          </p:cNvSpPr>
          <p:nvPr>
            <p:ph type="title"/>
          </p:nvPr>
        </p:nvSpPr>
        <p:spPr/>
        <p:txBody>
          <a:bodyPr>
            <a:normAutofit fontScale="90000"/>
          </a:bodyPr>
          <a:lstStyle/>
          <a:p>
            <a:r>
              <a:rPr lang="en-US" altLang="ja-JP" dirty="0" err="1"/>
              <a:t>Gói</a:t>
            </a:r>
            <a:r>
              <a:rPr lang="en-US" altLang="ja-JP" dirty="0"/>
              <a:t> - packages </a:t>
            </a:r>
            <a:r>
              <a:rPr lang="en-US" altLang="ja-JP" dirty="0" err="1"/>
              <a:t>trong</a:t>
            </a:r>
            <a:r>
              <a:rPr lang="en-US" altLang="ja-JP" dirty="0"/>
              <a:t> Java </a:t>
            </a:r>
            <a:endParaRPr kumimoji="1" lang="ja-JP" altLang="en-US" dirty="0"/>
          </a:p>
        </p:txBody>
      </p:sp>
      <p:sp>
        <p:nvSpPr>
          <p:cNvPr id="3" name="Content Placeholder 2">
            <a:extLst>
              <a:ext uri="{FF2B5EF4-FFF2-40B4-BE49-F238E27FC236}">
                <a16:creationId xmlns:a16="http://schemas.microsoft.com/office/drawing/2014/main" id="{4A5952C4-195A-FDA3-6ADD-2CE1851C1F4B}"/>
              </a:ext>
            </a:extLst>
          </p:cNvPr>
          <p:cNvSpPr>
            <a:spLocks noGrp="1"/>
          </p:cNvSpPr>
          <p:nvPr>
            <p:ph idx="1"/>
          </p:nvPr>
        </p:nvSpPr>
        <p:spPr/>
        <p:txBody>
          <a:bodyPr>
            <a:normAutofit fontScale="62500" lnSpcReduction="20000"/>
          </a:bodyPr>
          <a:lstStyle/>
          <a:p>
            <a:pPr algn="just"/>
            <a:r>
              <a:rPr lang="vi-VN" altLang="ja-JP" dirty="0"/>
              <a:t>Trong Java, các gói (package) được sử dụng để tổ chức các lớp thành các không gian tên (namespace). Một gói là một tập hợp các lớp, giao diện, chú thích và kiểu liệt kê có liên quan được nhóm lại với nhau trong một đơn vị duy nhất. Ưu điểm của các gói được đề cập bên dưới:</a:t>
            </a:r>
            <a:endParaRPr lang="en-US" altLang="ja-JP" dirty="0"/>
          </a:p>
          <a:p>
            <a:pPr lvl="1" algn="just"/>
            <a:r>
              <a:rPr lang="en-US" altLang="ja-JP" dirty="0"/>
              <a:t>1. </a:t>
            </a:r>
            <a:r>
              <a:rPr lang="en-US" altLang="ja-JP" dirty="0" err="1"/>
              <a:t>Tổ</a:t>
            </a:r>
            <a:r>
              <a:rPr lang="en-US" altLang="ja-JP" dirty="0"/>
              <a:t> </a:t>
            </a:r>
            <a:r>
              <a:rPr lang="en-US" altLang="ja-JP" dirty="0" err="1"/>
              <a:t>chức</a:t>
            </a:r>
            <a:r>
              <a:rPr lang="en-US" altLang="ja-JP" dirty="0"/>
              <a:t> Code:  </a:t>
            </a:r>
            <a:r>
              <a:rPr lang="vi-VN" altLang="ja-JP" dirty="0"/>
              <a:t>Các gói giúp tổ chức các cơ sở mã lớn thành các đơn vị logic, giúp việc quản lý và bảo trì mã dễ dàng hơn.</a:t>
            </a:r>
            <a:endParaRPr lang="en-US" altLang="ja-JP" dirty="0"/>
          </a:p>
          <a:p>
            <a:pPr lvl="1" algn="just"/>
            <a:r>
              <a:rPr kumimoji="1" lang="en-US" altLang="ja-JP" dirty="0"/>
              <a:t>2. </a:t>
            </a:r>
            <a:r>
              <a:rPr lang="en-US" altLang="ja-JP" dirty="0"/>
              <a:t>Encapsulation – </a:t>
            </a:r>
            <a:r>
              <a:rPr lang="en-US" altLang="ja-JP" dirty="0" err="1"/>
              <a:t>Đóng</a:t>
            </a:r>
            <a:r>
              <a:rPr lang="en-US" altLang="ja-JP" dirty="0"/>
              <a:t> </a:t>
            </a:r>
            <a:r>
              <a:rPr lang="en-US" altLang="ja-JP" dirty="0" err="1"/>
              <a:t>gói</a:t>
            </a:r>
            <a:r>
              <a:rPr lang="en-US" altLang="ja-JP" dirty="0"/>
              <a:t>: Các </a:t>
            </a:r>
            <a:r>
              <a:rPr lang="en-US" altLang="ja-JP" dirty="0" err="1"/>
              <a:t>gói</a:t>
            </a:r>
            <a:r>
              <a:rPr lang="en-US" altLang="ja-JP" dirty="0"/>
              <a:t> (package) </a:t>
            </a:r>
            <a:r>
              <a:rPr lang="en-US" altLang="ja-JP" dirty="0" err="1"/>
              <a:t>cung</a:t>
            </a:r>
            <a:r>
              <a:rPr lang="en-US" altLang="ja-JP" dirty="0"/>
              <a:t> </a:t>
            </a:r>
            <a:r>
              <a:rPr lang="en-US" altLang="ja-JP" dirty="0" err="1"/>
              <a:t>cấp</a:t>
            </a:r>
            <a:r>
              <a:rPr lang="en-US" altLang="ja-JP" dirty="0"/>
              <a:t> </a:t>
            </a:r>
            <a:r>
              <a:rPr lang="en-US" altLang="ja-JP" dirty="0" err="1"/>
              <a:t>một</a:t>
            </a:r>
            <a:r>
              <a:rPr lang="en-US" altLang="ja-JP" dirty="0"/>
              <a:t> </a:t>
            </a:r>
            <a:r>
              <a:rPr lang="en-US" altLang="ja-JP" dirty="0" err="1"/>
              <a:t>cách</a:t>
            </a:r>
            <a:r>
              <a:rPr lang="en-US" altLang="ja-JP" dirty="0"/>
              <a:t> </a:t>
            </a:r>
            <a:r>
              <a:rPr lang="en-US" altLang="ja-JP" dirty="0" err="1"/>
              <a:t>để</a:t>
            </a:r>
            <a:r>
              <a:rPr lang="en-US" altLang="ja-JP" dirty="0"/>
              <a:t> </a:t>
            </a:r>
            <a:r>
              <a:rPr lang="en-US" altLang="ja-JP" dirty="0" err="1"/>
              <a:t>đóng</a:t>
            </a:r>
            <a:r>
              <a:rPr lang="en-US" altLang="ja-JP" dirty="0"/>
              <a:t> </a:t>
            </a:r>
            <a:r>
              <a:rPr lang="en-US" altLang="ja-JP" dirty="0" err="1"/>
              <a:t>gói</a:t>
            </a:r>
            <a:r>
              <a:rPr lang="en-US" altLang="ja-JP" dirty="0"/>
              <a:t> </a:t>
            </a:r>
            <a:r>
              <a:rPr lang="en-US" altLang="ja-JP" dirty="0" err="1"/>
              <a:t>các</a:t>
            </a:r>
            <a:r>
              <a:rPr lang="en-US" altLang="ja-JP" dirty="0"/>
              <a:t> </a:t>
            </a:r>
            <a:r>
              <a:rPr lang="en-US" altLang="ja-JP" dirty="0" err="1"/>
              <a:t>lớp</a:t>
            </a:r>
            <a:r>
              <a:rPr lang="en-US" altLang="ja-JP" dirty="0"/>
              <a:t> </a:t>
            </a:r>
            <a:r>
              <a:rPr lang="en-US" altLang="ja-JP" dirty="0" err="1"/>
              <a:t>và</a:t>
            </a:r>
            <a:r>
              <a:rPr lang="en-US" altLang="ja-JP" dirty="0"/>
              <a:t> </a:t>
            </a:r>
            <a:r>
              <a:rPr lang="en-US" altLang="ja-JP" dirty="0" err="1"/>
              <a:t>giao</a:t>
            </a:r>
            <a:r>
              <a:rPr lang="en-US" altLang="ja-JP" dirty="0"/>
              <a:t> </a:t>
            </a:r>
            <a:r>
              <a:rPr lang="en-US" altLang="ja-JP" dirty="0" err="1"/>
              <a:t>diện</a:t>
            </a:r>
            <a:r>
              <a:rPr lang="en-US" altLang="ja-JP" dirty="0"/>
              <a:t>, </a:t>
            </a:r>
            <a:r>
              <a:rPr lang="en-US" altLang="ja-JP" dirty="0" err="1"/>
              <a:t>che</a:t>
            </a:r>
            <a:r>
              <a:rPr lang="en-US" altLang="ja-JP" dirty="0"/>
              <a:t> </a:t>
            </a:r>
            <a:r>
              <a:rPr lang="en-US" altLang="ja-JP" dirty="0" err="1"/>
              <a:t>giấu</a:t>
            </a:r>
            <a:r>
              <a:rPr lang="en-US" altLang="ja-JP" dirty="0"/>
              <a:t> </a:t>
            </a:r>
            <a:r>
              <a:rPr lang="en-US" altLang="ja-JP" dirty="0" err="1"/>
              <a:t>các</a:t>
            </a:r>
            <a:r>
              <a:rPr lang="en-US" altLang="ja-JP" dirty="0"/>
              <a:t> chi </a:t>
            </a:r>
            <a:r>
              <a:rPr lang="en-US" altLang="ja-JP" dirty="0" err="1"/>
              <a:t>tiết</a:t>
            </a:r>
            <a:r>
              <a:rPr lang="en-US" altLang="ja-JP" dirty="0"/>
              <a:t> </a:t>
            </a:r>
            <a:r>
              <a:rPr lang="en-US" altLang="ja-JP" dirty="0" err="1"/>
              <a:t>triển</a:t>
            </a:r>
            <a:r>
              <a:rPr lang="en-US" altLang="ja-JP" dirty="0"/>
              <a:t> </a:t>
            </a:r>
            <a:r>
              <a:rPr lang="en-US" altLang="ja-JP" dirty="0" err="1"/>
              <a:t>khai</a:t>
            </a:r>
            <a:r>
              <a:rPr lang="en-US" altLang="ja-JP" dirty="0"/>
              <a:t> </a:t>
            </a:r>
            <a:r>
              <a:rPr lang="en-US" altLang="ja-JP" dirty="0" err="1"/>
              <a:t>khỏi</a:t>
            </a:r>
            <a:r>
              <a:rPr lang="en-US" altLang="ja-JP" dirty="0"/>
              <a:t> </a:t>
            </a:r>
            <a:r>
              <a:rPr lang="en-US" altLang="ja-JP" dirty="0" err="1"/>
              <a:t>các</a:t>
            </a:r>
            <a:r>
              <a:rPr lang="en-US" altLang="ja-JP" dirty="0"/>
              <a:t> </a:t>
            </a:r>
            <a:r>
              <a:rPr lang="en-US" altLang="ja-JP" dirty="0" err="1"/>
              <a:t>phần</a:t>
            </a:r>
            <a:r>
              <a:rPr lang="en-US" altLang="ja-JP" dirty="0"/>
              <a:t> </a:t>
            </a:r>
            <a:r>
              <a:rPr lang="en-US" altLang="ja-JP" dirty="0" err="1"/>
              <a:t>khác</a:t>
            </a:r>
            <a:r>
              <a:rPr lang="en-US" altLang="ja-JP" dirty="0"/>
              <a:t> </a:t>
            </a:r>
            <a:r>
              <a:rPr lang="en-US" altLang="ja-JP" dirty="0" err="1"/>
              <a:t>của</a:t>
            </a:r>
            <a:r>
              <a:rPr lang="en-US" altLang="ja-JP" dirty="0"/>
              <a:t> </a:t>
            </a:r>
            <a:r>
              <a:rPr lang="en-US" altLang="ja-JP" dirty="0" err="1"/>
              <a:t>mã</a:t>
            </a:r>
            <a:r>
              <a:rPr lang="en-US" altLang="ja-JP" dirty="0"/>
              <a:t>.</a:t>
            </a:r>
          </a:p>
          <a:p>
            <a:pPr lvl="1" algn="just"/>
            <a:r>
              <a:rPr lang="en-US" altLang="ja-JP" dirty="0"/>
              <a:t>3. </a:t>
            </a:r>
            <a:r>
              <a:rPr lang="en-US" altLang="ja-JP" dirty="0" err="1"/>
              <a:t>Kiểm</a:t>
            </a:r>
            <a:r>
              <a:rPr lang="en-US" altLang="ja-JP" dirty="0"/>
              <a:t> </a:t>
            </a:r>
            <a:r>
              <a:rPr lang="en-US" altLang="ja-JP" dirty="0" err="1"/>
              <a:t>soát</a:t>
            </a:r>
            <a:r>
              <a:rPr lang="en-US" altLang="ja-JP" dirty="0"/>
              <a:t> </a:t>
            </a:r>
            <a:r>
              <a:rPr lang="en-US" altLang="ja-JP" dirty="0" err="1"/>
              <a:t>truy</a:t>
            </a:r>
            <a:r>
              <a:rPr lang="en-US" altLang="ja-JP" dirty="0"/>
              <a:t> </a:t>
            </a:r>
            <a:r>
              <a:rPr lang="en-US" altLang="ja-JP" dirty="0" err="1"/>
              <a:t>cập</a:t>
            </a:r>
            <a:r>
              <a:rPr lang="en-US" altLang="ja-JP" dirty="0"/>
              <a:t>: </a:t>
            </a:r>
            <a:r>
              <a:rPr lang="vi-VN" altLang="ja-JP" dirty="0"/>
              <a:t>Các gói có thể được sử dụng để kiểm soát quyền truy cập vào các lớp và giao diện, bằng cách sử dụng các công cụ sửa đổi quyền truy cập như public, private, protected và default.</a:t>
            </a:r>
            <a:endParaRPr lang="en-US" altLang="ja-JP" dirty="0"/>
          </a:p>
          <a:p>
            <a:pPr lvl="1" algn="just"/>
            <a:r>
              <a:rPr lang="en-US" altLang="ja-JP" dirty="0"/>
              <a:t>4. </a:t>
            </a:r>
            <a:r>
              <a:rPr lang="en-US" altLang="ja-JP" dirty="0" err="1"/>
              <a:t>Namespacing</a:t>
            </a:r>
            <a:r>
              <a:rPr lang="en-US" altLang="ja-JP" dirty="0"/>
              <a:t> - </a:t>
            </a:r>
            <a:r>
              <a:rPr lang="en-US" altLang="ja-JP" dirty="0" err="1"/>
              <a:t>Không</a:t>
            </a:r>
            <a:r>
              <a:rPr lang="en-US" altLang="ja-JP" dirty="0"/>
              <a:t> </a:t>
            </a:r>
            <a:r>
              <a:rPr lang="en-US" altLang="ja-JP" dirty="0" err="1"/>
              <a:t>gian</a:t>
            </a:r>
            <a:r>
              <a:rPr lang="en-US" altLang="ja-JP" dirty="0"/>
              <a:t> </a:t>
            </a:r>
            <a:r>
              <a:rPr lang="en-US" altLang="ja-JP" dirty="0" err="1"/>
              <a:t>tên</a:t>
            </a:r>
            <a:r>
              <a:rPr lang="en-US" altLang="ja-JP" dirty="0"/>
              <a:t>: Các </a:t>
            </a:r>
            <a:r>
              <a:rPr lang="en-US" altLang="ja-JP" dirty="0" err="1"/>
              <a:t>gói</a:t>
            </a:r>
            <a:r>
              <a:rPr lang="en-US" altLang="ja-JP" dirty="0"/>
              <a:t> </a:t>
            </a:r>
            <a:r>
              <a:rPr lang="en-US" altLang="ja-JP" dirty="0" err="1"/>
              <a:t>cung</a:t>
            </a:r>
            <a:r>
              <a:rPr lang="en-US" altLang="ja-JP" dirty="0"/>
              <a:t> </a:t>
            </a:r>
            <a:r>
              <a:rPr lang="en-US" altLang="ja-JP" dirty="0" err="1"/>
              <a:t>cấp</a:t>
            </a:r>
            <a:r>
              <a:rPr lang="en-US" altLang="ja-JP" dirty="0"/>
              <a:t> </a:t>
            </a:r>
            <a:r>
              <a:rPr lang="en-US" altLang="ja-JP" dirty="0" err="1"/>
              <a:t>một</a:t>
            </a:r>
            <a:r>
              <a:rPr lang="en-US" altLang="ja-JP" dirty="0"/>
              <a:t> </a:t>
            </a:r>
            <a:r>
              <a:rPr lang="en-US" altLang="ja-JP" dirty="0" err="1"/>
              <a:t>cách</a:t>
            </a:r>
            <a:r>
              <a:rPr lang="en-US" altLang="ja-JP" dirty="0"/>
              <a:t> </a:t>
            </a:r>
            <a:r>
              <a:rPr lang="en-US" altLang="ja-JP" dirty="0" err="1"/>
              <a:t>để</a:t>
            </a:r>
            <a:r>
              <a:rPr lang="en-US" altLang="ja-JP" dirty="0"/>
              <a:t> </a:t>
            </a:r>
            <a:r>
              <a:rPr lang="en-US" altLang="ja-JP" dirty="0" err="1"/>
              <a:t>tránh</a:t>
            </a:r>
            <a:r>
              <a:rPr lang="en-US" altLang="ja-JP" dirty="0"/>
              <a:t> </a:t>
            </a:r>
            <a:r>
              <a:rPr lang="en-US" altLang="ja-JP" dirty="0" err="1"/>
              <a:t>xung</a:t>
            </a:r>
            <a:r>
              <a:rPr lang="en-US" altLang="ja-JP" dirty="0"/>
              <a:t> </a:t>
            </a:r>
            <a:r>
              <a:rPr lang="en-US" altLang="ja-JP" dirty="0" err="1"/>
              <a:t>đột</a:t>
            </a:r>
            <a:r>
              <a:rPr lang="en-US" altLang="ja-JP" dirty="0"/>
              <a:t> </a:t>
            </a:r>
            <a:r>
              <a:rPr lang="en-US" altLang="ja-JP" dirty="0" err="1"/>
              <a:t>tên</a:t>
            </a:r>
            <a:r>
              <a:rPr lang="en-US" altLang="ja-JP" dirty="0"/>
              <a:t> </a:t>
            </a:r>
            <a:r>
              <a:rPr lang="en-US" altLang="ja-JP" dirty="0" err="1"/>
              <a:t>giữa</a:t>
            </a:r>
            <a:r>
              <a:rPr lang="en-US" altLang="ja-JP" dirty="0"/>
              <a:t> </a:t>
            </a:r>
            <a:r>
              <a:rPr lang="en-US" altLang="ja-JP" dirty="0" err="1"/>
              <a:t>các</a:t>
            </a:r>
            <a:r>
              <a:rPr lang="en-US" altLang="ja-JP" dirty="0"/>
              <a:t> </a:t>
            </a:r>
            <a:r>
              <a:rPr lang="en-US" altLang="ja-JP" dirty="0" err="1"/>
              <a:t>lớp</a:t>
            </a:r>
            <a:r>
              <a:rPr lang="en-US" altLang="ja-JP" dirty="0"/>
              <a:t> </a:t>
            </a:r>
            <a:r>
              <a:rPr lang="en-US" altLang="ja-JP" dirty="0" err="1"/>
              <a:t>và</a:t>
            </a:r>
            <a:r>
              <a:rPr lang="en-US" altLang="ja-JP" dirty="0"/>
              <a:t> </a:t>
            </a:r>
            <a:r>
              <a:rPr lang="en-US" altLang="ja-JP" dirty="0" err="1"/>
              <a:t>giao</a:t>
            </a:r>
            <a:r>
              <a:rPr lang="en-US" altLang="ja-JP" dirty="0"/>
              <a:t> </a:t>
            </a:r>
            <a:r>
              <a:rPr lang="en-US" altLang="ja-JP" dirty="0" err="1"/>
              <a:t>diện</a:t>
            </a:r>
            <a:r>
              <a:rPr lang="en-US" altLang="ja-JP" dirty="0"/>
              <a:t>, </a:t>
            </a:r>
            <a:r>
              <a:rPr lang="en-US" altLang="ja-JP" dirty="0" err="1"/>
              <a:t>bằng</a:t>
            </a:r>
            <a:r>
              <a:rPr lang="en-US" altLang="ja-JP" dirty="0"/>
              <a:t> </a:t>
            </a:r>
            <a:r>
              <a:rPr lang="en-US" altLang="ja-JP" dirty="0" err="1"/>
              <a:t>cách</a:t>
            </a:r>
            <a:r>
              <a:rPr lang="en-US" altLang="ja-JP" dirty="0"/>
              <a:t> </a:t>
            </a:r>
            <a:r>
              <a:rPr lang="en-US" altLang="ja-JP" dirty="0" err="1"/>
              <a:t>gán</a:t>
            </a:r>
            <a:r>
              <a:rPr lang="en-US" altLang="ja-JP" dirty="0"/>
              <a:t> </a:t>
            </a:r>
            <a:r>
              <a:rPr lang="en-US" altLang="ja-JP" dirty="0" err="1"/>
              <a:t>cho</a:t>
            </a:r>
            <a:r>
              <a:rPr lang="en-US" altLang="ja-JP" dirty="0"/>
              <a:t> </a:t>
            </a:r>
            <a:r>
              <a:rPr lang="en-US" altLang="ja-JP" dirty="0" err="1"/>
              <a:t>chúng</a:t>
            </a:r>
            <a:r>
              <a:rPr lang="en-US" altLang="ja-JP" dirty="0"/>
              <a:t> </a:t>
            </a:r>
            <a:r>
              <a:rPr lang="en-US" altLang="ja-JP" dirty="0" err="1"/>
              <a:t>những</a:t>
            </a:r>
            <a:r>
              <a:rPr lang="en-US" altLang="ja-JP" dirty="0"/>
              <a:t> </a:t>
            </a:r>
            <a:r>
              <a:rPr lang="en-US" altLang="ja-JP" dirty="0" err="1"/>
              <a:t>tên</a:t>
            </a:r>
            <a:r>
              <a:rPr lang="en-US" altLang="ja-JP" dirty="0"/>
              <a:t> </a:t>
            </a:r>
            <a:r>
              <a:rPr lang="en-US" altLang="ja-JP" dirty="0" err="1"/>
              <a:t>duy</a:t>
            </a:r>
            <a:r>
              <a:rPr lang="en-US" altLang="ja-JP" dirty="0"/>
              <a:t> </a:t>
            </a:r>
            <a:r>
              <a:rPr lang="en-US" altLang="ja-JP" dirty="0" err="1"/>
              <a:t>nhất</a:t>
            </a:r>
            <a:r>
              <a:rPr lang="en-US" altLang="ja-JP" dirty="0"/>
              <a:t> </a:t>
            </a:r>
            <a:r>
              <a:rPr lang="en-US" altLang="ja-JP" dirty="0" err="1"/>
              <a:t>trong</a:t>
            </a:r>
            <a:r>
              <a:rPr lang="en-US" altLang="ja-JP" dirty="0"/>
              <a:t> </a:t>
            </a:r>
            <a:r>
              <a:rPr lang="en-US" altLang="ja-JP" dirty="0" err="1"/>
              <a:t>cùng</a:t>
            </a:r>
            <a:r>
              <a:rPr lang="en-US" altLang="ja-JP" dirty="0"/>
              <a:t> </a:t>
            </a:r>
            <a:r>
              <a:rPr lang="en-US" altLang="ja-JP" dirty="0" err="1"/>
              <a:t>một</a:t>
            </a:r>
            <a:r>
              <a:rPr lang="en-US" altLang="ja-JP" dirty="0"/>
              <a:t> </a:t>
            </a:r>
            <a:r>
              <a:rPr lang="en-US" altLang="ja-JP" dirty="0" err="1"/>
              <a:t>gói</a:t>
            </a:r>
            <a:r>
              <a:rPr lang="en-US" altLang="ja-JP" dirty="0"/>
              <a:t>.</a:t>
            </a:r>
          </a:p>
          <a:p>
            <a:pPr algn="just"/>
            <a:r>
              <a:rPr lang="vi-VN" altLang="ja-JP" dirty="0"/>
              <a:t>Nếu bạn không sử dụng câu lệnh package, kiểu dữ liệu của bạn sẽ nằm trong một package không tên hoặc package mặc định. Nói chung, package không tên hoặc package mặc định chỉ dành cho các ứng dụng nhỏ hoặc tạm thời, hoặc khi bạn mới bắt đầu quá trình phát triển. Ngược lại, các lớp, giao diện, chú thích và kiểu liệt kê (enum) thuộc về các package có tên.</a:t>
            </a:r>
            <a:endParaRPr kumimoji="1" lang="ja-JP" altLang="en-US" dirty="0"/>
          </a:p>
        </p:txBody>
      </p:sp>
      <p:sp>
        <p:nvSpPr>
          <p:cNvPr id="4" name="Slide Number Placeholder 3">
            <a:extLst>
              <a:ext uri="{FF2B5EF4-FFF2-40B4-BE49-F238E27FC236}">
                <a16:creationId xmlns:a16="http://schemas.microsoft.com/office/drawing/2014/main" id="{5DDD0028-C26E-9007-CB86-240BD15D018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27</a:t>
            </a:fld>
            <a:endParaRPr lang="en-US" altLang="ja-JP"/>
          </a:p>
        </p:txBody>
      </p:sp>
    </p:spTree>
    <p:extLst>
      <p:ext uri="{BB962C8B-B14F-4D97-AF65-F5344CB8AC3E}">
        <p14:creationId xmlns:p14="http://schemas.microsoft.com/office/powerpoint/2010/main" val="29847329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C041C-94D3-B7E9-06D4-7667505BCFB6}"/>
              </a:ext>
            </a:extLst>
          </p:cNvPr>
          <p:cNvSpPr>
            <a:spLocks noGrp="1"/>
          </p:cNvSpPr>
          <p:nvPr>
            <p:ph type="title"/>
          </p:nvPr>
        </p:nvSpPr>
        <p:spPr/>
        <p:txBody>
          <a:bodyPr>
            <a:normAutofit fontScale="90000"/>
          </a:bodyPr>
          <a:lstStyle/>
          <a:p>
            <a:r>
              <a:rPr lang="en-US" altLang="ja-JP" dirty="0" err="1"/>
              <a:t>Cấu</a:t>
            </a:r>
            <a:r>
              <a:rPr lang="en-US" altLang="ja-JP" dirty="0"/>
              <a:t> </a:t>
            </a:r>
            <a:r>
              <a:rPr lang="en-US" altLang="ja-JP" dirty="0" err="1"/>
              <a:t>trúc</a:t>
            </a:r>
            <a:r>
              <a:rPr lang="en-US" altLang="ja-JP" dirty="0"/>
              <a:t> </a:t>
            </a:r>
            <a:r>
              <a:rPr lang="en-US" altLang="ja-JP" dirty="0" err="1"/>
              <a:t>một</a:t>
            </a:r>
            <a:r>
              <a:rPr lang="en-US" altLang="ja-JP" dirty="0"/>
              <a:t> </a:t>
            </a:r>
            <a:r>
              <a:rPr lang="en-US" altLang="ja-JP" dirty="0" err="1"/>
              <a:t>dự</a:t>
            </a:r>
            <a:r>
              <a:rPr lang="en-US" altLang="ja-JP" dirty="0"/>
              <a:t> </a:t>
            </a:r>
            <a:r>
              <a:rPr lang="en-US" altLang="ja-JP" dirty="0" err="1"/>
              <a:t>án</a:t>
            </a:r>
            <a:r>
              <a:rPr lang="en-US" altLang="ja-JP" dirty="0"/>
              <a:t> Java</a:t>
            </a:r>
            <a:endParaRPr kumimoji="1" lang="ja-JP" altLang="en-US" dirty="0"/>
          </a:p>
        </p:txBody>
      </p:sp>
      <p:sp>
        <p:nvSpPr>
          <p:cNvPr id="3" name="Content Placeholder 2">
            <a:extLst>
              <a:ext uri="{FF2B5EF4-FFF2-40B4-BE49-F238E27FC236}">
                <a16:creationId xmlns:a16="http://schemas.microsoft.com/office/drawing/2014/main" id="{E28AD458-CF86-516B-953E-1073E91FE657}"/>
              </a:ext>
            </a:extLst>
          </p:cNvPr>
          <p:cNvSpPr>
            <a:spLocks noGrp="1"/>
          </p:cNvSpPr>
          <p:nvPr>
            <p:ph idx="1"/>
          </p:nvPr>
        </p:nvSpPr>
        <p:spPr/>
        <p:txBody>
          <a:bodyPr>
            <a:normAutofit fontScale="55000" lnSpcReduction="20000"/>
          </a:bodyPr>
          <a:lstStyle/>
          <a:p>
            <a:r>
              <a:rPr lang="vi-VN" altLang="ja-JP" dirty="0"/>
              <a:t>Module được giới thiệu cùng với JDK 9. Trước JDK 9, các gói (package) và kiểu (type) đã tồn tại, nhưng module không phải là một phần của cấu trúc. Module đóng vai trò là phương tiện tùy chọn để tổ chức mã, bổ sung cho các gói hiện có.</a:t>
            </a:r>
          </a:p>
          <a:p>
            <a:endParaRPr lang="vi-VN" altLang="ja-JP" dirty="0"/>
          </a:p>
          <a:p>
            <a:r>
              <a:rPr lang="vi-VN" altLang="ja-JP" dirty="0"/>
              <a:t>Một dự án Java bao gồm một hoặc nhiều module, mỗi module chứa không hoặc nhiều gói. Trong một gói, tồn tại một hoặc nhiều kiểu, với "kiểu" là thuật ngữ chung bao gồm các kiểu dữ liệu do người dùng định nghĩa. Bốn kiểu dữ liệu do người dùng định nghĩa chính là lớp (class), giao diện (interface), kiểu liệt kê (enum) và chú thích (annotation). Thông tin chi tiết hơn về giao diện, kiểu liệt kê và chú thích sẽ được chia sẻ trong các phần tiếp theo.</a:t>
            </a:r>
          </a:p>
          <a:p>
            <a:endParaRPr lang="vi-VN" altLang="ja-JP" dirty="0"/>
          </a:p>
          <a:p>
            <a:r>
              <a:rPr lang="vi-VN" altLang="ja-JP" dirty="0"/>
              <a:t>Hiểu về gói trong Java là điều bắt buộc vì mọi dự án thực tế đều nhóm các lớp, giao diện, v.v. của chúng vào các gói khác nhau để phục vụ các mục đích khác nhau. Đó là lý do tại sao chúng ta sẽ tập trung vào gói trong một vài bài giảng tiếp theo.</a:t>
            </a:r>
          </a:p>
          <a:p>
            <a:endParaRPr lang="vi-VN" altLang="ja-JP" dirty="0"/>
          </a:p>
          <a:p>
            <a:r>
              <a:rPr lang="vi-VN" altLang="ja-JP" dirty="0"/>
              <a:t>Vì module là tùy chọn và được giới thiệu như một phần của JDK 9, cho đến nay nhiều dự án thực tế vẫn chưa sử dụng module. Chúng ta sẽ nói về module trong các phần tiếp theo của khóa học, sau khi thảo luận về tất cả các kiến ​​thức cơ bản của Java.</a:t>
            </a:r>
            <a:endParaRPr kumimoji="1" lang="ja-JP" altLang="en-US" dirty="0"/>
          </a:p>
        </p:txBody>
      </p:sp>
      <p:sp>
        <p:nvSpPr>
          <p:cNvPr id="4" name="Slide Number Placeholder 3">
            <a:extLst>
              <a:ext uri="{FF2B5EF4-FFF2-40B4-BE49-F238E27FC236}">
                <a16:creationId xmlns:a16="http://schemas.microsoft.com/office/drawing/2014/main" id="{2194DAA2-2C07-1A33-1B83-6CEF1A99553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28</a:t>
            </a:fld>
            <a:endParaRPr lang="en-US" altLang="ja-JP"/>
          </a:p>
        </p:txBody>
      </p:sp>
    </p:spTree>
    <p:extLst>
      <p:ext uri="{BB962C8B-B14F-4D97-AF65-F5344CB8AC3E}">
        <p14:creationId xmlns:p14="http://schemas.microsoft.com/office/powerpoint/2010/main" val="406165682"/>
      </p:ext>
    </p:extLst>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22090</TotalTime>
  <Words>4240</Words>
  <Application>Microsoft Office PowerPoint</Application>
  <PresentationFormat>A4 Paper (210x297 mm)</PresentationFormat>
  <Paragraphs>379</Paragraphs>
  <Slides>28</Slides>
  <Notes>0</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28</vt:i4>
      </vt:variant>
    </vt:vector>
  </HeadingPairs>
  <TitlesOfParts>
    <vt:vector size="40" baseType="lpstr">
      <vt:lpstr>HG丸ｺﾞｼｯｸM-PRO</vt:lpstr>
      <vt:lpstr>Meiryo UI</vt:lpstr>
      <vt:lpstr>ＭＳ Ｐゴシック</vt:lpstr>
      <vt:lpstr>MS UI Gothic</vt:lpstr>
      <vt:lpstr>ＭＳ ゴシック</vt:lpstr>
      <vt:lpstr>ADLaM Display</vt:lpstr>
      <vt:lpstr>Arial</vt:lpstr>
      <vt:lpstr>Segoe Script</vt:lpstr>
      <vt:lpstr>Times New Roman</vt:lpstr>
      <vt:lpstr>Wingdings</vt:lpstr>
      <vt:lpstr>標準デザイン</vt:lpstr>
      <vt:lpstr>デザインの設定</vt:lpstr>
      <vt:lpstr>Java Course  </vt:lpstr>
      <vt:lpstr>Schedule</vt:lpstr>
      <vt:lpstr>Chapter 1: Giới thiệu Java</vt:lpstr>
      <vt:lpstr>Java là gì ?</vt:lpstr>
      <vt:lpstr>Java là gì</vt:lpstr>
      <vt:lpstr>PowerPoint Presentation</vt:lpstr>
      <vt:lpstr>PowerPoint Presentation</vt:lpstr>
      <vt:lpstr>PowerPoint Presentation</vt:lpstr>
      <vt:lpstr>Đặc trưng của Java</vt:lpstr>
      <vt:lpstr>Đặc trưng của JAVA</vt:lpstr>
      <vt:lpstr>Ứng dụng của Java</vt:lpstr>
      <vt:lpstr>Việc làm</vt:lpstr>
      <vt:lpstr>Học Java có lỗi thời không?</vt:lpstr>
      <vt:lpstr>Chapter 2: Cấu tạo cơ bản của program　</vt:lpstr>
      <vt:lpstr>Tạo program đơn giản</vt:lpstr>
      <vt:lpstr>Tạo source program</vt:lpstr>
      <vt:lpstr>Tạo program đơn giản</vt:lpstr>
      <vt:lpstr>Compile</vt:lpstr>
      <vt:lpstr>Execute</vt:lpstr>
      <vt:lpstr>Execute</vt:lpstr>
      <vt:lpstr>Cấu tạo cơ bản của program</vt:lpstr>
      <vt:lpstr>Khai báo biến và sử dụng biến</vt:lpstr>
      <vt:lpstr>Kiểu giá trị và kiểu tham chiếu</vt:lpstr>
      <vt:lpstr>Kiểu giá trị và kiểu tham chiếu</vt:lpstr>
      <vt:lpstr>Cấu tạo cơ bản của class</vt:lpstr>
      <vt:lpstr>PowerPoint Presentation</vt:lpstr>
      <vt:lpstr>Gói - packages trong Java </vt:lpstr>
      <vt:lpstr>Cấu trúc một dự án Java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410</cp:revision>
  <cp:lastPrinted>2018-04-10T08:59:30Z</cp:lastPrinted>
  <dcterms:created xsi:type="dcterms:W3CDTF">2025-05-21T02:38:07Z</dcterms:created>
  <dcterms:modified xsi:type="dcterms:W3CDTF">2026-07-31T10:01:01Z</dcterms:modified>
</cp:coreProperties>
</file>