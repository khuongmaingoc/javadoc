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57" r:id="rId4"/>
    <p:sldId id="259" r:id="rId5"/>
    <p:sldId id="272" r:id="rId6"/>
    <p:sldId id="282" r:id="rId7"/>
    <p:sldId id="258" r:id="rId8"/>
    <p:sldId id="274" r:id="rId9"/>
    <p:sldId id="260" r:id="rId10"/>
    <p:sldId id="287" r:id="rId11"/>
    <p:sldId id="276" r:id="rId12"/>
    <p:sldId id="278" r:id="rId13"/>
    <p:sldId id="279" r:id="rId14"/>
    <p:sldId id="281" r:id="rId15"/>
    <p:sldId id="289" r:id="rId16"/>
    <p:sldId id="291" r:id="rId17"/>
    <p:sldId id="292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3" r:id="rId26"/>
    <p:sldId id="302" r:id="rId27"/>
    <p:sldId id="294" r:id="rId28"/>
    <p:sldId id="285" r:id="rId29"/>
    <p:sldId id="286" r:id="rId30"/>
    <p:sldId id="304" r:id="rId31"/>
    <p:sldId id="306" r:id="rId32"/>
    <p:sldId id="305" r:id="rId33"/>
    <p:sldId id="307" r:id="rId34"/>
    <p:sldId id="308" r:id="rId35"/>
    <p:sldId id="309" r:id="rId36"/>
    <p:sldId id="310" r:id="rId37"/>
    <p:sldId id="311" r:id="rId38"/>
    <p:sldId id="312" r:id="rId39"/>
    <p:sldId id="313" r:id="rId40"/>
    <p:sldId id="314" r:id="rId41"/>
    <p:sldId id="315" r:id="rId42"/>
    <p:sldId id="316" r:id="rId43"/>
    <p:sldId id="317" r:id="rId4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6DD26-32A4-2A43-990A-6F7E5E73786E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6AF604-6CBA-6F4A-A6F6-26E48A4D0EE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v2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v2/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8080/api/v2/delete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2825448"/>
            <a:ext cx="3116346" cy="1478046"/>
          </a:xfrm>
          <a:custGeom>
            <a:avLst/>
            <a:gdLst>
              <a:gd name="connsiteX0" fmla="*/ 1925378 w 3116346"/>
              <a:gd name="connsiteY0" fmla="*/ 1246768 h 1478046"/>
              <a:gd name="connsiteX1" fmla="*/ 1925378 w 3116346"/>
              <a:gd name="connsiteY1" fmla="*/ 1412710 h 1478046"/>
              <a:gd name="connsiteX2" fmla="*/ 3123547 w 3116346"/>
              <a:gd name="connsiteY2" fmla="*/ 721392 h 1478046"/>
              <a:gd name="connsiteX3" fmla="*/ 3123547 w 3116346"/>
              <a:gd name="connsiteY3" fmla="*/ 794656 h 1478046"/>
              <a:gd name="connsiteX4" fmla="*/ 1925378 w 3116346"/>
              <a:gd name="connsiteY4" fmla="*/ 1485975 h 1478046"/>
              <a:gd name="connsiteX5" fmla="*/ 14700 w 3116346"/>
              <a:gd name="connsiteY5" fmla="*/ 383247 h 1478046"/>
              <a:gd name="connsiteX6" fmla="*/ 14700 w 3116346"/>
              <a:gd name="connsiteY6" fmla="*/ 82047 h 1478046"/>
              <a:gd name="connsiteX7" fmla="*/ 1925378 w 3116346"/>
              <a:gd name="connsiteY7" fmla="*/ 1184775 h 1478046"/>
              <a:gd name="connsiteX8" fmla="*/ 1925378 w 3116346"/>
              <a:gd name="connsiteY8" fmla="*/ 1184149 h 1478046"/>
              <a:gd name="connsiteX9" fmla="*/ 14700 w 3116346"/>
              <a:gd name="connsiteY9" fmla="*/ 82047 h 1478046"/>
              <a:gd name="connsiteX10" fmla="*/ 122485 w 3116346"/>
              <a:gd name="connsiteY10" fmla="*/ 19428 h 1478046"/>
              <a:gd name="connsiteX11" fmla="*/ 122485 w 3116346"/>
              <a:gd name="connsiteY11" fmla="*/ 29447 h 1478046"/>
              <a:gd name="connsiteX12" fmla="*/ 1905325 w 3116346"/>
              <a:gd name="connsiteY12" fmla="*/ 1057658 h 1478046"/>
              <a:gd name="connsiteX13" fmla="*/ 1906578 w 3116346"/>
              <a:gd name="connsiteY13" fmla="*/ 1056405 h 1478046"/>
              <a:gd name="connsiteX14" fmla="*/ 1906578 w 3116346"/>
              <a:gd name="connsiteY14" fmla="*/ 1057658 h 1478046"/>
              <a:gd name="connsiteX15" fmla="*/ 3004482 w 3116346"/>
              <a:gd name="connsiteY15" fmla="*/ 424576 h 1478046"/>
              <a:gd name="connsiteX16" fmla="*/ 3114147 w 3116346"/>
              <a:gd name="connsiteY16" fmla="*/ 487821 h 1478046"/>
              <a:gd name="connsiteX17" fmla="*/ 3123547 w 3116346"/>
              <a:gd name="connsiteY17" fmla="*/ 482185 h 1478046"/>
              <a:gd name="connsiteX18" fmla="*/ 3123547 w 3116346"/>
              <a:gd name="connsiteY18" fmla="*/ 555450 h 1478046"/>
              <a:gd name="connsiteX19" fmla="*/ 1925378 w 3116346"/>
              <a:gd name="connsiteY19" fmla="*/ 1246768 h 1478046"/>
              <a:gd name="connsiteX20" fmla="*/ 1925378 w 3116346"/>
              <a:gd name="connsiteY20" fmla="*/ 1246768 h 1478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116346" h="1478046">
                <a:moveTo>
                  <a:pt x="1925378" y="1246768"/>
                </a:moveTo>
                <a:lnTo>
                  <a:pt x="1925378" y="1412710"/>
                </a:lnTo>
                <a:lnTo>
                  <a:pt x="3123547" y="721392"/>
                </a:lnTo>
                <a:lnTo>
                  <a:pt x="3123547" y="794656"/>
                </a:lnTo>
                <a:lnTo>
                  <a:pt x="1925378" y="1485975"/>
                </a:lnTo>
                <a:lnTo>
                  <a:pt x="14700" y="383247"/>
                </a:lnTo>
                <a:lnTo>
                  <a:pt x="14700" y="82047"/>
                </a:lnTo>
                <a:lnTo>
                  <a:pt x="1925378" y="1184775"/>
                </a:lnTo>
                <a:lnTo>
                  <a:pt x="1925378" y="1184149"/>
                </a:lnTo>
                <a:lnTo>
                  <a:pt x="14700" y="82047"/>
                </a:lnTo>
                <a:lnTo>
                  <a:pt x="122485" y="19428"/>
                </a:lnTo>
                <a:lnTo>
                  <a:pt x="122485" y="29447"/>
                </a:lnTo>
                <a:lnTo>
                  <a:pt x="1905325" y="1057658"/>
                </a:lnTo>
                <a:lnTo>
                  <a:pt x="1906578" y="1056405"/>
                </a:lnTo>
                <a:lnTo>
                  <a:pt x="1906578" y="1057658"/>
                </a:lnTo>
                <a:lnTo>
                  <a:pt x="3004482" y="424576"/>
                </a:lnTo>
                <a:lnTo>
                  <a:pt x="3114147" y="487821"/>
                </a:lnTo>
                <a:lnTo>
                  <a:pt x="3123547" y="482185"/>
                </a:lnTo>
                <a:lnTo>
                  <a:pt x="3123547" y="555450"/>
                </a:lnTo>
                <a:lnTo>
                  <a:pt x="1925378" y="1246768"/>
                </a:lnTo>
                <a:lnTo>
                  <a:pt x="1925378" y="1246768"/>
                </a:lnTo>
                <a:close/>
              </a:path>
            </a:pathLst>
          </a:custGeom>
          <a:solidFill>
            <a:srgbClr val="F5B3A5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498080" cy="10287000"/>
          </a:xfrm>
          <a:prstGeom prst="rect">
            <a:avLst/>
          </a:prstGeom>
        </p:spPr>
      </p:pic>
      <p:sp>
        <p:nvSpPr>
          <p:cNvPr id="12" name="TextBox 10"/>
          <p:cNvSpPr txBox="1"/>
          <p:nvPr/>
        </p:nvSpPr>
        <p:spPr>
          <a:xfrm>
            <a:off x="8209046" y="1937396"/>
            <a:ext cx="9164554" cy="647933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spc="515" dirty="0">
                <a:solidFill>
                  <a:srgbClr val="93DCDD"/>
                </a:solidFill>
                <a:latin typeface="Times New Roman"/>
                <a:ea typeface="Times New Roman"/>
              </a:rPr>
              <a:t>Sample Spring Boot</a:t>
            </a:r>
            <a:endParaRPr lang="en-US" altLang="zh-CN" sz="2400" spc="490" dirty="0">
              <a:solidFill>
                <a:srgbClr val="93DCDD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775"/>
              </a:lnSpc>
            </a:pPr>
            <a:endParaRPr lang="en-US" dirty="0"/>
          </a:p>
          <a:p>
            <a:pPr hangingPunct="0">
              <a:lnSpc>
                <a:spcPct val="95416"/>
              </a:lnSpc>
            </a:pPr>
            <a:r>
              <a:rPr lang="en-US" altLang="zh-CN" sz="6600" b="1" spc="650" dirty="0">
                <a:solidFill>
                  <a:srgbClr val="F5B3A5"/>
                </a:solidFill>
                <a:latin typeface="Times New Roman"/>
                <a:ea typeface="Times New Roman"/>
              </a:rPr>
              <a:t>Spring Boot + </a:t>
            </a:r>
          </a:p>
          <a:p>
            <a:pPr hangingPunct="0">
              <a:lnSpc>
                <a:spcPct val="95416"/>
              </a:lnSpc>
            </a:pPr>
            <a:r>
              <a:rPr lang="en-US" altLang="zh-CN" sz="6600" b="1" spc="650" dirty="0">
                <a:solidFill>
                  <a:srgbClr val="F5B3A5"/>
                </a:solidFill>
                <a:latin typeface="Times New Roman"/>
                <a:ea typeface="Times New Roman"/>
              </a:rPr>
              <a:t>Spring Security + Spring Data JPA + MSSQL CRUD Restful API Example</a:t>
            </a:r>
            <a:endParaRPr lang="en-US" sz="1400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129913" y="3317019"/>
            <a:ext cx="5329823" cy="6977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26666"/>
              </a:lnSpc>
            </a:pPr>
            <a:r>
              <a:rPr lang="en-US" altLang="zh-CN" sz="3950" spc="234" dirty="0" err="1">
                <a:solidFill>
                  <a:srgbClr val="FEFEFE"/>
                </a:solidFill>
                <a:latin typeface="Times New Roman"/>
                <a:ea typeface="Times New Roman"/>
              </a:rPr>
              <a:t>Nội</a:t>
            </a:r>
            <a:r>
              <a:rPr lang="en-US" altLang="zh-CN" sz="3950" spc="234" dirty="0">
                <a:solidFill>
                  <a:srgbClr val="FEFEFE"/>
                </a:solidFill>
                <a:latin typeface="Times New Roman"/>
                <a:ea typeface="Times New Roman"/>
              </a:rPr>
              <a:t> dung </a:t>
            </a:r>
            <a:r>
              <a:rPr lang="en-US" altLang="zh-CN" sz="3950" spc="234" dirty="0" err="1">
                <a:solidFill>
                  <a:srgbClr val="FEFEFE"/>
                </a:solidFill>
                <a:latin typeface="Times New Roman"/>
                <a:ea typeface="Times New Roman"/>
              </a:rPr>
              <a:t>thuyết</a:t>
            </a:r>
            <a:r>
              <a:rPr lang="en-US" altLang="zh-CN" sz="3950" spc="234" dirty="0">
                <a:solidFill>
                  <a:srgbClr val="FEFEFE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3950" spc="234" dirty="0" err="1">
                <a:solidFill>
                  <a:srgbClr val="FEFEFE"/>
                </a:solidFill>
                <a:latin typeface="Times New Roman"/>
                <a:ea typeface="Times New Roman"/>
              </a:rPr>
              <a:t>trình</a:t>
            </a:r>
            <a:endParaRPr lang="en-US" altLang="zh-CN" sz="3950" spc="215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797278" y="5616125"/>
            <a:ext cx="230673" cy="225977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29210">
              <a:lnSpc>
                <a:spcPct val="110416"/>
              </a:lnSpc>
            </a:pPr>
            <a:r>
              <a:rPr lang="en-US" altLang="zh-CN" sz="3300" b="1" spc="-405" dirty="0">
                <a:solidFill>
                  <a:srgbClr val="FEFEFE"/>
                </a:solidFill>
                <a:latin typeface="Times New Roman"/>
                <a:ea typeface="Times New Roman"/>
              </a:rPr>
              <a:t>1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44"/>
              </a:lnSpc>
            </a:pPr>
            <a:endParaRPr lang="en-US" dirty="0"/>
          </a:p>
          <a:p>
            <a:pPr marL="0">
              <a:lnSpc>
                <a:spcPct val="110416"/>
              </a:lnSpc>
            </a:pPr>
            <a:r>
              <a:rPr lang="en-US" altLang="zh-CN" sz="3300" b="1" spc="55" dirty="0">
                <a:solidFill>
                  <a:srgbClr val="FEFEFE"/>
                </a:solidFill>
                <a:latin typeface="Times New Roman"/>
                <a:ea typeface="Times New Roman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494522" y="5518752"/>
            <a:ext cx="4442302" cy="232627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spc="114" dirty="0">
                <a:solidFill>
                  <a:srgbClr val="000000"/>
                </a:solidFill>
                <a:latin typeface="Times New Roman"/>
                <a:ea typeface="Times New Roman"/>
              </a:rPr>
              <a:t>Giới</a:t>
            </a:r>
            <a:r>
              <a:rPr lang="en-US" altLang="zh-CN" sz="2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00" dirty="0">
                <a:solidFill>
                  <a:srgbClr val="000000"/>
                </a:solidFill>
                <a:latin typeface="Times New Roman"/>
                <a:ea typeface="Times New Roman"/>
              </a:rPr>
              <a:t>thiệu</a:t>
            </a:r>
            <a:r>
              <a:rPr lang="en-US" altLang="zh-CN" sz="2400" spc="64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25" dirty="0" err="1">
                <a:solidFill>
                  <a:srgbClr val="000000"/>
                </a:solidFill>
                <a:latin typeface="Times New Roman"/>
                <a:ea typeface="Times New Roman"/>
              </a:rPr>
              <a:t>về</a:t>
            </a:r>
            <a:r>
              <a:rPr lang="en-US" altLang="zh-CN" sz="2400" spc="6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altLang="zh-CN" sz="2400" spc="114" dirty="0">
                <a:solidFill>
                  <a:srgbClr val="000000"/>
                </a:solidFill>
                <a:latin typeface="Times New Roman"/>
              </a:rPr>
              <a:t>Sample</a:t>
            </a:r>
            <a:endParaRPr lang="en-US" altLang="zh-CN" sz="2400" spc="114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39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4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năng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ea typeface="Times New Roman"/>
              </a:rPr>
              <a:t> API, Flow </a:t>
            </a:r>
            <a:r>
              <a:rPr lang="en-US" altLang="zh-CN" sz="24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2400" spc="139" dirty="0">
                <a:solidFill>
                  <a:srgbClr val="000000"/>
                </a:solidFill>
                <a:latin typeface="Times New Roman"/>
                <a:ea typeface="Times New Roman"/>
              </a:rPr>
              <a:t> Sample</a:t>
            </a:r>
            <a:endParaRPr lang="en-US" altLang="zh-CN" sz="2400" spc="15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98203" y="5616126"/>
            <a:ext cx="232758" cy="225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0416"/>
              </a:lnSpc>
            </a:pPr>
            <a:r>
              <a:rPr lang="en-US" altLang="zh-CN" sz="3300" b="1" spc="-60" dirty="0">
                <a:solidFill>
                  <a:srgbClr val="FEFEFE"/>
                </a:solidFill>
                <a:latin typeface="Times New Roman"/>
                <a:ea typeface="Times New Roman"/>
              </a:rPr>
              <a:t>3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44"/>
              </a:lnSpc>
            </a:pPr>
            <a:endParaRPr lang="en-US" dirty="0"/>
          </a:p>
          <a:p>
            <a:pPr marL="0">
              <a:lnSpc>
                <a:spcPct val="110416"/>
              </a:lnSpc>
            </a:pPr>
            <a:r>
              <a:rPr lang="en-US" altLang="zh-CN" sz="3300" b="1" spc="69" dirty="0">
                <a:solidFill>
                  <a:srgbClr val="FEFEFE"/>
                </a:solidFill>
                <a:latin typeface="Times New Roman"/>
                <a:ea typeface="Times New Roman"/>
              </a:rPr>
              <a:t>4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174631" y="5624062"/>
            <a:ext cx="4529826" cy="210057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2400" spc="16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Áp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en-US" altLang="zh-CN" sz="2400" spc="16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dụng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JPA Query </a:t>
            </a:r>
            <a:r>
              <a:rPr lang="en-US" altLang="zh-CN" sz="2400" spc="16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và</a:t>
            </a:r>
            <a:r>
              <a:rPr lang="en-US" altLang="zh-CN" sz="2400" spc="16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Security</a:t>
            </a:r>
            <a:endParaRPr lang="en-US" altLang="zh-CN" sz="2400" spc="150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539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05793" y="1173518"/>
            <a:ext cx="3715657" cy="3715657"/>
          </a:xfrm>
          <a:prstGeom prst="rect">
            <a:avLst/>
          </a:prstGeom>
        </p:spPr>
      </p:pic>
      <p:pic>
        <p:nvPicPr>
          <p:cNvPr id="11" name="図 10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6000" contras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136" y="612047"/>
            <a:ext cx="3715657" cy="3715657"/>
          </a:xfrm>
          <a:prstGeom prst="rect">
            <a:avLst/>
          </a:prstGeom>
        </p:spPr>
      </p:pic>
      <p:sp>
        <p:nvSpPr>
          <p:cNvPr id="12" name="TextBox 8"/>
          <p:cNvSpPr txBox="1"/>
          <p:nvPr/>
        </p:nvSpPr>
        <p:spPr>
          <a:xfrm>
            <a:off x="10713720" y="1410385"/>
            <a:ext cx="2102394" cy="2045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Users</a:t>
            </a:r>
          </a:p>
        </p:txBody>
      </p:sp>
      <p:sp>
        <p:nvSpPr>
          <p:cNvPr id="13" name="TextBox 8"/>
          <p:cNvSpPr txBox="1"/>
          <p:nvPr/>
        </p:nvSpPr>
        <p:spPr>
          <a:xfrm>
            <a:off x="13890171" y="1976442"/>
            <a:ext cx="2496457" cy="12824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1000"/>
              </a:lnSpc>
            </a:pPr>
            <a:r>
              <a:rPr lang="en-US" sz="3200" dirty="0">
                <a:solidFill>
                  <a:schemeClr val="bg1"/>
                </a:solidFill>
                <a:latin typeface="Consolas" panose="020B0609020204030204" pitchFamily="49" charset="0"/>
              </a:rPr>
              <a:t>Facilities</a:t>
            </a:r>
          </a:p>
        </p:txBody>
      </p:sp>
    </p:spTree>
    <p:extLst>
      <p:ext uri="{BB962C8B-B14F-4D97-AF65-F5344CB8AC3E}">
        <p14:creationId xmlns:p14="http://schemas.microsoft.com/office/powerpoint/2010/main" val="340329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668780"/>
            <a:ext cx="6065520" cy="6675120"/>
          </a:xfrm>
          <a:prstGeom prst="rect">
            <a:avLst/>
          </a:prstGeom>
        </p:spPr>
      </p:pic>
      <p:sp>
        <p:nvSpPr>
          <p:cNvPr id="2" name="TextBox 21"/>
          <p:cNvSpPr txBox="1"/>
          <p:nvPr/>
        </p:nvSpPr>
        <p:spPr>
          <a:xfrm>
            <a:off x="8455387" y="3356693"/>
            <a:ext cx="8223250" cy="270843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1.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Giới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thiệu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về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Sample</a:t>
            </a:r>
            <a:endParaRPr lang="en-US" altLang="zh-CN" sz="4400" spc="195" dirty="0">
              <a:solidFill>
                <a:srgbClr val="93DCDD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7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EEEE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8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9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EEEEE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602479" cy="1882139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38460" y="373380"/>
            <a:ext cx="2087880" cy="1295400"/>
          </a:xfrm>
          <a:prstGeom prst="rect">
            <a:avLst/>
          </a:prstGeom>
        </p:spPr>
      </p:pic>
      <p:pic>
        <p:nvPicPr>
          <p:cNvPr id="65" name="Picture 6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29260" y="0"/>
            <a:ext cx="3840479" cy="1668780"/>
          </a:xfrm>
          <a:prstGeom prst="rect">
            <a:avLst/>
          </a:prstGeom>
        </p:spPr>
      </p:pic>
      <p:pic>
        <p:nvPicPr>
          <p:cNvPr id="67" name="Picture 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0"/>
            <a:ext cx="5356860" cy="1828800"/>
          </a:xfrm>
          <a:prstGeom prst="rect">
            <a:avLst/>
          </a:prstGeom>
        </p:spPr>
      </p:pic>
      <p:sp>
        <p:nvSpPr>
          <p:cNvPr id="4" name="TextBox 67"/>
          <p:cNvSpPr txBox="1"/>
          <p:nvPr/>
        </p:nvSpPr>
        <p:spPr>
          <a:xfrm>
            <a:off x="1370693" y="2694459"/>
            <a:ext cx="12113077" cy="235910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hangingPunct="0">
              <a:lnSpc>
                <a:spcPct val="95416"/>
              </a:lnSpc>
            </a:pPr>
            <a:r>
              <a:rPr lang="en-US" altLang="zh-CN" sz="6400" b="1" spc="469" dirty="0">
                <a:solidFill>
                  <a:srgbClr val="294980"/>
                </a:solidFill>
                <a:latin typeface="Times New Roman"/>
                <a:ea typeface="Times New Roman"/>
              </a:rPr>
              <a:t>1.Giới </a:t>
            </a:r>
            <a:r>
              <a:rPr lang="en-US" altLang="zh-CN" sz="6400" b="1" spc="469" dirty="0" err="1">
                <a:solidFill>
                  <a:srgbClr val="294980"/>
                </a:solidFill>
                <a:latin typeface="Times New Roman"/>
                <a:ea typeface="Times New Roman"/>
              </a:rPr>
              <a:t>thiệu</a:t>
            </a:r>
            <a:r>
              <a:rPr lang="en-US" altLang="zh-CN" sz="6400" b="1" spc="46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400" b="1" spc="469" dirty="0" err="1">
                <a:solidFill>
                  <a:srgbClr val="294980"/>
                </a:solidFill>
                <a:latin typeface="Times New Roman"/>
                <a:ea typeface="Times New Roman"/>
              </a:rPr>
              <a:t>về</a:t>
            </a:r>
            <a:r>
              <a:rPr lang="en-US" altLang="zh-CN" sz="6400" b="1" spc="469" dirty="0">
                <a:solidFill>
                  <a:srgbClr val="294980"/>
                </a:solidFill>
                <a:latin typeface="Times New Roman"/>
                <a:ea typeface="Times New Roman"/>
              </a:rPr>
              <a:t> Sample</a:t>
            </a: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144"/>
              </a:lnSpc>
            </a:pPr>
            <a:endParaRPr lang="en-US" dirty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370693" y="3889829"/>
            <a:ext cx="89696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Sample </a:t>
            </a:r>
            <a:r>
              <a:rPr lang="en-US" sz="3200" dirty="0" err="1"/>
              <a:t>được</a:t>
            </a:r>
            <a:r>
              <a:rPr lang="en-US" sz="3200" dirty="0"/>
              <a:t> </a:t>
            </a:r>
            <a:r>
              <a:rPr lang="en-US" sz="3200" dirty="0" err="1"/>
              <a:t>kết</a:t>
            </a:r>
            <a:r>
              <a:rPr lang="en-US" sz="3200" dirty="0"/>
              <a:t> </a:t>
            </a:r>
            <a:r>
              <a:rPr lang="en-US" sz="3200" dirty="0" err="1"/>
              <a:t>hợp</a:t>
            </a:r>
            <a:r>
              <a:rPr lang="en-US" sz="3200" dirty="0"/>
              <a:t> </a:t>
            </a:r>
            <a:r>
              <a:rPr lang="en-US" sz="3200" dirty="0" err="1"/>
              <a:t>từ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công</a:t>
            </a:r>
            <a:r>
              <a:rPr lang="en-US" sz="3200" dirty="0"/>
              <a:t> </a:t>
            </a:r>
            <a:r>
              <a:rPr lang="en-US" sz="3200" dirty="0" err="1"/>
              <a:t>nghệ</a:t>
            </a:r>
            <a:r>
              <a:rPr lang="en-US" sz="3200" dirty="0"/>
              <a:t> </a:t>
            </a:r>
            <a:r>
              <a:rPr lang="en-US" sz="3200" dirty="0" err="1"/>
              <a:t>dưới</a:t>
            </a:r>
            <a:r>
              <a:rPr lang="en-US" sz="3200" dirty="0"/>
              <a:t>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Spring Boot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Spring Security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Spring Data JPA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 err="1"/>
              <a:t>PostgreSQL</a:t>
            </a:r>
            <a:r>
              <a:rPr lang="en-US" sz="3200" dirty="0"/>
              <a:t> </a:t>
            </a:r>
          </a:p>
        </p:txBody>
      </p:sp>
      <p:sp>
        <p:nvSpPr>
          <p:cNvPr id="64" name="テキスト ボックス 63"/>
          <p:cNvSpPr txBox="1"/>
          <p:nvPr/>
        </p:nvSpPr>
        <p:spPr>
          <a:xfrm>
            <a:off x="1370692" y="6705601"/>
            <a:ext cx="89696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Sample </a:t>
            </a:r>
            <a:r>
              <a:rPr lang="en-US" sz="3200" dirty="0" err="1"/>
              <a:t>đầy</a:t>
            </a:r>
            <a:r>
              <a:rPr lang="en-US" sz="3200" dirty="0"/>
              <a:t> </a:t>
            </a:r>
            <a:r>
              <a:rPr lang="en-US" sz="3200" dirty="0" err="1"/>
              <a:t>đủ</a:t>
            </a:r>
            <a:r>
              <a:rPr lang="en-US" sz="3200" dirty="0"/>
              <a:t> 4 </a:t>
            </a:r>
            <a:r>
              <a:rPr lang="en-US" sz="3200" dirty="0" err="1"/>
              <a:t>tính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cơ</a:t>
            </a:r>
            <a:r>
              <a:rPr lang="en-US" sz="3200" dirty="0"/>
              <a:t> </a:t>
            </a:r>
            <a:r>
              <a:rPr lang="en-US" sz="3200" dirty="0" err="1"/>
              <a:t>bản</a:t>
            </a:r>
            <a:r>
              <a:rPr lang="en-US" sz="3200" dirty="0"/>
              <a:t> CRUD </a:t>
            </a:r>
            <a:r>
              <a:rPr lang="en-US" sz="3200" dirty="0" err="1"/>
              <a:t>của</a:t>
            </a:r>
            <a:r>
              <a:rPr lang="en-US" sz="3200" dirty="0"/>
              <a:t> </a:t>
            </a:r>
            <a:r>
              <a:rPr lang="en-US" sz="3200" dirty="0" err="1"/>
              <a:t>một</a:t>
            </a:r>
            <a:r>
              <a:rPr lang="en-US" sz="3200" dirty="0"/>
              <a:t> API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Cấu</a:t>
            </a: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40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trúc</a:t>
            </a: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folder </a:t>
            </a:r>
            <a:r>
              <a:rPr lang="en-US" altLang="zh-CN" sz="40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project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152009"/>
              </p:ext>
            </p:extLst>
          </p:nvPr>
        </p:nvGraphicFramePr>
        <p:xfrm>
          <a:off x="36287" y="3460232"/>
          <a:ext cx="8996586" cy="68314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3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52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56137">
                <a:tc>
                  <a:txBody>
                    <a:bodyPr/>
                    <a:lstStyle/>
                    <a:p>
                      <a:pPr marL="0" indent="645467" algn="l">
                        <a:lnSpc>
                          <a:spcPct val="100000"/>
                        </a:lnSpc>
                      </a:pPr>
                      <a:endParaRPr lang="en-US" altLang="zh-CN" sz="2400" spc="-865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645467" algn="l">
                        <a:lnSpc>
                          <a:spcPct val="100000"/>
                        </a:lnSpc>
                      </a:pPr>
                      <a:r>
                        <a:rPr lang="en-US" altLang="zh-CN" sz="2400" spc="-86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1</a:t>
                      </a: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0703" algn="l" hangingPunct="0">
                        <a:lnSpc>
                          <a:spcPct val="114166"/>
                        </a:lnSpc>
                      </a:pPr>
                      <a:r>
                        <a:rPr lang="en-US" altLang="zh-CN" sz="2400" b="1" spc="17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Configuration</a:t>
                      </a:r>
                      <a:r>
                        <a:rPr lang="en-US" altLang="zh-CN" sz="2400" spc="175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Thực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hiện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config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spring security </a:t>
                      </a:r>
                      <a:r>
                        <a:rPr lang="en-US" altLang="zh-CN" sz="2400" spc="175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và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control </a:t>
                      </a:r>
                      <a:r>
                        <a:rPr lang="en-US" altLang="zh-CN" sz="2400" spc="175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quyền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cho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175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từng</a:t>
                      </a:r>
                      <a:r>
                        <a:rPr lang="en-US" altLang="zh-CN" sz="2400" spc="175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user</a:t>
                      </a:r>
                      <a:endParaRPr lang="en-US" altLang="zh-CN" sz="2400" spc="175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0296">
                <a:tc>
                  <a:txBody>
                    <a:bodyPr/>
                    <a:lstStyle/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2</a:t>
                      </a: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360703" algn="l">
                        <a:lnSpc>
                          <a:spcPct val="100000"/>
                        </a:lnSpc>
                      </a:pPr>
                      <a:r>
                        <a:rPr lang="en-US" altLang="zh-CN" sz="2400" b="1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Controller</a:t>
                      </a:r>
                      <a:r>
                        <a:rPr lang="en-US" altLang="zh-CN" sz="24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 </a:t>
                      </a:r>
                      <a:r>
                        <a:rPr lang="en-US" altLang="zh-CN" sz="2400" spc="89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Khai</a:t>
                      </a:r>
                      <a:r>
                        <a:rPr lang="en-US" altLang="zh-CN" sz="24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báo</a:t>
                      </a:r>
                      <a:r>
                        <a:rPr lang="en-US" altLang="zh-CN" sz="24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request mapping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và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xử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lý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các</a:t>
                      </a:r>
                      <a:endParaRPr lang="en-US" altLang="zh-CN" sz="2400" spc="89" baseline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360703" algn="l">
                        <a:lnSpc>
                          <a:spcPct val="100000"/>
                        </a:lnSpc>
                      </a:pP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request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từ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người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dùng</a:t>
                      </a:r>
                      <a:endParaRPr lang="en-US" altLang="zh-CN" sz="2400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7585">
                <a:tc>
                  <a:txBody>
                    <a:bodyPr/>
                    <a:lstStyle/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3</a:t>
                      </a: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b="1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Entity</a:t>
                      </a:r>
                      <a:r>
                        <a:rPr lang="en-US" altLang="zh-CN" sz="24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 </a:t>
                      </a:r>
                      <a:r>
                        <a:rPr lang="en-US" altLang="zh-CN" sz="2400" spc="89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Các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class entity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tương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ứng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với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mỗi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table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trong</a:t>
                      </a:r>
                      <a:endParaRPr lang="en-US" altLang="zh-CN" sz="2400" spc="89" baseline="0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database</a:t>
                      </a:r>
                      <a:endParaRPr lang="en-US" altLang="zh-CN" sz="2400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8103">
                <a:tc>
                  <a:txBody>
                    <a:bodyPr/>
                    <a:lstStyle/>
                    <a:p>
                      <a:pPr marL="0" indent="583852" algn="l">
                        <a:lnSpc>
                          <a:spcPct val="100000"/>
                        </a:lnSpc>
                      </a:pP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 algn="l">
                        <a:lnSpc>
                          <a:spcPct val="100000"/>
                        </a:lnSpc>
                      </a:pPr>
                      <a:r>
                        <a:rPr lang="en-US" altLang="zh-CN" sz="2400" spc="104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4</a:t>
                      </a: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b="1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Repository</a:t>
                      </a:r>
                      <a:r>
                        <a:rPr lang="en-US" altLang="zh-CN" sz="24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: </a:t>
                      </a:r>
                      <a:r>
                        <a:rPr lang="en-US" altLang="zh-CN" sz="2400" spc="89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Định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nghĩa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các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altLang="zh-CN" sz="24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Class</a:t>
                      </a:r>
                      <a:r>
                        <a:rPr lang="en-US" altLang="zh-CN" sz="24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 </a:t>
                      </a:r>
                      <a:r>
                        <a:rPr lang="en-US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Repository </a:t>
                      </a:r>
                      <a:r>
                        <a:rPr lang="en-US" sz="24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kế</a:t>
                      </a:r>
                      <a:r>
                        <a:rPr lang="en-US" sz="2400" b="0" i="0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400" b="0" i="0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thừa</a:t>
                      </a:r>
                      <a:endParaRPr lang="en-US" sz="2400" b="0" i="0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indent="360703">
                        <a:lnSpc>
                          <a:spcPct val="100000"/>
                        </a:lnSpc>
                      </a:pPr>
                      <a:r>
                        <a:rPr lang="en-US" altLang="zh-CN" sz="2400" b="0" i="0" kern="1200" spc="89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từ</a:t>
                      </a:r>
                      <a:r>
                        <a:rPr lang="en-US" altLang="zh-CN" sz="2400" b="0" i="0" kern="1200" spc="89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1" i="0" kern="1200" spc="89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CrudRepository</a:t>
                      </a:r>
                      <a:r>
                        <a:rPr lang="en-US" altLang="zh-CN" sz="2400" b="1" i="0" kern="1200" spc="89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của</a:t>
                      </a:r>
                      <a:r>
                        <a:rPr lang="en-US" altLang="zh-CN" sz="2400" b="0" i="0" kern="1200" spc="89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Spring Data </a:t>
                      </a:r>
                      <a:r>
                        <a:rPr lang="en-US" altLang="zh-CN" sz="2400" b="0" i="0" kern="1200" spc="89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để</a:t>
                      </a:r>
                      <a:r>
                        <a:rPr lang="en-US" altLang="zh-CN" sz="2400" b="0" i="0" kern="1200" spc="89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thao</a:t>
                      </a:r>
                      <a:r>
                        <a:rPr lang="en-US" altLang="zh-CN" sz="2400" b="0" i="0" kern="1200" spc="89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tác</a:t>
                      </a:r>
                      <a:r>
                        <a:rPr lang="en-US" altLang="zh-CN" sz="2400" b="0" i="0" kern="1200" spc="89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CN" sz="2400" b="0" i="0" kern="1200" spc="89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với</a:t>
                      </a:r>
                      <a:r>
                        <a:rPr lang="en-US" altLang="zh-CN" sz="2400" b="0" i="0" kern="1200" spc="89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DB</a:t>
                      </a:r>
                      <a:endParaRPr lang="en-US" altLang="zh-CN" sz="2400" b="1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45328"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5</a:t>
                      </a:r>
                    </a:p>
                  </a:txBody>
                  <a:tcPr marL="0" marR="0" marT="0" marB="0">
                    <a:lnR w="19056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000"/>
                        </a:lnSpc>
                      </a:pPr>
                      <a:endParaRPr lang="en-US" dirty="0"/>
                    </a:p>
                    <a:p>
                      <a:pPr marL="0" indent="360703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b="1" kern="12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Response</a:t>
                      </a:r>
                      <a:r>
                        <a:rPr lang="en-US" sz="2400" kern="12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: Class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EntityResponse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dùng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để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ouput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data</a:t>
                      </a:r>
                      <a:endParaRPr lang="en-US" sz="2400" kern="1200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0" marR="0" marT="0" marB="0">
                    <a:lnL w="19056">
                      <a:solidFill>
                        <a:srgbClr val="000000"/>
                      </a:solidFill>
                      <a:prstDash val="soli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4049">
                <a:tc>
                  <a:txBody>
                    <a:bodyPr/>
                    <a:lstStyle/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endParaRPr lang="en-US" altLang="zh-CN" sz="2400" spc="104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</a:endParaRPr>
                    </a:p>
                    <a:p>
                      <a:pPr marL="0" indent="583852">
                        <a:lnSpc>
                          <a:spcPct val="100000"/>
                        </a:lnSpc>
                      </a:pPr>
                      <a:r>
                        <a:rPr lang="en-US" altLang="zh-CN" sz="2400" spc="104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6</a:t>
                      </a:r>
                    </a:p>
                  </a:txBody>
                  <a:tcPr marL="0" marR="0" marT="0" marB="0">
                    <a:lnR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0" indent="360703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b="1" kern="12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Service</a:t>
                      </a:r>
                      <a:r>
                        <a:rPr lang="en-US" sz="2400" kern="12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: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Định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nghĩa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các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class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xử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lý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nghiệp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vụ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, data</a:t>
                      </a:r>
                    </a:p>
                    <a:p>
                      <a:pPr marL="0" indent="360703" algn="l" defTabSz="457200" rtl="0" eaLnBrk="1" latinLnBrk="0" hangingPunct="1">
                        <a:lnSpc>
                          <a:spcPct val="100000"/>
                        </a:lnSpc>
                      </a:pP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được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get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từ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</a:t>
                      </a:r>
                      <a:r>
                        <a:rPr lang="en-US" sz="2400" kern="1200" spc="89" baseline="0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các</a:t>
                      </a:r>
                      <a:r>
                        <a:rPr lang="en-US" sz="2400" kern="1200" spc="89" baseline="0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+mn-cs"/>
                        </a:rPr>
                        <a:t> class </a:t>
                      </a:r>
                      <a:r>
                        <a:rPr lang="en-US" altLang="zh-CN" sz="2400" spc="89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</a:rPr>
                        <a:t>Repository</a:t>
                      </a:r>
                      <a:endParaRPr lang="en-US" sz="2400" kern="1200" spc="89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0" marR="0" marT="0" marB="0">
                    <a:lnL w="190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図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8589" y="126275"/>
            <a:ext cx="4461981" cy="10084678"/>
          </a:xfrm>
          <a:prstGeom prst="rect">
            <a:avLst/>
          </a:prstGeom>
        </p:spPr>
      </p:pic>
      <p:sp>
        <p:nvSpPr>
          <p:cNvPr id="4" name="正方形/長方形 3"/>
          <p:cNvSpPr/>
          <p:nvPr/>
        </p:nvSpPr>
        <p:spPr>
          <a:xfrm>
            <a:off x="12148457" y="984531"/>
            <a:ext cx="2278743" cy="4959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正方形/長方形 7"/>
          <p:cNvSpPr/>
          <p:nvPr/>
        </p:nvSpPr>
        <p:spPr>
          <a:xfrm>
            <a:off x="12148456" y="1573073"/>
            <a:ext cx="2278743" cy="695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正方形/長方形 8"/>
          <p:cNvSpPr/>
          <p:nvPr/>
        </p:nvSpPr>
        <p:spPr>
          <a:xfrm>
            <a:off x="12148457" y="2360775"/>
            <a:ext cx="2278743" cy="6950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正方形/長方形 11"/>
          <p:cNvSpPr/>
          <p:nvPr/>
        </p:nvSpPr>
        <p:spPr>
          <a:xfrm>
            <a:off x="12148455" y="3170851"/>
            <a:ext cx="2278743" cy="7653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正方形/長方形 12"/>
          <p:cNvSpPr/>
          <p:nvPr/>
        </p:nvSpPr>
        <p:spPr>
          <a:xfrm>
            <a:off x="12148455" y="3975874"/>
            <a:ext cx="2278743" cy="549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正方形/長方形 13"/>
          <p:cNvSpPr/>
          <p:nvPr/>
        </p:nvSpPr>
        <p:spPr>
          <a:xfrm>
            <a:off x="12148457" y="4558893"/>
            <a:ext cx="2278743" cy="10676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4565084" y="1001661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" name="テキスト ボックス 15"/>
          <p:cNvSpPr txBox="1"/>
          <p:nvPr/>
        </p:nvSpPr>
        <p:spPr>
          <a:xfrm>
            <a:off x="14565084" y="1689783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" name="テキスト ボックス 16"/>
          <p:cNvSpPr txBox="1"/>
          <p:nvPr/>
        </p:nvSpPr>
        <p:spPr>
          <a:xfrm>
            <a:off x="14565084" y="2477485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14543309" y="3322681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14565083" y="4035949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" name="テキスト ボックス 19"/>
          <p:cNvSpPr txBox="1"/>
          <p:nvPr/>
        </p:nvSpPr>
        <p:spPr>
          <a:xfrm>
            <a:off x="14543308" y="4691583"/>
            <a:ext cx="420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84607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2" name="object 2"/>
          <p:cNvGrpSpPr/>
          <p:nvPr/>
        </p:nvGrpSpPr>
        <p:grpSpPr>
          <a:xfrm>
            <a:off x="300588" y="471498"/>
            <a:ext cx="17428845" cy="9344025"/>
            <a:chOff x="300588" y="471498"/>
            <a:chExt cx="17428845" cy="9344025"/>
          </a:xfrm>
        </p:grpSpPr>
        <p:sp>
          <p:nvSpPr>
            <p:cNvPr id="3" name="object 3"/>
            <p:cNvSpPr/>
            <p:nvPr/>
          </p:nvSpPr>
          <p:spPr>
            <a:xfrm>
              <a:off x="2336660" y="471500"/>
              <a:ext cx="14328140" cy="9344025"/>
            </a:xfrm>
            <a:custGeom>
              <a:avLst/>
              <a:gdLst/>
              <a:ahLst/>
              <a:cxnLst/>
              <a:rect l="l" t="t" r="r" b="b"/>
              <a:pathLst>
                <a:path w="14328140" h="9344025">
                  <a:moveTo>
                    <a:pt x="0" y="9344025"/>
                  </a:moveTo>
                  <a:lnTo>
                    <a:pt x="14328080" y="9344025"/>
                  </a:lnTo>
                  <a:lnTo>
                    <a:pt x="14322202" y="9305523"/>
                  </a:lnTo>
                  <a:lnTo>
                    <a:pt x="14315900" y="9263519"/>
                  </a:lnTo>
                  <a:lnTo>
                    <a:pt x="14309646" y="9221114"/>
                  </a:lnTo>
                  <a:lnTo>
                    <a:pt x="14303440" y="9178308"/>
                  </a:lnTo>
                  <a:lnTo>
                    <a:pt x="14297282" y="9135105"/>
                  </a:lnTo>
                  <a:lnTo>
                    <a:pt x="14291172" y="9091505"/>
                  </a:lnTo>
                  <a:lnTo>
                    <a:pt x="14285109" y="9047511"/>
                  </a:lnTo>
                  <a:lnTo>
                    <a:pt x="14279094" y="9003125"/>
                  </a:lnTo>
                  <a:lnTo>
                    <a:pt x="14273126" y="8958347"/>
                  </a:lnTo>
                  <a:lnTo>
                    <a:pt x="14267205" y="8913180"/>
                  </a:lnTo>
                  <a:lnTo>
                    <a:pt x="14261331" y="8867625"/>
                  </a:lnTo>
                  <a:lnTo>
                    <a:pt x="14255503" y="8821685"/>
                  </a:lnTo>
                  <a:lnTo>
                    <a:pt x="14249722" y="8775361"/>
                  </a:lnTo>
                  <a:lnTo>
                    <a:pt x="14243987" y="8728654"/>
                  </a:lnTo>
                  <a:lnTo>
                    <a:pt x="14238297" y="8681567"/>
                  </a:lnTo>
                  <a:lnTo>
                    <a:pt x="14232654" y="8634101"/>
                  </a:lnTo>
                  <a:lnTo>
                    <a:pt x="14227055" y="8586257"/>
                  </a:lnTo>
                  <a:lnTo>
                    <a:pt x="14221502" y="8538039"/>
                  </a:lnTo>
                  <a:lnTo>
                    <a:pt x="14215994" y="8489446"/>
                  </a:lnTo>
                  <a:lnTo>
                    <a:pt x="14210531" y="8440482"/>
                  </a:lnTo>
                  <a:lnTo>
                    <a:pt x="14205113" y="8391147"/>
                  </a:lnTo>
                  <a:lnTo>
                    <a:pt x="14199739" y="8341444"/>
                  </a:lnTo>
                  <a:lnTo>
                    <a:pt x="14194409" y="8291375"/>
                  </a:lnTo>
                  <a:lnTo>
                    <a:pt x="14189123" y="8240940"/>
                  </a:lnTo>
                  <a:lnTo>
                    <a:pt x="14183881" y="8190142"/>
                  </a:lnTo>
                  <a:lnTo>
                    <a:pt x="14178683" y="8138983"/>
                  </a:lnTo>
                  <a:lnTo>
                    <a:pt x="14173527" y="8087464"/>
                  </a:lnTo>
                  <a:lnTo>
                    <a:pt x="14168415" y="8035587"/>
                  </a:lnTo>
                  <a:lnTo>
                    <a:pt x="14163346" y="7983353"/>
                  </a:lnTo>
                  <a:lnTo>
                    <a:pt x="14158320" y="7930765"/>
                  </a:lnTo>
                  <a:lnTo>
                    <a:pt x="14153336" y="7877824"/>
                  </a:lnTo>
                  <a:lnTo>
                    <a:pt x="14148395" y="7824532"/>
                  </a:lnTo>
                  <a:lnTo>
                    <a:pt x="14143496" y="7770890"/>
                  </a:lnTo>
                  <a:lnTo>
                    <a:pt x="14138638" y="7716901"/>
                  </a:lnTo>
                  <a:lnTo>
                    <a:pt x="14133822" y="7662566"/>
                  </a:lnTo>
                  <a:lnTo>
                    <a:pt x="14129048" y="7607887"/>
                  </a:lnTo>
                  <a:lnTo>
                    <a:pt x="14124315" y="7552866"/>
                  </a:lnTo>
                  <a:lnTo>
                    <a:pt x="14119623" y="7497503"/>
                  </a:lnTo>
                  <a:lnTo>
                    <a:pt x="14114971" y="7441802"/>
                  </a:lnTo>
                  <a:lnTo>
                    <a:pt x="14110361" y="7385763"/>
                  </a:lnTo>
                  <a:lnTo>
                    <a:pt x="14105791" y="7329390"/>
                  </a:lnTo>
                  <a:lnTo>
                    <a:pt x="14101261" y="7272682"/>
                  </a:lnTo>
                  <a:lnTo>
                    <a:pt x="14096770" y="7215642"/>
                  </a:lnTo>
                  <a:lnTo>
                    <a:pt x="14092320" y="7158272"/>
                  </a:lnTo>
                  <a:lnTo>
                    <a:pt x="14087909" y="7100573"/>
                  </a:lnTo>
                  <a:lnTo>
                    <a:pt x="14083538" y="7042548"/>
                  </a:lnTo>
                  <a:lnTo>
                    <a:pt x="14079206" y="6984197"/>
                  </a:lnTo>
                  <a:lnTo>
                    <a:pt x="14074913" y="6925523"/>
                  </a:lnTo>
                  <a:lnTo>
                    <a:pt x="14070658" y="6866528"/>
                  </a:lnTo>
                  <a:lnTo>
                    <a:pt x="14066442" y="6807212"/>
                  </a:lnTo>
                  <a:lnTo>
                    <a:pt x="14062264" y="6747579"/>
                  </a:lnTo>
                  <a:lnTo>
                    <a:pt x="14058124" y="6687629"/>
                  </a:lnTo>
                  <a:lnTo>
                    <a:pt x="14054023" y="6627364"/>
                  </a:lnTo>
                  <a:lnTo>
                    <a:pt x="14049959" y="6566787"/>
                  </a:lnTo>
                  <a:lnTo>
                    <a:pt x="14045932" y="6505898"/>
                  </a:lnTo>
                  <a:lnTo>
                    <a:pt x="14041942" y="6444700"/>
                  </a:lnTo>
                  <a:lnTo>
                    <a:pt x="14037990" y="6383193"/>
                  </a:lnTo>
                  <a:lnTo>
                    <a:pt x="14034074" y="6321381"/>
                  </a:lnTo>
                  <a:lnTo>
                    <a:pt x="14030195" y="6259265"/>
                  </a:lnTo>
                  <a:lnTo>
                    <a:pt x="14026353" y="6196846"/>
                  </a:lnTo>
                  <a:lnTo>
                    <a:pt x="14022546" y="6134127"/>
                  </a:lnTo>
                  <a:lnTo>
                    <a:pt x="14018776" y="6071108"/>
                  </a:lnTo>
                  <a:lnTo>
                    <a:pt x="14015041" y="6007792"/>
                  </a:lnTo>
                  <a:lnTo>
                    <a:pt x="14011342" y="5944180"/>
                  </a:lnTo>
                  <a:lnTo>
                    <a:pt x="14007678" y="5880275"/>
                  </a:lnTo>
                  <a:lnTo>
                    <a:pt x="14004049" y="5816077"/>
                  </a:lnTo>
                  <a:lnTo>
                    <a:pt x="14000456" y="5751589"/>
                  </a:lnTo>
                  <a:lnTo>
                    <a:pt x="13996896" y="5686812"/>
                  </a:lnTo>
                  <a:lnTo>
                    <a:pt x="13993372" y="5621749"/>
                  </a:lnTo>
                  <a:lnTo>
                    <a:pt x="13989882" y="5556400"/>
                  </a:lnTo>
                  <a:lnTo>
                    <a:pt x="13986425" y="5490767"/>
                  </a:lnTo>
                  <a:lnTo>
                    <a:pt x="13983003" y="5424853"/>
                  </a:lnTo>
                  <a:lnTo>
                    <a:pt x="13979614" y="5358659"/>
                  </a:lnTo>
                  <a:lnTo>
                    <a:pt x="13976259" y="5292187"/>
                  </a:lnTo>
                  <a:lnTo>
                    <a:pt x="13972937" y="5225438"/>
                  </a:lnTo>
                  <a:lnTo>
                    <a:pt x="13969648" y="5158415"/>
                  </a:lnTo>
                  <a:lnTo>
                    <a:pt x="13966392" y="5091118"/>
                  </a:lnTo>
                  <a:lnTo>
                    <a:pt x="13963168" y="5023550"/>
                  </a:lnTo>
                  <a:lnTo>
                    <a:pt x="13959977" y="4955713"/>
                  </a:lnTo>
                  <a:lnTo>
                    <a:pt x="13956818" y="4887607"/>
                  </a:lnTo>
                  <a:lnTo>
                    <a:pt x="13953691" y="4819236"/>
                  </a:lnTo>
                  <a:lnTo>
                    <a:pt x="13950595" y="4750600"/>
                  </a:lnTo>
                  <a:lnTo>
                    <a:pt x="13947532" y="4681701"/>
                  </a:lnTo>
                  <a:lnTo>
                    <a:pt x="13944499" y="4612542"/>
                  </a:lnTo>
                  <a:lnTo>
                    <a:pt x="13941498" y="4543123"/>
                  </a:lnTo>
                  <a:lnTo>
                    <a:pt x="13938527" y="4473447"/>
                  </a:lnTo>
                  <a:lnTo>
                    <a:pt x="13935587" y="4403516"/>
                  </a:lnTo>
                  <a:lnTo>
                    <a:pt x="13932678" y="4333330"/>
                  </a:lnTo>
                  <a:lnTo>
                    <a:pt x="13929799" y="4262892"/>
                  </a:lnTo>
                  <a:lnTo>
                    <a:pt x="13926950" y="4192203"/>
                  </a:lnTo>
                  <a:lnTo>
                    <a:pt x="13924131" y="4121266"/>
                  </a:lnTo>
                  <a:lnTo>
                    <a:pt x="13921341" y="4050082"/>
                  </a:lnTo>
                  <a:lnTo>
                    <a:pt x="13918581" y="3978652"/>
                  </a:lnTo>
                  <a:lnTo>
                    <a:pt x="13915851" y="3906979"/>
                  </a:lnTo>
                  <a:lnTo>
                    <a:pt x="13913149" y="3835064"/>
                  </a:lnTo>
                  <a:lnTo>
                    <a:pt x="13910476" y="3762909"/>
                  </a:lnTo>
                  <a:lnTo>
                    <a:pt x="13907831" y="3690516"/>
                  </a:lnTo>
                  <a:lnTo>
                    <a:pt x="13905215" y="3617886"/>
                  </a:lnTo>
                  <a:lnTo>
                    <a:pt x="13902627" y="3545021"/>
                  </a:lnTo>
                  <a:lnTo>
                    <a:pt x="13900067" y="3471923"/>
                  </a:lnTo>
                  <a:lnTo>
                    <a:pt x="13897535" y="3398594"/>
                  </a:lnTo>
                  <a:lnTo>
                    <a:pt x="13895030" y="3325034"/>
                  </a:lnTo>
                  <a:lnTo>
                    <a:pt x="13892553" y="3251247"/>
                  </a:lnTo>
                  <a:lnTo>
                    <a:pt x="13890103" y="3177234"/>
                  </a:lnTo>
                  <a:lnTo>
                    <a:pt x="13887679" y="3102996"/>
                  </a:lnTo>
                  <a:lnTo>
                    <a:pt x="13885282" y="3028536"/>
                  </a:lnTo>
                  <a:lnTo>
                    <a:pt x="13882912" y="2953854"/>
                  </a:lnTo>
                  <a:lnTo>
                    <a:pt x="13880568" y="2878953"/>
                  </a:lnTo>
                  <a:lnTo>
                    <a:pt x="13878250" y="2803835"/>
                  </a:lnTo>
                  <a:lnTo>
                    <a:pt x="13875958" y="2728501"/>
                  </a:lnTo>
                  <a:lnTo>
                    <a:pt x="13873692" y="2652952"/>
                  </a:lnTo>
                  <a:lnTo>
                    <a:pt x="13871451" y="2577192"/>
                  </a:lnTo>
                  <a:lnTo>
                    <a:pt x="13869235" y="2501221"/>
                  </a:lnTo>
                  <a:lnTo>
                    <a:pt x="13867044" y="2425041"/>
                  </a:lnTo>
                  <a:lnTo>
                    <a:pt x="13864878" y="2348653"/>
                  </a:lnTo>
                  <a:lnTo>
                    <a:pt x="13862736" y="2272061"/>
                  </a:lnTo>
                  <a:lnTo>
                    <a:pt x="13860619" y="2195264"/>
                  </a:lnTo>
                  <a:lnTo>
                    <a:pt x="13858526" y="2118266"/>
                  </a:lnTo>
                  <a:lnTo>
                    <a:pt x="13856457" y="2041068"/>
                  </a:lnTo>
                  <a:lnTo>
                    <a:pt x="13854412" y="1963671"/>
                  </a:lnTo>
                  <a:lnTo>
                    <a:pt x="13852390" y="1886077"/>
                  </a:lnTo>
                  <a:lnTo>
                    <a:pt x="13850391" y="1808289"/>
                  </a:lnTo>
                  <a:lnTo>
                    <a:pt x="13848416" y="1730307"/>
                  </a:lnTo>
                  <a:lnTo>
                    <a:pt x="13846463" y="1652134"/>
                  </a:lnTo>
                  <a:lnTo>
                    <a:pt x="13844533" y="1573770"/>
                  </a:lnTo>
                  <a:lnTo>
                    <a:pt x="13842626" y="1495219"/>
                  </a:lnTo>
                  <a:lnTo>
                    <a:pt x="13840741" y="1416482"/>
                  </a:lnTo>
                  <a:lnTo>
                    <a:pt x="13838878" y="1337560"/>
                  </a:lnTo>
                  <a:lnTo>
                    <a:pt x="13837036" y="1258455"/>
                  </a:lnTo>
                  <a:lnTo>
                    <a:pt x="13835217" y="1179168"/>
                  </a:lnTo>
                  <a:lnTo>
                    <a:pt x="13833418" y="1099703"/>
                  </a:lnTo>
                  <a:lnTo>
                    <a:pt x="13829885" y="940241"/>
                  </a:lnTo>
                  <a:lnTo>
                    <a:pt x="13826435" y="780082"/>
                  </a:lnTo>
                  <a:lnTo>
                    <a:pt x="13823066" y="619240"/>
                  </a:lnTo>
                  <a:lnTo>
                    <a:pt x="13819777" y="457730"/>
                  </a:lnTo>
                  <a:lnTo>
                    <a:pt x="13816566" y="295564"/>
                  </a:lnTo>
                  <a:lnTo>
                    <a:pt x="13813432" y="132757"/>
                  </a:lnTo>
                  <a:lnTo>
                    <a:pt x="13810942" y="0"/>
                  </a:lnTo>
                  <a:lnTo>
                    <a:pt x="5987555" y="0"/>
                  </a:lnTo>
                  <a:lnTo>
                    <a:pt x="3185842" y="2014766"/>
                  </a:lnTo>
                  <a:lnTo>
                    <a:pt x="1042032" y="4804280"/>
                  </a:lnTo>
                  <a:lnTo>
                    <a:pt x="720667" y="6815838"/>
                  </a:lnTo>
                  <a:lnTo>
                    <a:pt x="379638" y="8232803"/>
                  </a:lnTo>
                  <a:lnTo>
                    <a:pt x="108988" y="9071218"/>
                  </a:lnTo>
                  <a:lnTo>
                    <a:pt x="0" y="9344025"/>
                  </a:lnTo>
                  <a:close/>
                </a:path>
              </a:pathLst>
            </a:custGeom>
            <a:solidFill>
              <a:srgbClr val="38484E">
                <a:alpha val="97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750301" y="471499"/>
              <a:ext cx="14335760" cy="8911590"/>
            </a:xfrm>
            <a:custGeom>
              <a:avLst/>
              <a:gdLst/>
              <a:ahLst/>
              <a:cxnLst/>
              <a:rect l="l" t="t" r="r" b="b"/>
              <a:pathLst>
                <a:path w="14335760" h="8911590">
                  <a:moveTo>
                    <a:pt x="14335316" y="8911057"/>
                  </a:moveTo>
                  <a:lnTo>
                    <a:pt x="14176959" y="5743003"/>
                  </a:lnTo>
                  <a:lnTo>
                    <a:pt x="14194549" y="1173594"/>
                  </a:lnTo>
                  <a:lnTo>
                    <a:pt x="14219682" y="0"/>
                  </a:lnTo>
                  <a:lnTo>
                    <a:pt x="12382335" y="0"/>
                  </a:lnTo>
                  <a:lnTo>
                    <a:pt x="12271908" y="0"/>
                  </a:lnTo>
                  <a:lnTo>
                    <a:pt x="611530" y="0"/>
                  </a:lnTo>
                  <a:lnTo>
                    <a:pt x="427101" y="3404997"/>
                  </a:lnTo>
                  <a:lnTo>
                    <a:pt x="139293" y="7163511"/>
                  </a:lnTo>
                  <a:lnTo>
                    <a:pt x="0" y="8745461"/>
                  </a:lnTo>
                  <a:lnTo>
                    <a:pt x="14335316" y="8911057"/>
                  </a:lnTo>
                  <a:close/>
                </a:path>
              </a:pathLst>
            </a:custGeom>
            <a:solidFill>
              <a:srgbClr val="FBE3D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588" y="6957861"/>
              <a:ext cx="2470203" cy="259111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90553" y="2954841"/>
              <a:ext cx="1938734" cy="28962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000" y="795807"/>
              <a:ext cx="1617886" cy="2448101"/>
            </a:xfrm>
            <a:prstGeom prst="rect">
              <a:avLst/>
            </a:prstGeom>
          </p:spPr>
        </p:pic>
      </p:grpSp>
      <p:sp>
        <p:nvSpPr>
          <p:cNvPr id="9" name="正方形/長方形 3"/>
          <p:cNvSpPr/>
          <p:nvPr/>
        </p:nvSpPr>
        <p:spPr>
          <a:xfrm>
            <a:off x="2286886" y="471498"/>
            <a:ext cx="5733142" cy="906637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application.properties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1913" y="2035413"/>
            <a:ext cx="12986559" cy="58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045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93DCD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93DCD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258" y="2067652"/>
            <a:ext cx="13350240" cy="5775960"/>
          </a:xfrm>
          <a:prstGeom prst="rect">
            <a:avLst/>
          </a:prstGeom>
        </p:spPr>
      </p:pic>
      <p:sp>
        <p:nvSpPr>
          <p:cNvPr id="2" name="TextBox 26"/>
          <p:cNvSpPr txBox="1"/>
          <p:nvPr/>
        </p:nvSpPr>
        <p:spPr>
          <a:xfrm>
            <a:off x="3510642" y="3683489"/>
            <a:ext cx="11845472" cy="25442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năng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API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Flow </a:t>
            </a:r>
            <a:r>
              <a:rPr lang="en-US" altLang="zh-CN" sz="6600" spc="139" dirty="0" err="1">
                <a:solidFill>
                  <a:srgbClr val="00000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6600" spc="139" dirty="0">
                <a:solidFill>
                  <a:srgbClr val="000000"/>
                </a:solidFill>
                <a:latin typeface="Times New Roman"/>
                <a:ea typeface="Times New Roman"/>
              </a:rPr>
              <a:t> Sample</a:t>
            </a:r>
            <a:endParaRPr lang="en-US" altLang="zh-CN" sz="6600" spc="150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Freeform 127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98D8D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Freeform 128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Freeform 129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98D8D8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" name="Picture 1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79" y="4297679"/>
            <a:ext cx="10347960" cy="5989320"/>
          </a:xfrm>
          <a:prstGeom prst="rect">
            <a:avLst/>
          </a:prstGeom>
        </p:spPr>
      </p:pic>
      <p:sp>
        <p:nvSpPr>
          <p:cNvPr id="2" name="Freeform 133"/>
          <p:cNvSpPr/>
          <p:nvPr/>
        </p:nvSpPr>
        <p:spPr>
          <a:xfrm>
            <a:off x="1044575" y="3101975"/>
            <a:ext cx="16202025" cy="22225"/>
          </a:xfrm>
          <a:custGeom>
            <a:avLst/>
            <a:gdLst>
              <a:gd name="connsiteX0" fmla="*/ 12700 w 16202025"/>
              <a:gd name="connsiteY0" fmla="*/ 18629 h 22225"/>
              <a:gd name="connsiteX1" fmla="*/ 16205200 w 16202025"/>
              <a:gd name="connsiteY1" fmla="*/ 18629 h 2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02025" h="22225">
                <a:moveTo>
                  <a:pt x="12700" y="18629"/>
                </a:moveTo>
                <a:lnTo>
                  <a:pt x="16205200" y="18629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4"/>
          <p:cNvSpPr/>
          <p:nvPr/>
        </p:nvSpPr>
        <p:spPr>
          <a:xfrm>
            <a:off x="1019175" y="1006475"/>
            <a:ext cx="16240125" cy="22225"/>
          </a:xfrm>
          <a:custGeom>
            <a:avLst/>
            <a:gdLst>
              <a:gd name="connsiteX0" fmla="*/ 19050 w 16240125"/>
              <a:gd name="connsiteY0" fmla="*/ 12700 h 22225"/>
              <a:gd name="connsiteX1" fmla="*/ 16249650 w 16240125"/>
              <a:gd name="connsiteY1" fmla="*/ 12700 h 2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40125" h="22225">
                <a:moveTo>
                  <a:pt x="19050" y="12700"/>
                </a:moveTo>
                <a:lnTo>
                  <a:pt x="16249650" y="1270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Freeform 135"/>
          <p:cNvSpPr/>
          <p:nvPr/>
        </p:nvSpPr>
        <p:spPr>
          <a:xfrm>
            <a:off x="1019175" y="1946275"/>
            <a:ext cx="16240125" cy="22225"/>
          </a:xfrm>
          <a:custGeom>
            <a:avLst/>
            <a:gdLst>
              <a:gd name="connsiteX0" fmla="*/ 19050 w 16240125"/>
              <a:gd name="connsiteY0" fmla="*/ 21768 h 22225"/>
              <a:gd name="connsiteX1" fmla="*/ 16249650 w 16240125"/>
              <a:gd name="connsiteY1" fmla="*/ 21768 h 22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240125" h="22225">
                <a:moveTo>
                  <a:pt x="19050" y="21768"/>
                </a:moveTo>
                <a:lnTo>
                  <a:pt x="16249650" y="21768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6" name="Freeform 136"/>
          <p:cNvSpPr/>
          <p:nvPr/>
        </p:nvSpPr>
        <p:spPr>
          <a:xfrm>
            <a:off x="7369156" y="1006456"/>
            <a:ext cx="22243" cy="962043"/>
          </a:xfrm>
          <a:custGeom>
            <a:avLst/>
            <a:gdLst>
              <a:gd name="connsiteX0" fmla="*/ 17167 w 22243"/>
              <a:gd name="connsiteY0" fmla="*/ 12802 h 962043"/>
              <a:gd name="connsiteX1" fmla="*/ 17167 w 22243"/>
              <a:gd name="connsiteY1" fmla="*/ 965318 h 96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243" h="962043">
                <a:moveTo>
                  <a:pt x="17167" y="12802"/>
                </a:moveTo>
                <a:lnTo>
                  <a:pt x="17167" y="965318"/>
                </a:lnTo>
              </a:path>
            </a:pathLst>
          </a:custGeom>
          <a:ln w="19086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Freeform 137"/>
          <p:cNvSpPr/>
          <p:nvPr/>
        </p:nvSpPr>
        <p:spPr>
          <a:xfrm>
            <a:off x="10887056" y="1006456"/>
            <a:ext cx="22243" cy="962043"/>
          </a:xfrm>
          <a:custGeom>
            <a:avLst/>
            <a:gdLst>
              <a:gd name="connsiteX0" fmla="*/ 14531 w 22243"/>
              <a:gd name="connsiteY0" fmla="*/ 12802 h 962043"/>
              <a:gd name="connsiteX1" fmla="*/ 14531 w 22243"/>
              <a:gd name="connsiteY1" fmla="*/ 965318 h 962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243" h="962043">
                <a:moveTo>
                  <a:pt x="14531" y="12802"/>
                </a:moveTo>
                <a:lnTo>
                  <a:pt x="14531" y="965318"/>
                </a:lnTo>
              </a:path>
            </a:pathLst>
          </a:custGeom>
          <a:ln w="19086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Freeform 138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Freeform 139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40"/>
          <p:cNvSpPr txBox="1"/>
          <p:nvPr/>
        </p:nvSpPr>
        <p:spPr>
          <a:xfrm>
            <a:off x="3531966" y="1258300"/>
            <a:ext cx="11236618" cy="140294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79764">
              <a:lnSpc>
                <a:spcPct val="100000"/>
              </a:lnSpc>
            </a:pPr>
            <a:r>
              <a:rPr lang="en-US" altLang="zh-CN" sz="3300" b="1" spc="110" dirty="0">
                <a:solidFill>
                  <a:srgbClr val="000000"/>
                </a:solidFill>
                <a:latin typeface="Times New Roman"/>
                <a:ea typeface="Times New Roman"/>
              </a:rPr>
              <a:t>     </a:t>
            </a:r>
            <a:r>
              <a:rPr lang="en-US" altLang="zh-CN" sz="3300" b="1" spc="110" dirty="0" err="1">
                <a:solidFill>
                  <a:srgbClr val="000000"/>
                </a:solidFill>
                <a:latin typeface="Times New Roman"/>
                <a:ea typeface="Times New Roman"/>
              </a:rPr>
              <a:t>Mục</a:t>
            </a:r>
            <a:r>
              <a:rPr lang="en-US" altLang="zh-CN" sz="3300" b="1" spc="110" dirty="0">
                <a:solidFill>
                  <a:srgbClr val="000000"/>
                </a:solidFill>
                <a:latin typeface="Times New Roman"/>
                <a:ea typeface="Times New Roman"/>
              </a:rPr>
              <a:t> 1</a:t>
            </a:r>
            <a:endParaRPr lang="en-US" altLang="zh-CN" sz="3300" b="1" spc="80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514"/>
              </a:lnSpc>
            </a:pPr>
            <a:endParaRPr lang="en-US" dirty="0"/>
          </a:p>
          <a:p>
            <a:pPr marL="0" algn="ctr">
              <a:lnSpc>
                <a:spcPct val="100000"/>
              </a:lnSpc>
            </a:pPr>
            <a:r>
              <a:rPr lang="en-US" altLang="zh-CN" sz="2900" b="1" spc="179" dirty="0" err="1">
                <a:solidFill>
                  <a:srgbClr val="00000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900" b="1" spc="17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>
                <a:solidFill>
                  <a:srgbClr val="000000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2900" b="1" spc="17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>
                <a:solidFill>
                  <a:srgbClr val="000000"/>
                </a:solidFill>
                <a:latin typeface="Times New Roman"/>
                <a:ea typeface="Times New Roman"/>
              </a:rPr>
              <a:t>năng</a:t>
            </a:r>
            <a:r>
              <a:rPr lang="en-US" altLang="zh-CN" sz="2900" b="1" spc="17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>
                <a:solidFill>
                  <a:srgbClr val="000000"/>
                </a:solidFill>
                <a:latin typeface="Times New Roman"/>
                <a:ea typeface="Times New Roman"/>
              </a:rPr>
              <a:t>tương</a:t>
            </a:r>
            <a:r>
              <a:rPr lang="en-US" altLang="zh-CN" sz="2900" b="1" spc="17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>
                <a:solidFill>
                  <a:srgbClr val="000000"/>
                </a:solidFill>
                <a:latin typeface="Times New Roman"/>
                <a:ea typeface="Times New Roman"/>
              </a:rPr>
              <a:t>ứng</a:t>
            </a:r>
            <a:r>
              <a:rPr lang="en-US" altLang="zh-CN" sz="2900" b="1" spc="17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>
                <a:solidFill>
                  <a:srgbClr val="000000"/>
                </a:solidFill>
                <a:latin typeface="Times New Roman"/>
                <a:ea typeface="Times New Roman"/>
              </a:rPr>
              <a:t>với</a:t>
            </a:r>
            <a:r>
              <a:rPr lang="en-US" altLang="zh-CN" sz="2900" b="1" spc="179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900" b="1" spc="179" dirty="0" err="1">
                <a:solidFill>
                  <a:srgbClr val="000000"/>
                </a:solidFill>
                <a:latin typeface="Times New Roman"/>
                <a:ea typeface="Times New Roman"/>
              </a:rPr>
              <a:t>từng</a:t>
            </a:r>
            <a:r>
              <a:rPr lang="en-US" altLang="zh-CN" sz="2900" b="1" spc="179" dirty="0">
                <a:solidFill>
                  <a:srgbClr val="000000"/>
                </a:solidFill>
                <a:latin typeface="Times New Roman"/>
                <a:ea typeface="Times New Roman"/>
              </a:rPr>
              <a:t> API, Table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4368802" y="6146839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toàn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bộ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tin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8" name="TextBox 141"/>
          <p:cNvSpPr txBox="1"/>
          <p:nvPr/>
        </p:nvSpPr>
        <p:spPr>
          <a:xfrm>
            <a:off x="4977664" y="4666014"/>
            <a:ext cx="29631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 algn="ctr">
              <a:lnSpc>
                <a:spcPct val="100000"/>
              </a:lnSpc>
            </a:pPr>
            <a:r>
              <a:rPr lang="en-US" altLang="zh-CN" sz="32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Users</a:t>
            </a:r>
          </a:p>
          <a:p>
            <a:pPr marL="0" indent="182909" algn="ctr">
              <a:lnSpc>
                <a:spcPct val="100000"/>
              </a:lnSpc>
            </a:pPr>
            <a:r>
              <a:rPr lang="en-US" altLang="zh-CN" sz="32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…/</a:t>
            </a:r>
            <a:r>
              <a:rPr lang="en-US" altLang="zh-CN" sz="32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api</a:t>
            </a:r>
            <a:r>
              <a:rPr lang="en-US" altLang="zh-CN" sz="32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/v1/</a:t>
            </a:r>
            <a:endParaRPr lang="en-US" altLang="zh-CN" sz="32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9" name="TextBox 141"/>
          <p:cNvSpPr txBox="1"/>
          <p:nvPr/>
        </p:nvSpPr>
        <p:spPr>
          <a:xfrm>
            <a:off x="4368802" y="6639712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tin User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theo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Id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0" name="TextBox 141"/>
          <p:cNvSpPr txBox="1"/>
          <p:nvPr/>
        </p:nvSpPr>
        <p:spPr>
          <a:xfrm>
            <a:off x="4368802" y="710521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Thêm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mới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3" name="TextBox 141"/>
          <p:cNvSpPr txBox="1"/>
          <p:nvPr/>
        </p:nvSpPr>
        <p:spPr>
          <a:xfrm>
            <a:off x="4368802" y="7570708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4.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Cập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nhật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141"/>
          <p:cNvSpPr txBox="1"/>
          <p:nvPr/>
        </p:nvSpPr>
        <p:spPr>
          <a:xfrm>
            <a:off x="4368802" y="803616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5.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Xóa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user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7" name="TextBox 141"/>
          <p:cNvSpPr txBox="1"/>
          <p:nvPr/>
        </p:nvSpPr>
        <p:spPr>
          <a:xfrm>
            <a:off x="4368802" y="8479274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182909">
              <a:lnSpc>
                <a:spcPct val="100000"/>
              </a:lnSpc>
            </a:pP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6. Thao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tác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với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user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theo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Kbn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8" name="TextBox 141"/>
          <p:cNvSpPr txBox="1"/>
          <p:nvPr/>
        </p:nvSpPr>
        <p:spPr>
          <a:xfrm>
            <a:off x="9834352" y="4560251"/>
            <a:ext cx="2963145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 algn="ctr"/>
            <a:r>
              <a:rPr lang="en-US" altLang="zh-CN" sz="32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Facilities</a:t>
            </a:r>
          </a:p>
          <a:p>
            <a:pPr indent="182909" algn="ctr"/>
            <a:r>
              <a:rPr lang="en-US" altLang="zh-CN" sz="32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…/</a:t>
            </a:r>
            <a:r>
              <a:rPr lang="en-US" altLang="zh-CN" sz="32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api</a:t>
            </a:r>
            <a:r>
              <a:rPr lang="en-US" altLang="zh-CN" sz="32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/v2/</a:t>
            </a:r>
            <a:endParaRPr lang="en-US" altLang="zh-CN" sz="32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9" name="TextBox 141"/>
          <p:cNvSpPr txBox="1"/>
          <p:nvPr/>
        </p:nvSpPr>
        <p:spPr>
          <a:xfrm>
            <a:off x="9025616" y="615422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1.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toàn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bộ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tin Facility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32" name="TextBox 141"/>
          <p:cNvSpPr txBox="1"/>
          <p:nvPr/>
        </p:nvSpPr>
        <p:spPr>
          <a:xfrm>
            <a:off x="9025616" y="6735878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2.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thông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tin Facility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theo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Id</a:t>
            </a:r>
            <a:endParaRPr lang="en-US" altLang="zh-CN" sz="2400" b="1" spc="10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33" name="TextBox 141"/>
          <p:cNvSpPr txBox="1"/>
          <p:nvPr/>
        </p:nvSpPr>
        <p:spPr>
          <a:xfrm>
            <a:off x="9025616" y="7259658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3.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Thêm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mới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Facility</a:t>
            </a:r>
          </a:p>
        </p:txBody>
      </p:sp>
      <p:sp>
        <p:nvSpPr>
          <p:cNvPr id="34" name="TextBox 141"/>
          <p:cNvSpPr txBox="1"/>
          <p:nvPr/>
        </p:nvSpPr>
        <p:spPr>
          <a:xfrm>
            <a:off x="9025616" y="7784050"/>
            <a:ext cx="516800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indent="182909"/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4. </a:t>
            </a:r>
            <a:r>
              <a:rPr lang="en-US" altLang="zh-CN" sz="24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Xóa</a:t>
            </a:r>
            <a:r>
              <a:rPr lang="en-US" altLang="zh-CN" sz="24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Facility</a:t>
            </a:r>
          </a:p>
        </p:txBody>
      </p:sp>
    </p:spTree>
    <p:extLst>
      <p:ext uri="{BB962C8B-B14F-4D97-AF65-F5344CB8AC3E}">
        <p14:creationId xmlns:p14="http://schemas.microsoft.com/office/powerpoint/2010/main" val="748778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71"/>
          <p:cNvSpPr/>
          <p:nvPr/>
        </p:nvSpPr>
        <p:spPr>
          <a:xfrm>
            <a:off x="0" y="-31211"/>
            <a:ext cx="18288000" cy="10286996"/>
          </a:xfrm>
          <a:custGeom>
            <a:avLst/>
            <a:gdLst>
              <a:gd name="connsiteX0" fmla="*/ 0 w 18288000"/>
              <a:gd name="connsiteY0" fmla="*/ 0 h 10286996"/>
              <a:gd name="connsiteX1" fmla="*/ 18288000 w 18288000"/>
              <a:gd name="connsiteY1" fmla="*/ 0 h 10286996"/>
              <a:gd name="connsiteX2" fmla="*/ 18288000 w 18288000"/>
              <a:gd name="connsiteY2" fmla="*/ 10286996 h 10286996"/>
              <a:gd name="connsiteX3" fmla="*/ 0 w 18288000"/>
              <a:gd name="connsiteY3" fmla="*/ 10286996 h 10286996"/>
              <a:gd name="connsiteX4" fmla="*/ 0 w 18288000"/>
              <a:gd name="connsiteY4" fmla="*/ 0 h 10286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6">
                <a:moveTo>
                  <a:pt x="0" y="0"/>
                </a:moveTo>
                <a:lnTo>
                  <a:pt x="18288000" y="0"/>
                </a:lnTo>
                <a:lnTo>
                  <a:pt x="18288000" y="10286996"/>
                </a:lnTo>
                <a:lnTo>
                  <a:pt x="0" y="10286996"/>
                </a:lnTo>
                <a:lnTo>
                  <a:pt x="0" y="0"/>
                </a:lnTo>
                <a:close/>
              </a:path>
            </a:pathLst>
          </a:custGeom>
          <a:solidFill>
            <a:srgbClr val="93DCDD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 73"/>
          <p:cNvSpPr/>
          <p:nvPr/>
        </p:nvSpPr>
        <p:spPr>
          <a:xfrm>
            <a:off x="6081710" y="3554410"/>
            <a:ext cx="2655889" cy="39689"/>
          </a:xfrm>
          <a:custGeom>
            <a:avLst/>
            <a:gdLst>
              <a:gd name="connsiteX0" fmla="*/ 18260 w 2655889"/>
              <a:gd name="connsiteY0" fmla="*/ 15342 h 39689"/>
              <a:gd name="connsiteX1" fmla="*/ 2666248 w 2655889"/>
              <a:gd name="connsiteY1" fmla="*/ 15342 h 39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5889" h="39689">
                <a:moveTo>
                  <a:pt x="18260" y="15342"/>
                </a:moveTo>
                <a:lnTo>
                  <a:pt x="2666248" y="15342"/>
                </a:lnTo>
              </a:path>
            </a:pathLst>
          </a:custGeom>
          <a:ln w="28579">
            <a:solidFill>
              <a:srgbClr val="29498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Freeform 74"/>
          <p:cNvSpPr/>
          <p:nvPr/>
        </p:nvSpPr>
        <p:spPr>
          <a:xfrm>
            <a:off x="9510710" y="3554410"/>
            <a:ext cx="2668589" cy="39689"/>
          </a:xfrm>
          <a:custGeom>
            <a:avLst/>
            <a:gdLst>
              <a:gd name="connsiteX0" fmla="*/ 26543 w 2668589"/>
              <a:gd name="connsiteY0" fmla="*/ 15342 h 39689"/>
              <a:gd name="connsiteX1" fmla="*/ 2674531 w 2668589"/>
              <a:gd name="connsiteY1" fmla="*/ 15342 h 39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68589" h="39689">
                <a:moveTo>
                  <a:pt x="26543" y="15342"/>
                </a:moveTo>
                <a:lnTo>
                  <a:pt x="2674531" y="15342"/>
                </a:lnTo>
              </a:path>
            </a:pathLst>
          </a:custGeom>
          <a:ln w="28579">
            <a:solidFill>
              <a:srgbClr val="29498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TextBox 76"/>
          <p:cNvSpPr txBox="1"/>
          <p:nvPr/>
        </p:nvSpPr>
        <p:spPr>
          <a:xfrm>
            <a:off x="1765572" y="1047780"/>
            <a:ext cx="11676964" cy="97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en-US" altLang="zh-CN" sz="6400" b="1" spc="465" dirty="0">
                <a:solidFill>
                  <a:srgbClr val="294980"/>
                </a:solidFill>
                <a:latin typeface="Times New Roman"/>
                <a:ea typeface="Times New Roman"/>
              </a:rPr>
              <a:t>Flow </a:t>
            </a:r>
            <a:r>
              <a:rPr lang="en-US" altLang="zh-CN" sz="6400" b="1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6400" b="1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400" b="1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6400" b="1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6400" b="1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6400" b="1" spc="465" dirty="0">
                <a:solidFill>
                  <a:srgbClr val="294980"/>
                </a:solidFill>
                <a:latin typeface="Times New Roman"/>
                <a:ea typeface="Times New Roman"/>
              </a:rPr>
              <a:t> sample</a:t>
            </a:r>
            <a:endParaRPr lang="en-US" altLang="zh-CN" sz="6400" b="1" spc="425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2241108" y="3047455"/>
            <a:ext cx="11704224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tabLst>
                <a:tab pos="3364937" algn="l"/>
                <a:tab pos="6644047" algn="l"/>
                <a:tab pos="10194739" algn="l"/>
                <a:tab pos="13369847" algn="l"/>
              </a:tabLst>
            </a:pPr>
            <a:r>
              <a:rPr lang="en-US" altLang="zh-CN" sz="4400" b="1" spc="-690" dirty="0">
                <a:solidFill>
                  <a:srgbClr val="294980"/>
                </a:solidFill>
                <a:latin typeface="Times New Roman"/>
                <a:ea typeface="Times New Roman"/>
              </a:rPr>
              <a:t>1	</a:t>
            </a:r>
            <a:r>
              <a:rPr lang="en-US" altLang="zh-CN" sz="4400" b="1" spc="359" dirty="0">
                <a:solidFill>
                  <a:srgbClr val="294980"/>
                </a:solidFill>
                <a:latin typeface="Times New Roman"/>
                <a:ea typeface="Times New Roman"/>
              </a:rPr>
              <a:t>2	</a:t>
            </a:r>
            <a:r>
              <a:rPr lang="en-US" altLang="zh-CN" sz="4400" b="1" spc="114" dirty="0">
                <a:solidFill>
                  <a:srgbClr val="294980"/>
                </a:solidFill>
                <a:latin typeface="Times New Roman"/>
                <a:ea typeface="Times New Roman"/>
              </a:rPr>
              <a:t>3</a:t>
            </a:r>
            <a:r>
              <a:rPr lang="en-US" altLang="zh-CN" sz="4400" b="1" spc="359" dirty="0">
                <a:solidFill>
                  <a:srgbClr val="294980"/>
                </a:solidFill>
                <a:latin typeface="Times New Roman"/>
                <a:ea typeface="Times New Roman"/>
              </a:rPr>
              <a:t>	</a:t>
            </a:r>
            <a:r>
              <a:rPr lang="en-US" altLang="zh-CN" sz="4400" b="1" spc="114" dirty="0">
                <a:solidFill>
                  <a:srgbClr val="294980"/>
                </a:solidFill>
                <a:latin typeface="Times New Roman"/>
                <a:ea typeface="Times New Roman"/>
              </a:rPr>
              <a:t>4</a:t>
            </a:r>
            <a:endParaRPr lang="en-US" altLang="zh-CN" sz="4400" b="1" spc="3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8080341" y="3984506"/>
            <a:ext cx="2159076" cy="26586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7256" indent="-37256" algn="ctr" hangingPunct="0">
              <a:lnSpc>
                <a:spcPct val="115416"/>
              </a:lnSpc>
            </a:pPr>
            <a:r>
              <a:rPr lang="en-US" altLang="zh-CN" sz="2400" b="1" spc="229" dirty="0">
                <a:solidFill>
                  <a:srgbClr val="294980"/>
                </a:solidFill>
                <a:latin typeface="Times New Roman"/>
                <a:ea typeface="Times New Roman"/>
              </a:rPr>
              <a:t>Service</a:t>
            </a:r>
            <a:endParaRPr lang="en-US" altLang="zh-CN" sz="2400" b="1" spc="55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nghiệp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vụ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, data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lấy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từ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Repository.</a:t>
            </a:r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Tần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trung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gian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giữa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controller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Repository</a:t>
            </a:r>
            <a:endParaRPr lang="en-US" altLang="zh-CN" sz="2100" spc="9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11363157" y="4000936"/>
            <a:ext cx="2459081" cy="42934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83355" algn="ctr">
              <a:lnSpc>
                <a:spcPct val="100000"/>
              </a:lnSpc>
            </a:pPr>
            <a:r>
              <a:rPr lang="en-US" altLang="zh-CN" sz="2400" b="1" spc="179" dirty="0">
                <a:solidFill>
                  <a:srgbClr val="294980"/>
                </a:solidFill>
                <a:latin typeface="Times New Roman"/>
                <a:ea typeface="Times New Roman"/>
              </a:rPr>
              <a:t>Repository</a:t>
            </a:r>
            <a:endParaRPr lang="en-US" altLang="zh-CN" sz="2400" b="1" spc="120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 indent="83355" algn="ctr">
              <a:lnSpc>
                <a:spcPct val="100000"/>
              </a:lnSpc>
            </a:pPr>
            <a:endParaRPr lang="en-US" altLang="zh-CN" sz="2400" b="1" spc="120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indent="83355" algn="ctr"/>
            <a:r>
              <a:rPr lang="en-US" altLang="zh-CN" sz="2100" spc="139" dirty="0" err="1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3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>
                <a:solidFill>
                  <a:srgbClr val="294980"/>
                </a:solidFill>
                <a:latin typeface="Times New Roman"/>
                <a:ea typeface="Times New Roman"/>
              </a:rPr>
              <a:t>kế</a:t>
            </a:r>
            <a:r>
              <a:rPr lang="en-US" altLang="zh-CN" sz="2100" spc="13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>
                <a:solidFill>
                  <a:srgbClr val="294980"/>
                </a:solidFill>
                <a:latin typeface="Times New Roman"/>
                <a:ea typeface="Times New Roman"/>
              </a:rPr>
              <a:t>thừa</a:t>
            </a:r>
            <a:r>
              <a:rPr lang="en-US" altLang="zh-CN" sz="2100" spc="13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>
                <a:solidFill>
                  <a:srgbClr val="294980"/>
                </a:solidFill>
                <a:latin typeface="Times New Roman"/>
                <a:ea typeface="Times New Roman"/>
              </a:rPr>
              <a:t>CrudRepository</a:t>
            </a:r>
            <a:r>
              <a:rPr lang="en-US" altLang="zh-CN" sz="2100" spc="13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39" dirty="0" err="1">
                <a:solidFill>
                  <a:srgbClr val="294980"/>
                </a:solidFill>
                <a:latin typeface="Times New Roman"/>
                <a:ea typeface="Times New Roman"/>
              </a:rPr>
              <a:t>của</a:t>
            </a:r>
            <a:r>
              <a:rPr lang="en-US" altLang="zh-CN" sz="2100" spc="139" dirty="0">
                <a:solidFill>
                  <a:srgbClr val="294980"/>
                </a:solidFill>
                <a:latin typeface="Times New Roman"/>
                <a:ea typeface="Times New Roman"/>
              </a:rPr>
              <a:t> Spring data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.</a:t>
            </a:r>
          </a:p>
          <a:p>
            <a:pPr indent="83355" algn="ctr"/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Là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tầng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dữ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liệu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với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Database</a:t>
            </a:r>
          </a:p>
          <a:p>
            <a:pPr indent="83355" algn="ctr"/>
            <a:endParaRPr lang="en-US" altLang="zh-CN" sz="2100" spc="89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indent="83355" algn="ctr"/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Tại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tầng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này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, data input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output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qua </a:t>
            </a:r>
            <a:r>
              <a:rPr lang="en-US" altLang="zh-CN" sz="2100" spc="89" dirty="0" err="1">
                <a:solidFill>
                  <a:srgbClr val="29498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100" spc="89" dirty="0">
                <a:solidFill>
                  <a:srgbClr val="294980"/>
                </a:solidFill>
                <a:latin typeface="Times New Roman"/>
                <a:ea typeface="Times New Roman"/>
              </a:rPr>
              <a:t> entity</a:t>
            </a:r>
          </a:p>
        </p:txBody>
      </p:sp>
      <p:sp>
        <p:nvSpPr>
          <p:cNvPr id="16" name="TextBox 76"/>
          <p:cNvSpPr txBox="1"/>
          <p:nvPr/>
        </p:nvSpPr>
        <p:spPr>
          <a:xfrm>
            <a:off x="1802942" y="1939173"/>
            <a:ext cx="1167696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algn="ctr">
              <a:lnSpc>
                <a:spcPct val="100000"/>
              </a:lnSpc>
            </a:pP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Flow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xử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lý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sắp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xếp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thứ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tự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000" spc="465" dirty="0" err="1">
                <a:solidFill>
                  <a:srgbClr val="294980"/>
                </a:solidFill>
                <a:latin typeface="Times New Roman"/>
                <a:ea typeface="Times New Roman"/>
              </a:rPr>
              <a:t>từ</a:t>
            </a:r>
            <a:r>
              <a:rPr lang="en-US" altLang="zh-CN" sz="2000" spc="465" dirty="0">
                <a:solidFill>
                  <a:srgbClr val="294980"/>
                </a:solidFill>
                <a:latin typeface="Times New Roman"/>
                <a:ea typeface="Times New Roman"/>
              </a:rPr>
              <a:t> client</a:t>
            </a:r>
            <a:endParaRPr lang="en-US" altLang="zh-CN" sz="2000" spc="425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sp>
        <p:nvSpPr>
          <p:cNvPr id="18" name="TextBox 79"/>
          <p:cNvSpPr txBox="1"/>
          <p:nvPr/>
        </p:nvSpPr>
        <p:spPr>
          <a:xfrm>
            <a:off x="4738773" y="3984506"/>
            <a:ext cx="2353457" cy="362817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7256" indent="-37256" algn="ctr" hangingPunct="0">
              <a:lnSpc>
                <a:spcPct val="115416"/>
              </a:lnSpc>
            </a:pPr>
            <a:r>
              <a:rPr lang="en-US" altLang="zh-CN" sz="2400" b="1" spc="229" dirty="0">
                <a:solidFill>
                  <a:srgbClr val="294980"/>
                </a:solidFill>
                <a:latin typeface="Times New Roman"/>
                <a:ea typeface="Times New Roman"/>
              </a:rPr>
              <a:t>Controller</a:t>
            </a:r>
            <a:endParaRPr lang="en-US" altLang="zh-CN" sz="2400" b="1" spc="55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Khi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người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dùng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request, controller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xác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định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request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điều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hướng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tới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những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method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đã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mapping request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để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gọi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service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tương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ứng</a:t>
            </a:r>
            <a:endParaRPr lang="en-US" altLang="zh-CN" sz="2100" spc="9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  <p:pic>
        <p:nvPicPr>
          <p:cNvPr id="19" name="図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9728" y="1075209"/>
            <a:ext cx="3750781" cy="8477270"/>
          </a:xfrm>
          <a:prstGeom prst="rect">
            <a:avLst/>
          </a:prstGeom>
        </p:spPr>
      </p:pic>
      <p:sp>
        <p:nvSpPr>
          <p:cNvPr id="3" name="正方形/長方形 2"/>
          <p:cNvSpPr/>
          <p:nvPr/>
        </p:nvSpPr>
        <p:spPr>
          <a:xfrm>
            <a:off x="14702971" y="2295515"/>
            <a:ext cx="2249715" cy="6073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正方形/長方形 24"/>
          <p:cNvSpPr/>
          <p:nvPr/>
        </p:nvSpPr>
        <p:spPr>
          <a:xfrm>
            <a:off x="14734682" y="4775200"/>
            <a:ext cx="2784061" cy="9143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正方形/長方形 25"/>
          <p:cNvSpPr/>
          <p:nvPr/>
        </p:nvSpPr>
        <p:spPr>
          <a:xfrm>
            <a:off x="14734682" y="3594099"/>
            <a:ext cx="2784061" cy="702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7039772" y="2373342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8" name="テキスト ボックス 27"/>
          <p:cNvSpPr txBox="1"/>
          <p:nvPr/>
        </p:nvSpPr>
        <p:spPr>
          <a:xfrm>
            <a:off x="17602892" y="4926746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9" name="テキスト ボックス 28"/>
          <p:cNvSpPr txBox="1"/>
          <p:nvPr/>
        </p:nvSpPr>
        <p:spPr>
          <a:xfrm>
            <a:off x="17556919" y="3766227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1" name="Freeform 73"/>
          <p:cNvSpPr/>
          <p:nvPr/>
        </p:nvSpPr>
        <p:spPr>
          <a:xfrm>
            <a:off x="2742863" y="3554410"/>
            <a:ext cx="2655889" cy="39689"/>
          </a:xfrm>
          <a:custGeom>
            <a:avLst/>
            <a:gdLst>
              <a:gd name="connsiteX0" fmla="*/ 18260 w 2655889"/>
              <a:gd name="connsiteY0" fmla="*/ 15342 h 39689"/>
              <a:gd name="connsiteX1" fmla="*/ 2666248 w 2655889"/>
              <a:gd name="connsiteY1" fmla="*/ 15342 h 39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55889" h="39689">
                <a:moveTo>
                  <a:pt x="18260" y="15342"/>
                </a:moveTo>
                <a:lnTo>
                  <a:pt x="2666248" y="15342"/>
                </a:lnTo>
              </a:path>
            </a:pathLst>
          </a:custGeom>
          <a:ln w="28579">
            <a:solidFill>
              <a:srgbClr val="29498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正方形/長方形 21"/>
          <p:cNvSpPr/>
          <p:nvPr/>
        </p:nvSpPr>
        <p:spPr>
          <a:xfrm>
            <a:off x="14734682" y="1816544"/>
            <a:ext cx="2249715" cy="4273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17059136" y="1795281"/>
            <a:ext cx="3193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4" name="TextBox 79"/>
          <p:cNvSpPr txBox="1"/>
          <p:nvPr/>
        </p:nvSpPr>
        <p:spPr>
          <a:xfrm>
            <a:off x="1397205" y="4000936"/>
            <a:ext cx="2353457" cy="5567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7256" indent="-37256" algn="ctr" hangingPunct="0">
              <a:lnSpc>
                <a:spcPct val="115416"/>
              </a:lnSpc>
            </a:pPr>
            <a:r>
              <a:rPr lang="en-US" altLang="zh-CN" sz="2400" b="1" spc="229" dirty="0">
                <a:solidFill>
                  <a:srgbClr val="294980"/>
                </a:solidFill>
                <a:latin typeface="Times New Roman"/>
                <a:ea typeface="Times New Roman"/>
              </a:rPr>
              <a:t>Configuration</a:t>
            </a:r>
            <a:endParaRPr lang="en-US" altLang="zh-CN" sz="2400" b="1" spc="55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280"/>
              </a:lnSpc>
            </a:pPr>
            <a:endParaRPr lang="en-US" dirty="0"/>
          </a:p>
          <a:p>
            <a:pPr marL="0">
              <a:lnSpc>
                <a:spcPct val="100000"/>
              </a:lnSpc>
            </a:pP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Class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config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security, control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url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quyền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có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thể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truy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cập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vào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url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được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định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nghĩa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trên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controller.</a:t>
            </a:r>
          </a:p>
          <a:p>
            <a:pPr marL="0">
              <a:lnSpc>
                <a:spcPct val="100000"/>
              </a:lnSpc>
            </a:pPr>
            <a:endParaRPr lang="en-US" altLang="zh-CN" sz="2100" spc="164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Sẽ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thiết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đặt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config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khi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chạy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chương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trình</a:t>
            </a:r>
            <a:endParaRPr lang="en-US" altLang="zh-CN" sz="2100" spc="164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>
              <a:lnSpc>
                <a:spcPct val="100000"/>
              </a:lnSpc>
            </a:pPr>
            <a:endParaRPr lang="en-US" altLang="zh-CN" sz="2100" spc="164" dirty="0">
              <a:solidFill>
                <a:srgbClr val="294980"/>
              </a:solidFill>
              <a:latin typeface="Times New Roman"/>
              <a:ea typeface="Times New Roman"/>
            </a:endParaRPr>
          </a:p>
          <a:p>
            <a:pPr marL="0">
              <a:lnSpc>
                <a:spcPct val="100000"/>
              </a:lnSpc>
            </a:pP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Tiếp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nhận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request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xác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trước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2100" spc="164" dirty="0" err="1">
                <a:solidFill>
                  <a:srgbClr val="294980"/>
                </a:solidFill>
                <a:latin typeface="Times New Roman"/>
                <a:ea typeface="Times New Roman"/>
              </a:rPr>
              <a:t>tầng</a:t>
            </a:r>
            <a:r>
              <a:rPr lang="en-US" altLang="zh-CN" sz="2100" spc="164" dirty="0">
                <a:solidFill>
                  <a:srgbClr val="294980"/>
                </a:solidFill>
                <a:latin typeface="Times New Roman"/>
                <a:ea typeface="Times New Roman"/>
              </a:rPr>
              <a:t> controller</a:t>
            </a:r>
            <a:endParaRPr lang="en-US" altLang="zh-CN" sz="2100" spc="94" dirty="0">
              <a:solidFill>
                <a:srgbClr val="294980"/>
              </a:solidFill>
              <a:latin typeface="Times New Roman"/>
              <a:ea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1028700" y="1038429"/>
            <a:ext cx="15430500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5"/>
              </a:lnSpc>
            </a:pPr>
            <a:endParaRPr 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UserController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endParaRPr lang="en-US" sz="1050" dirty="0"/>
          </a:p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FacilityController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35756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3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6719463" y="3493063"/>
            <a:ext cx="2076561" cy="2696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>
                <a:solidFill>
                  <a:srgbClr val="FEFEFE"/>
                </a:solidFill>
                <a:latin typeface="Times New Roman"/>
                <a:ea typeface="Times New Roman"/>
              </a:rPr>
              <a:t>Get all user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Get All 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GetMapping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"Find All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.getAllUser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348686" y="1563837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正方形/長方形 1"/>
          <p:cNvSpPr/>
          <p:nvPr/>
        </p:nvSpPr>
        <p:spPr>
          <a:xfrm>
            <a:off x="10187189" y="1249251"/>
            <a:ext cx="1957588" cy="2060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角丸四角形吹き出し 3"/>
          <p:cNvSpPr/>
          <p:nvPr/>
        </p:nvSpPr>
        <p:spPr>
          <a:xfrm>
            <a:off x="12556901" y="218941"/>
            <a:ext cx="3284113" cy="901521"/>
          </a:xfrm>
          <a:prstGeom prst="wedgeRoundRectCallout">
            <a:avLst>
              <a:gd name="adj1" fmla="val -60049"/>
              <a:gd name="adj2" fmla="val 6964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chậy</a:t>
            </a:r>
            <a:r>
              <a:rPr lang="en-US" dirty="0"/>
              <a:t> </a:t>
            </a:r>
            <a:r>
              <a:rPr lang="en-US" dirty="0" err="1"/>
              <a:t>api</a:t>
            </a:r>
            <a:r>
              <a:rPr lang="en-US" dirty="0"/>
              <a:t>: http://localhost:8080/api/v1</a:t>
            </a:r>
          </a:p>
        </p:txBody>
      </p:sp>
    </p:spTree>
    <p:extLst>
      <p:ext uri="{BB962C8B-B14F-4D97-AF65-F5344CB8AC3E}">
        <p14:creationId xmlns:p14="http://schemas.microsoft.com/office/powerpoint/2010/main" val="238549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Create 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PostMapping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"/save"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saveUser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user: Users):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userSave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Users = </a:t>
            </a:r>
            <a:r>
              <a:rPr lang="en-US" sz="2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.saveUser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(user)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"Save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userSave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297739" y="4089323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0009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Update 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PutMapping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"/update"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updateUser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RequestParam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userId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String, 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user: Users):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nb-NO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nb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nb-NO" sz="2400" b="1" dirty="0">
                <a:solidFill>
                  <a:srgbClr val="6A3E3E"/>
                </a:solidFill>
                <a:latin typeface="Consolas" panose="020B0609020204030204" pitchFamily="49" charset="0"/>
              </a:rPr>
              <a:t>userUpdate</a:t>
            </a:r>
            <a:r>
              <a:rPr lang="nb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: Users = </a:t>
            </a:r>
            <a:r>
              <a:rPr lang="nb-NO" sz="2400" b="1" dirty="0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nb-NO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.updateUser(userId, user)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"Update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userUpdate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174514" y="5417001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1833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Delete user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DeleteMapping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"/delete"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user: Users):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.deleteUser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(user)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"Delete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HttpStatus.</a:t>
            </a:r>
            <a:r>
              <a:rPr lang="en-US" sz="2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OK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grpSp>
        <p:nvGrpSpPr>
          <p:cNvPr id="10" name="グループ化 9"/>
          <p:cNvGrpSpPr/>
          <p:nvPr/>
        </p:nvGrpSpPr>
        <p:grpSpPr>
          <a:xfrm>
            <a:off x="9811366" y="420730"/>
            <a:ext cx="7721891" cy="9657405"/>
            <a:chOff x="9811366" y="420730"/>
            <a:chExt cx="7721891" cy="9657405"/>
          </a:xfrm>
        </p:grpSpPr>
        <p:pic>
          <p:nvPicPr>
            <p:cNvPr id="21" name="図 2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11366" y="420730"/>
              <a:ext cx="7721891" cy="9657405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10297739" y="6774465"/>
              <a:ext cx="6749143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6"/>
          <p:cNvSpPr txBox="1"/>
          <p:nvPr/>
        </p:nvSpPr>
        <p:spPr>
          <a:xfrm>
            <a:off x="581313" y="1563837"/>
            <a:ext cx="3381087" cy="61491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10180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571536" y="3435007"/>
            <a:ext cx="1886042" cy="5909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9583"/>
              </a:lnSpc>
            </a:pPr>
            <a:r>
              <a:rPr lang="en-US" altLang="zh-CN" sz="1600" spc="455" dirty="0">
                <a:solidFill>
                  <a:srgbClr val="FEFEFE"/>
                </a:solidFill>
                <a:latin typeface="Times New Roman"/>
                <a:ea typeface="Times New Roman"/>
              </a:rPr>
              <a:t>Get User By Id</a:t>
            </a:r>
          </a:p>
        </p:txBody>
      </p:sp>
      <p:sp>
        <p:nvSpPr>
          <p:cNvPr id="11" name="TextBox 21"/>
          <p:cNvSpPr txBox="1"/>
          <p:nvPr/>
        </p:nvSpPr>
        <p:spPr>
          <a:xfrm>
            <a:off x="706391" y="3874754"/>
            <a:ext cx="7772395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Get Facility Join With User table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GetMapping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"/join"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getAllFactilityJoinUser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RequestParam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(name = 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"id"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 id: String):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"Find All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.getAllFacilityJoin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(id)))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3" name="TextBox 16"/>
          <p:cNvSpPr txBox="1"/>
          <p:nvPr/>
        </p:nvSpPr>
        <p:spPr>
          <a:xfrm>
            <a:off x="581313" y="1449846"/>
            <a:ext cx="3381087" cy="1184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FacilityController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grpSp>
        <p:nvGrpSpPr>
          <p:cNvPr id="15" name="グループ化 14"/>
          <p:cNvGrpSpPr/>
          <p:nvPr/>
        </p:nvGrpSpPr>
        <p:grpSpPr>
          <a:xfrm>
            <a:off x="9134471" y="371036"/>
            <a:ext cx="9185276" cy="9247520"/>
            <a:chOff x="8916757" y="371036"/>
            <a:chExt cx="9185276" cy="9247520"/>
          </a:xfrm>
        </p:grpSpPr>
        <p:pic>
          <p:nvPicPr>
            <p:cNvPr id="16" name="図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6757" y="371036"/>
              <a:ext cx="9185276" cy="9247520"/>
            </a:xfrm>
            <a:prstGeom prst="rect">
              <a:avLst/>
            </a:prstGeom>
          </p:spPr>
        </p:pic>
        <p:sp>
          <p:nvSpPr>
            <p:cNvPr id="17" name="正方形/長方形 16"/>
            <p:cNvSpPr/>
            <p:nvPr/>
          </p:nvSpPr>
          <p:spPr>
            <a:xfrm>
              <a:off x="9840862" y="3464034"/>
              <a:ext cx="7823200" cy="129547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927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40626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Create Facility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PostMapping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"/save"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saveUser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facility: Facility):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var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u="sng" dirty="0" err="1">
                <a:solidFill>
                  <a:srgbClr val="6A3E3E"/>
                </a:solidFill>
                <a:latin typeface="Consolas" panose="020B0609020204030204" pitchFamily="49" charset="0"/>
              </a:rPr>
              <a:t>facilityUpdate</a:t>
            </a:r>
            <a:r>
              <a:rPr lang="en-US" sz="2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2400" b="1" u="sng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b="1" u="sng" dirty="0" err="1">
                <a:solidFill>
                  <a:srgbClr val="000000"/>
                </a:solidFill>
                <a:latin typeface="Consolas" panose="020B0609020204030204" pitchFamily="49" charset="0"/>
              </a:rPr>
              <a:t>.saveFacility</a:t>
            </a:r>
            <a:r>
              <a:rPr lang="en-US" sz="2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(facility)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"Save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ResponseEntity.ok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().body(</a:t>
            </a:r>
            <a:r>
              <a:rPr lang="en-US" sz="2400" b="1" u="sng" dirty="0" err="1">
                <a:solidFill>
                  <a:srgbClr val="6A3E3E"/>
                </a:solidFill>
                <a:latin typeface="Consolas" panose="020B0609020204030204" pitchFamily="49" charset="0"/>
              </a:rPr>
              <a:t>facilityUpdate</a:t>
            </a:r>
            <a:r>
              <a:rPr lang="en-US" sz="2400" b="1" u="sng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2" name="TextBox 16"/>
          <p:cNvSpPr txBox="1"/>
          <p:nvPr/>
        </p:nvSpPr>
        <p:spPr>
          <a:xfrm>
            <a:off x="581313" y="1449846"/>
            <a:ext cx="3381087" cy="1184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FacilityController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grpSp>
        <p:nvGrpSpPr>
          <p:cNvPr id="13" name="グループ化 12"/>
          <p:cNvGrpSpPr/>
          <p:nvPr/>
        </p:nvGrpSpPr>
        <p:grpSpPr>
          <a:xfrm>
            <a:off x="9134471" y="371036"/>
            <a:ext cx="9185276" cy="9247520"/>
            <a:chOff x="8916757" y="371036"/>
            <a:chExt cx="9185276" cy="924752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6757" y="371036"/>
              <a:ext cx="9185276" cy="9247520"/>
            </a:xfrm>
            <a:prstGeom prst="rect">
              <a:avLst/>
            </a:prstGeom>
          </p:spPr>
        </p:pic>
        <p:sp>
          <p:nvSpPr>
            <p:cNvPr id="15" name="正方形/長方形 14"/>
            <p:cNvSpPr/>
            <p:nvPr/>
          </p:nvSpPr>
          <p:spPr>
            <a:xfrm>
              <a:off x="9487798" y="6290273"/>
              <a:ext cx="7823200" cy="14168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8865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4" name="TextBox 20"/>
          <p:cNvSpPr txBox="1"/>
          <p:nvPr/>
        </p:nvSpPr>
        <p:spPr>
          <a:xfrm>
            <a:off x="6486868" y="3493063"/>
            <a:ext cx="2076561" cy="2954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9583"/>
              </a:lnSpc>
            </a:pPr>
            <a:r>
              <a:rPr lang="en-US" altLang="zh-CN" sz="1600" spc="455" dirty="0" err="1">
                <a:solidFill>
                  <a:srgbClr val="FEFEFE"/>
                </a:solidFill>
                <a:latin typeface="Times New Roman"/>
                <a:ea typeface="Times New Roman"/>
              </a:rPr>
              <a:t>UserController</a:t>
            </a:r>
            <a:endParaRPr lang="en-US" altLang="zh-CN" sz="16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5" name="TextBox 21"/>
          <p:cNvSpPr txBox="1"/>
          <p:nvPr/>
        </p:nvSpPr>
        <p:spPr>
          <a:xfrm>
            <a:off x="768616" y="4587413"/>
            <a:ext cx="836585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 Delete Facility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sz="2400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dirty="0" err="1">
                <a:solidFill>
                  <a:srgbClr val="646464"/>
                </a:solidFill>
                <a:latin typeface="Consolas" panose="020B0609020204030204" pitchFamily="49" charset="0"/>
              </a:rPr>
              <a:t>DeleteMapping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2A00FF"/>
                </a:solidFill>
                <a:latin typeface="Consolas" panose="020B0609020204030204" pitchFamily="49" charset="0"/>
              </a:rPr>
              <a:t>"/delete"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deleteUser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sz="2400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RequestBody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facility: Facility):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400" dirty="0" err="1">
                <a:solidFill>
                  <a:srgbClr val="0000C0"/>
                </a:solidFill>
                <a:latin typeface="Consolas" panose="020B0609020204030204" pitchFamily="49" charset="0"/>
              </a:rPr>
              <a:t>service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.deleteFacility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(facility)</a:t>
            </a:r>
          </a:p>
          <a:p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EntityResponse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"Delete </a:t>
            </a:r>
            <a:r>
              <a:rPr lang="en-US" sz="2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Succes</a:t>
            </a:r>
            <a:r>
              <a:rPr lang="en-US" sz="2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ResponseEntity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HttpStatus.</a:t>
            </a:r>
            <a:r>
              <a:rPr lang="en-US" sz="2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OK</a:t>
            </a:r>
            <a:r>
              <a:rPr lang="en-US" sz="2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altLang="zh-CN" sz="2400" spc="125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12" name="TextBox 16"/>
          <p:cNvSpPr txBox="1"/>
          <p:nvPr/>
        </p:nvSpPr>
        <p:spPr>
          <a:xfrm>
            <a:off x="581313" y="1449846"/>
            <a:ext cx="3381087" cy="11842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1249"/>
              </a:lnSpc>
            </a:pPr>
            <a:r>
              <a:rPr lang="en-US" altLang="zh-CN" sz="3600" spc="350" dirty="0" err="1">
                <a:solidFill>
                  <a:srgbClr val="FEFEFE"/>
                </a:solidFill>
                <a:latin typeface="Times New Roman"/>
                <a:ea typeface="Times New Roman"/>
              </a:rPr>
              <a:t>FacilityController</a:t>
            </a:r>
            <a:endParaRPr lang="en-US" altLang="zh-CN" sz="3600" spc="35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grpSp>
        <p:nvGrpSpPr>
          <p:cNvPr id="13" name="グループ化 12"/>
          <p:cNvGrpSpPr/>
          <p:nvPr/>
        </p:nvGrpSpPr>
        <p:grpSpPr>
          <a:xfrm>
            <a:off x="9134471" y="371036"/>
            <a:ext cx="9185276" cy="9247520"/>
            <a:chOff x="8916757" y="371036"/>
            <a:chExt cx="9185276" cy="9247520"/>
          </a:xfrm>
        </p:grpSpPr>
        <p:pic>
          <p:nvPicPr>
            <p:cNvPr id="14" name="図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16757" y="371036"/>
              <a:ext cx="9185276" cy="9247520"/>
            </a:xfrm>
            <a:prstGeom prst="rect">
              <a:avLst/>
            </a:prstGeom>
          </p:spPr>
        </p:pic>
        <p:sp>
          <p:nvSpPr>
            <p:cNvPr id="15" name="正方形/長方形 14"/>
            <p:cNvSpPr/>
            <p:nvPr/>
          </p:nvSpPr>
          <p:spPr>
            <a:xfrm>
              <a:off x="9487798" y="7692572"/>
              <a:ext cx="7823200" cy="141681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7790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-29028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2712357" y="1212600"/>
            <a:ext cx="12019643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 dirty="0">
                <a:solidFill>
                  <a:srgbClr val="000000"/>
                </a:solidFill>
                <a:latin typeface="Times New Roman"/>
                <a:ea typeface="Times New Roman"/>
              </a:rPr>
              <a:t>Service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5"/>
              </a:lnSpc>
            </a:pPr>
            <a:endParaRPr 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FacilityService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17750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741" y="1035376"/>
            <a:ext cx="11041016" cy="9126224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4961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263" y="1057270"/>
            <a:ext cx="11041016" cy="912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69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UserService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492" y="1057270"/>
            <a:ext cx="11041016" cy="912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7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4107" y="1091029"/>
            <a:ext cx="11506299" cy="9058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005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6" y="253783"/>
            <a:ext cx="5326247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FacilityService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0012" y="1207548"/>
            <a:ext cx="11345816" cy="893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5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-29028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273958" y="1010270"/>
            <a:ext cx="15067642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>
                <a:solidFill>
                  <a:srgbClr val="000000"/>
                </a:solidFill>
                <a:latin typeface="Times New Roman"/>
                <a:ea typeface="Times New Roman"/>
              </a:rPr>
              <a:t>Respository</a:t>
            </a:r>
            <a:endParaRPr lang="en-US" altLang="zh-CN" sz="14800" spc="395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5"/>
              </a:lnSpc>
            </a:pPr>
            <a:endParaRPr 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1118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1000"/>
              </a:lnSpc>
            </a:pPr>
            <a:r>
              <a:rPr lang="en-US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FacilityRepository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91367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6" y="253783"/>
            <a:ext cx="5326247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UserRepository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440" y="1672850"/>
            <a:ext cx="13495151" cy="636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06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6" y="253783"/>
            <a:ext cx="5326247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FacilityRepository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83" y="1207548"/>
            <a:ext cx="16437650" cy="3555749"/>
          </a:xfrm>
          <a:prstGeom prst="rect">
            <a:avLst/>
          </a:prstGeom>
        </p:spPr>
      </p:pic>
      <p:sp>
        <p:nvSpPr>
          <p:cNvPr id="4" name="テキスト ボックス 3"/>
          <p:cNvSpPr txBox="1"/>
          <p:nvPr/>
        </p:nvSpPr>
        <p:spPr>
          <a:xfrm>
            <a:off x="1161143" y="5143500"/>
            <a:ext cx="1613988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tim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kiem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theo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annotation @Query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Cau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@Query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tac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entity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thay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vi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table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"from Facility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inner join Users u on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where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: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group by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u.useId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findAllFacilityJoinUser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Param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String): List&lt;Facility&gt;?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84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Freeform 123"/>
          <p:cNvSpPr/>
          <p:nvPr/>
        </p:nvSpPr>
        <p:spPr>
          <a:xfrm>
            <a:off x="9525" y="5143500"/>
            <a:ext cx="18268950" cy="0"/>
          </a:xfrm>
          <a:custGeom>
            <a:avLst/>
            <a:gdLst>
              <a:gd name="connsiteX0" fmla="*/ 18268950 w 18268950"/>
              <a:gd name="connsiteY0" fmla="*/ 0 h 0"/>
              <a:gd name="connsiteX1" fmla="*/ 0 w 18268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268950">
                <a:moveTo>
                  <a:pt x="18268950" y="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6"/>
          <p:cNvSpPr txBox="1"/>
          <p:nvPr/>
        </p:nvSpPr>
        <p:spPr>
          <a:xfrm>
            <a:off x="2712357" y="1212600"/>
            <a:ext cx="12019643" cy="33162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4381351">
              <a:lnSpc>
                <a:spcPct val="100000"/>
              </a:lnSpc>
            </a:pPr>
            <a:r>
              <a:rPr lang="en-US" altLang="zh-CN" sz="14800" spc="395" dirty="0">
                <a:solidFill>
                  <a:srgbClr val="000000"/>
                </a:solidFill>
                <a:latin typeface="Times New Roman"/>
                <a:ea typeface="Times New Roman"/>
              </a:rPr>
              <a:t>Entity</a:t>
            </a:r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00"/>
              </a:lnSpc>
            </a:pPr>
            <a:endParaRPr lang="en-US" dirty="0"/>
          </a:p>
          <a:p>
            <a:pPr>
              <a:lnSpc>
                <a:spcPts val="1085"/>
              </a:lnSpc>
            </a:pPr>
            <a:endParaRPr 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4368800" y="5932280"/>
            <a:ext cx="10522857" cy="6052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"/>
              </a:lnSpc>
            </a:pP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User, Facility</a:t>
            </a: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  <a:p>
            <a:pPr>
              <a:lnSpc>
                <a:spcPts val="1000"/>
              </a:lnSpc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947306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3" name="TextBox 16"/>
          <p:cNvSpPr txBox="1"/>
          <p:nvPr/>
        </p:nvSpPr>
        <p:spPr>
          <a:xfrm>
            <a:off x="503642" y="1563837"/>
            <a:ext cx="4063593" cy="933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en-US" altLang="zh-CN" sz="5900" spc="350" dirty="0">
                <a:solidFill>
                  <a:srgbClr val="FEFEFE"/>
                </a:solidFill>
                <a:latin typeface="Times New Roman"/>
                <a:ea typeface="Times New Roman"/>
              </a:rPr>
              <a:t>Entity</a:t>
            </a:r>
            <a:endParaRPr lang="en-US" altLang="zh-CN" sz="5900" spc="375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6486868" y="3493063"/>
            <a:ext cx="2076561" cy="3370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9583"/>
              </a:lnSpc>
            </a:pPr>
            <a:r>
              <a:rPr lang="en-US" altLang="zh-CN" sz="2000" spc="455" dirty="0">
                <a:solidFill>
                  <a:srgbClr val="FEFEFE"/>
                </a:solidFill>
                <a:latin typeface="Times New Roman"/>
                <a:ea typeface="Times New Roman"/>
              </a:rPr>
              <a:t>Users</a:t>
            </a:r>
            <a:endParaRPr lang="en-US" altLang="zh-CN" sz="2000" spc="400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882" y="155906"/>
            <a:ext cx="6889542" cy="10120232"/>
          </a:xfrm>
          <a:prstGeom prst="rect">
            <a:avLst/>
          </a:prstGeom>
        </p:spPr>
      </p:pic>
      <p:pic>
        <p:nvPicPr>
          <p:cNvPr id="5" name="図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34" y="4422769"/>
            <a:ext cx="7861195" cy="4283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363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1258207" y="1734220"/>
            <a:ext cx="655274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00000"/>
              </a:lnSpc>
            </a:pP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Controller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2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9134471" cy="10276139"/>
          </a:xfrm>
          <a:prstGeom prst="rect">
            <a:avLst/>
          </a:prstGeom>
        </p:spPr>
      </p:pic>
      <p:sp>
        <p:nvSpPr>
          <p:cNvPr id="23" name="TextBox 16"/>
          <p:cNvSpPr txBox="1"/>
          <p:nvPr/>
        </p:nvSpPr>
        <p:spPr>
          <a:xfrm>
            <a:off x="503642" y="1563837"/>
            <a:ext cx="4063593" cy="9332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>
              <a:lnSpc>
                <a:spcPct val="111249"/>
              </a:lnSpc>
            </a:pPr>
            <a:r>
              <a:rPr lang="en-US" altLang="zh-CN" sz="5900" spc="350" dirty="0">
                <a:solidFill>
                  <a:srgbClr val="FEFEFE"/>
                </a:solidFill>
                <a:latin typeface="Times New Roman"/>
                <a:ea typeface="Times New Roman"/>
              </a:rPr>
              <a:t>Entity</a:t>
            </a:r>
            <a:endParaRPr lang="en-US" altLang="zh-CN" sz="5900" spc="375" dirty="0">
              <a:solidFill>
                <a:srgbClr val="FEFEFE"/>
              </a:solidFill>
              <a:latin typeface="Times New Roman"/>
              <a:ea typeface="Times New Roman"/>
            </a:endParaRPr>
          </a:p>
        </p:txBody>
      </p:sp>
      <p:sp>
        <p:nvSpPr>
          <p:cNvPr id="24" name="TextBox 20"/>
          <p:cNvSpPr txBox="1"/>
          <p:nvPr/>
        </p:nvSpPr>
        <p:spPr>
          <a:xfrm>
            <a:off x="6486868" y="3493063"/>
            <a:ext cx="2076561" cy="47192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19583"/>
              </a:lnSpc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Facility</a:t>
            </a:r>
            <a:endParaRPr lang="en-US" altLang="zh-CN" sz="2800" spc="4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</p:txBody>
      </p:sp>
      <p:pic>
        <p:nvPicPr>
          <p:cNvPr id="4" name="図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354" y="5092325"/>
            <a:ext cx="7978534" cy="2948589"/>
          </a:xfrm>
          <a:prstGeom prst="rect">
            <a:avLst/>
          </a:prstGeom>
        </p:spPr>
      </p:pic>
      <p:pic>
        <p:nvPicPr>
          <p:cNvPr id="6" name="図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3825" y="189808"/>
            <a:ext cx="8240275" cy="990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494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668780"/>
            <a:ext cx="6065520" cy="6675120"/>
          </a:xfrm>
          <a:prstGeom prst="rect">
            <a:avLst/>
          </a:prstGeom>
        </p:spPr>
      </p:pic>
      <p:sp>
        <p:nvSpPr>
          <p:cNvPr id="2" name="TextBox 21"/>
          <p:cNvSpPr txBox="1"/>
          <p:nvPr/>
        </p:nvSpPr>
        <p:spPr>
          <a:xfrm>
            <a:off x="7368540" y="3450728"/>
            <a:ext cx="10363199" cy="3385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3.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Áp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JPA Query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Security</a:t>
            </a:r>
          </a:p>
          <a:p>
            <a:pPr marL="0" algn="ctr">
              <a:lnSpc>
                <a:spcPct val="100000"/>
              </a:lnSpc>
            </a:pPr>
            <a:endParaRPr lang="en-US" altLang="zh-CN" sz="4400" spc="195" dirty="0">
              <a:solidFill>
                <a:srgbClr val="93DCDD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9831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14514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209143" y="3077028"/>
            <a:ext cx="106970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Sử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000" spc="395" dirty="0">
                <a:solidFill>
                  <a:srgbClr val="000000"/>
                </a:solidFill>
                <a:latin typeface="Times New Roman"/>
                <a:ea typeface="Times New Roman"/>
              </a:rPr>
              <a:t>@</a:t>
            </a:r>
            <a:r>
              <a:rPr lang="en-US" sz="8000" dirty="0" err="1"/>
              <a:t>OneToMany</a:t>
            </a:r>
            <a:r>
              <a:rPr lang="en-US" altLang="zh-CN" sz="8000" spc="395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và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@Query </a:t>
            </a:r>
            <a:r>
              <a:rPr lang="en-US" altLang="zh-CN" sz="8000" b="1" spc="395" dirty="0" err="1">
                <a:solidFill>
                  <a:srgbClr val="000000"/>
                </a:solidFill>
                <a:latin typeface="Times New Roman"/>
                <a:ea typeface="Times New Roman"/>
              </a:rPr>
              <a:t>để</a:t>
            </a:r>
            <a:r>
              <a:rPr lang="en-US" altLang="zh-CN" sz="8000" b="1" spc="395" dirty="0">
                <a:solidFill>
                  <a:srgbClr val="000000"/>
                </a:solidFill>
                <a:latin typeface="Times New Roman"/>
                <a:ea typeface="Times New Roman"/>
              </a:rPr>
              <a:t> join 2 table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278143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5"/>
          <p:cNvSpPr/>
          <p:nvPr/>
        </p:nvSpPr>
        <p:spPr>
          <a:xfrm>
            <a:off x="9134471" y="8178"/>
            <a:ext cx="0" cy="10267960"/>
          </a:xfrm>
          <a:custGeom>
            <a:avLst/>
            <a:gdLst>
              <a:gd name="connsiteX0" fmla="*/ 0 w 0"/>
              <a:gd name="connsiteY0" fmla="*/ 0 h 10267960"/>
              <a:gd name="connsiteX1" fmla="*/ 0 w 0"/>
              <a:gd name="connsiteY1" fmla="*/ 10267960 h 1026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60">
                <a:moveTo>
                  <a:pt x="0" y="0"/>
                </a:moveTo>
                <a:lnTo>
                  <a:pt x="0" y="10267960"/>
                </a:lnTo>
              </a:path>
            </a:pathLst>
          </a:custGeom>
          <a:ln w="19048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6"/>
          <p:cNvSpPr txBox="1"/>
          <p:nvPr/>
        </p:nvSpPr>
        <p:spPr>
          <a:xfrm>
            <a:off x="232228" y="304800"/>
            <a:ext cx="872308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Sử</a:t>
            </a: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40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@</a:t>
            </a:r>
            <a:r>
              <a:rPr lang="en-US" sz="3600" dirty="0"/>
              <a:t>Query </a:t>
            </a:r>
            <a:r>
              <a:rPr lang="en-US" sz="3600" dirty="0" err="1"/>
              <a:t>để</a:t>
            </a:r>
            <a:r>
              <a:rPr lang="en-US" sz="3600" dirty="0"/>
              <a:t> </a:t>
            </a:r>
            <a:r>
              <a:rPr lang="en-US" sz="3600" dirty="0" err="1"/>
              <a:t>thực</a:t>
            </a:r>
            <a:r>
              <a:rPr lang="en-US" sz="3600" dirty="0"/>
              <a:t> </a:t>
            </a:r>
            <a:r>
              <a:rPr lang="en-US" sz="3600" dirty="0" err="1"/>
              <a:t>hiện</a:t>
            </a:r>
            <a:r>
              <a:rPr lang="en-US" sz="3600" dirty="0"/>
              <a:t> </a:t>
            </a:r>
            <a:r>
              <a:rPr lang="en-US" sz="3600" dirty="0" err="1"/>
              <a:t>câu</a:t>
            </a:r>
            <a:r>
              <a:rPr lang="en-US" sz="3600" dirty="0"/>
              <a:t> </a:t>
            </a:r>
            <a:r>
              <a:rPr lang="en-US" sz="3600" dirty="0" err="1"/>
              <a:t>lệnh</a:t>
            </a:r>
            <a:r>
              <a:rPr lang="en-US" sz="3600" dirty="0"/>
              <a:t> </a:t>
            </a:r>
            <a:r>
              <a:rPr lang="en-US" sz="3600" dirty="0" err="1"/>
              <a:t>sql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pic>
        <p:nvPicPr>
          <p:cNvPr id="21" name="図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4740" y="1336041"/>
            <a:ext cx="7286918" cy="8761150"/>
          </a:xfrm>
          <a:prstGeom prst="rect">
            <a:avLst/>
          </a:prstGeom>
        </p:spPr>
      </p:pic>
      <p:sp>
        <p:nvSpPr>
          <p:cNvPr id="22" name="TextBox 66"/>
          <p:cNvSpPr txBox="1"/>
          <p:nvPr/>
        </p:nvSpPr>
        <p:spPr>
          <a:xfrm>
            <a:off x="9419771" y="281724"/>
            <a:ext cx="8316685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0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Sử</a:t>
            </a: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4000" b="1" spc="104" dirty="0" err="1">
                <a:solidFill>
                  <a:srgbClr val="000000"/>
                </a:solidFill>
                <a:latin typeface="Times New Roman"/>
                <a:ea typeface="Times New Roman"/>
              </a:rPr>
              <a:t>dụng</a:t>
            </a:r>
            <a:r>
              <a:rPr lang="en-US" altLang="zh-CN" sz="4000" b="1" spc="104" dirty="0">
                <a:solidFill>
                  <a:srgbClr val="000000"/>
                </a:solidFill>
                <a:latin typeface="Times New Roman"/>
                <a:ea typeface="Times New Roman"/>
              </a:rPr>
              <a:t> @</a:t>
            </a:r>
            <a:r>
              <a:rPr lang="en-US" sz="3600" dirty="0" err="1"/>
              <a:t>Anotation</a:t>
            </a:r>
            <a:r>
              <a:rPr lang="en-US" sz="3600" dirty="0"/>
              <a:t> </a:t>
            </a:r>
            <a:r>
              <a:rPr lang="en-US" sz="3600" dirty="0" err="1"/>
              <a:t>để</a:t>
            </a:r>
            <a:r>
              <a:rPr lang="en-US" sz="3600" dirty="0"/>
              <a:t> map </a:t>
            </a:r>
            <a:r>
              <a:rPr lang="en-US" sz="3600" dirty="0" err="1"/>
              <a:t>giữa</a:t>
            </a:r>
            <a:r>
              <a:rPr lang="en-US" sz="3600" dirty="0"/>
              <a:t> 2 table</a:t>
            </a:r>
            <a:endParaRPr lang="en-US" altLang="zh-CN" sz="3600" b="1" spc="220" dirty="0">
              <a:solidFill>
                <a:srgbClr val="000000"/>
              </a:solidFill>
              <a:latin typeface="Times New Roman"/>
              <a:ea typeface="Times New Roman"/>
            </a:endParaRPr>
          </a:p>
        </p:txBody>
      </p:sp>
      <p:sp>
        <p:nvSpPr>
          <p:cNvPr id="23" name="テキスト ボックス 22"/>
          <p:cNvSpPr txBox="1"/>
          <p:nvPr/>
        </p:nvSpPr>
        <p:spPr>
          <a:xfrm>
            <a:off x="0" y="1336041"/>
            <a:ext cx="895531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/**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tim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kiem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theo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annotation @Query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Cau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@Query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thuc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hien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thao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tac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entity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thay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vi </a:t>
            </a:r>
            <a:r>
              <a:rPr lang="en-US" dirty="0" err="1">
                <a:solidFill>
                  <a:srgbClr val="3F7F5F"/>
                </a:solidFill>
                <a:latin typeface="Consolas" panose="020B0609020204030204" pitchFamily="49" charset="0"/>
              </a:rPr>
              <a:t>voi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 ten table</a:t>
            </a:r>
          </a:p>
          <a:p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3F7F5F"/>
                </a:solidFill>
                <a:latin typeface="Consolas" panose="020B0609020204030204" pitchFamily="49" charset="0"/>
              </a:rPr>
              <a:t>*/</a:t>
            </a:r>
          </a:p>
          <a:p>
            <a:r>
              <a:rPr lang="en-US" dirty="0">
                <a:solidFill>
                  <a:srgbClr val="646464"/>
                </a:solidFill>
                <a:latin typeface="Consolas" panose="020B0609020204030204" pitchFamily="49" charset="0"/>
              </a:rPr>
              <a:t>@Query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"from Facility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inner join Users u on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where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= :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 group by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fa.commonFacilityCode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2A00FF"/>
                </a:solidFill>
                <a:latin typeface="Consolas" panose="020B0609020204030204" pitchFamily="49" charset="0"/>
              </a:rPr>
              <a:t>u.useId</a:t>
            </a:r>
            <a:r>
              <a:rPr lang="en-US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fun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findAllFacilityJoinUser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646464"/>
                </a:solidFill>
                <a:latin typeface="Consolas" panose="020B0609020204030204" pitchFamily="49" charset="0"/>
              </a:rPr>
              <a:t>@</a:t>
            </a:r>
            <a:r>
              <a:rPr lang="en-US" b="1" dirty="0" err="1">
                <a:solidFill>
                  <a:srgbClr val="646464"/>
                </a:solidFill>
                <a:latin typeface="Consolas" panose="020B0609020204030204" pitchFamily="49" charset="0"/>
              </a:rPr>
              <a:t>Param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commonFacility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: String): List&lt;Facility&gt;?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99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Freeform 120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Freeform 121"/>
          <p:cNvSpPr/>
          <p:nvPr/>
        </p:nvSpPr>
        <p:spPr>
          <a:xfrm>
            <a:off x="0" y="0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Freeform 122"/>
          <p:cNvSpPr/>
          <p:nvPr/>
        </p:nvSpPr>
        <p:spPr>
          <a:xfrm>
            <a:off x="0" y="14514"/>
            <a:ext cx="18288000" cy="10287000"/>
          </a:xfrm>
          <a:custGeom>
            <a:avLst/>
            <a:gdLst>
              <a:gd name="connsiteX0" fmla="*/ 0 w 18288000"/>
              <a:gd name="connsiteY0" fmla="*/ 0 h 10287000"/>
              <a:gd name="connsiteX1" fmla="*/ 18288000 w 18288000"/>
              <a:gd name="connsiteY1" fmla="*/ 0 h 10287000"/>
              <a:gd name="connsiteX2" fmla="*/ 18288000 w 18288000"/>
              <a:gd name="connsiteY2" fmla="*/ 10287000 h 10287000"/>
              <a:gd name="connsiteX3" fmla="*/ 0 w 18288000"/>
              <a:gd name="connsiteY3" fmla="*/ 10287000 h 10287000"/>
              <a:gd name="connsiteX4" fmla="*/ 0 w 18288000"/>
              <a:gd name="connsiteY4" fmla="*/ 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solidFill>
            <a:srgbClr val="FEEBCF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Freeform 124"/>
          <p:cNvSpPr/>
          <p:nvPr/>
        </p:nvSpPr>
        <p:spPr>
          <a:xfrm>
            <a:off x="10382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 125"/>
          <p:cNvSpPr/>
          <p:nvPr/>
        </p:nvSpPr>
        <p:spPr>
          <a:xfrm>
            <a:off x="17268825" y="9525"/>
            <a:ext cx="0" cy="10267950"/>
          </a:xfrm>
          <a:custGeom>
            <a:avLst/>
            <a:gdLst>
              <a:gd name="connsiteX0" fmla="*/ 0 w 0"/>
              <a:gd name="connsiteY0" fmla="*/ 0 h 10267950"/>
              <a:gd name="connsiteX1" fmla="*/ 0 w 0"/>
              <a:gd name="connsiteY1" fmla="*/ 10267950 h 10267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10267950">
                <a:moveTo>
                  <a:pt x="0" y="0"/>
                </a:moveTo>
                <a:lnTo>
                  <a:pt x="0" y="10267950"/>
                </a:lnTo>
              </a:path>
            </a:pathLst>
          </a:custGeom>
          <a:ln w="19050">
            <a:solidFill>
              <a:srgbClr val="000000">
                <a:alpha val="100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4209143" y="3077028"/>
            <a:ext cx="106970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0" b="1" spc="395" dirty="0" err="1">
                <a:solidFill>
                  <a:srgbClr val="000000"/>
                </a:solidFill>
                <a:latin typeface="Times New Roman"/>
              </a:rPr>
              <a:t>Sử</a:t>
            </a:r>
            <a:r>
              <a:rPr lang="en-US" sz="8000" b="1" spc="395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8000" b="1" spc="395" dirty="0" err="1">
                <a:solidFill>
                  <a:srgbClr val="000000"/>
                </a:solidFill>
                <a:latin typeface="Times New Roman"/>
              </a:rPr>
              <a:t>dụng</a:t>
            </a:r>
            <a:r>
              <a:rPr lang="en-US" sz="8000" b="1" spc="395" dirty="0">
                <a:solidFill>
                  <a:srgbClr val="000000"/>
                </a:solidFill>
                <a:latin typeface="Times New Roman"/>
              </a:rPr>
              <a:t> spring security </a:t>
            </a:r>
            <a:r>
              <a:rPr lang="en-US" sz="8000" b="1" spc="395" dirty="0" err="1">
                <a:solidFill>
                  <a:srgbClr val="000000"/>
                </a:solidFill>
                <a:latin typeface="Times New Roman"/>
              </a:rPr>
              <a:t>để</a:t>
            </a:r>
            <a:r>
              <a:rPr lang="en-US" sz="8000" b="1" spc="395" dirty="0">
                <a:solidFill>
                  <a:srgbClr val="000000"/>
                </a:solidFill>
                <a:latin typeface="Times New Roman"/>
              </a:rPr>
              <a:t> login </a:t>
            </a:r>
            <a:r>
              <a:rPr lang="en-US" sz="8000" b="1" spc="395" dirty="0" err="1">
                <a:solidFill>
                  <a:srgbClr val="000000"/>
                </a:solidFill>
                <a:latin typeface="Times New Roman"/>
              </a:rPr>
              <a:t>và</a:t>
            </a:r>
            <a:r>
              <a:rPr lang="en-US" sz="8000" b="1" spc="395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8000" b="1" spc="395" dirty="0" err="1">
                <a:solidFill>
                  <a:srgbClr val="000000"/>
                </a:solidFill>
                <a:latin typeface="Times New Roman"/>
              </a:rPr>
              <a:t>phân</a:t>
            </a:r>
            <a:r>
              <a:rPr lang="en-US" sz="8000" b="1" spc="395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8000" b="1" spc="395" dirty="0" err="1">
                <a:solidFill>
                  <a:srgbClr val="000000"/>
                </a:solidFill>
                <a:latin typeface="Times New Roman"/>
              </a:rPr>
              <a:t>quyền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1481148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44263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 security</a:t>
            </a:r>
          </a:p>
        </p:txBody>
      </p:sp>
      <p:grpSp>
        <p:nvGrpSpPr>
          <p:cNvPr id="4" name="グループ化 3"/>
          <p:cNvGrpSpPr/>
          <p:nvPr/>
        </p:nvGrpSpPr>
        <p:grpSpPr>
          <a:xfrm>
            <a:off x="13187390" y="1618838"/>
            <a:ext cx="3640760" cy="8228608"/>
            <a:chOff x="6322133" y="1708331"/>
            <a:chExt cx="3640760" cy="8228608"/>
          </a:xfrm>
        </p:grpSpPr>
        <p:pic>
          <p:nvPicPr>
            <p:cNvPr id="8" name="図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22133" y="1708331"/>
              <a:ext cx="3640760" cy="8228608"/>
            </a:xfrm>
            <a:prstGeom prst="rect">
              <a:avLst/>
            </a:prstGeom>
          </p:spPr>
        </p:pic>
        <p:sp>
          <p:nvSpPr>
            <p:cNvPr id="2" name="正方形/長方形 1"/>
            <p:cNvSpPr/>
            <p:nvPr/>
          </p:nvSpPr>
          <p:spPr>
            <a:xfrm>
              <a:off x="7097486" y="2438400"/>
              <a:ext cx="1654628" cy="39188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正方形/長方形 9"/>
            <p:cNvSpPr/>
            <p:nvPr/>
          </p:nvSpPr>
          <p:spPr>
            <a:xfrm>
              <a:off x="7257142" y="5733142"/>
              <a:ext cx="2364087" cy="28543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テキスト ボックス 4"/>
          <p:cNvSpPr txBox="1"/>
          <p:nvPr/>
        </p:nvSpPr>
        <p:spPr>
          <a:xfrm>
            <a:off x="989295" y="1544813"/>
            <a:ext cx="10987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SecurityUserDetailsService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get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user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989295" y="3106944"/>
            <a:ext cx="109873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SecurityConfig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Control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quyền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request mapping,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/>
              <a:t>userDetailsService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6740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SecurityUserDetailsService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図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630" y="1332151"/>
            <a:ext cx="11444713" cy="829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4520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SecurityUserDetailsService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9440" y="1171928"/>
            <a:ext cx="12723136" cy="889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07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1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0" y="0"/>
            <a:ext cx="18288000" cy="10286999"/>
          </a:xfrm>
          <a:custGeom>
            <a:avLst/>
            <a:gdLst>
              <a:gd name="connsiteX0" fmla="*/ 0 w 18288000"/>
              <a:gd name="connsiteY0" fmla="*/ 0 h 10286999"/>
              <a:gd name="connsiteX1" fmla="*/ 18288000 w 18288000"/>
              <a:gd name="connsiteY1" fmla="*/ 0 h 10286999"/>
              <a:gd name="connsiteX2" fmla="*/ 18288000 w 18288000"/>
              <a:gd name="connsiteY2" fmla="*/ 10286999 h 10286999"/>
              <a:gd name="connsiteX3" fmla="*/ 0 w 18288000"/>
              <a:gd name="connsiteY3" fmla="*/ 10286999 h 10286999"/>
              <a:gd name="connsiteX4" fmla="*/ 0 w 18288000"/>
              <a:gd name="connsiteY4" fmla="*/ 0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9">
                <a:moveTo>
                  <a:pt x="0" y="0"/>
                </a:moveTo>
                <a:lnTo>
                  <a:pt x="18288000" y="0"/>
                </a:lnTo>
                <a:lnTo>
                  <a:pt x="18288000" y="10286999"/>
                </a:lnTo>
                <a:lnTo>
                  <a:pt x="0" y="10286999"/>
                </a:lnTo>
                <a:lnTo>
                  <a:pt x="0" y="0"/>
                </a:lnTo>
                <a:close/>
              </a:path>
            </a:pathLst>
          </a:custGeom>
          <a:solidFill>
            <a:srgbClr val="29498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" y="1668780"/>
            <a:ext cx="6065520" cy="6675120"/>
          </a:xfrm>
          <a:prstGeom prst="rect">
            <a:avLst/>
          </a:prstGeom>
        </p:spPr>
      </p:pic>
      <p:sp>
        <p:nvSpPr>
          <p:cNvPr id="2" name="TextBox 21"/>
          <p:cNvSpPr txBox="1"/>
          <p:nvPr/>
        </p:nvSpPr>
        <p:spPr>
          <a:xfrm>
            <a:off x="7368540" y="3450728"/>
            <a:ext cx="10363199" cy="338554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4.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Thực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hiện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test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các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chức</a:t>
            </a:r>
            <a:r>
              <a:rPr lang="en-US" altLang="zh-CN" sz="8800" b="1" spc="185" dirty="0">
                <a:solidFill>
                  <a:srgbClr val="F5B3A5"/>
                </a:solidFill>
                <a:latin typeface="Times New Roman"/>
                <a:ea typeface="Times New Roman"/>
              </a:rPr>
              <a:t> </a:t>
            </a:r>
            <a:r>
              <a:rPr lang="en-US" altLang="zh-CN" sz="8800" b="1" spc="185" dirty="0" err="1">
                <a:solidFill>
                  <a:srgbClr val="F5B3A5"/>
                </a:solidFill>
                <a:latin typeface="Times New Roman"/>
                <a:ea typeface="Times New Roman"/>
              </a:rPr>
              <a:t>năng</a:t>
            </a:r>
            <a:endParaRPr lang="en-US" altLang="zh-CN" sz="8800" b="1" spc="185" dirty="0">
              <a:solidFill>
                <a:srgbClr val="F5B3A5"/>
              </a:solidFill>
              <a:latin typeface="Times New Roman"/>
              <a:ea typeface="Times New Roman"/>
            </a:endParaRPr>
          </a:p>
          <a:p>
            <a:pPr marL="0" algn="ctr">
              <a:lnSpc>
                <a:spcPct val="100000"/>
              </a:lnSpc>
            </a:pPr>
            <a:endParaRPr lang="en-US" altLang="zh-CN" sz="4400" spc="195" dirty="0">
              <a:solidFill>
                <a:srgbClr val="93DCDD"/>
              </a:solidFill>
              <a:latin typeface="Times New Roman"/>
              <a:ea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493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All User</a:t>
            </a:r>
          </a:p>
        </p:txBody>
      </p:sp>
      <p:grpSp>
        <p:nvGrpSpPr>
          <p:cNvPr id="8" name="グループ化 7"/>
          <p:cNvGrpSpPr/>
          <p:nvPr/>
        </p:nvGrpSpPr>
        <p:grpSpPr>
          <a:xfrm>
            <a:off x="2034862" y="1978881"/>
            <a:ext cx="13445544" cy="7283003"/>
            <a:chOff x="2034862" y="1978881"/>
            <a:chExt cx="13445544" cy="7283003"/>
          </a:xfrm>
        </p:grpSpPr>
        <p:pic>
          <p:nvPicPr>
            <p:cNvPr id="6" name="図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4862" y="1978881"/>
              <a:ext cx="13445544" cy="7283003"/>
            </a:xfrm>
            <a:prstGeom prst="rect">
              <a:avLst/>
            </a:prstGeom>
          </p:spPr>
        </p:pic>
        <p:sp>
          <p:nvSpPr>
            <p:cNvPr id="7" name="正方形/長方形 6"/>
            <p:cNvSpPr/>
            <p:nvPr/>
          </p:nvSpPr>
          <p:spPr>
            <a:xfrm>
              <a:off x="4095482" y="3361386"/>
              <a:ext cx="1429555" cy="2962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正方形/長方形 12"/>
            <p:cNvSpPr/>
            <p:nvPr/>
          </p:nvSpPr>
          <p:spPr>
            <a:xfrm>
              <a:off x="7431110" y="3361386"/>
              <a:ext cx="1429555" cy="2962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正方形/長方形 13"/>
            <p:cNvSpPr/>
            <p:nvPr/>
          </p:nvSpPr>
          <p:spPr>
            <a:xfrm>
              <a:off x="7841731" y="4196323"/>
              <a:ext cx="7342461" cy="489616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角丸四角形吹き出し 14"/>
            <p:cNvSpPr/>
            <p:nvPr/>
          </p:nvSpPr>
          <p:spPr>
            <a:xfrm>
              <a:off x="5859887" y="2290466"/>
              <a:ext cx="3284113" cy="901521"/>
            </a:xfrm>
            <a:prstGeom prst="wedgeRoundRectCallout">
              <a:avLst>
                <a:gd name="adj1" fmla="val -60049"/>
                <a:gd name="adj2" fmla="val 69643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http://localhost:8080/api/v1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0705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All Facility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 </a:t>
            </a:r>
            <a:r>
              <a:rPr lang="en-US" dirty="0">
                <a:hlinkClick r:id="rId3"/>
              </a:rPr>
              <a:t>http://localhost:8080/api/v2/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User </a:t>
            </a:r>
            <a:r>
              <a:rPr lang="en-US" dirty="0" err="1"/>
              <a:t>hoặc</a:t>
            </a:r>
            <a:r>
              <a:rPr lang="en-US" dirty="0"/>
              <a:t> Admin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User</a:t>
            </a:r>
          </a:p>
        </p:txBody>
      </p:sp>
      <p:grpSp>
        <p:nvGrpSpPr>
          <p:cNvPr id="11" name="グループ化 10"/>
          <p:cNvGrpSpPr/>
          <p:nvPr/>
        </p:nvGrpSpPr>
        <p:grpSpPr>
          <a:xfrm>
            <a:off x="1094704" y="2010374"/>
            <a:ext cx="14991008" cy="8120129"/>
            <a:chOff x="1094704" y="2010374"/>
            <a:chExt cx="14991008" cy="8120129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704" y="2010374"/>
              <a:ext cx="14991008" cy="8120129"/>
            </a:xfrm>
            <a:prstGeom prst="rect">
              <a:avLst/>
            </a:prstGeom>
          </p:spPr>
        </p:pic>
        <p:grpSp>
          <p:nvGrpSpPr>
            <p:cNvPr id="8" name="グループ化 7"/>
            <p:cNvGrpSpPr/>
            <p:nvPr/>
          </p:nvGrpSpPr>
          <p:grpSpPr>
            <a:xfrm>
              <a:off x="3454648" y="2497118"/>
              <a:ext cx="5048518" cy="1367134"/>
              <a:chOff x="4095482" y="2290466"/>
              <a:chExt cx="5048518" cy="1367134"/>
            </a:xfrm>
          </p:grpSpPr>
          <p:sp>
            <p:nvSpPr>
              <p:cNvPr id="7" name="正方形/長方形 6"/>
              <p:cNvSpPr/>
              <p:nvPr/>
            </p:nvSpPr>
            <p:spPr>
              <a:xfrm>
                <a:off x="4095482" y="3361386"/>
                <a:ext cx="1429555" cy="2962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角丸四角形吹き出し 14"/>
              <p:cNvSpPr/>
              <p:nvPr/>
            </p:nvSpPr>
            <p:spPr>
              <a:xfrm>
                <a:off x="5859887" y="2290466"/>
                <a:ext cx="3284113" cy="901521"/>
              </a:xfrm>
              <a:prstGeom prst="wedgeRoundRectCallout">
                <a:avLst>
                  <a:gd name="adj1" fmla="val -60049"/>
                  <a:gd name="adj2" fmla="val 69643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http://localhost:8080/api/v1</a:t>
                </a:r>
              </a:p>
            </p:txBody>
          </p:sp>
        </p:grpSp>
        <p:sp>
          <p:nvSpPr>
            <p:cNvPr id="9" name="正方形/長方形 8"/>
            <p:cNvSpPr/>
            <p:nvPr/>
          </p:nvSpPr>
          <p:spPr>
            <a:xfrm>
              <a:off x="4790941" y="4956304"/>
              <a:ext cx="2034861" cy="7490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90453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 All Facility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 </a:t>
            </a:r>
            <a:r>
              <a:rPr lang="en-US" dirty="0">
                <a:hlinkClick r:id="rId3"/>
              </a:rPr>
              <a:t>http://localhost:8080/api/v2/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User </a:t>
            </a:r>
            <a:r>
              <a:rPr lang="en-US" dirty="0" err="1"/>
              <a:t>hoặc</a:t>
            </a:r>
            <a:r>
              <a:rPr lang="en-US" dirty="0"/>
              <a:t> Admin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User</a:t>
            </a:r>
          </a:p>
        </p:txBody>
      </p:sp>
      <p:grpSp>
        <p:nvGrpSpPr>
          <p:cNvPr id="11" name="グループ化 10"/>
          <p:cNvGrpSpPr/>
          <p:nvPr/>
        </p:nvGrpSpPr>
        <p:grpSpPr>
          <a:xfrm>
            <a:off x="1094704" y="2010374"/>
            <a:ext cx="14991008" cy="8120129"/>
            <a:chOff x="1094704" y="2010374"/>
            <a:chExt cx="14991008" cy="8120129"/>
          </a:xfrm>
        </p:grpSpPr>
        <p:pic>
          <p:nvPicPr>
            <p:cNvPr id="5" name="図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94704" y="2010374"/>
              <a:ext cx="14991008" cy="8120129"/>
            </a:xfrm>
            <a:prstGeom prst="rect">
              <a:avLst/>
            </a:prstGeom>
          </p:spPr>
        </p:pic>
        <p:grpSp>
          <p:nvGrpSpPr>
            <p:cNvPr id="8" name="グループ化 7"/>
            <p:cNvGrpSpPr/>
            <p:nvPr/>
          </p:nvGrpSpPr>
          <p:grpSpPr>
            <a:xfrm>
              <a:off x="3454648" y="2497118"/>
              <a:ext cx="5048518" cy="1367134"/>
              <a:chOff x="4095482" y="2290466"/>
              <a:chExt cx="5048518" cy="1367134"/>
            </a:xfrm>
          </p:grpSpPr>
          <p:sp>
            <p:nvSpPr>
              <p:cNvPr id="7" name="正方形/長方形 6"/>
              <p:cNvSpPr/>
              <p:nvPr/>
            </p:nvSpPr>
            <p:spPr>
              <a:xfrm>
                <a:off x="4095482" y="3361386"/>
                <a:ext cx="1429555" cy="29621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角丸四角形吹き出し 14"/>
              <p:cNvSpPr/>
              <p:nvPr/>
            </p:nvSpPr>
            <p:spPr>
              <a:xfrm>
                <a:off x="5859887" y="2290466"/>
                <a:ext cx="3284113" cy="901521"/>
              </a:xfrm>
              <a:prstGeom prst="wedgeRoundRectCallout">
                <a:avLst>
                  <a:gd name="adj1" fmla="val -60049"/>
                  <a:gd name="adj2" fmla="val 69643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http://localhost:8080/api/v1</a:t>
                </a:r>
              </a:p>
            </p:txBody>
          </p:sp>
        </p:grpSp>
        <p:sp>
          <p:nvSpPr>
            <p:cNvPr id="9" name="正方形/長方形 8"/>
            <p:cNvSpPr/>
            <p:nvPr/>
          </p:nvSpPr>
          <p:spPr>
            <a:xfrm>
              <a:off x="4790941" y="4956304"/>
              <a:ext cx="2034861" cy="7490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363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Facility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Url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http://localhost:8080/api/v2/delete</a:t>
            </a:r>
            <a:r>
              <a:rPr lang="en-US" dirty="0"/>
              <a:t>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Admin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khoản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User,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lỗi</a:t>
            </a:r>
            <a:r>
              <a:rPr lang="en-US" dirty="0"/>
              <a:t> </a:t>
            </a:r>
            <a:r>
              <a:rPr lang="ja-JP" altLang="en-US" dirty="0"/>
              <a:t>「</a:t>
            </a:r>
            <a:r>
              <a:rPr lang="en-US" dirty="0"/>
              <a:t>403 : Forbidden</a:t>
            </a:r>
            <a:r>
              <a:rPr lang="ja-JP" altLang="en-US" dirty="0"/>
              <a:t>」</a:t>
            </a:r>
            <a:endParaRPr lang="en-US" dirty="0"/>
          </a:p>
        </p:txBody>
      </p:sp>
      <p:grpSp>
        <p:nvGrpSpPr>
          <p:cNvPr id="6" name="グループ化 5"/>
          <p:cNvGrpSpPr/>
          <p:nvPr/>
        </p:nvGrpSpPr>
        <p:grpSpPr>
          <a:xfrm>
            <a:off x="1352281" y="2092720"/>
            <a:ext cx="14450096" cy="7827135"/>
            <a:chOff x="1352281" y="2092720"/>
            <a:chExt cx="14450096" cy="7827135"/>
          </a:xfrm>
        </p:grpSpPr>
        <p:pic>
          <p:nvPicPr>
            <p:cNvPr id="2" name="図 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52281" y="2092720"/>
              <a:ext cx="14450096" cy="7827135"/>
            </a:xfrm>
            <a:prstGeom prst="rect">
              <a:avLst/>
            </a:prstGeom>
          </p:spPr>
        </p:pic>
        <p:grpSp>
          <p:nvGrpSpPr>
            <p:cNvPr id="11" name="グループ化 10"/>
            <p:cNvGrpSpPr/>
            <p:nvPr/>
          </p:nvGrpSpPr>
          <p:grpSpPr>
            <a:xfrm>
              <a:off x="3596316" y="2508613"/>
              <a:ext cx="5393138" cy="3137372"/>
              <a:chOff x="3454648" y="2497118"/>
              <a:chExt cx="5393138" cy="3137372"/>
            </a:xfrm>
          </p:grpSpPr>
          <p:grpSp>
            <p:nvGrpSpPr>
              <p:cNvPr id="8" name="グループ化 7"/>
              <p:cNvGrpSpPr/>
              <p:nvPr/>
            </p:nvGrpSpPr>
            <p:grpSpPr>
              <a:xfrm>
                <a:off x="3454648" y="2497118"/>
                <a:ext cx="5393138" cy="1367134"/>
                <a:chOff x="4095482" y="2290466"/>
                <a:chExt cx="5393138" cy="1367134"/>
              </a:xfrm>
            </p:grpSpPr>
            <p:sp>
              <p:nvSpPr>
                <p:cNvPr id="7" name="正方形/長方形 6"/>
                <p:cNvSpPr/>
                <p:nvPr/>
              </p:nvSpPr>
              <p:spPr>
                <a:xfrm>
                  <a:off x="4095482" y="3361386"/>
                  <a:ext cx="1764405" cy="296214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角丸四角形吹き出し 14"/>
                <p:cNvSpPr/>
                <p:nvPr/>
              </p:nvSpPr>
              <p:spPr>
                <a:xfrm>
                  <a:off x="5859887" y="2290466"/>
                  <a:ext cx="3628733" cy="901521"/>
                </a:xfrm>
                <a:prstGeom prst="wedgeRoundRectCallout">
                  <a:avLst>
                    <a:gd name="adj1" fmla="val -60049"/>
                    <a:gd name="adj2" fmla="val 69643"/>
                    <a:gd name="adj3" fmla="val 16667"/>
                  </a:avLst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http://localhost:8080/api/v2/delete</a:t>
                  </a:r>
                </a:p>
              </p:txBody>
            </p:sp>
          </p:grpSp>
          <p:sp>
            <p:nvSpPr>
              <p:cNvPr id="9" name="正方形/長方形 8"/>
              <p:cNvSpPr/>
              <p:nvPr/>
            </p:nvSpPr>
            <p:spPr>
              <a:xfrm>
                <a:off x="4998558" y="4885452"/>
                <a:ext cx="2316642" cy="74903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正方形/長方形 2"/>
            <p:cNvSpPr/>
            <p:nvPr/>
          </p:nvSpPr>
          <p:spPr>
            <a:xfrm>
              <a:off x="8190963" y="4584879"/>
              <a:ext cx="2640169" cy="9401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4271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9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EFE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0" y="1"/>
            <a:ext cx="18288000" cy="10286998"/>
          </a:xfrm>
          <a:custGeom>
            <a:avLst/>
            <a:gdLst>
              <a:gd name="connsiteX0" fmla="*/ 0 w 18288000"/>
              <a:gd name="connsiteY0" fmla="*/ 0 h 10286998"/>
              <a:gd name="connsiteX1" fmla="*/ 18288000 w 18288000"/>
              <a:gd name="connsiteY1" fmla="*/ 0 h 10286998"/>
              <a:gd name="connsiteX2" fmla="*/ 18288000 w 18288000"/>
              <a:gd name="connsiteY2" fmla="*/ 10286998 h 10286998"/>
              <a:gd name="connsiteX3" fmla="*/ 0 w 18288000"/>
              <a:gd name="connsiteY3" fmla="*/ 10286998 h 10286998"/>
              <a:gd name="connsiteX4" fmla="*/ 0 w 18288000"/>
              <a:gd name="connsiteY4" fmla="*/ 0 h 10286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88000" h="10286998">
                <a:moveTo>
                  <a:pt x="0" y="0"/>
                </a:moveTo>
                <a:lnTo>
                  <a:pt x="18288000" y="0"/>
                </a:lnTo>
                <a:lnTo>
                  <a:pt x="18288000" y="10286998"/>
                </a:lnTo>
                <a:lnTo>
                  <a:pt x="0" y="10286998"/>
                </a:lnTo>
                <a:lnTo>
                  <a:pt x="0" y="0"/>
                </a:lnTo>
                <a:close/>
              </a:path>
            </a:pathLst>
          </a:custGeom>
          <a:solidFill>
            <a:srgbClr val="FEFCF0">
              <a:alpha val="100000"/>
            </a:srgbClr>
          </a:solidFill>
          <a:ln w="12700">
            <a:solidFill>
              <a:srgbClr val="000000">
                <a:alpha val="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5760"/>
            <a:ext cx="3139440" cy="6111240"/>
          </a:xfrm>
          <a:prstGeom prst="rect">
            <a:avLst/>
          </a:prstGeom>
        </p:spPr>
      </p:pic>
      <p:sp>
        <p:nvSpPr>
          <p:cNvPr id="12" name="正方形/長方形 3"/>
          <p:cNvSpPr/>
          <p:nvPr/>
        </p:nvSpPr>
        <p:spPr>
          <a:xfrm>
            <a:off x="174667" y="253783"/>
            <a:ext cx="6559962" cy="699983"/>
          </a:xfrm>
          <a:custGeom>
            <a:avLst/>
            <a:gdLst>
              <a:gd name="connsiteX0" fmla="*/ 0 w 5834742"/>
              <a:gd name="connsiteY0" fmla="*/ 0 h 819552"/>
              <a:gd name="connsiteX1" fmla="*/ 5834742 w 5834742"/>
              <a:gd name="connsiteY1" fmla="*/ 0 h 819552"/>
              <a:gd name="connsiteX2" fmla="*/ 5834742 w 5834742"/>
              <a:gd name="connsiteY2" fmla="*/ 819552 h 819552"/>
              <a:gd name="connsiteX3" fmla="*/ 0 w 5834742"/>
              <a:gd name="connsiteY3" fmla="*/ 819552 h 819552"/>
              <a:gd name="connsiteX4" fmla="*/ 0 w 5834742"/>
              <a:gd name="connsiteY4" fmla="*/ 0 h 819552"/>
              <a:gd name="connsiteX0" fmla="*/ 0 w 5834742"/>
              <a:gd name="connsiteY0" fmla="*/ 43543 h 863095"/>
              <a:gd name="connsiteX1" fmla="*/ 5718628 w 5834742"/>
              <a:gd name="connsiteY1" fmla="*/ 0 h 863095"/>
              <a:gd name="connsiteX2" fmla="*/ 5834742 w 5834742"/>
              <a:gd name="connsiteY2" fmla="*/ 863095 h 863095"/>
              <a:gd name="connsiteX3" fmla="*/ 0 w 5834742"/>
              <a:gd name="connsiteY3" fmla="*/ 863095 h 863095"/>
              <a:gd name="connsiteX4" fmla="*/ 0 w 5834742"/>
              <a:gd name="connsiteY4" fmla="*/ 43543 h 863095"/>
              <a:gd name="connsiteX0" fmla="*/ 0 w 5834742"/>
              <a:gd name="connsiteY0" fmla="*/ 43543 h 877609"/>
              <a:gd name="connsiteX1" fmla="*/ 5718628 w 5834742"/>
              <a:gd name="connsiteY1" fmla="*/ 0 h 877609"/>
              <a:gd name="connsiteX2" fmla="*/ 5834742 w 5834742"/>
              <a:gd name="connsiteY2" fmla="*/ 877609 h 877609"/>
              <a:gd name="connsiteX3" fmla="*/ 0 w 5834742"/>
              <a:gd name="connsiteY3" fmla="*/ 863095 h 877609"/>
              <a:gd name="connsiteX4" fmla="*/ 0 w 5834742"/>
              <a:gd name="connsiteY4" fmla="*/ 43543 h 877609"/>
              <a:gd name="connsiteX0" fmla="*/ 0 w 5834742"/>
              <a:gd name="connsiteY0" fmla="*/ 43543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43543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0 w 5834742"/>
              <a:gd name="connsiteY0" fmla="*/ 87086 h 921152"/>
              <a:gd name="connsiteX1" fmla="*/ 5718628 w 5834742"/>
              <a:gd name="connsiteY1" fmla="*/ 0 h 921152"/>
              <a:gd name="connsiteX2" fmla="*/ 5834742 w 5834742"/>
              <a:gd name="connsiteY2" fmla="*/ 877609 h 921152"/>
              <a:gd name="connsiteX3" fmla="*/ 29029 w 5834742"/>
              <a:gd name="connsiteY3" fmla="*/ 921152 h 921152"/>
              <a:gd name="connsiteX4" fmla="*/ 0 w 5834742"/>
              <a:gd name="connsiteY4" fmla="*/ 87086 h 921152"/>
              <a:gd name="connsiteX0" fmla="*/ 44042 w 5806212"/>
              <a:gd name="connsiteY0" fmla="*/ 1 h 921152"/>
              <a:gd name="connsiteX1" fmla="*/ 5690098 w 5806212"/>
              <a:gd name="connsiteY1" fmla="*/ 0 h 921152"/>
              <a:gd name="connsiteX2" fmla="*/ 5806212 w 5806212"/>
              <a:gd name="connsiteY2" fmla="*/ 877609 h 921152"/>
              <a:gd name="connsiteX3" fmla="*/ 499 w 5806212"/>
              <a:gd name="connsiteY3" fmla="*/ 921152 h 921152"/>
              <a:gd name="connsiteX4" fmla="*/ 44042 w 5806212"/>
              <a:gd name="connsiteY4" fmla="*/ 1 h 921152"/>
              <a:gd name="connsiteX0" fmla="*/ 15144 w 5777314"/>
              <a:gd name="connsiteY0" fmla="*/ 1 h 906637"/>
              <a:gd name="connsiteX1" fmla="*/ 5661200 w 5777314"/>
              <a:gd name="connsiteY1" fmla="*/ 0 h 906637"/>
              <a:gd name="connsiteX2" fmla="*/ 5777314 w 5777314"/>
              <a:gd name="connsiteY2" fmla="*/ 877609 h 906637"/>
              <a:gd name="connsiteX3" fmla="*/ 629 w 5777314"/>
              <a:gd name="connsiteY3" fmla="*/ 906637 h 906637"/>
              <a:gd name="connsiteX4" fmla="*/ 15144 w 5777314"/>
              <a:gd name="connsiteY4" fmla="*/ 1 h 906637"/>
              <a:gd name="connsiteX0" fmla="*/ 15144 w 5719257"/>
              <a:gd name="connsiteY0" fmla="*/ 1 h 906637"/>
              <a:gd name="connsiteX1" fmla="*/ 5661200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15144 w 5719257"/>
              <a:gd name="connsiteY0" fmla="*/ 1 h 906637"/>
              <a:gd name="connsiteX1" fmla="*/ 5704743 w 5719257"/>
              <a:gd name="connsiteY1" fmla="*/ 0 h 906637"/>
              <a:gd name="connsiteX2" fmla="*/ 5719257 w 5719257"/>
              <a:gd name="connsiteY2" fmla="*/ 863095 h 906637"/>
              <a:gd name="connsiteX3" fmla="*/ 629 w 5719257"/>
              <a:gd name="connsiteY3" fmla="*/ 906637 h 906637"/>
              <a:gd name="connsiteX4" fmla="*/ 15144 w 5719257"/>
              <a:gd name="connsiteY4" fmla="*/ 1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14514 w 5733142"/>
              <a:gd name="connsiteY3" fmla="*/ 906637 h 906637"/>
              <a:gd name="connsiteX4" fmla="*/ 0 w 5733142"/>
              <a:gd name="connsiteY4" fmla="*/ 29030 h 906637"/>
              <a:gd name="connsiteX0" fmla="*/ 0 w 5733142"/>
              <a:gd name="connsiteY0" fmla="*/ 29030 h 906637"/>
              <a:gd name="connsiteX1" fmla="*/ 5718628 w 5733142"/>
              <a:gd name="connsiteY1" fmla="*/ 0 h 906637"/>
              <a:gd name="connsiteX2" fmla="*/ 5733142 w 5733142"/>
              <a:gd name="connsiteY2" fmla="*/ 863095 h 906637"/>
              <a:gd name="connsiteX3" fmla="*/ 43542 w 5733142"/>
              <a:gd name="connsiteY3" fmla="*/ 906637 h 906637"/>
              <a:gd name="connsiteX4" fmla="*/ 0 w 5733142"/>
              <a:gd name="connsiteY4" fmla="*/ 29030 h 906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3142" h="906637">
                <a:moveTo>
                  <a:pt x="0" y="29030"/>
                </a:moveTo>
                <a:lnTo>
                  <a:pt x="5718628" y="0"/>
                </a:lnTo>
                <a:lnTo>
                  <a:pt x="5733142" y="863095"/>
                </a:lnTo>
                <a:lnTo>
                  <a:pt x="43542" y="906637"/>
                </a:lnTo>
                <a:cubicBezTo>
                  <a:pt x="33866" y="628615"/>
                  <a:pt x="82247" y="321566"/>
                  <a:pt x="0" y="29030"/>
                </a:cubicBezTo>
                <a:close/>
              </a:path>
            </a:pathLst>
          </a:custGeom>
          <a:solidFill>
            <a:schemeClr val="tx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Facility (</a:t>
            </a:r>
            <a:r>
              <a:rPr 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094704" y="1207548"/>
            <a:ext cx="11462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Authority </a:t>
            </a:r>
            <a:r>
              <a:rPr lang="en-US" dirty="0" err="1"/>
              <a:t>với</a:t>
            </a:r>
            <a:r>
              <a:rPr lang="en-US" dirty="0"/>
              <a:t> User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quyền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“Admin”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đã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xóa</a:t>
            </a:r>
            <a:r>
              <a:rPr lang="en-US" dirty="0"/>
              <a:t> </a:t>
            </a:r>
            <a:r>
              <a:rPr lang="en-US" dirty="0" err="1"/>
              <a:t>thành</a:t>
            </a:r>
            <a:r>
              <a:rPr lang="en-US" dirty="0"/>
              <a:t> </a:t>
            </a:r>
            <a:r>
              <a:rPr lang="en-US" dirty="0" err="1"/>
              <a:t>công</a:t>
            </a:r>
            <a:endParaRPr 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04" y="1967704"/>
            <a:ext cx="15148560" cy="8205470"/>
          </a:xfrm>
          <a:prstGeom prst="rect">
            <a:avLst/>
          </a:prstGeom>
        </p:spPr>
      </p:pic>
      <p:grpSp>
        <p:nvGrpSpPr>
          <p:cNvPr id="6" name="グループ化 5"/>
          <p:cNvGrpSpPr/>
          <p:nvPr/>
        </p:nvGrpSpPr>
        <p:grpSpPr>
          <a:xfrm>
            <a:off x="3478904" y="2508613"/>
            <a:ext cx="7234816" cy="3137372"/>
            <a:chOff x="3596316" y="2508613"/>
            <a:chExt cx="7234816" cy="3137372"/>
          </a:xfrm>
        </p:grpSpPr>
        <p:grpSp>
          <p:nvGrpSpPr>
            <p:cNvPr id="11" name="グループ化 10"/>
            <p:cNvGrpSpPr/>
            <p:nvPr/>
          </p:nvGrpSpPr>
          <p:grpSpPr>
            <a:xfrm>
              <a:off x="3596316" y="2508613"/>
              <a:ext cx="5393138" cy="3137372"/>
              <a:chOff x="3454648" y="2497118"/>
              <a:chExt cx="5393138" cy="3137372"/>
            </a:xfrm>
          </p:grpSpPr>
          <p:grpSp>
            <p:nvGrpSpPr>
              <p:cNvPr id="8" name="グループ化 7"/>
              <p:cNvGrpSpPr/>
              <p:nvPr/>
            </p:nvGrpSpPr>
            <p:grpSpPr>
              <a:xfrm>
                <a:off x="3454648" y="2497118"/>
                <a:ext cx="5393138" cy="1367134"/>
                <a:chOff x="4095482" y="2290466"/>
                <a:chExt cx="5393138" cy="1367134"/>
              </a:xfrm>
            </p:grpSpPr>
            <p:sp>
              <p:nvSpPr>
                <p:cNvPr id="7" name="正方形/長方形 6"/>
                <p:cNvSpPr/>
                <p:nvPr/>
              </p:nvSpPr>
              <p:spPr>
                <a:xfrm>
                  <a:off x="4095482" y="3361386"/>
                  <a:ext cx="1764405" cy="296214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角丸四角形吹き出し 14"/>
                <p:cNvSpPr/>
                <p:nvPr/>
              </p:nvSpPr>
              <p:spPr>
                <a:xfrm>
                  <a:off x="5859887" y="2290466"/>
                  <a:ext cx="3628733" cy="901521"/>
                </a:xfrm>
                <a:prstGeom prst="wedgeRoundRectCallout">
                  <a:avLst>
                    <a:gd name="adj1" fmla="val -60049"/>
                    <a:gd name="adj2" fmla="val 69643"/>
                    <a:gd name="adj3" fmla="val 16667"/>
                  </a:avLst>
                </a:prstGeom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http://localhost:8080/api/v2/delete</a:t>
                  </a:r>
                </a:p>
              </p:txBody>
            </p:sp>
          </p:grpSp>
          <p:sp>
            <p:nvSpPr>
              <p:cNvPr id="9" name="正方形/長方形 8"/>
              <p:cNvSpPr/>
              <p:nvPr/>
            </p:nvSpPr>
            <p:spPr>
              <a:xfrm>
                <a:off x="4998558" y="4885452"/>
                <a:ext cx="2316642" cy="74903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" name="正方形/長方形 2"/>
            <p:cNvSpPr/>
            <p:nvPr/>
          </p:nvSpPr>
          <p:spPr>
            <a:xfrm>
              <a:off x="8190963" y="4584879"/>
              <a:ext cx="2640169" cy="94015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3934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Kết quả hình ảnh cho thanks for watching | Powerpoint animation, Slide  background, Purifi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8287997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7154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4924</TotalTime>
  <Words>1291</Words>
  <Application>Microsoft Office PowerPoint</Application>
  <PresentationFormat>Custom</PresentationFormat>
  <Paragraphs>360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Mai Ngoc Khuong</cp:lastModifiedBy>
  <cp:revision>61</cp:revision>
  <dcterms:created xsi:type="dcterms:W3CDTF">2011-01-21T15:00:27Z</dcterms:created>
  <dcterms:modified xsi:type="dcterms:W3CDTF">2026-10-21T07:35:22Z</dcterms:modified>
</cp:coreProperties>
</file>