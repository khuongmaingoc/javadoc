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16"/>
  </p:notesMasterIdLst>
  <p:handoutMasterIdLst>
    <p:handoutMasterId r:id="rId17"/>
  </p:handoutMasterIdLst>
  <p:sldIdLst>
    <p:sldId id="689" r:id="rId3"/>
    <p:sldId id="334" r:id="rId4"/>
    <p:sldId id="451" r:id="rId5"/>
    <p:sldId id="366" r:id="rId6"/>
    <p:sldId id="456" r:id="rId7"/>
    <p:sldId id="469" r:id="rId8"/>
    <p:sldId id="452" r:id="rId9"/>
    <p:sldId id="460" r:id="rId10"/>
    <p:sldId id="462" r:id="rId11"/>
    <p:sldId id="465" r:id="rId12"/>
    <p:sldId id="468" r:id="rId13"/>
    <p:sldId id="473" r:id="rId14"/>
    <p:sldId id="467" r:id="rId15"/>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353" autoAdjust="0"/>
  </p:normalViewPr>
  <p:slideViewPr>
    <p:cSldViewPr>
      <p:cViewPr varScale="1">
        <p:scale>
          <a:sx n="68" d="100"/>
          <a:sy n="68" d="100"/>
        </p:scale>
        <p:origin x="1747" y="38"/>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15DE52D5-B5B8-3C12-EB4C-046ECECDCB90}"/>
              </a:ext>
            </a:extLst>
          </p:cNvPr>
          <p:cNvSpPr>
            <a:spLocks noGrp="1" noRot="1" noChangeAspect="1" noChangeArrowheads="1" noTextEdit="1"/>
          </p:cNvSpPr>
          <p:nvPr>
            <p:ph type="sldImg"/>
          </p:nvPr>
        </p:nvSpPr>
        <p:spPr>
          <a:xfrm>
            <a:off x="784225" y="766763"/>
            <a:ext cx="5541963" cy="3836987"/>
          </a:xfrm>
          <a:ln/>
        </p:spPr>
      </p:sp>
      <p:sp>
        <p:nvSpPr>
          <p:cNvPr id="257029" name="Rectangle 5">
            <a:extLst>
              <a:ext uri="{FF2B5EF4-FFF2-40B4-BE49-F238E27FC236}">
                <a16:creationId xmlns:a16="http://schemas.microsoft.com/office/drawing/2014/main" id="{E1372B23-15AC-B505-1D2A-7FA4C561CA0D}"/>
              </a:ext>
            </a:extLst>
          </p:cNvPr>
          <p:cNvSpPr>
            <a:spLocks noGrp="1" noChangeArrowheads="1"/>
          </p:cNvSpPr>
          <p:nvPr>
            <p:ph type="body" idx="1"/>
          </p:nvPr>
        </p:nvSpPr>
        <p:spPr/>
        <p:txBody>
          <a:bodyPr/>
          <a:lstStyle/>
          <a:p>
            <a:r>
              <a:rPr lang="en-US" altLang="ja-JP">
                <a:latin typeface="Arial" panose="020B0604020202020204" pitchFamily="34" charset="0"/>
              </a:rPr>
              <a:t>Ở chương 4 sẽ vận dụng những nội dung sau.</a:t>
            </a:r>
          </a:p>
          <a:p>
            <a:endParaRPr lang="en-US" altLang="ja-JP">
              <a:latin typeface="Arial" panose="020B0604020202020204" pitchFamily="34" charset="0"/>
            </a:endParaRPr>
          </a:p>
          <a:p>
            <a:r>
              <a:rPr lang="en-US" altLang="ja-JP">
                <a:latin typeface="Arial" panose="020B0604020202020204" pitchFamily="34" charset="0"/>
              </a:rPr>
              <a:t>4.1</a:t>
            </a:r>
            <a:r>
              <a:rPr lang="ja-JP" altLang="en-US">
                <a:latin typeface="Arial" panose="020B0604020202020204" pitchFamily="34" charset="0"/>
              </a:rPr>
              <a:t>　</a:t>
            </a:r>
            <a:r>
              <a:rPr lang="en-US" altLang="ja-JP">
                <a:latin typeface="Arial" panose="020B0604020202020204" pitchFamily="34" charset="0"/>
              </a:rPr>
              <a:t>Interface</a:t>
            </a:r>
          </a:p>
          <a:p>
            <a:r>
              <a:rPr lang="en-US" altLang="ja-JP">
                <a:latin typeface="Arial" panose="020B0604020202020204" pitchFamily="34" charset="0"/>
              </a:rPr>
              <a:t>4.2</a:t>
            </a:r>
            <a:r>
              <a:rPr lang="ja-JP" altLang="en-US">
                <a:latin typeface="Arial" panose="020B0604020202020204" pitchFamily="34" charset="0"/>
              </a:rPr>
              <a:t>　</a:t>
            </a:r>
            <a:r>
              <a:rPr lang="en-US" altLang="ja-JP">
                <a:latin typeface="Arial" panose="020B0604020202020204" pitchFamily="34" charset="0"/>
              </a:rPr>
              <a:t>Cast kiểu tham chiếu</a:t>
            </a:r>
          </a:p>
          <a:p>
            <a:r>
              <a:rPr lang="en-US" altLang="ja-JP">
                <a:latin typeface="Arial" panose="020B0604020202020204" pitchFamily="34" charset="0"/>
              </a:rPr>
              <a:t>4.3</a:t>
            </a:r>
            <a:r>
              <a:rPr lang="ja-JP" altLang="en-US">
                <a:latin typeface="Arial" panose="020B0604020202020204" pitchFamily="34" charset="0"/>
              </a:rPr>
              <a:t>　</a:t>
            </a:r>
            <a:r>
              <a:rPr lang="en-US" altLang="ja-JP">
                <a:latin typeface="Arial" panose="020B0604020202020204" pitchFamily="34" charset="0"/>
              </a:rPr>
              <a:t>Polymorphism</a:t>
            </a:r>
          </a:p>
          <a:p>
            <a:endParaRPr lang="en-US" altLang="ja-JP">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a:extLst>
              <a:ext uri="{FF2B5EF4-FFF2-40B4-BE49-F238E27FC236}">
                <a16:creationId xmlns:a16="http://schemas.microsoft.com/office/drawing/2014/main" id="{57DDBF3B-27BE-EA60-3057-352272CFD3F2}"/>
              </a:ext>
            </a:extLst>
          </p:cNvPr>
          <p:cNvSpPr>
            <a:spLocks noGrp="1" noRot="1" noChangeAspect="1" noChangeArrowheads="1" noTextEdit="1"/>
          </p:cNvSpPr>
          <p:nvPr>
            <p:ph type="sldImg"/>
          </p:nvPr>
        </p:nvSpPr>
        <p:spPr>
          <a:xfrm>
            <a:off x="530225" y="835025"/>
            <a:ext cx="6024563" cy="4170363"/>
          </a:xfrm>
          <a:ln/>
        </p:spPr>
      </p:sp>
      <p:sp>
        <p:nvSpPr>
          <p:cNvPr id="545795" name="Rectangle 3">
            <a:extLst>
              <a:ext uri="{FF2B5EF4-FFF2-40B4-BE49-F238E27FC236}">
                <a16:creationId xmlns:a16="http://schemas.microsoft.com/office/drawing/2014/main" id="{C6B1405C-9F77-40FD-1DC4-1F5A3F63E557}"/>
              </a:ext>
            </a:extLst>
          </p:cNvPr>
          <p:cNvSpPr>
            <a:spLocks noGrp="1" noChangeArrowheads="1"/>
          </p:cNvSpPr>
          <p:nvPr>
            <p:ph type="body" idx="1"/>
          </p:nvPr>
        </p:nvSpPr>
        <p:spPr/>
        <p:txBody>
          <a:bodyPr/>
          <a:lstStyle/>
          <a:p>
            <a:pPr marL="0" indent="0">
              <a:lnSpc>
                <a:spcPct val="90000"/>
              </a:lnSpc>
            </a:pPr>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Interface</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Interface theo nghĩa rộng là môi trường của mọi vật, cũng có ý nghĩa là tiếp điểm, nhưng trong thế giới lập trình hướng đối tượng, nếu hiểu là </a:t>
            </a:r>
            <a:r>
              <a:rPr lang="ja-JP" altLang="en-US">
                <a:latin typeface="Arial" panose="020B0604020202020204" pitchFamily="34" charset="0"/>
              </a:rPr>
              <a:t>「</a:t>
            </a:r>
            <a:r>
              <a:rPr lang="en-US" altLang="ja-JP">
                <a:latin typeface="Arial" panose="020B0604020202020204" pitchFamily="34" charset="0"/>
              </a:rPr>
              <a:t>nội dung̃ quyết định external spec của method mà object đảm nhận chức năng nào đó cần phải có </a:t>
            </a:r>
            <a:r>
              <a:rPr lang="ja-JP" altLang="en-US">
                <a:latin typeface="Arial" panose="020B0604020202020204" pitchFamily="34" charset="0"/>
              </a:rPr>
              <a:t>」 </a:t>
            </a:r>
            <a:r>
              <a:rPr lang="en-US" altLang="ja-JP">
                <a:latin typeface="Arial" panose="020B0604020202020204" pitchFamily="34" charset="0"/>
              </a:rPr>
              <a:t>cũng được.</a:t>
            </a:r>
          </a:p>
          <a:p>
            <a:pPr marL="0" indent="0">
              <a:lnSpc>
                <a:spcPct val="90000"/>
              </a:lnSpc>
            </a:pPr>
            <a:endParaRPr lang="en-US" altLang="ja-JP">
              <a:latin typeface="Arial" panose="020B0604020202020204" pitchFamily="34" charset="0"/>
            </a:endParaRP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Nếu suy nghĩ từ lập trường yêu cầu xử lý đến phía object, thì về method cần thiết cho việc thực hiện chức năng nào đó, cần phải biết </a:t>
            </a:r>
            <a:r>
              <a:rPr lang="ja-JP" altLang="en-US">
                <a:latin typeface="Arial" panose="020B0604020202020204" pitchFamily="34" charset="0"/>
              </a:rPr>
              <a:t>「 </a:t>
            </a:r>
            <a:r>
              <a:rPr lang="en-US" altLang="ja-JP">
                <a:latin typeface="Arial" panose="020B0604020202020204" pitchFamily="34" charset="0"/>
              </a:rPr>
              <a:t>tên method gì, nếu truyền giá trị nào (đối số) thì giá trị nào (giá trị trả về) sẽ được trả về </a:t>
            </a:r>
            <a:r>
              <a:rPr lang="ja-JP" altLang="en-US">
                <a:latin typeface="Arial" panose="020B0604020202020204" pitchFamily="34" charset="0"/>
              </a:rPr>
              <a:t>」</a:t>
            </a:r>
            <a:r>
              <a:rPr lang="en-US" altLang="ja-JP">
                <a:latin typeface="Arial" panose="020B0604020202020204" pitchFamily="34" charset="0"/>
              </a:rPr>
              <a:t>.</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Ngoài ra, dù nghĩ từ lập trường định cung cấp chức năng khác thì cũng tương tự. Cần phải truyền đạt trước với người sử dụng về việc</a:t>
            </a:r>
            <a:r>
              <a:rPr lang="ja-JP" altLang="en-US">
                <a:latin typeface="Arial" panose="020B0604020202020204" pitchFamily="34" charset="0"/>
              </a:rPr>
              <a:t>「</a:t>
            </a:r>
            <a:r>
              <a:rPr lang="en-US" altLang="ja-JP">
                <a:latin typeface="Arial" panose="020B0604020202020204" pitchFamily="34" charset="0"/>
              </a:rPr>
              <a:t>Là đặc tả nếu muốn thực hiện chức năng nào đó, thì thì hãy sử dụng method này. Tên của method đó là ○○, nếu cung cấp △△ thì trả về ××</a:t>
            </a:r>
            <a:r>
              <a:rPr lang="ja-JP" altLang="en-US">
                <a:latin typeface="Arial" panose="020B0604020202020204" pitchFamily="34" charset="0"/>
              </a:rPr>
              <a:t>」</a:t>
            </a:r>
            <a:r>
              <a:rPr lang="en-US" altLang="ja-JP">
                <a:latin typeface="Arial" panose="020B0604020202020204" pitchFamily="34" charset="0"/>
              </a:rPr>
              <a:t>.</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Như thế, biểu hiện qui ước cần quyết định sẵn (cần làm rõ trước) giữa người sử dụng và người cung cấp chính là interface.</a:t>
            </a:r>
          </a:p>
          <a:p>
            <a:pPr marL="0" indent="0">
              <a:lnSpc>
                <a:spcPct val="90000"/>
              </a:lnSpc>
            </a:pPr>
            <a:endParaRPr lang="en-US" altLang="ja-JP">
              <a:latin typeface="Arial" panose="020B0604020202020204" pitchFamily="34" charset="0"/>
            </a:endParaRP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Phần thực hiện </a:t>
            </a:r>
            <a:r>
              <a:rPr lang="ja-JP" altLang="en-US">
                <a:latin typeface="Arial" panose="020B0604020202020204" pitchFamily="34" charset="0"/>
              </a:rPr>
              <a:t>「</a:t>
            </a:r>
            <a:r>
              <a:rPr lang="en-US" altLang="ja-JP">
                <a:latin typeface="Arial" panose="020B0604020202020204" pitchFamily="34" charset="0"/>
              </a:rPr>
              <a:t>với tên gì, nếu truyền giá trị nào (đối số) thì giá trị nào (giá trị trả về) sẽ được trả về </a:t>
            </a:r>
            <a:r>
              <a:rPr lang="ja-JP" altLang="en-US">
                <a:latin typeface="Arial" panose="020B0604020202020204" pitchFamily="34" charset="0"/>
              </a:rPr>
              <a:t>」 </a:t>
            </a:r>
            <a:r>
              <a:rPr lang="en-US" altLang="ja-JP">
                <a:latin typeface="Arial" panose="020B0604020202020204" pitchFamily="34" charset="0"/>
              </a:rPr>
              <a:t>bằng ngôn ngữ Java chính là khuôn mẫu của method </a:t>
            </a:r>
            <a:r>
              <a:rPr lang="ja-JP" altLang="en-US">
                <a:latin typeface="Arial" panose="020B0604020202020204" pitchFamily="34" charset="0"/>
              </a:rPr>
              <a:t>「</a:t>
            </a:r>
            <a:r>
              <a:rPr lang="en-US" altLang="ja-JP">
                <a:latin typeface="Arial" panose="020B0604020202020204" pitchFamily="34" charset="0"/>
              </a:rPr>
              <a:t>kiểu của giá trị trả về method name</a:t>
            </a:r>
            <a:r>
              <a:rPr lang="ja-JP" altLang="en-US">
                <a:latin typeface="Arial" panose="020B0604020202020204" pitchFamily="34" charset="0"/>
              </a:rPr>
              <a:t>（</a:t>
            </a:r>
            <a:r>
              <a:rPr lang="en-US" altLang="ja-JP">
                <a:latin typeface="Arial" panose="020B0604020202020204" pitchFamily="34" charset="0"/>
              </a:rPr>
              <a:t>argument list</a:t>
            </a:r>
            <a:r>
              <a:rPr lang="ja-JP" altLang="en-US">
                <a:latin typeface="Arial" panose="020B0604020202020204" pitchFamily="34" charset="0"/>
              </a:rPr>
              <a:t>）</a:t>
            </a:r>
            <a:r>
              <a:rPr lang="en-US" altLang="ja-JP">
                <a:latin typeface="Arial" panose="020B0604020202020204" pitchFamily="34" charset="0"/>
              </a:rPr>
              <a:t>;</a:t>
            </a:r>
            <a:r>
              <a:rPr lang="ja-JP" altLang="en-US">
                <a:latin typeface="Arial" panose="020B0604020202020204" pitchFamily="34" charset="0"/>
              </a:rPr>
              <a:t>」</a:t>
            </a:r>
            <a:r>
              <a:rPr lang="en-US" altLang="ja-JP">
                <a:latin typeface="Arial" panose="020B0604020202020204" pitchFamily="34" charset="0"/>
              </a:rPr>
              <a:t>.</a:t>
            </a:r>
          </a:p>
          <a:p>
            <a:pPr marL="0" indent="0">
              <a:lnSpc>
                <a:spcPct val="90000"/>
              </a:lnSpc>
            </a:pPr>
            <a:r>
              <a:rPr lang="ja-JP" altLang="en-US">
                <a:latin typeface="Arial" panose="020B0604020202020204" pitchFamily="34" charset="0"/>
              </a:rPr>
              <a:t>　</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Trong trường hợp muốn thực hiện chức năng tương tự ở nhiều class, thì được yêu cầu định nghĩa với method có tên giống nhau.</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Ví dụ, có nhiều class dùng để thao tác file, nếu tồn tại nhiều tên của method để đọc data từ file như read, fetch, input thì sẽ sinh ra sự lẫn lộn. Nếu tên method để đọc data được thống nhất, thì sẽ dễ đọc hơn.</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Nếu sử dụng interface, thì có thể bảo đảm được tên đã được quyết định nào đó nhất định đang được định nghĩa.</a:t>
            </a:r>
          </a:p>
          <a:p>
            <a:pPr marL="0" indent="0">
              <a:lnSpc>
                <a:spcPct val="90000"/>
              </a:lnSpc>
            </a:pPr>
            <a:endParaRPr lang="en-US" altLang="ja-JP">
              <a:latin typeface="Arial" panose="020B0604020202020204" pitchFamily="34" charset="0"/>
            </a:endParaRP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Ở interface, định nghĩa sẵn hằng số cần thiết và khuôn mẫu của method cho trường hợp sử dụng chức năng nào đó.</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Trong trường hợp tạo class có chức năng đó, thì sử dụng keyword implements, để mô tả rõ ràng việc định nghĩa  (gọi là </a:t>
            </a:r>
            <a:r>
              <a:rPr lang="ja-JP" altLang="en-US">
                <a:latin typeface="Arial" panose="020B0604020202020204" pitchFamily="34" charset="0"/>
              </a:rPr>
              <a:t>「</a:t>
            </a:r>
            <a:r>
              <a:rPr lang="en-US" altLang="ja-JP">
                <a:latin typeface="Arial" panose="020B0604020202020204" pitchFamily="34" charset="0"/>
              </a:rPr>
              <a:t>thực hiện implement interface</a:t>
            </a:r>
            <a:r>
              <a:rPr lang="ja-JP" altLang="en-US">
                <a:latin typeface="Arial" panose="020B0604020202020204" pitchFamily="34" charset="0"/>
              </a:rPr>
              <a:t>」</a:t>
            </a:r>
            <a:r>
              <a:rPr lang="en-US" altLang="ja-JP">
                <a:latin typeface="Arial" panose="020B0604020202020204" pitchFamily="34" charset="0"/>
              </a:rPr>
              <a:t>)theo interface.</a:t>
            </a:r>
          </a:p>
          <a:p>
            <a:pPr marL="0" indent="0">
              <a:lnSpc>
                <a:spcPct val="90000"/>
              </a:lnSpc>
            </a:pPr>
            <a:r>
              <a:rPr lang="ja-JP" altLang="en-US">
                <a:latin typeface="Arial" panose="020B0604020202020204" pitchFamily="34" charset="0"/>
              </a:rPr>
              <a:t>　</a:t>
            </a:r>
            <a:r>
              <a:rPr lang="en-US" altLang="ja-JP">
                <a:latin typeface="Arial" panose="020B0604020202020204" pitchFamily="34" charset="0"/>
              </a:rPr>
              <a:t>Khi compile class implement interface, method có tên đã được quyết định tùy theo interface nếu chưa được định nghĩa thì sẽ bị error.</a:t>
            </a:r>
          </a:p>
          <a:p>
            <a:pPr marL="0" indent="0">
              <a:lnSpc>
                <a:spcPct val="90000"/>
              </a:lnSpc>
            </a:pPr>
            <a:endParaRPr lang="en-US" altLang="ja-JP">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EA39489C-200C-44B9-0636-97E4F6EBC22F}"/>
              </a:ext>
            </a:extLst>
          </p:cNvPr>
          <p:cNvSpPr>
            <a:spLocks noGrp="1" noRot="1" noChangeAspect="1" noChangeArrowheads="1" noTextEdit="1"/>
          </p:cNvSpPr>
          <p:nvPr>
            <p:ph type="sldImg"/>
          </p:nvPr>
        </p:nvSpPr>
        <p:spPr>
          <a:xfrm>
            <a:off x="587375" y="877888"/>
            <a:ext cx="6024563" cy="4170362"/>
          </a:xfrm>
          <a:ln/>
        </p:spPr>
      </p:sp>
      <p:sp>
        <p:nvSpPr>
          <p:cNvPr id="369667" name="Rectangle 3">
            <a:extLst>
              <a:ext uri="{FF2B5EF4-FFF2-40B4-BE49-F238E27FC236}">
                <a16:creationId xmlns:a16="http://schemas.microsoft.com/office/drawing/2014/main" id="{6AD0F492-1DAF-3D46-35D0-113EB583751C}"/>
              </a:ext>
            </a:extLst>
          </p:cNvPr>
          <p:cNvSpPr>
            <a:spLocks noGrp="1" noChangeArrowheads="1"/>
          </p:cNvSpPr>
          <p:nvPr>
            <p:ph type="body" idx="1"/>
          </p:nvPr>
        </p:nvSpPr>
        <p:spPr>
          <a:xfrm>
            <a:off x="635000" y="5165725"/>
            <a:ext cx="5726113" cy="4748213"/>
          </a:xfrm>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Định nghĩa của interface</a:t>
            </a:r>
          </a:p>
          <a:p>
            <a:pPr marL="0" indent="0"/>
            <a:r>
              <a:rPr lang="ja-JP" altLang="en-US">
                <a:latin typeface="Arial" panose="020B0604020202020204" pitchFamily="34" charset="0"/>
              </a:rPr>
              <a:t>　</a:t>
            </a:r>
            <a:r>
              <a:rPr lang="en-US" altLang="ja-JP">
                <a:latin typeface="Arial" panose="020B0604020202020204" pitchFamily="34" charset="0"/>
              </a:rPr>
              <a:t>Interface là định nghĩa tóm tắt khuôn mẫu của hằng số và method cần thiết cho chức năng đặc định nào đó.</a:t>
            </a:r>
          </a:p>
          <a:p>
            <a:pPr marL="0" indent="0"/>
            <a:r>
              <a:rPr lang="ja-JP" altLang="en-US">
                <a:latin typeface="Arial" panose="020B0604020202020204" pitchFamily="34" charset="0"/>
              </a:rPr>
              <a:t>　</a:t>
            </a:r>
            <a:r>
              <a:rPr lang="en-US" altLang="ja-JP">
                <a:latin typeface="Arial" panose="020B0604020202020204" pitchFamily="34" charset="0"/>
              </a:rPr>
              <a:t>Khuôn mẫu của method chỉ việc khai báo method specs (tên, đối số, giá trị trả về của method).</a:t>
            </a:r>
          </a:p>
          <a:p>
            <a:pPr marL="0" indent="0"/>
            <a:r>
              <a:rPr lang="ja-JP" altLang="en-US">
                <a:latin typeface="Arial" panose="020B0604020202020204" pitchFamily="34" charset="0"/>
              </a:rPr>
              <a:t>　</a:t>
            </a:r>
          </a:p>
          <a:p>
            <a:pPr marL="0" indent="0"/>
            <a:r>
              <a:rPr lang="ja-JP" altLang="en-US">
                <a:latin typeface="Arial" panose="020B0604020202020204" pitchFamily="34" charset="0"/>
              </a:rPr>
              <a:t>●　</a:t>
            </a:r>
            <a:r>
              <a:rPr lang="en-US" altLang="ja-JP">
                <a:latin typeface="Arial" panose="020B0604020202020204" pitchFamily="34" charset="0"/>
              </a:rPr>
              <a:t>Cú pháp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Phần định nghĩa trong interface chỉ là khuôn mẫu của method. Không thể mô tả xử lý trong method được.</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Interface và file</a:t>
            </a:r>
          </a:p>
          <a:p>
            <a:pPr marL="0" indent="0"/>
            <a:r>
              <a:rPr lang="ja-JP" altLang="en-US">
                <a:latin typeface="Arial" panose="020B0604020202020204" pitchFamily="34" charset="0"/>
              </a:rPr>
              <a:t>　</a:t>
            </a:r>
            <a:r>
              <a:rPr lang="en-US" altLang="ja-JP">
                <a:latin typeface="Arial" panose="020B0604020202020204" pitchFamily="34" charset="0"/>
              </a:rPr>
              <a:t>Đuôi mở rộng của file định nghĩa interface cũng giống với class, là .java.</a:t>
            </a:r>
          </a:p>
          <a:p>
            <a:pPr marL="0" indent="0"/>
            <a:r>
              <a:rPr lang="ja-JP" altLang="en-US">
                <a:latin typeface="Arial" panose="020B0604020202020204" pitchFamily="34" charset="0"/>
              </a:rPr>
              <a:t>　</a:t>
            </a:r>
            <a:r>
              <a:rPr lang="en-US" altLang="ja-JP">
                <a:latin typeface="Arial" panose="020B0604020202020204" pitchFamily="34" charset="0"/>
              </a:rPr>
              <a:t>Đuôi mở rộng của byte code được tạo sau khi compile file đã định nghĩa interface là class giống với class.</a:t>
            </a:r>
          </a:p>
          <a:p>
            <a:pPr marL="0" indent="0"/>
            <a:endParaRPr lang="en-US" altLang="ja-JP">
              <a:latin typeface="Arial" panose="020B0604020202020204" pitchFamily="34" charset="0"/>
            </a:endParaRPr>
          </a:p>
        </p:txBody>
      </p:sp>
      <p:grpSp>
        <p:nvGrpSpPr>
          <p:cNvPr id="369748" name="Group 84">
            <a:extLst>
              <a:ext uri="{FF2B5EF4-FFF2-40B4-BE49-F238E27FC236}">
                <a16:creationId xmlns:a16="http://schemas.microsoft.com/office/drawing/2014/main" id="{F0C65A24-DCD1-A532-E4F9-756B8E21AF83}"/>
              </a:ext>
            </a:extLst>
          </p:cNvPr>
          <p:cNvGrpSpPr>
            <a:grpSpLocks/>
          </p:cNvGrpSpPr>
          <p:nvPr/>
        </p:nvGrpSpPr>
        <p:grpSpPr bwMode="auto">
          <a:xfrm>
            <a:off x="638175" y="5867400"/>
            <a:ext cx="5970588" cy="2020888"/>
            <a:chOff x="402" y="3696"/>
            <a:chExt cx="3761" cy="1273"/>
          </a:xfrm>
        </p:grpSpPr>
        <p:sp>
          <p:nvSpPr>
            <p:cNvPr id="369735" name="Text Box 71">
              <a:extLst>
                <a:ext uri="{FF2B5EF4-FFF2-40B4-BE49-F238E27FC236}">
                  <a16:creationId xmlns:a16="http://schemas.microsoft.com/office/drawing/2014/main" id="{8EFD0D6F-9B9C-E9F4-D698-7C05C1BD967D}"/>
                </a:ext>
              </a:extLst>
            </p:cNvPr>
            <p:cNvSpPr txBox="1">
              <a:spLocks noChangeArrowheads="1"/>
            </p:cNvSpPr>
            <p:nvPr/>
          </p:nvSpPr>
          <p:spPr bwMode="auto">
            <a:xfrm>
              <a:off x="402" y="3926"/>
              <a:ext cx="3733" cy="104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1pPr>
              <a:lvl2pPr marL="179388"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2pPr>
              <a:lvl3pPr marL="954088"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3pPr>
              <a:lvl4pPr marL="1431925"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4pPr>
              <a:lvl5pPr marL="1909763"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5pPr>
              <a:lvl6pPr marL="23669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6pPr>
              <a:lvl7pPr marL="28241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7pPr>
              <a:lvl8pPr marL="32813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8pPr>
              <a:lvl9pPr marL="37385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50000"/>
                </a:lnSpc>
                <a:spcAft>
                  <a:spcPct val="50000"/>
                </a:spcAft>
              </a:pPr>
              <a:r>
                <a:rPr lang="ja-JP" altLang="ja-JP" b="0">
                  <a:ea typeface="ＭＳ ゴシック" panose="020B0609070205080204" pitchFamily="49" charset="-128"/>
                </a:rPr>
                <a:t>public</a:t>
              </a:r>
              <a:r>
                <a:rPr lang="ja-JP" altLang="ja-JP" b="0">
                  <a:ea typeface="MS UI Gothic" panose="020B0600070205080204" pitchFamily="50" charset="-128"/>
                </a:rPr>
                <a:t>   </a:t>
              </a:r>
              <a:r>
                <a:rPr lang="ja-JP" altLang="ja-JP" b="0">
                  <a:ea typeface="ＭＳ ゴシック" panose="020B0609070205080204" pitchFamily="49" charset="-128"/>
                </a:rPr>
                <a:t>interface</a:t>
              </a:r>
              <a:r>
                <a:rPr lang="ja-JP" altLang="ja-JP" b="0">
                  <a:ea typeface="MS UI Gothic" panose="020B0600070205080204" pitchFamily="50" charset="-128"/>
                </a:rPr>
                <a:t>   </a:t>
              </a:r>
              <a:r>
                <a:rPr lang="en-US" altLang="ja-JP" b="0">
                  <a:ea typeface="MS UI Gothic" panose="020B0600070205080204" pitchFamily="50" charset="-128"/>
                </a:rPr>
                <a:t>Interface name</a:t>
              </a:r>
              <a:r>
                <a:rPr lang="ja-JP" altLang="ja-JP" b="0">
                  <a:ea typeface="MS UI Gothic" panose="020B0600070205080204" pitchFamily="50" charset="-128"/>
                </a:rPr>
                <a:t>   </a:t>
              </a:r>
              <a:r>
                <a:rPr lang="ja-JP" altLang="ja-JP" b="0">
                  <a:ea typeface="ＭＳ ゴシック" panose="020B0609070205080204" pitchFamily="49" charset="-128"/>
                </a:rPr>
                <a:t>extends</a:t>
              </a:r>
              <a:r>
                <a:rPr lang="ja-JP" altLang="ja-JP" b="0">
                  <a:ea typeface="MS UI Gothic" panose="020B0600070205080204" pitchFamily="50" charset="-128"/>
                </a:rPr>
                <a:t>  </a:t>
              </a:r>
              <a:r>
                <a:rPr lang="en-US" altLang="ja-JP" b="0">
                  <a:ea typeface="MS UI Gothic" panose="020B0600070205080204" pitchFamily="50" charset="-128"/>
                </a:rPr>
                <a:t>list interface name muốn kế thừa</a:t>
              </a:r>
              <a:r>
                <a:rPr lang="ja-JP" altLang="ja-JP" b="0">
                  <a:ea typeface="MS UI Gothic" panose="020B0600070205080204" pitchFamily="50" charset="-128"/>
                </a:rPr>
                <a:t>  {</a:t>
              </a:r>
            </a:p>
            <a:p>
              <a:pPr lvl="1" algn="just">
                <a:spcAft>
                  <a:spcPct val="30000"/>
                </a:spcAft>
              </a:pPr>
              <a:r>
                <a:rPr lang="en-US" altLang="ja-JP" b="0">
                  <a:ea typeface="MS UI Gothic" panose="020B0600070205080204" pitchFamily="50" charset="-128"/>
                </a:rPr>
                <a:t>	</a:t>
              </a:r>
              <a:r>
                <a:rPr lang="ja-JP" altLang="ja-JP" b="0">
                  <a:ea typeface="ＭＳ ゴシック" panose="020B0609070205080204" pitchFamily="49" charset="-128"/>
                </a:rPr>
                <a:t>//</a:t>
              </a:r>
              <a:r>
                <a:rPr lang="ja-JP" altLang="ja-JP" b="0">
                  <a:ea typeface="MS UI Gothic" panose="020B0600070205080204" pitchFamily="50" charset="-128"/>
                </a:rPr>
                <a:t>  </a:t>
              </a:r>
              <a:r>
                <a:rPr lang="en-US" altLang="ja-JP" b="0">
                  <a:ea typeface="MS UI Gothic" panose="020B0600070205080204" pitchFamily="50" charset="-128"/>
                </a:rPr>
                <a:t>Định nghĩa hằng số</a:t>
              </a:r>
              <a:endParaRPr lang="ja-JP" altLang="ja-JP" b="0">
                <a:ea typeface="MS UI Gothic" panose="020B0600070205080204" pitchFamily="50" charset="-128"/>
              </a:endParaRPr>
            </a:p>
            <a:p>
              <a:pPr lvl="1" algn="just">
                <a:spcAft>
                  <a:spcPct val="30000"/>
                </a:spcAft>
              </a:pPr>
              <a:r>
                <a:rPr lang="en-US" altLang="ja-JP" b="0">
                  <a:ea typeface="MS UI Gothic" panose="020B0600070205080204" pitchFamily="50" charset="-128"/>
                </a:rPr>
                <a:t>	Kiểu data</a:t>
              </a:r>
              <a:r>
                <a:rPr lang="ja-JP" altLang="ja-JP" b="0">
                  <a:ea typeface="MS UI Gothic" panose="020B0600070205080204" pitchFamily="50" charset="-128"/>
                </a:rPr>
                <a:t>  </a:t>
              </a:r>
              <a:r>
                <a:rPr lang="en-US" altLang="ja-JP" b="0">
                  <a:ea typeface="MS UI Gothic" panose="020B0600070205080204" pitchFamily="50" charset="-128"/>
                </a:rPr>
                <a:t>tên biến</a:t>
              </a:r>
              <a:r>
                <a:rPr lang="ja-JP" altLang="ja-JP" b="0">
                  <a:ea typeface="ＭＳ ゴシック" panose="020B0609070205080204" pitchFamily="49" charset="-128"/>
                </a:rPr>
                <a:t> = </a:t>
              </a:r>
              <a:r>
                <a:rPr lang="en-US" altLang="ja-JP" b="0">
                  <a:ea typeface="ＭＳ ゴシック" panose="020B0609070205080204" pitchFamily="49" charset="-128"/>
                </a:rPr>
                <a:t>giá trị</a:t>
              </a:r>
              <a:r>
                <a:rPr lang="ja-JP" altLang="ja-JP" b="0">
                  <a:ea typeface="ＭＳ ゴシック" panose="020B0609070205080204" pitchFamily="49" charset="-128"/>
                </a:rPr>
                <a:t>;</a:t>
              </a:r>
            </a:p>
            <a:p>
              <a:pPr lvl="1" algn="just">
                <a:spcAft>
                  <a:spcPct val="30000"/>
                </a:spcAft>
              </a:pPr>
              <a:r>
                <a:rPr lang="ja-JP" altLang="ja-JP" b="0">
                  <a:ea typeface="MS UI Gothic" panose="020B0600070205080204" pitchFamily="50" charset="-128"/>
                </a:rPr>
                <a:t>	</a:t>
              </a:r>
              <a:r>
                <a:rPr lang="en-US" altLang="ja-JP" b="0">
                  <a:ea typeface="MS UI Gothic" panose="020B0600070205080204" pitchFamily="50" charset="-128"/>
                </a:rPr>
                <a:t>	</a:t>
              </a:r>
              <a:r>
                <a:rPr lang="ja-JP" altLang="ja-JP" b="0">
                  <a:ea typeface="MS UI Gothic" panose="020B0600070205080204" pitchFamily="50" charset="-128"/>
                </a:rPr>
                <a:t>：</a:t>
              </a:r>
            </a:p>
            <a:p>
              <a:pPr lvl="1" algn="just">
                <a:spcAft>
                  <a:spcPct val="30000"/>
                </a:spcAft>
              </a:pPr>
              <a:r>
                <a:rPr lang="ja-JP" altLang="ja-JP" b="0">
                  <a:ea typeface="MS UI Gothic" panose="020B0600070205080204" pitchFamily="50" charset="-128"/>
                </a:rPr>
                <a:t>	</a:t>
              </a:r>
              <a:r>
                <a:rPr lang="ja-JP" altLang="ja-JP" b="0">
                  <a:ea typeface="ＭＳ ゴシック" panose="020B0609070205080204" pitchFamily="49" charset="-128"/>
                </a:rPr>
                <a:t>//</a:t>
              </a:r>
              <a:r>
                <a:rPr lang="ja-JP" altLang="ja-JP" b="0">
                  <a:ea typeface="MS UI Gothic" panose="020B0600070205080204" pitchFamily="50" charset="-128"/>
                </a:rPr>
                <a:t>  </a:t>
              </a:r>
              <a:r>
                <a:rPr lang="en-US" altLang="ja-JP" b="0">
                  <a:ea typeface="MS UI Gothic" panose="020B0600070205080204" pitchFamily="50" charset="-128"/>
                </a:rPr>
                <a:t>định nghĩa khuôn mẫu của method</a:t>
              </a:r>
              <a:endParaRPr lang="ja-JP" altLang="ja-JP" b="0">
                <a:ea typeface="MS UI Gothic" panose="020B0600070205080204" pitchFamily="50" charset="-128"/>
              </a:endParaRPr>
            </a:p>
            <a:p>
              <a:pPr lvl="1" algn="just">
                <a:spcAft>
                  <a:spcPct val="30000"/>
                </a:spcAft>
              </a:pPr>
              <a:r>
                <a:rPr lang="en-US" altLang="ja-JP" b="0">
                  <a:ea typeface="MS UI Gothic" panose="020B0600070205080204" pitchFamily="50" charset="-128"/>
                </a:rPr>
                <a:t>	Kiểu giá trị trả về</a:t>
              </a:r>
              <a:r>
                <a:rPr lang="ja-JP" altLang="ja-JP" b="0">
                  <a:ea typeface="MS UI Gothic" panose="020B0600070205080204" pitchFamily="50" charset="-128"/>
                </a:rPr>
                <a:t>  </a:t>
              </a:r>
              <a:r>
                <a:rPr lang="en-US" altLang="ja-JP" b="0">
                  <a:ea typeface="MS UI Gothic" panose="020B0600070205080204" pitchFamily="50" charset="-128"/>
                </a:rPr>
                <a:t>method name</a:t>
              </a:r>
              <a:r>
                <a:rPr lang="ja-JP" altLang="ja-JP" b="0">
                  <a:ea typeface="MS UI Gothic" panose="020B0600070205080204" pitchFamily="50" charset="-128"/>
                </a:rPr>
                <a:t>  </a:t>
              </a:r>
              <a:r>
                <a:rPr lang="ja-JP" altLang="ja-JP" b="0">
                  <a:ea typeface="ＭＳ ゴシック" panose="020B0609070205080204" pitchFamily="49" charset="-128"/>
                </a:rPr>
                <a:t>(</a:t>
              </a:r>
              <a:r>
                <a:rPr lang="en-US" altLang="ja-JP" b="0">
                  <a:ea typeface="ＭＳ ゴシック" panose="020B0609070205080204" pitchFamily="49" charset="-128"/>
                </a:rPr>
                <a:t>list đối số</a:t>
              </a:r>
              <a:r>
                <a:rPr lang="en-US" altLang="ja-JP" b="0">
                  <a:ea typeface="MS UI Gothic" panose="020B0600070205080204" pitchFamily="50" charset="-128"/>
                </a:rPr>
                <a:t>)</a:t>
              </a:r>
              <a:r>
                <a:rPr lang="ja-JP" altLang="ja-JP" b="0">
                  <a:ea typeface="ＭＳ ゴシック" panose="020B0609070205080204" pitchFamily="49" charset="-128"/>
                </a:rPr>
                <a:t>;</a:t>
              </a:r>
            </a:p>
            <a:p>
              <a:pPr lvl="1" algn="just">
                <a:spcAft>
                  <a:spcPct val="30000"/>
                </a:spcAft>
              </a:pPr>
              <a:r>
                <a:rPr lang="ja-JP" altLang="ja-JP" b="0">
                  <a:ea typeface="MS UI Gothic" panose="020B0600070205080204" pitchFamily="50" charset="-128"/>
                </a:rPr>
                <a:t>	</a:t>
              </a:r>
              <a:r>
                <a:rPr lang="en-US" altLang="ja-JP" b="0">
                  <a:ea typeface="MS UI Gothic" panose="020B0600070205080204" pitchFamily="50" charset="-128"/>
                </a:rPr>
                <a:t>	</a:t>
              </a:r>
              <a:r>
                <a:rPr lang="ja-JP" altLang="ja-JP" b="0">
                  <a:ea typeface="MS UI Gothic" panose="020B0600070205080204" pitchFamily="50" charset="-128"/>
                </a:rPr>
                <a:t>：</a:t>
              </a:r>
            </a:p>
            <a:p>
              <a:pPr lvl="1" algn="just">
                <a:spcAft>
                  <a:spcPct val="50000"/>
                </a:spcAft>
              </a:pPr>
              <a:r>
                <a:rPr lang="ja-JP" altLang="ja-JP" b="0">
                  <a:ea typeface="ＭＳ ゴシック" panose="020B0609070205080204" pitchFamily="49" charset="-128"/>
                </a:rPr>
                <a:t>}</a:t>
              </a:r>
            </a:p>
          </p:txBody>
        </p:sp>
        <p:sp>
          <p:nvSpPr>
            <p:cNvPr id="369736" name="Rectangle 72">
              <a:extLst>
                <a:ext uri="{FF2B5EF4-FFF2-40B4-BE49-F238E27FC236}">
                  <a16:creationId xmlns:a16="http://schemas.microsoft.com/office/drawing/2014/main" id="{4F7D098D-8ED9-4CA0-DBBA-D67DF37BACA9}"/>
                </a:ext>
              </a:extLst>
            </p:cNvPr>
            <p:cNvSpPr>
              <a:spLocks noChangeArrowheads="1"/>
            </p:cNvSpPr>
            <p:nvPr/>
          </p:nvSpPr>
          <p:spPr bwMode="auto">
            <a:xfrm>
              <a:off x="787" y="3964"/>
              <a:ext cx="992" cy="139"/>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369737" name="Rectangle 73">
              <a:extLst>
                <a:ext uri="{FF2B5EF4-FFF2-40B4-BE49-F238E27FC236}">
                  <a16:creationId xmlns:a16="http://schemas.microsoft.com/office/drawing/2014/main" id="{9C6E10DB-9985-3422-683A-BE0065AF90FD}"/>
                </a:ext>
              </a:extLst>
            </p:cNvPr>
            <p:cNvSpPr>
              <a:spLocks noChangeArrowheads="1"/>
            </p:cNvSpPr>
            <p:nvPr/>
          </p:nvSpPr>
          <p:spPr bwMode="auto">
            <a:xfrm>
              <a:off x="537" y="4506"/>
              <a:ext cx="1728" cy="226"/>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369739" name="AutoShape 75">
              <a:extLst>
                <a:ext uri="{FF2B5EF4-FFF2-40B4-BE49-F238E27FC236}">
                  <a16:creationId xmlns:a16="http://schemas.microsoft.com/office/drawing/2014/main" id="{7189530D-82B0-A659-ED74-97662D13E093}"/>
                </a:ext>
              </a:extLst>
            </p:cNvPr>
            <p:cNvSpPr>
              <a:spLocks noChangeArrowheads="1"/>
            </p:cNvSpPr>
            <p:nvPr/>
          </p:nvSpPr>
          <p:spPr bwMode="auto">
            <a:xfrm>
              <a:off x="2231" y="4155"/>
              <a:ext cx="1778" cy="155"/>
            </a:xfrm>
            <a:prstGeom prst="wedgeRoundRectCallout">
              <a:avLst>
                <a:gd name="adj1" fmla="val -79079"/>
                <a:gd name="adj2" fmla="val 5322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7548" tIns="43774" rIns="87548" bIns="43774"/>
            <a:lstStyle>
              <a:lvl1pPr defTabSz="876300">
                <a:defRPr kumimoji="1">
                  <a:solidFill>
                    <a:schemeClr val="tx1"/>
                  </a:solidFill>
                  <a:latin typeface="Arial" panose="020B0604020202020204" pitchFamily="34" charset="0"/>
                  <a:ea typeface="ＭＳ Ｐゴシック" panose="020B0600070205080204" pitchFamily="50" charset="-128"/>
                </a:defRPr>
              </a:lvl1pPr>
              <a:lvl2pPr marL="438150" defTabSz="876300">
                <a:defRPr kumimoji="1">
                  <a:solidFill>
                    <a:schemeClr val="tx1"/>
                  </a:solidFill>
                  <a:latin typeface="Arial" panose="020B0604020202020204" pitchFamily="34" charset="0"/>
                  <a:ea typeface="ＭＳ Ｐゴシック" panose="020B0600070205080204" pitchFamily="50" charset="-128"/>
                </a:defRPr>
              </a:lvl2pPr>
              <a:lvl3pPr marL="876300" defTabSz="876300">
                <a:defRPr kumimoji="1">
                  <a:solidFill>
                    <a:schemeClr val="tx1"/>
                  </a:solidFill>
                  <a:latin typeface="Arial" panose="020B0604020202020204" pitchFamily="34" charset="0"/>
                  <a:ea typeface="ＭＳ Ｐゴシック" panose="020B0600070205080204" pitchFamily="50" charset="-128"/>
                </a:defRPr>
              </a:lvl3pPr>
              <a:lvl4pPr marL="1312863" defTabSz="876300">
                <a:defRPr kumimoji="1">
                  <a:solidFill>
                    <a:schemeClr val="tx1"/>
                  </a:solidFill>
                  <a:latin typeface="Arial" panose="020B0604020202020204" pitchFamily="34" charset="0"/>
                  <a:ea typeface="ＭＳ Ｐゴシック" panose="020B0600070205080204" pitchFamily="50" charset="-128"/>
                </a:defRPr>
              </a:lvl4pPr>
              <a:lvl5pPr marL="1751013" defTabSz="876300">
                <a:defRPr kumimoji="1">
                  <a:solidFill>
                    <a:schemeClr val="tx1"/>
                  </a:solidFill>
                  <a:latin typeface="Arial" panose="020B0604020202020204" pitchFamily="34" charset="0"/>
                  <a:ea typeface="ＭＳ Ｐゴシック" panose="020B0600070205080204" pitchFamily="50" charset="-128"/>
                </a:defRPr>
              </a:lvl5pPr>
              <a:lvl6pPr marL="22082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54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226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98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Toàn bộ Field là </a:t>
              </a:r>
              <a:r>
                <a:rPr lang="ja-JP" altLang="en-US" b="0">
                  <a:ea typeface="MS UI Gothic" panose="020B0600070205080204" pitchFamily="50" charset="-128"/>
                </a:rPr>
                <a:t>「</a:t>
              </a:r>
              <a:r>
                <a:rPr lang="en-US" altLang="ja-JP" b="0">
                  <a:ea typeface="MS UI Gothic" panose="020B0600070205080204" pitchFamily="50" charset="-128"/>
                </a:rPr>
                <a:t>public static final </a:t>
              </a:r>
              <a:r>
                <a:rPr lang="ja-JP" altLang="en-US" b="0">
                  <a:ea typeface="MS UI Gothic" panose="020B0600070205080204" pitchFamily="50" charset="-128"/>
                </a:rPr>
                <a:t>」</a:t>
              </a:r>
            </a:p>
          </p:txBody>
        </p:sp>
        <p:sp>
          <p:nvSpPr>
            <p:cNvPr id="369740" name="Rectangle 76">
              <a:extLst>
                <a:ext uri="{FF2B5EF4-FFF2-40B4-BE49-F238E27FC236}">
                  <a16:creationId xmlns:a16="http://schemas.microsoft.com/office/drawing/2014/main" id="{F77F632B-751B-0543-498D-9A486700E7A5}"/>
                </a:ext>
              </a:extLst>
            </p:cNvPr>
            <p:cNvSpPr>
              <a:spLocks noChangeArrowheads="1"/>
            </p:cNvSpPr>
            <p:nvPr/>
          </p:nvSpPr>
          <p:spPr bwMode="auto">
            <a:xfrm>
              <a:off x="1774" y="3968"/>
              <a:ext cx="1526" cy="141"/>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369741" name="Rectangle 77">
              <a:extLst>
                <a:ext uri="{FF2B5EF4-FFF2-40B4-BE49-F238E27FC236}">
                  <a16:creationId xmlns:a16="http://schemas.microsoft.com/office/drawing/2014/main" id="{E14988ED-2A7D-6172-CADA-4981A43207C0}"/>
                </a:ext>
              </a:extLst>
            </p:cNvPr>
            <p:cNvSpPr>
              <a:spLocks noChangeArrowheads="1"/>
            </p:cNvSpPr>
            <p:nvPr/>
          </p:nvSpPr>
          <p:spPr bwMode="auto">
            <a:xfrm>
              <a:off x="2635" y="3696"/>
              <a:ext cx="1528" cy="173"/>
            </a:xfrm>
            <a:prstGeom prst="rect">
              <a:avLst/>
            </a:prstGeom>
            <a:noFill/>
            <a:ln w="1905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7548" tIns="43774" rIns="87548" bIns="43774" anchor="ctr"/>
            <a:lstStyle>
              <a:lvl1pPr defTabSz="827088">
                <a:defRPr kumimoji="1">
                  <a:solidFill>
                    <a:schemeClr val="tx1"/>
                  </a:solidFill>
                  <a:latin typeface="Arial" panose="020B0604020202020204" pitchFamily="34" charset="0"/>
                  <a:ea typeface="ＭＳ Ｐゴシック" panose="020B0600070205080204" pitchFamily="50" charset="-128"/>
                </a:defRPr>
              </a:lvl1pPr>
              <a:lvl2pPr marL="438150" defTabSz="827088">
                <a:defRPr kumimoji="1">
                  <a:solidFill>
                    <a:schemeClr val="tx1"/>
                  </a:solidFill>
                  <a:latin typeface="Arial" panose="020B0604020202020204" pitchFamily="34" charset="0"/>
                  <a:ea typeface="ＭＳ Ｐゴシック" panose="020B0600070205080204" pitchFamily="50" charset="-128"/>
                </a:defRPr>
              </a:lvl2pPr>
              <a:lvl3pPr marL="876300" defTabSz="827088">
                <a:defRPr kumimoji="1">
                  <a:solidFill>
                    <a:schemeClr val="tx1"/>
                  </a:solidFill>
                  <a:latin typeface="Arial" panose="020B0604020202020204" pitchFamily="34" charset="0"/>
                  <a:ea typeface="ＭＳ Ｐゴシック" panose="020B0600070205080204" pitchFamily="50" charset="-128"/>
                </a:defRPr>
              </a:lvl3pPr>
              <a:lvl4pPr marL="1312863" defTabSz="827088">
                <a:defRPr kumimoji="1">
                  <a:solidFill>
                    <a:schemeClr val="tx1"/>
                  </a:solidFill>
                  <a:latin typeface="Arial" panose="020B0604020202020204" pitchFamily="34" charset="0"/>
                  <a:ea typeface="ＭＳ Ｐゴシック" panose="020B0600070205080204" pitchFamily="50" charset="-128"/>
                </a:defRPr>
              </a:lvl4pPr>
              <a:lvl5pPr marL="1751013" defTabSz="827088">
                <a:defRPr kumimoji="1">
                  <a:solidFill>
                    <a:schemeClr val="tx1"/>
                  </a:solidFill>
                  <a:latin typeface="Arial" panose="020B0604020202020204" pitchFamily="34" charset="0"/>
                  <a:ea typeface="ＭＳ Ｐゴシック" panose="020B0600070205080204" pitchFamily="50" charset="-128"/>
                </a:defRPr>
              </a:lvl5pPr>
              <a:lvl6pPr marL="22082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54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226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98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Chỉ chỉ định trong trường hợp cần thiết</a:t>
              </a:r>
            </a:p>
          </p:txBody>
        </p:sp>
        <p:cxnSp>
          <p:nvCxnSpPr>
            <p:cNvPr id="369742" name="AutoShape 78">
              <a:extLst>
                <a:ext uri="{FF2B5EF4-FFF2-40B4-BE49-F238E27FC236}">
                  <a16:creationId xmlns:a16="http://schemas.microsoft.com/office/drawing/2014/main" id="{DAE17A3B-43F6-451C-AC48-31C98C8B92E4}"/>
                </a:ext>
              </a:extLst>
            </p:cNvPr>
            <p:cNvCxnSpPr>
              <a:cxnSpLocks noChangeShapeType="1"/>
              <a:stCxn id="369741" idx="1"/>
              <a:endCxn id="369740" idx="0"/>
            </p:cNvCxnSpPr>
            <p:nvPr/>
          </p:nvCxnSpPr>
          <p:spPr bwMode="auto">
            <a:xfrm rot="10800000" flipV="1">
              <a:off x="2537" y="3783"/>
              <a:ext cx="92" cy="179"/>
            </a:xfrm>
            <a:prstGeom prst="bentConnector2">
              <a:avLst/>
            </a:prstGeom>
            <a:noFill/>
            <a:ln w="19050">
              <a:solidFill>
                <a:srgbClr val="FF8519"/>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9743" name="AutoShape 79">
              <a:extLst>
                <a:ext uri="{FF2B5EF4-FFF2-40B4-BE49-F238E27FC236}">
                  <a16:creationId xmlns:a16="http://schemas.microsoft.com/office/drawing/2014/main" id="{A16C23CD-2A3C-8F07-BAC0-4035644CCDE5}"/>
                </a:ext>
              </a:extLst>
            </p:cNvPr>
            <p:cNvSpPr>
              <a:spLocks noChangeArrowheads="1"/>
            </p:cNvSpPr>
            <p:nvPr/>
          </p:nvSpPr>
          <p:spPr bwMode="auto">
            <a:xfrm>
              <a:off x="2333" y="4478"/>
              <a:ext cx="1669" cy="247"/>
            </a:xfrm>
            <a:prstGeom prst="wedgeRoundRectCallout">
              <a:avLst>
                <a:gd name="adj1" fmla="val -68394"/>
                <a:gd name="adj2" fmla="val 25306"/>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7548" tIns="43774" rIns="87548" bIns="43774"/>
            <a:lstStyle>
              <a:lvl1pPr defTabSz="876300">
                <a:defRPr kumimoji="1">
                  <a:solidFill>
                    <a:schemeClr val="tx1"/>
                  </a:solidFill>
                  <a:latin typeface="Arial" panose="020B0604020202020204" pitchFamily="34" charset="0"/>
                  <a:ea typeface="ＭＳ Ｐゴシック" panose="020B0600070205080204" pitchFamily="50" charset="-128"/>
                </a:defRPr>
              </a:lvl1pPr>
              <a:lvl2pPr marL="438150" defTabSz="876300">
                <a:defRPr kumimoji="1">
                  <a:solidFill>
                    <a:schemeClr val="tx1"/>
                  </a:solidFill>
                  <a:latin typeface="Arial" panose="020B0604020202020204" pitchFamily="34" charset="0"/>
                  <a:ea typeface="ＭＳ Ｐゴシック" panose="020B0600070205080204" pitchFamily="50" charset="-128"/>
                </a:defRPr>
              </a:lvl2pPr>
              <a:lvl3pPr marL="876300" defTabSz="876300">
                <a:defRPr kumimoji="1">
                  <a:solidFill>
                    <a:schemeClr val="tx1"/>
                  </a:solidFill>
                  <a:latin typeface="Arial" panose="020B0604020202020204" pitchFamily="34" charset="0"/>
                  <a:ea typeface="ＭＳ Ｐゴシック" panose="020B0600070205080204" pitchFamily="50" charset="-128"/>
                </a:defRPr>
              </a:lvl3pPr>
              <a:lvl4pPr marL="1312863" defTabSz="876300">
                <a:defRPr kumimoji="1">
                  <a:solidFill>
                    <a:schemeClr val="tx1"/>
                  </a:solidFill>
                  <a:latin typeface="Arial" panose="020B0604020202020204" pitchFamily="34" charset="0"/>
                  <a:ea typeface="ＭＳ Ｐゴシック" panose="020B0600070205080204" pitchFamily="50" charset="-128"/>
                </a:defRPr>
              </a:lvl4pPr>
              <a:lvl5pPr marL="1751013" defTabSz="876300">
                <a:defRPr kumimoji="1">
                  <a:solidFill>
                    <a:schemeClr val="tx1"/>
                  </a:solidFill>
                  <a:latin typeface="Arial" panose="020B0604020202020204" pitchFamily="34" charset="0"/>
                  <a:ea typeface="ＭＳ Ｐゴシック" panose="020B0600070205080204" pitchFamily="50" charset="-128"/>
                </a:defRPr>
              </a:lvl5pPr>
              <a:lvl6pPr marL="22082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54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226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98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toàn bộ method là </a:t>
              </a:r>
              <a:r>
                <a:rPr lang="ja-JP" altLang="en-US" b="0">
                  <a:ea typeface="MS UI Gothic" panose="020B0600070205080204" pitchFamily="50" charset="-128"/>
                </a:rPr>
                <a:t>「</a:t>
              </a:r>
              <a:r>
                <a:rPr lang="en-US" altLang="ja-JP" b="0">
                  <a:ea typeface="MS UI Gothic" panose="020B0600070205080204" pitchFamily="50" charset="-128"/>
                </a:rPr>
                <a:t>public </a:t>
              </a:r>
              <a:r>
                <a:rPr lang="en-US" altLang="en-US" b="0">
                  <a:ea typeface="MS UI Gothic" panose="020B0600070205080204" pitchFamily="50" charset="-128"/>
                </a:rPr>
                <a:t>abstract</a:t>
              </a:r>
              <a:r>
                <a:rPr lang="ja-JP" altLang="en-US" b="0">
                  <a:ea typeface="MS UI Gothic" panose="020B0600070205080204" pitchFamily="50" charset="-128"/>
                </a:rPr>
                <a:t>」</a:t>
              </a:r>
            </a:p>
            <a:p>
              <a:r>
                <a:rPr lang="ja-JP" altLang="en-US" b="0">
                  <a:ea typeface="MS UI Gothic" panose="020B0600070205080204" pitchFamily="50" charset="-128"/>
                </a:rPr>
                <a:t>（</a:t>
              </a:r>
              <a:r>
                <a:rPr lang="en-US" altLang="ja-JP" b="0">
                  <a:ea typeface="MS UI Gothic" panose="020B0600070205080204" pitchFamily="50" charset="-128"/>
                </a:rPr>
                <a:t>abstract sẽ đề cập sau</a:t>
              </a:r>
              <a:r>
                <a:rPr lang="ja-JP" altLang="en-US" b="0">
                  <a:ea typeface="MS UI Gothic" panose="020B0600070205080204" pitchFamily="50" charset="-128"/>
                </a:rPr>
                <a:t>） </a:t>
              </a:r>
            </a:p>
          </p:txBody>
        </p:sp>
      </p:gr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1BE5E344-5805-3385-A090-687681655EFE}"/>
              </a:ext>
            </a:extLst>
          </p:cNvPr>
          <p:cNvSpPr>
            <a:spLocks noGrp="1" noRot="1" noChangeAspect="1" noChangeArrowheads="1" noTextEdit="1"/>
          </p:cNvSpPr>
          <p:nvPr>
            <p:ph type="sldImg"/>
          </p:nvPr>
        </p:nvSpPr>
        <p:spPr>
          <a:ln/>
        </p:spPr>
      </p:sp>
      <p:sp>
        <p:nvSpPr>
          <p:cNvPr id="557059" name="Rectangle 3">
            <a:extLst>
              <a:ext uri="{FF2B5EF4-FFF2-40B4-BE49-F238E27FC236}">
                <a16:creationId xmlns:a16="http://schemas.microsoft.com/office/drawing/2014/main" id="{13B48336-B4C7-8E98-15EF-2CFA70F5C123}"/>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Định nghĩa class implement interface</a:t>
            </a:r>
          </a:p>
          <a:p>
            <a:pPr marL="0" indent="0"/>
            <a:r>
              <a:rPr lang="ja-JP" altLang="en-US">
                <a:latin typeface="Arial" panose="020B0604020202020204" pitchFamily="34" charset="0"/>
              </a:rPr>
              <a:t>　</a:t>
            </a:r>
            <a:r>
              <a:rPr lang="en-US" altLang="ja-JP">
                <a:latin typeface="Arial" panose="020B0604020202020204" pitchFamily="34" charset="0"/>
              </a:rPr>
              <a:t>Class thực hiện chức năng nào đó theo spec của interface gọi là </a:t>
            </a:r>
            <a:r>
              <a:rPr lang="ja-JP" altLang="en-US">
                <a:latin typeface="Arial" panose="020B0604020202020204" pitchFamily="34" charset="0"/>
              </a:rPr>
              <a:t>「</a:t>
            </a:r>
            <a:r>
              <a:rPr lang="en-US" altLang="ja-JP">
                <a:latin typeface="Arial" panose="020B0604020202020204" pitchFamily="34" charset="0"/>
              </a:rPr>
              <a:t>class implement interface</a:t>
            </a:r>
            <a:r>
              <a:rPr lang="ja-JP" altLang="en-US">
                <a:latin typeface="Arial" panose="020B0604020202020204" pitchFamily="34" charset="0"/>
              </a:rPr>
              <a:t>」</a:t>
            </a:r>
            <a:r>
              <a:rPr lang="en-US" altLang="ja-JP">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Trong Java, trường hợp implement interface, thì chỉ định là </a:t>
            </a:r>
            <a:r>
              <a:rPr lang="ja-JP" altLang="en-US">
                <a:latin typeface="Arial" panose="020B0604020202020204" pitchFamily="34" charset="0"/>
              </a:rPr>
              <a:t>「</a:t>
            </a:r>
            <a:r>
              <a:rPr lang="en-US" altLang="ja-JP">
                <a:latin typeface="Arial" panose="020B0604020202020204" pitchFamily="34" charset="0"/>
              </a:rPr>
              <a:t>implements  interface name</a:t>
            </a:r>
            <a:r>
              <a:rPr lang="ja-JP" altLang="en-US">
                <a:latin typeface="Arial" panose="020B0604020202020204" pitchFamily="34" charset="0"/>
              </a:rPr>
              <a:t>」 </a:t>
            </a:r>
            <a:r>
              <a:rPr lang="en-US" altLang="ja-JP">
                <a:latin typeface="Arial" panose="020B0604020202020204" pitchFamily="34" charset="0"/>
              </a:rPr>
              <a:t>tiếp sau class name.</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Cú pháp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Nếu đã chỉ định là </a:t>
            </a:r>
            <a:r>
              <a:rPr lang="ja-JP" altLang="en-US">
                <a:latin typeface="Arial" panose="020B0604020202020204" pitchFamily="34" charset="0"/>
              </a:rPr>
              <a:t>「</a:t>
            </a:r>
            <a:r>
              <a:rPr lang="en-US" altLang="ja-JP">
                <a:latin typeface="Arial" panose="020B0604020202020204" pitchFamily="34" charset="0"/>
              </a:rPr>
              <a:t>implements  interface name</a:t>
            </a:r>
            <a:r>
              <a:rPr lang="ja-JP" altLang="en-US">
                <a:latin typeface="Arial" panose="020B0604020202020204" pitchFamily="34" charset="0"/>
              </a:rPr>
              <a:t>」</a:t>
            </a:r>
            <a:r>
              <a:rPr lang="en-US" altLang="ja-JP">
                <a:latin typeface="Arial" panose="020B0604020202020204" pitchFamily="34" charset="0"/>
              </a:rPr>
              <a:t>, thì cần phải mô tả việc implement của toàn bộ method đã định nghĩa mẫu ở interface.</a:t>
            </a:r>
          </a:p>
          <a:p>
            <a:pPr marL="0" indent="0"/>
            <a:endParaRPr lang="en-US" altLang="ja-JP">
              <a:latin typeface="Arial" panose="020B0604020202020204" pitchFamily="34" charset="0"/>
            </a:endParaRPr>
          </a:p>
        </p:txBody>
      </p:sp>
      <p:grpSp>
        <p:nvGrpSpPr>
          <p:cNvPr id="557074" name="Group 18">
            <a:extLst>
              <a:ext uri="{FF2B5EF4-FFF2-40B4-BE49-F238E27FC236}">
                <a16:creationId xmlns:a16="http://schemas.microsoft.com/office/drawing/2014/main" id="{F529AE46-38DD-ECE9-E243-512800FB7A31}"/>
              </a:ext>
            </a:extLst>
          </p:cNvPr>
          <p:cNvGrpSpPr>
            <a:grpSpLocks/>
          </p:cNvGrpSpPr>
          <p:nvPr/>
        </p:nvGrpSpPr>
        <p:grpSpPr bwMode="auto">
          <a:xfrm>
            <a:off x="612775" y="5930900"/>
            <a:ext cx="6007100" cy="1401763"/>
            <a:chOff x="386" y="3736"/>
            <a:chExt cx="3784" cy="883"/>
          </a:xfrm>
        </p:grpSpPr>
        <p:sp>
          <p:nvSpPr>
            <p:cNvPr id="557060" name="Text Box 4">
              <a:extLst>
                <a:ext uri="{FF2B5EF4-FFF2-40B4-BE49-F238E27FC236}">
                  <a16:creationId xmlns:a16="http://schemas.microsoft.com/office/drawing/2014/main" id="{BC50E95E-E7E7-605B-A805-05397883E89B}"/>
                </a:ext>
              </a:extLst>
            </p:cNvPr>
            <p:cNvSpPr txBox="1">
              <a:spLocks noChangeArrowheads="1"/>
            </p:cNvSpPr>
            <p:nvPr/>
          </p:nvSpPr>
          <p:spPr bwMode="auto">
            <a:xfrm>
              <a:off x="386" y="3936"/>
              <a:ext cx="3650" cy="68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1pPr>
              <a:lvl2pPr marL="179388"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2pPr>
              <a:lvl3pPr marL="954088"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3pPr>
              <a:lvl4pPr marL="1431925"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4pPr>
              <a:lvl5pPr marL="1909763" defTabSz="541338">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5pPr>
              <a:lvl6pPr marL="23669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6pPr>
              <a:lvl7pPr marL="28241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7pPr>
              <a:lvl8pPr marL="32813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8pPr>
              <a:lvl9pPr marL="3738563" defTabSz="541338" fontAlgn="base">
                <a:spcBef>
                  <a:spcPct val="0"/>
                </a:spcBef>
                <a:spcAft>
                  <a:spcPct val="0"/>
                </a:spcAft>
                <a:tabLst>
                  <a:tab pos="361950" algn="l"/>
                  <a:tab pos="714375" algn="l"/>
                </a:tabLs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50000"/>
                </a:lnSpc>
              </a:pPr>
              <a:r>
                <a:rPr lang="ja-JP" altLang="ja-JP" b="0">
                  <a:ea typeface="ＭＳ ゴシック" panose="020B0609070205080204" pitchFamily="49" charset="-128"/>
                </a:rPr>
                <a:t>public  class</a:t>
              </a:r>
              <a:r>
                <a:rPr lang="ja-JP" altLang="ja-JP" b="0">
                  <a:ea typeface="MS UI Gothic" panose="020B0600070205080204" pitchFamily="50" charset="-128"/>
                </a:rPr>
                <a:t>  </a:t>
              </a:r>
              <a:r>
                <a:rPr lang="en-US" altLang="ja-JP" b="0">
                  <a:ea typeface="MS UI Gothic" panose="020B0600070205080204" pitchFamily="50" charset="-128"/>
                </a:rPr>
                <a:t>class name</a:t>
              </a:r>
              <a:r>
                <a:rPr lang="ja-JP" altLang="ja-JP" b="0">
                  <a:ea typeface="ＭＳ ゴシック" panose="020B0609070205080204" pitchFamily="49" charset="-128"/>
                </a:rPr>
                <a:t>   extends  </a:t>
              </a:r>
              <a:r>
                <a:rPr lang="en-US" altLang="ja-JP" b="0">
                  <a:ea typeface="ＭＳ ゴシック" panose="020B0609070205080204" pitchFamily="49" charset="-128"/>
                </a:rPr>
                <a:t>super class name</a:t>
              </a:r>
              <a:r>
                <a:rPr lang="ja-JP" altLang="ja-JP" b="0">
                  <a:ea typeface="ＭＳ ゴシック" panose="020B0609070205080204" pitchFamily="49" charset="-128"/>
                </a:rPr>
                <a:t>     implements  </a:t>
              </a:r>
              <a:r>
                <a:rPr lang="en-US" altLang="ja-JP" b="0">
                  <a:ea typeface="ＭＳ ゴシック" panose="020B0609070205080204" pitchFamily="49" charset="-128"/>
                </a:rPr>
                <a:t>interface name list</a:t>
              </a:r>
              <a:r>
                <a:rPr lang="ja-JP" altLang="ja-JP" b="0">
                  <a:ea typeface="MS UI Gothic" panose="020B0600070205080204" pitchFamily="50" charset="-128"/>
                </a:rPr>
                <a:t>    </a:t>
              </a:r>
              <a:r>
                <a:rPr lang="ja-JP" altLang="ja-JP" b="0">
                  <a:ea typeface="ＭＳ ゴシック" panose="020B0609070205080204" pitchFamily="49" charset="-128"/>
                </a:rPr>
                <a:t>{</a:t>
              </a:r>
            </a:p>
            <a:p>
              <a:pPr lvl="1" algn="just">
                <a:lnSpc>
                  <a:spcPct val="150000"/>
                </a:lnSpc>
              </a:pPr>
              <a:r>
                <a:rPr lang="ja-JP" altLang="ja-JP" b="0">
                  <a:ea typeface="MS UI Gothic" panose="020B0600070205080204" pitchFamily="50" charset="-128"/>
                </a:rPr>
                <a:t>	                             ：</a:t>
              </a:r>
            </a:p>
            <a:p>
              <a:pPr lvl="1" algn="just">
                <a:lnSpc>
                  <a:spcPct val="150000"/>
                </a:lnSpc>
              </a:pPr>
              <a:r>
                <a:rPr lang="ja-JP" altLang="ja-JP" b="0">
                  <a:ea typeface="MS UI Gothic" panose="020B0600070205080204" pitchFamily="50" charset="-128"/>
                </a:rPr>
                <a:t>       </a:t>
              </a:r>
              <a:r>
                <a:rPr lang="ja-JP" altLang="ja-JP" b="0">
                  <a:ea typeface="ＭＳ ゴシック" panose="020B0609070205080204" pitchFamily="49" charset="-128"/>
                </a:rPr>
                <a:t>//</a:t>
              </a:r>
              <a:r>
                <a:rPr lang="ja-JP" altLang="ja-JP" b="0">
                  <a:ea typeface="MS UI Gothic" panose="020B0600070205080204" pitchFamily="50" charset="-128"/>
                </a:rPr>
                <a:t>   </a:t>
              </a:r>
              <a:r>
                <a:rPr lang="en-US" altLang="ja-JP" b="0">
                  <a:ea typeface="MS UI Gothic" panose="020B0600070205080204" pitchFamily="50" charset="-128"/>
                </a:rPr>
                <a:t>bao gồm việc implement toàn bộ method đã được định nghĩa ở interface</a:t>
              </a:r>
              <a:endParaRPr lang="ja-JP" altLang="ja-JP" b="0">
                <a:ea typeface="MS UI Gothic" panose="020B0600070205080204" pitchFamily="50" charset="-128"/>
              </a:endParaRPr>
            </a:p>
            <a:p>
              <a:pPr lvl="1" algn="just">
                <a:lnSpc>
                  <a:spcPct val="150000"/>
                </a:lnSpc>
              </a:pPr>
              <a:r>
                <a:rPr lang="ja-JP" altLang="ja-JP" b="0">
                  <a:ea typeface="ＭＳ ゴシック" panose="020B0609070205080204" pitchFamily="49" charset="-128"/>
                </a:rPr>
                <a:t>}</a:t>
              </a:r>
            </a:p>
          </p:txBody>
        </p:sp>
        <p:sp>
          <p:nvSpPr>
            <p:cNvPr id="557061" name="Rectangle 5">
              <a:extLst>
                <a:ext uri="{FF2B5EF4-FFF2-40B4-BE49-F238E27FC236}">
                  <a16:creationId xmlns:a16="http://schemas.microsoft.com/office/drawing/2014/main" id="{1C80D356-64B2-A22F-62DF-BE4B826310A9}"/>
                </a:ext>
              </a:extLst>
            </p:cNvPr>
            <p:cNvSpPr>
              <a:spLocks noChangeArrowheads="1"/>
            </p:cNvSpPr>
            <p:nvPr/>
          </p:nvSpPr>
          <p:spPr bwMode="auto">
            <a:xfrm>
              <a:off x="2490" y="3976"/>
              <a:ext cx="1169" cy="139"/>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557063" name="Rectangle 7">
              <a:extLst>
                <a:ext uri="{FF2B5EF4-FFF2-40B4-BE49-F238E27FC236}">
                  <a16:creationId xmlns:a16="http://schemas.microsoft.com/office/drawing/2014/main" id="{39008C60-669A-2CA9-4DF8-D75CA293518F}"/>
                </a:ext>
              </a:extLst>
            </p:cNvPr>
            <p:cNvSpPr>
              <a:spLocks noChangeArrowheads="1"/>
            </p:cNvSpPr>
            <p:nvPr/>
          </p:nvSpPr>
          <p:spPr bwMode="auto">
            <a:xfrm>
              <a:off x="1448" y="3966"/>
              <a:ext cx="936" cy="149"/>
            </a:xfrm>
            <a:prstGeom prst="rect">
              <a:avLst/>
            </a:prstGeom>
            <a:noFill/>
            <a:ln w="19050" algn="ctr">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557064" name="Rectangle 8">
              <a:extLst>
                <a:ext uri="{FF2B5EF4-FFF2-40B4-BE49-F238E27FC236}">
                  <a16:creationId xmlns:a16="http://schemas.microsoft.com/office/drawing/2014/main" id="{8D75D01E-2143-7D34-8E1B-D3ED01B0B141}"/>
                </a:ext>
              </a:extLst>
            </p:cNvPr>
            <p:cNvSpPr>
              <a:spLocks noChangeArrowheads="1"/>
            </p:cNvSpPr>
            <p:nvPr/>
          </p:nvSpPr>
          <p:spPr bwMode="auto">
            <a:xfrm>
              <a:off x="1588" y="3736"/>
              <a:ext cx="2582" cy="164"/>
            </a:xfrm>
            <a:prstGeom prst="rect">
              <a:avLst/>
            </a:prstGeom>
            <a:noFill/>
            <a:ln w="1905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7548" tIns="43774" rIns="87548" bIns="43774" anchor="ctr">
              <a:spAutoFit/>
            </a:bodyPr>
            <a:lstStyle>
              <a:lvl1pPr defTabSz="827088">
                <a:defRPr kumimoji="1">
                  <a:solidFill>
                    <a:schemeClr val="tx1"/>
                  </a:solidFill>
                  <a:latin typeface="Arial" panose="020B0604020202020204" pitchFamily="34" charset="0"/>
                  <a:ea typeface="ＭＳ Ｐゴシック" panose="020B0600070205080204" pitchFamily="50" charset="-128"/>
                </a:defRPr>
              </a:lvl1pPr>
              <a:lvl2pPr marL="438150" defTabSz="827088">
                <a:defRPr kumimoji="1">
                  <a:solidFill>
                    <a:schemeClr val="tx1"/>
                  </a:solidFill>
                  <a:latin typeface="Arial" panose="020B0604020202020204" pitchFamily="34" charset="0"/>
                  <a:ea typeface="ＭＳ Ｐゴシック" panose="020B0600070205080204" pitchFamily="50" charset="-128"/>
                </a:defRPr>
              </a:lvl2pPr>
              <a:lvl3pPr marL="876300" defTabSz="827088">
                <a:defRPr kumimoji="1">
                  <a:solidFill>
                    <a:schemeClr val="tx1"/>
                  </a:solidFill>
                  <a:latin typeface="Arial" panose="020B0604020202020204" pitchFamily="34" charset="0"/>
                  <a:ea typeface="ＭＳ Ｐゴシック" panose="020B0600070205080204" pitchFamily="50" charset="-128"/>
                </a:defRPr>
              </a:lvl3pPr>
              <a:lvl4pPr marL="1312863" defTabSz="827088">
                <a:defRPr kumimoji="1">
                  <a:solidFill>
                    <a:schemeClr val="tx1"/>
                  </a:solidFill>
                  <a:latin typeface="Arial" panose="020B0604020202020204" pitchFamily="34" charset="0"/>
                  <a:ea typeface="ＭＳ Ｐゴシック" panose="020B0600070205080204" pitchFamily="50" charset="-128"/>
                </a:defRPr>
              </a:lvl4pPr>
              <a:lvl5pPr marL="1751013" defTabSz="827088">
                <a:defRPr kumimoji="1">
                  <a:solidFill>
                    <a:schemeClr val="tx1"/>
                  </a:solidFill>
                  <a:latin typeface="Arial" panose="020B0604020202020204" pitchFamily="34" charset="0"/>
                  <a:ea typeface="ＭＳ Ｐゴシック" panose="020B0600070205080204" pitchFamily="50" charset="-128"/>
                </a:defRPr>
              </a:lvl5pPr>
              <a:lvl6pPr marL="22082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54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226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9813" defTabSz="827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Chỉ chỉ định trong trường hợp cần thiết</a:t>
              </a:r>
              <a:r>
                <a:rPr lang="ja-JP" altLang="en-US" b="0">
                  <a:ea typeface="MS UI Gothic" panose="020B0600070205080204" pitchFamily="50" charset="-128"/>
                </a:rPr>
                <a:t>（</a:t>
              </a:r>
              <a:r>
                <a:rPr lang="en-US" altLang="ja-JP" b="0">
                  <a:ea typeface="MS UI Gothic" panose="020B0600070205080204" pitchFamily="50" charset="-128"/>
                </a:rPr>
                <a:t>class chỉ định chỉ có thể</a:t>
              </a:r>
              <a:r>
                <a:rPr lang="en-US" altLang="ja-JP">
                  <a:ea typeface="MS UI Gothic" panose="020B0600070205080204" pitchFamily="50" charset="-128"/>
                </a:rPr>
                <a:t> </a:t>
              </a:r>
              <a:r>
                <a:rPr lang="en-US" altLang="ja-JP" b="0">
                  <a:ea typeface="MS UI Gothic" panose="020B0600070205080204" pitchFamily="50" charset="-128"/>
                </a:rPr>
                <a:t>là 1 </a:t>
              </a:r>
              <a:r>
                <a:rPr lang="ja-JP" altLang="en-US" b="0">
                  <a:ea typeface="MS UI Gothic" panose="020B0600070205080204" pitchFamily="50" charset="-128"/>
                </a:rPr>
                <a:t>）</a:t>
              </a:r>
            </a:p>
          </p:txBody>
        </p:sp>
        <p:cxnSp>
          <p:nvCxnSpPr>
            <p:cNvPr id="557065" name="AutoShape 9">
              <a:extLst>
                <a:ext uri="{FF2B5EF4-FFF2-40B4-BE49-F238E27FC236}">
                  <a16:creationId xmlns:a16="http://schemas.microsoft.com/office/drawing/2014/main" id="{AA133CF9-7106-E926-79CF-FE78C26C9C86}"/>
                </a:ext>
              </a:extLst>
            </p:cNvPr>
            <p:cNvCxnSpPr>
              <a:cxnSpLocks noChangeShapeType="1"/>
              <a:stCxn id="557064" idx="1"/>
              <a:endCxn id="557063" idx="0"/>
            </p:cNvCxnSpPr>
            <p:nvPr/>
          </p:nvCxnSpPr>
          <p:spPr bwMode="auto">
            <a:xfrm rot="10800000" flipH="1" flipV="1">
              <a:off x="1582" y="3818"/>
              <a:ext cx="334" cy="142"/>
            </a:xfrm>
            <a:prstGeom prst="bentConnector4">
              <a:avLst>
                <a:gd name="adj1" fmla="val -41319"/>
                <a:gd name="adj2" fmla="val 80986"/>
              </a:avLst>
            </a:prstGeom>
            <a:noFill/>
            <a:ln w="19050">
              <a:solidFill>
                <a:srgbClr val="FF8519"/>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7066" name="Rectangle 10">
              <a:extLst>
                <a:ext uri="{FF2B5EF4-FFF2-40B4-BE49-F238E27FC236}">
                  <a16:creationId xmlns:a16="http://schemas.microsoft.com/office/drawing/2014/main" id="{EF92884F-9062-AB7F-E044-3EF61BE0E5AD}"/>
                </a:ext>
              </a:extLst>
            </p:cNvPr>
            <p:cNvSpPr>
              <a:spLocks noChangeArrowheads="1"/>
            </p:cNvSpPr>
            <p:nvPr/>
          </p:nvSpPr>
          <p:spPr bwMode="auto">
            <a:xfrm>
              <a:off x="652" y="4236"/>
              <a:ext cx="2371" cy="194"/>
            </a:xfrm>
            <a:prstGeom prst="rect">
              <a:avLst/>
            </a:prstGeom>
            <a:noFill/>
            <a:ln w="19050" algn="ctr">
              <a:solidFill>
                <a:srgbClr val="F46292"/>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p>
          </p:txBody>
        </p:sp>
        <p:sp>
          <p:nvSpPr>
            <p:cNvPr id="557069" name="AutoShape 13">
              <a:extLst>
                <a:ext uri="{FF2B5EF4-FFF2-40B4-BE49-F238E27FC236}">
                  <a16:creationId xmlns:a16="http://schemas.microsoft.com/office/drawing/2014/main" id="{0D92B398-A91B-021F-86E8-7086FFC51FC1}"/>
                </a:ext>
              </a:extLst>
            </p:cNvPr>
            <p:cNvSpPr>
              <a:spLocks noChangeArrowheads="1"/>
            </p:cNvSpPr>
            <p:nvPr/>
          </p:nvSpPr>
          <p:spPr bwMode="auto">
            <a:xfrm>
              <a:off x="2763" y="4265"/>
              <a:ext cx="1164" cy="269"/>
            </a:xfrm>
            <a:prstGeom prst="wedgeRoundRectCallout">
              <a:avLst>
                <a:gd name="adj1" fmla="val -22421"/>
                <a:gd name="adj2" fmla="val -122861"/>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7548" tIns="43774" rIns="87548" bIns="43774">
              <a:spAutoFit/>
            </a:bodyPr>
            <a:lstStyle>
              <a:lvl1pPr defTabSz="876300">
                <a:defRPr kumimoji="1">
                  <a:solidFill>
                    <a:schemeClr val="tx1"/>
                  </a:solidFill>
                  <a:latin typeface="Arial" panose="020B0604020202020204" pitchFamily="34" charset="0"/>
                  <a:ea typeface="ＭＳ Ｐゴシック" panose="020B0600070205080204" pitchFamily="50" charset="-128"/>
                </a:defRPr>
              </a:lvl1pPr>
              <a:lvl2pPr marL="438150" defTabSz="876300">
                <a:defRPr kumimoji="1">
                  <a:solidFill>
                    <a:schemeClr val="tx1"/>
                  </a:solidFill>
                  <a:latin typeface="Arial" panose="020B0604020202020204" pitchFamily="34" charset="0"/>
                  <a:ea typeface="ＭＳ Ｐゴシック" panose="020B0600070205080204" pitchFamily="50" charset="-128"/>
                </a:defRPr>
              </a:lvl2pPr>
              <a:lvl3pPr marL="876300" defTabSz="876300">
                <a:defRPr kumimoji="1">
                  <a:solidFill>
                    <a:schemeClr val="tx1"/>
                  </a:solidFill>
                  <a:latin typeface="Arial" panose="020B0604020202020204" pitchFamily="34" charset="0"/>
                  <a:ea typeface="ＭＳ Ｐゴシック" panose="020B0600070205080204" pitchFamily="50" charset="-128"/>
                </a:defRPr>
              </a:lvl3pPr>
              <a:lvl4pPr marL="1312863" defTabSz="876300">
                <a:defRPr kumimoji="1">
                  <a:solidFill>
                    <a:schemeClr val="tx1"/>
                  </a:solidFill>
                  <a:latin typeface="Arial" panose="020B0604020202020204" pitchFamily="34" charset="0"/>
                  <a:ea typeface="ＭＳ Ｐゴシック" panose="020B0600070205080204" pitchFamily="50" charset="-128"/>
                </a:defRPr>
              </a:lvl4pPr>
              <a:lvl5pPr marL="1751013" defTabSz="876300">
                <a:defRPr kumimoji="1">
                  <a:solidFill>
                    <a:schemeClr val="tx1"/>
                  </a:solidFill>
                  <a:latin typeface="Arial" panose="020B0604020202020204" pitchFamily="34" charset="0"/>
                  <a:ea typeface="ＭＳ Ｐゴシック" panose="020B0600070205080204" pitchFamily="50" charset="-128"/>
                </a:defRPr>
              </a:lvl5pPr>
              <a:lvl6pPr marL="22082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54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226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9813" defTabSz="8763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có thể chỉ định nhiều, ngăn cách bằng </a:t>
              </a:r>
              <a:r>
                <a:rPr lang="ja-JP" altLang="en-US" b="0">
                  <a:ea typeface="MS UI Gothic" panose="020B0600070205080204" pitchFamily="50" charset="-128"/>
                </a:rPr>
                <a:t>「</a:t>
              </a:r>
              <a:r>
                <a:rPr lang="en-US" altLang="ja-JP" b="0">
                  <a:ea typeface="MS UI Gothic" panose="020B0600070205080204" pitchFamily="50" charset="-128"/>
                </a:rPr>
                <a:t>,</a:t>
              </a:r>
              <a:r>
                <a:rPr lang="ja-JP" altLang="en-US" b="0">
                  <a:ea typeface="MS UI Gothic" panose="020B0600070205080204" pitchFamily="50" charset="-128"/>
                </a:rPr>
                <a:t>」</a:t>
              </a:r>
            </a:p>
          </p:txBody>
        </p:sp>
      </p:gr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a:extLst>
              <a:ext uri="{FF2B5EF4-FFF2-40B4-BE49-F238E27FC236}">
                <a16:creationId xmlns:a16="http://schemas.microsoft.com/office/drawing/2014/main" id="{88E79C5D-4A7B-D67B-5BA9-0C62587EE8C8}"/>
              </a:ext>
            </a:extLst>
          </p:cNvPr>
          <p:cNvSpPr>
            <a:spLocks noGrp="1" noRot="1" noChangeAspect="1" noChangeArrowheads="1" noTextEdit="1"/>
          </p:cNvSpPr>
          <p:nvPr>
            <p:ph type="sldImg"/>
          </p:nvPr>
        </p:nvSpPr>
        <p:spPr>
          <a:xfrm>
            <a:off x="530225" y="835025"/>
            <a:ext cx="6024563" cy="4170363"/>
          </a:xfrm>
          <a:ln/>
        </p:spPr>
      </p:sp>
      <p:sp>
        <p:nvSpPr>
          <p:cNvPr id="583683" name="Rectangle 3">
            <a:extLst>
              <a:ext uri="{FF2B5EF4-FFF2-40B4-BE49-F238E27FC236}">
                <a16:creationId xmlns:a16="http://schemas.microsoft.com/office/drawing/2014/main" id="{7D84B006-2903-CC7D-0C81-E7B128D166BD}"/>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Kiểu data của biến số có tham chiếu object của class implement interface</a:t>
            </a:r>
          </a:p>
          <a:p>
            <a:pPr marL="0" indent="0"/>
            <a:r>
              <a:rPr lang="en-US" altLang="ja-JP">
                <a:latin typeface="Arial" panose="020B0604020202020204" pitchFamily="34" charset="0"/>
              </a:rPr>
              <a:t>Trường hợp generate object của class đã implement interface để thao tác, thì trong kiểu data có thể chỉ định cho biến số dùng để tham chiếu object có 2 loại là ①class đã implement interface và ②interface.</a:t>
            </a:r>
          </a:p>
          <a:p>
            <a:pPr marL="0" indent="0"/>
            <a:endParaRPr lang="en-US" altLang="ja-JP">
              <a:latin typeface="Arial" panose="020B0604020202020204" pitchFamily="34" charset="0"/>
            </a:endParaRPr>
          </a:p>
          <a:p>
            <a:pPr marL="0" indent="0"/>
            <a:r>
              <a:rPr lang="en-US" altLang="ja-JP">
                <a:latin typeface="Arial" panose="020B0604020202020204" pitchFamily="34" charset="0"/>
              </a:rPr>
              <a:t>①Trường hợp đã chỉ định class đã implement interface thành kiểu data</a:t>
            </a:r>
          </a:p>
          <a:p>
            <a:pPr marL="0" indent="0"/>
            <a:r>
              <a:rPr lang="ja-JP" altLang="en-US">
                <a:latin typeface="Arial" panose="020B0604020202020204" pitchFamily="34" charset="0"/>
              </a:rPr>
              <a:t>　</a:t>
            </a:r>
            <a:r>
              <a:rPr lang="en-US" altLang="ja-JP">
                <a:latin typeface="Arial" panose="020B0604020202020204" pitchFamily="34" charset="0"/>
              </a:rPr>
              <a:t>Có thể gọi ra method tùy ý có thể access.</a:t>
            </a:r>
          </a:p>
          <a:p>
            <a:pPr marL="0" indent="0"/>
            <a:endParaRPr lang="en-US" altLang="ja-JP">
              <a:latin typeface="Arial" panose="020B0604020202020204" pitchFamily="34" charset="0"/>
            </a:endParaRPr>
          </a:p>
          <a:p>
            <a:pPr marL="0" indent="0"/>
            <a:r>
              <a:rPr lang="en-US" altLang="ja-JP">
                <a:latin typeface="Arial" panose="020B0604020202020204" pitchFamily="34" charset="0"/>
              </a:rPr>
              <a:t>②Trường hợp đã chỉ định interface cho kiểu data</a:t>
            </a:r>
          </a:p>
          <a:p>
            <a:pPr marL="0" indent="0"/>
            <a:r>
              <a:rPr lang="ja-JP" altLang="en-US">
                <a:latin typeface="Arial" panose="020B0604020202020204" pitchFamily="34" charset="0"/>
              </a:rPr>
              <a:t>　</a:t>
            </a:r>
            <a:r>
              <a:rPr lang="en-US" altLang="ja-JP">
                <a:latin typeface="Arial" panose="020B0604020202020204" pitchFamily="34" charset="0"/>
              </a:rPr>
              <a:t>Chỉ có thể gọi ra method đã được liệt kê ở interface.</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Ví dụ, trường hợp Employee class đang được định nghĩa như là class implement PrintableInfo interface, thì có thể chỉ định PrintableInfo làm kiểu data.</a:t>
            </a:r>
          </a:p>
          <a:p>
            <a:pPr marL="0" indent="0"/>
            <a:r>
              <a:rPr lang="ja-JP" altLang="en-US">
                <a:latin typeface="Arial" panose="020B0604020202020204" pitchFamily="34" charset="0"/>
              </a:rPr>
              <a:t>　</a:t>
            </a:r>
            <a:r>
              <a:rPr lang="en-US" altLang="ja-JP">
                <a:latin typeface="Arial" panose="020B0604020202020204" pitchFamily="34" charset="0"/>
              </a:rPr>
              <a:t>Trong trường hợp này, sẽ chỉ cho gọi ra method đã được liệt kê trong interface </a:t>
            </a:r>
            <a:r>
              <a:rPr lang="ja-JP" altLang="en-US">
                <a:latin typeface="Arial" panose="020B0604020202020204" pitchFamily="34" charset="0"/>
              </a:rPr>
              <a:t>（</a:t>
            </a:r>
            <a:r>
              <a:rPr lang="en-US" altLang="ja-JP">
                <a:latin typeface="Arial" panose="020B0604020202020204" pitchFamily="34" charset="0"/>
              </a:rPr>
              <a:t>printInfo</a:t>
            </a:r>
            <a:r>
              <a:rPr lang="ja-JP" altLang="en-US">
                <a:latin typeface="Arial" panose="020B0604020202020204" pitchFamily="34" charset="0"/>
              </a:rPr>
              <a:t>）</a:t>
            </a:r>
            <a:r>
              <a:rPr lang="en-US" altLang="ja-JP">
                <a:latin typeface="Arial" panose="020B0604020202020204" pitchFamily="34" charset="0"/>
              </a:rPr>
              <a:t>.</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583684" name="Text Box 4">
            <a:extLst>
              <a:ext uri="{FF2B5EF4-FFF2-40B4-BE49-F238E27FC236}">
                <a16:creationId xmlns:a16="http://schemas.microsoft.com/office/drawing/2014/main" id="{4A79A66F-A8AF-94EF-6158-B3E0C50FA11F}"/>
              </a:ext>
            </a:extLst>
          </p:cNvPr>
          <p:cNvSpPr txBox="1">
            <a:spLocks noChangeArrowheads="1"/>
          </p:cNvSpPr>
          <p:nvPr/>
        </p:nvSpPr>
        <p:spPr bwMode="auto">
          <a:xfrm>
            <a:off x="638175" y="7866063"/>
            <a:ext cx="5808663" cy="9271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8296" tIns="116502" rIns="368296" bIns="116502">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t>Trường hợp lấy interface làm kiểu data</a:t>
            </a:r>
          </a:p>
          <a:p>
            <a:pPr>
              <a:lnSpc>
                <a:spcPct val="50000"/>
              </a:lnSpc>
            </a:pPr>
            <a:endParaRPr lang="en-US" altLang="ja-JP" b="0"/>
          </a:p>
          <a:p>
            <a:r>
              <a:rPr lang="ja-JP" altLang="en-US" b="0"/>
              <a:t>　</a:t>
            </a:r>
            <a:r>
              <a:rPr lang="en-US" altLang="ja-JP" b="0"/>
              <a:t>Trường hợp đã sử dụng interface như là kiểu data của biến số có tham chiếu object implement interface, thì không thể gọi ra những method khác những method đã được liệt kê trong interface.</a:t>
            </a:r>
          </a:p>
        </p:txBody>
      </p:sp>
      <p:grpSp>
        <p:nvGrpSpPr>
          <p:cNvPr id="583685" name="Group 5">
            <a:extLst>
              <a:ext uri="{FF2B5EF4-FFF2-40B4-BE49-F238E27FC236}">
                <a16:creationId xmlns:a16="http://schemas.microsoft.com/office/drawing/2014/main" id="{8244746E-0854-159E-9D04-591A485A000C}"/>
              </a:ext>
            </a:extLst>
          </p:cNvPr>
          <p:cNvGrpSpPr>
            <a:grpSpLocks/>
          </p:cNvGrpSpPr>
          <p:nvPr/>
        </p:nvGrpSpPr>
        <p:grpSpPr bwMode="auto">
          <a:xfrm>
            <a:off x="635000" y="7610475"/>
            <a:ext cx="5811838" cy="301625"/>
            <a:chOff x="351" y="1572"/>
            <a:chExt cx="4968" cy="205"/>
          </a:xfrm>
        </p:grpSpPr>
        <p:pic>
          <p:nvPicPr>
            <p:cNvPr id="583686" name="Picture 6">
              <a:extLst>
                <a:ext uri="{FF2B5EF4-FFF2-40B4-BE49-F238E27FC236}">
                  <a16:creationId xmlns:a16="http://schemas.microsoft.com/office/drawing/2014/main" id="{F88F7F8B-969D-5DC8-7C62-0F3626783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583687" name="Text Box 7">
              <a:extLst>
                <a:ext uri="{FF2B5EF4-FFF2-40B4-BE49-F238E27FC236}">
                  <a16:creationId xmlns:a16="http://schemas.microsoft.com/office/drawing/2014/main" id="{F7F15797-E653-FBE4-8033-137456E1BEA8}"/>
                </a:ext>
              </a:extLst>
            </p:cNvPr>
            <p:cNvSpPr txBox="1">
              <a:spLocks noChangeArrowheads="1"/>
            </p:cNvSpPr>
            <p:nvPr/>
          </p:nvSpPr>
          <p:spPr bwMode="auto">
            <a:xfrm>
              <a:off x="517" y="1598"/>
              <a:ext cx="495"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57" tIns="47728" rIns="95457" bIns="47728">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Chú ý</a:t>
              </a:r>
            </a:p>
          </p:txBody>
        </p:sp>
      </p:gr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8A4C3CD9-5663-4562-5655-3338F496DA1B}"/>
              </a:ext>
            </a:extLst>
          </p:cNvPr>
          <p:cNvSpPr>
            <a:spLocks noGrp="1" noRot="1" noChangeAspect="1" noChangeArrowheads="1" noTextEdit="1"/>
          </p:cNvSpPr>
          <p:nvPr>
            <p:ph type="sldImg"/>
          </p:nvPr>
        </p:nvSpPr>
        <p:spPr>
          <a:xfrm>
            <a:off x="530225" y="835025"/>
            <a:ext cx="6024563" cy="4170363"/>
          </a:xfrm>
          <a:ln/>
        </p:spPr>
      </p:sp>
      <p:sp>
        <p:nvSpPr>
          <p:cNvPr id="547843" name="Rectangle 3">
            <a:extLst>
              <a:ext uri="{FF2B5EF4-FFF2-40B4-BE49-F238E27FC236}">
                <a16:creationId xmlns:a16="http://schemas.microsoft.com/office/drawing/2014/main" id="{E722F100-AEC9-0C62-6850-1C3B01103941}"/>
              </a:ext>
            </a:extLst>
          </p:cNvPr>
          <p:cNvSpPr>
            <a:spLocks noGrp="1" noChangeArrowheads="1"/>
          </p:cNvSpPr>
          <p:nvPr>
            <p:ph type="body" idx="1"/>
          </p:nvPr>
        </p:nvSpPr>
        <p:spPr/>
        <p:txBody>
          <a:bodyPr/>
          <a:lstStyle/>
          <a:p>
            <a:pPr marL="0" indent="0"/>
            <a:r>
              <a:rPr lang="en-US" altLang="ja-JP">
                <a:latin typeface="Arial" panose="020B0604020202020204" pitchFamily="34" charset="0"/>
                <a:ea typeface="ＭＳ Ｐゴシック" panose="020B0600070205080204" pitchFamily="50" charset="-128"/>
              </a:rPr>
              <a:t>■</a:t>
            </a:r>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Cast kiểu tham chiếu</a:t>
            </a: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Trong biến số xử lý object, do có chứa thông tin tham chiếu của object đó, nên cũng có khi nó được gọi là kiểu tham chiếu.</a:t>
            </a: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Chúng ta đã học convert kiểu của kiểu data cơ bản ở </a:t>
            </a:r>
            <a:r>
              <a:rPr lang="ja-JP" altLang="en-US">
                <a:latin typeface="Arial" panose="020B0604020202020204" pitchFamily="34" charset="0"/>
                <a:ea typeface="ＭＳ Ｐゴシック" panose="020B0600070205080204" pitchFamily="50" charset="-128"/>
              </a:rPr>
              <a:t>「</a:t>
            </a:r>
            <a:r>
              <a:rPr lang="en-US" altLang="ja-JP">
                <a:latin typeface="Arial" panose="020B0604020202020204" pitchFamily="34" charset="0"/>
                <a:ea typeface="ＭＳ Ｐゴシック" panose="020B0600070205080204" pitchFamily="50" charset="-128"/>
              </a:rPr>
              <a:t>lập trình Java học từ cơ sở</a:t>
            </a:r>
            <a:r>
              <a:rPr lang="ja-JP" altLang="en-US">
                <a:latin typeface="Arial" panose="020B0604020202020204" pitchFamily="34" charset="0"/>
                <a:ea typeface="ＭＳ Ｐゴシック" panose="020B0600070205080204" pitchFamily="50" charset="-128"/>
              </a:rPr>
              <a:t>」</a:t>
            </a:r>
            <a:r>
              <a:rPr lang="en-US" altLang="ja-JP">
                <a:latin typeface="Arial" panose="020B0604020202020204" pitchFamily="34" charset="0"/>
                <a:ea typeface="ＭＳ Ｐゴシック" panose="020B0600070205080204" pitchFamily="50" charset="-128"/>
              </a:rPr>
              <a:t>, nhưng cũng có cả việc convert kiểu (cast) của kiểu tham chiếu.</a:t>
            </a: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Cũng giống với trường hợp cú pháp cast là kiểu data cơ bản (ví dụ int→byte), nhưng do ý nghĩa khác nhau nên cần phải chú ý.</a:t>
            </a:r>
          </a:p>
          <a:p>
            <a:pPr marL="0" indent="0"/>
            <a:endParaRPr lang="en-US" altLang="ja-JP">
              <a:latin typeface="Arial" panose="020B0604020202020204" pitchFamily="34" charset="0"/>
              <a:ea typeface="ＭＳ Ｐゴシック" panose="020B0600070205080204" pitchFamily="50" charset="-128"/>
            </a:endParaRP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Ở kiểu data của biến để xử lý object, về nguyên tắc, sẽ chỉ định class của object đó.</a:t>
            </a:r>
          </a:p>
          <a:p>
            <a:pPr marL="0" indent="0"/>
            <a:endParaRPr lang="en-US" altLang="ja-JP">
              <a:latin typeface="Arial" panose="020B0604020202020204" pitchFamily="34" charset="0"/>
              <a:ea typeface="ＭＳ Ｐゴシック" panose="020B0600070205080204" pitchFamily="50" charset="-128"/>
            </a:endParaRP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Thông thường không thể gán object vào biến của kiểu data khác, nhưng trong trường hợp có quan hệ kế thừa, thì việc convert kiểu (cast) thành super class từ sub-class có thể thực hiện mà không có điều kiện gì (cũng có thể convert ngầm).</a:t>
            </a: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Ví dụ, có thể thực hiện cast thành kiểu Object từ tất cả các class .</a:t>
            </a:r>
          </a:p>
          <a:p>
            <a:pPr marL="0" indent="0"/>
            <a:endParaRPr lang="en-US" altLang="ja-JP">
              <a:latin typeface="Arial" panose="020B0604020202020204" pitchFamily="34" charset="0"/>
              <a:ea typeface="ＭＳ Ｐゴシック" panose="020B0600070205080204" pitchFamily="50" charset="-128"/>
            </a:endParaRP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Việc convert kiểu (cast) thành sub-class từ super class về nguyên tắc là không thể thực hiện được, nhưng chỉ trong trường hợp gán object đã tạo bằng kiểu data của đích convert (hoặc sub-class đó) thì có thể convert được.</a:t>
            </a: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Trong trường hợp này cần phải convert kiểu (cast) 1 cách tường minh.</a:t>
            </a:r>
          </a:p>
          <a:p>
            <a:pPr marL="0" indent="0"/>
            <a:endParaRPr lang="en-US" altLang="ja-JP">
              <a:latin typeface="Arial" panose="020B0604020202020204" pitchFamily="34" charset="0"/>
              <a:ea typeface="ＭＳ Ｐゴシック" panose="020B0600070205080204" pitchFamily="50" charset="-128"/>
            </a:endParaRPr>
          </a:p>
          <a:p>
            <a:pPr marL="0" indent="0"/>
            <a:r>
              <a:rPr lang="en-US" altLang="ja-JP">
                <a:latin typeface="Arial" panose="020B0604020202020204" pitchFamily="34" charset="0"/>
                <a:ea typeface="ＭＳ Ｐゴシック" panose="020B0600070205080204" pitchFamily="50" charset="-128"/>
              </a:rPr>
              <a:t>【Tham khảo】</a:t>
            </a:r>
          </a:p>
          <a:p>
            <a:pPr marL="0" indent="0"/>
            <a:r>
              <a:rPr lang="ja-JP" altLang="en-US">
                <a:latin typeface="Arial" panose="020B0604020202020204" pitchFamily="34" charset="0"/>
                <a:ea typeface="ＭＳ Ｐゴシック" panose="020B0600070205080204" pitchFamily="50" charset="-128"/>
              </a:rPr>
              <a:t>　</a:t>
            </a:r>
            <a:r>
              <a:rPr lang="en-US" altLang="ja-JP">
                <a:latin typeface="Arial" panose="020B0604020202020204" pitchFamily="34" charset="0"/>
                <a:ea typeface="ＭＳ Ｐゴシック" panose="020B0600070205080204" pitchFamily="50" charset="-128"/>
              </a:rPr>
              <a:t>việc cast object implement interface cho biến lấy interface làm hiểu data cũng là một dạng cast của kiểu tham chiếu. </a:t>
            </a:r>
            <a:endParaRPr lang="ja-JP" altLang="ja-JP">
              <a:latin typeface="Arial" panose="020B0604020202020204" pitchFamily="34" charset="0"/>
              <a:ea typeface="ＭＳ Ｐゴシック" panose="020B0600070205080204" pitchFamily="50" charset="-128"/>
            </a:endParaRPr>
          </a:p>
          <a:p>
            <a:pPr marL="0" indent="0"/>
            <a:endParaRPr lang="en-US" altLang="ja-JP">
              <a:latin typeface="Arial" panose="020B0604020202020204" pitchFamily="34" charset="0"/>
              <a:ea typeface="ＭＳ Ｐゴシック" panose="020B0600070205080204" pitchFamily="50" charset="-128"/>
            </a:endParaRPr>
          </a:p>
          <a:p>
            <a:pPr marL="0" indent="0"/>
            <a:endParaRPr lang="en-US" altLang="ja-JP">
              <a:latin typeface="Arial" panose="020B0604020202020204" pitchFamily="34" charset="0"/>
              <a:ea typeface="ＭＳ Ｐゴシック" panose="020B0600070205080204" pitchFamily="50" charset="-128"/>
            </a:endParaRPr>
          </a:p>
          <a:p>
            <a:pPr marL="0" indent="0"/>
            <a:endParaRPr lang="en-US" altLang="ja-JP">
              <a:latin typeface="Arial" panose="020B0604020202020204" pitchFamily="34" charset="0"/>
              <a:ea typeface="ＭＳ Ｐゴシック" panose="020B0600070205080204" pitchFamily="50" charset="-128"/>
            </a:endParaRPr>
          </a:p>
          <a:p>
            <a:pPr marL="0" indent="0"/>
            <a:endParaRPr lang="en-US" altLang="ja-JP">
              <a:latin typeface="Arial" panose="020B0604020202020204" pitchFamily="34" charset="0"/>
              <a:ea typeface="ＭＳ Ｐゴシック" panose="020B0600070205080204" pitchFamily="50" charset="-128"/>
            </a:endParaRPr>
          </a:p>
          <a:p>
            <a:pPr marL="0" indent="0"/>
            <a:endParaRPr lang="en-US" altLang="ja-JP">
              <a:latin typeface="Arial" panose="020B0604020202020204" pitchFamily="34" charset="0"/>
              <a:ea typeface="ＭＳ Ｐゴシック" panose="020B0600070205080204" pitchFamily="50"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837CC977-384F-C7F0-BD7D-2BAFD1C56BAB}"/>
              </a:ext>
            </a:extLst>
          </p:cNvPr>
          <p:cNvSpPr>
            <a:spLocks noGrp="1" noRot="1" noChangeAspect="1" noChangeArrowheads="1" noTextEdit="1"/>
          </p:cNvSpPr>
          <p:nvPr>
            <p:ph type="sldImg"/>
          </p:nvPr>
        </p:nvSpPr>
        <p:spPr>
          <a:xfrm>
            <a:off x="530225" y="835025"/>
            <a:ext cx="6024563" cy="4170363"/>
          </a:xfrm>
          <a:ln/>
        </p:spPr>
      </p:sp>
      <p:sp>
        <p:nvSpPr>
          <p:cNvPr id="565251" name="Rectangle 3">
            <a:extLst>
              <a:ext uri="{FF2B5EF4-FFF2-40B4-BE49-F238E27FC236}">
                <a16:creationId xmlns:a16="http://schemas.microsoft.com/office/drawing/2014/main" id="{04F025D3-933F-14ED-561F-6C7F368BC00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Cast kiểu tham chiếu </a:t>
            </a:r>
            <a:r>
              <a:rPr lang="ja-JP" altLang="en-US">
                <a:latin typeface="Arial" panose="020B0604020202020204" pitchFamily="34" charset="0"/>
              </a:rPr>
              <a:t>（</a:t>
            </a:r>
            <a:r>
              <a:rPr lang="en-US" altLang="ja-JP">
                <a:latin typeface="Arial" panose="020B0604020202020204" pitchFamily="34" charset="0"/>
              </a:rPr>
              <a:t>sub-class⇒super class</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Trong trường hợp có quan hệ kế thừa thì có thể convert kiểu (cast) không điều kiện từ sub-class thành super class.</a:t>
            </a:r>
          </a:p>
          <a:p>
            <a:pPr marL="0" indent="0"/>
            <a:r>
              <a:rPr lang="ja-JP" altLang="en-US">
                <a:latin typeface="Arial" panose="020B0604020202020204" pitchFamily="34" charset="0"/>
              </a:rPr>
              <a:t>　</a:t>
            </a:r>
            <a:r>
              <a:rPr lang="en-US" altLang="ja-JP">
                <a:latin typeface="Arial" panose="020B0604020202020204" pitchFamily="34" charset="0"/>
              </a:rPr>
              <a:t>Dù không chỉ định toán tử cast, thì việc convert ngầm cũng sẽ được tiến hành.</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Ví dụ, trường hợp tạo Sales class kế thừa Employee class thì có thể gán việc tham chiếu object của Sales class vào biến số lấy </a:t>
            </a:r>
            <a:r>
              <a:rPr lang="en-US" altLang="en-US">
                <a:latin typeface="Arial" panose="020B0604020202020204" pitchFamily="34" charset="0"/>
              </a:rPr>
              <a:t>Employee làm kiểu data một cách </a:t>
            </a:r>
            <a:r>
              <a:rPr lang="en-US" altLang="ja-JP">
                <a:latin typeface="Arial" panose="020B0604020202020204" pitchFamily="34" charset="0"/>
              </a:rPr>
              <a:t>vô điều kiện </a:t>
            </a:r>
            <a:r>
              <a:rPr lang="en-US" altLang="en-US">
                <a:latin typeface="Arial" panose="020B0604020202020204" pitchFamily="34" charset="0"/>
              </a:rPr>
              <a:t>.</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Ví dụ</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ea typeface="ＭＳ ゴシック" panose="020B0609070205080204" pitchFamily="49" charset="-128"/>
              </a:rPr>
              <a:t>Sales sa = new Sales();</a:t>
            </a:r>
          </a:p>
          <a:p>
            <a:pPr marL="0" indent="0"/>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Employee emp = sa;</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 Employee emp = (Employee)sa; </a:t>
            </a:r>
            <a:r>
              <a:rPr lang="ja-JP" altLang="en-US">
                <a:latin typeface="Arial" panose="020B0604020202020204" pitchFamily="34" charset="0"/>
                <a:ea typeface="ＭＳ ゴシック" panose="020B0609070205080204" pitchFamily="49" charset="-128"/>
              </a:rPr>
              <a:t>　</a:t>
            </a:r>
            <a:r>
              <a:rPr lang="en-US" altLang="ja-JP">
                <a:latin typeface="Arial" panose="020B0604020202020204" pitchFamily="34" charset="0"/>
                <a:ea typeface="ＭＳ ゴシック" panose="020B0609070205080204" pitchFamily="49" charset="-128"/>
              </a:rPr>
              <a:t>cũng tương tự</a:t>
            </a:r>
          </a:p>
          <a:p>
            <a:pPr marL="0" indent="0"/>
            <a:endParaRPr lang="en-US" altLang="ja-JP">
              <a:latin typeface="Arial" panose="020B0604020202020204" pitchFamily="34" charset="0"/>
              <a:ea typeface="ＭＳ ゴシック" panose="020B0609070205080204" pitchFamily="49" charset="-128"/>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Những điểm chú ý trong trường hợp đã gán việc tham chiếu object của sub-class vào biến lấy super class làm kiểu data</a:t>
            </a:r>
          </a:p>
          <a:p>
            <a:pPr marL="0" indent="0"/>
            <a:r>
              <a:rPr lang="ja-JP" altLang="en-US">
                <a:latin typeface="Arial" panose="020B0604020202020204" pitchFamily="34" charset="0"/>
              </a:rPr>
              <a:t>　</a:t>
            </a:r>
            <a:r>
              <a:rPr lang="en-US" altLang="ja-JP">
                <a:latin typeface="Arial" panose="020B0604020202020204" pitchFamily="34" charset="0"/>
              </a:rPr>
              <a:t>Trường hợp đã gán việc tham chiếu object của sub-class vào biến lấy super class làm kiểu data, thì phần có thể sử dụng biến số đó để access chỉ là tính chất (thuộc tính</a:t>
            </a:r>
            <a:r>
              <a:rPr lang="ja-JP" altLang="en-US">
                <a:latin typeface="Arial" panose="020B0604020202020204" pitchFamily="34" charset="0"/>
              </a:rPr>
              <a:t>・</a:t>
            </a:r>
            <a:r>
              <a:rPr lang="en-US" altLang="ja-JP">
                <a:latin typeface="Arial" panose="020B0604020202020204" pitchFamily="34" charset="0"/>
              </a:rPr>
              <a:t>thao tác) đã kế thừa từ super class.</a:t>
            </a:r>
          </a:p>
          <a:p>
            <a:pPr marL="0" indent="0"/>
            <a:r>
              <a:rPr lang="ja-JP" altLang="en-US">
                <a:latin typeface="Arial" panose="020B0604020202020204" pitchFamily="34" charset="0"/>
              </a:rPr>
              <a:t>　</a:t>
            </a:r>
            <a:r>
              <a:rPr lang="en-US" altLang="ja-JP">
                <a:latin typeface="Arial" panose="020B0604020202020204" pitchFamily="34" charset="0"/>
              </a:rPr>
              <a:t>Không thể access được vào tính chất (thuộc tính</a:t>
            </a:r>
            <a:r>
              <a:rPr lang="ja-JP" altLang="en-US">
                <a:latin typeface="Arial" panose="020B0604020202020204" pitchFamily="34" charset="0"/>
              </a:rPr>
              <a:t>・</a:t>
            </a:r>
            <a:r>
              <a:rPr lang="en-US" altLang="ja-JP">
                <a:latin typeface="Arial" panose="020B0604020202020204" pitchFamily="34" charset="0"/>
              </a:rPr>
              <a:t>thao tác) đã định nghĩa độc lập trong Sales class.</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565252" name="Text Box 4">
            <a:extLst>
              <a:ext uri="{FF2B5EF4-FFF2-40B4-BE49-F238E27FC236}">
                <a16:creationId xmlns:a16="http://schemas.microsoft.com/office/drawing/2014/main" id="{D5E6A563-FAA4-32D2-EE9B-16113F7DF4CA}"/>
              </a:ext>
            </a:extLst>
          </p:cNvPr>
          <p:cNvSpPr txBox="1">
            <a:spLocks noChangeArrowheads="1"/>
          </p:cNvSpPr>
          <p:nvPr/>
        </p:nvSpPr>
        <p:spPr bwMode="auto">
          <a:xfrm>
            <a:off x="638175" y="8609013"/>
            <a:ext cx="5808663" cy="9271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8296" tIns="116502" rIns="368296" bIns="116502">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t>Cast kiểu tham chiếu </a:t>
            </a:r>
            <a:r>
              <a:rPr lang="ja-JP" altLang="en-US"/>
              <a:t>（</a:t>
            </a:r>
            <a:r>
              <a:rPr lang="en-US" altLang="ja-JP"/>
              <a:t>sub-class⇒super class</a:t>
            </a:r>
            <a:r>
              <a:rPr lang="ja-JP" altLang="en-US"/>
              <a:t>）</a:t>
            </a:r>
          </a:p>
          <a:p>
            <a:pPr>
              <a:lnSpc>
                <a:spcPct val="50000"/>
              </a:lnSpc>
            </a:pPr>
            <a:endParaRPr lang="ja-JP" altLang="en-US" b="0"/>
          </a:p>
          <a:p>
            <a:r>
              <a:rPr lang="ja-JP" altLang="en-US" b="0"/>
              <a:t>　</a:t>
            </a:r>
            <a:r>
              <a:rPr lang="en-US" altLang="ja-JP" b="0"/>
              <a:t>Có thể gán việc tham chiếu object của sub-class không điều kiện vào biến lấy super class làm kiểu data, nhưng trong trường hợp này, phầi có thể sử dụng biến đó để access chỉ là tính chất (thuộc tính</a:t>
            </a:r>
            <a:r>
              <a:rPr lang="ja-JP" altLang="en-US" b="0"/>
              <a:t>・</a:t>
            </a:r>
            <a:r>
              <a:rPr lang="en-US" altLang="ja-JP" b="0"/>
              <a:t>thao tác) đã kế thừa từ super class.</a:t>
            </a:r>
          </a:p>
        </p:txBody>
      </p:sp>
      <p:grpSp>
        <p:nvGrpSpPr>
          <p:cNvPr id="565253" name="Group 5">
            <a:extLst>
              <a:ext uri="{FF2B5EF4-FFF2-40B4-BE49-F238E27FC236}">
                <a16:creationId xmlns:a16="http://schemas.microsoft.com/office/drawing/2014/main" id="{5450B673-BDBD-8BCC-EC1F-5322E76A8D2B}"/>
              </a:ext>
            </a:extLst>
          </p:cNvPr>
          <p:cNvGrpSpPr>
            <a:grpSpLocks/>
          </p:cNvGrpSpPr>
          <p:nvPr/>
        </p:nvGrpSpPr>
        <p:grpSpPr bwMode="auto">
          <a:xfrm>
            <a:off x="647700" y="8334375"/>
            <a:ext cx="5811838" cy="301625"/>
            <a:chOff x="351" y="1572"/>
            <a:chExt cx="4968" cy="204"/>
          </a:xfrm>
        </p:grpSpPr>
        <p:pic>
          <p:nvPicPr>
            <p:cNvPr id="565254" name="Picture 6">
              <a:extLst>
                <a:ext uri="{FF2B5EF4-FFF2-40B4-BE49-F238E27FC236}">
                  <a16:creationId xmlns:a16="http://schemas.microsoft.com/office/drawing/2014/main" id="{EF524777-F8AB-7C4D-4E42-4C92F6E20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565255" name="Text Box 7">
              <a:extLst>
                <a:ext uri="{FF2B5EF4-FFF2-40B4-BE49-F238E27FC236}">
                  <a16:creationId xmlns:a16="http://schemas.microsoft.com/office/drawing/2014/main" id="{9F7F6A76-9CE8-D197-7A9F-8C3342BC2C16}"/>
                </a:ext>
              </a:extLst>
            </p:cNvPr>
            <p:cNvSpPr txBox="1">
              <a:spLocks noChangeArrowheads="1"/>
            </p:cNvSpPr>
            <p:nvPr/>
          </p:nvSpPr>
          <p:spPr bwMode="auto">
            <a:xfrm>
              <a:off x="517" y="1598"/>
              <a:ext cx="495"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57" tIns="47728" rIns="95457" bIns="47728">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Chú ý</a:t>
              </a:r>
            </a:p>
          </p:txBody>
        </p:sp>
      </p:gr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a:extLst>
              <a:ext uri="{FF2B5EF4-FFF2-40B4-BE49-F238E27FC236}">
                <a16:creationId xmlns:a16="http://schemas.microsoft.com/office/drawing/2014/main" id="{B67A7CDC-5D4F-2AB7-69F5-B95B5722829A}"/>
              </a:ext>
            </a:extLst>
          </p:cNvPr>
          <p:cNvSpPr>
            <a:spLocks noGrp="1" noRot="1" noChangeAspect="1" noChangeArrowheads="1" noTextEdit="1"/>
          </p:cNvSpPr>
          <p:nvPr>
            <p:ph type="sldImg"/>
          </p:nvPr>
        </p:nvSpPr>
        <p:spPr>
          <a:xfrm>
            <a:off x="519113" y="835025"/>
            <a:ext cx="6024562" cy="4170363"/>
          </a:xfrm>
          <a:ln/>
        </p:spPr>
      </p:sp>
      <p:sp>
        <p:nvSpPr>
          <p:cNvPr id="569347" name="Rectangle 3">
            <a:extLst>
              <a:ext uri="{FF2B5EF4-FFF2-40B4-BE49-F238E27FC236}">
                <a16:creationId xmlns:a16="http://schemas.microsoft.com/office/drawing/2014/main" id="{96AB018C-E36B-9FBE-EABE-A27CE427DF3A}"/>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Cast kiểu tham chiếu (super class⇒sub-class</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Về nguyên tắc không thể convert kiểu (cast) từ super class thành sub-class.</a:t>
            </a:r>
          </a:p>
          <a:p>
            <a:pPr marL="0" indent="0"/>
            <a:r>
              <a:rPr lang="ja-JP" altLang="en-US">
                <a:latin typeface="Arial" panose="020B0604020202020204" pitchFamily="34" charset="0"/>
              </a:rPr>
              <a:t>　</a:t>
            </a:r>
            <a:r>
              <a:rPr lang="en-US" altLang="ja-JP">
                <a:latin typeface="Arial" panose="020B0604020202020204" pitchFamily="34" charset="0"/>
              </a:rPr>
              <a:t>Nếu không sử dụng toán tử cast, rồi thử gán, thì sẽ bị compile error.</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dụ compile error</a:t>
            </a:r>
          </a:p>
          <a:p>
            <a:pPr marL="0" indent="0"/>
            <a:endParaRPr lang="en-US" altLang="ja-JP">
              <a:latin typeface="Arial" panose="020B0604020202020204" pitchFamily="34" charset="0"/>
            </a:endParaRPr>
          </a:p>
        </p:txBody>
      </p:sp>
      <p:sp>
        <p:nvSpPr>
          <p:cNvPr id="569348" name="Text Box 4">
            <a:extLst>
              <a:ext uri="{FF2B5EF4-FFF2-40B4-BE49-F238E27FC236}">
                <a16:creationId xmlns:a16="http://schemas.microsoft.com/office/drawing/2014/main" id="{B18CD153-616E-B0B7-FC1E-C4EB3B3E9EE9}"/>
              </a:ext>
            </a:extLst>
          </p:cNvPr>
          <p:cNvSpPr txBox="1">
            <a:spLocks noChangeArrowheads="1"/>
          </p:cNvSpPr>
          <p:nvPr/>
        </p:nvSpPr>
        <p:spPr bwMode="auto">
          <a:xfrm>
            <a:off x="615950" y="8809038"/>
            <a:ext cx="5808663" cy="9271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8296" tIns="116502" rIns="368296" bIns="116502">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t>Cast kiểu tham chiếu</a:t>
            </a:r>
            <a:r>
              <a:rPr lang="ja-JP" altLang="en-US"/>
              <a:t>（</a:t>
            </a:r>
            <a:r>
              <a:rPr lang="en-US" altLang="ja-JP"/>
              <a:t>super class⇒sub-class</a:t>
            </a:r>
            <a:r>
              <a:rPr lang="ja-JP" altLang="en-US"/>
              <a:t>）　← </a:t>
            </a:r>
            <a:r>
              <a:rPr lang="en-US" altLang="ja-JP"/>
              <a:t>không thể convert ngầm</a:t>
            </a:r>
          </a:p>
          <a:p>
            <a:pPr>
              <a:lnSpc>
                <a:spcPct val="50000"/>
              </a:lnSpc>
            </a:pPr>
            <a:endParaRPr lang="en-US" altLang="ja-JP" b="0"/>
          </a:p>
          <a:p>
            <a:r>
              <a:rPr lang="ja-JP" altLang="en-US" b="0"/>
              <a:t>　</a:t>
            </a:r>
            <a:r>
              <a:rPr lang="en-US" altLang="ja-JP" b="0"/>
              <a:t>Về nguyên tắc không thể gán việc tham chiếu object của super class vào biến lấy sub-class làm kiểu data.</a:t>
            </a:r>
          </a:p>
          <a:p>
            <a:r>
              <a:rPr lang="ja-JP" altLang="en-US" b="0"/>
              <a:t>　</a:t>
            </a:r>
          </a:p>
        </p:txBody>
      </p:sp>
      <p:grpSp>
        <p:nvGrpSpPr>
          <p:cNvPr id="569349" name="Group 5">
            <a:extLst>
              <a:ext uri="{FF2B5EF4-FFF2-40B4-BE49-F238E27FC236}">
                <a16:creationId xmlns:a16="http://schemas.microsoft.com/office/drawing/2014/main" id="{524C891D-BFD2-C3E8-344F-EC626F2CA089}"/>
              </a:ext>
            </a:extLst>
          </p:cNvPr>
          <p:cNvGrpSpPr>
            <a:grpSpLocks/>
          </p:cNvGrpSpPr>
          <p:nvPr/>
        </p:nvGrpSpPr>
        <p:grpSpPr bwMode="auto">
          <a:xfrm>
            <a:off x="612775" y="8543925"/>
            <a:ext cx="5811838" cy="301625"/>
            <a:chOff x="351" y="1572"/>
            <a:chExt cx="4968" cy="204"/>
          </a:xfrm>
        </p:grpSpPr>
        <p:pic>
          <p:nvPicPr>
            <p:cNvPr id="569350" name="Picture 6">
              <a:extLst>
                <a:ext uri="{FF2B5EF4-FFF2-40B4-BE49-F238E27FC236}">
                  <a16:creationId xmlns:a16="http://schemas.microsoft.com/office/drawing/2014/main" id="{18B79F29-0482-69E9-235E-6FB2E622F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569351" name="Text Box 7">
              <a:extLst>
                <a:ext uri="{FF2B5EF4-FFF2-40B4-BE49-F238E27FC236}">
                  <a16:creationId xmlns:a16="http://schemas.microsoft.com/office/drawing/2014/main" id="{6B87E038-5546-B52E-C4BD-16D77EE543FE}"/>
                </a:ext>
              </a:extLst>
            </p:cNvPr>
            <p:cNvSpPr txBox="1">
              <a:spLocks noChangeArrowheads="1"/>
            </p:cNvSpPr>
            <p:nvPr/>
          </p:nvSpPr>
          <p:spPr bwMode="auto">
            <a:xfrm>
              <a:off x="517" y="1598"/>
              <a:ext cx="495"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57" tIns="47728" rIns="95457" bIns="47728">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Chú ý</a:t>
              </a:r>
            </a:p>
          </p:txBody>
        </p:sp>
      </p:grpSp>
      <p:sp>
        <p:nvSpPr>
          <p:cNvPr id="569352" name="Text Box 8">
            <a:extLst>
              <a:ext uri="{FF2B5EF4-FFF2-40B4-BE49-F238E27FC236}">
                <a16:creationId xmlns:a16="http://schemas.microsoft.com/office/drawing/2014/main" id="{FDC9B92D-85A9-863D-6DC1-11B407A1CB43}"/>
              </a:ext>
            </a:extLst>
          </p:cNvPr>
          <p:cNvSpPr txBox="1">
            <a:spLocks noChangeArrowheads="1"/>
          </p:cNvSpPr>
          <p:nvPr/>
        </p:nvSpPr>
        <p:spPr bwMode="auto">
          <a:xfrm>
            <a:off x="638175" y="7186613"/>
            <a:ext cx="5808663" cy="11620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&gt; javac ExCast02.java</a:t>
            </a:r>
          </a:p>
          <a:p>
            <a:pPr lvl="1" algn="just"/>
            <a:r>
              <a:rPr lang="ja-JP" altLang="ja-JP" b="0">
                <a:ea typeface="ＭＳ ゴシック" panose="020B0609070205080204" pitchFamily="49" charset="-128"/>
              </a:rPr>
              <a:t>ExCast02.java:○: </a:t>
            </a:r>
            <a:r>
              <a:rPr lang="en-US" altLang="ja-JP" b="0">
                <a:ea typeface="ＭＳ ゴシック" panose="020B0609070205080204" pitchFamily="49" charset="-128"/>
              </a:rPr>
              <a:t>kiểu không có tính tương thích</a:t>
            </a:r>
            <a:endParaRPr lang="ja-JP" altLang="ja-JP" b="0">
              <a:ea typeface="ＭＳ ゴシック" panose="020B0609070205080204" pitchFamily="49" charset="-128"/>
            </a:endParaRPr>
          </a:p>
          <a:p>
            <a:pPr lvl="1" algn="just"/>
            <a:r>
              <a:rPr lang="en-US" altLang="ja-JP" b="0">
                <a:ea typeface="ＭＳ ゴシック" panose="020B0609070205080204" pitchFamily="49" charset="-128"/>
              </a:rPr>
              <a:t>Giá trị tìm ra</a:t>
            </a:r>
            <a:r>
              <a:rPr lang="ja-JP" altLang="ja-JP" b="0">
                <a:ea typeface="ＭＳ ゴシック" panose="020B0609070205080204" pitchFamily="49" charset="-128"/>
              </a:rPr>
              <a:t>  : Employee</a:t>
            </a:r>
          </a:p>
          <a:p>
            <a:pPr lvl="1" algn="just"/>
            <a:r>
              <a:rPr lang="en-US" altLang="ja-JP" b="0">
                <a:ea typeface="ＭＳ ゴシック" panose="020B0609070205080204" pitchFamily="49" charset="-128"/>
              </a:rPr>
              <a:t>Giá trị mong đợi</a:t>
            </a:r>
            <a:r>
              <a:rPr lang="ja-JP" altLang="ja-JP" b="0">
                <a:ea typeface="ＭＳ ゴシック" panose="020B0609070205080204" pitchFamily="49" charset="-128"/>
              </a:rPr>
              <a:t>  : Sales</a:t>
            </a:r>
          </a:p>
          <a:p>
            <a:pPr lvl="1" algn="just"/>
            <a:r>
              <a:rPr lang="ja-JP" altLang="ja-JP" b="0">
                <a:ea typeface="ＭＳ ゴシック" panose="020B0609070205080204" pitchFamily="49" charset="-128"/>
              </a:rPr>
              <a:t>                Sales sa = emp;       //  </a:t>
            </a:r>
            <a:r>
              <a:rPr lang="en-US" altLang="ja-JP" b="0">
                <a:ea typeface="ＭＳ ゴシック" panose="020B0609070205080204" pitchFamily="49" charset="-128"/>
              </a:rPr>
              <a:t>compile error</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                           ^</a:t>
            </a:r>
          </a:p>
          <a:p>
            <a:pPr lvl="1" algn="just"/>
            <a:r>
              <a:rPr lang="en-US" altLang="ja-JP" b="0">
                <a:ea typeface="ＭＳ ゴシック" panose="020B0609070205080204" pitchFamily="49" charset="-128"/>
              </a:rPr>
              <a:t>1 error</a:t>
            </a:r>
            <a:endParaRPr lang="ja-JP" altLang="ja-JP" b="0">
              <a:ea typeface="ＭＳ ゴシック" panose="020B0609070205080204" pitchFamily="49" charset="-128"/>
            </a:endParaRPr>
          </a:p>
        </p:txBody>
      </p:sp>
      <p:sp>
        <p:nvSpPr>
          <p:cNvPr id="569353" name="Text Box 9">
            <a:extLst>
              <a:ext uri="{FF2B5EF4-FFF2-40B4-BE49-F238E27FC236}">
                <a16:creationId xmlns:a16="http://schemas.microsoft.com/office/drawing/2014/main" id="{2177BD21-A83A-F4CE-F7BB-A99941070948}"/>
              </a:ext>
            </a:extLst>
          </p:cNvPr>
          <p:cNvSpPr txBox="1">
            <a:spLocks noChangeArrowheads="1"/>
          </p:cNvSpPr>
          <p:nvPr/>
        </p:nvSpPr>
        <p:spPr bwMode="auto">
          <a:xfrm>
            <a:off x="638175" y="5822950"/>
            <a:ext cx="5808663" cy="9525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 </a:t>
            </a:r>
            <a:r>
              <a:rPr lang="en-US" altLang="ja-JP" b="0">
                <a:ea typeface="ＭＳ ゴシック" panose="020B0609070205080204" pitchFamily="49" charset="-128"/>
              </a:rPr>
              <a:t>generate object của super class</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Employee emp = new Employee();</a:t>
            </a:r>
            <a:endParaRPr lang="en-US" altLang="ja-JP" b="0">
              <a:ea typeface="ＭＳ ゴシック" panose="020B0609070205080204" pitchFamily="49" charset="-128"/>
            </a:endParaRPr>
          </a:p>
          <a:p>
            <a:pPr lvl="1" algn="just"/>
            <a:endParaRPr lang="en-US" altLang="ja-JP" b="0">
              <a:ea typeface="ＭＳ ゴシック" panose="020B0609070205080204" pitchFamily="49" charset="-128"/>
            </a:endParaRPr>
          </a:p>
          <a:p>
            <a:pPr lvl="1" algn="just"/>
            <a:r>
              <a:rPr lang="ja-JP" altLang="ja-JP" b="0">
                <a:ea typeface="ＭＳ ゴシック" panose="020B0609070205080204" pitchFamily="49" charset="-128"/>
              </a:rPr>
              <a:t>//  </a:t>
            </a:r>
            <a:r>
              <a:rPr lang="en-US" altLang="ja-JP" b="0">
                <a:ea typeface="ＭＳ ゴシック" panose="020B0609070205080204" pitchFamily="49" charset="-128"/>
              </a:rPr>
              <a:t>gán việc tham chiếu object của super class vào biến lấy sub-class làm kiểu data</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Sales sa = emp;       //  </a:t>
            </a:r>
            <a:r>
              <a:rPr lang="en-US" altLang="ja-JP" b="0">
                <a:ea typeface="ＭＳ ゴシック" panose="020B0609070205080204" pitchFamily="49" charset="-128"/>
              </a:rPr>
              <a:t>compile error</a:t>
            </a:r>
            <a:endParaRPr lang="ja-JP" altLang="ja-JP" b="0">
              <a:ea typeface="ＭＳ ゴシック" panose="020B0609070205080204" pitchFamily="49"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a:extLst>
              <a:ext uri="{FF2B5EF4-FFF2-40B4-BE49-F238E27FC236}">
                <a16:creationId xmlns:a16="http://schemas.microsoft.com/office/drawing/2014/main" id="{559FF195-4752-AAC0-DEBD-8331F7FB1288}"/>
              </a:ext>
            </a:extLst>
          </p:cNvPr>
          <p:cNvSpPr>
            <a:spLocks noGrp="1" noRot="1" noChangeAspect="1" noChangeArrowheads="1" noTextEdit="1"/>
          </p:cNvSpPr>
          <p:nvPr>
            <p:ph type="sldImg"/>
          </p:nvPr>
        </p:nvSpPr>
        <p:spPr>
          <a:xfrm>
            <a:off x="530225" y="835025"/>
            <a:ext cx="6024563" cy="4170363"/>
          </a:xfrm>
          <a:ln/>
        </p:spPr>
      </p:sp>
      <p:sp>
        <p:nvSpPr>
          <p:cNvPr id="575491" name="Rectangle 3">
            <a:extLst>
              <a:ext uri="{FF2B5EF4-FFF2-40B4-BE49-F238E27FC236}">
                <a16:creationId xmlns:a16="http://schemas.microsoft.com/office/drawing/2014/main" id="{240988D7-5045-23A3-94A6-8288A724428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Cast kiểu tham chiếu (sub-class⇒super class⇒sub-class</a:t>
            </a:r>
            <a:r>
              <a:rPr lang="ja-JP" altLang="en-US">
                <a:latin typeface="Arial" panose="020B0604020202020204" pitchFamily="34" charset="0"/>
              </a:rPr>
              <a:t>）</a:t>
            </a:r>
          </a:p>
          <a:p>
            <a:pPr marL="0" indent="0"/>
            <a:r>
              <a:rPr lang="ja-JP" altLang="en-US">
                <a:latin typeface="Arial" panose="020B0604020202020204" pitchFamily="34" charset="0"/>
              </a:rPr>
              <a:t>　</a:t>
            </a:r>
            <a:r>
              <a:rPr lang="en-US" altLang="ja-JP">
                <a:latin typeface="Arial" panose="020B0604020202020204" pitchFamily="34" charset="0"/>
              </a:rPr>
              <a:t>Có thể gán 1 lần nữa việc tham chiếu object của sub-class mà đã gán tạm thời vào biến lấy super class làm kiểu data cho biến lấy sub-class làm kiểu data.</a:t>
            </a:r>
          </a:p>
          <a:p>
            <a:pPr marL="0" indent="0"/>
            <a:r>
              <a:rPr lang="ja-JP" altLang="en-US">
                <a:latin typeface="Arial" panose="020B0604020202020204" pitchFamily="34" charset="0"/>
              </a:rPr>
              <a:t>　</a:t>
            </a:r>
            <a:r>
              <a:rPr lang="en-US" altLang="ja-JP">
                <a:latin typeface="Arial" panose="020B0604020202020204" pitchFamily="34" charset="0"/>
              </a:rPr>
              <a:t>Trong trường hợp này cần phải convert kiểu (cast) tường minh.</a:t>
            </a:r>
          </a:p>
          <a:p>
            <a:pPr marL="0" indent="0"/>
            <a:r>
              <a:rPr lang="ja-JP" altLang="en-US">
                <a:latin typeface="Arial" panose="020B0604020202020204" pitchFamily="34" charset="0"/>
              </a:rPr>
              <a:t>　</a:t>
            </a:r>
          </a:p>
          <a:p>
            <a:pPr marL="0" indent="0"/>
            <a:r>
              <a:rPr lang="en-US" altLang="ja-JP">
                <a:latin typeface="Arial" panose="020B0604020202020204" pitchFamily="34" charset="0"/>
              </a:rPr>
              <a:t>Ví dụ</a:t>
            </a:r>
            <a:r>
              <a:rPr lang="ja-JP" altLang="en-US">
                <a:latin typeface="Arial" panose="020B0604020202020204" pitchFamily="34" charset="0"/>
              </a:rPr>
              <a:t>） </a:t>
            </a:r>
            <a:r>
              <a:rPr lang="en-US" altLang="ja-JP">
                <a:latin typeface="Arial" panose="020B0604020202020204" pitchFamily="34" charset="0"/>
              </a:rPr>
              <a:t>Trường hợp Sales class đang kế thừa Employee class</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dụ program (trích dẫn)</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Ví dụ thực thi</a:t>
            </a:r>
          </a:p>
        </p:txBody>
      </p:sp>
      <p:sp>
        <p:nvSpPr>
          <p:cNvPr id="575496" name="Text Box 8">
            <a:extLst>
              <a:ext uri="{FF2B5EF4-FFF2-40B4-BE49-F238E27FC236}">
                <a16:creationId xmlns:a16="http://schemas.microsoft.com/office/drawing/2014/main" id="{8C701544-9F5D-50CD-D225-04EB73428E24}"/>
              </a:ext>
            </a:extLst>
          </p:cNvPr>
          <p:cNvSpPr txBox="1">
            <a:spLocks noChangeArrowheads="1"/>
          </p:cNvSpPr>
          <p:nvPr/>
        </p:nvSpPr>
        <p:spPr bwMode="auto">
          <a:xfrm>
            <a:off x="638175" y="9132888"/>
            <a:ext cx="5808663" cy="617537"/>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&gt; java  ExCast03</a:t>
            </a:r>
          </a:p>
          <a:p>
            <a:pPr lvl="1" algn="just"/>
            <a:r>
              <a:rPr lang="ja-JP" altLang="ja-JP" b="0">
                <a:ea typeface="ＭＳ ゴシック" panose="020B0609070205080204" pitchFamily="49" charset="-128"/>
              </a:rPr>
              <a:t>empName:田中花子</a:t>
            </a:r>
          </a:p>
          <a:p>
            <a:pPr lvl="1" algn="just"/>
            <a:r>
              <a:rPr lang="ja-JP" altLang="ja-JP" b="0">
                <a:ea typeface="ＭＳ ゴシック" panose="020B0609070205080204" pitchFamily="49" charset="-128"/>
              </a:rPr>
              <a:t>customerCount:5</a:t>
            </a:r>
          </a:p>
        </p:txBody>
      </p:sp>
      <p:sp>
        <p:nvSpPr>
          <p:cNvPr id="575497" name="Text Box 9">
            <a:extLst>
              <a:ext uri="{FF2B5EF4-FFF2-40B4-BE49-F238E27FC236}">
                <a16:creationId xmlns:a16="http://schemas.microsoft.com/office/drawing/2014/main" id="{6FD19721-9E3C-04D5-472C-3F20C9D80B8B}"/>
              </a:ext>
            </a:extLst>
          </p:cNvPr>
          <p:cNvSpPr txBox="1">
            <a:spLocks noChangeArrowheads="1"/>
          </p:cNvSpPr>
          <p:nvPr/>
        </p:nvSpPr>
        <p:spPr bwMode="auto">
          <a:xfrm>
            <a:off x="638175" y="6602413"/>
            <a:ext cx="5780088" cy="21653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a:solidFill>
                  <a:schemeClr val="tx1"/>
                </a:solidFill>
                <a:latin typeface="Arial" panose="020B0604020202020204" pitchFamily="34" charset="0"/>
                <a:ea typeface="ＭＳ Ｐゴシック" panose="020B0600070205080204" pitchFamily="50" charset="-128"/>
              </a:defRPr>
            </a:lvl1pPr>
            <a:lvl2pPr marL="530225" indent="-342900" defTabSz="231775">
              <a:defRPr kumimoji="1">
                <a:solidFill>
                  <a:schemeClr val="tx1"/>
                </a:solidFill>
                <a:latin typeface="Arial" panose="020B0604020202020204" pitchFamily="34" charset="0"/>
                <a:ea typeface="ＭＳ Ｐゴシック" panose="020B0600070205080204" pitchFamily="50" charset="-128"/>
              </a:defRPr>
            </a:lvl2pPr>
            <a:lvl3pPr marL="1295400" indent="-341313" defTabSz="231775">
              <a:defRPr kumimoji="1">
                <a:solidFill>
                  <a:schemeClr val="tx1"/>
                </a:solidFill>
                <a:latin typeface="Arial" panose="020B0604020202020204" pitchFamily="34" charset="0"/>
                <a:ea typeface="ＭＳ Ｐゴシック" panose="020B0600070205080204" pitchFamily="50" charset="-128"/>
              </a:defRPr>
            </a:lvl3pPr>
            <a:lvl4pPr marL="1774825" indent="-342900" defTabSz="231775">
              <a:defRPr kumimoji="1">
                <a:solidFill>
                  <a:schemeClr val="tx1"/>
                </a:solidFill>
                <a:latin typeface="Arial" panose="020B0604020202020204" pitchFamily="34" charset="0"/>
                <a:ea typeface="ＭＳ Ｐゴシック" panose="020B0600070205080204" pitchFamily="50" charset="-128"/>
              </a:defRPr>
            </a:lvl4pPr>
            <a:lvl5pPr marL="2252663" indent="-342900" defTabSz="231775">
              <a:defRPr kumimoji="1">
                <a:solidFill>
                  <a:schemeClr val="tx1"/>
                </a:solidFill>
                <a:latin typeface="Arial" panose="020B0604020202020204" pitchFamily="34" charset="0"/>
                <a:ea typeface="ＭＳ Ｐゴシック" panose="020B0600070205080204" pitchFamily="50" charset="-128"/>
              </a:defRPr>
            </a:lvl5pPr>
            <a:lvl6pPr marL="27098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2317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  </a:t>
            </a:r>
            <a:r>
              <a:rPr lang="en-US" altLang="ja-JP" b="0">
                <a:ea typeface="ＭＳ ゴシック" panose="020B0609070205080204" pitchFamily="49" charset="-128"/>
              </a:rPr>
              <a:t>generate object của sub-class</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Sales sa = new Sales("987654",</a:t>
            </a:r>
            <a:r>
              <a:rPr lang="en-US" altLang="ja-JP" b="0">
                <a:ea typeface="ＭＳ ゴシック" panose="020B0609070205080204" pitchFamily="49" charset="-128"/>
              </a:rPr>
              <a:t> </a:t>
            </a:r>
            <a:r>
              <a:rPr lang="ja-JP" altLang="ja-JP" b="0">
                <a:ea typeface="ＭＳ ゴシック" panose="020B0609070205080204" pitchFamily="49" charset="-128"/>
              </a:rPr>
              <a:t>"田中花子",</a:t>
            </a:r>
            <a:r>
              <a:rPr lang="en-US" altLang="ja-JP" b="0">
                <a:ea typeface="ＭＳ ゴシック" panose="020B0609070205080204" pitchFamily="49" charset="-128"/>
              </a:rPr>
              <a:t> </a:t>
            </a:r>
            <a:r>
              <a:rPr lang="ja-JP" altLang="ja-JP" b="0">
                <a:ea typeface="ＭＳ ゴシック" panose="020B0609070205080204" pitchFamily="49" charset="-128"/>
              </a:rPr>
              <a:t>5);</a:t>
            </a:r>
          </a:p>
          <a:p>
            <a:pPr lvl="1" algn="just"/>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  </a:t>
            </a:r>
            <a:r>
              <a:rPr lang="en-US" altLang="ja-JP" b="0">
                <a:ea typeface="ＭＳ ゴシック" panose="020B0609070205080204" pitchFamily="49" charset="-128"/>
              </a:rPr>
              <a:t>có thể gán việc tham chiếu object của sub-class vào biến lấy super class làm kiểu data</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Employee emp = sa;  // </a:t>
            </a:r>
            <a:r>
              <a:rPr lang="en-US" altLang="ja-JP" b="0">
                <a:ea typeface="ＭＳ ゴシック" panose="020B0609070205080204" pitchFamily="49" charset="-128"/>
              </a:rPr>
              <a:t>giống với </a:t>
            </a:r>
            <a:r>
              <a:rPr lang="ja-JP" altLang="ja-JP" b="0">
                <a:ea typeface="ＭＳ ゴシック" panose="020B0609070205080204" pitchFamily="49" charset="-128"/>
              </a:rPr>
              <a:t>Employee emp = (Employee)sa; </a:t>
            </a:r>
          </a:p>
          <a:p>
            <a:pPr lvl="1" algn="just"/>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  </a:t>
            </a:r>
            <a:r>
              <a:rPr lang="en-US" altLang="ja-JP" b="0">
                <a:ea typeface="ＭＳ ゴシック" panose="020B0609070205080204" pitchFamily="49" charset="-128"/>
              </a:rPr>
              <a:t>có thể gán việc tham chiếu object của sub-class có trong biến số lấy super class làm kiểu data</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  </a:t>
            </a:r>
            <a:r>
              <a:rPr lang="en-US" altLang="ja-JP" b="0">
                <a:ea typeface="ＭＳ ゴシック" panose="020B0609070205080204" pitchFamily="49" charset="-128"/>
              </a:rPr>
              <a:t>vào biến số lấy sub-class làm kiểu data</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Sales sa2 = (Sales)emp;  	//  </a:t>
            </a:r>
            <a:r>
              <a:rPr lang="en-US" altLang="ja-JP" b="0">
                <a:ea typeface="ＭＳ ゴシック" panose="020B0609070205080204" pitchFamily="49" charset="-128"/>
              </a:rPr>
              <a:t>cần convert kiểu (cast) tường minh</a:t>
            </a:r>
            <a:endParaRPr lang="ja-JP" altLang="ja-JP" b="0">
              <a:ea typeface="ＭＳ ゴシック" panose="020B0609070205080204" pitchFamily="49" charset="-128"/>
            </a:endParaRPr>
          </a:p>
          <a:p>
            <a:pPr lvl="1" algn="just"/>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 </a:t>
            </a:r>
            <a:r>
              <a:rPr lang="en-US" altLang="ja-JP" b="0">
                <a:ea typeface="ＭＳ ゴシック" panose="020B0609070205080204" pitchFamily="49" charset="-128"/>
              </a:rPr>
              <a:t>access có sử dụng biến lấy sub-class làm kiểu data</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System.out.println(“empName:” + sa2.getEmpName());		    // </a:t>
            </a:r>
            <a:r>
              <a:rPr lang="en-US" altLang="ja-JP" b="0">
                <a:ea typeface="ＭＳ ゴシック" panose="020B0609070205080204" pitchFamily="49" charset="-128"/>
              </a:rPr>
              <a:t>method của super class</a:t>
            </a:r>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System.out.println("customerCount:" + sa2.getCount());	</a:t>
            </a:r>
            <a:r>
              <a:rPr lang="en-US" altLang="ja-JP" b="0">
                <a:ea typeface="ＭＳ ゴシック" panose="020B0609070205080204" pitchFamily="49" charset="-128"/>
              </a:rPr>
              <a:t>	</a:t>
            </a:r>
            <a:r>
              <a:rPr lang="ja-JP" altLang="ja-JP" b="0">
                <a:ea typeface="ＭＳ ゴシック" panose="020B0609070205080204" pitchFamily="49" charset="-128"/>
              </a:rPr>
              <a:t>// </a:t>
            </a:r>
            <a:r>
              <a:rPr lang="en-US" altLang="ja-JP" b="0">
                <a:ea typeface="MS UI Gothic" panose="020B0600070205080204" pitchFamily="50" charset="-128"/>
              </a:rPr>
              <a:t>method của sub class</a:t>
            </a:r>
            <a:endParaRPr lang="ja-JP" altLang="ja-JP" b="0">
              <a:ea typeface="ＭＳ ゴシック" panose="020B0609070205080204" pitchFamily="49" charset="-128"/>
            </a:endParaRPr>
          </a:p>
          <a:p>
            <a:pPr lvl="1" algn="just"/>
            <a:endParaRPr lang="ja-JP" altLang="ja-JP" b="0">
              <a:ea typeface="ＭＳ ゴシック" panose="020B0609070205080204" pitchFamily="49"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a:extLst>
              <a:ext uri="{FF2B5EF4-FFF2-40B4-BE49-F238E27FC236}">
                <a16:creationId xmlns:a16="http://schemas.microsoft.com/office/drawing/2014/main" id="{378E669E-5DDF-678B-498A-1D35CA68100D}"/>
              </a:ext>
            </a:extLst>
          </p:cNvPr>
          <p:cNvSpPr>
            <a:spLocks noGrp="1" noRot="1" noChangeAspect="1" noChangeArrowheads="1" noTextEdit="1"/>
          </p:cNvSpPr>
          <p:nvPr>
            <p:ph type="sldImg"/>
          </p:nvPr>
        </p:nvSpPr>
        <p:spPr>
          <a:xfrm>
            <a:off x="530225" y="835025"/>
            <a:ext cx="6024563" cy="4170363"/>
          </a:xfrm>
          <a:ln/>
        </p:spPr>
      </p:sp>
      <p:sp>
        <p:nvSpPr>
          <p:cNvPr id="581635" name="Rectangle 3">
            <a:extLst>
              <a:ext uri="{FF2B5EF4-FFF2-40B4-BE49-F238E27FC236}">
                <a16:creationId xmlns:a16="http://schemas.microsoft.com/office/drawing/2014/main" id="{18B8F684-06D0-73E3-9CCB-9AFC8732C14E}"/>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Polymorphism</a:t>
            </a:r>
          </a:p>
          <a:p>
            <a:pPr marL="0" indent="0"/>
            <a:r>
              <a:rPr lang="ja-JP" altLang="en-US" sz="900">
                <a:latin typeface="Arial" panose="020B0604020202020204" pitchFamily="34" charset="0"/>
              </a:rPr>
              <a:t>　</a:t>
            </a:r>
            <a:r>
              <a:rPr lang="en-US" altLang="ja-JP" sz="900">
                <a:latin typeface="Arial" panose="020B0604020202020204" pitchFamily="34" charset="0"/>
              </a:rPr>
              <a:t>Polymorphism là việc mà hoạt động của một object là đặc tính xác định dựa vào object đã tiếp nhận yêu cầu chứ không phải phía yêu cầu xử lý. </a:t>
            </a:r>
          </a:p>
          <a:p>
            <a:pPr marL="0" indent="0"/>
            <a:r>
              <a:rPr lang="ja-JP" altLang="en-US" sz="900">
                <a:latin typeface="Arial" panose="020B0604020202020204" pitchFamily="34" charset="0"/>
              </a:rPr>
              <a:t>　</a:t>
            </a:r>
            <a:r>
              <a:rPr lang="en-US" altLang="ja-JP" sz="900">
                <a:latin typeface="Arial" panose="020B0604020202020204" pitchFamily="34" charset="0"/>
              </a:rPr>
              <a:t>Trong polymorphism, không thể yêu cầu thao tác coi object của class đặc định là đối tượng mà sẽ có khả năng yêu cầu xử lý thống nhất coi nhiều object của những class đồng loại làm đối tượng. </a:t>
            </a:r>
          </a:p>
          <a:p>
            <a:pPr marL="0" indent="0"/>
            <a:endParaRPr lang="en-US" altLang="ja-JP" sz="900">
              <a:latin typeface="Arial" panose="020B0604020202020204" pitchFamily="34" charset="0"/>
            </a:endParaRPr>
          </a:p>
          <a:p>
            <a:pPr marL="0" indent="0"/>
            <a:r>
              <a:rPr lang="ja-JP" altLang="en-US" sz="900">
                <a:latin typeface="Arial" panose="020B0604020202020204" pitchFamily="34" charset="0"/>
              </a:rPr>
              <a:t>　</a:t>
            </a:r>
            <a:r>
              <a:rPr lang="en-US" altLang="ja-JP" sz="900">
                <a:latin typeface="Arial" panose="020B0604020202020204" pitchFamily="34" charset="0"/>
              </a:rPr>
              <a:t>Ví dụ, có 3 sub class kế thừa class nhân viên (SE, kinh doanh, kế hoạch).</a:t>
            </a:r>
          </a:p>
          <a:p>
            <a:pPr marL="0" indent="0"/>
            <a:r>
              <a:rPr lang="ja-JP" altLang="en-US" sz="900">
                <a:latin typeface="Arial" panose="020B0604020202020204" pitchFamily="34" charset="0"/>
              </a:rPr>
              <a:t>　</a:t>
            </a:r>
            <a:r>
              <a:rPr lang="en-US" altLang="ja-JP" sz="900">
                <a:latin typeface="Arial" panose="020B0604020202020204" pitchFamily="34" charset="0"/>
              </a:rPr>
              <a:t>Trong các class </a:t>
            </a:r>
            <a:r>
              <a:rPr lang="ja-JP" altLang="en-US" sz="900">
                <a:latin typeface="Arial" panose="020B0604020202020204" pitchFamily="34" charset="0"/>
              </a:rPr>
              <a:t>「</a:t>
            </a:r>
            <a:r>
              <a:rPr lang="en-US" altLang="ja-JP" sz="900">
                <a:latin typeface="Arial" panose="020B0604020202020204" pitchFamily="34" charset="0"/>
              </a:rPr>
              <a:t>Nhân viên</a:t>
            </a:r>
            <a:r>
              <a:rPr lang="ja-JP" altLang="en-US" sz="900">
                <a:latin typeface="Arial" panose="020B0604020202020204" pitchFamily="34" charset="0"/>
              </a:rPr>
              <a:t>」「</a:t>
            </a:r>
            <a:r>
              <a:rPr lang="en-US" altLang="ja-JP" sz="900">
                <a:latin typeface="Arial" panose="020B0604020202020204" pitchFamily="34" charset="0"/>
              </a:rPr>
              <a:t>SE</a:t>
            </a:r>
            <a:r>
              <a:rPr lang="ja-JP" altLang="en-US" sz="900">
                <a:latin typeface="Arial" panose="020B0604020202020204" pitchFamily="34" charset="0"/>
              </a:rPr>
              <a:t>」「</a:t>
            </a:r>
            <a:r>
              <a:rPr lang="en-US" altLang="ja-JP" sz="900">
                <a:latin typeface="Arial" panose="020B0604020202020204" pitchFamily="34" charset="0"/>
              </a:rPr>
              <a:t>Kinh doanh</a:t>
            </a:r>
            <a:r>
              <a:rPr lang="ja-JP" altLang="en-US" sz="900">
                <a:latin typeface="Arial" panose="020B0604020202020204" pitchFamily="34" charset="0"/>
              </a:rPr>
              <a:t>」「</a:t>
            </a:r>
            <a:r>
              <a:rPr lang="en-US" altLang="ja-JP" sz="900">
                <a:latin typeface="Arial" panose="020B0604020202020204" pitchFamily="34" charset="0"/>
              </a:rPr>
              <a:t>Kế hoạch</a:t>
            </a:r>
            <a:r>
              <a:rPr lang="ja-JP" altLang="en-US" sz="900">
                <a:latin typeface="Arial" panose="020B0604020202020204" pitchFamily="34" charset="0"/>
              </a:rPr>
              <a:t>」 </a:t>
            </a:r>
            <a:r>
              <a:rPr lang="en-US" altLang="ja-JP" sz="900">
                <a:latin typeface="Arial" panose="020B0604020202020204" pitchFamily="34" charset="0"/>
              </a:rPr>
              <a:t>đó, coi là đã có thao tác cùng tên là </a:t>
            </a:r>
            <a:r>
              <a:rPr lang="ja-JP" altLang="en-US" sz="900">
                <a:latin typeface="Arial" panose="020B0604020202020204" pitchFamily="34" charset="0"/>
              </a:rPr>
              <a:t>「</a:t>
            </a:r>
            <a:r>
              <a:rPr lang="en-US" altLang="ja-JP" sz="900">
                <a:latin typeface="Arial" panose="020B0604020202020204" pitchFamily="34" charset="0"/>
              </a:rPr>
              <a:t>Làm việc</a:t>
            </a:r>
            <a:r>
              <a:rPr lang="ja-JP" altLang="en-US" sz="900">
                <a:latin typeface="Arial" panose="020B0604020202020204" pitchFamily="34" charset="0"/>
              </a:rPr>
              <a:t>」</a:t>
            </a:r>
            <a:r>
              <a:rPr lang="en-US" altLang="ja-JP" sz="900">
                <a:latin typeface="Arial" panose="020B0604020202020204" pitchFamily="34" charset="0"/>
              </a:rPr>
              <a:t>.</a:t>
            </a:r>
          </a:p>
          <a:p>
            <a:pPr marL="0" indent="0"/>
            <a:r>
              <a:rPr lang="ja-JP" altLang="en-US" sz="900">
                <a:latin typeface="Arial" panose="020B0604020202020204" pitchFamily="34" charset="0"/>
              </a:rPr>
              <a:t>　</a:t>
            </a:r>
            <a:r>
              <a:rPr lang="en-US" altLang="ja-JP" sz="900">
                <a:latin typeface="Arial" panose="020B0604020202020204" pitchFamily="34" charset="0"/>
              </a:rPr>
              <a:t>Bây giờ, sẽ gửi message là </a:t>
            </a:r>
            <a:r>
              <a:rPr lang="ja-JP" altLang="en-US" sz="900">
                <a:latin typeface="Arial" panose="020B0604020202020204" pitchFamily="34" charset="0"/>
              </a:rPr>
              <a:t>「</a:t>
            </a:r>
            <a:r>
              <a:rPr lang="en-US" altLang="ja-JP" sz="900">
                <a:latin typeface="Arial" panose="020B0604020202020204" pitchFamily="34" charset="0"/>
              </a:rPr>
              <a:t>Hãy làm việc đi</a:t>
            </a:r>
            <a:r>
              <a:rPr lang="ja-JP" altLang="en-US" sz="900">
                <a:latin typeface="Arial" panose="020B0604020202020204" pitchFamily="34" charset="0"/>
              </a:rPr>
              <a:t>」 </a:t>
            </a:r>
            <a:r>
              <a:rPr lang="en-US" altLang="ja-JP" sz="900">
                <a:latin typeface="Arial" panose="020B0604020202020204" pitchFamily="34" charset="0"/>
              </a:rPr>
              <a:t>cho nhân viên từ công ty có nhiều loại nhân viên như là SE, kinh doanh v.v.. trong công ty. </a:t>
            </a:r>
          </a:p>
          <a:p>
            <a:pPr marL="0" indent="0"/>
            <a:r>
              <a:rPr lang="ja-JP" altLang="en-US" sz="900">
                <a:latin typeface="Arial" panose="020B0604020202020204" pitchFamily="34" charset="0"/>
              </a:rPr>
              <a:t>　</a:t>
            </a:r>
            <a:r>
              <a:rPr lang="en-US" altLang="ja-JP" sz="900">
                <a:latin typeface="Arial" panose="020B0604020202020204" pitchFamily="34" charset="0"/>
              </a:rPr>
              <a:t>Cho dù gửi cùng một message giống nhau là </a:t>
            </a:r>
            <a:r>
              <a:rPr lang="ja-JP" altLang="en-US" sz="900">
                <a:latin typeface="Arial" panose="020B0604020202020204" pitchFamily="34" charset="0"/>
              </a:rPr>
              <a:t>「</a:t>
            </a:r>
            <a:r>
              <a:rPr lang="en-US" altLang="ja-JP" sz="900">
                <a:latin typeface="Arial" panose="020B0604020202020204" pitchFamily="34" charset="0"/>
              </a:rPr>
              <a:t>Hãy làm việc đi</a:t>
            </a:r>
            <a:r>
              <a:rPr lang="ja-JP" altLang="en-US" sz="900">
                <a:latin typeface="Arial" panose="020B0604020202020204" pitchFamily="34" charset="0"/>
              </a:rPr>
              <a:t>」 </a:t>
            </a:r>
            <a:r>
              <a:rPr lang="en-US" altLang="ja-JP" sz="900">
                <a:latin typeface="Arial" panose="020B0604020202020204" pitchFamily="34" charset="0"/>
              </a:rPr>
              <a:t>nhưng mỗi object sẽ thực hiện hành vi của riêng mình: SE thì tạo system, kinh doanh thì bán hàng, kế hoạch thì lập kế hoạch bán hàng v.v.. </a:t>
            </a:r>
          </a:p>
          <a:p>
            <a:pPr marL="0" indent="0"/>
            <a:endParaRPr lang="en-US" altLang="ja-JP" sz="900">
              <a:latin typeface="Arial" panose="020B0604020202020204" pitchFamily="34" charset="0"/>
            </a:endParaRPr>
          </a:p>
          <a:p>
            <a:pPr marL="0" indent="0"/>
            <a:r>
              <a:rPr lang="ja-JP" altLang="en-US" sz="900">
                <a:latin typeface="Arial" panose="020B0604020202020204" pitchFamily="34" charset="0"/>
              </a:rPr>
              <a:t>　</a:t>
            </a:r>
            <a:r>
              <a:rPr lang="en-US" altLang="ja-JP" sz="900">
                <a:latin typeface="Arial" panose="020B0604020202020204" pitchFamily="34" charset="0"/>
              </a:rPr>
              <a:t>Polymorphism cũng có thể gọi là tính đa trạng thái, tính đa đối tượng, tính đa dạng v.v..</a:t>
            </a:r>
          </a:p>
          <a:p>
            <a:pPr marL="0" indent="0"/>
            <a:endParaRPr lang="en-US" altLang="ja-JP" sz="900">
              <a:latin typeface="Arial" panose="020B0604020202020204" pitchFamily="34" charset="0"/>
            </a:endParaRPr>
          </a:p>
        </p:txBody>
      </p:sp>
      <p:grpSp>
        <p:nvGrpSpPr>
          <p:cNvPr id="581659" name="Group 27">
            <a:extLst>
              <a:ext uri="{FF2B5EF4-FFF2-40B4-BE49-F238E27FC236}">
                <a16:creationId xmlns:a16="http://schemas.microsoft.com/office/drawing/2014/main" id="{CF421C57-83AB-1313-C2C1-F80EFFC2DAA9}"/>
              </a:ext>
            </a:extLst>
          </p:cNvPr>
          <p:cNvGrpSpPr>
            <a:grpSpLocks/>
          </p:cNvGrpSpPr>
          <p:nvPr/>
        </p:nvGrpSpPr>
        <p:grpSpPr bwMode="auto">
          <a:xfrm>
            <a:off x="638175" y="7559675"/>
            <a:ext cx="5953125" cy="2368550"/>
            <a:chOff x="402" y="4762"/>
            <a:chExt cx="3750" cy="1492"/>
          </a:xfrm>
        </p:grpSpPr>
        <p:pic>
          <p:nvPicPr>
            <p:cNvPr id="581640" name="Picture 8">
              <a:extLst>
                <a:ext uri="{FF2B5EF4-FFF2-40B4-BE49-F238E27FC236}">
                  <a16:creationId xmlns:a16="http://schemas.microsoft.com/office/drawing/2014/main" id="{E010683C-600E-5FBD-BB0D-BB686719A4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 y="5492"/>
              <a:ext cx="492" cy="384"/>
            </a:xfrm>
            <a:prstGeom prst="rect">
              <a:avLst/>
            </a:prstGeom>
            <a:noFill/>
            <a:extLst>
              <a:ext uri="{909E8E84-426E-40DD-AFC4-6F175D3DCCD1}">
                <a14:hiddenFill xmlns:a14="http://schemas.microsoft.com/office/drawing/2010/main">
                  <a:solidFill>
                    <a:srgbClr val="FFFFFF"/>
                  </a:solidFill>
                </a14:hiddenFill>
              </a:ext>
            </a:extLst>
          </p:spPr>
        </p:pic>
        <p:pic>
          <p:nvPicPr>
            <p:cNvPr id="581641" name="Picture 9">
              <a:extLst>
                <a:ext uri="{FF2B5EF4-FFF2-40B4-BE49-F238E27FC236}">
                  <a16:creationId xmlns:a16="http://schemas.microsoft.com/office/drawing/2014/main" id="{0F1BB201-E768-C4ED-1E9A-DA408743CD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0" y="5486"/>
              <a:ext cx="435" cy="343"/>
            </a:xfrm>
            <a:prstGeom prst="rect">
              <a:avLst/>
            </a:prstGeom>
            <a:noFill/>
            <a:extLst>
              <a:ext uri="{909E8E84-426E-40DD-AFC4-6F175D3DCCD1}">
                <a14:hiddenFill xmlns:a14="http://schemas.microsoft.com/office/drawing/2010/main">
                  <a:solidFill>
                    <a:srgbClr val="FFFFFF"/>
                  </a:solidFill>
                </a14:hiddenFill>
              </a:ext>
            </a:extLst>
          </p:spPr>
        </p:pic>
        <p:pic>
          <p:nvPicPr>
            <p:cNvPr id="581642" name="Picture 10">
              <a:extLst>
                <a:ext uri="{FF2B5EF4-FFF2-40B4-BE49-F238E27FC236}">
                  <a16:creationId xmlns:a16="http://schemas.microsoft.com/office/drawing/2014/main" id="{2300AFC7-5C2C-C19A-E2DC-E280900710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8" y="5488"/>
              <a:ext cx="368" cy="323"/>
            </a:xfrm>
            <a:prstGeom prst="rect">
              <a:avLst/>
            </a:prstGeom>
            <a:noFill/>
            <a:extLst>
              <a:ext uri="{909E8E84-426E-40DD-AFC4-6F175D3DCCD1}">
                <a14:hiddenFill xmlns:a14="http://schemas.microsoft.com/office/drawing/2010/main">
                  <a:solidFill>
                    <a:srgbClr val="FFFFFF"/>
                  </a:solidFill>
                </a14:hiddenFill>
              </a:ext>
            </a:extLst>
          </p:spPr>
        </p:pic>
        <p:pic>
          <p:nvPicPr>
            <p:cNvPr id="581643" name="Picture 11">
              <a:extLst>
                <a:ext uri="{FF2B5EF4-FFF2-40B4-BE49-F238E27FC236}">
                  <a16:creationId xmlns:a16="http://schemas.microsoft.com/office/drawing/2014/main" id="{6600AC7E-C3FC-6CC2-77EF-30A24480A8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2" y="4943"/>
              <a:ext cx="592" cy="485"/>
            </a:xfrm>
            <a:prstGeom prst="rect">
              <a:avLst/>
            </a:prstGeom>
            <a:noFill/>
            <a:extLst>
              <a:ext uri="{909E8E84-426E-40DD-AFC4-6F175D3DCCD1}">
                <a14:hiddenFill xmlns:a14="http://schemas.microsoft.com/office/drawing/2010/main">
                  <a:solidFill>
                    <a:srgbClr val="FFFFFF"/>
                  </a:solidFill>
                </a14:hiddenFill>
              </a:ext>
            </a:extLst>
          </p:spPr>
        </p:pic>
        <p:cxnSp>
          <p:nvCxnSpPr>
            <p:cNvPr id="581644" name="AutoShape 12">
              <a:extLst>
                <a:ext uri="{FF2B5EF4-FFF2-40B4-BE49-F238E27FC236}">
                  <a16:creationId xmlns:a16="http://schemas.microsoft.com/office/drawing/2014/main" id="{BD5B607E-4795-3347-AABE-FF0B460A8D21}"/>
                </a:ext>
              </a:extLst>
            </p:cNvPr>
            <p:cNvCxnSpPr>
              <a:cxnSpLocks noChangeShapeType="1"/>
              <a:stCxn id="581643" idx="1"/>
              <a:endCxn id="581640" idx="0"/>
            </p:cNvCxnSpPr>
            <p:nvPr/>
          </p:nvCxnSpPr>
          <p:spPr bwMode="auto">
            <a:xfrm rot="10800000" flipV="1">
              <a:off x="898" y="5186"/>
              <a:ext cx="2114" cy="30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1645" name="AutoShape 13">
              <a:extLst>
                <a:ext uri="{FF2B5EF4-FFF2-40B4-BE49-F238E27FC236}">
                  <a16:creationId xmlns:a16="http://schemas.microsoft.com/office/drawing/2014/main" id="{F046B85B-02BB-9B69-F5C7-DBC62B6C8186}"/>
                </a:ext>
              </a:extLst>
            </p:cNvPr>
            <p:cNvCxnSpPr>
              <a:cxnSpLocks noChangeShapeType="1"/>
              <a:stCxn id="581643" idx="1"/>
              <a:endCxn id="581641" idx="0"/>
            </p:cNvCxnSpPr>
            <p:nvPr/>
          </p:nvCxnSpPr>
          <p:spPr bwMode="auto">
            <a:xfrm rot="10800000" flipV="1">
              <a:off x="1728" y="5186"/>
              <a:ext cx="1284" cy="3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1646" name="AutoShape 14">
              <a:extLst>
                <a:ext uri="{FF2B5EF4-FFF2-40B4-BE49-F238E27FC236}">
                  <a16:creationId xmlns:a16="http://schemas.microsoft.com/office/drawing/2014/main" id="{06ECF192-8D6B-CAB2-374E-FA6454B580DC}"/>
                </a:ext>
              </a:extLst>
            </p:cNvPr>
            <p:cNvCxnSpPr>
              <a:cxnSpLocks noChangeShapeType="1"/>
              <a:stCxn id="581643" idx="1"/>
              <a:endCxn id="581642" idx="0"/>
            </p:cNvCxnSpPr>
            <p:nvPr/>
          </p:nvCxnSpPr>
          <p:spPr bwMode="auto">
            <a:xfrm rot="10800000" flipV="1">
              <a:off x="2462" y="5186"/>
              <a:ext cx="550" cy="302"/>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1647" name="Text Box 15">
              <a:extLst>
                <a:ext uri="{FF2B5EF4-FFF2-40B4-BE49-F238E27FC236}">
                  <a16:creationId xmlns:a16="http://schemas.microsoft.com/office/drawing/2014/main" id="{6F3E9C41-2163-EEF8-7FD6-952FFC6A9C6F}"/>
                </a:ext>
              </a:extLst>
            </p:cNvPr>
            <p:cNvSpPr txBox="1">
              <a:spLocks noChangeArrowheads="1"/>
            </p:cNvSpPr>
            <p:nvPr/>
          </p:nvSpPr>
          <p:spPr bwMode="auto">
            <a:xfrm>
              <a:off x="2139" y="4873"/>
              <a:ext cx="10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b="0">
                  <a:ea typeface="MS UI Gothic" panose="020B0600070205080204" pitchFamily="50" charset="-128"/>
                </a:rPr>
                <a:t>Hãy hiển thị thông tin</a:t>
              </a:r>
            </a:p>
            <a:p>
              <a:r>
                <a:rPr lang="en-US" altLang="ja-JP" b="0">
                  <a:ea typeface="MS UI Gothic" panose="020B0600070205080204" pitchFamily="50" charset="-128"/>
                </a:rPr>
                <a:t>(Message)</a:t>
              </a:r>
            </a:p>
          </p:txBody>
        </p:sp>
        <p:sp>
          <p:nvSpPr>
            <p:cNvPr id="581648" name="Text Box 16">
              <a:extLst>
                <a:ext uri="{FF2B5EF4-FFF2-40B4-BE49-F238E27FC236}">
                  <a16:creationId xmlns:a16="http://schemas.microsoft.com/office/drawing/2014/main" id="{18F59198-FA70-8E10-0CAD-486618B45588}"/>
                </a:ext>
              </a:extLst>
            </p:cNvPr>
            <p:cNvSpPr txBox="1">
              <a:spLocks noChangeArrowheads="1"/>
            </p:cNvSpPr>
            <p:nvPr/>
          </p:nvSpPr>
          <p:spPr bwMode="auto">
            <a:xfrm>
              <a:off x="402" y="5851"/>
              <a:ext cx="1012" cy="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b="0">
                  <a:ea typeface="MS UI Gothic" panose="020B0600070205080204" pitchFamily="50" charset="-128"/>
                </a:rPr>
                <a:t>SE</a:t>
              </a:r>
              <a:r>
                <a:rPr lang="ja-JP" altLang="en-US" sz="900" b="0">
                  <a:ea typeface="MS UI Gothic" panose="020B0600070205080204" pitchFamily="50" charset="-128"/>
                </a:rPr>
                <a:t>　</a:t>
              </a:r>
              <a:r>
                <a:rPr lang="en-US" altLang="ja-JP" sz="900" b="0">
                  <a:ea typeface="MS UI Gothic" panose="020B0600070205080204" pitchFamily="50" charset="-128"/>
                </a:rPr>
                <a:t>Hiển thị thông tin ()</a:t>
              </a:r>
            </a:p>
            <a:p>
              <a:pPr algn="ctr"/>
              <a:r>
                <a:rPr lang="ja-JP" altLang="en-US" sz="900" b="0">
                  <a:ea typeface="MS UI Gothic" panose="020B0600070205080204" pitchFamily="50" charset="-128"/>
                </a:rPr>
                <a:t>（</a:t>
              </a:r>
              <a:r>
                <a:rPr lang="en-US" altLang="ja-JP" sz="900" b="0">
                  <a:ea typeface="MS UI Gothic" panose="020B0600070205080204" pitchFamily="50" charset="-128"/>
                </a:rPr>
                <a:t>Hiển thị ID, tên, lĩnh vực chuyên môn)</a:t>
              </a:r>
            </a:p>
          </p:txBody>
        </p:sp>
        <p:sp>
          <p:nvSpPr>
            <p:cNvPr id="581649" name="Text Box 17">
              <a:extLst>
                <a:ext uri="{FF2B5EF4-FFF2-40B4-BE49-F238E27FC236}">
                  <a16:creationId xmlns:a16="http://schemas.microsoft.com/office/drawing/2014/main" id="{BE688516-FC9F-35A4-8672-BA6952EE6375}"/>
                </a:ext>
              </a:extLst>
            </p:cNvPr>
            <p:cNvSpPr txBox="1">
              <a:spLocks noChangeArrowheads="1"/>
            </p:cNvSpPr>
            <p:nvPr/>
          </p:nvSpPr>
          <p:spPr bwMode="auto">
            <a:xfrm>
              <a:off x="1282" y="5852"/>
              <a:ext cx="954"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b="0">
                  <a:ea typeface="MS UI Gothic" panose="020B0600070205080204" pitchFamily="50" charset="-128"/>
                </a:rPr>
                <a:t>Kinh doanh</a:t>
              </a:r>
              <a:r>
                <a:rPr lang="ja-JP" altLang="en-US" sz="900" b="0">
                  <a:ea typeface="MS UI Gothic" panose="020B0600070205080204" pitchFamily="50" charset="-128"/>
                </a:rPr>
                <a:t>　 </a:t>
              </a:r>
              <a:r>
                <a:rPr lang="en-US" altLang="ja-JP" sz="900" b="0">
                  <a:ea typeface="MS UI Gothic" panose="020B0600070205080204" pitchFamily="50" charset="-128"/>
                </a:rPr>
                <a:t>Hiển thị thông tin ()</a:t>
              </a:r>
            </a:p>
            <a:p>
              <a:pPr algn="ctr"/>
              <a:r>
                <a:rPr lang="en-US" altLang="ja-JP" sz="900" b="0">
                  <a:ea typeface="MS UI Gothic" panose="020B0600070205080204" pitchFamily="50" charset="-128"/>
                </a:rPr>
                <a:t>(Hiển thị ID, tên, số khách hàng)</a:t>
              </a:r>
            </a:p>
          </p:txBody>
        </p:sp>
        <p:sp>
          <p:nvSpPr>
            <p:cNvPr id="581650" name="Text Box 18">
              <a:extLst>
                <a:ext uri="{FF2B5EF4-FFF2-40B4-BE49-F238E27FC236}">
                  <a16:creationId xmlns:a16="http://schemas.microsoft.com/office/drawing/2014/main" id="{9FDCB7BA-9AE0-72BE-2C8D-B2AA4FA7256B}"/>
                </a:ext>
              </a:extLst>
            </p:cNvPr>
            <p:cNvSpPr txBox="1">
              <a:spLocks noChangeArrowheads="1"/>
            </p:cNvSpPr>
            <p:nvPr/>
          </p:nvSpPr>
          <p:spPr bwMode="auto">
            <a:xfrm>
              <a:off x="2133" y="5853"/>
              <a:ext cx="767" cy="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b="0">
                  <a:ea typeface="MS UI Gothic" panose="020B0600070205080204" pitchFamily="50" charset="-128"/>
                </a:rPr>
                <a:t>Kế hoạch</a:t>
              </a:r>
              <a:r>
                <a:rPr lang="ja-JP" altLang="en-US" sz="900" b="0">
                  <a:ea typeface="MS UI Gothic" panose="020B0600070205080204" pitchFamily="50" charset="-128"/>
                </a:rPr>
                <a:t>　  </a:t>
              </a:r>
              <a:r>
                <a:rPr lang="en-US" altLang="ja-JP" sz="900" b="0">
                  <a:ea typeface="MS UI Gothic" panose="020B0600070205080204" pitchFamily="50" charset="-128"/>
                </a:rPr>
                <a:t>Hiển thị thông tin ()</a:t>
              </a:r>
            </a:p>
            <a:p>
              <a:pPr algn="ctr"/>
              <a:r>
                <a:rPr lang="en-US" altLang="ja-JP" sz="900" b="0">
                  <a:ea typeface="MS UI Gothic" panose="020B0600070205080204" pitchFamily="50" charset="-128"/>
                </a:rPr>
                <a:t>(Hiển thị ID, tên)</a:t>
              </a:r>
            </a:p>
          </p:txBody>
        </p:sp>
        <p:sp>
          <p:nvSpPr>
            <p:cNvPr id="581652" name="Rectangle 20">
              <a:extLst>
                <a:ext uri="{FF2B5EF4-FFF2-40B4-BE49-F238E27FC236}">
                  <a16:creationId xmlns:a16="http://schemas.microsoft.com/office/drawing/2014/main" id="{BA451279-6DED-BD78-688D-B5ABF83723EA}"/>
                </a:ext>
              </a:extLst>
            </p:cNvPr>
            <p:cNvSpPr>
              <a:spLocks noChangeArrowheads="1"/>
            </p:cNvSpPr>
            <p:nvPr/>
          </p:nvSpPr>
          <p:spPr bwMode="auto">
            <a:xfrm>
              <a:off x="402" y="4762"/>
              <a:ext cx="3750" cy="146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99CCFF">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81655" name="AutoShape 23">
              <a:extLst>
                <a:ext uri="{FF2B5EF4-FFF2-40B4-BE49-F238E27FC236}">
                  <a16:creationId xmlns:a16="http://schemas.microsoft.com/office/drawing/2014/main" id="{69C46FCD-E3A1-2352-8B08-5BC32B0912C5}"/>
                </a:ext>
              </a:extLst>
            </p:cNvPr>
            <p:cNvSpPr>
              <a:spLocks noChangeArrowheads="1"/>
            </p:cNvSpPr>
            <p:nvPr/>
          </p:nvSpPr>
          <p:spPr bwMode="auto">
            <a:xfrm>
              <a:off x="3139" y="5521"/>
              <a:ext cx="805" cy="518"/>
            </a:xfrm>
            <a:prstGeom prst="wedgeRoundRectCallout">
              <a:avLst>
                <a:gd name="adj1" fmla="val -82671"/>
                <a:gd name="adj2" fmla="val -19690"/>
                <a:gd name="adj3" fmla="val 16667"/>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Mỗi đối tượng tiếp nhận yêu cầu sẽ thực hiện hành vi riêng</a:t>
              </a:r>
              <a:r>
                <a:rPr lang="ja-JP" altLang="en-US" b="0">
                  <a:ea typeface="MS UI Gothic" panose="020B0600070205080204" pitchFamily="50" charset="-128"/>
                </a:rPr>
                <a:t>！</a:t>
              </a:r>
            </a:p>
          </p:txBody>
        </p:sp>
        <p:sp>
          <p:nvSpPr>
            <p:cNvPr id="581657" name="AutoShape 25">
              <a:extLst>
                <a:ext uri="{FF2B5EF4-FFF2-40B4-BE49-F238E27FC236}">
                  <a16:creationId xmlns:a16="http://schemas.microsoft.com/office/drawing/2014/main" id="{834C3C68-D95B-D6EB-3B5A-2F06E115981B}"/>
                </a:ext>
              </a:extLst>
            </p:cNvPr>
            <p:cNvSpPr>
              <a:spLocks noChangeArrowheads="1"/>
            </p:cNvSpPr>
            <p:nvPr/>
          </p:nvSpPr>
          <p:spPr bwMode="auto">
            <a:xfrm>
              <a:off x="629" y="4835"/>
              <a:ext cx="1349" cy="286"/>
            </a:xfrm>
            <a:prstGeom prst="wedgeRoundRectCallout">
              <a:avLst>
                <a:gd name="adj1" fmla="val 60454"/>
                <a:gd name="adj2" fmla="val 4546"/>
                <a:gd name="adj3" fmla="val 16667"/>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b="0">
                  <a:ea typeface="MS UI Gothic" panose="020B0600070205080204" pitchFamily="50" charset="-128"/>
                </a:rPr>
                <a:t>Có thể yêu cầu xử lý thống nhất trong cùng một loại object</a:t>
              </a:r>
              <a:r>
                <a:rPr lang="ja-JP" altLang="en-US" sz="1100" b="0">
                  <a:ea typeface="MS UI Gothic" panose="020B0600070205080204" pitchFamily="50" charset="-128"/>
                </a:rPr>
                <a:t>！</a:t>
              </a:r>
            </a:p>
          </p:txBody>
        </p:sp>
      </p:gr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a:extLst>
              <a:ext uri="{FF2B5EF4-FFF2-40B4-BE49-F238E27FC236}">
                <a16:creationId xmlns:a16="http://schemas.microsoft.com/office/drawing/2014/main" id="{76180401-75CA-B9C6-0CAE-4DF43B2F4816}"/>
              </a:ext>
            </a:extLst>
          </p:cNvPr>
          <p:cNvSpPr>
            <a:spLocks noGrp="1" noRot="1" noChangeAspect="1" noChangeArrowheads="1" noTextEdit="1"/>
          </p:cNvSpPr>
          <p:nvPr>
            <p:ph type="sldImg"/>
          </p:nvPr>
        </p:nvSpPr>
        <p:spPr>
          <a:xfrm>
            <a:off x="530225" y="835025"/>
            <a:ext cx="6024563" cy="4170363"/>
          </a:xfrm>
          <a:ln/>
        </p:spPr>
      </p:sp>
      <p:sp>
        <p:nvSpPr>
          <p:cNvPr id="598019" name="Rectangle 3">
            <a:extLst>
              <a:ext uri="{FF2B5EF4-FFF2-40B4-BE49-F238E27FC236}">
                <a16:creationId xmlns:a16="http://schemas.microsoft.com/office/drawing/2014/main" id="{0ABBCCC6-C8A5-6AF7-0337-30FE58B2DC84}"/>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Cast và override của kiểu tham chiếu</a:t>
            </a:r>
          </a:p>
          <a:p>
            <a:pPr marL="0" indent="0"/>
            <a:r>
              <a:rPr lang="ja-JP" altLang="en-US">
                <a:latin typeface="Arial" panose="020B0604020202020204" pitchFamily="34" charset="0"/>
              </a:rPr>
              <a:t>　</a:t>
            </a:r>
            <a:r>
              <a:rPr lang="en-US" altLang="ja-JP">
                <a:latin typeface="Arial" panose="020B0604020202020204" pitchFamily="34" charset="0"/>
              </a:rPr>
              <a:t>Về object của sub class, trong trường hợp thao tác bằng biến coi super class là kiểu data, về nguyên tắc, chỉ có thể thao tác những biến, method có trong super class.</a:t>
            </a:r>
          </a:p>
          <a:p>
            <a:pPr marL="0" indent="0"/>
            <a:r>
              <a:rPr lang="ja-JP" altLang="en-US">
                <a:latin typeface="Arial" panose="020B0604020202020204" pitchFamily="34" charset="0"/>
              </a:rPr>
              <a:t>　</a:t>
            </a:r>
            <a:r>
              <a:rPr lang="en-US" altLang="ja-JP">
                <a:latin typeface="Arial" panose="020B0604020202020204" pitchFamily="34" charset="0"/>
              </a:rPr>
              <a:t>Tuy nhiên, trong trường hợp đang tiến hành override của method, nếu gọi ra method đã được override thì những method của sub class sẽ được thực hiện. </a:t>
            </a:r>
          </a:p>
          <a:p>
            <a:pPr marL="0" indent="0"/>
            <a:r>
              <a:rPr lang="ja-JP" altLang="en-US">
                <a:latin typeface="Arial" panose="020B0604020202020204" pitchFamily="34" charset="0"/>
              </a:rPr>
              <a:t>　</a:t>
            </a:r>
            <a:r>
              <a:rPr lang="en-US" altLang="ja-JP">
                <a:latin typeface="Arial" panose="020B0604020202020204" pitchFamily="34" charset="0"/>
              </a:rPr>
              <a:t>Ví dụ, trong trường hợp đang thực hiện override printInfo method của super class (Employee) bằng sub class (Sales), nếu sử dụng biến lấy Employee class có tham chiếu của Sales object làm kiểu data để gọi ra printInfo method thì printInfo của Sales class sẽ được thực hiện. </a:t>
            </a:r>
          </a:p>
          <a:p>
            <a:pPr marL="0" indent="0"/>
            <a:r>
              <a:rPr lang="ja-JP" altLang="en-US">
                <a:latin typeface="Arial" panose="020B0604020202020204" pitchFamily="34" charset="0"/>
              </a:rPr>
              <a:t>　</a:t>
            </a:r>
          </a:p>
          <a:p>
            <a:pPr marL="0" indent="0"/>
            <a:r>
              <a:rPr lang="en-US" altLang="ja-JP">
                <a:latin typeface="Arial" panose="020B0604020202020204" pitchFamily="34" charset="0"/>
              </a:rPr>
              <a:t>Ví dụ)</a:t>
            </a:r>
          </a:p>
          <a:p>
            <a:pPr marL="0" indent="0"/>
            <a:r>
              <a:rPr lang="ja-JP" altLang="ja-JP">
                <a:latin typeface="Arial" panose="020B0604020202020204" pitchFamily="34" charset="0"/>
              </a:rPr>
              <a:t>　</a:t>
            </a:r>
            <a:r>
              <a:rPr lang="ja-JP" altLang="ja-JP">
                <a:latin typeface="Arial" panose="020B0604020202020204" pitchFamily="34" charset="0"/>
                <a:ea typeface="ＭＳ ゴシック" panose="020B0609070205080204" pitchFamily="49" charset="-128"/>
              </a:rPr>
              <a:t>Employee emp = new Sales();　　//</a:t>
            </a:r>
            <a:r>
              <a:rPr lang="ja-JP" altLang="ja-JP">
                <a:latin typeface="Arial" panose="020B0604020202020204" pitchFamily="34" charset="0"/>
              </a:rPr>
              <a:t>  Sales→Employee</a:t>
            </a:r>
          </a:p>
          <a:p>
            <a:pPr marL="0" indent="0"/>
            <a:r>
              <a:rPr lang="ja-JP" altLang="ja-JP">
                <a:latin typeface="Arial" panose="020B0604020202020204" pitchFamily="34" charset="0"/>
              </a:rPr>
              <a:t>　</a:t>
            </a:r>
            <a:r>
              <a:rPr lang="ja-JP" altLang="ja-JP">
                <a:latin typeface="Arial" panose="020B0604020202020204" pitchFamily="34" charset="0"/>
                <a:ea typeface="ＭＳ ゴシック" panose="020B0609070205080204" pitchFamily="49" charset="-128"/>
              </a:rPr>
              <a:t>emp.printInfo();　</a:t>
            </a:r>
            <a:r>
              <a:rPr lang="ja-JP" altLang="ja-JP">
                <a:latin typeface="Arial" panose="020B0604020202020204" pitchFamily="34" charset="0"/>
              </a:rPr>
              <a:t>←</a:t>
            </a:r>
            <a:r>
              <a:rPr lang="en-US" altLang="ja-JP">
                <a:latin typeface="Arial" panose="020B0604020202020204" pitchFamily="34" charset="0"/>
              </a:rPr>
              <a:t>Implement của </a:t>
            </a:r>
            <a:r>
              <a:rPr lang="ja-JP" altLang="ja-JP">
                <a:latin typeface="Arial" panose="020B0604020202020204" pitchFamily="34" charset="0"/>
              </a:rPr>
              <a:t>Sales</a:t>
            </a:r>
            <a:r>
              <a:rPr lang="en-US" altLang="ja-JP">
                <a:latin typeface="Arial" panose="020B0604020202020204" pitchFamily="34" charset="0"/>
              </a:rPr>
              <a:t> sẽ được gọi</a:t>
            </a:r>
            <a:r>
              <a:rPr lang="ja-JP" altLang="ja-JP">
                <a:latin typeface="Arial" panose="020B0604020202020204" pitchFamily="34" charset="0"/>
              </a:rPr>
              <a:t>！</a:t>
            </a:r>
          </a:p>
          <a:p>
            <a:pPr marL="0" indent="0"/>
            <a:endParaRPr lang="ja-JP" altLang="ja-JP">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a:extLst>
              <a:ext uri="{FF2B5EF4-FFF2-40B4-BE49-F238E27FC236}">
                <a16:creationId xmlns:a16="http://schemas.microsoft.com/office/drawing/2014/main" id="{EDDBDA3D-0080-4477-6A1E-A6679978534A}"/>
              </a:ext>
            </a:extLst>
          </p:cNvPr>
          <p:cNvSpPr>
            <a:spLocks noGrp="1" noRot="1" noChangeAspect="1" noChangeArrowheads="1" noTextEdit="1"/>
          </p:cNvSpPr>
          <p:nvPr>
            <p:ph type="sldImg"/>
          </p:nvPr>
        </p:nvSpPr>
        <p:spPr>
          <a:xfrm>
            <a:off x="530225" y="835025"/>
            <a:ext cx="6024563" cy="4170363"/>
          </a:xfrm>
          <a:ln/>
        </p:spPr>
      </p:sp>
      <p:sp>
        <p:nvSpPr>
          <p:cNvPr id="579587" name="Rectangle 3">
            <a:extLst>
              <a:ext uri="{FF2B5EF4-FFF2-40B4-BE49-F238E27FC236}">
                <a16:creationId xmlns:a16="http://schemas.microsoft.com/office/drawing/2014/main" id="{F1408480-5017-A3A6-8D11-C0728EB5BE01}"/>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Implement trong Java</a:t>
            </a:r>
          </a:p>
          <a:p>
            <a:pPr marL="0" indent="0"/>
            <a:r>
              <a:rPr lang="ja-JP" altLang="en-US">
                <a:latin typeface="Arial" panose="020B0604020202020204" pitchFamily="34" charset="0"/>
              </a:rPr>
              <a:t>　</a:t>
            </a:r>
            <a:r>
              <a:rPr lang="en-US" altLang="ja-JP">
                <a:latin typeface="Arial" panose="020B0604020202020204" pitchFamily="34" charset="0"/>
              </a:rPr>
              <a:t>Nếu sử dụng biến lấy super class hoặc interface làm kiểu data để gọi method thì từng object có biên đang tham chiếu sẽ thực hiện method đã được định nghĩa ở chính object đó. </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Ví dụ, giả sử có super class (Sales, SE) kế thừa Employee classs, và đang thực hiện override printInfo method của Employee bằng sub class (Sales, SE). </a:t>
            </a:r>
          </a:p>
          <a:p>
            <a:pPr marL="0" indent="0"/>
            <a:r>
              <a:rPr lang="ja-JP" altLang="en-US">
                <a:latin typeface="Arial" panose="020B0604020202020204" pitchFamily="34" charset="0"/>
              </a:rPr>
              <a:t>　</a:t>
            </a:r>
            <a:r>
              <a:rPr lang="en-US" altLang="ja-JP">
                <a:latin typeface="Arial" panose="020B0604020202020204" pitchFamily="34" charset="0"/>
              </a:rPr>
              <a:t>Bây giờ, tạo mảng của kiểu Employee, sau khi lưu object của Sales, SE vào đó, nếu gọi ra printInfo method đối với các object của mảng thì object của Sales sẽ thực hiện printInfo method của Sales, còn object của SE sẽ thực hiện printInfo method của SE. </a:t>
            </a:r>
          </a:p>
          <a:p>
            <a:pPr marL="0" indent="0"/>
            <a:r>
              <a:rPr lang="ja-JP" altLang="en-US">
                <a:latin typeface="Arial" panose="020B0604020202020204" pitchFamily="34" charset="0"/>
              </a:rPr>
              <a:t>　</a:t>
            </a:r>
            <a:r>
              <a:rPr lang="en-US" altLang="ja-JP">
                <a:latin typeface="Arial" panose="020B0604020202020204" pitchFamily="34" charset="0"/>
              </a:rPr>
              <a:t>Ngay cả khi gửi cùng một message là </a:t>
            </a:r>
            <a:r>
              <a:rPr lang="ja-JP" altLang="en-US">
                <a:latin typeface="Arial" panose="020B0604020202020204" pitchFamily="34" charset="0"/>
              </a:rPr>
              <a:t>「</a:t>
            </a:r>
            <a:r>
              <a:rPr lang="en-US" altLang="ja-JP">
                <a:latin typeface="Arial" panose="020B0604020202020204" pitchFamily="34" charset="0"/>
              </a:rPr>
              <a:t>Hãy thực hiện printInfo method</a:t>
            </a:r>
            <a:r>
              <a:rPr lang="ja-JP" altLang="en-US">
                <a:latin typeface="Arial" panose="020B0604020202020204" pitchFamily="34" charset="0"/>
              </a:rPr>
              <a:t>」 </a:t>
            </a:r>
            <a:r>
              <a:rPr lang="en-US" altLang="ja-JP">
                <a:latin typeface="Arial" panose="020B0604020202020204" pitchFamily="34" charset="0"/>
              </a:rPr>
              <a:t>cho nhiều nhân viên (Sales, SE v.v.. ) thì mỗi object tiếp nhận yêu cầu cũng sẽ thực hiện hành vi đặc thù riêng. </a:t>
            </a:r>
          </a:p>
          <a:p>
            <a:pPr marL="0" indent="0"/>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Cứ như thế này, nếu tạo program đã lấy polymorphism thì sẽ có thể lấy đối tượng là nhiều object của class cùng loại để yêu cầu xử lý thống nhất . </a:t>
            </a:r>
          </a:p>
          <a:p>
            <a:pPr marL="0" indent="0"/>
            <a:endParaRPr lang="en-US" altLang="ja-JP">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DEF4A-C61E-C4D9-B37F-5B4D44E19961}"/>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ext Placeholder 2">
            <a:extLst>
              <a:ext uri="{FF2B5EF4-FFF2-40B4-BE49-F238E27FC236}">
                <a16:creationId xmlns:a16="http://schemas.microsoft.com/office/drawing/2014/main" id="{DFC0C1EF-43DE-6112-3269-4764224E40E1}"/>
              </a:ext>
            </a:extLst>
          </p:cNvPr>
          <p:cNvSpPr>
            <a:spLocks noGrp="1"/>
          </p:cNvSpPr>
          <p:nvPr>
            <p:ph type="body"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A258DE5F-DB14-B7AA-B8CE-6D1C8B811414}"/>
              </a:ext>
            </a:extLst>
          </p:cNvPr>
          <p:cNvSpPr>
            <a:spLocks noGrp="1"/>
          </p:cNvSpPr>
          <p:nvPr>
            <p:ph sz="half" idx="2"/>
          </p:nvPr>
        </p:nvSpPr>
        <p:spPr>
          <a:xfrm>
            <a:off x="5029200" y="796925"/>
            <a:ext cx="4532313"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Slide Number Placeholder 4">
            <a:extLst>
              <a:ext uri="{FF2B5EF4-FFF2-40B4-BE49-F238E27FC236}">
                <a16:creationId xmlns:a16="http://schemas.microsoft.com/office/drawing/2014/main" id="{4DB979C4-2D0E-4804-1A22-FD0A399DDCF9}"/>
              </a:ext>
            </a:extLst>
          </p:cNvPr>
          <p:cNvSpPr>
            <a:spLocks noGrp="1"/>
          </p:cNvSpPr>
          <p:nvPr>
            <p:ph type="sldNum" sz="quarter" idx="10"/>
          </p:nvPr>
        </p:nvSpPr>
        <p:spPr>
          <a:xfrm>
            <a:off x="7616825" y="6381750"/>
            <a:ext cx="2133600" cy="476250"/>
          </a:xfrm>
        </p:spPr>
        <p:txBody>
          <a:bodyPr/>
          <a:lstStyle>
            <a:lvl1pPr>
              <a:defRPr/>
            </a:lvl1pPr>
          </a:lstStyle>
          <a:p>
            <a:fld id="{DC3EAD3B-301F-414A-9E10-38EF93D3BD65}" type="slidenum">
              <a:rPr lang="en-US" altLang="ja-JP"/>
              <a:pPr/>
              <a:t>‹#›</a:t>
            </a:fld>
            <a:endParaRPr lang="en-US" altLang="ja-JP"/>
          </a:p>
        </p:txBody>
      </p:sp>
    </p:spTree>
    <p:extLst>
      <p:ext uri="{BB962C8B-B14F-4D97-AF65-F5344CB8AC3E}">
        <p14:creationId xmlns:p14="http://schemas.microsoft.com/office/powerpoint/2010/main" val="202598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2026/8/26</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2026/8/26</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image" Target="../media/image6.wmf"/><Relationship Id="rId4" Type="http://schemas.openxmlformats.org/officeDocument/2006/relationships/image" Target="../media/image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742950" y="2130425"/>
            <a:ext cx="7486650" cy="1470025"/>
          </a:xfrm>
        </p:spPr>
        <p:txBody>
          <a:bodyPr>
            <a:noAutofit/>
          </a:bodyPr>
          <a:lstStyle/>
          <a:p>
            <a:pPr algn="ctr" eaLnBrk="0" hangingPunct="0"/>
            <a:r>
              <a:rPr lang="ja-JP" altLang="ja-JP" dirty="0">
                <a:latin typeface="+mj-lt"/>
              </a:rPr>
              <a:t>Java</a:t>
            </a:r>
            <a:r>
              <a:rPr lang="en-US" altLang="ja-JP" dirty="0">
                <a:latin typeface="+mj-lt"/>
              </a:rPr>
              <a:t> Training</a:t>
            </a:r>
            <a:endParaRPr kumimoji="1" lang="ja-JP" altLang="en-US" dirty="0">
              <a:latin typeface="+mj-lt"/>
              <a:cs typeface="Times New Roman" panose="02020603050405020304" pitchFamily="18" charset="0"/>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Text Box 3">
            <a:extLst>
              <a:ext uri="{FF2B5EF4-FFF2-40B4-BE49-F238E27FC236}">
                <a16:creationId xmlns:a16="http://schemas.microsoft.com/office/drawing/2014/main" id="{9871E105-2BA3-6991-0946-540A93482CB1}"/>
              </a:ext>
            </a:extLst>
          </p:cNvPr>
          <p:cNvSpPr txBox="1">
            <a:spLocks noChangeArrowheads="1"/>
          </p:cNvSpPr>
          <p:nvPr/>
        </p:nvSpPr>
        <p:spPr bwMode="auto">
          <a:xfrm>
            <a:off x="1349375" y="2336800"/>
            <a:ext cx="7172325" cy="1560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4700" b="0" dirty="0">
                <a:ea typeface="ヒラギノ明朝 Pro W6" pitchFamily="18" charset="-128"/>
              </a:rPr>
              <a:t>Interface,</a:t>
            </a:r>
          </a:p>
          <a:p>
            <a:r>
              <a:rPr lang="ja-JP" altLang="en-US" sz="4700" b="0" dirty="0">
                <a:ea typeface="ヒラギノ明朝 Pro W6" pitchFamily="18" charset="-128"/>
              </a:rPr>
              <a:t>　　　</a:t>
            </a:r>
            <a:r>
              <a:rPr lang="en-US" altLang="ja-JP" sz="4700" b="0" dirty="0">
                <a:ea typeface="ヒラギノ明朝 Pro W6" pitchFamily="18" charset="-128"/>
              </a:rPr>
              <a:t>Polymorphism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E8CB0A4-07B5-7DDD-C293-E89AE0C82894}"/>
              </a:ext>
            </a:extLst>
          </p:cNvPr>
          <p:cNvSpPr>
            <a:spLocks noGrp="1"/>
          </p:cNvSpPr>
          <p:nvPr>
            <p:ph type="sldNum" sz="quarter" idx="10"/>
          </p:nvPr>
        </p:nvSpPr>
        <p:spPr/>
        <p:txBody>
          <a:bodyPr/>
          <a:lstStyle/>
          <a:p>
            <a:fld id="{5AF5D0CE-9831-4069-B408-A3D09B43C00F}" type="slidenum">
              <a:rPr lang="en-US" altLang="ja-JP"/>
              <a:pPr/>
              <a:t>3</a:t>
            </a:fld>
            <a:endParaRPr lang="en-US" altLang="ja-JP"/>
          </a:p>
        </p:txBody>
      </p:sp>
      <p:sp>
        <p:nvSpPr>
          <p:cNvPr id="544770" name="Rectangle 2">
            <a:extLst>
              <a:ext uri="{FF2B5EF4-FFF2-40B4-BE49-F238E27FC236}">
                <a16:creationId xmlns:a16="http://schemas.microsoft.com/office/drawing/2014/main" id="{3C95DD98-D552-A2F1-2A65-449E4C7E14AA}"/>
              </a:ext>
            </a:extLst>
          </p:cNvPr>
          <p:cNvSpPr>
            <a:spLocks noGrp="1" noChangeArrowheads="1"/>
          </p:cNvSpPr>
          <p:nvPr>
            <p:ph type="title"/>
          </p:nvPr>
        </p:nvSpPr>
        <p:spPr>
          <a:xfrm>
            <a:off x="344488" y="312691"/>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Interface</a:t>
            </a:r>
          </a:p>
        </p:txBody>
      </p:sp>
      <p:sp>
        <p:nvSpPr>
          <p:cNvPr id="544771" name="Rectangle 3">
            <a:extLst>
              <a:ext uri="{FF2B5EF4-FFF2-40B4-BE49-F238E27FC236}">
                <a16:creationId xmlns:a16="http://schemas.microsoft.com/office/drawing/2014/main" id="{2E7FA2AE-93FF-2D06-7592-590D46E0D00E}"/>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44772" name="Rectangle 4">
            <a:extLst>
              <a:ext uri="{FF2B5EF4-FFF2-40B4-BE49-F238E27FC236}">
                <a16:creationId xmlns:a16="http://schemas.microsoft.com/office/drawing/2014/main" id="{AC057DA3-AF19-32AA-BEBD-4678C884997B}"/>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Interface</a:t>
            </a:r>
          </a:p>
          <a:p>
            <a:pPr>
              <a:spcBef>
                <a:spcPct val="50000"/>
              </a:spcBef>
              <a:buFont typeface="Wingdings" panose="05000000000000000000" pitchFamily="2" charset="2"/>
              <a:buNone/>
            </a:pPr>
            <a:r>
              <a:rPr lang="en-US" altLang="ja-JP" sz="2000" b="0">
                <a:latin typeface="Arial" panose="020B0604020202020204" pitchFamily="34" charset="0"/>
              </a:rPr>
              <a:t>●Interface là gì</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44773" name="Rectangle 5">
            <a:extLst>
              <a:ext uri="{FF2B5EF4-FFF2-40B4-BE49-F238E27FC236}">
                <a16:creationId xmlns:a16="http://schemas.microsoft.com/office/drawing/2014/main" id="{F76FA643-93D4-D17E-72A6-A9D3623FDD5B}"/>
              </a:ext>
            </a:extLst>
          </p:cNvPr>
          <p:cNvSpPr>
            <a:spLocks noChangeArrowheads="1"/>
          </p:cNvSpPr>
          <p:nvPr/>
        </p:nvSpPr>
        <p:spPr bwMode="auto">
          <a:xfrm>
            <a:off x="344488" y="34544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●Khi biểu hiện interface bằng Java…</a:t>
            </a:r>
            <a:endParaRPr lang="en-US" altLang="ja-JP" sz="2400" b="0">
              <a:latin typeface="Arial" panose="020B0604020202020204" pitchFamily="34" charset="0"/>
            </a:endParaRPr>
          </a:p>
        </p:txBody>
      </p:sp>
      <p:sp>
        <p:nvSpPr>
          <p:cNvPr id="544776" name="Rectangle 8">
            <a:extLst>
              <a:ext uri="{FF2B5EF4-FFF2-40B4-BE49-F238E27FC236}">
                <a16:creationId xmlns:a16="http://schemas.microsoft.com/office/drawing/2014/main" id="{F39FDE19-DD48-6828-9F8C-D8CF59EC439E}"/>
              </a:ext>
            </a:extLst>
          </p:cNvPr>
          <p:cNvSpPr>
            <a:spLocks noChangeArrowheads="1"/>
          </p:cNvSpPr>
          <p:nvPr/>
        </p:nvSpPr>
        <p:spPr bwMode="auto">
          <a:xfrm>
            <a:off x="603250" y="1803400"/>
            <a:ext cx="8861425" cy="5222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700" dirty="0">
                <a:latin typeface="Arial" panose="020B0604020202020204" pitchFamily="34" charset="0"/>
              </a:rPr>
              <a:t>Là </a:t>
            </a:r>
            <a:r>
              <a:rPr lang="en-US" altLang="ja-JP" sz="1700" dirty="0" err="1">
                <a:latin typeface="Arial" panose="020B0604020202020204" pitchFamily="34" charset="0"/>
              </a:rPr>
              <a:t>phần</a:t>
            </a:r>
            <a:r>
              <a:rPr lang="en-US" altLang="ja-JP" sz="1700" dirty="0">
                <a:latin typeface="Arial" panose="020B0604020202020204" pitchFamily="34" charset="0"/>
              </a:rPr>
              <a:t> </a:t>
            </a:r>
            <a:r>
              <a:rPr lang="en-US" altLang="ja-JP" sz="1700" dirty="0" err="1">
                <a:latin typeface="Arial" panose="020B0604020202020204" pitchFamily="34" charset="0"/>
              </a:rPr>
              <a:t>đa</a:t>
            </a:r>
            <a:r>
              <a:rPr lang="en-US" altLang="ja-JP" sz="1700" dirty="0">
                <a:latin typeface="Arial" panose="020B0604020202020204" pitchFamily="34" charset="0"/>
              </a:rPr>
              <a:t>̃ </a:t>
            </a:r>
            <a:r>
              <a:rPr lang="en-US" altLang="ja-JP" sz="1700" dirty="0" err="1">
                <a:latin typeface="Arial" panose="020B0604020202020204" pitchFamily="34" charset="0"/>
              </a:rPr>
              <a:t>xác</a:t>
            </a:r>
            <a:r>
              <a:rPr lang="en-US" altLang="ja-JP" sz="1700" dirty="0">
                <a:latin typeface="Arial" panose="020B0604020202020204" pitchFamily="34" charset="0"/>
              </a:rPr>
              <a:t> </a:t>
            </a:r>
            <a:r>
              <a:rPr lang="en-US" altLang="ja-JP" sz="1700" dirty="0" err="1">
                <a:latin typeface="Arial" panose="020B0604020202020204" pitchFamily="34" charset="0"/>
              </a:rPr>
              <a:t>định</a:t>
            </a:r>
            <a:r>
              <a:rPr lang="en-US" altLang="ja-JP" sz="1700" dirty="0">
                <a:latin typeface="Arial" panose="020B0604020202020204" pitchFamily="34" charset="0"/>
              </a:rPr>
              <a:t> external spec </a:t>
            </a:r>
            <a:r>
              <a:rPr lang="en-US" altLang="ja-JP" sz="1700" dirty="0" err="1">
                <a:latin typeface="Arial" panose="020B0604020202020204" pitchFamily="34" charset="0"/>
              </a:rPr>
              <a:t>của</a:t>
            </a:r>
            <a:r>
              <a:rPr lang="en-US" altLang="ja-JP" sz="1700" dirty="0">
                <a:latin typeface="Arial" panose="020B0604020202020204" pitchFamily="34" charset="0"/>
              </a:rPr>
              <a:t> method </a:t>
            </a:r>
            <a:r>
              <a:rPr lang="en-US" altLang="ja-JP" sz="1700" dirty="0" err="1">
                <a:latin typeface="Arial" panose="020B0604020202020204" pitchFamily="34" charset="0"/>
              </a:rPr>
              <a:t>mà</a:t>
            </a:r>
            <a:r>
              <a:rPr lang="en-US" altLang="ja-JP" sz="1700" dirty="0">
                <a:latin typeface="Arial" panose="020B0604020202020204" pitchFamily="34" charset="0"/>
              </a:rPr>
              <a:t> object </a:t>
            </a:r>
            <a:r>
              <a:rPr lang="en-US" altLang="ja-JP" sz="1700" dirty="0" err="1">
                <a:latin typeface="Arial" panose="020B0604020202020204" pitchFamily="34" charset="0"/>
              </a:rPr>
              <a:t>đảm</a:t>
            </a:r>
            <a:r>
              <a:rPr lang="en-US" altLang="ja-JP" sz="1700" dirty="0">
                <a:latin typeface="Arial" panose="020B0604020202020204" pitchFamily="34" charset="0"/>
              </a:rPr>
              <a:t> </a:t>
            </a:r>
            <a:r>
              <a:rPr lang="en-US" altLang="ja-JP" sz="1700" dirty="0" err="1">
                <a:latin typeface="Arial" panose="020B0604020202020204" pitchFamily="34" charset="0"/>
              </a:rPr>
              <a:t>nhận</a:t>
            </a:r>
            <a:r>
              <a:rPr lang="en-US" altLang="ja-JP" sz="1700" dirty="0">
                <a:latin typeface="Arial" panose="020B0604020202020204" pitchFamily="34" charset="0"/>
              </a:rPr>
              <a:t> 1 </a:t>
            </a:r>
            <a:r>
              <a:rPr lang="en-US" altLang="ja-JP" sz="1700" dirty="0" err="1">
                <a:latin typeface="Arial" panose="020B0604020202020204" pitchFamily="34" charset="0"/>
              </a:rPr>
              <a:t>chức</a:t>
            </a:r>
            <a:r>
              <a:rPr lang="en-US" altLang="ja-JP" sz="1700" dirty="0">
                <a:latin typeface="Arial" panose="020B0604020202020204" pitchFamily="34" charset="0"/>
              </a:rPr>
              <a:t> </a:t>
            </a:r>
            <a:r>
              <a:rPr lang="en-US" altLang="ja-JP" sz="1700" dirty="0" err="1">
                <a:latin typeface="Arial" panose="020B0604020202020204" pitchFamily="34" charset="0"/>
              </a:rPr>
              <a:t>năng</a:t>
            </a:r>
            <a:r>
              <a:rPr lang="en-US" altLang="ja-JP" sz="1700" dirty="0">
                <a:latin typeface="Arial" panose="020B0604020202020204" pitchFamily="34" charset="0"/>
              </a:rPr>
              <a:t> </a:t>
            </a:r>
            <a:r>
              <a:rPr lang="en-US" altLang="ja-JP" sz="1700" dirty="0" err="1">
                <a:latin typeface="Arial" panose="020B0604020202020204" pitchFamily="34" charset="0"/>
              </a:rPr>
              <a:t>nào</a:t>
            </a:r>
            <a:r>
              <a:rPr lang="en-US" altLang="ja-JP" sz="1700" dirty="0">
                <a:latin typeface="Arial" panose="020B0604020202020204" pitchFamily="34" charset="0"/>
              </a:rPr>
              <a:t> </a:t>
            </a:r>
            <a:r>
              <a:rPr lang="en-US" altLang="ja-JP" sz="1700" dirty="0" err="1">
                <a:latin typeface="Arial" panose="020B0604020202020204" pitchFamily="34" charset="0"/>
              </a:rPr>
              <a:t>đo</a:t>
            </a:r>
            <a:r>
              <a:rPr lang="en-US" altLang="ja-JP" sz="1700" dirty="0">
                <a:latin typeface="Arial" panose="020B0604020202020204" pitchFamily="34" charset="0"/>
              </a:rPr>
              <a:t>́ </a:t>
            </a:r>
            <a:r>
              <a:rPr lang="en-US" altLang="ja-JP" sz="1700" dirty="0" err="1">
                <a:latin typeface="Arial" panose="020B0604020202020204" pitchFamily="34" charset="0"/>
              </a:rPr>
              <a:t>cần</a:t>
            </a:r>
            <a:r>
              <a:rPr lang="en-US" altLang="ja-JP" sz="1700" dirty="0">
                <a:latin typeface="Arial" panose="020B0604020202020204" pitchFamily="34" charset="0"/>
              </a:rPr>
              <a:t> có </a:t>
            </a:r>
          </a:p>
        </p:txBody>
      </p:sp>
      <p:sp>
        <p:nvSpPr>
          <p:cNvPr id="544779" name="AutoShape 11">
            <a:extLst>
              <a:ext uri="{FF2B5EF4-FFF2-40B4-BE49-F238E27FC236}">
                <a16:creationId xmlns:a16="http://schemas.microsoft.com/office/drawing/2014/main" id="{0822FEF6-62E7-5B2D-7065-D56245653EF0}"/>
              </a:ext>
            </a:extLst>
          </p:cNvPr>
          <p:cNvSpPr>
            <a:spLocks noChangeArrowheads="1"/>
          </p:cNvSpPr>
          <p:nvPr/>
        </p:nvSpPr>
        <p:spPr bwMode="auto">
          <a:xfrm>
            <a:off x="3011488" y="1152525"/>
            <a:ext cx="6589712" cy="523875"/>
          </a:xfrm>
          <a:prstGeom prst="wedgeRoundRectCallout">
            <a:avLst>
              <a:gd name="adj1" fmla="val -60584"/>
              <a:gd name="adj2" fmla="val 20935"/>
              <a:gd name="adj3" fmla="val 16667"/>
            </a:avLst>
          </a:prstGeom>
          <a:solidFill>
            <a:srgbClr val="FFCC99">
              <a:alpha val="66000"/>
            </a:srgbClr>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rPr>
              <a:t>Các</a:t>
            </a:r>
            <a:r>
              <a:rPr lang="en-US" altLang="ja-JP" sz="1600" dirty="0">
                <a:latin typeface="+mj-lt"/>
              </a:rPr>
              <a:t> </a:t>
            </a:r>
            <a:r>
              <a:rPr lang="en-US" altLang="ja-JP" sz="1600" dirty="0" err="1">
                <a:latin typeface="+mj-lt"/>
              </a:rPr>
              <a:t>phần</a:t>
            </a:r>
            <a:r>
              <a:rPr lang="en-US" altLang="ja-JP" sz="1600" dirty="0">
                <a:latin typeface="+mj-lt"/>
              </a:rPr>
              <a:t>, </a:t>
            </a:r>
            <a:r>
              <a:rPr lang="en-US" altLang="ja-JP" sz="1600" dirty="0" err="1">
                <a:latin typeface="+mj-lt"/>
              </a:rPr>
              <a:t>tiếp</a:t>
            </a:r>
            <a:r>
              <a:rPr lang="en-US" altLang="ja-JP" sz="1600" dirty="0">
                <a:latin typeface="+mj-lt"/>
              </a:rPr>
              <a:t> </a:t>
            </a:r>
            <a:r>
              <a:rPr lang="en-US" altLang="ja-JP" sz="1600" dirty="0" err="1">
                <a:latin typeface="+mj-lt"/>
              </a:rPr>
              <a:t>điểm</a:t>
            </a:r>
            <a:r>
              <a:rPr lang="en-US" altLang="ja-JP" sz="1600" dirty="0">
                <a:latin typeface="+mj-lt"/>
              </a:rPr>
              <a:t>, external spec... ( </a:t>
            </a:r>
            <a:r>
              <a:rPr lang="en-US" altLang="ja-JP" sz="1600" dirty="0" err="1">
                <a:latin typeface="+mj-lt"/>
              </a:rPr>
              <a:t>môi</a:t>
            </a:r>
            <a:r>
              <a:rPr lang="en-US" altLang="ja-JP" sz="1600" dirty="0">
                <a:latin typeface="+mj-lt"/>
              </a:rPr>
              <a:t> </a:t>
            </a:r>
            <a:r>
              <a:rPr lang="en-US" altLang="ja-JP" sz="1600" dirty="0" err="1">
                <a:latin typeface="+mj-lt"/>
              </a:rPr>
              <a:t>trường</a:t>
            </a:r>
            <a:r>
              <a:rPr lang="en-US" altLang="ja-JP" sz="1600" dirty="0">
                <a:latin typeface="+mj-lt"/>
              </a:rPr>
              <a:t> </a:t>
            </a:r>
            <a:r>
              <a:rPr lang="en-US" altLang="ja-JP" sz="1600" dirty="0" err="1">
                <a:latin typeface="+mj-lt"/>
              </a:rPr>
              <a:t>của</a:t>
            </a:r>
            <a:r>
              <a:rPr lang="en-US" altLang="ja-JP" sz="1600" dirty="0">
                <a:latin typeface="+mj-lt"/>
              </a:rPr>
              <a:t> </a:t>
            </a:r>
            <a:r>
              <a:rPr lang="en-US" altLang="ja-JP" sz="1600" dirty="0" err="1">
                <a:latin typeface="+mj-lt"/>
              </a:rPr>
              <a:t>mọi</a:t>
            </a:r>
            <a:r>
              <a:rPr lang="en-US" altLang="ja-JP" sz="1600" dirty="0">
                <a:latin typeface="+mj-lt"/>
              </a:rPr>
              <a:t> </a:t>
            </a:r>
            <a:r>
              <a:rPr lang="en-US" altLang="ja-JP" sz="1600" dirty="0" err="1">
                <a:latin typeface="+mj-lt"/>
              </a:rPr>
              <a:t>vật</a:t>
            </a:r>
            <a:r>
              <a:rPr lang="en-US" altLang="ja-JP" sz="1600" dirty="0">
                <a:latin typeface="+mj-lt"/>
              </a:rPr>
              <a:t>...)</a:t>
            </a:r>
          </a:p>
        </p:txBody>
      </p:sp>
      <p:sp>
        <p:nvSpPr>
          <p:cNvPr id="544784" name="Rectangle 16">
            <a:extLst>
              <a:ext uri="{FF2B5EF4-FFF2-40B4-BE49-F238E27FC236}">
                <a16:creationId xmlns:a16="http://schemas.microsoft.com/office/drawing/2014/main" id="{15B6D52E-1308-65EB-0F1C-5651FACA1FD2}"/>
              </a:ext>
            </a:extLst>
          </p:cNvPr>
          <p:cNvSpPr>
            <a:spLocks noChangeArrowheads="1"/>
          </p:cNvSpPr>
          <p:nvPr/>
        </p:nvSpPr>
        <p:spPr bwMode="auto">
          <a:xfrm>
            <a:off x="593725" y="4037013"/>
            <a:ext cx="8861425" cy="522287"/>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700">
                <a:latin typeface="Arial" panose="020B0604020202020204" pitchFamily="34" charset="0"/>
              </a:rPr>
              <a:t>Là phần định nghĩa tổng hợp hằng số và khuôn mẫu của method cần thiết cho chức năng đặc định nào đó</a:t>
            </a:r>
          </a:p>
        </p:txBody>
      </p:sp>
      <p:sp>
        <p:nvSpPr>
          <p:cNvPr id="544785" name="AutoShape 17">
            <a:extLst>
              <a:ext uri="{FF2B5EF4-FFF2-40B4-BE49-F238E27FC236}">
                <a16:creationId xmlns:a16="http://schemas.microsoft.com/office/drawing/2014/main" id="{B94F0BCB-F170-12B1-CCBA-5553D67273D8}"/>
              </a:ext>
            </a:extLst>
          </p:cNvPr>
          <p:cNvSpPr>
            <a:spLocks noChangeArrowheads="1"/>
          </p:cNvSpPr>
          <p:nvPr/>
        </p:nvSpPr>
        <p:spPr bwMode="auto">
          <a:xfrm>
            <a:off x="2667000" y="4930775"/>
            <a:ext cx="6788149" cy="561975"/>
          </a:xfrm>
          <a:prstGeom prst="wedgeRoundRectCallout">
            <a:avLst>
              <a:gd name="adj1" fmla="val -19588"/>
              <a:gd name="adj2" fmla="val -111019"/>
              <a:gd name="adj3" fmla="val 16667"/>
            </a:avLst>
          </a:prstGeom>
          <a:solidFill>
            <a:srgbClr val="FFCC99">
              <a:alpha val="66000"/>
            </a:srgbClr>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Kiểu</a:t>
            </a:r>
            <a:r>
              <a:rPr lang="en-US" altLang="ja-JP" sz="1800" dirty="0">
                <a:latin typeface="+mj-lt"/>
              </a:rPr>
              <a:t> </a:t>
            </a:r>
            <a:r>
              <a:rPr lang="en-US" altLang="ja-JP" sz="1800" dirty="0" err="1">
                <a:latin typeface="+mj-lt"/>
              </a:rPr>
              <a:t>của</a:t>
            </a:r>
            <a:r>
              <a:rPr lang="en-US" altLang="ja-JP" sz="1800" dirty="0">
                <a:latin typeface="+mj-lt"/>
              </a:rPr>
              <a:t> </a:t>
            </a:r>
            <a:r>
              <a:rPr lang="en-US" altLang="ja-JP" sz="1800" dirty="0" err="1">
                <a:latin typeface="+mj-lt"/>
              </a:rPr>
              <a:t>gia</a:t>
            </a:r>
            <a:r>
              <a:rPr lang="en-US" altLang="ja-JP" sz="1800" dirty="0">
                <a:latin typeface="+mj-lt"/>
              </a:rPr>
              <a:t>́ trị </a:t>
            </a:r>
            <a:r>
              <a:rPr lang="en-US" altLang="ja-JP" sz="1800" dirty="0" err="1">
                <a:latin typeface="+mj-lt"/>
              </a:rPr>
              <a:t>tra</a:t>
            </a:r>
            <a:r>
              <a:rPr lang="en-US" altLang="ja-JP" sz="1800" dirty="0">
                <a:latin typeface="+mj-lt"/>
              </a:rPr>
              <a:t>̉ </a:t>
            </a:r>
            <a:r>
              <a:rPr lang="en-US" altLang="ja-JP" sz="1800" dirty="0" err="1">
                <a:latin typeface="+mj-lt"/>
              </a:rPr>
              <a:t>vê</a:t>
            </a:r>
            <a:r>
              <a:rPr lang="en-US" altLang="ja-JP" sz="1800" dirty="0">
                <a:latin typeface="+mj-lt"/>
              </a:rPr>
              <a:t>̀</a:t>
            </a:r>
            <a:r>
              <a:rPr lang="ja-JP" altLang="en-US" sz="1800" dirty="0">
                <a:latin typeface="+mj-lt"/>
              </a:rPr>
              <a:t>　</a:t>
            </a:r>
            <a:r>
              <a:rPr lang="en-US" altLang="ja-JP" sz="1800" dirty="0">
                <a:latin typeface="+mj-lt"/>
              </a:rPr>
              <a:t>method name </a:t>
            </a:r>
            <a:r>
              <a:rPr lang="ja-JP" altLang="en-US" sz="1800" dirty="0">
                <a:latin typeface="+mj-lt"/>
              </a:rPr>
              <a:t>（</a:t>
            </a:r>
            <a:r>
              <a:rPr lang="en-US" altLang="ja-JP" sz="1800" dirty="0">
                <a:latin typeface="+mj-lt"/>
              </a:rPr>
              <a:t>argument list</a:t>
            </a:r>
            <a:r>
              <a:rPr lang="ja-JP" altLang="en-US" sz="1800" dirty="0">
                <a:latin typeface="+mj-lt"/>
              </a:rPr>
              <a:t>）</a:t>
            </a:r>
            <a:r>
              <a:rPr lang="en-US" altLang="ja-JP" sz="1800" dirty="0">
                <a:latin typeface="+mj-lt"/>
              </a:rPr>
              <a:t>;</a:t>
            </a:r>
          </a:p>
        </p:txBody>
      </p:sp>
      <p:sp>
        <p:nvSpPr>
          <p:cNvPr id="544788" name="AutoShape 20">
            <a:extLst>
              <a:ext uri="{FF2B5EF4-FFF2-40B4-BE49-F238E27FC236}">
                <a16:creationId xmlns:a16="http://schemas.microsoft.com/office/drawing/2014/main" id="{5B6F54F0-D45C-54B0-CAB8-ABD67E6C46C0}"/>
              </a:ext>
            </a:extLst>
          </p:cNvPr>
          <p:cNvSpPr>
            <a:spLocks noChangeArrowheads="1"/>
          </p:cNvSpPr>
          <p:nvPr/>
        </p:nvSpPr>
        <p:spPr bwMode="auto">
          <a:xfrm>
            <a:off x="2220913" y="2720975"/>
            <a:ext cx="6500812" cy="527050"/>
          </a:xfrm>
          <a:prstGeom prst="wedgeRoundRectCallout">
            <a:avLst>
              <a:gd name="adj1" fmla="val 12074"/>
              <a:gd name="adj2" fmla="val -122593"/>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a:latin typeface="+mj-lt"/>
              </a:rPr>
              <a:t>Là </a:t>
            </a:r>
            <a:r>
              <a:rPr lang="en-US" altLang="ja-JP" sz="1600" dirty="0" err="1">
                <a:latin typeface="+mj-lt"/>
              </a:rPr>
              <a:t>nội</a:t>
            </a:r>
            <a:r>
              <a:rPr lang="en-US" altLang="ja-JP" sz="1600" dirty="0">
                <a:latin typeface="+mj-lt"/>
              </a:rPr>
              <a:t> dung </a:t>
            </a:r>
            <a:r>
              <a:rPr lang="en-US" altLang="ja-JP" sz="1600" dirty="0" err="1">
                <a:latin typeface="+mj-lt"/>
              </a:rPr>
              <a:t>thê</a:t>
            </a:r>
            <a:r>
              <a:rPr lang="en-US" altLang="ja-JP" sz="1600" dirty="0">
                <a:latin typeface="+mj-lt"/>
              </a:rPr>
              <a:t>̉ </a:t>
            </a:r>
            <a:r>
              <a:rPr lang="en-US" altLang="ja-JP" sz="1600" dirty="0" err="1">
                <a:latin typeface="+mj-lt"/>
              </a:rPr>
              <a:t>hiện</a:t>
            </a:r>
            <a:r>
              <a:rPr lang="en-US" altLang="ja-JP" sz="1600" dirty="0">
                <a:latin typeface="+mj-lt"/>
              </a:rPr>
              <a:t> </a:t>
            </a:r>
            <a:r>
              <a:rPr lang="en-US" altLang="ja-JP" sz="1600" dirty="0" err="1">
                <a:latin typeface="+mj-lt"/>
              </a:rPr>
              <a:t>những</a:t>
            </a:r>
            <a:r>
              <a:rPr lang="en-US" altLang="ja-JP" sz="1600" dirty="0">
                <a:latin typeface="+mj-lt"/>
              </a:rPr>
              <a:t> qui </a:t>
            </a:r>
            <a:r>
              <a:rPr lang="en-US" altLang="ja-JP" sz="1600" dirty="0" err="1">
                <a:latin typeface="+mj-lt"/>
              </a:rPr>
              <a:t>ước</a:t>
            </a:r>
            <a:r>
              <a:rPr lang="en-US" altLang="ja-JP" sz="1600" dirty="0">
                <a:latin typeface="+mj-lt"/>
              </a:rPr>
              <a:t> </a:t>
            </a:r>
            <a:r>
              <a:rPr lang="en-US" altLang="ja-JP" sz="1600" dirty="0" err="1">
                <a:latin typeface="+mj-lt"/>
              </a:rPr>
              <a:t>cần</a:t>
            </a:r>
            <a:r>
              <a:rPr lang="en-US" altLang="ja-JP" sz="1600" dirty="0">
                <a:latin typeface="+mj-lt"/>
              </a:rPr>
              <a:t> </a:t>
            </a:r>
            <a:r>
              <a:rPr lang="en-US" altLang="ja-JP" sz="1600" dirty="0" err="1">
                <a:latin typeface="+mj-lt"/>
              </a:rPr>
              <a:t>quyết</a:t>
            </a:r>
            <a:r>
              <a:rPr lang="en-US" altLang="ja-JP" sz="1600" dirty="0">
                <a:latin typeface="+mj-lt"/>
              </a:rPr>
              <a:t> </a:t>
            </a:r>
            <a:r>
              <a:rPr lang="en-US" altLang="ja-JP" sz="1600" dirty="0" err="1">
                <a:latin typeface="+mj-lt"/>
              </a:rPr>
              <a:t>định</a:t>
            </a:r>
            <a:r>
              <a:rPr lang="en-US" altLang="ja-JP" sz="1600" dirty="0">
                <a:latin typeface="+mj-lt"/>
              </a:rPr>
              <a:t> </a:t>
            </a:r>
            <a:r>
              <a:rPr lang="en-US" altLang="ja-JP" sz="1600" dirty="0" err="1">
                <a:latin typeface="+mj-lt"/>
              </a:rPr>
              <a:t>sẵn</a:t>
            </a:r>
            <a:r>
              <a:rPr lang="en-US" altLang="ja-JP" sz="1600" dirty="0">
                <a:latin typeface="+mj-lt"/>
              </a:rPr>
              <a:t> </a:t>
            </a:r>
            <a:r>
              <a:rPr lang="en-US" altLang="ja-JP" sz="1600" dirty="0" err="1">
                <a:latin typeface="+mj-lt"/>
              </a:rPr>
              <a:t>giữa</a:t>
            </a:r>
            <a:r>
              <a:rPr lang="en-US" altLang="ja-JP" sz="1600" dirty="0">
                <a:latin typeface="+mj-lt"/>
              </a:rPr>
              <a:t> </a:t>
            </a:r>
            <a:r>
              <a:rPr lang="en-US" altLang="ja-JP" sz="1600" dirty="0" err="1">
                <a:latin typeface="+mj-lt"/>
              </a:rPr>
              <a:t>người</a:t>
            </a:r>
            <a:r>
              <a:rPr lang="en-US" altLang="ja-JP" sz="1600" dirty="0">
                <a:latin typeface="+mj-lt"/>
              </a:rPr>
              <a:t> </a:t>
            </a:r>
            <a:r>
              <a:rPr lang="en-US" altLang="ja-JP" sz="1600" dirty="0" err="1">
                <a:latin typeface="+mj-lt"/>
              </a:rPr>
              <a:t>sư</a:t>
            </a:r>
            <a:r>
              <a:rPr lang="en-US" altLang="ja-JP" sz="1600" dirty="0">
                <a:latin typeface="+mj-lt"/>
              </a:rPr>
              <a:t>̉ </a:t>
            </a:r>
            <a:r>
              <a:rPr lang="en-US" altLang="ja-JP" sz="1600" dirty="0" err="1">
                <a:latin typeface="+mj-lt"/>
              </a:rPr>
              <a:t>dụng</a:t>
            </a:r>
            <a:r>
              <a:rPr lang="en-US" altLang="ja-JP" sz="1600" dirty="0">
                <a:latin typeface="+mj-lt"/>
              </a:rPr>
              <a:t> </a:t>
            </a:r>
            <a:r>
              <a:rPr lang="en-US" altLang="ja-JP" sz="1600" dirty="0" err="1">
                <a:latin typeface="+mj-lt"/>
              </a:rPr>
              <a:t>va</a:t>
            </a:r>
            <a:r>
              <a:rPr lang="en-US" altLang="ja-JP" sz="1600" dirty="0">
                <a:latin typeface="+mj-lt"/>
              </a:rPr>
              <a:t>̀ </a:t>
            </a:r>
            <a:r>
              <a:rPr lang="en-US" altLang="ja-JP" sz="1600" dirty="0" err="1">
                <a:latin typeface="+mj-lt"/>
              </a:rPr>
              <a:t>người</a:t>
            </a:r>
            <a:r>
              <a:rPr lang="en-US" altLang="ja-JP" sz="1600" dirty="0">
                <a:latin typeface="+mj-lt"/>
              </a:rPr>
              <a:t> </a:t>
            </a:r>
            <a:r>
              <a:rPr lang="en-US" altLang="ja-JP" sz="1600" dirty="0" err="1">
                <a:latin typeface="+mj-lt"/>
              </a:rPr>
              <a:t>cung</a:t>
            </a:r>
            <a:r>
              <a:rPr lang="en-US" altLang="ja-JP" sz="1600" dirty="0">
                <a:latin typeface="+mj-lt"/>
              </a:rPr>
              <a:t> </a:t>
            </a:r>
            <a:r>
              <a:rPr lang="en-US" altLang="ja-JP" sz="1600" dirty="0" err="1">
                <a:latin typeface="+mj-lt"/>
              </a:rPr>
              <a:t>cấp</a:t>
            </a:r>
            <a:endParaRPr lang="en-US" altLang="ja-JP" sz="1600"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BE237FF-63CF-BBAF-25AF-2EB0ECD62456}"/>
              </a:ext>
            </a:extLst>
          </p:cNvPr>
          <p:cNvSpPr>
            <a:spLocks noGrp="1"/>
          </p:cNvSpPr>
          <p:nvPr>
            <p:ph type="sldNum" sz="quarter" idx="10"/>
          </p:nvPr>
        </p:nvSpPr>
        <p:spPr/>
        <p:txBody>
          <a:bodyPr/>
          <a:lstStyle/>
          <a:p>
            <a:fld id="{EA2F1D16-FA09-45DD-9417-A0C69BFD4A3E}" type="slidenum">
              <a:rPr lang="en-US" altLang="ja-JP"/>
              <a:pPr/>
              <a:t>4</a:t>
            </a:fld>
            <a:endParaRPr lang="en-US" altLang="ja-JP"/>
          </a:p>
        </p:txBody>
      </p:sp>
      <p:sp>
        <p:nvSpPr>
          <p:cNvPr id="368642" name="Rectangle 2">
            <a:extLst>
              <a:ext uri="{FF2B5EF4-FFF2-40B4-BE49-F238E27FC236}">
                <a16:creationId xmlns:a16="http://schemas.microsoft.com/office/drawing/2014/main" id="{21C8E5C5-EFA1-D579-2645-13D91C5EA5C6}"/>
              </a:ext>
            </a:extLst>
          </p:cNvPr>
          <p:cNvSpPr>
            <a:spLocks noGrp="1" noChangeArrowheads="1"/>
          </p:cNvSpPr>
          <p:nvPr>
            <p:ph type="title"/>
          </p:nvPr>
        </p:nvSpPr>
        <p:spPr>
          <a:xfrm>
            <a:off x="344488" y="30956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Định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nghĩa</a:t>
            </a:r>
            <a:r>
              <a:rPr lang="en-US" altLang="ja-JP" dirty="0">
                <a:latin typeface="Arial" panose="020B0604020202020204" pitchFamily="34" charset="0"/>
                <a:ea typeface="MS UI Gothic" panose="020B0600070205080204" pitchFamily="50" charset="-128"/>
              </a:rPr>
              <a:t> interface</a:t>
            </a:r>
          </a:p>
        </p:txBody>
      </p:sp>
      <p:sp>
        <p:nvSpPr>
          <p:cNvPr id="368643" name="Rectangle 3">
            <a:extLst>
              <a:ext uri="{FF2B5EF4-FFF2-40B4-BE49-F238E27FC236}">
                <a16:creationId xmlns:a16="http://schemas.microsoft.com/office/drawing/2014/main" id="{82787DFD-F495-3862-F081-7B15B3FF92EE}"/>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368644" name="Rectangle 4">
            <a:extLst>
              <a:ext uri="{FF2B5EF4-FFF2-40B4-BE49-F238E27FC236}">
                <a16:creationId xmlns:a16="http://schemas.microsoft.com/office/drawing/2014/main" id="{3837CB18-E9A2-AE3A-83F0-EB6D2496AB55}"/>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Định nghĩa của interface</a:t>
            </a:r>
          </a:p>
          <a:p>
            <a:pPr>
              <a:spcBef>
                <a:spcPct val="50000"/>
              </a:spcBef>
              <a:buFont typeface="Wingdings" panose="05000000000000000000" pitchFamily="2" charset="2"/>
              <a:buNone/>
            </a:pPr>
            <a:r>
              <a:rPr lang="en-US" altLang="ja-JP" sz="2000" b="0">
                <a:latin typeface="Arial" panose="020B0604020202020204" pitchFamily="34" charset="0"/>
              </a:rPr>
              <a:t>●Cú pháp cơ bản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368660" name="Text Box 20">
            <a:extLst>
              <a:ext uri="{FF2B5EF4-FFF2-40B4-BE49-F238E27FC236}">
                <a16:creationId xmlns:a16="http://schemas.microsoft.com/office/drawing/2014/main" id="{17C2FF39-EE31-6FCD-4B9B-235DBAFA48C1}"/>
              </a:ext>
            </a:extLst>
          </p:cNvPr>
          <p:cNvSpPr txBox="1">
            <a:spLocks noChangeArrowheads="1"/>
          </p:cNvSpPr>
          <p:nvPr/>
        </p:nvSpPr>
        <p:spPr bwMode="auto">
          <a:xfrm>
            <a:off x="344488" y="1751013"/>
            <a:ext cx="8905875" cy="2886075"/>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1800" dirty="0">
                <a:ea typeface="ＭＳ ゴシック" panose="020B0609070205080204" pitchFamily="49" charset="-128"/>
              </a:rPr>
              <a:t>public</a:t>
            </a:r>
            <a:r>
              <a:rPr lang="en-US" altLang="ja-JP" sz="1800" dirty="0">
                <a:ea typeface="MS UI Gothic" panose="020B0600070205080204" pitchFamily="50" charset="-128"/>
              </a:rPr>
              <a:t>  </a:t>
            </a:r>
            <a:r>
              <a:rPr lang="en-US" altLang="ja-JP" sz="1800" dirty="0">
                <a:ea typeface="ＭＳ ゴシック" panose="020B0609070205080204" pitchFamily="49" charset="-128"/>
              </a:rPr>
              <a:t>interface</a:t>
            </a:r>
            <a:r>
              <a:rPr lang="en-US" altLang="ja-JP" sz="1800" dirty="0">
                <a:ea typeface="MS UI Gothic" panose="020B0600070205080204" pitchFamily="50" charset="-128"/>
              </a:rPr>
              <a:t>  </a:t>
            </a:r>
            <a:r>
              <a:rPr lang="en-US" altLang="ja-JP" sz="1800" dirty="0" err="1">
                <a:ea typeface="MS UI Gothic" panose="020B0600070205080204" pitchFamily="50" charset="-128"/>
              </a:rPr>
              <a:t>interface</a:t>
            </a:r>
            <a:r>
              <a:rPr lang="en-US" altLang="ja-JP" sz="1800" dirty="0">
                <a:ea typeface="MS UI Gothic" panose="020B0600070205080204" pitchFamily="50" charset="-128"/>
              </a:rPr>
              <a:t> name  </a:t>
            </a:r>
            <a:r>
              <a:rPr lang="en-US" altLang="ja-JP" sz="1800" dirty="0">
                <a:ea typeface="ＭＳ ゴシック" panose="020B0609070205080204" pitchFamily="49" charset="-128"/>
              </a:rPr>
              <a:t>extends</a:t>
            </a:r>
            <a:r>
              <a:rPr lang="en-US" altLang="ja-JP" sz="1800" dirty="0">
                <a:ea typeface="MS UI Gothic" panose="020B0600070205080204" pitchFamily="50" charset="-128"/>
              </a:rPr>
              <a:t>  list interface name </a:t>
            </a:r>
            <a:r>
              <a:rPr lang="en-US" altLang="ja-JP" sz="1800" dirty="0" err="1">
                <a:ea typeface="MS UI Gothic" panose="020B0600070205080204" pitchFamily="50" charset="-128"/>
              </a:rPr>
              <a:t>muốn</a:t>
            </a:r>
            <a:r>
              <a:rPr lang="en-US" altLang="ja-JP" sz="1800" dirty="0">
                <a:ea typeface="MS UI Gothic" panose="020B0600070205080204" pitchFamily="50" charset="-128"/>
              </a:rPr>
              <a:t> </a:t>
            </a:r>
            <a:r>
              <a:rPr lang="en-US" altLang="ja-JP" sz="1800" dirty="0" err="1">
                <a:ea typeface="MS UI Gothic" panose="020B0600070205080204" pitchFamily="50" charset="-128"/>
              </a:rPr>
              <a:t>kê</a:t>
            </a:r>
            <a:r>
              <a:rPr lang="en-US" altLang="ja-JP" sz="1800" dirty="0">
                <a:ea typeface="MS UI Gothic" panose="020B0600070205080204" pitchFamily="50" charset="-128"/>
              </a:rPr>
              <a:t>́ </a:t>
            </a:r>
            <a:r>
              <a:rPr lang="en-US" altLang="ja-JP" sz="1800" dirty="0" err="1">
                <a:ea typeface="MS UI Gothic" panose="020B0600070205080204" pitchFamily="50" charset="-128"/>
              </a:rPr>
              <a:t>thừa</a:t>
            </a:r>
            <a:r>
              <a:rPr lang="en-US" altLang="ja-JP" sz="1800" dirty="0">
                <a:ea typeface="ＭＳ ゴシック" panose="020B0609070205080204" pitchFamily="49" charset="-128"/>
              </a:rPr>
              <a:t> {</a:t>
            </a:r>
          </a:p>
          <a:p>
            <a:pPr lvl="1" algn="just">
              <a:lnSpc>
                <a:spcPct val="112000"/>
              </a:lnSpc>
            </a:pPr>
            <a:r>
              <a:rPr lang="en-US" altLang="ja-JP" sz="1800" dirty="0">
                <a:ea typeface="MS UI Gothic" panose="020B0600070205080204" pitchFamily="50" charset="-128"/>
              </a:rPr>
              <a:t>	</a:t>
            </a:r>
            <a:r>
              <a:rPr lang="en-US" altLang="ja-JP" sz="1800" dirty="0">
                <a:ea typeface="ＭＳ ゴシック" panose="020B0609070205080204" pitchFamily="49" charset="-128"/>
              </a:rPr>
              <a:t>//</a:t>
            </a:r>
            <a:r>
              <a:rPr lang="en-US" altLang="ja-JP" sz="1800" dirty="0">
                <a:ea typeface="MS UI Gothic" panose="020B0600070205080204" pitchFamily="50" charset="-128"/>
              </a:rPr>
              <a:t>  </a:t>
            </a:r>
            <a:r>
              <a:rPr lang="en-US" altLang="ja-JP" sz="1800" dirty="0" err="1">
                <a:ea typeface="MS UI Gothic" panose="020B0600070205080204" pitchFamily="50" charset="-128"/>
              </a:rPr>
              <a:t>định</a:t>
            </a:r>
            <a:r>
              <a:rPr lang="en-US" altLang="ja-JP" sz="1800" dirty="0">
                <a:ea typeface="MS UI Gothic" panose="020B0600070205080204" pitchFamily="50" charset="-128"/>
              </a:rPr>
              <a:t> </a:t>
            </a:r>
            <a:r>
              <a:rPr lang="en-US" altLang="ja-JP" sz="1800" dirty="0" err="1">
                <a:ea typeface="MS UI Gothic" panose="020B0600070205080204" pitchFamily="50" charset="-128"/>
              </a:rPr>
              <a:t>nghĩa</a:t>
            </a:r>
            <a:r>
              <a:rPr lang="en-US" altLang="ja-JP" sz="1800" dirty="0">
                <a:ea typeface="MS UI Gothic" panose="020B0600070205080204" pitchFamily="50" charset="-128"/>
              </a:rPr>
              <a:t> </a:t>
            </a:r>
            <a:r>
              <a:rPr lang="en-US" altLang="ja-JP" sz="1800" dirty="0" err="1">
                <a:ea typeface="MS UI Gothic" panose="020B0600070205080204" pitchFamily="50" charset="-128"/>
              </a:rPr>
              <a:t>hằng</a:t>
            </a:r>
            <a:r>
              <a:rPr lang="en-US" altLang="ja-JP" sz="1800" dirty="0">
                <a:ea typeface="MS UI Gothic" panose="020B0600070205080204" pitchFamily="50" charset="-128"/>
              </a:rPr>
              <a:t> </a:t>
            </a:r>
            <a:r>
              <a:rPr lang="en-US" altLang="ja-JP" sz="1800" dirty="0" err="1">
                <a:ea typeface="MS UI Gothic" panose="020B0600070205080204" pitchFamily="50" charset="-128"/>
              </a:rPr>
              <a:t>sô</a:t>
            </a:r>
            <a:r>
              <a:rPr lang="en-US" altLang="ja-JP" sz="1800" dirty="0">
                <a:ea typeface="MS UI Gothic" panose="020B0600070205080204" pitchFamily="50" charset="-128"/>
              </a:rPr>
              <a:t>́</a:t>
            </a:r>
          </a:p>
          <a:p>
            <a:pPr lvl="1" algn="just">
              <a:lnSpc>
                <a:spcPct val="112000"/>
              </a:lnSpc>
            </a:pPr>
            <a:r>
              <a:rPr lang="en-US" altLang="ja-JP" sz="1800" dirty="0">
                <a:ea typeface="MS UI Gothic" panose="020B0600070205080204" pitchFamily="50" charset="-128"/>
              </a:rPr>
              <a:t>	</a:t>
            </a:r>
            <a:r>
              <a:rPr lang="en-US" altLang="ja-JP" sz="1800" dirty="0" err="1">
                <a:ea typeface="MS UI Gothic" panose="020B0600070205080204" pitchFamily="50" charset="-128"/>
              </a:rPr>
              <a:t>Kiểu</a:t>
            </a:r>
            <a:r>
              <a:rPr lang="en-US" altLang="ja-JP" sz="1800" dirty="0">
                <a:ea typeface="MS UI Gothic" panose="020B0600070205080204" pitchFamily="50" charset="-128"/>
              </a:rPr>
              <a:t> data  </a:t>
            </a:r>
            <a:r>
              <a:rPr lang="en-US" altLang="ja-JP" sz="1800" dirty="0" err="1">
                <a:ea typeface="MS UI Gothic" panose="020B0600070205080204" pitchFamily="50" charset="-128"/>
              </a:rPr>
              <a:t>tên</a:t>
            </a:r>
            <a:r>
              <a:rPr lang="en-US" altLang="ja-JP" sz="1800" dirty="0">
                <a:ea typeface="MS UI Gothic" panose="020B0600070205080204" pitchFamily="50" charset="-128"/>
              </a:rPr>
              <a:t> </a:t>
            </a:r>
            <a:r>
              <a:rPr lang="en-US" altLang="ja-JP" sz="1800" dirty="0" err="1">
                <a:ea typeface="MS UI Gothic" panose="020B0600070205080204" pitchFamily="50" charset="-128"/>
              </a:rPr>
              <a:t>biến</a:t>
            </a:r>
            <a:r>
              <a:rPr lang="en-US" altLang="ja-JP" sz="1800" dirty="0">
                <a:ea typeface="ＭＳ ゴシック" panose="020B0609070205080204" pitchFamily="49" charset="-128"/>
              </a:rPr>
              <a:t> = </a:t>
            </a:r>
            <a:r>
              <a:rPr lang="en-US" altLang="ja-JP" sz="1800" dirty="0" err="1">
                <a:ea typeface="ＭＳ ゴシック" panose="020B0609070205080204" pitchFamily="49" charset="-128"/>
              </a:rPr>
              <a:t>gia</a:t>
            </a:r>
            <a:r>
              <a:rPr lang="en-US" altLang="ja-JP" sz="1800" dirty="0">
                <a:ea typeface="ＭＳ ゴシック" panose="020B0609070205080204" pitchFamily="49" charset="-128"/>
              </a:rPr>
              <a:t>́ trị;</a:t>
            </a:r>
          </a:p>
          <a:p>
            <a:pPr lvl="1" algn="just">
              <a:lnSpc>
                <a:spcPct val="112000"/>
              </a:lnSpc>
            </a:pPr>
            <a:r>
              <a:rPr lang="en-US" altLang="ja-JP" sz="1800" dirty="0">
                <a:ea typeface="MS UI Gothic" panose="020B0600070205080204" pitchFamily="50" charset="-128"/>
              </a:rPr>
              <a:t>		</a:t>
            </a:r>
            <a:r>
              <a:rPr lang="ja-JP" altLang="en-US" sz="1800" dirty="0">
                <a:ea typeface="MS UI Gothic" panose="020B0600070205080204" pitchFamily="50" charset="-128"/>
              </a:rPr>
              <a:t>：</a:t>
            </a:r>
          </a:p>
          <a:p>
            <a:pPr lvl="1" algn="just">
              <a:lnSpc>
                <a:spcPct val="112000"/>
              </a:lnSpc>
            </a:pPr>
            <a:r>
              <a:rPr lang="ja-JP" altLang="en-US" sz="1800" dirty="0">
                <a:ea typeface="MS UI Gothic" panose="020B0600070205080204" pitchFamily="50" charset="-128"/>
              </a:rPr>
              <a:t>	</a:t>
            </a:r>
            <a:r>
              <a:rPr lang="en-US" altLang="ja-JP" sz="1800" dirty="0">
                <a:ea typeface="ＭＳ ゴシック" panose="020B0609070205080204" pitchFamily="49" charset="-128"/>
              </a:rPr>
              <a:t>//</a:t>
            </a:r>
            <a:r>
              <a:rPr lang="en-US" altLang="ja-JP" sz="1800" dirty="0">
                <a:ea typeface="MS UI Gothic" panose="020B0600070205080204" pitchFamily="50" charset="-128"/>
              </a:rPr>
              <a:t>  </a:t>
            </a:r>
            <a:r>
              <a:rPr lang="en-US" altLang="ja-JP" sz="1800" dirty="0" err="1">
                <a:ea typeface="MS UI Gothic" panose="020B0600070205080204" pitchFamily="50" charset="-128"/>
              </a:rPr>
              <a:t>định</a:t>
            </a:r>
            <a:r>
              <a:rPr lang="en-US" altLang="ja-JP" sz="1800" dirty="0">
                <a:ea typeface="MS UI Gothic" panose="020B0600070205080204" pitchFamily="50" charset="-128"/>
              </a:rPr>
              <a:t> </a:t>
            </a:r>
            <a:r>
              <a:rPr lang="en-US" altLang="ja-JP" sz="1800" dirty="0" err="1">
                <a:ea typeface="MS UI Gothic" panose="020B0600070205080204" pitchFamily="50" charset="-128"/>
              </a:rPr>
              <a:t>nghĩa</a:t>
            </a:r>
            <a:r>
              <a:rPr lang="en-US" altLang="ja-JP" sz="1800" dirty="0">
                <a:ea typeface="MS UI Gothic" panose="020B0600070205080204" pitchFamily="50" charset="-128"/>
              </a:rPr>
              <a:t> </a:t>
            </a:r>
            <a:r>
              <a:rPr lang="en-US" altLang="ja-JP" sz="1800" dirty="0" err="1">
                <a:ea typeface="MS UI Gothic" panose="020B0600070205080204" pitchFamily="50" charset="-128"/>
              </a:rPr>
              <a:t>khuôn</a:t>
            </a:r>
            <a:r>
              <a:rPr lang="en-US" altLang="ja-JP" sz="1800" dirty="0">
                <a:ea typeface="MS UI Gothic" panose="020B0600070205080204" pitchFamily="50" charset="-128"/>
              </a:rPr>
              <a:t> </a:t>
            </a:r>
            <a:r>
              <a:rPr lang="en-US" altLang="ja-JP" sz="1800" dirty="0" err="1">
                <a:ea typeface="MS UI Gothic" panose="020B0600070205080204" pitchFamily="50" charset="-128"/>
              </a:rPr>
              <a:t>mẫu</a:t>
            </a:r>
            <a:r>
              <a:rPr lang="en-US" altLang="ja-JP" sz="1800" dirty="0">
                <a:ea typeface="MS UI Gothic" panose="020B0600070205080204" pitchFamily="50" charset="-128"/>
              </a:rPr>
              <a:t> </a:t>
            </a:r>
            <a:r>
              <a:rPr lang="en-US" altLang="ja-JP" sz="1800" dirty="0" err="1">
                <a:ea typeface="MS UI Gothic" panose="020B0600070205080204" pitchFamily="50" charset="-128"/>
              </a:rPr>
              <a:t>của</a:t>
            </a:r>
            <a:r>
              <a:rPr lang="en-US" altLang="ja-JP" sz="1800" dirty="0">
                <a:ea typeface="MS UI Gothic" panose="020B0600070205080204" pitchFamily="50" charset="-128"/>
              </a:rPr>
              <a:t> method</a:t>
            </a:r>
          </a:p>
          <a:p>
            <a:pPr lvl="1" algn="just">
              <a:lnSpc>
                <a:spcPct val="112000"/>
              </a:lnSpc>
            </a:pPr>
            <a:r>
              <a:rPr lang="en-US" altLang="ja-JP" sz="1800" dirty="0">
                <a:ea typeface="MS UI Gothic" panose="020B0600070205080204" pitchFamily="50" charset="-128"/>
              </a:rPr>
              <a:t>	</a:t>
            </a:r>
            <a:r>
              <a:rPr lang="en-US" altLang="ja-JP" sz="1800" dirty="0" err="1">
                <a:ea typeface="MS UI Gothic" panose="020B0600070205080204" pitchFamily="50" charset="-128"/>
              </a:rPr>
              <a:t>Kiểu</a:t>
            </a:r>
            <a:r>
              <a:rPr lang="en-US" altLang="ja-JP" sz="1800" dirty="0">
                <a:ea typeface="MS UI Gothic" panose="020B0600070205080204" pitchFamily="50" charset="-128"/>
              </a:rPr>
              <a:t> </a:t>
            </a:r>
            <a:r>
              <a:rPr lang="en-US" altLang="ja-JP" sz="1800" dirty="0" err="1">
                <a:ea typeface="MS UI Gothic" panose="020B0600070205080204" pitchFamily="50" charset="-128"/>
              </a:rPr>
              <a:t>gia</a:t>
            </a:r>
            <a:r>
              <a:rPr lang="en-US" altLang="ja-JP" sz="1800" dirty="0">
                <a:ea typeface="MS UI Gothic" panose="020B0600070205080204" pitchFamily="50" charset="-128"/>
              </a:rPr>
              <a:t>́ trị </a:t>
            </a:r>
            <a:r>
              <a:rPr lang="en-US" altLang="ja-JP" sz="1800" dirty="0" err="1">
                <a:ea typeface="MS UI Gothic" panose="020B0600070205080204" pitchFamily="50" charset="-128"/>
              </a:rPr>
              <a:t>tra</a:t>
            </a:r>
            <a:r>
              <a:rPr lang="en-US" altLang="ja-JP" sz="1800" dirty="0">
                <a:ea typeface="MS UI Gothic" panose="020B0600070205080204" pitchFamily="50" charset="-128"/>
              </a:rPr>
              <a:t>̉ </a:t>
            </a:r>
            <a:r>
              <a:rPr lang="en-US" altLang="ja-JP" sz="1800" dirty="0" err="1">
                <a:ea typeface="MS UI Gothic" panose="020B0600070205080204" pitchFamily="50" charset="-128"/>
              </a:rPr>
              <a:t>vê</a:t>
            </a:r>
            <a:r>
              <a:rPr lang="en-US" altLang="ja-JP" sz="1800">
                <a:ea typeface="MS UI Gothic" panose="020B0600070205080204" pitchFamily="50" charset="-128"/>
              </a:rPr>
              <a:t>̀  method name  </a:t>
            </a:r>
            <a:r>
              <a:rPr lang="en-US" altLang="ja-JP" sz="1800">
                <a:ea typeface="ＭＳ ゴシック" panose="020B0609070205080204" pitchFamily="49" charset="-128"/>
              </a:rPr>
              <a:t>(list </a:t>
            </a:r>
            <a:r>
              <a:rPr lang="en-US" altLang="ja-JP" sz="1800" dirty="0" err="1">
                <a:ea typeface="ＭＳ ゴシック" panose="020B0609070205080204" pitchFamily="49" charset="-128"/>
              </a:rPr>
              <a:t>đối</a:t>
            </a:r>
            <a:r>
              <a:rPr lang="en-US" altLang="ja-JP" sz="1800" dirty="0">
                <a:ea typeface="ＭＳ ゴシック" panose="020B0609070205080204" pitchFamily="49" charset="-128"/>
              </a:rPr>
              <a:t> </a:t>
            </a:r>
            <a:r>
              <a:rPr lang="en-US" altLang="ja-JP" sz="1800" dirty="0" err="1">
                <a:ea typeface="ＭＳ ゴシック" panose="020B0609070205080204" pitchFamily="49" charset="-128"/>
              </a:rPr>
              <a:t>sô</a:t>
            </a:r>
            <a:r>
              <a:rPr lang="en-US" altLang="ja-JP" sz="1800" dirty="0">
                <a:ea typeface="ＭＳ ゴシック" panose="020B0609070205080204" pitchFamily="49" charset="-128"/>
              </a:rPr>
              <a:t>́);</a:t>
            </a:r>
          </a:p>
          <a:p>
            <a:pPr lvl="1" algn="just">
              <a:lnSpc>
                <a:spcPct val="112000"/>
              </a:lnSpc>
            </a:pPr>
            <a:r>
              <a:rPr lang="en-US" altLang="ja-JP" sz="1800" dirty="0">
                <a:ea typeface="MS UI Gothic" panose="020B0600070205080204" pitchFamily="50" charset="-128"/>
              </a:rPr>
              <a:t>		</a:t>
            </a:r>
            <a:r>
              <a:rPr lang="ja-JP" altLang="en-US" sz="1800" dirty="0">
                <a:ea typeface="MS UI Gothic" panose="020B0600070205080204" pitchFamily="50" charset="-128"/>
              </a:rPr>
              <a:t>：</a:t>
            </a:r>
          </a:p>
          <a:p>
            <a:pPr lvl="1" algn="just">
              <a:lnSpc>
                <a:spcPct val="112000"/>
              </a:lnSpc>
            </a:pPr>
            <a:r>
              <a:rPr lang="en-US" altLang="ja-JP" sz="1800" dirty="0">
                <a:ea typeface="ＭＳ ゴシック" panose="020B0609070205080204" pitchFamily="49" charset="-128"/>
              </a:rPr>
              <a:t>}</a:t>
            </a:r>
          </a:p>
        </p:txBody>
      </p:sp>
      <p:sp>
        <p:nvSpPr>
          <p:cNvPr id="368663" name="Rectangle 23">
            <a:extLst>
              <a:ext uri="{FF2B5EF4-FFF2-40B4-BE49-F238E27FC236}">
                <a16:creationId xmlns:a16="http://schemas.microsoft.com/office/drawing/2014/main" id="{3C212A7D-0E94-F9A2-3164-AA4E6F63AEB5}"/>
              </a:ext>
            </a:extLst>
          </p:cNvPr>
          <p:cNvSpPr>
            <a:spLocks noChangeArrowheads="1"/>
          </p:cNvSpPr>
          <p:nvPr/>
        </p:nvSpPr>
        <p:spPr bwMode="auto">
          <a:xfrm>
            <a:off x="344488" y="48101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1600" b="0">
                <a:latin typeface="Arial" panose="020B0604020202020204" pitchFamily="34" charset="0"/>
              </a:rPr>
              <a:t>●Ví dụ</a:t>
            </a:r>
            <a:r>
              <a:rPr lang="ja-JP" altLang="en-US" sz="1600" b="0">
                <a:latin typeface="Arial" panose="020B0604020202020204" pitchFamily="34" charset="0"/>
              </a:rPr>
              <a:t>　（</a:t>
            </a:r>
            <a:r>
              <a:rPr lang="en-US" altLang="ja-JP" sz="1600" b="0">
                <a:latin typeface="Arial" panose="020B0604020202020204" pitchFamily="34" charset="0"/>
              </a:rPr>
              <a:t>tạo thành PrintableInfo. java. Nếu compile thì  PrintableInfo.class sẽ được tạo ra</a:t>
            </a:r>
            <a:r>
              <a:rPr lang="ja-JP" altLang="en-US" sz="1600" b="0">
                <a:latin typeface="Arial" panose="020B0604020202020204" pitchFamily="34" charset="0"/>
              </a:rPr>
              <a:t>）</a:t>
            </a:r>
          </a:p>
        </p:txBody>
      </p:sp>
      <p:sp>
        <p:nvSpPr>
          <p:cNvPr id="368664" name="Rectangle 24">
            <a:extLst>
              <a:ext uri="{FF2B5EF4-FFF2-40B4-BE49-F238E27FC236}">
                <a16:creationId xmlns:a16="http://schemas.microsoft.com/office/drawing/2014/main" id="{C07B54A2-D3BA-7674-DA96-DA88E4B29DD2}"/>
              </a:ext>
            </a:extLst>
          </p:cNvPr>
          <p:cNvSpPr>
            <a:spLocks noChangeArrowheads="1"/>
          </p:cNvSpPr>
          <p:nvPr/>
        </p:nvSpPr>
        <p:spPr bwMode="auto">
          <a:xfrm>
            <a:off x="344488" y="5219700"/>
            <a:ext cx="9120187" cy="10779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ja-JP" sz="1800" b="0" dirty="0">
                <a:latin typeface="Arial" panose="020B0604020202020204" pitchFamily="34" charset="0"/>
                <a:ea typeface="ＭＳ ゴシック" panose="020B0609070205080204" pitchFamily="49" charset="-128"/>
              </a:rPr>
              <a:t>public interface</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PrintableInfo</a:t>
            </a:r>
            <a:r>
              <a:rPr lang="fr-FR" altLang="en-US" sz="1800" b="0" dirty="0">
                <a:latin typeface="Arial" panose="020B0604020202020204" pitchFamily="34" charset="0"/>
                <a:ea typeface="ＭＳ ゴシック" panose="020B0609070205080204" pitchFamily="49" charset="-128"/>
              </a:rPr>
              <a:t> {</a:t>
            </a:r>
          </a:p>
          <a:p>
            <a:pPr lvl="1"/>
            <a:r>
              <a:rPr lang="fr-FR" altLang="ja-JP" sz="1800" b="0" dirty="0">
                <a:latin typeface="Arial" panose="020B0604020202020204" pitchFamily="34" charset="0"/>
                <a:ea typeface="ＭＳ ゴシック" panose="020B0609070205080204" pitchFamily="49" charset="-128"/>
              </a:rPr>
              <a:t>    </a:t>
            </a:r>
            <a:r>
              <a:rPr lang="fr-FR" altLang="en-US" sz="1800" b="0" dirty="0">
                <a:latin typeface="Arial" panose="020B0604020202020204" pitchFamily="34" charset="0"/>
                <a:ea typeface="ＭＳ ゴシック" panose="020B0609070205080204" pitchFamily="49" charset="-128"/>
              </a:rPr>
              <a:t>public </a:t>
            </a:r>
            <a:r>
              <a:rPr lang="fr-FR" altLang="en-US" sz="1800" b="0" dirty="0" err="1">
                <a:latin typeface="Arial" panose="020B0604020202020204" pitchFamily="34" charset="0"/>
                <a:ea typeface="ＭＳ ゴシック" panose="020B0609070205080204" pitchFamily="49" charset="-128"/>
              </a:rPr>
              <a:t>void</a:t>
            </a:r>
            <a:r>
              <a:rPr lang="fr-FR" altLang="en-US" sz="1800" b="0" dirty="0">
                <a:latin typeface="Arial" panose="020B0604020202020204" pitchFamily="34" charset="0"/>
                <a:ea typeface="ＭＳ ゴシック" panose="020B0609070205080204" pitchFamily="49" charset="-128"/>
              </a:rPr>
              <a:t> </a:t>
            </a:r>
            <a:r>
              <a:rPr lang="fr-FR" altLang="en-US" sz="1800" b="0" dirty="0" err="1">
                <a:latin typeface="Arial" panose="020B0604020202020204" pitchFamily="34" charset="0"/>
                <a:ea typeface="ＭＳ ゴシック" panose="020B0609070205080204" pitchFamily="49" charset="-128"/>
              </a:rPr>
              <a:t>printInfo</a:t>
            </a:r>
            <a:r>
              <a:rPr lang="fr-FR" altLang="en-US" sz="1800" b="0" dirty="0">
                <a:latin typeface="Arial" panose="020B0604020202020204" pitchFamily="34" charset="0"/>
                <a:ea typeface="ＭＳ ゴシック" panose="020B0609070205080204" pitchFamily="49" charset="-128"/>
              </a:rPr>
              <a:t>();</a:t>
            </a:r>
          </a:p>
          <a:p>
            <a:pPr lvl="1"/>
            <a:r>
              <a:rPr lang="fr-FR" altLang="en-US" sz="1800" b="0" dirty="0">
                <a:latin typeface="Arial" panose="020B0604020202020204" pitchFamily="34" charset="0"/>
                <a:ea typeface="ＭＳ ゴシック" panose="020B0609070205080204" pitchFamily="49" charset="-128"/>
              </a:rPr>
              <a:t>}</a:t>
            </a:r>
          </a:p>
        </p:txBody>
      </p:sp>
      <p:sp>
        <p:nvSpPr>
          <p:cNvPr id="368666" name="AutoShape 26">
            <a:extLst>
              <a:ext uri="{FF2B5EF4-FFF2-40B4-BE49-F238E27FC236}">
                <a16:creationId xmlns:a16="http://schemas.microsoft.com/office/drawing/2014/main" id="{5B237465-6C72-F5A4-CBF2-2878C94D98C0}"/>
              </a:ext>
            </a:extLst>
          </p:cNvPr>
          <p:cNvSpPr>
            <a:spLocks noChangeArrowheads="1"/>
          </p:cNvSpPr>
          <p:nvPr/>
        </p:nvSpPr>
        <p:spPr bwMode="auto">
          <a:xfrm>
            <a:off x="4458935" y="2344737"/>
            <a:ext cx="4819650" cy="508000"/>
          </a:xfrm>
          <a:prstGeom prst="wedgeRoundRectCallout">
            <a:avLst>
              <a:gd name="adj1" fmla="val -56454"/>
              <a:gd name="adj2" fmla="val 1500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toàn</a:t>
            </a:r>
            <a:r>
              <a:rPr lang="en-US" altLang="ja-JP" sz="1800" dirty="0">
                <a:latin typeface="+mj-lt"/>
              </a:rPr>
              <a:t> </a:t>
            </a:r>
            <a:r>
              <a:rPr lang="en-US" altLang="ja-JP" sz="1800" dirty="0" err="1">
                <a:latin typeface="+mj-lt"/>
              </a:rPr>
              <a:t>bô</a:t>
            </a:r>
            <a:r>
              <a:rPr lang="en-US" altLang="ja-JP" sz="1800" dirty="0">
                <a:latin typeface="+mj-lt"/>
              </a:rPr>
              <a:t>̣ Field </a:t>
            </a:r>
            <a:r>
              <a:rPr lang="en-US" altLang="ja-JP" sz="1800" dirty="0" err="1">
                <a:latin typeface="+mj-lt"/>
              </a:rPr>
              <a:t>sẽ</a:t>
            </a:r>
            <a:r>
              <a:rPr lang="en-US" altLang="ja-JP" sz="1800" dirty="0">
                <a:latin typeface="+mj-lt"/>
              </a:rPr>
              <a:t> là </a:t>
            </a:r>
            <a:r>
              <a:rPr lang="ja-JP" altLang="en-US" sz="1800" dirty="0">
                <a:latin typeface="+mj-lt"/>
              </a:rPr>
              <a:t>「</a:t>
            </a:r>
            <a:r>
              <a:rPr lang="en-US" altLang="ja-JP" sz="1800" dirty="0">
                <a:latin typeface="+mj-lt"/>
              </a:rPr>
              <a:t>public static final </a:t>
            </a:r>
            <a:r>
              <a:rPr lang="ja-JP" altLang="en-US" sz="1800" dirty="0">
                <a:latin typeface="+mj-lt"/>
              </a:rPr>
              <a:t>」 </a:t>
            </a:r>
          </a:p>
        </p:txBody>
      </p:sp>
      <p:sp>
        <p:nvSpPr>
          <p:cNvPr id="368669" name="AutoShape 29">
            <a:extLst>
              <a:ext uri="{FF2B5EF4-FFF2-40B4-BE49-F238E27FC236}">
                <a16:creationId xmlns:a16="http://schemas.microsoft.com/office/drawing/2014/main" id="{D114621A-5C62-A189-9CF6-3EB5C4B8DC20}"/>
              </a:ext>
            </a:extLst>
          </p:cNvPr>
          <p:cNvSpPr>
            <a:spLocks noChangeArrowheads="1"/>
          </p:cNvSpPr>
          <p:nvPr/>
        </p:nvSpPr>
        <p:spPr bwMode="auto">
          <a:xfrm>
            <a:off x="4675188" y="3984625"/>
            <a:ext cx="4362450" cy="352425"/>
          </a:xfrm>
          <a:prstGeom prst="wedgeRoundRectCallout">
            <a:avLst>
              <a:gd name="adj1" fmla="val -37662"/>
              <a:gd name="adj2" fmla="val -9819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dirty="0" err="1">
                <a:latin typeface="+mj-lt"/>
              </a:rPr>
              <a:t>toàn</a:t>
            </a:r>
            <a:r>
              <a:rPr lang="en-US" altLang="ja-JP" sz="1800" dirty="0">
                <a:latin typeface="+mj-lt"/>
              </a:rPr>
              <a:t> </a:t>
            </a:r>
            <a:r>
              <a:rPr lang="en-US" altLang="ja-JP" sz="1800" dirty="0" err="1">
                <a:latin typeface="+mj-lt"/>
              </a:rPr>
              <a:t>bô</a:t>
            </a:r>
            <a:r>
              <a:rPr lang="en-US" altLang="ja-JP" sz="1800" dirty="0">
                <a:latin typeface="+mj-lt"/>
              </a:rPr>
              <a:t>̣ method là </a:t>
            </a:r>
            <a:r>
              <a:rPr lang="ja-JP" altLang="en-US" sz="1800" dirty="0">
                <a:latin typeface="+mj-lt"/>
              </a:rPr>
              <a:t>「</a:t>
            </a:r>
            <a:r>
              <a:rPr lang="en-US" altLang="ja-JP" sz="1800" dirty="0">
                <a:latin typeface="+mj-lt"/>
              </a:rPr>
              <a:t>public abstract </a:t>
            </a:r>
            <a:r>
              <a:rPr lang="ja-JP" altLang="en-US" sz="1800" dirty="0">
                <a:latin typeface="+mj-lt"/>
              </a:rPr>
              <a:t>」</a:t>
            </a:r>
          </a:p>
        </p:txBody>
      </p:sp>
      <p:sp>
        <p:nvSpPr>
          <p:cNvPr id="368670" name="AutoShape 30">
            <a:extLst>
              <a:ext uri="{FF2B5EF4-FFF2-40B4-BE49-F238E27FC236}">
                <a16:creationId xmlns:a16="http://schemas.microsoft.com/office/drawing/2014/main" id="{876FD007-9A0D-A1A5-8407-5268AF613C72}"/>
              </a:ext>
            </a:extLst>
          </p:cNvPr>
          <p:cNvSpPr>
            <a:spLocks noChangeArrowheads="1"/>
          </p:cNvSpPr>
          <p:nvPr/>
        </p:nvSpPr>
        <p:spPr bwMode="auto">
          <a:xfrm>
            <a:off x="4675188" y="955675"/>
            <a:ext cx="4495800" cy="609600"/>
          </a:xfrm>
          <a:prstGeom prst="wedgeRoundRectCallout">
            <a:avLst>
              <a:gd name="adj1" fmla="val 16014"/>
              <a:gd name="adj2" fmla="val 8619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dirty="0">
                <a:latin typeface="+mj-lt"/>
              </a:rPr>
              <a:t>Có </a:t>
            </a:r>
            <a:r>
              <a:rPr lang="en-US" altLang="ja-JP" sz="1800" dirty="0" err="1">
                <a:latin typeface="+mj-lt"/>
              </a:rPr>
              <a:t>thê</a:t>
            </a:r>
            <a:r>
              <a:rPr lang="en-US" altLang="ja-JP" sz="1800" dirty="0">
                <a:latin typeface="+mj-lt"/>
              </a:rPr>
              <a:t>̉ </a:t>
            </a:r>
            <a:r>
              <a:rPr lang="en-US" altLang="ja-JP" sz="1800" dirty="0" err="1">
                <a:latin typeface="+mj-lt"/>
              </a:rPr>
              <a:t>thực</a:t>
            </a:r>
            <a:r>
              <a:rPr lang="en-US" altLang="ja-JP" sz="1800" dirty="0">
                <a:latin typeface="+mj-lt"/>
              </a:rPr>
              <a:t> </a:t>
            </a:r>
            <a:r>
              <a:rPr lang="en-US" altLang="ja-JP" sz="1800" dirty="0" err="1">
                <a:latin typeface="+mj-lt"/>
              </a:rPr>
              <a:t>hiện</a:t>
            </a:r>
            <a:r>
              <a:rPr lang="en-US" altLang="ja-JP" sz="1800" dirty="0">
                <a:latin typeface="+mj-lt"/>
              </a:rPr>
              <a:t> </a:t>
            </a:r>
            <a:r>
              <a:rPr lang="en-US" altLang="ja-JP" sz="1800" dirty="0" err="1">
                <a:latin typeface="+mj-lt"/>
              </a:rPr>
              <a:t>nhiều</a:t>
            </a:r>
            <a:r>
              <a:rPr lang="en-US" altLang="ja-JP" sz="1800" dirty="0">
                <a:latin typeface="+mj-lt"/>
              </a:rPr>
              <a:t> chỉ </a:t>
            </a:r>
            <a:r>
              <a:rPr lang="en-US" altLang="ja-JP" sz="1800" dirty="0" err="1">
                <a:latin typeface="+mj-lt"/>
              </a:rPr>
              <a:t>định</a:t>
            </a:r>
            <a:r>
              <a:rPr lang="en-US" altLang="ja-JP" sz="1800" dirty="0">
                <a:latin typeface="+mj-lt"/>
              </a:rPr>
              <a:t>, </a:t>
            </a:r>
            <a:r>
              <a:rPr lang="en-US" altLang="ja-JP" sz="1800" dirty="0" err="1">
                <a:latin typeface="+mj-lt"/>
              </a:rPr>
              <a:t>ngăn</a:t>
            </a:r>
            <a:r>
              <a:rPr lang="en-US" altLang="ja-JP" sz="1800" dirty="0">
                <a:latin typeface="+mj-lt"/>
              </a:rPr>
              <a:t> </a:t>
            </a:r>
            <a:r>
              <a:rPr lang="en-US" altLang="ja-JP" sz="1800" dirty="0" err="1">
                <a:latin typeface="+mj-lt"/>
              </a:rPr>
              <a:t>cách</a:t>
            </a:r>
            <a:r>
              <a:rPr lang="en-US" altLang="ja-JP" sz="1800" dirty="0">
                <a:latin typeface="+mj-lt"/>
              </a:rPr>
              <a:t> </a:t>
            </a:r>
            <a:r>
              <a:rPr lang="en-US" altLang="ja-JP" sz="1800" dirty="0" err="1">
                <a:latin typeface="+mj-lt"/>
              </a:rPr>
              <a:t>bằng</a:t>
            </a:r>
            <a:r>
              <a:rPr lang="en-US" altLang="ja-JP" sz="1800" dirty="0">
                <a:latin typeface="+mj-lt"/>
              </a:rPr>
              <a:t> </a:t>
            </a:r>
            <a:r>
              <a:rPr lang="ja-JP" altLang="en-US" sz="1800" dirty="0">
                <a:latin typeface="+mj-lt"/>
              </a:rPr>
              <a:t>「</a:t>
            </a:r>
            <a:r>
              <a:rPr lang="en-US" altLang="ja-JP" sz="1800" dirty="0">
                <a:latin typeface="+mj-lt"/>
              </a:rPr>
              <a:t>,</a:t>
            </a:r>
            <a:r>
              <a:rPr lang="ja-JP" altLang="en-US" sz="1800" dirty="0">
                <a:latin typeface="+mj-lt"/>
              </a:rPr>
              <a:t>」（</a:t>
            </a:r>
            <a:r>
              <a:rPr lang="en-US" altLang="ja-JP" sz="1800" dirty="0" err="1">
                <a:latin typeface="+mj-lt"/>
              </a:rPr>
              <a:t>đa</a:t>
            </a:r>
            <a:r>
              <a:rPr lang="en-US" altLang="ja-JP" sz="1800" dirty="0">
                <a:latin typeface="+mj-lt"/>
              </a:rPr>
              <a:t> </a:t>
            </a:r>
            <a:r>
              <a:rPr lang="en-US" altLang="ja-JP" sz="1800" dirty="0" err="1">
                <a:latin typeface="+mj-lt"/>
              </a:rPr>
              <a:t>kê</a:t>
            </a:r>
            <a:r>
              <a:rPr lang="en-US" altLang="ja-JP" sz="1800" dirty="0">
                <a:latin typeface="+mj-lt"/>
              </a:rPr>
              <a:t>́ </a:t>
            </a:r>
            <a:r>
              <a:rPr lang="en-US" altLang="ja-JP" sz="1800" dirty="0" err="1">
                <a:latin typeface="+mj-lt"/>
              </a:rPr>
              <a:t>thừa</a:t>
            </a:r>
            <a:r>
              <a:rPr lang="en-US" altLang="ja-JP" sz="1800" dirty="0">
                <a:latin typeface="+mj-lt"/>
              </a:rPr>
              <a:t> </a:t>
            </a:r>
            <a:r>
              <a:rPr lang="ja-JP" altLang="en-US" sz="1800" dirty="0">
                <a:latin typeface="+mj-lt"/>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793396EA-8F7A-4F8E-E48A-C637105A2721}"/>
              </a:ext>
            </a:extLst>
          </p:cNvPr>
          <p:cNvSpPr>
            <a:spLocks noGrp="1"/>
          </p:cNvSpPr>
          <p:nvPr>
            <p:ph type="sldNum" sz="quarter" idx="10"/>
          </p:nvPr>
        </p:nvSpPr>
        <p:spPr/>
        <p:txBody>
          <a:bodyPr/>
          <a:lstStyle/>
          <a:p>
            <a:fld id="{E7B5B46F-FAA3-4445-92AF-3C6D0B045943}" type="slidenum">
              <a:rPr lang="en-US" altLang="ja-JP"/>
              <a:pPr/>
              <a:t>5</a:t>
            </a:fld>
            <a:endParaRPr lang="en-US" altLang="ja-JP"/>
          </a:p>
        </p:txBody>
      </p:sp>
      <p:sp>
        <p:nvSpPr>
          <p:cNvPr id="556034" name="Rectangle 2">
            <a:extLst>
              <a:ext uri="{FF2B5EF4-FFF2-40B4-BE49-F238E27FC236}">
                <a16:creationId xmlns:a16="http://schemas.microsoft.com/office/drawing/2014/main" id="{15F0E6A4-E89A-8B5A-A847-2C22992F9695}"/>
              </a:ext>
            </a:extLst>
          </p:cNvPr>
          <p:cNvSpPr>
            <a:spLocks noGrp="1" noChangeArrowheads="1"/>
          </p:cNvSpPr>
          <p:nvPr>
            <p:ph type="title"/>
          </p:nvPr>
        </p:nvSpPr>
        <p:spPr>
          <a:xfrm>
            <a:off x="344487" y="333375"/>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Định</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nghĩa</a:t>
            </a:r>
            <a:r>
              <a:rPr lang="en-US" altLang="ja-JP" dirty="0">
                <a:latin typeface="Arial" panose="020B0604020202020204" pitchFamily="34" charset="0"/>
                <a:ea typeface="MS UI Gothic" panose="020B0600070205080204" pitchFamily="50" charset="-128"/>
              </a:rPr>
              <a:t> class implement interface</a:t>
            </a:r>
          </a:p>
        </p:txBody>
      </p:sp>
      <p:sp>
        <p:nvSpPr>
          <p:cNvPr id="556035" name="Rectangle 3">
            <a:extLst>
              <a:ext uri="{FF2B5EF4-FFF2-40B4-BE49-F238E27FC236}">
                <a16:creationId xmlns:a16="http://schemas.microsoft.com/office/drawing/2014/main" id="{CF0E6EAD-0B73-A80A-533D-44959B8FE1D2}"/>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56036" name="Rectangle 4">
            <a:extLst>
              <a:ext uri="{FF2B5EF4-FFF2-40B4-BE49-F238E27FC236}">
                <a16:creationId xmlns:a16="http://schemas.microsoft.com/office/drawing/2014/main" id="{3D5DFB1A-F6B5-5072-8E37-F69DC4C35827}"/>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Định nghĩa class implement interface</a:t>
            </a:r>
          </a:p>
          <a:p>
            <a:pPr>
              <a:spcBef>
                <a:spcPct val="50000"/>
              </a:spcBef>
              <a:buFont typeface="Wingdings" panose="05000000000000000000" pitchFamily="2" charset="2"/>
              <a:buNone/>
            </a:pPr>
            <a:r>
              <a:rPr lang="en-US" altLang="ja-JP" sz="2000" b="0">
                <a:latin typeface="Arial" panose="020B0604020202020204" pitchFamily="34" charset="0"/>
              </a:rPr>
              <a:t>●Cú pháp cơ bản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56037" name="Text Box 5">
            <a:extLst>
              <a:ext uri="{FF2B5EF4-FFF2-40B4-BE49-F238E27FC236}">
                <a16:creationId xmlns:a16="http://schemas.microsoft.com/office/drawing/2014/main" id="{006C26DF-B704-EE8A-A5F5-28947B17C52C}"/>
              </a:ext>
            </a:extLst>
          </p:cNvPr>
          <p:cNvSpPr txBox="1">
            <a:spLocks noChangeArrowheads="1"/>
          </p:cNvSpPr>
          <p:nvPr/>
        </p:nvSpPr>
        <p:spPr bwMode="auto">
          <a:xfrm>
            <a:off x="344488" y="1751013"/>
            <a:ext cx="9348787" cy="14414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72000" tIns="19050" rIns="9525" bIns="9525"/>
          <a:lstStyle>
            <a:lvl1pPr defTabSz="265113">
              <a:defRPr kumimoji="1">
                <a:solidFill>
                  <a:schemeClr val="tx1"/>
                </a:solidFill>
                <a:latin typeface="Arial" panose="020B0604020202020204" pitchFamily="34" charset="0"/>
                <a:ea typeface="ＭＳ Ｐゴシック" panose="020B0600070205080204" pitchFamily="50" charset="-128"/>
              </a:defRPr>
            </a:lvl1pPr>
            <a:lvl2pPr marL="179388" defTabSz="265113">
              <a:defRPr kumimoji="1">
                <a:solidFill>
                  <a:schemeClr val="tx1"/>
                </a:solidFill>
                <a:latin typeface="Arial" panose="020B0604020202020204" pitchFamily="34" charset="0"/>
                <a:ea typeface="ＭＳ Ｐゴシック" panose="020B0600070205080204" pitchFamily="50" charset="-128"/>
              </a:defRPr>
            </a:lvl2pPr>
            <a:lvl3pPr defTabSz="265113">
              <a:defRPr kumimoji="1">
                <a:solidFill>
                  <a:schemeClr val="tx1"/>
                </a:solidFill>
                <a:latin typeface="Arial" panose="020B0604020202020204" pitchFamily="34" charset="0"/>
                <a:ea typeface="ＭＳ Ｐゴシック" panose="020B0600070205080204" pitchFamily="50" charset="-128"/>
              </a:defRPr>
            </a:lvl3pPr>
            <a:lvl4pPr defTabSz="265113">
              <a:defRPr kumimoji="1">
                <a:solidFill>
                  <a:schemeClr val="tx1"/>
                </a:solidFill>
                <a:latin typeface="Arial" panose="020B0604020202020204" pitchFamily="34" charset="0"/>
                <a:ea typeface="ＭＳ Ｐゴシック" panose="020B0600070205080204" pitchFamily="50" charset="-128"/>
              </a:defRPr>
            </a:lvl4pPr>
            <a:lvl5pPr defTabSz="265113">
              <a:defRPr kumimoji="1">
                <a:solidFill>
                  <a:schemeClr val="tx1"/>
                </a:solidFill>
                <a:latin typeface="Arial" panose="020B0604020202020204" pitchFamily="34" charset="0"/>
                <a:ea typeface="ＭＳ Ｐゴシック" panose="020B0600070205080204" pitchFamily="50" charset="-128"/>
              </a:defRPr>
            </a:lvl5pPr>
            <a:lvl6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nSpc>
                <a:spcPct val="112000"/>
              </a:lnSpc>
            </a:pPr>
            <a:r>
              <a:rPr lang="en-US" altLang="ja-JP" sz="1700">
                <a:ea typeface="ＭＳ ゴシック" panose="020B0609070205080204" pitchFamily="49" charset="-128"/>
              </a:rPr>
              <a:t>public class class name extends super class name implements interface name list {</a:t>
            </a:r>
            <a:r>
              <a:rPr lang="en-US" altLang="ja-JP" sz="1700">
                <a:ea typeface="MS UI Gothic" panose="020B0600070205080204" pitchFamily="50" charset="-128"/>
              </a:rPr>
              <a:t>											</a:t>
            </a:r>
          </a:p>
          <a:p>
            <a:pPr>
              <a:lnSpc>
                <a:spcPct val="112000"/>
              </a:lnSpc>
            </a:pPr>
            <a:r>
              <a:rPr lang="en-US" altLang="ja-JP" sz="1700">
                <a:ea typeface="MS UI Gothic" panose="020B0600070205080204" pitchFamily="50" charset="-128"/>
              </a:rPr>
              <a:t>		</a:t>
            </a:r>
            <a:r>
              <a:rPr lang="en-US" altLang="ja-JP" sz="1700">
                <a:ea typeface="ＭＳ ゴシック" panose="020B0609070205080204" pitchFamily="49" charset="-128"/>
              </a:rPr>
              <a:t>//</a:t>
            </a:r>
            <a:r>
              <a:rPr lang="en-US" altLang="ja-JP" sz="1700">
                <a:ea typeface="MS UI Gothic" panose="020B0600070205080204" pitchFamily="50" charset="-128"/>
              </a:rPr>
              <a:t> bao gồm cả việc implement method đã được định nghĩa ở interface</a:t>
            </a:r>
          </a:p>
          <a:p>
            <a:pPr>
              <a:lnSpc>
                <a:spcPct val="112000"/>
              </a:lnSpc>
            </a:pPr>
            <a:r>
              <a:rPr lang="en-US" altLang="ja-JP" sz="1700">
                <a:ea typeface="ＭＳ ゴシック" panose="020B0609070205080204" pitchFamily="49" charset="-128"/>
              </a:rPr>
              <a:t>}</a:t>
            </a:r>
          </a:p>
        </p:txBody>
      </p:sp>
      <p:sp>
        <p:nvSpPr>
          <p:cNvPr id="556038" name="Rectangle 6">
            <a:extLst>
              <a:ext uri="{FF2B5EF4-FFF2-40B4-BE49-F238E27FC236}">
                <a16:creationId xmlns:a16="http://schemas.microsoft.com/office/drawing/2014/main" id="{095BE5EA-21CB-2B82-01F7-D5C192BC1C92}"/>
              </a:ext>
            </a:extLst>
          </p:cNvPr>
          <p:cNvSpPr>
            <a:spLocks noChangeArrowheads="1"/>
          </p:cNvSpPr>
          <p:nvPr/>
        </p:nvSpPr>
        <p:spPr bwMode="auto">
          <a:xfrm>
            <a:off x="344488" y="36433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r>
              <a:rPr lang="ja-JP" altLang="en-US" sz="2000" b="0">
                <a:latin typeface="Arial" panose="020B0604020202020204" pitchFamily="34" charset="0"/>
              </a:rPr>
              <a:t>　</a:t>
            </a:r>
            <a:endParaRPr lang="ja-JP" altLang="en-US" sz="2400" b="0">
              <a:latin typeface="Arial" panose="020B0604020202020204" pitchFamily="34" charset="0"/>
            </a:endParaRPr>
          </a:p>
        </p:txBody>
      </p:sp>
      <p:sp>
        <p:nvSpPr>
          <p:cNvPr id="556039" name="Rectangle 7">
            <a:extLst>
              <a:ext uri="{FF2B5EF4-FFF2-40B4-BE49-F238E27FC236}">
                <a16:creationId xmlns:a16="http://schemas.microsoft.com/office/drawing/2014/main" id="{C48BC5E3-1C17-49A3-AE28-3186F5701DB2}"/>
              </a:ext>
            </a:extLst>
          </p:cNvPr>
          <p:cNvSpPr>
            <a:spLocks noChangeArrowheads="1"/>
          </p:cNvSpPr>
          <p:nvPr/>
        </p:nvSpPr>
        <p:spPr bwMode="auto">
          <a:xfrm>
            <a:off x="344488" y="4159250"/>
            <a:ext cx="9120187" cy="19637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en-US" sz="1800" b="0">
                <a:latin typeface="Arial" panose="020B0604020202020204" pitchFamily="34" charset="0"/>
                <a:ea typeface="ＭＳ ゴシック" panose="020B0609070205080204" pitchFamily="49" charset="-128"/>
              </a:rPr>
              <a:t>public class Employee implements PrintableInfo {</a:t>
            </a:r>
          </a:p>
          <a:p>
            <a:pPr lvl="1"/>
            <a:r>
              <a:rPr lang="fr-FR" altLang="en-US" sz="1800" b="0">
                <a:latin typeface="Arial" panose="020B0604020202020204" pitchFamily="34" charset="0"/>
                <a:ea typeface="ＭＳ ゴシック" panose="020B0609070205080204" pitchFamily="49" charset="-128"/>
              </a:rPr>
              <a:t>　</a:t>
            </a:r>
            <a:r>
              <a:rPr lang="fr-FR" altLang="ja-JP" sz="1800" b="0">
                <a:latin typeface="Arial" panose="020B0604020202020204" pitchFamily="34" charset="0"/>
                <a:ea typeface="ＭＳ ゴシック" panose="020B0609070205080204" pitchFamily="49" charset="-128"/>
              </a:rPr>
              <a:t>	</a:t>
            </a:r>
            <a:r>
              <a:rPr lang="ja-JP" altLang="fr-FR" sz="1800" b="0">
                <a:latin typeface="Arial" panose="020B0604020202020204" pitchFamily="34" charset="0"/>
                <a:ea typeface="ＭＳ ゴシック" panose="020B0609070205080204" pitchFamily="49" charset="-128"/>
              </a:rPr>
              <a:t>（</a:t>
            </a:r>
            <a:r>
              <a:rPr lang="fr-FR" altLang="ja-JP" sz="1800" b="0">
                <a:latin typeface="Arial" panose="020B0604020202020204" pitchFamily="34" charset="0"/>
                <a:ea typeface="ＭＳ ゴシック" panose="020B0609070205080204" pitchFamily="49" charset="-128"/>
              </a:rPr>
              <a:t>lược</a:t>
            </a:r>
            <a:r>
              <a:rPr lang="ja-JP" altLang="fr-FR" sz="1800" b="0">
                <a:latin typeface="Arial" panose="020B0604020202020204" pitchFamily="34" charset="0"/>
                <a:ea typeface="ＭＳ ゴシック" panose="020B0609070205080204" pitchFamily="49" charset="-128"/>
              </a:rPr>
              <a:t>）</a:t>
            </a:r>
            <a:endParaRPr lang="ja-JP" altLang="en-US" sz="1800" b="0">
              <a:latin typeface="Arial" panose="020B0604020202020204" pitchFamily="34" charset="0"/>
              <a:ea typeface="ＭＳ ゴシック" panose="020B0609070205080204" pitchFamily="49" charset="-128"/>
            </a:endParaRPr>
          </a:p>
          <a:p>
            <a:pPr lvl="1"/>
            <a:r>
              <a:rPr lang="fr-FR" altLang="ja-JP" sz="1800" b="0">
                <a:latin typeface="Arial" panose="020B0604020202020204" pitchFamily="34" charset="0"/>
                <a:ea typeface="ＭＳ ゴシック" panose="020B0609070205080204" pitchFamily="49" charset="-128"/>
              </a:rPr>
              <a:t>    </a:t>
            </a:r>
            <a:r>
              <a:rPr lang="fr-FR" altLang="en-US" sz="1800" b="0">
                <a:latin typeface="Arial" panose="020B0604020202020204" pitchFamily="34" charset="0"/>
                <a:ea typeface="ＭＳ ゴシック" panose="020B0609070205080204" pitchFamily="49" charset="-128"/>
              </a:rPr>
              <a:t>public void printInfo() {</a:t>
            </a:r>
          </a:p>
          <a:p>
            <a:pPr lvl="1"/>
            <a:r>
              <a:rPr lang="en-US" altLang="ja-JP" sz="1800" b="0">
                <a:latin typeface="Arial" panose="020B0604020202020204" pitchFamily="34" charset="0"/>
                <a:ea typeface="ＭＳ ゴシック" panose="020B0609070205080204" pitchFamily="49" charset="-128"/>
              </a:rPr>
              <a:t>        //  mô tả xử lý cụ thể để hiển thị giá trị thuộc tính của Employee</a:t>
            </a:r>
            <a:endParaRPr lang="ja-JP" altLang="fr-FR" sz="1800" b="0">
              <a:latin typeface="Arial" panose="020B0604020202020204" pitchFamily="34" charset="0"/>
              <a:ea typeface="ＭＳ ゴシック" panose="020B0609070205080204" pitchFamily="49" charset="-128"/>
            </a:endParaRPr>
          </a:p>
          <a:p>
            <a:pPr lvl="1"/>
            <a:r>
              <a:rPr lang="fr-FR" altLang="ja-JP" sz="1800" b="0">
                <a:latin typeface="Arial" panose="020B0604020202020204" pitchFamily="34" charset="0"/>
                <a:ea typeface="ＭＳ ゴシック" panose="020B0609070205080204" pitchFamily="49" charset="-128"/>
              </a:rPr>
              <a:t>    </a:t>
            </a:r>
            <a:r>
              <a:rPr lang="fr-FR" altLang="en-US" sz="1800" b="0">
                <a:latin typeface="Arial" panose="020B0604020202020204" pitchFamily="34" charset="0"/>
                <a:ea typeface="ＭＳ ゴシック" panose="020B0609070205080204" pitchFamily="49" charset="-128"/>
              </a:rPr>
              <a:t>}</a:t>
            </a:r>
          </a:p>
          <a:p>
            <a:pPr lvl="1"/>
            <a:r>
              <a:rPr lang="fr-FR" altLang="en-US" sz="1800" b="0">
                <a:latin typeface="Arial" panose="020B0604020202020204" pitchFamily="34" charset="0"/>
                <a:ea typeface="ＭＳ ゴシック" panose="020B0609070205080204" pitchFamily="49" charset="-128"/>
              </a:rPr>
              <a:t>}</a:t>
            </a:r>
          </a:p>
        </p:txBody>
      </p:sp>
      <p:sp>
        <p:nvSpPr>
          <p:cNvPr id="556040" name="AutoShape 8">
            <a:extLst>
              <a:ext uri="{FF2B5EF4-FFF2-40B4-BE49-F238E27FC236}">
                <a16:creationId xmlns:a16="http://schemas.microsoft.com/office/drawing/2014/main" id="{C2B3C0A8-9F4A-9313-6B70-4551A9F5952A}"/>
              </a:ext>
            </a:extLst>
          </p:cNvPr>
          <p:cNvSpPr>
            <a:spLocks noChangeArrowheads="1"/>
          </p:cNvSpPr>
          <p:nvPr/>
        </p:nvSpPr>
        <p:spPr bwMode="auto">
          <a:xfrm>
            <a:off x="854075" y="2987675"/>
            <a:ext cx="8610600" cy="571500"/>
          </a:xfrm>
          <a:prstGeom prst="wedgeRoundRectCallout">
            <a:avLst>
              <a:gd name="adj1" fmla="val -5458"/>
              <a:gd name="adj2" fmla="val -80833"/>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rPr>
              <a:t>Mô</a:t>
            </a:r>
            <a:r>
              <a:rPr lang="en-US" altLang="ja-JP" sz="1600" dirty="0">
                <a:latin typeface="+mj-lt"/>
              </a:rPr>
              <a:t> tả </a:t>
            </a:r>
            <a:r>
              <a:rPr lang="en-US" altLang="ja-JP" sz="1600" dirty="0" err="1">
                <a:latin typeface="+mj-lt"/>
              </a:rPr>
              <a:t>việc</a:t>
            </a:r>
            <a:r>
              <a:rPr lang="en-US" altLang="ja-JP" sz="1600" dirty="0">
                <a:latin typeface="+mj-lt"/>
              </a:rPr>
              <a:t> implement </a:t>
            </a:r>
            <a:r>
              <a:rPr lang="en-US" altLang="ja-JP" sz="1600" dirty="0" err="1">
                <a:latin typeface="+mj-lt"/>
              </a:rPr>
              <a:t>toàn</a:t>
            </a:r>
            <a:r>
              <a:rPr lang="en-US" altLang="ja-JP" sz="1600" dirty="0">
                <a:latin typeface="+mj-lt"/>
              </a:rPr>
              <a:t> </a:t>
            </a:r>
            <a:r>
              <a:rPr lang="en-US" altLang="ja-JP" sz="1600" dirty="0" err="1">
                <a:latin typeface="+mj-lt"/>
              </a:rPr>
              <a:t>bô</a:t>
            </a:r>
            <a:r>
              <a:rPr lang="en-US" altLang="ja-JP" sz="1600" dirty="0">
                <a:latin typeface="+mj-lt"/>
              </a:rPr>
              <a:t>̣ method </a:t>
            </a:r>
            <a:r>
              <a:rPr lang="en-US" altLang="ja-JP" sz="1600" dirty="0" err="1">
                <a:latin typeface="+mj-lt"/>
              </a:rPr>
              <a:t>đa</a:t>
            </a:r>
            <a:r>
              <a:rPr lang="en-US" altLang="ja-JP" sz="1600" dirty="0">
                <a:latin typeface="+mj-lt"/>
              </a:rPr>
              <a:t>̃ </a:t>
            </a:r>
            <a:r>
              <a:rPr lang="en-US" altLang="ja-JP" sz="1600" dirty="0" err="1">
                <a:latin typeface="+mj-lt"/>
              </a:rPr>
              <a:t>được</a:t>
            </a:r>
            <a:r>
              <a:rPr lang="en-US" altLang="ja-JP" sz="1600" dirty="0">
                <a:latin typeface="+mj-lt"/>
              </a:rPr>
              <a:t> </a:t>
            </a:r>
            <a:r>
              <a:rPr lang="en-US" altLang="ja-JP" sz="1600" dirty="0" err="1">
                <a:latin typeface="+mj-lt"/>
              </a:rPr>
              <a:t>liệt</a:t>
            </a:r>
            <a:r>
              <a:rPr lang="en-US" altLang="ja-JP" sz="1600" dirty="0">
                <a:latin typeface="+mj-lt"/>
              </a:rPr>
              <a:t> </a:t>
            </a:r>
            <a:r>
              <a:rPr lang="en-US" altLang="ja-JP" sz="1600" dirty="0" err="1">
                <a:latin typeface="+mj-lt"/>
              </a:rPr>
              <a:t>kê</a:t>
            </a:r>
            <a:r>
              <a:rPr lang="en-US" altLang="ja-JP" sz="1600" dirty="0">
                <a:latin typeface="+mj-lt"/>
              </a:rPr>
              <a:t> ở interface</a:t>
            </a:r>
            <a:r>
              <a:rPr lang="ja-JP" altLang="en-US" sz="1600" dirty="0">
                <a:latin typeface="+mj-lt"/>
              </a:rPr>
              <a:t>（</a:t>
            </a:r>
            <a:r>
              <a:rPr lang="en-US" altLang="ja-JP" sz="1600" dirty="0" err="1">
                <a:latin typeface="+mj-lt"/>
              </a:rPr>
              <a:t>nếu</a:t>
            </a:r>
            <a:r>
              <a:rPr lang="en-US" altLang="ja-JP" sz="1600" dirty="0">
                <a:latin typeface="+mj-lt"/>
              </a:rPr>
              <a:t> </a:t>
            </a:r>
            <a:r>
              <a:rPr lang="en-US" altLang="ja-JP" sz="1600" dirty="0" err="1">
                <a:latin typeface="+mj-lt"/>
              </a:rPr>
              <a:t>thiếu</a:t>
            </a:r>
            <a:r>
              <a:rPr lang="en-US" altLang="ja-JP" sz="1600" dirty="0">
                <a:latin typeface="+mj-lt"/>
              </a:rPr>
              <a:t> sẽ bị compile error</a:t>
            </a:r>
            <a:r>
              <a:rPr lang="ja-JP" altLang="en-US" sz="1600" dirty="0">
                <a:latin typeface="+mj-lt"/>
              </a:rPr>
              <a:t>）</a:t>
            </a:r>
          </a:p>
        </p:txBody>
      </p:sp>
      <p:sp>
        <p:nvSpPr>
          <p:cNvPr id="556041" name="AutoShape 9">
            <a:extLst>
              <a:ext uri="{FF2B5EF4-FFF2-40B4-BE49-F238E27FC236}">
                <a16:creationId xmlns:a16="http://schemas.microsoft.com/office/drawing/2014/main" id="{0BE4665C-78BF-BB0A-0558-70ABC883A4FF}"/>
              </a:ext>
            </a:extLst>
          </p:cNvPr>
          <p:cNvSpPr>
            <a:spLocks noChangeArrowheads="1"/>
          </p:cNvSpPr>
          <p:nvPr/>
        </p:nvSpPr>
        <p:spPr bwMode="auto">
          <a:xfrm>
            <a:off x="5353050" y="1150938"/>
            <a:ext cx="3983038" cy="508000"/>
          </a:xfrm>
          <a:prstGeom prst="wedgeRoundRectCallout">
            <a:avLst>
              <a:gd name="adj1" fmla="val -17875"/>
              <a:gd name="adj2" fmla="val 7523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500" dirty="0" err="1">
                <a:latin typeface="+mj-lt"/>
              </a:rPr>
              <a:t>Trường</a:t>
            </a:r>
            <a:r>
              <a:rPr lang="en-US" altLang="ja-JP" sz="1500" dirty="0">
                <a:latin typeface="+mj-lt"/>
              </a:rPr>
              <a:t> </a:t>
            </a:r>
            <a:r>
              <a:rPr lang="en-US" altLang="ja-JP" sz="1500" dirty="0" err="1">
                <a:latin typeface="+mj-lt"/>
              </a:rPr>
              <a:t>hợp</a:t>
            </a:r>
            <a:r>
              <a:rPr lang="en-US" altLang="ja-JP" sz="1500" dirty="0">
                <a:latin typeface="+mj-lt"/>
              </a:rPr>
              <a:t> implement interface </a:t>
            </a:r>
            <a:r>
              <a:rPr lang="en-US" altLang="ja-JP" sz="1500" dirty="0" err="1">
                <a:latin typeface="+mj-lt"/>
              </a:rPr>
              <a:t>thi</a:t>
            </a:r>
            <a:r>
              <a:rPr lang="en-US" altLang="ja-JP" sz="1500" dirty="0">
                <a:latin typeface="+mj-lt"/>
              </a:rPr>
              <a:t>̀ chỉ </a:t>
            </a:r>
            <a:r>
              <a:rPr lang="en-US" altLang="ja-JP" sz="1500" dirty="0" err="1">
                <a:latin typeface="+mj-lt"/>
              </a:rPr>
              <a:t>định</a:t>
            </a:r>
            <a:r>
              <a:rPr lang="en-US" altLang="ja-JP" sz="1500" dirty="0">
                <a:latin typeface="+mj-lt"/>
              </a:rPr>
              <a:t> là </a:t>
            </a:r>
            <a:r>
              <a:rPr lang="ja-JP" altLang="en-US" sz="1500" dirty="0">
                <a:latin typeface="+mj-lt"/>
              </a:rPr>
              <a:t>「</a:t>
            </a:r>
            <a:r>
              <a:rPr lang="en-US" altLang="ja-JP" sz="1500" dirty="0">
                <a:latin typeface="+mj-lt"/>
              </a:rPr>
              <a:t>implements  interface name</a:t>
            </a:r>
            <a:r>
              <a:rPr lang="ja-JP" altLang="en-US" sz="1500" dirty="0">
                <a:latin typeface="+mj-lt"/>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055209F5-94C1-321D-B697-82849D6FB4B0}"/>
              </a:ext>
            </a:extLst>
          </p:cNvPr>
          <p:cNvSpPr>
            <a:spLocks noGrp="1"/>
          </p:cNvSpPr>
          <p:nvPr>
            <p:ph type="sldNum" sz="quarter" idx="10"/>
          </p:nvPr>
        </p:nvSpPr>
        <p:spPr/>
        <p:txBody>
          <a:bodyPr/>
          <a:lstStyle/>
          <a:p>
            <a:fld id="{B00DF235-3698-4516-9BDF-FFA79F231990}" type="slidenum">
              <a:rPr lang="en-US" altLang="ja-JP"/>
              <a:pPr/>
              <a:t>6</a:t>
            </a:fld>
            <a:endParaRPr lang="en-US" altLang="ja-JP"/>
          </a:p>
        </p:txBody>
      </p:sp>
      <p:sp>
        <p:nvSpPr>
          <p:cNvPr id="582658" name="Rectangle 2">
            <a:extLst>
              <a:ext uri="{FF2B5EF4-FFF2-40B4-BE49-F238E27FC236}">
                <a16:creationId xmlns:a16="http://schemas.microsoft.com/office/drawing/2014/main" id="{62EA28A9-2B04-AD60-45EF-40B764AAABAE}"/>
              </a:ext>
            </a:extLst>
          </p:cNvPr>
          <p:cNvSpPr>
            <a:spLocks noGrp="1" noChangeArrowheads="1"/>
          </p:cNvSpPr>
          <p:nvPr>
            <p:ph type="title"/>
          </p:nvPr>
        </p:nvSpPr>
        <p:spPr>
          <a:xfrm>
            <a:off x="344488" y="292100"/>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Interface </a:t>
            </a:r>
            <a:r>
              <a:rPr lang="en-US" altLang="ja-JP" dirty="0" err="1">
                <a:latin typeface="Arial" panose="020B0604020202020204" pitchFamily="34" charset="0"/>
                <a:ea typeface="MS UI Gothic" panose="020B0600070205080204" pitchFamily="50" charset="-128"/>
              </a:rPr>
              <a:t>va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data</a:t>
            </a:r>
          </a:p>
        </p:txBody>
      </p:sp>
      <p:sp>
        <p:nvSpPr>
          <p:cNvPr id="582659" name="Rectangle 3">
            <a:extLst>
              <a:ext uri="{FF2B5EF4-FFF2-40B4-BE49-F238E27FC236}">
                <a16:creationId xmlns:a16="http://schemas.microsoft.com/office/drawing/2014/main" id="{119DA849-3D5D-6B80-F652-89E7E5B85A0F}"/>
              </a:ext>
            </a:extLst>
          </p:cNvPr>
          <p:cNvSpPr>
            <a:spLocks noChangeArrowheads="1"/>
          </p:cNvSpPr>
          <p:nvPr/>
        </p:nvSpPr>
        <p:spPr bwMode="auto">
          <a:xfrm>
            <a:off x="344488" y="749300"/>
            <a:ext cx="9120187"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Interface và kiểu data</a:t>
            </a:r>
          </a:p>
          <a:p>
            <a:pPr>
              <a:buFont typeface="Wingdings" panose="05000000000000000000" pitchFamily="2" charset="2"/>
              <a:buNone/>
            </a:pPr>
            <a:r>
              <a:rPr lang="en-US" altLang="ja-JP" sz="2000" b="0">
                <a:latin typeface="Arial" panose="020B0604020202020204" pitchFamily="34" charset="0"/>
              </a:rPr>
              <a:t>●Cú pháp cơ bản</a:t>
            </a:r>
          </a:p>
        </p:txBody>
      </p:sp>
      <p:sp>
        <p:nvSpPr>
          <p:cNvPr id="582706" name="Text Box 50">
            <a:extLst>
              <a:ext uri="{FF2B5EF4-FFF2-40B4-BE49-F238E27FC236}">
                <a16:creationId xmlns:a16="http://schemas.microsoft.com/office/drawing/2014/main" id="{19006C45-84D6-A8EC-040B-5A27D889EEC5}"/>
              </a:ext>
            </a:extLst>
          </p:cNvPr>
          <p:cNvSpPr txBox="1">
            <a:spLocks noChangeArrowheads="1"/>
          </p:cNvSpPr>
          <p:nvPr/>
        </p:nvSpPr>
        <p:spPr bwMode="auto">
          <a:xfrm>
            <a:off x="344488" y="1589088"/>
            <a:ext cx="9120187" cy="512762"/>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defTabSz="265113">
              <a:defRPr kumimoji="1">
                <a:solidFill>
                  <a:schemeClr val="tx1"/>
                </a:solidFill>
                <a:latin typeface="Arial" panose="020B0604020202020204" pitchFamily="34" charset="0"/>
                <a:ea typeface="ＭＳ Ｐゴシック" panose="020B0600070205080204" pitchFamily="50" charset="-128"/>
              </a:defRPr>
            </a:lvl1pPr>
            <a:lvl2pPr marL="179388" defTabSz="265113">
              <a:defRPr kumimoji="1">
                <a:solidFill>
                  <a:schemeClr val="tx1"/>
                </a:solidFill>
                <a:latin typeface="Arial" panose="020B0604020202020204" pitchFamily="34" charset="0"/>
                <a:ea typeface="ＭＳ Ｐゴシック" panose="020B0600070205080204" pitchFamily="50" charset="-128"/>
              </a:defRPr>
            </a:lvl2pPr>
            <a:lvl3pPr defTabSz="265113">
              <a:defRPr kumimoji="1">
                <a:solidFill>
                  <a:schemeClr val="tx1"/>
                </a:solidFill>
                <a:latin typeface="Arial" panose="020B0604020202020204" pitchFamily="34" charset="0"/>
                <a:ea typeface="ＭＳ Ｐゴシック" panose="020B0600070205080204" pitchFamily="50" charset="-128"/>
              </a:defRPr>
            </a:lvl3pPr>
            <a:lvl4pPr defTabSz="265113">
              <a:defRPr kumimoji="1">
                <a:solidFill>
                  <a:schemeClr val="tx1"/>
                </a:solidFill>
                <a:latin typeface="Arial" panose="020B0604020202020204" pitchFamily="34" charset="0"/>
                <a:ea typeface="ＭＳ Ｐゴシック" panose="020B0600070205080204" pitchFamily="50" charset="-128"/>
              </a:defRPr>
            </a:lvl4pPr>
            <a:lvl5pPr defTabSz="265113">
              <a:defRPr kumimoji="1">
                <a:solidFill>
                  <a:schemeClr val="tx1"/>
                </a:solidFill>
                <a:latin typeface="Arial" panose="020B0604020202020204" pitchFamily="34" charset="0"/>
                <a:ea typeface="ＭＳ Ｐゴシック" panose="020B0600070205080204" pitchFamily="50" charset="-128"/>
              </a:defRPr>
            </a:lvl5pPr>
            <a:lvl6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Kiểu data</a:t>
            </a:r>
            <a:r>
              <a:rPr lang="ja-JP" altLang="en-US" sz="2000">
                <a:ea typeface="MS UI Gothic" panose="020B0600070205080204" pitchFamily="50" charset="-128"/>
              </a:rPr>
              <a:t>　</a:t>
            </a:r>
            <a:r>
              <a:rPr lang="en-US" altLang="ja-JP" sz="2000">
                <a:ea typeface="MS UI Gothic" panose="020B0600070205080204" pitchFamily="50" charset="-128"/>
              </a:rPr>
              <a:t>tên biến</a:t>
            </a:r>
            <a:r>
              <a:rPr lang="en-US" altLang="ja-JP" sz="2000">
                <a:ea typeface="ＭＳ ゴシック" panose="020B0609070205080204" pitchFamily="49" charset="-128"/>
              </a:rPr>
              <a:t> = new  tên class implement interface(argument list);</a:t>
            </a:r>
            <a:endParaRPr lang="en-US" altLang="ja-JP" sz="2000">
              <a:ea typeface="MS UI Gothic" panose="020B0600070205080204" pitchFamily="50" charset="-128"/>
            </a:endParaRPr>
          </a:p>
        </p:txBody>
      </p:sp>
      <p:sp>
        <p:nvSpPr>
          <p:cNvPr id="582707" name="Rectangle 51">
            <a:extLst>
              <a:ext uri="{FF2B5EF4-FFF2-40B4-BE49-F238E27FC236}">
                <a16:creationId xmlns:a16="http://schemas.microsoft.com/office/drawing/2014/main" id="{4EE00370-86B4-CCB6-ECCC-740E22ABE75E}"/>
              </a:ext>
            </a:extLst>
          </p:cNvPr>
          <p:cNvSpPr>
            <a:spLocks noChangeArrowheads="1"/>
          </p:cNvSpPr>
          <p:nvPr/>
        </p:nvSpPr>
        <p:spPr bwMode="auto">
          <a:xfrm>
            <a:off x="344488" y="4668838"/>
            <a:ext cx="9120187"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r>
              <a:rPr lang="ja-JP" altLang="en-US" sz="2000" b="0">
                <a:latin typeface="Arial" panose="020B0604020202020204" pitchFamily="34" charset="0"/>
              </a:rPr>
              <a:t>：</a:t>
            </a:r>
            <a:r>
              <a:rPr lang="en-US" altLang="ja-JP" sz="2000" b="0">
                <a:latin typeface="Arial" panose="020B0604020202020204" pitchFamily="34" charset="0"/>
              </a:rPr>
              <a:t>trường hợp lấy interface làm kiểu data</a:t>
            </a:r>
          </a:p>
        </p:txBody>
      </p:sp>
      <p:sp>
        <p:nvSpPr>
          <p:cNvPr id="582708" name="Rectangle 52">
            <a:extLst>
              <a:ext uri="{FF2B5EF4-FFF2-40B4-BE49-F238E27FC236}">
                <a16:creationId xmlns:a16="http://schemas.microsoft.com/office/drawing/2014/main" id="{4DA0A38F-2A11-C73C-C6C4-FA6DF0754DC6}"/>
              </a:ext>
            </a:extLst>
          </p:cNvPr>
          <p:cNvSpPr>
            <a:spLocks noChangeArrowheads="1"/>
          </p:cNvSpPr>
          <p:nvPr/>
        </p:nvSpPr>
        <p:spPr bwMode="auto">
          <a:xfrm>
            <a:off x="344488" y="5184775"/>
            <a:ext cx="9120187" cy="739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PrintableInfo obj1 = new Employee();</a:t>
            </a:r>
          </a:p>
          <a:p>
            <a:pPr lvl="1"/>
            <a:r>
              <a:rPr lang="en-US" altLang="en-US" sz="1800" b="0">
                <a:latin typeface="Arial" panose="020B0604020202020204" pitchFamily="34" charset="0"/>
                <a:ea typeface="ＭＳ ゴシック" panose="020B0609070205080204" pitchFamily="49" charset="-128"/>
              </a:rPr>
              <a:t>obj1.printInfo();</a:t>
            </a:r>
          </a:p>
        </p:txBody>
      </p:sp>
      <p:sp>
        <p:nvSpPr>
          <p:cNvPr id="582710" name="AutoShape 54">
            <a:extLst>
              <a:ext uri="{FF2B5EF4-FFF2-40B4-BE49-F238E27FC236}">
                <a16:creationId xmlns:a16="http://schemas.microsoft.com/office/drawing/2014/main" id="{1D7D209A-0871-0369-F7AF-5795F7E13D32}"/>
              </a:ext>
            </a:extLst>
          </p:cNvPr>
          <p:cNvSpPr>
            <a:spLocks noChangeArrowheads="1"/>
          </p:cNvSpPr>
          <p:nvPr/>
        </p:nvSpPr>
        <p:spPr bwMode="auto">
          <a:xfrm>
            <a:off x="588963" y="2343150"/>
            <a:ext cx="3294062" cy="385763"/>
          </a:xfrm>
          <a:prstGeom prst="wedgeRoundRectCallout">
            <a:avLst>
              <a:gd name="adj1" fmla="val -33806"/>
              <a:gd name="adj2" fmla="val -14341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500" dirty="0">
                <a:latin typeface="+mj-lt"/>
              </a:rPr>
              <a:t>Class name </a:t>
            </a:r>
            <a:r>
              <a:rPr lang="en-US" altLang="ja-JP" sz="1500" dirty="0" err="1">
                <a:latin typeface="+mj-lt"/>
              </a:rPr>
              <a:t>hoặc</a:t>
            </a:r>
            <a:r>
              <a:rPr lang="en-US" altLang="ja-JP" sz="1500" dirty="0">
                <a:latin typeface="+mj-lt"/>
              </a:rPr>
              <a:t> interface name</a:t>
            </a:r>
          </a:p>
        </p:txBody>
      </p:sp>
      <p:sp>
        <p:nvSpPr>
          <p:cNvPr id="582711" name="Rectangle 55">
            <a:extLst>
              <a:ext uri="{FF2B5EF4-FFF2-40B4-BE49-F238E27FC236}">
                <a16:creationId xmlns:a16="http://schemas.microsoft.com/office/drawing/2014/main" id="{4B669FBA-A3EF-2AB4-F749-240E31223DB4}"/>
              </a:ext>
            </a:extLst>
          </p:cNvPr>
          <p:cNvSpPr>
            <a:spLocks noChangeArrowheads="1"/>
          </p:cNvSpPr>
          <p:nvPr/>
        </p:nvSpPr>
        <p:spPr bwMode="auto">
          <a:xfrm>
            <a:off x="344488" y="3606800"/>
            <a:ext cx="9120187" cy="739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ea typeface="ＭＳ ゴシック" panose="020B0609070205080204" pitchFamily="49" charset="-128"/>
              </a:rPr>
              <a:t>Employee emp</a:t>
            </a:r>
            <a:r>
              <a:rPr lang="en-US" altLang="en-US" sz="1800" b="0">
                <a:latin typeface="Arial" panose="020B0604020202020204" pitchFamily="34" charset="0"/>
                <a:ea typeface="ＭＳ ゴシック" panose="020B0609070205080204" pitchFamily="49" charset="-128"/>
              </a:rPr>
              <a:t> = new Employee();</a:t>
            </a:r>
          </a:p>
          <a:p>
            <a:pPr lvl="1"/>
            <a:r>
              <a:rPr lang="en-US" altLang="en-US" sz="1800" b="0">
                <a:latin typeface="Arial" panose="020B0604020202020204" pitchFamily="34" charset="0"/>
                <a:ea typeface="ＭＳ ゴシック" panose="020B0609070205080204" pitchFamily="49" charset="-128"/>
              </a:rPr>
              <a:t>emp.printInfo();</a:t>
            </a:r>
          </a:p>
        </p:txBody>
      </p:sp>
      <p:sp>
        <p:nvSpPr>
          <p:cNvPr id="582713" name="Rectangle 57">
            <a:extLst>
              <a:ext uri="{FF2B5EF4-FFF2-40B4-BE49-F238E27FC236}">
                <a16:creationId xmlns:a16="http://schemas.microsoft.com/office/drawing/2014/main" id="{FB0DCDE5-F0F6-42EF-B38B-5A00BFC43529}"/>
              </a:ext>
            </a:extLst>
          </p:cNvPr>
          <p:cNvSpPr>
            <a:spLocks noChangeArrowheads="1"/>
          </p:cNvSpPr>
          <p:nvPr/>
        </p:nvSpPr>
        <p:spPr bwMode="auto">
          <a:xfrm>
            <a:off x="344488" y="313213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●Ví dụ</a:t>
            </a:r>
            <a:r>
              <a:rPr lang="ja-JP" altLang="en-US" sz="2000" b="0">
                <a:latin typeface="Arial" panose="020B0604020202020204" pitchFamily="34" charset="0"/>
              </a:rPr>
              <a:t>：</a:t>
            </a:r>
            <a:r>
              <a:rPr lang="en-US" altLang="ja-JP" sz="2000" b="0">
                <a:latin typeface="Arial" panose="020B0604020202020204" pitchFamily="34" charset="0"/>
              </a:rPr>
              <a:t>Trường hợp lấy class làm kiểu data</a:t>
            </a:r>
          </a:p>
        </p:txBody>
      </p:sp>
      <p:sp>
        <p:nvSpPr>
          <p:cNvPr id="582714" name="AutoShape 58">
            <a:extLst>
              <a:ext uri="{FF2B5EF4-FFF2-40B4-BE49-F238E27FC236}">
                <a16:creationId xmlns:a16="http://schemas.microsoft.com/office/drawing/2014/main" id="{58010FEB-3656-2535-06A2-D05C0406B5A1}"/>
              </a:ext>
            </a:extLst>
          </p:cNvPr>
          <p:cNvSpPr>
            <a:spLocks noChangeArrowheads="1"/>
          </p:cNvSpPr>
          <p:nvPr/>
        </p:nvSpPr>
        <p:spPr bwMode="auto">
          <a:xfrm>
            <a:off x="5141913" y="5024438"/>
            <a:ext cx="3886200" cy="661987"/>
          </a:xfrm>
          <a:prstGeom prst="wedgeRoundRectCallout">
            <a:avLst>
              <a:gd name="adj1" fmla="val -67690"/>
              <a:gd name="adj2" fmla="val 4448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Chỉ method </a:t>
            </a:r>
            <a:r>
              <a:rPr lang="en-US" altLang="ja-JP" sz="1800" dirty="0" err="1">
                <a:latin typeface="+mj-lt"/>
              </a:rPr>
              <a:t>đa</a:t>
            </a:r>
            <a:r>
              <a:rPr lang="en-US" altLang="ja-JP" sz="1800" dirty="0">
                <a:latin typeface="+mj-lt"/>
              </a:rPr>
              <a:t>̃ </a:t>
            </a:r>
            <a:r>
              <a:rPr lang="en-US" altLang="ja-JP" sz="1800" dirty="0" err="1">
                <a:latin typeface="+mj-lt"/>
              </a:rPr>
              <a:t>được</a:t>
            </a:r>
            <a:r>
              <a:rPr lang="en-US" altLang="ja-JP" sz="1800" dirty="0">
                <a:latin typeface="+mj-lt"/>
              </a:rPr>
              <a:t> </a:t>
            </a:r>
            <a:r>
              <a:rPr lang="en-US" altLang="ja-JP" sz="1800" dirty="0" err="1">
                <a:latin typeface="+mj-lt"/>
              </a:rPr>
              <a:t>liệt</a:t>
            </a:r>
            <a:r>
              <a:rPr lang="en-US" altLang="ja-JP" sz="1800" dirty="0">
                <a:latin typeface="+mj-lt"/>
              </a:rPr>
              <a:t> </a:t>
            </a:r>
            <a:r>
              <a:rPr lang="en-US" altLang="ja-JP" sz="1800" dirty="0" err="1">
                <a:latin typeface="+mj-lt"/>
              </a:rPr>
              <a:t>kê</a:t>
            </a:r>
            <a:r>
              <a:rPr lang="en-US" altLang="ja-JP" sz="1800" dirty="0">
                <a:latin typeface="+mj-lt"/>
              </a:rPr>
              <a:t> ở interface là có </a:t>
            </a:r>
            <a:r>
              <a:rPr lang="en-US" altLang="ja-JP" sz="1800" dirty="0" err="1">
                <a:latin typeface="+mj-lt"/>
              </a:rPr>
              <a:t>thê</a:t>
            </a:r>
            <a:r>
              <a:rPr lang="en-US" altLang="ja-JP" sz="1800" dirty="0">
                <a:latin typeface="+mj-lt"/>
              </a:rPr>
              <a:t>̉ </a:t>
            </a:r>
            <a:r>
              <a:rPr lang="en-US" altLang="ja-JP" sz="1800" dirty="0" err="1">
                <a:latin typeface="+mj-lt"/>
              </a:rPr>
              <a:t>gọi</a:t>
            </a:r>
            <a:r>
              <a:rPr lang="en-US" altLang="ja-JP" sz="1800" dirty="0">
                <a:latin typeface="+mj-lt"/>
              </a:rPr>
              <a:t> </a:t>
            </a:r>
            <a:r>
              <a:rPr lang="en-US" altLang="ja-JP" sz="1800" dirty="0" err="1">
                <a:latin typeface="+mj-lt"/>
              </a:rPr>
              <a:t>ra</a:t>
            </a:r>
            <a:r>
              <a:rPr lang="ja-JP" altLang="en-US" sz="1800" dirty="0">
                <a:latin typeface="+mj-lt"/>
              </a:rPr>
              <a:t>！</a:t>
            </a:r>
          </a:p>
        </p:txBody>
      </p:sp>
      <p:sp>
        <p:nvSpPr>
          <p:cNvPr id="582715" name="AutoShape 59">
            <a:extLst>
              <a:ext uri="{FF2B5EF4-FFF2-40B4-BE49-F238E27FC236}">
                <a16:creationId xmlns:a16="http://schemas.microsoft.com/office/drawing/2014/main" id="{53F1021E-71B4-46D5-0603-D1C7AEAD465C}"/>
              </a:ext>
            </a:extLst>
          </p:cNvPr>
          <p:cNvSpPr>
            <a:spLocks noChangeArrowheads="1"/>
          </p:cNvSpPr>
          <p:nvPr/>
        </p:nvSpPr>
        <p:spPr bwMode="auto">
          <a:xfrm>
            <a:off x="5141913" y="3454400"/>
            <a:ext cx="4110037" cy="633413"/>
          </a:xfrm>
          <a:prstGeom prst="wedgeRoundRectCallout">
            <a:avLst>
              <a:gd name="adj1" fmla="val -67806"/>
              <a:gd name="adj2" fmla="val 3897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Optional method </a:t>
            </a:r>
            <a:r>
              <a:rPr lang="en-US" altLang="ja-JP" sz="1800" dirty="0" err="1">
                <a:latin typeface="+mj-lt"/>
              </a:rPr>
              <a:t>đa</a:t>
            </a:r>
            <a:r>
              <a:rPr lang="en-US" altLang="ja-JP" sz="1800" dirty="0">
                <a:latin typeface="+mj-lt"/>
              </a:rPr>
              <a:t>̃ </a:t>
            </a:r>
            <a:r>
              <a:rPr lang="en-US" altLang="ja-JP" sz="1800" dirty="0" err="1">
                <a:latin typeface="+mj-lt"/>
              </a:rPr>
              <a:t>được</a:t>
            </a:r>
            <a:r>
              <a:rPr lang="en-US" altLang="ja-JP" sz="1800" dirty="0">
                <a:latin typeface="+mj-lt"/>
              </a:rPr>
              <a:t> </a:t>
            </a:r>
            <a:r>
              <a:rPr lang="en-US" altLang="ja-JP" sz="1800" dirty="0" err="1">
                <a:latin typeface="+mj-lt"/>
              </a:rPr>
              <a:t>định</a:t>
            </a:r>
            <a:r>
              <a:rPr lang="en-US" altLang="ja-JP" sz="1800" dirty="0">
                <a:latin typeface="+mj-lt"/>
              </a:rPr>
              <a:t> </a:t>
            </a:r>
            <a:r>
              <a:rPr lang="en-US" altLang="ja-JP" sz="1800" dirty="0" err="1">
                <a:latin typeface="+mj-lt"/>
              </a:rPr>
              <a:t>nghĩa</a:t>
            </a:r>
            <a:r>
              <a:rPr lang="en-US" altLang="ja-JP" sz="1800" dirty="0">
                <a:latin typeface="+mj-lt"/>
              </a:rPr>
              <a:t> ở Employee có </a:t>
            </a:r>
            <a:r>
              <a:rPr lang="en-US" altLang="ja-JP" sz="1800" dirty="0" err="1">
                <a:latin typeface="+mj-lt"/>
              </a:rPr>
              <a:t>thê</a:t>
            </a:r>
            <a:r>
              <a:rPr lang="en-US" altLang="ja-JP" sz="1800" dirty="0">
                <a:latin typeface="+mj-lt"/>
              </a:rPr>
              <a:t>̉ </a:t>
            </a:r>
            <a:r>
              <a:rPr lang="en-US" altLang="ja-JP" sz="1800" dirty="0" err="1">
                <a:latin typeface="+mj-lt"/>
              </a:rPr>
              <a:t>gọi</a:t>
            </a:r>
            <a:r>
              <a:rPr lang="en-US" altLang="ja-JP" sz="1800" dirty="0">
                <a:latin typeface="+mj-lt"/>
              </a:rPr>
              <a:t> </a:t>
            </a:r>
            <a:r>
              <a:rPr lang="en-US" altLang="ja-JP" sz="1800" dirty="0" err="1">
                <a:latin typeface="+mj-lt"/>
              </a:rPr>
              <a:t>ra</a:t>
            </a:r>
            <a:r>
              <a:rPr lang="ja-JP" altLang="en-US" sz="1800" dirty="0">
                <a:latin typeface="+mj-lt"/>
              </a:rPr>
              <a:t>！</a:t>
            </a:r>
          </a:p>
        </p:txBody>
      </p:sp>
      <p:sp>
        <p:nvSpPr>
          <p:cNvPr id="582717" name="AutoShape 61">
            <a:extLst>
              <a:ext uri="{FF2B5EF4-FFF2-40B4-BE49-F238E27FC236}">
                <a16:creationId xmlns:a16="http://schemas.microsoft.com/office/drawing/2014/main" id="{4433A23C-712C-80E7-4E76-9E66D2F7D406}"/>
              </a:ext>
            </a:extLst>
          </p:cNvPr>
          <p:cNvSpPr>
            <a:spLocks noChangeArrowheads="1"/>
          </p:cNvSpPr>
          <p:nvPr/>
        </p:nvSpPr>
        <p:spPr bwMode="auto">
          <a:xfrm>
            <a:off x="5430838" y="2319338"/>
            <a:ext cx="1574800" cy="317500"/>
          </a:xfrm>
          <a:prstGeom prst="wedgeRoundRectCallout">
            <a:avLst>
              <a:gd name="adj1" fmla="val -22884"/>
              <a:gd name="adj2" fmla="val -150000"/>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Class name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B6B01428-B88D-F28B-EF3D-C3683C115C82}"/>
              </a:ext>
            </a:extLst>
          </p:cNvPr>
          <p:cNvSpPr>
            <a:spLocks noGrp="1"/>
          </p:cNvSpPr>
          <p:nvPr>
            <p:ph type="sldNum" sz="quarter" idx="10"/>
          </p:nvPr>
        </p:nvSpPr>
        <p:spPr/>
        <p:txBody>
          <a:bodyPr/>
          <a:lstStyle/>
          <a:p>
            <a:fld id="{4610DC64-F6AF-43FC-9AF0-FAC65CF144AA}" type="slidenum">
              <a:rPr lang="en-US" altLang="ja-JP"/>
              <a:pPr/>
              <a:t>7</a:t>
            </a:fld>
            <a:endParaRPr lang="en-US" altLang="ja-JP"/>
          </a:p>
        </p:txBody>
      </p:sp>
      <p:sp>
        <p:nvSpPr>
          <p:cNvPr id="546827" name="Text Box 11">
            <a:extLst>
              <a:ext uri="{FF2B5EF4-FFF2-40B4-BE49-F238E27FC236}">
                <a16:creationId xmlns:a16="http://schemas.microsoft.com/office/drawing/2014/main" id="{85C749DD-3AA0-5E78-7DA5-290ED87380C5}"/>
              </a:ext>
            </a:extLst>
          </p:cNvPr>
          <p:cNvSpPr txBox="1">
            <a:spLocks noChangeArrowheads="1"/>
          </p:cNvSpPr>
          <p:nvPr/>
        </p:nvSpPr>
        <p:spPr bwMode="auto">
          <a:xfrm>
            <a:off x="344488" y="1724025"/>
            <a:ext cx="9120187" cy="52705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defTabSz="265113">
              <a:defRPr kumimoji="1">
                <a:solidFill>
                  <a:schemeClr val="tx1"/>
                </a:solidFill>
                <a:latin typeface="Arial" panose="020B0604020202020204" pitchFamily="34" charset="0"/>
                <a:ea typeface="ＭＳ Ｐゴシック" panose="020B0600070205080204" pitchFamily="50" charset="-128"/>
              </a:defRPr>
            </a:lvl1pPr>
            <a:lvl2pPr marL="179388" defTabSz="265113">
              <a:defRPr kumimoji="1">
                <a:solidFill>
                  <a:schemeClr val="tx1"/>
                </a:solidFill>
                <a:latin typeface="Arial" panose="020B0604020202020204" pitchFamily="34" charset="0"/>
                <a:ea typeface="ＭＳ Ｐゴシック" panose="020B0600070205080204" pitchFamily="50" charset="-128"/>
              </a:defRPr>
            </a:lvl2pPr>
            <a:lvl3pPr defTabSz="265113">
              <a:defRPr kumimoji="1">
                <a:solidFill>
                  <a:schemeClr val="tx1"/>
                </a:solidFill>
                <a:latin typeface="Arial" panose="020B0604020202020204" pitchFamily="34" charset="0"/>
                <a:ea typeface="ＭＳ Ｐゴシック" panose="020B0600070205080204" pitchFamily="50" charset="-128"/>
              </a:defRPr>
            </a:lvl3pPr>
            <a:lvl4pPr defTabSz="265113">
              <a:defRPr kumimoji="1">
                <a:solidFill>
                  <a:schemeClr val="tx1"/>
                </a:solidFill>
                <a:latin typeface="Arial" panose="020B0604020202020204" pitchFamily="34" charset="0"/>
                <a:ea typeface="ＭＳ Ｐゴシック" panose="020B0600070205080204" pitchFamily="50" charset="-128"/>
              </a:defRPr>
            </a:lvl4pPr>
            <a:lvl5pPr defTabSz="265113">
              <a:defRPr kumimoji="1">
                <a:solidFill>
                  <a:schemeClr val="tx1"/>
                </a:solidFill>
                <a:latin typeface="Arial" panose="020B0604020202020204" pitchFamily="34" charset="0"/>
                <a:ea typeface="ＭＳ Ｐゴシック" panose="020B0600070205080204" pitchFamily="50" charset="-128"/>
              </a:defRPr>
            </a:lvl5pPr>
            <a:lvl6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2651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2000">
                <a:ea typeface="MS UI Gothic" panose="020B0600070205080204" pitchFamily="50" charset="-128"/>
              </a:rPr>
              <a:t>（</a:t>
            </a:r>
            <a:r>
              <a:rPr lang="en-US" altLang="ja-JP" sz="2000">
                <a:ea typeface="MS UI Gothic" panose="020B0600070205080204" pitchFamily="50" charset="-128"/>
              </a:rPr>
              <a:t>kiểu data mới</a:t>
            </a:r>
            <a:r>
              <a:rPr lang="ja-JP" altLang="en-US" sz="2000">
                <a:ea typeface="MS UI Gothic" panose="020B0600070205080204" pitchFamily="50" charset="-128"/>
              </a:rPr>
              <a:t>）</a:t>
            </a:r>
            <a:r>
              <a:rPr lang="en-US" altLang="ja-JP" sz="2000">
                <a:ea typeface="MS UI Gothic" panose="020B0600070205080204" pitchFamily="50" charset="-128"/>
              </a:rPr>
              <a:t>giá trị hoặc biểu thức</a:t>
            </a:r>
          </a:p>
        </p:txBody>
      </p:sp>
      <p:sp>
        <p:nvSpPr>
          <p:cNvPr id="546818" name="Rectangle 2">
            <a:extLst>
              <a:ext uri="{FF2B5EF4-FFF2-40B4-BE49-F238E27FC236}">
                <a16:creationId xmlns:a16="http://schemas.microsoft.com/office/drawing/2014/main" id="{7F6E93C7-77D3-1B66-87B0-60E78264360D}"/>
              </a:ext>
            </a:extLst>
          </p:cNvPr>
          <p:cNvSpPr>
            <a:spLocks noGrp="1" noChangeArrowheads="1"/>
          </p:cNvSpPr>
          <p:nvPr>
            <p:ph type="title"/>
          </p:nvPr>
        </p:nvSpPr>
        <p:spPr>
          <a:xfrm>
            <a:off x="344488" y="261890"/>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Cast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tham</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chiếu</a:t>
            </a:r>
            <a:r>
              <a:rPr lang="en-US" altLang="ja-JP" dirty="0">
                <a:latin typeface="Arial" panose="020B0604020202020204" pitchFamily="34" charset="0"/>
                <a:ea typeface="MS UI Gothic" panose="020B0600070205080204" pitchFamily="50" charset="-128"/>
              </a:rPr>
              <a:t>  (1)</a:t>
            </a:r>
          </a:p>
        </p:txBody>
      </p:sp>
      <p:sp>
        <p:nvSpPr>
          <p:cNvPr id="546819" name="Rectangle 3">
            <a:extLst>
              <a:ext uri="{FF2B5EF4-FFF2-40B4-BE49-F238E27FC236}">
                <a16:creationId xmlns:a16="http://schemas.microsoft.com/office/drawing/2014/main" id="{DD56F543-EC54-F214-5E3B-6CDBB4D6EABB}"/>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46820" name="Rectangle 4">
            <a:extLst>
              <a:ext uri="{FF2B5EF4-FFF2-40B4-BE49-F238E27FC236}">
                <a16:creationId xmlns:a16="http://schemas.microsoft.com/office/drawing/2014/main" id="{8D7225AA-BB4C-0B1E-9122-1851F9D7131E}"/>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Cast kiểu tham chiếu</a:t>
            </a:r>
          </a:p>
          <a:p>
            <a:pPr>
              <a:spcBef>
                <a:spcPct val="50000"/>
              </a:spcBef>
              <a:buFont typeface="Wingdings" panose="05000000000000000000" pitchFamily="2" charset="2"/>
              <a:buNone/>
            </a:pPr>
            <a:r>
              <a:rPr lang="en-US" altLang="ja-JP" sz="2000" b="0">
                <a:latin typeface="Arial" panose="020B0604020202020204" pitchFamily="34" charset="0"/>
              </a:rPr>
              <a:t>●Cú pháp cơ bản</a:t>
            </a:r>
            <a:r>
              <a:rPr lang="ja-JP" altLang="en-US" sz="2000" b="0">
                <a:latin typeface="Arial" panose="020B0604020202020204" pitchFamily="34" charset="0"/>
              </a:rPr>
              <a:t>（</a:t>
            </a:r>
            <a:r>
              <a:rPr lang="en-US" altLang="ja-JP" sz="2000" b="0">
                <a:latin typeface="Arial" panose="020B0604020202020204" pitchFamily="34" charset="0"/>
              </a:rPr>
              <a:t>giống với cast kiểu data cơ bản</a:t>
            </a:r>
            <a:r>
              <a:rPr lang="ja-JP" altLang="en-US" sz="2000" b="0">
                <a:latin typeface="Arial" panose="020B0604020202020204" pitchFamily="34" charset="0"/>
              </a:rPr>
              <a:t>）</a:t>
            </a:r>
            <a:endParaRPr lang="ja-JP" altLang="en-US" sz="2400" b="0">
              <a:latin typeface="Arial" panose="020B0604020202020204" pitchFamily="34" charset="0"/>
            </a:endParaRPr>
          </a:p>
          <a:p>
            <a:pPr lvl="1"/>
            <a:endParaRPr lang="en-US" altLang="ja-JP" sz="2400" b="0">
              <a:latin typeface="Arial" panose="020B0604020202020204" pitchFamily="34" charset="0"/>
            </a:endParaRPr>
          </a:p>
        </p:txBody>
      </p:sp>
      <p:sp>
        <p:nvSpPr>
          <p:cNvPr id="546821" name="Rectangle 5">
            <a:extLst>
              <a:ext uri="{FF2B5EF4-FFF2-40B4-BE49-F238E27FC236}">
                <a16:creationId xmlns:a16="http://schemas.microsoft.com/office/drawing/2014/main" id="{33D1FF32-8983-646E-2889-0D2D6CB804BB}"/>
              </a:ext>
            </a:extLst>
          </p:cNvPr>
          <p:cNvSpPr>
            <a:spLocks noChangeArrowheads="1"/>
          </p:cNvSpPr>
          <p:nvPr/>
        </p:nvSpPr>
        <p:spPr bwMode="auto">
          <a:xfrm>
            <a:off x="344488" y="31607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●Point</a:t>
            </a:r>
            <a:endParaRPr lang="en-US" altLang="ja-JP" sz="2400" b="0">
              <a:latin typeface="Arial" panose="020B0604020202020204" pitchFamily="34" charset="0"/>
            </a:endParaRPr>
          </a:p>
        </p:txBody>
      </p:sp>
      <p:sp>
        <p:nvSpPr>
          <p:cNvPr id="546823" name="AutoShape 7">
            <a:extLst>
              <a:ext uri="{FF2B5EF4-FFF2-40B4-BE49-F238E27FC236}">
                <a16:creationId xmlns:a16="http://schemas.microsoft.com/office/drawing/2014/main" id="{3692E1DC-07A2-12B7-229D-D9756C05A5AE}"/>
              </a:ext>
            </a:extLst>
          </p:cNvPr>
          <p:cNvSpPr>
            <a:spLocks noChangeArrowheads="1"/>
          </p:cNvSpPr>
          <p:nvPr/>
        </p:nvSpPr>
        <p:spPr bwMode="auto">
          <a:xfrm>
            <a:off x="1054100" y="2405063"/>
            <a:ext cx="8008938" cy="561975"/>
          </a:xfrm>
          <a:prstGeom prst="wedgeRoundRectCallout">
            <a:avLst>
              <a:gd name="adj1" fmla="val -21102"/>
              <a:gd name="adj2" fmla="val -8418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Cú </a:t>
            </a:r>
            <a:r>
              <a:rPr lang="en-US" altLang="ja-JP" sz="1800" dirty="0" err="1">
                <a:latin typeface="+mj-lt"/>
              </a:rPr>
              <a:t>pháp</a:t>
            </a:r>
            <a:r>
              <a:rPr lang="en-US" altLang="ja-JP" sz="1800" dirty="0">
                <a:latin typeface="+mj-lt"/>
              </a:rPr>
              <a:t> </a:t>
            </a:r>
            <a:r>
              <a:rPr lang="en-US" altLang="ja-JP" sz="1800" dirty="0" err="1">
                <a:latin typeface="+mj-lt"/>
              </a:rPr>
              <a:t>thi</a:t>
            </a:r>
            <a:r>
              <a:rPr lang="en-US" altLang="ja-JP" sz="1800" dirty="0">
                <a:latin typeface="+mj-lt"/>
              </a:rPr>
              <a:t>̀ </a:t>
            </a:r>
            <a:r>
              <a:rPr lang="en-US" altLang="ja-JP" sz="1800" dirty="0" err="1">
                <a:latin typeface="+mj-lt"/>
              </a:rPr>
              <a:t>giống</a:t>
            </a:r>
            <a:r>
              <a:rPr lang="en-US" altLang="ja-JP" sz="1800" dirty="0">
                <a:latin typeface="+mj-lt"/>
              </a:rPr>
              <a:t>, </a:t>
            </a:r>
            <a:r>
              <a:rPr lang="en-US" altLang="ja-JP" sz="1800" dirty="0" err="1">
                <a:latin typeface="+mj-lt"/>
              </a:rPr>
              <a:t>nhưng</a:t>
            </a:r>
            <a:r>
              <a:rPr lang="en-US" altLang="ja-JP" sz="1800" dirty="0">
                <a:latin typeface="+mj-lt"/>
              </a:rPr>
              <a:t> do ý </a:t>
            </a:r>
            <a:r>
              <a:rPr lang="en-US" altLang="ja-JP" sz="1800" dirty="0" err="1">
                <a:latin typeface="+mj-lt"/>
              </a:rPr>
              <a:t>nghĩa</a:t>
            </a:r>
            <a:r>
              <a:rPr lang="en-US" altLang="ja-JP" sz="1800" dirty="0">
                <a:latin typeface="+mj-lt"/>
              </a:rPr>
              <a:t> </a:t>
            </a:r>
            <a:r>
              <a:rPr lang="en-US" altLang="ja-JP" sz="1800" dirty="0" err="1">
                <a:latin typeface="+mj-lt"/>
              </a:rPr>
              <a:t>khác</a:t>
            </a:r>
            <a:r>
              <a:rPr lang="en-US" altLang="ja-JP" sz="1800" dirty="0">
                <a:latin typeface="+mj-lt"/>
              </a:rPr>
              <a:t> </a:t>
            </a:r>
            <a:r>
              <a:rPr lang="en-US" altLang="ja-JP" sz="1800" dirty="0" err="1">
                <a:latin typeface="+mj-lt"/>
              </a:rPr>
              <a:t>với</a:t>
            </a:r>
            <a:r>
              <a:rPr lang="en-US" altLang="ja-JP" sz="1800" dirty="0">
                <a:latin typeface="+mj-lt"/>
              </a:rPr>
              <a:t> </a:t>
            </a:r>
            <a:r>
              <a:rPr lang="en-US" altLang="ja-JP" sz="1800" dirty="0" err="1">
                <a:latin typeface="+mj-lt"/>
              </a:rPr>
              <a:t>trường</a:t>
            </a:r>
            <a:r>
              <a:rPr lang="en-US" altLang="ja-JP" sz="1800" dirty="0">
                <a:latin typeface="+mj-lt"/>
              </a:rPr>
              <a:t> </a:t>
            </a:r>
            <a:r>
              <a:rPr lang="en-US" altLang="ja-JP" sz="1800" dirty="0" err="1">
                <a:latin typeface="+mj-lt"/>
              </a:rPr>
              <a:t>hợp</a:t>
            </a:r>
            <a:r>
              <a:rPr lang="en-US" altLang="ja-JP" sz="1800" dirty="0">
                <a:latin typeface="+mj-lt"/>
              </a:rPr>
              <a:t> </a:t>
            </a:r>
            <a:r>
              <a:rPr lang="en-US" altLang="ja-JP" sz="1800" dirty="0" err="1">
                <a:latin typeface="+mj-lt"/>
              </a:rPr>
              <a:t>kiểu</a:t>
            </a:r>
            <a:r>
              <a:rPr lang="en-US" altLang="ja-JP" sz="1800" dirty="0">
                <a:latin typeface="+mj-lt"/>
              </a:rPr>
              <a:t> data </a:t>
            </a:r>
            <a:r>
              <a:rPr lang="en-US" altLang="ja-JP" sz="1800" dirty="0" err="1">
                <a:latin typeface="+mj-lt"/>
              </a:rPr>
              <a:t>cơ</a:t>
            </a:r>
            <a:r>
              <a:rPr lang="en-US" altLang="ja-JP" sz="1800" dirty="0">
                <a:latin typeface="+mj-lt"/>
              </a:rPr>
              <a:t> </a:t>
            </a:r>
            <a:r>
              <a:rPr lang="en-US" altLang="ja-JP" sz="1800" dirty="0" err="1">
                <a:latin typeface="+mj-lt"/>
              </a:rPr>
              <a:t>bản</a:t>
            </a:r>
            <a:r>
              <a:rPr lang="en-US" altLang="ja-JP" sz="1800" dirty="0">
                <a:latin typeface="+mj-lt"/>
              </a:rPr>
              <a:t>, </a:t>
            </a:r>
            <a:r>
              <a:rPr lang="en-US" altLang="ja-JP" sz="1800" dirty="0" err="1">
                <a:latin typeface="+mj-lt"/>
              </a:rPr>
              <a:t>nên</a:t>
            </a:r>
            <a:r>
              <a:rPr lang="en-US" altLang="ja-JP" sz="1800" dirty="0">
                <a:latin typeface="+mj-lt"/>
              </a:rPr>
              <a:t> </a:t>
            </a:r>
            <a:r>
              <a:rPr lang="en-US" altLang="ja-JP" sz="1800" dirty="0" err="1">
                <a:latin typeface="+mj-lt"/>
              </a:rPr>
              <a:t>cần</a:t>
            </a:r>
            <a:r>
              <a:rPr lang="en-US" altLang="ja-JP" sz="1800" dirty="0">
                <a:latin typeface="+mj-lt"/>
              </a:rPr>
              <a:t> </a:t>
            </a:r>
            <a:r>
              <a:rPr lang="en-US" altLang="ja-JP" sz="1800" dirty="0" err="1">
                <a:latin typeface="+mj-lt"/>
              </a:rPr>
              <a:t>phải</a:t>
            </a:r>
            <a:r>
              <a:rPr lang="en-US" altLang="ja-JP" sz="1800" dirty="0">
                <a:latin typeface="+mj-lt"/>
              </a:rPr>
              <a:t> chú ý</a:t>
            </a:r>
            <a:r>
              <a:rPr lang="ja-JP" altLang="en-US" sz="1800" dirty="0">
                <a:latin typeface="+mj-lt"/>
              </a:rPr>
              <a:t>！</a:t>
            </a:r>
          </a:p>
        </p:txBody>
      </p:sp>
      <p:sp>
        <p:nvSpPr>
          <p:cNvPr id="546828" name="Rectangle 12">
            <a:extLst>
              <a:ext uri="{FF2B5EF4-FFF2-40B4-BE49-F238E27FC236}">
                <a16:creationId xmlns:a16="http://schemas.microsoft.com/office/drawing/2014/main" id="{F77F0B4E-C840-5056-1F5A-CE3FA2AE4130}"/>
              </a:ext>
            </a:extLst>
          </p:cNvPr>
          <p:cNvSpPr>
            <a:spLocks noChangeArrowheads="1"/>
          </p:cNvSpPr>
          <p:nvPr/>
        </p:nvSpPr>
        <p:spPr bwMode="auto">
          <a:xfrm>
            <a:off x="344488" y="3646488"/>
            <a:ext cx="9091612" cy="246380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46839" name="Rectangle 23">
            <a:extLst>
              <a:ext uri="{FF2B5EF4-FFF2-40B4-BE49-F238E27FC236}">
                <a16:creationId xmlns:a16="http://schemas.microsoft.com/office/drawing/2014/main" id="{4EB9C895-BED7-3DDC-4576-0558D8A63FAC}"/>
              </a:ext>
            </a:extLst>
          </p:cNvPr>
          <p:cNvSpPr>
            <a:spLocks noChangeArrowheads="1"/>
          </p:cNvSpPr>
          <p:nvPr/>
        </p:nvSpPr>
        <p:spPr bwMode="auto">
          <a:xfrm>
            <a:off x="1030288" y="4235450"/>
            <a:ext cx="1992312" cy="950913"/>
          </a:xfrm>
          <a:prstGeom prst="rect">
            <a:avLst/>
          </a:prstGeom>
          <a:solidFill>
            <a:srgbClr val="FFFFCC"/>
          </a:solidFill>
          <a:ln w="15240">
            <a:solidFill>
              <a:srgbClr val="000000"/>
            </a:solidFill>
            <a:miter lim="800000"/>
            <a:headEnd/>
            <a:tailEnd/>
          </a:ln>
          <a:effectLst>
            <a:outerShdw dist="35921" dir="2700000" algn="ctr" rotWithShape="0">
              <a:srgbClr val="808080">
                <a:alpha val="50000"/>
              </a:srgbClr>
            </a:outerShdw>
          </a:effectLst>
        </p:spPr>
        <p:txBody>
          <a:bodyPr/>
          <a:lstStyle/>
          <a:p>
            <a:pPr algn="ctr"/>
            <a:r>
              <a:rPr lang="en-US" altLang="ja-JP" sz="2000" dirty="0">
                <a:solidFill>
                  <a:srgbClr val="000000"/>
                </a:solidFill>
                <a:latin typeface="+mj-lt"/>
                <a:ea typeface="ＭＳ Ｐゴシック" panose="020B0600070205080204" pitchFamily="50" charset="-128"/>
              </a:rPr>
              <a:t>Sub-class</a:t>
            </a:r>
          </a:p>
          <a:p>
            <a:pPr algn="ctr"/>
            <a:r>
              <a:rPr lang="ja-JP" altLang="en-US" sz="2000" dirty="0">
                <a:solidFill>
                  <a:srgbClr val="000000"/>
                </a:solidFill>
                <a:latin typeface="+mj-lt"/>
                <a:ea typeface="ＭＳ Ｐゴシック" panose="020B0600070205080204" pitchFamily="50" charset="-128"/>
              </a:rPr>
              <a:t>（</a:t>
            </a:r>
            <a:r>
              <a:rPr lang="en-US" altLang="ja-JP" sz="2000" dirty="0">
                <a:solidFill>
                  <a:srgbClr val="000000"/>
                </a:solidFill>
                <a:latin typeface="+mj-lt"/>
                <a:ea typeface="ＭＳ Ｐゴシック" panose="020B0600070205080204" pitchFamily="50" charset="-128"/>
              </a:rPr>
              <a:t>Sales</a:t>
            </a:r>
            <a:r>
              <a:rPr lang="ja-JP" altLang="en-US" sz="2000" dirty="0">
                <a:solidFill>
                  <a:srgbClr val="000000"/>
                </a:solidFill>
                <a:latin typeface="+mj-lt"/>
                <a:ea typeface="ＭＳ Ｐゴシック" panose="020B0600070205080204" pitchFamily="50" charset="-128"/>
              </a:rPr>
              <a:t>）</a:t>
            </a:r>
            <a:endParaRPr lang="ja-JP" altLang="en-US" sz="2000" dirty="0">
              <a:latin typeface="+mj-lt"/>
              <a:ea typeface="ＭＳ 明朝" panose="02020609040205080304" pitchFamily="17" charset="-128"/>
            </a:endParaRPr>
          </a:p>
          <a:p>
            <a:endParaRPr lang="en-US" altLang="ja-JP" sz="2000" dirty="0">
              <a:latin typeface="+mj-lt"/>
            </a:endParaRPr>
          </a:p>
        </p:txBody>
      </p:sp>
      <p:sp>
        <p:nvSpPr>
          <p:cNvPr id="546840" name="Rectangle 24">
            <a:extLst>
              <a:ext uri="{FF2B5EF4-FFF2-40B4-BE49-F238E27FC236}">
                <a16:creationId xmlns:a16="http://schemas.microsoft.com/office/drawing/2014/main" id="{C5567F3F-29F0-A80F-3A84-5B2442EEDDE7}"/>
              </a:ext>
            </a:extLst>
          </p:cNvPr>
          <p:cNvSpPr>
            <a:spLocks noChangeArrowheads="1"/>
          </p:cNvSpPr>
          <p:nvPr/>
        </p:nvSpPr>
        <p:spPr bwMode="auto">
          <a:xfrm>
            <a:off x="7104063" y="4287838"/>
            <a:ext cx="1943100" cy="950912"/>
          </a:xfrm>
          <a:prstGeom prst="rect">
            <a:avLst/>
          </a:prstGeom>
          <a:solidFill>
            <a:srgbClr val="FFCC99"/>
          </a:solidFill>
          <a:ln w="15240">
            <a:solidFill>
              <a:srgbClr val="000000"/>
            </a:solidFill>
            <a:miter lim="800000"/>
            <a:headEnd/>
            <a:tailEnd/>
          </a:ln>
          <a:effectLst>
            <a:outerShdw dist="35921" dir="2700000" algn="ctr" rotWithShape="0">
              <a:srgbClr val="808080">
                <a:alpha val="50000"/>
              </a:srgbClr>
            </a:outerShdw>
          </a:effectLst>
        </p:spPr>
        <p:txBody>
          <a:bodyPr/>
          <a:lstStyle/>
          <a:p>
            <a:pPr algn="ctr"/>
            <a:r>
              <a:rPr lang="en-US" altLang="ja-JP" sz="2000" dirty="0">
                <a:solidFill>
                  <a:srgbClr val="000000"/>
                </a:solidFill>
                <a:latin typeface="+mj-lt"/>
                <a:ea typeface="ＭＳ Ｐゴシック" panose="020B0600070205080204" pitchFamily="50" charset="-128"/>
              </a:rPr>
              <a:t>Super class</a:t>
            </a:r>
            <a:r>
              <a:rPr lang="ja-JP" altLang="en-US" sz="2000" dirty="0">
                <a:solidFill>
                  <a:srgbClr val="000000"/>
                </a:solidFill>
                <a:latin typeface="+mj-lt"/>
                <a:ea typeface="ＭＳ Ｐゴシック" panose="020B0600070205080204" pitchFamily="50" charset="-128"/>
              </a:rPr>
              <a:t>（</a:t>
            </a:r>
            <a:r>
              <a:rPr lang="en-US" altLang="ja-JP" sz="2000" dirty="0">
                <a:solidFill>
                  <a:srgbClr val="000000"/>
                </a:solidFill>
                <a:latin typeface="+mj-lt"/>
                <a:ea typeface="ＭＳ Ｐゴシック" panose="020B0600070205080204" pitchFamily="50" charset="-128"/>
              </a:rPr>
              <a:t>Employee</a:t>
            </a:r>
            <a:r>
              <a:rPr lang="ja-JP" altLang="en-US" sz="2000" dirty="0">
                <a:solidFill>
                  <a:srgbClr val="000000"/>
                </a:solidFill>
                <a:latin typeface="+mj-lt"/>
                <a:ea typeface="ＭＳ Ｐゴシック" panose="020B0600070205080204" pitchFamily="50" charset="-128"/>
              </a:rPr>
              <a:t>）</a:t>
            </a:r>
            <a:endParaRPr lang="ja-JP" altLang="en-US" sz="2000" dirty="0">
              <a:latin typeface="+mj-lt"/>
              <a:ea typeface="ＭＳ 明朝" panose="02020609040205080304" pitchFamily="17" charset="-128"/>
            </a:endParaRPr>
          </a:p>
          <a:p>
            <a:endParaRPr lang="en-US" altLang="ja-JP" sz="2000" dirty="0">
              <a:latin typeface="+mj-lt"/>
            </a:endParaRPr>
          </a:p>
        </p:txBody>
      </p:sp>
      <p:sp>
        <p:nvSpPr>
          <p:cNvPr id="546841" name="Text Box 25">
            <a:extLst>
              <a:ext uri="{FF2B5EF4-FFF2-40B4-BE49-F238E27FC236}">
                <a16:creationId xmlns:a16="http://schemas.microsoft.com/office/drawing/2014/main" id="{E512FC16-4967-A56F-17B2-804F1DC4C24B}"/>
              </a:ext>
            </a:extLst>
          </p:cNvPr>
          <p:cNvSpPr txBox="1">
            <a:spLocks noChangeArrowheads="1"/>
          </p:cNvSpPr>
          <p:nvPr/>
        </p:nvSpPr>
        <p:spPr bwMode="auto">
          <a:xfrm>
            <a:off x="3032125" y="3727450"/>
            <a:ext cx="3987800" cy="549275"/>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ja-JP" sz="1500" dirty="0" err="1">
                <a:latin typeface="+mj-lt"/>
              </a:rPr>
              <a:t>Trường</a:t>
            </a:r>
            <a:r>
              <a:rPr lang="en-US" altLang="ja-JP" sz="1500" dirty="0">
                <a:latin typeface="+mj-lt"/>
              </a:rPr>
              <a:t> </a:t>
            </a:r>
            <a:r>
              <a:rPr lang="en-US" altLang="ja-JP" sz="1500" dirty="0" err="1">
                <a:latin typeface="+mj-lt"/>
              </a:rPr>
              <a:t>hợp</a:t>
            </a:r>
            <a:r>
              <a:rPr lang="en-US" altLang="ja-JP" sz="1500" dirty="0">
                <a:latin typeface="+mj-lt"/>
              </a:rPr>
              <a:t> </a:t>
            </a:r>
            <a:r>
              <a:rPr lang="en-US" altLang="ja-JP" sz="1500" dirty="0" err="1">
                <a:latin typeface="+mj-lt"/>
              </a:rPr>
              <a:t>không</a:t>
            </a:r>
            <a:r>
              <a:rPr lang="en-US" altLang="ja-JP" sz="1500" dirty="0">
                <a:latin typeface="+mj-lt"/>
              </a:rPr>
              <a:t> có </a:t>
            </a:r>
            <a:r>
              <a:rPr lang="en-US" altLang="ja-JP" sz="1500" dirty="0" err="1">
                <a:latin typeface="+mj-lt"/>
              </a:rPr>
              <a:t>điều</a:t>
            </a:r>
            <a:r>
              <a:rPr lang="en-US" altLang="ja-JP" sz="1500" dirty="0">
                <a:latin typeface="+mj-lt"/>
              </a:rPr>
              <a:t> </a:t>
            </a:r>
            <a:r>
              <a:rPr lang="en-US" altLang="ja-JP" sz="1500" dirty="0" err="1">
                <a:latin typeface="+mj-lt"/>
              </a:rPr>
              <a:t>kiện</a:t>
            </a:r>
            <a:r>
              <a:rPr lang="en-US" altLang="ja-JP" sz="1500" dirty="0">
                <a:latin typeface="+mj-lt"/>
              </a:rPr>
              <a:t> </a:t>
            </a:r>
            <a:r>
              <a:rPr lang="en-US" altLang="ja-JP" sz="1500" dirty="0" err="1">
                <a:latin typeface="+mj-lt"/>
              </a:rPr>
              <a:t>thi</a:t>
            </a:r>
            <a:r>
              <a:rPr lang="en-US" altLang="ja-JP" sz="1500" dirty="0">
                <a:latin typeface="+mj-lt"/>
              </a:rPr>
              <a:t>̀ </a:t>
            </a:r>
            <a:r>
              <a:rPr lang="en-US" altLang="ja-JP" sz="1500" dirty="0" err="1">
                <a:latin typeface="+mj-lt"/>
              </a:rPr>
              <a:t>là</a:t>
            </a:r>
            <a:r>
              <a:rPr lang="en-US" altLang="ja-JP" sz="1500" dirty="0">
                <a:latin typeface="+mj-lt"/>
              </a:rPr>
              <a:t> ○</a:t>
            </a:r>
          </a:p>
          <a:p>
            <a:pPr algn="ctr"/>
            <a:r>
              <a:rPr lang="en-US" altLang="ja-JP" sz="1500" dirty="0">
                <a:latin typeface="+mj-lt"/>
              </a:rPr>
              <a:t>Có </a:t>
            </a:r>
            <a:r>
              <a:rPr lang="en-US" altLang="ja-JP" sz="1500" dirty="0" err="1">
                <a:latin typeface="+mj-lt"/>
              </a:rPr>
              <a:t>thê</a:t>
            </a:r>
            <a:r>
              <a:rPr lang="en-US" altLang="ja-JP" sz="1500" dirty="0">
                <a:latin typeface="+mj-lt"/>
              </a:rPr>
              <a:t>̉ convert </a:t>
            </a:r>
            <a:r>
              <a:rPr lang="en-US" altLang="ja-JP" sz="1500" dirty="0" err="1">
                <a:latin typeface="+mj-lt"/>
              </a:rPr>
              <a:t>ngầm</a:t>
            </a:r>
            <a:endParaRPr lang="en-US" altLang="ja-JP" sz="1500" dirty="0">
              <a:latin typeface="+mj-lt"/>
            </a:endParaRPr>
          </a:p>
        </p:txBody>
      </p:sp>
      <p:sp>
        <p:nvSpPr>
          <p:cNvPr id="546842" name="Line 26">
            <a:extLst>
              <a:ext uri="{FF2B5EF4-FFF2-40B4-BE49-F238E27FC236}">
                <a16:creationId xmlns:a16="http://schemas.microsoft.com/office/drawing/2014/main" id="{BAA0390F-2D1E-827B-A826-3E437EBE90EB}"/>
              </a:ext>
            </a:extLst>
          </p:cNvPr>
          <p:cNvSpPr>
            <a:spLocks noChangeShapeType="1"/>
          </p:cNvSpPr>
          <p:nvPr/>
        </p:nvSpPr>
        <p:spPr bwMode="auto">
          <a:xfrm>
            <a:off x="3248025" y="4545013"/>
            <a:ext cx="3551238"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46843" name="Line 27">
            <a:extLst>
              <a:ext uri="{FF2B5EF4-FFF2-40B4-BE49-F238E27FC236}">
                <a16:creationId xmlns:a16="http://schemas.microsoft.com/office/drawing/2014/main" id="{68556CE4-86AD-EA39-A78F-94923160DD29}"/>
              </a:ext>
            </a:extLst>
          </p:cNvPr>
          <p:cNvSpPr>
            <a:spLocks noChangeShapeType="1"/>
          </p:cNvSpPr>
          <p:nvPr/>
        </p:nvSpPr>
        <p:spPr bwMode="auto">
          <a:xfrm>
            <a:off x="3248025" y="4929188"/>
            <a:ext cx="3551238" cy="0"/>
          </a:xfrm>
          <a:prstGeom prst="line">
            <a:avLst/>
          </a:prstGeom>
          <a:noFill/>
          <a:ln w="571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46844" name="Text Box 28">
            <a:extLst>
              <a:ext uri="{FF2B5EF4-FFF2-40B4-BE49-F238E27FC236}">
                <a16:creationId xmlns:a16="http://schemas.microsoft.com/office/drawing/2014/main" id="{80476122-CFAE-F12E-91B4-174F7671FD58}"/>
              </a:ext>
            </a:extLst>
          </p:cNvPr>
          <p:cNvSpPr txBox="1">
            <a:spLocks noChangeArrowheads="1"/>
          </p:cNvSpPr>
          <p:nvPr/>
        </p:nvSpPr>
        <p:spPr bwMode="auto">
          <a:xfrm>
            <a:off x="2949575" y="5022850"/>
            <a:ext cx="4200525" cy="915988"/>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ja-JP" sz="1800" dirty="0" err="1">
                <a:latin typeface="+mj-lt"/>
              </a:rPr>
              <a:t>Vê</a:t>
            </a:r>
            <a:r>
              <a:rPr lang="en-US" altLang="ja-JP" sz="1800" dirty="0">
                <a:latin typeface="+mj-lt"/>
              </a:rPr>
              <a:t>̀ </a:t>
            </a:r>
            <a:r>
              <a:rPr lang="en-US" altLang="ja-JP" sz="1800" dirty="0" err="1">
                <a:latin typeface="+mj-lt"/>
              </a:rPr>
              <a:t>nguyên</a:t>
            </a:r>
            <a:r>
              <a:rPr lang="en-US" altLang="ja-JP" sz="1800" dirty="0">
                <a:latin typeface="+mj-lt"/>
              </a:rPr>
              <a:t> </a:t>
            </a:r>
            <a:r>
              <a:rPr lang="en-US" altLang="ja-JP" sz="1800" dirty="0" err="1">
                <a:latin typeface="+mj-lt"/>
              </a:rPr>
              <a:t>tắc</a:t>
            </a:r>
            <a:r>
              <a:rPr lang="en-US" altLang="ja-JP" sz="1800" dirty="0">
                <a:latin typeface="+mj-lt"/>
              </a:rPr>
              <a:t> </a:t>
            </a:r>
            <a:r>
              <a:rPr lang="en-US" altLang="ja-JP" sz="1800" dirty="0" err="1">
                <a:latin typeface="+mj-lt"/>
              </a:rPr>
              <a:t>thi</a:t>
            </a:r>
            <a:r>
              <a:rPr lang="en-US" altLang="ja-JP" sz="1800" dirty="0">
                <a:latin typeface="+mj-lt"/>
              </a:rPr>
              <a:t>̀ ×, </a:t>
            </a:r>
            <a:r>
              <a:rPr lang="en-US" altLang="ja-JP" sz="1800" dirty="0" err="1">
                <a:latin typeface="+mj-lt"/>
              </a:rPr>
              <a:t>nhưng</a:t>
            </a:r>
            <a:r>
              <a:rPr lang="en-US" altLang="ja-JP" sz="1800" dirty="0">
                <a:latin typeface="+mj-lt"/>
              </a:rPr>
              <a:t> </a:t>
            </a:r>
            <a:r>
              <a:rPr lang="en-US" altLang="ja-JP" sz="1800" dirty="0" err="1">
                <a:latin typeface="+mj-lt"/>
              </a:rPr>
              <a:t>tùy</a:t>
            </a:r>
            <a:r>
              <a:rPr lang="en-US" altLang="ja-JP" sz="1800" dirty="0">
                <a:latin typeface="+mj-lt"/>
              </a:rPr>
              <a:t> </a:t>
            </a:r>
            <a:r>
              <a:rPr lang="en-US" altLang="ja-JP" sz="1800" dirty="0" err="1">
                <a:latin typeface="+mj-lt"/>
              </a:rPr>
              <a:t>trường</a:t>
            </a:r>
            <a:r>
              <a:rPr lang="en-US" altLang="ja-JP" sz="1800" dirty="0">
                <a:latin typeface="+mj-lt"/>
              </a:rPr>
              <a:t> </a:t>
            </a:r>
            <a:r>
              <a:rPr lang="en-US" altLang="ja-JP" sz="1800" dirty="0" err="1">
                <a:latin typeface="+mj-lt"/>
              </a:rPr>
              <a:t>hợp</a:t>
            </a:r>
            <a:r>
              <a:rPr lang="en-US" altLang="ja-JP" sz="1800" dirty="0">
                <a:latin typeface="+mj-lt"/>
              </a:rPr>
              <a:t> mà </a:t>
            </a:r>
            <a:r>
              <a:rPr lang="en-US" altLang="ja-JP" sz="1800" dirty="0" err="1">
                <a:latin typeface="+mj-lt"/>
              </a:rPr>
              <a:t>sẽ</a:t>
            </a:r>
            <a:r>
              <a:rPr lang="en-US" altLang="ja-JP" sz="1800" dirty="0">
                <a:latin typeface="+mj-lt"/>
              </a:rPr>
              <a:t> </a:t>
            </a:r>
            <a:r>
              <a:rPr lang="en-US" altLang="ja-JP" sz="1800" dirty="0" err="1">
                <a:latin typeface="+mj-lt"/>
              </a:rPr>
              <a:t>là</a:t>
            </a:r>
            <a:r>
              <a:rPr lang="en-US" altLang="ja-JP" sz="1800" dirty="0">
                <a:latin typeface="+mj-lt"/>
              </a:rPr>
              <a:t> ○</a:t>
            </a:r>
          </a:p>
          <a:p>
            <a:pPr algn="ctr"/>
            <a:r>
              <a:rPr lang="en-US" altLang="ja-JP" sz="1800" dirty="0" err="1">
                <a:latin typeface="+mj-lt"/>
              </a:rPr>
              <a:t>Cần</a:t>
            </a:r>
            <a:r>
              <a:rPr lang="en-US" altLang="ja-JP" sz="1800" dirty="0">
                <a:latin typeface="+mj-lt"/>
              </a:rPr>
              <a:t> convert </a:t>
            </a:r>
            <a:r>
              <a:rPr lang="en-US" altLang="ja-JP" sz="1800" dirty="0" err="1">
                <a:latin typeface="+mj-lt"/>
              </a:rPr>
              <a:t>kiểu</a:t>
            </a:r>
            <a:r>
              <a:rPr lang="en-US" altLang="ja-JP" sz="1800" dirty="0">
                <a:latin typeface="+mj-lt"/>
              </a:rPr>
              <a:t> </a:t>
            </a:r>
            <a:r>
              <a:rPr lang="en-US" altLang="ja-JP" sz="1800" dirty="0" err="1">
                <a:latin typeface="+mj-lt"/>
              </a:rPr>
              <a:t>tường</a:t>
            </a:r>
            <a:r>
              <a:rPr lang="en-US" altLang="ja-JP" sz="1800" dirty="0">
                <a:latin typeface="+mj-lt"/>
              </a:rPr>
              <a:t> </a:t>
            </a:r>
            <a:r>
              <a:rPr lang="en-US" altLang="ja-JP" sz="1800" dirty="0" err="1">
                <a:latin typeface="+mj-lt"/>
              </a:rPr>
              <a:t>minh</a:t>
            </a:r>
            <a:endParaRPr lang="en-US" altLang="ja-JP" sz="1800" dirty="0">
              <a:latin typeface="+mj-lt"/>
            </a:endParaRPr>
          </a:p>
        </p:txBody>
      </p:sp>
      <p:sp>
        <p:nvSpPr>
          <p:cNvPr id="546845" name="AutoShape 29">
            <a:extLst>
              <a:ext uri="{FF2B5EF4-FFF2-40B4-BE49-F238E27FC236}">
                <a16:creationId xmlns:a16="http://schemas.microsoft.com/office/drawing/2014/main" id="{EA421F96-AD19-ABCB-5492-065E4B10A764}"/>
              </a:ext>
            </a:extLst>
          </p:cNvPr>
          <p:cNvSpPr>
            <a:spLocks noChangeArrowheads="1"/>
          </p:cNvSpPr>
          <p:nvPr/>
        </p:nvSpPr>
        <p:spPr bwMode="auto">
          <a:xfrm>
            <a:off x="4202113" y="806450"/>
            <a:ext cx="3508375" cy="508000"/>
          </a:xfrm>
          <a:prstGeom prst="wedgeRoundRectCallout">
            <a:avLst>
              <a:gd name="adj1" fmla="val -67232"/>
              <a:gd name="adj2" fmla="val -946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2000" dirty="0">
                <a:latin typeface="+mj-lt"/>
              </a:rPr>
              <a:t>Sub-class</a:t>
            </a:r>
            <a:r>
              <a:rPr lang="ja-JP" altLang="en-US" sz="2000" dirty="0">
                <a:latin typeface="+mj-lt"/>
              </a:rPr>
              <a:t>　⇔　</a:t>
            </a:r>
            <a:r>
              <a:rPr lang="en-US" altLang="ja-JP" sz="2000" dirty="0">
                <a:latin typeface="+mj-lt"/>
              </a:rPr>
              <a:t>super class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F24798A-ACF7-0433-D12D-7D65F7AEE4B2}"/>
              </a:ext>
            </a:extLst>
          </p:cNvPr>
          <p:cNvSpPr>
            <a:spLocks noGrp="1"/>
          </p:cNvSpPr>
          <p:nvPr>
            <p:ph type="sldNum" sz="quarter" idx="10"/>
          </p:nvPr>
        </p:nvSpPr>
        <p:spPr/>
        <p:txBody>
          <a:bodyPr/>
          <a:lstStyle/>
          <a:p>
            <a:fld id="{899B2249-2015-4922-953C-0FC9EE3A2131}" type="slidenum">
              <a:rPr lang="en-US" altLang="ja-JP"/>
              <a:pPr/>
              <a:t>8</a:t>
            </a:fld>
            <a:endParaRPr lang="en-US" altLang="ja-JP"/>
          </a:p>
        </p:txBody>
      </p:sp>
      <p:sp>
        <p:nvSpPr>
          <p:cNvPr id="564227" name="Rectangle 3">
            <a:extLst>
              <a:ext uri="{FF2B5EF4-FFF2-40B4-BE49-F238E27FC236}">
                <a16:creationId xmlns:a16="http://schemas.microsoft.com/office/drawing/2014/main" id="{C44F6492-AAD9-9275-3BED-C5FFD6EB98B4}"/>
              </a:ext>
            </a:extLst>
          </p:cNvPr>
          <p:cNvSpPr>
            <a:spLocks noGrp="1" noChangeArrowheads="1"/>
          </p:cNvSpPr>
          <p:nvPr>
            <p:ph type="title"/>
          </p:nvPr>
        </p:nvSpPr>
        <p:spPr>
          <a:xfrm>
            <a:off x="344487" y="301625"/>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Cast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tham</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chiếu</a:t>
            </a:r>
            <a:r>
              <a:rPr lang="en-US" altLang="ja-JP" dirty="0">
                <a:latin typeface="Arial" panose="020B0604020202020204" pitchFamily="34" charset="0"/>
                <a:ea typeface="MS UI Gothic" panose="020B0600070205080204" pitchFamily="50" charset="-128"/>
              </a:rPr>
              <a:t> (2)</a:t>
            </a:r>
          </a:p>
        </p:txBody>
      </p:sp>
      <p:sp>
        <p:nvSpPr>
          <p:cNvPr id="564229" name="Rectangle 5">
            <a:extLst>
              <a:ext uri="{FF2B5EF4-FFF2-40B4-BE49-F238E27FC236}">
                <a16:creationId xmlns:a16="http://schemas.microsoft.com/office/drawing/2014/main" id="{EE990E0B-D6CC-06FA-C5F2-2BC2920CCD9A}"/>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000" b="0" dirty="0">
                <a:latin typeface="Arial" panose="020B0604020202020204" pitchFamily="34" charset="0"/>
              </a:rPr>
              <a:t>Cast </a:t>
            </a:r>
            <a:r>
              <a:rPr lang="en-US" altLang="ja-JP" sz="2000" b="0" dirty="0" err="1">
                <a:latin typeface="Arial" panose="020B0604020202020204" pitchFamily="34" charset="0"/>
              </a:rPr>
              <a:t>kiểu</a:t>
            </a:r>
            <a:r>
              <a:rPr lang="en-US" altLang="ja-JP" sz="2000" b="0" dirty="0">
                <a:latin typeface="Arial" panose="020B0604020202020204" pitchFamily="34" charset="0"/>
              </a:rPr>
              <a:t> </a:t>
            </a:r>
            <a:r>
              <a:rPr lang="en-US" altLang="ja-JP" sz="2000" b="0" dirty="0" err="1">
                <a:latin typeface="Arial" panose="020B0604020202020204" pitchFamily="34" charset="0"/>
              </a:rPr>
              <a:t>tham</a:t>
            </a:r>
            <a:r>
              <a:rPr lang="en-US" altLang="ja-JP" sz="2000" b="0" dirty="0">
                <a:latin typeface="Arial" panose="020B0604020202020204" pitchFamily="34" charset="0"/>
              </a:rPr>
              <a:t> </a:t>
            </a:r>
            <a:r>
              <a:rPr lang="en-US" altLang="ja-JP" sz="2000" b="0" dirty="0" err="1">
                <a:latin typeface="Arial" panose="020B0604020202020204" pitchFamily="34" charset="0"/>
              </a:rPr>
              <a:t>chiếu</a:t>
            </a:r>
            <a:r>
              <a:rPr lang="en-US" altLang="ja-JP" sz="2000" b="0" dirty="0">
                <a:latin typeface="Arial" panose="020B0604020202020204" pitchFamily="34" charset="0"/>
              </a:rPr>
              <a:t> </a:t>
            </a:r>
            <a:r>
              <a:rPr lang="ja-JP" altLang="en-US" sz="2000" b="0" dirty="0">
                <a:latin typeface="Arial" panose="020B0604020202020204" pitchFamily="34" charset="0"/>
              </a:rPr>
              <a:t>（</a:t>
            </a:r>
            <a:r>
              <a:rPr lang="en-US" altLang="ja-JP" sz="2000" b="0" dirty="0">
                <a:latin typeface="Arial" panose="020B0604020202020204" pitchFamily="34" charset="0"/>
              </a:rPr>
              <a:t>sub-class</a:t>
            </a:r>
            <a:r>
              <a:rPr lang="ja-JP" altLang="en-US" sz="2000" b="0" dirty="0">
                <a:latin typeface="Arial" panose="020B0604020202020204" pitchFamily="34" charset="0"/>
              </a:rPr>
              <a:t>　⇒　</a:t>
            </a:r>
            <a:r>
              <a:rPr lang="en-US" altLang="ja-JP" sz="2000" b="0" dirty="0">
                <a:latin typeface="Arial" panose="020B0604020202020204" pitchFamily="34" charset="0"/>
              </a:rPr>
              <a:t>super class</a:t>
            </a:r>
            <a:r>
              <a:rPr lang="ja-JP" altLang="en-US" sz="2000" b="0" dirty="0">
                <a:latin typeface="Arial" panose="020B0604020202020204" pitchFamily="34" charset="0"/>
              </a:rPr>
              <a:t>）</a:t>
            </a:r>
          </a:p>
        </p:txBody>
      </p:sp>
      <p:grpSp>
        <p:nvGrpSpPr>
          <p:cNvPr id="564325" name="Group 101">
            <a:extLst>
              <a:ext uri="{FF2B5EF4-FFF2-40B4-BE49-F238E27FC236}">
                <a16:creationId xmlns:a16="http://schemas.microsoft.com/office/drawing/2014/main" id="{CD86D202-DA47-1B51-293A-529C2E350560}"/>
              </a:ext>
            </a:extLst>
          </p:cNvPr>
          <p:cNvGrpSpPr>
            <a:grpSpLocks/>
          </p:cNvGrpSpPr>
          <p:nvPr/>
        </p:nvGrpSpPr>
        <p:grpSpPr bwMode="auto">
          <a:xfrm>
            <a:off x="61872" y="1717675"/>
            <a:ext cx="5611813" cy="3944937"/>
            <a:chOff x="33" y="1123"/>
            <a:chExt cx="3535" cy="2485"/>
          </a:xfrm>
        </p:grpSpPr>
        <p:sp>
          <p:nvSpPr>
            <p:cNvPr id="564241" name="Text Box 17">
              <a:extLst>
                <a:ext uri="{FF2B5EF4-FFF2-40B4-BE49-F238E27FC236}">
                  <a16:creationId xmlns:a16="http://schemas.microsoft.com/office/drawing/2014/main" id="{DD1552B5-EC6A-C1A4-1D28-5527D73477E0}"/>
                </a:ext>
              </a:extLst>
            </p:cNvPr>
            <p:cNvSpPr txBox="1">
              <a:spLocks noChangeArrowheads="1"/>
            </p:cNvSpPr>
            <p:nvPr/>
          </p:nvSpPr>
          <p:spPr bwMode="auto">
            <a:xfrm>
              <a:off x="460" y="1389"/>
              <a:ext cx="219" cy="107"/>
            </a:xfrm>
            <a:prstGeom prst="rect">
              <a:avLst/>
            </a:prstGeom>
            <a:solidFill>
              <a:srgbClr val="FFFFFF"/>
            </a:solidFill>
            <a:ln w="9525">
              <a:solidFill>
                <a:srgbClr val="000000"/>
              </a:solidFill>
              <a:miter lim="800000"/>
              <a:headEnd/>
              <a:tailEnd/>
            </a:ln>
          </p:spPr>
          <p:txBody>
            <a:bodyPr lIns="74295" tIns="8890" rIns="74295" bIns="8890"/>
            <a:lstStyle/>
            <a:p>
              <a:endParaRPr lang="en-US" altLang="ja-JP"/>
            </a:p>
          </p:txBody>
        </p:sp>
        <p:sp>
          <p:nvSpPr>
            <p:cNvPr id="564242" name="Line 18">
              <a:extLst>
                <a:ext uri="{FF2B5EF4-FFF2-40B4-BE49-F238E27FC236}">
                  <a16:creationId xmlns:a16="http://schemas.microsoft.com/office/drawing/2014/main" id="{71989521-8E8C-F5D1-7BB2-FFD4DABFBA96}"/>
                </a:ext>
              </a:extLst>
            </p:cNvPr>
            <p:cNvSpPr>
              <a:spLocks noChangeShapeType="1"/>
            </p:cNvSpPr>
            <p:nvPr/>
          </p:nvSpPr>
          <p:spPr bwMode="auto">
            <a:xfrm>
              <a:off x="599" y="1441"/>
              <a:ext cx="1252" cy="9"/>
            </a:xfrm>
            <a:prstGeom prst="line">
              <a:avLst/>
            </a:prstGeom>
            <a:noFill/>
            <a:ln w="28575">
              <a:solidFill>
                <a:srgbClr val="00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64243" name="Text Box 19">
              <a:extLst>
                <a:ext uri="{FF2B5EF4-FFF2-40B4-BE49-F238E27FC236}">
                  <a16:creationId xmlns:a16="http://schemas.microsoft.com/office/drawing/2014/main" id="{3719B2D7-019F-5EE8-5E03-EB003296E66E}"/>
                </a:ext>
              </a:extLst>
            </p:cNvPr>
            <p:cNvSpPr txBox="1">
              <a:spLocks noChangeArrowheads="1"/>
            </p:cNvSpPr>
            <p:nvPr/>
          </p:nvSpPr>
          <p:spPr bwMode="auto">
            <a:xfrm>
              <a:off x="33" y="1321"/>
              <a:ext cx="917"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dirty="0">
                  <a:latin typeface="+mj-lt"/>
                </a:rPr>
                <a:t>Sales</a:t>
              </a:r>
              <a:r>
                <a:rPr lang="ja-JP" altLang="en-US" sz="1800" dirty="0">
                  <a:latin typeface="+mj-lt"/>
                </a:rPr>
                <a:t>ｓａ</a:t>
              </a:r>
            </a:p>
          </p:txBody>
        </p:sp>
        <p:sp>
          <p:nvSpPr>
            <p:cNvPr id="564244" name="Text Box 20">
              <a:extLst>
                <a:ext uri="{FF2B5EF4-FFF2-40B4-BE49-F238E27FC236}">
                  <a16:creationId xmlns:a16="http://schemas.microsoft.com/office/drawing/2014/main" id="{48B907AF-5410-EE37-22AD-3C885B1BFAE8}"/>
                </a:ext>
              </a:extLst>
            </p:cNvPr>
            <p:cNvSpPr txBox="1">
              <a:spLocks noChangeArrowheads="1"/>
            </p:cNvSpPr>
            <p:nvPr/>
          </p:nvSpPr>
          <p:spPr bwMode="auto">
            <a:xfrm>
              <a:off x="926" y="1123"/>
              <a:ext cx="1602"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ctr"/>
              <a:r>
                <a:rPr lang="en-US" altLang="ja-JP" sz="1800"/>
                <a:t>Object</a:t>
              </a:r>
            </a:p>
          </p:txBody>
        </p:sp>
        <p:sp>
          <p:nvSpPr>
            <p:cNvPr id="564246" name="Cloud">
              <a:extLst>
                <a:ext uri="{FF2B5EF4-FFF2-40B4-BE49-F238E27FC236}">
                  <a16:creationId xmlns:a16="http://schemas.microsoft.com/office/drawing/2014/main" id="{0B338AE9-DAEC-86F0-3EF2-C4A5EC89AD5C}"/>
                </a:ext>
              </a:extLst>
            </p:cNvPr>
            <p:cNvSpPr>
              <a:spLocks noChangeAspect="1" noEditPoints="1" noChangeArrowheads="1"/>
            </p:cNvSpPr>
            <p:nvPr/>
          </p:nvSpPr>
          <p:spPr bwMode="auto">
            <a:xfrm>
              <a:off x="702" y="1376"/>
              <a:ext cx="2376" cy="2232"/>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9525">
              <a:solidFill>
                <a:srgbClr val="000000"/>
              </a:solidFill>
              <a:miter lim="800000"/>
              <a:headEnd/>
              <a:tailEnd/>
            </a:ln>
            <a:effectLst>
              <a:outerShdw dist="107763" dir="2700000" algn="ctr" rotWithShape="0">
                <a:srgbClr val="808080"/>
              </a:outerShdw>
            </a:effectLst>
          </p:spPr>
          <p:txBody>
            <a:bodyPr tIns="9720" bIns="9720"/>
            <a:lstStyle/>
            <a:p>
              <a:endParaRPr lang="en-US" altLang="ja-JP"/>
            </a:p>
          </p:txBody>
        </p:sp>
        <p:grpSp>
          <p:nvGrpSpPr>
            <p:cNvPr id="564315" name="Group 91">
              <a:extLst>
                <a:ext uri="{FF2B5EF4-FFF2-40B4-BE49-F238E27FC236}">
                  <a16:creationId xmlns:a16="http://schemas.microsoft.com/office/drawing/2014/main" id="{B2DB4B19-028F-9645-7692-2B76C7E78E2C}"/>
                </a:ext>
              </a:extLst>
            </p:cNvPr>
            <p:cNvGrpSpPr>
              <a:grpSpLocks/>
            </p:cNvGrpSpPr>
            <p:nvPr/>
          </p:nvGrpSpPr>
          <p:grpSpPr bwMode="auto">
            <a:xfrm>
              <a:off x="460" y="2521"/>
              <a:ext cx="2210" cy="1048"/>
              <a:chOff x="460" y="2521"/>
              <a:chExt cx="2210" cy="1048"/>
            </a:xfrm>
          </p:grpSpPr>
          <p:sp>
            <p:nvSpPr>
              <p:cNvPr id="564248" name="Text Box 24">
                <a:extLst>
                  <a:ext uri="{FF2B5EF4-FFF2-40B4-BE49-F238E27FC236}">
                    <a16:creationId xmlns:a16="http://schemas.microsoft.com/office/drawing/2014/main" id="{D5EDC9F2-C801-31EC-203B-1CE27F391309}"/>
                  </a:ext>
                </a:extLst>
              </p:cNvPr>
              <p:cNvSpPr txBox="1">
                <a:spLocks noChangeArrowheads="1"/>
              </p:cNvSpPr>
              <p:nvPr/>
            </p:nvSpPr>
            <p:spPr bwMode="auto">
              <a:xfrm>
                <a:off x="460" y="2521"/>
                <a:ext cx="2210" cy="1048"/>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mj-lt"/>
                  </a:rPr>
                  <a:t>Thuộc</a:t>
                </a:r>
                <a:r>
                  <a:rPr lang="en-US" altLang="ja-JP" b="0" dirty="0">
                    <a:latin typeface="+mj-lt"/>
                  </a:rPr>
                  <a:t> </a:t>
                </a:r>
                <a:r>
                  <a:rPr lang="en-US" altLang="ja-JP" b="0" dirty="0" err="1">
                    <a:latin typeface="+mj-lt"/>
                  </a:rPr>
                  <a:t>tính</a:t>
                </a:r>
                <a:r>
                  <a:rPr lang="en-US" altLang="ja-JP" dirty="0">
                    <a:latin typeface="+mj-lt"/>
                  </a:rPr>
                  <a:t> </a:t>
                </a:r>
                <a:r>
                  <a:rPr lang="ja-JP" altLang="en-US" b="0" dirty="0">
                    <a:latin typeface="+mj-lt"/>
                  </a:rPr>
                  <a:t>：</a:t>
                </a:r>
              </a:p>
              <a:p>
                <a:pPr algn="just">
                  <a:lnSpc>
                    <a:spcPct val="96000"/>
                  </a:lnSpc>
                </a:pPr>
                <a:r>
                  <a:rPr lang="en-US" altLang="ja-JP" b="0" dirty="0" err="1">
                    <a:latin typeface="+mj-lt"/>
                    <a:ea typeface="ＭＳ ゴシック" panose="020B0609070205080204" pitchFamily="49" charset="-128"/>
                  </a:rPr>
                  <a:t>customerCount</a:t>
                </a:r>
                <a:endParaRPr lang="en-US" altLang="ja-JP" b="0" dirty="0">
                  <a:latin typeface="+mj-lt"/>
                  <a:ea typeface="ＭＳ ゴシック" panose="020B0609070205080204" pitchFamily="49" charset="-128"/>
                </a:endParaRPr>
              </a:p>
              <a:p>
                <a:pPr algn="just">
                  <a:lnSpc>
                    <a:spcPct val="96000"/>
                  </a:lnSpc>
                </a:pPr>
                <a:endParaRPr lang="en-US" altLang="ja-JP" b="0" dirty="0">
                  <a:latin typeface="+mj-lt"/>
                  <a:ea typeface="ＭＳ ゴシック" panose="020B0609070205080204" pitchFamily="49" charset="-128"/>
                </a:endParaRPr>
              </a:p>
              <a:p>
                <a:pPr algn="just">
                  <a:lnSpc>
                    <a:spcPct val="96000"/>
                  </a:lnSpc>
                </a:pPr>
                <a:r>
                  <a:rPr lang="en-US" altLang="ja-JP" b="0" dirty="0">
                    <a:latin typeface="+mj-lt"/>
                  </a:rPr>
                  <a:t>Thao </a:t>
                </a:r>
                <a:r>
                  <a:rPr lang="en-US" altLang="ja-JP" b="0" dirty="0" err="1">
                    <a:latin typeface="+mj-lt"/>
                  </a:rPr>
                  <a:t>tác</a:t>
                </a:r>
                <a:r>
                  <a:rPr lang="en-US" altLang="ja-JP" dirty="0">
                    <a:latin typeface="+mj-lt"/>
                  </a:rPr>
                  <a:t> </a:t>
                </a:r>
                <a:r>
                  <a:rPr lang="ja-JP" altLang="en-US" b="0" dirty="0">
                    <a:latin typeface="+mj-lt"/>
                  </a:rPr>
                  <a:t>：</a:t>
                </a:r>
              </a:p>
              <a:p>
                <a:pPr algn="just">
                  <a:lnSpc>
                    <a:spcPct val="96000"/>
                  </a:lnSpc>
                </a:pPr>
                <a:r>
                  <a:rPr lang="en-US" altLang="ja-JP" b="0" dirty="0">
                    <a:latin typeface="+mj-lt"/>
                    <a:ea typeface="ＭＳ ゴシック" panose="020B0609070205080204" pitchFamily="49" charset="-128"/>
                  </a:rPr>
                  <a:t>Sales(</a:t>
                </a:r>
                <a:r>
                  <a:rPr lang="en-US" altLang="ja-JP" b="0" dirty="0" err="1">
                    <a:latin typeface="+mj-lt"/>
                    <a:ea typeface="ＭＳ ゴシック" panose="020B0609070205080204" pitchFamily="49" charset="-128"/>
                  </a:rPr>
                  <a:t>id:String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ename:String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cnt:int</a:t>
                </a:r>
                <a:r>
                  <a:rPr lang="en-US" altLang="ja-JP" b="0" dirty="0">
                    <a:latin typeface="+mj-lt"/>
                    <a:ea typeface="ＭＳ ゴシック" panose="020B0609070205080204" pitchFamily="49" charset="-128"/>
                  </a:rPr>
                  <a:t>)</a:t>
                </a:r>
              </a:p>
              <a:p>
                <a:pPr algn="just">
                  <a:lnSpc>
                    <a:spcPct val="96000"/>
                  </a:lnSpc>
                </a:pPr>
                <a:r>
                  <a:rPr lang="en-US" altLang="ja-JP" b="0" dirty="0" err="1">
                    <a:latin typeface="+mj-lt"/>
                    <a:ea typeface="ＭＳ ゴシック" panose="020B0609070205080204" pitchFamily="49" charset="-128"/>
                  </a:rPr>
                  <a:t>addCount</a:t>
                </a:r>
                <a:r>
                  <a:rPr lang="en-US" altLang="ja-JP" b="0" dirty="0">
                    <a:latin typeface="+mj-lt"/>
                    <a:ea typeface="ＭＳ ゴシック" panose="020B0609070205080204" pitchFamily="49" charset="-128"/>
                  </a:rPr>
                  <a:t>():void</a:t>
                </a:r>
              </a:p>
              <a:p>
                <a:pPr algn="just">
                  <a:lnSpc>
                    <a:spcPct val="96000"/>
                  </a:lnSpc>
                </a:pPr>
                <a:r>
                  <a:rPr lang="en-US" altLang="ja-JP" b="0" dirty="0" err="1">
                    <a:latin typeface="+mj-lt"/>
                    <a:ea typeface="ＭＳ ゴシック" panose="020B0609070205080204" pitchFamily="49" charset="-128"/>
                  </a:rPr>
                  <a:t>getCount</a:t>
                </a:r>
                <a:r>
                  <a:rPr lang="en-US" altLang="ja-JP" b="0" dirty="0">
                    <a:latin typeface="+mj-lt"/>
                    <a:ea typeface="ＭＳ ゴシック" panose="020B0609070205080204" pitchFamily="49" charset="-128"/>
                  </a:rPr>
                  <a:t>():int</a:t>
                </a:r>
              </a:p>
            </p:txBody>
          </p:sp>
          <p:sp>
            <p:nvSpPr>
              <p:cNvPr id="564249" name="Line 25">
                <a:extLst>
                  <a:ext uri="{FF2B5EF4-FFF2-40B4-BE49-F238E27FC236}">
                    <a16:creationId xmlns:a16="http://schemas.microsoft.com/office/drawing/2014/main" id="{6CBD1D49-AF14-3749-25FF-E75B4432CEC2}"/>
                  </a:ext>
                </a:extLst>
              </p:cNvPr>
              <p:cNvSpPr>
                <a:spLocks noChangeShapeType="1"/>
              </p:cNvSpPr>
              <p:nvPr/>
            </p:nvSpPr>
            <p:spPr bwMode="auto">
              <a:xfrm>
                <a:off x="1032" y="2741"/>
                <a:ext cx="1638"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64250" name="Rectangle 26">
                <a:extLst>
                  <a:ext uri="{FF2B5EF4-FFF2-40B4-BE49-F238E27FC236}">
                    <a16:creationId xmlns:a16="http://schemas.microsoft.com/office/drawing/2014/main" id="{465D66F7-8112-F461-0B0B-034E60772808}"/>
                  </a:ext>
                </a:extLst>
              </p:cNvPr>
              <p:cNvSpPr>
                <a:spLocks noChangeArrowheads="1"/>
              </p:cNvSpPr>
              <p:nvPr/>
            </p:nvSpPr>
            <p:spPr bwMode="auto">
              <a:xfrm>
                <a:off x="1450" y="2587"/>
                <a:ext cx="458" cy="231"/>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dirty="0"/>
                  <a:t>5</a:t>
                </a:r>
              </a:p>
            </p:txBody>
          </p:sp>
        </p:grpSp>
        <p:grpSp>
          <p:nvGrpSpPr>
            <p:cNvPr id="564320" name="Group 96">
              <a:extLst>
                <a:ext uri="{FF2B5EF4-FFF2-40B4-BE49-F238E27FC236}">
                  <a16:creationId xmlns:a16="http://schemas.microsoft.com/office/drawing/2014/main" id="{C3BD1F76-5046-70C2-0C85-11CEFA0A5B9F}"/>
                </a:ext>
              </a:extLst>
            </p:cNvPr>
            <p:cNvGrpSpPr>
              <a:grpSpLocks/>
            </p:cNvGrpSpPr>
            <p:nvPr/>
          </p:nvGrpSpPr>
          <p:grpSpPr bwMode="auto">
            <a:xfrm>
              <a:off x="654" y="1742"/>
              <a:ext cx="2078" cy="594"/>
              <a:chOff x="654" y="1742"/>
              <a:chExt cx="2078" cy="594"/>
            </a:xfrm>
          </p:grpSpPr>
          <p:grpSp>
            <p:nvGrpSpPr>
              <p:cNvPr id="564313" name="Group 89">
                <a:extLst>
                  <a:ext uri="{FF2B5EF4-FFF2-40B4-BE49-F238E27FC236}">
                    <a16:creationId xmlns:a16="http://schemas.microsoft.com/office/drawing/2014/main" id="{912ECBCC-FFBC-73C2-F656-C107ECED7981}"/>
                  </a:ext>
                </a:extLst>
              </p:cNvPr>
              <p:cNvGrpSpPr>
                <a:grpSpLocks/>
              </p:cNvGrpSpPr>
              <p:nvPr/>
            </p:nvGrpSpPr>
            <p:grpSpPr bwMode="auto">
              <a:xfrm>
                <a:off x="654" y="1742"/>
                <a:ext cx="2078" cy="594"/>
                <a:chOff x="732" y="1742"/>
                <a:chExt cx="2078" cy="594"/>
              </a:xfrm>
            </p:grpSpPr>
            <p:sp>
              <p:nvSpPr>
                <p:cNvPr id="564253" name="Text Box 29">
                  <a:extLst>
                    <a:ext uri="{FF2B5EF4-FFF2-40B4-BE49-F238E27FC236}">
                      <a16:creationId xmlns:a16="http://schemas.microsoft.com/office/drawing/2014/main" id="{B1F24257-4A34-69B0-22E8-DB6D54096C55}"/>
                    </a:ext>
                  </a:extLst>
                </p:cNvPr>
                <p:cNvSpPr txBox="1">
                  <a:spLocks noChangeArrowheads="1"/>
                </p:cNvSpPr>
                <p:nvPr/>
              </p:nvSpPr>
              <p:spPr bwMode="auto">
                <a:xfrm>
                  <a:off x="732" y="1742"/>
                  <a:ext cx="2078" cy="594"/>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mj-lt"/>
                    </a:rPr>
                    <a:t>Thuộc</a:t>
                  </a:r>
                  <a:r>
                    <a:rPr lang="en-US" altLang="ja-JP" b="0" dirty="0">
                      <a:latin typeface="+mj-lt"/>
                    </a:rPr>
                    <a:t> </a:t>
                  </a:r>
                  <a:r>
                    <a:rPr lang="en-US" altLang="ja-JP" b="0" dirty="0" err="1">
                      <a:latin typeface="+mj-lt"/>
                    </a:rPr>
                    <a:t>tính</a:t>
                  </a:r>
                  <a:r>
                    <a:rPr lang="ja-JP" altLang="en-US" b="0" dirty="0">
                      <a:latin typeface="+mj-lt"/>
                    </a:rPr>
                    <a:t>：</a:t>
                  </a:r>
                </a:p>
                <a:p>
                  <a:pPr algn="just"/>
                  <a:r>
                    <a:rPr lang="en-US" altLang="ja-JP" b="0" dirty="0" err="1">
                      <a:latin typeface="+mj-lt"/>
                      <a:ea typeface="ＭＳ ゴシック" panose="020B0609070205080204" pitchFamily="49" charset="-128"/>
                    </a:rPr>
                    <a:t>empId</a:t>
                  </a:r>
                  <a:endParaRPr lang="en-US" altLang="ja-JP" b="0" dirty="0">
                    <a:latin typeface="+mj-lt"/>
                    <a:ea typeface="ＭＳ ゴシック" panose="020B0609070205080204" pitchFamily="49" charset="-128"/>
                  </a:endParaRPr>
                </a:p>
                <a:p>
                  <a:pPr algn="just"/>
                  <a:r>
                    <a:rPr lang="en-US" altLang="ja-JP" b="0" dirty="0" err="1">
                      <a:latin typeface="+mj-lt"/>
                      <a:ea typeface="ＭＳ ゴシック" panose="020B0609070205080204" pitchFamily="49" charset="-128"/>
                    </a:rPr>
                    <a:t>empName</a:t>
                  </a:r>
                  <a:endParaRPr lang="en-US" altLang="ja-JP" b="0" dirty="0">
                    <a:latin typeface="+mj-lt"/>
                    <a:ea typeface="ＭＳ ゴシック" panose="020B0609070205080204" pitchFamily="49" charset="-128"/>
                  </a:endParaRPr>
                </a:p>
                <a:p>
                  <a:pPr algn="just"/>
                  <a:endParaRPr lang="en-US" altLang="ja-JP" b="0" dirty="0">
                    <a:latin typeface="+mj-lt"/>
                  </a:endParaRPr>
                </a:p>
                <a:p>
                  <a:pPr algn="just"/>
                  <a:r>
                    <a:rPr lang="en-US" altLang="ja-JP" b="0" dirty="0">
                      <a:latin typeface="+mj-lt"/>
                    </a:rPr>
                    <a:t>Thao </a:t>
                  </a:r>
                  <a:r>
                    <a:rPr lang="en-US" altLang="ja-JP" b="0" dirty="0" err="1">
                      <a:latin typeface="+mj-lt"/>
                    </a:rPr>
                    <a:t>tác</a:t>
                  </a:r>
                  <a:r>
                    <a:rPr lang="ja-JP" altLang="en-US" b="0" dirty="0">
                      <a:latin typeface="+mj-lt"/>
                    </a:rPr>
                    <a:t>：</a:t>
                  </a:r>
                  <a:r>
                    <a:rPr lang="en-US" altLang="ja-JP" b="0" dirty="0" err="1">
                      <a:latin typeface="+mj-lt"/>
                      <a:ea typeface="ＭＳ ゴシック" panose="020B0609070205080204" pitchFamily="49" charset="-128"/>
                    </a:rPr>
                    <a:t>printInfo</a:t>
                  </a:r>
                  <a:r>
                    <a:rPr lang="en-US" altLang="ja-JP" b="0" dirty="0">
                      <a:latin typeface="+mj-lt"/>
                      <a:ea typeface="ＭＳ ゴシック" panose="020B0609070205080204" pitchFamily="49" charset="-128"/>
                    </a:rPr>
                    <a:t>():void</a:t>
                  </a:r>
                </a:p>
              </p:txBody>
            </p:sp>
            <p:sp>
              <p:nvSpPr>
                <p:cNvPr id="564254" name="Rectangle 30">
                  <a:extLst>
                    <a:ext uri="{FF2B5EF4-FFF2-40B4-BE49-F238E27FC236}">
                      <a16:creationId xmlns:a16="http://schemas.microsoft.com/office/drawing/2014/main" id="{E542024A-DE55-C358-EF0D-31D5E64A07DD}"/>
                    </a:ext>
                  </a:extLst>
                </p:cNvPr>
                <p:cNvSpPr>
                  <a:spLocks noChangeArrowheads="1"/>
                </p:cNvSpPr>
                <p:nvPr/>
              </p:nvSpPr>
              <p:spPr bwMode="auto">
                <a:xfrm>
                  <a:off x="1421" y="2148"/>
                  <a:ext cx="743" cy="133"/>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10800"/>
                <a:lstStyle/>
                <a:p>
                  <a:pPr algn="ctr"/>
                  <a:r>
                    <a:rPr lang="ja-JP" altLang="en-US" b="0" dirty="0">
                      <a:latin typeface="+mj-lt"/>
                    </a:rPr>
                    <a:t>田中花子</a:t>
                  </a:r>
                </a:p>
              </p:txBody>
            </p:sp>
            <p:sp>
              <p:nvSpPr>
                <p:cNvPr id="564255" name="Rectangle 31">
                  <a:extLst>
                    <a:ext uri="{FF2B5EF4-FFF2-40B4-BE49-F238E27FC236}">
                      <a16:creationId xmlns:a16="http://schemas.microsoft.com/office/drawing/2014/main" id="{96734815-D3C1-7413-AA34-755661488CFE}"/>
                    </a:ext>
                  </a:extLst>
                </p:cNvPr>
                <p:cNvSpPr>
                  <a:spLocks noChangeArrowheads="1"/>
                </p:cNvSpPr>
                <p:nvPr/>
              </p:nvSpPr>
              <p:spPr bwMode="auto">
                <a:xfrm>
                  <a:off x="1413" y="1902"/>
                  <a:ext cx="672" cy="157"/>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10800"/>
                <a:lstStyle/>
                <a:p>
                  <a:pPr algn="ctr"/>
                  <a:r>
                    <a:rPr lang="en-US" altLang="ja-JP" b="0" dirty="0"/>
                    <a:t>987654</a:t>
                  </a:r>
                </a:p>
              </p:txBody>
            </p:sp>
          </p:grpSp>
          <p:sp>
            <p:nvSpPr>
              <p:cNvPr id="564256" name="Line 32">
                <a:extLst>
                  <a:ext uri="{FF2B5EF4-FFF2-40B4-BE49-F238E27FC236}">
                    <a16:creationId xmlns:a16="http://schemas.microsoft.com/office/drawing/2014/main" id="{57F88FCB-983C-0DC3-4C0A-149ED66AB1F9}"/>
                  </a:ext>
                </a:extLst>
              </p:cNvPr>
              <p:cNvSpPr>
                <a:spLocks noChangeShapeType="1"/>
              </p:cNvSpPr>
              <p:nvPr/>
            </p:nvSpPr>
            <p:spPr bwMode="auto">
              <a:xfrm>
                <a:off x="1134" y="2119"/>
                <a:ext cx="102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
          <p:nvSpPr>
            <p:cNvPr id="564257" name="AutoShape 33">
              <a:extLst>
                <a:ext uri="{FF2B5EF4-FFF2-40B4-BE49-F238E27FC236}">
                  <a16:creationId xmlns:a16="http://schemas.microsoft.com/office/drawing/2014/main" id="{668AE46A-C232-7950-6493-5862D5BA4AAE}"/>
                </a:ext>
              </a:extLst>
            </p:cNvPr>
            <p:cNvSpPr>
              <a:spLocks noChangeArrowheads="1"/>
            </p:cNvSpPr>
            <p:nvPr/>
          </p:nvSpPr>
          <p:spPr bwMode="auto">
            <a:xfrm>
              <a:off x="2618" y="2349"/>
              <a:ext cx="950" cy="452"/>
            </a:xfrm>
            <a:prstGeom prst="wedgeRoundRectCallout">
              <a:avLst>
                <a:gd name="adj1" fmla="val -124181"/>
                <a:gd name="adj2" fmla="val 35870"/>
                <a:gd name="adj3" fmla="val 16667"/>
              </a:avLst>
            </a:prstGeom>
            <a:solidFill>
              <a:srgbClr val="FFCC99"/>
            </a:solidFill>
            <a:ln w="9525">
              <a:solidFill>
                <a:srgbClr val="000000"/>
              </a:solidFill>
              <a:miter lim="800000"/>
              <a:headEnd/>
              <a:tailEnd/>
            </a:ln>
          </p:spPr>
          <p:txBody>
            <a:bodyPr lIns="74295" tIns="8890" rIns="74295" bIns="8890"/>
            <a:lstStyle/>
            <a:p>
              <a:pPr algn="just"/>
              <a:r>
                <a:rPr lang="en-US" altLang="ja-JP" sz="1400" dirty="0" err="1">
                  <a:latin typeface="+mj-lt"/>
                </a:rPr>
                <a:t>Tính</a:t>
              </a:r>
              <a:r>
                <a:rPr lang="en-US" altLang="ja-JP" sz="1400" dirty="0">
                  <a:latin typeface="+mj-lt"/>
                </a:rPr>
                <a:t> </a:t>
              </a:r>
              <a:r>
                <a:rPr lang="en-US" altLang="ja-JP" sz="1400" dirty="0" err="1">
                  <a:latin typeface="+mj-lt"/>
                </a:rPr>
                <a:t>chất</a:t>
              </a:r>
              <a:r>
                <a:rPr lang="en-US" altLang="ja-JP" sz="1400" dirty="0">
                  <a:latin typeface="+mj-lt"/>
                </a:rPr>
                <a:t> </a:t>
              </a:r>
              <a:r>
                <a:rPr lang="en-US" altLang="ja-JP" sz="1400" dirty="0" err="1">
                  <a:latin typeface="+mj-lt"/>
                </a:rPr>
                <a:t>độc</a:t>
              </a:r>
              <a:r>
                <a:rPr lang="en-US" altLang="ja-JP" sz="1400" dirty="0">
                  <a:latin typeface="+mj-lt"/>
                </a:rPr>
                <a:t> </a:t>
              </a:r>
              <a:r>
                <a:rPr lang="en-US" altLang="ja-JP" sz="1400" dirty="0" err="1">
                  <a:latin typeface="+mj-lt"/>
                </a:rPr>
                <a:t>lập</a:t>
              </a:r>
              <a:r>
                <a:rPr lang="en-US" altLang="ja-JP" sz="1400" dirty="0">
                  <a:latin typeface="+mj-lt"/>
                </a:rPr>
                <a:t> </a:t>
              </a:r>
              <a:r>
                <a:rPr lang="en-US" altLang="ja-JP" sz="1400" dirty="0" err="1">
                  <a:latin typeface="+mj-lt"/>
                </a:rPr>
                <a:t>của</a:t>
              </a:r>
              <a:r>
                <a:rPr lang="en-US" altLang="ja-JP" sz="1400" dirty="0">
                  <a:latin typeface="+mj-lt"/>
                </a:rPr>
                <a:t> Sales</a:t>
              </a:r>
            </a:p>
          </p:txBody>
        </p:sp>
        <p:sp>
          <p:nvSpPr>
            <p:cNvPr id="564258" name="AutoShape 34">
              <a:extLst>
                <a:ext uri="{FF2B5EF4-FFF2-40B4-BE49-F238E27FC236}">
                  <a16:creationId xmlns:a16="http://schemas.microsoft.com/office/drawing/2014/main" id="{630ACB79-A263-F536-EFE5-0D5D0E4EB90D}"/>
                </a:ext>
              </a:extLst>
            </p:cNvPr>
            <p:cNvSpPr>
              <a:spLocks noChangeArrowheads="1"/>
            </p:cNvSpPr>
            <p:nvPr/>
          </p:nvSpPr>
          <p:spPr bwMode="auto">
            <a:xfrm>
              <a:off x="2286" y="1721"/>
              <a:ext cx="1245" cy="375"/>
            </a:xfrm>
            <a:prstGeom prst="wedgeRoundRectCallout">
              <a:avLst>
                <a:gd name="adj1" fmla="val -58833"/>
                <a:gd name="adj2" fmla="val 55065"/>
                <a:gd name="adj3" fmla="val 16667"/>
              </a:avLst>
            </a:prstGeom>
            <a:solidFill>
              <a:srgbClr val="FFFFCC"/>
            </a:solidFill>
            <a:ln w="9525">
              <a:solidFill>
                <a:srgbClr val="000000"/>
              </a:solidFill>
              <a:miter lim="800000"/>
              <a:headEnd/>
              <a:tailEnd/>
            </a:ln>
          </p:spPr>
          <p:txBody>
            <a:bodyPr lIns="74295" tIns="8890" rIns="74295" bIns="8890"/>
            <a:lstStyle/>
            <a:p>
              <a:pPr algn="just"/>
              <a:r>
                <a:rPr lang="en-US" altLang="ja-JP" sz="1500" dirty="0" err="1">
                  <a:latin typeface="+mj-lt"/>
                </a:rPr>
                <a:t>Tính</a:t>
              </a:r>
              <a:r>
                <a:rPr lang="en-US" altLang="ja-JP" sz="1500" dirty="0">
                  <a:latin typeface="+mj-lt"/>
                </a:rPr>
                <a:t> </a:t>
              </a:r>
              <a:r>
                <a:rPr lang="en-US" altLang="ja-JP" sz="1500" dirty="0" err="1">
                  <a:latin typeface="+mj-lt"/>
                </a:rPr>
                <a:t>chất</a:t>
              </a:r>
              <a:r>
                <a:rPr lang="en-US" altLang="ja-JP" sz="1500" dirty="0">
                  <a:latin typeface="+mj-lt"/>
                </a:rPr>
                <a:t> </a:t>
              </a:r>
              <a:r>
                <a:rPr lang="en-US" altLang="ja-JP" sz="1500" dirty="0" err="1">
                  <a:latin typeface="+mj-lt"/>
                </a:rPr>
                <a:t>đa</a:t>
              </a:r>
              <a:r>
                <a:rPr lang="en-US" altLang="ja-JP" sz="1500" dirty="0">
                  <a:latin typeface="+mj-lt"/>
                </a:rPr>
                <a:t>̃ </a:t>
              </a:r>
              <a:r>
                <a:rPr lang="en-US" altLang="ja-JP" sz="1500" dirty="0" err="1">
                  <a:latin typeface="+mj-lt"/>
                </a:rPr>
                <a:t>kê</a:t>
              </a:r>
              <a:r>
                <a:rPr lang="en-US" altLang="ja-JP" sz="1500" dirty="0">
                  <a:latin typeface="+mj-lt"/>
                </a:rPr>
                <a:t>́ </a:t>
              </a:r>
              <a:r>
                <a:rPr lang="en-US" altLang="ja-JP" sz="1500" dirty="0" err="1">
                  <a:latin typeface="+mj-lt"/>
                </a:rPr>
                <a:t>thừa</a:t>
              </a:r>
              <a:r>
                <a:rPr lang="en-US" altLang="ja-JP" sz="1500" dirty="0">
                  <a:latin typeface="+mj-lt"/>
                </a:rPr>
                <a:t> </a:t>
              </a:r>
              <a:r>
                <a:rPr lang="en-US" altLang="ja-JP" sz="1500" dirty="0" err="1">
                  <a:latin typeface="+mj-lt"/>
                </a:rPr>
                <a:t>tư</a:t>
              </a:r>
              <a:r>
                <a:rPr lang="en-US" altLang="ja-JP" sz="1500" dirty="0">
                  <a:latin typeface="+mj-lt"/>
                </a:rPr>
                <a:t>̀ Employee</a:t>
              </a:r>
            </a:p>
          </p:txBody>
        </p:sp>
        <p:sp>
          <p:nvSpPr>
            <p:cNvPr id="564278" name="Line 54">
              <a:extLst>
                <a:ext uri="{FF2B5EF4-FFF2-40B4-BE49-F238E27FC236}">
                  <a16:creationId xmlns:a16="http://schemas.microsoft.com/office/drawing/2014/main" id="{BC615202-DC01-EF67-AC7E-31ACB2E88B02}"/>
                </a:ext>
              </a:extLst>
            </p:cNvPr>
            <p:cNvSpPr>
              <a:spLocks noChangeShapeType="1"/>
            </p:cNvSpPr>
            <p:nvPr/>
          </p:nvSpPr>
          <p:spPr bwMode="auto">
            <a:xfrm>
              <a:off x="583" y="1470"/>
              <a:ext cx="158" cy="1495"/>
            </a:xfrm>
            <a:prstGeom prst="line">
              <a:avLst/>
            </a:prstGeom>
            <a:noFill/>
            <a:ln w="28575">
              <a:solidFill>
                <a:srgbClr val="00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64279" name="AutoShape 55">
              <a:extLst>
                <a:ext uri="{FF2B5EF4-FFF2-40B4-BE49-F238E27FC236}">
                  <a16:creationId xmlns:a16="http://schemas.microsoft.com/office/drawing/2014/main" id="{342016E1-9BA5-730C-2323-52AA84F0A6EF}"/>
                </a:ext>
              </a:extLst>
            </p:cNvPr>
            <p:cNvSpPr>
              <a:spLocks noChangeArrowheads="1"/>
            </p:cNvSpPr>
            <p:nvPr/>
          </p:nvSpPr>
          <p:spPr bwMode="auto">
            <a:xfrm rot="1982922">
              <a:off x="697" y="1446"/>
              <a:ext cx="225" cy="351"/>
            </a:xfrm>
            <a:prstGeom prst="rightArrow">
              <a:avLst>
                <a:gd name="adj1" fmla="val 50000"/>
                <a:gd name="adj2" fmla="val 25000"/>
              </a:avLst>
            </a:prstGeom>
            <a:solidFill>
              <a:srgbClr val="99CC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564280" name="AutoShape 56">
            <a:extLst>
              <a:ext uri="{FF2B5EF4-FFF2-40B4-BE49-F238E27FC236}">
                <a16:creationId xmlns:a16="http://schemas.microsoft.com/office/drawing/2014/main" id="{F9406C17-5460-5297-B54B-065E554AFF2E}"/>
              </a:ext>
            </a:extLst>
          </p:cNvPr>
          <p:cNvSpPr>
            <a:spLocks noChangeArrowheads="1"/>
          </p:cNvSpPr>
          <p:nvPr/>
        </p:nvSpPr>
        <p:spPr bwMode="auto">
          <a:xfrm>
            <a:off x="771525" y="5727700"/>
            <a:ext cx="3668713" cy="846138"/>
          </a:xfrm>
          <a:prstGeom prst="wedgeRoundRectCallout">
            <a:avLst>
              <a:gd name="adj1" fmla="val 5000"/>
              <a:gd name="adj2" fmla="val -35556"/>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dirty="0">
                <a:latin typeface="+mj-lt"/>
              </a:rPr>
              <a:t>Có </a:t>
            </a:r>
            <a:r>
              <a:rPr lang="en-US" altLang="ja-JP" sz="1800" dirty="0" err="1">
                <a:latin typeface="+mj-lt"/>
              </a:rPr>
              <a:t>thê</a:t>
            </a:r>
            <a:r>
              <a:rPr lang="en-US" altLang="ja-JP" sz="1800" dirty="0">
                <a:latin typeface="+mj-lt"/>
              </a:rPr>
              <a:t>̉ access </a:t>
            </a:r>
            <a:r>
              <a:rPr lang="en-US" altLang="ja-JP" sz="1800" dirty="0" err="1">
                <a:latin typeface="+mj-lt"/>
              </a:rPr>
              <a:t>vào</a:t>
            </a:r>
            <a:r>
              <a:rPr lang="en-US" altLang="ja-JP" sz="1800" dirty="0">
                <a:latin typeface="+mj-lt"/>
              </a:rPr>
              <a:t> </a:t>
            </a:r>
            <a:r>
              <a:rPr lang="en-US" altLang="ja-JP" sz="1800" dirty="0" err="1">
                <a:latin typeface="+mj-lt"/>
              </a:rPr>
              <a:t>thuộc</a:t>
            </a:r>
            <a:r>
              <a:rPr lang="en-US" altLang="ja-JP" sz="1800" dirty="0">
                <a:latin typeface="+mj-lt"/>
              </a:rPr>
              <a:t> </a:t>
            </a:r>
            <a:r>
              <a:rPr lang="en-US" altLang="ja-JP" sz="1800" dirty="0" err="1">
                <a:latin typeface="+mj-lt"/>
              </a:rPr>
              <a:t>tính</a:t>
            </a:r>
            <a:r>
              <a:rPr lang="ja-JP" altLang="en-US" sz="1800" dirty="0">
                <a:latin typeface="+mj-lt"/>
              </a:rPr>
              <a:t>・</a:t>
            </a:r>
            <a:r>
              <a:rPr lang="en-US" altLang="ja-JP" sz="1800" dirty="0" err="1">
                <a:latin typeface="+mj-lt"/>
              </a:rPr>
              <a:t>thao</a:t>
            </a:r>
            <a:r>
              <a:rPr lang="en-US" altLang="ja-JP" sz="1800" dirty="0">
                <a:latin typeface="+mj-lt"/>
              </a:rPr>
              <a:t> </a:t>
            </a:r>
            <a:r>
              <a:rPr lang="en-US" altLang="ja-JP" sz="1800" dirty="0" err="1">
                <a:latin typeface="+mj-lt"/>
              </a:rPr>
              <a:t>tác</a:t>
            </a:r>
            <a:r>
              <a:rPr lang="en-US" altLang="ja-JP" sz="1800" dirty="0">
                <a:latin typeface="+mj-lt"/>
              </a:rPr>
              <a:t> </a:t>
            </a:r>
            <a:r>
              <a:rPr lang="en-US" altLang="ja-JP" sz="1800" dirty="0" err="1">
                <a:latin typeface="+mj-lt"/>
              </a:rPr>
              <a:t>tùy</a:t>
            </a:r>
            <a:r>
              <a:rPr lang="en-US" altLang="ja-JP" sz="1800" dirty="0">
                <a:latin typeface="+mj-lt"/>
              </a:rPr>
              <a:t> ý mà object </a:t>
            </a:r>
            <a:r>
              <a:rPr lang="en-US" altLang="ja-JP" sz="1800" dirty="0" err="1">
                <a:latin typeface="+mj-lt"/>
              </a:rPr>
              <a:t>của</a:t>
            </a:r>
            <a:r>
              <a:rPr lang="en-US" altLang="ja-JP" sz="1800" dirty="0">
                <a:latin typeface="+mj-lt"/>
              </a:rPr>
              <a:t> Sales class có</a:t>
            </a:r>
            <a:r>
              <a:rPr lang="ja-JP" altLang="en-US" sz="1800" dirty="0">
                <a:latin typeface="+mj-lt"/>
              </a:rPr>
              <a:t>！</a:t>
            </a:r>
          </a:p>
        </p:txBody>
      </p:sp>
      <p:sp>
        <p:nvSpPr>
          <p:cNvPr id="564304" name="AutoShape 80">
            <a:extLst>
              <a:ext uri="{FF2B5EF4-FFF2-40B4-BE49-F238E27FC236}">
                <a16:creationId xmlns:a16="http://schemas.microsoft.com/office/drawing/2014/main" id="{D993D85B-467B-69D7-ED9B-985A0909DF9C}"/>
              </a:ext>
            </a:extLst>
          </p:cNvPr>
          <p:cNvSpPr>
            <a:spLocks noChangeArrowheads="1"/>
          </p:cNvSpPr>
          <p:nvPr/>
        </p:nvSpPr>
        <p:spPr bwMode="auto">
          <a:xfrm>
            <a:off x="5969000" y="5699125"/>
            <a:ext cx="3298825" cy="874713"/>
          </a:xfrm>
          <a:prstGeom prst="wedgeRoundRectCallout">
            <a:avLst>
              <a:gd name="adj1" fmla="val -4907"/>
              <a:gd name="adj2" fmla="val 10981"/>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dirty="0">
                <a:latin typeface="+mj-lt"/>
              </a:rPr>
              <a:t>Chỉ có </a:t>
            </a:r>
            <a:r>
              <a:rPr lang="en-US" altLang="ja-JP" sz="1800" dirty="0" err="1">
                <a:latin typeface="+mj-lt"/>
              </a:rPr>
              <a:t>thê</a:t>
            </a:r>
            <a:r>
              <a:rPr lang="en-US" altLang="ja-JP" sz="1800" dirty="0">
                <a:latin typeface="+mj-lt"/>
              </a:rPr>
              <a:t>̉ access </a:t>
            </a:r>
            <a:r>
              <a:rPr lang="en-US" altLang="ja-JP" sz="1800" dirty="0" err="1">
                <a:latin typeface="+mj-lt"/>
              </a:rPr>
              <a:t>vào</a:t>
            </a:r>
            <a:r>
              <a:rPr lang="en-US" altLang="ja-JP" sz="1800" dirty="0">
                <a:latin typeface="+mj-lt"/>
              </a:rPr>
              <a:t> </a:t>
            </a:r>
            <a:r>
              <a:rPr lang="en-US" altLang="ja-JP" sz="1800" dirty="0" err="1">
                <a:latin typeface="+mj-lt"/>
              </a:rPr>
              <a:t>thuộc</a:t>
            </a:r>
            <a:r>
              <a:rPr lang="en-US" altLang="ja-JP" sz="1800" dirty="0">
                <a:latin typeface="+mj-lt"/>
              </a:rPr>
              <a:t> </a:t>
            </a:r>
            <a:r>
              <a:rPr lang="en-US" altLang="ja-JP" sz="1800" dirty="0" err="1">
                <a:latin typeface="+mj-lt"/>
              </a:rPr>
              <a:t>tính</a:t>
            </a:r>
            <a:r>
              <a:rPr lang="ja-JP" altLang="en-US" sz="1800" dirty="0">
                <a:latin typeface="+mj-lt"/>
              </a:rPr>
              <a:t>・</a:t>
            </a:r>
            <a:r>
              <a:rPr lang="en-US" altLang="ja-JP" sz="1800" dirty="0" err="1">
                <a:latin typeface="+mj-lt"/>
              </a:rPr>
              <a:t>thao</a:t>
            </a:r>
            <a:r>
              <a:rPr lang="en-US" altLang="ja-JP" sz="1800" dirty="0">
                <a:latin typeface="+mj-lt"/>
              </a:rPr>
              <a:t> </a:t>
            </a:r>
            <a:r>
              <a:rPr lang="en-US" altLang="ja-JP" sz="1800" dirty="0" err="1">
                <a:latin typeface="+mj-lt"/>
              </a:rPr>
              <a:t>tác</a:t>
            </a:r>
            <a:r>
              <a:rPr lang="en-US" altLang="ja-JP" sz="1800" dirty="0">
                <a:latin typeface="+mj-lt"/>
              </a:rPr>
              <a:t> </a:t>
            </a:r>
            <a:r>
              <a:rPr lang="en-US" altLang="ja-JP" sz="1800" dirty="0" err="1">
                <a:latin typeface="+mj-lt"/>
              </a:rPr>
              <a:t>đa</a:t>
            </a:r>
            <a:r>
              <a:rPr lang="en-US" altLang="ja-JP" sz="1800" dirty="0">
                <a:latin typeface="+mj-lt"/>
              </a:rPr>
              <a:t>̃ </a:t>
            </a:r>
            <a:r>
              <a:rPr lang="en-US" altLang="ja-JP" sz="1800" dirty="0" err="1">
                <a:latin typeface="+mj-lt"/>
              </a:rPr>
              <a:t>kê</a:t>
            </a:r>
            <a:r>
              <a:rPr lang="en-US" altLang="ja-JP" sz="1800" dirty="0">
                <a:latin typeface="+mj-lt"/>
              </a:rPr>
              <a:t>́ </a:t>
            </a:r>
            <a:r>
              <a:rPr lang="en-US" altLang="ja-JP" sz="1800" dirty="0" err="1">
                <a:latin typeface="+mj-lt"/>
              </a:rPr>
              <a:t>thừa</a:t>
            </a:r>
            <a:r>
              <a:rPr lang="en-US" altLang="ja-JP" sz="1800" dirty="0">
                <a:latin typeface="+mj-lt"/>
              </a:rPr>
              <a:t> </a:t>
            </a:r>
            <a:r>
              <a:rPr lang="en-US" altLang="ja-JP" sz="1800" dirty="0" err="1">
                <a:latin typeface="+mj-lt"/>
              </a:rPr>
              <a:t>tư</a:t>
            </a:r>
            <a:r>
              <a:rPr lang="en-US" altLang="ja-JP" sz="1800" dirty="0">
                <a:latin typeface="+mj-lt"/>
              </a:rPr>
              <a:t>̀ Employee class</a:t>
            </a:r>
            <a:r>
              <a:rPr lang="ja-JP" altLang="en-US" sz="1800" dirty="0">
                <a:latin typeface="+mj-lt"/>
              </a:rPr>
              <a:t>！</a:t>
            </a:r>
          </a:p>
        </p:txBody>
      </p:sp>
      <p:grpSp>
        <p:nvGrpSpPr>
          <p:cNvPr id="564326" name="Group 102">
            <a:extLst>
              <a:ext uri="{FF2B5EF4-FFF2-40B4-BE49-F238E27FC236}">
                <a16:creationId xmlns:a16="http://schemas.microsoft.com/office/drawing/2014/main" id="{D4202B7E-7834-E88B-BDD3-639CFD7EF9D6}"/>
              </a:ext>
            </a:extLst>
          </p:cNvPr>
          <p:cNvGrpSpPr>
            <a:grpSpLocks/>
          </p:cNvGrpSpPr>
          <p:nvPr/>
        </p:nvGrpSpPr>
        <p:grpSpPr bwMode="auto">
          <a:xfrm>
            <a:off x="5099805" y="1703388"/>
            <a:ext cx="4762499" cy="4021138"/>
            <a:chOff x="3237" y="1059"/>
            <a:chExt cx="3000" cy="2533"/>
          </a:xfrm>
        </p:grpSpPr>
        <p:sp>
          <p:nvSpPr>
            <p:cNvPr id="564283" name="Text Box 59">
              <a:extLst>
                <a:ext uri="{FF2B5EF4-FFF2-40B4-BE49-F238E27FC236}">
                  <a16:creationId xmlns:a16="http://schemas.microsoft.com/office/drawing/2014/main" id="{EC5C336D-F249-60AE-AB0B-D7ED66970A34}"/>
                </a:ext>
              </a:extLst>
            </p:cNvPr>
            <p:cNvSpPr txBox="1">
              <a:spLocks noChangeArrowheads="1"/>
            </p:cNvSpPr>
            <p:nvPr/>
          </p:nvSpPr>
          <p:spPr bwMode="auto">
            <a:xfrm>
              <a:off x="3344" y="1292"/>
              <a:ext cx="219" cy="107"/>
            </a:xfrm>
            <a:prstGeom prst="rect">
              <a:avLst/>
            </a:prstGeom>
            <a:solidFill>
              <a:srgbClr val="FFFFFF"/>
            </a:solidFill>
            <a:ln w="9525">
              <a:solidFill>
                <a:srgbClr val="000000"/>
              </a:solidFill>
              <a:miter lim="800000"/>
              <a:headEnd/>
              <a:tailEnd/>
            </a:ln>
          </p:spPr>
          <p:txBody>
            <a:bodyPr lIns="74295" tIns="8890" rIns="74295" bIns="8890"/>
            <a:lstStyle/>
            <a:p>
              <a:endParaRPr lang="en-US" altLang="ja-JP"/>
            </a:p>
          </p:txBody>
        </p:sp>
        <p:sp>
          <p:nvSpPr>
            <p:cNvPr id="564285" name="Text Box 61">
              <a:extLst>
                <a:ext uri="{FF2B5EF4-FFF2-40B4-BE49-F238E27FC236}">
                  <a16:creationId xmlns:a16="http://schemas.microsoft.com/office/drawing/2014/main" id="{6F5C763B-E6B5-D366-7C33-F4ABA6FF3857}"/>
                </a:ext>
              </a:extLst>
            </p:cNvPr>
            <p:cNvSpPr txBox="1">
              <a:spLocks noChangeArrowheads="1"/>
            </p:cNvSpPr>
            <p:nvPr/>
          </p:nvSpPr>
          <p:spPr bwMode="auto">
            <a:xfrm>
              <a:off x="3237" y="1059"/>
              <a:ext cx="824"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dirty="0"/>
                <a:t>Employee</a:t>
              </a:r>
            </a:p>
            <a:p>
              <a:pPr algn="just"/>
              <a:r>
                <a:rPr lang="en-US" altLang="ja-JP" sz="1800" dirty="0"/>
                <a:t>emp</a:t>
              </a:r>
            </a:p>
          </p:txBody>
        </p:sp>
        <p:sp>
          <p:nvSpPr>
            <p:cNvPr id="564288" name="Cloud">
              <a:extLst>
                <a:ext uri="{FF2B5EF4-FFF2-40B4-BE49-F238E27FC236}">
                  <a16:creationId xmlns:a16="http://schemas.microsoft.com/office/drawing/2014/main" id="{B52EB0FF-15A4-4CE6-6F49-EF5987F20190}"/>
                </a:ext>
              </a:extLst>
            </p:cNvPr>
            <p:cNvSpPr>
              <a:spLocks noChangeAspect="1" noEditPoints="1" noChangeArrowheads="1"/>
            </p:cNvSpPr>
            <p:nvPr/>
          </p:nvSpPr>
          <p:spPr bwMode="auto">
            <a:xfrm>
              <a:off x="3586" y="1279"/>
              <a:ext cx="2376" cy="2232"/>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9525">
              <a:solidFill>
                <a:srgbClr val="000000"/>
              </a:solidFill>
              <a:miter lim="800000"/>
              <a:headEnd/>
              <a:tailEnd/>
            </a:ln>
            <a:effectLst>
              <a:outerShdw dist="107763" dir="2700000" algn="ctr" rotWithShape="0">
                <a:srgbClr val="808080"/>
              </a:outerShdw>
            </a:effectLst>
          </p:spPr>
          <p:txBody>
            <a:bodyPr tIns="9720" bIns="9720"/>
            <a:lstStyle/>
            <a:p>
              <a:endParaRPr lang="en-US" altLang="ja-JP"/>
            </a:p>
          </p:txBody>
        </p:sp>
        <p:grpSp>
          <p:nvGrpSpPr>
            <p:cNvPr id="564316" name="Group 92">
              <a:extLst>
                <a:ext uri="{FF2B5EF4-FFF2-40B4-BE49-F238E27FC236}">
                  <a16:creationId xmlns:a16="http://schemas.microsoft.com/office/drawing/2014/main" id="{BF42F8B8-6129-D794-7059-62784EA026F2}"/>
                </a:ext>
              </a:extLst>
            </p:cNvPr>
            <p:cNvGrpSpPr>
              <a:grpSpLocks/>
            </p:cNvGrpSpPr>
            <p:nvPr/>
          </p:nvGrpSpPr>
          <p:grpSpPr bwMode="auto">
            <a:xfrm>
              <a:off x="3934" y="2503"/>
              <a:ext cx="2283" cy="1089"/>
              <a:chOff x="3976" y="2503"/>
              <a:chExt cx="2283" cy="1089"/>
            </a:xfrm>
          </p:grpSpPr>
          <p:sp>
            <p:nvSpPr>
              <p:cNvPr id="564290" name="Text Box 66">
                <a:extLst>
                  <a:ext uri="{FF2B5EF4-FFF2-40B4-BE49-F238E27FC236}">
                    <a16:creationId xmlns:a16="http://schemas.microsoft.com/office/drawing/2014/main" id="{086CE99F-033A-9E1A-7E7C-DEEBB2453CEB}"/>
                  </a:ext>
                </a:extLst>
              </p:cNvPr>
              <p:cNvSpPr txBox="1">
                <a:spLocks noChangeArrowheads="1"/>
              </p:cNvSpPr>
              <p:nvPr/>
            </p:nvSpPr>
            <p:spPr bwMode="auto">
              <a:xfrm>
                <a:off x="3976" y="2503"/>
                <a:ext cx="2283" cy="1089"/>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mj-lt"/>
                  </a:rPr>
                  <a:t>Thuộc</a:t>
                </a:r>
                <a:r>
                  <a:rPr lang="en-US" altLang="ja-JP" b="0" dirty="0">
                    <a:latin typeface="+mj-lt"/>
                  </a:rPr>
                  <a:t> </a:t>
                </a:r>
                <a:r>
                  <a:rPr lang="en-US" altLang="ja-JP" b="0" dirty="0" err="1">
                    <a:latin typeface="+mj-lt"/>
                  </a:rPr>
                  <a:t>tính</a:t>
                </a:r>
                <a:r>
                  <a:rPr lang="en-US" altLang="ja-JP" dirty="0">
                    <a:latin typeface="+mj-lt"/>
                  </a:rPr>
                  <a:t> </a:t>
                </a:r>
                <a:r>
                  <a:rPr lang="ja-JP" altLang="en-US" b="0" dirty="0">
                    <a:latin typeface="+mj-lt"/>
                  </a:rPr>
                  <a:t>：</a:t>
                </a:r>
              </a:p>
              <a:p>
                <a:pPr algn="just">
                  <a:lnSpc>
                    <a:spcPct val="96000"/>
                  </a:lnSpc>
                </a:pPr>
                <a:r>
                  <a:rPr lang="en-US" altLang="ja-JP" b="0" dirty="0" err="1">
                    <a:latin typeface="+mj-lt"/>
                    <a:ea typeface="ＭＳ ゴシック" panose="020B0609070205080204" pitchFamily="49" charset="-128"/>
                  </a:rPr>
                  <a:t>customerCount</a:t>
                </a:r>
                <a:endParaRPr lang="en-US" altLang="ja-JP" b="0" dirty="0">
                  <a:latin typeface="+mj-lt"/>
                  <a:ea typeface="ＭＳ ゴシック" panose="020B0609070205080204" pitchFamily="49" charset="-128"/>
                </a:endParaRPr>
              </a:p>
              <a:p>
                <a:pPr algn="just">
                  <a:lnSpc>
                    <a:spcPct val="96000"/>
                  </a:lnSpc>
                </a:pPr>
                <a:endParaRPr lang="en-US" altLang="ja-JP" b="0" dirty="0">
                  <a:latin typeface="+mj-lt"/>
                  <a:ea typeface="ＭＳ ゴシック" panose="020B0609070205080204" pitchFamily="49" charset="-128"/>
                </a:endParaRPr>
              </a:p>
              <a:p>
                <a:pPr algn="just">
                  <a:lnSpc>
                    <a:spcPct val="96000"/>
                  </a:lnSpc>
                </a:pPr>
                <a:r>
                  <a:rPr lang="en-US" altLang="ja-JP" b="0" dirty="0">
                    <a:latin typeface="+mj-lt"/>
                  </a:rPr>
                  <a:t>Thao </a:t>
                </a:r>
                <a:r>
                  <a:rPr lang="en-US" altLang="ja-JP" b="0" dirty="0" err="1">
                    <a:latin typeface="+mj-lt"/>
                  </a:rPr>
                  <a:t>tác</a:t>
                </a:r>
                <a:r>
                  <a:rPr lang="en-US" altLang="ja-JP" dirty="0">
                    <a:latin typeface="+mj-lt"/>
                  </a:rPr>
                  <a:t> </a:t>
                </a:r>
                <a:r>
                  <a:rPr lang="ja-JP" altLang="en-US" b="0" dirty="0">
                    <a:latin typeface="+mj-lt"/>
                  </a:rPr>
                  <a:t>：</a:t>
                </a:r>
              </a:p>
              <a:p>
                <a:pPr algn="just">
                  <a:lnSpc>
                    <a:spcPct val="96000"/>
                  </a:lnSpc>
                </a:pPr>
                <a:r>
                  <a:rPr lang="en-US" altLang="ja-JP" b="0" dirty="0">
                    <a:latin typeface="+mj-lt"/>
                    <a:ea typeface="ＭＳ ゴシック" panose="020B0609070205080204" pitchFamily="49" charset="-128"/>
                  </a:rPr>
                  <a:t>Sales(</a:t>
                </a:r>
                <a:r>
                  <a:rPr lang="en-US" altLang="ja-JP" b="0" dirty="0" err="1">
                    <a:latin typeface="+mj-lt"/>
                    <a:ea typeface="ＭＳ ゴシック" panose="020B0609070205080204" pitchFamily="49" charset="-128"/>
                  </a:rPr>
                  <a:t>id:String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ename:String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cnt:int</a:t>
                </a:r>
                <a:r>
                  <a:rPr lang="en-US" altLang="ja-JP" b="0" dirty="0">
                    <a:latin typeface="+mj-lt"/>
                    <a:ea typeface="ＭＳ ゴシック" panose="020B0609070205080204" pitchFamily="49" charset="-128"/>
                  </a:rPr>
                  <a:t>)</a:t>
                </a:r>
              </a:p>
              <a:p>
                <a:pPr algn="just">
                  <a:lnSpc>
                    <a:spcPct val="96000"/>
                  </a:lnSpc>
                </a:pPr>
                <a:r>
                  <a:rPr lang="en-US" altLang="ja-JP" b="0" dirty="0" err="1">
                    <a:latin typeface="+mj-lt"/>
                    <a:ea typeface="ＭＳ ゴシック" panose="020B0609070205080204" pitchFamily="49" charset="-128"/>
                  </a:rPr>
                  <a:t>addCount</a:t>
                </a:r>
                <a:r>
                  <a:rPr lang="en-US" altLang="ja-JP" b="0" dirty="0">
                    <a:latin typeface="+mj-lt"/>
                    <a:ea typeface="ＭＳ ゴシック" panose="020B0609070205080204" pitchFamily="49" charset="-128"/>
                  </a:rPr>
                  <a:t>( ):void</a:t>
                </a:r>
              </a:p>
              <a:p>
                <a:pPr algn="just">
                  <a:lnSpc>
                    <a:spcPct val="96000"/>
                  </a:lnSpc>
                </a:pPr>
                <a:r>
                  <a:rPr lang="en-US" altLang="ja-JP" b="0" dirty="0" err="1">
                    <a:latin typeface="+mj-lt"/>
                    <a:ea typeface="ＭＳ ゴシック" panose="020B0609070205080204" pitchFamily="49" charset="-128"/>
                  </a:rPr>
                  <a:t>getCount</a:t>
                </a:r>
                <a:r>
                  <a:rPr lang="en-US" altLang="ja-JP" b="0" dirty="0">
                    <a:latin typeface="+mj-lt"/>
                    <a:ea typeface="ＭＳ ゴシック" panose="020B0609070205080204" pitchFamily="49" charset="-128"/>
                  </a:rPr>
                  <a:t>( ):int</a:t>
                </a:r>
              </a:p>
            </p:txBody>
          </p:sp>
          <p:sp>
            <p:nvSpPr>
              <p:cNvPr id="564291" name="Line 67">
                <a:extLst>
                  <a:ext uri="{FF2B5EF4-FFF2-40B4-BE49-F238E27FC236}">
                    <a16:creationId xmlns:a16="http://schemas.microsoft.com/office/drawing/2014/main" id="{A28C56BA-B020-94A3-0D62-CF954631281A}"/>
                  </a:ext>
                </a:extLst>
              </p:cNvPr>
              <p:cNvSpPr>
                <a:spLocks noChangeShapeType="1"/>
              </p:cNvSpPr>
              <p:nvPr/>
            </p:nvSpPr>
            <p:spPr bwMode="auto">
              <a:xfrm>
                <a:off x="3976" y="2644"/>
                <a:ext cx="1662"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64292" name="Rectangle 68">
                <a:extLst>
                  <a:ext uri="{FF2B5EF4-FFF2-40B4-BE49-F238E27FC236}">
                    <a16:creationId xmlns:a16="http://schemas.microsoft.com/office/drawing/2014/main" id="{04F9B5D4-F4B1-C795-E4A0-97F2FD680CDF}"/>
                  </a:ext>
                </a:extLst>
              </p:cNvPr>
              <p:cNvSpPr>
                <a:spLocks noChangeArrowheads="1"/>
              </p:cNvSpPr>
              <p:nvPr/>
            </p:nvSpPr>
            <p:spPr bwMode="auto">
              <a:xfrm>
                <a:off x="4909" y="2702"/>
                <a:ext cx="273" cy="140"/>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dirty="0"/>
                  <a:t>5</a:t>
                </a:r>
              </a:p>
            </p:txBody>
          </p:sp>
        </p:grpSp>
        <p:grpSp>
          <p:nvGrpSpPr>
            <p:cNvPr id="564323" name="Group 99">
              <a:extLst>
                <a:ext uri="{FF2B5EF4-FFF2-40B4-BE49-F238E27FC236}">
                  <a16:creationId xmlns:a16="http://schemas.microsoft.com/office/drawing/2014/main" id="{D055816A-CAAC-8E2C-5011-562FC63EAC64}"/>
                </a:ext>
              </a:extLst>
            </p:cNvPr>
            <p:cNvGrpSpPr>
              <a:grpSpLocks/>
            </p:cNvGrpSpPr>
            <p:nvPr/>
          </p:nvGrpSpPr>
          <p:grpSpPr bwMode="auto">
            <a:xfrm>
              <a:off x="4018" y="1639"/>
              <a:ext cx="2063" cy="568"/>
              <a:chOff x="4018" y="1639"/>
              <a:chExt cx="2063" cy="568"/>
            </a:xfrm>
          </p:grpSpPr>
          <p:grpSp>
            <p:nvGrpSpPr>
              <p:cNvPr id="564322" name="Group 98">
                <a:extLst>
                  <a:ext uri="{FF2B5EF4-FFF2-40B4-BE49-F238E27FC236}">
                    <a16:creationId xmlns:a16="http://schemas.microsoft.com/office/drawing/2014/main" id="{4080F83C-BB46-8D84-F28E-3F82B81EADD6}"/>
                  </a:ext>
                </a:extLst>
              </p:cNvPr>
              <p:cNvGrpSpPr>
                <a:grpSpLocks/>
              </p:cNvGrpSpPr>
              <p:nvPr/>
            </p:nvGrpSpPr>
            <p:grpSpPr bwMode="auto">
              <a:xfrm>
                <a:off x="4018" y="1639"/>
                <a:ext cx="2063" cy="568"/>
                <a:chOff x="4018" y="1639"/>
                <a:chExt cx="2063" cy="568"/>
              </a:xfrm>
            </p:grpSpPr>
            <p:sp>
              <p:nvSpPr>
                <p:cNvPr id="564295" name="Text Box 71">
                  <a:extLst>
                    <a:ext uri="{FF2B5EF4-FFF2-40B4-BE49-F238E27FC236}">
                      <a16:creationId xmlns:a16="http://schemas.microsoft.com/office/drawing/2014/main" id="{6CC13A42-3221-4CFB-85F8-858A54A56761}"/>
                    </a:ext>
                  </a:extLst>
                </p:cNvPr>
                <p:cNvSpPr txBox="1">
                  <a:spLocks noChangeArrowheads="1"/>
                </p:cNvSpPr>
                <p:nvPr/>
              </p:nvSpPr>
              <p:spPr bwMode="auto">
                <a:xfrm>
                  <a:off x="4018" y="1639"/>
                  <a:ext cx="2063" cy="568"/>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mj-lt"/>
                    </a:rPr>
                    <a:t>Thuộc</a:t>
                  </a:r>
                  <a:r>
                    <a:rPr lang="en-US" altLang="ja-JP" b="0" dirty="0">
                      <a:latin typeface="+mj-lt"/>
                    </a:rPr>
                    <a:t> </a:t>
                  </a:r>
                  <a:r>
                    <a:rPr lang="en-US" altLang="ja-JP" b="0" dirty="0" err="1">
                      <a:latin typeface="+mj-lt"/>
                    </a:rPr>
                    <a:t>tính</a:t>
                  </a:r>
                  <a:r>
                    <a:rPr lang="en-US" altLang="ja-JP" b="0" dirty="0">
                      <a:latin typeface="+mj-lt"/>
                    </a:rPr>
                    <a:t> </a:t>
                  </a:r>
                </a:p>
                <a:p>
                  <a:pPr algn="just">
                    <a:lnSpc>
                      <a:spcPct val="96000"/>
                    </a:lnSpc>
                  </a:pPr>
                  <a:r>
                    <a:rPr lang="en-US" altLang="ja-JP" b="0" dirty="0" err="1">
                      <a:latin typeface="+mj-lt"/>
                      <a:ea typeface="ＭＳ ゴシック" panose="020B0609070205080204" pitchFamily="49" charset="-128"/>
                    </a:rPr>
                    <a:t>empId</a:t>
                  </a:r>
                  <a:endParaRPr lang="en-US" altLang="ja-JP" b="0" dirty="0">
                    <a:latin typeface="+mj-lt"/>
                    <a:ea typeface="ＭＳ ゴシック" panose="020B0609070205080204" pitchFamily="49" charset="-128"/>
                  </a:endParaRPr>
                </a:p>
                <a:p>
                  <a:pPr algn="just"/>
                  <a:r>
                    <a:rPr lang="en-US" altLang="ja-JP" b="0" dirty="0" err="1">
                      <a:latin typeface="+mj-lt"/>
                      <a:ea typeface="ＭＳ ゴシック" panose="020B0609070205080204" pitchFamily="49" charset="-128"/>
                    </a:rPr>
                    <a:t>empName</a:t>
                  </a:r>
                  <a:endParaRPr lang="en-US" altLang="ja-JP" b="0" dirty="0">
                    <a:latin typeface="+mj-lt"/>
                    <a:ea typeface="ＭＳ ゴシック" panose="020B0609070205080204" pitchFamily="49" charset="-128"/>
                  </a:endParaRPr>
                </a:p>
                <a:p>
                  <a:pPr algn="just"/>
                  <a:endParaRPr lang="en-US" altLang="ja-JP" b="0" dirty="0">
                    <a:latin typeface="+mj-lt"/>
                  </a:endParaRPr>
                </a:p>
                <a:p>
                  <a:pPr algn="just"/>
                  <a:r>
                    <a:rPr lang="en-US" altLang="ja-JP" b="0" dirty="0">
                      <a:latin typeface="+mj-lt"/>
                    </a:rPr>
                    <a:t>Thao </a:t>
                  </a:r>
                  <a:r>
                    <a:rPr lang="en-US" altLang="ja-JP" b="0" dirty="0" err="1">
                      <a:latin typeface="+mj-lt"/>
                    </a:rPr>
                    <a:t>tác</a:t>
                  </a:r>
                  <a:r>
                    <a:rPr lang="en-US" altLang="ja-JP" dirty="0">
                      <a:latin typeface="+mj-lt"/>
                    </a:rPr>
                    <a:t> </a:t>
                  </a:r>
                  <a:r>
                    <a:rPr lang="ja-JP" altLang="en-US" b="0" dirty="0">
                      <a:latin typeface="+mj-lt"/>
                    </a:rPr>
                    <a:t>：</a:t>
                  </a:r>
                  <a:r>
                    <a:rPr lang="en-US" altLang="ja-JP" b="0" dirty="0" err="1">
                      <a:latin typeface="+mj-lt"/>
                      <a:ea typeface="ＭＳ ゴシック" panose="020B0609070205080204" pitchFamily="49" charset="-128"/>
                    </a:rPr>
                    <a:t>printInfo</a:t>
                  </a:r>
                  <a:r>
                    <a:rPr lang="en-US" altLang="ja-JP" b="0" dirty="0">
                      <a:latin typeface="+mj-lt"/>
                      <a:ea typeface="ＭＳ ゴシック" panose="020B0609070205080204" pitchFamily="49" charset="-128"/>
                    </a:rPr>
                    <a:t>():void</a:t>
                  </a:r>
                </a:p>
              </p:txBody>
            </p:sp>
            <p:sp>
              <p:nvSpPr>
                <p:cNvPr id="564296" name="Rectangle 72">
                  <a:extLst>
                    <a:ext uri="{FF2B5EF4-FFF2-40B4-BE49-F238E27FC236}">
                      <a16:creationId xmlns:a16="http://schemas.microsoft.com/office/drawing/2014/main" id="{CC219B88-FDF7-9D87-6E25-7C8DBF7FCAAA}"/>
                    </a:ext>
                  </a:extLst>
                </p:cNvPr>
                <p:cNvSpPr>
                  <a:spLocks noChangeArrowheads="1"/>
                </p:cNvSpPr>
                <p:nvPr/>
              </p:nvSpPr>
              <p:spPr bwMode="auto">
                <a:xfrm>
                  <a:off x="4682" y="1971"/>
                  <a:ext cx="968" cy="168"/>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10800"/>
                <a:lstStyle/>
                <a:p>
                  <a:pPr algn="ctr"/>
                  <a:r>
                    <a:rPr lang="ja-JP" altLang="en-US" b="0" dirty="0"/>
                    <a:t>田中花子</a:t>
                  </a:r>
                </a:p>
              </p:txBody>
            </p:sp>
            <p:sp>
              <p:nvSpPr>
                <p:cNvPr id="564297" name="Rectangle 73">
                  <a:extLst>
                    <a:ext uri="{FF2B5EF4-FFF2-40B4-BE49-F238E27FC236}">
                      <a16:creationId xmlns:a16="http://schemas.microsoft.com/office/drawing/2014/main" id="{B49FA625-F15D-C0E1-385F-FB1FCB3EE30B}"/>
                    </a:ext>
                  </a:extLst>
                </p:cNvPr>
                <p:cNvSpPr>
                  <a:spLocks noChangeArrowheads="1"/>
                </p:cNvSpPr>
                <p:nvPr/>
              </p:nvSpPr>
              <p:spPr bwMode="auto">
                <a:xfrm>
                  <a:off x="4744" y="1762"/>
                  <a:ext cx="1085" cy="189"/>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10800"/>
                <a:lstStyle/>
                <a:p>
                  <a:pPr algn="ctr"/>
                  <a:r>
                    <a:rPr lang="en-US" altLang="ja-JP" b="0" dirty="0"/>
                    <a:t>987654</a:t>
                  </a:r>
                </a:p>
              </p:txBody>
            </p:sp>
          </p:grpSp>
          <p:sp>
            <p:nvSpPr>
              <p:cNvPr id="564298" name="Line 74">
                <a:extLst>
                  <a:ext uri="{FF2B5EF4-FFF2-40B4-BE49-F238E27FC236}">
                    <a16:creationId xmlns:a16="http://schemas.microsoft.com/office/drawing/2014/main" id="{80209A05-34B0-D0C0-0075-F484A727B34B}"/>
                  </a:ext>
                </a:extLst>
              </p:cNvPr>
              <p:cNvSpPr>
                <a:spLocks noChangeShapeType="1"/>
              </p:cNvSpPr>
              <p:nvPr/>
            </p:nvSpPr>
            <p:spPr bwMode="auto">
              <a:xfrm>
                <a:off x="4018" y="2022"/>
                <a:ext cx="102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
          <p:nvSpPr>
            <p:cNvPr id="564301" name="Line 77">
              <a:extLst>
                <a:ext uri="{FF2B5EF4-FFF2-40B4-BE49-F238E27FC236}">
                  <a16:creationId xmlns:a16="http://schemas.microsoft.com/office/drawing/2014/main" id="{BFDA6D46-B282-9220-732C-67F159FE0351}"/>
                </a:ext>
              </a:extLst>
            </p:cNvPr>
            <p:cNvSpPr>
              <a:spLocks noChangeShapeType="1"/>
            </p:cNvSpPr>
            <p:nvPr/>
          </p:nvSpPr>
          <p:spPr bwMode="auto">
            <a:xfrm>
              <a:off x="3467" y="1373"/>
              <a:ext cx="567" cy="961"/>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64302" name="AutoShape 78">
              <a:extLst>
                <a:ext uri="{FF2B5EF4-FFF2-40B4-BE49-F238E27FC236}">
                  <a16:creationId xmlns:a16="http://schemas.microsoft.com/office/drawing/2014/main" id="{30AB67F7-D597-F015-3B52-BFA2438966CF}"/>
                </a:ext>
              </a:extLst>
            </p:cNvPr>
            <p:cNvSpPr>
              <a:spLocks noChangeArrowheads="1"/>
            </p:cNvSpPr>
            <p:nvPr/>
          </p:nvSpPr>
          <p:spPr bwMode="auto">
            <a:xfrm rot="1982922">
              <a:off x="3595" y="1421"/>
              <a:ext cx="225" cy="229"/>
            </a:xfrm>
            <a:prstGeom prst="rightArrow">
              <a:avLst>
                <a:gd name="adj1" fmla="val 50000"/>
                <a:gd name="adj2" fmla="val 25000"/>
              </a:avLst>
            </a:prstGeom>
            <a:solidFill>
              <a:srgbClr val="FF00FF">
                <a:alpha val="50000"/>
              </a:srgbClr>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4284" name="Line 60">
              <a:extLst>
                <a:ext uri="{FF2B5EF4-FFF2-40B4-BE49-F238E27FC236}">
                  <a16:creationId xmlns:a16="http://schemas.microsoft.com/office/drawing/2014/main" id="{3A9772B1-AC1B-EFEA-9FF4-8CD00A904E0B}"/>
                </a:ext>
              </a:extLst>
            </p:cNvPr>
            <p:cNvSpPr>
              <a:spLocks noChangeShapeType="1"/>
            </p:cNvSpPr>
            <p:nvPr/>
          </p:nvSpPr>
          <p:spPr bwMode="auto">
            <a:xfrm>
              <a:off x="3483" y="1344"/>
              <a:ext cx="994" cy="293"/>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64305" name="AutoShape 81">
              <a:extLst>
                <a:ext uri="{FF2B5EF4-FFF2-40B4-BE49-F238E27FC236}">
                  <a16:creationId xmlns:a16="http://schemas.microsoft.com/office/drawing/2014/main" id="{B68772D2-499C-73BE-FF3D-2BE667CC1BC1}"/>
                </a:ext>
              </a:extLst>
            </p:cNvPr>
            <p:cNvSpPr>
              <a:spLocks noChangeArrowheads="1"/>
            </p:cNvSpPr>
            <p:nvPr/>
          </p:nvSpPr>
          <p:spPr bwMode="auto">
            <a:xfrm>
              <a:off x="4705" y="1314"/>
              <a:ext cx="1221" cy="375"/>
            </a:xfrm>
            <a:prstGeom prst="wedgeRoundRectCallout">
              <a:avLst>
                <a:gd name="adj1" fmla="val -54588"/>
                <a:gd name="adj2" fmla="val 55065"/>
                <a:gd name="adj3" fmla="val 16667"/>
              </a:avLst>
            </a:prstGeom>
            <a:solidFill>
              <a:srgbClr val="FFFFCC"/>
            </a:solidFill>
            <a:ln w="9525">
              <a:solidFill>
                <a:srgbClr val="000000"/>
              </a:solidFill>
              <a:miter lim="800000"/>
              <a:headEnd/>
              <a:tailEnd/>
            </a:ln>
          </p:spPr>
          <p:txBody>
            <a:bodyPr lIns="74295" tIns="8890" rIns="74295" bIns="8890"/>
            <a:lstStyle/>
            <a:p>
              <a:pPr algn="just"/>
              <a:r>
                <a:rPr lang="en-US" altLang="ja-JP" sz="1500" dirty="0" err="1">
                  <a:latin typeface="+mj-lt"/>
                </a:rPr>
                <a:t>Tính</a:t>
              </a:r>
              <a:r>
                <a:rPr lang="en-US" altLang="ja-JP" sz="1500" dirty="0">
                  <a:latin typeface="+mj-lt"/>
                </a:rPr>
                <a:t> </a:t>
              </a:r>
              <a:r>
                <a:rPr lang="en-US" altLang="ja-JP" sz="1500" dirty="0" err="1">
                  <a:latin typeface="+mj-lt"/>
                </a:rPr>
                <a:t>chất</a:t>
              </a:r>
              <a:r>
                <a:rPr lang="en-US" altLang="ja-JP" sz="1500" dirty="0">
                  <a:latin typeface="+mj-lt"/>
                </a:rPr>
                <a:t> </a:t>
              </a:r>
              <a:r>
                <a:rPr lang="en-US" altLang="ja-JP" sz="1500" dirty="0" err="1">
                  <a:latin typeface="+mj-lt"/>
                </a:rPr>
                <a:t>đa</a:t>
              </a:r>
              <a:r>
                <a:rPr lang="en-US" altLang="ja-JP" sz="1500" dirty="0">
                  <a:latin typeface="+mj-lt"/>
                </a:rPr>
                <a:t>̃ </a:t>
              </a:r>
              <a:r>
                <a:rPr lang="en-US" altLang="ja-JP" sz="1500" dirty="0" err="1">
                  <a:latin typeface="+mj-lt"/>
                </a:rPr>
                <a:t>kê</a:t>
              </a:r>
              <a:r>
                <a:rPr lang="en-US" altLang="ja-JP" sz="1500" dirty="0">
                  <a:latin typeface="+mj-lt"/>
                </a:rPr>
                <a:t>́ </a:t>
              </a:r>
              <a:r>
                <a:rPr lang="en-US" altLang="ja-JP" sz="1500" dirty="0" err="1">
                  <a:latin typeface="+mj-lt"/>
                </a:rPr>
                <a:t>thừa</a:t>
              </a:r>
              <a:r>
                <a:rPr lang="en-US" altLang="ja-JP" sz="1500" dirty="0">
                  <a:latin typeface="+mj-lt"/>
                </a:rPr>
                <a:t> </a:t>
              </a:r>
              <a:r>
                <a:rPr lang="en-US" altLang="ja-JP" sz="1500" dirty="0" err="1">
                  <a:latin typeface="+mj-lt"/>
                </a:rPr>
                <a:t>tư</a:t>
              </a:r>
              <a:r>
                <a:rPr lang="en-US" altLang="ja-JP" sz="1500" dirty="0">
                  <a:latin typeface="+mj-lt"/>
                </a:rPr>
                <a:t>̀ Employee</a:t>
              </a:r>
            </a:p>
          </p:txBody>
        </p:sp>
        <p:sp>
          <p:nvSpPr>
            <p:cNvPr id="564306" name="AutoShape 82">
              <a:extLst>
                <a:ext uri="{FF2B5EF4-FFF2-40B4-BE49-F238E27FC236}">
                  <a16:creationId xmlns:a16="http://schemas.microsoft.com/office/drawing/2014/main" id="{FEEE9C54-235E-5C54-539A-B4DFFC7741B2}"/>
                </a:ext>
              </a:extLst>
            </p:cNvPr>
            <p:cNvSpPr>
              <a:spLocks noChangeArrowheads="1"/>
            </p:cNvSpPr>
            <p:nvPr/>
          </p:nvSpPr>
          <p:spPr bwMode="auto">
            <a:xfrm>
              <a:off x="5287" y="2446"/>
              <a:ext cx="950" cy="315"/>
            </a:xfrm>
            <a:prstGeom prst="wedgeRoundRectCallout">
              <a:avLst>
                <a:gd name="adj1" fmla="val -69028"/>
                <a:gd name="adj2" fmla="val 67817"/>
                <a:gd name="adj3" fmla="val 16667"/>
              </a:avLst>
            </a:prstGeom>
            <a:solidFill>
              <a:srgbClr val="FFCC99"/>
            </a:solidFill>
            <a:ln w="9525">
              <a:solidFill>
                <a:srgbClr val="000000"/>
              </a:solidFill>
              <a:miter lim="800000"/>
              <a:headEnd/>
              <a:tailEnd/>
            </a:ln>
          </p:spPr>
          <p:txBody>
            <a:bodyPr lIns="74295" tIns="8890" rIns="74295" bIns="8890"/>
            <a:lstStyle/>
            <a:p>
              <a:r>
                <a:rPr lang="en-US" altLang="ja-JP" sz="1400" dirty="0" err="1">
                  <a:latin typeface="+mj-lt"/>
                </a:rPr>
                <a:t>Tính</a:t>
              </a:r>
              <a:r>
                <a:rPr lang="en-US" altLang="ja-JP" sz="1400" dirty="0">
                  <a:latin typeface="+mj-lt"/>
                </a:rPr>
                <a:t> </a:t>
              </a:r>
              <a:r>
                <a:rPr lang="en-US" altLang="ja-JP" sz="1400" dirty="0" err="1">
                  <a:latin typeface="+mj-lt"/>
                </a:rPr>
                <a:t>chất</a:t>
              </a:r>
              <a:r>
                <a:rPr lang="en-US" altLang="ja-JP" sz="1400" dirty="0">
                  <a:latin typeface="+mj-lt"/>
                </a:rPr>
                <a:t> </a:t>
              </a:r>
              <a:r>
                <a:rPr lang="en-US" altLang="ja-JP" sz="1400" dirty="0" err="1">
                  <a:latin typeface="+mj-lt"/>
                </a:rPr>
                <a:t>độc</a:t>
              </a:r>
              <a:r>
                <a:rPr lang="en-US" altLang="ja-JP" sz="1400" dirty="0">
                  <a:latin typeface="+mj-lt"/>
                </a:rPr>
                <a:t> </a:t>
              </a:r>
              <a:r>
                <a:rPr lang="en-US" altLang="ja-JP" sz="1400" dirty="0" err="1">
                  <a:latin typeface="+mj-lt"/>
                </a:rPr>
                <a:t>lập</a:t>
              </a:r>
              <a:r>
                <a:rPr lang="en-US" altLang="ja-JP" sz="1400" dirty="0">
                  <a:latin typeface="+mj-lt"/>
                </a:rPr>
                <a:t> </a:t>
              </a:r>
              <a:r>
                <a:rPr lang="en-US" altLang="ja-JP" sz="1400" dirty="0" err="1">
                  <a:latin typeface="+mj-lt"/>
                </a:rPr>
                <a:t>của</a:t>
              </a:r>
              <a:r>
                <a:rPr lang="en-US" altLang="ja-JP" sz="1400" dirty="0">
                  <a:latin typeface="+mj-lt"/>
                </a:rPr>
                <a:t> Sales</a:t>
              </a:r>
            </a:p>
          </p:txBody>
        </p:sp>
      </p:grpSp>
      <p:sp>
        <p:nvSpPr>
          <p:cNvPr id="564309" name="Text Box 85">
            <a:extLst>
              <a:ext uri="{FF2B5EF4-FFF2-40B4-BE49-F238E27FC236}">
                <a16:creationId xmlns:a16="http://schemas.microsoft.com/office/drawing/2014/main" id="{1A31A907-CEAC-96A6-A820-653615D09377}"/>
              </a:ext>
            </a:extLst>
          </p:cNvPr>
          <p:cNvSpPr txBox="1">
            <a:spLocks noChangeArrowheads="1"/>
          </p:cNvSpPr>
          <p:nvPr/>
        </p:nvSpPr>
        <p:spPr bwMode="auto">
          <a:xfrm>
            <a:off x="344488" y="1350963"/>
            <a:ext cx="3275012"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ctr"/>
            <a:r>
              <a:rPr lang="en-US" altLang="ja-JP" sz="1800"/>
              <a:t>●</a:t>
            </a:r>
            <a:r>
              <a:rPr lang="ja-JP" altLang="en-US" sz="1800"/>
              <a:t>　</a:t>
            </a:r>
            <a:r>
              <a:rPr lang="en-US" altLang="ja-JP" sz="1800">
                <a:ea typeface="ＭＳ ゴシック" panose="020B0609070205080204" pitchFamily="49" charset="-128"/>
              </a:rPr>
              <a:t>Sales sa = new Sales();</a:t>
            </a:r>
          </a:p>
        </p:txBody>
      </p:sp>
      <p:sp>
        <p:nvSpPr>
          <p:cNvPr id="564310" name="Text Box 86">
            <a:extLst>
              <a:ext uri="{FF2B5EF4-FFF2-40B4-BE49-F238E27FC236}">
                <a16:creationId xmlns:a16="http://schemas.microsoft.com/office/drawing/2014/main" id="{E349C8BA-071D-8D50-B9E7-3FF4BAF8828D}"/>
              </a:ext>
            </a:extLst>
          </p:cNvPr>
          <p:cNvSpPr txBox="1">
            <a:spLocks noChangeArrowheads="1"/>
          </p:cNvSpPr>
          <p:nvPr/>
        </p:nvSpPr>
        <p:spPr bwMode="auto">
          <a:xfrm>
            <a:off x="4778375" y="1285875"/>
            <a:ext cx="4686300"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r>
              <a:rPr lang="en-US" altLang="ja-JP" sz="1800" dirty="0">
                <a:latin typeface="+mj-lt"/>
              </a:rPr>
              <a:t>●</a:t>
            </a:r>
            <a:r>
              <a:rPr lang="ja-JP" altLang="en-US" sz="1800" dirty="0">
                <a:latin typeface="+mj-lt"/>
              </a:rPr>
              <a:t>　</a:t>
            </a:r>
            <a:r>
              <a:rPr lang="en-US" altLang="ja-JP" sz="1800" dirty="0">
                <a:latin typeface="+mj-lt"/>
                <a:ea typeface="ＭＳ ゴシック" panose="020B0609070205080204" pitchFamily="49" charset="-128"/>
              </a:rPr>
              <a:t>Employee emp = </a:t>
            </a:r>
            <a:r>
              <a:rPr lang="en-US" altLang="en-US" sz="1800" dirty="0">
                <a:latin typeface="+mj-lt"/>
                <a:ea typeface="ＭＳ ゴシック" panose="020B0609070205080204" pitchFamily="49" charset="-128"/>
              </a:rPr>
              <a:t>new Sales();</a:t>
            </a:r>
            <a:endParaRPr lang="en-US" altLang="ja-JP" sz="1800" dirty="0">
              <a:latin typeface="+mj-lt"/>
              <a:ea typeface="ＭＳ ゴシック" panose="020B0609070205080204" pitchFamily="49" charset="-128"/>
            </a:endParaRPr>
          </a:p>
        </p:txBody>
      </p:sp>
      <p:sp>
        <p:nvSpPr>
          <p:cNvPr id="564311" name="Text Box 87">
            <a:extLst>
              <a:ext uri="{FF2B5EF4-FFF2-40B4-BE49-F238E27FC236}">
                <a16:creationId xmlns:a16="http://schemas.microsoft.com/office/drawing/2014/main" id="{656FB3EB-485A-741F-49E0-FA06557DE50D}"/>
              </a:ext>
            </a:extLst>
          </p:cNvPr>
          <p:cNvSpPr txBox="1">
            <a:spLocks noChangeArrowheads="1"/>
          </p:cNvSpPr>
          <p:nvPr/>
        </p:nvSpPr>
        <p:spPr bwMode="auto">
          <a:xfrm>
            <a:off x="8286750" y="1200150"/>
            <a:ext cx="103346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r>
              <a:rPr lang="en-US" altLang="ja-JP" sz="2800">
                <a:solidFill>
                  <a:srgbClr val="FF00FF"/>
                </a:solidFill>
              </a:rPr>
              <a:t>←○</a:t>
            </a:r>
          </a:p>
        </p:txBody>
      </p:sp>
      <p:sp>
        <p:nvSpPr>
          <p:cNvPr id="564312" name="AutoShape 88">
            <a:extLst>
              <a:ext uri="{FF2B5EF4-FFF2-40B4-BE49-F238E27FC236}">
                <a16:creationId xmlns:a16="http://schemas.microsoft.com/office/drawing/2014/main" id="{60C01B44-3562-5CB3-1EE5-847E2B91C0E2}"/>
              </a:ext>
            </a:extLst>
          </p:cNvPr>
          <p:cNvSpPr>
            <a:spLocks noChangeArrowheads="1"/>
          </p:cNvSpPr>
          <p:nvPr/>
        </p:nvSpPr>
        <p:spPr bwMode="auto">
          <a:xfrm>
            <a:off x="7161212" y="501650"/>
            <a:ext cx="2668588" cy="642937"/>
          </a:xfrm>
          <a:prstGeom prst="wedgeRoundRectCallout">
            <a:avLst>
              <a:gd name="adj1" fmla="val -70671"/>
              <a:gd name="adj2" fmla="val 7119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a:latin typeface="+mj-lt"/>
              </a:rPr>
              <a:t>Có </a:t>
            </a:r>
            <a:r>
              <a:rPr lang="en-US" altLang="ja-JP" sz="1800" dirty="0" err="1">
                <a:latin typeface="+mj-lt"/>
              </a:rPr>
              <a:t>thê</a:t>
            </a:r>
            <a:r>
              <a:rPr lang="en-US" altLang="ja-JP" sz="1800" dirty="0">
                <a:latin typeface="+mj-lt"/>
              </a:rPr>
              <a:t>̉ convert </a:t>
            </a:r>
            <a:r>
              <a:rPr lang="en-US" altLang="ja-JP" sz="1800" dirty="0" err="1">
                <a:latin typeface="+mj-lt"/>
              </a:rPr>
              <a:t>ngầm</a:t>
            </a:r>
            <a:endParaRPr lang="en-US" altLang="ja-JP" sz="1800" dirty="0">
              <a:latin typeface="+mj-lt"/>
            </a:endParaRPr>
          </a:p>
          <a:p>
            <a:pPr algn="ctr"/>
            <a:r>
              <a:rPr lang="ja-JP" altLang="en-US" sz="1800" dirty="0">
                <a:latin typeface="+mj-lt"/>
              </a:rPr>
              <a:t>（</a:t>
            </a:r>
            <a:r>
              <a:rPr lang="en-US" altLang="ja-JP" sz="1800" dirty="0" err="1">
                <a:latin typeface="+mj-lt"/>
              </a:rPr>
              <a:t>Sales→Employee</a:t>
            </a:r>
            <a:r>
              <a:rPr lang="ja-JP" altLang="en-US" sz="1800" dirty="0">
                <a:latin typeface="+mj-lt"/>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B3B7AB9B-CFF1-2F09-22A9-2529FDFBCE35}"/>
              </a:ext>
            </a:extLst>
          </p:cNvPr>
          <p:cNvSpPr>
            <a:spLocks noGrp="1"/>
          </p:cNvSpPr>
          <p:nvPr>
            <p:ph type="sldNum" sz="quarter" idx="10"/>
          </p:nvPr>
        </p:nvSpPr>
        <p:spPr/>
        <p:txBody>
          <a:bodyPr/>
          <a:lstStyle/>
          <a:p>
            <a:fld id="{C165ABCD-8718-4A34-9DFB-56CE2868AF92}" type="slidenum">
              <a:rPr lang="en-US" altLang="ja-JP"/>
              <a:pPr/>
              <a:t>9</a:t>
            </a:fld>
            <a:endParaRPr lang="en-US" altLang="ja-JP"/>
          </a:p>
        </p:txBody>
      </p:sp>
      <p:sp>
        <p:nvSpPr>
          <p:cNvPr id="568322" name="Rectangle 2">
            <a:extLst>
              <a:ext uri="{FF2B5EF4-FFF2-40B4-BE49-F238E27FC236}">
                <a16:creationId xmlns:a16="http://schemas.microsoft.com/office/drawing/2014/main" id="{B9DD93AC-4396-8681-993F-4966F570B462}"/>
              </a:ext>
            </a:extLst>
          </p:cNvPr>
          <p:cNvSpPr>
            <a:spLocks noGrp="1" noChangeArrowheads="1"/>
          </p:cNvSpPr>
          <p:nvPr>
            <p:ph type="title"/>
          </p:nvPr>
        </p:nvSpPr>
        <p:spPr>
          <a:xfrm>
            <a:off x="348260" y="282575"/>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Cast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tham</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chiếu</a:t>
            </a:r>
            <a:r>
              <a:rPr lang="en-US" altLang="ja-JP" dirty="0">
                <a:latin typeface="Arial" panose="020B0604020202020204" pitchFamily="34" charset="0"/>
                <a:ea typeface="MS UI Gothic" panose="020B0600070205080204" pitchFamily="50" charset="-128"/>
              </a:rPr>
              <a:t> (3)</a:t>
            </a:r>
          </a:p>
        </p:txBody>
      </p:sp>
      <p:sp>
        <p:nvSpPr>
          <p:cNvPr id="568323" name="Rectangle 3">
            <a:extLst>
              <a:ext uri="{FF2B5EF4-FFF2-40B4-BE49-F238E27FC236}">
                <a16:creationId xmlns:a16="http://schemas.microsoft.com/office/drawing/2014/main" id="{7340A524-C8DE-B907-D37A-3DE560E22D0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Cast </a:t>
            </a:r>
            <a:r>
              <a:rPr lang="en-US" altLang="ja-JP" sz="2400" b="0" dirty="0" err="1">
                <a:latin typeface="Arial" panose="020B0604020202020204" pitchFamily="34" charset="0"/>
              </a:rPr>
              <a:t>kiểu</a:t>
            </a:r>
            <a:r>
              <a:rPr lang="en-US" altLang="ja-JP" sz="2400" b="0" dirty="0">
                <a:latin typeface="Arial" panose="020B0604020202020204" pitchFamily="34" charset="0"/>
              </a:rPr>
              <a:t> </a:t>
            </a:r>
            <a:r>
              <a:rPr lang="en-US" altLang="ja-JP" sz="2400" b="0" dirty="0" err="1">
                <a:latin typeface="Arial" panose="020B0604020202020204" pitchFamily="34" charset="0"/>
              </a:rPr>
              <a:t>tham</a:t>
            </a:r>
            <a:r>
              <a:rPr lang="en-US" altLang="ja-JP" sz="2400" b="0" dirty="0">
                <a:latin typeface="Arial" panose="020B0604020202020204" pitchFamily="34" charset="0"/>
              </a:rPr>
              <a:t> </a:t>
            </a:r>
            <a:r>
              <a:rPr lang="en-US" altLang="ja-JP" sz="2400" b="0" dirty="0" err="1">
                <a:latin typeface="Arial" panose="020B0604020202020204" pitchFamily="34" charset="0"/>
              </a:rPr>
              <a:t>chiếu</a:t>
            </a:r>
            <a:r>
              <a:rPr lang="ja-JP" altLang="en-US" sz="2400" b="0" dirty="0">
                <a:latin typeface="Arial" panose="020B0604020202020204" pitchFamily="34" charset="0"/>
              </a:rPr>
              <a:t>（</a:t>
            </a:r>
            <a:r>
              <a:rPr lang="en-US" altLang="ja-JP" sz="2400" b="0" dirty="0">
                <a:latin typeface="Arial" panose="020B0604020202020204" pitchFamily="34" charset="0"/>
              </a:rPr>
              <a:t>super class</a:t>
            </a:r>
            <a:r>
              <a:rPr lang="ja-JP" altLang="en-US" sz="2400" b="0" dirty="0">
                <a:latin typeface="Arial" panose="020B0604020202020204" pitchFamily="34" charset="0"/>
              </a:rPr>
              <a:t>　⇒　</a:t>
            </a:r>
            <a:r>
              <a:rPr lang="en-US" altLang="ja-JP" sz="2400" b="0" dirty="0">
                <a:latin typeface="Arial" panose="020B0604020202020204" pitchFamily="34" charset="0"/>
              </a:rPr>
              <a:t>sub-class</a:t>
            </a:r>
            <a:r>
              <a:rPr lang="ja-JP" altLang="en-US" sz="2400" b="0" dirty="0">
                <a:latin typeface="Arial" panose="020B0604020202020204" pitchFamily="34" charset="0"/>
              </a:rPr>
              <a:t>）</a:t>
            </a:r>
          </a:p>
        </p:txBody>
      </p:sp>
      <p:sp>
        <p:nvSpPr>
          <p:cNvPr id="568344" name="AutoShape 24">
            <a:extLst>
              <a:ext uri="{FF2B5EF4-FFF2-40B4-BE49-F238E27FC236}">
                <a16:creationId xmlns:a16="http://schemas.microsoft.com/office/drawing/2014/main" id="{9BC97057-8F40-AD39-AF68-4B4772E72186}"/>
              </a:ext>
            </a:extLst>
          </p:cNvPr>
          <p:cNvSpPr>
            <a:spLocks noChangeArrowheads="1"/>
          </p:cNvSpPr>
          <p:nvPr/>
        </p:nvSpPr>
        <p:spPr bwMode="auto">
          <a:xfrm>
            <a:off x="569913" y="5005388"/>
            <a:ext cx="5267325" cy="941387"/>
          </a:xfrm>
          <a:prstGeom prst="wedgeRoundRectCallout">
            <a:avLst>
              <a:gd name="adj1" fmla="val 54792"/>
              <a:gd name="adj2" fmla="val -81199"/>
              <a:gd name="adj3" fmla="val 16667"/>
            </a:avLst>
          </a:prstGeom>
          <a:solidFill>
            <a:srgbClr val="FFFF99"/>
          </a:solidFill>
          <a:ln w="12700">
            <a:solidFill>
              <a:srgbClr val="FF00FF"/>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dirty="0">
                <a:latin typeface="+mj-lt"/>
              </a:rPr>
              <a:t>Do </a:t>
            </a:r>
            <a:r>
              <a:rPr lang="en-US" altLang="ja-JP" sz="1800" dirty="0" err="1">
                <a:latin typeface="+mj-lt"/>
              </a:rPr>
              <a:t>đang</a:t>
            </a:r>
            <a:r>
              <a:rPr lang="en-US" altLang="ja-JP" sz="1800" dirty="0">
                <a:latin typeface="+mj-lt"/>
              </a:rPr>
              <a:t> bị </a:t>
            </a:r>
            <a:r>
              <a:rPr lang="en-US" altLang="ja-JP" sz="1800" dirty="0" err="1">
                <a:latin typeface="+mj-lt"/>
              </a:rPr>
              <a:t>thiếu</a:t>
            </a:r>
            <a:r>
              <a:rPr lang="en-US" altLang="ja-JP" sz="1800" dirty="0">
                <a:latin typeface="+mj-lt"/>
              </a:rPr>
              <a:t> </a:t>
            </a:r>
            <a:r>
              <a:rPr lang="en-US" altLang="ja-JP" sz="1800" dirty="0" err="1">
                <a:latin typeface="+mj-lt"/>
              </a:rPr>
              <a:t>nội</a:t>
            </a:r>
            <a:r>
              <a:rPr lang="en-US" altLang="ja-JP" sz="1800" dirty="0">
                <a:latin typeface="+mj-lt"/>
              </a:rPr>
              <a:t> dung </a:t>
            </a:r>
            <a:r>
              <a:rPr lang="en-US" altLang="ja-JP" sz="1800" dirty="0" err="1">
                <a:latin typeface="+mj-lt"/>
              </a:rPr>
              <a:t>cần</a:t>
            </a:r>
            <a:r>
              <a:rPr lang="en-US" altLang="ja-JP" sz="1800" dirty="0">
                <a:latin typeface="+mj-lt"/>
              </a:rPr>
              <a:t> </a:t>
            </a:r>
            <a:r>
              <a:rPr lang="en-US" altLang="ja-JP" sz="1800" dirty="0" err="1">
                <a:latin typeface="+mj-lt"/>
              </a:rPr>
              <a:t>thiết</a:t>
            </a:r>
            <a:r>
              <a:rPr lang="en-US" altLang="ja-JP" sz="1800" dirty="0">
                <a:latin typeface="+mj-lt"/>
              </a:rPr>
              <a:t> </a:t>
            </a:r>
            <a:r>
              <a:rPr lang="en-US" altLang="ja-JP" sz="1800" dirty="0" err="1">
                <a:latin typeface="+mj-lt"/>
              </a:rPr>
              <a:t>cho</a:t>
            </a:r>
            <a:r>
              <a:rPr lang="en-US" altLang="ja-JP" sz="1800" dirty="0">
                <a:latin typeface="+mj-lt"/>
              </a:rPr>
              <a:t> object </a:t>
            </a:r>
            <a:r>
              <a:rPr lang="en-US" altLang="ja-JP" sz="1800" dirty="0" err="1">
                <a:latin typeface="+mj-lt"/>
              </a:rPr>
              <a:t>của</a:t>
            </a:r>
            <a:r>
              <a:rPr lang="en-US" altLang="ja-JP" sz="1800" dirty="0">
                <a:latin typeface="+mj-lt"/>
              </a:rPr>
              <a:t> Sales class </a:t>
            </a:r>
            <a:r>
              <a:rPr lang="en-US" altLang="ja-JP" sz="1800" dirty="0" err="1">
                <a:latin typeface="+mj-lt"/>
              </a:rPr>
              <a:t>nên</a:t>
            </a:r>
            <a:r>
              <a:rPr lang="en-US" altLang="ja-JP" sz="1800" dirty="0">
                <a:latin typeface="+mj-lt"/>
              </a:rPr>
              <a:t> </a:t>
            </a:r>
            <a:r>
              <a:rPr lang="en-US" altLang="ja-JP" sz="1800" dirty="0" err="1">
                <a:latin typeface="+mj-lt"/>
              </a:rPr>
              <a:t>bị</a:t>
            </a:r>
            <a:r>
              <a:rPr lang="en-US" altLang="ja-JP" sz="1800" dirty="0">
                <a:latin typeface="+mj-lt"/>
              </a:rPr>
              <a:t> compile error</a:t>
            </a:r>
            <a:r>
              <a:rPr lang="ja-JP" altLang="en-US" sz="1800" dirty="0">
                <a:latin typeface="+mj-lt"/>
              </a:rPr>
              <a:t>！</a:t>
            </a:r>
          </a:p>
        </p:txBody>
      </p:sp>
      <p:grpSp>
        <p:nvGrpSpPr>
          <p:cNvPr id="568382" name="Group 62">
            <a:extLst>
              <a:ext uri="{FF2B5EF4-FFF2-40B4-BE49-F238E27FC236}">
                <a16:creationId xmlns:a16="http://schemas.microsoft.com/office/drawing/2014/main" id="{B8DA2DD2-C64D-4FC2-FCD5-6D2FD4F0CD99}"/>
              </a:ext>
            </a:extLst>
          </p:cNvPr>
          <p:cNvGrpSpPr>
            <a:grpSpLocks/>
          </p:cNvGrpSpPr>
          <p:nvPr/>
        </p:nvGrpSpPr>
        <p:grpSpPr bwMode="auto">
          <a:xfrm>
            <a:off x="808038" y="1812925"/>
            <a:ext cx="6508750" cy="2984499"/>
            <a:chOff x="509" y="1142"/>
            <a:chExt cx="4100" cy="1880"/>
          </a:xfrm>
        </p:grpSpPr>
        <p:sp>
          <p:nvSpPr>
            <p:cNvPr id="568347" name="Text Box 27">
              <a:extLst>
                <a:ext uri="{FF2B5EF4-FFF2-40B4-BE49-F238E27FC236}">
                  <a16:creationId xmlns:a16="http://schemas.microsoft.com/office/drawing/2014/main" id="{B9065EC4-3B17-757C-7722-1A9F4DB03276}"/>
                </a:ext>
              </a:extLst>
            </p:cNvPr>
            <p:cNvSpPr txBox="1">
              <a:spLocks noChangeArrowheads="1"/>
            </p:cNvSpPr>
            <p:nvPr/>
          </p:nvSpPr>
          <p:spPr bwMode="auto">
            <a:xfrm>
              <a:off x="546" y="1392"/>
              <a:ext cx="219" cy="107"/>
            </a:xfrm>
            <a:prstGeom prst="rect">
              <a:avLst/>
            </a:prstGeom>
            <a:solidFill>
              <a:srgbClr val="FFFFFF"/>
            </a:solidFill>
            <a:ln w="9525">
              <a:solidFill>
                <a:srgbClr val="000000"/>
              </a:solidFill>
              <a:miter lim="800000"/>
              <a:headEnd/>
              <a:tailEnd/>
            </a:ln>
          </p:spPr>
          <p:txBody>
            <a:bodyPr lIns="74295" tIns="8890" rIns="74295" bIns="8890"/>
            <a:lstStyle/>
            <a:p>
              <a:endParaRPr lang="en-US" altLang="ja-JP"/>
            </a:p>
          </p:txBody>
        </p:sp>
        <p:sp>
          <p:nvSpPr>
            <p:cNvPr id="568348" name="Text Box 28">
              <a:extLst>
                <a:ext uri="{FF2B5EF4-FFF2-40B4-BE49-F238E27FC236}">
                  <a16:creationId xmlns:a16="http://schemas.microsoft.com/office/drawing/2014/main" id="{2C3E8E9E-3678-8949-889E-0E46A90B9357}"/>
                </a:ext>
              </a:extLst>
            </p:cNvPr>
            <p:cNvSpPr txBox="1">
              <a:spLocks noChangeArrowheads="1"/>
            </p:cNvSpPr>
            <p:nvPr/>
          </p:nvSpPr>
          <p:spPr bwMode="auto">
            <a:xfrm>
              <a:off x="509" y="1142"/>
              <a:ext cx="766"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dirty="0"/>
                <a:t>Employee</a:t>
              </a:r>
            </a:p>
            <a:p>
              <a:pPr algn="just"/>
              <a:r>
                <a:rPr lang="en-US" altLang="ja-JP" sz="1800" dirty="0"/>
                <a:t>emp</a:t>
              </a:r>
            </a:p>
          </p:txBody>
        </p:sp>
        <p:sp>
          <p:nvSpPr>
            <p:cNvPr id="568349" name="Cloud">
              <a:extLst>
                <a:ext uri="{FF2B5EF4-FFF2-40B4-BE49-F238E27FC236}">
                  <a16:creationId xmlns:a16="http://schemas.microsoft.com/office/drawing/2014/main" id="{FE8C85AF-5EF2-2CD0-D981-D79FA3499674}"/>
                </a:ext>
              </a:extLst>
            </p:cNvPr>
            <p:cNvSpPr>
              <a:spLocks noChangeAspect="1" noEditPoints="1" noChangeArrowheads="1"/>
            </p:cNvSpPr>
            <p:nvPr/>
          </p:nvSpPr>
          <p:spPr bwMode="auto">
            <a:xfrm>
              <a:off x="788" y="1379"/>
              <a:ext cx="1611" cy="113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9525">
              <a:solidFill>
                <a:srgbClr val="000000"/>
              </a:solidFill>
              <a:miter lim="800000"/>
              <a:headEnd/>
              <a:tailEnd/>
            </a:ln>
            <a:effectLst>
              <a:outerShdw dist="107763" dir="2700000" algn="ctr" rotWithShape="0">
                <a:srgbClr val="808080"/>
              </a:outerShdw>
            </a:effectLst>
          </p:spPr>
          <p:txBody>
            <a:bodyPr tIns="9720" bIns="9720"/>
            <a:lstStyle/>
            <a:p>
              <a:endParaRPr lang="en-US" altLang="ja-JP"/>
            </a:p>
          </p:txBody>
        </p:sp>
        <p:grpSp>
          <p:nvGrpSpPr>
            <p:cNvPr id="568379" name="Group 59">
              <a:extLst>
                <a:ext uri="{FF2B5EF4-FFF2-40B4-BE49-F238E27FC236}">
                  <a16:creationId xmlns:a16="http://schemas.microsoft.com/office/drawing/2014/main" id="{1931A665-BC96-B632-6CF6-6B8426ECF3DD}"/>
                </a:ext>
              </a:extLst>
            </p:cNvPr>
            <p:cNvGrpSpPr>
              <a:grpSpLocks/>
            </p:cNvGrpSpPr>
            <p:nvPr/>
          </p:nvGrpSpPr>
          <p:grpSpPr bwMode="auto">
            <a:xfrm>
              <a:off x="882" y="1639"/>
              <a:ext cx="1578" cy="1071"/>
              <a:chOff x="882" y="1639"/>
              <a:chExt cx="1578" cy="1071"/>
            </a:xfrm>
          </p:grpSpPr>
          <p:grpSp>
            <p:nvGrpSpPr>
              <p:cNvPr id="568378" name="Group 58">
                <a:extLst>
                  <a:ext uri="{FF2B5EF4-FFF2-40B4-BE49-F238E27FC236}">
                    <a16:creationId xmlns:a16="http://schemas.microsoft.com/office/drawing/2014/main" id="{428C7DEF-085A-8EFE-1F84-3E2E86316B34}"/>
                  </a:ext>
                </a:extLst>
              </p:cNvPr>
              <p:cNvGrpSpPr>
                <a:grpSpLocks/>
              </p:cNvGrpSpPr>
              <p:nvPr/>
            </p:nvGrpSpPr>
            <p:grpSpPr bwMode="auto">
              <a:xfrm>
                <a:off x="882" y="1639"/>
                <a:ext cx="1578" cy="1071"/>
                <a:chOff x="882" y="1639"/>
                <a:chExt cx="1578" cy="1071"/>
              </a:xfrm>
            </p:grpSpPr>
            <p:sp>
              <p:nvSpPr>
                <p:cNvPr id="568356" name="Text Box 36">
                  <a:extLst>
                    <a:ext uri="{FF2B5EF4-FFF2-40B4-BE49-F238E27FC236}">
                      <a16:creationId xmlns:a16="http://schemas.microsoft.com/office/drawing/2014/main" id="{65A3634A-58AB-DAE0-FAAB-1D5C5674ED64}"/>
                    </a:ext>
                  </a:extLst>
                </p:cNvPr>
                <p:cNvSpPr txBox="1">
                  <a:spLocks noChangeArrowheads="1"/>
                </p:cNvSpPr>
                <p:nvPr/>
              </p:nvSpPr>
              <p:spPr bwMode="auto">
                <a:xfrm>
                  <a:off x="882" y="1639"/>
                  <a:ext cx="1578" cy="1071"/>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t>Thuộc</a:t>
                  </a:r>
                  <a:r>
                    <a:rPr lang="en-US" altLang="ja-JP" b="0" dirty="0"/>
                    <a:t> </a:t>
                  </a:r>
                  <a:r>
                    <a:rPr lang="en-US" altLang="ja-JP" b="0" dirty="0" err="1"/>
                    <a:t>tính</a:t>
                  </a:r>
                  <a:r>
                    <a:rPr lang="ja-JP" altLang="en-US" b="0" dirty="0"/>
                    <a:t>：</a:t>
                  </a:r>
                </a:p>
                <a:p>
                  <a:pPr algn="just"/>
                  <a:r>
                    <a:rPr lang="en-US" altLang="ja-JP" b="0" dirty="0" err="1">
                      <a:ea typeface="ＭＳ ゴシック" panose="020B0609070205080204" pitchFamily="49" charset="-128"/>
                    </a:rPr>
                    <a:t>empId</a:t>
                  </a:r>
                  <a:endParaRPr lang="en-US" altLang="ja-JP" b="0" dirty="0">
                    <a:ea typeface="ＭＳ ゴシック" panose="020B0609070205080204" pitchFamily="49" charset="-128"/>
                  </a:endParaRPr>
                </a:p>
                <a:p>
                  <a:pPr algn="just"/>
                  <a:r>
                    <a:rPr lang="en-US" altLang="ja-JP" b="0" dirty="0" err="1">
                      <a:ea typeface="ＭＳ ゴシック" panose="020B0609070205080204" pitchFamily="49" charset="-128"/>
                    </a:rPr>
                    <a:t>empName</a:t>
                  </a:r>
                  <a:endParaRPr lang="en-US" altLang="ja-JP" b="0" dirty="0">
                    <a:ea typeface="ＭＳ ゴシック" panose="020B0609070205080204" pitchFamily="49" charset="-128"/>
                  </a:endParaRPr>
                </a:p>
                <a:p>
                  <a:pPr algn="just">
                    <a:lnSpc>
                      <a:spcPct val="96000"/>
                    </a:lnSpc>
                  </a:pPr>
                  <a:endParaRPr lang="en-US" altLang="ja-JP" b="0" dirty="0"/>
                </a:p>
                <a:p>
                  <a:pPr algn="just">
                    <a:lnSpc>
                      <a:spcPct val="96000"/>
                    </a:lnSpc>
                  </a:pPr>
                  <a:r>
                    <a:rPr lang="en-US" altLang="ja-JP" b="0" dirty="0"/>
                    <a:t>Thao </a:t>
                  </a:r>
                  <a:r>
                    <a:rPr lang="en-US" altLang="ja-JP" b="0" dirty="0" err="1"/>
                    <a:t>tác</a:t>
                  </a:r>
                  <a:r>
                    <a:rPr lang="ja-JP" altLang="en-US" b="0" dirty="0"/>
                    <a:t>：</a:t>
                  </a:r>
                </a:p>
                <a:p>
                  <a:pPr algn="just"/>
                  <a:r>
                    <a:rPr lang="en-US" altLang="ja-JP" b="0" dirty="0" err="1">
                      <a:ea typeface="ＭＳ ゴシック" panose="020B0609070205080204" pitchFamily="49" charset="-128"/>
                    </a:rPr>
                    <a:t>printInfo</a:t>
                  </a:r>
                  <a:r>
                    <a:rPr lang="en-US" altLang="ja-JP" b="0" dirty="0">
                      <a:ea typeface="ＭＳ ゴシック" panose="020B0609070205080204" pitchFamily="49" charset="-128"/>
                    </a:rPr>
                    <a:t>():void</a:t>
                  </a:r>
                </a:p>
              </p:txBody>
            </p:sp>
            <p:sp>
              <p:nvSpPr>
                <p:cNvPr id="568357" name="Rectangle 37">
                  <a:extLst>
                    <a:ext uri="{FF2B5EF4-FFF2-40B4-BE49-F238E27FC236}">
                      <a16:creationId xmlns:a16="http://schemas.microsoft.com/office/drawing/2014/main" id="{286DA5D6-FDD1-FB0A-F94D-6350456E3C67}"/>
                    </a:ext>
                  </a:extLst>
                </p:cNvPr>
                <p:cNvSpPr>
                  <a:spLocks noChangeArrowheads="1"/>
                </p:cNvSpPr>
                <p:nvPr/>
              </p:nvSpPr>
              <p:spPr bwMode="auto">
                <a:xfrm>
                  <a:off x="1570" y="2014"/>
                  <a:ext cx="866" cy="146"/>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ja-JP" altLang="en-US" b="0" dirty="0"/>
                    <a:t>田中花子</a:t>
                  </a:r>
                </a:p>
              </p:txBody>
            </p:sp>
            <p:sp>
              <p:nvSpPr>
                <p:cNvPr id="568358" name="Rectangle 38">
                  <a:extLst>
                    <a:ext uri="{FF2B5EF4-FFF2-40B4-BE49-F238E27FC236}">
                      <a16:creationId xmlns:a16="http://schemas.microsoft.com/office/drawing/2014/main" id="{560D130F-788D-9329-BF84-BD9E9FF6BFC5}"/>
                    </a:ext>
                  </a:extLst>
                </p:cNvPr>
                <p:cNvSpPr>
                  <a:spLocks noChangeArrowheads="1"/>
                </p:cNvSpPr>
                <p:nvPr/>
              </p:nvSpPr>
              <p:spPr bwMode="auto">
                <a:xfrm>
                  <a:off x="1496" y="1820"/>
                  <a:ext cx="790" cy="190"/>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dirty="0"/>
                    <a:t>987654</a:t>
                  </a:r>
                </a:p>
              </p:txBody>
            </p:sp>
          </p:grpSp>
          <p:sp>
            <p:nvSpPr>
              <p:cNvPr id="568359" name="Line 39">
                <a:extLst>
                  <a:ext uri="{FF2B5EF4-FFF2-40B4-BE49-F238E27FC236}">
                    <a16:creationId xmlns:a16="http://schemas.microsoft.com/office/drawing/2014/main" id="{A2C5671B-F134-570B-26B6-31998E1362CF}"/>
                  </a:ext>
                </a:extLst>
              </p:cNvPr>
              <p:cNvSpPr>
                <a:spLocks noChangeShapeType="1"/>
              </p:cNvSpPr>
              <p:nvPr/>
            </p:nvSpPr>
            <p:spPr bwMode="auto">
              <a:xfrm>
                <a:off x="882" y="2208"/>
                <a:ext cx="102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
          <p:nvSpPr>
            <p:cNvPr id="568360" name="Line 40">
              <a:extLst>
                <a:ext uri="{FF2B5EF4-FFF2-40B4-BE49-F238E27FC236}">
                  <a16:creationId xmlns:a16="http://schemas.microsoft.com/office/drawing/2014/main" id="{BBA588D5-92F9-704A-2205-B793C986348D}"/>
                </a:ext>
              </a:extLst>
            </p:cNvPr>
            <p:cNvSpPr>
              <a:spLocks noChangeShapeType="1"/>
            </p:cNvSpPr>
            <p:nvPr/>
          </p:nvSpPr>
          <p:spPr bwMode="auto">
            <a:xfrm>
              <a:off x="3499" y="1445"/>
              <a:ext cx="124" cy="1577"/>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68361" name="AutoShape 41">
              <a:extLst>
                <a:ext uri="{FF2B5EF4-FFF2-40B4-BE49-F238E27FC236}">
                  <a16:creationId xmlns:a16="http://schemas.microsoft.com/office/drawing/2014/main" id="{5C7297D3-4258-227B-C078-994A44FD0AF0}"/>
                </a:ext>
              </a:extLst>
            </p:cNvPr>
            <p:cNvSpPr>
              <a:spLocks noChangeArrowheads="1"/>
            </p:cNvSpPr>
            <p:nvPr/>
          </p:nvSpPr>
          <p:spPr bwMode="auto">
            <a:xfrm rot="2529273">
              <a:off x="3594" y="1309"/>
              <a:ext cx="302" cy="580"/>
            </a:xfrm>
            <a:prstGeom prst="rightArrow">
              <a:avLst>
                <a:gd name="adj1" fmla="val 50000"/>
                <a:gd name="adj2" fmla="val 25000"/>
              </a:avLst>
            </a:prstGeom>
            <a:solidFill>
              <a:srgbClr val="FF00FF">
                <a:alpha val="50000"/>
              </a:srgbClr>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8362" name="Line 42">
              <a:extLst>
                <a:ext uri="{FF2B5EF4-FFF2-40B4-BE49-F238E27FC236}">
                  <a16:creationId xmlns:a16="http://schemas.microsoft.com/office/drawing/2014/main" id="{2BAE2B13-5A76-8A11-8F44-7A8DEDCABCE6}"/>
                </a:ext>
              </a:extLst>
            </p:cNvPr>
            <p:cNvSpPr>
              <a:spLocks noChangeShapeType="1"/>
            </p:cNvSpPr>
            <p:nvPr/>
          </p:nvSpPr>
          <p:spPr bwMode="auto">
            <a:xfrm flipV="1">
              <a:off x="3523" y="1245"/>
              <a:ext cx="1086" cy="183"/>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68363" name="AutoShape 43">
              <a:extLst>
                <a:ext uri="{FF2B5EF4-FFF2-40B4-BE49-F238E27FC236}">
                  <a16:creationId xmlns:a16="http://schemas.microsoft.com/office/drawing/2014/main" id="{46585D77-5C62-EE88-E806-E554722211A7}"/>
                </a:ext>
              </a:extLst>
            </p:cNvPr>
            <p:cNvSpPr>
              <a:spLocks noChangeArrowheads="1"/>
            </p:cNvSpPr>
            <p:nvPr/>
          </p:nvSpPr>
          <p:spPr bwMode="auto">
            <a:xfrm>
              <a:off x="2189" y="1336"/>
              <a:ext cx="1053" cy="537"/>
            </a:xfrm>
            <a:prstGeom prst="wedgeRoundRectCallout">
              <a:avLst>
                <a:gd name="adj1" fmla="val -50856"/>
                <a:gd name="adj2" fmla="val 53352"/>
                <a:gd name="adj3" fmla="val 16667"/>
              </a:avLst>
            </a:prstGeom>
            <a:solidFill>
              <a:srgbClr val="FFFF99"/>
            </a:solidFill>
            <a:ln w="9525">
              <a:solidFill>
                <a:srgbClr val="000000"/>
              </a:solidFill>
              <a:miter lim="800000"/>
              <a:headEnd/>
              <a:tailEnd/>
            </a:ln>
          </p:spPr>
          <p:txBody>
            <a:bodyPr lIns="74295" tIns="8890" rIns="74295" bIns="8890"/>
            <a:lstStyle/>
            <a:p>
              <a:pPr algn="ctr"/>
              <a:r>
                <a:rPr lang="en-US" altLang="ja-JP" sz="1800" dirty="0" err="1">
                  <a:latin typeface="+mj-lt"/>
                </a:rPr>
                <a:t>Tính</a:t>
              </a:r>
              <a:r>
                <a:rPr lang="en-US" altLang="ja-JP" sz="1800" dirty="0">
                  <a:latin typeface="+mj-lt"/>
                </a:rPr>
                <a:t> </a:t>
              </a:r>
              <a:r>
                <a:rPr lang="en-US" altLang="ja-JP" sz="1800" dirty="0" err="1">
                  <a:latin typeface="+mj-lt"/>
                </a:rPr>
                <a:t>chất</a:t>
              </a:r>
              <a:r>
                <a:rPr lang="en-US" altLang="ja-JP" sz="1800" dirty="0">
                  <a:latin typeface="+mj-lt"/>
                </a:rPr>
                <a:t> </a:t>
              </a:r>
              <a:r>
                <a:rPr lang="en-US" altLang="ja-JP" sz="1800" dirty="0" err="1">
                  <a:latin typeface="+mj-lt"/>
                </a:rPr>
                <a:t>đa</a:t>
              </a:r>
              <a:r>
                <a:rPr lang="en-US" altLang="ja-JP" sz="1800" dirty="0">
                  <a:latin typeface="+mj-lt"/>
                </a:rPr>
                <a:t>̃ </a:t>
              </a:r>
              <a:r>
                <a:rPr lang="en-US" altLang="ja-JP" sz="1800" dirty="0" err="1">
                  <a:latin typeface="+mj-lt"/>
                </a:rPr>
                <a:t>định</a:t>
              </a:r>
              <a:r>
                <a:rPr lang="en-US" altLang="ja-JP" sz="1800" dirty="0">
                  <a:latin typeface="+mj-lt"/>
                </a:rPr>
                <a:t> </a:t>
              </a:r>
              <a:r>
                <a:rPr lang="en-US" altLang="ja-JP" sz="1800" dirty="0" err="1">
                  <a:latin typeface="+mj-lt"/>
                </a:rPr>
                <a:t>nghĩa</a:t>
              </a:r>
              <a:r>
                <a:rPr lang="en-US" altLang="ja-JP" sz="1800" dirty="0">
                  <a:latin typeface="+mj-lt"/>
                </a:rPr>
                <a:t> ở Employee</a:t>
              </a:r>
            </a:p>
          </p:txBody>
        </p:sp>
      </p:grpSp>
      <p:sp>
        <p:nvSpPr>
          <p:cNvPr id="568365" name="Text Box 45">
            <a:extLst>
              <a:ext uri="{FF2B5EF4-FFF2-40B4-BE49-F238E27FC236}">
                <a16:creationId xmlns:a16="http://schemas.microsoft.com/office/drawing/2014/main" id="{74FB071E-BC8F-5797-4467-A51CB8E46840}"/>
              </a:ext>
            </a:extLst>
          </p:cNvPr>
          <p:cNvSpPr txBox="1">
            <a:spLocks noChangeArrowheads="1"/>
          </p:cNvSpPr>
          <p:nvPr/>
        </p:nvSpPr>
        <p:spPr bwMode="auto">
          <a:xfrm>
            <a:off x="5024438" y="1325563"/>
            <a:ext cx="4440237"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r>
              <a:rPr lang="en-US" altLang="ja-JP" sz="1800"/>
              <a:t>●</a:t>
            </a:r>
            <a:r>
              <a:rPr lang="ja-JP" altLang="en-US" sz="1800"/>
              <a:t>　</a:t>
            </a:r>
            <a:r>
              <a:rPr lang="en-US" altLang="ja-JP" sz="1800">
                <a:ea typeface="ＭＳ ゴシック" panose="020B0609070205080204" pitchFamily="49" charset="-128"/>
              </a:rPr>
              <a:t>Sales</a:t>
            </a:r>
            <a:r>
              <a:rPr lang="ja-JP" altLang="en-US" sz="1800">
                <a:ea typeface="ＭＳ ゴシック" panose="020B0609070205080204" pitchFamily="49" charset="-128"/>
              </a:rPr>
              <a:t>　</a:t>
            </a:r>
            <a:r>
              <a:rPr lang="en-US" altLang="ja-JP" sz="1800">
                <a:ea typeface="ＭＳ ゴシック" panose="020B0609070205080204" pitchFamily="49" charset="-128"/>
              </a:rPr>
              <a:t>sa = new </a:t>
            </a:r>
            <a:r>
              <a:rPr lang="en-US" altLang="en-US" sz="1800">
                <a:ea typeface="ＭＳ ゴシック" panose="020B0609070205080204" pitchFamily="49" charset="-128"/>
              </a:rPr>
              <a:t>Employee</a:t>
            </a:r>
            <a:r>
              <a:rPr lang="en-US" altLang="ja-JP" sz="1800">
                <a:ea typeface="ＭＳ ゴシック" panose="020B0609070205080204" pitchFamily="49" charset="-128"/>
              </a:rPr>
              <a:t> ();</a:t>
            </a:r>
          </a:p>
        </p:txBody>
      </p:sp>
      <p:sp>
        <p:nvSpPr>
          <p:cNvPr id="568366" name="Text Box 46">
            <a:extLst>
              <a:ext uri="{FF2B5EF4-FFF2-40B4-BE49-F238E27FC236}">
                <a16:creationId xmlns:a16="http://schemas.microsoft.com/office/drawing/2014/main" id="{D3F851AC-DC50-827C-FD47-9A200A30CF93}"/>
              </a:ext>
            </a:extLst>
          </p:cNvPr>
          <p:cNvSpPr txBox="1">
            <a:spLocks noChangeArrowheads="1"/>
          </p:cNvSpPr>
          <p:nvPr/>
        </p:nvSpPr>
        <p:spPr bwMode="auto">
          <a:xfrm>
            <a:off x="344488" y="1325563"/>
            <a:ext cx="4686300"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r>
              <a:rPr lang="en-US" altLang="ja-JP" sz="1800"/>
              <a:t>●</a:t>
            </a:r>
            <a:r>
              <a:rPr lang="ja-JP" altLang="en-US" sz="1800"/>
              <a:t>　</a:t>
            </a:r>
            <a:r>
              <a:rPr lang="en-US" altLang="ja-JP" sz="1800">
                <a:ea typeface="ＭＳ ゴシック" panose="020B0609070205080204" pitchFamily="49" charset="-128"/>
              </a:rPr>
              <a:t>Employee emp = </a:t>
            </a:r>
            <a:r>
              <a:rPr lang="en-US" altLang="en-US" sz="1800">
                <a:ea typeface="ＭＳ ゴシック" panose="020B0609070205080204" pitchFamily="49" charset="-128"/>
              </a:rPr>
              <a:t>new </a:t>
            </a:r>
            <a:r>
              <a:rPr lang="en-US" altLang="ja-JP" sz="1800">
                <a:ea typeface="ＭＳ ゴシック" panose="020B0609070205080204" pitchFamily="49" charset="-128"/>
              </a:rPr>
              <a:t>Employee</a:t>
            </a:r>
            <a:r>
              <a:rPr lang="en-US" altLang="en-US" sz="1800">
                <a:ea typeface="ＭＳ ゴシック" panose="020B0609070205080204" pitchFamily="49" charset="-128"/>
              </a:rPr>
              <a:t>();</a:t>
            </a:r>
            <a:endParaRPr lang="en-US" altLang="ja-JP" sz="1800">
              <a:ea typeface="ＭＳ ゴシック" panose="020B0609070205080204" pitchFamily="49" charset="-128"/>
            </a:endParaRPr>
          </a:p>
        </p:txBody>
      </p:sp>
      <p:sp>
        <p:nvSpPr>
          <p:cNvPr id="568367" name="AutoShape 47">
            <a:extLst>
              <a:ext uri="{FF2B5EF4-FFF2-40B4-BE49-F238E27FC236}">
                <a16:creationId xmlns:a16="http://schemas.microsoft.com/office/drawing/2014/main" id="{2888DD8B-6B7E-8C4F-7A9C-C4A18E852244}"/>
              </a:ext>
            </a:extLst>
          </p:cNvPr>
          <p:cNvSpPr>
            <a:spLocks noChangeArrowheads="1"/>
          </p:cNvSpPr>
          <p:nvPr/>
        </p:nvSpPr>
        <p:spPr bwMode="auto">
          <a:xfrm>
            <a:off x="7316788" y="651510"/>
            <a:ext cx="2513012" cy="588328"/>
          </a:xfrm>
          <a:prstGeom prst="wedgeRoundRectCallout">
            <a:avLst>
              <a:gd name="adj1" fmla="val -59329"/>
              <a:gd name="adj2" fmla="val 69870"/>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500" dirty="0" err="1">
                <a:latin typeface="+mj-lt"/>
              </a:rPr>
              <a:t>Không</a:t>
            </a:r>
            <a:r>
              <a:rPr lang="en-US" altLang="ja-JP" sz="1500" dirty="0">
                <a:latin typeface="+mj-lt"/>
              </a:rPr>
              <a:t> </a:t>
            </a:r>
            <a:r>
              <a:rPr lang="en-US" altLang="ja-JP" sz="1500" dirty="0" err="1">
                <a:latin typeface="+mj-lt"/>
              </a:rPr>
              <a:t>thê</a:t>
            </a:r>
            <a:r>
              <a:rPr lang="en-US" altLang="ja-JP" sz="1500" dirty="0">
                <a:latin typeface="+mj-lt"/>
              </a:rPr>
              <a:t>̉ convert </a:t>
            </a:r>
            <a:r>
              <a:rPr lang="en-US" altLang="ja-JP" sz="1500" dirty="0" err="1">
                <a:latin typeface="+mj-lt"/>
              </a:rPr>
              <a:t>ngầm</a:t>
            </a:r>
            <a:r>
              <a:rPr lang="ja-JP" altLang="en-US" sz="1500" dirty="0">
                <a:latin typeface="+mj-lt"/>
              </a:rPr>
              <a:t>！</a:t>
            </a:r>
          </a:p>
          <a:p>
            <a:pPr algn="ctr"/>
            <a:r>
              <a:rPr lang="ja-JP" altLang="en-US" sz="1500" dirty="0">
                <a:latin typeface="+mj-lt"/>
              </a:rPr>
              <a:t>（</a:t>
            </a:r>
            <a:r>
              <a:rPr lang="en-US" altLang="ja-JP" sz="1500" dirty="0" err="1">
                <a:latin typeface="+mj-lt"/>
              </a:rPr>
              <a:t>Employee→Sales</a:t>
            </a:r>
            <a:r>
              <a:rPr lang="ja-JP" altLang="en-US" sz="1500" dirty="0">
                <a:latin typeface="+mj-lt"/>
              </a:rPr>
              <a:t>）</a:t>
            </a:r>
          </a:p>
        </p:txBody>
      </p:sp>
      <p:sp>
        <p:nvSpPr>
          <p:cNvPr id="568369" name="Cloud">
            <a:extLst>
              <a:ext uri="{FF2B5EF4-FFF2-40B4-BE49-F238E27FC236}">
                <a16:creationId xmlns:a16="http://schemas.microsoft.com/office/drawing/2014/main" id="{E55B682F-E9D5-93BA-3334-40BB64060594}"/>
              </a:ext>
            </a:extLst>
          </p:cNvPr>
          <p:cNvSpPr>
            <a:spLocks noChangeAspect="1" noEditPoints="1" noChangeArrowheads="1"/>
          </p:cNvSpPr>
          <p:nvPr/>
        </p:nvSpPr>
        <p:spPr bwMode="auto">
          <a:xfrm>
            <a:off x="6169025" y="2003425"/>
            <a:ext cx="2571750" cy="195262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9525">
            <a:solidFill>
              <a:srgbClr val="000000"/>
            </a:solidFill>
            <a:miter lim="800000"/>
            <a:headEnd/>
            <a:tailEnd/>
          </a:ln>
          <a:effectLst>
            <a:outerShdw dist="107763" dir="2700000" algn="ctr" rotWithShape="0">
              <a:srgbClr val="808080"/>
            </a:outerShdw>
          </a:effectLst>
        </p:spPr>
        <p:txBody>
          <a:bodyPr tIns="9720" bIns="9720"/>
          <a:lstStyle/>
          <a:p>
            <a:endParaRPr lang="en-US" altLang="ja-JP"/>
          </a:p>
        </p:txBody>
      </p:sp>
      <p:grpSp>
        <p:nvGrpSpPr>
          <p:cNvPr id="568383" name="Group 63">
            <a:extLst>
              <a:ext uri="{FF2B5EF4-FFF2-40B4-BE49-F238E27FC236}">
                <a16:creationId xmlns:a16="http://schemas.microsoft.com/office/drawing/2014/main" id="{0FD4DBEA-C829-8E14-46CA-E3D35321FB96}"/>
              </a:ext>
            </a:extLst>
          </p:cNvPr>
          <p:cNvGrpSpPr>
            <a:grpSpLocks/>
          </p:cNvGrpSpPr>
          <p:nvPr/>
        </p:nvGrpSpPr>
        <p:grpSpPr bwMode="auto">
          <a:xfrm>
            <a:off x="6699932" y="2439988"/>
            <a:ext cx="2732313" cy="942974"/>
            <a:chOff x="4165" y="1537"/>
            <a:chExt cx="1029" cy="639"/>
          </a:xfrm>
        </p:grpSpPr>
        <p:grpSp>
          <p:nvGrpSpPr>
            <p:cNvPr id="568380" name="Group 60">
              <a:extLst>
                <a:ext uri="{FF2B5EF4-FFF2-40B4-BE49-F238E27FC236}">
                  <a16:creationId xmlns:a16="http://schemas.microsoft.com/office/drawing/2014/main" id="{83496039-5FE2-F9A7-61B8-A241DA004EAA}"/>
                </a:ext>
              </a:extLst>
            </p:cNvPr>
            <p:cNvGrpSpPr>
              <a:grpSpLocks/>
            </p:cNvGrpSpPr>
            <p:nvPr/>
          </p:nvGrpSpPr>
          <p:grpSpPr bwMode="auto">
            <a:xfrm>
              <a:off x="4165" y="1537"/>
              <a:ext cx="1029" cy="639"/>
              <a:chOff x="4165" y="1537"/>
              <a:chExt cx="1029" cy="639"/>
            </a:xfrm>
          </p:grpSpPr>
          <p:sp>
            <p:nvSpPr>
              <p:cNvPr id="568372" name="Text Box 52">
                <a:extLst>
                  <a:ext uri="{FF2B5EF4-FFF2-40B4-BE49-F238E27FC236}">
                    <a16:creationId xmlns:a16="http://schemas.microsoft.com/office/drawing/2014/main" id="{561D8E29-E96A-0A0D-57DD-D674781E9B98}"/>
                  </a:ext>
                </a:extLst>
              </p:cNvPr>
              <p:cNvSpPr txBox="1">
                <a:spLocks noChangeArrowheads="1"/>
              </p:cNvSpPr>
              <p:nvPr/>
            </p:nvSpPr>
            <p:spPr bwMode="auto">
              <a:xfrm>
                <a:off x="4165" y="1537"/>
                <a:ext cx="1029" cy="639"/>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mj-lt"/>
                  </a:rPr>
                  <a:t>Thuộc</a:t>
                </a:r>
                <a:r>
                  <a:rPr lang="en-US" altLang="ja-JP" b="0" dirty="0">
                    <a:latin typeface="+mj-lt"/>
                  </a:rPr>
                  <a:t> </a:t>
                </a:r>
                <a:r>
                  <a:rPr lang="en-US" altLang="ja-JP" b="0" dirty="0" err="1">
                    <a:latin typeface="+mj-lt"/>
                  </a:rPr>
                  <a:t>tính</a:t>
                </a:r>
                <a:r>
                  <a:rPr lang="ja-JP" altLang="en-US" b="0" dirty="0">
                    <a:latin typeface="+mj-lt"/>
                  </a:rPr>
                  <a:t>：</a:t>
                </a:r>
              </a:p>
              <a:p>
                <a:pPr algn="just"/>
                <a:r>
                  <a:rPr lang="en-US" altLang="ja-JP" b="0" dirty="0" err="1">
                    <a:latin typeface="+mj-lt"/>
                    <a:ea typeface="ＭＳ ゴシック" panose="020B0609070205080204" pitchFamily="49" charset="-128"/>
                  </a:rPr>
                  <a:t>empId</a:t>
                </a:r>
                <a:endParaRPr lang="en-US" altLang="ja-JP" b="0" dirty="0">
                  <a:latin typeface="+mj-lt"/>
                  <a:ea typeface="ＭＳ ゴシック" panose="020B0609070205080204" pitchFamily="49" charset="-128"/>
                </a:endParaRPr>
              </a:p>
              <a:p>
                <a:pPr algn="just"/>
                <a:r>
                  <a:rPr lang="en-US" altLang="ja-JP" b="0" dirty="0" err="1">
                    <a:latin typeface="+mj-lt"/>
                    <a:ea typeface="ＭＳ ゴシック" panose="020B0609070205080204" pitchFamily="49" charset="-128"/>
                  </a:rPr>
                  <a:t>empName</a:t>
                </a:r>
                <a:endParaRPr lang="en-US" altLang="ja-JP" b="0" dirty="0">
                  <a:latin typeface="+mj-lt"/>
                  <a:ea typeface="ＭＳ ゴシック" panose="020B0609070205080204" pitchFamily="49" charset="-128"/>
                </a:endParaRPr>
              </a:p>
              <a:p>
                <a:pPr algn="just">
                  <a:lnSpc>
                    <a:spcPct val="96000"/>
                  </a:lnSpc>
                </a:pPr>
                <a:endParaRPr lang="en-US" altLang="ja-JP" b="0" dirty="0">
                  <a:latin typeface="+mj-lt"/>
                </a:endParaRPr>
              </a:p>
              <a:p>
                <a:pPr algn="just">
                  <a:lnSpc>
                    <a:spcPct val="96000"/>
                  </a:lnSpc>
                </a:pPr>
                <a:r>
                  <a:rPr lang="en-US" altLang="ja-JP" b="0" dirty="0">
                    <a:latin typeface="+mj-lt"/>
                  </a:rPr>
                  <a:t>Thao </a:t>
                </a:r>
                <a:r>
                  <a:rPr lang="en-US" altLang="ja-JP" b="0" dirty="0" err="1">
                    <a:latin typeface="+mj-lt"/>
                  </a:rPr>
                  <a:t>tác</a:t>
                </a:r>
                <a:r>
                  <a:rPr lang="en-US" altLang="ja-JP" dirty="0">
                    <a:latin typeface="+mj-lt"/>
                  </a:rPr>
                  <a:t> </a:t>
                </a:r>
                <a:r>
                  <a:rPr lang="ja-JP" altLang="en-US" b="0" dirty="0">
                    <a:latin typeface="+mj-lt"/>
                  </a:rPr>
                  <a:t>：</a:t>
                </a:r>
                <a:r>
                  <a:rPr lang="en-US" altLang="ja-JP" b="0" dirty="0" err="1">
                    <a:latin typeface="+mj-lt"/>
                    <a:ea typeface="ＭＳ ゴシック" panose="020B0609070205080204" pitchFamily="49" charset="-128"/>
                  </a:rPr>
                  <a:t>printInfo</a:t>
                </a:r>
                <a:r>
                  <a:rPr lang="en-US" altLang="ja-JP" b="0" dirty="0">
                    <a:latin typeface="+mj-lt"/>
                    <a:ea typeface="ＭＳ ゴシック" panose="020B0609070205080204" pitchFamily="49" charset="-128"/>
                  </a:rPr>
                  <a:t>():void</a:t>
                </a:r>
              </a:p>
            </p:txBody>
          </p:sp>
          <p:sp>
            <p:nvSpPr>
              <p:cNvPr id="568373" name="Rectangle 53">
                <a:extLst>
                  <a:ext uri="{FF2B5EF4-FFF2-40B4-BE49-F238E27FC236}">
                    <a16:creationId xmlns:a16="http://schemas.microsoft.com/office/drawing/2014/main" id="{BB50C52C-4805-F603-313F-682FDEAA39C9}"/>
                  </a:ext>
                </a:extLst>
              </p:cNvPr>
              <p:cNvSpPr>
                <a:spLocks noChangeArrowheads="1"/>
              </p:cNvSpPr>
              <p:nvPr/>
            </p:nvSpPr>
            <p:spPr bwMode="auto">
              <a:xfrm>
                <a:off x="4613" y="1957"/>
                <a:ext cx="394" cy="174"/>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ja-JP" altLang="en-US" b="0" dirty="0"/>
                  <a:t>田中花子</a:t>
                </a:r>
              </a:p>
            </p:txBody>
          </p:sp>
          <p:sp>
            <p:nvSpPr>
              <p:cNvPr id="568374" name="Rectangle 54">
                <a:extLst>
                  <a:ext uri="{FF2B5EF4-FFF2-40B4-BE49-F238E27FC236}">
                    <a16:creationId xmlns:a16="http://schemas.microsoft.com/office/drawing/2014/main" id="{FE00144E-C89F-1593-D10A-397C5E78048F}"/>
                  </a:ext>
                </a:extLst>
              </p:cNvPr>
              <p:cNvSpPr>
                <a:spLocks noChangeArrowheads="1"/>
              </p:cNvSpPr>
              <p:nvPr/>
            </p:nvSpPr>
            <p:spPr bwMode="auto">
              <a:xfrm>
                <a:off x="4613" y="1697"/>
                <a:ext cx="398" cy="218"/>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dirty="0"/>
                  <a:t>987654</a:t>
                </a:r>
              </a:p>
            </p:txBody>
          </p:sp>
        </p:grpSp>
        <p:sp>
          <p:nvSpPr>
            <p:cNvPr id="568375" name="Line 55">
              <a:extLst>
                <a:ext uri="{FF2B5EF4-FFF2-40B4-BE49-F238E27FC236}">
                  <a16:creationId xmlns:a16="http://schemas.microsoft.com/office/drawing/2014/main" id="{DB4FA829-9EA3-5F0D-78F6-A1F65904BF63}"/>
                </a:ext>
              </a:extLst>
            </p:cNvPr>
            <p:cNvSpPr>
              <a:spLocks noChangeShapeType="1"/>
            </p:cNvSpPr>
            <p:nvPr/>
          </p:nvSpPr>
          <p:spPr bwMode="auto">
            <a:xfrm>
              <a:off x="4165" y="1905"/>
              <a:ext cx="102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
        <p:nvSpPr>
          <p:cNvPr id="568376" name="AutoShape 56">
            <a:extLst>
              <a:ext uri="{FF2B5EF4-FFF2-40B4-BE49-F238E27FC236}">
                <a16:creationId xmlns:a16="http://schemas.microsoft.com/office/drawing/2014/main" id="{15D4C4A6-5A36-EC83-455B-5B5F1365D9B3}"/>
              </a:ext>
            </a:extLst>
          </p:cNvPr>
          <p:cNvSpPr>
            <a:spLocks noChangeArrowheads="1"/>
          </p:cNvSpPr>
          <p:nvPr/>
        </p:nvSpPr>
        <p:spPr bwMode="auto">
          <a:xfrm>
            <a:off x="8031163" y="1747838"/>
            <a:ext cx="1671637" cy="833437"/>
          </a:xfrm>
          <a:prstGeom prst="wedgeRoundRectCallout">
            <a:avLst>
              <a:gd name="adj1" fmla="val -37181"/>
              <a:gd name="adj2" fmla="val 49236"/>
              <a:gd name="adj3" fmla="val 16667"/>
            </a:avLst>
          </a:prstGeom>
          <a:solidFill>
            <a:srgbClr val="FFFF99"/>
          </a:solidFill>
          <a:ln w="9525">
            <a:solidFill>
              <a:srgbClr val="000000"/>
            </a:solidFill>
            <a:miter lim="800000"/>
            <a:headEnd/>
            <a:tailEnd/>
          </a:ln>
        </p:spPr>
        <p:txBody>
          <a:bodyPr lIns="74295" tIns="8890" rIns="74295" bIns="8890"/>
          <a:lstStyle/>
          <a:p>
            <a:pPr algn="ctr"/>
            <a:r>
              <a:rPr lang="en-US" altLang="ja-JP" sz="1800" dirty="0" err="1">
                <a:latin typeface="+mj-lt"/>
              </a:rPr>
              <a:t>Tính</a:t>
            </a:r>
            <a:r>
              <a:rPr lang="en-US" altLang="ja-JP" sz="1800" dirty="0">
                <a:latin typeface="+mj-lt"/>
              </a:rPr>
              <a:t> </a:t>
            </a:r>
            <a:r>
              <a:rPr lang="en-US" altLang="ja-JP" sz="1800" dirty="0" err="1">
                <a:latin typeface="+mj-lt"/>
              </a:rPr>
              <a:t>chất</a:t>
            </a:r>
            <a:r>
              <a:rPr lang="en-US" altLang="ja-JP" sz="1800" dirty="0">
                <a:latin typeface="+mj-lt"/>
              </a:rPr>
              <a:t> </a:t>
            </a:r>
            <a:r>
              <a:rPr lang="en-US" altLang="ja-JP" sz="1800" dirty="0" err="1">
                <a:latin typeface="+mj-lt"/>
              </a:rPr>
              <a:t>đa</a:t>
            </a:r>
            <a:r>
              <a:rPr lang="en-US" altLang="ja-JP" sz="1800" dirty="0">
                <a:latin typeface="+mj-lt"/>
              </a:rPr>
              <a:t>̃ </a:t>
            </a:r>
            <a:r>
              <a:rPr lang="en-US" altLang="ja-JP" sz="1800" dirty="0" err="1">
                <a:latin typeface="+mj-lt"/>
              </a:rPr>
              <a:t>định</a:t>
            </a:r>
            <a:r>
              <a:rPr lang="en-US" altLang="ja-JP" sz="1800" dirty="0">
                <a:latin typeface="+mj-lt"/>
              </a:rPr>
              <a:t> </a:t>
            </a:r>
            <a:r>
              <a:rPr lang="en-US" altLang="ja-JP" sz="1800" dirty="0" err="1">
                <a:latin typeface="+mj-lt"/>
              </a:rPr>
              <a:t>nghĩa</a:t>
            </a:r>
            <a:r>
              <a:rPr lang="en-US" altLang="ja-JP" sz="1800" dirty="0">
                <a:latin typeface="+mj-lt"/>
              </a:rPr>
              <a:t> ở Employee</a:t>
            </a:r>
          </a:p>
        </p:txBody>
      </p:sp>
      <p:sp>
        <p:nvSpPr>
          <p:cNvPr id="568377" name="Text Box 57">
            <a:extLst>
              <a:ext uri="{FF2B5EF4-FFF2-40B4-BE49-F238E27FC236}">
                <a16:creationId xmlns:a16="http://schemas.microsoft.com/office/drawing/2014/main" id="{D5D4CBB0-EAE9-F20C-0786-5748ECF4BE0A}"/>
              </a:ext>
            </a:extLst>
          </p:cNvPr>
          <p:cNvSpPr txBox="1">
            <a:spLocks noChangeArrowheads="1"/>
          </p:cNvSpPr>
          <p:nvPr/>
        </p:nvSpPr>
        <p:spPr bwMode="auto">
          <a:xfrm>
            <a:off x="8666163" y="1266825"/>
            <a:ext cx="1033462"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r>
              <a:rPr lang="en-US" altLang="ja-JP" sz="2800">
                <a:solidFill>
                  <a:srgbClr val="FF00FF"/>
                </a:solidFill>
              </a:rPr>
              <a:t>←×</a:t>
            </a:r>
          </a:p>
        </p:txBody>
      </p:sp>
      <p:grpSp>
        <p:nvGrpSpPr>
          <p:cNvPr id="568384" name="Group 64">
            <a:extLst>
              <a:ext uri="{FF2B5EF4-FFF2-40B4-BE49-F238E27FC236}">
                <a16:creationId xmlns:a16="http://schemas.microsoft.com/office/drawing/2014/main" id="{4E81B31A-D23A-6E82-8B9A-A14F68A8A630}"/>
              </a:ext>
            </a:extLst>
          </p:cNvPr>
          <p:cNvGrpSpPr>
            <a:grpSpLocks/>
          </p:cNvGrpSpPr>
          <p:nvPr/>
        </p:nvGrpSpPr>
        <p:grpSpPr bwMode="auto">
          <a:xfrm>
            <a:off x="1006475" y="1790700"/>
            <a:ext cx="8823325" cy="4686300"/>
            <a:chOff x="634" y="1128"/>
            <a:chExt cx="5558" cy="2952"/>
          </a:xfrm>
        </p:grpSpPr>
        <p:sp>
          <p:nvSpPr>
            <p:cNvPr id="568340" name="AutoShape 20">
              <a:extLst>
                <a:ext uri="{FF2B5EF4-FFF2-40B4-BE49-F238E27FC236}">
                  <a16:creationId xmlns:a16="http://schemas.microsoft.com/office/drawing/2014/main" id="{8304726E-5A3D-19C6-1AF3-0B1BE6D5432D}"/>
                </a:ext>
              </a:extLst>
            </p:cNvPr>
            <p:cNvSpPr>
              <a:spLocks noChangeArrowheads="1"/>
            </p:cNvSpPr>
            <p:nvPr/>
          </p:nvSpPr>
          <p:spPr bwMode="auto">
            <a:xfrm>
              <a:off x="3635" y="2538"/>
              <a:ext cx="2477" cy="1356"/>
            </a:xfrm>
            <a:prstGeom prst="wedgeRoundRectCallout">
              <a:avLst>
                <a:gd name="adj1" fmla="val -3574"/>
                <a:gd name="adj2" fmla="val 30384"/>
                <a:gd name="adj3" fmla="val 16667"/>
              </a:avLst>
            </a:prstGeom>
            <a:solidFill>
              <a:srgbClr val="FFCC99"/>
            </a:solidFill>
            <a:ln w="9525">
              <a:solidFill>
                <a:srgbClr val="000000"/>
              </a:solidFill>
              <a:prstDash val="dash"/>
              <a:miter lim="800000"/>
              <a:headEnd/>
              <a:tailEnd/>
            </a:ln>
          </p:spPr>
          <p:txBody>
            <a:bodyPr lIns="74295" tIns="8890" rIns="74295" bIns="8890"/>
            <a:lstStyle/>
            <a:p>
              <a:pPr algn="just"/>
              <a:r>
                <a:rPr lang="en-US" altLang="ja-JP" sz="1800" dirty="0" err="1">
                  <a:latin typeface="+mj-lt"/>
                </a:rPr>
                <a:t>Không</a:t>
              </a:r>
              <a:r>
                <a:rPr lang="en-US" altLang="ja-JP" sz="1800" dirty="0">
                  <a:latin typeface="+mj-lt"/>
                </a:rPr>
                <a:t> </a:t>
              </a:r>
              <a:r>
                <a:rPr lang="en-US" altLang="ja-JP" sz="1800" dirty="0" err="1">
                  <a:latin typeface="+mj-lt"/>
                </a:rPr>
                <a:t>tồn</a:t>
              </a:r>
              <a:r>
                <a:rPr lang="en-US" altLang="ja-JP" sz="1800" dirty="0">
                  <a:latin typeface="+mj-lt"/>
                </a:rPr>
                <a:t> </a:t>
              </a:r>
              <a:r>
                <a:rPr lang="en-US" altLang="ja-JP" sz="1800" dirty="0" err="1">
                  <a:latin typeface="+mj-lt"/>
                </a:rPr>
                <a:t>tại</a:t>
              </a:r>
              <a:r>
                <a:rPr lang="en-US" altLang="ja-JP" sz="1800" dirty="0">
                  <a:latin typeface="+mj-lt"/>
                </a:rPr>
                <a:t> </a:t>
              </a:r>
              <a:r>
                <a:rPr lang="en-US" altLang="ja-JP" sz="1800" dirty="0" err="1">
                  <a:latin typeface="+mj-lt"/>
                </a:rPr>
                <a:t>tính</a:t>
              </a:r>
              <a:r>
                <a:rPr lang="en-US" altLang="ja-JP" sz="1800" dirty="0">
                  <a:latin typeface="+mj-lt"/>
                </a:rPr>
                <a:t> </a:t>
              </a:r>
              <a:r>
                <a:rPr lang="en-US" altLang="ja-JP" sz="1800" dirty="0" err="1">
                  <a:latin typeface="+mj-lt"/>
                </a:rPr>
                <a:t>chất</a:t>
              </a:r>
              <a:r>
                <a:rPr lang="en-US" altLang="ja-JP" sz="1800" dirty="0">
                  <a:latin typeface="+mj-lt"/>
                </a:rPr>
                <a:t> </a:t>
              </a:r>
              <a:r>
                <a:rPr lang="en-US" altLang="ja-JP" sz="1800" dirty="0" err="1">
                  <a:latin typeface="+mj-lt"/>
                </a:rPr>
                <a:t>cô</a:t>
              </a:r>
              <a:r>
                <a:rPr lang="en-US" altLang="ja-JP" sz="1800" dirty="0">
                  <a:latin typeface="+mj-lt"/>
                </a:rPr>
                <a:t>́ </a:t>
              </a:r>
              <a:r>
                <a:rPr lang="en-US" altLang="ja-JP" sz="1800" dirty="0" err="1">
                  <a:latin typeface="+mj-lt"/>
                </a:rPr>
                <a:t>hữu</a:t>
              </a:r>
              <a:r>
                <a:rPr lang="en-US" altLang="ja-JP" sz="1800" dirty="0">
                  <a:latin typeface="+mj-lt"/>
                </a:rPr>
                <a:t> ở Sales object</a:t>
              </a:r>
              <a:r>
                <a:rPr lang="ja-JP" altLang="en-US" sz="1800" dirty="0">
                  <a:latin typeface="+mj-lt"/>
                </a:rPr>
                <a:t>！</a:t>
              </a:r>
            </a:p>
          </p:txBody>
        </p:sp>
        <p:sp>
          <p:nvSpPr>
            <p:cNvPr id="568325" name="Text Box 5">
              <a:extLst>
                <a:ext uri="{FF2B5EF4-FFF2-40B4-BE49-F238E27FC236}">
                  <a16:creationId xmlns:a16="http://schemas.microsoft.com/office/drawing/2014/main" id="{978A19AF-3BA3-F93A-8151-D64881219CEC}"/>
                </a:ext>
              </a:extLst>
            </p:cNvPr>
            <p:cNvSpPr txBox="1">
              <a:spLocks noChangeArrowheads="1"/>
            </p:cNvSpPr>
            <p:nvPr/>
          </p:nvSpPr>
          <p:spPr bwMode="auto">
            <a:xfrm>
              <a:off x="3408" y="1380"/>
              <a:ext cx="219" cy="107"/>
            </a:xfrm>
            <a:prstGeom prst="rect">
              <a:avLst/>
            </a:prstGeom>
            <a:solidFill>
              <a:srgbClr val="FFFFFF"/>
            </a:solidFill>
            <a:ln w="9525">
              <a:solidFill>
                <a:srgbClr val="000000"/>
              </a:solidFill>
              <a:miter lim="800000"/>
              <a:headEnd/>
              <a:tailEnd/>
            </a:ln>
          </p:spPr>
          <p:txBody>
            <a:bodyPr lIns="74295" tIns="8890" rIns="74295" bIns="8890"/>
            <a:lstStyle/>
            <a:p>
              <a:endParaRPr lang="en-US" altLang="ja-JP"/>
            </a:p>
          </p:txBody>
        </p:sp>
        <p:sp>
          <p:nvSpPr>
            <p:cNvPr id="568327" name="Text Box 7">
              <a:extLst>
                <a:ext uri="{FF2B5EF4-FFF2-40B4-BE49-F238E27FC236}">
                  <a16:creationId xmlns:a16="http://schemas.microsoft.com/office/drawing/2014/main" id="{46758CA5-3DDE-44EF-7BCE-1C0CBD388BED}"/>
                </a:ext>
              </a:extLst>
            </p:cNvPr>
            <p:cNvSpPr txBox="1">
              <a:spLocks noChangeArrowheads="1"/>
            </p:cNvSpPr>
            <p:nvPr/>
          </p:nvSpPr>
          <p:spPr bwMode="auto">
            <a:xfrm>
              <a:off x="3401" y="1138"/>
              <a:ext cx="583"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dirty="0"/>
                <a:t>Sales</a:t>
              </a:r>
            </a:p>
            <a:p>
              <a:pPr algn="just"/>
              <a:r>
                <a:rPr lang="en-US" altLang="ja-JP" sz="1800" dirty="0" err="1"/>
                <a:t>sa</a:t>
              </a:r>
              <a:endParaRPr lang="en-US" altLang="ja-JP" sz="1800" dirty="0"/>
            </a:p>
          </p:txBody>
        </p:sp>
        <p:grpSp>
          <p:nvGrpSpPr>
            <p:cNvPr id="568330" name="Group 10">
              <a:extLst>
                <a:ext uri="{FF2B5EF4-FFF2-40B4-BE49-F238E27FC236}">
                  <a16:creationId xmlns:a16="http://schemas.microsoft.com/office/drawing/2014/main" id="{B04F2BBE-6E38-B8A6-F29E-7C3988720B9B}"/>
                </a:ext>
              </a:extLst>
            </p:cNvPr>
            <p:cNvGrpSpPr>
              <a:grpSpLocks/>
            </p:cNvGrpSpPr>
            <p:nvPr/>
          </p:nvGrpSpPr>
          <p:grpSpPr bwMode="auto">
            <a:xfrm>
              <a:off x="3792" y="2979"/>
              <a:ext cx="2400" cy="1101"/>
              <a:chOff x="4518" y="6756"/>
              <a:chExt cx="5006" cy="2752"/>
            </a:xfrm>
          </p:grpSpPr>
          <p:sp>
            <p:nvSpPr>
              <p:cNvPr id="568331" name="Text Box 11">
                <a:extLst>
                  <a:ext uri="{FF2B5EF4-FFF2-40B4-BE49-F238E27FC236}">
                    <a16:creationId xmlns:a16="http://schemas.microsoft.com/office/drawing/2014/main" id="{288CC140-2564-C5CE-A691-5F967F1A7BA0}"/>
                  </a:ext>
                </a:extLst>
              </p:cNvPr>
              <p:cNvSpPr txBox="1">
                <a:spLocks noChangeArrowheads="1"/>
              </p:cNvSpPr>
              <p:nvPr/>
            </p:nvSpPr>
            <p:spPr bwMode="auto">
              <a:xfrm>
                <a:off x="4518" y="6756"/>
                <a:ext cx="5006" cy="2752"/>
              </a:xfrm>
              <a:prstGeom prst="rect">
                <a:avLst/>
              </a:prstGeom>
              <a:solidFill>
                <a:srgbClr val="CCFFCC"/>
              </a:solidFill>
              <a:ln w="9525">
                <a:solidFill>
                  <a:srgbClr val="000000"/>
                </a:solidFill>
                <a:prstDash val="sys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mj-lt"/>
                  </a:rPr>
                  <a:t>Thuộc</a:t>
                </a:r>
                <a:r>
                  <a:rPr lang="en-US" altLang="ja-JP" b="0" dirty="0">
                    <a:latin typeface="+mj-lt"/>
                  </a:rPr>
                  <a:t> </a:t>
                </a:r>
                <a:r>
                  <a:rPr lang="en-US" altLang="ja-JP" b="0" dirty="0" err="1">
                    <a:latin typeface="+mj-lt"/>
                  </a:rPr>
                  <a:t>tính</a:t>
                </a:r>
                <a:r>
                  <a:rPr lang="en-US" altLang="ja-JP" dirty="0">
                    <a:latin typeface="+mj-lt"/>
                  </a:rPr>
                  <a:t> </a:t>
                </a:r>
                <a:r>
                  <a:rPr lang="ja-JP" altLang="en-US" b="0" dirty="0">
                    <a:latin typeface="+mj-lt"/>
                  </a:rPr>
                  <a:t>：</a:t>
                </a:r>
              </a:p>
              <a:p>
                <a:pPr algn="just">
                  <a:lnSpc>
                    <a:spcPct val="96000"/>
                  </a:lnSpc>
                </a:pPr>
                <a:r>
                  <a:rPr lang="en-US" altLang="ja-JP" b="0" dirty="0" err="1">
                    <a:latin typeface="+mj-lt"/>
                    <a:ea typeface="ＭＳ ゴシック" panose="020B0609070205080204" pitchFamily="49" charset="-128"/>
                  </a:rPr>
                  <a:t>customerCount</a:t>
                </a:r>
                <a:endParaRPr lang="en-US" altLang="ja-JP" b="0" dirty="0">
                  <a:latin typeface="+mj-lt"/>
                  <a:ea typeface="ＭＳ ゴシック" panose="020B0609070205080204" pitchFamily="49" charset="-128"/>
                </a:endParaRPr>
              </a:p>
              <a:p>
                <a:pPr algn="just">
                  <a:lnSpc>
                    <a:spcPct val="96000"/>
                  </a:lnSpc>
                </a:pPr>
                <a:endParaRPr lang="en-US" altLang="ja-JP" b="0" dirty="0">
                  <a:latin typeface="+mj-lt"/>
                  <a:ea typeface="ＭＳ ゴシック" panose="020B0609070205080204" pitchFamily="49" charset="-128"/>
                </a:endParaRPr>
              </a:p>
              <a:p>
                <a:pPr algn="just">
                  <a:lnSpc>
                    <a:spcPct val="96000"/>
                  </a:lnSpc>
                </a:pPr>
                <a:r>
                  <a:rPr lang="en-US" altLang="ja-JP" b="0" dirty="0">
                    <a:latin typeface="+mj-lt"/>
                  </a:rPr>
                  <a:t>Thao </a:t>
                </a:r>
                <a:r>
                  <a:rPr lang="en-US" altLang="ja-JP" b="0" dirty="0" err="1">
                    <a:latin typeface="+mj-lt"/>
                  </a:rPr>
                  <a:t>tác</a:t>
                </a:r>
                <a:r>
                  <a:rPr lang="en-US" altLang="ja-JP" dirty="0">
                    <a:latin typeface="+mj-lt"/>
                  </a:rPr>
                  <a:t> </a:t>
                </a:r>
                <a:r>
                  <a:rPr lang="ja-JP" altLang="en-US" b="0" dirty="0">
                    <a:latin typeface="+mj-lt"/>
                  </a:rPr>
                  <a:t>：</a:t>
                </a:r>
              </a:p>
              <a:p>
                <a:pPr algn="just">
                  <a:lnSpc>
                    <a:spcPct val="96000"/>
                  </a:lnSpc>
                </a:pPr>
                <a:r>
                  <a:rPr lang="en-US" altLang="ja-JP" b="0" dirty="0">
                    <a:latin typeface="+mj-lt"/>
                    <a:ea typeface="ＭＳ ゴシック" panose="020B0609070205080204" pitchFamily="49" charset="-128"/>
                  </a:rPr>
                  <a:t>Sales(</a:t>
                </a:r>
                <a:r>
                  <a:rPr lang="en-US" altLang="ja-JP" b="0" dirty="0" err="1">
                    <a:latin typeface="+mj-lt"/>
                    <a:ea typeface="ＭＳ ゴシック" panose="020B0609070205080204" pitchFamily="49" charset="-128"/>
                  </a:rPr>
                  <a:t>id:String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ename:String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cnt:int</a:t>
                </a:r>
                <a:r>
                  <a:rPr lang="en-US" altLang="ja-JP" b="0" dirty="0">
                    <a:latin typeface="+mj-lt"/>
                    <a:ea typeface="ＭＳ ゴシック" panose="020B0609070205080204" pitchFamily="49" charset="-128"/>
                  </a:rPr>
                  <a:t>)</a:t>
                </a:r>
              </a:p>
              <a:p>
                <a:pPr algn="just">
                  <a:lnSpc>
                    <a:spcPct val="96000"/>
                  </a:lnSpc>
                </a:pPr>
                <a:r>
                  <a:rPr lang="en-US" altLang="ja-JP" b="0" dirty="0" err="1">
                    <a:latin typeface="+mj-lt"/>
                    <a:ea typeface="ＭＳ ゴシック" panose="020B0609070205080204" pitchFamily="49" charset="-128"/>
                  </a:rPr>
                  <a:t>addCount</a:t>
                </a:r>
                <a:r>
                  <a:rPr lang="en-US" altLang="ja-JP" b="0" dirty="0">
                    <a:latin typeface="+mj-lt"/>
                    <a:ea typeface="ＭＳ ゴシック" panose="020B0609070205080204" pitchFamily="49" charset="-128"/>
                  </a:rPr>
                  <a:t>():void</a:t>
                </a:r>
              </a:p>
              <a:p>
                <a:pPr algn="just">
                  <a:lnSpc>
                    <a:spcPct val="96000"/>
                  </a:lnSpc>
                </a:pPr>
                <a:r>
                  <a:rPr lang="en-US" altLang="ja-JP" b="0" dirty="0" err="1">
                    <a:latin typeface="+mj-lt"/>
                    <a:ea typeface="ＭＳ ゴシック" panose="020B0609070205080204" pitchFamily="49" charset="-128"/>
                  </a:rPr>
                  <a:t>getCount</a:t>
                </a:r>
                <a:r>
                  <a:rPr lang="en-US" altLang="ja-JP" b="0" dirty="0">
                    <a:latin typeface="+mj-lt"/>
                    <a:ea typeface="ＭＳ ゴシック" panose="020B0609070205080204" pitchFamily="49" charset="-128"/>
                  </a:rPr>
                  <a:t>():int</a:t>
                </a:r>
              </a:p>
            </p:txBody>
          </p:sp>
          <p:sp>
            <p:nvSpPr>
              <p:cNvPr id="568332" name="Line 12">
                <a:extLst>
                  <a:ext uri="{FF2B5EF4-FFF2-40B4-BE49-F238E27FC236}">
                    <a16:creationId xmlns:a16="http://schemas.microsoft.com/office/drawing/2014/main" id="{C914813D-200E-F500-9AC2-9FB4F57F8AA5}"/>
                  </a:ext>
                </a:extLst>
              </p:cNvPr>
              <p:cNvSpPr>
                <a:spLocks noChangeShapeType="1"/>
              </p:cNvSpPr>
              <p:nvPr/>
            </p:nvSpPr>
            <p:spPr bwMode="auto">
              <a:xfrm>
                <a:off x="5290" y="7468"/>
                <a:ext cx="3391" cy="3"/>
              </a:xfrm>
              <a:prstGeom prst="line">
                <a:avLst/>
              </a:prstGeom>
              <a:noFill/>
              <a:ln w="9525">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68333" name="Rectangle 13">
                <a:extLst>
                  <a:ext uri="{FF2B5EF4-FFF2-40B4-BE49-F238E27FC236}">
                    <a16:creationId xmlns:a16="http://schemas.microsoft.com/office/drawing/2014/main" id="{A56780A6-74B3-28AA-3BB6-3FA09A0694FC}"/>
                  </a:ext>
                </a:extLst>
              </p:cNvPr>
              <p:cNvSpPr>
                <a:spLocks noChangeArrowheads="1"/>
              </p:cNvSpPr>
              <p:nvPr/>
            </p:nvSpPr>
            <p:spPr bwMode="auto">
              <a:xfrm>
                <a:off x="6623" y="7258"/>
                <a:ext cx="596" cy="273"/>
              </a:xfrm>
              <a:prstGeom prst="rect">
                <a:avLst/>
              </a:prstGeom>
              <a:solidFill>
                <a:srgbClr val="CCFFCC"/>
              </a:solidFill>
              <a:ln w="9525">
                <a:solidFill>
                  <a:srgbClr val="000000"/>
                </a:solidFill>
                <a:prstDash val="sys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endParaRPr lang="en-US" altLang="ja-JP" b="0"/>
              </a:p>
            </p:txBody>
          </p:sp>
        </p:grpSp>
        <p:sp>
          <p:nvSpPr>
            <p:cNvPr id="568343" name="AutoShape 23">
              <a:extLst>
                <a:ext uri="{FF2B5EF4-FFF2-40B4-BE49-F238E27FC236}">
                  <a16:creationId xmlns:a16="http://schemas.microsoft.com/office/drawing/2014/main" id="{5A97FD2F-F828-31A8-E906-3BF30F5ACBA1}"/>
                </a:ext>
              </a:extLst>
            </p:cNvPr>
            <p:cNvSpPr>
              <a:spLocks noChangeArrowheads="1"/>
            </p:cNvSpPr>
            <p:nvPr/>
          </p:nvSpPr>
          <p:spPr bwMode="auto">
            <a:xfrm rot="1982922">
              <a:off x="758" y="1432"/>
              <a:ext cx="225" cy="301"/>
            </a:xfrm>
            <a:prstGeom prst="rightArrow">
              <a:avLst>
                <a:gd name="adj1" fmla="val 50000"/>
                <a:gd name="adj2" fmla="val 25000"/>
              </a:avLst>
            </a:prstGeom>
            <a:solidFill>
              <a:srgbClr val="99CC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8328" name="Text Box 8">
              <a:extLst>
                <a:ext uri="{FF2B5EF4-FFF2-40B4-BE49-F238E27FC236}">
                  <a16:creationId xmlns:a16="http://schemas.microsoft.com/office/drawing/2014/main" id="{9F2E3603-224F-CA5B-B46E-1A148809DD8E}"/>
                </a:ext>
              </a:extLst>
            </p:cNvPr>
            <p:cNvSpPr txBox="1">
              <a:spLocks noChangeArrowheads="1"/>
            </p:cNvSpPr>
            <p:nvPr/>
          </p:nvSpPr>
          <p:spPr bwMode="auto">
            <a:xfrm>
              <a:off x="892" y="1128"/>
              <a:ext cx="1602"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ctr"/>
              <a:r>
                <a:rPr lang="en-US" altLang="ja-JP" sz="1800"/>
                <a:t>Object</a:t>
              </a:r>
            </a:p>
          </p:txBody>
        </p:sp>
        <p:sp>
          <p:nvSpPr>
            <p:cNvPr id="568326" name="Line 6">
              <a:extLst>
                <a:ext uri="{FF2B5EF4-FFF2-40B4-BE49-F238E27FC236}">
                  <a16:creationId xmlns:a16="http://schemas.microsoft.com/office/drawing/2014/main" id="{81D53BD1-9A02-A66C-A24A-179EA19F7E02}"/>
                </a:ext>
              </a:extLst>
            </p:cNvPr>
            <p:cNvSpPr>
              <a:spLocks noChangeShapeType="1"/>
            </p:cNvSpPr>
            <p:nvPr/>
          </p:nvSpPr>
          <p:spPr bwMode="auto">
            <a:xfrm flipV="1">
              <a:off x="636" y="1373"/>
              <a:ext cx="1150" cy="51"/>
            </a:xfrm>
            <a:prstGeom prst="line">
              <a:avLst/>
            </a:prstGeom>
            <a:noFill/>
            <a:ln w="28575">
              <a:solidFill>
                <a:srgbClr val="00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68342" name="Line 22">
              <a:extLst>
                <a:ext uri="{FF2B5EF4-FFF2-40B4-BE49-F238E27FC236}">
                  <a16:creationId xmlns:a16="http://schemas.microsoft.com/office/drawing/2014/main" id="{12F5DB6A-7739-4977-6ECF-2587466B9AE5}"/>
                </a:ext>
              </a:extLst>
            </p:cNvPr>
            <p:cNvSpPr>
              <a:spLocks noChangeShapeType="1"/>
            </p:cNvSpPr>
            <p:nvPr/>
          </p:nvSpPr>
          <p:spPr bwMode="auto">
            <a:xfrm>
              <a:off x="634" y="1428"/>
              <a:ext cx="218" cy="852"/>
            </a:xfrm>
            <a:prstGeom prst="line">
              <a:avLst/>
            </a:prstGeom>
            <a:noFill/>
            <a:ln w="28575">
              <a:solidFill>
                <a:srgbClr val="00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527" name="Text Box 63">
            <a:extLst>
              <a:ext uri="{FF2B5EF4-FFF2-40B4-BE49-F238E27FC236}">
                <a16:creationId xmlns:a16="http://schemas.microsoft.com/office/drawing/2014/main" id="{2EC6D31A-F877-AFFB-4392-0BA322F2B1C2}"/>
              </a:ext>
            </a:extLst>
          </p:cNvPr>
          <p:cNvSpPr txBox="1">
            <a:spLocks noChangeArrowheads="1"/>
          </p:cNvSpPr>
          <p:nvPr/>
        </p:nvSpPr>
        <p:spPr bwMode="auto">
          <a:xfrm>
            <a:off x="8250238" y="3644289"/>
            <a:ext cx="665162" cy="422886"/>
          </a:xfrm>
          <a:prstGeom prst="rect">
            <a:avLst/>
          </a:prstGeom>
          <a:solidFill>
            <a:srgbClr val="FFFFFF"/>
          </a:solidFill>
          <a:ln w="9525">
            <a:solidFill>
              <a:srgbClr val="000000"/>
            </a:solidFill>
            <a:miter lim="800000"/>
            <a:headEnd/>
            <a:tailEnd/>
          </a:ln>
        </p:spPr>
        <p:txBody>
          <a:bodyPr lIns="74295" tIns="8890" rIns="74295" bIns="8890"/>
          <a:lstStyle/>
          <a:p>
            <a:endParaRPr lang="en-US" altLang="ja-JP"/>
          </a:p>
        </p:txBody>
      </p:sp>
      <p:sp>
        <p:nvSpPr>
          <p:cNvPr id="574548" name="Text Box 84">
            <a:extLst>
              <a:ext uri="{FF2B5EF4-FFF2-40B4-BE49-F238E27FC236}">
                <a16:creationId xmlns:a16="http://schemas.microsoft.com/office/drawing/2014/main" id="{3236F2EE-7206-0D43-0567-220C7A445DA4}"/>
              </a:ext>
            </a:extLst>
          </p:cNvPr>
          <p:cNvSpPr txBox="1">
            <a:spLocks noChangeArrowheads="1"/>
          </p:cNvSpPr>
          <p:nvPr/>
        </p:nvSpPr>
        <p:spPr bwMode="auto">
          <a:xfrm>
            <a:off x="584994" y="3284538"/>
            <a:ext cx="861219" cy="238810"/>
          </a:xfrm>
          <a:prstGeom prst="rect">
            <a:avLst/>
          </a:prstGeom>
          <a:solidFill>
            <a:srgbClr val="FFFFFF"/>
          </a:solidFill>
          <a:ln w="9525">
            <a:solidFill>
              <a:srgbClr val="000000"/>
            </a:solidFill>
            <a:miter lim="800000"/>
            <a:headEnd/>
            <a:tailEnd/>
          </a:ln>
        </p:spPr>
        <p:txBody>
          <a:bodyPr lIns="74295" tIns="8890" rIns="74295" bIns="8890"/>
          <a:lstStyle/>
          <a:p>
            <a:endParaRPr lang="en-US" altLang="ja-JP"/>
          </a:p>
        </p:txBody>
      </p:sp>
      <p:sp>
        <p:nvSpPr>
          <p:cNvPr id="2" name="Slide Number Placeholder 4">
            <a:extLst>
              <a:ext uri="{FF2B5EF4-FFF2-40B4-BE49-F238E27FC236}">
                <a16:creationId xmlns:a16="http://schemas.microsoft.com/office/drawing/2014/main" id="{11881270-B4D7-433A-A38B-10467C2B9CDC}"/>
              </a:ext>
            </a:extLst>
          </p:cNvPr>
          <p:cNvSpPr>
            <a:spLocks noGrp="1"/>
          </p:cNvSpPr>
          <p:nvPr>
            <p:ph type="sldNum" sz="quarter" idx="10"/>
          </p:nvPr>
        </p:nvSpPr>
        <p:spPr/>
        <p:txBody>
          <a:bodyPr/>
          <a:lstStyle/>
          <a:p>
            <a:fld id="{A6071B40-B61C-4713-939B-888A9AF1CDBF}" type="slidenum">
              <a:rPr lang="en-US" altLang="ja-JP"/>
              <a:pPr/>
              <a:t>10</a:t>
            </a:fld>
            <a:endParaRPr lang="en-US" altLang="ja-JP"/>
          </a:p>
        </p:txBody>
      </p:sp>
      <p:sp>
        <p:nvSpPr>
          <p:cNvPr id="574528" name="Text Box 64">
            <a:extLst>
              <a:ext uri="{FF2B5EF4-FFF2-40B4-BE49-F238E27FC236}">
                <a16:creationId xmlns:a16="http://schemas.microsoft.com/office/drawing/2014/main" id="{5256E2D2-01F0-80AD-5DCD-CCB5F09D7BB9}"/>
              </a:ext>
            </a:extLst>
          </p:cNvPr>
          <p:cNvSpPr txBox="1">
            <a:spLocks noChangeArrowheads="1"/>
          </p:cNvSpPr>
          <p:nvPr/>
        </p:nvSpPr>
        <p:spPr bwMode="auto">
          <a:xfrm>
            <a:off x="8248650" y="3082925"/>
            <a:ext cx="1216025"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dirty="0"/>
              <a:t>Employee</a:t>
            </a:r>
          </a:p>
          <a:p>
            <a:pPr algn="just"/>
            <a:r>
              <a:rPr lang="ja-JP" altLang="en-US" sz="1800" dirty="0"/>
              <a:t>　　　</a:t>
            </a:r>
            <a:r>
              <a:rPr lang="en-US" altLang="ja-JP" sz="1800" dirty="0"/>
              <a:t>emp</a:t>
            </a:r>
          </a:p>
        </p:txBody>
      </p:sp>
      <p:sp>
        <p:nvSpPr>
          <p:cNvPr id="574467" name="Rectangle 3">
            <a:extLst>
              <a:ext uri="{FF2B5EF4-FFF2-40B4-BE49-F238E27FC236}">
                <a16:creationId xmlns:a16="http://schemas.microsoft.com/office/drawing/2014/main" id="{AEFE6BA0-E458-6A22-234C-92EC57FA3865}"/>
              </a:ext>
            </a:extLst>
          </p:cNvPr>
          <p:cNvSpPr>
            <a:spLocks noGrp="1" noChangeArrowheads="1"/>
          </p:cNvSpPr>
          <p:nvPr>
            <p:ph type="title"/>
          </p:nvPr>
        </p:nvSpPr>
        <p:spPr>
          <a:xfrm>
            <a:off x="334962" y="281781"/>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Cast </a:t>
            </a:r>
            <a:r>
              <a:rPr lang="en-US" altLang="ja-JP" dirty="0" err="1">
                <a:latin typeface="Arial" panose="020B0604020202020204" pitchFamily="34" charset="0"/>
                <a:ea typeface="MS UI Gothic" panose="020B0600070205080204" pitchFamily="50" charset="-128"/>
              </a:rPr>
              <a:t>kiểu</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tham</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chiếu</a:t>
            </a:r>
            <a:r>
              <a:rPr lang="en-US" altLang="ja-JP" dirty="0">
                <a:latin typeface="Arial" panose="020B0604020202020204" pitchFamily="34" charset="0"/>
                <a:ea typeface="MS UI Gothic" panose="020B0600070205080204" pitchFamily="50" charset="-128"/>
              </a:rPr>
              <a:t> (4)</a:t>
            </a:r>
          </a:p>
        </p:txBody>
      </p:sp>
      <p:sp>
        <p:nvSpPr>
          <p:cNvPr id="574468" name="Rectangle 4">
            <a:extLst>
              <a:ext uri="{FF2B5EF4-FFF2-40B4-BE49-F238E27FC236}">
                <a16:creationId xmlns:a16="http://schemas.microsoft.com/office/drawing/2014/main" id="{E009B898-F44A-CBD7-CC0F-D795FA05FC21}"/>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200" b="0">
                <a:latin typeface="Arial" panose="020B0604020202020204" pitchFamily="34" charset="0"/>
              </a:rPr>
              <a:t>Cast kiểu tham chiếu</a:t>
            </a:r>
            <a:r>
              <a:rPr lang="ja-JP" altLang="en-US" sz="2200" b="0">
                <a:latin typeface="Arial" panose="020B0604020202020204" pitchFamily="34" charset="0"/>
              </a:rPr>
              <a:t>（</a:t>
            </a:r>
            <a:r>
              <a:rPr lang="en-US" altLang="ja-JP" sz="2200" b="0">
                <a:latin typeface="Arial" panose="020B0604020202020204" pitchFamily="34" charset="0"/>
              </a:rPr>
              <a:t>sub-class</a:t>
            </a:r>
            <a:r>
              <a:rPr lang="ja-JP" altLang="en-US" sz="2200" b="0">
                <a:latin typeface="Arial" panose="020B0604020202020204" pitchFamily="34" charset="0"/>
              </a:rPr>
              <a:t>　⇒　</a:t>
            </a:r>
            <a:r>
              <a:rPr lang="en-US" altLang="ja-JP" sz="2200" b="0">
                <a:latin typeface="Arial" panose="020B0604020202020204" pitchFamily="34" charset="0"/>
              </a:rPr>
              <a:t>super class</a:t>
            </a:r>
            <a:r>
              <a:rPr lang="ja-JP" altLang="en-US" sz="2200" b="0">
                <a:latin typeface="Arial" panose="020B0604020202020204" pitchFamily="34" charset="0"/>
              </a:rPr>
              <a:t>　⇒　</a:t>
            </a:r>
            <a:r>
              <a:rPr lang="en-US" altLang="ja-JP" sz="2200" b="0">
                <a:latin typeface="Arial" panose="020B0604020202020204" pitchFamily="34" charset="0"/>
              </a:rPr>
              <a:t>sub-class</a:t>
            </a:r>
            <a:r>
              <a:rPr lang="ja-JP" altLang="en-US" sz="2200" b="0">
                <a:latin typeface="Arial" panose="020B0604020202020204" pitchFamily="34" charset="0"/>
              </a:rPr>
              <a:t>　）</a:t>
            </a:r>
          </a:p>
        </p:txBody>
      </p:sp>
      <p:sp>
        <p:nvSpPr>
          <p:cNvPr id="574479" name="AutoShape 15">
            <a:extLst>
              <a:ext uri="{FF2B5EF4-FFF2-40B4-BE49-F238E27FC236}">
                <a16:creationId xmlns:a16="http://schemas.microsoft.com/office/drawing/2014/main" id="{999B4DCF-4B12-6051-418D-CFD62FE4E084}"/>
              </a:ext>
            </a:extLst>
          </p:cNvPr>
          <p:cNvSpPr>
            <a:spLocks noChangeArrowheads="1"/>
          </p:cNvSpPr>
          <p:nvPr/>
        </p:nvSpPr>
        <p:spPr bwMode="auto">
          <a:xfrm>
            <a:off x="6538913" y="2057400"/>
            <a:ext cx="2925762" cy="839788"/>
          </a:xfrm>
          <a:prstGeom prst="wedgeRoundRectCallout">
            <a:avLst>
              <a:gd name="adj1" fmla="val 19884"/>
              <a:gd name="adj2" fmla="val 73819"/>
              <a:gd name="adj3" fmla="val 16667"/>
            </a:avLst>
          </a:prstGeom>
          <a:solidFill>
            <a:srgbClr val="FFFF99"/>
          </a:solidFill>
          <a:ln w="12700">
            <a:solidFill>
              <a:srgbClr val="FF00FF"/>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dirty="0">
                <a:latin typeface="+mj-lt"/>
              </a:rPr>
              <a:t>Chỉ có </a:t>
            </a:r>
            <a:r>
              <a:rPr lang="en-US" altLang="ja-JP" sz="1800" dirty="0" err="1">
                <a:latin typeface="+mj-lt"/>
              </a:rPr>
              <a:t>thê</a:t>
            </a:r>
            <a:r>
              <a:rPr lang="en-US" altLang="ja-JP" sz="1800" dirty="0">
                <a:latin typeface="+mj-lt"/>
              </a:rPr>
              <a:t>̉ access </a:t>
            </a:r>
            <a:r>
              <a:rPr lang="en-US" altLang="ja-JP" sz="1800" dirty="0" err="1">
                <a:latin typeface="+mj-lt"/>
              </a:rPr>
              <a:t>vào</a:t>
            </a:r>
            <a:r>
              <a:rPr lang="en-US" altLang="ja-JP" sz="1800" dirty="0">
                <a:latin typeface="+mj-lt"/>
              </a:rPr>
              <a:t> </a:t>
            </a:r>
            <a:r>
              <a:rPr lang="en-US" altLang="ja-JP" sz="1800" dirty="0" err="1">
                <a:latin typeface="+mj-lt"/>
              </a:rPr>
              <a:t>những</a:t>
            </a:r>
            <a:r>
              <a:rPr lang="en-US" altLang="ja-JP" sz="1800" dirty="0">
                <a:latin typeface="+mj-lt"/>
              </a:rPr>
              <a:t> </a:t>
            </a:r>
            <a:r>
              <a:rPr lang="en-US" altLang="ja-JP" sz="1800" dirty="0" err="1">
                <a:latin typeface="+mj-lt"/>
              </a:rPr>
              <a:t>tính</a:t>
            </a:r>
            <a:r>
              <a:rPr lang="en-US" altLang="ja-JP" sz="1800" dirty="0">
                <a:latin typeface="+mj-lt"/>
              </a:rPr>
              <a:t> </a:t>
            </a:r>
            <a:r>
              <a:rPr lang="en-US" altLang="ja-JP" sz="1800" dirty="0" err="1">
                <a:latin typeface="+mj-lt"/>
              </a:rPr>
              <a:t>chất</a:t>
            </a:r>
            <a:r>
              <a:rPr lang="en-US" altLang="ja-JP" sz="1800" dirty="0">
                <a:latin typeface="+mj-lt"/>
              </a:rPr>
              <a:t> </a:t>
            </a:r>
            <a:r>
              <a:rPr lang="en-US" altLang="ja-JP" sz="1800" dirty="0" err="1">
                <a:latin typeface="+mj-lt"/>
              </a:rPr>
              <a:t>đa</a:t>
            </a:r>
            <a:r>
              <a:rPr lang="en-US" altLang="ja-JP" sz="1800" dirty="0">
                <a:latin typeface="+mj-lt"/>
              </a:rPr>
              <a:t>̃ </a:t>
            </a:r>
            <a:r>
              <a:rPr lang="en-US" altLang="ja-JP" sz="1800" dirty="0" err="1">
                <a:latin typeface="+mj-lt"/>
              </a:rPr>
              <a:t>kê</a:t>
            </a:r>
            <a:r>
              <a:rPr lang="en-US" altLang="ja-JP" sz="1800" dirty="0">
                <a:latin typeface="+mj-lt"/>
              </a:rPr>
              <a:t>́ </a:t>
            </a:r>
            <a:r>
              <a:rPr lang="en-US" altLang="ja-JP" sz="1800" dirty="0" err="1">
                <a:latin typeface="+mj-lt"/>
              </a:rPr>
              <a:t>thừa</a:t>
            </a:r>
            <a:r>
              <a:rPr lang="en-US" altLang="ja-JP" sz="1800" dirty="0">
                <a:latin typeface="+mj-lt"/>
              </a:rPr>
              <a:t> </a:t>
            </a:r>
            <a:r>
              <a:rPr lang="en-US" altLang="ja-JP" sz="1800" dirty="0" err="1">
                <a:latin typeface="+mj-lt"/>
              </a:rPr>
              <a:t>tư</a:t>
            </a:r>
            <a:r>
              <a:rPr lang="en-US" altLang="ja-JP" sz="1800" dirty="0">
                <a:latin typeface="+mj-lt"/>
              </a:rPr>
              <a:t>̀ super class</a:t>
            </a:r>
            <a:r>
              <a:rPr lang="ja-JP" altLang="en-US" sz="1800" dirty="0">
                <a:latin typeface="+mj-lt"/>
              </a:rPr>
              <a:t>！</a:t>
            </a:r>
          </a:p>
        </p:txBody>
      </p:sp>
      <p:sp>
        <p:nvSpPr>
          <p:cNvPr id="574505" name="Rectangle 41">
            <a:extLst>
              <a:ext uri="{FF2B5EF4-FFF2-40B4-BE49-F238E27FC236}">
                <a16:creationId xmlns:a16="http://schemas.microsoft.com/office/drawing/2014/main" id="{56958225-7649-DDF0-5C24-87045FC7BAE6}"/>
              </a:ext>
            </a:extLst>
          </p:cNvPr>
          <p:cNvSpPr>
            <a:spLocks noChangeArrowheads="1"/>
          </p:cNvSpPr>
          <p:nvPr/>
        </p:nvSpPr>
        <p:spPr bwMode="auto">
          <a:xfrm>
            <a:off x="4700588" y="774700"/>
            <a:ext cx="4114800" cy="38100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74507" name="Text Box 43">
            <a:extLst>
              <a:ext uri="{FF2B5EF4-FFF2-40B4-BE49-F238E27FC236}">
                <a16:creationId xmlns:a16="http://schemas.microsoft.com/office/drawing/2014/main" id="{F6721308-4FF8-B28F-A55C-117C660CACC7}"/>
              </a:ext>
            </a:extLst>
          </p:cNvPr>
          <p:cNvSpPr txBox="1">
            <a:spLocks noChangeArrowheads="1"/>
          </p:cNvSpPr>
          <p:nvPr/>
        </p:nvSpPr>
        <p:spPr bwMode="auto">
          <a:xfrm>
            <a:off x="1379538" y="4978400"/>
            <a:ext cx="347662" cy="169863"/>
          </a:xfrm>
          <a:prstGeom prst="rect">
            <a:avLst/>
          </a:prstGeom>
          <a:solidFill>
            <a:srgbClr val="FFFFFF"/>
          </a:solidFill>
          <a:ln w="9525">
            <a:solidFill>
              <a:srgbClr val="000000"/>
            </a:solidFill>
            <a:miter lim="800000"/>
            <a:headEnd/>
            <a:tailEnd/>
          </a:ln>
        </p:spPr>
        <p:txBody>
          <a:bodyPr lIns="74295" tIns="8890" rIns="74295" bIns="8890"/>
          <a:lstStyle/>
          <a:p>
            <a:endParaRPr lang="en-US" altLang="ja-JP"/>
          </a:p>
        </p:txBody>
      </p:sp>
      <p:sp>
        <p:nvSpPr>
          <p:cNvPr id="574509" name="Text Box 45">
            <a:extLst>
              <a:ext uri="{FF2B5EF4-FFF2-40B4-BE49-F238E27FC236}">
                <a16:creationId xmlns:a16="http://schemas.microsoft.com/office/drawing/2014/main" id="{FA2282CE-39A4-2B04-D3AC-B5175BAFFF9F}"/>
              </a:ext>
            </a:extLst>
          </p:cNvPr>
          <p:cNvSpPr txBox="1">
            <a:spLocks noChangeArrowheads="1"/>
          </p:cNvSpPr>
          <p:nvPr/>
        </p:nvSpPr>
        <p:spPr bwMode="auto">
          <a:xfrm>
            <a:off x="889000" y="4586288"/>
            <a:ext cx="925513"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dirty="0"/>
              <a:t>Sales</a:t>
            </a:r>
          </a:p>
          <a:p>
            <a:pPr algn="just"/>
            <a:r>
              <a:rPr lang="ja-JP" altLang="en-US" sz="1800" dirty="0"/>
              <a:t>ｓａ</a:t>
            </a:r>
            <a:r>
              <a:rPr lang="en-US" altLang="ja-JP" sz="1800" dirty="0"/>
              <a:t>2</a:t>
            </a:r>
          </a:p>
        </p:txBody>
      </p:sp>
      <p:sp>
        <p:nvSpPr>
          <p:cNvPr id="574525" name="AutoShape 61">
            <a:extLst>
              <a:ext uri="{FF2B5EF4-FFF2-40B4-BE49-F238E27FC236}">
                <a16:creationId xmlns:a16="http://schemas.microsoft.com/office/drawing/2014/main" id="{1B934AC7-9C84-D59A-8DC3-55E80B112698}"/>
              </a:ext>
            </a:extLst>
          </p:cNvPr>
          <p:cNvSpPr>
            <a:spLocks noChangeArrowheads="1"/>
          </p:cNvSpPr>
          <p:nvPr/>
        </p:nvSpPr>
        <p:spPr bwMode="auto">
          <a:xfrm rot="1253141">
            <a:off x="1822450" y="3292475"/>
            <a:ext cx="357188" cy="695325"/>
          </a:xfrm>
          <a:prstGeom prst="rightArrow">
            <a:avLst>
              <a:gd name="adj1" fmla="val 50000"/>
              <a:gd name="adj2" fmla="val 25000"/>
            </a:avLst>
          </a:prstGeom>
          <a:solidFill>
            <a:srgbClr val="99CC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74529" name="Cloud">
            <a:extLst>
              <a:ext uri="{FF2B5EF4-FFF2-40B4-BE49-F238E27FC236}">
                <a16:creationId xmlns:a16="http://schemas.microsoft.com/office/drawing/2014/main" id="{B60EE9EA-154D-E1EE-2B4C-B9D211AD7405}"/>
              </a:ext>
            </a:extLst>
          </p:cNvPr>
          <p:cNvSpPr>
            <a:spLocks noChangeAspect="1" noEditPoints="1" noChangeArrowheads="1"/>
          </p:cNvSpPr>
          <p:nvPr/>
        </p:nvSpPr>
        <p:spPr bwMode="auto">
          <a:xfrm>
            <a:off x="2996604" y="2516188"/>
            <a:ext cx="3771900" cy="3354388"/>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9525">
            <a:solidFill>
              <a:srgbClr val="000000"/>
            </a:solidFill>
            <a:miter lim="800000"/>
            <a:headEnd/>
            <a:tailEnd/>
          </a:ln>
          <a:effectLst>
            <a:outerShdw dist="107763" dir="2700000" algn="ctr" rotWithShape="0">
              <a:srgbClr val="808080"/>
            </a:outerShdw>
          </a:effectLst>
        </p:spPr>
        <p:txBody>
          <a:bodyPr tIns="9720" bIns="9720"/>
          <a:lstStyle/>
          <a:p>
            <a:endParaRPr lang="en-US" altLang="ja-JP"/>
          </a:p>
        </p:txBody>
      </p:sp>
      <p:grpSp>
        <p:nvGrpSpPr>
          <p:cNvPr id="574555" name="Group 91">
            <a:extLst>
              <a:ext uri="{FF2B5EF4-FFF2-40B4-BE49-F238E27FC236}">
                <a16:creationId xmlns:a16="http://schemas.microsoft.com/office/drawing/2014/main" id="{12F27DEF-6819-08DA-1B7C-D5090D4D7F3C}"/>
              </a:ext>
            </a:extLst>
          </p:cNvPr>
          <p:cNvGrpSpPr>
            <a:grpSpLocks/>
          </p:cNvGrpSpPr>
          <p:nvPr/>
        </p:nvGrpSpPr>
        <p:grpSpPr bwMode="auto">
          <a:xfrm>
            <a:off x="2564589" y="4251739"/>
            <a:ext cx="4445811" cy="1550574"/>
            <a:chOff x="1935" y="2409"/>
            <a:chExt cx="2110" cy="551"/>
          </a:xfrm>
        </p:grpSpPr>
        <p:sp>
          <p:nvSpPr>
            <p:cNvPr id="574531" name="Text Box 67">
              <a:extLst>
                <a:ext uri="{FF2B5EF4-FFF2-40B4-BE49-F238E27FC236}">
                  <a16:creationId xmlns:a16="http://schemas.microsoft.com/office/drawing/2014/main" id="{96956911-764D-7E7F-C90D-B9343E3469B3}"/>
                </a:ext>
              </a:extLst>
            </p:cNvPr>
            <p:cNvSpPr txBox="1">
              <a:spLocks noChangeArrowheads="1"/>
            </p:cNvSpPr>
            <p:nvPr/>
          </p:nvSpPr>
          <p:spPr bwMode="auto">
            <a:xfrm>
              <a:off x="1935" y="2409"/>
              <a:ext cx="2110" cy="551"/>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t>Thuộc</a:t>
              </a:r>
              <a:r>
                <a:rPr lang="en-US" altLang="ja-JP" b="0" dirty="0"/>
                <a:t> </a:t>
              </a:r>
              <a:r>
                <a:rPr lang="en-US" altLang="ja-JP" b="0" dirty="0" err="1"/>
                <a:t>tính</a:t>
              </a:r>
              <a:r>
                <a:rPr lang="en-US" altLang="ja-JP" dirty="0"/>
                <a:t> </a:t>
              </a:r>
              <a:r>
                <a:rPr lang="ja-JP" altLang="en-US" b="0" dirty="0"/>
                <a:t>：</a:t>
              </a:r>
            </a:p>
            <a:p>
              <a:pPr algn="just"/>
              <a:r>
                <a:rPr lang="en-US" altLang="ja-JP" b="0" dirty="0" err="1">
                  <a:ea typeface="ＭＳ ゴシック" panose="020B0609070205080204" pitchFamily="49" charset="-128"/>
                </a:rPr>
                <a:t>customerCount</a:t>
              </a:r>
              <a:endParaRPr lang="en-US" altLang="ja-JP" b="0" dirty="0">
                <a:ea typeface="ＭＳ ゴシック" panose="020B0609070205080204" pitchFamily="49" charset="-128"/>
              </a:endParaRPr>
            </a:p>
            <a:p>
              <a:pPr algn="just">
                <a:lnSpc>
                  <a:spcPct val="96000"/>
                </a:lnSpc>
              </a:pPr>
              <a:r>
                <a:rPr lang="en-US" altLang="ja-JP" b="0" dirty="0"/>
                <a:t>Thao </a:t>
              </a:r>
              <a:r>
                <a:rPr lang="en-US" altLang="ja-JP" b="0" dirty="0" err="1"/>
                <a:t>tác</a:t>
              </a:r>
              <a:r>
                <a:rPr lang="en-US" altLang="ja-JP" dirty="0"/>
                <a:t> </a:t>
              </a:r>
              <a:r>
                <a:rPr lang="ja-JP" altLang="en-US" b="0" dirty="0"/>
                <a:t>：</a:t>
              </a:r>
            </a:p>
            <a:p>
              <a:pPr algn="just"/>
              <a:r>
                <a:rPr lang="en-US" altLang="ja-JP" b="0" dirty="0">
                  <a:ea typeface="ＭＳ ゴシック" panose="020B0609070205080204" pitchFamily="49" charset="-128"/>
                </a:rPr>
                <a:t>Sales(</a:t>
              </a:r>
              <a:r>
                <a:rPr lang="en-US" altLang="ja-JP" b="0" dirty="0" err="1">
                  <a:ea typeface="ＭＳ ゴシック" panose="020B0609070205080204" pitchFamily="49" charset="-128"/>
                </a:rPr>
                <a:t>id:String</a:t>
              </a:r>
              <a:r>
                <a:rPr lang="en-US" altLang="ja-JP" b="0" dirty="0">
                  <a:ea typeface="ＭＳ ゴシック" panose="020B0609070205080204" pitchFamily="49" charset="-128"/>
                </a:rPr>
                <a:t>, </a:t>
              </a:r>
              <a:r>
                <a:rPr lang="en-US" altLang="ja-JP" b="0" dirty="0" err="1">
                  <a:ea typeface="ＭＳ ゴシック" panose="020B0609070205080204" pitchFamily="49" charset="-128"/>
                </a:rPr>
                <a:t>ename:String</a:t>
              </a:r>
              <a:r>
                <a:rPr lang="en-US" altLang="ja-JP" b="0" dirty="0">
                  <a:ea typeface="ＭＳ ゴシック" panose="020B0609070205080204" pitchFamily="49" charset="-128"/>
                </a:rPr>
                <a:t>, </a:t>
              </a:r>
              <a:r>
                <a:rPr lang="en-US" altLang="ja-JP" b="0" dirty="0" err="1">
                  <a:ea typeface="ＭＳ ゴシック" panose="020B0609070205080204" pitchFamily="49" charset="-128"/>
                </a:rPr>
                <a:t>cnt:int</a:t>
              </a:r>
              <a:r>
                <a:rPr lang="en-US" altLang="ja-JP" b="0" dirty="0">
                  <a:ea typeface="ＭＳ ゴシック" panose="020B0609070205080204" pitchFamily="49" charset="-128"/>
                </a:rPr>
                <a:t>)</a:t>
              </a:r>
            </a:p>
            <a:p>
              <a:pPr algn="just"/>
              <a:r>
                <a:rPr lang="en-US" altLang="ja-JP" b="0" dirty="0" err="1">
                  <a:ea typeface="ＭＳ ゴシック" panose="020B0609070205080204" pitchFamily="49" charset="-128"/>
                </a:rPr>
                <a:t>addCount</a:t>
              </a:r>
              <a:r>
                <a:rPr lang="en-US" altLang="ja-JP" b="0" dirty="0">
                  <a:ea typeface="ＭＳ ゴシック" panose="020B0609070205080204" pitchFamily="49" charset="-128"/>
                </a:rPr>
                <a:t>():void</a:t>
              </a:r>
            </a:p>
            <a:p>
              <a:pPr algn="just"/>
              <a:r>
                <a:rPr lang="en-US" altLang="ja-JP" b="0" dirty="0" err="1">
                  <a:ea typeface="ＭＳ ゴシック" panose="020B0609070205080204" pitchFamily="49" charset="-128"/>
                </a:rPr>
                <a:t>getCount</a:t>
              </a:r>
              <a:r>
                <a:rPr lang="en-US" altLang="ja-JP" b="0" dirty="0">
                  <a:ea typeface="ＭＳ ゴシック" panose="020B0609070205080204" pitchFamily="49" charset="-128"/>
                </a:rPr>
                <a:t>():int</a:t>
              </a:r>
            </a:p>
          </p:txBody>
        </p:sp>
        <p:sp>
          <p:nvSpPr>
            <p:cNvPr id="574532" name="Line 68">
              <a:extLst>
                <a:ext uri="{FF2B5EF4-FFF2-40B4-BE49-F238E27FC236}">
                  <a16:creationId xmlns:a16="http://schemas.microsoft.com/office/drawing/2014/main" id="{DAB73AB2-3B2D-E16C-CA0C-F6F333C4BD0F}"/>
                </a:ext>
              </a:extLst>
            </p:cNvPr>
            <p:cNvSpPr>
              <a:spLocks noChangeShapeType="1"/>
            </p:cNvSpPr>
            <p:nvPr/>
          </p:nvSpPr>
          <p:spPr bwMode="auto">
            <a:xfrm>
              <a:off x="2301" y="2822"/>
              <a:ext cx="1626"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74533" name="Rectangle 69">
              <a:extLst>
                <a:ext uri="{FF2B5EF4-FFF2-40B4-BE49-F238E27FC236}">
                  <a16:creationId xmlns:a16="http://schemas.microsoft.com/office/drawing/2014/main" id="{11AA5099-DE06-3ADE-6CFB-C8F148B9DE48}"/>
                </a:ext>
              </a:extLst>
            </p:cNvPr>
            <p:cNvSpPr>
              <a:spLocks noChangeArrowheads="1"/>
            </p:cNvSpPr>
            <p:nvPr/>
          </p:nvSpPr>
          <p:spPr bwMode="auto">
            <a:xfrm>
              <a:off x="2784" y="2534"/>
              <a:ext cx="286" cy="125"/>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a:t>5</a:t>
              </a:r>
            </a:p>
          </p:txBody>
        </p:sp>
      </p:grpSp>
      <p:grpSp>
        <p:nvGrpSpPr>
          <p:cNvPr id="574556" name="Group 92">
            <a:extLst>
              <a:ext uri="{FF2B5EF4-FFF2-40B4-BE49-F238E27FC236}">
                <a16:creationId xmlns:a16="http://schemas.microsoft.com/office/drawing/2014/main" id="{5E4DCA16-CE7D-0313-C4DA-FDF211435A90}"/>
              </a:ext>
            </a:extLst>
          </p:cNvPr>
          <p:cNvGrpSpPr>
            <a:grpSpLocks/>
          </p:cNvGrpSpPr>
          <p:nvPr/>
        </p:nvGrpSpPr>
        <p:grpSpPr bwMode="auto">
          <a:xfrm>
            <a:off x="2232692" y="2899203"/>
            <a:ext cx="2951659" cy="1328123"/>
            <a:chOff x="1808" y="1890"/>
            <a:chExt cx="1540" cy="549"/>
          </a:xfrm>
        </p:grpSpPr>
        <p:sp>
          <p:nvSpPr>
            <p:cNvPr id="574536" name="Text Box 72">
              <a:extLst>
                <a:ext uri="{FF2B5EF4-FFF2-40B4-BE49-F238E27FC236}">
                  <a16:creationId xmlns:a16="http://schemas.microsoft.com/office/drawing/2014/main" id="{876DACB1-AFF4-652F-070F-550CD35E2CC8}"/>
                </a:ext>
              </a:extLst>
            </p:cNvPr>
            <p:cNvSpPr txBox="1">
              <a:spLocks noChangeArrowheads="1"/>
            </p:cNvSpPr>
            <p:nvPr/>
          </p:nvSpPr>
          <p:spPr bwMode="auto">
            <a:xfrm>
              <a:off x="1808" y="1890"/>
              <a:ext cx="1540" cy="549"/>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t>Thuộc</a:t>
              </a:r>
              <a:r>
                <a:rPr lang="en-US" altLang="ja-JP" b="0" dirty="0"/>
                <a:t> </a:t>
              </a:r>
              <a:r>
                <a:rPr lang="en-US" altLang="ja-JP" b="0" dirty="0" err="1"/>
                <a:t>tính</a:t>
              </a:r>
              <a:r>
                <a:rPr lang="ja-JP" altLang="en-US" b="0" dirty="0"/>
                <a:t>：</a:t>
              </a:r>
            </a:p>
            <a:p>
              <a:pPr algn="just"/>
              <a:r>
                <a:rPr lang="en-US" altLang="ja-JP" b="0" dirty="0" err="1">
                  <a:ea typeface="ＭＳ ゴシック" panose="020B0609070205080204" pitchFamily="49" charset="-128"/>
                </a:rPr>
                <a:t>empId</a:t>
              </a:r>
              <a:endParaRPr lang="en-US" altLang="ja-JP" b="0" dirty="0">
                <a:ea typeface="ＭＳ ゴシック" panose="020B0609070205080204" pitchFamily="49" charset="-128"/>
              </a:endParaRPr>
            </a:p>
            <a:p>
              <a:pPr algn="just"/>
              <a:r>
                <a:rPr lang="en-US" altLang="ja-JP" b="0" dirty="0" err="1">
                  <a:ea typeface="ＭＳ ゴシック" panose="020B0609070205080204" pitchFamily="49" charset="-128"/>
                </a:rPr>
                <a:t>empName</a:t>
              </a:r>
              <a:endParaRPr lang="en-US" altLang="ja-JP" b="0" dirty="0">
                <a:ea typeface="ＭＳ ゴシック" panose="020B0609070205080204" pitchFamily="49" charset="-128"/>
              </a:endParaRPr>
            </a:p>
            <a:p>
              <a:pPr algn="just">
                <a:lnSpc>
                  <a:spcPct val="96000"/>
                </a:lnSpc>
              </a:pPr>
              <a:endParaRPr lang="en-US" altLang="ja-JP" b="0" dirty="0"/>
            </a:p>
            <a:p>
              <a:pPr algn="just">
                <a:lnSpc>
                  <a:spcPct val="96000"/>
                </a:lnSpc>
              </a:pPr>
              <a:r>
                <a:rPr lang="en-US" altLang="ja-JP" b="0" dirty="0"/>
                <a:t>Thao </a:t>
              </a:r>
              <a:r>
                <a:rPr lang="en-US" altLang="ja-JP" b="0" dirty="0" err="1"/>
                <a:t>tác</a:t>
              </a:r>
              <a:r>
                <a:rPr lang="ja-JP" altLang="en-US" b="0" dirty="0"/>
                <a:t>：</a:t>
              </a:r>
              <a:r>
                <a:rPr lang="en-US" altLang="ja-JP" b="0" dirty="0" err="1">
                  <a:ea typeface="ＭＳ ゴシック" panose="020B0609070205080204" pitchFamily="49" charset="-128"/>
                </a:rPr>
                <a:t>printInfo</a:t>
              </a:r>
              <a:r>
                <a:rPr lang="en-US" altLang="ja-JP" b="0" dirty="0">
                  <a:ea typeface="ＭＳ ゴシック" panose="020B0609070205080204" pitchFamily="49" charset="-128"/>
                </a:rPr>
                <a:t>():void</a:t>
              </a:r>
            </a:p>
          </p:txBody>
        </p:sp>
        <p:sp>
          <p:nvSpPr>
            <p:cNvPr id="574537" name="Rectangle 73">
              <a:extLst>
                <a:ext uri="{FF2B5EF4-FFF2-40B4-BE49-F238E27FC236}">
                  <a16:creationId xmlns:a16="http://schemas.microsoft.com/office/drawing/2014/main" id="{B21F3040-5DD7-081A-1126-94450EC59561}"/>
                </a:ext>
              </a:extLst>
            </p:cNvPr>
            <p:cNvSpPr>
              <a:spLocks noChangeArrowheads="1"/>
            </p:cNvSpPr>
            <p:nvPr/>
          </p:nvSpPr>
          <p:spPr bwMode="auto">
            <a:xfrm>
              <a:off x="2482" y="2148"/>
              <a:ext cx="705" cy="107"/>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ja-JP" altLang="en-US" b="0" dirty="0"/>
                <a:t>田中花子</a:t>
              </a:r>
            </a:p>
          </p:txBody>
        </p:sp>
        <p:sp>
          <p:nvSpPr>
            <p:cNvPr id="574538" name="Rectangle 74">
              <a:extLst>
                <a:ext uri="{FF2B5EF4-FFF2-40B4-BE49-F238E27FC236}">
                  <a16:creationId xmlns:a16="http://schemas.microsoft.com/office/drawing/2014/main" id="{8ACB9459-A3E3-5851-A45F-3271B17A489B}"/>
                </a:ext>
              </a:extLst>
            </p:cNvPr>
            <p:cNvSpPr>
              <a:spLocks noChangeArrowheads="1"/>
            </p:cNvSpPr>
            <p:nvPr/>
          </p:nvSpPr>
          <p:spPr bwMode="auto">
            <a:xfrm>
              <a:off x="2431" y="2007"/>
              <a:ext cx="769" cy="116"/>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a:t>987654</a:t>
              </a:r>
            </a:p>
          </p:txBody>
        </p:sp>
      </p:grpSp>
      <p:sp>
        <p:nvSpPr>
          <p:cNvPr id="574539" name="Line 75">
            <a:extLst>
              <a:ext uri="{FF2B5EF4-FFF2-40B4-BE49-F238E27FC236}">
                <a16:creationId xmlns:a16="http://schemas.microsoft.com/office/drawing/2014/main" id="{10AA0783-9464-6178-179B-C4D51B3D7D72}"/>
              </a:ext>
            </a:extLst>
          </p:cNvPr>
          <p:cNvSpPr>
            <a:spLocks noChangeShapeType="1"/>
          </p:cNvSpPr>
          <p:nvPr/>
        </p:nvSpPr>
        <p:spPr bwMode="auto">
          <a:xfrm>
            <a:off x="2912269" y="3765770"/>
            <a:ext cx="163353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74540" name="Line 76">
            <a:extLst>
              <a:ext uri="{FF2B5EF4-FFF2-40B4-BE49-F238E27FC236}">
                <a16:creationId xmlns:a16="http://schemas.microsoft.com/office/drawing/2014/main" id="{F41C9F20-7387-B4E1-61B0-E3BCC3C39689}"/>
              </a:ext>
            </a:extLst>
          </p:cNvPr>
          <p:cNvSpPr>
            <a:spLocks noChangeShapeType="1"/>
          </p:cNvSpPr>
          <p:nvPr/>
        </p:nvSpPr>
        <p:spPr bwMode="auto">
          <a:xfrm flipH="1">
            <a:off x="5037138" y="3635375"/>
            <a:ext cx="3000375" cy="355600"/>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74541" name="AutoShape 77">
            <a:extLst>
              <a:ext uri="{FF2B5EF4-FFF2-40B4-BE49-F238E27FC236}">
                <a16:creationId xmlns:a16="http://schemas.microsoft.com/office/drawing/2014/main" id="{154FF97F-8CEE-DBE1-E07E-CE0F121246EB}"/>
              </a:ext>
            </a:extLst>
          </p:cNvPr>
          <p:cNvSpPr>
            <a:spLocks noChangeArrowheads="1"/>
          </p:cNvSpPr>
          <p:nvPr/>
        </p:nvSpPr>
        <p:spPr bwMode="auto">
          <a:xfrm rot="10800000">
            <a:off x="7646988" y="3270250"/>
            <a:ext cx="357187" cy="363538"/>
          </a:xfrm>
          <a:prstGeom prst="rightArrow">
            <a:avLst>
              <a:gd name="adj1" fmla="val 50000"/>
              <a:gd name="adj2" fmla="val 25000"/>
            </a:avLst>
          </a:prstGeom>
          <a:solidFill>
            <a:srgbClr val="FF00FF">
              <a:alpha val="50000"/>
            </a:srgbClr>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74543" name="AutoShape 79">
            <a:extLst>
              <a:ext uri="{FF2B5EF4-FFF2-40B4-BE49-F238E27FC236}">
                <a16:creationId xmlns:a16="http://schemas.microsoft.com/office/drawing/2014/main" id="{32BA4F41-1EBA-ED38-ADB6-3953F6465364}"/>
              </a:ext>
            </a:extLst>
          </p:cNvPr>
          <p:cNvSpPr>
            <a:spLocks noChangeArrowheads="1"/>
          </p:cNvSpPr>
          <p:nvPr/>
        </p:nvSpPr>
        <p:spPr bwMode="auto">
          <a:xfrm>
            <a:off x="5491163" y="3076575"/>
            <a:ext cx="1662112" cy="852488"/>
          </a:xfrm>
          <a:prstGeom prst="wedgeRoundRectCallout">
            <a:avLst>
              <a:gd name="adj1" fmla="val -63657"/>
              <a:gd name="adj2" fmla="val 653"/>
              <a:gd name="adj3" fmla="val 16667"/>
            </a:avLst>
          </a:prstGeom>
          <a:solidFill>
            <a:srgbClr val="FFFFCC"/>
          </a:solidFill>
          <a:ln w="9525">
            <a:solidFill>
              <a:srgbClr val="000000"/>
            </a:solidFill>
            <a:miter lim="800000"/>
            <a:headEnd/>
            <a:tailEnd/>
          </a:ln>
        </p:spPr>
        <p:txBody>
          <a:bodyPr lIns="74295" tIns="8890" rIns="74295" bIns="8890"/>
          <a:lstStyle/>
          <a:p>
            <a:pPr algn="just"/>
            <a:r>
              <a:rPr lang="en-US" altLang="ja-JP" sz="1800" dirty="0" err="1">
                <a:latin typeface="+mj-lt"/>
              </a:rPr>
              <a:t>Tính</a:t>
            </a:r>
            <a:r>
              <a:rPr lang="en-US" altLang="ja-JP" sz="1800" dirty="0">
                <a:latin typeface="+mj-lt"/>
              </a:rPr>
              <a:t> </a:t>
            </a:r>
            <a:r>
              <a:rPr lang="en-US" altLang="ja-JP" sz="1800" dirty="0" err="1">
                <a:latin typeface="+mj-lt"/>
              </a:rPr>
              <a:t>chất</a:t>
            </a:r>
            <a:r>
              <a:rPr lang="en-US" altLang="ja-JP" sz="1800" dirty="0">
                <a:latin typeface="+mj-lt"/>
              </a:rPr>
              <a:t> </a:t>
            </a:r>
            <a:r>
              <a:rPr lang="en-US" altLang="ja-JP" sz="1800" dirty="0" err="1">
                <a:latin typeface="+mj-lt"/>
              </a:rPr>
              <a:t>đa</a:t>
            </a:r>
            <a:r>
              <a:rPr lang="en-US" altLang="ja-JP" sz="1800" dirty="0">
                <a:latin typeface="+mj-lt"/>
              </a:rPr>
              <a:t>̃ </a:t>
            </a:r>
            <a:r>
              <a:rPr lang="en-US" altLang="ja-JP" sz="1800" dirty="0" err="1">
                <a:latin typeface="+mj-lt"/>
              </a:rPr>
              <a:t>kê</a:t>
            </a:r>
            <a:r>
              <a:rPr lang="en-US" altLang="ja-JP" sz="1800" dirty="0">
                <a:latin typeface="+mj-lt"/>
              </a:rPr>
              <a:t>́ </a:t>
            </a:r>
            <a:r>
              <a:rPr lang="en-US" altLang="ja-JP" sz="1800" dirty="0" err="1">
                <a:latin typeface="+mj-lt"/>
              </a:rPr>
              <a:t>thừa</a:t>
            </a:r>
            <a:r>
              <a:rPr lang="en-US" altLang="ja-JP" sz="1800" dirty="0">
                <a:latin typeface="+mj-lt"/>
              </a:rPr>
              <a:t> </a:t>
            </a:r>
            <a:r>
              <a:rPr lang="en-US" altLang="ja-JP" sz="1800" dirty="0" err="1">
                <a:latin typeface="+mj-lt"/>
              </a:rPr>
              <a:t>tư</a:t>
            </a:r>
            <a:r>
              <a:rPr lang="en-US" altLang="ja-JP" sz="1800" dirty="0">
                <a:latin typeface="+mj-lt"/>
              </a:rPr>
              <a:t>̀ Employee</a:t>
            </a:r>
          </a:p>
        </p:txBody>
      </p:sp>
      <p:sp>
        <p:nvSpPr>
          <p:cNvPr id="574544" name="AutoShape 80">
            <a:extLst>
              <a:ext uri="{FF2B5EF4-FFF2-40B4-BE49-F238E27FC236}">
                <a16:creationId xmlns:a16="http://schemas.microsoft.com/office/drawing/2014/main" id="{F5C3F6DB-16DC-E486-6870-79653E10E0F5}"/>
              </a:ext>
            </a:extLst>
          </p:cNvPr>
          <p:cNvSpPr>
            <a:spLocks noChangeArrowheads="1"/>
          </p:cNvSpPr>
          <p:nvPr/>
        </p:nvSpPr>
        <p:spPr bwMode="auto">
          <a:xfrm>
            <a:off x="7473261" y="4278495"/>
            <a:ext cx="2206625" cy="612775"/>
          </a:xfrm>
          <a:prstGeom prst="wedgeRoundRectCallout">
            <a:avLst>
              <a:gd name="adj1" fmla="val -69639"/>
              <a:gd name="adj2" fmla="val 18134"/>
              <a:gd name="adj3" fmla="val 16667"/>
            </a:avLst>
          </a:prstGeom>
          <a:solidFill>
            <a:srgbClr val="FFCC99"/>
          </a:solidFill>
          <a:ln w="9525">
            <a:solidFill>
              <a:srgbClr val="000000"/>
            </a:solidFill>
            <a:miter lim="800000"/>
            <a:headEnd/>
            <a:tailEnd/>
          </a:ln>
        </p:spPr>
        <p:txBody>
          <a:bodyPr lIns="74295" tIns="8890" rIns="74295" bIns="8890"/>
          <a:lstStyle/>
          <a:p>
            <a:pPr algn="just"/>
            <a:r>
              <a:rPr lang="en-US" altLang="ja-JP" sz="1800" dirty="0" err="1">
                <a:latin typeface="+mj-lt"/>
              </a:rPr>
              <a:t>Tính</a:t>
            </a:r>
            <a:r>
              <a:rPr lang="en-US" altLang="ja-JP" sz="1800" dirty="0">
                <a:latin typeface="+mj-lt"/>
              </a:rPr>
              <a:t> </a:t>
            </a:r>
            <a:r>
              <a:rPr lang="en-US" altLang="ja-JP" sz="1800" dirty="0" err="1">
                <a:latin typeface="+mj-lt"/>
              </a:rPr>
              <a:t>chất</a:t>
            </a:r>
            <a:r>
              <a:rPr lang="en-US" altLang="ja-JP" sz="1800" dirty="0">
                <a:latin typeface="+mj-lt"/>
              </a:rPr>
              <a:t> </a:t>
            </a:r>
            <a:r>
              <a:rPr lang="en-US" altLang="ja-JP" sz="1800" dirty="0" err="1">
                <a:latin typeface="+mj-lt"/>
              </a:rPr>
              <a:t>độc</a:t>
            </a:r>
            <a:r>
              <a:rPr lang="en-US" altLang="ja-JP" sz="1800" dirty="0">
                <a:latin typeface="+mj-lt"/>
              </a:rPr>
              <a:t> </a:t>
            </a:r>
            <a:r>
              <a:rPr lang="en-US" altLang="ja-JP" sz="1800" dirty="0" err="1">
                <a:latin typeface="+mj-lt"/>
              </a:rPr>
              <a:t>lập</a:t>
            </a:r>
            <a:r>
              <a:rPr lang="en-US" altLang="ja-JP" sz="1800" dirty="0">
                <a:latin typeface="+mj-lt"/>
              </a:rPr>
              <a:t> </a:t>
            </a:r>
            <a:r>
              <a:rPr lang="en-US" altLang="ja-JP" sz="1800" dirty="0" err="1">
                <a:latin typeface="+mj-lt"/>
              </a:rPr>
              <a:t>của</a:t>
            </a:r>
            <a:r>
              <a:rPr lang="en-US" altLang="ja-JP" sz="1800" dirty="0">
                <a:latin typeface="+mj-lt"/>
              </a:rPr>
              <a:t> Sales</a:t>
            </a:r>
          </a:p>
        </p:txBody>
      </p:sp>
      <p:sp>
        <p:nvSpPr>
          <p:cNvPr id="574545" name="Text Box 81">
            <a:extLst>
              <a:ext uri="{FF2B5EF4-FFF2-40B4-BE49-F238E27FC236}">
                <a16:creationId xmlns:a16="http://schemas.microsoft.com/office/drawing/2014/main" id="{BEF45E24-9AE4-BEAF-69CC-D23499F9F9DE}"/>
              </a:ext>
            </a:extLst>
          </p:cNvPr>
          <p:cNvSpPr txBox="1">
            <a:spLocks noChangeArrowheads="1"/>
          </p:cNvSpPr>
          <p:nvPr/>
        </p:nvSpPr>
        <p:spPr bwMode="auto">
          <a:xfrm>
            <a:off x="152400" y="1260475"/>
            <a:ext cx="5867400" cy="1077913"/>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lvl1pPr marL="93663">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dirty="0">
                <a:latin typeface="+mj-lt"/>
                <a:ea typeface="ＭＳ ゴシック" panose="020B0609070205080204" pitchFamily="49" charset="-128"/>
              </a:rPr>
              <a:t>Sales </a:t>
            </a:r>
            <a:r>
              <a:rPr lang="en-US" altLang="ja-JP" sz="1800" dirty="0" err="1">
                <a:latin typeface="+mj-lt"/>
                <a:ea typeface="ＭＳ ゴシック" panose="020B0609070205080204" pitchFamily="49" charset="-128"/>
              </a:rPr>
              <a:t>sa</a:t>
            </a:r>
            <a:r>
              <a:rPr lang="en-US" altLang="ja-JP" sz="1800" dirty="0">
                <a:latin typeface="+mj-lt"/>
                <a:ea typeface="ＭＳ ゴシック" panose="020B0609070205080204" pitchFamily="49" charset="-128"/>
              </a:rPr>
              <a:t> = new Sales();</a:t>
            </a:r>
          </a:p>
          <a:p>
            <a:r>
              <a:rPr lang="en-US" altLang="ja-JP" sz="1800" dirty="0">
                <a:latin typeface="+mj-lt"/>
                <a:ea typeface="ＭＳ ゴシック" panose="020B0609070205080204" pitchFamily="49" charset="-128"/>
              </a:rPr>
              <a:t>Employee emp = </a:t>
            </a:r>
            <a:r>
              <a:rPr lang="en-US" altLang="ja-JP" sz="1800" dirty="0" err="1">
                <a:latin typeface="+mj-lt"/>
                <a:ea typeface="ＭＳ ゴシック" panose="020B0609070205080204" pitchFamily="49" charset="-128"/>
              </a:rPr>
              <a:t>sa</a:t>
            </a:r>
            <a:r>
              <a:rPr lang="en-US" altLang="ja-JP" sz="1800" dirty="0">
                <a:latin typeface="+mj-lt"/>
                <a:ea typeface="ＭＳ ゴシック" panose="020B0609070205080204" pitchFamily="49" charset="-128"/>
              </a:rPr>
              <a:t>;</a:t>
            </a:r>
          </a:p>
          <a:p>
            <a:r>
              <a:rPr lang="en-US" altLang="ja-JP" sz="1800" dirty="0">
                <a:latin typeface="+mj-lt"/>
                <a:ea typeface="ＭＳ ゴシック" panose="020B0609070205080204" pitchFamily="49" charset="-128"/>
              </a:rPr>
              <a:t>Sales sa2 = (Sales)emp;</a:t>
            </a:r>
            <a:r>
              <a:rPr lang="ja-JP" altLang="en-US" sz="1800" dirty="0">
                <a:latin typeface="+mj-lt"/>
                <a:ea typeface="ＭＳ ゴシック" panose="020B0609070205080204" pitchFamily="49" charset="-128"/>
              </a:rPr>
              <a:t>　</a:t>
            </a:r>
            <a:r>
              <a:rPr lang="en-US" altLang="ja-JP" sz="1800" dirty="0">
                <a:latin typeface="+mj-lt"/>
                <a:ea typeface="ＭＳ ゴシック" panose="020B0609070205080204" pitchFamily="49" charset="-128"/>
              </a:rPr>
              <a:t>//</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không</a:t>
            </a:r>
            <a:r>
              <a:rPr lang="en-US" altLang="ja-JP" sz="1800" dirty="0">
                <a:latin typeface="+mj-lt"/>
                <a:ea typeface="MS UI Gothic" panose="020B0600070205080204" pitchFamily="50" charset="-128"/>
              </a:rPr>
              <a:t> </a:t>
            </a:r>
            <a:r>
              <a:rPr lang="en-US" altLang="ja-JP" sz="1800" dirty="0" err="1">
                <a:latin typeface="+mj-lt"/>
                <a:ea typeface="MS UI Gothic" panose="020B0600070205080204" pitchFamily="50" charset="-128"/>
              </a:rPr>
              <a:t>thê</a:t>
            </a:r>
            <a:r>
              <a:rPr lang="en-US" altLang="ja-JP" sz="1800" dirty="0">
                <a:latin typeface="+mj-lt"/>
                <a:ea typeface="MS UI Gothic" panose="020B0600070205080204" pitchFamily="50" charset="-128"/>
              </a:rPr>
              <a:t>̉ convert </a:t>
            </a:r>
            <a:r>
              <a:rPr lang="en-US" altLang="ja-JP" sz="1800" dirty="0" err="1">
                <a:latin typeface="+mj-lt"/>
                <a:ea typeface="MS UI Gothic" panose="020B0600070205080204" pitchFamily="50" charset="-128"/>
              </a:rPr>
              <a:t>ngầm</a:t>
            </a:r>
            <a:endParaRPr lang="en-US" altLang="ja-JP" sz="1800" dirty="0">
              <a:latin typeface="+mj-lt"/>
              <a:ea typeface="MS UI Gothic" panose="020B0600070205080204" pitchFamily="50" charset="-128"/>
            </a:endParaRPr>
          </a:p>
          <a:p>
            <a:endParaRPr lang="en-US" altLang="ja-JP" sz="1800" dirty="0">
              <a:latin typeface="+mj-lt"/>
              <a:ea typeface="MS UI Gothic" panose="020B0600070205080204" pitchFamily="50" charset="-128"/>
            </a:endParaRPr>
          </a:p>
        </p:txBody>
      </p:sp>
      <p:sp>
        <p:nvSpPr>
          <p:cNvPr id="574547" name="Text Box 83">
            <a:extLst>
              <a:ext uri="{FF2B5EF4-FFF2-40B4-BE49-F238E27FC236}">
                <a16:creationId xmlns:a16="http://schemas.microsoft.com/office/drawing/2014/main" id="{AF1E1CEB-7A95-EAC6-1B09-53E91533885A}"/>
              </a:ext>
            </a:extLst>
          </p:cNvPr>
          <p:cNvSpPr txBox="1">
            <a:spLocks noChangeArrowheads="1"/>
          </p:cNvSpPr>
          <p:nvPr/>
        </p:nvSpPr>
        <p:spPr bwMode="auto">
          <a:xfrm>
            <a:off x="631825" y="2892425"/>
            <a:ext cx="925513"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a:t>Sales</a:t>
            </a:r>
          </a:p>
          <a:p>
            <a:pPr algn="just"/>
            <a:r>
              <a:rPr lang="ja-JP" altLang="en-US" sz="1800"/>
              <a:t>ｓａ</a:t>
            </a:r>
          </a:p>
        </p:txBody>
      </p:sp>
      <p:sp>
        <p:nvSpPr>
          <p:cNvPr id="574508" name="Line 44">
            <a:extLst>
              <a:ext uri="{FF2B5EF4-FFF2-40B4-BE49-F238E27FC236}">
                <a16:creationId xmlns:a16="http://schemas.microsoft.com/office/drawing/2014/main" id="{0F6EE5BD-0278-9D2B-C572-79D941F30DC6}"/>
              </a:ext>
            </a:extLst>
          </p:cNvPr>
          <p:cNvSpPr>
            <a:spLocks noChangeShapeType="1"/>
          </p:cNvSpPr>
          <p:nvPr/>
        </p:nvSpPr>
        <p:spPr bwMode="auto">
          <a:xfrm>
            <a:off x="1281113" y="3357563"/>
            <a:ext cx="2009775" cy="1914525"/>
          </a:xfrm>
          <a:prstGeom prst="line">
            <a:avLst/>
          </a:prstGeom>
          <a:noFill/>
          <a:ln w="28575">
            <a:solidFill>
              <a:srgbClr val="00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74524" name="Line 60">
            <a:extLst>
              <a:ext uri="{FF2B5EF4-FFF2-40B4-BE49-F238E27FC236}">
                <a16:creationId xmlns:a16="http://schemas.microsoft.com/office/drawing/2014/main" id="{E2619996-C0AB-FE26-0FCC-DF0AFB66827C}"/>
              </a:ext>
            </a:extLst>
          </p:cNvPr>
          <p:cNvSpPr>
            <a:spLocks noChangeShapeType="1"/>
          </p:cNvSpPr>
          <p:nvPr/>
        </p:nvSpPr>
        <p:spPr bwMode="auto">
          <a:xfrm flipH="1">
            <a:off x="1281113" y="2762250"/>
            <a:ext cx="2351087" cy="595313"/>
          </a:xfrm>
          <a:prstGeom prst="line">
            <a:avLst/>
          </a:prstGeom>
          <a:noFill/>
          <a:ln w="28575">
            <a:solidFill>
              <a:srgbClr val="00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74550" name="Line 86">
            <a:extLst>
              <a:ext uri="{FF2B5EF4-FFF2-40B4-BE49-F238E27FC236}">
                <a16:creationId xmlns:a16="http://schemas.microsoft.com/office/drawing/2014/main" id="{3B946A7B-BC8B-599F-9C21-504568B32B0A}"/>
              </a:ext>
            </a:extLst>
          </p:cNvPr>
          <p:cNvSpPr>
            <a:spLocks noChangeShapeType="1"/>
          </p:cNvSpPr>
          <p:nvPr/>
        </p:nvSpPr>
        <p:spPr bwMode="auto">
          <a:xfrm flipH="1">
            <a:off x="1577975" y="2827338"/>
            <a:ext cx="1974850" cy="2257425"/>
          </a:xfrm>
          <a:prstGeom prst="line">
            <a:avLst/>
          </a:prstGeom>
          <a:noFill/>
          <a:ln w="28575">
            <a:solidFill>
              <a:srgbClr val="FF8519"/>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74551" name="Line 87">
            <a:extLst>
              <a:ext uri="{FF2B5EF4-FFF2-40B4-BE49-F238E27FC236}">
                <a16:creationId xmlns:a16="http://schemas.microsoft.com/office/drawing/2014/main" id="{6F57465B-D627-7812-EC24-9AEEAE7F10E6}"/>
              </a:ext>
            </a:extLst>
          </p:cNvPr>
          <p:cNvSpPr>
            <a:spLocks noChangeShapeType="1"/>
          </p:cNvSpPr>
          <p:nvPr/>
        </p:nvSpPr>
        <p:spPr bwMode="auto">
          <a:xfrm>
            <a:off x="1571625" y="5091113"/>
            <a:ext cx="1793875" cy="192087"/>
          </a:xfrm>
          <a:prstGeom prst="line">
            <a:avLst/>
          </a:prstGeom>
          <a:noFill/>
          <a:ln w="28575">
            <a:solidFill>
              <a:srgbClr val="FF8519"/>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74552" name="AutoShape 88">
            <a:extLst>
              <a:ext uri="{FF2B5EF4-FFF2-40B4-BE49-F238E27FC236}">
                <a16:creationId xmlns:a16="http://schemas.microsoft.com/office/drawing/2014/main" id="{2B07C10F-F923-D686-FD8E-7C2DA630EC77}"/>
              </a:ext>
            </a:extLst>
          </p:cNvPr>
          <p:cNvSpPr>
            <a:spLocks noChangeArrowheads="1"/>
          </p:cNvSpPr>
          <p:nvPr/>
        </p:nvSpPr>
        <p:spPr bwMode="auto">
          <a:xfrm rot="-878654">
            <a:off x="2051050" y="4478338"/>
            <a:ext cx="357188" cy="695325"/>
          </a:xfrm>
          <a:prstGeom prst="rightArrow">
            <a:avLst>
              <a:gd name="adj1" fmla="val 50000"/>
              <a:gd name="adj2" fmla="val 25000"/>
            </a:avLst>
          </a:prstGeom>
          <a:solidFill>
            <a:srgbClr val="FF8519">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74542" name="Line 78">
            <a:extLst>
              <a:ext uri="{FF2B5EF4-FFF2-40B4-BE49-F238E27FC236}">
                <a16:creationId xmlns:a16="http://schemas.microsoft.com/office/drawing/2014/main" id="{0B882D6E-6C40-93F6-0EA7-1254B6879B63}"/>
              </a:ext>
            </a:extLst>
          </p:cNvPr>
          <p:cNvSpPr>
            <a:spLocks noChangeShapeType="1"/>
          </p:cNvSpPr>
          <p:nvPr/>
        </p:nvSpPr>
        <p:spPr bwMode="auto">
          <a:xfrm flipH="1" flipV="1">
            <a:off x="5037138" y="2870200"/>
            <a:ext cx="2978150" cy="339725"/>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74553" name="AutoShape 89">
            <a:extLst>
              <a:ext uri="{FF2B5EF4-FFF2-40B4-BE49-F238E27FC236}">
                <a16:creationId xmlns:a16="http://schemas.microsoft.com/office/drawing/2014/main" id="{DE76D1F2-6E98-09B4-180B-5DE99E4EC248}"/>
              </a:ext>
            </a:extLst>
          </p:cNvPr>
          <p:cNvSpPr>
            <a:spLocks noChangeArrowheads="1"/>
          </p:cNvSpPr>
          <p:nvPr/>
        </p:nvSpPr>
        <p:spPr bwMode="auto">
          <a:xfrm>
            <a:off x="628650" y="5971564"/>
            <a:ext cx="9051236" cy="553244"/>
          </a:xfrm>
          <a:prstGeom prst="wedgeRoundRectCallout">
            <a:avLst>
              <a:gd name="adj1" fmla="val -14515"/>
              <a:gd name="adj2" fmla="val -72163"/>
              <a:gd name="adj3" fmla="val 16667"/>
            </a:avLst>
          </a:prstGeom>
          <a:solidFill>
            <a:srgbClr val="FFFF99"/>
          </a:solidFill>
          <a:ln w="12700">
            <a:solidFill>
              <a:srgbClr val="FF00FF"/>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500" dirty="0">
                <a:latin typeface="+mj-lt"/>
              </a:rPr>
              <a:t>Do </a:t>
            </a:r>
            <a:r>
              <a:rPr lang="en-US" altLang="ja-JP" sz="1500" dirty="0" err="1">
                <a:latin typeface="+mj-lt"/>
              </a:rPr>
              <a:t>đang</a:t>
            </a:r>
            <a:r>
              <a:rPr lang="en-US" altLang="ja-JP" sz="1500" dirty="0">
                <a:latin typeface="+mj-lt"/>
              </a:rPr>
              <a:t> có </a:t>
            </a:r>
            <a:r>
              <a:rPr lang="en-US" altLang="ja-JP" sz="1500" dirty="0" err="1">
                <a:latin typeface="+mj-lt"/>
              </a:rPr>
              <a:t>những</a:t>
            </a:r>
            <a:r>
              <a:rPr lang="en-US" altLang="ja-JP" sz="1500" dirty="0">
                <a:latin typeface="+mj-lt"/>
              </a:rPr>
              <a:t> </a:t>
            </a:r>
            <a:r>
              <a:rPr lang="en-US" altLang="ja-JP" sz="1500" dirty="0" err="1">
                <a:latin typeface="+mj-lt"/>
              </a:rPr>
              <a:t>thứ</a:t>
            </a:r>
            <a:r>
              <a:rPr lang="en-US" altLang="ja-JP" sz="1500" dirty="0">
                <a:latin typeface="+mj-lt"/>
              </a:rPr>
              <a:t> </a:t>
            </a:r>
            <a:r>
              <a:rPr lang="en-US" altLang="ja-JP" sz="1500" dirty="0" err="1">
                <a:latin typeface="+mj-lt"/>
              </a:rPr>
              <a:t>cần</a:t>
            </a:r>
            <a:r>
              <a:rPr lang="en-US" altLang="ja-JP" sz="1500" dirty="0">
                <a:latin typeface="+mj-lt"/>
              </a:rPr>
              <a:t> </a:t>
            </a:r>
            <a:r>
              <a:rPr lang="en-US" altLang="ja-JP" sz="1500" dirty="0" err="1">
                <a:latin typeface="+mj-lt"/>
              </a:rPr>
              <a:t>thiết</a:t>
            </a:r>
            <a:r>
              <a:rPr lang="en-US" altLang="ja-JP" sz="1500" dirty="0">
                <a:latin typeface="+mj-lt"/>
              </a:rPr>
              <a:t> </a:t>
            </a:r>
            <a:r>
              <a:rPr lang="en-US" altLang="ja-JP" sz="1500" dirty="0" err="1">
                <a:latin typeface="+mj-lt"/>
              </a:rPr>
              <a:t>cho</a:t>
            </a:r>
            <a:r>
              <a:rPr lang="en-US" altLang="ja-JP" sz="1500" dirty="0">
                <a:latin typeface="+mj-lt"/>
              </a:rPr>
              <a:t> object </a:t>
            </a:r>
            <a:r>
              <a:rPr lang="en-US" altLang="ja-JP" sz="1500" dirty="0" err="1">
                <a:latin typeface="+mj-lt"/>
              </a:rPr>
              <a:t>của</a:t>
            </a:r>
            <a:r>
              <a:rPr lang="en-US" altLang="ja-JP" sz="1500" dirty="0">
                <a:latin typeface="+mj-lt"/>
              </a:rPr>
              <a:t> Sales class </a:t>
            </a:r>
            <a:r>
              <a:rPr lang="en-US" altLang="ja-JP" sz="1500" dirty="0" err="1">
                <a:latin typeface="+mj-lt"/>
              </a:rPr>
              <a:t>nên</a:t>
            </a:r>
            <a:r>
              <a:rPr lang="en-US" altLang="ja-JP" sz="1500" dirty="0">
                <a:latin typeface="+mj-lt"/>
              </a:rPr>
              <a:t> </a:t>
            </a:r>
            <a:r>
              <a:rPr lang="en-US" altLang="ja-JP" sz="1500" dirty="0" err="1">
                <a:latin typeface="+mj-lt"/>
              </a:rPr>
              <a:t>nếu</a:t>
            </a:r>
            <a:r>
              <a:rPr lang="en-US" altLang="ja-JP" sz="1500" dirty="0">
                <a:latin typeface="+mj-lt"/>
              </a:rPr>
              <a:t> là convert </a:t>
            </a:r>
            <a:r>
              <a:rPr lang="en-US" altLang="ja-JP" sz="1500" dirty="0" err="1">
                <a:latin typeface="+mj-lt"/>
              </a:rPr>
              <a:t>ro</a:t>
            </a:r>
            <a:r>
              <a:rPr lang="en-US" altLang="ja-JP" sz="1500" dirty="0">
                <a:latin typeface="+mj-lt"/>
              </a:rPr>
              <a:t>̃ </a:t>
            </a:r>
            <a:r>
              <a:rPr lang="en-US" altLang="ja-JP" sz="1500" dirty="0" err="1">
                <a:latin typeface="+mj-lt"/>
              </a:rPr>
              <a:t>ràng</a:t>
            </a:r>
            <a:r>
              <a:rPr lang="en-US" altLang="ja-JP" sz="1500" dirty="0">
                <a:latin typeface="+mj-lt"/>
              </a:rPr>
              <a:t> </a:t>
            </a:r>
            <a:r>
              <a:rPr lang="en-US" altLang="ja-JP" sz="1500" dirty="0" err="1">
                <a:latin typeface="+mj-lt"/>
              </a:rPr>
              <a:t>thi</a:t>
            </a:r>
            <a:r>
              <a:rPr lang="en-US" altLang="ja-JP" sz="1500" dirty="0">
                <a:latin typeface="+mj-lt"/>
              </a:rPr>
              <a:t>̀ có </a:t>
            </a:r>
            <a:r>
              <a:rPr lang="en-US" altLang="ja-JP" sz="1500" dirty="0" err="1">
                <a:latin typeface="+mj-lt"/>
              </a:rPr>
              <a:t>thê</a:t>
            </a:r>
            <a:r>
              <a:rPr lang="en-US" altLang="ja-JP" sz="1500" dirty="0">
                <a:latin typeface="+mj-lt"/>
              </a:rPr>
              <a:t>̉ </a:t>
            </a:r>
            <a:r>
              <a:rPr lang="en-US" altLang="ja-JP" sz="1500" dirty="0" err="1">
                <a:latin typeface="+mj-lt"/>
              </a:rPr>
              <a:t>thực</a:t>
            </a:r>
            <a:r>
              <a:rPr lang="en-US" altLang="ja-JP" sz="1500" dirty="0">
                <a:latin typeface="+mj-lt"/>
              </a:rPr>
              <a:t> </a:t>
            </a:r>
            <a:r>
              <a:rPr lang="en-US" altLang="ja-JP" sz="1500" dirty="0" err="1">
                <a:latin typeface="+mj-lt"/>
              </a:rPr>
              <a:t>hiện</a:t>
            </a:r>
            <a:r>
              <a:rPr lang="ja-JP" altLang="en-US" sz="1500" dirty="0">
                <a:latin typeface="+mj-lt"/>
              </a:rPr>
              <a:t>！</a:t>
            </a:r>
            <a:r>
              <a:rPr lang="en-US" altLang="ja-JP" sz="1500" dirty="0">
                <a:latin typeface="+mj-lt"/>
              </a:rPr>
              <a:t>Có </a:t>
            </a:r>
            <a:r>
              <a:rPr lang="en-US" altLang="ja-JP" sz="1500" dirty="0" err="1">
                <a:latin typeface="+mj-lt"/>
              </a:rPr>
              <a:t>thê</a:t>
            </a:r>
            <a:r>
              <a:rPr lang="en-US" altLang="ja-JP" sz="1500" dirty="0">
                <a:latin typeface="+mj-lt"/>
              </a:rPr>
              <a:t>̉ access </a:t>
            </a:r>
            <a:r>
              <a:rPr lang="en-US" altLang="ja-JP" sz="1500" dirty="0" err="1">
                <a:latin typeface="+mj-lt"/>
              </a:rPr>
              <a:t>vào</a:t>
            </a:r>
            <a:r>
              <a:rPr lang="en-US" altLang="ja-JP" sz="1500" dirty="0">
                <a:latin typeface="+mj-lt"/>
              </a:rPr>
              <a:t> </a:t>
            </a:r>
            <a:r>
              <a:rPr lang="en-US" altLang="ja-JP" sz="1500" dirty="0" err="1">
                <a:latin typeface="+mj-lt"/>
              </a:rPr>
              <a:t>thuộc</a:t>
            </a:r>
            <a:r>
              <a:rPr lang="en-US" altLang="ja-JP" sz="1500" dirty="0">
                <a:latin typeface="+mj-lt"/>
              </a:rPr>
              <a:t> </a:t>
            </a:r>
            <a:r>
              <a:rPr lang="en-US" altLang="ja-JP" sz="1500" dirty="0" err="1">
                <a:latin typeface="+mj-lt"/>
              </a:rPr>
              <a:t>tính</a:t>
            </a:r>
            <a:r>
              <a:rPr lang="ja-JP" altLang="en-US" sz="1500" dirty="0">
                <a:latin typeface="+mj-lt"/>
              </a:rPr>
              <a:t>・</a:t>
            </a:r>
            <a:r>
              <a:rPr lang="en-US" altLang="ja-JP" sz="1500" dirty="0" err="1">
                <a:latin typeface="+mj-lt"/>
              </a:rPr>
              <a:t>thao</a:t>
            </a:r>
            <a:r>
              <a:rPr lang="en-US" altLang="ja-JP" sz="1500" dirty="0">
                <a:latin typeface="+mj-lt"/>
              </a:rPr>
              <a:t> </a:t>
            </a:r>
            <a:r>
              <a:rPr lang="en-US" altLang="ja-JP" sz="1500" dirty="0" err="1">
                <a:latin typeface="+mj-lt"/>
              </a:rPr>
              <a:t>tác</a:t>
            </a:r>
            <a:r>
              <a:rPr lang="en-US" altLang="ja-JP" sz="1500" dirty="0">
                <a:latin typeface="+mj-lt"/>
              </a:rPr>
              <a:t> </a:t>
            </a:r>
            <a:r>
              <a:rPr lang="en-US" altLang="ja-JP" sz="1500" dirty="0" err="1">
                <a:latin typeface="+mj-lt"/>
              </a:rPr>
              <a:t>tùy</a:t>
            </a:r>
            <a:r>
              <a:rPr lang="en-US" altLang="ja-JP" sz="1500" dirty="0">
                <a:latin typeface="+mj-lt"/>
              </a:rPr>
              <a:t> ý mà object </a:t>
            </a:r>
            <a:r>
              <a:rPr lang="en-US" altLang="ja-JP" sz="1500" dirty="0" err="1">
                <a:latin typeface="+mj-lt"/>
              </a:rPr>
              <a:t>của</a:t>
            </a:r>
            <a:r>
              <a:rPr lang="en-US" altLang="ja-JP" sz="1500" dirty="0">
                <a:latin typeface="+mj-lt"/>
              </a:rPr>
              <a:t> Sales class có</a:t>
            </a:r>
            <a:r>
              <a:rPr lang="ja-JP" altLang="en-US" sz="1500" dirty="0">
                <a:latin typeface="+mj-lt"/>
              </a:rPr>
              <a:t>！</a:t>
            </a:r>
          </a:p>
        </p:txBody>
      </p:sp>
      <p:sp>
        <p:nvSpPr>
          <p:cNvPr id="574510" name="Text Box 46">
            <a:extLst>
              <a:ext uri="{FF2B5EF4-FFF2-40B4-BE49-F238E27FC236}">
                <a16:creationId xmlns:a16="http://schemas.microsoft.com/office/drawing/2014/main" id="{D3E3E010-F135-218D-D0CC-02ECD2B63863}"/>
              </a:ext>
            </a:extLst>
          </p:cNvPr>
          <p:cNvSpPr txBox="1">
            <a:spLocks noChangeArrowheads="1"/>
          </p:cNvSpPr>
          <p:nvPr/>
        </p:nvSpPr>
        <p:spPr bwMode="auto">
          <a:xfrm>
            <a:off x="3308350" y="2251075"/>
            <a:ext cx="2543175"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ctr"/>
            <a:r>
              <a:rPr lang="en-US" altLang="ja-JP" sz="1800"/>
              <a:t>Object</a:t>
            </a:r>
          </a:p>
        </p:txBody>
      </p:sp>
      <p:sp>
        <p:nvSpPr>
          <p:cNvPr id="574554" name="AutoShape 90">
            <a:extLst>
              <a:ext uri="{FF2B5EF4-FFF2-40B4-BE49-F238E27FC236}">
                <a16:creationId xmlns:a16="http://schemas.microsoft.com/office/drawing/2014/main" id="{6F26634D-8B7C-91F1-E831-030F9196B9A0}"/>
              </a:ext>
            </a:extLst>
          </p:cNvPr>
          <p:cNvSpPr>
            <a:spLocks noChangeArrowheads="1"/>
          </p:cNvSpPr>
          <p:nvPr/>
        </p:nvSpPr>
        <p:spPr bwMode="auto">
          <a:xfrm>
            <a:off x="6006739" y="1445419"/>
            <a:ext cx="3848100" cy="485775"/>
          </a:xfrm>
          <a:prstGeom prst="wedgeRoundRectCallout">
            <a:avLst>
              <a:gd name="adj1" fmla="val -23185"/>
              <a:gd name="adj2" fmla="val -9444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600" dirty="0" err="1">
                <a:latin typeface="+mj-lt"/>
              </a:rPr>
              <a:t>Có</a:t>
            </a:r>
            <a:r>
              <a:rPr lang="en-US" altLang="ja-JP" sz="1600" dirty="0">
                <a:latin typeface="+mj-lt"/>
              </a:rPr>
              <a:t> </a:t>
            </a:r>
            <a:r>
              <a:rPr lang="en-US" altLang="ja-JP" sz="1600" dirty="0" err="1">
                <a:latin typeface="+mj-lt"/>
              </a:rPr>
              <a:t>trường</a:t>
            </a:r>
            <a:r>
              <a:rPr lang="en-US" altLang="ja-JP" sz="1600" dirty="0">
                <a:latin typeface="+mj-lt"/>
              </a:rPr>
              <a:t> </a:t>
            </a:r>
            <a:r>
              <a:rPr lang="en-US" altLang="ja-JP" sz="1600" dirty="0" err="1">
                <a:latin typeface="+mj-lt"/>
              </a:rPr>
              <a:t>hợp</a:t>
            </a:r>
            <a:r>
              <a:rPr lang="en-US" altLang="ja-JP" sz="1600" dirty="0">
                <a:latin typeface="+mj-lt"/>
              </a:rPr>
              <a:t> </a:t>
            </a:r>
            <a:r>
              <a:rPr lang="en-US" altLang="ja-JP" sz="1600" dirty="0" err="1">
                <a:latin typeface="+mj-lt"/>
              </a:rPr>
              <a:t>có</a:t>
            </a:r>
            <a:r>
              <a:rPr lang="en-US" altLang="ja-JP" sz="1600" dirty="0">
                <a:latin typeface="+mj-lt"/>
              </a:rPr>
              <a:t> </a:t>
            </a:r>
            <a:r>
              <a:rPr lang="en-US" altLang="ja-JP" sz="1600" dirty="0" err="1">
                <a:latin typeface="+mj-lt"/>
              </a:rPr>
              <a:t>thể</a:t>
            </a:r>
            <a:r>
              <a:rPr lang="en-US" altLang="ja-JP" sz="1600" dirty="0">
                <a:latin typeface="+mj-lt"/>
              </a:rPr>
              <a:t> </a:t>
            </a:r>
            <a:r>
              <a:rPr lang="en-US" altLang="ja-JP" sz="1600" dirty="0" err="1">
                <a:latin typeface="+mj-lt"/>
              </a:rPr>
              <a:t>một</a:t>
            </a:r>
            <a:r>
              <a:rPr lang="en-US" altLang="ja-JP" sz="1600" dirty="0">
                <a:latin typeface="+mj-lt"/>
              </a:rPr>
              <a:t> </a:t>
            </a:r>
            <a:r>
              <a:rPr lang="en-US" altLang="ja-JP" sz="1600" dirty="0" err="1">
                <a:latin typeface="+mj-lt"/>
              </a:rPr>
              <a:t>cách</a:t>
            </a:r>
            <a:r>
              <a:rPr lang="en-US" altLang="ja-JP" sz="1600" dirty="0">
                <a:latin typeface="+mj-lt"/>
              </a:rPr>
              <a:t> </a:t>
            </a:r>
            <a:r>
              <a:rPr lang="en-US" altLang="ja-JP" sz="1600" dirty="0" err="1">
                <a:latin typeface="+mj-lt"/>
              </a:rPr>
              <a:t>mang</a:t>
            </a:r>
            <a:r>
              <a:rPr lang="en-US" altLang="ja-JP" sz="1600" dirty="0">
                <a:latin typeface="+mj-lt"/>
              </a:rPr>
              <a:t> </a:t>
            </a:r>
            <a:r>
              <a:rPr lang="en-US" altLang="ja-JP" sz="1600" dirty="0" err="1">
                <a:latin typeface="+mj-lt"/>
              </a:rPr>
              <a:t>tính</a:t>
            </a:r>
            <a:r>
              <a:rPr lang="en-US" altLang="ja-JP" sz="1600" dirty="0">
                <a:latin typeface="+mj-lt"/>
              </a:rPr>
              <a:t> </a:t>
            </a:r>
            <a:r>
              <a:rPr lang="en-US" altLang="ja-JP" sz="1600" dirty="0" err="1">
                <a:latin typeface="+mj-lt"/>
              </a:rPr>
              <a:t>giới</a:t>
            </a:r>
            <a:r>
              <a:rPr lang="en-US" altLang="ja-JP" sz="1600" dirty="0">
                <a:latin typeface="+mj-lt"/>
              </a:rPr>
              <a:t> </a:t>
            </a:r>
            <a:r>
              <a:rPr lang="en-US" altLang="ja-JP" sz="1600" dirty="0" err="1">
                <a:latin typeface="+mj-lt"/>
              </a:rPr>
              <a:t>hạn</a:t>
            </a:r>
            <a:r>
              <a:rPr lang="ja-JP" altLang="en-US" sz="1600" dirty="0">
                <a:latin typeface="+mj-lt"/>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4EAC5C1E-748E-A6DD-66A0-F816D60F7F60}"/>
              </a:ext>
            </a:extLst>
          </p:cNvPr>
          <p:cNvSpPr>
            <a:spLocks noGrp="1"/>
          </p:cNvSpPr>
          <p:nvPr>
            <p:ph type="sldNum" sz="quarter" idx="10"/>
          </p:nvPr>
        </p:nvSpPr>
        <p:spPr/>
        <p:txBody>
          <a:bodyPr/>
          <a:lstStyle/>
          <a:p>
            <a:fld id="{B9ECB4BE-45C6-4583-9DAF-A658459562CE}" type="slidenum">
              <a:rPr lang="en-US" altLang="ja-JP"/>
              <a:pPr/>
              <a:t>11</a:t>
            </a:fld>
            <a:endParaRPr lang="en-US" altLang="ja-JP"/>
          </a:p>
        </p:txBody>
      </p:sp>
      <p:sp>
        <p:nvSpPr>
          <p:cNvPr id="580610" name="Rectangle 2">
            <a:extLst>
              <a:ext uri="{FF2B5EF4-FFF2-40B4-BE49-F238E27FC236}">
                <a16:creationId xmlns:a16="http://schemas.microsoft.com/office/drawing/2014/main" id="{13D6212B-BD1B-3629-6344-1AA780FF5E38}"/>
              </a:ext>
            </a:extLst>
          </p:cNvPr>
          <p:cNvSpPr>
            <a:spLocks noGrp="1" noChangeArrowheads="1"/>
          </p:cNvSpPr>
          <p:nvPr>
            <p:ph type="title"/>
          </p:nvPr>
        </p:nvSpPr>
        <p:spPr>
          <a:xfrm>
            <a:off x="344488" y="374304"/>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Polymorphism(1)</a:t>
            </a:r>
          </a:p>
        </p:txBody>
      </p:sp>
      <p:sp>
        <p:nvSpPr>
          <p:cNvPr id="580611" name="Rectangle 3">
            <a:extLst>
              <a:ext uri="{FF2B5EF4-FFF2-40B4-BE49-F238E27FC236}">
                <a16:creationId xmlns:a16="http://schemas.microsoft.com/office/drawing/2014/main" id="{0A8DB3A9-09C8-6026-3A7F-752ED7CF0DD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Polymorphism</a:t>
            </a:r>
          </a:p>
          <a:p>
            <a:pPr>
              <a:buFont typeface="Wingdings" panose="05000000000000000000" pitchFamily="2" charset="2"/>
              <a:buNone/>
            </a:pPr>
            <a:r>
              <a:rPr lang="en-US" altLang="ja-JP" sz="2000" b="0" dirty="0">
                <a:latin typeface="Arial" panose="020B0604020202020204" pitchFamily="34" charset="0"/>
              </a:rPr>
              <a:t>●Polymorphism</a:t>
            </a:r>
          </a:p>
        </p:txBody>
      </p:sp>
      <p:sp>
        <p:nvSpPr>
          <p:cNvPr id="580655" name="Rectangle 47">
            <a:extLst>
              <a:ext uri="{FF2B5EF4-FFF2-40B4-BE49-F238E27FC236}">
                <a16:creationId xmlns:a16="http://schemas.microsoft.com/office/drawing/2014/main" id="{521340FF-FDD3-9BD5-9949-E3EA5E938DDC}"/>
              </a:ext>
            </a:extLst>
          </p:cNvPr>
          <p:cNvSpPr>
            <a:spLocks noChangeArrowheads="1"/>
          </p:cNvSpPr>
          <p:nvPr/>
        </p:nvSpPr>
        <p:spPr bwMode="auto">
          <a:xfrm>
            <a:off x="241300" y="1635125"/>
            <a:ext cx="9223375" cy="7508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dirty="0" err="1">
                <a:latin typeface="Arial" panose="020B0604020202020204" pitchFamily="34" charset="0"/>
              </a:rPr>
              <a:t>Hoạt</a:t>
            </a:r>
            <a:r>
              <a:rPr lang="en-US" altLang="ja-JP" sz="1800" dirty="0">
                <a:latin typeface="Arial" panose="020B0604020202020204" pitchFamily="34" charset="0"/>
              </a:rPr>
              <a:t> </a:t>
            </a:r>
            <a:r>
              <a:rPr lang="en-US" altLang="ja-JP" sz="1800" dirty="0" err="1">
                <a:latin typeface="Arial" panose="020B0604020202020204" pitchFamily="34" charset="0"/>
              </a:rPr>
              <a:t>động</a:t>
            </a:r>
            <a:r>
              <a:rPr lang="en-US" altLang="ja-JP" sz="1800" dirty="0">
                <a:latin typeface="Arial" panose="020B0604020202020204" pitchFamily="34" charset="0"/>
              </a:rPr>
              <a:t> </a:t>
            </a:r>
            <a:r>
              <a:rPr lang="en-US" altLang="ja-JP" sz="1800" dirty="0" err="1">
                <a:latin typeface="Arial" panose="020B0604020202020204" pitchFamily="34" charset="0"/>
              </a:rPr>
              <a:t>của</a:t>
            </a:r>
            <a:r>
              <a:rPr lang="en-US" altLang="ja-JP" sz="1800" dirty="0">
                <a:latin typeface="Arial" panose="020B0604020202020204" pitchFamily="34" charset="0"/>
              </a:rPr>
              <a:t> </a:t>
            </a:r>
            <a:r>
              <a:rPr lang="en-US" altLang="ja-JP" sz="1800" dirty="0" err="1">
                <a:latin typeface="Arial" panose="020B0604020202020204" pitchFamily="34" charset="0"/>
              </a:rPr>
              <a:t>một</a:t>
            </a:r>
            <a:r>
              <a:rPr lang="en-US" altLang="ja-JP" sz="1800" dirty="0">
                <a:latin typeface="Arial" panose="020B0604020202020204" pitchFamily="34" charset="0"/>
              </a:rPr>
              <a:t> object </a:t>
            </a:r>
            <a:r>
              <a:rPr lang="en-US" altLang="ja-JP" sz="1800" dirty="0" err="1">
                <a:latin typeface="Arial" panose="020B0604020202020204" pitchFamily="34" charset="0"/>
              </a:rPr>
              <a:t>không</a:t>
            </a:r>
            <a:r>
              <a:rPr lang="en-US" altLang="ja-JP" sz="1800" dirty="0">
                <a:latin typeface="Arial" panose="020B0604020202020204" pitchFamily="34" charset="0"/>
              </a:rPr>
              <a:t> </a:t>
            </a:r>
            <a:r>
              <a:rPr lang="en-US" altLang="ja-JP" sz="1800" dirty="0" err="1">
                <a:latin typeface="Arial" panose="020B0604020202020204" pitchFamily="34" charset="0"/>
              </a:rPr>
              <a:t>phải</a:t>
            </a:r>
            <a:r>
              <a:rPr lang="en-US" altLang="ja-JP" sz="1800" dirty="0">
                <a:latin typeface="Arial" panose="020B0604020202020204" pitchFamily="34" charset="0"/>
              </a:rPr>
              <a:t> </a:t>
            </a:r>
            <a:r>
              <a:rPr lang="en-US" altLang="ja-JP" sz="1800" dirty="0" err="1">
                <a:latin typeface="Arial" panose="020B0604020202020204" pitchFamily="34" charset="0"/>
              </a:rPr>
              <a:t>là</a:t>
            </a:r>
            <a:r>
              <a:rPr lang="en-US" altLang="ja-JP" sz="1800" dirty="0">
                <a:latin typeface="Arial" panose="020B0604020202020204" pitchFamily="34" charset="0"/>
              </a:rPr>
              <a:t> </a:t>
            </a:r>
            <a:r>
              <a:rPr lang="en-US" altLang="ja-JP" sz="1800" dirty="0" err="1">
                <a:latin typeface="Arial" panose="020B0604020202020204" pitchFamily="34" charset="0"/>
              </a:rPr>
              <a:t>đặc</a:t>
            </a:r>
            <a:r>
              <a:rPr lang="en-US" altLang="ja-JP" sz="1800" dirty="0">
                <a:latin typeface="Arial" panose="020B0604020202020204" pitchFamily="34" charset="0"/>
              </a:rPr>
              <a:t> </a:t>
            </a:r>
            <a:r>
              <a:rPr lang="en-US" altLang="ja-JP" sz="1800" dirty="0" err="1">
                <a:latin typeface="Arial" panose="020B0604020202020204" pitchFamily="34" charset="0"/>
              </a:rPr>
              <a:t>tính</a:t>
            </a:r>
            <a:r>
              <a:rPr lang="en-US" altLang="ja-JP" sz="1800" dirty="0">
                <a:latin typeface="Arial" panose="020B0604020202020204" pitchFamily="34" charset="0"/>
              </a:rPr>
              <a:t> </a:t>
            </a:r>
            <a:r>
              <a:rPr lang="en-US" altLang="ja-JP" sz="1800" dirty="0" err="1">
                <a:latin typeface="Arial" panose="020B0604020202020204" pitchFamily="34" charset="0"/>
              </a:rPr>
              <a:t>xác</a:t>
            </a:r>
            <a:r>
              <a:rPr lang="en-US" altLang="ja-JP" sz="1800" dirty="0">
                <a:latin typeface="Arial" panose="020B0604020202020204" pitchFamily="34" charset="0"/>
              </a:rPr>
              <a:t> </a:t>
            </a:r>
            <a:r>
              <a:rPr lang="en-US" altLang="ja-JP" sz="1800" dirty="0" err="1">
                <a:latin typeface="Arial" panose="020B0604020202020204" pitchFamily="34" charset="0"/>
              </a:rPr>
              <a:t>định</a:t>
            </a:r>
            <a:r>
              <a:rPr lang="en-US" altLang="ja-JP" sz="1800" dirty="0">
                <a:latin typeface="Arial" panose="020B0604020202020204" pitchFamily="34" charset="0"/>
              </a:rPr>
              <a:t> </a:t>
            </a:r>
            <a:r>
              <a:rPr lang="en-US" altLang="ja-JP" sz="1800" dirty="0" err="1">
                <a:latin typeface="Arial" panose="020B0604020202020204" pitchFamily="34" charset="0"/>
              </a:rPr>
              <a:t>bởi</a:t>
            </a:r>
            <a:r>
              <a:rPr lang="en-US" altLang="ja-JP" sz="1800" dirty="0">
                <a:latin typeface="Arial" panose="020B0604020202020204" pitchFamily="34" charset="0"/>
              </a:rPr>
              <a:t> </a:t>
            </a:r>
            <a:r>
              <a:rPr lang="en-US" altLang="ja-JP" sz="1800" dirty="0" err="1">
                <a:latin typeface="Arial" panose="020B0604020202020204" pitchFamily="34" charset="0"/>
              </a:rPr>
              <a:t>phía</a:t>
            </a:r>
            <a:r>
              <a:rPr lang="en-US" altLang="ja-JP" sz="1800" dirty="0">
                <a:latin typeface="Arial" panose="020B0604020202020204" pitchFamily="34" charset="0"/>
              </a:rPr>
              <a:t> </a:t>
            </a:r>
            <a:r>
              <a:rPr lang="en-US" altLang="ja-JP" sz="1800" dirty="0" err="1">
                <a:latin typeface="Arial" panose="020B0604020202020204" pitchFamily="34" charset="0"/>
              </a:rPr>
              <a:t>yêu</a:t>
            </a:r>
            <a:r>
              <a:rPr lang="en-US" altLang="ja-JP" sz="1800" dirty="0">
                <a:latin typeface="Arial" panose="020B0604020202020204" pitchFamily="34" charset="0"/>
              </a:rPr>
              <a:t> </a:t>
            </a:r>
            <a:r>
              <a:rPr lang="en-US" altLang="ja-JP" sz="1800" dirty="0" err="1">
                <a:latin typeface="Arial" panose="020B0604020202020204" pitchFamily="34" charset="0"/>
              </a:rPr>
              <a:t>cầu</a:t>
            </a:r>
            <a:r>
              <a:rPr lang="en-US" altLang="ja-JP" sz="1800" dirty="0">
                <a:latin typeface="Arial" panose="020B0604020202020204" pitchFamily="34" charset="0"/>
              </a:rPr>
              <a:t> </a:t>
            </a:r>
            <a:r>
              <a:rPr lang="en-US" altLang="ja-JP" sz="1800" dirty="0" err="1">
                <a:latin typeface="Arial" panose="020B0604020202020204" pitchFamily="34" charset="0"/>
              </a:rPr>
              <a:t>xử</a:t>
            </a:r>
            <a:r>
              <a:rPr lang="en-US" altLang="ja-JP" sz="1800" dirty="0">
                <a:latin typeface="Arial" panose="020B0604020202020204" pitchFamily="34" charset="0"/>
              </a:rPr>
              <a:t> </a:t>
            </a:r>
            <a:r>
              <a:rPr lang="en-US" altLang="ja-JP" sz="1800" dirty="0" err="1">
                <a:latin typeface="Arial" panose="020B0604020202020204" pitchFamily="34" charset="0"/>
              </a:rPr>
              <a:t>lý</a:t>
            </a:r>
            <a:r>
              <a:rPr lang="en-US" altLang="ja-JP" sz="1800" dirty="0">
                <a:latin typeface="Arial" panose="020B0604020202020204" pitchFamily="34" charset="0"/>
              </a:rPr>
              <a:t> </a:t>
            </a:r>
            <a:r>
              <a:rPr lang="en-US" altLang="ja-JP" sz="1800" dirty="0" err="1">
                <a:latin typeface="Arial" panose="020B0604020202020204" pitchFamily="34" charset="0"/>
              </a:rPr>
              <a:t>mà</a:t>
            </a:r>
            <a:r>
              <a:rPr lang="en-US" altLang="ja-JP" sz="1800" dirty="0">
                <a:latin typeface="Arial" panose="020B0604020202020204" pitchFamily="34" charset="0"/>
              </a:rPr>
              <a:t> </a:t>
            </a:r>
            <a:r>
              <a:rPr lang="en-US" altLang="ja-JP" sz="1800" dirty="0" err="1">
                <a:latin typeface="Arial" panose="020B0604020202020204" pitchFamily="34" charset="0"/>
              </a:rPr>
              <a:t>phải</a:t>
            </a:r>
            <a:r>
              <a:rPr lang="en-US" altLang="ja-JP" sz="1800" dirty="0">
                <a:latin typeface="Arial" panose="020B0604020202020204" pitchFamily="34" charset="0"/>
              </a:rPr>
              <a:t> </a:t>
            </a:r>
            <a:r>
              <a:rPr lang="en-US" altLang="ja-JP" sz="1800" dirty="0" err="1">
                <a:latin typeface="Arial" panose="020B0604020202020204" pitchFamily="34" charset="0"/>
              </a:rPr>
              <a:t>là</a:t>
            </a:r>
            <a:r>
              <a:rPr lang="en-US" altLang="ja-JP" sz="1800" dirty="0">
                <a:latin typeface="Arial" panose="020B0604020202020204" pitchFamily="34" charset="0"/>
              </a:rPr>
              <a:t> </a:t>
            </a:r>
            <a:r>
              <a:rPr lang="en-US" altLang="ja-JP" sz="1800" dirty="0" err="1">
                <a:latin typeface="Arial" panose="020B0604020202020204" pitchFamily="34" charset="0"/>
              </a:rPr>
              <a:t>đặc</a:t>
            </a:r>
            <a:r>
              <a:rPr lang="en-US" altLang="ja-JP" sz="1800" dirty="0">
                <a:latin typeface="Arial" panose="020B0604020202020204" pitchFamily="34" charset="0"/>
              </a:rPr>
              <a:t> </a:t>
            </a:r>
            <a:r>
              <a:rPr lang="en-US" altLang="ja-JP" sz="1800" dirty="0" err="1">
                <a:latin typeface="Arial" panose="020B0604020202020204" pitchFamily="34" charset="0"/>
              </a:rPr>
              <a:t>tính</a:t>
            </a:r>
            <a:r>
              <a:rPr lang="en-US" altLang="ja-JP" sz="1800" dirty="0">
                <a:latin typeface="Arial" panose="020B0604020202020204" pitchFamily="34" charset="0"/>
              </a:rPr>
              <a:t> </a:t>
            </a:r>
            <a:r>
              <a:rPr lang="en-US" altLang="ja-JP" sz="1800" dirty="0" err="1">
                <a:latin typeface="Arial" panose="020B0604020202020204" pitchFamily="34" charset="0"/>
              </a:rPr>
              <a:t>xác</a:t>
            </a:r>
            <a:r>
              <a:rPr lang="en-US" altLang="ja-JP" sz="1800" dirty="0">
                <a:latin typeface="Arial" panose="020B0604020202020204" pitchFamily="34" charset="0"/>
              </a:rPr>
              <a:t> </a:t>
            </a:r>
            <a:r>
              <a:rPr lang="en-US" altLang="ja-JP" sz="1800" dirty="0" err="1">
                <a:latin typeface="Arial" panose="020B0604020202020204" pitchFamily="34" charset="0"/>
              </a:rPr>
              <a:t>định</a:t>
            </a:r>
            <a:r>
              <a:rPr lang="en-US" altLang="ja-JP" sz="1800" dirty="0">
                <a:latin typeface="Arial" panose="020B0604020202020204" pitchFamily="34" charset="0"/>
              </a:rPr>
              <a:t> </a:t>
            </a:r>
            <a:r>
              <a:rPr lang="en-US" altLang="ja-JP" sz="1800" dirty="0" err="1">
                <a:latin typeface="Arial" panose="020B0604020202020204" pitchFamily="34" charset="0"/>
              </a:rPr>
              <a:t>dựa</a:t>
            </a:r>
            <a:r>
              <a:rPr lang="en-US" altLang="ja-JP" sz="1800" dirty="0">
                <a:latin typeface="Arial" panose="020B0604020202020204" pitchFamily="34" charset="0"/>
              </a:rPr>
              <a:t> </a:t>
            </a:r>
            <a:r>
              <a:rPr lang="en-US" altLang="ja-JP" sz="1800" dirty="0" err="1">
                <a:latin typeface="Arial" panose="020B0604020202020204" pitchFamily="34" charset="0"/>
              </a:rPr>
              <a:t>vào</a:t>
            </a:r>
            <a:r>
              <a:rPr lang="en-US" altLang="ja-JP" sz="1800" dirty="0">
                <a:latin typeface="Arial" panose="020B0604020202020204" pitchFamily="34" charset="0"/>
              </a:rPr>
              <a:t> object </a:t>
            </a:r>
            <a:r>
              <a:rPr lang="en-US" altLang="ja-JP" sz="1800" dirty="0" err="1">
                <a:latin typeface="Arial" panose="020B0604020202020204" pitchFamily="34" charset="0"/>
              </a:rPr>
              <a:t>đã</a:t>
            </a:r>
            <a:r>
              <a:rPr lang="en-US" altLang="ja-JP" sz="1800" dirty="0">
                <a:latin typeface="Arial" panose="020B0604020202020204" pitchFamily="34" charset="0"/>
              </a:rPr>
              <a:t> </a:t>
            </a:r>
            <a:r>
              <a:rPr lang="en-US" altLang="ja-JP" sz="1800" dirty="0" err="1">
                <a:latin typeface="Arial" panose="020B0604020202020204" pitchFamily="34" charset="0"/>
              </a:rPr>
              <a:t>tiếp</a:t>
            </a:r>
            <a:r>
              <a:rPr lang="en-US" altLang="ja-JP" sz="1800" dirty="0">
                <a:latin typeface="Arial" panose="020B0604020202020204" pitchFamily="34" charset="0"/>
              </a:rPr>
              <a:t> </a:t>
            </a:r>
            <a:r>
              <a:rPr lang="en-US" altLang="ja-JP" sz="1800" dirty="0" err="1">
                <a:latin typeface="Arial" panose="020B0604020202020204" pitchFamily="34" charset="0"/>
              </a:rPr>
              <a:t>nhận</a:t>
            </a:r>
            <a:r>
              <a:rPr lang="en-US" altLang="ja-JP" sz="1800" dirty="0">
                <a:latin typeface="Arial" panose="020B0604020202020204" pitchFamily="34" charset="0"/>
              </a:rPr>
              <a:t> </a:t>
            </a:r>
            <a:r>
              <a:rPr lang="en-US" altLang="ja-JP" sz="1800" dirty="0" err="1">
                <a:latin typeface="Arial" panose="020B0604020202020204" pitchFamily="34" charset="0"/>
              </a:rPr>
              <a:t>yêu</a:t>
            </a:r>
            <a:r>
              <a:rPr lang="en-US" altLang="ja-JP" sz="1800" dirty="0">
                <a:latin typeface="Arial" panose="020B0604020202020204" pitchFamily="34" charset="0"/>
              </a:rPr>
              <a:t> </a:t>
            </a:r>
            <a:r>
              <a:rPr lang="en-US" altLang="ja-JP" sz="1800" dirty="0" err="1">
                <a:latin typeface="Arial" panose="020B0604020202020204" pitchFamily="34" charset="0"/>
              </a:rPr>
              <a:t>cầu</a:t>
            </a:r>
            <a:r>
              <a:rPr lang="en-US" altLang="ja-JP" sz="1800" dirty="0">
                <a:latin typeface="Arial" panose="020B0604020202020204" pitchFamily="34" charset="0"/>
              </a:rPr>
              <a:t>.</a:t>
            </a:r>
          </a:p>
        </p:txBody>
      </p:sp>
      <p:sp>
        <p:nvSpPr>
          <p:cNvPr id="580656" name="AutoShape 48">
            <a:extLst>
              <a:ext uri="{FF2B5EF4-FFF2-40B4-BE49-F238E27FC236}">
                <a16:creationId xmlns:a16="http://schemas.microsoft.com/office/drawing/2014/main" id="{A71B327E-59F8-DE63-C177-5BB2BDD44FCA}"/>
              </a:ext>
            </a:extLst>
          </p:cNvPr>
          <p:cNvSpPr>
            <a:spLocks noChangeArrowheads="1"/>
          </p:cNvSpPr>
          <p:nvPr/>
        </p:nvSpPr>
        <p:spPr bwMode="auto">
          <a:xfrm>
            <a:off x="814388" y="2649538"/>
            <a:ext cx="8558212" cy="558800"/>
          </a:xfrm>
          <a:prstGeom prst="wedgeRoundRectCallout">
            <a:avLst>
              <a:gd name="adj1" fmla="val -25213"/>
              <a:gd name="adj2" fmla="val -92046"/>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Lấy</a:t>
            </a:r>
            <a:r>
              <a:rPr lang="en-US" altLang="ja-JP" sz="1800" dirty="0">
                <a:latin typeface="+mj-lt"/>
              </a:rPr>
              <a:t> </a:t>
            </a:r>
            <a:r>
              <a:rPr lang="en-US" altLang="ja-JP" sz="1800" dirty="0" err="1">
                <a:latin typeface="+mj-lt"/>
              </a:rPr>
              <a:t>nhiều</a:t>
            </a:r>
            <a:r>
              <a:rPr lang="en-US" altLang="ja-JP" sz="1800" dirty="0">
                <a:latin typeface="+mj-lt"/>
              </a:rPr>
              <a:t> object </a:t>
            </a:r>
            <a:r>
              <a:rPr lang="en-US" altLang="ja-JP" sz="1800" dirty="0" err="1">
                <a:latin typeface="+mj-lt"/>
              </a:rPr>
              <a:t>của</a:t>
            </a:r>
            <a:r>
              <a:rPr lang="en-US" altLang="ja-JP" sz="1800" dirty="0">
                <a:latin typeface="+mj-lt"/>
              </a:rPr>
              <a:t> class </a:t>
            </a:r>
            <a:r>
              <a:rPr lang="en-US" altLang="ja-JP" sz="1800" dirty="0" err="1">
                <a:latin typeface="+mj-lt"/>
              </a:rPr>
              <a:t>cùng</a:t>
            </a:r>
            <a:r>
              <a:rPr lang="en-US" altLang="ja-JP" sz="1800" dirty="0">
                <a:latin typeface="+mj-lt"/>
              </a:rPr>
              <a:t> </a:t>
            </a:r>
            <a:r>
              <a:rPr lang="en-US" altLang="ja-JP" sz="1800" dirty="0" err="1">
                <a:latin typeface="+mj-lt"/>
              </a:rPr>
              <a:t>loại</a:t>
            </a:r>
            <a:r>
              <a:rPr lang="en-US" altLang="ja-JP" sz="1800" dirty="0">
                <a:latin typeface="+mj-lt"/>
              </a:rPr>
              <a:t> </a:t>
            </a:r>
            <a:r>
              <a:rPr lang="en-US" altLang="ja-JP" sz="1800" dirty="0" err="1">
                <a:latin typeface="+mj-lt"/>
              </a:rPr>
              <a:t>làm</a:t>
            </a:r>
            <a:r>
              <a:rPr lang="en-US" altLang="ja-JP" sz="1800" dirty="0">
                <a:latin typeface="+mj-lt"/>
              </a:rPr>
              <a:t> </a:t>
            </a:r>
            <a:r>
              <a:rPr lang="en-US" altLang="ja-JP" sz="1800" dirty="0" err="1">
                <a:latin typeface="+mj-lt"/>
              </a:rPr>
              <a:t>đối</a:t>
            </a:r>
            <a:r>
              <a:rPr lang="en-US" altLang="ja-JP" sz="1800" dirty="0">
                <a:latin typeface="+mj-lt"/>
              </a:rPr>
              <a:t> </a:t>
            </a:r>
            <a:r>
              <a:rPr lang="en-US" altLang="ja-JP" sz="1800" dirty="0" err="1">
                <a:latin typeface="+mj-lt"/>
              </a:rPr>
              <a:t>tượng</a:t>
            </a:r>
            <a:r>
              <a:rPr lang="en-US" altLang="ja-JP" sz="1800" dirty="0">
                <a:latin typeface="+mj-lt"/>
              </a:rPr>
              <a:t>, có </a:t>
            </a:r>
            <a:r>
              <a:rPr lang="en-US" altLang="ja-JP" sz="1800" dirty="0" err="1">
                <a:latin typeface="+mj-lt"/>
              </a:rPr>
              <a:t>thê</a:t>
            </a:r>
            <a:r>
              <a:rPr lang="en-US" altLang="ja-JP" sz="1800" dirty="0">
                <a:latin typeface="+mj-lt"/>
              </a:rPr>
              <a:t>̉ </a:t>
            </a:r>
            <a:r>
              <a:rPr lang="en-US" altLang="ja-JP" sz="1800" dirty="0" err="1">
                <a:latin typeface="+mj-lt"/>
              </a:rPr>
              <a:t>yêu</a:t>
            </a:r>
            <a:r>
              <a:rPr lang="en-US" altLang="ja-JP" sz="1800" dirty="0">
                <a:latin typeface="+mj-lt"/>
              </a:rPr>
              <a:t> </a:t>
            </a:r>
            <a:r>
              <a:rPr lang="en-US" altLang="ja-JP" sz="1800" dirty="0" err="1">
                <a:latin typeface="+mj-lt"/>
              </a:rPr>
              <a:t>cầu</a:t>
            </a:r>
            <a:r>
              <a:rPr lang="en-US" altLang="ja-JP" sz="1800" dirty="0">
                <a:latin typeface="+mj-lt"/>
              </a:rPr>
              <a:t> </a:t>
            </a:r>
            <a:r>
              <a:rPr lang="en-US" altLang="ja-JP" sz="1800" dirty="0" err="1">
                <a:latin typeface="+mj-lt"/>
              </a:rPr>
              <a:t>xư</a:t>
            </a:r>
            <a:r>
              <a:rPr lang="en-US" altLang="ja-JP" sz="1800" dirty="0">
                <a:latin typeface="+mj-lt"/>
              </a:rPr>
              <a:t>̉ </a:t>
            </a:r>
            <a:r>
              <a:rPr lang="en-US" altLang="ja-JP" sz="1800" dirty="0" err="1">
                <a:latin typeface="+mj-lt"/>
              </a:rPr>
              <a:t>ly</a:t>
            </a:r>
            <a:r>
              <a:rPr lang="en-US" altLang="ja-JP" sz="1800" dirty="0">
                <a:latin typeface="+mj-lt"/>
              </a:rPr>
              <a:t>́ </a:t>
            </a:r>
            <a:r>
              <a:rPr lang="en-US" altLang="ja-JP" sz="1800" dirty="0" err="1">
                <a:latin typeface="+mj-lt"/>
              </a:rPr>
              <a:t>thống</a:t>
            </a:r>
            <a:r>
              <a:rPr lang="en-US" altLang="ja-JP" sz="1800" dirty="0">
                <a:latin typeface="+mj-lt"/>
              </a:rPr>
              <a:t> </a:t>
            </a:r>
            <a:r>
              <a:rPr lang="en-US" altLang="ja-JP" sz="1800" dirty="0" err="1">
                <a:latin typeface="+mj-lt"/>
              </a:rPr>
              <a:t>nhất</a:t>
            </a:r>
            <a:r>
              <a:rPr lang="ja-JP" altLang="en-US" sz="1800" dirty="0">
                <a:latin typeface="+mj-lt"/>
              </a:rPr>
              <a:t>！</a:t>
            </a:r>
          </a:p>
        </p:txBody>
      </p:sp>
      <p:sp>
        <p:nvSpPr>
          <p:cNvPr id="580657" name="Rectangle 49">
            <a:extLst>
              <a:ext uri="{FF2B5EF4-FFF2-40B4-BE49-F238E27FC236}">
                <a16:creationId xmlns:a16="http://schemas.microsoft.com/office/drawing/2014/main" id="{59644336-DF1B-2E73-69A5-F19CF349543A}"/>
              </a:ext>
            </a:extLst>
          </p:cNvPr>
          <p:cNvSpPr>
            <a:spLocks noChangeArrowheads="1"/>
          </p:cNvSpPr>
          <p:nvPr/>
        </p:nvSpPr>
        <p:spPr bwMode="auto">
          <a:xfrm>
            <a:off x="344488" y="34544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●Nếu biểu hiện polymorphism bằng Java…</a:t>
            </a:r>
            <a:endParaRPr lang="en-US" altLang="ja-JP" sz="2400" b="0">
              <a:latin typeface="Arial" panose="020B0604020202020204" pitchFamily="34" charset="0"/>
            </a:endParaRPr>
          </a:p>
        </p:txBody>
      </p:sp>
      <p:sp>
        <p:nvSpPr>
          <p:cNvPr id="580658" name="Rectangle 50">
            <a:extLst>
              <a:ext uri="{FF2B5EF4-FFF2-40B4-BE49-F238E27FC236}">
                <a16:creationId xmlns:a16="http://schemas.microsoft.com/office/drawing/2014/main" id="{AD22E691-2101-2D68-51F1-D8E4112DC04B}"/>
              </a:ext>
            </a:extLst>
          </p:cNvPr>
          <p:cNvSpPr>
            <a:spLocks noChangeArrowheads="1"/>
          </p:cNvSpPr>
          <p:nvPr/>
        </p:nvSpPr>
        <p:spPr bwMode="auto">
          <a:xfrm>
            <a:off x="603250" y="3916363"/>
            <a:ext cx="8963025" cy="8890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a:latin typeface="Arial" panose="020B0604020202020204" pitchFamily="34" charset="0"/>
              </a:rPr>
              <a:t>Nếu sử dụng biến số lấy super class hoặc interface làm kiểu data để gọi method, thì từng object có biến đang tham chiếu phải thực hiện hành vi đã được định nghĩa trong chính object đó. </a:t>
            </a:r>
          </a:p>
          <a:p>
            <a:pPr>
              <a:buFont typeface="Wingdings" panose="05000000000000000000" pitchFamily="2" charset="2"/>
              <a:buNone/>
            </a:pPr>
            <a:endParaRPr lang="en-US" altLang="ja-JP" sz="1800">
              <a:latin typeface="Arial" panose="020B0604020202020204" pitchFamily="34" charset="0"/>
            </a:endParaRPr>
          </a:p>
        </p:txBody>
      </p:sp>
      <p:sp>
        <p:nvSpPr>
          <p:cNvPr id="580661" name="AutoShape 53">
            <a:extLst>
              <a:ext uri="{FF2B5EF4-FFF2-40B4-BE49-F238E27FC236}">
                <a16:creationId xmlns:a16="http://schemas.microsoft.com/office/drawing/2014/main" id="{04DCCEF1-8276-4036-EDDC-446B4EC02355}"/>
              </a:ext>
            </a:extLst>
          </p:cNvPr>
          <p:cNvSpPr>
            <a:spLocks noChangeArrowheads="1"/>
          </p:cNvSpPr>
          <p:nvPr/>
        </p:nvSpPr>
        <p:spPr bwMode="auto">
          <a:xfrm>
            <a:off x="2863850" y="5126038"/>
            <a:ext cx="5418138" cy="490537"/>
          </a:xfrm>
          <a:prstGeom prst="wedgeRoundRectCallout">
            <a:avLst>
              <a:gd name="adj1" fmla="val 9741"/>
              <a:gd name="adj2" fmla="val -94593"/>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dirty="0" err="1">
                <a:latin typeface="+mj-lt"/>
              </a:rPr>
              <a:t>Các</a:t>
            </a:r>
            <a:r>
              <a:rPr lang="en-US" altLang="ja-JP" sz="1800" dirty="0">
                <a:latin typeface="+mj-lt"/>
              </a:rPr>
              <a:t> object </a:t>
            </a:r>
            <a:r>
              <a:rPr lang="en-US" altLang="ja-JP" sz="1800" dirty="0" err="1">
                <a:latin typeface="+mj-lt"/>
              </a:rPr>
              <a:t>đa</a:t>
            </a:r>
            <a:r>
              <a:rPr lang="en-US" altLang="ja-JP" sz="1800" dirty="0">
                <a:latin typeface="+mj-lt"/>
              </a:rPr>
              <a:t>̃ </a:t>
            </a:r>
            <a:r>
              <a:rPr lang="en-US" altLang="ja-JP" sz="1800" dirty="0" err="1">
                <a:latin typeface="+mj-lt"/>
              </a:rPr>
              <a:t>nhận</a:t>
            </a:r>
            <a:r>
              <a:rPr lang="en-US" altLang="ja-JP" sz="1800" dirty="0">
                <a:latin typeface="+mj-lt"/>
              </a:rPr>
              <a:t> </a:t>
            </a:r>
            <a:r>
              <a:rPr lang="en-US" altLang="ja-JP" sz="1800" dirty="0" err="1">
                <a:latin typeface="+mj-lt"/>
              </a:rPr>
              <a:t>yêu</a:t>
            </a:r>
            <a:r>
              <a:rPr lang="en-US" altLang="ja-JP" sz="1800" dirty="0">
                <a:latin typeface="+mj-lt"/>
              </a:rPr>
              <a:t> </a:t>
            </a:r>
            <a:r>
              <a:rPr lang="en-US" altLang="ja-JP" sz="1800" dirty="0" err="1">
                <a:latin typeface="+mj-lt"/>
              </a:rPr>
              <a:t>cầu</a:t>
            </a:r>
            <a:r>
              <a:rPr lang="en-US" altLang="ja-JP" sz="1800" dirty="0">
                <a:latin typeface="+mj-lt"/>
              </a:rPr>
              <a:t> </a:t>
            </a:r>
            <a:r>
              <a:rPr lang="en-US" altLang="ja-JP" sz="1800" dirty="0" err="1">
                <a:latin typeface="+mj-lt"/>
              </a:rPr>
              <a:t>hoạt</a:t>
            </a:r>
            <a:r>
              <a:rPr lang="en-US" altLang="ja-JP" sz="1800" dirty="0">
                <a:latin typeface="+mj-lt"/>
              </a:rPr>
              <a:t> </a:t>
            </a:r>
            <a:r>
              <a:rPr lang="en-US" altLang="ja-JP" sz="1800" dirty="0" err="1">
                <a:latin typeface="+mj-lt"/>
              </a:rPr>
              <a:t>động</a:t>
            </a:r>
            <a:r>
              <a:rPr lang="en-US" altLang="ja-JP" sz="1800" dirty="0">
                <a:latin typeface="+mj-lt"/>
              </a:rPr>
              <a:t> </a:t>
            </a:r>
            <a:r>
              <a:rPr lang="en-US" altLang="ja-JP" sz="1800" dirty="0" err="1">
                <a:latin typeface="+mj-lt"/>
              </a:rPr>
              <a:t>độc</a:t>
            </a:r>
            <a:r>
              <a:rPr lang="en-US" altLang="ja-JP" sz="1800" dirty="0">
                <a:latin typeface="+mj-lt"/>
              </a:rPr>
              <a:t> </a:t>
            </a:r>
            <a:r>
              <a:rPr lang="en-US" altLang="ja-JP" sz="1800" dirty="0" err="1">
                <a:latin typeface="+mj-lt"/>
              </a:rPr>
              <a:t>lập</a:t>
            </a:r>
            <a:r>
              <a:rPr lang="ja-JP" altLang="en-US" sz="1800" dirty="0">
                <a:latin typeface="+mj-lt"/>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836F583-71B8-705D-60ED-61F35D3B9F7C}"/>
              </a:ext>
            </a:extLst>
          </p:cNvPr>
          <p:cNvSpPr>
            <a:spLocks noGrp="1"/>
          </p:cNvSpPr>
          <p:nvPr>
            <p:ph type="sldNum" sz="quarter" idx="10"/>
          </p:nvPr>
        </p:nvSpPr>
        <p:spPr/>
        <p:txBody>
          <a:bodyPr/>
          <a:lstStyle/>
          <a:p>
            <a:fld id="{3F20979E-7116-417E-81EC-D5ED3BB5A1EA}" type="slidenum">
              <a:rPr lang="en-US" altLang="ja-JP"/>
              <a:pPr/>
              <a:t>12</a:t>
            </a:fld>
            <a:endParaRPr lang="en-US" altLang="ja-JP"/>
          </a:p>
        </p:txBody>
      </p:sp>
      <p:sp>
        <p:nvSpPr>
          <p:cNvPr id="596994" name="Rectangle 2">
            <a:extLst>
              <a:ext uri="{FF2B5EF4-FFF2-40B4-BE49-F238E27FC236}">
                <a16:creationId xmlns:a16="http://schemas.microsoft.com/office/drawing/2014/main" id="{C164B09A-9694-5BD7-011E-B2712B63A360}"/>
              </a:ext>
            </a:extLst>
          </p:cNvPr>
          <p:cNvSpPr>
            <a:spLocks noGrp="1" noChangeArrowheads="1"/>
          </p:cNvSpPr>
          <p:nvPr>
            <p:ph type="title"/>
          </p:nvPr>
        </p:nvSpPr>
        <p:spPr>
          <a:xfrm>
            <a:off x="341469" y="310147"/>
            <a:ext cx="9217025" cy="490537"/>
          </a:xfrm>
        </p:spPr>
        <p:txBody>
          <a:bodyPr>
            <a:normAutofit fontScale="90000"/>
          </a:bodyPr>
          <a:lstStyle/>
          <a:p>
            <a:r>
              <a:rPr lang="en-US" altLang="ja-JP" dirty="0">
                <a:latin typeface="Times New Roman" panose="02020603050405020304" pitchFamily="18" charset="0"/>
                <a:ea typeface="MS UI Gothic" panose="020B0600070205080204" pitchFamily="50" charset="-128"/>
              </a:rPr>
              <a:t>Polymorphism (2)</a:t>
            </a:r>
          </a:p>
        </p:txBody>
      </p:sp>
      <p:sp>
        <p:nvSpPr>
          <p:cNvPr id="596995" name="Rectangle 3">
            <a:extLst>
              <a:ext uri="{FF2B5EF4-FFF2-40B4-BE49-F238E27FC236}">
                <a16:creationId xmlns:a16="http://schemas.microsoft.com/office/drawing/2014/main" id="{891CF362-64CB-C8CE-2BC7-9C47C4892AA5}"/>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Times New Roman" panose="02020603050405020304" pitchFamily="18" charset="0"/>
              </a:rPr>
              <a:t>Cast và override kiểu tham chiếu</a:t>
            </a:r>
          </a:p>
        </p:txBody>
      </p:sp>
      <p:sp>
        <p:nvSpPr>
          <p:cNvPr id="596996" name="AutoShape 4">
            <a:extLst>
              <a:ext uri="{FF2B5EF4-FFF2-40B4-BE49-F238E27FC236}">
                <a16:creationId xmlns:a16="http://schemas.microsoft.com/office/drawing/2014/main" id="{F05AFC33-C863-A7F2-B8C6-221058414BFD}"/>
              </a:ext>
            </a:extLst>
          </p:cNvPr>
          <p:cNvSpPr>
            <a:spLocks noChangeArrowheads="1"/>
          </p:cNvSpPr>
          <p:nvPr/>
        </p:nvSpPr>
        <p:spPr bwMode="auto">
          <a:xfrm>
            <a:off x="628650" y="1295400"/>
            <a:ext cx="3355975" cy="922338"/>
          </a:xfrm>
          <a:prstGeom prst="wedgeRoundRectCallout">
            <a:avLst>
              <a:gd name="adj1" fmla="val 61306"/>
              <a:gd name="adj2" fmla="val -15921"/>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200" b="0">
                <a:latin typeface="Times New Roman" panose="02020603050405020304" pitchFamily="18" charset="0"/>
              </a:rPr>
              <a:t>Chỉ có thể truy cập từ thuộc tính </a:t>
            </a:r>
            <a:r>
              <a:rPr lang="ja-JP" altLang="en-US" sz="1200" b="0">
                <a:latin typeface="Times New Roman" panose="02020603050405020304" pitchFamily="18" charset="0"/>
              </a:rPr>
              <a:t>・ </a:t>
            </a:r>
            <a:r>
              <a:rPr lang="en-US" altLang="ja-JP" sz="1200" b="0">
                <a:latin typeface="Times New Roman" panose="02020603050405020304" pitchFamily="18" charset="0"/>
              </a:rPr>
              <a:t>thao tác đã kế thừa từ Employee class</a:t>
            </a:r>
            <a:r>
              <a:rPr lang="ja-JP" altLang="en-US" sz="1200" b="0">
                <a:latin typeface="Times New Roman" panose="02020603050405020304" pitchFamily="18" charset="0"/>
              </a:rPr>
              <a:t>！</a:t>
            </a:r>
          </a:p>
          <a:p>
            <a:r>
              <a:rPr lang="en-US" altLang="ja-JP" sz="1200" b="0">
                <a:latin typeface="Times New Roman" panose="02020603050405020304" pitchFamily="18" charset="0"/>
              </a:rPr>
              <a:t>(Loại trừ method đã được override)</a:t>
            </a:r>
          </a:p>
        </p:txBody>
      </p:sp>
      <p:sp>
        <p:nvSpPr>
          <p:cNvPr id="596997" name="Text Box 5">
            <a:extLst>
              <a:ext uri="{FF2B5EF4-FFF2-40B4-BE49-F238E27FC236}">
                <a16:creationId xmlns:a16="http://schemas.microsoft.com/office/drawing/2014/main" id="{CCB69F28-D959-0F2C-407B-40872F7095B1}"/>
              </a:ext>
            </a:extLst>
          </p:cNvPr>
          <p:cNvSpPr txBox="1">
            <a:spLocks noChangeArrowheads="1"/>
          </p:cNvSpPr>
          <p:nvPr/>
        </p:nvSpPr>
        <p:spPr bwMode="auto">
          <a:xfrm>
            <a:off x="344488" y="3316288"/>
            <a:ext cx="5208587" cy="29813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0" bIns="36000"/>
          <a:lstStyle>
            <a:lvl1pPr marL="85725">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500" b="0">
                <a:latin typeface="Times New Roman" panose="02020603050405020304" pitchFamily="18" charset="0"/>
                <a:ea typeface="ＭＳ ゴシック" panose="020B0609070205080204" pitchFamily="49" charset="-128"/>
              </a:rPr>
              <a:t>Employee emp = </a:t>
            </a:r>
            <a:r>
              <a:rPr lang="en-US" altLang="en-US" sz="1500" b="0">
                <a:latin typeface="Times New Roman" panose="02020603050405020304" pitchFamily="18" charset="0"/>
                <a:ea typeface="ＭＳ ゴシック" panose="020B0609070205080204" pitchFamily="49" charset="-128"/>
              </a:rPr>
              <a:t>new Sales();</a:t>
            </a:r>
            <a:endParaRPr lang="en-US" altLang="ja-JP" sz="1500" b="0">
              <a:latin typeface="Times New Roman" panose="02020603050405020304" pitchFamily="18" charset="0"/>
              <a:ea typeface="ＭＳ ゴシック" panose="020B0609070205080204" pitchFamily="49" charset="-128"/>
            </a:endParaRPr>
          </a:p>
          <a:p>
            <a:endParaRPr lang="en-US" altLang="ja-JP" sz="1500" b="0">
              <a:latin typeface="Times New Roman" panose="02020603050405020304" pitchFamily="18" charset="0"/>
              <a:ea typeface="ＭＳ ゴシック" panose="020B0609070205080204" pitchFamily="49" charset="-128"/>
            </a:endParaRPr>
          </a:p>
          <a:p>
            <a:r>
              <a:rPr lang="en-US" altLang="ja-JP" sz="1500" b="0">
                <a:latin typeface="Times New Roman" panose="02020603050405020304" pitchFamily="18" charset="0"/>
                <a:ea typeface="ＭＳ ゴシック" panose="020B0609070205080204" pitchFamily="49" charset="-128"/>
              </a:rPr>
              <a:t>// Có thể gọi ra method đã được định nghĩa bởi </a:t>
            </a:r>
            <a:r>
              <a:rPr lang="en-US" altLang="ja-JP" sz="1500" b="0">
                <a:latin typeface="Times New Roman" panose="02020603050405020304" pitchFamily="18" charset="0"/>
                <a:ea typeface="MS UI Gothic" panose="020B0600070205080204" pitchFamily="50" charset="-128"/>
              </a:rPr>
              <a:t>Employee</a:t>
            </a:r>
          </a:p>
          <a:p>
            <a:r>
              <a:rPr lang="en-US" altLang="ja-JP" sz="1500" b="0">
                <a:latin typeface="Times New Roman" panose="02020603050405020304" pitchFamily="18" charset="0"/>
                <a:ea typeface="ＭＳ ゴシック" panose="020B0609070205080204" pitchFamily="49" charset="-128"/>
              </a:rPr>
              <a:t>System.out.println(emp.getEmpName());</a:t>
            </a:r>
          </a:p>
          <a:p>
            <a:endParaRPr lang="en-US" altLang="ja-JP" sz="1500" b="0">
              <a:latin typeface="Times New Roman" panose="02020603050405020304" pitchFamily="18" charset="0"/>
              <a:ea typeface="ＭＳ ゴシック" panose="020B0609070205080204" pitchFamily="49" charset="-128"/>
            </a:endParaRPr>
          </a:p>
          <a:p>
            <a:r>
              <a:rPr lang="en-US" altLang="ja-JP" sz="1500" b="0">
                <a:latin typeface="Times New Roman" panose="02020603050405020304" pitchFamily="18" charset="0"/>
                <a:ea typeface="ＭＳ ゴシック" panose="020B0609070205080204" pitchFamily="49" charset="-128"/>
              </a:rPr>
              <a:t>// Không thể gọi ra method đã được định nghĩa bởi </a:t>
            </a:r>
            <a:r>
              <a:rPr lang="en-US" altLang="ja-JP" sz="1500" b="0">
                <a:latin typeface="Times New Roman" panose="02020603050405020304" pitchFamily="18" charset="0"/>
                <a:ea typeface="MS UI Gothic" panose="020B0600070205080204" pitchFamily="50" charset="-128"/>
              </a:rPr>
              <a:t>Sales</a:t>
            </a:r>
          </a:p>
          <a:p>
            <a:r>
              <a:rPr lang="en-US" altLang="ja-JP" sz="1500" b="0">
                <a:latin typeface="Times New Roman" panose="02020603050405020304" pitchFamily="18" charset="0"/>
                <a:ea typeface="ＭＳ ゴシック" panose="020B0609070205080204" pitchFamily="49" charset="-128"/>
              </a:rPr>
              <a:t>System.out.println(emp.getCount());</a:t>
            </a:r>
            <a:r>
              <a:rPr lang="ja-JP" altLang="en-US" sz="1500" b="0">
                <a:latin typeface="Times New Roman" panose="02020603050405020304" pitchFamily="18" charset="0"/>
                <a:ea typeface="ＭＳ ゴシック" panose="020B0609070205080204" pitchFamily="49" charset="-128"/>
              </a:rPr>
              <a:t>　</a:t>
            </a:r>
            <a:r>
              <a:rPr lang="ja-JP" altLang="en-US" sz="1500" b="0">
                <a:latin typeface="Times New Roman" panose="02020603050405020304" pitchFamily="18" charset="0"/>
                <a:ea typeface="MS UI Gothic" panose="020B0600070205080204" pitchFamily="50" charset="-128"/>
              </a:rPr>
              <a:t>←</a:t>
            </a:r>
            <a:r>
              <a:rPr lang="en-US" altLang="ja-JP" sz="1500" b="0">
                <a:latin typeface="Times New Roman" panose="02020603050405020304" pitchFamily="18" charset="0"/>
                <a:ea typeface="MS UI Gothic" panose="020B0600070205080204" pitchFamily="50" charset="-128"/>
              </a:rPr>
              <a:t>Error</a:t>
            </a:r>
          </a:p>
          <a:p>
            <a:endParaRPr lang="en-US" altLang="ja-JP" sz="1500" b="0">
              <a:latin typeface="Times New Roman" panose="02020603050405020304" pitchFamily="18" charset="0"/>
              <a:ea typeface="MS UI Gothic" panose="020B0600070205080204" pitchFamily="50" charset="-128"/>
            </a:endParaRPr>
          </a:p>
          <a:p>
            <a:r>
              <a:rPr lang="en-US" altLang="ja-JP" sz="1500" b="0">
                <a:latin typeface="Times New Roman" panose="02020603050405020304" pitchFamily="18" charset="0"/>
                <a:ea typeface="ＭＳ ゴシック" panose="020B0609070205080204" pitchFamily="49" charset="-128"/>
              </a:rPr>
              <a:t>// Có thể gọi ra method đã được override</a:t>
            </a:r>
            <a:endParaRPr lang="en-US" altLang="ja-JP" sz="1500" b="0">
              <a:latin typeface="Times New Roman" panose="02020603050405020304" pitchFamily="18" charset="0"/>
              <a:ea typeface="MS UI Gothic" panose="020B0600070205080204" pitchFamily="50" charset="-128"/>
            </a:endParaRPr>
          </a:p>
          <a:p>
            <a:r>
              <a:rPr lang="en-US" altLang="ja-JP" sz="1500" b="0">
                <a:latin typeface="Times New Roman" panose="02020603050405020304" pitchFamily="18" charset="0"/>
                <a:ea typeface="ＭＳ ゴシック" panose="020B0609070205080204" pitchFamily="49" charset="-128"/>
              </a:rPr>
              <a:t>emp.printInfo();</a:t>
            </a:r>
            <a:r>
              <a:rPr lang="ja-JP" altLang="en-US" sz="1500" b="0">
                <a:latin typeface="Times New Roman" panose="02020603050405020304" pitchFamily="18" charset="0"/>
                <a:ea typeface="ＭＳ ゴシック" panose="020B0609070205080204" pitchFamily="49" charset="-128"/>
              </a:rPr>
              <a:t>　←</a:t>
            </a:r>
            <a:r>
              <a:rPr lang="en-US" altLang="ja-JP" sz="1500" b="0">
                <a:latin typeface="Times New Roman" panose="02020603050405020304" pitchFamily="18" charset="0"/>
                <a:ea typeface="ＭＳ ゴシック" panose="020B0609070205080204" pitchFamily="49" charset="-128"/>
              </a:rPr>
              <a:t>việc implement của </a:t>
            </a:r>
            <a:r>
              <a:rPr lang="en-US" altLang="ja-JP" sz="1500" b="0">
                <a:latin typeface="Times New Roman" panose="02020603050405020304" pitchFamily="18" charset="0"/>
                <a:ea typeface="MS UI Gothic" panose="020B0600070205080204" pitchFamily="50" charset="-128"/>
              </a:rPr>
              <a:t>Sales được gọi ra</a:t>
            </a:r>
            <a:r>
              <a:rPr lang="ja-JP" altLang="en-US" sz="1500" b="0">
                <a:latin typeface="Times New Roman" panose="02020603050405020304" pitchFamily="18" charset="0"/>
                <a:ea typeface="MS UI Gothic" panose="020B0600070205080204" pitchFamily="50" charset="-128"/>
              </a:rPr>
              <a:t>！</a:t>
            </a:r>
          </a:p>
          <a:p>
            <a:endParaRPr lang="en-US" altLang="ja-JP" sz="1500" b="0">
              <a:latin typeface="Times New Roman" panose="02020603050405020304" pitchFamily="18" charset="0"/>
              <a:ea typeface="MS UI Gothic" panose="020B0600070205080204" pitchFamily="50" charset="-128"/>
            </a:endParaRPr>
          </a:p>
        </p:txBody>
      </p:sp>
      <p:sp>
        <p:nvSpPr>
          <p:cNvPr id="596998" name="Text Box 6">
            <a:extLst>
              <a:ext uri="{FF2B5EF4-FFF2-40B4-BE49-F238E27FC236}">
                <a16:creationId xmlns:a16="http://schemas.microsoft.com/office/drawing/2014/main" id="{FB9C8B3A-9A46-E365-B5BD-2B779CCE3BF3}"/>
              </a:ext>
            </a:extLst>
          </p:cNvPr>
          <p:cNvSpPr txBox="1">
            <a:spLocks noChangeArrowheads="1"/>
          </p:cNvSpPr>
          <p:nvPr/>
        </p:nvSpPr>
        <p:spPr bwMode="auto">
          <a:xfrm>
            <a:off x="3662363" y="3254375"/>
            <a:ext cx="1033462"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r>
              <a:rPr lang="en-US" altLang="ja-JP" sz="2800">
                <a:solidFill>
                  <a:srgbClr val="FF00FF"/>
                </a:solidFill>
                <a:latin typeface="Times New Roman" panose="02020603050405020304" pitchFamily="18" charset="0"/>
              </a:rPr>
              <a:t>←○</a:t>
            </a:r>
          </a:p>
        </p:txBody>
      </p:sp>
      <p:sp>
        <p:nvSpPr>
          <p:cNvPr id="596999" name="AutoShape 7">
            <a:extLst>
              <a:ext uri="{FF2B5EF4-FFF2-40B4-BE49-F238E27FC236}">
                <a16:creationId xmlns:a16="http://schemas.microsoft.com/office/drawing/2014/main" id="{03C014CC-C61F-29FA-3B3B-47A10AD7F6BC}"/>
              </a:ext>
            </a:extLst>
          </p:cNvPr>
          <p:cNvSpPr>
            <a:spLocks noChangeArrowheads="1"/>
          </p:cNvSpPr>
          <p:nvPr/>
        </p:nvSpPr>
        <p:spPr bwMode="auto">
          <a:xfrm>
            <a:off x="550863" y="2406650"/>
            <a:ext cx="4486275" cy="631825"/>
          </a:xfrm>
          <a:prstGeom prst="wedgeRoundRectCallout">
            <a:avLst>
              <a:gd name="adj1" fmla="val 46852"/>
              <a:gd name="adj2" fmla="val -120102"/>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a:latin typeface="Times New Roman" panose="02020603050405020304" pitchFamily="18" charset="0"/>
              </a:rPr>
              <a:t>Trường hợp method đang được override,</a:t>
            </a:r>
          </a:p>
          <a:p>
            <a:pPr algn="ctr"/>
            <a:r>
              <a:rPr lang="en-US" altLang="ja-JP" sz="1400">
                <a:latin typeface="Times New Roman" panose="02020603050405020304" pitchFamily="18" charset="0"/>
              </a:rPr>
              <a:t>việc implement của sub class sẽ được gọi</a:t>
            </a:r>
            <a:r>
              <a:rPr lang="ja-JP" altLang="en-US" sz="1400">
                <a:latin typeface="Times New Roman" panose="02020603050405020304" pitchFamily="18" charset="0"/>
              </a:rPr>
              <a:t>！</a:t>
            </a:r>
          </a:p>
        </p:txBody>
      </p:sp>
      <p:grpSp>
        <p:nvGrpSpPr>
          <p:cNvPr id="597025" name="Group 33">
            <a:extLst>
              <a:ext uri="{FF2B5EF4-FFF2-40B4-BE49-F238E27FC236}">
                <a16:creationId xmlns:a16="http://schemas.microsoft.com/office/drawing/2014/main" id="{9652513B-EAA0-6DCD-531F-6C95B3004D22}"/>
              </a:ext>
            </a:extLst>
          </p:cNvPr>
          <p:cNvGrpSpPr>
            <a:grpSpLocks/>
          </p:cNvGrpSpPr>
          <p:nvPr/>
        </p:nvGrpSpPr>
        <p:grpSpPr bwMode="auto">
          <a:xfrm>
            <a:off x="4894263" y="1233488"/>
            <a:ext cx="4906962" cy="4813301"/>
            <a:chOff x="3083" y="777"/>
            <a:chExt cx="3091" cy="3032"/>
          </a:xfrm>
        </p:grpSpPr>
        <p:sp>
          <p:nvSpPr>
            <p:cNvPr id="597001" name="Text Box 9">
              <a:extLst>
                <a:ext uri="{FF2B5EF4-FFF2-40B4-BE49-F238E27FC236}">
                  <a16:creationId xmlns:a16="http://schemas.microsoft.com/office/drawing/2014/main" id="{5B3FCDE5-4BA0-9766-44DC-D838CF681A71}"/>
                </a:ext>
              </a:extLst>
            </p:cNvPr>
            <p:cNvSpPr txBox="1">
              <a:spLocks noChangeArrowheads="1"/>
            </p:cNvSpPr>
            <p:nvPr/>
          </p:nvSpPr>
          <p:spPr bwMode="auto">
            <a:xfrm>
              <a:off x="3122" y="1015"/>
              <a:ext cx="219" cy="107"/>
            </a:xfrm>
            <a:prstGeom prst="rect">
              <a:avLst/>
            </a:prstGeom>
            <a:solidFill>
              <a:srgbClr val="FFFFFF"/>
            </a:solidFill>
            <a:ln w="9525">
              <a:solidFill>
                <a:srgbClr val="000000"/>
              </a:solidFill>
              <a:miter lim="800000"/>
              <a:headEnd/>
              <a:tailEnd/>
            </a:ln>
          </p:spPr>
          <p:txBody>
            <a:bodyPr lIns="74295" tIns="8890" rIns="74295" bIns="8890"/>
            <a:lstStyle/>
            <a:p>
              <a:endParaRPr lang="ja-JP" altLang="ja-JP">
                <a:latin typeface="Times New Roman" panose="02020603050405020304" pitchFamily="18" charset="0"/>
              </a:endParaRPr>
            </a:p>
          </p:txBody>
        </p:sp>
        <p:sp>
          <p:nvSpPr>
            <p:cNvPr id="597002" name="Text Box 10">
              <a:extLst>
                <a:ext uri="{FF2B5EF4-FFF2-40B4-BE49-F238E27FC236}">
                  <a16:creationId xmlns:a16="http://schemas.microsoft.com/office/drawing/2014/main" id="{CBFEB1EB-ACE5-049C-1150-B165BDD3CB75}"/>
                </a:ext>
              </a:extLst>
            </p:cNvPr>
            <p:cNvSpPr txBox="1">
              <a:spLocks noChangeArrowheads="1"/>
            </p:cNvSpPr>
            <p:nvPr/>
          </p:nvSpPr>
          <p:spPr bwMode="auto">
            <a:xfrm>
              <a:off x="3083" y="777"/>
              <a:ext cx="766"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r>
                <a:rPr lang="en-US" altLang="ja-JP" sz="1800" dirty="0">
                  <a:latin typeface="Times New Roman" panose="02020603050405020304" pitchFamily="18" charset="0"/>
                </a:rPr>
                <a:t>Employee</a:t>
              </a:r>
            </a:p>
            <a:p>
              <a:pPr algn="just"/>
              <a:r>
                <a:rPr lang="en-US" altLang="ja-JP" sz="1800" dirty="0">
                  <a:latin typeface="Times New Roman" panose="02020603050405020304" pitchFamily="18" charset="0"/>
                </a:rPr>
                <a:t>emp</a:t>
              </a:r>
            </a:p>
          </p:txBody>
        </p:sp>
        <p:sp>
          <p:nvSpPr>
            <p:cNvPr id="597003" name="Cloud">
              <a:extLst>
                <a:ext uri="{FF2B5EF4-FFF2-40B4-BE49-F238E27FC236}">
                  <a16:creationId xmlns:a16="http://schemas.microsoft.com/office/drawing/2014/main" id="{8836E972-00CE-7306-263D-3DE424A0B14D}"/>
                </a:ext>
              </a:extLst>
            </p:cNvPr>
            <p:cNvSpPr>
              <a:spLocks noChangeAspect="1" noEditPoints="1" noChangeArrowheads="1"/>
            </p:cNvSpPr>
            <p:nvPr/>
          </p:nvSpPr>
          <p:spPr bwMode="auto">
            <a:xfrm>
              <a:off x="3364" y="1002"/>
              <a:ext cx="2376" cy="2232"/>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9525">
              <a:solidFill>
                <a:srgbClr val="000000"/>
              </a:solidFill>
              <a:miter lim="800000"/>
              <a:headEnd/>
              <a:tailEnd/>
            </a:ln>
            <a:effectLst>
              <a:outerShdw dist="107763" dir="2700000" algn="ctr" rotWithShape="0">
                <a:srgbClr val="808080"/>
              </a:outerShdw>
            </a:effectLst>
          </p:spPr>
          <p:txBody>
            <a:bodyPr tIns="9720" bIns="9720"/>
            <a:lstStyle/>
            <a:p>
              <a:endParaRPr lang="ja-JP" altLang="ja-JP">
                <a:latin typeface="Times New Roman" panose="02020603050405020304" pitchFamily="18" charset="0"/>
              </a:endParaRPr>
            </a:p>
          </p:txBody>
        </p:sp>
        <p:grpSp>
          <p:nvGrpSpPr>
            <p:cNvPr id="597004" name="Group 12">
              <a:extLst>
                <a:ext uri="{FF2B5EF4-FFF2-40B4-BE49-F238E27FC236}">
                  <a16:creationId xmlns:a16="http://schemas.microsoft.com/office/drawing/2014/main" id="{9652EF59-36C0-AA5E-12F7-9C1FE2617757}"/>
                </a:ext>
              </a:extLst>
            </p:cNvPr>
            <p:cNvGrpSpPr>
              <a:grpSpLocks/>
            </p:cNvGrpSpPr>
            <p:nvPr/>
          </p:nvGrpSpPr>
          <p:grpSpPr bwMode="auto">
            <a:xfrm>
              <a:off x="3688" y="2368"/>
              <a:ext cx="2422" cy="1441"/>
              <a:chOff x="5290" y="7468"/>
              <a:chExt cx="4888" cy="3602"/>
            </a:xfrm>
          </p:grpSpPr>
          <p:sp>
            <p:nvSpPr>
              <p:cNvPr id="597005" name="Text Box 13">
                <a:extLst>
                  <a:ext uri="{FF2B5EF4-FFF2-40B4-BE49-F238E27FC236}">
                    <a16:creationId xmlns:a16="http://schemas.microsoft.com/office/drawing/2014/main" id="{01D517F7-DA06-77CE-2CF7-4624DB7DDCFC}"/>
                  </a:ext>
                </a:extLst>
              </p:cNvPr>
              <p:cNvSpPr txBox="1">
                <a:spLocks noChangeArrowheads="1"/>
              </p:cNvSpPr>
              <p:nvPr/>
            </p:nvSpPr>
            <p:spPr bwMode="auto">
              <a:xfrm>
                <a:off x="5382" y="7625"/>
                <a:ext cx="4796" cy="3445"/>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mj-lt"/>
                  </a:rPr>
                  <a:t>Thuộc</a:t>
                </a:r>
                <a:r>
                  <a:rPr lang="en-US" altLang="ja-JP" b="0" dirty="0">
                    <a:latin typeface="+mj-lt"/>
                  </a:rPr>
                  <a:t> </a:t>
                </a:r>
                <a:r>
                  <a:rPr lang="en-US" altLang="ja-JP" b="0" dirty="0" err="1">
                    <a:latin typeface="+mj-lt"/>
                  </a:rPr>
                  <a:t>tính</a:t>
                </a:r>
                <a:r>
                  <a:rPr lang="ja-JP" altLang="en-US" b="0" dirty="0">
                    <a:latin typeface="+mj-lt"/>
                  </a:rPr>
                  <a:t>：</a:t>
                </a:r>
              </a:p>
              <a:p>
                <a:pPr algn="just">
                  <a:lnSpc>
                    <a:spcPct val="96000"/>
                  </a:lnSpc>
                </a:pPr>
                <a:r>
                  <a:rPr lang="en-US" altLang="ja-JP" b="0" dirty="0" err="1">
                    <a:latin typeface="+mj-lt"/>
                    <a:ea typeface="ＭＳ ゴシック" panose="020B0609070205080204" pitchFamily="49" charset="-128"/>
                  </a:rPr>
                  <a:t>customerCount</a:t>
                </a:r>
                <a:endParaRPr lang="en-US" altLang="ja-JP" b="0" dirty="0">
                  <a:latin typeface="+mj-lt"/>
                  <a:ea typeface="ＭＳ ゴシック" panose="020B0609070205080204" pitchFamily="49" charset="-128"/>
                </a:endParaRPr>
              </a:p>
              <a:p>
                <a:pPr algn="just">
                  <a:lnSpc>
                    <a:spcPct val="96000"/>
                  </a:lnSpc>
                </a:pPr>
                <a:endParaRPr lang="en-US" altLang="ja-JP" b="0" dirty="0">
                  <a:latin typeface="+mj-lt"/>
                </a:endParaRPr>
              </a:p>
              <a:p>
                <a:pPr algn="just">
                  <a:lnSpc>
                    <a:spcPct val="96000"/>
                  </a:lnSpc>
                </a:pPr>
                <a:r>
                  <a:rPr lang="en-US" altLang="ja-JP" b="0" dirty="0">
                    <a:latin typeface="+mj-lt"/>
                  </a:rPr>
                  <a:t>Thao </a:t>
                </a:r>
                <a:r>
                  <a:rPr lang="en-US" altLang="ja-JP" b="0" dirty="0" err="1">
                    <a:latin typeface="+mj-lt"/>
                  </a:rPr>
                  <a:t>tác</a:t>
                </a:r>
                <a:r>
                  <a:rPr lang="ja-JP" altLang="en-US" b="0" dirty="0">
                    <a:latin typeface="+mj-lt"/>
                  </a:rPr>
                  <a:t>：</a:t>
                </a:r>
              </a:p>
              <a:p>
                <a:pPr algn="just">
                  <a:lnSpc>
                    <a:spcPct val="96000"/>
                  </a:lnSpc>
                </a:pPr>
                <a:r>
                  <a:rPr lang="en-US" altLang="ja-JP" b="0" dirty="0">
                    <a:latin typeface="+mj-lt"/>
                    <a:ea typeface="ＭＳ ゴシック" panose="020B0609070205080204" pitchFamily="49" charset="-128"/>
                  </a:rPr>
                  <a:t>Sales(</a:t>
                </a:r>
                <a:r>
                  <a:rPr lang="en-US" altLang="ja-JP" b="0" dirty="0" err="1">
                    <a:latin typeface="+mj-lt"/>
                    <a:ea typeface="ＭＳ ゴシック" panose="020B0609070205080204" pitchFamily="49" charset="-128"/>
                  </a:rPr>
                  <a:t>id:String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ename:String</a:t>
                </a:r>
                <a:r>
                  <a:rPr lang="en-US" altLang="ja-JP" b="0" dirty="0">
                    <a:latin typeface="+mj-lt"/>
                    <a:ea typeface="ＭＳ ゴシック" panose="020B0609070205080204" pitchFamily="49" charset="-128"/>
                  </a:rPr>
                  <a:t>, </a:t>
                </a:r>
                <a:r>
                  <a:rPr lang="en-US" altLang="ja-JP" b="0" dirty="0" err="1">
                    <a:latin typeface="+mj-lt"/>
                    <a:ea typeface="ＭＳ ゴシック" panose="020B0609070205080204" pitchFamily="49" charset="-128"/>
                  </a:rPr>
                  <a:t>cnt:int</a:t>
                </a:r>
                <a:r>
                  <a:rPr lang="en-US" altLang="ja-JP" b="0" dirty="0">
                    <a:latin typeface="+mj-lt"/>
                    <a:ea typeface="ＭＳ ゴシック" panose="020B0609070205080204" pitchFamily="49" charset="-128"/>
                  </a:rPr>
                  <a:t>)</a:t>
                </a:r>
              </a:p>
              <a:p>
                <a:pPr algn="just">
                  <a:lnSpc>
                    <a:spcPct val="96000"/>
                  </a:lnSpc>
                </a:pPr>
                <a:r>
                  <a:rPr lang="en-US" altLang="ja-JP" b="0" dirty="0" err="1">
                    <a:latin typeface="+mj-lt"/>
                    <a:ea typeface="ＭＳ ゴシック" panose="020B0609070205080204" pitchFamily="49" charset="-128"/>
                  </a:rPr>
                  <a:t>addCount</a:t>
                </a:r>
                <a:r>
                  <a:rPr lang="en-US" altLang="ja-JP" b="0" dirty="0">
                    <a:latin typeface="+mj-lt"/>
                    <a:ea typeface="ＭＳ ゴシック" panose="020B0609070205080204" pitchFamily="49" charset="-128"/>
                  </a:rPr>
                  <a:t>():void</a:t>
                </a:r>
              </a:p>
              <a:p>
                <a:pPr algn="just">
                  <a:lnSpc>
                    <a:spcPct val="96000"/>
                  </a:lnSpc>
                </a:pPr>
                <a:r>
                  <a:rPr lang="en-US" altLang="ja-JP" b="0" dirty="0" err="1">
                    <a:latin typeface="+mj-lt"/>
                    <a:ea typeface="ＭＳ ゴシック" panose="020B0609070205080204" pitchFamily="49" charset="-128"/>
                  </a:rPr>
                  <a:t>getCount</a:t>
                </a:r>
                <a:r>
                  <a:rPr lang="en-US" altLang="ja-JP" b="0" dirty="0">
                    <a:latin typeface="+mj-lt"/>
                    <a:ea typeface="ＭＳ ゴシック" panose="020B0609070205080204" pitchFamily="49" charset="-128"/>
                  </a:rPr>
                  <a:t>():int</a:t>
                </a:r>
              </a:p>
              <a:p>
                <a:pPr algn="just">
                  <a:lnSpc>
                    <a:spcPct val="96000"/>
                  </a:lnSpc>
                </a:pPr>
                <a:r>
                  <a:rPr lang="en-US" altLang="ja-JP" b="0" dirty="0" err="1">
                    <a:latin typeface="+mj-lt"/>
                    <a:ea typeface="ＭＳ ゴシック" panose="020B0609070205080204" pitchFamily="49" charset="-128"/>
                  </a:rPr>
                  <a:t>printInfo</a:t>
                </a:r>
                <a:r>
                  <a:rPr lang="en-US" altLang="ja-JP" b="0" dirty="0">
                    <a:latin typeface="+mj-lt"/>
                    <a:ea typeface="ＭＳ ゴシック" panose="020B0609070205080204" pitchFamily="49" charset="-128"/>
                  </a:rPr>
                  <a:t>():void</a:t>
                </a:r>
                <a:endParaRPr lang="en-US" altLang="ja-JP" dirty="0">
                  <a:latin typeface="+mj-lt"/>
                  <a:ea typeface="ＭＳ ゴシック" panose="020B0609070205080204" pitchFamily="49" charset="-128"/>
                </a:endParaRPr>
              </a:p>
            </p:txBody>
          </p:sp>
          <p:sp>
            <p:nvSpPr>
              <p:cNvPr id="597006" name="Line 14">
                <a:extLst>
                  <a:ext uri="{FF2B5EF4-FFF2-40B4-BE49-F238E27FC236}">
                    <a16:creationId xmlns:a16="http://schemas.microsoft.com/office/drawing/2014/main" id="{F4B4835A-F7FE-08FB-B60A-983E39927F08}"/>
                  </a:ext>
                </a:extLst>
              </p:cNvPr>
              <p:cNvSpPr>
                <a:spLocks noChangeShapeType="1"/>
              </p:cNvSpPr>
              <p:nvPr/>
            </p:nvSpPr>
            <p:spPr bwMode="auto">
              <a:xfrm>
                <a:off x="5290" y="7468"/>
                <a:ext cx="3391" cy="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597007" name="Rectangle 15">
                <a:extLst>
                  <a:ext uri="{FF2B5EF4-FFF2-40B4-BE49-F238E27FC236}">
                    <a16:creationId xmlns:a16="http://schemas.microsoft.com/office/drawing/2014/main" id="{6C0772C2-1C88-7C39-A5AA-2AE4B0D46299}"/>
                  </a:ext>
                </a:extLst>
              </p:cNvPr>
              <p:cNvSpPr>
                <a:spLocks noChangeArrowheads="1"/>
              </p:cNvSpPr>
              <p:nvPr/>
            </p:nvSpPr>
            <p:spPr bwMode="auto">
              <a:xfrm>
                <a:off x="7310" y="8193"/>
                <a:ext cx="908" cy="424"/>
              </a:xfrm>
              <a:prstGeom prst="rect">
                <a:avLst/>
              </a:prstGeom>
              <a:solidFill>
                <a:srgbClr val="CC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dirty="0">
                    <a:latin typeface="Times New Roman" panose="02020603050405020304" pitchFamily="18" charset="0"/>
                  </a:rPr>
                  <a:t>5</a:t>
                </a:r>
              </a:p>
            </p:txBody>
          </p:sp>
        </p:grpSp>
        <p:grpSp>
          <p:nvGrpSpPr>
            <p:cNvPr id="597024" name="Group 32">
              <a:extLst>
                <a:ext uri="{FF2B5EF4-FFF2-40B4-BE49-F238E27FC236}">
                  <a16:creationId xmlns:a16="http://schemas.microsoft.com/office/drawing/2014/main" id="{E6FB3D90-BC4A-0253-2B83-86DEA2DB9F66}"/>
                </a:ext>
              </a:extLst>
            </p:cNvPr>
            <p:cNvGrpSpPr>
              <a:grpSpLocks/>
            </p:cNvGrpSpPr>
            <p:nvPr/>
          </p:nvGrpSpPr>
          <p:grpSpPr bwMode="auto">
            <a:xfrm>
              <a:off x="3796" y="1362"/>
              <a:ext cx="2225" cy="683"/>
              <a:chOff x="3796" y="1362"/>
              <a:chExt cx="2225" cy="683"/>
            </a:xfrm>
          </p:grpSpPr>
          <p:grpSp>
            <p:nvGrpSpPr>
              <p:cNvPr id="597023" name="Group 31">
                <a:extLst>
                  <a:ext uri="{FF2B5EF4-FFF2-40B4-BE49-F238E27FC236}">
                    <a16:creationId xmlns:a16="http://schemas.microsoft.com/office/drawing/2014/main" id="{AC2DE44C-8914-4B0C-BF6C-9A701AE2B206}"/>
                  </a:ext>
                </a:extLst>
              </p:cNvPr>
              <p:cNvGrpSpPr>
                <a:grpSpLocks/>
              </p:cNvGrpSpPr>
              <p:nvPr/>
            </p:nvGrpSpPr>
            <p:grpSpPr bwMode="auto">
              <a:xfrm>
                <a:off x="3796" y="1362"/>
                <a:ext cx="2225" cy="683"/>
                <a:chOff x="3796" y="1362"/>
                <a:chExt cx="2225" cy="683"/>
              </a:xfrm>
            </p:grpSpPr>
            <p:sp>
              <p:nvSpPr>
                <p:cNvPr id="597010" name="Text Box 18">
                  <a:extLst>
                    <a:ext uri="{FF2B5EF4-FFF2-40B4-BE49-F238E27FC236}">
                      <a16:creationId xmlns:a16="http://schemas.microsoft.com/office/drawing/2014/main" id="{716EB105-05E3-C084-E09D-851D6ADD30A2}"/>
                    </a:ext>
                  </a:extLst>
                </p:cNvPr>
                <p:cNvSpPr txBox="1">
                  <a:spLocks noChangeArrowheads="1"/>
                </p:cNvSpPr>
                <p:nvPr/>
              </p:nvSpPr>
              <p:spPr bwMode="auto">
                <a:xfrm>
                  <a:off x="3796" y="1362"/>
                  <a:ext cx="2225" cy="683"/>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pPr algn="just">
                    <a:lnSpc>
                      <a:spcPct val="96000"/>
                    </a:lnSpc>
                  </a:pPr>
                  <a:r>
                    <a:rPr lang="en-US" altLang="ja-JP" b="0" dirty="0" err="1">
                      <a:latin typeface="Times New Roman" panose="02020603050405020304" pitchFamily="18" charset="0"/>
                    </a:rPr>
                    <a:t>Thuộc</a:t>
                  </a:r>
                  <a:r>
                    <a:rPr lang="en-US" altLang="ja-JP" b="0" dirty="0">
                      <a:latin typeface="Times New Roman" panose="02020603050405020304" pitchFamily="18" charset="0"/>
                    </a:rPr>
                    <a:t> </a:t>
                  </a:r>
                  <a:r>
                    <a:rPr lang="en-US" altLang="ja-JP" b="0" dirty="0" err="1">
                      <a:latin typeface="Times New Roman" panose="02020603050405020304" pitchFamily="18" charset="0"/>
                    </a:rPr>
                    <a:t>tính</a:t>
                  </a:r>
                  <a:r>
                    <a:rPr lang="ja-JP" altLang="en-US" b="0" dirty="0">
                      <a:latin typeface="Times New Roman" panose="02020603050405020304" pitchFamily="18" charset="0"/>
                    </a:rPr>
                    <a:t>：</a:t>
                  </a:r>
                </a:p>
                <a:p>
                  <a:pPr algn="just"/>
                  <a:r>
                    <a:rPr lang="en-US" altLang="ja-JP" b="0" dirty="0" err="1">
                      <a:latin typeface="Times New Roman" panose="02020603050405020304" pitchFamily="18" charset="0"/>
                      <a:ea typeface="ＭＳ ゴシック" panose="020B0609070205080204" pitchFamily="49" charset="-128"/>
                    </a:rPr>
                    <a:t>empId</a:t>
                  </a:r>
                  <a:endParaRPr lang="en-US" altLang="ja-JP" b="0" dirty="0">
                    <a:latin typeface="Times New Roman" panose="02020603050405020304" pitchFamily="18" charset="0"/>
                    <a:ea typeface="ＭＳ ゴシック" panose="020B0609070205080204" pitchFamily="49" charset="-128"/>
                  </a:endParaRPr>
                </a:p>
                <a:p>
                  <a:pPr algn="just">
                    <a:spcBef>
                      <a:spcPct val="10000"/>
                    </a:spcBef>
                  </a:pPr>
                  <a:r>
                    <a:rPr lang="en-US" altLang="ja-JP" b="0" dirty="0" err="1">
                      <a:latin typeface="Times New Roman" panose="02020603050405020304" pitchFamily="18" charset="0"/>
                      <a:ea typeface="ＭＳ ゴシック" panose="020B0609070205080204" pitchFamily="49" charset="-128"/>
                    </a:rPr>
                    <a:t>empName</a:t>
                  </a:r>
                  <a:endParaRPr lang="en-US" altLang="ja-JP" b="0" dirty="0">
                    <a:latin typeface="Times New Roman" panose="02020603050405020304" pitchFamily="18" charset="0"/>
                    <a:ea typeface="ＭＳ ゴシック" panose="020B0609070205080204" pitchFamily="49" charset="-128"/>
                  </a:endParaRPr>
                </a:p>
                <a:p>
                  <a:pPr algn="just">
                    <a:lnSpc>
                      <a:spcPct val="96000"/>
                    </a:lnSpc>
                  </a:pPr>
                  <a:endParaRPr lang="en-US" altLang="ja-JP" b="0" dirty="0">
                    <a:latin typeface="Times New Roman" panose="02020603050405020304" pitchFamily="18" charset="0"/>
                  </a:endParaRPr>
                </a:p>
                <a:p>
                  <a:pPr algn="just">
                    <a:lnSpc>
                      <a:spcPct val="96000"/>
                    </a:lnSpc>
                  </a:pPr>
                  <a:r>
                    <a:rPr lang="en-US" altLang="ja-JP" b="0" dirty="0">
                      <a:latin typeface="Times New Roman" panose="02020603050405020304" pitchFamily="18" charset="0"/>
                    </a:rPr>
                    <a:t>Thao </a:t>
                  </a:r>
                  <a:r>
                    <a:rPr lang="en-US" altLang="ja-JP" b="0" dirty="0" err="1">
                      <a:latin typeface="Times New Roman" panose="02020603050405020304" pitchFamily="18" charset="0"/>
                    </a:rPr>
                    <a:t>tác</a:t>
                  </a:r>
                  <a:r>
                    <a:rPr lang="ja-JP" altLang="en-US" b="0" dirty="0">
                      <a:latin typeface="Times New Roman" panose="02020603050405020304" pitchFamily="18" charset="0"/>
                    </a:rPr>
                    <a:t> </a:t>
                  </a:r>
                  <a:r>
                    <a:rPr lang="en-US" altLang="ja-JP" b="0" dirty="0" err="1">
                      <a:latin typeface="Times New Roman" panose="02020603050405020304" pitchFamily="18" charset="0"/>
                      <a:ea typeface="ＭＳ ゴシック" panose="020B0609070205080204" pitchFamily="49" charset="-128"/>
                    </a:rPr>
                    <a:t>getEmpName</a:t>
                  </a:r>
                  <a:r>
                    <a:rPr lang="en-US" altLang="ja-JP" b="0" dirty="0">
                      <a:latin typeface="Times New Roman" panose="02020603050405020304" pitchFamily="18" charset="0"/>
                      <a:ea typeface="ＭＳ ゴシック" panose="020B0609070205080204" pitchFamily="49" charset="-128"/>
                    </a:rPr>
                    <a:t>():String</a:t>
                  </a:r>
                </a:p>
                <a:p>
                  <a:pPr algn="just">
                    <a:lnSpc>
                      <a:spcPct val="96000"/>
                    </a:lnSpc>
                  </a:pPr>
                  <a:r>
                    <a:rPr lang="en-US" altLang="ja-JP" b="0" dirty="0" err="1">
                      <a:latin typeface="Times New Roman" panose="02020603050405020304" pitchFamily="18" charset="0"/>
                      <a:ea typeface="ＭＳ ゴシック" panose="020B0609070205080204" pitchFamily="49" charset="-128"/>
                    </a:rPr>
                    <a:t>printInfo</a:t>
                  </a:r>
                  <a:r>
                    <a:rPr lang="en-US" altLang="ja-JP" b="0" dirty="0">
                      <a:latin typeface="Times New Roman" panose="02020603050405020304" pitchFamily="18" charset="0"/>
                      <a:ea typeface="ＭＳ ゴシック" panose="020B0609070205080204" pitchFamily="49" charset="-128"/>
                    </a:rPr>
                    <a:t>():void</a:t>
                  </a:r>
                </a:p>
              </p:txBody>
            </p:sp>
            <p:sp>
              <p:nvSpPr>
                <p:cNvPr id="597011" name="Rectangle 19">
                  <a:extLst>
                    <a:ext uri="{FF2B5EF4-FFF2-40B4-BE49-F238E27FC236}">
                      <a16:creationId xmlns:a16="http://schemas.microsoft.com/office/drawing/2014/main" id="{EB59C6DE-4957-EE10-92C2-C4E70EE9B7F0}"/>
                    </a:ext>
                  </a:extLst>
                </p:cNvPr>
                <p:cNvSpPr>
                  <a:spLocks noChangeArrowheads="1"/>
                </p:cNvSpPr>
                <p:nvPr/>
              </p:nvSpPr>
              <p:spPr bwMode="auto">
                <a:xfrm>
                  <a:off x="4366" y="1703"/>
                  <a:ext cx="646" cy="219"/>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ja-JP" altLang="en-US" b="0" dirty="0">
                      <a:latin typeface="Times New Roman" panose="02020603050405020304" pitchFamily="18" charset="0"/>
                    </a:rPr>
                    <a:t>田中花子</a:t>
                  </a:r>
                </a:p>
              </p:txBody>
            </p:sp>
            <p:sp>
              <p:nvSpPr>
                <p:cNvPr id="597012" name="Rectangle 20">
                  <a:extLst>
                    <a:ext uri="{FF2B5EF4-FFF2-40B4-BE49-F238E27FC236}">
                      <a16:creationId xmlns:a16="http://schemas.microsoft.com/office/drawing/2014/main" id="{C245FFBF-1710-87C2-F732-E2D317BDEDF8}"/>
                    </a:ext>
                  </a:extLst>
                </p:cNvPr>
                <p:cNvSpPr>
                  <a:spLocks noChangeArrowheads="1"/>
                </p:cNvSpPr>
                <p:nvPr/>
              </p:nvSpPr>
              <p:spPr bwMode="auto">
                <a:xfrm>
                  <a:off x="4363" y="1529"/>
                  <a:ext cx="525" cy="162"/>
                </a:xfrm>
                <a:prstGeom prst="rect">
                  <a:avLst/>
                </a:pr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10800" rIns="36000" bIns="10800"/>
                <a:lstStyle/>
                <a:p>
                  <a:pPr algn="ctr"/>
                  <a:r>
                    <a:rPr lang="en-US" altLang="ja-JP" b="0" dirty="0">
                      <a:latin typeface="Times New Roman" panose="02020603050405020304" pitchFamily="18" charset="0"/>
                    </a:rPr>
                    <a:t>987654</a:t>
                  </a:r>
                </a:p>
              </p:txBody>
            </p:sp>
          </p:grpSp>
          <p:sp>
            <p:nvSpPr>
              <p:cNvPr id="597013" name="Line 21">
                <a:extLst>
                  <a:ext uri="{FF2B5EF4-FFF2-40B4-BE49-F238E27FC236}">
                    <a16:creationId xmlns:a16="http://schemas.microsoft.com/office/drawing/2014/main" id="{8B352BA2-EE8B-8171-8972-56311ADD525D}"/>
                  </a:ext>
                </a:extLst>
              </p:cNvPr>
              <p:cNvSpPr>
                <a:spLocks noChangeShapeType="1"/>
              </p:cNvSpPr>
              <p:nvPr/>
            </p:nvSpPr>
            <p:spPr bwMode="auto">
              <a:xfrm>
                <a:off x="3796" y="1968"/>
                <a:ext cx="102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
          <p:nvSpPr>
            <p:cNvPr id="597014" name="Line 22">
              <a:extLst>
                <a:ext uri="{FF2B5EF4-FFF2-40B4-BE49-F238E27FC236}">
                  <a16:creationId xmlns:a16="http://schemas.microsoft.com/office/drawing/2014/main" id="{EEBF99F4-B693-81F7-CC43-4C2E1B61C10E}"/>
                </a:ext>
              </a:extLst>
            </p:cNvPr>
            <p:cNvSpPr>
              <a:spLocks noChangeShapeType="1"/>
            </p:cNvSpPr>
            <p:nvPr/>
          </p:nvSpPr>
          <p:spPr bwMode="auto">
            <a:xfrm>
              <a:off x="3245" y="1096"/>
              <a:ext cx="567" cy="961"/>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97015" name="AutoShape 23">
              <a:extLst>
                <a:ext uri="{FF2B5EF4-FFF2-40B4-BE49-F238E27FC236}">
                  <a16:creationId xmlns:a16="http://schemas.microsoft.com/office/drawing/2014/main" id="{DFAF4D50-E518-C3A0-2316-928E5B2B028A}"/>
                </a:ext>
              </a:extLst>
            </p:cNvPr>
            <p:cNvSpPr>
              <a:spLocks noChangeArrowheads="1"/>
            </p:cNvSpPr>
            <p:nvPr/>
          </p:nvSpPr>
          <p:spPr bwMode="auto">
            <a:xfrm rot="1982922">
              <a:off x="3373" y="1144"/>
              <a:ext cx="225" cy="229"/>
            </a:xfrm>
            <a:prstGeom prst="rightArrow">
              <a:avLst>
                <a:gd name="adj1" fmla="val 50000"/>
                <a:gd name="adj2" fmla="val 25000"/>
              </a:avLst>
            </a:prstGeom>
            <a:solidFill>
              <a:srgbClr val="FF00FF">
                <a:alpha val="50000"/>
              </a:srgbClr>
            </a:solidFill>
            <a:ln w="9525" algn="ctr">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97016" name="Line 24">
              <a:extLst>
                <a:ext uri="{FF2B5EF4-FFF2-40B4-BE49-F238E27FC236}">
                  <a16:creationId xmlns:a16="http://schemas.microsoft.com/office/drawing/2014/main" id="{BE8AD3F3-80F4-EBFE-D4C3-83B01B19F95D}"/>
                </a:ext>
              </a:extLst>
            </p:cNvPr>
            <p:cNvSpPr>
              <a:spLocks noChangeShapeType="1"/>
            </p:cNvSpPr>
            <p:nvPr/>
          </p:nvSpPr>
          <p:spPr bwMode="auto">
            <a:xfrm>
              <a:off x="3261" y="1067"/>
              <a:ext cx="994" cy="293"/>
            </a:xfrm>
            <a:prstGeom prst="line">
              <a:avLst/>
            </a:prstGeom>
            <a:noFill/>
            <a:ln w="28575">
              <a:solidFill>
                <a:srgbClr val="FF00FF"/>
              </a:solidFill>
              <a:prstDash val="sysDot"/>
              <a:round/>
              <a:headEnd/>
              <a:tailEnd/>
            </a:ln>
            <a:extLst>
              <a:ext uri="{909E8E84-426E-40DD-AFC4-6F175D3DCCD1}">
                <a14:hiddenFill xmlns:a14="http://schemas.microsoft.com/office/drawing/2010/main">
                  <a:noFill/>
                </a14:hiddenFill>
              </a:ext>
            </a:extLst>
          </p:spPr>
          <p:txBody>
            <a:bodyPr lIns="74295" tIns="8890" rIns="74295" bIns="8890"/>
            <a:lstStyle/>
            <a:p>
              <a:endParaRPr lang="ja-JP" altLang="en-US"/>
            </a:p>
          </p:txBody>
        </p:sp>
        <p:sp>
          <p:nvSpPr>
            <p:cNvPr id="597017" name="AutoShape 25">
              <a:extLst>
                <a:ext uri="{FF2B5EF4-FFF2-40B4-BE49-F238E27FC236}">
                  <a16:creationId xmlns:a16="http://schemas.microsoft.com/office/drawing/2014/main" id="{7518728C-60A2-E7DC-FCDE-B6F2516585D7}"/>
                </a:ext>
              </a:extLst>
            </p:cNvPr>
            <p:cNvSpPr>
              <a:spLocks noChangeArrowheads="1"/>
            </p:cNvSpPr>
            <p:nvPr/>
          </p:nvSpPr>
          <p:spPr bwMode="auto">
            <a:xfrm>
              <a:off x="4537" y="977"/>
              <a:ext cx="1053" cy="435"/>
            </a:xfrm>
            <a:prstGeom prst="wedgeRoundRectCallout">
              <a:avLst>
                <a:gd name="adj1" fmla="val -60444"/>
                <a:gd name="adj2" fmla="val 54366"/>
                <a:gd name="adj3" fmla="val 16667"/>
              </a:avLst>
            </a:prstGeom>
            <a:solidFill>
              <a:srgbClr val="FFFF99"/>
            </a:solidFill>
            <a:ln w="9525">
              <a:solidFill>
                <a:srgbClr val="000000"/>
              </a:solidFill>
              <a:miter lim="800000"/>
              <a:headEnd/>
              <a:tailEnd/>
            </a:ln>
          </p:spPr>
          <p:txBody>
            <a:bodyPr lIns="74295" tIns="8890" rIns="74295" bIns="8890"/>
            <a:lstStyle/>
            <a:p>
              <a:pPr algn="just"/>
              <a:r>
                <a:rPr lang="en-US" altLang="ja-JP" sz="1400">
                  <a:latin typeface="Times New Roman" panose="02020603050405020304" pitchFamily="18" charset="0"/>
                </a:rPr>
                <a:t>Tính chất đã kế thừa từ Employee</a:t>
              </a:r>
            </a:p>
          </p:txBody>
        </p:sp>
        <p:sp>
          <p:nvSpPr>
            <p:cNvPr id="597018" name="AutoShape 26">
              <a:extLst>
                <a:ext uri="{FF2B5EF4-FFF2-40B4-BE49-F238E27FC236}">
                  <a16:creationId xmlns:a16="http://schemas.microsoft.com/office/drawing/2014/main" id="{1EE138F5-9A29-A5FA-B504-1E757DA44FA2}"/>
                </a:ext>
              </a:extLst>
            </p:cNvPr>
            <p:cNvSpPr>
              <a:spLocks noChangeArrowheads="1"/>
            </p:cNvSpPr>
            <p:nvPr/>
          </p:nvSpPr>
          <p:spPr bwMode="auto">
            <a:xfrm>
              <a:off x="5352" y="2394"/>
              <a:ext cx="822" cy="386"/>
            </a:xfrm>
            <a:prstGeom prst="wedgeRoundRectCallout">
              <a:avLst>
                <a:gd name="adj1" fmla="val -141953"/>
                <a:gd name="adj2" fmla="val 8009"/>
                <a:gd name="adj3" fmla="val 16667"/>
              </a:avLst>
            </a:prstGeom>
            <a:solidFill>
              <a:srgbClr val="FFCC99"/>
            </a:solidFill>
            <a:ln w="9525">
              <a:solidFill>
                <a:srgbClr val="000000"/>
              </a:solidFill>
              <a:miter lim="800000"/>
              <a:headEnd/>
              <a:tailEnd/>
            </a:ln>
          </p:spPr>
          <p:txBody>
            <a:bodyPr lIns="74295" tIns="8890" rIns="74295" bIns="8890"/>
            <a:lstStyle/>
            <a:p>
              <a:pPr algn="just"/>
              <a:r>
                <a:rPr lang="en-US" altLang="ja-JP" sz="1200">
                  <a:latin typeface="Times New Roman" panose="02020603050405020304" pitchFamily="18" charset="0"/>
                </a:rPr>
                <a:t>Tính chất của riêng Sales</a:t>
              </a:r>
            </a:p>
          </p:txBody>
        </p:sp>
        <p:sp>
          <p:nvSpPr>
            <p:cNvPr id="597019" name="Rectangle 27">
              <a:extLst>
                <a:ext uri="{FF2B5EF4-FFF2-40B4-BE49-F238E27FC236}">
                  <a16:creationId xmlns:a16="http://schemas.microsoft.com/office/drawing/2014/main" id="{7BC1B71C-22F7-11E3-96CD-B950971C636B}"/>
                </a:ext>
              </a:extLst>
            </p:cNvPr>
            <p:cNvSpPr>
              <a:spLocks noChangeArrowheads="1"/>
            </p:cNvSpPr>
            <p:nvPr/>
          </p:nvSpPr>
          <p:spPr bwMode="auto">
            <a:xfrm>
              <a:off x="3758" y="2160"/>
              <a:ext cx="931" cy="161"/>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97020" name="Rectangle 28">
              <a:extLst>
                <a:ext uri="{FF2B5EF4-FFF2-40B4-BE49-F238E27FC236}">
                  <a16:creationId xmlns:a16="http://schemas.microsoft.com/office/drawing/2014/main" id="{87AAECA7-8BF3-A859-4C7C-7FFDDF3F2B04}"/>
                </a:ext>
              </a:extLst>
            </p:cNvPr>
            <p:cNvSpPr>
              <a:spLocks noChangeArrowheads="1"/>
            </p:cNvSpPr>
            <p:nvPr/>
          </p:nvSpPr>
          <p:spPr bwMode="auto">
            <a:xfrm>
              <a:off x="3758" y="3460"/>
              <a:ext cx="1211" cy="167"/>
            </a:xfrm>
            <a:prstGeom prst="rect">
              <a:avLst/>
            </a:prstGeom>
            <a:noFill/>
            <a:ln w="2540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597021" name="AutoShape 29">
              <a:extLst>
                <a:ext uri="{FF2B5EF4-FFF2-40B4-BE49-F238E27FC236}">
                  <a16:creationId xmlns:a16="http://schemas.microsoft.com/office/drawing/2014/main" id="{4FD0C34F-4113-F4FD-BF17-1062EF723DC4}"/>
                </a:ext>
              </a:extLst>
            </p:cNvPr>
            <p:cNvCxnSpPr>
              <a:cxnSpLocks noChangeShapeType="1"/>
              <a:stCxn id="597020" idx="3"/>
              <a:endCxn id="597019" idx="3"/>
            </p:cNvCxnSpPr>
            <p:nvPr/>
          </p:nvCxnSpPr>
          <p:spPr bwMode="auto">
            <a:xfrm flipH="1" flipV="1">
              <a:off x="4689" y="2241"/>
              <a:ext cx="280" cy="1303"/>
            </a:xfrm>
            <a:prstGeom prst="bentConnector3">
              <a:avLst>
                <a:gd name="adj1" fmla="val -51429"/>
              </a:avLst>
            </a:prstGeom>
            <a:noFill/>
            <a:ln w="28575">
              <a:solidFill>
                <a:srgbClr val="FF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97022" name="Rectangle 30">
            <a:extLst>
              <a:ext uri="{FF2B5EF4-FFF2-40B4-BE49-F238E27FC236}">
                <a16:creationId xmlns:a16="http://schemas.microsoft.com/office/drawing/2014/main" id="{BC5D18F4-D4DD-AEDD-E997-CDD92742AD1E}"/>
              </a:ext>
            </a:extLst>
          </p:cNvPr>
          <p:cNvSpPr>
            <a:spLocks noChangeArrowheads="1"/>
          </p:cNvSpPr>
          <p:nvPr/>
        </p:nvSpPr>
        <p:spPr bwMode="auto">
          <a:xfrm>
            <a:off x="395288" y="5118100"/>
            <a:ext cx="5141912" cy="723900"/>
          </a:xfrm>
          <a:prstGeom prst="rect">
            <a:avLst/>
          </a:prstGeom>
          <a:noFill/>
          <a:ln w="2857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1150537-6A04-AF50-56CB-CDFD09FCB21E}"/>
              </a:ext>
            </a:extLst>
          </p:cNvPr>
          <p:cNvSpPr>
            <a:spLocks noGrp="1"/>
          </p:cNvSpPr>
          <p:nvPr>
            <p:ph type="sldNum" sz="quarter" idx="10"/>
          </p:nvPr>
        </p:nvSpPr>
        <p:spPr/>
        <p:txBody>
          <a:bodyPr/>
          <a:lstStyle/>
          <a:p>
            <a:fld id="{C01EB54F-3F20-488E-A4D8-F600548EDEEA}" type="slidenum">
              <a:rPr lang="en-US" altLang="ja-JP"/>
              <a:pPr/>
              <a:t>13</a:t>
            </a:fld>
            <a:endParaRPr lang="en-US" altLang="ja-JP"/>
          </a:p>
        </p:txBody>
      </p:sp>
      <p:sp>
        <p:nvSpPr>
          <p:cNvPr id="578562" name="Rectangle 2">
            <a:extLst>
              <a:ext uri="{FF2B5EF4-FFF2-40B4-BE49-F238E27FC236}">
                <a16:creationId xmlns:a16="http://schemas.microsoft.com/office/drawing/2014/main" id="{8BF042F1-D310-20B2-D520-56FCBB46A89E}"/>
              </a:ext>
            </a:extLst>
          </p:cNvPr>
          <p:cNvSpPr>
            <a:spLocks noGrp="1" noChangeArrowheads="1"/>
          </p:cNvSpPr>
          <p:nvPr>
            <p:ph type="title"/>
          </p:nvPr>
        </p:nvSpPr>
        <p:spPr>
          <a:xfrm>
            <a:off x="411163" y="275880"/>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Polymorphism</a:t>
            </a:r>
            <a:r>
              <a:rPr lang="en-US" altLang="ja-JP" dirty="0">
                <a:latin typeface="MS UI Gothic" panose="020B0600070205080204" pitchFamily="50" charset="-128"/>
                <a:ea typeface="MS UI Gothic" panose="020B0600070205080204" pitchFamily="50" charset="-128"/>
              </a:rPr>
              <a:t> (3)</a:t>
            </a:r>
          </a:p>
        </p:txBody>
      </p:sp>
      <p:sp>
        <p:nvSpPr>
          <p:cNvPr id="578563" name="Rectangle 3">
            <a:extLst>
              <a:ext uri="{FF2B5EF4-FFF2-40B4-BE49-F238E27FC236}">
                <a16:creationId xmlns:a16="http://schemas.microsoft.com/office/drawing/2014/main" id="{11A0977F-244B-83C1-A443-76BCEFEFE551}"/>
              </a:ext>
            </a:extLst>
          </p:cNvPr>
          <p:cNvSpPr>
            <a:spLocks noChangeArrowheads="1"/>
          </p:cNvSpPr>
          <p:nvPr/>
        </p:nvSpPr>
        <p:spPr bwMode="auto">
          <a:xfrm>
            <a:off x="344488" y="7016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Ví dụ implement trong Java</a:t>
            </a:r>
          </a:p>
        </p:txBody>
      </p:sp>
      <p:grpSp>
        <p:nvGrpSpPr>
          <p:cNvPr id="578635" name="Group 75">
            <a:extLst>
              <a:ext uri="{FF2B5EF4-FFF2-40B4-BE49-F238E27FC236}">
                <a16:creationId xmlns:a16="http://schemas.microsoft.com/office/drawing/2014/main" id="{CF79C47C-DBD8-5595-2CB2-8ABBE360B043}"/>
              </a:ext>
            </a:extLst>
          </p:cNvPr>
          <p:cNvGrpSpPr>
            <a:grpSpLocks/>
          </p:cNvGrpSpPr>
          <p:nvPr/>
        </p:nvGrpSpPr>
        <p:grpSpPr bwMode="auto">
          <a:xfrm>
            <a:off x="6400798" y="1092200"/>
            <a:ext cx="3505198" cy="2878138"/>
            <a:chOff x="3810" y="688"/>
            <a:chExt cx="2208" cy="1813"/>
          </a:xfrm>
        </p:grpSpPr>
        <p:sp>
          <p:nvSpPr>
            <p:cNvPr id="578622" name="AutoShape 62">
              <a:extLst>
                <a:ext uri="{FF2B5EF4-FFF2-40B4-BE49-F238E27FC236}">
                  <a16:creationId xmlns:a16="http://schemas.microsoft.com/office/drawing/2014/main" id="{3FFE62C6-7D85-1AAF-54E8-C04F08A134A6}"/>
                </a:ext>
              </a:extLst>
            </p:cNvPr>
            <p:cNvSpPr>
              <a:spLocks noChangeArrowheads="1"/>
            </p:cNvSpPr>
            <p:nvPr/>
          </p:nvSpPr>
          <p:spPr bwMode="auto">
            <a:xfrm>
              <a:off x="5154" y="844"/>
              <a:ext cx="864" cy="228"/>
            </a:xfrm>
            <a:prstGeom prst="wedgeRoundRectCallout">
              <a:avLst>
                <a:gd name="adj1" fmla="val -62653"/>
                <a:gd name="adj2" fmla="val 18421"/>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dirty="0" err="1">
                  <a:latin typeface="+mj-lt"/>
                  <a:ea typeface="HG丸ｺﾞｼｯｸM-PRO" panose="020F0400000000000000" pitchFamily="50" charset="-128"/>
                </a:rPr>
                <a:t>printInfo</a:t>
              </a:r>
              <a:r>
                <a:rPr lang="ja-JP" altLang="en-US" sz="1800" b="0" dirty="0">
                  <a:latin typeface="+mj-lt"/>
                  <a:ea typeface="HG丸ｺﾞｼｯｸM-PRO" panose="020F0400000000000000" pitchFamily="50" charset="-128"/>
                </a:rPr>
                <a:t>（）</a:t>
              </a:r>
            </a:p>
          </p:txBody>
        </p:sp>
        <p:pic>
          <p:nvPicPr>
            <p:cNvPr id="578609" name="Picture 49">
              <a:extLst>
                <a:ext uri="{FF2B5EF4-FFF2-40B4-BE49-F238E27FC236}">
                  <a16:creationId xmlns:a16="http://schemas.microsoft.com/office/drawing/2014/main" id="{41C02B87-F589-A423-527F-6F4613CA0E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2" y="1575"/>
              <a:ext cx="325" cy="335"/>
            </a:xfrm>
            <a:prstGeom prst="rect">
              <a:avLst/>
            </a:prstGeom>
            <a:noFill/>
            <a:extLst>
              <a:ext uri="{909E8E84-426E-40DD-AFC4-6F175D3DCCD1}">
                <a14:hiddenFill xmlns:a14="http://schemas.microsoft.com/office/drawing/2010/main">
                  <a:solidFill>
                    <a:srgbClr val="FFFFFF"/>
                  </a:solidFill>
                </a14:hiddenFill>
              </a:ext>
            </a:extLst>
          </p:spPr>
        </p:pic>
        <p:pic>
          <p:nvPicPr>
            <p:cNvPr id="578610" name="Picture 50">
              <a:extLst>
                <a:ext uri="{FF2B5EF4-FFF2-40B4-BE49-F238E27FC236}">
                  <a16:creationId xmlns:a16="http://schemas.microsoft.com/office/drawing/2014/main" id="{F3CF0BBF-1D45-03CE-7338-48E039E8DF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9" y="1575"/>
              <a:ext cx="405" cy="307"/>
            </a:xfrm>
            <a:prstGeom prst="rect">
              <a:avLst/>
            </a:prstGeom>
            <a:noFill/>
            <a:extLst>
              <a:ext uri="{909E8E84-426E-40DD-AFC4-6F175D3DCCD1}">
                <a14:hiddenFill xmlns:a14="http://schemas.microsoft.com/office/drawing/2010/main">
                  <a:solidFill>
                    <a:srgbClr val="FFFFFF"/>
                  </a:solidFill>
                </a14:hiddenFill>
              </a:ext>
            </a:extLst>
          </p:spPr>
        </p:pic>
        <p:pic>
          <p:nvPicPr>
            <p:cNvPr id="578611" name="Picture 51">
              <a:extLst>
                <a:ext uri="{FF2B5EF4-FFF2-40B4-BE49-F238E27FC236}">
                  <a16:creationId xmlns:a16="http://schemas.microsoft.com/office/drawing/2014/main" id="{80AE4225-BF0E-4E5F-DCEB-1E1C2301D3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8" y="1576"/>
              <a:ext cx="292" cy="344"/>
            </a:xfrm>
            <a:prstGeom prst="rect">
              <a:avLst/>
            </a:prstGeom>
            <a:noFill/>
            <a:extLst>
              <a:ext uri="{909E8E84-426E-40DD-AFC4-6F175D3DCCD1}">
                <a14:hiddenFill xmlns:a14="http://schemas.microsoft.com/office/drawing/2010/main">
                  <a:solidFill>
                    <a:srgbClr val="FFFFFF"/>
                  </a:solidFill>
                </a14:hiddenFill>
              </a:ext>
            </a:extLst>
          </p:spPr>
        </p:pic>
        <p:pic>
          <p:nvPicPr>
            <p:cNvPr id="578612" name="Picture 52">
              <a:extLst>
                <a:ext uri="{FF2B5EF4-FFF2-40B4-BE49-F238E27FC236}">
                  <a16:creationId xmlns:a16="http://schemas.microsoft.com/office/drawing/2014/main" id="{BEB59B08-0686-56E2-FA73-C7B807E4FE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4" y="688"/>
              <a:ext cx="367" cy="363"/>
            </a:xfrm>
            <a:prstGeom prst="rect">
              <a:avLst/>
            </a:prstGeom>
            <a:noFill/>
            <a:extLst>
              <a:ext uri="{909E8E84-426E-40DD-AFC4-6F175D3DCCD1}">
                <a14:hiddenFill xmlns:a14="http://schemas.microsoft.com/office/drawing/2010/main">
                  <a:solidFill>
                    <a:srgbClr val="FFFFFF"/>
                  </a:solidFill>
                </a14:hiddenFill>
              </a:ext>
            </a:extLst>
          </p:spPr>
        </p:pic>
        <p:sp>
          <p:nvSpPr>
            <p:cNvPr id="578613" name="Text Box 53">
              <a:extLst>
                <a:ext uri="{FF2B5EF4-FFF2-40B4-BE49-F238E27FC236}">
                  <a16:creationId xmlns:a16="http://schemas.microsoft.com/office/drawing/2014/main" id="{9CE51FB8-0297-D325-BE5A-DAB8BC9FCE40}"/>
                </a:ext>
              </a:extLst>
            </p:cNvPr>
            <p:cNvSpPr txBox="1">
              <a:spLocks noChangeArrowheads="1"/>
            </p:cNvSpPr>
            <p:nvPr/>
          </p:nvSpPr>
          <p:spPr bwMode="auto">
            <a:xfrm>
              <a:off x="4317" y="1051"/>
              <a:ext cx="107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800" b="0" dirty="0" err="1"/>
                <a:t>Nhân</a:t>
              </a:r>
              <a:r>
                <a:rPr lang="en-US" altLang="ja-JP" sz="1800" b="0" dirty="0"/>
                <a:t> </a:t>
              </a:r>
              <a:r>
                <a:rPr lang="en-US" altLang="ja-JP" sz="1800" b="0" dirty="0" err="1"/>
                <a:t>viên</a:t>
              </a:r>
              <a:endParaRPr lang="en-US" altLang="ja-JP" sz="1800" b="0" dirty="0"/>
            </a:p>
          </p:txBody>
        </p:sp>
        <p:sp>
          <p:nvSpPr>
            <p:cNvPr id="578614" name="Text Box 54">
              <a:extLst>
                <a:ext uri="{FF2B5EF4-FFF2-40B4-BE49-F238E27FC236}">
                  <a16:creationId xmlns:a16="http://schemas.microsoft.com/office/drawing/2014/main" id="{D4986774-CDCD-9874-D9B8-24C67BAC0E85}"/>
                </a:ext>
              </a:extLst>
            </p:cNvPr>
            <p:cNvSpPr txBox="1">
              <a:spLocks noChangeArrowheads="1"/>
            </p:cNvSpPr>
            <p:nvPr/>
          </p:nvSpPr>
          <p:spPr bwMode="auto">
            <a:xfrm>
              <a:off x="5297" y="1945"/>
              <a:ext cx="6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200" b="0"/>
                <a:t>Kế hoạch</a:t>
              </a:r>
            </a:p>
          </p:txBody>
        </p:sp>
        <p:sp>
          <p:nvSpPr>
            <p:cNvPr id="578615" name="Text Box 55">
              <a:extLst>
                <a:ext uri="{FF2B5EF4-FFF2-40B4-BE49-F238E27FC236}">
                  <a16:creationId xmlns:a16="http://schemas.microsoft.com/office/drawing/2014/main" id="{AD539074-9A2E-0112-5D35-1EDE77DAD82D}"/>
                </a:ext>
              </a:extLst>
            </p:cNvPr>
            <p:cNvSpPr txBox="1">
              <a:spLocks noChangeArrowheads="1"/>
            </p:cNvSpPr>
            <p:nvPr/>
          </p:nvSpPr>
          <p:spPr bwMode="auto">
            <a:xfrm>
              <a:off x="4576" y="1953"/>
              <a:ext cx="91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ja-JP" sz="1200" b="0" dirty="0"/>
                <a:t>Kinh </a:t>
              </a:r>
              <a:r>
                <a:rPr lang="en-US" altLang="ja-JP" sz="1200" b="0" dirty="0" err="1"/>
                <a:t>doanh</a:t>
              </a:r>
              <a:endParaRPr lang="en-US" altLang="ja-JP" sz="1200" b="0" dirty="0"/>
            </a:p>
          </p:txBody>
        </p:sp>
        <p:sp>
          <p:nvSpPr>
            <p:cNvPr id="578616" name="Text Box 56">
              <a:extLst>
                <a:ext uri="{FF2B5EF4-FFF2-40B4-BE49-F238E27FC236}">
                  <a16:creationId xmlns:a16="http://schemas.microsoft.com/office/drawing/2014/main" id="{44445607-D284-EBB0-0461-1F3C14B6D2F8}"/>
                </a:ext>
              </a:extLst>
            </p:cNvPr>
            <p:cNvSpPr txBox="1">
              <a:spLocks noChangeArrowheads="1"/>
            </p:cNvSpPr>
            <p:nvPr/>
          </p:nvSpPr>
          <p:spPr bwMode="auto">
            <a:xfrm>
              <a:off x="4041" y="1953"/>
              <a:ext cx="4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ja-JP" altLang="en-US" sz="1800" b="0" dirty="0"/>
                <a:t>ＳＥ</a:t>
              </a:r>
            </a:p>
          </p:txBody>
        </p:sp>
        <p:cxnSp>
          <p:nvCxnSpPr>
            <p:cNvPr id="578617" name="AutoShape 57">
              <a:extLst>
                <a:ext uri="{FF2B5EF4-FFF2-40B4-BE49-F238E27FC236}">
                  <a16:creationId xmlns:a16="http://schemas.microsoft.com/office/drawing/2014/main" id="{9754CA4D-78CE-FA60-53B6-EDECA744330E}"/>
                </a:ext>
              </a:extLst>
            </p:cNvPr>
            <p:cNvCxnSpPr>
              <a:cxnSpLocks noChangeShapeType="1"/>
              <a:stCxn id="578610" idx="0"/>
              <a:endCxn id="578620" idx="3"/>
            </p:cNvCxnSpPr>
            <p:nvPr/>
          </p:nvCxnSpPr>
          <p:spPr bwMode="auto">
            <a:xfrm flipH="1" flipV="1">
              <a:off x="4825" y="1330"/>
              <a:ext cx="7" cy="24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8618" name="AutoShape 58">
              <a:extLst>
                <a:ext uri="{FF2B5EF4-FFF2-40B4-BE49-F238E27FC236}">
                  <a16:creationId xmlns:a16="http://schemas.microsoft.com/office/drawing/2014/main" id="{4D1159ED-4FE4-0AE7-FD17-35349B1321B7}"/>
                </a:ext>
              </a:extLst>
            </p:cNvPr>
            <p:cNvCxnSpPr>
              <a:cxnSpLocks noChangeShapeType="1"/>
              <a:stCxn id="578609" idx="0"/>
              <a:endCxn id="578620" idx="3"/>
            </p:cNvCxnSpPr>
            <p:nvPr/>
          </p:nvCxnSpPr>
          <p:spPr bwMode="auto">
            <a:xfrm rot="16200000">
              <a:off x="4367" y="1118"/>
              <a:ext cx="245" cy="670"/>
            </a:xfrm>
            <a:prstGeom prst="bentConnector3">
              <a:avLst>
                <a:gd name="adj1" fmla="val 49796"/>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8619" name="AutoShape 59">
              <a:extLst>
                <a:ext uri="{FF2B5EF4-FFF2-40B4-BE49-F238E27FC236}">
                  <a16:creationId xmlns:a16="http://schemas.microsoft.com/office/drawing/2014/main" id="{F3FBA662-4E8A-9034-D644-26335981C666}"/>
                </a:ext>
              </a:extLst>
            </p:cNvPr>
            <p:cNvCxnSpPr>
              <a:cxnSpLocks noChangeShapeType="1"/>
              <a:stCxn id="578611" idx="0"/>
              <a:endCxn id="578620" idx="3"/>
            </p:cNvCxnSpPr>
            <p:nvPr/>
          </p:nvCxnSpPr>
          <p:spPr bwMode="auto">
            <a:xfrm rot="5400000" flipH="1">
              <a:off x="5037" y="1118"/>
              <a:ext cx="246" cy="66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8620" name="AutoShape 60">
              <a:extLst>
                <a:ext uri="{FF2B5EF4-FFF2-40B4-BE49-F238E27FC236}">
                  <a16:creationId xmlns:a16="http://schemas.microsoft.com/office/drawing/2014/main" id="{B98AD875-0256-130D-46C4-2D78A3513162}"/>
                </a:ext>
              </a:extLst>
            </p:cNvPr>
            <p:cNvSpPr>
              <a:spLocks noChangeArrowheads="1"/>
            </p:cNvSpPr>
            <p:nvPr/>
          </p:nvSpPr>
          <p:spPr bwMode="auto">
            <a:xfrm>
              <a:off x="4761" y="1252"/>
              <a:ext cx="127" cy="78"/>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78621" name="AutoShape 61">
              <a:extLst>
                <a:ext uri="{FF2B5EF4-FFF2-40B4-BE49-F238E27FC236}">
                  <a16:creationId xmlns:a16="http://schemas.microsoft.com/office/drawing/2014/main" id="{EFEFAC6C-1612-BDAB-F1FE-153A6C98502B}"/>
                </a:ext>
              </a:extLst>
            </p:cNvPr>
            <p:cNvSpPr>
              <a:spLocks noChangeArrowheads="1"/>
            </p:cNvSpPr>
            <p:nvPr/>
          </p:nvSpPr>
          <p:spPr bwMode="auto">
            <a:xfrm>
              <a:off x="3810" y="2268"/>
              <a:ext cx="989" cy="233"/>
            </a:xfrm>
            <a:prstGeom prst="wedgeRoundRectCallout">
              <a:avLst>
                <a:gd name="adj1" fmla="val -10241"/>
                <a:gd name="adj2" fmla="val -98926"/>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dirty="0" err="1">
                  <a:latin typeface="+mj-lt"/>
                </a:rPr>
                <a:t>printInfo</a:t>
              </a:r>
              <a:r>
                <a:rPr lang="ja-JP" altLang="en-US" sz="1800" b="0" dirty="0">
                  <a:latin typeface="+mj-lt"/>
                </a:rPr>
                <a:t>（）</a:t>
              </a:r>
            </a:p>
          </p:txBody>
        </p:sp>
        <p:sp>
          <p:nvSpPr>
            <p:cNvPr id="578629" name="AutoShape 69">
              <a:extLst>
                <a:ext uri="{FF2B5EF4-FFF2-40B4-BE49-F238E27FC236}">
                  <a16:creationId xmlns:a16="http://schemas.microsoft.com/office/drawing/2014/main" id="{47D8ECE2-BB09-EF96-FD3B-F02E04FFF26E}"/>
                </a:ext>
              </a:extLst>
            </p:cNvPr>
            <p:cNvSpPr>
              <a:spLocks noChangeArrowheads="1"/>
            </p:cNvSpPr>
            <p:nvPr/>
          </p:nvSpPr>
          <p:spPr bwMode="auto">
            <a:xfrm>
              <a:off x="4693" y="2268"/>
              <a:ext cx="989" cy="233"/>
            </a:xfrm>
            <a:prstGeom prst="wedgeRoundRectCallout">
              <a:avLst>
                <a:gd name="adj1" fmla="val -28361"/>
                <a:gd name="adj2" fmla="val -91296"/>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800" b="0" dirty="0" err="1">
                  <a:latin typeface="+mj-lt"/>
                </a:rPr>
                <a:t>printInfo</a:t>
              </a:r>
              <a:r>
                <a:rPr lang="ja-JP" altLang="en-US" sz="1800" b="0" dirty="0">
                  <a:latin typeface="+mj-lt"/>
                </a:rPr>
                <a:t>（）</a:t>
              </a:r>
            </a:p>
          </p:txBody>
        </p:sp>
      </p:grpSp>
      <p:sp>
        <p:nvSpPr>
          <p:cNvPr id="578633" name="Text Box 73">
            <a:extLst>
              <a:ext uri="{FF2B5EF4-FFF2-40B4-BE49-F238E27FC236}">
                <a16:creationId xmlns:a16="http://schemas.microsoft.com/office/drawing/2014/main" id="{31F9F9BE-4F4A-3712-EAB5-BC510A9C60A3}"/>
              </a:ext>
            </a:extLst>
          </p:cNvPr>
          <p:cNvSpPr txBox="1">
            <a:spLocks noChangeArrowheads="1"/>
          </p:cNvSpPr>
          <p:nvPr/>
        </p:nvSpPr>
        <p:spPr bwMode="auto">
          <a:xfrm>
            <a:off x="344488" y="1139825"/>
            <a:ext cx="6275387" cy="23145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lvl1pPr marL="85725">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b="0">
                <a:ea typeface="ＭＳ ゴシック" panose="020B0609070205080204" pitchFamily="49" charset="-128"/>
              </a:rPr>
              <a:t>Employee[] empArray = new Employee[3];</a:t>
            </a:r>
          </a:p>
          <a:p>
            <a:r>
              <a:rPr lang="en-US" altLang="ja-JP" sz="1800" b="0">
                <a:ea typeface="ＭＳ ゴシック" panose="020B0609070205080204" pitchFamily="49" charset="-128"/>
              </a:rPr>
              <a:t>empArray[0] = new Sales("100200", "</a:t>
            </a:r>
            <a:r>
              <a:rPr lang="ja-JP" altLang="en-US" sz="1800" b="0">
                <a:ea typeface="ＭＳ ゴシック" panose="020B0609070205080204" pitchFamily="49" charset="-128"/>
              </a:rPr>
              <a:t>田中花子</a:t>
            </a:r>
            <a:r>
              <a:rPr lang="en-US" altLang="ja-JP" sz="1800" b="0">
                <a:ea typeface="ＭＳ ゴシック" panose="020B0609070205080204" pitchFamily="49" charset="-128"/>
              </a:rPr>
              <a:t>", 5);</a:t>
            </a:r>
          </a:p>
          <a:p>
            <a:r>
              <a:rPr lang="en-US" altLang="ja-JP" sz="1800" b="0">
                <a:ea typeface="ＭＳ ゴシック" panose="020B0609070205080204" pitchFamily="49" charset="-128"/>
              </a:rPr>
              <a:t>empArray[1] = new SE("300400", "</a:t>
            </a:r>
            <a:r>
              <a:rPr lang="ja-JP" altLang="en-US" sz="1800" b="0">
                <a:ea typeface="ＭＳ ゴシック" panose="020B0609070205080204" pitchFamily="49" charset="-128"/>
              </a:rPr>
              <a:t>松本一郎</a:t>
            </a:r>
            <a:r>
              <a:rPr lang="en-US" altLang="ja-JP" sz="1800" b="0">
                <a:ea typeface="ＭＳ ゴシック" panose="020B0609070205080204" pitchFamily="49" charset="-128"/>
              </a:rPr>
              <a:t>", "DB");</a:t>
            </a:r>
          </a:p>
          <a:p>
            <a:r>
              <a:rPr lang="en-US" altLang="ja-JP" sz="1800" b="0">
                <a:ea typeface="ＭＳ ゴシック" panose="020B0609070205080204" pitchFamily="49" charset="-128"/>
              </a:rPr>
              <a:t>empArray[2] = new Sales("500600", "</a:t>
            </a:r>
            <a:r>
              <a:rPr lang="ja-JP" altLang="en-US" sz="1800" b="0">
                <a:ea typeface="ＭＳ ゴシック" panose="020B0609070205080204" pitchFamily="49" charset="-128"/>
              </a:rPr>
              <a:t>田中裕樹</a:t>
            </a:r>
            <a:r>
              <a:rPr lang="en-US" altLang="ja-JP" sz="1800" b="0">
                <a:ea typeface="ＭＳ ゴシック" panose="020B0609070205080204" pitchFamily="49" charset="-128"/>
              </a:rPr>
              <a:t>", 8);</a:t>
            </a:r>
          </a:p>
          <a:p>
            <a:r>
              <a:rPr lang="en-US" altLang="ja-JP" sz="1800" b="0">
                <a:ea typeface="ＭＳ ゴシック" panose="020B0609070205080204" pitchFamily="49" charset="-128"/>
              </a:rPr>
              <a:t>for (int i = 0; i &lt; empArray.length; i++) {</a:t>
            </a:r>
          </a:p>
          <a:p>
            <a:r>
              <a:rPr lang="en-US" altLang="ja-JP" sz="1800" b="0">
                <a:ea typeface="ＭＳ ゴシック" panose="020B0609070205080204" pitchFamily="49" charset="-128"/>
              </a:rPr>
              <a:t>    System.out.println("------------------------");</a:t>
            </a:r>
          </a:p>
          <a:p>
            <a:r>
              <a:rPr lang="en-US" altLang="ja-JP" sz="1800" b="0">
                <a:ea typeface="ＭＳ ゴシック" panose="020B0609070205080204" pitchFamily="49" charset="-128"/>
              </a:rPr>
              <a:t>    empArray[i].printInfo();</a:t>
            </a:r>
          </a:p>
          <a:p>
            <a:r>
              <a:rPr lang="en-US" altLang="ja-JP" sz="1800" b="0">
                <a:ea typeface="ＭＳ ゴシック" panose="020B0609070205080204" pitchFamily="49" charset="-128"/>
              </a:rPr>
              <a:t>}</a:t>
            </a:r>
          </a:p>
        </p:txBody>
      </p:sp>
      <p:sp>
        <p:nvSpPr>
          <p:cNvPr id="578636" name="Text Box 76">
            <a:extLst>
              <a:ext uri="{FF2B5EF4-FFF2-40B4-BE49-F238E27FC236}">
                <a16:creationId xmlns:a16="http://schemas.microsoft.com/office/drawing/2014/main" id="{3163D54A-7061-9274-D03B-7F602A6B92C0}"/>
              </a:ext>
            </a:extLst>
          </p:cNvPr>
          <p:cNvSpPr txBox="1">
            <a:spLocks noChangeArrowheads="1"/>
          </p:cNvSpPr>
          <p:nvPr/>
        </p:nvSpPr>
        <p:spPr bwMode="auto">
          <a:xfrm>
            <a:off x="344488" y="3587750"/>
            <a:ext cx="5494337" cy="31067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lvl1pPr marL="85725">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600" b="0">
                <a:ea typeface="ＭＳ ゴシック" panose="020B0609070205080204" pitchFamily="49" charset="-128"/>
              </a:rPr>
              <a:t>------------------------</a:t>
            </a:r>
          </a:p>
          <a:p>
            <a:r>
              <a:rPr lang="en-US" altLang="ja-JP" sz="1600" b="0">
                <a:ea typeface="ＭＳ ゴシック" panose="020B0609070205080204" pitchFamily="49" charset="-128"/>
              </a:rPr>
              <a:t>empId:100200</a:t>
            </a:r>
          </a:p>
          <a:p>
            <a:r>
              <a:rPr lang="en-US" altLang="ja-JP" sz="1600" b="0">
                <a:ea typeface="ＭＳ ゴシック" panose="020B0609070205080204" pitchFamily="49" charset="-128"/>
              </a:rPr>
              <a:t>empName:</a:t>
            </a:r>
            <a:r>
              <a:rPr lang="ja-JP" altLang="en-US" sz="1600" b="0">
                <a:ea typeface="ＭＳ ゴシック" panose="020B0609070205080204" pitchFamily="49" charset="-128"/>
              </a:rPr>
              <a:t>田中花子</a:t>
            </a:r>
          </a:p>
          <a:p>
            <a:r>
              <a:rPr lang="en-US" altLang="ja-JP" sz="1600" b="0">
                <a:ea typeface="ＭＳ ゴシック" panose="020B0609070205080204" pitchFamily="49" charset="-128"/>
              </a:rPr>
              <a:t>customerCount:5</a:t>
            </a:r>
          </a:p>
          <a:p>
            <a:r>
              <a:rPr lang="en-US" altLang="ja-JP" sz="1600" b="0">
                <a:ea typeface="ＭＳ ゴシック" panose="020B0609070205080204" pitchFamily="49" charset="-128"/>
              </a:rPr>
              <a:t>------------------------</a:t>
            </a:r>
          </a:p>
          <a:p>
            <a:r>
              <a:rPr lang="en-US" altLang="ja-JP" sz="1600" b="0">
                <a:ea typeface="ＭＳ ゴシック" panose="020B0609070205080204" pitchFamily="49" charset="-128"/>
              </a:rPr>
              <a:t>empId:300400</a:t>
            </a:r>
          </a:p>
          <a:p>
            <a:r>
              <a:rPr lang="en-US" altLang="ja-JP" sz="1600" b="0">
                <a:ea typeface="ＭＳ ゴシック" panose="020B0609070205080204" pitchFamily="49" charset="-128"/>
              </a:rPr>
              <a:t>empName:</a:t>
            </a:r>
            <a:r>
              <a:rPr lang="ja-JP" altLang="en-US" sz="1600" b="0">
                <a:ea typeface="ＭＳ ゴシック" panose="020B0609070205080204" pitchFamily="49" charset="-128"/>
              </a:rPr>
              <a:t>松本一郎</a:t>
            </a:r>
          </a:p>
          <a:p>
            <a:r>
              <a:rPr lang="en-US" altLang="ja-JP" sz="1600" b="0">
                <a:ea typeface="ＭＳ ゴシック" panose="020B0609070205080204" pitchFamily="49" charset="-128"/>
              </a:rPr>
              <a:t>specializedField:DB</a:t>
            </a:r>
          </a:p>
          <a:p>
            <a:r>
              <a:rPr lang="en-US" altLang="ja-JP" sz="1600" b="0">
                <a:ea typeface="ＭＳ ゴシック" panose="020B0609070205080204" pitchFamily="49" charset="-128"/>
              </a:rPr>
              <a:t>------------------------</a:t>
            </a:r>
          </a:p>
          <a:p>
            <a:r>
              <a:rPr lang="en-US" altLang="ja-JP" sz="1600" b="0">
                <a:ea typeface="ＭＳ ゴシック" panose="020B0609070205080204" pitchFamily="49" charset="-128"/>
              </a:rPr>
              <a:t>empId:500600</a:t>
            </a:r>
          </a:p>
          <a:p>
            <a:r>
              <a:rPr lang="en-US" altLang="ja-JP" sz="1600" b="0">
                <a:ea typeface="ＭＳ ゴシック" panose="020B0609070205080204" pitchFamily="49" charset="-128"/>
              </a:rPr>
              <a:t>empName:</a:t>
            </a:r>
            <a:r>
              <a:rPr lang="ja-JP" altLang="en-US" sz="1600" b="0">
                <a:ea typeface="ＭＳ ゴシック" panose="020B0609070205080204" pitchFamily="49" charset="-128"/>
              </a:rPr>
              <a:t>田中裕樹</a:t>
            </a:r>
          </a:p>
          <a:p>
            <a:r>
              <a:rPr lang="en-US" altLang="ja-JP" sz="1600" b="0">
                <a:ea typeface="ＭＳ ゴシック" panose="020B0609070205080204" pitchFamily="49" charset="-128"/>
              </a:rPr>
              <a:t>customerCount:8</a:t>
            </a:r>
          </a:p>
        </p:txBody>
      </p:sp>
      <p:sp>
        <p:nvSpPr>
          <p:cNvPr id="578637" name="Rectangle 77">
            <a:extLst>
              <a:ext uri="{FF2B5EF4-FFF2-40B4-BE49-F238E27FC236}">
                <a16:creationId xmlns:a16="http://schemas.microsoft.com/office/drawing/2014/main" id="{63F7B5F6-2DF4-0F6B-B89E-B78D6CA72A54}"/>
              </a:ext>
            </a:extLst>
          </p:cNvPr>
          <p:cNvSpPr>
            <a:spLocks noChangeArrowheads="1"/>
          </p:cNvSpPr>
          <p:nvPr/>
        </p:nvSpPr>
        <p:spPr bwMode="auto">
          <a:xfrm>
            <a:off x="411163" y="3857625"/>
            <a:ext cx="2136775" cy="80010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578638" name="AutoShape 78">
            <a:extLst>
              <a:ext uri="{FF2B5EF4-FFF2-40B4-BE49-F238E27FC236}">
                <a16:creationId xmlns:a16="http://schemas.microsoft.com/office/drawing/2014/main" id="{DABC8FCD-5A9F-D68C-237A-9CBAAF99DD2D}"/>
              </a:ext>
            </a:extLst>
          </p:cNvPr>
          <p:cNvCxnSpPr>
            <a:cxnSpLocks noChangeShapeType="1"/>
            <a:stCxn id="578637" idx="3"/>
            <a:endCxn id="578639" idx="1"/>
          </p:cNvCxnSpPr>
          <p:nvPr/>
        </p:nvCxnSpPr>
        <p:spPr bwMode="auto">
          <a:xfrm>
            <a:off x="2560638" y="4257675"/>
            <a:ext cx="409575" cy="0"/>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8639" name="Rectangle 79">
            <a:extLst>
              <a:ext uri="{FF2B5EF4-FFF2-40B4-BE49-F238E27FC236}">
                <a16:creationId xmlns:a16="http://schemas.microsoft.com/office/drawing/2014/main" id="{00FBF4F0-126A-4C1A-3D7E-31CE5E3EC2CD}"/>
              </a:ext>
            </a:extLst>
          </p:cNvPr>
          <p:cNvSpPr>
            <a:spLocks noChangeArrowheads="1"/>
          </p:cNvSpPr>
          <p:nvPr/>
        </p:nvSpPr>
        <p:spPr bwMode="auto">
          <a:xfrm>
            <a:off x="2982913" y="3924300"/>
            <a:ext cx="2551112" cy="66675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b="0">
                <a:ea typeface="MS UI Gothic" panose="020B0600070205080204" pitchFamily="50" charset="-128"/>
              </a:rPr>
              <a:t>printInfo method của Sales</a:t>
            </a:r>
            <a:endParaRPr lang="en-US" altLang="ja-JP" sz="1800" b="0">
              <a:latin typeface="MS UI Gothic" panose="020B0600070205080204" pitchFamily="50" charset="-128"/>
              <a:ea typeface="MS UI Gothic" panose="020B0600070205080204" pitchFamily="50" charset="-128"/>
            </a:endParaRPr>
          </a:p>
        </p:txBody>
      </p:sp>
      <p:sp>
        <p:nvSpPr>
          <p:cNvPr id="578640" name="Rectangle 80">
            <a:extLst>
              <a:ext uri="{FF2B5EF4-FFF2-40B4-BE49-F238E27FC236}">
                <a16:creationId xmlns:a16="http://schemas.microsoft.com/office/drawing/2014/main" id="{D1EBA22E-BCEA-A4C7-AD89-F3D02866769B}"/>
              </a:ext>
            </a:extLst>
          </p:cNvPr>
          <p:cNvSpPr>
            <a:spLocks noChangeArrowheads="1"/>
          </p:cNvSpPr>
          <p:nvPr/>
        </p:nvSpPr>
        <p:spPr bwMode="auto">
          <a:xfrm>
            <a:off x="411163" y="4848225"/>
            <a:ext cx="2136775" cy="800100"/>
          </a:xfrm>
          <a:prstGeom prst="rect">
            <a:avLst/>
          </a:prstGeom>
          <a:noFill/>
          <a:ln w="2540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578641" name="AutoShape 81">
            <a:extLst>
              <a:ext uri="{FF2B5EF4-FFF2-40B4-BE49-F238E27FC236}">
                <a16:creationId xmlns:a16="http://schemas.microsoft.com/office/drawing/2014/main" id="{B5321560-27C9-A089-8F93-6069F34488FE}"/>
              </a:ext>
            </a:extLst>
          </p:cNvPr>
          <p:cNvCxnSpPr>
            <a:cxnSpLocks noChangeShapeType="1"/>
            <a:stCxn id="578640" idx="3"/>
            <a:endCxn id="578642" idx="1"/>
          </p:cNvCxnSpPr>
          <p:nvPr/>
        </p:nvCxnSpPr>
        <p:spPr bwMode="auto">
          <a:xfrm>
            <a:off x="2560638" y="5248275"/>
            <a:ext cx="409575" cy="0"/>
          </a:xfrm>
          <a:prstGeom prst="straightConnector1">
            <a:avLst/>
          </a:prstGeom>
          <a:noFill/>
          <a:ln w="25400">
            <a:solidFill>
              <a:srgbClr val="FF8519"/>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8642" name="Rectangle 82">
            <a:extLst>
              <a:ext uri="{FF2B5EF4-FFF2-40B4-BE49-F238E27FC236}">
                <a16:creationId xmlns:a16="http://schemas.microsoft.com/office/drawing/2014/main" id="{8F691961-878E-50E9-CB82-CFA0412C7795}"/>
              </a:ext>
            </a:extLst>
          </p:cNvPr>
          <p:cNvSpPr>
            <a:spLocks noChangeArrowheads="1"/>
          </p:cNvSpPr>
          <p:nvPr/>
        </p:nvSpPr>
        <p:spPr bwMode="auto">
          <a:xfrm>
            <a:off x="2982913" y="4914900"/>
            <a:ext cx="2551112" cy="666750"/>
          </a:xfrm>
          <a:prstGeom prst="rect">
            <a:avLst/>
          </a:prstGeom>
          <a:noFill/>
          <a:ln w="2540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b="0">
                <a:ea typeface="MS UI Gothic" panose="020B0600070205080204" pitchFamily="50" charset="-128"/>
              </a:rPr>
              <a:t>printInfo method của SE</a:t>
            </a:r>
          </a:p>
        </p:txBody>
      </p:sp>
      <p:sp>
        <p:nvSpPr>
          <p:cNvPr id="578643" name="Rectangle 83">
            <a:extLst>
              <a:ext uri="{FF2B5EF4-FFF2-40B4-BE49-F238E27FC236}">
                <a16:creationId xmlns:a16="http://schemas.microsoft.com/office/drawing/2014/main" id="{06E850FD-1026-4377-5577-0D37388847A8}"/>
              </a:ext>
            </a:extLst>
          </p:cNvPr>
          <p:cNvSpPr>
            <a:spLocks noChangeArrowheads="1"/>
          </p:cNvSpPr>
          <p:nvPr/>
        </p:nvSpPr>
        <p:spPr bwMode="auto">
          <a:xfrm>
            <a:off x="411163" y="5761038"/>
            <a:ext cx="2136775" cy="80010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578644" name="AutoShape 84">
            <a:extLst>
              <a:ext uri="{FF2B5EF4-FFF2-40B4-BE49-F238E27FC236}">
                <a16:creationId xmlns:a16="http://schemas.microsoft.com/office/drawing/2014/main" id="{A1AADB0B-B320-9788-8FF0-D63998838A78}"/>
              </a:ext>
            </a:extLst>
          </p:cNvPr>
          <p:cNvCxnSpPr>
            <a:cxnSpLocks noChangeShapeType="1"/>
            <a:stCxn id="578643" idx="3"/>
            <a:endCxn id="578645" idx="1"/>
          </p:cNvCxnSpPr>
          <p:nvPr/>
        </p:nvCxnSpPr>
        <p:spPr bwMode="auto">
          <a:xfrm>
            <a:off x="2560638" y="6161088"/>
            <a:ext cx="409575" cy="0"/>
          </a:xfrm>
          <a:prstGeom prst="straightConnector1">
            <a:avLst/>
          </a:prstGeom>
          <a:noFill/>
          <a:ln w="2540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8645" name="Rectangle 85">
            <a:extLst>
              <a:ext uri="{FF2B5EF4-FFF2-40B4-BE49-F238E27FC236}">
                <a16:creationId xmlns:a16="http://schemas.microsoft.com/office/drawing/2014/main" id="{F8B7D051-39AE-B36C-EB2F-0BFE2E9C14F7}"/>
              </a:ext>
            </a:extLst>
          </p:cNvPr>
          <p:cNvSpPr>
            <a:spLocks noChangeArrowheads="1"/>
          </p:cNvSpPr>
          <p:nvPr/>
        </p:nvSpPr>
        <p:spPr bwMode="auto">
          <a:xfrm>
            <a:off x="2982913" y="5827713"/>
            <a:ext cx="2551112" cy="66675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b="0">
                <a:ea typeface="MS UI Gothic" panose="020B0600070205080204" pitchFamily="50" charset="-128"/>
              </a:rPr>
              <a:t>printInfo method của Sales</a:t>
            </a:r>
          </a:p>
        </p:txBody>
      </p:sp>
    </p:spTree>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23373</TotalTime>
  <Words>4379</Words>
  <Application>Microsoft Office PowerPoint</Application>
  <PresentationFormat>A4 Paper (210x297 mm)</PresentationFormat>
  <Paragraphs>517</Paragraphs>
  <Slides>13</Slides>
  <Notes>12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13</vt:i4>
      </vt:variant>
    </vt:vector>
  </HeadingPairs>
  <TitlesOfParts>
    <vt:vector size="26" baseType="lpstr">
      <vt:lpstr>HG丸ｺﾞｼｯｸM-PRO</vt:lpstr>
      <vt:lpstr>Meiryo UI</vt:lpstr>
      <vt:lpstr>ＭＳ Ｐゴシック</vt:lpstr>
      <vt:lpstr>MS UI Gothic</vt:lpstr>
      <vt:lpstr>ＭＳ ゴシック</vt:lpstr>
      <vt:lpstr>ヒラギノ明朝 Pro W6</vt:lpstr>
      <vt:lpstr>ADLaM Display</vt:lpstr>
      <vt:lpstr>Arial</vt:lpstr>
      <vt:lpstr>Segoe Script</vt:lpstr>
      <vt:lpstr>Times New Roman</vt:lpstr>
      <vt:lpstr>Wingdings</vt:lpstr>
      <vt:lpstr>標準デザイン</vt:lpstr>
      <vt:lpstr>デザインの設定</vt:lpstr>
      <vt:lpstr>Java Training</vt:lpstr>
      <vt:lpstr>PowerPoint Presentation</vt:lpstr>
      <vt:lpstr>Interface</vt:lpstr>
      <vt:lpstr>Định nghĩa interface</vt:lpstr>
      <vt:lpstr>Định nghĩa class implement interface</vt:lpstr>
      <vt:lpstr>Interface và kiểu data</vt:lpstr>
      <vt:lpstr>Cast kiểu tham chiếu  (1)</vt:lpstr>
      <vt:lpstr>Cast kiểu tham chiếu (2)</vt:lpstr>
      <vt:lpstr>Cast kiểu tham chiếu (3)</vt:lpstr>
      <vt:lpstr>Cast kiểu tham chiếu (4)</vt:lpstr>
      <vt:lpstr>Polymorphism(1)</vt:lpstr>
      <vt:lpstr>Polymorphism (2)</vt:lpstr>
      <vt:lpstr>Polymorphism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457</cp:revision>
  <cp:lastPrinted>2018-04-10T08:59:30Z</cp:lastPrinted>
  <dcterms:created xsi:type="dcterms:W3CDTF">2025-05-21T02:38:07Z</dcterms:created>
  <dcterms:modified xsi:type="dcterms:W3CDTF">2026-08-27T04:40:22Z</dcterms:modified>
</cp:coreProperties>
</file>