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96" r:id="rId2"/>
  </p:sldMasterIdLst>
  <p:notesMasterIdLst>
    <p:notesMasterId r:id="rId8"/>
  </p:notesMasterIdLst>
  <p:handoutMasterIdLst>
    <p:handoutMasterId r:id="rId9"/>
  </p:handoutMasterIdLst>
  <p:sldIdLst>
    <p:sldId id="689" r:id="rId3"/>
    <p:sldId id="690" r:id="rId4"/>
    <p:sldId id="691" r:id="rId5"/>
    <p:sldId id="692" r:id="rId6"/>
    <p:sldId id="693" r:id="rId7"/>
  </p:sldIdLst>
  <p:sldSz cx="9906000" cy="6858000" type="A4"/>
  <p:notesSz cx="7104063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239">
          <p15:clr>
            <a:srgbClr val="A4A3A4"/>
          </p15:clr>
        </p15:guide>
        <p15:guide id="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ABA46"/>
    <a:srgbClr val="0000CC"/>
    <a:srgbClr val="5B9BD5"/>
    <a:srgbClr val="FF0000"/>
    <a:srgbClr val="FF00FF"/>
    <a:srgbClr val="70AD47"/>
    <a:srgbClr val="4BC174"/>
    <a:srgbClr val="50C8A7"/>
    <a:srgbClr val="55C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>
      <p:cViewPr varScale="1">
        <p:scale>
          <a:sx n="106" d="100"/>
          <a:sy n="106" d="100"/>
        </p:scale>
        <p:origin x="846" y="108"/>
      </p:cViewPr>
      <p:guideLst>
        <p:guide orient="horz"/>
        <p:guide pos="6239"/>
        <p:guide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DB899A6-A9CA-4711-9723-BA912D00FE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651D3A0-D571-4358-8785-1088F76D9B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618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19D7232F-6855-4919-8F75-B7A75D70C85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4427D1B6-1508-4EFB-B526-79F7F58444C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618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ABF23BBB-24A2-4FB1-97AA-82B17F20F696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16655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1E1D87D-A0A0-44F6-BD18-1DA14110C5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8D8AEA5-A4A6-41CD-B14C-F3CD4220D0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05324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47BF16E-6815-4F62-A34F-5B22F844803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25" y="811213"/>
            <a:ext cx="5516563" cy="382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009AFE73-A821-4ADE-B9D2-225F3B6F61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689" y="4861922"/>
            <a:ext cx="5212595" cy="463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dirty="0"/>
              <a:t>マスタ テキストの書式設定</a:t>
            </a:r>
          </a:p>
          <a:p>
            <a:pPr lvl="1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62419E40-0084-4BCB-8A80-CBA337840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95A1F3E7-6C28-42BC-9477-4EE05BC27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5324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1B717ACA-5F59-481E-BAA1-3D2FC3B91B1D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436483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7BC4D0-5990-408E-A9D0-64C8BD64F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1B671C-012F-4812-90DC-336A45C19F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617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86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 marL="360363" indent="-360363">
              <a:buFont typeface="+mj-lt"/>
              <a:buAutoNum type="arabicPeriod"/>
              <a:defRPr>
                <a:latin typeface="+mj-lt"/>
              </a:defRPr>
            </a:lvl1pPr>
            <a:lvl2pPr marL="803275" indent="-346075">
              <a:buFont typeface="+mj-lt"/>
              <a:buAutoNum type="alphaLcPeriod"/>
              <a:defRPr>
                <a:latin typeface="+mj-lt"/>
              </a:defRPr>
            </a:lvl2pPr>
            <a:lvl3pPr marL="1260475" indent="-346075">
              <a:buFont typeface="+mj-lt"/>
              <a:buAutoNum type="romanLcPeriod"/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26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FDD564-A74A-4C8F-9933-83C5535F4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F1DDD9-12D1-479E-A469-4F7F1BA8EB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898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E1BEBA6E-D791-46C4-A7EB-608AC024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BCF5236-44D4-4877-AAFB-61FE62FD43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636683-BFA6-4172-A561-0D16262C9F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8668C798-1731-4E4F-8BB5-E036A16CEAA1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2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6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12CAC3-7059-17D9-9C06-FBC6A511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D65A-0EC1-4CBC-8539-F9FD2B92F98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0A99C7-B9EB-D161-7E0B-A97F487D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B3AAF7-DB78-2248-5BC3-75E01314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41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>
            <a:extLst>
              <a:ext uri="{FF2B5EF4-FFF2-40B4-BE49-F238E27FC236}">
                <a16:creationId xmlns:a16="http://schemas.microsoft.com/office/drawing/2014/main" id="{09F48CFF-9599-4AEA-9D93-57B5675EE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" y="420688"/>
            <a:ext cx="975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タイトルの書式設定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F9F239E-C6DA-4D9A-8B7B-9954357B6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146175"/>
            <a:ext cx="9753600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テキストの書式設定</a:t>
            </a:r>
            <a:endParaRPr lang="en-US" altLang="ja-JP" dirty="0"/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 2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 3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 4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 5 </a:t>
            </a:r>
            <a:r>
              <a:rPr lang="ja-JP" altLang="en-US" dirty="0"/>
              <a:t>レベル</a:t>
            </a:r>
          </a:p>
        </p:txBody>
      </p:sp>
      <p:sp>
        <p:nvSpPr>
          <p:cNvPr id="30" name="Line 19">
            <a:extLst>
              <a:ext uri="{FF2B5EF4-FFF2-40B4-BE49-F238E27FC236}">
                <a16:creationId xmlns:a16="http://schemas.microsoft.com/office/drawing/2014/main" id="{27389893-5139-4F35-B647-26C2DFA202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572250"/>
            <a:ext cx="99060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4EFAA79C-D564-49D1-89C5-53185EA011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13525"/>
            <a:ext cx="990600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2" name="Text Box 21">
            <a:extLst>
              <a:ext uri="{FF2B5EF4-FFF2-40B4-BE49-F238E27FC236}">
                <a16:creationId xmlns:a16="http://schemas.microsoft.com/office/drawing/2014/main" id="{5275CC5B-9DD2-42FB-A12C-D10D6B34D5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64238" y="6583363"/>
            <a:ext cx="38131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it-IT" altLang="ja-JP" sz="1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ＭＳ Ｐゴシック" pitchFamily="50" charset="-128"/>
                <a:ea typeface="ＭＳ Ｐゴシック" pitchFamily="50" charset="-128"/>
              </a:rPr>
              <a:t>USOL VIETNAM Co., Ltd</a:t>
            </a:r>
            <a:endParaRPr lang="en-US" altLang="ja-JP" sz="1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ＭＳ Ｐゴシック" pitchFamily="50" charset="-128"/>
              <a:ea typeface="ＭＳ Ｐゴシック" pitchFamily="50" charset="-128"/>
            </a:endParaRPr>
          </a:p>
        </p:txBody>
      </p:sp>
      <p:pic>
        <p:nvPicPr>
          <p:cNvPr id="1033" name="Picture 1031" descr="LogoM">
            <a:extLst>
              <a:ext uri="{FF2B5EF4-FFF2-40B4-BE49-F238E27FC236}">
                <a16:creationId xmlns:a16="http://schemas.microsoft.com/office/drawing/2014/main" id="{7C426F0B-8E88-4132-B8AF-A9C5709369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8132"/>
            <a:ext cx="946054" cy="204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" name="Group 7">
            <a:extLst>
              <a:ext uri="{FF2B5EF4-FFF2-40B4-BE49-F238E27FC236}">
                <a16:creationId xmlns:a16="http://schemas.microsoft.com/office/drawing/2014/main" id="{E3F0A595-BBE1-4B7A-B594-6A1BDB4CCD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-3175"/>
            <a:ext cx="9906000" cy="457200"/>
            <a:chOff x="480" y="0"/>
            <a:chExt cx="5280" cy="384"/>
          </a:xfrm>
        </p:grpSpPr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AD08B79-E74D-46AD-935B-7885C39D32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0" y="288"/>
              <a:ext cx="5280" cy="96"/>
            </a:xfrm>
            <a:prstGeom prst="rect">
              <a:avLst/>
            </a:prstGeom>
            <a:gradFill flip="none" rotWithShape="1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9900"/>
                </a:gs>
              </a:gsLst>
              <a:lin ang="108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33C69BC-68BD-4C29-97F4-36AE620BF0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00" y="192"/>
              <a:ext cx="396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AA2D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19C90753-9F71-4E42-A751-DE76526998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20" y="96"/>
              <a:ext cx="2640" cy="96"/>
            </a:xfrm>
            <a:prstGeom prst="rect">
              <a:avLst/>
            </a:prstGeom>
            <a:gradFill rotWithShape="0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B547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2286BAA5-CD17-45D9-9AE7-385F7BC09B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40" y="0"/>
              <a:ext cx="132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C165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</p:grpSp>
      <p:sp>
        <p:nvSpPr>
          <p:cNvPr id="42" name="Text Box 22">
            <a:extLst>
              <a:ext uri="{FF2B5EF4-FFF2-40B4-BE49-F238E27FC236}">
                <a16:creationId xmlns:a16="http://schemas.microsoft.com/office/drawing/2014/main" id="{9779E748-DE2F-4EBB-B8A7-4682B42515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53263" y="50800"/>
            <a:ext cx="3130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66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dirty="0" err="1">
                <a:solidFill>
                  <a:schemeClr val="tx1"/>
                </a:solidFill>
                <a:latin typeface="Segoe Script" pitchFamily="34" charset="0"/>
              </a:rPr>
              <a:t>Usol</a:t>
            </a:r>
            <a:r>
              <a:rPr lang="ja-JP" altLang="en-US" sz="2800" i="0" dirty="0">
                <a:solidFill>
                  <a:schemeClr val="tx1"/>
                </a:solidFill>
                <a:latin typeface="Segoe Script" pitchFamily="34" charset="0"/>
              </a:rPr>
              <a:t>   </a:t>
            </a:r>
            <a:r>
              <a:rPr lang="en-US" altLang="ja-JP" sz="2800" dirty="0" err="1">
                <a:latin typeface="Segoe Script" pitchFamily="34" charset="0"/>
              </a:rPr>
              <a:t>ietnam</a:t>
            </a:r>
            <a:endParaRPr lang="ja-JP" altLang="en-US" sz="2800" dirty="0">
              <a:latin typeface="Segoe Script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473BC66-2BE3-4BA7-9E94-658F932E5E73}"/>
              </a:ext>
            </a:extLst>
          </p:cNvPr>
          <p:cNvSpPr/>
          <p:nvPr userDrawn="1"/>
        </p:nvSpPr>
        <p:spPr>
          <a:xfrm>
            <a:off x="7953107" y="-179013"/>
            <a:ext cx="469156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4000" i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V</a:t>
            </a:r>
            <a:endParaRPr lang="ja-JP" altLang="en-US" sz="4000" i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35" name="Text Box 11">
            <a:extLst>
              <a:ext uri="{FF2B5EF4-FFF2-40B4-BE49-F238E27FC236}">
                <a16:creationId xmlns:a16="http://schemas.microsoft.com/office/drawing/2014/main" id="{1DC4ECF5-E62B-44AA-90DF-10764551D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800" y="44450"/>
            <a:ext cx="1492250" cy="327025"/>
          </a:xfrm>
          <a:prstGeom prst="rect">
            <a:avLst/>
          </a:prstGeom>
          <a:noFill/>
          <a:ln w="57150" cmpd="thinThick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179388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800" i="0" dirty="0">
                <a:solidFill>
                  <a:srgbClr val="FF0000"/>
                </a:solidFill>
                <a:latin typeface="ＭＳ Ｐゴシック" pitchFamily="50" charset="-128"/>
                <a:ea typeface="ＭＳ Ｐゴシック" pitchFamily="50" charset="-128"/>
              </a:rPr>
              <a:t>Confidential</a:t>
            </a:r>
            <a:endParaRPr lang="en-US" sz="1800" i="0" dirty="0">
              <a:solidFill>
                <a:srgbClr val="FF0000"/>
              </a:solidFill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04B0585-20B2-4596-93D7-54D1340E09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33266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C5564842-B2E4-45CE-AB60-14A7558DAF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5097463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79353177-B86D-4022-983D-1132BA6711E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21" name="BIPROGYロゴ">
            <a:extLst>
              <a:ext uri="{FF2B5EF4-FFF2-40B4-BE49-F238E27FC236}">
                <a16:creationId xmlns:a16="http://schemas.microsoft.com/office/drawing/2014/main" id="{3F93CD62-EE3C-4414-B5A1-AE038ED1351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308" y="6590834"/>
            <a:ext cx="1692703" cy="2983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4" r:id="rId3"/>
    <p:sldLayoutId id="2147483792" r:id="rId4"/>
    <p:sldLayoutId id="2147483789" r:id="rId5"/>
    <p:sldLayoutId id="2147483793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44D352-923E-E6B6-4D8A-AB66C88B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C59BC7-F850-7C36-754E-E6369E518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DDECD-4404-C7CD-5336-354F8B649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4D65A-0EC1-4CBC-8539-F9FD2B92F981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90F2CC-709C-7ED4-7144-F5EFE9F78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AF8815-82A4-7D2E-5978-31B8771F5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0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ADLaM Display" panose="02010000000000000000" pitchFamily="2" charset="0"/>
          <a:ea typeface="+mj-ea"/>
          <a:cs typeface="ADLaM Display" panose="0201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61E3-7210-D801-C73E-18DF39FE6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7486650" cy="1470025"/>
          </a:xfrm>
        </p:spPr>
        <p:txBody>
          <a:bodyPr>
            <a:noAutofit/>
          </a:bodyPr>
          <a:lstStyle/>
          <a:p>
            <a:pPr algn="ctr" eaLnBrk="0" hangingPunct="0"/>
            <a:r>
              <a:rPr lang="ja-JP" altLang="ja-JP" dirty="0">
                <a:latin typeface="+mj-lt"/>
              </a:rPr>
              <a:t>Java</a:t>
            </a:r>
            <a:r>
              <a:rPr lang="en-US" altLang="ja-JP" dirty="0">
                <a:latin typeface="+mj-lt"/>
              </a:rPr>
              <a:t> Training</a:t>
            </a:r>
            <a:endParaRPr kumimoji="1" lang="ja-JP" altLang="en-US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3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401DD-7B17-E859-4DFB-AE99818D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Java OOP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56980-4334-958F-C475-34E120DFE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ja-JP" altLang="ja-JP" dirty="0"/>
              <a:t>Class &amp; Object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Encapsulation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Constructor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Inheritance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Polymorphism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Abstract Class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Interface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Design Principles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586DA-BB8D-8044-5B88-77CF02FBCA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63696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80DE-512E-2EEA-6BBC-71CDD4B2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Class &amp; Object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2670F-2690-3E74-906B-154C585B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64" y="1124744"/>
            <a:ext cx="9320336" cy="5328592"/>
          </a:xfrm>
        </p:spPr>
        <p:txBody>
          <a:bodyPr>
            <a:normAutofit fontScale="85000" lnSpcReduction="20000"/>
          </a:bodyPr>
          <a:lstStyle/>
          <a:p>
            <a:r>
              <a:rPr lang="ja-JP" altLang="ja-JP" dirty="0"/>
              <a:t>Class = Bản thiết kế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Object = Đối tượng thực tế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Field (Thuộc tính)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Method (Hành vi)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Constructor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new Object()</a:t>
            </a:r>
            <a:br>
              <a:rPr lang="ja-JP" altLang="ja-JP" dirty="0"/>
            </a:br>
            <a:endParaRPr lang="ja-JP" altLang="ja-JP" dirty="0"/>
          </a:p>
          <a:p>
            <a:r>
              <a:rPr lang="ja-JP" altLang="ja-JP" dirty="0"/>
              <a:t>Memory Model</a:t>
            </a:r>
            <a:br>
              <a:rPr lang="ja-JP" altLang="ja-JP" dirty="0"/>
            </a:br>
            <a:endParaRPr lang="ja-JP" altLang="ja-JP" dirty="0"/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75739-4B25-8033-A3C5-5E1C036A45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5754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B72C-DF1B-B5C3-9215-54ABCD8F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Class = </a:t>
            </a:r>
            <a:r>
              <a:rPr lang="en-US" altLang="ja-JP" dirty="0" err="1"/>
              <a:t>Bản</a:t>
            </a:r>
            <a:r>
              <a:rPr lang="en-US" altLang="ja-JP" dirty="0"/>
              <a:t> </a:t>
            </a:r>
            <a:r>
              <a:rPr lang="en-US" altLang="ja-JP" dirty="0" err="1"/>
              <a:t>thiết</a:t>
            </a:r>
            <a:r>
              <a:rPr lang="en-US" altLang="ja-JP" dirty="0"/>
              <a:t> </a:t>
            </a:r>
            <a:r>
              <a:rPr lang="en-US" altLang="ja-JP" dirty="0" err="1"/>
              <a:t>kế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FFC27-D457-53C3-51F9-70FD0AD2C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  </a:t>
            </a:r>
            <a:r>
              <a:rPr kumimoji="1" lang="en-US" altLang="ja-JP" dirty="0" err="1"/>
              <a:t>Mô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tả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thuộc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tính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và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hành</a:t>
            </a:r>
            <a:r>
              <a:rPr kumimoji="1" lang="en-US" altLang="ja-JP" dirty="0"/>
              <a:t> vi</a:t>
            </a:r>
          </a:p>
          <a:p>
            <a:r>
              <a:rPr kumimoji="1" lang="en-US" altLang="ja-JP" dirty="0"/>
              <a:t>  </a:t>
            </a:r>
            <a:r>
              <a:rPr kumimoji="1" lang="en-US" altLang="ja-JP" dirty="0" err="1"/>
              <a:t>Là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khuôn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mẫu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tạo</a:t>
            </a:r>
            <a:r>
              <a:rPr kumimoji="1" lang="en-US" altLang="ja-JP" dirty="0"/>
              <a:t> Object</a:t>
            </a:r>
          </a:p>
          <a:p>
            <a:r>
              <a:rPr kumimoji="1" lang="en-US" altLang="ja-JP" dirty="0"/>
              <a:t>  Khai </a:t>
            </a:r>
            <a:r>
              <a:rPr kumimoji="1" lang="en-US" altLang="ja-JP" dirty="0" err="1"/>
              <a:t>báo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bằng</a:t>
            </a:r>
            <a:r>
              <a:rPr kumimoji="1" lang="en-US" altLang="ja-JP" dirty="0"/>
              <a:t> class</a:t>
            </a:r>
          </a:p>
          <a:p>
            <a:r>
              <a:rPr kumimoji="1" lang="en-US" altLang="ja-JP" dirty="0"/>
              <a:t>  </a:t>
            </a:r>
            <a:r>
              <a:rPr kumimoji="1" lang="en-US" altLang="ja-JP" dirty="0" err="1"/>
              <a:t>Có</a:t>
            </a:r>
            <a:r>
              <a:rPr kumimoji="1" lang="en-US" altLang="ja-JP" dirty="0"/>
              <a:t> Field</a:t>
            </a:r>
          </a:p>
          <a:p>
            <a:r>
              <a:rPr kumimoji="1" lang="en-US" altLang="ja-JP" dirty="0"/>
              <a:t>  </a:t>
            </a:r>
            <a:r>
              <a:rPr kumimoji="1" lang="en-US" altLang="ja-JP" dirty="0" err="1"/>
              <a:t>Có</a:t>
            </a:r>
            <a:r>
              <a:rPr kumimoji="1" lang="en-US" altLang="ja-JP" dirty="0"/>
              <a:t> Method</a:t>
            </a:r>
          </a:p>
          <a:p>
            <a:r>
              <a:rPr kumimoji="1" lang="en-US" altLang="ja-JP" dirty="0"/>
              <a:t>  </a:t>
            </a:r>
            <a:r>
              <a:rPr kumimoji="1" lang="en-US" altLang="ja-JP" dirty="0" err="1"/>
              <a:t>Có</a:t>
            </a:r>
            <a:r>
              <a:rPr kumimoji="1" lang="en-US" altLang="ja-JP" dirty="0"/>
              <a:t> Constructor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99E16-44D0-5B88-BDC2-C529E9BD43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14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5C7B-2BA3-1669-F9FE-87C23AEB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2671-A7E7-5A48-DA64-225A62AC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ja-JP" dirty="0"/>
              <a:t>class Student {</a:t>
            </a:r>
          </a:p>
          <a:p>
            <a:pPr marL="0" indent="0">
              <a:buNone/>
            </a:pPr>
            <a:r>
              <a:rPr lang="en-US" altLang="ja-JP" dirty="0"/>
              <a:t>    String name; // Field</a:t>
            </a:r>
          </a:p>
          <a:p>
            <a:pPr marL="0" indent="0">
              <a:buNone/>
            </a:pPr>
            <a:r>
              <a:rPr lang="en-US" altLang="ja-JP" dirty="0"/>
              <a:t>    int age; // Field</a:t>
            </a:r>
          </a:p>
          <a:p>
            <a:pPr marL="0" indent="0">
              <a:buNone/>
            </a:pPr>
            <a:r>
              <a:rPr lang="en-US" altLang="ja-JP" dirty="0"/>
              <a:t>    Student(String name, int age) { // Constructor</a:t>
            </a:r>
          </a:p>
          <a:p>
            <a:pPr marL="0" indent="0">
              <a:buNone/>
            </a:pPr>
            <a:r>
              <a:rPr lang="en-US" altLang="ja-JP" dirty="0"/>
              <a:t>        this.name = name;</a:t>
            </a:r>
          </a:p>
          <a:p>
            <a:pPr marL="0" indent="0">
              <a:buNone/>
            </a:pPr>
            <a:r>
              <a:rPr lang="en-US" altLang="ja-JP" dirty="0"/>
              <a:t>        </a:t>
            </a:r>
            <a:r>
              <a:rPr lang="en-US" altLang="ja-JP" dirty="0" err="1"/>
              <a:t>this.age</a:t>
            </a:r>
            <a:r>
              <a:rPr lang="en-US" altLang="ja-JP" dirty="0"/>
              <a:t> = age;</a:t>
            </a:r>
          </a:p>
          <a:p>
            <a:pPr marL="0" indent="0">
              <a:buNone/>
            </a:pPr>
            <a:r>
              <a:rPr lang="en-US" altLang="ja-JP" dirty="0"/>
              <a:t>    }</a:t>
            </a:r>
          </a:p>
          <a:p>
            <a:pPr marL="0" indent="0">
              <a:buNone/>
            </a:pPr>
            <a:r>
              <a:rPr lang="en-US" altLang="ja-JP" dirty="0"/>
              <a:t>    void study() { // Method</a:t>
            </a:r>
          </a:p>
          <a:p>
            <a:pPr marL="0" indent="0">
              <a:buNone/>
            </a:pPr>
            <a:r>
              <a:rPr lang="en-US" altLang="ja-JP" dirty="0"/>
              <a:t>        </a:t>
            </a:r>
            <a:r>
              <a:rPr lang="en-US" altLang="ja-JP" dirty="0" err="1"/>
              <a:t>System.out.println</a:t>
            </a:r>
            <a:r>
              <a:rPr lang="en-US" altLang="ja-JP" dirty="0"/>
              <a:t>(name + " is studying");</a:t>
            </a:r>
          </a:p>
          <a:p>
            <a:pPr marL="0" indent="0">
              <a:buNone/>
            </a:pPr>
            <a:r>
              <a:rPr lang="en-US" altLang="ja-JP" dirty="0"/>
              <a:t>    }</a:t>
            </a:r>
          </a:p>
          <a:p>
            <a:pPr marL="0" indent="0">
              <a:buNone/>
            </a:pPr>
            <a:r>
              <a:rPr lang="en-US" altLang="ja-JP" dirty="0"/>
              <a:t>}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public class Main {</a:t>
            </a:r>
          </a:p>
          <a:p>
            <a:pPr marL="0" indent="0">
              <a:buNone/>
            </a:pPr>
            <a:r>
              <a:rPr lang="en-US" altLang="ja-JP" dirty="0"/>
              <a:t>    public static void main(String[] </a:t>
            </a:r>
            <a:r>
              <a:rPr lang="en-US" altLang="ja-JP" dirty="0" err="1"/>
              <a:t>args</a:t>
            </a:r>
            <a:r>
              <a:rPr lang="en-US" altLang="ja-JP" dirty="0"/>
              <a:t>) {</a:t>
            </a:r>
          </a:p>
          <a:p>
            <a:pPr marL="0" indent="0">
              <a:buNone/>
            </a:pPr>
            <a:r>
              <a:rPr lang="en-US" altLang="ja-JP" dirty="0"/>
              <a:t>        Student s1 = new Student("An", 20);</a:t>
            </a:r>
          </a:p>
          <a:p>
            <a:pPr marL="0" indent="0">
              <a:buNone/>
            </a:pPr>
            <a:r>
              <a:rPr lang="en-US" altLang="ja-JP" dirty="0"/>
              <a:t>        Student s2 = new Student("Binh", 21);</a:t>
            </a:r>
          </a:p>
          <a:p>
            <a:pPr marL="0" indent="0">
              <a:buNone/>
            </a:pPr>
            <a:r>
              <a:rPr lang="en-US" altLang="ja-JP" dirty="0"/>
              <a:t>        s1.study();</a:t>
            </a:r>
          </a:p>
          <a:p>
            <a:pPr marL="0" indent="0">
              <a:buNone/>
            </a:pPr>
            <a:r>
              <a:rPr lang="en-US" altLang="ja-JP" dirty="0"/>
              <a:t>        s2.study();</a:t>
            </a:r>
          </a:p>
          <a:p>
            <a:pPr marL="0" indent="0">
              <a:buNone/>
            </a:pPr>
            <a:r>
              <a:rPr lang="en-US" altLang="ja-JP" dirty="0"/>
              <a:t>    }</a:t>
            </a:r>
          </a:p>
          <a:p>
            <a:pPr marL="0" indent="0">
              <a:buNone/>
            </a:pPr>
            <a:r>
              <a:rPr lang="en-US" altLang="ja-JP" dirty="0"/>
              <a:t>}</a:t>
            </a:r>
            <a:endParaRPr kumimoji="1" lang="ja-JP" alt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B2E7D-220D-542B-1D74-DEC65F8B2E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F500FA-5BC5-0388-0F6D-0E58F41E4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108597"/>
            <a:ext cx="4248743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97413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Arial"/>
        <a:cs typeface=""/>
      </a:majorFont>
      <a:minorFont>
        <a:latin typeface="Aptos Slab Black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66">
            <a:alpha val="80000"/>
          </a:srgbClr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cap="none" normalizeH="0" baseline="0" dirty="0">
            <a:ln>
              <a:noFill/>
            </a:ln>
            <a:solidFill>
              <a:srgbClr val="FF0000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pattFill prst="dashHorz">
          <a:fgClr>
            <a:srgbClr val="808080"/>
          </a:fgClr>
          <a:bgClr>
            <a:srgbClr val="FFFF00"/>
          </a:bgClr>
        </a:patt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kumimoji="1" sz="1400" b="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_IoT_Assign_Plan_Optimization_GenAI_2025.pptx" id="{14E944DE-3199-4D98-A76C-EFBF91815B4E}" vid="{1A6114F4-44F2-4525-80F9-55402634BD3F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IoT_Assign_Plan_Optimization_GenAI_2025.pptx" id="{14E944DE-3199-4D98-A76C-EFBF91815B4E}" vid="{8B1B50D9-B7E1-464E-B075-1B05D2128356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UsolV-tmp</Template>
  <TotalTime>23701</TotalTime>
  <Words>226</Words>
  <Application>Microsoft Office PowerPoint</Application>
  <PresentationFormat>A4 Paper (210x297 mm)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HG丸ｺﾞｼｯｸM-PRO</vt:lpstr>
      <vt:lpstr>Meiryo UI</vt:lpstr>
      <vt:lpstr>ＭＳ Ｐゴシック</vt:lpstr>
      <vt:lpstr>ADLaM Display</vt:lpstr>
      <vt:lpstr>Arial</vt:lpstr>
      <vt:lpstr>Segoe Script</vt:lpstr>
      <vt:lpstr>Times New Roman</vt:lpstr>
      <vt:lpstr>標準デザイン</vt:lpstr>
      <vt:lpstr>デザインの設定</vt:lpstr>
      <vt:lpstr>Java Training</vt:lpstr>
      <vt:lpstr>Java OOP</vt:lpstr>
      <vt:lpstr>Class &amp; Object</vt:lpstr>
      <vt:lpstr>Class = Bản thiết kế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bản về AI và Data</dc:title>
  <dc:creator>Dang Minh Duc</dc:creator>
  <cp:lastModifiedBy>Mai Ngoc Khuong</cp:lastModifiedBy>
  <cp:revision>420</cp:revision>
  <cp:lastPrinted>2018-04-10T08:59:30Z</cp:lastPrinted>
  <dcterms:created xsi:type="dcterms:W3CDTF">2025-05-21T02:38:07Z</dcterms:created>
  <dcterms:modified xsi:type="dcterms:W3CDTF">2026-09-24T06:29:37Z</dcterms:modified>
</cp:coreProperties>
</file>