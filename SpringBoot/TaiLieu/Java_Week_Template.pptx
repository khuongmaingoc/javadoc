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796" r:id="rId2"/>
  </p:sldMasterIdLst>
  <p:notesMasterIdLst>
    <p:notesMasterId r:id="rId76"/>
  </p:notesMasterIdLst>
  <p:handoutMasterIdLst>
    <p:handoutMasterId r:id="rId77"/>
  </p:handoutMasterIdLst>
  <p:sldIdLst>
    <p:sldId id="386" r:id="rId3"/>
    <p:sldId id="411" r:id="rId4"/>
    <p:sldId id="393" r:id="rId5"/>
    <p:sldId id="394" r:id="rId6"/>
    <p:sldId id="391" r:id="rId7"/>
    <p:sldId id="395" r:id="rId8"/>
    <p:sldId id="693" r:id="rId9"/>
    <p:sldId id="336" r:id="rId10"/>
    <p:sldId id="694" r:id="rId11"/>
    <p:sldId id="408" r:id="rId12"/>
    <p:sldId id="323" r:id="rId13"/>
    <p:sldId id="695" r:id="rId14"/>
    <p:sldId id="371" r:id="rId15"/>
    <p:sldId id="399" r:id="rId16"/>
    <p:sldId id="418" r:id="rId17"/>
    <p:sldId id="273" r:id="rId18"/>
    <p:sldId id="257" r:id="rId19"/>
    <p:sldId id="319" r:id="rId20"/>
    <p:sldId id="320" r:id="rId21"/>
    <p:sldId id="322" r:id="rId22"/>
    <p:sldId id="325" r:id="rId23"/>
    <p:sldId id="370" r:id="rId24"/>
    <p:sldId id="326" r:id="rId25"/>
    <p:sldId id="327" r:id="rId26"/>
    <p:sldId id="328" r:id="rId27"/>
    <p:sldId id="329" r:id="rId28"/>
    <p:sldId id="330" r:id="rId29"/>
    <p:sldId id="331" r:id="rId30"/>
    <p:sldId id="332" r:id="rId31"/>
    <p:sldId id="333" r:id="rId32"/>
    <p:sldId id="334" r:id="rId33"/>
    <p:sldId id="335" r:id="rId34"/>
    <p:sldId id="369" r:id="rId35"/>
    <p:sldId id="338" r:id="rId36"/>
    <p:sldId id="339" r:id="rId37"/>
    <p:sldId id="340" r:id="rId38"/>
    <p:sldId id="341" r:id="rId39"/>
    <p:sldId id="342" r:id="rId40"/>
    <p:sldId id="343" r:id="rId41"/>
    <p:sldId id="344" r:id="rId42"/>
    <p:sldId id="346" r:id="rId43"/>
    <p:sldId id="345" r:id="rId44"/>
    <p:sldId id="347" r:id="rId45"/>
    <p:sldId id="350" r:id="rId46"/>
    <p:sldId id="348" r:id="rId47"/>
    <p:sldId id="351" r:id="rId48"/>
    <p:sldId id="356" r:id="rId49"/>
    <p:sldId id="352" r:id="rId50"/>
    <p:sldId id="366" r:id="rId51"/>
    <p:sldId id="353" r:id="rId52"/>
    <p:sldId id="367" r:id="rId53"/>
    <p:sldId id="368" r:id="rId54"/>
    <p:sldId id="354" r:id="rId55"/>
    <p:sldId id="355" r:id="rId56"/>
    <p:sldId id="304" r:id="rId57"/>
    <p:sldId id="363" r:id="rId58"/>
    <p:sldId id="364" r:id="rId59"/>
    <p:sldId id="365" r:id="rId60"/>
    <p:sldId id="311" r:id="rId61"/>
    <p:sldId id="357" r:id="rId62"/>
    <p:sldId id="358" r:id="rId63"/>
    <p:sldId id="359" r:id="rId64"/>
    <p:sldId id="360" r:id="rId65"/>
    <p:sldId id="362" r:id="rId66"/>
    <p:sldId id="691" r:id="rId67"/>
    <p:sldId id="692" r:id="rId68"/>
    <p:sldId id="263" r:id="rId69"/>
    <p:sldId id="258" r:id="rId70"/>
    <p:sldId id="259" r:id="rId71"/>
    <p:sldId id="260" r:id="rId72"/>
    <p:sldId id="261" r:id="rId73"/>
    <p:sldId id="262" r:id="rId74"/>
    <p:sldId id="317" r:id="rId75"/>
  </p:sldIdLst>
  <p:sldSz cx="9906000" cy="6858000" type="A4"/>
  <p:notesSz cx="7104063" cy="10234613"/>
  <p:defaultTextStyle>
    <a:defPPr>
      <a:defRPr lang="ja-JP"/>
    </a:defPPr>
    <a:lvl1pPr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1pPr>
    <a:lvl2pPr marL="4572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2pPr>
    <a:lvl3pPr marL="9144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3pPr>
    <a:lvl4pPr marL="13716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4pPr>
    <a:lvl5pPr marL="1828800" algn="l" rtl="0" eaLnBrk="0" fontAlgn="base" hangingPunct="0">
      <a:spcBef>
        <a:spcPct val="0"/>
      </a:spcBef>
      <a:spcAft>
        <a:spcPct val="0"/>
      </a:spcAft>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5pPr>
    <a:lvl6pPr marL="22860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6pPr>
    <a:lvl7pPr marL="27432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7pPr>
    <a:lvl8pPr marL="32004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8pPr>
    <a:lvl9pPr marL="3657600" algn="l" defTabSz="914400" rtl="0" eaLnBrk="1" latinLnBrk="0" hangingPunct="1">
      <a:defRPr kumimoji="1" sz="1600" b="1" kern="1200">
        <a:solidFill>
          <a:schemeClr val="tx1"/>
        </a:solidFill>
        <a:latin typeface="HG丸ｺﾞｼｯｸM-PRO" panose="020F0600000000000000" pitchFamily="50" charset="-128"/>
        <a:ea typeface="HG丸ｺﾞｼｯｸM-PRO" panose="020F0600000000000000" pitchFamily="50" charset="-128"/>
        <a:cs typeface="+mn-cs"/>
      </a:defRPr>
    </a:lvl9pPr>
  </p:defaultTextStyle>
  <p:extLst>
    <p:ext uri="{EFAFB233-063F-42B5-8137-9DF3F51BA10A}">
      <p15:sldGuideLst xmlns:p15="http://schemas.microsoft.com/office/powerpoint/2012/main">
        <p15:guide id="1" orient="horz">
          <p15:clr>
            <a:srgbClr val="A4A3A4"/>
          </p15:clr>
        </p15:guide>
        <p15:guide id="2" pos="6239">
          <p15:clr>
            <a:srgbClr val="A4A3A4"/>
          </p15:clr>
        </p15:guide>
        <p15:guide id="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ABA46"/>
    <a:srgbClr val="0000CC"/>
    <a:srgbClr val="5B9BD5"/>
    <a:srgbClr val="FF0000"/>
    <a:srgbClr val="FF00FF"/>
    <a:srgbClr val="70AD47"/>
    <a:srgbClr val="4BC174"/>
    <a:srgbClr val="50C8A7"/>
    <a:srgbClr val="55C3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47" autoAdjust="0"/>
  </p:normalViewPr>
  <p:slideViewPr>
    <p:cSldViewPr>
      <p:cViewPr varScale="1">
        <p:scale>
          <a:sx n="106" d="100"/>
          <a:sy n="106" d="100"/>
        </p:scale>
        <p:origin x="1548" y="120"/>
      </p:cViewPr>
      <p:guideLst>
        <p:guide orient="horz"/>
        <p:guide pos="6239"/>
        <p:guide/>
      </p:guideLst>
    </p:cSldViewPr>
  </p:slideViewPr>
  <p:outlineViewPr>
    <p:cViewPr>
      <p:scale>
        <a:sx n="25" d="100"/>
        <a:sy n="25" d="100"/>
      </p:scale>
      <p:origin x="0" y="0"/>
    </p:cViewPr>
  </p:outlineViewPr>
  <p:notesTextViewPr>
    <p:cViewPr>
      <p:scale>
        <a:sx n="50" d="100"/>
        <a:sy n="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DB899A6-A9CA-4711-9723-BA912D00FE99}"/>
              </a:ext>
            </a:extLst>
          </p:cNvPr>
          <p:cNvSpPr>
            <a:spLocks noGrp="1" noChangeArrowheads="1"/>
          </p:cNvSpPr>
          <p:nvPr>
            <p:ph type="hdr" sz="quarter"/>
          </p:nvPr>
        </p:nvSpPr>
        <p:spPr bwMode="auto">
          <a:xfrm>
            <a:off x="1"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5" name="Rectangle 3">
            <a:extLst>
              <a:ext uri="{FF2B5EF4-FFF2-40B4-BE49-F238E27FC236}">
                <a16:creationId xmlns:a16="http://schemas.microsoft.com/office/drawing/2014/main" id="{1651D3A0-D571-4358-8785-1088F76D9B27}"/>
              </a:ext>
            </a:extLst>
          </p:cNvPr>
          <p:cNvSpPr>
            <a:spLocks noGrp="1" noChangeArrowheads="1"/>
          </p:cNvSpPr>
          <p:nvPr>
            <p:ph type="dt" sz="quarter" idx="1"/>
          </p:nvPr>
        </p:nvSpPr>
        <p:spPr bwMode="auto">
          <a:xfrm>
            <a:off x="4024618" y="4"/>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6" name="Rectangle 4">
            <a:extLst>
              <a:ext uri="{FF2B5EF4-FFF2-40B4-BE49-F238E27FC236}">
                <a16:creationId xmlns:a16="http://schemas.microsoft.com/office/drawing/2014/main" id="{19D7232F-6855-4919-8F75-B7A75D70C854}"/>
              </a:ext>
            </a:extLst>
          </p:cNvPr>
          <p:cNvSpPr>
            <a:spLocks noGrp="1" noChangeArrowheads="1"/>
          </p:cNvSpPr>
          <p:nvPr>
            <p:ph type="ftr" sz="quarter" idx="2"/>
          </p:nvPr>
        </p:nvSpPr>
        <p:spPr bwMode="auto">
          <a:xfrm>
            <a:off x="1"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itchFamily="18" charset="0"/>
                <a:ea typeface="ＭＳ Ｐゴシック" pitchFamily="50" charset="-128"/>
              </a:defRPr>
            </a:lvl1pPr>
          </a:lstStyle>
          <a:p>
            <a:pPr>
              <a:defRPr/>
            </a:pPr>
            <a:endParaRPr lang="en-US" altLang="ja-JP" dirty="0"/>
          </a:p>
        </p:txBody>
      </p:sp>
      <p:sp>
        <p:nvSpPr>
          <p:cNvPr id="18437" name="Rectangle 5">
            <a:extLst>
              <a:ext uri="{FF2B5EF4-FFF2-40B4-BE49-F238E27FC236}">
                <a16:creationId xmlns:a16="http://schemas.microsoft.com/office/drawing/2014/main" id="{4427D1B6-1508-4EFB-B526-79F7F58444C8}"/>
              </a:ext>
            </a:extLst>
          </p:cNvPr>
          <p:cNvSpPr>
            <a:spLocks noGrp="1" noChangeArrowheads="1"/>
          </p:cNvSpPr>
          <p:nvPr>
            <p:ph type="sldNum" sz="quarter" idx="3"/>
          </p:nvPr>
        </p:nvSpPr>
        <p:spPr bwMode="auto">
          <a:xfrm>
            <a:off x="4024618" y="9723842"/>
            <a:ext cx="3079448" cy="510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ABF23BBB-24A2-4FB1-97AA-82B17F20F696}" type="slidenum">
              <a:rPr lang="en-US" altLang="ja-JP"/>
              <a:pPr>
                <a:defRPr/>
              </a:pPr>
              <a:t>‹#›</a:t>
            </a:fld>
            <a:endParaRPr lang="en-US" altLang="ja-JP" dirty="0"/>
          </a:p>
        </p:txBody>
      </p:sp>
    </p:spTree>
    <p:extLst>
      <p:ext uri="{BB962C8B-B14F-4D97-AF65-F5344CB8AC3E}">
        <p14:creationId xmlns:p14="http://schemas.microsoft.com/office/powerpoint/2010/main" val="2816655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31E1D87D-A0A0-44F6-BD18-1DA14110C531}"/>
              </a:ext>
            </a:extLst>
          </p:cNvPr>
          <p:cNvSpPr>
            <a:spLocks noGrp="1" noChangeArrowheads="1"/>
          </p:cNvSpPr>
          <p:nvPr>
            <p:ph type="hdr" sz="quarter"/>
          </p:nvPr>
        </p:nvSpPr>
        <p:spPr bwMode="auto">
          <a:xfrm>
            <a:off x="0"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3" name="Rectangle 3">
            <a:extLst>
              <a:ext uri="{FF2B5EF4-FFF2-40B4-BE49-F238E27FC236}">
                <a16:creationId xmlns:a16="http://schemas.microsoft.com/office/drawing/2014/main" id="{38D8AEA5-A4A6-41CD-B14C-F3CD4220D027}"/>
              </a:ext>
            </a:extLst>
          </p:cNvPr>
          <p:cNvSpPr>
            <a:spLocks noGrp="1" noChangeArrowheads="1"/>
          </p:cNvSpPr>
          <p:nvPr>
            <p:ph type="dt" idx="1"/>
          </p:nvPr>
        </p:nvSpPr>
        <p:spPr bwMode="auto">
          <a:xfrm>
            <a:off x="4005324" y="5"/>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lvl1pPr algn="r"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6148" name="Rectangle 4">
            <a:extLst>
              <a:ext uri="{FF2B5EF4-FFF2-40B4-BE49-F238E27FC236}">
                <a16:creationId xmlns:a16="http://schemas.microsoft.com/office/drawing/2014/main" id="{747BF16E-6815-4F62-A34F-5B22F8448030}"/>
              </a:ext>
            </a:extLst>
          </p:cNvPr>
          <p:cNvSpPr>
            <a:spLocks noGrp="1" noRot="1" noChangeAspect="1" noChangeArrowheads="1" noTextEdit="1"/>
          </p:cNvSpPr>
          <p:nvPr>
            <p:ph type="sldImg" idx="2"/>
          </p:nvPr>
        </p:nvSpPr>
        <p:spPr bwMode="auto">
          <a:xfrm>
            <a:off x="809625" y="811213"/>
            <a:ext cx="5516563" cy="3821112"/>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009AFE73-A821-4ADE-B9D2-225F3B6F615B}"/>
              </a:ext>
            </a:extLst>
          </p:cNvPr>
          <p:cNvSpPr>
            <a:spLocks noGrp="1" noChangeArrowheads="1"/>
          </p:cNvSpPr>
          <p:nvPr>
            <p:ph type="body" sz="quarter" idx="3"/>
          </p:nvPr>
        </p:nvSpPr>
        <p:spPr bwMode="auto">
          <a:xfrm>
            <a:off x="932689" y="4861922"/>
            <a:ext cx="5212595" cy="4632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t" anchorCtr="0" compatLnSpc="1">
            <a:prstTxWarp prst="textNoShape">
              <a:avLst/>
            </a:prstTxWarp>
          </a:bodyPr>
          <a:lstStyle/>
          <a:p>
            <a:pPr lvl="0"/>
            <a:r>
              <a:rPr lang="ja-JP" altLang="en-US" noProof="0" dirty="0"/>
              <a:t>マスタ テキストの書式設定</a:t>
            </a:r>
          </a:p>
          <a:p>
            <a:pPr lvl="1"/>
            <a:r>
              <a:rPr lang="ja-JP" altLang="en-US" noProof="0" dirty="0"/>
              <a:t>第 </a:t>
            </a:r>
            <a:r>
              <a:rPr lang="en-US" altLang="ja-JP" noProof="0" dirty="0"/>
              <a:t>2 </a:t>
            </a:r>
            <a:r>
              <a:rPr lang="ja-JP" altLang="en-US" noProof="0" dirty="0"/>
              <a:t>レベル</a:t>
            </a:r>
          </a:p>
          <a:p>
            <a:pPr lvl="2"/>
            <a:r>
              <a:rPr lang="ja-JP" altLang="en-US" noProof="0" dirty="0"/>
              <a:t>第 </a:t>
            </a:r>
            <a:r>
              <a:rPr lang="en-US" altLang="ja-JP" noProof="0" dirty="0"/>
              <a:t>3 </a:t>
            </a:r>
            <a:r>
              <a:rPr lang="ja-JP" altLang="en-US" noProof="0" dirty="0"/>
              <a:t>レベル</a:t>
            </a:r>
          </a:p>
          <a:p>
            <a:pPr lvl="3"/>
            <a:r>
              <a:rPr lang="ja-JP" altLang="en-US" noProof="0" dirty="0"/>
              <a:t>第 </a:t>
            </a:r>
            <a:r>
              <a:rPr lang="en-US" altLang="ja-JP" noProof="0" dirty="0"/>
              <a:t>4 </a:t>
            </a:r>
            <a:r>
              <a:rPr lang="ja-JP" altLang="en-US" noProof="0" dirty="0"/>
              <a:t>レベル</a:t>
            </a:r>
          </a:p>
          <a:p>
            <a:pPr lvl="4"/>
            <a:r>
              <a:rPr lang="ja-JP" altLang="en-US" noProof="0" dirty="0"/>
              <a:t>第 </a:t>
            </a:r>
            <a:r>
              <a:rPr lang="en-US" altLang="ja-JP" noProof="0" dirty="0"/>
              <a:t>5 </a:t>
            </a:r>
            <a:r>
              <a:rPr lang="ja-JP" altLang="en-US" noProof="0" dirty="0"/>
              <a:t>レベル</a:t>
            </a:r>
          </a:p>
        </p:txBody>
      </p:sp>
      <p:sp>
        <p:nvSpPr>
          <p:cNvPr id="81926" name="Rectangle 6">
            <a:extLst>
              <a:ext uri="{FF2B5EF4-FFF2-40B4-BE49-F238E27FC236}">
                <a16:creationId xmlns:a16="http://schemas.microsoft.com/office/drawing/2014/main" id="{62419E40-0084-4BCB-8A80-CBA337840EDC}"/>
              </a:ext>
            </a:extLst>
          </p:cNvPr>
          <p:cNvSpPr>
            <a:spLocks noGrp="1" noChangeArrowheads="1"/>
          </p:cNvSpPr>
          <p:nvPr>
            <p:ph type="ftr" sz="quarter" idx="4"/>
          </p:nvPr>
        </p:nvSpPr>
        <p:spPr bwMode="auto">
          <a:xfrm>
            <a:off x="0"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l" defTabSz="987824" eaLnBrk="1" hangingPunct="1">
              <a:spcBef>
                <a:spcPct val="0"/>
              </a:spcBef>
              <a:defRPr sz="1300" b="0">
                <a:effectLst/>
                <a:latin typeface="Times New Roman" panose="02020603050405020304" pitchFamily="18" charset="0"/>
                <a:ea typeface="ＭＳ Ｐゴシック" pitchFamily="50" charset="-128"/>
              </a:defRPr>
            </a:lvl1pPr>
          </a:lstStyle>
          <a:p>
            <a:pPr>
              <a:defRPr/>
            </a:pPr>
            <a:endParaRPr lang="en-US" altLang="ja-JP" dirty="0"/>
          </a:p>
        </p:txBody>
      </p:sp>
      <p:sp>
        <p:nvSpPr>
          <p:cNvPr id="81927" name="Rectangle 7">
            <a:extLst>
              <a:ext uri="{FF2B5EF4-FFF2-40B4-BE49-F238E27FC236}">
                <a16:creationId xmlns:a16="http://schemas.microsoft.com/office/drawing/2014/main" id="{95A1F3E7-6C28-42BC-9477-4EE05BC271D4}"/>
              </a:ext>
            </a:extLst>
          </p:cNvPr>
          <p:cNvSpPr>
            <a:spLocks noGrp="1" noChangeArrowheads="1"/>
          </p:cNvSpPr>
          <p:nvPr>
            <p:ph type="sldNum" sz="quarter" idx="5"/>
          </p:nvPr>
        </p:nvSpPr>
        <p:spPr bwMode="auto">
          <a:xfrm>
            <a:off x="4005324" y="9726227"/>
            <a:ext cx="3072641" cy="463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8771" tIns="49386" rIns="98771" bIns="49386" numCol="1" anchor="b" anchorCtr="0" compatLnSpc="1">
            <a:prstTxWarp prst="textNoShape">
              <a:avLst/>
            </a:prstTxWarp>
          </a:bodyPr>
          <a:lstStyle>
            <a:lvl1pPr algn="r" defTabSz="987824" eaLnBrk="1" hangingPunct="1">
              <a:defRPr sz="1300" b="0">
                <a:latin typeface="Times New Roman" panose="02020603050405020304" pitchFamily="18" charset="0"/>
                <a:ea typeface="ＭＳ Ｐゴシック" panose="020B0600070205080204" pitchFamily="50" charset="-128"/>
              </a:defRPr>
            </a:lvl1pPr>
          </a:lstStyle>
          <a:p>
            <a:pPr>
              <a:defRPr/>
            </a:pPr>
            <a:fld id="{1B717ACA-5F59-481E-BAA1-3D2FC3B91B1D}" type="slidenum">
              <a:rPr lang="en-US" altLang="ja-JP" smtClean="0"/>
              <a:pPr>
                <a:defRPr/>
              </a:pPr>
              <a:t>‹#›</a:t>
            </a:fld>
            <a:endParaRPr lang="en-US" altLang="ja-JP" dirty="0"/>
          </a:p>
        </p:txBody>
      </p:sp>
    </p:spTree>
    <p:extLst>
      <p:ext uri="{BB962C8B-B14F-4D97-AF65-F5344CB8AC3E}">
        <p14:creationId xmlns:p14="http://schemas.microsoft.com/office/powerpoint/2010/main" val="19436483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ＭＳ Ｐ明朝"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スライド イメージ プレースホルダー 1">
            <a:extLst>
              <a:ext uri="{FF2B5EF4-FFF2-40B4-BE49-F238E27FC236}">
                <a16:creationId xmlns:a16="http://schemas.microsoft.com/office/drawing/2014/main" id="{E9A07A26-3A7D-198D-EE18-CD9693B84B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ノート プレースホルダー 2">
            <a:extLst>
              <a:ext uri="{FF2B5EF4-FFF2-40B4-BE49-F238E27FC236}">
                <a16:creationId xmlns:a16="http://schemas.microsoft.com/office/drawing/2014/main" id="{9B678075-5C07-B4D6-E24A-E6EB3359DD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kumimoji="1" lang="en-US" altLang="ja-JP"/>
              <a:t>DI (Dependency Injection): Tiêm phụ thuộc</a:t>
            </a:r>
          </a:p>
          <a:p>
            <a:r>
              <a:rPr kumimoji="1" lang="en-US" altLang="ja-JP"/>
              <a:t>AOP(Lập trình hướng khía cạnh): Là phương pháp lập trình cho phép phân tách chương trình các module riêng biệt, không phụ thuộc nhau. AOP cho phép thêm vào các ứng dụng đã tồn tại những đoạn code mới mà không phải sửa code của ứng dụng này.</a:t>
            </a:r>
          </a:p>
          <a:p>
            <a:endParaRPr kumimoji="1" lang="ja-JP" altLang="en-US"/>
          </a:p>
        </p:txBody>
      </p:sp>
      <p:sp>
        <p:nvSpPr>
          <p:cNvPr id="21508" name="スライド番号プレースホルダー 3">
            <a:extLst>
              <a:ext uri="{FF2B5EF4-FFF2-40B4-BE49-F238E27FC236}">
                <a16:creationId xmlns:a16="http://schemas.microsoft.com/office/drawing/2014/main" id="{A137DD71-98DA-3041-FFF9-69494C0D3A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1F6A5F4-6285-48B8-A0E1-11B7D06FF4AC}" type="slidenum">
              <a:rPr lang="en-US" altLang="ja-JP">
                <a:latin typeface="Calibri" panose="020F0502020204030204" pitchFamily="34" charset="0"/>
              </a:rPr>
              <a:pPr/>
              <a:t>2</a:t>
            </a:fld>
            <a:endParaRPr lang="en-US" altLang="ja-JP">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スライド イメージ プレースホルダー 1">
            <a:extLst>
              <a:ext uri="{FF2B5EF4-FFF2-40B4-BE49-F238E27FC236}">
                <a16:creationId xmlns:a16="http://schemas.microsoft.com/office/drawing/2014/main" id="{D3CCDA86-0B3F-7F15-BCAA-D89AEADBF7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ノート プレースホルダー 2">
            <a:extLst>
              <a:ext uri="{FF2B5EF4-FFF2-40B4-BE49-F238E27FC236}">
                <a16:creationId xmlns:a16="http://schemas.microsoft.com/office/drawing/2014/main" id="{CF1B1E48-236E-C977-1B87-005C1728D2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23556" name="スライド番号プレースホルダー 3">
            <a:extLst>
              <a:ext uri="{FF2B5EF4-FFF2-40B4-BE49-F238E27FC236}">
                <a16:creationId xmlns:a16="http://schemas.microsoft.com/office/drawing/2014/main" id="{734BBFA8-8433-85E2-39F5-FE6F20691C5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2D89784-0617-46BC-919C-926C69C91CAF}" type="slidenum">
              <a:rPr lang="en-US" altLang="ja-JP">
                <a:latin typeface="Calibri" panose="020F0502020204030204" pitchFamily="34" charset="0"/>
              </a:rPr>
              <a:pPr/>
              <a:t>3</a:t>
            </a:fld>
            <a:endParaRPr lang="en-US" altLang="ja-JP">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スライド イメージ プレースホルダー 1">
            <a:extLst>
              <a:ext uri="{FF2B5EF4-FFF2-40B4-BE49-F238E27FC236}">
                <a16:creationId xmlns:a16="http://schemas.microsoft.com/office/drawing/2014/main" id="{54C140A5-CCAA-D353-76EF-DF416602ED3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ノート プレースホルダー 2">
            <a:extLst>
              <a:ext uri="{FF2B5EF4-FFF2-40B4-BE49-F238E27FC236}">
                <a16:creationId xmlns:a16="http://schemas.microsoft.com/office/drawing/2014/main" id="{93DBA581-3E0F-667B-C3E3-49C23EA72D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kumimoji="1" lang="en-US" altLang="ja-JP"/>
              <a:t>Ở dự án Offerlinks thì chủ yếu sử dụng Constructor Dependency Injection. Về cách sử dụng thì đơn giản.</a:t>
            </a:r>
          </a:p>
          <a:p>
            <a:r>
              <a:rPr kumimoji="1" lang="en-US" altLang="ja-JP"/>
              <a:t>https://docs.spring.io/spring-framework/docs/current/reference/html/core.html#beans-factory-collaborators</a:t>
            </a:r>
          </a:p>
          <a:p>
            <a:r>
              <a:rPr kumimoji="1" lang="en-US" altLang="ja-JP"/>
              <a:t>https://www.educba.com/dependency-injection-in-spring/</a:t>
            </a:r>
          </a:p>
          <a:p>
            <a:endParaRPr kumimoji="1" lang="ja-JP" altLang="en-US"/>
          </a:p>
        </p:txBody>
      </p:sp>
      <p:sp>
        <p:nvSpPr>
          <p:cNvPr id="25604" name="スライド番号プレースホルダー 3">
            <a:extLst>
              <a:ext uri="{FF2B5EF4-FFF2-40B4-BE49-F238E27FC236}">
                <a16:creationId xmlns:a16="http://schemas.microsoft.com/office/drawing/2014/main" id="{0D206109-4114-8764-6456-E9010D6675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568AC4-828C-4461-A62E-1175B8761CF1}" type="slidenum">
              <a:rPr lang="en-US" altLang="ja-JP">
                <a:latin typeface="Calibri" panose="020F0502020204030204" pitchFamily="34" charset="0"/>
              </a:rPr>
              <a:pPr/>
              <a:t>4</a:t>
            </a:fld>
            <a:endParaRPr lang="en-US" altLang="ja-JP">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スライド イメージ プレースホルダー 1">
            <a:extLst>
              <a:ext uri="{FF2B5EF4-FFF2-40B4-BE49-F238E27FC236}">
                <a16:creationId xmlns:a16="http://schemas.microsoft.com/office/drawing/2014/main" id="{E54EBA1C-C918-F155-A5DC-36E0317DF4D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ノート プレースホルダー 2">
            <a:extLst>
              <a:ext uri="{FF2B5EF4-FFF2-40B4-BE49-F238E27FC236}">
                <a16:creationId xmlns:a16="http://schemas.microsoft.com/office/drawing/2014/main" id="{95561A7B-CE0D-2AEE-B339-CFAC063761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28676" name="スライド番号プレースホルダー 3">
            <a:extLst>
              <a:ext uri="{FF2B5EF4-FFF2-40B4-BE49-F238E27FC236}">
                <a16:creationId xmlns:a16="http://schemas.microsoft.com/office/drawing/2014/main" id="{E47DA21A-F7BE-69B4-5C8A-05D9036466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18D740-E0F8-4B10-8316-75236DFC7CC2}" type="slidenum">
              <a:rPr lang="en-US" altLang="ja-JP">
                <a:latin typeface="Calibri" panose="020F0502020204030204" pitchFamily="34" charset="0"/>
              </a:rPr>
              <a:pPr/>
              <a:t>6</a:t>
            </a:fld>
            <a:endParaRPr lang="en-US" altLang="ja-JP">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スライド イメージ プレースホルダー 1">
            <a:extLst>
              <a:ext uri="{FF2B5EF4-FFF2-40B4-BE49-F238E27FC236}">
                <a16:creationId xmlns:a16="http://schemas.microsoft.com/office/drawing/2014/main" id="{9ADC97CB-B279-178A-F96C-DCFFEB9179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ノート プレースホルダー 2">
            <a:extLst>
              <a:ext uri="{FF2B5EF4-FFF2-40B4-BE49-F238E27FC236}">
                <a16:creationId xmlns:a16="http://schemas.microsoft.com/office/drawing/2014/main" id="{52AA2E39-D142-379D-ED29-7B17BC5994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vi-VN" altLang="ja-JP" b="1"/>
              <a:t>JWT (Json web Token)</a:t>
            </a:r>
            <a:r>
              <a:rPr lang="vi-VN" altLang="ja-JP"/>
              <a:t> là một chuỗi mã hóa được gửi kèm trong Header của client request có tác dụng giúp phía server xác thực request người dùng có hợp lệ hay không</a:t>
            </a:r>
            <a:r>
              <a:rPr lang="en-US" altLang="ja-JP"/>
              <a:t>. Trong header của client request sẽ có thông tin Authorization: Bearer &lt;</a:t>
            </a:r>
            <a:r>
              <a:rPr lang="ja-JP" altLang="ja-JP"/>
              <a:t>トークン</a:t>
            </a:r>
            <a:r>
              <a:rPr lang="en-US" altLang="ja-JP"/>
              <a:t>&gt; </a:t>
            </a:r>
            <a:endParaRPr kumimoji="1" lang="ja-JP" altLang="en-US"/>
          </a:p>
        </p:txBody>
      </p:sp>
      <p:sp>
        <p:nvSpPr>
          <p:cNvPr id="30724" name="スライド番号プレースホルダー 3">
            <a:extLst>
              <a:ext uri="{FF2B5EF4-FFF2-40B4-BE49-F238E27FC236}">
                <a16:creationId xmlns:a16="http://schemas.microsoft.com/office/drawing/2014/main" id="{5E741A93-F39B-AD53-C0EE-DA3D5D363F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C985CF-77A3-42F1-BFB1-0FDEC89774CE}" type="slidenum">
              <a:rPr lang="en-US" altLang="ja-JP">
                <a:latin typeface="Calibri" panose="020F0502020204030204" pitchFamily="34" charset="0"/>
              </a:rPr>
              <a:pPr/>
              <a:t>7</a:t>
            </a:fld>
            <a:endParaRPr lang="en-US" altLang="ja-JP">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スライド イメージ プレースホルダー 1">
            <a:extLst>
              <a:ext uri="{FF2B5EF4-FFF2-40B4-BE49-F238E27FC236}">
                <a16:creationId xmlns:a16="http://schemas.microsoft.com/office/drawing/2014/main" id="{68BEDECD-957C-6CF8-63AE-FF57C82732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ノート プレースホルダー 2">
            <a:extLst>
              <a:ext uri="{FF2B5EF4-FFF2-40B4-BE49-F238E27FC236}">
                <a16:creationId xmlns:a16="http://schemas.microsoft.com/office/drawing/2014/main" id="{25033385-BAD5-FFDB-F9DD-ECECFCD394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32772" name="スライド番号プレースホルダー 3">
            <a:extLst>
              <a:ext uri="{FF2B5EF4-FFF2-40B4-BE49-F238E27FC236}">
                <a16:creationId xmlns:a16="http://schemas.microsoft.com/office/drawing/2014/main" id="{4C68E59A-33D9-B0D4-1EE5-3EB330CF24A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ADB6B5B-0EB2-483D-91D8-DDA9A4AE22FB}" type="slidenum">
              <a:rPr lang="en-US" altLang="ja-JP">
                <a:latin typeface="Calibri" panose="020F0502020204030204" pitchFamily="34" charset="0"/>
              </a:rPr>
              <a:pPr/>
              <a:t>8</a:t>
            </a:fld>
            <a:endParaRPr lang="en-US" altLang="ja-JP">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スライド イメージ プレースホルダー 1">
            <a:extLst>
              <a:ext uri="{FF2B5EF4-FFF2-40B4-BE49-F238E27FC236}">
                <a16:creationId xmlns:a16="http://schemas.microsoft.com/office/drawing/2014/main" id="{43CA27D2-FEA0-ECF4-DA3A-F039B5BC5F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ノート プレースホルダー 2">
            <a:extLst>
              <a:ext uri="{FF2B5EF4-FFF2-40B4-BE49-F238E27FC236}">
                <a16:creationId xmlns:a16="http://schemas.microsoft.com/office/drawing/2014/main" id="{AD953AB1-3977-D15A-FD6B-21265556DA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36868" name="スライド番号プレースホルダー 3">
            <a:extLst>
              <a:ext uri="{FF2B5EF4-FFF2-40B4-BE49-F238E27FC236}">
                <a16:creationId xmlns:a16="http://schemas.microsoft.com/office/drawing/2014/main" id="{A68F9C18-A9EF-49A8-E7C1-F567EE36E5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AEEBEC-3E18-4596-9DD8-3FC5B0541107}" type="slidenum">
              <a:rPr lang="en-US" altLang="ja-JP">
                <a:latin typeface="Calibri" panose="020F0502020204030204" pitchFamily="34" charset="0"/>
              </a:rPr>
              <a:pPr/>
              <a:t>11</a:t>
            </a:fld>
            <a:endParaRPr lang="en-US" altLang="ja-JP">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スライド イメージ プレースホルダー 1">
            <a:extLst>
              <a:ext uri="{FF2B5EF4-FFF2-40B4-BE49-F238E27FC236}">
                <a16:creationId xmlns:a16="http://schemas.microsoft.com/office/drawing/2014/main" id="{0E766E76-80A2-0341-3631-F06F87F679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ノート プレースホルダー 2">
            <a:extLst>
              <a:ext uri="{FF2B5EF4-FFF2-40B4-BE49-F238E27FC236}">
                <a16:creationId xmlns:a16="http://schemas.microsoft.com/office/drawing/2014/main" id="{2613BB9A-730B-4BFC-90F6-154CA9921A8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39940" name="スライド番号プレースホルダー 3">
            <a:extLst>
              <a:ext uri="{FF2B5EF4-FFF2-40B4-BE49-F238E27FC236}">
                <a16:creationId xmlns:a16="http://schemas.microsoft.com/office/drawing/2014/main" id="{1D945727-403F-0446-8876-171E3CC60B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A83B5D4-1A4C-4710-961A-CE3FEA199F85}" type="slidenum">
              <a:rPr lang="en-US" altLang="ja-JP">
                <a:latin typeface="Calibri" panose="020F0502020204030204" pitchFamily="34" charset="0"/>
              </a:rPr>
              <a:pPr/>
              <a:t>13</a:t>
            </a:fld>
            <a:endParaRPr lang="en-US" altLang="ja-JP">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スライド イメージ プレースホルダー 1">
            <a:extLst>
              <a:ext uri="{FF2B5EF4-FFF2-40B4-BE49-F238E27FC236}">
                <a16:creationId xmlns:a16="http://schemas.microsoft.com/office/drawing/2014/main" id="{276CABB7-830C-D17B-CBCF-C714554827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ノート プレースホルダー 2">
            <a:extLst>
              <a:ext uri="{FF2B5EF4-FFF2-40B4-BE49-F238E27FC236}">
                <a16:creationId xmlns:a16="http://schemas.microsoft.com/office/drawing/2014/main" id="{16965D88-259C-AEB0-0BA9-CD61C8C2972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kumimoji="1" lang="ja-JP" altLang="en-US"/>
          </a:p>
        </p:txBody>
      </p:sp>
      <p:sp>
        <p:nvSpPr>
          <p:cNvPr id="41988" name="スライド番号プレースホルダー 3">
            <a:extLst>
              <a:ext uri="{FF2B5EF4-FFF2-40B4-BE49-F238E27FC236}">
                <a16:creationId xmlns:a16="http://schemas.microsoft.com/office/drawing/2014/main" id="{8127E2CF-A72B-43AA-97EC-EC0D48C2DA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BCB8C7-74F0-4EB1-83C3-452CD2501AD5}" type="slidenum">
              <a:rPr lang="en-US" altLang="ja-JP">
                <a:latin typeface="Calibri" panose="020F0502020204030204" pitchFamily="34" charset="0"/>
              </a:rPr>
              <a:pPr/>
              <a:t>14</a:t>
            </a:fld>
            <a:endParaRPr lang="en-US" altLang="ja-JP">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スライド イメージ プレースホルダー 1">
            <a:extLst>
              <a:ext uri="{FF2B5EF4-FFF2-40B4-BE49-F238E27FC236}">
                <a16:creationId xmlns:a16="http://schemas.microsoft.com/office/drawing/2014/main" id="{6DE4B479-787B-EC59-FB57-9A2EA4C824E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ノート プレースホルダー 2">
            <a:extLst>
              <a:ext uri="{FF2B5EF4-FFF2-40B4-BE49-F238E27FC236}">
                <a16:creationId xmlns:a16="http://schemas.microsoft.com/office/drawing/2014/main" id="{2E777BD6-4DD1-903D-A35E-0737B7A9E9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kumimoji="1" lang="en-US" altLang="ja-JP"/>
              <a:t>Log level: ERROR, WARN, INFO, DEBUG, TRACE (logback không có level FATAL. Mà tương ứng với nó là ERROR). Ví dụ nếu setting log level là INFO, thì những message ở level ERROR, WARN, INFO sẽ được output ra log.</a:t>
            </a:r>
            <a:endParaRPr kumimoji="1" lang="ja-JP" altLang="en-US"/>
          </a:p>
        </p:txBody>
      </p:sp>
      <p:sp>
        <p:nvSpPr>
          <p:cNvPr id="44036" name="スライド番号プレースホルダー 3">
            <a:extLst>
              <a:ext uri="{FF2B5EF4-FFF2-40B4-BE49-F238E27FC236}">
                <a16:creationId xmlns:a16="http://schemas.microsoft.com/office/drawing/2014/main" id="{E1269E87-4B54-A42B-26E0-8924D5A2F2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C772763-F97E-4792-B5D7-1C6286442082}" type="slidenum">
              <a:rPr lang="en-US" altLang="ja-JP">
                <a:latin typeface="Calibri" panose="020F0502020204030204" pitchFamily="34" charset="0"/>
              </a:rPr>
              <a:pPr/>
              <a:t>15</a:t>
            </a:fld>
            <a:endParaRPr lang="en-US" altLang="ja-JP">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17</a:t>
            </a:fld>
            <a:endParaRPr lang="en-US"/>
          </a:p>
        </p:txBody>
      </p:sp>
    </p:spTree>
    <p:extLst>
      <p:ext uri="{BB962C8B-B14F-4D97-AF65-F5344CB8AC3E}">
        <p14:creationId xmlns:p14="http://schemas.microsoft.com/office/powerpoint/2010/main" val="2315620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21</a:t>
            </a:fld>
            <a:endParaRPr lang="en-US"/>
          </a:p>
        </p:txBody>
      </p:sp>
    </p:spTree>
    <p:extLst>
      <p:ext uri="{BB962C8B-B14F-4D97-AF65-F5344CB8AC3E}">
        <p14:creationId xmlns:p14="http://schemas.microsoft.com/office/powerpoint/2010/main" val="1937101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10"/>
          </p:nvPr>
        </p:nvSpPr>
        <p:spPr/>
        <p:txBody>
          <a:bodyPr/>
          <a:lstStyle/>
          <a:p>
            <a:fld id="{B862A5FC-28DD-4CA2-8824-1FC92AAC2223}" type="slidenum">
              <a:rPr lang="en-US" smtClean="0"/>
              <a:t>45</a:t>
            </a:fld>
            <a:endParaRPr lang="en-US"/>
          </a:p>
        </p:txBody>
      </p:sp>
    </p:spTree>
    <p:extLst>
      <p:ext uri="{BB962C8B-B14F-4D97-AF65-F5344CB8AC3E}">
        <p14:creationId xmlns:p14="http://schemas.microsoft.com/office/powerpoint/2010/main" val="603455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a:prstGeom prst="rect">
            <a:avLst/>
          </a:prstGeom>
        </p:spPr>
        <p:txBody>
          <a:bodyPr/>
          <a:lstStyle>
            <a:lvl1pPr>
              <a:defRPr>
                <a:latin typeface="+mn-ea"/>
                <a:ea typeface="+mn-ea"/>
              </a:defRPr>
            </a:lvl1pPr>
          </a:lstStyle>
          <a:p>
            <a:r>
              <a:rPr lang="en-US" altLang="ja-JP"/>
              <a:t>Click to edit Master title style</a:t>
            </a:r>
            <a:endParaRPr lang="en-US" dirty="0"/>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latin typeface="+mn-ea"/>
                <a:ea typeface="+mn-ea"/>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a:extLst>
              <a:ext uri="{FF2B5EF4-FFF2-40B4-BE49-F238E27FC236}">
                <a16:creationId xmlns:a16="http://schemas.microsoft.com/office/drawing/2014/main" id="{4D7BC4D0-5990-408E-A9D0-64C8BD64FB33}"/>
              </a:ext>
            </a:extLst>
          </p:cNvPr>
          <p:cNvSpPr>
            <a:spLocks noGrp="1" noChangeArrowheads="1"/>
          </p:cNvSpPr>
          <p:nvPr>
            <p:ph type="dt" sz="half" idx="10"/>
          </p:nvPr>
        </p:nvSpPr>
        <p:spPr>
          <a:xfrm>
            <a:off x="742950" y="6248400"/>
            <a:ext cx="2063750" cy="457200"/>
          </a:xfrm>
        </p:spPr>
        <p:txBody>
          <a:bodyPr/>
          <a:lstStyle>
            <a:lvl1pPr>
              <a:defRPr>
                <a:latin typeface="+mn-ea"/>
                <a:ea typeface="+mn-ea"/>
              </a:defRPr>
            </a:lvl1pPr>
          </a:lstStyle>
          <a:p>
            <a:pPr>
              <a:defRPr/>
            </a:pPr>
            <a:endParaRPr lang="en-US" altLang="ja-JP"/>
          </a:p>
        </p:txBody>
      </p:sp>
      <p:sp>
        <p:nvSpPr>
          <p:cNvPr id="5" name="Rectangle 5">
            <a:extLst>
              <a:ext uri="{FF2B5EF4-FFF2-40B4-BE49-F238E27FC236}">
                <a16:creationId xmlns:a16="http://schemas.microsoft.com/office/drawing/2014/main" id="{A01B671C-012F-4812-90DC-336A45C19F1F}"/>
              </a:ext>
            </a:extLst>
          </p:cNvPr>
          <p:cNvSpPr>
            <a:spLocks noGrp="1" noChangeArrowheads="1"/>
          </p:cNvSpPr>
          <p:nvPr>
            <p:ph type="ftr" sz="quarter" idx="11"/>
          </p:nvPr>
        </p:nvSpPr>
        <p:spPr>
          <a:xfrm>
            <a:off x="3384550" y="6248400"/>
            <a:ext cx="3136900" cy="457200"/>
          </a:xfrm>
          <a:prstGeom prst="rect">
            <a:avLst/>
          </a:prstGeom>
        </p:spPr>
        <p:txBody>
          <a:bodyPr/>
          <a:lstStyle>
            <a:lvl1pPr>
              <a:defRPr>
                <a:latin typeface="+mn-ea"/>
                <a:ea typeface="+mn-ea"/>
              </a:defRPr>
            </a:lvl1pPr>
          </a:lstStyle>
          <a:p>
            <a:pPr>
              <a:defRPr/>
            </a:pPr>
            <a:endParaRPr lang="en-US" altLang="ja-JP"/>
          </a:p>
        </p:txBody>
      </p:sp>
    </p:spTree>
    <p:extLst>
      <p:ext uri="{BB962C8B-B14F-4D97-AF65-F5344CB8AC3E}">
        <p14:creationId xmlns:p14="http://schemas.microsoft.com/office/powerpoint/2010/main" val="160617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1930864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コンテンツ プレースホルダー 2"/>
          <p:cNvSpPr>
            <a:spLocks noGrp="1"/>
          </p:cNvSpPr>
          <p:nvPr>
            <p:ph idx="1"/>
          </p:nvPr>
        </p:nvSpPr>
        <p:spPr>
          <a:xfrm>
            <a:off x="128464" y="1124744"/>
            <a:ext cx="9649072" cy="5328592"/>
          </a:xfrm>
          <a:prstGeom prst="rect">
            <a:avLst/>
          </a:prstGeom>
        </p:spPr>
        <p:txBody>
          <a:bodyPr/>
          <a:lstStyle>
            <a:lvl1pPr marL="360363" indent="-360363">
              <a:buFont typeface="+mj-lt"/>
              <a:buAutoNum type="arabicPeriod"/>
              <a:defRPr>
                <a:latin typeface="+mj-lt"/>
              </a:defRPr>
            </a:lvl1pPr>
            <a:lvl2pPr marL="803275" indent="-346075">
              <a:buFont typeface="+mj-lt"/>
              <a:buAutoNum type="alphaLcPeriod"/>
              <a:defRPr>
                <a:latin typeface="+mj-lt"/>
              </a:defRPr>
            </a:lvl2pPr>
            <a:lvl3pPr marL="1260475" indent="-346075">
              <a:buFont typeface="+mj-lt"/>
              <a:buAutoNum type="romanLcPeriod"/>
              <a:defRPr>
                <a:latin typeface="+mj-lt"/>
              </a:defRPr>
            </a:lvl3pPr>
            <a:lvl4pPr>
              <a:defRPr>
                <a:latin typeface="+mj-lt"/>
              </a:defRPr>
            </a:lvl4pPr>
            <a:lvl5pPr>
              <a:defRPr>
                <a:latin typeface="+mj-lt"/>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4" name="Rectangle 4">
            <a:extLst>
              <a:ext uri="{FF2B5EF4-FFF2-40B4-BE49-F238E27FC236}">
                <a16:creationId xmlns:a16="http://schemas.microsoft.com/office/drawing/2014/main" id="{0541E8AE-EEDA-4D06-94E6-5202ED43BCB7}"/>
              </a:ext>
            </a:extLst>
          </p:cNvPr>
          <p:cNvSpPr>
            <a:spLocks noGrp="1" noChangeArrowheads="1"/>
          </p:cNvSpPr>
          <p:nvPr>
            <p:ph type="dt" sz="half" idx="10"/>
          </p:nvPr>
        </p:nvSpPr>
        <p:spPr/>
        <p:txBody>
          <a:bodyPr/>
          <a:lstStyle>
            <a:lvl1pPr>
              <a:defRPr sz="1050"/>
            </a:lvl1pPr>
          </a:lstStyle>
          <a:p>
            <a:pPr>
              <a:defRPr/>
            </a:pPr>
            <a:endParaRPr lang="en-US" altLang="ja-JP"/>
          </a:p>
        </p:txBody>
      </p:sp>
      <p:sp>
        <p:nvSpPr>
          <p:cNvPr id="5" name="Rectangle 6">
            <a:extLst>
              <a:ext uri="{FF2B5EF4-FFF2-40B4-BE49-F238E27FC236}">
                <a16:creationId xmlns:a16="http://schemas.microsoft.com/office/drawing/2014/main" id="{D9E0A51D-D496-408F-833D-161747C36C6D}"/>
              </a:ext>
            </a:extLst>
          </p:cNvPr>
          <p:cNvSpPr>
            <a:spLocks noGrp="1" noChangeArrowheads="1"/>
          </p:cNvSpPr>
          <p:nvPr>
            <p:ph type="sldNum" sz="quarter" idx="11"/>
          </p:nvPr>
        </p:nvSpPr>
        <p:spPr/>
        <p:txBody>
          <a:bodyPr/>
          <a:lstStyle>
            <a:lvl1pPr>
              <a:defRPr sz="1050"/>
            </a:lvl1pPr>
          </a:lstStyle>
          <a:p>
            <a:pPr>
              <a:defRPr/>
            </a:pPr>
            <a:r>
              <a:rPr lang="en-US" altLang="ja-JP"/>
              <a:t>Page:</a:t>
            </a:r>
            <a:r>
              <a:rPr lang="ja-JP" altLang="en-US"/>
              <a:t> </a:t>
            </a:r>
            <a:fld id="{DC07468E-517B-4E9D-8840-A4568A307980}" type="slidenum">
              <a:rPr lang="en-US" altLang="ja-JP" smtClean="0"/>
              <a:pPr>
                <a:defRPr/>
              </a:pPr>
              <a:t>‹#›</a:t>
            </a:fld>
            <a:endParaRPr lang="en-US" altLang="ja-JP"/>
          </a:p>
        </p:txBody>
      </p:sp>
      <p:sp>
        <p:nvSpPr>
          <p:cNvPr id="6"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2099126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atin typeface="+mj-lt"/>
              </a:defRPr>
            </a:lvl1pPr>
          </a:lstStyle>
          <a:p>
            <a:r>
              <a:rPr lang="en-US" altLang="ja-JP" dirty="0"/>
              <a:t>Click to edit Master title style</a:t>
            </a:r>
            <a:endParaRPr lang="en-US" dirty="0"/>
          </a:p>
        </p:txBody>
      </p:sp>
      <p:sp>
        <p:nvSpPr>
          <p:cNvPr id="3" name="テキスト プレースホルダー 2"/>
          <p:cNvSpPr>
            <a:spLocks noGrp="1"/>
          </p:cNvSpPr>
          <p:nvPr>
            <p:ph type="body" idx="1"/>
          </p:nvPr>
        </p:nvSpPr>
        <p:spPr>
          <a:xfrm>
            <a:off x="782638" y="2906713"/>
            <a:ext cx="8420100" cy="1500187"/>
          </a:xfrm>
          <a:prstGeom prst="rect">
            <a:avLst/>
          </a:prstGeom>
        </p:spPr>
        <p:txBody>
          <a:bodyPr anchor="b"/>
          <a:lstStyle>
            <a:lvl1pPr marL="0" indent="0">
              <a:buNone/>
              <a:defRPr sz="2000">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Click to edit Master text styles</a:t>
            </a:r>
          </a:p>
        </p:txBody>
      </p:sp>
      <p:sp>
        <p:nvSpPr>
          <p:cNvPr id="4" name="Rectangle 4">
            <a:extLst>
              <a:ext uri="{FF2B5EF4-FFF2-40B4-BE49-F238E27FC236}">
                <a16:creationId xmlns:a16="http://schemas.microsoft.com/office/drawing/2014/main" id="{FBFDD564-A74A-4C8F-9933-83C5535F4389}"/>
              </a:ext>
            </a:extLst>
          </p:cNvPr>
          <p:cNvSpPr>
            <a:spLocks noGrp="1" noChangeArrowheads="1"/>
          </p:cNvSpPr>
          <p:nvPr>
            <p:ph type="dt" sz="half" idx="10"/>
          </p:nvPr>
        </p:nvSpPr>
        <p:spPr>
          <a:xfrm>
            <a:off x="742950" y="6248400"/>
            <a:ext cx="2063750" cy="457200"/>
          </a:xfrm>
        </p:spPr>
        <p:txBody>
          <a:bodyPr/>
          <a:lstStyle>
            <a:lvl1pPr>
              <a:defRPr/>
            </a:lvl1pPr>
          </a:lstStyle>
          <a:p>
            <a:pPr>
              <a:defRPr/>
            </a:pPr>
            <a:endParaRPr lang="en-US" altLang="ja-JP"/>
          </a:p>
        </p:txBody>
      </p:sp>
      <p:sp>
        <p:nvSpPr>
          <p:cNvPr id="5" name="Rectangle 5">
            <a:extLst>
              <a:ext uri="{FF2B5EF4-FFF2-40B4-BE49-F238E27FC236}">
                <a16:creationId xmlns:a16="http://schemas.microsoft.com/office/drawing/2014/main" id="{D3F1DDD9-12D1-479E-A469-4F7F1BA8EB44}"/>
              </a:ext>
            </a:extLst>
          </p:cNvPr>
          <p:cNvSpPr>
            <a:spLocks noGrp="1" noChangeArrowheads="1"/>
          </p:cNvSpPr>
          <p:nvPr>
            <p:ph type="ftr" sz="quarter" idx="11"/>
          </p:nvPr>
        </p:nvSpPr>
        <p:spPr>
          <a:xfrm>
            <a:off x="3384550" y="6248400"/>
            <a:ext cx="3136900" cy="457200"/>
          </a:xfrm>
          <a:prstGeom prst="rect">
            <a:avLst/>
          </a:prstGeom>
        </p:spPr>
        <p:txBody>
          <a:bodyPr/>
          <a:lstStyle>
            <a:lvl1pPr>
              <a:defRPr/>
            </a:lvl1pPr>
          </a:lstStyle>
          <a:p>
            <a:pPr>
              <a:defRPr/>
            </a:pPr>
            <a:endParaRPr lang="en-US" altLang="ja-JP"/>
          </a:p>
        </p:txBody>
      </p:sp>
    </p:spTree>
    <p:extLst>
      <p:ext uri="{BB962C8B-B14F-4D97-AF65-F5344CB8AC3E}">
        <p14:creationId xmlns:p14="http://schemas.microsoft.com/office/powerpoint/2010/main" val="17898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8" name="タイトル 1">
            <a:extLst>
              <a:ext uri="{FF2B5EF4-FFF2-40B4-BE49-F238E27FC236}">
                <a16:creationId xmlns:a16="http://schemas.microsoft.com/office/drawing/2014/main" id="{E1BEBA6E-D791-46C4-A7EB-608AC024D98E}"/>
              </a:ext>
            </a:extLst>
          </p:cNvPr>
          <p:cNvSpPr>
            <a:spLocks noGrp="1"/>
          </p:cNvSpPr>
          <p:nvPr>
            <p:ph type="title"/>
          </p:nvPr>
        </p:nvSpPr>
        <p:spPr>
          <a:xfrm>
            <a:off x="128464" y="404664"/>
            <a:ext cx="9649072" cy="504056"/>
          </a:xfrm>
          <a:prstGeom prst="rect">
            <a:avLst/>
          </a:prstGeom>
        </p:spPr>
        <p:txBody>
          <a:bodyPr/>
          <a:lstStyle>
            <a:lvl1pPr>
              <a:defRPr>
                <a:latin typeface="+mj-lt"/>
              </a:defRPr>
            </a:lvl1pPr>
          </a:lstStyle>
          <a:p>
            <a:r>
              <a:rPr lang="en-US" altLang="ja-JP" dirty="0"/>
              <a:t>Click to edit Master title style</a:t>
            </a:r>
            <a:endParaRPr lang="en-US" dirty="0"/>
          </a:p>
        </p:txBody>
      </p:sp>
      <p:sp>
        <p:nvSpPr>
          <p:cNvPr id="3" name="Rectangle 4">
            <a:extLst>
              <a:ext uri="{FF2B5EF4-FFF2-40B4-BE49-F238E27FC236}">
                <a16:creationId xmlns:a16="http://schemas.microsoft.com/office/drawing/2014/main" id="{4BCF5236-44D4-4877-AAFB-61FE62FD430E}"/>
              </a:ext>
            </a:extLst>
          </p:cNvPr>
          <p:cNvSpPr>
            <a:spLocks noGrp="1" noChangeArrowheads="1"/>
          </p:cNvSpPr>
          <p:nvPr>
            <p:ph type="dt" sz="half" idx="10"/>
          </p:nvPr>
        </p:nvSpPr>
        <p:spPr/>
        <p:txBody>
          <a:bodyPr/>
          <a:lstStyle>
            <a:lvl1pPr>
              <a:defRPr/>
            </a:lvl1pPr>
          </a:lstStyle>
          <a:p>
            <a:pPr>
              <a:defRPr/>
            </a:pPr>
            <a:endParaRPr lang="en-US" altLang="ja-JP"/>
          </a:p>
        </p:txBody>
      </p:sp>
      <p:sp>
        <p:nvSpPr>
          <p:cNvPr id="4" name="Rectangle 6">
            <a:extLst>
              <a:ext uri="{FF2B5EF4-FFF2-40B4-BE49-F238E27FC236}">
                <a16:creationId xmlns:a16="http://schemas.microsoft.com/office/drawing/2014/main" id="{DD636683-BFA6-4172-A561-0D16262C9F7C}"/>
              </a:ext>
            </a:extLst>
          </p:cNvPr>
          <p:cNvSpPr>
            <a:spLocks noGrp="1" noChangeArrowheads="1"/>
          </p:cNvSpPr>
          <p:nvPr>
            <p:ph type="sldNum" sz="quarter" idx="11"/>
          </p:nvPr>
        </p:nvSpPr>
        <p:spPr/>
        <p:txBody>
          <a:bodyPr/>
          <a:lstStyle>
            <a:lvl1pPr>
              <a:defRPr/>
            </a:lvl1pPr>
          </a:lstStyle>
          <a:p>
            <a:pPr>
              <a:defRPr/>
            </a:pPr>
            <a:r>
              <a:rPr lang="en-US" altLang="ja-JP"/>
              <a:t>Page</a:t>
            </a:r>
            <a:r>
              <a:rPr lang="ja-JP" altLang="en-US"/>
              <a:t>　</a:t>
            </a:r>
            <a:r>
              <a:rPr lang="en-US" altLang="ja-JP"/>
              <a:t>:</a:t>
            </a:r>
            <a:r>
              <a:rPr lang="ja-JP" altLang="en-US"/>
              <a:t> </a:t>
            </a:r>
            <a:fld id="{8668C798-1731-4E4F-8BB5-E036A16CEAA1}" type="slidenum">
              <a:rPr lang="en-US" altLang="ja-JP" smtClean="0"/>
              <a:pPr>
                <a:defRPr/>
              </a:pPr>
              <a:t>‹#›</a:t>
            </a:fld>
            <a:endParaRPr lang="en-US" altLang="ja-JP"/>
          </a:p>
        </p:txBody>
      </p:sp>
      <p:sp>
        <p:nvSpPr>
          <p:cNvPr id="5" name="Rectangle 17">
            <a:extLst>
              <a:ext uri="{FF2B5EF4-FFF2-40B4-BE49-F238E27FC236}">
                <a16:creationId xmlns:a16="http://schemas.microsoft.com/office/drawing/2014/main" id="{02924262-A928-46CF-B278-D04F8D0A9069}"/>
              </a:ext>
            </a:extLst>
          </p:cNvPr>
          <p:cNvSpPr>
            <a:spLocks noChangeArrowheads="1"/>
          </p:cNvSpPr>
          <p:nvPr userDrawn="1"/>
        </p:nvSpPr>
        <p:spPr bwMode="auto">
          <a:xfrm>
            <a:off x="76200" y="990600"/>
            <a:ext cx="9753600" cy="36513"/>
          </a:xfrm>
          <a:prstGeom prst="rect">
            <a:avLst/>
          </a:prstGeom>
          <a:gradFill rotWithShape="0">
            <a:gsLst>
              <a:gs pos="0">
                <a:srgbClr val="FF9900"/>
              </a:gs>
              <a:gs pos="100000">
                <a:schemeClr val="tx1">
                  <a:gamma/>
                  <a:tint val="0"/>
                  <a:invGamma/>
                </a:schemeClr>
              </a:gs>
            </a:gsLst>
            <a:lin ang="5400000" scaled="1"/>
          </a:gradFill>
          <a:ln>
            <a:noFill/>
          </a:ln>
          <a:effec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Tree>
    <p:extLst>
      <p:ext uri="{BB962C8B-B14F-4D97-AF65-F5344CB8AC3E}">
        <p14:creationId xmlns:p14="http://schemas.microsoft.com/office/powerpoint/2010/main" val="4220721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68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912CAC3-7059-17D9-9C06-FBC6A511B0A4}"/>
              </a:ext>
            </a:extLst>
          </p:cNvPr>
          <p:cNvSpPr>
            <a:spLocks noGrp="1"/>
          </p:cNvSpPr>
          <p:nvPr>
            <p:ph type="dt" sz="half" idx="10"/>
          </p:nvPr>
        </p:nvSpPr>
        <p:spPr/>
        <p:txBody>
          <a:bodyPr/>
          <a:lstStyle/>
          <a:p>
            <a:fld id="{A1E4D65A-0EC1-4CBC-8539-F9FD2B92F981}" type="datetimeFigureOut">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200A99C7-B9EB-D161-7E0B-A97F487D0F7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B3AAF7-DB78-2248-5BC3-75E01314967C}"/>
              </a:ext>
            </a:extLst>
          </p:cNvPr>
          <p:cNvSpPr>
            <a:spLocks noGrp="1"/>
          </p:cNvSpPr>
          <p:nvPr>
            <p:ph type="sldNum" sz="quarter" idx="12"/>
          </p:nvPr>
        </p:nvSpPr>
        <p:spPr/>
        <p:txBody>
          <a:body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612414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
            <a:extLst>
              <a:ext uri="{FF2B5EF4-FFF2-40B4-BE49-F238E27FC236}">
                <a16:creationId xmlns:a16="http://schemas.microsoft.com/office/drawing/2014/main" id="{09F48CFF-9599-4AEA-9D93-57B5675EEE9D}"/>
              </a:ext>
            </a:extLst>
          </p:cNvPr>
          <p:cNvSpPr>
            <a:spLocks noGrp="1" noChangeArrowheads="1"/>
          </p:cNvSpPr>
          <p:nvPr>
            <p:ph type="title"/>
          </p:nvPr>
        </p:nvSpPr>
        <p:spPr bwMode="auto">
          <a:xfrm>
            <a:off x="76200" y="420688"/>
            <a:ext cx="975360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normAutofit/>
          </a:bodyPr>
          <a:lstStyle/>
          <a:p>
            <a:pPr lvl="0"/>
            <a:r>
              <a:rPr lang="ja-JP" altLang="en-US" dirty="0"/>
              <a:t>マスタ</a:t>
            </a:r>
            <a:r>
              <a:rPr lang="en-US" altLang="ja-JP" dirty="0"/>
              <a:t> </a:t>
            </a:r>
            <a:r>
              <a:rPr lang="ja-JP" altLang="en-US" dirty="0"/>
              <a:t>タイトルの書式設定</a:t>
            </a:r>
          </a:p>
        </p:txBody>
      </p:sp>
      <p:sp>
        <p:nvSpPr>
          <p:cNvPr id="26" name="Rectangle 3">
            <a:extLst>
              <a:ext uri="{FF2B5EF4-FFF2-40B4-BE49-F238E27FC236}">
                <a16:creationId xmlns:a16="http://schemas.microsoft.com/office/drawing/2014/main" id="{2F9F239E-C6DA-4D9A-8B7B-9954357B6D87}"/>
              </a:ext>
            </a:extLst>
          </p:cNvPr>
          <p:cNvSpPr>
            <a:spLocks noGrp="1" noChangeArrowheads="1"/>
          </p:cNvSpPr>
          <p:nvPr>
            <p:ph type="body" idx="1"/>
          </p:nvPr>
        </p:nvSpPr>
        <p:spPr bwMode="auto">
          <a:xfrm>
            <a:off x="76200" y="1146175"/>
            <a:ext cx="97536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normAutofit/>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30" name="Line 19">
            <a:extLst>
              <a:ext uri="{FF2B5EF4-FFF2-40B4-BE49-F238E27FC236}">
                <a16:creationId xmlns:a16="http://schemas.microsoft.com/office/drawing/2014/main" id="{27389893-5139-4F35-B647-26C2DFA202EA}"/>
              </a:ext>
            </a:extLst>
          </p:cNvPr>
          <p:cNvSpPr>
            <a:spLocks noChangeShapeType="1"/>
          </p:cNvSpPr>
          <p:nvPr userDrawn="1"/>
        </p:nvSpPr>
        <p:spPr bwMode="auto">
          <a:xfrm>
            <a:off x="0" y="6572250"/>
            <a:ext cx="9906000" cy="0"/>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1" name="Line 20">
            <a:extLst>
              <a:ext uri="{FF2B5EF4-FFF2-40B4-BE49-F238E27FC236}">
                <a16:creationId xmlns:a16="http://schemas.microsoft.com/office/drawing/2014/main" id="{4EFAA79C-D564-49D1-89C5-53185EA011B4}"/>
              </a:ext>
            </a:extLst>
          </p:cNvPr>
          <p:cNvSpPr>
            <a:spLocks noChangeShapeType="1"/>
          </p:cNvSpPr>
          <p:nvPr userDrawn="1"/>
        </p:nvSpPr>
        <p:spPr bwMode="auto">
          <a:xfrm>
            <a:off x="0" y="6613525"/>
            <a:ext cx="9906000" cy="0"/>
          </a:xfrm>
          <a:prstGeom prst="line">
            <a:avLst/>
          </a:prstGeom>
          <a:noFill/>
          <a:ln w="19050">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2" name="Text Box 21">
            <a:extLst>
              <a:ext uri="{FF2B5EF4-FFF2-40B4-BE49-F238E27FC236}">
                <a16:creationId xmlns:a16="http://schemas.microsoft.com/office/drawing/2014/main" id="{5275CC5B-9DD2-42FB-A12C-D10D6B34D5E4}"/>
              </a:ext>
            </a:extLst>
          </p:cNvPr>
          <p:cNvSpPr txBox="1">
            <a:spLocks noChangeArrowheads="1"/>
          </p:cNvSpPr>
          <p:nvPr userDrawn="1"/>
        </p:nvSpPr>
        <p:spPr bwMode="auto">
          <a:xfrm>
            <a:off x="5964238" y="6583363"/>
            <a:ext cx="3813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algn="r" eaLnBrk="1" hangingPunct="1">
              <a:spcBef>
                <a:spcPct val="50000"/>
              </a:spcBef>
              <a:defRPr/>
            </a:pPr>
            <a:r>
              <a:rPr lang="it-IT"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rPr>
              <a:t>USOL VIETNAM Co., Ltd</a:t>
            </a:r>
            <a:endParaRPr lang="en-US" altLang="ja-JP" sz="1200" dirty="0">
              <a:solidFill>
                <a:schemeClr val="tx1"/>
              </a:solidFill>
              <a:effectLst>
                <a:outerShdw blurRad="38100" dist="38100" dir="2700000" algn="tl">
                  <a:srgbClr val="C0C0C0"/>
                </a:outerShdw>
              </a:effectLst>
              <a:latin typeface="ＭＳ Ｐゴシック" pitchFamily="50" charset="-128"/>
              <a:ea typeface="ＭＳ Ｐゴシック" pitchFamily="50" charset="-128"/>
            </a:endParaRPr>
          </a:p>
        </p:txBody>
      </p:sp>
      <p:pic>
        <p:nvPicPr>
          <p:cNvPr id="1033" name="Picture 1031" descr="LogoM">
            <a:extLst>
              <a:ext uri="{FF2B5EF4-FFF2-40B4-BE49-F238E27FC236}">
                <a16:creationId xmlns:a16="http://schemas.microsoft.com/office/drawing/2014/main" id="{7C426F0B-8E88-4132-B8AF-A9C57093698D}"/>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0" y="6638132"/>
            <a:ext cx="946054" cy="20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4" name="Group 7">
            <a:extLst>
              <a:ext uri="{FF2B5EF4-FFF2-40B4-BE49-F238E27FC236}">
                <a16:creationId xmlns:a16="http://schemas.microsoft.com/office/drawing/2014/main" id="{E3F0A595-BBE1-4B7A-B594-6A1BDB4CCD3F}"/>
              </a:ext>
            </a:extLst>
          </p:cNvPr>
          <p:cNvGrpSpPr>
            <a:grpSpLocks/>
          </p:cNvGrpSpPr>
          <p:nvPr userDrawn="1"/>
        </p:nvGrpSpPr>
        <p:grpSpPr bwMode="auto">
          <a:xfrm>
            <a:off x="0" y="-3175"/>
            <a:ext cx="9906000" cy="457200"/>
            <a:chOff x="480" y="0"/>
            <a:chExt cx="5280" cy="384"/>
          </a:xfrm>
        </p:grpSpPr>
        <p:sp>
          <p:nvSpPr>
            <p:cNvPr id="37" name="Rectangle 8">
              <a:extLst>
                <a:ext uri="{FF2B5EF4-FFF2-40B4-BE49-F238E27FC236}">
                  <a16:creationId xmlns:a16="http://schemas.microsoft.com/office/drawing/2014/main" id="{6AD08B79-E74D-46AD-935B-7885C39D329A}"/>
                </a:ext>
              </a:extLst>
            </p:cNvPr>
            <p:cNvSpPr>
              <a:spLocks noChangeArrowheads="1"/>
            </p:cNvSpPr>
            <p:nvPr/>
          </p:nvSpPr>
          <p:spPr bwMode="auto">
            <a:xfrm flipH="1">
              <a:off x="480" y="288"/>
              <a:ext cx="5280" cy="96"/>
            </a:xfrm>
            <a:prstGeom prst="rect">
              <a:avLst/>
            </a:prstGeom>
            <a:gradFill flip="none" rotWithShape="1">
              <a:gsLst>
                <a:gs pos="0">
                  <a:srgbClr val="452D75">
                    <a:gamma/>
                    <a:tint val="0"/>
                    <a:invGamma/>
                  </a:srgbClr>
                </a:gs>
                <a:gs pos="100000">
                  <a:srgbClr val="FF9900"/>
                </a:gs>
              </a:gsLst>
              <a:lin ang="10800000" scaled="1"/>
              <a:tileRect/>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8" name="Rectangle 9">
              <a:extLst>
                <a:ext uri="{FF2B5EF4-FFF2-40B4-BE49-F238E27FC236}">
                  <a16:creationId xmlns:a16="http://schemas.microsoft.com/office/drawing/2014/main" id="{B33C69BC-68BD-4C29-97F4-36AE620BF0BB}"/>
                </a:ext>
              </a:extLst>
            </p:cNvPr>
            <p:cNvSpPr>
              <a:spLocks noChangeArrowheads="1"/>
            </p:cNvSpPr>
            <p:nvPr/>
          </p:nvSpPr>
          <p:spPr bwMode="auto">
            <a:xfrm flipH="1">
              <a:off x="1800" y="192"/>
              <a:ext cx="3960" cy="96"/>
            </a:xfrm>
            <a:prstGeom prst="rect">
              <a:avLst/>
            </a:prstGeom>
            <a:gradFill rotWithShape="0">
              <a:gsLst>
                <a:gs pos="0">
                  <a:srgbClr val="523991">
                    <a:gamma/>
                    <a:tint val="0"/>
                    <a:invGamma/>
                  </a:srgbClr>
                </a:gs>
                <a:gs pos="100000">
                  <a:srgbClr val="FFAA2D"/>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39" name="Rectangle 10">
              <a:extLst>
                <a:ext uri="{FF2B5EF4-FFF2-40B4-BE49-F238E27FC236}">
                  <a16:creationId xmlns:a16="http://schemas.microsoft.com/office/drawing/2014/main" id="{19C90753-9F71-4E42-A751-DE7652699830}"/>
                </a:ext>
              </a:extLst>
            </p:cNvPr>
            <p:cNvSpPr>
              <a:spLocks noChangeArrowheads="1"/>
            </p:cNvSpPr>
            <p:nvPr/>
          </p:nvSpPr>
          <p:spPr bwMode="auto">
            <a:xfrm flipH="1">
              <a:off x="3120" y="96"/>
              <a:ext cx="2640" cy="96"/>
            </a:xfrm>
            <a:prstGeom prst="rect">
              <a:avLst/>
            </a:prstGeom>
            <a:gradFill rotWithShape="0">
              <a:gsLst>
                <a:gs pos="0">
                  <a:srgbClr val="452D75">
                    <a:gamma/>
                    <a:tint val="0"/>
                    <a:invGamma/>
                  </a:srgbClr>
                </a:gs>
                <a:gs pos="100000">
                  <a:srgbClr val="FFB547"/>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sp>
          <p:nvSpPr>
            <p:cNvPr id="40" name="Rectangle 11">
              <a:extLst>
                <a:ext uri="{FF2B5EF4-FFF2-40B4-BE49-F238E27FC236}">
                  <a16:creationId xmlns:a16="http://schemas.microsoft.com/office/drawing/2014/main" id="{2286BAA5-CD17-45D9-9AE7-385F7BC09B89}"/>
                </a:ext>
              </a:extLst>
            </p:cNvPr>
            <p:cNvSpPr>
              <a:spLocks noChangeArrowheads="1"/>
            </p:cNvSpPr>
            <p:nvPr/>
          </p:nvSpPr>
          <p:spPr bwMode="auto">
            <a:xfrm flipH="1">
              <a:off x="4440" y="0"/>
              <a:ext cx="1320" cy="96"/>
            </a:xfrm>
            <a:prstGeom prst="rect">
              <a:avLst/>
            </a:prstGeom>
            <a:gradFill rotWithShape="0">
              <a:gsLst>
                <a:gs pos="0">
                  <a:srgbClr val="523991">
                    <a:gamma/>
                    <a:tint val="0"/>
                    <a:invGamma/>
                  </a:srgbClr>
                </a:gs>
                <a:gs pos="100000">
                  <a:srgbClr val="FFC165"/>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spcBef>
                  <a:spcPct val="50000"/>
                </a:spcBef>
                <a:defRPr/>
              </a:pPr>
              <a:endParaRPr lang="ja-JP" altLang="en-US">
                <a:effectLst>
                  <a:outerShdw blurRad="38100" dist="38100" dir="2700000" algn="tl">
                    <a:srgbClr val="000000">
                      <a:alpha val="43137"/>
                    </a:srgbClr>
                  </a:outerShdw>
                </a:effectLst>
                <a:latin typeface="HG丸ｺﾞｼｯｸM-PRO" charset="0"/>
                <a:ea typeface="HG丸ｺﾞｼｯｸM-PRO" charset="0"/>
                <a:cs typeface="HG丸ｺﾞｼｯｸM-PRO" charset="0"/>
              </a:endParaRPr>
            </a:p>
          </p:txBody>
        </p:sp>
      </p:grpSp>
      <p:sp>
        <p:nvSpPr>
          <p:cNvPr id="42" name="Text Box 22">
            <a:extLst>
              <a:ext uri="{FF2B5EF4-FFF2-40B4-BE49-F238E27FC236}">
                <a16:creationId xmlns:a16="http://schemas.microsoft.com/office/drawing/2014/main" id="{9779E748-DE2F-4EBB-B8A7-4682B42515B4}"/>
              </a:ext>
            </a:extLst>
          </p:cNvPr>
          <p:cNvSpPr txBox="1">
            <a:spLocks noChangeArrowheads="1"/>
          </p:cNvSpPr>
          <p:nvPr userDrawn="1"/>
        </p:nvSpPr>
        <p:spPr bwMode="auto">
          <a:xfrm>
            <a:off x="7053263" y="50800"/>
            <a:ext cx="3130550" cy="5238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0066FF"/>
                    </a:gs>
                  </a:gsLst>
                  <a:lin ang="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1400" b="1" i="1">
                <a:solidFill>
                  <a:schemeClr val="bg1"/>
                </a:solidFill>
                <a:latin typeface="HG丸ｺﾞｼｯｸM-PRO" pitchFamily="50" charset="-128"/>
                <a:ea typeface="HG丸ｺﾞｼｯｸM-PRO" pitchFamily="50" charset="-128"/>
              </a:defRPr>
            </a:lvl1pPr>
            <a:lvl2pPr marL="742950" indent="-285750">
              <a:defRPr kumimoji="1" sz="1400" b="1" i="1">
                <a:solidFill>
                  <a:schemeClr val="bg1"/>
                </a:solidFill>
                <a:latin typeface="HG丸ｺﾞｼｯｸM-PRO" pitchFamily="50" charset="-128"/>
                <a:ea typeface="HG丸ｺﾞｼｯｸM-PRO" pitchFamily="50" charset="-128"/>
              </a:defRPr>
            </a:lvl2pPr>
            <a:lvl3pPr marL="1143000" indent="-228600">
              <a:defRPr kumimoji="1" sz="1400" b="1" i="1">
                <a:solidFill>
                  <a:schemeClr val="bg1"/>
                </a:solidFill>
                <a:latin typeface="HG丸ｺﾞｼｯｸM-PRO" pitchFamily="50" charset="-128"/>
                <a:ea typeface="HG丸ｺﾞｼｯｸM-PRO" pitchFamily="50" charset="-128"/>
              </a:defRPr>
            </a:lvl3pPr>
            <a:lvl4pPr marL="1600200" indent="-228600">
              <a:defRPr kumimoji="1" sz="1400" b="1" i="1">
                <a:solidFill>
                  <a:schemeClr val="bg1"/>
                </a:solidFill>
                <a:latin typeface="HG丸ｺﾞｼｯｸM-PRO" pitchFamily="50" charset="-128"/>
                <a:ea typeface="HG丸ｺﾞｼｯｸM-PRO" pitchFamily="50" charset="-128"/>
              </a:defRPr>
            </a:lvl4pPr>
            <a:lvl5pPr marL="2057400" indent="-228600">
              <a:defRPr kumimoji="1" sz="1400" b="1" i="1">
                <a:solidFill>
                  <a:schemeClr val="bg1"/>
                </a:solidFill>
                <a:latin typeface="HG丸ｺﾞｼｯｸM-PRO" pitchFamily="50" charset="-128"/>
                <a:ea typeface="HG丸ｺﾞｼｯｸM-PRO" pitchFamily="50" charset="-128"/>
              </a:defRPr>
            </a:lvl5pPr>
            <a:lvl6pPr marL="25146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fontAlgn="base">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2800" dirty="0" err="1">
                <a:solidFill>
                  <a:schemeClr val="tx1"/>
                </a:solidFill>
                <a:latin typeface="Segoe Script" pitchFamily="34" charset="0"/>
              </a:rPr>
              <a:t>Usol</a:t>
            </a:r>
            <a:r>
              <a:rPr lang="ja-JP" altLang="en-US" sz="2800" i="0" dirty="0">
                <a:solidFill>
                  <a:schemeClr val="tx1"/>
                </a:solidFill>
                <a:latin typeface="Segoe Script" pitchFamily="34" charset="0"/>
              </a:rPr>
              <a:t>   </a:t>
            </a:r>
            <a:r>
              <a:rPr lang="en-US" altLang="ja-JP" sz="2800" dirty="0" err="1">
                <a:latin typeface="Segoe Script" pitchFamily="34" charset="0"/>
              </a:rPr>
              <a:t>ietnam</a:t>
            </a:r>
            <a:endParaRPr lang="ja-JP" altLang="en-US" sz="2800" dirty="0">
              <a:latin typeface="Segoe Script" pitchFamily="34" charset="0"/>
            </a:endParaRPr>
          </a:p>
        </p:txBody>
      </p:sp>
      <p:sp>
        <p:nvSpPr>
          <p:cNvPr id="43" name="正方形/長方形 42">
            <a:extLst>
              <a:ext uri="{FF2B5EF4-FFF2-40B4-BE49-F238E27FC236}">
                <a16:creationId xmlns:a16="http://schemas.microsoft.com/office/drawing/2014/main" id="{3473BC66-2BE3-4BA7-9E94-658F932E5E73}"/>
              </a:ext>
            </a:extLst>
          </p:cNvPr>
          <p:cNvSpPr/>
          <p:nvPr userDrawn="1"/>
        </p:nvSpPr>
        <p:spPr>
          <a:xfrm>
            <a:off x="7953107" y="-179013"/>
            <a:ext cx="469156" cy="707886"/>
          </a:xfrm>
          <a:prstGeom prst="rect">
            <a:avLst/>
          </a:prstGeom>
          <a:noFill/>
        </p:spPr>
        <p:txBody>
          <a:bodyPr>
            <a:spAutoFit/>
          </a:bodyPr>
          <a:lstStyle/>
          <a:p>
            <a:pPr algn="ctr" eaLnBrk="1" hangingPunct="1">
              <a:spcBef>
                <a:spcPct val="50000"/>
              </a:spcBef>
              <a:defRPr/>
            </a:pPr>
            <a:r>
              <a:rPr lang="en-US" altLang="ja-JP"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rPr>
              <a:t>V</a:t>
            </a:r>
            <a:endParaRPr lang="ja-JP" altLang="en-US" sz="4000" i="1" dirty="0">
              <a:ln w="19050">
                <a:solidFill>
                  <a:schemeClr val="tx2">
                    <a:tint val="1000"/>
                  </a:schemeClr>
                </a:solidFill>
                <a:prstDash val="solid"/>
              </a:ln>
              <a:solidFill>
                <a:schemeClr val="accent3"/>
              </a:solidFill>
              <a:effectLst>
                <a:outerShdw blurRad="50000" dist="50800" dir="7500000" algn="tl">
                  <a:srgbClr val="000000">
                    <a:shade val="5000"/>
                    <a:alpha val="35000"/>
                  </a:srgbClr>
                </a:outerShdw>
              </a:effectLst>
            </a:endParaRPr>
          </a:p>
        </p:txBody>
      </p:sp>
      <p:sp>
        <p:nvSpPr>
          <p:cNvPr id="35" name="Text Box 11">
            <a:extLst>
              <a:ext uri="{FF2B5EF4-FFF2-40B4-BE49-F238E27FC236}">
                <a16:creationId xmlns:a16="http://schemas.microsoft.com/office/drawing/2014/main" id="{1DC4ECF5-E62B-44AA-90DF-10764551D43E}"/>
              </a:ext>
            </a:extLst>
          </p:cNvPr>
          <p:cNvSpPr txBox="1">
            <a:spLocks noChangeArrowheads="1"/>
          </p:cNvSpPr>
          <p:nvPr userDrawn="1"/>
        </p:nvSpPr>
        <p:spPr bwMode="auto">
          <a:xfrm>
            <a:off x="50800" y="44450"/>
            <a:ext cx="1492250" cy="327025"/>
          </a:xfrm>
          <a:prstGeom prst="rect">
            <a:avLst/>
          </a:prstGeom>
          <a:noFill/>
          <a:ln w="57150" cmpd="thinThick" algn="ctr">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marL="179388" eaLnBrk="0" hangingPunct="0">
              <a:defRPr kumimoji="1" sz="1400" b="1" i="1">
                <a:solidFill>
                  <a:schemeClr val="bg1"/>
                </a:solidFill>
                <a:latin typeface="HG丸ｺﾞｼｯｸM-PRO" pitchFamily="50" charset="-128"/>
                <a:ea typeface="HG丸ｺﾞｼｯｸM-PRO" pitchFamily="50" charset="-128"/>
              </a:defRPr>
            </a:lvl1pPr>
            <a:lvl2pPr marL="742950" indent="-285750" eaLnBrk="0" hangingPunct="0">
              <a:defRPr kumimoji="1" sz="1400" b="1" i="1">
                <a:solidFill>
                  <a:schemeClr val="bg1"/>
                </a:solidFill>
                <a:latin typeface="HG丸ｺﾞｼｯｸM-PRO" pitchFamily="50" charset="-128"/>
                <a:ea typeface="HG丸ｺﾞｼｯｸM-PRO" pitchFamily="50" charset="-128"/>
              </a:defRPr>
            </a:lvl2pPr>
            <a:lvl3pPr marL="1143000" indent="-228600" eaLnBrk="0" hangingPunct="0">
              <a:defRPr kumimoji="1" sz="1400" b="1" i="1">
                <a:solidFill>
                  <a:schemeClr val="bg1"/>
                </a:solidFill>
                <a:latin typeface="HG丸ｺﾞｼｯｸM-PRO" pitchFamily="50" charset="-128"/>
                <a:ea typeface="HG丸ｺﾞｼｯｸM-PRO" pitchFamily="50" charset="-128"/>
              </a:defRPr>
            </a:lvl3pPr>
            <a:lvl4pPr marL="1600200" indent="-228600" eaLnBrk="0" hangingPunct="0">
              <a:defRPr kumimoji="1" sz="1400" b="1" i="1">
                <a:solidFill>
                  <a:schemeClr val="bg1"/>
                </a:solidFill>
                <a:latin typeface="HG丸ｺﾞｼｯｸM-PRO" pitchFamily="50" charset="-128"/>
                <a:ea typeface="HG丸ｺﾞｼｯｸM-PRO" pitchFamily="50" charset="-128"/>
              </a:defRPr>
            </a:lvl4pPr>
            <a:lvl5pPr marL="2057400" indent="-228600" eaLnBrk="0" hangingPunct="0">
              <a:defRPr kumimoji="1" sz="1400" b="1" i="1">
                <a:solidFill>
                  <a:schemeClr val="bg1"/>
                </a:solidFill>
                <a:latin typeface="HG丸ｺﾞｼｯｸM-PRO" pitchFamily="50" charset="-128"/>
                <a:ea typeface="HG丸ｺﾞｼｯｸM-PRO" pitchFamily="50" charset="-128"/>
              </a:defRPr>
            </a:lvl5pPr>
            <a:lvl6pPr marL="25146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6pPr>
            <a:lvl7pPr marL="29718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7pPr>
            <a:lvl8pPr marL="34290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8pPr>
            <a:lvl9pPr marL="3886200" indent="-228600" algn="ctr" eaLnBrk="0" fontAlgn="base" hangingPunct="0">
              <a:spcBef>
                <a:spcPct val="0"/>
              </a:spcBef>
              <a:spcAft>
                <a:spcPct val="0"/>
              </a:spcAft>
              <a:defRPr kumimoji="1" sz="1400" b="1" i="1">
                <a:solidFill>
                  <a:schemeClr val="bg1"/>
                </a:solidFill>
                <a:latin typeface="HG丸ｺﾞｼｯｸM-PRO" pitchFamily="50" charset="-128"/>
                <a:ea typeface="HG丸ｺﾞｼｯｸM-PRO" pitchFamily="50" charset="-128"/>
              </a:defRPr>
            </a:lvl9pPr>
          </a:lstStyle>
          <a:p>
            <a:pPr eaLnBrk="1" hangingPunct="1">
              <a:spcBef>
                <a:spcPct val="50000"/>
              </a:spcBef>
              <a:defRPr/>
            </a:pPr>
            <a:r>
              <a:rPr lang="en-US" altLang="ja-JP" sz="1800" i="0" dirty="0">
                <a:solidFill>
                  <a:srgbClr val="FF0000"/>
                </a:solidFill>
                <a:latin typeface="ＭＳ Ｐゴシック" pitchFamily="50" charset="-128"/>
                <a:ea typeface="ＭＳ Ｐゴシック" pitchFamily="50" charset="-128"/>
              </a:rPr>
              <a:t>Confidential</a:t>
            </a:r>
            <a:endParaRPr lang="en-US" sz="1800" i="0" dirty="0">
              <a:solidFill>
                <a:srgbClr val="FF0000"/>
              </a:solidFill>
              <a:latin typeface="ＭＳ Ｐゴシック" pitchFamily="50" charset="-128"/>
              <a:ea typeface="ＭＳ Ｐゴシック" pitchFamily="50" charset="-128"/>
            </a:endParaRPr>
          </a:p>
        </p:txBody>
      </p:sp>
      <p:sp>
        <p:nvSpPr>
          <p:cNvPr id="18" name="Rectangle 4">
            <a:extLst>
              <a:ext uri="{FF2B5EF4-FFF2-40B4-BE49-F238E27FC236}">
                <a16:creationId xmlns:a16="http://schemas.microsoft.com/office/drawing/2014/main" id="{A04B0585-20B2-4596-93D7-54D1340E0964}"/>
              </a:ext>
            </a:extLst>
          </p:cNvPr>
          <p:cNvSpPr>
            <a:spLocks noGrp="1" noChangeArrowheads="1"/>
          </p:cNvSpPr>
          <p:nvPr>
            <p:ph type="dt" sz="half" idx="2"/>
          </p:nvPr>
        </p:nvSpPr>
        <p:spPr>
          <a:xfrm>
            <a:off x="3033266" y="6653213"/>
            <a:ext cx="2063750" cy="204787"/>
          </a:xfrm>
          <a:prstGeom prst="rect">
            <a:avLst/>
          </a:prstGeom>
        </p:spPr>
        <p:txBody>
          <a:bodyPr anchor="ctr"/>
          <a:lstStyle>
            <a:lvl1pPr>
              <a:defRPr sz="1050"/>
            </a:lvl1pPr>
          </a:lstStyle>
          <a:p>
            <a:pPr>
              <a:defRPr/>
            </a:pPr>
            <a:endParaRPr lang="en-US" altLang="ja-JP" dirty="0"/>
          </a:p>
        </p:txBody>
      </p:sp>
      <p:sp>
        <p:nvSpPr>
          <p:cNvPr id="19" name="Rectangle 6">
            <a:extLst>
              <a:ext uri="{FF2B5EF4-FFF2-40B4-BE49-F238E27FC236}">
                <a16:creationId xmlns:a16="http://schemas.microsoft.com/office/drawing/2014/main" id="{C5564842-B2E4-45CE-AB60-14A7558DAFA0}"/>
              </a:ext>
            </a:extLst>
          </p:cNvPr>
          <p:cNvSpPr>
            <a:spLocks noGrp="1" noChangeArrowheads="1"/>
          </p:cNvSpPr>
          <p:nvPr>
            <p:ph type="sldNum" sz="quarter" idx="4"/>
          </p:nvPr>
        </p:nvSpPr>
        <p:spPr>
          <a:xfrm>
            <a:off x="5097463" y="6653213"/>
            <a:ext cx="2063750" cy="204787"/>
          </a:xfrm>
          <a:prstGeom prst="rect">
            <a:avLst/>
          </a:prstGeom>
        </p:spPr>
        <p:txBody>
          <a:bodyPr anchor="ctr"/>
          <a:lstStyle>
            <a:lvl1pPr>
              <a:defRPr sz="1050"/>
            </a:lvl1pPr>
          </a:lstStyle>
          <a:p>
            <a:pPr>
              <a:defRPr/>
            </a:pPr>
            <a:r>
              <a:rPr lang="en-US" altLang="ja-JP"/>
              <a:t>Page</a:t>
            </a:r>
            <a:r>
              <a:rPr lang="ja-JP" altLang="en-US"/>
              <a:t>　</a:t>
            </a:r>
            <a:r>
              <a:rPr lang="en-US" altLang="ja-JP"/>
              <a:t>:</a:t>
            </a:r>
            <a:r>
              <a:rPr lang="ja-JP" altLang="en-US"/>
              <a:t> </a:t>
            </a:r>
            <a:fld id="{79353177-B86D-4022-983D-1132BA6711EB}" type="slidenum">
              <a:rPr lang="en-US" altLang="ja-JP" smtClean="0"/>
              <a:pPr>
                <a:defRPr/>
              </a:pPr>
              <a:t>‹#›</a:t>
            </a:fld>
            <a:endParaRPr lang="en-US" altLang="ja-JP"/>
          </a:p>
        </p:txBody>
      </p:sp>
      <p:pic>
        <p:nvPicPr>
          <p:cNvPr id="21" name="BIPROGYロゴ">
            <a:extLst>
              <a:ext uri="{FF2B5EF4-FFF2-40B4-BE49-F238E27FC236}">
                <a16:creationId xmlns:a16="http://schemas.microsoft.com/office/drawing/2014/main" id="{3F93CD62-EE3C-4414-B5A1-AE038ED135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143308" y="6590834"/>
            <a:ext cx="1692703" cy="298366"/>
          </a:xfrm>
          <a:prstGeom prst="rect">
            <a:avLst/>
          </a:prstGeom>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4" r:id="rId3"/>
    <p:sldLayoutId id="2147483792" r:id="rId4"/>
    <p:sldLayoutId id="2147483789" r:id="rId5"/>
    <p:sldLayoutId id="2147483793" r:id="rId6"/>
  </p:sldLayoutIdLst>
  <p:hf hdr="0" ftr="0" dt="0"/>
  <p:txStyles>
    <p:titleStyle>
      <a:lvl1pPr algn="l" rtl="0" eaLnBrk="1" fontAlgn="base" hangingPunct="1">
        <a:spcBef>
          <a:spcPct val="0"/>
        </a:spcBef>
        <a:spcAft>
          <a:spcPct val="0"/>
        </a:spcAft>
        <a:defRPr kumimoji="1" sz="3600">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2pPr>
      <a:lvl3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3pPr>
      <a:lvl4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4pPr>
      <a:lvl5pPr algn="l" rtl="0" eaLnBrk="1" fontAlgn="base" hangingPunct="1">
        <a:spcBef>
          <a:spcPct val="0"/>
        </a:spcBef>
        <a:spcAft>
          <a:spcPct val="0"/>
        </a:spcAft>
        <a:defRPr kumimoji="1" sz="3600">
          <a:solidFill>
            <a:schemeClr val="tx2"/>
          </a:solidFill>
          <a:latin typeface="Times New Roman" pitchFamily="18" charset="0"/>
          <a:ea typeface="ＭＳ Ｐゴシック" pitchFamily="50" charset="-128"/>
        </a:defRPr>
      </a:lvl5pPr>
      <a:lvl6pPr marL="4572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6pPr>
      <a:lvl7pPr marL="9144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7pPr>
      <a:lvl8pPr marL="13716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8pPr>
      <a:lvl9pPr marL="1828800" algn="ctr" rtl="0" eaLnBrk="1" fontAlgn="base" hangingPunct="1">
        <a:spcBef>
          <a:spcPct val="0"/>
        </a:spcBef>
        <a:spcAft>
          <a:spcPct val="0"/>
        </a:spcAft>
        <a:defRPr kumimoji="1" sz="4400">
          <a:solidFill>
            <a:schemeClr val="tx2"/>
          </a:solidFill>
          <a:latin typeface="Times New Roman" pitchFamily="18"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har char="–"/>
        <a:defRPr kumimoji="1" sz="28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har char="•"/>
        <a:defRPr kumimoji="1" sz="24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har char="»"/>
        <a:defRPr kumimoji="1" sz="2000">
          <a:solidFill>
            <a:schemeClr val="tx1"/>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44D352-923E-E6B6-4D8A-AB66C88BC3CC}"/>
              </a:ext>
            </a:extLst>
          </p:cNvPr>
          <p:cNvSpPr>
            <a:spLocks noGrp="1"/>
          </p:cNvSpPr>
          <p:nvPr>
            <p:ph type="title"/>
          </p:nvPr>
        </p:nvSpPr>
        <p:spPr>
          <a:xfrm>
            <a:off x="681038" y="365125"/>
            <a:ext cx="8543925"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0BC59BC7-F850-7C36-754E-E6369E518C47}"/>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E06DDECD-4404-C7CD-5336-354F8B64923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4D65A-0EC1-4CBC-8539-F9FD2B92F981}" type="datetimeFigureOut">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8390F2CC-709C-7ED4-7144-F5EFE9F7868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0AF8815-82A4-7D2E-5978-31B8771F562E}"/>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F6F0A-8A1E-43EE-8FCD-0197D0B3E278}" type="slidenum">
              <a:rPr kumimoji="1" lang="ja-JP" altLang="en-US" smtClean="0"/>
              <a:t>‹#›</a:t>
            </a:fld>
            <a:endParaRPr kumimoji="1" lang="ja-JP" altLang="en-US"/>
          </a:p>
        </p:txBody>
      </p:sp>
    </p:spTree>
    <p:extLst>
      <p:ext uri="{BB962C8B-B14F-4D97-AF65-F5344CB8AC3E}">
        <p14:creationId xmlns:p14="http://schemas.microsoft.com/office/powerpoint/2010/main" val="3079028108"/>
      </p:ext>
    </p:extLst>
  </p:cSld>
  <p:clrMap bg1="lt1" tx1="dk1" bg2="lt2" tx2="dk2" accent1="accent1" accent2="accent2" accent3="accent3" accent4="accent4" accent5="accent5" accent6="accent6" hlink="hlink" folHlink="folHlink"/>
  <p:sldLayoutIdLst>
    <p:sldLayoutId id="2147483803" r:id="rId1"/>
  </p:sldLayoutIdLst>
  <p:txStyles>
    <p:titleStyle>
      <a:lvl1pPr algn="l" defTabSz="914400" rtl="0" eaLnBrk="1" latinLnBrk="0" hangingPunct="1">
        <a:lnSpc>
          <a:spcPct val="90000"/>
        </a:lnSpc>
        <a:spcBef>
          <a:spcPct val="0"/>
        </a:spcBef>
        <a:buNone/>
        <a:defRPr kumimoji="1" sz="4400" kern="1200">
          <a:solidFill>
            <a:schemeClr val="tx1"/>
          </a:solidFill>
          <a:latin typeface="ADLaM Display" panose="02010000000000000000" pitchFamily="2" charset="0"/>
          <a:ea typeface="+mj-ea"/>
          <a:cs typeface="ADLaM Display" panose="0201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start.spring.io/"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 Id="rId6" Type="http://schemas.openxmlformats.org/officeDocument/2006/relationships/image" Target="../media/image9.png"/><Relationship Id="rId5" Type="http://schemas.microsoft.com/office/2007/relationships/hdphoto" Target="../media/hdphoto1.wdp"/><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package" Target="../embeddings/Microsoft_Excel_Worksheet.xlsx"/><Relationship Id="rId7" Type="http://schemas.openxmlformats.org/officeDocument/2006/relationships/package" Target="../embeddings/Microsoft_Excel_Worksheet2.xlsx"/><Relationship Id="rId2" Type="http://schemas.openxmlformats.org/officeDocument/2006/relationships/image" Target="../media/image11.jpeg"/><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package" Target="../embeddings/Microsoft_Excel_Worksheet1.xlsx"/><Relationship Id="rId10" Type="http://schemas.openxmlformats.org/officeDocument/2006/relationships/image" Target="../media/image20.emf"/><Relationship Id="rId4" Type="http://schemas.openxmlformats.org/officeDocument/2006/relationships/image" Target="../media/image17.emf"/><Relationship Id="rId9" Type="http://schemas.openxmlformats.org/officeDocument/2006/relationships/package" Target="../embeddings/Microsoft_Excel_Worksheet3.xlsx"/></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2.jpe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2.jpe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50.emf"/><Relationship Id="rId5" Type="http://schemas.openxmlformats.org/officeDocument/2006/relationships/package" Target="../embeddings/Microsoft_Excel_Worksheet4.xlsx"/><Relationship Id="rId4" Type="http://schemas.openxmlformats.org/officeDocument/2006/relationships/image" Target="../media/image49.emf"/></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hyperlink" Target="https://docs.spring.io/spring-data/jpa/docs/current/api/index.html?org/springframework/data/jpa/repository/QueryHints.html" TargetMode="External"/><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hyperlink" Target="https://docs.oracle.com/javaee/7/api/javax/persistence/QueryHint.htm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タイトル 1">
            <a:extLst>
              <a:ext uri="{FF2B5EF4-FFF2-40B4-BE49-F238E27FC236}">
                <a16:creationId xmlns:a16="http://schemas.microsoft.com/office/drawing/2014/main" id="{A3BE0541-E4C7-DF6E-BE27-04C647FD503B}"/>
              </a:ext>
            </a:extLst>
          </p:cNvPr>
          <p:cNvSpPr>
            <a:spLocks noGrp="1"/>
          </p:cNvSpPr>
          <p:nvPr>
            <p:ph type="title"/>
          </p:nvPr>
        </p:nvSpPr>
        <p:spPr>
          <a:xfrm>
            <a:off x="1524000" y="1981200"/>
            <a:ext cx="7243763" cy="1193535"/>
          </a:xfrm>
        </p:spPr>
        <p:txBody>
          <a:bodyPr>
            <a:normAutofit fontScale="90000"/>
          </a:bodyPr>
          <a:lstStyle/>
          <a:p>
            <a:pPr eaLnBrk="1" hangingPunct="1"/>
            <a:r>
              <a:rPr lang="en-US" altLang="ja-JP" sz="4333" dirty="0"/>
              <a:t>Spring boot application</a:t>
            </a:r>
            <a:endParaRPr lang="ja-JP" altLang="en-US" sz="4333" dirty="0"/>
          </a:p>
        </p:txBody>
      </p:sp>
      <p:sp>
        <p:nvSpPr>
          <p:cNvPr id="5" name="テキスト プレースホルダー 4">
            <a:extLst>
              <a:ext uri="{FF2B5EF4-FFF2-40B4-BE49-F238E27FC236}">
                <a16:creationId xmlns:a16="http://schemas.microsoft.com/office/drawing/2014/main" id="{83C71AD8-6073-701B-664C-8B94CF80E8A8}"/>
              </a:ext>
            </a:extLst>
          </p:cNvPr>
          <p:cNvSpPr>
            <a:spLocks noGrp="1"/>
          </p:cNvSpPr>
          <p:nvPr>
            <p:ph type="body" idx="1"/>
          </p:nvPr>
        </p:nvSpPr>
        <p:spPr>
          <a:xfrm>
            <a:off x="1047184" y="3505200"/>
            <a:ext cx="8839200" cy="698235"/>
          </a:xfrm>
        </p:spPr>
        <p:txBody>
          <a:bodyPr rtlCol="0">
            <a:normAutofit/>
          </a:bodyPr>
          <a:lstStyle/>
          <a:p>
            <a:pPr fontAlgn="auto">
              <a:spcAft>
                <a:spcPts val="0"/>
              </a:spcAft>
              <a:defRPr/>
            </a:pPr>
            <a:r>
              <a:rPr lang="en-US" altLang="ja-JP" dirty="0" err="1"/>
              <a:t>Cơ</a:t>
            </a:r>
            <a:r>
              <a:rPr lang="en-US" altLang="ja-JP" dirty="0"/>
              <a:t> </a:t>
            </a:r>
            <a:r>
              <a:rPr lang="en-US" altLang="ja-JP" dirty="0" err="1"/>
              <a:t>bản</a:t>
            </a:r>
            <a:r>
              <a:rPr lang="en-US" altLang="ja-JP" dirty="0"/>
              <a:t> </a:t>
            </a:r>
            <a:r>
              <a:rPr lang="en-US" altLang="ja-JP" dirty="0" err="1"/>
              <a:t>về</a:t>
            </a:r>
            <a:r>
              <a:rPr lang="en-US" altLang="ja-JP" dirty="0"/>
              <a:t> spring boot application. </a:t>
            </a:r>
            <a:r>
              <a:rPr lang="en-US" altLang="ja-JP" dirty="0" err="1"/>
              <a:t>Hướng</a:t>
            </a:r>
            <a:r>
              <a:rPr lang="en-US" altLang="ja-JP" dirty="0"/>
              <a:t> </a:t>
            </a:r>
            <a:r>
              <a:rPr lang="en-US" altLang="ja-JP" dirty="0" err="1"/>
              <a:t>dẫn</a:t>
            </a:r>
            <a:r>
              <a:rPr lang="en-US" altLang="ja-JP" dirty="0"/>
              <a:t> </a:t>
            </a:r>
            <a:r>
              <a:rPr lang="en-US" altLang="ja-JP" dirty="0" err="1"/>
              <a:t>tạo</a:t>
            </a:r>
            <a:r>
              <a:rPr lang="en-US" altLang="ja-JP" dirty="0"/>
              <a:t> new project, build, run</a:t>
            </a:r>
            <a:endParaRPr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タイトル 4">
            <a:extLst>
              <a:ext uri="{FF2B5EF4-FFF2-40B4-BE49-F238E27FC236}">
                <a16:creationId xmlns:a16="http://schemas.microsoft.com/office/drawing/2014/main" id="{59BDEE0B-3BBE-879C-1D11-B59299C325A1}"/>
              </a:ext>
            </a:extLst>
          </p:cNvPr>
          <p:cNvSpPr>
            <a:spLocks noGrp="1"/>
          </p:cNvSpPr>
          <p:nvPr>
            <p:ph type="title"/>
          </p:nvPr>
        </p:nvSpPr>
        <p:spPr>
          <a:xfrm>
            <a:off x="2106746" y="1150277"/>
            <a:ext cx="7240323" cy="1040473"/>
          </a:xfrm>
        </p:spPr>
        <p:txBody>
          <a:bodyPr/>
          <a:lstStyle/>
          <a:p>
            <a:pPr eaLnBrk="1" hangingPunct="1"/>
            <a:r>
              <a:rPr lang="en-US" altLang="ja-JP"/>
              <a:t>Khái lược về Spring boot</a:t>
            </a:r>
            <a:endParaRPr lang="ja-JP" altLang="en-US"/>
          </a:p>
        </p:txBody>
      </p:sp>
      <p:sp>
        <p:nvSpPr>
          <p:cNvPr id="6" name="コンテンツ プレースホルダー 5">
            <a:extLst>
              <a:ext uri="{FF2B5EF4-FFF2-40B4-BE49-F238E27FC236}">
                <a16:creationId xmlns:a16="http://schemas.microsoft.com/office/drawing/2014/main" id="{2B6895B6-85EC-2CF3-11A0-097CBB4389B1}"/>
              </a:ext>
            </a:extLst>
          </p:cNvPr>
          <p:cNvSpPr>
            <a:spLocks noGrp="1"/>
          </p:cNvSpPr>
          <p:nvPr>
            <p:ph idx="1"/>
          </p:nvPr>
        </p:nvSpPr>
        <p:spPr>
          <a:xfrm>
            <a:off x="2103306" y="2376487"/>
            <a:ext cx="7243763" cy="3069829"/>
          </a:xfrm>
        </p:spPr>
        <p:txBody>
          <a:bodyPr rtlCol="0">
            <a:normAutofit/>
          </a:bodyPr>
          <a:lstStyle/>
          <a:p>
            <a:pPr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Spring framework </a:t>
            </a:r>
            <a:r>
              <a:rPr lang="en-US" altLang="ja-JP" sz="1517" dirty="0" err="1">
                <a:latin typeface="Arial" panose="020B0604020202020204" pitchFamily="34" charset="0"/>
                <a:cs typeface="Arial" panose="020B0604020202020204" pitchFamily="34" charset="0"/>
              </a:rPr>
              <a:t>là</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một</a:t>
            </a:r>
            <a:r>
              <a:rPr lang="en-US" altLang="ja-JP" sz="1517" dirty="0">
                <a:latin typeface="Arial" panose="020B0604020202020204" pitchFamily="34" charset="0"/>
                <a:cs typeface="Arial" panose="020B0604020202020204" pitchFamily="34" charset="0"/>
              </a:rPr>
              <a:t> framework </a:t>
            </a:r>
            <a:r>
              <a:rPr lang="en-US" altLang="ja-JP" sz="1517" dirty="0" err="1">
                <a:latin typeface="Arial" panose="020B0604020202020204" pitchFamily="34" charset="0"/>
                <a:cs typeface="Arial" panose="020B0604020202020204" pitchFamily="34" charset="0"/>
              </a:rPr>
              <a:t>được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ra</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đời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để</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giúp</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các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nhà</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phát</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triển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có</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thể</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xây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dựng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hệ</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thống</a:t>
            </a:r>
            <a:r>
              <a:rPr lang="en-US" altLang="ja-JP" sz="1517" dirty="0">
                <a:latin typeface="Arial" panose="020B0604020202020204" pitchFamily="34" charset="0"/>
                <a:cs typeface="Arial" panose="020B0604020202020204" pitchFamily="34" charset="0"/>
              </a:rPr>
              <a:t> và </a:t>
            </a:r>
            <a:r>
              <a:rPr lang="en-US" altLang="ja-JP" sz="1517" dirty="0" err="1">
                <a:latin typeface="Arial" panose="020B0604020202020204" pitchFamily="34" charset="0"/>
                <a:cs typeface="Arial" panose="020B0604020202020204" pitchFamily="34" charset="0"/>
              </a:rPr>
              <a:t>chạy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ứng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trên</a:t>
            </a:r>
            <a:r>
              <a:rPr lang="en-US" altLang="ja-JP" sz="1517" dirty="0">
                <a:latin typeface="Arial" panose="020B0604020202020204" pitchFamily="34" charset="0"/>
                <a:cs typeface="Arial" panose="020B0604020202020204" pitchFamily="34" charset="0"/>
              </a:rPr>
              <a:t> JVM </a:t>
            </a:r>
            <a:r>
              <a:rPr lang="en-US" altLang="ja-JP" sz="1517" dirty="0" err="1">
                <a:latin typeface="Arial" panose="020B0604020202020204" pitchFamily="34" charset="0"/>
                <a:cs typeface="Arial" panose="020B0604020202020204" pitchFamily="34" charset="0"/>
              </a:rPr>
              <a:t>một</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cách</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thuận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tiện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đơn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giản</a:t>
            </a:r>
            <a:r>
              <a:rPr lang="en-US" altLang="ja-JP" sz="1517" dirty="0">
                <a:latin typeface="Arial" panose="020B0604020202020204" pitchFamily="34" charset="0"/>
                <a:cs typeface="Arial" panose="020B0604020202020204" pitchFamily="34" charset="0"/>
              </a:rPr>
              <a:t> và </a:t>
            </a:r>
            <a:r>
              <a:rPr lang="en-US" altLang="ja-JP" sz="1517" dirty="0" err="1">
                <a:latin typeface="Arial" panose="020B0604020202020204" pitchFamily="34" charset="0"/>
                <a:cs typeface="Arial" panose="020B0604020202020204" pitchFamily="34" charset="0"/>
              </a:rPr>
              <a:t>nhanh</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chóng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Đây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là</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một</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mã</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nguồn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mở</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được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phát</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triển</a:t>
            </a:r>
            <a:r>
              <a:rPr lang="en-US" altLang="ja-JP" sz="1517" dirty="0">
                <a:latin typeface="Arial" panose="020B0604020202020204" pitchFamily="34" charset="0"/>
                <a:cs typeface="Arial" panose="020B0604020202020204" pitchFamily="34" charset="0"/>
              </a:rPr>
              <a:t> và </a:t>
            </a:r>
            <a:r>
              <a:rPr lang="en-US" altLang="ja-JP" sz="1517" dirty="0" err="1">
                <a:latin typeface="Arial" panose="020B0604020202020204" pitchFamily="34" charset="0"/>
                <a:cs typeface="Arial" panose="020B0604020202020204" pitchFamily="34" charset="0"/>
              </a:rPr>
              <a:t>rất</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nhiều</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người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sử</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a:t>
            </a:r>
          </a:p>
          <a:p>
            <a:pPr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Spring Framework </a:t>
            </a:r>
            <a:r>
              <a:rPr lang="en-US" altLang="ja-JP" sz="1517" dirty="0" err="1">
                <a:latin typeface="Arial" panose="020B0604020202020204" pitchFamily="34" charset="0"/>
                <a:cs typeface="Arial" panose="020B0604020202020204" pitchFamily="34" charset="0"/>
              </a:rPr>
              <a:t>được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xây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dựng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dựa</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trên</a:t>
            </a:r>
            <a:r>
              <a:rPr lang="en-US" altLang="ja-JP" sz="1517" dirty="0">
                <a:latin typeface="Arial" panose="020B0604020202020204" pitchFamily="34" charset="0"/>
                <a:cs typeface="Arial" panose="020B0604020202020204" pitchFamily="34" charset="0"/>
              </a:rPr>
              <a:t> 2 </a:t>
            </a:r>
            <a:r>
              <a:rPr lang="en-US" altLang="ja-JP" sz="1517" dirty="0" err="1">
                <a:latin typeface="Arial" panose="020B0604020202020204" pitchFamily="34" charset="0"/>
                <a:cs typeface="Arial" panose="020B0604020202020204" pitchFamily="34" charset="0"/>
              </a:rPr>
              <a:t>nguyên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tắc</a:t>
            </a:r>
            <a:r>
              <a:rPr lang="en-US" altLang="ja-JP" sz="1517" dirty="0">
                <a:latin typeface="Arial" panose="020B0604020202020204" pitchFamily="34" charset="0"/>
                <a:cs typeface="Arial" panose="020B0604020202020204" pitchFamily="34" charset="0"/>
              </a:rPr>
              <a:t> design </a:t>
            </a:r>
            <a:r>
              <a:rPr lang="en-US" altLang="ja-JP" sz="1517" dirty="0" err="1">
                <a:latin typeface="Arial" panose="020B0604020202020204" pitchFamily="34" charset="0"/>
                <a:cs typeface="Arial" panose="020B0604020202020204" pitchFamily="34" charset="0"/>
              </a:rPr>
              <a:t>chính</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là</a:t>
            </a:r>
            <a:r>
              <a:rPr lang="en-US" altLang="ja-JP" sz="1517" dirty="0">
                <a:latin typeface="Arial" panose="020B0604020202020204" pitchFamily="34" charset="0"/>
                <a:cs typeface="Arial" panose="020B0604020202020204" pitchFamily="34" charset="0"/>
              </a:rPr>
              <a:t>: Dependency Injection và Aspect Oriented Programming</a:t>
            </a:r>
          </a:p>
          <a:p>
            <a:pPr marL="309553" indent="-309553" algn="just" fontAlgn="auto">
              <a:spcAft>
                <a:spcPts val="0"/>
              </a:spcAft>
              <a:buFont typeface="Wingdings" panose="05000000000000000000" pitchFamily="2" charset="2"/>
              <a:buChar char="Ø"/>
              <a:defRPr/>
            </a:pPr>
            <a:endParaRPr lang="en-US" altLang="ja-JP" sz="1517"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タイトル 4">
            <a:extLst>
              <a:ext uri="{FF2B5EF4-FFF2-40B4-BE49-F238E27FC236}">
                <a16:creationId xmlns:a16="http://schemas.microsoft.com/office/drawing/2014/main" id="{804749C8-D534-D9E1-EFE1-D4860F0FFDC4}"/>
              </a:ext>
            </a:extLst>
          </p:cNvPr>
          <p:cNvSpPr>
            <a:spLocks noGrp="1"/>
          </p:cNvSpPr>
          <p:nvPr>
            <p:ph type="title"/>
          </p:nvPr>
        </p:nvSpPr>
        <p:spPr>
          <a:xfrm>
            <a:off x="304800" y="457201"/>
            <a:ext cx="9372600" cy="457200"/>
          </a:xfrm>
        </p:spPr>
        <p:txBody>
          <a:bodyPr>
            <a:normAutofit fontScale="90000"/>
          </a:bodyPr>
          <a:lstStyle/>
          <a:p>
            <a:pPr eaLnBrk="1" hangingPunct="1"/>
            <a:r>
              <a:rPr lang="en-US" altLang="ja-JP" dirty="0"/>
              <a:t>DI (Dependence Injection) </a:t>
            </a:r>
            <a:r>
              <a:rPr lang="en-US" altLang="ja-JP" dirty="0" err="1"/>
              <a:t>trong</a:t>
            </a:r>
            <a:r>
              <a:rPr lang="en-US" altLang="ja-JP" dirty="0"/>
              <a:t> </a:t>
            </a:r>
            <a:r>
              <a:rPr lang="en-US" altLang="ja-JP" dirty="0" err="1"/>
              <a:t>SpringBoot</a:t>
            </a:r>
            <a:endParaRPr lang="ja-JP" altLang="en-US" dirty="0"/>
          </a:p>
        </p:txBody>
      </p:sp>
      <p:sp>
        <p:nvSpPr>
          <p:cNvPr id="6" name="コンテンツ プレースホルダー 5">
            <a:extLst>
              <a:ext uri="{FF2B5EF4-FFF2-40B4-BE49-F238E27FC236}">
                <a16:creationId xmlns:a16="http://schemas.microsoft.com/office/drawing/2014/main" id="{0EF0FD75-B075-2BB3-6627-1205C728C4D5}"/>
              </a:ext>
            </a:extLst>
          </p:cNvPr>
          <p:cNvSpPr>
            <a:spLocks noGrp="1"/>
          </p:cNvSpPr>
          <p:nvPr>
            <p:ph idx="1"/>
          </p:nvPr>
        </p:nvSpPr>
        <p:spPr>
          <a:xfrm>
            <a:off x="457200" y="1219201"/>
            <a:ext cx="8889869" cy="4933950"/>
          </a:xfrm>
        </p:spPr>
        <p:txBody>
          <a:bodyPr rtlCol="0">
            <a:normAutofit/>
          </a:bodyPr>
          <a:lstStyle/>
          <a:p>
            <a:pPr algn="just" fontAlgn="auto">
              <a:spcAft>
                <a:spcPts val="0"/>
              </a:spcAft>
              <a:buFont typeface="Wingdings 3" charset="2"/>
              <a:buChar char=""/>
              <a:defRPr/>
            </a:pP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(Inversion of Control – </a:t>
            </a:r>
            <a:r>
              <a:rPr lang="en-US" altLang="ja-JP" sz="1517" dirty="0" err="1">
                <a:latin typeface="Arial" panose="020B0604020202020204" pitchFamily="34" charset="0"/>
                <a:cs typeface="Arial" panose="020B0604020202020204" pitchFamily="34" charset="0"/>
              </a:rPr>
              <a:t>Đảo</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ngược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sự</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điều</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khiển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framework </a:t>
            </a:r>
            <a:r>
              <a:rPr lang="en-US" altLang="ja-JP" sz="1517" dirty="0" err="1">
                <a:latin typeface="Arial" panose="020B0604020202020204" pitchFamily="34" charset="0"/>
                <a:cs typeface="Arial" panose="020B0604020202020204" pitchFamily="34" charset="0"/>
              </a:rPr>
              <a:t>sẽ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có</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các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thành</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phần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làm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nhiệm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vụ</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tạo</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quản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đối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tượng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Trước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đây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khi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tạo</a:t>
            </a:r>
            <a:r>
              <a:rPr lang="en-US" altLang="ja-JP" sz="1517" dirty="0">
                <a:latin typeface="Arial" panose="020B0604020202020204" pitchFamily="34" charset="0"/>
                <a:cs typeface="Arial" panose="020B0604020202020204" pitchFamily="34" charset="0"/>
              </a:rPr>
              <a:t> 1 module </a:t>
            </a:r>
            <a:r>
              <a:rPr lang="en-US" altLang="ja-JP" sz="1517" dirty="0" err="1">
                <a:latin typeface="Arial" panose="020B0604020202020204" pitchFamily="34" charset="0"/>
                <a:cs typeface="Arial" panose="020B0604020202020204" pitchFamily="34" charset="0"/>
              </a:rPr>
              <a:t>mới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thì</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thường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sử</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 keyword new </a:t>
            </a:r>
            <a:r>
              <a:rPr lang="en-US" altLang="ja-JP" sz="1517" dirty="0" err="1">
                <a:latin typeface="Arial" panose="020B0604020202020204" pitchFamily="34" charset="0"/>
                <a:cs typeface="Arial" panose="020B0604020202020204" pitchFamily="34" charset="0"/>
              </a:rPr>
              <a:t>để</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tạo</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đối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tượng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Tuy</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nhiên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nhờ</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việc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sử</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framework </a:t>
            </a:r>
            <a:r>
              <a:rPr lang="en-US" altLang="ja-JP" sz="1517" dirty="0" err="1">
                <a:latin typeface="Arial" panose="020B0604020202020204" pitchFamily="34" charset="0"/>
                <a:cs typeface="Arial" panose="020B0604020202020204" pitchFamily="34" charset="0"/>
              </a:rPr>
              <a:t>thì</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sẽ</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không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phải</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dùng</a:t>
            </a:r>
            <a:r>
              <a:rPr lang="en-US" altLang="ja-JP" sz="1517" dirty="0">
                <a:latin typeface="Arial" panose="020B0604020202020204" pitchFamily="34" charset="0"/>
                <a:cs typeface="Arial" panose="020B0604020202020204" pitchFamily="34" charset="0"/>
              </a:rPr>
              <a:t> key word new.</a:t>
            </a:r>
          </a:p>
          <a:p>
            <a:pPr marL="634584" lvl="1" indent="-309553" algn="just" fontAlgn="auto">
              <a:spcAft>
                <a:spcPts val="0"/>
              </a:spcAft>
              <a:buFont typeface="Wingdings 3" charset="2"/>
              <a:buChar char=""/>
              <a:defRPr/>
            </a:pPr>
            <a:r>
              <a:rPr lang="en-US" altLang="ja-JP" sz="1354" dirty="0" err="1">
                <a:latin typeface="Arial" panose="020B0604020202020204" pitchFamily="34" charset="0"/>
                <a:cs typeface="Arial" panose="020B0604020202020204" pitchFamily="34" charset="0"/>
              </a:rPr>
              <a:t>Gắn</a:t>
            </a:r>
            <a:r>
              <a:rPr lang="en-US" altLang="ja-JP" sz="1354" dirty="0">
                <a:latin typeface="Arial" panose="020B0604020202020204" pitchFamily="34" charset="0"/>
                <a:cs typeface="Arial" panose="020B0604020202020204" pitchFamily="34" charset="0"/>
              </a:rPr>
              <a:t> @Component annotation </a:t>
            </a:r>
            <a:r>
              <a:rPr lang="en-US" altLang="ja-JP" sz="1354" dirty="0" err="1">
                <a:latin typeface="Arial" panose="020B0604020202020204" pitchFamily="34" charset="0"/>
                <a:cs typeface="Arial" panose="020B0604020202020204" pitchFamily="34" charset="0"/>
              </a:rPr>
              <a:t>vào</a:t>
            </a:r>
            <a:r>
              <a:rPr lang="en-US" altLang="ja-JP" sz="1354" dirty="0">
                <a:latin typeface="Arial" panose="020B0604020202020204" pitchFamily="34" charset="0"/>
                <a:cs typeface="Arial" panose="020B0604020202020204" pitchFamily="34" charset="0"/>
              </a:rPr>
              <a:t> 1 module.</a:t>
            </a:r>
          </a:p>
          <a:p>
            <a:pPr marL="634584" lvl="1" indent="-309553" algn="just" fontAlgn="auto">
              <a:spcAft>
                <a:spcPts val="0"/>
              </a:spcAft>
              <a:buFont typeface="Wingdings 3" charset="2"/>
              <a:buChar char=""/>
              <a:defRPr/>
            </a:pPr>
            <a:r>
              <a:rPr lang="en-US" altLang="ja-JP" sz="1354" dirty="0">
                <a:latin typeface="Arial" panose="020B0604020202020204" pitchFamily="34" charset="0"/>
                <a:cs typeface="Arial" panose="020B0604020202020204" pitchFamily="34" charset="0"/>
              </a:rPr>
              <a:t>@</a:t>
            </a:r>
            <a:r>
              <a:rPr lang="en-US" altLang="ja-JP" sz="1354" dirty="0" err="1">
                <a:latin typeface="Arial" panose="020B0604020202020204" pitchFamily="34" charset="0"/>
                <a:cs typeface="Arial" panose="020B0604020202020204" pitchFamily="34" charset="0"/>
              </a:rPr>
              <a:t>Autowired</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Chỗ</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nào</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cần</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sử</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dụng</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thì</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sẽ</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khai</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báo</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biến</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số</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với</a:t>
            </a:r>
            <a:r>
              <a:rPr lang="en-US" altLang="ja-JP" sz="1354" dirty="0">
                <a:latin typeface="Arial" panose="020B0604020202020204" pitchFamily="34" charset="0"/>
                <a:cs typeface="Arial" panose="020B0604020202020204" pitchFamily="34" charset="0"/>
              </a:rPr>
              <a:t> annotation </a:t>
            </a:r>
            <a:r>
              <a:rPr lang="en-US" altLang="ja-JP" sz="1354" dirty="0" err="1">
                <a:latin typeface="Arial" panose="020B0604020202020204" pitchFamily="34" charset="0"/>
                <a:cs typeface="Arial" panose="020B0604020202020204" pitchFamily="34" charset="0"/>
              </a:rPr>
              <a:t>này</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IoC</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sẽ</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tìm</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ra</a:t>
            </a:r>
            <a:r>
              <a:rPr lang="en-US" altLang="ja-JP" sz="1354" dirty="0">
                <a:latin typeface="Arial" panose="020B0604020202020204" pitchFamily="34" charset="0"/>
                <a:cs typeface="Arial" panose="020B0604020202020204" pitchFamily="34" charset="0"/>
              </a:rPr>
              <a:t> module </a:t>
            </a:r>
            <a:r>
              <a:rPr lang="en-US" altLang="ja-JP" sz="1354" dirty="0" err="1">
                <a:latin typeface="Arial" panose="020B0604020202020204" pitchFamily="34" charset="0"/>
                <a:cs typeface="Arial" panose="020B0604020202020204" pitchFamily="34" charset="0"/>
              </a:rPr>
              <a:t>tương</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ứng</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đã</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tạo</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từ</a:t>
            </a:r>
            <a:r>
              <a:rPr lang="en-US" altLang="ja-JP" sz="1354" dirty="0">
                <a:latin typeface="Arial" panose="020B0604020202020204" pitchFamily="34" charset="0"/>
                <a:cs typeface="Arial" panose="020B0604020202020204" pitchFamily="34" charset="0"/>
              </a:rPr>
              <a:t> </a:t>
            </a:r>
            <a:r>
              <a:rPr lang="en-US" altLang="ja-JP" sz="1354" dirty="0" err="1">
                <a:latin typeface="Arial" panose="020B0604020202020204" pitchFamily="34" charset="0"/>
                <a:cs typeface="Arial" panose="020B0604020202020204" pitchFamily="34" charset="0"/>
              </a:rPr>
              <a:t>trước</a:t>
            </a:r>
            <a:r>
              <a:rPr lang="en-US" altLang="ja-JP" sz="1354" dirty="0">
                <a:latin typeface="Arial" panose="020B0604020202020204" pitchFamily="34" charset="0"/>
                <a:cs typeface="Arial" panose="020B0604020202020204" pitchFamily="34" charset="0"/>
              </a:rPr>
              <a:t> và inject </a:t>
            </a:r>
            <a:r>
              <a:rPr lang="en-US" altLang="ja-JP" sz="1354" dirty="0" err="1">
                <a:latin typeface="Arial" panose="020B0604020202020204" pitchFamily="34" charset="0"/>
                <a:cs typeface="Arial" panose="020B0604020202020204" pitchFamily="34" charset="0"/>
              </a:rPr>
              <a:t>vào</a:t>
            </a:r>
            <a:r>
              <a:rPr lang="en-US" altLang="ja-JP" sz="1354" dirty="0">
                <a:latin typeface="Arial" panose="020B0604020202020204" pitchFamily="34" charset="0"/>
                <a:cs typeface="Arial" panose="020B0604020202020204" pitchFamily="34" charset="0"/>
              </a:rPr>
              <a:t>.</a:t>
            </a:r>
          </a:p>
          <a:p>
            <a:pPr marL="309553" indent="-309553" algn="just" fontAlgn="auto">
              <a:spcAft>
                <a:spcPts val="0"/>
              </a:spcAft>
              <a:buFont typeface="Wingdings 3" charset="2"/>
              <a:buChar char=""/>
              <a:defRPr/>
            </a:pPr>
            <a:r>
              <a:rPr lang="en-US" altLang="ja-JP" sz="1517" dirty="0" err="1">
                <a:latin typeface="Arial" panose="020B0604020202020204" pitchFamily="34" charset="0"/>
                <a:cs typeface="Arial" panose="020B0604020202020204" pitchFamily="34" charset="0"/>
              </a:rPr>
              <a:t>IoC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có</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nhiều</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kiểu</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để</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thực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hiện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nhưng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phổ</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biến</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là</a:t>
            </a:r>
            <a:r>
              <a:rPr lang="en-US" altLang="ja-JP" sz="1517" dirty="0">
                <a:latin typeface="Arial" panose="020B0604020202020204" pitchFamily="34" charset="0"/>
                <a:cs typeface="Arial" panose="020B0604020202020204" pitchFamily="34" charset="0"/>
              </a:rPr>
              <a:t> Dependency Injection</a:t>
            </a:r>
          </a:p>
          <a:p>
            <a:pPr marL="309553" indent="-309553" algn="just" fontAlgn="auto">
              <a:spcAft>
                <a:spcPts val="0"/>
              </a:spcAft>
              <a:buFont typeface="Wingdings 3" charset="2"/>
              <a:buChar char=""/>
              <a:defRPr/>
            </a:pPr>
            <a:r>
              <a:rPr lang="vi-VN" altLang="ja-JP" sz="1517" dirty="0">
                <a:solidFill>
                  <a:schemeClr val="tx1">
                    <a:lumMod val="75000"/>
                    <a:lumOff val="25000"/>
                  </a:schemeClr>
                </a:solidFill>
              </a:rPr>
              <a:t>Nếu khi tạo module nào đó, mà module đó cần một module khác phụ thuộc, thì IoC sẽ tìm trong IoC container xem có không, nếu có thì inject vào, nếu chưa thì tạo mới, bỏ vào container và inject vào. Việc inject tự động các dependency (module) như thế được gọi là </a:t>
            </a:r>
            <a:r>
              <a:rPr lang="vi-VN" altLang="ja-JP" sz="1517" b="1" dirty="0">
                <a:solidFill>
                  <a:schemeClr val="tx1">
                    <a:lumMod val="75000"/>
                    <a:lumOff val="25000"/>
                  </a:schemeClr>
                </a:solidFill>
              </a:rPr>
              <a:t>Dependency injection</a:t>
            </a:r>
            <a:r>
              <a:rPr lang="vi-VN" altLang="ja-JP" sz="1517" dirty="0">
                <a:solidFill>
                  <a:schemeClr val="tx1">
                    <a:lumMod val="75000"/>
                    <a:lumOff val="25000"/>
                  </a:schemeClr>
                </a:solidFill>
              </a:rPr>
              <a:t>.</a:t>
            </a:r>
            <a:endParaRPr lang="en-US" altLang="ja-JP" sz="1517" dirty="0">
              <a:solidFill>
                <a:schemeClr val="tx1">
                  <a:lumMod val="75000"/>
                  <a:lumOff val="25000"/>
                </a:schemeClr>
              </a:solidFill>
            </a:endParaRPr>
          </a:p>
          <a:p>
            <a:pPr marL="309553" indent="-309553" algn="just" fontAlgn="auto">
              <a:spcAft>
                <a:spcPts val="0"/>
              </a:spcAft>
              <a:buFont typeface="Wingdings 3" charset="2"/>
              <a:buChar char=""/>
              <a:defRPr/>
            </a:pPr>
            <a:r>
              <a:rPr lang="en-US" altLang="ja-JP" sz="1517" dirty="0" err="1">
                <a:latin typeface="Arial" panose="020B0604020202020204" pitchFamily="34" charset="0"/>
                <a:cs typeface="Arial" panose="020B0604020202020204" pitchFamily="34" charset="0"/>
              </a:rPr>
              <a:t>Các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loại</a:t>
            </a:r>
            <a:r>
              <a:rPr lang="en-US" altLang="ja-JP" sz="1517" dirty="0">
                <a:latin typeface="Arial" panose="020B0604020202020204" pitchFamily="34" charset="0"/>
                <a:cs typeface="Arial" panose="020B0604020202020204" pitchFamily="34" charset="0"/>
              </a:rPr>
              <a:t> DI</a:t>
            </a:r>
          </a:p>
          <a:p>
            <a:pPr marL="634584" lvl="1" indent="-309553" algn="just" fontAlgn="auto">
              <a:spcAft>
                <a:spcPts val="0"/>
              </a:spcAft>
              <a:buFont typeface="Wingdings 3" charset="2"/>
              <a:buChar char=""/>
              <a:defRPr/>
            </a:pPr>
            <a:r>
              <a:rPr lang="en-US" altLang="ja-JP" sz="1354" dirty="0">
                <a:latin typeface="Arial" panose="020B0604020202020204" pitchFamily="34" charset="0"/>
                <a:cs typeface="Arial" panose="020B0604020202020204" pitchFamily="34" charset="0"/>
              </a:rPr>
              <a:t>Constructor Injection</a:t>
            </a:r>
          </a:p>
          <a:p>
            <a:pPr marL="634584" lvl="1" indent="-309553" algn="just" fontAlgn="auto">
              <a:spcAft>
                <a:spcPts val="0"/>
              </a:spcAft>
              <a:buFont typeface="Wingdings 3" charset="2"/>
              <a:buChar char=""/>
              <a:defRPr/>
            </a:pPr>
            <a:r>
              <a:rPr lang="en-US" altLang="ja-JP" sz="1354" dirty="0">
                <a:latin typeface="Arial" panose="020B0604020202020204" pitchFamily="34" charset="0"/>
                <a:cs typeface="Arial" panose="020B0604020202020204" pitchFamily="34" charset="0"/>
              </a:rPr>
              <a:t>Setter Injection</a:t>
            </a:r>
          </a:p>
          <a:p>
            <a:pPr marL="634584" lvl="1" indent="-309553" algn="just" fontAlgn="auto">
              <a:spcAft>
                <a:spcPts val="0"/>
              </a:spcAft>
              <a:buFont typeface="Wingdings 3" charset="2"/>
              <a:buChar char=""/>
              <a:defRPr/>
            </a:pPr>
            <a:r>
              <a:rPr lang="en-US" altLang="ja-JP" dirty="0">
                <a:solidFill>
                  <a:schemeClr val="tx1"/>
                </a:solidFill>
                <a:latin typeface="Arial" panose="020B0604020202020204" pitchFamily="34" charset="0"/>
                <a:cs typeface="Arial" panose="020B0604020202020204" pitchFamily="34" charset="0"/>
              </a:rPr>
              <a:t>Field or Property-Based Dependency Injection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タイトル 4">
            <a:extLst>
              <a:ext uri="{FF2B5EF4-FFF2-40B4-BE49-F238E27FC236}">
                <a16:creationId xmlns:a16="http://schemas.microsoft.com/office/drawing/2014/main" id="{E24F6327-32F7-E7B3-D035-6BECB05635DB}"/>
              </a:ext>
            </a:extLst>
          </p:cNvPr>
          <p:cNvSpPr>
            <a:spLocks noGrp="1"/>
          </p:cNvSpPr>
          <p:nvPr>
            <p:ph type="title"/>
          </p:nvPr>
        </p:nvSpPr>
        <p:spPr>
          <a:xfrm>
            <a:off x="228600" y="482241"/>
            <a:ext cx="9042269" cy="445218"/>
          </a:xfrm>
        </p:spPr>
        <p:txBody>
          <a:bodyPr>
            <a:normAutofit fontScale="90000"/>
          </a:bodyPr>
          <a:lstStyle/>
          <a:p>
            <a:pPr eaLnBrk="1" hangingPunct="1"/>
            <a:r>
              <a:rPr lang="en-US" altLang="ja-JP" dirty="0"/>
              <a:t>DI (Dependence Injection) </a:t>
            </a:r>
            <a:r>
              <a:rPr lang="en-US" altLang="ja-JP" dirty="0" err="1"/>
              <a:t>trong</a:t>
            </a:r>
            <a:r>
              <a:rPr lang="en-US" altLang="ja-JP" dirty="0"/>
              <a:t> </a:t>
            </a:r>
            <a:r>
              <a:rPr lang="en-US" altLang="ja-JP" dirty="0" err="1"/>
              <a:t>SpringBoot</a:t>
            </a:r>
            <a:endParaRPr lang="ja-JP" altLang="en-US" dirty="0"/>
          </a:p>
        </p:txBody>
      </p:sp>
      <p:sp>
        <p:nvSpPr>
          <p:cNvPr id="6" name="コンテンツ プレースホルダー 5">
            <a:extLst>
              <a:ext uri="{FF2B5EF4-FFF2-40B4-BE49-F238E27FC236}">
                <a16:creationId xmlns:a16="http://schemas.microsoft.com/office/drawing/2014/main" id="{C3A44485-8C12-F84D-6C0D-9BFAEB2F0AE7}"/>
              </a:ext>
            </a:extLst>
          </p:cNvPr>
          <p:cNvSpPr>
            <a:spLocks noGrp="1"/>
          </p:cNvSpPr>
          <p:nvPr>
            <p:ph idx="1"/>
          </p:nvPr>
        </p:nvSpPr>
        <p:spPr>
          <a:xfrm>
            <a:off x="304800" y="1219200"/>
            <a:ext cx="9042269" cy="4933950"/>
          </a:xfrm>
        </p:spPr>
        <p:txBody>
          <a:bodyPr rtlCol="0">
            <a:normAutofit/>
          </a:bodyPr>
          <a:lstStyle/>
          <a:p>
            <a:pPr marL="309553" indent="-309553"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Constructor Dependency Injection (CDI): </a:t>
            </a:r>
            <a:r>
              <a:rPr lang="en-US" altLang="ja-JP" sz="1517" dirty="0" err="1">
                <a:latin typeface="Arial" panose="020B0604020202020204" pitchFamily="34" charset="0"/>
                <a:cs typeface="Arial" panose="020B0604020202020204" pitchFamily="34" charset="0"/>
              </a:rPr>
              <a:t>tiêm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phụ</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thuộc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bằng</a:t>
            </a:r>
            <a:r>
              <a:rPr lang="en-US" altLang="ja-JP" sz="1517" dirty="0">
                <a:latin typeface="Arial" panose="020B0604020202020204" pitchFamily="34" charset="0"/>
                <a:cs typeface="Arial" panose="020B0604020202020204" pitchFamily="34" charset="0"/>
              </a:rPr>
              <a:t> parameter </a:t>
            </a:r>
            <a:r>
              <a:rPr lang="en-US" altLang="ja-JP" sz="1517" dirty="0" err="1">
                <a:latin typeface="Arial" panose="020B0604020202020204" pitchFamily="34" charset="0"/>
                <a:cs typeface="Arial" panose="020B0604020202020204" pitchFamily="34" charset="0"/>
              </a:rPr>
              <a:t>của</a:t>
            </a:r>
            <a:r>
              <a:rPr lang="en-US" altLang="ja-JP" sz="1517" dirty="0">
                <a:latin typeface="Arial" panose="020B0604020202020204" pitchFamily="34" charset="0"/>
                <a:cs typeface="Arial" panose="020B0604020202020204" pitchFamily="34" charset="0"/>
              </a:rPr>
              <a:t> constructor</a:t>
            </a: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25031" lvl="1" indent="0" algn="just" fontAlgn="auto">
              <a:spcAft>
                <a:spcPts val="0"/>
              </a:spcAft>
              <a:buNone/>
              <a:defRPr/>
            </a:pPr>
            <a:endParaRPr lang="en-US" altLang="ja-JP" sz="1517" dirty="0">
              <a:latin typeface="Arial" panose="020B0604020202020204" pitchFamily="34" charset="0"/>
              <a:cs typeface="Arial" panose="020B0604020202020204" pitchFamily="34" charset="0"/>
            </a:endParaRPr>
          </a:p>
          <a:p>
            <a:pPr marL="325031" lvl="1" indent="0" algn="just" fontAlgn="auto">
              <a:spcAft>
                <a:spcPts val="0"/>
              </a:spcAft>
              <a:buNone/>
              <a:defRPr/>
            </a:pPr>
            <a:endParaRPr lang="en-US" altLang="ja-JP" sz="1354"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Setter Dependency Injection (SDI): </a:t>
            </a:r>
            <a:r>
              <a:rPr lang="en-US" altLang="ja-JP" sz="1517" dirty="0" err="1">
                <a:latin typeface="Arial" panose="020B0604020202020204" pitchFamily="34" charset="0"/>
                <a:cs typeface="Arial" panose="020B0604020202020204" pitchFamily="34" charset="0"/>
              </a:rPr>
              <a:t>tiêm</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phụ</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thuộc</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bằng</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cách</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sử</a:t>
            </a:r>
            <a:r>
              <a:rPr lang="en-US" altLang="ja-JP" sz="1517" dirty="0">
                <a:latin typeface="Arial" panose="020B0604020202020204" pitchFamily="34" charset="0"/>
                <a:cs typeface="Arial" panose="020B0604020202020204" pitchFamily="34" charset="0"/>
              </a:rPr>
              <a:t> </a:t>
            </a:r>
            <a:r>
              <a:rPr lang="en-US" altLang="ja-JP" sz="1517" dirty="0" err="1">
                <a:latin typeface="Arial" panose="020B0604020202020204" pitchFamily="34" charset="0"/>
                <a:cs typeface="Arial" panose="020B0604020202020204" pitchFamily="34" charset="0"/>
              </a:rPr>
              <a:t>dụng</a:t>
            </a:r>
            <a:r>
              <a:rPr lang="en-US" altLang="ja-JP" sz="1517" dirty="0">
                <a:latin typeface="Arial" panose="020B0604020202020204" pitchFamily="34" charset="0"/>
                <a:cs typeface="Arial" panose="020B0604020202020204" pitchFamily="34" charset="0"/>
              </a:rPr>
              <a:t> setter method</a:t>
            </a: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r>
              <a:rPr lang="en-US" altLang="ja-JP" sz="1517" dirty="0">
                <a:latin typeface="Arial" panose="020B0604020202020204" pitchFamily="34" charset="0"/>
                <a:cs typeface="Arial" panose="020B0604020202020204" pitchFamily="34" charset="0"/>
              </a:rPr>
              <a:t>Field or Property-Based Dependency Injection</a:t>
            </a: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a:p>
            <a:pPr marL="309553" indent="-309553" algn="just" fontAlgn="auto">
              <a:spcAft>
                <a:spcPts val="0"/>
              </a:spcAft>
              <a:buFont typeface="Wingdings 3" charset="2"/>
              <a:buChar char=""/>
              <a:defRPr/>
            </a:pPr>
            <a:endParaRPr lang="en-US" altLang="ja-JP" sz="1517" dirty="0">
              <a:latin typeface="Arial" panose="020B0604020202020204" pitchFamily="34" charset="0"/>
              <a:cs typeface="Arial" panose="020B0604020202020204" pitchFamily="34" charset="0"/>
            </a:endParaRPr>
          </a:p>
        </p:txBody>
      </p:sp>
      <p:sp>
        <p:nvSpPr>
          <p:cNvPr id="24580" name="Rectangle 1">
            <a:extLst>
              <a:ext uri="{FF2B5EF4-FFF2-40B4-BE49-F238E27FC236}">
                <a16:creationId xmlns:a16="http://schemas.microsoft.com/office/drawing/2014/main" id="{BCF933A9-C215-7869-F266-9297751CE72A}"/>
              </a:ext>
            </a:extLst>
          </p:cNvPr>
          <p:cNvSpPr>
            <a:spLocks noChangeArrowheads="1"/>
          </p:cNvSpPr>
          <p:nvPr/>
        </p:nvSpPr>
        <p:spPr bwMode="auto">
          <a:xfrm>
            <a:off x="990600" y="1932503"/>
            <a:ext cx="5365750" cy="55887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OfferSearchService</a:t>
            </a:r>
            <a:r>
              <a:rPr lang="ja-JP" altLang="ja-JP" sz="758" dirty="0">
                <a:solidFill>
                  <a:srgbClr val="080808"/>
                </a:solidFill>
                <a:latin typeface="Arial Unicode MS" pitchFamily="50" charset="-128"/>
                <a:ea typeface="Inconsolata" pitchFamily="2" charset="0"/>
                <a:cs typeface="Inconsolata" pitchFamily="2" charset="0"/>
              </a:rPr>
              <a:t>(</a:t>
            </a:r>
            <a:r>
              <a:rPr lang="ja-JP" altLang="ja-JP" sz="758" dirty="0">
                <a:solidFill>
                  <a:srgbClr val="0033B3"/>
                </a:solidFill>
                <a:latin typeface="Arial Unicode MS" pitchFamily="50" charset="-128"/>
                <a:ea typeface="Inconsolata" pitchFamily="2" charset="0"/>
                <a:cs typeface="Inconsolata" pitchFamily="2" charset="0"/>
              </a:rPr>
              <a:t>private val </a:t>
            </a:r>
            <a:r>
              <a:rPr lang="ja-JP" altLang="ja-JP" sz="758" dirty="0">
                <a:solidFill>
                  <a:srgbClr val="871094"/>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0000"/>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endParaRPr lang="en-US" altLang="ja-JP" sz="758" dirty="0">
              <a:solidFill>
                <a:srgbClr val="080808"/>
              </a:solidFill>
              <a:latin typeface="Arial Unicode MS" pitchFamily="50" charset="-128"/>
              <a:ea typeface="Inconsolata" pitchFamily="2" charset="0"/>
              <a:cs typeface="Inconsolata" pitchFamily="2" charset="0"/>
            </a:endParaRPr>
          </a:p>
          <a:p>
            <a:r>
              <a:rPr lang="en-US" altLang="ja-JP" sz="758" dirty="0">
                <a:solidFill>
                  <a:srgbClr val="080808"/>
                </a:solidFill>
                <a:latin typeface="Arial Unicode MS" pitchFamily="50" charset="-128"/>
                <a:ea typeface="Inconsolata" pitchFamily="2" charset="0"/>
                <a:cs typeface="Inconsolata" pitchFamily="2" charset="0"/>
              </a:rPr>
              <a:t>…</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
        <p:nvSpPr>
          <p:cNvPr id="24581" name="Rectangle 2">
            <a:extLst>
              <a:ext uri="{FF2B5EF4-FFF2-40B4-BE49-F238E27FC236}">
                <a16:creationId xmlns:a16="http://schemas.microsoft.com/office/drawing/2014/main" id="{F1B3B65F-C270-4AE7-12E5-068A073A0FAF}"/>
              </a:ext>
            </a:extLst>
          </p:cNvPr>
          <p:cNvSpPr>
            <a:spLocks noChangeArrowheads="1"/>
          </p:cNvSpPr>
          <p:nvPr/>
        </p:nvSpPr>
        <p:spPr bwMode="auto">
          <a:xfrm>
            <a:off x="990600" y="1573616"/>
            <a:ext cx="4540250" cy="3256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ApiCaller </a:t>
            </a:r>
            <a:r>
              <a:rPr lang="ja-JP" altLang="ja-JP" sz="758" dirty="0">
                <a:solidFill>
                  <a:srgbClr val="080808"/>
                </a:solidFill>
                <a:latin typeface="Arial Unicode MS" pitchFamily="50" charset="-128"/>
                <a:ea typeface="Inconsolata" pitchFamily="2" charset="0"/>
                <a:cs typeface="Inconsolata" pitchFamily="2" charset="0"/>
              </a:rPr>
              <a:t>{</a:t>
            </a: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
        <p:nvSpPr>
          <p:cNvPr id="24582" name="Rectangle 1">
            <a:extLst>
              <a:ext uri="{FF2B5EF4-FFF2-40B4-BE49-F238E27FC236}">
                <a16:creationId xmlns:a16="http://schemas.microsoft.com/office/drawing/2014/main" id="{4080AEA9-E324-D1E2-4BA7-0083D7420B93}"/>
              </a:ext>
            </a:extLst>
          </p:cNvPr>
          <p:cNvSpPr>
            <a:spLocks noChangeArrowheads="1"/>
          </p:cNvSpPr>
          <p:nvPr/>
        </p:nvSpPr>
        <p:spPr bwMode="auto">
          <a:xfrm>
            <a:off x="990600" y="4495800"/>
            <a:ext cx="5365750" cy="6755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OfferSearchService</a:t>
            </a:r>
            <a:r>
              <a:rPr lang="ja-JP" altLang="ja-JP" sz="758" dirty="0">
                <a:solidFill>
                  <a:srgbClr val="080808"/>
                </a:solidFill>
                <a:latin typeface="Arial Unicode MS" pitchFamily="50" charset="-128"/>
                <a:ea typeface="Inconsolata" pitchFamily="2" charset="0"/>
                <a:cs typeface="Inconsolata" pitchFamily="2" charset="0"/>
              </a:rPr>
              <a:t>() {</a:t>
            </a:r>
            <a:endParaRPr lang="en-US" altLang="ja-JP" sz="758" dirty="0">
              <a:solidFill>
                <a:srgbClr val="080808"/>
              </a:solidFill>
              <a:latin typeface="Arial Unicode MS" pitchFamily="50" charset="-128"/>
              <a:ea typeface="Inconsolata" pitchFamily="2" charset="0"/>
              <a:cs typeface="Inconsolata" pitchFamily="2" charset="0"/>
            </a:endParaRPr>
          </a:p>
          <a:p>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9E880D"/>
                </a:solidFill>
                <a:latin typeface="Arial Unicode MS" pitchFamily="50" charset="-128"/>
                <a:ea typeface="Inconsolata" pitchFamily="2" charset="0"/>
                <a:cs typeface="Inconsolata" pitchFamily="2" charset="0"/>
              </a:rPr>
              <a:t>@</a:t>
            </a:r>
            <a:r>
              <a:rPr lang="en-US" altLang="ja-JP" sz="758" dirty="0" err="1">
                <a:solidFill>
                  <a:srgbClr val="9E880D"/>
                </a:solidFill>
                <a:latin typeface="Arial Unicode MS" pitchFamily="50" charset="-128"/>
                <a:ea typeface="Inconsolata" pitchFamily="2" charset="0"/>
                <a:cs typeface="Inconsolata" pitchFamily="2" charset="0"/>
              </a:rPr>
              <a:t>Autowired</a:t>
            </a:r>
            <a:br>
              <a:rPr lang="ja-JP" altLang="ja-JP" sz="758" dirty="0">
                <a:solidFill>
                  <a:srgbClr val="9E880D"/>
                </a:solidFill>
                <a:latin typeface="Arial Unicode MS" pitchFamily="50" charset="-128"/>
                <a:ea typeface="Inconsolata" pitchFamily="2" charset="0"/>
                <a:cs typeface="Inconsolata" pitchFamily="2" charset="0"/>
              </a:rPr>
            </a:br>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0033B3"/>
                </a:solidFill>
                <a:latin typeface="Arial Unicode MS" pitchFamily="50" charset="-128"/>
                <a:ea typeface="Inconsolata" pitchFamily="2" charset="0"/>
                <a:cs typeface="Inconsolata" pitchFamily="2" charset="0"/>
              </a:rPr>
              <a:t>private </a:t>
            </a:r>
            <a:r>
              <a:rPr lang="en-US" altLang="ja-JP" sz="758" dirty="0">
                <a:solidFill>
                  <a:srgbClr val="0033B3"/>
                </a:solidFill>
                <a:latin typeface="Arial Unicode MS" pitchFamily="50" charset="-128"/>
                <a:ea typeface="Inconsolata" pitchFamily="2" charset="0"/>
                <a:cs typeface="Inconsolata" pitchFamily="2" charset="0"/>
              </a:rPr>
              <a:t>late </a:t>
            </a:r>
            <a:r>
              <a:rPr lang="en-US" altLang="ja-JP" sz="758" dirty="0" err="1">
                <a:solidFill>
                  <a:srgbClr val="0033B3"/>
                </a:solidFill>
                <a:latin typeface="Arial Unicode MS" pitchFamily="50" charset="-128"/>
                <a:ea typeface="Inconsolata" pitchFamily="2" charset="0"/>
                <a:cs typeface="Inconsolata" pitchFamily="2" charset="0"/>
              </a:rPr>
              <a:t>init</a:t>
            </a:r>
            <a:r>
              <a:rPr lang="en-US" altLang="ja-JP" sz="758" dirty="0">
                <a:solidFill>
                  <a:srgbClr val="0033B3"/>
                </a:solidFill>
                <a:latin typeface="Arial Unicode MS" pitchFamily="50" charset="-128"/>
                <a:ea typeface="Inconsolata" pitchFamily="2" charset="0"/>
                <a:cs typeface="Inconsolata" pitchFamily="2" charset="0"/>
              </a:rPr>
              <a:t> var</a:t>
            </a:r>
            <a:r>
              <a:rPr lang="ja-JP" altLang="ja-JP" sz="758" dirty="0">
                <a:solidFill>
                  <a:srgbClr val="0033B3"/>
                </a:solidFill>
                <a:latin typeface="Arial Unicode MS" pitchFamily="50" charset="-128"/>
                <a:ea typeface="Inconsolata" pitchFamily="2" charset="0"/>
                <a:cs typeface="Inconsolata" pitchFamily="2" charset="0"/>
              </a:rPr>
              <a:t> </a:t>
            </a:r>
            <a:r>
              <a:rPr lang="ja-JP" altLang="ja-JP" sz="758" dirty="0">
                <a:solidFill>
                  <a:srgbClr val="871094"/>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0000"/>
                </a:solidFill>
                <a:latin typeface="Arial Unicode MS" pitchFamily="50" charset="-128"/>
                <a:ea typeface="Inconsolata" pitchFamily="2" charset="0"/>
                <a:cs typeface="Inconsolata" pitchFamily="2" charset="0"/>
              </a:rPr>
              <a:t>ApiCaller</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
        <p:nvSpPr>
          <p:cNvPr id="24583" name="Rectangle 1">
            <a:extLst>
              <a:ext uri="{FF2B5EF4-FFF2-40B4-BE49-F238E27FC236}">
                <a16:creationId xmlns:a16="http://schemas.microsoft.com/office/drawing/2014/main" id="{0F3F04E5-0E4C-630E-747C-AEC3E5DD53C7}"/>
              </a:ext>
            </a:extLst>
          </p:cNvPr>
          <p:cNvSpPr>
            <a:spLocks noChangeArrowheads="1"/>
          </p:cNvSpPr>
          <p:nvPr/>
        </p:nvSpPr>
        <p:spPr bwMode="auto">
          <a:xfrm>
            <a:off x="1012479" y="2916295"/>
            <a:ext cx="5365750" cy="10254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ja-JP" altLang="ja-JP" sz="758" dirty="0">
                <a:solidFill>
                  <a:srgbClr val="9E880D"/>
                </a:solidFill>
                <a:latin typeface="Arial Unicode MS" pitchFamily="50" charset="-128"/>
                <a:ea typeface="Inconsolata" pitchFamily="2" charset="0"/>
                <a:cs typeface="Inconsolata" pitchFamily="2" charset="0"/>
              </a:rPr>
              <a:t>@Service</a:t>
            </a:r>
            <a:br>
              <a:rPr lang="ja-JP" altLang="ja-JP" sz="758" dirty="0">
                <a:solidFill>
                  <a:srgbClr val="9E880D"/>
                </a:solidFill>
                <a:latin typeface="Arial Unicode MS" pitchFamily="50" charset="-128"/>
                <a:ea typeface="Inconsolata" pitchFamily="2" charset="0"/>
                <a:cs typeface="Inconsolata" pitchFamily="2" charset="0"/>
              </a:rPr>
            </a:br>
            <a:r>
              <a:rPr lang="ja-JP" altLang="ja-JP" sz="758" dirty="0">
                <a:solidFill>
                  <a:srgbClr val="0033B3"/>
                </a:solidFill>
                <a:latin typeface="Arial Unicode MS" pitchFamily="50" charset="-128"/>
                <a:ea typeface="Inconsolata" pitchFamily="2" charset="0"/>
                <a:cs typeface="Inconsolata" pitchFamily="2" charset="0"/>
              </a:rPr>
              <a:t>class </a:t>
            </a:r>
            <a:r>
              <a:rPr lang="ja-JP" altLang="ja-JP" sz="758" dirty="0">
                <a:solidFill>
                  <a:srgbClr val="000000"/>
                </a:solidFill>
                <a:latin typeface="Arial Unicode MS" pitchFamily="50" charset="-128"/>
                <a:ea typeface="Inconsolata" pitchFamily="2" charset="0"/>
                <a:cs typeface="Inconsolata" pitchFamily="2" charset="0"/>
              </a:rPr>
              <a:t>OfferSearchService</a:t>
            </a:r>
            <a:r>
              <a:rPr lang="ja-JP" altLang="ja-JP" sz="758" dirty="0">
                <a:solidFill>
                  <a:srgbClr val="080808"/>
                </a:solidFill>
                <a:latin typeface="Arial Unicode MS" pitchFamily="50" charset="-128"/>
                <a:ea typeface="Inconsolata" pitchFamily="2" charset="0"/>
                <a:cs typeface="Inconsolata" pitchFamily="2" charset="0"/>
              </a:rPr>
              <a:t>() {</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33B3"/>
                </a:solidFill>
                <a:latin typeface="Arial Unicode MS" pitchFamily="50" charset="-128"/>
                <a:ea typeface="Inconsolata" pitchFamily="2" charset="0"/>
                <a:cs typeface="Inconsolata" pitchFamily="2" charset="0"/>
              </a:rPr>
              <a:t>private </a:t>
            </a:r>
            <a:r>
              <a:rPr lang="en-US" altLang="ja-JP" sz="758" dirty="0" err="1">
                <a:solidFill>
                  <a:srgbClr val="080808"/>
                </a:solidFill>
                <a:latin typeface="Arial Unicode MS" pitchFamily="50" charset="-128"/>
                <a:ea typeface="Inconsolata" pitchFamily="2" charset="0"/>
                <a:cs typeface="Inconsolata" pitchFamily="2" charset="0"/>
              </a:rPr>
              <a:t>apiCaller</a:t>
            </a:r>
            <a:r>
              <a:rPr lang="en-US" altLang="ja-JP" sz="758" dirty="0">
                <a:solidFill>
                  <a:srgbClr val="080808"/>
                </a:solidFill>
                <a:latin typeface="Arial Unicode MS" pitchFamily="50" charset="-128"/>
                <a:ea typeface="Inconsolata" pitchFamily="2" charset="0"/>
                <a:cs typeface="Inconsolata" pitchFamily="2" charset="0"/>
              </a:rPr>
              <a:t>: </a:t>
            </a:r>
            <a:r>
              <a:rPr lang="en-US" altLang="ja-JP" sz="758" dirty="0" err="1">
                <a:solidFill>
                  <a:srgbClr val="080808"/>
                </a:solidFill>
                <a:latin typeface="Arial Unicode MS" pitchFamily="50" charset="-128"/>
                <a:ea typeface="Inconsolata" pitchFamily="2" charset="0"/>
                <a:cs typeface="Inconsolata" pitchFamily="2" charset="0"/>
              </a:rPr>
              <a:t>ApiCaller</a:t>
            </a:r>
            <a:endParaRPr lang="en-US" altLang="ja-JP" sz="758" dirty="0">
              <a:solidFill>
                <a:srgbClr val="080808"/>
              </a:solidFill>
              <a:latin typeface="Arial Unicode MS" pitchFamily="50" charset="-128"/>
              <a:ea typeface="Inconsolata" pitchFamily="2" charset="0"/>
              <a:cs typeface="Inconsolata" pitchFamily="2" charset="0"/>
            </a:endParaRPr>
          </a:p>
          <a:p>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9E880D"/>
                </a:solidFill>
                <a:latin typeface="Arial Unicode MS" pitchFamily="50" charset="-128"/>
                <a:ea typeface="Inconsolata" pitchFamily="2" charset="0"/>
                <a:cs typeface="Inconsolata" pitchFamily="2" charset="0"/>
              </a:rPr>
              <a:t>@</a:t>
            </a:r>
            <a:r>
              <a:rPr lang="en-US" altLang="ja-JP" sz="758" dirty="0" err="1">
                <a:solidFill>
                  <a:srgbClr val="9E880D"/>
                </a:solidFill>
                <a:latin typeface="Arial Unicode MS" pitchFamily="50" charset="-128"/>
                <a:ea typeface="Inconsolata" pitchFamily="2" charset="0"/>
                <a:cs typeface="Inconsolata" pitchFamily="2" charset="0"/>
              </a:rPr>
              <a:t>Autowired</a:t>
            </a:r>
            <a:br>
              <a:rPr lang="ja-JP" altLang="ja-JP" sz="758" dirty="0">
                <a:solidFill>
                  <a:srgbClr val="9E880D"/>
                </a:solidFill>
                <a:latin typeface="Arial Unicode MS" pitchFamily="50" charset="-128"/>
                <a:ea typeface="Inconsolata" pitchFamily="2" charset="0"/>
                <a:cs typeface="Inconsolata" pitchFamily="2" charset="0"/>
              </a:rPr>
            </a:br>
            <a:r>
              <a:rPr lang="en-US" altLang="ja-JP" sz="758" dirty="0">
                <a:solidFill>
                  <a:srgbClr val="9E880D"/>
                </a:solidFill>
                <a:latin typeface="Arial Unicode MS" pitchFamily="50" charset="-128"/>
                <a:ea typeface="Inconsolata" pitchFamily="2" charset="0"/>
                <a:cs typeface="Inconsolata" pitchFamily="2" charset="0"/>
              </a:rPr>
              <a:t>   </a:t>
            </a:r>
            <a:r>
              <a:rPr lang="ja-JP" altLang="ja-JP" sz="758" dirty="0">
                <a:solidFill>
                  <a:srgbClr val="0033B3"/>
                </a:solidFill>
                <a:latin typeface="Arial Unicode MS" pitchFamily="50" charset="-128"/>
                <a:ea typeface="Inconsolata" pitchFamily="2" charset="0"/>
                <a:cs typeface="Inconsolata" pitchFamily="2" charset="0"/>
              </a:rPr>
              <a:t>p</a:t>
            </a:r>
            <a:r>
              <a:rPr lang="en-US" altLang="ja-JP" sz="758" dirty="0" err="1">
                <a:solidFill>
                  <a:srgbClr val="0033B3"/>
                </a:solidFill>
                <a:latin typeface="Arial Unicode MS" pitchFamily="50" charset="-128"/>
                <a:ea typeface="Inconsolata" pitchFamily="2" charset="0"/>
                <a:cs typeface="Inconsolata" pitchFamily="2" charset="0"/>
              </a:rPr>
              <a:t>ublic</a:t>
            </a:r>
            <a:r>
              <a:rPr lang="en-US" altLang="ja-JP" sz="758" dirty="0">
                <a:solidFill>
                  <a:srgbClr val="0033B3"/>
                </a:solidFill>
                <a:latin typeface="Arial Unicode MS" pitchFamily="50" charset="-128"/>
                <a:ea typeface="Inconsolata" pitchFamily="2" charset="0"/>
                <a:cs typeface="Inconsolata" pitchFamily="2" charset="0"/>
              </a:rPr>
              <a:t> void</a:t>
            </a:r>
            <a:r>
              <a:rPr lang="ja-JP" altLang="ja-JP" sz="758" dirty="0">
                <a:solidFill>
                  <a:srgbClr val="0033B3"/>
                </a:solidFill>
                <a:latin typeface="Arial Unicode MS" pitchFamily="50" charset="-128"/>
                <a:ea typeface="Inconsolata" pitchFamily="2" charset="0"/>
                <a:cs typeface="Inconsolata" pitchFamily="2" charset="0"/>
              </a:rPr>
              <a:t> </a:t>
            </a:r>
            <a:r>
              <a:rPr lang="en-US" altLang="ja-JP" sz="758" dirty="0" err="1">
                <a:solidFill>
                  <a:srgbClr val="871094"/>
                </a:solidFill>
                <a:latin typeface="Arial Unicode MS" pitchFamily="50" charset="-128"/>
                <a:ea typeface="Inconsolata" pitchFamily="2" charset="0"/>
                <a:cs typeface="Inconsolata" pitchFamily="2" charset="0"/>
              </a:rPr>
              <a:t>setA</a:t>
            </a:r>
            <a:r>
              <a:rPr lang="ja-JP" altLang="ja-JP" sz="758" dirty="0">
                <a:solidFill>
                  <a:srgbClr val="871094"/>
                </a:solidFill>
                <a:latin typeface="Arial Unicode MS" pitchFamily="50" charset="-128"/>
                <a:ea typeface="Inconsolata" pitchFamily="2" charset="0"/>
                <a:cs typeface="Inconsolata" pitchFamily="2" charset="0"/>
              </a:rPr>
              <a:t>piCaller</a:t>
            </a:r>
            <a:r>
              <a:rPr lang="en-US" altLang="ja-JP" sz="758" dirty="0">
                <a:solidFill>
                  <a:srgbClr val="871094"/>
                </a:solidFill>
                <a:latin typeface="Arial Unicode MS" pitchFamily="50" charset="-128"/>
                <a:ea typeface="Inconsolata" pitchFamily="2" charset="0"/>
                <a:cs typeface="Inconsolata" pitchFamily="2" charset="0"/>
              </a:rPr>
              <a:t>(</a:t>
            </a:r>
            <a:r>
              <a:rPr lang="en-US" altLang="ja-JP" sz="758" dirty="0" err="1">
                <a:solidFill>
                  <a:srgbClr val="871094"/>
                </a:solidFill>
                <a:latin typeface="Arial Unicode MS" pitchFamily="50" charset="-128"/>
                <a:ea typeface="Inconsolata" pitchFamily="2" charset="0"/>
                <a:cs typeface="Inconsolata" pitchFamily="2" charset="0"/>
              </a:rPr>
              <a:t>apiCaller</a:t>
            </a:r>
            <a:r>
              <a:rPr lang="ja-JP" altLang="ja-JP" sz="758" dirty="0">
                <a:solidFill>
                  <a:srgbClr val="080808"/>
                </a:solidFill>
                <a:latin typeface="Arial Unicode MS" pitchFamily="50" charset="-128"/>
                <a:ea typeface="Inconsolata" pitchFamily="2" charset="0"/>
                <a:cs typeface="Inconsolata" pitchFamily="2" charset="0"/>
              </a:rPr>
              <a:t>: </a:t>
            </a:r>
            <a:r>
              <a:rPr lang="ja-JP" altLang="ja-JP" sz="758" dirty="0">
                <a:solidFill>
                  <a:srgbClr val="000000"/>
                </a:solidFill>
                <a:latin typeface="Arial Unicode MS" pitchFamily="50" charset="-128"/>
                <a:ea typeface="Inconsolata" pitchFamily="2" charset="0"/>
                <a:cs typeface="Inconsolata" pitchFamily="2" charset="0"/>
              </a:rPr>
              <a:t>ApiCaller</a:t>
            </a:r>
            <a:r>
              <a:rPr lang="en-US" altLang="ja-JP" sz="758" dirty="0">
                <a:solidFill>
                  <a:srgbClr val="000000"/>
                </a:solidFill>
                <a:latin typeface="Arial Unicode MS" pitchFamily="50" charset="-128"/>
                <a:ea typeface="Inconsolata" pitchFamily="2" charset="0"/>
                <a:cs typeface="Inconsolata" pitchFamily="2" charset="0"/>
              </a:rPr>
              <a:t>){</a:t>
            </a:r>
          </a:p>
          <a:p>
            <a:r>
              <a:rPr lang="en-US" altLang="ja-JP" sz="758" dirty="0">
                <a:solidFill>
                  <a:srgbClr val="000000"/>
                </a:solidFill>
                <a:latin typeface="Arial Unicode MS" pitchFamily="50" charset="-128"/>
                <a:ea typeface="Inconsolata" pitchFamily="2" charset="0"/>
                <a:cs typeface="Inconsolata" pitchFamily="2" charset="0"/>
              </a:rPr>
              <a:t>       </a:t>
            </a:r>
            <a:r>
              <a:rPr lang="en-US" altLang="ja-JP" sz="758" dirty="0" err="1">
                <a:solidFill>
                  <a:srgbClr val="000000"/>
                </a:solidFill>
                <a:latin typeface="Arial Unicode MS" pitchFamily="50" charset="-128"/>
                <a:ea typeface="Inconsolata" pitchFamily="2" charset="0"/>
                <a:cs typeface="Inconsolata" pitchFamily="2" charset="0"/>
              </a:rPr>
              <a:t>this.apiCaller</a:t>
            </a:r>
            <a:r>
              <a:rPr lang="en-US" altLang="ja-JP" sz="758" dirty="0">
                <a:solidFill>
                  <a:srgbClr val="000000"/>
                </a:solidFill>
                <a:latin typeface="Arial Unicode MS" pitchFamily="50" charset="-128"/>
                <a:ea typeface="Inconsolata" pitchFamily="2" charset="0"/>
                <a:cs typeface="Inconsolata" pitchFamily="2" charset="0"/>
              </a:rPr>
              <a:t> = </a:t>
            </a:r>
            <a:r>
              <a:rPr lang="en-US" altLang="ja-JP" sz="758" dirty="0" err="1">
                <a:solidFill>
                  <a:srgbClr val="000000"/>
                </a:solidFill>
                <a:latin typeface="Arial Unicode MS" pitchFamily="50" charset="-128"/>
                <a:ea typeface="Inconsolata" pitchFamily="2" charset="0"/>
                <a:cs typeface="Inconsolata" pitchFamily="2" charset="0"/>
              </a:rPr>
              <a:t>apiCaller</a:t>
            </a:r>
            <a:endParaRPr lang="en-US" altLang="ja-JP" sz="758" dirty="0">
              <a:solidFill>
                <a:srgbClr val="000000"/>
              </a:solidFill>
              <a:latin typeface="Arial Unicode MS" pitchFamily="50" charset="-128"/>
              <a:ea typeface="Inconsolata" pitchFamily="2" charset="0"/>
              <a:cs typeface="Inconsolata" pitchFamily="2" charset="0"/>
            </a:endParaRPr>
          </a:p>
          <a:p>
            <a:r>
              <a:rPr lang="en-US" altLang="ja-JP" sz="758" dirty="0">
                <a:solidFill>
                  <a:srgbClr val="000000"/>
                </a:solidFill>
                <a:latin typeface="Arial Unicode MS" pitchFamily="50" charset="-128"/>
                <a:ea typeface="Inconsolata" pitchFamily="2" charset="0"/>
                <a:cs typeface="Inconsolata" pitchFamily="2" charset="0"/>
              </a:rPr>
              <a:t>   }</a:t>
            </a:r>
            <a:br>
              <a:rPr lang="en-US" altLang="ja-JP" sz="758" dirty="0">
                <a:solidFill>
                  <a:srgbClr val="080808"/>
                </a:solidFill>
                <a:latin typeface="Arial Unicode MS" pitchFamily="50" charset="-128"/>
                <a:ea typeface="Inconsolata" pitchFamily="2" charset="0"/>
                <a:cs typeface="Inconsolata" pitchFamily="2" charset="0"/>
              </a:rPr>
            </a:br>
            <a:r>
              <a:rPr lang="en-US" altLang="ja-JP" sz="758" dirty="0">
                <a:solidFill>
                  <a:srgbClr val="080808"/>
                </a:solidFill>
                <a:latin typeface="Arial Unicode MS" pitchFamily="50" charset="-128"/>
                <a:ea typeface="Inconsolata" pitchFamily="2" charset="0"/>
                <a:cs typeface="Inconsolata" pitchFamily="2" charset="0"/>
              </a:rPr>
              <a:t>}</a:t>
            </a:r>
            <a:endParaRPr lang="ja-JP" altLang="ja-JP" sz="75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タイトル 4">
            <a:extLst>
              <a:ext uri="{FF2B5EF4-FFF2-40B4-BE49-F238E27FC236}">
                <a16:creationId xmlns:a16="http://schemas.microsoft.com/office/drawing/2014/main" id="{7E91FCED-985E-F25A-E59B-DB3377BF6ABD}"/>
              </a:ext>
            </a:extLst>
          </p:cNvPr>
          <p:cNvSpPr>
            <a:spLocks noGrp="1"/>
          </p:cNvSpPr>
          <p:nvPr>
            <p:ph type="title"/>
          </p:nvPr>
        </p:nvSpPr>
        <p:spPr>
          <a:xfrm>
            <a:off x="311282" y="206972"/>
            <a:ext cx="9594718" cy="1040473"/>
          </a:xfrm>
        </p:spPr>
        <p:txBody>
          <a:bodyPr/>
          <a:lstStyle/>
          <a:p>
            <a:pPr eaLnBrk="1" hangingPunct="1"/>
            <a:r>
              <a:rPr lang="en-US" altLang="ja-JP" dirty="0" err="1"/>
              <a:t>Tạo</a:t>
            </a:r>
            <a:r>
              <a:rPr lang="en-US" altLang="ja-JP" dirty="0"/>
              <a:t> </a:t>
            </a:r>
            <a:r>
              <a:rPr lang="en-US" altLang="ja-JP" dirty="0" err="1"/>
              <a:t>mới</a:t>
            </a:r>
            <a:r>
              <a:rPr lang="en-US" altLang="ja-JP" dirty="0"/>
              <a:t> project micro service</a:t>
            </a:r>
            <a:endParaRPr lang="ja-JP" altLang="en-US" dirty="0"/>
          </a:p>
        </p:txBody>
      </p:sp>
      <p:sp>
        <p:nvSpPr>
          <p:cNvPr id="6" name="コンテンツ プレースホルダー 5">
            <a:extLst>
              <a:ext uri="{FF2B5EF4-FFF2-40B4-BE49-F238E27FC236}">
                <a16:creationId xmlns:a16="http://schemas.microsoft.com/office/drawing/2014/main" id="{4274FEBB-9A18-FDFC-E9FC-DA257F1E7E82}"/>
              </a:ext>
            </a:extLst>
          </p:cNvPr>
          <p:cNvSpPr>
            <a:spLocks noGrp="1"/>
          </p:cNvSpPr>
          <p:nvPr>
            <p:ph idx="1"/>
          </p:nvPr>
        </p:nvSpPr>
        <p:spPr>
          <a:xfrm>
            <a:off x="533400" y="1247446"/>
            <a:ext cx="8813669" cy="4967618"/>
          </a:xfrm>
        </p:spPr>
        <p:txBody>
          <a:bodyPr rtlCol="0">
            <a:normAutofit/>
          </a:bodyPr>
          <a:lstStyle/>
          <a:p>
            <a:pPr fontAlgn="auto">
              <a:spcAft>
                <a:spcPts val="0"/>
              </a:spcAft>
              <a:buFont typeface="Wingdings 3" charset="2"/>
              <a:buChar char=""/>
              <a:defRPr/>
            </a:pPr>
            <a:r>
              <a:rPr lang="vi-VN" altLang="ja-JP" sz="1462" dirty="0">
                <a:solidFill>
                  <a:schemeClr val="tx1">
                    <a:lumMod val="75000"/>
                    <a:lumOff val="25000"/>
                  </a:schemeClr>
                </a:solidFill>
              </a:rPr>
              <a:t>Sử dụng spring initializr </a:t>
            </a:r>
            <a:r>
              <a:rPr lang="vi-VN" altLang="ja-JP" sz="1462" dirty="0">
                <a:solidFill>
                  <a:schemeClr val="tx1">
                    <a:lumMod val="75000"/>
                    <a:lumOff val="25000"/>
                  </a:schemeClr>
                </a:solidFill>
                <a:hlinkClick r:id="rId2"/>
              </a:rPr>
              <a:t>https://start.spring.io/</a:t>
            </a:r>
            <a:r>
              <a:rPr lang="vi-VN" altLang="ja-JP" sz="1462" dirty="0">
                <a:solidFill>
                  <a:schemeClr val="tx1">
                    <a:lumMod val="75000"/>
                    <a:lumOff val="25000"/>
                  </a:schemeClr>
                </a:solidFill>
              </a:rPr>
              <a:t> để generate project khởi tạo như dưới</a:t>
            </a: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a:p>
            <a:pPr fontAlgn="auto">
              <a:spcAft>
                <a:spcPts val="0"/>
              </a:spcAft>
              <a:buFont typeface="Wingdings 3" charset="2"/>
              <a:buChar char=""/>
              <a:defRPr/>
            </a:pPr>
            <a:endParaRPr lang="vi-VN" altLang="ja-JP" sz="1462" dirty="0">
              <a:solidFill>
                <a:schemeClr val="tx1">
                  <a:lumMod val="75000"/>
                  <a:lumOff val="25000"/>
                </a:schemeClr>
              </a:solidFill>
            </a:endParaRPr>
          </a:p>
        </p:txBody>
      </p:sp>
      <p:grpSp>
        <p:nvGrpSpPr>
          <p:cNvPr id="26628" name="グループ化 3">
            <a:extLst>
              <a:ext uri="{FF2B5EF4-FFF2-40B4-BE49-F238E27FC236}">
                <a16:creationId xmlns:a16="http://schemas.microsoft.com/office/drawing/2014/main" id="{96F0DB64-79FA-96C3-E0FA-10A5FA001BEA}"/>
              </a:ext>
            </a:extLst>
          </p:cNvPr>
          <p:cNvGrpSpPr>
            <a:grpSpLocks/>
          </p:cNvGrpSpPr>
          <p:nvPr/>
        </p:nvGrpSpPr>
        <p:grpSpPr bwMode="auto">
          <a:xfrm>
            <a:off x="2559050" y="2290499"/>
            <a:ext cx="4870450" cy="2376752"/>
            <a:chOff x="0" y="0"/>
            <a:chExt cx="18247619" cy="9561905"/>
          </a:xfrm>
        </p:grpSpPr>
        <p:grpSp>
          <p:nvGrpSpPr>
            <p:cNvPr id="26629" name="グループ化 6">
              <a:extLst>
                <a:ext uri="{FF2B5EF4-FFF2-40B4-BE49-F238E27FC236}">
                  <a16:creationId xmlns:a16="http://schemas.microsoft.com/office/drawing/2014/main" id="{05D2257A-D2A9-1DB6-A139-DB75AE9603C1}"/>
                </a:ext>
              </a:extLst>
            </p:cNvPr>
            <p:cNvGrpSpPr>
              <a:grpSpLocks/>
            </p:cNvGrpSpPr>
            <p:nvPr/>
          </p:nvGrpSpPr>
          <p:grpSpPr bwMode="auto">
            <a:xfrm>
              <a:off x="0" y="0"/>
              <a:ext cx="18247619" cy="9561905"/>
              <a:chOff x="0" y="0"/>
              <a:chExt cx="18247619" cy="9561905"/>
            </a:xfrm>
          </p:grpSpPr>
          <p:pic>
            <p:nvPicPr>
              <p:cNvPr id="26637" name="図 14">
                <a:extLst>
                  <a:ext uri="{FF2B5EF4-FFF2-40B4-BE49-F238E27FC236}">
                    <a16:creationId xmlns:a16="http://schemas.microsoft.com/office/drawing/2014/main" id="{52FCC177-49AD-2489-39EF-D9CAA1432DD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47619" cy="956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正方形/長方形 15">
                <a:extLst>
                  <a:ext uri="{FF2B5EF4-FFF2-40B4-BE49-F238E27FC236}">
                    <a16:creationId xmlns:a16="http://schemas.microsoft.com/office/drawing/2014/main" id="{055B6252-48E8-A906-5416-B852640834B4}"/>
                  </a:ext>
                </a:extLst>
              </p:cNvPr>
              <p:cNvSpPr/>
              <p:nvPr/>
            </p:nvSpPr>
            <p:spPr>
              <a:xfrm>
                <a:off x="3505192" y="2041075"/>
                <a:ext cx="1353107" cy="4151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grpSp>
        <p:sp>
          <p:nvSpPr>
            <p:cNvPr id="8" name="正方形/長方形 7">
              <a:extLst>
                <a:ext uri="{FF2B5EF4-FFF2-40B4-BE49-F238E27FC236}">
                  <a16:creationId xmlns:a16="http://schemas.microsoft.com/office/drawing/2014/main" id="{36BC6F97-1AF9-A408-D81D-D4D92097D5D7}"/>
                </a:ext>
              </a:extLst>
            </p:cNvPr>
            <p:cNvSpPr/>
            <p:nvPr/>
          </p:nvSpPr>
          <p:spPr>
            <a:xfrm>
              <a:off x="6256513" y="2124101"/>
              <a:ext cx="876298" cy="32518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9" name="正方形/長方形 8">
              <a:extLst>
                <a:ext uri="{FF2B5EF4-FFF2-40B4-BE49-F238E27FC236}">
                  <a16:creationId xmlns:a16="http://schemas.microsoft.com/office/drawing/2014/main" id="{191B9C36-67E9-9C8D-2AB7-59BD85F115D1}"/>
                </a:ext>
              </a:extLst>
            </p:cNvPr>
            <p:cNvSpPr/>
            <p:nvPr/>
          </p:nvSpPr>
          <p:spPr>
            <a:xfrm>
              <a:off x="13421538" y="1875021"/>
              <a:ext cx="2635336" cy="4220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0" name="正方形/長方形 9">
              <a:extLst>
                <a:ext uri="{FF2B5EF4-FFF2-40B4-BE49-F238E27FC236}">
                  <a16:creationId xmlns:a16="http://schemas.microsoft.com/office/drawing/2014/main" id="{1BB4CE58-DB5D-4B77-AF25-65ADF383C410}"/>
                </a:ext>
              </a:extLst>
            </p:cNvPr>
            <p:cNvSpPr/>
            <p:nvPr/>
          </p:nvSpPr>
          <p:spPr>
            <a:xfrm>
              <a:off x="3820919" y="3092746"/>
              <a:ext cx="818306" cy="3736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1" name="正方形/長方形 10">
              <a:extLst>
                <a:ext uri="{FF2B5EF4-FFF2-40B4-BE49-F238E27FC236}">
                  <a16:creationId xmlns:a16="http://schemas.microsoft.com/office/drawing/2014/main" id="{D2ACF67B-E402-461D-6878-A819C8C015E8}"/>
                </a:ext>
              </a:extLst>
            </p:cNvPr>
            <p:cNvSpPr/>
            <p:nvPr/>
          </p:nvSpPr>
          <p:spPr>
            <a:xfrm>
              <a:off x="3305450" y="3936850"/>
              <a:ext cx="5083816" cy="23039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2" name="正方形/長方形 11">
              <a:extLst>
                <a:ext uri="{FF2B5EF4-FFF2-40B4-BE49-F238E27FC236}">
                  <a16:creationId xmlns:a16="http://schemas.microsoft.com/office/drawing/2014/main" id="{7C54C5D4-7B4C-17BB-BA55-8828EC27024A}"/>
                </a:ext>
              </a:extLst>
            </p:cNvPr>
            <p:cNvSpPr/>
            <p:nvPr/>
          </p:nvSpPr>
          <p:spPr>
            <a:xfrm>
              <a:off x="3363438" y="6323865"/>
              <a:ext cx="579903" cy="3251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3" name="正方形/長方形 12">
              <a:extLst>
                <a:ext uri="{FF2B5EF4-FFF2-40B4-BE49-F238E27FC236}">
                  <a16:creationId xmlns:a16="http://schemas.microsoft.com/office/drawing/2014/main" id="{F655A815-B38C-3DAE-3B45-75DF95EEE860}"/>
                </a:ext>
              </a:extLst>
            </p:cNvPr>
            <p:cNvSpPr/>
            <p:nvPr/>
          </p:nvSpPr>
          <p:spPr>
            <a:xfrm>
              <a:off x="4561905" y="6794349"/>
              <a:ext cx="579903" cy="3182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sp>
          <p:nvSpPr>
            <p:cNvPr id="14" name="正方形/長方形 13">
              <a:extLst>
                <a:ext uri="{FF2B5EF4-FFF2-40B4-BE49-F238E27FC236}">
                  <a16:creationId xmlns:a16="http://schemas.microsoft.com/office/drawing/2014/main" id="{BE9C19D4-1DCE-F591-C47B-E63E3C33F99A}"/>
                </a:ext>
              </a:extLst>
            </p:cNvPr>
            <p:cNvSpPr/>
            <p:nvPr/>
          </p:nvSpPr>
          <p:spPr>
            <a:xfrm>
              <a:off x="6088985" y="8856178"/>
              <a:ext cx="2210073" cy="55351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defRPr/>
              </a:pPr>
              <a:endParaRPr lang="ja-JP" altLang="en-US" sz="1192"/>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タイトル 4">
            <a:extLst>
              <a:ext uri="{FF2B5EF4-FFF2-40B4-BE49-F238E27FC236}">
                <a16:creationId xmlns:a16="http://schemas.microsoft.com/office/drawing/2014/main" id="{68F6360F-D61D-EC84-6F62-B70CD5732940}"/>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7" name="テキスト プレースホルダー 6">
            <a:extLst>
              <a:ext uri="{FF2B5EF4-FFF2-40B4-BE49-F238E27FC236}">
                <a16:creationId xmlns:a16="http://schemas.microsoft.com/office/drawing/2014/main" id="{36C0D124-FEC0-9E84-8086-450B2942CFD3}"/>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sz="1733" dirty="0"/>
              <a:t>Spring Security </a:t>
            </a:r>
            <a:endParaRPr lang="ja-JP" altLang="en-US" dirty="0"/>
          </a:p>
        </p:txBody>
      </p:sp>
    </p:spTree>
  </p:cSld>
  <p:clrMapOvr>
    <a:masterClrMapping/>
  </p:clrMapOvr>
  <p:transition spd="slow">
    <p:circl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3">
            <a:extLst>
              <a:ext uri="{FF2B5EF4-FFF2-40B4-BE49-F238E27FC236}">
                <a16:creationId xmlns:a16="http://schemas.microsoft.com/office/drawing/2014/main" id="{6BF1863E-B964-554A-3EB2-EE9086459D2A}"/>
              </a:ext>
            </a:extLst>
          </p:cNvPr>
          <p:cNvSpPr>
            <a:spLocks noGrp="1"/>
          </p:cNvSpPr>
          <p:nvPr>
            <p:ph idx="1"/>
          </p:nvPr>
        </p:nvSpPr>
        <p:spPr>
          <a:xfrm>
            <a:off x="2103306" y="1860550"/>
            <a:ext cx="7243763" cy="3585766"/>
          </a:xfrm>
        </p:spPr>
        <p:txBody>
          <a:bodyPr rtlCol="0">
            <a:normAutofit/>
          </a:bodyPr>
          <a:lstStyle/>
          <a:p>
            <a:pPr fontAlgn="auto">
              <a:spcAft>
                <a:spcPts val="0"/>
              </a:spcAft>
              <a:buFont typeface="Wingdings 3" charset="2"/>
              <a:buChar char=""/>
              <a:defRPr/>
            </a:pPr>
            <a:r>
              <a:rPr lang="vi-VN" altLang="ja-JP" sz="1462" dirty="0">
                <a:solidFill>
                  <a:schemeClr val="tx1">
                    <a:lumMod val="75000"/>
                    <a:lumOff val="25000"/>
                  </a:schemeClr>
                </a:solidFill>
              </a:rPr>
              <a:t>Là 1 tính năng của SpringFramework dùng để kiểm soát truy c</a:t>
            </a:r>
            <a:r>
              <a:rPr lang="en-US" altLang="ja-JP" sz="1462" dirty="0" err="1">
                <a:solidFill>
                  <a:schemeClr val="tx1">
                    <a:lumMod val="75000"/>
                    <a:lumOff val="25000"/>
                  </a:schemeClr>
                </a:solidFill>
              </a:rPr>
              <a:t>ập</a:t>
            </a:r>
            <a:r>
              <a:rPr lang="vi-VN" altLang="ja-JP" sz="1462" dirty="0">
                <a:solidFill>
                  <a:schemeClr val="tx1">
                    <a:lumMod val="75000"/>
                    <a:lumOff val="25000"/>
                  </a:schemeClr>
                </a:solidFill>
              </a:rPr>
              <a:t>, giúp phân quyền và xác định user trước khi cho phép user access vào api.</a:t>
            </a:r>
          </a:p>
          <a:p>
            <a:pPr fontAlgn="auto">
              <a:spcAft>
                <a:spcPts val="0"/>
              </a:spcAft>
              <a:buFont typeface="Wingdings 3" charset="2"/>
              <a:buChar char=""/>
              <a:defRPr/>
            </a:pPr>
            <a:r>
              <a:rPr lang="vi-VN" altLang="ja-JP" sz="1462" dirty="0">
                <a:solidFill>
                  <a:schemeClr val="tx1">
                    <a:lumMod val="75000"/>
                    <a:lumOff val="25000"/>
                  </a:schemeClr>
                </a:solidFill>
              </a:rPr>
              <a:t>JWT(Json Web Token)</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để</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tiến</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hành</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chứng</a:t>
            </a:r>
            <a:r>
              <a:rPr lang="en-US" altLang="ja-JP" sz="1462" dirty="0">
                <a:solidFill>
                  <a:schemeClr val="tx1">
                    <a:lumMod val="75000"/>
                    <a:lumOff val="25000"/>
                  </a:schemeClr>
                </a:solidFill>
              </a:rPr>
              <a:t> </a:t>
            </a:r>
            <a:r>
              <a:rPr lang="en-US" altLang="ja-JP" sz="1462" dirty="0" err="1">
                <a:solidFill>
                  <a:schemeClr val="tx1">
                    <a:lumMod val="75000"/>
                    <a:lumOff val="25000"/>
                  </a:schemeClr>
                </a:solidFill>
              </a:rPr>
              <a:t>thực</a:t>
            </a:r>
            <a:r>
              <a:rPr lang="en-US" altLang="ja-JP" sz="1462" dirty="0">
                <a:solidFill>
                  <a:schemeClr val="tx1">
                    <a:lumMod val="75000"/>
                    <a:lumOff val="25000"/>
                  </a:schemeClr>
                </a:solidFill>
              </a:rPr>
              <a:t>.</a:t>
            </a:r>
            <a:endParaRPr lang="vi-VN" altLang="ja-JP" sz="1462" dirty="0">
              <a:solidFill>
                <a:schemeClr val="tx1">
                  <a:lumMod val="75000"/>
                  <a:lumOff val="25000"/>
                </a:schemeClr>
              </a:solidFill>
            </a:endParaRPr>
          </a:p>
          <a:p>
            <a:pPr marL="0" indent="0" fontAlgn="auto">
              <a:spcAft>
                <a:spcPts val="0"/>
              </a:spcAft>
              <a:buNone/>
              <a:defRPr/>
            </a:pPr>
            <a:endParaRPr lang="en-US" altLang="ja-JP" sz="1462" dirty="0">
              <a:solidFill>
                <a:schemeClr val="tx1">
                  <a:lumMod val="75000"/>
                  <a:lumOff val="25000"/>
                </a:schemeClr>
              </a:solidFill>
            </a:endParaRPr>
          </a:p>
          <a:p>
            <a:pPr fontAlgn="auto">
              <a:spcAft>
                <a:spcPts val="0"/>
              </a:spcAft>
              <a:buFont typeface="Wingdings 3" charset="2"/>
              <a:buChar char=""/>
              <a:defRPr/>
            </a:pPr>
            <a:endParaRPr lang="ja-JP" altLang="en-US" sz="1462" dirty="0">
              <a:solidFill>
                <a:schemeClr val="tx1">
                  <a:lumMod val="75000"/>
                  <a:lumOff val="25000"/>
                </a:schemeClr>
              </a:solidFill>
            </a:endParaRPr>
          </a:p>
        </p:txBody>
      </p:sp>
      <p:sp>
        <p:nvSpPr>
          <p:cNvPr id="29699" name="タイトル 4">
            <a:extLst>
              <a:ext uri="{FF2B5EF4-FFF2-40B4-BE49-F238E27FC236}">
                <a16:creationId xmlns:a16="http://schemas.microsoft.com/office/drawing/2014/main" id="{12D2B789-89DF-9683-FDB2-C6BC0C176B14}"/>
              </a:ext>
            </a:extLst>
          </p:cNvPr>
          <p:cNvSpPr>
            <a:spLocks noGrp="1"/>
          </p:cNvSpPr>
          <p:nvPr>
            <p:ph type="title"/>
          </p:nvPr>
        </p:nvSpPr>
        <p:spPr>
          <a:xfrm>
            <a:off x="2106746" y="1150277"/>
            <a:ext cx="7240323" cy="1040473"/>
          </a:xfrm>
        </p:spPr>
        <p:txBody>
          <a:bodyPr>
            <a:normAutofit fontScale="90000"/>
          </a:bodyPr>
          <a:lstStyle/>
          <a:p>
            <a:pPr eaLnBrk="1" hangingPunct="1"/>
            <a:r>
              <a:rPr lang="en-US" altLang="ja-JP"/>
              <a:t>Khái lược cơ bản về spring security</a:t>
            </a:r>
            <a:endParaRPr lang="ja-JP" altLang="en-US"/>
          </a:p>
        </p:txBody>
      </p:sp>
      <p:pic>
        <p:nvPicPr>
          <p:cNvPr id="29700" name="図 10">
            <a:extLst>
              <a:ext uri="{FF2B5EF4-FFF2-40B4-BE49-F238E27FC236}">
                <a16:creationId xmlns:a16="http://schemas.microsoft.com/office/drawing/2014/main" id="{E5323074-FF38-D163-E57D-164CCE9A611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9940" y="2768600"/>
            <a:ext cx="6490494" cy="330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タイトル 4">
            <a:extLst>
              <a:ext uri="{FF2B5EF4-FFF2-40B4-BE49-F238E27FC236}">
                <a16:creationId xmlns:a16="http://schemas.microsoft.com/office/drawing/2014/main" id="{BE5297E4-E0EC-F443-2E46-5AC87C18E75D}"/>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8" name="テキスト プレースホルダー 7">
            <a:extLst>
              <a:ext uri="{FF2B5EF4-FFF2-40B4-BE49-F238E27FC236}">
                <a16:creationId xmlns:a16="http://schemas.microsoft.com/office/drawing/2014/main" id="{FC8B3B1A-42D8-7019-A7E9-C0619BF66487}"/>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Spring JPA</a:t>
            </a:r>
            <a:endParaRPr lang="ja-JP"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タイトル 1">
            <a:extLst>
              <a:ext uri="{FF2B5EF4-FFF2-40B4-BE49-F238E27FC236}">
                <a16:creationId xmlns:a16="http://schemas.microsoft.com/office/drawing/2014/main" id="{4195B83E-8825-71F6-BB00-E5C98260652C}"/>
              </a:ext>
            </a:extLst>
          </p:cNvPr>
          <p:cNvSpPr>
            <a:spLocks noGrp="1"/>
          </p:cNvSpPr>
          <p:nvPr>
            <p:ph type="title"/>
          </p:nvPr>
        </p:nvSpPr>
        <p:spPr>
          <a:xfrm>
            <a:off x="2106746" y="1150277"/>
            <a:ext cx="7240323" cy="1040473"/>
          </a:xfrm>
        </p:spPr>
        <p:txBody>
          <a:bodyPr/>
          <a:lstStyle/>
          <a:p>
            <a:pPr eaLnBrk="1" hangingPunct="1"/>
            <a:r>
              <a:rPr lang="en-US" altLang="ja-JP"/>
              <a:t>Khái lược cơ bản về SpringJPA</a:t>
            </a:r>
            <a:endParaRPr lang="ja-JP" altLang="en-US"/>
          </a:p>
        </p:txBody>
      </p:sp>
      <p:sp>
        <p:nvSpPr>
          <p:cNvPr id="33795" name="コンテンツ プレースホルダー 4">
            <a:extLst>
              <a:ext uri="{FF2B5EF4-FFF2-40B4-BE49-F238E27FC236}">
                <a16:creationId xmlns:a16="http://schemas.microsoft.com/office/drawing/2014/main" id="{A8D7C143-69AE-0EE5-992F-4B128D96DBD6}"/>
              </a:ext>
            </a:extLst>
          </p:cNvPr>
          <p:cNvSpPr>
            <a:spLocks noGrp="1" noChangeArrowheads="1"/>
          </p:cNvSpPr>
          <p:nvPr>
            <p:ph idx="1"/>
          </p:nvPr>
        </p:nvSpPr>
        <p:spPr>
          <a:xfrm>
            <a:off x="2103306" y="1612900"/>
            <a:ext cx="7243763" cy="3833416"/>
          </a:xfrm>
        </p:spPr>
        <p:txBody>
          <a:bodyPr>
            <a:normAutofit fontScale="85000" lnSpcReduction="20000"/>
          </a:bodyPr>
          <a:lstStyle/>
          <a:p>
            <a:pPr eaLnBrk="1" hangingPunct="1"/>
            <a:r>
              <a:rPr lang="en-US" altLang="ja-JP">
                <a:latin typeface="Arial" panose="020B0604020202020204" pitchFamily="34" charset="0"/>
                <a:ea typeface="ＭＳ Ｐゴシック" panose="020B0600070205080204" pitchFamily="50" charset="-128"/>
                <a:cs typeface="Times New Roman" panose="02020603050405020304" pitchFamily="18" charset="0"/>
              </a:rPr>
              <a:t>JPA (Java Persistence API) là 1 giao diện lập trình ứng dụng Java, mô tả cho việc ánh xạ giữa các đối tượng Java với cơ sở dữ liệu quan hệ sử dụng công nghệ phổ biến là ORM (Object Relational Mapping).</a:t>
            </a:r>
            <a:endParaRPr lang="en-US" altLang="ja-JP">
              <a:latin typeface="Times New Roman" panose="02020603050405020304" pitchFamily="18" charset="0"/>
              <a:ea typeface="ＭＳ Ｐゴシック" panose="020B0600070205080204" pitchFamily="50" charset="-128"/>
              <a:cs typeface="Times New Roman" panose="02020603050405020304" pitchFamily="18" charset="0"/>
            </a:endParaRPr>
          </a:p>
          <a:p>
            <a:pPr eaLnBrk="1" hangingPunct="1"/>
            <a:r>
              <a:rPr lang="en-US" altLang="ja-JP">
                <a:latin typeface="Arial" panose="020B0604020202020204" pitchFamily="34" charset="0"/>
                <a:ea typeface="ＭＳ Ｐゴシック" panose="020B0600070205080204" pitchFamily="50" charset="-128"/>
                <a:cs typeface="Times New Roman" panose="02020603050405020304" pitchFamily="18" charset="0"/>
              </a:rPr>
              <a:t>JPA cung cấp một mô hình POJO (Plain Old Java Object) persistence cho phép ánh xạ các table/các mối quan hệ giữa các table trong database sang các class/mối quan hệ giữa các object.</a:t>
            </a:r>
            <a:endParaRPr lang="en-US" altLang="ja-JP">
              <a:latin typeface="Times New Roman" panose="02020603050405020304" pitchFamily="18" charset="0"/>
              <a:ea typeface="ＭＳ Ｐゴシック" panose="020B0600070205080204" pitchFamily="50" charset="-128"/>
              <a:cs typeface="Times New Roman" panose="02020603050405020304" pitchFamily="18" charset="0"/>
            </a:endParaRPr>
          </a:p>
          <a:p>
            <a:pPr eaLnBrk="1" hangingPunct="1"/>
            <a:endParaRPr lang="ja-JP" altLang="en-US">
              <a:cs typeface="Times New Roman" panose="02020603050405020304" pitchFamily="18" charset="0"/>
            </a:endParaRPr>
          </a:p>
        </p:txBody>
      </p:sp>
      <p:pic>
        <p:nvPicPr>
          <p:cNvPr id="8" name="Picture 2" descr="https://i.imgur.com/M5WVUaT.png">
            <a:extLst>
              <a:ext uri="{FF2B5EF4-FFF2-40B4-BE49-F238E27FC236}">
                <a16:creationId xmlns:a16="http://schemas.microsoft.com/office/drawing/2014/main" id="{5FFA28A6-57FD-DC1E-E5CE-5A29E9E773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6700" y="3231225"/>
            <a:ext cx="5152496" cy="2246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タイトル 1">
            <a:extLst>
              <a:ext uri="{FF2B5EF4-FFF2-40B4-BE49-F238E27FC236}">
                <a16:creationId xmlns:a16="http://schemas.microsoft.com/office/drawing/2014/main" id="{5DBC3903-86EE-D00A-B461-E0FBA3F6E7A0}"/>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3" name="テキスト プレースホルダー 2">
            <a:extLst>
              <a:ext uri="{FF2B5EF4-FFF2-40B4-BE49-F238E27FC236}">
                <a16:creationId xmlns:a16="http://schemas.microsoft.com/office/drawing/2014/main" id="{F7044782-C48E-EBB8-42E0-C4C2EA44B3CF}"/>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Exception Handler</a:t>
            </a:r>
            <a:endParaRPr lang="ja-JP"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タイトル 4">
            <a:extLst>
              <a:ext uri="{FF2B5EF4-FFF2-40B4-BE49-F238E27FC236}">
                <a16:creationId xmlns:a16="http://schemas.microsoft.com/office/drawing/2014/main" id="{A5BCBF61-6CD2-8055-77BA-80C355001905}"/>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7" name="テキスト プレースホルダー 6">
            <a:extLst>
              <a:ext uri="{FF2B5EF4-FFF2-40B4-BE49-F238E27FC236}">
                <a16:creationId xmlns:a16="http://schemas.microsoft.com/office/drawing/2014/main" id="{1C97720B-C12F-357E-AAFD-EE9583613FCE}"/>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Spring Retry</a:t>
            </a:r>
            <a:endParaRPr lang="ja-JP" altLang="en-US" dirty="0"/>
          </a:p>
        </p:txBody>
      </p:sp>
    </p:spTree>
  </p:cSld>
  <p:clrMapOvr>
    <a:masterClrMapping/>
  </p:clrMapOvr>
  <p:transition spd="slow">
    <p:circl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タイトル 1">
            <a:extLst>
              <a:ext uri="{FF2B5EF4-FFF2-40B4-BE49-F238E27FC236}">
                <a16:creationId xmlns:a16="http://schemas.microsoft.com/office/drawing/2014/main" id="{3B6521F9-134A-6FE4-D5B5-FDD65979D836}"/>
              </a:ext>
            </a:extLst>
          </p:cNvPr>
          <p:cNvSpPr>
            <a:spLocks noGrp="1"/>
          </p:cNvSpPr>
          <p:nvPr>
            <p:ph type="title"/>
          </p:nvPr>
        </p:nvSpPr>
        <p:spPr>
          <a:xfrm>
            <a:off x="2103306" y="2316296"/>
            <a:ext cx="7243763" cy="1193535"/>
          </a:xfrm>
        </p:spPr>
        <p:txBody>
          <a:bodyPr>
            <a:normAutofit fontScale="90000"/>
          </a:bodyPr>
          <a:lstStyle/>
          <a:p>
            <a:pPr eaLnBrk="1" hangingPunct="1"/>
            <a:r>
              <a:rPr lang="en-US" altLang="ja-JP" sz="4333"/>
              <a:t>Spring boot application</a:t>
            </a:r>
            <a:endParaRPr lang="ja-JP" altLang="en-US" sz="4333"/>
          </a:p>
        </p:txBody>
      </p:sp>
      <p:sp>
        <p:nvSpPr>
          <p:cNvPr id="3" name="テキスト プレースホルダー 2">
            <a:extLst>
              <a:ext uri="{FF2B5EF4-FFF2-40B4-BE49-F238E27FC236}">
                <a16:creationId xmlns:a16="http://schemas.microsoft.com/office/drawing/2014/main" id="{944AD9DE-12D4-BADC-DD3E-DC8A107160D7}"/>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Swagger/</a:t>
            </a:r>
            <a:r>
              <a:rPr lang="en-US" altLang="ja-JP" dirty="0" err="1"/>
              <a:t>OpenAPI</a:t>
            </a:r>
            <a:endParaRPr lang="ja-JP"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タイトル 1">
            <a:extLst>
              <a:ext uri="{FF2B5EF4-FFF2-40B4-BE49-F238E27FC236}">
                <a16:creationId xmlns:a16="http://schemas.microsoft.com/office/drawing/2014/main" id="{0FCA4AFA-E6B2-6920-3B73-2EDA1AD25AF4}"/>
              </a:ext>
            </a:extLst>
          </p:cNvPr>
          <p:cNvSpPr>
            <a:spLocks noGrp="1"/>
          </p:cNvSpPr>
          <p:nvPr>
            <p:ph type="title"/>
          </p:nvPr>
        </p:nvSpPr>
        <p:spPr>
          <a:xfrm>
            <a:off x="2103306" y="2316296"/>
            <a:ext cx="7243763" cy="1193535"/>
          </a:xfrm>
        </p:spPr>
        <p:txBody>
          <a:bodyPr/>
          <a:lstStyle/>
          <a:p>
            <a:pPr eaLnBrk="1" hangingPunct="1"/>
            <a:r>
              <a:rPr lang="en-US" altLang="ja-JP" sz="4333"/>
              <a:t>Spring batch</a:t>
            </a:r>
            <a:endParaRPr lang="ja-JP" altLang="en-US" sz="4333"/>
          </a:p>
        </p:txBody>
      </p:sp>
      <p:sp>
        <p:nvSpPr>
          <p:cNvPr id="8" name="テキスト プレースホルダー 7">
            <a:extLst>
              <a:ext uri="{FF2B5EF4-FFF2-40B4-BE49-F238E27FC236}">
                <a16:creationId xmlns:a16="http://schemas.microsoft.com/office/drawing/2014/main" id="{0633A3ED-45B0-A836-E981-B95F4317601D}"/>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endParaRPr lang="ja-JP"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タイトル 4">
            <a:extLst>
              <a:ext uri="{FF2B5EF4-FFF2-40B4-BE49-F238E27FC236}">
                <a16:creationId xmlns:a16="http://schemas.microsoft.com/office/drawing/2014/main" id="{1C38DA72-6910-F7CE-CD78-D943C92B5D70}"/>
              </a:ext>
            </a:extLst>
          </p:cNvPr>
          <p:cNvSpPr>
            <a:spLocks noGrp="1"/>
          </p:cNvSpPr>
          <p:nvPr>
            <p:ph type="title"/>
          </p:nvPr>
        </p:nvSpPr>
        <p:spPr>
          <a:xfrm>
            <a:off x="2103306" y="2316296"/>
            <a:ext cx="7243763" cy="1193535"/>
          </a:xfrm>
        </p:spPr>
        <p:txBody>
          <a:bodyPr/>
          <a:lstStyle/>
          <a:p>
            <a:pPr eaLnBrk="1" hangingPunct="1"/>
            <a:r>
              <a:rPr lang="en-US" altLang="ja-JP" sz="5417"/>
              <a:t>Logging</a:t>
            </a:r>
            <a:endParaRPr lang="ja-JP" altLang="en-US" sz="5417"/>
          </a:p>
        </p:txBody>
      </p:sp>
      <p:sp>
        <p:nvSpPr>
          <p:cNvPr id="7" name="テキスト プレースホルダー 6">
            <a:extLst>
              <a:ext uri="{FF2B5EF4-FFF2-40B4-BE49-F238E27FC236}">
                <a16:creationId xmlns:a16="http://schemas.microsoft.com/office/drawing/2014/main" id="{BD97B215-5D0F-9D86-E431-DCCB86DDAF96}"/>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endParaRPr lang="ja-JP" altLang="en-US"/>
          </a:p>
        </p:txBody>
      </p:sp>
    </p:spTree>
  </p:cSld>
  <p:clrMapOvr>
    <a:masterClrMapping/>
  </p:clrMapOvr>
  <p:transition spd="slow">
    <p:circl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タイトル 12">
            <a:extLst>
              <a:ext uri="{FF2B5EF4-FFF2-40B4-BE49-F238E27FC236}">
                <a16:creationId xmlns:a16="http://schemas.microsoft.com/office/drawing/2014/main" id="{63067BFA-42C6-B71F-7945-CDCF1DB7BFEA}"/>
              </a:ext>
            </a:extLst>
          </p:cNvPr>
          <p:cNvSpPr>
            <a:spLocks noGrp="1"/>
          </p:cNvSpPr>
          <p:nvPr>
            <p:ph type="title"/>
          </p:nvPr>
        </p:nvSpPr>
        <p:spPr>
          <a:xfrm>
            <a:off x="2103306" y="2316296"/>
            <a:ext cx="7243763" cy="1193535"/>
          </a:xfrm>
        </p:spPr>
        <p:txBody>
          <a:bodyPr/>
          <a:lstStyle/>
          <a:p>
            <a:pPr eaLnBrk="1" hangingPunct="1"/>
            <a:r>
              <a:rPr lang="en-US" altLang="ja-JP"/>
              <a:t>END</a:t>
            </a:r>
            <a:endParaRPr lang="ja-JP" altLang="en-US"/>
          </a:p>
        </p:txBody>
      </p:sp>
      <p:sp>
        <p:nvSpPr>
          <p:cNvPr id="14" name="テキスト プレースホルダー 13">
            <a:extLst>
              <a:ext uri="{FF2B5EF4-FFF2-40B4-BE49-F238E27FC236}">
                <a16:creationId xmlns:a16="http://schemas.microsoft.com/office/drawing/2014/main" id="{3AE3E957-18F3-551F-40A9-0F0990B044FE}"/>
              </a:ext>
            </a:extLst>
          </p:cNvPr>
          <p:cNvSpPr>
            <a:spLocks noGrp="1"/>
          </p:cNvSpPr>
          <p:nvPr>
            <p:ph type="body" idx="1"/>
          </p:nvPr>
        </p:nvSpPr>
        <p:spPr>
          <a:xfrm>
            <a:off x="2103306" y="3511551"/>
            <a:ext cx="7243763" cy="698235"/>
          </a:xfrm>
        </p:spPr>
        <p:txBody>
          <a:bodyPr rtlCol="0">
            <a:normAutofit/>
          </a:bodyPr>
          <a:lstStyle/>
          <a:p>
            <a:pPr fontAlgn="auto">
              <a:spcAft>
                <a:spcPts val="0"/>
              </a:spcAft>
              <a:defRPr/>
            </a:pPr>
            <a:r>
              <a:rPr lang="en-US" altLang="ja-JP" dirty="0"/>
              <a:t>Q&amp;A Time</a:t>
            </a:r>
            <a:endParaRPr lang="ja-JP"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p:cNvPicPr>
            <a:picLocks noChangeAspect="1"/>
          </p:cNvPicPr>
          <p:nvPr/>
        </p:nvPicPr>
        <p:blipFill>
          <a:blip r:embed="rId2"/>
          <a:stretch>
            <a:fillRect/>
          </a:stretch>
        </p:blipFill>
        <p:spPr>
          <a:xfrm>
            <a:off x="0" y="642938"/>
            <a:ext cx="9906000" cy="5572125"/>
          </a:xfrm>
          <a:prstGeom prst="rect">
            <a:avLst/>
          </a:prstGeom>
        </p:spPr>
      </p:pic>
      <p:sp>
        <p:nvSpPr>
          <p:cNvPr id="6" name="TextBox 6"/>
          <p:cNvSpPr txBox="1"/>
          <p:nvPr/>
        </p:nvSpPr>
        <p:spPr>
          <a:xfrm>
            <a:off x="1153703" y="2439656"/>
            <a:ext cx="2886987" cy="378052"/>
          </a:xfrm>
          <a:prstGeom prst="rect">
            <a:avLst/>
          </a:prstGeom>
          <a:noFill/>
        </p:spPr>
        <p:txBody>
          <a:bodyPr wrap="square" lIns="0" tIns="0" rIns="0" bIns="0" rtlCol="0">
            <a:spAutoFit/>
          </a:bodyPr>
          <a:lstStyle/>
          <a:p>
            <a:pPr>
              <a:lnSpc>
                <a:spcPct val="126666"/>
              </a:lnSpc>
            </a:pPr>
            <a:r>
              <a:rPr lang="en-US" altLang="zh-CN" sz="2140" spc="127" dirty="0" err="1">
                <a:solidFill>
                  <a:srgbClr val="FEFEFE"/>
                </a:solidFill>
                <a:latin typeface="Times New Roman"/>
                <a:ea typeface="Times New Roman"/>
              </a:rPr>
              <a:t>Nội</a:t>
            </a:r>
            <a:r>
              <a:rPr lang="en-US" altLang="zh-CN" sz="2140" spc="127" dirty="0">
                <a:solidFill>
                  <a:srgbClr val="FEFEFE"/>
                </a:solidFill>
                <a:latin typeface="Times New Roman"/>
                <a:ea typeface="Times New Roman"/>
              </a:rPr>
              <a:t> dung </a:t>
            </a:r>
            <a:r>
              <a:rPr lang="en-US" altLang="zh-CN" sz="2140" spc="127" dirty="0" err="1">
                <a:solidFill>
                  <a:srgbClr val="FEFEFE"/>
                </a:solidFill>
                <a:latin typeface="Times New Roman"/>
                <a:ea typeface="Times New Roman"/>
              </a:rPr>
              <a:t>thuyết</a:t>
            </a:r>
            <a:r>
              <a:rPr lang="en-US" altLang="zh-CN" sz="2140" spc="127" dirty="0">
                <a:solidFill>
                  <a:srgbClr val="FEFEFE"/>
                </a:solidFill>
                <a:latin typeface="Times New Roman"/>
                <a:ea typeface="Times New Roman"/>
              </a:rPr>
              <a:t> </a:t>
            </a:r>
            <a:r>
              <a:rPr lang="en-US" altLang="zh-CN" sz="2140" spc="127" dirty="0" err="1">
                <a:solidFill>
                  <a:srgbClr val="FEFEFE"/>
                </a:solidFill>
                <a:latin typeface="Times New Roman"/>
                <a:ea typeface="Times New Roman"/>
              </a:rPr>
              <a:t>trình</a:t>
            </a:r>
            <a:endParaRPr lang="en-US" altLang="zh-CN" sz="2140" spc="116" dirty="0">
              <a:solidFill>
                <a:srgbClr val="FEFEFE"/>
              </a:solidFill>
              <a:latin typeface="Times New Roman"/>
              <a:ea typeface="Times New Roman"/>
            </a:endParaRPr>
          </a:p>
        </p:txBody>
      </p:sp>
      <p:sp>
        <p:nvSpPr>
          <p:cNvPr id="7" name="TextBox 7"/>
          <p:cNvSpPr txBox="1"/>
          <p:nvPr/>
        </p:nvSpPr>
        <p:spPr>
          <a:xfrm>
            <a:off x="2056859" y="3685005"/>
            <a:ext cx="124948" cy="1173270"/>
          </a:xfrm>
          <a:prstGeom prst="rect">
            <a:avLst/>
          </a:prstGeom>
          <a:noFill/>
        </p:spPr>
        <p:txBody>
          <a:bodyPr wrap="square" lIns="0" tIns="0" rIns="0" bIns="0" rtlCol="0">
            <a:spAutoFit/>
          </a:bodyPr>
          <a:lstStyle/>
          <a:p>
            <a:pPr indent="15823">
              <a:lnSpc>
                <a:spcPct val="110416"/>
              </a:lnSpc>
            </a:pPr>
            <a:r>
              <a:rPr lang="en-US" altLang="zh-CN" sz="1788" spc="-219" dirty="0">
                <a:solidFill>
                  <a:srgbClr val="FEFEFE"/>
                </a:solidFill>
                <a:latin typeface="Times New Roman"/>
                <a:ea typeface="Times New Roman"/>
              </a:rPr>
              <a:t>1</a:t>
            </a: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66"/>
              </a:lnSpc>
            </a:pPr>
            <a:endParaRPr lang="en-US" sz="867" dirty="0"/>
          </a:p>
          <a:p>
            <a:pPr>
              <a:lnSpc>
                <a:spcPct val="110416"/>
              </a:lnSpc>
            </a:pPr>
            <a:r>
              <a:rPr lang="en-US" altLang="zh-CN" sz="1788" spc="30" dirty="0">
                <a:solidFill>
                  <a:srgbClr val="FEFEFE"/>
                </a:solidFill>
                <a:latin typeface="Times New Roman"/>
                <a:ea typeface="Times New Roman"/>
              </a:rPr>
              <a:t>2</a:t>
            </a:r>
          </a:p>
        </p:txBody>
      </p:sp>
      <p:sp>
        <p:nvSpPr>
          <p:cNvPr id="8" name="TextBox 8"/>
          <p:cNvSpPr txBox="1"/>
          <p:nvPr/>
        </p:nvSpPr>
        <p:spPr>
          <a:xfrm>
            <a:off x="2434533" y="3570962"/>
            <a:ext cx="2651791" cy="1377300"/>
          </a:xfrm>
          <a:prstGeom prst="rect">
            <a:avLst/>
          </a:prstGeom>
          <a:noFill/>
        </p:spPr>
        <p:txBody>
          <a:bodyPr wrap="square" lIns="0" tIns="0" rIns="0" bIns="0" rtlCol="0">
            <a:spAutoFit/>
          </a:bodyPr>
          <a:lstStyle/>
          <a:p>
            <a:r>
              <a:rPr lang="en-US" altLang="zh-CN" sz="1300" spc="62" dirty="0">
                <a:solidFill>
                  <a:srgbClr val="000000"/>
                </a:solidFill>
                <a:latin typeface="Times New Roman"/>
                <a:ea typeface="Times New Roman"/>
              </a:rPr>
              <a:t>Giới</a:t>
            </a:r>
            <a:r>
              <a:rPr lang="en-US" altLang="zh-CN" sz="1300" spc="35" dirty="0">
                <a:solidFill>
                  <a:srgbClr val="000000"/>
                </a:solidFill>
                <a:latin typeface="Times New Roman"/>
                <a:cs typeface="Times New Roman"/>
              </a:rPr>
              <a:t> </a:t>
            </a:r>
            <a:r>
              <a:rPr lang="en-US" altLang="zh-CN" sz="1300" spc="54" dirty="0">
                <a:solidFill>
                  <a:srgbClr val="000000"/>
                </a:solidFill>
                <a:latin typeface="Times New Roman"/>
                <a:ea typeface="Times New Roman"/>
              </a:rPr>
              <a:t>thiệu</a:t>
            </a:r>
            <a:r>
              <a:rPr lang="en-US" altLang="zh-CN" sz="1300" spc="35" dirty="0">
                <a:solidFill>
                  <a:srgbClr val="000000"/>
                </a:solidFill>
                <a:latin typeface="Times New Roman"/>
                <a:cs typeface="Times New Roman"/>
              </a:rPr>
              <a:t> </a:t>
            </a:r>
            <a:r>
              <a:rPr lang="en-US" altLang="zh-CN" sz="1300" spc="68" dirty="0" err="1">
                <a:solidFill>
                  <a:srgbClr val="000000"/>
                </a:solidFill>
                <a:latin typeface="Times New Roman"/>
                <a:ea typeface="Times New Roman"/>
              </a:rPr>
              <a:t>về</a:t>
            </a:r>
            <a:r>
              <a:rPr lang="en-US" altLang="zh-CN" sz="1300" spc="37" dirty="0">
                <a:solidFill>
                  <a:srgbClr val="000000"/>
                </a:solidFill>
                <a:latin typeface="Times New Roman"/>
                <a:cs typeface="Times New Roman"/>
              </a:rPr>
              <a:t> </a:t>
            </a:r>
            <a:r>
              <a:rPr lang="en-US" altLang="zh-CN" sz="1300" spc="62" dirty="0">
                <a:solidFill>
                  <a:srgbClr val="000000"/>
                </a:solidFill>
                <a:latin typeface="Times New Roman"/>
              </a:rPr>
              <a:t>Spring Data JPA </a:t>
            </a:r>
            <a:r>
              <a:rPr lang="en-US" altLang="zh-CN" sz="1300" spc="62" dirty="0" err="1">
                <a:solidFill>
                  <a:srgbClr val="000000"/>
                </a:solidFill>
                <a:latin typeface="Times New Roman"/>
              </a:rPr>
              <a:t>và</a:t>
            </a:r>
            <a:r>
              <a:rPr lang="en-US" altLang="zh-CN" sz="1300" spc="62" dirty="0">
                <a:solidFill>
                  <a:srgbClr val="000000"/>
                </a:solidFill>
                <a:latin typeface="Times New Roman"/>
              </a:rPr>
              <a:t> </a:t>
            </a:r>
            <a:r>
              <a:rPr lang="en-US" altLang="zh-CN" sz="1300" spc="62" dirty="0" err="1">
                <a:solidFill>
                  <a:srgbClr val="000000"/>
                </a:solidFill>
                <a:latin typeface="Times New Roman"/>
              </a:rPr>
              <a:t>mục</a:t>
            </a:r>
            <a:r>
              <a:rPr lang="en-US" altLang="zh-CN" sz="1300" spc="62" dirty="0">
                <a:solidFill>
                  <a:srgbClr val="000000"/>
                </a:solidFill>
                <a:latin typeface="Times New Roman"/>
              </a:rPr>
              <a:t> </a:t>
            </a:r>
            <a:r>
              <a:rPr lang="en-US" altLang="zh-CN" sz="1300" spc="62" dirty="0" err="1">
                <a:solidFill>
                  <a:srgbClr val="000000"/>
                </a:solidFill>
                <a:latin typeface="Times New Roman"/>
              </a:rPr>
              <a:t>tiêu</a:t>
            </a:r>
            <a:r>
              <a:rPr lang="en-US" altLang="zh-CN" sz="1300" spc="62" dirty="0">
                <a:solidFill>
                  <a:srgbClr val="000000"/>
                </a:solidFill>
                <a:latin typeface="Times New Roman"/>
              </a:rPr>
              <a:t> </a:t>
            </a:r>
            <a:r>
              <a:rPr lang="en-US" altLang="zh-CN" sz="1300" spc="62" dirty="0" err="1">
                <a:solidFill>
                  <a:srgbClr val="000000"/>
                </a:solidFill>
                <a:latin typeface="Times New Roman"/>
              </a:rPr>
              <a:t>đạt</a:t>
            </a:r>
            <a:r>
              <a:rPr lang="en-US" altLang="zh-CN" sz="1300" spc="62" dirty="0">
                <a:solidFill>
                  <a:srgbClr val="000000"/>
                </a:solidFill>
                <a:latin typeface="Times New Roman"/>
              </a:rPr>
              <a:t> </a:t>
            </a:r>
            <a:r>
              <a:rPr lang="en-US" altLang="zh-CN" sz="1300" spc="62" dirty="0" err="1">
                <a:solidFill>
                  <a:srgbClr val="000000"/>
                </a:solidFill>
                <a:latin typeface="Times New Roman"/>
              </a:rPr>
              <a:t>được</a:t>
            </a:r>
            <a:r>
              <a:rPr lang="en-US" altLang="zh-CN" sz="1300" spc="62" dirty="0">
                <a:solidFill>
                  <a:srgbClr val="000000"/>
                </a:solidFill>
                <a:latin typeface="Times New Roman"/>
              </a:rPr>
              <a:t> </a:t>
            </a:r>
            <a:r>
              <a:rPr lang="en-US" altLang="zh-CN" sz="1300" spc="62" dirty="0" err="1">
                <a:solidFill>
                  <a:srgbClr val="000000"/>
                </a:solidFill>
                <a:latin typeface="Times New Roman"/>
              </a:rPr>
              <a:t>sau</a:t>
            </a:r>
            <a:r>
              <a:rPr lang="en-US" altLang="zh-CN" sz="1300" spc="62" dirty="0">
                <a:solidFill>
                  <a:srgbClr val="000000"/>
                </a:solidFill>
                <a:latin typeface="Times New Roman"/>
              </a:rPr>
              <a:t> </a:t>
            </a:r>
            <a:r>
              <a:rPr lang="en-US" altLang="zh-CN" sz="1300" spc="62" dirty="0" err="1">
                <a:solidFill>
                  <a:srgbClr val="000000"/>
                </a:solidFill>
                <a:latin typeface="Times New Roman"/>
              </a:rPr>
              <a:t>khi</a:t>
            </a:r>
            <a:r>
              <a:rPr lang="en-US" altLang="zh-CN" sz="1300" spc="62" dirty="0">
                <a:solidFill>
                  <a:srgbClr val="000000"/>
                </a:solidFill>
                <a:latin typeface="Times New Roman"/>
              </a:rPr>
              <a:t> training</a:t>
            </a:r>
            <a:endParaRPr lang="en-US" altLang="zh-CN" sz="1300" spc="62" dirty="0">
              <a:solidFill>
                <a:srgbClr val="000000"/>
              </a:solidFill>
              <a:latin typeface="Times New Roman"/>
              <a:ea typeface="Times New Roman"/>
            </a:endParaRP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r>
              <a:rPr lang="en-US" altLang="zh-CN" sz="1300" spc="75" dirty="0">
                <a:solidFill>
                  <a:srgbClr val="000000"/>
                </a:solidFill>
                <a:latin typeface="Times New Roman"/>
                <a:ea typeface="Times New Roman"/>
              </a:rPr>
              <a:t>Thao </a:t>
            </a:r>
            <a:r>
              <a:rPr lang="en-US" altLang="zh-CN" sz="1300" spc="75" dirty="0" err="1">
                <a:solidFill>
                  <a:srgbClr val="000000"/>
                </a:solidFill>
                <a:latin typeface="Times New Roman"/>
                <a:ea typeface="Times New Roman"/>
              </a:rPr>
              <a:t>tác</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với</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bảng</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đơn</a:t>
            </a:r>
            <a:r>
              <a:rPr lang="en-US" altLang="zh-CN" sz="1300" spc="75" dirty="0">
                <a:solidFill>
                  <a:srgbClr val="000000"/>
                </a:solidFill>
                <a:latin typeface="Times New Roman"/>
                <a:ea typeface="Times New Roman"/>
              </a:rPr>
              <a:t> </a:t>
            </a:r>
            <a:r>
              <a:rPr lang="en-US" altLang="zh-CN" sz="1300" spc="75" dirty="0" err="1">
                <a:solidFill>
                  <a:srgbClr val="000000"/>
                </a:solidFill>
                <a:latin typeface="Times New Roman"/>
                <a:ea typeface="Times New Roman"/>
              </a:rPr>
              <a:t>trong</a:t>
            </a:r>
            <a:r>
              <a:rPr lang="en-US" altLang="zh-CN" sz="1300" spc="75" dirty="0">
                <a:solidFill>
                  <a:srgbClr val="000000"/>
                </a:solidFill>
                <a:latin typeface="Times New Roman"/>
                <a:ea typeface="Times New Roman"/>
              </a:rPr>
              <a:t> JPA</a:t>
            </a:r>
            <a:endParaRPr lang="en-US" altLang="zh-CN" sz="1300" spc="81" dirty="0">
              <a:solidFill>
                <a:srgbClr val="000000"/>
              </a:solidFill>
              <a:latin typeface="Times New Roman"/>
              <a:ea typeface="Times New Roman"/>
            </a:endParaRPr>
          </a:p>
        </p:txBody>
      </p:sp>
      <p:sp>
        <p:nvSpPr>
          <p:cNvPr id="9" name="TextBox 9"/>
          <p:cNvSpPr txBox="1"/>
          <p:nvPr/>
        </p:nvSpPr>
        <p:spPr>
          <a:xfrm>
            <a:off x="5578193" y="3685006"/>
            <a:ext cx="126077" cy="1173270"/>
          </a:xfrm>
          <a:prstGeom prst="rect">
            <a:avLst/>
          </a:prstGeom>
          <a:noFill/>
        </p:spPr>
        <p:txBody>
          <a:bodyPr wrap="square" lIns="0" tIns="0" rIns="0" bIns="0" rtlCol="0">
            <a:spAutoFit/>
          </a:bodyPr>
          <a:lstStyle/>
          <a:p>
            <a:pPr>
              <a:lnSpc>
                <a:spcPct val="110416"/>
              </a:lnSpc>
            </a:pPr>
            <a:r>
              <a:rPr lang="en-US" altLang="zh-CN" sz="1788" spc="-33" dirty="0">
                <a:solidFill>
                  <a:srgbClr val="FEFEFE"/>
                </a:solidFill>
                <a:latin typeface="Times New Roman"/>
                <a:ea typeface="Times New Roman"/>
              </a:rPr>
              <a:t>3</a:t>
            </a: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a:p>
            <a:pPr>
              <a:lnSpc>
                <a:spcPts val="566"/>
              </a:lnSpc>
            </a:pPr>
            <a:endParaRPr lang="en-US" sz="867" dirty="0"/>
          </a:p>
          <a:p>
            <a:pPr>
              <a:lnSpc>
                <a:spcPct val="110416"/>
              </a:lnSpc>
            </a:pPr>
            <a:r>
              <a:rPr lang="en-US" altLang="zh-CN" sz="1788" spc="37" dirty="0">
                <a:solidFill>
                  <a:srgbClr val="FEFEFE"/>
                </a:solidFill>
                <a:latin typeface="Times New Roman"/>
                <a:ea typeface="Times New Roman"/>
              </a:rPr>
              <a:t>4</a:t>
            </a:r>
          </a:p>
        </p:txBody>
      </p:sp>
      <p:sp>
        <p:nvSpPr>
          <p:cNvPr id="10" name="TextBox 10"/>
          <p:cNvSpPr txBox="1"/>
          <p:nvPr/>
        </p:nvSpPr>
        <p:spPr>
          <a:xfrm>
            <a:off x="6052925" y="3689304"/>
            <a:ext cx="2904331" cy="1085490"/>
          </a:xfrm>
          <a:prstGeom prst="rect">
            <a:avLst/>
          </a:prstGeom>
          <a:noFill/>
        </p:spPr>
        <p:txBody>
          <a:bodyPr wrap="square" lIns="0" tIns="0" rIns="0" bIns="0" rtlCol="0">
            <a:spAutoFit/>
          </a:bodyPr>
          <a:lstStyle/>
          <a:p>
            <a:r>
              <a:rPr lang="en-US" altLang="zh-CN" sz="1300" spc="87" dirty="0" err="1">
                <a:solidFill>
                  <a:srgbClr val="000000"/>
                </a:solidFill>
                <a:latin typeface="Times New Roman" panose="02020603050405020304" pitchFamily="18" charset="0"/>
                <a:ea typeface="Times New Roman"/>
                <a:cs typeface="Times New Roman" panose="02020603050405020304" pitchFamily="18" charset="0"/>
              </a:rPr>
              <a:t>Quan</a:t>
            </a:r>
            <a:r>
              <a:rPr lang="en-US" altLang="zh-CN" sz="1300" spc="87"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87" dirty="0" err="1">
                <a:solidFill>
                  <a:srgbClr val="000000"/>
                </a:solidFill>
                <a:latin typeface="Times New Roman" panose="02020603050405020304" pitchFamily="18" charset="0"/>
                <a:ea typeface="Times New Roman"/>
                <a:cs typeface="Times New Roman" panose="02020603050405020304" pitchFamily="18" charset="0"/>
              </a:rPr>
              <a:t>hệ</a:t>
            </a:r>
            <a:r>
              <a:rPr lang="en-US" altLang="zh-CN" sz="1300" spc="87"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87" dirty="0" err="1">
                <a:solidFill>
                  <a:srgbClr val="000000"/>
                </a:solidFill>
                <a:latin typeface="Times New Roman" panose="02020603050405020304" pitchFamily="18" charset="0"/>
                <a:ea typeface="Times New Roman"/>
                <a:cs typeface="Times New Roman" panose="02020603050405020304" pitchFamily="18" charset="0"/>
              </a:rPr>
              <a:t>trong</a:t>
            </a:r>
            <a:r>
              <a:rPr lang="en-US" altLang="zh-CN" sz="1300" spc="87" dirty="0">
                <a:solidFill>
                  <a:srgbClr val="000000"/>
                </a:solidFill>
                <a:latin typeface="Times New Roman" panose="02020603050405020304" pitchFamily="18" charset="0"/>
                <a:ea typeface="Times New Roman"/>
                <a:cs typeface="Times New Roman" panose="02020603050405020304" pitchFamily="18" charset="0"/>
              </a:rPr>
              <a:t> JPA</a:t>
            </a:r>
            <a:endParaRPr lang="en-US" altLang="zh-CN" sz="1300" spc="81" dirty="0">
              <a:solidFill>
                <a:srgbClr val="000000"/>
              </a:solidFill>
              <a:latin typeface="Times New Roman" panose="02020603050405020304" pitchFamily="18" charset="0"/>
              <a:ea typeface="Times New Roman"/>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542"/>
              </a:lnSpc>
            </a:pPr>
            <a:endParaRPr lang="en-US" sz="1300" dirty="0">
              <a:latin typeface="Times New Roman" panose="02020603050405020304" pitchFamily="18" charset="0"/>
              <a:cs typeface="Times New Roman" panose="02020603050405020304" pitchFamily="18" charset="0"/>
            </a:endParaRPr>
          </a:p>
          <a:p>
            <a:pPr>
              <a:lnSpc>
                <a:spcPts val="834"/>
              </a:lnSpc>
            </a:pPr>
            <a:r>
              <a:rPr lang="en-US" sz="1300" dirty="0" err="1">
                <a:latin typeface="Times New Roman" panose="02020603050405020304" pitchFamily="18" charset="0"/>
                <a:cs typeface="Times New Roman" panose="02020603050405020304" pitchFamily="18" charset="0"/>
              </a:rPr>
              <a:t>Cách</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sử</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dụng</a:t>
            </a:r>
            <a:r>
              <a:rPr lang="en-US" sz="1300" dirty="0">
                <a:latin typeface="Times New Roman" panose="02020603050405020304" pitchFamily="18" charset="0"/>
                <a:cs typeface="Times New Roman" panose="02020603050405020304" pitchFamily="18" charset="0"/>
              </a:rPr>
              <a:t> JPQL </a:t>
            </a:r>
            <a:r>
              <a:rPr lang="en-US" sz="1300" dirty="0" err="1">
                <a:latin typeface="Times New Roman" panose="02020603050405020304" pitchFamily="18" charset="0"/>
                <a:cs typeface="Times New Roman" panose="02020603050405020304" pitchFamily="18" charset="0"/>
              </a:rPr>
              <a:t>trên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JpaRepository</a:t>
            </a:r>
            <a:endParaRPr lang="en-US" sz="1300" dirty="0">
              <a:latin typeface="Times New Roman" panose="02020603050405020304" pitchFamily="18" charset="0"/>
              <a:cs typeface="Times New Roman" panose="02020603050405020304" pitchFamily="18" charset="0"/>
            </a:endParaRPr>
          </a:p>
        </p:txBody>
      </p:sp>
      <p:pic>
        <p:nvPicPr>
          <p:cNvPr id="3" name="図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8971" y="1278593"/>
            <a:ext cx="2012648" cy="2012648"/>
          </a:xfrm>
          <a:prstGeom prst="rect">
            <a:avLst/>
          </a:prstGeom>
        </p:spPr>
      </p:pic>
      <p:pic>
        <p:nvPicPr>
          <p:cNvPr id="11" name="図 10"/>
          <p:cNvPicPr>
            <a:picLocks noChangeAspect="1"/>
          </p:cNvPicPr>
          <p:nvPr/>
        </p:nvPicPr>
        <p:blipFill>
          <a:blip r:embed="rId4">
            <a:extLst>
              <a:ext uri="{BEBA8EAE-BF5A-486C-A8C5-ECC9F3942E4B}">
                <a14:imgProps xmlns:a14="http://schemas.microsoft.com/office/drawing/2010/main">
                  <a14:imgLayer r:embed="rId5">
                    <a14:imgEffect>
                      <a14:brightnessContrast bright="-36000" contrast="-10000"/>
                    </a14:imgEffect>
                  </a14:imgLayer>
                </a14:imgProps>
              </a:ext>
              <a:ext uri="{28A0092B-C50C-407E-A947-70E740481C1C}">
                <a14:useLocalDpi xmlns:a14="http://schemas.microsoft.com/office/drawing/2010/main" val="0"/>
              </a:ext>
            </a:extLst>
          </a:blip>
          <a:stretch>
            <a:fillRect/>
          </a:stretch>
        </p:blipFill>
        <p:spPr>
          <a:xfrm>
            <a:off x="5086324" y="974463"/>
            <a:ext cx="2012648" cy="2012648"/>
          </a:xfrm>
          <a:prstGeom prst="rect">
            <a:avLst/>
          </a:prstGeom>
        </p:spPr>
      </p:pic>
      <p:sp>
        <p:nvSpPr>
          <p:cNvPr id="12" name="TextBox 8"/>
          <p:cNvSpPr txBox="1"/>
          <p:nvPr/>
        </p:nvSpPr>
        <p:spPr>
          <a:xfrm>
            <a:off x="5803265" y="1406897"/>
            <a:ext cx="1138797" cy="105285"/>
          </a:xfrm>
          <a:prstGeom prst="rect">
            <a:avLst/>
          </a:prstGeom>
          <a:noFill/>
        </p:spPr>
        <p:txBody>
          <a:bodyPr wrap="square" lIns="0" tIns="0" rIns="0" bIns="0" rtlCol="0">
            <a:spAutoFit/>
          </a:bodyPr>
          <a:lstStyle/>
          <a:p>
            <a:pPr>
              <a:lnSpc>
                <a:spcPts val="542"/>
              </a:lnSpc>
            </a:pPr>
            <a:r>
              <a:rPr lang="en-US" sz="1733" dirty="0">
                <a:solidFill>
                  <a:schemeClr val="bg1"/>
                </a:solidFill>
                <a:latin typeface="Consolas" panose="020B0609020204030204" pitchFamily="49" charset="0"/>
              </a:rPr>
              <a:t>Users</a:t>
            </a:r>
          </a:p>
        </p:txBody>
      </p:sp>
      <p:sp>
        <p:nvSpPr>
          <p:cNvPr id="13" name="TextBox 8"/>
          <p:cNvSpPr txBox="1"/>
          <p:nvPr/>
        </p:nvSpPr>
        <p:spPr>
          <a:xfrm>
            <a:off x="7523843" y="1713511"/>
            <a:ext cx="1352248" cy="105285"/>
          </a:xfrm>
          <a:prstGeom prst="rect">
            <a:avLst/>
          </a:prstGeom>
          <a:noFill/>
        </p:spPr>
        <p:txBody>
          <a:bodyPr wrap="square" lIns="0" tIns="0" rIns="0" bIns="0" rtlCol="0">
            <a:spAutoFit/>
          </a:bodyPr>
          <a:lstStyle/>
          <a:p>
            <a:pPr>
              <a:lnSpc>
                <a:spcPts val="542"/>
              </a:lnSpc>
            </a:pPr>
            <a:r>
              <a:rPr lang="en-US" sz="1733" dirty="0">
                <a:solidFill>
                  <a:schemeClr val="bg1"/>
                </a:solidFill>
                <a:latin typeface="Consolas" panose="020B0609020204030204" pitchFamily="49" charset="0"/>
              </a:rPr>
              <a:t>Facilities</a:t>
            </a:r>
          </a:p>
        </p:txBody>
      </p:sp>
      <p:pic>
        <p:nvPicPr>
          <p:cNvPr id="2" name="図 1"/>
          <p:cNvPicPr>
            <a:picLocks noChangeAspect="1"/>
          </p:cNvPicPr>
          <p:nvPr/>
        </p:nvPicPr>
        <p:blipFill>
          <a:blip r:embed="rId6"/>
          <a:stretch>
            <a:fillRect/>
          </a:stretch>
        </p:blipFill>
        <p:spPr>
          <a:xfrm>
            <a:off x="1583108" y="5193616"/>
            <a:ext cx="3503216" cy="706834"/>
          </a:xfrm>
          <a:prstGeom prst="rect">
            <a:avLst/>
          </a:prstGeom>
        </p:spPr>
      </p:pic>
      <p:sp>
        <p:nvSpPr>
          <p:cNvPr id="4" name="テキスト ボックス 3"/>
          <p:cNvSpPr txBox="1"/>
          <p:nvPr/>
        </p:nvSpPr>
        <p:spPr>
          <a:xfrm>
            <a:off x="1991053" y="5360963"/>
            <a:ext cx="256560" cy="367473"/>
          </a:xfrm>
          <a:prstGeom prst="rect">
            <a:avLst/>
          </a:prstGeom>
          <a:noFill/>
        </p:spPr>
        <p:txBody>
          <a:bodyPr wrap="square" rtlCol="0">
            <a:spAutoFit/>
          </a:bodyPr>
          <a:lstStyle/>
          <a:p>
            <a:r>
              <a:rPr lang="en-US" sz="1788" dirty="0">
                <a:solidFill>
                  <a:schemeClr val="bg1"/>
                </a:solidFill>
                <a:latin typeface="Times New Roman" panose="02020603050405020304" pitchFamily="18" charset="0"/>
                <a:cs typeface="Times New Roman" panose="02020603050405020304" pitchFamily="18" charset="0"/>
              </a:rPr>
              <a:t>5</a:t>
            </a:r>
          </a:p>
        </p:txBody>
      </p:sp>
      <p:sp>
        <p:nvSpPr>
          <p:cNvPr id="15" name="テキスト ボックス 14"/>
          <p:cNvSpPr txBox="1"/>
          <p:nvPr/>
        </p:nvSpPr>
        <p:spPr>
          <a:xfrm>
            <a:off x="2434533" y="5284964"/>
            <a:ext cx="2418215" cy="692497"/>
          </a:xfrm>
          <a:prstGeom prst="rect">
            <a:avLst/>
          </a:prstGeom>
          <a:noFill/>
        </p:spPr>
        <p:txBody>
          <a:bodyPr wrap="square" rtlCol="0">
            <a:spAutoFit/>
          </a:bodyPr>
          <a:lstStyle/>
          <a:p>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Sử</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dụng</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Pessimistic Locking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trong</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JPA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như</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thế</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 </a:t>
            </a:r>
            <a:r>
              <a:rPr lang="en-US" altLang="zh-CN" sz="1300" spc="75" dirty="0" err="1">
                <a:solidFill>
                  <a:srgbClr val="000000"/>
                </a:solidFill>
                <a:latin typeface="Times New Roman" panose="02020603050405020304" pitchFamily="18" charset="0"/>
                <a:ea typeface="Times New Roman"/>
                <a:cs typeface="Times New Roman" panose="02020603050405020304" pitchFamily="18" charset="0"/>
              </a:rPr>
              <a:t>nào</a:t>
            </a:r>
            <a:r>
              <a:rPr lang="en-US" altLang="zh-CN" sz="1300" spc="75" dirty="0">
                <a:solidFill>
                  <a:srgbClr val="000000"/>
                </a:solidFill>
                <a:latin typeface="Times New Roman" panose="02020603050405020304" pitchFamily="18" charset="0"/>
                <a:ea typeface="Times New Roman"/>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329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3"/>
          <a:stretch>
            <a:fillRect/>
          </a:stretch>
        </p:blipFill>
        <p:spPr>
          <a:xfrm>
            <a:off x="705803" y="1546860"/>
            <a:ext cx="3285490" cy="3615690"/>
          </a:xfrm>
          <a:prstGeom prst="rect">
            <a:avLst/>
          </a:prstGeom>
        </p:spPr>
      </p:pic>
      <p:sp>
        <p:nvSpPr>
          <p:cNvPr id="2" name="TextBox 21"/>
          <p:cNvSpPr txBox="1"/>
          <p:nvPr/>
        </p:nvSpPr>
        <p:spPr>
          <a:xfrm>
            <a:off x="4353059" y="2461146"/>
            <a:ext cx="4681203" cy="1467197"/>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1. </a:t>
            </a:r>
            <a:r>
              <a:rPr lang="en-US" altLang="zh-CN" sz="4767" spc="100" dirty="0" err="1">
                <a:solidFill>
                  <a:srgbClr val="F5B3A5"/>
                </a:solidFill>
                <a:latin typeface="Times New Roman"/>
                <a:ea typeface="Times New Roman"/>
              </a:rPr>
              <a:t>Giới</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thiệu</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về</a:t>
            </a:r>
            <a:r>
              <a:rPr lang="en-US" altLang="zh-CN" sz="4767" spc="100" dirty="0">
                <a:solidFill>
                  <a:srgbClr val="F5B3A5"/>
                </a:solidFill>
                <a:latin typeface="Times New Roman"/>
                <a:ea typeface="Times New Roman"/>
              </a:rPr>
              <a:t> Spring Data JPA</a:t>
            </a:r>
            <a:endParaRPr lang="en-US" altLang="zh-CN" sz="2383" spc="106" dirty="0">
              <a:solidFill>
                <a:srgbClr val="93DCDD"/>
              </a:solidFill>
              <a:latin typeface="Times New Roman"/>
              <a:ea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92602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Spring Data JPA là gì?</a:t>
            </a:r>
          </a:p>
        </p:txBody>
      </p:sp>
      <p:sp>
        <p:nvSpPr>
          <p:cNvPr id="8" name="正方形/長方形 7"/>
          <p:cNvSpPr/>
          <p:nvPr/>
        </p:nvSpPr>
        <p:spPr>
          <a:xfrm>
            <a:off x="781645" y="1297026"/>
            <a:ext cx="8594175" cy="992836"/>
          </a:xfrm>
          <a:prstGeom prst="rect">
            <a:avLst/>
          </a:prstGeom>
        </p:spPr>
        <p:txBody>
          <a:bodyPr wrap="square">
            <a:spAutoFit/>
          </a:bodyPr>
          <a:lstStyle/>
          <a:p>
            <a:pPr algn="just"/>
            <a:r>
              <a:rPr lang="vi-VN" sz="1463" dirty="0">
                <a:solidFill>
                  <a:srgbClr val="333333"/>
                </a:solidFill>
              </a:rPr>
              <a:t>Spring Data JPA</a:t>
            </a:r>
            <a:r>
              <a:rPr lang="en-US" sz="1463" dirty="0">
                <a:solidFill>
                  <a:srgbClr val="333333"/>
                </a:solidFill>
              </a:rPr>
              <a:t> </a:t>
            </a:r>
            <a:r>
              <a:rPr lang="en-US" sz="1463" dirty="0" err="1">
                <a:solidFill>
                  <a:srgbClr val="333333"/>
                </a:solidFill>
              </a:rPr>
              <a:t>là</a:t>
            </a:r>
            <a:r>
              <a:rPr lang="vi-VN" sz="1463" dirty="0">
                <a:solidFill>
                  <a:srgbClr val="333333"/>
                </a:solidFill>
              </a:rPr>
              <a:t> một phần của dòng Spring Data, giúp dễ dàng triển khai các kho lưu trữ dựa trên JPA. Mô-đun này đề cập đến hỗ trợ nâng cao cho các lớp truy cập dữ liệu dựa trên JPA. Nó làm cho việc xây dựng các ứng dụng dựa trên Spring sử dụng công nghệ truy cập dữ liệu trở nên dễ dàng hơn</a:t>
            </a:r>
            <a:endParaRPr lang="en-US" sz="1463" dirty="0"/>
          </a:p>
        </p:txBody>
      </p:sp>
      <p:pic>
        <p:nvPicPr>
          <p:cNvPr id="9" name="Picture 2" descr="https://miro.medium.com/max/1400/1*beI5EsSh45USmgJnKk2v9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842" y="2401006"/>
            <a:ext cx="6510792" cy="3418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98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7"/>
          <p:cNvSpPr/>
          <p:nvPr/>
        </p:nvSpPr>
        <p:spPr>
          <a:xfrm>
            <a:off x="0" y="642938"/>
            <a:ext cx="9906000" cy="5572125"/>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EEEEE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8" name="Freeform 28"/>
          <p:cNvSpPr/>
          <p:nvPr/>
        </p:nvSpPr>
        <p:spPr>
          <a:xfrm>
            <a:off x="0" y="642938"/>
            <a:ext cx="9906000" cy="5572125"/>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9" name="Freeform 29"/>
          <p:cNvSpPr/>
          <p:nvPr/>
        </p:nvSpPr>
        <p:spPr>
          <a:xfrm>
            <a:off x="0" y="628985"/>
            <a:ext cx="9906000" cy="5572125"/>
          </a:xfrm>
          <a:custGeom>
            <a:avLst/>
            <a:gdLst>
              <a:gd name="connsiteX0" fmla="*/ 0 w 18288000"/>
              <a:gd name="connsiteY0" fmla="*/ 0 h 10287000"/>
              <a:gd name="connsiteX1" fmla="*/ 18288000 w 18288000"/>
              <a:gd name="connsiteY1" fmla="*/ 0 h 10287000"/>
              <a:gd name="connsiteX2" fmla="*/ 18288000 w 18288000"/>
              <a:gd name="connsiteY2" fmla="*/ 10287000 h 10287000"/>
              <a:gd name="connsiteX3" fmla="*/ 0 w 18288000"/>
              <a:gd name="connsiteY3" fmla="*/ 10287000 h 10287000"/>
              <a:gd name="connsiteX4" fmla="*/ 0 w 18288000"/>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7000">
                <a:moveTo>
                  <a:pt x="0" y="0"/>
                </a:moveTo>
                <a:lnTo>
                  <a:pt x="18288000" y="0"/>
                </a:lnTo>
                <a:lnTo>
                  <a:pt x="18288000" y="10287000"/>
                </a:lnTo>
                <a:lnTo>
                  <a:pt x="0" y="10287000"/>
                </a:lnTo>
                <a:lnTo>
                  <a:pt x="0" y="0"/>
                </a:lnTo>
                <a:close/>
              </a:path>
            </a:pathLst>
          </a:custGeom>
          <a:solidFill>
            <a:srgbClr val="EEEEE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38" name="Picture 38"/>
          <p:cNvPicPr>
            <a:picLocks noChangeAspect="1"/>
          </p:cNvPicPr>
          <p:nvPr/>
        </p:nvPicPr>
        <p:blipFill>
          <a:blip r:embed="rId2"/>
          <a:stretch>
            <a:fillRect/>
          </a:stretch>
        </p:blipFill>
        <p:spPr>
          <a:xfrm>
            <a:off x="1" y="642938"/>
            <a:ext cx="2493009" cy="1019492"/>
          </a:xfrm>
          <a:prstGeom prst="rect">
            <a:avLst/>
          </a:prstGeom>
        </p:spPr>
      </p:pic>
      <p:pic>
        <p:nvPicPr>
          <p:cNvPr id="39" name="Picture 39"/>
          <p:cNvPicPr>
            <a:picLocks noChangeAspect="1"/>
          </p:cNvPicPr>
          <p:nvPr/>
        </p:nvPicPr>
        <p:blipFill>
          <a:blip r:embed="rId3"/>
          <a:stretch>
            <a:fillRect/>
          </a:stretch>
        </p:blipFill>
        <p:spPr>
          <a:xfrm>
            <a:off x="5708333" y="845185"/>
            <a:ext cx="1130935" cy="701675"/>
          </a:xfrm>
          <a:prstGeom prst="rect">
            <a:avLst/>
          </a:prstGeom>
        </p:spPr>
      </p:pic>
      <p:pic>
        <p:nvPicPr>
          <p:cNvPr id="65" name="Picture 65"/>
          <p:cNvPicPr>
            <a:picLocks noChangeAspect="1"/>
          </p:cNvPicPr>
          <p:nvPr/>
        </p:nvPicPr>
        <p:blipFill>
          <a:blip r:embed="rId4"/>
          <a:stretch>
            <a:fillRect/>
          </a:stretch>
        </p:blipFill>
        <p:spPr>
          <a:xfrm>
            <a:off x="7111683" y="642937"/>
            <a:ext cx="2080259" cy="903923"/>
          </a:xfrm>
          <a:prstGeom prst="rect">
            <a:avLst/>
          </a:prstGeom>
        </p:spPr>
      </p:pic>
      <p:pic>
        <p:nvPicPr>
          <p:cNvPr id="67" name="Picture 67"/>
          <p:cNvPicPr>
            <a:picLocks noChangeAspect="1"/>
          </p:cNvPicPr>
          <p:nvPr/>
        </p:nvPicPr>
        <p:blipFill>
          <a:blip r:embed="rId5"/>
          <a:stretch>
            <a:fillRect/>
          </a:stretch>
        </p:blipFill>
        <p:spPr>
          <a:xfrm>
            <a:off x="2699385" y="642938"/>
            <a:ext cx="2901633" cy="990600"/>
          </a:xfrm>
          <a:prstGeom prst="rect">
            <a:avLst/>
          </a:prstGeom>
        </p:spPr>
      </p:pic>
      <p:sp>
        <p:nvSpPr>
          <p:cNvPr id="5" name="テキスト ボックス 4"/>
          <p:cNvSpPr txBox="1"/>
          <p:nvPr/>
        </p:nvSpPr>
        <p:spPr>
          <a:xfrm>
            <a:off x="270105" y="2191954"/>
            <a:ext cx="9175475" cy="2759089"/>
          </a:xfrm>
          <a:prstGeom prst="rect">
            <a:avLst/>
          </a:prstGeom>
          <a:noFill/>
        </p:spPr>
        <p:txBody>
          <a:bodyPr wrap="square" rtlCol="0">
            <a:spAutoFit/>
          </a:bodyPr>
          <a:lstStyle/>
          <a:p>
            <a:r>
              <a:rPr lang="en-US" sz="1733" dirty="0" err="1">
                <a:latin typeface="Arial" panose="020B0604020202020204" pitchFamily="34" charset="0"/>
                <a:cs typeface="Arial" panose="020B0604020202020204" pitchFamily="34" charset="0"/>
              </a:rPr>
              <a:t>Để</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có</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thể</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dễ</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hình</a:t>
            </a:r>
            <a:r>
              <a:rPr lang="en-US" sz="1733" dirty="0">
                <a:latin typeface="Arial" panose="020B0604020202020204" pitchFamily="34" charset="0"/>
                <a:cs typeface="Arial" panose="020B0604020202020204" pitchFamily="34" charset="0"/>
              </a:rPr>
              <a:t> dung </a:t>
            </a:r>
            <a:r>
              <a:rPr lang="en-US" sz="1733" dirty="0" err="1">
                <a:latin typeface="Arial" panose="020B0604020202020204" pitchFamily="34" charset="0"/>
                <a:cs typeface="Arial" panose="020B0604020202020204" pitchFamily="34" charset="0"/>
              </a:rPr>
              <a:t>về</a:t>
            </a:r>
            <a:r>
              <a:rPr lang="en-US" sz="1733" dirty="0">
                <a:latin typeface="Arial" panose="020B0604020202020204" pitchFamily="34" charset="0"/>
                <a:cs typeface="Arial" panose="020B0604020202020204" pitchFamily="34" charset="0"/>
              </a:rPr>
              <a:t> Spring Data JPA </a:t>
            </a:r>
            <a:r>
              <a:rPr lang="en-US" sz="1733" dirty="0" err="1">
                <a:latin typeface="Arial" panose="020B0604020202020204" pitchFamily="34" charset="0"/>
                <a:cs typeface="Arial" panose="020B0604020202020204" pitchFamily="34" charset="0"/>
              </a:rPr>
              <a:t>và</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cách</a:t>
            </a:r>
            <a:r>
              <a:rPr lang="en-US" sz="1733" dirty="0">
                <a:latin typeface="Arial" panose="020B0604020202020204" pitchFamily="34" charset="0"/>
                <a:cs typeface="Arial" panose="020B0604020202020204" pitchFamily="34" charset="0"/>
              </a:rPr>
              <a:t> implement ta </a:t>
            </a:r>
            <a:r>
              <a:rPr lang="en-US" sz="1733" dirty="0" err="1">
                <a:latin typeface="Arial" panose="020B0604020202020204" pitchFamily="34" charset="0"/>
                <a:cs typeface="Arial" panose="020B0604020202020204" pitchFamily="34" charset="0"/>
              </a:rPr>
              <a:t>thực</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hiện</a:t>
            </a:r>
            <a:r>
              <a:rPr lang="en-US" sz="1733" dirty="0">
                <a:latin typeface="Arial" panose="020B0604020202020204" pitchFamily="34" charset="0"/>
                <a:cs typeface="Arial" panose="020B0604020202020204" pitchFamily="34" charset="0"/>
              </a:rPr>
              <a:t> sample </a:t>
            </a:r>
            <a:r>
              <a:rPr lang="en-US" sz="1733" dirty="0" err="1">
                <a:latin typeface="Arial" panose="020B0604020202020204" pitchFamily="34" charset="0"/>
                <a:cs typeface="Arial" panose="020B0604020202020204" pitchFamily="34" charset="0"/>
              </a:rPr>
              <a:t>cho</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từng</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mục</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tiêu</a:t>
            </a:r>
            <a:r>
              <a:rPr lang="en-US" sz="1733" dirty="0">
                <a:latin typeface="Arial" panose="020B0604020202020204" pitchFamily="34" charset="0"/>
                <a:cs typeface="Arial" panose="020B0604020202020204" pitchFamily="34" charset="0"/>
              </a:rPr>
              <a:t> </a:t>
            </a:r>
            <a:r>
              <a:rPr lang="en-US" sz="1733" dirty="0" err="1">
                <a:latin typeface="Arial" panose="020B0604020202020204" pitchFamily="34" charset="0"/>
                <a:cs typeface="Arial" panose="020B0604020202020204" pitchFamily="34" charset="0"/>
              </a:rPr>
              <a:t>dưới</a:t>
            </a:r>
            <a:r>
              <a:rPr lang="en-US" sz="1733" dirty="0">
                <a:latin typeface="Arial" panose="020B0604020202020204" pitchFamily="34" charset="0"/>
                <a:cs typeface="Arial" panose="020B0604020202020204" pitchFamily="34" charset="0"/>
              </a:rPr>
              <a:t>:</a:t>
            </a:r>
          </a:p>
          <a:p>
            <a:pPr marL="247665" indent="-247665">
              <a:buFont typeface="Arial" panose="020B0604020202020204" pitchFamily="34" charset="0"/>
              <a:buChar char="•"/>
            </a:pPr>
            <a:r>
              <a:rPr lang="en-US" sz="1733" dirty="0" err="1"/>
              <a:t>Có</a:t>
            </a:r>
            <a:r>
              <a:rPr lang="en-US" sz="1733" dirty="0"/>
              <a:t> </a:t>
            </a:r>
            <a:r>
              <a:rPr lang="en-US" sz="1733" dirty="0" err="1"/>
              <a:t>thể</a:t>
            </a:r>
            <a:r>
              <a:rPr lang="en-US" sz="1733" dirty="0"/>
              <a:t> implement database access  </a:t>
            </a:r>
            <a:r>
              <a:rPr lang="en-US" sz="1733" dirty="0" err="1"/>
              <a:t>bằng</a:t>
            </a:r>
            <a:r>
              <a:rPr lang="en-US" sz="1733" dirty="0"/>
              <a:t> JPA</a:t>
            </a:r>
            <a:r>
              <a:rPr lang="ja-JP" altLang="en-US" sz="1733" dirty="0"/>
              <a:t>（</a:t>
            </a:r>
            <a:r>
              <a:rPr lang="en-US" sz="1733" dirty="0" err="1"/>
              <a:t>có</a:t>
            </a:r>
            <a:r>
              <a:rPr lang="en-US" sz="1733" dirty="0"/>
              <a:t> </a:t>
            </a:r>
            <a:r>
              <a:rPr lang="en-US" sz="1733" dirty="0" err="1"/>
              <a:t>thể</a:t>
            </a:r>
            <a:r>
              <a:rPr lang="en-US" sz="1733" dirty="0"/>
              <a:t> </a:t>
            </a:r>
            <a:r>
              <a:rPr lang="en-US" sz="1733" dirty="0" err="1"/>
              <a:t>chạy</a:t>
            </a:r>
            <a:r>
              <a:rPr lang="en-US" sz="1733" dirty="0"/>
              <a:t> CRUD </a:t>
            </a:r>
            <a:r>
              <a:rPr lang="en-US" sz="1733" dirty="0" err="1"/>
              <a:t>đối</a:t>
            </a:r>
            <a:r>
              <a:rPr lang="en-US" sz="1733" dirty="0"/>
              <a:t> </a:t>
            </a:r>
            <a:r>
              <a:rPr lang="en-US" sz="1733" dirty="0" err="1"/>
              <a:t>với</a:t>
            </a:r>
            <a:r>
              <a:rPr lang="en-US" sz="1733" dirty="0"/>
              <a:t> table </a:t>
            </a:r>
            <a:r>
              <a:rPr lang="en-US" sz="1733" dirty="0" err="1"/>
              <a:t>đơn</a:t>
            </a:r>
            <a:r>
              <a:rPr lang="en-US" sz="1733" dirty="0"/>
              <a:t> </a:t>
            </a:r>
            <a:r>
              <a:rPr lang="en-US" sz="1733" dirty="0" err="1"/>
              <a:t>lẻ</a:t>
            </a:r>
            <a:r>
              <a:rPr lang="ja-JP" altLang="en-US" sz="1733" dirty="0"/>
              <a:t>）</a:t>
            </a:r>
            <a:r>
              <a:rPr lang="en-US" sz="1733" dirty="0"/>
              <a:t>.</a:t>
            </a:r>
          </a:p>
          <a:p>
            <a:pPr marL="247665" indent="-247665">
              <a:buFont typeface="Arial" panose="020B0604020202020204" pitchFamily="34" charset="0"/>
              <a:buChar char="•"/>
            </a:pPr>
            <a:r>
              <a:rPr lang="en-US" sz="1733" dirty="0" err="1"/>
              <a:t>Có</a:t>
            </a:r>
            <a:r>
              <a:rPr lang="en-US" sz="1733" dirty="0"/>
              <a:t> </a:t>
            </a:r>
            <a:r>
              <a:rPr lang="en-US" sz="1733" dirty="0" err="1"/>
              <a:t>thể</a:t>
            </a:r>
            <a:r>
              <a:rPr lang="en-US" sz="1733" dirty="0"/>
              <a:t> access </a:t>
            </a:r>
            <a:r>
              <a:rPr lang="en-US" sz="1733" dirty="0" err="1"/>
              <a:t>bằng</a:t>
            </a:r>
            <a:r>
              <a:rPr lang="en-US" sz="1733" dirty="0"/>
              <a:t> JPA </a:t>
            </a:r>
            <a:r>
              <a:rPr lang="en-US" sz="1733" dirty="0" err="1"/>
              <a:t>đến</a:t>
            </a:r>
            <a:r>
              <a:rPr lang="en-US" sz="1733" dirty="0"/>
              <a:t> table </a:t>
            </a:r>
            <a:r>
              <a:rPr lang="en-US" sz="1733" dirty="0" err="1"/>
              <a:t>sử</a:t>
            </a:r>
            <a:r>
              <a:rPr lang="en-US" sz="1733" dirty="0"/>
              <a:t> </a:t>
            </a:r>
            <a:r>
              <a:rPr lang="en-US" sz="1733" dirty="0" err="1"/>
              <a:t>dụng</a:t>
            </a:r>
            <a:r>
              <a:rPr lang="en-US" sz="1733" dirty="0"/>
              <a:t> primary key </a:t>
            </a:r>
            <a:r>
              <a:rPr lang="en-US" sz="1733" dirty="0" err="1"/>
              <a:t>phức</a:t>
            </a:r>
            <a:r>
              <a:rPr lang="en-US" sz="1733" dirty="0"/>
              <a:t> </a:t>
            </a:r>
            <a:r>
              <a:rPr lang="en-US" sz="1733" dirty="0" err="1"/>
              <a:t>hợp</a:t>
            </a:r>
            <a:endParaRPr lang="en-US" sz="1733" dirty="0"/>
          </a:p>
          <a:p>
            <a:pPr marL="247665" indent="-247665">
              <a:buFont typeface="Arial" panose="020B0604020202020204" pitchFamily="34" charset="0"/>
              <a:buChar char="•"/>
            </a:pPr>
            <a:r>
              <a:rPr lang="en-US" sz="1733" dirty="0" err="1"/>
              <a:t>Có</a:t>
            </a:r>
            <a:r>
              <a:rPr lang="en-US" sz="1733" dirty="0"/>
              <a:t> </a:t>
            </a:r>
            <a:r>
              <a:rPr lang="en-US" sz="1733" dirty="0" err="1"/>
              <a:t>thể</a:t>
            </a:r>
            <a:r>
              <a:rPr lang="en-US" sz="1733" dirty="0"/>
              <a:t> </a:t>
            </a:r>
            <a:r>
              <a:rPr lang="en-US" sz="1733" dirty="0" err="1"/>
              <a:t>thực</a:t>
            </a:r>
            <a:r>
              <a:rPr lang="en-US" sz="1733" dirty="0"/>
              <a:t> </a:t>
            </a:r>
            <a:r>
              <a:rPr lang="en-US" sz="1733" dirty="0" err="1"/>
              <a:t>hiện</a:t>
            </a:r>
            <a:r>
              <a:rPr lang="en-US" sz="1733" dirty="0"/>
              <a:t> </a:t>
            </a:r>
            <a:r>
              <a:rPr lang="en-US" sz="1733" dirty="0" err="1"/>
              <a:t>kết</a:t>
            </a:r>
            <a:r>
              <a:rPr lang="en-US" sz="1733" dirty="0"/>
              <a:t> </a:t>
            </a:r>
            <a:r>
              <a:rPr lang="en-US" sz="1733" dirty="0" err="1"/>
              <a:t>hợp</a:t>
            </a:r>
            <a:r>
              <a:rPr lang="en-US" sz="1733" dirty="0"/>
              <a:t> table </a:t>
            </a:r>
            <a:r>
              <a:rPr lang="en-US" sz="1733" dirty="0" err="1"/>
              <a:t>bằng</a:t>
            </a:r>
            <a:r>
              <a:rPr lang="en-US" sz="1733" dirty="0"/>
              <a:t> JPA</a:t>
            </a:r>
            <a:r>
              <a:rPr lang="ja-JP" altLang="en-US" sz="1733" dirty="0"/>
              <a:t>（</a:t>
            </a:r>
            <a:r>
              <a:rPr lang="en-US" sz="1733" dirty="0" err="1"/>
              <a:t>OneToMany</a:t>
            </a:r>
            <a:r>
              <a:rPr lang="en-US" sz="1733" dirty="0"/>
              <a:t>, </a:t>
            </a:r>
            <a:r>
              <a:rPr lang="en-US" sz="1733" dirty="0" err="1"/>
              <a:t>ManyToOne</a:t>
            </a:r>
            <a:r>
              <a:rPr lang="en-US" sz="1733" dirty="0"/>
              <a:t>, </a:t>
            </a:r>
            <a:r>
              <a:rPr lang="en-US" sz="1733" dirty="0" err="1"/>
              <a:t>ManyToMany</a:t>
            </a:r>
            <a:r>
              <a:rPr lang="en-US" sz="1733" dirty="0"/>
              <a:t> ...</a:t>
            </a:r>
            <a:r>
              <a:rPr lang="ja-JP" altLang="en-US" sz="1733" dirty="0"/>
              <a:t>）</a:t>
            </a:r>
            <a:r>
              <a:rPr lang="en-US" sz="1733" dirty="0"/>
              <a:t>.</a:t>
            </a:r>
          </a:p>
          <a:p>
            <a:pPr marL="247665" indent="-247665">
              <a:buFont typeface="Arial" panose="020B0604020202020204" pitchFamily="34" charset="0"/>
              <a:buChar char="•"/>
            </a:pPr>
            <a:r>
              <a:rPr lang="en-US" sz="1733" dirty="0" err="1"/>
              <a:t>Có</a:t>
            </a:r>
            <a:r>
              <a:rPr lang="en-US" sz="1733" dirty="0"/>
              <a:t> </a:t>
            </a:r>
            <a:r>
              <a:rPr lang="en-US" sz="1733" dirty="0" err="1"/>
              <a:t>thể</a:t>
            </a:r>
            <a:r>
              <a:rPr lang="en-US" sz="1733" dirty="0"/>
              <a:t> </a:t>
            </a:r>
            <a:r>
              <a:rPr lang="en-US" sz="1733" dirty="0" err="1"/>
              <a:t>chạy</a:t>
            </a:r>
            <a:r>
              <a:rPr lang="en-US" sz="1733" dirty="0"/>
              <a:t> query </a:t>
            </a:r>
            <a:r>
              <a:rPr lang="en-US" sz="1733" dirty="0" err="1"/>
              <a:t>sử</a:t>
            </a:r>
            <a:r>
              <a:rPr lang="en-US" sz="1733" dirty="0"/>
              <a:t> </a:t>
            </a:r>
            <a:r>
              <a:rPr lang="en-US" sz="1733" dirty="0" err="1"/>
              <a:t>dụng</a:t>
            </a:r>
            <a:r>
              <a:rPr lang="en-US" sz="1733" dirty="0"/>
              <a:t> JPQL </a:t>
            </a:r>
            <a:r>
              <a:rPr lang="en-US" sz="1733" dirty="0" err="1"/>
              <a:t>trên</a:t>
            </a:r>
            <a:r>
              <a:rPr lang="en-US" sz="1733" dirty="0"/>
              <a:t> </a:t>
            </a:r>
            <a:r>
              <a:rPr lang="en-US" sz="1733" dirty="0" err="1"/>
              <a:t>JpaRepository</a:t>
            </a:r>
            <a:endParaRPr lang="en-US" sz="1733" dirty="0"/>
          </a:p>
          <a:p>
            <a:pPr marL="247665" indent="-247665">
              <a:buFont typeface="Arial" panose="020B0604020202020204" pitchFamily="34" charset="0"/>
              <a:buChar char="•"/>
            </a:pPr>
            <a:r>
              <a:rPr lang="en-US" sz="1733" dirty="0" err="1"/>
              <a:t>Có</a:t>
            </a:r>
            <a:r>
              <a:rPr lang="en-US" sz="1733" dirty="0"/>
              <a:t> </a:t>
            </a:r>
            <a:r>
              <a:rPr lang="en-US" sz="1733" dirty="0" err="1"/>
              <a:t>thể</a:t>
            </a:r>
            <a:r>
              <a:rPr lang="en-US" sz="1733" dirty="0"/>
              <a:t> </a:t>
            </a:r>
            <a:r>
              <a:rPr lang="en-US" sz="1733" dirty="0" err="1"/>
              <a:t>thực</a:t>
            </a:r>
            <a:r>
              <a:rPr lang="en-US" sz="1733" dirty="0"/>
              <a:t> </a:t>
            </a:r>
            <a:r>
              <a:rPr lang="en-US" sz="1733" dirty="0" err="1"/>
              <a:t>hiện</a:t>
            </a:r>
            <a:r>
              <a:rPr lang="en-US" sz="1733" dirty="0"/>
              <a:t> pessimistic lock </a:t>
            </a:r>
            <a:r>
              <a:rPr lang="en-US" sz="1733" dirty="0" err="1"/>
              <a:t>trên</a:t>
            </a:r>
            <a:r>
              <a:rPr lang="en-US" sz="1733" dirty="0"/>
              <a:t> </a:t>
            </a:r>
            <a:r>
              <a:rPr lang="en-US" sz="1733" dirty="0" err="1"/>
              <a:t>JpaRepository</a:t>
            </a:r>
            <a:endParaRPr lang="en-US" sz="1733" dirty="0"/>
          </a:p>
          <a:p>
            <a:endParaRPr lang="en-US" sz="1733" dirty="0">
              <a:latin typeface="Arial" panose="020B0604020202020204" pitchFamily="34" charset="0"/>
              <a:cs typeface="Arial" panose="020B0604020202020204" pitchFamily="34" charset="0"/>
            </a:endParaRPr>
          </a:p>
        </p:txBody>
      </p:sp>
      <p:sp>
        <p:nvSpPr>
          <p:cNvPr id="13" name="正方形/長方形 3"/>
          <p:cNvSpPr/>
          <p:nvPr/>
        </p:nvSpPr>
        <p:spPr>
          <a:xfrm>
            <a:off x="161034" y="1711666"/>
            <a:ext cx="292602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vi-VN" sz="2167" dirty="0">
                <a:latin typeface="Times New Roman" panose="02020603050405020304" pitchFamily="18" charset="0"/>
                <a:cs typeface="Times New Roman" panose="02020603050405020304" pitchFamily="18" charset="0"/>
              </a:rPr>
              <a:t>Mục tiêu đạt được</a:t>
            </a:r>
          </a:p>
        </p:txBody>
      </p:sp>
    </p:spTree>
    <p:extLst>
      <p:ext uri="{BB962C8B-B14F-4D97-AF65-F5344CB8AC3E}">
        <p14:creationId xmlns:p14="http://schemas.microsoft.com/office/powerpoint/2010/main" val="146515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35199"/>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46649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Table </a:t>
            </a:r>
            <a:r>
              <a:rPr lang="en-US" sz="2167" dirty="0" err="1">
                <a:latin typeface="Times New Roman" panose="02020603050405020304" pitchFamily="18" charset="0"/>
                <a:cs typeface="Times New Roman" panose="02020603050405020304" pitchFamily="18" charset="0"/>
              </a:rPr>
              <a:t>và</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mối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giữa</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các</a:t>
            </a:r>
            <a:r>
              <a:rPr lang="en-US" sz="2167" dirty="0">
                <a:latin typeface="Times New Roman" panose="02020603050405020304" pitchFamily="18" charset="0"/>
                <a:cs typeface="Times New Roman" panose="02020603050405020304" pitchFamily="18" charset="0"/>
              </a:rPr>
              <a:t> table</a:t>
            </a:r>
            <a:endParaRPr lang="vi-VN" sz="2167"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958354" y="1209477"/>
            <a:ext cx="7422474" cy="2226686"/>
            <a:chOff x="1769270" y="3118670"/>
            <a:chExt cx="13703028" cy="4110805"/>
          </a:xfrm>
        </p:grpSpPr>
        <p:graphicFrame>
          <p:nvGraphicFramePr>
            <p:cNvPr id="11" name="オブジェクト 10"/>
            <p:cNvGraphicFramePr>
              <a:graphicFrameLocks noChangeAspect="1"/>
            </p:cNvGraphicFramePr>
            <p:nvPr/>
          </p:nvGraphicFramePr>
          <p:xfrm>
            <a:off x="1769270" y="3118670"/>
            <a:ext cx="3214210" cy="4110805"/>
          </p:xfrm>
          <a:graphic>
            <a:graphicData uri="http://schemas.openxmlformats.org/presentationml/2006/ole">
              <mc:AlternateContent xmlns:mc="http://schemas.openxmlformats.org/markup-compatibility/2006">
                <mc:Choice xmlns:v="urn:schemas-microsoft-com:vml" Requires="v">
                  <p:oleObj name="ワークシート" r:id="rId3" imgW="1809720" imgH="2314575" progId="Excel.Sheet.12">
                    <p:embed/>
                  </p:oleObj>
                </mc:Choice>
                <mc:Fallback>
                  <p:oleObj name="ワークシート" r:id="rId3" imgW="1809720" imgH="2314575" progId="Excel.Sheet.12">
                    <p:embed/>
                    <p:pic>
                      <p:nvPicPr>
                        <p:cNvPr id="11" name="オブジェクト 10"/>
                        <p:cNvPicPr/>
                        <p:nvPr/>
                      </p:nvPicPr>
                      <p:blipFill>
                        <a:blip r:embed="rId4"/>
                        <a:stretch>
                          <a:fillRect/>
                        </a:stretch>
                      </p:blipFill>
                      <p:spPr>
                        <a:xfrm>
                          <a:off x="1769270" y="3118670"/>
                          <a:ext cx="3214210" cy="4110805"/>
                        </a:xfrm>
                        <a:prstGeom prst="rect">
                          <a:avLst/>
                        </a:prstGeom>
                      </p:spPr>
                    </p:pic>
                  </p:oleObj>
                </mc:Fallback>
              </mc:AlternateContent>
            </a:graphicData>
          </a:graphic>
        </p:graphicFrame>
        <p:graphicFrame>
          <p:nvGraphicFramePr>
            <p:cNvPr id="13" name="オブジェクト 12"/>
            <p:cNvGraphicFramePr>
              <a:graphicFrameLocks noChangeAspect="1"/>
            </p:cNvGraphicFramePr>
            <p:nvPr/>
          </p:nvGraphicFramePr>
          <p:xfrm>
            <a:off x="6610355" y="3118670"/>
            <a:ext cx="4705350" cy="2681721"/>
          </p:xfrm>
          <a:graphic>
            <a:graphicData uri="http://schemas.openxmlformats.org/presentationml/2006/ole">
              <mc:AlternateContent xmlns:mc="http://schemas.openxmlformats.org/markup-compatibility/2006">
                <mc:Choice xmlns:v="urn:schemas-microsoft-com:vml" Requires="v">
                  <p:oleObj name="ワークシート" r:id="rId5" imgW="2724120" imgH="1552402" progId="Excel.Sheet.12">
                    <p:embed/>
                  </p:oleObj>
                </mc:Choice>
                <mc:Fallback>
                  <p:oleObj name="ワークシート" r:id="rId5" imgW="2724120" imgH="1552402" progId="Excel.Sheet.12">
                    <p:embed/>
                    <p:pic>
                      <p:nvPicPr>
                        <p:cNvPr id="13" name="オブジェクト 12"/>
                        <p:cNvPicPr/>
                        <p:nvPr/>
                      </p:nvPicPr>
                      <p:blipFill>
                        <a:blip r:embed="rId6"/>
                        <a:stretch>
                          <a:fillRect/>
                        </a:stretch>
                      </p:blipFill>
                      <p:spPr>
                        <a:xfrm>
                          <a:off x="6610355" y="3118670"/>
                          <a:ext cx="4705350" cy="2681721"/>
                        </a:xfrm>
                        <a:prstGeom prst="rect">
                          <a:avLst/>
                        </a:prstGeom>
                      </p:spPr>
                    </p:pic>
                  </p:oleObj>
                </mc:Fallback>
              </mc:AlternateContent>
            </a:graphicData>
          </a:graphic>
        </p:graphicFrame>
        <p:graphicFrame>
          <p:nvGraphicFramePr>
            <p:cNvPr id="14" name="オブジェクト 13"/>
            <p:cNvGraphicFramePr>
              <a:graphicFrameLocks noChangeAspect="1"/>
            </p:cNvGraphicFramePr>
            <p:nvPr/>
          </p:nvGraphicFramePr>
          <p:xfrm>
            <a:off x="12449174" y="3128195"/>
            <a:ext cx="3023124" cy="3272605"/>
          </p:xfrm>
          <a:graphic>
            <a:graphicData uri="http://schemas.openxmlformats.org/presentationml/2006/ole">
              <mc:AlternateContent xmlns:mc="http://schemas.openxmlformats.org/markup-compatibility/2006">
                <mc:Choice xmlns:v="urn:schemas-microsoft-com:vml" Requires="v">
                  <p:oleObj name="ワークシート" r:id="rId7" imgW="1962000" imgH="2123942" progId="Excel.Sheet.12">
                    <p:embed/>
                  </p:oleObj>
                </mc:Choice>
                <mc:Fallback>
                  <p:oleObj name="ワークシート" r:id="rId7" imgW="1962000" imgH="2123942" progId="Excel.Sheet.12">
                    <p:embed/>
                    <p:pic>
                      <p:nvPicPr>
                        <p:cNvPr id="14" name="オブジェクト 13"/>
                        <p:cNvPicPr/>
                        <p:nvPr/>
                      </p:nvPicPr>
                      <p:blipFill>
                        <a:blip r:embed="rId8"/>
                        <a:stretch>
                          <a:fillRect/>
                        </a:stretch>
                      </p:blipFill>
                      <p:spPr>
                        <a:xfrm>
                          <a:off x="12449174" y="3128195"/>
                          <a:ext cx="3023124" cy="3272605"/>
                        </a:xfrm>
                        <a:prstGeom prst="rect">
                          <a:avLst/>
                        </a:prstGeom>
                      </p:spPr>
                    </p:pic>
                  </p:oleObj>
                </mc:Fallback>
              </mc:AlternateContent>
            </a:graphicData>
          </a:graphic>
        </p:graphicFrame>
        <p:cxnSp>
          <p:nvCxnSpPr>
            <p:cNvPr id="15" name="カギ線コネクタ 14"/>
            <p:cNvCxnSpPr/>
            <p:nvPr/>
          </p:nvCxnSpPr>
          <p:spPr>
            <a:xfrm>
              <a:off x="4983480" y="4000500"/>
              <a:ext cx="1626875" cy="1"/>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16" name="カギ線コネクタ 15"/>
            <p:cNvCxnSpPr/>
            <p:nvPr/>
          </p:nvCxnSpPr>
          <p:spPr>
            <a:xfrm flipV="1">
              <a:off x="11315705" y="3899205"/>
              <a:ext cx="1133469" cy="401333"/>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sp>
          <p:nvSpPr>
            <p:cNvPr id="17" name="テキスト ボックス 16"/>
            <p:cNvSpPr txBox="1"/>
            <p:nvPr/>
          </p:nvSpPr>
          <p:spPr>
            <a:xfrm>
              <a:off x="4983481" y="3671888"/>
              <a:ext cx="445770" cy="416801"/>
            </a:xfrm>
            <a:prstGeom prst="rect">
              <a:avLst/>
            </a:prstGeom>
            <a:noFill/>
          </p:spPr>
          <p:txBody>
            <a:bodyPr wrap="square" rtlCol="0">
              <a:spAutoFit/>
            </a:bodyPr>
            <a:lstStyle/>
            <a:p>
              <a:r>
                <a:rPr lang="en-US" sz="867" dirty="0"/>
                <a:t>1</a:t>
              </a:r>
            </a:p>
          </p:txBody>
        </p:sp>
        <p:sp>
          <p:nvSpPr>
            <p:cNvPr id="18" name="テキスト ボックス 17"/>
            <p:cNvSpPr txBox="1"/>
            <p:nvPr/>
          </p:nvSpPr>
          <p:spPr>
            <a:xfrm>
              <a:off x="12137659" y="3529873"/>
              <a:ext cx="311514" cy="416801"/>
            </a:xfrm>
            <a:prstGeom prst="rect">
              <a:avLst/>
            </a:prstGeom>
            <a:noFill/>
          </p:spPr>
          <p:txBody>
            <a:bodyPr wrap="square" rtlCol="0">
              <a:spAutoFit/>
            </a:bodyPr>
            <a:lstStyle/>
            <a:p>
              <a:r>
                <a:rPr lang="en-US" sz="867" dirty="0"/>
                <a:t>1</a:t>
              </a:r>
            </a:p>
          </p:txBody>
        </p:sp>
        <p:sp>
          <p:nvSpPr>
            <p:cNvPr id="22" name="テキスト ボックス 21"/>
            <p:cNvSpPr txBox="1"/>
            <p:nvPr/>
          </p:nvSpPr>
          <p:spPr>
            <a:xfrm>
              <a:off x="6272157" y="3671888"/>
              <a:ext cx="338199" cy="416801"/>
            </a:xfrm>
            <a:prstGeom prst="rect">
              <a:avLst/>
            </a:prstGeom>
            <a:noFill/>
          </p:spPr>
          <p:txBody>
            <a:bodyPr wrap="square" rtlCol="0">
              <a:spAutoFit/>
            </a:bodyPr>
            <a:lstStyle/>
            <a:p>
              <a:r>
                <a:rPr lang="en-US" sz="867" dirty="0"/>
                <a:t>*</a:t>
              </a:r>
            </a:p>
          </p:txBody>
        </p:sp>
        <p:sp>
          <p:nvSpPr>
            <p:cNvPr id="23" name="テキスト ボックス 22"/>
            <p:cNvSpPr txBox="1"/>
            <p:nvPr/>
          </p:nvSpPr>
          <p:spPr>
            <a:xfrm>
              <a:off x="11289023" y="3969784"/>
              <a:ext cx="338199" cy="416801"/>
            </a:xfrm>
            <a:prstGeom prst="rect">
              <a:avLst/>
            </a:prstGeom>
            <a:noFill/>
          </p:spPr>
          <p:txBody>
            <a:bodyPr wrap="square" rtlCol="0">
              <a:spAutoFit/>
            </a:bodyPr>
            <a:lstStyle/>
            <a:p>
              <a:r>
                <a:rPr lang="en-US" sz="867" dirty="0"/>
                <a:t>*</a:t>
              </a:r>
            </a:p>
          </p:txBody>
        </p:sp>
      </p:grpSp>
      <p:graphicFrame>
        <p:nvGraphicFramePr>
          <p:cNvPr id="24" name="オブジェクト 23"/>
          <p:cNvGraphicFramePr>
            <a:graphicFrameLocks noChangeAspect="1"/>
          </p:cNvGraphicFramePr>
          <p:nvPr/>
        </p:nvGraphicFramePr>
        <p:xfrm>
          <a:off x="4119251" y="2770197"/>
          <a:ext cx="1544714" cy="3357672"/>
        </p:xfrm>
        <a:graphic>
          <a:graphicData uri="http://schemas.openxmlformats.org/presentationml/2006/ole">
            <mc:AlternateContent xmlns:mc="http://schemas.openxmlformats.org/markup-compatibility/2006">
              <mc:Choice xmlns:v="urn:schemas-microsoft-com:vml" Requires="v">
                <p:oleObj name="ワークシート" r:id="rId9" imgW="1590840" imgH="3457655" progId="Excel.Sheet.12">
                  <p:embed/>
                </p:oleObj>
              </mc:Choice>
              <mc:Fallback>
                <p:oleObj name="ワークシート" r:id="rId9" imgW="1590840" imgH="3457655" progId="Excel.Sheet.12">
                  <p:embed/>
                  <p:pic>
                    <p:nvPicPr>
                      <p:cNvPr id="24" name="オブジェクト 23"/>
                      <p:cNvPicPr/>
                      <p:nvPr/>
                    </p:nvPicPr>
                    <p:blipFill>
                      <a:blip r:embed="rId10"/>
                      <a:stretch>
                        <a:fillRect/>
                      </a:stretch>
                    </p:blipFill>
                    <p:spPr>
                      <a:xfrm>
                        <a:off x="4119251" y="2770197"/>
                        <a:ext cx="1544714" cy="3357672"/>
                      </a:xfrm>
                      <a:prstGeom prst="rect">
                        <a:avLst/>
                      </a:prstGeom>
                    </p:spPr>
                  </p:pic>
                </p:oleObj>
              </mc:Fallback>
            </mc:AlternateContent>
          </a:graphicData>
        </a:graphic>
      </p:graphicFrame>
      <p:cxnSp>
        <p:nvCxnSpPr>
          <p:cNvPr id="5" name="カギ線コネクタ 4"/>
          <p:cNvCxnSpPr/>
          <p:nvPr/>
        </p:nvCxnSpPr>
        <p:spPr>
          <a:xfrm rot="10800000">
            <a:off x="2687486" y="2433722"/>
            <a:ext cx="1419865" cy="2126213"/>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29" name="カギ線コネクタ 28"/>
          <p:cNvCxnSpPr/>
          <p:nvPr/>
        </p:nvCxnSpPr>
        <p:spPr>
          <a:xfrm flipV="1">
            <a:off x="5663965" y="2046792"/>
            <a:ext cx="1079338" cy="2348066"/>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71414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3"/>
          <a:stretch>
            <a:fillRect/>
          </a:stretch>
        </p:blipFill>
        <p:spPr>
          <a:xfrm>
            <a:off x="705803" y="1546860"/>
            <a:ext cx="3285490" cy="3615690"/>
          </a:xfrm>
          <a:prstGeom prst="rect">
            <a:avLst/>
          </a:prstGeom>
        </p:spPr>
      </p:pic>
      <p:sp>
        <p:nvSpPr>
          <p:cNvPr id="2" name="TextBox 21"/>
          <p:cNvSpPr txBox="1"/>
          <p:nvPr/>
        </p:nvSpPr>
        <p:spPr>
          <a:xfrm>
            <a:off x="4353059" y="2461147"/>
            <a:ext cx="4681203" cy="1467197"/>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2. Thao </a:t>
            </a:r>
            <a:r>
              <a:rPr lang="en-US" altLang="zh-CN" sz="4767" spc="100" dirty="0" err="1">
                <a:solidFill>
                  <a:srgbClr val="F5B3A5"/>
                </a:solidFill>
                <a:latin typeface="Times New Roman"/>
                <a:ea typeface="Times New Roman"/>
              </a:rPr>
              <a:t>tác</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với</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bảng</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đơn</a:t>
            </a: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162003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3" name="Freeform 23"/>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4" name="Freeform 24"/>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9" name="Picture 5"/>
          <p:cNvPicPr>
            <a:picLocks noChangeAspect="1"/>
          </p:cNvPicPr>
          <p:nvPr/>
        </p:nvPicPr>
        <p:blipFill>
          <a:blip r:embed="rId2"/>
          <a:stretch>
            <a:fillRect/>
          </a:stretch>
        </p:blipFill>
        <p:spPr>
          <a:xfrm>
            <a:off x="1494056" y="1762916"/>
            <a:ext cx="7231380" cy="3128645"/>
          </a:xfrm>
          <a:prstGeom prst="rect">
            <a:avLst/>
          </a:prstGeom>
        </p:spPr>
      </p:pic>
      <p:sp>
        <p:nvSpPr>
          <p:cNvPr id="2" name="TextBox 26"/>
          <p:cNvSpPr txBox="1"/>
          <p:nvPr/>
        </p:nvSpPr>
        <p:spPr>
          <a:xfrm>
            <a:off x="2156987" y="3052164"/>
            <a:ext cx="6416297" cy="1295419"/>
          </a:xfrm>
          <a:prstGeom prst="rect">
            <a:avLst/>
          </a:prstGeom>
          <a:noFill/>
        </p:spPr>
        <p:txBody>
          <a:bodyPr wrap="square" lIns="0" tIns="0" rIns="0" bIns="0" rtlCol="0">
            <a:spAutoFit/>
          </a:bodyPr>
          <a:lstStyle/>
          <a:p>
            <a:r>
              <a:rPr lang="en-US" altLang="zh-CN" sz="3575" spc="75" dirty="0" err="1">
                <a:solidFill>
                  <a:srgbClr val="000000"/>
                </a:solidFill>
                <a:latin typeface="Times New Roman"/>
                <a:ea typeface="Times New Roman"/>
              </a:rPr>
              <a:t>Bảng</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đơn</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với</a:t>
            </a:r>
            <a:r>
              <a:rPr lang="en-US" altLang="zh-CN" sz="3575" spc="75" dirty="0">
                <a:solidFill>
                  <a:srgbClr val="000000"/>
                </a:solidFill>
                <a:latin typeface="Times New Roman"/>
                <a:ea typeface="Times New Roman"/>
              </a:rPr>
              <a:t> table </a:t>
            </a:r>
            <a:r>
              <a:rPr lang="en-US" altLang="zh-CN" sz="3575" spc="75" dirty="0" err="1">
                <a:solidFill>
                  <a:srgbClr val="000000"/>
                </a:solidFill>
                <a:latin typeface="Times New Roman"/>
                <a:ea typeface="Times New Roman"/>
              </a:rPr>
              <a:t>có</a:t>
            </a:r>
            <a:r>
              <a:rPr lang="en-US" altLang="zh-CN" sz="3575" spc="75" dirty="0">
                <a:solidFill>
                  <a:srgbClr val="000000"/>
                </a:solidFill>
                <a:latin typeface="Times New Roman"/>
                <a:ea typeface="Times New Roman"/>
              </a:rPr>
              <a:t> key </a:t>
            </a:r>
            <a:r>
              <a:rPr lang="en-US" altLang="zh-CN" sz="3575" spc="75" dirty="0" err="1">
                <a:solidFill>
                  <a:srgbClr val="000000"/>
                </a:solidFill>
                <a:latin typeface="Times New Roman"/>
                <a:ea typeface="Times New Roman"/>
              </a:rPr>
              <a:t>là</a:t>
            </a:r>
            <a:r>
              <a:rPr lang="en-US" altLang="zh-CN" sz="3575" spc="75" dirty="0">
                <a:solidFill>
                  <a:srgbClr val="000000"/>
                </a:solidFill>
                <a:latin typeface="Times New Roman"/>
                <a:ea typeface="Times New Roman"/>
              </a:rPr>
              <a:t> single primary key</a:t>
            </a:r>
            <a:endParaRPr lang="en-US" sz="867" dirty="0"/>
          </a:p>
          <a:p>
            <a:pPr>
              <a:lnSpc>
                <a:spcPts val="542"/>
              </a:lnSpc>
            </a:pPr>
            <a:endParaRPr lang="en-US" sz="867" dirty="0"/>
          </a:p>
          <a:p>
            <a:pPr>
              <a:lnSpc>
                <a:spcPts val="542"/>
              </a:lnSpc>
            </a:pPr>
            <a:endParaRPr lang="en-US" sz="867" dirty="0"/>
          </a:p>
          <a:p>
            <a:pPr>
              <a:lnSpc>
                <a:spcPts val="542"/>
              </a:lnSpc>
            </a:pPr>
            <a:endParaRPr lang="en-US" sz="867" dirty="0"/>
          </a:p>
        </p:txBody>
      </p:sp>
    </p:spTree>
    <p:extLst>
      <p:ext uri="{BB962C8B-B14F-4D97-AF65-F5344CB8AC3E}">
        <p14:creationId xmlns:p14="http://schemas.microsoft.com/office/powerpoint/2010/main" val="855597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272806" y="1490016"/>
            <a:ext cx="2201113" cy="505523"/>
          </a:xfrm>
          <a:prstGeom prst="rect">
            <a:avLst/>
          </a:prstGeom>
          <a:noFill/>
        </p:spPr>
        <p:txBody>
          <a:bodyPr wrap="square" lIns="0" tIns="0" rIns="0" bIns="0" rtlCol="0">
            <a:spAutoFit/>
          </a:bodyPr>
          <a:lstStyle/>
          <a:p>
            <a:pPr>
              <a:lnSpc>
                <a:spcPct val="111249"/>
              </a:lnSpc>
            </a:pPr>
            <a:r>
              <a:rPr lang="en-US" altLang="zh-CN" sz="3196" spc="190" dirty="0">
                <a:solidFill>
                  <a:srgbClr val="FEFEFE"/>
                </a:solidFill>
                <a:latin typeface="Times New Roman"/>
                <a:ea typeface="Times New Roman"/>
              </a:rPr>
              <a:t>Entity</a:t>
            </a:r>
            <a:endParaRPr lang="en-US" altLang="zh-CN" sz="3196" spc="203" dirty="0">
              <a:solidFill>
                <a:srgbClr val="FEFEFE"/>
              </a:solidFill>
              <a:latin typeface="Times New Roman"/>
              <a:ea typeface="Times New Roman"/>
            </a:endParaRPr>
          </a:p>
        </p:txBody>
      </p:sp>
      <p:sp>
        <p:nvSpPr>
          <p:cNvPr id="24" name="TextBox 20"/>
          <p:cNvSpPr txBox="1"/>
          <p:nvPr/>
        </p:nvSpPr>
        <p:spPr>
          <a:xfrm>
            <a:off x="3513720" y="2535013"/>
            <a:ext cx="1124804" cy="182614"/>
          </a:xfrm>
          <a:prstGeom prst="rect">
            <a:avLst/>
          </a:prstGeom>
          <a:noFill/>
        </p:spPr>
        <p:txBody>
          <a:bodyPr wrap="square" lIns="0" tIns="0" rIns="0" bIns="0" rtlCol="0">
            <a:spAutoFit/>
          </a:bodyPr>
          <a:lstStyle/>
          <a:p>
            <a:pPr algn="ctr">
              <a:lnSpc>
                <a:spcPct val="119583"/>
              </a:lnSpc>
            </a:pPr>
            <a:r>
              <a:rPr lang="en-US" altLang="zh-CN" sz="1083" spc="246" dirty="0">
                <a:solidFill>
                  <a:srgbClr val="FEFEFE"/>
                </a:solidFill>
                <a:latin typeface="Times New Roman"/>
                <a:ea typeface="Times New Roman"/>
              </a:rPr>
              <a:t>Users</a:t>
            </a:r>
            <a:endParaRPr lang="en-US" altLang="zh-CN" sz="1083" spc="217" dirty="0">
              <a:solidFill>
                <a:srgbClr val="FEFEFE"/>
              </a:solidFill>
              <a:latin typeface="Times New Roman"/>
              <a:ea typeface="Times New Roman"/>
            </a:endParaRPr>
          </a:p>
        </p:txBody>
      </p:sp>
      <p:grpSp>
        <p:nvGrpSpPr>
          <p:cNvPr id="6" name="グループ化 5"/>
          <p:cNvGrpSpPr/>
          <p:nvPr/>
        </p:nvGrpSpPr>
        <p:grpSpPr>
          <a:xfrm>
            <a:off x="380377" y="727387"/>
            <a:ext cx="8798395" cy="5481792"/>
            <a:chOff x="702234" y="155906"/>
            <a:chExt cx="16243190" cy="10120232"/>
          </a:xfrm>
        </p:grpSpPr>
        <p:pic>
          <p:nvPicPr>
            <p:cNvPr id="2" name="図 1"/>
            <p:cNvPicPr>
              <a:picLocks noChangeAspect="1"/>
            </p:cNvPicPr>
            <p:nvPr/>
          </p:nvPicPr>
          <p:blipFill>
            <a:blip r:embed="rId3"/>
            <a:stretch>
              <a:fillRect/>
            </a:stretch>
          </p:blipFill>
          <p:spPr>
            <a:xfrm>
              <a:off x="10055882" y="155906"/>
              <a:ext cx="6889542" cy="10120232"/>
            </a:xfrm>
            <a:prstGeom prst="rect">
              <a:avLst/>
            </a:prstGeom>
          </p:spPr>
        </p:pic>
        <p:pic>
          <p:nvPicPr>
            <p:cNvPr id="5" name="図 4"/>
            <p:cNvPicPr>
              <a:picLocks noChangeAspect="1"/>
            </p:cNvPicPr>
            <p:nvPr/>
          </p:nvPicPr>
          <p:blipFill>
            <a:blip r:embed="rId4"/>
            <a:stretch>
              <a:fillRect/>
            </a:stretch>
          </p:blipFill>
          <p:spPr>
            <a:xfrm>
              <a:off x="702234" y="4422769"/>
              <a:ext cx="7861195" cy="4283343"/>
            </a:xfrm>
            <a:prstGeom prst="rect">
              <a:avLst/>
            </a:prstGeom>
          </p:spPr>
        </p:pic>
        <p:sp>
          <p:nvSpPr>
            <p:cNvPr id="4" name="正方形/長方形 3"/>
            <p:cNvSpPr/>
            <p:nvPr/>
          </p:nvSpPr>
          <p:spPr>
            <a:xfrm>
              <a:off x="10415588" y="1257303"/>
              <a:ext cx="1714500" cy="30653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0" name="正方形/長方形 9"/>
            <p:cNvSpPr/>
            <p:nvPr/>
          </p:nvSpPr>
          <p:spPr>
            <a:xfrm>
              <a:off x="10663688" y="1743077"/>
              <a:ext cx="3038017" cy="27146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106128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885050"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UserRepository</a:t>
            </a:r>
            <a:endParaRPr lang="en-US" sz="2167" dirty="0">
              <a:latin typeface="Times New Roman" panose="02020603050405020304" pitchFamily="18" charset="0"/>
              <a:cs typeface="Times New Roman" panose="02020603050405020304" pitchFamily="18" charset="0"/>
            </a:endParaRPr>
          </a:p>
        </p:txBody>
      </p:sp>
      <p:grpSp>
        <p:nvGrpSpPr>
          <p:cNvPr id="7" name="グループ化 6"/>
          <p:cNvGrpSpPr/>
          <p:nvPr/>
        </p:nvGrpSpPr>
        <p:grpSpPr>
          <a:xfrm>
            <a:off x="1700531" y="1549065"/>
            <a:ext cx="7309873" cy="3973670"/>
            <a:chOff x="3139440" y="1672850"/>
            <a:chExt cx="13495151" cy="7336006"/>
          </a:xfrm>
        </p:grpSpPr>
        <p:grpSp>
          <p:nvGrpSpPr>
            <p:cNvPr id="3" name="グループ化 2"/>
            <p:cNvGrpSpPr/>
            <p:nvPr/>
          </p:nvGrpSpPr>
          <p:grpSpPr>
            <a:xfrm>
              <a:off x="3139440" y="1672850"/>
              <a:ext cx="13495151" cy="6368064"/>
              <a:chOff x="3139440" y="1672850"/>
              <a:chExt cx="13495151" cy="6368064"/>
            </a:xfrm>
          </p:grpSpPr>
          <p:pic>
            <p:nvPicPr>
              <p:cNvPr id="4" name="図 3"/>
              <p:cNvPicPr>
                <a:picLocks noChangeAspect="1"/>
              </p:cNvPicPr>
              <p:nvPr/>
            </p:nvPicPr>
            <p:blipFill>
              <a:blip r:embed="rId3"/>
              <a:stretch>
                <a:fillRect/>
              </a:stretch>
            </p:blipFill>
            <p:spPr>
              <a:xfrm>
                <a:off x="3139440" y="1672850"/>
                <a:ext cx="13495151" cy="6368064"/>
              </a:xfrm>
              <a:prstGeom prst="rect">
                <a:avLst/>
              </a:prstGeom>
            </p:spPr>
          </p:pic>
          <p:sp>
            <p:nvSpPr>
              <p:cNvPr id="2" name="正方形/長方形 1"/>
              <p:cNvSpPr/>
              <p:nvPr/>
            </p:nvSpPr>
            <p:spPr>
              <a:xfrm>
                <a:off x="5386388" y="6472238"/>
                <a:ext cx="4386262" cy="4857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0" name="角丸四角形吹き出し 9"/>
            <p:cNvSpPr/>
            <p:nvPr/>
          </p:nvSpPr>
          <p:spPr>
            <a:xfrm>
              <a:off x="10925174" y="2640792"/>
              <a:ext cx="5276851" cy="1592118"/>
            </a:xfrm>
            <a:prstGeom prst="wedgeRoundRectCallout">
              <a:avLst/>
            </a:prstGeom>
          </p:spPr>
          <p:style>
            <a:lnRef idx="3">
              <a:schemeClr val="lt1"/>
            </a:lnRef>
            <a:fillRef idx="1">
              <a:schemeClr val="accent1"/>
            </a:fillRef>
            <a:effectRef idx="1">
              <a:schemeClr val="accent1"/>
            </a:effectRef>
            <a:fontRef idx="minor">
              <a:schemeClr val="lt1"/>
            </a:fontRef>
          </p:style>
          <p:txBody>
            <a:bodyPr rtlCol="0" anchor="ctr"/>
            <a:lstStyle/>
            <a:p>
              <a:r>
                <a:rPr lang="en-US" sz="867" dirty="0" err="1">
                  <a:solidFill>
                    <a:schemeClr val="bg1"/>
                  </a:solidFill>
                </a:rPr>
                <a:t>Ineterface</a:t>
              </a:r>
              <a:r>
                <a:rPr lang="en-US" sz="867" dirty="0">
                  <a:solidFill>
                    <a:schemeClr val="bg1"/>
                  </a:solidFill>
                </a:rPr>
                <a:t> </a:t>
              </a:r>
              <a:r>
                <a:rPr lang="en-US" sz="867" dirty="0" err="1">
                  <a:solidFill>
                    <a:schemeClr val="tx1"/>
                  </a:solidFill>
                </a:rPr>
                <a:t>UserRepository</a:t>
              </a:r>
              <a:r>
                <a:rPr lang="en-US" sz="867" dirty="0">
                  <a:solidFill>
                    <a:schemeClr val="bg1"/>
                  </a:solidFill>
                </a:rPr>
                <a:t> </a:t>
              </a:r>
              <a:r>
                <a:rPr lang="en-US" sz="867" dirty="0" err="1">
                  <a:solidFill>
                    <a:schemeClr val="bg1"/>
                  </a:solidFill>
                </a:rPr>
                <a:t>kế</a:t>
              </a:r>
              <a:r>
                <a:rPr lang="en-US" sz="867" dirty="0">
                  <a:solidFill>
                    <a:schemeClr val="bg1"/>
                  </a:solidFill>
                </a:rPr>
                <a:t> </a:t>
              </a:r>
              <a:r>
                <a:rPr lang="en-US" sz="867" dirty="0" err="1">
                  <a:solidFill>
                    <a:schemeClr val="bg1"/>
                  </a:solidFill>
                </a:rPr>
                <a:t>thừa</a:t>
              </a:r>
              <a:r>
                <a:rPr lang="en-US" sz="867" dirty="0">
                  <a:solidFill>
                    <a:schemeClr val="bg1"/>
                  </a:solidFill>
                </a:rPr>
                <a:t> </a:t>
              </a:r>
              <a:r>
                <a:rPr lang="en-US" sz="867" dirty="0" err="1">
                  <a:solidFill>
                    <a:schemeClr val="tx1"/>
                  </a:solidFill>
                </a:rPr>
                <a:t>CrudRepository</a:t>
              </a:r>
              <a:r>
                <a:rPr lang="en-US" sz="867" dirty="0">
                  <a:solidFill>
                    <a:schemeClr val="tx1"/>
                  </a:solidFill>
                </a:rPr>
                <a:t> </a:t>
              </a:r>
              <a:r>
                <a:rPr lang="en-US" sz="867" dirty="0" err="1">
                  <a:solidFill>
                    <a:schemeClr val="bg1"/>
                  </a:solidFill>
                </a:rPr>
                <a:t>của</a:t>
              </a:r>
              <a:r>
                <a:rPr lang="en-US" sz="867" dirty="0">
                  <a:solidFill>
                    <a:schemeClr val="bg1"/>
                  </a:solidFill>
                </a:rPr>
                <a:t> spring data </a:t>
              </a:r>
              <a:r>
                <a:rPr lang="en-US" sz="867" dirty="0" err="1">
                  <a:solidFill>
                    <a:schemeClr val="bg1"/>
                  </a:solidFill>
                </a:rPr>
                <a:t>jpa</a:t>
              </a:r>
              <a:endParaRPr lang="en-US" sz="867" dirty="0">
                <a:solidFill>
                  <a:schemeClr val="bg1"/>
                </a:solidFill>
              </a:endParaRPr>
            </a:p>
            <a:p>
              <a:r>
                <a:rPr lang="en-US" sz="867" dirty="0"/>
                <a:t>Trong </a:t>
              </a:r>
              <a:r>
                <a:rPr lang="en-US" sz="867" dirty="0" err="1">
                  <a:solidFill>
                    <a:schemeClr val="tx1"/>
                  </a:solidFill>
                </a:rPr>
                <a:t>CrudRepository</a:t>
              </a:r>
              <a:r>
                <a:rPr lang="en-US" sz="867" dirty="0"/>
                <a:t> </a:t>
              </a:r>
              <a:r>
                <a:rPr lang="en-US" sz="867" dirty="0" err="1"/>
                <a:t>cần</a:t>
              </a:r>
              <a:r>
                <a:rPr lang="en-US" sz="867" dirty="0"/>
                <a:t> </a:t>
              </a:r>
              <a:r>
                <a:rPr lang="en-US" sz="867" dirty="0" err="1"/>
                <a:t>truyền</a:t>
              </a:r>
              <a:r>
                <a:rPr lang="en-US" sz="867" dirty="0"/>
                <a:t> </a:t>
              </a:r>
              <a:r>
                <a:rPr lang="en-US" sz="867" dirty="0" err="1"/>
                <a:t>vào</a:t>
              </a:r>
              <a:r>
                <a:rPr lang="en-US" sz="867" dirty="0"/>
                <a:t> </a:t>
              </a:r>
              <a:r>
                <a:rPr lang="en-US" sz="867" dirty="0" err="1"/>
                <a:t>loại</a:t>
              </a:r>
              <a:r>
                <a:rPr lang="en-US" sz="867" dirty="0"/>
                <a:t> entity </a:t>
              </a:r>
              <a:r>
                <a:rPr lang="en-US" sz="867" dirty="0" err="1"/>
                <a:t>và</a:t>
              </a:r>
              <a:r>
                <a:rPr lang="en-US" sz="867" dirty="0"/>
                <a:t> </a:t>
              </a:r>
              <a:r>
                <a:rPr lang="en-US" sz="867" dirty="0" err="1"/>
                <a:t>kiểu</a:t>
              </a:r>
              <a:r>
                <a:rPr lang="en-US" sz="867" dirty="0"/>
                <a:t> </a:t>
              </a:r>
              <a:r>
                <a:rPr lang="en-US" sz="867" dirty="0" err="1"/>
                <a:t>dữ</a:t>
              </a:r>
              <a:r>
                <a:rPr lang="en-US" sz="867" dirty="0"/>
                <a:t> </a:t>
              </a:r>
              <a:r>
                <a:rPr lang="en-US" sz="867" dirty="0" err="1"/>
                <a:t>liệu</a:t>
              </a:r>
              <a:r>
                <a:rPr lang="en-US" sz="867" dirty="0"/>
                <a:t> ID </a:t>
              </a:r>
              <a:r>
                <a:rPr lang="en-US" sz="867" dirty="0" err="1"/>
                <a:t>của</a:t>
              </a:r>
              <a:r>
                <a:rPr lang="en-US" sz="867" dirty="0"/>
                <a:t> Entity </a:t>
              </a:r>
              <a:r>
                <a:rPr lang="en-US" sz="867" dirty="0" err="1"/>
                <a:t>đó</a:t>
              </a:r>
              <a:endParaRPr lang="en-US" sz="867" dirty="0"/>
            </a:p>
            <a:p>
              <a:endParaRPr lang="en-US" sz="867" dirty="0">
                <a:solidFill>
                  <a:schemeClr val="tx1"/>
                </a:solidFill>
              </a:endParaRPr>
            </a:p>
          </p:txBody>
        </p:sp>
        <p:sp>
          <p:nvSpPr>
            <p:cNvPr id="5" name="角丸四角形吹き出し 4"/>
            <p:cNvSpPr/>
            <p:nvPr/>
          </p:nvSpPr>
          <p:spPr>
            <a:xfrm>
              <a:off x="7043738" y="7394368"/>
              <a:ext cx="5786437" cy="1614488"/>
            </a:xfrm>
            <a:prstGeom prst="wedgeRoundRectCallout">
              <a:avLst>
                <a:gd name="adj1" fmla="val -35176"/>
                <a:gd name="adj2" fmla="val -7056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Method </a:t>
              </a:r>
              <a:r>
                <a:rPr lang="en-US" sz="867" dirty="0" err="1"/>
                <a:t>truy</a:t>
              </a:r>
              <a:r>
                <a:rPr lang="en-US" sz="867" dirty="0"/>
                <a:t> </a:t>
              </a:r>
              <a:r>
                <a:rPr lang="en-US" sz="867" dirty="0" err="1"/>
                <a:t>vấn</a:t>
              </a:r>
              <a:r>
                <a:rPr lang="en-US" sz="867" dirty="0"/>
                <a:t>, </a:t>
              </a:r>
              <a:r>
                <a:rPr lang="en-US" sz="867" dirty="0" err="1"/>
                <a:t>bằng</a:t>
              </a:r>
              <a:r>
                <a:rPr lang="en-US" sz="867" dirty="0"/>
                <a:t> </a:t>
              </a:r>
              <a:r>
                <a:rPr lang="en-US" sz="867" dirty="0" err="1"/>
                <a:t>cách</a:t>
              </a:r>
              <a:r>
                <a:rPr lang="en-US" sz="867" dirty="0"/>
                <a:t> </a:t>
              </a:r>
              <a:r>
                <a:rPr lang="en-US" sz="867" dirty="0" err="1"/>
                <a:t>khai</a:t>
              </a:r>
              <a:r>
                <a:rPr lang="en-US" sz="867" dirty="0"/>
                <a:t> </a:t>
              </a:r>
              <a:r>
                <a:rPr lang="en-US" sz="867" dirty="0" err="1"/>
                <a:t>báo</a:t>
              </a:r>
              <a:r>
                <a:rPr lang="en-US" sz="867" dirty="0"/>
                <a:t> method signature </a:t>
              </a:r>
              <a:r>
                <a:rPr lang="en-US" sz="867" dirty="0" err="1"/>
                <a:t>của</a:t>
              </a:r>
              <a:r>
                <a:rPr lang="en-US" sz="867" dirty="0"/>
                <a:t> </a:t>
              </a:r>
              <a:r>
                <a:rPr lang="en-US" sz="867" dirty="0" err="1"/>
                <a:t>chúng</a:t>
              </a:r>
              <a:endParaRPr lang="en-US" sz="867" dirty="0"/>
            </a:p>
          </p:txBody>
        </p:sp>
      </p:grpSp>
    </p:spTree>
    <p:extLst>
      <p:ext uri="{BB962C8B-B14F-4D97-AF65-F5344CB8AC3E}">
        <p14:creationId xmlns:p14="http://schemas.microsoft.com/office/powerpoint/2010/main" val="100594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3976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UserService</a:t>
            </a:r>
            <a:endParaRPr lang="en-US" sz="2167" dirty="0">
              <a:latin typeface="Times New Roman" panose="02020603050405020304" pitchFamily="18" charset="0"/>
              <a:cs typeface="Times New Roman" panose="02020603050405020304" pitchFamily="18" charset="0"/>
            </a:endParaRPr>
          </a:p>
        </p:txBody>
      </p:sp>
      <p:grpSp>
        <p:nvGrpSpPr>
          <p:cNvPr id="9" name="グループ化 8"/>
          <p:cNvGrpSpPr/>
          <p:nvPr/>
        </p:nvGrpSpPr>
        <p:grpSpPr>
          <a:xfrm>
            <a:off x="1544757" y="1326261"/>
            <a:ext cx="7786074" cy="4803672"/>
            <a:chOff x="2851859" y="1261520"/>
            <a:chExt cx="14374291" cy="8868317"/>
          </a:xfrm>
        </p:grpSpPr>
        <p:pic>
          <p:nvPicPr>
            <p:cNvPr id="8" name="図 7"/>
            <p:cNvPicPr>
              <a:picLocks noChangeAspect="1"/>
            </p:cNvPicPr>
            <p:nvPr/>
          </p:nvPicPr>
          <p:blipFill>
            <a:blip r:embed="rId3"/>
            <a:stretch>
              <a:fillRect/>
            </a:stretch>
          </p:blipFill>
          <p:spPr>
            <a:xfrm>
              <a:off x="2851859" y="1261520"/>
              <a:ext cx="14374291" cy="8868317"/>
            </a:xfrm>
            <a:prstGeom prst="rect">
              <a:avLst/>
            </a:prstGeom>
          </p:spPr>
        </p:pic>
        <p:sp>
          <p:nvSpPr>
            <p:cNvPr id="4" name="正方形/長方形 3"/>
            <p:cNvSpPr/>
            <p:nvPr/>
          </p:nvSpPr>
          <p:spPr>
            <a:xfrm>
              <a:off x="3587998" y="5484546"/>
              <a:ext cx="8429625" cy="2286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0" name="角丸四角形吹き出し 9"/>
          <p:cNvSpPr/>
          <p:nvPr/>
        </p:nvSpPr>
        <p:spPr>
          <a:xfrm>
            <a:off x="4226522" y="2533333"/>
            <a:ext cx="2662238" cy="944166"/>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latin typeface="Times New Roman" panose="02020603050405020304" pitchFamily="18" charset="0"/>
                <a:cs typeface="Times New Roman" panose="02020603050405020304" pitchFamily="18" charset="0"/>
              </a:rPr>
              <a:t>UserService</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sẽ</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gọi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UserRepository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với</a:t>
            </a:r>
            <a:r>
              <a:rPr lang="en-US" sz="867" dirty="0">
                <a:latin typeface="Times New Roman" panose="02020603050405020304" pitchFamily="18" charset="0"/>
                <a:cs typeface="Times New Roman" panose="02020603050405020304" pitchFamily="18" charset="0"/>
              </a:rPr>
              <a:t> method: </a:t>
            </a:r>
            <a:r>
              <a:rPr lang="en-US" sz="867" dirty="0" err="1">
                <a:latin typeface="Times New Roman" panose="02020603050405020304" pitchFamily="18" charset="0"/>
                <a:cs typeface="Times New Roman" panose="02020603050405020304" pitchFamily="18" charset="0"/>
              </a:rPr>
              <a:t>findAllByOrderByUseId</a:t>
            </a:r>
            <a:endParaRPr lang="en-US" sz="8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4964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3976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UserService</a:t>
            </a:r>
            <a:endParaRPr lang="en-US" sz="2167" dirty="0">
              <a:latin typeface="Times New Roman" panose="02020603050405020304" pitchFamily="18" charset="0"/>
              <a:cs typeface="Times New Roman" panose="02020603050405020304" pitchFamily="18" charset="0"/>
            </a:endParaRPr>
          </a:p>
        </p:txBody>
      </p:sp>
      <p:grpSp>
        <p:nvGrpSpPr>
          <p:cNvPr id="9" name="グループ化 8"/>
          <p:cNvGrpSpPr/>
          <p:nvPr/>
        </p:nvGrpSpPr>
        <p:grpSpPr>
          <a:xfrm>
            <a:off x="1700530" y="1297026"/>
            <a:ext cx="7858549" cy="4848385"/>
            <a:chOff x="3139440" y="1207548"/>
            <a:chExt cx="14508090" cy="8950865"/>
          </a:xfrm>
        </p:grpSpPr>
        <p:grpSp>
          <p:nvGrpSpPr>
            <p:cNvPr id="5" name="グループ化 4"/>
            <p:cNvGrpSpPr/>
            <p:nvPr/>
          </p:nvGrpSpPr>
          <p:grpSpPr>
            <a:xfrm>
              <a:off x="3139440" y="1207548"/>
              <a:ext cx="14508090" cy="8950865"/>
              <a:chOff x="3139440" y="1207548"/>
              <a:chExt cx="14508090" cy="8950865"/>
            </a:xfrm>
          </p:grpSpPr>
          <p:pic>
            <p:nvPicPr>
              <p:cNvPr id="3" name="図 2"/>
              <p:cNvPicPr>
                <a:picLocks noChangeAspect="1"/>
              </p:cNvPicPr>
              <p:nvPr/>
            </p:nvPicPr>
            <p:blipFill>
              <a:blip r:embed="rId3"/>
              <a:stretch>
                <a:fillRect/>
              </a:stretch>
            </p:blipFill>
            <p:spPr>
              <a:xfrm>
                <a:off x="3139440" y="1207548"/>
                <a:ext cx="14508090" cy="8950865"/>
              </a:xfrm>
              <a:prstGeom prst="rect">
                <a:avLst/>
              </a:prstGeom>
            </p:spPr>
          </p:pic>
          <p:sp>
            <p:nvSpPr>
              <p:cNvPr id="4" name="正方形/長方形 3"/>
              <p:cNvSpPr/>
              <p:nvPr/>
            </p:nvSpPr>
            <p:spPr>
              <a:xfrm flipV="1">
                <a:off x="3929063" y="2693191"/>
                <a:ext cx="2571750" cy="24288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8" name="正方形/長方形 7"/>
            <p:cNvSpPr/>
            <p:nvPr/>
          </p:nvSpPr>
          <p:spPr>
            <a:xfrm>
              <a:off x="3929063" y="6672263"/>
              <a:ext cx="3914775" cy="1571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160842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23976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UserService</a:t>
            </a:r>
            <a:endParaRPr lang="en-US" sz="2167" dirty="0">
              <a:latin typeface="Times New Roman" panose="02020603050405020304" pitchFamily="18" charset="0"/>
              <a:cs typeface="Times New Roman" panose="02020603050405020304" pitchFamily="18" charset="0"/>
            </a:endParaRPr>
          </a:p>
        </p:txBody>
      </p:sp>
      <p:grpSp>
        <p:nvGrpSpPr>
          <p:cNvPr id="5" name="グループ化 4"/>
          <p:cNvGrpSpPr/>
          <p:nvPr/>
        </p:nvGrpSpPr>
        <p:grpSpPr>
          <a:xfrm>
            <a:off x="1544757" y="1318522"/>
            <a:ext cx="7735899" cy="4772715"/>
            <a:chOff x="2851859" y="1247232"/>
            <a:chExt cx="14281659" cy="8811167"/>
          </a:xfrm>
        </p:grpSpPr>
        <p:pic>
          <p:nvPicPr>
            <p:cNvPr id="2" name="図 1"/>
            <p:cNvPicPr>
              <a:picLocks noChangeAspect="1"/>
            </p:cNvPicPr>
            <p:nvPr/>
          </p:nvPicPr>
          <p:blipFill>
            <a:blip r:embed="rId3"/>
            <a:stretch>
              <a:fillRect/>
            </a:stretch>
          </p:blipFill>
          <p:spPr>
            <a:xfrm>
              <a:off x="2851859" y="1247232"/>
              <a:ext cx="14281659" cy="8811167"/>
            </a:xfrm>
            <a:prstGeom prst="rect">
              <a:avLst/>
            </a:prstGeom>
          </p:spPr>
        </p:pic>
        <p:sp>
          <p:nvSpPr>
            <p:cNvPr id="3" name="正方形/長方形 2"/>
            <p:cNvSpPr/>
            <p:nvPr/>
          </p:nvSpPr>
          <p:spPr>
            <a:xfrm>
              <a:off x="3957638" y="4986338"/>
              <a:ext cx="1785937" cy="14318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3197034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314878" y="1490016"/>
            <a:ext cx="1831422" cy="641651"/>
          </a:xfrm>
          <a:prstGeom prst="rect">
            <a:avLst/>
          </a:prstGeom>
          <a:noFill/>
        </p:spPr>
        <p:txBody>
          <a:bodyPr wrap="square" lIns="0" tIns="0" rIns="0" bIns="0" rtlCol="0">
            <a:spAutoFit/>
          </a:bodyPr>
          <a:lstStyle/>
          <a:p>
            <a:pPr>
              <a:lnSpc>
                <a:spcPct val="111249"/>
              </a:lnSpc>
            </a:pPr>
            <a:r>
              <a:rPr lang="en-US" altLang="zh-CN" sz="1950" spc="190" dirty="0" err="1">
                <a:solidFill>
                  <a:srgbClr val="FEFEFE"/>
                </a:solidFill>
                <a:latin typeface="Times New Roman"/>
                <a:ea typeface="Times New Roman"/>
              </a:rPr>
              <a:t>UserController</a:t>
            </a:r>
            <a:endParaRPr lang="en-US" altLang="zh-CN" sz="1950" spc="190" dirty="0">
              <a:solidFill>
                <a:srgbClr val="FEFEFE"/>
              </a:solidFill>
              <a:latin typeface="Times New Roman"/>
              <a:ea typeface="Times New Roman"/>
            </a:endParaRPr>
          </a:p>
        </p:txBody>
      </p:sp>
      <p:sp>
        <p:nvSpPr>
          <p:cNvPr id="24" name="TextBox 20"/>
          <p:cNvSpPr txBox="1"/>
          <p:nvPr/>
        </p:nvSpPr>
        <p:spPr>
          <a:xfrm>
            <a:off x="3639709" y="2535013"/>
            <a:ext cx="1124804" cy="146130"/>
          </a:xfrm>
          <a:prstGeom prst="rect">
            <a:avLst/>
          </a:prstGeom>
          <a:noFill/>
        </p:spPr>
        <p:txBody>
          <a:bodyPr wrap="square" lIns="0" tIns="0" rIns="0" bIns="0" rtlCol="0">
            <a:spAutoFit/>
          </a:bodyPr>
          <a:lstStyle/>
          <a:p>
            <a:pPr>
              <a:lnSpc>
                <a:spcPct val="119583"/>
              </a:lnSpc>
            </a:pPr>
            <a:r>
              <a:rPr lang="en-US" altLang="zh-CN" sz="867" spc="246" dirty="0">
                <a:solidFill>
                  <a:srgbClr val="FEFEFE"/>
                </a:solidFill>
                <a:latin typeface="Times New Roman"/>
                <a:ea typeface="Times New Roman"/>
              </a:rPr>
              <a:t>Get all user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1600438"/>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Get All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GetMapping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getUser</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"Find All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ResponseEntity.ok</a:t>
            </a:r>
            <a:r>
              <a:rPr lang="en-US" sz="1300" dirty="0">
                <a:solidFill>
                  <a:srgbClr val="000000"/>
                </a:solidFill>
                <a:latin typeface="Consolas" panose="020B0609020204030204" pitchFamily="49" charset="0"/>
              </a:rPr>
              <a:t>().body(</a:t>
            </a:r>
            <a:r>
              <a:rPr lang="en-US" sz="1300" dirty="0" err="1">
                <a:solidFill>
                  <a:srgbClr val="0000C0"/>
                </a:solidFill>
                <a:latin typeface="Consolas" panose="020B0609020204030204" pitchFamily="49" charset="0"/>
              </a:rPr>
              <a:t>service</a:t>
            </a:r>
            <a:r>
              <a:rPr lang="en-US" sz="1300" dirty="0" err="1">
                <a:solidFill>
                  <a:srgbClr val="000000"/>
                </a:solidFill>
                <a:latin typeface="Consolas" panose="020B0609020204030204" pitchFamily="49" charset="0"/>
              </a:rPr>
              <a:t>.getAllUser</a:t>
            </a:r>
            <a:r>
              <a:rPr lang="en-US" sz="1300"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348686" y="1563837"/>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2" name="正方形/長方形 1"/>
          <p:cNvSpPr/>
          <p:nvPr/>
        </p:nvSpPr>
        <p:spPr>
          <a:xfrm>
            <a:off x="5518061" y="1319615"/>
            <a:ext cx="1060360" cy="11161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4" name="角丸四角形吹き出し 3"/>
          <p:cNvSpPr/>
          <p:nvPr/>
        </p:nvSpPr>
        <p:spPr>
          <a:xfrm>
            <a:off x="6801655" y="761531"/>
            <a:ext cx="1778895" cy="488324"/>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Url</a:t>
            </a:r>
            <a:r>
              <a:rPr lang="en-US" sz="867" dirty="0"/>
              <a:t> </a:t>
            </a:r>
            <a:r>
              <a:rPr lang="en-US" sz="867" dirty="0" err="1"/>
              <a:t>tương</a:t>
            </a:r>
            <a:r>
              <a:rPr lang="en-US" sz="867" dirty="0"/>
              <a:t> </a:t>
            </a:r>
            <a:r>
              <a:rPr lang="en-US" sz="867" dirty="0" err="1"/>
              <a:t>ứng</a:t>
            </a:r>
            <a:r>
              <a:rPr lang="en-US" sz="867" dirty="0"/>
              <a:t> </a:t>
            </a:r>
            <a:r>
              <a:rPr lang="en-US" sz="867" dirty="0" err="1"/>
              <a:t>khi</a:t>
            </a:r>
            <a:r>
              <a:rPr lang="en-US" sz="867" dirty="0"/>
              <a:t> </a:t>
            </a:r>
            <a:r>
              <a:rPr lang="en-US" sz="867" dirty="0" err="1"/>
              <a:t>chậy</a:t>
            </a:r>
            <a:r>
              <a:rPr lang="en-US" sz="867" dirty="0"/>
              <a:t> </a:t>
            </a:r>
            <a:r>
              <a:rPr lang="en-US" sz="867" dirty="0" err="1"/>
              <a:t>api</a:t>
            </a:r>
            <a:r>
              <a:rPr lang="en-US" sz="867" dirty="0"/>
              <a:t>: http://localhost:8080/api/v1</a:t>
            </a:r>
          </a:p>
        </p:txBody>
      </p:sp>
    </p:spTree>
    <p:extLst>
      <p:ext uri="{BB962C8B-B14F-4D97-AF65-F5344CB8AC3E}">
        <p14:creationId xmlns:p14="http://schemas.microsoft.com/office/powerpoint/2010/main" val="173077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4" name="TextBox 20"/>
          <p:cNvSpPr txBox="1"/>
          <p:nvPr/>
        </p:nvSpPr>
        <p:spPr>
          <a:xfrm>
            <a:off x="3513720" y="2535013"/>
            <a:ext cx="1124804" cy="306238"/>
          </a:xfrm>
          <a:prstGeom prst="rect">
            <a:avLst/>
          </a:prstGeom>
          <a:noFill/>
        </p:spPr>
        <p:txBody>
          <a:bodyPr wrap="square" lIns="0" tIns="0" rIns="0" bIns="0" rtlCol="0">
            <a:spAutoFit/>
          </a:bodyPr>
          <a:lstStyle/>
          <a:p>
            <a:pPr>
              <a:lnSpc>
                <a:spcPct val="119583"/>
              </a:lnSpc>
            </a:pPr>
            <a:r>
              <a:rPr lang="en-US" altLang="zh-CN" sz="867" spc="246" dirty="0" err="1">
                <a:solidFill>
                  <a:srgbClr val="FEFEFE"/>
                </a:solidFill>
                <a:latin typeface="Times New Roman"/>
                <a:ea typeface="Times New Roman"/>
              </a:rPr>
              <a:t>UserController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2000548"/>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Create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PostMapping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"/save"</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saveUser</a:t>
            </a:r>
            <a:r>
              <a:rPr lang="en-US" sz="1300" dirty="0">
                <a:solidFill>
                  <a:srgbClr val="000000"/>
                </a:solidFill>
                <a:latin typeface="Consolas" panose="020B0609020204030204" pitchFamily="49" charset="0"/>
              </a:rPr>
              <a:t>(</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RequestBody</a:t>
            </a:r>
            <a:r>
              <a:rPr lang="en-US" sz="1300" dirty="0">
                <a:solidFill>
                  <a:srgbClr val="000000"/>
                </a:solidFill>
                <a:latin typeface="Consolas" panose="020B0609020204030204" pitchFamily="49" charset="0"/>
              </a:rPr>
              <a:t> user: Users):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en-US" sz="1300" dirty="0" err="1">
                <a:solidFill>
                  <a:srgbClr val="7F0055"/>
                </a:solidFill>
                <a:latin typeface="Consolas" panose="020B0609020204030204" pitchFamily="49" charset="0"/>
              </a:rPr>
              <a:t>var</a:t>
            </a:r>
            <a:r>
              <a:rPr lang="en-US" sz="1300" dirty="0">
                <a:solidFill>
                  <a:srgbClr val="000000"/>
                </a:solidFill>
                <a:latin typeface="Consolas" panose="020B0609020204030204" pitchFamily="49" charset="0"/>
              </a:rPr>
              <a:t> </a:t>
            </a:r>
            <a:r>
              <a:rPr lang="en-US" sz="1300" dirty="0" err="1">
                <a:solidFill>
                  <a:srgbClr val="6A3E3E"/>
                </a:solidFill>
                <a:latin typeface="Consolas" panose="020B0609020204030204" pitchFamily="49" charset="0"/>
              </a:rPr>
              <a:t>userSave</a:t>
            </a:r>
            <a:r>
              <a:rPr lang="en-US" sz="1300" dirty="0">
                <a:solidFill>
                  <a:srgbClr val="000000"/>
                </a:solidFill>
                <a:latin typeface="Consolas" panose="020B0609020204030204" pitchFamily="49" charset="0"/>
              </a:rPr>
              <a:t>: Users = </a:t>
            </a:r>
            <a:r>
              <a:rPr lang="en-US" sz="1300" dirty="0" err="1">
                <a:solidFill>
                  <a:srgbClr val="0000C0"/>
                </a:solidFill>
                <a:latin typeface="Consolas" panose="020B0609020204030204" pitchFamily="49" charset="0"/>
              </a:rPr>
              <a:t>service</a:t>
            </a:r>
            <a:r>
              <a:rPr lang="en-US" sz="1300" dirty="0" err="1">
                <a:solidFill>
                  <a:srgbClr val="000000"/>
                </a:solidFill>
                <a:latin typeface="Consolas" panose="020B0609020204030204" pitchFamily="49" charset="0"/>
              </a:rPr>
              <a:t>.saveUser</a:t>
            </a:r>
            <a:r>
              <a:rPr lang="en-US" sz="1300" dirty="0">
                <a:solidFill>
                  <a:srgbClr val="000000"/>
                </a:solidFill>
                <a:latin typeface="Consolas" panose="020B0609020204030204" pitchFamily="49" charset="0"/>
              </a:rPr>
              <a:t>(user)</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"Save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ResponseEntity.ok</a:t>
            </a:r>
            <a:r>
              <a:rPr lang="en-US" sz="1300" dirty="0">
                <a:solidFill>
                  <a:srgbClr val="000000"/>
                </a:solidFill>
                <a:latin typeface="Consolas" panose="020B0609020204030204" pitchFamily="49" charset="0"/>
              </a:rPr>
              <a:t>().body(</a:t>
            </a:r>
            <a:r>
              <a:rPr lang="en-US" sz="1300" dirty="0" err="1">
                <a:solidFill>
                  <a:srgbClr val="6A3E3E"/>
                </a:solidFill>
                <a:latin typeface="Consolas" panose="020B0609020204030204" pitchFamily="49" charset="0"/>
              </a:rPr>
              <a:t>userSave</a:t>
            </a:r>
            <a:r>
              <a:rPr lang="en-US" sz="1300"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297739" y="4089323"/>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1" name="TextBox 16"/>
          <p:cNvSpPr txBox="1"/>
          <p:nvPr/>
        </p:nvSpPr>
        <p:spPr>
          <a:xfrm>
            <a:off x="314878" y="1490016"/>
            <a:ext cx="1831422" cy="641651"/>
          </a:xfrm>
          <a:prstGeom prst="rect">
            <a:avLst/>
          </a:prstGeom>
          <a:noFill/>
        </p:spPr>
        <p:txBody>
          <a:bodyPr wrap="square" lIns="0" tIns="0" rIns="0" bIns="0" rtlCol="0">
            <a:spAutoFit/>
          </a:bodyPr>
          <a:lstStyle/>
          <a:p>
            <a:pPr>
              <a:lnSpc>
                <a:spcPct val="111249"/>
              </a:lnSpc>
            </a:pPr>
            <a:r>
              <a:rPr lang="en-US" altLang="zh-CN" sz="1950" spc="190" dirty="0" err="1">
                <a:solidFill>
                  <a:srgbClr val="FEFEFE"/>
                </a:solidFill>
                <a:latin typeface="Times New Roman"/>
                <a:ea typeface="Times New Roman"/>
              </a:rPr>
              <a:t>UserController</a:t>
            </a:r>
            <a:endParaRPr lang="en-US" altLang="zh-CN" sz="1950" spc="190" dirty="0">
              <a:solidFill>
                <a:srgbClr val="FEFEFE"/>
              </a:solidFill>
              <a:latin typeface="Times New Roman"/>
              <a:ea typeface="Times New Roman"/>
            </a:endParaRPr>
          </a:p>
        </p:txBody>
      </p:sp>
    </p:spTree>
    <p:extLst>
      <p:ext uri="{BB962C8B-B14F-4D97-AF65-F5344CB8AC3E}">
        <p14:creationId xmlns:p14="http://schemas.microsoft.com/office/powerpoint/2010/main" val="157245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4" name="TextBox 20"/>
          <p:cNvSpPr txBox="1"/>
          <p:nvPr/>
        </p:nvSpPr>
        <p:spPr>
          <a:xfrm>
            <a:off x="3513720" y="2535013"/>
            <a:ext cx="1124804" cy="306238"/>
          </a:xfrm>
          <a:prstGeom prst="rect">
            <a:avLst/>
          </a:prstGeom>
          <a:noFill/>
        </p:spPr>
        <p:txBody>
          <a:bodyPr wrap="square" lIns="0" tIns="0" rIns="0" bIns="0" rtlCol="0">
            <a:spAutoFit/>
          </a:bodyPr>
          <a:lstStyle/>
          <a:p>
            <a:pPr>
              <a:lnSpc>
                <a:spcPct val="119583"/>
              </a:lnSpc>
            </a:pPr>
            <a:r>
              <a:rPr lang="en-US" altLang="zh-CN" sz="867" spc="246" dirty="0" err="1">
                <a:solidFill>
                  <a:srgbClr val="FEFEFE"/>
                </a:solidFill>
                <a:latin typeface="Times New Roman"/>
                <a:ea typeface="Times New Roman"/>
              </a:rPr>
              <a:t>UserController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2200602"/>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Update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PutMapping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"/update"</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updateUser</a:t>
            </a:r>
            <a:r>
              <a:rPr lang="en-US" sz="1300" dirty="0">
                <a:solidFill>
                  <a:srgbClr val="000000"/>
                </a:solidFill>
                <a:latin typeface="Consolas" panose="020B0609020204030204" pitchFamily="49" charset="0"/>
              </a:rPr>
              <a:t>(</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RequestParam</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userId</a:t>
            </a:r>
            <a:r>
              <a:rPr lang="en-US" sz="1300" dirty="0">
                <a:solidFill>
                  <a:srgbClr val="000000"/>
                </a:solidFill>
                <a:latin typeface="Consolas" panose="020B0609020204030204" pitchFamily="49" charset="0"/>
              </a:rPr>
              <a:t>: String, </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RequestBody</a:t>
            </a:r>
            <a:r>
              <a:rPr lang="en-US" sz="1300" dirty="0">
                <a:solidFill>
                  <a:srgbClr val="000000"/>
                </a:solidFill>
                <a:latin typeface="Consolas" panose="020B0609020204030204" pitchFamily="49" charset="0"/>
              </a:rPr>
              <a:t> user: Users):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nb-NO" sz="1300" dirty="0">
                <a:solidFill>
                  <a:srgbClr val="7F0055"/>
                </a:solidFill>
                <a:latin typeface="Consolas" panose="020B0609020204030204" pitchFamily="49" charset="0"/>
              </a:rPr>
              <a:t>var</a:t>
            </a:r>
            <a:r>
              <a:rPr lang="nb-NO" sz="1300" dirty="0">
                <a:solidFill>
                  <a:srgbClr val="000000"/>
                </a:solidFill>
                <a:latin typeface="Consolas" panose="020B0609020204030204" pitchFamily="49" charset="0"/>
              </a:rPr>
              <a:t> </a:t>
            </a:r>
            <a:r>
              <a:rPr lang="nb-NO" sz="1300" dirty="0">
                <a:solidFill>
                  <a:srgbClr val="6A3E3E"/>
                </a:solidFill>
                <a:latin typeface="Consolas" panose="020B0609020204030204" pitchFamily="49" charset="0"/>
              </a:rPr>
              <a:t>userUpdate</a:t>
            </a:r>
            <a:r>
              <a:rPr lang="nb-NO" sz="1300" dirty="0">
                <a:solidFill>
                  <a:srgbClr val="000000"/>
                </a:solidFill>
                <a:latin typeface="Consolas" panose="020B0609020204030204" pitchFamily="49" charset="0"/>
              </a:rPr>
              <a:t>: Users = </a:t>
            </a:r>
            <a:r>
              <a:rPr lang="nb-NO" sz="1300" dirty="0">
                <a:solidFill>
                  <a:srgbClr val="0000C0"/>
                </a:solidFill>
                <a:latin typeface="Consolas" panose="020B0609020204030204" pitchFamily="49" charset="0"/>
              </a:rPr>
              <a:t>service</a:t>
            </a:r>
            <a:r>
              <a:rPr lang="nb-NO" sz="1300" dirty="0">
                <a:solidFill>
                  <a:srgbClr val="000000"/>
                </a:solidFill>
                <a:latin typeface="Consolas" panose="020B0609020204030204" pitchFamily="49" charset="0"/>
              </a:rPr>
              <a:t>.updateUser(userId, user)</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"Update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ResponseEntity.ok</a:t>
            </a:r>
            <a:r>
              <a:rPr lang="en-US" sz="1300" dirty="0">
                <a:solidFill>
                  <a:srgbClr val="000000"/>
                </a:solidFill>
                <a:latin typeface="Consolas" panose="020B0609020204030204" pitchFamily="49" charset="0"/>
              </a:rPr>
              <a:t>().body(</a:t>
            </a:r>
            <a:r>
              <a:rPr lang="en-US" sz="1300" dirty="0" err="1">
                <a:solidFill>
                  <a:srgbClr val="6A3E3E"/>
                </a:solidFill>
                <a:latin typeface="Consolas" panose="020B0609020204030204" pitchFamily="49" charset="0"/>
              </a:rPr>
              <a:t>userUpdate</a:t>
            </a:r>
            <a:r>
              <a:rPr lang="en-US" sz="1300"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174514" y="5417001"/>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1" name="TextBox 16"/>
          <p:cNvSpPr txBox="1"/>
          <p:nvPr/>
        </p:nvSpPr>
        <p:spPr>
          <a:xfrm>
            <a:off x="314878" y="1490016"/>
            <a:ext cx="1831422" cy="641651"/>
          </a:xfrm>
          <a:prstGeom prst="rect">
            <a:avLst/>
          </a:prstGeom>
          <a:noFill/>
        </p:spPr>
        <p:txBody>
          <a:bodyPr wrap="square" lIns="0" tIns="0" rIns="0" bIns="0" rtlCol="0">
            <a:spAutoFit/>
          </a:bodyPr>
          <a:lstStyle/>
          <a:p>
            <a:pPr>
              <a:lnSpc>
                <a:spcPct val="111249"/>
              </a:lnSpc>
            </a:pPr>
            <a:r>
              <a:rPr lang="en-US" altLang="zh-CN" sz="1950" spc="190" dirty="0" err="1">
                <a:solidFill>
                  <a:srgbClr val="FEFEFE"/>
                </a:solidFill>
                <a:latin typeface="Times New Roman"/>
                <a:ea typeface="Times New Roman"/>
              </a:rPr>
              <a:t>UserController</a:t>
            </a:r>
            <a:endParaRPr lang="en-US" altLang="zh-CN" sz="1950" spc="190" dirty="0">
              <a:solidFill>
                <a:srgbClr val="FEFEFE"/>
              </a:solidFill>
              <a:latin typeface="Times New Roman"/>
              <a:ea typeface="Times New Roman"/>
            </a:endParaRPr>
          </a:p>
        </p:txBody>
      </p:sp>
    </p:spTree>
    <p:extLst>
      <p:ext uri="{BB962C8B-B14F-4D97-AF65-F5344CB8AC3E}">
        <p14:creationId xmlns:p14="http://schemas.microsoft.com/office/powerpoint/2010/main" val="253424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4" name="TextBox 20"/>
          <p:cNvSpPr txBox="1"/>
          <p:nvPr/>
        </p:nvSpPr>
        <p:spPr>
          <a:xfrm>
            <a:off x="3513720" y="2535013"/>
            <a:ext cx="1124804" cy="306238"/>
          </a:xfrm>
          <a:prstGeom prst="rect">
            <a:avLst/>
          </a:prstGeom>
          <a:noFill/>
        </p:spPr>
        <p:txBody>
          <a:bodyPr wrap="square" lIns="0" tIns="0" rIns="0" bIns="0" rtlCol="0">
            <a:spAutoFit/>
          </a:bodyPr>
          <a:lstStyle/>
          <a:p>
            <a:pPr>
              <a:lnSpc>
                <a:spcPct val="119583"/>
              </a:lnSpc>
            </a:pPr>
            <a:r>
              <a:rPr lang="en-US" altLang="zh-CN" sz="867" spc="246" dirty="0" err="1">
                <a:solidFill>
                  <a:srgbClr val="FEFEFE"/>
                </a:solidFill>
                <a:latin typeface="Times New Roman"/>
                <a:ea typeface="Times New Roman"/>
              </a:rPr>
              <a:t>UserController</a:t>
            </a:r>
            <a:endParaRPr lang="en-US" altLang="zh-CN" sz="867" spc="217" dirty="0">
              <a:solidFill>
                <a:srgbClr val="FEFEFE"/>
              </a:solidFill>
              <a:latin typeface="Times New Roman"/>
              <a:ea typeface="Times New Roman"/>
            </a:endParaRPr>
          </a:p>
        </p:txBody>
      </p:sp>
      <p:sp>
        <p:nvSpPr>
          <p:cNvPr id="25" name="TextBox 21"/>
          <p:cNvSpPr txBox="1"/>
          <p:nvPr/>
        </p:nvSpPr>
        <p:spPr>
          <a:xfrm>
            <a:off x="416334" y="3127786"/>
            <a:ext cx="4531504" cy="2000548"/>
          </a:xfrm>
          <a:prstGeom prst="rect">
            <a:avLst/>
          </a:prstGeom>
          <a:noFill/>
        </p:spPr>
        <p:txBody>
          <a:bodyPr wrap="square" lIns="0" tIns="0" rIns="0" bIns="0" rtlCol="0">
            <a:spAutoFit/>
          </a:bodyPr>
          <a:lstStyle/>
          <a:p>
            <a:r>
              <a:rPr lang="en-US" sz="1300" dirty="0">
                <a:solidFill>
                  <a:srgbClr val="3F7F5F"/>
                </a:solidFill>
                <a:latin typeface="Consolas" panose="020B0609020204030204" pitchFamily="49" charset="0"/>
              </a:rPr>
              <a:t>/**</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Delete user</a:t>
            </a:r>
          </a:p>
          <a:p>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a:t>
            </a:r>
          </a:p>
          <a:p>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DeleteMapping</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"/delete"</a:t>
            </a:r>
            <a:r>
              <a:rPr lang="en-US" sz="1300" dirty="0">
                <a:solidFill>
                  <a:srgbClr val="000000"/>
                </a:solidFill>
                <a:latin typeface="Consolas" panose="020B0609020204030204" pitchFamily="49" charset="0"/>
              </a:rPr>
              <a:t>)</a:t>
            </a:r>
          </a:p>
          <a:p>
            <a:r>
              <a:rPr lang="en-US" sz="1300" dirty="0">
                <a:solidFill>
                  <a:srgbClr val="7F0055"/>
                </a:solidFill>
                <a:latin typeface="Consolas" panose="020B0609020204030204" pitchFamily="49" charset="0"/>
              </a:rPr>
              <a:t>fun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deleteUser</a:t>
            </a:r>
            <a:r>
              <a:rPr lang="en-US" sz="1300" dirty="0">
                <a:solidFill>
                  <a:srgbClr val="000000"/>
                </a:solidFill>
                <a:latin typeface="Consolas" panose="020B0609020204030204" pitchFamily="49" charset="0"/>
              </a:rPr>
              <a:t>(</a:t>
            </a:r>
            <a:r>
              <a:rPr lang="en-US" sz="1300" dirty="0">
                <a:solidFill>
                  <a:srgbClr val="646464"/>
                </a:solidFill>
                <a:latin typeface="Consolas" panose="020B0609020204030204" pitchFamily="49" charset="0"/>
              </a:rPr>
              <a:t>@</a:t>
            </a:r>
            <a:r>
              <a:rPr lang="en-US" sz="1300" dirty="0" err="1">
                <a:solidFill>
                  <a:srgbClr val="646464"/>
                </a:solidFill>
                <a:latin typeface="Consolas" panose="020B0609020204030204" pitchFamily="49" charset="0"/>
              </a:rPr>
              <a:t>RequestBody</a:t>
            </a:r>
            <a:r>
              <a:rPr lang="en-US" sz="1300" dirty="0">
                <a:solidFill>
                  <a:srgbClr val="000000"/>
                </a:solidFill>
                <a:latin typeface="Consolas" panose="020B0609020204030204" pitchFamily="49" charset="0"/>
              </a:rPr>
              <a:t> user: Users):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 {</a:t>
            </a:r>
          </a:p>
          <a:p>
            <a:r>
              <a:rPr lang="en-US" sz="1300" dirty="0" err="1">
                <a:solidFill>
                  <a:srgbClr val="0000C0"/>
                </a:solidFill>
                <a:latin typeface="Consolas" panose="020B0609020204030204" pitchFamily="49" charset="0"/>
              </a:rPr>
              <a:t>service</a:t>
            </a:r>
            <a:r>
              <a:rPr lang="en-US" sz="1300" dirty="0" err="1">
                <a:solidFill>
                  <a:srgbClr val="000000"/>
                </a:solidFill>
                <a:latin typeface="Consolas" panose="020B0609020204030204" pitchFamily="49" charset="0"/>
              </a:rPr>
              <a:t>.deleteUser</a:t>
            </a:r>
            <a:r>
              <a:rPr lang="en-US" sz="1300" dirty="0">
                <a:solidFill>
                  <a:srgbClr val="000000"/>
                </a:solidFill>
                <a:latin typeface="Consolas" panose="020B0609020204030204" pitchFamily="49" charset="0"/>
              </a:rPr>
              <a:t>(user)</a:t>
            </a:r>
          </a:p>
          <a:p>
            <a:r>
              <a:rPr lang="en-US" sz="1300" dirty="0">
                <a:solidFill>
                  <a:srgbClr val="7F0055"/>
                </a:solidFill>
                <a:latin typeface="Consolas" panose="020B0609020204030204" pitchFamily="49" charset="0"/>
              </a:rPr>
              <a:t>return</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EntityResponse</a:t>
            </a:r>
            <a:r>
              <a:rPr lang="en-US" sz="1300" dirty="0">
                <a:solidFill>
                  <a:srgbClr val="000000"/>
                </a:solidFill>
                <a:latin typeface="Consolas" panose="020B0609020204030204" pitchFamily="49" charset="0"/>
              </a:rPr>
              <a:t>(</a:t>
            </a:r>
            <a:r>
              <a:rPr lang="en-US" sz="1300" dirty="0">
                <a:solidFill>
                  <a:srgbClr val="2A00FF"/>
                </a:solidFill>
                <a:latin typeface="Consolas" panose="020B0609020204030204" pitchFamily="49" charset="0"/>
              </a:rPr>
              <a:t>"Delete </a:t>
            </a:r>
            <a:r>
              <a:rPr lang="en-US" sz="1300" dirty="0" err="1">
                <a:solidFill>
                  <a:srgbClr val="2A00FF"/>
                </a:solidFill>
                <a:latin typeface="Consolas" panose="020B0609020204030204" pitchFamily="49" charset="0"/>
              </a:rPr>
              <a:t>Succes</a:t>
            </a:r>
            <a:r>
              <a:rPr lang="en-US" sz="1300" dirty="0">
                <a:solidFill>
                  <a:srgbClr val="2A00FF"/>
                </a:solidFill>
                <a:latin typeface="Consolas" panose="020B0609020204030204" pitchFamily="49" charset="0"/>
              </a:rPr>
              <a:t>"</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ResponseEntity</a:t>
            </a:r>
            <a:r>
              <a:rPr lang="en-US" sz="1300" dirty="0">
                <a:solidFill>
                  <a:srgbClr val="000000"/>
                </a:solidFill>
                <a:latin typeface="Consolas" panose="020B0609020204030204" pitchFamily="49" charset="0"/>
              </a:rPr>
              <a:t>(</a:t>
            </a:r>
            <a:r>
              <a:rPr lang="en-US" sz="1300" dirty="0">
                <a:solidFill>
                  <a:srgbClr val="7F0055"/>
                </a:solidFill>
                <a:latin typeface="Consolas" panose="020B0609020204030204" pitchFamily="49" charset="0"/>
              </a:rPr>
              <a:t>null</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HttpStatus.</a:t>
            </a:r>
            <a:r>
              <a:rPr lang="en-US" sz="1300" i="1" dirty="0" err="1">
                <a:solidFill>
                  <a:srgbClr val="0000C0"/>
                </a:solidFill>
                <a:latin typeface="Consolas" panose="020B0609020204030204" pitchFamily="49" charset="0"/>
              </a:rPr>
              <a:t>OK</a:t>
            </a:r>
            <a:r>
              <a:rPr lang="en-US" sz="1300" i="1" dirty="0">
                <a:solidFill>
                  <a:srgbClr val="000000"/>
                </a:solidFill>
                <a:latin typeface="Consolas" panose="020B0609020204030204" pitchFamily="49" charset="0"/>
              </a:rPr>
              <a:t>));</a:t>
            </a:r>
          </a:p>
          <a:p>
            <a:r>
              <a:rPr lang="en-US" sz="1300" dirty="0">
                <a:solidFill>
                  <a:srgbClr val="000000"/>
                </a:solidFill>
                <a:latin typeface="Consolas" panose="020B0609020204030204" pitchFamily="49" charset="0"/>
              </a:rPr>
              <a:t>}</a:t>
            </a:r>
            <a:endParaRPr lang="en-US" altLang="zh-CN" sz="1300" spc="68" dirty="0">
              <a:solidFill>
                <a:srgbClr val="000000"/>
              </a:solidFill>
              <a:latin typeface="Times New Roman"/>
              <a:ea typeface="Times New Roman"/>
            </a:endParaRPr>
          </a:p>
        </p:txBody>
      </p:sp>
      <p:grpSp>
        <p:nvGrpSpPr>
          <p:cNvPr id="10" name="グループ化 9"/>
          <p:cNvGrpSpPr/>
          <p:nvPr/>
        </p:nvGrpSpPr>
        <p:grpSpPr>
          <a:xfrm>
            <a:off x="5314490" y="870833"/>
            <a:ext cx="4182691" cy="5231094"/>
            <a:chOff x="9811366" y="420730"/>
            <a:chExt cx="7721891" cy="9657405"/>
          </a:xfrm>
        </p:grpSpPr>
        <p:pic>
          <p:nvPicPr>
            <p:cNvPr id="21" name="図 20"/>
            <p:cNvPicPr>
              <a:picLocks noChangeAspect="1"/>
            </p:cNvPicPr>
            <p:nvPr/>
          </p:nvPicPr>
          <p:blipFill>
            <a:blip r:embed="rId3"/>
            <a:stretch>
              <a:fillRect/>
            </a:stretch>
          </p:blipFill>
          <p:spPr>
            <a:xfrm>
              <a:off x="9811366" y="420730"/>
              <a:ext cx="7721891" cy="9657405"/>
            </a:xfrm>
            <a:prstGeom prst="rect">
              <a:avLst/>
            </a:prstGeom>
          </p:spPr>
        </p:pic>
        <p:sp>
          <p:nvSpPr>
            <p:cNvPr id="7" name="正方形/長方形 6"/>
            <p:cNvSpPr/>
            <p:nvPr/>
          </p:nvSpPr>
          <p:spPr>
            <a:xfrm>
              <a:off x="10297739" y="6774465"/>
              <a:ext cx="6749143" cy="1295477"/>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1" name="TextBox 16"/>
          <p:cNvSpPr txBox="1"/>
          <p:nvPr/>
        </p:nvSpPr>
        <p:spPr>
          <a:xfrm>
            <a:off x="314878" y="1490016"/>
            <a:ext cx="1831422" cy="641651"/>
          </a:xfrm>
          <a:prstGeom prst="rect">
            <a:avLst/>
          </a:prstGeom>
          <a:noFill/>
        </p:spPr>
        <p:txBody>
          <a:bodyPr wrap="square" lIns="0" tIns="0" rIns="0" bIns="0" rtlCol="0">
            <a:spAutoFit/>
          </a:bodyPr>
          <a:lstStyle/>
          <a:p>
            <a:pPr>
              <a:lnSpc>
                <a:spcPct val="111249"/>
              </a:lnSpc>
            </a:pPr>
            <a:r>
              <a:rPr lang="en-US" altLang="zh-CN" sz="1950" spc="190" dirty="0" err="1">
                <a:solidFill>
                  <a:srgbClr val="FEFEFE"/>
                </a:solidFill>
                <a:latin typeface="Times New Roman"/>
                <a:ea typeface="Times New Roman"/>
              </a:rPr>
              <a:t>UserController</a:t>
            </a:r>
            <a:endParaRPr lang="en-US" altLang="zh-CN" sz="1950" spc="190" dirty="0">
              <a:solidFill>
                <a:srgbClr val="FEFEFE"/>
              </a:solidFill>
              <a:latin typeface="Times New Roman"/>
              <a:ea typeface="Times New Roman"/>
            </a:endParaRPr>
          </a:p>
        </p:txBody>
      </p:sp>
    </p:spTree>
    <p:extLst>
      <p:ext uri="{BB962C8B-B14F-4D97-AF65-F5344CB8AC3E}">
        <p14:creationId xmlns:p14="http://schemas.microsoft.com/office/powerpoint/2010/main" val="3414275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User</a:t>
            </a:r>
          </a:p>
        </p:txBody>
      </p:sp>
      <p:grpSp>
        <p:nvGrpSpPr>
          <p:cNvPr id="8" name="グループ化 7"/>
          <p:cNvGrpSpPr/>
          <p:nvPr/>
        </p:nvGrpSpPr>
        <p:grpSpPr>
          <a:xfrm>
            <a:off x="1102217" y="1714832"/>
            <a:ext cx="7283003" cy="3944960"/>
            <a:chOff x="2034862" y="1978881"/>
            <a:chExt cx="13445544" cy="7283003"/>
          </a:xfrm>
        </p:grpSpPr>
        <p:pic>
          <p:nvPicPr>
            <p:cNvPr id="6" name="図 5"/>
            <p:cNvPicPr>
              <a:picLocks noChangeAspect="1"/>
            </p:cNvPicPr>
            <p:nvPr/>
          </p:nvPicPr>
          <p:blipFill>
            <a:blip r:embed="rId3"/>
            <a:stretch>
              <a:fillRect/>
            </a:stretch>
          </p:blipFill>
          <p:spPr>
            <a:xfrm>
              <a:off x="2034862" y="1978881"/>
              <a:ext cx="13445544" cy="7283003"/>
            </a:xfrm>
            <a:prstGeom prst="rect">
              <a:avLst/>
            </a:prstGeom>
          </p:spPr>
        </p:pic>
        <p:sp>
          <p:nvSpPr>
            <p:cNvPr id="7" name="正方形/長方形 6"/>
            <p:cNvSpPr/>
            <p:nvPr/>
          </p:nvSpPr>
          <p:spPr>
            <a:xfrm>
              <a:off x="4095482"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7431110"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7841731" y="4196323"/>
              <a:ext cx="7342461" cy="489616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7" y="2290466"/>
              <a:ext cx="3284113"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http://localhost:8080/api/v1</a:t>
              </a:r>
            </a:p>
          </p:txBody>
        </p:sp>
      </p:grpSp>
    </p:spTree>
    <p:extLst>
      <p:ext uri="{BB962C8B-B14F-4D97-AF65-F5344CB8AC3E}">
        <p14:creationId xmlns:p14="http://schemas.microsoft.com/office/powerpoint/2010/main" val="253812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3" name="Freeform 23"/>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4" name="Freeform 24"/>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9" name="Picture 5"/>
          <p:cNvPicPr>
            <a:picLocks noChangeAspect="1"/>
          </p:cNvPicPr>
          <p:nvPr/>
        </p:nvPicPr>
        <p:blipFill>
          <a:blip r:embed="rId2"/>
          <a:stretch>
            <a:fillRect/>
          </a:stretch>
        </p:blipFill>
        <p:spPr>
          <a:xfrm>
            <a:off x="1494056" y="1762916"/>
            <a:ext cx="7231380" cy="3128645"/>
          </a:xfrm>
          <a:prstGeom prst="rect">
            <a:avLst/>
          </a:prstGeom>
        </p:spPr>
      </p:pic>
      <p:sp>
        <p:nvSpPr>
          <p:cNvPr id="2" name="TextBox 26"/>
          <p:cNvSpPr txBox="1"/>
          <p:nvPr/>
        </p:nvSpPr>
        <p:spPr>
          <a:xfrm>
            <a:off x="2156987" y="3052164"/>
            <a:ext cx="6416297" cy="1100301"/>
          </a:xfrm>
          <a:prstGeom prst="rect">
            <a:avLst/>
          </a:prstGeom>
          <a:noFill/>
        </p:spPr>
        <p:txBody>
          <a:bodyPr wrap="square" lIns="0" tIns="0" rIns="0" bIns="0" rtlCol="0">
            <a:spAutoFit/>
          </a:bodyPr>
          <a:lstStyle/>
          <a:p>
            <a:r>
              <a:rPr lang="en-US" altLang="zh-CN" sz="3575" spc="75" dirty="0">
                <a:solidFill>
                  <a:srgbClr val="000000"/>
                </a:solidFill>
                <a:latin typeface="Times New Roman"/>
                <a:ea typeface="Times New Roman"/>
              </a:rPr>
              <a:t>Thao </a:t>
            </a:r>
            <a:r>
              <a:rPr lang="en-US" altLang="zh-CN" sz="3575" spc="75" dirty="0" err="1">
                <a:solidFill>
                  <a:srgbClr val="000000"/>
                </a:solidFill>
                <a:latin typeface="Times New Roman"/>
                <a:ea typeface="Times New Roman"/>
              </a:rPr>
              <a:t>tác</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với</a:t>
            </a:r>
            <a:r>
              <a:rPr lang="en-US" altLang="zh-CN" sz="3575" spc="75" dirty="0">
                <a:solidFill>
                  <a:srgbClr val="000000"/>
                </a:solidFill>
                <a:latin typeface="Times New Roman"/>
                <a:ea typeface="Times New Roman"/>
              </a:rPr>
              <a:t> table </a:t>
            </a:r>
            <a:r>
              <a:rPr lang="en-US" altLang="zh-CN" sz="3575" spc="75" dirty="0" err="1">
                <a:solidFill>
                  <a:srgbClr val="000000"/>
                </a:solidFill>
                <a:latin typeface="Times New Roman"/>
                <a:ea typeface="Times New Roman"/>
              </a:rPr>
              <a:t>có</a:t>
            </a:r>
            <a:r>
              <a:rPr lang="en-US" altLang="zh-CN" sz="3575" spc="75" dirty="0">
                <a:solidFill>
                  <a:srgbClr val="000000"/>
                </a:solidFill>
                <a:latin typeface="Times New Roman"/>
                <a:ea typeface="Times New Roman"/>
              </a:rPr>
              <a:t> Composite Primary Key </a:t>
            </a:r>
            <a:endParaRPr lang="en-US" sz="867" dirty="0"/>
          </a:p>
        </p:txBody>
      </p:sp>
    </p:spTree>
    <p:extLst>
      <p:ext uri="{BB962C8B-B14F-4D97-AF65-F5344CB8AC3E}">
        <p14:creationId xmlns:p14="http://schemas.microsoft.com/office/powerpoint/2010/main" val="1984704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6050205"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Composite Primary Keys trong Spring Data JPA</a:t>
            </a:r>
          </a:p>
        </p:txBody>
      </p:sp>
      <p:sp>
        <p:nvSpPr>
          <p:cNvPr id="8" name="正方形/長方形 7"/>
          <p:cNvSpPr/>
          <p:nvPr/>
        </p:nvSpPr>
        <p:spPr>
          <a:xfrm>
            <a:off x="781645" y="1297026"/>
            <a:ext cx="8040886" cy="542584"/>
          </a:xfrm>
          <a:prstGeom prst="rect">
            <a:avLst/>
          </a:prstGeom>
        </p:spPr>
        <p:txBody>
          <a:bodyPr wrap="square">
            <a:spAutoFit/>
          </a:bodyPr>
          <a:lstStyle/>
          <a:p>
            <a:pPr algn="just"/>
            <a:r>
              <a:rPr lang="vi-VN" sz="1463" dirty="0">
                <a:solidFill>
                  <a:srgbClr val="333333"/>
                </a:solidFill>
              </a:rPr>
              <a:t>Trong JPA, </a:t>
            </a:r>
            <a:r>
              <a:rPr lang="en-US" sz="1463" dirty="0" err="1">
                <a:solidFill>
                  <a:srgbClr val="333333"/>
                </a:solidFill>
              </a:rPr>
              <a:t>chúng</a:t>
            </a:r>
            <a:r>
              <a:rPr lang="en-US" sz="1463" dirty="0">
                <a:solidFill>
                  <a:srgbClr val="333333"/>
                </a:solidFill>
              </a:rPr>
              <a:t> ta </a:t>
            </a:r>
            <a:r>
              <a:rPr lang="en-US" sz="1463" dirty="0" err="1">
                <a:solidFill>
                  <a:srgbClr val="333333"/>
                </a:solidFill>
              </a:rPr>
              <a:t>các</a:t>
            </a:r>
            <a:r>
              <a:rPr lang="en-US" sz="1463" dirty="0">
                <a:solidFill>
                  <a:srgbClr val="333333"/>
                </a:solidFill>
              </a:rPr>
              <a:t> </a:t>
            </a:r>
            <a:r>
              <a:rPr lang="en-US" sz="1463" dirty="0" err="1">
                <a:solidFill>
                  <a:srgbClr val="333333"/>
                </a:solidFill>
              </a:rPr>
              <a:t>hai</a:t>
            </a:r>
            <a:r>
              <a:rPr lang="en-US" sz="1463" dirty="0">
                <a:solidFill>
                  <a:srgbClr val="333333"/>
                </a:solidFill>
              </a:rPr>
              <a:t> </a:t>
            </a:r>
            <a:r>
              <a:rPr lang="en-US" sz="1463" dirty="0" err="1">
                <a:solidFill>
                  <a:srgbClr val="333333"/>
                </a:solidFill>
              </a:rPr>
              <a:t>cách</a:t>
            </a:r>
            <a:r>
              <a:rPr lang="en-US" sz="1463" dirty="0">
                <a:solidFill>
                  <a:srgbClr val="333333"/>
                </a:solidFill>
              </a:rPr>
              <a:t> </a:t>
            </a:r>
            <a:r>
              <a:rPr lang="en-US" sz="1463" dirty="0" err="1">
                <a:solidFill>
                  <a:srgbClr val="333333"/>
                </a:solidFill>
              </a:rPr>
              <a:t>để</a:t>
            </a:r>
            <a:r>
              <a:rPr lang="en-US" sz="1463" dirty="0">
                <a:solidFill>
                  <a:srgbClr val="333333"/>
                </a:solidFill>
              </a:rPr>
              <a:t> </a:t>
            </a:r>
            <a:r>
              <a:rPr lang="en-US" sz="1463" dirty="0" err="1">
                <a:solidFill>
                  <a:srgbClr val="333333"/>
                </a:solidFill>
              </a:rPr>
              <a:t>xác</a:t>
            </a:r>
            <a:r>
              <a:rPr lang="en-US" sz="1463" dirty="0">
                <a:solidFill>
                  <a:srgbClr val="333333"/>
                </a:solidFill>
              </a:rPr>
              <a:t> </a:t>
            </a:r>
            <a:r>
              <a:rPr lang="en-US" sz="1463" dirty="0" err="1">
                <a:solidFill>
                  <a:srgbClr val="333333"/>
                </a:solidFill>
              </a:rPr>
              <a:t>định</a:t>
            </a:r>
            <a:r>
              <a:rPr lang="en-US" sz="1463" dirty="0">
                <a:solidFill>
                  <a:srgbClr val="333333"/>
                </a:solidFill>
              </a:rPr>
              <a:t> </a:t>
            </a:r>
            <a:r>
              <a:rPr lang="en-US" sz="1463" dirty="0" err="1">
                <a:solidFill>
                  <a:srgbClr val="333333"/>
                </a:solidFill>
              </a:rPr>
              <a:t>các</a:t>
            </a:r>
            <a:r>
              <a:rPr lang="en-US" sz="1463" dirty="0">
                <a:solidFill>
                  <a:srgbClr val="333333"/>
                </a:solidFill>
              </a:rPr>
              <a:t> Composite Primary Keys </a:t>
            </a:r>
            <a:r>
              <a:rPr lang="en-US" sz="1463" dirty="0" err="1">
                <a:solidFill>
                  <a:srgbClr val="333333"/>
                </a:solidFill>
              </a:rPr>
              <a:t>là</a:t>
            </a:r>
            <a:r>
              <a:rPr lang="en-US" sz="1463" dirty="0">
                <a:solidFill>
                  <a:srgbClr val="333333"/>
                </a:solidFill>
              </a:rPr>
              <a:t>: @</a:t>
            </a:r>
            <a:r>
              <a:rPr lang="en-US" sz="1463" dirty="0" err="1">
                <a:solidFill>
                  <a:srgbClr val="333333"/>
                </a:solidFill>
              </a:rPr>
              <a:t>IdClass</a:t>
            </a:r>
            <a:r>
              <a:rPr lang="en-US" sz="1463" dirty="0">
                <a:solidFill>
                  <a:srgbClr val="333333"/>
                </a:solidFill>
              </a:rPr>
              <a:t> </a:t>
            </a:r>
            <a:r>
              <a:rPr lang="en-US" sz="1463" dirty="0" err="1">
                <a:solidFill>
                  <a:srgbClr val="333333"/>
                </a:solidFill>
              </a:rPr>
              <a:t>và</a:t>
            </a:r>
            <a:r>
              <a:rPr lang="en-US" sz="1463" dirty="0">
                <a:solidFill>
                  <a:srgbClr val="333333"/>
                </a:solidFill>
              </a:rPr>
              <a:t> @</a:t>
            </a:r>
            <a:r>
              <a:rPr lang="en-US" sz="1463" dirty="0" err="1">
                <a:solidFill>
                  <a:srgbClr val="333333"/>
                </a:solidFill>
              </a:rPr>
              <a:t>EmbeddedId</a:t>
            </a:r>
            <a:endParaRPr lang="en-US" sz="1463" dirty="0"/>
          </a:p>
        </p:txBody>
      </p:sp>
      <p:sp>
        <p:nvSpPr>
          <p:cNvPr id="2" name="テキスト ボックス 1"/>
          <p:cNvSpPr txBox="1"/>
          <p:nvPr/>
        </p:nvSpPr>
        <p:spPr>
          <a:xfrm>
            <a:off x="850265" y="1813649"/>
            <a:ext cx="7847409" cy="1676549"/>
          </a:xfrm>
          <a:prstGeom prst="rect">
            <a:avLst/>
          </a:prstGeom>
          <a:noFill/>
        </p:spPr>
        <p:txBody>
          <a:bodyPr wrap="square" rtlCol="0">
            <a:spAutoFit/>
          </a:bodyPr>
          <a:lstStyle/>
          <a:p>
            <a:pPr algn="just"/>
            <a:r>
              <a:rPr lang="en-US" sz="1463" dirty="0" err="1">
                <a:solidFill>
                  <a:srgbClr val="333333"/>
                </a:solidFill>
              </a:rPr>
              <a:t>Để</a:t>
            </a:r>
            <a:r>
              <a:rPr lang="en-US" sz="1463" dirty="0">
                <a:solidFill>
                  <a:srgbClr val="333333"/>
                </a:solidFill>
              </a:rPr>
              <a:t> </a:t>
            </a:r>
            <a:r>
              <a:rPr lang="en-US" sz="1463" dirty="0" err="1">
                <a:solidFill>
                  <a:srgbClr val="333333"/>
                </a:solidFill>
              </a:rPr>
              <a:t>xác</a:t>
            </a:r>
            <a:r>
              <a:rPr lang="en-US" sz="1463" dirty="0">
                <a:solidFill>
                  <a:srgbClr val="333333"/>
                </a:solidFill>
              </a:rPr>
              <a:t> </a:t>
            </a:r>
            <a:r>
              <a:rPr lang="en-US" sz="1463" dirty="0" err="1">
                <a:solidFill>
                  <a:srgbClr val="333333"/>
                </a:solidFill>
              </a:rPr>
              <a:t>định</a:t>
            </a:r>
            <a:r>
              <a:rPr lang="en-US" sz="1463" dirty="0">
                <a:solidFill>
                  <a:srgbClr val="333333"/>
                </a:solidFill>
              </a:rPr>
              <a:t> </a:t>
            </a:r>
            <a:r>
              <a:rPr lang="en-US" sz="1463" dirty="0" err="1">
                <a:solidFill>
                  <a:srgbClr val="333333"/>
                </a:solidFill>
              </a:rPr>
              <a:t>được</a:t>
            </a:r>
            <a:r>
              <a:rPr lang="en-US" sz="1463" dirty="0">
                <a:solidFill>
                  <a:srgbClr val="333333"/>
                </a:solidFill>
              </a:rPr>
              <a:t> Composite Primary Keys, </a:t>
            </a:r>
            <a:r>
              <a:rPr lang="en-US" sz="1463" dirty="0" err="1">
                <a:solidFill>
                  <a:srgbClr val="333333"/>
                </a:solidFill>
              </a:rPr>
              <a:t>chúng</a:t>
            </a:r>
            <a:r>
              <a:rPr lang="en-US" sz="1463" dirty="0">
                <a:solidFill>
                  <a:srgbClr val="333333"/>
                </a:solidFill>
              </a:rPr>
              <a:t> ta </a:t>
            </a:r>
            <a:r>
              <a:rPr lang="en-US" sz="1463" dirty="0" err="1">
                <a:solidFill>
                  <a:srgbClr val="333333"/>
                </a:solidFill>
              </a:rPr>
              <a:t>nên</a:t>
            </a:r>
            <a:r>
              <a:rPr lang="en-US" sz="1463" dirty="0">
                <a:solidFill>
                  <a:srgbClr val="333333"/>
                </a:solidFill>
              </a:rPr>
              <a:t> </a:t>
            </a:r>
            <a:r>
              <a:rPr lang="en-US" sz="1463" dirty="0" err="1">
                <a:solidFill>
                  <a:srgbClr val="333333"/>
                </a:solidFill>
              </a:rPr>
              <a:t>tuân</a:t>
            </a:r>
            <a:r>
              <a:rPr lang="en-US" sz="1463" dirty="0">
                <a:solidFill>
                  <a:srgbClr val="333333"/>
                </a:solidFill>
              </a:rPr>
              <a:t> </a:t>
            </a:r>
            <a:r>
              <a:rPr lang="en-US" sz="1463" dirty="0" err="1">
                <a:solidFill>
                  <a:srgbClr val="333333"/>
                </a:solidFill>
              </a:rPr>
              <a:t>thủ</a:t>
            </a:r>
            <a:r>
              <a:rPr lang="en-US" sz="1463" dirty="0">
                <a:solidFill>
                  <a:srgbClr val="333333"/>
                </a:solidFill>
              </a:rPr>
              <a:t> </a:t>
            </a:r>
            <a:r>
              <a:rPr lang="en-US" sz="1463" dirty="0" err="1">
                <a:solidFill>
                  <a:srgbClr val="333333"/>
                </a:solidFill>
              </a:rPr>
              <a:t>một</a:t>
            </a:r>
            <a:r>
              <a:rPr lang="en-US" sz="1463" dirty="0">
                <a:solidFill>
                  <a:srgbClr val="333333"/>
                </a:solidFill>
              </a:rPr>
              <a:t> </a:t>
            </a:r>
            <a:r>
              <a:rPr lang="en-US" sz="1463" dirty="0" err="1">
                <a:solidFill>
                  <a:srgbClr val="333333"/>
                </a:solidFill>
              </a:rPr>
              <a:t>số</a:t>
            </a:r>
            <a:r>
              <a:rPr lang="en-US" sz="1463" dirty="0">
                <a:solidFill>
                  <a:srgbClr val="333333"/>
                </a:solidFill>
              </a:rPr>
              <a:t> </a:t>
            </a:r>
            <a:r>
              <a:rPr lang="en-US" sz="1463" dirty="0" err="1">
                <a:solidFill>
                  <a:srgbClr val="333333"/>
                </a:solidFill>
              </a:rPr>
              <a:t>quy</a:t>
            </a:r>
            <a:r>
              <a:rPr lang="en-US" sz="1463" dirty="0">
                <a:solidFill>
                  <a:srgbClr val="333333"/>
                </a:solidFill>
              </a:rPr>
              <a:t> </a:t>
            </a:r>
            <a:r>
              <a:rPr lang="en-US" sz="1463" dirty="0" err="1">
                <a:solidFill>
                  <a:srgbClr val="333333"/>
                </a:solidFill>
              </a:rPr>
              <a:t>tắc</a:t>
            </a:r>
            <a:r>
              <a:rPr lang="en-US" sz="1463" dirty="0">
                <a:solidFill>
                  <a:srgbClr val="333333"/>
                </a:solidFill>
              </a:rPr>
              <a:t> </a:t>
            </a:r>
            <a:r>
              <a:rPr lang="en-US" sz="1463" dirty="0" err="1">
                <a:solidFill>
                  <a:srgbClr val="333333"/>
                </a:solidFill>
              </a:rPr>
              <a:t>sau</a:t>
            </a:r>
            <a:r>
              <a:rPr lang="en-US" sz="1463" dirty="0">
                <a:solidFill>
                  <a:srgbClr val="333333"/>
                </a:solidFill>
              </a:rPr>
              <a:t>:</a:t>
            </a:r>
          </a:p>
          <a:p>
            <a:pPr marL="495330" lvl="1" indent="-247665" algn="just">
              <a:buFont typeface="Arial" panose="020B0604020202020204" pitchFamily="34" charset="0"/>
              <a:buChar char="•"/>
            </a:pPr>
            <a:r>
              <a:rPr lang="en-US" sz="1463" dirty="0">
                <a:solidFill>
                  <a:srgbClr val="333333"/>
                </a:solidFill>
              </a:rPr>
              <a:t>Class </a:t>
            </a:r>
            <a:r>
              <a:rPr lang="en-US" sz="1463" dirty="0" err="1">
                <a:solidFill>
                  <a:srgbClr val="333333"/>
                </a:solidFill>
              </a:rPr>
              <a:t>định</a:t>
            </a:r>
            <a:r>
              <a:rPr lang="en-US" sz="1463" dirty="0">
                <a:solidFill>
                  <a:srgbClr val="333333"/>
                </a:solidFill>
              </a:rPr>
              <a:t> </a:t>
            </a:r>
            <a:r>
              <a:rPr lang="en-US" sz="1463" dirty="0" err="1">
                <a:solidFill>
                  <a:srgbClr val="333333"/>
                </a:solidFill>
              </a:rPr>
              <a:t>nghĩa</a:t>
            </a:r>
            <a:r>
              <a:rPr lang="en-US" sz="1463" dirty="0">
                <a:solidFill>
                  <a:srgbClr val="333333"/>
                </a:solidFill>
              </a:rPr>
              <a:t> Composite Primary Keys </a:t>
            </a:r>
            <a:r>
              <a:rPr lang="en-US" sz="1463" dirty="0" err="1">
                <a:solidFill>
                  <a:srgbClr val="333333"/>
                </a:solidFill>
              </a:rPr>
              <a:t>phải</a:t>
            </a:r>
            <a:r>
              <a:rPr lang="en-US" sz="1463" dirty="0">
                <a:solidFill>
                  <a:srgbClr val="333333"/>
                </a:solidFill>
              </a:rPr>
              <a:t> </a:t>
            </a:r>
            <a:r>
              <a:rPr lang="en-US" sz="1463" dirty="0" err="1">
                <a:solidFill>
                  <a:srgbClr val="333333"/>
                </a:solidFill>
              </a:rPr>
              <a:t>là</a:t>
            </a:r>
            <a:r>
              <a:rPr lang="en-US" sz="1463" dirty="0">
                <a:solidFill>
                  <a:srgbClr val="333333"/>
                </a:solidFill>
              </a:rPr>
              <a:t> class public</a:t>
            </a:r>
          </a:p>
          <a:p>
            <a:pPr marL="495330" lvl="1" indent="-247665" algn="just">
              <a:buFont typeface="Arial" panose="020B0604020202020204" pitchFamily="34" charset="0"/>
              <a:buChar char="•"/>
            </a:pPr>
            <a:r>
              <a:rPr lang="en-US" sz="1463" dirty="0" err="1">
                <a:solidFill>
                  <a:srgbClr val="333333"/>
                </a:solidFill>
              </a:rPr>
              <a:t>Phải</a:t>
            </a:r>
            <a:r>
              <a:rPr lang="en-US" sz="1463" dirty="0">
                <a:solidFill>
                  <a:srgbClr val="333333"/>
                </a:solidFill>
              </a:rPr>
              <a:t> </a:t>
            </a:r>
            <a:r>
              <a:rPr lang="en-US" sz="1463" dirty="0" err="1">
                <a:solidFill>
                  <a:srgbClr val="333333"/>
                </a:solidFill>
              </a:rPr>
              <a:t>khởi</a:t>
            </a:r>
            <a:r>
              <a:rPr lang="en-US" sz="1463" dirty="0">
                <a:solidFill>
                  <a:srgbClr val="333333"/>
                </a:solidFill>
              </a:rPr>
              <a:t> </a:t>
            </a:r>
            <a:r>
              <a:rPr lang="en-US" sz="1463" dirty="0" err="1">
                <a:solidFill>
                  <a:srgbClr val="333333"/>
                </a:solidFill>
              </a:rPr>
              <a:t>tạo</a:t>
            </a:r>
            <a:r>
              <a:rPr lang="en-US" sz="1463" dirty="0">
                <a:solidFill>
                  <a:srgbClr val="333333"/>
                </a:solidFill>
              </a:rPr>
              <a:t> </a:t>
            </a:r>
            <a:r>
              <a:rPr lang="en-US" sz="1463" dirty="0" err="1">
                <a:solidFill>
                  <a:srgbClr val="333333"/>
                </a:solidFill>
              </a:rPr>
              <a:t>một</a:t>
            </a:r>
            <a:r>
              <a:rPr lang="en-US" sz="1463" dirty="0">
                <a:solidFill>
                  <a:srgbClr val="333333"/>
                </a:solidFill>
              </a:rPr>
              <a:t> default constructor</a:t>
            </a:r>
          </a:p>
          <a:p>
            <a:pPr marL="495330" lvl="1" indent="-247665" algn="just">
              <a:buFont typeface="Arial" panose="020B0604020202020204" pitchFamily="34" charset="0"/>
              <a:buChar char="•"/>
            </a:pPr>
            <a:r>
              <a:rPr lang="en-US" sz="1463" dirty="0" err="1">
                <a:solidFill>
                  <a:srgbClr val="333333"/>
                </a:solidFill>
              </a:rPr>
              <a:t>Phải</a:t>
            </a:r>
            <a:r>
              <a:rPr lang="en-US" sz="1463" dirty="0">
                <a:solidFill>
                  <a:srgbClr val="333333"/>
                </a:solidFill>
              </a:rPr>
              <a:t> </a:t>
            </a:r>
            <a:r>
              <a:rPr lang="en-US" sz="1463" dirty="0" err="1">
                <a:solidFill>
                  <a:srgbClr val="333333"/>
                </a:solidFill>
              </a:rPr>
              <a:t>định</a:t>
            </a:r>
            <a:r>
              <a:rPr lang="en-US" sz="1463" dirty="0">
                <a:solidFill>
                  <a:srgbClr val="333333"/>
                </a:solidFill>
              </a:rPr>
              <a:t> </a:t>
            </a:r>
            <a:r>
              <a:rPr lang="en-US" sz="1463" dirty="0" err="1">
                <a:solidFill>
                  <a:srgbClr val="333333"/>
                </a:solidFill>
              </a:rPr>
              <a:t>nghĩa</a:t>
            </a:r>
            <a:r>
              <a:rPr lang="en-US" sz="1463" dirty="0">
                <a:solidFill>
                  <a:srgbClr val="333333"/>
                </a:solidFill>
              </a:rPr>
              <a:t> method </a:t>
            </a:r>
            <a:r>
              <a:rPr lang="en-US" sz="1517" i="1" dirty="0"/>
              <a:t>equals()</a:t>
            </a:r>
            <a:r>
              <a:rPr lang="en-US" sz="1517" dirty="0"/>
              <a:t> </a:t>
            </a:r>
            <a:r>
              <a:rPr lang="en-US" sz="1517" dirty="0" err="1"/>
              <a:t>và</a:t>
            </a:r>
            <a:r>
              <a:rPr lang="en-US" sz="1517" dirty="0"/>
              <a:t> </a:t>
            </a:r>
            <a:r>
              <a:rPr lang="en-US" sz="1517" i="1" dirty="0" err="1"/>
              <a:t>hashCode</a:t>
            </a:r>
            <a:r>
              <a:rPr lang="en-US" sz="1517" i="1" dirty="0"/>
              <a:t>()</a:t>
            </a:r>
            <a:endParaRPr lang="en-US" sz="1463" dirty="0">
              <a:solidFill>
                <a:srgbClr val="333333"/>
              </a:solidFill>
            </a:endParaRPr>
          </a:p>
          <a:p>
            <a:pPr marL="495330" lvl="1" indent="-247665" algn="just">
              <a:buFont typeface="Arial" panose="020B0604020202020204" pitchFamily="34" charset="0"/>
              <a:buChar char="•"/>
            </a:pPr>
            <a:r>
              <a:rPr lang="en-US" sz="1463" dirty="0" err="1">
                <a:solidFill>
                  <a:srgbClr val="333333"/>
                </a:solidFill>
              </a:rPr>
              <a:t>Phải</a:t>
            </a:r>
            <a:r>
              <a:rPr lang="en-US" sz="1463" dirty="0">
                <a:solidFill>
                  <a:srgbClr val="333333"/>
                </a:solidFill>
              </a:rPr>
              <a:t> </a:t>
            </a:r>
            <a:r>
              <a:rPr lang="en-US" sz="1463" dirty="0" err="1">
                <a:solidFill>
                  <a:srgbClr val="333333"/>
                </a:solidFill>
              </a:rPr>
              <a:t>là</a:t>
            </a:r>
            <a:r>
              <a:rPr lang="en-US" sz="1463" dirty="0">
                <a:solidFill>
                  <a:srgbClr val="333333"/>
                </a:solidFill>
              </a:rPr>
              <a:t> </a:t>
            </a:r>
            <a:r>
              <a:rPr lang="en-US" sz="1463" dirty="0" err="1">
                <a:solidFill>
                  <a:srgbClr val="333333"/>
                </a:solidFill>
              </a:rPr>
              <a:t>một</a:t>
            </a:r>
            <a:r>
              <a:rPr lang="en-US" sz="1463" dirty="0">
                <a:solidFill>
                  <a:srgbClr val="333333"/>
                </a:solidFill>
              </a:rPr>
              <a:t> </a:t>
            </a:r>
            <a:r>
              <a:rPr lang="en-US" sz="1463" dirty="0" err="1">
                <a:solidFill>
                  <a:srgbClr val="333333"/>
                </a:solidFill>
              </a:rPr>
              <a:t>Serializable</a:t>
            </a:r>
            <a:r>
              <a:rPr lang="en-US" sz="1463" dirty="0">
                <a:solidFill>
                  <a:srgbClr val="333333"/>
                </a:solidFill>
              </a:rPr>
              <a:t> </a:t>
            </a:r>
          </a:p>
          <a:p>
            <a:pPr marL="495330" lvl="1" indent="-247665" algn="just">
              <a:buFont typeface="Arial" panose="020B0604020202020204" pitchFamily="34" charset="0"/>
              <a:buChar char="•"/>
            </a:pPr>
            <a:endParaRPr lang="en-US" sz="1463" dirty="0">
              <a:solidFill>
                <a:srgbClr val="333333"/>
              </a:solidFill>
            </a:endParaRPr>
          </a:p>
        </p:txBody>
      </p:sp>
    </p:spTree>
    <p:extLst>
      <p:ext uri="{BB962C8B-B14F-4D97-AF65-F5344CB8AC3E}">
        <p14:creationId xmlns:p14="http://schemas.microsoft.com/office/powerpoint/2010/main" val="1829854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4425002"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Cách sử dụng annotation @IdClass </a:t>
            </a:r>
          </a:p>
        </p:txBody>
      </p:sp>
      <p:sp>
        <p:nvSpPr>
          <p:cNvPr id="8" name="正方形/長方形 7"/>
          <p:cNvSpPr/>
          <p:nvPr/>
        </p:nvSpPr>
        <p:spPr>
          <a:xfrm>
            <a:off x="1145382" y="1265969"/>
            <a:ext cx="8234362" cy="3126369"/>
          </a:xfrm>
          <a:prstGeom prst="rect">
            <a:avLst/>
          </a:prstGeom>
        </p:spPr>
        <p:txBody>
          <a:bodyPr wrap="square">
            <a:spAutoFit/>
          </a:bodyPr>
          <a:lstStyle/>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a:t>
            </a:r>
            <a:r>
              <a:rPr lang="nn-NO" sz="1517" dirty="0">
                <a:latin typeface="Times New Roman" panose="02020603050405020304" pitchFamily="18" charset="0"/>
                <a:cs typeface="Times New Roman" panose="02020603050405020304" pitchFamily="18" charset="0"/>
              </a:rPr>
              <a:t>@IdClass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item </a:t>
            </a:r>
            <a:r>
              <a:rPr lang="en-US" sz="1517" dirty="0" err="1">
                <a:latin typeface="Times New Roman" panose="02020603050405020304" pitchFamily="18" charset="0"/>
                <a:cs typeface="Times New Roman" panose="02020603050405020304" pitchFamily="18" charset="0"/>
              </a:rPr>
              <a:t>tương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ứng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key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entity</a:t>
            </a:r>
          </a:p>
          <a:p>
            <a:pPr algn="just"/>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table </a:t>
            </a:r>
            <a:r>
              <a:rPr lang="en-US" altLang="zh-CN" sz="1517" dirty="0" err="1">
                <a:latin typeface="Times New Roman" panose="02020603050405020304" pitchFamily="18" charset="0"/>
                <a:cs typeface="Times New Roman" panose="02020603050405020304" pitchFamily="18" charset="0"/>
              </a:rPr>
              <a:t>Facility_Ta_Connects</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có</a:t>
            </a:r>
            <a:r>
              <a:rPr lang="en-US" altLang="zh-CN" sz="1517" dirty="0">
                <a:latin typeface="Times New Roman" panose="02020603050405020304" pitchFamily="18" charset="0"/>
                <a:cs typeface="Times New Roman" panose="02020603050405020304" pitchFamily="18" charset="0"/>
              </a:rPr>
              <a:t> Composite Primary Key </a:t>
            </a:r>
            <a:r>
              <a:rPr lang="en-US" altLang="zh-CN" sz="1517" dirty="0" err="1">
                <a:latin typeface="Times New Roman" panose="02020603050405020304" pitchFamily="18" charset="0"/>
                <a:cs typeface="Times New Roman" panose="02020603050405020304" pitchFamily="18" charset="0"/>
              </a:rPr>
              <a:t>là</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common_facility_code</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và</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ta_code</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thì</a:t>
            </a:r>
            <a:r>
              <a:rPr lang="en-US" altLang="zh-CN" sz="1517" dirty="0">
                <a:latin typeface="Times New Roman" panose="02020603050405020304" pitchFamily="18" charset="0"/>
                <a:cs typeface="Times New Roman" panose="02020603050405020304" pitchFamily="18" charset="0"/>
              </a:rPr>
              <a:t> class Id </a:t>
            </a:r>
            <a:r>
              <a:rPr lang="en-US" altLang="zh-CN" sz="1517" dirty="0" err="1">
                <a:latin typeface="Times New Roman" panose="02020603050405020304" pitchFamily="18" charset="0"/>
                <a:cs typeface="Times New Roman" panose="02020603050405020304" pitchFamily="18" charset="0"/>
              </a:rPr>
              <a:t>tương</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ứng</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sẽ</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bao</a:t>
            </a:r>
            <a:r>
              <a:rPr lang="en-US" altLang="zh-CN" sz="1517" dirty="0">
                <a:latin typeface="Times New Roman" panose="02020603050405020304" pitchFamily="18" charset="0"/>
                <a:cs typeface="Times New Roman" panose="02020603050405020304" pitchFamily="18" charset="0"/>
              </a:rPr>
              <a:t> </a:t>
            </a:r>
            <a:r>
              <a:rPr lang="en-US" altLang="zh-CN" sz="1517" dirty="0" err="1">
                <a:latin typeface="Times New Roman" panose="02020603050405020304" pitchFamily="18" charset="0"/>
                <a:cs typeface="Times New Roman" panose="02020603050405020304" pitchFamily="18" charset="0"/>
              </a:rPr>
              <a:t>gồm</a:t>
            </a:r>
            <a:r>
              <a:rPr lang="en-US" altLang="zh-CN" sz="1517" dirty="0">
                <a:latin typeface="Times New Roman" panose="02020603050405020304" pitchFamily="18" charset="0"/>
                <a:cs typeface="Times New Roman" panose="02020603050405020304" pitchFamily="18" charset="0"/>
              </a:rPr>
              <a:t> item </a:t>
            </a:r>
            <a:r>
              <a:rPr lang="en-US" sz="1733" dirty="0" err="1">
                <a:latin typeface="Times New Roman" panose="02020603050405020304" pitchFamily="18" charset="0"/>
                <a:cs typeface="Times New Roman" panose="02020603050405020304" pitchFamily="18" charset="0"/>
              </a:rPr>
              <a:t>commonFacilityCode</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taCode</a:t>
            </a:r>
            <a:endParaRPr lang="en-US" sz="1733" dirty="0">
              <a:latin typeface="Times New Roman" panose="02020603050405020304" pitchFamily="18" charset="0"/>
              <a:cs typeface="Times New Roman" panose="02020603050405020304" pitchFamily="18" charset="0"/>
            </a:endParaRPr>
          </a:p>
          <a:p>
            <a:pPr algn="just"/>
            <a:endParaRPr lang="en-US" sz="1733" dirty="0">
              <a:latin typeface="Times New Roman" panose="02020603050405020304" pitchFamily="18" charset="0"/>
              <a:cs typeface="Times New Roman" panose="02020603050405020304" pitchFamily="18" charset="0"/>
            </a:endParaRPr>
          </a:p>
          <a:p>
            <a:pPr marL="247665"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Class id </a:t>
            </a:r>
            <a:r>
              <a:rPr lang="en-US" sz="1517" dirty="0" err="1">
                <a:latin typeface="Times New Roman" panose="02020603050405020304" pitchFamily="18" charset="0"/>
                <a:cs typeface="Times New Roman" panose="02020603050405020304" pitchFamily="18" charset="0"/>
              </a:rPr>
              <a:t>phải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Serializable</a:t>
            </a:r>
            <a:endParaRPr lang="en-US" sz="1517" dirty="0">
              <a:latin typeface="Times New Roman" panose="02020603050405020304" pitchFamily="18" charset="0"/>
              <a:cs typeface="Times New Roman" panose="02020603050405020304" pitchFamily="18" charset="0"/>
            </a:endParaRPr>
          </a:p>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Liên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kết</a:t>
            </a:r>
            <a:r>
              <a:rPr lang="en-US" sz="1517" dirty="0">
                <a:latin typeface="Times New Roman" panose="02020603050405020304" pitchFamily="18" charset="0"/>
                <a:cs typeface="Times New Roman" panose="02020603050405020304" pitchFamily="18" charset="0"/>
              </a:rPr>
              <a:t> class entity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class id:</a:t>
            </a:r>
          </a:p>
          <a:p>
            <a:pPr marL="495330" lvl="1" indent="-247665" algn="just">
              <a:buFont typeface="Arial" panose="020B0604020202020204" pitchFamily="34" charset="0"/>
              <a:buChar char="•"/>
            </a:pPr>
            <a:r>
              <a:rPr lang="en-US" sz="1733" dirty="0" err="1">
                <a:latin typeface="Times New Roman" panose="02020603050405020304" pitchFamily="18" charset="0"/>
                <a:cs typeface="Times New Roman" panose="02020603050405020304" pitchFamily="18" charset="0"/>
              </a:rPr>
              <a:t>Sử</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dụng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IdClass</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tại</a:t>
            </a:r>
            <a:r>
              <a:rPr lang="en-US" sz="1733" dirty="0">
                <a:latin typeface="Times New Roman" panose="02020603050405020304" pitchFamily="18" charset="0"/>
                <a:cs typeface="Times New Roman" panose="02020603050405020304" pitchFamily="18" charset="0"/>
              </a:rPr>
              <a:t> entity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value </a:t>
            </a:r>
            <a:r>
              <a:rPr lang="en-US" sz="1733" dirty="0" err="1">
                <a:latin typeface="Times New Roman" panose="02020603050405020304" pitchFamily="18" charset="0"/>
                <a:cs typeface="Times New Roman" panose="02020603050405020304" pitchFamily="18" charset="0"/>
              </a:rPr>
              <a:t>là</a:t>
            </a:r>
            <a:r>
              <a:rPr lang="en-US" sz="1733" dirty="0">
                <a:latin typeface="Times New Roman" panose="02020603050405020304" pitchFamily="18" charset="0"/>
                <a:cs typeface="Times New Roman" panose="02020603050405020304" pitchFamily="18" charset="0"/>
              </a:rPr>
              <a:t> class Id </a:t>
            </a:r>
            <a:r>
              <a:rPr lang="en-US" sz="1733" dirty="0" err="1">
                <a:latin typeface="Times New Roman" panose="02020603050405020304" pitchFamily="18" charset="0"/>
                <a:cs typeface="Times New Roman" panose="02020603050405020304" pitchFamily="18" charset="0"/>
              </a:rPr>
              <a:t>đã</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tạo</a:t>
            </a:r>
            <a:endParaRPr lang="en-US" sz="1733" dirty="0">
              <a:latin typeface="Times New Roman" panose="02020603050405020304" pitchFamily="18" charset="0"/>
              <a:cs typeface="Times New Roman" panose="02020603050405020304" pitchFamily="18" charset="0"/>
            </a:endParaRPr>
          </a:p>
          <a:p>
            <a:pPr marL="495330" lvl="1" indent="-247665" algn="just">
              <a:buFont typeface="Arial" panose="020B0604020202020204" pitchFamily="34" charset="0"/>
              <a:buChar char="•"/>
            </a:pPr>
            <a:r>
              <a:rPr lang="en-US" sz="1733" dirty="0" err="1">
                <a:latin typeface="Times New Roman" panose="02020603050405020304" pitchFamily="18" charset="0"/>
                <a:cs typeface="Times New Roman" panose="02020603050405020304" pitchFamily="18" charset="0"/>
              </a:rPr>
              <a:t>Các</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trường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trong</a:t>
            </a:r>
            <a:r>
              <a:rPr lang="en-US" sz="1733" dirty="0">
                <a:latin typeface="Times New Roman" panose="02020603050405020304" pitchFamily="18" charset="0"/>
                <a:cs typeface="Times New Roman" panose="02020603050405020304" pitchFamily="18" charset="0"/>
              </a:rPr>
              <a:t> class Id </a:t>
            </a:r>
            <a:r>
              <a:rPr lang="en-US" sz="1733" dirty="0" err="1">
                <a:latin typeface="Times New Roman" panose="02020603050405020304" pitchFamily="18" charset="0"/>
                <a:cs typeface="Times New Roman" panose="02020603050405020304" pitchFamily="18" charset="0"/>
              </a:rPr>
              <a:t>tương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ứng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với</a:t>
            </a:r>
            <a:r>
              <a:rPr lang="en-US" sz="1733" dirty="0">
                <a:latin typeface="Times New Roman" panose="02020603050405020304" pitchFamily="18" charset="0"/>
                <a:cs typeface="Times New Roman" panose="02020603050405020304" pitchFamily="18" charset="0"/>
              </a:rPr>
              <a:t> Entity </a:t>
            </a:r>
            <a:r>
              <a:rPr lang="en-US" sz="1733" dirty="0" err="1">
                <a:latin typeface="Times New Roman" panose="02020603050405020304" pitchFamily="18" charset="0"/>
                <a:cs typeface="Times New Roman" panose="02020603050405020304" pitchFamily="18" charset="0"/>
              </a:rPr>
              <a:t>được</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chú</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thích</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bằng</a:t>
            </a:r>
            <a:r>
              <a:rPr lang="en-US" sz="1733" dirty="0">
                <a:latin typeface="Times New Roman" panose="02020603050405020304" pitchFamily="18" charset="0"/>
                <a:cs typeface="Times New Roman" panose="02020603050405020304" pitchFamily="18" charset="0"/>
              </a:rPr>
              <a:t> Annotation @Id</a:t>
            </a:r>
          </a:p>
          <a:p>
            <a:pPr lvl="1" algn="just"/>
            <a:r>
              <a:rPr lang="en-US" sz="1733" dirty="0">
                <a:latin typeface="Times New Roman" panose="02020603050405020304" pitchFamily="18" charset="0"/>
                <a:cs typeface="Times New Roman" panose="02020603050405020304" pitchFamily="18" charset="0"/>
              </a:rPr>
              <a:t> Trong Class Id </a:t>
            </a:r>
            <a:r>
              <a:rPr lang="en-US" sz="1733" dirty="0" err="1">
                <a:latin typeface="Times New Roman" panose="02020603050405020304" pitchFamily="18" charset="0"/>
                <a:cs typeface="Times New Roman" panose="02020603050405020304" pitchFamily="18" charset="0"/>
              </a:rPr>
              <a:t>có</a:t>
            </a:r>
            <a:r>
              <a:rPr lang="en-US" sz="1733" dirty="0">
                <a:latin typeface="Times New Roman" panose="02020603050405020304" pitchFamily="18" charset="0"/>
                <a:cs typeface="Times New Roman" panose="02020603050405020304" pitchFamily="18" charset="0"/>
              </a:rPr>
              <a:t> : </a:t>
            </a:r>
            <a:r>
              <a:rPr lang="en-US" sz="1733" dirty="0" err="1">
                <a:latin typeface="Times New Roman" panose="02020603050405020304" pitchFamily="18" charset="0"/>
                <a:cs typeface="Times New Roman" panose="02020603050405020304" pitchFamily="18" charset="0"/>
              </a:rPr>
              <a:t>commonFacilityCode</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taCode</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thì</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trong</a:t>
            </a:r>
            <a:r>
              <a:rPr lang="en-US" sz="1733" dirty="0">
                <a:latin typeface="Times New Roman" panose="02020603050405020304" pitchFamily="18" charset="0"/>
                <a:cs typeface="Times New Roman" panose="02020603050405020304" pitchFamily="18" charset="0"/>
              </a:rPr>
              <a:t> class Entity </a:t>
            </a:r>
            <a:r>
              <a:rPr lang="en-US" sz="1733" dirty="0" err="1">
                <a:latin typeface="Times New Roman" panose="02020603050405020304" pitchFamily="18" charset="0"/>
                <a:cs typeface="Times New Roman" panose="02020603050405020304" pitchFamily="18" charset="0"/>
              </a:rPr>
              <a:t>cũng</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có</a:t>
            </a:r>
            <a:r>
              <a:rPr lang="en-US" sz="1733" dirty="0">
                <a:latin typeface="Times New Roman" panose="02020603050405020304" pitchFamily="18" charset="0"/>
                <a:cs typeface="Times New Roman" panose="02020603050405020304" pitchFamily="18" charset="0"/>
              </a:rPr>
              <a:t> 2 item </a:t>
            </a:r>
            <a:r>
              <a:rPr lang="en-US" sz="1733" dirty="0" err="1">
                <a:latin typeface="Times New Roman" panose="02020603050405020304" pitchFamily="18" charset="0"/>
                <a:cs typeface="Times New Roman" panose="02020603050405020304" pitchFamily="18" charset="0"/>
              </a:rPr>
              <a:t>đó</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và</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được</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chú</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thích</a:t>
            </a:r>
            <a:r>
              <a:rPr lang="en-US" sz="1733" dirty="0">
                <a:latin typeface="Times New Roman" panose="02020603050405020304" pitchFamily="18" charset="0"/>
                <a:cs typeface="Times New Roman" panose="02020603050405020304" pitchFamily="18" charset="0"/>
              </a:rPr>
              <a:t> </a:t>
            </a:r>
            <a:r>
              <a:rPr lang="en-US" sz="1733" dirty="0" err="1">
                <a:latin typeface="Times New Roman" panose="02020603050405020304" pitchFamily="18" charset="0"/>
                <a:cs typeface="Times New Roman" panose="02020603050405020304" pitchFamily="18" charset="0"/>
              </a:rPr>
              <a:t>với</a:t>
            </a:r>
            <a:r>
              <a:rPr lang="en-US" sz="1733" dirty="0">
                <a:latin typeface="Times New Roman" panose="02020603050405020304" pitchFamily="18" charset="0"/>
                <a:cs typeface="Times New Roman" panose="02020603050405020304" pitchFamily="18" charset="0"/>
              </a:rPr>
              <a:t> annotation @Id</a:t>
            </a:r>
          </a:p>
        </p:txBody>
      </p:sp>
    </p:spTree>
    <p:extLst>
      <p:ext uri="{BB962C8B-B14F-4D97-AF65-F5344CB8AC3E}">
        <p14:creationId xmlns:p14="http://schemas.microsoft.com/office/powerpoint/2010/main" val="3651029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272806" y="1490016"/>
            <a:ext cx="2201113" cy="505523"/>
          </a:xfrm>
          <a:prstGeom prst="rect">
            <a:avLst/>
          </a:prstGeom>
          <a:noFill/>
        </p:spPr>
        <p:txBody>
          <a:bodyPr wrap="square" lIns="0" tIns="0" rIns="0" bIns="0" rtlCol="0">
            <a:spAutoFit/>
          </a:bodyPr>
          <a:lstStyle/>
          <a:p>
            <a:pPr>
              <a:lnSpc>
                <a:spcPct val="111249"/>
              </a:lnSpc>
            </a:pPr>
            <a:r>
              <a:rPr lang="en-US" altLang="zh-CN" sz="3196" spc="190" dirty="0">
                <a:solidFill>
                  <a:srgbClr val="FEFEFE"/>
                </a:solidFill>
                <a:latin typeface="Times New Roman"/>
                <a:ea typeface="Times New Roman"/>
              </a:rPr>
              <a:t>Entity</a:t>
            </a:r>
            <a:endParaRPr lang="en-US" altLang="zh-CN" sz="3196" spc="203" dirty="0">
              <a:solidFill>
                <a:srgbClr val="FEFEFE"/>
              </a:solidFill>
              <a:latin typeface="Times New Roman"/>
              <a:ea typeface="Times New Roman"/>
            </a:endParaRPr>
          </a:p>
        </p:txBody>
      </p:sp>
      <p:pic>
        <p:nvPicPr>
          <p:cNvPr id="9" name="図 8"/>
          <p:cNvPicPr>
            <a:picLocks noChangeAspect="1"/>
          </p:cNvPicPr>
          <p:nvPr/>
        </p:nvPicPr>
        <p:blipFill>
          <a:blip r:embed="rId3"/>
          <a:stretch>
            <a:fillRect/>
          </a:stretch>
        </p:blipFill>
        <p:spPr>
          <a:xfrm>
            <a:off x="428826" y="3051355"/>
            <a:ext cx="4168669" cy="942597"/>
          </a:xfrm>
          <a:prstGeom prst="rect">
            <a:avLst/>
          </a:prstGeom>
        </p:spPr>
      </p:pic>
      <p:sp>
        <p:nvSpPr>
          <p:cNvPr id="12" name="正方形/長方形 11"/>
          <p:cNvSpPr/>
          <p:nvPr/>
        </p:nvSpPr>
        <p:spPr>
          <a:xfrm>
            <a:off x="2975055" y="2483626"/>
            <a:ext cx="1658278" cy="301824"/>
          </a:xfrm>
          <a:custGeom>
            <a:avLst/>
            <a:gdLst>
              <a:gd name="connsiteX0" fmla="*/ 0 w 1986869"/>
              <a:gd name="connsiteY0" fmla="*/ 0 h 542925"/>
              <a:gd name="connsiteX1" fmla="*/ 1986869 w 1986869"/>
              <a:gd name="connsiteY1" fmla="*/ 0 h 542925"/>
              <a:gd name="connsiteX2" fmla="*/ 1986869 w 1986869"/>
              <a:gd name="connsiteY2" fmla="*/ 542925 h 542925"/>
              <a:gd name="connsiteX3" fmla="*/ 0 w 1986869"/>
              <a:gd name="connsiteY3" fmla="*/ 542925 h 542925"/>
              <a:gd name="connsiteX4" fmla="*/ 0 w 1986869"/>
              <a:gd name="connsiteY4" fmla="*/ 0 h 542925"/>
              <a:gd name="connsiteX0" fmla="*/ 0 w 3015569"/>
              <a:gd name="connsiteY0" fmla="*/ 185738 h 728663"/>
              <a:gd name="connsiteX1" fmla="*/ 3015569 w 3015569"/>
              <a:gd name="connsiteY1" fmla="*/ 0 h 728663"/>
              <a:gd name="connsiteX2" fmla="*/ 1986869 w 3015569"/>
              <a:gd name="connsiteY2" fmla="*/ 728663 h 728663"/>
              <a:gd name="connsiteX3" fmla="*/ 0 w 3015569"/>
              <a:gd name="connsiteY3" fmla="*/ 728663 h 728663"/>
              <a:gd name="connsiteX4" fmla="*/ 0 w 3015569"/>
              <a:gd name="connsiteY4" fmla="*/ 185738 h 728663"/>
              <a:gd name="connsiteX0" fmla="*/ 0 w 3015569"/>
              <a:gd name="connsiteY0" fmla="*/ 185738 h 728663"/>
              <a:gd name="connsiteX1" fmla="*/ 3015569 w 3015569"/>
              <a:gd name="connsiteY1" fmla="*/ 0 h 728663"/>
              <a:gd name="connsiteX2" fmla="*/ 3015569 w 3015569"/>
              <a:gd name="connsiteY2" fmla="*/ 528638 h 728663"/>
              <a:gd name="connsiteX3" fmla="*/ 0 w 3015569"/>
              <a:gd name="connsiteY3" fmla="*/ 728663 h 728663"/>
              <a:gd name="connsiteX4" fmla="*/ 0 w 3015569"/>
              <a:gd name="connsiteY4" fmla="*/ 185738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57162 w 3029856"/>
              <a:gd name="connsiteY0" fmla="*/ 28575 h 528638"/>
              <a:gd name="connsiteX1" fmla="*/ 3029856 w 3029856"/>
              <a:gd name="connsiteY1" fmla="*/ 0 h 528638"/>
              <a:gd name="connsiteX2" fmla="*/ 3029856 w 3029856"/>
              <a:gd name="connsiteY2" fmla="*/ 528638 h 528638"/>
              <a:gd name="connsiteX3" fmla="*/ 0 w 3029856"/>
              <a:gd name="connsiteY3" fmla="*/ 485775 h 528638"/>
              <a:gd name="connsiteX4" fmla="*/ 157162 w 3029856"/>
              <a:gd name="connsiteY4" fmla="*/ 28575 h 528638"/>
              <a:gd name="connsiteX0" fmla="*/ 157162 w 3029856"/>
              <a:gd name="connsiteY0" fmla="*/ 28575 h 542925"/>
              <a:gd name="connsiteX1" fmla="*/ 3029856 w 3029856"/>
              <a:gd name="connsiteY1" fmla="*/ 0 h 542925"/>
              <a:gd name="connsiteX2" fmla="*/ 3029856 w 3029856"/>
              <a:gd name="connsiteY2" fmla="*/ 528638 h 542925"/>
              <a:gd name="connsiteX3" fmla="*/ 0 w 3029856"/>
              <a:gd name="connsiteY3" fmla="*/ 542925 h 542925"/>
              <a:gd name="connsiteX4" fmla="*/ 157162 w 3029856"/>
              <a:gd name="connsiteY4" fmla="*/ 28575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0 w 3015569"/>
              <a:gd name="connsiteY0" fmla="*/ 42862 h 542925"/>
              <a:gd name="connsiteX1" fmla="*/ 3015569 w 3015569"/>
              <a:gd name="connsiteY1" fmla="*/ 0 h 542925"/>
              <a:gd name="connsiteX2" fmla="*/ 3015569 w 3015569"/>
              <a:gd name="connsiteY2" fmla="*/ 528638 h 542925"/>
              <a:gd name="connsiteX3" fmla="*/ 14288 w 3015569"/>
              <a:gd name="connsiteY3" fmla="*/ 542925 h 542925"/>
              <a:gd name="connsiteX4" fmla="*/ 0 w 3015569"/>
              <a:gd name="connsiteY4" fmla="*/ 42862 h 542925"/>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61437"/>
              <a:gd name="connsiteY0" fmla="*/ 57150 h 557213"/>
              <a:gd name="connsiteX1" fmla="*/ 3058431 w 3061437"/>
              <a:gd name="connsiteY1" fmla="*/ 0 h 557213"/>
              <a:gd name="connsiteX2" fmla="*/ 3058432 w 3061437"/>
              <a:gd name="connsiteY2" fmla="*/ 542926 h 557213"/>
              <a:gd name="connsiteX3" fmla="*/ 14288 w 3061437"/>
              <a:gd name="connsiteY3" fmla="*/ 557213 h 557213"/>
              <a:gd name="connsiteX4" fmla="*/ 0 w 3061437"/>
              <a:gd name="connsiteY4" fmla="*/ 57150 h 55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1437" h="557213">
                <a:moveTo>
                  <a:pt x="0" y="57150"/>
                </a:moveTo>
                <a:lnTo>
                  <a:pt x="3058431" y="0"/>
                </a:lnTo>
                <a:cubicBezTo>
                  <a:pt x="3029857" y="223838"/>
                  <a:pt x="3072719" y="361951"/>
                  <a:pt x="3058432" y="542926"/>
                </a:cubicBezTo>
                <a:lnTo>
                  <a:pt x="14288" y="557213"/>
                </a:lnTo>
                <a:cubicBezTo>
                  <a:pt x="19050" y="390525"/>
                  <a:pt x="38100" y="238126"/>
                  <a:pt x="0" y="57150"/>
                </a:cubicBezTo>
                <a:close/>
              </a:path>
            </a:pathLst>
          </a:cu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517" dirty="0" err="1">
                <a:solidFill>
                  <a:schemeClr val="bg1"/>
                </a:solidFill>
                <a:latin typeface="Times New Roman" panose="02020603050405020304" pitchFamily="18" charset="0"/>
                <a:cs typeface="Times New Roman" panose="02020603050405020304" pitchFamily="18" charset="0"/>
              </a:rPr>
              <a:t>FacilityTaConnects</a:t>
            </a:r>
            <a:endParaRPr lang="en-US" altLang="zh-CN" sz="1517" spc="217" dirty="0">
              <a:solidFill>
                <a:schemeClr val="bg1"/>
              </a:solidFill>
              <a:latin typeface="Times New Roman" panose="02020603050405020304" pitchFamily="18" charset="0"/>
              <a:ea typeface="Times New Roman"/>
              <a:cs typeface="Times New Roman" panose="02020603050405020304" pitchFamily="18" charset="0"/>
            </a:endParaRPr>
          </a:p>
        </p:txBody>
      </p:sp>
      <p:grpSp>
        <p:nvGrpSpPr>
          <p:cNvPr id="21" name="グループ化 20"/>
          <p:cNvGrpSpPr/>
          <p:nvPr/>
        </p:nvGrpSpPr>
        <p:grpSpPr>
          <a:xfrm>
            <a:off x="5052981" y="836095"/>
            <a:ext cx="4737552" cy="5015232"/>
            <a:chOff x="9328581" y="356598"/>
            <a:chExt cx="8746249" cy="9258889"/>
          </a:xfrm>
        </p:grpSpPr>
        <p:grpSp>
          <p:nvGrpSpPr>
            <p:cNvPr id="18" name="グループ化 17"/>
            <p:cNvGrpSpPr/>
            <p:nvPr/>
          </p:nvGrpSpPr>
          <p:grpSpPr>
            <a:xfrm>
              <a:off x="9328581" y="356598"/>
              <a:ext cx="8746249" cy="9258889"/>
              <a:chOff x="9328581" y="356598"/>
              <a:chExt cx="8746249" cy="9258889"/>
            </a:xfrm>
          </p:grpSpPr>
          <p:pic>
            <p:nvPicPr>
              <p:cNvPr id="13" name="図 12"/>
              <p:cNvPicPr>
                <a:picLocks noChangeAspect="1"/>
              </p:cNvPicPr>
              <p:nvPr/>
            </p:nvPicPr>
            <p:blipFill>
              <a:blip r:embed="rId4"/>
              <a:stretch>
                <a:fillRect/>
              </a:stretch>
            </p:blipFill>
            <p:spPr>
              <a:xfrm>
                <a:off x="9328581" y="356598"/>
                <a:ext cx="8746249" cy="9258889"/>
              </a:xfrm>
              <a:prstGeom prst="rect">
                <a:avLst/>
              </a:prstGeom>
            </p:spPr>
          </p:pic>
          <p:grpSp>
            <p:nvGrpSpPr>
              <p:cNvPr id="11" name="グループ化 10"/>
              <p:cNvGrpSpPr/>
              <p:nvPr/>
            </p:nvGrpSpPr>
            <p:grpSpPr>
              <a:xfrm>
                <a:off x="9644063" y="1917020"/>
                <a:ext cx="5214937" cy="6455455"/>
                <a:chOff x="9644063" y="1917020"/>
                <a:chExt cx="5214937" cy="6455455"/>
              </a:xfrm>
            </p:grpSpPr>
            <p:grpSp>
              <p:nvGrpSpPr>
                <p:cNvPr id="8" name="グループ化 7"/>
                <p:cNvGrpSpPr/>
                <p:nvPr/>
              </p:nvGrpSpPr>
              <p:grpSpPr>
                <a:xfrm>
                  <a:off x="9660436" y="1917020"/>
                  <a:ext cx="4555627" cy="1393553"/>
                  <a:chOff x="9660436" y="1917020"/>
                  <a:chExt cx="4555627" cy="1393553"/>
                </a:xfrm>
              </p:grpSpPr>
              <p:sp>
                <p:nvSpPr>
                  <p:cNvPr id="5" name="正方形/長方形 4"/>
                  <p:cNvSpPr/>
                  <p:nvPr/>
                </p:nvSpPr>
                <p:spPr>
                  <a:xfrm>
                    <a:off x="9660436" y="1917020"/>
                    <a:ext cx="2802559" cy="14726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7" name="正方形/長方形 6"/>
                  <p:cNvSpPr/>
                  <p:nvPr/>
                </p:nvSpPr>
                <p:spPr>
                  <a:xfrm>
                    <a:off x="9889036" y="2224723"/>
                    <a:ext cx="4327027" cy="10858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0" name="正方形/長方形 9"/>
                <p:cNvSpPr/>
                <p:nvPr/>
              </p:nvSpPr>
              <p:spPr>
                <a:xfrm>
                  <a:off x="9644063" y="5486401"/>
                  <a:ext cx="5214937" cy="288607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4" name="角丸四角形吹き出し 13"/>
              <p:cNvSpPr/>
              <p:nvPr/>
            </p:nvSpPr>
            <p:spPr>
              <a:xfrm>
                <a:off x="15087600" y="4643437"/>
                <a:ext cx="2534553" cy="2300287"/>
              </a:xfrm>
              <a:prstGeom prst="wedgeRoundRectCallout">
                <a:avLst>
                  <a:gd name="adj1" fmla="val -56347"/>
                  <a:gd name="adj2" fmla="val 1192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Default constructor </a:t>
                </a:r>
                <a:r>
                  <a:rPr lang="en-US" sz="867" dirty="0" err="1"/>
                  <a:t>khởi</a:t>
                </a:r>
                <a:r>
                  <a:rPr lang="en-US" sz="867" dirty="0"/>
                  <a:t> </a:t>
                </a:r>
                <a:r>
                  <a:rPr lang="en-US" sz="867" dirty="0" err="1"/>
                  <a:t>tạo</a:t>
                </a:r>
                <a:r>
                  <a:rPr lang="en-US" sz="867" dirty="0"/>
                  <a:t> </a:t>
                </a:r>
                <a:r>
                  <a:rPr lang="en-US" sz="867" dirty="0" err="1"/>
                  <a:t>với</a:t>
                </a:r>
                <a:r>
                  <a:rPr lang="en-US" sz="867" dirty="0"/>
                  <a:t> </a:t>
                </a:r>
                <a:r>
                  <a:rPr lang="en-US" sz="867" dirty="0" err="1"/>
                  <a:t>commonFacilityCode</a:t>
                </a:r>
                <a:r>
                  <a:rPr lang="en-US" sz="867" dirty="0"/>
                  <a:t>, </a:t>
                </a:r>
                <a:r>
                  <a:rPr lang="en-US" sz="867" dirty="0" err="1"/>
                  <a:t>taCode</a:t>
                </a:r>
                <a:r>
                  <a:rPr lang="en-US" sz="867" dirty="0"/>
                  <a:t> </a:t>
                </a:r>
                <a:r>
                  <a:rPr lang="en-US" sz="867" dirty="0" err="1"/>
                  <a:t>có</a:t>
                </a:r>
                <a:r>
                  <a:rPr lang="en-US" sz="867" dirty="0"/>
                  <a:t> </a:t>
                </a:r>
                <a:r>
                  <a:rPr lang="en-US" sz="867" dirty="0" err="1"/>
                  <a:t>giá</a:t>
                </a:r>
                <a:r>
                  <a:rPr lang="en-US" sz="867" dirty="0"/>
                  <a:t> </a:t>
                </a:r>
                <a:r>
                  <a:rPr lang="en-US" sz="867" dirty="0" err="1"/>
                  <a:t>trị</a:t>
                </a:r>
                <a:r>
                  <a:rPr lang="en-US" sz="867" dirty="0"/>
                  <a:t> </a:t>
                </a:r>
                <a:r>
                  <a:rPr lang="en-US" sz="867" dirty="0" err="1"/>
                  <a:t>là</a:t>
                </a:r>
                <a:r>
                  <a:rPr lang="en-US" sz="867" dirty="0"/>
                  <a:t> Empty</a:t>
                </a:r>
              </a:p>
            </p:txBody>
          </p:sp>
          <p:grpSp>
            <p:nvGrpSpPr>
              <p:cNvPr id="16" name="グループ化 15"/>
              <p:cNvGrpSpPr/>
              <p:nvPr/>
            </p:nvGrpSpPr>
            <p:grpSpPr>
              <a:xfrm>
                <a:off x="11358562" y="5800725"/>
                <a:ext cx="1385888" cy="657227"/>
                <a:chOff x="11358562" y="5800725"/>
                <a:chExt cx="1385888" cy="657227"/>
              </a:xfrm>
            </p:grpSpPr>
            <p:sp>
              <p:nvSpPr>
                <p:cNvPr id="15" name="正方形/長方形 14"/>
                <p:cNvSpPr/>
                <p:nvPr/>
              </p:nvSpPr>
              <p:spPr>
                <a:xfrm>
                  <a:off x="12258675" y="5800725"/>
                  <a:ext cx="485775" cy="2000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20" name="正方形/長方形 19"/>
                <p:cNvSpPr/>
                <p:nvPr/>
              </p:nvSpPr>
              <p:spPr>
                <a:xfrm>
                  <a:off x="11358562" y="6257927"/>
                  <a:ext cx="485775" cy="2000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grpSp>
        <p:sp>
          <p:nvSpPr>
            <p:cNvPr id="19" name="正方形/長方形 18"/>
            <p:cNvSpPr/>
            <p:nvPr/>
          </p:nvSpPr>
          <p:spPr>
            <a:xfrm>
              <a:off x="14145074" y="1041606"/>
              <a:ext cx="3328987" cy="93006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867" dirty="0"/>
                <a:t>Class Id: </a:t>
              </a:r>
              <a:r>
                <a:rPr lang="en-US" sz="867" dirty="0" err="1"/>
                <a:t>FacilityTaConnectId</a:t>
              </a:r>
              <a:endParaRPr lang="en-US" sz="867" dirty="0"/>
            </a:p>
            <a:p>
              <a:r>
                <a:rPr lang="en-US" sz="867" dirty="0"/>
                <a:t>Class Entity: </a:t>
              </a:r>
              <a:r>
                <a:rPr lang="en-US" sz="867" dirty="0" err="1"/>
                <a:t>FacilityTaConnects</a:t>
              </a:r>
              <a:endParaRPr lang="en-US" sz="867" dirty="0"/>
            </a:p>
          </p:txBody>
        </p:sp>
      </p:grpSp>
    </p:spTree>
    <p:extLst>
      <p:ext uri="{BB962C8B-B14F-4D97-AF65-F5344CB8AC3E}">
        <p14:creationId xmlns:p14="http://schemas.microsoft.com/office/powerpoint/2010/main" val="335240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495899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nn-NO" sz="2167" dirty="0">
                <a:latin typeface="Times New Roman" panose="02020603050405020304" pitchFamily="18" charset="0"/>
                <a:cs typeface="Times New Roman" panose="02020603050405020304" pitchFamily="18" charset="0"/>
              </a:rPr>
              <a:t>Cách sử dụng annotation @EmbeddedId </a:t>
            </a:r>
          </a:p>
        </p:txBody>
      </p:sp>
      <p:sp>
        <p:nvSpPr>
          <p:cNvPr id="8" name="正方形/長方形 7"/>
          <p:cNvSpPr/>
          <p:nvPr/>
        </p:nvSpPr>
        <p:spPr>
          <a:xfrm>
            <a:off x="1145382" y="1265969"/>
            <a:ext cx="8234362" cy="1493101"/>
          </a:xfrm>
          <a:prstGeom prst="rect">
            <a:avLst/>
          </a:prstGeom>
        </p:spPr>
        <p:txBody>
          <a:bodyPr wrap="square">
            <a:spAutoFit/>
          </a:bodyPr>
          <a:lstStyle/>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a:t>
            </a:r>
            <a:r>
              <a:rPr lang="nn-NO" sz="1517" dirty="0">
                <a:latin typeface="Times New Roman" panose="02020603050405020304" pitchFamily="18" charset="0"/>
                <a:cs typeface="Times New Roman" panose="02020603050405020304" pitchFamily="18" charset="0"/>
              </a:rPr>
              <a:t>@EmbeddedId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item </a:t>
            </a:r>
            <a:r>
              <a:rPr lang="en-US" sz="1517" dirty="0" err="1">
                <a:latin typeface="Times New Roman" panose="02020603050405020304" pitchFamily="18" charset="0"/>
                <a:cs typeface="Times New Roman" panose="02020603050405020304" pitchFamily="18" charset="0"/>
              </a:rPr>
              <a:t>tương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ứng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key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entity</a:t>
            </a:r>
          </a:p>
          <a:p>
            <a:pPr marL="247665"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Class id </a:t>
            </a:r>
            <a:r>
              <a:rPr lang="en-US" sz="1517" dirty="0" err="1">
                <a:latin typeface="Times New Roman" panose="02020603050405020304" pitchFamily="18" charset="0"/>
                <a:cs typeface="Times New Roman" panose="02020603050405020304" pitchFamily="18" charset="0"/>
              </a:rPr>
              <a:t>phải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Serializable</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annotation @Embeddable</a:t>
            </a:r>
          </a:p>
          <a:p>
            <a:pPr marL="247665"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Liên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kết</a:t>
            </a:r>
            <a:r>
              <a:rPr lang="en-US" sz="1517" dirty="0">
                <a:latin typeface="Times New Roman" panose="02020603050405020304" pitchFamily="18" charset="0"/>
                <a:cs typeface="Times New Roman" panose="02020603050405020304" pitchFamily="18" charset="0"/>
              </a:rPr>
              <a:t> class entity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class id:</a:t>
            </a: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a:t>
            </a:r>
            <a:r>
              <a:rPr lang="nn-NO" sz="1517" dirty="0">
                <a:latin typeface="Times New Roman" panose="02020603050405020304" pitchFamily="18" charset="0"/>
                <a:cs typeface="Times New Roman" panose="02020603050405020304" pitchFamily="18" charset="0"/>
              </a:rPr>
              <a:t>EmbeddedId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sự</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thay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thế</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cho</a:t>
            </a:r>
            <a:r>
              <a:rPr lang="en-US" sz="1517" dirty="0">
                <a:latin typeface="Times New Roman" panose="02020603050405020304" pitchFamily="18" charset="0"/>
                <a:cs typeface="Times New Roman" panose="02020603050405020304" pitchFamily="18" charset="0"/>
              </a:rPr>
              <a:t> </a:t>
            </a:r>
            <a:r>
              <a:rPr lang="pt-BR" sz="1517" dirty="0">
                <a:latin typeface="Times New Roman" panose="02020603050405020304" pitchFamily="18" charset="0"/>
                <a:cs typeface="Times New Roman" panose="02020603050405020304" pitchFamily="18" charset="0"/>
              </a:rPr>
              <a:t>@IdClass và </a:t>
            </a:r>
            <a:r>
              <a:rPr lang="en-US" sz="1517" dirty="0">
                <a:latin typeface="Times New Roman" panose="02020603050405020304" pitchFamily="18" charset="0"/>
                <a:cs typeface="Times New Roman" panose="02020603050405020304" pitchFamily="18" charset="0"/>
              </a:rPr>
              <a:t>@Id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entity</a:t>
            </a:r>
          </a:p>
          <a:p>
            <a:pPr marL="495330" lvl="1" indent="-247665" algn="just">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Khai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báo</a:t>
            </a:r>
            <a:r>
              <a:rPr lang="en-US" sz="1517" dirty="0">
                <a:latin typeface="Times New Roman" panose="02020603050405020304" pitchFamily="18" charset="0"/>
                <a:cs typeface="Times New Roman" panose="02020603050405020304" pitchFamily="18" charset="0"/>
              </a:rPr>
              <a:t> @</a:t>
            </a:r>
            <a:r>
              <a:rPr lang="nn-NO" sz="1517" dirty="0">
                <a:latin typeface="Times New Roman" panose="02020603050405020304" pitchFamily="18" charset="0"/>
                <a:cs typeface="Times New Roman" panose="02020603050405020304" pitchFamily="18" charset="0"/>
              </a:rPr>
              <a:t>EmbeddedId với kiểu dữ liệu là class Id đã tạo ở trên</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39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66" name="TextBox 66"/>
          <p:cNvSpPr txBox="1"/>
          <p:nvPr/>
        </p:nvSpPr>
        <p:spPr>
          <a:xfrm>
            <a:off x="681529" y="1582307"/>
            <a:ext cx="3549404" cy="333489"/>
          </a:xfrm>
          <a:prstGeom prst="rect">
            <a:avLst/>
          </a:prstGeom>
          <a:noFill/>
        </p:spPr>
        <p:txBody>
          <a:bodyPr wrap="square" lIns="0" tIns="0" rIns="0" bIns="0" rtlCol="0">
            <a:spAutoFit/>
          </a:bodyPr>
          <a:lstStyle/>
          <a:p>
            <a:r>
              <a:rPr lang="en-US" altLang="zh-CN" sz="2167" spc="56" dirty="0">
                <a:solidFill>
                  <a:srgbClr val="000000"/>
                </a:solidFill>
                <a:latin typeface="Times New Roman"/>
                <a:ea typeface="Times New Roman"/>
              </a:rPr>
              <a:t>Controller</a:t>
            </a:r>
            <a:endParaRPr lang="en-US" altLang="zh-CN" sz="1950" spc="119" dirty="0">
              <a:solidFill>
                <a:srgbClr val="000000"/>
              </a:solidFill>
              <a:latin typeface="Times New Roman"/>
              <a:ea typeface="Times New Roman"/>
            </a:endParaRPr>
          </a:p>
        </p:txBody>
      </p:sp>
      <p:pic>
        <p:nvPicPr>
          <p:cNvPr id="22" name="Picture 16"/>
          <p:cNvPicPr>
            <a:picLocks noChangeAspect="1"/>
          </p:cNvPicPr>
          <p:nvPr/>
        </p:nvPicPr>
        <p:blipFill>
          <a:blip r:embed="rId2"/>
          <a:stretch>
            <a:fillRect/>
          </a:stretch>
        </p:blipFill>
        <p:spPr>
          <a:xfrm>
            <a:off x="1" y="642937"/>
            <a:ext cx="4947838" cy="5566242"/>
          </a:xfrm>
          <a:prstGeom prst="rect">
            <a:avLst/>
          </a:prstGeom>
        </p:spPr>
      </p:pic>
      <p:sp>
        <p:nvSpPr>
          <p:cNvPr id="23" name="TextBox 16"/>
          <p:cNvSpPr txBox="1"/>
          <p:nvPr/>
        </p:nvSpPr>
        <p:spPr>
          <a:xfrm>
            <a:off x="272806" y="1490016"/>
            <a:ext cx="2201113" cy="505523"/>
          </a:xfrm>
          <a:prstGeom prst="rect">
            <a:avLst/>
          </a:prstGeom>
          <a:noFill/>
        </p:spPr>
        <p:txBody>
          <a:bodyPr wrap="square" lIns="0" tIns="0" rIns="0" bIns="0" rtlCol="0">
            <a:spAutoFit/>
          </a:bodyPr>
          <a:lstStyle/>
          <a:p>
            <a:pPr>
              <a:lnSpc>
                <a:spcPct val="111249"/>
              </a:lnSpc>
            </a:pPr>
            <a:r>
              <a:rPr lang="en-US" altLang="zh-CN" sz="3196" spc="190" dirty="0">
                <a:solidFill>
                  <a:srgbClr val="FEFEFE"/>
                </a:solidFill>
                <a:latin typeface="Times New Roman"/>
                <a:ea typeface="Times New Roman"/>
              </a:rPr>
              <a:t>Entity</a:t>
            </a:r>
            <a:endParaRPr lang="en-US" altLang="zh-CN" sz="3196" spc="203" dirty="0">
              <a:solidFill>
                <a:srgbClr val="FEFEFE"/>
              </a:solidFill>
              <a:latin typeface="Times New Roman"/>
              <a:ea typeface="Times New Roman"/>
            </a:endParaRPr>
          </a:p>
        </p:txBody>
      </p:sp>
      <p:pic>
        <p:nvPicPr>
          <p:cNvPr id="9" name="図 8"/>
          <p:cNvPicPr>
            <a:picLocks noChangeAspect="1"/>
          </p:cNvPicPr>
          <p:nvPr/>
        </p:nvPicPr>
        <p:blipFill>
          <a:blip r:embed="rId3"/>
          <a:stretch>
            <a:fillRect/>
          </a:stretch>
        </p:blipFill>
        <p:spPr>
          <a:xfrm>
            <a:off x="428826" y="3051355"/>
            <a:ext cx="4168669" cy="942597"/>
          </a:xfrm>
          <a:prstGeom prst="rect">
            <a:avLst/>
          </a:prstGeom>
        </p:spPr>
      </p:pic>
      <p:sp>
        <p:nvSpPr>
          <p:cNvPr id="15" name="正方形/長方形 11"/>
          <p:cNvSpPr/>
          <p:nvPr/>
        </p:nvSpPr>
        <p:spPr>
          <a:xfrm>
            <a:off x="2975055" y="2483626"/>
            <a:ext cx="1658278" cy="301824"/>
          </a:xfrm>
          <a:custGeom>
            <a:avLst/>
            <a:gdLst>
              <a:gd name="connsiteX0" fmla="*/ 0 w 1986869"/>
              <a:gd name="connsiteY0" fmla="*/ 0 h 542925"/>
              <a:gd name="connsiteX1" fmla="*/ 1986869 w 1986869"/>
              <a:gd name="connsiteY1" fmla="*/ 0 h 542925"/>
              <a:gd name="connsiteX2" fmla="*/ 1986869 w 1986869"/>
              <a:gd name="connsiteY2" fmla="*/ 542925 h 542925"/>
              <a:gd name="connsiteX3" fmla="*/ 0 w 1986869"/>
              <a:gd name="connsiteY3" fmla="*/ 542925 h 542925"/>
              <a:gd name="connsiteX4" fmla="*/ 0 w 1986869"/>
              <a:gd name="connsiteY4" fmla="*/ 0 h 542925"/>
              <a:gd name="connsiteX0" fmla="*/ 0 w 3015569"/>
              <a:gd name="connsiteY0" fmla="*/ 185738 h 728663"/>
              <a:gd name="connsiteX1" fmla="*/ 3015569 w 3015569"/>
              <a:gd name="connsiteY1" fmla="*/ 0 h 728663"/>
              <a:gd name="connsiteX2" fmla="*/ 1986869 w 3015569"/>
              <a:gd name="connsiteY2" fmla="*/ 728663 h 728663"/>
              <a:gd name="connsiteX3" fmla="*/ 0 w 3015569"/>
              <a:gd name="connsiteY3" fmla="*/ 728663 h 728663"/>
              <a:gd name="connsiteX4" fmla="*/ 0 w 3015569"/>
              <a:gd name="connsiteY4" fmla="*/ 185738 h 728663"/>
              <a:gd name="connsiteX0" fmla="*/ 0 w 3015569"/>
              <a:gd name="connsiteY0" fmla="*/ 185738 h 728663"/>
              <a:gd name="connsiteX1" fmla="*/ 3015569 w 3015569"/>
              <a:gd name="connsiteY1" fmla="*/ 0 h 728663"/>
              <a:gd name="connsiteX2" fmla="*/ 3015569 w 3015569"/>
              <a:gd name="connsiteY2" fmla="*/ 528638 h 728663"/>
              <a:gd name="connsiteX3" fmla="*/ 0 w 3015569"/>
              <a:gd name="connsiteY3" fmla="*/ 728663 h 728663"/>
              <a:gd name="connsiteX4" fmla="*/ 0 w 3015569"/>
              <a:gd name="connsiteY4" fmla="*/ 185738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42875 w 3015569"/>
              <a:gd name="connsiteY0" fmla="*/ 28575 h 728663"/>
              <a:gd name="connsiteX1" fmla="*/ 3015569 w 3015569"/>
              <a:gd name="connsiteY1" fmla="*/ 0 h 728663"/>
              <a:gd name="connsiteX2" fmla="*/ 3015569 w 3015569"/>
              <a:gd name="connsiteY2" fmla="*/ 528638 h 728663"/>
              <a:gd name="connsiteX3" fmla="*/ 0 w 3015569"/>
              <a:gd name="connsiteY3" fmla="*/ 728663 h 728663"/>
              <a:gd name="connsiteX4" fmla="*/ 142875 w 3015569"/>
              <a:gd name="connsiteY4" fmla="*/ 28575 h 728663"/>
              <a:gd name="connsiteX0" fmla="*/ 157162 w 3029856"/>
              <a:gd name="connsiteY0" fmla="*/ 28575 h 528638"/>
              <a:gd name="connsiteX1" fmla="*/ 3029856 w 3029856"/>
              <a:gd name="connsiteY1" fmla="*/ 0 h 528638"/>
              <a:gd name="connsiteX2" fmla="*/ 3029856 w 3029856"/>
              <a:gd name="connsiteY2" fmla="*/ 528638 h 528638"/>
              <a:gd name="connsiteX3" fmla="*/ 0 w 3029856"/>
              <a:gd name="connsiteY3" fmla="*/ 485775 h 528638"/>
              <a:gd name="connsiteX4" fmla="*/ 157162 w 3029856"/>
              <a:gd name="connsiteY4" fmla="*/ 28575 h 528638"/>
              <a:gd name="connsiteX0" fmla="*/ 157162 w 3029856"/>
              <a:gd name="connsiteY0" fmla="*/ 28575 h 542925"/>
              <a:gd name="connsiteX1" fmla="*/ 3029856 w 3029856"/>
              <a:gd name="connsiteY1" fmla="*/ 0 h 542925"/>
              <a:gd name="connsiteX2" fmla="*/ 3029856 w 3029856"/>
              <a:gd name="connsiteY2" fmla="*/ 528638 h 542925"/>
              <a:gd name="connsiteX3" fmla="*/ 0 w 3029856"/>
              <a:gd name="connsiteY3" fmla="*/ 542925 h 542925"/>
              <a:gd name="connsiteX4" fmla="*/ 157162 w 3029856"/>
              <a:gd name="connsiteY4" fmla="*/ 28575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14287 w 3029856"/>
              <a:gd name="connsiteY0" fmla="*/ 42862 h 542925"/>
              <a:gd name="connsiteX1" fmla="*/ 3029856 w 3029856"/>
              <a:gd name="connsiteY1" fmla="*/ 0 h 542925"/>
              <a:gd name="connsiteX2" fmla="*/ 3029856 w 3029856"/>
              <a:gd name="connsiteY2" fmla="*/ 528638 h 542925"/>
              <a:gd name="connsiteX3" fmla="*/ 0 w 3029856"/>
              <a:gd name="connsiteY3" fmla="*/ 542925 h 542925"/>
              <a:gd name="connsiteX4" fmla="*/ 14287 w 3029856"/>
              <a:gd name="connsiteY4" fmla="*/ 42862 h 542925"/>
              <a:gd name="connsiteX0" fmla="*/ 0 w 3015569"/>
              <a:gd name="connsiteY0" fmla="*/ 42862 h 542925"/>
              <a:gd name="connsiteX1" fmla="*/ 3015569 w 3015569"/>
              <a:gd name="connsiteY1" fmla="*/ 0 h 542925"/>
              <a:gd name="connsiteX2" fmla="*/ 3015569 w 3015569"/>
              <a:gd name="connsiteY2" fmla="*/ 528638 h 542925"/>
              <a:gd name="connsiteX3" fmla="*/ 14288 w 3015569"/>
              <a:gd name="connsiteY3" fmla="*/ 542925 h 542925"/>
              <a:gd name="connsiteX4" fmla="*/ 0 w 3015569"/>
              <a:gd name="connsiteY4" fmla="*/ 42862 h 542925"/>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58431"/>
              <a:gd name="connsiteY0" fmla="*/ 57150 h 557213"/>
              <a:gd name="connsiteX1" fmla="*/ 3058431 w 3058431"/>
              <a:gd name="connsiteY1" fmla="*/ 0 h 557213"/>
              <a:gd name="connsiteX2" fmla="*/ 3015569 w 3058431"/>
              <a:gd name="connsiteY2" fmla="*/ 542926 h 557213"/>
              <a:gd name="connsiteX3" fmla="*/ 14288 w 3058431"/>
              <a:gd name="connsiteY3" fmla="*/ 557213 h 557213"/>
              <a:gd name="connsiteX4" fmla="*/ 0 w 3058431"/>
              <a:gd name="connsiteY4" fmla="*/ 57150 h 557213"/>
              <a:gd name="connsiteX0" fmla="*/ 0 w 3061437"/>
              <a:gd name="connsiteY0" fmla="*/ 57150 h 557213"/>
              <a:gd name="connsiteX1" fmla="*/ 3058431 w 3061437"/>
              <a:gd name="connsiteY1" fmla="*/ 0 h 557213"/>
              <a:gd name="connsiteX2" fmla="*/ 3058432 w 3061437"/>
              <a:gd name="connsiteY2" fmla="*/ 542926 h 557213"/>
              <a:gd name="connsiteX3" fmla="*/ 14288 w 3061437"/>
              <a:gd name="connsiteY3" fmla="*/ 557213 h 557213"/>
              <a:gd name="connsiteX4" fmla="*/ 0 w 3061437"/>
              <a:gd name="connsiteY4" fmla="*/ 57150 h 557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1437" h="557213">
                <a:moveTo>
                  <a:pt x="0" y="57150"/>
                </a:moveTo>
                <a:lnTo>
                  <a:pt x="3058431" y="0"/>
                </a:lnTo>
                <a:cubicBezTo>
                  <a:pt x="3029857" y="223838"/>
                  <a:pt x="3072719" y="361951"/>
                  <a:pt x="3058432" y="542926"/>
                </a:cubicBezTo>
                <a:lnTo>
                  <a:pt x="14288" y="557213"/>
                </a:lnTo>
                <a:cubicBezTo>
                  <a:pt x="19050" y="390525"/>
                  <a:pt x="38100" y="238126"/>
                  <a:pt x="0" y="57150"/>
                </a:cubicBezTo>
                <a:close/>
              </a:path>
            </a:pathLst>
          </a:custGeom>
          <a:solidFill>
            <a:schemeClr val="tx1"/>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517" dirty="0" err="1">
                <a:solidFill>
                  <a:schemeClr val="bg1"/>
                </a:solidFill>
                <a:latin typeface="Times New Roman" panose="02020603050405020304" pitchFamily="18" charset="0"/>
                <a:cs typeface="Times New Roman" panose="02020603050405020304" pitchFamily="18" charset="0"/>
              </a:rPr>
              <a:t>FacilityTaConnects</a:t>
            </a:r>
            <a:endParaRPr lang="en-US" altLang="zh-CN" sz="1517" spc="217" dirty="0">
              <a:solidFill>
                <a:schemeClr val="bg1"/>
              </a:solidFill>
              <a:latin typeface="Times New Roman" panose="02020603050405020304" pitchFamily="18" charset="0"/>
              <a:ea typeface="Times New Roman"/>
              <a:cs typeface="Times New Roman" panose="02020603050405020304" pitchFamily="18" charset="0"/>
            </a:endParaRPr>
          </a:p>
        </p:txBody>
      </p:sp>
      <p:grpSp>
        <p:nvGrpSpPr>
          <p:cNvPr id="12" name="グループ化 11"/>
          <p:cNvGrpSpPr/>
          <p:nvPr/>
        </p:nvGrpSpPr>
        <p:grpSpPr>
          <a:xfrm>
            <a:off x="5049068" y="882575"/>
            <a:ext cx="4765320" cy="4326409"/>
            <a:chOff x="9321356" y="442407"/>
            <a:chExt cx="8797514" cy="7987217"/>
          </a:xfrm>
        </p:grpSpPr>
        <p:pic>
          <p:nvPicPr>
            <p:cNvPr id="6" name="図 5"/>
            <p:cNvPicPr>
              <a:picLocks noChangeAspect="1"/>
            </p:cNvPicPr>
            <p:nvPr/>
          </p:nvPicPr>
          <p:blipFill>
            <a:blip r:embed="rId4"/>
            <a:stretch>
              <a:fillRect/>
            </a:stretch>
          </p:blipFill>
          <p:spPr>
            <a:xfrm>
              <a:off x="9321356" y="442407"/>
              <a:ext cx="8797514" cy="7987217"/>
            </a:xfrm>
            <a:prstGeom prst="rect">
              <a:avLst/>
            </a:prstGeom>
          </p:spPr>
        </p:pic>
        <p:grpSp>
          <p:nvGrpSpPr>
            <p:cNvPr id="11" name="グループ化 10"/>
            <p:cNvGrpSpPr/>
            <p:nvPr/>
          </p:nvGrpSpPr>
          <p:grpSpPr>
            <a:xfrm>
              <a:off x="9715096" y="2301890"/>
              <a:ext cx="5214937" cy="5584810"/>
              <a:chOff x="9589963" y="2318477"/>
              <a:chExt cx="5214937" cy="5584810"/>
            </a:xfrm>
          </p:grpSpPr>
          <p:sp>
            <p:nvSpPr>
              <p:cNvPr id="5" name="正方形/長方形 4"/>
              <p:cNvSpPr/>
              <p:nvPr/>
            </p:nvSpPr>
            <p:spPr>
              <a:xfrm>
                <a:off x="9898052" y="2318477"/>
                <a:ext cx="3335627" cy="33635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0" name="正方形/長方形 9"/>
              <p:cNvSpPr/>
              <p:nvPr/>
            </p:nvSpPr>
            <p:spPr>
              <a:xfrm>
                <a:off x="9589963" y="4760037"/>
                <a:ext cx="5214937" cy="314325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grpSp>
    </p:spTree>
    <p:extLst>
      <p:ext uri="{BB962C8B-B14F-4D97-AF65-F5344CB8AC3E}">
        <p14:creationId xmlns:p14="http://schemas.microsoft.com/office/powerpoint/2010/main" val="2192119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FacilityTaConnectsRepository</a:t>
            </a:r>
            <a:endParaRPr lang="en-US" sz="2167"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1003137" y="1393627"/>
            <a:ext cx="8662899" cy="2445544"/>
            <a:chOff x="1851944" y="1385888"/>
            <a:chExt cx="15993045" cy="4514850"/>
          </a:xfrm>
        </p:grpSpPr>
        <p:pic>
          <p:nvPicPr>
            <p:cNvPr id="5" name="図 4"/>
            <p:cNvPicPr>
              <a:picLocks noChangeAspect="1"/>
            </p:cNvPicPr>
            <p:nvPr/>
          </p:nvPicPr>
          <p:blipFill>
            <a:blip r:embed="rId3"/>
            <a:stretch>
              <a:fillRect/>
            </a:stretch>
          </p:blipFill>
          <p:spPr>
            <a:xfrm>
              <a:off x="1851944" y="1767346"/>
              <a:ext cx="15993045" cy="4133392"/>
            </a:xfrm>
            <a:prstGeom prst="rect">
              <a:avLst/>
            </a:prstGeom>
          </p:spPr>
        </p:pic>
        <p:sp>
          <p:nvSpPr>
            <p:cNvPr id="8" name="正方形/長方形 7"/>
            <p:cNvSpPr/>
            <p:nvPr/>
          </p:nvSpPr>
          <p:spPr>
            <a:xfrm>
              <a:off x="10844213" y="3486150"/>
              <a:ext cx="2371725" cy="500063"/>
            </a:xfrm>
            <a:prstGeom prst="rect">
              <a:avLst/>
            </a:prstGeom>
            <a:noFill/>
            <a:ln>
              <a:solidFill>
                <a:srgbClr val="FF0000"/>
              </a:solidFill>
            </a:ln>
          </p:spPr>
          <p:style>
            <a:lnRef idx="3">
              <a:schemeClr val="lt1"/>
            </a:lnRef>
            <a:fillRef idx="1">
              <a:schemeClr val="dk1"/>
            </a:fillRef>
            <a:effectRef idx="1">
              <a:schemeClr val="dk1"/>
            </a:effectRef>
            <a:fontRef idx="minor">
              <a:schemeClr val="lt1"/>
            </a:fontRef>
          </p:style>
          <p:txBody>
            <a:bodyPr rtlCol="0" anchor="ctr"/>
            <a:lstStyle/>
            <a:p>
              <a:pPr algn="ctr"/>
              <a:endParaRPr lang="en-US" sz="867"/>
            </a:p>
          </p:txBody>
        </p:sp>
        <p:sp>
          <p:nvSpPr>
            <p:cNvPr id="9" name="角丸四角形吹き出し 8"/>
            <p:cNvSpPr/>
            <p:nvPr/>
          </p:nvSpPr>
          <p:spPr>
            <a:xfrm>
              <a:off x="10958513" y="1385888"/>
              <a:ext cx="4000500" cy="1771650"/>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517" dirty="0" err="1">
                  <a:latin typeface="Times New Roman" panose="02020603050405020304" pitchFamily="18" charset="0"/>
                  <a:cs typeface="Times New Roman" panose="02020603050405020304" pitchFamily="18" charset="0"/>
                </a:rPr>
                <a:t>Kiểu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Id </a:t>
              </a:r>
              <a:r>
                <a:rPr lang="en-US" sz="1517" dirty="0" err="1">
                  <a:latin typeface="Times New Roman" panose="02020603050405020304" pitchFamily="18" charset="0"/>
                  <a:cs typeface="Times New Roman" panose="02020603050405020304" pitchFamily="18" charset="0"/>
                </a:rPr>
                <a:t>chính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ClassId</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đã</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endParaRPr lang="en-US" sz="1517"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67466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FacilityTaConnectsService</a:t>
            </a:r>
            <a:endParaRPr lang="en-US" sz="2167" dirty="0">
              <a:latin typeface="Times New Roman" panose="02020603050405020304" pitchFamily="18" charset="0"/>
              <a:cs typeface="Times New Roman" panose="02020603050405020304" pitchFamily="18" charset="0"/>
            </a:endParaRPr>
          </a:p>
        </p:txBody>
      </p:sp>
      <p:grpSp>
        <p:nvGrpSpPr>
          <p:cNvPr id="11" name="グループ化 10"/>
          <p:cNvGrpSpPr/>
          <p:nvPr/>
        </p:nvGrpSpPr>
        <p:grpSpPr>
          <a:xfrm>
            <a:off x="4416139" y="1159561"/>
            <a:ext cx="5249950" cy="5038099"/>
            <a:chOff x="8152872" y="953766"/>
            <a:chExt cx="9692215" cy="9301105"/>
          </a:xfrm>
        </p:grpSpPr>
        <p:grpSp>
          <p:nvGrpSpPr>
            <p:cNvPr id="6" name="グループ化 5"/>
            <p:cNvGrpSpPr/>
            <p:nvPr/>
          </p:nvGrpSpPr>
          <p:grpSpPr>
            <a:xfrm>
              <a:off x="8152872" y="953766"/>
              <a:ext cx="9692215" cy="9301105"/>
              <a:chOff x="8152872" y="953766"/>
              <a:chExt cx="9692215" cy="9301105"/>
            </a:xfrm>
          </p:grpSpPr>
          <p:pic>
            <p:nvPicPr>
              <p:cNvPr id="2" name="図 1"/>
              <p:cNvPicPr>
                <a:picLocks noChangeAspect="1"/>
              </p:cNvPicPr>
              <p:nvPr/>
            </p:nvPicPr>
            <p:blipFill>
              <a:blip r:embed="rId3"/>
              <a:stretch>
                <a:fillRect/>
              </a:stretch>
            </p:blipFill>
            <p:spPr>
              <a:xfrm>
                <a:off x="8152872" y="953766"/>
                <a:ext cx="9692215" cy="9301105"/>
              </a:xfrm>
              <a:prstGeom prst="rect">
                <a:avLst/>
              </a:prstGeom>
            </p:spPr>
          </p:pic>
          <p:sp>
            <p:nvSpPr>
              <p:cNvPr id="4" name="正方形/長方形 3"/>
              <p:cNvSpPr/>
              <p:nvPr/>
            </p:nvSpPr>
            <p:spPr>
              <a:xfrm>
                <a:off x="9901238" y="4514850"/>
                <a:ext cx="4143375" cy="31432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7" name="正方形/長方形 6"/>
            <p:cNvSpPr/>
            <p:nvPr/>
          </p:nvSpPr>
          <p:spPr>
            <a:xfrm>
              <a:off x="9601200" y="6929438"/>
              <a:ext cx="4786313" cy="4572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13" name="テキスト ボックス 12"/>
          <p:cNvSpPr txBox="1"/>
          <p:nvPr/>
        </p:nvSpPr>
        <p:spPr>
          <a:xfrm>
            <a:off x="227243" y="1331990"/>
            <a:ext cx="3854053" cy="892360"/>
          </a:xfrm>
          <a:prstGeom prst="rect">
            <a:avLst/>
          </a:prstGeom>
          <a:noFill/>
        </p:spPr>
        <p:txBody>
          <a:bodyPr wrap="square" rtlCol="0">
            <a:spAutoFit/>
          </a:bodyPr>
          <a:lstStyle/>
          <a:p>
            <a:r>
              <a:rPr lang="en-US" sz="1733" dirty="0" err="1">
                <a:latin typeface="Times New Roman" panose="02020603050405020304" pitchFamily="18" charset="0"/>
                <a:cs typeface="Times New Roman" panose="02020603050405020304" pitchFamily="18" charset="0"/>
              </a:rPr>
              <a:t>Với</a:t>
            </a:r>
            <a:r>
              <a:rPr lang="en-US" sz="1733" dirty="0">
                <a:latin typeface="Times New Roman" panose="02020603050405020304" pitchFamily="18" charset="0"/>
                <a:cs typeface="Times New Roman" panose="02020603050405020304" pitchFamily="18" charset="0"/>
              </a:rPr>
              <a:t> Service Class </a:t>
            </a:r>
            <a:r>
              <a:rPr lang="en-US" sz="1733" dirty="0" err="1">
                <a:latin typeface="Times New Roman" panose="02020603050405020304" pitchFamily="18" charset="0"/>
                <a:cs typeface="Times New Roman" panose="02020603050405020304" pitchFamily="18" charset="0"/>
              </a:rPr>
              <a:t>của</a:t>
            </a:r>
            <a:r>
              <a:rPr lang="en-US" sz="1733" dirty="0">
                <a:latin typeface="Times New Roman" panose="02020603050405020304" pitchFamily="18" charset="0"/>
                <a:cs typeface="Times New Roman" panose="02020603050405020304" pitchFamily="18" charset="0"/>
              </a:rPr>
              <a:t> table </a:t>
            </a:r>
            <a:r>
              <a:rPr lang="en-US" sz="1733" dirty="0" err="1">
                <a:latin typeface="Times New Roman" panose="02020603050405020304" pitchFamily="18" charset="0"/>
                <a:cs typeface="Times New Roman" panose="02020603050405020304" pitchFamily="18" charset="0"/>
              </a:rPr>
              <a:t>có</a:t>
            </a:r>
            <a:r>
              <a:rPr lang="en-US" sz="1733" dirty="0">
                <a:latin typeface="Times New Roman" panose="02020603050405020304" pitchFamily="18" charset="0"/>
                <a:cs typeface="Times New Roman" panose="02020603050405020304" pitchFamily="18" charset="0"/>
              </a:rPr>
              <a:t> </a:t>
            </a:r>
            <a:r>
              <a:rPr lang="nn-NO" sz="1733" dirty="0">
                <a:latin typeface="Times New Roman" panose="02020603050405020304" pitchFamily="18" charset="0"/>
                <a:cs typeface="Times New Roman" panose="02020603050405020304" pitchFamily="18" charset="0"/>
              </a:rPr>
              <a:t>Composite Primary Keys việc xử lý CRUD tương tự với table bình thường </a:t>
            </a:r>
            <a:endParaRPr lang="en-US" sz="1733"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97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FacilityTaConnectsController</a:t>
            </a:r>
            <a:endParaRPr lang="en-US" sz="2167" dirty="0">
              <a:latin typeface="Times New Roman" panose="02020603050405020304" pitchFamily="18" charset="0"/>
              <a:cs typeface="Times New Roman" panose="02020603050405020304" pitchFamily="18" charset="0"/>
            </a:endParaRPr>
          </a:p>
        </p:txBody>
      </p:sp>
      <p:grpSp>
        <p:nvGrpSpPr>
          <p:cNvPr id="10" name="グループ化 9"/>
          <p:cNvGrpSpPr/>
          <p:nvPr/>
        </p:nvGrpSpPr>
        <p:grpSpPr>
          <a:xfrm>
            <a:off x="1567450" y="1253816"/>
            <a:ext cx="6519871" cy="4897949"/>
            <a:chOff x="2893753" y="1127775"/>
            <a:chExt cx="12036685" cy="9042367"/>
          </a:xfrm>
        </p:grpSpPr>
        <p:pic>
          <p:nvPicPr>
            <p:cNvPr id="9" name="図 8"/>
            <p:cNvPicPr>
              <a:picLocks noChangeAspect="1"/>
            </p:cNvPicPr>
            <p:nvPr/>
          </p:nvPicPr>
          <p:blipFill>
            <a:blip r:embed="rId3"/>
            <a:stretch>
              <a:fillRect/>
            </a:stretch>
          </p:blipFill>
          <p:spPr>
            <a:xfrm>
              <a:off x="2893753" y="1127775"/>
              <a:ext cx="12036685" cy="9042367"/>
            </a:xfrm>
            <a:prstGeom prst="rect">
              <a:avLst/>
            </a:prstGeom>
          </p:spPr>
        </p:pic>
        <p:sp>
          <p:nvSpPr>
            <p:cNvPr id="5" name="正方形/長方形 4"/>
            <p:cNvSpPr/>
            <p:nvPr/>
          </p:nvSpPr>
          <p:spPr>
            <a:xfrm>
              <a:off x="3671886" y="5359951"/>
              <a:ext cx="8858251" cy="76938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322203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grpSp>
        <p:nvGrpSpPr>
          <p:cNvPr id="3" name="グループ化 2"/>
          <p:cNvGrpSpPr/>
          <p:nvPr/>
        </p:nvGrpSpPr>
        <p:grpSpPr>
          <a:xfrm>
            <a:off x="650081" y="1466544"/>
            <a:ext cx="8485509" cy="4596317"/>
            <a:chOff x="1200149" y="1520503"/>
            <a:chExt cx="15665555" cy="8485509"/>
          </a:xfrm>
        </p:grpSpPr>
        <p:pic>
          <p:nvPicPr>
            <p:cNvPr id="2" name="図 1"/>
            <p:cNvPicPr>
              <a:picLocks noChangeAspect="1"/>
            </p:cNvPicPr>
            <p:nvPr/>
          </p:nvPicPr>
          <p:blipFill>
            <a:blip r:embed="rId3"/>
            <a:stretch>
              <a:fillRect/>
            </a:stretch>
          </p:blipFill>
          <p:spPr>
            <a:xfrm>
              <a:off x="1200149" y="1520503"/>
              <a:ext cx="15665555" cy="8485509"/>
            </a:xfrm>
            <a:prstGeom prst="rect">
              <a:avLst/>
            </a:prstGeom>
          </p:spPr>
        </p:pic>
        <p:grpSp>
          <p:nvGrpSpPr>
            <p:cNvPr id="8" name="グループ化 7"/>
            <p:cNvGrpSpPr/>
            <p:nvPr/>
          </p:nvGrpSpPr>
          <p:grpSpPr>
            <a:xfrm>
              <a:off x="3599645" y="2076153"/>
              <a:ext cx="12390979" cy="7796509"/>
              <a:chOff x="4095482" y="2290466"/>
              <a:chExt cx="12390979" cy="7796509"/>
            </a:xfrm>
          </p:grpSpPr>
          <p:sp>
            <p:nvSpPr>
              <p:cNvPr id="7" name="正方形/長方形 6"/>
              <p:cNvSpPr/>
              <p:nvPr/>
            </p:nvSpPr>
            <p:spPr>
              <a:xfrm>
                <a:off x="4095482" y="3361386"/>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702698" y="333242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144000" y="4390072"/>
                <a:ext cx="7342461" cy="56969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7" y="2290466"/>
                <a:ext cx="3284113"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http://localhost:8080/api/v3</a:t>
                </a:r>
              </a:p>
            </p:txBody>
          </p:sp>
        </p:grpSp>
      </p:grpSp>
    </p:spTree>
    <p:extLst>
      <p:ext uri="{BB962C8B-B14F-4D97-AF65-F5344CB8AC3E}">
        <p14:creationId xmlns:p14="http://schemas.microsoft.com/office/powerpoint/2010/main" val="210406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grpSp>
        <p:nvGrpSpPr>
          <p:cNvPr id="6" name="グループ化 5"/>
          <p:cNvGrpSpPr/>
          <p:nvPr/>
        </p:nvGrpSpPr>
        <p:grpSpPr>
          <a:xfrm>
            <a:off x="850265" y="1389596"/>
            <a:ext cx="8294192" cy="4492687"/>
            <a:chOff x="1569719" y="1378446"/>
            <a:chExt cx="15312355" cy="8294192"/>
          </a:xfrm>
        </p:grpSpPr>
        <p:pic>
          <p:nvPicPr>
            <p:cNvPr id="4" name="図 3"/>
            <p:cNvPicPr>
              <a:picLocks noChangeAspect="1"/>
            </p:cNvPicPr>
            <p:nvPr/>
          </p:nvPicPr>
          <p:blipFill>
            <a:blip r:embed="rId3"/>
            <a:stretch>
              <a:fillRect/>
            </a:stretch>
          </p:blipFill>
          <p:spPr>
            <a:xfrm>
              <a:off x="1569719" y="1378446"/>
              <a:ext cx="15312355" cy="8294192"/>
            </a:xfrm>
            <a:prstGeom prst="rect">
              <a:avLst/>
            </a:prstGeom>
          </p:spPr>
        </p:pic>
        <p:grpSp>
          <p:nvGrpSpPr>
            <p:cNvPr id="8" name="グループ化 7"/>
            <p:cNvGrpSpPr/>
            <p:nvPr/>
          </p:nvGrpSpPr>
          <p:grpSpPr>
            <a:xfrm>
              <a:off x="3942545" y="1876129"/>
              <a:ext cx="12290966" cy="7796509"/>
              <a:chOff x="4095482" y="2290466"/>
              <a:chExt cx="12290966" cy="7796509"/>
            </a:xfrm>
          </p:grpSpPr>
          <p:sp>
            <p:nvSpPr>
              <p:cNvPr id="7" name="正方形/長方形 6"/>
              <p:cNvSpPr/>
              <p:nvPr/>
            </p:nvSpPr>
            <p:spPr>
              <a:xfrm>
                <a:off x="4095482" y="3361386"/>
                <a:ext cx="1572430"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702698" y="333242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043987" y="4390072"/>
                <a:ext cx="7342461" cy="569690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7" y="2290466"/>
                <a:ext cx="3494200" cy="901521"/>
              </a:xfrm>
              <a:prstGeom prst="wedgeRoundRectCallout">
                <a:avLst>
                  <a:gd name="adj1" fmla="val -60049"/>
                  <a:gd name="adj2" fmla="val 69643"/>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http://localhost:8080/api/v3/byId</a:t>
                </a:r>
              </a:p>
            </p:txBody>
          </p:sp>
        </p:grpSp>
        <p:sp>
          <p:nvSpPr>
            <p:cNvPr id="5" name="正方形/長方形 4"/>
            <p:cNvSpPr/>
            <p:nvPr/>
          </p:nvSpPr>
          <p:spPr>
            <a:xfrm>
              <a:off x="3600450" y="4175760"/>
              <a:ext cx="2106500" cy="57817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Tree>
    <p:extLst>
      <p:ext uri="{BB962C8B-B14F-4D97-AF65-F5344CB8AC3E}">
        <p14:creationId xmlns:p14="http://schemas.microsoft.com/office/powerpoint/2010/main" val="14808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a:t>
            </a:r>
            <a:r>
              <a:rPr lang="en-US" sz="2167" dirty="0" err="1">
                <a:latin typeface="Times New Roman" panose="02020603050405020304" pitchFamily="18" charset="0"/>
                <a:cs typeface="Times New Roman" panose="02020603050405020304" pitchFamily="18" charset="0"/>
              </a:rPr>
              <a:t>IdClass</a:t>
            </a:r>
            <a:r>
              <a:rPr lang="en-US" sz="2167" dirty="0">
                <a:latin typeface="Times New Roman" panose="02020603050405020304" pitchFamily="18" charset="0"/>
                <a:cs typeface="Times New Roman" panose="02020603050405020304" pitchFamily="18" charset="0"/>
              </a:rPr>
              <a:t> so </a:t>
            </a:r>
            <a:r>
              <a:rPr lang="en-US" sz="2167" dirty="0" err="1">
                <a:latin typeface="Times New Roman" panose="02020603050405020304" pitchFamily="18" charset="0"/>
                <a:cs typeface="Times New Roman" panose="02020603050405020304" pitchFamily="18" charset="0"/>
              </a:rPr>
              <a:t>với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EmbeddedId</a:t>
            </a:r>
            <a:endParaRPr lang="en-US" sz="2167" dirty="0">
              <a:latin typeface="Times New Roman" panose="02020603050405020304" pitchFamily="18" charset="0"/>
              <a:cs typeface="Times New Roman" panose="02020603050405020304" pitchFamily="18" charset="0"/>
            </a:endParaRPr>
          </a:p>
        </p:txBody>
      </p:sp>
      <p:sp>
        <p:nvSpPr>
          <p:cNvPr id="2" name="テキスト ボックス 1"/>
          <p:cNvSpPr txBox="1"/>
          <p:nvPr/>
        </p:nvSpPr>
        <p:spPr>
          <a:xfrm>
            <a:off x="263129" y="1331714"/>
            <a:ext cx="9186267" cy="792718"/>
          </a:xfrm>
          <a:prstGeom prst="rect">
            <a:avLst/>
          </a:prstGeom>
          <a:noFill/>
        </p:spPr>
        <p:txBody>
          <a:bodyPr wrap="square" rtlCol="0">
            <a:spAutoFit/>
          </a:bodyPr>
          <a:lstStyle/>
          <a:p>
            <a:pPr marL="247665" indent="-247665">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Qua </a:t>
            </a:r>
            <a:r>
              <a:rPr lang="en-US" sz="1517" dirty="0" err="1">
                <a:latin typeface="Times New Roman" panose="02020603050405020304" pitchFamily="18" charset="0"/>
                <a:cs typeface="Times New Roman" panose="02020603050405020304" pitchFamily="18" charset="0"/>
              </a:rPr>
              <a:t>những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thích</a:t>
            </a:r>
            <a:r>
              <a:rPr lang="en-US" sz="1517" dirty="0">
                <a:latin typeface="Times New Roman" panose="02020603050405020304" pitchFamily="18" charset="0"/>
                <a:cs typeface="Times New Roman" panose="02020603050405020304" pitchFamily="18" charset="0"/>
              </a:rPr>
              <a:t> ở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nhận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thấy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sự</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biệt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giữa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IdClass</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EmbeddedId</a:t>
            </a:r>
            <a:endParaRPr lang="en-US" sz="1517" dirty="0">
              <a:latin typeface="Times New Roman" panose="02020603050405020304" pitchFamily="18" charset="0"/>
              <a:cs typeface="Times New Roman" panose="02020603050405020304" pitchFamily="18" charset="0"/>
            </a:endParaRPr>
          </a:p>
          <a:p>
            <a:pPr marL="495330" lvl="1" indent="-247665">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IdClass</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chỉ</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định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column 2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1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1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entity</a:t>
            </a:r>
          </a:p>
          <a:p>
            <a:pPr marL="495330" lvl="1" indent="-247665">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EmbeddedId</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Chỉ</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chỉ</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định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column 1 </a:t>
            </a:r>
            <a:r>
              <a:rPr lang="en-US" sz="1517" dirty="0" err="1">
                <a:latin typeface="Times New Roman" panose="02020603050405020304" pitchFamily="18" charset="0"/>
                <a:cs typeface="Times New Roman" panose="02020603050405020304" pitchFamily="18" charset="0"/>
              </a:rPr>
              <a:t>lần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class id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entity</a:t>
            </a:r>
          </a:p>
        </p:txBody>
      </p:sp>
      <p:sp>
        <p:nvSpPr>
          <p:cNvPr id="3" name="テキスト ボックス 2"/>
          <p:cNvSpPr txBox="1"/>
          <p:nvPr/>
        </p:nvSpPr>
        <p:spPr>
          <a:xfrm>
            <a:off x="263128" y="2258878"/>
            <a:ext cx="8141494" cy="1493101"/>
          </a:xfrm>
          <a:prstGeom prst="rect">
            <a:avLst/>
          </a:prstGeom>
          <a:noFill/>
        </p:spPr>
        <p:txBody>
          <a:bodyPr wrap="square" rtlCol="0">
            <a:spAutoFit/>
          </a:bodyPr>
          <a:lstStyle/>
          <a:p>
            <a:pPr marL="247665" indent="-247665">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Cách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IdClass</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EmbeddedId</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cũng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ảnh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hưởng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đến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JPQL </a:t>
            </a:r>
            <a:r>
              <a:rPr lang="en-US" sz="1517" dirty="0" err="1">
                <a:latin typeface="Times New Roman" panose="02020603050405020304" pitchFamily="18" charset="0"/>
                <a:cs typeface="Times New Roman" panose="02020603050405020304" pitchFamily="18" charset="0"/>
              </a:rPr>
              <a:t>mà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viết</a:t>
            </a:r>
            <a:r>
              <a:rPr lang="en-US" sz="1517" dirty="0">
                <a:latin typeface="Times New Roman" panose="02020603050405020304" pitchFamily="18" charset="0"/>
                <a:cs typeface="Times New Roman" panose="02020603050405020304" pitchFamily="18" charset="0"/>
              </a:rPr>
              <a:t>:</a:t>
            </a:r>
          </a:p>
          <a:p>
            <a:pPr marL="495330" lvl="1" indent="-247665">
              <a:buFont typeface="Arial" panose="020B0604020202020204" pitchFamily="34" charset="0"/>
              <a:buChar char="•"/>
            </a:pPr>
            <a:r>
              <a:rPr lang="vi-VN" sz="1517" dirty="0">
                <a:latin typeface="Times New Roman" panose="02020603050405020304" pitchFamily="18" charset="0"/>
                <a:cs typeface="Times New Roman" panose="02020603050405020304" pitchFamily="18" charset="0"/>
              </a:rPr>
              <a:t>Với @IdClass , truy vấn đơn giản hơn một chút</a:t>
            </a:r>
            <a:r>
              <a:rPr lang="en-US" sz="1517" dirty="0">
                <a:latin typeface="Times New Roman" panose="02020603050405020304" pitchFamily="18" charset="0"/>
                <a:cs typeface="Times New Roman" panose="02020603050405020304" pitchFamily="18" charset="0"/>
              </a:rPr>
              <a:t>:</a:t>
            </a:r>
          </a:p>
          <a:p>
            <a:pPr lvl="1"/>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SELECT </a:t>
            </a:r>
            <a:r>
              <a:rPr lang="en-US" sz="1517" dirty="0" err="1">
                <a:solidFill>
                  <a:srgbClr val="FF0000"/>
                </a:solidFill>
                <a:latin typeface="Times New Roman" panose="02020603050405020304" pitchFamily="18" charset="0"/>
                <a:cs typeface="Times New Roman" panose="02020603050405020304" pitchFamily="18" charset="0"/>
              </a:rPr>
              <a:t>ta.commonFacilityCode</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FROM </a:t>
            </a:r>
            <a:r>
              <a:rPr lang="en-US" sz="1517" dirty="0" err="1">
                <a:solidFill>
                  <a:schemeClr val="tx2">
                    <a:lumMod val="60000"/>
                    <a:lumOff val="40000"/>
                  </a:schemeClr>
                </a:solidFill>
                <a:latin typeface="Times New Roman" panose="02020603050405020304" pitchFamily="18" charset="0"/>
                <a:cs typeface="Times New Roman" panose="02020603050405020304" pitchFamily="18" charset="0"/>
              </a:rPr>
              <a:t>FacilityTaConnects</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ta</a:t>
            </a:r>
          </a:p>
          <a:p>
            <a:pPr marL="495330" lvl="1" indent="-247665">
              <a:buFont typeface="Arial" panose="020B0604020202020204" pitchFamily="34" charset="0"/>
              <a:buChar char="•"/>
            </a:pPr>
            <a:r>
              <a:rPr lang="en-US" sz="1517" dirty="0" err="1"/>
              <a:t>Với</a:t>
            </a:r>
            <a:r>
              <a:rPr lang="en-US" sz="1517" dirty="0"/>
              <a:t> </a:t>
            </a:r>
            <a:r>
              <a:rPr lang="en-US" sz="1517" i="1" dirty="0"/>
              <a:t>@</a:t>
            </a:r>
            <a:r>
              <a:rPr lang="en-US" sz="1517" i="1" dirty="0" err="1"/>
              <a:t>EmbeddedId</a:t>
            </a:r>
            <a:r>
              <a:rPr lang="en-US" sz="1517" dirty="0"/>
              <a:t> , </a:t>
            </a:r>
            <a:r>
              <a:rPr lang="en-US" sz="1517" dirty="0" err="1"/>
              <a:t>chúng</a:t>
            </a:r>
            <a:r>
              <a:rPr lang="en-US" sz="1517" dirty="0"/>
              <a:t> ta </a:t>
            </a:r>
            <a:r>
              <a:rPr lang="en-US" sz="1517" dirty="0" err="1"/>
              <a:t>phải</a:t>
            </a:r>
            <a:r>
              <a:rPr lang="en-US" sz="1517" dirty="0"/>
              <a:t> </a:t>
            </a:r>
            <a:r>
              <a:rPr lang="en-US" sz="1517" dirty="0" err="1"/>
              <a:t>thực</a:t>
            </a:r>
            <a:r>
              <a:rPr lang="en-US" sz="1517" dirty="0"/>
              <a:t> </a:t>
            </a:r>
            <a:r>
              <a:rPr lang="en-US" sz="1517" dirty="0" err="1"/>
              <a:t>hiện</a:t>
            </a:r>
            <a:r>
              <a:rPr lang="en-US" sz="1517" dirty="0"/>
              <a:t> </a:t>
            </a:r>
            <a:r>
              <a:rPr lang="en-US" sz="1517" dirty="0" err="1"/>
              <a:t>thêm</a:t>
            </a:r>
            <a:r>
              <a:rPr lang="en-US" sz="1517" dirty="0"/>
              <a:t> </a:t>
            </a:r>
            <a:r>
              <a:rPr lang="en-US" sz="1517" dirty="0" err="1"/>
              <a:t>một</a:t>
            </a:r>
            <a:r>
              <a:rPr lang="en-US" sz="1517" dirty="0"/>
              <a:t> </a:t>
            </a:r>
            <a:r>
              <a:rPr lang="en-US" sz="1517" dirty="0" err="1"/>
              <a:t>lần</a:t>
            </a:r>
            <a:r>
              <a:rPr lang="en-US" sz="1517" dirty="0"/>
              <a:t> </a:t>
            </a:r>
            <a:r>
              <a:rPr lang="en-US" sz="1517" dirty="0" err="1"/>
              <a:t>duyệt</a:t>
            </a:r>
            <a:r>
              <a:rPr lang="en-US" sz="1517" dirty="0"/>
              <a:t>:</a:t>
            </a:r>
          </a:p>
          <a:p>
            <a:pPr lvl="1"/>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SELECT </a:t>
            </a:r>
            <a:r>
              <a:rPr lang="en-US" sz="1517" dirty="0" err="1">
                <a:solidFill>
                  <a:srgbClr val="FF0000"/>
                </a:solidFill>
                <a:latin typeface="Times New Roman" panose="02020603050405020304" pitchFamily="18" charset="0"/>
                <a:cs typeface="Times New Roman" panose="02020603050405020304" pitchFamily="18" charset="0"/>
              </a:rPr>
              <a:t>ta.facilityTaConnectId.commonFacilityCode</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FROM </a:t>
            </a:r>
            <a:r>
              <a:rPr lang="en-US" sz="1517" dirty="0" err="1">
                <a:solidFill>
                  <a:schemeClr val="tx2">
                    <a:lumMod val="60000"/>
                    <a:lumOff val="40000"/>
                  </a:schemeClr>
                </a:solidFill>
                <a:latin typeface="Times New Roman" panose="02020603050405020304" pitchFamily="18" charset="0"/>
                <a:cs typeface="Times New Roman" panose="02020603050405020304" pitchFamily="18" charset="0"/>
              </a:rPr>
              <a:t>FacilityTaConnects</a:t>
            </a:r>
            <a:r>
              <a:rPr lang="en-US" sz="1517" dirty="0">
                <a:solidFill>
                  <a:schemeClr val="tx2">
                    <a:lumMod val="60000"/>
                    <a:lumOff val="40000"/>
                  </a:schemeClr>
                </a:solidFill>
                <a:latin typeface="Times New Roman" panose="02020603050405020304" pitchFamily="18" charset="0"/>
                <a:cs typeface="Times New Roman" panose="02020603050405020304" pitchFamily="18" charset="0"/>
              </a:rPr>
              <a:t> ta</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662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3"/>
          <a:stretch>
            <a:fillRect/>
          </a:stretch>
        </p:blipFill>
        <p:spPr>
          <a:xfrm>
            <a:off x="705803" y="1546860"/>
            <a:ext cx="3285490" cy="3615690"/>
          </a:xfrm>
          <a:prstGeom prst="rect">
            <a:avLst/>
          </a:prstGeom>
        </p:spPr>
      </p:pic>
      <p:sp>
        <p:nvSpPr>
          <p:cNvPr id="2" name="TextBox 21"/>
          <p:cNvSpPr txBox="1"/>
          <p:nvPr/>
        </p:nvSpPr>
        <p:spPr>
          <a:xfrm>
            <a:off x="4353059" y="2461146"/>
            <a:ext cx="5173727" cy="2200795"/>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3. </a:t>
            </a:r>
            <a:r>
              <a:rPr lang="en-US" altLang="zh-CN" sz="4767" spc="100" dirty="0" err="1">
                <a:solidFill>
                  <a:srgbClr val="F5B3A5"/>
                </a:solidFill>
                <a:latin typeface="Times New Roman"/>
                <a:ea typeface="Times New Roman"/>
              </a:rPr>
              <a:t>Quan</a:t>
            </a:r>
            <a:r>
              <a:rPr lang="en-US" altLang="zh-CN" sz="4767" spc="100" dirty="0">
                <a:solidFill>
                  <a:srgbClr val="F5B3A5"/>
                </a:solidFill>
                <a:latin typeface="Times New Roman"/>
                <a:ea typeface="Times New Roman"/>
              </a:rPr>
              <a:t> </a:t>
            </a:r>
            <a:r>
              <a:rPr lang="en-US" altLang="zh-CN" sz="4767" spc="100" dirty="0" err="1">
                <a:solidFill>
                  <a:srgbClr val="F5B3A5"/>
                </a:solidFill>
                <a:latin typeface="Times New Roman"/>
                <a:ea typeface="Times New Roman"/>
              </a:rPr>
              <a:t>hệ</a:t>
            </a:r>
            <a:r>
              <a:rPr lang="en-US" altLang="zh-CN" sz="4767" spc="100" dirty="0">
                <a:solidFill>
                  <a:srgbClr val="F5B3A5"/>
                </a:solidFill>
                <a:latin typeface="Times New Roman"/>
                <a:ea typeface="Times New Roman"/>
              </a:rPr>
              <a:t> table </a:t>
            </a:r>
            <a:r>
              <a:rPr lang="en-US" altLang="zh-CN" sz="4767" spc="100" dirty="0" err="1">
                <a:solidFill>
                  <a:srgbClr val="F5B3A5"/>
                </a:solidFill>
                <a:latin typeface="Times New Roman"/>
                <a:ea typeface="Times New Roman"/>
              </a:rPr>
              <a:t>thông</a:t>
            </a:r>
            <a:r>
              <a:rPr lang="en-US" altLang="zh-CN" sz="4767" spc="100" dirty="0">
                <a:solidFill>
                  <a:srgbClr val="F5B3A5"/>
                </a:solidFill>
                <a:latin typeface="Times New Roman"/>
                <a:ea typeface="Times New Roman"/>
              </a:rPr>
              <a:t> qua annotation</a:t>
            </a: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293190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a:t>
            </a:r>
            <a:r>
              <a:rPr lang="en-US" sz="2167" dirty="0">
                <a:latin typeface="Times New Roman" panose="02020603050405020304" pitchFamily="18" charset="0"/>
                <a:cs typeface="Times New Roman" panose="02020603050405020304" pitchFamily="18" charset="0"/>
              </a:rPr>
              <a:t> annotation </a:t>
            </a: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endParaRPr lang="en-US" sz="2167" dirty="0">
              <a:latin typeface="Times New Roman" panose="02020603050405020304" pitchFamily="18" charset="0"/>
              <a:cs typeface="Times New Roman" panose="02020603050405020304" pitchFamily="18" charset="0"/>
            </a:endParaRPr>
          </a:p>
        </p:txBody>
      </p:sp>
      <p:sp>
        <p:nvSpPr>
          <p:cNvPr id="2" name="テキスト ボックス 1"/>
          <p:cNvSpPr txBox="1"/>
          <p:nvPr/>
        </p:nvSpPr>
        <p:spPr>
          <a:xfrm>
            <a:off x="263129" y="1331715"/>
            <a:ext cx="9186267" cy="559256"/>
          </a:xfrm>
          <a:prstGeom prst="rect">
            <a:avLst/>
          </a:prstGeom>
          <a:noFill/>
        </p:spPr>
        <p:txBody>
          <a:bodyPr wrap="square" rtlCol="0">
            <a:spAutoFit/>
          </a:bodyPr>
          <a:lstStyle/>
          <a:p>
            <a:pPr marL="247665" indent="-247665">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Trong Spring Data JPA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kết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quan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hệ</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thông</a:t>
            </a:r>
            <a:r>
              <a:rPr lang="en-US" sz="1517" dirty="0">
                <a:latin typeface="Times New Roman" panose="02020603050405020304" pitchFamily="18" charset="0"/>
                <a:cs typeface="Times New Roman" panose="02020603050405020304" pitchFamily="18" charset="0"/>
              </a:rPr>
              <a:t> qua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annotation: @</a:t>
            </a:r>
            <a:r>
              <a:rPr lang="en-US" sz="1517" dirty="0" err="1">
                <a:latin typeface="Times New Roman" panose="02020603050405020304" pitchFamily="18" charset="0"/>
                <a:cs typeface="Times New Roman" panose="02020603050405020304" pitchFamily="18" charset="0"/>
              </a:rPr>
              <a:t>ManyToOne</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OneToMany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OneToOne</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ManyToMany</a:t>
            </a:r>
            <a:endParaRPr lang="en-US" sz="1517" dirty="0">
              <a:latin typeface="Times New Roman" panose="02020603050405020304" pitchFamily="18" charset="0"/>
              <a:cs typeface="Times New Roman" panose="02020603050405020304" pitchFamily="18" charset="0"/>
            </a:endParaRPr>
          </a:p>
        </p:txBody>
      </p:sp>
      <p:sp>
        <p:nvSpPr>
          <p:cNvPr id="6" name="テキスト ボックス 5"/>
          <p:cNvSpPr txBox="1"/>
          <p:nvPr/>
        </p:nvSpPr>
        <p:spPr>
          <a:xfrm>
            <a:off x="340519" y="2043708"/>
            <a:ext cx="8938617" cy="792718"/>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@ManyToOne</a:t>
            </a:r>
            <a:r>
              <a:rPr lang="en-US" sz="1517" dirty="0">
                <a:latin typeface="+mj-lt"/>
              </a:rPr>
              <a:t>:</a:t>
            </a:r>
            <a:r>
              <a:rPr lang="vi-VN" sz="1517" dirty="0">
                <a:latin typeface="+mj-lt"/>
              </a:rPr>
              <a:t>là liên kết phổ biến nhất, cũng có </a:t>
            </a:r>
            <a:r>
              <a:rPr lang="en-US" sz="1517" dirty="0" err="1">
                <a:latin typeface="+mj-lt"/>
              </a:rPr>
              <a:t>liên</a:t>
            </a:r>
            <a:r>
              <a:rPr lang="en-US" sz="1517" dirty="0">
                <a:latin typeface="+mj-lt"/>
              </a:rPr>
              <a:t> </a:t>
            </a:r>
            <a:r>
              <a:rPr lang="en-US" sz="1517" dirty="0" err="1">
                <a:latin typeface="+mj-lt"/>
              </a:rPr>
              <a:t>kết</a:t>
            </a:r>
            <a:r>
              <a:rPr lang="en-US" sz="1517" dirty="0">
                <a:latin typeface="+mj-lt"/>
              </a:rPr>
              <a:t> </a:t>
            </a:r>
            <a:r>
              <a:rPr lang="vi-VN" sz="1517" dirty="0">
                <a:latin typeface="+mj-lt"/>
              </a:rPr>
              <a:t>trực tiếp trong cơ sở dữ liệu quan hệ (ví dụ: khóa ngoại), và do đó nó thiết lập mối quan hệ giữa </a:t>
            </a:r>
            <a:r>
              <a:rPr lang="en-US" sz="1517" dirty="0">
                <a:latin typeface="+mj-lt"/>
              </a:rPr>
              <a:t>entity con</a:t>
            </a:r>
            <a:r>
              <a:rPr lang="vi-VN" sz="1517" dirty="0">
                <a:latin typeface="+mj-lt"/>
              </a:rPr>
              <a:t> </a:t>
            </a:r>
            <a:r>
              <a:rPr lang="en-US" sz="1517" dirty="0" err="1">
                <a:latin typeface="+mj-lt"/>
              </a:rPr>
              <a:t>và</a:t>
            </a:r>
            <a:r>
              <a:rPr lang="en-US" sz="1517" dirty="0">
                <a:latin typeface="+mj-lt"/>
              </a:rPr>
              <a:t> entity cha </a:t>
            </a:r>
            <a:r>
              <a:rPr lang="vi-VN" sz="1517" dirty="0">
                <a:latin typeface="+mj-lt"/>
              </a:rPr>
              <a:t>được dùng để thể hiện mối quan hệ nhiều – một giữa hai bảng trong một database</a:t>
            </a:r>
            <a:endParaRPr lang="en-US" sz="1517" dirty="0">
              <a:latin typeface="+mj-lt"/>
            </a:endParaRPr>
          </a:p>
        </p:txBody>
      </p:sp>
      <p:sp>
        <p:nvSpPr>
          <p:cNvPr id="11" name="テキスト ボックス 10"/>
          <p:cNvSpPr txBox="1"/>
          <p:nvPr/>
        </p:nvSpPr>
        <p:spPr>
          <a:xfrm>
            <a:off x="340519" y="2808890"/>
            <a:ext cx="8938617" cy="1726563"/>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a:t>
            </a: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OneToMany</a:t>
            </a:r>
            <a:r>
              <a:rPr lang="en-US" sz="1517" dirty="0">
                <a:latin typeface="Times New Roman" panose="02020603050405020304" pitchFamily="18" charset="0"/>
                <a:cs typeface="Times New Roman" panose="02020603050405020304" pitchFamily="18" charset="0"/>
              </a:rPr>
              <a:t> </a:t>
            </a:r>
            <a:r>
              <a:rPr lang="en-US" sz="1517" dirty="0">
                <a:latin typeface="+mj-lt"/>
              </a:rPr>
              <a:t>:</a:t>
            </a:r>
            <a:r>
              <a:rPr lang="vi-VN" sz="1517" dirty="0">
                <a:latin typeface="+mj-lt"/>
              </a:rPr>
              <a:t>là</a:t>
            </a:r>
            <a:r>
              <a:rPr lang="en-US" sz="1517" dirty="0">
                <a:latin typeface="+mj-lt"/>
              </a:rPr>
              <a:t> </a:t>
            </a:r>
            <a:r>
              <a:rPr lang="en-US" sz="1517" dirty="0" err="1">
                <a:latin typeface="+mj-lt"/>
              </a:rPr>
              <a:t>mối</a:t>
            </a:r>
            <a:r>
              <a:rPr lang="en-US" sz="1517" dirty="0">
                <a:latin typeface="+mj-lt"/>
              </a:rPr>
              <a:t> </a:t>
            </a:r>
            <a:r>
              <a:rPr lang="en-US" sz="1517" dirty="0" err="1">
                <a:latin typeface="+mj-lt"/>
              </a:rPr>
              <a:t>quan</a:t>
            </a:r>
            <a:r>
              <a:rPr lang="en-US" sz="1517" dirty="0">
                <a:latin typeface="+mj-lt"/>
              </a:rPr>
              <a:t> </a:t>
            </a:r>
            <a:r>
              <a:rPr lang="en-US" sz="1517" dirty="0" err="1">
                <a:latin typeface="+mj-lt"/>
              </a:rPr>
              <a:t>hệ</a:t>
            </a:r>
            <a:r>
              <a:rPr lang="en-US" sz="1517" dirty="0">
                <a:latin typeface="+mj-lt"/>
              </a:rPr>
              <a:t> </a:t>
            </a:r>
            <a:r>
              <a:rPr lang="en-US" sz="1517" dirty="0" err="1">
                <a:latin typeface="+mj-lt"/>
              </a:rPr>
              <a:t>một</a:t>
            </a:r>
            <a:r>
              <a:rPr lang="en-US" sz="1517" dirty="0">
                <a:latin typeface="+mj-lt"/>
              </a:rPr>
              <a:t> </a:t>
            </a:r>
            <a:r>
              <a:rPr lang="en-US" sz="1517" dirty="0" err="1">
                <a:latin typeface="+mj-lt"/>
              </a:rPr>
              <a:t>nhiều</a:t>
            </a:r>
            <a:r>
              <a:rPr lang="en-US" sz="1517" dirty="0">
                <a:latin typeface="+mj-lt"/>
              </a:rPr>
              <a:t>, </a:t>
            </a:r>
            <a:r>
              <a:rPr lang="en-US" sz="1517" dirty="0" err="1">
                <a:latin typeface="+mj-lt"/>
              </a:rPr>
              <a:t>liên</a:t>
            </a:r>
            <a:r>
              <a:rPr lang="en-US" sz="1517" dirty="0">
                <a:latin typeface="+mj-lt"/>
              </a:rPr>
              <a:t> </a:t>
            </a:r>
            <a:r>
              <a:rPr lang="en-US" sz="1517" dirty="0" err="1">
                <a:latin typeface="+mj-lt"/>
              </a:rPr>
              <a:t>kết</a:t>
            </a:r>
            <a:r>
              <a:rPr lang="en-US" sz="1517" dirty="0">
                <a:latin typeface="+mj-lt"/>
              </a:rPr>
              <a:t> </a:t>
            </a:r>
            <a:r>
              <a:rPr lang="en-US" sz="1517" dirty="0" err="1">
                <a:latin typeface="+mj-lt"/>
              </a:rPr>
              <a:t>một</a:t>
            </a:r>
            <a:r>
              <a:rPr lang="en-US" sz="1517" dirty="0">
                <a:latin typeface="+mj-lt"/>
              </a:rPr>
              <a:t> entity cha </a:t>
            </a:r>
            <a:r>
              <a:rPr lang="en-US" sz="1517" dirty="0" err="1">
                <a:latin typeface="+mj-lt"/>
              </a:rPr>
              <a:t>với</a:t>
            </a:r>
            <a:r>
              <a:rPr lang="en-US" sz="1517" dirty="0">
                <a:latin typeface="+mj-lt"/>
              </a:rPr>
              <a:t> </a:t>
            </a:r>
            <a:r>
              <a:rPr lang="en-US" sz="1517" dirty="0" err="1">
                <a:latin typeface="+mj-lt"/>
              </a:rPr>
              <a:t>nhiều</a:t>
            </a:r>
            <a:r>
              <a:rPr lang="en-US" sz="1517" dirty="0">
                <a:latin typeface="+mj-lt"/>
              </a:rPr>
              <a:t> entity con</a:t>
            </a:r>
          </a:p>
          <a:p>
            <a:pPr marL="247665" indent="-247665">
              <a:buFontTx/>
              <a:buChar char="-"/>
            </a:pPr>
            <a:r>
              <a:rPr lang="en-US" sz="1517" dirty="0" err="1">
                <a:latin typeface="+mj-lt"/>
              </a:rPr>
              <a:t>Nếu</a:t>
            </a:r>
            <a:r>
              <a:rPr lang="en-US" sz="1517" dirty="0">
                <a:latin typeface="+mj-lt"/>
              </a:rPr>
              <a:t> </a:t>
            </a:r>
            <a:r>
              <a:rPr lang="en-US" sz="1517" dirty="0" err="1">
                <a:latin typeface="+mj-lt"/>
              </a:rPr>
              <a:t>thể</a:t>
            </a:r>
            <a:r>
              <a:rPr lang="en-US" sz="1517" dirty="0">
                <a:latin typeface="+mj-lt"/>
              </a:rPr>
              <a:t> </a:t>
            </a:r>
            <a:r>
              <a:rPr lang="en-US" sz="1517" dirty="0" err="1">
                <a:latin typeface="+mj-lt"/>
              </a:rPr>
              <a:t>hiện</a:t>
            </a:r>
            <a:r>
              <a:rPr lang="en-US" sz="1517" dirty="0">
                <a:latin typeface="+mj-lt"/>
              </a:rPr>
              <a:t> @</a:t>
            </a:r>
            <a:r>
              <a:rPr lang="en-US" sz="1517" dirty="0" err="1">
                <a:latin typeface="+mj-lt"/>
              </a:rPr>
              <a:t>OneToMay</a:t>
            </a:r>
            <a:r>
              <a:rPr lang="en-US" sz="1517" dirty="0">
                <a:latin typeface="+mj-lt"/>
              </a:rPr>
              <a:t> ở Entity cha </a:t>
            </a:r>
            <a:r>
              <a:rPr lang="en-US" sz="1517" dirty="0" err="1">
                <a:latin typeface="+mj-lt"/>
              </a:rPr>
              <a:t>nhưng</a:t>
            </a:r>
            <a:r>
              <a:rPr lang="en-US" sz="1517" dirty="0">
                <a:latin typeface="+mj-lt"/>
              </a:rPr>
              <a:t> </a:t>
            </a:r>
            <a:r>
              <a:rPr lang="en-US" sz="1517" dirty="0" err="1">
                <a:latin typeface="+mj-lt"/>
              </a:rPr>
              <a:t>không</a:t>
            </a:r>
            <a:r>
              <a:rPr lang="en-US" sz="1517" dirty="0">
                <a:latin typeface="+mj-lt"/>
              </a:rPr>
              <a:t> </a:t>
            </a:r>
            <a:r>
              <a:rPr lang="en-US" sz="1517" dirty="0" err="1">
                <a:latin typeface="+mj-lt"/>
              </a:rPr>
              <a:t>có</a:t>
            </a:r>
            <a:r>
              <a:rPr lang="en-US" sz="1517" dirty="0">
                <a:latin typeface="+mj-lt"/>
              </a:rPr>
              <a:t> @</a:t>
            </a:r>
            <a:r>
              <a:rPr lang="en-US" sz="1517" dirty="0" err="1">
                <a:latin typeface="+mj-lt"/>
              </a:rPr>
              <a:t>ManyToOne</a:t>
            </a:r>
            <a:r>
              <a:rPr lang="en-US" sz="1517" dirty="0">
                <a:latin typeface="+mj-lt"/>
              </a:rPr>
              <a:t> ở entity con </a:t>
            </a:r>
            <a:r>
              <a:rPr lang="en-US" sz="1517" dirty="0" err="1">
                <a:latin typeface="+mj-lt"/>
              </a:rPr>
              <a:t>thì</a:t>
            </a:r>
            <a:r>
              <a:rPr lang="en-US" sz="1517" dirty="0">
                <a:latin typeface="+mj-lt"/>
              </a:rPr>
              <a:t> </a:t>
            </a:r>
            <a:r>
              <a:rPr lang="en-US" sz="1517" dirty="0"/>
              <a:t>@</a:t>
            </a:r>
            <a:r>
              <a:rPr lang="en-US" sz="1517" dirty="0" err="1"/>
              <a:t>OneToMay</a:t>
            </a:r>
            <a:r>
              <a:rPr lang="en-US" sz="1517" dirty="0"/>
              <a:t>  </a:t>
            </a:r>
            <a:r>
              <a:rPr lang="en-US" sz="1517" dirty="0" err="1"/>
              <a:t>là</a:t>
            </a:r>
            <a:r>
              <a:rPr lang="en-US" sz="1517" dirty="0"/>
              <a:t> </a:t>
            </a:r>
            <a:r>
              <a:rPr lang="en-US" sz="1517" dirty="0" err="1"/>
              <a:t>liên</a:t>
            </a:r>
            <a:r>
              <a:rPr lang="en-US" sz="1517" dirty="0"/>
              <a:t> </a:t>
            </a:r>
            <a:r>
              <a:rPr lang="en-US" sz="1517" dirty="0" err="1"/>
              <a:t>kết</a:t>
            </a:r>
            <a:r>
              <a:rPr lang="en-US" sz="1517" dirty="0"/>
              <a:t> </a:t>
            </a:r>
            <a:r>
              <a:rPr lang="en-US" sz="1517" dirty="0" err="1"/>
              <a:t>một</a:t>
            </a:r>
            <a:r>
              <a:rPr lang="en-US" sz="1517" dirty="0"/>
              <a:t> </a:t>
            </a:r>
            <a:r>
              <a:rPr lang="en-US" sz="1517" dirty="0" err="1"/>
              <a:t>chiều</a:t>
            </a:r>
            <a:r>
              <a:rPr lang="en-US" sz="1517" dirty="0"/>
              <a:t>, </a:t>
            </a:r>
            <a:r>
              <a:rPr lang="en-US" sz="1517" dirty="0" err="1"/>
              <a:t>nếu</a:t>
            </a:r>
            <a:r>
              <a:rPr lang="en-US" sz="1517" dirty="0"/>
              <a:t> </a:t>
            </a:r>
            <a:r>
              <a:rPr lang="en-US" sz="1517" dirty="0" err="1"/>
              <a:t>có</a:t>
            </a:r>
            <a:r>
              <a:rPr lang="en-US" sz="1517" dirty="0"/>
              <a:t> @</a:t>
            </a:r>
            <a:r>
              <a:rPr lang="en-US" sz="1517" dirty="0" err="1"/>
              <a:t>ManyToOne</a:t>
            </a:r>
            <a:r>
              <a:rPr lang="en-US" sz="1517" dirty="0"/>
              <a:t> ở entity con </a:t>
            </a:r>
            <a:r>
              <a:rPr lang="en-US" sz="1517" dirty="0" err="1"/>
              <a:t>thì</a:t>
            </a:r>
            <a:r>
              <a:rPr lang="en-US" sz="1517" dirty="0"/>
              <a:t> @</a:t>
            </a:r>
            <a:r>
              <a:rPr lang="en-US" sz="1517" dirty="0" err="1"/>
              <a:t>OneToMay</a:t>
            </a:r>
            <a:r>
              <a:rPr lang="en-US" sz="1517" dirty="0"/>
              <a:t>  </a:t>
            </a:r>
            <a:r>
              <a:rPr lang="en-US" sz="1517" dirty="0" err="1"/>
              <a:t>là</a:t>
            </a:r>
            <a:r>
              <a:rPr lang="en-US" sz="1517" dirty="0"/>
              <a:t> </a:t>
            </a:r>
            <a:r>
              <a:rPr lang="en-US" sz="1517" dirty="0" err="1"/>
              <a:t>liên</a:t>
            </a:r>
            <a:r>
              <a:rPr lang="en-US" sz="1517" dirty="0"/>
              <a:t> </a:t>
            </a:r>
            <a:r>
              <a:rPr lang="en-US" sz="1517" dirty="0" err="1"/>
              <a:t>kết</a:t>
            </a:r>
            <a:r>
              <a:rPr lang="en-US" sz="1517" dirty="0"/>
              <a:t> </a:t>
            </a:r>
            <a:r>
              <a:rPr lang="en-US" sz="1517" dirty="0" err="1"/>
              <a:t>hai</a:t>
            </a:r>
            <a:r>
              <a:rPr lang="en-US" sz="1517" dirty="0"/>
              <a:t> </a:t>
            </a:r>
            <a:r>
              <a:rPr lang="en-US" sz="1517" dirty="0" err="1"/>
              <a:t>chiều</a:t>
            </a:r>
            <a:endParaRPr lang="en-US" sz="1517" dirty="0"/>
          </a:p>
          <a:p>
            <a:pPr marL="247665" indent="-247665">
              <a:buFontTx/>
              <a:buChar char="-"/>
            </a:pPr>
            <a:r>
              <a:rPr lang="en-US" sz="1517" dirty="0" err="1"/>
              <a:t>Với</a:t>
            </a:r>
            <a:r>
              <a:rPr lang="en-US" sz="1517" dirty="0"/>
              <a:t> </a:t>
            </a:r>
            <a:r>
              <a:rPr lang="en-US" sz="1517" dirty="0" err="1"/>
              <a:t>liên</a:t>
            </a:r>
            <a:r>
              <a:rPr lang="en-US" sz="1517" dirty="0"/>
              <a:t> </a:t>
            </a:r>
            <a:r>
              <a:rPr lang="en-US" sz="1517" dirty="0" err="1"/>
              <a:t>kết</a:t>
            </a:r>
            <a:r>
              <a:rPr lang="en-US" sz="1517" dirty="0"/>
              <a:t> 2 </a:t>
            </a:r>
            <a:r>
              <a:rPr lang="en-US" sz="1517" dirty="0" err="1"/>
              <a:t>chiều</a:t>
            </a:r>
            <a:r>
              <a:rPr lang="en-US" sz="1517" dirty="0"/>
              <a:t> </a:t>
            </a:r>
            <a:r>
              <a:rPr lang="en-US" sz="1517" dirty="0" err="1"/>
              <a:t>nhà</a:t>
            </a:r>
            <a:r>
              <a:rPr lang="en-US" sz="1517" dirty="0"/>
              <a:t> </a:t>
            </a:r>
            <a:r>
              <a:rPr lang="en-US" sz="1517" dirty="0" err="1"/>
              <a:t>phát</a:t>
            </a:r>
            <a:r>
              <a:rPr lang="en-US" sz="1517" dirty="0"/>
              <a:t> </a:t>
            </a:r>
            <a:r>
              <a:rPr lang="en-US" sz="1517" dirty="0" err="1"/>
              <a:t>triển</a:t>
            </a:r>
            <a:r>
              <a:rPr lang="en-US" sz="1517" dirty="0"/>
              <a:t> </a:t>
            </a:r>
            <a:r>
              <a:rPr lang="en-US" sz="1517" dirty="0" err="1"/>
              <a:t>có</a:t>
            </a:r>
            <a:r>
              <a:rPr lang="en-US" sz="1517" dirty="0"/>
              <a:t> </a:t>
            </a:r>
            <a:r>
              <a:rPr lang="en-US" sz="1517" dirty="0" err="1"/>
              <a:t>thể</a:t>
            </a:r>
            <a:r>
              <a:rPr lang="en-US" sz="1517" dirty="0"/>
              <a:t> </a:t>
            </a:r>
            <a:r>
              <a:rPr lang="en-US" sz="1517" dirty="0" err="1"/>
              <a:t>điều</a:t>
            </a:r>
            <a:r>
              <a:rPr lang="en-US" sz="1517" dirty="0"/>
              <a:t> </a:t>
            </a:r>
            <a:r>
              <a:rPr lang="en-US" sz="1517" dirty="0" err="1"/>
              <a:t>hướng</a:t>
            </a:r>
            <a:r>
              <a:rPr lang="en-US" sz="1517" dirty="0"/>
              <a:t> </a:t>
            </a:r>
            <a:r>
              <a:rPr lang="en-US" sz="1517" dirty="0" err="1"/>
              <a:t>mối</a:t>
            </a:r>
            <a:r>
              <a:rPr lang="en-US" sz="1517" dirty="0"/>
              <a:t> </a:t>
            </a:r>
            <a:r>
              <a:rPr lang="en-US" sz="1517" dirty="0" err="1"/>
              <a:t>quan</a:t>
            </a:r>
            <a:r>
              <a:rPr lang="en-US" sz="1517" dirty="0"/>
              <a:t> </a:t>
            </a:r>
            <a:r>
              <a:rPr lang="en-US" sz="1517" dirty="0" err="1"/>
              <a:t>hệ</a:t>
            </a:r>
            <a:r>
              <a:rPr lang="en-US" sz="1517" dirty="0"/>
              <a:t> </a:t>
            </a:r>
            <a:r>
              <a:rPr lang="en-US" sz="1517" dirty="0" err="1"/>
              <a:t>này</a:t>
            </a:r>
            <a:r>
              <a:rPr lang="en-US" sz="1517" dirty="0"/>
              <a:t> </a:t>
            </a:r>
            <a:r>
              <a:rPr lang="en-US" sz="1517" dirty="0" err="1"/>
              <a:t>từ</a:t>
            </a:r>
            <a:r>
              <a:rPr lang="en-US" sz="1517" dirty="0"/>
              <a:t> </a:t>
            </a:r>
            <a:r>
              <a:rPr lang="en-US" sz="1517" dirty="0" err="1"/>
              <a:t>cả</a:t>
            </a:r>
            <a:r>
              <a:rPr lang="en-US" sz="1517" dirty="0"/>
              <a:t> </a:t>
            </a:r>
            <a:r>
              <a:rPr lang="en-US" sz="1517" dirty="0" err="1"/>
              <a:t>hai</a:t>
            </a:r>
            <a:r>
              <a:rPr lang="en-US" sz="1517" dirty="0"/>
              <a:t> </a:t>
            </a:r>
            <a:r>
              <a:rPr lang="en-US" sz="1517" dirty="0" err="1"/>
              <a:t>đầu</a:t>
            </a:r>
            <a:endParaRPr lang="en-US" sz="1517" dirty="0"/>
          </a:p>
          <a:p>
            <a:endParaRPr lang="en-US" sz="1517" dirty="0">
              <a:latin typeface="+mj-lt"/>
            </a:endParaRPr>
          </a:p>
        </p:txBody>
      </p:sp>
      <p:sp>
        <p:nvSpPr>
          <p:cNvPr id="13" name="テキスト ボックス 12"/>
          <p:cNvSpPr txBox="1"/>
          <p:nvPr/>
        </p:nvSpPr>
        <p:spPr>
          <a:xfrm>
            <a:off x="340517" y="4025891"/>
            <a:ext cx="8938617" cy="559256"/>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a:t>
            </a: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OneToOne</a:t>
            </a:r>
            <a:r>
              <a:rPr lang="en-US" sz="1517" dirty="0">
                <a:latin typeface="Times New Roman" panose="02020603050405020304" pitchFamily="18" charset="0"/>
                <a:cs typeface="Times New Roman" panose="02020603050405020304" pitchFamily="18" charset="0"/>
              </a:rPr>
              <a:t> </a:t>
            </a:r>
            <a:r>
              <a:rPr lang="en-US" sz="1517" dirty="0">
                <a:latin typeface="+mj-lt"/>
              </a:rPr>
              <a:t>:</a:t>
            </a:r>
            <a:r>
              <a:rPr lang="vi-VN" sz="1517" dirty="0">
                <a:latin typeface="+mj-lt"/>
              </a:rPr>
              <a:t>là </a:t>
            </a:r>
            <a:r>
              <a:rPr lang="en-US" sz="1517" dirty="0" err="1">
                <a:latin typeface="+mj-lt"/>
              </a:rPr>
              <a:t>mối</a:t>
            </a:r>
            <a:r>
              <a:rPr lang="en-US" sz="1517" dirty="0">
                <a:latin typeface="+mj-lt"/>
              </a:rPr>
              <a:t> </a:t>
            </a:r>
            <a:r>
              <a:rPr lang="en-US" sz="1517" dirty="0" err="1">
                <a:latin typeface="+mj-lt"/>
              </a:rPr>
              <a:t>quan</a:t>
            </a:r>
            <a:r>
              <a:rPr lang="en-US" sz="1517" dirty="0">
                <a:latin typeface="+mj-lt"/>
              </a:rPr>
              <a:t> </a:t>
            </a:r>
            <a:r>
              <a:rPr lang="en-US" sz="1517" dirty="0" err="1">
                <a:latin typeface="+mj-lt"/>
              </a:rPr>
              <a:t>hệ</a:t>
            </a:r>
            <a:r>
              <a:rPr lang="en-US" sz="1517" dirty="0">
                <a:latin typeface="+mj-lt"/>
              </a:rPr>
              <a:t> 1-1 </a:t>
            </a:r>
            <a:r>
              <a:rPr lang="en-US" sz="1517" dirty="0" err="1">
                <a:latin typeface="+mj-lt"/>
              </a:rPr>
              <a:t>liên</a:t>
            </a:r>
            <a:r>
              <a:rPr lang="en-US" sz="1517" dirty="0">
                <a:latin typeface="+mj-lt"/>
              </a:rPr>
              <a:t> </a:t>
            </a:r>
            <a:r>
              <a:rPr lang="en-US" sz="1517" dirty="0" err="1">
                <a:latin typeface="+mj-lt"/>
              </a:rPr>
              <a:t>kết</a:t>
            </a:r>
            <a:r>
              <a:rPr lang="en-US" sz="1517" dirty="0">
                <a:latin typeface="+mj-lt"/>
              </a:rPr>
              <a:t> 2 entity </a:t>
            </a:r>
            <a:r>
              <a:rPr lang="en-US" sz="1517" dirty="0" err="1">
                <a:latin typeface="+mj-lt"/>
              </a:rPr>
              <a:t>bởi</a:t>
            </a:r>
            <a:r>
              <a:rPr lang="en-US" sz="1517" dirty="0">
                <a:latin typeface="+mj-lt"/>
              </a:rPr>
              <a:t> </a:t>
            </a:r>
            <a:r>
              <a:rPr lang="en-US" sz="1517" dirty="0" err="1">
                <a:latin typeface="+mj-lt"/>
              </a:rPr>
              <a:t>khóa</a:t>
            </a:r>
            <a:r>
              <a:rPr lang="en-US" sz="1517" dirty="0">
                <a:latin typeface="+mj-lt"/>
              </a:rPr>
              <a:t> </a:t>
            </a:r>
            <a:r>
              <a:rPr lang="en-US" sz="1517" dirty="0" err="1">
                <a:latin typeface="+mj-lt"/>
              </a:rPr>
              <a:t>ngoại</a:t>
            </a:r>
            <a:r>
              <a:rPr lang="en-US" sz="1517" dirty="0">
                <a:latin typeface="+mj-lt"/>
              </a:rPr>
              <a:t> </a:t>
            </a:r>
            <a:r>
              <a:rPr lang="en-US" sz="1517" dirty="0" err="1">
                <a:latin typeface="+mj-lt"/>
              </a:rPr>
              <a:t>tương</a:t>
            </a:r>
            <a:r>
              <a:rPr lang="en-US" sz="1517" dirty="0">
                <a:latin typeface="+mj-lt"/>
              </a:rPr>
              <a:t> </a:t>
            </a:r>
            <a:r>
              <a:rPr lang="en-US" sz="1517" dirty="0" err="1">
                <a:latin typeface="+mj-lt"/>
              </a:rPr>
              <a:t>ứng</a:t>
            </a:r>
            <a:r>
              <a:rPr lang="en-US" sz="1517" dirty="0">
                <a:latin typeface="+mj-lt"/>
              </a:rPr>
              <a:t> </a:t>
            </a:r>
            <a:r>
              <a:rPr lang="en-US" sz="1517" dirty="0" err="1">
                <a:latin typeface="+mj-lt"/>
              </a:rPr>
              <a:t>với</a:t>
            </a:r>
            <a:r>
              <a:rPr lang="en-US" sz="1517" dirty="0">
                <a:latin typeface="+mj-lt"/>
              </a:rPr>
              <a:t> </a:t>
            </a:r>
            <a:r>
              <a:rPr lang="en-US" sz="1517" dirty="0" err="1">
                <a:latin typeface="+mj-lt"/>
              </a:rPr>
              <a:t>quan</a:t>
            </a:r>
            <a:r>
              <a:rPr lang="en-US" sz="1517" dirty="0">
                <a:latin typeface="+mj-lt"/>
              </a:rPr>
              <a:t> </a:t>
            </a:r>
            <a:r>
              <a:rPr lang="en-US" sz="1517" dirty="0" err="1">
                <a:latin typeface="+mj-lt"/>
              </a:rPr>
              <a:t>hệ</a:t>
            </a:r>
            <a:r>
              <a:rPr lang="en-US" sz="1517" dirty="0">
                <a:latin typeface="+mj-lt"/>
              </a:rPr>
              <a:t> </a:t>
            </a:r>
            <a:r>
              <a:rPr lang="en-US" sz="1517" dirty="0" err="1">
                <a:latin typeface="+mj-lt"/>
              </a:rPr>
              <a:t>trong</a:t>
            </a:r>
            <a:r>
              <a:rPr lang="en-US" sz="1517" dirty="0">
                <a:latin typeface="+mj-lt"/>
              </a:rPr>
              <a:t> </a:t>
            </a:r>
            <a:r>
              <a:rPr lang="en-US" sz="1517" dirty="0" err="1">
                <a:latin typeface="+mj-lt"/>
              </a:rPr>
              <a:t>cơ</a:t>
            </a:r>
            <a:r>
              <a:rPr lang="en-US" sz="1517" dirty="0">
                <a:latin typeface="+mj-lt"/>
              </a:rPr>
              <a:t> </a:t>
            </a:r>
            <a:r>
              <a:rPr lang="en-US" sz="1517" dirty="0" err="1">
                <a:latin typeface="+mj-lt"/>
              </a:rPr>
              <a:t>sở</a:t>
            </a:r>
            <a:r>
              <a:rPr lang="en-US" sz="1517" dirty="0">
                <a:latin typeface="+mj-lt"/>
              </a:rPr>
              <a:t> </a:t>
            </a:r>
            <a:r>
              <a:rPr lang="en-US" sz="1517" dirty="0" err="1">
                <a:latin typeface="+mj-lt"/>
              </a:rPr>
              <a:t>dữ</a:t>
            </a:r>
            <a:r>
              <a:rPr lang="en-US" sz="1517" dirty="0">
                <a:latin typeface="+mj-lt"/>
              </a:rPr>
              <a:t> </a:t>
            </a:r>
            <a:r>
              <a:rPr lang="en-US" sz="1517" dirty="0" err="1">
                <a:latin typeface="+mj-lt"/>
              </a:rPr>
              <a:t>liệu</a:t>
            </a:r>
            <a:endParaRPr lang="en-US" sz="1517" dirty="0">
              <a:latin typeface="+mj-lt"/>
            </a:endParaRPr>
          </a:p>
        </p:txBody>
      </p:sp>
      <p:sp>
        <p:nvSpPr>
          <p:cNvPr id="14" name="テキスト ボックス 13"/>
          <p:cNvSpPr txBox="1"/>
          <p:nvPr/>
        </p:nvSpPr>
        <p:spPr>
          <a:xfrm>
            <a:off x="340519" y="4612669"/>
            <a:ext cx="8938617" cy="559256"/>
          </a:xfrm>
          <a:prstGeom prst="rect">
            <a:avLst/>
          </a:prstGeom>
          <a:noFill/>
        </p:spPr>
        <p:txBody>
          <a:bodyPr wrap="square" rtlCol="0">
            <a:spAutoFit/>
          </a:bodyPr>
          <a:lstStyle/>
          <a:p>
            <a:pPr marL="154791" indent="-154791">
              <a:buFont typeface="Arial" panose="020B0604020202020204" pitchFamily="34" charset="0"/>
              <a:buChar char="•"/>
            </a:pPr>
            <a:r>
              <a:rPr lang="vi-VN" sz="1517" dirty="0">
                <a:latin typeface="+mj-lt"/>
              </a:rPr>
              <a:t> </a:t>
            </a:r>
            <a:r>
              <a:rPr lang="en-US" sz="1517" dirty="0">
                <a:latin typeface="Times New Roman" panose="02020603050405020304" pitchFamily="18" charset="0"/>
                <a:cs typeface="Times New Roman" panose="02020603050405020304" pitchFamily="18" charset="0"/>
              </a:rPr>
              <a:t>@</a:t>
            </a:r>
            <a:r>
              <a:rPr lang="en-US" sz="1517" dirty="0" err="1">
                <a:latin typeface="Times New Roman" panose="02020603050405020304" pitchFamily="18" charset="0"/>
                <a:cs typeface="Times New Roman" panose="02020603050405020304" pitchFamily="18" charset="0"/>
              </a:rPr>
              <a:t>ManyToMany</a:t>
            </a:r>
            <a:r>
              <a:rPr lang="en-US" sz="1517" dirty="0">
                <a:latin typeface="Times New Roman" panose="02020603050405020304" pitchFamily="18" charset="0"/>
                <a:cs typeface="Times New Roman" panose="02020603050405020304" pitchFamily="18" charset="0"/>
              </a:rPr>
              <a:t> </a:t>
            </a:r>
            <a:r>
              <a:rPr lang="en-US" sz="1517" dirty="0">
                <a:latin typeface="+mj-lt"/>
              </a:rPr>
              <a:t>:</a:t>
            </a:r>
            <a:r>
              <a:rPr lang="vi-VN" sz="1517" dirty="0"/>
              <a:t> là </a:t>
            </a:r>
            <a:r>
              <a:rPr lang="en-US" sz="1517" dirty="0" err="1"/>
              <a:t>mối</a:t>
            </a:r>
            <a:r>
              <a:rPr lang="en-US" sz="1517" dirty="0"/>
              <a:t> </a:t>
            </a:r>
            <a:r>
              <a:rPr lang="en-US" sz="1517" dirty="0" err="1"/>
              <a:t>quan</a:t>
            </a:r>
            <a:r>
              <a:rPr lang="en-US" sz="1517" dirty="0"/>
              <a:t> </a:t>
            </a:r>
            <a:r>
              <a:rPr lang="en-US" sz="1517" dirty="0" err="1"/>
              <a:t>hệ</a:t>
            </a:r>
            <a:r>
              <a:rPr lang="en-US" sz="1517" dirty="0"/>
              <a:t> </a:t>
            </a:r>
            <a:r>
              <a:rPr lang="en-US" sz="1517" dirty="0" err="1"/>
              <a:t>nhiều-nhiều</a:t>
            </a:r>
            <a:r>
              <a:rPr lang="en-US" sz="1517" dirty="0">
                <a:latin typeface="+mj-lt"/>
              </a:rPr>
              <a:t>, </a:t>
            </a:r>
            <a:r>
              <a:rPr lang="en-US" sz="1517" dirty="0" err="1">
                <a:latin typeface="+mj-lt"/>
              </a:rPr>
              <a:t>giống</a:t>
            </a:r>
            <a:r>
              <a:rPr lang="en-US" sz="1517" dirty="0">
                <a:latin typeface="+mj-lt"/>
              </a:rPr>
              <a:t> </a:t>
            </a:r>
            <a:r>
              <a:rPr lang="en-US" sz="1517" dirty="0" err="1">
                <a:latin typeface="+mj-lt"/>
              </a:rPr>
              <a:t>như</a:t>
            </a:r>
            <a:r>
              <a:rPr lang="en-US" sz="1517" dirty="0"/>
              <a:t> @</a:t>
            </a:r>
            <a:r>
              <a:rPr lang="en-US" sz="1517" dirty="0" err="1"/>
              <a:t>OneToMany</a:t>
            </a:r>
            <a:r>
              <a:rPr lang="en-US" sz="1517" dirty="0"/>
              <a:t>,</a:t>
            </a:r>
            <a:r>
              <a:rPr lang="en-US" sz="1517" dirty="0">
                <a:latin typeface="+mj-lt"/>
              </a:rPr>
              <a:t> @</a:t>
            </a:r>
            <a:r>
              <a:rPr lang="en-US" sz="1517" dirty="0" err="1">
                <a:latin typeface="+mj-lt"/>
              </a:rPr>
              <a:t>ManyToMany</a:t>
            </a:r>
            <a:r>
              <a:rPr lang="en-US" sz="1517" dirty="0">
                <a:latin typeface="+mj-lt"/>
              </a:rPr>
              <a:t> </a:t>
            </a:r>
            <a:r>
              <a:rPr lang="en-US" sz="1517" dirty="0" err="1">
                <a:latin typeface="+mj-lt"/>
              </a:rPr>
              <a:t>có</a:t>
            </a:r>
            <a:r>
              <a:rPr lang="en-US" sz="1517" dirty="0">
                <a:latin typeface="+mj-lt"/>
              </a:rPr>
              <a:t> </a:t>
            </a:r>
            <a:r>
              <a:rPr lang="en-US" sz="1517" dirty="0" err="1">
                <a:latin typeface="+mj-lt"/>
              </a:rPr>
              <a:t>thể</a:t>
            </a:r>
            <a:r>
              <a:rPr lang="en-US" sz="1517" dirty="0">
                <a:latin typeface="+mj-lt"/>
              </a:rPr>
              <a:t> </a:t>
            </a:r>
            <a:r>
              <a:rPr lang="en-US" sz="1517" dirty="0" err="1">
                <a:latin typeface="+mj-lt"/>
              </a:rPr>
              <a:t>là</a:t>
            </a:r>
            <a:r>
              <a:rPr lang="en-US" sz="1517" dirty="0">
                <a:latin typeface="+mj-lt"/>
              </a:rPr>
              <a:t> </a:t>
            </a:r>
            <a:r>
              <a:rPr lang="en-US" sz="1517" dirty="0" err="1">
                <a:latin typeface="+mj-lt"/>
              </a:rPr>
              <a:t>một</a:t>
            </a:r>
            <a:r>
              <a:rPr lang="en-US" sz="1517" dirty="0">
                <a:latin typeface="+mj-lt"/>
              </a:rPr>
              <a:t> </a:t>
            </a:r>
            <a:r>
              <a:rPr lang="en-US" sz="1517" dirty="0" err="1">
                <a:latin typeface="+mj-lt"/>
              </a:rPr>
              <a:t>chiều</a:t>
            </a:r>
            <a:r>
              <a:rPr lang="en-US" sz="1517" dirty="0">
                <a:latin typeface="+mj-lt"/>
              </a:rPr>
              <a:t> </a:t>
            </a:r>
            <a:r>
              <a:rPr lang="en-US" sz="1517" dirty="0" err="1">
                <a:latin typeface="+mj-lt"/>
              </a:rPr>
              <a:t>hoặc</a:t>
            </a:r>
            <a:r>
              <a:rPr lang="en-US" sz="1517" dirty="0">
                <a:latin typeface="+mj-lt"/>
              </a:rPr>
              <a:t> </a:t>
            </a:r>
            <a:r>
              <a:rPr lang="en-US" sz="1517" dirty="0" err="1">
                <a:latin typeface="+mj-lt"/>
              </a:rPr>
              <a:t>hai</a:t>
            </a:r>
            <a:r>
              <a:rPr lang="en-US" sz="1517" dirty="0">
                <a:latin typeface="+mj-lt"/>
              </a:rPr>
              <a:t> </a:t>
            </a:r>
            <a:r>
              <a:rPr lang="en-US" sz="1517" dirty="0" err="1">
                <a:latin typeface="+mj-lt"/>
              </a:rPr>
              <a:t>chiều</a:t>
            </a:r>
            <a:r>
              <a:rPr lang="en-US" sz="1517" dirty="0">
                <a:latin typeface="+mj-lt"/>
              </a:rPr>
              <a:t>.</a:t>
            </a:r>
          </a:p>
        </p:txBody>
      </p:sp>
    </p:spTree>
    <p:extLst>
      <p:ext uri="{BB962C8B-B14F-4D97-AF65-F5344CB8AC3E}">
        <p14:creationId xmlns:p14="http://schemas.microsoft.com/office/powerpoint/2010/main" val="213792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reeform 22"/>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3" name="Freeform 23"/>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4" name="Freeform 24"/>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93DCDD">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9" name="Picture 5"/>
          <p:cNvPicPr>
            <a:picLocks noChangeAspect="1"/>
          </p:cNvPicPr>
          <p:nvPr/>
        </p:nvPicPr>
        <p:blipFill>
          <a:blip r:embed="rId2"/>
          <a:stretch>
            <a:fillRect/>
          </a:stretch>
        </p:blipFill>
        <p:spPr>
          <a:xfrm>
            <a:off x="1494056" y="1762916"/>
            <a:ext cx="7231380" cy="3128645"/>
          </a:xfrm>
          <a:prstGeom prst="rect">
            <a:avLst/>
          </a:prstGeom>
        </p:spPr>
      </p:pic>
      <p:sp>
        <p:nvSpPr>
          <p:cNvPr id="2" name="TextBox 26"/>
          <p:cNvSpPr txBox="1"/>
          <p:nvPr/>
        </p:nvSpPr>
        <p:spPr>
          <a:xfrm>
            <a:off x="2156987" y="3052163"/>
            <a:ext cx="6416297" cy="809389"/>
          </a:xfrm>
          <a:prstGeom prst="rect">
            <a:avLst/>
          </a:prstGeom>
          <a:noFill/>
        </p:spPr>
        <p:txBody>
          <a:bodyPr wrap="square" lIns="0" tIns="0" rIns="0" bIns="0" rtlCol="0">
            <a:spAutoFit/>
          </a:bodyPr>
          <a:lstStyle/>
          <a:p>
            <a:r>
              <a:rPr lang="en-US" altLang="zh-CN" sz="3575" spc="75" dirty="0" err="1">
                <a:solidFill>
                  <a:srgbClr val="000000"/>
                </a:solidFill>
                <a:latin typeface="Times New Roman"/>
                <a:ea typeface="Times New Roman"/>
              </a:rPr>
              <a:t>Cách</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sử</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dụng</a:t>
            </a:r>
            <a:r>
              <a:rPr lang="en-US" altLang="zh-CN" sz="3575" spc="75" dirty="0">
                <a:solidFill>
                  <a:srgbClr val="000000"/>
                </a:solidFill>
                <a:latin typeface="Times New Roman"/>
                <a:ea typeface="Times New Roman"/>
              </a:rPr>
              <a:t> </a:t>
            </a:r>
            <a:r>
              <a:rPr lang="en-US" altLang="zh-CN" sz="3575" spc="75" dirty="0" err="1">
                <a:solidFill>
                  <a:srgbClr val="000000"/>
                </a:solidFill>
                <a:latin typeface="Times New Roman"/>
                <a:ea typeface="Times New Roman"/>
              </a:rPr>
              <a:t>các</a:t>
            </a:r>
            <a:r>
              <a:rPr lang="en-US" altLang="zh-CN" sz="3575" spc="75" dirty="0">
                <a:solidFill>
                  <a:srgbClr val="000000"/>
                </a:solidFill>
                <a:latin typeface="Times New Roman"/>
                <a:ea typeface="Times New Roman"/>
              </a:rPr>
              <a:t> annotation</a:t>
            </a:r>
            <a:endParaRPr lang="en-US" altLang="zh-CN" sz="3575" spc="81" dirty="0">
              <a:solidFill>
                <a:srgbClr val="000000"/>
              </a:solidFill>
              <a:latin typeface="Times New Roman"/>
              <a:ea typeface="Times New Roman"/>
            </a:endParaRPr>
          </a:p>
          <a:p>
            <a:pPr>
              <a:lnSpc>
                <a:spcPts val="542"/>
              </a:lnSpc>
            </a:pPr>
            <a:endParaRPr lang="en-US" sz="867" dirty="0"/>
          </a:p>
          <a:p>
            <a:pPr>
              <a:lnSpc>
                <a:spcPts val="542"/>
              </a:lnSpc>
            </a:pPr>
            <a:endParaRPr lang="en-US" sz="867" dirty="0"/>
          </a:p>
          <a:p>
            <a:pPr>
              <a:lnSpc>
                <a:spcPts val="542"/>
              </a:lnSpc>
            </a:pPr>
            <a:endParaRPr lang="en-US" sz="867" dirty="0"/>
          </a:p>
          <a:p>
            <a:pPr>
              <a:lnSpc>
                <a:spcPts val="542"/>
              </a:lnSpc>
            </a:pPr>
            <a:endParaRPr lang="en-US" sz="867" dirty="0"/>
          </a:p>
        </p:txBody>
      </p:sp>
    </p:spTree>
    <p:extLst>
      <p:ext uri="{BB962C8B-B14F-4D97-AF65-F5344CB8AC3E}">
        <p14:creationId xmlns:p14="http://schemas.microsoft.com/office/powerpoint/2010/main" val="204040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793057" y="653251"/>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7" name="図 6"/>
          <p:cNvPicPr>
            <a:picLocks noChangeAspect="1"/>
          </p:cNvPicPr>
          <p:nvPr/>
        </p:nvPicPr>
        <p:blipFill>
          <a:blip r:embed="rId2"/>
          <a:stretch>
            <a:fillRect/>
          </a:stretch>
        </p:blipFill>
        <p:spPr>
          <a:xfrm>
            <a:off x="581119" y="848564"/>
            <a:ext cx="3436623" cy="5366499"/>
          </a:xfrm>
          <a:prstGeom prst="rect">
            <a:avLst/>
          </a:prstGeom>
        </p:spPr>
      </p:pic>
      <p:pic>
        <p:nvPicPr>
          <p:cNvPr id="10" name="図 9"/>
          <p:cNvPicPr>
            <a:picLocks noChangeAspect="1"/>
          </p:cNvPicPr>
          <p:nvPr/>
        </p:nvPicPr>
        <p:blipFill>
          <a:blip r:embed="rId3"/>
          <a:stretch>
            <a:fillRect/>
          </a:stretch>
        </p:blipFill>
        <p:spPr>
          <a:xfrm>
            <a:off x="5261521" y="963895"/>
            <a:ext cx="4099232" cy="4928756"/>
          </a:xfrm>
          <a:prstGeom prst="rect">
            <a:avLst/>
          </a:prstGeom>
        </p:spPr>
      </p:pic>
      <p:sp>
        <p:nvSpPr>
          <p:cNvPr id="21" name="正方形/長方形 3"/>
          <p:cNvSpPr/>
          <p:nvPr/>
        </p:nvSpPr>
        <p:spPr>
          <a:xfrm>
            <a:off x="0" y="641833"/>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ManyToOne</a:t>
            </a:r>
            <a:endParaRPr lang="en-US" sz="2167" dirty="0">
              <a:latin typeface="Times New Roman" panose="02020603050405020304" pitchFamily="18" charset="0"/>
              <a:cs typeface="Times New Roman" panose="02020603050405020304" pitchFamily="18" charset="0"/>
            </a:endParaRPr>
          </a:p>
        </p:txBody>
      </p:sp>
      <p:sp>
        <p:nvSpPr>
          <p:cNvPr id="11" name="正方形/長方形 10"/>
          <p:cNvSpPr/>
          <p:nvPr/>
        </p:nvSpPr>
        <p:spPr>
          <a:xfrm>
            <a:off x="766167" y="3127177"/>
            <a:ext cx="1238250" cy="301823"/>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正方形/長方形 14"/>
          <p:cNvSpPr/>
          <p:nvPr/>
        </p:nvSpPr>
        <p:spPr>
          <a:xfrm>
            <a:off x="5695950" y="2074664"/>
            <a:ext cx="2166937" cy="34825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22" name="角丸四角形吹き出し 21"/>
          <p:cNvSpPr/>
          <p:nvPr/>
        </p:nvSpPr>
        <p:spPr>
          <a:xfrm>
            <a:off x="2075926" y="1818695"/>
            <a:ext cx="2522934" cy="1199554"/>
          </a:xfrm>
          <a:prstGeom prst="wedgeRoundRectCallout">
            <a:avLst>
              <a:gd name="adj1" fmla="val -45680"/>
              <a:gd name="adj2" fmla="val 5862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Annotatin</a:t>
            </a:r>
            <a:r>
              <a:rPr lang="en-US" sz="867" dirty="0"/>
              <a:t> </a:t>
            </a:r>
            <a:r>
              <a:rPr lang="en-US" sz="867" dirty="0">
                <a:latin typeface="Times New Roman" panose="02020603050405020304" pitchFamily="18" charset="0"/>
                <a:cs typeface="Times New Roman" panose="02020603050405020304" pitchFamily="18" charset="0"/>
              </a:rPr>
              <a:t>@</a:t>
            </a:r>
            <a:r>
              <a:rPr lang="en-US" sz="867" dirty="0" err="1">
                <a:latin typeface="Times New Roman" panose="02020603050405020304" pitchFamily="18" charset="0"/>
                <a:cs typeface="Times New Roman" panose="02020603050405020304" pitchFamily="18" charset="0"/>
              </a:rPr>
              <a:t>ManyToOne</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cho</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phép</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ánh</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xạ</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tới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khóa</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ngoại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là</a:t>
            </a:r>
            <a:r>
              <a:rPr lang="en-US" sz="867" dirty="0">
                <a:latin typeface="Times New Roman" panose="02020603050405020304" pitchFamily="18" charset="0"/>
                <a:cs typeface="Times New Roman" panose="02020603050405020304" pitchFamily="18" charset="0"/>
              </a:rPr>
              <a:t> column “</a:t>
            </a:r>
            <a:r>
              <a:rPr lang="en-US" sz="867" dirty="0" err="1">
                <a:latin typeface="Times New Roman" panose="02020603050405020304" pitchFamily="18" charset="0"/>
                <a:cs typeface="Times New Roman" panose="02020603050405020304" pitchFamily="18" charset="0"/>
              </a:rPr>
              <a:t>ta_code</a:t>
            </a:r>
            <a:r>
              <a:rPr lang="en-US" sz="867" dirty="0">
                <a:latin typeface="Times New Roman" panose="02020603050405020304" pitchFamily="18" charset="0"/>
                <a:cs typeface="Times New Roman" panose="02020603050405020304" pitchFamily="18" charset="0"/>
              </a:rPr>
              <a:t>”</a:t>
            </a:r>
            <a:endParaRPr lang="en-US" sz="867" dirty="0"/>
          </a:p>
        </p:txBody>
      </p:sp>
    </p:spTree>
    <p:extLst>
      <p:ext uri="{BB962C8B-B14F-4D97-AF65-F5344CB8AC3E}">
        <p14:creationId xmlns:p14="http://schemas.microsoft.com/office/powerpoint/2010/main" val="3554896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pic>
        <p:nvPicPr>
          <p:cNvPr id="2" name="図 1"/>
          <p:cNvPicPr>
            <a:picLocks noChangeAspect="1"/>
          </p:cNvPicPr>
          <p:nvPr/>
        </p:nvPicPr>
        <p:blipFill>
          <a:blip r:embed="rId3"/>
          <a:stretch>
            <a:fillRect/>
          </a:stretch>
        </p:blipFill>
        <p:spPr>
          <a:xfrm>
            <a:off x="448865" y="1463460"/>
            <a:ext cx="8211146" cy="4447704"/>
          </a:xfrm>
          <a:prstGeom prst="rect">
            <a:avLst/>
          </a:prstGeom>
        </p:spPr>
      </p:pic>
      <p:grpSp>
        <p:nvGrpSpPr>
          <p:cNvPr id="8" name="グループ化 7"/>
          <p:cNvGrpSpPr/>
          <p:nvPr/>
        </p:nvGrpSpPr>
        <p:grpSpPr>
          <a:xfrm>
            <a:off x="1716847" y="1871379"/>
            <a:ext cx="4691097" cy="2873262"/>
            <a:chOff x="4095482" y="2628912"/>
            <a:chExt cx="8660486" cy="5304483"/>
          </a:xfrm>
        </p:grpSpPr>
        <p:sp>
          <p:nvSpPr>
            <p:cNvPr id="7" name="正方形/長方形 6"/>
            <p:cNvSpPr/>
            <p:nvPr/>
          </p:nvSpPr>
          <p:spPr>
            <a:xfrm>
              <a:off x="4095482" y="3361385"/>
              <a:ext cx="2145386" cy="3916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581757" y="3361385"/>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555568" y="6690383"/>
              <a:ext cx="3200400" cy="12430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6" y="2628912"/>
              <a:ext cx="4338619" cy="563075"/>
            </a:xfrm>
            <a:prstGeom prst="wedgeRoundRectCallout">
              <a:avLst>
                <a:gd name="adj1" fmla="val -57085"/>
                <a:gd name="adj2" fmla="val 7725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http://localhost:8080/api/v1/user/{userId}</a:t>
              </a:r>
            </a:p>
          </p:txBody>
        </p:sp>
      </p:grpSp>
      <p:sp>
        <p:nvSpPr>
          <p:cNvPr id="3" name="角丸四角形吹き出し 2"/>
          <p:cNvSpPr/>
          <p:nvPr/>
        </p:nvSpPr>
        <p:spPr>
          <a:xfrm>
            <a:off x="5990035" y="4953596"/>
            <a:ext cx="2283024" cy="626864"/>
          </a:xfrm>
          <a:prstGeom prst="wedgeRoundRectCallout">
            <a:avLst>
              <a:gd name="adj1" fmla="val -36087"/>
              <a:gd name="adj2" fmla="val -8194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Thông</a:t>
            </a:r>
            <a:r>
              <a:rPr lang="en-US" sz="867" dirty="0"/>
              <a:t> tin </a:t>
            </a:r>
            <a:r>
              <a:rPr lang="en-US" sz="867" dirty="0" err="1"/>
              <a:t>TravelAgency</a:t>
            </a:r>
            <a:r>
              <a:rPr lang="en-US" sz="867" dirty="0"/>
              <a:t> </a:t>
            </a:r>
            <a:r>
              <a:rPr lang="en-US" sz="867" dirty="0" err="1"/>
              <a:t>liên</a:t>
            </a:r>
            <a:r>
              <a:rPr lang="en-US" sz="867" dirty="0"/>
              <a:t> </a:t>
            </a:r>
            <a:r>
              <a:rPr lang="en-US" sz="867" dirty="0" err="1"/>
              <a:t>kết</a:t>
            </a:r>
            <a:r>
              <a:rPr lang="en-US" sz="867" dirty="0"/>
              <a:t> </a:t>
            </a:r>
            <a:r>
              <a:rPr lang="en-US" sz="867" dirty="0" err="1"/>
              <a:t>với</a:t>
            </a:r>
            <a:r>
              <a:rPr lang="en-US" sz="867" dirty="0"/>
              <a:t> User </a:t>
            </a:r>
            <a:r>
              <a:rPr lang="en-US" sz="867" dirty="0" err="1"/>
              <a:t>thông</a:t>
            </a:r>
            <a:r>
              <a:rPr lang="en-US" sz="867" dirty="0"/>
              <a:t> qua </a:t>
            </a:r>
            <a:r>
              <a:rPr lang="en-US" sz="867" dirty="0" err="1"/>
              <a:t>taCode</a:t>
            </a:r>
            <a:r>
              <a:rPr lang="en-US" sz="867" dirty="0"/>
              <a:t> </a:t>
            </a:r>
            <a:r>
              <a:rPr lang="en-US" sz="867" dirty="0" err="1"/>
              <a:t>cũng</a:t>
            </a:r>
            <a:r>
              <a:rPr lang="en-US" sz="867" dirty="0"/>
              <a:t> </a:t>
            </a:r>
            <a:r>
              <a:rPr lang="en-US" sz="867" dirty="0" err="1"/>
              <a:t>được</a:t>
            </a:r>
            <a:r>
              <a:rPr lang="en-US" sz="867" dirty="0"/>
              <a:t> get </a:t>
            </a:r>
            <a:r>
              <a:rPr lang="en-US" sz="867" dirty="0" err="1"/>
              <a:t>mà</a:t>
            </a:r>
            <a:r>
              <a:rPr lang="en-US" sz="867" dirty="0"/>
              <a:t> </a:t>
            </a:r>
            <a:r>
              <a:rPr lang="en-US" sz="867" dirty="0" err="1"/>
              <a:t>không</a:t>
            </a:r>
            <a:r>
              <a:rPr lang="en-US" sz="867" dirty="0"/>
              <a:t> </a:t>
            </a:r>
            <a:r>
              <a:rPr lang="en-US" sz="867" dirty="0" err="1"/>
              <a:t>cần</a:t>
            </a:r>
            <a:r>
              <a:rPr lang="en-US" sz="867" dirty="0"/>
              <a:t> </a:t>
            </a:r>
            <a:r>
              <a:rPr lang="en-US" sz="867" dirty="0" err="1"/>
              <a:t>thực</a:t>
            </a:r>
            <a:r>
              <a:rPr lang="en-US" sz="867" dirty="0"/>
              <a:t> </a:t>
            </a:r>
            <a:r>
              <a:rPr lang="en-US" sz="867" dirty="0" err="1"/>
              <a:t>hiện</a:t>
            </a:r>
            <a:r>
              <a:rPr lang="en-US" sz="867" dirty="0"/>
              <a:t> </a:t>
            </a:r>
            <a:r>
              <a:rPr lang="en-US" sz="867" dirty="0" err="1"/>
              <a:t>câu</a:t>
            </a:r>
            <a:r>
              <a:rPr lang="en-US" sz="867" dirty="0"/>
              <a:t> </a:t>
            </a:r>
            <a:r>
              <a:rPr lang="en-US" sz="867" dirty="0" err="1"/>
              <a:t>lệnh</a:t>
            </a:r>
            <a:r>
              <a:rPr lang="en-US" sz="867" dirty="0"/>
              <a:t> Join </a:t>
            </a:r>
            <a:r>
              <a:rPr lang="en-US" sz="867" dirty="0" err="1"/>
              <a:t>thông</a:t>
            </a:r>
            <a:r>
              <a:rPr lang="en-US" sz="867" dirty="0"/>
              <a:t> </a:t>
            </a:r>
            <a:r>
              <a:rPr lang="en-US" sz="867" dirty="0" err="1"/>
              <a:t>thường</a:t>
            </a:r>
            <a:endParaRPr lang="en-US" sz="867" dirty="0"/>
          </a:p>
        </p:txBody>
      </p:sp>
    </p:spTree>
    <p:extLst>
      <p:ext uri="{BB962C8B-B14F-4D97-AF65-F5344CB8AC3E}">
        <p14:creationId xmlns:p14="http://schemas.microsoft.com/office/powerpoint/2010/main" val="100110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0" y="642938"/>
            <a:ext cx="422378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OneToMany</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một</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chiều</a:t>
            </a:r>
            <a:endParaRPr lang="en-US" sz="2167" dirty="0">
              <a:latin typeface="Times New Roman" panose="02020603050405020304" pitchFamily="18" charset="0"/>
              <a:cs typeface="Times New Roman" panose="02020603050405020304" pitchFamily="18" charset="0"/>
            </a:endParaRPr>
          </a:p>
        </p:txBody>
      </p:sp>
      <p:grpSp>
        <p:nvGrpSpPr>
          <p:cNvPr id="6" name="グループ化 5"/>
          <p:cNvGrpSpPr/>
          <p:nvPr/>
        </p:nvGrpSpPr>
        <p:grpSpPr>
          <a:xfrm>
            <a:off x="192766" y="1181823"/>
            <a:ext cx="4324470" cy="4938477"/>
            <a:chOff x="355876" y="994865"/>
            <a:chExt cx="7983636" cy="9117189"/>
          </a:xfrm>
        </p:grpSpPr>
        <p:pic>
          <p:nvPicPr>
            <p:cNvPr id="4" name="図 3"/>
            <p:cNvPicPr>
              <a:picLocks noChangeAspect="1"/>
            </p:cNvPicPr>
            <p:nvPr/>
          </p:nvPicPr>
          <p:blipFill>
            <a:blip r:embed="rId2"/>
            <a:stretch>
              <a:fillRect/>
            </a:stretch>
          </p:blipFill>
          <p:spPr>
            <a:xfrm>
              <a:off x="355876" y="994865"/>
              <a:ext cx="7983636" cy="9117189"/>
            </a:xfrm>
            <a:prstGeom prst="rect">
              <a:avLst/>
            </a:prstGeom>
          </p:spPr>
        </p:pic>
        <p:sp>
          <p:nvSpPr>
            <p:cNvPr id="5" name="正方形/長方形 4"/>
            <p:cNvSpPr/>
            <p:nvPr/>
          </p:nvSpPr>
          <p:spPr>
            <a:xfrm>
              <a:off x="1100138" y="8586788"/>
              <a:ext cx="6400800" cy="442912"/>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grpSp>
        <p:nvGrpSpPr>
          <p:cNvPr id="8" name="グループ化 7"/>
          <p:cNvGrpSpPr/>
          <p:nvPr/>
        </p:nvGrpSpPr>
        <p:grpSpPr>
          <a:xfrm>
            <a:off x="5577281" y="771580"/>
            <a:ext cx="3753686" cy="5348721"/>
            <a:chOff x="10296518" y="237494"/>
            <a:chExt cx="6929881" cy="9874561"/>
          </a:xfrm>
        </p:grpSpPr>
        <p:pic>
          <p:nvPicPr>
            <p:cNvPr id="2" name="図 1"/>
            <p:cNvPicPr>
              <a:picLocks noChangeAspect="1"/>
            </p:cNvPicPr>
            <p:nvPr/>
          </p:nvPicPr>
          <p:blipFill>
            <a:blip r:embed="rId3"/>
            <a:stretch>
              <a:fillRect/>
            </a:stretch>
          </p:blipFill>
          <p:spPr>
            <a:xfrm>
              <a:off x="10296518" y="237494"/>
              <a:ext cx="6929881" cy="9874561"/>
            </a:xfrm>
            <a:prstGeom prst="rect">
              <a:avLst/>
            </a:prstGeom>
          </p:spPr>
        </p:pic>
        <p:sp>
          <p:nvSpPr>
            <p:cNvPr id="7" name="正方形/長方形 6"/>
            <p:cNvSpPr/>
            <p:nvPr/>
          </p:nvSpPr>
          <p:spPr>
            <a:xfrm>
              <a:off x="11015663" y="5357813"/>
              <a:ext cx="3014662" cy="37147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grpSp>
      <p:sp>
        <p:nvSpPr>
          <p:cNvPr id="9" name="角丸四角形吹き出し 8"/>
          <p:cNvSpPr/>
          <p:nvPr/>
        </p:nvSpPr>
        <p:spPr>
          <a:xfrm>
            <a:off x="2135981" y="4226124"/>
            <a:ext cx="2275285" cy="944166"/>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latin typeface="Times New Roman" panose="02020603050405020304" pitchFamily="18" charset="0"/>
                <a:cs typeface="Times New Roman" panose="02020603050405020304" pitchFamily="18" charset="0"/>
              </a:rPr>
              <a:t>Annotatin</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OneToMany</a:t>
            </a:r>
            <a:r>
              <a:rPr lang="en-US" sz="867" dirty="0">
                <a:latin typeface="Times New Roman" panose="02020603050405020304" pitchFamily="18" charset="0"/>
                <a:cs typeface="Times New Roman" panose="02020603050405020304" pitchFamily="18" charset="0"/>
              </a:rPr>
              <a:t> map </a:t>
            </a:r>
            <a:r>
              <a:rPr lang="en-US" sz="867" dirty="0" err="1">
                <a:latin typeface="Times New Roman" panose="02020603050405020304" pitchFamily="18" charset="0"/>
                <a:cs typeface="Times New Roman" panose="02020603050405020304" pitchFamily="18" charset="0"/>
              </a:rPr>
              <a:t>giữa</a:t>
            </a:r>
            <a:r>
              <a:rPr lang="en-US" sz="867" dirty="0">
                <a:latin typeface="Times New Roman" panose="02020603050405020304" pitchFamily="18" charset="0"/>
                <a:cs typeface="Times New Roman" panose="02020603050405020304" pitchFamily="18" charset="0"/>
              </a:rPr>
              <a:t> entity Facility </a:t>
            </a:r>
            <a:r>
              <a:rPr lang="en-US" sz="867" dirty="0" err="1">
                <a:latin typeface="Times New Roman" panose="02020603050405020304" pitchFamily="18" charset="0"/>
                <a:cs typeface="Times New Roman" panose="02020603050405020304" pitchFamily="18" charset="0"/>
              </a:rPr>
              <a:t>và</a:t>
            </a:r>
            <a:r>
              <a:rPr lang="en-US" sz="867" dirty="0">
                <a:latin typeface="Times New Roman" panose="02020603050405020304" pitchFamily="18" charset="0"/>
                <a:cs typeface="Times New Roman" panose="02020603050405020304" pitchFamily="18" charset="0"/>
              </a:rPr>
              <a:t> Users </a:t>
            </a:r>
            <a:r>
              <a:rPr lang="en-US" sz="867" dirty="0" err="1">
                <a:latin typeface="Times New Roman" panose="02020603050405020304" pitchFamily="18" charset="0"/>
                <a:cs typeface="Times New Roman" panose="02020603050405020304" pitchFamily="18" charset="0"/>
              </a:rPr>
              <a:t>thông</a:t>
            </a:r>
            <a:r>
              <a:rPr lang="en-US" sz="867" dirty="0">
                <a:latin typeface="Times New Roman" panose="02020603050405020304" pitchFamily="18" charset="0"/>
                <a:cs typeface="Times New Roman" panose="02020603050405020304" pitchFamily="18" charset="0"/>
              </a:rPr>
              <a:t> qua </a:t>
            </a:r>
            <a:r>
              <a:rPr lang="en-US" sz="867" dirty="0" err="1">
                <a:latin typeface="Times New Roman" panose="02020603050405020304" pitchFamily="18" charset="0"/>
                <a:cs typeface="Times New Roman" panose="02020603050405020304" pitchFamily="18" charset="0"/>
              </a:rPr>
              <a:t>thuộc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tính</a:t>
            </a:r>
            <a:r>
              <a:rPr lang="en-US" sz="867" dirty="0">
                <a:latin typeface="Times New Roman" panose="02020603050405020304" pitchFamily="18" charset="0"/>
                <a:cs typeface="Times New Roman" panose="02020603050405020304" pitchFamily="18" charset="0"/>
              </a:rPr>
              <a:t> </a:t>
            </a:r>
            <a:r>
              <a:rPr lang="en-US" sz="867" u="sng" dirty="0" err="1">
                <a:latin typeface="Times New Roman" panose="02020603050405020304" pitchFamily="18" charset="0"/>
                <a:cs typeface="Times New Roman" panose="02020603050405020304" pitchFamily="18" charset="0"/>
              </a:rPr>
              <a:t>commonFacilityCode</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được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khai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báo</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trong</a:t>
            </a:r>
            <a:r>
              <a:rPr lang="en-US" sz="867" dirty="0">
                <a:latin typeface="Times New Roman" panose="02020603050405020304" pitchFamily="18" charset="0"/>
                <a:cs typeface="Times New Roman" panose="02020603050405020304" pitchFamily="18" charset="0"/>
              </a:rPr>
              <a:t> entity Users</a:t>
            </a:r>
          </a:p>
        </p:txBody>
      </p:sp>
    </p:spTree>
    <p:extLst>
      <p:ext uri="{BB962C8B-B14F-4D97-AF65-F5344CB8AC3E}">
        <p14:creationId xmlns:p14="http://schemas.microsoft.com/office/powerpoint/2010/main" val="541903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3553313"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Get All </a:t>
            </a:r>
            <a:r>
              <a:rPr lang="en-US" sz="2167" dirty="0" err="1">
                <a:latin typeface="Times New Roman" panose="02020603050405020304" pitchFamily="18" charset="0"/>
                <a:cs typeface="Times New Roman" panose="02020603050405020304" pitchFamily="18" charset="0"/>
              </a:rPr>
              <a:t>FacilityTaConnect</a:t>
            </a:r>
            <a:endParaRPr lang="en-US" sz="2167" dirty="0">
              <a:latin typeface="Times New Roman" panose="02020603050405020304" pitchFamily="18" charset="0"/>
              <a:cs typeface="Times New Roman" panose="02020603050405020304" pitchFamily="18" charset="0"/>
            </a:endParaRPr>
          </a:p>
        </p:txBody>
      </p:sp>
      <p:sp>
        <p:nvSpPr>
          <p:cNvPr id="3" name="角丸四角形吹き出し 2"/>
          <p:cNvSpPr/>
          <p:nvPr/>
        </p:nvSpPr>
        <p:spPr>
          <a:xfrm>
            <a:off x="5990035" y="4953596"/>
            <a:ext cx="2283024" cy="626864"/>
          </a:xfrm>
          <a:prstGeom prst="wedgeRoundRectCallout">
            <a:avLst>
              <a:gd name="adj1" fmla="val -36087"/>
              <a:gd name="adj2" fmla="val -8194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Thông</a:t>
            </a:r>
            <a:r>
              <a:rPr lang="en-US" sz="867" dirty="0"/>
              <a:t> tin </a:t>
            </a:r>
            <a:r>
              <a:rPr lang="en-US" sz="867" dirty="0" err="1"/>
              <a:t>TravelAgency</a:t>
            </a:r>
            <a:r>
              <a:rPr lang="en-US" sz="867" dirty="0"/>
              <a:t> </a:t>
            </a:r>
            <a:r>
              <a:rPr lang="en-US" sz="867" dirty="0" err="1"/>
              <a:t>liên</a:t>
            </a:r>
            <a:r>
              <a:rPr lang="en-US" sz="867" dirty="0"/>
              <a:t> </a:t>
            </a:r>
            <a:r>
              <a:rPr lang="en-US" sz="867" dirty="0" err="1"/>
              <a:t>kết</a:t>
            </a:r>
            <a:r>
              <a:rPr lang="en-US" sz="867" dirty="0"/>
              <a:t> </a:t>
            </a:r>
            <a:r>
              <a:rPr lang="en-US" sz="867" dirty="0" err="1"/>
              <a:t>với</a:t>
            </a:r>
            <a:r>
              <a:rPr lang="en-US" sz="867" dirty="0"/>
              <a:t> User </a:t>
            </a:r>
            <a:r>
              <a:rPr lang="en-US" sz="867" dirty="0" err="1"/>
              <a:t>thông</a:t>
            </a:r>
            <a:r>
              <a:rPr lang="en-US" sz="867" dirty="0"/>
              <a:t> qua </a:t>
            </a:r>
            <a:r>
              <a:rPr lang="en-US" sz="867" dirty="0" err="1"/>
              <a:t>taCode</a:t>
            </a:r>
            <a:r>
              <a:rPr lang="en-US" sz="867" dirty="0"/>
              <a:t> </a:t>
            </a:r>
            <a:r>
              <a:rPr lang="en-US" sz="867" dirty="0" err="1"/>
              <a:t>cũng</a:t>
            </a:r>
            <a:r>
              <a:rPr lang="en-US" sz="867" dirty="0"/>
              <a:t> </a:t>
            </a:r>
            <a:r>
              <a:rPr lang="en-US" sz="867" dirty="0" err="1"/>
              <a:t>được</a:t>
            </a:r>
            <a:r>
              <a:rPr lang="en-US" sz="867" dirty="0"/>
              <a:t> get </a:t>
            </a:r>
            <a:r>
              <a:rPr lang="en-US" sz="867" dirty="0" err="1"/>
              <a:t>mà</a:t>
            </a:r>
            <a:r>
              <a:rPr lang="en-US" sz="867" dirty="0"/>
              <a:t> </a:t>
            </a:r>
            <a:r>
              <a:rPr lang="en-US" sz="867" dirty="0" err="1"/>
              <a:t>không</a:t>
            </a:r>
            <a:r>
              <a:rPr lang="en-US" sz="867" dirty="0"/>
              <a:t> </a:t>
            </a:r>
            <a:r>
              <a:rPr lang="en-US" sz="867" dirty="0" err="1"/>
              <a:t>cần</a:t>
            </a:r>
            <a:r>
              <a:rPr lang="en-US" sz="867" dirty="0"/>
              <a:t> </a:t>
            </a:r>
            <a:r>
              <a:rPr lang="en-US" sz="867" dirty="0" err="1"/>
              <a:t>thực</a:t>
            </a:r>
            <a:r>
              <a:rPr lang="en-US" sz="867" dirty="0"/>
              <a:t> </a:t>
            </a:r>
            <a:r>
              <a:rPr lang="en-US" sz="867" dirty="0" err="1"/>
              <a:t>hiện</a:t>
            </a:r>
            <a:r>
              <a:rPr lang="en-US" sz="867" dirty="0"/>
              <a:t> </a:t>
            </a:r>
            <a:r>
              <a:rPr lang="en-US" sz="867" dirty="0" err="1"/>
              <a:t>câu</a:t>
            </a:r>
            <a:r>
              <a:rPr lang="en-US" sz="867" dirty="0"/>
              <a:t> </a:t>
            </a:r>
            <a:r>
              <a:rPr lang="en-US" sz="867" dirty="0" err="1"/>
              <a:t>lệnh</a:t>
            </a:r>
            <a:r>
              <a:rPr lang="en-US" sz="867" dirty="0"/>
              <a:t> Join </a:t>
            </a:r>
            <a:r>
              <a:rPr lang="en-US" sz="867" dirty="0" err="1"/>
              <a:t>thông</a:t>
            </a:r>
            <a:r>
              <a:rPr lang="en-US" sz="867" dirty="0"/>
              <a:t> </a:t>
            </a:r>
            <a:r>
              <a:rPr lang="en-US" sz="867" dirty="0" err="1"/>
              <a:t>thường</a:t>
            </a:r>
            <a:endParaRPr lang="en-US" sz="867" dirty="0"/>
          </a:p>
        </p:txBody>
      </p:sp>
      <p:pic>
        <p:nvPicPr>
          <p:cNvPr id="4" name="図 3"/>
          <p:cNvPicPr>
            <a:picLocks noChangeAspect="1"/>
          </p:cNvPicPr>
          <p:nvPr/>
        </p:nvPicPr>
        <p:blipFill>
          <a:blip r:embed="rId3"/>
          <a:stretch>
            <a:fillRect/>
          </a:stretch>
        </p:blipFill>
        <p:spPr>
          <a:xfrm>
            <a:off x="587380" y="1341859"/>
            <a:ext cx="8667750" cy="4695031"/>
          </a:xfrm>
          <a:prstGeom prst="rect">
            <a:avLst/>
          </a:prstGeom>
        </p:spPr>
      </p:pic>
      <p:grpSp>
        <p:nvGrpSpPr>
          <p:cNvPr id="8" name="グループ化 7"/>
          <p:cNvGrpSpPr/>
          <p:nvPr/>
        </p:nvGrpSpPr>
        <p:grpSpPr>
          <a:xfrm>
            <a:off x="1871267" y="1816084"/>
            <a:ext cx="5852317" cy="4159068"/>
            <a:chOff x="4095481" y="2628912"/>
            <a:chExt cx="10804277" cy="7678279"/>
          </a:xfrm>
        </p:grpSpPr>
        <p:sp>
          <p:nvSpPr>
            <p:cNvPr id="7" name="正方形/長方形 6"/>
            <p:cNvSpPr/>
            <p:nvPr/>
          </p:nvSpPr>
          <p:spPr>
            <a:xfrm>
              <a:off x="4095481" y="3361385"/>
              <a:ext cx="2531815" cy="391645"/>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8997549" y="3355481"/>
              <a:ext cx="1429555" cy="29621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4" name="正方形/長方形 13"/>
            <p:cNvSpPr/>
            <p:nvPr/>
          </p:nvSpPr>
          <p:spPr>
            <a:xfrm>
              <a:off x="9555567" y="4482303"/>
              <a:ext cx="5344191" cy="582488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5" name="角丸四角形吹き出し 14"/>
            <p:cNvSpPr/>
            <p:nvPr/>
          </p:nvSpPr>
          <p:spPr>
            <a:xfrm>
              <a:off x="5859886" y="2628912"/>
              <a:ext cx="4867923" cy="563075"/>
            </a:xfrm>
            <a:prstGeom prst="wedgeRoundRectCallout">
              <a:avLst>
                <a:gd name="adj1" fmla="val -57085"/>
                <a:gd name="adj2" fmla="val 7725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a:t>http://localhost:8080/api/v2/facility?id=0000100</a:t>
              </a:r>
            </a:p>
          </p:txBody>
        </p:sp>
      </p:grpSp>
      <p:sp>
        <p:nvSpPr>
          <p:cNvPr id="5" name="角丸四角形吹き出し 4"/>
          <p:cNvSpPr/>
          <p:nvPr/>
        </p:nvSpPr>
        <p:spPr>
          <a:xfrm>
            <a:off x="7131546" y="2904807"/>
            <a:ext cx="2298502" cy="928688"/>
          </a:xfrm>
          <a:prstGeom prst="wedgeRoundRectCallout">
            <a:avLst>
              <a:gd name="adj1" fmla="val -92126"/>
              <a:gd name="adj2" fmla="val -4166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Có</a:t>
            </a:r>
            <a:r>
              <a:rPr lang="en-US" sz="867" dirty="0"/>
              <a:t> 2 user </a:t>
            </a:r>
            <a:r>
              <a:rPr lang="en-US" sz="867" dirty="0" err="1"/>
              <a:t>tương</a:t>
            </a:r>
            <a:r>
              <a:rPr lang="en-US" sz="867" dirty="0"/>
              <a:t> </a:t>
            </a:r>
            <a:r>
              <a:rPr lang="en-US" sz="867" dirty="0" err="1"/>
              <a:t>ứng</a:t>
            </a:r>
            <a:r>
              <a:rPr lang="en-US" sz="867" dirty="0"/>
              <a:t> </a:t>
            </a:r>
            <a:r>
              <a:rPr lang="en-US" sz="867" dirty="0" err="1"/>
              <a:t>với</a:t>
            </a:r>
            <a:r>
              <a:rPr lang="en-US" sz="867" dirty="0"/>
              <a:t> “</a:t>
            </a:r>
            <a:r>
              <a:rPr lang="en-US" sz="867" dirty="0" err="1"/>
              <a:t>commonFacilityCode</a:t>
            </a:r>
            <a:r>
              <a:rPr lang="en-US" sz="867" dirty="0"/>
              <a:t>” = “0000100”</a:t>
            </a:r>
          </a:p>
          <a:p>
            <a:pPr algn="ctr"/>
            <a:r>
              <a:rPr lang="en-US" sz="867" dirty="0"/>
              <a:t> </a:t>
            </a:r>
          </a:p>
        </p:txBody>
      </p:sp>
    </p:spTree>
    <p:extLst>
      <p:ext uri="{BB962C8B-B14F-4D97-AF65-F5344CB8AC3E}">
        <p14:creationId xmlns:p14="http://schemas.microsoft.com/office/powerpoint/2010/main" val="3602501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0" y="642938"/>
            <a:ext cx="422378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OneToMany</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hai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chiều</a:t>
            </a:r>
            <a:endParaRPr lang="en-US" sz="2167" dirty="0">
              <a:latin typeface="Times New Roman" panose="02020603050405020304" pitchFamily="18" charset="0"/>
              <a:cs typeface="Times New Roman" panose="02020603050405020304" pitchFamily="18" charset="0"/>
            </a:endParaRPr>
          </a:p>
        </p:txBody>
      </p:sp>
      <p:pic>
        <p:nvPicPr>
          <p:cNvPr id="10" name="図 9"/>
          <p:cNvPicPr>
            <a:picLocks noChangeAspect="1"/>
          </p:cNvPicPr>
          <p:nvPr/>
        </p:nvPicPr>
        <p:blipFill>
          <a:blip r:embed="rId2"/>
          <a:stretch>
            <a:fillRect/>
          </a:stretch>
        </p:blipFill>
        <p:spPr>
          <a:xfrm>
            <a:off x="5378442" y="790046"/>
            <a:ext cx="3699071" cy="5276454"/>
          </a:xfrm>
          <a:prstGeom prst="rect">
            <a:avLst/>
          </a:prstGeom>
        </p:spPr>
      </p:pic>
      <p:sp>
        <p:nvSpPr>
          <p:cNvPr id="7" name="正方形/長方形 6"/>
          <p:cNvSpPr/>
          <p:nvPr/>
        </p:nvSpPr>
        <p:spPr>
          <a:xfrm>
            <a:off x="5595035" y="3521869"/>
            <a:ext cx="1632942" cy="20121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pic>
        <p:nvPicPr>
          <p:cNvPr id="11" name="図 10"/>
          <p:cNvPicPr>
            <a:picLocks noChangeAspect="1"/>
          </p:cNvPicPr>
          <p:nvPr/>
        </p:nvPicPr>
        <p:blipFill>
          <a:blip r:embed="rId3"/>
          <a:stretch>
            <a:fillRect/>
          </a:stretch>
        </p:blipFill>
        <p:spPr>
          <a:xfrm>
            <a:off x="198020" y="1169166"/>
            <a:ext cx="4120377" cy="4705407"/>
          </a:xfrm>
          <a:prstGeom prst="rect">
            <a:avLst/>
          </a:prstGeom>
        </p:spPr>
      </p:pic>
      <p:sp>
        <p:nvSpPr>
          <p:cNvPr id="9" name="角丸四角形吹き出し 8"/>
          <p:cNvSpPr/>
          <p:nvPr/>
        </p:nvSpPr>
        <p:spPr>
          <a:xfrm>
            <a:off x="2135981" y="3986213"/>
            <a:ext cx="2275285" cy="944166"/>
          </a:xfrm>
          <a:prstGeom prst="wedgeRoundRectCallou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latin typeface="Times New Roman" panose="02020603050405020304" pitchFamily="18" charset="0"/>
                <a:cs typeface="Times New Roman" panose="02020603050405020304" pitchFamily="18" charset="0"/>
              </a:rPr>
              <a:t>Annotatin</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OneToMany</a:t>
            </a:r>
            <a:r>
              <a:rPr lang="en-US" sz="867" dirty="0">
                <a:latin typeface="Times New Roman" panose="02020603050405020304" pitchFamily="18" charset="0"/>
                <a:cs typeface="Times New Roman" panose="02020603050405020304" pitchFamily="18" charset="0"/>
              </a:rPr>
              <a:t> map </a:t>
            </a:r>
            <a:r>
              <a:rPr lang="en-US" sz="867" dirty="0" err="1">
                <a:latin typeface="Times New Roman" panose="02020603050405020304" pitchFamily="18" charset="0"/>
                <a:cs typeface="Times New Roman" panose="02020603050405020304" pitchFamily="18" charset="0"/>
              </a:rPr>
              <a:t>giữa</a:t>
            </a:r>
            <a:r>
              <a:rPr lang="en-US" sz="867" dirty="0">
                <a:latin typeface="Times New Roman" panose="02020603050405020304" pitchFamily="18" charset="0"/>
                <a:cs typeface="Times New Roman" panose="02020603050405020304" pitchFamily="18" charset="0"/>
              </a:rPr>
              <a:t> entity Facility </a:t>
            </a:r>
            <a:r>
              <a:rPr lang="en-US" sz="867" dirty="0" err="1">
                <a:latin typeface="Times New Roman" panose="02020603050405020304" pitchFamily="18" charset="0"/>
                <a:cs typeface="Times New Roman" panose="02020603050405020304" pitchFamily="18" charset="0"/>
              </a:rPr>
              <a:t>và</a:t>
            </a:r>
            <a:r>
              <a:rPr lang="en-US" sz="867" dirty="0">
                <a:latin typeface="Times New Roman" panose="02020603050405020304" pitchFamily="18" charset="0"/>
                <a:cs typeface="Times New Roman" panose="02020603050405020304" pitchFamily="18" charset="0"/>
              </a:rPr>
              <a:t> Users </a:t>
            </a:r>
            <a:r>
              <a:rPr lang="en-US" sz="867" dirty="0" err="1">
                <a:latin typeface="Times New Roman" panose="02020603050405020304" pitchFamily="18" charset="0"/>
                <a:cs typeface="Times New Roman" panose="02020603050405020304" pitchFamily="18" charset="0"/>
              </a:rPr>
              <a:t>thông</a:t>
            </a:r>
            <a:r>
              <a:rPr lang="en-US" sz="867" dirty="0">
                <a:latin typeface="Times New Roman" panose="02020603050405020304" pitchFamily="18" charset="0"/>
                <a:cs typeface="Times New Roman" panose="02020603050405020304" pitchFamily="18" charset="0"/>
              </a:rPr>
              <a:t> qua </a:t>
            </a:r>
            <a:r>
              <a:rPr lang="en-US" sz="867" dirty="0" err="1">
                <a:latin typeface="Times New Roman" panose="02020603050405020304" pitchFamily="18" charset="0"/>
                <a:cs typeface="Times New Roman" panose="02020603050405020304" pitchFamily="18" charset="0"/>
              </a:rPr>
              <a:t>thuộc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tính</a:t>
            </a:r>
            <a:r>
              <a:rPr lang="en-US" sz="867" dirty="0">
                <a:latin typeface="Times New Roman" panose="02020603050405020304" pitchFamily="18" charset="0"/>
                <a:cs typeface="Times New Roman" panose="02020603050405020304" pitchFamily="18" charset="0"/>
              </a:rPr>
              <a:t> </a:t>
            </a:r>
            <a:r>
              <a:rPr lang="en-US" sz="867" u="sng" dirty="0">
                <a:latin typeface="Times New Roman" panose="02020603050405020304" pitchFamily="18" charset="0"/>
                <a:cs typeface="Times New Roman" panose="02020603050405020304" pitchFamily="18" charset="0"/>
              </a:rPr>
              <a:t>facility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được</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khai</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báo</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trong</a:t>
            </a:r>
            <a:r>
              <a:rPr lang="en-US" sz="867" dirty="0">
                <a:latin typeface="Times New Roman" panose="02020603050405020304" pitchFamily="18" charset="0"/>
                <a:cs typeface="Times New Roman" panose="02020603050405020304" pitchFamily="18" charset="0"/>
              </a:rPr>
              <a:t> entity Users</a:t>
            </a:r>
          </a:p>
        </p:txBody>
      </p:sp>
      <p:sp>
        <p:nvSpPr>
          <p:cNvPr id="5" name="正方形/長方形 4"/>
          <p:cNvSpPr/>
          <p:nvPr/>
        </p:nvSpPr>
        <p:spPr>
          <a:xfrm>
            <a:off x="595908" y="5054204"/>
            <a:ext cx="3467100" cy="239911"/>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2" name="角丸四角形吹き出し 11"/>
          <p:cNvSpPr/>
          <p:nvPr/>
        </p:nvSpPr>
        <p:spPr>
          <a:xfrm>
            <a:off x="7607499" y="3227784"/>
            <a:ext cx="2105025" cy="758429"/>
          </a:xfrm>
          <a:prstGeom prst="wedgeRoundRectCallout">
            <a:avLst>
              <a:gd name="adj1" fmla="val -63848"/>
              <a:gd name="adj2" fmla="val -765"/>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Khi</a:t>
            </a:r>
            <a:r>
              <a:rPr lang="en-US" sz="867" dirty="0"/>
              <a:t> </a:t>
            </a:r>
            <a:r>
              <a:rPr lang="en-US" sz="867" dirty="0" err="1"/>
              <a:t>liên</a:t>
            </a:r>
            <a:r>
              <a:rPr lang="en-US" sz="867" dirty="0"/>
              <a:t> </a:t>
            </a:r>
            <a:r>
              <a:rPr lang="en-US" sz="867" dirty="0" err="1"/>
              <a:t>kết</a:t>
            </a:r>
            <a:r>
              <a:rPr lang="en-US" sz="867" dirty="0"/>
              <a:t> @</a:t>
            </a:r>
            <a:r>
              <a:rPr lang="en-US" sz="867" dirty="0" err="1"/>
              <a:t>OneToMany</a:t>
            </a:r>
            <a:r>
              <a:rPr lang="en-US" sz="867" dirty="0"/>
              <a:t> 2 </a:t>
            </a:r>
            <a:r>
              <a:rPr lang="en-US" sz="867" dirty="0" err="1"/>
              <a:t>chiều</a:t>
            </a:r>
            <a:r>
              <a:rPr lang="en-US" sz="867" dirty="0"/>
              <a:t>, </a:t>
            </a:r>
            <a:r>
              <a:rPr lang="en-US" sz="867" dirty="0" err="1"/>
              <a:t>thì</a:t>
            </a:r>
            <a:r>
              <a:rPr lang="en-US" sz="867" dirty="0"/>
              <a:t> </a:t>
            </a:r>
            <a:r>
              <a:rPr lang="en-US" sz="867" dirty="0" err="1"/>
              <a:t>tại</a:t>
            </a:r>
            <a:r>
              <a:rPr lang="en-US" sz="867" dirty="0"/>
              <a:t> entity con </a:t>
            </a:r>
            <a:r>
              <a:rPr lang="en-US" sz="867" dirty="0" err="1"/>
              <a:t>cần</a:t>
            </a:r>
            <a:r>
              <a:rPr lang="en-US" sz="867" dirty="0"/>
              <a:t> </a:t>
            </a:r>
            <a:r>
              <a:rPr lang="en-US" sz="867" dirty="0" err="1"/>
              <a:t>có</a:t>
            </a:r>
            <a:r>
              <a:rPr lang="en-US" sz="867" dirty="0"/>
              <a:t> annotation @</a:t>
            </a:r>
            <a:r>
              <a:rPr lang="en-US" sz="867" dirty="0" err="1"/>
              <a:t>ManyToOne</a:t>
            </a:r>
            <a:endParaRPr lang="en-US" sz="867" dirty="0"/>
          </a:p>
        </p:txBody>
      </p:sp>
    </p:spTree>
    <p:extLst>
      <p:ext uri="{BB962C8B-B14F-4D97-AF65-F5344CB8AC3E}">
        <p14:creationId xmlns:p14="http://schemas.microsoft.com/office/powerpoint/2010/main" val="4124662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883349" y="2706057"/>
            <a:ext cx="64490" cy="350312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1" y="647368"/>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OneToOne</a:t>
            </a:r>
            <a:endParaRPr lang="en-US" sz="2167" dirty="0">
              <a:latin typeface="Times New Roman" panose="02020603050405020304" pitchFamily="18" charset="0"/>
              <a:cs typeface="Times New Roman" panose="02020603050405020304" pitchFamily="18" charset="0"/>
            </a:endParaRPr>
          </a:p>
        </p:txBody>
      </p:sp>
      <p:pic>
        <p:nvPicPr>
          <p:cNvPr id="5" name="図 4"/>
          <p:cNvPicPr>
            <a:picLocks noChangeAspect="1"/>
          </p:cNvPicPr>
          <p:nvPr/>
        </p:nvPicPr>
        <p:blipFill>
          <a:blip r:embed="rId2"/>
          <a:stretch>
            <a:fillRect/>
          </a:stretch>
        </p:blipFill>
        <p:spPr>
          <a:xfrm>
            <a:off x="280964" y="2778062"/>
            <a:ext cx="4093080" cy="3343456"/>
          </a:xfrm>
          <a:prstGeom prst="rect">
            <a:avLst/>
          </a:prstGeom>
        </p:spPr>
      </p:pic>
      <p:pic>
        <p:nvPicPr>
          <p:cNvPr id="6" name="図 5"/>
          <p:cNvPicPr>
            <a:picLocks noChangeAspect="1"/>
          </p:cNvPicPr>
          <p:nvPr/>
        </p:nvPicPr>
        <p:blipFill>
          <a:blip r:embed="rId3"/>
          <a:stretch>
            <a:fillRect/>
          </a:stretch>
        </p:blipFill>
        <p:spPr>
          <a:xfrm>
            <a:off x="5324275" y="2778062"/>
            <a:ext cx="4087438" cy="3634954"/>
          </a:xfrm>
          <a:prstGeom prst="rect">
            <a:avLst/>
          </a:prstGeom>
        </p:spPr>
      </p:pic>
      <p:grpSp>
        <p:nvGrpSpPr>
          <p:cNvPr id="14" name="グループ化 13"/>
          <p:cNvGrpSpPr/>
          <p:nvPr/>
        </p:nvGrpSpPr>
        <p:grpSpPr>
          <a:xfrm>
            <a:off x="1189157" y="1609707"/>
            <a:ext cx="6369774" cy="1096350"/>
            <a:chOff x="2233612" y="866776"/>
            <a:chExt cx="11759583" cy="2024030"/>
          </a:xfrm>
        </p:grpSpPr>
        <p:pic>
          <p:nvPicPr>
            <p:cNvPr id="8" name="図 7"/>
            <p:cNvPicPr>
              <a:picLocks noChangeAspect="1"/>
            </p:cNvPicPr>
            <p:nvPr/>
          </p:nvPicPr>
          <p:blipFill>
            <a:blip r:embed="rId4"/>
            <a:stretch>
              <a:fillRect/>
            </a:stretch>
          </p:blipFill>
          <p:spPr>
            <a:xfrm>
              <a:off x="2233612" y="866776"/>
              <a:ext cx="3713958" cy="2024030"/>
            </a:xfrm>
            <a:prstGeom prst="rect">
              <a:avLst/>
            </a:prstGeom>
          </p:spPr>
        </p:pic>
        <p:graphicFrame>
          <p:nvGraphicFramePr>
            <p:cNvPr id="10" name="オブジェクト 9"/>
            <p:cNvGraphicFramePr>
              <a:graphicFrameLocks noChangeAspect="1"/>
            </p:cNvGraphicFramePr>
            <p:nvPr/>
          </p:nvGraphicFramePr>
          <p:xfrm>
            <a:off x="10649551" y="866776"/>
            <a:ext cx="3343644" cy="1812607"/>
          </p:xfrm>
          <a:graphic>
            <a:graphicData uri="http://schemas.openxmlformats.org/presentationml/2006/ole">
              <mc:AlternateContent xmlns:mc="http://schemas.openxmlformats.org/markup-compatibility/2006">
                <mc:Choice xmlns:v="urn:schemas-microsoft-com:vml" Requires="v">
                  <p:oleObj name="ワークシート" r:id="rId5" imgW="1809720" imgH="981222" progId="Excel.Sheet.12">
                    <p:embed/>
                  </p:oleObj>
                </mc:Choice>
                <mc:Fallback>
                  <p:oleObj name="ワークシート" r:id="rId5" imgW="1809720" imgH="981222" progId="Excel.Sheet.12">
                    <p:embed/>
                    <p:pic>
                      <p:nvPicPr>
                        <p:cNvPr id="10" name="オブジェクト 9"/>
                        <p:cNvPicPr/>
                        <p:nvPr/>
                      </p:nvPicPr>
                      <p:blipFill>
                        <a:blip r:embed="rId6"/>
                        <a:stretch>
                          <a:fillRect/>
                        </a:stretch>
                      </p:blipFill>
                      <p:spPr>
                        <a:xfrm>
                          <a:off x="10649551" y="866776"/>
                          <a:ext cx="3343644" cy="1812607"/>
                        </a:xfrm>
                        <a:prstGeom prst="rect">
                          <a:avLst/>
                        </a:prstGeom>
                      </p:spPr>
                    </p:pic>
                  </p:oleObj>
                </mc:Fallback>
              </mc:AlternateContent>
            </a:graphicData>
          </a:graphic>
        </p:graphicFrame>
        <p:cxnSp>
          <p:nvCxnSpPr>
            <p:cNvPr id="12" name="直線コネクタ 11"/>
            <p:cNvCxnSpPr/>
            <p:nvPr/>
          </p:nvCxnSpPr>
          <p:spPr>
            <a:xfrm flipV="1">
              <a:off x="5947570" y="1878791"/>
              <a:ext cx="4701981" cy="800592"/>
            </a:xfrm>
            <a:prstGeom prst="line">
              <a:avLst/>
            </a:prstGeom>
          </p:spPr>
          <p:style>
            <a:lnRef idx="2">
              <a:schemeClr val="dk1"/>
            </a:lnRef>
            <a:fillRef idx="0">
              <a:schemeClr val="dk1"/>
            </a:fillRef>
            <a:effectRef idx="1">
              <a:schemeClr val="dk1"/>
            </a:effectRef>
            <a:fontRef idx="minor">
              <a:schemeClr val="tx1"/>
            </a:fontRef>
          </p:style>
        </p:cxnSp>
        <p:sp>
          <p:nvSpPr>
            <p:cNvPr id="13" name="テキスト ボックス 12"/>
            <p:cNvSpPr txBox="1"/>
            <p:nvPr/>
          </p:nvSpPr>
          <p:spPr>
            <a:xfrm>
              <a:off x="6129338" y="2279087"/>
              <a:ext cx="400050" cy="416800"/>
            </a:xfrm>
            <a:prstGeom prst="rect">
              <a:avLst/>
            </a:prstGeom>
            <a:noFill/>
          </p:spPr>
          <p:txBody>
            <a:bodyPr wrap="square" rtlCol="0">
              <a:spAutoFit/>
            </a:bodyPr>
            <a:lstStyle/>
            <a:p>
              <a:r>
                <a:rPr lang="en-US" sz="867" dirty="0"/>
                <a:t>1</a:t>
              </a:r>
            </a:p>
          </p:txBody>
        </p:sp>
        <p:sp>
          <p:nvSpPr>
            <p:cNvPr id="17" name="テキスト ボックス 16"/>
            <p:cNvSpPr txBox="1"/>
            <p:nvPr/>
          </p:nvSpPr>
          <p:spPr>
            <a:xfrm>
              <a:off x="10050909" y="1509459"/>
              <a:ext cx="400050" cy="416800"/>
            </a:xfrm>
            <a:prstGeom prst="rect">
              <a:avLst/>
            </a:prstGeom>
            <a:noFill/>
          </p:spPr>
          <p:txBody>
            <a:bodyPr wrap="square" rtlCol="0">
              <a:spAutoFit/>
            </a:bodyPr>
            <a:lstStyle/>
            <a:p>
              <a:r>
                <a:rPr lang="en-US" sz="867" dirty="0"/>
                <a:t>1</a:t>
              </a:r>
            </a:p>
          </p:txBody>
        </p:sp>
      </p:grpSp>
      <p:sp>
        <p:nvSpPr>
          <p:cNvPr id="18" name="テキスト ボックス 17"/>
          <p:cNvSpPr txBox="1"/>
          <p:nvPr/>
        </p:nvSpPr>
        <p:spPr>
          <a:xfrm>
            <a:off x="280964" y="1161455"/>
            <a:ext cx="9454777" cy="359201"/>
          </a:xfrm>
          <a:prstGeom prst="rect">
            <a:avLst/>
          </a:prstGeom>
          <a:noFill/>
        </p:spPr>
        <p:txBody>
          <a:bodyPr wrap="square" rtlCol="0">
            <a:spAutoFit/>
          </a:bodyPr>
          <a:lstStyle/>
          <a:p>
            <a:r>
              <a:rPr lang="en-US" sz="867" dirty="0"/>
              <a:t>Do </a:t>
            </a:r>
            <a:r>
              <a:rPr lang="en-US" sz="867" dirty="0" err="1"/>
              <a:t>không</a:t>
            </a:r>
            <a:r>
              <a:rPr lang="en-US" sz="867" dirty="0"/>
              <a:t> </a:t>
            </a:r>
            <a:r>
              <a:rPr lang="en-US" sz="867" dirty="0" err="1"/>
              <a:t>có</a:t>
            </a:r>
            <a:r>
              <a:rPr lang="en-US" sz="867" dirty="0"/>
              <a:t> table </a:t>
            </a:r>
            <a:r>
              <a:rPr lang="en-US" sz="867" dirty="0" err="1"/>
              <a:t>quan</a:t>
            </a:r>
            <a:r>
              <a:rPr lang="en-US" sz="867" dirty="0"/>
              <a:t> </a:t>
            </a:r>
            <a:r>
              <a:rPr lang="en-US" sz="867" dirty="0" err="1"/>
              <a:t>hệ</a:t>
            </a:r>
            <a:r>
              <a:rPr lang="en-US" sz="867" dirty="0"/>
              <a:t> 1:1, </a:t>
            </a:r>
            <a:r>
              <a:rPr lang="en-US" sz="867" dirty="0" err="1"/>
              <a:t>nên</a:t>
            </a:r>
            <a:r>
              <a:rPr lang="en-US" sz="867" dirty="0"/>
              <a:t> </a:t>
            </a:r>
            <a:r>
              <a:rPr lang="en-US" sz="867" dirty="0" err="1"/>
              <a:t>tạo</a:t>
            </a:r>
            <a:r>
              <a:rPr lang="en-US" sz="867" dirty="0"/>
              <a:t> 2 table Phone </a:t>
            </a:r>
            <a:r>
              <a:rPr lang="en-US" sz="867" dirty="0" err="1"/>
              <a:t>và</a:t>
            </a:r>
            <a:r>
              <a:rPr lang="en-US" sz="867" dirty="0"/>
              <a:t> </a:t>
            </a:r>
            <a:r>
              <a:rPr lang="en-US" sz="867" dirty="0" err="1"/>
              <a:t>PhoneDetails</a:t>
            </a:r>
            <a:r>
              <a:rPr lang="en-US" sz="867" dirty="0"/>
              <a:t> </a:t>
            </a:r>
            <a:r>
              <a:rPr lang="en-US" sz="867" dirty="0" err="1"/>
              <a:t>để</a:t>
            </a:r>
            <a:r>
              <a:rPr lang="en-US" sz="867" dirty="0"/>
              <a:t> </a:t>
            </a:r>
            <a:r>
              <a:rPr lang="en-US" sz="867" dirty="0" err="1"/>
              <a:t>mô</a:t>
            </a:r>
            <a:r>
              <a:rPr lang="en-US" sz="867" dirty="0"/>
              <a:t> </a:t>
            </a:r>
            <a:r>
              <a:rPr lang="en-US" sz="867" dirty="0" err="1"/>
              <a:t>tả</a:t>
            </a:r>
            <a:r>
              <a:rPr lang="en-US" sz="867" dirty="0"/>
              <a:t>.</a:t>
            </a:r>
          </a:p>
          <a:p>
            <a:r>
              <a:rPr lang="en-US" sz="867" dirty="0"/>
              <a:t>Phone </a:t>
            </a:r>
            <a:r>
              <a:rPr lang="en-US" sz="867" dirty="0" err="1"/>
              <a:t>và</a:t>
            </a:r>
            <a:r>
              <a:rPr lang="en-US" sz="867" dirty="0"/>
              <a:t> </a:t>
            </a:r>
            <a:r>
              <a:rPr lang="en-US" sz="867" dirty="0" err="1"/>
              <a:t>PhoneDetails</a:t>
            </a:r>
            <a:r>
              <a:rPr lang="en-US" sz="867" dirty="0"/>
              <a:t> </a:t>
            </a:r>
            <a:r>
              <a:rPr lang="en-US" sz="867" dirty="0" err="1"/>
              <a:t>được</a:t>
            </a:r>
            <a:r>
              <a:rPr lang="en-US" sz="867" dirty="0"/>
              <a:t> </a:t>
            </a:r>
            <a:r>
              <a:rPr lang="en-US" sz="867" dirty="0" err="1"/>
              <a:t>liên</a:t>
            </a:r>
            <a:r>
              <a:rPr lang="en-US" sz="867" dirty="0"/>
              <a:t> </a:t>
            </a:r>
            <a:r>
              <a:rPr lang="en-US" sz="867" dirty="0" err="1"/>
              <a:t>kết</a:t>
            </a:r>
            <a:r>
              <a:rPr lang="en-US" sz="867" dirty="0"/>
              <a:t> </a:t>
            </a:r>
            <a:r>
              <a:rPr lang="en-US" sz="867" dirty="0" err="1"/>
              <a:t>với</a:t>
            </a:r>
            <a:r>
              <a:rPr lang="en-US" sz="867" dirty="0"/>
              <a:t> </a:t>
            </a:r>
            <a:r>
              <a:rPr lang="en-US" sz="867" dirty="0" err="1"/>
              <a:t>nhau</a:t>
            </a:r>
            <a:r>
              <a:rPr lang="en-US" sz="867" dirty="0"/>
              <a:t> </a:t>
            </a:r>
            <a:r>
              <a:rPr lang="en-US" sz="867" dirty="0" err="1"/>
              <a:t>như</a:t>
            </a:r>
            <a:r>
              <a:rPr lang="en-US" sz="867" dirty="0"/>
              <a:t> </a:t>
            </a:r>
            <a:r>
              <a:rPr lang="en-US" sz="867" dirty="0" err="1"/>
              <a:t>dưới</a:t>
            </a:r>
            <a:endParaRPr lang="en-US" sz="867" dirty="0"/>
          </a:p>
        </p:txBody>
      </p:sp>
    </p:spTree>
    <p:extLst>
      <p:ext uri="{BB962C8B-B14F-4D97-AF65-F5344CB8AC3E}">
        <p14:creationId xmlns:p14="http://schemas.microsoft.com/office/powerpoint/2010/main" val="3741341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5"/>
          <p:cNvSpPr/>
          <p:nvPr/>
        </p:nvSpPr>
        <p:spPr>
          <a:xfrm>
            <a:off x="4947838" y="647367"/>
            <a:ext cx="0" cy="5561812"/>
          </a:xfrm>
          <a:custGeom>
            <a:avLst/>
            <a:gdLst>
              <a:gd name="connsiteX0" fmla="*/ 0 w 0"/>
              <a:gd name="connsiteY0" fmla="*/ 0 h 10267960"/>
              <a:gd name="connsiteX1" fmla="*/ 0 w 0"/>
              <a:gd name="connsiteY1" fmla="*/ 10267960 h 10267960"/>
            </a:gdLst>
            <a:ahLst/>
            <a:cxnLst>
              <a:cxn ang="0">
                <a:pos x="connsiteX0" y="connsiteY0"/>
              </a:cxn>
              <a:cxn ang="0">
                <a:pos x="connsiteX1" y="connsiteY1"/>
              </a:cxn>
            </a:cxnLst>
            <a:rect l="l" t="t" r="r" b="b"/>
            <a:pathLst>
              <a:path h="10267960">
                <a:moveTo>
                  <a:pt x="0" y="0"/>
                </a:moveTo>
                <a:lnTo>
                  <a:pt x="0" y="10267960"/>
                </a:lnTo>
              </a:path>
            </a:pathLst>
          </a:custGeom>
          <a:ln w="19048">
            <a:solidFill>
              <a:srgbClr val="000000">
                <a:alpha val="10000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正方形/長方形 3"/>
          <p:cNvSpPr/>
          <p:nvPr/>
        </p:nvSpPr>
        <p:spPr>
          <a:xfrm>
            <a:off x="94611" y="647368"/>
            <a:ext cx="3442141"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Quan</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hệ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ManyToMany</a:t>
            </a:r>
            <a:endParaRPr lang="en-US" sz="2167" dirty="0">
              <a:latin typeface="Times New Roman" panose="02020603050405020304" pitchFamily="18" charset="0"/>
              <a:cs typeface="Times New Roman" panose="02020603050405020304" pitchFamily="18" charset="0"/>
            </a:endParaRPr>
          </a:p>
        </p:txBody>
      </p:sp>
      <p:pic>
        <p:nvPicPr>
          <p:cNvPr id="4" name="図 3"/>
          <p:cNvPicPr>
            <a:picLocks noChangeAspect="1"/>
          </p:cNvPicPr>
          <p:nvPr/>
        </p:nvPicPr>
        <p:blipFill>
          <a:blip r:embed="rId2"/>
          <a:stretch>
            <a:fillRect/>
          </a:stretch>
        </p:blipFill>
        <p:spPr>
          <a:xfrm>
            <a:off x="5027807" y="1274697"/>
            <a:ext cx="4667827" cy="4708182"/>
          </a:xfrm>
          <a:prstGeom prst="rect">
            <a:avLst/>
          </a:prstGeom>
        </p:spPr>
      </p:pic>
      <p:pic>
        <p:nvPicPr>
          <p:cNvPr id="2" name="図 1"/>
          <p:cNvPicPr>
            <a:picLocks noChangeAspect="1"/>
          </p:cNvPicPr>
          <p:nvPr/>
        </p:nvPicPr>
        <p:blipFill>
          <a:blip r:embed="rId3"/>
          <a:stretch>
            <a:fillRect/>
          </a:stretch>
        </p:blipFill>
        <p:spPr>
          <a:xfrm>
            <a:off x="350620" y="1274697"/>
            <a:ext cx="4266412" cy="4708182"/>
          </a:xfrm>
          <a:prstGeom prst="rect">
            <a:avLst/>
          </a:prstGeom>
        </p:spPr>
      </p:pic>
      <p:sp>
        <p:nvSpPr>
          <p:cNvPr id="5" name="正方形/長方形 4"/>
          <p:cNvSpPr/>
          <p:nvPr/>
        </p:nvSpPr>
        <p:spPr>
          <a:xfrm>
            <a:off x="752324" y="4804156"/>
            <a:ext cx="2910105" cy="6731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Tree>
    <p:extLst>
      <p:ext uri="{BB962C8B-B14F-4D97-AF65-F5344CB8AC3E}">
        <p14:creationId xmlns:p14="http://schemas.microsoft.com/office/powerpoint/2010/main" val="1217410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2"/>
          <a:stretch>
            <a:fillRect/>
          </a:stretch>
        </p:blipFill>
        <p:spPr>
          <a:xfrm>
            <a:off x="705803" y="1546860"/>
            <a:ext cx="3285490" cy="3615690"/>
          </a:xfrm>
          <a:prstGeom prst="rect">
            <a:avLst/>
          </a:prstGeom>
        </p:spPr>
      </p:pic>
      <p:sp>
        <p:nvSpPr>
          <p:cNvPr id="2" name="TextBox 21"/>
          <p:cNvSpPr txBox="1"/>
          <p:nvPr/>
        </p:nvSpPr>
        <p:spPr>
          <a:xfrm>
            <a:off x="3991293" y="2512082"/>
            <a:ext cx="5613399" cy="1833900"/>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4. JPQL </a:t>
            </a:r>
            <a:r>
              <a:rPr lang="en-US" altLang="zh-CN" sz="4767" spc="100" dirty="0" err="1">
                <a:solidFill>
                  <a:srgbClr val="F5B3A5"/>
                </a:solidFill>
                <a:latin typeface="Times New Roman"/>
                <a:ea typeface="Times New Roman"/>
              </a:rPr>
              <a:t>trong</a:t>
            </a:r>
            <a:r>
              <a:rPr lang="en-US" altLang="zh-CN" sz="4767" spc="100" dirty="0">
                <a:solidFill>
                  <a:srgbClr val="F5B3A5"/>
                </a:solidFill>
                <a:latin typeface="Times New Roman"/>
                <a:ea typeface="Times New Roman"/>
              </a:rPr>
              <a:t> Spring Data JPA</a:t>
            </a:r>
          </a:p>
          <a:p>
            <a:pPr algn="ct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409831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413091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Java Persistence Query language</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537847" cy="1493101"/>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JPQL (Java Persistence Query language)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Ngôn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Java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định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nghĩa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tả</a:t>
            </a:r>
            <a:r>
              <a:rPr lang="en-US" sz="1517" dirty="0">
                <a:latin typeface="Times New Roman" panose="02020603050405020304" pitchFamily="18" charset="0"/>
                <a:cs typeface="Times New Roman" panose="02020603050405020304" pitchFamily="18" charset="0"/>
              </a:rPr>
              <a:t> JPA.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lưu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sở</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quan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hệ</a:t>
            </a:r>
            <a:r>
              <a:rPr lang="en-US" sz="1517" dirty="0">
                <a:latin typeface="Times New Roman" panose="02020603050405020304" pitchFamily="18" charset="0"/>
                <a:cs typeface="Times New Roman" panose="02020603050405020304" pitchFamily="18" charset="0"/>
              </a:rPr>
              <a:t>. </a:t>
            </a:r>
          </a:p>
          <a:p>
            <a:pPr algn="just"/>
            <a:endParaRPr lang="en-US" sz="1517" dirty="0">
              <a:latin typeface="Times New Roman" panose="02020603050405020304" pitchFamily="18" charset="0"/>
              <a:cs typeface="Times New Roman" panose="02020603050405020304" pitchFamily="18" charset="0"/>
            </a:endParaRPr>
          </a:p>
          <a:p>
            <a:pPr marL="247665" indent="-247665" algn="just">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JPQL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phát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triển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dựa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cú</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pháp</a:t>
            </a:r>
            <a:r>
              <a:rPr lang="en-US" sz="1517" dirty="0">
                <a:latin typeface="Times New Roman" panose="02020603050405020304" pitchFamily="18" charset="0"/>
                <a:cs typeface="Times New Roman" panose="02020603050405020304" pitchFamily="18" charset="0"/>
              </a:rPr>
              <a:t> SQL. </a:t>
            </a:r>
            <a:r>
              <a:rPr lang="en-US" sz="1517" dirty="0" err="1">
                <a:latin typeface="Times New Roman" panose="02020603050405020304" pitchFamily="18" charset="0"/>
                <a:cs typeface="Times New Roman" panose="02020603050405020304" pitchFamily="18" charset="0"/>
              </a:rPr>
              <a:t>Nhưng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ảnh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hưởng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tiếp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đến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sở</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599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0" y="780404"/>
            <a:ext cx="463395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JPQL </a:t>
            </a:r>
            <a:r>
              <a:rPr lang="en-US" sz="2167" dirty="0" err="1">
                <a:latin typeface="Times New Roman" panose="02020603050405020304" pitchFamily="18" charset="0"/>
                <a:cs typeface="Times New Roman" panose="02020603050405020304" pitchFamily="18" charset="0"/>
              </a:rPr>
              <a:t>trong</a:t>
            </a:r>
            <a:r>
              <a:rPr lang="en-US" sz="2167" dirty="0">
                <a:latin typeface="Times New Roman" panose="02020603050405020304" pitchFamily="18" charset="0"/>
                <a:cs typeface="Times New Roman" panose="02020603050405020304" pitchFamily="18" charset="0"/>
              </a:rPr>
              <a:t> Spring Data JPA</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537847" cy="559256"/>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Spring Data JPA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@Query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vấn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câu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lệnh</a:t>
            </a:r>
            <a:r>
              <a:rPr lang="en-US" sz="1517" dirty="0">
                <a:latin typeface="Times New Roman" panose="02020603050405020304" pitchFamily="18" charset="0"/>
                <a:cs typeface="Times New Roman" panose="02020603050405020304" pitchFamily="18" charset="0"/>
              </a:rPr>
              <a:t> JPQL</a:t>
            </a:r>
          </a:p>
        </p:txBody>
      </p:sp>
      <p:sp>
        <p:nvSpPr>
          <p:cNvPr id="3" name="正方形/長方形 2"/>
          <p:cNvSpPr/>
          <p:nvPr/>
        </p:nvSpPr>
        <p:spPr>
          <a:xfrm>
            <a:off x="820340" y="1978603"/>
            <a:ext cx="5881688" cy="1392882"/>
          </a:xfrm>
          <a:prstGeom prst="rect">
            <a:avLst/>
          </a:prstGeom>
        </p:spPr>
        <p:txBody>
          <a:bodyPr wrap="square">
            <a:spAutoFit/>
          </a:bodyPr>
          <a:lstStyle/>
          <a:p>
            <a:pPr marL="185749" indent="-185749">
              <a:buFont typeface="Arial" panose="020B0604020202020204" pitchFamily="34" charset="0"/>
              <a:buChar char="•"/>
            </a:pPr>
            <a:r>
              <a:rPr lang="en-US" sz="1083" dirty="0">
                <a:latin typeface="Times New Roman" panose="02020603050405020304" pitchFamily="18" charset="0"/>
                <a:cs typeface="Times New Roman" panose="02020603050405020304" pitchFamily="18" charset="0"/>
              </a:rPr>
              <a:t>Get </a:t>
            </a:r>
            <a:r>
              <a:rPr lang="en-US" sz="1083" dirty="0" err="1">
                <a:latin typeface="Times New Roman" panose="02020603050405020304" pitchFamily="18" charset="0"/>
                <a:cs typeface="Times New Roman" panose="02020603050405020304" pitchFamily="18" charset="0"/>
              </a:rPr>
              <a:t>toàn</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bộ</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thông</a:t>
            </a:r>
            <a:r>
              <a:rPr lang="en-US" sz="1083" dirty="0">
                <a:latin typeface="Times New Roman" panose="02020603050405020304" pitchFamily="18" charset="0"/>
                <a:cs typeface="Times New Roman" panose="02020603050405020304" pitchFamily="18" charset="0"/>
              </a:rPr>
              <a:t> tin table Facilities, </a:t>
            </a:r>
            <a:r>
              <a:rPr lang="en-US" sz="1083" dirty="0" err="1">
                <a:latin typeface="Times New Roman" panose="02020603050405020304" pitchFamily="18" charset="0"/>
                <a:cs typeface="Times New Roman" panose="02020603050405020304" pitchFamily="18" charset="0"/>
              </a:rPr>
              <a:t>tương</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ứng</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với</a:t>
            </a:r>
            <a:r>
              <a:rPr lang="en-US" sz="1083" dirty="0">
                <a:latin typeface="Times New Roman" panose="02020603050405020304" pitchFamily="18" charset="0"/>
                <a:cs typeface="Times New Roman" panose="02020603050405020304" pitchFamily="18" charset="0"/>
              </a:rPr>
              <a:t> SQL(SELECT * FROM facilities)</a:t>
            </a:r>
          </a:p>
          <a:p>
            <a:r>
              <a:rPr lang="en-US" altLang="ja-JP" sz="1083" dirty="0">
                <a:latin typeface="Times New Roman" panose="02020603050405020304" pitchFamily="18" charset="0"/>
                <a:cs typeface="Times New Roman" panose="02020603050405020304" pitchFamily="18" charset="0"/>
              </a:rPr>
              <a:t>※</a:t>
            </a:r>
            <a:r>
              <a:rPr lang="en-US" sz="1083" i="1" dirty="0" err="1">
                <a:latin typeface="Times New Roman" panose="02020603050405020304" pitchFamily="18" charset="0"/>
                <a:cs typeface="Times New Roman" panose="02020603050405020304" pitchFamily="18" charset="0"/>
              </a:rPr>
              <a:t>Đối</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với</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trường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hợp</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lấy</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tất</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cả</a:t>
            </a:r>
            <a:r>
              <a:rPr lang="en-US" sz="1083" i="1" dirty="0">
                <a:latin typeface="Times New Roman" panose="02020603050405020304" pitchFamily="18" charset="0"/>
                <a:cs typeface="Times New Roman" panose="02020603050405020304" pitchFamily="18" charset="0"/>
              </a:rPr>
              <a:t> column </a:t>
            </a:r>
            <a:r>
              <a:rPr lang="en-US" sz="1083" i="1" dirty="0" err="1">
                <a:latin typeface="Times New Roman" panose="02020603050405020304" pitchFamily="18" charset="0"/>
                <a:cs typeface="Times New Roman" panose="02020603050405020304" pitchFamily="18" charset="0"/>
              </a:rPr>
              <a:t>thì</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không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cần</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có</a:t>
            </a:r>
            <a:r>
              <a:rPr lang="en-US" sz="1083" i="1" dirty="0">
                <a:latin typeface="Times New Roman" panose="02020603050405020304" pitchFamily="18" charset="0"/>
                <a:cs typeface="Times New Roman" panose="02020603050405020304" pitchFamily="18" charset="0"/>
              </a:rPr>
              <a:t> “SELECT  </a:t>
            </a:r>
            <a:r>
              <a:rPr lang="en-US" sz="1083" i="1" dirty="0" err="1">
                <a:latin typeface="Times New Roman" panose="02020603050405020304" pitchFamily="18" charset="0"/>
                <a:cs typeface="Times New Roman" panose="02020603050405020304" pitchFamily="18" charset="0"/>
              </a:rPr>
              <a:t>fa</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trong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câu</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lệnh</a:t>
            </a:r>
            <a:r>
              <a:rPr lang="en-US" sz="1083" i="1" dirty="0">
                <a:latin typeface="Times New Roman" panose="02020603050405020304" pitchFamily="18" charset="0"/>
                <a:cs typeface="Times New Roman" panose="02020603050405020304" pitchFamily="18" charset="0"/>
              </a:rPr>
              <a:t> JPQL </a:t>
            </a:r>
            <a:r>
              <a:rPr lang="en-US" sz="1083" i="1" dirty="0" err="1">
                <a:latin typeface="Times New Roman" panose="02020603050405020304" pitchFamily="18" charset="0"/>
                <a:cs typeface="Times New Roman" panose="02020603050405020304" pitchFamily="18" charset="0"/>
              </a:rPr>
              <a:t>cũng</a:t>
            </a:r>
            <a:r>
              <a:rPr lang="en-US" sz="1083" i="1" dirty="0">
                <a:latin typeface="Times New Roman" panose="02020603050405020304" pitchFamily="18" charset="0"/>
                <a:cs typeface="Times New Roman" panose="02020603050405020304" pitchFamily="18" charset="0"/>
              </a:rPr>
              <a:t> </a:t>
            </a:r>
            <a:r>
              <a:rPr lang="en-US" sz="1083" i="1" dirty="0" err="1">
                <a:latin typeface="Times New Roman" panose="02020603050405020304" pitchFamily="18" charset="0"/>
                <a:cs typeface="Times New Roman" panose="02020603050405020304" pitchFamily="18" charset="0"/>
              </a:rPr>
              <a:t>được</a:t>
            </a:r>
            <a:endParaRPr lang="en-US" sz="1083" i="1" dirty="0">
              <a:latin typeface="Times New Roman" panose="02020603050405020304" pitchFamily="18" charset="0"/>
              <a:cs typeface="Times New Roman" panose="02020603050405020304" pitchFamily="18" charset="0"/>
            </a:endParaRPr>
          </a:p>
          <a:p>
            <a:endParaRPr lang="en-US" sz="867"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pl-PL" sz="867" dirty="0">
                <a:solidFill>
                  <a:srgbClr val="000000"/>
                </a:solidFill>
                <a:latin typeface="Consolas" panose="020B0609020204030204" pitchFamily="49" charset="0"/>
              </a:rPr>
              <a:t> </a:t>
            </a:r>
            <a:r>
              <a:rPr lang="pl-PL" sz="867" dirty="0">
                <a:solidFill>
                  <a:srgbClr val="3F7F5F"/>
                </a:solidFill>
                <a:latin typeface="Consolas" panose="020B0609020204030204" pitchFamily="49" charset="0"/>
              </a:rPr>
              <a:t>* Tim kiem toan bo Facility</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findAllFacility</a:t>
            </a:r>
            <a:r>
              <a:rPr lang="en-US" sz="867" dirty="0">
                <a:solidFill>
                  <a:srgbClr val="000000"/>
                </a:solidFill>
                <a:latin typeface="Consolas" panose="020B0609020204030204" pitchFamily="49" charset="0"/>
              </a:rPr>
              <a:t>(): List&lt;Facility&gt;?</a:t>
            </a:r>
            <a:endParaRPr lang="en-US" sz="867" dirty="0"/>
          </a:p>
        </p:txBody>
      </p:sp>
      <p:sp>
        <p:nvSpPr>
          <p:cNvPr id="9" name="正方形/長方形 8"/>
          <p:cNvSpPr/>
          <p:nvPr/>
        </p:nvSpPr>
        <p:spPr>
          <a:xfrm>
            <a:off x="820340" y="3441732"/>
            <a:ext cx="6106121" cy="1193019"/>
          </a:xfrm>
          <a:prstGeom prst="rect">
            <a:avLst/>
          </a:prstGeom>
        </p:spPr>
        <p:txBody>
          <a:bodyPr wrap="square">
            <a:spAutoFit/>
          </a:bodyPr>
          <a:lstStyle/>
          <a:p>
            <a:pPr marL="185749" indent="-185749">
              <a:buFont typeface="Arial" panose="020B0604020202020204" pitchFamily="34" charset="0"/>
              <a:buChar char="•"/>
            </a:pPr>
            <a:r>
              <a:rPr lang="en-US" sz="1083" dirty="0" err="1">
                <a:latin typeface="Times New Roman" panose="02020603050405020304" pitchFamily="18" charset="0"/>
                <a:cs typeface="Times New Roman" panose="02020603050405020304" pitchFamily="18" charset="0"/>
              </a:rPr>
              <a:t>Thực</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hiện</a:t>
            </a:r>
            <a:r>
              <a:rPr lang="en-US" sz="1083" dirty="0">
                <a:latin typeface="Times New Roman" panose="02020603050405020304" pitchFamily="18" charset="0"/>
                <a:cs typeface="Times New Roman" panose="02020603050405020304" pitchFamily="18" charset="0"/>
              </a:rPr>
              <a:t> join 2 table </a:t>
            </a:r>
            <a:r>
              <a:rPr lang="en-US" sz="1083" dirty="0" err="1">
                <a:latin typeface="Times New Roman" panose="02020603050405020304" pitchFamily="18" charset="0"/>
                <a:cs typeface="Times New Roman" panose="02020603050405020304" pitchFamily="18" charset="0"/>
              </a:rPr>
              <a:t>sử</a:t>
            </a:r>
            <a:r>
              <a:rPr lang="en-US" sz="1083" dirty="0">
                <a:latin typeface="Times New Roman" panose="02020603050405020304" pitchFamily="18" charset="0"/>
                <a:cs typeface="Times New Roman" panose="02020603050405020304" pitchFamily="18" charset="0"/>
              </a:rPr>
              <a:t> </a:t>
            </a:r>
            <a:r>
              <a:rPr lang="en-US" sz="1083" dirty="0" err="1">
                <a:latin typeface="Times New Roman" panose="02020603050405020304" pitchFamily="18" charset="0"/>
                <a:cs typeface="Times New Roman" panose="02020603050405020304" pitchFamily="18" charset="0"/>
              </a:rPr>
              <a:t>dụng</a:t>
            </a:r>
            <a:r>
              <a:rPr lang="en-US" sz="1083" dirty="0">
                <a:latin typeface="Times New Roman" panose="02020603050405020304" pitchFamily="18" charset="0"/>
                <a:cs typeface="Times New Roman" panose="02020603050405020304" pitchFamily="18" charset="0"/>
              </a:rPr>
              <a:t> JPQL</a:t>
            </a:r>
            <a:endParaRPr lang="en-US" sz="867"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tim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kiem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annotation @Query</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Cau</a:t>
            </a:r>
            <a:r>
              <a:rPr lang="en-US" sz="867" dirty="0">
                <a:solidFill>
                  <a:srgbClr val="3F7F5F"/>
                </a:solidFill>
                <a:latin typeface="Consolas" panose="020B0609020204030204" pitchFamily="49" charset="0"/>
              </a:rPr>
              <a:t> @Query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thao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tac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voi</a:t>
            </a:r>
            <a:r>
              <a:rPr lang="en-US" sz="867" dirty="0">
                <a:solidFill>
                  <a:srgbClr val="3F7F5F"/>
                </a:solidFill>
                <a:latin typeface="Consolas" panose="020B0609020204030204" pitchFamily="49" charset="0"/>
              </a:rPr>
              <a:t> ten entity </a:t>
            </a:r>
            <a:r>
              <a:rPr lang="en-US" sz="867" dirty="0" err="1">
                <a:solidFill>
                  <a:srgbClr val="3F7F5F"/>
                </a:solidFill>
                <a:latin typeface="Consolas" panose="020B0609020204030204" pitchFamily="49" charset="0"/>
              </a:rPr>
              <a:t>thay</a:t>
            </a:r>
            <a:r>
              <a:rPr lang="en-US" sz="867" dirty="0">
                <a:solidFill>
                  <a:srgbClr val="3F7F5F"/>
                </a:solidFill>
                <a:latin typeface="Consolas" panose="020B0609020204030204" pitchFamily="49" charset="0"/>
              </a:rPr>
              <a:t> vi </a:t>
            </a:r>
            <a:r>
              <a:rPr lang="en-US" sz="867" dirty="0" err="1">
                <a:solidFill>
                  <a:srgbClr val="3F7F5F"/>
                </a:solidFill>
                <a:latin typeface="Consolas" panose="020B0609020204030204" pitchFamily="49" charset="0"/>
              </a:rPr>
              <a:t>voi</a:t>
            </a:r>
            <a:r>
              <a:rPr lang="en-US" sz="867" dirty="0">
                <a:solidFill>
                  <a:srgbClr val="3F7F5F"/>
                </a:solidFill>
                <a:latin typeface="Consolas" panose="020B0609020204030204" pitchFamily="49" charset="0"/>
              </a:rPr>
              <a:t> ten table</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inner join Users u on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 = </a:t>
            </a:r>
            <a:r>
              <a:rPr lang="en-US" sz="867" dirty="0" err="1">
                <a:solidFill>
                  <a:srgbClr val="2A00FF"/>
                </a:solidFill>
                <a:latin typeface="Consolas" panose="020B0609020204030204" pitchFamily="49" charset="0"/>
              </a:rPr>
              <a:t>u.commonFacilityCode</a:t>
            </a:r>
            <a:r>
              <a:rPr lang="en-US" sz="867" dirty="0">
                <a:solidFill>
                  <a:srgbClr val="2A00FF"/>
                </a:solidFill>
                <a:latin typeface="Consolas" panose="020B0609020204030204" pitchFamily="49" charset="0"/>
              </a:rPr>
              <a:t> where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 = :</a:t>
            </a:r>
            <a:r>
              <a:rPr lang="en-US" sz="867" dirty="0" err="1">
                <a:solidFill>
                  <a:srgbClr val="2A00FF"/>
                </a:solidFill>
                <a:latin typeface="Consolas" panose="020B0609020204030204" pitchFamily="49" charset="0"/>
              </a:rPr>
              <a:t>commonFacility</a:t>
            </a:r>
            <a:r>
              <a:rPr lang="en-US" sz="867" dirty="0">
                <a:solidFill>
                  <a:srgbClr val="2A00FF"/>
                </a:solidFill>
                <a:latin typeface="Consolas" panose="020B0609020204030204" pitchFamily="49" charset="0"/>
              </a:rPr>
              <a:t> group by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 </a:t>
            </a:r>
            <a:r>
              <a:rPr lang="en-US" sz="867" dirty="0" err="1">
                <a:solidFill>
                  <a:srgbClr val="2A00FF"/>
                </a:solidFill>
                <a:latin typeface="Consolas" panose="020B0609020204030204" pitchFamily="49" charset="0"/>
              </a:rPr>
              <a:t>u.useId</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findAllFacilityJoinUser</a:t>
            </a:r>
            <a:r>
              <a:rPr lang="en-US" sz="867" dirty="0">
                <a:solidFill>
                  <a:srgbClr val="000000"/>
                </a:solidFill>
                <a:latin typeface="Consolas" panose="020B0609020204030204" pitchFamily="49" charset="0"/>
              </a:rPr>
              <a:t>(</a:t>
            </a:r>
            <a:r>
              <a:rPr lang="en-US" sz="867" dirty="0">
                <a:solidFill>
                  <a:srgbClr val="646464"/>
                </a:solidFill>
                <a:latin typeface="Consolas" panose="020B0609020204030204" pitchFamily="49" charset="0"/>
              </a:rPr>
              <a:t>@</a:t>
            </a:r>
            <a:r>
              <a:rPr lang="en-US" sz="867" dirty="0" err="1">
                <a:solidFill>
                  <a:srgbClr val="646464"/>
                </a:solidFill>
                <a:latin typeface="Consolas" panose="020B0609020204030204" pitchFamily="49" charset="0"/>
              </a:rPr>
              <a:t>Param</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commonFacility</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commonFacility</a:t>
            </a:r>
            <a:r>
              <a:rPr lang="en-US" sz="867" dirty="0">
                <a:solidFill>
                  <a:srgbClr val="000000"/>
                </a:solidFill>
                <a:latin typeface="Consolas" panose="020B0609020204030204" pitchFamily="49" charset="0"/>
              </a:rPr>
              <a:t>: String): List&lt;Facility&gt;?</a:t>
            </a:r>
            <a:endParaRPr lang="en-US" sz="867" dirty="0"/>
          </a:p>
        </p:txBody>
      </p:sp>
    </p:spTree>
    <p:extLst>
      <p:ext uri="{BB962C8B-B14F-4D97-AF65-F5344CB8AC3E}">
        <p14:creationId xmlns:p14="http://schemas.microsoft.com/office/powerpoint/2010/main" val="168088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9"/>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0" y="780404"/>
            <a:ext cx="5709687"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JPQL </a:t>
            </a:r>
            <a:r>
              <a:rPr lang="en-US" sz="2167" dirty="0" err="1">
                <a:latin typeface="Times New Roman" panose="02020603050405020304" pitchFamily="18" charset="0"/>
                <a:cs typeface="Times New Roman" panose="02020603050405020304" pitchFamily="18" charset="0"/>
              </a:rPr>
              <a:t>trong</a:t>
            </a:r>
            <a:r>
              <a:rPr lang="en-US" sz="2167" dirty="0">
                <a:latin typeface="Times New Roman" panose="02020603050405020304" pitchFamily="18" charset="0"/>
                <a:cs typeface="Times New Roman" panose="02020603050405020304" pitchFamily="18" charset="0"/>
              </a:rPr>
              <a:t> Spring Data JPA (</a:t>
            </a:r>
            <a:r>
              <a:rPr lang="en-US" sz="2167" dirty="0" err="1">
                <a:latin typeface="Times New Roman" panose="02020603050405020304" pitchFamily="18" charset="0"/>
                <a:cs typeface="Times New Roman" panose="02020603050405020304" pitchFamily="18" charset="0"/>
              </a:rPr>
              <a:t>Tiếp</a:t>
            </a:r>
            <a:r>
              <a:rPr lang="en-US" sz="2167" dirty="0">
                <a:latin typeface="Times New Roman" panose="02020603050405020304" pitchFamily="18" charset="0"/>
                <a:cs typeface="Times New Roman" panose="02020603050405020304" pitchFamily="18" charset="0"/>
              </a:rPr>
              <a:t>)</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537847" cy="325795"/>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truyền</a:t>
            </a:r>
            <a:r>
              <a:rPr lang="en-US" sz="1517" dirty="0">
                <a:latin typeface="Times New Roman" panose="02020603050405020304" pitchFamily="18" charset="0"/>
                <a:cs typeface="Times New Roman" panose="02020603050405020304" pitchFamily="18" charset="0"/>
              </a:rPr>
              <a:t> parameter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câu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lệnh</a:t>
            </a:r>
            <a:r>
              <a:rPr lang="en-US" sz="1517" dirty="0">
                <a:latin typeface="Times New Roman" panose="02020603050405020304" pitchFamily="18" charset="0"/>
                <a:cs typeface="Times New Roman" panose="02020603050405020304" pitchFamily="18" charset="0"/>
              </a:rPr>
              <a:t> JPQL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2 </a:t>
            </a:r>
            <a:r>
              <a:rPr lang="en-US" sz="1517" dirty="0" err="1">
                <a:latin typeface="Times New Roman" panose="02020603050405020304" pitchFamily="18" charset="0"/>
                <a:cs typeface="Times New Roman" panose="02020603050405020304" pitchFamily="18" charset="0"/>
              </a:rPr>
              <a:t>cách</a:t>
            </a:r>
            <a:r>
              <a:rPr lang="en-US" sz="1517" dirty="0">
                <a:latin typeface="Times New Roman" panose="02020603050405020304" pitchFamily="18" charset="0"/>
                <a:cs typeface="Times New Roman" panose="02020603050405020304" pitchFamily="18" charset="0"/>
              </a:rPr>
              <a:t>:</a:t>
            </a:r>
          </a:p>
        </p:txBody>
      </p:sp>
      <p:sp>
        <p:nvSpPr>
          <p:cNvPr id="3" name="正方形/長方形 2"/>
          <p:cNvSpPr/>
          <p:nvPr/>
        </p:nvSpPr>
        <p:spPr>
          <a:xfrm>
            <a:off x="820341" y="1921522"/>
            <a:ext cx="7058025" cy="1393267"/>
          </a:xfrm>
          <a:prstGeom prst="rect">
            <a:avLst/>
          </a:prstGeom>
        </p:spPr>
        <p:txBody>
          <a:bodyPr wrap="square">
            <a:spAutoFit/>
          </a:bodyPr>
          <a:lstStyle/>
          <a:p>
            <a:pPr marL="185749" indent="-185749">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truyền</a:t>
            </a:r>
            <a:r>
              <a:rPr lang="en-US" sz="1517" dirty="0">
                <a:latin typeface="Times New Roman" panose="02020603050405020304" pitchFamily="18" charset="0"/>
                <a:cs typeface="Times New Roman" panose="02020603050405020304" pitchFamily="18" charset="0"/>
              </a:rPr>
              <a:t> parameter </a:t>
            </a:r>
            <a:r>
              <a:rPr lang="en-US" sz="1517" dirty="0" err="1">
                <a:latin typeface="Times New Roman" panose="02020603050405020304" pitchFamily="18" charset="0"/>
                <a:cs typeface="Times New Roman" panose="02020603050405020304" pitchFamily="18" charset="0"/>
              </a:rPr>
              <a:t>theo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thứ</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tự</a:t>
            </a:r>
            <a:endParaRPr lang="en-US" sz="1517" dirty="0">
              <a:latin typeface="Times New Roman" panose="02020603050405020304" pitchFamily="18" charset="0"/>
              <a:cs typeface="Times New Roman" panose="02020603050405020304" pitchFamily="18" charset="0"/>
            </a:endParaRPr>
          </a:p>
          <a:p>
            <a:endParaRPr lang="en-US" sz="867"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tim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kiem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FacilityName</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và</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PrefectureCode</a:t>
            </a:r>
            <a:endParaRPr lang="en-US" sz="867" dirty="0">
              <a:solidFill>
                <a:srgbClr val="3F7F5F"/>
              </a:solidFill>
              <a:latin typeface="Consolas" panose="020B0609020204030204" pitchFamily="49" charset="0"/>
            </a:endParaRP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Parameter </a:t>
            </a:r>
            <a:r>
              <a:rPr lang="en-US" sz="867" dirty="0" err="1">
                <a:solidFill>
                  <a:srgbClr val="3F7F5F"/>
                </a:solidFill>
                <a:latin typeface="Consolas" panose="020B0609020204030204" pitchFamily="49" charset="0"/>
              </a:rPr>
              <a:t>duoc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truyen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tu</a:t>
            </a:r>
            <a:endParaRPr lang="en-US" sz="867" dirty="0">
              <a:solidFill>
                <a:srgbClr val="3F7F5F"/>
              </a:solidFill>
              <a:latin typeface="Consolas" panose="020B0609020204030204" pitchFamily="49" charset="0"/>
            </a:endParaRP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"Select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where </a:t>
            </a:r>
            <a:r>
              <a:rPr lang="en-US" sz="867" dirty="0" err="1">
                <a:solidFill>
                  <a:srgbClr val="2A00FF"/>
                </a:solidFill>
                <a:latin typeface="Consolas" panose="020B0609020204030204" pitchFamily="49" charset="0"/>
              </a:rPr>
              <a:t>fa.facilityName</a:t>
            </a:r>
            <a:r>
              <a:rPr lang="en-US" sz="867" dirty="0">
                <a:solidFill>
                  <a:srgbClr val="2A00FF"/>
                </a:solidFill>
                <a:latin typeface="Consolas" panose="020B0609020204030204" pitchFamily="49" charset="0"/>
              </a:rPr>
              <a:t> = ?1 And </a:t>
            </a:r>
            <a:r>
              <a:rPr lang="en-US" sz="867" dirty="0" err="1">
                <a:solidFill>
                  <a:srgbClr val="2A00FF"/>
                </a:solidFill>
                <a:latin typeface="Consolas" panose="020B0609020204030204" pitchFamily="49" charset="0"/>
              </a:rPr>
              <a:t>fa.prefectureCode</a:t>
            </a:r>
            <a:r>
              <a:rPr lang="en-US" sz="867" dirty="0">
                <a:solidFill>
                  <a:srgbClr val="2A00FF"/>
                </a:solidFill>
                <a:latin typeface="Consolas" panose="020B0609020204030204" pitchFamily="49" charset="0"/>
              </a:rPr>
              <a:t>=?2 ORDER BY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findByFacilityNameAndPrefectureCode</a:t>
            </a:r>
            <a:r>
              <a:rPr lang="en-US" sz="867" dirty="0">
                <a:solidFill>
                  <a:srgbClr val="000000"/>
                </a:solidFill>
                <a:latin typeface="Consolas" panose="020B0609020204030204" pitchFamily="49" charset="0"/>
              </a:rPr>
              <a:t>(</a:t>
            </a:r>
            <a:r>
              <a:rPr lang="en-US" sz="867" dirty="0" err="1">
                <a:solidFill>
                  <a:srgbClr val="000000"/>
                </a:solidFill>
                <a:latin typeface="Consolas" panose="020B0609020204030204" pitchFamily="49" charset="0"/>
              </a:rPr>
              <a:t>facilityName</a:t>
            </a:r>
            <a:r>
              <a:rPr lang="en-US" sz="867" dirty="0">
                <a:solidFill>
                  <a:srgbClr val="000000"/>
                </a:solidFill>
                <a:latin typeface="Consolas" panose="020B0609020204030204" pitchFamily="49" charset="0"/>
              </a:rPr>
              <a:t>: String, </a:t>
            </a:r>
            <a:r>
              <a:rPr lang="en-US" sz="867" dirty="0" err="1">
                <a:solidFill>
                  <a:srgbClr val="000000"/>
                </a:solidFill>
                <a:latin typeface="Consolas" panose="020B0609020204030204" pitchFamily="49" charset="0"/>
              </a:rPr>
              <a:t>prefectureCode</a:t>
            </a:r>
            <a:r>
              <a:rPr lang="en-US" sz="867" dirty="0">
                <a:solidFill>
                  <a:srgbClr val="000000"/>
                </a:solidFill>
                <a:latin typeface="Consolas" panose="020B0609020204030204" pitchFamily="49" charset="0"/>
              </a:rPr>
              <a:t>: String): List&lt;Facility&gt;?</a:t>
            </a:r>
            <a:endParaRPr lang="en-US" sz="867" dirty="0"/>
          </a:p>
        </p:txBody>
      </p:sp>
      <p:sp>
        <p:nvSpPr>
          <p:cNvPr id="9" name="正方形/長方形 8"/>
          <p:cNvSpPr/>
          <p:nvPr/>
        </p:nvSpPr>
        <p:spPr>
          <a:xfrm>
            <a:off x="820341" y="3596514"/>
            <a:ext cx="7385130" cy="1826782"/>
          </a:xfrm>
          <a:prstGeom prst="rect">
            <a:avLst/>
          </a:prstGeom>
        </p:spPr>
        <p:txBody>
          <a:bodyPr wrap="square">
            <a:spAutoFit/>
          </a:bodyPr>
          <a:lstStyle/>
          <a:p>
            <a:pPr marL="185749" indent="-185749">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Thực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truyền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theo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param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annotation @</a:t>
            </a:r>
            <a:r>
              <a:rPr lang="en-US" sz="1517" dirty="0" err="1">
                <a:latin typeface="Times New Roman" panose="02020603050405020304" pitchFamily="18" charset="0"/>
                <a:cs typeface="Times New Roman" panose="02020603050405020304" pitchFamily="18" charset="0"/>
              </a:rPr>
              <a:t>Param</a:t>
            </a:r>
            <a:endParaRPr lang="en-US" sz="1517" dirty="0">
              <a:latin typeface="Times New Roman" panose="02020603050405020304" pitchFamily="18" charset="0"/>
              <a:cs typeface="Times New Roman" panose="02020603050405020304" pitchFamily="18" charset="0"/>
            </a:endParaRPr>
          </a:p>
          <a:p>
            <a:endParaRPr lang="en-US" sz="1083" dirty="0">
              <a:solidFill>
                <a:srgbClr val="3F7F5F"/>
              </a:solidFill>
              <a:latin typeface="Consolas" panose="020B0609020204030204" pitchFamily="49" charset="0"/>
            </a:endParaRPr>
          </a:p>
          <a:p>
            <a:r>
              <a:rPr lang="en-US" sz="867" dirty="0">
                <a:solidFill>
                  <a:srgbClr val="3F7F5F"/>
                </a:solidFill>
                <a:latin typeface="Consolas" panose="020B0609020204030204" pitchFamily="49" charset="0"/>
              </a:rPr>
              <a:t>/**</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Thuc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hien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tim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kiem</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FacilityName</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và</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PrefectureCode</a:t>
            </a:r>
            <a:endParaRPr lang="en-US" sz="867" dirty="0">
              <a:solidFill>
                <a:srgbClr val="3F7F5F"/>
              </a:solidFill>
              <a:latin typeface="Consolas" panose="020B0609020204030204" pitchFamily="49" charset="0"/>
            </a:endParaRP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 Parameter </a:t>
            </a:r>
            <a:r>
              <a:rPr lang="en-US" sz="867" dirty="0" err="1">
                <a:solidFill>
                  <a:srgbClr val="3F7F5F"/>
                </a:solidFill>
                <a:latin typeface="Consolas" panose="020B0609020204030204" pitchFamily="49" charset="0"/>
              </a:rPr>
              <a:t>duoc</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truyen</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theo</a:t>
            </a:r>
            <a:r>
              <a:rPr lang="en-US" sz="867" dirty="0">
                <a:solidFill>
                  <a:srgbClr val="3F7F5F"/>
                </a:solidFill>
                <a:latin typeface="Consolas" panose="020B0609020204030204" pitchFamily="49" charset="0"/>
              </a:rPr>
              <a:t> </a:t>
            </a:r>
            <a:r>
              <a:rPr lang="en-US" sz="867" dirty="0" err="1">
                <a:solidFill>
                  <a:srgbClr val="3F7F5F"/>
                </a:solidFill>
                <a:latin typeface="Consolas" panose="020B0609020204030204" pitchFamily="49" charset="0"/>
              </a:rPr>
              <a:t>param</a:t>
            </a:r>
            <a:r>
              <a:rPr lang="en-US" sz="867" dirty="0">
                <a:solidFill>
                  <a:srgbClr val="3F7F5F"/>
                </a:solidFill>
                <a:latin typeface="Consolas" panose="020B0609020204030204" pitchFamily="49" charset="0"/>
              </a:rPr>
              <a:t> name</a:t>
            </a:r>
          </a:p>
          <a:p>
            <a:r>
              <a:rPr lang="en-US" sz="867" dirty="0">
                <a:solidFill>
                  <a:srgbClr val="000000"/>
                </a:solidFill>
                <a:latin typeface="Consolas" panose="020B0609020204030204" pitchFamily="49" charset="0"/>
              </a:rPr>
              <a:t> </a:t>
            </a:r>
            <a:r>
              <a:rPr lang="en-US" sz="867" dirty="0">
                <a:solidFill>
                  <a:srgbClr val="3F7F5F"/>
                </a:solidFill>
                <a:latin typeface="Consolas" panose="020B0609020204030204" pitchFamily="49" charset="0"/>
              </a:rPr>
              <a:t>*/</a:t>
            </a:r>
          </a:p>
          <a:p>
            <a:r>
              <a:rPr lang="en-US" sz="867" dirty="0">
                <a:solidFill>
                  <a:srgbClr val="646464"/>
                </a:solidFill>
                <a:latin typeface="Consolas" panose="020B0609020204030204" pitchFamily="49" charset="0"/>
              </a:rPr>
              <a:t>@Query</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"Select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from Facility </a:t>
            </a:r>
            <a:r>
              <a:rPr lang="en-US" sz="867" dirty="0" err="1">
                <a:solidFill>
                  <a:srgbClr val="2A00FF"/>
                </a:solidFill>
                <a:latin typeface="Consolas" panose="020B0609020204030204" pitchFamily="49" charset="0"/>
              </a:rPr>
              <a:t>fa</a:t>
            </a:r>
            <a:r>
              <a:rPr lang="en-US" sz="867" dirty="0">
                <a:solidFill>
                  <a:srgbClr val="2A00FF"/>
                </a:solidFill>
                <a:latin typeface="Consolas" panose="020B0609020204030204" pitchFamily="49" charset="0"/>
              </a:rPr>
              <a:t> where </a:t>
            </a:r>
            <a:r>
              <a:rPr lang="en-US" sz="867" dirty="0" err="1">
                <a:solidFill>
                  <a:srgbClr val="2A00FF"/>
                </a:solidFill>
                <a:latin typeface="Consolas" panose="020B0609020204030204" pitchFamily="49" charset="0"/>
              </a:rPr>
              <a:t>fa.facilityName</a:t>
            </a:r>
            <a:r>
              <a:rPr lang="en-US" sz="867" dirty="0">
                <a:solidFill>
                  <a:srgbClr val="2A00FF"/>
                </a:solidFill>
                <a:latin typeface="Consolas" panose="020B0609020204030204" pitchFamily="49" charset="0"/>
              </a:rPr>
              <a:t> like %:</a:t>
            </a:r>
            <a:r>
              <a:rPr lang="en-US" sz="867" dirty="0" err="1">
                <a:solidFill>
                  <a:srgbClr val="2A00FF"/>
                </a:solidFill>
                <a:latin typeface="Consolas" panose="020B0609020204030204" pitchFamily="49" charset="0"/>
              </a:rPr>
              <a:t>facilityName</a:t>
            </a:r>
            <a:r>
              <a:rPr lang="en-US" sz="867" dirty="0">
                <a:solidFill>
                  <a:srgbClr val="2A00FF"/>
                </a:solidFill>
                <a:latin typeface="Consolas" panose="020B0609020204030204" pitchFamily="49" charset="0"/>
              </a:rPr>
              <a:t> And </a:t>
            </a:r>
            <a:r>
              <a:rPr lang="en-US" sz="867" dirty="0" err="1">
                <a:solidFill>
                  <a:srgbClr val="2A00FF"/>
                </a:solidFill>
                <a:latin typeface="Consolas" panose="020B0609020204030204" pitchFamily="49" charset="0"/>
              </a:rPr>
              <a:t>fa.prefectureCode</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prefectureCode</a:t>
            </a:r>
            <a:r>
              <a:rPr lang="en-US" sz="867" dirty="0">
                <a:solidFill>
                  <a:srgbClr val="2A00FF"/>
                </a:solidFill>
                <a:latin typeface="Consolas" panose="020B0609020204030204" pitchFamily="49" charset="0"/>
              </a:rPr>
              <a:t> ORDER BY </a:t>
            </a:r>
            <a:r>
              <a:rPr lang="en-US" sz="867" dirty="0" err="1">
                <a:solidFill>
                  <a:srgbClr val="2A00FF"/>
                </a:solidFill>
                <a:latin typeface="Consolas" panose="020B0609020204030204" pitchFamily="49" charset="0"/>
              </a:rPr>
              <a:t>fa.commonFacilityCode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a:t>
            </a:r>
          </a:p>
          <a:p>
            <a:r>
              <a:rPr lang="en-US" sz="867" dirty="0">
                <a:solidFill>
                  <a:srgbClr val="7F0055"/>
                </a:solidFill>
                <a:latin typeface="Consolas" panose="020B0609020204030204" pitchFamily="49" charset="0"/>
              </a:rPr>
              <a:t>fun</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findByFacilityNameAndPrefectureCode</a:t>
            </a:r>
            <a:r>
              <a:rPr lang="en-US" sz="867" dirty="0">
                <a:solidFill>
                  <a:srgbClr val="000000"/>
                </a:solidFill>
                <a:latin typeface="Consolas" panose="020B0609020204030204" pitchFamily="49" charset="0"/>
              </a:rPr>
              <a:t>(</a:t>
            </a:r>
          </a:p>
          <a:p>
            <a:r>
              <a:rPr lang="en-US" sz="867" dirty="0">
                <a:solidFill>
                  <a:srgbClr val="646464"/>
                </a:solidFill>
                <a:latin typeface="Consolas" panose="020B0609020204030204" pitchFamily="49" charset="0"/>
              </a:rPr>
              <a:t>@</a:t>
            </a:r>
            <a:r>
              <a:rPr lang="en-US" sz="867" dirty="0" err="1">
                <a:solidFill>
                  <a:srgbClr val="646464"/>
                </a:solidFill>
                <a:latin typeface="Consolas" panose="020B0609020204030204" pitchFamily="49" charset="0"/>
              </a:rPr>
              <a:t>Param</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facilityName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facilityName</a:t>
            </a:r>
            <a:r>
              <a:rPr lang="en-US" sz="867" dirty="0">
                <a:solidFill>
                  <a:srgbClr val="000000"/>
                </a:solidFill>
                <a:latin typeface="Consolas" panose="020B0609020204030204" pitchFamily="49" charset="0"/>
              </a:rPr>
              <a:t>: String,</a:t>
            </a:r>
          </a:p>
          <a:p>
            <a:r>
              <a:rPr lang="en-US" sz="867" dirty="0">
                <a:solidFill>
                  <a:srgbClr val="646464"/>
                </a:solidFill>
                <a:latin typeface="Consolas" panose="020B0609020204030204" pitchFamily="49" charset="0"/>
              </a:rPr>
              <a:t>@</a:t>
            </a:r>
            <a:r>
              <a:rPr lang="en-US" sz="867" dirty="0" err="1">
                <a:solidFill>
                  <a:srgbClr val="646464"/>
                </a:solidFill>
                <a:latin typeface="Consolas" panose="020B0609020204030204" pitchFamily="49" charset="0"/>
              </a:rPr>
              <a:t>Param</a:t>
            </a:r>
            <a:r>
              <a:rPr lang="en-US" sz="867" dirty="0">
                <a:solidFill>
                  <a:srgbClr val="000000"/>
                </a:solidFill>
                <a:latin typeface="Consolas" panose="020B0609020204030204" pitchFamily="49" charset="0"/>
              </a:rPr>
              <a:t>(</a:t>
            </a:r>
            <a:r>
              <a:rPr lang="en-US" sz="867" dirty="0">
                <a:solidFill>
                  <a:srgbClr val="2A00FF"/>
                </a:solidFill>
                <a:latin typeface="Consolas" panose="020B0609020204030204" pitchFamily="49" charset="0"/>
              </a:rPr>
              <a:t>"</a:t>
            </a:r>
            <a:r>
              <a:rPr lang="en-US" sz="867" dirty="0" err="1">
                <a:solidFill>
                  <a:srgbClr val="2A00FF"/>
                </a:solidFill>
                <a:latin typeface="Consolas" panose="020B0609020204030204" pitchFamily="49" charset="0"/>
              </a:rPr>
              <a:t>prefectureCode</a:t>
            </a:r>
            <a:r>
              <a:rPr lang="en-US" sz="867" dirty="0">
                <a:solidFill>
                  <a:srgbClr val="2A00FF"/>
                </a:solidFill>
                <a:latin typeface="Consolas" panose="020B0609020204030204" pitchFamily="49" charset="0"/>
              </a:rPr>
              <a:t>"</a:t>
            </a:r>
            <a:r>
              <a:rPr lang="en-US" sz="867" dirty="0">
                <a:solidFill>
                  <a:srgbClr val="000000"/>
                </a:solidFill>
                <a:latin typeface="Consolas" panose="020B0609020204030204" pitchFamily="49" charset="0"/>
              </a:rPr>
              <a:t>) </a:t>
            </a:r>
            <a:r>
              <a:rPr lang="en-US" sz="867" dirty="0" err="1">
                <a:solidFill>
                  <a:srgbClr val="000000"/>
                </a:solidFill>
                <a:latin typeface="Consolas" panose="020B0609020204030204" pitchFamily="49" charset="0"/>
              </a:rPr>
              <a:t>prefectureCode</a:t>
            </a:r>
            <a:r>
              <a:rPr lang="en-US" sz="867" dirty="0">
                <a:solidFill>
                  <a:srgbClr val="000000"/>
                </a:solidFill>
                <a:latin typeface="Consolas" panose="020B0609020204030204" pitchFamily="49" charset="0"/>
              </a:rPr>
              <a:t>: String</a:t>
            </a:r>
          </a:p>
          <a:p>
            <a:r>
              <a:rPr lang="en-US" sz="867" dirty="0">
                <a:solidFill>
                  <a:srgbClr val="000000"/>
                </a:solidFill>
                <a:latin typeface="Consolas" panose="020B0609020204030204" pitchFamily="49" charset="0"/>
              </a:rPr>
              <a:t>): List&lt;Facility&gt;?</a:t>
            </a:r>
            <a:endParaRPr lang="en-US" sz="867" dirty="0"/>
          </a:p>
        </p:txBody>
      </p:sp>
      <p:sp>
        <p:nvSpPr>
          <p:cNvPr id="5" name="正方形/長方形 4"/>
          <p:cNvSpPr/>
          <p:nvPr/>
        </p:nvSpPr>
        <p:spPr>
          <a:xfrm>
            <a:off x="3590925" y="2904808"/>
            <a:ext cx="3173016" cy="14497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3" name="正方形/長方形 12"/>
          <p:cNvSpPr/>
          <p:nvPr/>
        </p:nvSpPr>
        <p:spPr>
          <a:xfrm>
            <a:off x="3590925" y="3187794"/>
            <a:ext cx="3049191" cy="21746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6" name="正方形/長方形 5"/>
          <p:cNvSpPr/>
          <p:nvPr/>
        </p:nvSpPr>
        <p:spPr>
          <a:xfrm>
            <a:off x="3590925" y="4582121"/>
            <a:ext cx="2453283" cy="20121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7" name="正方形/長方形 6"/>
          <p:cNvSpPr/>
          <p:nvPr/>
        </p:nvSpPr>
        <p:spPr>
          <a:xfrm>
            <a:off x="820341" y="4783336"/>
            <a:ext cx="2306241" cy="131564"/>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8" name="正方形/長方形 7"/>
          <p:cNvSpPr/>
          <p:nvPr/>
        </p:nvSpPr>
        <p:spPr>
          <a:xfrm>
            <a:off x="820341" y="5069681"/>
            <a:ext cx="3327797" cy="278606"/>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0" name="角丸四角形吹き出し 9"/>
          <p:cNvSpPr/>
          <p:nvPr/>
        </p:nvSpPr>
        <p:spPr>
          <a:xfrm>
            <a:off x="6361510" y="4744641"/>
            <a:ext cx="1942505" cy="993659"/>
          </a:xfrm>
          <a:prstGeom prst="wedgeRoundRectCallout">
            <a:avLst>
              <a:gd name="adj1" fmla="val -64259"/>
              <a:gd name="adj2" fmla="val -42628"/>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67" dirty="0" err="1"/>
              <a:t>Với</a:t>
            </a:r>
            <a:r>
              <a:rPr lang="en-US" sz="867" dirty="0"/>
              <a:t> </a:t>
            </a:r>
            <a:r>
              <a:rPr lang="en-US" sz="867" dirty="0" err="1"/>
              <a:t>điều</a:t>
            </a:r>
            <a:r>
              <a:rPr lang="en-US" sz="867" dirty="0"/>
              <a:t> </a:t>
            </a:r>
            <a:r>
              <a:rPr lang="en-US" sz="867" dirty="0" err="1"/>
              <a:t>kiện</a:t>
            </a:r>
            <a:r>
              <a:rPr lang="en-US" sz="867" dirty="0"/>
              <a:t> Like </a:t>
            </a:r>
            <a:r>
              <a:rPr lang="en-US" sz="867" dirty="0" err="1"/>
              <a:t>các</a:t>
            </a:r>
            <a:r>
              <a:rPr lang="en-US" sz="867" dirty="0"/>
              <a:t> </a:t>
            </a:r>
            <a:r>
              <a:rPr lang="en-US" sz="867" dirty="0" err="1"/>
              <a:t>điều</a:t>
            </a:r>
            <a:r>
              <a:rPr lang="en-US" sz="867" dirty="0"/>
              <a:t> </a:t>
            </a:r>
            <a:r>
              <a:rPr lang="en-US" sz="867" dirty="0" err="1"/>
              <a:t>kiện</a:t>
            </a:r>
            <a:r>
              <a:rPr lang="en-US" sz="867" dirty="0"/>
              <a:t> “%”,”_” </a:t>
            </a:r>
            <a:r>
              <a:rPr lang="en-US" sz="867" dirty="0" err="1"/>
              <a:t>được</a:t>
            </a:r>
            <a:r>
              <a:rPr lang="en-US" sz="867" dirty="0"/>
              <a:t> </a:t>
            </a:r>
            <a:r>
              <a:rPr lang="en-US" sz="867" dirty="0" err="1"/>
              <a:t>đặt</a:t>
            </a:r>
            <a:r>
              <a:rPr lang="en-US" sz="867" dirty="0"/>
              <a:t> </a:t>
            </a:r>
            <a:r>
              <a:rPr lang="en-US" sz="867" dirty="0" err="1"/>
              <a:t>trước</a:t>
            </a:r>
            <a:r>
              <a:rPr lang="en-US" sz="867" dirty="0"/>
              <a:t> </a:t>
            </a:r>
            <a:r>
              <a:rPr lang="en-US" sz="867" dirty="0" err="1"/>
              <a:t>tên</a:t>
            </a:r>
            <a:r>
              <a:rPr lang="en-US" sz="867" dirty="0"/>
              <a:t> </a:t>
            </a:r>
            <a:r>
              <a:rPr lang="en-US" sz="867" dirty="0" err="1"/>
              <a:t>param</a:t>
            </a:r>
            <a:r>
              <a:rPr lang="en-US" sz="867" dirty="0"/>
              <a:t> </a:t>
            </a:r>
            <a:r>
              <a:rPr lang="en-US" sz="867" dirty="0" err="1"/>
              <a:t>mà</a:t>
            </a:r>
            <a:r>
              <a:rPr lang="en-US" sz="867" dirty="0"/>
              <a:t> </a:t>
            </a:r>
            <a:r>
              <a:rPr lang="en-US" sz="867" dirty="0" err="1"/>
              <a:t>không</a:t>
            </a:r>
            <a:r>
              <a:rPr lang="en-US" sz="867" dirty="0"/>
              <a:t> </a:t>
            </a:r>
            <a:r>
              <a:rPr lang="en-US" sz="867" dirty="0" err="1"/>
              <a:t>cần</a:t>
            </a:r>
            <a:r>
              <a:rPr lang="en-US" sz="867" dirty="0"/>
              <a:t> </a:t>
            </a:r>
            <a:r>
              <a:rPr lang="en-US" sz="867" dirty="0" err="1"/>
              <a:t>phải</a:t>
            </a:r>
            <a:r>
              <a:rPr lang="en-US" sz="867" dirty="0"/>
              <a:t> </a:t>
            </a:r>
            <a:r>
              <a:rPr lang="en-US" sz="867" dirty="0" err="1"/>
              <a:t>thêm</a:t>
            </a:r>
            <a:r>
              <a:rPr lang="en-US" sz="867" dirty="0"/>
              <a:t> </a:t>
            </a:r>
            <a:r>
              <a:rPr lang="en-US" sz="867" dirty="0" err="1"/>
              <a:t>dấu</a:t>
            </a:r>
            <a:r>
              <a:rPr lang="en-US" sz="867" dirty="0"/>
              <a:t> </a:t>
            </a:r>
            <a:r>
              <a:rPr lang="en-US" sz="867" dirty="0" err="1"/>
              <a:t>nháy</a:t>
            </a:r>
            <a:r>
              <a:rPr lang="en-US" sz="867" dirty="0"/>
              <a:t> </a:t>
            </a:r>
            <a:r>
              <a:rPr lang="en-US" sz="867" dirty="0" err="1"/>
              <a:t>đơn</a:t>
            </a:r>
            <a:r>
              <a:rPr lang="en-US" sz="867" dirty="0"/>
              <a:t> (‘ ’)</a:t>
            </a:r>
          </a:p>
        </p:txBody>
      </p:sp>
    </p:spTree>
    <p:extLst>
      <p:ext uri="{BB962C8B-B14F-4D97-AF65-F5344CB8AC3E}">
        <p14:creationId xmlns:p14="http://schemas.microsoft.com/office/powerpoint/2010/main" val="26789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1"/>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Freeform 12"/>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3" name="Freeform 13"/>
          <p:cNvSpPr/>
          <p:nvPr/>
        </p:nvSpPr>
        <p:spPr>
          <a:xfrm>
            <a:off x="0" y="642938"/>
            <a:ext cx="9906000" cy="5572124"/>
          </a:xfrm>
          <a:custGeom>
            <a:avLst/>
            <a:gdLst>
              <a:gd name="connsiteX0" fmla="*/ 0 w 18288000"/>
              <a:gd name="connsiteY0" fmla="*/ 0 h 10286999"/>
              <a:gd name="connsiteX1" fmla="*/ 18288000 w 18288000"/>
              <a:gd name="connsiteY1" fmla="*/ 0 h 10286999"/>
              <a:gd name="connsiteX2" fmla="*/ 18288000 w 18288000"/>
              <a:gd name="connsiteY2" fmla="*/ 10286999 h 10286999"/>
              <a:gd name="connsiteX3" fmla="*/ 0 w 18288000"/>
              <a:gd name="connsiteY3" fmla="*/ 10286999 h 10286999"/>
              <a:gd name="connsiteX4" fmla="*/ 0 w 18288000"/>
              <a:gd name="connsiteY4" fmla="*/ 0 h 10286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9">
                <a:moveTo>
                  <a:pt x="0" y="0"/>
                </a:moveTo>
                <a:lnTo>
                  <a:pt x="18288000" y="0"/>
                </a:lnTo>
                <a:lnTo>
                  <a:pt x="18288000" y="10286999"/>
                </a:lnTo>
                <a:lnTo>
                  <a:pt x="0" y="10286999"/>
                </a:lnTo>
                <a:lnTo>
                  <a:pt x="0" y="0"/>
                </a:lnTo>
                <a:close/>
              </a:path>
            </a:pathLst>
          </a:custGeom>
          <a:solidFill>
            <a:srgbClr val="29498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1" name="Picture 21"/>
          <p:cNvPicPr>
            <a:picLocks noChangeAspect="1"/>
          </p:cNvPicPr>
          <p:nvPr/>
        </p:nvPicPr>
        <p:blipFill>
          <a:blip r:embed="rId2"/>
          <a:stretch>
            <a:fillRect/>
          </a:stretch>
        </p:blipFill>
        <p:spPr>
          <a:xfrm>
            <a:off x="705803" y="1546860"/>
            <a:ext cx="3285490" cy="3615690"/>
          </a:xfrm>
          <a:prstGeom prst="rect">
            <a:avLst/>
          </a:prstGeom>
        </p:spPr>
      </p:pic>
      <p:sp>
        <p:nvSpPr>
          <p:cNvPr id="2" name="TextBox 21"/>
          <p:cNvSpPr txBox="1"/>
          <p:nvPr/>
        </p:nvSpPr>
        <p:spPr>
          <a:xfrm>
            <a:off x="3991293" y="2512082"/>
            <a:ext cx="5613399" cy="1833900"/>
          </a:xfrm>
          <a:prstGeom prst="rect">
            <a:avLst/>
          </a:prstGeom>
          <a:noFill/>
        </p:spPr>
        <p:txBody>
          <a:bodyPr wrap="square" lIns="0" tIns="0" rIns="0" bIns="0" rtlCol="0">
            <a:spAutoFit/>
          </a:bodyPr>
          <a:lstStyle/>
          <a:p>
            <a:pPr algn="ctr"/>
            <a:r>
              <a:rPr lang="en-US" altLang="zh-CN" sz="4767" spc="100" dirty="0">
                <a:solidFill>
                  <a:srgbClr val="F5B3A5"/>
                </a:solidFill>
                <a:latin typeface="Times New Roman"/>
                <a:ea typeface="Times New Roman"/>
              </a:rPr>
              <a:t>5. </a:t>
            </a:r>
            <a:r>
              <a:rPr lang="en-US" sz="4767" spc="100" dirty="0">
                <a:solidFill>
                  <a:srgbClr val="F5B3A5"/>
                </a:solidFill>
                <a:latin typeface="Times New Roman"/>
                <a:ea typeface="Times New Roman"/>
              </a:rPr>
              <a:t>Pessimistic Locking </a:t>
            </a:r>
            <a:r>
              <a:rPr lang="en-US" sz="4767" spc="100" dirty="0" err="1">
                <a:solidFill>
                  <a:srgbClr val="F5B3A5"/>
                </a:solidFill>
                <a:latin typeface="Times New Roman"/>
                <a:ea typeface="Times New Roman"/>
              </a:rPr>
              <a:t>trong</a:t>
            </a:r>
            <a:r>
              <a:rPr lang="en-US" sz="4767" spc="100" dirty="0">
                <a:solidFill>
                  <a:srgbClr val="F5B3A5"/>
                </a:solidFill>
                <a:latin typeface="Times New Roman"/>
                <a:ea typeface="Times New Roman"/>
              </a:rPr>
              <a:t> JPA</a:t>
            </a:r>
            <a:endParaRPr lang="en-US" altLang="zh-CN" sz="4767" spc="100" dirty="0">
              <a:solidFill>
                <a:srgbClr val="F5B3A5"/>
              </a:solidFill>
              <a:latin typeface="Times New Roman"/>
              <a:ea typeface="Times New Roman"/>
            </a:endParaRPr>
          </a:p>
          <a:p>
            <a:pPr algn="ctr"/>
            <a:endParaRPr lang="en-US" altLang="zh-CN" sz="2383" spc="106" dirty="0">
              <a:solidFill>
                <a:srgbClr val="93DCDD"/>
              </a:solidFill>
              <a:latin typeface="Times New Roman"/>
              <a:ea typeface="Times New Roman"/>
            </a:endParaRPr>
          </a:p>
        </p:txBody>
      </p:sp>
    </p:spTree>
    <p:extLst>
      <p:ext uri="{BB962C8B-B14F-4D97-AF65-F5344CB8AC3E}">
        <p14:creationId xmlns:p14="http://schemas.microsoft.com/office/powerpoint/2010/main" val="314493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386778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a:latin typeface="Times New Roman" panose="02020603050405020304" pitchFamily="18" charset="0"/>
                <a:cs typeface="Times New Roman" panose="02020603050405020304" pitchFamily="18" charset="0"/>
              </a:rPr>
              <a:t>Pessimistic Locking </a:t>
            </a:r>
            <a:r>
              <a:rPr lang="en-US" sz="2167" dirty="0" err="1">
                <a:latin typeface="Times New Roman" panose="02020603050405020304" pitchFamily="18" charset="0"/>
                <a:cs typeface="Times New Roman" panose="02020603050405020304" pitchFamily="18" charset="0"/>
              </a:rPr>
              <a:t>trong</a:t>
            </a:r>
            <a:r>
              <a:rPr lang="en-US" sz="2167" dirty="0">
                <a:latin typeface="Times New Roman" panose="02020603050405020304" pitchFamily="18" charset="0"/>
                <a:cs typeface="Times New Roman" panose="02020603050405020304" pitchFamily="18" charset="0"/>
              </a:rPr>
              <a:t> JPA</a:t>
            </a:r>
          </a:p>
        </p:txBody>
      </p:sp>
      <p:pic>
        <p:nvPicPr>
          <p:cNvPr id="14"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0"/>
            <a:ext cx="7653933" cy="3360792"/>
          </a:xfrm>
          <a:prstGeom prst="rect">
            <a:avLst/>
          </a:prstGeom>
          <a:noFill/>
        </p:spPr>
        <p:txBody>
          <a:bodyPr wrap="square" rtlCol="0">
            <a:spAutoFit/>
          </a:bodyPr>
          <a:lstStyle/>
          <a:p>
            <a:pPr marL="247665" indent="-247665">
              <a:buFont typeface="Wingdings" panose="05000000000000000000" pitchFamily="2" charset="2"/>
              <a:buChar char="Ø"/>
            </a:pPr>
            <a:r>
              <a:rPr lang="vi-VN" sz="1517" dirty="0">
                <a:latin typeface="+mj-lt"/>
              </a:rPr>
              <a:t>Có rất nhiều tình huống khi chúng ta muốn lấy dữ liệu từ cơ sở dữ liệu</a:t>
            </a:r>
            <a:r>
              <a:rPr lang="en-US" sz="1517" dirty="0">
                <a:latin typeface="+mj-lt"/>
              </a:rPr>
              <a:t> </a:t>
            </a:r>
            <a:r>
              <a:rPr lang="en-US" sz="1517" dirty="0" err="1">
                <a:latin typeface="+mj-lt"/>
              </a:rPr>
              <a:t>để</a:t>
            </a:r>
            <a:r>
              <a:rPr lang="en-US" sz="1517" dirty="0">
                <a:latin typeface="+mj-lt"/>
              </a:rPr>
              <a:t> </a:t>
            </a:r>
            <a:r>
              <a:rPr lang="en-US" sz="1517" dirty="0" err="1">
                <a:latin typeface="+mj-lt"/>
              </a:rPr>
              <a:t>xử</a:t>
            </a:r>
            <a:r>
              <a:rPr lang="en-US" sz="1517" dirty="0">
                <a:latin typeface="+mj-lt"/>
              </a:rPr>
              <a:t> </a:t>
            </a:r>
            <a:r>
              <a:rPr lang="en-US" sz="1517" dirty="0" err="1">
                <a:latin typeface="+mj-lt"/>
              </a:rPr>
              <a:t>lý</a:t>
            </a:r>
            <a:r>
              <a:rPr lang="en-US" sz="1517" dirty="0">
                <a:latin typeface="+mj-lt"/>
              </a:rPr>
              <a:t> </a:t>
            </a:r>
            <a:r>
              <a:rPr lang="en-US" sz="1517" dirty="0" err="1">
                <a:latin typeface="+mj-lt"/>
              </a:rPr>
              <a:t>mà</a:t>
            </a:r>
            <a:r>
              <a:rPr lang="en-US" sz="1517" dirty="0">
                <a:latin typeface="+mj-lt"/>
              </a:rPr>
              <a:t> </a:t>
            </a:r>
            <a:r>
              <a:rPr lang="en-US" sz="1517" dirty="0" err="1">
                <a:latin typeface="+mj-lt"/>
              </a:rPr>
              <a:t>không</a:t>
            </a:r>
            <a:r>
              <a:rPr lang="en-US" sz="1517" dirty="0">
                <a:latin typeface="+mj-lt"/>
              </a:rPr>
              <a:t> </a:t>
            </a:r>
            <a:r>
              <a:rPr lang="en-US" sz="1517" dirty="0" err="1">
                <a:latin typeface="+mj-lt"/>
              </a:rPr>
              <a:t>muốn</a:t>
            </a:r>
            <a:r>
              <a:rPr lang="en-US" sz="1517" dirty="0">
                <a:latin typeface="+mj-lt"/>
              </a:rPr>
              <a:t> </a:t>
            </a:r>
            <a:r>
              <a:rPr lang="en-US" sz="1517" dirty="0" err="1">
                <a:latin typeface="+mj-lt"/>
              </a:rPr>
              <a:t>người</a:t>
            </a:r>
            <a:r>
              <a:rPr lang="en-US" sz="1517" dirty="0">
                <a:latin typeface="+mj-lt"/>
              </a:rPr>
              <a:t> </a:t>
            </a:r>
            <a:r>
              <a:rPr lang="en-US" sz="1517" dirty="0" err="1">
                <a:latin typeface="+mj-lt"/>
              </a:rPr>
              <a:t>khác</a:t>
            </a:r>
            <a:r>
              <a:rPr lang="en-US" sz="1517" dirty="0">
                <a:latin typeface="+mj-lt"/>
              </a:rPr>
              <a:t> </a:t>
            </a:r>
            <a:r>
              <a:rPr lang="en-US" sz="1517" dirty="0" err="1">
                <a:latin typeface="+mj-lt"/>
              </a:rPr>
              <a:t>làm</a:t>
            </a:r>
            <a:r>
              <a:rPr lang="en-US" sz="1517" dirty="0">
                <a:latin typeface="+mj-lt"/>
              </a:rPr>
              <a:t> </a:t>
            </a:r>
            <a:r>
              <a:rPr lang="en-US" sz="1517" dirty="0" err="1">
                <a:latin typeface="+mj-lt"/>
              </a:rPr>
              <a:t>gián</a:t>
            </a:r>
            <a:r>
              <a:rPr lang="en-US" sz="1517" dirty="0">
                <a:latin typeface="+mj-lt"/>
              </a:rPr>
              <a:t> </a:t>
            </a:r>
            <a:r>
              <a:rPr lang="en-US" sz="1517" dirty="0" err="1">
                <a:latin typeface="+mj-lt"/>
              </a:rPr>
              <a:t>đoạn</a:t>
            </a:r>
            <a:r>
              <a:rPr lang="en-US" sz="1517" dirty="0">
                <a:latin typeface="+mj-lt"/>
              </a:rPr>
              <a:t> </a:t>
            </a:r>
            <a:r>
              <a:rPr lang="en-US" sz="1517" dirty="0" err="1">
                <a:latin typeface="+mj-lt"/>
              </a:rPr>
              <a:t>trong</a:t>
            </a:r>
            <a:r>
              <a:rPr lang="en-US" sz="1517" dirty="0">
                <a:latin typeface="+mj-lt"/>
              </a:rPr>
              <a:t> </a:t>
            </a:r>
            <a:r>
              <a:rPr lang="en-US" sz="1517" dirty="0" err="1">
                <a:latin typeface="+mj-lt"/>
              </a:rPr>
              <a:t>quá</a:t>
            </a:r>
            <a:r>
              <a:rPr lang="en-US" sz="1517" dirty="0">
                <a:latin typeface="+mj-lt"/>
              </a:rPr>
              <a:t> </a:t>
            </a:r>
            <a:r>
              <a:rPr lang="en-US" sz="1517" dirty="0" err="1">
                <a:latin typeface="+mj-lt"/>
              </a:rPr>
              <a:t>trình</a:t>
            </a:r>
            <a:r>
              <a:rPr lang="en-US" sz="1517" dirty="0">
                <a:latin typeface="+mj-lt"/>
              </a:rPr>
              <a:t> </a:t>
            </a:r>
            <a:r>
              <a:rPr lang="en-US" sz="1517" dirty="0" err="1">
                <a:latin typeface="+mj-lt"/>
              </a:rPr>
              <a:t>xử</a:t>
            </a:r>
            <a:r>
              <a:rPr lang="en-US" sz="1517" dirty="0">
                <a:latin typeface="+mj-lt"/>
              </a:rPr>
              <a:t> </a:t>
            </a:r>
            <a:r>
              <a:rPr lang="en-US" sz="1517" dirty="0" err="1">
                <a:latin typeface="+mj-lt"/>
              </a:rPr>
              <a:t>lý</a:t>
            </a:r>
            <a:r>
              <a:rPr lang="en-US" sz="1517" dirty="0">
                <a:latin typeface="+mj-lt"/>
              </a:rPr>
              <a:t> </a:t>
            </a:r>
            <a:r>
              <a:rPr lang="en-US" sz="1517" dirty="0" err="1">
                <a:latin typeface="+mj-lt"/>
              </a:rPr>
              <a:t>của</a:t>
            </a:r>
            <a:r>
              <a:rPr lang="en-US" sz="1517" dirty="0">
                <a:latin typeface="+mj-lt"/>
              </a:rPr>
              <a:t> </a:t>
            </a:r>
            <a:r>
              <a:rPr lang="en-US" sz="1517" dirty="0" err="1">
                <a:latin typeface="+mj-lt"/>
              </a:rPr>
              <a:t>mình</a:t>
            </a:r>
            <a:r>
              <a:rPr lang="en-US" sz="1517" dirty="0">
                <a:latin typeface="+mj-lt"/>
              </a:rPr>
              <a:t>, </a:t>
            </a:r>
            <a:r>
              <a:rPr lang="en-US" sz="1517" dirty="0" err="1">
                <a:latin typeface="+mj-lt"/>
              </a:rPr>
              <a:t>thì</a:t>
            </a:r>
            <a:r>
              <a:rPr lang="en-US" sz="1517" dirty="0">
                <a:latin typeface="+mj-lt"/>
              </a:rPr>
              <a:t> </a:t>
            </a:r>
            <a:r>
              <a:rPr lang="en-US" sz="1517" dirty="0" err="1">
                <a:latin typeface="+mj-lt"/>
              </a:rPr>
              <a:t>cần</a:t>
            </a:r>
            <a:r>
              <a:rPr lang="en-US" sz="1517" dirty="0">
                <a:latin typeface="+mj-lt"/>
              </a:rPr>
              <a:t> </a:t>
            </a:r>
            <a:r>
              <a:rPr lang="en-US" sz="1517" dirty="0" err="1">
                <a:latin typeface="+mj-lt"/>
              </a:rPr>
              <a:t>thực</a:t>
            </a:r>
            <a:r>
              <a:rPr lang="en-US" sz="1517" dirty="0">
                <a:latin typeface="+mj-lt"/>
              </a:rPr>
              <a:t> </a:t>
            </a:r>
            <a:r>
              <a:rPr lang="en-US" sz="1517" dirty="0" err="1">
                <a:latin typeface="+mj-lt"/>
              </a:rPr>
              <a:t>hiện</a:t>
            </a:r>
            <a:r>
              <a:rPr lang="en-US" sz="1517" dirty="0">
                <a:latin typeface="+mj-lt"/>
              </a:rPr>
              <a:t> lock </a:t>
            </a:r>
            <a:r>
              <a:rPr lang="en-US" sz="1517" dirty="0" err="1">
                <a:latin typeface="+mj-lt"/>
              </a:rPr>
              <a:t>dữ</a:t>
            </a:r>
            <a:r>
              <a:rPr lang="en-US" sz="1517" dirty="0">
                <a:latin typeface="+mj-lt"/>
              </a:rPr>
              <a:t> </a:t>
            </a:r>
            <a:r>
              <a:rPr lang="en-US" sz="1517" dirty="0" err="1">
                <a:latin typeface="+mj-lt"/>
              </a:rPr>
              <a:t>liệu</a:t>
            </a:r>
            <a:r>
              <a:rPr lang="en-US" sz="1517" dirty="0">
                <a:latin typeface="+mj-lt"/>
              </a:rPr>
              <a:t>.</a:t>
            </a:r>
          </a:p>
          <a:p>
            <a:endParaRPr lang="en-US" sz="1517" dirty="0">
              <a:latin typeface="+mj-lt"/>
            </a:endParaRPr>
          </a:p>
          <a:p>
            <a:pPr marL="247665" indent="-247665">
              <a:buFont typeface="Wingdings" panose="05000000000000000000" pitchFamily="2" charset="2"/>
              <a:buChar char="Ø"/>
            </a:pPr>
            <a:r>
              <a:rPr lang="en-US" sz="1517" dirty="0">
                <a:latin typeface="+mj-lt"/>
              </a:rPr>
              <a:t>Trong Spring Data JPA </a:t>
            </a:r>
            <a:r>
              <a:rPr lang="en-US" sz="1517" dirty="0" err="1">
                <a:latin typeface="+mj-lt"/>
              </a:rPr>
              <a:t>chúng</a:t>
            </a:r>
            <a:r>
              <a:rPr lang="en-US" sz="1517" dirty="0">
                <a:latin typeface="+mj-lt"/>
              </a:rPr>
              <a:t> ta </a:t>
            </a:r>
            <a:r>
              <a:rPr lang="en-US" sz="1517" dirty="0" err="1">
                <a:latin typeface="+mj-lt"/>
              </a:rPr>
              <a:t>có</a:t>
            </a:r>
            <a:r>
              <a:rPr lang="en-US" sz="1517" dirty="0">
                <a:latin typeface="+mj-lt"/>
              </a:rPr>
              <a:t> </a:t>
            </a:r>
            <a:r>
              <a:rPr lang="en-US" sz="1517" dirty="0" err="1">
                <a:latin typeface="+mj-lt"/>
              </a:rPr>
              <a:t>thể</a:t>
            </a:r>
            <a:r>
              <a:rPr lang="en-US" sz="1517" dirty="0">
                <a:latin typeface="+mj-lt"/>
              </a:rPr>
              <a:t> </a:t>
            </a:r>
            <a:r>
              <a:rPr lang="en-US" sz="1517" dirty="0" err="1">
                <a:latin typeface="+mj-lt"/>
              </a:rPr>
              <a:t>sử</a:t>
            </a:r>
            <a:r>
              <a:rPr lang="en-US" sz="1517" dirty="0">
                <a:latin typeface="+mj-lt"/>
              </a:rPr>
              <a:t> </a:t>
            </a:r>
            <a:r>
              <a:rPr lang="en-US" sz="1517" dirty="0" err="1">
                <a:latin typeface="+mj-lt"/>
              </a:rPr>
              <a:t>dụng</a:t>
            </a:r>
            <a:r>
              <a:rPr lang="en-US" sz="1517" dirty="0">
                <a:latin typeface="+mj-lt"/>
              </a:rPr>
              <a:t> </a:t>
            </a:r>
            <a:r>
              <a:rPr lang="en-US" sz="1517" dirty="0"/>
              <a:t>pessimistic locking(</a:t>
            </a:r>
            <a:r>
              <a:rPr lang="en-US" sz="1517" dirty="0" err="1"/>
              <a:t>sử</a:t>
            </a:r>
            <a:r>
              <a:rPr lang="en-US" sz="1517" dirty="0"/>
              <a:t> </a:t>
            </a:r>
            <a:r>
              <a:rPr lang="en-US" sz="1517" dirty="0" err="1"/>
              <a:t>dụng</a:t>
            </a:r>
            <a:r>
              <a:rPr lang="en-US" sz="1517" dirty="0"/>
              <a:t> </a:t>
            </a:r>
            <a:r>
              <a:rPr lang="en-US" sz="1517" dirty="0" err="1"/>
              <a:t>cơ</a:t>
            </a:r>
            <a:r>
              <a:rPr lang="en-US" sz="1517" dirty="0"/>
              <a:t> </a:t>
            </a:r>
            <a:r>
              <a:rPr lang="en-US" sz="1517" dirty="0" err="1"/>
              <a:t>chế</a:t>
            </a:r>
            <a:r>
              <a:rPr lang="en-US" sz="1517" dirty="0"/>
              <a:t> </a:t>
            </a:r>
            <a:r>
              <a:rPr lang="en-US" sz="1517" dirty="0" err="1"/>
              <a:t>của</a:t>
            </a:r>
            <a:r>
              <a:rPr lang="en-US" sz="1517" dirty="0"/>
              <a:t> database) </a:t>
            </a:r>
            <a:r>
              <a:rPr lang="en-US" sz="1517" dirty="0" err="1"/>
              <a:t>để</a:t>
            </a:r>
            <a:r>
              <a:rPr lang="en-US" sz="1517" dirty="0"/>
              <a:t> </a:t>
            </a:r>
            <a:r>
              <a:rPr lang="en-US" sz="1517" dirty="0" err="1"/>
              <a:t>có</a:t>
            </a:r>
            <a:r>
              <a:rPr lang="en-US" sz="1517" dirty="0"/>
              <a:t> </a:t>
            </a:r>
            <a:r>
              <a:rPr lang="en-US" sz="1517" dirty="0" err="1"/>
              <a:t>thể</a:t>
            </a:r>
            <a:r>
              <a:rPr lang="en-US" sz="1517" dirty="0"/>
              <a:t> </a:t>
            </a:r>
            <a:r>
              <a:rPr lang="en-US" sz="1517" dirty="0" err="1"/>
              <a:t>quản</a:t>
            </a:r>
            <a:r>
              <a:rPr lang="en-US" sz="1517" dirty="0"/>
              <a:t> </a:t>
            </a:r>
            <a:r>
              <a:rPr lang="en-US" sz="1517" dirty="0" err="1"/>
              <a:t>lý</a:t>
            </a:r>
            <a:r>
              <a:rPr lang="en-US" sz="1517" dirty="0"/>
              <a:t> </a:t>
            </a:r>
            <a:r>
              <a:rPr lang="en-US" sz="1517" dirty="0" err="1"/>
              <a:t>quyền</a:t>
            </a:r>
            <a:r>
              <a:rPr lang="en-US" sz="1517" dirty="0"/>
              <a:t> </a:t>
            </a:r>
            <a:r>
              <a:rPr lang="en-US" sz="1517" dirty="0" err="1"/>
              <a:t>truy</a:t>
            </a:r>
            <a:r>
              <a:rPr lang="en-US" sz="1517" dirty="0"/>
              <a:t> </a:t>
            </a:r>
            <a:r>
              <a:rPr lang="en-US" sz="1517" dirty="0" err="1"/>
              <a:t>cập</a:t>
            </a:r>
            <a:r>
              <a:rPr lang="en-US" sz="1517" dirty="0"/>
              <a:t> chi </a:t>
            </a:r>
            <a:r>
              <a:rPr lang="en-US" sz="1517" dirty="0" err="1"/>
              <a:t>tiết</a:t>
            </a:r>
            <a:r>
              <a:rPr lang="en-US" sz="1517" dirty="0"/>
              <a:t> </a:t>
            </a:r>
            <a:r>
              <a:rPr lang="en-US" sz="1517" dirty="0" err="1"/>
              <a:t>hơn</a:t>
            </a:r>
            <a:r>
              <a:rPr lang="en-US" sz="1517" dirty="0"/>
              <a:t> </a:t>
            </a:r>
            <a:r>
              <a:rPr lang="en-US" sz="1517" dirty="0" err="1"/>
              <a:t>vào</a:t>
            </a:r>
            <a:r>
              <a:rPr lang="en-US" sz="1517" dirty="0"/>
              <a:t> </a:t>
            </a:r>
            <a:r>
              <a:rPr lang="en-US" sz="1517" dirty="0" err="1"/>
              <a:t>dữ</a:t>
            </a:r>
            <a:r>
              <a:rPr lang="en-US" sz="1517" dirty="0"/>
              <a:t> </a:t>
            </a:r>
            <a:r>
              <a:rPr lang="en-US" sz="1517" dirty="0" err="1"/>
              <a:t>liệu</a:t>
            </a:r>
            <a:endParaRPr lang="en-US" sz="1517" dirty="0"/>
          </a:p>
          <a:p>
            <a:endParaRPr lang="en-US" sz="1517" dirty="0"/>
          </a:p>
          <a:p>
            <a:pPr marL="247665" indent="-247665">
              <a:buFont typeface="Wingdings" panose="05000000000000000000" pitchFamily="2" charset="2"/>
              <a:buChar char="Ø"/>
            </a:pPr>
            <a:r>
              <a:rPr lang="en-US" sz="1517" dirty="0" err="1">
                <a:latin typeface="+mj-lt"/>
              </a:rPr>
              <a:t>Có</a:t>
            </a:r>
            <a:r>
              <a:rPr lang="en-US" sz="1517" dirty="0">
                <a:latin typeface="+mj-lt"/>
              </a:rPr>
              <a:t> 2 </a:t>
            </a:r>
            <a:r>
              <a:rPr lang="en-US" sz="1517" dirty="0" err="1">
                <a:latin typeface="+mj-lt"/>
              </a:rPr>
              <a:t>loại</a:t>
            </a:r>
            <a:r>
              <a:rPr lang="en-US" sz="1517" dirty="0">
                <a:latin typeface="+mj-lt"/>
              </a:rPr>
              <a:t> </a:t>
            </a:r>
            <a:r>
              <a:rPr lang="en-US" sz="1517" dirty="0" err="1">
                <a:latin typeface="+mj-lt"/>
              </a:rPr>
              <a:t>khóa</a:t>
            </a:r>
            <a:r>
              <a:rPr lang="en-US" sz="1517" dirty="0">
                <a:latin typeface="+mj-lt"/>
              </a:rPr>
              <a:t>: </a:t>
            </a:r>
            <a:r>
              <a:rPr lang="en-US" sz="1517" dirty="0" err="1">
                <a:latin typeface="+mj-lt"/>
              </a:rPr>
              <a:t>Khóa</a:t>
            </a:r>
            <a:r>
              <a:rPr lang="en-US" sz="1517" dirty="0">
                <a:latin typeface="+mj-lt"/>
              </a:rPr>
              <a:t> </a:t>
            </a:r>
            <a:r>
              <a:rPr lang="en-US" sz="1517" dirty="0" err="1">
                <a:latin typeface="+mj-lt"/>
              </a:rPr>
              <a:t>độc</a:t>
            </a:r>
            <a:r>
              <a:rPr lang="en-US" sz="1517" dirty="0">
                <a:latin typeface="+mj-lt"/>
              </a:rPr>
              <a:t> </a:t>
            </a:r>
            <a:r>
              <a:rPr lang="en-US" sz="1517" dirty="0" err="1">
                <a:latin typeface="+mj-lt"/>
              </a:rPr>
              <a:t>quyền</a:t>
            </a:r>
            <a:r>
              <a:rPr lang="en-US" sz="1517" dirty="0">
                <a:latin typeface="+mj-lt"/>
              </a:rPr>
              <a:t> (</a:t>
            </a:r>
            <a:r>
              <a:rPr lang="en-US" sz="1517" dirty="0"/>
              <a:t>Exclusive lock</a:t>
            </a:r>
            <a:r>
              <a:rPr lang="en-US" sz="1517" dirty="0">
                <a:latin typeface="+mj-lt"/>
              </a:rPr>
              <a:t>) </a:t>
            </a:r>
            <a:r>
              <a:rPr lang="en-US" sz="1517" dirty="0" err="1">
                <a:latin typeface="+mj-lt"/>
              </a:rPr>
              <a:t>và</a:t>
            </a:r>
            <a:r>
              <a:rPr lang="en-US" sz="1517" dirty="0">
                <a:latin typeface="+mj-lt"/>
              </a:rPr>
              <a:t> </a:t>
            </a:r>
            <a:r>
              <a:rPr lang="en-US" sz="1517" dirty="0" err="1">
                <a:latin typeface="+mj-lt"/>
              </a:rPr>
              <a:t>khóa</a:t>
            </a:r>
            <a:r>
              <a:rPr lang="en-US" sz="1517" dirty="0">
                <a:latin typeface="+mj-lt"/>
              </a:rPr>
              <a:t> </a:t>
            </a:r>
            <a:r>
              <a:rPr lang="en-US" sz="1517" dirty="0" err="1">
                <a:latin typeface="+mj-lt"/>
              </a:rPr>
              <a:t>dùng</a:t>
            </a:r>
            <a:r>
              <a:rPr lang="en-US" sz="1517" dirty="0">
                <a:latin typeface="+mj-lt"/>
              </a:rPr>
              <a:t> </a:t>
            </a:r>
            <a:r>
              <a:rPr lang="en-US" sz="1517" dirty="0" err="1">
                <a:latin typeface="+mj-lt"/>
              </a:rPr>
              <a:t>chung</a:t>
            </a:r>
            <a:r>
              <a:rPr lang="en-US" sz="1517" dirty="0">
                <a:latin typeface="+mj-lt"/>
              </a:rPr>
              <a:t> (</a:t>
            </a:r>
            <a:r>
              <a:rPr lang="en-US" sz="1517" dirty="0"/>
              <a:t>Shared lock</a:t>
            </a:r>
            <a:r>
              <a:rPr lang="en-US" sz="1517" dirty="0">
                <a:latin typeface="+mj-lt"/>
              </a:rPr>
              <a:t>)</a:t>
            </a:r>
          </a:p>
          <a:p>
            <a:pPr marL="495330" lvl="1" indent="-247665">
              <a:buFont typeface="Arial" panose="020B0604020202020204" pitchFamily="34" charset="0"/>
              <a:buChar char="•"/>
            </a:pPr>
            <a:r>
              <a:rPr lang="en-US" sz="1517" dirty="0" err="1">
                <a:latin typeface="+mj-lt"/>
              </a:rPr>
              <a:t>Với</a:t>
            </a:r>
            <a:r>
              <a:rPr lang="en-US" sz="1517" dirty="0">
                <a:latin typeface="+mj-lt"/>
              </a:rPr>
              <a:t> </a:t>
            </a:r>
            <a:r>
              <a:rPr lang="en-US" sz="1517" dirty="0" err="1">
                <a:latin typeface="+mj-lt"/>
              </a:rPr>
              <a:t>khóa</a:t>
            </a:r>
            <a:r>
              <a:rPr lang="en-US" sz="1517" dirty="0">
                <a:latin typeface="+mj-lt"/>
              </a:rPr>
              <a:t> </a:t>
            </a:r>
            <a:r>
              <a:rPr lang="en-US" sz="1517" dirty="0" err="1">
                <a:latin typeface="+mj-lt"/>
              </a:rPr>
              <a:t>dùng</a:t>
            </a:r>
            <a:r>
              <a:rPr lang="en-US" sz="1517" dirty="0">
                <a:latin typeface="+mj-lt"/>
              </a:rPr>
              <a:t> </a:t>
            </a:r>
            <a:r>
              <a:rPr lang="en-US" sz="1517" dirty="0" err="1">
                <a:latin typeface="+mj-lt"/>
              </a:rPr>
              <a:t>chung</a:t>
            </a:r>
            <a:r>
              <a:rPr lang="en-US" sz="1517" dirty="0">
                <a:latin typeface="+mj-lt"/>
              </a:rPr>
              <a:t>, </a:t>
            </a:r>
            <a:r>
              <a:rPr lang="en-US" sz="1517" dirty="0" err="1">
                <a:latin typeface="+mj-lt"/>
              </a:rPr>
              <a:t>chúng</a:t>
            </a:r>
            <a:r>
              <a:rPr lang="en-US" sz="1517" dirty="0">
                <a:latin typeface="+mj-lt"/>
              </a:rPr>
              <a:t> ta </a:t>
            </a:r>
            <a:r>
              <a:rPr lang="en-US" sz="1517" dirty="0" err="1">
                <a:latin typeface="+mj-lt"/>
              </a:rPr>
              <a:t>có</a:t>
            </a:r>
            <a:r>
              <a:rPr lang="en-US" sz="1517" dirty="0">
                <a:latin typeface="+mj-lt"/>
              </a:rPr>
              <a:t> </a:t>
            </a:r>
            <a:r>
              <a:rPr lang="en-US" sz="1517" dirty="0" err="1">
                <a:latin typeface="+mj-lt"/>
              </a:rPr>
              <a:t>thể</a:t>
            </a:r>
            <a:r>
              <a:rPr lang="en-US" sz="1517" dirty="0">
                <a:latin typeface="+mj-lt"/>
              </a:rPr>
              <a:t> </a:t>
            </a:r>
            <a:r>
              <a:rPr lang="en-US" sz="1517" dirty="0" err="1">
                <a:latin typeface="+mj-lt"/>
              </a:rPr>
              <a:t>đọc</a:t>
            </a:r>
            <a:r>
              <a:rPr lang="en-US" sz="1517" dirty="0">
                <a:latin typeface="+mj-lt"/>
              </a:rPr>
              <a:t> </a:t>
            </a:r>
            <a:r>
              <a:rPr lang="en-US" sz="1517" dirty="0" err="1">
                <a:latin typeface="+mj-lt"/>
              </a:rPr>
              <a:t>nhưng</a:t>
            </a:r>
            <a:r>
              <a:rPr lang="en-US" sz="1517" dirty="0">
                <a:latin typeface="+mj-lt"/>
              </a:rPr>
              <a:t> </a:t>
            </a:r>
            <a:r>
              <a:rPr lang="en-US" sz="1517" dirty="0" err="1">
                <a:latin typeface="+mj-lt"/>
              </a:rPr>
              <a:t>không</a:t>
            </a:r>
            <a:r>
              <a:rPr lang="en-US" sz="1517" dirty="0">
                <a:latin typeface="+mj-lt"/>
              </a:rPr>
              <a:t> </a:t>
            </a:r>
            <a:r>
              <a:rPr lang="en-US" sz="1517" dirty="0" err="1">
                <a:latin typeface="+mj-lt"/>
              </a:rPr>
              <a:t>thể</a:t>
            </a:r>
            <a:r>
              <a:rPr lang="en-US" sz="1517" dirty="0">
                <a:latin typeface="+mj-lt"/>
              </a:rPr>
              <a:t> </a:t>
            </a:r>
            <a:r>
              <a:rPr lang="en-US" sz="1517" dirty="0" err="1">
                <a:latin typeface="+mj-lt"/>
              </a:rPr>
              <a:t>ghi</a:t>
            </a:r>
            <a:r>
              <a:rPr lang="en-US" sz="1517" dirty="0">
                <a:latin typeface="+mj-lt"/>
              </a:rPr>
              <a:t> </a:t>
            </a:r>
            <a:r>
              <a:rPr lang="en-US" sz="1517" dirty="0" err="1">
                <a:latin typeface="+mj-lt"/>
              </a:rPr>
              <a:t>dữ</a:t>
            </a:r>
            <a:r>
              <a:rPr lang="en-US" sz="1517" dirty="0">
                <a:latin typeface="+mj-lt"/>
              </a:rPr>
              <a:t> </a:t>
            </a:r>
            <a:r>
              <a:rPr lang="en-US" sz="1517" dirty="0" err="1">
                <a:latin typeface="+mj-lt"/>
              </a:rPr>
              <a:t>liệu</a:t>
            </a:r>
            <a:r>
              <a:rPr lang="en-US" sz="1517" dirty="0">
                <a:latin typeface="+mj-lt"/>
              </a:rPr>
              <a:t> </a:t>
            </a:r>
            <a:r>
              <a:rPr lang="en-US" sz="1517" dirty="0" err="1">
                <a:latin typeface="+mj-lt"/>
              </a:rPr>
              <a:t>khi</a:t>
            </a:r>
            <a:r>
              <a:rPr lang="en-US" sz="1517" dirty="0">
                <a:latin typeface="+mj-lt"/>
              </a:rPr>
              <a:t> </a:t>
            </a:r>
            <a:r>
              <a:rPr lang="en-US" sz="1517" dirty="0" err="1">
                <a:latin typeface="+mj-lt"/>
              </a:rPr>
              <a:t>người</a:t>
            </a:r>
            <a:r>
              <a:rPr lang="en-US" sz="1517" dirty="0">
                <a:latin typeface="+mj-lt"/>
              </a:rPr>
              <a:t> </a:t>
            </a:r>
            <a:r>
              <a:rPr lang="en-US" sz="1517" dirty="0" err="1">
                <a:latin typeface="+mj-lt"/>
              </a:rPr>
              <a:t>khác</a:t>
            </a:r>
            <a:r>
              <a:rPr lang="en-US" sz="1517" dirty="0">
                <a:latin typeface="+mj-lt"/>
              </a:rPr>
              <a:t> </a:t>
            </a:r>
            <a:r>
              <a:rPr lang="en-US" sz="1517" dirty="0" err="1">
                <a:latin typeface="+mj-lt"/>
              </a:rPr>
              <a:t>đang</a:t>
            </a:r>
            <a:r>
              <a:rPr lang="en-US" sz="1517" dirty="0">
                <a:latin typeface="+mj-lt"/>
              </a:rPr>
              <a:t> </a:t>
            </a:r>
            <a:r>
              <a:rPr lang="en-US" sz="1517" dirty="0" err="1">
                <a:latin typeface="+mj-lt"/>
              </a:rPr>
              <a:t>giữ</a:t>
            </a:r>
            <a:r>
              <a:rPr lang="en-US" sz="1517" dirty="0">
                <a:latin typeface="+mj-lt"/>
              </a:rPr>
              <a:t> </a:t>
            </a:r>
            <a:r>
              <a:rPr lang="en-US" sz="1517" dirty="0" err="1">
                <a:latin typeface="+mj-lt"/>
              </a:rPr>
              <a:t>khóa</a:t>
            </a:r>
            <a:r>
              <a:rPr lang="en-US" sz="1517" dirty="0">
                <a:latin typeface="+mj-lt"/>
              </a:rPr>
              <a:t> </a:t>
            </a:r>
            <a:r>
              <a:rPr lang="en-US" sz="1517" dirty="0" err="1">
                <a:latin typeface="+mj-lt"/>
              </a:rPr>
              <a:t>dùng</a:t>
            </a:r>
            <a:r>
              <a:rPr lang="en-US" sz="1517" dirty="0">
                <a:latin typeface="+mj-lt"/>
              </a:rPr>
              <a:t> </a:t>
            </a:r>
            <a:r>
              <a:rPr lang="en-US" sz="1517" dirty="0" err="1">
                <a:latin typeface="+mj-lt"/>
              </a:rPr>
              <a:t>chung</a:t>
            </a:r>
            <a:r>
              <a:rPr lang="en-US" sz="1517" dirty="0">
                <a:latin typeface="+mj-lt"/>
              </a:rPr>
              <a:t>.</a:t>
            </a:r>
          </a:p>
          <a:p>
            <a:pPr marL="495330" lvl="1" indent="-247665">
              <a:buFont typeface="Arial" panose="020B0604020202020204" pitchFamily="34" charset="0"/>
              <a:buChar char="•"/>
            </a:pPr>
            <a:r>
              <a:rPr lang="en-US" sz="1517" dirty="0" err="1">
                <a:latin typeface="+mj-lt"/>
              </a:rPr>
              <a:t>Để</a:t>
            </a:r>
            <a:r>
              <a:rPr lang="en-US" sz="1517" dirty="0">
                <a:latin typeface="+mj-lt"/>
              </a:rPr>
              <a:t> </a:t>
            </a:r>
            <a:r>
              <a:rPr lang="en-US" sz="1517" dirty="0" err="1">
                <a:latin typeface="+mj-lt"/>
              </a:rPr>
              <a:t>sửa</a:t>
            </a:r>
            <a:r>
              <a:rPr lang="en-US" sz="1517" dirty="0">
                <a:latin typeface="+mj-lt"/>
              </a:rPr>
              <a:t> </a:t>
            </a:r>
            <a:r>
              <a:rPr lang="en-US" sz="1517" dirty="0" err="1">
                <a:latin typeface="+mj-lt"/>
              </a:rPr>
              <a:t>đổi</a:t>
            </a:r>
            <a:r>
              <a:rPr lang="en-US" sz="1517" dirty="0">
                <a:latin typeface="+mj-lt"/>
              </a:rPr>
              <a:t> </a:t>
            </a:r>
            <a:r>
              <a:rPr lang="en-US" sz="1517" dirty="0" err="1">
                <a:latin typeface="+mj-lt"/>
              </a:rPr>
              <a:t>hoặc</a:t>
            </a:r>
            <a:r>
              <a:rPr lang="en-US" sz="1517" dirty="0">
                <a:latin typeface="+mj-lt"/>
              </a:rPr>
              <a:t> </a:t>
            </a:r>
            <a:r>
              <a:rPr lang="en-US" sz="1517" dirty="0" err="1">
                <a:latin typeface="+mj-lt"/>
              </a:rPr>
              <a:t>xóa</a:t>
            </a:r>
            <a:r>
              <a:rPr lang="en-US" sz="1517" dirty="0">
                <a:latin typeface="+mj-lt"/>
              </a:rPr>
              <a:t> </a:t>
            </a:r>
            <a:r>
              <a:rPr lang="en-US" sz="1517" dirty="0" err="1">
                <a:latin typeface="+mj-lt"/>
              </a:rPr>
              <a:t>dữ</a:t>
            </a:r>
            <a:r>
              <a:rPr lang="en-US" sz="1517" dirty="0">
                <a:latin typeface="+mj-lt"/>
              </a:rPr>
              <a:t> </a:t>
            </a:r>
            <a:r>
              <a:rPr lang="en-US" sz="1517" dirty="0" err="1">
                <a:latin typeface="+mj-lt"/>
              </a:rPr>
              <a:t>liệu</a:t>
            </a:r>
            <a:r>
              <a:rPr lang="en-US" sz="1517" dirty="0">
                <a:latin typeface="+mj-lt"/>
              </a:rPr>
              <a:t> </a:t>
            </a:r>
            <a:r>
              <a:rPr lang="en-US" sz="1517" dirty="0" err="1">
                <a:latin typeface="+mj-lt"/>
              </a:rPr>
              <a:t>riêng</a:t>
            </a:r>
            <a:r>
              <a:rPr lang="en-US" sz="1517" dirty="0">
                <a:latin typeface="+mj-lt"/>
              </a:rPr>
              <a:t> </a:t>
            </a:r>
            <a:r>
              <a:rPr lang="en-US" sz="1517" dirty="0" err="1">
                <a:latin typeface="+mj-lt"/>
              </a:rPr>
              <a:t>biệt</a:t>
            </a:r>
            <a:r>
              <a:rPr lang="en-US" sz="1517" dirty="0">
                <a:latin typeface="+mj-lt"/>
              </a:rPr>
              <a:t>, </a:t>
            </a:r>
            <a:r>
              <a:rPr lang="en-US" sz="1517" dirty="0" err="1">
                <a:latin typeface="+mj-lt"/>
              </a:rPr>
              <a:t>chúng</a:t>
            </a:r>
            <a:r>
              <a:rPr lang="en-US" sz="1517" dirty="0">
                <a:latin typeface="+mj-lt"/>
              </a:rPr>
              <a:t> ta </a:t>
            </a:r>
            <a:r>
              <a:rPr lang="en-US" sz="1517" dirty="0" err="1">
                <a:latin typeface="+mj-lt"/>
              </a:rPr>
              <a:t>cần</a:t>
            </a:r>
            <a:r>
              <a:rPr lang="en-US" sz="1517" dirty="0">
                <a:latin typeface="+mj-lt"/>
              </a:rPr>
              <a:t> </a:t>
            </a:r>
            <a:r>
              <a:rPr lang="en-US" sz="1517" dirty="0" err="1">
                <a:latin typeface="+mj-lt"/>
              </a:rPr>
              <a:t>có</a:t>
            </a:r>
            <a:r>
              <a:rPr lang="en-US" sz="1517" dirty="0">
                <a:latin typeface="+mj-lt"/>
              </a:rPr>
              <a:t> </a:t>
            </a:r>
            <a:r>
              <a:rPr lang="en-US" sz="1517" dirty="0" err="1">
                <a:latin typeface="+mj-lt"/>
              </a:rPr>
              <a:t>khóa</a:t>
            </a:r>
            <a:r>
              <a:rPr lang="en-US" sz="1517" dirty="0">
                <a:latin typeface="+mj-lt"/>
              </a:rPr>
              <a:t> </a:t>
            </a:r>
            <a:r>
              <a:rPr lang="en-US" sz="1517" dirty="0" err="1">
                <a:latin typeface="+mj-lt"/>
              </a:rPr>
              <a:t>độc</a:t>
            </a:r>
            <a:r>
              <a:rPr lang="en-US" sz="1517" dirty="0">
                <a:latin typeface="+mj-lt"/>
              </a:rPr>
              <a:t> </a:t>
            </a:r>
            <a:r>
              <a:rPr lang="en-US" sz="1517" dirty="0" err="1">
                <a:latin typeface="+mj-lt"/>
              </a:rPr>
              <a:t>quyền</a:t>
            </a:r>
            <a:endParaRPr lang="en-US" sz="1517" dirty="0">
              <a:latin typeface="+mj-lt"/>
            </a:endParaRPr>
          </a:p>
          <a:p>
            <a:endParaRPr lang="en-US" sz="1517" dirty="0">
              <a:latin typeface="+mj-lt"/>
            </a:endParaRPr>
          </a:p>
        </p:txBody>
      </p:sp>
    </p:spTree>
    <p:extLst>
      <p:ext uri="{BB962C8B-B14F-4D97-AF65-F5344CB8AC3E}">
        <p14:creationId xmlns:p14="http://schemas.microsoft.com/office/powerpoint/2010/main" val="215897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12" name="正方形/長方形 3"/>
          <p:cNvSpPr/>
          <p:nvPr/>
        </p:nvSpPr>
        <p:spPr>
          <a:xfrm>
            <a:off x="94611" y="780404"/>
            <a:ext cx="2544410"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chế</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độ</a:t>
            </a:r>
            <a:r>
              <a:rPr lang="en-US" sz="2167" dirty="0">
                <a:latin typeface="Times New Roman" panose="02020603050405020304" pitchFamily="18" charset="0"/>
                <a:cs typeface="Times New Roman" panose="02020603050405020304" pitchFamily="18" charset="0"/>
              </a:rPr>
              <a:t> Lock</a:t>
            </a:r>
          </a:p>
        </p:txBody>
      </p:sp>
      <p:sp>
        <p:nvSpPr>
          <p:cNvPr id="3" name="テキスト ボックス 2"/>
          <p:cNvSpPr txBox="1"/>
          <p:nvPr/>
        </p:nvSpPr>
        <p:spPr>
          <a:xfrm>
            <a:off x="595907" y="3899753"/>
            <a:ext cx="7568804" cy="325795"/>
          </a:xfrm>
          <a:prstGeom prst="rect">
            <a:avLst/>
          </a:prstGeom>
          <a:noFill/>
        </p:spPr>
        <p:txBody>
          <a:bodyPr wrap="square" rtlCol="0">
            <a:spAutoFit/>
          </a:bodyPr>
          <a:lstStyle/>
          <a:p>
            <a:pPr marL="154791" indent="-154791"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Tất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cả</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chế</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trên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đều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a:t>
            </a:r>
            <a:r>
              <a:rPr lang="en-US" sz="1517" dirty="0">
                <a:latin typeface="Times New Roman" panose="02020603050405020304" pitchFamily="18" charset="0"/>
                <a:cs typeface="Times New Roman" panose="02020603050405020304" pitchFamily="18" charset="0"/>
              </a:rPr>
              <a:t> static member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class </a:t>
            </a:r>
            <a:r>
              <a:rPr lang="en-US" sz="1517" i="1" dirty="0" err="1">
                <a:latin typeface="Times New Roman" panose="02020603050405020304" pitchFamily="18" charset="0"/>
                <a:cs typeface="Times New Roman" panose="02020603050405020304" pitchFamily="18" charset="0"/>
              </a:rPr>
              <a:t>LockModeType</a:t>
            </a:r>
            <a:endParaRPr lang="en-US" sz="1517" dirty="0">
              <a:latin typeface="Times New Roman" panose="02020603050405020304" pitchFamily="18" charset="0"/>
              <a:cs typeface="Times New Roman" panose="02020603050405020304" pitchFamily="18" charset="0"/>
            </a:endParaRPr>
          </a:p>
        </p:txBody>
      </p:sp>
      <p:sp>
        <p:nvSpPr>
          <p:cNvPr id="4" name="テキスト ボックス 3"/>
          <p:cNvSpPr txBox="1"/>
          <p:nvPr/>
        </p:nvSpPr>
        <p:spPr>
          <a:xfrm>
            <a:off x="595908" y="4373166"/>
            <a:ext cx="7653933" cy="559256"/>
          </a:xfrm>
          <a:prstGeom prst="rect">
            <a:avLst/>
          </a:prstGeom>
          <a:noFill/>
        </p:spPr>
        <p:txBody>
          <a:bodyPr wrap="square" rtlCol="0">
            <a:spAutoFit/>
          </a:bodyPr>
          <a:lstStyle/>
          <a:p>
            <a:pPr marL="154791" indent="-154791" algn="just">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 Locking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transaction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truy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bị</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ngay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tức</a:t>
            </a:r>
            <a:r>
              <a:rPr lang="en-US" sz="1517" dirty="0">
                <a:latin typeface="Times New Roman" panose="02020603050405020304" pitchFamily="18" charset="0"/>
                <a:cs typeface="Times New Roman" panose="02020603050405020304" pitchFamily="18" charset="0"/>
              </a:rPr>
              <a:t>. Transaction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giải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phóng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commit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rollback</a:t>
            </a:r>
          </a:p>
        </p:txBody>
      </p:sp>
      <p:pic>
        <p:nvPicPr>
          <p:cNvPr id="11" name="Picture 28"/>
          <p:cNvPicPr>
            <a:picLocks noChangeAspect="1"/>
          </p:cNvPicPr>
          <p:nvPr/>
        </p:nvPicPr>
        <p:blipFill>
          <a:blip r:embed="rId2"/>
          <a:stretch>
            <a:fillRect/>
          </a:stretch>
        </p:blipFill>
        <p:spPr>
          <a:xfrm flipH="1">
            <a:off x="8205470" y="2904808"/>
            <a:ext cx="1700530" cy="3310255"/>
          </a:xfrm>
          <a:prstGeom prst="rect">
            <a:avLst/>
          </a:prstGeom>
        </p:spPr>
      </p:pic>
      <p:sp>
        <p:nvSpPr>
          <p:cNvPr id="2" name="テキスト ボックス 1"/>
          <p:cNvSpPr txBox="1"/>
          <p:nvPr/>
        </p:nvSpPr>
        <p:spPr>
          <a:xfrm>
            <a:off x="595908" y="1362671"/>
            <a:ext cx="7653933" cy="2426946"/>
          </a:xfrm>
          <a:prstGeom prst="rect">
            <a:avLst/>
          </a:prstGeom>
          <a:noFill/>
        </p:spPr>
        <p:txBody>
          <a:bodyPr wrap="square" rtlCol="0">
            <a:spAutoFit/>
          </a:bodyPr>
          <a:lstStyle/>
          <a:p>
            <a:pPr marL="247665" indent="-247665" algn="just">
              <a:buFont typeface="Wingdings" panose="05000000000000000000" pitchFamily="2" charset="2"/>
              <a:buChar char="Ø"/>
            </a:pPr>
            <a:r>
              <a:rPr lang="en-US" sz="1517" dirty="0">
                <a:latin typeface="Times New Roman" panose="02020603050405020304" pitchFamily="18" charset="0"/>
                <a:cs typeface="Times New Roman" panose="02020603050405020304" pitchFamily="18" charset="0"/>
              </a:rPr>
              <a:t>Trong JPA </a:t>
            </a:r>
            <a:r>
              <a:rPr lang="en-US" sz="1517" dirty="0" err="1">
                <a:latin typeface="Times New Roman" panose="02020603050405020304" pitchFamily="18" charset="0"/>
                <a:cs typeface="Times New Roman" panose="02020603050405020304" pitchFamily="18" charset="0"/>
              </a:rPr>
              <a:t>chúng</a:t>
            </a:r>
            <a:r>
              <a:rPr lang="en-US" sz="1517" dirty="0">
                <a:latin typeface="Times New Roman" panose="02020603050405020304" pitchFamily="18" charset="0"/>
                <a:cs typeface="Times New Roman" panose="02020603050405020304" pitchFamily="18" charset="0"/>
              </a:rPr>
              <a:t> ta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3 </a:t>
            </a:r>
            <a:r>
              <a:rPr lang="en-US" sz="1517" dirty="0" err="1">
                <a:latin typeface="Times New Roman" panose="02020603050405020304" pitchFamily="18" charset="0"/>
                <a:cs typeface="Times New Roman" panose="02020603050405020304" pitchFamily="18" charset="0"/>
              </a:rPr>
              <a:t>chế</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cho</a:t>
            </a:r>
            <a:r>
              <a:rPr lang="en-US" sz="1517" dirty="0">
                <a:latin typeface="Times New Roman" panose="02020603050405020304" pitchFamily="18" charset="0"/>
                <a:cs typeface="Times New Roman" panose="02020603050405020304" pitchFamily="18" charset="0"/>
              </a:rPr>
              <a:t> Pessimistic Locking:</a:t>
            </a: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PESSIMISTIC_READ: Cho </a:t>
            </a:r>
            <a:r>
              <a:rPr lang="en-US" sz="1517" dirty="0" err="1">
                <a:latin typeface="Times New Roman" panose="02020603050405020304" pitchFamily="18" charset="0"/>
                <a:cs typeface="Times New Roman" panose="02020603050405020304" pitchFamily="18" charset="0"/>
              </a:rPr>
              <a:t>phép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người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dùng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dùng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chung</a:t>
            </a:r>
            <a:r>
              <a:rPr lang="en-US" sz="1517" dirty="0">
                <a:latin typeface="Times New Roman" panose="02020603050405020304" pitchFamily="18" charset="0"/>
                <a:cs typeface="Times New Roman" panose="02020603050405020304" pitchFamily="18" charset="0"/>
              </a:rPr>
              <a:t> (Shared lock) </a:t>
            </a:r>
            <a:r>
              <a:rPr lang="en-US" sz="1517" dirty="0" err="1">
                <a:latin typeface="Times New Roman" panose="02020603050405020304" pitchFamily="18" charset="0"/>
                <a:cs typeface="Times New Roman" panose="02020603050405020304" pitchFamily="18" charset="0"/>
              </a:rPr>
              <a:t>ngăn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chặn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bị</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xóa</a:t>
            </a:r>
            <a:endParaRPr lang="en-US" sz="1517" dirty="0">
              <a:latin typeface="Times New Roman" panose="02020603050405020304" pitchFamily="18" charset="0"/>
              <a:cs typeface="Times New Roman" panose="02020603050405020304" pitchFamily="18" charset="0"/>
            </a:endParaRPr>
          </a:p>
          <a:p>
            <a:pPr lvl="1" algn="just"/>
            <a:endParaRPr lang="en-US" sz="1517" dirty="0">
              <a:latin typeface="Times New Roman" panose="02020603050405020304" pitchFamily="18" charset="0"/>
              <a:cs typeface="Times New Roman" panose="02020603050405020304" pitchFamily="18" charset="0"/>
            </a:endParaRP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PESSIMISTIC_WRITE: Cho </a:t>
            </a:r>
            <a:r>
              <a:rPr lang="en-US" sz="1517" dirty="0" err="1">
                <a:latin typeface="Times New Roman" panose="02020603050405020304" pitchFamily="18" charset="0"/>
                <a:cs typeface="Times New Roman" panose="02020603050405020304" pitchFamily="18" charset="0"/>
              </a:rPr>
              <a:t>phép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người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dùng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quyền</a:t>
            </a:r>
            <a:r>
              <a:rPr lang="en-US" sz="1517" dirty="0">
                <a:latin typeface="Times New Roman" panose="02020603050405020304" pitchFamily="18" charset="0"/>
                <a:cs typeface="Times New Roman" panose="02020603050405020304" pitchFamily="18" charset="0"/>
              </a:rPr>
              <a:t> (Exclusive lock) </a:t>
            </a:r>
            <a:r>
              <a:rPr lang="en-US" sz="1517" dirty="0" err="1">
                <a:latin typeface="Times New Roman" panose="02020603050405020304" pitchFamily="18" charset="0"/>
                <a:cs typeface="Times New Roman" panose="02020603050405020304" pitchFamily="18" charset="0"/>
              </a:rPr>
              <a:t>ngăn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chặn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dữ</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liệu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đọc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xóa</a:t>
            </a:r>
            <a:r>
              <a:rPr lang="en-US" sz="1517" dirty="0">
                <a:latin typeface="Times New Roman" panose="02020603050405020304" pitchFamily="18" charset="0"/>
                <a:cs typeface="Times New Roman" panose="02020603050405020304" pitchFamily="18" charset="0"/>
              </a:rPr>
              <a:t>.</a:t>
            </a:r>
          </a:p>
          <a:p>
            <a:pPr lvl="1" algn="just"/>
            <a:endParaRPr lang="en-US" sz="1517" dirty="0">
              <a:latin typeface="Times New Roman" panose="02020603050405020304" pitchFamily="18" charset="0"/>
              <a:cs typeface="Times New Roman" panose="02020603050405020304" pitchFamily="18" charset="0"/>
            </a:endParaRPr>
          </a:p>
          <a:p>
            <a:pPr marL="495330" lvl="1" indent="-247665" algn="just">
              <a:buFont typeface="Arial" panose="020B0604020202020204" pitchFamily="34" charset="0"/>
              <a:buChar char="•"/>
            </a:pPr>
            <a:r>
              <a:rPr lang="en-US" sz="1517" dirty="0">
                <a:latin typeface="Times New Roman" panose="02020603050405020304" pitchFamily="18" charset="0"/>
                <a:cs typeface="Times New Roman" panose="02020603050405020304" pitchFamily="18" charset="0"/>
              </a:rPr>
              <a:t>PESSIMISTIC_FORCE_INCREMENT: </a:t>
            </a:r>
            <a:r>
              <a:rPr lang="en-US" sz="1517" dirty="0" err="1">
                <a:latin typeface="Times New Roman" panose="02020603050405020304" pitchFamily="18" charset="0"/>
                <a:cs typeface="Times New Roman" panose="02020603050405020304" pitchFamily="18" charset="0"/>
              </a:rPr>
              <a:t>Hoạt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như</a:t>
            </a:r>
            <a:r>
              <a:rPr lang="en-US" sz="1517" dirty="0">
                <a:latin typeface="Times New Roman" panose="02020603050405020304" pitchFamily="18" charset="0"/>
                <a:cs typeface="Times New Roman" panose="02020603050405020304" pitchFamily="18" charset="0"/>
              </a:rPr>
              <a:t> PESSIMISTIC_WRITE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version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tạo</a:t>
            </a:r>
            <a:r>
              <a:rPr lang="en-US" sz="1517" dirty="0">
                <a:latin typeface="Times New Roman" panose="02020603050405020304" pitchFamily="18" charset="0"/>
                <a:cs typeface="Times New Roman" panose="02020603050405020304" pitchFamily="18" charset="0"/>
              </a:rPr>
              <a:t> version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entity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chú</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thích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bằng</a:t>
            </a:r>
            <a:r>
              <a:rPr lang="en-US" sz="1517" dirty="0">
                <a:latin typeface="Times New Roman" panose="02020603050405020304" pitchFamily="18" charset="0"/>
                <a:cs typeface="Times New Roman" panose="02020603050405020304" pitchFamily="18" charset="0"/>
              </a:rPr>
              <a:t> </a:t>
            </a:r>
            <a:r>
              <a:rPr lang="en-US" sz="1517" i="1" dirty="0">
                <a:latin typeface="Times New Roman" panose="02020603050405020304" pitchFamily="18" charset="0"/>
                <a:cs typeface="Times New Roman" panose="02020603050405020304" pitchFamily="18" charset="0"/>
              </a:rPr>
              <a:t>@Version</a:t>
            </a:r>
            <a:r>
              <a:rPr lang="en-US" sz="1517"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56103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pic>
        <p:nvPicPr>
          <p:cNvPr id="28" name="Picture 28"/>
          <p:cNvPicPr>
            <a:picLocks noChangeAspect="1"/>
          </p:cNvPicPr>
          <p:nvPr/>
        </p:nvPicPr>
        <p:blipFill>
          <a:blip r:embed="rId2"/>
          <a:stretch>
            <a:fillRect/>
          </a:stretch>
        </p:blipFill>
        <p:spPr>
          <a:xfrm>
            <a:off x="0" y="2904808"/>
            <a:ext cx="1700530" cy="3310255"/>
          </a:xfrm>
          <a:prstGeom prst="rect">
            <a:avLst/>
          </a:prstGeom>
        </p:spPr>
      </p:pic>
      <p:sp>
        <p:nvSpPr>
          <p:cNvPr id="12" name="正方形/長方形 3"/>
          <p:cNvSpPr/>
          <p:nvPr/>
        </p:nvSpPr>
        <p:spPr>
          <a:xfrm>
            <a:off x="94611" y="780404"/>
            <a:ext cx="6847329"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ngoại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lệ</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phát</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sinh</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khi</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Pessimistic Locking</a:t>
            </a:r>
          </a:p>
        </p:txBody>
      </p:sp>
      <p:sp>
        <p:nvSpPr>
          <p:cNvPr id="2" name="テキスト ボックス 1"/>
          <p:cNvSpPr txBox="1"/>
          <p:nvPr/>
        </p:nvSpPr>
        <p:spPr>
          <a:xfrm>
            <a:off x="595908" y="1362671"/>
            <a:ext cx="8280797" cy="2660408"/>
          </a:xfrm>
          <a:prstGeom prst="rect">
            <a:avLst/>
          </a:prstGeom>
          <a:noFill/>
        </p:spPr>
        <p:txBody>
          <a:bodyPr wrap="square" rtlCol="0">
            <a:spAutoFit/>
          </a:bodyPr>
          <a:lstStyle/>
          <a:p>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làm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việc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với</a:t>
            </a:r>
            <a:r>
              <a:rPr lang="en-US" sz="1517" dirty="0">
                <a:latin typeface="Times New Roman" panose="02020603050405020304" pitchFamily="18" charset="0"/>
                <a:cs typeface="Times New Roman" panose="02020603050405020304" pitchFamily="18" charset="0"/>
              </a:rPr>
              <a:t> Pessimistic Locking, </a:t>
            </a:r>
            <a:r>
              <a:rPr lang="en-US" sz="1517" dirty="0" err="1">
                <a:latin typeface="Times New Roman" panose="02020603050405020304" pitchFamily="18" charset="0"/>
                <a:cs typeface="Times New Roman" panose="02020603050405020304" pitchFamily="18" charset="0"/>
              </a:rPr>
              <a:t>thật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tốt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biết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ngoại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xảy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dễ</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dàng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điều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xử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ngoại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a:t>
            </a:r>
            <a:r>
              <a:rPr lang="en-US" sz="1517" dirty="0">
                <a:latin typeface="Times New Roman" panose="02020603050405020304" pitchFamily="18" charset="0"/>
                <a:cs typeface="Times New Roman" panose="02020603050405020304" pitchFamily="18" charset="0"/>
              </a:rPr>
              <a:t>.</a:t>
            </a:r>
          </a:p>
          <a:p>
            <a:pPr marL="247665" indent="-247665">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ngoại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lệ</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phát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sinh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 Locking:</a:t>
            </a:r>
          </a:p>
          <a:p>
            <a:pPr marL="495330" lvl="1" indent="-247665">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PessimisticLockException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cho</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biết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rằng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việc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lấy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hoặc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chuyển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đổi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chia </a:t>
            </a:r>
            <a:r>
              <a:rPr lang="en-US" sz="1517" dirty="0" err="1">
                <a:latin typeface="Times New Roman" panose="02020603050405020304" pitchFamily="18" charset="0"/>
                <a:cs typeface="Times New Roman" panose="02020603050405020304" pitchFamily="18" charset="0"/>
              </a:rPr>
              <a:t>sẻ</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thành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riêng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thành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và</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dẫn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đến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phục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cấp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độ</a:t>
            </a:r>
            <a:r>
              <a:rPr lang="en-US" sz="1517" dirty="0">
                <a:latin typeface="Times New Roman" panose="02020603050405020304" pitchFamily="18" charset="0"/>
                <a:cs typeface="Times New Roman" panose="02020603050405020304" pitchFamily="18" charset="0"/>
              </a:rPr>
              <a:t> Transaction</a:t>
            </a:r>
          </a:p>
          <a:p>
            <a:pPr marL="495330" lvl="1" indent="-247665">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LockTimeoutException</a:t>
            </a:r>
            <a:r>
              <a:rPr lang="en-US" sz="1517" dirty="0">
                <a:latin typeface="Times New Roman" panose="02020603050405020304" pitchFamily="18" charset="0"/>
                <a:cs typeface="Times New Roman" panose="02020603050405020304" pitchFamily="18" charset="0"/>
              </a:rPr>
              <a:t>: </a:t>
            </a:r>
            <a:r>
              <a:rPr lang="vi-VN" sz="1517" dirty="0">
                <a:latin typeface="Times New Roman" panose="02020603050405020304" pitchFamily="18" charset="0"/>
                <a:cs typeface="Times New Roman" panose="02020603050405020304" pitchFamily="18" charset="0"/>
              </a:rPr>
              <a:t>cho biết rằng có được một khóa hoặc chuyển đổi một khóa chia sẻ thành thời gian chờ dành riêng và dẫn đến việc khôi phục cấp độ statement</a:t>
            </a:r>
            <a:endParaRPr lang="en-US" sz="1517" dirty="0">
              <a:latin typeface="Times New Roman" panose="02020603050405020304" pitchFamily="18" charset="0"/>
              <a:cs typeface="Times New Roman" panose="02020603050405020304" pitchFamily="18" charset="0"/>
            </a:endParaRPr>
          </a:p>
          <a:p>
            <a:pPr marL="495330" lvl="1" indent="-247665">
              <a:buFont typeface="Arial" panose="020B0604020202020204" pitchFamily="34" charset="0"/>
              <a:buChar char="•"/>
            </a:pPr>
            <a:r>
              <a:rPr lang="en-US" sz="1517" dirty="0" err="1">
                <a:latin typeface="Times New Roman" panose="02020603050405020304" pitchFamily="18" charset="0"/>
                <a:cs typeface="Times New Roman" panose="02020603050405020304" pitchFamily="18" charset="0"/>
              </a:rPr>
              <a:t>PersistanceException</a:t>
            </a:r>
            <a:r>
              <a:rPr lang="en-US" sz="1517" dirty="0">
                <a:latin typeface="Times New Roman" panose="02020603050405020304" pitchFamily="18" charset="0"/>
                <a:cs typeface="Times New Roman" panose="02020603050405020304" pitchFamily="18" charset="0"/>
              </a:rPr>
              <a:t>: </a:t>
            </a:r>
            <a:r>
              <a:rPr lang="vi-VN" sz="1517" dirty="0">
                <a:latin typeface="Times New Roman" panose="02020603050405020304" pitchFamily="18" charset="0"/>
                <a:cs typeface="Times New Roman" panose="02020603050405020304" pitchFamily="18" charset="0"/>
              </a:rPr>
              <a:t>chỉ ra rằng đã xảy ra sự cố liên tục. PersistanceException và các kiểu con của nó, ngoại trừ  NoResultException , NonUniqueResultException, LockTimeoutException và  QueryTimeoutException,  đánh dấu giao dịch đang hoạt động sẽ được khôi phục.</a:t>
            </a:r>
            <a:endParaRPr lang="en-US" sz="151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8571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dirty="0"/>
          </a:p>
        </p:txBody>
      </p:sp>
      <p:sp>
        <p:nvSpPr>
          <p:cNvPr id="12" name="正方形/長方形 3"/>
          <p:cNvSpPr/>
          <p:nvPr/>
        </p:nvSpPr>
        <p:spPr>
          <a:xfrm>
            <a:off x="94611" y="780404"/>
            <a:ext cx="4525610"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Cách</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sử</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dụng</a:t>
            </a:r>
            <a:r>
              <a:rPr lang="en-US" sz="2167" dirty="0">
                <a:latin typeface="Times New Roman" panose="02020603050405020304" pitchFamily="18" charset="0"/>
                <a:cs typeface="Times New Roman" panose="02020603050405020304" pitchFamily="18" charset="0"/>
              </a:rPr>
              <a:t> Pessimistic Locking </a:t>
            </a:r>
          </a:p>
        </p:txBody>
      </p:sp>
      <p:grpSp>
        <p:nvGrpSpPr>
          <p:cNvPr id="8" name="グループ化 7"/>
          <p:cNvGrpSpPr/>
          <p:nvPr/>
        </p:nvGrpSpPr>
        <p:grpSpPr>
          <a:xfrm>
            <a:off x="301823" y="1339453"/>
            <a:ext cx="8853488" cy="2089272"/>
            <a:chOff x="557213" y="1285875"/>
            <a:chExt cx="16344900" cy="3857117"/>
          </a:xfrm>
        </p:grpSpPr>
        <p:sp>
          <p:nvSpPr>
            <p:cNvPr id="3" name="テキスト ボックス 2"/>
            <p:cNvSpPr txBox="1"/>
            <p:nvPr/>
          </p:nvSpPr>
          <p:spPr>
            <a:xfrm>
              <a:off x="557213" y="1285875"/>
              <a:ext cx="16344900" cy="1032472"/>
            </a:xfrm>
            <a:prstGeom prst="rect">
              <a:avLst/>
            </a:prstGeom>
            <a:noFill/>
          </p:spPr>
          <p:txBody>
            <a:bodyPr wrap="square" rtlCol="0">
              <a:spAutoFit/>
            </a:bodyPr>
            <a:lstStyle/>
            <a:p>
              <a:r>
                <a:rPr lang="en-US" sz="1517" dirty="0">
                  <a:latin typeface="Times New Roman" panose="02020603050405020304" pitchFamily="18" charset="0"/>
                  <a:cs typeface="Times New Roman" panose="02020603050405020304" pitchFamily="18" charset="0"/>
                </a:rPr>
                <a:t>Trong Spring Data JPA </a:t>
              </a:r>
              <a:r>
                <a:rPr lang="en-US" sz="1517" dirty="0" err="1">
                  <a:latin typeface="Times New Roman" panose="02020603050405020304" pitchFamily="18" charset="0"/>
                  <a:cs typeface="Times New Roman" panose="02020603050405020304" pitchFamily="18" charset="0"/>
                </a:rPr>
                <a:t>khi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 Locking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annotation @Lock </a:t>
              </a:r>
              <a:r>
                <a:rPr lang="en-US" sz="1517" dirty="0" err="1">
                  <a:latin typeface="Times New Roman" panose="02020603050405020304" pitchFamily="18" charset="0"/>
                  <a:cs typeface="Times New Roman" panose="02020603050405020304" pitchFamily="18" charset="0"/>
                </a:rPr>
                <a:t>trước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các</a:t>
              </a:r>
              <a:r>
                <a:rPr lang="en-US" sz="1517" dirty="0">
                  <a:latin typeface="Times New Roman" panose="02020603050405020304" pitchFamily="18" charset="0"/>
                  <a:cs typeface="Times New Roman" panose="02020603050405020304" pitchFamily="18" charset="0"/>
                </a:rPr>
                <a:t> function </a:t>
              </a:r>
              <a:r>
                <a:rPr lang="en-US" sz="1517" dirty="0" err="1">
                  <a:latin typeface="Times New Roman" panose="02020603050405020304" pitchFamily="18" charset="0"/>
                  <a:cs typeface="Times New Roman" panose="02020603050405020304" pitchFamily="18" charset="0"/>
                </a:rPr>
                <a:t>trong</a:t>
              </a:r>
              <a:r>
                <a:rPr lang="en-US" sz="1517" dirty="0">
                  <a:latin typeface="Times New Roman" panose="02020603050405020304" pitchFamily="18" charset="0"/>
                  <a:cs typeface="Times New Roman" panose="02020603050405020304" pitchFamily="18" charset="0"/>
                </a:rPr>
                <a:t> repository. </a:t>
              </a:r>
              <a:r>
                <a:rPr lang="en-US" sz="1517" dirty="0" err="1">
                  <a:latin typeface="Times New Roman" panose="02020603050405020304" pitchFamily="18" charset="0"/>
                  <a:cs typeface="Times New Roman" panose="02020603050405020304" pitchFamily="18" charset="0"/>
                </a:rPr>
                <a:t>Ví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như</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dưới</a:t>
              </a:r>
              <a:r>
                <a:rPr lang="en-US" sz="1517" dirty="0">
                  <a:latin typeface="Times New Roman" panose="02020603050405020304" pitchFamily="18" charset="0"/>
                  <a:cs typeface="Times New Roman" panose="02020603050405020304" pitchFamily="18" charset="0"/>
                </a:rPr>
                <a:t>:</a:t>
              </a:r>
            </a:p>
          </p:txBody>
        </p:sp>
        <p:sp>
          <p:nvSpPr>
            <p:cNvPr id="15" name="正方形/長方形 14"/>
            <p:cNvSpPr/>
            <p:nvPr/>
          </p:nvSpPr>
          <p:spPr>
            <a:xfrm>
              <a:off x="962501" y="2535642"/>
              <a:ext cx="15648621" cy="1524441"/>
            </a:xfrm>
            <a:prstGeom prst="rect">
              <a:avLst/>
            </a:prstGeom>
          </p:spPr>
          <p:txBody>
            <a:bodyPr wrap="square">
              <a:spAutoFit/>
            </a:bodyPr>
            <a:lstStyle/>
            <a:p>
              <a:pPr marL="185749" indent="-185749">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i="1" dirty="0">
                  <a:latin typeface="Times New Roman" panose="02020603050405020304" pitchFamily="18" charset="0"/>
                  <a:cs typeface="Times New Roman" panose="02020603050405020304" pitchFamily="18" charset="0"/>
                </a:rPr>
                <a:t>PESSIMISTIC_READ</a:t>
              </a:r>
              <a:endParaRPr lang="en-US" sz="1517" dirty="0">
                <a:latin typeface="Times New Roman" panose="02020603050405020304" pitchFamily="18" charset="0"/>
                <a:cs typeface="Times New Roman" panose="02020603050405020304" pitchFamily="18" charset="0"/>
              </a:endParaRPr>
            </a:p>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PESSIMISTIC_READ</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override</a:t>
              </a:r>
              <a:r>
                <a:rPr lang="en-US" sz="1083" dirty="0">
                  <a:solidFill>
                    <a:srgbClr val="000000"/>
                  </a:solidFill>
                  <a:latin typeface="Consolas" panose="020B0609020204030204" pitchFamily="49" charset="0"/>
                </a:rPr>
                <a:t> </a:t>
              </a:r>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findById</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facilityTaConnectId:FacilityTaConnectId</a:t>
              </a:r>
              <a:r>
                <a:rPr lang="en-US" sz="1083" dirty="0">
                  <a:solidFill>
                    <a:srgbClr val="000000"/>
                  </a:solidFill>
                  <a:latin typeface="Consolas" panose="020B0609020204030204" pitchFamily="49" charset="0"/>
                </a:rPr>
                <a:t>):Optional&lt;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grpSp>
          <p:nvGrpSpPr>
            <p:cNvPr id="7" name="グループ化 6"/>
            <p:cNvGrpSpPr/>
            <p:nvPr/>
          </p:nvGrpSpPr>
          <p:grpSpPr>
            <a:xfrm>
              <a:off x="1062514" y="3524992"/>
              <a:ext cx="6195536" cy="1618000"/>
              <a:chOff x="1062514" y="3524992"/>
              <a:chExt cx="6195536" cy="1618000"/>
            </a:xfrm>
          </p:grpSpPr>
          <p:sp>
            <p:nvSpPr>
              <p:cNvPr id="6" name="正方形/長方形 5"/>
              <p:cNvSpPr/>
              <p:nvPr/>
            </p:nvSpPr>
            <p:spPr>
              <a:xfrm>
                <a:off x="1062514" y="3524992"/>
                <a:ext cx="5409724" cy="457200"/>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867"/>
              </a:p>
            </p:txBody>
          </p:sp>
          <p:sp>
            <p:nvSpPr>
              <p:cNvPr id="16" name="正方形/長方形 15"/>
              <p:cNvSpPr/>
              <p:nvPr/>
            </p:nvSpPr>
            <p:spPr>
              <a:xfrm>
                <a:off x="1062514" y="4800092"/>
                <a:ext cx="6195536" cy="342900"/>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867"/>
              </a:p>
            </p:txBody>
          </p:sp>
        </p:grpSp>
      </p:grpSp>
      <p:sp>
        <p:nvSpPr>
          <p:cNvPr id="23" name="正方形/長方形 22"/>
          <p:cNvSpPr/>
          <p:nvPr/>
        </p:nvSpPr>
        <p:spPr>
          <a:xfrm>
            <a:off x="575528" y="2978709"/>
            <a:ext cx="8476337" cy="825739"/>
          </a:xfrm>
          <a:prstGeom prst="rect">
            <a:avLst/>
          </a:prstGeom>
        </p:spPr>
        <p:txBody>
          <a:bodyPr wrap="square">
            <a:spAutoFit/>
          </a:bodyPr>
          <a:lstStyle/>
          <a:p>
            <a:pPr marL="185749" indent="-185749">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a:t>
            </a:r>
            <a:r>
              <a:rPr lang="en-US" sz="1517" i="1" dirty="0">
                <a:latin typeface="Times New Roman" panose="02020603050405020304" pitchFamily="18" charset="0"/>
                <a:cs typeface="Times New Roman" panose="02020603050405020304" pitchFamily="18" charset="0"/>
              </a:rPr>
              <a:t>PESSIMISTIC_WRITE</a:t>
            </a:r>
            <a:endParaRPr lang="en-US" sz="1517" dirty="0">
              <a:solidFill>
                <a:srgbClr val="646464"/>
              </a:solidFill>
              <a:latin typeface="Times New Roman" panose="02020603050405020304" pitchFamily="18" charset="0"/>
              <a:cs typeface="Times New Roman" panose="02020603050405020304" pitchFamily="18" charset="0"/>
            </a:endParaRPr>
          </a:p>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PESSIMISTIC_WRITE</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override</a:t>
            </a:r>
            <a:r>
              <a:rPr lang="en-US" sz="1083" dirty="0">
                <a:solidFill>
                  <a:srgbClr val="000000"/>
                </a:solidFill>
                <a:latin typeface="Consolas" panose="020B0609020204030204" pitchFamily="49" charset="0"/>
              </a:rPr>
              <a:t> </a:t>
            </a:r>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findById</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facilityTaConnectId:FacilityTaConnectId</a:t>
            </a:r>
            <a:r>
              <a:rPr lang="en-US" sz="1083" dirty="0">
                <a:solidFill>
                  <a:srgbClr val="000000"/>
                </a:solidFill>
                <a:latin typeface="Consolas" panose="020B0609020204030204" pitchFamily="49" charset="0"/>
              </a:rPr>
              <a:t>):Optional&lt;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sp>
        <p:nvSpPr>
          <p:cNvPr id="24" name="正方形/長方形 23"/>
          <p:cNvSpPr/>
          <p:nvPr/>
        </p:nvSpPr>
        <p:spPr>
          <a:xfrm>
            <a:off x="521355" y="3941007"/>
            <a:ext cx="8476337" cy="825739"/>
          </a:xfrm>
          <a:prstGeom prst="rect">
            <a:avLst/>
          </a:prstGeom>
        </p:spPr>
        <p:txBody>
          <a:bodyPr wrap="square">
            <a:spAutoFit/>
          </a:bodyPr>
          <a:lstStyle/>
          <a:p>
            <a:pPr marL="185749" indent="-185749">
              <a:buFont typeface="Wingdings" panose="05000000000000000000" pitchFamily="2" charset="2"/>
              <a:buChar char="Ø"/>
            </a:pPr>
            <a:r>
              <a:rPr lang="en-US" sz="1517" dirty="0" err="1">
                <a:latin typeface="Times New Roman" panose="02020603050405020304" pitchFamily="18" charset="0"/>
                <a:cs typeface="Times New Roman" panose="02020603050405020304" pitchFamily="18" charset="0"/>
              </a:rPr>
              <a:t>Sử</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dụng</a:t>
            </a:r>
            <a:r>
              <a:rPr lang="en-US" sz="1517" dirty="0">
                <a:latin typeface="Times New Roman" panose="02020603050405020304" pitchFamily="18" charset="0"/>
                <a:cs typeface="Times New Roman" panose="02020603050405020304" pitchFamily="18" charset="0"/>
              </a:rPr>
              <a:t> PESSIMISTIC_FORCE_INCREMENT</a:t>
            </a:r>
            <a:endParaRPr lang="en-US" sz="1517" dirty="0">
              <a:solidFill>
                <a:srgbClr val="646464"/>
              </a:solidFill>
              <a:latin typeface="Times New Roman" panose="02020603050405020304" pitchFamily="18" charset="0"/>
              <a:cs typeface="Times New Roman" panose="02020603050405020304" pitchFamily="18" charset="0"/>
            </a:endParaRPr>
          </a:p>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PESSIMISTIC_FORCE_INCREMENT</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override</a:t>
            </a:r>
            <a:r>
              <a:rPr lang="en-US" sz="1083" dirty="0">
                <a:solidFill>
                  <a:srgbClr val="000000"/>
                </a:solidFill>
                <a:latin typeface="Consolas" panose="020B0609020204030204" pitchFamily="49" charset="0"/>
              </a:rPr>
              <a:t> </a:t>
            </a:r>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findById</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facilityTaConnectId:FacilityTaConnectId</a:t>
            </a:r>
            <a:r>
              <a:rPr lang="en-US" sz="1083" dirty="0">
                <a:solidFill>
                  <a:srgbClr val="000000"/>
                </a:solidFill>
                <a:latin typeface="Consolas" panose="020B0609020204030204" pitchFamily="49" charset="0"/>
              </a:rPr>
              <a:t>):Optional&lt;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sp>
        <p:nvSpPr>
          <p:cNvPr id="10" name="正方形/長方形 9"/>
          <p:cNvSpPr/>
          <p:nvPr/>
        </p:nvSpPr>
        <p:spPr>
          <a:xfrm>
            <a:off x="575528" y="4218385"/>
            <a:ext cx="3595827" cy="17025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17" name="角丸四角形吹き出し 16"/>
          <p:cNvSpPr/>
          <p:nvPr/>
        </p:nvSpPr>
        <p:spPr>
          <a:xfrm>
            <a:off x="1503829" y="4801413"/>
            <a:ext cx="4385598" cy="1336791"/>
          </a:xfrm>
          <a:prstGeom prst="wedgeRoundRectCallout">
            <a:avLst>
              <a:gd name="adj1" fmla="val -11555"/>
              <a:gd name="adj2" fmla="val -79917"/>
              <a:gd name="adj3" fmla="val 16667"/>
            </a:avLst>
          </a:prstGeom>
          <a:noFill/>
        </p:spPr>
        <p:style>
          <a:lnRef idx="1">
            <a:schemeClr val="accent1"/>
          </a:lnRef>
          <a:fillRef idx="3">
            <a:schemeClr val="accent1"/>
          </a:fillRef>
          <a:effectRef idx="2">
            <a:schemeClr val="accent1"/>
          </a:effectRef>
          <a:fontRef idx="minor">
            <a:schemeClr val="lt1"/>
          </a:fontRef>
        </p:style>
        <p:txBody>
          <a:bodyPr rtlCol="0" anchor="ctr"/>
          <a:lstStyle/>
          <a:p>
            <a:r>
              <a:rPr lang="en-US" sz="867" dirty="0" err="1">
                <a:solidFill>
                  <a:srgbClr val="FF0000"/>
                </a:solidFill>
              </a:rPr>
              <a:t>Đối</a:t>
            </a:r>
            <a:r>
              <a:rPr lang="en-US" sz="867" dirty="0">
                <a:solidFill>
                  <a:srgbClr val="FF0000"/>
                </a:solidFill>
              </a:rPr>
              <a:t> </a:t>
            </a:r>
            <a:r>
              <a:rPr lang="en-US" sz="867" dirty="0" err="1">
                <a:solidFill>
                  <a:srgbClr val="FF0000"/>
                </a:solidFill>
              </a:rPr>
              <a:t>với</a:t>
            </a:r>
            <a:r>
              <a:rPr lang="en-US" sz="867" dirty="0">
                <a:solidFill>
                  <a:srgbClr val="FF0000"/>
                </a:solidFill>
              </a:rPr>
              <a:t> Lock Mode </a:t>
            </a:r>
            <a:r>
              <a:rPr lang="en-US" sz="867" dirty="0" err="1">
                <a:solidFill>
                  <a:srgbClr val="FF0000"/>
                </a:solidFill>
              </a:rPr>
              <a:t>Tyle</a:t>
            </a:r>
            <a:r>
              <a:rPr lang="en-US" sz="867" dirty="0">
                <a:solidFill>
                  <a:srgbClr val="FF0000"/>
                </a:solidFill>
              </a:rPr>
              <a:t> </a:t>
            </a:r>
            <a:r>
              <a:rPr lang="en-US" sz="867" dirty="0" err="1">
                <a:solidFill>
                  <a:srgbClr val="FF0000"/>
                </a:solidFill>
              </a:rPr>
              <a:t>là</a:t>
            </a:r>
            <a:r>
              <a:rPr lang="en-US" sz="867" dirty="0">
                <a:solidFill>
                  <a:srgbClr val="FF0000"/>
                </a:solidFill>
              </a:rPr>
              <a:t> </a:t>
            </a:r>
            <a:r>
              <a:rPr lang="en-US" sz="867" i="1" dirty="0">
                <a:solidFill>
                  <a:srgbClr val="FF0000"/>
                </a:solidFill>
              </a:rPr>
              <a:t>PESSIMISTIC_FORCE_INCREMENT</a:t>
            </a:r>
          </a:p>
          <a:p>
            <a:r>
              <a:rPr lang="en-US" sz="867" i="1" dirty="0" err="1">
                <a:solidFill>
                  <a:srgbClr val="FF0000"/>
                </a:solidFill>
              </a:rPr>
              <a:t>Thì</a:t>
            </a:r>
            <a:r>
              <a:rPr lang="en-US" sz="867" i="1" dirty="0">
                <a:solidFill>
                  <a:srgbClr val="FF0000"/>
                </a:solidFill>
              </a:rPr>
              <a:t> entity </a:t>
            </a:r>
            <a:r>
              <a:rPr lang="en-US" sz="867" i="1" dirty="0" err="1">
                <a:solidFill>
                  <a:srgbClr val="FF0000"/>
                </a:solidFill>
              </a:rPr>
              <a:t>bắt</a:t>
            </a:r>
            <a:r>
              <a:rPr lang="en-US" sz="867" i="1" dirty="0">
                <a:solidFill>
                  <a:srgbClr val="FF0000"/>
                </a:solidFill>
              </a:rPr>
              <a:t> </a:t>
            </a:r>
            <a:r>
              <a:rPr lang="en-US" sz="867" i="1" dirty="0" err="1">
                <a:solidFill>
                  <a:srgbClr val="FF0000"/>
                </a:solidFill>
              </a:rPr>
              <a:t>buộc</a:t>
            </a:r>
            <a:r>
              <a:rPr lang="en-US" sz="867" i="1" dirty="0">
                <a:solidFill>
                  <a:srgbClr val="FF0000"/>
                </a:solidFill>
              </a:rPr>
              <a:t> </a:t>
            </a:r>
            <a:r>
              <a:rPr lang="en-US" sz="867" i="1" dirty="0" err="1">
                <a:solidFill>
                  <a:srgbClr val="FF0000"/>
                </a:solidFill>
              </a:rPr>
              <a:t>phải</a:t>
            </a:r>
            <a:r>
              <a:rPr lang="en-US" sz="867" i="1" dirty="0">
                <a:solidFill>
                  <a:srgbClr val="FF0000"/>
                </a:solidFill>
              </a:rPr>
              <a:t> </a:t>
            </a:r>
            <a:r>
              <a:rPr lang="en-US" sz="867" i="1" dirty="0" err="1">
                <a:solidFill>
                  <a:srgbClr val="FF0000"/>
                </a:solidFill>
              </a:rPr>
              <a:t>có</a:t>
            </a:r>
            <a:r>
              <a:rPr lang="en-US" sz="867" i="1" dirty="0">
                <a:solidFill>
                  <a:srgbClr val="FF0000"/>
                </a:solidFill>
              </a:rPr>
              <a:t> column version </a:t>
            </a:r>
            <a:r>
              <a:rPr lang="en-US" sz="867" i="1" dirty="0" err="1">
                <a:solidFill>
                  <a:srgbClr val="FF0000"/>
                </a:solidFill>
              </a:rPr>
              <a:t>được</a:t>
            </a:r>
            <a:r>
              <a:rPr lang="en-US" sz="867" i="1" dirty="0">
                <a:solidFill>
                  <a:srgbClr val="FF0000"/>
                </a:solidFill>
              </a:rPr>
              <a:t> </a:t>
            </a:r>
            <a:r>
              <a:rPr lang="en-US" sz="867" i="1" dirty="0" err="1">
                <a:solidFill>
                  <a:srgbClr val="FF0000"/>
                </a:solidFill>
              </a:rPr>
              <a:t>chú</a:t>
            </a:r>
            <a:r>
              <a:rPr lang="en-US" sz="867" i="1" dirty="0">
                <a:solidFill>
                  <a:srgbClr val="FF0000"/>
                </a:solidFill>
              </a:rPr>
              <a:t> </a:t>
            </a:r>
            <a:r>
              <a:rPr lang="en-US" sz="867" i="1" dirty="0" err="1">
                <a:solidFill>
                  <a:srgbClr val="FF0000"/>
                </a:solidFill>
              </a:rPr>
              <a:t>thích</a:t>
            </a:r>
            <a:r>
              <a:rPr lang="en-US" sz="867" i="1" dirty="0">
                <a:solidFill>
                  <a:srgbClr val="FF0000"/>
                </a:solidFill>
              </a:rPr>
              <a:t> </a:t>
            </a:r>
            <a:r>
              <a:rPr lang="en-US" sz="867" i="1" dirty="0" err="1">
                <a:solidFill>
                  <a:srgbClr val="FF0000"/>
                </a:solidFill>
              </a:rPr>
              <a:t>bằng</a:t>
            </a:r>
            <a:r>
              <a:rPr lang="en-US" sz="867" i="1" dirty="0">
                <a:solidFill>
                  <a:srgbClr val="FF0000"/>
                </a:solidFill>
              </a:rPr>
              <a:t> annotation version</a:t>
            </a:r>
          </a:p>
          <a:p>
            <a:r>
              <a:rPr lang="en-US" sz="867" i="1" dirty="0" err="1">
                <a:solidFill>
                  <a:schemeClr val="tx1"/>
                </a:solidFill>
              </a:rPr>
              <a:t>Ví</a:t>
            </a:r>
            <a:r>
              <a:rPr lang="en-US" sz="867" i="1" dirty="0">
                <a:solidFill>
                  <a:schemeClr val="tx1"/>
                </a:solidFill>
              </a:rPr>
              <a:t> </a:t>
            </a:r>
            <a:r>
              <a:rPr lang="en-US" sz="867" i="1" dirty="0" err="1">
                <a:solidFill>
                  <a:schemeClr val="tx1"/>
                </a:solidFill>
              </a:rPr>
              <a:t>dụ</a:t>
            </a:r>
            <a:r>
              <a:rPr lang="en-US" sz="867" i="1" dirty="0">
                <a:solidFill>
                  <a:schemeClr val="tx1"/>
                </a:solidFill>
              </a:rPr>
              <a:t>:</a:t>
            </a:r>
          </a:p>
          <a:p>
            <a:r>
              <a:rPr lang="en-US" sz="867" dirty="0">
                <a:solidFill>
                  <a:srgbClr val="646464"/>
                </a:solidFill>
                <a:latin typeface="Consolas" panose="020B0609020204030204" pitchFamily="49" charset="0"/>
              </a:rPr>
              <a:t>@Version</a:t>
            </a:r>
          </a:p>
          <a:p>
            <a:r>
              <a:rPr lang="en-US" sz="867" dirty="0" err="1">
                <a:solidFill>
                  <a:srgbClr val="7F0055"/>
                </a:solidFill>
                <a:latin typeface="Consolas" panose="020B0609020204030204" pitchFamily="49" charset="0"/>
              </a:rPr>
              <a:t>var</a:t>
            </a:r>
            <a:r>
              <a:rPr lang="en-US" sz="867" dirty="0">
                <a:solidFill>
                  <a:srgbClr val="000000"/>
                </a:solidFill>
                <a:latin typeface="Consolas" panose="020B0609020204030204" pitchFamily="49" charset="0"/>
              </a:rPr>
              <a:t> </a:t>
            </a:r>
            <a:r>
              <a:rPr lang="en-US" sz="867" u="sng" dirty="0" err="1">
                <a:solidFill>
                  <a:srgbClr val="0000C0"/>
                </a:solidFill>
                <a:latin typeface="Consolas" panose="020B0609020204030204" pitchFamily="49" charset="0"/>
              </a:rPr>
              <a:t>version</a:t>
            </a:r>
            <a:r>
              <a:rPr lang="en-US" sz="867" u="sng" dirty="0" err="1">
                <a:solidFill>
                  <a:srgbClr val="000000"/>
                </a:solidFill>
                <a:latin typeface="Consolas" panose="020B0609020204030204" pitchFamily="49" charset="0"/>
              </a:rPr>
              <a:t>:Long</a:t>
            </a:r>
            <a:endParaRPr lang="en-US" sz="867" u="sng" dirty="0">
              <a:solidFill>
                <a:srgbClr val="000000"/>
              </a:solidFill>
              <a:latin typeface="Consolas" panose="020B0609020204030204" pitchFamily="49" charset="0"/>
            </a:endParaRPr>
          </a:p>
          <a:p>
            <a:endParaRPr lang="en-US" sz="867" u="sng" dirty="0">
              <a:solidFill>
                <a:srgbClr val="000000"/>
              </a:solidFill>
              <a:latin typeface="Consolas" panose="020B0609020204030204" pitchFamily="49" charset="0"/>
            </a:endParaRPr>
          </a:p>
          <a:p>
            <a:r>
              <a:rPr lang="en-US" altLang="ja-JP" sz="867" dirty="0">
                <a:solidFill>
                  <a:srgbClr val="000000"/>
                </a:solidFill>
                <a:latin typeface="Consolas" panose="020B0609020204030204" pitchFamily="49" charset="0"/>
              </a:rPr>
              <a:t>※</a:t>
            </a:r>
            <a:r>
              <a:rPr lang="ja-JP" altLang="en-US" sz="867" dirty="0">
                <a:solidFill>
                  <a:srgbClr val="000000"/>
                </a:solidFill>
                <a:latin typeface="Consolas" panose="020B0609020204030204" pitchFamily="49" charset="0"/>
              </a:rPr>
              <a:t> </a:t>
            </a:r>
            <a:r>
              <a:rPr lang="en-US" altLang="ja-JP" sz="867" dirty="0">
                <a:solidFill>
                  <a:srgbClr val="000000"/>
                </a:solidFill>
                <a:latin typeface="Consolas" panose="020B0609020204030204" pitchFamily="49" charset="0"/>
              </a:rPr>
              <a:t>Trong table </a:t>
            </a:r>
            <a:r>
              <a:rPr lang="en-US" altLang="ja-JP" sz="867" dirty="0" err="1">
                <a:solidFill>
                  <a:srgbClr val="000000"/>
                </a:solidFill>
                <a:latin typeface="Consolas" panose="020B0609020204030204" pitchFamily="49" charset="0"/>
              </a:rPr>
              <a:t>cũng</a:t>
            </a:r>
            <a:r>
              <a:rPr lang="en-US" altLang="ja-JP" sz="867" dirty="0">
                <a:solidFill>
                  <a:srgbClr val="000000"/>
                </a:solidFill>
                <a:latin typeface="Consolas" panose="020B0609020204030204" pitchFamily="49" charset="0"/>
              </a:rPr>
              <a:t> </a:t>
            </a:r>
            <a:r>
              <a:rPr lang="en-US" altLang="ja-JP" sz="867" dirty="0" err="1">
                <a:solidFill>
                  <a:srgbClr val="000000"/>
                </a:solidFill>
                <a:latin typeface="Consolas" panose="020B0609020204030204" pitchFamily="49" charset="0"/>
              </a:rPr>
              <a:t>cần</a:t>
            </a:r>
            <a:r>
              <a:rPr lang="en-US" altLang="ja-JP" sz="867" dirty="0">
                <a:solidFill>
                  <a:srgbClr val="000000"/>
                </a:solidFill>
                <a:latin typeface="Consolas" panose="020B0609020204030204" pitchFamily="49" charset="0"/>
              </a:rPr>
              <a:t> </a:t>
            </a:r>
            <a:r>
              <a:rPr lang="en-US" altLang="ja-JP" sz="867" dirty="0" err="1">
                <a:solidFill>
                  <a:srgbClr val="000000"/>
                </a:solidFill>
                <a:latin typeface="Consolas" panose="020B0609020204030204" pitchFamily="49" charset="0"/>
              </a:rPr>
              <a:t>có</a:t>
            </a:r>
            <a:r>
              <a:rPr lang="en-US" altLang="ja-JP" sz="867" dirty="0">
                <a:solidFill>
                  <a:srgbClr val="000000"/>
                </a:solidFill>
                <a:latin typeface="Consolas" panose="020B0609020204030204" pitchFamily="49" charset="0"/>
              </a:rPr>
              <a:t> column </a:t>
            </a:r>
            <a:r>
              <a:rPr lang="en-US" sz="867" dirty="0">
                <a:solidFill>
                  <a:srgbClr val="0000C0"/>
                </a:solidFill>
                <a:latin typeface="Consolas" panose="020B0609020204030204" pitchFamily="49" charset="0"/>
              </a:rPr>
              <a:t>version</a:t>
            </a:r>
            <a:endParaRPr lang="en-US" sz="867" dirty="0">
              <a:solidFill>
                <a:schemeClr val="tx1"/>
              </a:solidFill>
            </a:endParaRPr>
          </a:p>
        </p:txBody>
      </p:sp>
      <p:pic>
        <p:nvPicPr>
          <p:cNvPr id="25" name="Picture 28"/>
          <p:cNvPicPr>
            <a:picLocks noChangeAspect="1"/>
          </p:cNvPicPr>
          <p:nvPr/>
        </p:nvPicPr>
        <p:blipFill>
          <a:blip r:embed="rId2"/>
          <a:stretch>
            <a:fillRect/>
          </a:stretch>
        </p:blipFill>
        <p:spPr>
          <a:xfrm flipH="1">
            <a:off x="7780337" y="2077243"/>
            <a:ext cx="2125663" cy="4137819"/>
          </a:xfrm>
          <a:prstGeom prst="rect">
            <a:avLst/>
          </a:prstGeom>
        </p:spPr>
      </p:pic>
    </p:spTree>
    <p:extLst>
      <p:ext uri="{BB962C8B-B14F-4D97-AF65-F5344CB8AC3E}">
        <p14:creationId xmlns:p14="http://schemas.microsoft.com/office/powerpoint/2010/main" val="126366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9"/>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0" name="Freeform 20"/>
          <p:cNvSpPr/>
          <p:nvPr/>
        </p:nvSpPr>
        <p:spPr>
          <a:xfrm>
            <a:off x="0" y="642938"/>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EFE">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a:p>
        </p:txBody>
      </p:sp>
      <p:sp>
        <p:nvSpPr>
          <p:cNvPr id="21" name="Freeform 21"/>
          <p:cNvSpPr/>
          <p:nvPr/>
        </p:nvSpPr>
        <p:spPr>
          <a:xfrm>
            <a:off x="0" y="703980"/>
            <a:ext cx="9906000" cy="5572124"/>
          </a:xfrm>
          <a:custGeom>
            <a:avLst/>
            <a:gdLst>
              <a:gd name="connsiteX0" fmla="*/ 0 w 18288000"/>
              <a:gd name="connsiteY0" fmla="*/ 0 h 10286998"/>
              <a:gd name="connsiteX1" fmla="*/ 18288000 w 18288000"/>
              <a:gd name="connsiteY1" fmla="*/ 0 h 10286998"/>
              <a:gd name="connsiteX2" fmla="*/ 18288000 w 18288000"/>
              <a:gd name="connsiteY2" fmla="*/ 10286998 h 10286998"/>
              <a:gd name="connsiteX3" fmla="*/ 0 w 18288000"/>
              <a:gd name="connsiteY3" fmla="*/ 10286998 h 10286998"/>
              <a:gd name="connsiteX4" fmla="*/ 0 w 18288000"/>
              <a:gd name="connsiteY4" fmla="*/ 0 h 10286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0" h="10286998">
                <a:moveTo>
                  <a:pt x="0" y="0"/>
                </a:moveTo>
                <a:lnTo>
                  <a:pt x="18288000" y="0"/>
                </a:lnTo>
                <a:lnTo>
                  <a:pt x="18288000" y="10286998"/>
                </a:lnTo>
                <a:lnTo>
                  <a:pt x="0" y="10286998"/>
                </a:lnTo>
                <a:lnTo>
                  <a:pt x="0" y="0"/>
                </a:lnTo>
                <a:close/>
              </a:path>
            </a:pathLst>
          </a:custGeom>
          <a:solidFill>
            <a:srgbClr val="FEFCF0">
              <a:alpha val="100000"/>
            </a:srgbClr>
          </a:solidFill>
          <a:ln w="12700">
            <a:solidFill>
              <a:srgbClr val="000000">
                <a:alpha val="0"/>
              </a:srgb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867" dirty="0"/>
          </a:p>
        </p:txBody>
      </p:sp>
      <p:sp>
        <p:nvSpPr>
          <p:cNvPr id="12" name="正方形/長方形 3"/>
          <p:cNvSpPr/>
          <p:nvPr/>
        </p:nvSpPr>
        <p:spPr>
          <a:xfrm>
            <a:off x="94611" y="780404"/>
            <a:ext cx="3078405" cy="379157"/>
          </a:xfrm>
          <a:custGeom>
            <a:avLst/>
            <a:gdLst>
              <a:gd name="connsiteX0" fmla="*/ 0 w 5834742"/>
              <a:gd name="connsiteY0" fmla="*/ 0 h 819552"/>
              <a:gd name="connsiteX1" fmla="*/ 5834742 w 5834742"/>
              <a:gd name="connsiteY1" fmla="*/ 0 h 819552"/>
              <a:gd name="connsiteX2" fmla="*/ 5834742 w 5834742"/>
              <a:gd name="connsiteY2" fmla="*/ 819552 h 819552"/>
              <a:gd name="connsiteX3" fmla="*/ 0 w 5834742"/>
              <a:gd name="connsiteY3" fmla="*/ 819552 h 819552"/>
              <a:gd name="connsiteX4" fmla="*/ 0 w 5834742"/>
              <a:gd name="connsiteY4" fmla="*/ 0 h 819552"/>
              <a:gd name="connsiteX0" fmla="*/ 0 w 5834742"/>
              <a:gd name="connsiteY0" fmla="*/ 43543 h 863095"/>
              <a:gd name="connsiteX1" fmla="*/ 5718628 w 5834742"/>
              <a:gd name="connsiteY1" fmla="*/ 0 h 863095"/>
              <a:gd name="connsiteX2" fmla="*/ 5834742 w 5834742"/>
              <a:gd name="connsiteY2" fmla="*/ 863095 h 863095"/>
              <a:gd name="connsiteX3" fmla="*/ 0 w 5834742"/>
              <a:gd name="connsiteY3" fmla="*/ 863095 h 863095"/>
              <a:gd name="connsiteX4" fmla="*/ 0 w 5834742"/>
              <a:gd name="connsiteY4" fmla="*/ 43543 h 863095"/>
              <a:gd name="connsiteX0" fmla="*/ 0 w 5834742"/>
              <a:gd name="connsiteY0" fmla="*/ 43543 h 877609"/>
              <a:gd name="connsiteX1" fmla="*/ 5718628 w 5834742"/>
              <a:gd name="connsiteY1" fmla="*/ 0 h 877609"/>
              <a:gd name="connsiteX2" fmla="*/ 5834742 w 5834742"/>
              <a:gd name="connsiteY2" fmla="*/ 877609 h 877609"/>
              <a:gd name="connsiteX3" fmla="*/ 0 w 5834742"/>
              <a:gd name="connsiteY3" fmla="*/ 863095 h 877609"/>
              <a:gd name="connsiteX4" fmla="*/ 0 w 5834742"/>
              <a:gd name="connsiteY4" fmla="*/ 43543 h 877609"/>
              <a:gd name="connsiteX0" fmla="*/ 0 w 5834742"/>
              <a:gd name="connsiteY0" fmla="*/ 43543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43543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0 w 5834742"/>
              <a:gd name="connsiteY0" fmla="*/ 87086 h 921152"/>
              <a:gd name="connsiteX1" fmla="*/ 5718628 w 5834742"/>
              <a:gd name="connsiteY1" fmla="*/ 0 h 921152"/>
              <a:gd name="connsiteX2" fmla="*/ 5834742 w 5834742"/>
              <a:gd name="connsiteY2" fmla="*/ 877609 h 921152"/>
              <a:gd name="connsiteX3" fmla="*/ 29029 w 5834742"/>
              <a:gd name="connsiteY3" fmla="*/ 921152 h 921152"/>
              <a:gd name="connsiteX4" fmla="*/ 0 w 5834742"/>
              <a:gd name="connsiteY4" fmla="*/ 87086 h 921152"/>
              <a:gd name="connsiteX0" fmla="*/ 44042 w 5806212"/>
              <a:gd name="connsiteY0" fmla="*/ 1 h 921152"/>
              <a:gd name="connsiteX1" fmla="*/ 5690098 w 5806212"/>
              <a:gd name="connsiteY1" fmla="*/ 0 h 921152"/>
              <a:gd name="connsiteX2" fmla="*/ 5806212 w 5806212"/>
              <a:gd name="connsiteY2" fmla="*/ 877609 h 921152"/>
              <a:gd name="connsiteX3" fmla="*/ 499 w 5806212"/>
              <a:gd name="connsiteY3" fmla="*/ 921152 h 921152"/>
              <a:gd name="connsiteX4" fmla="*/ 44042 w 5806212"/>
              <a:gd name="connsiteY4" fmla="*/ 1 h 921152"/>
              <a:gd name="connsiteX0" fmla="*/ 15144 w 5777314"/>
              <a:gd name="connsiteY0" fmla="*/ 1 h 906637"/>
              <a:gd name="connsiteX1" fmla="*/ 5661200 w 5777314"/>
              <a:gd name="connsiteY1" fmla="*/ 0 h 906637"/>
              <a:gd name="connsiteX2" fmla="*/ 5777314 w 5777314"/>
              <a:gd name="connsiteY2" fmla="*/ 877609 h 906637"/>
              <a:gd name="connsiteX3" fmla="*/ 629 w 5777314"/>
              <a:gd name="connsiteY3" fmla="*/ 906637 h 906637"/>
              <a:gd name="connsiteX4" fmla="*/ 15144 w 5777314"/>
              <a:gd name="connsiteY4" fmla="*/ 1 h 906637"/>
              <a:gd name="connsiteX0" fmla="*/ 15144 w 5719257"/>
              <a:gd name="connsiteY0" fmla="*/ 1 h 906637"/>
              <a:gd name="connsiteX1" fmla="*/ 5661200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15144 w 5719257"/>
              <a:gd name="connsiteY0" fmla="*/ 1 h 906637"/>
              <a:gd name="connsiteX1" fmla="*/ 5704743 w 5719257"/>
              <a:gd name="connsiteY1" fmla="*/ 0 h 906637"/>
              <a:gd name="connsiteX2" fmla="*/ 5719257 w 5719257"/>
              <a:gd name="connsiteY2" fmla="*/ 863095 h 906637"/>
              <a:gd name="connsiteX3" fmla="*/ 629 w 5719257"/>
              <a:gd name="connsiteY3" fmla="*/ 906637 h 906637"/>
              <a:gd name="connsiteX4" fmla="*/ 15144 w 5719257"/>
              <a:gd name="connsiteY4" fmla="*/ 1 h 906637"/>
              <a:gd name="connsiteX0" fmla="*/ 0 w 5733142"/>
              <a:gd name="connsiteY0" fmla="*/ 29030 h 906637"/>
              <a:gd name="connsiteX1" fmla="*/ 5718628 w 5733142"/>
              <a:gd name="connsiteY1" fmla="*/ 0 h 906637"/>
              <a:gd name="connsiteX2" fmla="*/ 5733142 w 5733142"/>
              <a:gd name="connsiteY2" fmla="*/ 863095 h 906637"/>
              <a:gd name="connsiteX3" fmla="*/ 14514 w 5733142"/>
              <a:gd name="connsiteY3" fmla="*/ 906637 h 906637"/>
              <a:gd name="connsiteX4" fmla="*/ 0 w 5733142"/>
              <a:gd name="connsiteY4" fmla="*/ 29030 h 906637"/>
              <a:gd name="connsiteX0" fmla="*/ 0 w 5733142"/>
              <a:gd name="connsiteY0" fmla="*/ 29030 h 906637"/>
              <a:gd name="connsiteX1" fmla="*/ 5718628 w 5733142"/>
              <a:gd name="connsiteY1" fmla="*/ 0 h 906637"/>
              <a:gd name="connsiteX2" fmla="*/ 5733142 w 5733142"/>
              <a:gd name="connsiteY2" fmla="*/ 863095 h 906637"/>
              <a:gd name="connsiteX3" fmla="*/ 43542 w 5733142"/>
              <a:gd name="connsiteY3" fmla="*/ 906637 h 906637"/>
              <a:gd name="connsiteX4" fmla="*/ 0 w 5733142"/>
              <a:gd name="connsiteY4" fmla="*/ 29030 h 906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3142" h="906637">
                <a:moveTo>
                  <a:pt x="0" y="29030"/>
                </a:moveTo>
                <a:lnTo>
                  <a:pt x="5718628" y="0"/>
                </a:lnTo>
                <a:lnTo>
                  <a:pt x="5733142" y="863095"/>
                </a:lnTo>
                <a:lnTo>
                  <a:pt x="43542" y="906637"/>
                </a:lnTo>
                <a:cubicBezTo>
                  <a:pt x="33866" y="628615"/>
                  <a:pt x="82247" y="321566"/>
                  <a:pt x="0" y="29030"/>
                </a:cubicBezTo>
                <a:close/>
              </a:path>
            </a:pathLst>
          </a:cu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167" dirty="0" err="1">
                <a:latin typeface="Times New Roman" panose="02020603050405020304" pitchFamily="18" charset="0"/>
                <a:cs typeface="Times New Roman" panose="02020603050405020304" pitchFamily="18" charset="0"/>
              </a:rPr>
              <a:t>Thiết</a:t>
            </a:r>
            <a:r>
              <a:rPr lang="en-US" sz="2167" dirty="0">
                <a:latin typeface="Times New Roman" panose="02020603050405020304" pitchFamily="18" charset="0"/>
                <a:cs typeface="Times New Roman" panose="02020603050405020304" pitchFamily="18" charset="0"/>
              </a:rPr>
              <a:t> </a:t>
            </a:r>
            <a:r>
              <a:rPr lang="en-US" sz="2167" dirty="0" err="1">
                <a:latin typeface="Times New Roman" panose="02020603050405020304" pitchFamily="18" charset="0"/>
                <a:cs typeface="Times New Roman" panose="02020603050405020304" pitchFamily="18" charset="0"/>
              </a:rPr>
              <a:t>đặt</a:t>
            </a:r>
            <a:r>
              <a:rPr lang="en-US" sz="2167" dirty="0">
                <a:latin typeface="Times New Roman" panose="02020603050405020304" pitchFamily="18" charset="0"/>
                <a:cs typeface="Times New Roman" panose="02020603050405020304" pitchFamily="18" charset="0"/>
              </a:rPr>
              <a:t> Lock Timeout</a:t>
            </a:r>
          </a:p>
        </p:txBody>
      </p:sp>
      <p:pic>
        <p:nvPicPr>
          <p:cNvPr id="18" name="Picture 28"/>
          <p:cNvPicPr>
            <a:picLocks noChangeAspect="1"/>
          </p:cNvPicPr>
          <p:nvPr/>
        </p:nvPicPr>
        <p:blipFill>
          <a:blip r:embed="rId2"/>
          <a:stretch>
            <a:fillRect/>
          </a:stretch>
        </p:blipFill>
        <p:spPr>
          <a:xfrm flipH="1">
            <a:off x="8205470" y="2904807"/>
            <a:ext cx="1700530" cy="3310255"/>
          </a:xfrm>
          <a:prstGeom prst="rect">
            <a:avLst/>
          </a:prstGeom>
        </p:spPr>
      </p:pic>
      <p:sp>
        <p:nvSpPr>
          <p:cNvPr id="3" name="テキスト ボックス 2"/>
          <p:cNvSpPr txBox="1"/>
          <p:nvPr/>
        </p:nvSpPr>
        <p:spPr>
          <a:xfrm>
            <a:off x="301824" y="1339453"/>
            <a:ext cx="7994451" cy="2426946"/>
          </a:xfrm>
          <a:prstGeom prst="rect">
            <a:avLst/>
          </a:prstGeom>
          <a:noFill/>
        </p:spPr>
        <p:txBody>
          <a:bodyPr wrap="square" rtlCol="0">
            <a:spAutoFit/>
          </a:bodyPr>
          <a:lstStyle/>
          <a:p>
            <a:r>
              <a:rPr lang="vi-VN" sz="1517" dirty="0">
                <a:latin typeface="+mj-lt"/>
              </a:rPr>
              <a:t>Bên cạnh việc thiết lập </a:t>
            </a:r>
            <a:r>
              <a:rPr lang="en-US" sz="1517" dirty="0" err="1">
                <a:latin typeface="+mj-lt"/>
              </a:rPr>
              <a:t>chế</a:t>
            </a:r>
            <a:r>
              <a:rPr lang="en-US" sz="1517" dirty="0">
                <a:latin typeface="+mj-lt"/>
              </a:rPr>
              <a:t> </a:t>
            </a:r>
            <a:r>
              <a:rPr lang="en-US" sz="1517" dirty="0" err="1">
                <a:latin typeface="+mj-lt"/>
              </a:rPr>
              <a:t>độ</a:t>
            </a:r>
            <a:r>
              <a:rPr lang="en-US" sz="1517" dirty="0">
                <a:latin typeface="+mj-lt"/>
              </a:rPr>
              <a:t> </a:t>
            </a:r>
            <a:r>
              <a:rPr lang="en-US" sz="1517" dirty="0" err="1">
                <a:latin typeface="+mj-lt"/>
              </a:rPr>
              <a:t>khóa</a:t>
            </a:r>
            <a:r>
              <a:rPr lang="vi-VN" sz="1517" dirty="0">
                <a:latin typeface="+mj-lt"/>
              </a:rPr>
              <a:t>, chúng ta có thể điều chỉnh một thông số khóa khác </a:t>
            </a:r>
            <a:r>
              <a:rPr lang="en-US" sz="1517" dirty="0" err="1">
                <a:latin typeface="+mj-lt"/>
              </a:rPr>
              <a:t>như</a:t>
            </a:r>
            <a:r>
              <a:rPr lang="en-US" sz="1517" dirty="0">
                <a:latin typeface="+mj-lt"/>
              </a:rPr>
              <a:t> </a:t>
            </a:r>
            <a:r>
              <a:rPr lang="en-US" sz="1517" dirty="0" err="1">
                <a:latin typeface="+mj-lt"/>
              </a:rPr>
              <a:t>là</a:t>
            </a:r>
            <a:r>
              <a:rPr lang="vi-VN" sz="1517" dirty="0">
                <a:latin typeface="+mj-lt"/>
              </a:rPr>
              <a:t> </a:t>
            </a:r>
            <a:r>
              <a:rPr lang="en-US" sz="1517" dirty="0">
                <a:latin typeface="Times New Roman" panose="02020603050405020304" pitchFamily="18" charset="0"/>
                <a:cs typeface="Times New Roman" panose="02020603050405020304" pitchFamily="18" charset="0"/>
              </a:rPr>
              <a:t>Lock Timeout</a:t>
            </a:r>
            <a:r>
              <a:rPr lang="vi-VN" sz="1517" dirty="0">
                <a:latin typeface="+mj-lt"/>
              </a:rPr>
              <a:t>. Giá trị </a:t>
            </a:r>
            <a:r>
              <a:rPr lang="en-US" sz="1517" dirty="0">
                <a:latin typeface="Times New Roman" panose="02020603050405020304" pitchFamily="18" charset="0"/>
                <a:cs typeface="Times New Roman" panose="02020603050405020304" pitchFamily="18" charset="0"/>
              </a:rPr>
              <a:t>Lock Timeout </a:t>
            </a:r>
            <a:r>
              <a:rPr lang="vi-VN" sz="1517" dirty="0">
                <a:latin typeface="+mj-lt"/>
              </a:rPr>
              <a:t>là số mili giây mà </a:t>
            </a:r>
            <a:r>
              <a:rPr lang="en-US" sz="1517" dirty="0" err="1">
                <a:latin typeface="Times New Roman" panose="02020603050405020304" pitchFamily="18" charset="0"/>
                <a:cs typeface="Times New Roman" panose="02020603050405020304" pitchFamily="18" charset="0"/>
              </a:rPr>
              <a:t>muốn</a:t>
            </a:r>
            <a:r>
              <a:rPr lang="vi-VN" sz="1517" dirty="0">
                <a:latin typeface="+mj-lt"/>
              </a:rPr>
              <a:t> đợi để có được khóa trên các bảng cơ sở dữ liệu</a:t>
            </a:r>
            <a:r>
              <a:rPr lang="en-US" sz="1517" dirty="0">
                <a:latin typeface="Times New Roman" panose="02020603050405020304" pitchFamily="18" charset="0"/>
                <a:cs typeface="Times New Roman" panose="02020603050405020304" pitchFamily="18" charset="0"/>
              </a:rPr>
              <a:t>, </a:t>
            </a:r>
            <a:r>
              <a:rPr lang="vi-VN" sz="1517" dirty="0">
                <a:latin typeface="+mj-lt"/>
              </a:rPr>
              <a:t>có thể được chỉ định bằng cách sử dụng thuộc tính javax.persistence.lock.timeout</a:t>
            </a:r>
            <a:endParaRPr lang="en-US" sz="1517" dirty="0">
              <a:latin typeface="+mj-lt"/>
            </a:endParaRPr>
          </a:p>
          <a:p>
            <a:endParaRPr lang="en-US" sz="1517" dirty="0">
              <a:latin typeface="+mj-lt"/>
            </a:endParaRPr>
          </a:p>
          <a:p>
            <a:r>
              <a:rPr lang="en-US" sz="1517" dirty="0" err="1">
                <a:latin typeface="Times New Roman" panose="02020603050405020304" pitchFamily="18" charset="0"/>
                <a:cs typeface="Times New Roman" panose="02020603050405020304" pitchFamily="18" charset="0"/>
              </a:rPr>
              <a:t>Nếu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thời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gian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cần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có</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vượt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quá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giá</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trị</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của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LockTimeoutException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ném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ra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nhưng</a:t>
            </a:r>
            <a:r>
              <a:rPr lang="en-US" sz="1517" dirty="0">
                <a:latin typeface="Times New Roman" panose="02020603050405020304" pitchFamily="18" charset="0"/>
                <a:cs typeface="Times New Roman" panose="02020603050405020304" pitchFamily="18" charset="0"/>
              </a:rPr>
              <a:t> transaction </a:t>
            </a:r>
            <a:r>
              <a:rPr lang="en-US" sz="1517" dirty="0" err="1">
                <a:latin typeface="Times New Roman" panose="02020603050405020304" pitchFamily="18" charset="0"/>
                <a:cs typeface="Times New Roman" panose="02020603050405020304" pitchFamily="18" charset="0"/>
              </a:rPr>
              <a:t>hiện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tại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đánh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dấu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khôi</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phục</a:t>
            </a:r>
            <a:r>
              <a:rPr lang="en-US" sz="1517" dirty="0">
                <a:latin typeface="Times New Roman" panose="02020603050405020304" pitchFamily="18" charset="0"/>
                <a:cs typeface="Times New Roman" panose="02020603050405020304" pitchFamily="18" charset="0"/>
              </a:rPr>
              <a:t>. </a:t>
            </a:r>
          </a:p>
          <a:p>
            <a:endParaRPr lang="en-US" sz="1517" dirty="0">
              <a:latin typeface="Times New Roman" panose="02020603050405020304" pitchFamily="18" charset="0"/>
              <a:cs typeface="Times New Roman" panose="02020603050405020304" pitchFamily="18" charset="0"/>
            </a:endParaRPr>
          </a:p>
          <a:p>
            <a:r>
              <a:rPr lang="en-US" sz="1517" dirty="0" err="1">
                <a:latin typeface="Times New Roman" panose="02020603050405020304" pitchFamily="18" charset="0"/>
                <a:cs typeface="Times New Roman" panose="02020603050405020304" pitchFamily="18" charset="0"/>
              </a:rPr>
              <a:t>Nếu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đặt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thành</a:t>
            </a:r>
            <a:r>
              <a:rPr lang="en-US" sz="1517" dirty="0">
                <a:latin typeface="Times New Roman" panose="02020603050405020304" pitchFamily="18" charset="0"/>
                <a:cs typeface="Times New Roman" panose="02020603050405020304" pitchFamily="18" charset="0"/>
              </a:rPr>
              <a:t> 0, persistence provider </a:t>
            </a:r>
            <a:r>
              <a:rPr lang="en-US" sz="1517" dirty="0" err="1">
                <a:latin typeface="Times New Roman" panose="02020603050405020304" pitchFamily="18" charset="0"/>
                <a:cs typeface="Times New Roman" panose="02020603050405020304" pitchFamily="18" charset="0"/>
              </a:rPr>
              <a:t>sẽ</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ném</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một</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LockTimeoutException</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nếu</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thuộc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tính</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này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không</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thể</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lấy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được</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khóa</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ngay</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lập</a:t>
            </a:r>
            <a:r>
              <a:rPr lang="en-US" sz="1517" dirty="0">
                <a:latin typeface="Times New Roman" panose="02020603050405020304" pitchFamily="18" charset="0"/>
                <a:cs typeface="Times New Roman" panose="02020603050405020304" pitchFamily="18" charset="0"/>
              </a:rPr>
              <a:t> </a:t>
            </a:r>
            <a:r>
              <a:rPr lang="en-US" sz="1517" dirty="0" err="1">
                <a:latin typeface="Times New Roman" panose="02020603050405020304" pitchFamily="18" charset="0"/>
                <a:cs typeface="Times New Roman" panose="02020603050405020304" pitchFamily="18" charset="0"/>
              </a:rPr>
              <a:t>tức</a:t>
            </a:r>
            <a:endParaRPr lang="en-US" sz="1517" dirty="0">
              <a:latin typeface="Times New Roman" panose="02020603050405020304" pitchFamily="18" charset="0"/>
              <a:cs typeface="Times New Roman" panose="02020603050405020304" pitchFamily="18" charset="0"/>
            </a:endParaRPr>
          </a:p>
        </p:txBody>
      </p:sp>
      <p:sp>
        <p:nvSpPr>
          <p:cNvPr id="2" name="正方形/長方形 1"/>
          <p:cNvSpPr/>
          <p:nvPr/>
        </p:nvSpPr>
        <p:spPr>
          <a:xfrm>
            <a:off x="379214" y="3669935"/>
            <a:ext cx="7826256" cy="792718"/>
          </a:xfrm>
          <a:prstGeom prst="rect">
            <a:avLst/>
          </a:prstGeom>
        </p:spPr>
        <p:txBody>
          <a:bodyPr wrap="square">
            <a:spAutoFit/>
          </a:bodyPr>
          <a:lstStyle/>
          <a:p>
            <a:r>
              <a:rPr lang="vi-VN" sz="1517" dirty="0">
                <a:solidFill>
                  <a:srgbClr val="000000"/>
                </a:solidFill>
                <a:latin typeface="+mj-lt"/>
              </a:rPr>
              <a:t>Trong Spring Data JPA, thời gian chờ khóa có thể được chỉ định bằng cách sử dụng chú thích </a:t>
            </a:r>
            <a:r>
              <a:rPr lang="vi-VN" sz="1517" i="1" dirty="0">
                <a:solidFill>
                  <a:srgbClr val="267438"/>
                </a:solidFill>
                <a:latin typeface="+mj-lt"/>
                <a:hlinkClick r:id="rId3"/>
              </a:rPr>
              <a:t>QueryHints</a:t>
            </a:r>
            <a:r>
              <a:rPr lang="vi-VN" sz="1517" dirty="0">
                <a:solidFill>
                  <a:srgbClr val="000000"/>
                </a:solidFill>
                <a:latin typeface="+mj-lt"/>
              </a:rPr>
              <a:t> bằng cách đặt một </a:t>
            </a:r>
            <a:r>
              <a:rPr lang="vi-VN" sz="1517" i="1" dirty="0">
                <a:solidFill>
                  <a:srgbClr val="267438"/>
                </a:solidFill>
                <a:latin typeface="+mj-lt"/>
                <a:hlinkClick r:id="rId4"/>
              </a:rPr>
              <a:t>QueryHint</a:t>
            </a:r>
            <a:r>
              <a:rPr lang="vi-VN" sz="1517" dirty="0">
                <a:solidFill>
                  <a:srgbClr val="000000"/>
                </a:solidFill>
                <a:latin typeface="+mj-lt"/>
              </a:rPr>
              <a:t> trên các phương thức truy vấn</a:t>
            </a:r>
            <a:r>
              <a:rPr lang="en-US" sz="1517" dirty="0">
                <a:solidFill>
                  <a:srgbClr val="000000"/>
                </a:solidFill>
                <a:latin typeface="+mj-lt"/>
              </a:rPr>
              <a:t>:</a:t>
            </a:r>
            <a:endParaRPr lang="en-US" sz="1517" dirty="0">
              <a:latin typeface="+mj-lt"/>
            </a:endParaRPr>
          </a:p>
        </p:txBody>
      </p:sp>
      <p:sp>
        <p:nvSpPr>
          <p:cNvPr id="4" name="テキスト ボックス 3"/>
          <p:cNvSpPr txBox="1"/>
          <p:nvPr/>
        </p:nvSpPr>
        <p:spPr>
          <a:xfrm>
            <a:off x="470019" y="4338533"/>
            <a:ext cx="7826256" cy="758926"/>
          </a:xfrm>
          <a:prstGeom prst="rect">
            <a:avLst/>
          </a:prstGeom>
          <a:noFill/>
        </p:spPr>
        <p:txBody>
          <a:bodyPr wrap="square" rtlCol="0">
            <a:spAutoFit/>
          </a:bodyPr>
          <a:lstStyle/>
          <a:p>
            <a:r>
              <a:rPr lang="en-US" sz="1083" dirty="0">
                <a:solidFill>
                  <a:srgbClr val="646464"/>
                </a:solidFill>
                <a:latin typeface="Consolas" panose="020B0609020204030204" pitchFamily="49" charset="0"/>
              </a:rPr>
              <a:t>@Lock</a:t>
            </a:r>
            <a:r>
              <a:rPr lang="en-US" sz="1083" dirty="0">
                <a:solidFill>
                  <a:srgbClr val="000000"/>
                </a:solidFill>
                <a:latin typeface="Consolas" panose="020B0609020204030204" pitchFamily="49" charset="0"/>
              </a:rPr>
              <a:t>(</a:t>
            </a:r>
            <a:r>
              <a:rPr lang="en-US" sz="1083" dirty="0" err="1">
                <a:solidFill>
                  <a:srgbClr val="000000"/>
                </a:solidFill>
                <a:latin typeface="Consolas" panose="020B0609020204030204" pitchFamily="49" charset="0"/>
              </a:rPr>
              <a:t>LockModeType.</a:t>
            </a:r>
            <a:r>
              <a:rPr lang="en-US" sz="1083" i="1" dirty="0" err="1">
                <a:solidFill>
                  <a:srgbClr val="0000C0"/>
                </a:solidFill>
                <a:latin typeface="Consolas" panose="020B0609020204030204" pitchFamily="49" charset="0"/>
              </a:rPr>
              <a:t>PESSIMISTIC_READ</a:t>
            </a:r>
            <a:r>
              <a:rPr lang="en-US" sz="1083" i="1"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a:t>
            </a:r>
            <a:r>
              <a:rPr lang="en-US" sz="1083" dirty="0" err="1">
                <a:solidFill>
                  <a:srgbClr val="646464"/>
                </a:solidFill>
                <a:latin typeface="Consolas" panose="020B0609020204030204" pitchFamily="49" charset="0"/>
              </a:rPr>
              <a:t>QueryHints</a:t>
            </a:r>
            <a:r>
              <a:rPr lang="en-US" sz="1083" dirty="0">
                <a:solidFill>
                  <a:srgbClr val="000000"/>
                </a:solidFill>
                <a:latin typeface="Consolas" panose="020B0609020204030204" pitchFamily="49" charset="0"/>
              </a:rPr>
              <a:t>(value = [</a:t>
            </a:r>
            <a:r>
              <a:rPr lang="en-US" sz="1083" dirty="0" err="1">
                <a:solidFill>
                  <a:srgbClr val="646464"/>
                </a:solidFill>
                <a:latin typeface="Consolas" panose="020B0609020204030204" pitchFamily="49" charset="0"/>
              </a:rPr>
              <a:t>QueryHint</a:t>
            </a:r>
            <a:r>
              <a:rPr lang="en-US" sz="1083" dirty="0">
                <a:solidFill>
                  <a:srgbClr val="000000"/>
                </a:solidFill>
                <a:latin typeface="Consolas" panose="020B0609020204030204" pitchFamily="49" charset="0"/>
              </a:rPr>
              <a:t>(name = </a:t>
            </a:r>
            <a:r>
              <a:rPr lang="en-US" sz="1083" dirty="0">
                <a:solidFill>
                  <a:srgbClr val="2A00FF"/>
                </a:solidFill>
                <a:latin typeface="Consolas" panose="020B0609020204030204" pitchFamily="49" charset="0"/>
              </a:rPr>
              <a:t>"</a:t>
            </a:r>
            <a:r>
              <a:rPr lang="en-US" sz="1083" dirty="0" err="1">
                <a:solidFill>
                  <a:srgbClr val="2A00FF"/>
                </a:solidFill>
                <a:latin typeface="Consolas" panose="020B0609020204030204" pitchFamily="49" charset="0"/>
              </a:rPr>
              <a:t>javax.persistence.lock.timeout</a:t>
            </a:r>
            <a:r>
              <a:rPr lang="en-US" sz="1083" dirty="0">
                <a:solidFill>
                  <a:srgbClr val="2A00FF"/>
                </a:solidFill>
                <a:latin typeface="Consolas" panose="020B0609020204030204" pitchFamily="49" charset="0"/>
              </a:rPr>
              <a:t>"</a:t>
            </a:r>
            <a:r>
              <a:rPr lang="en-US" sz="1083" dirty="0">
                <a:solidFill>
                  <a:srgbClr val="000000"/>
                </a:solidFill>
                <a:latin typeface="Consolas" panose="020B0609020204030204" pitchFamily="49" charset="0"/>
              </a:rPr>
              <a:t>, value = </a:t>
            </a:r>
            <a:r>
              <a:rPr lang="en-US" sz="1083" dirty="0">
                <a:solidFill>
                  <a:srgbClr val="2A00FF"/>
                </a:solidFill>
                <a:latin typeface="Consolas" panose="020B0609020204030204" pitchFamily="49" charset="0"/>
              </a:rPr>
              <a:t>"10000"</a:t>
            </a:r>
            <a:r>
              <a:rPr lang="en-US" sz="1083" dirty="0">
                <a:solidFill>
                  <a:srgbClr val="000000"/>
                </a:solidFill>
                <a:latin typeface="Consolas" panose="020B0609020204030204" pitchFamily="49" charset="0"/>
              </a:rPr>
              <a:t>)])</a:t>
            </a:r>
          </a:p>
          <a:p>
            <a:r>
              <a:rPr lang="en-US" sz="1083" dirty="0">
                <a:solidFill>
                  <a:srgbClr val="646464"/>
                </a:solidFill>
                <a:latin typeface="Consolas" panose="020B0609020204030204" pitchFamily="49" charset="0"/>
              </a:rPr>
              <a:t>@Transactional</a:t>
            </a:r>
          </a:p>
          <a:p>
            <a:r>
              <a:rPr lang="en-US" sz="1083" dirty="0">
                <a:solidFill>
                  <a:srgbClr val="7F0055"/>
                </a:solidFill>
                <a:latin typeface="Consolas" panose="020B0609020204030204" pitchFamily="49" charset="0"/>
              </a:rPr>
              <a:t>fun</a:t>
            </a:r>
            <a:r>
              <a:rPr lang="en-US" sz="1083" dirty="0">
                <a:solidFill>
                  <a:srgbClr val="000000"/>
                </a:solidFill>
                <a:latin typeface="Consolas" panose="020B0609020204030204" pitchFamily="49" charset="0"/>
              </a:rPr>
              <a:t> </a:t>
            </a:r>
            <a:r>
              <a:rPr lang="en-US" sz="1083" dirty="0" err="1">
                <a:solidFill>
                  <a:srgbClr val="000000"/>
                </a:solidFill>
                <a:latin typeface="Consolas" panose="020B0609020204030204" pitchFamily="49" charset="0"/>
              </a:rPr>
              <a:t>findAllByOrderByCommonFacilityCode</a:t>
            </a:r>
            <a:r>
              <a:rPr lang="en-US" sz="1083" dirty="0">
                <a:solidFill>
                  <a:srgbClr val="000000"/>
                </a:solidFill>
                <a:latin typeface="Consolas" panose="020B0609020204030204" pitchFamily="49" charset="0"/>
              </a:rPr>
              <a:t>(): List&lt;</a:t>
            </a:r>
            <a:r>
              <a:rPr lang="en-US" sz="1083" dirty="0" err="1">
                <a:solidFill>
                  <a:srgbClr val="000000"/>
                </a:solidFill>
                <a:latin typeface="Consolas" panose="020B0609020204030204" pitchFamily="49" charset="0"/>
              </a:rPr>
              <a:t>FacilityTaConnects</a:t>
            </a:r>
            <a:r>
              <a:rPr lang="en-US" sz="1083" dirty="0">
                <a:solidFill>
                  <a:srgbClr val="000000"/>
                </a:solidFill>
                <a:latin typeface="Consolas" panose="020B0609020204030204" pitchFamily="49" charset="0"/>
              </a:rPr>
              <a:t>&gt;?</a:t>
            </a:r>
            <a:endParaRPr lang="en-US" sz="1083" dirty="0"/>
          </a:p>
        </p:txBody>
      </p:sp>
      <p:sp>
        <p:nvSpPr>
          <p:cNvPr id="5" name="正方形/長方形 4"/>
          <p:cNvSpPr/>
          <p:nvPr/>
        </p:nvSpPr>
        <p:spPr>
          <a:xfrm>
            <a:off x="470019" y="4559934"/>
            <a:ext cx="6920786" cy="13703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867"/>
          </a:p>
        </p:txBody>
      </p:sp>
      <p:sp>
        <p:nvSpPr>
          <p:cNvPr id="9" name="角丸四角形吹き出し 8"/>
          <p:cNvSpPr/>
          <p:nvPr/>
        </p:nvSpPr>
        <p:spPr>
          <a:xfrm>
            <a:off x="5750124" y="4960283"/>
            <a:ext cx="2197893" cy="922191"/>
          </a:xfrm>
          <a:prstGeom prst="wedgeRoundRectCallout">
            <a:avLst>
              <a:gd name="adj1" fmla="val -5020"/>
              <a:gd name="adj2" fmla="val -72611"/>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r>
              <a:rPr lang="en-US" sz="867" dirty="0" err="1">
                <a:latin typeface="Times New Roman" panose="02020603050405020304" pitchFamily="18" charset="0"/>
                <a:cs typeface="Times New Roman" panose="02020603050405020304" pitchFamily="18" charset="0"/>
              </a:rPr>
              <a:t>Sau</a:t>
            </a:r>
            <a:r>
              <a:rPr lang="en-US" sz="867" dirty="0">
                <a:latin typeface="Times New Roman" panose="02020603050405020304" pitchFamily="18" charset="0"/>
                <a:cs typeface="Times New Roman" panose="02020603050405020304" pitchFamily="18" charset="0"/>
              </a:rPr>
              <a:t> 10 </a:t>
            </a:r>
            <a:r>
              <a:rPr lang="en-US" sz="867" dirty="0" err="1">
                <a:latin typeface="Times New Roman" panose="02020603050405020304" pitchFamily="18" charset="0"/>
                <a:cs typeface="Times New Roman" panose="02020603050405020304" pitchFamily="18" charset="0"/>
              </a:rPr>
              <a:t>giây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mà</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không</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lấy</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được</a:t>
            </a:r>
            <a:r>
              <a:rPr lang="en-US" sz="867" dirty="0">
                <a:latin typeface="Times New Roman" panose="02020603050405020304" pitchFamily="18" charset="0"/>
                <a:cs typeface="Times New Roman" panose="02020603050405020304" pitchFamily="18" charset="0"/>
              </a:rPr>
              <a:t> lock, </a:t>
            </a:r>
            <a:r>
              <a:rPr lang="en-US" sz="867" dirty="0" err="1">
                <a:latin typeface="Times New Roman" panose="02020603050405020304" pitchFamily="18" charset="0"/>
                <a:cs typeface="Times New Roman" panose="02020603050405020304" pitchFamily="18" charset="0"/>
              </a:rPr>
              <a:t>sẽ</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phát</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sinh</a:t>
            </a:r>
            <a:r>
              <a:rPr lang="en-US" sz="867" dirty="0">
                <a:latin typeface="Times New Roman" panose="02020603050405020304" pitchFamily="18" charset="0"/>
                <a:cs typeface="Times New Roman" panose="02020603050405020304" pitchFamily="18" charset="0"/>
              </a:rPr>
              <a:t> </a:t>
            </a:r>
            <a:r>
              <a:rPr lang="en-US" sz="867" dirty="0" err="1">
                <a:latin typeface="Times New Roman" panose="02020603050405020304" pitchFamily="18" charset="0"/>
                <a:cs typeface="Times New Roman" panose="02020603050405020304" pitchFamily="18" charset="0"/>
              </a:rPr>
              <a:t>LockTimeoutException</a:t>
            </a:r>
            <a:r>
              <a:rPr lang="en-US" sz="867"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94703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7B484-231A-B030-AF37-8AC5061B40E6}"/>
              </a:ext>
            </a:extLst>
          </p:cNvPr>
          <p:cNvSpPr>
            <a:spLocks noGrp="1"/>
          </p:cNvSpPr>
          <p:nvPr>
            <p:ph type="title"/>
          </p:nvPr>
        </p:nvSpPr>
        <p:spPr/>
        <p:txBody>
          <a:bodyPr>
            <a:normAutofit fontScale="90000"/>
          </a:bodyPr>
          <a:lstStyle/>
          <a:p>
            <a:endParaRPr kumimoji="1" lang="ja-JP" altLang="en-US"/>
          </a:p>
        </p:txBody>
      </p:sp>
      <p:sp>
        <p:nvSpPr>
          <p:cNvPr id="3" name="Content Placeholder 2">
            <a:extLst>
              <a:ext uri="{FF2B5EF4-FFF2-40B4-BE49-F238E27FC236}">
                <a16:creationId xmlns:a16="http://schemas.microsoft.com/office/drawing/2014/main" id="{E4AEF117-1ADB-27BF-E956-DAE70C6823C4}"/>
              </a:ext>
            </a:extLst>
          </p:cNvPr>
          <p:cNvSpPr>
            <a:spLocks noGrp="1"/>
          </p:cNvSpPr>
          <p:nvPr>
            <p:ph idx="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C0917FD2-83CD-022D-C0C0-167A282C7F68}"/>
              </a:ext>
            </a:extLst>
          </p:cNvPr>
          <p:cNvSpPr>
            <a:spLocks noGrp="1"/>
          </p:cNvSpPr>
          <p:nvPr>
            <p:ph type="sldNum" sz="quarter" idx="11"/>
          </p:nvPr>
        </p:nvSpPr>
        <p:spPr/>
        <p:txBody>
          <a:bodyPr/>
          <a:lstStyle/>
          <a:p>
            <a:pPr>
              <a:defRPr/>
            </a:pPr>
            <a:r>
              <a:rPr lang="en-US" altLang="ja-JP"/>
              <a:t>Page:</a:t>
            </a:r>
            <a:r>
              <a:rPr lang="ja-JP" altLang="en-US"/>
              <a:t> </a:t>
            </a:r>
            <a:fld id="{DC07468E-517B-4E9D-8840-A4568A307980}" type="slidenum">
              <a:rPr lang="en-US" altLang="ja-JP" smtClean="0"/>
              <a:pPr>
                <a:defRPr/>
              </a:pPr>
              <a:t>65</a:t>
            </a:fld>
            <a:endParaRPr lang="en-US" altLang="ja-JP"/>
          </a:p>
        </p:txBody>
      </p:sp>
    </p:spTree>
    <p:extLst>
      <p:ext uri="{BB962C8B-B14F-4D97-AF65-F5344CB8AC3E}">
        <p14:creationId xmlns:p14="http://schemas.microsoft.com/office/powerpoint/2010/main" val="9876913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215444"/>
          </a:xfrm>
          <a:prstGeom prst="rect">
            <a:avLst/>
          </a:prstGeom>
          <a:noFill/>
        </p:spPr>
        <p:txBody>
          <a:bodyPr wrap="square" lIns="0" tIns="0" rIns="0" bIns="0">
            <a:spAutoFit/>
          </a:bodyPr>
          <a:lstStyle/>
          <a:p>
            <a:pPr>
              <a:defRPr sz="1000" b="1">
                <a:solidFill>
                  <a:srgbClr val="0284C7"/>
                </a:solidFill>
                <a:latin typeface="Arial"/>
              </a:defRPr>
            </a:pPr>
            <a:r>
              <a:rPr sz="1400" dirty="0"/>
              <a:t>SPRING REST WITH AI • HR MANAGEMENT SYSTEM</a:t>
            </a:r>
          </a:p>
        </p:txBody>
      </p:sp>
      <p:sp>
        <p:nvSpPr>
          <p:cNvPr id="3" name="TextBox 2"/>
          <p:cNvSpPr txBox="1"/>
          <p:nvPr/>
        </p:nvSpPr>
        <p:spPr>
          <a:xfrm>
            <a:off x="594360" y="1219200"/>
            <a:ext cx="8692515" cy="300082"/>
          </a:xfrm>
          <a:prstGeom prst="rect">
            <a:avLst/>
          </a:prstGeom>
          <a:noFill/>
        </p:spPr>
        <p:txBody>
          <a:bodyPr wrap="square" lIns="0" tIns="0" rIns="0" bIns="0">
            <a:spAutoFit/>
          </a:bodyPr>
          <a:lstStyle/>
          <a:p>
            <a:pPr>
              <a:defRPr sz="2400" b="1">
                <a:solidFill>
                  <a:srgbClr val="0F172A"/>
                </a:solidFill>
                <a:latin typeface="Georgia"/>
              </a:defRPr>
            </a:pPr>
            <a:r>
              <a:rPr lang="en-US" sz="1950" dirty="0" err="1"/>
              <a:t>Hệ</a:t>
            </a:r>
            <a:r>
              <a:rPr lang="en-US" sz="1950" dirty="0"/>
              <a:t> </a:t>
            </a:r>
            <a:r>
              <a:rPr lang="en-US" sz="1950" dirty="0" err="1"/>
              <a:t>Thống</a:t>
            </a:r>
            <a:r>
              <a:rPr lang="en-US" sz="1950" dirty="0"/>
              <a:t> Quản Lý </a:t>
            </a:r>
            <a:r>
              <a:rPr lang="en-US" sz="1950" dirty="0" err="1"/>
              <a:t>Nhân</a:t>
            </a:r>
            <a:r>
              <a:rPr lang="en-US" sz="1950" dirty="0"/>
              <a:t> </a:t>
            </a:r>
            <a:r>
              <a:rPr lang="en-US" sz="1950" dirty="0" err="1"/>
              <a:t>Sự</a:t>
            </a:r>
            <a:r>
              <a:rPr lang="en-US" sz="1950" dirty="0"/>
              <a:t> (HR Management System)</a:t>
            </a:r>
          </a:p>
        </p:txBody>
      </p:sp>
      <p:sp>
        <p:nvSpPr>
          <p:cNvPr id="4" name="Rounded Rectangle 3"/>
          <p:cNvSpPr/>
          <p:nvPr/>
        </p:nvSpPr>
        <p:spPr>
          <a:xfrm>
            <a:off x="594360"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594360" y="1980248"/>
            <a:ext cx="1597343"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01</a:t>
            </a:r>
          </a:p>
        </p:txBody>
      </p:sp>
      <p:sp>
        <p:nvSpPr>
          <p:cNvPr id="6" name="TextBox 5"/>
          <p:cNvSpPr txBox="1"/>
          <p:nvPr/>
        </p:nvSpPr>
        <p:spPr>
          <a:xfrm>
            <a:off x="705802" y="2648903"/>
            <a:ext cx="1374458" cy="1420902"/>
          </a:xfrm>
          <a:prstGeom prst="rect">
            <a:avLst/>
          </a:prstGeom>
          <a:noFill/>
        </p:spPr>
        <p:txBody>
          <a:bodyPr wrap="square">
            <a:spAutoFit/>
          </a:bodyPr>
          <a:lstStyle/>
          <a:p>
            <a:pPr>
              <a:spcAft>
                <a:spcPts val="975"/>
              </a:spcAft>
              <a:defRPr sz="1600" b="1">
                <a:solidFill>
                  <a:srgbClr val="0F172A"/>
                </a:solidFill>
                <a:latin typeface="Georgia"/>
              </a:defRPr>
            </a:pPr>
            <a:r>
              <a:rPr sz="1300"/>
              <a:t>Cấu Trúc Feature-Based</a:t>
            </a:r>
          </a:p>
          <a:p>
            <a:pPr>
              <a:defRPr sz="1200">
                <a:solidFill>
                  <a:srgbClr val="64748B"/>
                </a:solidFill>
                <a:latin typeface="Arial"/>
              </a:defRPr>
            </a:pPr>
            <a:r>
              <a:rPr sz="975"/>
              <a:t>Tối ưu hóa Context Window cho AI Agent, gom nhóm theo nghiệp vụ.</a:t>
            </a:r>
          </a:p>
        </p:txBody>
      </p:sp>
      <p:sp>
        <p:nvSpPr>
          <p:cNvPr id="7" name="Rounded Rectangle 6"/>
          <p:cNvSpPr/>
          <p:nvPr/>
        </p:nvSpPr>
        <p:spPr>
          <a:xfrm>
            <a:off x="2370010"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Rectangle 7"/>
          <p:cNvSpPr/>
          <p:nvPr/>
        </p:nvSpPr>
        <p:spPr>
          <a:xfrm>
            <a:off x="2370010" y="1980248"/>
            <a:ext cx="1597343" cy="5943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02</a:t>
            </a:r>
          </a:p>
        </p:txBody>
      </p:sp>
      <p:sp>
        <p:nvSpPr>
          <p:cNvPr id="9" name="TextBox 8"/>
          <p:cNvSpPr txBox="1"/>
          <p:nvPr/>
        </p:nvSpPr>
        <p:spPr>
          <a:xfrm>
            <a:off x="2481453" y="2648902"/>
            <a:ext cx="1374458" cy="1420902"/>
          </a:xfrm>
          <a:prstGeom prst="rect">
            <a:avLst/>
          </a:prstGeom>
          <a:noFill/>
        </p:spPr>
        <p:txBody>
          <a:bodyPr wrap="square">
            <a:spAutoFit/>
          </a:bodyPr>
          <a:lstStyle/>
          <a:p>
            <a:pPr>
              <a:spcAft>
                <a:spcPts val="975"/>
              </a:spcAft>
              <a:defRPr sz="1600" b="1">
                <a:solidFill>
                  <a:srgbClr val="0F172A"/>
                </a:solidFill>
                <a:latin typeface="Georgia"/>
              </a:defRPr>
            </a:pPr>
            <a:r>
              <a:rPr sz="1300"/>
              <a:t>Domain Model &amp; Entities</a:t>
            </a:r>
          </a:p>
          <a:p>
            <a:pPr>
              <a:defRPr sz="1200">
                <a:solidFill>
                  <a:srgbClr val="64748B"/>
                </a:solidFill>
                <a:latin typeface="Arial"/>
              </a:defRPr>
            </a:pPr>
            <a:r>
              <a:rPr sz="975"/>
              <a:t>Mô hình 4 thực thể cốt lõi: User, Company, Role và Permission.</a:t>
            </a:r>
          </a:p>
        </p:txBody>
      </p:sp>
      <p:sp>
        <p:nvSpPr>
          <p:cNvPr id="10" name="Rounded Rectangle 9"/>
          <p:cNvSpPr/>
          <p:nvPr/>
        </p:nvSpPr>
        <p:spPr>
          <a:xfrm>
            <a:off x="4145661"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Rectangle 10"/>
          <p:cNvSpPr/>
          <p:nvPr/>
        </p:nvSpPr>
        <p:spPr>
          <a:xfrm>
            <a:off x="4145661" y="1980248"/>
            <a:ext cx="1597343"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03</a:t>
            </a:r>
          </a:p>
        </p:txBody>
      </p:sp>
      <p:sp>
        <p:nvSpPr>
          <p:cNvPr id="12" name="TextBox 11"/>
          <p:cNvSpPr txBox="1"/>
          <p:nvPr/>
        </p:nvSpPr>
        <p:spPr>
          <a:xfrm>
            <a:off x="4257103" y="2648903"/>
            <a:ext cx="1374458" cy="1520929"/>
          </a:xfrm>
          <a:prstGeom prst="rect">
            <a:avLst/>
          </a:prstGeom>
          <a:noFill/>
        </p:spPr>
        <p:txBody>
          <a:bodyPr wrap="square">
            <a:spAutoFit/>
          </a:bodyPr>
          <a:lstStyle/>
          <a:p>
            <a:pPr>
              <a:spcAft>
                <a:spcPts val="975"/>
              </a:spcAft>
              <a:defRPr sz="1600" b="1">
                <a:solidFill>
                  <a:srgbClr val="0F172A"/>
                </a:solidFill>
                <a:latin typeface="Georgia"/>
              </a:defRPr>
            </a:pPr>
            <a:r>
              <a:rPr sz="1300"/>
              <a:t>Chuẩn Hóa REST APIs</a:t>
            </a:r>
          </a:p>
          <a:p>
            <a:pPr>
              <a:defRPr sz="1200">
                <a:solidFill>
                  <a:srgbClr val="64748B"/>
                </a:solidFill>
                <a:latin typeface="Arial"/>
              </a:defRPr>
            </a:pPr>
            <a:r>
              <a:rPr sz="975"/>
              <a:t>Đồng bộ ApiResponse&lt;T&gt;, Phân trang Pageable &amp; Exception Handling.</a:t>
            </a:r>
          </a:p>
        </p:txBody>
      </p:sp>
      <p:sp>
        <p:nvSpPr>
          <p:cNvPr id="13" name="Rounded Rectangle 12"/>
          <p:cNvSpPr/>
          <p:nvPr/>
        </p:nvSpPr>
        <p:spPr>
          <a:xfrm>
            <a:off x="5921311"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4" name="Rectangle 13"/>
          <p:cNvSpPr/>
          <p:nvPr/>
        </p:nvSpPr>
        <p:spPr>
          <a:xfrm>
            <a:off x="5921311" y="1980248"/>
            <a:ext cx="1597343" cy="5943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04</a:t>
            </a:r>
          </a:p>
        </p:txBody>
      </p:sp>
      <p:sp>
        <p:nvSpPr>
          <p:cNvPr id="15" name="TextBox 14"/>
          <p:cNvSpPr txBox="1"/>
          <p:nvPr/>
        </p:nvSpPr>
        <p:spPr>
          <a:xfrm>
            <a:off x="6032754" y="2648902"/>
            <a:ext cx="1374458" cy="1220847"/>
          </a:xfrm>
          <a:prstGeom prst="rect">
            <a:avLst/>
          </a:prstGeom>
          <a:noFill/>
        </p:spPr>
        <p:txBody>
          <a:bodyPr wrap="square">
            <a:spAutoFit/>
          </a:bodyPr>
          <a:lstStyle/>
          <a:p>
            <a:pPr>
              <a:spcAft>
                <a:spcPts val="975"/>
              </a:spcAft>
              <a:defRPr sz="1600" b="1">
                <a:solidFill>
                  <a:srgbClr val="0F172A"/>
                </a:solidFill>
                <a:latin typeface="Georgia"/>
              </a:defRPr>
            </a:pPr>
            <a:r>
              <a:rPr sz="1300"/>
              <a:t>Bảo Mật JWT Rotation</a:t>
            </a:r>
          </a:p>
          <a:p>
            <a:pPr>
              <a:defRPr sz="1200">
                <a:solidFill>
                  <a:srgbClr val="64748B"/>
                </a:solidFill>
                <a:latin typeface="Arial"/>
              </a:defRPr>
            </a:pPr>
            <a:r>
              <a:rPr sz="975"/>
              <a:t>Spring Security 3/4, OAuth2 Resource Server &amp; Cookie HTTP-Only.</a:t>
            </a:r>
          </a:p>
        </p:txBody>
      </p:sp>
      <p:sp>
        <p:nvSpPr>
          <p:cNvPr id="16" name="Rounded Rectangle 15"/>
          <p:cNvSpPr/>
          <p:nvPr/>
        </p:nvSpPr>
        <p:spPr>
          <a:xfrm>
            <a:off x="7696962" y="1980248"/>
            <a:ext cx="1597343" cy="3566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7" name="Rectangle 16"/>
          <p:cNvSpPr/>
          <p:nvPr/>
        </p:nvSpPr>
        <p:spPr>
          <a:xfrm>
            <a:off x="7696962" y="1980248"/>
            <a:ext cx="1597343"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8FAFC"/>
                </a:solidFill>
                <a:latin typeface="Georgia"/>
              </a:defRPr>
            </a:pPr>
            <a:r>
              <a:rPr sz="1788"/>
              <a:t>05</a:t>
            </a:r>
          </a:p>
        </p:txBody>
      </p:sp>
      <p:sp>
        <p:nvSpPr>
          <p:cNvPr id="18" name="TextBox 17"/>
          <p:cNvSpPr txBox="1"/>
          <p:nvPr/>
        </p:nvSpPr>
        <p:spPr>
          <a:xfrm>
            <a:off x="7808404" y="2648903"/>
            <a:ext cx="1374458" cy="1220847"/>
          </a:xfrm>
          <a:prstGeom prst="rect">
            <a:avLst/>
          </a:prstGeom>
          <a:noFill/>
        </p:spPr>
        <p:txBody>
          <a:bodyPr wrap="square">
            <a:spAutoFit/>
          </a:bodyPr>
          <a:lstStyle/>
          <a:p>
            <a:pPr>
              <a:spcAft>
                <a:spcPts val="975"/>
              </a:spcAft>
              <a:defRPr sz="1600" b="1">
                <a:solidFill>
                  <a:srgbClr val="0F172A"/>
                </a:solidFill>
                <a:latin typeface="Georgia"/>
              </a:defRPr>
            </a:pPr>
            <a:r>
              <a:rPr sz="1300"/>
              <a:t>Automated Testing</a:t>
            </a:r>
          </a:p>
          <a:p>
            <a:pPr>
              <a:defRPr sz="1200">
                <a:solidFill>
                  <a:srgbClr val="64748B"/>
                </a:solidFill>
                <a:latin typeface="Arial"/>
              </a:defRPr>
            </a:pPr>
            <a:r>
              <a:rPr sz="975"/>
              <a:t>Unit Test Service &amp; Integration Test Controller với JUnit 6, Mockito.</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ADC8C4-00FB-3D21-C770-96A1F7228D18}"/>
              </a:ext>
            </a:extLst>
          </p:cNvPr>
          <p:cNvSpPr>
            <a:spLocks noGrp="1"/>
          </p:cNvSpPr>
          <p:nvPr>
            <p:ph type="title"/>
          </p:nvPr>
        </p:nvSpPr>
        <p:spPr>
          <a:xfrm>
            <a:off x="371475" y="866081"/>
            <a:ext cx="8766810" cy="928688"/>
          </a:xfrm>
        </p:spPr>
        <p:txBody>
          <a:bodyPr/>
          <a:lstStyle/>
          <a:p>
            <a:r>
              <a:rPr lang="en-US" altLang="ja-JP" dirty="0" err="1"/>
              <a:t>Cấu</a:t>
            </a:r>
            <a:r>
              <a:rPr lang="en-US" altLang="ja-JP" dirty="0"/>
              <a:t> Trúc </a:t>
            </a:r>
            <a:r>
              <a:rPr lang="en-US" altLang="ja-JP" dirty="0" err="1"/>
              <a:t>Dự</a:t>
            </a:r>
            <a:r>
              <a:rPr lang="en-US" altLang="ja-JP" dirty="0"/>
              <a:t> </a:t>
            </a:r>
            <a:r>
              <a:rPr lang="en-US" altLang="ja-JP" dirty="0" err="1"/>
              <a:t>Án</a:t>
            </a:r>
            <a:r>
              <a:rPr lang="en-US" altLang="ja-JP" dirty="0"/>
              <a:t> Spring Boot</a:t>
            </a:r>
            <a:endParaRPr lang="ja-JP" altLang="en-US" dirty="0"/>
          </a:p>
        </p:txBody>
      </p:sp>
      <p:sp>
        <p:nvSpPr>
          <p:cNvPr id="5" name="Content Placeholder 4">
            <a:extLst>
              <a:ext uri="{FF2B5EF4-FFF2-40B4-BE49-F238E27FC236}">
                <a16:creationId xmlns:a16="http://schemas.microsoft.com/office/drawing/2014/main" id="{25058756-86FE-778A-21F5-FE0205BB68C2}"/>
              </a:ext>
            </a:extLst>
          </p:cNvPr>
          <p:cNvSpPr>
            <a:spLocks noGrp="1"/>
          </p:cNvSpPr>
          <p:nvPr>
            <p:ph idx="1"/>
          </p:nvPr>
        </p:nvSpPr>
        <p:spPr>
          <a:xfrm>
            <a:off x="371475" y="1943100"/>
            <a:ext cx="9138285" cy="3677345"/>
          </a:xfrm>
        </p:spPr>
        <p:txBody>
          <a:bodyPr>
            <a:normAutofit fontScale="62500" lnSpcReduction="20000"/>
          </a:bodyPr>
          <a:lstStyle/>
          <a:p>
            <a:r>
              <a:rPr lang="en-US" altLang="ja-JP" b="1" dirty="0" err="1"/>
              <a:t>Mục</a:t>
            </a:r>
            <a:r>
              <a:rPr lang="en-US" altLang="ja-JP" b="1" dirty="0"/>
              <a:t> </a:t>
            </a:r>
            <a:r>
              <a:rPr lang="en-US" altLang="ja-JP" b="1" dirty="0" err="1"/>
              <a:t>tiêu</a:t>
            </a:r>
            <a:r>
              <a:rPr lang="en-US" altLang="ja-JP" b="1" dirty="0"/>
              <a:t>:</a:t>
            </a:r>
            <a:endParaRPr lang="ja-JP" altLang="ja-JP" b="1" dirty="0"/>
          </a:p>
          <a:p>
            <a:pPr lvl="1"/>
            <a:r>
              <a:rPr lang="en-US" altLang="ja-JP" dirty="0" err="1"/>
              <a:t>Hiểu</a:t>
            </a:r>
            <a:r>
              <a:rPr lang="en-US" altLang="ja-JP" dirty="0"/>
              <a:t> </a:t>
            </a:r>
            <a:r>
              <a:rPr lang="en-US" altLang="ja-JP" dirty="0" err="1"/>
              <a:t>cấu</a:t>
            </a:r>
            <a:r>
              <a:rPr lang="en-US" altLang="ja-JP" dirty="0"/>
              <a:t> </a:t>
            </a:r>
            <a:r>
              <a:rPr lang="en-US" altLang="ja-JP" dirty="0" err="1"/>
              <a:t>trúc</a:t>
            </a:r>
            <a:r>
              <a:rPr lang="en-US" altLang="ja-JP" dirty="0"/>
              <a:t> </a:t>
            </a:r>
            <a:r>
              <a:rPr lang="en-US" altLang="ja-JP" dirty="0" err="1"/>
              <a:t>thư</a:t>
            </a:r>
            <a:r>
              <a:rPr lang="en-US" altLang="ja-JP" dirty="0"/>
              <a:t> </a:t>
            </a:r>
            <a:r>
              <a:rPr lang="en-US" altLang="ja-JP" dirty="0" err="1"/>
              <a:t>mục</a:t>
            </a:r>
            <a:r>
              <a:rPr lang="en-US" altLang="ja-JP" dirty="0"/>
              <a:t> </a:t>
            </a:r>
            <a:r>
              <a:rPr lang="en-US" altLang="ja-JP" dirty="0" err="1"/>
              <a:t>chuẩn</a:t>
            </a:r>
            <a:r>
              <a:rPr lang="en-US" altLang="ja-JP" dirty="0"/>
              <a:t> </a:t>
            </a:r>
            <a:r>
              <a:rPr lang="en-US" altLang="ja-JP" dirty="0" err="1"/>
              <a:t>của</a:t>
            </a:r>
            <a:r>
              <a:rPr lang="en-US" altLang="ja-JP" dirty="0"/>
              <a:t> Spring Boot project</a:t>
            </a:r>
            <a:endParaRPr lang="ja-JP" altLang="ja-JP" dirty="0"/>
          </a:p>
          <a:p>
            <a:pPr lvl="1"/>
            <a:r>
              <a:rPr lang="en-US" altLang="ja-JP" dirty="0" err="1"/>
              <a:t>Biết</a:t>
            </a:r>
            <a:r>
              <a:rPr lang="en-US" altLang="ja-JP" dirty="0"/>
              <a:t> </a:t>
            </a:r>
            <a:r>
              <a:rPr lang="en-US" altLang="ja-JP" dirty="0" err="1"/>
              <a:t>mỗi</a:t>
            </a:r>
            <a:r>
              <a:rPr lang="en-US" altLang="ja-JP" dirty="0"/>
              <a:t> ﬁle, </a:t>
            </a:r>
            <a:r>
              <a:rPr lang="en-US" altLang="ja-JP" dirty="0" err="1"/>
              <a:t>mỗi</a:t>
            </a:r>
            <a:r>
              <a:rPr lang="en-US" altLang="ja-JP" dirty="0"/>
              <a:t> folder </a:t>
            </a:r>
            <a:r>
              <a:rPr lang="en-US" altLang="ja-JP" dirty="0" err="1"/>
              <a:t>có</a:t>
            </a:r>
            <a:r>
              <a:rPr lang="en-US" altLang="ja-JP" dirty="0"/>
              <a:t> </a:t>
            </a:r>
            <a:r>
              <a:rPr lang="en-US" altLang="ja-JP" dirty="0" err="1"/>
              <a:t>vai</a:t>
            </a:r>
            <a:r>
              <a:rPr lang="en-US" altLang="ja-JP" dirty="0"/>
              <a:t> </a:t>
            </a:r>
            <a:r>
              <a:rPr lang="en-US" altLang="ja-JP" dirty="0" err="1"/>
              <a:t>trò</a:t>
            </a:r>
            <a:r>
              <a:rPr lang="en-US" altLang="ja-JP" dirty="0"/>
              <a:t> </a:t>
            </a:r>
            <a:r>
              <a:rPr lang="en-US" altLang="ja-JP" dirty="0" err="1"/>
              <a:t>gì</a:t>
            </a:r>
            <a:endParaRPr lang="en-US" altLang="ja-JP" dirty="0"/>
          </a:p>
          <a:p>
            <a:r>
              <a:rPr lang="en-US" altLang="ja-JP" b="1" dirty="0" err="1"/>
              <a:t>Thứ</a:t>
            </a:r>
            <a:r>
              <a:rPr lang="en-US" altLang="ja-JP" b="1" dirty="0"/>
              <a:t> </a:t>
            </a:r>
            <a:r>
              <a:rPr lang="en-US" altLang="ja-JP" b="1" dirty="0" err="1"/>
              <a:t>nhất</a:t>
            </a:r>
            <a:r>
              <a:rPr lang="en-US" altLang="ja-JP" b="1" dirty="0"/>
              <a:t>: pom.xml</a:t>
            </a:r>
            <a:endParaRPr lang="ja-JP" altLang="ja-JP" b="1" dirty="0"/>
          </a:p>
          <a:p>
            <a:pPr lvl="1"/>
            <a:r>
              <a:rPr lang="en-US" altLang="ja-JP" dirty="0"/>
              <a:t>File </a:t>
            </a:r>
            <a:r>
              <a:rPr lang="en-US" altLang="ja-JP" dirty="0" err="1"/>
              <a:t>này</a:t>
            </a:r>
            <a:r>
              <a:rPr lang="en-US" altLang="ja-JP" dirty="0"/>
              <a:t> </a:t>
            </a:r>
            <a:r>
              <a:rPr lang="en-US" altLang="ja-JP" dirty="0" err="1"/>
              <a:t>nằm</a:t>
            </a:r>
            <a:r>
              <a:rPr lang="en-US" altLang="ja-JP" dirty="0"/>
              <a:t> ở </a:t>
            </a:r>
            <a:r>
              <a:rPr lang="en-US" altLang="ja-JP" dirty="0" err="1"/>
              <a:t>gốc</a:t>
            </a:r>
            <a:r>
              <a:rPr lang="en-US" altLang="ja-JP" dirty="0"/>
              <a:t> project :"</a:t>
            </a:r>
            <a:r>
              <a:rPr lang="en-US" altLang="ja-JP" dirty="0" err="1"/>
              <a:t>danh</a:t>
            </a:r>
            <a:r>
              <a:rPr lang="en-US" altLang="ja-JP" dirty="0"/>
              <a:t> </a:t>
            </a:r>
            <a:r>
              <a:rPr lang="en-US" altLang="ja-JP" dirty="0" err="1"/>
              <a:t>sách</a:t>
            </a:r>
            <a:r>
              <a:rPr lang="en-US" altLang="ja-JP" dirty="0"/>
              <a:t> </a:t>
            </a:r>
            <a:r>
              <a:rPr lang="en-US" altLang="ja-JP" dirty="0" err="1"/>
              <a:t>nguyên</a:t>
            </a:r>
            <a:r>
              <a:rPr lang="en-US" altLang="ja-JP" dirty="0"/>
              <a:t> </a:t>
            </a:r>
            <a:r>
              <a:rPr lang="en-US" altLang="ja-JP" dirty="0" err="1"/>
              <a:t>liệu</a:t>
            </a:r>
            <a:r>
              <a:rPr lang="en-US" altLang="ja-JP" dirty="0"/>
              <a:t>" </a:t>
            </a:r>
            <a:r>
              <a:rPr lang="en-US" altLang="ja-JP" dirty="0" err="1"/>
              <a:t>của</a:t>
            </a:r>
            <a:r>
              <a:rPr lang="en-US" altLang="ja-JP" dirty="0"/>
              <a:t> project, </a:t>
            </a:r>
            <a:r>
              <a:rPr lang="en-US" altLang="ja-JP" dirty="0" err="1"/>
              <a:t>khai</a:t>
            </a:r>
            <a:r>
              <a:rPr lang="en-US" altLang="ja-JP" dirty="0"/>
              <a:t> </a:t>
            </a:r>
            <a:r>
              <a:rPr lang="en-US" altLang="ja-JP" dirty="0" err="1"/>
              <a:t>báo</a:t>
            </a:r>
            <a:r>
              <a:rPr lang="en-US" altLang="ja-JP" dirty="0"/>
              <a:t> </a:t>
            </a:r>
            <a:r>
              <a:rPr lang="en-US" altLang="ja-JP" dirty="0" err="1"/>
              <a:t>thư</a:t>
            </a:r>
            <a:r>
              <a:rPr lang="en-US" altLang="ja-JP" dirty="0"/>
              <a:t> </a:t>
            </a:r>
            <a:r>
              <a:rPr lang="en-US" altLang="ja-JP" dirty="0" err="1"/>
              <a:t>viện</a:t>
            </a:r>
            <a:r>
              <a:rPr lang="en-US" altLang="ja-JP" dirty="0"/>
              <a:t>, version Spring Boot, Java version.</a:t>
            </a:r>
            <a:endParaRPr lang="ja-JP" altLang="ja-JP" dirty="0"/>
          </a:p>
          <a:p>
            <a:pPr lvl="1"/>
            <a:r>
              <a:rPr lang="en-US" altLang="ja-JP" dirty="0"/>
              <a:t>Khi AI generate code </a:t>
            </a:r>
            <a:r>
              <a:rPr lang="en-US" altLang="ja-JP" dirty="0" err="1"/>
              <a:t>thiếu</a:t>
            </a:r>
            <a:r>
              <a:rPr lang="en-US" altLang="ja-JP" dirty="0"/>
              <a:t> dependency </a:t>
            </a:r>
            <a:r>
              <a:rPr lang="en-US" altLang="ja-JP" dirty="0">
                <a:sym typeface="Wingdings" panose="05000000000000000000" pitchFamily="2" charset="2"/>
              </a:rPr>
              <a:t> </a:t>
            </a:r>
            <a:r>
              <a:rPr lang="en-US" altLang="ja-JP" dirty="0" err="1"/>
              <a:t>thêm</a:t>
            </a:r>
            <a:r>
              <a:rPr lang="en-US" altLang="ja-JP" dirty="0"/>
              <a:t> </a:t>
            </a:r>
            <a:r>
              <a:rPr lang="en-US" altLang="ja-JP" dirty="0" err="1"/>
              <a:t>vào</a:t>
            </a:r>
            <a:r>
              <a:rPr lang="en-US" altLang="ja-JP" dirty="0"/>
              <a:t> ﬁle </a:t>
            </a:r>
            <a:r>
              <a:rPr lang="en-US" altLang="ja-JP" dirty="0" err="1"/>
              <a:t>này</a:t>
            </a:r>
            <a:endParaRPr lang="en-US" altLang="ja-JP" dirty="0"/>
          </a:p>
          <a:p>
            <a:r>
              <a:rPr lang="en-US" altLang="ja-JP" b="1" dirty="0" err="1"/>
              <a:t>Thứ</a:t>
            </a:r>
            <a:r>
              <a:rPr lang="en-US" altLang="ja-JP" b="1" dirty="0"/>
              <a:t> </a:t>
            </a:r>
            <a:r>
              <a:rPr lang="en-US" altLang="ja-JP" b="1" dirty="0" err="1"/>
              <a:t>hai</a:t>
            </a:r>
            <a:r>
              <a:rPr lang="en-US" altLang="ja-JP" b="1" dirty="0"/>
              <a:t>: </a:t>
            </a:r>
            <a:r>
              <a:rPr lang="en-US" altLang="ja-JP" b="1" dirty="0" err="1"/>
              <a:t>src</a:t>
            </a:r>
            <a:r>
              <a:rPr lang="en-US" altLang="ja-JP" b="1" dirty="0"/>
              <a:t>/main/java</a:t>
            </a:r>
          </a:p>
          <a:p>
            <a:pPr lvl="1"/>
            <a:r>
              <a:rPr lang="en-US" altLang="ja-JP" dirty="0" err="1"/>
              <a:t>Đây</a:t>
            </a:r>
            <a:r>
              <a:rPr lang="en-US" altLang="ja-JP" dirty="0"/>
              <a:t> </a:t>
            </a:r>
            <a:r>
              <a:rPr lang="en-US" altLang="ja-JP" dirty="0" err="1"/>
              <a:t>là</a:t>
            </a:r>
            <a:r>
              <a:rPr lang="en-US" altLang="ja-JP" dirty="0"/>
              <a:t> </a:t>
            </a:r>
            <a:r>
              <a:rPr lang="en-US" altLang="ja-JP" dirty="0" err="1"/>
              <a:t>nơi</a:t>
            </a:r>
            <a:r>
              <a:rPr lang="en-US" altLang="ja-JP" dirty="0"/>
              <a:t> </a:t>
            </a:r>
            <a:r>
              <a:rPr lang="en-US" altLang="ja-JP" dirty="0" err="1"/>
              <a:t>chứa</a:t>
            </a:r>
            <a:r>
              <a:rPr lang="en-US" altLang="ja-JP" dirty="0"/>
              <a:t> code Java </a:t>
            </a:r>
            <a:r>
              <a:rPr lang="en-US" altLang="ja-JP" dirty="0" err="1"/>
              <a:t>chứa</a:t>
            </a:r>
            <a:r>
              <a:rPr lang="en-US" altLang="ja-JP" dirty="0"/>
              <a:t> </a:t>
            </a:r>
            <a:r>
              <a:rPr lang="en-US" altLang="ja-JP" dirty="0" err="1"/>
              <a:t>Tất</a:t>
            </a:r>
            <a:r>
              <a:rPr lang="en-US" altLang="ja-JP" dirty="0"/>
              <a:t> </a:t>
            </a:r>
            <a:r>
              <a:rPr lang="en-US" altLang="ja-JP" dirty="0" err="1"/>
              <a:t>cả</a:t>
            </a:r>
            <a:r>
              <a:rPr lang="en-US" altLang="ja-JP" dirty="0"/>
              <a:t> Controller, Service, Repository, Entity</a:t>
            </a:r>
          </a:p>
          <a:p>
            <a:r>
              <a:rPr lang="en-US" altLang="ja-JP" b="1" dirty="0" err="1"/>
              <a:t>Thứ</a:t>
            </a:r>
            <a:r>
              <a:rPr lang="en-US" altLang="ja-JP" b="1" dirty="0"/>
              <a:t> </a:t>
            </a:r>
            <a:r>
              <a:rPr lang="en-US" altLang="ja-JP" b="1" dirty="0" err="1"/>
              <a:t>ba</a:t>
            </a:r>
            <a:r>
              <a:rPr lang="en-US" altLang="ja-JP" b="1" dirty="0"/>
              <a:t>: </a:t>
            </a:r>
            <a:r>
              <a:rPr lang="en-US" altLang="ja-JP" b="1" dirty="0" err="1"/>
              <a:t>src</a:t>
            </a:r>
            <a:r>
              <a:rPr lang="en-US" altLang="ja-JP" b="1" dirty="0"/>
              <a:t>/main/resources</a:t>
            </a:r>
            <a:endParaRPr lang="ja-JP" altLang="ja-JP" b="1" dirty="0"/>
          </a:p>
          <a:p>
            <a:pPr lvl="1"/>
            <a:r>
              <a:rPr lang="en-US" altLang="ja-JP" dirty="0" err="1"/>
              <a:t>Đây</a:t>
            </a:r>
            <a:r>
              <a:rPr lang="en-US" altLang="ja-JP" dirty="0"/>
              <a:t> </a:t>
            </a:r>
            <a:r>
              <a:rPr lang="en-US" altLang="ja-JP" dirty="0" err="1"/>
              <a:t>là</a:t>
            </a:r>
            <a:r>
              <a:rPr lang="en-US" altLang="ja-JP" dirty="0"/>
              <a:t> </a:t>
            </a:r>
            <a:r>
              <a:rPr lang="en-US" altLang="ja-JP" dirty="0" err="1"/>
              <a:t>nơi</a:t>
            </a:r>
            <a:r>
              <a:rPr lang="en-US" altLang="ja-JP" dirty="0"/>
              <a:t> </a:t>
            </a:r>
            <a:r>
              <a:rPr lang="en-US" altLang="ja-JP" dirty="0" err="1"/>
              <a:t>chứa</a:t>
            </a:r>
            <a:r>
              <a:rPr lang="en-US" altLang="ja-JP" dirty="0"/>
              <a:t> </a:t>
            </a:r>
            <a:r>
              <a:rPr lang="en-US" altLang="ja-JP" dirty="0" err="1"/>
              <a:t>cấu</a:t>
            </a:r>
            <a:r>
              <a:rPr lang="en-US" altLang="ja-JP" dirty="0"/>
              <a:t> </a:t>
            </a:r>
            <a:r>
              <a:rPr lang="en-US" altLang="ja-JP" dirty="0" err="1"/>
              <a:t>hình</a:t>
            </a:r>
            <a:r>
              <a:rPr lang="en-US" altLang="ja-JP" dirty="0"/>
              <a:t>: </a:t>
            </a:r>
            <a:r>
              <a:rPr lang="en-US" altLang="ja-JP" dirty="0" err="1"/>
              <a:t>application.properties</a:t>
            </a:r>
            <a:r>
              <a:rPr lang="en-US" altLang="ja-JP" dirty="0"/>
              <a:t> </a:t>
            </a:r>
            <a:r>
              <a:rPr lang="en-US" altLang="ja-JP" dirty="0" err="1"/>
              <a:t>hoặc</a:t>
            </a:r>
            <a:r>
              <a:rPr lang="en-US" altLang="ja-JP" dirty="0"/>
              <a:t> </a:t>
            </a:r>
            <a:r>
              <a:rPr lang="en-US" altLang="ja-JP" dirty="0" err="1"/>
              <a:t>application.yml</a:t>
            </a:r>
            <a:r>
              <a:rPr lang="en-US" altLang="ja-JP" dirty="0"/>
              <a:t>. </a:t>
            </a:r>
            <a:r>
              <a:rPr lang="en-US" altLang="ja-JP" dirty="0" err="1"/>
              <a:t>Cấu</a:t>
            </a:r>
            <a:r>
              <a:rPr lang="en-US" altLang="ja-JP" dirty="0"/>
              <a:t> </a:t>
            </a:r>
            <a:r>
              <a:rPr lang="en-US" altLang="ja-JP" dirty="0" err="1"/>
              <a:t>hình</a:t>
            </a:r>
            <a:r>
              <a:rPr lang="en-US" altLang="ja-JP" dirty="0"/>
              <a:t>: port, database</a:t>
            </a:r>
          </a:p>
          <a:p>
            <a:r>
              <a:rPr lang="en-US" altLang="ja-JP" b="1" dirty="0" err="1"/>
              <a:t>Thứ</a:t>
            </a:r>
            <a:r>
              <a:rPr lang="en-US" altLang="ja-JP" b="1" dirty="0"/>
              <a:t> </a:t>
            </a:r>
            <a:r>
              <a:rPr lang="en-US" altLang="ja-JP" b="1" dirty="0" err="1"/>
              <a:t>tư</a:t>
            </a:r>
            <a:r>
              <a:rPr lang="en-US" altLang="ja-JP" b="1" dirty="0"/>
              <a:t>: folder </a:t>
            </a:r>
            <a:r>
              <a:rPr lang="en-US" altLang="ja-JP" b="1" dirty="0" err="1"/>
              <a:t>src</a:t>
            </a:r>
            <a:r>
              <a:rPr lang="en-US" altLang="ja-JP" b="1" dirty="0"/>
              <a:t>/test </a:t>
            </a:r>
            <a:r>
              <a:rPr lang="en-US" altLang="ja-JP" dirty="0"/>
              <a:t>: </a:t>
            </a:r>
            <a:r>
              <a:rPr lang="en-US" altLang="ja-JP" dirty="0" err="1"/>
              <a:t>chứa</a:t>
            </a:r>
            <a:r>
              <a:rPr lang="en-US" altLang="ja-JP" dirty="0"/>
              <a:t> code test</a:t>
            </a:r>
            <a:endParaRPr lang="en-US" altLang="ja-JP" b="1" dirty="0"/>
          </a:p>
          <a:p>
            <a:endParaRPr lang="ja-JP" altLang="en-US" b="1" dirty="0"/>
          </a:p>
        </p:txBody>
      </p:sp>
    </p:spTree>
    <p:extLst>
      <p:ext uri="{BB962C8B-B14F-4D97-AF65-F5344CB8AC3E}">
        <p14:creationId xmlns:p14="http://schemas.microsoft.com/office/powerpoint/2010/main" val="9493602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300082"/>
          </a:xfrm>
          <a:prstGeom prst="rect">
            <a:avLst/>
          </a:prstGeom>
          <a:noFill/>
        </p:spPr>
        <p:txBody>
          <a:bodyPr wrap="square" lIns="0" tIns="0" rIns="0" bIns="0">
            <a:spAutoFit/>
          </a:bodyPr>
          <a:lstStyle/>
          <a:p>
            <a:pPr>
              <a:defRPr sz="2400" b="1">
                <a:solidFill>
                  <a:srgbClr val="0F172A"/>
                </a:solidFill>
                <a:latin typeface="Georgia"/>
              </a:defRPr>
            </a:pPr>
            <a:r>
              <a:rPr sz="1950"/>
              <a:t>Cấu Trúc Feature-Based Tối Ưu Cho AI Agent Giữ Context Window</a:t>
            </a:r>
          </a:p>
        </p:txBody>
      </p:sp>
      <p:sp>
        <p:nvSpPr>
          <p:cNvPr id="4" name="Rounded Rectangle 3"/>
          <p:cNvSpPr/>
          <p:nvPr/>
        </p:nvSpPr>
        <p:spPr>
          <a:xfrm>
            <a:off x="594360" y="1980248"/>
            <a:ext cx="416052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TextBox 4"/>
          <p:cNvSpPr txBox="1"/>
          <p:nvPr/>
        </p:nvSpPr>
        <p:spPr>
          <a:xfrm>
            <a:off x="742950" y="2128838"/>
            <a:ext cx="3863340" cy="2716065"/>
          </a:xfrm>
          <a:prstGeom prst="rect">
            <a:avLst/>
          </a:prstGeom>
          <a:noFill/>
        </p:spPr>
        <p:txBody>
          <a:bodyPr wrap="square">
            <a:spAutoFit/>
          </a:bodyPr>
          <a:lstStyle/>
          <a:p>
            <a:pPr>
              <a:spcAft>
                <a:spcPts val="1138"/>
              </a:spcAft>
              <a:defRPr sz="1800" b="1">
                <a:solidFill>
                  <a:srgbClr val="0284C7"/>
                </a:solidFill>
              </a:defRPr>
            </a:pPr>
            <a:r>
              <a:rPr sz="1463"/>
              <a:t>Ưu Điểm Của Feature-Based Package</a:t>
            </a:r>
          </a:p>
          <a:p>
            <a:pPr>
              <a:spcAft>
                <a:spcPts val="813"/>
              </a:spcAft>
              <a:defRPr sz="1300" b="1">
                <a:solidFill>
                  <a:srgbClr val="0F172A"/>
                </a:solidFill>
              </a:defRPr>
            </a:pPr>
            <a:r>
              <a:rPr sz="1056"/>
              <a:t>• Gom nhóm theo nghiệp vụ: </a:t>
            </a:r>
            <a:r>
              <a:rPr sz="1056" b="0">
                <a:solidFill>
                  <a:srgbClr val="64748B"/>
                </a:solidFill>
              </a:rPr>
              <a:t>Tất cả Controller, Service, DTO, Repository của 'User' nằm chung package 'user/'.</a:t>
            </a:r>
          </a:p>
          <a:p>
            <a:pPr>
              <a:spcAft>
                <a:spcPts val="813"/>
              </a:spcAft>
              <a:defRPr sz="1300" b="1">
                <a:solidFill>
                  <a:srgbClr val="0F172A"/>
                </a:solidFill>
              </a:defRPr>
            </a:pPr>
            <a:r>
              <a:rPr sz="1056"/>
              <a:t>• Tối ưu cho AI Agent: </a:t>
            </a:r>
            <a:r>
              <a:rPr sz="1056" b="0">
                <a:solidFill>
                  <a:srgbClr val="64748B"/>
                </a:solidFill>
              </a:rPr>
              <a:t>Giúp Cursor, Claude Code đọc trọn vẹn bối cảnh 1 feature mà không cần load toàn bộ project.</a:t>
            </a:r>
          </a:p>
          <a:p>
            <a:pPr>
              <a:spcAft>
                <a:spcPts val="813"/>
              </a:spcAft>
              <a:defRPr sz="1300" b="1">
                <a:solidFill>
                  <a:srgbClr val="0F172A"/>
                </a:solidFill>
              </a:defRPr>
            </a:pPr>
            <a:r>
              <a:rPr sz="1056"/>
              <a:t>• Constructor Injection: </a:t>
            </a:r>
            <a:r>
              <a:rPr sz="1056" b="0">
                <a:solidFill>
                  <a:srgbClr val="64748B"/>
                </a:solidFill>
              </a:rPr>
              <a:t>Bắt buộc dùng Constructor Injection thay cho @Autowired trên field để dễ Unit Test.</a:t>
            </a:r>
          </a:p>
          <a:p>
            <a:pPr>
              <a:spcAft>
                <a:spcPts val="813"/>
              </a:spcAft>
              <a:defRPr sz="1300" b="1">
                <a:solidFill>
                  <a:srgbClr val="0F172A"/>
                </a:solidFill>
              </a:defRPr>
            </a:pPr>
            <a:r>
              <a:rPr sz="1056"/>
              <a:t>• Tách biệt DTOs: </a:t>
            </a:r>
            <a:r>
              <a:rPr sz="1056" b="0">
                <a:solidFill>
                  <a:srgbClr val="64748B"/>
                </a:solidFill>
              </a:rPr>
              <a:t>Không bao giờ trả Entity trực tiếp ra Controller; dùng Request/Response DTOs chuyên biệt.</a:t>
            </a:r>
          </a:p>
        </p:txBody>
      </p:sp>
      <p:sp>
        <p:nvSpPr>
          <p:cNvPr id="6" name="Rounded Rectangle 5"/>
          <p:cNvSpPr/>
          <p:nvPr/>
        </p:nvSpPr>
        <p:spPr>
          <a:xfrm>
            <a:off x="5052060" y="1980248"/>
            <a:ext cx="4160520" cy="3566160"/>
          </a:xfrm>
          <a:prstGeom prst="roundRect">
            <a:avLst/>
          </a:prstGeom>
          <a:solidFill>
            <a:srgbClr val="1E293B"/>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 name="TextBox 6"/>
          <p:cNvSpPr txBox="1"/>
          <p:nvPr/>
        </p:nvSpPr>
        <p:spPr>
          <a:xfrm>
            <a:off x="5200650" y="2128838"/>
            <a:ext cx="3863340" cy="2234522"/>
          </a:xfrm>
          <a:prstGeom prst="rect">
            <a:avLst/>
          </a:prstGeom>
          <a:noFill/>
        </p:spPr>
        <p:txBody>
          <a:bodyPr wrap="square">
            <a:spAutoFit/>
          </a:bodyPr>
          <a:lstStyle/>
          <a:p>
            <a:pPr>
              <a:spcAft>
                <a:spcPts val="975"/>
              </a:spcAft>
              <a:defRPr sz="1800" b="1">
                <a:solidFill>
                  <a:srgbClr val="10B981"/>
                </a:solidFill>
              </a:defRPr>
            </a:pPr>
            <a:r>
              <a:rPr sz="1463" dirty="0"/>
              <a:t>Directory Layout Pattern</a:t>
            </a:r>
          </a:p>
          <a:p>
            <a:pPr>
              <a:defRPr sz="1100">
                <a:solidFill>
                  <a:srgbClr val="E2E8F0"/>
                </a:solidFill>
                <a:latin typeface="Courier New"/>
              </a:defRPr>
            </a:pPr>
            <a:r>
              <a:rPr sz="894" dirty="0" err="1"/>
              <a:t>com.</a:t>
            </a:r>
            <a:r>
              <a:rPr lang="en-US" sz="894" dirty="0" err="1"/>
              <a:t>usol</a:t>
            </a:r>
            <a:r>
              <a:rPr sz="894" dirty="0" err="1"/>
              <a:t>.jobhunter</a:t>
            </a:r>
            <a:br>
              <a:rPr sz="894" dirty="0"/>
            </a:br>
            <a:r>
              <a:rPr sz="894" dirty="0"/>
              <a:t>├── domain/                  (Shared JPA Entities)</a:t>
            </a:r>
            <a:br>
              <a:rPr sz="894" dirty="0"/>
            </a:br>
            <a:r>
              <a:rPr sz="894" dirty="0"/>
              <a:t>│   ├── User.java, Company.java</a:t>
            </a:r>
            <a:br>
              <a:rPr sz="894" dirty="0"/>
            </a:br>
            <a:r>
              <a:rPr sz="894" dirty="0"/>
              <a:t>├── module/</a:t>
            </a:r>
            <a:br>
              <a:rPr sz="894" dirty="0"/>
            </a:br>
            <a:r>
              <a:rPr sz="894" dirty="0"/>
              <a:t>│   ├── user/                (Feature Package)</a:t>
            </a:r>
            <a:br>
              <a:rPr sz="894" dirty="0"/>
            </a:br>
            <a:r>
              <a:rPr sz="894" dirty="0"/>
              <a:t>│   │   ├── UserController.java</a:t>
            </a:r>
            <a:br>
              <a:rPr sz="894" dirty="0"/>
            </a:br>
            <a:r>
              <a:rPr sz="894" dirty="0"/>
              <a:t>│   │   ├── UserService.java</a:t>
            </a:r>
            <a:br>
              <a:rPr sz="894" dirty="0"/>
            </a:br>
            <a:r>
              <a:rPr sz="894" dirty="0"/>
              <a:t>│   │   ├── </a:t>
            </a:r>
            <a:r>
              <a:rPr sz="894" dirty="0" err="1"/>
              <a:t>dto</a:t>
            </a:r>
            <a:r>
              <a:rPr sz="894" dirty="0"/>
              <a:t>/ (</a:t>
            </a:r>
            <a:r>
              <a:rPr sz="894" dirty="0" err="1"/>
              <a:t>ReqUserDTO</a:t>
            </a:r>
            <a:r>
              <a:rPr sz="894" dirty="0"/>
              <a:t>, </a:t>
            </a:r>
            <a:r>
              <a:rPr sz="894" dirty="0" err="1"/>
              <a:t>ResUserDTO</a:t>
            </a:r>
            <a:r>
              <a:rPr sz="894" dirty="0"/>
              <a:t>)</a:t>
            </a:r>
            <a:br>
              <a:rPr sz="894" dirty="0"/>
            </a:br>
            <a:r>
              <a:rPr sz="894" dirty="0"/>
              <a:t>│   ├── company/             (Feature Package)</a:t>
            </a:r>
            <a:br>
              <a:rPr sz="894" dirty="0"/>
            </a:br>
            <a:r>
              <a:rPr sz="894" dirty="0"/>
              <a:t>│   ├── role/ &amp; permission/  (RBAC Modules)</a:t>
            </a:r>
            <a:br>
              <a:rPr sz="894" dirty="0"/>
            </a:br>
            <a:r>
              <a:rPr sz="894" dirty="0"/>
              <a:t>├── config/                  (Security &amp; </a:t>
            </a:r>
            <a:r>
              <a:rPr sz="894" dirty="0" err="1"/>
              <a:t>OpenAPI</a:t>
            </a:r>
            <a:r>
              <a:rPr sz="894" dirty="0"/>
              <a:t>)</a:t>
            </a:r>
            <a:br>
              <a:rPr sz="894" dirty="0"/>
            </a:br>
            <a:r>
              <a:rPr sz="894" dirty="0"/>
              <a:t>└── util/                    (Global Handlers &amp; Format)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300082"/>
          </a:xfrm>
          <a:prstGeom prst="rect">
            <a:avLst/>
          </a:prstGeom>
          <a:noFill/>
        </p:spPr>
        <p:txBody>
          <a:bodyPr wrap="square" lIns="0" tIns="0" rIns="0" bIns="0">
            <a:spAutoFit/>
          </a:bodyPr>
          <a:lstStyle/>
          <a:p>
            <a:pPr>
              <a:defRPr sz="2400" b="1">
                <a:solidFill>
                  <a:srgbClr val="0F172A"/>
                </a:solidFill>
                <a:latin typeface="Georgia"/>
              </a:defRPr>
            </a:pPr>
            <a:r>
              <a:rPr sz="1950"/>
              <a:t>Mô Hình Thực Thể (Domain Model) &amp; Quan Hệ Database</a:t>
            </a:r>
          </a:p>
        </p:txBody>
      </p:sp>
      <p:sp>
        <p:nvSpPr>
          <p:cNvPr id="4" name="Rounded Rectangle 3"/>
          <p:cNvSpPr/>
          <p:nvPr/>
        </p:nvSpPr>
        <p:spPr>
          <a:xfrm>
            <a:off x="594360" y="1980247"/>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594360" y="1980247"/>
            <a:ext cx="111443" cy="167163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 name="TextBox 5"/>
          <p:cNvSpPr txBox="1"/>
          <p:nvPr/>
        </p:nvSpPr>
        <p:spPr>
          <a:xfrm>
            <a:off x="817245" y="2091690"/>
            <a:ext cx="3863340" cy="756874"/>
          </a:xfrm>
          <a:prstGeom prst="rect">
            <a:avLst/>
          </a:prstGeom>
          <a:noFill/>
        </p:spPr>
        <p:txBody>
          <a:bodyPr wrap="square">
            <a:spAutoFit/>
          </a:bodyPr>
          <a:lstStyle/>
          <a:p>
            <a:pPr>
              <a:spcAft>
                <a:spcPts val="488"/>
              </a:spcAft>
              <a:defRPr sz="1500" b="1">
                <a:solidFill>
                  <a:srgbClr val="0F172A"/>
                </a:solidFill>
                <a:latin typeface="Georgia"/>
              </a:defRPr>
            </a:pPr>
            <a:r>
              <a:rPr sz="1219"/>
              <a:t>USER — Tài khoản người dùng</a:t>
            </a:r>
          </a:p>
          <a:p>
            <a:pPr>
              <a:defRPr sz="1100">
                <a:solidFill>
                  <a:srgbClr val="64748B"/>
                </a:solidFill>
                <a:latin typeface="Arial"/>
              </a:defRPr>
            </a:pPr>
            <a:r>
              <a:rPr sz="894"/>
              <a:t>• Quản lý email, password mã hóa BCrypt, tuổi, địa chỉ, avatar.</a:t>
            </a:r>
            <a:br>
              <a:rPr sz="894"/>
            </a:br>
            <a:r>
              <a:rPr sz="894"/>
              <a:t>• Khóa ngoại company_id kết nối Công ty.</a:t>
            </a:r>
            <a:br>
              <a:rPr sz="894"/>
            </a:br>
            <a:r>
              <a:rPr sz="894"/>
              <a:t>• Liên kết N-N với danh sách Role.</a:t>
            </a:r>
          </a:p>
        </p:txBody>
      </p:sp>
      <p:sp>
        <p:nvSpPr>
          <p:cNvPr id="7" name="Rounded Rectangle 6"/>
          <p:cNvSpPr/>
          <p:nvPr/>
        </p:nvSpPr>
        <p:spPr>
          <a:xfrm>
            <a:off x="5052060" y="1980247"/>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Rectangle 7"/>
          <p:cNvSpPr/>
          <p:nvPr/>
        </p:nvSpPr>
        <p:spPr>
          <a:xfrm>
            <a:off x="5052060" y="1980247"/>
            <a:ext cx="111443" cy="167163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9" name="TextBox 8"/>
          <p:cNvSpPr txBox="1"/>
          <p:nvPr/>
        </p:nvSpPr>
        <p:spPr>
          <a:xfrm>
            <a:off x="5274945" y="2091690"/>
            <a:ext cx="3863340" cy="756874"/>
          </a:xfrm>
          <a:prstGeom prst="rect">
            <a:avLst/>
          </a:prstGeom>
          <a:noFill/>
        </p:spPr>
        <p:txBody>
          <a:bodyPr wrap="square">
            <a:spAutoFit/>
          </a:bodyPr>
          <a:lstStyle/>
          <a:p>
            <a:pPr>
              <a:spcAft>
                <a:spcPts val="488"/>
              </a:spcAft>
              <a:defRPr sz="1500" b="1">
                <a:solidFill>
                  <a:srgbClr val="0F172A"/>
                </a:solidFill>
                <a:latin typeface="Georgia"/>
              </a:defRPr>
            </a:pPr>
            <a:r>
              <a:rPr sz="1219"/>
              <a:t>COMPANY — Doanh nghiệp / Công ty</a:t>
            </a:r>
          </a:p>
          <a:p>
            <a:pPr>
              <a:defRPr sz="1100">
                <a:solidFill>
                  <a:srgbClr val="64748B"/>
                </a:solidFill>
                <a:latin typeface="Arial"/>
              </a:defRPr>
            </a:pPr>
            <a:r>
              <a:rPr sz="894"/>
              <a:t>• Quản lý thông tin công ty, địa chỉ, mô tả, logo.</a:t>
            </a:r>
            <a:br>
              <a:rPr sz="894"/>
            </a:br>
            <a:r>
              <a:rPr sz="894"/>
              <a:t>• Quan hệ One-to-Many với danh sách User nhân viên.</a:t>
            </a:r>
            <a:br>
              <a:rPr sz="894"/>
            </a:br>
            <a:r>
              <a:rPr sz="894"/>
              <a:t>• Tự động ghi nhận createdAt / updatedAt.</a:t>
            </a:r>
          </a:p>
        </p:txBody>
      </p:sp>
      <p:sp>
        <p:nvSpPr>
          <p:cNvPr id="10" name="Rounded Rectangle 9"/>
          <p:cNvSpPr/>
          <p:nvPr/>
        </p:nvSpPr>
        <p:spPr>
          <a:xfrm>
            <a:off x="594360" y="3874769"/>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Rectangle 10"/>
          <p:cNvSpPr/>
          <p:nvPr/>
        </p:nvSpPr>
        <p:spPr>
          <a:xfrm>
            <a:off x="594360" y="3874769"/>
            <a:ext cx="111443" cy="167163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2" name="TextBox 11"/>
          <p:cNvSpPr txBox="1"/>
          <p:nvPr/>
        </p:nvSpPr>
        <p:spPr>
          <a:xfrm>
            <a:off x="817245" y="3986212"/>
            <a:ext cx="3863340" cy="756874"/>
          </a:xfrm>
          <a:prstGeom prst="rect">
            <a:avLst/>
          </a:prstGeom>
          <a:noFill/>
        </p:spPr>
        <p:txBody>
          <a:bodyPr wrap="square">
            <a:spAutoFit/>
          </a:bodyPr>
          <a:lstStyle/>
          <a:p>
            <a:pPr>
              <a:spcAft>
                <a:spcPts val="488"/>
              </a:spcAft>
              <a:defRPr sz="1500" b="1">
                <a:solidFill>
                  <a:srgbClr val="0F172A"/>
                </a:solidFill>
                <a:latin typeface="Georgia"/>
              </a:defRPr>
            </a:pPr>
            <a:r>
              <a:rPr sz="1219"/>
              <a:t>ROLE — Vai trò Hệ thống</a:t>
            </a:r>
          </a:p>
          <a:p>
            <a:pPr>
              <a:defRPr sz="1100">
                <a:solidFill>
                  <a:srgbClr val="64748B"/>
                </a:solidFill>
                <a:latin typeface="Arial"/>
              </a:defRPr>
            </a:pPr>
            <a:r>
              <a:rPr sz="894"/>
              <a:t>• Các vai trò như SUPER_ADMIN, HR, USER.</a:t>
            </a:r>
            <a:br>
              <a:rPr sz="894"/>
            </a:br>
            <a:r>
              <a:rPr sz="894"/>
              <a:t>• Quan hệ Many-to-Many với bảng Permission.</a:t>
            </a:r>
            <a:br>
              <a:rPr sz="894"/>
            </a:br>
            <a:r>
              <a:rPr sz="894"/>
              <a:t>• Quyết định nhóm quyền hạn truy cập API.</a:t>
            </a:r>
          </a:p>
        </p:txBody>
      </p:sp>
      <p:sp>
        <p:nvSpPr>
          <p:cNvPr id="13" name="Rounded Rectangle 12"/>
          <p:cNvSpPr/>
          <p:nvPr/>
        </p:nvSpPr>
        <p:spPr>
          <a:xfrm>
            <a:off x="5052060" y="3874769"/>
            <a:ext cx="4160520" cy="1671638"/>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4" name="Rectangle 13"/>
          <p:cNvSpPr/>
          <p:nvPr/>
        </p:nvSpPr>
        <p:spPr>
          <a:xfrm>
            <a:off x="5052060" y="3874769"/>
            <a:ext cx="111443" cy="167163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5" name="TextBox 14"/>
          <p:cNvSpPr txBox="1"/>
          <p:nvPr/>
        </p:nvSpPr>
        <p:spPr>
          <a:xfrm>
            <a:off x="5274945" y="3986212"/>
            <a:ext cx="3863340" cy="894476"/>
          </a:xfrm>
          <a:prstGeom prst="rect">
            <a:avLst/>
          </a:prstGeom>
          <a:noFill/>
        </p:spPr>
        <p:txBody>
          <a:bodyPr wrap="square">
            <a:spAutoFit/>
          </a:bodyPr>
          <a:lstStyle/>
          <a:p>
            <a:pPr>
              <a:spcAft>
                <a:spcPts val="488"/>
              </a:spcAft>
              <a:defRPr sz="1500" b="1">
                <a:solidFill>
                  <a:srgbClr val="0F172A"/>
                </a:solidFill>
                <a:latin typeface="Georgia"/>
              </a:defRPr>
            </a:pPr>
            <a:r>
              <a:rPr sz="1219"/>
              <a:t>PERMISSION — Quyền hạn Chi tiết API</a:t>
            </a:r>
          </a:p>
          <a:p>
            <a:pPr>
              <a:defRPr sz="1100">
                <a:solidFill>
                  <a:srgbClr val="64748B"/>
                </a:solidFill>
                <a:latin typeface="Arial"/>
              </a:defRPr>
            </a:pPr>
            <a:r>
              <a:rPr sz="894"/>
              <a:t>• Định nghĩa endpoint cụ thể: apiPath, method (GET, POST, PUT, DELETE).</a:t>
            </a:r>
            <a:br>
              <a:rPr sz="894"/>
            </a:br>
            <a:r>
              <a:rPr sz="894"/>
              <a:t>• Thuộc module nghiệp vụ cụ thể.</a:t>
            </a:r>
            <a:br>
              <a:rPr sz="894"/>
            </a:br>
            <a:r>
              <a:rPr sz="894"/>
              <a:t>• Kiểm soát truy cập phân quyền siêu mịn.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600164"/>
          </a:xfrm>
          <a:prstGeom prst="rect">
            <a:avLst/>
          </a:prstGeom>
          <a:noFill/>
        </p:spPr>
        <p:txBody>
          <a:bodyPr wrap="square" lIns="0" tIns="0" rIns="0" bIns="0">
            <a:spAutoFit/>
          </a:bodyPr>
          <a:lstStyle/>
          <a:p>
            <a:pPr>
              <a:defRPr sz="2400" b="1">
                <a:solidFill>
                  <a:srgbClr val="0F172A"/>
                </a:solidFill>
                <a:latin typeface="Georgia"/>
              </a:defRPr>
            </a:pPr>
            <a:r>
              <a:rPr sz="1950"/>
              <a:t>Chuẩn Hóa RESTful APIs, ApiResponse Wrapper &amp; Global Exception</a:t>
            </a:r>
          </a:p>
        </p:txBody>
      </p:sp>
      <p:sp>
        <p:nvSpPr>
          <p:cNvPr id="4" name="Rounded Rectangle 3"/>
          <p:cNvSpPr/>
          <p:nvPr/>
        </p:nvSpPr>
        <p:spPr>
          <a:xfrm>
            <a:off x="594360" y="1980248"/>
            <a:ext cx="2704338"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Rectangle 4"/>
          <p:cNvSpPr/>
          <p:nvPr/>
        </p:nvSpPr>
        <p:spPr>
          <a:xfrm>
            <a:off x="594360" y="1980248"/>
            <a:ext cx="2704338" cy="520065"/>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8FAFC"/>
                </a:solidFill>
                <a:latin typeface="Georgia"/>
              </a:defRPr>
            </a:pPr>
            <a:r>
              <a:rPr sz="1138"/>
              <a:t>1. Quy Chuẩn URI &amp; Phân Trang</a:t>
            </a:r>
          </a:p>
        </p:txBody>
      </p:sp>
      <p:sp>
        <p:nvSpPr>
          <p:cNvPr id="6" name="TextBox 5"/>
          <p:cNvSpPr txBox="1"/>
          <p:nvPr/>
        </p:nvSpPr>
        <p:spPr>
          <a:xfrm>
            <a:off x="742950" y="2574607"/>
            <a:ext cx="2407158" cy="1724831"/>
          </a:xfrm>
          <a:prstGeom prst="rect">
            <a:avLst/>
          </a:prstGeom>
          <a:noFill/>
        </p:spPr>
        <p:txBody>
          <a:bodyPr wrap="square">
            <a:spAutoFit/>
          </a:bodyPr>
          <a:lstStyle/>
          <a:p>
            <a:pPr>
              <a:spcAft>
                <a:spcPts val="1138"/>
              </a:spcAft>
              <a:defRPr sz="1200">
                <a:solidFill>
                  <a:srgbClr val="0F172A"/>
                </a:solidFill>
              </a:defRPr>
            </a:pPr>
            <a:r>
              <a:rPr sz="975"/>
              <a:t>• URI Danh từ số nhiều:</a:t>
            </a:r>
            <a:br>
              <a:rPr sz="975"/>
            </a:br>
            <a:r>
              <a:rPr sz="975"/>
              <a:t>  /api/v1/users, /api/v1/companies</a:t>
            </a:r>
          </a:p>
          <a:p>
            <a:pPr>
              <a:spcAft>
                <a:spcPts val="1138"/>
              </a:spcAft>
              <a:defRPr sz="1200">
                <a:solidFill>
                  <a:srgbClr val="0F172A"/>
                </a:solidFill>
              </a:defRPr>
            </a:pPr>
            <a:r>
              <a:rPr sz="975"/>
              <a:t>• HTTP Methods:</a:t>
            </a:r>
            <a:br>
              <a:rPr sz="975"/>
            </a:br>
            <a:r>
              <a:rPr sz="975"/>
              <a:t>  GET (Read), POST (Create), PUT (Update), DELETE</a:t>
            </a:r>
          </a:p>
          <a:p>
            <a:pPr>
              <a:spcAft>
                <a:spcPts val="1138"/>
              </a:spcAft>
              <a:defRPr sz="1200">
                <a:solidFill>
                  <a:srgbClr val="0F172A"/>
                </a:solidFill>
              </a:defRPr>
            </a:pPr>
            <a:r>
              <a:rPr sz="975"/>
              <a:t>• Phân trang Pageable:</a:t>
            </a:r>
            <a:br>
              <a:rPr sz="975"/>
            </a:br>
            <a:r>
              <a:rPr sz="975"/>
              <a:t>  Trả về metadata tiêu chuẩn gồm page, pageSize, total, pages.</a:t>
            </a:r>
          </a:p>
        </p:txBody>
      </p:sp>
      <p:sp>
        <p:nvSpPr>
          <p:cNvPr id="7" name="Rounded Rectangle 6"/>
          <p:cNvSpPr/>
          <p:nvPr/>
        </p:nvSpPr>
        <p:spPr>
          <a:xfrm>
            <a:off x="3595878" y="1980248"/>
            <a:ext cx="2704338"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Rectangle 7"/>
          <p:cNvSpPr/>
          <p:nvPr/>
        </p:nvSpPr>
        <p:spPr>
          <a:xfrm>
            <a:off x="3595878" y="1980248"/>
            <a:ext cx="2704338" cy="520065"/>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8FAFC"/>
                </a:solidFill>
                <a:latin typeface="Georgia"/>
              </a:defRPr>
            </a:pPr>
            <a:r>
              <a:rPr sz="1138"/>
              <a:t>2. Structure ApiResponse&lt;T&gt;</a:t>
            </a:r>
          </a:p>
        </p:txBody>
      </p:sp>
      <p:sp>
        <p:nvSpPr>
          <p:cNvPr id="9" name="TextBox 8"/>
          <p:cNvSpPr txBox="1"/>
          <p:nvPr/>
        </p:nvSpPr>
        <p:spPr>
          <a:xfrm>
            <a:off x="3744468" y="2574607"/>
            <a:ext cx="2407158" cy="1574790"/>
          </a:xfrm>
          <a:prstGeom prst="rect">
            <a:avLst/>
          </a:prstGeom>
          <a:noFill/>
        </p:spPr>
        <p:txBody>
          <a:bodyPr wrap="square">
            <a:spAutoFit/>
          </a:bodyPr>
          <a:lstStyle/>
          <a:p>
            <a:pPr>
              <a:spcAft>
                <a:spcPts val="1138"/>
              </a:spcAft>
              <a:defRPr sz="1200">
                <a:solidFill>
                  <a:srgbClr val="0F172A"/>
                </a:solidFill>
              </a:defRPr>
            </a:pPr>
            <a:r>
              <a:rPr sz="975"/>
              <a:t>• Đồng bộ JSON Response:</a:t>
            </a:r>
            <a:br>
              <a:rPr sz="975"/>
            </a:br>
            <a:r>
              <a:rPr sz="975"/>
              <a:t>  Mọi API đều bọc qua class ApiResponse&lt;T&gt;</a:t>
            </a:r>
          </a:p>
          <a:p>
            <a:pPr>
              <a:spcAft>
                <a:spcPts val="1138"/>
              </a:spcAft>
              <a:defRPr sz="1200">
                <a:solidFill>
                  <a:srgbClr val="0F172A"/>
                </a:solidFill>
              </a:defRPr>
            </a:pPr>
            <a:r>
              <a:rPr sz="975"/>
              <a:t>• Trường dữ liệu:</a:t>
            </a:r>
            <a:br>
              <a:rPr sz="975"/>
            </a:br>
            <a:r>
              <a:rPr sz="975"/>
              <a:t>  statusCode, message, data, error</a:t>
            </a:r>
          </a:p>
          <a:p>
            <a:pPr>
              <a:spcAft>
                <a:spcPts val="1138"/>
              </a:spcAft>
              <a:defRPr sz="1200">
                <a:solidFill>
                  <a:srgbClr val="0F172A"/>
                </a:solidFill>
              </a:defRPr>
            </a:pPr>
            <a:r>
              <a:rPr sz="975"/>
              <a:t>• Lợi ích Client:</a:t>
            </a:r>
            <a:br>
              <a:rPr sz="975"/>
            </a:br>
            <a:r>
              <a:rPr sz="975"/>
              <a:t>  Mobile &amp; Web Frontend dễ dàng intercept và parse lỗi nhất quán.</a:t>
            </a:r>
          </a:p>
        </p:txBody>
      </p:sp>
      <p:sp>
        <p:nvSpPr>
          <p:cNvPr id="10" name="Rounded Rectangle 9"/>
          <p:cNvSpPr/>
          <p:nvPr/>
        </p:nvSpPr>
        <p:spPr>
          <a:xfrm>
            <a:off x="6597396" y="1980248"/>
            <a:ext cx="2704338"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Rectangle 10"/>
          <p:cNvSpPr/>
          <p:nvPr/>
        </p:nvSpPr>
        <p:spPr>
          <a:xfrm>
            <a:off x="6597396" y="1980248"/>
            <a:ext cx="2704338" cy="520065"/>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8FAFC"/>
                </a:solidFill>
                <a:latin typeface="Georgia"/>
              </a:defRPr>
            </a:pPr>
            <a:r>
              <a:rPr sz="1138"/>
              <a:t>3. Global Exception Handler</a:t>
            </a:r>
          </a:p>
        </p:txBody>
      </p:sp>
      <p:sp>
        <p:nvSpPr>
          <p:cNvPr id="12" name="TextBox 11"/>
          <p:cNvSpPr txBox="1"/>
          <p:nvPr/>
        </p:nvSpPr>
        <p:spPr>
          <a:xfrm>
            <a:off x="6745986" y="2574608"/>
            <a:ext cx="2407158" cy="1574790"/>
          </a:xfrm>
          <a:prstGeom prst="rect">
            <a:avLst/>
          </a:prstGeom>
          <a:noFill/>
        </p:spPr>
        <p:txBody>
          <a:bodyPr wrap="square">
            <a:spAutoFit/>
          </a:bodyPr>
          <a:lstStyle/>
          <a:p>
            <a:pPr>
              <a:spcAft>
                <a:spcPts val="1138"/>
              </a:spcAft>
              <a:defRPr sz="1200">
                <a:solidFill>
                  <a:srgbClr val="0F172A"/>
                </a:solidFill>
              </a:defRPr>
            </a:pPr>
            <a:r>
              <a:rPr sz="975"/>
              <a:t>• Annotation:</a:t>
            </a:r>
            <a:br>
              <a:rPr sz="975"/>
            </a:br>
            <a:r>
              <a:rPr sz="975"/>
              <a:t>  @RestControllerAdvice xử lý lỗi tập trung</a:t>
            </a:r>
          </a:p>
          <a:p>
            <a:pPr>
              <a:spcAft>
                <a:spcPts val="1138"/>
              </a:spcAft>
              <a:defRPr sz="1200">
                <a:solidFill>
                  <a:srgbClr val="0F172A"/>
                </a:solidFill>
              </a:defRPr>
            </a:pPr>
            <a:r>
              <a:rPr sz="975"/>
              <a:t>• Validation Rules:</a:t>
            </a:r>
            <a:br>
              <a:rPr sz="975"/>
            </a:br>
            <a:r>
              <a:rPr sz="975"/>
              <a:t>  @Valid, @NotBlank, @Email, @Size</a:t>
            </a:r>
          </a:p>
          <a:p>
            <a:pPr>
              <a:spcAft>
                <a:spcPts val="1138"/>
              </a:spcAft>
              <a:defRPr sz="1200">
                <a:solidFill>
                  <a:srgbClr val="0F172A"/>
                </a:solidFill>
              </a:defRPr>
            </a:pPr>
            <a:r>
              <a:rPr sz="975"/>
              <a:t>• Bảo mật Stack trace:</a:t>
            </a:r>
            <a:br>
              <a:rPr sz="975"/>
            </a:br>
            <a:r>
              <a:rPr sz="975"/>
              <a:t>  Không để lộ thông tin nhạy cảm của hệ thống ra bên ngoài.</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10B981"/>
                </a:solidFill>
                <a:latin typeface="Arial"/>
              </a:defRPr>
            </a:pPr>
            <a:r>
              <a:rPr sz="813"/>
              <a:t>SPRING REST WITH AI • HR MANAGEMENT SYSTEM</a:t>
            </a:r>
          </a:p>
        </p:txBody>
      </p:sp>
      <p:sp>
        <p:nvSpPr>
          <p:cNvPr id="3" name="TextBox 2"/>
          <p:cNvSpPr txBox="1"/>
          <p:nvPr/>
        </p:nvSpPr>
        <p:spPr>
          <a:xfrm>
            <a:off x="594360" y="1200150"/>
            <a:ext cx="8692515" cy="600164"/>
          </a:xfrm>
          <a:prstGeom prst="rect">
            <a:avLst/>
          </a:prstGeom>
          <a:noFill/>
        </p:spPr>
        <p:txBody>
          <a:bodyPr wrap="square" lIns="0" tIns="0" rIns="0" bIns="0">
            <a:spAutoFit/>
          </a:bodyPr>
          <a:lstStyle/>
          <a:p>
            <a:pPr>
              <a:defRPr sz="2400" b="1">
                <a:solidFill>
                  <a:srgbClr val="F8FAFC"/>
                </a:solidFill>
                <a:latin typeface="Georgia"/>
              </a:defRPr>
            </a:pPr>
            <a:r>
              <a:rPr sz="1950"/>
              <a:t>Bảo Mật Hệ Thống Với Spring Security, JWT &amp; Refresh Token Rotation</a:t>
            </a:r>
          </a:p>
        </p:txBody>
      </p:sp>
      <p:sp>
        <p:nvSpPr>
          <p:cNvPr id="4" name="Rounded Rectangle 3"/>
          <p:cNvSpPr/>
          <p:nvPr/>
        </p:nvSpPr>
        <p:spPr>
          <a:xfrm>
            <a:off x="594360" y="1980248"/>
            <a:ext cx="4160520" cy="163449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TextBox 4"/>
          <p:cNvSpPr txBox="1"/>
          <p:nvPr/>
        </p:nvSpPr>
        <p:spPr>
          <a:xfrm>
            <a:off x="817245" y="2128838"/>
            <a:ext cx="3714750" cy="745012"/>
          </a:xfrm>
          <a:prstGeom prst="rect">
            <a:avLst/>
          </a:prstGeom>
          <a:noFill/>
        </p:spPr>
        <p:txBody>
          <a:bodyPr wrap="square">
            <a:spAutoFit/>
          </a:bodyPr>
          <a:lstStyle/>
          <a:p>
            <a:pPr>
              <a:spcAft>
                <a:spcPts val="813"/>
              </a:spcAft>
              <a:defRPr sz="1800" b="1">
                <a:solidFill>
                  <a:srgbClr val="10B981"/>
                </a:solidFill>
                <a:latin typeface="Georgia"/>
              </a:defRPr>
            </a:pPr>
            <a:r>
              <a:rPr sz="1463"/>
              <a:t>01. Spring Security 3/4</a:t>
            </a:r>
          </a:p>
          <a:p>
            <a:pPr>
              <a:defRPr sz="1300">
                <a:solidFill>
                  <a:srgbClr val="CDD5E1"/>
                </a:solidFill>
                <a:latin typeface="Arial"/>
              </a:defRPr>
            </a:pPr>
            <a:r>
              <a:rPr sz="1056"/>
              <a:t>Cấu hình SecurityFilterChain bean linh hoạt. Mã hóa mật khẩu 1 chiều bằng BCryptPasswordEncoder.</a:t>
            </a:r>
          </a:p>
        </p:txBody>
      </p:sp>
      <p:sp>
        <p:nvSpPr>
          <p:cNvPr id="6" name="Rounded Rectangle 5"/>
          <p:cNvSpPr/>
          <p:nvPr/>
        </p:nvSpPr>
        <p:spPr>
          <a:xfrm>
            <a:off x="5052060" y="1980248"/>
            <a:ext cx="4160520" cy="163449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 name="TextBox 6"/>
          <p:cNvSpPr txBox="1"/>
          <p:nvPr/>
        </p:nvSpPr>
        <p:spPr>
          <a:xfrm>
            <a:off x="5274945" y="2128838"/>
            <a:ext cx="3714750" cy="745012"/>
          </a:xfrm>
          <a:prstGeom prst="rect">
            <a:avLst/>
          </a:prstGeom>
          <a:noFill/>
        </p:spPr>
        <p:txBody>
          <a:bodyPr wrap="square">
            <a:spAutoFit/>
          </a:bodyPr>
          <a:lstStyle/>
          <a:p>
            <a:pPr>
              <a:spcAft>
                <a:spcPts val="813"/>
              </a:spcAft>
              <a:defRPr sz="1800" b="1">
                <a:solidFill>
                  <a:srgbClr val="0284C7"/>
                </a:solidFill>
                <a:latin typeface="Georgia"/>
              </a:defRPr>
            </a:pPr>
            <a:r>
              <a:rPr sz="1463"/>
              <a:t>02. OAuth2 Resource Server</a:t>
            </a:r>
          </a:p>
          <a:p>
            <a:pPr>
              <a:defRPr sz="1300">
                <a:solidFill>
                  <a:srgbClr val="CDD5E1"/>
                </a:solidFill>
                <a:latin typeface="Arial"/>
              </a:defRPr>
            </a:pPr>
            <a:r>
              <a:rPr sz="1056"/>
              <a:t>Sử dụng mã hóa HMAC-SHA256 cấp accessToken thời hạn ngắn (15 phút) để xác thực từng request.</a:t>
            </a:r>
          </a:p>
        </p:txBody>
      </p:sp>
      <p:sp>
        <p:nvSpPr>
          <p:cNvPr id="8" name="Rounded Rectangle 7"/>
          <p:cNvSpPr/>
          <p:nvPr/>
        </p:nvSpPr>
        <p:spPr>
          <a:xfrm>
            <a:off x="594360" y="3837623"/>
            <a:ext cx="4160520" cy="163449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9" name="TextBox 8"/>
          <p:cNvSpPr txBox="1"/>
          <p:nvPr/>
        </p:nvSpPr>
        <p:spPr>
          <a:xfrm>
            <a:off x="817245" y="3986213"/>
            <a:ext cx="3714750" cy="745012"/>
          </a:xfrm>
          <a:prstGeom prst="rect">
            <a:avLst/>
          </a:prstGeom>
          <a:noFill/>
        </p:spPr>
        <p:txBody>
          <a:bodyPr wrap="square">
            <a:spAutoFit/>
          </a:bodyPr>
          <a:lstStyle/>
          <a:p>
            <a:pPr>
              <a:spcAft>
                <a:spcPts val="813"/>
              </a:spcAft>
              <a:defRPr sz="1800" b="1">
                <a:solidFill>
                  <a:srgbClr val="10B981"/>
                </a:solidFill>
                <a:latin typeface="Georgia"/>
              </a:defRPr>
            </a:pPr>
            <a:r>
              <a:rPr sz="1463"/>
              <a:t>03. Refresh Token Rotation</a:t>
            </a:r>
          </a:p>
          <a:p>
            <a:pPr>
              <a:defRPr sz="1300">
                <a:solidFill>
                  <a:srgbClr val="CDD5E1"/>
                </a:solidFill>
                <a:latin typeface="Arial"/>
              </a:defRPr>
            </a:pPr>
            <a:r>
              <a:rPr sz="1056"/>
              <a:t>Cấp refreshToken lưu trong Cookie HTTP-Only an toàn chống XSS, hỗ trợ cấp mới token khi hết hạn.</a:t>
            </a:r>
          </a:p>
        </p:txBody>
      </p:sp>
      <p:sp>
        <p:nvSpPr>
          <p:cNvPr id="10" name="Rounded Rectangle 9"/>
          <p:cNvSpPr/>
          <p:nvPr/>
        </p:nvSpPr>
        <p:spPr>
          <a:xfrm>
            <a:off x="5052060" y="3837623"/>
            <a:ext cx="4160520" cy="163449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TextBox 10"/>
          <p:cNvSpPr txBox="1"/>
          <p:nvPr/>
        </p:nvSpPr>
        <p:spPr>
          <a:xfrm>
            <a:off x="5274945" y="3986213"/>
            <a:ext cx="3714750" cy="745012"/>
          </a:xfrm>
          <a:prstGeom prst="rect">
            <a:avLst/>
          </a:prstGeom>
          <a:noFill/>
        </p:spPr>
        <p:txBody>
          <a:bodyPr wrap="square">
            <a:spAutoFit/>
          </a:bodyPr>
          <a:lstStyle/>
          <a:p>
            <a:pPr>
              <a:spcAft>
                <a:spcPts val="813"/>
              </a:spcAft>
              <a:defRPr sz="1800" b="1">
                <a:solidFill>
                  <a:srgbClr val="0284C7"/>
                </a:solidFill>
                <a:latin typeface="Georgia"/>
              </a:defRPr>
            </a:pPr>
            <a:r>
              <a:rPr sz="1463"/>
              <a:t>04. Phân Quyền RBAC &amp; Permission</a:t>
            </a:r>
          </a:p>
          <a:p>
            <a:pPr>
              <a:defRPr sz="1300">
                <a:solidFill>
                  <a:srgbClr val="CDD5E1"/>
                </a:solidFill>
                <a:latin typeface="Arial"/>
              </a:defRPr>
            </a:pPr>
            <a:r>
              <a:rPr sz="1056"/>
              <a:t>Tích hợp Custom AuthorizationManager kiểm tra động apiPath + method với quyền trong DB.</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940118"/>
            <a:ext cx="8692515" cy="125099"/>
          </a:xfrm>
          <a:prstGeom prst="rect">
            <a:avLst/>
          </a:prstGeom>
          <a:noFill/>
        </p:spPr>
        <p:txBody>
          <a:bodyPr wrap="square" lIns="0" tIns="0" rIns="0" bIns="0">
            <a:spAutoFit/>
          </a:bodyPr>
          <a:lstStyle/>
          <a:p>
            <a:pPr>
              <a:defRPr sz="1000" b="1">
                <a:solidFill>
                  <a:srgbClr val="0284C7"/>
                </a:solidFill>
                <a:latin typeface="Arial"/>
              </a:defRPr>
            </a:pPr>
            <a:r>
              <a:rPr sz="813"/>
              <a:t>SPRING REST WITH AI • HR MANAGEMENT SYSTEM</a:t>
            </a:r>
          </a:p>
        </p:txBody>
      </p:sp>
      <p:sp>
        <p:nvSpPr>
          <p:cNvPr id="3" name="TextBox 2"/>
          <p:cNvSpPr txBox="1"/>
          <p:nvPr/>
        </p:nvSpPr>
        <p:spPr>
          <a:xfrm>
            <a:off x="594360" y="1200150"/>
            <a:ext cx="8692515" cy="300082"/>
          </a:xfrm>
          <a:prstGeom prst="rect">
            <a:avLst/>
          </a:prstGeom>
          <a:noFill/>
        </p:spPr>
        <p:txBody>
          <a:bodyPr wrap="square" lIns="0" tIns="0" rIns="0" bIns="0">
            <a:spAutoFit/>
          </a:bodyPr>
          <a:lstStyle/>
          <a:p>
            <a:pPr>
              <a:defRPr sz="2400" b="1">
                <a:solidFill>
                  <a:srgbClr val="0F172A"/>
                </a:solidFill>
                <a:latin typeface="Georgia"/>
              </a:defRPr>
            </a:pPr>
            <a:r>
              <a:rPr sz="1950"/>
              <a:t>Automated Testing Vời JUnit 6 &amp; Documentation API Swagger UI</a:t>
            </a:r>
          </a:p>
        </p:txBody>
      </p:sp>
      <p:sp>
        <p:nvSpPr>
          <p:cNvPr id="4" name="Rounded Rectangle 3"/>
          <p:cNvSpPr/>
          <p:nvPr/>
        </p:nvSpPr>
        <p:spPr>
          <a:xfrm>
            <a:off x="594360" y="1980248"/>
            <a:ext cx="416052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5" name="TextBox 4"/>
          <p:cNvSpPr txBox="1"/>
          <p:nvPr/>
        </p:nvSpPr>
        <p:spPr>
          <a:xfrm>
            <a:off x="817245" y="2128838"/>
            <a:ext cx="3714750" cy="2716065"/>
          </a:xfrm>
          <a:prstGeom prst="rect">
            <a:avLst/>
          </a:prstGeom>
          <a:noFill/>
        </p:spPr>
        <p:txBody>
          <a:bodyPr wrap="square">
            <a:spAutoFit/>
          </a:bodyPr>
          <a:lstStyle/>
          <a:p>
            <a:pPr>
              <a:spcAft>
                <a:spcPts val="1138"/>
              </a:spcAft>
              <a:defRPr sz="1800" b="1">
                <a:solidFill>
                  <a:srgbClr val="0284C7"/>
                </a:solidFill>
                <a:latin typeface="Georgia"/>
              </a:defRPr>
            </a:pPr>
            <a:r>
              <a:rPr sz="1463"/>
              <a:t>Chiến Lược Automated Testing</a:t>
            </a:r>
          </a:p>
          <a:p>
            <a:pPr>
              <a:spcAft>
                <a:spcPts val="813"/>
              </a:spcAft>
              <a:defRPr sz="1300" b="1">
                <a:solidFill>
                  <a:srgbClr val="0F172A"/>
                </a:solidFill>
              </a:defRPr>
            </a:pPr>
            <a:r>
              <a:rPr sz="1056"/>
              <a:t>• Unit Test Service Layer: </a:t>
            </a:r>
            <a:r>
              <a:rPr sz="1056" b="0">
                <a:solidFill>
                  <a:srgbClr val="64748B"/>
                </a:solidFill>
              </a:rPr>
              <a:t>Sử dụng @ExtendWith(MockitoExtension.class) &amp; @Mock để cô lập hoàn toàn database.</a:t>
            </a:r>
          </a:p>
          <a:p>
            <a:pPr>
              <a:spcAft>
                <a:spcPts val="813"/>
              </a:spcAft>
              <a:defRPr sz="1300" b="1">
                <a:solidFill>
                  <a:srgbClr val="0F172A"/>
                </a:solidFill>
              </a:defRPr>
            </a:pPr>
            <a:r>
              <a:rPr sz="1056"/>
              <a:t>• Integration Test Controller: </a:t>
            </a:r>
            <a:r>
              <a:rPr sz="1056" b="0">
                <a:solidFill>
                  <a:srgbClr val="64748B"/>
                </a:solidFill>
              </a:rPr>
              <a:t>Sử dụng @SpringBootTest &amp; MockMvc giả lập HTTP Request kiểm thử toàn bộ luồng REST API.</a:t>
            </a:r>
          </a:p>
          <a:p>
            <a:pPr>
              <a:spcAft>
                <a:spcPts val="813"/>
              </a:spcAft>
              <a:defRPr sz="1300" b="1">
                <a:solidFill>
                  <a:srgbClr val="0F172A"/>
                </a:solidFill>
              </a:defRPr>
            </a:pPr>
            <a:r>
              <a:rPr sz="1056"/>
              <a:t>• Data Rollback Tự Động: </a:t>
            </a:r>
            <a:r>
              <a:rPr sz="1056" b="0">
                <a:solidFill>
                  <a:srgbClr val="64748B"/>
                </a:solidFill>
              </a:rPr>
              <a:t>Gắn annotation @Transactional trên Test Class giúp tự động khôi phục dữ liệu sau khi chạy xong.</a:t>
            </a:r>
          </a:p>
          <a:p>
            <a:pPr>
              <a:spcAft>
                <a:spcPts val="813"/>
              </a:spcAft>
              <a:defRPr sz="1300" b="1">
                <a:solidFill>
                  <a:srgbClr val="0F172A"/>
                </a:solidFill>
              </a:defRPr>
            </a:pPr>
            <a:r>
              <a:rPr sz="1056"/>
              <a:t>• Tự Tin Refactor Code: </a:t>
            </a:r>
            <a:r>
              <a:rPr sz="1056" b="0">
                <a:solidFill>
                  <a:srgbClr val="64748B"/>
                </a:solidFill>
              </a:rPr>
              <a:t>Bộ test tự động đóng vai trò như lá chắn giúp phát hiện bug ngay lập tức khi nâng cấp.</a:t>
            </a:r>
          </a:p>
        </p:txBody>
      </p:sp>
      <p:sp>
        <p:nvSpPr>
          <p:cNvPr id="6" name="Rounded Rectangle 5"/>
          <p:cNvSpPr/>
          <p:nvPr/>
        </p:nvSpPr>
        <p:spPr>
          <a:xfrm>
            <a:off x="5052060" y="1980248"/>
            <a:ext cx="4160520" cy="3566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7" name="TextBox 6"/>
          <p:cNvSpPr txBox="1"/>
          <p:nvPr/>
        </p:nvSpPr>
        <p:spPr>
          <a:xfrm>
            <a:off x="5274945" y="2128838"/>
            <a:ext cx="3714750" cy="2553584"/>
          </a:xfrm>
          <a:prstGeom prst="rect">
            <a:avLst/>
          </a:prstGeom>
          <a:noFill/>
        </p:spPr>
        <p:txBody>
          <a:bodyPr wrap="square">
            <a:spAutoFit/>
          </a:bodyPr>
          <a:lstStyle/>
          <a:p>
            <a:pPr>
              <a:spcAft>
                <a:spcPts val="1138"/>
              </a:spcAft>
              <a:defRPr sz="1800" b="1">
                <a:solidFill>
                  <a:srgbClr val="10B981"/>
                </a:solidFill>
                <a:latin typeface="Georgia"/>
              </a:defRPr>
            </a:pPr>
            <a:r>
              <a:rPr sz="1463"/>
              <a:t>Tích Hợp OpenAPI / Swagger UI</a:t>
            </a:r>
          </a:p>
          <a:p>
            <a:pPr>
              <a:spcAft>
                <a:spcPts val="813"/>
              </a:spcAft>
              <a:defRPr sz="1300" b="1">
                <a:solidFill>
                  <a:srgbClr val="0F172A"/>
                </a:solidFill>
              </a:defRPr>
            </a:pPr>
            <a:r>
              <a:rPr sz="1056"/>
              <a:t>• Tự Động Sinh Document: </a:t>
            </a:r>
            <a:r>
              <a:rPr sz="1056" b="0">
                <a:solidFill>
                  <a:srgbClr val="64748B"/>
                </a:solidFill>
              </a:rPr>
              <a:t>Thêm thư viện springdoc-openapi-starter-webmvc-ui vào file pom.xml / build.gradle.</a:t>
            </a:r>
          </a:p>
          <a:p>
            <a:pPr>
              <a:spcAft>
                <a:spcPts val="813"/>
              </a:spcAft>
              <a:defRPr sz="1300" b="1">
                <a:solidFill>
                  <a:srgbClr val="0F172A"/>
                </a:solidFill>
              </a:defRPr>
            </a:pPr>
            <a:r>
              <a:rPr sz="1056"/>
              <a:t>• Đường Dẫn Truy Cập: </a:t>
            </a:r>
            <a:r>
              <a:rPr sz="1056" b="0">
                <a:solidFill>
                  <a:srgbClr val="64748B"/>
                </a:solidFill>
              </a:rPr>
              <a:t>Tài liệu API hiển thị trực quan tại: /swagger-ui/index.html</a:t>
            </a:r>
          </a:p>
          <a:p>
            <a:pPr>
              <a:spcAft>
                <a:spcPts val="813"/>
              </a:spcAft>
              <a:defRPr sz="1300" b="1">
                <a:solidFill>
                  <a:srgbClr val="0F172A"/>
                </a:solidFill>
              </a:defRPr>
            </a:pPr>
            <a:r>
              <a:rPr sz="1056"/>
              <a:t>• Thử Nghiệm API Trực Tiếp: </a:t>
            </a:r>
            <a:r>
              <a:rPr sz="1056" b="0">
                <a:solidFill>
                  <a:srgbClr val="64748B"/>
                </a:solidFill>
              </a:rPr>
              <a:t>Frontend Dev có thể gửi thử Request, xem Schema DTO và ApiResponse trực quan.</a:t>
            </a:r>
          </a:p>
          <a:p>
            <a:pPr>
              <a:spcAft>
                <a:spcPts val="813"/>
              </a:spcAft>
              <a:defRPr sz="1300" b="1">
                <a:solidFill>
                  <a:srgbClr val="0F172A"/>
                </a:solidFill>
              </a:defRPr>
            </a:pPr>
            <a:r>
              <a:rPr sz="1056"/>
              <a:t>• Đồng Bộ Bản Thiết Kế: </a:t>
            </a:r>
            <a:r>
              <a:rPr sz="1056" b="0">
                <a:solidFill>
                  <a:srgbClr val="64748B"/>
                </a:solidFill>
              </a:rPr>
              <a:t>Giúp toàn bộ team nắm rõ contract mà không cần viết file Excel / Word thủ công.</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endParaRPr lang="en-US"/>
          </a:p>
        </p:txBody>
      </p:sp>
      <p:sp>
        <p:nvSpPr>
          <p:cNvPr id="3" name="コンテンツ プレースホルダー 2"/>
          <p:cNvSpPr>
            <a:spLocks noGrp="1"/>
          </p:cNvSpPr>
          <p:nvPr>
            <p:ph idx="1"/>
          </p:nvPr>
        </p:nvSpPr>
        <p:spPr/>
        <p:txBody>
          <a:bodyPr/>
          <a:lstStyle/>
          <a:p>
            <a:endParaRPr lang="en-US"/>
          </a:p>
        </p:txBody>
      </p:sp>
      <p:pic>
        <p:nvPicPr>
          <p:cNvPr id="1026" name="Picture 2" descr="Kết quả hình ảnh cho thanks for watching | Powerpoint animation, Slide  background, Purif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42938"/>
            <a:ext cx="9905998" cy="557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7154466"/>
      </p:ext>
    </p:extLst>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Arial"/>
        <a:ea typeface="Arial"/>
        <a:cs typeface=""/>
      </a:majorFont>
      <a:minorFont>
        <a:latin typeface="Aptos Slab Black"/>
        <a:ea typeface="Arial"/>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66">
            <a:alpha val="80000"/>
          </a:srgbClr>
        </a:solidFill>
        <a:ln w="12700" cap="flat" cmpd="sng" algn="ctr">
          <a:noFill/>
          <a:prstDash val="solid"/>
          <a:round/>
          <a:headEnd type="none" w="med" len="med"/>
          <a:tailEnd type="none" w="med" len="me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1" sz="1400" b="0" i="0" u="none" strike="noStrike" cap="none" normalizeH="0" baseline="0" dirty="0">
            <a:ln>
              <a:noFill/>
            </a:ln>
            <a:solidFill>
              <a:srgbClr val="FF0000"/>
            </a:solidFill>
            <a:latin typeface="Meiryo UI" panose="020B0604030504040204" pitchFamily="50" charset="-128"/>
            <a:ea typeface="Meiryo UI" panose="020B0604030504040204" pitchFamily="50" charset="-128"/>
          </a:defRPr>
        </a:defPPr>
      </a:lstStyle>
    </a:spDef>
    <a:lnDef>
      <a:spPr bwMode="auto">
        <a:pattFill prst="dashHorz">
          <a:fgClr>
            <a:srgbClr val="808080"/>
          </a:fgClr>
          <a:bgClr>
            <a:srgbClr val="FFFF00"/>
          </a:bgClr>
        </a:pattFill>
        <a:ln w="12700" cap="flat" cmpd="sng" algn="ctr">
          <a:solidFill>
            <a:srgbClr val="000000"/>
          </a:solidFill>
          <a:prstDash val="solid"/>
          <a:round/>
          <a:headEnd type="none" w="med" len="med"/>
          <a:tailEnd type="none" w="med" len="med"/>
        </a:ln>
        <a:effectLst/>
      </a:spPr>
      <a:bodyPr/>
      <a:lstStyle/>
    </a:lnDef>
    <a:txDef>
      <a:spPr>
        <a:noFill/>
      </a:spPr>
      <a:bodyPr wrap="square" rtlCol="0">
        <a:spAutoFit/>
      </a:bodyPr>
      <a:lstStyle>
        <a:defPPr>
          <a:defRPr kumimoji="1" sz="1400" b="0" dirty="0" smtClean="0">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AI_IoT_Assign_Plan_Optimization_GenAI_2025.pptx" id="{14E944DE-3199-4D98-A76C-EFBF91815B4E}" vid="{1A6114F4-44F2-4525-80F9-55402634BD3F}"/>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_IoT_Assign_Plan_Optimization_GenAI_2025.pptx" id="{14E944DE-3199-4D98-A76C-EFBF91815B4E}" vid="{8B1B50D9-B7E1-464E-B075-1B05D212835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UsolV-tmp</Template>
  <TotalTime>22118</TotalTime>
  <Words>4864</Words>
  <Application>Microsoft Office PowerPoint</Application>
  <PresentationFormat>A4 Paper (210x297 mm)</PresentationFormat>
  <Paragraphs>480</Paragraphs>
  <Slides>73</Slides>
  <Notes>13</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73</vt:i4>
      </vt:variant>
    </vt:vector>
  </HeadingPairs>
  <TitlesOfParts>
    <vt:vector size="88" baseType="lpstr">
      <vt:lpstr>Arial Unicode MS</vt:lpstr>
      <vt:lpstr>HG丸ｺﾞｼｯｸM-PRO</vt:lpstr>
      <vt:lpstr>Meiryo UI</vt:lpstr>
      <vt:lpstr>ＭＳ Ｐゴシック</vt:lpstr>
      <vt:lpstr>ADLaM Display</vt:lpstr>
      <vt:lpstr>Arial</vt:lpstr>
      <vt:lpstr>Calibri</vt:lpstr>
      <vt:lpstr>Consolas</vt:lpstr>
      <vt:lpstr>Segoe Script</vt:lpstr>
      <vt:lpstr>Times New Roman</vt:lpstr>
      <vt:lpstr>Wingdings</vt:lpstr>
      <vt:lpstr>Wingdings 3</vt:lpstr>
      <vt:lpstr>標準デザイン</vt:lpstr>
      <vt:lpstr>デザインの設定</vt:lpstr>
      <vt:lpstr>ワークシート</vt:lpstr>
      <vt:lpstr>Spring boot application</vt:lpstr>
      <vt:lpstr>Khái lược về Spring boot</vt:lpstr>
      <vt:lpstr>DI (Dependence Injection) trong SpringBoot</vt:lpstr>
      <vt:lpstr>DI (Dependence Injection) trong SpringBoot</vt:lpstr>
      <vt:lpstr>Tạo mới project micro service</vt:lpstr>
      <vt:lpstr>Spring Boot Application</vt:lpstr>
      <vt:lpstr>Khái lược cơ bản về spring security</vt:lpstr>
      <vt:lpstr>Spring Boot Application</vt:lpstr>
      <vt:lpstr>Khái lược cơ bản về SpringJPA</vt:lpstr>
      <vt:lpstr>Spring Boot Application</vt:lpstr>
      <vt:lpstr>Spring Boot Application</vt:lpstr>
      <vt:lpstr>Spring boot application</vt:lpstr>
      <vt:lpstr>Spring batch</vt:lpstr>
      <vt:lpstr>Logging</vt:lpstr>
      <vt:lpstr>END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Cấu Trúc Dự Án Spring Boot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bản về AI và Data</dc:title>
  <dc:creator>Dang Minh Duc</dc:creator>
  <cp:lastModifiedBy>Mai Ngoc Khuong</cp:lastModifiedBy>
  <cp:revision>419</cp:revision>
  <cp:lastPrinted>2018-04-10T08:59:30Z</cp:lastPrinted>
  <dcterms:created xsi:type="dcterms:W3CDTF">2025-05-21T02:38:07Z</dcterms:created>
  <dcterms:modified xsi:type="dcterms:W3CDTF">2026-10-21T09:13:09Z</dcterms:modified>
</cp:coreProperties>
</file>