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13"/>
  </p:notesMasterIdLst>
  <p:handoutMasterIdLst>
    <p:handoutMasterId r:id="rId14"/>
  </p:handoutMasterIdLst>
  <p:sldIdLst>
    <p:sldId id="689" r:id="rId3"/>
    <p:sldId id="690" r:id="rId4"/>
    <p:sldId id="691" r:id="rId5"/>
    <p:sldId id="692" r:id="rId6"/>
    <p:sldId id="693" r:id="rId7"/>
    <p:sldId id="694" r:id="rId8"/>
    <p:sldId id="695" r:id="rId9"/>
    <p:sldId id="696" r:id="rId10"/>
    <p:sldId id="697" r:id="rId11"/>
    <p:sldId id="698" r:id="rId12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1548" y="108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7486650" cy="14700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altLang="ja-JP" dirty="0">
                <a:latin typeface="+mj-lt"/>
              </a:rPr>
              <a:t>Java Programming</a:t>
            </a:r>
            <a:br>
              <a:rPr lang="en-US" altLang="ja-JP" dirty="0">
                <a:latin typeface="+mj-lt"/>
              </a:rPr>
            </a:br>
            <a:br>
              <a:rPr lang="vi-VN" altLang="ja-JP" kern="1200" dirty="0">
                <a:latin typeface="+mj-lt"/>
              </a:rPr>
            </a:b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F8EF2-D090-2D87-3C30-91D44315D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1027" y="4419600"/>
            <a:ext cx="6934200" cy="1752600"/>
          </a:xfrm>
        </p:spPr>
        <p:txBody>
          <a:bodyPr>
            <a:normAutofit/>
          </a:bodyPr>
          <a:lstStyle/>
          <a:p>
            <a:pPr algn="r"/>
            <a:endParaRPr kumimoji="1" lang="en-US" altLang="ja-JP" sz="2800" dirty="0">
              <a:latin typeface="+mj-lt"/>
            </a:endParaRPr>
          </a:p>
          <a:p>
            <a:pPr algn="r"/>
            <a:r>
              <a:rPr lang="en-US" altLang="ja-JP" sz="2800" dirty="0">
                <a:latin typeface="+mj-lt"/>
              </a:rPr>
              <a:t>Mai Ngọc </a:t>
            </a:r>
            <a:r>
              <a:rPr lang="en-US" altLang="ja-JP" sz="2800" dirty="0" err="1">
                <a:latin typeface="+mj-lt"/>
              </a:rPr>
              <a:t>Khương</a:t>
            </a:r>
            <a:endParaRPr lang="en-US" altLang="ja-JP" sz="2800" dirty="0">
              <a:latin typeface="+mj-lt"/>
            </a:endParaRPr>
          </a:p>
          <a:p>
            <a:pPr algn="r"/>
            <a:r>
              <a:rPr kumimoji="1" lang="en-US" altLang="ja-JP" sz="2800" dirty="0">
                <a:latin typeface="+mj-lt"/>
              </a:rPr>
              <a:t>H</a:t>
            </a:r>
            <a:r>
              <a:rPr lang="en-US" altLang="ja-JP" sz="2800" dirty="0">
                <a:latin typeface="+mj-lt"/>
              </a:rPr>
              <a:t>à </a:t>
            </a:r>
            <a:r>
              <a:rPr lang="en-US" altLang="ja-JP" sz="2800" dirty="0" err="1">
                <a:latin typeface="+mj-lt"/>
              </a:rPr>
              <a:t>nội</a:t>
            </a:r>
            <a:r>
              <a:rPr lang="en-US" altLang="ja-JP" sz="2800" dirty="0">
                <a:latin typeface="+mj-lt"/>
              </a:rPr>
              <a:t>, </a:t>
            </a:r>
            <a:r>
              <a:rPr lang="en-US" altLang="ja-JP" sz="2800" dirty="0" err="1">
                <a:latin typeface="+mj-lt"/>
              </a:rPr>
              <a:t>tháng</a:t>
            </a:r>
            <a:r>
              <a:rPr lang="en-US" altLang="ja-JP" sz="2800" dirty="0">
                <a:latin typeface="+mj-lt"/>
              </a:rPr>
              <a:t> 8 </a:t>
            </a:r>
            <a:r>
              <a:rPr lang="en-US" altLang="ja-JP" sz="2800" dirty="0" err="1">
                <a:latin typeface="+mj-lt"/>
              </a:rPr>
              <a:t>năm</a:t>
            </a:r>
            <a:r>
              <a:rPr lang="en-US" altLang="ja-JP" sz="2800" dirty="0">
                <a:latin typeface="+mj-lt"/>
              </a:rPr>
              <a:t> 2026</a:t>
            </a:r>
            <a:endParaRPr kumimoji="1" lang="ja-JP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0402-D722-33B4-64B0-730DAB45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Lớp String &amp; Các Phương Thức Phổ Biến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DDD31-F803-A514-5D31-549BE582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dirty="0"/>
              <a:t>Mục tiêu: </a:t>
            </a:r>
          </a:p>
          <a:p>
            <a:pPr lvl="1"/>
            <a:r>
              <a:rPr lang="ja-JP" altLang="ja-JP" dirty="0"/>
              <a:t>Biết cách khai báo, khởi tạo và sử dụng các phương thức thông dụng của String. (kiểu dữ liệu được dùng nhiều nhất)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07890-45C3-F9C2-435D-D89F378039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3256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70B5-BCA9-CBF1-649E-140CF5D2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String (chuỗi)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FDCD9-8893-292F-55D4-47667825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ja-JP" b="1" dirty="0"/>
              <a:t>Cách khai báo:</a:t>
            </a:r>
            <a:endParaRPr lang="ja-JP" altLang="ja-JP" dirty="0"/>
          </a:p>
          <a:p>
            <a:pPr lvl="1"/>
            <a:r>
              <a:rPr lang="ja-JP" altLang="ja-JP" dirty="0"/>
              <a:t>String s1 = "Java";</a:t>
            </a:r>
          </a:p>
          <a:p>
            <a:pPr lvl="1"/>
            <a:r>
              <a:rPr lang="ja-JP" altLang="ja-JP" dirty="0"/>
              <a:t>String s2 = new String(“</a:t>
            </a:r>
            <a:r>
              <a:rPr lang="en-US" altLang="ja-JP" dirty="0"/>
              <a:t>Java</a:t>
            </a:r>
            <a:r>
              <a:rPr lang="ja-JP" altLang="ja-JP" dirty="0"/>
              <a:t>");</a:t>
            </a:r>
          </a:p>
          <a:p>
            <a:r>
              <a:rPr kumimoji="1" lang="vi-VN" altLang="ja-JP" dirty="0"/>
              <a:t>Các phương thức thường dùng:</a:t>
            </a:r>
          </a:p>
          <a:p>
            <a:pPr lvl="1"/>
            <a:r>
              <a:rPr kumimoji="1" lang="vi-VN" altLang="ja-JP" dirty="0"/>
              <a:t>length()	</a:t>
            </a:r>
            <a:r>
              <a:rPr kumimoji="1" lang="vi-VN" altLang="ja-JP" i="1" dirty="0"/>
              <a:t>Độ dài chuỗi</a:t>
            </a:r>
          </a:p>
          <a:p>
            <a:pPr lvl="1"/>
            <a:r>
              <a:rPr kumimoji="1" lang="vi-VN" altLang="ja-JP" dirty="0"/>
              <a:t>charAt(int)	</a:t>
            </a:r>
            <a:r>
              <a:rPr kumimoji="1" lang="vi-VN" altLang="ja-JP" i="1" dirty="0"/>
              <a:t>Lấy ký tự tại vị trí</a:t>
            </a:r>
          </a:p>
          <a:p>
            <a:pPr lvl="1"/>
            <a:r>
              <a:rPr kumimoji="1" lang="vi-VN" altLang="ja-JP" dirty="0"/>
              <a:t>substring(start, end)	</a:t>
            </a:r>
            <a:r>
              <a:rPr kumimoji="1" lang="vi-VN" altLang="ja-JP" i="1" dirty="0"/>
              <a:t>Cắt chuỗi con</a:t>
            </a:r>
          </a:p>
          <a:p>
            <a:pPr lvl="1"/>
            <a:r>
              <a:rPr kumimoji="1" lang="vi-VN" altLang="ja-JP" dirty="0"/>
              <a:t>indexOf(String)	</a:t>
            </a:r>
            <a:r>
              <a:rPr kumimoji="1" lang="vi-VN" altLang="ja-JP" i="1" dirty="0"/>
              <a:t>Tìm vị trí ký tự/chuỗi</a:t>
            </a:r>
          </a:p>
          <a:p>
            <a:pPr lvl="1"/>
            <a:r>
              <a:rPr kumimoji="1" lang="vi-VN" altLang="ja-JP" dirty="0"/>
              <a:t>toUpperCase()	 </a:t>
            </a:r>
            <a:r>
              <a:rPr kumimoji="1" lang="vi-VN" altLang="ja-JP" i="1" dirty="0"/>
              <a:t>Chuyển thành chữ in hoa</a:t>
            </a:r>
          </a:p>
          <a:p>
            <a:pPr lvl="1"/>
            <a:r>
              <a:rPr kumimoji="1" lang="vi-VN" altLang="ja-JP" dirty="0"/>
              <a:t>trim()	 </a:t>
            </a:r>
            <a:r>
              <a:rPr kumimoji="1" lang="vi-VN" altLang="ja-JP" i="1" dirty="0"/>
              <a:t>Xóa khoảng trắng đầu/cuối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23081-68B4-4118-CAF8-0190ED25B4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2497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6A81-3A04-08A2-1775-95243028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So sánh chuỗ</a:t>
            </a:r>
            <a:r>
              <a:rPr lang="en-US" altLang="ja-JP" dirty="0" err="1"/>
              <a:t>i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5709-A5CC-EB3C-216E-FAFB4B8B0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ja-JP" dirty="0"/>
              <a:t>Hiểu sự khác biệt giữa == và .equals() khi so sánh chuỗi.</a:t>
            </a:r>
          </a:p>
          <a:p>
            <a:pPr lvl="0"/>
            <a:r>
              <a:rPr lang="ja-JP" altLang="ja-JP" dirty="0"/>
              <a:t>Tránh lỗi phổ biến khi so sánh chuỗi bằng ==</a:t>
            </a:r>
            <a:endParaRPr lang="en-US" altLang="ja-JP" dirty="0"/>
          </a:p>
          <a:p>
            <a:pPr lvl="0"/>
            <a:endParaRPr lang="ja-JP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0CDCE-782D-8768-070A-3F0442C13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7139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54A8-CC90-51CD-14B0-C6741C703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So sánh địa chỉ (==)</a:t>
            </a:r>
            <a:r>
              <a:rPr lang="en-US" altLang="ja-JP" dirty="0"/>
              <a:t> </a:t>
            </a:r>
            <a:r>
              <a:rPr lang="en-US" altLang="ja-JP" dirty="0" err="1"/>
              <a:t>và</a:t>
            </a:r>
            <a:r>
              <a:rPr lang="en-US" altLang="ja-JP" dirty="0"/>
              <a:t> So </a:t>
            </a:r>
            <a:r>
              <a:rPr lang="en-US" altLang="ja-JP" dirty="0" err="1"/>
              <a:t>sánh</a:t>
            </a:r>
            <a:r>
              <a:rPr lang="en-US" altLang="ja-JP" dirty="0"/>
              <a:t> </a:t>
            </a:r>
            <a:r>
              <a:rPr lang="en-US" altLang="ja-JP" dirty="0" err="1"/>
              <a:t>nội</a:t>
            </a:r>
            <a:r>
              <a:rPr lang="en-US" altLang="ja-JP" dirty="0"/>
              <a:t> dung (equals)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266D5-2F16-24A8-3A6A-CFE454C7F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b="1" dirty="0"/>
              <a:t>Ví dụ:</a:t>
            </a:r>
            <a:endParaRPr lang="ja-JP" altLang="ja-JP" dirty="0"/>
          </a:p>
          <a:p>
            <a:pPr lvl="1"/>
            <a:r>
              <a:rPr lang="ja-JP" altLang="ja-JP" dirty="0"/>
              <a:t>String a = "hello";</a:t>
            </a:r>
          </a:p>
          <a:p>
            <a:pPr lvl="1"/>
            <a:r>
              <a:rPr lang="ja-JP" altLang="ja-JP" dirty="0"/>
              <a:t>String b = new String("hello");</a:t>
            </a:r>
            <a:endParaRPr lang="en-US" altLang="ja-JP" dirty="0"/>
          </a:p>
          <a:p>
            <a:r>
              <a:rPr lang="en-US" altLang="ja-JP" dirty="0"/>
              <a:t>So </a:t>
            </a:r>
            <a:r>
              <a:rPr lang="en-US" altLang="ja-JP" dirty="0" err="1"/>
              <a:t>sánh</a:t>
            </a:r>
            <a:r>
              <a:rPr lang="en-US" altLang="ja-JP" dirty="0"/>
              <a:t> </a:t>
            </a:r>
            <a:r>
              <a:rPr lang="en-US" altLang="ja-JP" dirty="0" err="1"/>
              <a:t>địa</a:t>
            </a:r>
            <a:r>
              <a:rPr lang="en-US" altLang="ja-JP" dirty="0"/>
              <a:t> </a:t>
            </a:r>
            <a:r>
              <a:rPr lang="en-US" altLang="ja-JP" dirty="0" err="1"/>
              <a:t>chỉ</a:t>
            </a:r>
            <a:r>
              <a:rPr lang="en-US" altLang="ja-JP" dirty="0"/>
              <a:t> (==)</a:t>
            </a:r>
            <a:endParaRPr lang="ja-JP" altLang="ja-JP" dirty="0"/>
          </a:p>
          <a:p>
            <a:pPr lvl="1"/>
            <a:r>
              <a:rPr lang="ja-JP" altLang="ja-JP" dirty="0"/>
              <a:t>System.out.println(a == b); </a:t>
            </a:r>
            <a:r>
              <a:rPr lang="en-US" altLang="ja-JP" dirty="0"/>
              <a:t>//F</a:t>
            </a:r>
            <a:r>
              <a:rPr kumimoji="1" lang="en-US" altLang="ja-JP" dirty="0">
                <a:sym typeface="Wingdings" panose="05000000000000000000" pitchFamily="2" charset="2"/>
              </a:rPr>
              <a:t>alse</a:t>
            </a:r>
          </a:p>
          <a:p>
            <a:r>
              <a:rPr lang="ja-JP" altLang="ja-JP" dirty="0"/>
              <a:t>So sánh nội dung (equals())</a:t>
            </a:r>
          </a:p>
          <a:p>
            <a:pPr lvl="1"/>
            <a:r>
              <a:rPr lang="ja-JP" altLang="ja-JP" dirty="0"/>
              <a:t>System.out.println(a.equals(b));  // </a:t>
            </a:r>
            <a:r>
              <a:rPr lang="en-US" altLang="ja-JP" dirty="0"/>
              <a:t>T</a:t>
            </a:r>
            <a:r>
              <a:rPr lang="ja-JP" altLang="ja-JP" dirty="0"/>
              <a:t>rue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>
                <a:sym typeface="Wingdings" panose="05000000000000000000" pitchFamily="2" charset="2"/>
              </a:rPr>
              <a:t> </a:t>
            </a:r>
            <a:r>
              <a:rPr lang="ja-JP" altLang="ja-JP" dirty="0"/>
              <a:t>So sánh chuỗi → luôn dùng .equals() để so sánh nội dung/giá trị</a:t>
            </a:r>
          </a:p>
          <a:p>
            <a:pPr marL="0" indent="0">
              <a:buNone/>
            </a:pPr>
            <a:endParaRPr kumimoji="1" lang="ja-JP" alt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C2CF0-D072-D2ED-981B-4304CDA51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037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0BB4-BC0F-92CA-8AA8-E6501033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Xử lý chuỗi hiệu quả với StringBuilder &amp; StringBuffer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85FE8-AAE5-F131-EB76-BAD261CD0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ja-JP" dirty="0"/>
              <a:t>String là immutable (Không thay đổi)</a:t>
            </a:r>
          </a:p>
          <a:p>
            <a:pPr lvl="1"/>
            <a:r>
              <a:rPr lang="ja-JP" altLang="ja-JP" b="1" dirty="0"/>
              <a:t>Trong Java, immutable nghĩa là không thể thay đổi sau khi được tạo ra.</a:t>
            </a:r>
            <a:endParaRPr lang="ja-JP" altLang="ja-JP" dirty="0"/>
          </a:p>
          <a:p>
            <a:r>
              <a:rPr lang="ja-JP" altLang="ja-JP" dirty="0"/>
              <a:t>Khi thay đổi chuỗi String, Java không chỉnh sửa nội dung gốc, mà tạo ra một đối tượng chuỗi mới.</a:t>
            </a:r>
          </a:p>
          <a:p>
            <a:pPr marL="0" indent="0">
              <a:buNone/>
            </a:pPr>
            <a:r>
              <a:rPr lang="ja-JP" altLang="ja-JP" b="1" dirty="0"/>
              <a:t>Ví dụ:</a:t>
            </a:r>
            <a:endParaRPr lang="ja-JP" altLang="ja-JP" dirty="0"/>
          </a:p>
          <a:p>
            <a:r>
              <a:rPr lang="ja-JP" altLang="ja-JP" dirty="0"/>
              <a:t>String s = "Hello";</a:t>
            </a:r>
          </a:p>
          <a:p>
            <a:r>
              <a:rPr lang="ja-JP" altLang="ja-JP" dirty="0"/>
              <a:t>s = s + " World";</a:t>
            </a:r>
          </a:p>
          <a:p>
            <a:r>
              <a:rPr lang="ja-JP" altLang="ja-JP" dirty="0"/>
              <a:t>System.out.println(s);  // Hello World</a:t>
            </a:r>
          </a:p>
          <a:p>
            <a:pPr marL="0" indent="0">
              <a:buNone/>
            </a:pPr>
            <a:r>
              <a:rPr lang="ja-JP" altLang="ja-JP" dirty="0"/>
              <a:t> </a:t>
            </a:r>
          </a:p>
          <a:p>
            <a:r>
              <a:rPr lang="en-US" altLang="ja-JP" b="1" dirty="0" err="1"/>
              <a:t>Giải</a:t>
            </a:r>
            <a:r>
              <a:rPr lang="en-US" altLang="ja-JP" b="1" dirty="0"/>
              <a:t> </a:t>
            </a:r>
            <a:r>
              <a:rPr lang="en-US" altLang="ja-JP" b="1" dirty="0" err="1"/>
              <a:t>thích</a:t>
            </a:r>
            <a:r>
              <a:rPr lang="en-US" altLang="ja-JP" b="1" dirty="0"/>
              <a:t>: </a:t>
            </a:r>
            <a:endParaRPr lang="ja-JP" altLang="ja-JP" dirty="0"/>
          </a:p>
          <a:p>
            <a:r>
              <a:rPr lang="ja-JP" altLang="ja-JP" dirty="0"/>
              <a:t>Ban đầu s tham chiếu đến chuỗi "Hello". </a:t>
            </a:r>
          </a:p>
          <a:p>
            <a:pPr lvl="0"/>
            <a:r>
              <a:rPr lang="ja-JP" altLang="ja-JP" dirty="0"/>
              <a:t>Khi nối " World" bằng s + " World", Java tạo một đối tượng chuỗi mới chứa "Hello World". </a:t>
            </a:r>
          </a:p>
          <a:p>
            <a:pPr lvl="0"/>
            <a:r>
              <a:rPr lang="ja-JP" altLang="ja-JP" dirty="0"/>
              <a:t>Biến s không thay đổi nội dung cũ, mà trỏ sang đối tượng mới.</a:t>
            </a:r>
            <a:endParaRPr lang="en-US" altLang="ja-JP" dirty="0"/>
          </a:p>
          <a:p>
            <a:pPr lvl="0"/>
            <a:r>
              <a:rPr lang="ja-JP" altLang="ja-JP" dirty="0"/>
              <a:t>Đối tượng "Hello" vẫn tồn tại trong bộ nhớ (chờ GC thu dọn)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2053-8200-4DA8-09A9-7BE82A5888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411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05BA-2A93-3300-387F-DACFE943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b="1" dirty="0"/>
              <a:t>D</a:t>
            </a:r>
            <a:r>
              <a:rPr lang="ja-JP" altLang="ja-JP" b="1" dirty="0"/>
              <a:t>ùng String trong vòng lặp nối chuỗi: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413F7-716E-D8D8-009E-23A71C98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 err="1"/>
              <a:t>Ví</a:t>
            </a:r>
            <a:r>
              <a:rPr lang="en-US" altLang="ja-JP" dirty="0"/>
              <a:t> </a:t>
            </a:r>
            <a:r>
              <a:rPr lang="en-US" altLang="ja-JP" dirty="0" err="1"/>
              <a:t>dụ</a:t>
            </a:r>
            <a:r>
              <a:rPr lang="en-US" altLang="ja-JP" dirty="0"/>
              <a:t>:</a:t>
            </a:r>
          </a:p>
          <a:p>
            <a:pPr marL="0" indent="0">
              <a:buNone/>
            </a:pPr>
            <a:r>
              <a:rPr lang="ja-JP" altLang="ja-JP" i="1" dirty="0"/>
              <a:t>String result = "";</a:t>
            </a:r>
          </a:p>
          <a:p>
            <a:pPr marL="0" indent="0">
              <a:buNone/>
            </a:pPr>
            <a:r>
              <a:rPr lang="ja-JP" altLang="ja-JP" i="1" dirty="0"/>
              <a:t>for (int i = 0; i &lt; 1000; i++) {</a:t>
            </a:r>
          </a:p>
          <a:p>
            <a:pPr marL="0" indent="0">
              <a:buNone/>
            </a:pPr>
            <a:r>
              <a:rPr lang="en-US" altLang="ja-JP" i="1" dirty="0"/>
              <a:t>	</a:t>
            </a:r>
            <a:r>
              <a:rPr lang="ja-JP" altLang="ja-JP" i="1" dirty="0"/>
              <a:t>result = result + i;  </a:t>
            </a:r>
          </a:p>
          <a:p>
            <a:pPr marL="0" indent="0">
              <a:buNone/>
            </a:pPr>
            <a:r>
              <a:rPr lang="ja-JP" altLang="ja-JP" i="1" dirty="0"/>
              <a:t>}</a:t>
            </a:r>
            <a:endParaRPr lang="en-US" altLang="ja-JP" i="1" dirty="0"/>
          </a:p>
          <a:p>
            <a:pPr marL="0" indent="0">
              <a:buNone/>
            </a:pPr>
            <a:r>
              <a:rPr lang="en-US" altLang="ja-JP" dirty="0">
                <a:sym typeface="Wingdings" panose="05000000000000000000" pitchFamily="2" charset="2"/>
              </a:rPr>
              <a:t></a:t>
            </a:r>
            <a:r>
              <a:rPr lang="ja-JP" altLang="ja-JP" dirty="0"/>
              <a:t>mỗi lần + tạo một đối tượng mới</a:t>
            </a:r>
            <a:r>
              <a:rPr lang="en-US" altLang="ja-JP" dirty="0"/>
              <a:t>, </a:t>
            </a:r>
          </a:p>
          <a:p>
            <a:pPr marL="0" indent="0">
              <a:buNone/>
            </a:pPr>
            <a:r>
              <a:rPr lang="en-US" altLang="ja-JP" dirty="0">
                <a:sym typeface="Wingdings" panose="05000000000000000000" pitchFamily="2" charset="2"/>
              </a:rPr>
              <a:t></a:t>
            </a:r>
            <a:r>
              <a:rPr lang="en-US" altLang="ja-JP" dirty="0"/>
              <a:t>v</a:t>
            </a:r>
            <a:r>
              <a:rPr lang="ja-JP" altLang="ja-JP" dirty="0"/>
              <a:t>ới 1000 vòng lặp Java tạo ra hàng trăm đối tượng String mới 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>
                <a:sym typeface="Wingdings" panose="05000000000000000000" pitchFamily="2" charset="2"/>
              </a:rPr>
              <a:t> </a:t>
            </a:r>
            <a:r>
              <a:rPr lang="ja-JP" altLang="ja-JP" dirty="0"/>
              <a:t>tốn RAM và </a:t>
            </a:r>
            <a:r>
              <a:rPr lang="en-US" altLang="ja-JP" dirty="0" err="1"/>
              <a:t>gây</a:t>
            </a:r>
            <a:r>
              <a:rPr lang="en-US" altLang="ja-JP" dirty="0"/>
              <a:t> </a:t>
            </a:r>
            <a:r>
              <a:rPr lang="en-US" altLang="ja-JP" dirty="0" err="1"/>
              <a:t>ra</a:t>
            </a:r>
            <a:r>
              <a:rPr lang="en-US" altLang="ja-JP" dirty="0"/>
              <a:t> </a:t>
            </a:r>
            <a:r>
              <a:rPr lang="en-US" altLang="ja-JP" dirty="0" err="1"/>
              <a:t>chương</a:t>
            </a:r>
            <a:r>
              <a:rPr lang="en-US" altLang="ja-JP" dirty="0"/>
              <a:t> </a:t>
            </a:r>
            <a:r>
              <a:rPr lang="en-US" altLang="ja-JP" dirty="0" err="1"/>
              <a:t>trình</a:t>
            </a:r>
            <a:r>
              <a:rPr lang="en-US" altLang="ja-JP" dirty="0"/>
              <a:t> </a:t>
            </a:r>
            <a:r>
              <a:rPr lang="ja-JP" altLang="ja-JP" dirty="0"/>
              <a:t>chậm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287E3-ED47-AA48-B4C6-E3E1789470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136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E5CC-D156-B68B-ECF1-33C48E26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StringBuild</a:t>
            </a:r>
            <a:r>
              <a:rPr lang="ja-JP" altLang="ja-JP"/>
              <a:t>er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2581B-2C73-B99B-58E2-7BE00870E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ja-JP" dirty="0"/>
              <a:t>Cả hai đều là lớp hỗ trợ thao tác với chuỗi có thể thay đổi (mutable), nhằm giải quyết hạn chế của lớp String (immutable).</a:t>
            </a:r>
          </a:p>
          <a:p>
            <a:r>
              <a:rPr lang="ja-JP" altLang="ja-JP" dirty="0"/>
              <a:t>Nên dùng khi:</a:t>
            </a:r>
          </a:p>
          <a:p>
            <a:pPr lvl="0"/>
            <a:r>
              <a:rPr lang="ja-JP" altLang="ja-JP" dirty="0"/>
              <a:t>Bạn cần </a:t>
            </a:r>
            <a:r>
              <a:rPr lang="ja-JP" altLang="ja-JP" b="1" dirty="0"/>
              <a:t>nối chuỗi nhiều lần</a:t>
            </a:r>
            <a:r>
              <a:rPr lang="ja-JP" altLang="ja-JP" dirty="0"/>
              <a:t> (trong vòng lặp, xử lý văn bản).</a:t>
            </a:r>
          </a:p>
          <a:p>
            <a:pPr lvl="0"/>
            <a:r>
              <a:rPr lang="ja-JP" altLang="ja-JP" dirty="0"/>
              <a:t>Muốn tăng hiệu suất và </a:t>
            </a:r>
            <a:r>
              <a:rPr lang="ja-JP" altLang="ja-JP" b="1" dirty="0"/>
              <a:t>tiết kiệm bộ nhớ</a:t>
            </a:r>
            <a:r>
              <a:rPr lang="ja-JP" altLang="ja-JP" dirty="0"/>
              <a:t> hơn so với dùng String. </a:t>
            </a:r>
          </a:p>
          <a:p>
            <a:r>
              <a:rPr lang="ja-JP" altLang="ja-JP" dirty="0"/>
              <a:t>StringBuilder sb = new StringBuilder("Hello");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9C13C-18BD-1084-A93A-172BAD8E90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197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ADB7-0D11-4253-9B71-544E7403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ja-JP" altLang="ja-JP" b="1" dirty="0">
                <a:latin typeface="Arial" panose="020B0604020202020204" pitchFamily="34" charset="0"/>
                <a:ea typeface="Andika"/>
                <a:cs typeface="Andika"/>
              </a:rPr>
              <a:t>Các phương thức thường dùng:</a:t>
            </a:r>
            <a:endParaRPr kumimoji="1" lang="ja-JP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4F3A90-3B4E-AA50-25BC-60FF42AC7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198115"/>
              </p:ext>
            </p:extLst>
          </p:nvPr>
        </p:nvGraphicFramePr>
        <p:xfrm>
          <a:off x="533400" y="1470766"/>
          <a:ext cx="8915400" cy="218683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36883177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05870318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65926868"/>
                    </a:ext>
                  </a:extLst>
                </a:gridCol>
              </a:tblGrid>
              <a:tr h="3644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ja-JP" sz="1200" b="1" kern="100" dirty="0">
                          <a:effectLst/>
                        </a:rPr>
                        <a:t>Phương thức</a:t>
                      </a:r>
                      <a:endParaRPr lang="ja-JP" sz="1100" b="1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ja-JP" sz="1200" b="1" kern="100">
                          <a:effectLst/>
                        </a:rPr>
                        <a:t> Mô tả </a:t>
                      </a:r>
                      <a:endParaRPr lang="ja-JP" sz="1100" b="1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ja-JP" sz="1200" b="1" kern="100" dirty="0">
                          <a:effectLst/>
                        </a:rPr>
                        <a:t>Ví dụ</a:t>
                      </a:r>
                      <a:endParaRPr lang="ja-JP" sz="1100" b="1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161794"/>
                  </a:ext>
                </a:extLst>
              </a:tr>
              <a:tr h="364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 dirty="0">
                          <a:effectLst/>
                        </a:rPr>
                        <a:t>append(String)</a:t>
                      </a:r>
                      <a:endParaRPr lang="ja-JP" sz="1100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Nối thêm vào cuối chuỗi 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sb.append("abc")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4190079"/>
                  </a:ext>
                </a:extLst>
              </a:tr>
              <a:tr h="364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 dirty="0">
                          <a:effectLst/>
                        </a:rPr>
                        <a:t>insert(int, String)</a:t>
                      </a:r>
                      <a:endParaRPr lang="ja-JP" sz="1100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 Chèn chuỗi tại vị trí chỉ định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sb.insert(0, "&gt;&gt;&gt; ")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5460310"/>
                  </a:ext>
                </a:extLst>
              </a:tr>
              <a:tr h="364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 dirty="0">
                          <a:effectLst/>
                        </a:rPr>
                        <a:t>delete(start, end)</a:t>
                      </a:r>
                      <a:endParaRPr lang="ja-JP" sz="1100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 Xóa chuỗi con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sb.delete(2, 4)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6292980"/>
                  </a:ext>
                </a:extLst>
              </a:tr>
              <a:tr h="364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 dirty="0">
                          <a:effectLst/>
                        </a:rPr>
                        <a:t>replace(start, end, str)</a:t>
                      </a:r>
                      <a:endParaRPr lang="ja-JP" sz="1100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 Thay thế chuỗi con 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sb.replace(0, 4, "Hi")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5273148"/>
                  </a:ext>
                </a:extLst>
              </a:tr>
              <a:tr h="3644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reverse()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>
                          <a:effectLst/>
                        </a:rPr>
                        <a:t> Đảo ngược chuỗi  </a:t>
                      </a:r>
                      <a:endParaRPr lang="ja-JP" sz="1100" kern="10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ja-JP" sz="1200" kern="100" dirty="0">
                          <a:effectLst/>
                        </a:rPr>
                        <a:t>sb.reverse()</a:t>
                      </a:r>
                      <a:endParaRPr lang="ja-JP" sz="1100" kern="1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7558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96CCD-305B-84F7-DF66-E6D9CCF81D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DB85F-21D1-65A8-64DD-026C30A9E0A9}"/>
              </a:ext>
            </a:extLst>
          </p:cNvPr>
          <p:cNvSpPr txBox="1"/>
          <p:nvPr/>
        </p:nvSpPr>
        <p:spPr>
          <a:xfrm>
            <a:off x="457200" y="1025871"/>
            <a:ext cx="59436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ja-JP" altLang="ja-JP" dirty="0">
              <a:effectLst/>
              <a:latin typeface="Arial" panose="020B0604020202020204" pitchFamily="34" charset="0"/>
              <a:ea typeface="游明朝" panose="02020400000000000000" pitchFamily="18" charset="-12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019375-80D3-8DA0-956D-6071F7F65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566762"/>
              </p:ext>
            </p:extLst>
          </p:nvPr>
        </p:nvGraphicFramePr>
        <p:xfrm>
          <a:off x="457200" y="3799891"/>
          <a:ext cx="8991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4119211718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1742713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// Dùng String (chậm)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 s = "";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for (int i = 0; i &lt; 10000; i++) {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   s = s + i;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} 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// Dùng StringBuilder (nhanh)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StringBuilder sb = new StringBuilder();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for (int i = 0; i &lt; 10000; i++) {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   sb.append(i);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ja-JP" altLang="ja-JP" sz="18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}</a:t>
                      </a:r>
                      <a:endParaRPr lang="ja-JP" altLang="ja-JP" sz="1600" dirty="0">
                        <a:effectLst/>
                        <a:latin typeface="Arial" panose="020B0604020202020204" pitchFamily="34" charset="0"/>
                        <a:ea typeface="游明朝" panose="02020400000000000000" pitchFamily="18" charset="-128"/>
                      </a:endParaRP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1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90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EC49-14F9-7C5B-C51C-65CB6C44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0B77-6AD0-368D-8EB2-F5471FEC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2EA56-7375-A1D0-3AD4-CE7697A6BF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0440102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24067</TotalTime>
  <Words>1982</Words>
  <Application>Microsoft Office PowerPoint</Application>
  <PresentationFormat>A4 Paper (210x297 mm)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HG丸ｺﾞｼｯｸM-PRO</vt:lpstr>
      <vt:lpstr>Meiryo UI</vt:lpstr>
      <vt:lpstr>ＭＳ Ｐゴシック</vt:lpstr>
      <vt:lpstr>ADLaM Display</vt:lpstr>
      <vt:lpstr>Arial</vt:lpstr>
      <vt:lpstr>Segoe Script</vt:lpstr>
      <vt:lpstr>Times New Roman</vt:lpstr>
      <vt:lpstr>Wingdings</vt:lpstr>
      <vt:lpstr>標準デザイン</vt:lpstr>
      <vt:lpstr>デザインの設定</vt:lpstr>
      <vt:lpstr>Java Programming  </vt:lpstr>
      <vt:lpstr>Lớp String &amp; Các Phương Thức Phổ Biến</vt:lpstr>
      <vt:lpstr>String (chuỗi)</vt:lpstr>
      <vt:lpstr>So sánh chuỗi</vt:lpstr>
      <vt:lpstr>So sánh địa chỉ (==) và So sánh nội dung (equals)</vt:lpstr>
      <vt:lpstr>Xử lý chuỗi hiệu quả với StringBuilder &amp; StringBuffer</vt:lpstr>
      <vt:lpstr>Dùng String trong vòng lặp nối chuỗi:</vt:lpstr>
      <vt:lpstr>StringBuilder</vt:lpstr>
      <vt:lpstr>Các phương thức thường dùng: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Ngoc Khuong</cp:lastModifiedBy>
  <cp:revision>610</cp:revision>
  <cp:lastPrinted>2018-04-10T08:59:30Z</cp:lastPrinted>
  <dcterms:created xsi:type="dcterms:W3CDTF">2025-05-21T02:38:07Z</dcterms:created>
  <dcterms:modified xsi:type="dcterms:W3CDTF">2026-08-07T07:54:01Z</dcterms:modified>
</cp:coreProperties>
</file>