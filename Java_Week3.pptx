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796" r:id="rId2"/>
  </p:sldMasterIdLst>
  <p:notesMasterIdLst>
    <p:notesMasterId r:id="rId12"/>
  </p:notesMasterIdLst>
  <p:handoutMasterIdLst>
    <p:handoutMasterId r:id="rId13"/>
  </p:handoutMasterIdLst>
  <p:sldIdLst>
    <p:sldId id="689" r:id="rId3"/>
    <p:sldId id="690" r:id="rId4"/>
    <p:sldId id="691" r:id="rId5"/>
    <p:sldId id="692" r:id="rId6"/>
    <p:sldId id="693" r:id="rId7"/>
    <p:sldId id="694" r:id="rId8"/>
    <p:sldId id="695" r:id="rId9"/>
    <p:sldId id="696" r:id="rId10"/>
    <p:sldId id="697" r:id="rId11"/>
  </p:sldIdLst>
  <p:sldSz cx="9906000" cy="6858000" type="A4"/>
  <p:notesSz cx="7104063" cy="102346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5pPr>
    <a:lvl6pPr marL="22860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6pPr>
    <a:lvl7pPr marL="27432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7pPr>
    <a:lvl8pPr marL="32004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8pPr>
    <a:lvl9pPr marL="36576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6239">
          <p15:clr>
            <a:srgbClr val="A4A3A4"/>
          </p15:clr>
        </p15:guide>
        <p15:guide id="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ABA46"/>
    <a:srgbClr val="0000CC"/>
    <a:srgbClr val="5B9BD5"/>
    <a:srgbClr val="FF0000"/>
    <a:srgbClr val="FF00FF"/>
    <a:srgbClr val="70AD47"/>
    <a:srgbClr val="4BC174"/>
    <a:srgbClr val="50C8A7"/>
    <a:srgbClr val="55C3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淡色スタイル 3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淡色スタイル 3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247" autoAdjust="0"/>
  </p:normalViewPr>
  <p:slideViewPr>
    <p:cSldViewPr>
      <p:cViewPr varScale="1">
        <p:scale>
          <a:sx n="106" d="100"/>
          <a:sy n="106" d="100"/>
        </p:scale>
        <p:origin x="1548" y="120"/>
      </p:cViewPr>
      <p:guideLst>
        <p:guide orient="horz"/>
        <p:guide pos="6239"/>
        <p:guide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50" d="100"/>
        <a:sy n="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2DB899A6-A9CA-4711-9723-BA912D00FE9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4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1651D3A0-D571-4358-8785-1088F76D9B2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618" y="4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r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6" name="Rectangle 4">
            <a:extLst>
              <a:ext uri="{FF2B5EF4-FFF2-40B4-BE49-F238E27FC236}">
                <a16:creationId xmlns:a16="http://schemas.microsoft.com/office/drawing/2014/main" id="{19D7232F-6855-4919-8F75-B7A75D70C85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723842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7" name="Rectangle 5">
            <a:extLst>
              <a:ext uri="{FF2B5EF4-FFF2-40B4-BE49-F238E27FC236}">
                <a16:creationId xmlns:a16="http://schemas.microsoft.com/office/drawing/2014/main" id="{4427D1B6-1508-4EFB-B526-79F7F58444C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618" y="9723842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r" defTabSz="987824" eaLnBrk="1" hangingPunct="1">
              <a:defRPr sz="1300" b="0">
                <a:latin typeface="Times New Roman" panose="02020603050405020304" pitchFamily="18" charset="0"/>
                <a:ea typeface="ＭＳ Ｐゴシック" panose="020B0600070205080204" pitchFamily="50" charset="-128"/>
              </a:defRPr>
            </a:lvl1pPr>
          </a:lstStyle>
          <a:p>
            <a:pPr>
              <a:defRPr/>
            </a:pPr>
            <a:fld id="{ABF23BBB-24A2-4FB1-97AA-82B17F20F696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166555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31E1D87D-A0A0-44F6-BD18-1DA14110C53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5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38D8AEA5-A4A6-41CD-B14C-F3CD4220D027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05324" y="5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r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747BF16E-6815-4F62-A34F-5B22F844803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09625" y="811213"/>
            <a:ext cx="5516563" cy="38211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25" name="Rectangle 5">
            <a:extLst>
              <a:ext uri="{FF2B5EF4-FFF2-40B4-BE49-F238E27FC236}">
                <a16:creationId xmlns:a16="http://schemas.microsoft.com/office/drawing/2014/main" id="{009AFE73-A821-4ADE-B9D2-225F3B6F615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2689" y="4861922"/>
            <a:ext cx="5212595" cy="46327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 dirty="0"/>
              <a:t>マスタ テキストの書式設定</a:t>
            </a:r>
          </a:p>
          <a:p>
            <a:pPr lvl="1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81926" name="Rectangle 6">
            <a:extLst>
              <a:ext uri="{FF2B5EF4-FFF2-40B4-BE49-F238E27FC236}">
                <a16:creationId xmlns:a16="http://schemas.microsoft.com/office/drawing/2014/main" id="{62419E40-0084-4BCB-8A80-CBA337840ED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6227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1927" name="Rectangle 7">
            <a:extLst>
              <a:ext uri="{FF2B5EF4-FFF2-40B4-BE49-F238E27FC236}">
                <a16:creationId xmlns:a16="http://schemas.microsoft.com/office/drawing/2014/main" id="{95A1F3E7-6C28-42BC-9477-4EE05BC271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05324" y="9726227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r" defTabSz="987824" eaLnBrk="1" hangingPunct="1">
              <a:defRPr sz="1300" b="0">
                <a:latin typeface="Times New Roman" panose="02020603050405020304" pitchFamily="18" charset="0"/>
                <a:ea typeface="ＭＳ Ｐゴシック" panose="020B0600070205080204" pitchFamily="50" charset="-128"/>
              </a:defRPr>
            </a:lvl1pPr>
          </a:lstStyle>
          <a:p>
            <a:pPr>
              <a:defRPr/>
            </a:pPr>
            <a:fld id="{1B717ACA-5F59-481E-BAA1-3D2FC3B91B1D}" type="slidenum">
              <a:rPr lang="en-US" altLang="ja-JP" smtClean="0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94364830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D7BC4D0-5990-408E-A9D0-64C8BD64FB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01B671C-012F-4812-90DC-336A45C19F1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  <a:prstGeom prst="rect">
            <a:avLst/>
          </a:prstGeo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pPr>
              <a:defRPr/>
            </a:pP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60617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28464" y="1124744"/>
            <a:ext cx="9649072" cy="5328592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  <a:p>
            <a:pPr lvl="1"/>
            <a:r>
              <a:rPr lang="en-US" altLang="ja-JP" dirty="0"/>
              <a:t>Second level</a:t>
            </a:r>
          </a:p>
          <a:p>
            <a:pPr lvl="2"/>
            <a:r>
              <a:rPr lang="en-US" altLang="ja-JP" dirty="0"/>
              <a:t>Third level</a:t>
            </a:r>
          </a:p>
          <a:p>
            <a:pPr lvl="3"/>
            <a:r>
              <a:rPr lang="en-US" altLang="ja-JP" dirty="0"/>
              <a:t>Fourth level</a:t>
            </a:r>
          </a:p>
          <a:p>
            <a:pPr lvl="4"/>
            <a:r>
              <a:rPr lang="en-US" altLang="ja-JP" dirty="0"/>
              <a:t>Fifth level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541E8AE-EEDA-4D06-94E6-5202ED43BCB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9E0A51D-D496-408F-833D-161747C36C6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6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864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28464" y="1124744"/>
            <a:ext cx="9649072" cy="5328592"/>
          </a:xfrm>
          <a:prstGeom prst="rect">
            <a:avLst/>
          </a:prstGeom>
        </p:spPr>
        <p:txBody>
          <a:bodyPr/>
          <a:lstStyle>
            <a:lvl1pPr marL="360363" indent="-360363">
              <a:buFont typeface="+mj-lt"/>
              <a:buAutoNum type="arabicPeriod"/>
              <a:defRPr>
                <a:latin typeface="+mj-lt"/>
              </a:defRPr>
            </a:lvl1pPr>
            <a:lvl2pPr marL="803275" indent="-346075">
              <a:buFont typeface="+mj-lt"/>
              <a:buAutoNum type="alphaLcPeriod"/>
              <a:defRPr>
                <a:latin typeface="+mj-lt"/>
              </a:defRPr>
            </a:lvl2pPr>
            <a:lvl3pPr marL="1260475" indent="-346075">
              <a:buFont typeface="+mj-lt"/>
              <a:buAutoNum type="romanLcPeriod"/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  <a:p>
            <a:pPr lvl="1"/>
            <a:r>
              <a:rPr lang="en-US" altLang="ja-JP" dirty="0"/>
              <a:t>Second level</a:t>
            </a:r>
          </a:p>
          <a:p>
            <a:pPr lvl="2"/>
            <a:r>
              <a:rPr lang="en-US" altLang="ja-JP" dirty="0"/>
              <a:t>Third level</a:t>
            </a:r>
          </a:p>
          <a:p>
            <a:pPr lvl="3"/>
            <a:r>
              <a:rPr lang="en-US" altLang="ja-JP" dirty="0"/>
              <a:t>Fourth level</a:t>
            </a:r>
          </a:p>
          <a:p>
            <a:pPr lvl="4"/>
            <a:r>
              <a:rPr lang="en-US" altLang="ja-JP" dirty="0"/>
              <a:t>Fifth level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541E8AE-EEDA-4D06-94E6-5202ED43BCB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9E0A51D-D496-408F-833D-161747C36C6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6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9126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BFDD564-A74A-4C8F-9933-83C5535F43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3F1DDD9-12D1-479E-A469-4F7F1BA8EB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78981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1">
            <a:extLst>
              <a:ext uri="{FF2B5EF4-FFF2-40B4-BE49-F238E27FC236}">
                <a16:creationId xmlns:a16="http://schemas.microsoft.com/office/drawing/2014/main" id="{E1BEBA6E-D791-46C4-A7EB-608AC024D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4BCF5236-44D4-4877-AAFB-61FE62FD43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D636683-BFA6-4172-A561-0D16262C9F7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Page</a:t>
            </a:r>
            <a:r>
              <a:rPr lang="ja-JP" altLang="en-US"/>
              <a:t>　</a:t>
            </a:r>
            <a:r>
              <a:rPr lang="en-US" altLang="ja-JP"/>
              <a:t>:</a:t>
            </a:r>
            <a:r>
              <a:rPr lang="ja-JP" altLang="en-US"/>
              <a:t> </a:t>
            </a:r>
            <a:fld id="{8668C798-1731-4E4F-8BB5-E036A16CEAA1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721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068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912CAC3-7059-17D9-9C06-FBC6A511B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D65A-0EC1-4CBC-8539-F9FD2B92F981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00A99C7-B9EB-D161-7E0B-A97F487D0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B3AAF7-DB78-2248-5BC3-75E013149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F6F0A-8A1E-43EE-8FCD-0197D0B3E2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2414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sv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">
            <a:extLst>
              <a:ext uri="{FF2B5EF4-FFF2-40B4-BE49-F238E27FC236}">
                <a16:creationId xmlns:a16="http://schemas.microsoft.com/office/drawing/2014/main" id="{09F48CFF-9599-4AEA-9D93-57B5675EEE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6200" y="420688"/>
            <a:ext cx="975360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ja-JP" altLang="en-US" dirty="0"/>
              <a:t>マスタ</a:t>
            </a:r>
            <a:r>
              <a:rPr lang="en-US" altLang="ja-JP" dirty="0"/>
              <a:t> </a:t>
            </a:r>
            <a:r>
              <a:rPr lang="ja-JP" altLang="en-US" dirty="0"/>
              <a:t>タイトルの書式設定</a:t>
            </a:r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2F9F239E-C6DA-4D9A-8B7B-9954357B6D8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" y="1146175"/>
            <a:ext cx="9753600" cy="534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ja-JP" altLang="en-US" dirty="0"/>
              <a:t>マスタ</a:t>
            </a:r>
            <a:r>
              <a:rPr lang="en-US" altLang="ja-JP" dirty="0"/>
              <a:t> </a:t>
            </a:r>
            <a:r>
              <a:rPr lang="ja-JP" altLang="en-US" dirty="0"/>
              <a:t>テキストの書式設定</a:t>
            </a:r>
            <a:endParaRPr lang="en-US" altLang="ja-JP" dirty="0"/>
          </a:p>
          <a:p>
            <a:pPr lvl="1"/>
            <a:r>
              <a:rPr lang="ja-JP" altLang="en-US" dirty="0"/>
              <a:t>第</a:t>
            </a:r>
            <a:r>
              <a:rPr lang="en-US" altLang="ja-JP" dirty="0"/>
              <a:t> 2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2"/>
            <a:r>
              <a:rPr lang="ja-JP" altLang="en-US" dirty="0"/>
              <a:t>第</a:t>
            </a:r>
            <a:r>
              <a:rPr lang="en-US" altLang="ja-JP" dirty="0"/>
              <a:t> 3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3"/>
            <a:r>
              <a:rPr lang="ja-JP" altLang="en-US" dirty="0"/>
              <a:t>第</a:t>
            </a:r>
            <a:r>
              <a:rPr lang="en-US" altLang="ja-JP" dirty="0"/>
              <a:t> 4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4"/>
            <a:r>
              <a:rPr lang="ja-JP" altLang="en-US" dirty="0"/>
              <a:t>第</a:t>
            </a:r>
            <a:r>
              <a:rPr lang="en-US" altLang="ja-JP" dirty="0"/>
              <a:t> 5 </a:t>
            </a:r>
            <a:r>
              <a:rPr lang="ja-JP" altLang="en-US" dirty="0"/>
              <a:t>レベル</a:t>
            </a:r>
          </a:p>
        </p:txBody>
      </p:sp>
      <p:sp>
        <p:nvSpPr>
          <p:cNvPr id="30" name="Line 19">
            <a:extLst>
              <a:ext uri="{FF2B5EF4-FFF2-40B4-BE49-F238E27FC236}">
                <a16:creationId xmlns:a16="http://schemas.microsoft.com/office/drawing/2014/main" id="{27389893-5139-4F35-B647-26C2DFA202E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572250"/>
            <a:ext cx="9906000" cy="0"/>
          </a:xfrm>
          <a:prstGeom prst="line">
            <a:avLst/>
          </a:prstGeom>
          <a:noFill/>
          <a:ln w="28575">
            <a:solidFill>
              <a:srgbClr val="CC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  <p:sp>
        <p:nvSpPr>
          <p:cNvPr id="31" name="Line 20">
            <a:extLst>
              <a:ext uri="{FF2B5EF4-FFF2-40B4-BE49-F238E27FC236}">
                <a16:creationId xmlns:a16="http://schemas.microsoft.com/office/drawing/2014/main" id="{4EFAA79C-D564-49D1-89C5-53185EA011B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13525"/>
            <a:ext cx="9906000" cy="0"/>
          </a:xfrm>
          <a:prstGeom prst="line">
            <a:avLst/>
          </a:prstGeom>
          <a:noFill/>
          <a:ln w="19050">
            <a:solidFill>
              <a:srgbClr val="CC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  <p:sp>
        <p:nvSpPr>
          <p:cNvPr id="32" name="Text Box 21">
            <a:extLst>
              <a:ext uri="{FF2B5EF4-FFF2-40B4-BE49-F238E27FC236}">
                <a16:creationId xmlns:a16="http://schemas.microsoft.com/office/drawing/2014/main" id="{5275CC5B-9DD2-42FB-A12C-D10D6B34D5E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64238" y="6583363"/>
            <a:ext cx="38131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r>
              <a:rPr lang="it-IT" altLang="ja-JP" sz="1200" dirty="0"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ＭＳ Ｐゴシック" pitchFamily="50" charset="-128"/>
                <a:ea typeface="ＭＳ Ｐゴシック" pitchFamily="50" charset="-128"/>
              </a:rPr>
              <a:t>USOL VIETNAM Co., Ltd</a:t>
            </a:r>
            <a:endParaRPr lang="en-US" altLang="ja-JP" sz="1200" dirty="0">
              <a:solidFill>
                <a:schemeClr val="tx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ＭＳ Ｐゴシック" pitchFamily="50" charset="-128"/>
              <a:ea typeface="ＭＳ Ｐゴシック" pitchFamily="50" charset="-128"/>
            </a:endParaRPr>
          </a:p>
        </p:txBody>
      </p:sp>
      <p:pic>
        <p:nvPicPr>
          <p:cNvPr id="1033" name="Picture 1031" descr="LogoM">
            <a:extLst>
              <a:ext uri="{FF2B5EF4-FFF2-40B4-BE49-F238E27FC236}">
                <a16:creationId xmlns:a16="http://schemas.microsoft.com/office/drawing/2014/main" id="{7C426F0B-8E88-4132-B8AF-A9C57093698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638132"/>
            <a:ext cx="946054" cy="204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34" name="Group 7">
            <a:extLst>
              <a:ext uri="{FF2B5EF4-FFF2-40B4-BE49-F238E27FC236}">
                <a16:creationId xmlns:a16="http://schemas.microsoft.com/office/drawing/2014/main" id="{E3F0A595-BBE1-4B7A-B594-6A1BDB4CCD3F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-3175"/>
            <a:ext cx="9906000" cy="457200"/>
            <a:chOff x="480" y="0"/>
            <a:chExt cx="5280" cy="384"/>
          </a:xfrm>
        </p:grpSpPr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6AD08B79-E74D-46AD-935B-7885C39D329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480" y="288"/>
              <a:ext cx="5280" cy="96"/>
            </a:xfrm>
            <a:prstGeom prst="rect">
              <a:avLst/>
            </a:prstGeom>
            <a:gradFill flip="none" rotWithShape="1">
              <a:gsLst>
                <a:gs pos="0">
                  <a:srgbClr val="452D75">
                    <a:gamma/>
                    <a:tint val="0"/>
                    <a:invGamma/>
                  </a:srgbClr>
                </a:gs>
                <a:gs pos="100000">
                  <a:srgbClr val="FF9900"/>
                </a:gs>
              </a:gsLst>
              <a:lin ang="10800000" scaled="1"/>
              <a:tileRect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B33C69BC-68BD-4C29-97F4-36AE620BF0B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800" y="192"/>
              <a:ext cx="3960" cy="96"/>
            </a:xfrm>
            <a:prstGeom prst="rect">
              <a:avLst/>
            </a:prstGeom>
            <a:gradFill rotWithShape="0">
              <a:gsLst>
                <a:gs pos="0">
                  <a:srgbClr val="523991">
                    <a:gamma/>
                    <a:tint val="0"/>
                    <a:invGamma/>
                  </a:srgbClr>
                </a:gs>
                <a:gs pos="100000">
                  <a:srgbClr val="FFAA2D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39" name="Rectangle 10">
              <a:extLst>
                <a:ext uri="{FF2B5EF4-FFF2-40B4-BE49-F238E27FC236}">
                  <a16:creationId xmlns:a16="http://schemas.microsoft.com/office/drawing/2014/main" id="{19C90753-9F71-4E42-A751-DE765269983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120" y="96"/>
              <a:ext cx="2640" cy="96"/>
            </a:xfrm>
            <a:prstGeom prst="rect">
              <a:avLst/>
            </a:prstGeom>
            <a:gradFill rotWithShape="0">
              <a:gsLst>
                <a:gs pos="0">
                  <a:srgbClr val="452D75">
                    <a:gamma/>
                    <a:tint val="0"/>
                    <a:invGamma/>
                  </a:srgbClr>
                </a:gs>
                <a:gs pos="100000">
                  <a:srgbClr val="FFB547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40" name="Rectangle 11">
              <a:extLst>
                <a:ext uri="{FF2B5EF4-FFF2-40B4-BE49-F238E27FC236}">
                  <a16:creationId xmlns:a16="http://schemas.microsoft.com/office/drawing/2014/main" id="{2286BAA5-CD17-45D9-9AE7-385F7BC09B8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4440" y="0"/>
              <a:ext cx="1320" cy="96"/>
            </a:xfrm>
            <a:prstGeom prst="rect">
              <a:avLst/>
            </a:prstGeom>
            <a:gradFill rotWithShape="0">
              <a:gsLst>
                <a:gs pos="0">
                  <a:srgbClr val="523991">
                    <a:gamma/>
                    <a:tint val="0"/>
                    <a:invGamma/>
                  </a:srgbClr>
                </a:gs>
                <a:gs pos="100000">
                  <a:srgbClr val="FFC165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</p:grpSp>
      <p:sp>
        <p:nvSpPr>
          <p:cNvPr id="42" name="Text Box 22">
            <a:extLst>
              <a:ext uri="{FF2B5EF4-FFF2-40B4-BE49-F238E27FC236}">
                <a16:creationId xmlns:a16="http://schemas.microsoft.com/office/drawing/2014/main" id="{9779E748-DE2F-4EBB-B8A7-4682B42515B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053263" y="50800"/>
            <a:ext cx="313055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FFFFFF"/>
                    </a:gs>
                    <a:gs pos="100000">
                      <a:srgbClr val="0066FF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ja-JP" sz="2800" dirty="0" err="1">
                <a:solidFill>
                  <a:schemeClr val="tx1"/>
                </a:solidFill>
                <a:latin typeface="Segoe Script" pitchFamily="34" charset="0"/>
              </a:rPr>
              <a:t>Usol</a:t>
            </a:r>
            <a:r>
              <a:rPr lang="ja-JP" altLang="en-US" sz="2800" i="0" dirty="0">
                <a:solidFill>
                  <a:schemeClr val="tx1"/>
                </a:solidFill>
                <a:latin typeface="Segoe Script" pitchFamily="34" charset="0"/>
              </a:rPr>
              <a:t>   </a:t>
            </a:r>
            <a:r>
              <a:rPr lang="en-US" altLang="ja-JP" sz="2800" dirty="0" err="1">
                <a:latin typeface="Segoe Script" pitchFamily="34" charset="0"/>
              </a:rPr>
              <a:t>ietnam</a:t>
            </a:r>
            <a:endParaRPr lang="ja-JP" altLang="en-US" sz="2800" dirty="0">
              <a:latin typeface="Segoe Script" pitchFamily="34" charset="0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473BC66-2BE3-4BA7-9E94-658F932E5E73}"/>
              </a:ext>
            </a:extLst>
          </p:cNvPr>
          <p:cNvSpPr/>
          <p:nvPr userDrawn="1"/>
        </p:nvSpPr>
        <p:spPr>
          <a:xfrm>
            <a:off x="7953107" y="-179013"/>
            <a:ext cx="469156" cy="707886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defRPr/>
            </a:pPr>
            <a:r>
              <a:rPr lang="en-US" altLang="ja-JP" sz="4000" i="1" dirty="0">
                <a:ln w="19050">
                  <a:solidFill>
                    <a:schemeClr val="tx2">
                      <a:tint val="1000"/>
                    </a:schemeClr>
                  </a:solidFill>
                  <a:prstDash val="solid"/>
                </a:ln>
                <a:solidFill>
                  <a:schemeClr val="accent3"/>
                </a:solidFill>
                <a:effectLst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rPr>
              <a:t>V</a:t>
            </a:r>
            <a:endParaRPr lang="ja-JP" altLang="en-US" sz="4000" i="1" dirty="0">
              <a:ln w="19050">
                <a:solidFill>
                  <a:schemeClr val="tx2">
                    <a:tint val="1000"/>
                  </a:schemeClr>
                </a:solidFill>
                <a:prstDash val="solid"/>
              </a:ln>
              <a:solidFill>
                <a:schemeClr val="accent3"/>
              </a:solidFill>
              <a:effectLst>
                <a:outerShdw blurRad="50000" dist="50800" dir="7500000" algn="tl">
                  <a:srgbClr val="000000">
                    <a:shade val="5000"/>
                    <a:alpha val="35000"/>
                  </a:srgbClr>
                </a:outerShdw>
              </a:effectLst>
            </a:endParaRPr>
          </a:p>
        </p:txBody>
      </p:sp>
      <p:sp>
        <p:nvSpPr>
          <p:cNvPr id="35" name="Text Box 11">
            <a:extLst>
              <a:ext uri="{FF2B5EF4-FFF2-40B4-BE49-F238E27FC236}">
                <a16:creationId xmlns:a16="http://schemas.microsoft.com/office/drawing/2014/main" id="{1DC4ECF5-E62B-44AA-90DF-10764551D43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0800" y="44450"/>
            <a:ext cx="1492250" cy="327025"/>
          </a:xfrm>
          <a:prstGeom prst="rect">
            <a:avLst/>
          </a:prstGeom>
          <a:noFill/>
          <a:ln w="57150" cmpd="thinThick" algn="ctr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 marL="179388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ja-JP" sz="1800" i="0" dirty="0">
                <a:solidFill>
                  <a:srgbClr val="FF0000"/>
                </a:solidFill>
                <a:latin typeface="ＭＳ Ｐゴシック" pitchFamily="50" charset="-128"/>
                <a:ea typeface="ＭＳ Ｐゴシック" pitchFamily="50" charset="-128"/>
              </a:rPr>
              <a:t>Confidential</a:t>
            </a:r>
            <a:endParaRPr lang="en-US" sz="1800" i="0" dirty="0">
              <a:solidFill>
                <a:srgbClr val="FF0000"/>
              </a:solidFill>
              <a:latin typeface="ＭＳ Ｐゴシック" pitchFamily="50" charset="-128"/>
              <a:ea typeface="ＭＳ Ｐゴシック" pitchFamily="50" charset="-128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A04B0585-20B2-4596-93D7-54D1340E096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>
          <a:xfrm>
            <a:off x="3033266" y="6653213"/>
            <a:ext cx="2063750" cy="204787"/>
          </a:xfrm>
          <a:prstGeom prst="rect">
            <a:avLst/>
          </a:prstGeom>
        </p:spPr>
        <p:txBody>
          <a:bodyPr anchor="ctr"/>
          <a:lstStyle>
            <a:lvl1pPr>
              <a:defRPr sz="105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C5564842-B2E4-45CE-AB60-14A7558DAFA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5097463" y="6653213"/>
            <a:ext cx="2063750" cy="204787"/>
          </a:xfrm>
          <a:prstGeom prst="rect">
            <a:avLst/>
          </a:prstGeom>
        </p:spPr>
        <p:txBody>
          <a:bodyPr anchor="ctr"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</a:t>
            </a:r>
            <a:r>
              <a:rPr lang="ja-JP" altLang="en-US"/>
              <a:t>　</a:t>
            </a:r>
            <a:r>
              <a:rPr lang="en-US" altLang="ja-JP"/>
              <a:t>:</a:t>
            </a:r>
            <a:r>
              <a:rPr lang="ja-JP" altLang="en-US"/>
              <a:t> </a:t>
            </a:r>
            <a:fld id="{79353177-B86D-4022-983D-1132BA6711EB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21" name="BIPROGYロゴ">
            <a:extLst>
              <a:ext uri="{FF2B5EF4-FFF2-40B4-BE49-F238E27FC236}">
                <a16:creationId xmlns:a16="http://schemas.microsoft.com/office/drawing/2014/main" id="{3F93CD62-EE3C-4414-B5A1-AE038ED1351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3308" y="6590834"/>
            <a:ext cx="1692703" cy="29836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4" r:id="rId3"/>
    <p:sldLayoutId id="2147483792" r:id="rId4"/>
    <p:sldLayoutId id="2147483789" r:id="rId5"/>
    <p:sldLayoutId id="2147483793" r:id="rId6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44D352-923E-E6B6-4D8A-AB66C88B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C59BC7-F850-7C36-754E-E6369E518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6DDECD-4404-C7CD-5336-354F8B6492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0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4D65A-0EC1-4CBC-8539-F9FD2B92F981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90F2CC-709C-7ED4-7144-F5EFE9F78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0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AF8815-82A4-7D2E-5978-31B8771F5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0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9F6F0A-8A1E-43EE-8FCD-0197D0B3E2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9028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ADLaM Display" panose="02010000000000000000" pitchFamily="2" charset="0"/>
          <a:ea typeface="+mj-ea"/>
          <a:cs typeface="ADLaM Display" panose="0201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C61E3-7210-D801-C73E-18DF39FE6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7486650" cy="1470025"/>
          </a:xfrm>
        </p:spPr>
        <p:txBody>
          <a:bodyPr>
            <a:noAutofit/>
          </a:bodyPr>
          <a:lstStyle/>
          <a:p>
            <a:pPr algn="ctr" eaLnBrk="0" hangingPunct="0"/>
            <a:r>
              <a:rPr lang="en-US" altLang="ja-JP" dirty="0">
                <a:latin typeface="+mj-lt"/>
              </a:rPr>
              <a:t>Java Programming</a:t>
            </a:r>
            <a:br>
              <a:rPr lang="en-US" altLang="ja-JP" dirty="0">
                <a:latin typeface="+mj-lt"/>
              </a:rPr>
            </a:br>
            <a:br>
              <a:rPr lang="vi-VN" altLang="ja-JP" kern="1200" dirty="0">
                <a:latin typeface="+mj-lt"/>
              </a:rPr>
            </a:br>
            <a:endParaRPr kumimoji="1" lang="ja-JP" altLang="en-US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F8EF2-D090-2D87-3C30-91D44315D1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1027" y="4419600"/>
            <a:ext cx="6934200" cy="1752600"/>
          </a:xfrm>
        </p:spPr>
        <p:txBody>
          <a:bodyPr>
            <a:normAutofit/>
          </a:bodyPr>
          <a:lstStyle/>
          <a:p>
            <a:pPr algn="r"/>
            <a:endParaRPr kumimoji="1" lang="en-US" altLang="ja-JP" sz="2800" dirty="0">
              <a:latin typeface="+mj-lt"/>
            </a:endParaRPr>
          </a:p>
          <a:p>
            <a:pPr algn="r"/>
            <a:r>
              <a:rPr lang="en-US" altLang="ja-JP" sz="2800" dirty="0">
                <a:latin typeface="+mj-lt"/>
              </a:rPr>
              <a:t>Mai Ngọc </a:t>
            </a:r>
            <a:r>
              <a:rPr lang="en-US" altLang="ja-JP" sz="2800" dirty="0" err="1">
                <a:latin typeface="+mj-lt"/>
              </a:rPr>
              <a:t>Khương</a:t>
            </a:r>
            <a:endParaRPr lang="en-US" altLang="ja-JP" sz="2800" dirty="0">
              <a:latin typeface="+mj-lt"/>
            </a:endParaRPr>
          </a:p>
          <a:p>
            <a:pPr algn="r"/>
            <a:r>
              <a:rPr kumimoji="1" lang="en-US" altLang="ja-JP" sz="2800" dirty="0">
                <a:latin typeface="+mj-lt"/>
              </a:rPr>
              <a:t>H</a:t>
            </a:r>
            <a:r>
              <a:rPr lang="en-US" altLang="ja-JP" sz="2800" dirty="0">
                <a:latin typeface="+mj-lt"/>
              </a:rPr>
              <a:t>à </a:t>
            </a:r>
            <a:r>
              <a:rPr lang="en-US" altLang="ja-JP" sz="2800" dirty="0" err="1">
                <a:latin typeface="+mj-lt"/>
              </a:rPr>
              <a:t>nội</a:t>
            </a:r>
            <a:r>
              <a:rPr lang="en-US" altLang="ja-JP" sz="2800" dirty="0">
                <a:latin typeface="+mj-lt"/>
              </a:rPr>
              <a:t>, </a:t>
            </a:r>
            <a:r>
              <a:rPr lang="en-US" altLang="ja-JP" sz="2800" dirty="0" err="1">
                <a:latin typeface="+mj-lt"/>
              </a:rPr>
              <a:t>tháng</a:t>
            </a:r>
            <a:r>
              <a:rPr lang="en-US" altLang="ja-JP" sz="2800" dirty="0">
                <a:latin typeface="+mj-lt"/>
              </a:rPr>
              <a:t> 8 </a:t>
            </a:r>
            <a:r>
              <a:rPr lang="en-US" altLang="ja-JP" sz="2800" dirty="0" err="1">
                <a:latin typeface="+mj-lt"/>
              </a:rPr>
              <a:t>năm</a:t>
            </a:r>
            <a:r>
              <a:rPr lang="en-US" altLang="ja-JP" sz="2800" dirty="0">
                <a:latin typeface="+mj-lt"/>
              </a:rPr>
              <a:t> 2026</a:t>
            </a:r>
            <a:endParaRPr kumimoji="1" lang="ja-JP" alt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32930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50402-D722-33B4-64B0-730DAB452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Lớp String &amp; Các Phương Thức Phổ Biến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DDD31-F803-A514-5D31-549BE582F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ja-JP" dirty="0"/>
              <a:t>Mục tiêu: </a:t>
            </a:r>
          </a:p>
          <a:p>
            <a:pPr lvl="1"/>
            <a:r>
              <a:rPr lang="ja-JP" altLang="ja-JP" dirty="0"/>
              <a:t>Biết cách khai báo, khởi tạo và sử dụng các phương thức thông dụng của String. (kiểu dữ liệu được dùng nhiều nhất)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07890-45C3-F9C2-435D-D89F378039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132564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570B5-BCA9-CBF1-649E-140CF5D22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String (chuỗi)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FDCD9-8893-292F-55D4-476678253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ja-JP" b="1" dirty="0"/>
              <a:t>Cách khai báo:</a:t>
            </a:r>
            <a:endParaRPr lang="ja-JP" altLang="ja-JP" dirty="0"/>
          </a:p>
          <a:p>
            <a:pPr lvl="1"/>
            <a:r>
              <a:rPr lang="ja-JP" altLang="ja-JP" dirty="0"/>
              <a:t>String s1 = "Java";</a:t>
            </a:r>
          </a:p>
          <a:p>
            <a:pPr lvl="1"/>
            <a:r>
              <a:rPr lang="ja-JP" altLang="ja-JP" dirty="0"/>
              <a:t>String s2 = new String(“</a:t>
            </a:r>
            <a:r>
              <a:rPr lang="en-US" altLang="ja-JP" dirty="0"/>
              <a:t>Java</a:t>
            </a:r>
            <a:r>
              <a:rPr lang="ja-JP" altLang="ja-JP" dirty="0"/>
              <a:t>");</a:t>
            </a:r>
          </a:p>
          <a:p>
            <a:r>
              <a:rPr kumimoji="1" lang="vi-VN" altLang="ja-JP" dirty="0"/>
              <a:t>Các phương thức thường dùng:</a:t>
            </a:r>
          </a:p>
          <a:p>
            <a:pPr lvl="1"/>
            <a:r>
              <a:rPr kumimoji="1" lang="vi-VN" altLang="ja-JP" dirty="0"/>
              <a:t>length()	</a:t>
            </a:r>
            <a:r>
              <a:rPr kumimoji="1" lang="vi-VN" altLang="ja-JP" i="1" dirty="0"/>
              <a:t>Độ dài chuỗi</a:t>
            </a:r>
          </a:p>
          <a:p>
            <a:pPr lvl="1"/>
            <a:r>
              <a:rPr kumimoji="1" lang="vi-VN" altLang="ja-JP" dirty="0"/>
              <a:t>charAt(int)	</a:t>
            </a:r>
            <a:r>
              <a:rPr kumimoji="1" lang="vi-VN" altLang="ja-JP" i="1" dirty="0"/>
              <a:t>Lấy ký tự tại vị trí</a:t>
            </a:r>
          </a:p>
          <a:p>
            <a:pPr lvl="1"/>
            <a:r>
              <a:rPr kumimoji="1" lang="vi-VN" altLang="ja-JP" dirty="0"/>
              <a:t>substring(start, end)	</a:t>
            </a:r>
            <a:r>
              <a:rPr kumimoji="1" lang="vi-VN" altLang="ja-JP" i="1" dirty="0"/>
              <a:t>Cắt chuỗi con</a:t>
            </a:r>
          </a:p>
          <a:p>
            <a:pPr lvl="1"/>
            <a:r>
              <a:rPr kumimoji="1" lang="vi-VN" altLang="ja-JP" dirty="0"/>
              <a:t>indexOf(String)	</a:t>
            </a:r>
            <a:r>
              <a:rPr kumimoji="1" lang="vi-VN" altLang="ja-JP" i="1" dirty="0"/>
              <a:t>Tìm vị trí ký tự/chuỗi</a:t>
            </a:r>
          </a:p>
          <a:p>
            <a:pPr lvl="1"/>
            <a:r>
              <a:rPr kumimoji="1" lang="vi-VN" altLang="ja-JP" dirty="0"/>
              <a:t>toUpperCase()	 </a:t>
            </a:r>
            <a:r>
              <a:rPr kumimoji="1" lang="vi-VN" altLang="ja-JP" i="1" dirty="0"/>
              <a:t>Chuyển thành chữ in hoa</a:t>
            </a:r>
          </a:p>
          <a:p>
            <a:pPr lvl="1"/>
            <a:r>
              <a:rPr kumimoji="1" lang="vi-VN" altLang="ja-JP" dirty="0"/>
              <a:t>trim()	 </a:t>
            </a:r>
            <a:r>
              <a:rPr kumimoji="1" lang="vi-VN" altLang="ja-JP" i="1" dirty="0"/>
              <a:t>Xóa khoảng trắng đầu/cuối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23081-68B4-4118-CAF8-0190ED25B4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82497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06A81-3A04-08A2-1775-952430287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So sánh chuỗ</a:t>
            </a:r>
            <a:r>
              <a:rPr lang="en-US" altLang="ja-JP" dirty="0" err="1"/>
              <a:t>i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D5709-A5CC-EB3C-216E-FAFB4B8B0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ja-JP" dirty="0"/>
              <a:t>Hiểu sự khác biệt giữa == và .equals() khi so sánh chuỗi.</a:t>
            </a:r>
          </a:p>
          <a:p>
            <a:pPr lvl="0"/>
            <a:r>
              <a:rPr lang="ja-JP" altLang="ja-JP" dirty="0"/>
              <a:t>Tránh lỗi phổ biến khi so sánh chuỗi bằng ==</a:t>
            </a:r>
            <a:endParaRPr lang="en-US" altLang="ja-JP" dirty="0"/>
          </a:p>
          <a:p>
            <a:pPr lvl="0"/>
            <a:endParaRPr lang="ja-JP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90CDCE-782D-8768-070A-3F0442C13A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71393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54A8-CC90-51CD-14B0-C6741C703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So sánh địa chỉ (==)</a:t>
            </a:r>
            <a:r>
              <a:rPr lang="en-US" altLang="ja-JP" dirty="0"/>
              <a:t> </a:t>
            </a:r>
            <a:r>
              <a:rPr lang="en-US" altLang="ja-JP" dirty="0" err="1"/>
              <a:t>và</a:t>
            </a:r>
            <a:r>
              <a:rPr lang="en-US" altLang="ja-JP" dirty="0"/>
              <a:t> So </a:t>
            </a:r>
            <a:r>
              <a:rPr lang="en-US" altLang="ja-JP" dirty="0" err="1"/>
              <a:t>sánh</a:t>
            </a:r>
            <a:r>
              <a:rPr lang="en-US" altLang="ja-JP" dirty="0"/>
              <a:t> </a:t>
            </a:r>
            <a:r>
              <a:rPr lang="en-US" altLang="ja-JP" dirty="0" err="1"/>
              <a:t>nội</a:t>
            </a:r>
            <a:r>
              <a:rPr lang="en-US" altLang="ja-JP" dirty="0"/>
              <a:t> dung (equals)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266D5-2F16-24A8-3A6A-CFE454C7F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ja-JP" b="1" dirty="0"/>
              <a:t>Ví dụ:</a:t>
            </a:r>
            <a:endParaRPr lang="ja-JP" altLang="ja-JP" dirty="0"/>
          </a:p>
          <a:p>
            <a:pPr lvl="1"/>
            <a:r>
              <a:rPr lang="ja-JP" altLang="ja-JP" dirty="0"/>
              <a:t>String a = "hello";</a:t>
            </a:r>
          </a:p>
          <a:p>
            <a:pPr lvl="1"/>
            <a:r>
              <a:rPr lang="ja-JP" altLang="ja-JP" dirty="0"/>
              <a:t>String b = new String("hello");</a:t>
            </a:r>
            <a:endParaRPr lang="en-US" altLang="ja-JP" dirty="0"/>
          </a:p>
          <a:p>
            <a:r>
              <a:rPr lang="en-US" altLang="ja-JP" dirty="0"/>
              <a:t>So </a:t>
            </a:r>
            <a:r>
              <a:rPr lang="en-US" altLang="ja-JP" dirty="0" err="1"/>
              <a:t>sánh</a:t>
            </a:r>
            <a:r>
              <a:rPr lang="en-US" altLang="ja-JP" dirty="0"/>
              <a:t> </a:t>
            </a:r>
            <a:r>
              <a:rPr lang="en-US" altLang="ja-JP" dirty="0" err="1"/>
              <a:t>địa</a:t>
            </a:r>
            <a:r>
              <a:rPr lang="en-US" altLang="ja-JP" dirty="0"/>
              <a:t> </a:t>
            </a:r>
            <a:r>
              <a:rPr lang="en-US" altLang="ja-JP" dirty="0" err="1"/>
              <a:t>chỉ</a:t>
            </a:r>
            <a:r>
              <a:rPr lang="en-US" altLang="ja-JP" dirty="0"/>
              <a:t> (==)</a:t>
            </a:r>
            <a:endParaRPr lang="ja-JP" altLang="ja-JP" dirty="0"/>
          </a:p>
          <a:p>
            <a:pPr lvl="1"/>
            <a:r>
              <a:rPr lang="ja-JP" altLang="ja-JP" dirty="0"/>
              <a:t>System.out.println(a == b); </a:t>
            </a:r>
            <a:r>
              <a:rPr lang="en-US" altLang="ja-JP" dirty="0"/>
              <a:t>//F</a:t>
            </a:r>
            <a:r>
              <a:rPr kumimoji="1" lang="en-US" altLang="ja-JP" dirty="0">
                <a:sym typeface="Wingdings" panose="05000000000000000000" pitchFamily="2" charset="2"/>
              </a:rPr>
              <a:t>alse</a:t>
            </a:r>
          </a:p>
          <a:p>
            <a:r>
              <a:rPr lang="ja-JP" altLang="ja-JP" dirty="0"/>
              <a:t>So sánh nội dung (equals())</a:t>
            </a:r>
          </a:p>
          <a:p>
            <a:pPr lvl="1"/>
            <a:r>
              <a:rPr lang="ja-JP" altLang="ja-JP" dirty="0"/>
              <a:t>System.out.println(a.equals(b));  // </a:t>
            </a:r>
            <a:r>
              <a:rPr lang="en-US" altLang="ja-JP" dirty="0"/>
              <a:t>T</a:t>
            </a:r>
            <a:r>
              <a:rPr lang="ja-JP" altLang="ja-JP" dirty="0"/>
              <a:t>rue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>
                <a:sym typeface="Wingdings" panose="05000000000000000000" pitchFamily="2" charset="2"/>
              </a:rPr>
              <a:t> </a:t>
            </a:r>
            <a:r>
              <a:rPr lang="ja-JP" altLang="ja-JP" dirty="0"/>
              <a:t>So sánh chuỗi → luôn dùng .equals() để so sánh nội dung/giá trị</a:t>
            </a:r>
          </a:p>
          <a:p>
            <a:pPr marL="0" indent="0">
              <a:buNone/>
            </a:pPr>
            <a:endParaRPr kumimoji="1" lang="ja-JP" alt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C2CF0-D072-D2ED-981B-4304CDA517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930376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A0BB4-BC0F-92CA-8AA8-E65010332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Xử lý chuỗi hiệu quả với StringBuilder &amp; StringBuffer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85FE8-AAE5-F131-EB76-BAD261CD0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ja-JP" altLang="ja-JP" dirty="0"/>
              <a:t>String là immutable (Không thay đổi)</a:t>
            </a:r>
          </a:p>
          <a:p>
            <a:pPr lvl="1"/>
            <a:r>
              <a:rPr lang="ja-JP" altLang="ja-JP" b="1" dirty="0"/>
              <a:t>Trong Java, immutable nghĩa là không thể thay đổi sau khi được tạo ra.</a:t>
            </a:r>
            <a:endParaRPr lang="ja-JP" altLang="ja-JP" dirty="0"/>
          </a:p>
          <a:p>
            <a:r>
              <a:rPr lang="ja-JP" altLang="ja-JP" dirty="0"/>
              <a:t>Khi thay đổi chuỗi String, Java không chỉnh sửa nội dung gốc, mà tạo ra một đối tượng chuỗi mới.</a:t>
            </a:r>
          </a:p>
          <a:p>
            <a:pPr marL="0" indent="0">
              <a:buNone/>
            </a:pPr>
            <a:r>
              <a:rPr lang="ja-JP" altLang="ja-JP" b="1" dirty="0"/>
              <a:t>Ví dụ:</a:t>
            </a:r>
            <a:endParaRPr lang="ja-JP" altLang="ja-JP" dirty="0"/>
          </a:p>
          <a:p>
            <a:r>
              <a:rPr lang="ja-JP" altLang="ja-JP" dirty="0"/>
              <a:t>String s = "Hello";</a:t>
            </a:r>
          </a:p>
          <a:p>
            <a:r>
              <a:rPr lang="ja-JP" altLang="ja-JP" dirty="0"/>
              <a:t>s = s + " World";</a:t>
            </a:r>
          </a:p>
          <a:p>
            <a:r>
              <a:rPr lang="ja-JP" altLang="ja-JP" dirty="0"/>
              <a:t>System.out.println(s);  // Hello World</a:t>
            </a:r>
          </a:p>
          <a:p>
            <a:pPr marL="0" indent="0">
              <a:buNone/>
            </a:pPr>
            <a:r>
              <a:rPr lang="ja-JP" altLang="ja-JP" dirty="0"/>
              <a:t> </a:t>
            </a:r>
          </a:p>
          <a:p>
            <a:r>
              <a:rPr lang="en-US" altLang="ja-JP" b="1" dirty="0" err="1"/>
              <a:t>Giải</a:t>
            </a:r>
            <a:r>
              <a:rPr lang="en-US" altLang="ja-JP" b="1" dirty="0"/>
              <a:t> </a:t>
            </a:r>
            <a:r>
              <a:rPr lang="en-US" altLang="ja-JP" b="1" dirty="0" err="1"/>
              <a:t>thích</a:t>
            </a:r>
            <a:r>
              <a:rPr lang="en-US" altLang="ja-JP" b="1" dirty="0"/>
              <a:t>: </a:t>
            </a:r>
            <a:endParaRPr lang="ja-JP" altLang="ja-JP" dirty="0"/>
          </a:p>
          <a:p>
            <a:r>
              <a:rPr lang="ja-JP" altLang="ja-JP" dirty="0"/>
              <a:t>Ban đầu s tham chiếu đến chuỗi "Hello". </a:t>
            </a:r>
          </a:p>
          <a:p>
            <a:pPr lvl="0"/>
            <a:r>
              <a:rPr lang="ja-JP" altLang="ja-JP" dirty="0"/>
              <a:t>Khi nối " World" bằng s + " World", Java tạo một đối tượng chuỗi mới chứa "Hello World". </a:t>
            </a:r>
          </a:p>
          <a:p>
            <a:pPr lvl="0"/>
            <a:r>
              <a:rPr lang="ja-JP" altLang="ja-JP" dirty="0"/>
              <a:t>Biến s không thay đổi nội dung cũ, mà trỏ sang đối tượng mới.</a:t>
            </a:r>
            <a:endParaRPr lang="en-US" altLang="ja-JP" dirty="0"/>
          </a:p>
          <a:p>
            <a:pPr lvl="0"/>
            <a:r>
              <a:rPr lang="ja-JP" altLang="ja-JP" dirty="0"/>
              <a:t>Đối tượng "Hello" vẫn tồn tại trong bộ nhớ (chờ GC thu dọn)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52053-8200-4DA8-09A9-7BE82A5888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34115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05BA-2A93-3300-387F-DACFE943A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b="1" dirty="0"/>
              <a:t>D</a:t>
            </a:r>
            <a:r>
              <a:rPr lang="ja-JP" altLang="ja-JP" b="1" dirty="0"/>
              <a:t>ùng String trong vòng lặp nối chuỗi: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413F7-716E-D8D8-009E-23A71C985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dirty="0" err="1"/>
              <a:t>Ví</a:t>
            </a:r>
            <a:r>
              <a:rPr lang="en-US" altLang="ja-JP" dirty="0"/>
              <a:t> </a:t>
            </a:r>
            <a:r>
              <a:rPr lang="en-US" altLang="ja-JP" dirty="0" err="1"/>
              <a:t>dụ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lang="ja-JP" altLang="ja-JP" i="1" dirty="0"/>
              <a:t>String result = "";</a:t>
            </a:r>
          </a:p>
          <a:p>
            <a:pPr marL="0" indent="0">
              <a:buNone/>
            </a:pPr>
            <a:r>
              <a:rPr lang="ja-JP" altLang="ja-JP" i="1" dirty="0"/>
              <a:t>for (int i = 0; i &lt; 1000; i++) {</a:t>
            </a:r>
          </a:p>
          <a:p>
            <a:pPr marL="0" indent="0">
              <a:buNone/>
            </a:pPr>
            <a:r>
              <a:rPr lang="en-US" altLang="ja-JP" i="1" dirty="0"/>
              <a:t>	</a:t>
            </a:r>
            <a:r>
              <a:rPr lang="ja-JP" altLang="ja-JP" i="1" dirty="0"/>
              <a:t>result = result + i;  </a:t>
            </a:r>
          </a:p>
          <a:p>
            <a:pPr marL="0" indent="0">
              <a:buNone/>
            </a:pPr>
            <a:r>
              <a:rPr lang="ja-JP" altLang="ja-JP" i="1" dirty="0"/>
              <a:t>}</a:t>
            </a:r>
            <a:endParaRPr lang="en-US" altLang="ja-JP" i="1" dirty="0"/>
          </a:p>
          <a:p>
            <a:pPr marL="0" indent="0">
              <a:buNone/>
            </a:pPr>
            <a:r>
              <a:rPr lang="en-US" altLang="ja-JP" dirty="0">
                <a:sym typeface="Wingdings" panose="05000000000000000000" pitchFamily="2" charset="2"/>
              </a:rPr>
              <a:t></a:t>
            </a:r>
            <a:r>
              <a:rPr lang="ja-JP" altLang="ja-JP" dirty="0"/>
              <a:t>mỗi lần + tạo một đối tượng mới</a:t>
            </a:r>
            <a:r>
              <a:rPr lang="en-US" altLang="ja-JP" dirty="0"/>
              <a:t>, </a:t>
            </a:r>
          </a:p>
          <a:p>
            <a:pPr marL="0" indent="0">
              <a:buNone/>
            </a:pPr>
            <a:r>
              <a:rPr lang="en-US" altLang="ja-JP" dirty="0">
                <a:sym typeface="Wingdings" panose="05000000000000000000" pitchFamily="2" charset="2"/>
              </a:rPr>
              <a:t></a:t>
            </a:r>
            <a:r>
              <a:rPr lang="en-US" altLang="ja-JP" dirty="0"/>
              <a:t>v</a:t>
            </a:r>
            <a:r>
              <a:rPr lang="ja-JP" altLang="ja-JP" dirty="0"/>
              <a:t>ới 1000 vòng lặp Java tạo ra hàng trăm đối tượng String mới 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>
                <a:sym typeface="Wingdings" panose="05000000000000000000" pitchFamily="2" charset="2"/>
              </a:rPr>
              <a:t> </a:t>
            </a:r>
            <a:r>
              <a:rPr lang="ja-JP" altLang="ja-JP" dirty="0"/>
              <a:t>tốn RAM và </a:t>
            </a:r>
            <a:r>
              <a:rPr lang="en-US" altLang="ja-JP" dirty="0" err="1"/>
              <a:t>gây</a:t>
            </a:r>
            <a:r>
              <a:rPr lang="en-US" altLang="ja-JP" dirty="0"/>
              <a:t> </a:t>
            </a:r>
            <a:r>
              <a:rPr lang="en-US" altLang="ja-JP" dirty="0" err="1"/>
              <a:t>ra</a:t>
            </a:r>
            <a:r>
              <a:rPr lang="en-US" altLang="ja-JP" dirty="0"/>
              <a:t> </a:t>
            </a:r>
            <a:r>
              <a:rPr lang="en-US" altLang="ja-JP" dirty="0" err="1"/>
              <a:t>chương</a:t>
            </a:r>
            <a:r>
              <a:rPr lang="en-US" altLang="ja-JP" dirty="0"/>
              <a:t> </a:t>
            </a:r>
            <a:r>
              <a:rPr lang="en-US" altLang="ja-JP" dirty="0" err="1"/>
              <a:t>trình</a:t>
            </a:r>
            <a:r>
              <a:rPr lang="en-US" altLang="ja-JP" dirty="0"/>
              <a:t> </a:t>
            </a:r>
            <a:r>
              <a:rPr lang="ja-JP" altLang="ja-JP" dirty="0"/>
              <a:t>chậm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287E3-ED47-AA48-B4C6-E3E1789470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01369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1E5CC-D156-B68B-ECF1-33C48E260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StringBuild</a:t>
            </a:r>
            <a:r>
              <a:rPr lang="ja-JP" altLang="ja-JP"/>
              <a:t>er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2581B-2C73-B99B-58E2-7BE00870E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ja-JP" dirty="0"/>
              <a:t>Cả hai đều là lớp hỗ trợ thao tác với chuỗi có thể thay đổi (mutable), nhằm giải quyết hạn chế của lớp String (immutable).</a:t>
            </a:r>
          </a:p>
          <a:p>
            <a:r>
              <a:rPr lang="ja-JP" altLang="ja-JP" dirty="0"/>
              <a:t>Nên dùng khi:</a:t>
            </a:r>
          </a:p>
          <a:p>
            <a:pPr lvl="0"/>
            <a:r>
              <a:rPr lang="ja-JP" altLang="ja-JP" dirty="0"/>
              <a:t>Bạn cần </a:t>
            </a:r>
            <a:r>
              <a:rPr lang="ja-JP" altLang="ja-JP" b="1" dirty="0"/>
              <a:t>nối chuỗi nhiều lần</a:t>
            </a:r>
            <a:r>
              <a:rPr lang="ja-JP" altLang="ja-JP" dirty="0"/>
              <a:t> (trong vòng lặp, xử lý văn bản).</a:t>
            </a:r>
          </a:p>
          <a:p>
            <a:pPr lvl="0"/>
            <a:r>
              <a:rPr lang="ja-JP" altLang="ja-JP" dirty="0"/>
              <a:t>Muốn tăng hiệu suất và </a:t>
            </a:r>
            <a:r>
              <a:rPr lang="ja-JP" altLang="ja-JP" b="1" dirty="0"/>
              <a:t>tiết kiệm bộ nhớ</a:t>
            </a:r>
            <a:r>
              <a:rPr lang="ja-JP" altLang="ja-JP" dirty="0"/>
              <a:t> hơn so với dùng String. </a:t>
            </a:r>
          </a:p>
          <a:p>
            <a:r>
              <a:rPr lang="ja-JP" altLang="ja-JP" dirty="0"/>
              <a:t>StringBuilder sb = new StringBuilder("Hello");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9C13C-18BD-1084-A93A-172BAD8E902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44197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6ADB7-0D11-4253-9B71-544E7403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ja-JP" altLang="ja-JP" b="1" dirty="0">
                <a:latin typeface="Arial" panose="020B0604020202020204" pitchFamily="34" charset="0"/>
                <a:ea typeface="Andika"/>
                <a:cs typeface="Andika"/>
              </a:rPr>
              <a:t>Các phương thức thường dùng:</a:t>
            </a:r>
            <a:endParaRPr kumimoji="1" lang="ja-JP" alt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B4F3A90-3B4E-AA50-25BC-60FF42AC7D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3198115"/>
              </p:ext>
            </p:extLst>
          </p:nvPr>
        </p:nvGraphicFramePr>
        <p:xfrm>
          <a:off x="533400" y="1470766"/>
          <a:ext cx="8915400" cy="2186832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36883177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4058703184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365926868"/>
                    </a:ext>
                  </a:extLst>
                </a:gridCol>
              </a:tblGrid>
              <a:tr h="36447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ja-JP" sz="1200" b="1" kern="100" dirty="0">
                          <a:effectLst/>
                        </a:rPr>
                        <a:t>Phương thức</a:t>
                      </a:r>
                      <a:endParaRPr lang="ja-JP" sz="1100" b="1" kern="1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ja-JP" sz="1200" b="1" kern="100">
                          <a:effectLst/>
                        </a:rPr>
                        <a:t> Mô tả </a:t>
                      </a:r>
                      <a:endParaRPr lang="ja-JP" sz="1100" b="1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ja-JP" sz="1200" b="1" kern="100" dirty="0">
                          <a:effectLst/>
                        </a:rPr>
                        <a:t>Ví dụ</a:t>
                      </a:r>
                      <a:endParaRPr lang="ja-JP" sz="1100" b="1" kern="1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98161794"/>
                  </a:ext>
                </a:extLst>
              </a:tr>
              <a:tr h="36447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 dirty="0">
                          <a:effectLst/>
                        </a:rPr>
                        <a:t>append(String)</a:t>
                      </a:r>
                      <a:endParaRPr lang="ja-JP" sz="1100" kern="1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Nối thêm vào cuối chuỗi 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sb.append("abc")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4190079"/>
                  </a:ext>
                </a:extLst>
              </a:tr>
              <a:tr h="36447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 dirty="0">
                          <a:effectLst/>
                        </a:rPr>
                        <a:t>insert(int, String)</a:t>
                      </a:r>
                      <a:endParaRPr lang="ja-JP" sz="1100" kern="1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 Chèn chuỗi tại vị trí chỉ định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sb.insert(0, "&gt;&gt;&gt; ")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85460310"/>
                  </a:ext>
                </a:extLst>
              </a:tr>
              <a:tr h="36447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 dirty="0">
                          <a:effectLst/>
                        </a:rPr>
                        <a:t>delete(start, end)</a:t>
                      </a:r>
                      <a:endParaRPr lang="ja-JP" sz="1100" kern="1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 Xóa chuỗi con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sb.delete(2, 4)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16292980"/>
                  </a:ext>
                </a:extLst>
              </a:tr>
              <a:tr h="36447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 dirty="0">
                          <a:effectLst/>
                        </a:rPr>
                        <a:t>replace(start, end, str)</a:t>
                      </a:r>
                      <a:endParaRPr lang="ja-JP" sz="1100" kern="1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 Thay thế chuỗi con 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sb.replace(0, 4, "Hi")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95273148"/>
                  </a:ext>
                </a:extLst>
              </a:tr>
              <a:tr h="36447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reverse()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>
                          <a:effectLst/>
                        </a:rPr>
                        <a:t> Đảo ngược chuỗi  </a:t>
                      </a:r>
                      <a:endParaRPr lang="ja-JP" sz="1100" kern="10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r>
                        <a:rPr lang="ja-JP" sz="1200" kern="100" dirty="0">
                          <a:effectLst/>
                        </a:rPr>
                        <a:t>sb.reverse()</a:t>
                      </a:r>
                      <a:endParaRPr lang="ja-JP" sz="1100" kern="1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7175583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96CCD-305B-84F7-DF66-E6D9CCF81DD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9DB85F-21D1-65A8-64DD-026C30A9E0A9}"/>
              </a:ext>
            </a:extLst>
          </p:cNvPr>
          <p:cNvSpPr txBox="1"/>
          <p:nvPr/>
        </p:nvSpPr>
        <p:spPr>
          <a:xfrm>
            <a:off x="457200" y="1025871"/>
            <a:ext cx="59436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ja-JP" altLang="ja-JP" dirty="0">
              <a:effectLst/>
              <a:latin typeface="Arial" panose="020B0604020202020204" pitchFamily="34" charset="0"/>
              <a:ea typeface="游明朝" panose="02020400000000000000" pitchFamily="18" charset="-128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C019375-80D3-8DA0-956D-6071F7F659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566762"/>
              </p:ext>
            </p:extLst>
          </p:nvPr>
        </p:nvGraphicFramePr>
        <p:xfrm>
          <a:off x="457200" y="3799891"/>
          <a:ext cx="89916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5800">
                  <a:extLst>
                    <a:ext uri="{9D8B030D-6E8A-4147-A177-3AD203B41FA5}">
                      <a16:colId xmlns:a16="http://schemas.microsoft.com/office/drawing/2014/main" val="4119211718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17427130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// Dùng String (chậm)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 s = "";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for (int i = 0; i &lt; 10000; i++) {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   s = s + i;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 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// Dùng StringBuilder (nhanh)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StringBuilder sb = new StringBuilder();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for (int i = 0; i &lt; 10000; i++) {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   sb.append(i);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ja-JP" altLang="ja-JP" sz="1800" dirty="0">
                          <a:effectLst/>
                          <a:latin typeface="Arial" panose="020B0604020202020204" pitchFamily="34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</a:t>
                      </a:r>
                      <a:endParaRPr lang="ja-JP" altLang="ja-JP" sz="1600" dirty="0">
                        <a:effectLst/>
                        <a:latin typeface="Arial" panose="020B0604020202020204" pitchFamily="34" charset="0"/>
                        <a:ea typeface="游明朝" panose="02020400000000000000" pitchFamily="18" charset="-128"/>
                      </a:endParaRP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031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5901990"/>
      </p:ext>
    </p:extLst>
  </p:cSld>
  <p:clrMapOvr>
    <a:masterClrMapping/>
  </p:clrMapOvr>
</p:sld>
</file>

<file path=ppt/theme/theme1.xml><?xml version="1.0" encoding="utf-8"?>
<a:theme xmlns:a="http://schemas.openxmlformats.org/drawingml/2006/main" name="標準デザイン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Arial"/>
        <a:ea typeface="Arial"/>
        <a:cs typeface=""/>
      </a:majorFont>
      <a:minorFont>
        <a:latin typeface="Aptos Slab Black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66">
            <a:alpha val="80000"/>
          </a:srgbClr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1" sz="1400" b="0" i="0" u="none" strike="noStrike" cap="none" normalizeH="0" baseline="0" dirty="0">
            <a:ln>
              <a:noFill/>
            </a:ln>
            <a:solidFill>
              <a:srgbClr val="FF0000"/>
            </a:solidFill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spDef>
    <a:lnDef>
      <a:spPr bwMode="auto">
        <a:pattFill prst="dashHorz">
          <a:fgClr>
            <a:srgbClr val="808080"/>
          </a:fgClr>
          <a:bgClr>
            <a:srgbClr val="FFFF00"/>
          </a:bgClr>
        </a:pattFill>
        <a:ln w="127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>
          <a:defRPr kumimoji="1" sz="1400" b="0" dirty="0" smtClean="0"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I_IoT_Assign_Plan_Optimization_GenAI_2025.pptx" id="{14E944DE-3199-4D98-A76C-EFBF91815B4E}" vid="{1A6114F4-44F2-4525-80F9-55402634BD3F}"/>
    </a:ext>
  </a:extLst>
</a:theme>
</file>

<file path=ppt/theme/theme2.xml><?xml version="1.0" encoding="utf-8"?>
<a:theme xmlns:a="http://schemas.openxmlformats.org/drawingml/2006/main" name="デザインの設定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IoT_Assign_Plan_Optimization_GenAI_2025.pptx" id="{14E944DE-3199-4D98-A76C-EFBF91815B4E}" vid="{8B1B50D9-B7E1-464E-B075-1B05D2128356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UsolV-tmp</Template>
  <TotalTime>24067</TotalTime>
  <Words>1979</Words>
  <Application>Microsoft Office PowerPoint</Application>
  <PresentationFormat>A4 Paper (210x297 mm)</PresentationFormat>
  <Paragraphs>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HG丸ｺﾞｼｯｸM-PRO</vt:lpstr>
      <vt:lpstr>Meiryo UI</vt:lpstr>
      <vt:lpstr>ＭＳ Ｐゴシック</vt:lpstr>
      <vt:lpstr>ADLaM Display</vt:lpstr>
      <vt:lpstr>Arial</vt:lpstr>
      <vt:lpstr>Segoe Script</vt:lpstr>
      <vt:lpstr>Times New Roman</vt:lpstr>
      <vt:lpstr>Wingdings</vt:lpstr>
      <vt:lpstr>標準デザイン</vt:lpstr>
      <vt:lpstr>デザインの設定</vt:lpstr>
      <vt:lpstr>Java Programming  </vt:lpstr>
      <vt:lpstr>Lớp String &amp; Các Phương Thức Phổ Biến</vt:lpstr>
      <vt:lpstr>String (chuỗi)</vt:lpstr>
      <vt:lpstr>So sánh chuỗi</vt:lpstr>
      <vt:lpstr>So sánh địa chỉ (==) và So sánh nội dung (equals)</vt:lpstr>
      <vt:lpstr>Xử lý chuỗi hiệu quả với StringBuilder &amp; StringBuffer</vt:lpstr>
      <vt:lpstr>Dùng String trong vòng lặp nối chuỗi:</vt:lpstr>
      <vt:lpstr>StringBuilder</vt:lpstr>
      <vt:lpstr>Các phương thức thường dùng: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Cơ bản về AI và Data</dc:title>
  <dc:creator>Dang Minh Duc</dc:creator>
  <cp:lastModifiedBy>Mai Ngoc Khuong</cp:lastModifiedBy>
  <cp:revision>611</cp:revision>
  <cp:lastPrinted>2018-04-10T08:59:30Z</cp:lastPrinted>
  <dcterms:created xsi:type="dcterms:W3CDTF">2025-05-21T02:38:07Z</dcterms:created>
  <dcterms:modified xsi:type="dcterms:W3CDTF">2026-08-10T02:07:04Z</dcterms:modified>
</cp:coreProperties>
</file>