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17"/>
  </p:notesMasterIdLst>
  <p:handoutMasterIdLst>
    <p:handoutMasterId r:id="rId18"/>
  </p:handoutMasterIdLst>
  <p:sldIdLst>
    <p:sldId id="689" r:id="rId3"/>
    <p:sldId id="334" r:id="rId4"/>
    <p:sldId id="366" r:id="rId5"/>
    <p:sldId id="371" r:id="rId6"/>
    <p:sldId id="367" r:id="rId7"/>
    <p:sldId id="373" r:id="rId8"/>
    <p:sldId id="393" r:id="rId9"/>
    <p:sldId id="394" r:id="rId10"/>
    <p:sldId id="385" r:id="rId11"/>
    <p:sldId id="386" r:id="rId12"/>
    <p:sldId id="395" r:id="rId13"/>
    <p:sldId id="396" r:id="rId14"/>
    <p:sldId id="379" r:id="rId15"/>
    <p:sldId id="380" r:id="rId16"/>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20"/>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E3EBE12F-79E6-B0F4-FEA2-B7467AE96218}"/>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3C6738E5-39C3-B686-C938-737CB22CBCD3}"/>
              </a:ext>
            </a:extLst>
          </p:cNvPr>
          <p:cNvSpPr>
            <a:spLocks noGrp="1" noChangeArrowheads="1"/>
          </p:cNvSpPr>
          <p:nvPr>
            <p:ph type="body" idx="1"/>
          </p:nvPr>
        </p:nvSpPr>
        <p:spPr/>
        <p:txBody>
          <a:bodyPr/>
          <a:lstStyle/>
          <a:p>
            <a:r>
              <a:rPr lang="en-US" altLang="ja-JP">
                <a:latin typeface="Arial" panose="020B0604020202020204" pitchFamily="34" charset="0"/>
              </a:rPr>
              <a:t>Trong chương 1, sẽ vận dụng các nội dung sau:</a:t>
            </a:r>
          </a:p>
          <a:p>
            <a:r>
              <a:rPr lang="en-US" altLang="ja-JP">
                <a:latin typeface="Arial" panose="020B0604020202020204" pitchFamily="34" charset="0"/>
              </a:rPr>
              <a:t>1.1</a:t>
            </a:r>
            <a:r>
              <a:rPr lang="ja-JP" altLang="en-US">
                <a:latin typeface="Arial" panose="020B0604020202020204" pitchFamily="34" charset="0"/>
              </a:rPr>
              <a:t>　</a:t>
            </a:r>
            <a:r>
              <a:rPr lang="en-US" altLang="ja-JP">
                <a:latin typeface="Arial" panose="020B0604020202020204" pitchFamily="34" charset="0"/>
              </a:rPr>
              <a:t>Hướng đối tượng là gì?</a:t>
            </a:r>
          </a:p>
          <a:p>
            <a:r>
              <a:rPr lang="en-US" altLang="ja-JP">
                <a:latin typeface="Arial" panose="020B0604020202020204" pitchFamily="34" charset="0"/>
              </a:rPr>
              <a:t>1.2</a:t>
            </a:r>
            <a:r>
              <a:rPr lang="ja-JP" altLang="en-US">
                <a:latin typeface="Arial" panose="020B0604020202020204" pitchFamily="34" charset="0"/>
              </a:rPr>
              <a:t>　</a:t>
            </a:r>
            <a:r>
              <a:rPr lang="en-US" altLang="ja-JP">
                <a:latin typeface="Arial" panose="020B0604020202020204" pitchFamily="34" charset="0"/>
              </a:rPr>
              <a:t>Class và object</a:t>
            </a:r>
          </a:p>
          <a:p>
            <a:r>
              <a:rPr lang="en-US" altLang="ja-JP">
                <a:latin typeface="Arial" panose="020B0604020202020204" pitchFamily="34" charset="0"/>
              </a:rPr>
              <a:t>1.3</a:t>
            </a:r>
            <a:r>
              <a:rPr lang="ja-JP" altLang="en-US">
                <a:latin typeface="Arial" panose="020B0604020202020204" pitchFamily="34" charset="0"/>
              </a:rPr>
              <a:t>　</a:t>
            </a:r>
            <a:r>
              <a:rPr lang="en-US" altLang="ja-JP">
                <a:latin typeface="Arial" panose="020B0604020202020204" pitchFamily="34" charset="0"/>
              </a:rPr>
              <a:t>Đóng gói, giấu thông tin, gửi message</a:t>
            </a:r>
            <a:r>
              <a:rPr lang="ja-JP" altLang="en-US">
                <a:latin typeface="Arial" panose="020B0604020202020204" pitchFamily="34" charset="0"/>
              </a:rPr>
              <a:t>　</a:t>
            </a:r>
          </a:p>
          <a:p>
            <a:r>
              <a:rPr lang="en-US" altLang="ja-JP">
                <a:latin typeface="Arial" panose="020B0604020202020204" pitchFamily="34" charset="0"/>
              </a:rPr>
              <a:t>1.4</a:t>
            </a:r>
            <a:r>
              <a:rPr lang="ja-JP" altLang="en-US">
                <a:latin typeface="Arial" panose="020B0604020202020204" pitchFamily="34" charset="0"/>
              </a:rPr>
              <a:t>　</a:t>
            </a:r>
            <a:r>
              <a:rPr lang="en-US" altLang="ja-JP">
                <a:latin typeface="Arial" panose="020B0604020202020204" pitchFamily="34" charset="0"/>
              </a:rPr>
              <a:t>Quan hệ tương quan của class (object)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3A30DDF9-D1F4-BBB0-1145-58644FC89DAB}"/>
              </a:ext>
            </a:extLst>
          </p:cNvPr>
          <p:cNvSpPr>
            <a:spLocks noGrp="1"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C2823B37-600A-19A0-A1D6-3861E99DE7B1}"/>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Hướng đối tượng</a:t>
            </a:r>
          </a:p>
          <a:p>
            <a:pPr marL="0" indent="0"/>
            <a:r>
              <a:rPr lang="ja-JP" altLang="en-US">
                <a:latin typeface="Arial" panose="020B0604020202020204" pitchFamily="34" charset="0"/>
              </a:rPr>
              <a:t>　</a:t>
            </a:r>
            <a:r>
              <a:rPr lang="en-US" altLang="ja-JP">
                <a:latin typeface="Arial" panose="020B0604020202020204" pitchFamily="34" charset="0"/>
              </a:rPr>
              <a:t>Tương tự với thế giới hiện thực, thế giới của hệ thống thông tin có thể coi bằng khái niệm gọi là </a:t>
            </a:r>
            <a:r>
              <a:rPr lang="ja-JP" altLang="en-US">
                <a:latin typeface="Arial" panose="020B0604020202020204" pitchFamily="34" charset="0"/>
              </a:rPr>
              <a:t>「</a:t>
            </a:r>
            <a:r>
              <a:rPr lang="en-US" altLang="ja-JP">
                <a:latin typeface="Arial" panose="020B0604020202020204" pitchFamily="34" charset="0"/>
              </a:rPr>
              <a:t>Sự vật</a:t>
            </a:r>
            <a:r>
              <a:rPr lang="ja-JP" altLang="en-US">
                <a:latin typeface="Arial" panose="020B0604020202020204" pitchFamily="34" charset="0"/>
              </a:rPr>
              <a:t>」 </a:t>
            </a:r>
            <a:r>
              <a:rPr lang="en-US" altLang="ja-JP">
                <a:latin typeface="Arial" panose="020B0604020202020204" pitchFamily="34" charset="0"/>
              </a:rPr>
              <a:t>và </a:t>
            </a:r>
            <a:r>
              <a:rPr lang="ja-JP" altLang="en-US">
                <a:latin typeface="Arial" panose="020B0604020202020204" pitchFamily="34" charset="0"/>
              </a:rPr>
              <a:t>「</a:t>
            </a:r>
            <a:r>
              <a:rPr lang="en-US" altLang="ja-JP">
                <a:latin typeface="Arial" panose="020B0604020202020204" pitchFamily="34" charset="0"/>
              </a:rPr>
              <a:t>Hoạt động</a:t>
            </a:r>
            <a:r>
              <a:rPr lang="ja-JP" altLang="en-US">
                <a:latin typeface="Arial" panose="020B0604020202020204" pitchFamily="34" charset="0"/>
              </a:rPr>
              <a:t>」</a:t>
            </a:r>
            <a:r>
              <a:rPr lang="en-US" altLang="ja-JP">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Tập trung vào cách thức tồn tại của sự vật (đối tượng) và coi thế giới thực như là tập hợp của các đối tượng để xây dựng hệ thống. </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Đối tượng / object</a:t>
            </a:r>
          </a:p>
          <a:p>
            <a:pPr marL="0" indent="0"/>
            <a:r>
              <a:rPr lang="ja-JP" altLang="en-US">
                <a:latin typeface="Arial" panose="020B0604020202020204" pitchFamily="34" charset="0"/>
              </a:rPr>
              <a:t>　「</a:t>
            </a:r>
            <a:r>
              <a:rPr lang="en-US" altLang="ja-JP">
                <a:latin typeface="Arial" panose="020B0604020202020204" pitchFamily="34" charset="0"/>
              </a:rPr>
              <a:t>Sự vật</a:t>
            </a:r>
            <a:r>
              <a:rPr lang="ja-JP" altLang="en-US">
                <a:latin typeface="Arial" panose="020B0604020202020204" pitchFamily="34" charset="0"/>
              </a:rPr>
              <a:t>」 </a:t>
            </a:r>
            <a:r>
              <a:rPr lang="en-US" altLang="ja-JP">
                <a:latin typeface="Arial" panose="020B0604020202020204" pitchFamily="34" charset="0"/>
              </a:rPr>
              <a:t>hoặc</a:t>
            </a:r>
            <a:r>
              <a:rPr lang="ja-JP" altLang="en-US">
                <a:latin typeface="Arial" panose="020B0604020202020204" pitchFamily="34" charset="0"/>
              </a:rPr>
              <a:t>「</a:t>
            </a:r>
            <a:r>
              <a:rPr lang="en-US" altLang="ja-JP">
                <a:latin typeface="Arial" panose="020B0604020202020204" pitchFamily="34" charset="0"/>
              </a:rPr>
              <a:t>Hoạt động</a:t>
            </a:r>
            <a:r>
              <a:rPr lang="ja-JP" altLang="en-US">
                <a:latin typeface="Arial" panose="020B0604020202020204" pitchFamily="34" charset="0"/>
              </a:rPr>
              <a:t>」 </a:t>
            </a:r>
            <a:r>
              <a:rPr lang="en-US" altLang="ja-JP">
                <a:latin typeface="Arial" panose="020B0604020202020204" pitchFamily="34" charset="0"/>
              </a:rPr>
              <a:t>được gọi là đối tượng/object. </a:t>
            </a:r>
          </a:p>
          <a:p>
            <a:pPr marL="0" indent="0"/>
            <a:r>
              <a:rPr lang="ja-JP" altLang="en-US">
                <a:latin typeface="Arial" panose="020B0604020202020204" pitchFamily="34" charset="0"/>
              </a:rPr>
              <a:t>　</a:t>
            </a:r>
            <a:r>
              <a:rPr lang="en-US" altLang="ja-JP">
                <a:latin typeface="Arial" panose="020B0604020202020204" pitchFamily="34" charset="0"/>
              </a:rPr>
              <a:t>Trong đối tượng/object sẽ phải mang cả các data (thông tin) và process (xử lý) như một thể thống nhất.</a:t>
            </a:r>
          </a:p>
          <a:p>
            <a:pPr marL="0" indent="0"/>
            <a:r>
              <a:rPr lang="ja-JP" altLang="en-US">
                <a:latin typeface="Arial" panose="020B0604020202020204" pitchFamily="34" charset="0"/>
              </a:rPr>
              <a:t>　</a:t>
            </a:r>
            <a:r>
              <a:rPr lang="en-US" altLang="ja-JP">
                <a:latin typeface="Arial" panose="020B0604020202020204" pitchFamily="34" charset="0"/>
              </a:rPr>
              <a:t>Có rất nhiều đối tượng như những đối tượng có thể nhìn thấy bằng mắt như là máy bay, sách…, những đối tượng biểu hiện tổ chức và vai trò như khách hàng, nhân viên, những đối tượng biểu hiện hoạt động không thể nhìn thấy bằng mắt như mua hàng, đặt hàng.v.v…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9" name="AutoShape 5">
            <a:extLst>
              <a:ext uri="{FF2B5EF4-FFF2-40B4-BE49-F238E27FC236}">
                <a16:creationId xmlns:a16="http://schemas.microsoft.com/office/drawing/2014/main" id="{4B96C87F-011D-FFEB-78A9-9D3F267A7045}"/>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73" tIns="47736" rIns="95473" bIns="47736"/>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en-US" altLang="ja-JP" sz="1400">
                <a:ea typeface="MS UI Gothic" panose="020B0600070205080204" pitchFamily="50" charset="-128"/>
              </a:rPr>
              <a:t>Hướng đối tượng v</a:t>
            </a:r>
            <a:r>
              <a:rPr lang="en-US" altLang="ja-JP" sz="1400">
                <a:latin typeface="MS UI Gothic" panose="020B0600070205080204" pitchFamily="50" charset="-128"/>
                <a:ea typeface="MS UI Gothic" panose="020B0600070205080204" pitchFamily="50" charset="-128"/>
              </a:rPr>
              <a:t>à</a:t>
            </a:r>
            <a:r>
              <a:rPr lang="en-US" altLang="ja-JP" sz="1400">
                <a:ea typeface="MS UI Gothic" panose="020B0600070205080204" pitchFamily="50" charset="-128"/>
              </a:rPr>
              <a:t> quy trình ph</a:t>
            </a:r>
            <a:r>
              <a:rPr lang="en-US" altLang="ja-JP" sz="1400">
                <a:latin typeface="MS UI Gothic" panose="020B0600070205080204" pitchFamily="50" charset="-128"/>
                <a:ea typeface="MS UI Gothic" panose="020B0600070205080204" pitchFamily="50" charset="-128"/>
              </a:rPr>
              <a:t>á</a:t>
            </a:r>
            <a:r>
              <a:rPr lang="en-US" altLang="ja-JP" sz="1400">
                <a:ea typeface="MS UI Gothic" panose="020B0600070205080204" pitchFamily="50" charset="-128"/>
              </a:rPr>
              <a:t>t triển hệ thống</a:t>
            </a: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Trong quy trình ph</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t triển hệ thống, c</a:t>
            </a:r>
            <a:r>
              <a:rPr lang="en-US" altLang="ja-JP" b="0">
                <a:latin typeface="MS UI Gothic" panose="020B0600070205080204" pitchFamily="50" charset="-128"/>
                <a:ea typeface="MS UI Gothic" panose="020B0600070205080204" pitchFamily="50" charset="-128"/>
              </a:rPr>
              <a:t>ó</a:t>
            </a:r>
            <a:r>
              <a:rPr lang="en-US" altLang="ja-JP" b="0">
                <a:ea typeface="MS UI Gothic" panose="020B0600070205080204" pitchFamily="50" charset="-128"/>
              </a:rPr>
              <a:t> c</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c quy trình l</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 kế hoạch xây dựng hệ thống, phân t</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thiết kế, implement, test, ứng dụng, bảo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 </a:t>
            </a:r>
          </a:p>
          <a:p>
            <a:r>
              <a:rPr lang="ja-JP" altLang="en-US" b="0">
                <a:ea typeface="MS UI Gothic" panose="020B0600070205080204" pitchFamily="50" charset="-128"/>
              </a:rPr>
              <a:t>　</a:t>
            </a:r>
            <a:r>
              <a:rPr lang="en-US" altLang="ja-JP" b="0">
                <a:ea typeface="MS UI Gothic" panose="020B0600070205080204" pitchFamily="50" charset="-128"/>
              </a:rPr>
              <a:t>Java l</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 ngôn ngữ lập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nh th</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hợp cho việc tiến h</a:t>
            </a:r>
            <a:r>
              <a:rPr lang="en-US" altLang="ja-JP" b="0">
                <a:latin typeface="MS UI Gothic" panose="020B0600070205080204" pitchFamily="50" charset="-128"/>
                <a:ea typeface="MS UI Gothic" panose="020B0600070205080204" pitchFamily="50" charset="-128"/>
              </a:rPr>
              <a:t>à</a:t>
            </a:r>
            <a:r>
              <a:rPr lang="en-US" altLang="ja-JP" b="0">
                <a:ea typeface="MS UI Gothic" panose="020B0600070205080204" pitchFamily="50" charset="-128"/>
              </a:rPr>
              <a:t>nh implement ph</a:t>
            </a:r>
            <a:r>
              <a:rPr lang="en-US" altLang="ja-JP" b="0">
                <a:latin typeface="MS UI Gothic" panose="020B0600070205080204" pitchFamily="50" charset="-128"/>
                <a:ea typeface="MS UI Gothic" panose="020B0600070205080204" pitchFamily="50" charset="-128"/>
              </a:rPr>
              <a:t>á</a:t>
            </a:r>
            <a:r>
              <a:rPr lang="en-US" altLang="ja-JP" b="0">
                <a:ea typeface="MS UI Gothic" panose="020B0600070205080204" pitchFamily="50" charset="-128"/>
              </a:rPr>
              <a:t>t triển hướng đối tượng. </a:t>
            </a:r>
          </a:p>
          <a:p>
            <a:r>
              <a:rPr lang="ja-JP" altLang="en-US" b="0">
                <a:ea typeface="MS UI Gothic" panose="020B0600070205080204" pitchFamily="50" charset="-128"/>
              </a:rPr>
              <a:t>　・　</a:t>
            </a:r>
            <a:r>
              <a:rPr lang="en-US" altLang="ja-JP" b="0">
                <a:ea typeface="MS UI Gothic" panose="020B0600070205080204" pitchFamily="50" charset="-128"/>
              </a:rPr>
              <a:t>Phân t</a:t>
            </a:r>
            <a:r>
              <a:rPr lang="en-US" altLang="ja-JP" b="0">
                <a:latin typeface="MS UI Gothic" panose="020B0600070205080204" pitchFamily="50" charset="-128"/>
                <a:ea typeface="MS UI Gothic" panose="020B0600070205080204" pitchFamily="50" charset="-128"/>
              </a:rPr>
              <a:t>í</a:t>
            </a:r>
            <a:r>
              <a:rPr lang="en-US" altLang="ja-JP" b="0">
                <a:ea typeface="MS UI Gothic" panose="020B0600070205080204" pitchFamily="50" charset="-128"/>
              </a:rPr>
              <a:t>ch hướng đối tượng (OOA : Object Oriented Analysis)</a:t>
            </a:r>
          </a:p>
          <a:p>
            <a:r>
              <a:rPr lang="ja-JP" altLang="en-US" b="0">
                <a:ea typeface="MS UI Gothic" panose="020B0600070205080204" pitchFamily="50" charset="-128"/>
              </a:rPr>
              <a:t>　・　</a:t>
            </a:r>
            <a:r>
              <a:rPr lang="en-US" altLang="ja-JP" b="0">
                <a:ea typeface="MS UI Gothic" panose="020B0600070205080204" pitchFamily="50" charset="-128"/>
              </a:rPr>
              <a:t>Thiết kế hướng đối tượng (OOD : Object Oriented Design)</a:t>
            </a:r>
          </a:p>
          <a:p>
            <a:r>
              <a:rPr lang="ja-JP" altLang="en-US" b="0">
                <a:ea typeface="MS UI Gothic" panose="020B0600070205080204" pitchFamily="50" charset="-128"/>
              </a:rPr>
              <a:t>　・　</a:t>
            </a:r>
            <a:r>
              <a:rPr lang="en-US" altLang="ja-JP" b="0">
                <a:ea typeface="MS UI Gothic" panose="020B0600070205080204" pitchFamily="50" charset="-128"/>
              </a:rPr>
              <a:t>Lập tr</a:t>
            </a:r>
            <a:r>
              <a:rPr lang="en-US" altLang="ja-JP" b="0">
                <a:latin typeface="MS UI Gothic" panose="020B0600070205080204" pitchFamily="50" charset="-128"/>
                <a:ea typeface="MS UI Gothic" panose="020B0600070205080204" pitchFamily="50" charset="-128"/>
              </a:rPr>
              <a:t>ì</a:t>
            </a:r>
            <a:r>
              <a:rPr lang="en-US" altLang="ja-JP" b="0">
                <a:ea typeface="MS UI Gothic" panose="020B0600070205080204" pitchFamily="50" charset="-128"/>
              </a:rPr>
              <a:t>nh hướng đối tượng (OOP : Object Oriented Programming)</a:t>
            </a:r>
          </a:p>
          <a:p>
            <a:endParaRPr lang="en-US" altLang="ja-JP" b="0">
              <a:ea typeface="MS UI Gothic" panose="020B0600070205080204" pitchFamily="50" charset="-128"/>
            </a:endParaRPr>
          </a:p>
        </p:txBody>
      </p:sp>
      <p:sp>
        <p:nvSpPr>
          <p:cNvPr id="379910" name="AutoShape 6">
            <a:extLst>
              <a:ext uri="{FF2B5EF4-FFF2-40B4-BE49-F238E27FC236}">
                <a16:creationId xmlns:a16="http://schemas.microsoft.com/office/drawing/2014/main" id="{86D1B9FD-65E5-4906-802D-0F557CED7D5F}"/>
              </a:ext>
            </a:extLst>
          </p:cNvPr>
          <p:cNvSpPr>
            <a:spLocks noChangeArrowheads="1"/>
          </p:cNvSpPr>
          <p:nvPr/>
        </p:nvSpPr>
        <p:spPr bwMode="auto">
          <a:xfrm>
            <a:off x="603250" y="442913"/>
            <a:ext cx="1117600"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73" tIns="47736" rIns="95473" bIns="47736"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COLUMN</a:t>
            </a:r>
          </a:p>
        </p:txBody>
      </p:sp>
      <p:sp>
        <p:nvSpPr>
          <p:cNvPr id="380021" name="Rectangle 117">
            <a:extLst>
              <a:ext uri="{FF2B5EF4-FFF2-40B4-BE49-F238E27FC236}">
                <a16:creationId xmlns:a16="http://schemas.microsoft.com/office/drawing/2014/main" id="{36A13ED3-25DF-01C6-D4F5-FCA448CFE382}"/>
              </a:ext>
            </a:extLst>
          </p:cNvPr>
          <p:cNvSpPr>
            <a:spLocks noChangeArrowheads="1"/>
          </p:cNvSpPr>
          <p:nvPr/>
        </p:nvSpPr>
        <p:spPr bwMode="auto">
          <a:xfrm>
            <a:off x="727075" y="2085975"/>
            <a:ext cx="5629275" cy="2452688"/>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0022" name="AutoShape 118">
            <a:extLst>
              <a:ext uri="{FF2B5EF4-FFF2-40B4-BE49-F238E27FC236}">
                <a16:creationId xmlns:a16="http://schemas.microsoft.com/office/drawing/2014/main" id="{21B3CEB1-EDA3-8533-B003-9F681C6CF2CF}"/>
              </a:ext>
            </a:extLst>
          </p:cNvPr>
          <p:cNvSpPr>
            <a:spLocks noChangeArrowheads="1"/>
          </p:cNvSpPr>
          <p:nvPr/>
        </p:nvSpPr>
        <p:spPr bwMode="auto">
          <a:xfrm>
            <a:off x="2579688" y="2887663"/>
            <a:ext cx="1616075" cy="1503362"/>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3" name="AutoShape 119">
            <a:extLst>
              <a:ext uri="{FF2B5EF4-FFF2-40B4-BE49-F238E27FC236}">
                <a16:creationId xmlns:a16="http://schemas.microsoft.com/office/drawing/2014/main" id="{1CBF6084-AF5C-7382-F0CE-65E76A813C0D}"/>
              </a:ext>
            </a:extLst>
          </p:cNvPr>
          <p:cNvSpPr>
            <a:spLocks noChangeArrowheads="1"/>
          </p:cNvSpPr>
          <p:nvPr/>
        </p:nvSpPr>
        <p:spPr bwMode="auto">
          <a:xfrm>
            <a:off x="4321175" y="2865438"/>
            <a:ext cx="1709738" cy="1530350"/>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4" name="AutoShape 120">
            <a:extLst>
              <a:ext uri="{FF2B5EF4-FFF2-40B4-BE49-F238E27FC236}">
                <a16:creationId xmlns:a16="http://schemas.microsoft.com/office/drawing/2014/main" id="{D65798B4-D272-AD12-A9D2-4167D8768849}"/>
              </a:ext>
            </a:extLst>
          </p:cNvPr>
          <p:cNvSpPr>
            <a:spLocks noChangeArrowheads="1"/>
          </p:cNvSpPr>
          <p:nvPr/>
        </p:nvSpPr>
        <p:spPr bwMode="auto">
          <a:xfrm>
            <a:off x="906463" y="2889250"/>
            <a:ext cx="1547812" cy="1504950"/>
          </a:xfrm>
          <a:prstGeom prst="roundRect">
            <a:avLst>
              <a:gd name="adj" fmla="val 722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25" name="Rectangle 121">
            <a:extLst>
              <a:ext uri="{FF2B5EF4-FFF2-40B4-BE49-F238E27FC236}">
                <a16:creationId xmlns:a16="http://schemas.microsoft.com/office/drawing/2014/main" id="{D1ABE629-A2E4-D43A-E5E3-13899038F480}"/>
              </a:ext>
            </a:extLst>
          </p:cNvPr>
          <p:cNvSpPr>
            <a:spLocks noChangeArrowheads="1"/>
          </p:cNvSpPr>
          <p:nvPr/>
        </p:nvSpPr>
        <p:spPr bwMode="auto">
          <a:xfrm>
            <a:off x="2720975" y="2981325"/>
            <a:ext cx="1290638" cy="588963"/>
          </a:xfrm>
          <a:prstGeom prst="rect">
            <a:avLst/>
          </a:prstGeom>
          <a:solidFill>
            <a:srgbClr val="FFFFCC"/>
          </a:solidFill>
          <a:ln w="15240">
            <a:solidFill>
              <a:srgbClr val="000000"/>
            </a:solidFill>
            <a:miter lim="800000"/>
            <a:headEnd/>
            <a:tailEnd/>
          </a:ln>
        </p:spPr>
        <p:txBody>
          <a:bodyPr/>
          <a:lstStyle/>
          <a:p>
            <a:pPr algn="ctr">
              <a:lnSpc>
                <a:spcPct val="96000"/>
              </a:lnSpc>
            </a:pPr>
            <a:r>
              <a:rPr lang="en-US" altLang="ja-JP" b="0"/>
              <a:t>Thiết kế hướng đối tượng</a:t>
            </a:r>
          </a:p>
          <a:p>
            <a:pPr algn="ctr">
              <a:lnSpc>
                <a:spcPct val="96000"/>
              </a:lnSpc>
            </a:pPr>
            <a:r>
              <a:rPr lang="ja-JP" altLang="en-US" b="0"/>
              <a:t>（</a:t>
            </a:r>
            <a:r>
              <a:rPr lang="en-US" altLang="ja-JP" b="0"/>
              <a:t>OOD)</a:t>
            </a:r>
          </a:p>
        </p:txBody>
      </p:sp>
      <p:sp>
        <p:nvSpPr>
          <p:cNvPr id="380026" name="Rectangle 122">
            <a:extLst>
              <a:ext uri="{FF2B5EF4-FFF2-40B4-BE49-F238E27FC236}">
                <a16:creationId xmlns:a16="http://schemas.microsoft.com/office/drawing/2014/main" id="{888AC875-E702-99AF-D541-5089658A39FE}"/>
              </a:ext>
            </a:extLst>
          </p:cNvPr>
          <p:cNvSpPr>
            <a:spLocks noChangeArrowheads="1"/>
          </p:cNvSpPr>
          <p:nvPr/>
        </p:nvSpPr>
        <p:spPr bwMode="auto">
          <a:xfrm>
            <a:off x="1027113" y="2971800"/>
            <a:ext cx="1300162" cy="571500"/>
          </a:xfrm>
          <a:prstGeom prst="rect">
            <a:avLst/>
          </a:prstGeom>
          <a:solidFill>
            <a:srgbClr val="FFFFCC"/>
          </a:solidFill>
          <a:ln w="15240">
            <a:solidFill>
              <a:srgbClr val="000000"/>
            </a:solidFill>
            <a:miter lim="800000"/>
            <a:headEnd/>
            <a:tailEnd/>
          </a:ln>
        </p:spPr>
        <p:txBody>
          <a:bodyPr/>
          <a:lstStyle/>
          <a:p>
            <a:pPr algn="ctr">
              <a:lnSpc>
                <a:spcPct val="96000"/>
              </a:lnSpc>
            </a:pPr>
            <a:r>
              <a:rPr lang="en-US" altLang="ja-JP" b="0"/>
              <a:t>Phân tích hướng đối tượng</a:t>
            </a:r>
          </a:p>
          <a:p>
            <a:pPr algn="ctr">
              <a:lnSpc>
                <a:spcPct val="96000"/>
              </a:lnSpc>
            </a:pPr>
            <a:r>
              <a:rPr lang="ja-JP" altLang="en-US" b="0"/>
              <a:t>（</a:t>
            </a:r>
            <a:r>
              <a:rPr lang="en-US" altLang="ja-JP" b="0"/>
              <a:t>OOA)</a:t>
            </a:r>
          </a:p>
        </p:txBody>
      </p:sp>
      <p:sp>
        <p:nvSpPr>
          <p:cNvPr id="380027" name="Rectangle 123">
            <a:extLst>
              <a:ext uri="{FF2B5EF4-FFF2-40B4-BE49-F238E27FC236}">
                <a16:creationId xmlns:a16="http://schemas.microsoft.com/office/drawing/2014/main" id="{EEC2639E-C181-2D55-3B3A-387F13DC5B3D}"/>
              </a:ext>
            </a:extLst>
          </p:cNvPr>
          <p:cNvSpPr>
            <a:spLocks noChangeArrowheads="1"/>
          </p:cNvSpPr>
          <p:nvPr/>
        </p:nvSpPr>
        <p:spPr bwMode="auto">
          <a:xfrm>
            <a:off x="4471988" y="2967038"/>
            <a:ext cx="1344612" cy="576262"/>
          </a:xfrm>
          <a:prstGeom prst="rect">
            <a:avLst/>
          </a:prstGeom>
          <a:solidFill>
            <a:srgbClr val="FFCC99"/>
          </a:solidFill>
          <a:ln w="15240">
            <a:solidFill>
              <a:srgbClr val="000000"/>
            </a:solidFill>
            <a:miter lim="800000"/>
            <a:headEnd/>
            <a:tailEnd/>
          </a:ln>
        </p:spPr>
        <p:txBody>
          <a:bodyPr/>
          <a:lstStyle/>
          <a:p>
            <a:pPr algn="ctr">
              <a:lnSpc>
                <a:spcPct val="96000"/>
              </a:lnSpc>
            </a:pPr>
            <a:r>
              <a:rPr lang="en-US" altLang="ja-JP" b="0"/>
              <a:t>Lập trình hướng đối tượng</a:t>
            </a:r>
          </a:p>
          <a:p>
            <a:pPr algn="ctr">
              <a:lnSpc>
                <a:spcPct val="96000"/>
              </a:lnSpc>
            </a:pPr>
            <a:r>
              <a:rPr lang="ja-JP" altLang="en-US" b="0"/>
              <a:t>（</a:t>
            </a:r>
            <a:r>
              <a:rPr lang="en-US" altLang="ja-JP" b="0"/>
              <a:t>OOP)</a:t>
            </a:r>
          </a:p>
        </p:txBody>
      </p:sp>
      <p:sp>
        <p:nvSpPr>
          <p:cNvPr id="380028" name="Rectangle 124">
            <a:extLst>
              <a:ext uri="{FF2B5EF4-FFF2-40B4-BE49-F238E27FC236}">
                <a16:creationId xmlns:a16="http://schemas.microsoft.com/office/drawing/2014/main" id="{F17A52E9-82B3-4930-1619-D8321D486F9D}"/>
              </a:ext>
            </a:extLst>
          </p:cNvPr>
          <p:cNvSpPr>
            <a:spLocks noChangeArrowheads="1"/>
          </p:cNvSpPr>
          <p:nvPr/>
        </p:nvSpPr>
        <p:spPr bwMode="auto">
          <a:xfrm>
            <a:off x="1068388" y="2349500"/>
            <a:ext cx="1235075" cy="400050"/>
          </a:xfrm>
          <a:prstGeom prst="rect">
            <a:avLst/>
          </a:prstGeom>
          <a:solidFill>
            <a:srgbClr val="FFFFCC"/>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Phân tích</a:t>
            </a:r>
            <a:endParaRPr lang="en-US" altLang="ja-JP" sz="1400"/>
          </a:p>
          <a:p>
            <a:endParaRPr lang="en-US" altLang="ja-JP" sz="1400"/>
          </a:p>
        </p:txBody>
      </p:sp>
      <p:sp>
        <p:nvSpPr>
          <p:cNvPr id="380029" name="AutoShape 125">
            <a:extLst>
              <a:ext uri="{FF2B5EF4-FFF2-40B4-BE49-F238E27FC236}">
                <a16:creationId xmlns:a16="http://schemas.microsoft.com/office/drawing/2014/main" id="{D1F19A36-75A6-C0F4-5871-52A915AFF21E}"/>
              </a:ext>
            </a:extLst>
          </p:cNvPr>
          <p:cNvSpPr>
            <a:spLocks noChangeArrowheads="1"/>
          </p:cNvSpPr>
          <p:nvPr/>
        </p:nvSpPr>
        <p:spPr bwMode="auto">
          <a:xfrm>
            <a:off x="2420938" y="2346325"/>
            <a:ext cx="280987" cy="434975"/>
          </a:xfrm>
          <a:prstGeom prst="rightArrow">
            <a:avLst>
              <a:gd name="adj1" fmla="val 50000"/>
              <a:gd name="adj2" fmla="val 25000"/>
            </a:avLst>
          </a:prstGeom>
          <a:solidFill>
            <a:srgbClr val="0033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0030" name="Rectangle 126">
            <a:extLst>
              <a:ext uri="{FF2B5EF4-FFF2-40B4-BE49-F238E27FC236}">
                <a16:creationId xmlns:a16="http://schemas.microsoft.com/office/drawing/2014/main" id="{65879D20-C9E3-0D80-A7E6-9DF5CFE6C24A}"/>
              </a:ext>
            </a:extLst>
          </p:cNvPr>
          <p:cNvSpPr>
            <a:spLocks noChangeArrowheads="1"/>
          </p:cNvSpPr>
          <p:nvPr/>
        </p:nvSpPr>
        <p:spPr bwMode="auto">
          <a:xfrm>
            <a:off x="2835275" y="2349500"/>
            <a:ext cx="1111250" cy="414338"/>
          </a:xfrm>
          <a:prstGeom prst="rect">
            <a:avLst/>
          </a:prstGeom>
          <a:solidFill>
            <a:srgbClr val="FFFFCC"/>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Thiết kế</a:t>
            </a:r>
            <a:endParaRPr lang="en-US" altLang="ja-JP" sz="1400"/>
          </a:p>
          <a:p>
            <a:endParaRPr lang="en-US" altLang="ja-JP" sz="1400"/>
          </a:p>
        </p:txBody>
      </p:sp>
      <p:sp>
        <p:nvSpPr>
          <p:cNvPr id="380031" name="Rectangle 127">
            <a:extLst>
              <a:ext uri="{FF2B5EF4-FFF2-40B4-BE49-F238E27FC236}">
                <a16:creationId xmlns:a16="http://schemas.microsoft.com/office/drawing/2014/main" id="{575DA2AC-C5CE-A3C9-6C48-A14B4E9BE721}"/>
              </a:ext>
            </a:extLst>
          </p:cNvPr>
          <p:cNvSpPr>
            <a:spLocks noChangeArrowheads="1"/>
          </p:cNvSpPr>
          <p:nvPr/>
        </p:nvSpPr>
        <p:spPr bwMode="auto">
          <a:xfrm>
            <a:off x="4510088" y="2357438"/>
            <a:ext cx="1201737" cy="415925"/>
          </a:xfrm>
          <a:prstGeom prst="rect">
            <a:avLst/>
          </a:prstGeom>
          <a:solidFill>
            <a:srgbClr val="FFCC99"/>
          </a:solidFill>
          <a:ln w="15240">
            <a:solidFill>
              <a:srgbClr val="000000"/>
            </a:solidFill>
            <a:miter lim="800000"/>
            <a:headEnd/>
            <a:tailEnd/>
          </a:ln>
          <a:effectLst>
            <a:outerShdw dist="35921" dir="2700000" algn="ctr" rotWithShape="0">
              <a:srgbClr val="808080">
                <a:alpha val="50000"/>
              </a:srgbClr>
            </a:outerShdw>
          </a:effectLst>
        </p:spPr>
        <p:txBody>
          <a:bodyPr/>
          <a:lstStyle/>
          <a:p>
            <a:pPr algn="ctr"/>
            <a:r>
              <a:rPr lang="en-US" altLang="ja-JP" sz="1400">
                <a:solidFill>
                  <a:srgbClr val="000000"/>
                </a:solidFill>
              </a:rPr>
              <a:t>Implement</a:t>
            </a:r>
            <a:endParaRPr lang="en-US" altLang="ja-JP" sz="1400"/>
          </a:p>
        </p:txBody>
      </p:sp>
      <p:sp>
        <p:nvSpPr>
          <p:cNvPr id="380033" name="AutoShape 129">
            <a:extLst>
              <a:ext uri="{FF2B5EF4-FFF2-40B4-BE49-F238E27FC236}">
                <a16:creationId xmlns:a16="http://schemas.microsoft.com/office/drawing/2014/main" id="{E51506F9-94F6-8BF0-ECAD-FD13A04F2465}"/>
              </a:ext>
            </a:extLst>
          </p:cNvPr>
          <p:cNvSpPr>
            <a:spLocks noChangeArrowheads="1"/>
          </p:cNvSpPr>
          <p:nvPr/>
        </p:nvSpPr>
        <p:spPr bwMode="auto">
          <a:xfrm>
            <a:off x="1016000" y="3606800"/>
            <a:ext cx="1320800" cy="715963"/>
          </a:xfrm>
          <a:prstGeom prst="roundRect">
            <a:avLst>
              <a:gd name="adj" fmla="val 5782"/>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Nắm bắt thế giới thực bằng đối tượng, tạo model phân tích trong thế giới của khái niệm.  </a:t>
            </a:r>
          </a:p>
        </p:txBody>
      </p:sp>
      <p:sp>
        <p:nvSpPr>
          <p:cNvPr id="380034" name="AutoShape 130">
            <a:extLst>
              <a:ext uri="{FF2B5EF4-FFF2-40B4-BE49-F238E27FC236}">
                <a16:creationId xmlns:a16="http://schemas.microsoft.com/office/drawing/2014/main" id="{E7B8AD6F-8C32-2CD3-2894-0135DC88F64B}"/>
              </a:ext>
            </a:extLst>
          </p:cNvPr>
          <p:cNvSpPr>
            <a:spLocks noChangeArrowheads="1"/>
          </p:cNvSpPr>
          <p:nvPr/>
        </p:nvSpPr>
        <p:spPr bwMode="auto">
          <a:xfrm>
            <a:off x="2743200" y="3646488"/>
            <a:ext cx="1252538" cy="665162"/>
          </a:xfrm>
          <a:prstGeom prst="roundRect">
            <a:avLst>
              <a:gd name="adj" fmla="val 5782"/>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Chuyển đổi thành model thiết kế coi hệ thống hóa là mục đích</a:t>
            </a:r>
          </a:p>
        </p:txBody>
      </p:sp>
      <p:sp>
        <p:nvSpPr>
          <p:cNvPr id="380035" name="AutoShape 131">
            <a:extLst>
              <a:ext uri="{FF2B5EF4-FFF2-40B4-BE49-F238E27FC236}">
                <a16:creationId xmlns:a16="http://schemas.microsoft.com/office/drawing/2014/main" id="{941B7989-082C-6631-3C06-5A5ECD3683A1}"/>
              </a:ext>
            </a:extLst>
          </p:cNvPr>
          <p:cNvSpPr>
            <a:spLocks noChangeArrowheads="1"/>
          </p:cNvSpPr>
          <p:nvPr/>
        </p:nvSpPr>
        <p:spPr bwMode="auto">
          <a:xfrm>
            <a:off x="4475163" y="3641725"/>
            <a:ext cx="1341437" cy="661988"/>
          </a:xfrm>
          <a:prstGeom prst="roundRect">
            <a:avLst>
              <a:gd name="adj" fmla="val 5782"/>
            </a:avLst>
          </a:prstGeom>
          <a:solidFill>
            <a:srgbClr val="FFCC99"/>
          </a:solidFill>
          <a:ln w="9525" algn="ctr">
            <a:solidFill>
              <a:schemeClr val="tx1"/>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95250">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Sử dụng môi trường thực hiện như ngôn ngữ…và tạo software.</a:t>
            </a:r>
          </a:p>
        </p:txBody>
      </p:sp>
      <p:sp>
        <p:nvSpPr>
          <p:cNvPr id="380036" name="AutoShape 132">
            <a:extLst>
              <a:ext uri="{FF2B5EF4-FFF2-40B4-BE49-F238E27FC236}">
                <a16:creationId xmlns:a16="http://schemas.microsoft.com/office/drawing/2014/main" id="{6CA2802D-0996-89CF-326B-A89856C3C6C1}"/>
              </a:ext>
            </a:extLst>
          </p:cNvPr>
          <p:cNvSpPr>
            <a:spLocks noChangeArrowheads="1"/>
          </p:cNvSpPr>
          <p:nvPr/>
        </p:nvSpPr>
        <p:spPr bwMode="auto">
          <a:xfrm>
            <a:off x="4084638" y="2339975"/>
            <a:ext cx="280987" cy="434975"/>
          </a:xfrm>
          <a:prstGeom prst="rightArrow">
            <a:avLst>
              <a:gd name="adj1" fmla="val 50000"/>
              <a:gd name="adj2" fmla="val 25000"/>
            </a:avLst>
          </a:prstGeom>
          <a:solidFill>
            <a:srgbClr val="0033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714" name="Rectangle 2">
            <a:extLst>
              <a:ext uri="{FF2B5EF4-FFF2-40B4-BE49-F238E27FC236}">
                <a16:creationId xmlns:a16="http://schemas.microsoft.com/office/drawing/2014/main" id="{0E939369-A0E4-D524-9760-9664981EB381}"/>
              </a:ext>
            </a:extLst>
          </p:cNvPr>
          <p:cNvSpPr>
            <a:spLocks noGrp="1" noRot="1" noChangeAspect="1" noChangeArrowheads="1" noTextEdit="1"/>
          </p:cNvSpPr>
          <p:nvPr>
            <p:ph type="sldImg"/>
          </p:nvPr>
        </p:nvSpPr>
        <p:spPr>
          <a:ln/>
        </p:spPr>
      </p:sp>
      <p:sp>
        <p:nvSpPr>
          <p:cNvPr id="371715" name="Rectangle 3">
            <a:extLst>
              <a:ext uri="{FF2B5EF4-FFF2-40B4-BE49-F238E27FC236}">
                <a16:creationId xmlns:a16="http://schemas.microsoft.com/office/drawing/2014/main" id="{C1D0CAAA-FA9A-B677-4C53-A3925B8FFF9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Lập trình hướng đối tượng</a:t>
            </a:r>
          </a:p>
          <a:p>
            <a:pPr marL="0" indent="0"/>
            <a:r>
              <a:rPr lang="ja-JP" altLang="en-US">
                <a:latin typeface="Arial" panose="020B0604020202020204" pitchFamily="34" charset="0"/>
              </a:rPr>
              <a:t>　</a:t>
            </a:r>
            <a:r>
              <a:rPr lang="en-US" altLang="ja-JP">
                <a:latin typeface="Arial" panose="020B0604020202020204" pitchFamily="34" charset="0"/>
              </a:rPr>
              <a:t>Trong hướng đối tượng, cần suy nghĩ tập trung vào</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đã coi data (thông tin) và process (xử lý) như một thể thống nhất. </a:t>
            </a:r>
          </a:p>
          <a:p>
            <a:pPr marL="0" indent="0"/>
            <a:r>
              <a:rPr lang="ja-JP" altLang="en-US">
                <a:latin typeface="Arial" panose="020B0604020202020204" pitchFamily="34" charset="0"/>
              </a:rPr>
              <a:t>　</a:t>
            </a:r>
            <a:r>
              <a:rPr lang="en-US" altLang="ja-JP">
                <a:latin typeface="Arial" panose="020B0604020202020204" pitchFamily="34" charset="0"/>
              </a:rPr>
              <a:t>Trong lập trình hướng đối tượng, định nghĩa</a:t>
            </a:r>
            <a:r>
              <a:rPr lang="ja-JP" altLang="en-US">
                <a:latin typeface="Arial" panose="020B0604020202020204" pitchFamily="34" charset="0"/>
              </a:rPr>
              <a:t>「</a:t>
            </a:r>
            <a:r>
              <a:rPr lang="en-US" altLang="ja-JP">
                <a:latin typeface="Arial" panose="020B0604020202020204" pitchFamily="34" charset="0"/>
              </a:rPr>
              <a:t>Class</a:t>
            </a:r>
            <a:r>
              <a:rPr lang="ja-JP" altLang="en-US">
                <a:latin typeface="Arial" panose="020B0604020202020204" pitchFamily="34" charset="0"/>
              </a:rPr>
              <a:t>」</a:t>
            </a:r>
            <a:r>
              <a:rPr lang="en-US" altLang="ja-JP">
                <a:latin typeface="Arial" panose="020B0604020202020204" pitchFamily="34" charset="0"/>
              </a:rPr>
              <a:t>, model của</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p>
          <a:p>
            <a:pPr marL="0" indent="0"/>
            <a:r>
              <a:rPr lang="ja-JP" altLang="en-US">
                <a:latin typeface="Arial" panose="020B0604020202020204" pitchFamily="34" charset="0"/>
              </a:rPr>
              <a:t>　</a:t>
            </a:r>
            <a:r>
              <a:rPr lang="en-US" altLang="ja-JP">
                <a:latin typeface="Arial" panose="020B0604020202020204" pitchFamily="34" charset="0"/>
              </a:rPr>
              <a:t>Trong định nghĩa class, định nghĩa data (thông tin) và process (xử lý) như một thể thống nhất muốn đối tượng (thực thể) phải có. </a:t>
            </a:r>
          </a:p>
          <a:p>
            <a:pPr marL="0" indent="0"/>
            <a:r>
              <a:rPr lang="ja-JP" altLang="en-US">
                <a:latin typeface="Arial" panose="020B0604020202020204" pitchFamily="34" charset="0"/>
              </a:rPr>
              <a:t>　</a:t>
            </a:r>
            <a:r>
              <a:rPr lang="en-US" altLang="ja-JP">
                <a:latin typeface="Arial" panose="020B0604020202020204" pitchFamily="34" charset="0"/>
              </a:rPr>
              <a:t>Từ model</a:t>
            </a:r>
            <a:r>
              <a:rPr lang="ja-JP" altLang="en-US">
                <a:latin typeface="Arial" panose="020B0604020202020204" pitchFamily="34" charset="0"/>
              </a:rPr>
              <a:t>「</a:t>
            </a:r>
            <a:r>
              <a:rPr lang="en-US" altLang="ja-JP">
                <a:latin typeface="Arial" panose="020B0604020202020204" pitchFamily="34" charset="0"/>
              </a:rPr>
              <a:t>Class</a:t>
            </a:r>
            <a:r>
              <a:rPr lang="ja-JP" altLang="en-US">
                <a:latin typeface="Arial" panose="020B0604020202020204" pitchFamily="34" charset="0"/>
              </a:rPr>
              <a:t>」</a:t>
            </a:r>
            <a:r>
              <a:rPr lang="en-US" altLang="ja-JP">
                <a:latin typeface="Arial" panose="020B0604020202020204" pitchFamily="34" charset="0"/>
              </a:rPr>
              <a:t>này, tạo </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(Thực thể) đã có giá trị thực tế và tiến hành xử lý.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Program của hướng đối tượng sẽ được tạo như là tập hợp của các class (object). </a:t>
            </a:r>
          </a:p>
          <a:p>
            <a:pPr marL="0" indent="0"/>
            <a:r>
              <a:rPr lang="ja-JP" altLang="en-US">
                <a:latin typeface="Arial" panose="020B0604020202020204" pitchFamily="34" charset="0"/>
              </a:rPr>
              <a:t>　</a:t>
            </a:r>
          </a:p>
          <a:p>
            <a:pPr marL="0" indent="0"/>
            <a:endParaRPr lang="en-US" altLang="ja-JP">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a:extLst>
              <a:ext uri="{FF2B5EF4-FFF2-40B4-BE49-F238E27FC236}">
                <a16:creationId xmlns:a16="http://schemas.microsoft.com/office/drawing/2014/main" id="{F1A247BD-D19D-2169-50E7-4B9C876F654D}"/>
              </a:ext>
            </a:extLst>
          </p:cNvPr>
          <p:cNvSpPr>
            <a:spLocks noGrp="1" noRot="1" noChangeAspect="1" noChangeArrowheads="1" noTextEdit="1"/>
          </p:cNvSpPr>
          <p:nvPr>
            <p:ph type="sldImg"/>
          </p:nvPr>
        </p:nvSpPr>
        <p:spPr>
          <a:ln/>
        </p:spPr>
      </p:sp>
      <p:sp>
        <p:nvSpPr>
          <p:cNvPr id="384003" name="Rectangle 3">
            <a:extLst>
              <a:ext uri="{FF2B5EF4-FFF2-40B4-BE49-F238E27FC236}">
                <a16:creationId xmlns:a16="http://schemas.microsoft.com/office/drawing/2014/main" id="{14857EED-2CA5-CBDA-1D22-0EC6D058B1FF}"/>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Class</a:t>
            </a:r>
          </a:p>
          <a:p>
            <a:pPr marL="0" indent="0"/>
            <a:r>
              <a:rPr lang="ja-JP" altLang="en-US">
                <a:latin typeface="Arial" panose="020B0604020202020204" pitchFamily="34" charset="0"/>
              </a:rPr>
              <a:t>　</a:t>
            </a:r>
            <a:r>
              <a:rPr lang="en-US" altLang="ja-JP">
                <a:latin typeface="Arial" panose="020B0604020202020204" pitchFamily="34" charset="0"/>
              </a:rPr>
              <a:t>Tạo thành model biểu hiện tập hợp tất cả các đối tượng có các tính chất chung được gọi là class. </a:t>
            </a:r>
          </a:p>
          <a:p>
            <a:pPr marL="0" indent="0"/>
            <a:r>
              <a:rPr lang="ja-JP" altLang="en-US">
                <a:latin typeface="Arial" panose="020B0604020202020204" pitchFamily="34" charset="0"/>
              </a:rPr>
              <a:t>　</a:t>
            </a:r>
            <a:r>
              <a:rPr lang="en-US" altLang="ja-JP">
                <a:latin typeface="Arial" panose="020B0604020202020204" pitchFamily="34" charset="0"/>
              </a:rPr>
              <a:t>Tính chất của class được biểu hiện bằng thuộc tính (data) và ứng xử (thao tác)</a:t>
            </a:r>
          </a:p>
          <a:p>
            <a:pPr marL="0" indent="0"/>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Object (Instance)</a:t>
            </a:r>
          </a:p>
          <a:p>
            <a:pPr marL="0" indent="0"/>
            <a:r>
              <a:rPr lang="ja-JP" altLang="en-US">
                <a:latin typeface="Arial" panose="020B0604020202020204" pitchFamily="34" charset="0"/>
              </a:rPr>
              <a:t>　</a:t>
            </a:r>
            <a:r>
              <a:rPr lang="en-US" altLang="ja-JP">
                <a:latin typeface="Arial" panose="020B0604020202020204" pitchFamily="34" charset="0"/>
              </a:rPr>
              <a:t>Những thứ truyền từng giá trị trong các thuộc tính để thực thể hóa dựa vào định nghĩa của class được gọi là instance hoặc object. </a:t>
            </a:r>
          </a:p>
          <a:p>
            <a:pPr marL="0" indent="0"/>
            <a:endParaRPr lang="en-US" altLang="ja-JP">
              <a:latin typeface="Arial" panose="020B0604020202020204" pitchFamily="34" charset="0"/>
            </a:endParaRPr>
          </a:p>
        </p:txBody>
      </p:sp>
      <p:sp>
        <p:nvSpPr>
          <p:cNvPr id="384004" name="Text Box 4">
            <a:extLst>
              <a:ext uri="{FF2B5EF4-FFF2-40B4-BE49-F238E27FC236}">
                <a16:creationId xmlns:a16="http://schemas.microsoft.com/office/drawing/2014/main" id="{5C2314ED-644C-C24E-0066-824A054E562B}"/>
              </a:ext>
            </a:extLst>
          </p:cNvPr>
          <p:cNvSpPr txBox="1">
            <a:spLocks noChangeArrowheads="1"/>
          </p:cNvSpPr>
          <p:nvPr/>
        </p:nvSpPr>
        <p:spPr bwMode="auto">
          <a:xfrm>
            <a:off x="731838" y="7515225"/>
            <a:ext cx="5618162" cy="8509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358" tIns="116522" rIns="368358" bIns="11652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Về ngôn ngữ gọi là </a:t>
            </a:r>
            <a:r>
              <a:rPr lang="ja-JP" altLang="en-US"/>
              <a:t>「</a:t>
            </a:r>
            <a:r>
              <a:rPr lang="en-US" altLang="ja-JP"/>
              <a:t>object</a:t>
            </a:r>
            <a:r>
              <a:rPr lang="ja-JP" altLang="en-US"/>
              <a:t>」</a:t>
            </a:r>
            <a:endParaRPr lang="ja-JP" altLang="en-US" b="0"/>
          </a:p>
          <a:p>
            <a:r>
              <a:rPr lang="ja-JP" altLang="en-US" b="0"/>
              <a:t>　</a:t>
            </a:r>
            <a:r>
              <a:rPr lang="en-US" altLang="ja-JP" b="0"/>
              <a:t>Hãy chú ý rằng </a:t>
            </a:r>
            <a:r>
              <a:rPr lang="ja-JP" altLang="en-US" b="0">
                <a:ea typeface="MS UI Gothic" panose="020B0600070205080204" pitchFamily="50" charset="-128"/>
              </a:rPr>
              <a:t>「</a:t>
            </a:r>
            <a:r>
              <a:rPr lang="en-US" altLang="ja-JP" b="0">
                <a:ea typeface="MS UI Gothic" panose="020B0600070205080204" pitchFamily="50" charset="-128"/>
              </a:rPr>
              <a:t>object</a:t>
            </a:r>
            <a:r>
              <a:rPr lang="ja-JP" altLang="en-US" b="0">
                <a:ea typeface="MS UI Gothic" panose="020B0600070205080204" pitchFamily="50" charset="-128"/>
              </a:rPr>
              <a:t>」 </a:t>
            </a:r>
            <a:r>
              <a:rPr lang="en-US" altLang="ja-JP" b="0">
                <a:ea typeface="MS UI Gothic" panose="020B0600070205080204" pitchFamily="50" charset="-128"/>
              </a:rPr>
              <a:t>có khi </a:t>
            </a:r>
            <a:r>
              <a:rPr lang="en-US" altLang="ja-JP" b="0"/>
              <a:t>dùng để chỉ </a:t>
            </a:r>
            <a:r>
              <a:rPr lang="ja-JP" altLang="en-US" b="0">
                <a:ea typeface="MS UI Gothic" panose="020B0600070205080204" pitchFamily="50" charset="-128"/>
              </a:rPr>
              <a:t>「</a:t>
            </a:r>
            <a:r>
              <a:rPr lang="en-US" altLang="ja-JP" b="0">
                <a:ea typeface="MS UI Gothic" panose="020B0600070205080204" pitchFamily="50" charset="-128"/>
              </a:rPr>
              <a:t>Sự vật</a:t>
            </a:r>
            <a:r>
              <a:rPr lang="ja-JP" altLang="en-US" b="0">
                <a:ea typeface="MS UI Gothic" panose="020B0600070205080204" pitchFamily="50" charset="-128"/>
              </a:rPr>
              <a:t>」</a:t>
            </a:r>
            <a:r>
              <a:rPr lang="en-US" altLang="ja-JP" b="0">
                <a:ea typeface="MS UI Gothic" panose="020B0600070205080204" pitchFamily="50" charset="-128"/>
              </a:rPr>
              <a:t>và </a:t>
            </a:r>
            <a:r>
              <a:rPr lang="ja-JP" altLang="en-US" b="0">
                <a:ea typeface="MS UI Gothic" panose="020B0600070205080204" pitchFamily="50" charset="-128"/>
              </a:rPr>
              <a:t>「</a:t>
            </a:r>
            <a:r>
              <a:rPr lang="en-US" altLang="ja-JP" b="0">
                <a:ea typeface="MS UI Gothic" panose="020B0600070205080204" pitchFamily="50" charset="-128"/>
              </a:rPr>
              <a:t>Hoạt động</a:t>
            </a:r>
            <a:r>
              <a:rPr lang="ja-JP" altLang="en-US" b="0">
                <a:ea typeface="MS UI Gothic" panose="020B0600070205080204" pitchFamily="50" charset="-128"/>
              </a:rPr>
              <a:t>」 </a:t>
            </a:r>
            <a:r>
              <a:rPr lang="en-US" altLang="ja-JP" b="0">
                <a:ea typeface="MS UI Gothic" panose="020B0600070205080204" pitchFamily="50" charset="-128"/>
              </a:rPr>
              <a:t>tồn tại trong thế giới hiện thực, có khi dùng để chỉ </a:t>
            </a:r>
            <a:r>
              <a:rPr lang="ja-JP" altLang="en-US" b="0">
                <a:ea typeface="MS UI Gothic" panose="020B0600070205080204" pitchFamily="50" charset="-128"/>
              </a:rPr>
              <a:t>「</a:t>
            </a:r>
            <a:r>
              <a:rPr lang="en-US" altLang="ja-JP" b="0">
                <a:ea typeface="MS UI Gothic" panose="020B0600070205080204" pitchFamily="50" charset="-128"/>
              </a:rPr>
              <a:t>Instance</a:t>
            </a:r>
            <a:r>
              <a:rPr lang="ja-JP" altLang="en-US" b="0">
                <a:ea typeface="MS UI Gothic" panose="020B0600070205080204" pitchFamily="50" charset="-128"/>
              </a:rPr>
              <a:t>」</a:t>
            </a:r>
            <a:r>
              <a:rPr lang="en-US" altLang="ja-JP" b="0">
                <a:ea typeface="MS UI Gothic" panose="020B0600070205080204" pitchFamily="50" charset="-128"/>
              </a:rPr>
              <a:t>- đã thực thể hóa dựa trên định nghĩa class.</a:t>
            </a:r>
          </a:p>
        </p:txBody>
      </p:sp>
      <p:grpSp>
        <p:nvGrpSpPr>
          <p:cNvPr id="384005" name="Group 5">
            <a:extLst>
              <a:ext uri="{FF2B5EF4-FFF2-40B4-BE49-F238E27FC236}">
                <a16:creationId xmlns:a16="http://schemas.microsoft.com/office/drawing/2014/main" id="{4313C930-EBC7-006C-D4D5-B02E6F7EAE43}"/>
              </a:ext>
            </a:extLst>
          </p:cNvPr>
          <p:cNvGrpSpPr>
            <a:grpSpLocks/>
          </p:cNvGrpSpPr>
          <p:nvPr/>
        </p:nvGrpSpPr>
        <p:grpSpPr bwMode="auto">
          <a:xfrm>
            <a:off x="728663" y="7259638"/>
            <a:ext cx="5622925" cy="306387"/>
            <a:chOff x="351" y="1572"/>
            <a:chExt cx="4968" cy="208"/>
          </a:xfrm>
        </p:grpSpPr>
        <p:pic>
          <p:nvPicPr>
            <p:cNvPr id="384006" name="Picture 6">
              <a:extLst>
                <a:ext uri="{FF2B5EF4-FFF2-40B4-BE49-F238E27FC236}">
                  <a16:creationId xmlns:a16="http://schemas.microsoft.com/office/drawing/2014/main" id="{C3E69688-C3A6-749D-BCE4-69EDECD2A7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384007" name="Text Box 7">
              <a:extLst>
                <a:ext uri="{FF2B5EF4-FFF2-40B4-BE49-F238E27FC236}">
                  <a16:creationId xmlns:a16="http://schemas.microsoft.com/office/drawing/2014/main" id="{20080611-15E9-E2B2-FD1F-21B70CA37151}"/>
                </a:ext>
              </a:extLst>
            </p:cNvPr>
            <p:cNvSpPr txBox="1">
              <a:spLocks noChangeArrowheads="1"/>
            </p:cNvSpPr>
            <p:nvPr/>
          </p:nvSpPr>
          <p:spPr bwMode="auto">
            <a:xfrm>
              <a:off x="517" y="1591"/>
              <a:ext cx="499" cy="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73" tIns="47736" rIns="95473" bIns="47736">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200">
                  <a:solidFill>
                    <a:schemeClr val="bg1"/>
                  </a:solidFill>
                  <a:latin typeface="ＭＳ Ｐゴシック" panose="020B0600070205080204" pitchFamily="50" charset="-128"/>
                </a:rPr>
                <a:t>Chú ý</a:t>
              </a:r>
            </a:p>
          </p:txBody>
        </p:sp>
      </p:gr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154" name="Rectangle 2">
            <a:extLst>
              <a:ext uri="{FF2B5EF4-FFF2-40B4-BE49-F238E27FC236}">
                <a16:creationId xmlns:a16="http://schemas.microsoft.com/office/drawing/2014/main" id="{64689037-DA88-1063-9113-9EDF86868876}"/>
              </a:ext>
            </a:extLst>
          </p:cNvPr>
          <p:cNvSpPr>
            <a:spLocks noGrp="1" noRot="1" noChangeAspect="1" noChangeArrowheads="1" noTextEdit="1"/>
          </p:cNvSpPr>
          <p:nvPr>
            <p:ph type="sldImg"/>
          </p:nvPr>
        </p:nvSpPr>
        <p:spPr>
          <a:ln/>
        </p:spPr>
      </p:sp>
      <p:sp>
        <p:nvSpPr>
          <p:cNvPr id="433155" name="Rectangle 3">
            <a:extLst>
              <a:ext uri="{FF2B5EF4-FFF2-40B4-BE49-F238E27FC236}">
                <a16:creationId xmlns:a16="http://schemas.microsoft.com/office/drawing/2014/main" id="{B39C26BD-1D0B-0A44-7BEF-0A2E98B3FBF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Thuộc tính</a:t>
            </a:r>
          </a:p>
          <a:p>
            <a:pPr marL="0" indent="0"/>
            <a:r>
              <a:rPr lang="ja-JP" altLang="en-US">
                <a:latin typeface="Arial" panose="020B0604020202020204" pitchFamily="34" charset="0"/>
              </a:rPr>
              <a:t>　</a:t>
            </a:r>
            <a:r>
              <a:rPr lang="en-US" altLang="ja-JP">
                <a:latin typeface="Arial" panose="020B0604020202020204" pitchFamily="34" charset="0"/>
              </a:rPr>
              <a:t>Thuộc tính biểu hiện tính chất và trạng thái của object. </a:t>
            </a:r>
          </a:p>
          <a:p>
            <a:pPr marL="0" indent="0"/>
            <a:r>
              <a:rPr lang="ja-JP" altLang="en-US">
                <a:latin typeface="Arial" panose="020B0604020202020204" pitchFamily="34" charset="0"/>
              </a:rPr>
              <a:t>　</a:t>
            </a:r>
            <a:r>
              <a:rPr lang="en-US" altLang="ja-JP">
                <a:latin typeface="Arial" panose="020B0604020202020204" pitchFamily="34" charset="0"/>
              </a:rPr>
              <a:t>Mỗi đối tượng, trong thuộc tính sẽ có một giá trị riêng</a:t>
            </a:r>
            <a:r>
              <a:rPr lang="en-US" altLang="ja-JP" b="1">
                <a:latin typeface="Arial" panose="020B0604020202020204" pitchFamily="34" charset="0"/>
              </a:rPr>
              <a:t>.</a:t>
            </a:r>
            <a:r>
              <a:rPr lang="en-US" altLang="ja-JP" sz="1200" b="1">
                <a:solidFill>
                  <a:srgbClr val="0033CC"/>
                </a:solidFill>
                <a:latin typeface="Arial" panose="020B0604020202020204" pitchFamily="34" charset="0"/>
              </a:rPr>
              <a:t> </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Giá trị của thuộc tính biểu hiện trạng thái của object có thể thay đổi.  (Chuyển trạng thái)</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5202" name="Rectangle 2">
            <a:extLst>
              <a:ext uri="{FF2B5EF4-FFF2-40B4-BE49-F238E27FC236}">
                <a16:creationId xmlns:a16="http://schemas.microsoft.com/office/drawing/2014/main" id="{146D62CD-0157-7FA4-D40E-2EEAEEAA96E6}"/>
              </a:ext>
            </a:extLst>
          </p:cNvPr>
          <p:cNvSpPr>
            <a:spLocks noGrp="1" noRot="1" noChangeAspect="1" noChangeArrowheads="1" noTextEdit="1"/>
          </p:cNvSpPr>
          <p:nvPr>
            <p:ph type="sldImg"/>
          </p:nvPr>
        </p:nvSpPr>
        <p:spPr>
          <a:ln/>
        </p:spPr>
      </p:sp>
      <p:sp>
        <p:nvSpPr>
          <p:cNvPr id="435203" name="Rectangle 3">
            <a:extLst>
              <a:ext uri="{FF2B5EF4-FFF2-40B4-BE49-F238E27FC236}">
                <a16:creationId xmlns:a16="http://schemas.microsoft.com/office/drawing/2014/main" id="{1396303F-E0A6-146E-D6B2-8279178C105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Thao tác</a:t>
            </a:r>
          </a:p>
          <a:p>
            <a:pPr marL="0" indent="0"/>
            <a:r>
              <a:rPr lang="ja-JP" altLang="en-US">
                <a:latin typeface="Arial" panose="020B0604020202020204" pitchFamily="34" charset="0"/>
              </a:rPr>
              <a:t>　</a:t>
            </a:r>
            <a:r>
              <a:rPr lang="en-US" altLang="ja-JP">
                <a:latin typeface="Arial" panose="020B0604020202020204" pitchFamily="34" charset="0"/>
              </a:rPr>
              <a:t>Thao tác là những chức năng mà đối tượng đang có. </a:t>
            </a:r>
          </a:p>
          <a:p>
            <a:pPr marL="0" indent="0"/>
            <a:r>
              <a:rPr lang="ja-JP" altLang="en-US">
                <a:latin typeface="Arial" panose="020B0604020202020204" pitchFamily="34" charset="0"/>
              </a:rPr>
              <a:t>　</a:t>
            </a:r>
            <a:r>
              <a:rPr lang="en-US" altLang="ja-JP">
                <a:latin typeface="Arial" panose="020B0604020202020204" pitchFamily="34" charset="0"/>
              </a:rPr>
              <a:t>Tiến hành các thao tác của giá trị của thuộc tính biểu hiện trạng thái, gửi message (yêu cầu thực hiện thao tác đối với object khác), v.v..  </a:t>
            </a:r>
          </a:p>
          <a:p>
            <a:pPr marL="0" indent="0"/>
            <a:r>
              <a:rPr lang="ja-JP" altLang="en-US">
                <a:latin typeface="Arial" panose="020B0604020202020204" pitchFamily="34" charset="0"/>
              </a:rPr>
              <a:t>　</a:t>
            </a:r>
          </a:p>
          <a:p>
            <a:pPr marL="0" indent="0"/>
            <a:r>
              <a:rPr lang="ja-JP" altLang="en-US">
                <a:latin typeface="Arial" panose="020B0604020202020204" pitchFamily="34" charset="0"/>
              </a:rPr>
              <a:t>　</a:t>
            </a:r>
            <a:r>
              <a:rPr lang="en-US" altLang="ja-JP">
                <a:latin typeface="Arial" panose="020B0604020202020204" pitchFamily="34" charset="0"/>
              </a:rPr>
              <a:t>Trong Java, thao tác biểu hiện là method. </a:t>
            </a:r>
          </a:p>
          <a:p>
            <a:pPr marL="0" indent="0"/>
            <a:r>
              <a:rPr lang="ja-JP" altLang="en-US">
                <a:latin typeface="Arial" panose="020B0604020202020204" pitchFamily="34" charset="0"/>
              </a:rPr>
              <a:t>　</a:t>
            </a:r>
            <a:r>
              <a:rPr lang="en-US" altLang="ja-JP">
                <a:latin typeface="Arial" panose="020B0604020202020204" pitchFamily="34" charset="0"/>
              </a:rPr>
              <a:t>Khi có yêu cầu để thực hiện một thao tác nào đó (tức là gửi message) thì object sẽ thực hiện các xử lý đã được ghi trong method.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Rectangle 2">
            <a:extLst>
              <a:ext uri="{FF2B5EF4-FFF2-40B4-BE49-F238E27FC236}">
                <a16:creationId xmlns:a16="http://schemas.microsoft.com/office/drawing/2014/main" id="{37C41A0B-9EBE-2345-5508-346F6DF42A71}"/>
              </a:ext>
            </a:extLst>
          </p:cNvPr>
          <p:cNvSpPr>
            <a:spLocks noGrp="1" noRot="1" noChangeAspect="1" noChangeArrowheads="1" noTextEdit="1"/>
          </p:cNvSpPr>
          <p:nvPr>
            <p:ph type="sldImg"/>
          </p:nvPr>
        </p:nvSpPr>
        <p:spPr>
          <a:ln/>
        </p:spPr>
      </p:sp>
      <p:sp>
        <p:nvSpPr>
          <p:cNvPr id="409603" name="Rectangle 3">
            <a:extLst>
              <a:ext uri="{FF2B5EF4-FFF2-40B4-BE49-F238E27FC236}">
                <a16:creationId xmlns:a16="http://schemas.microsoft.com/office/drawing/2014/main" id="{35FBA9EF-EB94-99FD-E27B-32D2772A501E}"/>
              </a:ext>
            </a:extLst>
          </p:cNvPr>
          <p:cNvSpPr>
            <a:spLocks noGrp="1" noChangeArrowheads="1"/>
          </p:cNvSpPr>
          <p:nvPr>
            <p:ph type="body" idx="1"/>
          </p:nvPr>
        </p:nvSpPr>
        <p:spPr>
          <a:xfrm>
            <a:off x="706438" y="5240338"/>
            <a:ext cx="5653087" cy="4748212"/>
          </a:xfrm>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Đóng gói</a:t>
            </a:r>
          </a:p>
          <a:p>
            <a:pPr marL="0" indent="0"/>
            <a:r>
              <a:rPr lang="ja-JP" altLang="en-US">
                <a:latin typeface="Arial" panose="020B0604020202020204" pitchFamily="34" charset="0"/>
              </a:rPr>
              <a:t>　</a:t>
            </a:r>
            <a:r>
              <a:rPr lang="en-US" altLang="ja-JP">
                <a:latin typeface="Arial" panose="020B0604020202020204" pitchFamily="34" charset="0"/>
              </a:rPr>
              <a:t>Việc định nghĩa trọn gói các data (thuộc tính) và thủ tục của nó (thao tác) trong đơn vị</a:t>
            </a:r>
            <a:r>
              <a:rPr lang="ja-JP" altLang="en-US">
                <a:latin typeface="Arial" panose="020B0604020202020204" pitchFamily="34" charset="0"/>
              </a:rPr>
              <a:t>「</a:t>
            </a:r>
            <a:r>
              <a:rPr lang="en-US" altLang="ja-JP">
                <a:latin typeface="Arial" panose="020B0604020202020204" pitchFamily="34" charset="0"/>
              </a:rPr>
              <a:t>object</a:t>
            </a:r>
            <a:r>
              <a:rPr lang="ja-JP" altLang="en-US">
                <a:latin typeface="Arial" panose="020B0604020202020204" pitchFamily="34" charset="0"/>
              </a:rPr>
              <a:t>」</a:t>
            </a:r>
            <a:r>
              <a:rPr lang="en-US" altLang="ja-JP">
                <a:latin typeface="Arial" panose="020B0604020202020204" pitchFamily="34" charset="0"/>
              </a:rPr>
              <a:t>(class) gọi là đóng gói.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650" name="Rectangle 2">
            <a:extLst>
              <a:ext uri="{FF2B5EF4-FFF2-40B4-BE49-F238E27FC236}">
                <a16:creationId xmlns:a16="http://schemas.microsoft.com/office/drawing/2014/main" id="{A90FAC36-FDE9-8977-B678-CCD0F95736EC}"/>
              </a:ext>
            </a:extLst>
          </p:cNvPr>
          <p:cNvSpPr>
            <a:spLocks noGrp="1" noRot="1" noChangeAspect="1" noChangeArrowheads="1" noTextEdit="1"/>
          </p:cNvSpPr>
          <p:nvPr>
            <p:ph type="sldImg"/>
          </p:nvPr>
        </p:nvSpPr>
        <p:spPr>
          <a:ln/>
        </p:spPr>
      </p:sp>
      <p:sp>
        <p:nvSpPr>
          <p:cNvPr id="411651" name="Rectangle 3">
            <a:extLst>
              <a:ext uri="{FF2B5EF4-FFF2-40B4-BE49-F238E27FC236}">
                <a16:creationId xmlns:a16="http://schemas.microsoft.com/office/drawing/2014/main" id="{0CB857F9-F800-F68C-53C6-9406D07CA468}"/>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Giấu thông tin</a:t>
            </a:r>
          </a:p>
          <a:p>
            <a:pPr marL="0" indent="0"/>
            <a:r>
              <a:rPr lang="ja-JP" altLang="en-US">
                <a:latin typeface="Arial" panose="020B0604020202020204" pitchFamily="34" charset="0"/>
              </a:rPr>
              <a:t>　</a:t>
            </a:r>
            <a:r>
              <a:rPr lang="en-US" altLang="ja-JP">
                <a:latin typeface="Arial" panose="020B0604020202020204" pitchFamily="34" charset="0"/>
              </a:rPr>
              <a:t>Giấu thông tin là việc giấu bên ngoài những thông tin chi tiết của object (cấu trúc và trạng thái bên trong).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Nếu giá trị thuộc tính của các đối tượng được công khai trực tiếp ra bên ngoài thì có nguy cơ bị set giá trị không chính xác. (Ví dụ: set giá trị âm vào tuổi của con người). </a:t>
            </a:r>
          </a:p>
          <a:p>
            <a:pPr marL="0" indent="0"/>
            <a:r>
              <a:rPr lang="ja-JP" altLang="en-US">
                <a:latin typeface="Arial" panose="020B0604020202020204" pitchFamily="34" charset="0"/>
              </a:rPr>
              <a:t>　</a:t>
            </a:r>
            <a:r>
              <a:rPr lang="en-US" altLang="ja-JP">
                <a:latin typeface="Arial" panose="020B0604020202020204" pitchFamily="34" charset="0"/>
              </a:rPr>
              <a:t>Khi định nghĩa class, nếu thuộc tính được định nghĩa là không công khai thì có thể tránh được việc</a:t>
            </a:r>
            <a:r>
              <a:rPr lang="en-US" altLang="ja-JP">
                <a:solidFill>
                  <a:srgbClr val="FF0000"/>
                </a:solidFill>
                <a:latin typeface="Arial" panose="020B0604020202020204" pitchFamily="34" charset="0"/>
              </a:rPr>
              <a:t> bị </a:t>
            </a:r>
            <a:r>
              <a:rPr lang="en-US" altLang="ja-JP">
                <a:latin typeface="Arial" panose="020B0604020202020204" pitchFamily="34" charset="0"/>
              </a:rPr>
              <a:t>thao tác trực tiếp từ bên ngoài. </a:t>
            </a:r>
          </a:p>
          <a:p>
            <a:pPr marL="0" indent="0"/>
            <a:r>
              <a:rPr lang="ja-JP" altLang="en-US">
                <a:latin typeface="Arial" panose="020B0604020202020204" pitchFamily="34" charset="0"/>
              </a:rPr>
              <a:t>　</a:t>
            </a:r>
            <a:r>
              <a:rPr lang="en-US" altLang="ja-JP">
                <a:latin typeface="Arial" panose="020B0604020202020204" pitchFamily="34" charset="0"/>
              </a:rPr>
              <a:t>Ví dụ, trong trường hợp cần phải set giá trị cho thuộc tính từ bên ngoài, sẽ phải tạo thao tác để set giá trị cho thuộc tính và công khai ra bên ngoài. </a:t>
            </a:r>
          </a:p>
          <a:p>
            <a:pPr marL="0" indent="0"/>
            <a:r>
              <a:rPr lang="ja-JP" altLang="en-US">
                <a:latin typeface="Arial" panose="020B0604020202020204" pitchFamily="34" charset="0"/>
              </a:rPr>
              <a:t>　</a:t>
            </a:r>
            <a:r>
              <a:rPr lang="en-US" altLang="ja-JP">
                <a:latin typeface="Arial" panose="020B0604020202020204" pitchFamily="34" charset="0"/>
              </a:rPr>
              <a:t>Nếu trong quá trình thao tác có thể tiến hành kiểm tra xem giá trị vừa set đã chính xác chưa thì có thể tránh được việc gán giá trị sai.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Không cần phải công khai tất cả các thao tác. Trong trường hợp những thao tác bên trong được sử dụng từ thao tác khác của class đó thì không cần phải công khai cho người sử dụng bên ngoài.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50" name="Rectangle 2">
            <a:extLst>
              <a:ext uri="{FF2B5EF4-FFF2-40B4-BE49-F238E27FC236}">
                <a16:creationId xmlns:a16="http://schemas.microsoft.com/office/drawing/2014/main" id="{682B5FCE-2573-F9DB-AF93-E29BCA9D8904}"/>
              </a:ext>
            </a:extLst>
          </p:cNvPr>
          <p:cNvSpPr>
            <a:spLocks noGrp="1" noRot="1" noChangeAspect="1" noChangeArrowheads="1" noTextEdit="1"/>
          </p:cNvSpPr>
          <p:nvPr>
            <p:ph type="sldImg"/>
          </p:nvPr>
        </p:nvSpPr>
        <p:spPr>
          <a:ln/>
        </p:spPr>
      </p:sp>
      <p:sp>
        <p:nvSpPr>
          <p:cNvPr id="437251" name="Rectangle 3">
            <a:extLst>
              <a:ext uri="{FF2B5EF4-FFF2-40B4-BE49-F238E27FC236}">
                <a16:creationId xmlns:a16="http://schemas.microsoft.com/office/drawing/2014/main" id="{9B46649F-4B1D-BE3D-5671-EC588E3A2C44}"/>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Gửi message</a:t>
            </a:r>
          </a:p>
          <a:p>
            <a:pPr marL="0" indent="0"/>
            <a:r>
              <a:rPr lang="ja-JP" altLang="en-US">
                <a:latin typeface="Arial" panose="020B0604020202020204" pitchFamily="34" charset="0"/>
              </a:rPr>
              <a:t>　</a:t>
            </a:r>
            <a:r>
              <a:rPr lang="en-US" altLang="ja-JP">
                <a:latin typeface="Arial" panose="020B0604020202020204" pitchFamily="34" charset="0"/>
              </a:rPr>
              <a:t>Process của object (xử lý, thao tác) sẽ được thực hiện theo yêu cầu xử lý (message) từ object khác. </a:t>
            </a:r>
          </a:p>
          <a:p>
            <a:pPr marL="0" indent="0"/>
            <a:r>
              <a:rPr lang="ja-JP" altLang="en-US">
                <a:latin typeface="Arial" panose="020B0604020202020204" pitchFamily="34" charset="0"/>
              </a:rPr>
              <a:t>　</a:t>
            </a:r>
            <a:r>
              <a:rPr lang="en-US" altLang="ja-JP">
                <a:latin typeface="Arial" panose="020B0604020202020204" pitchFamily="34" charset="0"/>
              </a:rPr>
              <a:t>Việc này gọi là message passing (gửi message).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Chỉ có thể gửi message trong trường hợp có quan hệ với object của đối phương. </a:t>
            </a:r>
          </a:p>
          <a:p>
            <a:pPr marL="0" indent="0"/>
            <a:r>
              <a:rPr lang="ja-JP" altLang="en-US">
                <a:latin typeface="Arial" panose="020B0604020202020204" pitchFamily="34" charset="0"/>
              </a:rPr>
              <a:t>　</a:t>
            </a:r>
            <a:r>
              <a:rPr lang="en-US" altLang="ja-JP">
                <a:latin typeface="Arial" panose="020B0604020202020204" pitchFamily="34" charset="0"/>
              </a:rPr>
              <a:t>Để thực hiện trao đổi message, có trường hợp giữa object và object đang có quan hệ nào đó.</a:t>
            </a:r>
          </a:p>
          <a:p>
            <a:pPr marL="0" indent="0"/>
            <a:r>
              <a:rPr lang="ja-JP" altLang="en-US">
                <a:latin typeface="Arial" panose="020B0604020202020204" pitchFamily="34" charset="0"/>
              </a:rPr>
              <a:t>　</a:t>
            </a:r>
            <a:r>
              <a:rPr lang="en-US" altLang="ja-JP">
                <a:latin typeface="Arial" panose="020B0604020202020204" pitchFamily="34" charset="0"/>
              </a:rPr>
              <a:t>Khi có yêu cầu thực hiện một thao tác nào đó, sẽ thực hiện thao tác như thế. </a:t>
            </a:r>
          </a:p>
          <a:p>
            <a:pPr marL="0" indent="0"/>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Ví dụ, giá sử đã có class người. </a:t>
            </a:r>
          </a:p>
          <a:p>
            <a:pPr marL="0" indent="0"/>
            <a:r>
              <a:rPr lang="ja-JP" altLang="en-US">
                <a:latin typeface="Arial" panose="020B0604020202020204" pitchFamily="34" charset="0"/>
              </a:rPr>
              <a:t>　</a:t>
            </a:r>
            <a:r>
              <a:rPr lang="en-US" altLang="ja-JP">
                <a:latin typeface="Arial" panose="020B0604020202020204" pitchFamily="34" charset="0"/>
              </a:rPr>
              <a:t>Người yêu cầu sẽ gửi message </a:t>
            </a:r>
            <a:r>
              <a:rPr lang="ja-JP" altLang="en-US">
                <a:latin typeface="Arial" panose="020B0604020202020204" pitchFamily="34" charset="0"/>
              </a:rPr>
              <a:t>「</a:t>
            </a:r>
            <a:r>
              <a:rPr lang="en-US" altLang="ja-JP">
                <a:latin typeface="Arial" panose="020B0604020202020204" pitchFamily="34" charset="0"/>
              </a:rPr>
              <a:t>Hãy cho biết tên</a:t>
            </a:r>
            <a:r>
              <a:rPr lang="ja-JP" altLang="en-US">
                <a:latin typeface="Arial" panose="020B0604020202020204" pitchFamily="34" charset="0"/>
              </a:rPr>
              <a:t>」</a:t>
            </a:r>
            <a:r>
              <a:rPr lang="en-US" altLang="ja-JP">
                <a:latin typeface="Arial" panose="020B0604020202020204" pitchFamily="34" charset="0"/>
              </a:rPr>
              <a:t>,</a:t>
            </a:r>
            <a:r>
              <a:rPr lang="ja-JP" altLang="en-US">
                <a:latin typeface="Arial" panose="020B0604020202020204" pitchFamily="34" charset="0"/>
              </a:rPr>
              <a:t>「</a:t>
            </a:r>
            <a:r>
              <a:rPr lang="en-US" altLang="ja-JP">
                <a:latin typeface="Arial" panose="020B0604020202020204" pitchFamily="34" charset="0"/>
              </a:rPr>
              <a:t>Hãy cho biết tuổi</a:t>
            </a:r>
            <a:r>
              <a:rPr lang="ja-JP" altLang="en-US">
                <a:latin typeface="Arial" panose="020B0604020202020204" pitchFamily="34" charset="0"/>
              </a:rPr>
              <a:t>」 </a:t>
            </a:r>
            <a:r>
              <a:rPr lang="en-US" altLang="ja-JP">
                <a:latin typeface="Arial" panose="020B0604020202020204" pitchFamily="34" charset="0"/>
              </a:rPr>
              <a:t>cho Yamada (object của class người).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298" name="Rectangle 2">
            <a:extLst>
              <a:ext uri="{FF2B5EF4-FFF2-40B4-BE49-F238E27FC236}">
                <a16:creationId xmlns:a16="http://schemas.microsoft.com/office/drawing/2014/main" id="{6A0B8ADF-EC57-504D-9645-F72B40371897}"/>
              </a:ext>
            </a:extLst>
          </p:cNvPr>
          <p:cNvSpPr>
            <a:spLocks noGrp="1" noRot="1" noChangeAspect="1" noChangeArrowheads="1" noTextEdit="1"/>
          </p:cNvSpPr>
          <p:nvPr>
            <p:ph type="sldImg"/>
          </p:nvPr>
        </p:nvSpPr>
        <p:spPr>
          <a:ln/>
        </p:spPr>
      </p:sp>
      <p:sp>
        <p:nvSpPr>
          <p:cNvPr id="439299" name="Rectangle 3">
            <a:extLst>
              <a:ext uri="{FF2B5EF4-FFF2-40B4-BE49-F238E27FC236}">
                <a16:creationId xmlns:a16="http://schemas.microsoft.com/office/drawing/2014/main" id="{DD61AB77-6A84-D057-FEA7-F7C03BACCA26}"/>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Quan hệ tương tác của class (object) </a:t>
            </a:r>
          </a:p>
          <a:p>
            <a:pPr marL="0" indent="0" defTabSz="733425"/>
            <a:r>
              <a:rPr lang="ja-JP" altLang="en-US">
                <a:latin typeface="Arial" panose="020B0604020202020204" pitchFamily="34" charset="0"/>
              </a:rPr>
              <a:t>　</a:t>
            </a:r>
            <a:r>
              <a:rPr lang="en-US" altLang="ja-JP">
                <a:latin typeface="Arial" panose="020B0604020202020204" pitchFamily="34" charset="0"/>
              </a:rPr>
              <a:t>Trong hướng đối tượng, có thể nắm bắt thế giới thực như một tập hợp của những object. </a:t>
            </a:r>
          </a:p>
          <a:p>
            <a:pPr marL="0" indent="0" defTabSz="733425"/>
            <a:r>
              <a:rPr lang="ja-JP" altLang="en-US">
                <a:latin typeface="Arial" panose="020B0604020202020204" pitchFamily="34" charset="0"/>
              </a:rPr>
              <a:t>　</a:t>
            </a:r>
            <a:r>
              <a:rPr lang="en-US" altLang="ja-JP">
                <a:latin typeface="Arial" panose="020B0604020202020204" pitchFamily="34" charset="0"/>
              </a:rPr>
              <a:t>Có trường hợp giữa những object này có mối quan hệ có nghĩa nào đó(ví dụ: mối quan hệ thư viện giữ sách)</a:t>
            </a:r>
          </a:p>
          <a:p>
            <a:pPr marL="0" indent="0" defTabSz="733425"/>
            <a:r>
              <a:rPr lang="ja-JP" altLang="en-US">
                <a:latin typeface="Arial" panose="020B0604020202020204" pitchFamily="34" charset="0"/>
              </a:rPr>
              <a:t>　</a:t>
            </a:r>
            <a:r>
              <a:rPr lang="en-US" altLang="ja-JP">
                <a:latin typeface="Arial" panose="020B0604020202020204" pitchFamily="34" charset="0"/>
              </a:rPr>
              <a:t>Có trường hợp giữa những class định nghĩa ở hướng đối tượng có mối quan hệ nào đó, những quan hệ tiêu biểu là liên quan, tập hợp, tổng quát.v.v…</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Liên quan</a:t>
            </a:r>
            <a:r>
              <a:rPr lang="ja-JP" altLang="en-US">
                <a:latin typeface="Arial" panose="020B0604020202020204" pitchFamily="34" charset="0"/>
              </a:rPr>
              <a:t>　</a:t>
            </a:r>
          </a:p>
          <a:p>
            <a:pPr marL="0" indent="0" defTabSz="733425"/>
            <a:r>
              <a:rPr lang="ja-JP" altLang="en-US">
                <a:latin typeface="Arial" panose="020B0604020202020204" pitchFamily="34" charset="0"/>
              </a:rPr>
              <a:t>　</a:t>
            </a:r>
            <a:r>
              <a:rPr lang="en-US" altLang="ja-JP">
                <a:latin typeface="Arial" panose="020B0604020202020204" pitchFamily="34" charset="0"/>
              </a:rPr>
              <a:t>Liên quan biểu hiện việc giữa các class có mối quan hệ có nghĩa nào đó. </a:t>
            </a:r>
          </a:p>
          <a:p>
            <a:pPr marL="0" indent="0" defTabSz="733425"/>
            <a:r>
              <a:rPr lang="ja-JP" altLang="en-US">
                <a:latin typeface="Arial" panose="020B0604020202020204" pitchFamily="34" charset="0"/>
              </a:rPr>
              <a:t>　</a:t>
            </a:r>
            <a:r>
              <a:rPr lang="en-US" altLang="ja-JP">
                <a:latin typeface="Arial" panose="020B0604020202020204" pitchFamily="34" charset="0"/>
              </a:rPr>
              <a:t>Chỉ có thể gửi message trong trường hợp có mối quan hệ với object đối tác. </a:t>
            </a:r>
          </a:p>
          <a:p>
            <a:pPr marL="0" indent="0" defTabSz="733425"/>
            <a:r>
              <a:rPr lang="ja-JP" altLang="en-US">
                <a:latin typeface="Arial" panose="020B0604020202020204" pitchFamily="34" charset="0"/>
              </a:rPr>
              <a:t>　</a:t>
            </a:r>
            <a:r>
              <a:rPr lang="en-US" altLang="ja-JP">
                <a:latin typeface="Arial" panose="020B0604020202020204" pitchFamily="34" charset="0"/>
              </a:rPr>
              <a:t>Tồn tại mối quan hê(liên quan)̣ có nghĩa giữa object và object thực hiện trao đổi message. </a:t>
            </a: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a:extLst>
              <a:ext uri="{FF2B5EF4-FFF2-40B4-BE49-F238E27FC236}">
                <a16:creationId xmlns:a16="http://schemas.microsoft.com/office/drawing/2014/main" id="{73EE3F92-B38E-5B6C-BBFD-D78E314641A6}"/>
              </a:ext>
            </a:extLst>
          </p:cNvPr>
          <p:cNvSpPr>
            <a:spLocks noGrp="1" noRot="1" noChangeAspect="1" noChangeArrowheads="1" noTextEdit="1"/>
          </p:cNvSpPr>
          <p:nvPr>
            <p:ph type="sldImg"/>
          </p:nvPr>
        </p:nvSpPr>
        <p:spPr>
          <a:ln/>
        </p:spPr>
      </p:sp>
      <p:sp>
        <p:nvSpPr>
          <p:cNvPr id="396291" name="Rectangle 3">
            <a:extLst>
              <a:ext uri="{FF2B5EF4-FFF2-40B4-BE49-F238E27FC236}">
                <a16:creationId xmlns:a16="http://schemas.microsoft.com/office/drawing/2014/main" id="{9EE76F2B-BD09-87BE-AB0F-438B0A7C455D}"/>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Tập hợp</a:t>
            </a:r>
          </a:p>
          <a:p>
            <a:pPr marL="0" indent="0" defTabSz="733425"/>
            <a:r>
              <a:rPr lang="ja-JP" altLang="en-US">
                <a:latin typeface="Arial" panose="020B0604020202020204" pitchFamily="34" charset="0"/>
              </a:rPr>
              <a:t>　</a:t>
            </a:r>
            <a:r>
              <a:rPr lang="en-US" altLang="ja-JP">
                <a:latin typeface="Arial" panose="020B0604020202020204" pitchFamily="34" charset="0"/>
              </a:rPr>
              <a:t>Tập hợp là mối quan hệ giữa class toàn thể và class bộ phận cấu thành nên sự toàn thể đó. </a:t>
            </a:r>
          </a:p>
          <a:p>
            <a:pPr marL="0" indent="0" defTabSz="733425"/>
            <a:r>
              <a:rPr lang="ja-JP" altLang="en-US">
                <a:latin typeface="Arial" panose="020B0604020202020204" pitchFamily="34" charset="0"/>
              </a:rPr>
              <a:t>　</a:t>
            </a:r>
            <a:r>
              <a:rPr lang="en-US" altLang="ja-JP">
                <a:latin typeface="Arial" panose="020B0604020202020204" pitchFamily="34" charset="0"/>
              </a:rPr>
              <a:t>Quan hệ của tập hợp và phân giải còn được gọi là quan hệ Has-A , quan hệ Part-Of. </a:t>
            </a: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8338" name="Rectangle 2">
            <a:extLst>
              <a:ext uri="{FF2B5EF4-FFF2-40B4-BE49-F238E27FC236}">
                <a16:creationId xmlns:a16="http://schemas.microsoft.com/office/drawing/2014/main" id="{74D0D49D-FE5E-46BB-AB9E-F2CFAB6EF492}"/>
              </a:ext>
            </a:extLst>
          </p:cNvPr>
          <p:cNvSpPr>
            <a:spLocks noGrp="1" noRot="1" noChangeAspect="1" noChangeArrowheads="1" noTextEdit="1"/>
          </p:cNvSpPr>
          <p:nvPr>
            <p:ph type="sldImg"/>
          </p:nvPr>
        </p:nvSpPr>
        <p:spPr>
          <a:ln/>
        </p:spPr>
      </p:sp>
      <p:sp>
        <p:nvSpPr>
          <p:cNvPr id="398339" name="Rectangle 3">
            <a:extLst>
              <a:ext uri="{FF2B5EF4-FFF2-40B4-BE49-F238E27FC236}">
                <a16:creationId xmlns:a16="http://schemas.microsoft.com/office/drawing/2014/main" id="{688BF023-2813-987A-6743-636DCDFB68E2}"/>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Trong thế giới của hệ thống thông tin, ngoài mối quan hệ có ý nghĩa ra còn có các mối quan hệ khác nữa.</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Tổng quát (cụ thể)</a:t>
            </a:r>
          </a:p>
          <a:p>
            <a:pPr marL="0" indent="0" defTabSz="733425"/>
            <a:r>
              <a:rPr lang="ja-JP" altLang="en-US">
                <a:latin typeface="Arial" panose="020B0604020202020204" pitchFamily="34" charset="0"/>
              </a:rPr>
              <a:t>　</a:t>
            </a:r>
            <a:r>
              <a:rPr lang="en-US" altLang="ja-JP">
                <a:latin typeface="Arial" panose="020B0604020202020204" pitchFamily="34" charset="0"/>
              </a:rPr>
              <a:t>Tổng quát chỉ mối quan hệ giữa một class nào đó với class đã trừu tượng class đó. </a:t>
            </a:r>
          </a:p>
          <a:p>
            <a:pPr marL="0" indent="0" defTabSz="733425"/>
            <a:r>
              <a:rPr lang="ja-JP" altLang="en-US">
                <a:latin typeface="Arial" panose="020B0604020202020204" pitchFamily="34" charset="0"/>
              </a:rPr>
              <a:t>　</a:t>
            </a:r>
            <a:r>
              <a:rPr lang="en-US" altLang="ja-JP">
                <a:latin typeface="Arial" panose="020B0604020202020204" pitchFamily="34" charset="0"/>
              </a:rPr>
              <a:t>Quan hệ của tổng quát và cụ thể còn được gọi là  quan hệ Is-A. quan hệ Kind-Of.</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　</a:t>
            </a:r>
            <a:r>
              <a:rPr lang="en-US" altLang="ja-JP">
                <a:latin typeface="Arial" panose="020B0604020202020204" pitchFamily="34" charset="0"/>
              </a:rPr>
              <a:t>Tổng quát</a:t>
            </a:r>
          </a:p>
          <a:p>
            <a:pPr marL="0" indent="0" defTabSz="733425"/>
            <a:r>
              <a:rPr lang="ja-JP" altLang="en-US">
                <a:latin typeface="Arial" panose="020B0604020202020204" pitchFamily="34" charset="0"/>
              </a:rPr>
              <a:t>　　</a:t>
            </a:r>
            <a:r>
              <a:rPr lang="en-US" altLang="ja-JP">
                <a:latin typeface="Arial" panose="020B0604020202020204" pitchFamily="34" charset="0"/>
              </a:rPr>
              <a:t>Trong trường hợp tồn tại tính chất chung (thuộc tính, thao tác) mà nhiều class cùng có, có thể định nghĩa class (super class) chỉ extract những tính chất chung. </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　</a:t>
            </a:r>
            <a:r>
              <a:rPr lang="en-US" altLang="ja-JP">
                <a:latin typeface="Arial" panose="020B0604020202020204" pitchFamily="34" charset="0"/>
              </a:rPr>
              <a:t>Cụ thể</a:t>
            </a:r>
          </a:p>
          <a:p>
            <a:pPr marL="0" indent="0" defTabSz="733425"/>
            <a:r>
              <a:rPr lang="ja-JP" altLang="en-US">
                <a:latin typeface="Arial" panose="020B0604020202020204" pitchFamily="34" charset="0"/>
              </a:rPr>
              <a:t>　　</a:t>
            </a:r>
            <a:r>
              <a:rPr lang="en-US" altLang="ja-JP">
                <a:latin typeface="Arial" panose="020B0604020202020204" pitchFamily="34" charset="0"/>
              </a:rPr>
              <a:t>Dựa vào class đã có, có thể định nghĩa class (sub class) khác có thêm vào chức năng mới. </a:t>
            </a:r>
          </a:p>
          <a:p>
            <a:pPr marL="0" indent="0" defTabSz="733425"/>
            <a:endParaRPr lang="en-US" altLang="ja-JP">
              <a:latin typeface="Arial" panose="020B0604020202020204" pitchFamily="34" charset="0"/>
            </a:endParaRPr>
          </a:p>
          <a:p>
            <a:pPr marL="0" indent="0" defTabSz="733425"/>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Super class, sub class</a:t>
            </a:r>
          </a:p>
          <a:p>
            <a:pPr marL="0" indent="0" defTabSz="733425"/>
            <a:r>
              <a:rPr lang="ja-JP" altLang="en-US">
                <a:latin typeface="Arial" panose="020B0604020202020204" pitchFamily="34" charset="0"/>
              </a:rPr>
              <a:t>　</a:t>
            </a:r>
            <a:r>
              <a:rPr lang="en-US" altLang="ja-JP">
                <a:latin typeface="Arial" panose="020B0604020202020204" pitchFamily="34" charset="0"/>
              </a:rPr>
              <a:t>Class có phần tử thông thường dùng chung gọi là super class, class có phần tử đặc thù gọi là sub class. </a:t>
            </a:r>
          </a:p>
          <a:p>
            <a:pPr marL="0" indent="0" defTabSz="733425"/>
            <a:r>
              <a:rPr lang="ja-JP" altLang="en-US">
                <a:latin typeface="Arial" panose="020B0604020202020204" pitchFamily="34" charset="0"/>
              </a:rPr>
              <a:t>　</a:t>
            </a:r>
            <a:r>
              <a:rPr lang="en-US" altLang="ja-JP">
                <a:latin typeface="Arial" panose="020B0604020202020204" pitchFamily="34" charset="0"/>
              </a:rPr>
              <a:t>Super class còn được gọi là class tầng trên, class cha, class cơ bản, class nền tảng, v.v…</a:t>
            </a:r>
          </a:p>
          <a:p>
            <a:pPr marL="0" indent="0" defTabSz="733425"/>
            <a:r>
              <a:rPr lang="ja-JP" altLang="en-US">
                <a:latin typeface="Arial" panose="020B0604020202020204" pitchFamily="34" charset="0"/>
              </a:rPr>
              <a:t>　</a:t>
            </a:r>
            <a:r>
              <a:rPr lang="en-US" altLang="ja-JP">
                <a:latin typeface="Arial" panose="020B0604020202020204" pitchFamily="34" charset="0"/>
              </a:rPr>
              <a:t>Sub class còn được gọi là class tầng dưới, class con, class phát sinh. </a:t>
            </a:r>
          </a:p>
          <a:p>
            <a:pPr marL="0" indent="0" defTabSz="733425"/>
            <a:endParaRPr lang="en-US" altLang="ja-JP">
              <a:latin typeface="Arial" panose="020B0604020202020204" pitchFamily="34" charset="0"/>
            </a:endParaRPr>
          </a:p>
          <a:p>
            <a:pPr marL="0" indent="0" defTabSz="733425"/>
            <a:r>
              <a:rPr lang="ja-JP" altLang="en-US">
                <a:latin typeface="Arial" panose="020B0604020202020204" pitchFamily="34" charset="0"/>
              </a:rPr>
              <a:t>　</a:t>
            </a:r>
            <a:r>
              <a:rPr lang="en-US" altLang="ja-JP">
                <a:latin typeface="Arial" panose="020B0604020202020204" pitchFamily="34" charset="0"/>
              </a:rPr>
              <a:t>Vì các thuộc tinh và thao tác của super class sẽ được sub class kế thừa nên còn được gọi là quan hệ kế thừa. </a:t>
            </a:r>
          </a:p>
          <a:p>
            <a:pPr marL="0" indent="0" defTabSz="733425"/>
            <a:endParaRPr lang="en-US" altLang="ja-JP">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79836-275D-3BEA-007D-6301AA19C36E}"/>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0138D041-FBF3-C9A9-6582-1AF7DE2906E6}"/>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6493B623-C8FB-70A0-30F0-039097C02A15}"/>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ABF882D9-8EA9-74E0-EE45-A855F40BE563}"/>
              </a:ext>
            </a:extLst>
          </p:cNvPr>
          <p:cNvSpPr>
            <a:spLocks noGrp="1"/>
          </p:cNvSpPr>
          <p:nvPr>
            <p:ph type="sldNum" sz="quarter" idx="10"/>
          </p:nvPr>
        </p:nvSpPr>
        <p:spPr>
          <a:xfrm>
            <a:off x="7616825" y="6381750"/>
            <a:ext cx="2133600" cy="476250"/>
          </a:xfrm>
        </p:spPr>
        <p:txBody>
          <a:bodyPr/>
          <a:lstStyle>
            <a:lvl1pPr>
              <a:defRPr/>
            </a:lvl1pPr>
          </a:lstStyle>
          <a:p>
            <a:fld id="{2C8F4004-1711-427D-BC2C-14BE5B82E734}" type="slidenum">
              <a:rPr lang="en-US" altLang="ja-JP"/>
              <a:pPr/>
              <a:t>‹#›</a:t>
            </a:fld>
            <a:endParaRPr lang="en-US" altLang="ja-JP"/>
          </a:p>
        </p:txBody>
      </p:sp>
    </p:spTree>
    <p:extLst>
      <p:ext uri="{BB962C8B-B14F-4D97-AF65-F5344CB8AC3E}">
        <p14:creationId xmlns:p14="http://schemas.microsoft.com/office/powerpoint/2010/main" val="3968016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2026/8/12</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en-US" altLang="ja-JP" dirty="0">
                <a:latin typeface="+mj-lt"/>
              </a:rPr>
              <a:t>Java Programming</a:t>
            </a:r>
            <a:br>
              <a:rPr lang="en-US" altLang="ja-JP" dirty="0">
                <a:latin typeface="+mj-lt"/>
              </a:rPr>
            </a:br>
            <a:br>
              <a:rPr lang="vi-VN" altLang="ja-JP" kern="1200" dirty="0">
                <a:latin typeface="+mj-lt"/>
              </a:rPr>
            </a:br>
            <a:endParaRPr kumimoji="1" lang="ja-JP" altLang="en-US" dirty="0">
              <a:latin typeface="+mj-lt"/>
              <a:cs typeface="Times New Roman" panose="02020603050405020304" pitchFamily="18" charset="0"/>
            </a:endParaRPr>
          </a:p>
        </p:txBody>
      </p:sp>
      <p:sp>
        <p:nvSpPr>
          <p:cNvPr id="3" name="Subtitle 2">
            <a:extLst>
              <a:ext uri="{FF2B5EF4-FFF2-40B4-BE49-F238E27FC236}">
                <a16:creationId xmlns:a16="http://schemas.microsoft.com/office/drawing/2014/main" id="{708F8EF2-D090-2D87-3C30-91D44315D1EC}"/>
              </a:ext>
            </a:extLst>
          </p:cNvPr>
          <p:cNvSpPr>
            <a:spLocks noGrp="1"/>
          </p:cNvSpPr>
          <p:nvPr>
            <p:ph type="subTitle" idx="1"/>
          </p:nvPr>
        </p:nvSpPr>
        <p:spPr>
          <a:xfrm>
            <a:off x="2231027" y="4419600"/>
            <a:ext cx="6934200" cy="1752600"/>
          </a:xfrm>
        </p:spPr>
        <p:txBody>
          <a:bodyPr>
            <a:normAutofit/>
          </a:bodyPr>
          <a:lstStyle/>
          <a:p>
            <a:pPr algn="r"/>
            <a:endParaRPr kumimoji="1" lang="en-US" altLang="ja-JP" sz="2800" dirty="0">
              <a:latin typeface="+mj-lt"/>
            </a:endParaRPr>
          </a:p>
          <a:p>
            <a:pPr algn="r"/>
            <a:r>
              <a:rPr lang="en-US" altLang="ja-JP" sz="2800" dirty="0">
                <a:latin typeface="+mj-lt"/>
              </a:rPr>
              <a:t>Mai Ngọc </a:t>
            </a:r>
            <a:r>
              <a:rPr lang="en-US" altLang="ja-JP" sz="2800" dirty="0" err="1">
                <a:latin typeface="+mj-lt"/>
              </a:rPr>
              <a:t>Khương</a:t>
            </a:r>
            <a:endParaRPr lang="en-US" altLang="ja-JP" sz="2800" dirty="0">
              <a:latin typeface="+mj-lt"/>
            </a:endParaRPr>
          </a:p>
          <a:p>
            <a:pPr algn="r"/>
            <a:r>
              <a:rPr kumimoji="1" lang="en-US" altLang="ja-JP" sz="2800" dirty="0">
                <a:latin typeface="+mj-lt"/>
              </a:rPr>
              <a:t>H</a:t>
            </a:r>
            <a:r>
              <a:rPr lang="en-US" altLang="ja-JP" sz="2800" dirty="0">
                <a:latin typeface="+mj-lt"/>
              </a:rPr>
              <a:t>à </a:t>
            </a:r>
            <a:r>
              <a:rPr lang="en-US" altLang="ja-JP" sz="2800" dirty="0" err="1">
                <a:latin typeface="+mj-lt"/>
              </a:rPr>
              <a:t>nội</a:t>
            </a:r>
            <a:r>
              <a:rPr lang="en-US" altLang="ja-JP" sz="2800" dirty="0">
                <a:latin typeface="+mj-lt"/>
              </a:rPr>
              <a:t>, </a:t>
            </a:r>
            <a:r>
              <a:rPr lang="en-US" altLang="ja-JP" sz="2800" dirty="0" err="1">
                <a:latin typeface="+mj-lt"/>
              </a:rPr>
              <a:t>tháng</a:t>
            </a:r>
            <a:r>
              <a:rPr lang="en-US" altLang="ja-JP" sz="2800" dirty="0">
                <a:latin typeface="+mj-lt"/>
              </a:rPr>
              <a:t> 8 </a:t>
            </a:r>
            <a:r>
              <a:rPr lang="en-US" altLang="ja-JP" sz="2800" dirty="0" err="1">
                <a:latin typeface="+mj-lt"/>
              </a:rPr>
              <a:t>năm</a:t>
            </a:r>
            <a:r>
              <a:rPr lang="en-US" altLang="ja-JP" sz="2800" dirty="0">
                <a:latin typeface="+mj-lt"/>
              </a:rPr>
              <a:t> 2026</a:t>
            </a:r>
            <a:endParaRPr kumimoji="1" lang="ja-JP" altLang="en-US" sz="2800" dirty="0">
              <a:latin typeface="+mj-lt"/>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4DDB92D-1849-2485-3BE9-2219BAA8C89C}"/>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684E9161-E0E9-488C-B6B9-5BDC7F1BCDEC}" type="slidenum">
              <a:rPr lang="en-US" altLang="ja-JP" smtClean="0"/>
              <a:pPr/>
              <a:t>2</a:t>
            </a:fld>
            <a:endParaRPr lang="en-US" altLang="ja-JP"/>
          </a:p>
        </p:txBody>
      </p:sp>
      <p:sp>
        <p:nvSpPr>
          <p:cNvPr id="256003" name="Text Box 3">
            <a:extLst>
              <a:ext uri="{FF2B5EF4-FFF2-40B4-BE49-F238E27FC236}">
                <a16:creationId xmlns:a16="http://schemas.microsoft.com/office/drawing/2014/main" id="{CC2A8A9C-E656-031F-58F5-5F6CB8C6BE7E}"/>
              </a:ext>
            </a:extLst>
          </p:cNvPr>
          <p:cNvSpPr txBox="1">
            <a:spLocks noChangeArrowheads="1"/>
          </p:cNvSpPr>
          <p:nvPr/>
        </p:nvSpPr>
        <p:spPr bwMode="auto">
          <a:xfrm>
            <a:off x="228600" y="2209800"/>
            <a:ext cx="9758941" cy="7908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4400" b="0" dirty="0" err="1">
                <a:ea typeface="ヒラギノ明朝 Pro W6" pitchFamily="18" charset="-128"/>
              </a:rPr>
              <a:t>Kiến</a:t>
            </a:r>
            <a:r>
              <a:rPr lang="en-US" altLang="ja-JP" sz="4400" b="0" dirty="0">
                <a:ea typeface="ヒラギノ明朝 Pro W6" pitchFamily="18" charset="-128"/>
              </a:rPr>
              <a:t> </a:t>
            </a:r>
            <a:r>
              <a:rPr lang="en-US" altLang="ja-JP" sz="4400" b="0" dirty="0" err="1">
                <a:ea typeface="ヒラギノ明朝 Pro W6" pitchFamily="18" charset="-128"/>
              </a:rPr>
              <a:t>thức</a:t>
            </a:r>
            <a:r>
              <a:rPr lang="en-US" altLang="ja-JP" sz="4400" b="0" dirty="0">
                <a:ea typeface="ヒラギノ明朝 Pro W6" pitchFamily="18" charset="-128"/>
              </a:rPr>
              <a:t> </a:t>
            </a:r>
            <a:r>
              <a:rPr lang="en-US" altLang="ja-JP" sz="4400" b="0" dirty="0" err="1">
                <a:ea typeface="ヒラギノ明朝 Pro W6" pitchFamily="18" charset="-128"/>
              </a:rPr>
              <a:t>cơ</a:t>
            </a:r>
            <a:r>
              <a:rPr lang="en-US" altLang="ja-JP" sz="4400" b="0" dirty="0">
                <a:ea typeface="ヒラギノ明朝 Pro W6" pitchFamily="18" charset="-128"/>
              </a:rPr>
              <a:t> </a:t>
            </a:r>
            <a:r>
              <a:rPr lang="en-US" altLang="ja-JP" sz="4400" b="0" dirty="0" err="1">
                <a:ea typeface="ヒラギノ明朝 Pro W6" pitchFamily="18" charset="-128"/>
              </a:rPr>
              <a:t>bản</a:t>
            </a:r>
            <a:r>
              <a:rPr lang="en-US" altLang="ja-JP" sz="4400" b="0" dirty="0">
                <a:ea typeface="ヒラギノ明朝 Pro W6" pitchFamily="18" charset="-128"/>
              </a:rPr>
              <a:t> </a:t>
            </a:r>
            <a:r>
              <a:rPr lang="en-US" altLang="ja-JP" sz="4400" b="0" dirty="0" err="1">
                <a:ea typeface="ヒラギノ明朝 Pro W6" pitchFamily="18" charset="-128"/>
              </a:rPr>
              <a:t>vê</a:t>
            </a:r>
            <a:r>
              <a:rPr lang="en-US" altLang="ja-JP" sz="4400" b="0" dirty="0">
                <a:ea typeface="ヒラギノ明朝 Pro W6" pitchFamily="18" charset="-128"/>
              </a:rPr>
              <a:t>̀ </a:t>
            </a:r>
            <a:r>
              <a:rPr lang="en-US" altLang="ja-JP" sz="4400" b="0" dirty="0" err="1">
                <a:ea typeface="ヒラギノ明朝 Pro W6" pitchFamily="18" charset="-128"/>
              </a:rPr>
              <a:t>hướng</a:t>
            </a:r>
            <a:r>
              <a:rPr lang="en-US" altLang="ja-JP" sz="4400" b="0" dirty="0">
                <a:ea typeface="ヒラギノ明朝 Pro W6" pitchFamily="18" charset="-128"/>
              </a:rPr>
              <a:t> </a:t>
            </a:r>
            <a:r>
              <a:rPr lang="en-US" altLang="ja-JP" sz="4400" b="0" dirty="0" err="1">
                <a:ea typeface="ヒラギノ明朝 Pro W6" pitchFamily="18" charset="-128"/>
              </a:rPr>
              <a:t>đối</a:t>
            </a:r>
            <a:r>
              <a:rPr lang="en-US" altLang="ja-JP" sz="4400" b="0" dirty="0">
                <a:ea typeface="ヒラギノ明朝 Pro W6" pitchFamily="18" charset="-128"/>
              </a:rPr>
              <a:t> </a:t>
            </a:r>
            <a:r>
              <a:rPr lang="en-US" altLang="ja-JP" sz="4400" b="0" dirty="0" err="1">
                <a:ea typeface="ヒラギノ明朝 Pro W6" pitchFamily="18" charset="-128"/>
              </a:rPr>
              <a:t>tượng</a:t>
            </a:r>
            <a:endParaRPr lang="en-US" altLang="ja-JP" sz="4400" b="0" dirty="0">
              <a:ea typeface="ヒラギノ明朝 Pro W6" pitchFamily="18" charset="-128"/>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8FD1BEB-FC44-2813-AF8F-CBFBFC1A8850}"/>
              </a:ext>
            </a:extLst>
          </p:cNvPr>
          <p:cNvSpPr>
            <a:spLocks noGrp="1"/>
          </p:cNvSpPr>
          <p:nvPr>
            <p:ph type="sldNum" sz="quarter" idx="10"/>
          </p:nvPr>
        </p:nvSpPr>
        <p:spPr/>
        <p:txBody>
          <a:bodyPr/>
          <a:lstStyle/>
          <a:p>
            <a:fld id="{72D246DB-9C58-46D2-A468-4E071B91F820}" type="slidenum">
              <a:rPr lang="en-US" altLang="ja-JP"/>
              <a:pPr/>
              <a:t>3</a:t>
            </a:fld>
            <a:endParaRPr lang="en-US" altLang="ja-JP"/>
          </a:p>
        </p:txBody>
      </p:sp>
      <p:sp>
        <p:nvSpPr>
          <p:cNvPr id="368772" name="Rectangle 132">
            <a:extLst>
              <a:ext uri="{FF2B5EF4-FFF2-40B4-BE49-F238E27FC236}">
                <a16:creationId xmlns:a16="http://schemas.microsoft.com/office/drawing/2014/main" id="{3870F545-0222-DA3C-E729-CC3AF2C7BA34}"/>
              </a:ext>
            </a:extLst>
          </p:cNvPr>
          <p:cNvSpPr>
            <a:spLocks noChangeArrowheads="1"/>
          </p:cNvSpPr>
          <p:nvPr/>
        </p:nvSpPr>
        <p:spPr bwMode="auto">
          <a:xfrm>
            <a:off x="344488" y="1246188"/>
            <a:ext cx="9091612" cy="5078412"/>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71" name="Rectangle 131">
            <a:extLst>
              <a:ext uri="{FF2B5EF4-FFF2-40B4-BE49-F238E27FC236}">
                <a16:creationId xmlns:a16="http://schemas.microsoft.com/office/drawing/2014/main" id="{2CD05D43-FF64-5DA7-906D-969793F775A3}"/>
              </a:ext>
            </a:extLst>
          </p:cNvPr>
          <p:cNvSpPr>
            <a:spLocks noChangeArrowheads="1"/>
          </p:cNvSpPr>
          <p:nvPr/>
        </p:nvSpPr>
        <p:spPr bwMode="auto">
          <a:xfrm>
            <a:off x="617538" y="2162175"/>
            <a:ext cx="3590925" cy="3078163"/>
          </a:xfrm>
          <a:prstGeom prst="rect">
            <a:avLst/>
          </a:prstGeom>
          <a:solidFill>
            <a:srgbClr val="FFFFCC">
              <a:alpha val="50000"/>
            </a:srgbClr>
          </a:solidFill>
          <a:ln w="12700" algn="ctr">
            <a:solidFill>
              <a:schemeClr val="bg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642" name="Rectangle 2">
            <a:extLst>
              <a:ext uri="{FF2B5EF4-FFF2-40B4-BE49-F238E27FC236}">
                <a16:creationId xmlns:a16="http://schemas.microsoft.com/office/drawing/2014/main" id="{1857D5CE-6A90-480C-967A-34CB063E2CD0}"/>
              </a:ext>
            </a:extLst>
          </p:cNvPr>
          <p:cNvSpPr>
            <a:spLocks noGrp="1" noChangeArrowheads="1"/>
          </p:cNvSpPr>
          <p:nvPr>
            <p:ph type="title"/>
          </p:nvPr>
        </p:nvSpPr>
        <p:spPr>
          <a:xfrm>
            <a:off x="344488" y="36572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Hướng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(1)</a:t>
            </a:r>
          </a:p>
        </p:txBody>
      </p:sp>
      <p:sp>
        <p:nvSpPr>
          <p:cNvPr id="368643" name="Rectangle 3">
            <a:extLst>
              <a:ext uri="{FF2B5EF4-FFF2-40B4-BE49-F238E27FC236}">
                <a16:creationId xmlns:a16="http://schemas.microsoft.com/office/drawing/2014/main" id="{D93ED00F-B084-7561-05A2-A5DEDA514E4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AA1BDD96-699C-52D6-4E0F-1B3BD5EC38A7}"/>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Hướng đối tượng</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719" name="Rectangle 79">
            <a:extLst>
              <a:ext uri="{FF2B5EF4-FFF2-40B4-BE49-F238E27FC236}">
                <a16:creationId xmlns:a16="http://schemas.microsoft.com/office/drawing/2014/main" id="{B57E28DD-8963-C89A-40B1-55436D852AEF}"/>
              </a:ext>
            </a:extLst>
          </p:cNvPr>
          <p:cNvSpPr>
            <a:spLocks noChangeArrowheads="1"/>
          </p:cNvSpPr>
          <p:nvPr/>
        </p:nvSpPr>
        <p:spPr bwMode="auto">
          <a:xfrm>
            <a:off x="6099175" y="1703388"/>
            <a:ext cx="18399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2000">
                <a:latin typeface="Times New Roman" panose="02020603050405020304" pitchFamily="18" charset="0"/>
                <a:ea typeface="ＭＳ Ｐゴシック" panose="020B0600070205080204" pitchFamily="50" charset="-128"/>
              </a:rPr>
              <a:t>Computer</a:t>
            </a:r>
          </a:p>
        </p:txBody>
      </p:sp>
      <p:sp>
        <p:nvSpPr>
          <p:cNvPr id="368720" name="Rectangle 80">
            <a:extLst>
              <a:ext uri="{FF2B5EF4-FFF2-40B4-BE49-F238E27FC236}">
                <a16:creationId xmlns:a16="http://schemas.microsoft.com/office/drawing/2014/main" id="{0B1B478C-A324-806C-7D02-0C8D95971358}"/>
              </a:ext>
            </a:extLst>
          </p:cNvPr>
          <p:cNvSpPr>
            <a:spLocks noChangeArrowheads="1"/>
          </p:cNvSpPr>
          <p:nvPr/>
        </p:nvSpPr>
        <p:spPr bwMode="auto">
          <a:xfrm>
            <a:off x="5475288" y="2135188"/>
            <a:ext cx="2938462" cy="1362075"/>
          </a:xfrm>
          <a:prstGeom prst="rect">
            <a:avLst/>
          </a:prstGeom>
          <a:solidFill>
            <a:srgbClr val="CCEC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21" name="AutoShape 81">
            <a:extLst>
              <a:ext uri="{FF2B5EF4-FFF2-40B4-BE49-F238E27FC236}">
                <a16:creationId xmlns:a16="http://schemas.microsoft.com/office/drawing/2014/main" id="{43D9D705-9F63-9A83-2154-E272C178351D}"/>
              </a:ext>
            </a:extLst>
          </p:cNvPr>
          <p:cNvSpPr>
            <a:spLocks noChangeArrowheads="1"/>
          </p:cNvSpPr>
          <p:nvPr/>
        </p:nvSpPr>
        <p:spPr bwMode="auto">
          <a:xfrm>
            <a:off x="5613400" y="2274888"/>
            <a:ext cx="2646363" cy="1109662"/>
          </a:xfrm>
          <a:prstGeom prst="roundRect">
            <a:avLst>
              <a:gd name="adj" fmla="val 12495"/>
            </a:avLst>
          </a:prstGeom>
          <a:solidFill>
            <a:srgbClr val="FFFFCC">
              <a:alpha val="50000"/>
            </a:srgbClr>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22" name="Freeform 82">
            <a:extLst>
              <a:ext uri="{FF2B5EF4-FFF2-40B4-BE49-F238E27FC236}">
                <a16:creationId xmlns:a16="http://schemas.microsoft.com/office/drawing/2014/main" id="{D3EE8E46-81A2-9FA9-E1B7-A5C49AFC42FA}"/>
              </a:ext>
            </a:extLst>
          </p:cNvPr>
          <p:cNvSpPr>
            <a:spLocks/>
          </p:cNvSpPr>
          <p:nvPr/>
        </p:nvSpPr>
        <p:spPr bwMode="auto">
          <a:xfrm>
            <a:off x="5530850" y="3498850"/>
            <a:ext cx="2862263" cy="1555750"/>
          </a:xfrm>
          <a:custGeom>
            <a:avLst/>
            <a:gdLst>
              <a:gd name="T0" fmla="*/ 575 w 1719"/>
              <a:gd name="T1" fmla="*/ 0 h 1504"/>
              <a:gd name="T2" fmla="*/ 572 w 1719"/>
              <a:gd name="T3" fmla="*/ 111 h 1504"/>
              <a:gd name="T4" fmla="*/ 0 w 1719"/>
              <a:gd name="T5" fmla="*/ 111 h 1504"/>
              <a:gd name="T6" fmla="*/ 0 w 1719"/>
              <a:gd name="T7" fmla="*/ 1503 h 1504"/>
              <a:gd name="T8" fmla="*/ 1718 w 1719"/>
              <a:gd name="T9" fmla="*/ 1503 h 1504"/>
              <a:gd name="T10" fmla="*/ 1718 w 1719"/>
              <a:gd name="T11" fmla="*/ 125 h 1504"/>
              <a:gd name="T12" fmla="*/ 1215 w 1719"/>
              <a:gd name="T13" fmla="*/ 125 h 1504"/>
              <a:gd name="T14" fmla="*/ 1215 w 1719"/>
              <a:gd name="T15" fmla="*/ 2 h 1504"/>
              <a:gd name="T16" fmla="*/ 575 w 1719"/>
              <a:gd name="T17" fmla="*/ 0 h 15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19" h="1504">
                <a:moveTo>
                  <a:pt x="575" y="0"/>
                </a:moveTo>
                <a:lnTo>
                  <a:pt x="572" y="111"/>
                </a:lnTo>
                <a:lnTo>
                  <a:pt x="0" y="111"/>
                </a:lnTo>
                <a:lnTo>
                  <a:pt x="0" y="1503"/>
                </a:lnTo>
                <a:lnTo>
                  <a:pt x="1718" y="1503"/>
                </a:lnTo>
                <a:lnTo>
                  <a:pt x="1718" y="125"/>
                </a:lnTo>
                <a:lnTo>
                  <a:pt x="1215" y="125"/>
                </a:lnTo>
                <a:lnTo>
                  <a:pt x="1215" y="2"/>
                </a:lnTo>
                <a:lnTo>
                  <a:pt x="575" y="0"/>
                </a:lnTo>
              </a:path>
            </a:pathLst>
          </a:custGeom>
          <a:solidFill>
            <a:srgbClr val="CCECFF"/>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68723" name="Rectangle 83">
            <a:extLst>
              <a:ext uri="{FF2B5EF4-FFF2-40B4-BE49-F238E27FC236}">
                <a16:creationId xmlns:a16="http://schemas.microsoft.com/office/drawing/2014/main" id="{BEFB2581-48FD-288E-CEC0-A10589202455}"/>
              </a:ext>
            </a:extLst>
          </p:cNvPr>
          <p:cNvSpPr>
            <a:spLocks noChangeArrowheads="1"/>
          </p:cNvSpPr>
          <p:nvPr/>
        </p:nvSpPr>
        <p:spPr bwMode="auto">
          <a:xfrm>
            <a:off x="5627688" y="3759200"/>
            <a:ext cx="812800"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Khách </a:t>
            </a:r>
          </a:p>
          <a:p>
            <a:pPr algn="ctr" eaLnBrk="0" hangingPunct="0"/>
            <a:r>
              <a:rPr lang="en-US" altLang="ja-JP" sz="2000">
                <a:latin typeface="Times New Roman" panose="02020603050405020304" pitchFamily="18" charset="0"/>
                <a:ea typeface="ＭＳ Ｐゴシック" panose="020B0600070205080204" pitchFamily="50" charset="-128"/>
              </a:rPr>
              <a:t>hàng</a:t>
            </a:r>
          </a:p>
        </p:txBody>
      </p:sp>
      <p:sp>
        <p:nvSpPr>
          <p:cNvPr id="368724" name="Rectangle 84">
            <a:extLst>
              <a:ext uri="{FF2B5EF4-FFF2-40B4-BE49-F238E27FC236}">
                <a16:creationId xmlns:a16="http://schemas.microsoft.com/office/drawing/2014/main" id="{D9F13C6C-67C4-4ECC-5004-90869D5B22FA}"/>
              </a:ext>
            </a:extLst>
          </p:cNvPr>
          <p:cNvSpPr>
            <a:spLocks noChangeArrowheads="1"/>
          </p:cNvSpPr>
          <p:nvPr/>
        </p:nvSpPr>
        <p:spPr bwMode="auto">
          <a:xfrm>
            <a:off x="6523038" y="3759200"/>
            <a:ext cx="839787"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Mua</a:t>
            </a:r>
          </a:p>
        </p:txBody>
      </p:sp>
      <p:sp>
        <p:nvSpPr>
          <p:cNvPr id="368725" name="Rectangle 85">
            <a:extLst>
              <a:ext uri="{FF2B5EF4-FFF2-40B4-BE49-F238E27FC236}">
                <a16:creationId xmlns:a16="http://schemas.microsoft.com/office/drawing/2014/main" id="{4F00FCE4-B411-C2E5-E97C-D98A91221AC1}"/>
              </a:ext>
            </a:extLst>
          </p:cNvPr>
          <p:cNvSpPr>
            <a:spLocks noChangeArrowheads="1"/>
          </p:cNvSpPr>
          <p:nvPr/>
        </p:nvSpPr>
        <p:spPr bwMode="auto">
          <a:xfrm>
            <a:off x="7443788" y="3760788"/>
            <a:ext cx="828675" cy="1120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latin typeface="Times New Roman" panose="02020603050405020304" pitchFamily="18" charset="0"/>
                <a:ea typeface="ＭＳ Ｐゴシック" panose="020B0600070205080204" pitchFamily="50" charset="-128"/>
              </a:rPr>
              <a:t>Hàng </a:t>
            </a:r>
          </a:p>
          <a:p>
            <a:pPr algn="ctr" eaLnBrk="0" hangingPunct="0"/>
            <a:r>
              <a:rPr lang="en-US" altLang="ja-JP" sz="2000">
                <a:latin typeface="Times New Roman" panose="02020603050405020304" pitchFamily="18" charset="0"/>
                <a:ea typeface="ＭＳ Ｐゴシック" panose="020B0600070205080204" pitchFamily="50" charset="-128"/>
              </a:rPr>
              <a:t>hóa</a:t>
            </a:r>
          </a:p>
        </p:txBody>
      </p:sp>
      <p:sp>
        <p:nvSpPr>
          <p:cNvPr id="368729" name="Rectangle 89">
            <a:extLst>
              <a:ext uri="{FF2B5EF4-FFF2-40B4-BE49-F238E27FC236}">
                <a16:creationId xmlns:a16="http://schemas.microsoft.com/office/drawing/2014/main" id="{3D677E44-7A9D-FA76-C109-1A487F327D1C}"/>
              </a:ext>
            </a:extLst>
          </p:cNvPr>
          <p:cNvSpPr>
            <a:spLocks noChangeArrowheads="1"/>
          </p:cNvSpPr>
          <p:nvPr/>
        </p:nvSpPr>
        <p:spPr bwMode="auto">
          <a:xfrm>
            <a:off x="914400" y="1627188"/>
            <a:ext cx="2325688"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2000">
                <a:latin typeface="Times New Roman" panose="02020603050405020304" pitchFamily="18" charset="0"/>
                <a:ea typeface="ＭＳ Ｐゴシック" panose="020B0600070205080204" pitchFamily="50" charset="-128"/>
              </a:rPr>
              <a:t>Thế giới thực</a:t>
            </a:r>
          </a:p>
        </p:txBody>
      </p:sp>
      <p:sp>
        <p:nvSpPr>
          <p:cNvPr id="368769" name="AutoShape 129">
            <a:extLst>
              <a:ext uri="{FF2B5EF4-FFF2-40B4-BE49-F238E27FC236}">
                <a16:creationId xmlns:a16="http://schemas.microsoft.com/office/drawing/2014/main" id="{E6BDBE08-4EB6-EFFD-70A4-FB1898EA3829}"/>
              </a:ext>
            </a:extLst>
          </p:cNvPr>
          <p:cNvSpPr>
            <a:spLocks noChangeArrowheads="1"/>
          </p:cNvSpPr>
          <p:nvPr/>
        </p:nvSpPr>
        <p:spPr bwMode="auto">
          <a:xfrm>
            <a:off x="4452938" y="3233738"/>
            <a:ext cx="801687" cy="849312"/>
          </a:xfrm>
          <a:prstGeom prst="rightArrow">
            <a:avLst>
              <a:gd name="adj1" fmla="val 50000"/>
              <a:gd name="adj2" fmla="val 25000"/>
            </a:avLst>
          </a:prstGeom>
          <a:solidFill>
            <a:srgbClr val="0033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774" name="AutoShape 134">
            <a:extLst>
              <a:ext uri="{FF2B5EF4-FFF2-40B4-BE49-F238E27FC236}">
                <a16:creationId xmlns:a16="http://schemas.microsoft.com/office/drawing/2014/main" id="{058E9176-1B2F-01F3-A568-67FA4D30491D}"/>
              </a:ext>
            </a:extLst>
          </p:cNvPr>
          <p:cNvSpPr>
            <a:spLocks noChangeArrowheads="1"/>
          </p:cNvSpPr>
          <p:nvPr/>
        </p:nvSpPr>
        <p:spPr bwMode="auto">
          <a:xfrm>
            <a:off x="684213" y="5395913"/>
            <a:ext cx="4699000" cy="804862"/>
          </a:xfrm>
          <a:prstGeom prst="wedgeRoundRectCallout">
            <a:avLst>
              <a:gd name="adj1" fmla="val 31958"/>
              <a:gd name="adj2" fmla="val -116667"/>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Nhìn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nhận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cũng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như</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hiện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khái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niệm</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là</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Sự</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vật</a:t>
            </a:r>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Hoạt</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động</a:t>
            </a:r>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a:t>
            </a:r>
          </a:p>
        </p:txBody>
      </p:sp>
      <p:sp>
        <p:nvSpPr>
          <p:cNvPr id="368776" name="AutoShape 136">
            <a:extLst>
              <a:ext uri="{FF2B5EF4-FFF2-40B4-BE49-F238E27FC236}">
                <a16:creationId xmlns:a16="http://schemas.microsoft.com/office/drawing/2014/main" id="{96F805A4-AFDA-6891-BB13-0BEA993F97C6}"/>
              </a:ext>
            </a:extLst>
          </p:cNvPr>
          <p:cNvSpPr>
            <a:spLocks noChangeArrowheads="1"/>
          </p:cNvSpPr>
          <p:nvPr/>
        </p:nvSpPr>
        <p:spPr bwMode="auto">
          <a:xfrm>
            <a:off x="4319588" y="994372"/>
            <a:ext cx="4862512" cy="607416"/>
          </a:xfrm>
          <a:prstGeom prst="wedgeRoundRectCallout">
            <a:avLst>
              <a:gd name="adj1" fmla="val 20486"/>
              <a:gd name="adj2" fmla="val 76625"/>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Xây</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dựng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bằng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tập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hợp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đối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tượng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hiện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như</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một</a:t>
            </a:r>
            <a:r>
              <a:rPr lang="en-US" altLang="ja-JP" sz="1600" b="0" dirty="0">
                <a:latin typeface="+mj-lt"/>
                <a:cs typeface="Times New Roman" panose="02020603050405020304" pitchFamily="18" charset="0"/>
              </a:rPr>
              <a:t> software. </a:t>
            </a:r>
          </a:p>
        </p:txBody>
      </p:sp>
      <p:sp>
        <p:nvSpPr>
          <p:cNvPr id="368777" name="AutoShape 137">
            <a:extLst>
              <a:ext uri="{FF2B5EF4-FFF2-40B4-BE49-F238E27FC236}">
                <a16:creationId xmlns:a16="http://schemas.microsoft.com/office/drawing/2014/main" id="{9D20D4D9-7674-E998-48B5-D3213241C9C8}"/>
              </a:ext>
            </a:extLst>
          </p:cNvPr>
          <p:cNvSpPr>
            <a:spLocks noChangeArrowheads="1"/>
          </p:cNvSpPr>
          <p:nvPr/>
        </p:nvSpPr>
        <p:spPr bwMode="auto">
          <a:xfrm>
            <a:off x="5627688" y="5367338"/>
            <a:ext cx="3579812" cy="804862"/>
          </a:xfrm>
          <a:prstGeom prst="wedgeRoundRectCallout">
            <a:avLst>
              <a:gd name="adj1" fmla="val -20157"/>
              <a:gd name="adj2" fmla="val -80968"/>
              <a:gd name="adj3" fmla="val 16667"/>
            </a:avLst>
          </a:prstGeom>
          <a:solidFill>
            <a:srgbClr val="FFCC99">
              <a:alpha val="53999"/>
            </a:srgbClr>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err="1">
                <a:latin typeface="+mj-lt"/>
                <a:cs typeface="Times New Roman" panose="02020603050405020304" pitchFamily="18" charset="0"/>
              </a:rPr>
              <a:t>Gọi</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Sự</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vật</a:t>
            </a:r>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Hoạt</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động</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của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thế</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giới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hệ</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thống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là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đối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tượng</a:t>
            </a:r>
            <a:r>
              <a:rPr lang="en-US" altLang="ja-JP" sz="1600" b="0" dirty="0">
                <a:latin typeface="+mj-lt"/>
                <a:cs typeface="Times New Roman" panose="02020603050405020304" pitchFamily="18" charset="0"/>
              </a:rPr>
              <a:t>. </a:t>
            </a:r>
          </a:p>
        </p:txBody>
      </p:sp>
      <p:pic>
        <p:nvPicPr>
          <p:cNvPr id="368778" name="Picture 138">
            <a:extLst>
              <a:ext uri="{FF2B5EF4-FFF2-40B4-BE49-F238E27FC236}">
                <a16:creationId xmlns:a16="http://schemas.microsoft.com/office/drawing/2014/main" id="{467E2B80-BD60-A88F-9661-2D14F27B0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63875" y="2794000"/>
            <a:ext cx="771525" cy="673100"/>
          </a:xfrm>
          <a:prstGeom prst="rect">
            <a:avLst/>
          </a:prstGeom>
          <a:noFill/>
          <a:extLst>
            <a:ext uri="{909E8E84-426E-40DD-AFC4-6F175D3DCCD1}">
              <a14:hiddenFill xmlns:a14="http://schemas.microsoft.com/office/drawing/2010/main">
                <a:solidFill>
                  <a:srgbClr val="FFFFFF"/>
                </a:solidFill>
              </a14:hiddenFill>
            </a:ext>
          </a:extLst>
        </p:spPr>
      </p:pic>
      <p:sp>
        <p:nvSpPr>
          <p:cNvPr id="368791" name="Freeform 151">
            <a:extLst>
              <a:ext uri="{FF2B5EF4-FFF2-40B4-BE49-F238E27FC236}">
                <a16:creationId xmlns:a16="http://schemas.microsoft.com/office/drawing/2014/main" id="{DA982AC3-22E1-AB6F-B64A-2E86C8989957}"/>
              </a:ext>
            </a:extLst>
          </p:cNvPr>
          <p:cNvSpPr>
            <a:spLocks/>
          </p:cNvSpPr>
          <p:nvPr/>
        </p:nvSpPr>
        <p:spPr bwMode="auto">
          <a:xfrm>
            <a:off x="1139825" y="3905250"/>
            <a:ext cx="395288" cy="99060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68792" name="Freeform 152">
            <a:extLst>
              <a:ext uri="{FF2B5EF4-FFF2-40B4-BE49-F238E27FC236}">
                <a16:creationId xmlns:a16="http://schemas.microsoft.com/office/drawing/2014/main" id="{D1B97A41-F96B-B196-E3CB-54185E1AF2CE}"/>
              </a:ext>
            </a:extLst>
          </p:cNvPr>
          <p:cNvSpPr>
            <a:spLocks/>
          </p:cNvSpPr>
          <p:nvPr/>
        </p:nvSpPr>
        <p:spPr bwMode="auto">
          <a:xfrm>
            <a:off x="1123950" y="2527300"/>
            <a:ext cx="446088" cy="939800"/>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pic>
        <p:nvPicPr>
          <p:cNvPr id="368795" name="Picture 155">
            <a:extLst>
              <a:ext uri="{FF2B5EF4-FFF2-40B4-BE49-F238E27FC236}">
                <a16:creationId xmlns:a16="http://schemas.microsoft.com/office/drawing/2014/main" id="{BA9B9BAB-0828-315E-636F-E2DFE47337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05138" y="3938588"/>
            <a:ext cx="677862" cy="908050"/>
          </a:xfrm>
          <a:prstGeom prst="rect">
            <a:avLst/>
          </a:prstGeom>
          <a:noFill/>
          <a:extLst>
            <a:ext uri="{909E8E84-426E-40DD-AFC4-6F175D3DCCD1}">
              <a14:hiddenFill xmlns:a14="http://schemas.microsoft.com/office/drawing/2010/main">
                <a:solidFill>
                  <a:srgbClr val="FFFFFF"/>
                </a:solidFill>
              </a14:hiddenFill>
            </a:ext>
          </a:extLst>
        </p:spPr>
      </p:pic>
      <p:sp>
        <p:nvSpPr>
          <p:cNvPr id="368796" name="AutoShape 156">
            <a:extLst>
              <a:ext uri="{FF2B5EF4-FFF2-40B4-BE49-F238E27FC236}">
                <a16:creationId xmlns:a16="http://schemas.microsoft.com/office/drawing/2014/main" id="{A45C3281-C9AA-571C-0CF7-1222571AE106}"/>
              </a:ext>
            </a:extLst>
          </p:cNvPr>
          <p:cNvSpPr>
            <a:spLocks noChangeArrowheads="1"/>
          </p:cNvSpPr>
          <p:nvPr/>
        </p:nvSpPr>
        <p:spPr bwMode="auto">
          <a:xfrm>
            <a:off x="1782763" y="4006850"/>
            <a:ext cx="866775" cy="728663"/>
          </a:xfrm>
          <a:prstGeom prst="star16">
            <a:avLst>
              <a:gd name="adj" fmla="val 37500"/>
            </a:avLst>
          </a:prstGeom>
          <a:solidFill>
            <a:srgbClr val="FF00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solidFill>
                  <a:schemeClr val="bg1"/>
                </a:solidFill>
                <a:latin typeface="Times New Roman" panose="02020603050405020304" pitchFamily="18" charset="0"/>
              </a:rPr>
              <a:t>Mua</a:t>
            </a:r>
          </a:p>
        </p:txBody>
      </p:sp>
      <p:sp>
        <p:nvSpPr>
          <p:cNvPr id="368731" name="AutoShape 91">
            <a:extLst>
              <a:ext uri="{FF2B5EF4-FFF2-40B4-BE49-F238E27FC236}">
                <a16:creationId xmlns:a16="http://schemas.microsoft.com/office/drawing/2014/main" id="{4D60A32D-0690-5055-A16F-C6728119CFB6}"/>
              </a:ext>
            </a:extLst>
          </p:cNvPr>
          <p:cNvSpPr>
            <a:spLocks noChangeArrowheads="1"/>
          </p:cNvSpPr>
          <p:nvPr/>
        </p:nvSpPr>
        <p:spPr bwMode="auto">
          <a:xfrm>
            <a:off x="1809750" y="2562225"/>
            <a:ext cx="866775" cy="728663"/>
          </a:xfrm>
          <a:prstGeom prst="star16">
            <a:avLst>
              <a:gd name="adj" fmla="val 37500"/>
            </a:avLst>
          </a:prstGeom>
          <a:solidFill>
            <a:srgbClr val="FF00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000">
                <a:solidFill>
                  <a:schemeClr val="bg1"/>
                </a:solidFill>
                <a:latin typeface="Times New Roman" panose="02020603050405020304" pitchFamily="18" charset="0"/>
              </a:rPr>
              <a:t>Mua</a:t>
            </a:r>
          </a:p>
        </p:txBody>
      </p:sp>
      <p:sp>
        <p:nvSpPr>
          <p:cNvPr id="368799" name="Line 159">
            <a:extLst>
              <a:ext uri="{FF2B5EF4-FFF2-40B4-BE49-F238E27FC236}">
                <a16:creationId xmlns:a16="http://schemas.microsoft.com/office/drawing/2014/main" id="{0292F1CF-3B09-E6C4-C195-CD6096114A9D}"/>
              </a:ext>
            </a:extLst>
          </p:cNvPr>
          <p:cNvSpPr>
            <a:spLocks noChangeShapeType="1"/>
          </p:cNvSpPr>
          <p:nvPr/>
        </p:nvSpPr>
        <p:spPr bwMode="auto">
          <a:xfrm>
            <a:off x="1731963" y="3348038"/>
            <a:ext cx="1244600" cy="0"/>
          </a:xfrm>
          <a:prstGeom prst="line">
            <a:avLst/>
          </a:prstGeom>
          <a:noFill/>
          <a:ln w="381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68800" name="Line 160">
            <a:extLst>
              <a:ext uri="{FF2B5EF4-FFF2-40B4-BE49-F238E27FC236}">
                <a16:creationId xmlns:a16="http://schemas.microsoft.com/office/drawing/2014/main" id="{D4AF7ED1-8F23-0F5A-6608-471D87E17035}"/>
              </a:ext>
            </a:extLst>
          </p:cNvPr>
          <p:cNvSpPr>
            <a:spLocks noChangeShapeType="1"/>
          </p:cNvSpPr>
          <p:nvPr/>
        </p:nvSpPr>
        <p:spPr bwMode="auto">
          <a:xfrm>
            <a:off x="1719263" y="4849813"/>
            <a:ext cx="1244600" cy="0"/>
          </a:xfrm>
          <a:prstGeom prst="line">
            <a:avLst/>
          </a:prstGeom>
          <a:noFill/>
          <a:ln w="381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DBC654-3EA0-7E82-7E84-FE5F084935DD}"/>
              </a:ext>
            </a:extLst>
          </p:cNvPr>
          <p:cNvSpPr>
            <a:spLocks noGrp="1"/>
          </p:cNvSpPr>
          <p:nvPr>
            <p:ph type="sldNum" sz="quarter" idx="10"/>
          </p:nvPr>
        </p:nvSpPr>
        <p:spPr/>
        <p:txBody>
          <a:bodyPr/>
          <a:lstStyle/>
          <a:p>
            <a:fld id="{D44ED889-E7D9-4EAF-A04E-63DC708B93E7}" type="slidenum">
              <a:rPr lang="en-US" altLang="ja-JP"/>
              <a:pPr/>
              <a:t>4</a:t>
            </a:fld>
            <a:endParaRPr lang="en-US" altLang="ja-JP"/>
          </a:p>
        </p:txBody>
      </p:sp>
      <p:sp>
        <p:nvSpPr>
          <p:cNvPr id="378882" name="Rectangle 2">
            <a:extLst>
              <a:ext uri="{FF2B5EF4-FFF2-40B4-BE49-F238E27FC236}">
                <a16:creationId xmlns:a16="http://schemas.microsoft.com/office/drawing/2014/main" id="{FE428044-B513-3AB9-D92A-756AE7B81EE4}"/>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78883" name="Rectangle 3">
            <a:extLst>
              <a:ext uri="{FF2B5EF4-FFF2-40B4-BE49-F238E27FC236}">
                <a16:creationId xmlns:a16="http://schemas.microsoft.com/office/drawing/2014/main" id="{1AFE6848-ECFE-0924-856D-F451C51C68E8}"/>
              </a:ext>
            </a:extLst>
          </p:cNvPr>
          <p:cNvSpPr>
            <a:spLocks noGrp="1" noChangeArrowheads="1"/>
          </p:cNvSpPr>
          <p:nvPr>
            <p:ph type="body" sz="half" idx="1"/>
          </p:nvPr>
        </p:nvSpPr>
        <p:spPr>
          <a:xfrm>
            <a:off x="344488" y="1143001"/>
            <a:ext cx="9180512" cy="5557837"/>
          </a:xfrm>
        </p:spPr>
        <p:txBody>
          <a:bodyPr>
            <a:normAutofit/>
          </a:bodyPr>
          <a:lstStyle/>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Tương</a:t>
            </a:r>
            <a:r>
              <a:rPr lang="en-US" altLang="ja-JP" sz="2000" dirty="0">
                <a:latin typeface="Arial" panose="020B0604020202020204" pitchFamily="34" charset="0"/>
              </a:rPr>
              <a:t> </a:t>
            </a:r>
            <a:r>
              <a:rPr lang="en-US" altLang="ja-JP" sz="2000" dirty="0" err="1">
                <a:latin typeface="Arial" panose="020B0604020202020204" pitchFamily="34" charset="0"/>
              </a:rPr>
              <a:t>tự</a:t>
            </a:r>
            <a:r>
              <a:rPr lang="en-US" altLang="ja-JP" sz="2000" dirty="0">
                <a:latin typeface="Arial" panose="020B0604020202020204" pitchFamily="34" charset="0"/>
              </a:rPr>
              <a:t> </a:t>
            </a:r>
            <a:r>
              <a:rPr lang="en-US" altLang="ja-JP" sz="2000" dirty="0" err="1">
                <a:latin typeface="Arial" panose="020B0604020202020204" pitchFamily="34" charset="0"/>
              </a:rPr>
              <a:t>với</a:t>
            </a:r>
            <a:r>
              <a:rPr lang="en-US" altLang="ja-JP" sz="2000" dirty="0">
                <a:latin typeface="Arial" panose="020B0604020202020204" pitchFamily="34" charset="0"/>
              </a:rPr>
              <a:t> </a:t>
            </a:r>
            <a:r>
              <a:rPr lang="en-US" altLang="ja-JP" sz="2000" dirty="0" err="1">
                <a:latin typeface="Arial" panose="020B0604020202020204" pitchFamily="34" charset="0"/>
              </a:rPr>
              <a:t>thế</a:t>
            </a:r>
            <a:r>
              <a:rPr lang="en-US" altLang="ja-JP" sz="2000" dirty="0">
                <a:latin typeface="Arial" panose="020B0604020202020204" pitchFamily="34" charset="0"/>
              </a:rPr>
              <a:t> </a:t>
            </a:r>
            <a:r>
              <a:rPr lang="en-US" altLang="ja-JP" sz="2000" dirty="0" err="1">
                <a:latin typeface="Arial" panose="020B0604020202020204" pitchFamily="34" charset="0"/>
              </a:rPr>
              <a:t>giới</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thế</a:t>
            </a:r>
            <a:r>
              <a:rPr lang="en-US" altLang="ja-JP" sz="2000" dirty="0">
                <a:latin typeface="Arial" panose="020B0604020202020204" pitchFamily="34" charset="0"/>
              </a:rPr>
              <a:t> </a:t>
            </a:r>
            <a:r>
              <a:rPr lang="en-US" altLang="ja-JP" sz="2000" dirty="0" err="1">
                <a:latin typeface="Arial" panose="020B0604020202020204" pitchFamily="34" charset="0"/>
              </a:rPr>
              <a:t>giới</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hệ</a:t>
            </a:r>
            <a:r>
              <a:rPr lang="en-US" altLang="ja-JP" sz="2000" dirty="0">
                <a:latin typeface="Arial" panose="020B0604020202020204" pitchFamily="34" charset="0"/>
              </a:rPr>
              <a:t> </a:t>
            </a:r>
            <a:r>
              <a:rPr lang="en-US" altLang="ja-JP" sz="2000" dirty="0" err="1">
                <a:latin typeface="Arial" panose="020B0604020202020204" pitchFamily="34" charset="0"/>
              </a:rPr>
              <a:t>thống</a:t>
            </a:r>
            <a:r>
              <a:rPr lang="en-US" altLang="ja-JP" sz="2000" dirty="0">
                <a:latin typeface="Arial" panose="020B0604020202020204" pitchFamily="34" charset="0"/>
              </a:rPr>
              <a:t> </a:t>
            </a:r>
            <a:r>
              <a:rPr lang="en-US" altLang="ja-JP" sz="2000" dirty="0" err="1">
                <a:latin typeface="Arial" panose="020B0604020202020204" pitchFamily="34" charset="0"/>
              </a:rPr>
              <a:t>thông</a:t>
            </a:r>
            <a:r>
              <a:rPr lang="en-US" altLang="ja-JP" sz="2000" dirty="0">
                <a:latin typeface="Arial" panose="020B0604020202020204" pitchFamily="34" charset="0"/>
              </a:rPr>
              <a:t> tin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coi</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khái</a:t>
            </a:r>
            <a:r>
              <a:rPr lang="en-US" altLang="ja-JP" sz="2000" dirty="0">
                <a:latin typeface="Arial" panose="020B0604020202020204" pitchFamily="34" charset="0"/>
              </a:rPr>
              <a:t> </a:t>
            </a:r>
            <a:r>
              <a:rPr lang="en-US" altLang="ja-JP" sz="2000" dirty="0" err="1">
                <a:latin typeface="Arial" panose="020B0604020202020204" pitchFamily="34" charset="0"/>
              </a:rPr>
              <a:t>niệm</a:t>
            </a:r>
            <a:r>
              <a:rPr lang="en-US" altLang="ja-JP" sz="2000" dirty="0">
                <a:latin typeface="Arial" panose="020B0604020202020204" pitchFamily="34" charset="0"/>
              </a:rPr>
              <a:t> </a:t>
            </a:r>
            <a:r>
              <a:rPr lang="en-US" altLang="ja-JP" sz="2000" dirty="0" err="1">
                <a:latin typeface="Arial" panose="020B0604020202020204" pitchFamily="34" charset="0"/>
              </a:rPr>
              <a:t>gọi</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ja-JP" altLang="en-US" sz="2000" dirty="0">
                <a:latin typeface="Arial" panose="020B0604020202020204" pitchFamily="34" charset="0"/>
              </a:rPr>
              <a:t>「</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ja-JP" altLang="en-US" sz="2000" dirty="0">
                <a:latin typeface="Arial" panose="020B0604020202020204" pitchFamily="34" charset="0"/>
              </a:rPr>
              <a:t>」 </a:t>
            </a:r>
            <a:r>
              <a:rPr lang="en-US" altLang="ja-JP" sz="2000" dirty="0" err="1">
                <a:latin typeface="Arial" panose="020B0604020202020204" pitchFamily="34" charset="0"/>
              </a:rPr>
              <a:t>và</a:t>
            </a:r>
            <a:r>
              <a:rPr lang="en-US" altLang="ja-JP" sz="2000" dirty="0">
                <a:latin typeface="Arial" panose="020B0604020202020204" pitchFamily="34" charset="0"/>
              </a:rPr>
              <a:t> </a:t>
            </a:r>
            <a:r>
              <a:rPr lang="ja-JP" altLang="en-US" sz="2000" dirty="0">
                <a:latin typeface="Arial" panose="020B0604020202020204" pitchFamily="34" charset="0"/>
              </a:rPr>
              <a:t>「</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ja-JP" altLang="en-US" sz="2000" dirty="0">
                <a:latin typeface="Arial" panose="020B0604020202020204" pitchFamily="34" charset="0"/>
              </a:rPr>
              <a:t>」</a:t>
            </a:r>
            <a:r>
              <a:rPr lang="en-US" altLang="ja-JP" sz="2000" dirty="0">
                <a:latin typeface="Arial" panose="020B0604020202020204" pitchFamily="34" charset="0"/>
              </a:rPr>
              <a: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Tập</a:t>
            </a:r>
            <a:r>
              <a:rPr lang="en-US" altLang="ja-JP" sz="2000" dirty="0">
                <a:latin typeface="Arial" panose="020B0604020202020204" pitchFamily="34" charset="0"/>
              </a:rPr>
              <a:t> </a:t>
            </a:r>
            <a:r>
              <a:rPr lang="en-US" altLang="ja-JP" sz="2000" dirty="0" err="1">
                <a:latin typeface="Arial" panose="020B0604020202020204" pitchFamily="34" charset="0"/>
              </a:rPr>
              <a:t>trung</a:t>
            </a:r>
            <a:r>
              <a:rPr lang="en-US" altLang="ja-JP" sz="2000" dirty="0">
                <a:latin typeface="Arial" panose="020B0604020202020204" pitchFamily="34" charset="0"/>
              </a:rPr>
              <a:t> </a:t>
            </a:r>
            <a:r>
              <a:rPr lang="en-US" altLang="ja-JP" sz="2000" dirty="0" err="1">
                <a:latin typeface="Arial" panose="020B0604020202020204" pitchFamily="34" charset="0"/>
              </a:rPr>
              <a:t>vào</a:t>
            </a:r>
            <a:r>
              <a:rPr lang="en-US" altLang="ja-JP" sz="2000" dirty="0">
                <a:latin typeface="Arial" panose="020B0604020202020204" pitchFamily="34" charset="0"/>
              </a:rPr>
              <a:t> </a:t>
            </a:r>
            <a:r>
              <a:rPr lang="en-US" altLang="ja-JP" sz="2000" dirty="0" err="1">
                <a:latin typeface="Arial" panose="020B0604020202020204" pitchFamily="34" charset="0"/>
              </a:rPr>
              <a:t>cách</a:t>
            </a:r>
            <a:r>
              <a:rPr lang="en-US" altLang="ja-JP" sz="2000" dirty="0">
                <a:latin typeface="Arial" panose="020B0604020202020204" pitchFamily="34" charset="0"/>
              </a:rPr>
              <a:t> </a:t>
            </a:r>
            <a:r>
              <a:rPr lang="en-US" altLang="ja-JP" sz="2000" dirty="0" err="1">
                <a:latin typeface="Arial" panose="020B0604020202020204" pitchFamily="34" charset="0"/>
              </a:rPr>
              <a:t>thức</a:t>
            </a:r>
            <a:r>
              <a:rPr lang="en-US" altLang="ja-JP" sz="2000" dirty="0">
                <a:latin typeface="Arial" panose="020B0604020202020204" pitchFamily="34" charset="0"/>
              </a:rPr>
              <a:t> </a:t>
            </a:r>
            <a:r>
              <a:rPr lang="en-US" altLang="ja-JP" sz="2000" dirty="0" err="1">
                <a:latin typeface="Arial" panose="020B0604020202020204" pitchFamily="34" charset="0"/>
              </a:rPr>
              <a:t>tồn</a:t>
            </a:r>
            <a:r>
              <a:rPr lang="en-US" altLang="ja-JP" sz="2000" dirty="0">
                <a:latin typeface="Arial" panose="020B0604020202020204" pitchFamily="34" charset="0"/>
              </a:rPr>
              <a:t> </a:t>
            </a:r>
            <a:r>
              <a:rPr lang="en-US" altLang="ja-JP" sz="2000" dirty="0" err="1">
                <a:latin typeface="Arial" panose="020B0604020202020204" pitchFamily="34" charset="0"/>
              </a:rPr>
              <a:t>tại</a:t>
            </a:r>
            <a:r>
              <a:rPr lang="en-US" altLang="ja-JP" sz="2000" dirty="0">
                <a:latin typeface="Arial" panose="020B0604020202020204" pitchFamily="34" charset="0"/>
              </a:rPr>
              <a:t> </a:t>
            </a:r>
            <a:r>
              <a:rPr lang="en-US" altLang="ja-JP" sz="2000" dirty="0" err="1">
                <a:latin typeface="Arial" panose="020B0604020202020204" pitchFamily="34" charset="0"/>
              </a:rPr>
              <a:t>của</a:t>
            </a:r>
            <a:r>
              <a:rPr lang="en-US" altLang="ja-JP" sz="2000" dirty="0">
                <a:latin typeface="Arial" panose="020B0604020202020204" pitchFamily="34" charset="0"/>
              </a:rPr>
              <a:t> </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va</a:t>
            </a:r>
            <a:r>
              <a:rPr lang="en-US" altLang="ja-JP" sz="2000" dirty="0">
                <a:latin typeface="Arial" panose="020B0604020202020204" pitchFamily="34" charset="0"/>
              </a:rPr>
              <a:t>̀ </a:t>
            </a:r>
            <a:r>
              <a:rPr lang="en-US" altLang="ja-JP" sz="2000" dirty="0" err="1">
                <a:latin typeface="Arial" panose="020B0604020202020204" pitchFamily="34" charset="0"/>
              </a:rPr>
              <a:t>coi</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giới</a:t>
            </a:r>
            <a:r>
              <a:rPr lang="en-US" altLang="ja-JP" sz="2000" dirty="0">
                <a:latin typeface="Arial" panose="020B0604020202020204" pitchFamily="34" charset="0"/>
              </a:rPr>
              <a:t> </a:t>
            </a:r>
            <a:r>
              <a:rPr lang="en-US" altLang="ja-JP" sz="2000" dirty="0" err="1">
                <a:latin typeface="Arial" panose="020B0604020202020204" pitchFamily="34" charset="0"/>
              </a:rPr>
              <a:t>thực</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tập</a:t>
            </a:r>
            <a:r>
              <a:rPr lang="en-US" altLang="ja-JP" sz="2000" dirty="0">
                <a:latin typeface="Arial" panose="020B0604020202020204" pitchFamily="34" charset="0"/>
              </a:rPr>
              <a:t> </a:t>
            </a:r>
            <a:r>
              <a:rPr lang="en-US" altLang="ja-JP" sz="2000" dirty="0" err="1">
                <a:latin typeface="Arial" panose="020B0604020202020204" pitchFamily="34" charset="0"/>
              </a:rPr>
              <a:t>hợp</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các</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đê</a:t>
            </a:r>
            <a:r>
              <a:rPr lang="en-US" altLang="ja-JP" sz="2000" dirty="0">
                <a:latin typeface="Arial" panose="020B0604020202020204" pitchFamily="34" charset="0"/>
              </a:rPr>
              <a:t>̉ </a:t>
            </a:r>
            <a:r>
              <a:rPr lang="en-US" altLang="ja-JP" sz="2000" dirty="0" err="1">
                <a:latin typeface="Arial" panose="020B0604020202020204" pitchFamily="34" charset="0"/>
              </a:rPr>
              <a:t>xây</a:t>
            </a:r>
            <a:r>
              <a:rPr lang="en-US" altLang="ja-JP" sz="2000" dirty="0">
                <a:latin typeface="Arial" panose="020B0604020202020204" pitchFamily="34" charset="0"/>
              </a:rPr>
              <a:t> </a:t>
            </a:r>
            <a:r>
              <a:rPr lang="en-US" altLang="ja-JP" sz="2000" dirty="0" err="1">
                <a:latin typeface="Arial" panose="020B0604020202020204" pitchFamily="34" charset="0"/>
              </a:rPr>
              <a:t>dựng</a:t>
            </a:r>
            <a:r>
              <a:rPr lang="en-US" altLang="ja-JP" sz="2000" dirty="0">
                <a:latin typeface="Arial" panose="020B0604020202020204" pitchFamily="34" charset="0"/>
              </a:rPr>
              <a:t> </a:t>
            </a:r>
            <a:r>
              <a:rPr lang="en-US" altLang="ja-JP" sz="2000" dirty="0" err="1">
                <a:latin typeface="Arial" panose="020B0604020202020204" pitchFamily="34" charset="0"/>
              </a:rPr>
              <a:t>hệ</a:t>
            </a:r>
            <a:r>
              <a:rPr lang="en-US" altLang="ja-JP" sz="2000" dirty="0">
                <a:latin typeface="Arial" panose="020B0604020202020204" pitchFamily="34" charset="0"/>
              </a:rPr>
              <a:t> </a:t>
            </a:r>
            <a:r>
              <a:rPr lang="en-US" altLang="ja-JP" sz="2000" dirty="0" err="1">
                <a:latin typeface="Arial" panose="020B0604020202020204" pitchFamily="34" charset="0"/>
              </a:rPr>
              <a:t>thống</a:t>
            </a:r>
            <a:r>
              <a:rPr lang="en-US" altLang="ja-JP" sz="2000" dirty="0">
                <a:latin typeface="Arial" panose="020B0604020202020204" pitchFamily="34" charset="0"/>
              </a:rPr>
              <a:t>. </a:t>
            </a:r>
            <a:endParaRPr lang="ja-JP" altLang="en-US" sz="2000" dirty="0">
              <a:latin typeface="Arial" panose="020B0604020202020204" pitchFamily="34" charset="0"/>
            </a:endParaRPr>
          </a:p>
          <a:p>
            <a:pPr marL="0" indent="0" algn="just"/>
            <a:endParaRPr lang="ja-JP" altLang="en-US" sz="2000" dirty="0">
              <a:latin typeface="Arial" panose="020B0604020202020204" pitchFamily="34" charset="0"/>
            </a:endParaRP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 object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Sự</a:t>
            </a:r>
            <a:r>
              <a:rPr lang="en-US" altLang="ja-JP" sz="2000" dirty="0">
                <a:latin typeface="Arial" panose="020B0604020202020204" pitchFamily="34" charset="0"/>
              </a:rPr>
              <a:t> </a:t>
            </a:r>
            <a:r>
              <a:rPr lang="en-US" altLang="ja-JP" sz="2000" dirty="0" err="1">
                <a:latin typeface="Arial" panose="020B0604020202020204" pitchFamily="34" charset="0"/>
              </a:rPr>
              <a:t>vật</a:t>
            </a:r>
            <a:r>
              <a:rPr lang="ja-JP" altLang="en-US" sz="2000" dirty="0">
                <a:latin typeface="Arial" panose="020B0604020202020204" pitchFamily="34" charset="0"/>
              </a:rPr>
              <a:t>」 </a:t>
            </a:r>
            <a:r>
              <a:rPr lang="en-US" altLang="ja-JP" sz="2000" dirty="0" err="1">
                <a:latin typeface="Arial" panose="020B0604020202020204" pitchFamily="34" charset="0"/>
              </a:rPr>
              <a:t>hoặc</a:t>
            </a:r>
            <a:r>
              <a:rPr lang="ja-JP" altLang="en-US" sz="2000" dirty="0">
                <a:latin typeface="Arial" panose="020B0604020202020204" pitchFamily="34" charset="0"/>
              </a:rPr>
              <a:t>「</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ja-JP" altLang="en-US" sz="2000" dirty="0">
                <a:latin typeface="Arial" panose="020B0604020202020204" pitchFamily="34" charset="0"/>
              </a:rPr>
              <a:t>」 </a:t>
            </a:r>
            <a:r>
              <a:rPr lang="en-US" altLang="ja-JP" sz="2000" dirty="0" err="1">
                <a:latin typeface="Arial" panose="020B0604020202020204" pitchFamily="34" charset="0"/>
              </a:rPr>
              <a:t>được</a:t>
            </a:r>
            <a:r>
              <a:rPr lang="en-US" altLang="ja-JP" sz="2000" dirty="0">
                <a:latin typeface="Arial" panose="020B0604020202020204" pitchFamily="34" charset="0"/>
              </a:rPr>
              <a:t> </a:t>
            </a:r>
            <a:r>
              <a:rPr lang="en-US" altLang="ja-JP" sz="2000" dirty="0" err="1">
                <a:latin typeface="Arial" panose="020B0604020202020204" pitchFamily="34" charset="0"/>
              </a:rPr>
              <a:t>gọi</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/object. </a:t>
            </a:r>
          </a:p>
          <a:p>
            <a:pPr marL="0" indent="0" algn="just"/>
            <a:r>
              <a:rPr lang="ja-JP" altLang="en-US" sz="2000" dirty="0">
                <a:latin typeface="Arial" panose="020B0604020202020204" pitchFamily="34" charset="0"/>
              </a:rPr>
              <a:t>　</a:t>
            </a:r>
            <a:r>
              <a:rPr lang="en-US" altLang="ja-JP" sz="2000" dirty="0">
                <a:latin typeface="Arial" panose="020B0604020202020204" pitchFamily="34" charset="0"/>
              </a:rPr>
              <a:t>Trong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/object </a:t>
            </a:r>
            <a:r>
              <a:rPr lang="en-US" altLang="ja-JP" sz="2000" dirty="0" err="1">
                <a:latin typeface="Arial" panose="020B0604020202020204" pitchFamily="34" charset="0"/>
              </a:rPr>
              <a:t>sẽ</a:t>
            </a:r>
            <a:r>
              <a:rPr lang="en-US" altLang="ja-JP" sz="2000" dirty="0">
                <a:latin typeface="Arial" panose="020B0604020202020204" pitchFamily="34" charset="0"/>
              </a:rPr>
              <a:t> </a:t>
            </a:r>
            <a:r>
              <a:rPr lang="en-US" altLang="ja-JP" sz="2000" dirty="0" err="1">
                <a:latin typeface="Arial" panose="020B0604020202020204" pitchFamily="34" charset="0"/>
              </a:rPr>
              <a:t>phải</a:t>
            </a:r>
            <a:r>
              <a:rPr lang="en-US" altLang="ja-JP" sz="2000" dirty="0">
                <a:latin typeface="Arial" panose="020B0604020202020204" pitchFamily="34" charset="0"/>
              </a:rPr>
              <a:t> </a:t>
            </a:r>
            <a:r>
              <a:rPr lang="en-US" altLang="ja-JP" sz="2000" dirty="0" err="1">
                <a:latin typeface="Arial" panose="020B0604020202020204" pitchFamily="34" charset="0"/>
              </a:rPr>
              <a:t>mang</a:t>
            </a:r>
            <a:r>
              <a:rPr lang="en-US" altLang="ja-JP" sz="2000" dirty="0">
                <a:latin typeface="Arial" panose="020B0604020202020204" pitchFamily="34" charset="0"/>
              </a:rPr>
              <a:t> </a:t>
            </a:r>
            <a:r>
              <a:rPr lang="en-US" altLang="ja-JP" sz="2000" dirty="0" err="1">
                <a:latin typeface="Arial" panose="020B0604020202020204" pitchFamily="34" charset="0"/>
              </a:rPr>
              <a:t>cả</a:t>
            </a:r>
            <a:r>
              <a:rPr lang="en-US" altLang="ja-JP" sz="2000" dirty="0">
                <a:latin typeface="Arial" panose="020B0604020202020204" pitchFamily="34" charset="0"/>
              </a:rPr>
              <a:t> </a:t>
            </a:r>
            <a:r>
              <a:rPr lang="en-US" altLang="ja-JP" sz="2000" dirty="0" err="1">
                <a:latin typeface="Arial" panose="020B0604020202020204" pitchFamily="34" charset="0"/>
              </a:rPr>
              <a:t>các</a:t>
            </a:r>
            <a:r>
              <a:rPr lang="en-US" altLang="ja-JP" sz="2000" dirty="0">
                <a:latin typeface="Arial" panose="020B0604020202020204" pitchFamily="34" charset="0"/>
              </a:rPr>
              <a:t> data (</a:t>
            </a:r>
            <a:r>
              <a:rPr lang="en-US" altLang="ja-JP" sz="2000" dirty="0" err="1">
                <a:latin typeface="Arial" panose="020B0604020202020204" pitchFamily="34" charset="0"/>
              </a:rPr>
              <a:t>thông</a:t>
            </a:r>
            <a:r>
              <a:rPr lang="en-US" altLang="ja-JP" sz="2000" dirty="0">
                <a:latin typeface="Arial" panose="020B0604020202020204" pitchFamily="34" charset="0"/>
              </a:rPr>
              <a:t> tin) </a:t>
            </a:r>
            <a:r>
              <a:rPr lang="en-US" altLang="ja-JP" sz="2000" dirty="0" err="1">
                <a:latin typeface="Arial" panose="020B0604020202020204" pitchFamily="34" charset="0"/>
              </a:rPr>
              <a:t>và</a:t>
            </a:r>
            <a:r>
              <a:rPr lang="en-US" altLang="ja-JP" sz="2000" dirty="0">
                <a:latin typeface="Arial" panose="020B0604020202020204" pitchFamily="34" charset="0"/>
              </a:rPr>
              <a:t> process (</a:t>
            </a:r>
            <a:r>
              <a:rPr lang="en-US" altLang="ja-JP" sz="2000" dirty="0" err="1">
                <a:latin typeface="Arial" panose="020B0604020202020204" pitchFamily="34" charset="0"/>
              </a:rPr>
              <a:t>xử</a:t>
            </a:r>
            <a:r>
              <a:rPr lang="en-US" altLang="ja-JP" sz="2000" dirty="0">
                <a:latin typeface="Arial" panose="020B0604020202020204" pitchFamily="34" charset="0"/>
              </a:rPr>
              <a:t> </a:t>
            </a:r>
            <a:r>
              <a:rPr lang="en-US" altLang="ja-JP" sz="2000" dirty="0" err="1">
                <a:latin typeface="Arial" panose="020B0604020202020204" pitchFamily="34" charset="0"/>
              </a:rPr>
              <a:t>lý</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một</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thống</a:t>
            </a:r>
            <a:r>
              <a:rPr lang="en-US" altLang="ja-JP" sz="2000" dirty="0">
                <a:latin typeface="Arial" panose="020B0604020202020204" pitchFamily="34" charset="0"/>
              </a:rPr>
              <a:t> </a:t>
            </a:r>
            <a:r>
              <a:rPr lang="en-US" altLang="ja-JP" sz="2000" dirty="0" err="1">
                <a:latin typeface="Arial" panose="020B0604020202020204" pitchFamily="34" charset="0"/>
              </a:rPr>
              <a:t>nhất</a:t>
            </a:r>
            <a:r>
              <a:rPr lang="en-US" altLang="ja-JP" sz="2000" dirty="0">
                <a:latin typeface="Arial" panose="020B0604020202020204" pitchFamily="34" charset="0"/>
              </a:rPr>
              <a:t>.</a:t>
            </a:r>
          </a:p>
          <a:p>
            <a:pPr marL="0" indent="0" algn="just"/>
            <a:r>
              <a:rPr lang="ja-JP" altLang="en-US"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rất</a:t>
            </a:r>
            <a:r>
              <a:rPr lang="en-US" altLang="ja-JP" sz="2000" dirty="0">
                <a:latin typeface="Arial" panose="020B0604020202020204" pitchFamily="34" charset="0"/>
              </a:rPr>
              <a:t> </a:t>
            </a:r>
            <a:r>
              <a:rPr lang="en-US" altLang="ja-JP" sz="2000" dirty="0" err="1">
                <a:latin typeface="Arial" panose="020B0604020202020204" pitchFamily="34" charset="0"/>
              </a:rPr>
              <a:t>nhiều</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nhìn</a:t>
            </a:r>
            <a:r>
              <a:rPr lang="en-US" altLang="ja-JP" sz="2000" dirty="0">
                <a:latin typeface="Arial" panose="020B0604020202020204" pitchFamily="34" charset="0"/>
              </a:rPr>
              <a:t> </a:t>
            </a:r>
            <a:r>
              <a:rPr lang="en-US" altLang="ja-JP" sz="2000" dirty="0" err="1">
                <a:latin typeface="Arial" panose="020B0604020202020204" pitchFamily="34" charset="0"/>
              </a:rPr>
              <a:t>thấy</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mắt</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máy</a:t>
            </a:r>
            <a:r>
              <a:rPr lang="en-US" altLang="ja-JP" sz="2000" dirty="0">
                <a:latin typeface="Arial" panose="020B0604020202020204" pitchFamily="34" charset="0"/>
              </a:rPr>
              <a:t> bay, </a:t>
            </a:r>
            <a:r>
              <a:rPr lang="en-US" altLang="ja-JP" sz="2000" dirty="0" err="1">
                <a:latin typeface="Arial" panose="020B0604020202020204" pitchFamily="34" charset="0"/>
              </a:rPr>
              <a:t>sách</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biểu</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tổ</a:t>
            </a:r>
            <a:r>
              <a:rPr lang="en-US" altLang="ja-JP" sz="2000" dirty="0">
                <a:latin typeface="Arial" panose="020B0604020202020204" pitchFamily="34" charset="0"/>
              </a:rPr>
              <a:t> </a:t>
            </a:r>
            <a:r>
              <a:rPr lang="en-US" altLang="ja-JP" sz="2000" dirty="0" err="1">
                <a:latin typeface="Arial" panose="020B0604020202020204" pitchFamily="34" charset="0"/>
              </a:rPr>
              <a:t>chức</a:t>
            </a:r>
            <a:r>
              <a:rPr lang="en-US" altLang="ja-JP" sz="2000" dirty="0">
                <a:latin typeface="Arial" panose="020B0604020202020204" pitchFamily="34" charset="0"/>
              </a:rPr>
              <a:t> </a:t>
            </a:r>
            <a:r>
              <a:rPr lang="en-US" altLang="ja-JP" sz="2000" dirty="0" err="1">
                <a:latin typeface="Arial" panose="020B0604020202020204" pitchFamily="34" charset="0"/>
              </a:rPr>
              <a:t>và</a:t>
            </a:r>
            <a:r>
              <a:rPr lang="en-US" altLang="ja-JP" sz="2000" dirty="0">
                <a:latin typeface="Arial" panose="020B0604020202020204" pitchFamily="34" charset="0"/>
              </a:rPr>
              <a:t> </a:t>
            </a:r>
            <a:r>
              <a:rPr lang="en-US" altLang="ja-JP" sz="2000" dirty="0" err="1">
                <a:latin typeface="Arial" panose="020B0604020202020204" pitchFamily="34" charset="0"/>
              </a:rPr>
              <a:t>vai</a:t>
            </a:r>
            <a:r>
              <a:rPr lang="en-US" altLang="ja-JP" sz="2000" dirty="0">
                <a:latin typeface="Arial" panose="020B0604020202020204" pitchFamily="34" charset="0"/>
              </a:rPr>
              <a:t> </a:t>
            </a:r>
            <a:r>
              <a:rPr lang="en-US" altLang="ja-JP" sz="2000" dirty="0" err="1">
                <a:latin typeface="Arial" panose="020B0604020202020204" pitchFamily="34" charset="0"/>
              </a:rPr>
              <a:t>trò</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khách</a:t>
            </a:r>
            <a:r>
              <a:rPr lang="en-US" altLang="ja-JP" sz="2000" dirty="0">
                <a:latin typeface="Arial" panose="020B0604020202020204" pitchFamily="34" charset="0"/>
              </a:rPr>
              <a:t> </a:t>
            </a:r>
            <a:r>
              <a:rPr lang="en-US" altLang="ja-JP" sz="2000" dirty="0" err="1">
                <a:latin typeface="Arial" panose="020B0604020202020204" pitchFamily="34" charset="0"/>
              </a:rPr>
              <a:t>hàng</a:t>
            </a:r>
            <a:r>
              <a:rPr lang="en-US" altLang="ja-JP" sz="2000" dirty="0">
                <a:latin typeface="Arial" panose="020B0604020202020204" pitchFamily="34" charset="0"/>
              </a:rPr>
              <a:t>, </a:t>
            </a:r>
            <a:r>
              <a:rPr lang="en-US" altLang="ja-JP" sz="2000" dirty="0" err="1">
                <a:latin typeface="Arial" panose="020B0604020202020204" pitchFamily="34" charset="0"/>
              </a:rPr>
              <a:t>nhân</a:t>
            </a:r>
            <a:r>
              <a:rPr lang="en-US" altLang="ja-JP" sz="2000" dirty="0">
                <a:latin typeface="Arial" panose="020B0604020202020204" pitchFamily="34" charset="0"/>
              </a:rPr>
              <a:t> </a:t>
            </a:r>
            <a:r>
              <a:rPr lang="en-US" altLang="ja-JP" sz="2000" dirty="0" err="1">
                <a:latin typeface="Arial" panose="020B0604020202020204" pitchFamily="34" charset="0"/>
              </a:rPr>
              <a:t>viên</a:t>
            </a:r>
            <a:r>
              <a:rPr lang="en-US" altLang="ja-JP" sz="2000" dirty="0">
                <a:latin typeface="Arial" panose="020B0604020202020204" pitchFamily="34" charset="0"/>
              </a:rPr>
              <a:t>, </a:t>
            </a:r>
            <a:r>
              <a:rPr lang="en-US" altLang="ja-JP" sz="2000" dirty="0" err="1">
                <a:latin typeface="Arial" panose="020B0604020202020204" pitchFamily="34" charset="0"/>
              </a:rPr>
              <a:t>những</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tượng</a:t>
            </a:r>
            <a:r>
              <a:rPr lang="en-US" altLang="ja-JP" sz="2000" dirty="0">
                <a:latin typeface="Arial" panose="020B0604020202020204" pitchFamily="34" charset="0"/>
              </a:rPr>
              <a:t> </a:t>
            </a:r>
            <a:r>
              <a:rPr lang="en-US" altLang="ja-JP" sz="2000" dirty="0" err="1">
                <a:latin typeface="Arial" panose="020B0604020202020204" pitchFamily="34" charset="0"/>
              </a:rPr>
              <a:t>biểu</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hoạt</a:t>
            </a:r>
            <a:r>
              <a:rPr lang="en-US" altLang="ja-JP" sz="2000" dirty="0">
                <a:latin typeface="Arial" panose="020B0604020202020204" pitchFamily="34" charset="0"/>
              </a:rPr>
              <a:t> </a:t>
            </a:r>
            <a:r>
              <a:rPr lang="en-US" altLang="ja-JP" sz="2000" dirty="0" err="1">
                <a:latin typeface="Arial" panose="020B0604020202020204" pitchFamily="34" charset="0"/>
              </a:rPr>
              <a:t>động</a:t>
            </a:r>
            <a:r>
              <a:rPr lang="en-US" altLang="ja-JP" sz="2000" dirty="0">
                <a:latin typeface="Arial" panose="020B0604020202020204" pitchFamily="34" charset="0"/>
              </a:rPr>
              <a:t> </a:t>
            </a:r>
            <a:r>
              <a:rPr lang="en-US" altLang="ja-JP" sz="2000" dirty="0" err="1">
                <a:latin typeface="Arial" panose="020B0604020202020204" pitchFamily="34" charset="0"/>
              </a:rPr>
              <a:t>không</a:t>
            </a:r>
            <a:r>
              <a:rPr lang="en-US" altLang="ja-JP" sz="2000" dirty="0">
                <a:latin typeface="Arial" panose="020B0604020202020204" pitchFamily="34" charset="0"/>
              </a:rPr>
              <a:t> </a:t>
            </a:r>
            <a:r>
              <a:rPr lang="en-US" altLang="ja-JP" sz="2000" dirty="0" err="1">
                <a:latin typeface="Arial" panose="020B0604020202020204" pitchFamily="34" charset="0"/>
              </a:rPr>
              <a:t>thể</a:t>
            </a:r>
            <a:r>
              <a:rPr lang="en-US" altLang="ja-JP" sz="2000" dirty="0">
                <a:latin typeface="Arial" panose="020B0604020202020204" pitchFamily="34" charset="0"/>
              </a:rPr>
              <a:t> </a:t>
            </a:r>
            <a:r>
              <a:rPr lang="en-US" altLang="ja-JP" sz="2000" dirty="0" err="1">
                <a:latin typeface="Arial" panose="020B0604020202020204" pitchFamily="34" charset="0"/>
              </a:rPr>
              <a:t>nhìn</a:t>
            </a:r>
            <a:r>
              <a:rPr lang="en-US" altLang="ja-JP" sz="2000" dirty="0">
                <a:latin typeface="Arial" panose="020B0604020202020204" pitchFamily="34" charset="0"/>
              </a:rPr>
              <a:t> </a:t>
            </a:r>
            <a:r>
              <a:rPr lang="en-US" altLang="ja-JP" sz="2000" dirty="0" err="1">
                <a:latin typeface="Arial" panose="020B0604020202020204" pitchFamily="34" charset="0"/>
              </a:rPr>
              <a:t>thấy</a:t>
            </a:r>
            <a:r>
              <a:rPr lang="en-US" altLang="ja-JP" sz="2000" dirty="0">
                <a:latin typeface="Arial" panose="020B0604020202020204" pitchFamily="34" charset="0"/>
              </a:rPr>
              <a:t> </a:t>
            </a:r>
            <a:r>
              <a:rPr lang="en-US" altLang="ja-JP" sz="2000" dirty="0" err="1">
                <a:latin typeface="Arial" panose="020B0604020202020204" pitchFamily="34" charset="0"/>
              </a:rPr>
              <a:t>bằng</a:t>
            </a:r>
            <a:r>
              <a:rPr lang="en-US" altLang="ja-JP" sz="2000" dirty="0">
                <a:latin typeface="Arial" panose="020B0604020202020204" pitchFamily="34" charset="0"/>
              </a:rPr>
              <a:t> </a:t>
            </a:r>
            <a:r>
              <a:rPr lang="en-US" altLang="ja-JP" sz="2000" dirty="0" err="1">
                <a:latin typeface="Arial" panose="020B0604020202020204" pitchFamily="34" charset="0"/>
              </a:rPr>
              <a:t>mắt</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mua</a:t>
            </a:r>
            <a:r>
              <a:rPr lang="en-US" altLang="ja-JP" sz="2000" dirty="0">
                <a:latin typeface="Arial" panose="020B0604020202020204" pitchFamily="34" charset="0"/>
              </a:rPr>
              <a:t> </a:t>
            </a:r>
            <a:r>
              <a:rPr lang="en-US" altLang="ja-JP" sz="2000" dirty="0" err="1">
                <a:latin typeface="Arial" panose="020B0604020202020204" pitchFamily="34" charset="0"/>
              </a:rPr>
              <a:t>hàng</a:t>
            </a:r>
            <a:r>
              <a:rPr lang="en-US" altLang="ja-JP" sz="2000" dirty="0">
                <a:latin typeface="Arial" panose="020B0604020202020204" pitchFamily="34" charset="0"/>
              </a:rPr>
              <a:t>, </a:t>
            </a:r>
            <a:r>
              <a:rPr lang="en-US" altLang="ja-JP" sz="2000" dirty="0" err="1">
                <a:latin typeface="Arial" panose="020B0604020202020204" pitchFamily="34" charset="0"/>
              </a:rPr>
              <a:t>đặt</a:t>
            </a:r>
            <a:r>
              <a:rPr lang="en-US" altLang="ja-JP" sz="2000" dirty="0">
                <a:latin typeface="Arial" panose="020B0604020202020204" pitchFamily="34" charset="0"/>
              </a:rPr>
              <a:t> </a:t>
            </a:r>
            <a:r>
              <a:rPr lang="en-US" altLang="ja-JP" sz="2000" dirty="0" err="1">
                <a:latin typeface="Arial" panose="020B0604020202020204" pitchFamily="34" charset="0"/>
              </a:rPr>
              <a:t>hàng.v.v</a:t>
            </a:r>
            <a:r>
              <a:rPr lang="en-US" altLang="ja-JP" sz="2000" dirty="0">
                <a:latin typeface="Arial" panose="020B0604020202020204" pitchFamily="34" charset="0"/>
              </a:rPr>
              <a:t>… </a:t>
            </a:r>
          </a:p>
          <a:p>
            <a:pPr algn="just"/>
            <a:endParaRPr lang="en-US" altLang="ja-JP" sz="2000" dirty="0"/>
          </a:p>
        </p:txBody>
      </p:sp>
      <p:sp>
        <p:nvSpPr>
          <p:cNvPr id="378884" name="Rectangle 4">
            <a:extLst>
              <a:ext uri="{FF2B5EF4-FFF2-40B4-BE49-F238E27FC236}">
                <a16:creationId xmlns:a16="http://schemas.microsoft.com/office/drawing/2014/main" id="{9B3A89CA-2E2D-2F51-C36B-3079A02B183B}"/>
              </a:ext>
            </a:extLst>
          </p:cNvPr>
          <p:cNvSpPr>
            <a:spLocks noGrp="1" noChangeArrowheads="1"/>
          </p:cNvSpPr>
          <p:nvPr>
            <p:ph type="title"/>
          </p:nvPr>
        </p:nvSpPr>
        <p:spPr>
          <a:xfrm>
            <a:off x="344487" y="560388"/>
            <a:ext cx="9217025" cy="490537"/>
          </a:xfrm>
        </p:spPr>
        <p:txBody>
          <a:bodyPr>
            <a:normAutofit fontScale="90000"/>
          </a:bodyPr>
          <a:lstStyle/>
          <a:p>
            <a:r>
              <a:rPr lang="en-US" altLang="ja-JP" dirty="0" err="1">
                <a:latin typeface="+mj-lt"/>
              </a:rPr>
              <a:t>Hướng</a:t>
            </a:r>
            <a:r>
              <a:rPr lang="en-US" altLang="ja-JP" dirty="0">
                <a:latin typeface="+mj-lt"/>
              </a:rPr>
              <a:t> </a:t>
            </a:r>
            <a:r>
              <a:rPr lang="en-US" altLang="ja-JP" dirty="0" err="1">
                <a:latin typeface="+mj-lt"/>
              </a:rPr>
              <a:t>đối</a:t>
            </a:r>
            <a:r>
              <a:rPr lang="en-US" altLang="ja-JP" dirty="0">
                <a:latin typeface="+mj-lt"/>
              </a:rPr>
              <a:t> </a:t>
            </a:r>
            <a:r>
              <a:rPr lang="en-US" altLang="ja-JP" dirty="0" err="1">
                <a:latin typeface="+mj-lt"/>
              </a:rPr>
              <a:t>tượng</a:t>
            </a:r>
            <a:endParaRPr lang="en-US" altLang="ja-JP" dirty="0">
              <a:latin typeface="+mj-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A3A5DAC6-E1ED-9554-B6A6-2C69D1173E6C}"/>
              </a:ext>
            </a:extLst>
          </p:cNvPr>
          <p:cNvSpPr>
            <a:spLocks noGrp="1"/>
          </p:cNvSpPr>
          <p:nvPr>
            <p:ph type="sldNum" sz="quarter" idx="10"/>
          </p:nvPr>
        </p:nvSpPr>
        <p:spPr/>
        <p:txBody>
          <a:bodyPr/>
          <a:lstStyle/>
          <a:p>
            <a:fld id="{DA5D4009-5B34-419F-814C-CDBE4E9F79FC}" type="slidenum">
              <a:rPr lang="en-US" altLang="ja-JP"/>
              <a:pPr/>
              <a:t>5</a:t>
            </a:fld>
            <a:endParaRPr lang="en-US" altLang="ja-JP"/>
          </a:p>
        </p:txBody>
      </p:sp>
      <p:sp>
        <p:nvSpPr>
          <p:cNvPr id="370690" name="Rectangle 2">
            <a:extLst>
              <a:ext uri="{FF2B5EF4-FFF2-40B4-BE49-F238E27FC236}">
                <a16:creationId xmlns:a16="http://schemas.microsoft.com/office/drawing/2014/main" id="{3758AD7D-EA39-6033-3E6E-E4561948141C}"/>
              </a:ext>
            </a:extLst>
          </p:cNvPr>
          <p:cNvSpPr>
            <a:spLocks noGrp="1" noChangeArrowheads="1"/>
          </p:cNvSpPr>
          <p:nvPr>
            <p:ph type="title"/>
          </p:nvPr>
        </p:nvSpPr>
        <p:spPr>
          <a:xfrm>
            <a:off x="344488" y="28971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Hướng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(2)</a:t>
            </a:r>
          </a:p>
        </p:txBody>
      </p:sp>
      <p:sp>
        <p:nvSpPr>
          <p:cNvPr id="370691" name="Rectangle 3">
            <a:extLst>
              <a:ext uri="{FF2B5EF4-FFF2-40B4-BE49-F238E27FC236}">
                <a16:creationId xmlns:a16="http://schemas.microsoft.com/office/drawing/2014/main" id="{5BD53820-7630-74F2-0715-8C246570DDDC}"/>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70692" name="Rectangle 4">
            <a:extLst>
              <a:ext uri="{FF2B5EF4-FFF2-40B4-BE49-F238E27FC236}">
                <a16:creationId xmlns:a16="http://schemas.microsoft.com/office/drawing/2014/main" id="{8F300619-9B38-161B-2561-C544BF9C359B}"/>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Lập trình</a:t>
            </a:r>
            <a:r>
              <a:rPr lang="en-US" altLang="ja-JP" sz="1800" b="0">
                <a:latin typeface="Arial" panose="020B0604020202020204" pitchFamily="34" charset="0"/>
              </a:rPr>
              <a:t> </a:t>
            </a:r>
            <a:r>
              <a:rPr lang="en-US" altLang="ja-JP" sz="2400" b="0">
                <a:latin typeface="Arial" panose="020B0604020202020204" pitchFamily="34" charset="0"/>
              </a:rPr>
              <a:t>hướng đối tượng</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70714" name="Rectangle 26">
            <a:extLst>
              <a:ext uri="{FF2B5EF4-FFF2-40B4-BE49-F238E27FC236}">
                <a16:creationId xmlns:a16="http://schemas.microsoft.com/office/drawing/2014/main" id="{FA3F8BC7-86C2-7FAF-7C16-F896B289F399}"/>
              </a:ext>
            </a:extLst>
          </p:cNvPr>
          <p:cNvSpPr>
            <a:spLocks noChangeArrowheads="1"/>
          </p:cNvSpPr>
          <p:nvPr/>
        </p:nvSpPr>
        <p:spPr bwMode="auto">
          <a:xfrm>
            <a:off x="344488" y="1247775"/>
            <a:ext cx="9091612" cy="5122863"/>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15" name="AutoShape 27">
            <a:extLst>
              <a:ext uri="{FF2B5EF4-FFF2-40B4-BE49-F238E27FC236}">
                <a16:creationId xmlns:a16="http://schemas.microsoft.com/office/drawing/2014/main" id="{19ACBE24-743F-8AEF-A0CB-4D21F05961AF}"/>
              </a:ext>
            </a:extLst>
          </p:cNvPr>
          <p:cNvSpPr>
            <a:spLocks noChangeArrowheads="1"/>
          </p:cNvSpPr>
          <p:nvPr/>
        </p:nvSpPr>
        <p:spPr bwMode="auto">
          <a:xfrm>
            <a:off x="2127250" y="2362200"/>
            <a:ext cx="604838" cy="928688"/>
          </a:xfrm>
          <a:prstGeom prst="downArrow">
            <a:avLst>
              <a:gd name="adj1" fmla="val 50000"/>
              <a:gd name="adj2" fmla="val 38386"/>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17" name="Rectangle 29">
            <a:extLst>
              <a:ext uri="{FF2B5EF4-FFF2-40B4-BE49-F238E27FC236}">
                <a16:creationId xmlns:a16="http://schemas.microsoft.com/office/drawing/2014/main" id="{D402B5AD-89FC-C2FA-65D4-859401FBFC0E}"/>
              </a:ext>
            </a:extLst>
          </p:cNvPr>
          <p:cNvSpPr>
            <a:spLocks noChangeArrowheads="1"/>
          </p:cNvSpPr>
          <p:nvPr/>
        </p:nvSpPr>
        <p:spPr bwMode="auto">
          <a:xfrm>
            <a:off x="661988" y="1476375"/>
            <a:ext cx="8556625" cy="590550"/>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dirty="0">
                <a:latin typeface="+mj-lt"/>
              </a:rPr>
              <a:t>　</a:t>
            </a:r>
            <a:r>
              <a:rPr lang="en-US" altLang="ja-JP" sz="2000" dirty="0">
                <a:latin typeface="+mj-lt"/>
              </a:rPr>
              <a:t>Định </a:t>
            </a:r>
            <a:r>
              <a:rPr lang="en-US" altLang="ja-JP" sz="2000" dirty="0" err="1">
                <a:latin typeface="+mj-lt"/>
              </a:rPr>
              <a:t>nghĩa</a:t>
            </a:r>
            <a:r>
              <a:rPr lang="en-US" altLang="ja-JP" sz="2000" dirty="0">
                <a:latin typeface="+mj-lt"/>
              </a:rPr>
              <a:t> </a:t>
            </a:r>
            <a:r>
              <a:rPr lang="ja-JP" altLang="en-US" sz="2000" dirty="0">
                <a:latin typeface="+mj-lt"/>
              </a:rPr>
              <a:t>「</a:t>
            </a:r>
            <a:r>
              <a:rPr lang="en-US" altLang="ja-JP" sz="2000" dirty="0">
                <a:latin typeface="+mj-lt"/>
              </a:rPr>
              <a:t>Class</a:t>
            </a:r>
            <a:r>
              <a:rPr lang="ja-JP" altLang="en-US" sz="2000" dirty="0">
                <a:latin typeface="+mj-lt"/>
              </a:rPr>
              <a:t>」 </a:t>
            </a:r>
            <a:r>
              <a:rPr lang="en-US" altLang="ja-JP" sz="2000" dirty="0">
                <a:latin typeface="+mj-lt"/>
              </a:rPr>
              <a:t>, model </a:t>
            </a:r>
            <a:r>
              <a:rPr lang="en-US" altLang="ja-JP" sz="2000" dirty="0" err="1">
                <a:latin typeface="+mj-lt"/>
              </a:rPr>
              <a:t>của</a:t>
            </a:r>
            <a:r>
              <a:rPr lang="en-US" altLang="ja-JP" sz="2000" dirty="0">
                <a:latin typeface="+mj-lt"/>
              </a:rPr>
              <a:t> </a:t>
            </a:r>
            <a:r>
              <a:rPr lang="ja-JP" altLang="en-US" sz="2000" dirty="0">
                <a:latin typeface="+mj-lt"/>
              </a:rPr>
              <a:t>「</a:t>
            </a:r>
            <a:r>
              <a:rPr lang="en-US" altLang="ja-JP" sz="2000" dirty="0">
                <a:latin typeface="+mj-lt"/>
              </a:rPr>
              <a:t>object</a:t>
            </a:r>
            <a:r>
              <a:rPr lang="ja-JP" altLang="en-US" sz="2000" dirty="0">
                <a:latin typeface="+mj-lt"/>
              </a:rPr>
              <a:t>」</a:t>
            </a:r>
          </a:p>
        </p:txBody>
      </p:sp>
      <p:sp>
        <p:nvSpPr>
          <p:cNvPr id="370718" name="Rectangle 30">
            <a:extLst>
              <a:ext uri="{FF2B5EF4-FFF2-40B4-BE49-F238E27FC236}">
                <a16:creationId xmlns:a16="http://schemas.microsoft.com/office/drawing/2014/main" id="{35B91651-A856-364B-A30A-0649D6A977FB}"/>
              </a:ext>
            </a:extLst>
          </p:cNvPr>
          <p:cNvSpPr>
            <a:spLocks noChangeArrowheads="1"/>
          </p:cNvSpPr>
          <p:nvPr/>
        </p:nvSpPr>
        <p:spPr bwMode="auto">
          <a:xfrm>
            <a:off x="703263" y="3454400"/>
            <a:ext cx="8578850" cy="620713"/>
          </a:xfrm>
          <a:prstGeom prst="rect">
            <a:avLst/>
          </a:prstGeom>
          <a:solidFill>
            <a:srgbClr val="FFFF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dirty="0">
                <a:latin typeface="+mj-lt"/>
              </a:rPr>
              <a:t>　</a:t>
            </a:r>
            <a:r>
              <a:rPr lang="en-US" altLang="ja-JP" sz="2000" dirty="0" err="1">
                <a:latin typeface="+mj-lt"/>
              </a:rPr>
              <a:t>Sử</a:t>
            </a:r>
            <a:r>
              <a:rPr lang="en-US" altLang="ja-JP" sz="2000" dirty="0">
                <a:latin typeface="+mj-lt"/>
              </a:rPr>
              <a:t> </a:t>
            </a:r>
            <a:r>
              <a:rPr lang="en-US" altLang="ja-JP" sz="2000" dirty="0" err="1">
                <a:latin typeface="+mj-lt"/>
              </a:rPr>
              <a:t>dụng</a:t>
            </a:r>
            <a:r>
              <a:rPr lang="en-US" altLang="ja-JP" sz="2000" dirty="0">
                <a:latin typeface="+mj-lt"/>
              </a:rPr>
              <a:t> </a:t>
            </a:r>
            <a:r>
              <a:rPr lang="en-US" altLang="ja-JP" sz="2000" dirty="0" err="1">
                <a:latin typeface="+mj-lt"/>
              </a:rPr>
              <a:t>đối</a:t>
            </a:r>
            <a:r>
              <a:rPr lang="en-US" altLang="ja-JP" sz="2000" dirty="0">
                <a:latin typeface="+mj-lt"/>
              </a:rPr>
              <a:t> </a:t>
            </a:r>
            <a:r>
              <a:rPr lang="en-US" altLang="ja-JP" sz="2000" dirty="0" err="1">
                <a:latin typeface="+mj-lt"/>
              </a:rPr>
              <a:t>tượng</a:t>
            </a:r>
            <a:r>
              <a:rPr lang="en-US" altLang="ja-JP" sz="2000" dirty="0">
                <a:latin typeface="+mj-lt"/>
              </a:rPr>
              <a:t> (</a:t>
            </a:r>
            <a:r>
              <a:rPr lang="en-US" altLang="ja-JP" sz="2000" dirty="0" err="1">
                <a:latin typeface="+mj-lt"/>
              </a:rPr>
              <a:t>thực</a:t>
            </a:r>
            <a:r>
              <a:rPr lang="en-US" altLang="ja-JP" sz="2000" dirty="0">
                <a:latin typeface="+mj-lt"/>
              </a:rPr>
              <a:t> </a:t>
            </a:r>
            <a:r>
              <a:rPr lang="en-US" altLang="ja-JP" sz="2000" dirty="0" err="1">
                <a:latin typeface="+mj-lt"/>
              </a:rPr>
              <a:t>thể</a:t>
            </a:r>
            <a:r>
              <a:rPr lang="en-US" altLang="ja-JP" sz="2000" dirty="0">
                <a:latin typeface="+mj-lt"/>
              </a:rPr>
              <a:t>) </a:t>
            </a:r>
            <a:r>
              <a:rPr lang="en-US" altLang="ja-JP" sz="2000" dirty="0" err="1">
                <a:latin typeface="+mj-lt"/>
              </a:rPr>
              <a:t>đã</a:t>
            </a:r>
            <a:r>
              <a:rPr lang="en-US" altLang="ja-JP" sz="2000" dirty="0">
                <a:latin typeface="+mj-lt"/>
              </a:rPr>
              <a:t> </a:t>
            </a:r>
            <a:r>
              <a:rPr lang="en-US" altLang="ja-JP" sz="2000" dirty="0" err="1">
                <a:latin typeface="+mj-lt"/>
              </a:rPr>
              <a:t>tạo</a:t>
            </a:r>
            <a:r>
              <a:rPr lang="en-US" altLang="ja-JP" sz="2000" dirty="0">
                <a:latin typeface="+mj-lt"/>
              </a:rPr>
              <a:t> </a:t>
            </a:r>
            <a:r>
              <a:rPr lang="en-US" altLang="ja-JP" sz="2000" dirty="0" err="1">
                <a:latin typeface="+mj-lt"/>
              </a:rPr>
              <a:t>dựa</a:t>
            </a:r>
            <a:r>
              <a:rPr lang="en-US" altLang="ja-JP" sz="2000" dirty="0">
                <a:latin typeface="+mj-lt"/>
              </a:rPr>
              <a:t> </a:t>
            </a:r>
            <a:r>
              <a:rPr lang="en-US" altLang="ja-JP" sz="2000" dirty="0" err="1">
                <a:latin typeface="+mj-lt"/>
              </a:rPr>
              <a:t>vào</a:t>
            </a:r>
            <a:r>
              <a:rPr lang="en-US" altLang="ja-JP" sz="2000" dirty="0">
                <a:latin typeface="+mj-lt"/>
              </a:rPr>
              <a:t> class (model) </a:t>
            </a:r>
            <a:r>
              <a:rPr lang="en-US" altLang="ja-JP" sz="2000" dirty="0" err="1">
                <a:latin typeface="+mj-lt"/>
              </a:rPr>
              <a:t>đê</a:t>
            </a:r>
            <a:r>
              <a:rPr lang="en-US" altLang="ja-JP" sz="2000" dirty="0">
                <a:latin typeface="+mj-lt"/>
              </a:rPr>
              <a:t>̉ </a:t>
            </a:r>
            <a:r>
              <a:rPr lang="en-US" altLang="ja-JP" sz="2000" dirty="0" err="1">
                <a:latin typeface="+mj-lt"/>
              </a:rPr>
              <a:t>thực</a:t>
            </a:r>
            <a:r>
              <a:rPr lang="en-US" altLang="ja-JP" sz="2000" dirty="0">
                <a:latin typeface="+mj-lt"/>
              </a:rPr>
              <a:t> </a:t>
            </a:r>
          </a:p>
          <a:p>
            <a:r>
              <a:rPr lang="en-US" altLang="ja-JP" sz="2000" dirty="0" err="1">
                <a:latin typeface="+mj-lt"/>
              </a:rPr>
              <a:t>hiện</a:t>
            </a:r>
            <a:r>
              <a:rPr lang="en-US" altLang="ja-JP" sz="2000" dirty="0">
                <a:latin typeface="+mj-lt"/>
              </a:rPr>
              <a:t> </a:t>
            </a:r>
            <a:r>
              <a:rPr lang="en-US" altLang="ja-JP" sz="2000" dirty="0" err="1">
                <a:latin typeface="+mj-lt"/>
              </a:rPr>
              <a:t>xử</a:t>
            </a:r>
            <a:r>
              <a:rPr lang="en-US" altLang="ja-JP" sz="2000" dirty="0">
                <a:latin typeface="+mj-lt"/>
              </a:rPr>
              <a:t> </a:t>
            </a:r>
            <a:r>
              <a:rPr lang="en-US" altLang="ja-JP" sz="2000" dirty="0" err="1">
                <a:latin typeface="+mj-lt"/>
              </a:rPr>
              <a:t>lý</a:t>
            </a:r>
            <a:endParaRPr lang="en-US" altLang="ja-JP" sz="2000" dirty="0">
              <a:latin typeface="+mj-lt"/>
            </a:endParaRPr>
          </a:p>
        </p:txBody>
      </p:sp>
      <p:sp>
        <p:nvSpPr>
          <p:cNvPr id="370723" name="AutoShape 35">
            <a:extLst>
              <a:ext uri="{FF2B5EF4-FFF2-40B4-BE49-F238E27FC236}">
                <a16:creationId xmlns:a16="http://schemas.microsoft.com/office/drawing/2014/main" id="{1CF17ECD-A03E-A755-3ADF-A3322A6B3707}"/>
              </a:ext>
            </a:extLst>
          </p:cNvPr>
          <p:cNvSpPr>
            <a:spLocks noChangeArrowheads="1"/>
          </p:cNvSpPr>
          <p:nvPr/>
        </p:nvSpPr>
        <p:spPr bwMode="auto">
          <a:xfrm>
            <a:off x="3219450" y="2171700"/>
            <a:ext cx="6132513" cy="1050925"/>
          </a:xfrm>
          <a:prstGeom prst="roundRect">
            <a:avLst>
              <a:gd name="adj" fmla="val 16667"/>
            </a:avLst>
          </a:prstGeom>
          <a:solidFill>
            <a:srgbClr val="CCFFFF"/>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400" b="0" dirty="0">
                <a:latin typeface="+mj-lt"/>
              </a:rPr>
              <a:t>【Class】</a:t>
            </a:r>
          </a:p>
          <a:p>
            <a:r>
              <a:rPr lang="en-US" altLang="ja-JP" sz="1400" b="0" dirty="0">
                <a:latin typeface="+mj-lt"/>
              </a:rPr>
              <a:t>Là </a:t>
            </a:r>
            <a:r>
              <a:rPr lang="en-US" altLang="ja-JP" sz="1400" b="0" dirty="0" err="1">
                <a:latin typeface="+mj-lt"/>
              </a:rPr>
              <a:t>cái</a:t>
            </a:r>
            <a:r>
              <a:rPr lang="en-US" altLang="ja-JP" sz="1400" b="0" dirty="0">
                <a:latin typeface="+mj-lt"/>
              </a:rPr>
              <a:t> </a:t>
            </a:r>
            <a:r>
              <a:rPr lang="en-US" altLang="ja-JP" sz="1400" b="0" dirty="0" err="1">
                <a:latin typeface="+mj-lt"/>
              </a:rPr>
              <a:t>muốn</a:t>
            </a:r>
            <a:r>
              <a:rPr lang="en-US" altLang="ja-JP" sz="1400" b="0" dirty="0">
                <a:latin typeface="+mj-lt"/>
              </a:rPr>
              <a:t> </a:t>
            </a:r>
            <a:r>
              <a:rPr lang="en-US" altLang="ja-JP" sz="1400" b="0" dirty="0" err="1">
                <a:latin typeface="+mj-lt"/>
              </a:rPr>
              <a:t>đối</a:t>
            </a:r>
            <a:r>
              <a:rPr lang="en-US" altLang="ja-JP" sz="1400" b="0" dirty="0">
                <a:latin typeface="+mj-lt"/>
              </a:rPr>
              <a:t> </a:t>
            </a:r>
            <a:r>
              <a:rPr lang="en-US" altLang="ja-JP" sz="1400" b="0" dirty="0" err="1">
                <a:latin typeface="+mj-lt"/>
              </a:rPr>
              <a:t>tượng</a:t>
            </a:r>
            <a:r>
              <a:rPr lang="en-US" altLang="ja-JP" sz="1400" b="0" dirty="0">
                <a:latin typeface="+mj-lt"/>
              </a:rPr>
              <a:t> (</a:t>
            </a:r>
            <a:r>
              <a:rPr lang="en-US" altLang="ja-JP" sz="1400" b="0" dirty="0" err="1">
                <a:latin typeface="+mj-lt"/>
              </a:rPr>
              <a:t>Thực</a:t>
            </a:r>
            <a:r>
              <a:rPr lang="en-US" altLang="ja-JP" sz="1400" b="0" dirty="0">
                <a:latin typeface="+mj-lt"/>
              </a:rPr>
              <a:t> </a:t>
            </a:r>
            <a:r>
              <a:rPr lang="en-US" altLang="ja-JP" sz="1400" b="0" dirty="0" err="1">
                <a:latin typeface="+mj-lt"/>
              </a:rPr>
              <a:t>thể</a:t>
            </a:r>
            <a:r>
              <a:rPr lang="en-US" altLang="ja-JP" sz="1400" b="0" dirty="0">
                <a:latin typeface="+mj-lt"/>
              </a:rPr>
              <a:t>) </a:t>
            </a:r>
            <a:r>
              <a:rPr lang="en-US" altLang="ja-JP" sz="1400" b="0" dirty="0" err="1">
                <a:latin typeface="+mj-lt"/>
              </a:rPr>
              <a:t>phải</a:t>
            </a:r>
            <a:r>
              <a:rPr lang="en-US" altLang="ja-JP" sz="1400" b="0" dirty="0">
                <a:latin typeface="+mj-lt"/>
              </a:rPr>
              <a:t> </a:t>
            </a:r>
            <a:r>
              <a:rPr lang="en-US" altLang="ja-JP" sz="1400" b="0" dirty="0" err="1">
                <a:latin typeface="+mj-lt"/>
              </a:rPr>
              <a:t>có</a:t>
            </a:r>
            <a:r>
              <a:rPr lang="en-US" altLang="ja-JP" sz="1400" b="0" dirty="0">
                <a:latin typeface="+mj-lt"/>
              </a:rPr>
              <a:t>. </a:t>
            </a:r>
          </a:p>
          <a:p>
            <a:r>
              <a:rPr lang="en-US" altLang="ja-JP" sz="1400" b="0" dirty="0">
                <a:latin typeface="+mj-lt"/>
              </a:rPr>
              <a:t>Class </a:t>
            </a:r>
            <a:r>
              <a:rPr lang="en-US" altLang="ja-JP" sz="1400" b="0" dirty="0" err="1">
                <a:latin typeface="+mj-lt"/>
              </a:rPr>
              <a:t>định</a:t>
            </a:r>
            <a:r>
              <a:rPr lang="en-US" altLang="ja-JP" sz="1400" b="0" dirty="0">
                <a:latin typeface="+mj-lt"/>
              </a:rPr>
              <a:t> </a:t>
            </a:r>
            <a:r>
              <a:rPr lang="en-US" altLang="ja-JP" sz="1400" b="0" dirty="0" err="1">
                <a:latin typeface="+mj-lt"/>
              </a:rPr>
              <a:t>nghĩa</a:t>
            </a:r>
            <a:r>
              <a:rPr lang="en-US" altLang="ja-JP" sz="1400" b="0" dirty="0">
                <a:latin typeface="+mj-lt"/>
              </a:rPr>
              <a:t> data (</a:t>
            </a:r>
            <a:r>
              <a:rPr lang="en-US" altLang="ja-JP" sz="1400" b="0" dirty="0" err="1">
                <a:latin typeface="+mj-lt"/>
              </a:rPr>
              <a:t>thông</a:t>
            </a:r>
            <a:r>
              <a:rPr lang="en-US" altLang="ja-JP" sz="1400" b="0" dirty="0">
                <a:latin typeface="+mj-lt"/>
              </a:rPr>
              <a:t> tin) </a:t>
            </a:r>
            <a:r>
              <a:rPr lang="en-US" altLang="ja-JP" sz="1400" b="0" dirty="0" err="1">
                <a:latin typeface="+mj-lt"/>
              </a:rPr>
              <a:t>và</a:t>
            </a:r>
            <a:r>
              <a:rPr lang="en-US" altLang="ja-JP" sz="1400" b="0" dirty="0">
                <a:latin typeface="+mj-lt"/>
              </a:rPr>
              <a:t> process (</a:t>
            </a:r>
            <a:r>
              <a:rPr lang="en-US" altLang="ja-JP" sz="1400" b="0" dirty="0" err="1">
                <a:latin typeface="+mj-lt"/>
              </a:rPr>
              <a:t>xử</a:t>
            </a:r>
            <a:r>
              <a:rPr lang="en-US" altLang="ja-JP" sz="1400" b="0" dirty="0">
                <a:latin typeface="+mj-lt"/>
              </a:rPr>
              <a:t> </a:t>
            </a:r>
            <a:r>
              <a:rPr lang="en-US" altLang="ja-JP" sz="1400" b="0" dirty="0" err="1">
                <a:latin typeface="+mj-lt"/>
              </a:rPr>
              <a:t>lý</a:t>
            </a:r>
            <a:r>
              <a:rPr lang="en-US" altLang="ja-JP" sz="1400" b="0" dirty="0">
                <a:latin typeface="+mj-lt"/>
              </a:rPr>
              <a:t>) </a:t>
            </a:r>
            <a:r>
              <a:rPr lang="en-US" altLang="ja-JP" sz="1400" b="0" dirty="0" err="1">
                <a:latin typeface="+mj-lt"/>
              </a:rPr>
              <a:t>như</a:t>
            </a:r>
            <a:r>
              <a:rPr lang="en-US" altLang="ja-JP" sz="1400" b="0" dirty="0">
                <a:latin typeface="+mj-lt"/>
              </a:rPr>
              <a:t> </a:t>
            </a:r>
            <a:r>
              <a:rPr lang="en-US" altLang="ja-JP" sz="1400" b="0" dirty="0" err="1">
                <a:latin typeface="+mj-lt"/>
              </a:rPr>
              <a:t>một</a:t>
            </a:r>
            <a:r>
              <a:rPr lang="en-US" altLang="ja-JP" sz="1400" b="0" dirty="0">
                <a:latin typeface="+mj-lt"/>
              </a:rPr>
              <a:t> </a:t>
            </a:r>
            <a:r>
              <a:rPr lang="en-US" altLang="ja-JP" sz="1400" b="0" dirty="0" err="1">
                <a:latin typeface="+mj-lt"/>
              </a:rPr>
              <a:t>thê</a:t>
            </a:r>
            <a:r>
              <a:rPr lang="en-US" altLang="ja-JP" sz="1400" b="0" dirty="0">
                <a:latin typeface="+mj-lt"/>
              </a:rPr>
              <a:t>̉ </a:t>
            </a:r>
            <a:r>
              <a:rPr lang="en-US" altLang="ja-JP" sz="1400" b="0" dirty="0" err="1">
                <a:latin typeface="+mj-lt"/>
              </a:rPr>
              <a:t>thống</a:t>
            </a:r>
            <a:r>
              <a:rPr lang="en-US" altLang="ja-JP" sz="1400" b="0" dirty="0">
                <a:latin typeface="+mj-lt"/>
              </a:rPr>
              <a:t> </a:t>
            </a:r>
            <a:r>
              <a:rPr lang="en-US" altLang="ja-JP" sz="1400" b="0" dirty="0" err="1">
                <a:latin typeface="+mj-lt"/>
              </a:rPr>
              <a:t>nhất</a:t>
            </a:r>
            <a:r>
              <a:rPr lang="en-US" altLang="ja-JP" sz="1400" b="0" dirty="0">
                <a:latin typeface="+mj-lt"/>
              </a:rPr>
              <a:t>.</a:t>
            </a:r>
            <a:r>
              <a:rPr lang="en-US" altLang="ja-JP" sz="1600" b="0" dirty="0">
                <a:latin typeface="+mj-lt"/>
              </a:rPr>
              <a:t> </a:t>
            </a:r>
            <a:endParaRPr lang="en-US" altLang="ja-JP" sz="1600" dirty="0">
              <a:latin typeface="+mj-lt"/>
            </a:endParaRPr>
          </a:p>
        </p:txBody>
      </p:sp>
      <p:sp>
        <p:nvSpPr>
          <p:cNvPr id="370734" name="AutoShape 46">
            <a:extLst>
              <a:ext uri="{FF2B5EF4-FFF2-40B4-BE49-F238E27FC236}">
                <a16:creationId xmlns:a16="http://schemas.microsoft.com/office/drawing/2014/main" id="{CFAA46A6-A256-4291-7639-FDD064289C7E}"/>
              </a:ext>
            </a:extLst>
          </p:cNvPr>
          <p:cNvSpPr>
            <a:spLocks noChangeArrowheads="1"/>
          </p:cNvSpPr>
          <p:nvPr/>
        </p:nvSpPr>
        <p:spPr bwMode="auto">
          <a:xfrm rot="14528762">
            <a:off x="3690938" y="4537075"/>
            <a:ext cx="153988" cy="928687"/>
          </a:xfrm>
          <a:prstGeom prst="downArrow">
            <a:avLst>
              <a:gd name="adj1" fmla="val 50000"/>
              <a:gd name="adj2" fmla="val 150773"/>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36" name="AutoShape 48">
            <a:extLst>
              <a:ext uri="{FF2B5EF4-FFF2-40B4-BE49-F238E27FC236}">
                <a16:creationId xmlns:a16="http://schemas.microsoft.com/office/drawing/2014/main" id="{00C9941F-84D5-AF77-5B38-B84A55F9F633}"/>
              </a:ext>
            </a:extLst>
          </p:cNvPr>
          <p:cNvSpPr>
            <a:spLocks noChangeArrowheads="1"/>
          </p:cNvSpPr>
          <p:nvPr/>
        </p:nvSpPr>
        <p:spPr bwMode="auto">
          <a:xfrm rot="-3358662">
            <a:off x="3656013" y="5345112"/>
            <a:ext cx="139700" cy="809625"/>
          </a:xfrm>
          <a:prstGeom prst="downArrow">
            <a:avLst>
              <a:gd name="adj1" fmla="val 50000"/>
              <a:gd name="adj2" fmla="val 144886"/>
            </a:avLst>
          </a:prstGeom>
          <a:solidFill>
            <a:srgbClr val="0033CC">
              <a:alpha val="7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370737" name="Group 49">
            <a:extLst>
              <a:ext uri="{FF2B5EF4-FFF2-40B4-BE49-F238E27FC236}">
                <a16:creationId xmlns:a16="http://schemas.microsoft.com/office/drawing/2014/main" id="{F715D7BB-8501-2B9C-0716-03A0B584356B}"/>
              </a:ext>
            </a:extLst>
          </p:cNvPr>
          <p:cNvGrpSpPr>
            <a:grpSpLocks/>
          </p:cNvGrpSpPr>
          <p:nvPr/>
        </p:nvGrpSpPr>
        <p:grpSpPr bwMode="auto">
          <a:xfrm>
            <a:off x="1474788" y="4932363"/>
            <a:ext cx="1652587" cy="873125"/>
            <a:chOff x="767" y="1650"/>
            <a:chExt cx="1091" cy="560"/>
          </a:xfrm>
        </p:grpSpPr>
        <p:sp>
          <p:nvSpPr>
            <p:cNvPr id="370738" name="Freeform 50">
              <a:extLst>
                <a:ext uri="{FF2B5EF4-FFF2-40B4-BE49-F238E27FC236}">
                  <a16:creationId xmlns:a16="http://schemas.microsoft.com/office/drawing/2014/main" id="{500917C8-9A0F-B14B-9B4E-D175E76EBA93}"/>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bg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39" name="Group 51">
              <a:extLst>
                <a:ext uri="{FF2B5EF4-FFF2-40B4-BE49-F238E27FC236}">
                  <a16:creationId xmlns:a16="http://schemas.microsoft.com/office/drawing/2014/main" id="{4BC48FF4-2271-3A9A-CE93-177C92235AE3}"/>
                </a:ext>
              </a:extLst>
            </p:cNvPr>
            <p:cNvGrpSpPr>
              <a:grpSpLocks/>
            </p:cNvGrpSpPr>
            <p:nvPr/>
          </p:nvGrpSpPr>
          <p:grpSpPr bwMode="auto">
            <a:xfrm>
              <a:off x="1023" y="2022"/>
              <a:ext cx="200" cy="188"/>
              <a:chOff x="1023" y="2022"/>
              <a:chExt cx="200" cy="188"/>
            </a:xfrm>
          </p:grpSpPr>
          <p:sp>
            <p:nvSpPr>
              <p:cNvPr id="370740" name="Oval 52">
                <a:extLst>
                  <a:ext uri="{FF2B5EF4-FFF2-40B4-BE49-F238E27FC236}">
                    <a16:creationId xmlns:a16="http://schemas.microsoft.com/office/drawing/2014/main" id="{A473E67C-3196-6979-85CA-007E3E9747DC}"/>
                  </a:ext>
                </a:extLst>
              </p:cNvPr>
              <p:cNvSpPr>
                <a:spLocks noChangeArrowheads="1"/>
              </p:cNvSpPr>
              <p:nvPr/>
            </p:nvSpPr>
            <p:spPr bwMode="auto">
              <a:xfrm>
                <a:off x="1023" y="2022"/>
                <a:ext cx="200" cy="188"/>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41" name="Oval 53">
                <a:extLst>
                  <a:ext uri="{FF2B5EF4-FFF2-40B4-BE49-F238E27FC236}">
                    <a16:creationId xmlns:a16="http://schemas.microsoft.com/office/drawing/2014/main" id="{E85BF6E4-6BC6-764F-DA54-49BF4F838E27}"/>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42" name="Group 54">
              <a:extLst>
                <a:ext uri="{FF2B5EF4-FFF2-40B4-BE49-F238E27FC236}">
                  <a16:creationId xmlns:a16="http://schemas.microsoft.com/office/drawing/2014/main" id="{68707BBF-F066-C439-CC3A-2C902A99C99E}"/>
                </a:ext>
              </a:extLst>
            </p:cNvPr>
            <p:cNvGrpSpPr>
              <a:grpSpLocks/>
            </p:cNvGrpSpPr>
            <p:nvPr/>
          </p:nvGrpSpPr>
          <p:grpSpPr bwMode="auto">
            <a:xfrm>
              <a:off x="1449" y="2022"/>
              <a:ext cx="200" cy="188"/>
              <a:chOff x="1449" y="2022"/>
              <a:chExt cx="200" cy="188"/>
            </a:xfrm>
          </p:grpSpPr>
          <p:sp>
            <p:nvSpPr>
              <p:cNvPr id="370743" name="Oval 55">
                <a:extLst>
                  <a:ext uri="{FF2B5EF4-FFF2-40B4-BE49-F238E27FC236}">
                    <a16:creationId xmlns:a16="http://schemas.microsoft.com/office/drawing/2014/main" id="{9DCE3C2C-618D-C55A-E282-F9688082AE8E}"/>
                  </a:ext>
                </a:extLst>
              </p:cNvPr>
              <p:cNvSpPr>
                <a:spLocks noChangeArrowheads="1"/>
              </p:cNvSpPr>
              <p:nvPr/>
            </p:nvSpPr>
            <p:spPr bwMode="auto">
              <a:xfrm>
                <a:off x="1449" y="2022"/>
                <a:ext cx="200" cy="188"/>
              </a:xfrm>
              <a:prstGeom prst="ellipse">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44" name="Oval 56">
                <a:extLst>
                  <a:ext uri="{FF2B5EF4-FFF2-40B4-BE49-F238E27FC236}">
                    <a16:creationId xmlns:a16="http://schemas.microsoft.com/office/drawing/2014/main" id="{DEB0F32F-10AA-17FC-D5AF-0BDB1DB39D7A}"/>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grpSp>
        <p:nvGrpSpPr>
          <p:cNvPr id="370747" name="Group 59">
            <a:extLst>
              <a:ext uri="{FF2B5EF4-FFF2-40B4-BE49-F238E27FC236}">
                <a16:creationId xmlns:a16="http://schemas.microsoft.com/office/drawing/2014/main" id="{8682D9FA-8ED2-D2DB-1540-FDF957656B14}"/>
              </a:ext>
            </a:extLst>
          </p:cNvPr>
          <p:cNvGrpSpPr>
            <a:grpSpLocks/>
          </p:cNvGrpSpPr>
          <p:nvPr/>
        </p:nvGrpSpPr>
        <p:grpSpPr bwMode="auto">
          <a:xfrm>
            <a:off x="4449763" y="4359275"/>
            <a:ext cx="1652587" cy="873125"/>
            <a:chOff x="767" y="1650"/>
            <a:chExt cx="1091" cy="560"/>
          </a:xfrm>
        </p:grpSpPr>
        <p:sp>
          <p:nvSpPr>
            <p:cNvPr id="370748" name="Freeform 60">
              <a:extLst>
                <a:ext uri="{FF2B5EF4-FFF2-40B4-BE49-F238E27FC236}">
                  <a16:creationId xmlns:a16="http://schemas.microsoft.com/office/drawing/2014/main" id="{37D63867-7A26-030D-B67B-AAE3115DB608}"/>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rgbClr val="00FFFF"/>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49" name="Group 61">
              <a:extLst>
                <a:ext uri="{FF2B5EF4-FFF2-40B4-BE49-F238E27FC236}">
                  <a16:creationId xmlns:a16="http://schemas.microsoft.com/office/drawing/2014/main" id="{2DDC72D9-FAD1-330B-47CC-079E339938FC}"/>
                </a:ext>
              </a:extLst>
            </p:cNvPr>
            <p:cNvGrpSpPr>
              <a:grpSpLocks/>
            </p:cNvGrpSpPr>
            <p:nvPr/>
          </p:nvGrpSpPr>
          <p:grpSpPr bwMode="auto">
            <a:xfrm>
              <a:off x="1023" y="2022"/>
              <a:ext cx="200" cy="188"/>
              <a:chOff x="1023" y="2022"/>
              <a:chExt cx="200" cy="188"/>
            </a:xfrm>
          </p:grpSpPr>
          <p:sp>
            <p:nvSpPr>
              <p:cNvPr id="370750" name="Oval 62">
                <a:extLst>
                  <a:ext uri="{FF2B5EF4-FFF2-40B4-BE49-F238E27FC236}">
                    <a16:creationId xmlns:a16="http://schemas.microsoft.com/office/drawing/2014/main" id="{3F3F7C02-5511-24FA-9EA1-6CD909CA79A4}"/>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1" name="Oval 63">
                <a:extLst>
                  <a:ext uri="{FF2B5EF4-FFF2-40B4-BE49-F238E27FC236}">
                    <a16:creationId xmlns:a16="http://schemas.microsoft.com/office/drawing/2014/main" id="{45AB5026-6200-DD52-A818-E260B76AE18E}"/>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52" name="Group 64">
              <a:extLst>
                <a:ext uri="{FF2B5EF4-FFF2-40B4-BE49-F238E27FC236}">
                  <a16:creationId xmlns:a16="http://schemas.microsoft.com/office/drawing/2014/main" id="{825DBCD1-1ACC-0151-905C-730739006764}"/>
                </a:ext>
              </a:extLst>
            </p:cNvPr>
            <p:cNvGrpSpPr>
              <a:grpSpLocks/>
            </p:cNvGrpSpPr>
            <p:nvPr/>
          </p:nvGrpSpPr>
          <p:grpSpPr bwMode="auto">
            <a:xfrm>
              <a:off x="1449" y="2022"/>
              <a:ext cx="200" cy="188"/>
              <a:chOff x="1449" y="2022"/>
              <a:chExt cx="200" cy="188"/>
            </a:xfrm>
          </p:grpSpPr>
          <p:sp>
            <p:nvSpPr>
              <p:cNvPr id="370753" name="Oval 65">
                <a:extLst>
                  <a:ext uri="{FF2B5EF4-FFF2-40B4-BE49-F238E27FC236}">
                    <a16:creationId xmlns:a16="http://schemas.microsoft.com/office/drawing/2014/main" id="{CC64E4DC-7896-4B6F-8FD3-DF4922154EED}"/>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4" name="Oval 66">
                <a:extLst>
                  <a:ext uri="{FF2B5EF4-FFF2-40B4-BE49-F238E27FC236}">
                    <a16:creationId xmlns:a16="http://schemas.microsoft.com/office/drawing/2014/main" id="{E3EC9DE1-C19B-AF64-692B-923BF4D6262F}"/>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grpSp>
        <p:nvGrpSpPr>
          <p:cNvPr id="370755" name="Group 67">
            <a:extLst>
              <a:ext uri="{FF2B5EF4-FFF2-40B4-BE49-F238E27FC236}">
                <a16:creationId xmlns:a16="http://schemas.microsoft.com/office/drawing/2014/main" id="{044BB5F3-77F1-7099-A1F3-C9B242692943}"/>
              </a:ext>
            </a:extLst>
          </p:cNvPr>
          <p:cNvGrpSpPr>
            <a:grpSpLocks/>
          </p:cNvGrpSpPr>
          <p:nvPr/>
        </p:nvGrpSpPr>
        <p:grpSpPr bwMode="auto">
          <a:xfrm>
            <a:off x="4464050" y="5422900"/>
            <a:ext cx="1652588" cy="873125"/>
            <a:chOff x="767" y="1650"/>
            <a:chExt cx="1091" cy="560"/>
          </a:xfrm>
        </p:grpSpPr>
        <p:sp>
          <p:nvSpPr>
            <p:cNvPr id="370756" name="Freeform 68">
              <a:extLst>
                <a:ext uri="{FF2B5EF4-FFF2-40B4-BE49-F238E27FC236}">
                  <a16:creationId xmlns:a16="http://schemas.microsoft.com/office/drawing/2014/main" id="{37E11B3A-D1EE-C9C2-5A55-43D8AC558F4B}"/>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rgbClr val="FF0000"/>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70757" name="Group 69">
              <a:extLst>
                <a:ext uri="{FF2B5EF4-FFF2-40B4-BE49-F238E27FC236}">
                  <a16:creationId xmlns:a16="http://schemas.microsoft.com/office/drawing/2014/main" id="{82054107-E2C6-9EB2-F3A3-E46BAA7968C6}"/>
                </a:ext>
              </a:extLst>
            </p:cNvPr>
            <p:cNvGrpSpPr>
              <a:grpSpLocks/>
            </p:cNvGrpSpPr>
            <p:nvPr/>
          </p:nvGrpSpPr>
          <p:grpSpPr bwMode="auto">
            <a:xfrm>
              <a:off x="1023" y="2022"/>
              <a:ext cx="200" cy="188"/>
              <a:chOff x="1023" y="2022"/>
              <a:chExt cx="200" cy="188"/>
            </a:xfrm>
          </p:grpSpPr>
          <p:sp>
            <p:nvSpPr>
              <p:cNvPr id="370758" name="Oval 70">
                <a:extLst>
                  <a:ext uri="{FF2B5EF4-FFF2-40B4-BE49-F238E27FC236}">
                    <a16:creationId xmlns:a16="http://schemas.microsoft.com/office/drawing/2014/main" id="{C2795BC7-F42E-8CEA-FD32-EB354DA820A6}"/>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59" name="Oval 71">
                <a:extLst>
                  <a:ext uri="{FF2B5EF4-FFF2-40B4-BE49-F238E27FC236}">
                    <a16:creationId xmlns:a16="http://schemas.microsoft.com/office/drawing/2014/main" id="{4FD6EA37-426A-84DF-2A56-893C64CFAEE6}"/>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70760" name="Group 72">
              <a:extLst>
                <a:ext uri="{FF2B5EF4-FFF2-40B4-BE49-F238E27FC236}">
                  <a16:creationId xmlns:a16="http://schemas.microsoft.com/office/drawing/2014/main" id="{954F75B9-EA09-D60A-93B3-A648D64462C3}"/>
                </a:ext>
              </a:extLst>
            </p:cNvPr>
            <p:cNvGrpSpPr>
              <a:grpSpLocks/>
            </p:cNvGrpSpPr>
            <p:nvPr/>
          </p:nvGrpSpPr>
          <p:grpSpPr bwMode="auto">
            <a:xfrm>
              <a:off x="1449" y="2022"/>
              <a:ext cx="200" cy="188"/>
              <a:chOff x="1449" y="2022"/>
              <a:chExt cx="200" cy="188"/>
            </a:xfrm>
          </p:grpSpPr>
          <p:sp>
            <p:nvSpPr>
              <p:cNvPr id="370761" name="Oval 73">
                <a:extLst>
                  <a:ext uri="{FF2B5EF4-FFF2-40B4-BE49-F238E27FC236}">
                    <a16:creationId xmlns:a16="http://schemas.microsoft.com/office/drawing/2014/main" id="{CFAA44F4-AEA6-CAC1-CE07-AA0857AFE700}"/>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70762" name="Oval 74">
                <a:extLst>
                  <a:ext uri="{FF2B5EF4-FFF2-40B4-BE49-F238E27FC236}">
                    <a16:creationId xmlns:a16="http://schemas.microsoft.com/office/drawing/2014/main" id="{5E51145E-1E65-32E9-FADB-43FF9E0B3341}"/>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sp>
        <p:nvSpPr>
          <p:cNvPr id="370763" name="Rectangle 75">
            <a:extLst>
              <a:ext uri="{FF2B5EF4-FFF2-40B4-BE49-F238E27FC236}">
                <a16:creationId xmlns:a16="http://schemas.microsoft.com/office/drawing/2014/main" id="{3802050F-43FC-AD94-03B6-511565B9E42B}"/>
              </a:ext>
            </a:extLst>
          </p:cNvPr>
          <p:cNvSpPr>
            <a:spLocks noChangeArrowheads="1"/>
          </p:cNvSpPr>
          <p:nvPr/>
        </p:nvSpPr>
        <p:spPr bwMode="auto">
          <a:xfrm>
            <a:off x="6367463" y="5543550"/>
            <a:ext cx="2551112" cy="6191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t>　</a:t>
            </a:r>
            <a:r>
              <a:rPr lang="en-US" altLang="ja-JP" sz="2000"/>
              <a:t>Thực thể 2</a:t>
            </a:r>
          </a:p>
        </p:txBody>
      </p:sp>
      <p:sp>
        <p:nvSpPr>
          <p:cNvPr id="370764" name="Rectangle 76">
            <a:extLst>
              <a:ext uri="{FF2B5EF4-FFF2-40B4-BE49-F238E27FC236}">
                <a16:creationId xmlns:a16="http://schemas.microsoft.com/office/drawing/2014/main" id="{76C235C6-E30F-9120-5C17-731E12FCE81B}"/>
              </a:ext>
            </a:extLst>
          </p:cNvPr>
          <p:cNvSpPr>
            <a:spLocks noChangeArrowheads="1"/>
          </p:cNvSpPr>
          <p:nvPr/>
        </p:nvSpPr>
        <p:spPr bwMode="auto">
          <a:xfrm>
            <a:off x="6338888" y="4422775"/>
            <a:ext cx="2551112" cy="579438"/>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t>　</a:t>
            </a:r>
            <a:r>
              <a:rPr lang="en-US" altLang="ja-JP" sz="2000"/>
              <a:t>Thực thể 1</a:t>
            </a:r>
          </a:p>
        </p:txBody>
      </p:sp>
      <p:sp>
        <p:nvSpPr>
          <p:cNvPr id="370765" name="Rectangle 77">
            <a:extLst>
              <a:ext uri="{FF2B5EF4-FFF2-40B4-BE49-F238E27FC236}">
                <a16:creationId xmlns:a16="http://schemas.microsoft.com/office/drawing/2014/main" id="{AFAB684A-C4BC-62AB-A8E4-D4A6CEA3BB62}"/>
              </a:ext>
            </a:extLst>
          </p:cNvPr>
          <p:cNvSpPr>
            <a:spLocks noChangeArrowheads="1"/>
          </p:cNvSpPr>
          <p:nvPr/>
        </p:nvSpPr>
        <p:spPr bwMode="auto">
          <a:xfrm>
            <a:off x="1798638" y="4356100"/>
            <a:ext cx="1279525" cy="554038"/>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ja-JP" altLang="en-US" sz="2000">
                <a:latin typeface="MS UI Gothic" panose="020B0600070205080204" pitchFamily="50" charset="-128"/>
              </a:rPr>
              <a:t>　</a:t>
            </a:r>
            <a:r>
              <a:rPr lang="en-US" altLang="ja-JP" sz="2000">
                <a:latin typeface="MS UI Gothic" panose="020B0600070205080204" pitchFamily="50" charset="-128"/>
              </a:rPr>
              <a:t>Model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18CE7F6-3F21-46DD-91A4-2C8A8BE95392}"/>
              </a:ext>
            </a:extLst>
          </p:cNvPr>
          <p:cNvSpPr>
            <a:spLocks noGrp="1"/>
          </p:cNvSpPr>
          <p:nvPr>
            <p:ph type="sldNum" sz="quarter" idx="10"/>
          </p:nvPr>
        </p:nvSpPr>
        <p:spPr/>
        <p:txBody>
          <a:bodyPr/>
          <a:lstStyle/>
          <a:p>
            <a:fld id="{80183D93-745F-4E99-B0A4-C6C18211DC08}" type="slidenum">
              <a:rPr lang="en-US" altLang="ja-JP"/>
              <a:pPr/>
              <a:t>6</a:t>
            </a:fld>
            <a:endParaRPr lang="en-US" altLang="ja-JP"/>
          </a:p>
        </p:txBody>
      </p:sp>
      <p:sp>
        <p:nvSpPr>
          <p:cNvPr id="383035" name="Rectangle 59">
            <a:extLst>
              <a:ext uri="{FF2B5EF4-FFF2-40B4-BE49-F238E27FC236}">
                <a16:creationId xmlns:a16="http://schemas.microsoft.com/office/drawing/2014/main" id="{3B0E3140-B97B-9FEC-EFA5-6E4C0BC00C68}"/>
              </a:ext>
            </a:extLst>
          </p:cNvPr>
          <p:cNvSpPr>
            <a:spLocks noChangeArrowheads="1"/>
          </p:cNvSpPr>
          <p:nvPr/>
        </p:nvSpPr>
        <p:spPr bwMode="auto">
          <a:xfrm>
            <a:off x="228600" y="2820988"/>
            <a:ext cx="9207500" cy="3852862"/>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2978" name="Rectangle 2">
            <a:extLst>
              <a:ext uri="{FF2B5EF4-FFF2-40B4-BE49-F238E27FC236}">
                <a16:creationId xmlns:a16="http://schemas.microsoft.com/office/drawing/2014/main" id="{75E2EC9F-0105-A66B-C0C1-5AAD6B34DDCE}"/>
              </a:ext>
            </a:extLst>
          </p:cNvPr>
          <p:cNvSpPr>
            <a:spLocks noGrp="1" noChangeArrowheads="1"/>
          </p:cNvSpPr>
          <p:nvPr>
            <p:ph type="title"/>
          </p:nvPr>
        </p:nvSpPr>
        <p:spPr>
          <a:xfrm>
            <a:off x="344487" y="374759"/>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Class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object (1)</a:t>
            </a:r>
          </a:p>
        </p:txBody>
      </p:sp>
      <p:sp>
        <p:nvSpPr>
          <p:cNvPr id="382979" name="Rectangle 3">
            <a:extLst>
              <a:ext uri="{FF2B5EF4-FFF2-40B4-BE49-F238E27FC236}">
                <a16:creationId xmlns:a16="http://schemas.microsoft.com/office/drawing/2014/main" id="{C06970FC-1AC2-094D-99BD-DD3970B0608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82980" name="Rectangle 4">
            <a:extLst>
              <a:ext uri="{FF2B5EF4-FFF2-40B4-BE49-F238E27FC236}">
                <a16:creationId xmlns:a16="http://schemas.microsoft.com/office/drawing/2014/main" id="{ADACDC87-FE19-BEC8-58D9-9CE52CEA53D9}"/>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Class</a:t>
            </a:r>
          </a:p>
          <a:p>
            <a:pPr lvl="1"/>
            <a:endParaRPr lang="en-US" altLang="ja-JP" sz="2400" b="0"/>
          </a:p>
          <a:p>
            <a:pPr lvl="1"/>
            <a:endParaRPr lang="en-US" altLang="ja-JP" sz="2400" b="0"/>
          </a:p>
        </p:txBody>
      </p:sp>
      <p:sp>
        <p:nvSpPr>
          <p:cNvPr id="382981" name="Rectangle 5">
            <a:extLst>
              <a:ext uri="{FF2B5EF4-FFF2-40B4-BE49-F238E27FC236}">
                <a16:creationId xmlns:a16="http://schemas.microsoft.com/office/drawing/2014/main" id="{0F8E539E-32AB-A656-C1F3-C3C0FD6BF441}"/>
              </a:ext>
            </a:extLst>
          </p:cNvPr>
          <p:cNvSpPr>
            <a:spLocks noChangeArrowheads="1"/>
          </p:cNvSpPr>
          <p:nvPr/>
        </p:nvSpPr>
        <p:spPr bwMode="auto">
          <a:xfrm>
            <a:off x="228600" y="1204913"/>
            <a:ext cx="9429750" cy="649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model (template) của các đối tượng có các thuộc tính giống nhau và thực hiện các ứng xử, thao tác giống nhau </a:t>
            </a:r>
          </a:p>
        </p:txBody>
      </p:sp>
      <p:sp>
        <p:nvSpPr>
          <p:cNvPr id="382982" name="Rectangle 6">
            <a:extLst>
              <a:ext uri="{FF2B5EF4-FFF2-40B4-BE49-F238E27FC236}">
                <a16:creationId xmlns:a16="http://schemas.microsoft.com/office/drawing/2014/main" id="{5F9B15EA-72E5-81B3-D551-4EE6B513A6DC}"/>
              </a:ext>
            </a:extLst>
          </p:cNvPr>
          <p:cNvSpPr>
            <a:spLocks noChangeArrowheads="1"/>
          </p:cNvSpPr>
          <p:nvPr/>
        </p:nvSpPr>
        <p:spPr bwMode="auto">
          <a:xfrm>
            <a:off x="344488" y="17430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mj-lt"/>
              </a:rPr>
              <a:t>Object (Instance)</a:t>
            </a:r>
          </a:p>
          <a:p>
            <a:pPr lvl="1"/>
            <a:endParaRPr lang="en-US" altLang="ja-JP" sz="2400" b="0" dirty="0">
              <a:latin typeface="+mj-lt"/>
            </a:endParaRPr>
          </a:p>
          <a:p>
            <a:pPr lvl="1"/>
            <a:endParaRPr lang="en-US" altLang="ja-JP" sz="2400" b="0" dirty="0">
              <a:latin typeface="+mj-lt"/>
            </a:endParaRPr>
          </a:p>
        </p:txBody>
      </p:sp>
      <p:sp>
        <p:nvSpPr>
          <p:cNvPr id="382983" name="Rectangle 7">
            <a:extLst>
              <a:ext uri="{FF2B5EF4-FFF2-40B4-BE49-F238E27FC236}">
                <a16:creationId xmlns:a16="http://schemas.microsoft.com/office/drawing/2014/main" id="{6209D5A6-24AD-CBAE-7178-41ACA650BD55}"/>
              </a:ext>
            </a:extLst>
          </p:cNvPr>
          <p:cNvSpPr>
            <a:spLocks noChangeArrowheads="1"/>
          </p:cNvSpPr>
          <p:nvPr/>
        </p:nvSpPr>
        <p:spPr bwMode="auto">
          <a:xfrm>
            <a:off x="228601" y="2203450"/>
            <a:ext cx="9521824" cy="5048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err="1">
                <a:latin typeface="+mj-lt"/>
              </a:rPr>
              <a:t>Là</a:t>
            </a:r>
            <a:r>
              <a:rPr lang="en-US" altLang="ja-JP" sz="1800" dirty="0">
                <a:latin typeface="+mj-lt"/>
              </a:rPr>
              <a:t> </a:t>
            </a:r>
            <a:r>
              <a:rPr lang="en-US" altLang="ja-JP" sz="1800" dirty="0" err="1">
                <a:latin typeface="+mj-lt"/>
              </a:rPr>
              <a:t>thứ</a:t>
            </a:r>
            <a:r>
              <a:rPr lang="en-US" altLang="ja-JP" sz="1800" dirty="0">
                <a:latin typeface="+mj-lt"/>
              </a:rPr>
              <a:t> </a:t>
            </a:r>
            <a:r>
              <a:rPr lang="en-US" altLang="ja-JP" sz="1800" dirty="0" err="1">
                <a:latin typeface="+mj-lt"/>
              </a:rPr>
              <a:t>đã</a:t>
            </a:r>
            <a:r>
              <a:rPr lang="en-US" altLang="ja-JP" sz="1800" dirty="0">
                <a:latin typeface="+mj-lt"/>
              </a:rPr>
              <a:t> </a:t>
            </a:r>
            <a:r>
              <a:rPr lang="en-US" altLang="ja-JP" sz="1800" dirty="0" err="1">
                <a:latin typeface="+mj-lt"/>
              </a:rPr>
              <a:t>được</a:t>
            </a:r>
            <a:r>
              <a:rPr lang="en-US" altLang="ja-JP" sz="1800" dirty="0">
                <a:latin typeface="+mj-lt"/>
              </a:rPr>
              <a:t> </a:t>
            </a:r>
            <a:r>
              <a:rPr lang="en-US" altLang="ja-JP" sz="1800" dirty="0" err="1">
                <a:latin typeface="+mj-lt"/>
              </a:rPr>
              <a:t>truyền</a:t>
            </a:r>
            <a:r>
              <a:rPr lang="en-US" altLang="ja-JP" sz="1800" dirty="0">
                <a:latin typeface="+mj-lt"/>
              </a:rPr>
              <a:t> </a:t>
            </a:r>
            <a:r>
              <a:rPr lang="en-US" altLang="ja-JP" sz="1800" dirty="0" err="1">
                <a:latin typeface="+mj-lt"/>
              </a:rPr>
              <a:t>giá</a:t>
            </a:r>
            <a:r>
              <a:rPr lang="en-US" altLang="ja-JP" sz="1800" dirty="0">
                <a:latin typeface="+mj-lt"/>
              </a:rPr>
              <a:t> </a:t>
            </a:r>
            <a:r>
              <a:rPr lang="en-US" altLang="ja-JP" sz="1800" dirty="0" err="1">
                <a:latin typeface="+mj-lt"/>
              </a:rPr>
              <a:t>trị</a:t>
            </a:r>
            <a:r>
              <a:rPr lang="en-US" altLang="ja-JP" sz="1800" dirty="0">
                <a:latin typeface="+mj-lt"/>
              </a:rPr>
              <a:t> </a:t>
            </a:r>
            <a:r>
              <a:rPr lang="en-US" altLang="ja-JP" sz="1800" dirty="0" err="1">
                <a:latin typeface="+mj-lt"/>
              </a:rPr>
              <a:t>thực</a:t>
            </a:r>
            <a:r>
              <a:rPr lang="en-US" altLang="ja-JP" sz="1800" dirty="0">
                <a:latin typeface="+mj-lt"/>
              </a:rPr>
              <a:t> </a:t>
            </a:r>
            <a:r>
              <a:rPr lang="en-US" altLang="ja-JP" sz="1800" dirty="0" err="1">
                <a:latin typeface="+mj-lt"/>
              </a:rPr>
              <a:t>tế</a:t>
            </a:r>
            <a:r>
              <a:rPr lang="en-US" altLang="ja-JP" sz="1800" dirty="0">
                <a:latin typeface="+mj-lt"/>
              </a:rPr>
              <a:t> </a:t>
            </a:r>
            <a:r>
              <a:rPr lang="en-US" altLang="ja-JP" sz="1800" dirty="0" err="1">
                <a:latin typeface="+mj-lt"/>
              </a:rPr>
              <a:t>và</a:t>
            </a:r>
            <a:r>
              <a:rPr lang="en-US" altLang="ja-JP" sz="1800" dirty="0">
                <a:latin typeface="+mj-lt"/>
              </a:rPr>
              <a:t> </a:t>
            </a:r>
            <a:r>
              <a:rPr lang="en-US" altLang="ja-JP" sz="1800" dirty="0" err="1">
                <a:latin typeface="+mj-lt"/>
              </a:rPr>
              <a:t>được</a:t>
            </a:r>
            <a:r>
              <a:rPr lang="en-US" altLang="ja-JP" sz="1800" dirty="0">
                <a:latin typeface="+mj-lt"/>
              </a:rPr>
              <a:t> </a:t>
            </a:r>
            <a:r>
              <a:rPr lang="en-US" altLang="ja-JP" sz="1800" dirty="0" err="1">
                <a:latin typeface="+mj-lt"/>
              </a:rPr>
              <a:t>thực</a:t>
            </a:r>
            <a:r>
              <a:rPr lang="en-US" altLang="ja-JP" sz="1800" dirty="0">
                <a:latin typeface="+mj-lt"/>
              </a:rPr>
              <a:t> </a:t>
            </a:r>
            <a:r>
              <a:rPr lang="en-US" altLang="ja-JP" sz="1800" dirty="0" err="1">
                <a:latin typeface="+mj-lt"/>
              </a:rPr>
              <a:t>thể</a:t>
            </a:r>
            <a:r>
              <a:rPr lang="en-US" altLang="ja-JP" sz="1800" dirty="0">
                <a:latin typeface="+mj-lt"/>
              </a:rPr>
              <a:t> </a:t>
            </a:r>
            <a:r>
              <a:rPr lang="en-US" altLang="ja-JP" sz="1800" dirty="0" err="1">
                <a:latin typeface="+mj-lt"/>
              </a:rPr>
              <a:t>hóa</a:t>
            </a:r>
            <a:r>
              <a:rPr lang="en-US" altLang="ja-JP" sz="1800" dirty="0">
                <a:latin typeface="+mj-lt"/>
              </a:rPr>
              <a:t> </a:t>
            </a:r>
            <a:r>
              <a:rPr lang="en-US" altLang="ja-JP" sz="1800" dirty="0" err="1">
                <a:latin typeface="+mj-lt"/>
              </a:rPr>
              <a:t>dựa</a:t>
            </a:r>
            <a:r>
              <a:rPr lang="en-US" altLang="ja-JP" sz="1800" dirty="0">
                <a:latin typeface="+mj-lt"/>
              </a:rPr>
              <a:t> </a:t>
            </a:r>
            <a:r>
              <a:rPr lang="en-US" altLang="ja-JP" sz="1800" dirty="0" err="1">
                <a:latin typeface="+mj-lt"/>
              </a:rPr>
              <a:t>vào</a:t>
            </a:r>
            <a:r>
              <a:rPr lang="en-US" altLang="ja-JP" sz="1800" dirty="0">
                <a:latin typeface="+mj-lt"/>
              </a:rPr>
              <a:t> </a:t>
            </a:r>
            <a:r>
              <a:rPr lang="en-US" altLang="ja-JP" sz="1800" dirty="0" err="1">
                <a:latin typeface="+mj-lt"/>
              </a:rPr>
              <a:t>định</a:t>
            </a:r>
            <a:r>
              <a:rPr lang="en-US" altLang="ja-JP" sz="1800" dirty="0">
                <a:latin typeface="+mj-lt"/>
              </a:rPr>
              <a:t> </a:t>
            </a:r>
            <a:r>
              <a:rPr lang="en-US" altLang="ja-JP" sz="1800" dirty="0" err="1">
                <a:latin typeface="+mj-lt"/>
              </a:rPr>
              <a:t>nghĩa</a:t>
            </a:r>
            <a:r>
              <a:rPr lang="en-US" altLang="ja-JP" sz="1800" dirty="0">
                <a:latin typeface="+mj-lt"/>
              </a:rPr>
              <a:t> class.</a:t>
            </a:r>
          </a:p>
        </p:txBody>
      </p:sp>
      <p:sp>
        <p:nvSpPr>
          <p:cNvPr id="383009" name="Rectangle 33">
            <a:extLst>
              <a:ext uri="{FF2B5EF4-FFF2-40B4-BE49-F238E27FC236}">
                <a16:creationId xmlns:a16="http://schemas.microsoft.com/office/drawing/2014/main" id="{F9FF38E0-836E-B456-1FD1-1E1CBA258972}"/>
              </a:ext>
            </a:extLst>
          </p:cNvPr>
          <p:cNvSpPr>
            <a:spLocks noChangeArrowheads="1"/>
          </p:cNvSpPr>
          <p:nvPr/>
        </p:nvSpPr>
        <p:spPr bwMode="auto">
          <a:xfrm>
            <a:off x="2138363" y="3467100"/>
            <a:ext cx="88106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Class</a:t>
            </a:r>
          </a:p>
        </p:txBody>
      </p:sp>
      <p:sp>
        <p:nvSpPr>
          <p:cNvPr id="383010" name="Rectangle 34">
            <a:extLst>
              <a:ext uri="{FF2B5EF4-FFF2-40B4-BE49-F238E27FC236}">
                <a16:creationId xmlns:a16="http://schemas.microsoft.com/office/drawing/2014/main" id="{C197F7EF-3202-2DF7-E8F1-D95558EAB603}"/>
              </a:ext>
            </a:extLst>
          </p:cNvPr>
          <p:cNvSpPr>
            <a:spLocks noChangeArrowheads="1"/>
          </p:cNvSpPr>
          <p:nvPr/>
        </p:nvSpPr>
        <p:spPr bwMode="auto">
          <a:xfrm>
            <a:off x="4468813" y="3570288"/>
            <a:ext cx="1428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grpSp>
        <p:nvGrpSpPr>
          <p:cNvPr id="383011" name="Group 35">
            <a:extLst>
              <a:ext uri="{FF2B5EF4-FFF2-40B4-BE49-F238E27FC236}">
                <a16:creationId xmlns:a16="http://schemas.microsoft.com/office/drawing/2014/main" id="{EBF12E5E-CA41-0D02-E022-CAA77AFE5079}"/>
              </a:ext>
            </a:extLst>
          </p:cNvPr>
          <p:cNvGrpSpPr>
            <a:grpSpLocks/>
          </p:cNvGrpSpPr>
          <p:nvPr/>
        </p:nvGrpSpPr>
        <p:grpSpPr bwMode="auto">
          <a:xfrm>
            <a:off x="3770313" y="4621213"/>
            <a:ext cx="490537" cy="671512"/>
            <a:chOff x="1308" y="1715"/>
            <a:chExt cx="385" cy="657"/>
          </a:xfrm>
        </p:grpSpPr>
        <p:sp>
          <p:nvSpPr>
            <p:cNvPr id="383012" name="Oval 36">
              <a:extLst>
                <a:ext uri="{FF2B5EF4-FFF2-40B4-BE49-F238E27FC236}">
                  <a16:creationId xmlns:a16="http://schemas.microsoft.com/office/drawing/2014/main" id="{2F8F2E02-249C-AEC1-01D1-946FEBCEA73F}"/>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3013" name="Line 37">
              <a:extLst>
                <a:ext uri="{FF2B5EF4-FFF2-40B4-BE49-F238E27FC236}">
                  <a16:creationId xmlns:a16="http://schemas.microsoft.com/office/drawing/2014/main" id="{C7D90BDD-F378-6E53-09F1-E7254E41DA23}"/>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3014" name="Freeform 38">
              <a:extLst>
                <a:ext uri="{FF2B5EF4-FFF2-40B4-BE49-F238E27FC236}">
                  <a16:creationId xmlns:a16="http://schemas.microsoft.com/office/drawing/2014/main" id="{2F7CBD18-4E64-249A-3B6C-75D8623D7142}"/>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15" name="Freeform 39">
              <a:extLst>
                <a:ext uri="{FF2B5EF4-FFF2-40B4-BE49-F238E27FC236}">
                  <a16:creationId xmlns:a16="http://schemas.microsoft.com/office/drawing/2014/main" id="{76FD8405-EC6A-9AAB-FB61-212934660553}"/>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
        <p:nvSpPr>
          <p:cNvPr id="383016" name="Freeform 40">
            <a:extLst>
              <a:ext uri="{FF2B5EF4-FFF2-40B4-BE49-F238E27FC236}">
                <a16:creationId xmlns:a16="http://schemas.microsoft.com/office/drawing/2014/main" id="{AC8C9E65-3F8C-9374-A1FC-830FAEBF0ED3}"/>
              </a:ext>
            </a:extLst>
          </p:cNvPr>
          <p:cNvSpPr>
            <a:spLocks/>
          </p:cNvSpPr>
          <p:nvPr/>
        </p:nvSpPr>
        <p:spPr bwMode="auto">
          <a:xfrm>
            <a:off x="5846763" y="5189538"/>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17" name="Freeform 41">
            <a:extLst>
              <a:ext uri="{FF2B5EF4-FFF2-40B4-BE49-F238E27FC236}">
                <a16:creationId xmlns:a16="http://schemas.microsoft.com/office/drawing/2014/main" id="{26415F04-1DE1-BEF2-B4C3-A20F7230E482}"/>
              </a:ext>
            </a:extLst>
          </p:cNvPr>
          <p:cNvSpPr>
            <a:spLocks/>
          </p:cNvSpPr>
          <p:nvPr/>
        </p:nvSpPr>
        <p:spPr bwMode="auto">
          <a:xfrm>
            <a:off x="5943600" y="3246438"/>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83022" name="Rectangle 46">
            <a:extLst>
              <a:ext uri="{FF2B5EF4-FFF2-40B4-BE49-F238E27FC236}">
                <a16:creationId xmlns:a16="http://schemas.microsoft.com/office/drawing/2014/main" id="{D59B274F-F22E-F1B4-1A3F-CE63045E6A65}"/>
              </a:ext>
            </a:extLst>
          </p:cNvPr>
          <p:cNvSpPr>
            <a:spLocks noChangeArrowheads="1"/>
          </p:cNvSpPr>
          <p:nvPr/>
        </p:nvSpPr>
        <p:spPr bwMode="auto">
          <a:xfrm>
            <a:off x="228600" y="4432300"/>
            <a:ext cx="12636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600" dirty="0" err="1">
                <a:latin typeface="+mj-lt"/>
              </a:rPr>
              <a:t>Thuộc</a:t>
            </a:r>
            <a:r>
              <a:rPr lang="en-US" altLang="ja-JP" sz="1600" dirty="0">
                <a:latin typeface="+mj-lt"/>
              </a:rPr>
              <a:t> </a:t>
            </a:r>
            <a:r>
              <a:rPr lang="en-US" altLang="ja-JP" sz="1600" dirty="0" err="1">
                <a:latin typeface="+mj-lt"/>
              </a:rPr>
              <a:t>tính</a:t>
            </a:r>
            <a:endParaRPr lang="en-US" altLang="ja-JP" sz="1600" dirty="0">
              <a:latin typeface="+mj-lt"/>
            </a:endParaRPr>
          </a:p>
        </p:txBody>
      </p:sp>
      <p:sp>
        <p:nvSpPr>
          <p:cNvPr id="383023" name="Rectangle 47">
            <a:extLst>
              <a:ext uri="{FF2B5EF4-FFF2-40B4-BE49-F238E27FC236}">
                <a16:creationId xmlns:a16="http://schemas.microsoft.com/office/drawing/2014/main" id="{845D2B99-FE59-E949-4019-A2CA22193694}"/>
              </a:ext>
            </a:extLst>
          </p:cNvPr>
          <p:cNvSpPr>
            <a:spLocks noChangeArrowheads="1"/>
          </p:cNvSpPr>
          <p:nvPr/>
        </p:nvSpPr>
        <p:spPr bwMode="auto">
          <a:xfrm>
            <a:off x="190500" y="5019675"/>
            <a:ext cx="1309688"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a:latin typeface="+mj-lt"/>
              </a:rPr>
              <a:t>Thao </a:t>
            </a:r>
            <a:r>
              <a:rPr lang="en-US" altLang="ja-JP" sz="1600" dirty="0" err="1">
                <a:latin typeface="+mj-lt"/>
              </a:rPr>
              <a:t>tác</a:t>
            </a:r>
            <a:endParaRPr lang="en-US" altLang="ja-JP" sz="1600" dirty="0">
              <a:latin typeface="+mj-lt"/>
            </a:endParaRPr>
          </a:p>
          <a:p>
            <a:pPr algn="ctr" eaLnBrk="0" hangingPunct="0"/>
            <a:r>
              <a:rPr lang="en-US" altLang="ja-JP" sz="1600" dirty="0">
                <a:latin typeface="+mj-lt"/>
              </a:rPr>
              <a:t>(</a:t>
            </a:r>
            <a:r>
              <a:rPr lang="en-US" altLang="ja-JP" sz="1600" dirty="0" err="1">
                <a:latin typeface="+mj-lt"/>
              </a:rPr>
              <a:t>Ứng</a:t>
            </a:r>
            <a:r>
              <a:rPr lang="en-US" altLang="ja-JP" sz="1600" dirty="0">
                <a:latin typeface="+mj-lt"/>
              </a:rPr>
              <a:t> </a:t>
            </a:r>
            <a:r>
              <a:rPr lang="en-US" altLang="ja-JP" sz="1600" dirty="0" err="1">
                <a:latin typeface="+mj-lt"/>
              </a:rPr>
              <a:t>xư</a:t>
            </a:r>
            <a:r>
              <a:rPr lang="en-US" altLang="ja-JP" sz="1600" dirty="0">
                <a:latin typeface="+mj-lt"/>
              </a:rPr>
              <a:t>̉)</a:t>
            </a:r>
          </a:p>
        </p:txBody>
      </p:sp>
      <p:sp>
        <p:nvSpPr>
          <p:cNvPr id="383032" name="Rectangle 56">
            <a:extLst>
              <a:ext uri="{FF2B5EF4-FFF2-40B4-BE49-F238E27FC236}">
                <a16:creationId xmlns:a16="http://schemas.microsoft.com/office/drawing/2014/main" id="{2378306C-68D5-E9F1-B476-C348ACA6A206}"/>
              </a:ext>
            </a:extLst>
          </p:cNvPr>
          <p:cNvSpPr>
            <a:spLocks noChangeArrowheads="1"/>
          </p:cNvSpPr>
          <p:nvPr/>
        </p:nvSpPr>
        <p:spPr bwMode="auto">
          <a:xfrm>
            <a:off x="4402138" y="5976938"/>
            <a:ext cx="13731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sp>
        <p:nvSpPr>
          <p:cNvPr id="383033" name="AutoShape 57">
            <a:extLst>
              <a:ext uri="{FF2B5EF4-FFF2-40B4-BE49-F238E27FC236}">
                <a16:creationId xmlns:a16="http://schemas.microsoft.com/office/drawing/2014/main" id="{A2FEB94C-F2FF-DE03-8460-ADD324A6B4E1}"/>
              </a:ext>
            </a:extLst>
          </p:cNvPr>
          <p:cNvSpPr>
            <a:spLocks noChangeArrowheads="1"/>
          </p:cNvSpPr>
          <p:nvPr/>
        </p:nvSpPr>
        <p:spPr bwMode="auto">
          <a:xfrm rot="-915307">
            <a:off x="4414838" y="4224338"/>
            <a:ext cx="1289050" cy="125412"/>
          </a:xfrm>
          <a:prstGeom prst="rightArrow">
            <a:avLst>
              <a:gd name="adj1" fmla="val 50000"/>
              <a:gd name="adj2" fmla="val 256963"/>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383034" name="AutoShape 58">
            <a:extLst>
              <a:ext uri="{FF2B5EF4-FFF2-40B4-BE49-F238E27FC236}">
                <a16:creationId xmlns:a16="http://schemas.microsoft.com/office/drawing/2014/main" id="{0CF25567-B155-A494-7F7E-97BEF6DB5DB2}"/>
              </a:ext>
            </a:extLst>
          </p:cNvPr>
          <p:cNvSpPr>
            <a:spLocks noChangeArrowheads="1"/>
          </p:cNvSpPr>
          <p:nvPr/>
        </p:nvSpPr>
        <p:spPr bwMode="auto">
          <a:xfrm rot="1351234" flipV="1">
            <a:off x="4364038" y="5481638"/>
            <a:ext cx="1289050" cy="142875"/>
          </a:xfrm>
          <a:prstGeom prst="rightArrow">
            <a:avLst>
              <a:gd name="adj1" fmla="val 50000"/>
              <a:gd name="adj2" fmla="val 22555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nvGrpSpPr>
          <p:cNvPr id="383036" name="Group 60">
            <a:extLst>
              <a:ext uri="{FF2B5EF4-FFF2-40B4-BE49-F238E27FC236}">
                <a16:creationId xmlns:a16="http://schemas.microsoft.com/office/drawing/2014/main" id="{278840CA-C118-83A7-6EB6-4850B55F6DB2}"/>
              </a:ext>
            </a:extLst>
          </p:cNvPr>
          <p:cNvGrpSpPr>
            <a:grpSpLocks/>
          </p:cNvGrpSpPr>
          <p:nvPr/>
        </p:nvGrpSpPr>
        <p:grpSpPr bwMode="auto">
          <a:xfrm>
            <a:off x="1473200" y="3890963"/>
            <a:ext cx="2054225" cy="2044700"/>
            <a:chOff x="640" y="4949"/>
            <a:chExt cx="859" cy="879"/>
          </a:xfrm>
        </p:grpSpPr>
        <p:sp>
          <p:nvSpPr>
            <p:cNvPr id="383037" name="Rectangle 61">
              <a:extLst>
                <a:ext uri="{FF2B5EF4-FFF2-40B4-BE49-F238E27FC236}">
                  <a16:creationId xmlns:a16="http://schemas.microsoft.com/office/drawing/2014/main" id="{E1B91351-6DEF-D82C-E6D8-431C3B251645}"/>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dirty="0" err="1">
                  <a:latin typeface="+mj-lt"/>
                </a:rPr>
                <a:t>Người</a:t>
              </a:r>
              <a:endParaRPr lang="en-US" altLang="ja-JP" sz="1800" dirty="0">
                <a:latin typeface="+mj-lt"/>
              </a:endParaRPr>
            </a:p>
          </p:txBody>
        </p:sp>
        <p:sp>
          <p:nvSpPr>
            <p:cNvPr id="383038" name="Rectangle 62">
              <a:extLst>
                <a:ext uri="{FF2B5EF4-FFF2-40B4-BE49-F238E27FC236}">
                  <a16:creationId xmlns:a16="http://schemas.microsoft.com/office/drawing/2014/main" id="{58B2A2A1-58CA-DE7B-9190-44FECD13DD3D}"/>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Tuổi</a:t>
              </a:r>
              <a:endParaRPr lang="en-US" altLang="ja-JP" sz="1800" b="0" dirty="0">
                <a:latin typeface="+mj-lt"/>
              </a:endParaRPr>
            </a:p>
          </p:txBody>
        </p:sp>
        <p:sp>
          <p:nvSpPr>
            <p:cNvPr id="383039" name="Rectangle 63">
              <a:extLst>
                <a:ext uri="{FF2B5EF4-FFF2-40B4-BE49-F238E27FC236}">
                  <a16:creationId xmlns:a16="http://schemas.microsoft.com/office/drawing/2014/main" id="{A0D1DA49-EF9D-A1C3-1BB8-C5292C7925BB}"/>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Lấy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383040" name="Group 64">
            <a:extLst>
              <a:ext uri="{FF2B5EF4-FFF2-40B4-BE49-F238E27FC236}">
                <a16:creationId xmlns:a16="http://schemas.microsoft.com/office/drawing/2014/main" id="{5CEBAB8F-FF21-9E94-250A-313768A5302D}"/>
              </a:ext>
            </a:extLst>
          </p:cNvPr>
          <p:cNvGrpSpPr>
            <a:grpSpLocks/>
          </p:cNvGrpSpPr>
          <p:nvPr/>
        </p:nvGrpSpPr>
        <p:grpSpPr bwMode="auto">
          <a:xfrm>
            <a:off x="6635750" y="2928938"/>
            <a:ext cx="2247900" cy="1733550"/>
            <a:chOff x="640" y="4949"/>
            <a:chExt cx="859" cy="879"/>
          </a:xfrm>
        </p:grpSpPr>
        <p:sp>
          <p:nvSpPr>
            <p:cNvPr id="383041" name="Rectangle 65">
              <a:extLst>
                <a:ext uri="{FF2B5EF4-FFF2-40B4-BE49-F238E27FC236}">
                  <a16:creationId xmlns:a16="http://schemas.microsoft.com/office/drawing/2014/main" id="{EB59DE34-0386-51C5-AFFD-CC4094FAB6E2}"/>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Yamada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383042" name="Rectangle 66">
              <a:extLst>
                <a:ext uri="{FF2B5EF4-FFF2-40B4-BE49-F238E27FC236}">
                  <a16:creationId xmlns:a16="http://schemas.microsoft.com/office/drawing/2014/main" id="{39E3D5B6-D0BB-8EFA-7CA9-3B538AB273F0}"/>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=Yamada Taro</a:t>
              </a:r>
            </a:p>
            <a:p>
              <a:r>
                <a:rPr lang="en-US" altLang="ja-JP" sz="1600" b="0" dirty="0" err="1">
                  <a:latin typeface="+mj-lt"/>
                </a:rPr>
                <a:t>Tuổi</a:t>
              </a:r>
              <a:r>
                <a:rPr lang="en-US" altLang="ja-JP" sz="1600" b="0" dirty="0">
                  <a:latin typeface="+mj-lt"/>
                </a:rPr>
                <a:t>=30</a:t>
              </a:r>
            </a:p>
          </p:txBody>
        </p:sp>
        <p:sp>
          <p:nvSpPr>
            <p:cNvPr id="383043" name="Rectangle 67">
              <a:extLst>
                <a:ext uri="{FF2B5EF4-FFF2-40B4-BE49-F238E27FC236}">
                  <a16:creationId xmlns:a16="http://schemas.microsoft.com/office/drawing/2014/main" id="{806021C7-3AAC-FA19-8E21-BBCAE47719AA}"/>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grpSp>
        <p:nvGrpSpPr>
          <p:cNvPr id="383044" name="Group 68">
            <a:extLst>
              <a:ext uri="{FF2B5EF4-FFF2-40B4-BE49-F238E27FC236}">
                <a16:creationId xmlns:a16="http://schemas.microsoft.com/office/drawing/2014/main" id="{31C09AE0-68D3-B19F-A500-A341DD52589A}"/>
              </a:ext>
            </a:extLst>
          </p:cNvPr>
          <p:cNvGrpSpPr>
            <a:grpSpLocks/>
          </p:cNvGrpSpPr>
          <p:nvPr/>
        </p:nvGrpSpPr>
        <p:grpSpPr bwMode="auto">
          <a:xfrm>
            <a:off x="6630988" y="4764088"/>
            <a:ext cx="2273300" cy="1770062"/>
            <a:chOff x="640" y="4949"/>
            <a:chExt cx="859" cy="879"/>
          </a:xfrm>
        </p:grpSpPr>
        <p:sp>
          <p:nvSpPr>
            <p:cNvPr id="383045" name="Rectangle 69">
              <a:extLst>
                <a:ext uri="{FF2B5EF4-FFF2-40B4-BE49-F238E27FC236}">
                  <a16:creationId xmlns:a16="http://schemas.microsoft.com/office/drawing/2014/main" id="{DFE0AF3B-2418-3A7C-B6EC-D3987E5457CA}"/>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Kawamura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383046" name="Rectangle 70">
              <a:extLst>
                <a:ext uri="{FF2B5EF4-FFF2-40B4-BE49-F238E27FC236}">
                  <a16:creationId xmlns:a16="http://schemas.microsoft.com/office/drawing/2014/main" id="{9DBF45E9-3C00-5CD9-A882-22E7A4FF7FFF}"/>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383047" name="Rectangle 71">
              <a:extLst>
                <a:ext uri="{FF2B5EF4-FFF2-40B4-BE49-F238E27FC236}">
                  <a16:creationId xmlns:a16="http://schemas.microsoft.com/office/drawing/2014/main" id="{4BB4E2E3-6966-6511-A0CA-83C3246177C8}"/>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1836A1-819D-C423-AA66-1C6745044EEB}"/>
              </a:ext>
            </a:extLst>
          </p:cNvPr>
          <p:cNvSpPr>
            <a:spLocks noGrp="1"/>
          </p:cNvSpPr>
          <p:nvPr>
            <p:ph type="sldNum" sz="quarter" idx="10"/>
          </p:nvPr>
        </p:nvSpPr>
        <p:spPr/>
        <p:txBody>
          <a:bodyPr/>
          <a:lstStyle/>
          <a:p>
            <a:fld id="{4EFB44DC-9DCD-41C5-916E-4A863C3B042E}" type="slidenum">
              <a:rPr lang="en-US" altLang="ja-JP"/>
              <a:pPr/>
              <a:t>7</a:t>
            </a:fld>
            <a:endParaRPr lang="en-US" altLang="ja-JP"/>
          </a:p>
        </p:txBody>
      </p:sp>
      <p:sp>
        <p:nvSpPr>
          <p:cNvPr id="432130" name="Rectangle 2">
            <a:extLst>
              <a:ext uri="{FF2B5EF4-FFF2-40B4-BE49-F238E27FC236}">
                <a16:creationId xmlns:a16="http://schemas.microsoft.com/office/drawing/2014/main" id="{D52769EA-A92C-6043-A098-E19EE9F6A5FD}"/>
              </a:ext>
            </a:extLst>
          </p:cNvPr>
          <p:cNvSpPr>
            <a:spLocks noChangeArrowheads="1"/>
          </p:cNvSpPr>
          <p:nvPr/>
        </p:nvSpPr>
        <p:spPr bwMode="auto">
          <a:xfrm>
            <a:off x="344488" y="2276475"/>
            <a:ext cx="9091612" cy="4257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31" name="Rectangle 3">
            <a:extLst>
              <a:ext uri="{FF2B5EF4-FFF2-40B4-BE49-F238E27FC236}">
                <a16:creationId xmlns:a16="http://schemas.microsoft.com/office/drawing/2014/main" id="{6DED3CBA-2AEE-6391-3275-7089E69CC26E}"/>
              </a:ext>
            </a:extLst>
          </p:cNvPr>
          <p:cNvSpPr>
            <a:spLocks noGrp="1" noChangeArrowheads="1"/>
          </p:cNvSpPr>
          <p:nvPr>
            <p:ph type="title"/>
          </p:nvPr>
        </p:nvSpPr>
        <p:spPr>
          <a:xfrm>
            <a:off x="344488" y="35476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Class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object (2)</a:t>
            </a:r>
          </a:p>
        </p:txBody>
      </p:sp>
      <p:sp>
        <p:nvSpPr>
          <p:cNvPr id="432132" name="Rectangle 4">
            <a:extLst>
              <a:ext uri="{FF2B5EF4-FFF2-40B4-BE49-F238E27FC236}">
                <a16:creationId xmlns:a16="http://schemas.microsoft.com/office/drawing/2014/main" id="{CC6F7E6F-FDD9-457F-80A2-319B52FD9DB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2137" name="Rectangle 9">
            <a:extLst>
              <a:ext uri="{FF2B5EF4-FFF2-40B4-BE49-F238E27FC236}">
                <a16:creationId xmlns:a16="http://schemas.microsoft.com/office/drawing/2014/main" id="{6E427BFF-EDC0-195A-B54C-4E49BC384748}"/>
              </a:ext>
            </a:extLst>
          </p:cNvPr>
          <p:cNvSpPr>
            <a:spLocks noChangeArrowheads="1"/>
          </p:cNvSpPr>
          <p:nvPr/>
        </p:nvSpPr>
        <p:spPr bwMode="auto">
          <a:xfrm>
            <a:off x="2138363" y="2987675"/>
            <a:ext cx="88106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MS UI Gothic" panose="020B0600070205080204" pitchFamily="50" charset="-128"/>
              </a:rPr>
              <a:t>Class</a:t>
            </a:r>
          </a:p>
        </p:txBody>
      </p:sp>
      <p:sp>
        <p:nvSpPr>
          <p:cNvPr id="432138" name="Rectangle 10">
            <a:extLst>
              <a:ext uri="{FF2B5EF4-FFF2-40B4-BE49-F238E27FC236}">
                <a16:creationId xmlns:a16="http://schemas.microsoft.com/office/drawing/2014/main" id="{2288B403-0891-1E95-66B0-BCBAABA3397F}"/>
              </a:ext>
            </a:extLst>
          </p:cNvPr>
          <p:cNvSpPr>
            <a:spLocks noChangeArrowheads="1"/>
          </p:cNvSpPr>
          <p:nvPr/>
        </p:nvSpPr>
        <p:spPr bwMode="auto">
          <a:xfrm>
            <a:off x="4468813" y="3090863"/>
            <a:ext cx="1428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grpSp>
        <p:nvGrpSpPr>
          <p:cNvPr id="432139" name="Group 11">
            <a:extLst>
              <a:ext uri="{FF2B5EF4-FFF2-40B4-BE49-F238E27FC236}">
                <a16:creationId xmlns:a16="http://schemas.microsoft.com/office/drawing/2014/main" id="{9BD6FB6F-3B79-CB4E-0A47-369153D8A4CF}"/>
              </a:ext>
            </a:extLst>
          </p:cNvPr>
          <p:cNvGrpSpPr>
            <a:grpSpLocks/>
          </p:cNvGrpSpPr>
          <p:nvPr/>
        </p:nvGrpSpPr>
        <p:grpSpPr bwMode="auto">
          <a:xfrm>
            <a:off x="3770313" y="4141788"/>
            <a:ext cx="490537" cy="671512"/>
            <a:chOff x="1308" y="1715"/>
            <a:chExt cx="385" cy="657"/>
          </a:xfrm>
        </p:grpSpPr>
        <p:sp>
          <p:nvSpPr>
            <p:cNvPr id="432140" name="Oval 12">
              <a:extLst>
                <a:ext uri="{FF2B5EF4-FFF2-40B4-BE49-F238E27FC236}">
                  <a16:creationId xmlns:a16="http://schemas.microsoft.com/office/drawing/2014/main" id="{AE789394-7E67-B164-A938-58FABABAA29B}"/>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41" name="Line 13">
              <a:extLst>
                <a:ext uri="{FF2B5EF4-FFF2-40B4-BE49-F238E27FC236}">
                  <a16:creationId xmlns:a16="http://schemas.microsoft.com/office/drawing/2014/main" id="{E11EC49F-1588-9B46-C40D-506B050A119D}"/>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2142" name="Freeform 14">
              <a:extLst>
                <a:ext uri="{FF2B5EF4-FFF2-40B4-BE49-F238E27FC236}">
                  <a16:creationId xmlns:a16="http://schemas.microsoft.com/office/drawing/2014/main" id="{67515749-6D23-5DFD-FA8E-BABEB795879D}"/>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3" name="Freeform 15">
              <a:extLst>
                <a:ext uri="{FF2B5EF4-FFF2-40B4-BE49-F238E27FC236}">
                  <a16:creationId xmlns:a16="http://schemas.microsoft.com/office/drawing/2014/main" id="{EDF63BA6-3608-B43E-FBAD-75B0620A6C6B}"/>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
        <p:nvSpPr>
          <p:cNvPr id="432144" name="Freeform 16">
            <a:extLst>
              <a:ext uri="{FF2B5EF4-FFF2-40B4-BE49-F238E27FC236}">
                <a16:creationId xmlns:a16="http://schemas.microsoft.com/office/drawing/2014/main" id="{1C89DD82-07CA-266E-20C8-F9D093A8CB55}"/>
              </a:ext>
            </a:extLst>
          </p:cNvPr>
          <p:cNvSpPr>
            <a:spLocks/>
          </p:cNvSpPr>
          <p:nvPr/>
        </p:nvSpPr>
        <p:spPr bwMode="auto">
          <a:xfrm>
            <a:off x="5846763" y="4710113"/>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5" name="Freeform 17">
            <a:extLst>
              <a:ext uri="{FF2B5EF4-FFF2-40B4-BE49-F238E27FC236}">
                <a16:creationId xmlns:a16="http://schemas.microsoft.com/office/drawing/2014/main" id="{08880D0A-0CAB-A65D-EBE8-142437DEB56E}"/>
              </a:ext>
            </a:extLst>
          </p:cNvPr>
          <p:cNvSpPr>
            <a:spLocks/>
          </p:cNvSpPr>
          <p:nvPr/>
        </p:nvSpPr>
        <p:spPr bwMode="auto">
          <a:xfrm>
            <a:off x="5943600" y="2767013"/>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2146" name="Rectangle 18">
            <a:extLst>
              <a:ext uri="{FF2B5EF4-FFF2-40B4-BE49-F238E27FC236}">
                <a16:creationId xmlns:a16="http://schemas.microsoft.com/office/drawing/2014/main" id="{BF0C9A2E-7A89-5FFF-B41F-59785D8869FC}"/>
              </a:ext>
            </a:extLst>
          </p:cNvPr>
          <p:cNvSpPr>
            <a:spLocks noChangeArrowheads="1"/>
          </p:cNvSpPr>
          <p:nvPr/>
        </p:nvSpPr>
        <p:spPr bwMode="auto">
          <a:xfrm>
            <a:off x="292100" y="4108450"/>
            <a:ext cx="12890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600" dirty="0" err="1">
                <a:latin typeface="+mj-lt"/>
              </a:rPr>
              <a:t>Thuộc</a:t>
            </a:r>
            <a:r>
              <a:rPr lang="en-US" altLang="ja-JP" sz="1600" dirty="0">
                <a:latin typeface="+mj-lt"/>
              </a:rPr>
              <a:t> </a:t>
            </a:r>
            <a:r>
              <a:rPr lang="en-US" altLang="ja-JP" sz="1600" dirty="0" err="1">
                <a:latin typeface="+mj-lt"/>
              </a:rPr>
              <a:t>tính</a:t>
            </a:r>
            <a:endParaRPr lang="en-US" altLang="ja-JP" sz="1600" dirty="0">
              <a:latin typeface="+mj-lt"/>
            </a:endParaRPr>
          </a:p>
        </p:txBody>
      </p:sp>
      <p:sp>
        <p:nvSpPr>
          <p:cNvPr id="432147" name="Rectangle 19">
            <a:extLst>
              <a:ext uri="{FF2B5EF4-FFF2-40B4-BE49-F238E27FC236}">
                <a16:creationId xmlns:a16="http://schemas.microsoft.com/office/drawing/2014/main" id="{F046CA98-01E7-0E3F-2FBA-7A708CEBA050}"/>
              </a:ext>
            </a:extLst>
          </p:cNvPr>
          <p:cNvSpPr>
            <a:spLocks noChangeArrowheads="1"/>
          </p:cNvSpPr>
          <p:nvPr/>
        </p:nvSpPr>
        <p:spPr bwMode="auto">
          <a:xfrm>
            <a:off x="412750" y="4540250"/>
            <a:ext cx="1054100"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eaLnBrk="0" hangingPunct="0"/>
            <a:r>
              <a:rPr lang="en-US" altLang="ja-JP" sz="1600" dirty="0">
                <a:latin typeface="+mj-lt"/>
              </a:rPr>
              <a:t>Thao </a:t>
            </a:r>
            <a:r>
              <a:rPr lang="en-US" altLang="ja-JP" sz="1600" dirty="0" err="1">
                <a:latin typeface="+mj-lt"/>
              </a:rPr>
              <a:t>tác</a:t>
            </a:r>
            <a:endParaRPr lang="en-US" altLang="ja-JP" sz="1600" dirty="0">
              <a:latin typeface="+mj-lt"/>
            </a:endParaRPr>
          </a:p>
          <a:p>
            <a:pPr algn="ctr" eaLnBrk="0" hangingPunct="0"/>
            <a:r>
              <a:rPr lang="en-US" altLang="ja-JP" sz="1600" dirty="0">
                <a:latin typeface="+mj-lt"/>
              </a:rPr>
              <a:t>(</a:t>
            </a:r>
            <a:r>
              <a:rPr lang="en-US" altLang="ja-JP" sz="1600" dirty="0" err="1">
                <a:latin typeface="+mj-lt"/>
              </a:rPr>
              <a:t>Hành</a:t>
            </a:r>
            <a:r>
              <a:rPr lang="en-US" altLang="ja-JP" sz="1600" dirty="0">
                <a:latin typeface="+mj-lt"/>
              </a:rPr>
              <a:t> vi)</a:t>
            </a:r>
          </a:p>
        </p:txBody>
      </p:sp>
      <p:sp>
        <p:nvSpPr>
          <p:cNvPr id="432148" name="Rectangle 20">
            <a:extLst>
              <a:ext uri="{FF2B5EF4-FFF2-40B4-BE49-F238E27FC236}">
                <a16:creationId xmlns:a16="http://schemas.microsoft.com/office/drawing/2014/main" id="{0BF3ECC7-2D00-6F69-F45C-F24B2A1A2532}"/>
              </a:ext>
            </a:extLst>
          </p:cNvPr>
          <p:cNvSpPr>
            <a:spLocks noChangeArrowheads="1"/>
          </p:cNvSpPr>
          <p:nvPr/>
        </p:nvSpPr>
        <p:spPr bwMode="auto">
          <a:xfrm>
            <a:off x="4402138" y="5497513"/>
            <a:ext cx="1373187"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t>Đối tượng</a:t>
            </a:r>
          </a:p>
        </p:txBody>
      </p:sp>
      <p:sp>
        <p:nvSpPr>
          <p:cNvPr id="432149" name="AutoShape 21">
            <a:extLst>
              <a:ext uri="{FF2B5EF4-FFF2-40B4-BE49-F238E27FC236}">
                <a16:creationId xmlns:a16="http://schemas.microsoft.com/office/drawing/2014/main" id="{EC785E2B-5586-DC66-37C4-0DC66F713317}"/>
              </a:ext>
            </a:extLst>
          </p:cNvPr>
          <p:cNvSpPr>
            <a:spLocks noChangeArrowheads="1"/>
          </p:cNvSpPr>
          <p:nvPr/>
        </p:nvSpPr>
        <p:spPr bwMode="auto">
          <a:xfrm rot="-915307">
            <a:off x="4414838" y="3744913"/>
            <a:ext cx="1289050" cy="125412"/>
          </a:xfrm>
          <a:prstGeom prst="rightArrow">
            <a:avLst>
              <a:gd name="adj1" fmla="val 50000"/>
              <a:gd name="adj2" fmla="val 256963"/>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432150" name="AutoShape 22">
            <a:extLst>
              <a:ext uri="{FF2B5EF4-FFF2-40B4-BE49-F238E27FC236}">
                <a16:creationId xmlns:a16="http://schemas.microsoft.com/office/drawing/2014/main" id="{0B43EF7B-B45E-0380-42B8-C19CE7483284}"/>
              </a:ext>
            </a:extLst>
          </p:cNvPr>
          <p:cNvSpPr>
            <a:spLocks noChangeArrowheads="1"/>
          </p:cNvSpPr>
          <p:nvPr/>
        </p:nvSpPr>
        <p:spPr bwMode="auto">
          <a:xfrm rot="1351234" flipV="1">
            <a:off x="4364038" y="5002213"/>
            <a:ext cx="1289050" cy="142875"/>
          </a:xfrm>
          <a:prstGeom prst="rightArrow">
            <a:avLst>
              <a:gd name="adj1" fmla="val 50000"/>
              <a:gd name="adj2" fmla="val 225556"/>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nvGrpSpPr>
          <p:cNvPr id="432151" name="Group 23">
            <a:extLst>
              <a:ext uri="{FF2B5EF4-FFF2-40B4-BE49-F238E27FC236}">
                <a16:creationId xmlns:a16="http://schemas.microsoft.com/office/drawing/2014/main" id="{8646126F-33A9-569E-C9D1-11C37D8F53C9}"/>
              </a:ext>
            </a:extLst>
          </p:cNvPr>
          <p:cNvGrpSpPr>
            <a:grpSpLocks/>
          </p:cNvGrpSpPr>
          <p:nvPr/>
        </p:nvGrpSpPr>
        <p:grpSpPr bwMode="auto">
          <a:xfrm>
            <a:off x="1473200" y="3411538"/>
            <a:ext cx="2054225" cy="2044700"/>
            <a:chOff x="640" y="4949"/>
            <a:chExt cx="859" cy="879"/>
          </a:xfrm>
        </p:grpSpPr>
        <p:sp>
          <p:nvSpPr>
            <p:cNvPr id="432152" name="Rectangle 24">
              <a:extLst>
                <a:ext uri="{FF2B5EF4-FFF2-40B4-BE49-F238E27FC236}">
                  <a16:creationId xmlns:a16="http://schemas.microsoft.com/office/drawing/2014/main" id="{53971FB7-C47A-78A6-C44E-2848EBF385B1}"/>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Người</a:t>
              </a:r>
            </a:p>
          </p:txBody>
        </p:sp>
        <p:sp>
          <p:nvSpPr>
            <p:cNvPr id="432153" name="Rectangle 25">
              <a:extLst>
                <a:ext uri="{FF2B5EF4-FFF2-40B4-BE49-F238E27FC236}">
                  <a16:creationId xmlns:a16="http://schemas.microsoft.com/office/drawing/2014/main" id="{6B083400-0008-5EF5-80F9-593106633E2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Tuổi</a:t>
              </a:r>
              <a:endParaRPr lang="en-US" altLang="ja-JP" sz="1800" b="0" dirty="0">
                <a:latin typeface="+mj-lt"/>
              </a:endParaRPr>
            </a:p>
          </p:txBody>
        </p:sp>
        <p:sp>
          <p:nvSpPr>
            <p:cNvPr id="432154" name="Rectangle 26">
              <a:extLst>
                <a:ext uri="{FF2B5EF4-FFF2-40B4-BE49-F238E27FC236}">
                  <a16:creationId xmlns:a16="http://schemas.microsoft.com/office/drawing/2014/main" id="{1E8AEE01-BDD3-6AC8-F7AD-B378627AB93B}"/>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Lấy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432155" name="Group 27">
            <a:extLst>
              <a:ext uri="{FF2B5EF4-FFF2-40B4-BE49-F238E27FC236}">
                <a16:creationId xmlns:a16="http://schemas.microsoft.com/office/drawing/2014/main" id="{056B3009-81B7-AD96-67CC-14F33FB97760}"/>
              </a:ext>
            </a:extLst>
          </p:cNvPr>
          <p:cNvGrpSpPr>
            <a:grpSpLocks/>
          </p:cNvGrpSpPr>
          <p:nvPr/>
        </p:nvGrpSpPr>
        <p:grpSpPr bwMode="auto">
          <a:xfrm>
            <a:off x="6635750" y="2549525"/>
            <a:ext cx="2197100" cy="1771650"/>
            <a:chOff x="640" y="4949"/>
            <a:chExt cx="859" cy="879"/>
          </a:xfrm>
        </p:grpSpPr>
        <p:sp>
          <p:nvSpPr>
            <p:cNvPr id="432156" name="Rectangle 28">
              <a:extLst>
                <a:ext uri="{FF2B5EF4-FFF2-40B4-BE49-F238E27FC236}">
                  <a16:creationId xmlns:a16="http://schemas.microsoft.com/office/drawing/2014/main" id="{30FEA6DB-4C12-2F8B-CA49-EE1865DDE977}"/>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Yamada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432157" name="Rectangle 29">
              <a:extLst>
                <a:ext uri="{FF2B5EF4-FFF2-40B4-BE49-F238E27FC236}">
                  <a16:creationId xmlns:a16="http://schemas.microsoft.com/office/drawing/2014/main" id="{BC729C20-465B-04A6-3913-2F667FF0EDA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=Yamada Taro</a:t>
              </a:r>
            </a:p>
            <a:p>
              <a:r>
                <a:rPr lang="en-US" altLang="ja-JP" sz="1600" b="0" dirty="0" err="1">
                  <a:latin typeface="+mj-lt"/>
                </a:rPr>
                <a:t>Tuổi</a:t>
              </a:r>
              <a:r>
                <a:rPr lang="en-US" altLang="ja-JP" sz="1600" b="0" dirty="0">
                  <a:latin typeface="+mj-lt"/>
                </a:rPr>
                <a:t>=30</a:t>
              </a:r>
            </a:p>
          </p:txBody>
        </p:sp>
        <p:sp>
          <p:nvSpPr>
            <p:cNvPr id="432158" name="Rectangle 30">
              <a:extLst>
                <a:ext uri="{FF2B5EF4-FFF2-40B4-BE49-F238E27FC236}">
                  <a16:creationId xmlns:a16="http://schemas.microsoft.com/office/drawing/2014/main" id="{1F6714E3-D538-AB4B-DBFE-7F83F450BED7}"/>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grpSp>
        <p:nvGrpSpPr>
          <p:cNvPr id="432159" name="Group 31">
            <a:extLst>
              <a:ext uri="{FF2B5EF4-FFF2-40B4-BE49-F238E27FC236}">
                <a16:creationId xmlns:a16="http://schemas.microsoft.com/office/drawing/2014/main" id="{BFA16C4E-F981-B585-DB94-5BD00F09ED30}"/>
              </a:ext>
            </a:extLst>
          </p:cNvPr>
          <p:cNvGrpSpPr>
            <a:grpSpLocks/>
          </p:cNvGrpSpPr>
          <p:nvPr/>
        </p:nvGrpSpPr>
        <p:grpSpPr bwMode="auto">
          <a:xfrm>
            <a:off x="6630988" y="4462463"/>
            <a:ext cx="2235200" cy="1719262"/>
            <a:chOff x="640" y="4949"/>
            <a:chExt cx="859" cy="879"/>
          </a:xfrm>
        </p:grpSpPr>
        <p:sp>
          <p:nvSpPr>
            <p:cNvPr id="432160" name="Rectangle 32">
              <a:extLst>
                <a:ext uri="{FF2B5EF4-FFF2-40B4-BE49-F238E27FC236}">
                  <a16:creationId xmlns:a16="http://schemas.microsoft.com/office/drawing/2014/main" id="{5F7AD0DA-B6E8-3042-99AC-DB72CB28387A}"/>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dirty="0">
                  <a:latin typeface="+mj-lt"/>
                </a:rPr>
                <a:t>Kawamura</a:t>
              </a:r>
              <a:r>
                <a:rPr lang="ja-JP" altLang="en-US" sz="1600" u="sng" dirty="0">
                  <a:latin typeface="+mj-lt"/>
                </a:rPr>
                <a:t>：</a:t>
              </a:r>
              <a:r>
                <a:rPr lang="en-US" altLang="ja-JP" sz="1600" u="sng" dirty="0" err="1">
                  <a:latin typeface="+mj-lt"/>
                </a:rPr>
                <a:t>người</a:t>
              </a:r>
              <a:endParaRPr lang="en-US" altLang="ja-JP" sz="1600" u="sng" dirty="0">
                <a:latin typeface="+mj-lt"/>
              </a:endParaRPr>
            </a:p>
          </p:txBody>
        </p:sp>
        <p:sp>
          <p:nvSpPr>
            <p:cNvPr id="432161" name="Rectangle 33">
              <a:extLst>
                <a:ext uri="{FF2B5EF4-FFF2-40B4-BE49-F238E27FC236}">
                  <a16:creationId xmlns:a16="http://schemas.microsoft.com/office/drawing/2014/main" id="{12D046AA-28DD-B5B6-E9B1-E3CB2CA018EF}"/>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432162" name="Rectangle 34">
              <a:extLst>
                <a:ext uri="{FF2B5EF4-FFF2-40B4-BE49-F238E27FC236}">
                  <a16:creationId xmlns:a16="http://schemas.microsoft.com/office/drawing/2014/main" id="{2293E2AD-017B-DA40-8EAA-22D4C286F0BD}"/>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Lấy</a:t>
              </a:r>
              <a:r>
                <a:rPr lang="en-US" altLang="ja-JP" sz="1600" b="0" dirty="0">
                  <a:latin typeface="+mj-lt"/>
                </a:rPr>
                <a:t> </a:t>
              </a:r>
              <a:r>
                <a:rPr lang="en-US" altLang="ja-JP" sz="1600" b="0" dirty="0" err="1">
                  <a:latin typeface="+mj-lt"/>
                </a:rPr>
                <a:t>tên</a:t>
              </a:r>
              <a:endParaRPr lang="en-US" altLang="ja-JP" sz="1600" b="0" dirty="0">
                <a:latin typeface="+mj-lt"/>
              </a:endParaRPr>
            </a:p>
            <a:p>
              <a:r>
                <a:rPr lang="en-US" altLang="ja-JP" sz="1600" b="0" dirty="0" err="1">
                  <a:latin typeface="+mj-lt"/>
                </a:rPr>
                <a:t>Lấy</a:t>
              </a:r>
              <a:r>
                <a:rPr lang="en-US" altLang="ja-JP" sz="1600" b="0" dirty="0">
                  <a:latin typeface="+mj-lt"/>
                </a:rPr>
                <a:t> </a:t>
              </a:r>
              <a:r>
                <a:rPr lang="en-US" altLang="ja-JP" sz="1600" b="0" dirty="0" err="1">
                  <a:latin typeface="+mj-lt"/>
                </a:rPr>
                <a:t>tuổi</a:t>
              </a:r>
              <a:endParaRPr lang="en-US" altLang="ja-JP" sz="1600" b="0" dirty="0">
                <a:latin typeface="+mj-lt"/>
              </a:endParaRPr>
            </a:p>
            <a:p>
              <a:r>
                <a:rPr lang="en-US" altLang="ja-JP" sz="1600" b="0" dirty="0">
                  <a:latin typeface="+mj-lt"/>
                </a:rPr>
                <a:t>Set </a:t>
              </a:r>
              <a:r>
                <a:rPr lang="en-US" altLang="ja-JP" sz="1600" b="0" dirty="0" err="1">
                  <a:latin typeface="+mj-lt"/>
                </a:rPr>
                <a:t>tuổi</a:t>
              </a:r>
              <a:endParaRPr lang="en-US" altLang="ja-JP" sz="1600" b="0" dirty="0">
                <a:latin typeface="+mj-lt"/>
              </a:endParaRPr>
            </a:p>
          </p:txBody>
        </p:sp>
      </p:grpSp>
      <p:sp>
        <p:nvSpPr>
          <p:cNvPr id="432163" name="Rectangle 35">
            <a:extLst>
              <a:ext uri="{FF2B5EF4-FFF2-40B4-BE49-F238E27FC236}">
                <a16:creationId xmlns:a16="http://schemas.microsoft.com/office/drawing/2014/main" id="{8447E62B-A07F-FF5D-C1F8-37772CD72B73}"/>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Thuộc tính</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32164" name="Rectangle 36">
            <a:extLst>
              <a:ext uri="{FF2B5EF4-FFF2-40B4-BE49-F238E27FC236}">
                <a16:creationId xmlns:a16="http://schemas.microsoft.com/office/drawing/2014/main" id="{541DDDAA-49FE-372B-B092-90165D9C125A}"/>
              </a:ext>
            </a:extLst>
          </p:cNvPr>
          <p:cNvSpPr>
            <a:spLocks noChangeArrowheads="1"/>
          </p:cNvSpPr>
          <p:nvPr/>
        </p:nvSpPr>
        <p:spPr bwMode="auto">
          <a:xfrm>
            <a:off x="344488" y="1204913"/>
            <a:ext cx="9120187" cy="893762"/>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nội dung biểu hiện tính chất và trạng thái của đối tượng </a:t>
            </a:r>
          </a:p>
          <a:p>
            <a:pPr>
              <a:buFont typeface="Wingdings" panose="05000000000000000000" pitchFamily="2" charset="2"/>
              <a:buNone/>
            </a:pPr>
            <a:r>
              <a:rPr lang="en-US" altLang="ja-JP" sz="2000">
                <a:latin typeface="Arial" panose="020B0604020202020204" pitchFamily="34" charset="0"/>
              </a:rPr>
              <a:t>Mỗi đối tượng sẽ có một giá trị hiện thực trong thuộc tính.</a:t>
            </a:r>
            <a:r>
              <a:rPr lang="en-US" altLang="ja-JP" sz="2000">
                <a:solidFill>
                  <a:srgbClr val="0033CC"/>
                </a:solidFill>
                <a:latin typeface="Arial" panose="020B0604020202020204" pitchFamily="34" charset="0"/>
              </a:rPr>
              <a:t> </a:t>
            </a:r>
          </a:p>
        </p:txBody>
      </p:sp>
      <p:sp>
        <p:nvSpPr>
          <p:cNvPr id="432166" name="AutoShape 38">
            <a:extLst>
              <a:ext uri="{FF2B5EF4-FFF2-40B4-BE49-F238E27FC236}">
                <a16:creationId xmlns:a16="http://schemas.microsoft.com/office/drawing/2014/main" id="{0B62FFB7-6EF9-9CCB-9740-6280267FCDA2}"/>
              </a:ext>
            </a:extLst>
          </p:cNvPr>
          <p:cNvSpPr>
            <a:spLocks noChangeArrowheads="1"/>
          </p:cNvSpPr>
          <p:nvPr/>
        </p:nvSpPr>
        <p:spPr bwMode="auto">
          <a:xfrm>
            <a:off x="8469313" y="2851150"/>
            <a:ext cx="944562" cy="714375"/>
          </a:xfrm>
          <a:prstGeom prst="wedgeRoundRectCallout">
            <a:avLst>
              <a:gd name="adj1" fmla="val -80588"/>
              <a:gd name="adj2" fmla="val 2155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b="0" dirty="0" err="1">
                <a:latin typeface="+mj-lt"/>
                <a:cs typeface="Times New Roman" panose="02020603050405020304" pitchFamily="18" charset="0"/>
              </a:rPr>
              <a:t>Giá</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trị</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thực</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hiện</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vốn</a:t>
            </a:r>
            <a:r>
              <a:rPr lang="en-US" altLang="ja-JP" sz="1400" b="0" dirty="0">
                <a:latin typeface="+mj-lt"/>
                <a:cs typeface="Times New Roman" panose="02020603050405020304" pitchFamily="18" charset="0"/>
              </a:rPr>
              <a:t> có</a:t>
            </a:r>
          </a:p>
        </p:txBody>
      </p:sp>
      <p:sp>
        <p:nvSpPr>
          <p:cNvPr id="432167" name="AutoShape 39">
            <a:extLst>
              <a:ext uri="{FF2B5EF4-FFF2-40B4-BE49-F238E27FC236}">
                <a16:creationId xmlns:a16="http://schemas.microsoft.com/office/drawing/2014/main" id="{DE52C173-8F2D-B056-986E-F4E1BE21DB4F}"/>
              </a:ext>
            </a:extLst>
          </p:cNvPr>
          <p:cNvSpPr>
            <a:spLocks noChangeArrowheads="1"/>
          </p:cNvSpPr>
          <p:nvPr/>
        </p:nvSpPr>
        <p:spPr bwMode="auto">
          <a:xfrm>
            <a:off x="8497887" y="5234782"/>
            <a:ext cx="944563" cy="754062"/>
          </a:xfrm>
          <a:prstGeom prst="wedgeRoundRectCallout">
            <a:avLst>
              <a:gd name="adj1" fmla="val -121803"/>
              <a:gd name="adj2" fmla="val -6339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b="0" dirty="0" err="1">
                <a:latin typeface="+mj-lt"/>
                <a:cs typeface="Times New Roman" panose="02020603050405020304" pitchFamily="18" charset="0"/>
              </a:rPr>
              <a:t>Giá</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trị</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thực</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hiện</a:t>
            </a:r>
            <a:r>
              <a:rPr lang="en-US" altLang="ja-JP" sz="1400" b="0" dirty="0">
                <a:latin typeface="+mj-lt"/>
                <a:cs typeface="Times New Roman" panose="02020603050405020304" pitchFamily="18" charset="0"/>
              </a:rPr>
              <a:t> </a:t>
            </a:r>
            <a:r>
              <a:rPr lang="en-US" altLang="ja-JP" sz="1400" b="0" dirty="0" err="1">
                <a:latin typeface="+mj-lt"/>
                <a:cs typeface="Times New Roman" panose="02020603050405020304" pitchFamily="18" charset="0"/>
              </a:rPr>
              <a:t>vốn</a:t>
            </a:r>
            <a:r>
              <a:rPr lang="en-US" altLang="ja-JP" sz="1400" b="0" dirty="0">
                <a:latin typeface="+mj-lt"/>
                <a:cs typeface="Times New Roman" panose="02020603050405020304" pitchFamily="18" charset="0"/>
              </a:rPr>
              <a:t> có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B4E5B24-AAB8-5666-D011-CB4A53EFAE84}"/>
              </a:ext>
            </a:extLst>
          </p:cNvPr>
          <p:cNvSpPr>
            <a:spLocks noGrp="1"/>
          </p:cNvSpPr>
          <p:nvPr>
            <p:ph type="sldNum" sz="quarter" idx="10"/>
          </p:nvPr>
        </p:nvSpPr>
        <p:spPr/>
        <p:txBody>
          <a:bodyPr/>
          <a:lstStyle/>
          <a:p>
            <a:fld id="{ECF7413C-3B78-4259-99D4-B4DB04C5581A}" type="slidenum">
              <a:rPr lang="en-US" altLang="ja-JP"/>
              <a:pPr/>
              <a:t>8</a:t>
            </a:fld>
            <a:endParaRPr lang="en-US" altLang="ja-JP"/>
          </a:p>
        </p:txBody>
      </p:sp>
      <p:sp>
        <p:nvSpPr>
          <p:cNvPr id="434178" name="Rectangle 2">
            <a:extLst>
              <a:ext uri="{FF2B5EF4-FFF2-40B4-BE49-F238E27FC236}">
                <a16:creationId xmlns:a16="http://schemas.microsoft.com/office/drawing/2014/main" id="{ACFB954C-C199-29DC-4A3F-5403FF100C78}"/>
              </a:ext>
            </a:extLst>
          </p:cNvPr>
          <p:cNvSpPr>
            <a:spLocks noChangeArrowheads="1"/>
          </p:cNvSpPr>
          <p:nvPr/>
        </p:nvSpPr>
        <p:spPr bwMode="auto">
          <a:xfrm>
            <a:off x="344488" y="2276475"/>
            <a:ext cx="9091612" cy="4257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179" name="Rectangle 3">
            <a:extLst>
              <a:ext uri="{FF2B5EF4-FFF2-40B4-BE49-F238E27FC236}">
                <a16:creationId xmlns:a16="http://schemas.microsoft.com/office/drawing/2014/main" id="{2A192403-6FB5-E4FF-9A60-BE9F146E45C7}"/>
              </a:ext>
            </a:extLst>
          </p:cNvPr>
          <p:cNvSpPr>
            <a:spLocks noGrp="1" noChangeArrowheads="1"/>
          </p:cNvSpPr>
          <p:nvPr>
            <p:ph type="title"/>
          </p:nvPr>
        </p:nvSpPr>
        <p:spPr>
          <a:xfrm>
            <a:off x="344488" y="3190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Class </a:t>
            </a:r>
            <a:r>
              <a:rPr lang="en-US" altLang="ja-JP" dirty="0" err="1">
                <a:latin typeface="Arial" panose="020B0604020202020204" pitchFamily="34" charset="0"/>
                <a:ea typeface="MS UI Gothic" panose="020B0600070205080204" pitchFamily="50" charset="-128"/>
              </a:rPr>
              <a:t>và</a:t>
            </a:r>
            <a:r>
              <a:rPr lang="en-US" altLang="ja-JP" dirty="0">
                <a:latin typeface="Arial" panose="020B0604020202020204" pitchFamily="34" charset="0"/>
                <a:ea typeface="MS UI Gothic" panose="020B0600070205080204" pitchFamily="50" charset="-128"/>
              </a:rPr>
              <a:t> object (3)</a:t>
            </a:r>
          </a:p>
        </p:txBody>
      </p:sp>
      <p:sp>
        <p:nvSpPr>
          <p:cNvPr id="434180" name="Rectangle 4">
            <a:extLst>
              <a:ext uri="{FF2B5EF4-FFF2-40B4-BE49-F238E27FC236}">
                <a16:creationId xmlns:a16="http://schemas.microsoft.com/office/drawing/2014/main" id="{48F73D16-9342-8E3E-F34A-83DABAE19DB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4188" name="Freeform 12">
            <a:extLst>
              <a:ext uri="{FF2B5EF4-FFF2-40B4-BE49-F238E27FC236}">
                <a16:creationId xmlns:a16="http://schemas.microsoft.com/office/drawing/2014/main" id="{0D8EE7DF-AA10-B9D8-3D6D-3962B9D30C69}"/>
              </a:ext>
            </a:extLst>
          </p:cNvPr>
          <p:cNvSpPr>
            <a:spLocks/>
          </p:cNvSpPr>
          <p:nvPr/>
        </p:nvSpPr>
        <p:spPr bwMode="auto">
          <a:xfrm>
            <a:off x="5846763" y="4710113"/>
            <a:ext cx="517525" cy="1314450"/>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189" name="Freeform 13">
            <a:extLst>
              <a:ext uri="{FF2B5EF4-FFF2-40B4-BE49-F238E27FC236}">
                <a16:creationId xmlns:a16="http://schemas.microsoft.com/office/drawing/2014/main" id="{4AEAF489-899E-E274-ED9F-A315A71D39EF}"/>
              </a:ext>
            </a:extLst>
          </p:cNvPr>
          <p:cNvSpPr>
            <a:spLocks/>
          </p:cNvSpPr>
          <p:nvPr/>
        </p:nvSpPr>
        <p:spPr bwMode="auto">
          <a:xfrm>
            <a:off x="5943600" y="2767013"/>
            <a:ext cx="460375" cy="13350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434241" name="Group 65">
            <a:extLst>
              <a:ext uri="{FF2B5EF4-FFF2-40B4-BE49-F238E27FC236}">
                <a16:creationId xmlns:a16="http://schemas.microsoft.com/office/drawing/2014/main" id="{9050920F-2F60-F4B4-36F9-ABDF03B72691}"/>
              </a:ext>
            </a:extLst>
          </p:cNvPr>
          <p:cNvGrpSpPr>
            <a:grpSpLocks/>
          </p:cNvGrpSpPr>
          <p:nvPr/>
        </p:nvGrpSpPr>
        <p:grpSpPr bwMode="auto">
          <a:xfrm>
            <a:off x="6635750" y="2536825"/>
            <a:ext cx="2273300" cy="1784350"/>
            <a:chOff x="4180" y="1598"/>
            <a:chExt cx="1144" cy="1124"/>
          </a:xfrm>
        </p:grpSpPr>
        <p:sp>
          <p:nvSpPr>
            <p:cNvPr id="434200" name="Rectangle 24">
              <a:extLst>
                <a:ext uri="{FF2B5EF4-FFF2-40B4-BE49-F238E27FC236}">
                  <a16:creationId xmlns:a16="http://schemas.microsoft.com/office/drawing/2014/main" id="{D00072BB-DEA1-A1A7-A4AC-14C3D8458543}"/>
                </a:ext>
              </a:extLst>
            </p:cNvPr>
            <p:cNvSpPr>
              <a:spLocks noChangeArrowheads="1"/>
            </p:cNvSpPr>
            <p:nvPr/>
          </p:nvSpPr>
          <p:spPr bwMode="auto">
            <a:xfrm>
              <a:off x="4180" y="1598"/>
              <a:ext cx="1144" cy="2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a:t>Yamada</a:t>
              </a:r>
              <a:r>
                <a:rPr lang="ja-JP" altLang="en-US" sz="1600" u="sng"/>
                <a:t>：</a:t>
              </a:r>
              <a:r>
                <a:rPr lang="en-US" altLang="ja-JP" sz="1600" u="sng"/>
                <a:t>người</a:t>
              </a:r>
            </a:p>
          </p:txBody>
        </p:sp>
        <p:sp>
          <p:nvSpPr>
            <p:cNvPr id="434201" name="Rectangle 25">
              <a:extLst>
                <a:ext uri="{FF2B5EF4-FFF2-40B4-BE49-F238E27FC236}">
                  <a16:creationId xmlns:a16="http://schemas.microsoft.com/office/drawing/2014/main" id="{C01AB67D-E4B3-D0DB-2F47-8B8E5087AB47}"/>
                </a:ext>
              </a:extLst>
            </p:cNvPr>
            <p:cNvSpPr>
              <a:spLocks noChangeArrowheads="1"/>
            </p:cNvSpPr>
            <p:nvPr/>
          </p:nvSpPr>
          <p:spPr bwMode="auto">
            <a:xfrm>
              <a:off x="4180" y="1808"/>
              <a:ext cx="1144" cy="391"/>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Tên=Yamada Taro</a:t>
              </a:r>
            </a:p>
            <a:p>
              <a:r>
                <a:rPr lang="en-US" altLang="ja-JP" sz="1600" b="0"/>
                <a:t>Tuổi=30</a:t>
              </a:r>
            </a:p>
          </p:txBody>
        </p:sp>
        <p:sp>
          <p:nvSpPr>
            <p:cNvPr id="434202" name="Rectangle 26">
              <a:extLst>
                <a:ext uri="{FF2B5EF4-FFF2-40B4-BE49-F238E27FC236}">
                  <a16:creationId xmlns:a16="http://schemas.microsoft.com/office/drawing/2014/main" id="{A8D42AF3-1055-CACC-E848-DB946DF1B3A2}"/>
                </a:ext>
              </a:extLst>
            </p:cNvPr>
            <p:cNvSpPr>
              <a:spLocks noChangeArrowheads="1"/>
            </p:cNvSpPr>
            <p:nvPr/>
          </p:nvSpPr>
          <p:spPr bwMode="auto">
            <a:xfrm>
              <a:off x="4180" y="2202"/>
              <a:ext cx="1144" cy="52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Lấy tên</a:t>
              </a:r>
            </a:p>
            <a:p>
              <a:r>
                <a:rPr lang="en-US" altLang="ja-JP" sz="1600" b="0"/>
                <a:t>Lấy tuổi</a:t>
              </a:r>
            </a:p>
            <a:p>
              <a:r>
                <a:rPr lang="en-US" altLang="ja-JP" sz="1600" b="0"/>
                <a:t>Set tuổi</a:t>
              </a:r>
            </a:p>
          </p:txBody>
        </p:sp>
      </p:grpSp>
      <p:grpSp>
        <p:nvGrpSpPr>
          <p:cNvPr id="434203" name="Group 27">
            <a:extLst>
              <a:ext uri="{FF2B5EF4-FFF2-40B4-BE49-F238E27FC236}">
                <a16:creationId xmlns:a16="http://schemas.microsoft.com/office/drawing/2014/main" id="{E0D67209-ED6B-DF9D-EEEA-00191D0DA721}"/>
              </a:ext>
            </a:extLst>
          </p:cNvPr>
          <p:cNvGrpSpPr>
            <a:grpSpLocks/>
          </p:cNvGrpSpPr>
          <p:nvPr/>
        </p:nvGrpSpPr>
        <p:grpSpPr bwMode="auto">
          <a:xfrm>
            <a:off x="6630988" y="4437063"/>
            <a:ext cx="2286000" cy="1824037"/>
            <a:chOff x="640" y="4949"/>
            <a:chExt cx="859" cy="879"/>
          </a:xfrm>
        </p:grpSpPr>
        <p:sp>
          <p:nvSpPr>
            <p:cNvPr id="434204" name="Rectangle 28">
              <a:extLst>
                <a:ext uri="{FF2B5EF4-FFF2-40B4-BE49-F238E27FC236}">
                  <a16:creationId xmlns:a16="http://schemas.microsoft.com/office/drawing/2014/main" id="{100563F2-738C-F772-4557-C94083C359CF}"/>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600" u="sng"/>
                <a:t>Kawamura</a:t>
              </a:r>
              <a:r>
                <a:rPr lang="ja-JP" altLang="en-US" sz="1600" u="sng"/>
                <a:t>：</a:t>
              </a:r>
              <a:r>
                <a:rPr lang="en-US" altLang="ja-JP" sz="1600" u="sng"/>
                <a:t>người</a:t>
              </a:r>
            </a:p>
          </p:txBody>
        </p:sp>
        <p:sp>
          <p:nvSpPr>
            <p:cNvPr id="434205" name="Rectangle 29">
              <a:extLst>
                <a:ext uri="{FF2B5EF4-FFF2-40B4-BE49-F238E27FC236}">
                  <a16:creationId xmlns:a16="http://schemas.microsoft.com/office/drawing/2014/main" id="{151D9B39-31EE-48E6-5BF1-563D843DA8DE}"/>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dirty="0" err="1">
                  <a:latin typeface="+mj-lt"/>
                </a:rPr>
                <a:t>Tên</a:t>
              </a:r>
              <a:r>
                <a:rPr lang="en-US" altLang="ja-JP" sz="1600" b="0" dirty="0">
                  <a:latin typeface="+mj-lt"/>
                </a:rPr>
                <a:t>=Kawamura Hanako</a:t>
              </a:r>
            </a:p>
            <a:p>
              <a:r>
                <a:rPr lang="en-US" altLang="ja-JP" sz="1600" b="0" dirty="0" err="1">
                  <a:latin typeface="+mj-lt"/>
                </a:rPr>
                <a:t>Tuổi</a:t>
              </a:r>
              <a:r>
                <a:rPr lang="en-US" altLang="ja-JP" sz="1600" b="0" dirty="0">
                  <a:latin typeface="+mj-lt"/>
                </a:rPr>
                <a:t>=20</a:t>
              </a:r>
            </a:p>
          </p:txBody>
        </p:sp>
        <p:sp>
          <p:nvSpPr>
            <p:cNvPr id="434206" name="Rectangle 30">
              <a:extLst>
                <a:ext uri="{FF2B5EF4-FFF2-40B4-BE49-F238E27FC236}">
                  <a16:creationId xmlns:a16="http://schemas.microsoft.com/office/drawing/2014/main" id="{BC7E70D4-01C9-1894-7ABC-21EDE917296A}"/>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600" b="0"/>
                <a:t>Lấy tên</a:t>
              </a:r>
            </a:p>
            <a:p>
              <a:r>
                <a:rPr lang="en-US" altLang="ja-JP" sz="1600" b="0"/>
                <a:t>Lấy tuổi</a:t>
              </a:r>
            </a:p>
            <a:p>
              <a:r>
                <a:rPr lang="en-US" altLang="ja-JP" sz="1600" b="0"/>
                <a:t>Set tên</a:t>
              </a:r>
            </a:p>
          </p:txBody>
        </p:sp>
      </p:grpSp>
      <p:sp>
        <p:nvSpPr>
          <p:cNvPr id="434209" name="AutoShape 33">
            <a:extLst>
              <a:ext uri="{FF2B5EF4-FFF2-40B4-BE49-F238E27FC236}">
                <a16:creationId xmlns:a16="http://schemas.microsoft.com/office/drawing/2014/main" id="{3EC0848D-1FF0-0720-0B3B-2D943ECAF886}"/>
              </a:ext>
            </a:extLst>
          </p:cNvPr>
          <p:cNvSpPr>
            <a:spLocks noChangeArrowheads="1"/>
          </p:cNvSpPr>
          <p:nvPr/>
        </p:nvSpPr>
        <p:spPr bwMode="auto">
          <a:xfrm>
            <a:off x="8469313" y="3660775"/>
            <a:ext cx="966786" cy="427038"/>
          </a:xfrm>
          <a:prstGeom prst="wedgeRoundRectCallout">
            <a:avLst>
              <a:gd name="adj1" fmla="val -85338"/>
              <a:gd name="adj2" fmla="val 836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b="0" dirty="0">
                <a:cs typeface="Times New Roman" panose="02020603050405020304" pitchFamily="18" charset="0"/>
              </a:rPr>
              <a:t>Thao </a:t>
            </a:r>
            <a:r>
              <a:rPr lang="en-US" altLang="ja-JP" sz="1400" b="0" dirty="0" err="1">
                <a:cs typeface="Times New Roman" panose="02020603050405020304" pitchFamily="18" charset="0"/>
              </a:rPr>
              <a:t>tác</a:t>
            </a:r>
            <a:endParaRPr lang="en-US" altLang="ja-JP" sz="1400" b="0" dirty="0">
              <a:cs typeface="Times New Roman" panose="02020603050405020304" pitchFamily="18" charset="0"/>
            </a:endParaRPr>
          </a:p>
        </p:txBody>
      </p:sp>
      <p:sp>
        <p:nvSpPr>
          <p:cNvPr id="434211" name="Rectangle 35">
            <a:extLst>
              <a:ext uri="{FF2B5EF4-FFF2-40B4-BE49-F238E27FC236}">
                <a16:creationId xmlns:a16="http://schemas.microsoft.com/office/drawing/2014/main" id="{C799AD9E-4ACD-CCCE-2619-66205F7FB06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34212" name="Rectangle 36">
            <a:extLst>
              <a:ext uri="{FF2B5EF4-FFF2-40B4-BE49-F238E27FC236}">
                <a16:creationId xmlns:a16="http://schemas.microsoft.com/office/drawing/2014/main" id="{F3DC7367-B6B5-5B5E-4E80-F910BA2FF434}"/>
              </a:ext>
            </a:extLst>
          </p:cNvPr>
          <p:cNvSpPr>
            <a:spLocks noChangeArrowheads="1"/>
          </p:cNvSpPr>
          <p:nvPr/>
        </p:nvSpPr>
        <p:spPr bwMode="auto">
          <a:xfrm>
            <a:off x="344488" y="7429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Thao tác</a:t>
            </a:r>
          </a:p>
          <a:p>
            <a:pPr lvl="1"/>
            <a:endParaRPr lang="en-US" altLang="ja-JP" sz="2400" b="0">
              <a:latin typeface="Arial" panose="020B0604020202020204" pitchFamily="34" charset="0"/>
            </a:endParaRPr>
          </a:p>
        </p:txBody>
      </p:sp>
      <p:sp>
        <p:nvSpPr>
          <p:cNvPr id="434213" name="Rectangle 37">
            <a:extLst>
              <a:ext uri="{FF2B5EF4-FFF2-40B4-BE49-F238E27FC236}">
                <a16:creationId xmlns:a16="http://schemas.microsoft.com/office/drawing/2014/main" id="{3465F814-F4BC-B8DC-48BA-50972C4E3173}"/>
              </a:ext>
            </a:extLst>
          </p:cNvPr>
          <p:cNvSpPr>
            <a:spLocks noChangeArrowheads="1"/>
          </p:cNvSpPr>
          <p:nvPr/>
        </p:nvSpPr>
        <p:spPr bwMode="auto">
          <a:xfrm>
            <a:off x="344488" y="1204913"/>
            <a:ext cx="9120187" cy="9794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err="1">
                <a:latin typeface="Arial" panose="020B0604020202020204" pitchFamily="34" charset="0"/>
              </a:rPr>
              <a:t>Là</a:t>
            </a:r>
            <a:r>
              <a:rPr lang="en-US" altLang="ja-JP" sz="2000" dirty="0">
                <a:latin typeface="Arial" panose="020B0604020202020204" pitchFamily="34" charset="0"/>
              </a:rPr>
              <a:t> </a:t>
            </a:r>
            <a:r>
              <a:rPr lang="en-US" altLang="ja-JP" sz="2000" dirty="0" err="1">
                <a:latin typeface="Arial" panose="020B0604020202020204" pitchFamily="34" charset="0"/>
              </a:rPr>
              <a:t>chức</a:t>
            </a:r>
            <a:r>
              <a:rPr lang="en-US" altLang="ja-JP" sz="2000" dirty="0">
                <a:latin typeface="Arial" panose="020B0604020202020204" pitchFamily="34" charset="0"/>
              </a:rPr>
              <a:t> </a:t>
            </a:r>
            <a:r>
              <a:rPr lang="en-US" altLang="ja-JP" sz="2000" dirty="0" err="1">
                <a:latin typeface="Arial" panose="020B0604020202020204" pitchFamily="34" charset="0"/>
              </a:rPr>
              <a:t>năng</a:t>
            </a:r>
            <a:r>
              <a:rPr lang="en-US" altLang="ja-JP" sz="2000" dirty="0">
                <a:latin typeface="Arial" panose="020B0604020202020204" pitchFamily="34" charset="0"/>
              </a:rPr>
              <a:t> </a:t>
            </a:r>
            <a:r>
              <a:rPr lang="en-US" altLang="ja-JP" sz="2000" dirty="0" err="1">
                <a:latin typeface="Arial" panose="020B0604020202020204" pitchFamily="34" charset="0"/>
              </a:rPr>
              <a:t>mà</a:t>
            </a:r>
            <a:r>
              <a:rPr lang="en-US" altLang="ja-JP" sz="2000" dirty="0">
                <a:latin typeface="Arial" panose="020B0604020202020204" pitchFamily="34" charset="0"/>
              </a:rPr>
              <a:t> object </a:t>
            </a:r>
            <a:r>
              <a:rPr lang="en-US" altLang="ja-JP" sz="2000" dirty="0" err="1">
                <a:latin typeface="Arial" panose="020B0604020202020204" pitchFamily="34" charset="0"/>
              </a:rPr>
              <a:t>đang</a:t>
            </a:r>
            <a:r>
              <a:rPr lang="en-US" altLang="ja-JP" sz="2000" dirty="0">
                <a:latin typeface="Arial" panose="020B0604020202020204" pitchFamily="34" charset="0"/>
              </a:rPr>
              <a:t> </a:t>
            </a:r>
            <a:r>
              <a:rPr lang="en-US" altLang="ja-JP" sz="2000" dirty="0" err="1">
                <a:latin typeface="Arial" panose="020B0604020202020204" pitchFamily="34" charset="0"/>
              </a:rPr>
              <a:t>có</a:t>
            </a:r>
            <a:r>
              <a:rPr lang="en-US" altLang="ja-JP" sz="2000" dirty="0">
                <a:latin typeface="Arial" panose="020B0604020202020204" pitchFamily="34" charset="0"/>
              </a:rPr>
              <a:t>. </a:t>
            </a:r>
          </a:p>
          <a:p>
            <a:pPr>
              <a:buFont typeface="Wingdings" panose="05000000000000000000" pitchFamily="2" charset="2"/>
              <a:buNone/>
            </a:pPr>
            <a:r>
              <a:rPr lang="en-US" altLang="ja-JP" sz="2000" dirty="0">
                <a:latin typeface="Arial" panose="020B0604020202020204" pitchFamily="34" charset="0"/>
              </a:rPr>
              <a:t>Khi </a:t>
            </a:r>
            <a:r>
              <a:rPr lang="en-US" altLang="ja-JP" sz="2000" dirty="0" err="1">
                <a:latin typeface="Arial" panose="020B0604020202020204" pitchFamily="34" charset="0"/>
              </a:rPr>
              <a:t>có</a:t>
            </a:r>
            <a:r>
              <a:rPr lang="en-US" altLang="ja-JP" sz="2000" dirty="0">
                <a:latin typeface="Arial" panose="020B0604020202020204" pitchFamily="34" charset="0"/>
              </a:rPr>
              <a:t> </a:t>
            </a:r>
            <a:r>
              <a:rPr lang="en-US" altLang="ja-JP" sz="2000" dirty="0" err="1">
                <a:latin typeface="Arial" panose="020B0604020202020204" pitchFamily="34" charset="0"/>
              </a:rPr>
              <a:t>yêu</a:t>
            </a:r>
            <a:r>
              <a:rPr lang="en-US" altLang="ja-JP" sz="2000" dirty="0">
                <a:latin typeface="Arial" panose="020B0604020202020204" pitchFamily="34" charset="0"/>
              </a:rPr>
              <a:t> </a:t>
            </a:r>
            <a:r>
              <a:rPr lang="en-US" altLang="ja-JP" sz="2000" dirty="0" err="1">
                <a:latin typeface="Arial" panose="020B0604020202020204" pitchFamily="34" charset="0"/>
              </a:rPr>
              <a:t>cầu</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đối</a:t>
            </a:r>
            <a:r>
              <a:rPr lang="en-US" altLang="ja-JP" sz="2000" dirty="0">
                <a:latin typeface="Arial" panose="020B0604020202020204" pitchFamily="34" charset="0"/>
              </a:rPr>
              <a:t> </a:t>
            </a:r>
            <a:r>
              <a:rPr lang="en-US" altLang="ja-JP" sz="2000" dirty="0" err="1">
                <a:latin typeface="Arial" panose="020B0604020202020204" pitchFamily="34" charset="0"/>
              </a:rPr>
              <a:t>với</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tác</a:t>
            </a:r>
            <a:r>
              <a:rPr lang="en-US" altLang="ja-JP" sz="2000" dirty="0">
                <a:latin typeface="Arial" panose="020B0604020202020204" pitchFamily="34" charset="0"/>
              </a:rPr>
              <a:t> (</a:t>
            </a:r>
            <a:r>
              <a:rPr lang="en-US" altLang="ja-JP" sz="2000" dirty="0" err="1">
                <a:latin typeface="Arial" panose="020B0604020202020204" pitchFamily="34" charset="0"/>
              </a:rPr>
              <a:t>gửi</a:t>
            </a:r>
            <a:r>
              <a:rPr lang="en-US" altLang="ja-JP" sz="2000" dirty="0">
                <a:latin typeface="Arial" panose="020B0604020202020204" pitchFamily="34" charset="0"/>
              </a:rPr>
              <a:t> message), </a:t>
            </a:r>
            <a:r>
              <a:rPr lang="en-US" altLang="ja-JP" sz="2000" dirty="0" err="1">
                <a:latin typeface="Arial" panose="020B0604020202020204" pitchFamily="34" charset="0"/>
              </a:rPr>
              <a:t>thì</a:t>
            </a:r>
            <a:r>
              <a:rPr lang="en-US" altLang="ja-JP" sz="2000" dirty="0">
                <a:latin typeface="Arial" panose="020B0604020202020204" pitchFamily="34" charset="0"/>
              </a:rPr>
              <a:t> </a:t>
            </a:r>
            <a:r>
              <a:rPr lang="en-US" altLang="ja-JP" sz="2000" dirty="0" err="1">
                <a:latin typeface="Arial" panose="020B0604020202020204" pitchFamily="34" charset="0"/>
              </a:rPr>
              <a:t>sẽ</a:t>
            </a:r>
            <a:r>
              <a:rPr lang="en-US" altLang="ja-JP" sz="2000" dirty="0">
                <a:latin typeface="Arial" panose="020B0604020202020204" pitchFamily="34" charset="0"/>
              </a:rPr>
              <a:t> </a:t>
            </a:r>
            <a:r>
              <a:rPr lang="en-US" altLang="ja-JP" sz="2000" dirty="0" err="1">
                <a:latin typeface="Arial" panose="020B0604020202020204" pitchFamily="34" charset="0"/>
              </a:rPr>
              <a:t>thực</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thao</a:t>
            </a:r>
            <a:r>
              <a:rPr lang="en-US" altLang="ja-JP" sz="2000" dirty="0">
                <a:latin typeface="Arial" panose="020B0604020202020204" pitchFamily="34" charset="0"/>
              </a:rPr>
              <a:t> </a:t>
            </a:r>
            <a:r>
              <a:rPr lang="en-US" altLang="ja-JP" sz="2000" dirty="0" err="1">
                <a:latin typeface="Arial" panose="020B0604020202020204" pitchFamily="34" charset="0"/>
              </a:rPr>
              <a:t>tác</a:t>
            </a:r>
            <a:r>
              <a:rPr lang="en-US" altLang="ja-JP" sz="2000" dirty="0">
                <a:latin typeface="Arial" panose="020B0604020202020204" pitchFamily="34" charset="0"/>
              </a:rPr>
              <a:t> </a:t>
            </a:r>
            <a:r>
              <a:rPr lang="en-US" altLang="ja-JP" sz="2000" dirty="0" err="1">
                <a:latin typeface="Arial" panose="020B0604020202020204" pitchFamily="34" charset="0"/>
              </a:rPr>
              <a:t>như</a:t>
            </a:r>
            <a:r>
              <a:rPr lang="en-US" altLang="ja-JP" sz="2000" dirty="0">
                <a:latin typeface="Arial" panose="020B0604020202020204" pitchFamily="34" charset="0"/>
              </a:rPr>
              <a:t> </a:t>
            </a:r>
            <a:r>
              <a:rPr lang="en-US" altLang="ja-JP" sz="2000" dirty="0" err="1">
                <a:latin typeface="Arial" panose="020B0604020202020204" pitchFamily="34" charset="0"/>
              </a:rPr>
              <a:t>thê</a:t>
            </a:r>
            <a:r>
              <a:rPr lang="en-US" altLang="ja-JP" sz="2000" dirty="0">
                <a:latin typeface="Arial" panose="020B0604020202020204" pitchFamily="34" charset="0"/>
              </a:rPr>
              <a:t>́.</a:t>
            </a:r>
          </a:p>
        </p:txBody>
      </p:sp>
      <p:sp>
        <p:nvSpPr>
          <p:cNvPr id="434214" name="Line 38">
            <a:extLst>
              <a:ext uri="{FF2B5EF4-FFF2-40B4-BE49-F238E27FC236}">
                <a16:creationId xmlns:a16="http://schemas.microsoft.com/office/drawing/2014/main" id="{35AC1F28-4A0B-1BAB-CD32-59BCDF54D909}"/>
              </a:ext>
            </a:extLst>
          </p:cNvPr>
          <p:cNvSpPr>
            <a:spLocks noChangeShapeType="1"/>
          </p:cNvSpPr>
          <p:nvPr/>
        </p:nvSpPr>
        <p:spPr bwMode="auto">
          <a:xfrm flipV="1">
            <a:off x="1754188" y="3290888"/>
            <a:ext cx="4098925" cy="4762"/>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15" name="Line 39">
            <a:extLst>
              <a:ext uri="{FF2B5EF4-FFF2-40B4-BE49-F238E27FC236}">
                <a16:creationId xmlns:a16="http://schemas.microsoft.com/office/drawing/2014/main" id="{2180C973-D058-B54F-89BB-CB1BAAECED15}"/>
              </a:ext>
            </a:extLst>
          </p:cNvPr>
          <p:cNvSpPr>
            <a:spLocks noChangeShapeType="1"/>
          </p:cNvSpPr>
          <p:nvPr/>
        </p:nvSpPr>
        <p:spPr bwMode="auto">
          <a:xfrm>
            <a:off x="1800225" y="5291138"/>
            <a:ext cx="3937000" cy="1587"/>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18" name="Rectangle 42">
            <a:extLst>
              <a:ext uri="{FF2B5EF4-FFF2-40B4-BE49-F238E27FC236}">
                <a16:creationId xmlns:a16="http://schemas.microsoft.com/office/drawing/2014/main" id="{DFAB2089-1B08-8AA7-7821-4A165A897525}"/>
              </a:ext>
            </a:extLst>
          </p:cNvPr>
          <p:cNvSpPr>
            <a:spLocks noChangeArrowheads="1"/>
          </p:cNvSpPr>
          <p:nvPr/>
        </p:nvSpPr>
        <p:spPr bwMode="auto">
          <a:xfrm>
            <a:off x="1282700" y="4545013"/>
            <a:ext cx="4484688" cy="708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dirty="0">
                <a:latin typeface="+mj-lt"/>
              </a:rPr>
              <a:t>「</a:t>
            </a:r>
            <a:r>
              <a:rPr lang="en-US" altLang="ja-JP" sz="2000" dirty="0" err="1">
                <a:latin typeface="+mj-lt"/>
              </a:rPr>
              <a:t>Hãy</a:t>
            </a:r>
            <a:r>
              <a:rPr lang="en-US" altLang="ja-JP" sz="2000" dirty="0">
                <a:latin typeface="+mj-lt"/>
              </a:rPr>
              <a:t> </a:t>
            </a:r>
            <a:r>
              <a:rPr lang="en-US" altLang="ja-JP" sz="2000" dirty="0" err="1">
                <a:latin typeface="+mj-lt"/>
              </a:rPr>
              <a:t>cho</a:t>
            </a:r>
            <a:r>
              <a:rPr lang="en-US" altLang="ja-JP" sz="2000" dirty="0">
                <a:latin typeface="+mj-lt"/>
              </a:rPr>
              <a:t> </a:t>
            </a:r>
            <a:r>
              <a:rPr lang="en-US" altLang="ja-JP" sz="2000" dirty="0" err="1">
                <a:latin typeface="+mj-lt"/>
              </a:rPr>
              <a:t>biết</a:t>
            </a:r>
            <a:r>
              <a:rPr lang="en-US" altLang="ja-JP" sz="2000" dirty="0">
                <a:latin typeface="+mj-lt"/>
              </a:rPr>
              <a:t> </a:t>
            </a:r>
            <a:r>
              <a:rPr lang="en-US" altLang="ja-JP" sz="2000" dirty="0" err="1">
                <a:latin typeface="+mj-lt"/>
              </a:rPr>
              <a:t>tên</a:t>
            </a:r>
            <a:r>
              <a:rPr lang="ja-JP" altLang="en-US" sz="2000" dirty="0">
                <a:latin typeface="+mj-lt"/>
              </a:rPr>
              <a:t>」</a:t>
            </a:r>
          </a:p>
          <a:p>
            <a:pPr algn="ctr" eaLnBrk="0" hangingPunct="0"/>
            <a:r>
              <a:rPr lang="ja-JP" altLang="en-US" sz="2000" dirty="0">
                <a:latin typeface="+mj-lt"/>
              </a:rPr>
              <a:t>（</a:t>
            </a:r>
            <a:r>
              <a:rPr lang="en-US" altLang="ja-JP" sz="2000" dirty="0" err="1">
                <a:latin typeface="+mj-lt"/>
              </a:rPr>
              <a:t>Gọi</a:t>
            </a:r>
            <a:r>
              <a:rPr lang="en-US" altLang="ja-JP" sz="2000" dirty="0">
                <a:latin typeface="+mj-lt"/>
              </a:rPr>
              <a:t> </a:t>
            </a:r>
            <a:r>
              <a:rPr lang="en-US" altLang="ja-JP" sz="2000" dirty="0" err="1">
                <a:latin typeface="+mj-lt"/>
              </a:rPr>
              <a:t>ra</a:t>
            </a:r>
            <a:r>
              <a:rPr lang="en-US" altLang="ja-JP" sz="2000" dirty="0">
                <a:latin typeface="+mj-lt"/>
              </a:rPr>
              <a:t> </a:t>
            </a:r>
            <a:r>
              <a:rPr lang="en-US" altLang="ja-JP" sz="2000" dirty="0" err="1">
                <a:latin typeface="+mj-lt"/>
              </a:rPr>
              <a:t>thao</a:t>
            </a:r>
            <a:r>
              <a:rPr lang="en-US" altLang="ja-JP" sz="2000" dirty="0">
                <a:latin typeface="+mj-lt"/>
              </a:rPr>
              <a:t> </a:t>
            </a:r>
            <a:r>
              <a:rPr lang="en-US" altLang="ja-JP" sz="2000" dirty="0" err="1">
                <a:latin typeface="+mj-lt"/>
              </a:rPr>
              <a:t>tác</a:t>
            </a:r>
            <a:r>
              <a:rPr lang="ja-JP" altLang="en-US" sz="2000" dirty="0">
                <a:latin typeface="+mj-lt"/>
              </a:rPr>
              <a:t>「</a:t>
            </a:r>
            <a:r>
              <a:rPr lang="en-US" altLang="ja-JP" sz="2000" dirty="0" err="1">
                <a:latin typeface="+mj-lt"/>
              </a:rPr>
              <a:t>Lấy</a:t>
            </a:r>
            <a:r>
              <a:rPr lang="en-US" altLang="ja-JP" sz="2000" dirty="0">
                <a:latin typeface="+mj-lt"/>
              </a:rPr>
              <a:t> </a:t>
            </a:r>
            <a:r>
              <a:rPr lang="en-US" altLang="ja-JP" sz="2000" dirty="0" err="1">
                <a:latin typeface="+mj-lt"/>
              </a:rPr>
              <a:t>tên</a:t>
            </a:r>
            <a:r>
              <a:rPr lang="ja-JP" altLang="en-US" sz="2000" dirty="0">
                <a:latin typeface="+mj-lt"/>
              </a:rPr>
              <a:t>」）</a:t>
            </a:r>
          </a:p>
        </p:txBody>
      </p:sp>
      <p:sp>
        <p:nvSpPr>
          <p:cNvPr id="434219" name="Rectangle 43">
            <a:extLst>
              <a:ext uri="{FF2B5EF4-FFF2-40B4-BE49-F238E27FC236}">
                <a16:creationId xmlns:a16="http://schemas.microsoft.com/office/drawing/2014/main" id="{97A3A940-D959-7EEA-4266-D255B58F62CA}"/>
              </a:ext>
            </a:extLst>
          </p:cNvPr>
          <p:cNvSpPr>
            <a:spLocks noChangeArrowheads="1"/>
          </p:cNvSpPr>
          <p:nvPr/>
        </p:nvSpPr>
        <p:spPr bwMode="auto">
          <a:xfrm>
            <a:off x="1692275" y="2498725"/>
            <a:ext cx="4022725" cy="7085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dirty="0">
                <a:latin typeface="+mj-lt"/>
              </a:rPr>
              <a:t>「</a:t>
            </a:r>
            <a:r>
              <a:rPr lang="en-US" altLang="ja-JP" sz="2000" dirty="0" err="1">
                <a:latin typeface="+mj-lt"/>
              </a:rPr>
              <a:t>Hãy</a:t>
            </a:r>
            <a:r>
              <a:rPr lang="en-US" altLang="ja-JP" sz="2000" dirty="0">
                <a:latin typeface="+mj-lt"/>
              </a:rPr>
              <a:t> </a:t>
            </a:r>
            <a:r>
              <a:rPr lang="en-US" altLang="ja-JP" sz="2000" dirty="0" err="1">
                <a:latin typeface="+mj-lt"/>
              </a:rPr>
              <a:t>cho</a:t>
            </a:r>
            <a:r>
              <a:rPr lang="en-US" altLang="ja-JP" sz="2000" dirty="0">
                <a:latin typeface="+mj-lt"/>
              </a:rPr>
              <a:t> </a:t>
            </a:r>
            <a:r>
              <a:rPr lang="en-US" altLang="ja-JP" sz="2000" dirty="0" err="1">
                <a:latin typeface="+mj-lt"/>
              </a:rPr>
              <a:t>biết</a:t>
            </a:r>
            <a:r>
              <a:rPr lang="en-US" altLang="ja-JP" sz="2000" dirty="0">
                <a:latin typeface="+mj-lt"/>
              </a:rPr>
              <a:t> </a:t>
            </a:r>
            <a:r>
              <a:rPr lang="en-US" altLang="ja-JP" sz="2000" dirty="0" err="1">
                <a:latin typeface="+mj-lt"/>
              </a:rPr>
              <a:t>tuổi</a:t>
            </a:r>
            <a:r>
              <a:rPr lang="ja-JP" altLang="en-US" sz="2000" dirty="0">
                <a:latin typeface="+mj-lt"/>
              </a:rPr>
              <a:t>」</a:t>
            </a:r>
          </a:p>
          <a:p>
            <a:pPr algn="ctr" eaLnBrk="0" hangingPunct="0"/>
            <a:r>
              <a:rPr lang="ja-JP" altLang="en-US" sz="2000" dirty="0">
                <a:latin typeface="+mj-lt"/>
              </a:rPr>
              <a:t>（</a:t>
            </a:r>
            <a:r>
              <a:rPr lang="en-US" altLang="ja-JP" sz="2000" dirty="0" err="1">
                <a:latin typeface="+mj-lt"/>
              </a:rPr>
              <a:t>Gọi</a:t>
            </a:r>
            <a:r>
              <a:rPr lang="en-US" altLang="ja-JP" sz="2000" dirty="0">
                <a:latin typeface="+mj-lt"/>
              </a:rPr>
              <a:t> </a:t>
            </a:r>
            <a:r>
              <a:rPr lang="en-US" altLang="ja-JP" sz="2000" dirty="0" err="1">
                <a:latin typeface="+mj-lt"/>
              </a:rPr>
              <a:t>ra</a:t>
            </a:r>
            <a:r>
              <a:rPr lang="en-US" altLang="ja-JP" sz="2000" dirty="0">
                <a:latin typeface="+mj-lt"/>
              </a:rPr>
              <a:t> </a:t>
            </a:r>
            <a:r>
              <a:rPr lang="en-US" altLang="ja-JP" sz="2000" dirty="0" err="1">
                <a:latin typeface="+mj-lt"/>
              </a:rPr>
              <a:t>thao</a:t>
            </a:r>
            <a:r>
              <a:rPr lang="en-US" altLang="ja-JP" sz="2000" dirty="0">
                <a:latin typeface="+mj-lt"/>
              </a:rPr>
              <a:t> </a:t>
            </a:r>
            <a:r>
              <a:rPr lang="en-US" altLang="ja-JP" sz="2000" dirty="0" err="1">
                <a:latin typeface="+mj-lt"/>
              </a:rPr>
              <a:t>tác</a:t>
            </a:r>
            <a:r>
              <a:rPr lang="ja-JP" altLang="en-US" sz="2000" dirty="0">
                <a:latin typeface="+mj-lt"/>
              </a:rPr>
              <a:t>「</a:t>
            </a:r>
            <a:r>
              <a:rPr lang="en-US" altLang="ja-JP" sz="2000" dirty="0" err="1">
                <a:latin typeface="+mj-lt"/>
              </a:rPr>
              <a:t>Lấy</a:t>
            </a:r>
            <a:r>
              <a:rPr lang="en-US" altLang="ja-JP" sz="2000" dirty="0">
                <a:latin typeface="+mj-lt"/>
              </a:rPr>
              <a:t> </a:t>
            </a:r>
            <a:r>
              <a:rPr lang="en-US" altLang="ja-JP" sz="2000" dirty="0" err="1">
                <a:latin typeface="+mj-lt"/>
              </a:rPr>
              <a:t>tuổi</a:t>
            </a:r>
            <a:r>
              <a:rPr lang="ja-JP" altLang="en-US" sz="2000" dirty="0">
                <a:latin typeface="+mj-lt"/>
              </a:rPr>
              <a:t>」）</a:t>
            </a:r>
          </a:p>
        </p:txBody>
      </p:sp>
      <p:sp>
        <p:nvSpPr>
          <p:cNvPr id="434220" name="Line 44">
            <a:extLst>
              <a:ext uri="{FF2B5EF4-FFF2-40B4-BE49-F238E27FC236}">
                <a16:creationId xmlns:a16="http://schemas.microsoft.com/office/drawing/2014/main" id="{E3FE3A95-E399-DCAA-C522-FC9D33D4B72C}"/>
              </a:ext>
            </a:extLst>
          </p:cNvPr>
          <p:cNvSpPr>
            <a:spLocks noChangeShapeType="1"/>
          </p:cNvSpPr>
          <p:nvPr/>
        </p:nvSpPr>
        <p:spPr bwMode="auto">
          <a:xfrm flipV="1">
            <a:off x="1754188" y="3592513"/>
            <a:ext cx="4098925" cy="4762"/>
          </a:xfrm>
          <a:prstGeom prst="line">
            <a:avLst/>
          </a:prstGeom>
          <a:noFill/>
          <a:ln w="57150">
            <a:solidFill>
              <a:schemeClr val="accent2"/>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1" name="Rectangle 45">
            <a:extLst>
              <a:ext uri="{FF2B5EF4-FFF2-40B4-BE49-F238E27FC236}">
                <a16:creationId xmlns:a16="http://schemas.microsoft.com/office/drawing/2014/main" id="{5EECB618-F742-EBCE-B9CC-9165FD42C216}"/>
              </a:ext>
            </a:extLst>
          </p:cNvPr>
          <p:cNvSpPr>
            <a:spLocks noChangeArrowheads="1"/>
          </p:cNvSpPr>
          <p:nvPr/>
        </p:nvSpPr>
        <p:spPr bwMode="auto">
          <a:xfrm>
            <a:off x="1731963" y="3614738"/>
            <a:ext cx="40227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a:t>「</a:t>
            </a:r>
            <a:r>
              <a:rPr lang="en-US" altLang="ja-JP" sz="2000"/>
              <a:t>30 tuổi</a:t>
            </a:r>
            <a:r>
              <a:rPr lang="ja-JP" altLang="en-US" sz="2000"/>
              <a:t>」</a:t>
            </a:r>
          </a:p>
        </p:txBody>
      </p:sp>
      <p:grpSp>
        <p:nvGrpSpPr>
          <p:cNvPr id="434229" name="Group 53">
            <a:extLst>
              <a:ext uri="{FF2B5EF4-FFF2-40B4-BE49-F238E27FC236}">
                <a16:creationId xmlns:a16="http://schemas.microsoft.com/office/drawing/2014/main" id="{356F8E61-B68C-F8A2-FC9E-0A891847BE18}"/>
              </a:ext>
            </a:extLst>
          </p:cNvPr>
          <p:cNvGrpSpPr>
            <a:grpSpLocks/>
          </p:cNvGrpSpPr>
          <p:nvPr/>
        </p:nvGrpSpPr>
        <p:grpSpPr bwMode="auto">
          <a:xfrm>
            <a:off x="728663" y="2916238"/>
            <a:ext cx="522287" cy="749300"/>
            <a:chOff x="781" y="1712"/>
            <a:chExt cx="329" cy="472"/>
          </a:xfrm>
        </p:grpSpPr>
        <p:sp>
          <p:nvSpPr>
            <p:cNvPr id="434224" name="Line 48">
              <a:extLst>
                <a:ext uri="{FF2B5EF4-FFF2-40B4-BE49-F238E27FC236}">
                  <a16:creationId xmlns:a16="http://schemas.microsoft.com/office/drawing/2014/main" id="{91A8FFCC-DDD9-36F2-0B4D-48F72A8AF99F}"/>
                </a:ext>
              </a:extLst>
            </p:cNvPr>
            <p:cNvSpPr>
              <a:spLocks noChangeShapeType="1"/>
            </p:cNvSpPr>
            <p:nvPr/>
          </p:nvSpPr>
          <p:spPr bwMode="auto">
            <a:xfrm>
              <a:off x="945" y="1905"/>
              <a:ext cx="0" cy="12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3" name="Oval 47">
              <a:extLst>
                <a:ext uri="{FF2B5EF4-FFF2-40B4-BE49-F238E27FC236}">
                  <a16:creationId xmlns:a16="http://schemas.microsoft.com/office/drawing/2014/main" id="{6B1D00E9-88ED-7331-3F88-464632F698FC}"/>
                </a:ext>
              </a:extLst>
            </p:cNvPr>
            <p:cNvSpPr>
              <a:spLocks noChangeArrowheads="1"/>
            </p:cNvSpPr>
            <p:nvPr/>
          </p:nvSpPr>
          <p:spPr bwMode="auto">
            <a:xfrm>
              <a:off x="858" y="1712"/>
              <a:ext cx="175" cy="183"/>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25" name="Freeform 49">
              <a:extLst>
                <a:ext uri="{FF2B5EF4-FFF2-40B4-BE49-F238E27FC236}">
                  <a16:creationId xmlns:a16="http://schemas.microsoft.com/office/drawing/2014/main" id="{7AF7254E-1C78-4DF9-5886-F89AF2EA9F54}"/>
                </a:ext>
              </a:extLst>
            </p:cNvPr>
            <p:cNvSpPr>
              <a:spLocks/>
            </p:cNvSpPr>
            <p:nvPr/>
          </p:nvSpPr>
          <p:spPr bwMode="auto">
            <a:xfrm>
              <a:off x="829" y="2029"/>
              <a:ext cx="232" cy="155"/>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227" name="Line 51">
              <a:extLst>
                <a:ext uri="{FF2B5EF4-FFF2-40B4-BE49-F238E27FC236}">
                  <a16:creationId xmlns:a16="http://schemas.microsoft.com/office/drawing/2014/main" id="{3633F2E8-47E3-B72B-09E3-0828E4496A06}"/>
                </a:ext>
              </a:extLst>
            </p:cNvPr>
            <p:cNvSpPr>
              <a:spLocks noChangeShapeType="1"/>
            </p:cNvSpPr>
            <p:nvPr/>
          </p:nvSpPr>
          <p:spPr bwMode="auto">
            <a:xfrm flipV="1">
              <a:off x="781" y="1957"/>
              <a:ext cx="329" cy="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34230" name="Rectangle 54">
            <a:extLst>
              <a:ext uri="{FF2B5EF4-FFF2-40B4-BE49-F238E27FC236}">
                <a16:creationId xmlns:a16="http://schemas.microsoft.com/office/drawing/2014/main" id="{138E7FC4-9356-06A4-EDD8-448F73C4CB93}"/>
              </a:ext>
            </a:extLst>
          </p:cNvPr>
          <p:cNvSpPr>
            <a:spLocks noChangeArrowheads="1"/>
          </p:cNvSpPr>
          <p:nvPr/>
        </p:nvSpPr>
        <p:spPr bwMode="auto">
          <a:xfrm>
            <a:off x="185738" y="3806825"/>
            <a:ext cx="19113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err="1">
                <a:latin typeface="+mj-lt"/>
              </a:rPr>
              <a:t>Người</a:t>
            </a:r>
            <a:r>
              <a:rPr lang="en-US" altLang="ja-JP" sz="1600" dirty="0">
                <a:latin typeface="+mj-lt"/>
              </a:rPr>
              <a:t> </a:t>
            </a:r>
            <a:r>
              <a:rPr lang="en-US" altLang="ja-JP" sz="1600" dirty="0" err="1">
                <a:latin typeface="+mj-lt"/>
              </a:rPr>
              <a:t>yêu</a:t>
            </a:r>
            <a:r>
              <a:rPr lang="en-US" altLang="ja-JP" sz="1600" dirty="0">
                <a:latin typeface="+mj-lt"/>
              </a:rPr>
              <a:t> </a:t>
            </a:r>
            <a:r>
              <a:rPr lang="en-US" altLang="ja-JP" sz="1600" dirty="0" err="1">
                <a:latin typeface="+mj-lt"/>
              </a:rPr>
              <a:t>cầu</a:t>
            </a:r>
            <a:endParaRPr lang="en-US" altLang="ja-JP" sz="1600" dirty="0">
              <a:latin typeface="+mj-lt"/>
            </a:endParaRPr>
          </a:p>
        </p:txBody>
      </p:sp>
      <p:grpSp>
        <p:nvGrpSpPr>
          <p:cNvPr id="434231" name="Group 55">
            <a:extLst>
              <a:ext uri="{FF2B5EF4-FFF2-40B4-BE49-F238E27FC236}">
                <a16:creationId xmlns:a16="http://schemas.microsoft.com/office/drawing/2014/main" id="{90FA2025-AF95-126C-9A33-7A1B7B0B46CE}"/>
              </a:ext>
            </a:extLst>
          </p:cNvPr>
          <p:cNvGrpSpPr>
            <a:grpSpLocks/>
          </p:cNvGrpSpPr>
          <p:nvPr/>
        </p:nvGrpSpPr>
        <p:grpSpPr bwMode="auto">
          <a:xfrm>
            <a:off x="830263" y="4868863"/>
            <a:ext cx="522287" cy="749300"/>
            <a:chOff x="781" y="1712"/>
            <a:chExt cx="329" cy="472"/>
          </a:xfrm>
        </p:grpSpPr>
        <p:sp>
          <p:nvSpPr>
            <p:cNvPr id="434232" name="Line 56">
              <a:extLst>
                <a:ext uri="{FF2B5EF4-FFF2-40B4-BE49-F238E27FC236}">
                  <a16:creationId xmlns:a16="http://schemas.microsoft.com/office/drawing/2014/main" id="{0BA06C71-FEFF-531A-F624-A4A003191C70}"/>
                </a:ext>
              </a:extLst>
            </p:cNvPr>
            <p:cNvSpPr>
              <a:spLocks noChangeShapeType="1"/>
            </p:cNvSpPr>
            <p:nvPr/>
          </p:nvSpPr>
          <p:spPr bwMode="auto">
            <a:xfrm>
              <a:off x="945" y="1905"/>
              <a:ext cx="0" cy="12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3" name="Oval 57">
              <a:extLst>
                <a:ext uri="{FF2B5EF4-FFF2-40B4-BE49-F238E27FC236}">
                  <a16:creationId xmlns:a16="http://schemas.microsoft.com/office/drawing/2014/main" id="{78E7B697-549B-351A-80B6-A6C69363756C}"/>
                </a:ext>
              </a:extLst>
            </p:cNvPr>
            <p:cNvSpPr>
              <a:spLocks noChangeArrowheads="1"/>
            </p:cNvSpPr>
            <p:nvPr/>
          </p:nvSpPr>
          <p:spPr bwMode="auto">
            <a:xfrm>
              <a:off x="858" y="1712"/>
              <a:ext cx="175" cy="183"/>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4" name="Freeform 58">
              <a:extLst>
                <a:ext uri="{FF2B5EF4-FFF2-40B4-BE49-F238E27FC236}">
                  <a16:creationId xmlns:a16="http://schemas.microsoft.com/office/drawing/2014/main" id="{4F1270F5-6507-90CE-891C-A05E2666297A}"/>
                </a:ext>
              </a:extLst>
            </p:cNvPr>
            <p:cNvSpPr>
              <a:spLocks/>
            </p:cNvSpPr>
            <p:nvPr/>
          </p:nvSpPr>
          <p:spPr bwMode="auto">
            <a:xfrm>
              <a:off x="829" y="2029"/>
              <a:ext cx="232" cy="155"/>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4235" name="Line 59">
              <a:extLst>
                <a:ext uri="{FF2B5EF4-FFF2-40B4-BE49-F238E27FC236}">
                  <a16:creationId xmlns:a16="http://schemas.microsoft.com/office/drawing/2014/main" id="{72C0598F-499A-DE43-8D04-6B6AF539DFE0}"/>
                </a:ext>
              </a:extLst>
            </p:cNvPr>
            <p:cNvSpPr>
              <a:spLocks noChangeShapeType="1"/>
            </p:cNvSpPr>
            <p:nvPr/>
          </p:nvSpPr>
          <p:spPr bwMode="auto">
            <a:xfrm flipV="1">
              <a:off x="781" y="1957"/>
              <a:ext cx="329" cy="9"/>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34236" name="Rectangle 60">
            <a:extLst>
              <a:ext uri="{FF2B5EF4-FFF2-40B4-BE49-F238E27FC236}">
                <a16:creationId xmlns:a16="http://schemas.microsoft.com/office/drawing/2014/main" id="{6F80B7E4-EEDB-FF1B-0570-E637933B8741}"/>
              </a:ext>
            </a:extLst>
          </p:cNvPr>
          <p:cNvSpPr>
            <a:spLocks noChangeArrowheads="1"/>
          </p:cNvSpPr>
          <p:nvPr/>
        </p:nvSpPr>
        <p:spPr bwMode="auto">
          <a:xfrm>
            <a:off x="385763" y="5759450"/>
            <a:ext cx="1631950" cy="33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1600" dirty="0" err="1">
                <a:latin typeface="+mj-lt"/>
              </a:rPr>
              <a:t>Người</a:t>
            </a:r>
            <a:r>
              <a:rPr lang="en-US" altLang="ja-JP" sz="1600" dirty="0">
                <a:latin typeface="+mj-lt"/>
              </a:rPr>
              <a:t> </a:t>
            </a:r>
            <a:r>
              <a:rPr lang="en-US" altLang="ja-JP" sz="1600" dirty="0" err="1">
                <a:latin typeface="+mj-lt"/>
              </a:rPr>
              <a:t>yêu</a:t>
            </a:r>
            <a:r>
              <a:rPr lang="en-US" altLang="ja-JP" sz="1600" dirty="0">
                <a:latin typeface="+mj-lt"/>
              </a:rPr>
              <a:t> </a:t>
            </a:r>
            <a:r>
              <a:rPr lang="en-US" altLang="ja-JP" sz="1600" dirty="0" err="1">
                <a:latin typeface="+mj-lt"/>
              </a:rPr>
              <a:t>cầu</a:t>
            </a:r>
            <a:endParaRPr lang="en-US" altLang="ja-JP" sz="1600" dirty="0">
              <a:latin typeface="+mj-lt"/>
            </a:endParaRPr>
          </a:p>
        </p:txBody>
      </p:sp>
      <p:sp>
        <p:nvSpPr>
          <p:cNvPr id="434237" name="Line 61">
            <a:extLst>
              <a:ext uri="{FF2B5EF4-FFF2-40B4-BE49-F238E27FC236}">
                <a16:creationId xmlns:a16="http://schemas.microsoft.com/office/drawing/2014/main" id="{C1470155-D867-8C84-0DFE-25BA68D6E948}"/>
              </a:ext>
            </a:extLst>
          </p:cNvPr>
          <p:cNvSpPr>
            <a:spLocks noChangeShapeType="1"/>
          </p:cNvSpPr>
          <p:nvPr/>
        </p:nvSpPr>
        <p:spPr bwMode="auto">
          <a:xfrm flipV="1">
            <a:off x="1662113" y="5622925"/>
            <a:ext cx="4098925" cy="4763"/>
          </a:xfrm>
          <a:prstGeom prst="line">
            <a:avLst/>
          </a:prstGeom>
          <a:noFill/>
          <a:ln w="57150">
            <a:solidFill>
              <a:schemeClr val="accent2"/>
            </a:solidFill>
            <a:prstDash val="dash"/>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4238" name="Rectangle 62">
            <a:extLst>
              <a:ext uri="{FF2B5EF4-FFF2-40B4-BE49-F238E27FC236}">
                <a16:creationId xmlns:a16="http://schemas.microsoft.com/office/drawing/2014/main" id="{70FEFAAE-ED23-3317-CE0F-8B6819A9053D}"/>
              </a:ext>
            </a:extLst>
          </p:cNvPr>
          <p:cNvSpPr>
            <a:spLocks noChangeArrowheads="1"/>
          </p:cNvSpPr>
          <p:nvPr/>
        </p:nvSpPr>
        <p:spPr bwMode="auto">
          <a:xfrm>
            <a:off x="1706563" y="5686425"/>
            <a:ext cx="40227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ja-JP" altLang="en-US" sz="2000"/>
              <a:t>「</a:t>
            </a:r>
            <a:r>
              <a:rPr lang="en-US" altLang="ja-JP" sz="2000"/>
              <a:t>Kawamura Hanako</a:t>
            </a:r>
            <a:r>
              <a:rPr lang="ja-JP" altLang="en-US" sz="2000"/>
              <a:t>」</a:t>
            </a:r>
          </a:p>
        </p:txBody>
      </p:sp>
      <p:sp>
        <p:nvSpPr>
          <p:cNvPr id="434240" name="AutoShape 64">
            <a:extLst>
              <a:ext uri="{FF2B5EF4-FFF2-40B4-BE49-F238E27FC236}">
                <a16:creationId xmlns:a16="http://schemas.microsoft.com/office/drawing/2014/main" id="{48446C7A-E103-BEDB-46D4-D5699088DAB2}"/>
              </a:ext>
            </a:extLst>
          </p:cNvPr>
          <p:cNvSpPr>
            <a:spLocks noChangeArrowheads="1"/>
          </p:cNvSpPr>
          <p:nvPr/>
        </p:nvSpPr>
        <p:spPr bwMode="auto">
          <a:xfrm>
            <a:off x="8469312" y="5502275"/>
            <a:ext cx="966787" cy="427038"/>
          </a:xfrm>
          <a:prstGeom prst="wedgeRoundRectCallout">
            <a:avLst>
              <a:gd name="adj1" fmla="val -85338"/>
              <a:gd name="adj2" fmla="val 836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b="0" dirty="0">
                <a:cs typeface="Times New Roman" panose="02020603050405020304" pitchFamily="18" charset="0"/>
              </a:rPr>
              <a:t>Thao </a:t>
            </a:r>
            <a:r>
              <a:rPr lang="en-US" altLang="ja-JP" sz="1400" b="0" dirty="0" err="1">
                <a:cs typeface="Times New Roman" panose="02020603050405020304" pitchFamily="18" charset="0"/>
              </a:rPr>
              <a:t>tác</a:t>
            </a:r>
            <a:endParaRPr lang="en-US" altLang="ja-JP" sz="1400" b="0" dirty="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357A650B-1B83-90B8-FC42-434CADA5CAAB}"/>
              </a:ext>
            </a:extLst>
          </p:cNvPr>
          <p:cNvSpPr>
            <a:spLocks noGrp="1"/>
          </p:cNvSpPr>
          <p:nvPr>
            <p:ph type="sldNum" sz="quarter" idx="10"/>
          </p:nvPr>
        </p:nvSpPr>
        <p:spPr/>
        <p:txBody>
          <a:bodyPr/>
          <a:lstStyle/>
          <a:p>
            <a:fld id="{2E40CF28-65F4-4054-BCF4-F76E7FF2D291}" type="slidenum">
              <a:rPr lang="en-US" altLang="ja-JP"/>
              <a:pPr/>
              <a:t>9</a:t>
            </a:fld>
            <a:endParaRPr lang="en-US" altLang="ja-JP"/>
          </a:p>
        </p:txBody>
      </p:sp>
      <p:sp>
        <p:nvSpPr>
          <p:cNvPr id="408596" name="Rectangle 20">
            <a:extLst>
              <a:ext uri="{FF2B5EF4-FFF2-40B4-BE49-F238E27FC236}">
                <a16:creationId xmlns:a16="http://schemas.microsoft.com/office/drawing/2014/main" id="{0ED9B322-BB48-34E8-1B6A-B73C40CEF449}"/>
              </a:ext>
            </a:extLst>
          </p:cNvPr>
          <p:cNvSpPr>
            <a:spLocks noChangeArrowheads="1"/>
          </p:cNvSpPr>
          <p:nvPr/>
        </p:nvSpPr>
        <p:spPr bwMode="auto">
          <a:xfrm>
            <a:off x="344488" y="2439988"/>
            <a:ext cx="9091612" cy="3817937"/>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578" name="Rectangle 2">
            <a:extLst>
              <a:ext uri="{FF2B5EF4-FFF2-40B4-BE49-F238E27FC236}">
                <a16:creationId xmlns:a16="http://schemas.microsoft.com/office/drawing/2014/main" id="{3D3B9BEE-D176-4284-AA78-ED1B607F2C32}"/>
              </a:ext>
            </a:extLst>
          </p:cNvPr>
          <p:cNvSpPr>
            <a:spLocks noGrp="1" noChangeArrowheads="1"/>
          </p:cNvSpPr>
          <p:nvPr>
            <p:ph type="title"/>
          </p:nvPr>
        </p:nvSpPr>
        <p:spPr>
          <a:xfrm>
            <a:off x="344488" y="31988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(1)</a:t>
            </a:r>
          </a:p>
        </p:txBody>
      </p:sp>
      <p:sp>
        <p:nvSpPr>
          <p:cNvPr id="408579" name="Rectangle 3">
            <a:extLst>
              <a:ext uri="{FF2B5EF4-FFF2-40B4-BE49-F238E27FC236}">
                <a16:creationId xmlns:a16="http://schemas.microsoft.com/office/drawing/2014/main" id="{65A19B94-2965-13D3-8B27-0BEBC2B5B30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08580" name="Rectangle 4">
            <a:extLst>
              <a:ext uri="{FF2B5EF4-FFF2-40B4-BE49-F238E27FC236}">
                <a16:creationId xmlns:a16="http://schemas.microsoft.com/office/drawing/2014/main" id="{DD78055D-41AD-17E3-5051-694C23616715}"/>
              </a:ext>
            </a:extLst>
          </p:cNvPr>
          <p:cNvSpPr>
            <a:spLocks noChangeArrowheads="1"/>
          </p:cNvSpPr>
          <p:nvPr/>
        </p:nvSpPr>
        <p:spPr bwMode="auto">
          <a:xfrm>
            <a:off x="344488" y="771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Đóng gói</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08581" name="Rectangle 5">
            <a:extLst>
              <a:ext uri="{FF2B5EF4-FFF2-40B4-BE49-F238E27FC236}">
                <a16:creationId xmlns:a16="http://schemas.microsoft.com/office/drawing/2014/main" id="{000605FF-4D39-8EB3-1175-BD4ADEC869B4}"/>
              </a:ext>
            </a:extLst>
          </p:cNvPr>
          <p:cNvSpPr>
            <a:spLocks noChangeArrowheads="1"/>
          </p:cNvSpPr>
          <p:nvPr/>
        </p:nvSpPr>
        <p:spPr bwMode="auto">
          <a:xfrm>
            <a:off x="344488" y="1258888"/>
            <a:ext cx="9120187" cy="7747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việc định nghĩa trọn gói tất cả các data (thuộc tính) và thủ tục của nó (thao tác) trong đơn vị </a:t>
            </a:r>
            <a:r>
              <a:rPr lang="ja-JP" altLang="en-US" sz="2000">
                <a:latin typeface="Arial" panose="020B0604020202020204" pitchFamily="34" charset="0"/>
              </a:rPr>
              <a:t>「</a:t>
            </a:r>
            <a:r>
              <a:rPr lang="en-US" altLang="ja-JP" sz="2000">
                <a:latin typeface="Arial" panose="020B0604020202020204" pitchFamily="34" charset="0"/>
              </a:rPr>
              <a:t>object</a:t>
            </a:r>
            <a:r>
              <a:rPr lang="ja-JP" altLang="en-US" sz="2000">
                <a:latin typeface="Arial" panose="020B0604020202020204" pitchFamily="34" charset="0"/>
              </a:rPr>
              <a:t>」（</a:t>
            </a:r>
            <a:r>
              <a:rPr lang="en-US" altLang="ja-JP" sz="2000">
                <a:latin typeface="Arial" panose="020B0604020202020204" pitchFamily="34" charset="0"/>
              </a:rPr>
              <a:t>Class). </a:t>
            </a:r>
          </a:p>
        </p:txBody>
      </p:sp>
      <p:sp>
        <p:nvSpPr>
          <p:cNvPr id="408590" name="AutoShape 14">
            <a:extLst>
              <a:ext uri="{FF2B5EF4-FFF2-40B4-BE49-F238E27FC236}">
                <a16:creationId xmlns:a16="http://schemas.microsoft.com/office/drawing/2014/main" id="{A931D71C-5360-0A05-3991-8FFA329FF37D}"/>
              </a:ext>
            </a:extLst>
          </p:cNvPr>
          <p:cNvSpPr>
            <a:spLocks noChangeArrowheads="1"/>
          </p:cNvSpPr>
          <p:nvPr/>
        </p:nvSpPr>
        <p:spPr bwMode="auto">
          <a:xfrm>
            <a:off x="4397375" y="3136900"/>
            <a:ext cx="3652838" cy="1049338"/>
          </a:xfrm>
          <a:prstGeom prst="wedgeRoundRectCallout">
            <a:avLst>
              <a:gd name="adj1" fmla="val -67079"/>
              <a:gd name="adj2" fmla="val 8781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Định </a:t>
            </a:r>
            <a:r>
              <a:rPr lang="en-US" altLang="ja-JP" sz="1800" b="0" dirty="0" err="1">
                <a:latin typeface="+mj-lt"/>
                <a:cs typeface="Times New Roman" panose="02020603050405020304" pitchFamily="18" charset="0"/>
              </a:rPr>
              <a:t>nghĩa</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trọn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gói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Thuộc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tính</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và</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a:latin typeface="+mj-lt"/>
                <a:cs typeface="Times New Roman" panose="02020603050405020304" pitchFamily="18" charset="0"/>
              </a:rPr>
              <a:t>Thao </a:t>
            </a:r>
            <a:r>
              <a:rPr lang="en-US" altLang="ja-JP" sz="1800" b="0" dirty="0" err="1">
                <a:latin typeface="+mj-lt"/>
                <a:cs typeface="Times New Roman" panose="02020603050405020304" pitchFamily="18" charset="0"/>
              </a:rPr>
              <a:t>tác</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có</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liên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quan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đến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là</a:t>
            </a:r>
            <a:r>
              <a:rPr lang="en-US" altLang="ja-JP" sz="1800" b="0" dirty="0">
                <a:latin typeface="+mj-lt"/>
                <a:cs typeface="Times New Roman" panose="02020603050405020304" pitchFamily="18" charset="0"/>
              </a:rPr>
              <a:t> class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p>
        </p:txBody>
      </p:sp>
      <p:sp>
        <p:nvSpPr>
          <p:cNvPr id="408595" name="Rectangle 19">
            <a:extLst>
              <a:ext uri="{FF2B5EF4-FFF2-40B4-BE49-F238E27FC236}">
                <a16:creationId xmlns:a16="http://schemas.microsoft.com/office/drawing/2014/main" id="{B1114456-F024-C538-7366-F75D9DF5F2AF}"/>
              </a:ext>
            </a:extLst>
          </p:cNvPr>
          <p:cNvSpPr>
            <a:spLocks noChangeArrowheads="1"/>
          </p:cNvSpPr>
          <p:nvPr/>
        </p:nvSpPr>
        <p:spPr bwMode="auto">
          <a:xfrm>
            <a:off x="1171575" y="2822575"/>
            <a:ext cx="22463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2000"/>
              <a:t>【Class người】</a:t>
            </a:r>
          </a:p>
        </p:txBody>
      </p:sp>
      <p:grpSp>
        <p:nvGrpSpPr>
          <p:cNvPr id="408597" name="Group 21">
            <a:extLst>
              <a:ext uri="{FF2B5EF4-FFF2-40B4-BE49-F238E27FC236}">
                <a16:creationId xmlns:a16="http://schemas.microsoft.com/office/drawing/2014/main" id="{313503A8-7574-DC1F-A1CA-7C63F34F06F7}"/>
              </a:ext>
            </a:extLst>
          </p:cNvPr>
          <p:cNvGrpSpPr>
            <a:grpSpLocks/>
          </p:cNvGrpSpPr>
          <p:nvPr/>
        </p:nvGrpSpPr>
        <p:grpSpPr bwMode="auto">
          <a:xfrm>
            <a:off x="1473200" y="3411538"/>
            <a:ext cx="2193925" cy="2044700"/>
            <a:chOff x="640" y="4949"/>
            <a:chExt cx="859" cy="879"/>
          </a:xfrm>
        </p:grpSpPr>
        <p:sp>
          <p:nvSpPr>
            <p:cNvPr id="408598" name="Rectangle 22">
              <a:extLst>
                <a:ext uri="{FF2B5EF4-FFF2-40B4-BE49-F238E27FC236}">
                  <a16:creationId xmlns:a16="http://schemas.microsoft.com/office/drawing/2014/main" id="{54941003-DE62-340F-3F55-4FA69C1CA0F4}"/>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Người</a:t>
              </a:r>
            </a:p>
          </p:txBody>
        </p:sp>
        <p:sp>
          <p:nvSpPr>
            <p:cNvPr id="408599" name="Rectangle 23">
              <a:extLst>
                <a:ext uri="{FF2B5EF4-FFF2-40B4-BE49-F238E27FC236}">
                  <a16:creationId xmlns:a16="http://schemas.microsoft.com/office/drawing/2014/main" id="{73E87AE0-A120-BE74-9606-E2BA1E09BFCE}"/>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a:t>Tên</a:t>
              </a:r>
            </a:p>
            <a:p>
              <a:r>
                <a:rPr lang="en-US" altLang="ja-JP" sz="1800" b="0"/>
                <a:t>Tuổi</a:t>
              </a:r>
            </a:p>
          </p:txBody>
        </p:sp>
        <p:sp>
          <p:nvSpPr>
            <p:cNvPr id="408600" name="Rectangle 24">
              <a:extLst>
                <a:ext uri="{FF2B5EF4-FFF2-40B4-BE49-F238E27FC236}">
                  <a16:creationId xmlns:a16="http://schemas.microsoft.com/office/drawing/2014/main" id="{FC04E17C-2AC5-8D33-5C41-B834D45BD1E7}"/>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Lấy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Lấy</a:t>
              </a:r>
              <a:r>
                <a:rPr lang="en-US" altLang="ja-JP" sz="1800" b="0" dirty="0">
                  <a:latin typeface="+mj-lt"/>
                </a:rPr>
                <a:t> </a:t>
              </a:r>
              <a:r>
                <a:rPr lang="en-US" altLang="ja-JP" sz="1800" b="0" dirty="0" err="1">
                  <a:latin typeface="+mj-lt"/>
                </a:rPr>
                <a:t>tuổi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grpSp>
        <p:nvGrpSpPr>
          <p:cNvPr id="408601" name="Group 25">
            <a:extLst>
              <a:ext uri="{FF2B5EF4-FFF2-40B4-BE49-F238E27FC236}">
                <a16:creationId xmlns:a16="http://schemas.microsoft.com/office/drawing/2014/main" id="{D57535D3-EE20-C505-0F48-FF5E22B49288}"/>
              </a:ext>
            </a:extLst>
          </p:cNvPr>
          <p:cNvGrpSpPr>
            <a:grpSpLocks/>
          </p:cNvGrpSpPr>
          <p:nvPr/>
        </p:nvGrpSpPr>
        <p:grpSpPr bwMode="auto">
          <a:xfrm>
            <a:off x="5756275" y="4467225"/>
            <a:ext cx="490538" cy="671513"/>
            <a:chOff x="1308" y="1715"/>
            <a:chExt cx="385" cy="657"/>
          </a:xfrm>
        </p:grpSpPr>
        <p:sp>
          <p:nvSpPr>
            <p:cNvPr id="408602" name="Oval 26">
              <a:extLst>
                <a:ext uri="{FF2B5EF4-FFF2-40B4-BE49-F238E27FC236}">
                  <a16:creationId xmlns:a16="http://schemas.microsoft.com/office/drawing/2014/main" id="{17214550-9EF1-8AD8-303A-5E80BAA6CD0A}"/>
                </a:ext>
              </a:extLst>
            </p:cNvPr>
            <p:cNvSpPr>
              <a:spLocks noChangeArrowheads="1"/>
            </p:cNvSpPr>
            <p:nvPr/>
          </p:nvSpPr>
          <p:spPr bwMode="auto">
            <a:xfrm>
              <a:off x="1324" y="1715"/>
              <a:ext cx="208" cy="208"/>
            </a:xfrm>
            <a:prstGeom prst="ellipse">
              <a:avLst/>
            </a:prstGeom>
            <a:noFill/>
            <a:ln w="508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603" name="Line 27">
              <a:extLst>
                <a:ext uri="{FF2B5EF4-FFF2-40B4-BE49-F238E27FC236}">
                  <a16:creationId xmlns:a16="http://schemas.microsoft.com/office/drawing/2014/main" id="{DF6C6CB0-5838-6326-2176-10128991DBEC}"/>
                </a:ext>
              </a:extLst>
            </p:cNvPr>
            <p:cNvSpPr>
              <a:spLocks noChangeShapeType="1"/>
            </p:cNvSpPr>
            <p:nvPr/>
          </p:nvSpPr>
          <p:spPr bwMode="auto">
            <a:xfrm>
              <a:off x="1452" y="1939"/>
              <a:ext cx="0" cy="192"/>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08604" name="Freeform 28">
              <a:extLst>
                <a:ext uri="{FF2B5EF4-FFF2-40B4-BE49-F238E27FC236}">
                  <a16:creationId xmlns:a16="http://schemas.microsoft.com/office/drawing/2014/main" id="{186BC6BF-13F6-6037-FCFC-B5E01F1C2440}"/>
                </a:ext>
              </a:extLst>
            </p:cNvPr>
            <p:cNvSpPr>
              <a:spLocks/>
            </p:cNvSpPr>
            <p:nvPr/>
          </p:nvSpPr>
          <p:spPr bwMode="auto">
            <a:xfrm>
              <a:off x="1308" y="2131"/>
              <a:ext cx="289" cy="241"/>
            </a:xfrm>
            <a:custGeom>
              <a:avLst/>
              <a:gdLst>
                <a:gd name="T0" fmla="*/ 0 w 289"/>
                <a:gd name="T1" fmla="*/ 240 h 241"/>
                <a:gd name="T2" fmla="*/ 144 w 289"/>
                <a:gd name="T3" fmla="*/ 0 h 241"/>
                <a:gd name="T4" fmla="*/ 288 w 289"/>
                <a:gd name="T5" fmla="*/ 240 h 241"/>
              </a:gdLst>
              <a:ahLst/>
              <a:cxnLst>
                <a:cxn ang="0">
                  <a:pos x="T0" y="T1"/>
                </a:cxn>
                <a:cxn ang="0">
                  <a:pos x="T2" y="T3"/>
                </a:cxn>
                <a:cxn ang="0">
                  <a:pos x="T4" y="T5"/>
                </a:cxn>
              </a:cxnLst>
              <a:rect l="0" t="0" r="r" b="b"/>
              <a:pathLst>
                <a:path w="289" h="241">
                  <a:moveTo>
                    <a:pt x="0" y="240"/>
                  </a:moveTo>
                  <a:lnTo>
                    <a:pt x="144" y="0"/>
                  </a:lnTo>
                  <a:lnTo>
                    <a:pt x="288" y="24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08605" name="Freeform 29">
              <a:extLst>
                <a:ext uri="{FF2B5EF4-FFF2-40B4-BE49-F238E27FC236}">
                  <a16:creationId xmlns:a16="http://schemas.microsoft.com/office/drawing/2014/main" id="{425EAFE0-CB3B-966A-376C-24534678C5B9}"/>
                </a:ext>
              </a:extLst>
            </p:cNvPr>
            <p:cNvSpPr>
              <a:spLocks/>
            </p:cNvSpPr>
            <p:nvPr/>
          </p:nvSpPr>
          <p:spPr bwMode="auto">
            <a:xfrm>
              <a:off x="1308" y="1939"/>
              <a:ext cx="385" cy="193"/>
            </a:xfrm>
            <a:custGeom>
              <a:avLst/>
              <a:gdLst>
                <a:gd name="T0" fmla="*/ 0 w 385"/>
                <a:gd name="T1" fmla="*/ 192 h 193"/>
                <a:gd name="T2" fmla="*/ 48 w 385"/>
                <a:gd name="T3" fmla="*/ 96 h 193"/>
                <a:gd name="T4" fmla="*/ 384 w 385"/>
                <a:gd name="T5" fmla="*/ 0 h 193"/>
              </a:gdLst>
              <a:ahLst/>
              <a:cxnLst>
                <a:cxn ang="0">
                  <a:pos x="T0" y="T1"/>
                </a:cxn>
                <a:cxn ang="0">
                  <a:pos x="T2" y="T3"/>
                </a:cxn>
                <a:cxn ang="0">
                  <a:pos x="T4" y="T5"/>
                </a:cxn>
              </a:cxnLst>
              <a:rect l="0" t="0" r="r" b="b"/>
              <a:pathLst>
                <a:path w="385" h="193">
                  <a:moveTo>
                    <a:pt x="0" y="192"/>
                  </a:moveTo>
                  <a:lnTo>
                    <a:pt x="48" y="96"/>
                  </a:lnTo>
                  <a:lnTo>
                    <a:pt x="384" y="0"/>
                  </a:lnTo>
                </a:path>
              </a:pathLst>
            </a:custGeom>
            <a:noFill/>
            <a:ln w="508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0AEDBFFC-2F70-EE7C-B23E-1CA4F60DDC77}"/>
              </a:ext>
            </a:extLst>
          </p:cNvPr>
          <p:cNvSpPr>
            <a:spLocks noGrp="1"/>
          </p:cNvSpPr>
          <p:nvPr>
            <p:ph type="sldNum" sz="quarter" idx="10"/>
          </p:nvPr>
        </p:nvSpPr>
        <p:spPr/>
        <p:txBody>
          <a:bodyPr/>
          <a:lstStyle/>
          <a:p>
            <a:fld id="{8AD9CD99-F4B0-478A-A37C-6C89EFA4C990}" type="slidenum">
              <a:rPr lang="en-US" altLang="ja-JP"/>
              <a:pPr/>
              <a:t>10</a:t>
            </a:fld>
            <a:endParaRPr lang="en-US" altLang="ja-JP"/>
          </a:p>
        </p:txBody>
      </p:sp>
      <p:sp>
        <p:nvSpPr>
          <p:cNvPr id="410644" name="Rectangle 20">
            <a:extLst>
              <a:ext uri="{FF2B5EF4-FFF2-40B4-BE49-F238E27FC236}">
                <a16:creationId xmlns:a16="http://schemas.microsoft.com/office/drawing/2014/main" id="{F4EB0D99-9C45-3D4C-679F-FF7D799872D6}"/>
              </a:ext>
            </a:extLst>
          </p:cNvPr>
          <p:cNvSpPr>
            <a:spLocks noChangeArrowheads="1"/>
          </p:cNvSpPr>
          <p:nvPr/>
        </p:nvSpPr>
        <p:spPr bwMode="auto">
          <a:xfrm>
            <a:off x="344488" y="2127250"/>
            <a:ext cx="9091612" cy="4130675"/>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26" name="Rectangle 2">
            <a:extLst>
              <a:ext uri="{FF2B5EF4-FFF2-40B4-BE49-F238E27FC236}">
                <a16:creationId xmlns:a16="http://schemas.microsoft.com/office/drawing/2014/main" id="{30A45C1E-470F-3D27-7517-1FA3A36ED0FA}"/>
              </a:ext>
            </a:extLst>
          </p:cNvPr>
          <p:cNvSpPr>
            <a:spLocks noGrp="1" noChangeArrowheads="1"/>
          </p:cNvSpPr>
          <p:nvPr>
            <p:ph type="title"/>
          </p:nvPr>
        </p:nvSpPr>
        <p:spPr>
          <a:xfrm>
            <a:off x="355600" y="284956"/>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(2)</a:t>
            </a:r>
          </a:p>
        </p:txBody>
      </p:sp>
      <p:sp>
        <p:nvSpPr>
          <p:cNvPr id="410627" name="Rectangle 3">
            <a:extLst>
              <a:ext uri="{FF2B5EF4-FFF2-40B4-BE49-F238E27FC236}">
                <a16:creationId xmlns:a16="http://schemas.microsoft.com/office/drawing/2014/main" id="{808FBBA6-99D7-C691-1231-C9E234AEEE4F}"/>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10630" name="Rectangle 6">
            <a:extLst>
              <a:ext uri="{FF2B5EF4-FFF2-40B4-BE49-F238E27FC236}">
                <a16:creationId xmlns:a16="http://schemas.microsoft.com/office/drawing/2014/main" id="{DCE07477-D132-3181-70E6-3930FE3F7F9F}"/>
              </a:ext>
            </a:extLst>
          </p:cNvPr>
          <p:cNvSpPr>
            <a:spLocks noChangeArrowheads="1"/>
          </p:cNvSpPr>
          <p:nvPr/>
        </p:nvSpPr>
        <p:spPr bwMode="auto">
          <a:xfrm>
            <a:off x="344488" y="71755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Giấu thông tin</a:t>
            </a: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10631" name="Rectangle 7">
            <a:extLst>
              <a:ext uri="{FF2B5EF4-FFF2-40B4-BE49-F238E27FC236}">
                <a16:creationId xmlns:a16="http://schemas.microsoft.com/office/drawing/2014/main" id="{F19F0CC8-1D37-8702-FF06-32DC5A1A2021}"/>
              </a:ext>
            </a:extLst>
          </p:cNvPr>
          <p:cNvSpPr>
            <a:spLocks noChangeArrowheads="1"/>
          </p:cNvSpPr>
          <p:nvPr/>
        </p:nvSpPr>
        <p:spPr bwMode="auto">
          <a:xfrm>
            <a:off x="355600" y="1260475"/>
            <a:ext cx="9099550" cy="5810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700">
                <a:latin typeface="Arial" panose="020B0604020202020204" pitchFamily="34" charset="0"/>
              </a:rPr>
              <a:t>Là việc giấu từ bên ngoài những thông tin chi tiết của đối tượng (cấu tạo và trạng thái bên trong) .</a:t>
            </a:r>
          </a:p>
        </p:txBody>
      </p:sp>
      <p:sp>
        <p:nvSpPr>
          <p:cNvPr id="410637" name="AutoShape 13">
            <a:extLst>
              <a:ext uri="{FF2B5EF4-FFF2-40B4-BE49-F238E27FC236}">
                <a16:creationId xmlns:a16="http://schemas.microsoft.com/office/drawing/2014/main" id="{AB145755-0227-7DDD-18A7-A5F0819C9C96}"/>
              </a:ext>
            </a:extLst>
          </p:cNvPr>
          <p:cNvSpPr>
            <a:spLocks noChangeArrowheads="1"/>
          </p:cNvSpPr>
          <p:nvPr/>
        </p:nvSpPr>
        <p:spPr bwMode="auto">
          <a:xfrm>
            <a:off x="4864100" y="3079750"/>
            <a:ext cx="4313238" cy="2476500"/>
          </a:xfrm>
          <a:prstGeom prst="wedgeRoundRectCallout">
            <a:avLst>
              <a:gd name="adj1" fmla="val -70870"/>
              <a:gd name="adj2" fmla="val 333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18000" anchor="ctr"/>
          <a:lstStyle/>
          <a:p>
            <a:r>
              <a:rPr lang="en-US" altLang="ja-JP"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Giấu</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thông</a:t>
            </a:r>
            <a:r>
              <a:rPr lang="en-US" altLang="ja-JP" sz="1600" b="0" dirty="0">
                <a:latin typeface="+mj-lt"/>
                <a:cs typeface="Times New Roman" panose="02020603050405020304" pitchFamily="18" charset="0"/>
              </a:rPr>
              <a:t> tin </a:t>
            </a:r>
            <a:r>
              <a:rPr lang="en-US" altLang="ja-JP" sz="1600" b="0" dirty="0" err="1">
                <a:latin typeface="+mj-lt"/>
                <a:cs typeface="Times New Roman" panose="02020603050405020304" pitchFamily="18" charset="0"/>
              </a:rPr>
              <a:t>và</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thao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tác</a:t>
            </a:r>
            <a:r>
              <a:rPr lang="en-US" altLang="ja-JP"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endParaRPr lang="en-US" altLang="ja-JP" sz="1600" b="0" dirty="0">
              <a:latin typeface="+mj-lt"/>
              <a:cs typeface="Times New Roman" panose="02020603050405020304" pitchFamily="18" charset="0"/>
            </a:endParaRPr>
          </a:p>
          <a:p>
            <a:endParaRPr lang="en-US" altLang="ja-JP"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Không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endParaRPr lang="en-US" altLang="ja-JP"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thể</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sử</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dụng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trực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tiếp</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từ</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r>
              <a:rPr lang="ja-JP" altLang="en-US" sz="1600" b="0" dirty="0">
                <a:latin typeface="+mj-lt"/>
                <a:cs typeface="Times New Roman" panose="02020603050405020304" pitchFamily="18" charset="0"/>
              </a:rPr>
              <a:t>）</a:t>
            </a:r>
          </a:p>
          <a:p>
            <a:endParaRPr lang="ja-JP" altLang="en-US" sz="1600" b="0" dirty="0">
              <a:latin typeface="+mj-lt"/>
              <a:cs typeface="Times New Roman" panose="02020603050405020304" pitchFamily="18" charset="0"/>
            </a:endParaRPr>
          </a:p>
          <a:p>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Thao </a:t>
            </a:r>
            <a:r>
              <a:rPr lang="en-US" altLang="ja-JP" sz="1600" b="0" dirty="0" err="1">
                <a:latin typeface="+mj-lt"/>
                <a:cs typeface="Times New Roman" panose="02020603050405020304" pitchFamily="18" charset="0"/>
              </a:rPr>
              <a:t>tác</a:t>
            </a:r>
            <a:r>
              <a:rPr lang="ja-JP" altLang="en-US" sz="1600" b="0" dirty="0">
                <a:latin typeface="+mj-lt"/>
                <a:cs typeface="Times New Roman" panose="02020603050405020304" pitchFamily="18" charset="0"/>
              </a:rPr>
              <a:t>」：</a:t>
            </a:r>
            <a:r>
              <a:rPr lang="en-US" altLang="ja-JP" sz="1600" b="0" dirty="0">
                <a:latin typeface="+mj-lt"/>
                <a:cs typeface="Times New Roman" panose="02020603050405020304" pitchFamily="18" charset="0"/>
              </a:rPr>
              <a:t>Công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endParaRPr lang="en-US" altLang="ja-JP" sz="1600" b="0" dirty="0">
              <a:latin typeface="+mj-lt"/>
              <a:cs typeface="Times New Roman" panose="02020603050405020304" pitchFamily="18" charset="0"/>
            </a:endParaRPr>
          </a:p>
          <a:p>
            <a:r>
              <a:rPr lang="ja-JP" altLang="en-US" sz="900" b="0" dirty="0">
                <a:latin typeface="+mj-lt"/>
                <a:cs typeface="Times New Roman" panose="02020603050405020304" pitchFamily="18" charset="0"/>
              </a:rPr>
              <a:t>　</a:t>
            </a:r>
            <a:r>
              <a:rPr lang="ja-JP" altLang="en-US" sz="1600" b="0" dirty="0">
                <a:latin typeface="+mj-lt"/>
                <a:cs typeface="Times New Roman" panose="02020603050405020304" pitchFamily="18" charset="0"/>
              </a:rPr>
              <a:t>（</a:t>
            </a:r>
            <a:r>
              <a:rPr lang="en-US" altLang="ja-JP" sz="1600" b="0" dirty="0" err="1">
                <a:latin typeface="+mj-lt"/>
                <a:cs typeface="Times New Roman" panose="02020603050405020304" pitchFamily="18" charset="0"/>
              </a:rPr>
              <a:t>Tạo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thao</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tác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để</a:t>
            </a:r>
            <a:r>
              <a:rPr lang="en-US" altLang="ja-JP" sz="1600" b="0" dirty="0">
                <a:latin typeface="+mj-lt"/>
                <a:cs typeface="Times New Roman" panose="02020603050405020304" pitchFamily="18" charset="0"/>
              </a:rPr>
              <a:t> get/set </a:t>
            </a:r>
            <a:r>
              <a:rPr lang="en-US" altLang="ja-JP" sz="1600" b="0" dirty="0" err="1">
                <a:latin typeface="+mj-lt"/>
                <a:cs typeface="Times New Roman" panose="02020603050405020304" pitchFamily="18" charset="0"/>
              </a:rPr>
              <a:t>giá</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trị</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thuộc</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tính</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công</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khai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ra</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bên</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ngoài</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nếu</a:t>
            </a:r>
            <a:r>
              <a:rPr lang="en-US" altLang="ja-JP" sz="1600" b="0" dirty="0">
                <a:latin typeface="+mj-lt"/>
                <a:cs typeface="Times New Roman" panose="02020603050405020304" pitchFamily="18" charset="0"/>
              </a:rPr>
              <a:t> </a:t>
            </a:r>
            <a:r>
              <a:rPr lang="en-US" altLang="ja-JP" sz="1600" b="0" dirty="0" err="1">
                <a:latin typeface="+mj-lt"/>
                <a:cs typeface="Times New Roman" panose="02020603050405020304" pitchFamily="18" charset="0"/>
              </a:rPr>
              <a:t>cần</a:t>
            </a:r>
            <a:r>
              <a:rPr lang="ja-JP" altLang="en-US" sz="1600" b="0" dirty="0">
                <a:latin typeface="+mj-lt"/>
                <a:cs typeface="Times New Roman" panose="02020603050405020304" pitchFamily="18" charset="0"/>
              </a:rPr>
              <a:t>）</a:t>
            </a:r>
          </a:p>
        </p:txBody>
      </p:sp>
      <p:sp>
        <p:nvSpPr>
          <p:cNvPr id="410645" name="Rectangle 21">
            <a:extLst>
              <a:ext uri="{FF2B5EF4-FFF2-40B4-BE49-F238E27FC236}">
                <a16:creationId xmlns:a16="http://schemas.microsoft.com/office/drawing/2014/main" id="{DC091EFD-C64A-C2AA-AFF6-520A3FFBB74A}"/>
              </a:ext>
            </a:extLst>
          </p:cNvPr>
          <p:cNvSpPr>
            <a:spLocks noChangeArrowheads="1"/>
          </p:cNvSpPr>
          <p:nvPr/>
        </p:nvSpPr>
        <p:spPr bwMode="auto">
          <a:xfrm>
            <a:off x="1212850" y="2468563"/>
            <a:ext cx="2246313" cy="4007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eaLnBrk="0" hangingPunct="0"/>
            <a:r>
              <a:rPr lang="en-US" altLang="ja-JP" sz="2000" dirty="0">
                <a:latin typeface="+mj-lt"/>
              </a:rPr>
              <a:t>【Class </a:t>
            </a:r>
            <a:r>
              <a:rPr lang="en-US" altLang="ja-JP" sz="2000" dirty="0" err="1">
                <a:latin typeface="+mj-lt"/>
              </a:rPr>
              <a:t>người</a:t>
            </a:r>
            <a:r>
              <a:rPr lang="en-US" altLang="ja-JP" sz="2000" dirty="0">
                <a:latin typeface="+mj-lt"/>
              </a:rPr>
              <a:t>】</a:t>
            </a:r>
          </a:p>
        </p:txBody>
      </p:sp>
      <p:grpSp>
        <p:nvGrpSpPr>
          <p:cNvPr id="410646" name="Group 22">
            <a:extLst>
              <a:ext uri="{FF2B5EF4-FFF2-40B4-BE49-F238E27FC236}">
                <a16:creationId xmlns:a16="http://schemas.microsoft.com/office/drawing/2014/main" id="{22135AD0-DF71-6E57-4F34-29A7B785E093}"/>
              </a:ext>
            </a:extLst>
          </p:cNvPr>
          <p:cNvGrpSpPr>
            <a:grpSpLocks/>
          </p:cNvGrpSpPr>
          <p:nvPr/>
        </p:nvGrpSpPr>
        <p:grpSpPr bwMode="auto">
          <a:xfrm>
            <a:off x="838200" y="3130550"/>
            <a:ext cx="2874963" cy="2409825"/>
            <a:chOff x="640" y="4949"/>
            <a:chExt cx="859" cy="879"/>
          </a:xfrm>
        </p:grpSpPr>
        <p:sp>
          <p:nvSpPr>
            <p:cNvPr id="410647" name="Rectangle 23">
              <a:extLst>
                <a:ext uri="{FF2B5EF4-FFF2-40B4-BE49-F238E27FC236}">
                  <a16:creationId xmlns:a16="http://schemas.microsoft.com/office/drawing/2014/main" id="{FD0B2AF3-D6D3-1535-AD11-B1F2DC774141}"/>
                </a:ext>
              </a:extLst>
            </p:cNvPr>
            <p:cNvSpPr>
              <a:spLocks noChangeArrowheads="1"/>
            </p:cNvSpPr>
            <p:nvPr/>
          </p:nvSpPr>
          <p:spPr bwMode="auto">
            <a:xfrm>
              <a:off x="640" y="4949"/>
              <a:ext cx="859" cy="164"/>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Người</a:t>
              </a:r>
            </a:p>
          </p:txBody>
        </p:sp>
        <p:sp>
          <p:nvSpPr>
            <p:cNvPr id="410648" name="Rectangle 24">
              <a:extLst>
                <a:ext uri="{FF2B5EF4-FFF2-40B4-BE49-F238E27FC236}">
                  <a16:creationId xmlns:a16="http://schemas.microsoft.com/office/drawing/2014/main" id="{7AB04A0B-03D6-4A15-D1FE-BD3CFC9F22DC}"/>
                </a:ext>
              </a:extLst>
            </p:cNvPr>
            <p:cNvSpPr>
              <a:spLocks noChangeArrowheads="1"/>
            </p:cNvSpPr>
            <p:nvPr/>
          </p:nvSpPr>
          <p:spPr bwMode="auto">
            <a:xfrm>
              <a:off x="640" y="5113"/>
              <a:ext cx="859" cy="306"/>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Tên</a:t>
              </a:r>
              <a:endParaRPr lang="en-US" altLang="ja-JP" sz="1800" b="0" dirty="0">
                <a:latin typeface="+mj-lt"/>
              </a:endParaRPr>
            </a:p>
            <a:p>
              <a:r>
                <a:rPr lang="en-US" altLang="ja-JP" sz="1800" b="0" dirty="0" err="1">
                  <a:latin typeface="+mj-lt"/>
                </a:rPr>
                <a:t>Tuổi</a:t>
              </a:r>
              <a:endParaRPr lang="en-US" altLang="ja-JP" sz="1800" b="0" dirty="0">
                <a:latin typeface="+mj-lt"/>
              </a:endParaRPr>
            </a:p>
          </p:txBody>
        </p:sp>
        <p:sp>
          <p:nvSpPr>
            <p:cNvPr id="410649" name="Rectangle 25">
              <a:extLst>
                <a:ext uri="{FF2B5EF4-FFF2-40B4-BE49-F238E27FC236}">
                  <a16:creationId xmlns:a16="http://schemas.microsoft.com/office/drawing/2014/main" id="{40ECCB98-4A16-DF4A-D8DC-713B7945B7A6}"/>
                </a:ext>
              </a:extLst>
            </p:cNvPr>
            <p:cNvSpPr>
              <a:spLocks noChangeArrowheads="1"/>
            </p:cNvSpPr>
            <p:nvPr/>
          </p:nvSpPr>
          <p:spPr bwMode="auto">
            <a:xfrm>
              <a:off x="640" y="5421"/>
              <a:ext cx="859" cy="40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ja-JP" sz="1800" b="0" dirty="0" err="1">
                  <a:latin typeface="+mj-lt"/>
                </a:rPr>
                <a:t>Lấy</a:t>
              </a:r>
              <a:r>
                <a:rPr lang="en-US" altLang="ja-JP" sz="1800" b="0" dirty="0">
                  <a:latin typeface="+mj-lt"/>
                </a:rPr>
                <a:t> </a:t>
              </a:r>
              <a:r>
                <a:rPr lang="en-US" altLang="ja-JP" sz="1800" b="0" dirty="0" err="1">
                  <a:latin typeface="+mj-lt"/>
                </a:rPr>
                <a:t>tên</a:t>
              </a:r>
              <a:endParaRPr lang="en-US" altLang="ja-JP" sz="1800" b="0" dirty="0">
                <a:latin typeface="+mj-lt"/>
              </a:endParaRPr>
            </a:p>
            <a:p>
              <a:r>
                <a:rPr lang="en-US" altLang="ja-JP" sz="1800" b="0" dirty="0" err="1">
                  <a:latin typeface="+mj-lt"/>
                </a:rPr>
                <a:t>Lấy</a:t>
              </a:r>
              <a:r>
                <a:rPr lang="en-US" altLang="ja-JP" sz="1800" b="0" dirty="0">
                  <a:latin typeface="+mj-lt"/>
                </a:rPr>
                <a:t> </a:t>
              </a:r>
              <a:r>
                <a:rPr lang="en-US" altLang="ja-JP" sz="1800" b="0" dirty="0" err="1">
                  <a:latin typeface="+mj-lt"/>
                </a:rPr>
                <a:t>tuổi</a:t>
              </a:r>
              <a:endParaRPr lang="en-US" altLang="ja-JP" sz="1800" b="0" dirty="0">
                <a:latin typeface="+mj-lt"/>
              </a:endParaRPr>
            </a:p>
            <a:p>
              <a:r>
                <a:rPr lang="en-US" altLang="ja-JP" sz="1800" b="0" dirty="0">
                  <a:latin typeface="+mj-lt"/>
                </a:rPr>
                <a:t>Set </a:t>
              </a:r>
              <a:r>
                <a:rPr lang="en-US" altLang="ja-JP" sz="1800" b="0" dirty="0" err="1">
                  <a:latin typeface="+mj-lt"/>
                </a:rPr>
                <a:t>tuổi</a:t>
              </a:r>
              <a:endParaRPr lang="en-US" altLang="ja-JP" sz="1800" b="0" dirty="0">
                <a:latin typeface="+mj-lt"/>
              </a:endParaRPr>
            </a:p>
          </p:txBody>
        </p:sp>
      </p:grpSp>
      <p:sp>
        <p:nvSpPr>
          <p:cNvPr id="410639" name="AutoShape 15">
            <a:extLst>
              <a:ext uri="{FF2B5EF4-FFF2-40B4-BE49-F238E27FC236}">
                <a16:creationId xmlns:a16="http://schemas.microsoft.com/office/drawing/2014/main" id="{D7492F72-0FBA-1CB9-1490-EC8BCEBD847F}"/>
              </a:ext>
            </a:extLst>
          </p:cNvPr>
          <p:cNvSpPr>
            <a:spLocks/>
          </p:cNvSpPr>
          <p:nvPr/>
        </p:nvSpPr>
        <p:spPr bwMode="auto">
          <a:xfrm>
            <a:off x="1579563" y="3789363"/>
            <a:ext cx="76200" cy="455612"/>
          </a:xfrm>
          <a:prstGeom prst="rightBrace">
            <a:avLst>
              <a:gd name="adj1" fmla="val 49826"/>
              <a:gd name="adj2" fmla="val 50000"/>
            </a:avLst>
          </a:prstGeom>
          <a:solidFill>
            <a:srgbClr val="FFFFCC">
              <a:alpha val="50000"/>
            </a:srgbClr>
          </a:solidFill>
          <a:ln w="19050">
            <a:solidFill>
              <a:srgbClr val="0033CC"/>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40" name="Text Box 16">
            <a:extLst>
              <a:ext uri="{FF2B5EF4-FFF2-40B4-BE49-F238E27FC236}">
                <a16:creationId xmlns:a16="http://schemas.microsoft.com/office/drawing/2014/main" id="{2DC961E7-AE8E-9958-E2B9-1C322C3B2C9F}"/>
              </a:ext>
            </a:extLst>
          </p:cNvPr>
          <p:cNvSpPr txBox="1">
            <a:spLocks noChangeArrowheads="1"/>
          </p:cNvSpPr>
          <p:nvPr/>
        </p:nvSpPr>
        <p:spPr bwMode="auto">
          <a:xfrm>
            <a:off x="1890713" y="3819525"/>
            <a:ext cx="982662" cy="5175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solidFill>
                  <a:srgbClr val="0033CC"/>
                </a:solidFill>
                <a:latin typeface="Times New Roman" panose="02020603050405020304" pitchFamily="18" charset="0"/>
              </a:rPr>
              <a:t>Không công khai</a:t>
            </a:r>
          </a:p>
        </p:txBody>
      </p:sp>
      <p:sp>
        <p:nvSpPr>
          <p:cNvPr id="410641" name="AutoShape 17">
            <a:extLst>
              <a:ext uri="{FF2B5EF4-FFF2-40B4-BE49-F238E27FC236}">
                <a16:creationId xmlns:a16="http://schemas.microsoft.com/office/drawing/2014/main" id="{FD245707-3DF3-7FB5-5758-B013B0FCC7F1}"/>
              </a:ext>
            </a:extLst>
          </p:cNvPr>
          <p:cNvSpPr>
            <a:spLocks/>
          </p:cNvSpPr>
          <p:nvPr/>
        </p:nvSpPr>
        <p:spPr bwMode="auto">
          <a:xfrm>
            <a:off x="2601913" y="4576763"/>
            <a:ext cx="76200" cy="862012"/>
          </a:xfrm>
          <a:prstGeom prst="rightBrace">
            <a:avLst>
              <a:gd name="adj1" fmla="val 94271"/>
              <a:gd name="adj2" fmla="val 50000"/>
            </a:avLst>
          </a:prstGeom>
          <a:solidFill>
            <a:srgbClr val="FFFFCC">
              <a:alpha val="50000"/>
            </a:srgbClr>
          </a:solidFill>
          <a:ln w="19050">
            <a:solidFill>
              <a:srgbClr val="0033CC"/>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10642" name="Text Box 18">
            <a:extLst>
              <a:ext uri="{FF2B5EF4-FFF2-40B4-BE49-F238E27FC236}">
                <a16:creationId xmlns:a16="http://schemas.microsoft.com/office/drawing/2014/main" id="{A8CC1FF9-E3FF-DCCA-2A17-52AAE4C6DE3C}"/>
              </a:ext>
            </a:extLst>
          </p:cNvPr>
          <p:cNvSpPr txBox="1">
            <a:spLocks noChangeArrowheads="1"/>
          </p:cNvSpPr>
          <p:nvPr/>
        </p:nvSpPr>
        <p:spPr bwMode="auto">
          <a:xfrm>
            <a:off x="2833688" y="4835525"/>
            <a:ext cx="982662" cy="5175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ja-JP" sz="1400">
                <a:solidFill>
                  <a:srgbClr val="0033CC"/>
                </a:solidFill>
                <a:latin typeface="Times New Roman" panose="02020603050405020304" pitchFamily="18" charset="0"/>
              </a:rPr>
              <a:t>Không công khai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7F55728-88F9-5A7A-A125-86826D96783E}"/>
              </a:ext>
            </a:extLst>
          </p:cNvPr>
          <p:cNvSpPr>
            <a:spLocks noGrp="1"/>
          </p:cNvSpPr>
          <p:nvPr>
            <p:ph type="sldNum" sz="quarter" idx="10"/>
          </p:nvPr>
        </p:nvSpPr>
        <p:spPr/>
        <p:txBody>
          <a:bodyPr/>
          <a:lstStyle/>
          <a:p>
            <a:fld id="{48F65225-CB2F-43E2-8D9D-D9878629FE5C}" type="slidenum">
              <a:rPr lang="en-US" altLang="ja-JP"/>
              <a:pPr/>
              <a:t>11</a:t>
            </a:fld>
            <a:endParaRPr lang="en-US" altLang="ja-JP"/>
          </a:p>
        </p:txBody>
      </p:sp>
      <p:sp>
        <p:nvSpPr>
          <p:cNvPr id="436226" name="Rectangle 2">
            <a:extLst>
              <a:ext uri="{FF2B5EF4-FFF2-40B4-BE49-F238E27FC236}">
                <a16:creationId xmlns:a16="http://schemas.microsoft.com/office/drawing/2014/main" id="{0067637E-B0F9-0C3E-B69A-5D141E1CD439}"/>
              </a:ext>
            </a:extLst>
          </p:cNvPr>
          <p:cNvSpPr>
            <a:spLocks noChangeArrowheads="1"/>
          </p:cNvSpPr>
          <p:nvPr/>
        </p:nvSpPr>
        <p:spPr bwMode="auto">
          <a:xfrm>
            <a:off x="344488" y="2019300"/>
            <a:ext cx="9091612" cy="4335463"/>
          </a:xfrm>
          <a:prstGeom prst="rect">
            <a:avLst/>
          </a:prstGeom>
          <a:solidFill>
            <a:srgbClr val="DDDDDD">
              <a:alpha val="25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27" name="Rectangle 3">
            <a:extLst>
              <a:ext uri="{FF2B5EF4-FFF2-40B4-BE49-F238E27FC236}">
                <a16:creationId xmlns:a16="http://schemas.microsoft.com/office/drawing/2014/main" id="{C0CAFDBB-8E3D-95A6-B631-1CF7EB823621}"/>
              </a:ext>
            </a:extLst>
          </p:cNvPr>
          <p:cNvSpPr>
            <a:spLocks noGrp="1" noChangeArrowheads="1"/>
          </p:cNvSpPr>
          <p:nvPr>
            <p:ph type="title"/>
          </p:nvPr>
        </p:nvSpPr>
        <p:spPr>
          <a:xfrm>
            <a:off x="344488" y="306389"/>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Đóng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gói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giấu</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thông</a:t>
            </a:r>
            <a:r>
              <a:rPr lang="en-US" altLang="ja-JP" dirty="0">
                <a:latin typeface="Arial" panose="020B0604020202020204" pitchFamily="34" charset="0"/>
                <a:ea typeface="MS UI Gothic" panose="020B0600070205080204" pitchFamily="50" charset="-128"/>
              </a:rPr>
              <a:t> tin, </a:t>
            </a:r>
            <a:r>
              <a:rPr lang="en-US" altLang="ja-JP" dirty="0" err="1">
                <a:latin typeface="Arial" panose="020B0604020202020204" pitchFamily="34" charset="0"/>
                <a:ea typeface="MS UI Gothic" panose="020B0600070205080204" pitchFamily="50" charset="-128"/>
              </a:rPr>
              <a:t>gửi</a:t>
            </a:r>
            <a:r>
              <a:rPr lang="en-US" altLang="ja-JP" dirty="0">
                <a:latin typeface="Arial" panose="020B0604020202020204" pitchFamily="34" charset="0"/>
                <a:ea typeface="MS UI Gothic" panose="020B0600070205080204" pitchFamily="50" charset="-128"/>
              </a:rPr>
              <a:t> message (3)</a:t>
            </a:r>
          </a:p>
        </p:txBody>
      </p:sp>
      <p:sp>
        <p:nvSpPr>
          <p:cNvPr id="436228" name="Rectangle 4">
            <a:extLst>
              <a:ext uri="{FF2B5EF4-FFF2-40B4-BE49-F238E27FC236}">
                <a16:creationId xmlns:a16="http://schemas.microsoft.com/office/drawing/2014/main" id="{37928D10-FF32-412E-A431-B6EFD9A9584F}"/>
              </a:ext>
            </a:extLst>
          </p:cNvPr>
          <p:cNvSpPr>
            <a:spLocks noChangeArrowheads="1"/>
          </p:cNvSpPr>
          <p:nvPr/>
        </p:nvSpPr>
        <p:spPr bwMode="auto">
          <a:xfrm>
            <a:off x="344488" y="7715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Gửi message</a:t>
            </a:r>
          </a:p>
          <a:p>
            <a:endParaRPr lang="en-US" altLang="ja-JP" sz="2400" b="0">
              <a:latin typeface="Arial" panose="020B0604020202020204" pitchFamily="34" charset="0"/>
            </a:endParaRPr>
          </a:p>
          <a:p>
            <a:pPr lvl="1"/>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436229" name="Rectangle 5">
            <a:extLst>
              <a:ext uri="{FF2B5EF4-FFF2-40B4-BE49-F238E27FC236}">
                <a16:creationId xmlns:a16="http://schemas.microsoft.com/office/drawing/2014/main" id="{F3DB4359-5400-5EA6-2C3C-A3925E88800F}"/>
              </a:ext>
            </a:extLst>
          </p:cNvPr>
          <p:cNvSpPr>
            <a:spLocks noChangeArrowheads="1"/>
          </p:cNvSpPr>
          <p:nvPr/>
        </p:nvSpPr>
        <p:spPr bwMode="auto">
          <a:xfrm>
            <a:off x="344488" y="1300163"/>
            <a:ext cx="9120187" cy="4603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8255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Là việc yêu cầu xử lý (thực hiện thao tác) cho đối tượng</a:t>
            </a:r>
          </a:p>
        </p:txBody>
      </p:sp>
      <p:sp>
        <p:nvSpPr>
          <p:cNvPr id="436230" name="AutoShape 6">
            <a:extLst>
              <a:ext uri="{FF2B5EF4-FFF2-40B4-BE49-F238E27FC236}">
                <a16:creationId xmlns:a16="http://schemas.microsoft.com/office/drawing/2014/main" id="{ABA41C16-CD26-BD33-340B-152564B72378}"/>
              </a:ext>
            </a:extLst>
          </p:cNvPr>
          <p:cNvSpPr>
            <a:spLocks noChangeArrowheads="1"/>
          </p:cNvSpPr>
          <p:nvPr/>
        </p:nvSpPr>
        <p:spPr bwMode="auto">
          <a:xfrm>
            <a:off x="682625" y="1908175"/>
            <a:ext cx="7885113" cy="720725"/>
          </a:xfrm>
          <a:prstGeom prst="wedgeRoundRectCallout">
            <a:avLst>
              <a:gd name="adj1" fmla="val -29685"/>
              <a:gd name="adj2" fmla="val 75773"/>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err="1">
                <a:latin typeface="+mj-lt"/>
                <a:cs typeface="Times New Roman" panose="02020603050405020304" pitchFamily="18" charset="0"/>
              </a:rPr>
              <a:t>Ví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yêu</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cầu</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gửi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message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Hãy</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biết</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tên</a:t>
            </a:r>
            <a:r>
              <a:rPr lang="ja-JP" altLang="en-US" sz="1800" b="0" dirty="0">
                <a:latin typeface="+mj-lt"/>
                <a:cs typeface="Times New Roman" panose="02020603050405020304" pitchFamily="18" charset="0"/>
              </a:rPr>
              <a:t>」</a:t>
            </a:r>
            <a:r>
              <a:rPr lang="en-US" altLang="ja-JP" sz="1800" b="0" dirty="0">
                <a:latin typeface="+mj-lt"/>
                <a:cs typeface="Times New Roman" panose="02020603050405020304" pitchFamily="18" charset="0"/>
              </a:rPr>
              <a:t>, </a:t>
            </a:r>
            <a:r>
              <a:rPr lang="ja-JP" altLang="en-US" sz="1800" b="0" dirty="0">
                <a:latin typeface="+mj-lt"/>
                <a:cs typeface="Times New Roman" panose="02020603050405020304" pitchFamily="18" charset="0"/>
              </a:rPr>
              <a:t>「</a:t>
            </a:r>
            <a:r>
              <a:rPr lang="en-US" altLang="ja-JP" sz="1800" b="0" dirty="0" err="1">
                <a:latin typeface="+mj-lt"/>
                <a:cs typeface="Times New Roman" panose="02020603050405020304" pitchFamily="18" charset="0"/>
              </a:rPr>
              <a:t>Hãy</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biết</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tuổi</a:t>
            </a:r>
            <a:r>
              <a:rPr lang="ja-JP" altLang="en-US"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cho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Mr</a:t>
            </a:r>
            <a:r>
              <a:rPr lang="en-US" altLang="ja-JP" sz="1800" b="0" dirty="0">
                <a:latin typeface="+mj-lt"/>
                <a:cs typeface="Times New Roman" panose="02020603050405020304" pitchFamily="18" charset="0"/>
              </a:rPr>
              <a:t> Yamada </a:t>
            </a:r>
            <a:r>
              <a:rPr lang="en-US" altLang="ja-JP" sz="1800" b="0" dirty="0" err="1">
                <a:latin typeface="+mj-lt"/>
                <a:cs typeface="Times New Roman" panose="02020603050405020304" pitchFamily="18" charset="0"/>
              </a:rPr>
              <a:t>trong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các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thao</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tác</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của</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bản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thân</a:t>
            </a:r>
            <a:r>
              <a:rPr lang="en-US" altLang="ja-JP" sz="1800" b="0" dirty="0">
                <a:latin typeface="+mj-lt"/>
                <a:cs typeface="Times New Roman" panose="02020603050405020304" pitchFamily="18" charset="0"/>
              </a:rPr>
              <a:t>. </a:t>
            </a:r>
          </a:p>
        </p:txBody>
      </p:sp>
      <p:cxnSp>
        <p:nvCxnSpPr>
          <p:cNvPr id="436231" name="AutoShape 7">
            <a:extLst>
              <a:ext uri="{FF2B5EF4-FFF2-40B4-BE49-F238E27FC236}">
                <a16:creationId xmlns:a16="http://schemas.microsoft.com/office/drawing/2014/main" id="{99728408-E235-B7F6-01CD-1CDF08AED392}"/>
              </a:ext>
            </a:extLst>
          </p:cNvPr>
          <p:cNvCxnSpPr>
            <a:cxnSpLocks noChangeShapeType="1"/>
          </p:cNvCxnSpPr>
          <p:nvPr/>
        </p:nvCxnSpPr>
        <p:spPr bwMode="auto">
          <a:xfrm rot="10800000" flipH="1">
            <a:off x="-2043113" y="2660650"/>
            <a:ext cx="3906838" cy="103188"/>
          </a:xfrm>
          <a:prstGeom prst="bentConnector5">
            <a:avLst>
              <a:gd name="adj1" fmla="val -5801"/>
              <a:gd name="adj2" fmla="val 495588"/>
              <a:gd name="adj3" fmla="val 105759"/>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miter lim="800000"/>
                <a:headEnd/>
                <a:tailEnd type="triangl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6232" name="AutoShape 8">
            <a:extLst>
              <a:ext uri="{FF2B5EF4-FFF2-40B4-BE49-F238E27FC236}">
                <a16:creationId xmlns:a16="http://schemas.microsoft.com/office/drawing/2014/main" id="{2FEFDBE7-1EA8-B241-F2A5-A9CB4CDB8A6D}"/>
              </a:ext>
            </a:extLst>
          </p:cNvPr>
          <p:cNvCxnSpPr>
            <a:cxnSpLocks noChangeShapeType="1"/>
          </p:cNvCxnSpPr>
          <p:nvPr/>
        </p:nvCxnSpPr>
        <p:spPr bwMode="auto">
          <a:xfrm rot="10800000" flipH="1" flipV="1">
            <a:off x="-2043113" y="2763838"/>
            <a:ext cx="3906838" cy="317500"/>
          </a:xfrm>
          <a:prstGeom prst="bentConnector5">
            <a:avLst>
              <a:gd name="adj1" fmla="val -5801"/>
              <a:gd name="adj2" fmla="val 229329"/>
              <a:gd name="adj3" fmla="val 105759"/>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miter lim="800000"/>
                <a:headEnd/>
                <a:tailEnd type="triangl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36234" name="Text Box 10">
            <a:extLst>
              <a:ext uri="{FF2B5EF4-FFF2-40B4-BE49-F238E27FC236}">
                <a16:creationId xmlns:a16="http://schemas.microsoft.com/office/drawing/2014/main" id="{889FC92A-E793-9257-B186-EDD63F47B645}"/>
              </a:ext>
            </a:extLst>
          </p:cNvPr>
          <p:cNvSpPr txBox="1">
            <a:spLocks noChangeArrowheads="1"/>
          </p:cNvSpPr>
          <p:nvPr/>
        </p:nvSpPr>
        <p:spPr bwMode="auto">
          <a:xfrm>
            <a:off x="3025775" y="3900488"/>
            <a:ext cx="2071688"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mj-lt"/>
              </a:rPr>
              <a:t>Hãy</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biết</a:t>
            </a:r>
            <a:r>
              <a:rPr lang="en-US" altLang="ja-JP" sz="1800" b="0" dirty="0">
                <a:latin typeface="+mj-lt"/>
              </a:rPr>
              <a:t> </a:t>
            </a:r>
            <a:r>
              <a:rPr lang="en-US" altLang="ja-JP" sz="1800" b="0" dirty="0" err="1">
                <a:latin typeface="+mj-lt"/>
              </a:rPr>
              <a:t>tên</a:t>
            </a:r>
            <a:endParaRPr lang="en-US" altLang="ja-JP" sz="1800" dirty="0">
              <a:latin typeface="+mj-lt"/>
            </a:endParaRPr>
          </a:p>
        </p:txBody>
      </p:sp>
      <p:sp>
        <p:nvSpPr>
          <p:cNvPr id="436235" name="Text Box 11">
            <a:extLst>
              <a:ext uri="{FF2B5EF4-FFF2-40B4-BE49-F238E27FC236}">
                <a16:creationId xmlns:a16="http://schemas.microsoft.com/office/drawing/2014/main" id="{1894EEBF-C0CD-5445-60A0-41E15C355BAA}"/>
              </a:ext>
            </a:extLst>
          </p:cNvPr>
          <p:cNvSpPr txBox="1">
            <a:spLocks noChangeArrowheads="1"/>
          </p:cNvSpPr>
          <p:nvPr/>
        </p:nvSpPr>
        <p:spPr bwMode="auto">
          <a:xfrm>
            <a:off x="3060700" y="5208588"/>
            <a:ext cx="2208213"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mj-lt"/>
              </a:rPr>
              <a:t>Hãy</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biết</a:t>
            </a:r>
            <a:r>
              <a:rPr lang="en-US" altLang="ja-JP" sz="1800" b="0" dirty="0">
                <a:latin typeface="+mj-lt"/>
              </a:rPr>
              <a:t> </a:t>
            </a:r>
            <a:r>
              <a:rPr lang="en-US" altLang="ja-JP" sz="1800" b="0" dirty="0" err="1">
                <a:latin typeface="+mj-lt"/>
              </a:rPr>
              <a:t>tuổi</a:t>
            </a:r>
            <a:endParaRPr lang="en-US" altLang="ja-JP" sz="1800" dirty="0">
              <a:latin typeface="+mj-lt"/>
            </a:endParaRPr>
          </a:p>
        </p:txBody>
      </p:sp>
      <p:sp>
        <p:nvSpPr>
          <p:cNvPr id="436237" name="Line 13">
            <a:extLst>
              <a:ext uri="{FF2B5EF4-FFF2-40B4-BE49-F238E27FC236}">
                <a16:creationId xmlns:a16="http://schemas.microsoft.com/office/drawing/2014/main" id="{A4D234A0-0867-B203-1D0D-F70C0E910530}"/>
              </a:ext>
            </a:extLst>
          </p:cNvPr>
          <p:cNvSpPr>
            <a:spLocks noChangeShapeType="1"/>
          </p:cNvSpPr>
          <p:nvPr/>
        </p:nvSpPr>
        <p:spPr bwMode="auto">
          <a:xfrm>
            <a:off x="2424113" y="3467100"/>
            <a:ext cx="3175" cy="27701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38" name="Line 14">
            <a:extLst>
              <a:ext uri="{FF2B5EF4-FFF2-40B4-BE49-F238E27FC236}">
                <a16:creationId xmlns:a16="http://schemas.microsoft.com/office/drawing/2014/main" id="{3E9DF41C-6BD2-442D-6BC0-AC919D59DA52}"/>
              </a:ext>
            </a:extLst>
          </p:cNvPr>
          <p:cNvSpPr>
            <a:spLocks noChangeShapeType="1"/>
          </p:cNvSpPr>
          <p:nvPr/>
        </p:nvSpPr>
        <p:spPr bwMode="auto">
          <a:xfrm>
            <a:off x="6275388" y="3476625"/>
            <a:ext cx="3175" cy="27717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39" name="Rectangle 15">
            <a:extLst>
              <a:ext uri="{FF2B5EF4-FFF2-40B4-BE49-F238E27FC236}">
                <a16:creationId xmlns:a16="http://schemas.microsoft.com/office/drawing/2014/main" id="{14F93DC3-7247-77F7-4075-4AF3B6487D7B}"/>
              </a:ext>
            </a:extLst>
          </p:cNvPr>
          <p:cNvSpPr>
            <a:spLocks noChangeArrowheads="1"/>
          </p:cNvSpPr>
          <p:nvPr/>
        </p:nvSpPr>
        <p:spPr bwMode="auto">
          <a:xfrm>
            <a:off x="2273300" y="4029075"/>
            <a:ext cx="285750" cy="197167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0" name="Line 16">
            <a:extLst>
              <a:ext uri="{FF2B5EF4-FFF2-40B4-BE49-F238E27FC236}">
                <a16:creationId xmlns:a16="http://schemas.microsoft.com/office/drawing/2014/main" id="{AAB772C0-0292-D192-1A09-2F9E04BCE38A}"/>
              </a:ext>
            </a:extLst>
          </p:cNvPr>
          <p:cNvSpPr>
            <a:spLocks noChangeShapeType="1"/>
          </p:cNvSpPr>
          <p:nvPr/>
        </p:nvSpPr>
        <p:spPr bwMode="auto">
          <a:xfrm>
            <a:off x="2549525" y="4295775"/>
            <a:ext cx="3603625" cy="0"/>
          </a:xfrm>
          <a:prstGeom prst="line">
            <a:avLst/>
          </a:prstGeom>
          <a:noFill/>
          <a:ln w="28575">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1" name="Rectangle 17">
            <a:extLst>
              <a:ext uri="{FF2B5EF4-FFF2-40B4-BE49-F238E27FC236}">
                <a16:creationId xmlns:a16="http://schemas.microsoft.com/office/drawing/2014/main" id="{F3FAABD8-0DD0-6DD9-B6AE-DEE542A75341}"/>
              </a:ext>
            </a:extLst>
          </p:cNvPr>
          <p:cNvSpPr>
            <a:spLocks noChangeArrowheads="1"/>
          </p:cNvSpPr>
          <p:nvPr/>
        </p:nvSpPr>
        <p:spPr bwMode="auto">
          <a:xfrm>
            <a:off x="6162675" y="4135438"/>
            <a:ext cx="268288" cy="555625"/>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2" name="Line 18">
            <a:extLst>
              <a:ext uri="{FF2B5EF4-FFF2-40B4-BE49-F238E27FC236}">
                <a16:creationId xmlns:a16="http://schemas.microsoft.com/office/drawing/2014/main" id="{B1EA68D8-D741-D3B7-F3D6-3CDDBD0F10E7}"/>
              </a:ext>
            </a:extLst>
          </p:cNvPr>
          <p:cNvSpPr>
            <a:spLocks noChangeShapeType="1"/>
          </p:cNvSpPr>
          <p:nvPr/>
        </p:nvSpPr>
        <p:spPr bwMode="auto">
          <a:xfrm>
            <a:off x="2549525" y="5545138"/>
            <a:ext cx="3548063" cy="11112"/>
          </a:xfrm>
          <a:prstGeom prst="line">
            <a:avLst/>
          </a:prstGeom>
          <a:noFill/>
          <a:ln w="28575">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3" name="Line 19">
            <a:extLst>
              <a:ext uri="{FF2B5EF4-FFF2-40B4-BE49-F238E27FC236}">
                <a16:creationId xmlns:a16="http://schemas.microsoft.com/office/drawing/2014/main" id="{203C632C-FA13-6FEA-22EF-1E02B0EB8159}"/>
              </a:ext>
            </a:extLst>
          </p:cNvPr>
          <p:cNvSpPr>
            <a:spLocks noChangeShapeType="1"/>
          </p:cNvSpPr>
          <p:nvPr/>
        </p:nvSpPr>
        <p:spPr bwMode="auto">
          <a:xfrm flipH="1">
            <a:off x="1908175" y="4438650"/>
            <a:ext cx="365125" cy="35083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4" name="AutoShape 20">
            <a:extLst>
              <a:ext uri="{FF2B5EF4-FFF2-40B4-BE49-F238E27FC236}">
                <a16:creationId xmlns:a16="http://schemas.microsoft.com/office/drawing/2014/main" id="{247ABE64-CCC4-2DCE-178F-3440925130AD}"/>
              </a:ext>
            </a:extLst>
          </p:cNvPr>
          <p:cNvSpPr>
            <a:spLocks noChangeArrowheads="1"/>
          </p:cNvSpPr>
          <p:nvPr/>
        </p:nvSpPr>
        <p:spPr bwMode="auto">
          <a:xfrm rot="16200000">
            <a:off x="590550" y="3786188"/>
            <a:ext cx="1123950" cy="1524000"/>
          </a:xfrm>
          <a:prstGeom prst="foldedCorner">
            <a:avLst>
              <a:gd name="adj" fmla="val 12500"/>
            </a:avLst>
          </a:prstGeom>
          <a:solidFill>
            <a:schemeClr val="bg1">
              <a:alpha val="50000"/>
            </a:schemeClr>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a:latin typeface="+mj-lt"/>
              </a:rPr>
              <a:t>Thao </a:t>
            </a:r>
            <a:r>
              <a:rPr lang="en-US" altLang="ja-JP" sz="1800" b="0" dirty="0" err="1">
                <a:latin typeface="+mj-lt"/>
              </a:rPr>
              <a:t>tác</a:t>
            </a:r>
            <a:r>
              <a:rPr lang="en-US" altLang="ja-JP" sz="1800" b="0" dirty="0">
                <a:latin typeface="+mj-lt"/>
              </a:rPr>
              <a:t> </a:t>
            </a:r>
            <a:r>
              <a:rPr lang="en-US" altLang="ja-JP" sz="1800" b="0" dirty="0" err="1">
                <a:latin typeface="+mj-lt"/>
              </a:rPr>
              <a:t>của</a:t>
            </a:r>
            <a:r>
              <a:rPr lang="en-US" altLang="ja-JP" sz="1800" b="0" dirty="0">
                <a:latin typeface="+mj-lt"/>
              </a:rPr>
              <a:t> </a:t>
            </a:r>
          </a:p>
          <a:p>
            <a:pPr algn="ctr"/>
            <a:r>
              <a:rPr lang="en-US" altLang="ja-JP" sz="1800" b="0" dirty="0" err="1">
                <a:latin typeface="+mj-lt"/>
              </a:rPr>
              <a:t>người</a:t>
            </a:r>
            <a:r>
              <a:rPr lang="en-US" altLang="ja-JP" sz="1800" b="0" dirty="0">
                <a:latin typeface="+mj-lt"/>
              </a:rPr>
              <a:t> </a:t>
            </a:r>
            <a:r>
              <a:rPr lang="en-US" altLang="ja-JP" sz="1800" b="0" dirty="0" err="1">
                <a:latin typeface="+mj-lt"/>
              </a:rPr>
              <a:t>yêu</a:t>
            </a:r>
            <a:r>
              <a:rPr lang="en-US" altLang="ja-JP" sz="1800" b="0" dirty="0">
                <a:latin typeface="+mj-lt"/>
              </a:rPr>
              <a:t> </a:t>
            </a:r>
            <a:r>
              <a:rPr lang="en-US" altLang="ja-JP" sz="1800" b="0" dirty="0" err="1">
                <a:latin typeface="+mj-lt"/>
              </a:rPr>
              <a:t>cầu</a:t>
            </a:r>
            <a:endParaRPr lang="en-US" altLang="ja-JP" sz="1800" b="0" dirty="0">
              <a:latin typeface="+mj-lt"/>
            </a:endParaRPr>
          </a:p>
        </p:txBody>
      </p:sp>
      <p:sp>
        <p:nvSpPr>
          <p:cNvPr id="436246" name="Line 22">
            <a:extLst>
              <a:ext uri="{FF2B5EF4-FFF2-40B4-BE49-F238E27FC236}">
                <a16:creationId xmlns:a16="http://schemas.microsoft.com/office/drawing/2014/main" id="{5B4F5BC1-3332-A2F4-EEED-E87AD6C3FC2E}"/>
              </a:ext>
            </a:extLst>
          </p:cNvPr>
          <p:cNvSpPr>
            <a:spLocks noChangeShapeType="1"/>
          </p:cNvSpPr>
          <p:nvPr/>
        </p:nvSpPr>
        <p:spPr bwMode="auto">
          <a:xfrm flipV="1">
            <a:off x="6429375" y="4165600"/>
            <a:ext cx="715963" cy="2397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7" name="Line 23">
            <a:extLst>
              <a:ext uri="{FF2B5EF4-FFF2-40B4-BE49-F238E27FC236}">
                <a16:creationId xmlns:a16="http://schemas.microsoft.com/office/drawing/2014/main" id="{0CEA2D04-E88B-FAE9-8BB0-CEFFF53E97E0}"/>
              </a:ext>
            </a:extLst>
          </p:cNvPr>
          <p:cNvSpPr>
            <a:spLocks noChangeShapeType="1"/>
          </p:cNvSpPr>
          <p:nvPr/>
        </p:nvSpPr>
        <p:spPr bwMode="auto">
          <a:xfrm flipH="1">
            <a:off x="6365875" y="5461000"/>
            <a:ext cx="669925" cy="201613"/>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48" name="AutoShape 24">
            <a:extLst>
              <a:ext uri="{FF2B5EF4-FFF2-40B4-BE49-F238E27FC236}">
                <a16:creationId xmlns:a16="http://schemas.microsoft.com/office/drawing/2014/main" id="{ED174BEB-1BF9-5AE5-FC46-4851BDA679C6}"/>
              </a:ext>
            </a:extLst>
          </p:cNvPr>
          <p:cNvSpPr>
            <a:spLocks noChangeArrowheads="1"/>
          </p:cNvSpPr>
          <p:nvPr/>
        </p:nvSpPr>
        <p:spPr bwMode="auto">
          <a:xfrm rot="16200000">
            <a:off x="7649369" y="4406107"/>
            <a:ext cx="809625" cy="2465387"/>
          </a:xfrm>
          <a:prstGeom prst="foldedCorner">
            <a:avLst>
              <a:gd name="adj" fmla="val 12500"/>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err="1">
                <a:latin typeface="+mj-lt"/>
              </a:rPr>
              <a:t>Thực</a:t>
            </a:r>
            <a:r>
              <a:rPr lang="en-US" altLang="ja-JP" sz="1800" b="0" dirty="0">
                <a:latin typeface="+mj-lt"/>
              </a:rPr>
              <a:t> </a:t>
            </a:r>
            <a:r>
              <a:rPr lang="en-US" altLang="ja-JP" sz="1800" b="0" dirty="0" err="1">
                <a:latin typeface="+mj-lt"/>
              </a:rPr>
              <a:t>hiện</a:t>
            </a:r>
            <a:r>
              <a:rPr lang="en-US" altLang="ja-JP" sz="1800" b="0" dirty="0">
                <a:latin typeface="+mj-lt"/>
              </a:rPr>
              <a:t> </a:t>
            </a:r>
            <a:r>
              <a:rPr lang="en-US" altLang="ja-JP" sz="1800" b="0" dirty="0" err="1">
                <a:latin typeface="+mj-lt"/>
              </a:rPr>
              <a:t>thao</a:t>
            </a:r>
            <a:r>
              <a:rPr lang="en-US" altLang="ja-JP" sz="1800" b="0" dirty="0">
                <a:latin typeface="+mj-lt"/>
              </a:rPr>
              <a:t> </a:t>
            </a:r>
            <a:r>
              <a:rPr lang="en-US" altLang="ja-JP" sz="1800" b="0" dirty="0" err="1">
                <a:latin typeface="+mj-lt"/>
              </a:rPr>
              <a:t>tác</a:t>
            </a:r>
            <a:endParaRPr lang="en-US" altLang="ja-JP" sz="1800" b="0" dirty="0">
              <a:latin typeface="+mj-lt"/>
            </a:endParaRPr>
          </a:p>
          <a:p>
            <a:pPr algn="ctr"/>
            <a:r>
              <a:rPr lang="ja-JP" altLang="en-US" sz="1800" b="0" dirty="0">
                <a:latin typeface="+mj-lt"/>
              </a:rPr>
              <a:t>「</a:t>
            </a:r>
            <a:r>
              <a:rPr lang="en-US" altLang="ja-JP" sz="1800" b="0" dirty="0" err="1">
                <a:latin typeface="+mj-lt"/>
              </a:rPr>
              <a:t>Lấy</a:t>
            </a:r>
            <a:r>
              <a:rPr lang="en-US" altLang="ja-JP" sz="1800" b="0" dirty="0">
                <a:latin typeface="+mj-lt"/>
              </a:rPr>
              <a:t> </a:t>
            </a:r>
            <a:r>
              <a:rPr lang="en-US" altLang="ja-JP" sz="1800" b="0" dirty="0" err="1">
                <a:latin typeface="+mj-lt"/>
              </a:rPr>
              <a:t>tuổi</a:t>
            </a:r>
            <a:r>
              <a:rPr lang="ja-JP" altLang="en-US" sz="1800" b="0" dirty="0">
                <a:latin typeface="+mj-lt"/>
              </a:rPr>
              <a:t>」</a:t>
            </a:r>
            <a:endParaRPr lang="ja-JP" altLang="en-US" sz="1800" dirty="0">
              <a:latin typeface="+mj-lt"/>
            </a:endParaRPr>
          </a:p>
        </p:txBody>
      </p:sp>
      <p:sp>
        <p:nvSpPr>
          <p:cNvPr id="436249" name="Rectangle 25">
            <a:extLst>
              <a:ext uri="{FF2B5EF4-FFF2-40B4-BE49-F238E27FC236}">
                <a16:creationId xmlns:a16="http://schemas.microsoft.com/office/drawing/2014/main" id="{4732BEF7-55B0-CC95-D80E-68CE20DB9A58}"/>
              </a:ext>
            </a:extLst>
          </p:cNvPr>
          <p:cNvSpPr>
            <a:spLocks noChangeArrowheads="1"/>
          </p:cNvSpPr>
          <p:nvPr/>
        </p:nvSpPr>
        <p:spPr bwMode="auto">
          <a:xfrm>
            <a:off x="1962150" y="3019425"/>
            <a:ext cx="1025525" cy="663575"/>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Người yêu cầu</a:t>
            </a:r>
          </a:p>
        </p:txBody>
      </p:sp>
      <p:sp>
        <p:nvSpPr>
          <p:cNvPr id="436250" name="Rectangle 26">
            <a:extLst>
              <a:ext uri="{FF2B5EF4-FFF2-40B4-BE49-F238E27FC236}">
                <a16:creationId xmlns:a16="http://schemas.microsoft.com/office/drawing/2014/main" id="{8D2DF4C4-DABB-78D1-3D46-40ED17C4AFF0}"/>
              </a:ext>
            </a:extLst>
          </p:cNvPr>
          <p:cNvSpPr>
            <a:spLocks noChangeArrowheads="1"/>
          </p:cNvSpPr>
          <p:nvPr/>
        </p:nvSpPr>
        <p:spPr bwMode="auto">
          <a:xfrm>
            <a:off x="5673725" y="2987675"/>
            <a:ext cx="1311275" cy="661988"/>
          </a:xfrm>
          <a:prstGeom prst="rect">
            <a:avLst/>
          </a:prstGeom>
          <a:solidFill>
            <a:schemeClr val="bg1"/>
          </a:solidFill>
          <a:ln w="9525">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800"/>
              <a:t>Yamada</a:t>
            </a:r>
            <a:r>
              <a:rPr lang="ja-JP" altLang="en-US" sz="1800"/>
              <a:t>：</a:t>
            </a:r>
            <a:r>
              <a:rPr lang="en-US" altLang="ja-JP" sz="1800"/>
              <a:t>người</a:t>
            </a:r>
          </a:p>
        </p:txBody>
      </p:sp>
      <p:sp>
        <p:nvSpPr>
          <p:cNvPr id="436252" name="Freeform 28">
            <a:extLst>
              <a:ext uri="{FF2B5EF4-FFF2-40B4-BE49-F238E27FC236}">
                <a16:creationId xmlns:a16="http://schemas.microsoft.com/office/drawing/2014/main" id="{55CCF646-D47A-087C-D175-4ABE20DB8AE2}"/>
              </a:ext>
            </a:extLst>
          </p:cNvPr>
          <p:cNvSpPr>
            <a:spLocks/>
          </p:cNvSpPr>
          <p:nvPr/>
        </p:nvSpPr>
        <p:spPr bwMode="auto">
          <a:xfrm>
            <a:off x="1270000" y="2828925"/>
            <a:ext cx="412750" cy="922338"/>
          </a:xfrm>
          <a:custGeom>
            <a:avLst/>
            <a:gdLst>
              <a:gd name="T0" fmla="*/ 236 w 481"/>
              <a:gd name="T1" fmla="*/ 56 h 1165"/>
              <a:gd name="T2" fmla="*/ 196 w 481"/>
              <a:gd name="T3" fmla="*/ 140 h 1165"/>
              <a:gd name="T4" fmla="*/ 208 w 481"/>
              <a:gd name="T5" fmla="*/ 200 h 1165"/>
              <a:gd name="T6" fmla="*/ 244 w 481"/>
              <a:gd name="T7" fmla="*/ 224 h 1165"/>
              <a:gd name="T8" fmla="*/ 184 w 481"/>
              <a:gd name="T9" fmla="*/ 260 h 1165"/>
              <a:gd name="T10" fmla="*/ 112 w 481"/>
              <a:gd name="T11" fmla="*/ 320 h 1165"/>
              <a:gd name="T12" fmla="*/ 104 w 481"/>
              <a:gd name="T13" fmla="*/ 428 h 1165"/>
              <a:gd name="T14" fmla="*/ 84 w 481"/>
              <a:gd name="T15" fmla="*/ 528 h 1165"/>
              <a:gd name="T16" fmla="*/ 92 w 481"/>
              <a:gd name="T17" fmla="*/ 612 h 1165"/>
              <a:gd name="T18" fmla="*/ 144 w 481"/>
              <a:gd name="T19" fmla="*/ 659 h 1165"/>
              <a:gd name="T20" fmla="*/ 124 w 481"/>
              <a:gd name="T21" fmla="*/ 564 h 1165"/>
              <a:gd name="T22" fmla="*/ 144 w 481"/>
              <a:gd name="T23" fmla="*/ 472 h 1165"/>
              <a:gd name="T24" fmla="*/ 164 w 481"/>
              <a:gd name="T25" fmla="*/ 368 h 1165"/>
              <a:gd name="T26" fmla="*/ 196 w 481"/>
              <a:gd name="T27" fmla="*/ 448 h 1165"/>
              <a:gd name="T28" fmla="*/ 180 w 481"/>
              <a:gd name="T29" fmla="*/ 512 h 1165"/>
              <a:gd name="T30" fmla="*/ 160 w 481"/>
              <a:gd name="T31" fmla="*/ 612 h 1165"/>
              <a:gd name="T32" fmla="*/ 152 w 481"/>
              <a:gd name="T33" fmla="*/ 688 h 1165"/>
              <a:gd name="T34" fmla="*/ 136 w 481"/>
              <a:gd name="T35" fmla="*/ 748 h 1165"/>
              <a:gd name="T36" fmla="*/ 116 w 481"/>
              <a:gd name="T37" fmla="*/ 848 h 1165"/>
              <a:gd name="T38" fmla="*/ 104 w 481"/>
              <a:gd name="T39" fmla="*/ 935 h 1165"/>
              <a:gd name="T40" fmla="*/ 76 w 481"/>
              <a:gd name="T41" fmla="*/ 1064 h 1165"/>
              <a:gd name="T42" fmla="*/ 0 w 481"/>
              <a:gd name="T43" fmla="*/ 1144 h 1165"/>
              <a:gd name="T44" fmla="*/ 80 w 481"/>
              <a:gd name="T45" fmla="*/ 1107 h 1165"/>
              <a:gd name="T46" fmla="*/ 120 w 481"/>
              <a:gd name="T47" fmla="*/ 1044 h 1165"/>
              <a:gd name="T48" fmla="*/ 156 w 481"/>
              <a:gd name="T49" fmla="*/ 960 h 1165"/>
              <a:gd name="T50" fmla="*/ 180 w 481"/>
              <a:gd name="T51" fmla="*/ 904 h 1165"/>
              <a:gd name="T52" fmla="*/ 212 w 481"/>
              <a:gd name="T53" fmla="*/ 856 h 1165"/>
              <a:gd name="T54" fmla="*/ 308 w 481"/>
              <a:gd name="T55" fmla="*/ 864 h 1165"/>
              <a:gd name="T56" fmla="*/ 340 w 481"/>
              <a:gd name="T57" fmla="*/ 900 h 1165"/>
              <a:gd name="T58" fmla="*/ 348 w 481"/>
              <a:gd name="T59" fmla="*/ 1008 h 1165"/>
              <a:gd name="T60" fmla="*/ 360 w 481"/>
              <a:gd name="T61" fmla="*/ 1084 h 1165"/>
              <a:gd name="T62" fmla="*/ 424 w 481"/>
              <a:gd name="T63" fmla="*/ 1164 h 1165"/>
              <a:gd name="T64" fmla="*/ 392 w 481"/>
              <a:gd name="T65" fmla="*/ 1084 h 1165"/>
              <a:gd name="T66" fmla="*/ 400 w 481"/>
              <a:gd name="T67" fmla="*/ 980 h 1165"/>
              <a:gd name="T68" fmla="*/ 388 w 481"/>
              <a:gd name="T69" fmla="*/ 880 h 1165"/>
              <a:gd name="T70" fmla="*/ 408 w 481"/>
              <a:gd name="T71" fmla="*/ 815 h 1165"/>
              <a:gd name="T72" fmla="*/ 416 w 481"/>
              <a:gd name="T73" fmla="*/ 680 h 1165"/>
              <a:gd name="T74" fmla="*/ 424 w 481"/>
              <a:gd name="T75" fmla="*/ 577 h 1165"/>
              <a:gd name="T76" fmla="*/ 404 w 481"/>
              <a:gd name="T77" fmla="*/ 496 h 1165"/>
              <a:gd name="T78" fmla="*/ 360 w 481"/>
              <a:gd name="T79" fmla="*/ 456 h 1165"/>
              <a:gd name="T80" fmla="*/ 364 w 481"/>
              <a:gd name="T81" fmla="*/ 371 h 1165"/>
              <a:gd name="T82" fmla="*/ 404 w 481"/>
              <a:gd name="T83" fmla="*/ 376 h 1165"/>
              <a:gd name="T84" fmla="*/ 424 w 481"/>
              <a:gd name="T85" fmla="*/ 456 h 1165"/>
              <a:gd name="T86" fmla="*/ 440 w 481"/>
              <a:gd name="T87" fmla="*/ 532 h 1165"/>
              <a:gd name="T88" fmla="*/ 436 w 481"/>
              <a:gd name="T89" fmla="*/ 616 h 1165"/>
              <a:gd name="T90" fmla="*/ 472 w 481"/>
              <a:gd name="T91" fmla="*/ 588 h 1165"/>
              <a:gd name="T92" fmla="*/ 476 w 481"/>
              <a:gd name="T93" fmla="*/ 488 h 1165"/>
              <a:gd name="T94" fmla="*/ 460 w 481"/>
              <a:gd name="T95" fmla="*/ 392 h 1165"/>
              <a:gd name="T96" fmla="*/ 436 w 481"/>
              <a:gd name="T97" fmla="*/ 336 h 1165"/>
              <a:gd name="T98" fmla="*/ 408 w 481"/>
              <a:gd name="T99" fmla="*/ 260 h 1165"/>
              <a:gd name="T100" fmla="*/ 300 w 481"/>
              <a:gd name="T101" fmla="*/ 248 h 1165"/>
              <a:gd name="T102" fmla="*/ 296 w 481"/>
              <a:gd name="T103" fmla="*/ 200 h 1165"/>
              <a:gd name="T104" fmla="*/ 360 w 481"/>
              <a:gd name="T105" fmla="*/ 195 h 1165"/>
              <a:gd name="T106" fmla="*/ 368 w 481"/>
              <a:gd name="T107" fmla="*/ 116 h 1165"/>
              <a:gd name="T108" fmla="*/ 336 w 481"/>
              <a:gd name="T109" fmla="*/ 32 h 1165"/>
              <a:gd name="T110" fmla="*/ 272 w 481"/>
              <a:gd name="T111" fmla="*/ 8 h 1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81" h="1165">
                <a:moveTo>
                  <a:pt x="248" y="19"/>
                </a:moveTo>
                <a:lnTo>
                  <a:pt x="236" y="56"/>
                </a:lnTo>
                <a:lnTo>
                  <a:pt x="216" y="104"/>
                </a:lnTo>
                <a:lnTo>
                  <a:pt x="196" y="140"/>
                </a:lnTo>
                <a:lnTo>
                  <a:pt x="188" y="180"/>
                </a:lnTo>
                <a:lnTo>
                  <a:pt x="208" y="200"/>
                </a:lnTo>
                <a:lnTo>
                  <a:pt x="244" y="195"/>
                </a:lnTo>
                <a:lnTo>
                  <a:pt x="244" y="224"/>
                </a:lnTo>
                <a:lnTo>
                  <a:pt x="244" y="244"/>
                </a:lnTo>
                <a:lnTo>
                  <a:pt x="184" y="260"/>
                </a:lnTo>
                <a:lnTo>
                  <a:pt x="124" y="281"/>
                </a:lnTo>
                <a:lnTo>
                  <a:pt x="112" y="320"/>
                </a:lnTo>
                <a:lnTo>
                  <a:pt x="104" y="376"/>
                </a:lnTo>
                <a:lnTo>
                  <a:pt x="104" y="428"/>
                </a:lnTo>
                <a:lnTo>
                  <a:pt x="88" y="476"/>
                </a:lnTo>
                <a:lnTo>
                  <a:pt x="84" y="528"/>
                </a:lnTo>
                <a:lnTo>
                  <a:pt x="92" y="571"/>
                </a:lnTo>
                <a:lnTo>
                  <a:pt x="92" y="612"/>
                </a:lnTo>
                <a:lnTo>
                  <a:pt x="112" y="643"/>
                </a:lnTo>
                <a:lnTo>
                  <a:pt x="144" y="659"/>
                </a:lnTo>
                <a:lnTo>
                  <a:pt x="140" y="616"/>
                </a:lnTo>
                <a:lnTo>
                  <a:pt x="124" y="564"/>
                </a:lnTo>
                <a:lnTo>
                  <a:pt x="132" y="516"/>
                </a:lnTo>
                <a:lnTo>
                  <a:pt x="144" y="472"/>
                </a:lnTo>
                <a:lnTo>
                  <a:pt x="156" y="420"/>
                </a:lnTo>
                <a:lnTo>
                  <a:pt x="164" y="368"/>
                </a:lnTo>
                <a:lnTo>
                  <a:pt x="188" y="416"/>
                </a:lnTo>
                <a:lnTo>
                  <a:pt x="196" y="448"/>
                </a:lnTo>
                <a:lnTo>
                  <a:pt x="200" y="481"/>
                </a:lnTo>
                <a:lnTo>
                  <a:pt x="180" y="512"/>
                </a:lnTo>
                <a:lnTo>
                  <a:pt x="168" y="552"/>
                </a:lnTo>
                <a:lnTo>
                  <a:pt x="160" y="612"/>
                </a:lnTo>
                <a:lnTo>
                  <a:pt x="156" y="644"/>
                </a:lnTo>
                <a:lnTo>
                  <a:pt x="152" y="688"/>
                </a:lnTo>
                <a:lnTo>
                  <a:pt x="144" y="720"/>
                </a:lnTo>
                <a:lnTo>
                  <a:pt x="136" y="748"/>
                </a:lnTo>
                <a:lnTo>
                  <a:pt x="124" y="800"/>
                </a:lnTo>
                <a:lnTo>
                  <a:pt x="116" y="848"/>
                </a:lnTo>
                <a:lnTo>
                  <a:pt x="112" y="895"/>
                </a:lnTo>
                <a:lnTo>
                  <a:pt x="104" y="935"/>
                </a:lnTo>
                <a:lnTo>
                  <a:pt x="92" y="995"/>
                </a:lnTo>
                <a:lnTo>
                  <a:pt x="76" y="1064"/>
                </a:lnTo>
                <a:lnTo>
                  <a:pt x="40" y="1084"/>
                </a:lnTo>
                <a:lnTo>
                  <a:pt x="0" y="1144"/>
                </a:lnTo>
                <a:lnTo>
                  <a:pt x="32" y="1144"/>
                </a:lnTo>
                <a:lnTo>
                  <a:pt x="80" y="1107"/>
                </a:lnTo>
                <a:lnTo>
                  <a:pt x="116" y="1080"/>
                </a:lnTo>
                <a:lnTo>
                  <a:pt x="120" y="1044"/>
                </a:lnTo>
                <a:lnTo>
                  <a:pt x="140" y="1000"/>
                </a:lnTo>
                <a:lnTo>
                  <a:pt x="156" y="960"/>
                </a:lnTo>
                <a:lnTo>
                  <a:pt x="164" y="931"/>
                </a:lnTo>
                <a:lnTo>
                  <a:pt x="180" y="904"/>
                </a:lnTo>
                <a:lnTo>
                  <a:pt x="188" y="872"/>
                </a:lnTo>
                <a:lnTo>
                  <a:pt x="212" y="856"/>
                </a:lnTo>
                <a:lnTo>
                  <a:pt x="248" y="860"/>
                </a:lnTo>
                <a:lnTo>
                  <a:pt x="308" y="864"/>
                </a:lnTo>
                <a:lnTo>
                  <a:pt x="344" y="864"/>
                </a:lnTo>
                <a:lnTo>
                  <a:pt x="340" y="900"/>
                </a:lnTo>
                <a:lnTo>
                  <a:pt x="336" y="940"/>
                </a:lnTo>
                <a:lnTo>
                  <a:pt x="348" y="1008"/>
                </a:lnTo>
                <a:lnTo>
                  <a:pt x="356" y="1031"/>
                </a:lnTo>
                <a:lnTo>
                  <a:pt x="360" y="1084"/>
                </a:lnTo>
                <a:lnTo>
                  <a:pt x="364" y="1136"/>
                </a:lnTo>
                <a:lnTo>
                  <a:pt x="424" y="1164"/>
                </a:lnTo>
                <a:lnTo>
                  <a:pt x="412" y="1127"/>
                </a:lnTo>
                <a:lnTo>
                  <a:pt x="392" y="1084"/>
                </a:lnTo>
                <a:lnTo>
                  <a:pt x="396" y="1028"/>
                </a:lnTo>
                <a:lnTo>
                  <a:pt x="400" y="980"/>
                </a:lnTo>
                <a:lnTo>
                  <a:pt x="396" y="944"/>
                </a:lnTo>
                <a:lnTo>
                  <a:pt x="388" y="880"/>
                </a:lnTo>
                <a:lnTo>
                  <a:pt x="416" y="872"/>
                </a:lnTo>
                <a:lnTo>
                  <a:pt x="408" y="815"/>
                </a:lnTo>
                <a:lnTo>
                  <a:pt x="412" y="752"/>
                </a:lnTo>
                <a:lnTo>
                  <a:pt x="416" y="680"/>
                </a:lnTo>
                <a:lnTo>
                  <a:pt x="428" y="624"/>
                </a:lnTo>
                <a:lnTo>
                  <a:pt x="424" y="577"/>
                </a:lnTo>
                <a:lnTo>
                  <a:pt x="404" y="524"/>
                </a:lnTo>
                <a:lnTo>
                  <a:pt x="404" y="496"/>
                </a:lnTo>
                <a:lnTo>
                  <a:pt x="384" y="476"/>
                </a:lnTo>
                <a:lnTo>
                  <a:pt x="360" y="456"/>
                </a:lnTo>
                <a:lnTo>
                  <a:pt x="368" y="407"/>
                </a:lnTo>
                <a:lnTo>
                  <a:pt x="364" y="371"/>
                </a:lnTo>
                <a:lnTo>
                  <a:pt x="380" y="340"/>
                </a:lnTo>
                <a:lnTo>
                  <a:pt x="404" y="376"/>
                </a:lnTo>
                <a:lnTo>
                  <a:pt x="416" y="416"/>
                </a:lnTo>
                <a:lnTo>
                  <a:pt x="424" y="456"/>
                </a:lnTo>
                <a:lnTo>
                  <a:pt x="432" y="496"/>
                </a:lnTo>
                <a:lnTo>
                  <a:pt x="440" y="532"/>
                </a:lnTo>
                <a:lnTo>
                  <a:pt x="448" y="564"/>
                </a:lnTo>
                <a:lnTo>
                  <a:pt x="436" y="616"/>
                </a:lnTo>
                <a:lnTo>
                  <a:pt x="456" y="632"/>
                </a:lnTo>
                <a:lnTo>
                  <a:pt x="472" y="588"/>
                </a:lnTo>
                <a:lnTo>
                  <a:pt x="480" y="541"/>
                </a:lnTo>
                <a:lnTo>
                  <a:pt x="476" y="488"/>
                </a:lnTo>
                <a:lnTo>
                  <a:pt x="472" y="432"/>
                </a:lnTo>
                <a:lnTo>
                  <a:pt x="460" y="392"/>
                </a:lnTo>
                <a:lnTo>
                  <a:pt x="452" y="368"/>
                </a:lnTo>
                <a:lnTo>
                  <a:pt x="436" y="336"/>
                </a:lnTo>
                <a:lnTo>
                  <a:pt x="432" y="304"/>
                </a:lnTo>
                <a:lnTo>
                  <a:pt x="408" y="260"/>
                </a:lnTo>
                <a:lnTo>
                  <a:pt x="352" y="248"/>
                </a:lnTo>
                <a:lnTo>
                  <a:pt x="300" y="248"/>
                </a:lnTo>
                <a:lnTo>
                  <a:pt x="300" y="228"/>
                </a:lnTo>
                <a:lnTo>
                  <a:pt x="296" y="200"/>
                </a:lnTo>
                <a:lnTo>
                  <a:pt x="332" y="204"/>
                </a:lnTo>
                <a:lnTo>
                  <a:pt x="360" y="195"/>
                </a:lnTo>
                <a:lnTo>
                  <a:pt x="360" y="159"/>
                </a:lnTo>
                <a:lnTo>
                  <a:pt x="368" y="116"/>
                </a:lnTo>
                <a:lnTo>
                  <a:pt x="360" y="68"/>
                </a:lnTo>
                <a:lnTo>
                  <a:pt x="336" y="32"/>
                </a:lnTo>
                <a:lnTo>
                  <a:pt x="312" y="0"/>
                </a:lnTo>
                <a:lnTo>
                  <a:pt x="272" y="8"/>
                </a:lnTo>
                <a:lnTo>
                  <a:pt x="248" y="19"/>
                </a:lnTo>
              </a:path>
            </a:pathLst>
          </a:custGeom>
          <a:solidFill>
            <a:srgbClr val="FFCC99"/>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6262" name="Freeform 38">
            <a:extLst>
              <a:ext uri="{FF2B5EF4-FFF2-40B4-BE49-F238E27FC236}">
                <a16:creationId xmlns:a16="http://schemas.microsoft.com/office/drawing/2014/main" id="{E33AFE8E-6935-0FB6-2E89-41D34677A6BC}"/>
              </a:ext>
            </a:extLst>
          </p:cNvPr>
          <p:cNvSpPr>
            <a:spLocks/>
          </p:cNvSpPr>
          <p:nvPr/>
        </p:nvSpPr>
        <p:spPr bwMode="auto">
          <a:xfrm>
            <a:off x="5146675" y="2798763"/>
            <a:ext cx="433388" cy="877887"/>
          </a:xfrm>
          <a:custGeom>
            <a:avLst/>
            <a:gdLst>
              <a:gd name="T0" fmla="*/ 282 w 436"/>
              <a:gd name="T1" fmla="*/ 77 h 1197"/>
              <a:gd name="T2" fmla="*/ 258 w 436"/>
              <a:gd name="T3" fmla="*/ 153 h 1197"/>
              <a:gd name="T4" fmla="*/ 288 w 436"/>
              <a:gd name="T5" fmla="*/ 196 h 1197"/>
              <a:gd name="T6" fmla="*/ 352 w 436"/>
              <a:gd name="T7" fmla="*/ 216 h 1197"/>
              <a:gd name="T8" fmla="*/ 402 w 436"/>
              <a:gd name="T9" fmla="*/ 245 h 1197"/>
              <a:gd name="T10" fmla="*/ 422 w 436"/>
              <a:gd name="T11" fmla="*/ 329 h 1197"/>
              <a:gd name="T12" fmla="*/ 431 w 436"/>
              <a:gd name="T13" fmla="*/ 423 h 1197"/>
              <a:gd name="T14" fmla="*/ 435 w 436"/>
              <a:gd name="T15" fmla="*/ 499 h 1197"/>
              <a:gd name="T16" fmla="*/ 408 w 436"/>
              <a:gd name="T17" fmla="*/ 584 h 1197"/>
              <a:gd name="T18" fmla="*/ 348 w 436"/>
              <a:gd name="T19" fmla="*/ 616 h 1197"/>
              <a:gd name="T20" fmla="*/ 372 w 436"/>
              <a:gd name="T21" fmla="*/ 520 h 1197"/>
              <a:gd name="T22" fmla="*/ 378 w 436"/>
              <a:gd name="T23" fmla="*/ 449 h 1197"/>
              <a:gd name="T24" fmla="*/ 355 w 436"/>
              <a:gd name="T25" fmla="*/ 331 h 1197"/>
              <a:gd name="T26" fmla="*/ 331 w 436"/>
              <a:gd name="T27" fmla="*/ 419 h 1197"/>
              <a:gd name="T28" fmla="*/ 331 w 436"/>
              <a:gd name="T29" fmla="*/ 495 h 1197"/>
              <a:gd name="T30" fmla="*/ 343 w 436"/>
              <a:gd name="T31" fmla="*/ 591 h 1197"/>
              <a:gd name="T32" fmla="*/ 351 w 436"/>
              <a:gd name="T33" fmla="*/ 668 h 1197"/>
              <a:gd name="T34" fmla="*/ 346 w 436"/>
              <a:gd name="T35" fmla="*/ 753 h 1197"/>
              <a:gd name="T36" fmla="*/ 348 w 436"/>
              <a:gd name="T37" fmla="*/ 852 h 1197"/>
              <a:gd name="T38" fmla="*/ 368 w 436"/>
              <a:gd name="T39" fmla="*/ 960 h 1197"/>
              <a:gd name="T40" fmla="*/ 380 w 436"/>
              <a:gd name="T41" fmla="*/ 1080 h 1197"/>
              <a:gd name="T42" fmla="*/ 416 w 436"/>
              <a:gd name="T43" fmla="*/ 1176 h 1197"/>
              <a:gd name="T44" fmla="*/ 364 w 436"/>
              <a:gd name="T45" fmla="*/ 1184 h 1197"/>
              <a:gd name="T46" fmla="*/ 320 w 436"/>
              <a:gd name="T47" fmla="*/ 1128 h 1197"/>
              <a:gd name="T48" fmla="*/ 296 w 436"/>
              <a:gd name="T49" fmla="*/ 1036 h 1197"/>
              <a:gd name="T50" fmla="*/ 280 w 436"/>
              <a:gd name="T51" fmla="*/ 824 h 1197"/>
              <a:gd name="T52" fmla="*/ 256 w 436"/>
              <a:gd name="T53" fmla="*/ 688 h 1197"/>
              <a:gd name="T54" fmla="*/ 199 w 436"/>
              <a:gd name="T55" fmla="*/ 775 h 1197"/>
              <a:gd name="T56" fmla="*/ 179 w 436"/>
              <a:gd name="T57" fmla="*/ 895 h 1197"/>
              <a:gd name="T58" fmla="*/ 184 w 436"/>
              <a:gd name="T59" fmla="*/ 1076 h 1197"/>
              <a:gd name="T60" fmla="*/ 164 w 436"/>
              <a:gd name="T61" fmla="*/ 1148 h 1197"/>
              <a:gd name="T62" fmla="*/ 108 w 436"/>
              <a:gd name="T63" fmla="*/ 1196 h 1197"/>
              <a:gd name="T64" fmla="*/ 108 w 436"/>
              <a:gd name="T65" fmla="*/ 1108 h 1197"/>
              <a:gd name="T66" fmla="*/ 111 w 436"/>
              <a:gd name="T67" fmla="*/ 987 h 1197"/>
              <a:gd name="T68" fmla="*/ 108 w 436"/>
              <a:gd name="T69" fmla="*/ 888 h 1197"/>
              <a:gd name="T70" fmla="*/ 112 w 436"/>
              <a:gd name="T71" fmla="*/ 804 h 1197"/>
              <a:gd name="T72" fmla="*/ 108 w 436"/>
              <a:gd name="T73" fmla="*/ 700 h 1197"/>
              <a:gd name="T74" fmla="*/ 95 w 436"/>
              <a:gd name="T75" fmla="*/ 559 h 1197"/>
              <a:gd name="T76" fmla="*/ 111 w 436"/>
              <a:gd name="T77" fmla="*/ 491 h 1197"/>
              <a:gd name="T78" fmla="*/ 107 w 436"/>
              <a:gd name="T79" fmla="*/ 427 h 1197"/>
              <a:gd name="T80" fmla="*/ 107 w 436"/>
              <a:gd name="T81" fmla="*/ 359 h 1197"/>
              <a:gd name="T82" fmla="*/ 87 w 436"/>
              <a:gd name="T83" fmla="*/ 359 h 1197"/>
              <a:gd name="T84" fmla="*/ 72 w 436"/>
              <a:gd name="T85" fmla="*/ 432 h 1197"/>
              <a:gd name="T86" fmla="*/ 72 w 436"/>
              <a:gd name="T87" fmla="*/ 516 h 1197"/>
              <a:gd name="T88" fmla="*/ 100 w 436"/>
              <a:gd name="T89" fmla="*/ 608 h 1197"/>
              <a:gd name="T90" fmla="*/ 19 w 436"/>
              <a:gd name="T91" fmla="*/ 571 h 1197"/>
              <a:gd name="T92" fmla="*/ 0 w 436"/>
              <a:gd name="T93" fmla="*/ 468 h 1197"/>
              <a:gd name="T94" fmla="*/ 15 w 436"/>
              <a:gd name="T95" fmla="*/ 383 h 1197"/>
              <a:gd name="T96" fmla="*/ 26 w 436"/>
              <a:gd name="T97" fmla="*/ 301 h 1197"/>
              <a:gd name="T98" fmla="*/ 48 w 436"/>
              <a:gd name="T99" fmla="*/ 224 h 1197"/>
              <a:gd name="T100" fmla="*/ 104 w 436"/>
              <a:gd name="T101" fmla="*/ 208 h 1197"/>
              <a:gd name="T102" fmla="*/ 172 w 436"/>
              <a:gd name="T103" fmla="*/ 188 h 1197"/>
              <a:gd name="T104" fmla="*/ 170 w 436"/>
              <a:gd name="T105" fmla="*/ 149 h 1197"/>
              <a:gd name="T106" fmla="*/ 158 w 436"/>
              <a:gd name="T107" fmla="*/ 97 h 1197"/>
              <a:gd name="T108" fmla="*/ 170 w 436"/>
              <a:gd name="T109" fmla="*/ 9 h 1197"/>
              <a:gd name="T110" fmla="*/ 260 w 436"/>
              <a:gd name="T111" fmla="*/ 12 h 1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36" h="1197">
                <a:moveTo>
                  <a:pt x="280" y="28"/>
                </a:moveTo>
                <a:lnTo>
                  <a:pt x="282" y="77"/>
                </a:lnTo>
                <a:lnTo>
                  <a:pt x="278" y="121"/>
                </a:lnTo>
                <a:lnTo>
                  <a:pt x="258" y="153"/>
                </a:lnTo>
                <a:lnTo>
                  <a:pt x="258" y="185"/>
                </a:lnTo>
                <a:lnTo>
                  <a:pt x="288" y="196"/>
                </a:lnTo>
                <a:lnTo>
                  <a:pt x="328" y="204"/>
                </a:lnTo>
                <a:lnTo>
                  <a:pt x="352" y="216"/>
                </a:lnTo>
                <a:lnTo>
                  <a:pt x="382" y="229"/>
                </a:lnTo>
                <a:lnTo>
                  <a:pt x="402" y="245"/>
                </a:lnTo>
                <a:lnTo>
                  <a:pt x="410" y="281"/>
                </a:lnTo>
                <a:lnTo>
                  <a:pt x="422" y="329"/>
                </a:lnTo>
                <a:lnTo>
                  <a:pt x="426" y="373"/>
                </a:lnTo>
                <a:lnTo>
                  <a:pt x="431" y="423"/>
                </a:lnTo>
                <a:lnTo>
                  <a:pt x="428" y="456"/>
                </a:lnTo>
                <a:lnTo>
                  <a:pt x="435" y="499"/>
                </a:lnTo>
                <a:lnTo>
                  <a:pt x="426" y="541"/>
                </a:lnTo>
                <a:lnTo>
                  <a:pt x="408" y="584"/>
                </a:lnTo>
                <a:lnTo>
                  <a:pt x="384" y="616"/>
                </a:lnTo>
                <a:lnTo>
                  <a:pt x="348" y="616"/>
                </a:lnTo>
                <a:lnTo>
                  <a:pt x="352" y="560"/>
                </a:lnTo>
                <a:lnTo>
                  <a:pt x="372" y="520"/>
                </a:lnTo>
                <a:lnTo>
                  <a:pt x="380" y="476"/>
                </a:lnTo>
                <a:lnTo>
                  <a:pt x="378" y="449"/>
                </a:lnTo>
                <a:lnTo>
                  <a:pt x="366" y="393"/>
                </a:lnTo>
                <a:lnTo>
                  <a:pt x="355" y="331"/>
                </a:lnTo>
                <a:lnTo>
                  <a:pt x="335" y="383"/>
                </a:lnTo>
                <a:lnTo>
                  <a:pt x="331" y="419"/>
                </a:lnTo>
                <a:lnTo>
                  <a:pt x="323" y="455"/>
                </a:lnTo>
                <a:lnTo>
                  <a:pt x="331" y="495"/>
                </a:lnTo>
                <a:lnTo>
                  <a:pt x="335" y="532"/>
                </a:lnTo>
                <a:lnTo>
                  <a:pt x="343" y="591"/>
                </a:lnTo>
                <a:lnTo>
                  <a:pt x="347" y="624"/>
                </a:lnTo>
                <a:lnTo>
                  <a:pt x="351" y="668"/>
                </a:lnTo>
                <a:lnTo>
                  <a:pt x="348" y="712"/>
                </a:lnTo>
                <a:lnTo>
                  <a:pt x="346" y="753"/>
                </a:lnTo>
                <a:lnTo>
                  <a:pt x="346" y="797"/>
                </a:lnTo>
                <a:lnTo>
                  <a:pt x="348" y="852"/>
                </a:lnTo>
                <a:lnTo>
                  <a:pt x="356" y="896"/>
                </a:lnTo>
                <a:lnTo>
                  <a:pt x="368" y="960"/>
                </a:lnTo>
                <a:lnTo>
                  <a:pt x="376" y="1016"/>
                </a:lnTo>
                <a:lnTo>
                  <a:pt x="380" y="1080"/>
                </a:lnTo>
                <a:lnTo>
                  <a:pt x="388" y="1124"/>
                </a:lnTo>
                <a:lnTo>
                  <a:pt x="416" y="1176"/>
                </a:lnTo>
                <a:lnTo>
                  <a:pt x="399" y="1191"/>
                </a:lnTo>
                <a:lnTo>
                  <a:pt x="364" y="1184"/>
                </a:lnTo>
                <a:lnTo>
                  <a:pt x="344" y="1144"/>
                </a:lnTo>
                <a:lnTo>
                  <a:pt x="320" y="1128"/>
                </a:lnTo>
                <a:lnTo>
                  <a:pt x="304" y="1084"/>
                </a:lnTo>
                <a:lnTo>
                  <a:pt x="296" y="1036"/>
                </a:lnTo>
                <a:lnTo>
                  <a:pt x="288" y="904"/>
                </a:lnTo>
                <a:lnTo>
                  <a:pt x="280" y="824"/>
                </a:lnTo>
                <a:lnTo>
                  <a:pt x="271" y="759"/>
                </a:lnTo>
                <a:lnTo>
                  <a:pt x="256" y="688"/>
                </a:lnTo>
                <a:lnTo>
                  <a:pt x="208" y="688"/>
                </a:lnTo>
                <a:lnTo>
                  <a:pt x="199" y="775"/>
                </a:lnTo>
                <a:lnTo>
                  <a:pt x="191" y="839"/>
                </a:lnTo>
                <a:lnTo>
                  <a:pt x="179" y="895"/>
                </a:lnTo>
                <a:lnTo>
                  <a:pt x="180" y="992"/>
                </a:lnTo>
                <a:lnTo>
                  <a:pt x="184" y="1076"/>
                </a:lnTo>
                <a:lnTo>
                  <a:pt x="160" y="1104"/>
                </a:lnTo>
                <a:lnTo>
                  <a:pt x="164" y="1148"/>
                </a:lnTo>
                <a:lnTo>
                  <a:pt x="136" y="1184"/>
                </a:lnTo>
                <a:lnTo>
                  <a:pt x="108" y="1196"/>
                </a:lnTo>
                <a:lnTo>
                  <a:pt x="92" y="1164"/>
                </a:lnTo>
                <a:lnTo>
                  <a:pt x="108" y="1108"/>
                </a:lnTo>
                <a:lnTo>
                  <a:pt x="107" y="1047"/>
                </a:lnTo>
                <a:lnTo>
                  <a:pt x="111" y="987"/>
                </a:lnTo>
                <a:lnTo>
                  <a:pt x="107" y="923"/>
                </a:lnTo>
                <a:lnTo>
                  <a:pt x="108" y="888"/>
                </a:lnTo>
                <a:lnTo>
                  <a:pt x="112" y="844"/>
                </a:lnTo>
                <a:lnTo>
                  <a:pt x="112" y="804"/>
                </a:lnTo>
                <a:lnTo>
                  <a:pt x="112" y="748"/>
                </a:lnTo>
                <a:lnTo>
                  <a:pt x="108" y="700"/>
                </a:lnTo>
                <a:lnTo>
                  <a:pt x="108" y="648"/>
                </a:lnTo>
                <a:lnTo>
                  <a:pt x="95" y="559"/>
                </a:lnTo>
                <a:lnTo>
                  <a:pt x="107" y="527"/>
                </a:lnTo>
                <a:lnTo>
                  <a:pt x="111" y="491"/>
                </a:lnTo>
                <a:lnTo>
                  <a:pt x="103" y="459"/>
                </a:lnTo>
                <a:lnTo>
                  <a:pt x="107" y="427"/>
                </a:lnTo>
                <a:lnTo>
                  <a:pt x="107" y="395"/>
                </a:lnTo>
                <a:lnTo>
                  <a:pt x="107" y="359"/>
                </a:lnTo>
                <a:lnTo>
                  <a:pt x="95" y="327"/>
                </a:lnTo>
                <a:lnTo>
                  <a:pt x="87" y="359"/>
                </a:lnTo>
                <a:lnTo>
                  <a:pt x="87" y="396"/>
                </a:lnTo>
                <a:lnTo>
                  <a:pt x="72" y="432"/>
                </a:lnTo>
                <a:lnTo>
                  <a:pt x="71" y="475"/>
                </a:lnTo>
                <a:lnTo>
                  <a:pt x="72" y="516"/>
                </a:lnTo>
                <a:lnTo>
                  <a:pt x="76" y="564"/>
                </a:lnTo>
                <a:lnTo>
                  <a:pt x="100" y="608"/>
                </a:lnTo>
                <a:lnTo>
                  <a:pt x="56" y="628"/>
                </a:lnTo>
                <a:lnTo>
                  <a:pt x="19" y="571"/>
                </a:lnTo>
                <a:lnTo>
                  <a:pt x="8" y="528"/>
                </a:lnTo>
                <a:lnTo>
                  <a:pt x="0" y="468"/>
                </a:lnTo>
                <a:lnTo>
                  <a:pt x="7" y="419"/>
                </a:lnTo>
                <a:lnTo>
                  <a:pt x="15" y="383"/>
                </a:lnTo>
                <a:lnTo>
                  <a:pt x="23" y="347"/>
                </a:lnTo>
                <a:lnTo>
                  <a:pt x="26" y="301"/>
                </a:lnTo>
                <a:lnTo>
                  <a:pt x="30" y="261"/>
                </a:lnTo>
                <a:lnTo>
                  <a:pt x="48" y="224"/>
                </a:lnTo>
                <a:lnTo>
                  <a:pt x="76" y="216"/>
                </a:lnTo>
                <a:lnTo>
                  <a:pt x="104" y="208"/>
                </a:lnTo>
                <a:lnTo>
                  <a:pt x="140" y="204"/>
                </a:lnTo>
                <a:lnTo>
                  <a:pt x="172" y="188"/>
                </a:lnTo>
                <a:lnTo>
                  <a:pt x="184" y="164"/>
                </a:lnTo>
                <a:lnTo>
                  <a:pt x="170" y="149"/>
                </a:lnTo>
                <a:lnTo>
                  <a:pt x="158" y="121"/>
                </a:lnTo>
                <a:lnTo>
                  <a:pt x="158" y="97"/>
                </a:lnTo>
                <a:lnTo>
                  <a:pt x="166" y="53"/>
                </a:lnTo>
                <a:lnTo>
                  <a:pt x="170" y="9"/>
                </a:lnTo>
                <a:lnTo>
                  <a:pt x="220" y="0"/>
                </a:lnTo>
                <a:lnTo>
                  <a:pt x="260" y="12"/>
                </a:lnTo>
                <a:lnTo>
                  <a:pt x="280" y="2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436263" name="Line 39">
            <a:extLst>
              <a:ext uri="{FF2B5EF4-FFF2-40B4-BE49-F238E27FC236}">
                <a16:creationId xmlns:a16="http://schemas.microsoft.com/office/drawing/2014/main" id="{3F0B7594-2430-74A9-F703-E92CA58EE53D}"/>
              </a:ext>
            </a:extLst>
          </p:cNvPr>
          <p:cNvSpPr>
            <a:spLocks noChangeShapeType="1"/>
          </p:cNvSpPr>
          <p:nvPr/>
        </p:nvSpPr>
        <p:spPr bwMode="auto">
          <a:xfrm>
            <a:off x="2549525" y="4530725"/>
            <a:ext cx="3603625" cy="0"/>
          </a:xfrm>
          <a:prstGeom prst="line">
            <a:avLst/>
          </a:prstGeom>
          <a:noFill/>
          <a:ln w="28575">
            <a:solidFill>
              <a:schemeClr val="tx1"/>
            </a:solidFill>
            <a:prstDash val="dash"/>
            <a:round/>
            <a:headEnd type="arrow" w="med" len="med"/>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4" name="Text Box 40">
            <a:extLst>
              <a:ext uri="{FF2B5EF4-FFF2-40B4-BE49-F238E27FC236}">
                <a16:creationId xmlns:a16="http://schemas.microsoft.com/office/drawing/2014/main" id="{296AF786-F01C-A3AC-8EB1-D8C175FBB671}"/>
              </a:ext>
            </a:extLst>
          </p:cNvPr>
          <p:cNvSpPr txBox="1">
            <a:spLocks noChangeArrowheads="1"/>
          </p:cNvSpPr>
          <p:nvPr/>
        </p:nvSpPr>
        <p:spPr bwMode="auto">
          <a:xfrm>
            <a:off x="3078163" y="4533900"/>
            <a:ext cx="2071687"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t>Yamada Taro.</a:t>
            </a:r>
            <a:endParaRPr lang="en-US" altLang="ja-JP" sz="1800"/>
          </a:p>
        </p:txBody>
      </p:sp>
      <p:sp>
        <p:nvSpPr>
          <p:cNvPr id="436265" name="Line 41">
            <a:extLst>
              <a:ext uri="{FF2B5EF4-FFF2-40B4-BE49-F238E27FC236}">
                <a16:creationId xmlns:a16="http://schemas.microsoft.com/office/drawing/2014/main" id="{70A4BC31-0FE4-9117-7638-9892222791B6}"/>
              </a:ext>
            </a:extLst>
          </p:cNvPr>
          <p:cNvSpPr>
            <a:spLocks noChangeShapeType="1"/>
          </p:cNvSpPr>
          <p:nvPr/>
        </p:nvSpPr>
        <p:spPr bwMode="auto">
          <a:xfrm>
            <a:off x="2562225" y="5799138"/>
            <a:ext cx="3603625" cy="0"/>
          </a:xfrm>
          <a:prstGeom prst="line">
            <a:avLst/>
          </a:prstGeom>
          <a:noFill/>
          <a:ln w="28575">
            <a:solidFill>
              <a:schemeClr val="tx1"/>
            </a:solidFill>
            <a:prstDash val="dash"/>
            <a:round/>
            <a:headEnd type="arrow" w="med" len="med"/>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6" name="Rectangle 42">
            <a:extLst>
              <a:ext uri="{FF2B5EF4-FFF2-40B4-BE49-F238E27FC236}">
                <a16:creationId xmlns:a16="http://schemas.microsoft.com/office/drawing/2014/main" id="{55C73516-7DEF-2FA3-BEA9-F9C699E2BF59}"/>
              </a:ext>
            </a:extLst>
          </p:cNvPr>
          <p:cNvSpPr>
            <a:spLocks noChangeArrowheads="1"/>
          </p:cNvSpPr>
          <p:nvPr/>
        </p:nvSpPr>
        <p:spPr bwMode="auto">
          <a:xfrm>
            <a:off x="6137275" y="5405438"/>
            <a:ext cx="255588" cy="527050"/>
          </a:xfrm>
          <a:prstGeom prst="rect">
            <a:avLst/>
          </a:prstGeom>
          <a:solidFill>
            <a:schemeClr val="bg1"/>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6267" name="Text Box 43">
            <a:extLst>
              <a:ext uri="{FF2B5EF4-FFF2-40B4-BE49-F238E27FC236}">
                <a16:creationId xmlns:a16="http://schemas.microsoft.com/office/drawing/2014/main" id="{15AB4A00-560C-19BB-F574-B2923E5BBE3E}"/>
              </a:ext>
            </a:extLst>
          </p:cNvPr>
          <p:cNvSpPr txBox="1">
            <a:spLocks noChangeArrowheads="1"/>
          </p:cNvSpPr>
          <p:nvPr/>
        </p:nvSpPr>
        <p:spPr bwMode="auto">
          <a:xfrm>
            <a:off x="3470275" y="5880100"/>
            <a:ext cx="1470025"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t>30 tuổi.</a:t>
            </a:r>
            <a:endParaRPr lang="en-US" altLang="ja-JP" sz="1800"/>
          </a:p>
        </p:txBody>
      </p:sp>
      <p:sp>
        <p:nvSpPr>
          <p:cNvPr id="436251" name="AutoShape 27">
            <a:extLst>
              <a:ext uri="{FF2B5EF4-FFF2-40B4-BE49-F238E27FC236}">
                <a16:creationId xmlns:a16="http://schemas.microsoft.com/office/drawing/2014/main" id="{55043842-F453-58C3-EDF8-247E7857307B}"/>
              </a:ext>
            </a:extLst>
          </p:cNvPr>
          <p:cNvSpPr>
            <a:spLocks noChangeArrowheads="1"/>
          </p:cNvSpPr>
          <p:nvPr/>
        </p:nvSpPr>
        <p:spPr bwMode="auto">
          <a:xfrm rot="16200000">
            <a:off x="7645400" y="3106738"/>
            <a:ext cx="809625" cy="2479675"/>
          </a:xfrm>
          <a:prstGeom prst="foldedCorner">
            <a:avLst>
              <a:gd name="adj" fmla="val 12500"/>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r>
              <a:rPr lang="en-US" altLang="ja-JP" sz="1800" b="0" dirty="0" err="1">
                <a:latin typeface="+mj-lt"/>
              </a:rPr>
              <a:t>Thực</a:t>
            </a:r>
            <a:r>
              <a:rPr lang="en-US" altLang="ja-JP" sz="1800" b="0" dirty="0">
                <a:latin typeface="+mj-lt"/>
              </a:rPr>
              <a:t> </a:t>
            </a:r>
            <a:r>
              <a:rPr lang="en-US" altLang="ja-JP" sz="1800" b="0" dirty="0" err="1">
                <a:latin typeface="+mj-lt"/>
              </a:rPr>
              <a:t>hiện</a:t>
            </a:r>
            <a:r>
              <a:rPr lang="en-US" altLang="ja-JP" sz="1800" b="0" dirty="0">
                <a:latin typeface="+mj-lt"/>
              </a:rPr>
              <a:t> </a:t>
            </a:r>
            <a:r>
              <a:rPr lang="en-US" altLang="ja-JP" sz="1800" b="0" dirty="0" err="1">
                <a:latin typeface="+mj-lt"/>
              </a:rPr>
              <a:t>thao</a:t>
            </a:r>
            <a:r>
              <a:rPr lang="en-US" altLang="ja-JP" sz="1800" b="0" dirty="0">
                <a:latin typeface="+mj-lt"/>
              </a:rPr>
              <a:t> </a:t>
            </a:r>
            <a:r>
              <a:rPr lang="en-US" altLang="ja-JP" sz="1800" b="0" dirty="0" err="1">
                <a:latin typeface="+mj-lt"/>
              </a:rPr>
              <a:t>tác</a:t>
            </a:r>
            <a:endParaRPr lang="en-US" altLang="ja-JP" sz="1800" b="0" dirty="0">
              <a:latin typeface="+mj-lt"/>
            </a:endParaRPr>
          </a:p>
          <a:p>
            <a:pPr algn="ctr"/>
            <a:r>
              <a:rPr lang="ja-JP" altLang="en-US" sz="1800" b="0" dirty="0">
                <a:latin typeface="+mj-lt"/>
              </a:rPr>
              <a:t>「</a:t>
            </a:r>
            <a:r>
              <a:rPr lang="en-US" altLang="ja-JP" sz="1800" b="0" dirty="0" err="1">
                <a:latin typeface="+mj-lt"/>
              </a:rPr>
              <a:t>Lấy</a:t>
            </a:r>
            <a:r>
              <a:rPr lang="en-US" altLang="ja-JP" sz="1800" b="0" dirty="0">
                <a:latin typeface="+mj-lt"/>
              </a:rPr>
              <a:t> </a:t>
            </a:r>
            <a:r>
              <a:rPr lang="en-US" altLang="ja-JP" sz="1800" b="0" dirty="0" err="1">
                <a:latin typeface="+mj-lt"/>
              </a:rPr>
              <a:t>tên</a:t>
            </a:r>
            <a:r>
              <a:rPr lang="ja-JP" altLang="en-US" sz="1800" b="0" dirty="0">
                <a:latin typeface="+mj-lt"/>
              </a:rPr>
              <a:t>」</a:t>
            </a:r>
            <a:endParaRPr lang="ja-JP" altLang="en-US" sz="18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8BAAC712-9A2B-EEB8-6156-DE5FCAED1853}"/>
              </a:ext>
            </a:extLst>
          </p:cNvPr>
          <p:cNvSpPr>
            <a:spLocks noGrp="1"/>
          </p:cNvSpPr>
          <p:nvPr>
            <p:ph type="sldNum" sz="quarter" idx="10"/>
          </p:nvPr>
        </p:nvSpPr>
        <p:spPr/>
        <p:txBody>
          <a:bodyPr/>
          <a:lstStyle/>
          <a:p>
            <a:fld id="{55D4664C-9DAF-411C-98FE-2662F39AD6BA}" type="slidenum">
              <a:rPr lang="en-US" altLang="ja-JP"/>
              <a:pPr/>
              <a:t>12</a:t>
            </a:fld>
            <a:endParaRPr lang="en-US" altLang="ja-JP"/>
          </a:p>
        </p:txBody>
      </p:sp>
      <p:sp>
        <p:nvSpPr>
          <p:cNvPr id="438274" name="Rectangle 2">
            <a:extLst>
              <a:ext uri="{FF2B5EF4-FFF2-40B4-BE49-F238E27FC236}">
                <a16:creationId xmlns:a16="http://schemas.microsoft.com/office/drawing/2014/main" id="{C0509EDC-15BE-9C4F-9365-D5725981A9DA}"/>
              </a:ext>
            </a:extLst>
          </p:cNvPr>
          <p:cNvSpPr>
            <a:spLocks noChangeArrowheads="1"/>
          </p:cNvSpPr>
          <p:nvPr/>
        </p:nvSpPr>
        <p:spPr bwMode="auto">
          <a:xfrm>
            <a:off x="619125" y="1987550"/>
            <a:ext cx="8637588" cy="453390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38275" name="Rectangle 3">
            <a:extLst>
              <a:ext uri="{FF2B5EF4-FFF2-40B4-BE49-F238E27FC236}">
                <a16:creationId xmlns:a16="http://schemas.microsoft.com/office/drawing/2014/main" id="{47706212-D076-749D-4BD9-51B51EB1C151}"/>
              </a:ext>
            </a:extLst>
          </p:cNvPr>
          <p:cNvSpPr>
            <a:spLocks noGrp="1" noChangeArrowheads="1"/>
          </p:cNvSpPr>
          <p:nvPr>
            <p:ph type="title"/>
          </p:nvPr>
        </p:nvSpPr>
        <p:spPr>
          <a:xfrm>
            <a:off x="329406" y="29210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(object)(1)</a:t>
            </a:r>
          </a:p>
        </p:txBody>
      </p:sp>
      <p:sp>
        <p:nvSpPr>
          <p:cNvPr id="438276" name="Rectangle 4">
            <a:extLst>
              <a:ext uri="{FF2B5EF4-FFF2-40B4-BE49-F238E27FC236}">
                <a16:creationId xmlns:a16="http://schemas.microsoft.com/office/drawing/2014/main" id="{4275D4BA-624A-09B8-91DB-0059829B5004}"/>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Liên quan</a:t>
            </a:r>
          </a:p>
        </p:txBody>
      </p:sp>
      <p:sp>
        <p:nvSpPr>
          <p:cNvPr id="438277" name="Rectangle 5">
            <a:extLst>
              <a:ext uri="{FF2B5EF4-FFF2-40B4-BE49-F238E27FC236}">
                <a16:creationId xmlns:a16="http://schemas.microsoft.com/office/drawing/2014/main" id="{90F210AE-281C-074A-B799-63310AFFC45D}"/>
              </a:ext>
            </a:extLst>
          </p:cNvPr>
          <p:cNvSpPr>
            <a:spLocks noChangeArrowheads="1"/>
          </p:cNvSpPr>
          <p:nvPr/>
        </p:nvSpPr>
        <p:spPr bwMode="auto">
          <a:xfrm>
            <a:off x="344488" y="1204913"/>
            <a:ext cx="9120187" cy="4968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Là việc giữa các class(object)</a:t>
            </a:r>
            <a:r>
              <a:rPr lang="en-US" altLang="ja-JP" sz="2000">
                <a:solidFill>
                  <a:srgbClr val="FF0000"/>
                </a:solidFill>
                <a:latin typeface="Arial" panose="020B0604020202020204" pitchFamily="34" charset="0"/>
              </a:rPr>
              <a:t> </a:t>
            </a:r>
            <a:r>
              <a:rPr lang="en-US" altLang="ja-JP" sz="2000">
                <a:latin typeface="Arial" panose="020B0604020202020204" pitchFamily="34" charset="0"/>
              </a:rPr>
              <a:t>có mỗi quan hệ có nghĩa nào đó.</a:t>
            </a:r>
          </a:p>
        </p:txBody>
      </p:sp>
      <p:sp>
        <p:nvSpPr>
          <p:cNvPr id="438279" name="Rectangle 7">
            <a:extLst>
              <a:ext uri="{FF2B5EF4-FFF2-40B4-BE49-F238E27FC236}">
                <a16:creationId xmlns:a16="http://schemas.microsoft.com/office/drawing/2014/main" id="{F21DBBD7-B60D-E190-77D7-3ECD92996902}"/>
              </a:ext>
            </a:extLst>
          </p:cNvPr>
          <p:cNvSpPr>
            <a:spLocks noChangeArrowheads="1"/>
          </p:cNvSpPr>
          <p:nvPr/>
        </p:nvSpPr>
        <p:spPr bwMode="auto">
          <a:xfrm>
            <a:off x="1619250" y="3106738"/>
            <a:ext cx="1800225"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a:latin typeface="+mj-lt"/>
              </a:rPr>
              <a:t>Thư </a:t>
            </a:r>
            <a:r>
              <a:rPr lang="en-US" altLang="ja-JP" sz="2400" b="0" dirty="0" err="1">
                <a:latin typeface="+mj-lt"/>
              </a:rPr>
              <a:t>viện</a:t>
            </a:r>
            <a:endParaRPr lang="en-US" altLang="ja-JP" sz="2400" b="0" dirty="0">
              <a:latin typeface="+mj-lt"/>
            </a:endParaRPr>
          </a:p>
        </p:txBody>
      </p:sp>
      <p:sp>
        <p:nvSpPr>
          <p:cNvPr id="438281" name="Rectangle 9">
            <a:extLst>
              <a:ext uri="{FF2B5EF4-FFF2-40B4-BE49-F238E27FC236}">
                <a16:creationId xmlns:a16="http://schemas.microsoft.com/office/drawing/2014/main" id="{C9C5DD2C-E0D0-DA6F-FDA5-90EBEA7E73C8}"/>
              </a:ext>
            </a:extLst>
          </p:cNvPr>
          <p:cNvSpPr>
            <a:spLocks noChangeArrowheads="1"/>
          </p:cNvSpPr>
          <p:nvPr/>
        </p:nvSpPr>
        <p:spPr bwMode="auto">
          <a:xfrm>
            <a:off x="5472113" y="3106738"/>
            <a:ext cx="1800225"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err="1">
                <a:latin typeface="+mj-lt"/>
              </a:rPr>
              <a:t>Sách</a:t>
            </a:r>
            <a:endParaRPr lang="en-US" altLang="ja-JP" sz="2400" b="0" dirty="0">
              <a:latin typeface="+mj-lt"/>
            </a:endParaRPr>
          </a:p>
        </p:txBody>
      </p:sp>
      <p:sp>
        <p:nvSpPr>
          <p:cNvPr id="438282" name="Rectangle 10">
            <a:extLst>
              <a:ext uri="{FF2B5EF4-FFF2-40B4-BE49-F238E27FC236}">
                <a16:creationId xmlns:a16="http://schemas.microsoft.com/office/drawing/2014/main" id="{3C475A1F-E19A-703C-D856-337F0F92A063}"/>
              </a:ext>
            </a:extLst>
          </p:cNvPr>
          <p:cNvSpPr>
            <a:spLocks noChangeArrowheads="1"/>
          </p:cNvSpPr>
          <p:nvPr/>
        </p:nvSpPr>
        <p:spPr bwMode="auto">
          <a:xfrm>
            <a:off x="5334000" y="5284788"/>
            <a:ext cx="2109788" cy="719137"/>
          </a:xfrm>
          <a:prstGeom prst="rect">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hangingPunct="0"/>
            <a:r>
              <a:rPr lang="en-US" altLang="ja-JP" sz="2400" b="0" dirty="0" err="1">
                <a:latin typeface="+mj-lt"/>
              </a:rPr>
              <a:t>Người</a:t>
            </a:r>
            <a:r>
              <a:rPr lang="en-US" altLang="ja-JP" sz="2400" b="0" dirty="0">
                <a:latin typeface="+mj-lt"/>
              </a:rPr>
              <a:t> </a:t>
            </a:r>
            <a:r>
              <a:rPr lang="en-US" altLang="ja-JP" sz="2400" b="0" dirty="0" err="1">
                <a:latin typeface="+mj-lt"/>
              </a:rPr>
              <a:t>sử</a:t>
            </a:r>
            <a:r>
              <a:rPr lang="en-US" altLang="ja-JP" sz="2400" b="0" dirty="0">
                <a:latin typeface="+mj-lt"/>
              </a:rPr>
              <a:t> </a:t>
            </a:r>
            <a:r>
              <a:rPr lang="en-US" altLang="ja-JP" sz="2400" b="0" dirty="0" err="1">
                <a:latin typeface="+mj-lt"/>
              </a:rPr>
              <a:t>dụng</a:t>
            </a:r>
            <a:endParaRPr lang="en-US" altLang="ja-JP" sz="2400" b="0" dirty="0">
              <a:latin typeface="+mj-lt"/>
            </a:endParaRPr>
          </a:p>
        </p:txBody>
      </p:sp>
      <p:cxnSp>
        <p:nvCxnSpPr>
          <p:cNvPr id="438299" name="AutoShape 27">
            <a:extLst>
              <a:ext uri="{FF2B5EF4-FFF2-40B4-BE49-F238E27FC236}">
                <a16:creationId xmlns:a16="http://schemas.microsoft.com/office/drawing/2014/main" id="{C5A7CC63-2E4C-0621-C470-0DCC06FE625F}"/>
              </a:ext>
            </a:extLst>
          </p:cNvPr>
          <p:cNvCxnSpPr>
            <a:cxnSpLocks noChangeShapeType="1"/>
            <a:stCxn id="438279" idx="3"/>
            <a:endCxn id="438281" idx="1"/>
          </p:cNvCxnSpPr>
          <p:nvPr/>
        </p:nvCxnSpPr>
        <p:spPr bwMode="auto">
          <a:xfrm>
            <a:off x="3419475" y="3467100"/>
            <a:ext cx="2052638" cy="0"/>
          </a:xfrm>
          <a:prstGeom prst="straightConnector1">
            <a:avLst/>
          </a:prstGeom>
          <a:noFill/>
          <a:ln w="19050">
            <a:solidFill>
              <a:schemeClr val="tx1"/>
            </a:solidFill>
            <a:round/>
            <a:headEnd/>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8301" name="AutoShape 29">
            <a:extLst>
              <a:ext uri="{FF2B5EF4-FFF2-40B4-BE49-F238E27FC236}">
                <a16:creationId xmlns:a16="http://schemas.microsoft.com/office/drawing/2014/main" id="{BB5CD478-0764-9D7E-143A-5605C9A861B7}"/>
              </a:ext>
            </a:extLst>
          </p:cNvPr>
          <p:cNvCxnSpPr>
            <a:cxnSpLocks noChangeShapeType="1"/>
            <a:stCxn id="438279" idx="2"/>
            <a:endCxn id="438282" idx="1"/>
          </p:cNvCxnSpPr>
          <p:nvPr/>
        </p:nvCxnSpPr>
        <p:spPr bwMode="auto">
          <a:xfrm>
            <a:off x="2519363" y="3825875"/>
            <a:ext cx="2814637" cy="1818482"/>
          </a:xfrm>
          <a:prstGeom prst="straightConnector1">
            <a:avLst/>
          </a:prstGeom>
          <a:noFill/>
          <a:ln w="19050">
            <a:solidFill>
              <a:schemeClr val="tx1"/>
            </a:solidFill>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38302" name="AutoShape 30">
            <a:extLst>
              <a:ext uri="{FF2B5EF4-FFF2-40B4-BE49-F238E27FC236}">
                <a16:creationId xmlns:a16="http://schemas.microsoft.com/office/drawing/2014/main" id="{F37DE412-CEB3-D30C-027B-7129FCDD11DB}"/>
              </a:ext>
            </a:extLst>
          </p:cNvPr>
          <p:cNvCxnSpPr>
            <a:cxnSpLocks noChangeShapeType="1"/>
            <a:stCxn id="438281" idx="2"/>
            <a:endCxn id="438282" idx="0"/>
          </p:cNvCxnSpPr>
          <p:nvPr/>
        </p:nvCxnSpPr>
        <p:spPr bwMode="auto">
          <a:xfrm>
            <a:off x="6372226" y="3825875"/>
            <a:ext cx="16668" cy="1458913"/>
          </a:xfrm>
          <a:prstGeom prst="straightConnector1">
            <a:avLst/>
          </a:prstGeom>
          <a:noFill/>
          <a:ln w="19050">
            <a:solidFill>
              <a:schemeClr val="tx1"/>
            </a:solidFill>
            <a:round/>
            <a:headEnd type="arrow"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38303" name="Text Box 31">
            <a:extLst>
              <a:ext uri="{FF2B5EF4-FFF2-40B4-BE49-F238E27FC236}">
                <a16:creationId xmlns:a16="http://schemas.microsoft.com/office/drawing/2014/main" id="{51739F24-D22B-28A4-4CDC-85702519F65E}"/>
              </a:ext>
            </a:extLst>
          </p:cNvPr>
          <p:cNvSpPr txBox="1">
            <a:spLocks noChangeArrowheads="1"/>
          </p:cNvSpPr>
          <p:nvPr/>
        </p:nvSpPr>
        <p:spPr bwMode="auto">
          <a:xfrm>
            <a:off x="4152900" y="2946400"/>
            <a:ext cx="1262063"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latin typeface="ＭＳ Ｐゴシック" panose="020B0600070205080204" pitchFamily="50" charset="-128"/>
              </a:rPr>
              <a:t>Giữ</a:t>
            </a:r>
            <a:endParaRPr lang="en-US" altLang="ja-JP" sz="1800"/>
          </a:p>
        </p:txBody>
      </p:sp>
      <p:sp>
        <p:nvSpPr>
          <p:cNvPr id="438304" name="Text Box 32">
            <a:extLst>
              <a:ext uri="{FF2B5EF4-FFF2-40B4-BE49-F238E27FC236}">
                <a16:creationId xmlns:a16="http://schemas.microsoft.com/office/drawing/2014/main" id="{38A1B94B-2A8A-FD69-87B6-DDC662175CBB}"/>
              </a:ext>
            </a:extLst>
          </p:cNvPr>
          <p:cNvSpPr txBox="1">
            <a:spLocks noChangeArrowheads="1"/>
          </p:cNvSpPr>
          <p:nvPr/>
        </p:nvSpPr>
        <p:spPr bwMode="auto">
          <a:xfrm>
            <a:off x="2870200" y="4970463"/>
            <a:ext cx="1303338" cy="34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dirty="0" err="1">
                <a:latin typeface="ＭＳ Ｐゴシック" panose="020B0600070205080204" pitchFamily="50" charset="-128"/>
              </a:rPr>
              <a:t>Sử</a:t>
            </a:r>
            <a:r>
              <a:rPr lang="en-US" altLang="ja-JP" sz="1800" b="0" dirty="0">
                <a:latin typeface="ＭＳ Ｐゴシック" panose="020B0600070205080204" pitchFamily="50" charset="-128"/>
              </a:rPr>
              <a:t> </a:t>
            </a:r>
            <a:r>
              <a:rPr lang="en-US" altLang="ja-JP" sz="1800" b="0" dirty="0" err="1">
                <a:latin typeface="ＭＳ Ｐゴシック" panose="020B0600070205080204" pitchFamily="50" charset="-128"/>
              </a:rPr>
              <a:t>dụng</a:t>
            </a:r>
            <a:endParaRPr lang="en-US" altLang="ja-JP" sz="1800" dirty="0"/>
          </a:p>
        </p:txBody>
      </p:sp>
      <p:sp>
        <p:nvSpPr>
          <p:cNvPr id="438305" name="Text Box 33">
            <a:extLst>
              <a:ext uri="{FF2B5EF4-FFF2-40B4-BE49-F238E27FC236}">
                <a16:creationId xmlns:a16="http://schemas.microsoft.com/office/drawing/2014/main" id="{816E4C4B-5A03-0187-48FA-557EEAE4D181}"/>
              </a:ext>
            </a:extLst>
          </p:cNvPr>
          <p:cNvSpPr txBox="1">
            <a:spLocks noChangeArrowheads="1"/>
          </p:cNvSpPr>
          <p:nvPr/>
        </p:nvSpPr>
        <p:spPr bwMode="auto">
          <a:xfrm>
            <a:off x="6513513" y="4410075"/>
            <a:ext cx="1303337" cy="344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FF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74295" tIns="8890" rIns="74295" bIns="8890"/>
          <a:lstStyle/>
          <a:p>
            <a:r>
              <a:rPr lang="en-US" altLang="ja-JP" sz="1800" b="0">
                <a:latin typeface="ＭＳ Ｐゴシック" panose="020B0600070205080204" pitchFamily="50" charset="-128"/>
              </a:rPr>
              <a:t>Mượn</a:t>
            </a:r>
            <a:endParaRPr lang="en-US" altLang="ja-JP" sz="1800"/>
          </a:p>
        </p:txBody>
      </p:sp>
      <p:sp>
        <p:nvSpPr>
          <p:cNvPr id="438307" name="AutoShape 35">
            <a:extLst>
              <a:ext uri="{FF2B5EF4-FFF2-40B4-BE49-F238E27FC236}">
                <a16:creationId xmlns:a16="http://schemas.microsoft.com/office/drawing/2014/main" id="{0EECB954-0C66-DACB-9697-9E8356416411}"/>
              </a:ext>
            </a:extLst>
          </p:cNvPr>
          <p:cNvSpPr>
            <a:spLocks noChangeArrowheads="1"/>
          </p:cNvSpPr>
          <p:nvPr/>
        </p:nvSpPr>
        <p:spPr bwMode="auto">
          <a:xfrm>
            <a:off x="1063625" y="5729288"/>
            <a:ext cx="3603625" cy="566737"/>
          </a:xfrm>
          <a:prstGeom prst="wedgeRoundRectCallout">
            <a:avLst>
              <a:gd name="adj1" fmla="val -4273"/>
              <a:gd name="adj2" fmla="val -105463"/>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thư</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viện</a:t>
            </a:r>
            <a:r>
              <a:rPr lang="en-US" altLang="ja-JP" sz="1800" b="0" dirty="0">
                <a:latin typeface="+mj-lt"/>
                <a:cs typeface="Times New Roman" panose="02020603050405020304" pitchFamily="18" charset="0"/>
              </a:rPr>
              <a:t>. </a:t>
            </a:r>
          </a:p>
        </p:txBody>
      </p:sp>
      <p:sp>
        <p:nvSpPr>
          <p:cNvPr id="438308" name="AutoShape 36">
            <a:extLst>
              <a:ext uri="{FF2B5EF4-FFF2-40B4-BE49-F238E27FC236}">
                <a16:creationId xmlns:a16="http://schemas.microsoft.com/office/drawing/2014/main" id="{15FF8159-E21A-4946-E9F2-BB22169205E0}"/>
              </a:ext>
            </a:extLst>
          </p:cNvPr>
          <p:cNvSpPr>
            <a:spLocks noChangeArrowheads="1"/>
          </p:cNvSpPr>
          <p:nvPr/>
        </p:nvSpPr>
        <p:spPr bwMode="auto">
          <a:xfrm>
            <a:off x="3032125" y="2125663"/>
            <a:ext cx="3097213" cy="566737"/>
          </a:xfrm>
          <a:prstGeom prst="wedgeRoundRectCallout">
            <a:avLst>
              <a:gd name="adj1" fmla="val -23245"/>
              <a:gd name="adj2" fmla="val 118069"/>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2000" b="0" dirty="0">
                <a:latin typeface="+mj-lt"/>
                <a:cs typeface="Times New Roman" panose="02020603050405020304" pitchFamily="18" charset="0"/>
              </a:rPr>
              <a:t> Thư </a:t>
            </a:r>
            <a:r>
              <a:rPr lang="en-US" altLang="ja-JP" sz="2000" b="0" dirty="0" err="1">
                <a:latin typeface="+mj-lt"/>
                <a:cs typeface="Times New Roman" panose="02020603050405020304" pitchFamily="18" charset="0"/>
              </a:rPr>
              <a:t>viện</a:t>
            </a:r>
            <a:r>
              <a:rPr lang="en-US" altLang="ja-JP" sz="2000" b="0" dirty="0">
                <a:latin typeface="+mj-lt"/>
                <a:cs typeface="Times New Roman" panose="02020603050405020304" pitchFamily="18" charset="0"/>
              </a:rPr>
              <a:t> </a:t>
            </a:r>
            <a:r>
              <a:rPr lang="en-US" altLang="ja-JP" sz="2000" b="0" dirty="0" err="1">
                <a:latin typeface="+mj-lt"/>
                <a:cs typeface="Times New Roman" panose="02020603050405020304" pitchFamily="18" charset="0"/>
              </a:rPr>
              <a:t>giữ</a:t>
            </a:r>
            <a:r>
              <a:rPr lang="en-US" altLang="ja-JP" sz="2000" b="0" dirty="0">
                <a:latin typeface="+mj-lt"/>
                <a:cs typeface="Times New Roman" panose="02020603050405020304" pitchFamily="18" charset="0"/>
              </a:rPr>
              <a:t> </a:t>
            </a:r>
            <a:r>
              <a:rPr lang="en-US" altLang="ja-JP" sz="2000" b="0" dirty="0" err="1">
                <a:latin typeface="+mj-lt"/>
                <a:cs typeface="Times New Roman" panose="02020603050405020304" pitchFamily="18" charset="0"/>
              </a:rPr>
              <a:t>sách</a:t>
            </a:r>
            <a:endParaRPr lang="en-US" altLang="ja-JP" sz="2000" b="0" dirty="0">
              <a:latin typeface="+mj-lt"/>
              <a:cs typeface="Times New Roman" panose="02020603050405020304" pitchFamily="18" charset="0"/>
            </a:endParaRPr>
          </a:p>
        </p:txBody>
      </p:sp>
      <p:sp>
        <p:nvSpPr>
          <p:cNvPr id="438309" name="AutoShape 37">
            <a:extLst>
              <a:ext uri="{FF2B5EF4-FFF2-40B4-BE49-F238E27FC236}">
                <a16:creationId xmlns:a16="http://schemas.microsoft.com/office/drawing/2014/main" id="{2228B35B-398D-AFF2-0476-17FA1C21B645}"/>
              </a:ext>
            </a:extLst>
          </p:cNvPr>
          <p:cNvSpPr>
            <a:spLocks noChangeArrowheads="1"/>
          </p:cNvSpPr>
          <p:nvPr/>
        </p:nvSpPr>
        <p:spPr bwMode="auto">
          <a:xfrm>
            <a:off x="7672388" y="3697288"/>
            <a:ext cx="1465262" cy="893762"/>
          </a:xfrm>
          <a:prstGeom prst="wedgeRoundRectCallout">
            <a:avLst>
              <a:gd name="adj1" fmla="val -72644"/>
              <a:gd name="adj2" fmla="val 46269"/>
              <a:gd name="adj3" fmla="val 16667"/>
            </a:avLst>
          </a:prstGeom>
          <a:solidFill>
            <a:srgbClr val="FFFF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Người</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sử</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dụng</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mượn</a:t>
            </a:r>
            <a:r>
              <a:rPr lang="en-US" altLang="ja-JP" sz="1800" b="0" dirty="0">
                <a:latin typeface="+mj-lt"/>
                <a:cs typeface="Times New Roman" panose="02020603050405020304" pitchFamily="18" charset="0"/>
              </a:rPr>
              <a:t> </a:t>
            </a:r>
            <a:r>
              <a:rPr lang="en-US" altLang="ja-JP" sz="1800" b="0" dirty="0" err="1">
                <a:latin typeface="+mj-lt"/>
                <a:cs typeface="Times New Roman" panose="02020603050405020304" pitchFamily="18" charset="0"/>
              </a:rPr>
              <a:t>sách</a:t>
            </a:r>
            <a:endParaRPr lang="en-US" altLang="ja-JP" sz="1800" b="0" dirty="0">
              <a:latin typeface="+mj-lt"/>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D5135E6-E25D-AC49-459B-2740E959EB80}"/>
              </a:ext>
            </a:extLst>
          </p:cNvPr>
          <p:cNvSpPr>
            <a:spLocks noGrp="1"/>
          </p:cNvSpPr>
          <p:nvPr>
            <p:ph type="sldNum" sz="quarter" idx="10"/>
          </p:nvPr>
        </p:nvSpPr>
        <p:spPr/>
        <p:txBody>
          <a:bodyPr/>
          <a:lstStyle/>
          <a:p>
            <a:fld id="{089145EC-50C3-4E08-AB02-FEF3297C12B0}" type="slidenum">
              <a:rPr lang="en-US" altLang="ja-JP"/>
              <a:pPr/>
              <a:t>13</a:t>
            </a:fld>
            <a:endParaRPr lang="en-US" altLang="ja-JP"/>
          </a:p>
        </p:txBody>
      </p:sp>
      <p:sp>
        <p:nvSpPr>
          <p:cNvPr id="395267" name="Rectangle 3">
            <a:extLst>
              <a:ext uri="{FF2B5EF4-FFF2-40B4-BE49-F238E27FC236}">
                <a16:creationId xmlns:a16="http://schemas.microsoft.com/office/drawing/2014/main" id="{BF60C142-A0E9-3E05-A6C8-6EFA84AF3355}"/>
              </a:ext>
            </a:extLst>
          </p:cNvPr>
          <p:cNvSpPr>
            <a:spLocks noGrp="1" noChangeArrowheads="1"/>
          </p:cNvSpPr>
          <p:nvPr>
            <p:ph type="title"/>
          </p:nvPr>
        </p:nvSpPr>
        <p:spPr>
          <a:xfrm>
            <a:off x="344487" y="27463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tương</a:t>
            </a:r>
            <a:r>
              <a:rPr lang="en-US" altLang="ja-JP" dirty="0">
                <a:solidFill>
                  <a:srgbClr val="FF0000"/>
                </a:solidFill>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 (2)</a:t>
            </a:r>
          </a:p>
        </p:txBody>
      </p:sp>
      <p:sp>
        <p:nvSpPr>
          <p:cNvPr id="395268" name="Rectangle 4">
            <a:extLst>
              <a:ext uri="{FF2B5EF4-FFF2-40B4-BE49-F238E27FC236}">
                <a16:creationId xmlns:a16="http://schemas.microsoft.com/office/drawing/2014/main" id="{ED87A93A-C7D5-C6D4-A51F-7FD1F038CDED}"/>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Tập hợp (Phân giải)</a:t>
            </a:r>
          </a:p>
        </p:txBody>
      </p:sp>
      <p:sp>
        <p:nvSpPr>
          <p:cNvPr id="395269" name="Rectangle 5">
            <a:extLst>
              <a:ext uri="{FF2B5EF4-FFF2-40B4-BE49-F238E27FC236}">
                <a16:creationId xmlns:a16="http://schemas.microsoft.com/office/drawing/2014/main" id="{A197BAEE-C528-9149-87D7-278D2C186CA9}"/>
              </a:ext>
            </a:extLst>
          </p:cNvPr>
          <p:cNvSpPr>
            <a:spLocks noChangeArrowheads="1"/>
          </p:cNvSpPr>
          <p:nvPr/>
        </p:nvSpPr>
        <p:spPr bwMode="auto">
          <a:xfrm>
            <a:off x="344488" y="1204913"/>
            <a:ext cx="9120187" cy="61277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Là mối quan hệ của class toàn thể và class bộ phận cấu thành nên sự toàn thể đó. </a:t>
            </a:r>
          </a:p>
        </p:txBody>
      </p:sp>
      <p:sp>
        <p:nvSpPr>
          <p:cNvPr id="395266" name="Rectangle 2">
            <a:extLst>
              <a:ext uri="{FF2B5EF4-FFF2-40B4-BE49-F238E27FC236}">
                <a16:creationId xmlns:a16="http://schemas.microsoft.com/office/drawing/2014/main" id="{F5C5656C-D1AC-A9FB-E89B-E6A5D04C9571}"/>
              </a:ext>
            </a:extLst>
          </p:cNvPr>
          <p:cNvSpPr>
            <a:spLocks noChangeArrowheads="1"/>
          </p:cNvSpPr>
          <p:nvPr/>
        </p:nvSpPr>
        <p:spPr bwMode="auto">
          <a:xfrm>
            <a:off x="344488" y="1958975"/>
            <a:ext cx="9120187" cy="4359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395346" name="Group 82">
            <a:extLst>
              <a:ext uri="{FF2B5EF4-FFF2-40B4-BE49-F238E27FC236}">
                <a16:creationId xmlns:a16="http://schemas.microsoft.com/office/drawing/2014/main" id="{CEDB587B-5D9D-5F75-4924-6043A1ACBDF6}"/>
              </a:ext>
            </a:extLst>
          </p:cNvPr>
          <p:cNvGrpSpPr>
            <a:grpSpLocks/>
          </p:cNvGrpSpPr>
          <p:nvPr/>
        </p:nvGrpSpPr>
        <p:grpSpPr bwMode="auto">
          <a:xfrm>
            <a:off x="573088" y="2476500"/>
            <a:ext cx="8520112" cy="3603625"/>
            <a:chOff x="361" y="1560"/>
            <a:chExt cx="5367" cy="2270"/>
          </a:xfrm>
        </p:grpSpPr>
        <p:sp>
          <p:nvSpPr>
            <p:cNvPr id="395293" name="Rectangle 29">
              <a:extLst>
                <a:ext uri="{FF2B5EF4-FFF2-40B4-BE49-F238E27FC236}">
                  <a16:creationId xmlns:a16="http://schemas.microsoft.com/office/drawing/2014/main" id="{D8136B08-4344-401C-C712-9A5C253B33C0}"/>
                </a:ext>
              </a:extLst>
            </p:cNvPr>
            <p:cNvSpPr>
              <a:spLocks noChangeArrowheads="1"/>
            </p:cNvSpPr>
            <p:nvPr/>
          </p:nvSpPr>
          <p:spPr bwMode="auto">
            <a:xfrm>
              <a:off x="3933" y="17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Ô tô</a:t>
              </a:r>
            </a:p>
          </p:txBody>
        </p:sp>
        <p:sp>
          <p:nvSpPr>
            <p:cNvPr id="395294" name="Rectangle 30">
              <a:extLst>
                <a:ext uri="{FF2B5EF4-FFF2-40B4-BE49-F238E27FC236}">
                  <a16:creationId xmlns:a16="http://schemas.microsoft.com/office/drawing/2014/main" id="{173E30E1-09A3-6E5C-EA1E-828240650010}"/>
                </a:ext>
              </a:extLst>
            </p:cNvPr>
            <p:cNvSpPr>
              <a:spLocks noChangeArrowheads="1"/>
            </p:cNvSpPr>
            <p:nvPr/>
          </p:nvSpPr>
          <p:spPr bwMode="auto">
            <a:xfrm>
              <a:off x="2292"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Engine</a:t>
              </a:r>
            </a:p>
          </p:txBody>
        </p:sp>
        <p:sp>
          <p:nvSpPr>
            <p:cNvPr id="395295" name="Rectangle 31">
              <a:extLst>
                <a:ext uri="{FF2B5EF4-FFF2-40B4-BE49-F238E27FC236}">
                  <a16:creationId xmlns:a16="http://schemas.microsoft.com/office/drawing/2014/main" id="{8AF3FBEE-656F-0BB5-6CE1-33C90774DF8A}"/>
                </a:ext>
              </a:extLst>
            </p:cNvPr>
            <p:cNvSpPr>
              <a:spLocks noChangeArrowheads="1"/>
            </p:cNvSpPr>
            <p:nvPr/>
          </p:nvSpPr>
          <p:spPr bwMode="auto">
            <a:xfrm>
              <a:off x="2982"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Radiator</a:t>
              </a:r>
            </a:p>
          </p:txBody>
        </p:sp>
        <p:sp>
          <p:nvSpPr>
            <p:cNvPr id="395296" name="Rectangle 32">
              <a:extLst>
                <a:ext uri="{FF2B5EF4-FFF2-40B4-BE49-F238E27FC236}">
                  <a16:creationId xmlns:a16="http://schemas.microsoft.com/office/drawing/2014/main" id="{10AB6519-9E07-9FFD-A9B1-D7F693CE8B6D}"/>
                </a:ext>
              </a:extLst>
            </p:cNvPr>
            <p:cNvSpPr>
              <a:spLocks noChangeArrowheads="1"/>
            </p:cNvSpPr>
            <p:nvPr/>
          </p:nvSpPr>
          <p:spPr bwMode="auto">
            <a:xfrm>
              <a:off x="3660"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Battery</a:t>
              </a:r>
            </a:p>
          </p:txBody>
        </p:sp>
        <p:sp>
          <p:nvSpPr>
            <p:cNvPr id="395297" name="Rectangle 33">
              <a:extLst>
                <a:ext uri="{FF2B5EF4-FFF2-40B4-BE49-F238E27FC236}">
                  <a16:creationId xmlns:a16="http://schemas.microsoft.com/office/drawing/2014/main" id="{4887495A-B2CF-A43C-6712-BEB50CC55695}"/>
                </a:ext>
              </a:extLst>
            </p:cNvPr>
            <p:cNvSpPr>
              <a:spLocks noChangeArrowheads="1"/>
            </p:cNvSpPr>
            <p:nvPr/>
          </p:nvSpPr>
          <p:spPr bwMode="auto">
            <a:xfrm>
              <a:off x="4427"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Tire</a:t>
              </a:r>
            </a:p>
          </p:txBody>
        </p:sp>
        <p:sp>
          <p:nvSpPr>
            <p:cNvPr id="395298" name="Rectangle 34">
              <a:extLst>
                <a:ext uri="{FF2B5EF4-FFF2-40B4-BE49-F238E27FC236}">
                  <a16:creationId xmlns:a16="http://schemas.microsoft.com/office/drawing/2014/main" id="{34074DE1-1B8A-2824-4B6D-4A6CD373DC5E}"/>
                </a:ext>
              </a:extLst>
            </p:cNvPr>
            <p:cNvSpPr>
              <a:spLocks noChangeArrowheads="1"/>
            </p:cNvSpPr>
            <p:nvPr/>
          </p:nvSpPr>
          <p:spPr bwMode="auto">
            <a:xfrm>
              <a:off x="5104" y="3298"/>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Wheel</a:t>
              </a:r>
            </a:p>
          </p:txBody>
        </p:sp>
        <p:sp>
          <p:nvSpPr>
            <p:cNvPr id="395299" name="Freeform 35">
              <a:extLst>
                <a:ext uri="{FF2B5EF4-FFF2-40B4-BE49-F238E27FC236}">
                  <a16:creationId xmlns:a16="http://schemas.microsoft.com/office/drawing/2014/main" id="{0CD964BE-013E-F883-51D0-3BDD6B1758B6}"/>
                </a:ext>
              </a:extLst>
            </p:cNvPr>
            <p:cNvSpPr>
              <a:spLocks/>
            </p:cNvSpPr>
            <p:nvPr/>
          </p:nvSpPr>
          <p:spPr bwMode="auto">
            <a:xfrm>
              <a:off x="3356" y="2303"/>
              <a:ext cx="1724" cy="991"/>
            </a:xfrm>
            <a:custGeom>
              <a:avLst/>
              <a:gdLst>
                <a:gd name="T0" fmla="*/ 0 w 1788"/>
                <a:gd name="T1" fmla="*/ 1009 h 1010"/>
                <a:gd name="T2" fmla="*/ 0 w 1788"/>
                <a:gd name="T3" fmla="*/ 0 h 1010"/>
                <a:gd name="T4" fmla="*/ 1787 w 1788"/>
                <a:gd name="T5" fmla="*/ 0 h 1010"/>
                <a:gd name="T6" fmla="*/ 1787 w 1788"/>
                <a:gd name="T7" fmla="*/ 777 h 1010"/>
              </a:gdLst>
              <a:ahLst/>
              <a:cxnLst>
                <a:cxn ang="0">
                  <a:pos x="T0" y="T1"/>
                </a:cxn>
                <a:cxn ang="0">
                  <a:pos x="T2" y="T3"/>
                </a:cxn>
                <a:cxn ang="0">
                  <a:pos x="T4" y="T5"/>
                </a:cxn>
                <a:cxn ang="0">
                  <a:pos x="T6" y="T7"/>
                </a:cxn>
              </a:cxnLst>
              <a:rect l="0" t="0" r="r" b="b"/>
              <a:pathLst>
                <a:path w="1788" h="1010">
                  <a:moveTo>
                    <a:pt x="0" y="1009"/>
                  </a:moveTo>
                  <a:lnTo>
                    <a:pt x="0" y="0"/>
                  </a:lnTo>
                  <a:lnTo>
                    <a:pt x="1787" y="0"/>
                  </a:lnTo>
                  <a:lnTo>
                    <a:pt x="1787" y="777"/>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0" name="Freeform 36">
              <a:extLst>
                <a:ext uri="{FF2B5EF4-FFF2-40B4-BE49-F238E27FC236}">
                  <a16:creationId xmlns:a16="http://schemas.microsoft.com/office/drawing/2014/main" id="{4D6EB444-56EC-ECB2-B0DB-93F18AE3A145}"/>
                </a:ext>
              </a:extLst>
            </p:cNvPr>
            <p:cNvSpPr>
              <a:spLocks/>
            </p:cNvSpPr>
            <p:nvPr/>
          </p:nvSpPr>
          <p:spPr bwMode="auto">
            <a:xfrm>
              <a:off x="4722" y="3080"/>
              <a:ext cx="790" cy="202"/>
            </a:xfrm>
            <a:custGeom>
              <a:avLst/>
              <a:gdLst>
                <a:gd name="T0" fmla="*/ 0 w 819"/>
                <a:gd name="T1" fmla="*/ 205 h 206"/>
                <a:gd name="T2" fmla="*/ 0 w 819"/>
                <a:gd name="T3" fmla="*/ 0 h 206"/>
                <a:gd name="T4" fmla="*/ 818 w 819"/>
                <a:gd name="T5" fmla="*/ 0 h 206"/>
                <a:gd name="T6" fmla="*/ 818 w 819"/>
                <a:gd name="T7" fmla="*/ 205 h 206"/>
              </a:gdLst>
              <a:ahLst/>
              <a:cxnLst>
                <a:cxn ang="0">
                  <a:pos x="T0" y="T1"/>
                </a:cxn>
                <a:cxn ang="0">
                  <a:pos x="T2" y="T3"/>
                </a:cxn>
                <a:cxn ang="0">
                  <a:pos x="T4" y="T5"/>
                </a:cxn>
                <a:cxn ang="0">
                  <a:pos x="T6" y="T7"/>
                </a:cxn>
              </a:cxnLst>
              <a:rect l="0" t="0" r="r" b="b"/>
              <a:pathLst>
                <a:path w="819" h="206">
                  <a:moveTo>
                    <a:pt x="0" y="205"/>
                  </a:moveTo>
                  <a:lnTo>
                    <a:pt x="0" y="0"/>
                  </a:lnTo>
                  <a:lnTo>
                    <a:pt x="818" y="0"/>
                  </a:lnTo>
                  <a:lnTo>
                    <a:pt x="818" y="205"/>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1" name="Freeform 37">
              <a:extLst>
                <a:ext uri="{FF2B5EF4-FFF2-40B4-BE49-F238E27FC236}">
                  <a16:creationId xmlns:a16="http://schemas.microsoft.com/office/drawing/2014/main" id="{52DA972B-5BF8-941D-79EE-CDB15D5AF918}"/>
                </a:ext>
              </a:extLst>
            </p:cNvPr>
            <p:cNvSpPr>
              <a:spLocks/>
            </p:cNvSpPr>
            <p:nvPr/>
          </p:nvSpPr>
          <p:spPr bwMode="auto">
            <a:xfrm>
              <a:off x="2614" y="3079"/>
              <a:ext cx="1434" cy="216"/>
            </a:xfrm>
            <a:custGeom>
              <a:avLst/>
              <a:gdLst>
                <a:gd name="T0" fmla="*/ 0 w 1487"/>
                <a:gd name="T1" fmla="*/ 219 h 220"/>
                <a:gd name="T2" fmla="*/ 0 w 1487"/>
                <a:gd name="T3" fmla="*/ 0 h 220"/>
                <a:gd name="T4" fmla="*/ 1486 w 1487"/>
                <a:gd name="T5" fmla="*/ 0 h 220"/>
                <a:gd name="T6" fmla="*/ 1486 w 1487"/>
                <a:gd name="T7" fmla="*/ 219 h 220"/>
              </a:gdLst>
              <a:ahLst/>
              <a:cxnLst>
                <a:cxn ang="0">
                  <a:pos x="T0" y="T1"/>
                </a:cxn>
                <a:cxn ang="0">
                  <a:pos x="T2" y="T3"/>
                </a:cxn>
                <a:cxn ang="0">
                  <a:pos x="T4" y="T5"/>
                </a:cxn>
                <a:cxn ang="0">
                  <a:pos x="T6" y="T7"/>
                </a:cxn>
              </a:cxnLst>
              <a:rect l="0" t="0" r="r" b="b"/>
              <a:pathLst>
                <a:path w="1487" h="220">
                  <a:moveTo>
                    <a:pt x="0" y="219"/>
                  </a:moveTo>
                  <a:lnTo>
                    <a:pt x="0" y="0"/>
                  </a:lnTo>
                  <a:lnTo>
                    <a:pt x="1486" y="0"/>
                  </a:lnTo>
                  <a:lnTo>
                    <a:pt x="1486" y="219"/>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02" name="Rectangle 38">
              <a:extLst>
                <a:ext uri="{FF2B5EF4-FFF2-40B4-BE49-F238E27FC236}">
                  <a16:creationId xmlns:a16="http://schemas.microsoft.com/office/drawing/2014/main" id="{C223B8F0-E74D-E31B-04D2-EF1CC684CBC5}"/>
                </a:ext>
              </a:extLst>
            </p:cNvPr>
            <p:cNvSpPr>
              <a:spLocks noChangeArrowheads="1"/>
            </p:cNvSpPr>
            <p:nvPr/>
          </p:nvSpPr>
          <p:spPr bwMode="auto">
            <a:xfrm>
              <a:off x="4725" y="2545"/>
              <a:ext cx="624" cy="287"/>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
              </a:r>
              <a:r>
                <a:rPr lang="en-US" altLang="ja-JP" sz="1800">
                  <a:latin typeface="MS UI Gothic" panose="020B0600070205080204" pitchFamily="50" charset="-128"/>
                </a:rPr>
                <a:t>á</a:t>
              </a:r>
              <a:r>
                <a:rPr lang="en-US" altLang="ja-JP" sz="1800">
                  <a:latin typeface="Times New Roman" panose="02020603050405020304" pitchFamily="18" charset="0"/>
                </a:rPr>
                <a:t>nh xe</a:t>
              </a:r>
            </a:p>
          </p:txBody>
        </p:sp>
        <p:sp>
          <p:nvSpPr>
            <p:cNvPr id="395303" name="Rectangle 39">
              <a:extLst>
                <a:ext uri="{FF2B5EF4-FFF2-40B4-BE49-F238E27FC236}">
                  <a16:creationId xmlns:a16="http://schemas.microsoft.com/office/drawing/2014/main" id="{F6CE4340-027D-4673-0220-90AF02D2CB4A}"/>
                </a:ext>
              </a:extLst>
            </p:cNvPr>
            <p:cNvSpPr>
              <a:spLocks noChangeArrowheads="1"/>
            </p:cNvSpPr>
            <p:nvPr/>
          </p:nvSpPr>
          <p:spPr bwMode="auto">
            <a:xfrm>
              <a:off x="2969" y="2523"/>
              <a:ext cx="716" cy="29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Thiết bị </a:t>
              </a:r>
            </a:p>
            <a:p>
              <a:pPr algn="ctr" eaLnBrk="0" fontAlgn="ctr" hangingPunct="0"/>
              <a:r>
                <a:rPr lang="en-US" altLang="ja-JP" sz="1800">
                  <a:latin typeface="Times New Roman" panose="02020603050405020304" pitchFamily="18" charset="0"/>
                </a:rPr>
                <a:t>Phát động</a:t>
              </a:r>
            </a:p>
          </p:txBody>
        </p:sp>
        <p:sp>
          <p:nvSpPr>
            <p:cNvPr id="395304" name="Line 40">
              <a:extLst>
                <a:ext uri="{FF2B5EF4-FFF2-40B4-BE49-F238E27FC236}">
                  <a16:creationId xmlns:a16="http://schemas.microsoft.com/office/drawing/2014/main" id="{E1152CF9-0473-20E4-2229-EEE42526E8C1}"/>
                </a:ext>
              </a:extLst>
            </p:cNvPr>
            <p:cNvSpPr>
              <a:spLocks noChangeShapeType="1"/>
            </p:cNvSpPr>
            <p:nvPr/>
          </p:nvSpPr>
          <p:spPr bwMode="auto">
            <a:xfrm flipH="1">
              <a:off x="4254" y="2078"/>
              <a:ext cx="6" cy="45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05" name="Rectangle 41">
              <a:extLst>
                <a:ext uri="{FF2B5EF4-FFF2-40B4-BE49-F238E27FC236}">
                  <a16:creationId xmlns:a16="http://schemas.microsoft.com/office/drawing/2014/main" id="{2C9F6C68-8DBB-31E6-89E3-52C221CFFBB8}"/>
                </a:ext>
              </a:extLst>
            </p:cNvPr>
            <p:cNvSpPr>
              <a:spLocks noChangeArrowheads="1"/>
            </p:cNvSpPr>
            <p:nvPr/>
          </p:nvSpPr>
          <p:spPr bwMode="auto">
            <a:xfrm>
              <a:off x="3945" y="2536"/>
              <a:ext cx="637" cy="286"/>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Khung xe</a:t>
              </a:r>
            </a:p>
          </p:txBody>
        </p:sp>
        <p:grpSp>
          <p:nvGrpSpPr>
            <p:cNvPr id="395306" name="Group 42">
              <a:extLst>
                <a:ext uri="{FF2B5EF4-FFF2-40B4-BE49-F238E27FC236}">
                  <a16:creationId xmlns:a16="http://schemas.microsoft.com/office/drawing/2014/main" id="{50F5A142-5ED0-2215-FCD3-6FC32F1AED34}"/>
                </a:ext>
              </a:extLst>
            </p:cNvPr>
            <p:cNvGrpSpPr>
              <a:grpSpLocks/>
            </p:cNvGrpSpPr>
            <p:nvPr/>
          </p:nvGrpSpPr>
          <p:grpSpPr bwMode="auto">
            <a:xfrm>
              <a:off x="987" y="1560"/>
              <a:ext cx="1051" cy="550"/>
              <a:chOff x="767" y="1650"/>
              <a:chExt cx="1091" cy="560"/>
            </a:xfrm>
          </p:grpSpPr>
          <p:sp>
            <p:nvSpPr>
              <p:cNvPr id="395307" name="Freeform 43">
                <a:extLst>
                  <a:ext uri="{FF2B5EF4-FFF2-40B4-BE49-F238E27FC236}">
                    <a16:creationId xmlns:a16="http://schemas.microsoft.com/office/drawing/2014/main" id="{20C1EED5-8122-C3EF-8D29-1ECE04DA214A}"/>
                  </a:ext>
                </a:extLst>
              </p:cNvPr>
              <p:cNvSpPr>
                <a:spLocks/>
              </p:cNvSpPr>
              <p:nvPr/>
            </p:nvSpPr>
            <p:spPr bwMode="auto">
              <a:xfrm>
                <a:off x="767" y="1650"/>
                <a:ext cx="1091" cy="441"/>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95308" name="Group 44">
                <a:extLst>
                  <a:ext uri="{FF2B5EF4-FFF2-40B4-BE49-F238E27FC236}">
                    <a16:creationId xmlns:a16="http://schemas.microsoft.com/office/drawing/2014/main" id="{894C8815-F9CE-BA5E-6583-925C53779698}"/>
                  </a:ext>
                </a:extLst>
              </p:cNvPr>
              <p:cNvGrpSpPr>
                <a:grpSpLocks/>
              </p:cNvGrpSpPr>
              <p:nvPr/>
            </p:nvGrpSpPr>
            <p:grpSpPr bwMode="auto">
              <a:xfrm>
                <a:off x="1023" y="2022"/>
                <a:ext cx="200" cy="188"/>
                <a:chOff x="1023" y="2022"/>
                <a:chExt cx="200" cy="188"/>
              </a:xfrm>
            </p:grpSpPr>
            <p:sp>
              <p:nvSpPr>
                <p:cNvPr id="395309" name="Oval 45">
                  <a:extLst>
                    <a:ext uri="{FF2B5EF4-FFF2-40B4-BE49-F238E27FC236}">
                      <a16:creationId xmlns:a16="http://schemas.microsoft.com/office/drawing/2014/main" id="{80A26F15-895A-DBDE-814E-60057CA5FD5C}"/>
                    </a:ext>
                  </a:extLst>
                </p:cNvPr>
                <p:cNvSpPr>
                  <a:spLocks noChangeArrowheads="1"/>
                </p:cNvSpPr>
                <p:nvPr/>
              </p:nvSpPr>
              <p:spPr bwMode="auto">
                <a:xfrm>
                  <a:off x="1023"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0" name="Oval 46">
                  <a:extLst>
                    <a:ext uri="{FF2B5EF4-FFF2-40B4-BE49-F238E27FC236}">
                      <a16:creationId xmlns:a16="http://schemas.microsoft.com/office/drawing/2014/main" id="{A1005F83-13BA-9750-1A33-5FAAA55CA8FC}"/>
                    </a:ext>
                  </a:extLst>
                </p:cNvPr>
                <p:cNvSpPr>
                  <a:spLocks noChangeArrowheads="1"/>
                </p:cNvSpPr>
                <p:nvPr/>
              </p:nvSpPr>
              <p:spPr bwMode="auto">
                <a:xfrm>
                  <a:off x="1063"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11" name="Group 47">
                <a:extLst>
                  <a:ext uri="{FF2B5EF4-FFF2-40B4-BE49-F238E27FC236}">
                    <a16:creationId xmlns:a16="http://schemas.microsoft.com/office/drawing/2014/main" id="{C6DF854C-E504-61A4-096A-8EF319089B31}"/>
                  </a:ext>
                </a:extLst>
              </p:cNvPr>
              <p:cNvGrpSpPr>
                <a:grpSpLocks/>
              </p:cNvGrpSpPr>
              <p:nvPr/>
            </p:nvGrpSpPr>
            <p:grpSpPr bwMode="auto">
              <a:xfrm>
                <a:off x="1449" y="2022"/>
                <a:ext cx="200" cy="188"/>
                <a:chOff x="1449" y="2022"/>
                <a:chExt cx="200" cy="188"/>
              </a:xfrm>
            </p:grpSpPr>
            <p:sp>
              <p:nvSpPr>
                <p:cNvPr id="395312" name="Oval 48">
                  <a:extLst>
                    <a:ext uri="{FF2B5EF4-FFF2-40B4-BE49-F238E27FC236}">
                      <a16:creationId xmlns:a16="http://schemas.microsoft.com/office/drawing/2014/main" id="{38BB2433-429F-496E-FD1D-253CFF1399AC}"/>
                    </a:ext>
                  </a:extLst>
                </p:cNvPr>
                <p:cNvSpPr>
                  <a:spLocks noChangeArrowheads="1"/>
                </p:cNvSpPr>
                <p:nvPr/>
              </p:nvSpPr>
              <p:spPr bwMode="auto">
                <a:xfrm>
                  <a:off x="1449" y="2022"/>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3" name="Oval 49">
                  <a:extLst>
                    <a:ext uri="{FF2B5EF4-FFF2-40B4-BE49-F238E27FC236}">
                      <a16:creationId xmlns:a16="http://schemas.microsoft.com/office/drawing/2014/main" id="{88F2B3C2-3BFB-C28A-B13E-D7BC76428664}"/>
                    </a:ext>
                  </a:extLst>
                </p:cNvPr>
                <p:cNvSpPr>
                  <a:spLocks noChangeArrowheads="1"/>
                </p:cNvSpPr>
                <p:nvPr/>
              </p:nvSpPr>
              <p:spPr bwMode="auto">
                <a:xfrm>
                  <a:off x="1489" y="2058"/>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sp>
          <p:nvSpPr>
            <p:cNvPr id="395314" name="Freeform 50">
              <a:extLst>
                <a:ext uri="{FF2B5EF4-FFF2-40B4-BE49-F238E27FC236}">
                  <a16:creationId xmlns:a16="http://schemas.microsoft.com/office/drawing/2014/main" id="{81E5CE0C-217E-C028-4AD2-56D92DFBB290}"/>
                </a:ext>
              </a:extLst>
            </p:cNvPr>
            <p:cNvSpPr>
              <a:spLocks/>
            </p:cNvSpPr>
            <p:nvPr/>
          </p:nvSpPr>
          <p:spPr bwMode="auto">
            <a:xfrm>
              <a:off x="750" y="3045"/>
              <a:ext cx="1052" cy="433"/>
            </a:xfrm>
            <a:custGeom>
              <a:avLst/>
              <a:gdLst>
                <a:gd name="T0" fmla="*/ 60 w 1091"/>
                <a:gd name="T1" fmla="*/ 408 h 441"/>
                <a:gd name="T2" fmla="*/ 26 w 1091"/>
                <a:gd name="T3" fmla="*/ 358 h 441"/>
                <a:gd name="T4" fmla="*/ 0 w 1091"/>
                <a:gd name="T5" fmla="*/ 328 h 441"/>
                <a:gd name="T6" fmla="*/ 28 w 1091"/>
                <a:gd name="T7" fmla="*/ 288 h 441"/>
                <a:gd name="T8" fmla="*/ 48 w 1091"/>
                <a:gd name="T9" fmla="*/ 252 h 441"/>
                <a:gd name="T10" fmla="*/ 76 w 1091"/>
                <a:gd name="T11" fmla="*/ 228 h 441"/>
                <a:gd name="T12" fmla="*/ 112 w 1091"/>
                <a:gd name="T13" fmla="*/ 220 h 441"/>
                <a:gd name="T14" fmla="*/ 156 w 1091"/>
                <a:gd name="T15" fmla="*/ 208 h 441"/>
                <a:gd name="T16" fmla="*/ 192 w 1091"/>
                <a:gd name="T17" fmla="*/ 200 h 441"/>
                <a:gd name="T18" fmla="*/ 232 w 1091"/>
                <a:gd name="T19" fmla="*/ 188 h 441"/>
                <a:gd name="T20" fmla="*/ 292 w 1091"/>
                <a:gd name="T21" fmla="*/ 168 h 441"/>
                <a:gd name="T22" fmla="*/ 368 w 1091"/>
                <a:gd name="T23" fmla="*/ 80 h 441"/>
                <a:gd name="T24" fmla="*/ 416 w 1091"/>
                <a:gd name="T25" fmla="*/ 36 h 441"/>
                <a:gd name="T26" fmla="*/ 468 w 1091"/>
                <a:gd name="T27" fmla="*/ 4 h 441"/>
                <a:gd name="T28" fmla="*/ 500 w 1091"/>
                <a:gd name="T29" fmla="*/ 0 h 441"/>
                <a:gd name="T30" fmla="*/ 580 w 1091"/>
                <a:gd name="T31" fmla="*/ 0 h 441"/>
                <a:gd name="T32" fmla="*/ 684 w 1091"/>
                <a:gd name="T33" fmla="*/ 0 h 441"/>
                <a:gd name="T34" fmla="*/ 732 w 1091"/>
                <a:gd name="T35" fmla="*/ 8 h 441"/>
                <a:gd name="T36" fmla="*/ 784 w 1091"/>
                <a:gd name="T37" fmla="*/ 16 h 441"/>
                <a:gd name="T38" fmla="*/ 836 w 1091"/>
                <a:gd name="T39" fmla="*/ 32 h 441"/>
                <a:gd name="T40" fmla="*/ 860 w 1091"/>
                <a:gd name="T41" fmla="*/ 64 h 441"/>
                <a:gd name="T42" fmla="*/ 880 w 1091"/>
                <a:gd name="T43" fmla="*/ 112 h 441"/>
                <a:gd name="T44" fmla="*/ 900 w 1091"/>
                <a:gd name="T45" fmla="*/ 152 h 441"/>
                <a:gd name="T46" fmla="*/ 932 w 1091"/>
                <a:gd name="T47" fmla="*/ 200 h 441"/>
                <a:gd name="T48" fmla="*/ 964 w 1091"/>
                <a:gd name="T49" fmla="*/ 200 h 441"/>
                <a:gd name="T50" fmla="*/ 1028 w 1091"/>
                <a:gd name="T51" fmla="*/ 204 h 441"/>
                <a:gd name="T52" fmla="*/ 1084 w 1091"/>
                <a:gd name="T53" fmla="*/ 212 h 441"/>
                <a:gd name="T54" fmla="*/ 1090 w 1091"/>
                <a:gd name="T55" fmla="*/ 263 h 441"/>
                <a:gd name="T56" fmla="*/ 1090 w 1091"/>
                <a:gd name="T57" fmla="*/ 304 h 441"/>
                <a:gd name="T58" fmla="*/ 1090 w 1091"/>
                <a:gd name="T59" fmla="*/ 345 h 441"/>
                <a:gd name="T60" fmla="*/ 1088 w 1091"/>
                <a:gd name="T61" fmla="*/ 380 h 441"/>
                <a:gd name="T62" fmla="*/ 1072 w 1091"/>
                <a:gd name="T63" fmla="*/ 408 h 441"/>
                <a:gd name="T64" fmla="*/ 1040 w 1091"/>
                <a:gd name="T65" fmla="*/ 432 h 441"/>
                <a:gd name="T66" fmla="*/ 1004 w 1091"/>
                <a:gd name="T67" fmla="*/ 432 h 441"/>
                <a:gd name="T68" fmla="*/ 952 w 1091"/>
                <a:gd name="T69" fmla="*/ 436 h 441"/>
                <a:gd name="T70" fmla="*/ 908 w 1091"/>
                <a:gd name="T71" fmla="*/ 436 h 441"/>
                <a:gd name="T72" fmla="*/ 884 w 1091"/>
                <a:gd name="T73" fmla="*/ 396 h 441"/>
                <a:gd name="T74" fmla="*/ 856 w 1091"/>
                <a:gd name="T75" fmla="*/ 372 h 441"/>
                <a:gd name="T76" fmla="*/ 820 w 1091"/>
                <a:gd name="T77" fmla="*/ 352 h 441"/>
                <a:gd name="T78" fmla="*/ 768 w 1091"/>
                <a:gd name="T79" fmla="*/ 348 h 441"/>
                <a:gd name="T80" fmla="*/ 720 w 1091"/>
                <a:gd name="T81" fmla="*/ 364 h 441"/>
                <a:gd name="T82" fmla="*/ 688 w 1091"/>
                <a:gd name="T83" fmla="*/ 388 h 441"/>
                <a:gd name="T84" fmla="*/ 656 w 1091"/>
                <a:gd name="T85" fmla="*/ 436 h 441"/>
                <a:gd name="T86" fmla="*/ 628 w 1091"/>
                <a:gd name="T87" fmla="*/ 440 h 441"/>
                <a:gd name="T88" fmla="*/ 588 w 1091"/>
                <a:gd name="T89" fmla="*/ 440 h 441"/>
                <a:gd name="T90" fmla="*/ 544 w 1091"/>
                <a:gd name="T91" fmla="*/ 440 h 441"/>
                <a:gd name="T92" fmla="*/ 484 w 1091"/>
                <a:gd name="T93" fmla="*/ 436 h 441"/>
                <a:gd name="T94" fmla="*/ 460 w 1091"/>
                <a:gd name="T95" fmla="*/ 400 h 441"/>
                <a:gd name="T96" fmla="*/ 428 w 1091"/>
                <a:gd name="T97" fmla="*/ 368 h 441"/>
                <a:gd name="T98" fmla="*/ 384 w 1091"/>
                <a:gd name="T99" fmla="*/ 352 h 441"/>
                <a:gd name="T100" fmla="*/ 352 w 1091"/>
                <a:gd name="T101" fmla="*/ 348 h 441"/>
                <a:gd name="T102" fmla="*/ 316 w 1091"/>
                <a:gd name="T103" fmla="*/ 356 h 441"/>
                <a:gd name="T104" fmla="*/ 284 w 1091"/>
                <a:gd name="T105" fmla="*/ 372 h 441"/>
                <a:gd name="T106" fmla="*/ 252 w 1091"/>
                <a:gd name="T107" fmla="*/ 404 h 441"/>
                <a:gd name="T108" fmla="*/ 228 w 1091"/>
                <a:gd name="T109" fmla="*/ 440 h 441"/>
                <a:gd name="T110" fmla="*/ 168 w 1091"/>
                <a:gd name="T111" fmla="*/ 440 h 441"/>
                <a:gd name="T112" fmla="*/ 132 w 1091"/>
                <a:gd name="T113" fmla="*/ 440 h 441"/>
                <a:gd name="T114" fmla="*/ 88 w 1091"/>
                <a:gd name="T115" fmla="*/ 434 h 441"/>
                <a:gd name="T116" fmla="*/ 60 w 1091"/>
                <a:gd name="T117" fmla="*/ 408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091" h="441">
                  <a:moveTo>
                    <a:pt x="60" y="408"/>
                  </a:moveTo>
                  <a:lnTo>
                    <a:pt x="26" y="358"/>
                  </a:lnTo>
                  <a:lnTo>
                    <a:pt x="0" y="328"/>
                  </a:lnTo>
                  <a:lnTo>
                    <a:pt x="28" y="288"/>
                  </a:lnTo>
                  <a:lnTo>
                    <a:pt x="48" y="252"/>
                  </a:lnTo>
                  <a:lnTo>
                    <a:pt x="76" y="228"/>
                  </a:lnTo>
                  <a:lnTo>
                    <a:pt x="112" y="220"/>
                  </a:lnTo>
                  <a:lnTo>
                    <a:pt x="156" y="208"/>
                  </a:lnTo>
                  <a:lnTo>
                    <a:pt x="192" y="200"/>
                  </a:lnTo>
                  <a:lnTo>
                    <a:pt x="232" y="188"/>
                  </a:lnTo>
                  <a:lnTo>
                    <a:pt x="292" y="168"/>
                  </a:lnTo>
                  <a:lnTo>
                    <a:pt x="368" y="80"/>
                  </a:lnTo>
                  <a:lnTo>
                    <a:pt x="416" y="36"/>
                  </a:lnTo>
                  <a:lnTo>
                    <a:pt x="468" y="4"/>
                  </a:lnTo>
                  <a:lnTo>
                    <a:pt x="500" y="0"/>
                  </a:lnTo>
                  <a:lnTo>
                    <a:pt x="580" y="0"/>
                  </a:lnTo>
                  <a:lnTo>
                    <a:pt x="684" y="0"/>
                  </a:lnTo>
                  <a:lnTo>
                    <a:pt x="732" y="8"/>
                  </a:lnTo>
                  <a:lnTo>
                    <a:pt x="784" y="16"/>
                  </a:lnTo>
                  <a:lnTo>
                    <a:pt x="836" y="32"/>
                  </a:lnTo>
                  <a:lnTo>
                    <a:pt x="860" y="64"/>
                  </a:lnTo>
                  <a:lnTo>
                    <a:pt x="880" y="112"/>
                  </a:lnTo>
                  <a:lnTo>
                    <a:pt x="900" y="152"/>
                  </a:lnTo>
                  <a:lnTo>
                    <a:pt x="932" y="200"/>
                  </a:lnTo>
                  <a:lnTo>
                    <a:pt x="964" y="200"/>
                  </a:lnTo>
                  <a:lnTo>
                    <a:pt x="1028" y="204"/>
                  </a:lnTo>
                  <a:lnTo>
                    <a:pt x="1084" y="212"/>
                  </a:lnTo>
                  <a:lnTo>
                    <a:pt x="1090" y="263"/>
                  </a:lnTo>
                  <a:lnTo>
                    <a:pt x="1090" y="304"/>
                  </a:lnTo>
                  <a:lnTo>
                    <a:pt x="1090" y="345"/>
                  </a:lnTo>
                  <a:lnTo>
                    <a:pt x="1088" y="380"/>
                  </a:lnTo>
                  <a:lnTo>
                    <a:pt x="1072" y="408"/>
                  </a:lnTo>
                  <a:lnTo>
                    <a:pt x="1040" y="432"/>
                  </a:lnTo>
                  <a:lnTo>
                    <a:pt x="1004" y="432"/>
                  </a:lnTo>
                  <a:lnTo>
                    <a:pt x="952" y="436"/>
                  </a:lnTo>
                  <a:lnTo>
                    <a:pt x="908" y="436"/>
                  </a:lnTo>
                  <a:lnTo>
                    <a:pt x="884" y="396"/>
                  </a:lnTo>
                  <a:lnTo>
                    <a:pt x="856" y="372"/>
                  </a:lnTo>
                  <a:lnTo>
                    <a:pt x="820" y="352"/>
                  </a:lnTo>
                  <a:lnTo>
                    <a:pt x="768" y="348"/>
                  </a:lnTo>
                  <a:lnTo>
                    <a:pt x="720" y="364"/>
                  </a:lnTo>
                  <a:lnTo>
                    <a:pt x="688" y="388"/>
                  </a:lnTo>
                  <a:lnTo>
                    <a:pt x="656" y="436"/>
                  </a:lnTo>
                  <a:lnTo>
                    <a:pt x="628" y="440"/>
                  </a:lnTo>
                  <a:lnTo>
                    <a:pt x="588" y="440"/>
                  </a:lnTo>
                  <a:lnTo>
                    <a:pt x="544" y="440"/>
                  </a:lnTo>
                  <a:lnTo>
                    <a:pt x="484" y="436"/>
                  </a:lnTo>
                  <a:lnTo>
                    <a:pt x="460" y="400"/>
                  </a:lnTo>
                  <a:lnTo>
                    <a:pt x="428" y="368"/>
                  </a:lnTo>
                  <a:lnTo>
                    <a:pt x="384" y="352"/>
                  </a:lnTo>
                  <a:lnTo>
                    <a:pt x="352" y="348"/>
                  </a:lnTo>
                  <a:lnTo>
                    <a:pt x="316" y="356"/>
                  </a:lnTo>
                  <a:lnTo>
                    <a:pt x="284" y="372"/>
                  </a:lnTo>
                  <a:lnTo>
                    <a:pt x="252" y="404"/>
                  </a:lnTo>
                  <a:lnTo>
                    <a:pt x="228" y="440"/>
                  </a:lnTo>
                  <a:lnTo>
                    <a:pt x="168" y="440"/>
                  </a:lnTo>
                  <a:lnTo>
                    <a:pt x="132" y="440"/>
                  </a:lnTo>
                  <a:lnTo>
                    <a:pt x="88" y="434"/>
                  </a:lnTo>
                  <a:lnTo>
                    <a:pt x="60" y="408"/>
                  </a:lnTo>
                </a:path>
              </a:pathLst>
            </a:custGeom>
            <a:solidFill>
              <a:schemeClr val="accent1"/>
            </a:solidFill>
            <a:ln w="12700" cap="rnd" cmpd="sng">
              <a:solidFill>
                <a:schemeClr val="tx1"/>
              </a:solidFill>
              <a:prstDash val="solid"/>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pSp>
          <p:nvGrpSpPr>
            <p:cNvPr id="395315" name="Group 51">
              <a:extLst>
                <a:ext uri="{FF2B5EF4-FFF2-40B4-BE49-F238E27FC236}">
                  <a16:creationId xmlns:a16="http://schemas.microsoft.com/office/drawing/2014/main" id="{0482312E-F6F2-ABE8-C6BF-D2E646B8B503}"/>
                </a:ext>
              </a:extLst>
            </p:cNvPr>
            <p:cNvGrpSpPr>
              <a:grpSpLocks/>
            </p:cNvGrpSpPr>
            <p:nvPr/>
          </p:nvGrpSpPr>
          <p:grpSpPr bwMode="auto">
            <a:xfrm>
              <a:off x="1660" y="2594"/>
              <a:ext cx="193" cy="185"/>
              <a:chOff x="1472" y="2704"/>
              <a:chExt cx="200" cy="188"/>
            </a:xfrm>
          </p:grpSpPr>
          <p:sp>
            <p:nvSpPr>
              <p:cNvPr id="395316" name="Oval 52">
                <a:extLst>
                  <a:ext uri="{FF2B5EF4-FFF2-40B4-BE49-F238E27FC236}">
                    <a16:creationId xmlns:a16="http://schemas.microsoft.com/office/drawing/2014/main" id="{8360D4E2-E117-18E4-4BEC-13648E64CD68}"/>
                  </a:ext>
                </a:extLst>
              </p:cNvPr>
              <p:cNvSpPr>
                <a:spLocks noChangeArrowheads="1"/>
              </p:cNvSpPr>
              <p:nvPr/>
            </p:nvSpPr>
            <p:spPr bwMode="auto">
              <a:xfrm>
                <a:off x="1472" y="2704"/>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17" name="Oval 53">
                <a:extLst>
                  <a:ext uri="{FF2B5EF4-FFF2-40B4-BE49-F238E27FC236}">
                    <a16:creationId xmlns:a16="http://schemas.microsoft.com/office/drawing/2014/main" id="{A3DAFEF9-501B-2FF0-B5F8-A9AE73E23999}"/>
                  </a:ext>
                </a:extLst>
              </p:cNvPr>
              <p:cNvSpPr>
                <a:spLocks noChangeArrowheads="1"/>
              </p:cNvSpPr>
              <p:nvPr/>
            </p:nvSpPr>
            <p:spPr bwMode="auto">
              <a:xfrm>
                <a:off x="1512" y="2740"/>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18" name="Group 54">
              <a:extLst>
                <a:ext uri="{FF2B5EF4-FFF2-40B4-BE49-F238E27FC236}">
                  <a16:creationId xmlns:a16="http://schemas.microsoft.com/office/drawing/2014/main" id="{4F5E9C68-684E-4E4D-188B-82882B93A77F}"/>
                </a:ext>
              </a:extLst>
            </p:cNvPr>
            <p:cNvGrpSpPr>
              <a:grpSpLocks/>
            </p:cNvGrpSpPr>
            <p:nvPr/>
          </p:nvGrpSpPr>
          <p:grpSpPr bwMode="auto">
            <a:xfrm>
              <a:off x="1857" y="2474"/>
              <a:ext cx="193" cy="184"/>
              <a:chOff x="1679" y="2581"/>
              <a:chExt cx="200" cy="188"/>
            </a:xfrm>
          </p:grpSpPr>
          <p:sp>
            <p:nvSpPr>
              <p:cNvPr id="395319" name="Oval 55">
                <a:extLst>
                  <a:ext uri="{FF2B5EF4-FFF2-40B4-BE49-F238E27FC236}">
                    <a16:creationId xmlns:a16="http://schemas.microsoft.com/office/drawing/2014/main" id="{CC8B740B-A4B4-51BF-B427-6632715852EB}"/>
                  </a:ext>
                </a:extLst>
              </p:cNvPr>
              <p:cNvSpPr>
                <a:spLocks noChangeArrowheads="1"/>
              </p:cNvSpPr>
              <p:nvPr/>
            </p:nvSpPr>
            <p:spPr bwMode="auto">
              <a:xfrm>
                <a:off x="1679" y="2581"/>
                <a:ext cx="200" cy="188"/>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0" name="Oval 56">
                <a:extLst>
                  <a:ext uri="{FF2B5EF4-FFF2-40B4-BE49-F238E27FC236}">
                    <a16:creationId xmlns:a16="http://schemas.microsoft.com/office/drawing/2014/main" id="{813184F2-14D9-8D0A-2D16-1E99C3F04380}"/>
                  </a:ext>
                </a:extLst>
              </p:cNvPr>
              <p:cNvSpPr>
                <a:spLocks noChangeArrowheads="1"/>
              </p:cNvSpPr>
              <p:nvPr/>
            </p:nvSpPr>
            <p:spPr bwMode="auto">
              <a:xfrm>
                <a:off x="1719" y="2617"/>
                <a:ext cx="118" cy="112"/>
              </a:xfrm>
              <a:prstGeom prst="ellipse">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grpSp>
          <p:nvGrpSpPr>
            <p:cNvPr id="395321" name="Group 57">
              <a:extLst>
                <a:ext uri="{FF2B5EF4-FFF2-40B4-BE49-F238E27FC236}">
                  <a16:creationId xmlns:a16="http://schemas.microsoft.com/office/drawing/2014/main" id="{49DB67D8-7184-7334-B887-395B08849FA0}"/>
                </a:ext>
              </a:extLst>
            </p:cNvPr>
            <p:cNvGrpSpPr>
              <a:grpSpLocks/>
            </p:cNvGrpSpPr>
            <p:nvPr/>
          </p:nvGrpSpPr>
          <p:grpSpPr bwMode="auto">
            <a:xfrm>
              <a:off x="459" y="2566"/>
              <a:ext cx="593" cy="133"/>
              <a:chOff x="215" y="2675"/>
              <a:chExt cx="614" cy="136"/>
            </a:xfrm>
          </p:grpSpPr>
          <p:sp>
            <p:nvSpPr>
              <p:cNvPr id="395322" name="Rectangle 58">
                <a:extLst>
                  <a:ext uri="{FF2B5EF4-FFF2-40B4-BE49-F238E27FC236}">
                    <a16:creationId xmlns:a16="http://schemas.microsoft.com/office/drawing/2014/main" id="{629204B4-D22D-1920-3AAD-ACFF23B67171}"/>
                  </a:ext>
                </a:extLst>
              </p:cNvPr>
              <p:cNvSpPr>
                <a:spLocks noChangeArrowheads="1"/>
              </p:cNvSpPr>
              <p:nvPr/>
            </p:nvSpPr>
            <p:spPr bwMode="auto">
              <a:xfrm>
                <a:off x="385" y="2747"/>
                <a:ext cx="346" cy="33"/>
              </a:xfrm>
              <a:prstGeom prst="rect">
                <a:avLst/>
              </a:prstGeom>
              <a:solidFill>
                <a:schemeClr val="tx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3" name="Oval 59">
                <a:extLst>
                  <a:ext uri="{FF2B5EF4-FFF2-40B4-BE49-F238E27FC236}">
                    <a16:creationId xmlns:a16="http://schemas.microsoft.com/office/drawing/2014/main" id="{3394ECF7-1A2E-A76E-916B-A4952825B633}"/>
                  </a:ext>
                </a:extLst>
              </p:cNvPr>
              <p:cNvSpPr>
                <a:spLocks noChangeArrowheads="1"/>
              </p:cNvSpPr>
              <p:nvPr/>
            </p:nvSpPr>
            <p:spPr bwMode="auto">
              <a:xfrm>
                <a:off x="235" y="2693"/>
                <a:ext cx="210" cy="115"/>
              </a:xfrm>
              <a:prstGeom prst="ellipse">
                <a:avLst/>
              </a:prstGeom>
              <a:solidFill>
                <a:schemeClr val="tx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4" name="Oval 60">
                <a:extLst>
                  <a:ext uri="{FF2B5EF4-FFF2-40B4-BE49-F238E27FC236}">
                    <a16:creationId xmlns:a16="http://schemas.microsoft.com/office/drawing/2014/main" id="{6638EA95-D661-4871-8F91-A550F6328AF6}"/>
                  </a:ext>
                </a:extLst>
              </p:cNvPr>
              <p:cNvSpPr>
                <a:spLocks noChangeArrowheads="1"/>
              </p:cNvSpPr>
              <p:nvPr/>
            </p:nvSpPr>
            <p:spPr bwMode="auto">
              <a:xfrm>
                <a:off x="722" y="2718"/>
                <a:ext cx="107" cy="93"/>
              </a:xfrm>
              <a:prstGeom prst="ellipse">
                <a:avLst/>
              </a:prstGeom>
              <a:noFill/>
              <a:ln w="254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5" name="Oval 61">
                <a:extLst>
                  <a:ext uri="{FF2B5EF4-FFF2-40B4-BE49-F238E27FC236}">
                    <a16:creationId xmlns:a16="http://schemas.microsoft.com/office/drawing/2014/main" id="{E6E1E7BF-E4CA-C46A-04B5-67D1E7338B34}"/>
                  </a:ext>
                </a:extLst>
              </p:cNvPr>
              <p:cNvSpPr>
                <a:spLocks noChangeArrowheads="1"/>
              </p:cNvSpPr>
              <p:nvPr/>
            </p:nvSpPr>
            <p:spPr bwMode="auto">
              <a:xfrm>
                <a:off x="269" y="2714"/>
                <a:ext cx="142" cy="85"/>
              </a:xfrm>
              <a:prstGeom prst="ellipse">
                <a:avLst/>
              </a:prstGeom>
              <a:solidFill>
                <a:schemeClr val="bg2"/>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6" name="Rectangle 62">
                <a:extLst>
                  <a:ext uri="{FF2B5EF4-FFF2-40B4-BE49-F238E27FC236}">
                    <a16:creationId xmlns:a16="http://schemas.microsoft.com/office/drawing/2014/main" id="{953ACD81-4AC9-4BE3-F8A6-526BB5615ACC}"/>
                  </a:ext>
                </a:extLst>
              </p:cNvPr>
              <p:cNvSpPr>
                <a:spLocks noChangeArrowheads="1"/>
              </p:cNvSpPr>
              <p:nvPr/>
            </p:nvSpPr>
            <p:spPr bwMode="auto">
              <a:xfrm>
                <a:off x="303" y="2675"/>
                <a:ext cx="84" cy="24"/>
              </a:xfrm>
              <a:prstGeom prst="rect">
                <a:avLst/>
              </a:prstGeom>
              <a:solidFill>
                <a:schemeClr val="bg2"/>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7" name="Line 63">
                <a:extLst>
                  <a:ext uri="{FF2B5EF4-FFF2-40B4-BE49-F238E27FC236}">
                    <a16:creationId xmlns:a16="http://schemas.microsoft.com/office/drawing/2014/main" id="{FA71DB79-C244-25D8-C074-32270D37932E}"/>
                  </a:ext>
                </a:extLst>
              </p:cNvPr>
              <p:cNvSpPr>
                <a:spLocks noChangeShapeType="1"/>
              </p:cNvSpPr>
              <p:nvPr/>
            </p:nvSpPr>
            <p:spPr bwMode="auto">
              <a:xfrm>
                <a:off x="460" y="2689"/>
                <a:ext cx="0" cy="54"/>
              </a:xfrm>
              <a:prstGeom prst="line">
                <a:avLst/>
              </a:prstGeom>
              <a:noFill/>
              <a:ln w="508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8" name="Rectangle 64">
                <a:extLst>
                  <a:ext uri="{FF2B5EF4-FFF2-40B4-BE49-F238E27FC236}">
                    <a16:creationId xmlns:a16="http://schemas.microsoft.com/office/drawing/2014/main" id="{14AA3A22-5350-DDB6-9DC3-49FE47FC210C}"/>
                  </a:ext>
                </a:extLst>
              </p:cNvPr>
              <p:cNvSpPr>
                <a:spLocks noChangeArrowheads="1"/>
              </p:cNvSpPr>
              <p:nvPr/>
            </p:nvSpPr>
            <p:spPr bwMode="auto">
              <a:xfrm>
                <a:off x="287" y="2735"/>
                <a:ext cx="106" cy="40"/>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29" name="Rectangle 65">
                <a:extLst>
                  <a:ext uri="{FF2B5EF4-FFF2-40B4-BE49-F238E27FC236}">
                    <a16:creationId xmlns:a16="http://schemas.microsoft.com/office/drawing/2014/main" id="{174973FA-C993-4BCF-87E7-227868B65438}"/>
                  </a:ext>
                </a:extLst>
              </p:cNvPr>
              <p:cNvSpPr>
                <a:spLocks noChangeArrowheads="1"/>
              </p:cNvSpPr>
              <p:nvPr/>
            </p:nvSpPr>
            <p:spPr bwMode="auto">
              <a:xfrm>
                <a:off x="215" y="2717"/>
                <a:ext cx="34" cy="70"/>
              </a:xfrm>
              <a:prstGeom prst="rect">
                <a:avLst/>
              </a:prstGeom>
              <a:solidFill>
                <a:schemeClr val="tx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395330" name="Freeform 66">
              <a:extLst>
                <a:ext uri="{FF2B5EF4-FFF2-40B4-BE49-F238E27FC236}">
                  <a16:creationId xmlns:a16="http://schemas.microsoft.com/office/drawing/2014/main" id="{5E9ADFAB-61A5-2273-10E7-196DC24F3BCD}"/>
                </a:ext>
              </a:extLst>
            </p:cNvPr>
            <p:cNvSpPr>
              <a:spLocks/>
            </p:cNvSpPr>
            <p:nvPr/>
          </p:nvSpPr>
          <p:spPr bwMode="auto">
            <a:xfrm>
              <a:off x="805" y="2097"/>
              <a:ext cx="991" cy="460"/>
            </a:xfrm>
            <a:custGeom>
              <a:avLst/>
              <a:gdLst>
                <a:gd name="T0" fmla="*/ 0 w 1027"/>
                <a:gd name="T1" fmla="*/ 468 h 469"/>
                <a:gd name="T2" fmla="*/ 738 w 1027"/>
                <a:gd name="T3" fmla="*/ 0 h 469"/>
                <a:gd name="T4" fmla="*/ 1026 w 1027"/>
                <a:gd name="T5" fmla="*/ 408 h 469"/>
              </a:gdLst>
              <a:ahLst/>
              <a:cxnLst>
                <a:cxn ang="0">
                  <a:pos x="T0" y="T1"/>
                </a:cxn>
                <a:cxn ang="0">
                  <a:pos x="T2" y="T3"/>
                </a:cxn>
                <a:cxn ang="0">
                  <a:pos x="T4" y="T5"/>
                </a:cxn>
              </a:cxnLst>
              <a:rect l="0" t="0" r="r" b="b"/>
              <a:pathLst>
                <a:path w="1027" h="469">
                  <a:moveTo>
                    <a:pt x="0" y="468"/>
                  </a:moveTo>
                  <a:lnTo>
                    <a:pt x="738" y="0"/>
                  </a:lnTo>
                  <a:lnTo>
                    <a:pt x="1026" y="408"/>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5331" name="Line 67">
              <a:extLst>
                <a:ext uri="{FF2B5EF4-FFF2-40B4-BE49-F238E27FC236}">
                  <a16:creationId xmlns:a16="http://schemas.microsoft.com/office/drawing/2014/main" id="{ACDFE899-ED6F-D857-D316-BCAF2B5D2D3B}"/>
                </a:ext>
              </a:extLst>
            </p:cNvPr>
            <p:cNvSpPr>
              <a:spLocks noChangeShapeType="1"/>
            </p:cNvSpPr>
            <p:nvPr/>
          </p:nvSpPr>
          <p:spPr bwMode="auto">
            <a:xfrm flipH="1">
              <a:off x="1349" y="2097"/>
              <a:ext cx="163" cy="82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32" name="Rectangle 68">
              <a:extLst>
                <a:ext uri="{FF2B5EF4-FFF2-40B4-BE49-F238E27FC236}">
                  <a16:creationId xmlns:a16="http://schemas.microsoft.com/office/drawing/2014/main" id="{0E86EF02-F2E7-EA71-0D99-C5CE08362B1F}"/>
                </a:ext>
              </a:extLst>
            </p:cNvPr>
            <p:cNvSpPr>
              <a:spLocks noChangeArrowheads="1"/>
            </p:cNvSpPr>
            <p:nvPr/>
          </p:nvSpPr>
          <p:spPr bwMode="auto">
            <a:xfrm>
              <a:off x="1530" y="2786"/>
              <a:ext cx="631"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B</a:t>
              </a:r>
              <a:r>
                <a:rPr lang="en-US" altLang="ja-JP" sz="1800">
                  <a:latin typeface="MS UI Gothic" panose="020B0600070205080204" pitchFamily="50" charset="-128"/>
                </a:rPr>
                <a:t>á</a:t>
              </a:r>
              <a:r>
                <a:rPr lang="en-US" altLang="ja-JP" sz="1800">
                  <a:latin typeface="Times New Roman" panose="02020603050405020304" pitchFamily="18" charset="0"/>
                </a:rPr>
                <a:t>nh xe</a:t>
              </a:r>
            </a:p>
          </p:txBody>
        </p:sp>
        <p:sp>
          <p:nvSpPr>
            <p:cNvPr id="395333" name="Rectangle 69">
              <a:extLst>
                <a:ext uri="{FF2B5EF4-FFF2-40B4-BE49-F238E27FC236}">
                  <a16:creationId xmlns:a16="http://schemas.microsoft.com/office/drawing/2014/main" id="{6A1284DE-5F14-AC41-E6F2-7A3D06F0C575}"/>
                </a:ext>
              </a:extLst>
            </p:cNvPr>
            <p:cNvSpPr>
              <a:spLocks noChangeArrowheads="1"/>
            </p:cNvSpPr>
            <p:nvPr/>
          </p:nvSpPr>
          <p:spPr bwMode="auto">
            <a:xfrm>
              <a:off x="361" y="2773"/>
              <a:ext cx="724" cy="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400">
                  <a:latin typeface="Times New Roman" panose="02020603050405020304" pitchFamily="18" charset="0"/>
                </a:rPr>
                <a:t>Thiết bị </a:t>
              </a:r>
            </a:p>
            <a:p>
              <a:pPr algn="ctr" eaLnBrk="0" fontAlgn="ctr" hangingPunct="0"/>
              <a:r>
                <a:rPr lang="en-US" altLang="ja-JP" sz="1400">
                  <a:latin typeface="Times New Roman" panose="02020603050405020304" pitchFamily="18" charset="0"/>
                </a:rPr>
                <a:t>phát động</a:t>
              </a:r>
            </a:p>
          </p:txBody>
        </p:sp>
        <p:sp>
          <p:nvSpPr>
            <p:cNvPr id="395334" name="Rectangle 70">
              <a:extLst>
                <a:ext uri="{FF2B5EF4-FFF2-40B4-BE49-F238E27FC236}">
                  <a16:creationId xmlns:a16="http://schemas.microsoft.com/office/drawing/2014/main" id="{D996CA4C-1074-3416-FB6D-F94016D88C85}"/>
                </a:ext>
              </a:extLst>
            </p:cNvPr>
            <p:cNvSpPr>
              <a:spLocks noChangeArrowheads="1"/>
            </p:cNvSpPr>
            <p:nvPr/>
          </p:nvSpPr>
          <p:spPr bwMode="auto">
            <a:xfrm>
              <a:off x="999" y="3536"/>
              <a:ext cx="643"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Khung xe</a:t>
              </a:r>
            </a:p>
          </p:txBody>
        </p:sp>
        <p:sp>
          <p:nvSpPr>
            <p:cNvPr id="395335" name="Line 71">
              <a:extLst>
                <a:ext uri="{FF2B5EF4-FFF2-40B4-BE49-F238E27FC236}">
                  <a16:creationId xmlns:a16="http://schemas.microsoft.com/office/drawing/2014/main" id="{96EF535D-5581-570F-34B6-08249A097BFD}"/>
                </a:ext>
              </a:extLst>
            </p:cNvPr>
            <p:cNvSpPr>
              <a:spLocks noChangeShapeType="1"/>
            </p:cNvSpPr>
            <p:nvPr/>
          </p:nvSpPr>
          <p:spPr bwMode="auto">
            <a:xfrm flipH="1">
              <a:off x="3160" y="1995"/>
              <a:ext cx="289" cy="226"/>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36" name="Rectangle 72">
              <a:extLst>
                <a:ext uri="{FF2B5EF4-FFF2-40B4-BE49-F238E27FC236}">
                  <a16:creationId xmlns:a16="http://schemas.microsoft.com/office/drawing/2014/main" id="{D63BB53C-E0EE-2D9B-0BC3-2D8DA84BAA2E}"/>
                </a:ext>
              </a:extLst>
            </p:cNvPr>
            <p:cNvSpPr>
              <a:spLocks noChangeArrowheads="1"/>
            </p:cNvSpPr>
            <p:nvPr/>
          </p:nvSpPr>
          <p:spPr bwMode="auto">
            <a:xfrm>
              <a:off x="3203" y="1770"/>
              <a:ext cx="687"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Tập hợp</a:t>
              </a:r>
            </a:p>
          </p:txBody>
        </p:sp>
        <p:sp>
          <p:nvSpPr>
            <p:cNvPr id="395337" name="Rectangle 73">
              <a:extLst>
                <a:ext uri="{FF2B5EF4-FFF2-40B4-BE49-F238E27FC236}">
                  <a16:creationId xmlns:a16="http://schemas.microsoft.com/office/drawing/2014/main" id="{BFA72D3C-17E2-3238-946E-66F617FD3156}"/>
                </a:ext>
              </a:extLst>
            </p:cNvPr>
            <p:cNvSpPr>
              <a:spLocks noChangeArrowheads="1"/>
            </p:cNvSpPr>
            <p:nvPr/>
          </p:nvSpPr>
          <p:spPr bwMode="auto">
            <a:xfrm>
              <a:off x="2671" y="2171"/>
              <a:ext cx="735"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Phân giải</a:t>
              </a:r>
            </a:p>
          </p:txBody>
        </p:sp>
        <p:sp>
          <p:nvSpPr>
            <p:cNvPr id="395338" name="Rectangle 74">
              <a:extLst>
                <a:ext uri="{FF2B5EF4-FFF2-40B4-BE49-F238E27FC236}">
                  <a16:creationId xmlns:a16="http://schemas.microsoft.com/office/drawing/2014/main" id="{2CD8E580-09D1-12F8-D1B0-11DFC0285DAA}"/>
                </a:ext>
              </a:extLst>
            </p:cNvPr>
            <p:cNvSpPr>
              <a:spLocks noChangeArrowheads="1"/>
            </p:cNvSpPr>
            <p:nvPr/>
          </p:nvSpPr>
          <p:spPr bwMode="auto">
            <a:xfrm>
              <a:off x="2428" y="2492"/>
              <a:ext cx="695"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Tập hợp</a:t>
              </a:r>
            </a:p>
          </p:txBody>
        </p:sp>
        <p:sp>
          <p:nvSpPr>
            <p:cNvPr id="395339" name="Rectangle 75">
              <a:extLst>
                <a:ext uri="{FF2B5EF4-FFF2-40B4-BE49-F238E27FC236}">
                  <a16:creationId xmlns:a16="http://schemas.microsoft.com/office/drawing/2014/main" id="{DB75BB9C-8A2D-67F9-192D-368A42D4376B}"/>
                </a:ext>
              </a:extLst>
            </p:cNvPr>
            <p:cNvSpPr>
              <a:spLocks noChangeArrowheads="1"/>
            </p:cNvSpPr>
            <p:nvPr/>
          </p:nvSpPr>
          <p:spPr bwMode="auto">
            <a:xfrm>
              <a:off x="1996" y="2948"/>
              <a:ext cx="727"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Phân giải</a:t>
              </a:r>
            </a:p>
          </p:txBody>
        </p:sp>
        <p:sp>
          <p:nvSpPr>
            <p:cNvPr id="395340" name="Line 76">
              <a:extLst>
                <a:ext uri="{FF2B5EF4-FFF2-40B4-BE49-F238E27FC236}">
                  <a16:creationId xmlns:a16="http://schemas.microsoft.com/office/drawing/2014/main" id="{7B81F8BE-B15A-F424-A895-1E123E06BA5A}"/>
                </a:ext>
              </a:extLst>
            </p:cNvPr>
            <p:cNvSpPr>
              <a:spLocks noChangeShapeType="1"/>
            </p:cNvSpPr>
            <p:nvPr/>
          </p:nvSpPr>
          <p:spPr bwMode="auto">
            <a:xfrm flipH="1">
              <a:off x="2418" y="2718"/>
              <a:ext cx="289" cy="227"/>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1" name="AutoShape 77">
              <a:extLst>
                <a:ext uri="{FF2B5EF4-FFF2-40B4-BE49-F238E27FC236}">
                  <a16:creationId xmlns:a16="http://schemas.microsoft.com/office/drawing/2014/main" id="{014D637A-B858-1E4C-6074-4A9F9F05BAAF}"/>
                </a:ext>
              </a:extLst>
            </p:cNvPr>
            <p:cNvSpPr>
              <a:spLocks noChangeArrowheads="1"/>
            </p:cNvSpPr>
            <p:nvPr/>
          </p:nvSpPr>
          <p:spPr bwMode="auto">
            <a:xfrm>
              <a:off x="4213" y="2078"/>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2" name="AutoShape 78">
              <a:extLst>
                <a:ext uri="{FF2B5EF4-FFF2-40B4-BE49-F238E27FC236}">
                  <a16:creationId xmlns:a16="http://schemas.microsoft.com/office/drawing/2014/main" id="{8D6EE4BF-E4D8-AEA5-8387-82745D6FD5D3}"/>
                </a:ext>
              </a:extLst>
            </p:cNvPr>
            <p:cNvSpPr>
              <a:spLocks noChangeArrowheads="1"/>
            </p:cNvSpPr>
            <p:nvPr/>
          </p:nvSpPr>
          <p:spPr bwMode="auto">
            <a:xfrm>
              <a:off x="5015" y="2832"/>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5343" name="AutoShape 79">
              <a:extLst>
                <a:ext uri="{FF2B5EF4-FFF2-40B4-BE49-F238E27FC236}">
                  <a16:creationId xmlns:a16="http://schemas.microsoft.com/office/drawing/2014/main" id="{80A5353A-1571-2AFB-9F22-CFCDD8382C16}"/>
                </a:ext>
              </a:extLst>
            </p:cNvPr>
            <p:cNvSpPr>
              <a:spLocks noChangeArrowheads="1"/>
            </p:cNvSpPr>
            <p:nvPr/>
          </p:nvSpPr>
          <p:spPr bwMode="auto">
            <a:xfrm>
              <a:off x="3317" y="2832"/>
              <a:ext cx="95" cy="94"/>
            </a:xfrm>
            <a:prstGeom prst="diamond">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E1F3689F-F805-F443-37D7-4AE393781302}"/>
              </a:ext>
            </a:extLst>
          </p:cNvPr>
          <p:cNvSpPr>
            <a:spLocks noGrp="1"/>
          </p:cNvSpPr>
          <p:nvPr>
            <p:ph type="sldNum" sz="quarter" idx="10"/>
          </p:nvPr>
        </p:nvSpPr>
        <p:spPr/>
        <p:txBody>
          <a:bodyPr/>
          <a:lstStyle/>
          <a:p>
            <a:fld id="{641909AA-A78C-4C02-8508-94519798ACA4}" type="slidenum">
              <a:rPr lang="en-US" altLang="ja-JP"/>
              <a:pPr/>
              <a:t>14</a:t>
            </a:fld>
            <a:endParaRPr lang="en-US" altLang="ja-JP"/>
          </a:p>
        </p:txBody>
      </p:sp>
      <p:sp>
        <p:nvSpPr>
          <p:cNvPr id="397314" name="Rectangle 2">
            <a:extLst>
              <a:ext uri="{FF2B5EF4-FFF2-40B4-BE49-F238E27FC236}">
                <a16:creationId xmlns:a16="http://schemas.microsoft.com/office/drawing/2014/main" id="{A2B1E441-7E70-C2BD-69C1-5F182F41DB9B}"/>
              </a:ext>
            </a:extLst>
          </p:cNvPr>
          <p:cNvSpPr>
            <a:spLocks noChangeArrowheads="1"/>
          </p:cNvSpPr>
          <p:nvPr/>
        </p:nvSpPr>
        <p:spPr bwMode="auto">
          <a:xfrm>
            <a:off x="344488" y="2100263"/>
            <a:ext cx="9120187" cy="4232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15" name="Rectangle 3">
            <a:extLst>
              <a:ext uri="{FF2B5EF4-FFF2-40B4-BE49-F238E27FC236}">
                <a16:creationId xmlns:a16="http://schemas.microsoft.com/office/drawing/2014/main" id="{EC5F8917-285B-2FB5-9BF9-7E3B41409632}"/>
              </a:ext>
            </a:extLst>
          </p:cNvPr>
          <p:cNvSpPr>
            <a:spLocks noGrp="1" noChangeArrowheads="1"/>
          </p:cNvSpPr>
          <p:nvPr>
            <p:ph type="title"/>
          </p:nvPr>
        </p:nvSpPr>
        <p:spPr>
          <a:xfrm>
            <a:off x="344487" y="293688"/>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Quan </a:t>
            </a:r>
            <a:r>
              <a:rPr lang="en-US" altLang="ja-JP" dirty="0" err="1">
                <a:latin typeface="Arial" panose="020B0604020202020204" pitchFamily="34" charset="0"/>
                <a:ea typeface="MS UI Gothic" panose="020B0600070205080204" pitchFamily="50" charset="-128"/>
              </a:rPr>
              <a:t>hệ</a:t>
            </a:r>
            <a:r>
              <a:rPr lang="en-US" altLang="ja-JP" dirty="0">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tương</a:t>
            </a:r>
            <a:r>
              <a:rPr lang="en-US" altLang="ja-JP" dirty="0">
                <a:solidFill>
                  <a:schemeClr val="tx1"/>
                </a:solidFill>
                <a:latin typeface="Arial" panose="020B0604020202020204" pitchFamily="34" charset="0"/>
                <a:ea typeface="MS UI Gothic" panose="020B0600070205080204" pitchFamily="50" charset="-128"/>
              </a:rPr>
              <a:t> </a:t>
            </a:r>
            <a:r>
              <a:rPr lang="en-US" altLang="ja-JP" dirty="0" err="1">
                <a:solidFill>
                  <a:schemeClr val="tx1"/>
                </a:solidFill>
                <a:latin typeface="Arial" panose="020B0604020202020204" pitchFamily="34" charset="0"/>
                <a:ea typeface="MS UI Gothic" panose="020B0600070205080204" pitchFamily="50" charset="-128"/>
              </a:rPr>
              <a:t>tác</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đối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tượng</a:t>
            </a:r>
            <a:r>
              <a:rPr lang="en-US" altLang="ja-JP" dirty="0">
                <a:latin typeface="Arial" panose="020B0604020202020204" pitchFamily="34" charset="0"/>
                <a:ea typeface="MS UI Gothic" panose="020B0600070205080204" pitchFamily="50" charset="-128"/>
              </a:rPr>
              <a:t>)(3)</a:t>
            </a:r>
          </a:p>
        </p:txBody>
      </p:sp>
      <p:sp>
        <p:nvSpPr>
          <p:cNvPr id="397316" name="Rectangle 4">
            <a:extLst>
              <a:ext uri="{FF2B5EF4-FFF2-40B4-BE49-F238E27FC236}">
                <a16:creationId xmlns:a16="http://schemas.microsoft.com/office/drawing/2014/main" id="{ACD58B05-7D8D-1194-C97F-BEDEAFD2E733}"/>
              </a:ext>
            </a:extLst>
          </p:cNvPr>
          <p:cNvSpPr>
            <a:spLocks noGrp="1" noChangeArrowheads="1"/>
          </p:cNvSpPr>
          <p:nvPr>
            <p:ph type="body" sz="half" idx="1"/>
          </p:nvPr>
        </p:nvSpPr>
        <p:spPr>
          <a:xfrm>
            <a:off x="344488" y="706438"/>
            <a:ext cx="9339262" cy="406400"/>
          </a:xfrm>
        </p:spPr>
        <p:txBody>
          <a:bodyPr>
            <a:normAutofit fontScale="92500" lnSpcReduction="10000"/>
          </a:bodyPr>
          <a:lstStyle/>
          <a:p>
            <a:r>
              <a:rPr lang="en-US" altLang="ja-JP" sz="2400">
                <a:latin typeface="Arial" panose="020B0604020202020204" pitchFamily="34" charset="0"/>
              </a:rPr>
              <a:t>Tổng quát (Cụ thể)</a:t>
            </a:r>
          </a:p>
        </p:txBody>
      </p:sp>
      <p:sp>
        <p:nvSpPr>
          <p:cNvPr id="397317" name="Rectangle 5">
            <a:extLst>
              <a:ext uri="{FF2B5EF4-FFF2-40B4-BE49-F238E27FC236}">
                <a16:creationId xmlns:a16="http://schemas.microsoft.com/office/drawing/2014/main" id="{C2D388F1-B1CA-B3D9-7493-45DBF92A375E}"/>
              </a:ext>
            </a:extLst>
          </p:cNvPr>
          <p:cNvSpPr>
            <a:spLocks noChangeArrowheads="1"/>
          </p:cNvSpPr>
          <p:nvPr/>
        </p:nvSpPr>
        <p:spPr bwMode="auto">
          <a:xfrm>
            <a:off x="344488" y="1204913"/>
            <a:ext cx="9120187" cy="677862"/>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Tổng quát : quan hệ của một class nào đó với một class đã trừu tượng class đó. </a:t>
            </a:r>
          </a:p>
        </p:txBody>
      </p:sp>
      <p:grpSp>
        <p:nvGrpSpPr>
          <p:cNvPr id="397394" name="Group 82">
            <a:extLst>
              <a:ext uri="{FF2B5EF4-FFF2-40B4-BE49-F238E27FC236}">
                <a16:creationId xmlns:a16="http://schemas.microsoft.com/office/drawing/2014/main" id="{948EDB53-08B8-1DDC-D7E6-65C99DF185FA}"/>
              </a:ext>
            </a:extLst>
          </p:cNvPr>
          <p:cNvGrpSpPr>
            <a:grpSpLocks/>
          </p:cNvGrpSpPr>
          <p:nvPr/>
        </p:nvGrpSpPr>
        <p:grpSpPr bwMode="auto">
          <a:xfrm>
            <a:off x="798513" y="2459038"/>
            <a:ext cx="7334250" cy="3349625"/>
            <a:chOff x="503" y="1549"/>
            <a:chExt cx="4620" cy="2110"/>
          </a:xfrm>
        </p:grpSpPr>
        <p:sp>
          <p:nvSpPr>
            <p:cNvPr id="397372" name="Rectangle 60">
              <a:extLst>
                <a:ext uri="{FF2B5EF4-FFF2-40B4-BE49-F238E27FC236}">
                  <a16:creationId xmlns:a16="http://schemas.microsoft.com/office/drawing/2014/main" id="{D0B18BEB-28A2-FDEF-F21D-C5D281B23055}"/>
                </a:ext>
              </a:extLst>
            </p:cNvPr>
            <p:cNvSpPr>
              <a:spLocks noChangeArrowheads="1"/>
            </p:cNvSpPr>
            <p:nvPr/>
          </p:nvSpPr>
          <p:spPr bwMode="auto">
            <a:xfrm>
              <a:off x="3059" y="1549"/>
              <a:ext cx="713"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Đồ họa</a:t>
              </a:r>
            </a:p>
          </p:txBody>
        </p:sp>
        <p:sp>
          <p:nvSpPr>
            <p:cNvPr id="397373" name="Rectangle 61">
              <a:extLst>
                <a:ext uri="{FF2B5EF4-FFF2-40B4-BE49-F238E27FC236}">
                  <a16:creationId xmlns:a16="http://schemas.microsoft.com/office/drawing/2014/main" id="{4E88CCFE-73AA-A279-58DE-88B207E3E46E}"/>
                </a:ext>
              </a:extLst>
            </p:cNvPr>
            <p:cNvSpPr>
              <a:spLocks noChangeArrowheads="1"/>
            </p:cNvSpPr>
            <p:nvPr/>
          </p:nvSpPr>
          <p:spPr bwMode="auto">
            <a:xfrm>
              <a:off x="1168"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Tam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4" name="Rectangle 62">
              <a:extLst>
                <a:ext uri="{FF2B5EF4-FFF2-40B4-BE49-F238E27FC236}">
                  <a16:creationId xmlns:a16="http://schemas.microsoft.com/office/drawing/2014/main" id="{70FF9236-2042-D403-914F-EE01B3BE3B07}"/>
                </a:ext>
              </a:extLst>
            </p:cNvPr>
            <p:cNvSpPr>
              <a:spLocks noChangeArrowheads="1"/>
            </p:cNvSpPr>
            <p:nvPr/>
          </p:nvSpPr>
          <p:spPr bwMode="auto">
            <a:xfrm>
              <a:off x="1962" y="3321"/>
              <a:ext cx="713"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Tứ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5" name="Rectangle 63">
              <a:extLst>
                <a:ext uri="{FF2B5EF4-FFF2-40B4-BE49-F238E27FC236}">
                  <a16:creationId xmlns:a16="http://schemas.microsoft.com/office/drawing/2014/main" id="{424FF6BF-76F9-32AB-A756-7A814556A7F5}"/>
                </a:ext>
              </a:extLst>
            </p:cNvPr>
            <p:cNvSpPr>
              <a:spLocks noChangeArrowheads="1"/>
            </p:cNvSpPr>
            <p:nvPr/>
          </p:nvSpPr>
          <p:spPr bwMode="auto">
            <a:xfrm>
              <a:off x="2745"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Ngũ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76" name="Rectangle 64">
              <a:extLst>
                <a:ext uri="{FF2B5EF4-FFF2-40B4-BE49-F238E27FC236}">
                  <a16:creationId xmlns:a16="http://schemas.microsoft.com/office/drawing/2014/main" id="{9ADCFFED-4110-7880-79D6-2E2EE49618D5}"/>
                </a:ext>
              </a:extLst>
            </p:cNvPr>
            <p:cNvSpPr>
              <a:spLocks noChangeArrowheads="1"/>
            </p:cNvSpPr>
            <p:nvPr/>
          </p:nvSpPr>
          <p:spPr bwMode="auto">
            <a:xfrm>
              <a:off x="3630"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Thẳng</a:t>
              </a:r>
            </a:p>
          </p:txBody>
        </p:sp>
        <p:sp>
          <p:nvSpPr>
            <p:cNvPr id="397377" name="Rectangle 65">
              <a:extLst>
                <a:ext uri="{FF2B5EF4-FFF2-40B4-BE49-F238E27FC236}">
                  <a16:creationId xmlns:a16="http://schemas.microsoft.com/office/drawing/2014/main" id="{325A5242-7D31-082B-623F-02C1674918F8}"/>
                </a:ext>
              </a:extLst>
            </p:cNvPr>
            <p:cNvSpPr>
              <a:spLocks noChangeArrowheads="1"/>
            </p:cNvSpPr>
            <p:nvPr/>
          </p:nvSpPr>
          <p:spPr bwMode="auto">
            <a:xfrm>
              <a:off x="4411" y="3321"/>
              <a:ext cx="712"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Cong</a:t>
              </a:r>
            </a:p>
          </p:txBody>
        </p:sp>
        <p:sp>
          <p:nvSpPr>
            <p:cNvPr id="397378" name="Freeform 66">
              <a:extLst>
                <a:ext uri="{FF2B5EF4-FFF2-40B4-BE49-F238E27FC236}">
                  <a16:creationId xmlns:a16="http://schemas.microsoft.com/office/drawing/2014/main" id="{4CF0FE46-72D6-3E00-65FD-06E56D2BC5D4}"/>
                </a:ext>
              </a:extLst>
            </p:cNvPr>
            <p:cNvSpPr>
              <a:spLocks/>
            </p:cNvSpPr>
            <p:nvPr/>
          </p:nvSpPr>
          <p:spPr bwMode="auto">
            <a:xfrm>
              <a:off x="2381" y="2147"/>
              <a:ext cx="1968" cy="1169"/>
            </a:xfrm>
            <a:custGeom>
              <a:avLst/>
              <a:gdLst>
                <a:gd name="T0" fmla="*/ 0 w 1788"/>
                <a:gd name="T1" fmla="*/ 1009 h 1010"/>
                <a:gd name="T2" fmla="*/ 0 w 1788"/>
                <a:gd name="T3" fmla="*/ 0 h 1010"/>
                <a:gd name="T4" fmla="*/ 1787 w 1788"/>
                <a:gd name="T5" fmla="*/ 0 h 1010"/>
                <a:gd name="T6" fmla="*/ 1787 w 1788"/>
                <a:gd name="T7" fmla="*/ 777 h 1010"/>
              </a:gdLst>
              <a:ahLst/>
              <a:cxnLst>
                <a:cxn ang="0">
                  <a:pos x="T0" y="T1"/>
                </a:cxn>
                <a:cxn ang="0">
                  <a:pos x="T2" y="T3"/>
                </a:cxn>
                <a:cxn ang="0">
                  <a:pos x="T4" y="T5"/>
                </a:cxn>
                <a:cxn ang="0">
                  <a:pos x="T6" y="T7"/>
                </a:cxn>
              </a:cxnLst>
              <a:rect l="0" t="0" r="r" b="b"/>
              <a:pathLst>
                <a:path w="1788" h="1010">
                  <a:moveTo>
                    <a:pt x="0" y="1009"/>
                  </a:moveTo>
                  <a:lnTo>
                    <a:pt x="0" y="0"/>
                  </a:lnTo>
                  <a:lnTo>
                    <a:pt x="1787" y="0"/>
                  </a:lnTo>
                  <a:lnTo>
                    <a:pt x="1787" y="777"/>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79" name="Freeform 67">
              <a:extLst>
                <a:ext uri="{FF2B5EF4-FFF2-40B4-BE49-F238E27FC236}">
                  <a16:creationId xmlns:a16="http://schemas.microsoft.com/office/drawing/2014/main" id="{557BEDF8-D978-31E3-6F31-97578BCF2422}"/>
                </a:ext>
              </a:extLst>
            </p:cNvPr>
            <p:cNvSpPr>
              <a:spLocks/>
            </p:cNvSpPr>
            <p:nvPr/>
          </p:nvSpPr>
          <p:spPr bwMode="auto">
            <a:xfrm>
              <a:off x="3970" y="3064"/>
              <a:ext cx="902" cy="238"/>
            </a:xfrm>
            <a:custGeom>
              <a:avLst/>
              <a:gdLst>
                <a:gd name="T0" fmla="*/ 0 w 819"/>
                <a:gd name="T1" fmla="*/ 205 h 206"/>
                <a:gd name="T2" fmla="*/ 0 w 819"/>
                <a:gd name="T3" fmla="*/ 0 h 206"/>
                <a:gd name="T4" fmla="*/ 818 w 819"/>
                <a:gd name="T5" fmla="*/ 0 h 206"/>
                <a:gd name="T6" fmla="*/ 818 w 819"/>
                <a:gd name="T7" fmla="*/ 205 h 206"/>
              </a:gdLst>
              <a:ahLst/>
              <a:cxnLst>
                <a:cxn ang="0">
                  <a:pos x="T0" y="T1"/>
                </a:cxn>
                <a:cxn ang="0">
                  <a:pos x="T2" y="T3"/>
                </a:cxn>
                <a:cxn ang="0">
                  <a:pos x="T4" y="T5"/>
                </a:cxn>
                <a:cxn ang="0">
                  <a:pos x="T6" y="T7"/>
                </a:cxn>
              </a:cxnLst>
              <a:rect l="0" t="0" r="r" b="b"/>
              <a:pathLst>
                <a:path w="819" h="206">
                  <a:moveTo>
                    <a:pt x="0" y="205"/>
                  </a:moveTo>
                  <a:lnTo>
                    <a:pt x="0" y="0"/>
                  </a:lnTo>
                  <a:lnTo>
                    <a:pt x="818" y="0"/>
                  </a:lnTo>
                  <a:lnTo>
                    <a:pt x="818" y="205"/>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80" name="Freeform 68">
              <a:extLst>
                <a:ext uri="{FF2B5EF4-FFF2-40B4-BE49-F238E27FC236}">
                  <a16:creationId xmlns:a16="http://schemas.microsoft.com/office/drawing/2014/main" id="{CE08ED43-B510-C5D2-CFFF-11316A473CE5}"/>
                </a:ext>
              </a:extLst>
            </p:cNvPr>
            <p:cNvSpPr>
              <a:spLocks/>
            </p:cNvSpPr>
            <p:nvPr/>
          </p:nvSpPr>
          <p:spPr bwMode="auto">
            <a:xfrm>
              <a:off x="1538" y="3063"/>
              <a:ext cx="1638" cy="254"/>
            </a:xfrm>
            <a:custGeom>
              <a:avLst/>
              <a:gdLst>
                <a:gd name="T0" fmla="*/ 0 w 1487"/>
                <a:gd name="T1" fmla="*/ 219 h 220"/>
                <a:gd name="T2" fmla="*/ 0 w 1487"/>
                <a:gd name="T3" fmla="*/ 0 h 220"/>
                <a:gd name="T4" fmla="*/ 1486 w 1487"/>
                <a:gd name="T5" fmla="*/ 0 h 220"/>
                <a:gd name="T6" fmla="*/ 1486 w 1487"/>
                <a:gd name="T7" fmla="*/ 219 h 220"/>
              </a:gdLst>
              <a:ahLst/>
              <a:cxnLst>
                <a:cxn ang="0">
                  <a:pos x="T0" y="T1"/>
                </a:cxn>
                <a:cxn ang="0">
                  <a:pos x="T2" y="T3"/>
                </a:cxn>
                <a:cxn ang="0">
                  <a:pos x="T4" y="T5"/>
                </a:cxn>
                <a:cxn ang="0">
                  <a:pos x="T6" y="T7"/>
                </a:cxn>
              </a:cxnLst>
              <a:rect l="0" t="0" r="r" b="b"/>
              <a:pathLst>
                <a:path w="1487" h="220">
                  <a:moveTo>
                    <a:pt x="0" y="219"/>
                  </a:moveTo>
                  <a:lnTo>
                    <a:pt x="0" y="0"/>
                  </a:lnTo>
                  <a:lnTo>
                    <a:pt x="1486" y="0"/>
                  </a:lnTo>
                  <a:lnTo>
                    <a:pt x="1486" y="219"/>
                  </a:lnTo>
                </a:path>
              </a:pathLst>
            </a:custGeom>
            <a:noFill/>
            <a:ln w="12700" cap="rnd" cmpd="sng">
              <a:solidFill>
                <a:schemeClr val="tx1"/>
              </a:solidFill>
              <a:prstDash val="solid"/>
              <a:round/>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397381" name="Rectangle 69">
              <a:extLst>
                <a:ext uri="{FF2B5EF4-FFF2-40B4-BE49-F238E27FC236}">
                  <a16:creationId xmlns:a16="http://schemas.microsoft.com/office/drawing/2014/main" id="{782FFE3C-C60F-E3E0-0309-75C1E29406F3}"/>
                </a:ext>
              </a:extLst>
            </p:cNvPr>
            <p:cNvSpPr>
              <a:spLocks noChangeArrowheads="1"/>
            </p:cNvSpPr>
            <p:nvPr/>
          </p:nvSpPr>
          <p:spPr bwMode="auto">
            <a:xfrm>
              <a:off x="3974" y="2404"/>
              <a:ext cx="712" cy="339"/>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Đường</a:t>
              </a:r>
            </a:p>
          </p:txBody>
        </p:sp>
        <p:sp>
          <p:nvSpPr>
            <p:cNvPr id="397382" name="Rectangle 70">
              <a:extLst>
                <a:ext uri="{FF2B5EF4-FFF2-40B4-BE49-F238E27FC236}">
                  <a16:creationId xmlns:a16="http://schemas.microsoft.com/office/drawing/2014/main" id="{69C7DD45-6CBB-E238-9FBC-49721634849B}"/>
                </a:ext>
              </a:extLst>
            </p:cNvPr>
            <p:cNvSpPr>
              <a:spLocks noChangeArrowheads="1"/>
            </p:cNvSpPr>
            <p:nvPr/>
          </p:nvSpPr>
          <p:spPr bwMode="auto">
            <a:xfrm>
              <a:off x="1974" y="2406"/>
              <a:ext cx="832" cy="339"/>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nchor="ctr"/>
            <a:lstStyle/>
            <a:p>
              <a:pPr algn="ctr" eaLnBrk="0" fontAlgn="ctr" hangingPunct="0"/>
              <a:r>
                <a:rPr lang="en-US" altLang="ja-JP" sz="1800">
                  <a:latin typeface="Times New Roman" panose="02020603050405020304" pitchFamily="18" charset="0"/>
                </a:rPr>
                <a:t>H</a:t>
              </a:r>
              <a:r>
                <a:rPr lang="en-US" altLang="ja-JP" sz="1800">
                  <a:latin typeface="MS UI Gothic" panose="020B0600070205080204" pitchFamily="50" charset="-128"/>
                </a:rPr>
                <a:t>ì</a:t>
              </a:r>
              <a:r>
                <a:rPr lang="en-US" altLang="ja-JP" sz="1800">
                  <a:latin typeface="Times New Roman" panose="02020603050405020304" pitchFamily="18" charset="0"/>
                </a:rPr>
                <a:t>nh đa gi</a:t>
              </a:r>
              <a:r>
                <a:rPr lang="en-US" altLang="ja-JP" sz="1800">
                  <a:latin typeface="MS UI Gothic" panose="020B0600070205080204" pitchFamily="50" charset="-128"/>
                </a:rPr>
                <a:t>á</a:t>
              </a:r>
              <a:r>
                <a:rPr lang="en-US" altLang="ja-JP" sz="1800">
                  <a:latin typeface="Times New Roman" panose="02020603050405020304" pitchFamily="18" charset="0"/>
                </a:rPr>
                <a:t>c</a:t>
              </a:r>
            </a:p>
          </p:txBody>
        </p:sp>
        <p:sp>
          <p:nvSpPr>
            <p:cNvPr id="397383" name="Line 71">
              <a:extLst>
                <a:ext uri="{FF2B5EF4-FFF2-40B4-BE49-F238E27FC236}">
                  <a16:creationId xmlns:a16="http://schemas.microsoft.com/office/drawing/2014/main" id="{84C7BC78-B17D-5B64-E485-470140DAB33A}"/>
                </a:ext>
              </a:extLst>
            </p:cNvPr>
            <p:cNvSpPr>
              <a:spLocks noChangeShapeType="1"/>
            </p:cNvSpPr>
            <p:nvPr/>
          </p:nvSpPr>
          <p:spPr bwMode="auto">
            <a:xfrm>
              <a:off x="3411" y="1868"/>
              <a:ext cx="0" cy="28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84" name="Rectangle 72">
              <a:extLst>
                <a:ext uri="{FF2B5EF4-FFF2-40B4-BE49-F238E27FC236}">
                  <a16:creationId xmlns:a16="http://schemas.microsoft.com/office/drawing/2014/main" id="{2C1D5452-E7C7-4924-289E-54FD7BFB6EC5}"/>
                </a:ext>
              </a:extLst>
            </p:cNvPr>
            <p:cNvSpPr>
              <a:spLocks noChangeArrowheads="1"/>
            </p:cNvSpPr>
            <p:nvPr/>
          </p:nvSpPr>
          <p:spPr bwMode="auto">
            <a:xfrm>
              <a:off x="2245" y="1549"/>
              <a:ext cx="78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Tổng qu</a:t>
              </a:r>
              <a:r>
                <a:rPr lang="en-US" altLang="ja-JP" sz="1800">
                  <a:latin typeface="MS UI Gothic" panose="020B0600070205080204" pitchFamily="50" charset="-128"/>
                </a:rPr>
                <a:t>á</a:t>
              </a:r>
              <a:r>
                <a:rPr lang="en-US" altLang="ja-JP" sz="1800">
                  <a:latin typeface="Times New Roman" panose="02020603050405020304" pitchFamily="18" charset="0"/>
                </a:rPr>
                <a:t>t</a:t>
              </a:r>
            </a:p>
          </p:txBody>
        </p:sp>
        <p:sp>
          <p:nvSpPr>
            <p:cNvPr id="397385" name="Rectangle 73">
              <a:extLst>
                <a:ext uri="{FF2B5EF4-FFF2-40B4-BE49-F238E27FC236}">
                  <a16:creationId xmlns:a16="http://schemas.microsoft.com/office/drawing/2014/main" id="{B44CD65C-8B7B-2D3F-A60D-4A9E9B33A487}"/>
                </a:ext>
              </a:extLst>
            </p:cNvPr>
            <p:cNvSpPr>
              <a:spLocks noChangeArrowheads="1"/>
            </p:cNvSpPr>
            <p:nvPr/>
          </p:nvSpPr>
          <p:spPr bwMode="auto">
            <a:xfrm>
              <a:off x="1478" y="2054"/>
              <a:ext cx="59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Cụ thể</a:t>
              </a:r>
            </a:p>
          </p:txBody>
        </p:sp>
        <p:sp>
          <p:nvSpPr>
            <p:cNvPr id="397386" name="Line 74">
              <a:extLst>
                <a:ext uri="{FF2B5EF4-FFF2-40B4-BE49-F238E27FC236}">
                  <a16:creationId xmlns:a16="http://schemas.microsoft.com/office/drawing/2014/main" id="{CEDE659C-E542-B359-2306-2EE0A0503EC9}"/>
                </a:ext>
              </a:extLst>
            </p:cNvPr>
            <p:cNvSpPr>
              <a:spLocks noChangeShapeType="1"/>
            </p:cNvSpPr>
            <p:nvPr/>
          </p:nvSpPr>
          <p:spPr bwMode="auto">
            <a:xfrm flipH="1">
              <a:off x="2094" y="1862"/>
              <a:ext cx="330" cy="268"/>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87" name="Rectangle 75">
              <a:extLst>
                <a:ext uri="{FF2B5EF4-FFF2-40B4-BE49-F238E27FC236}">
                  <a16:creationId xmlns:a16="http://schemas.microsoft.com/office/drawing/2014/main" id="{B8B6A5E4-3DB8-38D1-D268-730691AFD111}"/>
                </a:ext>
              </a:extLst>
            </p:cNvPr>
            <p:cNvSpPr>
              <a:spLocks noChangeArrowheads="1"/>
            </p:cNvSpPr>
            <p:nvPr/>
          </p:nvSpPr>
          <p:spPr bwMode="auto">
            <a:xfrm>
              <a:off x="1231" y="2528"/>
              <a:ext cx="82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Tổng qu</a:t>
              </a:r>
              <a:r>
                <a:rPr lang="en-US" altLang="ja-JP" sz="1800">
                  <a:latin typeface="MS UI Gothic" panose="020B0600070205080204" pitchFamily="50" charset="-128"/>
                </a:rPr>
                <a:t>á</a:t>
              </a:r>
              <a:r>
                <a:rPr lang="en-US" altLang="ja-JP" sz="1800">
                  <a:latin typeface="Times New Roman" panose="02020603050405020304" pitchFamily="18" charset="0"/>
                </a:rPr>
                <a:t>t</a:t>
              </a:r>
            </a:p>
          </p:txBody>
        </p:sp>
        <p:sp>
          <p:nvSpPr>
            <p:cNvPr id="397388" name="Rectangle 76">
              <a:extLst>
                <a:ext uri="{FF2B5EF4-FFF2-40B4-BE49-F238E27FC236}">
                  <a16:creationId xmlns:a16="http://schemas.microsoft.com/office/drawing/2014/main" id="{A2A57AE0-A74E-CD8F-560A-61FFE8D24422}"/>
                </a:ext>
              </a:extLst>
            </p:cNvPr>
            <p:cNvSpPr>
              <a:spLocks noChangeArrowheads="1"/>
            </p:cNvSpPr>
            <p:nvPr/>
          </p:nvSpPr>
          <p:spPr bwMode="auto">
            <a:xfrm>
              <a:off x="503" y="3034"/>
              <a:ext cx="598"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eaLnBrk="0" hangingPunct="0"/>
              <a:r>
                <a:rPr lang="en-US" altLang="ja-JP" sz="1800">
                  <a:latin typeface="Times New Roman" panose="02020603050405020304" pitchFamily="18" charset="0"/>
                </a:rPr>
                <a:t>Cụ thể</a:t>
              </a:r>
            </a:p>
          </p:txBody>
        </p:sp>
        <p:sp>
          <p:nvSpPr>
            <p:cNvPr id="397389" name="Line 77">
              <a:extLst>
                <a:ext uri="{FF2B5EF4-FFF2-40B4-BE49-F238E27FC236}">
                  <a16:creationId xmlns:a16="http://schemas.microsoft.com/office/drawing/2014/main" id="{097B8647-2E40-BDD3-02AE-F945B6A8B4DB}"/>
                </a:ext>
              </a:extLst>
            </p:cNvPr>
            <p:cNvSpPr>
              <a:spLocks noChangeShapeType="1"/>
            </p:cNvSpPr>
            <p:nvPr/>
          </p:nvSpPr>
          <p:spPr bwMode="auto">
            <a:xfrm flipH="1">
              <a:off x="1118" y="2843"/>
              <a:ext cx="330" cy="267"/>
            </a:xfrm>
            <a:prstGeom prst="line">
              <a:avLst/>
            </a:prstGeom>
            <a:noFill/>
            <a:ln w="12700">
              <a:solidFill>
                <a:schemeClr val="tx1"/>
              </a:solidFill>
              <a:round/>
              <a:headEnd type="stealth" w="med" len="lg"/>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0" name="AutoShape 78">
              <a:extLst>
                <a:ext uri="{FF2B5EF4-FFF2-40B4-BE49-F238E27FC236}">
                  <a16:creationId xmlns:a16="http://schemas.microsoft.com/office/drawing/2014/main" id="{825EC106-A881-3AF0-4F63-62E620986064}"/>
                </a:ext>
              </a:extLst>
            </p:cNvPr>
            <p:cNvSpPr>
              <a:spLocks noChangeArrowheads="1"/>
            </p:cNvSpPr>
            <p:nvPr/>
          </p:nvSpPr>
          <p:spPr bwMode="auto">
            <a:xfrm>
              <a:off x="2336" y="2746"/>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1" name="AutoShape 79">
              <a:extLst>
                <a:ext uri="{FF2B5EF4-FFF2-40B4-BE49-F238E27FC236}">
                  <a16:creationId xmlns:a16="http://schemas.microsoft.com/office/drawing/2014/main" id="{F0CFE66C-5379-2AC8-2B0E-6937A842E582}"/>
                </a:ext>
              </a:extLst>
            </p:cNvPr>
            <p:cNvSpPr>
              <a:spLocks noChangeArrowheads="1"/>
            </p:cNvSpPr>
            <p:nvPr/>
          </p:nvSpPr>
          <p:spPr bwMode="auto">
            <a:xfrm>
              <a:off x="4308" y="2746"/>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97392" name="AutoShape 80">
              <a:extLst>
                <a:ext uri="{FF2B5EF4-FFF2-40B4-BE49-F238E27FC236}">
                  <a16:creationId xmlns:a16="http://schemas.microsoft.com/office/drawing/2014/main" id="{F668A836-DAF6-D545-8504-B8471D9BDC77}"/>
                </a:ext>
              </a:extLst>
            </p:cNvPr>
            <p:cNvSpPr>
              <a:spLocks noChangeArrowheads="1"/>
            </p:cNvSpPr>
            <p:nvPr/>
          </p:nvSpPr>
          <p:spPr bwMode="auto">
            <a:xfrm>
              <a:off x="3367" y="1908"/>
              <a:ext cx="89" cy="120"/>
            </a:xfrm>
            <a:prstGeom prst="triangle">
              <a:avLst>
                <a:gd name="adj" fmla="val 50000"/>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24027</TotalTime>
  <Words>2940</Words>
  <Application>Microsoft Office PowerPoint</Application>
  <PresentationFormat>A4 Paper (210x297 mm)</PresentationFormat>
  <Paragraphs>356</Paragraphs>
  <Slides>14</Slides>
  <Notes>13</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14</vt:i4>
      </vt:variant>
    </vt:vector>
  </HeadingPairs>
  <TitlesOfParts>
    <vt:vector size="26" baseType="lpstr">
      <vt:lpstr>HG丸ｺﾞｼｯｸM-PRO</vt:lpstr>
      <vt:lpstr>Meiryo UI</vt:lpstr>
      <vt:lpstr>ＭＳ Ｐゴシック</vt:lpstr>
      <vt:lpstr>MS UI Gothic</vt:lpstr>
      <vt:lpstr>ヒラギノ明朝 Pro W6</vt:lpstr>
      <vt:lpstr>ADLaM Display</vt:lpstr>
      <vt:lpstr>Arial</vt:lpstr>
      <vt:lpstr>Segoe Script</vt:lpstr>
      <vt:lpstr>Times New Roman</vt:lpstr>
      <vt:lpstr>Wingdings</vt:lpstr>
      <vt:lpstr>標準デザイン</vt:lpstr>
      <vt:lpstr>デザインの設定</vt:lpstr>
      <vt:lpstr>Java Programming  </vt:lpstr>
      <vt:lpstr>PowerPoint Presentation</vt:lpstr>
      <vt:lpstr>Hướng đối tượng là gì? (1)</vt:lpstr>
      <vt:lpstr>Hướng đối tượng</vt:lpstr>
      <vt:lpstr>Hướng đối tượng là gì? (2)</vt:lpstr>
      <vt:lpstr>Class và object (1)</vt:lpstr>
      <vt:lpstr>Class và object (2)</vt:lpstr>
      <vt:lpstr>Class và object (3)</vt:lpstr>
      <vt:lpstr>Đóng gói, giấu thông tin, gửi message (1)</vt:lpstr>
      <vt:lpstr>Đóng gói, giấu thông tin, gửi message (2)</vt:lpstr>
      <vt:lpstr>Đóng gói, giấu thông tin, gửi message (3)</vt:lpstr>
      <vt:lpstr>Quan hệ tương tác của class (object)(1)</vt:lpstr>
      <vt:lpstr>Quan hệ tương tác của class (đối tượng) (2)</vt:lpstr>
      <vt:lpstr>Quan hệ tương tác của class (đối tượng)(3)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599</cp:revision>
  <cp:lastPrinted>2018-04-10T08:59:30Z</cp:lastPrinted>
  <dcterms:created xsi:type="dcterms:W3CDTF">2025-05-21T02:38:07Z</dcterms:created>
  <dcterms:modified xsi:type="dcterms:W3CDTF">2026-08-12T03:21:12Z</dcterms:modified>
</cp:coreProperties>
</file>