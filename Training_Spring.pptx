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746" r:id="rId2"/>
  </p:sldMasterIdLst>
  <p:notesMasterIdLst>
    <p:notesMasterId r:id="rId76"/>
  </p:notesMasterIdLst>
  <p:sldIdLst>
    <p:sldId id="256" r:id="rId3"/>
    <p:sldId id="329" r:id="rId4"/>
    <p:sldId id="330" r:id="rId5"/>
    <p:sldId id="261" r:id="rId6"/>
    <p:sldId id="257" r:id="rId7"/>
    <p:sldId id="258" r:id="rId8"/>
    <p:sldId id="259" r:id="rId9"/>
    <p:sldId id="260" r:id="rId10"/>
    <p:sldId id="272" r:id="rId11"/>
    <p:sldId id="265" r:id="rId12"/>
    <p:sldId id="266" r:id="rId13"/>
    <p:sldId id="267" r:id="rId14"/>
    <p:sldId id="268" r:id="rId15"/>
    <p:sldId id="269" r:id="rId16"/>
    <p:sldId id="270" r:id="rId17"/>
    <p:sldId id="271" r:id="rId18"/>
    <p:sldId id="273" r:id="rId19"/>
    <p:sldId id="274" r:id="rId20"/>
    <p:sldId id="275" r:id="rId21"/>
    <p:sldId id="276" r:id="rId22"/>
    <p:sldId id="278" r:id="rId23"/>
    <p:sldId id="331" r:id="rId24"/>
    <p:sldId id="279" r:id="rId25"/>
    <p:sldId id="277" r:id="rId26"/>
    <p:sldId id="280" r:id="rId27"/>
    <p:sldId id="281" r:id="rId28"/>
    <p:sldId id="282" r:id="rId29"/>
    <p:sldId id="283" r:id="rId30"/>
    <p:sldId id="284" r:id="rId31"/>
    <p:sldId id="285" r:id="rId32"/>
    <p:sldId id="328" r:id="rId33"/>
    <p:sldId id="286" r:id="rId34"/>
    <p:sldId id="287" r:id="rId35"/>
    <p:sldId id="327" r:id="rId36"/>
    <p:sldId id="288" r:id="rId37"/>
    <p:sldId id="289" r:id="rId38"/>
    <p:sldId id="332" r:id="rId39"/>
    <p:sldId id="333" r:id="rId40"/>
    <p:sldId id="334" r:id="rId41"/>
    <p:sldId id="335" r:id="rId42"/>
    <p:sldId id="336" r:id="rId43"/>
    <p:sldId id="337" r:id="rId44"/>
    <p:sldId id="338" r:id="rId45"/>
    <p:sldId id="339" r:id="rId46"/>
    <p:sldId id="340" r:id="rId47"/>
    <p:sldId id="341" r:id="rId48"/>
    <p:sldId id="342" r:id="rId49"/>
    <p:sldId id="343" r:id="rId50"/>
    <p:sldId id="344" r:id="rId51"/>
    <p:sldId id="345" r:id="rId52"/>
    <p:sldId id="346" r:id="rId53"/>
    <p:sldId id="347" r:id="rId54"/>
    <p:sldId id="348" r:id="rId55"/>
    <p:sldId id="349" r:id="rId56"/>
    <p:sldId id="350" r:id="rId57"/>
    <p:sldId id="351" r:id="rId58"/>
    <p:sldId id="352" r:id="rId59"/>
    <p:sldId id="353" r:id="rId60"/>
    <p:sldId id="354" r:id="rId61"/>
    <p:sldId id="355" r:id="rId62"/>
    <p:sldId id="356" r:id="rId63"/>
    <p:sldId id="357" r:id="rId64"/>
    <p:sldId id="358" r:id="rId65"/>
    <p:sldId id="359" r:id="rId66"/>
    <p:sldId id="360" r:id="rId67"/>
    <p:sldId id="361" r:id="rId68"/>
    <p:sldId id="362" r:id="rId69"/>
    <p:sldId id="363" r:id="rId70"/>
    <p:sldId id="364" r:id="rId71"/>
    <p:sldId id="365" r:id="rId72"/>
    <p:sldId id="366" r:id="rId73"/>
    <p:sldId id="367" r:id="rId74"/>
    <p:sldId id="368"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ang Van Tien" initials="HVT" lastIdx="1" clrIdx="0">
    <p:extLst>
      <p:ext uri="{19B8F6BF-5375-455C-9EA6-DF929625EA0E}">
        <p15:presenceInfo xmlns:p15="http://schemas.microsoft.com/office/powerpoint/2012/main" userId="S-1-5-21-2504642982-3838258727-2017454565-1092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945" autoAdjust="0"/>
  </p:normalViewPr>
  <p:slideViewPr>
    <p:cSldViewPr snapToGrid="0">
      <p:cViewPr varScale="1">
        <p:scale>
          <a:sx n="59" d="100"/>
          <a:sy n="59" d="100"/>
        </p:scale>
        <p:origin x="1140"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2F8A36-A6A8-42E8-8BDC-EA2A1A3351E5}" type="datetimeFigureOut">
              <a:rPr lang="en-US" smtClean="0"/>
              <a:t>10/16/2026</a:t>
            </a:fld>
            <a:endParaRPr 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4881AD-5DE9-4414-8E22-2750254886F4}" type="slidenum">
              <a:rPr lang="en-US" smtClean="0"/>
              <a:t>‹#›</a:t>
            </a:fld>
            <a:endParaRPr lang="en-US"/>
          </a:p>
        </p:txBody>
      </p:sp>
    </p:spTree>
    <p:extLst>
      <p:ext uri="{BB962C8B-B14F-4D97-AF65-F5344CB8AC3E}">
        <p14:creationId xmlns:p14="http://schemas.microsoft.com/office/powerpoint/2010/main" val="3513603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start.spring.io/"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a:t>
            </a:fld>
            <a:endParaRPr lang="en-US"/>
          </a:p>
        </p:txBody>
      </p:sp>
    </p:spTree>
    <p:extLst>
      <p:ext uri="{BB962C8B-B14F-4D97-AF65-F5344CB8AC3E}">
        <p14:creationId xmlns:p14="http://schemas.microsoft.com/office/powerpoint/2010/main" val="2732617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Spring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framework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JVM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p>
          <a:p>
            <a:endParaRPr lang="en-US" dirty="0"/>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4</a:t>
            </a:fld>
            <a:endParaRPr lang="en-US"/>
          </a:p>
        </p:txBody>
      </p:sp>
    </p:spTree>
    <p:extLst>
      <p:ext uri="{BB962C8B-B14F-4D97-AF65-F5344CB8AC3E}">
        <p14:creationId xmlns:p14="http://schemas.microsoft.com/office/powerpoint/2010/main" val="1083342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err="1">
                <a:solidFill>
                  <a:schemeClr val="tx1"/>
                </a:solidFill>
                <a:effectLst/>
                <a:latin typeface="+mn-lt"/>
                <a:ea typeface="+mn-ea"/>
                <a:cs typeface="+mn-cs"/>
              </a:rPr>
              <a:t>nhẹ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nhỏ</a:t>
            </a:r>
            <a:r>
              <a:rPr lang="en-US" sz="1200" kern="1200" dirty="0">
                <a:solidFill>
                  <a:schemeClr val="tx1"/>
                </a:solidFill>
                <a:effectLst/>
                <a:latin typeface="+mn-lt"/>
                <a:ea typeface="+mn-ea"/>
                <a:cs typeface="+mn-cs"/>
              </a:rPr>
              <a:t>, version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khoảng</a:t>
            </a:r>
            <a:r>
              <a:rPr lang="en-US" sz="1200" kern="1200" dirty="0">
                <a:solidFill>
                  <a:schemeClr val="tx1"/>
                </a:solidFill>
                <a:effectLst/>
                <a:latin typeface="+mn-lt"/>
                <a:ea typeface="+mn-ea"/>
                <a:cs typeface="+mn-cs"/>
              </a:rPr>
              <a:t> 2MB;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suốt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suốt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core (</a:t>
            </a:r>
            <a:r>
              <a:rPr lang="en-US" sz="1200" kern="1200" dirty="0" err="1">
                <a:solidFill>
                  <a:schemeClr val="tx1"/>
                </a:solidFill>
                <a:effectLst/>
                <a:latin typeface="+mn-lt"/>
                <a:ea typeface="+mn-ea"/>
                <a:cs typeface="+mn-cs"/>
              </a:rPr>
              <a:t>cốt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lõi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Java Desktop,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mobile, Java Web.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J2EE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dễ</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dàng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POJO (Plain Old Java Object)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solidFill>
              <a:effectLst/>
              <a:latin typeface="+mn-lt"/>
              <a:ea typeface="+mn-ea"/>
              <a:cs typeface="+mn-cs"/>
            </a:endParaRPr>
          </a:p>
          <a:p>
            <a:endParaRPr lang="en-US" dirty="0"/>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5</a:t>
            </a:fld>
            <a:endParaRPr lang="en-US"/>
          </a:p>
        </p:txBody>
      </p:sp>
    </p:spTree>
    <p:extLst>
      <p:ext uri="{BB962C8B-B14F-4D97-AF65-F5344CB8AC3E}">
        <p14:creationId xmlns:p14="http://schemas.microsoft.com/office/powerpoint/2010/main" val="360786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Test</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kern="1200" dirty="0" err="1">
                <a:solidFill>
                  <a:schemeClr val="tx1"/>
                </a:solidFill>
                <a:effectLst/>
                <a:latin typeface="+mn-lt"/>
                <a:ea typeface="+mn-ea"/>
                <a:cs typeface="+mn-cs"/>
              </a:rPr>
              <a:t>Tầng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JUnit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TestNG</a:t>
            </a:r>
            <a:r>
              <a:rPr lang="en-US" sz="1200" kern="1200" dirty="0">
                <a:solidFill>
                  <a:schemeClr val="tx1"/>
                </a:solidFill>
                <a:effectLst/>
                <a:latin typeface="+mn-lt"/>
                <a:ea typeface="+mn-ea"/>
                <a:cs typeface="+mn-cs"/>
              </a:rPr>
              <a:t>.</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Spring Core Container</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Bao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module spring core, beans, context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expression </a:t>
            </a:r>
            <a:r>
              <a:rPr lang="en-US" sz="1200" kern="1200" dirty="0" err="1">
                <a:solidFill>
                  <a:schemeClr val="tx1"/>
                </a:solidFill>
                <a:effectLst/>
                <a:latin typeface="+mn-lt"/>
                <a:ea typeface="+mn-ea"/>
                <a:cs typeface="+mn-cs"/>
              </a:rPr>
              <a:t>languate</a:t>
            </a:r>
            <a:r>
              <a:rPr lang="en-US" sz="1200" kern="1200" dirty="0">
                <a:solidFill>
                  <a:schemeClr val="tx1"/>
                </a:solidFill>
                <a:effectLst/>
                <a:latin typeface="+mn-lt"/>
                <a:ea typeface="+mn-ea"/>
                <a:cs typeface="+mn-cs"/>
              </a:rPr>
              <a:t> (EL)</a:t>
            </a:r>
          </a:p>
          <a:p>
            <a:pPr lvl="0"/>
            <a:r>
              <a:rPr lang="en-US" sz="1200" kern="1200" dirty="0">
                <a:solidFill>
                  <a:schemeClr val="tx1"/>
                </a:solidFill>
                <a:effectLst/>
                <a:latin typeface="+mn-lt"/>
                <a:ea typeface="+mn-ea"/>
                <a:cs typeface="+mn-cs"/>
              </a:rPr>
              <a:t>Spring core, bean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IOC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Dependency Injection.</a:t>
            </a:r>
          </a:p>
          <a:p>
            <a:pPr lvl="0"/>
            <a:r>
              <a:rPr lang="en-US" sz="1200" kern="1200" dirty="0">
                <a:solidFill>
                  <a:schemeClr val="tx1"/>
                </a:solidFill>
                <a:effectLst/>
                <a:latin typeface="+mn-lt"/>
                <a:ea typeface="+mn-ea"/>
                <a:cs typeface="+mn-cs"/>
              </a:rPr>
              <a:t>Spring Context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ngôn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ngữ</a:t>
            </a:r>
            <a:r>
              <a:rPr lang="en-US" sz="1200" kern="1200" dirty="0">
                <a:solidFill>
                  <a:schemeClr val="tx1"/>
                </a:solidFill>
                <a:effectLst/>
                <a:latin typeface="+mn-lt"/>
                <a:ea typeface="+mn-ea"/>
                <a:cs typeface="+mn-cs"/>
              </a:rPr>
              <a:t> (internationalization),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Java EE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EJB, JMX.</a:t>
            </a:r>
          </a:p>
          <a:p>
            <a:r>
              <a:rPr lang="en-US" sz="1200" kern="1200" dirty="0">
                <a:solidFill>
                  <a:schemeClr val="tx1"/>
                </a:solidFill>
                <a:effectLst/>
                <a:latin typeface="+mn-lt"/>
                <a:ea typeface="+mn-ea"/>
                <a:cs typeface="+mn-cs"/>
              </a:rPr>
              <a:t>Expression Language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Expresion</a:t>
            </a:r>
            <a:r>
              <a:rPr lang="en-US" sz="1200" kern="1200" dirty="0">
                <a:solidFill>
                  <a:schemeClr val="tx1"/>
                </a:solidFill>
                <a:effectLst/>
                <a:latin typeface="+mn-lt"/>
                <a:ea typeface="+mn-ea"/>
                <a:cs typeface="+mn-cs"/>
              </a:rPr>
              <a:t> Language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JSP.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setting/getting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method </a:t>
            </a:r>
            <a:r>
              <a:rPr lang="en-US" sz="1200" kern="1200" dirty="0" err="1">
                <a:solidFill>
                  <a:schemeClr val="tx1"/>
                </a:solidFill>
                <a:effectLst/>
                <a:latin typeface="+mn-lt"/>
                <a:ea typeface="+mn-ea"/>
                <a:cs typeface="+mn-cs"/>
              </a:rPr>
              <a:t>cải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cập</a:t>
            </a:r>
            <a:r>
              <a:rPr lang="en-US" sz="1200" kern="1200" dirty="0">
                <a:solidFill>
                  <a:schemeClr val="tx1"/>
                </a:solidFill>
                <a:effectLst/>
                <a:latin typeface="+mn-lt"/>
                <a:ea typeface="+mn-ea"/>
                <a:cs typeface="+mn-cs"/>
              </a:rPr>
              <a:t> collections, index,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tử</a:t>
            </a:r>
            <a:r>
              <a:rPr lang="en-US" sz="1200" kern="1200" dirty="0">
                <a:solidFill>
                  <a:schemeClr val="tx1"/>
                </a:solidFill>
                <a:effectLst/>
                <a:latin typeface="+mn-lt"/>
                <a:ea typeface="+mn-ea"/>
                <a:cs typeface="+mn-cs"/>
              </a:rPr>
              <a:t> logic…</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AOP, Aspects and Instrumentation</a:t>
            </a:r>
            <a:endParaRPr lang="en-US" sz="1200" kern="1200" dirty="0">
              <a:solidFill>
                <a:schemeClr val="tx1"/>
              </a:solidFill>
              <a:effectLst/>
              <a:latin typeface="+mn-lt"/>
              <a:ea typeface="+mn-ea"/>
              <a:cs typeface="+mn-cs"/>
            </a:endParaRPr>
          </a:p>
          <a:p>
            <a:pPr marL="0" indent="0">
              <a:buFont typeface="Wingdings" panose="05000000000000000000" pitchFamily="2" charset="2"/>
              <a:buNone/>
            </a:pP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module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đặt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cạnh</a:t>
            </a:r>
            <a:r>
              <a:rPr lang="en-US" sz="1200" kern="1200" dirty="0">
                <a:solidFill>
                  <a:schemeClr val="tx1"/>
                </a:solidFill>
                <a:effectLst/>
                <a:latin typeface="+mn-lt"/>
                <a:ea typeface="+mn-ea"/>
                <a:cs typeface="+mn-cs"/>
              </a:rPr>
              <a:t> (Aspect Oriented Programming),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AspectJ</a:t>
            </a:r>
            <a:r>
              <a:rPr lang="en-US" sz="1200" kern="1200" dirty="0">
                <a:solidFill>
                  <a:schemeClr val="tx1"/>
                </a:solidFill>
                <a:effectLst/>
                <a:latin typeface="+mn-lt"/>
                <a:ea typeface="+mn-ea"/>
                <a:cs typeface="+mn-cs"/>
              </a:rPr>
              <a:t>.</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Data Access / Integration</a:t>
            </a: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JDBC, ORM, OXM, JMS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module Transaction.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module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database</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200" b="1" kern="1200" dirty="0">
                <a:solidFill>
                  <a:schemeClr val="tx1"/>
                </a:solidFill>
                <a:effectLst/>
                <a:latin typeface="+mn-lt"/>
                <a:ea typeface="+mn-ea"/>
                <a:cs typeface="+mn-cs"/>
              </a:rPr>
              <a:t>Web</a:t>
            </a:r>
            <a:endParaRPr lang="en-US" sz="1200" kern="1200" dirty="0">
              <a:solidFill>
                <a:schemeClr val="tx1"/>
              </a:solidFill>
              <a:effectLst/>
              <a:latin typeface="+mn-lt"/>
              <a:ea typeface="+mn-ea"/>
              <a:cs typeface="+mn-cs"/>
            </a:endParaRPr>
          </a:p>
          <a:p>
            <a:pPr marL="0" indent="0">
              <a:buFont typeface="Wingdings" panose="05000000000000000000" pitchFamily="2" charset="2"/>
              <a:buNone/>
            </a:pPr>
            <a:r>
              <a:rPr lang="en-US" sz="1200" kern="1200" dirty="0">
                <a:solidFill>
                  <a:schemeClr val="tx1"/>
                </a:solidFill>
                <a:effectLst/>
                <a:latin typeface="+mn-lt"/>
                <a:ea typeface="+mn-ea"/>
                <a:cs typeface="+mn-cs"/>
              </a:rPr>
              <a:t>Hay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Spring MVC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Web, Web-Servlet…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web</a:t>
            </a:r>
          </a:p>
          <a:p>
            <a:pPr marL="0" indent="0">
              <a:buFont typeface="Wingdings" panose="05000000000000000000" pitchFamily="2" charset="2"/>
              <a:buNone/>
            </a:pP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tế</a:t>
            </a:r>
            <a:r>
              <a:rPr lang="en-US" sz="1200" kern="1200" dirty="0">
                <a:solidFill>
                  <a:schemeClr val="tx1"/>
                </a:solidFill>
                <a:effectLst/>
                <a:latin typeface="+mn-lt"/>
                <a:ea typeface="+mn-ea"/>
                <a:cs typeface="+mn-cs"/>
              </a:rPr>
              <a:t>, Spring framework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Spring MVC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tảng</a:t>
            </a:r>
            <a:r>
              <a:rPr lang="en-US" sz="1200" kern="1200" dirty="0">
                <a:solidFill>
                  <a:schemeClr val="tx1"/>
                </a:solidFill>
                <a:effectLst/>
                <a:latin typeface="+mn-lt"/>
                <a:ea typeface="+mn-ea"/>
                <a:cs typeface="+mn-cs"/>
              </a:rPr>
              <a:t> web), Spring Data, Spring Boot,…</a:t>
            </a:r>
            <a:endParaRPr lang="en-US" sz="105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web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Spring framework,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trải</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5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 project</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Thêm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XML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bean</a:t>
            </a:r>
            <a:endParaRPr lang="en-US" sz="105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Code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build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file WAR</a:t>
            </a:r>
            <a:endParaRPr lang="en-US" sz="105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Tomcat server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file WAR </a:t>
            </a:r>
            <a:r>
              <a:rPr lang="en-US" sz="1200" kern="1200" dirty="0" err="1">
                <a:solidFill>
                  <a:schemeClr val="tx1"/>
                </a:solidFill>
                <a:effectLst/>
                <a:latin typeface="+mn-lt"/>
                <a:ea typeface="+mn-ea"/>
                <a:cs typeface="+mn-cs"/>
              </a:rPr>
              <a:t>vừa</a:t>
            </a:r>
            <a:r>
              <a:rPr lang="en-US" sz="1200" kern="1200" dirty="0">
                <a:solidFill>
                  <a:schemeClr val="tx1"/>
                </a:solidFill>
                <a:effectLst/>
                <a:latin typeface="+mn-lt"/>
                <a:ea typeface="+mn-ea"/>
                <a:cs typeface="+mn-cs"/>
              </a:rPr>
              <a:t> build</a:t>
            </a:r>
            <a:endParaRPr lang="en-US" sz="105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khá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những</a:t>
            </a:r>
            <a:r>
              <a:rPr lang="en-US" sz="1200" kern="1200" dirty="0">
                <a:solidFill>
                  <a:schemeClr val="tx1"/>
                </a:solidFill>
                <a:effectLst/>
                <a:latin typeface="+mn-lt"/>
                <a:ea typeface="+mn-ea"/>
                <a:cs typeface="+mn-cs"/>
              </a:rPr>
              <a:t> dependency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pom.xml,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XML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annotation </a:t>
            </a:r>
            <a:r>
              <a:rPr lang="en-US" sz="1200" kern="1200" dirty="0" err="1">
                <a:solidFill>
                  <a:schemeClr val="tx1"/>
                </a:solidFill>
                <a:effectLst/>
                <a:latin typeface="+mn-lt"/>
                <a:ea typeface="+mn-ea"/>
                <a:cs typeface="+mn-cs"/>
              </a:rPr>
              <a:t>cực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tạp</a:t>
            </a:r>
            <a:r>
              <a:rPr lang="en-US" sz="1200" kern="1200" dirty="0">
                <a:solidFill>
                  <a:schemeClr val="tx1"/>
                </a:solidFill>
                <a:effectLst/>
                <a:latin typeface="+mn-lt"/>
                <a:ea typeface="+mn-ea"/>
                <a:cs typeface="+mn-cs"/>
              </a:rPr>
              <a:t>. </a:t>
            </a:r>
            <a:endParaRPr lang="en-US" sz="105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Giờ</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Spring Boot. </a:t>
            </a:r>
            <a:r>
              <a:rPr lang="en-US" sz="1200" kern="1200" dirty="0" err="1">
                <a:solidFill>
                  <a:schemeClr val="tx1"/>
                </a:solidFill>
                <a:effectLst/>
                <a:latin typeface="+mn-lt"/>
                <a:ea typeface="+mn-ea"/>
                <a:cs typeface="+mn-cs"/>
              </a:rPr>
              <a:t>Vậy</a:t>
            </a:r>
            <a:r>
              <a:rPr lang="en-US" sz="1200" kern="1200" dirty="0">
                <a:solidFill>
                  <a:schemeClr val="tx1"/>
                </a:solidFill>
                <a:effectLst/>
                <a:latin typeface="+mn-lt"/>
                <a:ea typeface="+mn-ea"/>
                <a:cs typeface="+mn-cs"/>
              </a:rPr>
              <a:t> Spring Boot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gì</a:t>
            </a:r>
            <a:r>
              <a:rPr lang="en-US" sz="1200" kern="1200" dirty="0">
                <a:solidFill>
                  <a:schemeClr val="tx1"/>
                </a:solidFill>
                <a:effectLst/>
                <a:latin typeface="+mn-lt"/>
                <a:ea typeface="+mn-ea"/>
                <a:cs typeface="+mn-cs"/>
              </a:rPr>
              <a:t>?</a:t>
            </a:r>
            <a:endParaRPr lang="en-US" sz="1050" kern="1200" dirty="0">
              <a:solidFill>
                <a:schemeClr val="tx1"/>
              </a:solidFill>
              <a:effectLst/>
              <a:latin typeface="+mn-lt"/>
              <a:ea typeface="+mn-ea"/>
              <a:cs typeface="+mn-cs"/>
            </a:endParaRPr>
          </a:p>
          <a:p>
            <a:pPr marL="0" indent="0">
              <a:buFont typeface="Wingdings" panose="05000000000000000000" pitchFamily="2" charset="2"/>
              <a:buNone/>
            </a:pPr>
            <a:endParaRPr lang="en-US" dirty="0"/>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6</a:t>
            </a:fld>
            <a:endParaRPr lang="en-US"/>
          </a:p>
        </p:txBody>
      </p:sp>
    </p:spTree>
    <p:extLst>
      <p:ext uri="{BB962C8B-B14F-4D97-AF65-F5344CB8AC3E}">
        <p14:creationId xmlns:p14="http://schemas.microsoft.com/office/powerpoint/2010/main" val="740058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 </a:t>
            </a:r>
            <a:r>
              <a:rPr lang="en-US" sz="1200" b="1" kern="1200" dirty="0" err="1">
                <a:solidFill>
                  <a:schemeClr val="tx1"/>
                </a:solidFill>
                <a:effectLst/>
                <a:latin typeface="+mn-lt"/>
                <a:ea typeface="+mn-ea"/>
                <a:cs typeface="+mn-cs"/>
              </a:rPr>
              <a:t>config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viết</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Dựa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Annotation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bean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XML.</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Server Tomcat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file JAR build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java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a:t>
            </a: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8</a:t>
            </a:fld>
            <a:endParaRPr lang="en-US"/>
          </a:p>
        </p:txBody>
      </p:sp>
    </p:spTree>
    <p:extLst>
      <p:ext uri="{BB962C8B-B14F-4D97-AF65-F5344CB8AC3E}">
        <p14:creationId xmlns:p14="http://schemas.microsoft.com/office/powerpoint/2010/main" val="2108657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vi-VN" sz="1200" b="1" i="0" kern="1200" dirty="0">
                <a:solidFill>
                  <a:schemeClr val="tx1"/>
                </a:solidFill>
                <a:effectLst/>
                <a:latin typeface="+mn-lt"/>
                <a:ea typeface="+mn-ea"/>
                <a:cs typeface="+mn-cs"/>
              </a:rPr>
              <a:t>Thiếu kiểm soát.</a:t>
            </a:r>
            <a:r>
              <a:rPr lang="vi-VN" sz="1200" b="0" i="0" kern="1200" dirty="0">
                <a:solidFill>
                  <a:schemeClr val="tx1"/>
                </a:solidFill>
                <a:effectLst/>
                <a:latin typeface="+mn-lt"/>
                <a:ea typeface="+mn-ea"/>
                <a:cs typeface="+mn-cs"/>
              </a:rPr>
              <a:t> Do style cố định, Spring Boot tạo ra nhiều phụ thuộc không được sử dụng dẫn đến kích thước tệp triển khai lớn.</a:t>
            </a:r>
          </a:p>
          <a:p>
            <a:r>
              <a:rPr lang="vi-VN" sz="1200" b="0" i="0" kern="1200" dirty="0">
                <a:solidFill>
                  <a:schemeClr val="tx1"/>
                </a:solidFill>
                <a:effectLst/>
                <a:latin typeface="+mn-lt"/>
                <a:ea typeface="+mn-ea"/>
                <a:cs typeface="+mn-cs"/>
              </a:rPr>
              <a:t>Quá trình chuyển đổi dự án Spring cũ hoặc hiện có thành các ứng dụng Spring Boot nhiều khó khăn và tốn thời gian.</a:t>
            </a:r>
          </a:p>
          <a:p>
            <a:pPr marL="171450" indent="-171450">
              <a:buFont typeface="Arial" panose="020B0604020202020204" pitchFamily="34" charset="0"/>
              <a:buChar char="•"/>
            </a:pPr>
            <a:r>
              <a:rPr lang="vi-VN" sz="1200" b="1" i="0" kern="1200" dirty="0">
                <a:solidFill>
                  <a:schemeClr val="tx1"/>
                </a:solidFill>
                <a:effectLst/>
                <a:latin typeface="+mn-lt"/>
                <a:ea typeface="+mn-ea"/>
                <a:cs typeface="+mn-cs"/>
              </a:rPr>
              <a:t>Không thích hợp cho các dự án quy mô lớn.</a:t>
            </a:r>
            <a:r>
              <a:rPr lang="vi-VN" sz="1200" b="0" i="0" kern="1200" dirty="0">
                <a:solidFill>
                  <a:schemeClr val="tx1"/>
                </a:solidFill>
                <a:effectLst/>
                <a:latin typeface="+mn-lt"/>
                <a:ea typeface="+mn-ea"/>
                <a:cs typeface="+mn-cs"/>
              </a:rPr>
              <a:t> Hoạt động liên tục với các microservices, theo nhiều nhà phát triển, Spring Boot không phù hợp để xây dựng các ứng dụng nguyên khối.</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10</a:t>
            </a:fld>
            <a:endParaRPr lang="en-US"/>
          </a:p>
        </p:txBody>
      </p:sp>
    </p:spTree>
    <p:extLst>
      <p:ext uri="{BB962C8B-B14F-4D97-AF65-F5344CB8AC3E}">
        <p14:creationId xmlns:p14="http://schemas.microsoft.com/office/powerpoint/2010/main" val="3221259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11</a:t>
            </a:fld>
            <a:endParaRPr lang="en-US"/>
          </a:p>
        </p:txBody>
      </p:sp>
    </p:spTree>
    <p:extLst>
      <p:ext uri="{BB962C8B-B14F-4D97-AF65-F5344CB8AC3E}">
        <p14:creationId xmlns:p14="http://schemas.microsoft.com/office/powerpoint/2010/main" val="709956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thông</a:t>
            </a:r>
            <a:r>
              <a:rPr lang="en-US" sz="1200" b="1" kern="1200" dirty="0">
                <a:solidFill>
                  <a:schemeClr val="tx1"/>
                </a:solidFill>
                <a:effectLst/>
                <a:latin typeface="+mn-lt"/>
                <a:ea typeface="+mn-ea"/>
                <a:cs typeface="+mn-cs"/>
              </a:rPr>
              <a:t> tin project</a:t>
            </a:r>
          </a:p>
          <a:p>
            <a:pPr lvl="0"/>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project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package manager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a:t>
            </a:r>
          </a:p>
          <a:p>
            <a:pPr lvl="0"/>
            <a:r>
              <a:rPr lang="en-US" sz="1200" b="1" kern="1200" dirty="0">
                <a:solidFill>
                  <a:schemeClr val="tx1"/>
                </a:solidFill>
                <a:effectLst/>
                <a:latin typeface="+mn-lt"/>
                <a:ea typeface="+mn-ea"/>
                <a:cs typeface="+mn-cs"/>
              </a:rPr>
              <a:t>Language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ngôn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ngữ</a:t>
            </a:r>
            <a:r>
              <a:rPr lang="en-US" sz="1200" kern="1200" dirty="0">
                <a:solidFill>
                  <a:schemeClr val="tx1"/>
                </a:solidFill>
                <a:effectLst/>
                <a:latin typeface="+mn-lt"/>
                <a:ea typeface="+mn-ea"/>
                <a:cs typeface="+mn-cs"/>
              </a:rPr>
              <a:t> code (Java, </a:t>
            </a:r>
            <a:r>
              <a:rPr lang="en-US" sz="1200" kern="1200" dirty="0" err="1">
                <a:solidFill>
                  <a:schemeClr val="tx1"/>
                </a:solidFill>
                <a:effectLst/>
                <a:latin typeface="+mn-lt"/>
                <a:ea typeface="+mn-ea"/>
                <a:cs typeface="+mn-cs"/>
              </a:rPr>
              <a:t>Kotlin</a:t>
            </a:r>
            <a:r>
              <a:rPr lang="en-US" sz="1200" kern="1200" dirty="0">
                <a:solidFill>
                  <a:schemeClr val="tx1"/>
                </a:solidFill>
                <a:effectLst/>
                <a:latin typeface="+mn-lt"/>
                <a:ea typeface="+mn-ea"/>
                <a:cs typeface="+mn-cs"/>
              </a:rPr>
              <a:t>, Groovy)</a:t>
            </a:r>
          </a:p>
          <a:p>
            <a:pPr lvl="0"/>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Boot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version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SNAPSHOT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ổn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file build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Spring Boot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JAR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Tomcat server)</a:t>
            </a:r>
          </a:p>
          <a:p>
            <a:pPr lvl="0"/>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Java: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java </a:t>
            </a:r>
            <a:r>
              <a:rPr lang="en-US" sz="1200" kern="1200" dirty="0" err="1">
                <a:solidFill>
                  <a:schemeClr val="tx1"/>
                </a:solidFill>
                <a:effectLst/>
                <a:latin typeface="+mn-lt"/>
                <a:ea typeface="+mn-ea"/>
                <a:cs typeface="+mn-cs"/>
              </a:rPr>
              <a:t>mong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ở java  8.</a:t>
            </a:r>
          </a:p>
          <a:p>
            <a:pPr lvl="0"/>
            <a:r>
              <a:rPr lang="en-US" sz="1200" b="1" kern="1200" dirty="0">
                <a:solidFill>
                  <a:schemeClr val="tx1"/>
                </a:solidFill>
                <a:effectLst/>
                <a:latin typeface="+mn-lt"/>
                <a:ea typeface="+mn-ea"/>
                <a:cs typeface="+mn-cs"/>
              </a:rPr>
              <a:t>Group, Artifact, Name, Description, Package name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tin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tên</a:t>
            </a:r>
            <a:r>
              <a:rPr lang="en-US" sz="1200" kern="1200" dirty="0">
                <a:solidFill>
                  <a:schemeClr val="tx1"/>
                </a:solidFill>
                <a:effectLst/>
                <a:latin typeface="+mn-lt"/>
                <a:ea typeface="+mn-ea"/>
                <a:cs typeface="+mn-cs"/>
              </a:rPr>
              <a:t> project, group project,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a:t>
            </a:r>
            <a:r>
              <a:rPr lang="en-US" sz="1200" kern="1200" dirty="0">
                <a:solidFill>
                  <a:schemeClr val="tx1"/>
                </a:solidFill>
                <a:effectLst/>
                <a:latin typeface="+mn-lt"/>
                <a:ea typeface="+mn-ea"/>
                <a:cs typeface="+mn-cs"/>
              </a:rPr>
              <a:t> project…</a:t>
            </a:r>
          </a:p>
          <a:p>
            <a:pPr lvl="0"/>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err="1">
                <a:solidFill>
                  <a:schemeClr val="tx1"/>
                </a:solidFill>
                <a:effectLst/>
                <a:latin typeface="+mn-lt"/>
                <a:ea typeface="+mn-ea"/>
                <a:cs typeface="+mn-cs"/>
              </a:rPr>
              <a:t>Chọn</a:t>
            </a:r>
            <a:r>
              <a:rPr lang="en-US" sz="1200" b="1" kern="1200" dirty="0">
                <a:solidFill>
                  <a:schemeClr val="tx1"/>
                </a:solidFill>
                <a:effectLst/>
                <a:latin typeface="+mn-lt"/>
                <a:ea typeface="+mn-ea"/>
                <a:cs typeface="+mn-cs"/>
              </a:rPr>
              <a:t> dependency</a:t>
            </a:r>
          </a:p>
          <a:p>
            <a:r>
              <a:rPr lang="en-US" sz="1200" kern="1200" dirty="0" err="1">
                <a:solidFill>
                  <a:schemeClr val="tx1"/>
                </a:solidFill>
                <a:effectLst/>
                <a:latin typeface="+mn-lt"/>
                <a:ea typeface="+mn-ea"/>
                <a:cs typeface="+mn-cs"/>
              </a:rPr>
              <a:t>Ngăn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dependency,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code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web service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web</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ý </a:t>
            </a:r>
            <a:r>
              <a:rPr lang="en-US" sz="1200" kern="1200" dirty="0" err="1">
                <a:solidFill>
                  <a:schemeClr val="tx1"/>
                </a:solidFill>
                <a:effectLst/>
                <a:latin typeface="+mn-lt"/>
                <a:ea typeface="+mn-ea"/>
                <a:cs typeface="+mn-cs"/>
              </a:rPr>
              <a:t>nghĩa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a:t>
            </a:r>
          </a:p>
          <a:p>
            <a:r>
              <a:rPr lang="en-US" sz="1200" b="1" kern="1200" dirty="0" err="1">
                <a:solidFill>
                  <a:schemeClr val="tx1"/>
                </a:solidFill>
                <a:effectLst/>
                <a:latin typeface="+mn-lt"/>
                <a:ea typeface="+mn-ea"/>
                <a:cs typeface="+mn-cs"/>
              </a:rPr>
              <a:t>PostgreSQL</a:t>
            </a:r>
            <a:r>
              <a:rPr lang="en-US" sz="1200" b="1" kern="1200" dirty="0">
                <a:solidFill>
                  <a:schemeClr val="tx1"/>
                </a:solidFill>
                <a:effectLst/>
                <a:latin typeface="+mn-lt"/>
                <a:ea typeface="+mn-ea"/>
                <a:cs typeface="+mn-cs"/>
              </a:rPr>
              <a:t> Driver: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Dùng</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để</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kết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nối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tới</a:t>
            </a:r>
            <a:r>
              <a:rPr lang="en-US" sz="1200" b="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PostgreSQL</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Spring Data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JPA</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Data</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JPA </a:t>
            </a:r>
            <a:r>
              <a:rPr lang="en-US" sz="1200" kern="1200" dirty="0" err="1">
                <a:solidFill>
                  <a:schemeClr val="tx1"/>
                </a:solidFill>
                <a:effectLst/>
                <a:latin typeface="+mn-lt"/>
                <a:ea typeface="+mn-ea"/>
                <a:cs typeface="+mn-cs"/>
              </a:rPr>
              <a:t>là</a:t>
            </a: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implement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JPA. Spring Data JPA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Spirng</a:t>
            </a:r>
            <a:r>
              <a:rPr lang="en-US" sz="1200" kern="1200" dirty="0">
                <a:solidFill>
                  <a:schemeClr val="tx1"/>
                </a:solidFill>
                <a:effectLst/>
                <a:latin typeface="+mn-lt"/>
                <a:ea typeface="+mn-ea"/>
                <a:cs typeface="+mn-cs"/>
              </a:rPr>
              <a:t> Data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Hibernate 5, </a:t>
            </a:r>
            <a:r>
              <a:rPr lang="en-US" sz="1200" kern="1200" dirty="0" err="1">
                <a:solidFill>
                  <a:schemeClr val="tx1"/>
                </a:solidFill>
                <a:effectLst/>
                <a:latin typeface="+mn-lt"/>
                <a:ea typeface="+mn-ea"/>
                <a:cs typeface="+mn-cs"/>
              </a:rPr>
              <a:t>OpenJPA</a:t>
            </a:r>
            <a:r>
              <a:rPr lang="en-US" sz="1200" kern="1200" dirty="0">
                <a:solidFill>
                  <a:schemeClr val="tx1"/>
                </a:solidFill>
                <a:effectLst/>
                <a:latin typeface="+mn-lt"/>
                <a:ea typeface="+mn-ea"/>
                <a:cs typeface="+mn-cs"/>
              </a:rPr>
              <a:t> 2.4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EclipseLink</a:t>
            </a:r>
            <a:r>
              <a:rPr lang="en-US" sz="1200" kern="1200" dirty="0">
                <a:solidFill>
                  <a:schemeClr val="tx1"/>
                </a:solidFill>
                <a:effectLst/>
                <a:latin typeface="+mn-lt"/>
                <a:ea typeface="+mn-ea"/>
                <a:cs typeface="+mn-cs"/>
              </a:rPr>
              <a:t> 2.6.1</a:t>
            </a:r>
          </a:p>
          <a:p>
            <a:r>
              <a:rPr lang="en-US" sz="1200" b="0" kern="1200" dirty="0" err="1">
                <a:solidFill>
                  <a:schemeClr val="tx1"/>
                </a:solidFill>
                <a:effectLst/>
                <a:latin typeface="+mn-lt"/>
                <a:ea typeface="+mn-ea"/>
                <a:cs typeface="+mn-cs"/>
              </a:rPr>
              <a:t>Ngoài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còn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rất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nhiều</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dependency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tùy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thêm</a:t>
            </a:r>
            <a:r>
              <a:rPr lang="en-US" sz="1200" kern="1200" dirty="0">
                <a:solidFill>
                  <a:schemeClr val="tx1"/>
                </a:solidFill>
                <a:effectLst/>
                <a:latin typeface="+mn-lt"/>
                <a:ea typeface="+mn-ea"/>
                <a:cs typeface="+mn-cs"/>
              </a:rPr>
              <a:t> dependency </a:t>
            </a:r>
            <a:r>
              <a:rPr lang="en-US" sz="1200" kern="1200" dirty="0" err="1">
                <a:solidFill>
                  <a:schemeClr val="tx1"/>
                </a:solidFill>
                <a:effectLst/>
                <a:latin typeface="+mn-lt"/>
                <a:ea typeface="+mn-ea"/>
                <a:cs typeface="+mn-cs"/>
              </a:rPr>
              <a:t>phù</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12</a:t>
            </a:fld>
            <a:endParaRPr lang="en-US"/>
          </a:p>
        </p:txBody>
      </p:sp>
    </p:spTree>
    <p:extLst>
      <p:ext uri="{BB962C8B-B14F-4D97-AF65-F5344CB8AC3E}">
        <p14:creationId xmlns:p14="http://schemas.microsoft.com/office/powerpoint/2010/main" val="2757112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tin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nút</a:t>
            </a:r>
            <a:r>
              <a:rPr lang="en-US" sz="1200" kern="1200" dirty="0">
                <a:solidFill>
                  <a:schemeClr val="tx1"/>
                </a:solidFill>
                <a:effectLst/>
                <a:latin typeface="+mn-lt"/>
                <a:ea typeface="+mn-ea"/>
                <a:cs typeface="+mn-cs"/>
              </a:rPr>
              <a:t> Generate,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file zip </a:t>
            </a:r>
            <a:r>
              <a:rPr lang="en-US" sz="1200" kern="1200" dirty="0" err="1">
                <a:solidFill>
                  <a:schemeClr val="tx1"/>
                </a:solidFill>
                <a:effectLst/>
                <a:latin typeface="+mn-lt"/>
                <a:ea typeface="+mn-ea"/>
                <a:cs typeface="+mn-cs"/>
              </a:rPr>
              <a:t>chứa</a:t>
            </a:r>
            <a:r>
              <a:rPr lang="en-US" sz="1200" kern="1200" dirty="0">
                <a:solidFill>
                  <a:schemeClr val="tx1"/>
                </a:solidFill>
                <a:effectLst/>
                <a:latin typeface="+mn-lt"/>
                <a:ea typeface="+mn-ea"/>
                <a:cs typeface="+mn-cs"/>
              </a:rPr>
              <a:t> source ban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13</a:t>
            </a:fld>
            <a:endParaRPr lang="en-US"/>
          </a:p>
        </p:txBody>
      </p:sp>
    </p:spTree>
    <p:extLst>
      <p:ext uri="{BB962C8B-B14F-4D97-AF65-F5344CB8AC3E}">
        <p14:creationId xmlns:p14="http://schemas.microsoft.com/office/powerpoint/2010/main" val="148224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lvl="0" indent="0">
              <a:buFont typeface="Arial" panose="020B0604020202020204" pitchFamily="34" charset="0"/>
              <a:buNone/>
            </a:pP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14</a:t>
            </a:fld>
            <a:endParaRPr lang="en-US"/>
          </a:p>
        </p:txBody>
      </p:sp>
    </p:spTree>
    <p:extLst>
      <p:ext uri="{BB962C8B-B14F-4D97-AF65-F5344CB8AC3E}">
        <p14:creationId xmlns:p14="http://schemas.microsoft.com/office/powerpoint/2010/main" val="3810931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lvl="0" indent="-171450">
              <a:buFont typeface="Arial" panose="020B0604020202020204" pitchFamily="34" charset="0"/>
              <a:buChar char="•"/>
            </a:pP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initializr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dưới</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Dependencies:</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nếu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muốn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thêm</a:t>
            </a:r>
            <a:r>
              <a:rPr lang="en-US" sz="1200" kern="1200" baseline="0" dirty="0">
                <a:solidFill>
                  <a:schemeClr val="tx1"/>
                </a:solidFill>
                <a:effectLst/>
                <a:latin typeface="+mn-lt"/>
                <a:ea typeface="+mn-ea"/>
                <a:cs typeface="+mn-cs"/>
              </a:rPr>
              <a:t> dependencies </a:t>
            </a:r>
            <a:r>
              <a:rPr lang="en-US" sz="1200" kern="1200" baseline="0" dirty="0" err="1">
                <a:solidFill>
                  <a:schemeClr val="tx1"/>
                </a:solidFill>
                <a:effectLst/>
                <a:latin typeface="+mn-lt"/>
                <a:ea typeface="+mn-ea"/>
                <a:cs typeface="+mn-cs"/>
              </a:rPr>
              <a:t>khác</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có</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thể</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thêm</a:t>
            </a:r>
            <a:r>
              <a:rPr lang="en-US" sz="1200" kern="1200" baseline="0" dirty="0">
                <a:solidFill>
                  <a:schemeClr val="tx1"/>
                </a:solidFill>
                <a:effectLst/>
                <a:latin typeface="+mn-lt"/>
                <a:ea typeface="+mn-ea"/>
                <a:cs typeface="+mn-cs"/>
              </a:rPr>
              <a:t> implement </a:t>
            </a:r>
            <a:r>
              <a:rPr lang="en-US" sz="1200" kern="1200" baseline="0" dirty="0" err="1">
                <a:solidFill>
                  <a:schemeClr val="tx1"/>
                </a:solidFill>
                <a:effectLst/>
                <a:latin typeface="+mn-lt"/>
                <a:ea typeface="+mn-ea"/>
                <a:cs typeface="+mn-cs"/>
              </a:rPr>
              <a:t>vào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đây</a:t>
            </a: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15</a:t>
            </a:fld>
            <a:endParaRPr lang="en-US"/>
          </a:p>
        </p:txBody>
      </p:sp>
    </p:spTree>
    <p:extLst>
      <p:ext uri="{BB962C8B-B14F-4D97-AF65-F5344CB8AC3E}">
        <p14:creationId xmlns:p14="http://schemas.microsoft.com/office/powerpoint/2010/main" val="1764639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anotation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SpringBootApplication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quét</a:t>
            </a:r>
            <a:r>
              <a:rPr lang="en-US" sz="1200" kern="1200" dirty="0">
                <a:solidFill>
                  <a:schemeClr val="tx1"/>
                </a:solidFill>
                <a:effectLst/>
                <a:latin typeface="+mn-lt"/>
                <a:ea typeface="+mn-ea"/>
                <a:cs typeface="+mn-cs"/>
              </a:rPr>
              <a:t> (Scan)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Spring (Controller, Bean, Service,...)</a:t>
            </a:r>
          </a:p>
          <a:p>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Spring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3 </a:t>
            </a:r>
            <a:r>
              <a:rPr lang="en-US" sz="1200" kern="1200" dirty="0" err="1">
                <a:solidFill>
                  <a:schemeClr val="tx1"/>
                </a:solidFill>
                <a:effectLst/>
                <a:latin typeface="+mn-lt"/>
                <a:ea typeface="+mn-ea"/>
                <a:cs typeface="+mn-cs"/>
              </a:rPr>
              <a:t>anotation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EnableAutoConfiguration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ComponentScan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SpringBootConfiguration</a:t>
            </a:r>
            <a:r>
              <a:rPr lang="en-US" sz="1200" kern="1200" dirty="0">
                <a:solidFill>
                  <a:schemeClr val="tx1"/>
                </a:solidFill>
                <a:effectLst/>
                <a:latin typeface="+mn-lt"/>
                <a:ea typeface="+mn-ea"/>
                <a:cs typeface="+mn-cs"/>
              </a:rPr>
              <a:t> </a:t>
            </a:r>
            <a:endParaRPr lang="en-US" sz="1200" b="1"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err="1">
                <a:solidFill>
                  <a:schemeClr val="tx1"/>
                </a:solidFill>
                <a:effectLst/>
                <a:latin typeface="+mn-lt"/>
                <a:ea typeface="+mn-ea"/>
                <a:cs typeface="+mn-cs"/>
              </a:rPr>
              <a:t>SpringApplication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class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main(). </a:t>
            </a:r>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gọi</a:t>
            </a:r>
            <a:r>
              <a:rPr lang="en-US" sz="1200" kern="1200" dirty="0">
                <a:solidFill>
                  <a:schemeClr val="tx1"/>
                </a:solidFill>
                <a:effectLst/>
                <a:latin typeface="+mn-lt"/>
                <a:ea typeface="+mn-ea"/>
                <a:cs typeface="+mn-cs"/>
              </a:rPr>
              <a:t> method run(). </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16</a:t>
            </a:fld>
            <a:endParaRPr lang="en-US"/>
          </a:p>
        </p:txBody>
      </p:sp>
    </p:spTree>
    <p:extLst>
      <p:ext uri="{BB962C8B-B14F-4D97-AF65-F5344CB8AC3E}">
        <p14:creationId xmlns:p14="http://schemas.microsoft.com/office/powerpoint/2010/main" val="3921909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17</a:t>
            </a:fld>
            <a:endParaRPr lang="en-US"/>
          </a:p>
        </p:txBody>
      </p:sp>
    </p:spTree>
    <p:extLst>
      <p:ext uri="{BB962C8B-B14F-4D97-AF65-F5344CB8AC3E}">
        <p14:creationId xmlns:p14="http://schemas.microsoft.com/office/powerpoint/2010/main" val="3612221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18</a:t>
            </a:fld>
            <a:endParaRPr lang="en-US"/>
          </a:p>
        </p:txBody>
      </p:sp>
    </p:spTree>
    <p:extLst>
      <p:ext uri="{BB962C8B-B14F-4D97-AF65-F5344CB8AC3E}">
        <p14:creationId xmlns:p14="http://schemas.microsoft.com/office/powerpoint/2010/main" val="2911986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build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file JAR,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task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package manager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Nếu</a:t>
            </a:r>
            <a:r>
              <a:rPr lang="en-US" sz="1200" kern="1200" dirty="0">
                <a:solidFill>
                  <a:schemeClr val="tx1"/>
                </a:solidFill>
                <a:effectLst/>
                <a:latin typeface="+mn-lt"/>
                <a:ea typeface="+mn-ea"/>
                <a:cs typeface="+mn-cs"/>
              </a:rPr>
              <a:t> project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chạy</a:t>
            </a:r>
            <a:r>
              <a:rPr lang="en-US" sz="1200" kern="1200" dirty="0">
                <a:solidFill>
                  <a:schemeClr val="tx1"/>
                </a:solidFill>
                <a:effectLst/>
                <a:latin typeface="+mn-lt"/>
                <a:ea typeface="+mn-ea"/>
                <a:cs typeface="+mn-cs"/>
              </a:rPr>
              <a:t> task </a:t>
            </a:r>
            <a:r>
              <a:rPr lang="en-US" sz="1200" b="1" kern="1200" dirty="0">
                <a:solidFill>
                  <a:schemeClr val="tx1"/>
                </a:solidFill>
                <a:effectLst/>
                <a:latin typeface="+mn-lt"/>
                <a:ea typeface="+mn-ea"/>
                <a:cs typeface="+mn-cs"/>
              </a:rPr>
              <a:t>jar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bootJar</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19</a:t>
            </a:fld>
            <a:endParaRPr lang="en-US"/>
          </a:p>
        </p:txBody>
      </p:sp>
    </p:spTree>
    <p:extLst>
      <p:ext uri="{BB962C8B-B14F-4D97-AF65-F5344CB8AC3E}">
        <p14:creationId xmlns:p14="http://schemas.microsoft.com/office/powerpoint/2010/main" val="4055720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20</a:t>
            </a:fld>
            <a:endParaRPr lang="en-US"/>
          </a:p>
        </p:txBody>
      </p:sp>
    </p:spTree>
    <p:extLst>
      <p:ext uri="{BB962C8B-B14F-4D97-AF65-F5344CB8AC3E}">
        <p14:creationId xmlns:p14="http://schemas.microsoft.com/office/powerpoint/2010/main" val="2940582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21</a:t>
            </a:fld>
            <a:endParaRPr lang="en-US"/>
          </a:p>
        </p:txBody>
      </p:sp>
    </p:spTree>
    <p:extLst>
      <p:ext uri="{BB962C8B-B14F-4D97-AF65-F5344CB8AC3E}">
        <p14:creationId xmlns:p14="http://schemas.microsoft.com/office/powerpoint/2010/main" val="2147930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sz="1200" kern="1200" dirty="0">
                <a:solidFill>
                  <a:schemeClr val="tx1"/>
                </a:solidFill>
                <a:effectLst/>
                <a:latin typeface="+mn-lt"/>
                <a:ea typeface="+mn-ea"/>
                <a:cs typeface="+mn-cs"/>
              </a:rPr>
              <a:t>Spring Data JPA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tầng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xây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tầng</a:t>
            </a:r>
            <a:r>
              <a:rPr lang="en-US" sz="1200" kern="1200" dirty="0">
                <a:solidFill>
                  <a:schemeClr val="tx1"/>
                </a:solidFill>
                <a:effectLst/>
                <a:latin typeface="+mn-lt"/>
                <a:ea typeface="+mn-ea"/>
                <a:cs typeface="+mn-cs"/>
              </a:rPr>
              <a:t> JPA.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JPA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entity mapping, entity life-lifecycle, JPA query </a:t>
            </a:r>
          </a:p>
          <a:p>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repository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đều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CRUD,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chán</a:t>
            </a:r>
            <a:r>
              <a:rPr lang="en-US" sz="1200" kern="1200" dirty="0">
                <a:solidFill>
                  <a:schemeClr val="tx1"/>
                </a:solidFill>
                <a:effectLst/>
                <a:latin typeface="+mn-lt"/>
                <a:ea typeface="+mn-ea"/>
                <a:cs typeface="+mn-cs"/>
              </a:rPr>
              <a:t>. Spring Data JPA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repository interface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extends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CRUD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ngoài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Để</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hiểu</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rõ</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hơn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chúng</a:t>
            </a:r>
            <a:r>
              <a:rPr lang="en-US" sz="1200" kern="1200" baseline="0" dirty="0">
                <a:solidFill>
                  <a:schemeClr val="tx1"/>
                </a:solidFill>
                <a:effectLst/>
                <a:latin typeface="+mn-lt"/>
                <a:ea typeface="+mn-ea"/>
                <a:cs typeface="+mn-cs"/>
              </a:rPr>
              <a:t> ta </a:t>
            </a:r>
            <a:r>
              <a:rPr lang="en-US" sz="1200" kern="1200" baseline="0" dirty="0" err="1">
                <a:solidFill>
                  <a:schemeClr val="tx1"/>
                </a:solidFill>
                <a:effectLst/>
                <a:latin typeface="+mn-lt"/>
                <a:ea typeface="+mn-ea"/>
                <a:cs typeface="+mn-cs"/>
              </a:rPr>
              <a:t>cần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biết</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cơ</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bản</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về</a:t>
            </a:r>
            <a:r>
              <a:rPr lang="en-US" sz="1200" kern="1200" baseline="0" dirty="0">
                <a:solidFill>
                  <a:schemeClr val="tx1"/>
                </a:solidFill>
                <a:effectLst/>
                <a:latin typeface="+mn-lt"/>
                <a:ea typeface="+mn-ea"/>
                <a:cs typeface="+mn-cs"/>
              </a:rPr>
              <a:t> JPA </a:t>
            </a:r>
            <a:r>
              <a:rPr lang="en-US" sz="1200" kern="1200" baseline="0" dirty="0" err="1">
                <a:solidFill>
                  <a:schemeClr val="tx1"/>
                </a:solidFill>
                <a:effectLst/>
                <a:latin typeface="+mn-lt"/>
                <a:ea typeface="+mn-ea"/>
                <a:cs typeface="+mn-cs"/>
              </a:rPr>
              <a:t>và</a:t>
            </a:r>
            <a:r>
              <a:rPr lang="en-US" sz="1200" kern="1200" baseline="0" dirty="0">
                <a:solidFill>
                  <a:schemeClr val="tx1"/>
                </a:solidFill>
                <a:effectLst/>
                <a:latin typeface="+mn-lt"/>
                <a:ea typeface="+mn-ea"/>
                <a:cs typeface="+mn-cs"/>
              </a:rPr>
              <a:t> ORM</a:t>
            </a: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23</a:t>
            </a:fld>
            <a:endParaRPr lang="en-US"/>
          </a:p>
        </p:txBody>
      </p:sp>
    </p:spTree>
    <p:extLst>
      <p:ext uri="{BB962C8B-B14F-4D97-AF65-F5344CB8AC3E}">
        <p14:creationId xmlns:p14="http://schemas.microsoft.com/office/powerpoint/2010/main" val="2412597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24</a:t>
            </a:fld>
            <a:endParaRPr lang="en-US"/>
          </a:p>
        </p:txBody>
      </p:sp>
    </p:spTree>
    <p:extLst>
      <p:ext uri="{BB962C8B-B14F-4D97-AF65-F5344CB8AC3E}">
        <p14:creationId xmlns:p14="http://schemas.microsoft.com/office/powerpoint/2010/main" val="1058062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table Users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column (Id, name, age…)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class Users.java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field Id, name, age…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vấn</a:t>
            </a:r>
            <a:r>
              <a:rPr lang="en-US" sz="1200" kern="1200" dirty="0">
                <a:solidFill>
                  <a:schemeClr val="tx1"/>
                </a:solidFill>
                <a:effectLst/>
                <a:latin typeface="+mn-lt"/>
                <a:ea typeface="+mn-ea"/>
                <a:cs typeface="+mn-cs"/>
              </a:rPr>
              <a:t> table hay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column ta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class,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field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class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tâm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database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database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sao</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JPA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framework. </a:t>
            </a:r>
            <a:r>
              <a:rPr lang="en-US" sz="1200" kern="1200" dirty="0" err="1">
                <a:solidFill>
                  <a:schemeClr val="tx1"/>
                </a:solidFill>
                <a:effectLst/>
                <a:latin typeface="+mn-lt"/>
                <a:ea typeface="+mn-ea"/>
                <a:cs typeface="+mn-cs"/>
              </a:rPr>
              <a:t>Nó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niệm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thi </a:t>
            </a:r>
            <a:r>
              <a:rPr lang="en-US" sz="1200" kern="1200" dirty="0" err="1">
                <a:solidFill>
                  <a:schemeClr val="tx1"/>
                </a:solidFill>
                <a:effectLst/>
                <a:latin typeface="+mn-lt"/>
                <a:ea typeface="+mn-ea"/>
                <a:cs typeface="+mn-cs"/>
              </a:rPr>
              <a:t>bởi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kỳ</a:t>
            </a:r>
            <a:r>
              <a:rPr lang="en-US" sz="1200" kern="1200" dirty="0">
                <a:solidFill>
                  <a:schemeClr val="tx1"/>
                </a:solidFill>
                <a:effectLst/>
                <a:latin typeface="+mn-lt"/>
                <a:ea typeface="+mn-ea"/>
                <a:cs typeface="+mn-cs"/>
              </a:rPr>
              <a:t> framework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Hibernate, </a:t>
            </a:r>
            <a:r>
              <a:rPr lang="en-US" sz="1200" b="1" kern="1200" dirty="0" err="1">
                <a:solidFill>
                  <a:schemeClr val="tx1"/>
                </a:solidFill>
                <a:effectLst/>
                <a:latin typeface="+mn-lt"/>
                <a:ea typeface="+mn-ea"/>
                <a:cs typeface="+mn-cs"/>
              </a:rPr>
              <a:t>EclipseLink</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25</a:t>
            </a:fld>
            <a:endParaRPr lang="en-US"/>
          </a:p>
        </p:txBody>
      </p:sp>
    </p:spTree>
    <p:extLst>
      <p:ext uri="{BB962C8B-B14F-4D97-AF65-F5344CB8AC3E}">
        <p14:creationId xmlns:p14="http://schemas.microsoft.com/office/powerpoint/2010/main" val="1240741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ea typeface="Times New Roman" panose="02020603050405020304" pitchFamily="18" charset="0"/>
              </a:rPr>
              <a:t>L</a:t>
            </a:r>
            <a:r>
              <a:rPr lang="vi-VN" dirty="0">
                <a:ea typeface="Times New Roman" panose="02020603050405020304" pitchFamily="18" charset="0"/>
              </a:rPr>
              <a:t>oại database </a:t>
            </a:r>
            <a:r>
              <a:rPr lang="en-US" dirty="0">
                <a:ea typeface="Times New Roman" panose="02020603050405020304" pitchFamily="18" charset="0"/>
              </a:rPr>
              <a:t> : </a:t>
            </a:r>
            <a:r>
              <a:rPr lang="vi-VN" dirty="0">
                <a:ea typeface="Times New Roman" panose="02020603050405020304" pitchFamily="18" charset="0"/>
              </a:rPr>
              <a:t>(SQL Server, MySQL, PostgreSQL, …) </a:t>
            </a:r>
            <a:endParaRPr lang="en-US" dirty="0">
              <a:ea typeface="Times New Roman" panose="02020603050405020304" pitchFamily="18" charset="0"/>
            </a:endParaRPr>
          </a:p>
          <a:p>
            <a:r>
              <a:rPr lang="en-US" sz="1200" kern="1200" dirty="0" err="1">
                <a:solidFill>
                  <a:schemeClr val="tx1"/>
                </a:solidFill>
                <a:effectLst/>
                <a:latin typeface="+mn-lt"/>
                <a:ea typeface="+mn-ea"/>
                <a:cs typeface="+mn-cs"/>
              </a:rPr>
              <a:t>Loại</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thao</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tác</a:t>
            </a:r>
            <a:r>
              <a:rPr lang="en-US" sz="1200" kern="1200" baseline="0" dirty="0">
                <a:solidFill>
                  <a:schemeClr val="tx1"/>
                </a:solidFill>
                <a:effectLst/>
                <a:latin typeface="+mn-lt"/>
                <a:ea typeface="+mn-ea"/>
                <a:cs typeface="+mn-cs"/>
              </a:rPr>
              <a:t> :  </a:t>
            </a:r>
            <a:r>
              <a:rPr lang="en-US" sz="1200" kern="1200" dirty="0">
                <a:solidFill>
                  <a:schemeClr val="tx1"/>
                </a:solidFill>
                <a:effectLst/>
                <a:latin typeface="+mn-lt"/>
                <a:ea typeface="+mn-ea"/>
                <a:cs typeface="+mn-cs"/>
              </a:rPr>
              <a:t>(INSERT, UPDATE, DELETE, SELECT, …)</a:t>
            </a:r>
          </a:p>
          <a:p>
            <a:r>
              <a:rPr lang="en-US" sz="1200" kern="1200" dirty="0">
                <a:solidFill>
                  <a:schemeClr val="tx1"/>
                </a:solidFill>
                <a:effectLst/>
                <a:latin typeface="+mn-lt"/>
                <a:ea typeface="+mn-ea"/>
                <a:cs typeface="+mn-cs"/>
              </a:rPr>
              <a:t>ORM</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phổ</a:t>
            </a:r>
            <a:r>
              <a:rPr lang="en-US" sz="1200" kern="1200" baseline="0" dirty="0">
                <a:solidFill>
                  <a:schemeClr val="tx1"/>
                </a:solidFill>
                <a:effectLst/>
                <a:latin typeface="+mn-lt"/>
                <a:ea typeface="+mn-ea"/>
                <a:cs typeface="+mn-cs"/>
              </a:rPr>
              <a:t> </a:t>
            </a:r>
            <a:r>
              <a:rPr lang="en-US" sz="1200" kern="1200" baseline="0" dirty="0" err="1">
                <a:solidFill>
                  <a:schemeClr val="tx1"/>
                </a:solidFill>
                <a:effectLst/>
                <a:latin typeface="+mn-lt"/>
                <a:ea typeface="+mn-ea"/>
                <a:cs typeface="+mn-cs"/>
              </a:rPr>
              <a:t>biến</a:t>
            </a:r>
            <a:r>
              <a:rPr lang="en-US" sz="1200" kern="1200" baseline="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Hibernate</a:t>
            </a:r>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26</a:t>
            </a:fld>
            <a:endParaRPr lang="en-US"/>
          </a:p>
        </p:txBody>
      </p:sp>
    </p:spTree>
    <p:extLst>
      <p:ext uri="{BB962C8B-B14F-4D97-AF65-F5344CB8AC3E}">
        <p14:creationId xmlns:p14="http://schemas.microsoft.com/office/powerpoint/2010/main" val="870928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lvl="0"/>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hlinkClick r:id="rId3"/>
              </a:rPr>
              <a:t>https://start.spring.io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Gradle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hoặc</a:t>
            </a:r>
            <a:r>
              <a:rPr lang="en-US" sz="1200" kern="1200" dirty="0">
                <a:solidFill>
                  <a:schemeClr val="tx1"/>
                </a:solidFill>
                <a:effectLst/>
                <a:latin typeface="+mn-lt"/>
                <a:ea typeface="+mn-ea"/>
                <a:cs typeface="+mn-cs"/>
              </a:rPr>
              <a:t> Maven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ngôn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muốn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Hướng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dẫn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Java.</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Bấm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Dependencies </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Spring Data JPA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H2 Database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Nhấp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Generate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Tải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tệp</a:t>
            </a:r>
            <a:r>
              <a:rPr lang="en-US" sz="1200" kern="1200" dirty="0">
                <a:solidFill>
                  <a:schemeClr val="tx1"/>
                </a:solidFill>
                <a:effectLst/>
                <a:latin typeface="+mn-lt"/>
                <a:ea typeface="+mn-ea"/>
                <a:cs typeface="+mn-cs"/>
              </a:rPr>
              <a:t> ZIP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tệp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web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lựa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27</a:t>
            </a:fld>
            <a:endParaRPr lang="en-US"/>
          </a:p>
        </p:txBody>
      </p:sp>
    </p:spTree>
    <p:extLst>
      <p:ext uri="{BB962C8B-B14F-4D97-AF65-F5344CB8AC3E}">
        <p14:creationId xmlns:p14="http://schemas.microsoft.com/office/powerpoint/2010/main" val="19605091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28</a:t>
            </a:fld>
            <a:endParaRPr lang="en-US"/>
          </a:p>
        </p:txBody>
      </p:sp>
    </p:spTree>
    <p:extLst>
      <p:ext uri="{BB962C8B-B14F-4D97-AF65-F5344CB8AC3E}">
        <p14:creationId xmlns:p14="http://schemas.microsoft.com/office/powerpoint/2010/main" val="66757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29</a:t>
            </a:fld>
            <a:endParaRPr lang="en-US"/>
          </a:p>
        </p:txBody>
      </p:sp>
    </p:spTree>
    <p:extLst>
      <p:ext uri="{BB962C8B-B14F-4D97-AF65-F5344CB8AC3E}">
        <p14:creationId xmlns:p14="http://schemas.microsoft.com/office/powerpoint/2010/main" val="794799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30</a:t>
            </a:fld>
            <a:endParaRPr lang="en-US"/>
          </a:p>
        </p:txBody>
      </p:sp>
    </p:spTree>
    <p:extLst>
      <p:ext uri="{BB962C8B-B14F-4D97-AF65-F5344CB8AC3E}">
        <p14:creationId xmlns:p14="http://schemas.microsoft.com/office/powerpoint/2010/main" val="928771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31</a:t>
            </a:fld>
            <a:endParaRPr lang="en-US"/>
          </a:p>
        </p:txBody>
      </p:sp>
    </p:spTree>
    <p:extLst>
      <p:ext uri="{BB962C8B-B14F-4D97-AF65-F5344CB8AC3E}">
        <p14:creationId xmlns:p14="http://schemas.microsoft.com/office/powerpoint/2010/main" val="540118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sz="1200" kern="1200" dirty="0" err="1">
                <a:solidFill>
                  <a:schemeClr val="tx1"/>
                </a:solidFill>
                <a:effectLst/>
                <a:latin typeface="+mn-lt"/>
                <a:ea typeface="+mn-ea"/>
                <a:cs typeface="+mn-cs"/>
              </a:rPr>
              <a:t>Ineterface</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CustomerRepository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thừa</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CrudRepository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Trong </a:t>
            </a:r>
            <a:r>
              <a:rPr lang="en-US" sz="1200" b="1" kern="1200" dirty="0" err="1">
                <a:solidFill>
                  <a:schemeClr val="tx1"/>
                </a:solidFill>
                <a:effectLst/>
                <a:latin typeface="+mn-lt"/>
                <a:ea typeface="+mn-ea"/>
                <a:cs typeface="+mn-cs"/>
              </a:rPr>
              <a:t>CrudRepository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entity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ID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Entity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a:t>
            </a:r>
          </a:p>
          <a:p>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thừa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CrudRepository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CustomerRepository</a:t>
            </a:r>
            <a:r>
              <a:rPr lang="en-US" sz="1200" b="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Customer.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Spring Data JPA </a:t>
            </a:r>
            <a:r>
              <a:rPr lang="en-US" sz="1200" kern="1200" dirty="0" err="1">
                <a:solidFill>
                  <a:schemeClr val="tx1"/>
                </a:solidFill>
                <a:effectLst/>
                <a:latin typeface="+mn-lt"/>
                <a:ea typeface="+mn-ea"/>
                <a:cs typeface="+mn-cs"/>
              </a:rPr>
              <a:t>cũng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method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vấn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method signature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CustomerRepository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findByFirstName</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32</a:t>
            </a:fld>
            <a:endParaRPr lang="en-US"/>
          </a:p>
        </p:txBody>
      </p:sp>
    </p:spTree>
    <p:extLst>
      <p:ext uri="{BB962C8B-B14F-4D97-AF65-F5344CB8AC3E}">
        <p14:creationId xmlns:p14="http://schemas.microsoft.com/office/powerpoint/2010/main" val="2657007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33</a:t>
            </a:fld>
            <a:endParaRPr lang="en-US"/>
          </a:p>
        </p:txBody>
      </p:sp>
    </p:spTree>
    <p:extLst>
      <p:ext uri="{BB962C8B-B14F-4D97-AF65-F5344CB8AC3E}">
        <p14:creationId xmlns:p14="http://schemas.microsoft.com/office/powerpoint/2010/main" val="1216064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34</a:t>
            </a:fld>
            <a:endParaRPr lang="en-US"/>
          </a:p>
        </p:txBody>
      </p:sp>
    </p:spTree>
    <p:extLst>
      <p:ext uri="{BB962C8B-B14F-4D97-AF65-F5344CB8AC3E}">
        <p14:creationId xmlns:p14="http://schemas.microsoft.com/office/powerpoint/2010/main" val="7395772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35</a:t>
            </a:fld>
            <a:endParaRPr lang="en-US"/>
          </a:p>
        </p:txBody>
      </p:sp>
    </p:spTree>
    <p:extLst>
      <p:ext uri="{BB962C8B-B14F-4D97-AF65-F5344CB8AC3E}">
        <p14:creationId xmlns:p14="http://schemas.microsoft.com/office/powerpoint/2010/main" val="1736978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9D4881AD-5DE9-4414-8E22-2750254886F4}" type="slidenum">
              <a:rPr lang="en-US" smtClean="0"/>
              <a:t>36</a:t>
            </a:fld>
            <a:endParaRPr lang="en-US"/>
          </a:p>
        </p:txBody>
      </p:sp>
    </p:spTree>
    <p:extLst>
      <p:ext uri="{BB962C8B-B14F-4D97-AF65-F5344CB8AC3E}">
        <p14:creationId xmlns:p14="http://schemas.microsoft.com/office/powerpoint/2010/main" val="25214761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en-US" dirty="0"/>
              <a:t>Application </a:t>
            </a:r>
            <a:r>
              <a:rPr lang="en-US" dirty="0" err="1"/>
              <a:t>chứa</a:t>
            </a:r>
            <a:r>
              <a:rPr lang="en-US" dirty="0"/>
              <a:t> </a:t>
            </a:r>
            <a:r>
              <a:rPr lang="en-US" dirty="0" err="1"/>
              <a:t>tất</a:t>
            </a:r>
            <a:r>
              <a:rPr lang="en-US" dirty="0"/>
              <a:t> </a:t>
            </a:r>
            <a:r>
              <a:rPr lang="en-US" dirty="0" err="1"/>
              <a:t>cả</a:t>
            </a:r>
            <a:r>
              <a:rPr lang="en-US" dirty="0"/>
              <a:t> </a:t>
            </a:r>
            <a:r>
              <a:rPr lang="en-US" dirty="0" err="1"/>
              <a:t>các</a:t>
            </a:r>
            <a:r>
              <a:rPr lang="en-US" dirty="0"/>
              <a:t> job </a:t>
            </a:r>
            <a:r>
              <a:rPr lang="en-US" dirty="0" err="1"/>
              <a:t>và</a:t>
            </a:r>
            <a:r>
              <a:rPr lang="en-US" dirty="0"/>
              <a:t> code </a:t>
            </a:r>
            <a:r>
              <a:rPr lang="en-US" dirty="0" err="1"/>
              <a:t>mà</a:t>
            </a:r>
            <a:r>
              <a:rPr lang="en-US" dirty="0"/>
              <a:t> </a:t>
            </a:r>
            <a:r>
              <a:rPr lang="en-US" dirty="0" err="1"/>
              <a:t>chúng</a:t>
            </a:r>
            <a:r>
              <a:rPr lang="en-US" dirty="0"/>
              <a:t> ta </a:t>
            </a:r>
            <a:r>
              <a:rPr lang="en-US" dirty="0" err="1"/>
              <a:t>viết</a:t>
            </a:r>
            <a:r>
              <a:rPr lang="en-US" dirty="0"/>
              <a:t> </a:t>
            </a:r>
            <a:r>
              <a:rPr lang="en-US" dirty="0" err="1"/>
              <a:t>bằng</a:t>
            </a:r>
            <a:r>
              <a:rPr lang="en-US" dirty="0"/>
              <a:t> Spring Framework</a:t>
            </a:r>
          </a:p>
          <a:p>
            <a:pPr marL="171450" indent="-171450">
              <a:buFont typeface="Arial" panose="020B0604020202020204" pitchFamily="34" charset="0"/>
              <a:buChar char="•"/>
            </a:pPr>
            <a:r>
              <a:rPr lang="en-US" dirty="0"/>
              <a:t>Batch Core </a:t>
            </a:r>
            <a:r>
              <a:rPr lang="en-US" dirty="0" err="1"/>
              <a:t>chứa</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lớp</a:t>
            </a:r>
            <a:r>
              <a:rPr lang="en-US" dirty="0"/>
              <a:t> API </a:t>
            </a:r>
            <a:r>
              <a:rPr lang="en-US" dirty="0" err="1"/>
              <a:t>cần</a:t>
            </a:r>
            <a:r>
              <a:rPr lang="en-US" dirty="0"/>
              <a:t> </a:t>
            </a:r>
            <a:r>
              <a:rPr lang="en-US" dirty="0" err="1"/>
              <a:t>thiết</a:t>
            </a:r>
            <a:r>
              <a:rPr lang="en-US" dirty="0"/>
              <a:t> </a:t>
            </a:r>
            <a:r>
              <a:rPr lang="en-US" dirty="0" err="1"/>
              <a:t>để</a:t>
            </a:r>
            <a:r>
              <a:rPr lang="en-US" dirty="0"/>
              <a:t> </a:t>
            </a:r>
            <a:r>
              <a:rPr lang="en-US" dirty="0" err="1"/>
              <a:t>kiểm</a:t>
            </a:r>
            <a:r>
              <a:rPr lang="en-US" dirty="0"/>
              <a:t> </a:t>
            </a:r>
            <a:r>
              <a:rPr lang="en-US" dirty="0" err="1"/>
              <a:t>soát</a:t>
            </a:r>
            <a:r>
              <a:rPr lang="en-US" dirty="0"/>
              <a:t> </a:t>
            </a:r>
            <a:r>
              <a:rPr lang="en-US" dirty="0" err="1"/>
              <a:t>và</a:t>
            </a:r>
            <a:r>
              <a:rPr lang="en-US" dirty="0"/>
              <a:t> </a:t>
            </a:r>
            <a:r>
              <a:rPr lang="en-US" dirty="0" err="1"/>
              <a:t>khởi</a:t>
            </a:r>
            <a:r>
              <a:rPr lang="en-US" dirty="0"/>
              <a:t> </a:t>
            </a:r>
            <a:r>
              <a:rPr lang="en-US" dirty="0" err="1"/>
              <a:t>chạy</a:t>
            </a:r>
            <a:r>
              <a:rPr lang="en-US" dirty="0"/>
              <a:t> Batch Job</a:t>
            </a:r>
          </a:p>
          <a:p>
            <a:pPr marL="171450" indent="-171450">
              <a:buFont typeface="Arial" panose="020B0604020202020204" pitchFamily="34" charset="0"/>
              <a:buChar char="•"/>
            </a:pPr>
            <a:r>
              <a:rPr lang="en-US" dirty="0"/>
              <a:t>Batch Infrastructure </a:t>
            </a:r>
            <a:r>
              <a:rPr lang="en-US" dirty="0" err="1"/>
              <a:t>chứa</a:t>
            </a:r>
            <a:r>
              <a:rPr lang="en-US" dirty="0"/>
              <a:t> </a:t>
            </a:r>
            <a:r>
              <a:rPr lang="en-US" dirty="0" err="1"/>
              <a:t>các</a:t>
            </a:r>
            <a:r>
              <a:rPr lang="en-US" dirty="0"/>
              <a:t> </a:t>
            </a:r>
            <a:r>
              <a:rPr lang="en-US" dirty="0" err="1"/>
              <a:t>trình</a:t>
            </a:r>
            <a:r>
              <a:rPr lang="en-US" dirty="0"/>
              <a:t> </a:t>
            </a:r>
            <a:r>
              <a:rPr lang="en-US" dirty="0" err="1"/>
              <a:t>đọc</a:t>
            </a:r>
            <a:r>
              <a:rPr lang="en-US" dirty="0"/>
              <a:t>, </a:t>
            </a:r>
            <a:r>
              <a:rPr lang="en-US" dirty="0" err="1"/>
              <a:t>ghi</a:t>
            </a:r>
            <a:r>
              <a:rPr lang="en-US" dirty="0"/>
              <a:t> </a:t>
            </a:r>
            <a:r>
              <a:rPr lang="en-US" dirty="0" err="1"/>
              <a:t>và</a:t>
            </a:r>
            <a:r>
              <a:rPr lang="en-US" dirty="0"/>
              <a:t> </a:t>
            </a:r>
            <a:r>
              <a:rPr lang="en-US" dirty="0" err="1"/>
              <a:t>các</a:t>
            </a:r>
            <a:r>
              <a:rPr lang="en-US" dirty="0"/>
              <a:t> service </a:t>
            </a:r>
            <a:r>
              <a:rPr lang="en-US" dirty="0" err="1"/>
              <a:t>được</a:t>
            </a:r>
            <a:r>
              <a:rPr lang="en-US" dirty="0"/>
              <a:t> </a:t>
            </a:r>
            <a:r>
              <a:rPr lang="en-US" dirty="0" err="1"/>
              <a:t>sử</a:t>
            </a:r>
            <a:r>
              <a:rPr lang="en-US" dirty="0"/>
              <a:t> </a:t>
            </a:r>
            <a:r>
              <a:rPr lang="en-US" dirty="0" err="1"/>
              <a:t>dụng</a:t>
            </a:r>
            <a:r>
              <a:rPr lang="en-US" dirty="0"/>
              <a:t> </a:t>
            </a:r>
            <a:r>
              <a:rPr lang="en-US" dirty="0" err="1"/>
              <a:t>bởi</a:t>
            </a:r>
            <a:r>
              <a:rPr lang="en-US" dirty="0"/>
              <a:t> </a:t>
            </a:r>
            <a:r>
              <a:rPr lang="en-US" dirty="0" err="1"/>
              <a:t>cả</a:t>
            </a:r>
            <a:r>
              <a:rPr lang="en-US" dirty="0"/>
              <a:t> Application </a:t>
            </a:r>
            <a:r>
              <a:rPr lang="en-US" dirty="0" err="1"/>
              <a:t>và</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Batch Core.</a:t>
            </a:r>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15128174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lgn="just">
              <a:buFont typeface="Arial" panose="020B0604020202020204" pitchFamily="34" charset="0"/>
              <a:buChar char="•"/>
            </a:pPr>
            <a:r>
              <a:rPr lang="en-US" i="1" dirty="0"/>
              <a:t>Job</a:t>
            </a:r>
            <a:r>
              <a:rPr lang="en-US" dirty="0"/>
              <a:t> </a:t>
            </a:r>
            <a:r>
              <a:rPr lang="en-US" dirty="0" err="1"/>
              <a:t>là</a:t>
            </a:r>
            <a:r>
              <a:rPr lang="en-US" dirty="0"/>
              <a:t> </a:t>
            </a:r>
            <a:r>
              <a:rPr lang="en-US" dirty="0" err="1"/>
              <a:t>một</a:t>
            </a:r>
            <a:r>
              <a:rPr lang="en-US" dirty="0"/>
              <a:t> </a:t>
            </a:r>
            <a:r>
              <a:rPr lang="en-US" dirty="0" err="1"/>
              <a:t>xử</a:t>
            </a:r>
            <a:r>
              <a:rPr lang="en-US" dirty="0"/>
              <a:t> </a:t>
            </a:r>
            <a:r>
              <a:rPr lang="en-US" dirty="0" err="1"/>
              <a:t>lý</a:t>
            </a:r>
            <a:r>
              <a:rPr lang="en-US" dirty="0"/>
              <a:t> batch </a:t>
            </a:r>
            <a:r>
              <a:rPr lang="en-US" dirty="0" err="1"/>
              <a:t>sẽ</a:t>
            </a:r>
            <a:r>
              <a:rPr lang="en-US" dirty="0"/>
              <a:t> </a:t>
            </a:r>
            <a:r>
              <a:rPr lang="en-US" dirty="0" err="1"/>
              <a:t>được</a:t>
            </a:r>
            <a:r>
              <a:rPr lang="en-US" dirty="0"/>
              <a:t> </a:t>
            </a:r>
            <a:r>
              <a:rPr lang="en-US" dirty="0" err="1"/>
              <a:t>thực</a:t>
            </a:r>
            <a:r>
              <a:rPr lang="en-US" dirty="0"/>
              <a:t> thi, </a:t>
            </a:r>
            <a:r>
              <a:rPr lang="en-US" dirty="0" err="1"/>
              <a:t>nó</a:t>
            </a:r>
            <a:r>
              <a:rPr lang="en-US" dirty="0"/>
              <a:t> </a:t>
            </a:r>
            <a:r>
              <a:rPr lang="en-US" dirty="0" err="1"/>
              <a:t>chạy</a:t>
            </a:r>
            <a:r>
              <a:rPr lang="en-US" dirty="0"/>
              <a:t> </a:t>
            </a:r>
            <a:r>
              <a:rPr lang="en-US" dirty="0" err="1"/>
              <a:t>từ</a:t>
            </a:r>
            <a:r>
              <a:rPr lang="en-US" dirty="0"/>
              <a:t> </a:t>
            </a:r>
            <a:r>
              <a:rPr lang="en-US" dirty="0" err="1"/>
              <a:t>đầu</a:t>
            </a:r>
            <a:r>
              <a:rPr lang="en-US" dirty="0"/>
              <a:t> </a:t>
            </a:r>
            <a:r>
              <a:rPr lang="en-US" dirty="0" err="1"/>
              <a:t>đến</a:t>
            </a:r>
            <a:r>
              <a:rPr lang="en-US" dirty="0"/>
              <a:t> </a:t>
            </a:r>
            <a:r>
              <a:rPr lang="en-US" dirty="0" err="1"/>
              <a:t>cuối</a:t>
            </a:r>
            <a:r>
              <a:rPr lang="en-US" dirty="0"/>
              <a:t> </a:t>
            </a:r>
            <a:r>
              <a:rPr lang="en-US" dirty="0" err="1"/>
              <a:t>mà</a:t>
            </a:r>
            <a:r>
              <a:rPr lang="en-US" dirty="0"/>
              <a:t> </a:t>
            </a:r>
            <a:r>
              <a:rPr lang="en-US" dirty="0" err="1"/>
              <a:t>không</a:t>
            </a:r>
            <a:r>
              <a:rPr lang="en-US" dirty="0"/>
              <a:t> </a:t>
            </a:r>
            <a:r>
              <a:rPr lang="en-US" dirty="0" err="1"/>
              <a:t>bị</a:t>
            </a:r>
            <a:r>
              <a:rPr lang="en-US" dirty="0"/>
              <a:t> </a:t>
            </a:r>
            <a:r>
              <a:rPr lang="en-US" dirty="0" err="1"/>
              <a:t>gián</a:t>
            </a:r>
            <a:r>
              <a:rPr lang="en-US" dirty="0"/>
              <a:t> </a:t>
            </a:r>
            <a:r>
              <a:rPr lang="en-US" dirty="0" err="1"/>
              <a:t>đoạn</a:t>
            </a:r>
            <a:r>
              <a:rPr lang="en-US" dirty="0"/>
              <a:t>. </a:t>
            </a:r>
            <a:r>
              <a:rPr lang="en-US" dirty="0" err="1"/>
              <a:t>Mỗi</a:t>
            </a:r>
            <a:r>
              <a:rPr lang="en-US" dirty="0"/>
              <a:t> </a:t>
            </a:r>
            <a:r>
              <a:rPr lang="en-US" i="1" dirty="0"/>
              <a:t>Job</a:t>
            </a:r>
            <a:r>
              <a:rPr lang="en-US" dirty="0"/>
              <a:t> </a:t>
            </a:r>
            <a:r>
              <a:rPr lang="en-US" dirty="0" err="1"/>
              <a:t>có</a:t>
            </a:r>
            <a:r>
              <a:rPr lang="en-US" dirty="0"/>
              <a:t> </a:t>
            </a:r>
            <a:r>
              <a:rPr lang="en-US" dirty="0" err="1"/>
              <a:t>một</a:t>
            </a:r>
            <a:r>
              <a:rPr lang="en-US" dirty="0"/>
              <a:t> </a:t>
            </a:r>
            <a:r>
              <a:rPr lang="en-US" dirty="0" err="1"/>
              <a:t>hoặc</a:t>
            </a:r>
            <a:r>
              <a:rPr lang="en-US" dirty="0"/>
              <a:t> </a:t>
            </a:r>
            <a:r>
              <a:rPr lang="en-US" dirty="0" err="1"/>
              <a:t>nhiều</a:t>
            </a:r>
            <a:r>
              <a:rPr lang="en-US" dirty="0"/>
              <a:t> </a:t>
            </a:r>
            <a:r>
              <a:rPr lang="en-US" i="1" dirty="0"/>
              <a:t>Step</a:t>
            </a:r>
            <a:r>
              <a:rPr lang="en-US" dirty="0"/>
              <a:t>.</a:t>
            </a:r>
          </a:p>
          <a:p>
            <a:pPr marL="171450" indent="-171450" algn="just">
              <a:buFont typeface="Arial" panose="020B0604020202020204" pitchFamily="34" charset="0"/>
              <a:buChar char="•"/>
            </a:pPr>
            <a:r>
              <a:rPr lang="en-US" i="1" dirty="0"/>
              <a:t>Step</a:t>
            </a:r>
            <a:r>
              <a:rPr lang="en-US" dirty="0"/>
              <a:t> </a:t>
            </a:r>
            <a:r>
              <a:rPr lang="en-US" dirty="0" err="1"/>
              <a:t>là</a:t>
            </a:r>
            <a:r>
              <a:rPr lang="en-US" dirty="0"/>
              <a:t> </a:t>
            </a:r>
            <a:r>
              <a:rPr lang="en-US" dirty="0" err="1"/>
              <a:t>một</a:t>
            </a:r>
            <a:r>
              <a:rPr lang="en-US" dirty="0"/>
              <a:t> </a:t>
            </a:r>
            <a:r>
              <a:rPr lang="en-US" dirty="0" err="1"/>
              <a:t>phần</a:t>
            </a:r>
            <a:r>
              <a:rPr lang="en-US" dirty="0"/>
              <a:t> </a:t>
            </a:r>
            <a:r>
              <a:rPr lang="en-US" dirty="0" err="1"/>
              <a:t>độc</a:t>
            </a:r>
            <a:r>
              <a:rPr lang="en-US" dirty="0"/>
              <a:t> </a:t>
            </a:r>
            <a:r>
              <a:rPr lang="en-US" dirty="0" err="1"/>
              <a:t>lập</a:t>
            </a:r>
            <a:r>
              <a:rPr lang="en-US" dirty="0"/>
              <a:t> </a:t>
            </a:r>
            <a:r>
              <a:rPr lang="en-US" dirty="0" err="1"/>
              <a:t>của</a:t>
            </a:r>
            <a:r>
              <a:rPr lang="en-US" dirty="0"/>
              <a:t> </a:t>
            </a:r>
            <a:r>
              <a:rPr lang="en-US" i="1" dirty="0"/>
              <a:t>Job</a:t>
            </a:r>
            <a:r>
              <a:rPr lang="en-US" dirty="0"/>
              <a:t> </a:t>
            </a:r>
            <a:r>
              <a:rPr lang="en-US" dirty="0" err="1"/>
              <a:t>mà</a:t>
            </a:r>
            <a:r>
              <a:rPr lang="en-US" dirty="0"/>
              <a:t> </a:t>
            </a:r>
            <a:r>
              <a:rPr lang="en-US" dirty="0" err="1"/>
              <a:t>bao</a:t>
            </a:r>
            <a:r>
              <a:rPr lang="en-US" dirty="0"/>
              <a:t> </a:t>
            </a:r>
            <a:r>
              <a:rPr lang="en-US" dirty="0" err="1"/>
              <a:t>gồm</a:t>
            </a:r>
            <a:r>
              <a:rPr lang="en-US" dirty="0"/>
              <a:t> </a:t>
            </a:r>
            <a:r>
              <a:rPr lang="en-US" dirty="0" err="1"/>
              <a:t>những</a:t>
            </a:r>
            <a:r>
              <a:rPr lang="en-US" dirty="0"/>
              <a:t> </a:t>
            </a:r>
            <a:r>
              <a:rPr lang="en-US" dirty="0" err="1"/>
              <a:t>thông</a:t>
            </a:r>
            <a:r>
              <a:rPr lang="en-US" dirty="0"/>
              <a:t> tin </a:t>
            </a:r>
            <a:r>
              <a:rPr lang="en-US" dirty="0" err="1"/>
              <a:t>cần</a:t>
            </a:r>
            <a:r>
              <a:rPr lang="en-US" dirty="0"/>
              <a:t> </a:t>
            </a:r>
            <a:r>
              <a:rPr lang="en-US" dirty="0" err="1"/>
              <a:t>thiết</a:t>
            </a:r>
            <a:r>
              <a:rPr lang="en-US" dirty="0"/>
              <a:t> </a:t>
            </a:r>
            <a:r>
              <a:rPr lang="en-US" dirty="0" err="1"/>
              <a:t>để</a:t>
            </a:r>
            <a:r>
              <a:rPr lang="en-US" dirty="0"/>
              <a:t> </a:t>
            </a:r>
            <a:r>
              <a:rPr lang="en-US" dirty="0" err="1"/>
              <a:t>định</a:t>
            </a:r>
            <a:r>
              <a:rPr lang="en-US" dirty="0"/>
              <a:t> </a:t>
            </a:r>
            <a:r>
              <a:rPr lang="en-US" dirty="0" err="1"/>
              <a:t>nghĩa</a:t>
            </a:r>
            <a:r>
              <a:rPr lang="en-US" dirty="0"/>
              <a:t> </a:t>
            </a:r>
            <a:r>
              <a:rPr lang="en-US" dirty="0" err="1"/>
              <a:t>và</a:t>
            </a:r>
            <a:r>
              <a:rPr lang="en-US" dirty="0"/>
              <a:t> </a:t>
            </a:r>
            <a:r>
              <a:rPr lang="en-US" dirty="0" err="1"/>
              <a:t>thực</a:t>
            </a:r>
            <a:r>
              <a:rPr lang="en-US" dirty="0"/>
              <a:t> thi </a:t>
            </a:r>
            <a:r>
              <a:rPr lang="en-US" i="1" dirty="0"/>
              <a:t>Job</a:t>
            </a:r>
            <a:r>
              <a:rPr lang="en-US" dirty="0"/>
              <a:t>. </a:t>
            </a:r>
            <a:r>
              <a:rPr lang="en-US" dirty="0" err="1"/>
              <a:t>Mỗi</a:t>
            </a:r>
            <a:r>
              <a:rPr lang="en-US" dirty="0"/>
              <a:t> </a:t>
            </a:r>
            <a:r>
              <a:rPr lang="en-US" i="1" dirty="0"/>
              <a:t>Step </a:t>
            </a:r>
            <a:r>
              <a:rPr lang="en-US" dirty="0" err="1"/>
              <a:t>thuộc</a:t>
            </a:r>
            <a:r>
              <a:rPr lang="en-US" dirty="0"/>
              <a:t> </a:t>
            </a:r>
            <a:r>
              <a:rPr lang="en-US" dirty="0" err="1"/>
              <a:t>về</a:t>
            </a:r>
            <a:r>
              <a:rPr lang="en-US" dirty="0"/>
              <a:t> </a:t>
            </a:r>
            <a:r>
              <a:rPr lang="en-US" dirty="0" err="1"/>
              <a:t>một</a:t>
            </a:r>
            <a:r>
              <a:rPr lang="en-US" dirty="0"/>
              <a:t> </a:t>
            </a:r>
            <a:r>
              <a:rPr lang="en-US" i="1" dirty="0"/>
              <a:t>Job</a:t>
            </a:r>
            <a:r>
              <a:rPr lang="en-US" dirty="0"/>
              <a:t>.</a:t>
            </a:r>
          </a:p>
          <a:p>
            <a:pPr marL="171450" indent="-171450" algn="just">
              <a:buFont typeface="Arial" panose="020B0604020202020204" pitchFamily="34" charset="0"/>
              <a:buChar char="•"/>
            </a:pPr>
            <a:r>
              <a:rPr lang="en-US" i="1" dirty="0" err="1"/>
              <a:t>ItemReader</a:t>
            </a:r>
            <a:r>
              <a:rPr lang="en-US" dirty="0"/>
              <a:t> </a:t>
            </a:r>
            <a:r>
              <a:rPr lang="en-US" dirty="0" err="1"/>
              <a:t>đọc</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ứng</a:t>
            </a:r>
            <a:r>
              <a:rPr lang="en-US" dirty="0"/>
              <a:t> </a:t>
            </a:r>
            <a:r>
              <a:rPr lang="en-US" dirty="0" err="1"/>
              <a:t>dụng</a:t>
            </a:r>
            <a:r>
              <a:rPr lang="en-US" dirty="0"/>
              <a:t> Spring Batch </a:t>
            </a:r>
            <a:r>
              <a:rPr lang="en-US" dirty="0" err="1"/>
              <a:t>từ</a:t>
            </a:r>
            <a:r>
              <a:rPr lang="en-US" dirty="0"/>
              <a:t> </a:t>
            </a:r>
            <a:r>
              <a:rPr lang="en-US" dirty="0" err="1"/>
              <a:t>một</a:t>
            </a:r>
            <a:r>
              <a:rPr lang="en-US" dirty="0"/>
              <a:t> </a:t>
            </a:r>
            <a:r>
              <a:rPr lang="en-US" dirty="0" err="1"/>
              <a:t>nguồn</a:t>
            </a:r>
            <a:r>
              <a:rPr lang="en-US" dirty="0"/>
              <a:t> </a:t>
            </a:r>
            <a:r>
              <a:rPr lang="en-US" dirty="0" err="1"/>
              <a:t>cụ</a:t>
            </a:r>
            <a:r>
              <a:rPr lang="en-US" dirty="0"/>
              <a:t> </a:t>
            </a:r>
            <a:r>
              <a:rPr lang="en-US" dirty="0" err="1"/>
              <a:t>thể</a:t>
            </a:r>
            <a:r>
              <a:rPr lang="en-US" dirty="0"/>
              <a:t>. </a:t>
            </a:r>
            <a:r>
              <a:rPr lang="en-US" dirty="0" err="1"/>
              <a:t>Một</a:t>
            </a:r>
            <a:r>
              <a:rPr lang="en-US" dirty="0"/>
              <a:t> </a:t>
            </a:r>
            <a:r>
              <a:rPr lang="en-US" i="1" dirty="0" err="1"/>
              <a:t>ItemReader</a:t>
            </a:r>
            <a:r>
              <a:rPr lang="en-US" dirty="0"/>
              <a:t> </a:t>
            </a:r>
            <a:r>
              <a:rPr lang="en-US" dirty="0" err="1"/>
              <a:t>thuộc</a:t>
            </a:r>
            <a:r>
              <a:rPr lang="en-US" dirty="0"/>
              <a:t> </a:t>
            </a:r>
            <a:r>
              <a:rPr lang="en-US" dirty="0" err="1"/>
              <a:t>về</a:t>
            </a:r>
            <a:r>
              <a:rPr lang="en-US" dirty="0"/>
              <a:t> </a:t>
            </a:r>
            <a:r>
              <a:rPr lang="en-US" dirty="0" err="1"/>
              <a:t>một</a:t>
            </a:r>
            <a:r>
              <a:rPr lang="en-US" dirty="0"/>
              <a:t> </a:t>
            </a:r>
            <a:r>
              <a:rPr lang="en-US" i="1" dirty="0"/>
              <a:t>Step </a:t>
            </a:r>
            <a:r>
              <a:rPr lang="en-US" dirty="0" err="1"/>
              <a:t>và</a:t>
            </a:r>
            <a:r>
              <a:rPr lang="en-US" dirty="0"/>
              <a:t> </a:t>
            </a:r>
            <a:r>
              <a:rPr lang="en-US" dirty="0" err="1"/>
              <a:t>mỗi</a:t>
            </a:r>
            <a:r>
              <a:rPr lang="en-US" dirty="0"/>
              <a:t> </a:t>
            </a:r>
            <a:r>
              <a:rPr lang="en-US" i="1" dirty="0"/>
              <a:t>Step </a:t>
            </a:r>
            <a:r>
              <a:rPr lang="en-US" dirty="0" err="1"/>
              <a:t>chỉ</a:t>
            </a:r>
            <a:r>
              <a:rPr lang="en-US" dirty="0"/>
              <a:t> </a:t>
            </a:r>
            <a:r>
              <a:rPr lang="en-US" dirty="0" err="1"/>
              <a:t>có</a:t>
            </a:r>
            <a:r>
              <a:rPr lang="en-US" dirty="0"/>
              <a:t> </a:t>
            </a:r>
            <a:r>
              <a:rPr lang="en-US" dirty="0" err="1"/>
              <a:t>một</a:t>
            </a:r>
            <a:r>
              <a:rPr lang="en-US" dirty="0"/>
              <a:t> </a:t>
            </a:r>
            <a:r>
              <a:rPr lang="en-US" i="1" dirty="0" err="1"/>
              <a:t>ItemReader</a:t>
            </a:r>
            <a:r>
              <a:rPr lang="en-US" i="1" dirty="0"/>
              <a:t>.</a:t>
            </a:r>
          </a:p>
          <a:p>
            <a:pPr marL="171450" indent="-171450" algn="just">
              <a:buFont typeface="Arial" panose="020B0604020202020204" pitchFamily="34" charset="0"/>
              <a:buChar char="•"/>
            </a:pPr>
            <a:r>
              <a:rPr lang="en-US" i="1" dirty="0" err="1"/>
              <a:t>ItemWriter</a:t>
            </a:r>
            <a:r>
              <a:rPr lang="en-US" dirty="0"/>
              <a:t> </a:t>
            </a:r>
            <a:r>
              <a:rPr lang="en-US" dirty="0" err="1"/>
              <a:t>ghi</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ứng</a:t>
            </a:r>
            <a:r>
              <a:rPr lang="en-US" dirty="0"/>
              <a:t> </a:t>
            </a:r>
            <a:r>
              <a:rPr lang="en-US" dirty="0" err="1"/>
              <a:t>dụng</a:t>
            </a:r>
            <a:r>
              <a:rPr lang="en-US" dirty="0"/>
              <a:t> Spring Batch </a:t>
            </a:r>
            <a:r>
              <a:rPr lang="en-US" dirty="0" err="1"/>
              <a:t>vào</a:t>
            </a:r>
            <a:r>
              <a:rPr lang="en-US" dirty="0"/>
              <a:t> </a:t>
            </a:r>
            <a:r>
              <a:rPr lang="en-US" dirty="0" err="1"/>
              <a:t>một</a:t>
            </a:r>
            <a:r>
              <a:rPr lang="en-US" dirty="0"/>
              <a:t> </a:t>
            </a:r>
            <a:r>
              <a:rPr lang="en-US" dirty="0" err="1"/>
              <a:t>đích</a:t>
            </a:r>
            <a:r>
              <a:rPr lang="en-US" dirty="0"/>
              <a:t> </a:t>
            </a:r>
            <a:r>
              <a:rPr lang="en-US" dirty="0" err="1"/>
              <a:t>đến</a:t>
            </a:r>
            <a:r>
              <a:rPr lang="en-US" dirty="0"/>
              <a:t> </a:t>
            </a:r>
            <a:r>
              <a:rPr lang="en-US" dirty="0" err="1"/>
              <a:t>cụ</a:t>
            </a:r>
            <a:r>
              <a:rPr lang="en-US" dirty="0"/>
              <a:t> </a:t>
            </a:r>
            <a:r>
              <a:rPr lang="en-US" dirty="0" err="1"/>
              <a:t>thể</a:t>
            </a:r>
            <a:r>
              <a:rPr lang="en-US" dirty="0"/>
              <a:t>. </a:t>
            </a:r>
            <a:r>
              <a:rPr lang="en-US" dirty="0" err="1"/>
              <a:t>Một</a:t>
            </a:r>
            <a:r>
              <a:rPr lang="en-US" dirty="0"/>
              <a:t> </a:t>
            </a:r>
            <a:r>
              <a:rPr lang="en-US" i="1" dirty="0" err="1"/>
              <a:t>ItemWriter</a:t>
            </a:r>
            <a:r>
              <a:rPr lang="en-US" dirty="0"/>
              <a:t> </a:t>
            </a:r>
            <a:r>
              <a:rPr lang="en-US" dirty="0" err="1"/>
              <a:t>thuộc</a:t>
            </a:r>
            <a:r>
              <a:rPr lang="en-US" dirty="0"/>
              <a:t> </a:t>
            </a:r>
            <a:r>
              <a:rPr lang="en-US" dirty="0" err="1"/>
              <a:t>về</a:t>
            </a:r>
            <a:r>
              <a:rPr lang="en-US" dirty="0"/>
              <a:t> </a:t>
            </a:r>
            <a:r>
              <a:rPr lang="en-US" dirty="0" err="1"/>
              <a:t>một</a:t>
            </a:r>
            <a:r>
              <a:rPr lang="en-US" dirty="0"/>
              <a:t> </a:t>
            </a:r>
            <a:r>
              <a:rPr lang="en-US" i="1" dirty="0"/>
              <a:t>Step </a:t>
            </a:r>
            <a:r>
              <a:rPr lang="en-US" dirty="0" err="1"/>
              <a:t>và</a:t>
            </a:r>
            <a:r>
              <a:rPr lang="en-US" dirty="0"/>
              <a:t> </a:t>
            </a:r>
            <a:r>
              <a:rPr lang="en-US" dirty="0" err="1"/>
              <a:t>mỗi</a:t>
            </a:r>
            <a:r>
              <a:rPr lang="en-US" dirty="0"/>
              <a:t> </a:t>
            </a:r>
            <a:r>
              <a:rPr lang="en-US" i="1" dirty="0"/>
              <a:t>Step </a:t>
            </a:r>
            <a:r>
              <a:rPr lang="en-US" dirty="0" err="1"/>
              <a:t>chỉ</a:t>
            </a:r>
            <a:r>
              <a:rPr lang="en-US" dirty="0"/>
              <a:t> </a:t>
            </a:r>
            <a:r>
              <a:rPr lang="en-US" dirty="0" err="1"/>
              <a:t>có</a:t>
            </a:r>
            <a:r>
              <a:rPr lang="en-US" dirty="0"/>
              <a:t> </a:t>
            </a:r>
            <a:r>
              <a:rPr lang="en-US" dirty="0" err="1"/>
              <a:t>một</a:t>
            </a:r>
            <a:r>
              <a:rPr lang="en-US" dirty="0"/>
              <a:t> </a:t>
            </a:r>
            <a:r>
              <a:rPr lang="en-US" i="1" dirty="0" err="1"/>
              <a:t>ItemWriter</a:t>
            </a:r>
            <a:r>
              <a:rPr lang="en-US" dirty="0"/>
              <a:t> .</a:t>
            </a:r>
            <a:endParaRPr lang="en-US" i="1" dirty="0"/>
          </a:p>
          <a:p>
            <a:pPr marL="171450" indent="-171450" algn="just">
              <a:buFont typeface="Arial" panose="020B0604020202020204" pitchFamily="34" charset="0"/>
              <a:buChar char="•"/>
            </a:pPr>
            <a:r>
              <a:rPr lang="en-US" i="1" dirty="0" err="1"/>
              <a:t>ItemProcessor</a:t>
            </a:r>
            <a:r>
              <a:rPr lang="en-US" dirty="0"/>
              <a:t> </a:t>
            </a:r>
            <a:r>
              <a:rPr lang="en-US" dirty="0" err="1"/>
              <a:t>chứa</a:t>
            </a:r>
            <a:r>
              <a:rPr lang="en-US" dirty="0"/>
              <a:t> code </a:t>
            </a:r>
            <a:r>
              <a:rPr lang="en-US" dirty="0" err="1"/>
              <a:t>xử</a:t>
            </a:r>
            <a:r>
              <a:rPr lang="en-US" dirty="0"/>
              <a:t> </a:t>
            </a:r>
            <a:r>
              <a:rPr lang="en-US" dirty="0" err="1"/>
              <a:t>lý</a:t>
            </a:r>
            <a:r>
              <a:rPr lang="en-US" dirty="0"/>
              <a:t> </a:t>
            </a:r>
            <a:r>
              <a:rPr lang="en-US" dirty="0" err="1"/>
              <a:t>mà</a:t>
            </a:r>
            <a:r>
              <a:rPr lang="en-US" dirty="0"/>
              <a:t> </a:t>
            </a:r>
            <a:r>
              <a:rPr lang="en-US" dirty="0" err="1"/>
              <a:t>xử</a:t>
            </a:r>
            <a:r>
              <a:rPr lang="en-US" dirty="0"/>
              <a:t> </a:t>
            </a:r>
            <a:r>
              <a:rPr lang="en-US" dirty="0" err="1"/>
              <a:t>lý</a:t>
            </a:r>
            <a:r>
              <a:rPr lang="en-US" dirty="0"/>
              <a:t>, </a:t>
            </a:r>
            <a:r>
              <a:rPr lang="en-US" dirty="0" err="1"/>
              <a:t>biến</a:t>
            </a:r>
            <a:r>
              <a:rPr lang="en-US" dirty="0"/>
              <a:t> </a:t>
            </a:r>
            <a:r>
              <a:rPr lang="en-US" dirty="0" err="1"/>
              <a:t>đổi</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thành</a:t>
            </a:r>
            <a:r>
              <a:rPr lang="en-US" dirty="0"/>
              <a:t> </a:t>
            </a:r>
            <a:r>
              <a:rPr lang="en-US" dirty="0" err="1"/>
              <a:t>một</a:t>
            </a:r>
            <a:r>
              <a:rPr lang="en-US" dirty="0"/>
              <a:t> </a:t>
            </a:r>
            <a:r>
              <a:rPr lang="en-US" dirty="0" err="1"/>
              <a:t>dạng</a:t>
            </a:r>
            <a:r>
              <a:rPr lang="en-US" dirty="0"/>
              <a:t> </a:t>
            </a:r>
            <a:r>
              <a:rPr lang="en-US" dirty="0" err="1"/>
              <a:t>mà</a:t>
            </a:r>
            <a:r>
              <a:rPr lang="en-US" dirty="0"/>
              <a:t> </a:t>
            </a:r>
            <a:r>
              <a:rPr lang="en-US" i="1" dirty="0" err="1"/>
              <a:t>ItemWriter</a:t>
            </a:r>
            <a:r>
              <a:rPr lang="en-US" dirty="0"/>
              <a:t> </a:t>
            </a:r>
            <a:r>
              <a:rPr lang="en-US" dirty="0" err="1"/>
              <a:t>có</a:t>
            </a:r>
            <a:r>
              <a:rPr lang="en-US" dirty="0"/>
              <a:t> </a:t>
            </a:r>
            <a:r>
              <a:rPr lang="en-US" dirty="0" err="1"/>
              <a:t>thể</a:t>
            </a:r>
            <a:r>
              <a:rPr lang="en-US" dirty="0"/>
              <a:t> </a:t>
            </a:r>
            <a:r>
              <a:rPr lang="en-US" dirty="0" err="1"/>
              <a:t>hiểu</a:t>
            </a:r>
            <a:r>
              <a:rPr lang="en-US" dirty="0"/>
              <a:t> </a:t>
            </a:r>
            <a:r>
              <a:rPr lang="en-US" dirty="0" err="1"/>
              <a:t>được</a:t>
            </a:r>
            <a:r>
              <a:rPr lang="en-US" dirty="0"/>
              <a:t>. </a:t>
            </a:r>
            <a:r>
              <a:rPr lang="en-US" dirty="0" err="1"/>
              <a:t>Một</a:t>
            </a:r>
            <a:r>
              <a:rPr lang="en-US" dirty="0"/>
              <a:t> </a:t>
            </a:r>
            <a:r>
              <a:rPr lang="en-US" i="1" dirty="0" err="1"/>
              <a:t>ItemProcessor</a:t>
            </a:r>
            <a:r>
              <a:rPr lang="en-US" dirty="0"/>
              <a:t> </a:t>
            </a:r>
            <a:r>
              <a:rPr lang="en-US" dirty="0" err="1"/>
              <a:t>thuộc</a:t>
            </a:r>
            <a:r>
              <a:rPr lang="en-US" dirty="0"/>
              <a:t> </a:t>
            </a:r>
            <a:r>
              <a:rPr lang="en-US" dirty="0" err="1"/>
              <a:t>về</a:t>
            </a:r>
            <a:r>
              <a:rPr lang="en-US" dirty="0"/>
              <a:t> </a:t>
            </a:r>
            <a:r>
              <a:rPr lang="en-US" dirty="0" err="1"/>
              <a:t>một</a:t>
            </a:r>
            <a:r>
              <a:rPr lang="en-US" dirty="0"/>
              <a:t> </a:t>
            </a:r>
            <a:r>
              <a:rPr lang="en-US" i="1" dirty="0"/>
              <a:t>Step </a:t>
            </a:r>
            <a:r>
              <a:rPr lang="en-US" dirty="0" err="1"/>
              <a:t>và</a:t>
            </a:r>
            <a:r>
              <a:rPr lang="en-US" dirty="0"/>
              <a:t> </a:t>
            </a:r>
            <a:r>
              <a:rPr lang="en-US" dirty="0" err="1"/>
              <a:t>mỗi</a:t>
            </a:r>
            <a:r>
              <a:rPr lang="en-US" dirty="0"/>
              <a:t> </a:t>
            </a:r>
            <a:r>
              <a:rPr lang="en-US" i="1" dirty="0"/>
              <a:t>Step </a:t>
            </a:r>
            <a:r>
              <a:rPr lang="en-US" dirty="0" err="1"/>
              <a:t>chỉ</a:t>
            </a:r>
            <a:r>
              <a:rPr lang="en-US" dirty="0"/>
              <a:t> </a:t>
            </a:r>
            <a:r>
              <a:rPr lang="en-US" dirty="0" err="1"/>
              <a:t>có</a:t>
            </a:r>
            <a:r>
              <a:rPr lang="en-US" dirty="0"/>
              <a:t> </a:t>
            </a:r>
            <a:r>
              <a:rPr lang="en-US" dirty="0" err="1"/>
              <a:t>một</a:t>
            </a:r>
            <a:r>
              <a:rPr lang="en-US" i="1" dirty="0"/>
              <a:t> </a:t>
            </a:r>
            <a:r>
              <a:rPr lang="en-US" i="1" dirty="0" err="1"/>
              <a:t>ItemProcessor</a:t>
            </a:r>
            <a:r>
              <a:rPr lang="en-US" i="1" dirty="0"/>
              <a:t>.</a:t>
            </a:r>
          </a:p>
          <a:p>
            <a:pPr marL="171450" indent="-171450" algn="just">
              <a:buFont typeface="Arial" panose="020B0604020202020204" pitchFamily="34" charset="0"/>
              <a:buChar char="•"/>
            </a:pPr>
            <a:r>
              <a:rPr lang="en-US" i="1" dirty="0" err="1"/>
              <a:t>JobRepositories</a:t>
            </a:r>
            <a:r>
              <a:rPr lang="en-US" dirty="0"/>
              <a:t> </a:t>
            </a:r>
            <a:r>
              <a:rPr lang="en-US" dirty="0" err="1"/>
              <a:t>là</a:t>
            </a:r>
            <a:r>
              <a:rPr lang="en-US" dirty="0"/>
              <a:t> </a:t>
            </a:r>
            <a:r>
              <a:rPr lang="en-US" dirty="0" err="1"/>
              <a:t>lớp</a:t>
            </a:r>
            <a:r>
              <a:rPr lang="en-US" dirty="0"/>
              <a:t> </a:t>
            </a:r>
            <a:r>
              <a:rPr lang="en-US" dirty="0" err="1"/>
              <a:t>trừu</a:t>
            </a:r>
            <a:r>
              <a:rPr lang="en-US" dirty="0"/>
              <a:t> </a:t>
            </a:r>
            <a:r>
              <a:rPr lang="en-US" dirty="0" err="1"/>
              <a:t>tượng</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toán</a:t>
            </a:r>
            <a:r>
              <a:rPr lang="en-US" dirty="0"/>
              <a:t> </a:t>
            </a:r>
            <a:r>
              <a:rPr lang="en-US" dirty="0" err="1"/>
              <a:t>tử</a:t>
            </a:r>
            <a:r>
              <a:rPr lang="en-US" dirty="0"/>
              <a:t> Create, Retrieve, Update </a:t>
            </a:r>
            <a:r>
              <a:rPr lang="en-US" dirty="0" err="1"/>
              <a:t>và</a:t>
            </a:r>
            <a:r>
              <a:rPr lang="en-US" dirty="0"/>
              <a:t> Delete (CRUD) </a:t>
            </a:r>
            <a:r>
              <a:rPr lang="en-US" dirty="0" err="1"/>
              <a:t>cho</a:t>
            </a:r>
            <a:r>
              <a:rPr lang="en-US" dirty="0"/>
              <a:t> </a:t>
            </a:r>
            <a:r>
              <a:rPr lang="en-US" i="1" dirty="0" err="1"/>
              <a:t>JobLauncher</a:t>
            </a:r>
            <a:r>
              <a:rPr lang="en-US" dirty="0"/>
              <a:t>, </a:t>
            </a:r>
            <a:r>
              <a:rPr lang="en-US" i="1" dirty="0"/>
              <a:t>Job</a:t>
            </a:r>
            <a:r>
              <a:rPr lang="en-US" dirty="0"/>
              <a:t> </a:t>
            </a:r>
            <a:r>
              <a:rPr lang="en-US" dirty="0" err="1"/>
              <a:t>và</a:t>
            </a:r>
            <a:r>
              <a:rPr lang="en-US" dirty="0"/>
              <a:t> </a:t>
            </a:r>
            <a:r>
              <a:rPr lang="en-US" i="1" dirty="0"/>
              <a:t>Step</a:t>
            </a:r>
            <a:r>
              <a:rPr lang="en-US" dirty="0"/>
              <a:t>.</a:t>
            </a:r>
          </a:p>
          <a:p>
            <a:pPr marL="171450" indent="-171450" algn="just">
              <a:buFont typeface="Arial" panose="020B0604020202020204" pitchFamily="34" charset="0"/>
              <a:buChar char="•"/>
            </a:pPr>
            <a:r>
              <a:rPr lang="en-US" i="1" dirty="0" err="1"/>
              <a:t>JobLauncher</a:t>
            </a:r>
            <a:r>
              <a:rPr lang="en-US" dirty="0"/>
              <a:t> </a:t>
            </a:r>
            <a:r>
              <a:rPr lang="en-US" dirty="0" err="1"/>
              <a:t>là</a:t>
            </a:r>
            <a:r>
              <a:rPr lang="en-US" dirty="0"/>
              <a:t> </a:t>
            </a:r>
            <a:r>
              <a:rPr lang="en-US" dirty="0" err="1"/>
              <a:t>một</a:t>
            </a:r>
            <a:r>
              <a:rPr lang="en-US" dirty="0"/>
              <a:t> interface </a:t>
            </a:r>
            <a:r>
              <a:rPr lang="en-US" dirty="0" err="1"/>
              <a:t>khởi</a:t>
            </a:r>
            <a:r>
              <a:rPr lang="en-US" dirty="0"/>
              <a:t> </a:t>
            </a:r>
            <a:r>
              <a:rPr lang="en-US" dirty="0" err="1"/>
              <a:t>chạy</a:t>
            </a:r>
            <a:r>
              <a:rPr lang="en-US" dirty="0"/>
              <a:t> Spring Batch Job </a:t>
            </a:r>
            <a:r>
              <a:rPr lang="en-US" dirty="0" err="1"/>
              <a:t>với</a:t>
            </a:r>
            <a:r>
              <a:rPr lang="en-US" dirty="0"/>
              <a:t> </a:t>
            </a:r>
            <a:r>
              <a:rPr lang="en-US" dirty="0" err="1"/>
              <a:t>các</a:t>
            </a:r>
            <a:r>
              <a:rPr lang="en-US" dirty="0"/>
              <a:t> </a:t>
            </a:r>
            <a:r>
              <a:rPr lang="en-US" dirty="0" err="1"/>
              <a:t>tham</a:t>
            </a:r>
            <a:r>
              <a:rPr lang="en-US" dirty="0"/>
              <a:t> </a:t>
            </a:r>
            <a:r>
              <a:rPr lang="en-US" dirty="0" err="1"/>
              <a:t>số</a:t>
            </a:r>
            <a:r>
              <a:rPr lang="en-US" dirty="0"/>
              <a:t> </a:t>
            </a:r>
            <a:r>
              <a:rPr lang="en-US" dirty="0" err="1"/>
              <a:t>nhất</a:t>
            </a:r>
            <a:r>
              <a:rPr lang="en-US" dirty="0"/>
              <a:t> </a:t>
            </a:r>
            <a:r>
              <a:rPr lang="en-US" dirty="0" err="1"/>
              <a:t>định</a:t>
            </a:r>
            <a:r>
              <a:rPr lang="en-US" dirty="0"/>
              <a:t>.</a:t>
            </a:r>
          </a:p>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43</a:t>
            </a:fld>
            <a:endParaRPr lang="en-US">
              <a:solidFill>
                <a:prstClr val="black"/>
              </a:solidFill>
            </a:endParaRPr>
          </a:p>
        </p:txBody>
      </p:sp>
    </p:spTree>
    <p:extLst>
      <p:ext uri="{BB962C8B-B14F-4D97-AF65-F5344CB8AC3E}">
        <p14:creationId xmlns:p14="http://schemas.microsoft.com/office/powerpoint/2010/main" val="25316697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49</a:t>
            </a:fld>
            <a:endParaRPr lang="en-US">
              <a:solidFill>
                <a:prstClr val="black"/>
              </a:solidFill>
            </a:endParaRPr>
          </a:p>
        </p:txBody>
      </p:sp>
    </p:spTree>
    <p:extLst>
      <p:ext uri="{BB962C8B-B14F-4D97-AF65-F5344CB8AC3E}">
        <p14:creationId xmlns:p14="http://schemas.microsoft.com/office/powerpoint/2010/main" val="390935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50</a:t>
            </a:fld>
            <a:endParaRPr lang="en-US">
              <a:solidFill>
                <a:prstClr val="black"/>
              </a:solidFill>
            </a:endParaRPr>
          </a:p>
        </p:txBody>
      </p:sp>
    </p:spTree>
    <p:extLst>
      <p:ext uri="{BB962C8B-B14F-4D97-AF65-F5344CB8AC3E}">
        <p14:creationId xmlns:p14="http://schemas.microsoft.com/office/powerpoint/2010/main" val="30002235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51</a:t>
            </a:fld>
            <a:endParaRPr lang="en-US">
              <a:solidFill>
                <a:prstClr val="black"/>
              </a:solidFill>
            </a:endParaRPr>
          </a:p>
        </p:txBody>
      </p:sp>
    </p:spTree>
    <p:extLst>
      <p:ext uri="{BB962C8B-B14F-4D97-AF65-F5344CB8AC3E}">
        <p14:creationId xmlns:p14="http://schemas.microsoft.com/office/powerpoint/2010/main" val="30627057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lang="en-US" dirty="0" err="1"/>
              <a:t>AuthenticationFilter</a:t>
            </a:r>
            <a:r>
              <a:rPr lang="en-US" dirty="0"/>
              <a:t> </a:t>
            </a:r>
            <a:r>
              <a:rPr lang="en-US" dirty="0" err="1"/>
              <a:t>là</a:t>
            </a:r>
            <a:r>
              <a:rPr lang="en-US" dirty="0"/>
              <a:t> </a:t>
            </a:r>
            <a:r>
              <a:rPr lang="en-US" dirty="0" err="1"/>
              <a:t>bộ</a:t>
            </a:r>
            <a:r>
              <a:rPr lang="en-US" dirty="0"/>
              <a:t> </a:t>
            </a:r>
            <a:r>
              <a:rPr lang="en-US" dirty="0" err="1"/>
              <a:t>lọc</a:t>
            </a:r>
            <a:r>
              <a:rPr lang="en-US" dirty="0"/>
              <a:t> </a:t>
            </a:r>
            <a:r>
              <a:rPr lang="en-US" dirty="0" err="1"/>
              <a:t>chặn</a:t>
            </a:r>
            <a:r>
              <a:rPr lang="en-US" dirty="0"/>
              <a:t> </a:t>
            </a:r>
            <a:r>
              <a:rPr lang="en-US" dirty="0" err="1"/>
              <a:t>các</a:t>
            </a:r>
            <a:r>
              <a:rPr lang="en-US" dirty="0"/>
              <a:t> request </a:t>
            </a:r>
            <a:r>
              <a:rPr lang="en-US" dirty="0" err="1"/>
              <a:t>và</a:t>
            </a:r>
            <a:r>
              <a:rPr lang="en-US" dirty="0"/>
              <a:t> </a:t>
            </a:r>
            <a:r>
              <a:rPr lang="en-US" dirty="0" err="1"/>
              <a:t>thử</a:t>
            </a:r>
            <a:r>
              <a:rPr lang="en-US" dirty="0"/>
              <a:t> </a:t>
            </a:r>
            <a:r>
              <a:rPr lang="en-US" dirty="0" err="1"/>
              <a:t>xác</a:t>
            </a:r>
            <a:r>
              <a:rPr lang="en-US" dirty="0"/>
              <a:t> </a:t>
            </a:r>
            <a:r>
              <a:rPr lang="en-US" dirty="0" err="1"/>
              <a:t>thực</a:t>
            </a:r>
            <a:r>
              <a:rPr lang="en-US" dirty="0"/>
              <a:t> </a:t>
            </a:r>
            <a:r>
              <a:rPr lang="en-US" dirty="0" err="1"/>
              <a:t>nó</a:t>
            </a:r>
            <a:r>
              <a:rPr lang="en-US" dirty="0"/>
              <a:t>.</a:t>
            </a:r>
            <a:r>
              <a:rPr lang="en-US" baseline="0" dirty="0"/>
              <a:t> </a:t>
            </a:r>
            <a:r>
              <a:rPr lang="en-US" dirty="0"/>
              <a:t>Convert </a:t>
            </a:r>
            <a:r>
              <a:rPr lang="en-US" dirty="0" err="1"/>
              <a:t>các</a:t>
            </a:r>
            <a:r>
              <a:rPr lang="en-US" dirty="0"/>
              <a:t> request </a:t>
            </a:r>
            <a:r>
              <a:rPr lang="en-US" dirty="0" err="1"/>
              <a:t>thành</a:t>
            </a:r>
            <a:r>
              <a:rPr lang="en-US" dirty="0"/>
              <a:t> </a:t>
            </a:r>
            <a:r>
              <a:rPr lang="en-US" dirty="0" err="1"/>
              <a:t>một</a:t>
            </a:r>
            <a:r>
              <a:rPr lang="en-US" dirty="0"/>
              <a:t> Authentication Object </a:t>
            </a:r>
            <a:r>
              <a:rPr lang="en-US" dirty="0" err="1"/>
              <a:t>và</a:t>
            </a:r>
            <a:r>
              <a:rPr lang="en-US" dirty="0"/>
              <a:t> </a:t>
            </a:r>
            <a:r>
              <a:rPr lang="en-US" dirty="0" err="1"/>
              <a:t>ủy</a:t>
            </a:r>
            <a:r>
              <a:rPr lang="en-US" dirty="0"/>
              <a:t> </a:t>
            </a:r>
            <a:r>
              <a:rPr lang="en-US" dirty="0" err="1"/>
              <a:t>quyền</a:t>
            </a:r>
            <a:r>
              <a:rPr lang="en-US" dirty="0"/>
              <a:t> </a:t>
            </a:r>
            <a:r>
              <a:rPr lang="en-US" dirty="0" err="1"/>
              <a:t>xác</a:t>
            </a:r>
            <a:r>
              <a:rPr lang="en-US" dirty="0"/>
              <a:t> </a:t>
            </a:r>
            <a:r>
              <a:rPr lang="en-US" dirty="0" err="1"/>
              <a:t>thực</a:t>
            </a:r>
            <a:r>
              <a:rPr lang="en-US" dirty="0"/>
              <a:t> </a:t>
            </a:r>
            <a:r>
              <a:rPr lang="en-US" dirty="0" err="1"/>
              <a:t>cho</a:t>
            </a:r>
            <a:r>
              <a:rPr lang="en-US" dirty="0"/>
              <a:t> </a:t>
            </a:r>
            <a:r>
              <a:rPr lang="en-US" dirty="0" err="1"/>
              <a:t>AuthenticationManager</a:t>
            </a:r>
            <a:endParaRPr lang="en-US" dirty="0"/>
          </a:p>
          <a:p>
            <a:pPr marL="171450" indent="-171450">
              <a:buFont typeface="Arial" panose="020B0604020202020204" pitchFamily="34" charset="0"/>
              <a:buChar char="•"/>
            </a:pPr>
            <a:r>
              <a:rPr lang="en-US" dirty="0" err="1"/>
              <a:t>AuthenticationManager</a:t>
            </a:r>
            <a:r>
              <a:rPr lang="en-US" dirty="0"/>
              <a:t> </a:t>
            </a:r>
            <a:r>
              <a:rPr lang="en-US" dirty="0" err="1"/>
              <a:t>là</a:t>
            </a:r>
            <a:r>
              <a:rPr lang="en-US" dirty="0"/>
              <a:t> interface </a:t>
            </a:r>
            <a:r>
              <a:rPr lang="en-US" dirty="0" err="1"/>
              <a:t>chính</a:t>
            </a:r>
            <a:r>
              <a:rPr lang="en-US" dirty="0"/>
              <a:t> </a:t>
            </a:r>
            <a:r>
              <a:rPr lang="en-US" dirty="0" err="1"/>
              <a:t>cho</a:t>
            </a:r>
            <a:r>
              <a:rPr lang="en-US" dirty="0"/>
              <a:t> </a:t>
            </a:r>
            <a:r>
              <a:rPr lang="en-US" dirty="0" err="1"/>
              <a:t>việc</a:t>
            </a:r>
            <a:r>
              <a:rPr lang="en-US" dirty="0"/>
              <a:t> </a:t>
            </a:r>
            <a:r>
              <a:rPr lang="en-US" dirty="0" err="1"/>
              <a:t>xác</a:t>
            </a:r>
            <a:r>
              <a:rPr lang="en-US" dirty="0"/>
              <a:t> </a:t>
            </a:r>
            <a:r>
              <a:rPr lang="en-US" dirty="0" err="1"/>
              <a:t>thực</a:t>
            </a:r>
            <a:r>
              <a:rPr lang="en-US" dirty="0"/>
              <a:t>.</a:t>
            </a:r>
          </a:p>
          <a:p>
            <a:pPr lvl="1"/>
            <a:r>
              <a:rPr lang="en-US" dirty="0" err="1"/>
              <a:t>Sử</a:t>
            </a:r>
            <a:r>
              <a:rPr lang="en-US" dirty="0"/>
              <a:t> </a:t>
            </a:r>
            <a:r>
              <a:rPr lang="en-US" dirty="0" err="1"/>
              <a:t>dụng</a:t>
            </a:r>
            <a:r>
              <a:rPr lang="en-US" dirty="0"/>
              <a:t> method authenticate() </a:t>
            </a:r>
            <a:r>
              <a:rPr lang="en-US" dirty="0" err="1"/>
              <a:t>để</a:t>
            </a:r>
            <a:r>
              <a:rPr lang="en-US" dirty="0"/>
              <a:t> </a:t>
            </a:r>
            <a:r>
              <a:rPr lang="en-US" dirty="0" err="1"/>
              <a:t>xác</a:t>
            </a:r>
            <a:r>
              <a:rPr lang="en-US" dirty="0"/>
              <a:t> </a:t>
            </a:r>
            <a:r>
              <a:rPr lang="en-US" dirty="0" err="1"/>
              <a:t>thực</a:t>
            </a:r>
            <a:r>
              <a:rPr lang="en-US" dirty="0"/>
              <a:t> </a:t>
            </a:r>
            <a:r>
              <a:rPr lang="en-US" dirty="0" err="1"/>
              <a:t>các</a:t>
            </a:r>
            <a:r>
              <a:rPr lang="en-US" dirty="0"/>
              <a:t> request.</a:t>
            </a:r>
          </a:p>
          <a:p>
            <a:pPr lvl="1"/>
            <a:r>
              <a:rPr lang="en-US" dirty="0"/>
              <a:t>Method authenticate() </a:t>
            </a:r>
            <a:r>
              <a:rPr lang="en-US" dirty="0" err="1"/>
              <a:t>thực</a:t>
            </a:r>
            <a:r>
              <a:rPr lang="en-US" dirty="0"/>
              <a:t> </a:t>
            </a:r>
            <a:r>
              <a:rPr lang="en-US" dirty="0" err="1"/>
              <a:t>hiện</a:t>
            </a:r>
            <a:r>
              <a:rPr lang="en-US" dirty="0"/>
              <a:t> </a:t>
            </a:r>
            <a:r>
              <a:rPr lang="en-US" dirty="0" err="1"/>
              <a:t>xác</a:t>
            </a:r>
            <a:r>
              <a:rPr lang="en-US" dirty="0"/>
              <a:t> </a:t>
            </a:r>
            <a:r>
              <a:rPr lang="en-US" dirty="0" err="1"/>
              <a:t>thực</a:t>
            </a:r>
            <a:endParaRPr lang="en-US" dirty="0"/>
          </a:p>
          <a:p>
            <a:pPr lvl="2"/>
            <a:r>
              <a:rPr lang="en-US" dirty="0" err="1"/>
              <a:t>Xác</a:t>
            </a:r>
            <a:r>
              <a:rPr lang="en-US" dirty="0"/>
              <a:t> </a:t>
            </a:r>
            <a:r>
              <a:rPr lang="en-US" dirty="0" err="1"/>
              <a:t>thực</a:t>
            </a:r>
            <a:r>
              <a:rPr lang="en-US" dirty="0"/>
              <a:t> </a:t>
            </a:r>
            <a:r>
              <a:rPr lang="en-US" dirty="0" err="1"/>
              <a:t>thành</a:t>
            </a:r>
            <a:r>
              <a:rPr lang="en-US" dirty="0"/>
              <a:t> </a:t>
            </a:r>
            <a:r>
              <a:rPr lang="en-US" dirty="0" err="1"/>
              <a:t>công</a:t>
            </a:r>
            <a:r>
              <a:rPr lang="en-US" dirty="0"/>
              <a:t> -&gt; </a:t>
            </a:r>
            <a:r>
              <a:rPr lang="en-US" dirty="0" err="1"/>
              <a:t>trả</a:t>
            </a:r>
            <a:r>
              <a:rPr lang="en-US" dirty="0"/>
              <a:t> </a:t>
            </a:r>
            <a:r>
              <a:rPr lang="en-US" dirty="0" err="1"/>
              <a:t>về</a:t>
            </a:r>
            <a:r>
              <a:rPr lang="en-US" dirty="0"/>
              <a:t> </a:t>
            </a:r>
            <a:r>
              <a:rPr lang="en-US" dirty="0" err="1"/>
              <a:t>một</a:t>
            </a:r>
            <a:r>
              <a:rPr lang="en-US" dirty="0"/>
              <a:t> Authentication Object.</a:t>
            </a:r>
          </a:p>
          <a:p>
            <a:pPr lvl="2"/>
            <a:r>
              <a:rPr lang="en-US" dirty="0" err="1"/>
              <a:t>Xác</a:t>
            </a:r>
            <a:r>
              <a:rPr lang="en-US" dirty="0"/>
              <a:t> </a:t>
            </a:r>
            <a:r>
              <a:rPr lang="en-US" dirty="0" err="1"/>
              <a:t>thực</a:t>
            </a:r>
            <a:r>
              <a:rPr lang="en-US" dirty="0"/>
              <a:t> </a:t>
            </a:r>
            <a:r>
              <a:rPr lang="en-US" dirty="0" err="1"/>
              <a:t>lỗi</a:t>
            </a:r>
            <a:r>
              <a:rPr lang="en-US" dirty="0"/>
              <a:t> -&gt; </a:t>
            </a:r>
            <a:r>
              <a:rPr lang="en-US" dirty="0" err="1"/>
              <a:t>ném</a:t>
            </a:r>
            <a:r>
              <a:rPr lang="en-US" dirty="0"/>
              <a:t> </a:t>
            </a:r>
            <a:r>
              <a:rPr lang="en-US" dirty="0" err="1"/>
              <a:t>một</a:t>
            </a:r>
            <a:r>
              <a:rPr lang="en-US" dirty="0"/>
              <a:t> </a:t>
            </a:r>
            <a:r>
              <a:rPr lang="en-US" dirty="0" err="1"/>
              <a:t>AuthenticationException</a:t>
            </a:r>
            <a:r>
              <a:rPr lang="en-US" dirty="0"/>
              <a:t>.</a:t>
            </a:r>
          </a:p>
          <a:p>
            <a:pPr lvl="1"/>
            <a:r>
              <a:rPr lang="en-US" dirty="0" err="1"/>
              <a:t>Xử</a:t>
            </a:r>
            <a:r>
              <a:rPr lang="en-US" dirty="0"/>
              <a:t> </a:t>
            </a:r>
            <a:r>
              <a:rPr lang="en-US" dirty="0" err="1"/>
              <a:t>lý</a:t>
            </a:r>
            <a:r>
              <a:rPr lang="en-US" dirty="0"/>
              <a:t> </a:t>
            </a:r>
            <a:r>
              <a:rPr lang="en-US" dirty="0" err="1"/>
              <a:t>xác</a:t>
            </a:r>
            <a:r>
              <a:rPr lang="en-US" dirty="0"/>
              <a:t> </a:t>
            </a:r>
            <a:r>
              <a:rPr lang="en-US" dirty="0" err="1"/>
              <a:t>thực</a:t>
            </a:r>
            <a:r>
              <a:rPr lang="en-US" dirty="0"/>
              <a:t> </a:t>
            </a:r>
            <a:r>
              <a:rPr lang="en-US" dirty="0" err="1"/>
              <a:t>được</a:t>
            </a:r>
            <a:r>
              <a:rPr lang="en-US" dirty="0"/>
              <a:t> </a:t>
            </a:r>
            <a:r>
              <a:rPr lang="en-US" dirty="0" err="1"/>
              <a:t>ủy</a:t>
            </a:r>
            <a:r>
              <a:rPr lang="en-US" dirty="0"/>
              <a:t> </a:t>
            </a:r>
            <a:r>
              <a:rPr lang="en-US" dirty="0" err="1"/>
              <a:t>quyền</a:t>
            </a:r>
            <a:r>
              <a:rPr lang="en-US" dirty="0"/>
              <a:t> </a:t>
            </a:r>
            <a:r>
              <a:rPr lang="en-US" dirty="0" err="1"/>
              <a:t>cho</a:t>
            </a:r>
            <a:r>
              <a:rPr lang="en-US" dirty="0"/>
              <a:t> </a:t>
            </a:r>
            <a:r>
              <a:rPr lang="en-US" dirty="0" err="1"/>
              <a:t>AuthenticationProvider</a:t>
            </a:r>
            <a:r>
              <a:rPr lang="en-US" dirty="0"/>
              <a:t>.</a:t>
            </a:r>
          </a:p>
          <a:p>
            <a:pPr marL="171450" indent="-171450">
              <a:buFont typeface="Arial" panose="020B0604020202020204" pitchFamily="34" charset="0"/>
              <a:buChar char="•"/>
            </a:pPr>
            <a:r>
              <a:rPr lang="en-US" dirty="0" err="1"/>
              <a:t>AuthenticationProvider</a:t>
            </a:r>
            <a:r>
              <a:rPr lang="en-US" dirty="0"/>
              <a:t> </a:t>
            </a:r>
            <a:r>
              <a:rPr lang="en-US" dirty="0" err="1"/>
              <a:t>là</a:t>
            </a:r>
            <a:r>
              <a:rPr lang="en-US" dirty="0"/>
              <a:t> </a:t>
            </a:r>
            <a:r>
              <a:rPr lang="en-US" dirty="0" err="1"/>
              <a:t>một</a:t>
            </a:r>
            <a:r>
              <a:rPr lang="en-US" dirty="0"/>
              <a:t> interface </a:t>
            </a:r>
            <a:r>
              <a:rPr lang="en-US" dirty="0" err="1"/>
              <a:t>có</a:t>
            </a:r>
            <a:r>
              <a:rPr lang="en-US" dirty="0"/>
              <a:t> </a:t>
            </a:r>
            <a:r>
              <a:rPr lang="en-US" dirty="0" err="1"/>
              <a:t>phương</a:t>
            </a:r>
            <a:r>
              <a:rPr lang="en-US" dirty="0"/>
              <a:t> </a:t>
            </a:r>
            <a:r>
              <a:rPr lang="en-US" dirty="0" err="1"/>
              <a:t>thức</a:t>
            </a:r>
            <a:r>
              <a:rPr lang="en-US" dirty="0"/>
              <a:t> </a:t>
            </a:r>
            <a:r>
              <a:rPr lang="en-US" dirty="0" err="1"/>
              <a:t>là</a:t>
            </a:r>
            <a:r>
              <a:rPr lang="en-US" dirty="0"/>
              <a:t> authenticate() </a:t>
            </a:r>
            <a:r>
              <a:rPr lang="en-US" dirty="0" err="1"/>
              <a:t>và</a:t>
            </a:r>
            <a:r>
              <a:rPr lang="en-US" dirty="0"/>
              <a:t> supports().</a:t>
            </a:r>
          </a:p>
          <a:p>
            <a:r>
              <a:rPr lang="en-US" dirty="0"/>
              <a:t>	</a:t>
            </a:r>
            <a:r>
              <a:rPr lang="en-US" dirty="0" err="1"/>
              <a:t>Phương</a:t>
            </a:r>
            <a:r>
              <a:rPr lang="en-US" dirty="0"/>
              <a:t> </a:t>
            </a:r>
            <a:r>
              <a:rPr lang="en-US" dirty="0" err="1"/>
              <a:t>thức</a:t>
            </a:r>
            <a:r>
              <a:rPr lang="en-US" dirty="0"/>
              <a:t> support()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kiểm</a:t>
            </a:r>
            <a:r>
              <a:rPr lang="en-US" dirty="0"/>
              <a:t> </a:t>
            </a:r>
            <a:r>
              <a:rPr lang="en-US" dirty="0" err="1"/>
              <a:t>tra</a:t>
            </a:r>
            <a:r>
              <a:rPr lang="en-US" dirty="0"/>
              <a:t> </a:t>
            </a:r>
            <a:r>
              <a:rPr lang="en-US" dirty="0" err="1"/>
              <a:t>loại</a:t>
            </a:r>
            <a:r>
              <a:rPr lang="en-US" dirty="0"/>
              <a:t> </a:t>
            </a:r>
            <a:r>
              <a:rPr lang="en-US" dirty="0" err="1"/>
              <a:t>xác</a:t>
            </a:r>
            <a:r>
              <a:rPr lang="en-US" dirty="0"/>
              <a:t> </a:t>
            </a:r>
            <a:r>
              <a:rPr lang="en-US" dirty="0" err="1"/>
              <a:t>thực</a:t>
            </a:r>
            <a:r>
              <a:rPr lang="en-US" dirty="0"/>
              <a:t> </a:t>
            </a:r>
            <a:r>
              <a:rPr lang="en-US" dirty="0" err="1"/>
              <a:t>cụ</a:t>
            </a:r>
            <a:r>
              <a:rPr lang="en-US" dirty="0"/>
              <a:t> </a:t>
            </a:r>
            <a:r>
              <a:rPr lang="en-US" dirty="0" err="1"/>
              <a:t>thể</a:t>
            </a:r>
            <a:r>
              <a:rPr lang="en-US" dirty="0"/>
              <a:t> </a:t>
            </a:r>
            <a:r>
              <a:rPr lang="en-US" dirty="0" err="1"/>
              <a:t>có</a:t>
            </a:r>
            <a:r>
              <a:rPr lang="en-US" dirty="0"/>
              <a:t> </a:t>
            </a:r>
            <a:r>
              <a:rPr lang="en-US" dirty="0" err="1"/>
              <a:t>được</a:t>
            </a:r>
            <a:r>
              <a:rPr lang="en-US" dirty="0"/>
              <a:t> support </a:t>
            </a:r>
            <a:r>
              <a:rPr lang="en-US" dirty="0" err="1"/>
              <a:t>bởi</a:t>
            </a:r>
            <a:r>
              <a:rPr lang="en-US" dirty="0"/>
              <a:t> Authentication </a:t>
            </a:r>
            <a:r>
              <a:rPr lang="en-US" dirty="0" err="1"/>
              <a:t>không</a:t>
            </a:r>
            <a:r>
              <a:rPr lang="en-US" dirty="0"/>
              <a:t>.</a:t>
            </a:r>
          </a:p>
          <a:p>
            <a:r>
              <a:rPr lang="en-US" dirty="0"/>
              <a:t>	</a:t>
            </a:r>
            <a:r>
              <a:rPr lang="en-US" dirty="0" err="1"/>
              <a:t>Phương</a:t>
            </a:r>
            <a:r>
              <a:rPr lang="en-US" dirty="0"/>
              <a:t> </a:t>
            </a:r>
            <a:r>
              <a:rPr lang="en-US" dirty="0" err="1"/>
              <a:t>thức</a:t>
            </a:r>
            <a:r>
              <a:rPr lang="en-US" dirty="0"/>
              <a:t> authenticate()  </a:t>
            </a:r>
            <a:r>
              <a:rPr lang="en-US" dirty="0" err="1"/>
              <a:t>lấy</a:t>
            </a:r>
            <a:r>
              <a:rPr lang="en-US" dirty="0"/>
              <a:t> </a:t>
            </a:r>
            <a:r>
              <a:rPr lang="en-US" dirty="0" err="1"/>
              <a:t>ra</a:t>
            </a:r>
            <a:r>
              <a:rPr lang="en-US" dirty="0"/>
              <a:t> </a:t>
            </a:r>
            <a:r>
              <a:rPr lang="en-US" dirty="0" err="1"/>
              <a:t>thông</a:t>
            </a:r>
            <a:r>
              <a:rPr lang="en-US" dirty="0"/>
              <a:t> tin user </a:t>
            </a:r>
            <a:r>
              <a:rPr lang="en-US" dirty="0" err="1"/>
              <a:t>bằng</a:t>
            </a:r>
            <a:r>
              <a:rPr lang="en-US" dirty="0"/>
              <a:t> </a:t>
            </a:r>
            <a:r>
              <a:rPr lang="en-US" dirty="0" err="1"/>
              <a:t>cách</a:t>
            </a:r>
            <a:r>
              <a:rPr lang="en-US" dirty="0"/>
              <a:t> </a:t>
            </a:r>
            <a:r>
              <a:rPr lang="en-US" dirty="0" err="1"/>
              <a:t>cách</a:t>
            </a:r>
            <a:r>
              <a:rPr lang="en-US" dirty="0"/>
              <a:t> </a:t>
            </a:r>
            <a:r>
              <a:rPr lang="en-US" dirty="0" err="1"/>
              <a:t>sử</a:t>
            </a:r>
            <a:r>
              <a:rPr lang="en-US" dirty="0"/>
              <a:t> </a:t>
            </a:r>
            <a:r>
              <a:rPr lang="en-US" dirty="0" err="1"/>
              <a:t>dụng</a:t>
            </a:r>
            <a:r>
              <a:rPr lang="en-US" dirty="0"/>
              <a:t> </a:t>
            </a:r>
            <a:r>
              <a:rPr lang="en-US" dirty="0" err="1"/>
              <a:t>phương</a:t>
            </a:r>
            <a:r>
              <a:rPr lang="en-US" dirty="0"/>
              <a:t> </a:t>
            </a:r>
            <a:r>
              <a:rPr lang="en-US" dirty="0" err="1"/>
              <a:t>thức</a:t>
            </a:r>
            <a:r>
              <a:rPr lang="en-US" dirty="0"/>
              <a:t> </a:t>
            </a:r>
            <a:r>
              <a:rPr lang="en-US" dirty="0" err="1"/>
              <a:t>loadUserByUsername</a:t>
            </a:r>
            <a:r>
              <a:rPr lang="en-US" dirty="0"/>
              <a:t>() </a:t>
            </a:r>
            <a:r>
              <a:rPr lang="en-US" dirty="0" err="1"/>
              <a:t>của</a:t>
            </a:r>
            <a:r>
              <a:rPr lang="en-US" dirty="0"/>
              <a:t> </a:t>
            </a:r>
            <a:r>
              <a:rPr lang="en-US" dirty="0" err="1"/>
              <a:t>UserDetailSerivice</a:t>
            </a:r>
            <a:r>
              <a:rPr lang="en-US" dirty="0"/>
              <a:t> </a:t>
            </a:r>
            <a:r>
              <a:rPr lang="en-US" dirty="0" err="1"/>
              <a:t>để</a:t>
            </a:r>
            <a:r>
              <a:rPr lang="en-US" dirty="0"/>
              <a:t> </a:t>
            </a:r>
            <a:r>
              <a:rPr lang="en-US" dirty="0" err="1"/>
              <a:t>xác</a:t>
            </a:r>
            <a:r>
              <a:rPr lang="en-US" dirty="0"/>
              <a:t> </a:t>
            </a:r>
            <a:r>
              <a:rPr lang="en-US" dirty="0" err="1"/>
              <a:t>thực</a:t>
            </a:r>
            <a:r>
              <a:rPr lang="en-US" dirty="0"/>
              <a:t> user.</a:t>
            </a:r>
          </a:p>
          <a:p>
            <a:pPr marL="171450" indent="-171450">
              <a:buFont typeface="Arial" panose="020B0604020202020204" pitchFamily="34" charset="0"/>
              <a:buChar char="•"/>
            </a:pPr>
            <a:r>
              <a:rPr lang="en-US" dirty="0" err="1"/>
              <a:t>UserDetailsService</a:t>
            </a:r>
            <a:r>
              <a:rPr lang="en-US" dirty="0"/>
              <a:t> </a:t>
            </a:r>
            <a:r>
              <a:rPr lang="en-US" dirty="0" err="1"/>
              <a:t>là</a:t>
            </a:r>
            <a:r>
              <a:rPr lang="en-US" dirty="0"/>
              <a:t> </a:t>
            </a:r>
            <a:r>
              <a:rPr lang="en-US" dirty="0" err="1"/>
              <a:t>một</a:t>
            </a:r>
            <a:r>
              <a:rPr lang="en-US" dirty="0"/>
              <a:t> </a:t>
            </a:r>
            <a:r>
              <a:rPr lang="en-US" dirty="0" err="1"/>
              <a:t>trong</a:t>
            </a:r>
            <a:r>
              <a:rPr lang="en-US" dirty="0"/>
              <a:t> </a:t>
            </a:r>
            <a:r>
              <a:rPr lang="en-US" dirty="0" err="1"/>
              <a:t>những</a:t>
            </a:r>
            <a:r>
              <a:rPr lang="en-US" dirty="0"/>
              <a:t> interface </a:t>
            </a:r>
            <a:r>
              <a:rPr lang="en-US" dirty="0" err="1"/>
              <a:t>cốt</a:t>
            </a:r>
            <a:r>
              <a:rPr lang="en-US" dirty="0"/>
              <a:t> </a:t>
            </a:r>
            <a:r>
              <a:rPr lang="en-US" dirty="0" err="1"/>
              <a:t>lõi</a:t>
            </a:r>
            <a:r>
              <a:rPr lang="en-US" dirty="0"/>
              <a:t> </a:t>
            </a:r>
            <a:r>
              <a:rPr lang="en-US" dirty="0" err="1"/>
              <a:t>của</a:t>
            </a:r>
            <a:r>
              <a:rPr lang="en-US" dirty="0"/>
              <a:t> Spring Security. </a:t>
            </a:r>
          </a:p>
          <a:p>
            <a:pPr lvl="1"/>
            <a:r>
              <a:rPr lang="en-US" dirty="0" err="1"/>
              <a:t>Việc</a:t>
            </a:r>
            <a:r>
              <a:rPr lang="en-US" dirty="0"/>
              <a:t> </a:t>
            </a:r>
            <a:r>
              <a:rPr lang="en-US" dirty="0" err="1"/>
              <a:t>xác</a:t>
            </a:r>
            <a:r>
              <a:rPr lang="en-US" dirty="0"/>
              <a:t> </a:t>
            </a:r>
            <a:r>
              <a:rPr lang="en-US" dirty="0" err="1"/>
              <a:t>thực</a:t>
            </a:r>
            <a:r>
              <a:rPr lang="en-US" dirty="0"/>
              <a:t> </a:t>
            </a:r>
            <a:r>
              <a:rPr lang="en-US" dirty="0" err="1"/>
              <a:t>bất</a:t>
            </a:r>
            <a:r>
              <a:rPr lang="en-US" dirty="0"/>
              <a:t> </a:t>
            </a:r>
            <a:r>
              <a:rPr lang="en-US" dirty="0" err="1"/>
              <a:t>kỳ</a:t>
            </a:r>
            <a:r>
              <a:rPr lang="en-US" dirty="0"/>
              <a:t> request </a:t>
            </a:r>
            <a:r>
              <a:rPr lang="en-US" dirty="0" err="1"/>
              <a:t>nào</a:t>
            </a:r>
            <a:r>
              <a:rPr lang="en-US" dirty="0"/>
              <a:t> </a:t>
            </a:r>
            <a:r>
              <a:rPr lang="en-US" dirty="0" err="1"/>
              <a:t>hầu</a:t>
            </a:r>
            <a:r>
              <a:rPr lang="en-US" dirty="0"/>
              <a:t> </a:t>
            </a:r>
            <a:r>
              <a:rPr lang="en-US" dirty="0" err="1"/>
              <a:t>hết</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các</a:t>
            </a:r>
            <a:r>
              <a:rPr lang="en-US" dirty="0"/>
              <a:t> </a:t>
            </a:r>
            <a:r>
              <a:rPr lang="en-US" dirty="0" err="1"/>
              <a:t>lớp</a:t>
            </a:r>
            <a:r>
              <a:rPr lang="en-US" dirty="0"/>
              <a:t> implement </a:t>
            </a:r>
            <a:r>
              <a:rPr lang="en-US" dirty="0" err="1"/>
              <a:t>của</a:t>
            </a:r>
            <a:r>
              <a:rPr lang="en-US" dirty="0"/>
              <a:t> </a:t>
            </a:r>
            <a:r>
              <a:rPr lang="en-US" dirty="0" err="1"/>
              <a:t>UserDetailsService</a:t>
            </a:r>
            <a:r>
              <a:rPr lang="en-US" dirty="0"/>
              <a:t> Interface</a:t>
            </a:r>
          </a:p>
          <a:p>
            <a:pPr lvl="1"/>
            <a:r>
              <a:rPr lang="en-US" dirty="0" err="1"/>
              <a:t>Nó</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phổ</a:t>
            </a:r>
            <a:r>
              <a:rPr lang="en-US" dirty="0"/>
              <a:t> </a:t>
            </a:r>
            <a:r>
              <a:rPr lang="en-US" dirty="0" err="1"/>
              <a:t>biến</a:t>
            </a:r>
            <a:r>
              <a:rPr lang="en-US" dirty="0"/>
              <a:t> </a:t>
            </a:r>
            <a:r>
              <a:rPr lang="en-US" dirty="0" err="1"/>
              <a:t>nhất</a:t>
            </a:r>
            <a:r>
              <a:rPr lang="en-US" dirty="0"/>
              <a:t> </a:t>
            </a:r>
            <a:r>
              <a:rPr lang="en-US" dirty="0" err="1"/>
              <a:t>trong</a:t>
            </a:r>
            <a:r>
              <a:rPr lang="en-US" dirty="0"/>
              <a:t> </a:t>
            </a:r>
            <a:r>
              <a:rPr lang="en-US" dirty="0" err="1"/>
              <a:t>việc</a:t>
            </a:r>
            <a:r>
              <a:rPr lang="en-US" dirty="0"/>
              <a:t> </a:t>
            </a:r>
            <a:r>
              <a:rPr lang="en-US" dirty="0" err="1"/>
              <a:t>xác</a:t>
            </a:r>
            <a:r>
              <a:rPr lang="en-US" dirty="0"/>
              <a:t> </a:t>
            </a:r>
            <a:r>
              <a:rPr lang="en-US" dirty="0" err="1"/>
              <a:t>thực</a:t>
            </a:r>
            <a:r>
              <a:rPr lang="en-US" dirty="0"/>
              <a:t> </a:t>
            </a:r>
            <a:r>
              <a:rPr lang="en-US" dirty="0" err="1"/>
              <a:t>dữ</a:t>
            </a:r>
            <a:r>
              <a:rPr lang="en-US" dirty="0"/>
              <a:t> </a:t>
            </a:r>
            <a:r>
              <a:rPr lang="en-US" dirty="0" err="1"/>
              <a:t>liệu</a:t>
            </a:r>
            <a:r>
              <a:rPr lang="en-US" dirty="0"/>
              <a:t> User </a:t>
            </a:r>
            <a:r>
              <a:rPr lang="en-US" dirty="0" err="1"/>
              <a:t>được</a:t>
            </a:r>
            <a:r>
              <a:rPr lang="en-US" dirty="0"/>
              <a:t> </a:t>
            </a:r>
            <a:r>
              <a:rPr lang="en-US" dirty="0" err="1"/>
              <a:t>lấy</a:t>
            </a:r>
            <a:r>
              <a:rPr lang="en-US" dirty="0"/>
              <a:t> </a:t>
            </a:r>
            <a:r>
              <a:rPr lang="en-US" dirty="0" err="1"/>
              <a:t>từ</a:t>
            </a:r>
            <a:r>
              <a:rPr lang="en-US" dirty="0"/>
              <a:t> database.</a:t>
            </a:r>
          </a:p>
          <a:p>
            <a:pPr lvl="1"/>
            <a:r>
              <a:rPr lang="en-US" dirty="0" err="1"/>
              <a:t>Dữ</a:t>
            </a:r>
            <a:r>
              <a:rPr lang="en-US" dirty="0"/>
              <a:t> </a:t>
            </a:r>
            <a:r>
              <a:rPr lang="en-US" dirty="0" err="1"/>
              <a:t>liệu</a:t>
            </a:r>
            <a:r>
              <a:rPr lang="en-US" dirty="0"/>
              <a:t> </a:t>
            </a:r>
            <a:r>
              <a:rPr lang="en-US" dirty="0" err="1"/>
              <a:t>được</a:t>
            </a:r>
            <a:r>
              <a:rPr lang="en-US" dirty="0"/>
              <a:t> </a:t>
            </a:r>
            <a:r>
              <a:rPr lang="en-US" dirty="0" err="1"/>
              <a:t>truy</a:t>
            </a:r>
            <a:r>
              <a:rPr lang="en-US" dirty="0"/>
              <a:t> </a:t>
            </a:r>
            <a:r>
              <a:rPr lang="en-US" dirty="0" err="1"/>
              <a:t>xuất</a:t>
            </a:r>
            <a:r>
              <a:rPr lang="en-US" dirty="0"/>
              <a:t> </a:t>
            </a:r>
            <a:r>
              <a:rPr lang="en-US" dirty="0" err="1"/>
              <a:t>bằng</a:t>
            </a:r>
            <a:r>
              <a:rPr lang="en-US" dirty="0"/>
              <a:t> </a:t>
            </a:r>
            <a:r>
              <a:rPr lang="en-US" dirty="0" err="1"/>
              <a:t>cách</a:t>
            </a:r>
            <a:r>
              <a:rPr lang="en-US" dirty="0"/>
              <a:t> </a:t>
            </a:r>
            <a:r>
              <a:rPr lang="en-US" dirty="0" err="1"/>
              <a:t>triển</a:t>
            </a:r>
            <a:r>
              <a:rPr lang="en-US" dirty="0"/>
              <a:t> </a:t>
            </a:r>
            <a:r>
              <a:rPr lang="en-US" dirty="0" err="1"/>
              <a:t>khai</a:t>
            </a:r>
            <a:r>
              <a:rPr lang="en-US" dirty="0"/>
              <a:t> </a:t>
            </a:r>
            <a:r>
              <a:rPr lang="en-US" dirty="0" err="1"/>
              <a:t>phương</a:t>
            </a:r>
            <a:r>
              <a:rPr lang="en-US" dirty="0"/>
              <a:t> </a:t>
            </a:r>
            <a:r>
              <a:rPr lang="en-US" dirty="0" err="1"/>
              <a:t>thức</a:t>
            </a:r>
            <a:r>
              <a:rPr lang="en-US" dirty="0"/>
              <a:t> </a:t>
            </a:r>
            <a:r>
              <a:rPr lang="en-US" dirty="0" err="1"/>
              <a:t>loadUserByUsername</a:t>
            </a:r>
            <a:r>
              <a:rPr lang="en-US" dirty="0"/>
              <a:t>()</a:t>
            </a:r>
          </a:p>
          <a:p>
            <a:pPr marL="171450" indent="-171450">
              <a:buFont typeface="Arial" panose="020B0604020202020204" pitchFamily="34" charset="0"/>
              <a:buChar char="•"/>
            </a:pPr>
            <a:r>
              <a:rPr lang="en-US" dirty="0"/>
              <a:t>Spring Security Context </a:t>
            </a:r>
            <a:r>
              <a:rPr lang="en-US" dirty="0" err="1"/>
              <a:t>lưu</a:t>
            </a:r>
            <a:r>
              <a:rPr lang="en-US" dirty="0"/>
              <a:t> </a:t>
            </a:r>
            <a:r>
              <a:rPr lang="en-US" dirty="0" err="1"/>
              <a:t>trữ</a:t>
            </a:r>
            <a:r>
              <a:rPr lang="en-US" dirty="0"/>
              <a:t> </a:t>
            </a:r>
            <a:r>
              <a:rPr lang="en-US" dirty="0" err="1"/>
              <a:t>các</a:t>
            </a:r>
            <a:r>
              <a:rPr lang="en-US" dirty="0"/>
              <a:t> </a:t>
            </a:r>
            <a:r>
              <a:rPr lang="en-US" dirty="0" err="1"/>
              <a:t>thông</a:t>
            </a:r>
            <a:r>
              <a:rPr lang="en-US" dirty="0"/>
              <a:t> tin chi </a:t>
            </a:r>
            <a:r>
              <a:rPr lang="en-US" dirty="0" err="1"/>
              <a:t>tiết</a:t>
            </a:r>
            <a:r>
              <a:rPr lang="en-US" dirty="0"/>
              <a:t> </a:t>
            </a:r>
            <a:r>
              <a:rPr lang="en-US" dirty="0" err="1"/>
              <a:t>của</a:t>
            </a:r>
            <a:r>
              <a:rPr lang="en-US" dirty="0"/>
              <a:t> user </a:t>
            </a:r>
            <a:r>
              <a:rPr lang="en-US" dirty="0" err="1"/>
              <a:t>đã</a:t>
            </a:r>
            <a:r>
              <a:rPr lang="en-US" dirty="0"/>
              <a:t> </a:t>
            </a:r>
            <a:r>
              <a:rPr lang="en-US" dirty="0" err="1"/>
              <a:t>được</a:t>
            </a:r>
            <a:r>
              <a:rPr lang="en-US" dirty="0"/>
              <a:t> </a:t>
            </a:r>
            <a:r>
              <a:rPr lang="en-US" dirty="0" err="1"/>
              <a:t>xác</a:t>
            </a:r>
            <a:r>
              <a:rPr lang="en-US" dirty="0"/>
              <a:t> </a:t>
            </a:r>
            <a:r>
              <a:rPr lang="en-US" dirty="0" err="1"/>
              <a:t>thực</a:t>
            </a:r>
            <a:r>
              <a:rPr lang="en-US" dirty="0"/>
              <a:t>.</a:t>
            </a:r>
          </a:p>
          <a:p>
            <a:pPr lvl="1"/>
            <a:r>
              <a:rPr lang="en-US" dirty="0"/>
              <a:t>Authentication Object </a:t>
            </a:r>
            <a:r>
              <a:rPr lang="en-US" dirty="0" err="1"/>
              <a:t>luôn</a:t>
            </a:r>
            <a:r>
              <a:rPr lang="en-US" dirty="0"/>
              <a:t> </a:t>
            </a:r>
            <a:r>
              <a:rPr lang="en-US" dirty="0" err="1"/>
              <a:t>có</a:t>
            </a:r>
            <a:r>
              <a:rPr lang="en-US" dirty="0"/>
              <a:t> </a:t>
            </a:r>
            <a:r>
              <a:rPr lang="en-US" dirty="0" err="1"/>
              <a:t>sẵn</a:t>
            </a:r>
            <a:r>
              <a:rPr lang="en-US" dirty="0"/>
              <a:t> </a:t>
            </a:r>
            <a:r>
              <a:rPr lang="en-US" dirty="0" err="1"/>
              <a:t>trong</a:t>
            </a:r>
            <a:r>
              <a:rPr lang="en-US" dirty="0"/>
              <a:t> </a:t>
            </a:r>
            <a:r>
              <a:rPr lang="en-US" dirty="0" err="1"/>
              <a:t>các</a:t>
            </a:r>
            <a:r>
              <a:rPr lang="en-US" dirty="0"/>
              <a:t> session </a:t>
            </a:r>
            <a:r>
              <a:rPr lang="en-US" dirty="0" err="1"/>
              <a:t>của</a:t>
            </a:r>
            <a:r>
              <a:rPr lang="en-US" dirty="0"/>
              <a:t> </a:t>
            </a:r>
            <a:r>
              <a:rPr lang="en-US" dirty="0" err="1"/>
              <a:t>ứng</a:t>
            </a:r>
            <a:r>
              <a:rPr lang="en-US" dirty="0"/>
              <a:t> </a:t>
            </a:r>
            <a:r>
              <a:rPr lang="en-US" dirty="0" err="1"/>
              <a:t>dụng</a:t>
            </a:r>
            <a:r>
              <a:rPr lang="en-US" dirty="0"/>
              <a:t>.</a:t>
            </a:r>
          </a:p>
          <a:p>
            <a:pPr lvl="1"/>
            <a:r>
              <a:rPr lang="en-US" dirty="0" err="1"/>
              <a:t>Vì</a:t>
            </a:r>
            <a:r>
              <a:rPr lang="en-US" dirty="0"/>
              <a:t> </a:t>
            </a:r>
            <a:r>
              <a:rPr lang="en-US" dirty="0" err="1"/>
              <a:t>vậy</a:t>
            </a:r>
            <a:r>
              <a:rPr lang="en-US" dirty="0"/>
              <a:t>, </a:t>
            </a:r>
            <a:r>
              <a:rPr lang="en-US" dirty="0" err="1"/>
              <a:t>có</a:t>
            </a:r>
            <a:r>
              <a:rPr lang="en-US" dirty="0"/>
              <a:t> </a:t>
            </a:r>
            <a:r>
              <a:rPr lang="en-US" dirty="0" err="1"/>
              <a:t>thể</a:t>
            </a:r>
            <a:r>
              <a:rPr lang="en-US" dirty="0"/>
              <a:t> </a:t>
            </a:r>
            <a:r>
              <a:rPr lang="en-US" dirty="0" err="1"/>
              <a:t>lấy</a:t>
            </a:r>
            <a:r>
              <a:rPr lang="en-US" dirty="0"/>
              <a:t> </a:t>
            </a:r>
            <a:r>
              <a:rPr lang="en-US" dirty="0" err="1"/>
              <a:t>ra</a:t>
            </a:r>
            <a:r>
              <a:rPr lang="en-US" dirty="0"/>
              <a:t> </a:t>
            </a:r>
            <a:r>
              <a:rPr lang="en-US" dirty="0" err="1"/>
              <a:t>các</a:t>
            </a:r>
            <a:r>
              <a:rPr lang="en-US" dirty="0"/>
              <a:t> </a:t>
            </a:r>
            <a:r>
              <a:rPr lang="en-US" dirty="0" err="1"/>
              <a:t>thông</a:t>
            </a:r>
            <a:r>
              <a:rPr lang="en-US" dirty="0"/>
              <a:t> tin </a:t>
            </a:r>
            <a:r>
              <a:rPr lang="en-US" dirty="0" err="1"/>
              <a:t>của</a:t>
            </a:r>
            <a:r>
              <a:rPr lang="en-US" dirty="0"/>
              <a:t> User </a:t>
            </a:r>
            <a:r>
              <a:rPr lang="en-US" dirty="0" err="1"/>
              <a:t>thông</a:t>
            </a:r>
            <a:r>
              <a:rPr lang="en-US" dirty="0"/>
              <a:t> qua </a:t>
            </a:r>
            <a:r>
              <a:rPr lang="en-US" dirty="0" err="1"/>
              <a:t>SecurityContext</a:t>
            </a:r>
            <a:r>
              <a:rPr lang="en-US" dirty="0"/>
              <a:t>.</a:t>
            </a:r>
          </a:p>
          <a:p>
            <a:endParaRPr lang="en-US" dirty="0"/>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58</a:t>
            </a:fld>
            <a:endParaRPr lang="en-US">
              <a:solidFill>
                <a:prstClr val="black"/>
              </a:solidFill>
            </a:endParaRPr>
          </a:p>
        </p:txBody>
      </p:sp>
    </p:spTree>
    <p:extLst>
      <p:ext uri="{BB962C8B-B14F-4D97-AF65-F5344CB8AC3E}">
        <p14:creationId xmlns:p14="http://schemas.microsoft.com/office/powerpoint/2010/main" val="16881880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1,</a:t>
            </a:r>
            <a:r>
              <a:rPr lang="en-US" baseline="0" dirty="0"/>
              <a:t> </a:t>
            </a:r>
            <a:r>
              <a:rPr lang="en-US" baseline="0" dirty="0" err="1"/>
              <a:t>Thêm</a:t>
            </a:r>
            <a:r>
              <a:rPr lang="en-US" baseline="0" dirty="0"/>
              <a:t> annotation @Configuration </a:t>
            </a:r>
            <a:r>
              <a:rPr lang="en-US" baseline="0" dirty="0" err="1"/>
              <a:t>và</a:t>
            </a:r>
            <a:r>
              <a:rPr lang="en-US" baseline="0" dirty="0"/>
              <a:t> @</a:t>
            </a:r>
            <a:r>
              <a:rPr lang="en-US" baseline="0" dirty="0" err="1"/>
              <a:t>EnableWebSecurity</a:t>
            </a:r>
            <a:r>
              <a:rPr lang="en-US" baseline="0" dirty="0"/>
              <a:t> </a:t>
            </a:r>
            <a:r>
              <a:rPr lang="en-US" baseline="0" dirty="0" err="1"/>
              <a:t>và</a:t>
            </a:r>
            <a:r>
              <a:rPr lang="en-US" baseline="0" dirty="0"/>
              <a:t> extend </a:t>
            </a:r>
            <a:r>
              <a:rPr lang="en-US" baseline="0" dirty="0" err="1"/>
              <a:t>WebSecurityConfigurerAdapter</a:t>
            </a:r>
            <a:endParaRPr lang="en-US" dirty="0"/>
          </a:p>
          <a:p>
            <a:r>
              <a:rPr lang="en-US" dirty="0"/>
              <a:t>2, Override method</a:t>
            </a:r>
            <a:r>
              <a:rPr lang="en-US" baseline="0" dirty="0"/>
              <a:t> configure() </a:t>
            </a:r>
            <a:r>
              <a:rPr lang="en-US" baseline="0" dirty="0" err="1"/>
              <a:t>từ</a:t>
            </a:r>
            <a:r>
              <a:rPr lang="en-US" baseline="0" dirty="0"/>
              <a:t> Adapter </a:t>
            </a:r>
            <a:r>
              <a:rPr lang="en-US" baseline="0" dirty="0" err="1"/>
              <a:t>để</a:t>
            </a:r>
            <a:r>
              <a:rPr lang="en-US" baseline="0" dirty="0"/>
              <a:t> </a:t>
            </a:r>
            <a:r>
              <a:rPr lang="en-US" baseline="0" dirty="0" err="1"/>
              <a:t>tiến</a:t>
            </a:r>
            <a:r>
              <a:rPr lang="en-US" baseline="0" dirty="0"/>
              <a:t> </a:t>
            </a:r>
            <a:r>
              <a:rPr lang="en-US" baseline="0" dirty="0" err="1"/>
              <a:t>hành</a:t>
            </a:r>
            <a:r>
              <a:rPr lang="en-US" baseline="0" dirty="0"/>
              <a:t> custom </a:t>
            </a:r>
            <a:r>
              <a:rPr lang="en-US" baseline="0" dirty="0" err="1"/>
              <a:t>các</a:t>
            </a:r>
            <a:r>
              <a:rPr lang="en-US" baseline="0" dirty="0"/>
              <a:t> filter</a:t>
            </a:r>
            <a:endParaRPr lang="en-US" dirty="0"/>
          </a:p>
          <a:p>
            <a:r>
              <a:rPr lang="en-US" baseline="0" dirty="0"/>
              <a:t>3, </a:t>
            </a:r>
            <a:r>
              <a:rPr lang="en-US" baseline="0" dirty="0" err="1"/>
              <a:t>thuộc</a:t>
            </a:r>
            <a:r>
              <a:rPr lang="en-US" baseline="0" dirty="0"/>
              <a:t> </a:t>
            </a:r>
            <a:r>
              <a:rPr lang="en-US" baseline="0" dirty="0" err="1"/>
              <a:t>tính</a:t>
            </a:r>
            <a:r>
              <a:rPr lang="en-US" baseline="0" dirty="0"/>
              <a:t> </a:t>
            </a:r>
            <a:r>
              <a:rPr lang="en-US" baseline="0" dirty="0" err="1"/>
              <a:t>permitAll</a:t>
            </a:r>
            <a:r>
              <a:rPr lang="en-US" baseline="0" dirty="0"/>
              <a:t>()  </a:t>
            </a:r>
            <a:r>
              <a:rPr lang="en-US" baseline="0" dirty="0" err="1"/>
              <a:t>cho</a:t>
            </a:r>
            <a:r>
              <a:rPr lang="en-US" baseline="0" dirty="0"/>
              <a:t> </a:t>
            </a:r>
            <a:r>
              <a:rPr lang="en-US" baseline="0" dirty="0" err="1"/>
              <a:t>phép</a:t>
            </a:r>
            <a:r>
              <a:rPr lang="en-US" baseline="0" dirty="0"/>
              <a:t> </a:t>
            </a:r>
            <a:r>
              <a:rPr lang="en-US" baseline="0" dirty="0" err="1"/>
              <a:t>các</a:t>
            </a:r>
            <a:r>
              <a:rPr lang="en-US" baseline="0" dirty="0"/>
              <a:t> request </a:t>
            </a:r>
            <a:r>
              <a:rPr lang="en-US" baseline="0" dirty="0" err="1"/>
              <a:t>đến</a:t>
            </a:r>
            <a:r>
              <a:rPr lang="en-US" baseline="0" dirty="0"/>
              <a:t> “/”, “/</a:t>
            </a:r>
            <a:r>
              <a:rPr lang="en-US" baseline="0" dirty="0" err="1"/>
              <a:t>getAll</a:t>
            </a:r>
            <a:r>
              <a:rPr lang="en-US" baseline="0" dirty="0"/>
              <a:t>” </a:t>
            </a:r>
            <a:r>
              <a:rPr lang="en-US" baseline="0" dirty="0" err="1"/>
              <a:t>sẽ</a:t>
            </a:r>
            <a:r>
              <a:rPr lang="en-US" baseline="0" dirty="0"/>
              <a:t> </a:t>
            </a:r>
            <a:r>
              <a:rPr lang="en-US" baseline="0" dirty="0" err="1"/>
              <a:t>không</a:t>
            </a:r>
            <a:r>
              <a:rPr lang="en-US" baseline="0" dirty="0"/>
              <a:t> </a:t>
            </a:r>
            <a:r>
              <a:rPr lang="en-US" baseline="0" dirty="0" err="1"/>
              <a:t>bị</a:t>
            </a:r>
            <a:r>
              <a:rPr lang="en-US" baseline="0" dirty="0"/>
              <a:t> filter </a:t>
            </a:r>
            <a:r>
              <a:rPr lang="en-US" baseline="0" dirty="0" err="1"/>
              <a:t>xác</a:t>
            </a:r>
            <a:r>
              <a:rPr lang="en-US" baseline="0" dirty="0"/>
              <a:t> </a:t>
            </a:r>
            <a:r>
              <a:rPr lang="en-US" baseline="0" dirty="0" err="1"/>
              <a:t>thực</a:t>
            </a:r>
            <a:r>
              <a:rPr lang="en-US" baseline="0" dirty="0"/>
              <a:t> hay </a:t>
            </a:r>
            <a:r>
              <a:rPr lang="en-US" baseline="0" dirty="0" err="1"/>
              <a:t>phần</a:t>
            </a:r>
            <a:r>
              <a:rPr lang="en-US" baseline="0" dirty="0"/>
              <a:t> </a:t>
            </a:r>
            <a:r>
              <a:rPr lang="en-US" baseline="0" dirty="0" err="1"/>
              <a:t>quyền</a:t>
            </a:r>
            <a:endParaRPr lang="en-US" baseline="0" dirty="0"/>
          </a:p>
          <a:p>
            <a:r>
              <a:rPr lang="en-US" baseline="0" dirty="0"/>
              <a:t>4, </a:t>
            </a:r>
            <a:r>
              <a:rPr lang="en-US" baseline="0" dirty="0" err="1"/>
              <a:t>thuộc</a:t>
            </a:r>
            <a:r>
              <a:rPr lang="en-US" baseline="0" dirty="0"/>
              <a:t> </a:t>
            </a:r>
            <a:r>
              <a:rPr lang="en-US" baseline="0" dirty="0" err="1"/>
              <a:t>tính</a:t>
            </a:r>
            <a:r>
              <a:rPr lang="en-US" baseline="0" dirty="0"/>
              <a:t> authenticated() </a:t>
            </a:r>
            <a:r>
              <a:rPr lang="en-US" baseline="0" dirty="0" err="1"/>
              <a:t>sẽ</a:t>
            </a:r>
            <a:r>
              <a:rPr lang="en-US" baseline="0" dirty="0"/>
              <a:t> </a:t>
            </a:r>
            <a:r>
              <a:rPr lang="en-US" baseline="0" dirty="0" err="1"/>
              <a:t>xác</a:t>
            </a:r>
            <a:r>
              <a:rPr lang="en-US" baseline="0" dirty="0"/>
              <a:t> </a:t>
            </a:r>
            <a:r>
              <a:rPr lang="en-US" baseline="0" dirty="0" err="1"/>
              <a:t>thực</a:t>
            </a:r>
            <a:r>
              <a:rPr lang="en-US" baseline="0" dirty="0"/>
              <a:t> </a:t>
            </a:r>
            <a:r>
              <a:rPr lang="en-US" baseline="0" dirty="0" err="1"/>
              <a:t>tất</a:t>
            </a:r>
            <a:r>
              <a:rPr lang="en-US" baseline="0" dirty="0"/>
              <a:t> </a:t>
            </a:r>
            <a:r>
              <a:rPr lang="en-US" baseline="0" dirty="0" err="1"/>
              <a:t>cả</a:t>
            </a:r>
            <a:r>
              <a:rPr lang="en-US" baseline="0" dirty="0"/>
              <a:t> </a:t>
            </a:r>
            <a:r>
              <a:rPr lang="en-US" baseline="0" dirty="0" err="1"/>
              <a:t>các</a:t>
            </a:r>
            <a:r>
              <a:rPr lang="en-US" baseline="0" dirty="0"/>
              <a:t> request </a:t>
            </a:r>
            <a:r>
              <a:rPr lang="en-US" baseline="0" dirty="0" err="1"/>
              <a:t>còn</a:t>
            </a:r>
            <a:r>
              <a:rPr lang="en-US" baseline="0" dirty="0"/>
              <a:t> </a:t>
            </a:r>
            <a:r>
              <a:rPr lang="en-US" baseline="0" dirty="0" err="1"/>
              <a:t>lại</a:t>
            </a:r>
            <a:r>
              <a:rPr lang="en-US" baseline="0" dirty="0"/>
              <a:t> </a:t>
            </a:r>
          </a:p>
          <a:p>
            <a:r>
              <a:rPr lang="en-US" baseline="0" dirty="0"/>
              <a:t>5, Form Login </a:t>
            </a:r>
            <a:r>
              <a:rPr lang="en-US" baseline="0" dirty="0" err="1"/>
              <a:t>sẽ</a:t>
            </a:r>
            <a:r>
              <a:rPr lang="en-US" baseline="0" dirty="0"/>
              <a:t> </a:t>
            </a:r>
            <a:r>
              <a:rPr lang="en-US" baseline="0" dirty="0" err="1"/>
              <a:t>được</a:t>
            </a:r>
            <a:r>
              <a:rPr lang="en-US" baseline="0" dirty="0"/>
              <a:t> </a:t>
            </a:r>
            <a:r>
              <a:rPr lang="en-US" baseline="0" dirty="0" err="1"/>
              <a:t>tạo</a:t>
            </a:r>
            <a:r>
              <a:rPr lang="en-US" baseline="0" dirty="0"/>
              <a:t> </a:t>
            </a:r>
            <a:r>
              <a:rPr lang="en-US" baseline="0" dirty="0" err="1"/>
              <a:t>tự</a:t>
            </a:r>
            <a:r>
              <a:rPr lang="en-US" baseline="0" dirty="0"/>
              <a:t> </a:t>
            </a:r>
            <a:r>
              <a:rPr lang="en-US" baseline="0" dirty="0" err="1"/>
              <a:t>động</a:t>
            </a:r>
            <a:r>
              <a:rPr lang="en-US" baseline="0" dirty="0"/>
              <a:t> </a:t>
            </a:r>
            <a:r>
              <a:rPr lang="en-US" baseline="0" dirty="0" err="1"/>
              <a:t>và</a:t>
            </a:r>
            <a:r>
              <a:rPr lang="en-US" baseline="0" dirty="0"/>
              <a:t> </a:t>
            </a:r>
            <a:r>
              <a:rPr lang="en-US" baseline="0" dirty="0" err="1"/>
              <a:t>không</a:t>
            </a:r>
            <a:r>
              <a:rPr lang="en-US" baseline="0" dirty="0"/>
              <a:t> </a:t>
            </a:r>
            <a:r>
              <a:rPr lang="en-US" baseline="0" dirty="0" err="1"/>
              <a:t>bị</a:t>
            </a:r>
            <a:r>
              <a:rPr lang="en-US" baseline="0" dirty="0"/>
              <a:t> </a:t>
            </a:r>
            <a:r>
              <a:rPr lang="en-US" baseline="0" dirty="0" err="1"/>
              <a:t>xác</a:t>
            </a:r>
            <a:r>
              <a:rPr lang="en-US" baseline="0" dirty="0"/>
              <a:t> </a:t>
            </a:r>
            <a:r>
              <a:rPr lang="en-US" baseline="0" dirty="0" err="1"/>
              <a:t>thực</a:t>
            </a:r>
            <a:endParaRPr lang="en-US" baseline="0" dirty="0"/>
          </a:p>
          <a:p>
            <a:r>
              <a:rPr lang="en-US" baseline="0" dirty="0"/>
              <a:t>6, Form Login </a:t>
            </a:r>
            <a:r>
              <a:rPr lang="en-US" baseline="0" dirty="0" err="1"/>
              <a:t>sẽ</a:t>
            </a:r>
            <a:r>
              <a:rPr lang="en-US" baseline="0" dirty="0"/>
              <a:t> </a:t>
            </a:r>
            <a:r>
              <a:rPr lang="en-US" baseline="0" dirty="0" err="1"/>
              <a:t>được</a:t>
            </a:r>
            <a:r>
              <a:rPr lang="en-US" baseline="0" dirty="0"/>
              <a:t> </a:t>
            </a:r>
            <a:r>
              <a:rPr lang="en-US" baseline="0" dirty="0" err="1"/>
              <a:t>tạo</a:t>
            </a:r>
            <a:r>
              <a:rPr lang="en-US" baseline="0" dirty="0"/>
              <a:t> </a:t>
            </a:r>
            <a:r>
              <a:rPr lang="en-US" baseline="0" dirty="0" err="1"/>
              <a:t>tự</a:t>
            </a:r>
            <a:r>
              <a:rPr lang="en-US" baseline="0" dirty="0"/>
              <a:t> </a:t>
            </a:r>
            <a:r>
              <a:rPr lang="en-US" baseline="0" dirty="0" err="1"/>
              <a:t>động</a:t>
            </a:r>
            <a:r>
              <a:rPr lang="en-US" baseline="0" dirty="0"/>
              <a:t> </a:t>
            </a:r>
            <a:r>
              <a:rPr lang="en-US" baseline="0" dirty="0" err="1"/>
              <a:t>và</a:t>
            </a:r>
            <a:r>
              <a:rPr lang="en-US" baseline="0" dirty="0"/>
              <a:t> </a:t>
            </a:r>
            <a:r>
              <a:rPr lang="en-US" baseline="0" dirty="0" err="1"/>
              <a:t>không</a:t>
            </a:r>
            <a:r>
              <a:rPr lang="en-US" baseline="0" dirty="0"/>
              <a:t> </a:t>
            </a:r>
            <a:r>
              <a:rPr lang="en-US" baseline="0" dirty="0" err="1"/>
              <a:t>bị</a:t>
            </a:r>
            <a:r>
              <a:rPr lang="en-US" baseline="0" dirty="0"/>
              <a:t> </a:t>
            </a:r>
            <a:r>
              <a:rPr lang="en-US" baseline="0" dirty="0" err="1"/>
              <a:t>xác</a:t>
            </a:r>
            <a:r>
              <a:rPr lang="en-US" baseline="0" dirty="0"/>
              <a:t> </a:t>
            </a:r>
            <a:r>
              <a:rPr lang="en-US" baseline="0" dirty="0" err="1"/>
              <a:t>thực</a:t>
            </a:r>
            <a:endParaRPr lang="en-US" baseline="0" dirty="0"/>
          </a:p>
          <a:p>
            <a:r>
              <a:rPr lang="en-US" baseline="0" dirty="0"/>
              <a:t>7, Cho </a:t>
            </a:r>
            <a:r>
              <a:rPr lang="en-US" baseline="0" dirty="0" err="1"/>
              <a:t>phép</a:t>
            </a:r>
            <a:r>
              <a:rPr lang="en-US" baseline="0" dirty="0"/>
              <a:t> Basic </a:t>
            </a:r>
            <a:r>
              <a:rPr lang="en-US" baseline="0" dirty="0" err="1"/>
              <a:t>Auth</a:t>
            </a:r>
            <a:r>
              <a:rPr lang="en-US" baseline="0" dirty="0"/>
              <a:t>, </a:t>
            </a:r>
            <a:r>
              <a:rPr lang="en-US" baseline="0" dirty="0" err="1"/>
              <a:t>có</a:t>
            </a:r>
            <a:r>
              <a:rPr lang="en-US" baseline="0" dirty="0"/>
              <a:t> </a:t>
            </a:r>
            <a:r>
              <a:rPr lang="en-US" baseline="0" dirty="0" err="1"/>
              <a:t>thể</a:t>
            </a:r>
            <a:r>
              <a:rPr lang="en-US" baseline="0" dirty="0"/>
              <a:t> </a:t>
            </a:r>
            <a:r>
              <a:rPr lang="en-US" baseline="0" dirty="0" err="1"/>
              <a:t>xác</a:t>
            </a:r>
            <a:r>
              <a:rPr lang="en-US" baseline="0" dirty="0"/>
              <a:t> </a:t>
            </a:r>
            <a:r>
              <a:rPr lang="en-US" baseline="0" dirty="0" err="1"/>
              <a:t>thực</a:t>
            </a:r>
            <a:r>
              <a:rPr lang="en-US" baseline="0" dirty="0"/>
              <a:t> </a:t>
            </a:r>
            <a:r>
              <a:rPr lang="en-US" baseline="0" dirty="0" err="1"/>
              <a:t>bằng</a:t>
            </a:r>
            <a:r>
              <a:rPr lang="en-US" baseline="0" dirty="0"/>
              <a:t> </a:t>
            </a:r>
            <a:r>
              <a:rPr lang="en-US" baseline="0" dirty="0" err="1"/>
              <a:t>một</a:t>
            </a:r>
            <a:r>
              <a:rPr lang="en-US" baseline="0" dirty="0"/>
              <a:t> HTTP </a:t>
            </a:r>
            <a:r>
              <a:rPr lang="en-US" baseline="0" dirty="0" err="1"/>
              <a:t>Auth</a:t>
            </a:r>
            <a:r>
              <a:rPr lang="en-US" baseline="0" dirty="0"/>
              <a:t> Header</a:t>
            </a:r>
          </a:p>
        </p:txBody>
      </p:sp>
      <p:sp>
        <p:nvSpPr>
          <p:cNvPr id="4" name="スライド番号プレースホルダー 3"/>
          <p:cNvSpPr>
            <a:spLocks noGrp="1"/>
          </p:cNvSpPr>
          <p:nvPr>
            <p:ph type="sldNum" sz="quarter" idx="10"/>
          </p:nvPr>
        </p:nvSpPr>
        <p:spPr/>
        <p:txBody>
          <a:bodyPr/>
          <a:lstStyle/>
          <a:p>
            <a:fld id="{D7755594-6EBB-4113-98DB-ECBB0CA560F4}" type="slidenum">
              <a:rPr lang="en-US" smtClean="0">
                <a:solidFill>
                  <a:prstClr val="black"/>
                </a:solidFill>
              </a:rPr>
              <a:pPr/>
              <a:t>66</a:t>
            </a:fld>
            <a:endParaRPr lang="en-US">
              <a:solidFill>
                <a:prstClr val="black"/>
              </a:solidFill>
            </a:endParaRPr>
          </a:p>
        </p:txBody>
      </p:sp>
    </p:spTree>
    <p:extLst>
      <p:ext uri="{BB962C8B-B14F-4D97-AF65-F5344CB8AC3E}">
        <p14:creationId xmlns:p14="http://schemas.microsoft.com/office/powerpoint/2010/main" val="3377379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2A54C80-263E-416B-A8E0-580EDEADCBDC}" type="datetimeFigureOut">
              <a:rPr lang="en-US" dirty="0"/>
              <a:t>10/16/2026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7300801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820108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4472008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solidFill>
                  <a:prstClr val="black">
                    <a:tint val="75000"/>
                  </a:prstClr>
                </a:solidFill>
              </a:rPr>
              <a:pPr/>
              <a:t>10/16/2026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6167860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41111588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335273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081854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2A54C80-263E-416B-A8E0-580EDEADCBDC}" type="datetimeFigureOut">
              <a:rPr lang="en-US" smtClean="0">
                <a:solidFill>
                  <a:prstClr val="black">
                    <a:tint val="75000"/>
                  </a:prstClr>
                </a:solidFill>
              </a:rPr>
              <a:pPr/>
              <a:t>10/16/2026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19954A3-9DFD-4C44-94BA-B95130A3BA1C}"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140081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12656930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7094684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rPr>
              <a:t>”</a:t>
            </a:r>
            <a:endParaRPr lang="en-US" dirty="0">
              <a:solidFill>
                <a:srgbClr val="90C226">
                  <a:lumMod val="60000"/>
                  <a:lumOff val="40000"/>
                </a:srgbClr>
              </a:solidFill>
            </a:endParaRPr>
          </a:p>
        </p:txBody>
      </p:sp>
    </p:spTree>
    <p:extLst>
      <p:ext uri="{BB962C8B-B14F-4D97-AF65-F5344CB8AC3E}">
        <p14:creationId xmlns:p14="http://schemas.microsoft.com/office/powerpoint/2010/main" val="330949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2560902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rPr>
              <a:t>”</a:t>
            </a:r>
          </a:p>
        </p:txBody>
      </p:sp>
    </p:spTree>
    <p:extLst>
      <p:ext uri="{BB962C8B-B14F-4D97-AF65-F5344CB8AC3E}">
        <p14:creationId xmlns:p14="http://schemas.microsoft.com/office/powerpoint/2010/main" val="6668490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545941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89333C77-0158-454C-844F-B7AB9BD7DAD4}"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739427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599650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solidFill>
                  <a:prstClr val="black">
                    <a:tint val="75000"/>
                  </a:prstClr>
                </a:solidFill>
              </a:rPr>
              <a:pPr/>
              <a:t>10/16/2026</a:t>
            </a:fld>
            <a:endParaRPr lang="en-US" dirty="0">
              <a:solidFill>
                <a:prstClr val="black">
                  <a:tint val="75000"/>
                </a:prstClr>
              </a:solidFill>
            </a:endParaRP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68508439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start.spring.io/"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localhost:8080/"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0"/>
            <a:lum/>
          </a:blip>
          <a:srcRect/>
          <a:tile tx="0" ty="0" sx="100000" sy="100000" flip="none" algn="tl"/>
        </a:blipFill>
        <a:effectLst/>
      </p:bgPr>
    </p:bg>
    <p:spTree>
      <p:nvGrpSpPr>
        <p:cNvPr id="1" name=""/>
        <p:cNvGrpSpPr/>
        <p:nvPr/>
      </p:nvGrpSpPr>
      <p:grpSpPr>
        <a:xfrm>
          <a:off x="0" y="0"/>
          <a:ext cx="0" cy="0"/>
          <a:chOff x="0" y="0"/>
          <a:chExt cx="0" cy="0"/>
        </a:xfrm>
      </p:grpSpPr>
      <p:sp>
        <p:nvSpPr>
          <p:cNvPr id="2" name="正方形/長方形 1"/>
          <p:cNvSpPr/>
          <p:nvPr/>
        </p:nvSpPr>
        <p:spPr>
          <a:xfrm>
            <a:off x="2130744" y="1002744"/>
            <a:ext cx="6139822" cy="923330"/>
          </a:xfrm>
          <a:prstGeom prst="rect">
            <a:avLst/>
          </a:prstGeom>
          <a:noFill/>
        </p:spPr>
        <p:txBody>
          <a:bodyPr wrap="none" lIns="91440" tIns="45720" rIns="91440" bIns="45720">
            <a:spAutoFit/>
          </a:bodyPr>
          <a:lstStyle/>
          <a:p>
            <a:pPr algn="ctr"/>
            <a:r>
              <a:rPr lang="en-US" altLang="ja-JP" sz="5400" b="1" dirty="0" err="1">
                <a:ln w="22225">
                  <a:solidFill>
                    <a:schemeClr val="accent2"/>
                  </a:solidFill>
                  <a:prstDash val="solid"/>
                </a:ln>
                <a:solidFill>
                  <a:schemeClr val="accent2">
                    <a:lumMod val="40000"/>
                    <a:lumOff val="60000"/>
                  </a:schemeClr>
                </a:solidFill>
                <a:effectLst>
                  <a:glow rad="63500">
                    <a:schemeClr val="accent1">
                      <a:satMod val="175000"/>
                      <a:alpha val="40000"/>
                    </a:schemeClr>
                  </a:glow>
                </a:effectLst>
              </a:rPr>
              <a:t>Tìm</a:t>
            </a:r>
            <a:r>
              <a:rPr lang="en-US" altLang="ja-JP" sz="5400" b="1" dirty="0">
                <a:ln w="22225">
                  <a:solidFill>
                    <a:schemeClr val="accent2"/>
                  </a:solidFill>
                  <a:prstDash val="solid"/>
                </a:ln>
                <a:solidFill>
                  <a:schemeClr val="accent2">
                    <a:lumMod val="40000"/>
                    <a:lumOff val="60000"/>
                  </a:schemeClr>
                </a:solidFill>
                <a:effectLst>
                  <a:glow rad="63500">
                    <a:schemeClr val="accent1">
                      <a:satMod val="175000"/>
                      <a:alpha val="40000"/>
                    </a:schemeClr>
                  </a:glow>
                </a:effectLst>
              </a:rPr>
              <a:t> </a:t>
            </a:r>
            <a:r>
              <a:rPr lang="en-US" altLang="ja-JP" sz="5400" b="1" dirty="0" err="1">
                <a:ln w="22225">
                  <a:solidFill>
                    <a:schemeClr val="accent2"/>
                  </a:solidFill>
                  <a:prstDash val="solid"/>
                </a:ln>
                <a:solidFill>
                  <a:schemeClr val="accent2">
                    <a:lumMod val="40000"/>
                    <a:lumOff val="60000"/>
                  </a:schemeClr>
                </a:solidFill>
                <a:effectLst>
                  <a:glow rad="63500">
                    <a:schemeClr val="accent1">
                      <a:satMod val="175000"/>
                      <a:alpha val="40000"/>
                    </a:schemeClr>
                  </a:glow>
                </a:effectLst>
              </a:rPr>
              <a:t>hiểu</a:t>
            </a:r>
            <a:r>
              <a:rPr lang="en-US" altLang="ja-JP" sz="5400" b="1" dirty="0">
                <a:ln w="22225">
                  <a:solidFill>
                    <a:schemeClr val="accent2"/>
                  </a:solidFill>
                  <a:prstDash val="solid"/>
                </a:ln>
                <a:solidFill>
                  <a:schemeClr val="accent2">
                    <a:lumMod val="40000"/>
                    <a:lumOff val="60000"/>
                  </a:schemeClr>
                </a:solidFill>
                <a:effectLst>
                  <a:glow rad="63500">
                    <a:schemeClr val="accent1">
                      <a:satMod val="175000"/>
                      <a:alpha val="40000"/>
                    </a:schemeClr>
                  </a:glow>
                </a:effectLst>
              </a:rPr>
              <a:t> </a:t>
            </a:r>
            <a:r>
              <a:rPr lang="en-US" altLang="ja-JP" sz="5400" b="1" dirty="0" err="1">
                <a:ln w="22225">
                  <a:solidFill>
                    <a:schemeClr val="accent2"/>
                  </a:solidFill>
                  <a:prstDash val="solid"/>
                </a:ln>
                <a:solidFill>
                  <a:schemeClr val="accent2">
                    <a:lumMod val="40000"/>
                    <a:lumOff val="60000"/>
                  </a:schemeClr>
                </a:solidFill>
                <a:effectLst>
                  <a:glow rad="63500">
                    <a:schemeClr val="accent1">
                      <a:satMod val="175000"/>
                      <a:alpha val="40000"/>
                    </a:schemeClr>
                  </a:glow>
                </a:effectLst>
              </a:rPr>
              <a:t>về</a:t>
            </a:r>
            <a:r>
              <a:rPr lang="en-US" altLang="ja-JP" sz="5400" b="1" dirty="0">
                <a:ln w="22225">
                  <a:solidFill>
                    <a:schemeClr val="accent2"/>
                  </a:solidFill>
                  <a:prstDash val="solid"/>
                </a:ln>
                <a:solidFill>
                  <a:schemeClr val="accent2">
                    <a:lumMod val="40000"/>
                    <a:lumOff val="60000"/>
                  </a:schemeClr>
                </a:solidFill>
                <a:effectLst>
                  <a:glow rad="63500">
                    <a:schemeClr val="accent1">
                      <a:satMod val="175000"/>
                      <a:alpha val="40000"/>
                    </a:schemeClr>
                  </a:glow>
                </a:effectLst>
              </a:rPr>
              <a:t> Spring</a:t>
            </a:r>
            <a:endParaRPr lang="ja-JP" altLang="en-US" sz="5400" b="1" dirty="0">
              <a:ln w="22225">
                <a:solidFill>
                  <a:schemeClr val="accent2"/>
                </a:solidFill>
                <a:prstDash val="solid"/>
              </a:ln>
              <a:solidFill>
                <a:schemeClr val="accent2">
                  <a:lumMod val="40000"/>
                  <a:lumOff val="60000"/>
                </a:schemeClr>
              </a:solidFill>
              <a:effectLst>
                <a:glow rad="63500">
                  <a:schemeClr val="accent1">
                    <a:satMod val="175000"/>
                    <a:alpha val="40000"/>
                  </a:schemeClr>
                </a:glow>
              </a:effectLst>
            </a:endParaRPr>
          </a:p>
        </p:txBody>
      </p:sp>
      <p:grpSp>
        <p:nvGrpSpPr>
          <p:cNvPr id="8" name="グループ化 7"/>
          <p:cNvGrpSpPr/>
          <p:nvPr/>
        </p:nvGrpSpPr>
        <p:grpSpPr>
          <a:xfrm>
            <a:off x="2606994" y="2384881"/>
            <a:ext cx="8357018" cy="1223070"/>
            <a:chOff x="2692719" y="2670631"/>
            <a:chExt cx="8357018" cy="1223070"/>
          </a:xfrm>
        </p:grpSpPr>
        <p:sp>
          <p:nvSpPr>
            <p:cNvPr id="6" name="正方形/長方形 5"/>
            <p:cNvSpPr/>
            <p:nvPr/>
          </p:nvSpPr>
          <p:spPr>
            <a:xfrm>
              <a:off x="2692719" y="2670631"/>
              <a:ext cx="2460933" cy="400110"/>
            </a:xfrm>
            <a:prstGeom prst="rect">
              <a:avLst/>
            </a:prstGeom>
            <a:noFill/>
          </p:spPr>
          <p:txBody>
            <a:bodyPr wrap="square" lIns="91440" tIns="45720" rIns="91440" bIns="45720">
              <a:spAutoFit/>
            </a:bodyPr>
            <a:lstStyle/>
            <a:p>
              <a:r>
                <a:rPr lang="en-US" sz="2000" dirty="0" err="1">
                  <a:ln w="0"/>
                  <a:effectLst>
                    <a:outerShdw blurRad="38100" dist="19050" dir="2700000" algn="tl" rotWithShape="0">
                      <a:schemeClr val="dk1">
                        <a:alpha val="40000"/>
                      </a:schemeClr>
                    </a:outerShdw>
                  </a:effectLst>
                </a:rPr>
                <a:t>Các</a:t>
              </a:r>
              <a:r>
                <a:rPr lang="en-US" sz="2000" dirty="0">
                  <a:ln w="0"/>
                  <a:effectLst>
                    <a:outerShdw blurRad="38100" dist="19050" dir="2700000" algn="tl" rotWithShape="0">
                      <a:schemeClr val="dk1">
                        <a:alpha val="40000"/>
                      </a:schemeClr>
                    </a:outerShdw>
                  </a:effectLst>
                </a:rPr>
                <a:t> </a:t>
              </a:r>
              <a:r>
                <a:rPr lang="en-US" sz="2000" dirty="0" err="1">
                  <a:ln w="0"/>
                  <a:effectLst>
                    <a:outerShdw blurRad="38100" dist="19050" dir="2700000" algn="tl" rotWithShape="0">
                      <a:schemeClr val="dk1">
                        <a:alpha val="40000"/>
                      </a:schemeClr>
                    </a:outerShdw>
                  </a:effectLst>
                </a:rPr>
                <a:t>mục</a:t>
              </a:r>
              <a:r>
                <a:rPr lang="en-US" sz="2000" dirty="0">
                  <a:ln w="0"/>
                  <a:effectLst>
                    <a:outerShdw blurRad="38100" dist="19050" dir="2700000" algn="tl" rotWithShape="0">
                      <a:schemeClr val="dk1">
                        <a:alpha val="40000"/>
                      </a:schemeClr>
                    </a:outerShdw>
                  </a:effectLst>
                </a:rPr>
                <a:t> </a:t>
              </a:r>
              <a:r>
                <a:rPr lang="en-US" sz="2000" dirty="0" err="1">
                  <a:ln w="0"/>
                  <a:effectLst>
                    <a:outerShdw blurRad="38100" dist="19050" dir="2700000" algn="tl" rotWithShape="0">
                      <a:schemeClr val="dk1">
                        <a:alpha val="40000"/>
                      </a:schemeClr>
                    </a:outerShdw>
                  </a:effectLst>
                </a:rPr>
                <a:t>tìm</a:t>
              </a:r>
              <a:r>
                <a:rPr lang="en-US" sz="2000" dirty="0">
                  <a:ln w="0"/>
                  <a:effectLst>
                    <a:outerShdw blurRad="38100" dist="19050" dir="2700000" algn="tl" rotWithShape="0">
                      <a:schemeClr val="dk1">
                        <a:alpha val="40000"/>
                      </a:schemeClr>
                    </a:outerShdw>
                  </a:effectLst>
                </a:rPr>
                <a:t> </a:t>
              </a:r>
              <a:r>
                <a:rPr lang="en-US" sz="2000" dirty="0" err="1">
                  <a:ln w="0"/>
                  <a:effectLst>
                    <a:outerShdw blurRad="38100" dist="19050" dir="2700000" algn="tl" rotWithShape="0">
                      <a:schemeClr val="dk1">
                        <a:alpha val="40000"/>
                      </a:schemeClr>
                    </a:outerShdw>
                  </a:effectLst>
                </a:rPr>
                <a:t>hiểu</a:t>
              </a:r>
              <a:r>
                <a:rPr lang="en-US" sz="2000" dirty="0">
                  <a:ln w="0"/>
                  <a:effectLst>
                    <a:outerShdw blurRad="38100" dist="19050" dir="2700000" algn="tl" rotWithShape="0">
                      <a:schemeClr val="dk1">
                        <a:alpha val="40000"/>
                      </a:schemeClr>
                    </a:outerShdw>
                  </a:effectLst>
                </a:rPr>
                <a:t>:</a:t>
              </a:r>
            </a:p>
          </p:txBody>
        </p:sp>
        <p:sp>
          <p:nvSpPr>
            <p:cNvPr id="7" name="正方形/長方形 6"/>
            <p:cNvSpPr/>
            <p:nvPr/>
          </p:nvSpPr>
          <p:spPr>
            <a:xfrm>
              <a:off x="4845369" y="2693372"/>
              <a:ext cx="6204368" cy="1200329"/>
            </a:xfrm>
            <a:prstGeom prst="rect">
              <a:avLst/>
            </a:prstGeom>
            <a:noFill/>
          </p:spPr>
          <p:txBody>
            <a:bodyPr wrap="square" lIns="91440" tIns="45720" rIns="91440" bIns="45720">
              <a:spAutoFit/>
            </a:bodyPr>
            <a:lstStyle/>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Spring Boot</a:t>
              </a: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Spring Data JPA</a:t>
              </a: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Spring Batch </a:t>
              </a:r>
            </a:p>
            <a:p>
              <a:pPr marL="285750" indent="-285750">
                <a:buFont typeface="Arial" panose="020B0604020202020204" pitchFamily="34" charset="0"/>
                <a:buChar char="•"/>
              </a:pPr>
              <a:r>
                <a:rPr lang="en-US" dirty="0">
                  <a:ln w="0"/>
                  <a:effectLst>
                    <a:outerShdw blurRad="38100" dist="19050" dir="2700000" algn="tl" rotWithShape="0">
                      <a:schemeClr val="dk1">
                        <a:alpha val="40000"/>
                      </a:schemeClr>
                    </a:outerShdw>
                  </a:effectLst>
                </a:rPr>
                <a:t>Spring Security</a:t>
              </a:r>
            </a:p>
          </p:txBody>
        </p:sp>
      </p:grpSp>
    </p:spTree>
    <p:extLst>
      <p:ext uri="{BB962C8B-B14F-4D97-AF65-F5344CB8AC3E}">
        <p14:creationId xmlns:p14="http://schemas.microsoft.com/office/powerpoint/2010/main" val="430011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Spring Boot chính là một Java framework siêu to và khổng lồ và có nhiều khả năng hữu ích"/>
          <p:cNvPicPr/>
          <p:nvPr/>
        </p:nvPicPr>
        <p:blipFill>
          <a:blip r:embed="rId2">
            <a:extLst>
              <a:ext uri="{28A0092B-C50C-407E-A947-70E740481C1C}">
                <a14:useLocalDpi xmlns:a14="http://schemas.microsoft.com/office/drawing/2010/main" val="0"/>
              </a:ext>
            </a:extLst>
          </a:blip>
          <a:srcRect/>
          <a:stretch>
            <a:fillRect/>
          </a:stretch>
        </p:blipFill>
        <p:spPr bwMode="auto">
          <a:xfrm>
            <a:off x="1162785" y="392162"/>
            <a:ext cx="8147516" cy="4911197"/>
          </a:xfrm>
          <a:prstGeom prst="rect">
            <a:avLst/>
          </a:prstGeom>
          <a:noFill/>
          <a:ln>
            <a:noFill/>
          </a:ln>
        </p:spPr>
      </p:pic>
    </p:spTree>
    <p:extLst>
      <p:ext uri="{BB962C8B-B14F-4D97-AF65-F5344CB8AC3E}">
        <p14:creationId xmlns:p14="http://schemas.microsoft.com/office/powerpoint/2010/main" val="74595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alphaModFix amt="0"/>
            <a:extLst>
              <a:ext uri="{BEBA8EAE-BF5A-486C-A8C5-ECC9F3942E4B}">
                <a14:imgProps xmlns:a14="http://schemas.microsoft.com/office/drawing/2010/main">
                  <a14:imgLayer r:embed="rId3">
                    <a14:imgEffect>
                      <a14:saturation sat="92000"/>
                    </a14:imgEffect>
                  </a14:imgLayer>
                </a14:imgProps>
              </a:ext>
            </a:extLst>
          </a:blip>
          <a:tile tx="0" ty="0" sx="100000" sy="100000" flip="none" algn="tl"/>
        </a:blipFill>
        <a:effectLst/>
      </p:bgPr>
    </p:bg>
    <p:spTree>
      <p:nvGrpSpPr>
        <p:cNvPr id="1" name=""/>
        <p:cNvGrpSpPr/>
        <p:nvPr/>
      </p:nvGrpSpPr>
      <p:grpSpPr>
        <a:xfrm>
          <a:off x="0" y="0"/>
          <a:ext cx="0" cy="0"/>
          <a:chOff x="0" y="0"/>
          <a:chExt cx="0" cy="0"/>
        </a:xfrm>
      </p:grpSpPr>
      <p:pic>
        <p:nvPicPr>
          <p:cNvPr id="4" name="図 3" descr="Spring Boot chính là một Java framework siêu to và khổng lồ và có nhiều khả năng hữu ích"/>
          <p:cNvPicPr/>
          <p:nvPr/>
        </p:nvPicPr>
        <p:blipFill>
          <a:blip r:embed="rId4">
            <a:extLst>
              <a:ext uri="{28A0092B-C50C-407E-A947-70E740481C1C}">
                <a14:useLocalDpi xmlns:a14="http://schemas.microsoft.com/office/drawing/2010/main" val="0"/>
              </a:ext>
            </a:extLst>
          </a:blip>
          <a:srcRect/>
          <a:stretch>
            <a:fillRect/>
          </a:stretch>
        </p:blipFill>
        <p:spPr bwMode="auto">
          <a:xfrm>
            <a:off x="3048735" y="151498"/>
            <a:ext cx="4123100" cy="2485341"/>
          </a:xfrm>
          <a:prstGeom prst="rect">
            <a:avLst/>
          </a:prstGeom>
          <a:noFill/>
          <a:ln>
            <a:noFill/>
          </a:ln>
        </p:spPr>
      </p:pic>
      <p:sp>
        <p:nvSpPr>
          <p:cNvPr id="3" name="コンテンツ プレースホルダー 2"/>
          <p:cNvSpPr>
            <a:spLocks noGrp="1"/>
          </p:cNvSpPr>
          <p:nvPr>
            <p:ph idx="1"/>
          </p:nvPr>
        </p:nvSpPr>
        <p:spPr>
          <a:xfrm>
            <a:off x="2439459" y="2989265"/>
            <a:ext cx="8596668" cy="2087559"/>
          </a:xfrm>
        </p:spPr>
        <p:txBody>
          <a:bodyPr>
            <a:noAutofit/>
          </a:bodyPr>
          <a:lstStyle/>
          <a:p>
            <a:pPr>
              <a:buFont typeface="Wingdings 3" charset="2"/>
              <a:buChar char=""/>
            </a:pPr>
            <a:r>
              <a:rPr kumimoji="1" lang="en-US" dirty="0"/>
              <a:t>Spring Framework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err="1"/>
              <a:t>Kiến</a:t>
            </a:r>
            <a:r>
              <a:rPr kumimoji="1" lang="en-US" dirty="0"/>
              <a:t> </a:t>
            </a:r>
            <a:r>
              <a:rPr kumimoji="1" lang="en-US" dirty="0" err="1"/>
              <a:t>trúc</a:t>
            </a:r>
            <a:r>
              <a:rPr kumimoji="1" lang="en-US" dirty="0"/>
              <a:t>, </a:t>
            </a:r>
            <a:r>
              <a:rPr kumimoji="1" lang="en-US" dirty="0" err="1"/>
              <a:t>các</a:t>
            </a:r>
            <a:r>
              <a:rPr kumimoji="1" lang="en-US" dirty="0"/>
              <a:t> module </a:t>
            </a:r>
            <a:r>
              <a:rPr kumimoji="1" lang="en-US" dirty="0" err="1"/>
              <a:t>trong</a:t>
            </a:r>
            <a:r>
              <a:rPr kumimoji="1" lang="en-US" dirty="0"/>
              <a:t> Spring Framework.</a:t>
            </a:r>
          </a:p>
          <a:p>
            <a:pPr>
              <a:buFont typeface="Wingdings 3" charset="2"/>
              <a:buChar char=""/>
            </a:pPr>
            <a:r>
              <a:rPr kumimoji="1" lang="en-US" dirty="0"/>
              <a:t>Spring Boot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err="1"/>
              <a:t>Ưu</a:t>
            </a:r>
            <a:r>
              <a:rPr kumimoji="1" lang="en-US" dirty="0"/>
              <a:t> </a:t>
            </a:r>
            <a:r>
              <a:rPr kumimoji="1" lang="en-US" dirty="0" err="1"/>
              <a:t>điểm</a:t>
            </a:r>
            <a:r>
              <a:rPr kumimoji="1" lang="en-US" dirty="0"/>
              <a:t>, </a:t>
            </a:r>
            <a:r>
              <a:rPr kumimoji="1" lang="en-US" dirty="0" err="1"/>
              <a:t>nhược</a:t>
            </a:r>
            <a:r>
              <a:rPr kumimoji="1" lang="en-US" dirty="0"/>
              <a:t> </a:t>
            </a:r>
            <a:r>
              <a:rPr kumimoji="1" lang="en-US" dirty="0" err="1"/>
              <a:t>điểm</a:t>
            </a:r>
            <a:r>
              <a:rPr kumimoji="1" lang="en-US" dirty="0"/>
              <a:t> </a:t>
            </a:r>
            <a:r>
              <a:rPr kumimoji="1" lang="en-US" dirty="0" err="1"/>
              <a:t>của</a:t>
            </a:r>
            <a:r>
              <a:rPr kumimoji="1" lang="en-US" dirty="0"/>
              <a:t> Spring Boot</a:t>
            </a:r>
          </a:p>
          <a:p>
            <a:pPr>
              <a:buFont typeface="Wingdings 3" charset="2"/>
              <a:buChar char=""/>
            </a:pPr>
            <a:r>
              <a:rPr kumimoji="1" lang="en-US" dirty="0" err="1"/>
              <a:t>Thực</a:t>
            </a:r>
            <a:r>
              <a:rPr kumimoji="1" lang="en-US" dirty="0"/>
              <a:t> </a:t>
            </a:r>
            <a:r>
              <a:rPr kumimoji="1" lang="en-US" dirty="0" err="1"/>
              <a:t>hiện</a:t>
            </a:r>
            <a:r>
              <a:rPr kumimoji="1" lang="en-US" dirty="0"/>
              <a:t> </a:t>
            </a:r>
            <a:r>
              <a:rPr kumimoji="1" lang="en-US" dirty="0" err="1"/>
              <a:t>tạo</a:t>
            </a:r>
            <a:r>
              <a:rPr kumimoji="1" lang="en-US" dirty="0"/>
              <a:t> </a:t>
            </a:r>
            <a:r>
              <a:rPr kumimoji="1" lang="en-US" dirty="0" err="1"/>
              <a:t>chương</a:t>
            </a:r>
            <a:r>
              <a:rPr kumimoji="1" lang="en-US" dirty="0"/>
              <a:t> </a:t>
            </a:r>
            <a:r>
              <a:rPr kumimoji="1" lang="en-US" dirty="0" err="1"/>
              <a:t>trình</a:t>
            </a:r>
            <a:r>
              <a:rPr kumimoji="1" lang="en-US" dirty="0"/>
              <a:t> </a:t>
            </a:r>
            <a:r>
              <a:rPr kumimoji="1" lang="en-US" dirty="0" err="1"/>
              <a:t>đơn</a:t>
            </a:r>
            <a:r>
              <a:rPr kumimoji="1" lang="en-US" dirty="0"/>
              <a:t> </a:t>
            </a:r>
            <a:r>
              <a:rPr kumimoji="1" lang="en-US" dirty="0" err="1"/>
              <a:t>giản</a:t>
            </a:r>
            <a:r>
              <a:rPr kumimoji="1" lang="en-US" dirty="0"/>
              <a:t> </a:t>
            </a:r>
            <a:r>
              <a:rPr kumimoji="1" lang="en-US" dirty="0" err="1"/>
              <a:t>với</a:t>
            </a:r>
            <a:r>
              <a:rPr kumimoji="1" lang="en-US" dirty="0"/>
              <a:t> Spring Boot</a:t>
            </a:r>
          </a:p>
        </p:txBody>
      </p:sp>
      <p:sp>
        <p:nvSpPr>
          <p:cNvPr id="6" name="コンテンツ プレースホルダー 2"/>
          <p:cNvSpPr txBox="1">
            <a:spLocks/>
          </p:cNvSpPr>
          <p:nvPr/>
        </p:nvSpPr>
        <p:spPr>
          <a:xfrm>
            <a:off x="1953684" y="2335217"/>
            <a:ext cx="8596668" cy="167798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kumimoji="1" lang="en-US" sz="2400" dirty="0" err="1"/>
              <a:t>Các</a:t>
            </a:r>
            <a:r>
              <a:rPr kumimoji="1" lang="en-US" sz="2400" dirty="0"/>
              <a:t> </a:t>
            </a:r>
            <a:r>
              <a:rPr kumimoji="1" lang="en-US" sz="2400" dirty="0" err="1"/>
              <a:t>mục</a:t>
            </a:r>
            <a:r>
              <a:rPr kumimoji="1" lang="en-US" sz="2400" dirty="0"/>
              <a:t> </a:t>
            </a:r>
            <a:r>
              <a:rPr kumimoji="1" lang="en-US" sz="2400" dirty="0" err="1"/>
              <a:t>trình</a:t>
            </a:r>
            <a:r>
              <a:rPr kumimoji="1" lang="en-US" sz="2400" dirty="0"/>
              <a:t> </a:t>
            </a:r>
            <a:r>
              <a:rPr kumimoji="1" lang="en-US" sz="2400" dirty="0" err="1"/>
              <a:t>bày</a:t>
            </a:r>
            <a:r>
              <a:rPr kumimoji="1" lang="en-US" sz="2400" dirty="0"/>
              <a:t> </a:t>
            </a:r>
            <a:r>
              <a:rPr kumimoji="1" lang="en-US" sz="2400" dirty="0" err="1"/>
              <a:t>trong</a:t>
            </a:r>
            <a:r>
              <a:rPr kumimoji="1" lang="en-US" sz="2400" dirty="0"/>
              <a:t> </a:t>
            </a:r>
            <a:r>
              <a:rPr lang="en-US" sz="3200" b="1" dirty="0"/>
              <a:t>Spring Boot</a:t>
            </a:r>
          </a:p>
          <a:p>
            <a:pPr marL="0" indent="0">
              <a:buNone/>
            </a:pPr>
            <a:endParaRPr kumimoji="1" lang="en-US" b="1" dirty="0"/>
          </a:p>
        </p:txBody>
      </p:sp>
    </p:spTree>
    <p:extLst>
      <p:ext uri="{BB962C8B-B14F-4D97-AF65-F5344CB8AC3E}">
        <p14:creationId xmlns:p14="http://schemas.microsoft.com/office/powerpoint/2010/main" val="3930633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What is Spring Framework? | Architecture &amp; Features of Spring Framework"/>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243344" cy="6858000"/>
          </a:xfrm>
          <a:prstGeom prst="rect">
            <a:avLst/>
          </a:prstGeom>
          <a:noFill/>
          <a:ln>
            <a:noFill/>
          </a:ln>
        </p:spPr>
      </p:pic>
    </p:spTree>
    <p:extLst>
      <p:ext uri="{BB962C8B-B14F-4D97-AF65-F5344CB8AC3E}">
        <p14:creationId xmlns:p14="http://schemas.microsoft.com/office/powerpoint/2010/main" val="161616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ctrTitle"/>
          </p:nvPr>
        </p:nvSpPr>
        <p:spPr>
          <a:xfrm>
            <a:off x="849842" y="209549"/>
            <a:ext cx="7766936" cy="421811"/>
          </a:xfrm>
        </p:spPr>
        <p:txBody>
          <a:bodyPr/>
          <a:lstStyle/>
          <a:p>
            <a:pPr lvl="0" algn="l"/>
            <a:r>
              <a:rPr lang="en-US" sz="2800" b="1" dirty="0">
                <a:solidFill>
                  <a:schemeClr val="tx1"/>
                </a:solidFill>
                <a:latin typeface="Arial" panose="020B0604020202020204" pitchFamily="34" charset="0"/>
                <a:cs typeface="Arial" panose="020B0604020202020204" pitchFamily="34" charset="0"/>
              </a:rPr>
              <a:t>1. Spring framework </a:t>
            </a:r>
            <a:r>
              <a:rPr lang="en-US" sz="2800" b="1" dirty="0" err="1">
                <a:solidFill>
                  <a:schemeClr val="tx1"/>
                </a:solidFill>
                <a:latin typeface="Arial" panose="020B0604020202020204" pitchFamily="34" charset="0"/>
                <a:cs typeface="Arial" panose="020B0604020202020204" pitchFamily="34" charset="0"/>
              </a:rPr>
              <a:t>là</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gì</a:t>
            </a:r>
            <a:r>
              <a:rPr lang="en-US" sz="2800" b="1" dirty="0">
                <a:solidFill>
                  <a:schemeClr val="tx1"/>
                </a:solidFill>
                <a:latin typeface="Arial" panose="020B0604020202020204" pitchFamily="34" charset="0"/>
                <a:cs typeface="Arial" panose="020B0604020202020204" pitchFamily="34" charset="0"/>
              </a:rPr>
              <a:t>?</a:t>
            </a:r>
          </a:p>
        </p:txBody>
      </p:sp>
      <p:sp>
        <p:nvSpPr>
          <p:cNvPr id="5" name="サブタイトル 4"/>
          <p:cNvSpPr>
            <a:spLocks noGrp="1"/>
          </p:cNvSpPr>
          <p:nvPr>
            <p:ph type="subTitle" idx="1"/>
          </p:nvPr>
        </p:nvSpPr>
        <p:spPr>
          <a:xfrm>
            <a:off x="1049867" y="725256"/>
            <a:ext cx="8465608" cy="397342"/>
          </a:xfrm>
        </p:spPr>
        <p:txBody>
          <a:bodyPr>
            <a:noAutofit/>
          </a:bodyPr>
          <a:lstStyle/>
          <a:p>
            <a:pPr marL="285750" indent="-285750" algn="just">
              <a:buFont typeface="Wingdings" panose="05000000000000000000" pitchFamily="2" charset="2"/>
              <a:buChar char="Ø"/>
            </a:pPr>
            <a:r>
              <a:rPr lang="en-US" sz="2000" dirty="0">
                <a:solidFill>
                  <a:schemeClr val="tx1"/>
                </a:solidFill>
                <a:latin typeface="Arial" panose="020B0604020202020204" pitchFamily="34" charset="0"/>
                <a:cs typeface="Arial" panose="020B0604020202020204" pitchFamily="34" charset="0"/>
              </a:rPr>
              <a:t>Spring </a:t>
            </a:r>
            <a:r>
              <a:rPr lang="en-US" sz="2000" dirty="0" err="1">
                <a:solidFill>
                  <a:schemeClr val="tx1"/>
                </a:solidFill>
                <a:latin typeface="Arial" panose="020B0604020202020204" pitchFamily="34" charset="0"/>
                <a:cs typeface="Arial" panose="020B0604020202020204" pitchFamily="34" charset="0"/>
              </a:rPr>
              <a:t>frameworklà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một</a:t>
            </a:r>
            <a:r>
              <a:rPr lang="en-US" sz="2000" dirty="0">
                <a:solidFill>
                  <a:schemeClr val="tx1"/>
                </a:solidFill>
                <a:latin typeface="Arial" panose="020B0604020202020204" pitchFamily="34" charset="0"/>
                <a:cs typeface="Arial" panose="020B0604020202020204" pitchFamily="34" charset="0"/>
              </a:rPr>
              <a:t> framework </a:t>
            </a:r>
            <a:r>
              <a:rPr lang="en-US" sz="2000" dirty="0" err="1">
                <a:solidFill>
                  <a:schemeClr val="tx1"/>
                </a:solidFill>
                <a:latin typeface="Arial" panose="020B0604020202020204" pitchFamily="34" charset="0"/>
                <a:cs typeface="Arial" panose="020B0604020202020204" pitchFamily="34" charset="0"/>
              </a:rPr>
              <a:t>được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đời</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giúp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các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phát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triển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có</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xây</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dựng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hệ</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thống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chạy</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ứng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dụng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trên</a:t>
            </a:r>
            <a:r>
              <a:rPr lang="en-US" sz="2000" dirty="0">
                <a:solidFill>
                  <a:schemeClr val="tx1"/>
                </a:solidFill>
                <a:latin typeface="Arial" panose="020B0604020202020204" pitchFamily="34" charset="0"/>
                <a:cs typeface="Arial" panose="020B0604020202020204" pitchFamily="34" charset="0"/>
              </a:rPr>
              <a:t> JVM </a:t>
            </a:r>
            <a:r>
              <a:rPr lang="en-US" sz="2000" dirty="0" err="1">
                <a:solidFill>
                  <a:schemeClr val="tx1"/>
                </a:solidFill>
                <a:latin typeface="Arial" panose="020B0604020202020204" pitchFamily="34" charset="0"/>
                <a:cs typeface="Arial" panose="020B0604020202020204" pitchFamily="34" charset="0"/>
              </a:rPr>
              <a:t>một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cách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thuận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tiện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đơn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giản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nhanh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chóng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Đây</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một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mã</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nguồn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mở</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được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phát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triển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rất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nhiều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người</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sử</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dụng</a:t>
            </a:r>
            <a:r>
              <a:rPr lang="en-US" sz="2000" dirty="0">
                <a:solidFill>
                  <a:schemeClr val="tx1"/>
                </a:solidFill>
                <a:latin typeface="Arial" panose="020B0604020202020204" pitchFamily="34" charset="0"/>
                <a:cs typeface="Arial" panose="020B0604020202020204" pitchFamily="34" charset="0"/>
              </a:rPr>
              <a:t>.</a:t>
            </a:r>
          </a:p>
        </p:txBody>
      </p:sp>
      <p:sp>
        <p:nvSpPr>
          <p:cNvPr id="11" name="サブタイトル 4"/>
          <p:cNvSpPr txBox="1">
            <a:spLocks/>
          </p:cNvSpPr>
          <p:nvPr/>
        </p:nvSpPr>
        <p:spPr>
          <a:xfrm>
            <a:off x="1049867" y="1949884"/>
            <a:ext cx="7766936" cy="39734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endParaRPr lang="en-US" dirty="0"/>
          </a:p>
        </p:txBody>
      </p:sp>
      <p:sp>
        <p:nvSpPr>
          <p:cNvPr id="12" name="サブタイトル 4"/>
          <p:cNvSpPr txBox="1">
            <a:spLocks/>
          </p:cNvSpPr>
          <p:nvPr/>
        </p:nvSpPr>
        <p:spPr>
          <a:xfrm>
            <a:off x="1049867" y="1926759"/>
            <a:ext cx="7766936" cy="39734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endParaRPr lang="en-US" dirty="0"/>
          </a:p>
        </p:txBody>
      </p:sp>
      <p:sp>
        <p:nvSpPr>
          <p:cNvPr id="14" name="サブタイトル 4"/>
          <p:cNvSpPr txBox="1">
            <a:spLocks/>
          </p:cNvSpPr>
          <p:nvPr/>
        </p:nvSpPr>
        <p:spPr>
          <a:xfrm>
            <a:off x="1049867" y="2264190"/>
            <a:ext cx="8465608" cy="397342"/>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85750" indent="-285750" algn="just">
              <a:buFont typeface="Wingdings" panose="05000000000000000000" pitchFamily="2" charset="2"/>
              <a:buChar char="Ø"/>
            </a:pPr>
            <a:r>
              <a:rPr lang="en-US" sz="2000" dirty="0">
                <a:solidFill>
                  <a:schemeClr val="tx1"/>
                </a:solidFill>
                <a:latin typeface="Arial" panose="020B0604020202020204" pitchFamily="34" charset="0"/>
                <a:cs typeface="Arial" panose="020B0604020202020204" pitchFamily="34" charset="0"/>
              </a:rPr>
              <a:t>Spring </a:t>
            </a:r>
            <a:r>
              <a:rPr lang="en-US" sz="2000" dirty="0" err="1">
                <a:solidFill>
                  <a:schemeClr val="tx1"/>
                </a:solidFill>
                <a:latin typeface="Arial" panose="020B0604020202020204" pitchFamily="34" charset="0"/>
                <a:cs typeface="Arial" panose="020B0604020202020204" pitchFamily="34" charset="0"/>
              </a:rPr>
              <a:t>nhẹ</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trong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suốt</a:t>
            </a:r>
            <a:r>
              <a:rPr lang="en-US" sz="2000" dirty="0">
                <a:solidFill>
                  <a:schemeClr val="tx1"/>
                </a:solidFill>
                <a:latin typeface="Arial" panose="020B0604020202020204" pitchFamily="34" charset="0"/>
                <a:cs typeface="Arial" panose="020B0604020202020204" pitchFamily="34" charset="0"/>
              </a:rPr>
              <a:t> </a:t>
            </a:r>
          </a:p>
        </p:txBody>
      </p:sp>
      <p:sp>
        <p:nvSpPr>
          <p:cNvPr id="15" name="サブタイトル 4"/>
          <p:cNvSpPr txBox="1">
            <a:spLocks/>
          </p:cNvSpPr>
          <p:nvPr/>
        </p:nvSpPr>
        <p:spPr>
          <a:xfrm>
            <a:off x="1049867" y="2955376"/>
            <a:ext cx="8465608" cy="397342"/>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85750" indent="-285750" algn="just">
              <a:buFont typeface="Wingdings" panose="05000000000000000000" pitchFamily="2" charset="2"/>
              <a:buChar char="Ø"/>
            </a:pPr>
            <a:r>
              <a:rPr lang="en-US" sz="2000" dirty="0">
                <a:solidFill>
                  <a:schemeClr val="tx1"/>
                </a:solidFill>
                <a:latin typeface="Arial" panose="020B0604020202020204" pitchFamily="34" charset="0"/>
                <a:cs typeface="Arial" panose="020B0604020202020204" pitchFamily="34" charset="0"/>
              </a:rPr>
              <a:t>Spring Framework </a:t>
            </a:r>
            <a:r>
              <a:rPr lang="en-US" sz="2000" dirty="0" err="1">
                <a:solidFill>
                  <a:schemeClr val="tx1"/>
                </a:solidFill>
                <a:latin typeface="Arial" panose="020B0604020202020204" pitchFamily="34" charset="0"/>
                <a:cs typeface="Arial" panose="020B0604020202020204" pitchFamily="34" charset="0"/>
              </a:rPr>
              <a:t>được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xây</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dựng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dựa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trên</a:t>
            </a:r>
            <a:r>
              <a:rPr lang="en-US" sz="2000" dirty="0">
                <a:solidFill>
                  <a:schemeClr val="tx1"/>
                </a:solidFill>
                <a:latin typeface="Arial" panose="020B0604020202020204" pitchFamily="34" charset="0"/>
                <a:cs typeface="Arial" panose="020B0604020202020204" pitchFamily="34" charset="0"/>
              </a:rPr>
              <a:t> 2 </a:t>
            </a:r>
            <a:r>
              <a:rPr lang="en-US" sz="2000" dirty="0" err="1">
                <a:solidFill>
                  <a:schemeClr val="tx1"/>
                </a:solidFill>
                <a:latin typeface="Arial" panose="020B0604020202020204" pitchFamily="34" charset="0"/>
                <a:cs typeface="Arial" panose="020B0604020202020204" pitchFamily="34" charset="0"/>
              </a:rPr>
              <a:t>nguyên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tắc</a:t>
            </a:r>
            <a:r>
              <a:rPr lang="en-US" sz="2000" dirty="0">
                <a:solidFill>
                  <a:schemeClr val="tx1"/>
                </a:solidFill>
                <a:latin typeface="Arial" panose="020B0604020202020204" pitchFamily="34" charset="0"/>
                <a:cs typeface="Arial" panose="020B0604020202020204" pitchFamily="34" charset="0"/>
              </a:rPr>
              <a:t> design </a:t>
            </a:r>
            <a:r>
              <a:rPr lang="en-US" sz="2000" dirty="0" err="1">
                <a:solidFill>
                  <a:schemeClr val="tx1"/>
                </a:solidFill>
                <a:latin typeface="Arial" panose="020B0604020202020204" pitchFamily="34" charset="0"/>
                <a:cs typeface="Arial" panose="020B0604020202020204" pitchFamily="34" charset="0"/>
              </a:rPr>
              <a:t>chính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là</a:t>
            </a:r>
            <a:r>
              <a:rPr lang="en-US" sz="2000" dirty="0">
                <a:solidFill>
                  <a:schemeClr val="tx1"/>
                </a:solidFill>
                <a:latin typeface="Arial" panose="020B0604020202020204" pitchFamily="34" charset="0"/>
                <a:cs typeface="Arial" panose="020B0604020202020204" pitchFamily="34" charset="0"/>
              </a:rPr>
              <a:t>: Dependency Injection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Aspect Oriented Programming</a:t>
            </a:r>
          </a:p>
        </p:txBody>
      </p:sp>
    </p:spTree>
    <p:extLst>
      <p:ext uri="{BB962C8B-B14F-4D97-AF65-F5344CB8AC3E}">
        <p14:creationId xmlns:p14="http://schemas.microsoft.com/office/powerpoint/2010/main" val="8515452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849841" y="209549"/>
            <a:ext cx="8303683" cy="421811"/>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800" b="1" dirty="0">
                <a:solidFill>
                  <a:schemeClr val="tx1"/>
                </a:solidFill>
                <a:latin typeface="Arial" panose="020B0604020202020204" pitchFamily="34" charset="0"/>
                <a:cs typeface="Arial" panose="020B0604020202020204" pitchFamily="34" charset="0"/>
              </a:rPr>
              <a:t>2. </a:t>
            </a:r>
            <a:r>
              <a:rPr lang="en-US" sz="2800" b="1" dirty="0" err="1">
                <a:solidFill>
                  <a:schemeClr val="tx1"/>
                </a:solidFill>
                <a:latin typeface="Arial" panose="020B0604020202020204" pitchFamily="34" charset="0"/>
                <a:cs typeface="Arial" panose="020B0604020202020204" pitchFamily="34" charset="0"/>
              </a:rPr>
              <a:t>Kiến</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trúc</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các</a:t>
            </a:r>
            <a:r>
              <a:rPr lang="en-US" sz="2800" b="1" dirty="0">
                <a:solidFill>
                  <a:schemeClr val="tx1"/>
                </a:solidFill>
                <a:latin typeface="Arial" panose="020B0604020202020204" pitchFamily="34" charset="0"/>
                <a:cs typeface="Arial" panose="020B0604020202020204" pitchFamily="34" charset="0"/>
              </a:rPr>
              <a:t> module </a:t>
            </a:r>
            <a:r>
              <a:rPr lang="en-US" sz="2800" b="1" dirty="0" err="1">
                <a:solidFill>
                  <a:schemeClr val="tx1"/>
                </a:solidFill>
                <a:latin typeface="Arial" panose="020B0604020202020204" pitchFamily="34" charset="0"/>
                <a:cs typeface="Arial" panose="020B0604020202020204" pitchFamily="34" charset="0"/>
              </a:rPr>
              <a:t>của</a:t>
            </a:r>
            <a:r>
              <a:rPr lang="en-US" sz="2800" b="1" dirty="0">
                <a:solidFill>
                  <a:schemeClr val="tx1"/>
                </a:solidFill>
                <a:latin typeface="Arial" panose="020B0604020202020204" pitchFamily="34" charset="0"/>
                <a:cs typeface="Arial" panose="020B0604020202020204" pitchFamily="34" charset="0"/>
              </a:rPr>
              <a:t> Spring Framework</a:t>
            </a:r>
          </a:p>
        </p:txBody>
      </p:sp>
      <p:pic>
        <p:nvPicPr>
          <p:cNvPr id="5" name="図 4" descr="Spring là gì? Giới thiệu Spring Framework trong Java"/>
          <p:cNvPicPr/>
          <p:nvPr/>
        </p:nvPicPr>
        <p:blipFill>
          <a:blip r:embed="rId3">
            <a:extLst>
              <a:ext uri="{28A0092B-C50C-407E-A947-70E740481C1C}">
                <a14:useLocalDpi xmlns:a14="http://schemas.microsoft.com/office/drawing/2010/main" val="0"/>
              </a:ext>
            </a:extLst>
          </a:blip>
          <a:srcRect/>
          <a:stretch>
            <a:fillRect/>
          </a:stretch>
        </p:blipFill>
        <p:spPr bwMode="auto">
          <a:xfrm>
            <a:off x="1052512" y="632954"/>
            <a:ext cx="8301038" cy="6225046"/>
          </a:xfrm>
          <a:prstGeom prst="rect">
            <a:avLst/>
          </a:prstGeom>
          <a:noFill/>
          <a:ln>
            <a:noFill/>
          </a:ln>
        </p:spPr>
      </p:pic>
    </p:spTree>
    <p:extLst>
      <p:ext uri="{BB962C8B-B14F-4D97-AF65-F5344CB8AC3E}">
        <p14:creationId xmlns:p14="http://schemas.microsoft.com/office/powerpoint/2010/main" val="3197484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descr="post-image"/>
          <p:cNvPicPr/>
          <p:nvPr/>
        </p:nvPicPr>
        <p:blipFill>
          <a:blip r:embed="rId2">
            <a:extLst>
              <a:ext uri="{28A0092B-C50C-407E-A947-70E740481C1C}">
                <a14:useLocalDpi xmlns:a14="http://schemas.microsoft.com/office/drawing/2010/main" val="0"/>
              </a:ext>
            </a:extLst>
          </a:blip>
          <a:srcRect/>
          <a:stretch>
            <a:fillRect/>
          </a:stretch>
        </p:blipFill>
        <p:spPr bwMode="auto">
          <a:xfrm>
            <a:off x="795337" y="1202689"/>
            <a:ext cx="8587480" cy="4293235"/>
          </a:xfrm>
          <a:prstGeom prst="rect">
            <a:avLst/>
          </a:prstGeom>
          <a:noFill/>
          <a:ln>
            <a:noFill/>
          </a:ln>
        </p:spPr>
      </p:pic>
    </p:spTree>
    <p:extLst>
      <p:ext uri="{BB962C8B-B14F-4D97-AF65-F5344CB8AC3E}">
        <p14:creationId xmlns:p14="http://schemas.microsoft.com/office/powerpoint/2010/main" val="10875952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a:spLocks noGrp="1"/>
          </p:cNvSpPr>
          <p:nvPr>
            <p:ph type="ctrTitle"/>
          </p:nvPr>
        </p:nvSpPr>
        <p:spPr>
          <a:xfrm>
            <a:off x="849842" y="209549"/>
            <a:ext cx="7766936" cy="421811"/>
          </a:xfrm>
        </p:spPr>
        <p:txBody>
          <a:bodyPr/>
          <a:lstStyle/>
          <a:p>
            <a:pPr lvl="0" algn="l"/>
            <a:r>
              <a:rPr lang="en-US" sz="2800" b="1" dirty="0">
                <a:solidFill>
                  <a:schemeClr val="tx1"/>
                </a:solidFill>
                <a:latin typeface="Arial" panose="020B0604020202020204" pitchFamily="34" charset="0"/>
                <a:cs typeface="Arial" panose="020B0604020202020204" pitchFamily="34" charset="0"/>
              </a:rPr>
              <a:t>1. </a:t>
            </a:r>
            <a:r>
              <a:rPr lang="nl-NL" sz="2800" b="1" dirty="0">
                <a:solidFill>
                  <a:schemeClr val="tx1"/>
                </a:solidFill>
                <a:latin typeface="Arial" panose="020B0604020202020204" pitchFamily="34" charset="0"/>
                <a:cs typeface="Arial" panose="020B0604020202020204" pitchFamily="34" charset="0"/>
              </a:rPr>
              <a:t>Spring Boot là gì?</a:t>
            </a:r>
            <a:endParaRPr lang="en-US" sz="2800" b="1" dirty="0">
              <a:solidFill>
                <a:schemeClr val="tx1"/>
              </a:solidFill>
              <a:latin typeface="Arial" panose="020B0604020202020204" pitchFamily="34" charset="0"/>
              <a:cs typeface="Arial" panose="020B0604020202020204" pitchFamily="34" charset="0"/>
            </a:endParaRPr>
          </a:p>
        </p:txBody>
      </p:sp>
      <p:sp>
        <p:nvSpPr>
          <p:cNvPr id="5" name="サブタイトル 4"/>
          <p:cNvSpPr>
            <a:spLocks noGrp="1"/>
          </p:cNvSpPr>
          <p:nvPr>
            <p:ph type="subTitle" idx="1"/>
          </p:nvPr>
        </p:nvSpPr>
        <p:spPr>
          <a:xfrm>
            <a:off x="1049867" y="725255"/>
            <a:ext cx="8465608" cy="1017819"/>
          </a:xfrm>
        </p:spPr>
        <p:txBody>
          <a:bodyPr>
            <a:noAutofit/>
          </a:bodyPr>
          <a:lstStyle/>
          <a:p>
            <a:pPr marL="285750" indent="-285750" algn="just">
              <a:buFont typeface="Wingdings" panose="05000000000000000000" pitchFamily="2" charset="2"/>
              <a:buChar char="Ø"/>
            </a:pPr>
            <a:r>
              <a:rPr lang="en-US" sz="2000" b="1" dirty="0">
                <a:solidFill>
                  <a:schemeClr val="tx1"/>
                </a:solidFill>
                <a:latin typeface="Arial" panose="020B0604020202020204" pitchFamily="34" charset="0"/>
                <a:cs typeface="Arial" panose="020B0604020202020204" pitchFamily="34" charset="0"/>
              </a:rPr>
              <a:t>Spring Boot </a:t>
            </a:r>
            <a:r>
              <a:rPr lang="en-US" sz="2000" dirty="0" err="1">
                <a:solidFill>
                  <a:schemeClr val="tx1"/>
                </a:solidFill>
                <a:latin typeface="Arial" panose="020B0604020202020204" pitchFamily="34" charset="0"/>
                <a:cs typeface="Arial" panose="020B0604020202020204" pitchFamily="34" charset="0"/>
              </a:rPr>
              <a:t>là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một</a:t>
            </a:r>
            <a:r>
              <a:rPr lang="en-US" sz="2000" dirty="0">
                <a:solidFill>
                  <a:schemeClr val="tx1"/>
                </a:solidFill>
                <a:latin typeface="Arial" panose="020B0604020202020204" pitchFamily="34" charset="0"/>
                <a:cs typeface="Arial" panose="020B0604020202020204" pitchFamily="34" charset="0"/>
              </a:rPr>
              <a:t> module </a:t>
            </a:r>
            <a:r>
              <a:rPr lang="en-US" sz="2000" dirty="0" err="1">
                <a:solidFill>
                  <a:schemeClr val="tx1"/>
                </a:solidFill>
                <a:latin typeface="Arial" panose="020B0604020202020204" pitchFamily="34" charset="0"/>
                <a:cs typeface="Arial" panose="020B0604020202020204" pitchFamily="34" charset="0"/>
              </a:rPr>
              <a:t>của</a:t>
            </a:r>
            <a:r>
              <a:rPr lang="en-US" sz="2000" dirty="0">
                <a:solidFill>
                  <a:schemeClr val="tx1"/>
                </a:solidFill>
                <a:latin typeface="Arial" panose="020B0604020202020204" pitchFamily="34" charset="0"/>
                <a:cs typeface="Arial" panose="020B0604020202020204" pitchFamily="34" charset="0"/>
              </a:rPr>
              <a:t> </a:t>
            </a:r>
            <a:r>
              <a:rPr lang="en-US" sz="2000" b="1" dirty="0">
                <a:solidFill>
                  <a:schemeClr val="tx1"/>
                </a:solidFill>
                <a:latin typeface="Arial" panose="020B0604020202020204" pitchFamily="34" charset="0"/>
                <a:cs typeface="Arial" panose="020B0604020202020204" pitchFamily="34" charset="0"/>
              </a:rPr>
              <a:t>Spring Framework</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cung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cấp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các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tính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năng</a:t>
            </a:r>
            <a:r>
              <a:rPr lang="en-US" sz="2000" dirty="0">
                <a:solidFill>
                  <a:schemeClr val="tx1"/>
                </a:solidFill>
                <a:latin typeface="Arial" panose="020B0604020202020204" pitchFamily="34" charset="0"/>
                <a:cs typeface="Arial" panose="020B0604020202020204" pitchFamily="34" charset="0"/>
              </a:rPr>
              <a:t> RAD (Rapid Application Development) – </a:t>
            </a:r>
            <a:r>
              <a:rPr lang="en-US" sz="2000" dirty="0" err="1">
                <a:solidFill>
                  <a:schemeClr val="tx1"/>
                </a:solidFill>
                <a:latin typeface="Arial" panose="020B0604020202020204" pitchFamily="34" charset="0"/>
                <a:cs typeface="Arial" panose="020B0604020202020204" pitchFamily="34" charset="0"/>
              </a:rPr>
              <a:t>phát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triển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ứng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dụng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nhanh</a:t>
            </a:r>
            <a:endParaRPr lang="en-US" sz="2000" dirty="0">
              <a:solidFill>
                <a:schemeClr val="tx1"/>
              </a:solidFill>
              <a:latin typeface="Arial" panose="020B0604020202020204" pitchFamily="34" charset="0"/>
              <a:cs typeface="Arial" panose="020B0604020202020204" pitchFamily="34" charset="0"/>
            </a:endParaRPr>
          </a:p>
        </p:txBody>
      </p:sp>
      <p:sp>
        <p:nvSpPr>
          <p:cNvPr id="6" name="サブタイトル 4"/>
          <p:cNvSpPr txBox="1">
            <a:spLocks/>
          </p:cNvSpPr>
          <p:nvPr/>
        </p:nvSpPr>
        <p:spPr>
          <a:xfrm>
            <a:off x="1049867" y="1896830"/>
            <a:ext cx="8465608" cy="1074969"/>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85750" indent="-285750" algn="just">
              <a:buFont typeface="Wingdings" panose="05000000000000000000" pitchFamily="2" charset="2"/>
              <a:buChar char="Ø"/>
            </a:pPr>
            <a:r>
              <a:rPr lang="en-US" sz="2000" dirty="0">
                <a:solidFill>
                  <a:schemeClr val="tx1"/>
                </a:solidFill>
                <a:latin typeface="Arial" panose="020B0604020202020204" pitchFamily="34" charset="0"/>
                <a:cs typeface="Arial" panose="020B0604020202020204" pitchFamily="34" charset="0"/>
              </a:rPr>
              <a:t>Spring Boot </a:t>
            </a:r>
            <a:r>
              <a:rPr lang="en-US" sz="2000" dirty="0" err="1">
                <a:solidFill>
                  <a:schemeClr val="tx1"/>
                </a:solidFill>
                <a:latin typeface="Arial" panose="020B0604020202020204" pitchFamily="34" charset="0"/>
                <a:cs typeface="Arial" panose="020B0604020202020204" pitchFamily="34" charset="0"/>
              </a:rPr>
              <a:t>cung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cấp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một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nền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tảng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tốt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cho</a:t>
            </a:r>
            <a:r>
              <a:rPr lang="en-US" sz="2000" dirty="0">
                <a:solidFill>
                  <a:schemeClr val="tx1"/>
                </a:solidFill>
                <a:latin typeface="Arial" panose="020B0604020202020204" pitchFamily="34" charset="0"/>
                <a:cs typeface="Arial" panose="020B0604020202020204" pitchFamily="34" charset="0"/>
              </a:rPr>
              <a:t> Java developers </a:t>
            </a:r>
            <a:r>
              <a:rPr lang="en-US" sz="2000" dirty="0" err="1">
                <a:solidFill>
                  <a:schemeClr val="tx1"/>
                </a:solidFill>
                <a:latin typeface="Arial" panose="020B0604020202020204" pitchFamily="34" charset="0"/>
                <a:cs typeface="Arial" panose="020B0604020202020204" pitchFamily="34" charset="0"/>
              </a:rPr>
              <a:t>để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phát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triển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một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ứng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dụng</a:t>
            </a:r>
            <a:r>
              <a:rPr lang="en-US" sz="2000" dirty="0">
                <a:solidFill>
                  <a:schemeClr val="tx1"/>
                </a:solidFill>
                <a:latin typeface="Arial" panose="020B0604020202020204" pitchFamily="34" charset="0"/>
                <a:cs typeface="Arial" panose="020B0604020202020204" pitchFamily="34" charset="0"/>
              </a:rPr>
              <a:t> spring </a:t>
            </a:r>
            <a:r>
              <a:rPr lang="en-US" sz="2000" dirty="0" err="1">
                <a:solidFill>
                  <a:schemeClr val="tx1"/>
                </a:solidFill>
                <a:latin typeface="Arial" panose="020B0604020202020204" pitchFamily="34" charset="0"/>
                <a:cs typeface="Arial" panose="020B0604020202020204" pitchFamily="34" charset="0"/>
              </a:rPr>
              <a:t>độc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lập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Bạn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có</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bắt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đầu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với</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các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cấu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hình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tối</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thiểu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không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cần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thiết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lập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toàn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bộ</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cấu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hình</a:t>
            </a:r>
            <a:r>
              <a:rPr lang="en-US" sz="2000" dirty="0">
                <a:solidFill>
                  <a:schemeClr val="tx1"/>
                </a:solidFill>
                <a:latin typeface="Arial" panose="020B0604020202020204" pitchFamily="34" charset="0"/>
                <a:cs typeface="Arial" panose="020B0604020202020204" pitchFamily="34" charset="0"/>
              </a:rPr>
              <a:t> Spring</a:t>
            </a:r>
          </a:p>
        </p:txBody>
      </p:sp>
      <p:sp>
        <p:nvSpPr>
          <p:cNvPr id="7" name="サブタイトル 4"/>
          <p:cNvSpPr txBox="1">
            <a:spLocks/>
          </p:cNvSpPr>
          <p:nvPr/>
        </p:nvSpPr>
        <p:spPr>
          <a:xfrm>
            <a:off x="1049867" y="3125555"/>
            <a:ext cx="8465608" cy="1770295"/>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85750" indent="-285750" algn="just">
              <a:buFont typeface="Wingdings" panose="05000000000000000000" pitchFamily="2" charset="2"/>
              <a:buChar char="Ø"/>
            </a:pPr>
            <a:r>
              <a:rPr lang="en-US" sz="2000" dirty="0">
                <a:solidFill>
                  <a:schemeClr val="tx1"/>
                </a:solidFill>
                <a:latin typeface="Arial" panose="020B0604020202020204" pitchFamily="34" charset="0"/>
                <a:cs typeface="Arial" panose="020B0604020202020204" pitchFamily="34" charset="0"/>
              </a:rPr>
              <a:t>Spring Boot </a:t>
            </a:r>
            <a:r>
              <a:rPr lang="en-US" sz="2000" dirty="0" err="1">
                <a:solidFill>
                  <a:schemeClr val="tx1"/>
                </a:solidFill>
                <a:latin typeface="Arial" panose="020B0604020202020204" pitchFamily="34" charset="0"/>
                <a:cs typeface="Arial" panose="020B0604020202020204" pitchFamily="34" charset="0"/>
              </a:rPr>
              <a:t>hỗ</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trợ</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lập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trình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viên</a:t>
            </a:r>
            <a:r>
              <a:rPr lang="en-US" sz="2000" dirty="0">
                <a:solidFill>
                  <a:schemeClr val="tx1"/>
                </a:solidFill>
                <a:latin typeface="Arial" panose="020B0604020202020204" pitchFamily="34" charset="0"/>
                <a:cs typeface="Arial" panose="020B0604020202020204" pitchFamily="34" charset="0"/>
              </a:rPr>
              <a:t>:</a:t>
            </a:r>
          </a:p>
          <a:p>
            <a:pPr marL="742950" lvl="1" indent="-285750" algn="just">
              <a:buFont typeface="Wingdings" panose="05000000000000000000" pitchFamily="2" charset="2"/>
              <a:buChar char="§"/>
            </a:pPr>
            <a:r>
              <a:rPr lang="en-US" dirty="0">
                <a:solidFill>
                  <a:schemeClr val="tx1"/>
                </a:solidFill>
              </a:rPr>
              <a:t>Auto </a:t>
            </a:r>
            <a:r>
              <a:rPr lang="en-US" dirty="0" err="1">
                <a:solidFill>
                  <a:schemeClr val="tx1"/>
                </a:solidFill>
              </a:rPr>
              <a:t>config</a:t>
            </a:r>
            <a:endParaRPr lang="en-US" dirty="0">
              <a:solidFill>
                <a:schemeClr val="tx1"/>
              </a:solidFill>
            </a:endParaRPr>
          </a:p>
          <a:p>
            <a:pPr marL="742950" lvl="1" indent="-285750" algn="just">
              <a:buFont typeface="Wingdings" panose="05000000000000000000" pitchFamily="2" charset="2"/>
              <a:buChar char="§"/>
            </a:pPr>
            <a:r>
              <a:rPr lang="en-US" dirty="0" err="1">
                <a:solidFill>
                  <a:schemeClr val="tx1"/>
                </a:solidFill>
                <a:latin typeface="Arial" panose="020B0604020202020204" pitchFamily="34" charset="0"/>
                <a:cs typeface="Arial" panose="020B0604020202020204" pitchFamily="34" charset="0"/>
              </a:rPr>
              <a:t>Không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cần</a:t>
            </a:r>
            <a:r>
              <a:rPr lang="en-US" dirty="0">
                <a:solidFill>
                  <a:schemeClr val="tx1"/>
                </a:solidFill>
                <a:latin typeface="Arial" panose="020B0604020202020204" pitchFamily="34" charset="0"/>
                <a:cs typeface="Arial" panose="020B0604020202020204" pitchFamily="34" charset="0"/>
              </a:rPr>
              <a:t> XML </a:t>
            </a:r>
            <a:r>
              <a:rPr lang="en-US" dirty="0" err="1">
                <a:solidFill>
                  <a:schemeClr val="tx1"/>
                </a:solidFill>
                <a:latin typeface="Arial" panose="020B0604020202020204" pitchFamily="34" charset="0"/>
                <a:cs typeface="Arial" panose="020B0604020202020204" pitchFamily="34" charset="0"/>
              </a:rPr>
              <a:t>để</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cấu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hình</a:t>
            </a:r>
            <a:endParaRPr lang="en-US" dirty="0">
              <a:solidFill>
                <a:schemeClr val="tx1"/>
              </a:solidFill>
              <a:latin typeface="Arial" panose="020B0604020202020204" pitchFamily="34" charset="0"/>
              <a:cs typeface="Arial" panose="020B0604020202020204" pitchFamily="34" charset="0"/>
            </a:endParaRPr>
          </a:p>
          <a:p>
            <a:pPr marL="742950" lvl="1" indent="-285750" algn="just">
              <a:buFont typeface="Wingdings" panose="05000000000000000000" pitchFamily="2" charset="2"/>
              <a:buChar char="§"/>
            </a:pPr>
            <a:r>
              <a:rPr lang="en-US" dirty="0" err="1">
                <a:solidFill>
                  <a:schemeClr val="tx1"/>
                </a:solidFill>
                <a:latin typeface="Arial" panose="020B0604020202020204" pitchFamily="34" charset="0"/>
                <a:cs typeface="Arial" panose="020B0604020202020204" pitchFamily="34" charset="0"/>
              </a:rPr>
              <a:t>Không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cần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cấu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hình</a:t>
            </a:r>
            <a:r>
              <a:rPr lang="en-US" dirty="0">
                <a:solidFill>
                  <a:schemeClr val="tx1"/>
                </a:solidFill>
                <a:latin typeface="Arial" panose="020B0604020202020204" pitchFamily="34" charset="0"/>
                <a:cs typeface="Arial" panose="020B0604020202020204" pitchFamily="34" charset="0"/>
              </a:rPr>
              <a:t> Server Tomcat </a:t>
            </a:r>
          </a:p>
        </p:txBody>
      </p:sp>
    </p:spTree>
    <p:extLst>
      <p:ext uri="{BB962C8B-B14F-4D97-AF65-F5344CB8AC3E}">
        <p14:creationId xmlns:p14="http://schemas.microsoft.com/office/powerpoint/2010/main" val="3896593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849842" y="209549"/>
            <a:ext cx="7766936" cy="421811"/>
          </a:xfrm>
          <a:prstGeom prst="rect">
            <a:avLst/>
          </a:prstGeom>
        </p:spPr>
        <p:txBody>
          <a:bodyPr vert="horz" lIns="91440" tIns="45720" rIns="91440" bIns="45720"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latin typeface="Arial" panose="020B0604020202020204" pitchFamily="34" charset="0"/>
                <a:cs typeface="Arial" panose="020B0604020202020204" pitchFamily="34" charset="0"/>
              </a:rPr>
              <a:t>2. </a:t>
            </a:r>
            <a:r>
              <a:rPr lang="vi-VN" sz="2800" b="1" dirty="0">
                <a:solidFill>
                  <a:schemeClr val="tx1"/>
                </a:solidFill>
                <a:latin typeface="Arial" panose="020B0604020202020204" pitchFamily="34" charset="0"/>
                <a:cs typeface="Arial" panose="020B0604020202020204" pitchFamily="34" charset="0"/>
              </a:rPr>
              <a:t>Ưu điểm nổi bật của Spring Boot</a:t>
            </a:r>
            <a:endParaRPr lang="en-US" sz="2800" b="1" dirty="0">
              <a:solidFill>
                <a:schemeClr val="tx1"/>
              </a:solidFill>
              <a:latin typeface="Arial" panose="020B0604020202020204" pitchFamily="34" charset="0"/>
              <a:cs typeface="Arial" panose="020B0604020202020204" pitchFamily="34" charset="0"/>
            </a:endParaRPr>
          </a:p>
        </p:txBody>
      </p:sp>
      <p:sp>
        <p:nvSpPr>
          <p:cNvPr id="6" name="テキスト ボックス 5"/>
          <p:cNvSpPr txBox="1"/>
          <p:nvPr/>
        </p:nvSpPr>
        <p:spPr>
          <a:xfrm>
            <a:off x="1133475" y="790575"/>
            <a:ext cx="7400925" cy="369332"/>
          </a:xfrm>
          <a:prstGeom prst="rect">
            <a:avLst/>
          </a:prstGeom>
          <a:noFill/>
        </p:spPr>
        <p:txBody>
          <a:bodyPr wrap="square" rtlCol="0">
            <a:spAutoFit/>
          </a:bodyPr>
          <a:lstStyle/>
          <a:p>
            <a:pPr marL="285750" lvl="0" indent="-285750">
              <a:buFont typeface="Arial" panose="020B0604020202020204" pitchFamily="34" charset="0"/>
              <a:buChar char="•"/>
            </a:pPr>
            <a:r>
              <a:rPr lang="en-US" dirty="0" err="1"/>
              <a:t>Hội</a:t>
            </a:r>
            <a:r>
              <a:rPr lang="en-US" dirty="0"/>
              <a:t> </a:t>
            </a:r>
            <a:r>
              <a:rPr lang="en-US" dirty="0" err="1"/>
              <a:t>tụ</a:t>
            </a:r>
            <a:r>
              <a:rPr lang="en-US" dirty="0"/>
              <a:t> </a:t>
            </a:r>
            <a:r>
              <a:rPr lang="en-US" dirty="0" err="1"/>
              <a:t>đầy</a:t>
            </a:r>
            <a:r>
              <a:rPr lang="en-US" dirty="0"/>
              <a:t> </a:t>
            </a:r>
            <a:r>
              <a:rPr lang="en-US" dirty="0" err="1"/>
              <a:t>đủ</a:t>
            </a:r>
            <a:r>
              <a:rPr lang="en-US" dirty="0"/>
              <a:t> </a:t>
            </a:r>
            <a:r>
              <a:rPr lang="en-US" dirty="0" err="1"/>
              <a:t>các</a:t>
            </a:r>
            <a:r>
              <a:rPr lang="en-US" dirty="0"/>
              <a:t> </a:t>
            </a:r>
            <a:r>
              <a:rPr lang="en-US" dirty="0" err="1"/>
              <a:t>tính</a:t>
            </a:r>
            <a:r>
              <a:rPr lang="en-US" dirty="0"/>
              <a:t> </a:t>
            </a:r>
            <a:r>
              <a:rPr lang="en-US" dirty="0" err="1"/>
              <a:t>năng</a:t>
            </a:r>
            <a:r>
              <a:rPr lang="en-US" dirty="0"/>
              <a:t> </a:t>
            </a:r>
            <a:r>
              <a:rPr lang="en-US" dirty="0" err="1"/>
              <a:t>của</a:t>
            </a:r>
            <a:r>
              <a:rPr lang="en-US" dirty="0"/>
              <a:t> Spring framework.</a:t>
            </a:r>
          </a:p>
        </p:txBody>
      </p:sp>
      <p:sp>
        <p:nvSpPr>
          <p:cNvPr id="7" name="テキスト ボックス 6"/>
          <p:cNvSpPr txBox="1"/>
          <p:nvPr/>
        </p:nvSpPr>
        <p:spPr>
          <a:xfrm>
            <a:off x="1133470" y="1127887"/>
            <a:ext cx="7400925" cy="646331"/>
          </a:xfrm>
          <a:prstGeom prst="rect">
            <a:avLst/>
          </a:prstGeom>
          <a:noFill/>
        </p:spPr>
        <p:txBody>
          <a:bodyPr wrap="square" rtlCol="0">
            <a:spAutoFit/>
          </a:bodyPr>
          <a:lstStyle/>
          <a:p>
            <a:pPr marL="285750" lvl="0" indent="-285750">
              <a:buFont typeface="Arial" panose="020B0604020202020204" pitchFamily="34" charset="0"/>
              <a:buChar char="•"/>
            </a:pPr>
            <a:r>
              <a:rPr lang="vi-VN" dirty="0"/>
              <a:t>Phát triển các ứng dụng dựa trên Spring một cách tiết kiệm thời gian và dễ dàng.</a:t>
            </a:r>
            <a:endParaRPr lang="en-US" dirty="0"/>
          </a:p>
        </p:txBody>
      </p:sp>
      <p:sp>
        <p:nvSpPr>
          <p:cNvPr id="8" name="テキスト ボックス 7"/>
          <p:cNvSpPr txBox="1"/>
          <p:nvPr/>
        </p:nvSpPr>
        <p:spPr>
          <a:xfrm>
            <a:off x="1133463" y="2473052"/>
            <a:ext cx="7400925" cy="646331"/>
          </a:xfrm>
          <a:prstGeom prst="rect">
            <a:avLst/>
          </a:prstGeom>
          <a:noFill/>
        </p:spPr>
        <p:txBody>
          <a:bodyPr wrap="square" rtlCol="0">
            <a:spAutoFit/>
          </a:bodyPr>
          <a:lstStyle/>
          <a:p>
            <a:pPr marL="285750" lvl="0" indent="-285750">
              <a:buFont typeface="Arial" panose="020B0604020202020204" pitchFamily="34" charset="0"/>
              <a:buChar char="•"/>
            </a:pPr>
            <a:r>
              <a:rPr lang="vi-VN" dirty="0"/>
              <a:t>Các máy chủ nhúng được tạo sẵn (Tomcat, Jetty và Undertow), dẫn đến việc triển khai ứng dụng được tăng tốc và hiệu quả hơn.</a:t>
            </a:r>
            <a:endParaRPr lang="en-US" dirty="0"/>
          </a:p>
        </p:txBody>
      </p:sp>
      <p:sp>
        <p:nvSpPr>
          <p:cNvPr id="9" name="テキスト ボックス 8"/>
          <p:cNvSpPr txBox="1"/>
          <p:nvPr/>
        </p:nvSpPr>
        <p:spPr>
          <a:xfrm>
            <a:off x="1133462" y="4337636"/>
            <a:ext cx="7400925" cy="369332"/>
          </a:xfrm>
          <a:prstGeom prst="rect">
            <a:avLst/>
          </a:prstGeom>
          <a:noFill/>
        </p:spPr>
        <p:txBody>
          <a:bodyPr wrap="square" rtlCol="0">
            <a:spAutoFit/>
          </a:bodyPr>
          <a:lstStyle/>
          <a:p>
            <a:pPr marL="285750" lvl="0" indent="-285750">
              <a:buFont typeface="Arial" panose="020B0604020202020204" pitchFamily="34" charset="0"/>
              <a:buChar char="•"/>
            </a:pPr>
            <a:r>
              <a:rPr lang="vi-VN" dirty="0"/>
              <a:t>Tích hợp trơn tru với hệ sinh thái Spring</a:t>
            </a:r>
            <a:endParaRPr lang="en-US" dirty="0"/>
          </a:p>
        </p:txBody>
      </p:sp>
      <p:sp>
        <p:nvSpPr>
          <p:cNvPr id="10" name="テキスト ボックス 9"/>
          <p:cNvSpPr txBox="1"/>
          <p:nvPr/>
        </p:nvSpPr>
        <p:spPr>
          <a:xfrm>
            <a:off x="1133465" y="1776051"/>
            <a:ext cx="7400925" cy="646331"/>
          </a:xfrm>
          <a:prstGeom prst="rect">
            <a:avLst/>
          </a:prstGeom>
          <a:noFill/>
        </p:spPr>
        <p:txBody>
          <a:bodyPr wrap="square" rtlCol="0">
            <a:spAutoFit/>
          </a:bodyPr>
          <a:lstStyle/>
          <a:p>
            <a:pPr marL="285750" lvl="0" indent="-285750">
              <a:buFont typeface="Arial" panose="020B0604020202020204" pitchFamily="34" charset="0"/>
              <a:buChar char="•"/>
            </a:pPr>
            <a:r>
              <a:rPr lang="en-US" dirty="0" err="1"/>
              <a:t>Tự</a:t>
            </a:r>
            <a:r>
              <a:rPr lang="en-US" dirty="0"/>
              <a:t> </a:t>
            </a:r>
            <a:r>
              <a:rPr lang="en-US" dirty="0" err="1"/>
              <a:t>động</a:t>
            </a:r>
            <a:r>
              <a:rPr lang="en-US" dirty="0"/>
              <a:t> </a:t>
            </a:r>
            <a:r>
              <a:rPr lang="en-US" dirty="0" err="1"/>
              <a:t>cấu</a:t>
            </a:r>
            <a:r>
              <a:rPr lang="en-US" dirty="0"/>
              <a:t> </a:t>
            </a:r>
            <a:r>
              <a:rPr lang="en-US" dirty="0" err="1"/>
              <a:t>hình</a:t>
            </a:r>
            <a:r>
              <a:rPr lang="en-US" dirty="0"/>
              <a:t> </a:t>
            </a:r>
            <a:r>
              <a:rPr lang="en-US" dirty="0" err="1"/>
              <a:t>tất</a:t>
            </a:r>
            <a:r>
              <a:rPr lang="en-US" dirty="0"/>
              <a:t> </a:t>
            </a:r>
            <a:r>
              <a:rPr lang="en-US" dirty="0" err="1"/>
              <a:t>cả</a:t>
            </a:r>
            <a:r>
              <a:rPr lang="en-US" dirty="0"/>
              <a:t> </a:t>
            </a:r>
            <a:r>
              <a:rPr lang="en-US" dirty="0" err="1"/>
              <a:t>các</a:t>
            </a:r>
            <a:r>
              <a:rPr lang="en-US" dirty="0"/>
              <a:t> components </a:t>
            </a:r>
            <a:r>
              <a:rPr lang="en-US" dirty="0" err="1"/>
              <a:t>cho</a:t>
            </a:r>
            <a:r>
              <a:rPr lang="en-US" dirty="0"/>
              <a:t> </a:t>
            </a:r>
            <a:r>
              <a:rPr lang="en-US" dirty="0" err="1"/>
              <a:t>một</a:t>
            </a:r>
            <a:r>
              <a:rPr lang="en-US" dirty="0"/>
              <a:t> </a:t>
            </a:r>
            <a:r>
              <a:rPr lang="en-US" dirty="0" err="1"/>
              <a:t>ứng</a:t>
            </a:r>
            <a:r>
              <a:rPr lang="en-US" dirty="0"/>
              <a:t> </a:t>
            </a:r>
            <a:r>
              <a:rPr lang="en-US" dirty="0" err="1"/>
              <a:t>dụng</a:t>
            </a:r>
            <a:r>
              <a:rPr lang="en-US" dirty="0"/>
              <a:t> Spring </a:t>
            </a:r>
            <a:r>
              <a:rPr lang="en-US" dirty="0" err="1"/>
              <a:t>cấp</a:t>
            </a:r>
            <a:r>
              <a:rPr lang="en-US" dirty="0"/>
              <a:t> </a:t>
            </a:r>
            <a:r>
              <a:rPr lang="en-US" dirty="0" err="1"/>
              <a:t>sản</a:t>
            </a:r>
            <a:r>
              <a:rPr lang="en-US" dirty="0"/>
              <a:t> </a:t>
            </a:r>
            <a:r>
              <a:rPr lang="en-US" dirty="0" err="1"/>
              <a:t>xuất</a:t>
            </a:r>
            <a:r>
              <a:rPr lang="en-US" dirty="0"/>
              <a:t>.</a:t>
            </a:r>
          </a:p>
        </p:txBody>
      </p:sp>
      <p:sp>
        <p:nvSpPr>
          <p:cNvPr id="11" name="テキスト ボックス 10"/>
          <p:cNvSpPr txBox="1"/>
          <p:nvPr/>
        </p:nvSpPr>
        <p:spPr>
          <a:xfrm>
            <a:off x="1133462" y="4767281"/>
            <a:ext cx="7400925" cy="369332"/>
          </a:xfrm>
          <a:prstGeom prst="rect">
            <a:avLst/>
          </a:prstGeom>
          <a:noFill/>
        </p:spPr>
        <p:txBody>
          <a:bodyPr wrap="square" rtlCol="0">
            <a:spAutoFit/>
          </a:bodyPr>
          <a:lstStyle/>
          <a:p>
            <a:pPr marL="285750" lvl="0" indent="-285750">
              <a:buFont typeface="Arial" panose="020B0604020202020204" pitchFamily="34" charset="0"/>
              <a:buChar char="•"/>
            </a:pPr>
            <a:r>
              <a:rPr lang="en-US" dirty="0" err="1"/>
              <a:t>Giúp</a:t>
            </a:r>
            <a:r>
              <a:rPr lang="en-US" dirty="0"/>
              <a:t> </a:t>
            </a:r>
            <a:r>
              <a:rPr lang="en-US" dirty="0" err="1"/>
              <a:t>cung</a:t>
            </a:r>
            <a:r>
              <a:rPr lang="en-US" dirty="0"/>
              <a:t> </a:t>
            </a:r>
            <a:r>
              <a:rPr lang="en-US" dirty="0" err="1"/>
              <a:t>cấp</a:t>
            </a:r>
            <a:r>
              <a:rPr lang="en-US" dirty="0"/>
              <a:t> </a:t>
            </a:r>
            <a:r>
              <a:rPr lang="en-US" dirty="0" err="1"/>
              <a:t>nhiều</a:t>
            </a:r>
            <a:r>
              <a:rPr lang="en-US" dirty="0"/>
              <a:t> plugin</a:t>
            </a:r>
          </a:p>
        </p:txBody>
      </p:sp>
      <p:sp>
        <p:nvSpPr>
          <p:cNvPr id="12" name="テキスト ボックス 11"/>
          <p:cNvSpPr txBox="1"/>
          <p:nvPr/>
        </p:nvSpPr>
        <p:spPr>
          <a:xfrm>
            <a:off x="1133463" y="3691305"/>
            <a:ext cx="7400925" cy="646331"/>
          </a:xfrm>
          <a:prstGeom prst="rect">
            <a:avLst/>
          </a:prstGeom>
          <a:noFill/>
        </p:spPr>
        <p:txBody>
          <a:bodyPr wrap="square" rtlCol="0">
            <a:spAutoFit/>
          </a:bodyPr>
          <a:lstStyle/>
          <a:p>
            <a:pPr marL="285750" lvl="0" indent="-285750">
              <a:buFont typeface="Arial" panose="020B0604020202020204" pitchFamily="34" charset="0"/>
              <a:buChar char="•"/>
            </a:pPr>
            <a:r>
              <a:rPr lang="vi-VN" dirty="0"/>
              <a:t>Dễ dàng truy cập cơ sở dữ liệu và các dịch vụ hàng đợi như MySQL, Oracle, MongoDB, Redis, ActiveMQ và các dịch vụ khác</a:t>
            </a:r>
            <a:endParaRPr lang="en-US" dirty="0"/>
          </a:p>
        </p:txBody>
      </p:sp>
      <p:sp>
        <p:nvSpPr>
          <p:cNvPr id="13" name="テキスト ボックス 12"/>
          <p:cNvSpPr txBox="1"/>
          <p:nvPr/>
        </p:nvSpPr>
        <p:spPr>
          <a:xfrm>
            <a:off x="1133463" y="3279839"/>
            <a:ext cx="7400925" cy="369332"/>
          </a:xfrm>
          <a:prstGeom prst="rect">
            <a:avLst/>
          </a:prstGeom>
          <a:noFill/>
        </p:spPr>
        <p:txBody>
          <a:bodyPr wrap="square" rtlCol="0">
            <a:spAutoFit/>
          </a:bodyPr>
          <a:lstStyle/>
          <a:p>
            <a:pPr marL="285750" lvl="0" indent="-285750">
              <a:buFont typeface="Arial" panose="020B0604020202020204" pitchFamily="34" charset="0"/>
              <a:buChar char="•"/>
            </a:pPr>
            <a:r>
              <a:rPr lang="en-US" dirty="0" err="1"/>
              <a:t>Không</a:t>
            </a:r>
            <a:r>
              <a:rPr lang="en-US" dirty="0"/>
              <a:t> </a:t>
            </a:r>
            <a:r>
              <a:rPr lang="en-US" dirty="0" err="1"/>
              <a:t>có</a:t>
            </a:r>
            <a:r>
              <a:rPr lang="en-US" dirty="0"/>
              <a:t> </a:t>
            </a:r>
            <a:r>
              <a:rPr lang="en-US" dirty="0" err="1"/>
              <a:t>cấu</a:t>
            </a:r>
            <a:r>
              <a:rPr lang="en-US" dirty="0"/>
              <a:t> </a:t>
            </a:r>
            <a:r>
              <a:rPr lang="en-US" dirty="0" err="1"/>
              <a:t>hình</a:t>
            </a:r>
            <a:r>
              <a:rPr lang="en-US" dirty="0"/>
              <a:t> XML</a:t>
            </a:r>
          </a:p>
        </p:txBody>
      </p:sp>
    </p:spTree>
    <p:extLst>
      <p:ext uri="{BB962C8B-B14F-4D97-AF65-F5344CB8AC3E}">
        <p14:creationId xmlns:p14="http://schemas.microsoft.com/office/powerpoint/2010/main" val="239222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6"/>
          <p:cNvSpPr txBox="1">
            <a:spLocks/>
          </p:cNvSpPr>
          <p:nvPr/>
        </p:nvSpPr>
        <p:spPr>
          <a:xfrm>
            <a:off x="849842" y="209549"/>
            <a:ext cx="7766936" cy="421811"/>
          </a:xfrm>
          <a:prstGeom prst="rect">
            <a:avLst/>
          </a:prstGeom>
        </p:spPr>
        <p:txBody>
          <a:bodyPr vert="horz" lIns="91440" tIns="45720" rIns="91440" bIns="45720"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latin typeface="Arial" panose="020B0604020202020204" pitchFamily="34" charset="0"/>
                <a:cs typeface="Arial" panose="020B0604020202020204" pitchFamily="34" charset="0"/>
              </a:rPr>
              <a:t>2. </a:t>
            </a:r>
            <a:r>
              <a:rPr lang="en-US" sz="2800" b="1" dirty="0" err="1">
                <a:solidFill>
                  <a:schemeClr val="tx1"/>
                </a:solidFill>
                <a:latin typeface="Arial" panose="020B0604020202020204" pitchFamily="34" charset="0"/>
                <a:cs typeface="Arial" panose="020B0604020202020204" pitchFamily="34" charset="0"/>
              </a:rPr>
              <a:t>Nhược</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điểm</a:t>
            </a:r>
            <a:r>
              <a:rPr lang="en-US" sz="2800" b="1" dirty="0">
                <a:solidFill>
                  <a:schemeClr val="tx1"/>
                </a:solidFill>
                <a:latin typeface="Arial" panose="020B0604020202020204" pitchFamily="34" charset="0"/>
                <a:cs typeface="Arial" panose="020B0604020202020204" pitchFamily="34" charset="0"/>
              </a:rPr>
              <a:t> </a:t>
            </a:r>
            <a:r>
              <a:rPr lang="en-US" sz="2800" b="1" dirty="0" err="1">
                <a:solidFill>
                  <a:schemeClr val="tx1"/>
                </a:solidFill>
                <a:latin typeface="Arial" panose="020B0604020202020204" pitchFamily="34" charset="0"/>
                <a:cs typeface="Arial" panose="020B0604020202020204" pitchFamily="34" charset="0"/>
              </a:rPr>
              <a:t>của</a:t>
            </a:r>
            <a:r>
              <a:rPr lang="en-US" sz="2800" b="1" dirty="0">
                <a:solidFill>
                  <a:schemeClr val="tx1"/>
                </a:solidFill>
                <a:latin typeface="Arial" panose="020B0604020202020204" pitchFamily="34" charset="0"/>
                <a:cs typeface="Arial" panose="020B0604020202020204" pitchFamily="34" charset="0"/>
              </a:rPr>
              <a:t> Spring Boot</a:t>
            </a:r>
          </a:p>
        </p:txBody>
      </p:sp>
      <p:sp>
        <p:nvSpPr>
          <p:cNvPr id="10" name="正方形/長方形 9"/>
          <p:cNvSpPr/>
          <p:nvPr/>
        </p:nvSpPr>
        <p:spPr>
          <a:xfrm>
            <a:off x="1196594" y="739259"/>
            <a:ext cx="2101857" cy="369332"/>
          </a:xfrm>
          <a:prstGeom prst="rect">
            <a:avLst/>
          </a:prstGeom>
        </p:spPr>
        <p:txBody>
          <a:bodyPr wrap="none">
            <a:spAutoFit/>
          </a:bodyPr>
          <a:lstStyle/>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Thiếu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kiểm</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soát</a:t>
            </a:r>
            <a:endParaRPr lang="en-US" i="0" dirty="0">
              <a:effectLst/>
              <a:latin typeface="Arial" panose="020B0604020202020204" pitchFamily="34" charset="0"/>
              <a:cs typeface="Arial" panose="020B0604020202020204" pitchFamily="34" charset="0"/>
            </a:endParaRPr>
          </a:p>
        </p:txBody>
      </p:sp>
      <p:sp>
        <p:nvSpPr>
          <p:cNvPr id="11" name="正方形/長方形 10"/>
          <p:cNvSpPr/>
          <p:nvPr/>
        </p:nvSpPr>
        <p:spPr>
          <a:xfrm>
            <a:off x="1196594" y="1216490"/>
            <a:ext cx="4871847" cy="369332"/>
          </a:xfrm>
          <a:prstGeom prst="rect">
            <a:avLst/>
          </a:prstGeom>
        </p:spPr>
        <p:txBody>
          <a:bodyPr wrap="none">
            <a:spAutoFit/>
          </a:bodyPr>
          <a:lstStyle/>
          <a:p>
            <a:pPr marL="285750" indent="-285750">
              <a:buFont typeface="Arial" panose="020B0604020202020204" pitchFamily="34" charset="0"/>
              <a:buChar char="•"/>
            </a:pPr>
            <a:r>
              <a:rPr lang="en-US" dirty="0" err="1"/>
              <a:t>Không</a:t>
            </a:r>
            <a:r>
              <a:rPr lang="en-US" dirty="0"/>
              <a:t> </a:t>
            </a:r>
            <a:r>
              <a:rPr lang="en-US" dirty="0" err="1"/>
              <a:t>thích</a:t>
            </a:r>
            <a:r>
              <a:rPr lang="en-US" dirty="0"/>
              <a:t> </a:t>
            </a:r>
            <a:r>
              <a:rPr lang="en-US" dirty="0" err="1"/>
              <a:t>hợp</a:t>
            </a:r>
            <a:r>
              <a:rPr lang="en-US" dirty="0"/>
              <a:t> </a:t>
            </a:r>
            <a:r>
              <a:rPr lang="en-US" dirty="0" err="1"/>
              <a:t>cho</a:t>
            </a:r>
            <a:r>
              <a:rPr lang="en-US" dirty="0"/>
              <a:t> </a:t>
            </a:r>
            <a:r>
              <a:rPr lang="en-US" dirty="0" err="1"/>
              <a:t>các</a:t>
            </a:r>
            <a:r>
              <a:rPr lang="en-US" dirty="0"/>
              <a:t> </a:t>
            </a:r>
            <a:r>
              <a:rPr lang="en-US" dirty="0" err="1"/>
              <a:t>dự</a:t>
            </a:r>
            <a:r>
              <a:rPr lang="en-US" dirty="0"/>
              <a:t> </a:t>
            </a:r>
            <a:r>
              <a:rPr lang="en-US" dirty="0" err="1"/>
              <a:t>án</a:t>
            </a:r>
            <a:r>
              <a:rPr lang="en-US" dirty="0"/>
              <a:t> </a:t>
            </a:r>
            <a:r>
              <a:rPr lang="en-US" dirty="0" err="1"/>
              <a:t>quy</a:t>
            </a:r>
            <a:r>
              <a:rPr lang="en-US" dirty="0"/>
              <a:t> </a:t>
            </a:r>
            <a:r>
              <a:rPr lang="en-US" dirty="0" err="1"/>
              <a:t>mô</a:t>
            </a:r>
            <a:r>
              <a:rPr lang="en-US" dirty="0"/>
              <a:t> </a:t>
            </a:r>
            <a:r>
              <a:rPr lang="en-US" dirty="0" err="1"/>
              <a:t>lớn</a:t>
            </a:r>
            <a:endParaRPr lang="en-US" i="0" dirty="0">
              <a:solidFill>
                <a:srgbClr val="464646"/>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23203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reating your first Spring boot Application | by Mohammed Rishard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82475" cy="6862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114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849842" y="209549"/>
            <a:ext cx="7766936" cy="421811"/>
          </a:xfrm>
          <a:prstGeom prst="rect">
            <a:avLst/>
          </a:prstGeom>
        </p:spPr>
        <p:txBody>
          <a:bodyPr vert="horz" lIns="91440" tIns="45720" rIns="91440" bIns="45720"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latin typeface="Arial" panose="020B0604020202020204" pitchFamily="34" charset="0"/>
                <a:cs typeface="Arial" panose="020B0604020202020204" pitchFamily="34" charset="0"/>
              </a:rPr>
              <a:t>1. Spring </a:t>
            </a:r>
            <a:r>
              <a:rPr lang="en-US" sz="2800" b="1" dirty="0" err="1">
                <a:solidFill>
                  <a:schemeClr val="tx1"/>
                </a:solidFill>
                <a:latin typeface="Arial" panose="020B0604020202020204" pitchFamily="34" charset="0"/>
                <a:cs typeface="Arial" panose="020B0604020202020204" pitchFamily="34" charset="0"/>
              </a:rPr>
              <a:t>initializr</a:t>
            </a:r>
            <a:r>
              <a:rPr lang="en-US" sz="2800" b="1" dirty="0">
                <a:solidFill>
                  <a:schemeClr val="tx1"/>
                </a:solidFill>
                <a:latin typeface="Arial" panose="020B0604020202020204" pitchFamily="34" charset="0"/>
                <a:cs typeface="Arial" panose="020B0604020202020204" pitchFamily="34" charset="0"/>
              </a:rPr>
              <a:t> </a:t>
            </a:r>
          </a:p>
        </p:txBody>
      </p:sp>
      <p:sp>
        <p:nvSpPr>
          <p:cNvPr id="5" name="正方形/長方形 4"/>
          <p:cNvSpPr/>
          <p:nvPr/>
        </p:nvSpPr>
        <p:spPr>
          <a:xfrm>
            <a:off x="533399" y="631360"/>
            <a:ext cx="8181975" cy="685059"/>
          </a:xfrm>
          <a:prstGeom prst="rect">
            <a:avLst/>
          </a:prstGeom>
        </p:spPr>
        <p:txBody>
          <a:bodyPr wrap="square">
            <a:spAutoFit/>
          </a:bodyPr>
          <a:lstStyle/>
          <a:p>
            <a:pPr marL="742950" indent="-285750">
              <a:lnSpc>
                <a:spcPct val="107000"/>
              </a:lnSpc>
              <a:spcAft>
                <a:spcPts val="800"/>
              </a:spcAft>
              <a:buFont typeface="Arial" panose="020B0604020202020204" pitchFamily="34" charset="0"/>
              <a:buChar char="-"/>
            </a:pPr>
            <a:r>
              <a:rPr lang="en-US" dirty="0">
                <a:latin typeface="Arial" panose="020B0604020202020204" pitchFamily="34" charset="0"/>
                <a:ea typeface="ＭＳ 明朝" panose="02020609040205080304" pitchFamily="17" charset="-128"/>
                <a:cs typeface="Times New Roman" panose="02020603050405020304" pitchFamily="18" charset="0"/>
              </a:rPr>
              <a:t>Spring </a:t>
            </a:r>
            <a:r>
              <a:rPr lang="en-US" dirty="0" err="1">
                <a:latin typeface="Arial" panose="020B0604020202020204" pitchFamily="34" charset="0"/>
                <a:ea typeface="ＭＳ 明朝" panose="02020609040205080304" pitchFamily="17" charset="-128"/>
                <a:cs typeface="Times New Roman" panose="02020603050405020304" pitchFamily="18" charset="0"/>
              </a:rPr>
              <a:t>initializr</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là</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công</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cụ</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hỗ</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trợ</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nhanh</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chóng</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việc</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khởi</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tạo</a:t>
            </a:r>
            <a:r>
              <a:rPr lang="en-US" dirty="0">
                <a:latin typeface="Arial" panose="020B0604020202020204" pitchFamily="34" charset="0"/>
                <a:ea typeface="ＭＳ 明朝" panose="02020609040205080304" pitchFamily="17" charset="-128"/>
                <a:cs typeface="Times New Roman" panose="02020603050405020304" pitchFamily="18" charset="0"/>
              </a:rPr>
              <a:t> project. Spring </a:t>
            </a:r>
            <a:r>
              <a:rPr lang="en-US" dirty="0" err="1">
                <a:latin typeface="Arial" panose="020B0604020202020204" pitchFamily="34" charset="0"/>
                <a:ea typeface="ＭＳ 明朝" panose="02020609040205080304" pitchFamily="17" charset="-128"/>
                <a:cs typeface="Times New Roman" panose="02020603050405020304" pitchFamily="18" charset="0"/>
              </a:rPr>
              <a:t>initializr</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có</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thể</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truy</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cập</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trên</a:t>
            </a:r>
            <a:r>
              <a:rPr lang="en-US" dirty="0">
                <a:latin typeface="Arial" panose="020B0604020202020204" pitchFamily="34" charset="0"/>
                <a:ea typeface="ＭＳ 明朝" panose="02020609040205080304" pitchFamily="17" charset="-128"/>
                <a:cs typeface="Times New Roman" panose="02020603050405020304" pitchFamily="18" charset="0"/>
              </a:rPr>
              <a:t> web </a:t>
            </a:r>
            <a:r>
              <a:rPr lang="en-US" dirty="0" err="1">
                <a:latin typeface="Arial" panose="020B0604020202020204" pitchFamily="34" charset="0"/>
                <a:ea typeface="ＭＳ 明朝" panose="02020609040205080304" pitchFamily="17" charset="-128"/>
                <a:cs typeface="Times New Roman" panose="02020603050405020304" pitchFamily="18" charset="0"/>
              </a:rPr>
              <a:t>tại</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u="sng" dirty="0">
                <a:solidFill>
                  <a:srgbClr val="0563C1"/>
                </a:solidFill>
                <a:latin typeface="Arial" panose="020B0604020202020204" pitchFamily="34" charset="0"/>
                <a:ea typeface="ＭＳ 明朝" panose="02020609040205080304" pitchFamily="17" charset="-128"/>
                <a:cs typeface="Times New Roman" panose="02020603050405020304" pitchFamily="18" charset="0"/>
                <a:hlinkClick r:id="rId3"/>
              </a:rPr>
              <a:t>https://start.spring.io/</a:t>
            </a:r>
            <a:endParaRPr lang="en-US" sz="1400"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7" name="図 6"/>
          <p:cNvPicPr/>
          <p:nvPr/>
        </p:nvPicPr>
        <p:blipFill>
          <a:blip r:embed="rId4"/>
          <a:stretch>
            <a:fillRect/>
          </a:stretch>
        </p:blipFill>
        <p:spPr>
          <a:xfrm>
            <a:off x="747713" y="1414380"/>
            <a:ext cx="8682038" cy="4702898"/>
          </a:xfrm>
          <a:prstGeom prst="rect">
            <a:avLst/>
          </a:prstGeom>
        </p:spPr>
      </p:pic>
    </p:spTree>
    <p:extLst>
      <p:ext uri="{BB962C8B-B14F-4D97-AF65-F5344CB8AC3E}">
        <p14:creationId xmlns:p14="http://schemas.microsoft.com/office/powerpoint/2010/main" val="174022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2" y="209549"/>
            <a:ext cx="7766936" cy="421811"/>
          </a:xfrm>
          <a:prstGeom prst="rect">
            <a:avLst/>
          </a:prstGeom>
        </p:spPr>
        <p:txBody>
          <a:bodyPr vert="horz" lIns="91440" tIns="45720" rIns="91440" bIns="45720"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latin typeface="Arial" panose="020B0604020202020204" pitchFamily="34" charset="0"/>
                <a:cs typeface="Arial" panose="020B0604020202020204" pitchFamily="34" charset="0"/>
              </a:rPr>
              <a:t>2.	Generate project </a:t>
            </a:r>
          </a:p>
        </p:txBody>
      </p:sp>
      <p:grpSp>
        <p:nvGrpSpPr>
          <p:cNvPr id="9" name="グループ化 8"/>
          <p:cNvGrpSpPr/>
          <p:nvPr/>
        </p:nvGrpSpPr>
        <p:grpSpPr>
          <a:xfrm>
            <a:off x="656610" y="631360"/>
            <a:ext cx="8820765" cy="4807415"/>
            <a:chOff x="656610" y="631360"/>
            <a:chExt cx="8820765" cy="4807415"/>
          </a:xfrm>
        </p:grpSpPr>
        <p:pic>
          <p:nvPicPr>
            <p:cNvPr id="8" name="図 7"/>
            <p:cNvPicPr>
              <a:picLocks noChangeAspect="1"/>
            </p:cNvPicPr>
            <p:nvPr/>
          </p:nvPicPr>
          <p:blipFill>
            <a:blip r:embed="rId3"/>
            <a:stretch>
              <a:fillRect/>
            </a:stretch>
          </p:blipFill>
          <p:spPr>
            <a:xfrm>
              <a:off x="762000" y="631360"/>
              <a:ext cx="8715375" cy="4720828"/>
            </a:xfrm>
            <a:prstGeom prst="rect">
              <a:avLst/>
            </a:prstGeom>
          </p:spPr>
        </p:pic>
        <p:grpSp>
          <p:nvGrpSpPr>
            <p:cNvPr id="7" name="グループ化 6"/>
            <p:cNvGrpSpPr/>
            <p:nvPr/>
          </p:nvGrpSpPr>
          <p:grpSpPr>
            <a:xfrm>
              <a:off x="656610" y="4743450"/>
              <a:ext cx="4038600" cy="695325"/>
              <a:chOff x="676275" y="4905375"/>
              <a:chExt cx="4038600" cy="695325"/>
            </a:xfrm>
          </p:grpSpPr>
          <p:sp>
            <p:nvSpPr>
              <p:cNvPr id="4" name="正方形/長方形 3"/>
              <p:cNvSpPr/>
              <p:nvPr/>
            </p:nvSpPr>
            <p:spPr>
              <a:xfrm>
                <a:off x="3733800" y="4905375"/>
                <a:ext cx="981075" cy="2381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正方形/長方形 5"/>
              <p:cNvSpPr/>
              <p:nvPr/>
            </p:nvSpPr>
            <p:spPr>
              <a:xfrm>
                <a:off x="676275" y="5248275"/>
                <a:ext cx="1171575" cy="3524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92398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2" y="209549"/>
            <a:ext cx="7766936" cy="421811"/>
          </a:xfrm>
          <a:prstGeom prst="rect">
            <a:avLst/>
          </a:prstGeom>
        </p:spPr>
        <p:txBody>
          <a:bodyPr vert="horz" lIns="91440" tIns="45720" rIns="91440" bIns="45720" rtlCol="0" anchor="t">
            <a:normAutofit fontScale="9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solidFill>
                  <a:schemeClr val="tx1"/>
                </a:solidFill>
                <a:latin typeface="Arial" panose="020B0604020202020204" pitchFamily="34" charset="0"/>
                <a:cs typeface="Arial" panose="020B0604020202020204" pitchFamily="34" charset="0"/>
              </a:rPr>
              <a:t>3.	Import project</a:t>
            </a:r>
          </a:p>
        </p:txBody>
      </p:sp>
      <p:sp>
        <p:nvSpPr>
          <p:cNvPr id="3" name="テキスト ボックス 2"/>
          <p:cNvSpPr txBox="1"/>
          <p:nvPr/>
        </p:nvSpPr>
        <p:spPr>
          <a:xfrm>
            <a:off x="1133475" y="704850"/>
            <a:ext cx="7400925" cy="646331"/>
          </a:xfrm>
          <a:prstGeom prst="rect">
            <a:avLst/>
          </a:prstGeom>
          <a:noFill/>
        </p:spPr>
        <p:txBody>
          <a:bodyPr wrap="square" rtlCol="0">
            <a:spAutoFit/>
          </a:bodyPr>
          <a:lstStyle/>
          <a:p>
            <a:pPr marL="285750" indent="-285750">
              <a:buFont typeface="Arial" panose="020B0604020202020204" pitchFamily="34" charset="0"/>
              <a:buChar char="•"/>
            </a:pPr>
            <a:r>
              <a:rPr lang="en-US" dirty="0"/>
              <a:t>Import </a:t>
            </a:r>
            <a:r>
              <a:rPr lang="en-US" dirty="0" err="1"/>
              <a:t>trên</a:t>
            </a:r>
            <a:r>
              <a:rPr lang="en-US" dirty="0"/>
              <a:t> eclipse: File -&gt; Import -&gt; Existing </a:t>
            </a:r>
            <a:r>
              <a:rPr lang="en-US" dirty="0" err="1"/>
              <a:t>Gradle</a:t>
            </a:r>
            <a:r>
              <a:rPr lang="en-US" dirty="0"/>
              <a:t> Projects -&gt; Browse -&gt; </a:t>
            </a:r>
            <a:r>
              <a:rPr lang="en-US" dirty="0" err="1"/>
              <a:t>Chọn</a:t>
            </a:r>
            <a:r>
              <a:rPr lang="en-US" dirty="0"/>
              <a:t> </a:t>
            </a:r>
            <a:r>
              <a:rPr lang="en-US" dirty="0" err="1"/>
              <a:t>tên</a:t>
            </a:r>
            <a:r>
              <a:rPr lang="en-US" dirty="0"/>
              <a:t> </a:t>
            </a:r>
            <a:r>
              <a:rPr lang="en-US" dirty="0" err="1"/>
              <a:t>thư</a:t>
            </a:r>
            <a:r>
              <a:rPr lang="en-US" dirty="0"/>
              <a:t> </a:t>
            </a:r>
            <a:r>
              <a:rPr lang="en-US" dirty="0" err="1"/>
              <a:t>mục</a:t>
            </a:r>
            <a:r>
              <a:rPr lang="en-US" dirty="0"/>
              <a:t> </a:t>
            </a:r>
            <a:r>
              <a:rPr lang="en-US" dirty="0" err="1"/>
              <a:t>chứa</a:t>
            </a:r>
            <a:r>
              <a:rPr lang="en-US" dirty="0"/>
              <a:t> project -&gt; Finish</a:t>
            </a:r>
          </a:p>
        </p:txBody>
      </p:sp>
      <p:pic>
        <p:nvPicPr>
          <p:cNvPr id="5" name="図 4"/>
          <p:cNvPicPr>
            <a:picLocks noChangeAspect="1"/>
          </p:cNvPicPr>
          <p:nvPr/>
        </p:nvPicPr>
        <p:blipFill>
          <a:blip r:embed="rId3"/>
          <a:stretch>
            <a:fillRect/>
          </a:stretch>
        </p:blipFill>
        <p:spPr>
          <a:xfrm>
            <a:off x="1276143" y="1424671"/>
            <a:ext cx="3720927" cy="5233304"/>
          </a:xfrm>
          <a:prstGeom prst="rect">
            <a:avLst/>
          </a:prstGeom>
        </p:spPr>
      </p:pic>
    </p:spTree>
    <p:extLst>
      <p:ext uri="{BB962C8B-B14F-4D97-AF65-F5344CB8AC3E}">
        <p14:creationId xmlns:p14="http://schemas.microsoft.com/office/powerpoint/2010/main" val="937569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3.1 File </a:t>
            </a:r>
            <a:r>
              <a:rPr lang="en-US" sz="2000" b="1" dirty="0" err="1">
                <a:solidFill>
                  <a:schemeClr val="tx1"/>
                </a:solidFill>
                <a:latin typeface="Arial" panose="020B0604020202020204" pitchFamily="34" charset="0"/>
                <a:cs typeface="Arial" panose="020B0604020202020204" pitchFamily="34" charset="0"/>
              </a:rPr>
              <a:t>build.gradle.kts</a:t>
            </a:r>
            <a:endParaRPr lang="en-US" sz="2000" b="1" dirty="0">
              <a:solidFill>
                <a:schemeClr val="tx1"/>
              </a:solidFill>
              <a:latin typeface="Arial" panose="020B0604020202020204" pitchFamily="34" charset="0"/>
              <a:cs typeface="Arial" panose="020B0604020202020204" pitchFamily="34" charset="0"/>
            </a:endParaRPr>
          </a:p>
        </p:txBody>
      </p:sp>
      <p:grpSp>
        <p:nvGrpSpPr>
          <p:cNvPr id="8" name="グループ化 7"/>
          <p:cNvGrpSpPr/>
          <p:nvPr/>
        </p:nvGrpSpPr>
        <p:grpSpPr>
          <a:xfrm>
            <a:off x="1052068" y="600076"/>
            <a:ext cx="6373114" cy="6134956"/>
            <a:chOff x="1052068" y="600076"/>
            <a:chExt cx="6373114" cy="6134956"/>
          </a:xfrm>
        </p:grpSpPr>
        <p:pic>
          <p:nvPicPr>
            <p:cNvPr id="7" name="図 6"/>
            <p:cNvPicPr>
              <a:picLocks noChangeAspect="1"/>
            </p:cNvPicPr>
            <p:nvPr/>
          </p:nvPicPr>
          <p:blipFill>
            <a:blip r:embed="rId3"/>
            <a:stretch>
              <a:fillRect/>
            </a:stretch>
          </p:blipFill>
          <p:spPr>
            <a:xfrm>
              <a:off x="1052068" y="600076"/>
              <a:ext cx="6373114" cy="6134956"/>
            </a:xfrm>
            <a:prstGeom prst="rect">
              <a:avLst/>
            </a:prstGeom>
          </p:spPr>
        </p:pic>
        <p:sp>
          <p:nvSpPr>
            <p:cNvPr id="4" name="正方形/長方形 3"/>
            <p:cNvSpPr/>
            <p:nvPr/>
          </p:nvSpPr>
          <p:spPr>
            <a:xfrm>
              <a:off x="1238250" y="3600450"/>
              <a:ext cx="5514976" cy="10953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2852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3.2 File </a:t>
            </a:r>
            <a:r>
              <a:rPr lang="en-US" sz="2000" b="1" dirty="0" err="1">
                <a:solidFill>
                  <a:schemeClr val="tx1"/>
                </a:solidFill>
                <a:latin typeface="Arial" panose="020B0604020202020204" pitchFamily="34" charset="0"/>
                <a:cs typeface="Arial" panose="020B0604020202020204" pitchFamily="34" charset="0"/>
              </a:rPr>
              <a:t>ApplicationTrainingApplication.kt</a:t>
            </a:r>
            <a:endParaRPr lang="en-US" sz="2000" b="1" dirty="0">
              <a:solidFill>
                <a:schemeClr val="tx1"/>
              </a:solidFill>
              <a:latin typeface="Arial" panose="020B0604020202020204" pitchFamily="34" charset="0"/>
              <a:cs typeface="Arial" panose="020B0604020202020204" pitchFamily="34" charset="0"/>
            </a:endParaRPr>
          </a:p>
        </p:txBody>
      </p:sp>
      <p:pic>
        <p:nvPicPr>
          <p:cNvPr id="5" name="図 4"/>
          <p:cNvPicPr>
            <a:picLocks noChangeAspect="1"/>
          </p:cNvPicPr>
          <p:nvPr/>
        </p:nvPicPr>
        <p:blipFill>
          <a:blip r:embed="rId3"/>
          <a:stretch>
            <a:fillRect/>
          </a:stretch>
        </p:blipFill>
        <p:spPr>
          <a:xfrm>
            <a:off x="771525" y="962226"/>
            <a:ext cx="8334375" cy="3971373"/>
          </a:xfrm>
          <a:prstGeom prst="rect">
            <a:avLst/>
          </a:prstGeom>
        </p:spPr>
      </p:pic>
      <p:sp>
        <p:nvSpPr>
          <p:cNvPr id="6" name="四角形吹き出し 5"/>
          <p:cNvSpPr/>
          <p:nvPr/>
        </p:nvSpPr>
        <p:spPr>
          <a:xfrm>
            <a:off x="3990975" y="3924300"/>
            <a:ext cx="6915150" cy="685800"/>
          </a:xfrm>
          <a:prstGeom prst="wedgeRectCallout">
            <a:avLst>
              <a:gd name="adj1" fmla="val -45721"/>
              <a:gd name="adj2" fmla="val -98333"/>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Trong Java:</a:t>
            </a:r>
          </a:p>
          <a:p>
            <a:pPr algn="ctr"/>
            <a:r>
              <a:rPr lang="en-US" dirty="0" err="1"/>
              <a:t>SpringApplication.</a:t>
            </a:r>
            <a:r>
              <a:rPr lang="en-US" i="1" dirty="0" err="1"/>
              <a:t>run</a:t>
            </a:r>
            <a:r>
              <a:rPr lang="en-US" i="1" dirty="0"/>
              <a:t>(</a:t>
            </a:r>
            <a:r>
              <a:rPr lang="en-US" i="1" dirty="0" err="1"/>
              <a:t>ApplicationTrainingApplication</a:t>
            </a:r>
            <a:r>
              <a:rPr lang="en-US" b="1" i="1" dirty="0"/>
              <a:t>, </a:t>
            </a:r>
            <a:r>
              <a:rPr lang="en-US" b="1" i="1" dirty="0" err="1"/>
              <a:t>args</a:t>
            </a:r>
            <a:r>
              <a:rPr lang="en-US" b="1" i="1" dirty="0"/>
              <a:t>);</a:t>
            </a:r>
            <a:endParaRPr lang="en-US" dirty="0"/>
          </a:p>
        </p:txBody>
      </p:sp>
      <p:sp>
        <p:nvSpPr>
          <p:cNvPr id="7" name="正方形/長方形 6"/>
          <p:cNvSpPr/>
          <p:nvPr/>
        </p:nvSpPr>
        <p:spPr>
          <a:xfrm>
            <a:off x="1552575" y="3105150"/>
            <a:ext cx="5962650" cy="2952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3261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4. </a:t>
            </a:r>
            <a:r>
              <a:rPr lang="en-US" sz="2000" b="1" dirty="0" err="1">
                <a:solidFill>
                  <a:schemeClr val="tx1"/>
                </a:solidFill>
                <a:latin typeface="Arial" panose="020B0604020202020204" pitchFamily="34" charset="0"/>
                <a:cs typeface="Arial" panose="020B0604020202020204" pitchFamily="34" charset="0"/>
              </a:rPr>
              <a:t>Thực</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hiện</a:t>
            </a:r>
            <a:r>
              <a:rPr lang="en-US" sz="2000" b="1" dirty="0">
                <a:solidFill>
                  <a:schemeClr val="tx1"/>
                </a:solidFill>
                <a:latin typeface="Arial" panose="020B0604020202020204" pitchFamily="34" charset="0"/>
                <a:cs typeface="Arial" panose="020B0604020202020204" pitchFamily="34" charset="0"/>
              </a:rPr>
              <a:t> code </a:t>
            </a:r>
            <a:r>
              <a:rPr lang="en-US" sz="2000" b="1" dirty="0" err="1">
                <a:solidFill>
                  <a:schemeClr val="tx1"/>
                </a:solidFill>
                <a:latin typeface="Arial" panose="020B0604020202020204" pitchFamily="34" charset="0"/>
                <a:cs typeface="Arial" panose="020B0604020202020204" pitchFamily="34" charset="0"/>
              </a:rPr>
              <a:t>chương</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trình</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đơn</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giản</a:t>
            </a:r>
            <a:endParaRPr lang="en-US" sz="2000" b="1" dirty="0">
              <a:solidFill>
                <a:schemeClr val="tx1"/>
              </a:solidFill>
              <a:latin typeface="Arial" panose="020B0604020202020204" pitchFamily="34" charset="0"/>
              <a:cs typeface="Arial" panose="020B0604020202020204" pitchFamily="34" charset="0"/>
            </a:endParaRPr>
          </a:p>
        </p:txBody>
      </p:sp>
      <p:grpSp>
        <p:nvGrpSpPr>
          <p:cNvPr id="9" name="グループ化 8"/>
          <p:cNvGrpSpPr/>
          <p:nvPr/>
        </p:nvGrpSpPr>
        <p:grpSpPr>
          <a:xfrm>
            <a:off x="534457" y="600076"/>
            <a:ext cx="9209617" cy="4505311"/>
            <a:chOff x="534457" y="600076"/>
            <a:chExt cx="9209617" cy="4505311"/>
          </a:xfrm>
        </p:grpSpPr>
        <p:sp>
          <p:nvSpPr>
            <p:cNvPr id="5" name="正方形/長方形 4"/>
            <p:cNvSpPr/>
            <p:nvPr/>
          </p:nvSpPr>
          <p:spPr>
            <a:xfrm>
              <a:off x="534457" y="600076"/>
              <a:ext cx="9114368" cy="619272"/>
            </a:xfrm>
            <a:prstGeom prst="rect">
              <a:avLst/>
            </a:prstGeom>
          </p:spPr>
          <p:txBody>
            <a:bodyPr wrap="square">
              <a:spAutoFit/>
            </a:bodyPr>
            <a:lstStyle/>
            <a:p>
              <a:pPr marL="540385" algn="just">
                <a:lnSpc>
                  <a:spcPct val="107000"/>
                </a:lnSpc>
                <a:spcAft>
                  <a:spcPts val="800"/>
                </a:spcAft>
              </a:pPr>
              <a:r>
                <a:rPr lang="en-US" sz="16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600" dirty="0">
                  <a:latin typeface="Arial" panose="020B0604020202020204" pitchFamily="34" charset="0"/>
                  <a:ea typeface="ＭＳ 明朝" panose="02020609040205080304" pitchFamily="17" charset="-128"/>
                  <a:cs typeface="Times New Roman" panose="02020603050405020304" pitchFamily="18" charset="0"/>
                </a:rPr>
                <a:t> class </a:t>
              </a:r>
              <a:r>
                <a:rPr lang="en-US" sz="1600" dirty="0" err="1">
                  <a:latin typeface="Arial" panose="020B0604020202020204" pitchFamily="34" charset="0"/>
                  <a:ea typeface="ＭＳ 明朝" panose="02020609040205080304" pitchFamily="17" charset="-128"/>
                  <a:cs typeface="Times New Roman" panose="02020603050405020304" pitchFamily="18" charset="0"/>
                </a:rPr>
                <a:t>mới</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tại</a:t>
              </a:r>
              <a:r>
                <a:rPr lang="en-US" sz="1600" dirty="0">
                  <a:latin typeface="Arial" panose="020B0604020202020204" pitchFamily="34" charset="0"/>
                  <a:ea typeface="ＭＳ 明朝" panose="02020609040205080304" pitchFamily="17" charset="-128"/>
                  <a:cs typeface="Times New Roman" panose="02020603050405020304" pitchFamily="18" charset="0"/>
                </a:rPr>
                <a:t> package “</a:t>
              </a:r>
              <a:r>
                <a:rPr lang="en-US" sz="1600" dirty="0" err="1">
                  <a:latin typeface="Arial" panose="020B0604020202020204" pitchFamily="34" charset="0"/>
                  <a:ea typeface="ＭＳ 明朝" panose="02020609040205080304" pitchFamily="17" charset="-128"/>
                  <a:cs typeface="Times New Roman" panose="02020603050405020304" pitchFamily="18" charset="0"/>
                </a:rPr>
                <a:t>usolv.training.application</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bằng</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cách</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chuột</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phải</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vào</a:t>
              </a:r>
              <a:r>
                <a:rPr lang="en-US" sz="1600" dirty="0">
                  <a:latin typeface="Arial" panose="020B0604020202020204" pitchFamily="34" charset="0"/>
                  <a:ea typeface="ＭＳ 明朝" panose="02020609040205080304" pitchFamily="17" charset="-128"/>
                  <a:cs typeface="Times New Roman" panose="02020603050405020304" pitchFamily="18" charset="0"/>
                </a:rPr>
                <a:t> package “</a:t>
              </a:r>
              <a:r>
                <a:rPr lang="en-US" sz="1600" dirty="0" err="1">
                  <a:latin typeface="Arial" panose="020B0604020202020204" pitchFamily="34" charset="0"/>
                  <a:ea typeface="ＭＳ 明朝" panose="02020609040205080304" pitchFamily="17" charset="-128"/>
                  <a:cs typeface="Times New Roman" panose="02020603050405020304" pitchFamily="18" charset="0"/>
                </a:rPr>
                <a:t>usolv.training.application</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chọn</a:t>
              </a:r>
              <a:r>
                <a:rPr lang="en-US" sz="1600" dirty="0">
                  <a:latin typeface="Arial" panose="020B0604020202020204" pitchFamily="34" charset="0"/>
                  <a:ea typeface="ＭＳ 明朝" panose="02020609040205080304" pitchFamily="17" charset="-128"/>
                  <a:cs typeface="Times New Roman" panose="02020603050405020304" pitchFamily="18" charset="0"/>
                </a:rPr>
                <a:t> New -&gt; Class </a:t>
              </a:r>
              <a:r>
                <a:rPr lang="en-US" sz="1600" dirty="0" err="1">
                  <a:latin typeface="Arial" panose="020B0604020202020204" pitchFamily="34" charset="0"/>
                  <a:ea typeface="ＭＳ 明朝" panose="02020609040205080304" pitchFamily="17" charset="-128"/>
                  <a:cs typeface="Times New Roman" panose="02020603050405020304" pitchFamily="18" charset="0"/>
                </a:rPr>
                <a:t>đặt</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tên</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là</a:t>
              </a:r>
              <a:r>
                <a:rPr lang="en-US" sz="1600" dirty="0">
                  <a:latin typeface="Arial" panose="020B0604020202020204" pitchFamily="34" charset="0"/>
                  <a:ea typeface="ＭＳ 明朝" panose="02020609040205080304" pitchFamily="17" charset="-128"/>
                  <a:cs typeface="Times New Roman" panose="02020603050405020304" pitchFamily="18" charset="0"/>
                </a:rPr>
                <a:t> HomeController.java </a:t>
              </a:r>
              <a:r>
                <a:rPr lang="en-US" sz="1600" dirty="0" err="1">
                  <a:latin typeface="Arial" panose="020B0604020202020204" pitchFamily="34" charset="0"/>
                  <a:ea typeface="ＭＳ 明朝" panose="02020609040205080304" pitchFamily="17" charset="-128"/>
                  <a:cs typeface="Times New Roman" panose="02020603050405020304" pitchFamily="18" charset="0"/>
                </a:rPr>
                <a:t>như</a:t>
              </a:r>
              <a:r>
                <a:rPr lang="en-US" sz="1600" dirty="0">
                  <a:latin typeface="Arial" panose="020B0604020202020204" pitchFamily="34" charset="0"/>
                  <a:ea typeface="ＭＳ 明朝" panose="02020609040205080304" pitchFamily="17" charset="-128"/>
                  <a:cs typeface="Times New Roman" panose="02020603050405020304" pitchFamily="18" charset="0"/>
                </a:rPr>
                <a:t> </a:t>
              </a:r>
              <a:r>
                <a:rPr lang="en-US" sz="1600" dirty="0" err="1">
                  <a:latin typeface="Arial" panose="020B0604020202020204" pitchFamily="34" charset="0"/>
                  <a:ea typeface="ＭＳ 明朝" panose="02020609040205080304" pitchFamily="17" charset="-128"/>
                  <a:cs typeface="Times New Roman" panose="02020603050405020304" pitchFamily="18" charset="0"/>
                </a:rPr>
                <a:t>dưới</a:t>
              </a:r>
              <a:r>
                <a:rPr lang="en-US" sz="1600" dirty="0">
                  <a:latin typeface="Arial" panose="020B0604020202020204" pitchFamily="34" charset="0"/>
                  <a:ea typeface="ＭＳ 明朝" panose="02020609040205080304" pitchFamily="17" charset="-128"/>
                  <a:cs typeface="Times New Roman" panose="02020603050405020304" pitchFamily="18" charset="0"/>
                </a:rPr>
                <a:t>:</a:t>
              </a:r>
              <a:endParaRPr lang="en-US" sz="1200" dirty="0">
                <a:effectLst/>
                <a:latin typeface="Calibri" panose="020F0502020204030204" pitchFamily="34" charset="0"/>
                <a:ea typeface="ＭＳ 明朝" panose="02020609040205080304" pitchFamily="17" charset="-128"/>
                <a:cs typeface="Times New Roman" panose="02020603050405020304" pitchFamily="18" charset="0"/>
              </a:endParaRPr>
            </a:p>
          </p:txBody>
        </p:sp>
        <p:sp>
          <p:nvSpPr>
            <p:cNvPr id="6" name="正方形/長方形 5"/>
            <p:cNvSpPr/>
            <p:nvPr/>
          </p:nvSpPr>
          <p:spPr>
            <a:xfrm>
              <a:off x="4124523" y="1275803"/>
              <a:ext cx="5619551" cy="3323987"/>
            </a:xfrm>
            <a:prstGeom prst="rect">
              <a:avLst/>
            </a:prstGeom>
            <a:ln>
              <a:solidFill>
                <a:srgbClr val="FF0000"/>
              </a:solidFill>
            </a:ln>
          </p:spPr>
          <p:txBody>
            <a:bodyPr wrap="square">
              <a:spAutoFit/>
            </a:bodyPr>
            <a:lstStyle/>
            <a:p>
              <a:r>
                <a:rPr lang="en-US" sz="1400" dirty="0">
                  <a:solidFill>
                    <a:srgbClr val="7F0055"/>
                  </a:solidFill>
                  <a:latin typeface="Consolas" panose="020B0609020204030204" pitchFamily="49" charset="0"/>
                </a:rPr>
                <a:t>package</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usolv.training.application</a:t>
              </a:r>
              <a:endParaRPr lang="en-US" sz="1400" dirty="0">
                <a:solidFill>
                  <a:srgbClr val="000000"/>
                </a:solidFill>
                <a:latin typeface="Consolas" panose="020B0609020204030204" pitchFamily="49" charset="0"/>
              </a:endParaRPr>
            </a:p>
            <a:p>
              <a:endParaRPr lang="en-US" sz="1400" dirty="0">
                <a:latin typeface="Consolas" panose="020B0609020204030204" pitchFamily="49" charset="0"/>
              </a:endParaRPr>
            </a:p>
            <a:p>
              <a:r>
                <a:rPr lang="en-US" sz="1400"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org.springframework.web.bind.annotation.</a:t>
              </a:r>
              <a:r>
                <a:rPr lang="en-US" sz="1400" dirty="0" err="1">
                  <a:solidFill>
                    <a:srgbClr val="646464"/>
                  </a:solidFill>
                  <a:latin typeface="Consolas" panose="020B0609020204030204" pitchFamily="49" charset="0"/>
                </a:rPr>
                <a:t>RestController</a:t>
              </a:r>
              <a:endParaRPr lang="en-US" sz="1400" dirty="0">
                <a:solidFill>
                  <a:srgbClr val="646464"/>
                </a:solidFill>
                <a:latin typeface="Consolas" panose="020B0609020204030204" pitchFamily="49" charset="0"/>
              </a:endParaRPr>
            </a:p>
            <a:p>
              <a:r>
                <a:rPr lang="en-US" sz="1400" dirty="0">
                  <a:solidFill>
                    <a:srgbClr val="7F0055"/>
                  </a:solidFill>
                  <a:latin typeface="Consolas" panose="020B0609020204030204" pitchFamily="49" charset="0"/>
                </a:rPr>
                <a:t>import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org.springframework.web.bind.annotation.</a:t>
              </a:r>
              <a:r>
                <a:rPr lang="en-US" sz="1400" dirty="0" err="1">
                  <a:solidFill>
                    <a:srgbClr val="646464"/>
                  </a:solidFill>
                  <a:latin typeface="Consolas" panose="020B0609020204030204" pitchFamily="49" charset="0"/>
                </a:rPr>
                <a:t>GetMapping</a:t>
              </a:r>
              <a:endParaRPr lang="en-US" sz="1400" dirty="0">
                <a:solidFill>
                  <a:srgbClr val="646464"/>
                </a:solidFill>
                <a:latin typeface="Consolas" panose="020B0609020204030204" pitchFamily="49" charset="0"/>
              </a:endParaRPr>
            </a:p>
            <a:p>
              <a:endParaRPr lang="en-US" sz="1400" dirty="0">
                <a:latin typeface="Consolas" panose="020B0609020204030204" pitchFamily="49" charset="0"/>
              </a:endParaRPr>
            </a:p>
            <a:p>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RestController</a:t>
              </a:r>
              <a:endParaRPr lang="en-US" sz="1400" dirty="0">
                <a:solidFill>
                  <a:srgbClr val="646464"/>
                </a:solidFill>
                <a:latin typeface="Consolas" panose="020B0609020204030204" pitchFamily="49" charset="0"/>
              </a:endParaRPr>
            </a:p>
            <a:p>
              <a:r>
                <a:rPr lang="en-US" sz="1400" dirty="0">
                  <a:solidFill>
                    <a:srgbClr val="7F0055"/>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HomeController</a:t>
              </a:r>
              <a:r>
                <a:rPr lang="en-US" sz="1400" dirty="0">
                  <a:solidFill>
                    <a:srgbClr val="000000"/>
                  </a:solidFill>
                  <a:latin typeface="Consolas" panose="020B0609020204030204" pitchFamily="49" charset="0"/>
                </a:rPr>
                <a:t> {</a:t>
              </a:r>
            </a:p>
            <a:p>
              <a:r>
                <a:rPr lang="en-US" sz="1400" dirty="0">
                  <a:solidFill>
                    <a:srgbClr val="646464"/>
                  </a:solidFill>
                  <a:latin typeface="Consolas" panose="020B0609020204030204" pitchFamily="49" charset="0"/>
                </a:rPr>
                <a:t>@</a:t>
              </a:r>
              <a:r>
                <a:rPr lang="en-US" sz="1400" dirty="0" err="1">
                  <a:solidFill>
                    <a:srgbClr val="646464"/>
                  </a:solidFill>
                  <a:latin typeface="Consolas" panose="020B0609020204030204" pitchFamily="49" charset="0"/>
                </a:rPr>
                <a:t>GetMapping</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a:t>
              </a:r>
            </a:p>
            <a:p>
              <a:r>
                <a:rPr lang="en-US" sz="1400" dirty="0">
                  <a:solidFill>
                    <a:srgbClr val="7F0055"/>
                  </a:solidFill>
                  <a:latin typeface="Consolas" panose="020B0609020204030204" pitchFamily="49" charset="0"/>
                </a:rPr>
                <a:t>fun</a:t>
              </a:r>
              <a:r>
                <a:rPr lang="en-US" sz="1400" dirty="0">
                  <a:solidFill>
                    <a:srgbClr val="000000"/>
                  </a:solidFill>
                  <a:latin typeface="Consolas" panose="020B0609020204030204" pitchFamily="49" charset="0"/>
                </a:rPr>
                <a:t> Welcome(): String {</a:t>
              </a:r>
            </a:p>
            <a:p>
              <a:r>
                <a:rPr lang="en-US" sz="1400"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"Welcome to Spring Boot, </a:t>
              </a:r>
              <a:r>
                <a:rPr lang="en-US" sz="1400" dirty="0" err="1">
                  <a:solidFill>
                    <a:srgbClr val="2A00FF"/>
                  </a:solidFill>
                  <a:latin typeface="Consolas" panose="020B0609020204030204" pitchFamily="49" charset="0"/>
                </a:rPr>
                <a:t>TienHV</a:t>
              </a:r>
              <a:r>
                <a:rPr lang="en-US" sz="1400" dirty="0">
                  <a:solidFill>
                    <a:srgbClr val="2A00FF"/>
                  </a:solidFill>
                  <a:latin typeface="Consolas" panose="020B0609020204030204" pitchFamily="49" charset="0"/>
                </a:rPr>
                <a:t>"</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p>
            <a:p>
              <a:endParaRPr lang="en-US" sz="1400" dirty="0">
                <a:latin typeface="Consolas" panose="020B0609020204030204" pitchFamily="49" charset="0"/>
              </a:endParaRPr>
            </a:p>
            <a:p>
              <a:r>
                <a:rPr lang="en-US" sz="1400" dirty="0">
                  <a:solidFill>
                    <a:srgbClr val="000000"/>
                  </a:solidFill>
                  <a:latin typeface="Consolas" panose="020B0609020204030204" pitchFamily="49" charset="0"/>
                </a:rPr>
                <a:t>}</a:t>
              </a:r>
              <a:endParaRPr lang="en-US"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1266625" y="1275803"/>
              <a:ext cx="2857899" cy="3829584"/>
            </a:xfrm>
            <a:prstGeom prst="rect">
              <a:avLst/>
            </a:prstGeom>
          </p:spPr>
        </p:pic>
        <p:sp>
          <p:nvSpPr>
            <p:cNvPr id="3" name="正方形/長方形 2"/>
            <p:cNvSpPr/>
            <p:nvPr/>
          </p:nvSpPr>
          <p:spPr>
            <a:xfrm>
              <a:off x="1809750" y="1943100"/>
              <a:ext cx="17907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直線矢印コネクタ 7"/>
            <p:cNvCxnSpPr>
              <a:stCxn id="3" idx="3"/>
            </p:cNvCxnSpPr>
            <p:nvPr/>
          </p:nvCxnSpPr>
          <p:spPr>
            <a:xfrm>
              <a:off x="3600450" y="2028825"/>
              <a:ext cx="543125" cy="619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0356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5. Run application</a:t>
            </a:r>
          </a:p>
        </p:txBody>
      </p:sp>
      <p:sp>
        <p:nvSpPr>
          <p:cNvPr id="4" name="正方形/長方形 3"/>
          <p:cNvSpPr/>
          <p:nvPr/>
        </p:nvSpPr>
        <p:spPr>
          <a:xfrm>
            <a:off x="1019174" y="600077"/>
            <a:ext cx="8763001" cy="962058"/>
          </a:xfrm>
          <a:prstGeom prst="rect">
            <a:avLst/>
          </a:prstGeom>
        </p:spPr>
        <p:txBody>
          <a:bodyPr wrap="square">
            <a:spAutoFit/>
          </a:bodyPr>
          <a:lstStyle/>
          <a:p>
            <a:pPr lvl="0">
              <a:lnSpc>
                <a:spcPct val="107000"/>
              </a:lnSpc>
              <a:spcAft>
                <a:spcPts val="0"/>
              </a:spcAft>
            </a:pPr>
            <a:r>
              <a:rPr lang="en-US" b="1" dirty="0">
                <a:latin typeface="Arial" panose="020B0604020202020204" pitchFamily="34" charset="0"/>
                <a:ea typeface="ＭＳ 明朝" panose="02020609040205080304" pitchFamily="17" charset="-128"/>
                <a:cs typeface="Times New Roman" panose="02020603050405020304" pitchFamily="18" charset="0"/>
              </a:rPr>
              <a:t>5.1 </a:t>
            </a:r>
            <a:r>
              <a:rPr lang="en-US" b="1" dirty="0" err="1">
                <a:latin typeface="Arial" panose="020B0604020202020204" pitchFamily="34" charset="0"/>
                <a:ea typeface="ＭＳ 明朝" panose="02020609040205080304" pitchFamily="17" charset="-128"/>
                <a:cs typeface="Times New Roman" panose="02020603050405020304" pitchFamily="18" charset="0"/>
              </a:rPr>
              <a:t>Chạy</a:t>
            </a:r>
            <a:r>
              <a:rPr lang="en-US" b="1" dirty="0">
                <a:latin typeface="Arial" panose="020B0604020202020204" pitchFamily="34" charset="0"/>
                <a:ea typeface="ＭＳ 明朝" panose="02020609040205080304" pitchFamily="17" charset="-128"/>
                <a:cs typeface="Times New Roman" panose="02020603050405020304" pitchFamily="18" charset="0"/>
              </a:rPr>
              <a:t> </a:t>
            </a:r>
            <a:r>
              <a:rPr lang="en-US" b="1" dirty="0" err="1">
                <a:latin typeface="Arial" panose="020B0604020202020204" pitchFamily="34" charset="0"/>
                <a:ea typeface="ＭＳ 明朝" panose="02020609040205080304" pitchFamily="17" charset="-128"/>
                <a:cs typeface="Times New Roman" panose="02020603050405020304" pitchFamily="18" charset="0"/>
              </a:rPr>
              <a:t>chương</a:t>
            </a:r>
            <a:r>
              <a:rPr lang="en-US" b="1" dirty="0">
                <a:latin typeface="Arial" panose="020B0604020202020204" pitchFamily="34" charset="0"/>
                <a:ea typeface="ＭＳ 明朝" panose="02020609040205080304" pitchFamily="17" charset="-128"/>
                <a:cs typeface="Times New Roman" panose="02020603050405020304" pitchFamily="18" charset="0"/>
              </a:rPr>
              <a:t> </a:t>
            </a:r>
            <a:r>
              <a:rPr lang="en-US" b="1" dirty="0" err="1">
                <a:latin typeface="Arial" panose="020B0604020202020204" pitchFamily="34" charset="0"/>
                <a:ea typeface="ＭＳ 明朝" panose="02020609040205080304" pitchFamily="17" charset="-128"/>
                <a:cs typeface="Times New Roman" panose="02020603050405020304" pitchFamily="18" charset="0"/>
              </a:rPr>
              <a:t>trình</a:t>
            </a:r>
            <a:r>
              <a:rPr lang="en-US" b="1" dirty="0">
                <a:latin typeface="Arial" panose="020B0604020202020204" pitchFamily="34" charset="0"/>
                <a:ea typeface="ＭＳ 明朝" panose="02020609040205080304" pitchFamily="17" charset="-128"/>
                <a:cs typeface="Times New Roman" panose="02020603050405020304" pitchFamily="18" charset="0"/>
              </a:rPr>
              <a:t> </a:t>
            </a:r>
            <a:r>
              <a:rPr lang="en-US" b="1" dirty="0" err="1">
                <a:latin typeface="Arial" panose="020B0604020202020204" pitchFamily="34" charset="0"/>
                <a:ea typeface="ＭＳ 明朝" panose="02020609040205080304" pitchFamily="17" charset="-128"/>
                <a:cs typeface="Times New Roman" panose="02020603050405020304" pitchFamily="18" charset="0"/>
              </a:rPr>
              <a:t>trên</a:t>
            </a:r>
            <a:r>
              <a:rPr lang="en-US" b="1" dirty="0">
                <a:latin typeface="Arial" panose="020B0604020202020204" pitchFamily="34" charset="0"/>
                <a:ea typeface="ＭＳ 明朝" panose="02020609040205080304" pitchFamily="17" charset="-128"/>
                <a:cs typeface="Times New Roman" panose="02020603050405020304" pitchFamily="18" charset="0"/>
              </a:rPr>
              <a:t> IDE (Eclipse</a:t>
            </a:r>
            <a:r>
              <a:rPr lang="en-US" sz="1400" b="1" dirty="0">
                <a:latin typeface="Calibri" panose="020F0502020204030204" pitchFamily="34" charset="0"/>
                <a:ea typeface="ＭＳ 明朝" panose="02020609040205080304" pitchFamily="17" charset="-128"/>
                <a:cs typeface="Times New Roman" panose="02020603050405020304" pitchFamily="18" charset="0"/>
              </a:rPr>
              <a:t>)</a:t>
            </a:r>
          </a:p>
          <a:p>
            <a:pPr lvl="0">
              <a:lnSpc>
                <a:spcPct val="107000"/>
              </a:lnSpc>
              <a:spcAft>
                <a:spcPts val="0"/>
              </a:spcAft>
            </a:pPr>
            <a:r>
              <a:rPr lang="en-US" dirty="0" err="1">
                <a:latin typeface="Arial" panose="020B0604020202020204" pitchFamily="34" charset="0"/>
                <a:ea typeface="ＭＳ 明朝" panose="02020609040205080304" pitchFamily="17" charset="-128"/>
                <a:cs typeface="Times New Roman" panose="02020603050405020304" pitchFamily="18" charset="0"/>
              </a:rPr>
              <a:t>Thực</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hiện</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chạy</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chương</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trình</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theo</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thứ</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tự</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sau</a:t>
            </a:r>
            <a:r>
              <a:rPr lang="en-US" dirty="0">
                <a:latin typeface="Arial" panose="020B0604020202020204" pitchFamily="34" charset="0"/>
                <a:ea typeface="ＭＳ 明朝" panose="02020609040205080304" pitchFamily="17" charset="-128"/>
                <a:cs typeface="Times New Roman" panose="02020603050405020304" pitchFamily="18" charset="0"/>
              </a:rPr>
              <a:t>:</a:t>
            </a:r>
            <a:endParaRPr lang="en-US" sz="1400" dirty="0">
              <a:latin typeface="Calibri" panose="020F0502020204030204" pitchFamily="34" charset="0"/>
              <a:ea typeface="ＭＳ 明朝" panose="02020609040205080304" pitchFamily="17" charset="-128"/>
              <a:cs typeface="Times New Roman" panose="02020603050405020304" pitchFamily="18" charset="0"/>
            </a:endParaRPr>
          </a:p>
          <a:p>
            <a:r>
              <a:rPr lang="en-US" dirty="0" err="1">
                <a:latin typeface="Arial" panose="020B0604020202020204" pitchFamily="34" charset="0"/>
                <a:ea typeface="ＭＳ 明朝" panose="02020609040205080304" pitchFamily="17" charset="-128"/>
                <a:cs typeface="Times New Roman" panose="02020603050405020304" pitchFamily="18" charset="0"/>
              </a:rPr>
              <a:t>Tại</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b="1" dirty="0" err="1">
                <a:latin typeface="Arial" panose="020B0604020202020204" pitchFamily="34" charset="0"/>
                <a:ea typeface="ＭＳ 明朝" panose="02020609040205080304" pitchFamily="17" charset="-128"/>
                <a:cs typeface="Times New Roman" panose="02020603050405020304" pitchFamily="18" charset="0"/>
              </a:rPr>
              <a:t>Gradle</a:t>
            </a:r>
            <a:r>
              <a:rPr lang="en-US" b="1" dirty="0">
                <a:latin typeface="Arial" panose="020B0604020202020204" pitchFamily="34" charset="0"/>
                <a:ea typeface="ＭＳ 明朝" panose="02020609040205080304" pitchFamily="17" charset="-128"/>
                <a:cs typeface="Times New Roman" panose="02020603050405020304" pitchFamily="18" charset="0"/>
              </a:rPr>
              <a:t> Tasks</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a:latin typeface="Arial" panose="020B0604020202020204" pitchFamily="34" charset="0"/>
                <a:ea typeface="ＭＳ 明朝" panose="02020609040205080304" pitchFamily="17" charset="-128"/>
              </a:rPr>
              <a:t>-&gt; application -&gt; </a:t>
            </a:r>
            <a:r>
              <a:rPr lang="en-US" dirty="0" err="1">
                <a:latin typeface="Arial" panose="020B0604020202020204" pitchFamily="34" charset="0"/>
                <a:ea typeface="ＭＳ 明朝" panose="02020609040205080304" pitchFamily="17" charset="-128"/>
              </a:rPr>
              <a:t>bootRun</a:t>
            </a:r>
            <a:endParaRPr lang="en-US" dirty="0"/>
          </a:p>
        </p:txBody>
      </p:sp>
      <p:grpSp>
        <p:nvGrpSpPr>
          <p:cNvPr id="10" name="グループ化 9"/>
          <p:cNvGrpSpPr/>
          <p:nvPr/>
        </p:nvGrpSpPr>
        <p:grpSpPr>
          <a:xfrm>
            <a:off x="1104899" y="1562135"/>
            <a:ext cx="5858693" cy="5039428"/>
            <a:chOff x="1104899" y="1562135"/>
            <a:chExt cx="5858693" cy="5039428"/>
          </a:xfrm>
        </p:grpSpPr>
        <p:pic>
          <p:nvPicPr>
            <p:cNvPr id="8" name="図 7"/>
            <p:cNvPicPr>
              <a:picLocks noChangeAspect="1"/>
            </p:cNvPicPr>
            <p:nvPr/>
          </p:nvPicPr>
          <p:blipFill>
            <a:blip r:embed="rId3"/>
            <a:stretch>
              <a:fillRect/>
            </a:stretch>
          </p:blipFill>
          <p:spPr>
            <a:xfrm>
              <a:off x="1104899" y="1562135"/>
              <a:ext cx="5858693" cy="5039428"/>
            </a:xfrm>
            <a:prstGeom prst="rect">
              <a:avLst/>
            </a:prstGeom>
          </p:spPr>
        </p:pic>
        <p:sp>
          <p:nvSpPr>
            <p:cNvPr id="9" name="正方形/長方形 8"/>
            <p:cNvSpPr/>
            <p:nvPr/>
          </p:nvSpPr>
          <p:spPr>
            <a:xfrm>
              <a:off x="1562100" y="2676525"/>
              <a:ext cx="819150" cy="161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52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847724" y="114302"/>
            <a:ext cx="8763001" cy="1870512"/>
          </a:xfrm>
          <a:prstGeom prst="rect">
            <a:avLst/>
          </a:prstGeom>
        </p:spPr>
        <p:txBody>
          <a:bodyPr wrap="square">
            <a:spAutoFit/>
          </a:bodyPr>
          <a:lstStyle/>
          <a:p>
            <a:pPr>
              <a:lnSpc>
                <a:spcPct val="107000"/>
              </a:lnSpc>
            </a:pPr>
            <a:r>
              <a:rPr lang="en-US" b="1" dirty="0">
                <a:latin typeface="Arial" panose="020B0604020202020204" pitchFamily="34" charset="0"/>
                <a:ea typeface="ＭＳ 明朝" panose="02020609040205080304" pitchFamily="17" charset="-128"/>
                <a:cs typeface="Times New Roman" panose="02020603050405020304" pitchFamily="18" charset="0"/>
              </a:rPr>
              <a:t>5.2 </a:t>
            </a:r>
            <a:r>
              <a:rPr lang="en-US" b="1" dirty="0" err="1"/>
              <a:t>Chạy</a:t>
            </a:r>
            <a:r>
              <a:rPr lang="en-US" b="1" dirty="0"/>
              <a:t> </a:t>
            </a:r>
            <a:r>
              <a:rPr lang="en-US" b="1" dirty="0" err="1"/>
              <a:t>chương</a:t>
            </a:r>
            <a:r>
              <a:rPr lang="en-US" b="1" dirty="0"/>
              <a:t> </a:t>
            </a:r>
            <a:r>
              <a:rPr lang="en-US" b="1" dirty="0" err="1"/>
              <a:t>trình</a:t>
            </a:r>
            <a:r>
              <a:rPr lang="en-US" b="1" dirty="0"/>
              <a:t> </a:t>
            </a:r>
            <a:r>
              <a:rPr lang="en-US" b="1" dirty="0" err="1"/>
              <a:t>bằng</a:t>
            </a:r>
            <a:r>
              <a:rPr lang="en-US" b="1" dirty="0"/>
              <a:t> file JAR</a:t>
            </a:r>
            <a:endParaRPr lang="en-US" sz="1400" b="1" dirty="0">
              <a:latin typeface="Calibri" panose="020F0502020204030204" pitchFamily="34" charset="0"/>
              <a:ea typeface="ＭＳ 明朝" panose="02020609040205080304" pitchFamily="17" charset="-128"/>
              <a:cs typeface="Times New Roman" panose="02020603050405020304" pitchFamily="18" charset="0"/>
            </a:endParaRPr>
          </a:p>
          <a:p>
            <a:pPr>
              <a:lnSpc>
                <a:spcPct val="107000"/>
              </a:lnSpc>
            </a:pPr>
            <a:r>
              <a:rPr lang="en-US" dirty="0" err="1">
                <a:latin typeface="Arial" panose="020B0604020202020204" pitchFamily="34" charset="0"/>
                <a:ea typeface="ＭＳ 明朝" panose="02020609040205080304" pitchFamily="17" charset="-128"/>
                <a:cs typeface="Times New Roman" panose="02020603050405020304" pitchFamily="18" charset="0"/>
              </a:rPr>
              <a:t>Thực</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hiện</a:t>
            </a:r>
            <a:r>
              <a:rPr lang="en-US" dirty="0">
                <a:latin typeface="Arial" panose="020B0604020202020204" pitchFamily="34" charset="0"/>
                <a:ea typeface="ＭＳ 明朝" panose="02020609040205080304" pitchFamily="17" charset="-128"/>
                <a:cs typeface="Times New Roman" panose="02020603050405020304" pitchFamily="18" charset="0"/>
              </a:rPr>
              <a:t> build file JAR </a:t>
            </a:r>
            <a:r>
              <a:rPr lang="en-US" dirty="0" err="1">
                <a:latin typeface="Arial" panose="020B0604020202020204" pitchFamily="34" charset="0"/>
                <a:ea typeface="ＭＳ 明朝" panose="02020609040205080304" pitchFamily="17" charset="-128"/>
                <a:cs typeface="Times New Roman" panose="02020603050405020304" pitchFamily="18" charset="0"/>
              </a:rPr>
              <a:t>và</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thực</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hiện</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chạy</a:t>
            </a:r>
            <a:r>
              <a:rPr lang="en-US" dirty="0">
                <a:latin typeface="Arial" panose="020B0604020202020204" pitchFamily="34" charset="0"/>
                <a:ea typeface="ＭＳ 明朝" panose="02020609040205080304" pitchFamily="17" charset="-128"/>
                <a:cs typeface="Times New Roman" panose="02020603050405020304" pitchFamily="18" charset="0"/>
              </a:rPr>
              <a:t> command </a:t>
            </a:r>
            <a:r>
              <a:rPr lang="en-US" dirty="0" err="1">
                <a:latin typeface="Arial" panose="020B0604020202020204" pitchFamily="34" charset="0"/>
                <a:ea typeface="ＭＳ 明朝" panose="02020609040205080304" pitchFamily="17" charset="-128"/>
                <a:cs typeface="Times New Roman" panose="02020603050405020304" pitchFamily="18" charset="0"/>
              </a:rPr>
              <a:t>với</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câu</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lệnh</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dưới</a:t>
            </a:r>
            <a:r>
              <a:rPr lang="en-US" dirty="0">
                <a:latin typeface="Arial" panose="020B0604020202020204" pitchFamily="34" charset="0"/>
                <a:ea typeface="ＭＳ 明朝" panose="02020609040205080304" pitchFamily="17" charset="-128"/>
                <a:cs typeface="Times New Roman" panose="02020603050405020304" pitchFamily="18" charset="0"/>
              </a:rPr>
              <a:t> </a:t>
            </a:r>
            <a:r>
              <a:rPr lang="en-US" dirty="0" err="1">
                <a:latin typeface="Arial" panose="020B0604020202020204" pitchFamily="34" charset="0"/>
                <a:ea typeface="ＭＳ 明朝" panose="02020609040205080304" pitchFamily="17" charset="-128"/>
                <a:cs typeface="Times New Roman" panose="02020603050405020304" pitchFamily="18" charset="0"/>
              </a:rPr>
              <a:t>tại</a:t>
            </a:r>
            <a:r>
              <a:rPr lang="en-US" dirty="0">
                <a:latin typeface="Arial" panose="020B0604020202020204" pitchFamily="34" charset="0"/>
                <a:ea typeface="ＭＳ 明朝" panose="02020609040205080304" pitchFamily="17" charset="-128"/>
                <a:cs typeface="Times New Roman" panose="02020603050405020304" pitchFamily="18" charset="0"/>
              </a:rPr>
              <a:t> folder </a:t>
            </a:r>
            <a:r>
              <a:rPr lang="en-US" dirty="0" err="1">
                <a:latin typeface="Arial" panose="020B0604020202020204" pitchFamily="34" charset="0"/>
                <a:ea typeface="ＭＳ 明朝" panose="02020609040205080304" pitchFamily="17" charset="-128"/>
                <a:cs typeface="Times New Roman" panose="02020603050405020304" pitchFamily="18" charset="0"/>
              </a:rPr>
              <a:t>chứa</a:t>
            </a:r>
            <a:r>
              <a:rPr lang="en-US" dirty="0">
                <a:latin typeface="Arial" panose="020B0604020202020204" pitchFamily="34" charset="0"/>
                <a:ea typeface="ＭＳ 明朝" panose="02020609040205080304" pitchFamily="17" charset="-128"/>
                <a:cs typeface="Times New Roman" panose="02020603050405020304" pitchFamily="18" charset="0"/>
              </a:rPr>
              <a:t> file JAR: </a:t>
            </a:r>
            <a:r>
              <a:rPr lang="en-US" dirty="0"/>
              <a:t>java -jar </a:t>
            </a:r>
            <a:r>
              <a:rPr lang="en-US" b="1" dirty="0"/>
              <a:t>filename</a:t>
            </a:r>
            <a:r>
              <a:rPr lang="en-US" dirty="0"/>
              <a:t>.jar</a:t>
            </a:r>
          </a:p>
          <a:p>
            <a:pPr>
              <a:lnSpc>
                <a:spcPct val="107000"/>
              </a:lnSpc>
            </a:pPr>
            <a:r>
              <a:rPr lang="en-US" dirty="0"/>
              <a:t>※ </a:t>
            </a:r>
            <a:r>
              <a:rPr lang="en-US" b="1" dirty="0"/>
              <a:t>file name</a:t>
            </a:r>
            <a:r>
              <a:rPr lang="en-US" dirty="0"/>
              <a:t> </a:t>
            </a:r>
            <a:r>
              <a:rPr lang="en-US" dirty="0" err="1"/>
              <a:t>là</a:t>
            </a:r>
            <a:r>
              <a:rPr lang="en-US" dirty="0"/>
              <a:t> </a:t>
            </a:r>
            <a:r>
              <a:rPr lang="en-US" dirty="0" err="1"/>
              <a:t>tên</a:t>
            </a:r>
            <a:r>
              <a:rPr lang="en-US" dirty="0"/>
              <a:t> file build</a:t>
            </a:r>
          </a:p>
          <a:p>
            <a:pPr>
              <a:lnSpc>
                <a:spcPct val="107000"/>
              </a:lnSpc>
            </a:pPr>
            <a:r>
              <a:rPr lang="en-US" dirty="0"/>
              <a:t>File jar </a:t>
            </a:r>
            <a:r>
              <a:rPr lang="en-US" dirty="0" err="1"/>
              <a:t>được</a:t>
            </a:r>
            <a:r>
              <a:rPr lang="en-US" dirty="0"/>
              <a:t> build </a:t>
            </a:r>
            <a:r>
              <a:rPr lang="en-US" dirty="0" err="1"/>
              <a:t>tại</a:t>
            </a:r>
            <a:r>
              <a:rPr lang="en-US" dirty="0"/>
              <a:t> “..\build\libs” </a:t>
            </a:r>
          </a:p>
          <a:p>
            <a:pPr lvl="0">
              <a:lnSpc>
                <a:spcPct val="107000"/>
              </a:lnSpc>
              <a:spcAft>
                <a:spcPts val="0"/>
              </a:spcAft>
            </a:pPr>
            <a:endParaRPr lang="en-US" dirty="0"/>
          </a:p>
        </p:txBody>
      </p:sp>
      <p:grpSp>
        <p:nvGrpSpPr>
          <p:cNvPr id="5" name="グループ化 4"/>
          <p:cNvGrpSpPr/>
          <p:nvPr/>
        </p:nvGrpSpPr>
        <p:grpSpPr>
          <a:xfrm>
            <a:off x="915955" y="1811403"/>
            <a:ext cx="5010849" cy="3600953"/>
            <a:chOff x="976915" y="1491363"/>
            <a:chExt cx="5010849" cy="3600953"/>
          </a:xfrm>
        </p:grpSpPr>
        <p:pic>
          <p:nvPicPr>
            <p:cNvPr id="3" name="図 2"/>
            <p:cNvPicPr>
              <a:picLocks noChangeAspect="1"/>
            </p:cNvPicPr>
            <p:nvPr/>
          </p:nvPicPr>
          <p:blipFill>
            <a:blip r:embed="rId3"/>
            <a:stretch>
              <a:fillRect/>
            </a:stretch>
          </p:blipFill>
          <p:spPr>
            <a:xfrm>
              <a:off x="976915" y="1491363"/>
              <a:ext cx="5010849" cy="3600953"/>
            </a:xfrm>
            <a:prstGeom prst="rect">
              <a:avLst/>
            </a:prstGeom>
          </p:spPr>
        </p:pic>
        <p:sp>
          <p:nvSpPr>
            <p:cNvPr id="4" name="正方形/長方形 3"/>
            <p:cNvSpPr/>
            <p:nvPr/>
          </p:nvSpPr>
          <p:spPr>
            <a:xfrm>
              <a:off x="1432560" y="2331720"/>
              <a:ext cx="944880" cy="21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テキスト ボックス 5"/>
          <p:cNvSpPr txBox="1"/>
          <p:nvPr/>
        </p:nvSpPr>
        <p:spPr>
          <a:xfrm>
            <a:off x="2735580" y="1764289"/>
            <a:ext cx="1760220" cy="369332"/>
          </a:xfrm>
          <a:prstGeom prst="rect">
            <a:avLst/>
          </a:prstGeom>
          <a:noFill/>
          <a:ln>
            <a:solidFill>
              <a:srgbClr val="FF0000"/>
            </a:solidFill>
          </a:ln>
        </p:spPr>
        <p:txBody>
          <a:bodyPr wrap="square" rtlCol="0">
            <a:spAutoFit/>
          </a:bodyPr>
          <a:lstStyle/>
          <a:p>
            <a:r>
              <a:rPr lang="en-US" dirty="0" err="1"/>
              <a:t>Gradle</a:t>
            </a:r>
            <a:r>
              <a:rPr lang="en-US" dirty="0"/>
              <a:t> Tasks</a:t>
            </a:r>
          </a:p>
        </p:txBody>
      </p:sp>
    </p:spTree>
    <p:extLst>
      <p:ext uri="{BB962C8B-B14F-4D97-AF65-F5344CB8AC3E}">
        <p14:creationId xmlns:p14="http://schemas.microsoft.com/office/powerpoint/2010/main" val="63805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879199" y="0"/>
            <a:ext cx="2887329" cy="388696"/>
          </a:xfrm>
          <a:prstGeom prst="rect">
            <a:avLst/>
          </a:prstGeom>
        </p:spPr>
        <p:txBody>
          <a:bodyPr wrap="none">
            <a:spAutoFit/>
          </a:bodyPr>
          <a:lstStyle/>
          <a:p>
            <a:pPr>
              <a:lnSpc>
                <a:spcPct val="107000"/>
              </a:lnSpc>
            </a:pPr>
            <a:r>
              <a:rPr lang="en-US" dirty="0">
                <a:latin typeface="Arial" panose="020B0604020202020204" pitchFamily="34" charset="0"/>
                <a:ea typeface="ＭＳ 明朝" panose="02020609040205080304" pitchFamily="17" charset="-128"/>
                <a:cs typeface="Times New Roman" panose="02020603050405020304" pitchFamily="18" charset="0"/>
              </a:rPr>
              <a:t>5.3 </a:t>
            </a:r>
            <a:r>
              <a:rPr lang="vi-VN" dirty="0">
                <a:ea typeface="ＭＳ 明朝" panose="02020609040205080304" pitchFamily="17" charset="-128"/>
                <a:cs typeface="Times New Roman" panose="02020603050405020304" pitchFamily="18" charset="0"/>
              </a:rPr>
              <a:t>Kiểm tra chương trình</a:t>
            </a:r>
            <a:r>
              <a:rPr lang="en-US" dirty="0">
                <a:latin typeface="Arial" panose="020B0604020202020204" pitchFamily="34" charset="0"/>
                <a:ea typeface="ＭＳ 明朝" panose="02020609040205080304" pitchFamily="17" charset="-128"/>
                <a:cs typeface="Times New Roman" panose="02020603050405020304" pitchFamily="18" charset="0"/>
              </a:rPr>
              <a:t> </a:t>
            </a:r>
            <a:endParaRPr lang="en-US" sz="1400" dirty="0">
              <a:latin typeface="Calibri" panose="020F0502020204030204" pitchFamily="34" charset="0"/>
              <a:ea typeface="ＭＳ 明朝" panose="02020609040205080304" pitchFamily="17" charset="-128"/>
              <a:cs typeface="Times New Roman" panose="02020603050405020304" pitchFamily="18" charset="0"/>
            </a:endParaRPr>
          </a:p>
        </p:txBody>
      </p:sp>
      <p:sp>
        <p:nvSpPr>
          <p:cNvPr id="3" name="正方形/長方形 2"/>
          <p:cNvSpPr/>
          <p:nvPr/>
        </p:nvSpPr>
        <p:spPr>
          <a:xfrm>
            <a:off x="1066800" y="388696"/>
            <a:ext cx="7139940" cy="923330"/>
          </a:xfrm>
          <a:prstGeom prst="rect">
            <a:avLst/>
          </a:prstGeom>
        </p:spPr>
        <p:txBody>
          <a:bodyPr wrap="square">
            <a:spAutoFit/>
          </a:bodyPr>
          <a:lstStyle/>
          <a:p>
            <a:r>
              <a:rPr lang="en-US" dirty="0" err="1"/>
              <a:t>Kiểm</a:t>
            </a:r>
            <a:r>
              <a:rPr lang="en-US" dirty="0"/>
              <a:t> </a:t>
            </a:r>
            <a:r>
              <a:rPr lang="en-US" dirty="0" err="1"/>
              <a:t>tra</a:t>
            </a:r>
            <a:r>
              <a:rPr lang="en-US" dirty="0"/>
              <a:t> </a:t>
            </a:r>
            <a:r>
              <a:rPr lang="en-US" dirty="0" err="1"/>
              <a:t>chương</a:t>
            </a:r>
            <a:r>
              <a:rPr lang="en-US" dirty="0"/>
              <a:t> </a:t>
            </a:r>
            <a:r>
              <a:rPr lang="en-US" dirty="0" err="1"/>
              <a:t>trình</a:t>
            </a:r>
            <a:r>
              <a:rPr lang="en-US" dirty="0"/>
              <a:t> </a:t>
            </a:r>
            <a:r>
              <a:rPr lang="en-US" dirty="0" err="1"/>
              <a:t>bằng</a:t>
            </a:r>
            <a:r>
              <a:rPr lang="en-US" dirty="0"/>
              <a:t> </a:t>
            </a:r>
            <a:r>
              <a:rPr lang="en-US" dirty="0" err="1"/>
              <a:t>cách</a:t>
            </a:r>
            <a:r>
              <a:rPr lang="en-US" dirty="0"/>
              <a:t> </a:t>
            </a:r>
            <a:r>
              <a:rPr lang="en-US" dirty="0" err="1"/>
              <a:t>truy</a:t>
            </a:r>
            <a:r>
              <a:rPr lang="en-US" dirty="0"/>
              <a:t> </a:t>
            </a:r>
            <a:r>
              <a:rPr lang="en-US" dirty="0" err="1"/>
              <a:t>cập</a:t>
            </a:r>
            <a:r>
              <a:rPr lang="en-US" dirty="0"/>
              <a:t> </a:t>
            </a:r>
            <a:r>
              <a:rPr lang="en-US" dirty="0" err="1"/>
              <a:t>vào</a:t>
            </a:r>
            <a:r>
              <a:rPr lang="en-US" dirty="0"/>
              <a:t> </a:t>
            </a:r>
            <a:r>
              <a:rPr lang="en-US" dirty="0" err="1"/>
              <a:t>đường</a:t>
            </a:r>
            <a:r>
              <a:rPr lang="en-US" dirty="0"/>
              <a:t> </a:t>
            </a:r>
            <a:r>
              <a:rPr lang="en-US" dirty="0" err="1"/>
              <a:t>dẫn</a:t>
            </a:r>
            <a:r>
              <a:rPr lang="en-US" dirty="0"/>
              <a:t> </a:t>
            </a:r>
            <a:r>
              <a:rPr lang="en-US" u="sng" dirty="0">
                <a:hlinkClick r:id="rId3"/>
              </a:rPr>
              <a:t>http://localhost:8080/</a:t>
            </a:r>
            <a:r>
              <a:rPr lang="en-US" dirty="0"/>
              <a:t> </a:t>
            </a:r>
            <a:r>
              <a:rPr lang="en-US" dirty="0" err="1"/>
              <a:t>bằng</a:t>
            </a:r>
            <a:r>
              <a:rPr lang="en-US" dirty="0"/>
              <a:t> </a:t>
            </a:r>
            <a:r>
              <a:rPr lang="en-US" dirty="0" err="1"/>
              <a:t>trình</a:t>
            </a:r>
            <a:r>
              <a:rPr lang="en-US" dirty="0"/>
              <a:t> </a:t>
            </a:r>
            <a:r>
              <a:rPr lang="en-US" dirty="0" err="1"/>
              <a:t>duyệt</a:t>
            </a:r>
            <a:r>
              <a:rPr lang="en-US" dirty="0"/>
              <a:t> </a:t>
            </a:r>
            <a:r>
              <a:rPr lang="en-US" dirty="0" err="1"/>
              <a:t>hoặc</a:t>
            </a:r>
            <a:r>
              <a:rPr lang="en-US" dirty="0"/>
              <a:t> </a:t>
            </a:r>
            <a:r>
              <a:rPr lang="en-US" dirty="0" err="1"/>
              <a:t>bằng</a:t>
            </a:r>
            <a:r>
              <a:rPr lang="en-US" dirty="0"/>
              <a:t> </a:t>
            </a:r>
            <a:r>
              <a:rPr lang="en-US" dirty="0" err="1"/>
              <a:t>ứng</a:t>
            </a:r>
            <a:r>
              <a:rPr lang="en-US" dirty="0"/>
              <a:t> </a:t>
            </a:r>
            <a:r>
              <a:rPr lang="en-US" dirty="0" err="1"/>
              <a:t>dụng</a:t>
            </a:r>
            <a:r>
              <a:rPr lang="en-US" dirty="0"/>
              <a:t> Rest API </a:t>
            </a:r>
            <a:r>
              <a:rPr lang="en-US" dirty="0" err="1"/>
              <a:t>nào</a:t>
            </a:r>
            <a:r>
              <a:rPr lang="en-US" dirty="0"/>
              <a:t> </a:t>
            </a:r>
            <a:r>
              <a:rPr lang="en-US" dirty="0" err="1"/>
              <a:t>đó</a:t>
            </a:r>
            <a:r>
              <a:rPr lang="en-US" dirty="0"/>
              <a:t> </a:t>
            </a:r>
            <a:r>
              <a:rPr lang="en-US" dirty="0" err="1"/>
              <a:t>ví</a:t>
            </a:r>
            <a:r>
              <a:rPr lang="en-US" dirty="0"/>
              <a:t> </a:t>
            </a:r>
            <a:r>
              <a:rPr lang="en-US" dirty="0" err="1"/>
              <a:t>dụ</a:t>
            </a:r>
            <a:r>
              <a:rPr lang="en-US" dirty="0"/>
              <a:t> </a:t>
            </a:r>
            <a:r>
              <a:rPr lang="en-US" dirty="0" err="1"/>
              <a:t>như</a:t>
            </a:r>
            <a:r>
              <a:rPr lang="en-US" dirty="0"/>
              <a:t> “</a:t>
            </a:r>
            <a:r>
              <a:rPr lang="en-US" dirty="0" err="1"/>
              <a:t>PostMan</a:t>
            </a:r>
            <a:r>
              <a:rPr lang="en-US" dirty="0"/>
              <a:t>”</a:t>
            </a:r>
          </a:p>
        </p:txBody>
      </p:sp>
      <p:grpSp>
        <p:nvGrpSpPr>
          <p:cNvPr id="6" name="グループ化 5"/>
          <p:cNvGrpSpPr/>
          <p:nvPr/>
        </p:nvGrpSpPr>
        <p:grpSpPr>
          <a:xfrm>
            <a:off x="1162961" y="1312026"/>
            <a:ext cx="7231380" cy="5358810"/>
            <a:chOff x="1162961" y="1312026"/>
            <a:chExt cx="7231380" cy="5358810"/>
          </a:xfrm>
        </p:grpSpPr>
        <p:pic>
          <p:nvPicPr>
            <p:cNvPr id="4" name="図 3"/>
            <p:cNvPicPr/>
            <p:nvPr/>
          </p:nvPicPr>
          <p:blipFill>
            <a:blip r:embed="rId4"/>
            <a:stretch>
              <a:fillRect/>
            </a:stretch>
          </p:blipFill>
          <p:spPr>
            <a:xfrm>
              <a:off x="1162961" y="1312026"/>
              <a:ext cx="7231380" cy="5358810"/>
            </a:xfrm>
            <a:prstGeom prst="rect">
              <a:avLst/>
            </a:prstGeom>
          </p:spPr>
        </p:pic>
        <p:sp>
          <p:nvSpPr>
            <p:cNvPr id="5" name="正方形/長方形 4"/>
            <p:cNvSpPr/>
            <p:nvPr/>
          </p:nvSpPr>
          <p:spPr>
            <a:xfrm>
              <a:off x="1219200" y="1950720"/>
              <a:ext cx="1729740" cy="1905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1958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ata paging and sorting using spring data JPA | Develop 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800100"/>
            <a:ext cx="7620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396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439459" y="2989265"/>
            <a:ext cx="8596668" cy="2087559"/>
          </a:xfrm>
        </p:spPr>
        <p:txBody>
          <a:bodyPr>
            <a:noAutofit/>
          </a:bodyPr>
          <a:lstStyle/>
          <a:p>
            <a:pPr>
              <a:buFont typeface="Wingdings 3" charset="2"/>
              <a:buChar char=""/>
            </a:pPr>
            <a:r>
              <a:rPr kumimoji="1" lang="en-US" dirty="0"/>
              <a:t>Spring Data JPA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a:t>JPA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a:t>ORM </a:t>
            </a:r>
            <a:r>
              <a:rPr kumimoji="1" lang="en-US" dirty="0" err="1"/>
              <a:t>là</a:t>
            </a:r>
            <a:r>
              <a:rPr kumimoji="1" lang="en-US" dirty="0"/>
              <a:t> </a:t>
            </a:r>
            <a:r>
              <a:rPr kumimoji="1" lang="en-US" dirty="0" err="1"/>
              <a:t>gì</a:t>
            </a:r>
            <a:r>
              <a:rPr kumimoji="1" lang="en-US" dirty="0"/>
              <a:t>?</a:t>
            </a:r>
          </a:p>
          <a:p>
            <a:pPr>
              <a:buFont typeface="Wingdings 3" charset="2"/>
              <a:buChar char=""/>
            </a:pPr>
            <a:r>
              <a:rPr kumimoji="1" lang="en-US" dirty="0" err="1"/>
              <a:t>Thực</a:t>
            </a:r>
            <a:r>
              <a:rPr kumimoji="1" lang="en-US" dirty="0"/>
              <a:t> </a:t>
            </a:r>
            <a:r>
              <a:rPr kumimoji="1" lang="en-US" dirty="0" err="1"/>
              <a:t>hiện</a:t>
            </a:r>
            <a:r>
              <a:rPr kumimoji="1" lang="en-US" dirty="0"/>
              <a:t> </a:t>
            </a:r>
            <a:r>
              <a:rPr kumimoji="1" lang="en-US" dirty="0" err="1"/>
              <a:t>tạo</a:t>
            </a:r>
            <a:r>
              <a:rPr kumimoji="1" lang="en-US" dirty="0"/>
              <a:t> </a:t>
            </a:r>
            <a:r>
              <a:rPr kumimoji="1" lang="en-US" dirty="0" err="1"/>
              <a:t>chương</a:t>
            </a:r>
            <a:r>
              <a:rPr kumimoji="1" lang="en-US" dirty="0"/>
              <a:t> </a:t>
            </a:r>
            <a:r>
              <a:rPr kumimoji="1" lang="en-US" dirty="0" err="1"/>
              <a:t>trình</a:t>
            </a:r>
            <a:r>
              <a:rPr kumimoji="1" lang="en-US" dirty="0"/>
              <a:t> Spring Data JPA </a:t>
            </a:r>
            <a:r>
              <a:rPr kumimoji="1" lang="en-US" dirty="0" err="1"/>
              <a:t>đơn</a:t>
            </a:r>
            <a:r>
              <a:rPr kumimoji="1" lang="en-US" dirty="0"/>
              <a:t> </a:t>
            </a:r>
            <a:r>
              <a:rPr kumimoji="1" lang="en-US" dirty="0" err="1"/>
              <a:t>giản</a:t>
            </a:r>
            <a:endParaRPr kumimoji="1" lang="en-US" dirty="0"/>
          </a:p>
        </p:txBody>
      </p:sp>
      <p:sp>
        <p:nvSpPr>
          <p:cNvPr id="6" name="コンテンツ プレースホルダー 2"/>
          <p:cNvSpPr txBox="1">
            <a:spLocks/>
          </p:cNvSpPr>
          <p:nvPr/>
        </p:nvSpPr>
        <p:spPr>
          <a:xfrm>
            <a:off x="1953684" y="2335217"/>
            <a:ext cx="8596668" cy="5413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kumimoji="1" lang="en-US" sz="2400" dirty="0" err="1"/>
              <a:t>Các</a:t>
            </a:r>
            <a:r>
              <a:rPr kumimoji="1" lang="en-US" sz="2400" dirty="0"/>
              <a:t> </a:t>
            </a:r>
            <a:r>
              <a:rPr kumimoji="1" lang="en-US" sz="2400" dirty="0" err="1"/>
              <a:t>mục</a:t>
            </a:r>
            <a:r>
              <a:rPr kumimoji="1" lang="en-US" sz="2400" dirty="0"/>
              <a:t> </a:t>
            </a:r>
            <a:r>
              <a:rPr kumimoji="1" lang="en-US" sz="2400" dirty="0" err="1"/>
              <a:t>trình</a:t>
            </a:r>
            <a:r>
              <a:rPr kumimoji="1" lang="en-US" sz="2400" dirty="0"/>
              <a:t> </a:t>
            </a:r>
            <a:r>
              <a:rPr kumimoji="1" lang="en-US" sz="2400" dirty="0" err="1"/>
              <a:t>bày</a:t>
            </a:r>
            <a:r>
              <a:rPr kumimoji="1" lang="en-US" sz="2400" dirty="0"/>
              <a:t> </a:t>
            </a:r>
            <a:r>
              <a:rPr kumimoji="1" lang="en-US" sz="2400" dirty="0" err="1"/>
              <a:t>trong</a:t>
            </a:r>
            <a:r>
              <a:rPr kumimoji="1" lang="en-US" sz="2400" dirty="0"/>
              <a:t> </a:t>
            </a:r>
            <a:r>
              <a:rPr lang="en-US" sz="3200" b="1" dirty="0"/>
              <a:t>Spring Data JPA</a:t>
            </a:r>
          </a:p>
        </p:txBody>
      </p:sp>
      <p:pic>
        <p:nvPicPr>
          <p:cNvPr id="3076" name="Picture 4" descr="Giới thiệu về Spring Data JPA - Tại sao cần sử dụng nó? - Học Spring Bo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8800" y="227021"/>
            <a:ext cx="4178300" cy="208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683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1. Spring Data JPA </a:t>
            </a:r>
            <a:r>
              <a:rPr lang="en-US" sz="2000" b="1" dirty="0" err="1">
                <a:solidFill>
                  <a:schemeClr val="tx1"/>
                </a:solidFill>
                <a:latin typeface="Arial" panose="020B0604020202020204" pitchFamily="34" charset="0"/>
                <a:cs typeface="Arial" panose="020B0604020202020204" pitchFamily="34" charset="0"/>
              </a:rPr>
              <a:t>là</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gì</a:t>
            </a:r>
            <a:r>
              <a:rPr lang="en-US" sz="2000" b="1" dirty="0">
                <a:solidFill>
                  <a:schemeClr val="tx1"/>
                </a:solidFill>
                <a:latin typeface="Arial" panose="020B0604020202020204" pitchFamily="34" charset="0"/>
                <a:cs typeface="Arial" panose="020B0604020202020204" pitchFamily="34" charset="0"/>
              </a:rPr>
              <a:t>?</a:t>
            </a:r>
          </a:p>
        </p:txBody>
      </p:sp>
      <p:sp>
        <p:nvSpPr>
          <p:cNvPr id="3" name="正方形/長方形 2"/>
          <p:cNvSpPr/>
          <p:nvPr/>
        </p:nvSpPr>
        <p:spPr>
          <a:xfrm>
            <a:off x="962024" y="675412"/>
            <a:ext cx="8677275" cy="1200329"/>
          </a:xfrm>
          <a:prstGeom prst="rect">
            <a:avLst/>
          </a:prstGeom>
        </p:spPr>
        <p:txBody>
          <a:bodyPr wrap="square">
            <a:spAutoFit/>
          </a:bodyPr>
          <a:lstStyle/>
          <a:p>
            <a:pPr algn="just"/>
            <a:r>
              <a:rPr lang="vi-VN" dirty="0">
                <a:solidFill>
                  <a:srgbClr val="333333"/>
                </a:solidFill>
              </a:rPr>
              <a:t>Spring Data JPA</a:t>
            </a:r>
            <a:r>
              <a:rPr lang="en-US" dirty="0">
                <a:solidFill>
                  <a:srgbClr val="333333"/>
                </a:solidFill>
              </a:rPr>
              <a:t> </a:t>
            </a:r>
            <a:r>
              <a:rPr lang="en-US" dirty="0" err="1">
                <a:solidFill>
                  <a:srgbClr val="333333"/>
                </a:solidFill>
              </a:rPr>
              <a:t>là</a:t>
            </a:r>
            <a:r>
              <a:rPr lang="vi-VN" dirty="0">
                <a:solidFill>
                  <a:srgbClr val="333333"/>
                </a:solidFill>
              </a:rPr>
              <a:t> một phần của dòng Spring Data, giúp dễ dàng triển khai các kho lưu trữ dựa trên JPA. Mô-đun này đề cập đến hỗ trợ nâng cao cho các lớp truy cập dữ liệu dựa trên JPA. Nó làm cho việc xây dựng các ứng dụng dựa trên Spring sử dụng công nghệ truy cập dữ liệu trở nên dễ dàng hơn</a:t>
            </a:r>
            <a:endParaRPr lang="en-US" dirty="0"/>
          </a:p>
        </p:txBody>
      </p:sp>
      <p:pic>
        <p:nvPicPr>
          <p:cNvPr id="4098" name="Picture 2" descr="https://miro.medium.com/max/1400/1*beI5EsSh45USmgJnKk2v9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298" y="1951077"/>
            <a:ext cx="7324725" cy="3845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69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4190671" y="1510784"/>
            <a:ext cx="2415341" cy="1862048"/>
          </a:xfrm>
          <a:prstGeom prst="rect">
            <a:avLst/>
          </a:prstGeom>
        </p:spPr>
        <p:txBody>
          <a:bodyPr wrap="none">
            <a:spAutoFit/>
          </a:bodyPr>
          <a:lstStyle/>
          <a:p>
            <a:r>
              <a:rPr lang="en-US" sz="11500" dirty="0"/>
              <a:t>JPA</a:t>
            </a:r>
          </a:p>
        </p:txBody>
      </p:sp>
      <p:sp>
        <p:nvSpPr>
          <p:cNvPr id="4" name="正方形/長方形 3"/>
          <p:cNvSpPr/>
          <p:nvPr/>
        </p:nvSpPr>
        <p:spPr>
          <a:xfrm>
            <a:off x="2518546" y="3372832"/>
            <a:ext cx="5759590" cy="830997"/>
          </a:xfrm>
          <a:prstGeom prst="rect">
            <a:avLst/>
          </a:prstGeom>
        </p:spPr>
        <p:txBody>
          <a:bodyPr wrap="none">
            <a:spAutoFit/>
          </a:bodyPr>
          <a:lstStyle/>
          <a:p>
            <a:r>
              <a:rPr lang="en-US" sz="4800" dirty="0"/>
              <a:t>Java Persistence API</a:t>
            </a:r>
          </a:p>
        </p:txBody>
      </p:sp>
    </p:spTree>
    <p:extLst>
      <p:ext uri="{BB962C8B-B14F-4D97-AF65-F5344CB8AC3E}">
        <p14:creationId xmlns:p14="http://schemas.microsoft.com/office/powerpoint/2010/main" val="40772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2. JPA </a:t>
            </a:r>
            <a:r>
              <a:rPr lang="en-US" sz="2000" b="1" dirty="0" err="1">
                <a:solidFill>
                  <a:schemeClr val="tx1"/>
                </a:solidFill>
                <a:latin typeface="Arial" panose="020B0604020202020204" pitchFamily="34" charset="0"/>
                <a:cs typeface="Arial" panose="020B0604020202020204" pitchFamily="34" charset="0"/>
              </a:rPr>
              <a:t>là</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gì</a:t>
            </a:r>
            <a:r>
              <a:rPr lang="en-US" sz="2000" b="1" dirty="0">
                <a:solidFill>
                  <a:schemeClr val="tx1"/>
                </a:solidFill>
                <a:latin typeface="Arial" panose="020B0604020202020204" pitchFamily="34" charset="0"/>
                <a:cs typeface="Arial" panose="020B0604020202020204" pitchFamily="34" charset="0"/>
              </a:rPr>
              <a:t>?</a:t>
            </a:r>
          </a:p>
        </p:txBody>
      </p:sp>
      <p:sp>
        <p:nvSpPr>
          <p:cNvPr id="3" name="正方形/長方形 2"/>
          <p:cNvSpPr/>
          <p:nvPr/>
        </p:nvSpPr>
        <p:spPr>
          <a:xfrm>
            <a:off x="971549" y="600076"/>
            <a:ext cx="8486775" cy="923330"/>
          </a:xfrm>
          <a:prstGeom prst="rect">
            <a:avLst/>
          </a:prstGeom>
        </p:spPr>
        <p:txBody>
          <a:bodyPr wrap="square">
            <a:spAutoFit/>
          </a:bodyPr>
          <a:lstStyle/>
          <a:p>
            <a:pPr marL="285750" indent="-285750" algn="just" fontAlgn="base">
              <a:spcAft>
                <a:spcPts val="1800"/>
              </a:spcAft>
              <a:buFont typeface="Wingdings" panose="05000000000000000000" pitchFamily="2" charset="2"/>
              <a:buChar char="Ø"/>
            </a:pPr>
            <a:r>
              <a:rPr lang="en-US" dirty="0">
                <a:latin typeface="Arial" panose="020B0604020202020204" pitchFamily="34" charset="0"/>
                <a:ea typeface="Times New Roman" panose="02020603050405020304" pitchFamily="18" charset="0"/>
              </a:rPr>
              <a:t>JPA (Java Persistence API) </a:t>
            </a:r>
            <a:r>
              <a:rPr lang="en-US" dirty="0" err="1">
                <a:latin typeface="Arial" panose="020B0604020202020204" pitchFamily="34" charset="0"/>
                <a:ea typeface="Times New Roman" panose="02020603050405020304" pitchFamily="18" charset="0"/>
              </a:rPr>
              <a:t>là</a:t>
            </a:r>
            <a:r>
              <a:rPr lang="en-US" dirty="0">
                <a:latin typeface="Arial" panose="020B0604020202020204" pitchFamily="34" charset="0"/>
                <a:ea typeface="Times New Roman" panose="02020603050405020304" pitchFamily="18" charset="0"/>
              </a:rPr>
              <a:t> 1 </a:t>
            </a:r>
            <a:r>
              <a:rPr lang="en-US" dirty="0" err="1">
                <a:latin typeface="Arial" panose="020B0604020202020204" pitchFamily="34" charset="0"/>
                <a:ea typeface="Times New Roman" panose="02020603050405020304" pitchFamily="18" charset="0"/>
              </a:rPr>
              <a:t>giao</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diện</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lập</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trình</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ứng</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dụng</a:t>
            </a:r>
            <a:r>
              <a:rPr lang="en-US" dirty="0">
                <a:latin typeface="Arial" panose="020B0604020202020204" pitchFamily="34" charset="0"/>
                <a:ea typeface="Times New Roman" panose="02020603050405020304" pitchFamily="18" charset="0"/>
              </a:rPr>
              <a:t> Java, </a:t>
            </a:r>
            <a:r>
              <a:rPr lang="en-US" dirty="0" err="1">
                <a:latin typeface="Arial" panose="020B0604020202020204" pitchFamily="34" charset="0"/>
                <a:ea typeface="Times New Roman" panose="02020603050405020304" pitchFamily="18" charset="0"/>
              </a:rPr>
              <a:t>mô</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tả</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cho</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việc</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ánh</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xạ</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giữa</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các</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đối</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tượng</a:t>
            </a:r>
            <a:r>
              <a:rPr lang="en-US" dirty="0">
                <a:latin typeface="Arial" panose="020B0604020202020204" pitchFamily="34" charset="0"/>
                <a:ea typeface="Times New Roman" panose="02020603050405020304" pitchFamily="18" charset="0"/>
              </a:rPr>
              <a:t> Java </a:t>
            </a:r>
            <a:r>
              <a:rPr lang="en-US" dirty="0" err="1">
                <a:latin typeface="Arial" panose="020B0604020202020204" pitchFamily="34" charset="0"/>
                <a:ea typeface="Times New Roman" panose="02020603050405020304" pitchFamily="18" charset="0"/>
              </a:rPr>
              <a:t>với</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cơ</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sở</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dữ</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liệu</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quan</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hệ</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sử</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dụng</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công</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nghệ</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phổ</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biến</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là</a:t>
            </a:r>
            <a:r>
              <a:rPr lang="en-US" dirty="0">
                <a:latin typeface="Arial" panose="020B0604020202020204" pitchFamily="34" charset="0"/>
                <a:ea typeface="Times New Roman" panose="02020603050405020304" pitchFamily="18" charset="0"/>
              </a:rPr>
              <a:t> ORM (Object Relational Mapping).</a:t>
            </a:r>
            <a:endParaRPr lang="en-US" dirty="0">
              <a:effectLst/>
              <a:latin typeface="Times New Roman" panose="02020603050405020304" pitchFamily="18" charset="0"/>
              <a:ea typeface="Times New Roman" panose="02020603050405020304" pitchFamily="18" charset="0"/>
            </a:endParaRPr>
          </a:p>
        </p:txBody>
      </p:sp>
      <p:sp>
        <p:nvSpPr>
          <p:cNvPr id="4" name="正方形/長方形 3"/>
          <p:cNvSpPr/>
          <p:nvPr/>
        </p:nvSpPr>
        <p:spPr>
          <a:xfrm>
            <a:off x="971548" y="1676401"/>
            <a:ext cx="8486775" cy="923330"/>
          </a:xfrm>
          <a:prstGeom prst="rect">
            <a:avLst/>
          </a:prstGeom>
        </p:spPr>
        <p:txBody>
          <a:bodyPr wrap="square">
            <a:spAutoFit/>
          </a:bodyPr>
          <a:lstStyle/>
          <a:p>
            <a:pPr marL="285750" indent="-285750" algn="just" fontAlgn="base">
              <a:spcAft>
                <a:spcPts val="1800"/>
              </a:spcAft>
              <a:buFont typeface="Wingdings" panose="05000000000000000000" pitchFamily="2" charset="2"/>
              <a:buChar char="Ø"/>
            </a:pPr>
            <a:r>
              <a:rPr lang="en-US" dirty="0">
                <a:latin typeface="Arial" panose="020B0604020202020204" pitchFamily="34" charset="0"/>
                <a:ea typeface="Times New Roman" panose="02020603050405020304" pitchFamily="18" charset="0"/>
              </a:rPr>
              <a:t>JPA </a:t>
            </a:r>
            <a:r>
              <a:rPr lang="en-US" dirty="0" err="1">
                <a:latin typeface="Arial" panose="020B0604020202020204" pitchFamily="34" charset="0"/>
                <a:ea typeface="Times New Roman" panose="02020603050405020304" pitchFamily="18" charset="0"/>
              </a:rPr>
              <a:t>cung</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cấp</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một</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mô</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hình</a:t>
            </a:r>
            <a:r>
              <a:rPr lang="en-US" dirty="0">
                <a:latin typeface="Arial" panose="020B0604020202020204" pitchFamily="34" charset="0"/>
                <a:ea typeface="Times New Roman" panose="02020603050405020304" pitchFamily="18" charset="0"/>
              </a:rPr>
              <a:t> POJO (Plain Old Java Object) persistence </a:t>
            </a:r>
            <a:r>
              <a:rPr lang="en-US" dirty="0" err="1">
                <a:latin typeface="Arial" panose="020B0604020202020204" pitchFamily="34" charset="0"/>
                <a:ea typeface="Times New Roman" panose="02020603050405020304" pitchFamily="18" charset="0"/>
              </a:rPr>
              <a:t>cho</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phép</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ánh</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xạ</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các</a:t>
            </a:r>
            <a:r>
              <a:rPr lang="en-US" dirty="0">
                <a:latin typeface="Arial" panose="020B0604020202020204" pitchFamily="34" charset="0"/>
                <a:ea typeface="Times New Roman" panose="02020603050405020304" pitchFamily="18" charset="0"/>
              </a:rPr>
              <a:t> table/</a:t>
            </a:r>
            <a:r>
              <a:rPr lang="en-US" dirty="0" err="1">
                <a:latin typeface="Arial" panose="020B0604020202020204" pitchFamily="34" charset="0"/>
                <a:ea typeface="Times New Roman" panose="02020603050405020304" pitchFamily="18" charset="0"/>
              </a:rPr>
              <a:t>các</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mối</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quan</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hệ</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giữa</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các</a:t>
            </a:r>
            <a:r>
              <a:rPr lang="en-US" dirty="0">
                <a:latin typeface="Arial" panose="020B0604020202020204" pitchFamily="34" charset="0"/>
                <a:ea typeface="Times New Roman" panose="02020603050405020304" pitchFamily="18" charset="0"/>
              </a:rPr>
              <a:t> table </a:t>
            </a:r>
            <a:r>
              <a:rPr lang="en-US" dirty="0" err="1">
                <a:latin typeface="Arial" panose="020B0604020202020204" pitchFamily="34" charset="0"/>
                <a:ea typeface="Times New Roman" panose="02020603050405020304" pitchFamily="18" charset="0"/>
              </a:rPr>
              <a:t>trong</a:t>
            </a:r>
            <a:r>
              <a:rPr lang="en-US" dirty="0">
                <a:latin typeface="Arial" panose="020B0604020202020204" pitchFamily="34" charset="0"/>
                <a:ea typeface="Times New Roman" panose="02020603050405020304" pitchFamily="18" charset="0"/>
              </a:rPr>
              <a:t> database sang </a:t>
            </a:r>
            <a:r>
              <a:rPr lang="en-US" dirty="0" err="1">
                <a:latin typeface="Arial" panose="020B0604020202020204" pitchFamily="34" charset="0"/>
                <a:ea typeface="Times New Roman" panose="02020603050405020304" pitchFamily="18" charset="0"/>
              </a:rPr>
              <a:t>các</a:t>
            </a:r>
            <a:r>
              <a:rPr lang="en-US" dirty="0">
                <a:latin typeface="Arial" panose="020B0604020202020204" pitchFamily="34" charset="0"/>
                <a:ea typeface="Times New Roman" panose="02020603050405020304" pitchFamily="18" charset="0"/>
              </a:rPr>
              <a:t> class/</a:t>
            </a:r>
            <a:r>
              <a:rPr lang="en-US" dirty="0" err="1">
                <a:latin typeface="Arial" panose="020B0604020202020204" pitchFamily="34" charset="0"/>
                <a:ea typeface="Times New Roman" panose="02020603050405020304" pitchFamily="18" charset="0"/>
              </a:rPr>
              <a:t>mối</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quan</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hệ</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giữa</a:t>
            </a:r>
            <a:r>
              <a:rPr lang="en-US" dirty="0">
                <a:latin typeface="Arial" panose="020B0604020202020204" pitchFamily="34" charset="0"/>
                <a:ea typeface="Times New Roman" panose="02020603050405020304" pitchFamily="18" charset="0"/>
              </a:rPr>
              <a:t> </a:t>
            </a:r>
            <a:r>
              <a:rPr lang="en-US" dirty="0" err="1">
                <a:latin typeface="Arial" panose="020B0604020202020204" pitchFamily="34" charset="0"/>
                <a:ea typeface="Times New Roman" panose="02020603050405020304" pitchFamily="18" charset="0"/>
              </a:rPr>
              <a:t>các</a:t>
            </a:r>
            <a:r>
              <a:rPr lang="en-US" dirty="0">
                <a:latin typeface="Arial" panose="020B0604020202020204" pitchFamily="34" charset="0"/>
                <a:ea typeface="Times New Roman" panose="02020603050405020304" pitchFamily="18" charset="0"/>
              </a:rPr>
              <a:t> object.</a:t>
            </a:r>
            <a:endParaRPr lang="en-US" dirty="0">
              <a:effectLst/>
              <a:latin typeface="Times New Roman" panose="02020603050405020304" pitchFamily="18" charset="0"/>
              <a:ea typeface="Times New Roman" panose="02020603050405020304" pitchFamily="18" charset="0"/>
            </a:endParaRPr>
          </a:p>
        </p:txBody>
      </p:sp>
      <p:pic>
        <p:nvPicPr>
          <p:cNvPr id="6" name="Picture 2" descr="https://i.imgur.com/M5WVUa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3985" y="2752726"/>
            <a:ext cx="7581900" cy="33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26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3. ORM </a:t>
            </a:r>
            <a:r>
              <a:rPr lang="en-US" sz="2000" b="1" dirty="0" err="1">
                <a:solidFill>
                  <a:schemeClr val="tx1"/>
                </a:solidFill>
                <a:latin typeface="Arial" panose="020B0604020202020204" pitchFamily="34" charset="0"/>
                <a:cs typeface="Arial" panose="020B0604020202020204" pitchFamily="34" charset="0"/>
              </a:rPr>
              <a:t>là</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gì</a:t>
            </a:r>
            <a:r>
              <a:rPr lang="en-US" sz="2000" b="1" dirty="0">
                <a:solidFill>
                  <a:schemeClr val="tx1"/>
                </a:solidFill>
                <a:latin typeface="Arial" panose="020B0604020202020204" pitchFamily="34" charset="0"/>
                <a:cs typeface="Arial" panose="020B0604020202020204" pitchFamily="34" charset="0"/>
              </a:rPr>
              <a:t>?</a:t>
            </a:r>
          </a:p>
        </p:txBody>
      </p:sp>
      <p:sp>
        <p:nvSpPr>
          <p:cNvPr id="6" name="正方形/長方形 5"/>
          <p:cNvSpPr/>
          <p:nvPr/>
        </p:nvSpPr>
        <p:spPr>
          <a:xfrm>
            <a:off x="971549" y="600076"/>
            <a:ext cx="8486775" cy="923330"/>
          </a:xfrm>
          <a:prstGeom prst="rect">
            <a:avLst/>
          </a:prstGeom>
        </p:spPr>
        <p:txBody>
          <a:bodyPr wrap="square">
            <a:spAutoFit/>
          </a:bodyPr>
          <a:lstStyle/>
          <a:p>
            <a:pPr marL="285750" indent="-285750" algn="just" fontAlgn="base">
              <a:spcAft>
                <a:spcPts val="1800"/>
              </a:spcAft>
              <a:buFont typeface="Wingdings" panose="05000000000000000000" pitchFamily="2" charset="2"/>
              <a:buChar char="Ø"/>
            </a:pPr>
            <a:r>
              <a:rPr lang="vi-VN" dirty="0">
                <a:ea typeface="Times New Roman" panose="02020603050405020304" pitchFamily="18" charset="0"/>
              </a:rPr>
              <a:t>ORM là viết tắt của Object Relational Mapping, là một công nghệ/ khái niệm/ quá trình chuyển đổi dữ liệu từ ngôn ngữ hướng đối tượng sang Database quan hệ và ngược lại</a:t>
            </a:r>
            <a:endParaRPr lang="en-US" dirty="0">
              <a:effectLst/>
              <a:latin typeface="Times New Roman" panose="02020603050405020304" pitchFamily="18" charset="0"/>
              <a:ea typeface="Times New Roman" panose="02020603050405020304" pitchFamily="18" charset="0"/>
            </a:endParaRPr>
          </a:p>
        </p:txBody>
      </p:sp>
      <p:sp>
        <p:nvSpPr>
          <p:cNvPr id="7" name="正方形/長方形 6"/>
          <p:cNvSpPr/>
          <p:nvPr/>
        </p:nvSpPr>
        <p:spPr>
          <a:xfrm>
            <a:off x="971548" y="1694857"/>
            <a:ext cx="8486775" cy="923330"/>
          </a:xfrm>
          <a:prstGeom prst="rect">
            <a:avLst/>
          </a:prstGeom>
        </p:spPr>
        <p:txBody>
          <a:bodyPr wrap="square">
            <a:spAutoFit/>
          </a:bodyPr>
          <a:lstStyle/>
          <a:p>
            <a:pPr marL="285750" indent="-285750" algn="just" fontAlgn="base">
              <a:spcAft>
                <a:spcPts val="1800"/>
              </a:spcAft>
              <a:buFont typeface="Wingdings" panose="05000000000000000000" pitchFamily="2" charset="2"/>
              <a:buChar char="Ø"/>
            </a:pPr>
            <a:r>
              <a:rPr lang="vi-VN" dirty="0">
                <a:ea typeface="Times New Roman" panose="02020603050405020304" pitchFamily="18" charset="0"/>
              </a:rPr>
              <a:t>ORM có khả năng xử lý các thao tác của nhiều loại cơ sở dữ liệu khác nhau một cách dễ dàng mà không quan tâm đến loại database sử dụng hay loại thao tác sử dụng</a:t>
            </a:r>
            <a:endParaRPr lang="en-US" dirty="0">
              <a:effectLst/>
              <a:latin typeface="Times New Roman" panose="02020603050405020304" pitchFamily="18" charset="0"/>
              <a:ea typeface="Times New Roman" panose="02020603050405020304" pitchFamily="18" charset="0"/>
            </a:endParaRPr>
          </a:p>
        </p:txBody>
      </p:sp>
      <p:pic>
        <p:nvPicPr>
          <p:cNvPr id="8" name="図 7" descr="https://static.javatpoint.com/springboot/images/spring-boot-jpa3.png"/>
          <p:cNvPicPr/>
          <p:nvPr/>
        </p:nvPicPr>
        <p:blipFill>
          <a:blip r:embed="rId3">
            <a:extLst>
              <a:ext uri="{28A0092B-C50C-407E-A947-70E740481C1C}">
                <a14:useLocalDpi xmlns:a14="http://schemas.microsoft.com/office/drawing/2010/main" val="0"/>
              </a:ext>
            </a:extLst>
          </a:blip>
          <a:srcRect/>
          <a:stretch>
            <a:fillRect/>
          </a:stretch>
        </p:blipFill>
        <p:spPr bwMode="auto">
          <a:xfrm>
            <a:off x="2633662" y="3171825"/>
            <a:ext cx="5400675" cy="3600450"/>
          </a:xfrm>
          <a:prstGeom prst="rect">
            <a:avLst/>
          </a:prstGeom>
          <a:noFill/>
          <a:ln>
            <a:noFill/>
          </a:ln>
        </p:spPr>
      </p:pic>
    </p:spTree>
    <p:extLst>
      <p:ext uri="{BB962C8B-B14F-4D97-AF65-F5344CB8AC3E}">
        <p14:creationId xmlns:p14="http://schemas.microsoft.com/office/powerpoint/2010/main" val="276212788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4. </a:t>
            </a:r>
            <a:r>
              <a:rPr lang="en-US" sz="2000" b="1" dirty="0" err="1">
                <a:solidFill>
                  <a:schemeClr val="tx1"/>
                </a:solidFill>
                <a:latin typeface="Arial" panose="020B0604020202020204" pitchFamily="34" charset="0"/>
                <a:cs typeface="Arial" panose="020B0604020202020204" pitchFamily="34" charset="0"/>
              </a:rPr>
              <a:t>Triển</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khai</a:t>
            </a:r>
            <a:r>
              <a:rPr lang="en-US" sz="2000" b="1" dirty="0">
                <a:solidFill>
                  <a:schemeClr val="tx1"/>
                </a:solidFill>
                <a:latin typeface="Arial" panose="020B0604020202020204" pitchFamily="34" charset="0"/>
                <a:cs typeface="Arial" panose="020B0604020202020204" pitchFamily="34" charset="0"/>
              </a:rPr>
              <a:t> Spring Data JPA</a:t>
            </a:r>
          </a:p>
        </p:txBody>
      </p:sp>
      <p:sp>
        <p:nvSpPr>
          <p:cNvPr id="3" name="正方形/長方形 2"/>
          <p:cNvSpPr/>
          <p:nvPr/>
        </p:nvSpPr>
        <p:spPr>
          <a:xfrm>
            <a:off x="1073983" y="600076"/>
            <a:ext cx="2416046" cy="369332"/>
          </a:xfrm>
          <a:prstGeom prst="rect">
            <a:avLst/>
          </a:prstGeom>
        </p:spPr>
        <p:txBody>
          <a:bodyPr wrap="none">
            <a:spAutoFit/>
          </a:bodyPr>
          <a:lstStyle/>
          <a:p>
            <a:r>
              <a:rPr lang="en-US" b="1" dirty="0">
                <a:latin typeface="Arial" panose="020B0604020202020204" pitchFamily="34" charset="0"/>
                <a:ea typeface="ＭＳ 明朝" panose="02020609040205080304" pitchFamily="17" charset="-128"/>
              </a:rPr>
              <a:t>4.1 Generate Project</a:t>
            </a:r>
            <a:endParaRPr lang="en-US" b="1" dirty="0"/>
          </a:p>
        </p:txBody>
      </p:sp>
      <p:pic>
        <p:nvPicPr>
          <p:cNvPr id="6" name="図 5"/>
          <p:cNvPicPr>
            <a:picLocks noChangeAspect="1"/>
          </p:cNvPicPr>
          <p:nvPr/>
        </p:nvPicPr>
        <p:blipFill>
          <a:blip r:embed="rId3"/>
          <a:stretch>
            <a:fillRect/>
          </a:stretch>
        </p:blipFill>
        <p:spPr>
          <a:xfrm>
            <a:off x="849841" y="1200546"/>
            <a:ext cx="8486775" cy="4597003"/>
          </a:xfrm>
          <a:prstGeom prst="rect">
            <a:avLst/>
          </a:prstGeom>
        </p:spPr>
      </p:pic>
    </p:spTree>
    <p:extLst>
      <p:ext uri="{BB962C8B-B14F-4D97-AF65-F5344CB8AC3E}">
        <p14:creationId xmlns:p14="http://schemas.microsoft.com/office/powerpoint/2010/main" val="293657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921583" y="95251"/>
            <a:ext cx="2133918" cy="369332"/>
          </a:xfrm>
          <a:prstGeom prst="rect">
            <a:avLst/>
          </a:prstGeom>
        </p:spPr>
        <p:txBody>
          <a:bodyPr wrap="none">
            <a:spAutoFit/>
          </a:bodyPr>
          <a:lstStyle/>
          <a:p>
            <a:r>
              <a:rPr lang="en-US" b="1" dirty="0">
                <a:latin typeface="Arial" panose="020B0604020202020204" pitchFamily="34" charset="0"/>
                <a:ea typeface="ＭＳ 明朝" panose="02020609040205080304" pitchFamily="17" charset="-128"/>
              </a:rPr>
              <a:t>4.2 Import Project</a:t>
            </a:r>
            <a:endParaRPr lang="en-US" b="1" dirty="0"/>
          </a:p>
        </p:txBody>
      </p:sp>
      <p:sp>
        <p:nvSpPr>
          <p:cNvPr id="4" name="テキスト ボックス 3"/>
          <p:cNvSpPr txBox="1"/>
          <p:nvPr/>
        </p:nvSpPr>
        <p:spPr>
          <a:xfrm>
            <a:off x="1133475" y="704850"/>
            <a:ext cx="7400925" cy="646331"/>
          </a:xfrm>
          <a:prstGeom prst="rect">
            <a:avLst/>
          </a:prstGeom>
          <a:noFill/>
        </p:spPr>
        <p:txBody>
          <a:bodyPr wrap="square" rtlCol="0">
            <a:spAutoFit/>
          </a:bodyPr>
          <a:lstStyle/>
          <a:p>
            <a:pPr marL="285750" indent="-285750">
              <a:buFont typeface="Arial" panose="020B0604020202020204" pitchFamily="34" charset="0"/>
              <a:buChar char="•"/>
            </a:pPr>
            <a:r>
              <a:rPr lang="en-US" dirty="0"/>
              <a:t>Import </a:t>
            </a:r>
            <a:r>
              <a:rPr lang="en-US" dirty="0" err="1"/>
              <a:t>trên</a:t>
            </a:r>
            <a:r>
              <a:rPr lang="en-US" dirty="0"/>
              <a:t> eclipse: File -&gt; Import -&gt; Existing </a:t>
            </a:r>
            <a:r>
              <a:rPr lang="en-US" dirty="0" err="1"/>
              <a:t>Gradle</a:t>
            </a:r>
            <a:r>
              <a:rPr lang="en-US" dirty="0"/>
              <a:t> Projects -&gt; Browse -&gt; </a:t>
            </a:r>
            <a:r>
              <a:rPr lang="en-US" dirty="0" err="1"/>
              <a:t>Chọn</a:t>
            </a:r>
            <a:r>
              <a:rPr lang="en-US" dirty="0"/>
              <a:t> </a:t>
            </a:r>
            <a:r>
              <a:rPr lang="en-US" dirty="0" err="1"/>
              <a:t>tên</a:t>
            </a:r>
            <a:r>
              <a:rPr lang="en-US" dirty="0"/>
              <a:t> </a:t>
            </a:r>
            <a:r>
              <a:rPr lang="en-US" dirty="0" err="1"/>
              <a:t>thư</a:t>
            </a:r>
            <a:r>
              <a:rPr lang="en-US" dirty="0"/>
              <a:t> </a:t>
            </a:r>
            <a:r>
              <a:rPr lang="en-US" dirty="0" err="1"/>
              <a:t>mục</a:t>
            </a:r>
            <a:r>
              <a:rPr lang="en-US" dirty="0"/>
              <a:t> </a:t>
            </a:r>
            <a:r>
              <a:rPr lang="en-US" dirty="0" err="1"/>
              <a:t>chứa</a:t>
            </a:r>
            <a:r>
              <a:rPr lang="en-US" dirty="0"/>
              <a:t> project -&gt; Finish</a:t>
            </a:r>
          </a:p>
        </p:txBody>
      </p:sp>
      <p:pic>
        <p:nvPicPr>
          <p:cNvPr id="6" name="図 5"/>
          <p:cNvPicPr>
            <a:picLocks noChangeAspect="1"/>
          </p:cNvPicPr>
          <p:nvPr/>
        </p:nvPicPr>
        <p:blipFill>
          <a:blip r:embed="rId3"/>
          <a:stretch>
            <a:fillRect/>
          </a:stretch>
        </p:blipFill>
        <p:spPr>
          <a:xfrm>
            <a:off x="1319010" y="1438034"/>
            <a:ext cx="4281689" cy="5115417"/>
          </a:xfrm>
          <a:prstGeom prst="rect">
            <a:avLst/>
          </a:prstGeom>
        </p:spPr>
      </p:pic>
    </p:spTree>
    <p:extLst>
      <p:ext uri="{BB962C8B-B14F-4D97-AF65-F5344CB8AC3E}">
        <p14:creationId xmlns:p14="http://schemas.microsoft.com/office/powerpoint/2010/main" val="335560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4.3 File </a:t>
            </a:r>
            <a:r>
              <a:rPr lang="en-US" sz="2000" b="1" dirty="0" err="1">
                <a:solidFill>
                  <a:schemeClr val="tx1"/>
                </a:solidFill>
                <a:latin typeface="Arial" panose="020B0604020202020204" pitchFamily="34" charset="0"/>
                <a:cs typeface="Arial" panose="020B0604020202020204" pitchFamily="34" charset="0"/>
              </a:rPr>
              <a:t>build.gradle.kts</a:t>
            </a:r>
            <a:endParaRPr lang="en-US" sz="2000" b="1" dirty="0">
              <a:solidFill>
                <a:schemeClr val="tx1"/>
              </a:solidFill>
              <a:latin typeface="Arial" panose="020B0604020202020204" pitchFamily="34" charset="0"/>
              <a:cs typeface="Arial" panose="020B0604020202020204" pitchFamily="34" charset="0"/>
            </a:endParaRPr>
          </a:p>
        </p:txBody>
      </p:sp>
      <p:pic>
        <p:nvPicPr>
          <p:cNvPr id="5" name="図 4"/>
          <p:cNvPicPr>
            <a:picLocks noChangeAspect="1"/>
          </p:cNvPicPr>
          <p:nvPr/>
        </p:nvPicPr>
        <p:blipFill>
          <a:blip r:embed="rId3"/>
          <a:stretch>
            <a:fillRect/>
          </a:stretch>
        </p:blipFill>
        <p:spPr>
          <a:xfrm>
            <a:off x="1457272" y="746775"/>
            <a:ext cx="5553127" cy="5568510"/>
          </a:xfrm>
          <a:prstGeom prst="rect">
            <a:avLst/>
          </a:prstGeom>
        </p:spPr>
      </p:pic>
    </p:spTree>
    <p:extLst>
      <p:ext uri="{BB962C8B-B14F-4D97-AF65-F5344CB8AC3E}">
        <p14:creationId xmlns:p14="http://schemas.microsoft.com/office/powerpoint/2010/main" val="3240016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4.4 </a:t>
            </a:r>
            <a:r>
              <a:rPr lang="en-US" sz="2000" b="1" dirty="0" err="1">
                <a:solidFill>
                  <a:schemeClr val="tx1"/>
                </a:solidFill>
                <a:latin typeface="Arial" panose="020B0604020202020204" pitchFamily="34" charset="0"/>
                <a:cs typeface="Arial" panose="020B0604020202020204" pitchFamily="34" charset="0"/>
              </a:rPr>
              <a:t>Thực</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hiện</a:t>
            </a:r>
            <a:r>
              <a:rPr lang="en-US" sz="2000" b="1" dirty="0">
                <a:solidFill>
                  <a:schemeClr val="tx1"/>
                </a:solidFill>
                <a:latin typeface="Arial" panose="020B0604020202020204" pitchFamily="34" charset="0"/>
                <a:cs typeface="Arial" panose="020B0604020202020204" pitchFamily="34" charset="0"/>
              </a:rPr>
              <a:t> code </a:t>
            </a:r>
          </a:p>
        </p:txBody>
      </p:sp>
      <p:sp>
        <p:nvSpPr>
          <p:cNvPr id="3" name="正方形/長方形 2"/>
          <p:cNvSpPr/>
          <p:nvPr/>
        </p:nvSpPr>
        <p:spPr>
          <a:xfrm>
            <a:off x="571499" y="694872"/>
            <a:ext cx="8181975" cy="322845"/>
          </a:xfrm>
          <a:prstGeom prst="rect">
            <a:avLst/>
          </a:prstGeom>
        </p:spPr>
        <p:txBody>
          <a:bodyPr wrap="squar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a. </a:t>
            </a:r>
            <a:r>
              <a:rPr lang="en-US" sz="1400" dirty="0" err="1">
                <a:latin typeface="Arial" panose="020B0604020202020204" pitchFamily="34" charset="0"/>
                <a:ea typeface="ＭＳ 明朝" panose="02020609040205080304" pitchFamily="17" charset="-128"/>
                <a:cs typeface="Times New Roman" panose="02020603050405020304" pitchFamily="18" charset="0"/>
              </a:rPr>
              <a:t>Cấu</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trúc</a:t>
            </a:r>
            <a:r>
              <a:rPr lang="en-US" sz="1400" dirty="0">
                <a:latin typeface="Arial" panose="020B0604020202020204" pitchFamily="34" charset="0"/>
                <a:ea typeface="ＭＳ 明朝" panose="02020609040205080304" pitchFamily="17" charset="-128"/>
                <a:cs typeface="Times New Roman" panose="02020603050405020304" pitchFamily="18" charset="0"/>
              </a:rPr>
              <a:t> folder </a:t>
            </a:r>
            <a:r>
              <a:rPr lang="en-US" sz="1400" dirty="0" err="1">
                <a:latin typeface="Arial" panose="020B0604020202020204" pitchFamily="34" charset="0"/>
                <a:ea typeface="ＭＳ 明朝" panose="02020609040205080304" pitchFamily="17" charset="-128"/>
                <a:cs typeface="Times New Roman" panose="02020603050405020304" pitchFamily="18" charset="0"/>
              </a:rPr>
              <a:t>của</a:t>
            </a:r>
            <a:r>
              <a:rPr lang="en-US" sz="1400" dirty="0">
                <a:latin typeface="Arial" panose="020B0604020202020204" pitchFamily="34" charset="0"/>
                <a:ea typeface="ＭＳ 明朝" panose="02020609040205080304" pitchFamily="17" charset="-128"/>
                <a:cs typeface="Times New Roman" panose="02020603050405020304" pitchFamily="18" charset="0"/>
              </a:rPr>
              <a:t> project</a:t>
            </a:r>
            <a:endParaRPr lang="en-US" sz="1100"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1195387" y="1112513"/>
            <a:ext cx="2714625" cy="5153025"/>
          </a:xfrm>
          <a:prstGeom prst="rect">
            <a:avLst/>
          </a:prstGeom>
        </p:spPr>
      </p:pic>
      <p:sp>
        <p:nvSpPr>
          <p:cNvPr id="5" name="テキスト ボックス 4"/>
          <p:cNvSpPr txBox="1"/>
          <p:nvPr/>
        </p:nvSpPr>
        <p:spPr>
          <a:xfrm>
            <a:off x="4038599" y="1112513"/>
            <a:ext cx="5934076" cy="2031325"/>
          </a:xfrm>
          <a:prstGeom prst="rect">
            <a:avLst/>
          </a:prstGeom>
          <a:noFill/>
        </p:spPr>
        <p:txBody>
          <a:bodyPr wrap="square" rtlCol="0">
            <a:spAutoFit/>
          </a:bodyPr>
          <a:lstStyle/>
          <a:p>
            <a:pPr marL="342900" indent="-342900">
              <a:buAutoNum type="arabicPeriod"/>
            </a:pPr>
            <a:r>
              <a:rPr lang="en-US" sz="1400" b="1" dirty="0">
                <a:latin typeface="Arial" panose="020B0604020202020204" pitchFamily="34" charset="0"/>
                <a:cs typeface="Arial" panose="020B0604020202020204" pitchFamily="34" charset="0"/>
              </a:rPr>
              <a:t>Entity </a:t>
            </a:r>
            <a:r>
              <a:rPr lang="en-US" sz="1400" b="1" dirty="0" err="1">
                <a:latin typeface="Arial" panose="020B0604020202020204" pitchFamily="34" charset="0"/>
                <a:cs typeface="Arial" panose="020B0604020202020204" pitchFamily="34" charset="0"/>
              </a:rPr>
              <a:t>Customer.kt</a:t>
            </a:r>
            <a:r>
              <a:rPr lang="en-US" sz="1400" b="1"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Khai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báo</a:t>
            </a:r>
            <a:r>
              <a:rPr lang="en-US" sz="1400" dirty="0">
                <a:latin typeface="Arial" panose="020B0604020202020204" pitchFamily="34" charset="0"/>
                <a:cs typeface="Arial" panose="020B0604020202020204" pitchFamily="34" charset="0"/>
              </a:rPr>
              <a:t> class entity </a:t>
            </a:r>
            <a:r>
              <a:rPr lang="en-US" sz="1400" dirty="0" err="1">
                <a:latin typeface="Arial" panose="020B0604020202020204" pitchFamily="34" charset="0"/>
                <a:cs typeface="Arial" panose="020B0604020202020204" pitchFamily="34" charset="0"/>
              </a:rPr>
              <a:t>tương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ứng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với</a:t>
            </a:r>
            <a:r>
              <a:rPr lang="en-US" sz="1400" dirty="0">
                <a:latin typeface="Arial" panose="020B0604020202020204" pitchFamily="34" charset="0"/>
                <a:cs typeface="Arial" panose="020B0604020202020204" pitchFamily="34" charset="0"/>
              </a:rPr>
              <a:t> table </a:t>
            </a:r>
            <a:r>
              <a:rPr lang="en-US" sz="1400" dirty="0" err="1">
                <a:latin typeface="Arial" panose="020B0604020202020204" pitchFamily="34" charset="0"/>
                <a:cs typeface="Arial" panose="020B0604020202020204" pitchFamily="34" charset="0"/>
              </a:rPr>
              <a:t>trong</a:t>
            </a:r>
            <a:r>
              <a:rPr lang="en-US" sz="1400" dirty="0">
                <a:latin typeface="Arial" panose="020B0604020202020204" pitchFamily="34" charset="0"/>
                <a:cs typeface="Arial" panose="020B0604020202020204" pitchFamily="34" charset="0"/>
              </a:rPr>
              <a:t> database.</a:t>
            </a:r>
          </a:p>
          <a:p>
            <a:pPr marL="342900" indent="-342900">
              <a:buAutoNum type="arabicPeriod"/>
            </a:pPr>
            <a:r>
              <a:rPr lang="en-US" sz="1400" b="1" dirty="0">
                <a:latin typeface="Arial" panose="020B0604020202020204" pitchFamily="34" charset="0"/>
                <a:cs typeface="Arial" panose="020B0604020202020204" pitchFamily="34" charset="0"/>
              </a:rPr>
              <a:t>Repository </a:t>
            </a:r>
            <a:r>
              <a:rPr lang="en-US" sz="1400" b="1" dirty="0" err="1">
                <a:latin typeface="Arial" panose="020B0604020202020204" pitchFamily="34" charset="0"/>
                <a:cs typeface="Arial" panose="020B0604020202020204" pitchFamily="34" charset="0"/>
              </a:rPr>
              <a:t>CustomerRepository.kt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Kế</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thừa</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CrudRepository</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thực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hiện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truy</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vấn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tác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với</a:t>
            </a:r>
            <a:r>
              <a:rPr lang="en-US" sz="1400" dirty="0">
                <a:latin typeface="Arial" panose="020B0604020202020204" pitchFamily="34" charset="0"/>
                <a:cs typeface="Arial" panose="020B0604020202020204" pitchFamily="34" charset="0"/>
              </a:rPr>
              <a:t> entity(</a:t>
            </a:r>
            <a:r>
              <a:rPr lang="en-US" sz="1400" dirty="0" err="1">
                <a:latin typeface="Arial" panose="020B0604020202020204" pitchFamily="34" charset="0"/>
                <a:cs typeface="Arial" panose="020B0604020202020204" pitchFamily="34" charset="0"/>
              </a:rPr>
              <a:t>tương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ứng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với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tác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với</a:t>
            </a:r>
            <a:r>
              <a:rPr lang="en-US" sz="1400" dirty="0">
                <a:latin typeface="Arial" panose="020B0604020202020204" pitchFamily="34" charset="0"/>
                <a:cs typeface="Arial" panose="020B0604020202020204" pitchFamily="34" charset="0"/>
              </a:rPr>
              <a:t> DB)</a:t>
            </a:r>
          </a:p>
          <a:p>
            <a:pPr marL="342900" indent="-342900">
              <a:buAutoNum type="arabicPeriod"/>
            </a:pPr>
            <a:r>
              <a:rPr lang="en-US" sz="1400" b="1" dirty="0">
                <a:latin typeface="Arial" panose="020B0604020202020204" pitchFamily="34" charset="0"/>
                <a:cs typeface="Arial" panose="020B0604020202020204" pitchFamily="34" charset="0"/>
              </a:rPr>
              <a:t>Configuration </a:t>
            </a:r>
            <a:r>
              <a:rPr lang="en-US" sz="1400" b="1" dirty="0" err="1">
                <a:latin typeface="Arial" panose="020B0604020202020204" pitchFamily="34" charset="0"/>
                <a:cs typeface="Arial" panose="020B0604020202020204" pitchFamily="34" charset="0"/>
              </a:rPr>
              <a:t>CustomerConfiguration.kt</a:t>
            </a:r>
            <a:r>
              <a:rPr lang="en-US" sz="1400" dirty="0">
                <a:latin typeface="Arial" panose="020B0604020202020204" pitchFamily="34" charset="0"/>
                <a:cs typeface="Arial" panose="020B0604020202020204" pitchFamily="34" charset="0"/>
              </a:rPr>
              <a:t>: Class </a:t>
            </a:r>
            <a:r>
              <a:rPr lang="en-US" sz="1400" dirty="0" err="1">
                <a:latin typeface="Arial" panose="020B0604020202020204" pitchFamily="34" charset="0"/>
                <a:cs typeface="Arial" panose="020B0604020202020204" pitchFamily="34" charset="0"/>
              </a:rPr>
              <a:t>này</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thực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hiện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config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các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điều</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kiện</a:t>
            </a:r>
            <a:r>
              <a:rPr lang="en-US" sz="1400" dirty="0">
                <a:latin typeface="Arial" panose="020B0604020202020204" pitchFamily="34" charset="0"/>
                <a:cs typeface="Arial" panose="020B0604020202020204" pitchFamily="34" charset="0"/>
              </a:rPr>
              <a:t> hay insert data dummy </a:t>
            </a:r>
            <a:r>
              <a:rPr lang="en-US" sz="1400" dirty="0" err="1">
                <a:latin typeface="Arial" panose="020B0604020202020204" pitchFamily="34" charset="0"/>
                <a:cs typeface="Arial" panose="020B0604020202020204" pitchFamily="34" charset="0"/>
              </a:rPr>
              <a:t>khi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chạy</a:t>
            </a:r>
            <a:r>
              <a:rPr lang="en-US" sz="1400" dirty="0">
                <a:latin typeface="Arial" panose="020B0604020202020204" pitchFamily="34" charset="0"/>
                <a:cs typeface="Arial" panose="020B0604020202020204" pitchFamily="34" charset="0"/>
              </a:rPr>
              <a:t> application</a:t>
            </a:r>
          </a:p>
          <a:p>
            <a:pPr marL="342900" indent="-342900">
              <a:buAutoNum type="arabicPeriod"/>
            </a:pPr>
            <a:r>
              <a:rPr lang="en-US" sz="1400" b="1" dirty="0">
                <a:latin typeface="Arial" panose="020B0604020202020204" pitchFamily="34" charset="0"/>
                <a:cs typeface="Arial" panose="020B0604020202020204" pitchFamily="34" charset="0"/>
              </a:rPr>
              <a:t>Controller </a:t>
            </a:r>
            <a:r>
              <a:rPr lang="en-US" sz="1400" b="1" dirty="0" err="1">
                <a:latin typeface="Arial" panose="020B0604020202020204" pitchFamily="34" charset="0"/>
                <a:cs typeface="Arial" panose="020B0604020202020204" pitchFamily="34" charset="0"/>
              </a:rPr>
              <a:t>CustomerController.kt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Khai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báo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các</a:t>
            </a:r>
            <a:r>
              <a:rPr lang="en-US" sz="1400" dirty="0">
                <a:latin typeface="Arial" panose="020B0604020202020204" pitchFamily="34" charset="0"/>
                <a:cs typeface="Arial" panose="020B0604020202020204" pitchFamily="34" charset="0"/>
              </a:rPr>
              <a:t> request mapping </a:t>
            </a:r>
            <a:r>
              <a:rPr lang="en-US" sz="1400" dirty="0" err="1">
                <a:latin typeface="Arial" panose="020B0604020202020204" pitchFamily="34" charset="0"/>
                <a:cs typeface="Arial" panose="020B0604020202020204" pitchFamily="34" charset="0"/>
              </a:rPr>
              <a:t>thực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hiện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các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tác</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vụ</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riêng</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biệt</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như</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Hiển</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thị</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danh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sách</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thêm</a:t>
            </a:r>
            <a:r>
              <a:rPr lang="en-US" sz="1400" dirty="0">
                <a:latin typeface="Arial" panose="020B0604020202020204" pitchFamily="34" charset="0"/>
                <a:cs typeface="Arial" panose="020B0604020202020204" pitchFamily="34" charset="0"/>
              </a:rPr>
              <a:t> customer…</a:t>
            </a:r>
          </a:p>
        </p:txBody>
      </p:sp>
      <p:sp>
        <p:nvSpPr>
          <p:cNvPr id="6" name="テキスト ボックス 5"/>
          <p:cNvSpPr txBox="1"/>
          <p:nvPr/>
        </p:nvSpPr>
        <p:spPr>
          <a:xfrm>
            <a:off x="2771776" y="2543175"/>
            <a:ext cx="361950" cy="338554"/>
          </a:xfrm>
          <a:prstGeom prst="rect">
            <a:avLst/>
          </a:prstGeom>
          <a:noFill/>
        </p:spPr>
        <p:txBody>
          <a:bodyPr wrap="square" rtlCol="0">
            <a:spAutoFit/>
          </a:bodyPr>
          <a:lstStyle/>
          <a:p>
            <a:r>
              <a:rPr lang="en-US" sz="1600" dirty="0">
                <a:solidFill>
                  <a:srgbClr val="FF0000"/>
                </a:solidFill>
                <a:latin typeface="Arial" panose="020B0604020202020204" pitchFamily="34" charset="0"/>
                <a:cs typeface="Arial" panose="020B0604020202020204" pitchFamily="34" charset="0"/>
              </a:rPr>
              <a:t>1</a:t>
            </a:r>
          </a:p>
        </p:txBody>
      </p:sp>
      <p:sp>
        <p:nvSpPr>
          <p:cNvPr id="8" name="テキスト ボックス 7"/>
          <p:cNvSpPr txBox="1"/>
          <p:nvPr/>
        </p:nvSpPr>
        <p:spPr>
          <a:xfrm>
            <a:off x="3431381" y="3019425"/>
            <a:ext cx="361950" cy="338554"/>
          </a:xfrm>
          <a:prstGeom prst="rect">
            <a:avLst/>
          </a:prstGeom>
          <a:noFill/>
        </p:spPr>
        <p:txBody>
          <a:bodyPr wrap="square" rtlCol="0">
            <a:spAutoFit/>
          </a:bodyPr>
          <a:lstStyle/>
          <a:p>
            <a:r>
              <a:rPr lang="en-US" sz="1600" dirty="0">
                <a:solidFill>
                  <a:srgbClr val="FF0000"/>
                </a:solidFill>
                <a:latin typeface="Arial" panose="020B0604020202020204" pitchFamily="34" charset="0"/>
                <a:cs typeface="Arial" panose="020B0604020202020204" pitchFamily="34" charset="0"/>
              </a:rPr>
              <a:t>2</a:t>
            </a:r>
          </a:p>
        </p:txBody>
      </p:sp>
      <p:sp>
        <p:nvSpPr>
          <p:cNvPr id="9" name="テキスト ボックス 8"/>
          <p:cNvSpPr txBox="1"/>
          <p:nvPr/>
        </p:nvSpPr>
        <p:spPr>
          <a:xfrm>
            <a:off x="2697956" y="1562100"/>
            <a:ext cx="361950" cy="338554"/>
          </a:xfrm>
          <a:prstGeom prst="rect">
            <a:avLst/>
          </a:prstGeom>
          <a:noFill/>
        </p:spPr>
        <p:txBody>
          <a:bodyPr wrap="square" rtlCol="0">
            <a:spAutoFit/>
          </a:bodyPr>
          <a:lstStyle/>
          <a:p>
            <a:r>
              <a:rPr lang="en-US" sz="1600" dirty="0">
                <a:solidFill>
                  <a:srgbClr val="FF0000"/>
                </a:solidFill>
                <a:latin typeface="Arial" panose="020B0604020202020204" pitchFamily="34" charset="0"/>
                <a:cs typeface="Arial" panose="020B0604020202020204" pitchFamily="34" charset="0"/>
              </a:rPr>
              <a:t>3</a:t>
            </a:r>
          </a:p>
        </p:txBody>
      </p:sp>
      <p:sp>
        <p:nvSpPr>
          <p:cNvPr id="10" name="テキスト ボックス 9"/>
          <p:cNvSpPr txBox="1"/>
          <p:nvPr/>
        </p:nvSpPr>
        <p:spPr>
          <a:xfrm>
            <a:off x="3250406" y="1978369"/>
            <a:ext cx="361950" cy="338554"/>
          </a:xfrm>
          <a:prstGeom prst="rect">
            <a:avLst/>
          </a:prstGeom>
          <a:noFill/>
        </p:spPr>
        <p:txBody>
          <a:bodyPr wrap="square" rtlCol="0">
            <a:spAutoFit/>
          </a:bodyPr>
          <a:lstStyle/>
          <a:p>
            <a:r>
              <a:rPr lang="en-US" sz="1600" dirty="0">
                <a:solidFill>
                  <a:srgbClr val="FF0000"/>
                </a:solidFill>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172982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a:blip r:embed="rId3"/>
          <a:stretch>
            <a:fillRect/>
          </a:stretch>
        </p:blipFill>
        <p:spPr>
          <a:xfrm>
            <a:off x="1059391" y="1112513"/>
            <a:ext cx="8444683" cy="4007399"/>
          </a:xfrm>
          <a:prstGeom prst="rect">
            <a:avLst/>
          </a:prstGeom>
        </p:spPr>
      </p:pic>
      <p:sp>
        <p:nvSpPr>
          <p:cNvPr id="2" name="タイトル 6"/>
          <p:cNvSpPr txBox="1">
            <a:spLocks/>
          </p:cNvSpPr>
          <p:nvPr/>
        </p:nvSpPr>
        <p:spPr>
          <a:xfrm>
            <a:off x="849841" y="209550"/>
            <a:ext cx="7789333" cy="39052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Arial" panose="020B0604020202020204" pitchFamily="34" charset="0"/>
                <a:cs typeface="Arial" panose="020B0604020202020204" pitchFamily="34" charset="0"/>
              </a:rPr>
              <a:t>4.4 </a:t>
            </a:r>
            <a:r>
              <a:rPr lang="en-US" sz="2000" b="1" dirty="0" err="1">
                <a:solidFill>
                  <a:schemeClr val="tx1"/>
                </a:solidFill>
                <a:latin typeface="Arial" panose="020B0604020202020204" pitchFamily="34" charset="0"/>
                <a:cs typeface="Arial" panose="020B0604020202020204" pitchFamily="34" charset="0"/>
              </a:rPr>
              <a:t>Thực</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hiện</a:t>
            </a:r>
            <a:r>
              <a:rPr lang="en-US" sz="2000" b="1" dirty="0">
                <a:solidFill>
                  <a:schemeClr val="tx1"/>
                </a:solidFill>
                <a:latin typeface="Arial" panose="020B0604020202020204" pitchFamily="34" charset="0"/>
                <a:cs typeface="Arial" panose="020B0604020202020204" pitchFamily="34" charset="0"/>
              </a:rPr>
              <a:t> code </a:t>
            </a:r>
          </a:p>
        </p:txBody>
      </p:sp>
      <p:sp>
        <p:nvSpPr>
          <p:cNvPr id="3" name="正方形/長方形 2"/>
          <p:cNvSpPr/>
          <p:nvPr/>
        </p:nvSpPr>
        <p:spPr>
          <a:xfrm>
            <a:off x="533401" y="694872"/>
            <a:ext cx="8220074" cy="322845"/>
          </a:xfrm>
          <a:prstGeom prst="rect">
            <a:avLst/>
          </a:prstGeom>
        </p:spPr>
        <p:txBody>
          <a:bodyPr wrap="squar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a. </a:t>
            </a:r>
            <a:r>
              <a:rPr lang="en-US" sz="14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400" dirty="0">
                <a:latin typeface="Arial" panose="020B0604020202020204" pitchFamily="34" charset="0"/>
                <a:ea typeface="ＭＳ 明朝" panose="02020609040205080304" pitchFamily="17" charset="-128"/>
                <a:cs typeface="Times New Roman" panose="02020603050405020304" pitchFamily="18" charset="0"/>
              </a:rPr>
              <a:t> class Entity </a:t>
            </a:r>
            <a:r>
              <a:rPr lang="en-US" sz="1400" b="1" dirty="0" err="1">
                <a:latin typeface="Arial" panose="020B0604020202020204" pitchFamily="34" charset="0"/>
                <a:ea typeface="ＭＳ 明朝" panose="02020609040205080304" pitchFamily="17" charset="-128"/>
                <a:cs typeface="Times New Roman" panose="02020603050405020304" pitchFamily="18" charset="0"/>
              </a:rPr>
              <a:t>Customer.kt</a:t>
            </a:r>
            <a:endParaRPr lang="en-US" sz="1100" dirty="0">
              <a:effectLst/>
              <a:latin typeface="Calibri" panose="020F0502020204030204" pitchFamily="34" charset="0"/>
              <a:ea typeface="ＭＳ 明朝" panose="02020609040205080304" pitchFamily="17" charset="-128"/>
              <a:cs typeface="Times New Roman" panose="02020603050405020304" pitchFamily="18" charset="0"/>
            </a:endParaRPr>
          </a:p>
        </p:txBody>
      </p:sp>
      <p:sp>
        <p:nvSpPr>
          <p:cNvPr id="6" name="正方形/長方形 5"/>
          <p:cNvSpPr/>
          <p:nvPr/>
        </p:nvSpPr>
        <p:spPr>
          <a:xfrm>
            <a:off x="1438275" y="3200400"/>
            <a:ext cx="914400" cy="2095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正方形/長方形 7"/>
          <p:cNvSpPr/>
          <p:nvPr/>
        </p:nvSpPr>
        <p:spPr>
          <a:xfrm>
            <a:off x="3095625" y="3419475"/>
            <a:ext cx="36195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正方形/長方形 8"/>
          <p:cNvSpPr/>
          <p:nvPr/>
        </p:nvSpPr>
        <p:spPr>
          <a:xfrm>
            <a:off x="1895475" y="3638550"/>
            <a:ext cx="1676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テキスト ボックス 9"/>
          <p:cNvSpPr txBox="1"/>
          <p:nvPr/>
        </p:nvSpPr>
        <p:spPr>
          <a:xfrm>
            <a:off x="1059391" y="5343525"/>
            <a:ext cx="8444683" cy="923330"/>
          </a:xfrm>
          <a:prstGeom prst="rect">
            <a:avLst/>
          </a:prstGeom>
          <a:noFill/>
        </p:spPr>
        <p:txBody>
          <a:bodyPr wrap="square" rtlCol="0">
            <a:spAutoFit/>
          </a:bodyPr>
          <a:lstStyle/>
          <a:p>
            <a:r>
              <a:rPr lang="en-US" b="1" dirty="0"/>
              <a:t>@Entity: </a:t>
            </a:r>
            <a:r>
              <a:rPr lang="en-US" dirty="0"/>
              <a:t>annotation </a:t>
            </a:r>
            <a:r>
              <a:rPr lang="en-US" dirty="0" err="1"/>
              <a:t>xác</a:t>
            </a:r>
            <a:r>
              <a:rPr lang="en-US" dirty="0"/>
              <a:t> </a:t>
            </a:r>
            <a:r>
              <a:rPr lang="en-US" dirty="0" err="1"/>
              <a:t>định</a:t>
            </a:r>
            <a:r>
              <a:rPr lang="en-US" dirty="0"/>
              <a:t> class </a:t>
            </a:r>
            <a:r>
              <a:rPr lang="en-US" dirty="0" err="1"/>
              <a:t>là</a:t>
            </a:r>
            <a:r>
              <a:rPr lang="en-US" dirty="0"/>
              <a:t> </a:t>
            </a:r>
            <a:r>
              <a:rPr lang="en-US" dirty="0" err="1"/>
              <a:t>một</a:t>
            </a:r>
            <a:r>
              <a:rPr lang="en-US" dirty="0"/>
              <a:t> entity </a:t>
            </a:r>
            <a:r>
              <a:rPr lang="en-US" dirty="0" err="1"/>
              <a:t>để</a:t>
            </a:r>
            <a:r>
              <a:rPr lang="en-US" dirty="0"/>
              <a:t> </a:t>
            </a:r>
            <a:r>
              <a:rPr lang="en-US" dirty="0" err="1"/>
              <a:t>có</a:t>
            </a:r>
            <a:r>
              <a:rPr lang="en-US" dirty="0"/>
              <a:t> </a:t>
            </a:r>
            <a:r>
              <a:rPr lang="en-US" dirty="0" err="1"/>
              <a:t>thể</a:t>
            </a:r>
            <a:r>
              <a:rPr lang="en-US" dirty="0"/>
              <a:t> </a:t>
            </a:r>
            <a:r>
              <a:rPr lang="en-US" dirty="0" err="1"/>
              <a:t>thao</a:t>
            </a:r>
            <a:r>
              <a:rPr lang="en-US" dirty="0"/>
              <a:t> </a:t>
            </a:r>
            <a:r>
              <a:rPr lang="en-US" dirty="0" err="1"/>
              <a:t>tác</a:t>
            </a:r>
            <a:r>
              <a:rPr lang="en-US" dirty="0"/>
              <a:t> </a:t>
            </a:r>
            <a:r>
              <a:rPr lang="en-US" dirty="0" err="1"/>
              <a:t>với</a:t>
            </a:r>
            <a:r>
              <a:rPr lang="en-US" dirty="0"/>
              <a:t> table</a:t>
            </a:r>
          </a:p>
          <a:p>
            <a:r>
              <a:rPr lang="en-US" b="1" dirty="0"/>
              <a:t>@Id: </a:t>
            </a:r>
            <a:r>
              <a:rPr lang="en-US" dirty="0"/>
              <a:t>annotation </a:t>
            </a:r>
            <a:r>
              <a:rPr lang="en-US" dirty="0" err="1"/>
              <a:t>xác</a:t>
            </a:r>
            <a:r>
              <a:rPr lang="en-US" dirty="0"/>
              <a:t> </a:t>
            </a:r>
            <a:r>
              <a:rPr lang="en-US" dirty="0" err="1"/>
              <a:t>định</a:t>
            </a:r>
            <a:r>
              <a:rPr lang="en-US" dirty="0"/>
              <a:t> </a:t>
            </a:r>
            <a:r>
              <a:rPr lang="en-US" dirty="0" err="1"/>
              <a:t>khóa</a:t>
            </a:r>
            <a:r>
              <a:rPr lang="en-US" dirty="0"/>
              <a:t> </a:t>
            </a:r>
            <a:r>
              <a:rPr lang="en-US" dirty="0" err="1"/>
              <a:t>chính</a:t>
            </a:r>
            <a:r>
              <a:rPr lang="en-US" dirty="0"/>
              <a:t> </a:t>
            </a:r>
            <a:r>
              <a:rPr lang="en-US" dirty="0" err="1"/>
              <a:t>tương</a:t>
            </a:r>
            <a:r>
              <a:rPr lang="en-US" dirty="0"/>
              <a:t> </a:t>
            </a:r>
            <a:r>
              <a:rPr lang="en-US" dirty="0" err="1"/>
              <a:t>ứng</a:t>
            </a:r>
            <a:r>
              <a:rPr lang="en-US" dirty="0"/>
              <a:t> </a:t>
            </a:r>
            <a:r>
              <a:rPr lang="en-US" dirty="0" err="1"/>
              <a:t>với</a:t>
            </a:r>
            <a:r>
              <a:rPr lang="en-US" dirty="0"/>
              <a:t> table.</a:t>
            </a:r>
          </a:p>
          <a:p>
            <a:r>
              <a:rPr lang="en-US" b="1" dirty="0"/>
              <a:t>@</a:t>
            </a:r>
            <a:r>
              <a:rPr lang="en-US" b="1" dirty="0" err="1"/>
              <a:t>GenneratedValues</a:t>
            </a:r>
            <a:r>
              <a:rPr lang="en-US" dirty="0"/>
              <a:t>: annotation </a:t>
            </a:r>
            <a:r>
              <a:rPr lang="en-US" dirty="0" err="1"/>
              <a:t>xác</a:t>
            </a:r>
            <a:r>
              <a:rPr lang="en-US" dirty="0"/>
              <a:t> </a:t>
            </a:r>
            <a:r>
              <a:rPr lang="en-US" dirty="0" err="1"/>
              <a:t>định</a:t>
            </a:r>
            <a:r>
              <a:rPr lang="en-US" dirty="0"/>
              <a:t> </a:t>
            </a:r>
            <a:r>
              <a:rPr lang="en-US" dirty="0" err="1"/>
              <a:t>giá</a:t>
            </a:r>
            <a:r>
              <a:rPr lang="en-US" dirty="0"/>
              <a:t> </a:t>
            </a:r>
            <a:r>
              <a:rPr lang="en-US" dirty="0" err="1"/>
              <a:t>trị</a:t>
            </a:r>
            <a:r>
              <a:rPr lang="en-US" dirty="0"/>
              <a:t> </a:t>
            </a:r>
            <a:r>
              <a:rPr lang="en-US" dirty="0" err="1"/>
              <a:t>được</a:t>
            </a:r>
            <a:r>
              <a:rPr lang="en-US" dirty="0"/>
              <a:t> </a:t>
            </a:r>
            <a:r>
              <a:rPr lang="en-US" dirty="0" err="1"/>
              <a:t>tự</a:t>
            </a:r>
            <a:r>
              <a:rPr lang="en-US" dirty="0"/>
              <a:t> </a:t>
            </a:r>
            <a:r>
              <a:rPr lang="en-US" dirty="0" err="1"/>
              <a:t>động</a:t>
            </a:r>
            <a:r>
              <a:rPr lang="en-US" dirty="0"/>
              <a:t> generate  </a:t>
            </a:r>
          </a:p>
        </p:txBody>
      </p:sp>
    </p:spTree>
    <p:extLst>
      <p:ext uri="{BB962C8B-B14F-4D97-AF65-F5344CB8AC3E}">
        <p14:creationId xmlns:p14="http://schemas.microsoft.com/office/powerpoint/2010/main" val="320667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375982" y="0"/>
            <a:ext cx="2589107" cy="311239"/>
          </a:xfrm>
          <a:prstGeom prst="rect">
            <a:avLst/>
          </a:prstGeom>
        </p:spPr>
        <p:txBody>
          <a:bodyPr wrap="non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b. </a:t>
            </a:r>
            <a:r>
              <a:rPr lang="en-US" sz="14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truy</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vấn</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đơn</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giản</a:t>
            </a:r>
            <a:endParaRPr lang="en-US" sz="1100"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5" name="図 4"/>
          <p:cNvPicPr>
            <a:picLocks noChangeAspect="1"/>
          </p:cNvPicPr>
          <p:nvPr/>
        </p:nvPicPr>
        <p:blipFill>
          <a:blip r:embed="rId3"/>
          <a:stretch>
            <a:fillRect/>
          </a:stretch>
        </p:blipFill>
        <p:spPr>
          <a:xfrm>
            <a:off x="976391" y="603012"/>
            <a:ext cx="8319548" cy="5531087"/>
          </a:xfrm>
          <a:prstGeom prst="rect">
            <a:avLst/>
          </a:prstGeom>
        </p:spPr>
      </p:pic>
      <p:sp>
        <p:nvSpPr>
          <p:cNvPr id="3" name="正方形/長方形 2"/>
          <p:cNvSpPr/>
          <p:nvPr/>
        </p:nvSpPr>
        <p:spPr>
          <a:xfrm>
            <a:off x="2562226" y="1962150"/>
            <a:ext cx="5867400" cy="28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角丸四角形吹き出し 6"/>
          <p:cNvSpPr/>
          <p:nvPr/>
        </p:nvSpPr>
        <p:spPr>
          <a:xfrm>
            <a:off x="5800725" y="311239"/>
            <a:ext cx="5124449" cy="1546136"/>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solidFill>
                  <a:schemeClr val="bg1"/>
                </a:solidFill>
              </a:rPr>
              <a:t>Ineterface</a:t>
            </a:r>
            <a:r>
              <a:rPr lang="en-US" dirty="0">
                <a:solidFill>
                  <a:schemeClr val="bg1"/>
                </a:solidFill>
              </a:rPr>
              <a:t> </a:t>
            </a:r>
            <a:r>
              <a:rPr lang="en-US" b="1" dirty="0" err="1">
                <a:solidFill>
                  <a:schemeClr val="tx1"/>
                </a:solidFill>
              </a:rPr>
              <a:t>CustomerRepository</a:t>
            </a:r>
            <a:r>
              <a:rPr lang="en-US" dirty="0">
                <a:solidFill>
                  <a:schemeClr val="bg1"/>
                </a:solidFill>
              </a:rPr>
              <a:t> </a:t>
            </a:r>
            <a:r>
              <a:rPr lang="en-US" dirty="0" err="1">
                <a:solidFill>
                  <a:schemeClr val="bg1"/>
                </a:solidFill>
              </a:rPr>
              <a:t>kế</a:t>
            </a:r>
            <a:r>
              <a:rPr lang="en-US" dirty="0">
                <a:solidFill>
                  <a:schemeClr val="bg1"/>
                </a:solidFill>
              </a:rPr>
              <a:t> </a:t>
            </a:r>
            <a:r>
              <a:rPr lang="en-US" dirty="0" err="1">
                <a:solidFill>
                  <a:schemeClr val="bg1"/>
                </a:solidFill>
              </a:rPr>
              <a:t>thừa</a:t>
            </a:r>
            <a:r>
              <a:rPr lang="en-US" dirty="0">
                <a:solidFill>
                  <a:schemeClr val="bg1"/>
                </a:solidFill>
              </a:rPr>
              <a:t> </a:t>
            </a:r>
            <a:r>
              <a:rPr lang="en-US" b="1" dirty="0" err="1">
                <a:solidFill>
                  <a:schemeClr val="tx1"/>
                </a:solidFill>
              </a:rPr>
              <a:t>CrudRepository</a:t>
            </a:r>
            <a:r>
              <a:rPr lang="en-US" b="1" dirty="0">
                <a:solidFill>
                  <a:schemeClr val="tx1"/>
                </a:solidFill>
              </a:rPr>
              <a:t> </a:t>
            </a:r>
            <a:r>
              <a:rPr lang="en-US" dirty="0" err="1">
                <a:solidFill>
                  <a:schemeClr val="bg1"/>
                </a:solidFill>
              </a:rPr>
              <a:t>của</a:t>
            </a:r>
            <a:r>
              <a:rPr lang="en-US" dirty="0">
                <a:solidFill>
                  <a:schemeClr val="bg1"/>
                </a:solidFill>
              </a:rPr>
              <a:t> spring data </a:t>
            </a:r>
            <a:r>
              <a:rPr lang="en-US" dirty="0" err="1">
                <a:solidFill>
                  <a:schemeClr val="bg1"/>
                </a:solidFill>
              </a:rPr>
              <a:t>jpa</a:t>
            </a:r>
            <a:endParaRPr lang="en-US" dirty="0">
              <a:solidFill>
                <a:schemeClr val="bg1"/>
              </a:solidFill>
            </a:endParaRPr>
          </a:p>
          <a:p>
            <a:r>
              <a:rPr lang="en-US" dirty="0"/>
              <a:t>Trong </a:t>
            </a:r>
            <a:r>
              <a:rPr lang="en-US" b="1" dirty="0" err="1">
                <a:solidFill>
                  <a:schemeClr val="tx1"/>
                </a:solidFill>
              </a:rPr>
              <a:t>CrudRepository</a:t>
            </a:r>
            <a:r>
              <a:rPr lang="en-US" dirty="0"/>
              <a:t> </a:t>
            </a:r>
            <a:r>
              <a:rPr lang="en-US" dirty="0" err="1"/>
              <a:t>cần</a:t>
            </a:r>
            <a:r>
              <a:rPr lang="en-US" dirty="0"/>
              <a:t> </a:t>
            </a:r>
            <a:r>
              <a:rPr lang="en-US" dirty="0" err="1"/>
              <a:t>truyền</a:t>
            </a:r>
            <a:r>
              <a:rPr lang="en-US" dirty="0"/>
              <a:t> </a:t>
            </a:r>
            <a:r>
              <a:rPr lang="en-US" dirty="0" err="1"/>
              <a:t>vào</a:t>
            </a:r>
            <a:r>
              <a:rPr lang="en-US" dirty="0"/>
              <a:t> </a:t>
            </a:r>
            <a:r>
              <a:rPr lang="en-US" dirty="0" err="1"/>
              <a:t>loại</a:t>
            </a:r>
            <a:r>
              <a:rPr lang="en-US" dirty="0"/>
              <a:t> entity </a:t>
            </a:r>
            <a:r>
              <a:rPr lang="en-US" dirty="0" err="1"/>
              <a:t>và</a:t>
            </a:r>
            <a:r>
              <a:rPr lang="en-US" dirty="0"/>
              <a:t> </a:t>
            </a:r>
            <a:r>
              <a:rPr lang="en-US" dirty="0" err="1"/>
              <a:t>kiểu</a:t>
            </a:r>
            <a:r>
              <a:rPr lang="en-US" dirty="0"/>
              <a:t> </a:t>
            </a:r>
            <a:r>
              <a:rPr lang="en-US" dirty="0" err="1"/>
              <a:t>dữ</a:t>
            </a:r>
            <a:r>
              <a:rPr lang="en-US" dirty="0"/>
              <a:t> </a:t>
            </a:r>
            <a:r>
              <a:rPr lang="en-US" dirty="0" err="1"/>
              <a:t>liệu</a:t>
            </a:r>
            <a:r>
              <a:rPr lang="en-US" dirty="0"/>
              <a:t> ID </a:t>
            </a:r>
            <a:r>
              <a:rPr lang="en-US" dirty="0" err="1"/>
              <a:t>của</a:t>
            </a:r>
            <a:r>
              <a:rPr lang="en-US" dirty="0"/>
              <a:t> Entity </a:t>
            </a:r>
            <a:r>
              <a:rPr lang="en-US" dirty="0" err="1"/>
              <a:t>đó</a:t>
            </a:r>
            <a:endParaRPr lang="en-US" dirty="0"/>
          </a:p>
          <a:p>
            <a:endParaRPr lang="en-US" dirty="0">
              <a:solidFill>
                <a:schemeClr val="tx1"/>
              </a:solidFill>
            </a:endParaRPr>
          </a:p>
        </p:txBody>
      </p:sp>
      <p:sp>
        <p:nvSpPr>
          <p:cNvPr id="9" name="テキスト ボックス 8"/>
          <p:cNvSpPr txBox="1"/>
          <p:nvPr/>
        </p:nvSpPr>
        <p:spPr>
          <a:xfrm>
            <a:off x="1276350" y="3752850"/>
            <a:ext cx="7515225" cy="2031325"/>
          </a:xfrm>
          <a:prstGeom prst="rect">
            <a:avLst/>
          </a:prstGeom>
          <a:noFill/>
          <a:ln>
            <a:solidFill>
              <a:srgbClr val="FF0000"/>
            </a:solidFill>
          </a:ln>
        </p:spPr>
        <p:txBody>
          <a:bodyPr wrap="square" rtlCol="0">
            <a:spAutoFit/>
          </a:bodyPr>
          <a:lstStyle/>
          <a:p>
            <a:r>
              <a:rPr lang="en-US" b="1" dirty="0"/>
              <a:t>Spring Data JPA </a:t>
            </a:r>
            <a:r>
              <a:rPr lang="en-US" dirty="0" err="1"/>
              <a:t>cũng</a:t>
            </a:r>
            <a:r>
              <a:rPr lang="en-US" dirty="0"/>
              <a:t> </a:t>
            </a:r>
            <a:r>
              <a:rPr lang="en-US" dirty="0" err="1"/>
              <a:t>cho</a:t>
            </a:r>
            <a:r>
              <a:rPr lang="en-US" dirty="0"/>
              <a:t> </a:t>
            </a:r>
            <a:r>
              <a:rPr lang="en-US" dirty="0" err="1"/>
              <a:t>phép</a:t>
            </a:r>
            <a:r>
              <a:rPr lang="en-US" dirty="0"/>
              <a:t> </a:t>
            </a:r>
            <a:r>
              <a:rPr lang="en-US" dirty="0" err="1"/>
              <a:t>bạn</a:t>
            </a:r>
            <a:r>
              <a:rPr lang="en-US" dirty="0"/>
              <a:t> </a:t>
            </a:r>
            <a:r>
              <a:rPr lang="en-US" dirty="0" err="1"/>
              <a:t>xác</a:t>
            </a:r>
            <a:r>
              <a:rPr lang="en-US" dirty="0"/>
              <a:t> </a:t>
            </a:r>
            <a:r>
              <a:rPr lang="en-US" dirty="0" err="1"/>
              <a:t>định</a:t>
            </a:r>
            <a:r>
              <a:rPr lang="en-US" dirty="0"/>
              <a:t> </a:t>
            </a:r>
            <a:r>
              <a:rPr lang="en-US" dirty="0" err="1"/>
              <a:t>các</a:t>
            </a:r>
            <a:r>
              <a:rPr lang="en-US" dirty="0"/>
              <a:t> method </a:t>
            </a:r>
            <a:r>
              <a:rPr lang="en-US" dirty="0" err="1"/>
              <a:t>truy</a:t>
            </a:r>
            <a:r>
              <a:rPr lang="en-US" dirty="0"/>
              <a:t> </a:t>
            </a:r>
            <a:r>
              <a:rPr lang="en-US" dirty="0" err="1"/>
              <a:t>vấn</a:t>
            </a:r>
            <a:r>
              <a:rPr lang="en-US" dirty="0"/>
              <a:t> </a:t>
            </a:r>
            <a:r>
              <a:rPr lang="en-US" dirty="0" err="1"/>
              <a:t>khác</a:t>
            </a:r>
            <a:r>
              <a:rPr lang="en-US" dirty="0"/>
              <a:t> </a:t>
            </a:r>
            <a:r>
              <a:rPr lang="en-US" dirty="0" err="1"/>
              <a:t>bằng</a:t>
            </a:r>
            <a:r>
              <a:rPr lang="en-US" dirty="0"/>
              <a:t> </a:t>
            </a:r>
            <a:r>
              <a:rPr lang="en-US" dirty="0" err="1"/>
              <a:t>cách</a:t>
            </a:r>
            <a:r>
              <a:rPr lang="en-US" dirty="0"/>
              <a:t> </a:t>
            </a:r>
            <a:r>
              <a:rPr lang="en-US" dirty="0" err="1"/>
              <a:t>khai</a:t>
            </a:r>
            <a:r>
              <a:rPr lang="en-US" dirty="0"/>
              <a:t> </a:t>
            </a:r>
            <a:r>
              <a:rPr lang="en-US" dirty="0" err="1"/>
              <a:t>báo</a:t>
            </a:r>
            <a:r>
              <a:rPr lang="en-US" dirty="0"/>
              <a:t> method signature </a:t>
            </a:r>
            <a:r>
              <a:rPr lang="en-US" dirty="0" err="1"/>
              <a:t>của</a:t>
            </a:r>
            <a:r>
              <a:rPr lang="en-US" dirty="0"/>
              <a:t> </a:t>
            </a:r>
            <a:r>
              <a:rPr lang="en-US" dirty="0" err="1"/>
              <a:t>chúng</a:t>
            </a:r>
            <a:r>
              <a:rPr lang="en-US" dirty="0"/>
              <a:t>.</a:t>
            </a:r>
          </a:p>
          <a:p>
            <a:r>
              <a:rPr lang="en-US" dirty="0" err="1"/>
              <a:t>Ví</a:t>
            </a:r>
            <a:r>
              <a:rPr lang="en-US" dirty="0"/>
              <a:t> </a:t>
            </a:r>
            <a:r>
              <a:rPr lang="en-US" dirty="0" err="1"/>
              <a:t>dụ</a:t>
            </a:r>
            <a:r>
              <a:rPr lang="en-US" dirty="0"/>
              <a:t>, </a:t>
            </a:r>
            <a:r>
              <a:rPr lang="en-US" dirty="0" err="1"/>
              <a:t>CustomerRepository</a:t>
            </a:r>
            <a:r>
              <a:rPr lang="en-US" dirty="0"/>
              <a:t> </a:t>
            </a:r>
            <a:r>
              <a:rPr lang="en-US" dirty="0" err="1"/>
              <a:t>bao</a:t>
            </a:r>
            <a:r>
              <a:rPr lang="en-US" dirty="0"/>
              <a:t> </a:t>
            </a:r>
            <a:r>
              <a:rPr lang="en-US" dirty="0" err="1"/>
              <a:t>gồm</a:t>
            </a:r>
            <a:r>
              <a:rPr lang="en-US" dirty="0"/>
              <a:t>:</a:t>
            </a:r>
          </a:p>
          <a:p>
            <a:r>
              <a:rPr lang="en-US" b="1" dirty="0" err="1"/>
              <a:t>findByFirstName</a:t>
            </a:r>
            <a:r>
              <a:rPr lang="en-US" b="1" dirty="0"/>
              <a:t>()</a:t>
            </a:r>
            <a:r>
              <a:rPr lang="en-US" dirty="0"/>
              <a:t> </a:t>
            </a:r>
            <a:r>
              <a:rPr lang="en-US" dirty="0" err="1"/>
              <a:t>sẽ</a:t>
            </a:r>
            <a:r>
              <a:rPr lang="en-US" dirty="0"/>
              <a:t> </a:t>
            </a:r>
            <a:r>
              <a:rPr lang="en-US" dirty="0" err="1"/>
              <a:t>tìm</a:t>
            </a:r>
            <a:r>
              <a:rPr lang="en-US" dirty="0"/>
              <a:t> </a:t>
            </a:r>
            <a:r>
              <a:rPr lang="en-US" dirty="0" err="1"/>
              <a:t>kiếm</a:t>
            </a:r>
            <a:r>
              <a:rPr lang="en-US" dirty="0"/>
              <a:t> </a:t>
            </a:r>
            <a:r>
              <a:rPr lang="en-US" dirty="0" err="1"/>
              <a:t>theo</a:t>
            </a:r>
            <a:r>
              <a:rPr lang="en-US" dirty="0"/>
              <a:t> </a:t>
            </a:r>
            <a:r>
              <a:rPr lang="en-US" dirty="0" err="1"/>
              <a:t>FirstName</a:t>
            </a:r>
            <a:r>
              <a:rPr lang="en-US" dirty="0"/>
              <a:t>.</a:t>
            </a:r>
          </a:p>
          <a:p>
            <a:r>
              <a:rPr lang="en-US" b="1" dirty="0" err="1"/>
              <a:t>findAllByOrderByFirstNameDesc</a:t>
            </a:r>
            <a:r>
              <a:rPr lang="en-US" b="1" dirty="0"/>
              <a:t>(): </a:t>
            </a:r>
            <a:r>
              <a:rPr lang="en-US" dirty="0" err="1"/>
              <a:t>Tìm</a:t>
            </a:r>
            <a:r>
              <a:rPr lang="en-US" dirty="0"/>
              <a:t> </a:t>
            </a:r>
            <a:r>
              <a:rPr lang="en-US" dirty="0" err="1"/>
              <a:t>kiếm</a:t>
            </a:r>
            <a:r>
              <a:rPr lang="en-US" dirty="0"/>
              <a:t> </a:t>
            </a:r>
            <a:r>
              <a:rPr lang="en-US" dirty="0" err="1"/>
              <a:t>tất</a:t>
            </a:r>
            <a:r>
              <a:rPr lang="en-US" dirty="0"/>
              <a:t> </a:t>
            </a:r>
            <a:r>
              <a:rPr lang="en-US" dirty="0" err="1"/>
              <a:t>cả</a:t>
            </a:r>
            <a:r>
              <a:rPr lang="en-US" dirty="0"/>
              <a:t>, </a:t>
            </a:r>
            <a:r>
              <a:rPr lang="en-US" dirty="0" err="1"/>
              <a:t>sắp</a:t>
            </a:r>
            <a:r>
              <a:rPr lang="en-US" dirty="0"/>
              <a:t> </a:t>
            </a:r>
            <a:r>
              <a:rPr lang="en-US" dirty="0" err="1"/>
              <a:t>xếp</a:t>
            </a:r>
            <a:r>
              <a:rPr lang="en-US" dirty="0"/>
              <a:t> </a:t>
            </a:r>
            <a:r>
              <a:rPr lang="en-US" dirty="0" err="1"/>
              <a:t>theo</a:t>
            </a:r>
            <a:r>
              <a:rPr lang="en-US" dirty="0"/>
              <a:t> </a:t>
            </a:r>
            <a:r>
              <a:rPr lang="en-US" dirty="0" err="1"/>
              <a:t>chiều</a:t>
            </a:r>
            <a:r>
              <a:rPr lang="en-US" dirty="0"/>
              <a:t> </a:t>
            </a:r>
            <a:r>
              <a:rPr lang="en-US" dirty="0" err="1"/>
              <a:t>giảm</a:t>
            </a:r>
            <a:r>
              <a:rPr lang="en-US" dirty="0"/>
              <a:t> </a:t>
            </a:r>
            <a:r>
              <a:rPr lang="en-US" dirty="0" err="1"/>
              <a:t>dần</a:t>
            </a:r>
            <a:r>
              <a:rPr lang="en-US" dirty="0"/>
              <a:t> </a:t>
            </a:r>
            <a:r>
              <a:rPr lang="en-US" dirty="0" err="1"/>
              <a:t>của</a:t>
            </a:r>
            <a:r>
              <a:rPr lang="en-US" dirty="0"/>
              <a:t> </a:t>
            </a:r>
            <a:r>
              <a:rPr lang="en-US" dirty="0" err="1"/>
              <a:t>FirstName</a:t>
            </a:r>
            <a:endParaRPr lang="en-US" dirty="0"/>
          </a:p>
          <a:p>
            <a:endParaRPr lang="en-US" dirty="0"/>
          </a:p>
        </p:txBody>
      </p:sp>
    </p:spTree>
    <p:extLst>
      <p:ext uri="{BB962C8B-B14F-4D97-AF65-F5344CB8AC3E}">
        <p14:creationId xmlns:p14="http://schemas.microsoft.com/office/powerpoint/2010/main" val="346682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75982" y="0"/>
            <a:ext cx="3775329" cy="306109"/>
          </a:xfrm>
          <a:prstGeom prst="rect">
            <a:avLst/>
          </a:prstGeom>
        </p:spPr>
        <p:txBody>
          <a:bodyPr wrap="non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c. </a:t>
            </a:r>
            <a:r>
              <a:rPr lang="en-US" sz="14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400" dirty="0">
                <a:latin typeface="Arial" panose="020B0604020202020204" pitchFamily="34" charset="0"/>
                <a:ea typeface="ＭＳ 明朝" panose="02020609040205080304" pitchFamily="17" charset="-128"/>
                <a:cs typeface="Times New Roman" panose="02020603050405020304" pitchFamily="18" charset="0"/>
              </a:rPr>
              <a:t> data common </a:t>
            </a:r>
            <a:r>
              <a:rPr lang="en-US" sz="1400" dirty="0" err="1">
                <a:latin typeface="Arial" panose="020B0604020202020204" pitchFamily="34" charset="0"/>
                <a:ea typeface="ＭＳ 明朝" panose="02020609040205080304" pitchFamily="17" charset="-128"/>
                <a:cs typeface="Times New Roman" panose="02020603050405020304" pitchFamily="18" charset="0"/>
              </a:rPr>
              <a:t>bằng</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100" b="1" dirty="0"/>
              <a:t>@Configuration</a:t>
            </a:r>
            <a:endParaRPr lang="en-US" sz="1100" b="1"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952500" y="620043"/>
            <a:ext cx="8334151" cy="3799558"/>
          </a:xfrm>
          <a:prstGeom prst="rect">
            <a:avLst/>
          </a:prstGeom>
        </p:spPr>
      </p:pic>
      <p:sp>
        <p:nvSpPr>
          <p:cNvPr id="2" name="テキスト ボックス 1"/>
          <p:cNvSpPr txBox="1"/>
          <p:nvPr/>
        </p:nvSpPr>
        <p:spPr>
          <a:xfrm>
            <a:off x="952500" y="5105400"/>
            <a:ext cx="9029700" cy="1200329"/>
          </a:xfrm>
          <a:prstGeom prst="rect">
            <a:avLst/>
          </a:prstGeom>
          <a:noFill/>
        </p:spPr>
        <p:txBody>
          <a:bodyPr wrap="square" rtlCol="0">
            <a:spAutoFit/>
          </a:bodyPr>
          <a:lstStyle/>
          <a:p>
            <a:r>
              <a:rPr lang="en-US" b="1" dirty="0"/>
              <a:t>@Configuration: </a:t>
            </a:r>
            <a:r>
              <a:rPr lang="en-US" dirty="0" err="1"/>
              <a:t>là</a:t>
            </a:r>
            <a:r>
              <a:rPr lang="en-US" dirty="0"/>
              <a:t> </a:t>
            </a:r>
            <a:r>
              <a:rPr lang="en-US" dirty="0" err="1"/>
              <a:t>một</a:t>
            </a:r>
            <a:r>
              <a:rPr lang="en-US" dirty="0"/>
              <a:t> annotation </a:t>
            </a:r>
            <a:r>
              <a:rPr lang="en-US" dirty="0" err="1"/>
              <a:t>đánh</a:t>
            </a:r>
            <a:r>
              <a:rPr lang="en-US" dirty="0"/>
              <a:t> </a:t>
            </a:r>
            <a:r>
              <a:rPr lang="en-US" dirty="0" err="1"/>
              <a:t>dấu</a:t>
            </a:r>
            <a:r>
              <a:rPr lang="en-US" dirty="0"/>
              <a:t> </a:t>
            </a:r>
            <a:r>
              <a:rPr lang="en-US" dirty="0" err="1"/>
              <a:t>trên</a:t>
            </a:r>
            <a:r>
              <a:rPr lang="en-US" dirty="0"/>
              <a:t> </a:t>
            </a:r>
            <a:r>
              <a:rPr lang="en-US" dirty="0" err="1"/>
              <a:t>một</a:t>
            </a:r>
            <a:r>
              <a:rPr lang="en-US" dirty="0"/>
              <a:t> Class </a:t>
            </a:r>
            <a:r>
              <a:rPr lang="en-US" dirty="0" err="1"/>
              <a:t>cho</a:t>
            </a:r>
            <a:r>
              <a:rPr lang="en-US" dirty="0"/>
              <a:t> </a:t>
            </a:r>
            <a:r>
              <a:rPr lang="en-US" dirty="0" err="1"/>
              <a:t>phép</a:t>
            </a:r>
            <a:r>
              <a:rPr lang="en-US" dirty="0"/>
              <a:t> Spring Boot </a:t>
            </a:r>
            <a:r>
              <a:rPr lang="en-US" dirty="0" err="1"/>
              <a:t>nhận</a:t>
            </a:r>
            <a:r>
              <a:rPr lang="en-US" dirty="0"/>
              <a:t> </a:t>
            </a:r>
            <a:r>
              <a:rPr lang="en-US" dirty="0" err="1"/>
              <a:t>biết</a:t>
            </a:r>
            <a:r>
              <a:rPr lang="en-US" dirty="0"/>
              <a:t> </a:t>
            </a:r>
            <a:r>
              <a:rPr lang="en-US" dirty="0" err="1"/>
              <a:t>đây</a:t>
            </a:r>
            <a:r>
              <a:rPr lang="en-US" dirty="0"/>
              <a:t> </a:t>
            </a:r>
            <a:r>
              <a:rPr lang="en-US" dirty="0" err="1"/>
              <a:t>là</a:t>
            </a:r>
            <a:r>
              <a:rPr lang="en-US" dirty="0"/>
              <a:t> </a:t>
            </a:r>
            <a:r>
              <a:rPr lang="en-US" dirty="0" err="1"/>
              <a:t>nơi</a:t>
            </a:r>
            <a:r>
              <a:rPr lang="en-US" dirty="0"/>
              <a:t> </a:t>
            </a:r>
            <a:r>
              <a:rPr lang="en-US" dirty="0" err="1"/>
              <a:t>định</a:t>
            </a:r>
            <a:r>
              <a:rPr lang="en-US" dirty="0"/>
              <a:t> </a:t>
            </a:r>
            <a:r>
              <a:rPr lang="en-US" dirty="0" err="1"/>
              <a:t>nghĩa</a:t>
            </a:r>
            <a:r>
              <a:rPr lang="en-US" dirty="0"/>
              <a:t> </a:t>
            </a:r>
            <a:r>
              <a:rPr lang="en-US" dirty="0" err="1"/>
              <a:t>các</a:t>
            </a:r>
            <a:r>
              <a:rPr lang="en-US" dirty="0"/>
              <a:t> bean </a:t>
            </a:r>
            <a:r>
              <a:rPr lang="en-US" dirty="0" err="1"/>
              <a:t>và</a:t>
            </a:r>
            <a:r>
              <a:rPr lang="en-US" dirty="0"/>
              <a:t> </a:t>
            </a:r>
            <a:r>
              <a:rPr lang="en-US" dirty="0" err="1"/>
              <a:t>khởi</a:t>
            </a:r>
            <a:r>
              <a:rPr lang="en-US" dirty="0"/>
              <a:t> </a:t>
            </a:r>
            <a:r>
              <a:rPr lang="en-US" dirty="0" err="1"/>
              <a:t>tạo</a:t>
            </a:r>
            <a:r>
              <a:rPr lang="en-US" dirty="0"/>
              <a:t> </a:t>
            </a:r>
            <a:r>
              <a:rPr lang="en-US" dirty="0" err="1"/>
              <a:t>chạy</a:t>
            </a:r>
            <a:r>
              <a:rPr lang="en-US" dirty="0"/>
              <a:t> </a:t>
            </a:r>
            <a:r>
              <a:rPr lang="en-US" dirty="0" err="1"/>
              <a:t>cho</a:t>
            </a:r>
            <a:r>
              <a:rPr lang="en-US" dirty="0"/>
              <a:t> </a:t>
            </a:r>
            <a:r>
              <a:rPr lang="en-US" dirty="0" err="1"/>
              <a:t>toàn</a:t>
            </a:r>
            <a:r>
              <a:rPr lang="en-US" dirty="0"/>
              <a:t> </a:t>
            </a:r>
            <a:r>
              <a:rPr lang="en-US" dirty="0" err="1"/>
              <a:t>bộ</a:t>
            </a:r>
            <a:r>
              <a:rPr lang="en-US" dirty="0"/>
              <a:t> </a:t>
            </a:r>
            <a:r>
              <a:rPr lang="en-US" dirty="0" err="1"/>
              <a:t>chương</a:t>
            </a:r>
            <a:r>
              <a:rPr lang="en-US" dirty="0"/>
              <a:t> </a:t>
            </a:r>
            <a:r>
              <a:rPr lang="en-US" dirty="0" err="1"/>
              <a:t>trình</a:t>
            </a:r>
            <a:endParaRPr lang="en-US" dirty="0"/>
          </a:p>
          <a:p>
            <a:r>
              <a:rPr lang="en-US" b="1" dirty="0"/>
              <a:t>@Bean: </a:t>
            </a:r>
            <a:r>
              <a:rPr lang="en-US" dirty="0"/>
              <a:t>Cho </a:t>
            </a:r>
            <a:r>
              <a:rPr lang="en-US" dirty="0" err="1"/>
              <a:t>phép</a:t>
            </a:r>
            <a:r>
              <a:rPr lang="en-US" dirty="0"/>
              <a:t> Spring Boot </a:t>
            </a:r>
            <a:r>
              <a:rPr lang="en-US" dirty="0" err="1"/>
              <a:t>biết</a:t>
            </a:r>
            <a:r>
              <a:rPr lang="en-US" dirty="0"/>
              <a:t> </a:t>
            </a:r>
            <a:r>
              <a:rPr lang="en-US" dirty="0" err="1"/>
              <a:t>được</a:t>
            </a:r>
            <a:r>
              <a:rPr lang="en-US" dirty="0"/>
              <a:t> </a:t>
            </a:r>
            <a:r>
              <a:rPr lang="en-US" dirty="0" err="1"/>
              <a:t>đây</a:t>
            </a:r>
            <a:r>
              <a:rPr lang="en-US" dirty="0"/>
              <a:t> </a:t>
            </a:r>
            <a:r>
              <a:rPr lang="en-US" dirty="0" err="1"/>
              <a:t>là</a:t>
            </a:r>
            <a:r>
              <a:rPr lang="en-US" dirty="0"/>
              <a:t> Bean </a:t>
            </a:r>
            <a:r>
              <a:rPr lang="en-US" dirty="0" err="1"/>
              <a:t>và</a:t>
            </a:r>
            <a:r>
              <a:rPr lang="en-US" dirty="0"/>
              <a:t> </a:t>
            </a:r>
            <a:r>
              <a:rPr lang="en-US" dirty="0" err="1"/>
              <a:t>thực</a:t>
            </a:r>
            <a:r>
              <a:rPr lang="en-US" dirty="0"/>
              <a:t> </a:t>
            </a:r>
            <a:r>
              <a:rPr lang="en-US" dirty="0" err="1"/>
              <a:t>hiện</a:t>
            </a:r>
            <a:r>
              <a:rPr lang="en-US" dirty="0"/>
              <a:t> </a:t>
            </a:r>
            <a:r>
              <a:rPr lang="en-US" dirty="0" err="1"/>
              <a:t>đưa</a:t>
            </a:r>
            <a:r>
              <a:rPr lang="en-US" dirty="0"/>
              <a:t> bean </a:t>
            </a:r>
            <a:r>
              <a:rPr lang="en-US" dirty="0" err="1"/>
              <a:t>vào</a:t>
            </a:r>
            <a:r>
              <a:rPr lang="en-US" dirty="0"/>
              <a:t> Context.</a:t>
            </a:r>
            <a:endParaRPr lang="en-US" b="1" dirty="0"/>
          </a:p>
        </p:txBody>
      </p:sp>
      <p:sp>
        <p:nvSpPr>
          <p:cNvPr id="5" name="正方形/長方形 4"/>
          <p:cNvSpPr/>
          <p:nvPr/>
        </p:nvSpPr>
        <p:spPr>
          <a:xfrm>
            <a:off x="1257300" y="1657350"/>
            <a:ext cx="1238250" cy="2095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正方形/長方形 5"/>
          <p:cNvSpPr/>
          <p:nvPr/>
        </p:nvSpPr>
        <p:spPr>
          <a:xfrm>
            <a:off x="1533525" y="2180834"/>
            <a:ext cx="552450" cy="28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3967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75982" y="0"/>
            <a:ext cx="3368166" cy="322845"/>
          </a:xfrm>
          <a:prstGeom prst="rect">
            <a:avLst/>
          </a:prstGeom>
        </p:spPr>
        <p:txBody>
          <a:bodyPr wrap="non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c. </a:t>
            </a:r>
            <a:r>
              <a:rPr lang="en-US" sz="1400" dirty="0" err="1">
                <a:latin typeface="Arial" panose="020B0604020202020204" pitchFamily="34" charset="0"/>
                <a:ea typeface="ＭＳ 明朝" panose="02020609040205080304" pitchFamily="17" charset="-128"/>
                <a:cs typeface="Times New Roman" panose="02020603050405020304" pitchFamily="18" charset="0"/>
              </a:rPr>
              <a:t>Tạo</a:t>
            </a:r>
            <a:r>
              <a:rPr lang="en-US" sz="1400" dirty="0">
                <a:latin typeface="Arial" panose="020B0604020202020204" pitchFamily="34" charset="0"/>
                <a:ea typeface="ＭＳ 明朝" panose="02020609040205080304" pitchFamily="17" charset="-128"/>
                <a:cs typeface="Times New Roman" panose="02020603050405020304" pitchFamily="18" charset="0"/>
              </a:rPr>
              <a:t> controller </a:t>
            </a:r>
            <a:r>
              <a:rPr lang="en-US" sz="1400" dirty="0" err="1">
                <a:latin typeface="Arial" panose="020B0604020202020204" pitchFamily="34" charset="0"/>
                <a:ea typeface="ＭＳ 明朝" panose="02020609040205080304" pitchFamily="17" charset="-128"/>
                <a:cs typeface="Times New Roman" panose="02020603050405020304" pitchFamily="18" charset="0"/>
              </a:rPr>
              <a:t>thực</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hiện</a:t>
            </a:r>
            <a:r>
              <a:rPr lang="en-US" sz="1400" dirty="0">
                <a:latin typeface="Arial" panose="020B0604020202020204" pitchFamily="34" charset="0"/>
                <a:ea typeface="ＭＳ 明朝" panose="02020609040205080304" pitchFamily="17" charset="-128"/>
                <a:cs typeface="Times New Roman" panose="02020603050405020304" pitchFamily="18" charset="0"/>
              </a:rPr>
              <a:t> request</a:t>
            </a:r>
            <a:endParaRPr lang="en-US" sz="1100" b="1"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847725" y="528239"/>
            <a:ext cx="8620125" cy="4669235"/>
          </a:xfrm>
          <a:prstGeom prst="rect">
            <a:avLst/>
          </a:prstGeom>
        </p:spPr>
      </p:pic>
      <p:sp>
        <p:nvSpPr>
          <p:cNvPr id="4" name="テキスト ボックス 3"/>
          <p:cNvSpPr txBox="1"/>
          <p:nvPr/>
        </p:nvSpPr>
        <p:spPr>
          <a:xfrm>
            <a:off x="847725" y="5391150"/>
            <a:ext cx="8620125" cy="1477328"/>
          </a:xfrm>
          <a:prstGeom prst="rect">
            <a:avLst/>
          </a:prstGeom>
          <a:noFill/>
        </p:spPr>
        <p:txBody>
          <a:bodyPr wrap="square" rtlCol="0">
            <a:spAutoFit/>
          </a:bodyPr>
          <a:lstStyle/>
          <a:p>
            <a:r>
              <a:rPr lang="en-US" dirty="0" err="1"/>
              <a:t>Thực</a:t>
            </a:r>
            <a:r>
              <a:rPr lang="en-US" dirty="0"/>
              <a:t> </a:t>
            </a:r>
            <a:r>
              <a:rPr lang="en-US" dirty="0" err="1"/>
              <a:t>hiện</a:t>
            </a:r>
            <a:r>
              <a:rPr lang="en-US" dirty="0"/>
              <a:t> </a:t>
            </a:r>
            <a:r>
              <a:rPr lang="en-US" dirty="0" err="1"/>
              <a:t>các</a:t>
            </a:r>
            <a:r>
              <a:rPr lang="en-US" dirty="0"/>
              <a:t> request </a:t>
            </a:r>
            <a:r>
              <a:rPr lang="en-US" dirty="0" err="1"/>
              <a:t>được</a:t>
            </a:r>
            <a:r>
              <a:rPr lang="en-US" dirty="0"/>
              <a:t> </a:t>
            </a:r>
            <a:r>
              <a:rPr lang="en-US" dirty="0" err="1"/>
              <a:t>tạo</a:t>
            </a:r>
            <a:r>
              <a:rPr lang="en-US" dirty="0"/>
              <a:t> </a:t>
            </a:r>
            <a:r>
              <a:rPr lang="en-US" dirty="0" err="1"/>
              <a:t>bằng</a:t>
            </a:r>
            <a:r>
              <a:rPr lang="en-US" dirty="0"/>
              <a:t> @</a:t>
            </a:r>
            <a:r>
              <a:rPr lang="en-US" dirty="0" err="1"/>
              <a:t>RequestMapping</a:t>
            </a:r>
            <a:endParaRPr lang="en-US" dirty="0"/>
          </a:p>
          <a:p>
            <a:r>
              <a:rPr lang="en-US" dirty="0"/>
              <a:t>@</a:t>
            </a:r>
            <a:r>
              <a:rPr lang="en-US" dirty="0" err="1"/>
              <a:t>GetMapping</a:t>
            </a:r>
            <a:r>
              <a:rPr lang="en-US" dirty="0"/>
              <a:t>: </a:t>
            </a:r>
            <a:r>
              <a:rPr lang="en-US" dirty="0" err="1"/>
              <a:t>cho</a:t>
            </a:r>
            <a:r>
              <a:rPr lang="en-US" dirty="0"/>
              <a:t> </a:t>
            </a:r>
            <a:r>
              <a:rPr lang="en-US" dirty="0" err="1"/>
              <a:t>phép</a:t>
            </a:r>
            <a:r>
              <a:rPr lang="en-US" dirty="0"/>
              <a:t> </a:t>
            </a:r>
            <a:r>
              <a:rPr lang="en-US" dirty="0" err="1"/>
              <a:t>thực</a:t>
            </a:r>
            <a:r>
              <a:rPr lang="en-US" dirty="0"/>
              <a:t> </a:t>
            </a:r>
            <a:r>
              <a:rPr lang="en-US" dirty="0" err="1"/>
              <a:t>hiện</a:t>
            </a:r>
            <a:r>
              <a:rPr lang="en-US" dirty="0"/>
              <a:t> mapping </a:t>
            </a:r>
            <a:r>
              <a:rPr lang="en-US" dirty="0" err="1"/>
              <a:t>và</a:t>
            </a:r>
            <a:r>
              <a:rPr lang="en-US" dirty="0"/>
              <a:t> </a:t>
            </a:r>
            <a:r>
              <a:rPr lang="en-US" dirty="0" err="1"/>
              <a:t>phương</a:t>
            </a:r>
            <a:r>
              <a:rPr lang="en-US" dirty="0"/>
              <a:t> </a:t>
            </a:r>
            <a:r>
              <a:rPr lang="en-US" dirty="0" err="1"/>
              <a:t>thức</a:t>
            </a:r>
            <a:r>
              <a:rPr lang="en-US" dirty="0"/>
              <a:t> </a:t>
            </a:r>
            <a:r>
              <a:rPr lang="en-US" dirty="0" err="1"/>
              <a:t>của</a:t>
            </a:r>
            <a:r>
              <a:rPr lang="en-US" dirty="0"/>
              <a:t> request </a:t>
            </a:r>
            <a:r>
              <a:rPr lang="en-US" dirty="0" err="1"/>
              <a:t>là</a:t>
            </a:r>
            <a:r>
              <a:rPr lang="en-US" dirty="0"/>
              <a:t> Get.</a:t>
            </a:r>
          </a:p>
          <a:p>
            <a:r>
              <a:rPr lang="en-US" dirty="0" err="1"/>
              <a:t>Là</a:t>
            </a:r>
            <a:r>
              <a:rPr lang="en-US" dirty="0"/>
              <a:t> </a:t>
            </a:r>
            <a:r>
              <a:rPr lang="en-US" dirty="0" err="1"/>
              <a:t>cách</a:t>
            </a:r>
            <a:r>
              <a:rPr lang="en-US" dirty="0"/>
              <a:t> </a:t>
            </a:r>
            <a:r>
              <a:rPr lang="en-US" dirty="0" err="1"/>
              <a:t>viết</a:t>
            </a:r>
            <a:r>
              <a:rPr lang="en-US" dirty="0"/>
              <a:t> </a:t>
            </a:r>
            <a:r>
              <a:rPr lang="en-US" dirty="0" err="1"/>
              <a:t>ngắn</a:t>
            </a:r>
            <a:r>
              <a:rPr lang="en-US" dirty="0"/>
              <a:t> </a:t>
            </a:r>
            <a:r>
              <a:rPr lang="en-US" dirty="0" err="1"/>
              <a:t>gọn</a:t>
            </a:r>
            <a:r>
              <a:rPr lang="en-US" dirty="0"/>
              <a:t> </a:t>
            </a:r>
            <a:r>
              <a:rPr lang="en-US" dirty="0" err="1"/>
              <a:t>cho</a:t>
            </a:r>
            <a:r>
              <a:rPr lang="en-US" dirty="0"/>
              <a:t> @</a:t>
            </a:r>
            <a:r>
              <a:rPr lang="en-US" dirty="0" err="1"/>
              <a:t>RequestMapping</a:t>
            </a:r>
            <a:r>
              <a:rPr lang="en-US" dirty="0"/>
              <a:t>(method = </a:t>
            </a:r>
            <a:r>
              <a:rPr lang="en-US" dirty="0" err="1"/>
              <a:t>RequestMethod.GET</a:t>
            </a:r>
            <a:r>
              <a:rPr lang="en-US" dirty="0"/>
              <a:t>)</a:t>
            </a:r>
          </a:p>
          <a:p>
            <a:r>
              <a:rPr lang="en-US" dirty="0" err="1"/>
              <a:t>Tương</a:t>
            </a:r>
            <a:r>
              <a:rPr lang="en-US" dirty="0"/>
              <a:t> </a:t>
            </a:r>
            <a:r>
              <a:rPr lang="en-US" dirty="0" err="1"/>
              <a:t>tự</a:t>
            </a:r>
            <a:r>
              <a:rPr lang="en-US" dirty="0"/>
              <a:t> </a:t>
            </a:r>
            <a:r>
              <a:rPr lang="en-US" dirty="0" err="1"/>
              <a:t>với</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còn</a:t>
            </a:r>
            <a:r>
              <a:rPr lang="en-US" dirty="0"/>
              <a:t> </a:t>
            </a:r>
            <a:r>
              <a:rPr lang="en-US" dirty="0" err="1"/>
              <a:t>lại</a:t>
            </a:r>
            <a:r>
              <a:rPr lang="en-US" dirty="0"/>
              <a:t> </a:t>
            </a:r>
            <a:r>
              <a:rPr lang="en-US" dirty="0" err="1"/>
              <a:t>là</a:t>
            </a:r>
            <a:r>
              <a:rPr lang="en-US" dirty="0"/>
              <a:t>: @</a:t>
            </a:r>
            <a:r>
              <a:rPr lang="en-US" dirty="0" err="1"/>
              <a:t>PostMapping</a:t>
            </a:r>
            <a:r>
              <a:rPr lang="en-US" dirty="0"/>
              <a:t>, @</a:t>
            </a:r>
            <a:r>
              <a:rPr lang="en-US" dirty="0" err="1"/>
              <a:t>PutMapping</a:t>
            </a:r>
            <a:r>
              <a:rPr lang="en-US" dirty="0"/>
              <a:t>, @</a:t>
            </a:r>
            <a:r>
              <a:rPr lang="en-US" dirty="0" err="1"/>
              <a:t>DeleteMapping</a:t>
            </a:r>
            <a:endParaRPr lang="en-US" dirty="0"/>
          </a:p>
        </p:txBody>
      </p:sp>
    </p:spTree>
    <p:extLst>
      <p:ext uri="{BB962C8B-B14F-4D97-AF65-F5344CB8AC3E}">
        <p14:creationId xmlns:p14="http://schemas.microsoft.com/office/powerpoint/2010/main" val="241144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375982" y="0"/>
            <a:ext cx="8472743" cy="322845"/>
          </a:xfrm>
          <a:prstGeom prst="rect">
            <a:avLst/>
          </a:prstGeom>
        </p:spPr>
        <p:txBody>
          <a:bodyPr wrap="squar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d. </a:t>
            </a:r>
            <a:r>
              <a:rPr lang="en-US" sz="1400" dirty="0" err="1">
                <a:latin typeface="Arial" panose="020B0604020202020204" pitchFamily="34" charset="0"/>
                <a:ea typeface="ＭＳ 明朝" panose="02020609040205080304" pitchFamily="17" charset="-128"/>
                <a:cs typeface="Times New Roman" panose="02020603050405020304" pitchFamily="18" charset="0"/>
              </a:rPr>
              <a:t>Kết</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quả</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trả</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về</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khi</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tìm</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kiếm</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tất</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cả</a:t>
            </a:r>
            <a:r>
              <a:rPr lang="en-US" sz="1400" dirty="0">
                <a:latin typeface="Arial" panose="020B0604020202020204" pitchFamily="34" charset="0"/>
                <a:ea typeface="ＭＳ 明朝" panose="02020609040205080304" pitchFamily="17" charset="-128"/>
                <a:cs typeface="Times New Roman" panose="02020603050405020304" pitchFamily="18" charset="0"/>
              </a:rPr>
              <a:t> customer </a:t>
            </a:r>
            <a:r>
              <a:rPr lang="en-US" sz="1400" dirty="0" err="1">
                <a:latin typeface="Arial" panose="020B0604020202020204" pitchFamily="34" charset="0"/>
                <a:ea typeface="ＭＳ 明朝" panose="02020609040205080304" pitchFamily="17" charset="-128"/>
                <a:cs typeface="Times New Roman" panose="02020603050405020304" pitchFamily="18" charset="0"/>
              </a:rPr>
              <a:t>được</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sắp</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xếp</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theo</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tên</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giảm</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dần</a:t>
            </a:r>
            <a:endParaRPr lang="en-US" sz="1100"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4" name="図 3"/>
          <p:cNvPicPr>
            <a:picLocks noChangeAspect="1"/>
          </p:cNvPicPr>
          <p:nvPr/>
        </p:nvPicPr>
        <p:blipFill>
          <a:blip r:embed="rId3"/>
          <a:stretch>
            <a:fillRect/>
          </a:stretch>
        </p:blipFill>
        <p:spPr>
          <a:xfrm>
            <a:off x="933450" y="322845"/>
            <a:ext cx="8486775" cy="6049858"/>
          </a:xfrm>
          <a:prstGeom prst="rect">
            <a:avLst/>
          </a:prstGeom>
        </p:spPr>
      </p:pic>
      <p:sp>
        <p:nvSpPr>
          <p:cNvPr id="3" name="正方形/長方形 2"/>
          <p:cNvSpPr/>
          <p:nvPr/>
        </p:nvSpPr>
        <p:spPr>
          <a:xfrm>
            <a:off x="2790826" y="1581150"/>
            <a:ext cx="2343150" cy="2571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正方形/長方形 4"/>
          <p:cNvSpPr/>
          <p:nvPr/>
        </p:nvSpPr>
        <p:spPr>
          <a:xfrm>
            <a:off x="2790826" y="3096630"/>
            <a:ext cx="2343150" cy="239929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373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75982" y="0"/>
            <a:ext cx="3659976" cy="322845"/>
          </a:xfrm>
          <a:prstGeom prst="rect">
            <a:avLst/>
          </a:prstGeom>
        </p:spPr>
        <p:txBody>
          <a:bodyPr wrap="none">
            <a:spAutoFit/>
          </a:bodyPr>
          <a:lstStyle/>
          <a:p>
            <a:pPr lvl="1">
              <a:lnSpc>
                <a:spcPct val="107000"/>
              </a:lnSpc>
              <a:spcAft>
                <a:spcPts val="800"/>
              </a:spcAft>
            </a:pPr>
            <a:r>
              <a:rPr lang="en-US" sz="1400" dirty="0">
                <a:latin typeface="Arial" panose="020B0604020202020204" pitchFamily="34" charset="0"/>
                <a:ea typeface="ＭＳ 明朝" panose="02020609040205080304" pitchFamily="17" charset="-128"/>
                <a:cs typeface="Times New Roman" panose="02020603050405020304" pitchFamily="18" charset="0"/>
              </a:rPr>
              <a:t>e. </a:t>
            </a:r>
            <a:r>
              <a:rPr lang="en-US" sz="1400" dirty="0" err="1">
                <a:latin typeface="Arial" panose="020B0604020202020204" pitchFamily="34" charset="0"/>
                <a:ea typeface="ＭＳ 明朝" panose="02020609040205080304" pitchFamily="17" charset="-128"/>
                <a:cs typeface="Times New Roman" panose="02020603050405020304" pitchFamily="18" charset="0"/>
              </a:rPr>
              <a:t>Kết</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quả</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trả</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về</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khi</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tìm</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kiếm</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theo</a:t>
            </a:r>
            <a:r>
              <a:rPr lang="en-US" sz="1400" dirty="0">
                <a:latin typeface="Arial" panose="020B0604020202020204" pitchFamily="34" charset="0"/>
                <a:ea typeface="ＭＳ 明朝" panose="02020609040205080304" pitchFamily="17" charset="-128"/>
                <a:cs typeface="Times New Roman" panose="02020603050405020304" pitchFamily="18" charset="0"/>
              </a:rPr>
              <a:t> </a:t>
            </a:r>
            <a:r>
              <a:rPr lang="en-US" sz="1400" dirty="0" err="1">
                <a:latin typeface="Arial" panose="020B0604020202020204" pitchFamily="34" charset="0"/>
                <a:ea typeface="ＭＳ 明朝" panose="02020609040205080304" pitchFamily="17" charset="-128"/>
                <a:cs typeface="Times New Roman" panose="02020603050405020304" pitchFamily="18" charset="0"/>
              </a:rPr>
              <a:t>tên</a:t>
            </a:r>
            <a:endParaRPr lang="en-US" sz="1100" dirty="0">
              <a:effectLst/>
              <a:latin typeface="Calibri" panose="020F0502020204030204" pitchFamily="34" charset="0"/>
              <a:ea typeface="ＭＳ 明朝" panose="02020609040205080304" pitchFamily="17" charset="-128"/>
              <a:cs typeface="Times New Roman" panose="02020603050405020304" pitchFamily="18" charset="0"/>
            </a:endParaRPr>
          </a:p>
        </p:txBody>
      </p:sp>
      <p:pic>
        <p:nvPicPr>
          <p:cNvPr id="6" name="図 5"/>
          <p:cNvPicPr>
            <a:picLocks noChangeAspect="1"/>
          </p:cNvPicPr>
          <p:nvPr/>
        </p:nvPicPr>
        <p:blipFill>
          <a:blip r:embed="rId3"/>
          <a:stretch>
            <a:fillRect/>
          </a:stretch>
        </p:blipFill>
        <p:spPr>
          <a:xfrm>
            <a:off x="961930" y="234943"/>
            <a:ext cx="8058245" cy="5744377"/>
          </a:xfrm>
          <a:prstGeom prst="rect">
            <a:avLst/>
          </a:prstGeom>
        </p:spPr>
      </p:pic>
    </p:spTree>
    <p:extLst>
      <p:ext uri="{BB962C8B-B14F-4D97-AF65-F5344CB8AC3E}">
        <p14:creationId xmlns:p14="http://schemas.microsoft.com/office/powerpoint/2010/main" val="250305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305175" y="581024"/>
            <a:ext cx="4749628" cy="840911"/>
          </a:xfrm>
        </p:spPr>
        <p:txBody>
          <a:bodyPr/>
          <a:lstStyle/>
          <a:p>
            <a:pPr algn="ctr"/>
            <a:r>
              <a:rPr lang="en-US" b="1" dirty="0"/>
              <a:t>Spring Batch</a:t>
            </a:r>
          </a:p>
        </p:txBody>
      </p:sp>
      <p:sp>
        <p:nvSpPr>
          <p:cNvPr id="3" name="サブタイトル 2"/>
          <p:cNvSpPr>
            <a:spLocks noGrp="1"/>
          </p:cNvSpPr>
          <p:nvPr>
            <p:ph type="subTitle" idx="1"/>
          </p:nvPr>
        </p:nvSpPr>
        <p:spPr>
          <a:xfrm>
            <a:off x="1796521" y="2441108"/>
            <a:ext cx="7766936" cy="2026117"/>
          </a:xfrm>
        </p:spPr>
        <p:txBody>
          <a:bodyPr>
            <a:normAutofit fontScale="92500" lnSpcReduction="20000"/>
          </a:bodyPr>
          <a:lstStyle/>
          <a:p>
            <a:pPr algn="l">
              <a:buFont typeface="Wingdings 3" charset="2"/>
              <a:buChar char=""/>
            </a:pPr>
            <a:r>
              <a:rPr kumimoji="1" lang="en-US" dirty="0"/>
              <a:t>Batch </a:t>
            </a:r>
            <a:r>
              <a:rPr kumimoji="1" lang="en-US" dirty="0" err="1"/>
              <a:t>là</a:t>
            </a:r>
            <a:r>
              <a:rPr kumimoji="1" lang="en-US" dirty="0"/>
              <a:t> </a:t>
            </a:r>
            <a:r>
              <a:rPr kumimoji="1" lang="en-US" dirty="0" err="1"/>
              <a:t>gì</a:t>
            </a:r>
            <a:r>
              <a:rPr kumimoji="1" lang="en-US" dirty="0"/>
              <a:t>?</a:t>
            </a:r>
          </a:p>
          <a:p>
            <a:pPr algn="l">
              <a:buFont typeface="Wingdings 3" charset="2"/>
              <a:buChar char=""/>
            </a:pPr>
            <a:r>
              <a:rPr kumimoji="1" lang="en-US" dirty="0"/>
              <a:t>Spring Batch </a:t>
            </a:r>
            <a:r>
              <a:rPr kumimoji="1" lang="en-US" dirty="0" err="1"/>
              <a:t>là</a:t>
            </a:r>
            <a:r>
              <a:rPr kumimoji="1" lang="en-US" dirty="0"/>
              <a:t> </a:t>
            </a:r>
            <a:r>
              <a:rPr kumimoji="1" lang="en-US" dirty="0" err="1"/>
              <a:t>gì</a:t>
            </a:r>
            <a:r>
              <a:rPr kumimoji="1" lang="en-US" dirty="0"/>
              <a:t>?</a:t>
            </a:r>
          </a:p>
          <a:p>
            <a:pPr algn="l">
              <a:buFont typeface="Wingdings 3" charset="2"/>
              <a:buChar char=""/>
            </a:pPr>
            <a:r>
              <a:rPr kumimoji="1" lang="en-US" dirty="0" err="1"/>
              <a:t>Các</a:t>
            </a:r>
            <a:r>
              <a:rPr kumimoji="1" lang="en-US" dirty="0"/>
              <a:t> </a:t>
            </a:r>
            <a:r>
              <a:rPr kumimoji="1" lang="en-US" dirty="0" err="1"/>
              <a:t>tính</a:t>
            </a:r>
            <a:r>
              <a:rPr kumimoji="1" lang="en-US" dirty="0"/>
              <a:t> </a:t>
            </a:r>
            <a:r>
              <a:rPr kumimoji="1" lang="en-US" dirty="0" err="1"/>
              <a:t>năng</a:t>
            </a:r>
            <a:r>
              <a:rPr kumimoji="1" lang="en-US" dirty="0"/>
              <a:t>, </a:t>
            </a:r>
            <a:r>
              <a:rPr kumimoji="1" lang="en-US" dirty="0" err="1"/>
              <a:t>đặc</a:t>
            </a:r>
            <a:r>
              <a:rPr kumimoji="1" lang="en-US" dirty="0"/>
              <a:t> </a:t>
            </a:r>
            <a:r>
              <a:rPr kumimoji="1" lang="en-US" dirty="0" err="1"/>
              <a:t>điểm</a:t>
            </a:r>
            <a:r>
              <a:rPr kumimoji="1" lang="en-US" dirty="0"/>
              <a:t> </a:t>
            </a:r>
            <a:r>
              <a:rPr kumimoji="1" lang="en-US" dirty="0" err="1"/>
              <a:t>của</a:t>
            </a:r>
            <a:r>
              <a:rPr kumimoji="1" lang="en-US" dirty="0"/>
              <a:t> Spring Batch</a:t>
            </a:r>
          </a:p>
          <a:p>
            <a:pPr algn="l">
              <a:buFont typeface="Wingdings 3" charset="2"/>
              <a:buChar char=""/>
            </a:pPr>
            <a:r>
              <a:rPr kumimoji="1" lang="en-US" dirty="0"/>
              <a:t> </a:t>
            </a:r>
            <a:r>
              <a:rPr kumimoji="1" lang="en-US" dirty="0" err="1"/>
              <a:t>Kiến</a:t>
            </a:r>
            <a:r>
              <a:rPr kumimoji="1" lang="en-US" dirty="0"/>
              <a:t> </a:t>
            </a:r>
            <a:r>
              <a:rPr kumimoji="1" lang="en-US" dirty="0" err="1"/>
              <a:t>trúc</a:t>
            </a:r>
            <a:r>
              <a:rPr kumimoji="1" lang="en-US" dirty="0"/>
              <a:t> </a:t>
            </a:r>
            <a:r>
              <a:rPr kumimoji="1" lang="en-US" dirty="0" err="1"/>
              <a:t>của</a:t>
            </a:r>
            <a:r>
              <a:rPr kumimoji="1" lang="en-US" dirty="0"/>
              <a:t> Spring Batch</a:t>
            </a:r>
          </a:p>
          <a:p>
            <a:pPr algn="l">
              <a:buFont typeface="Wingdings 3" charset="2"/>
              <a:buChar char=""/>
            </a:pP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Spring Batch</a:t>
            </a:r>
          </a:p>
          <a:p>
            <a:pPr algn="l">
              <a:buFont typeface="Wingdings 3" charset="2"/>
              <a:buChar char=""/>
            </a:pPr>
            <a:r>
              <a:rPr lang="en-US" dirty="0" err="1"/>
              <a:t>Các</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cấu</a:t>
            </a:r>
            <a:r>
              <a:rPr lang="en-US" dirty="0"/>
              <a:t> </a:t>
            </a:r>
            <a:r>
              <a:rPr lang="en-US" dirty="0" err="1"/>
              <a:t>hình</a:t>
            </a:r>
            <a:r>
              <a:rPr lang="en-US" dirty="0"/>
              <a:t> Spring Batch</a:t>
            </a:r>
          </a:p>
        </p:txBody>
      </p:sp>
      <p:sp>
        <p:nvSpPr>
          <p:cNvPr id="4" name="コンテンツ プレースホルダー 2"/>
          <p:cNvSpPr txBox="1">
            <a:spLocks/>
          </p:cNvSpPr>
          <p:nvPr/>
        </p:nvSpPr>
        <p:spPr>
          <a:xfrm>
            <a:off x="1381655" y="1687517"/>
            <a:ext cx="8596668" cy="67468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kumimoji="1" lang="en-US" sz="2400" dirty="0" err="1"/>
              <a:t>Các</a:t>
            </a:r>
            <a:r>
              <a:rPr kumimoji="1" lang="en-US" sz="2400" dirty="0"/>
              <a:t> </a:t>
            </a:r>
            <a:r>
              <a:rPr kumimoji="1" lang="en-US" sz="2400" dirty="0" err="1"/>
              <a:t>mục</a:t>
            </a:r>
            <a:r>
              <a:rPr kumimoji="1" lang="en-US" sz="2400" dirty="0"/>
              <a:t> </a:t>
            </a:r>
            <a:r>
              <a:rPr kumimoji="1" lang="en-US" sz="2400" dirty="0" err="1"/>
              <a:t>trình</a:t>
            </a:r>
            <a:r>
              <a:rPr kumimoji="1" lang="en-US" sz="2400" dirty="0"/>
              <a:t> </a:t>
            </a:r>
            <a:r>
              <a:rPr kumimoji="1" lang="en-US" sz="2400" dirty="0" err="1"/>
              <a:t>bày</a:t>
            </a:r>
            <a:r>
              <a:rPr kumimoji="1" lang="en-US" sz="2400" dirty="0"/>
              <a:t> </a:t>
            </a:r>
            <a:r>
              <a:rPr kumimoji="1" lang="en-US" sz="2400" dirty="0" err="1"/>
              <a:t>trong</a:t>
            </a:r>
            <a:r>
              <a:rPr kumimoji="1" lang="en-US" sz="2400" dirty="0"/>
              <a:t> </a:t>
            </a:r>
            <a:r>
              <a:rPr lang="en-US" sz="3200" b="1" dirty="0"/>
              <a:t>Spring Batch</a:t>
            </a:r>
          </a:p>
          <a:p>
            <a:pPr marL="0" indent="0">
              <a:buNone/>
            </a:pPr>
            <a:endParaRPr kumimoji="1" lang="en-US" b="1" dirty="0"/>
          </a:p>
        </p:txBody>
      </p:sp>
    </p:spTree>
    <p:extLst>
      <p:ext uri="{BB962C8B-B14F-4D97-AF65-F5344CB8AC3E}">
        <p14:creationId xmlns:p14="http://schemas.microsoft.com/office/powerpoint/2010/main" val="721177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a:t>Batch </a:t>
            </a:r>
            <a:r>
              <a:rPr lang="en-US" b="1" dirty="0" err="1"/>
              <a:t>là</a:t>
            </a:r>
            <a:r>
              <a:rPr lang="en-US" b="1" dirty="0"/>
              <a:t> </a:t>
            </a:r>
            <a:r>
              <a:rPr lang="en-US" b="1" dirty="0" err="1"/>
              <a:t>gì</a:t>
            </a:r>
            <a:r>
              <a:rPr lang="en-US" b="1" dirty="0"/>
              <a:t>?</a:t>
            </a:r>
          </a:p>
        </p:txBody>
      </p:sp>
      <p:sp>
        <p:nvSpPr>
          <p:cNvPr id="3" name="コンテンツ プレースホルダー 2"/>
          <p:cNvSpPr>
            <a:spLocks noGrp="1"/>
          </p:cNvSpPr>
          <p:nvPr>
            <p:ph idx="1"/>
          </p:nvPr>
        </p:nvSpPr>
        <p:spPr/>
        <p:txBody>
          <a:bodyPr>
            <a:normAutofit lnSpcReduction="10000"/>
          </a:bodyPr>
          <a:lstStyle/>
          <a:p>
            <a:pPr algn="just"/>
            <a:r>
              <a:rPr lang="en-US" dirty="0"/>
              <a:t>Batch </a:t>
            </a:r>
            <a:r>
              <a:rPr lang="en-US" dirty="0" err="1"/>
              <a:t>là</a:t>
            </a:r>
            <a:r>
              <a:rPr lang="en-US" dirty="0"/>
              <a:t> </a:t>
            </a:r>
            <a:r>
              <a:rPr lang="en-US" dirty="0" err="1"/>
              <a:t>một</a:t>
            </a:r>
            <a:r>
              <a:rPr lang="en-US" dirty="0"/>
              <a:t> </a:t>
            </a:r>
            <a:r>
              <a:rPr lang="en-US" dirty="0" err="1"/>
              <a:t>chế</a:t>
            </a:r>
            <a:r>
              <a:rPr lang="en-US" dirty="0"/>
              <a:t> </a:t>
            </a:r>
            <a:r>
              <a:rPr lang="en-US" dirty="0" err="1"/>
              <a:t>độ</a:t>
            </a:r>
            <a:r>
              <a:rPr lang="en-US" dirty="0"/>
              <a:t> </a:t>
            </a:r>
            <a:r>
              <a:rPr lang="en-US" dirty="0" err="1"/>
              <a:t>xử</a:t>
            </a:r>
            <a:r>
              <a:rPr lang="en-US" dirty="0"/>
              <a:t> </a:t>
            </a:r>
            <a:r>
              <a:rPr lang="en-US" dirty="0" err="1"/>
              <a:t>lý</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việc</a:t>
            </a:r>
            <a:r>
              <a:rPr lang="en-US" dirty="0"/>
              <a:t> </a:t>
            </a:r>
            <a:r>
              <a:rPr lang="en-US" dirty="0" err="1"/>
              <a:t>thực</a:t>
            </a:r>
            <a:r>
              <a:rPr lang="en-US" dirty="0"/>
              <a:t> </a:t>
            </a:r>
            <a:r>
              <a:rPr lang="en-US" dirty="0" err="1"/>
              <a:t>hiện</a:t>
            </a:r>
            <a:r>
              <a:rPr lang="en-US" dirty="0"/>
              <a:t> </a:t>
            </a:r>
            <a:r>
              <a:rPr lang="en-US" dirty="0" err="1"/>
              <a:t>một</a:t>
            </a:r>
            <a:r>
              <a:rPr lang="en-US" dirty="0"/>
              <a:t> </a:t>
            </a:r>
            <a:r>
              <a:rPr lang="en-US" dirty="0" err="1"/>
              <a:t>loạt</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phức</a:t>
            </a:r>
            <a:r>
              <a:rPr lang="en-US" dirty="0"/>
              <a:t> </a:t>
            </a:r>
            <a:r>
              <a:rPr lang="en-US" dirty="0" err="1"/>
              <a:t>tạp</a:t>
            </a:r>
            <a:r>
              <a:rPr lang="en-US" dirty="0"/>
              <a:t> </a:t>
            </a:r>
            <a:r>
              <a:rPr lang="en-US" dirty="0" err="1"/>
              <a:t>tự</a:t>
            </a:r>
            <a:r>
              <a:rPr lang="en-US" dirty="0"/>
              <a:t> </a:t>
            </a:r>
            <a:r>
              <a:rPr lang="en-US" dirty="0" err="1"/>
              <a:t>động</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sự</a:t>
            </a:r>
            <a:r>
              <a:rPr lang="en-US" dirty="0"/>
              <a:t> </a:t>
            </a:r>
            <a:r>
              <a:rPr lang="en-US" dirty="0" err="1"/>
              <a:t>tương</a:t>
            </a:r>
            <a:r>
              <a:rPr lang="en-US" dirty="0"/>
              <a:t> </a:t>
            </a:r>
            <a:r>
              <a:rPr lang="en-US" dirty="0" err="1"/>
              <a:t>tác</a:t>
            </a:r>
            <a:r>
              <a:rPr lang="en-US" dirty="0"/>
              <a:t> </a:t>
            </a:r>
            <a:r>
              <a:rPr lang="en-US" dirty="0" err="1"/>
              <a:t>từ</a:t>
            </a:r>
            <a:r>
              <a:rPr lang="en-US" dirty="0"/>
              <a:t> </a:t>
            </a:r>
            <a:r>
              <a:rPr lang="en-US" dirty="0" err="1"/>
              <a:t>người</a:t>
            </a:r>
            <a:r>
              <a:rPr lang="en-US" dirty="0"/>
              <a:t> </a:t>
            </a:r>
            <a:r>
              <a:rPr lang="en-US" dirty="0" err="1"/>
              <a:t>dùng</a:t>
            </a:r>
            <a:r>
              <a:rPr lang="en-US" dirty="0"/>
              <a:t>.</a:t>
            </a:r>
          </a:p>
          <a:p>
            <a:pPr algn="just"/>
            <a:r>
              <a:rPr lang="en-US" dirty="0" err="1"/>
              <a:t>Một</a:t>
            </a:r>
            <a:r>
              <a:rPr lang="en-US" dirty="0"/>
              <a:t> </a:t>
            </a:r>
            <a:r>
              <a:rPr lang="en-US" dirty="0" err="1"/>
              <a:t>số</a:t>
            </a:r>
            <a:r>
              <a:rPr lang="en-US" dirty="0"/>
              <a:t> </a:t>
            </a:r>
            <a:r>
              <a:rPr lang="en-US" dirty="0" err="1"/>
              <a:t>ứng</a:t>
            </a:r>
            <a:r>
              <a:rPr lang="en-US" dirty="0"/>
              <a:t> </a:t>
            </a:r>
            <a:r>
              <a:rPr lang="en-US" dirty="0" err="1"/>
              <a:t>dụng</a:t>
            </a:r>
            <a:r>
              <a:rPr lang="en-US" dirty="0"/>
              <a:t> </a:t>
            </a:r>
            <a:r>
              <a:rPr lang="en-US" dirty="0" err="1"/>
              <a:t>Doanh</a:t>
            </a:r>
            <a:r>
              <a:rPr lang="en-US" dirty="0"/>
              <a:t> </a:t>
            </a:r>
            <a:r>
              <a:rPr lang="en-US" dirty="0" err="1"/>
              <a:t>nghiệp</a:t>
            </a:r>
            <a:r>
              <a:rPr lang="en-US" dirty="0"/>
              <a:t> </a:t>
            </a:r>
            <a:r>
              <a:rPr lang="en-US" dirty="0" err="1"/>
              <a:t>yêu</a:t>
            </a:r>
            <a:r>
              <a:rPr lang="en-US" dirty="0"/>
              <a:t> </a:t>
            </a:r>
            <a:r>
              <a:rPr lang="en-US" dirty="0" err="1"/>
              <a:t>cầu</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rất</a:t>
            </a:r>
            <a:r>
              <a:rPr lang="en-US" dirty="0"/>
              <a:t> </a:t>
            </a:r>
            <a:r>
              <a:rPr lang="en-US" dirty="0" err="1"/>
              <a:t>lớn</a:t>
            </a:r>
            <a:r>
              <a:rPr lang="en-US" dirty="0"/>
              <a:t> </a:t>
            </a:r>
            <a:r>
              <a:rPr lang="en-US" dirty="0" err="1"/>
              <a:t>để</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liên</a:t>
            </a:r>
            <a:r>
              <a:rPr lang="en-US" dirty="0"/>
              <a:t> </a:t>
            </a:r>
            <a:r>
              <a:rPr lang="en-US" dirty="0" err="1"/>
              <a:t>quan</a:t>
            </a:r>
            <a:r>
              <a:rPr lang="en-US" dirty="0"/>
              <a:t> </a:t>
            </a:r>
            <a:r>
              <a:rPr lang="en-US" dirty="0" err="1"/>
              <a:t>đến</a:t>
            </a:r>
            <a:r>
              <a:rPr lang="en-US" dirty="0"/>
              <a:t>:</a:t>
            </a:r>
          </a:p>
          <a:p>
            <a:pPr lvl="1" algn="just"/>
            <a:r>
              <a:rPr lang="en-US" dirty="0" err="1"/>
              <a:t>Các</a:t>
            </a:r>
            <a:r>
              <a:rPr lang="en-US" dirty="0"/>
              <a:t> </a:t>
            </a:r>
            <a:r>
              <a:rPr lang="en-US" dirty="0" err="1"/>
              <a:t>sự</a:t>
            </a:r>
            <a:r>
              <a:rPr lang="en-US" dirty="0"/>
              <a:t> </a:t>
            </a:r>
            <a:r>
              <a:rPr lang="en-US" dirty="0" err="1"/>
              <a:t>kiện</a:t>
            </a:r>
            <a:r>
              <a:rPr lang="en-US" dirty="0"/>
              <a:t> </a:t>
            </a:r>
            <a:r>
              <a:rPr lang="en-US" dirty="0" err="1"/>
              <a:t>dựa</a:t>
            </a:r>
            <a:r>
              <a:rPr lang="en-US" dirty="0"/>
              <a:t> </a:t>
            </a:r>
            <a:r>
              <a:rPr lang="en-US" dirty="0" err="1"/>
              <a:t>trên</a:t>
            </a:r>
            <a:r>
              <a:rPr lang="en-US" dirty="0"/>
              <a:t> </a:t>
            </a:r>
            <a:r>
              <a:rPr lang="en-US" dirty="0" err="1"/>
              <a:t>thời</a:t>
            </a:r>
            <a:r>
              <a:rPr lang="en-US" dirty="0"/>
              <a:t> </a:t>
            </a:r>
            <a:r>
              <a:rPr lang="en-US" dirty="0" err="1"/>
              <a:t>gian</a:t>
            </a:r>
            <a:r>
              <a:rPr lang="en-US" dirty="0"/>
              <a:t> </a:t>
            </a:r>
            <a:r>
              <a:rPr lang="en-US" dirty="0" err="1"/>
              <a:t>như</a:t>
            </a:r>
            <a:r>
              <a:rPr lang="en-US" dirty="0"/>
              <a:t> </a:t>
            </a:r>
            <a:r>
              <a:rPr lang="en-US" dirty="0" err="1"/>
              <a:t>tính</a:t>
            </a:r>
            <a:r>
              <a:rPr lang="en-US" dirty="0"/>
              <a:t> </a:t>
            </a:r>
            <a:r>
              <a:rPr lang="en-US" dirty="0" err="1"/>
              <a:t>toán</a:t>
            </a:r>
            <a:r>
              <a:rPr lang="en-US" dirty="0"/>
              <a:t> </a:t>
            </a:r>
            <a:r>
              <a:rPr lang="en-US" dirty="0" err="1"/>
              <a:t>định</a:t>
            </a:r>
            <a:r>
              <a:rPr lang="en-US" dirty="0"/>
              <a:t> </a:t>
            </a:r>
            <a:r>
              <a:rPr lang="en-US" dirty="0" err="1"/>
              <a:t>kỳ</a:t>
            </a:r>
            <a:r>
              <a:rPr lang="en-US" dirty="0"/>
              <a:t>.</a:t>
            </a:r>
          </a:p>
          <a:p>
            <a:pPr lvl="1" algn="just"/>
            <a:r>
              <a:rPr lang="en-US" dirty="0" err="1"/>
              <a:t>Các</a:t>
            </a:r>
            <a:r>
              <a:rPr lang="en-US" dirty="0"/>
              <a:t> </a:t>
            </a:r>
            <a:r>
              <a:rPr lang="en-US" dirty="0" err="1"/>
              <a:t>ứng</a:t>
            </a:r>
            <a:r>
              <a:rPr lang="en-US" dirty="0"/>
              <a:t> </a:t>
            </a:r>
            <a:r>
              <a:rPr lang="en-US" dirty="0" err="1"/>
              <a:t>dụng</a:t>
            </a:r>
            <a:r>
              <a:rPr lang="en-US" dirty="0"/>
              <a:t> </a:t>
            </a:r>
            <a:r>
              <a:rPr lang="en-US" dirty="0" err="1"/>
              <a:t>định</a:t>
            </a:r>
            <a:r>
              <a:rPr lang="en-US" dirty="0"/>
              <a:t> </a:t>
            </a:r>
            <a:r>
              <a:rPr lang="en-US" dirty="0" err="1"/>
              <a:t>kỳ</a:t>
            </a:r>
            <a:r>
              <a:rPr lang="en-US" dirty="0"/>
              <a:t> </a:t>
            </a:r>
            <a:r>
              <a:rPr lang="en-US" dirty="0" err="1"/>
              <a:t>được</a:t>
            </a:r>
            <a:r>
              <a:rPr lang="en-US" dirty="0"/>
              <a:t> </a:t>
            </a:r>
            <a:r>
              <a:rPr lang="en-US" dirty="0" err="1"/>
              <a:t>xử</a:t>
            </a:r>
            <a:r>
              <a:rPr lang="en-US" dirty="0"/>
              <a:t> </a:t>
            </a:r>
            <a:r>
              <a:rPr lang="en-US" dirty="0" err="1"/>
              <a:t>lý</a:t>
            </a:r>
            <a:r>
              <a:rPr lang="en-US" dirty="0"/>
              <a:t> </a:t>
            </a:r>
            <a:r>
              <a:rPr lang="en-US" dirty="0" err="1"/>
              <a:t>lặp</a:t>
            </a:r>
            <a:r>
              <a:rPr lang="en-US" dirty="0"/>
              <a:t> </a:t>
            </a:r>
            <a:r>
              <a:rPr lang="en-US" dirty="0" err="1"/>
              <a:t>đi</a:t>
            </a:r>
            <a:r>
              <a:rPr lang="en-US" dirty="0"/>
              <a:t> </a:t>
            </a:r>
            <a:r>
              <a:rPr lang="en-US" dirty="0" err="1"/>
              <a:t>lặp</a:t>
            </a:r>
            <a:r>
              <a:rPr lang="en-US" dirty="0"/>
              <a:t> </a:t>
            </a:r>
            <a:r>
              <a:rPr lang="en-US" dirty="0" err="1"/>
              <a:t>lại</a:t>
            </a:r>
            <a:r>
              <a:rPr lang="en-US" dirty="0"/>
              <a:t> </a:t>
            </a:r>
            <a:r>
              <a:rPr lang="en-US" dirty="0" err="1"/>
              <a:t>trên</a:t>
            </a:r>
            <a:r>
              <a:rPr lang="en-US" dirty="0"/>
              <a:t> </a:t>
            </a:r>
            <a:r>
              <a:rPr lang="en-US" dirty="0" err="1"/>
              <a:t>các</a:t>
            </a:r>
            <a:r>
              <a:rPr lang="en-US" dirty="0"/>
              <a:t> </a:t>
            </a:r>
            <a:r>
              <a:rPr lang="en-US" dirty="0" err="1"/>
              <a:t>tập</a:t>
            </a:r>
            <a:r>
              <a:rPr lang="en-US" dirty="0"/>
              <a:t> </a:t>
            </a:r>
            <a:r>
              <a:rPr lang="en-US" dirty="0" err="1"/>
              <a:t>dữ</a:t>
            </a:r>
            <a:r>
              <a:rPr lang="en-US" dirty="0"/>
              <a:t> </a:t>
            </a:r>
            <a:r>
              <a:rPr lang="en-US" dirty="0" err="1"/>
              <a:t>liệu</a:t>
            </a:r>
            <a:r>
              <a:rPr lang="en-US" dirty="0"/>
              <a:t> </a:t>
            </a:r>
            <a:r>
              <a:rPr lang="en-US" dirty="0" err="1"/>
              <a:t>lớn</a:t>
            </a:r>
            <a:endParaRPr lang="en-US" dirty="0"/>
          </a:p>
          <a:p>
            <a:pPr lvl="1" algn="just"/>
            <a:r>
              <a:rPr lang="en-US" dirty="0" err="1"/>
              <a:t>Các</a:t>
            </a:r>
            <a:r>
              <a:rPr lang="en-US" dirty="0"/>
              <a:t> </a:t>
            </a:r>
            <a:r>
              <a:rPr lang="en-US" dirty="0" err="1"/>
              <a:t>ứng</a:t>
            </a:r>
            <a:r>
              <a:rPr lang="en-US" dirty="0"/>
              <a:t> </a:t>
            </a:r>
            <a:r>
              <a:rPr lang="en-US" dirty="0" err="1"/>
              <a:t>dụng</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xác</a:t>
            </a:r>
            <a:r>
              <a:rPr lang="en-US" dirty="0"/>
              <a:t> </a:t>
            </a:r>
            <a:r>
              <a:rPr lang="en-US" dirty="0" err="1"/>
              <a:t>thực</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sẵn</a:t>
            </a:r>
            <a:r>
              <a:rPr lang="en-US" dirty="0"/>
              <a:t> </a:t>
            </a:r>
            <a:r>
              <a:rPr lang="en-US" dirty="0" err="1"/>
              <a:t>theo</a:t>
            </a:r>
            <a:r>
              <a:rPr lang="en-US" dirty="0"/>
              <a:t> </a:t>
            </a:r>
            <a:r>
              <a:rPr lang="en-US" dirty="0" err="1"/>
              <a:t>cách</a:t>
            </a:r>
            <a:r>
              <a:rPr lang="en-US" dirty="0"/>
              <a:t> </a:t>
            </a:r>
            <a:r>
              <a:rPr lang="en-US" dirty="0" err="1"/>
              <a:t>thức</a:t>
            </a:r>
            <a:r>
              <a:rPr lang="en-US" dirty="0"/>
              <a:t> </a:t>
            </a:r>
            <a:r>
              <a:rPr lang="en-US" dirty="0" err="1"/>
              <a:t>giao</a:t>
            </a:r>
            <a:r>
              <a:rPr lang="en-US" dirty="0"/>
              <a:t> </a:t>
            </a:r>
            <a:r>
              <a:rPr lang="en-US" dirty="0" err="1"/>
              <a:t>dịch</a:t>
            </a:r>
            <a:r>
              <a:rPr lang="en-US" dirty="0"/>
              <a:t>.</a:t>
            </a:r>
          </a:p>
          <a:p>
            <a:pPr algn="just"/>
            <a:r>
              <a:rPr lang="en-US" dirty="0"/>
              <a:t>VD: </a:t>
            </a:r>
            <a:r>
              <a:rPr lang="en-US" dirty="0" err="1"/>
              <a:t>Thống</a:t>
            </a:r>
            <a:r>
              <a:rPr lang="en-US" dirty="0"/>
              <a:t> </a:t>
            </a:r>
            <a:r>
              <a:rPr lang="en-US" dirty="0" err="1"/>
              <a:t>kê</a:t>
            </a:r>
            <a:r>
              <a:rPr lang="en-US" dirty="0"/>
              <a:t> </a:t>
            </a:r>
            <a:r>
              <a:rPr lang="en-US" dirty="0" err="1"/>
              <a:t>dữ</a:t>
            </a:r>
            <a:r>
              <a:rPr lang="en-US" dirty="0"/>
              <a:t> </a:t>
            </a:r>
            <a:r>
              <a:rPr lang="en-US" dirty="0" err="1"/>
              <a:t>liệu</a:t>
            </a:r>
            <a:r>
              <a:rPr lang="en-US" dirty="0"/>
              <a:t> </a:t>
            </a:r>
            <a:r>
              <a:rPr lang="en-US" dirty="0" err="1"/>
              <a:t>bán</a:t>
            </a:r>
            <a:r>
              <a:rPr lang="en-US" dirty="0"/>
              <a:t> </a:t>
            </a:r>
            <a:r>
              <a:rPr lang="en-US" dirty="0" err="1"/>
              <a:t>hàng</a:t>
            </a:r>
            <a:r>
              <a:rPr lang="en-US" dirty="0"/>
              <a:t> </a:t>
            </a:r>
            <a:r>
              <a:rPr lang="en-US" dirty="0" err="1"/>
              <a:t>hàng</a:t>
            </a:r>
            <a:r>
              <a:rPr lang="en-US" dirty="0"/>
              <a:t> </a:t>
            </a:r>
            <a:r>
              <a:rPr lang="en-US" dirty="0" err="1"/>
              <a:t>tháng</a:t>
            </a:r>
            <a:r>
              <a:rPr lang="en-US" dirty="0"/>
              <a:t> </a:t>
            </a:r>
            <a:r>
              <a:rPr lang="en-US" dirty="0" err="1"/>
              <a:t>và</a:t>
            </a:r>
            <a:r>
              <a:rPr lang="en-US" dirty="0"/>
              <a:t> </a:t>
            </a:r>
            <a:r>
              <a:rPr lang="en-US" dirty="0" err="1"/>
              <a:t>xuất</a:t>
            </a:r>
            <a:r>
              <a:rPr lang="en-US" dirty="0"/>
              <a:t> file excel</a:t>
            </a:r>
          </a:p>
          <a:p>
            <a:pPr lvl="1" algn="just"/>
            <a:r>
              <a:rPr lang="en-US" dirty="0" err="1"/>
              <a:t>Tìm</a:t>
            </a:r>
            <a:r>
              <a:rPr lang="en-US" dirty="0"/>
              <a:t> </a:t>
            </a:r>
            <a:r>
              <a:rPr lang="en-US" dirty="0" err="1"/>
              <a:t>kiếm</a:t>
            </a:r>
            <a:r>
              <a:rPr lang="en-US" dirty="0"/>
              <a:t> data </a:t>
            </a:r>
            <a:r>
              <a:rPr lang="en-US" dirty="0" err="1"/>
              <a:t>cần</a:t>
            </a:r>
            <a:r>
              <a:rPr lang="en-US" dirty="0"/>
              <a:t> </a:t>
            </a:r>
            <a:r>
              <a:rPr lang="en-US" dirty="0" err="1"/>
              <a:t>xử</a:t>
            </a:r>
            <a:r>
              <a:rPr lang="en-US" dirty="0"/>
              <a:t> </a:t>
            </a:r>
            <a:r>
              <a:rPr lang="en-US" dirty="0" err="1"/>
              <a:t>lý</a:t>
            </a:r>
            <a:r>
              <a:rPr lang="en-US" dirty="0"/>
              <a:t> </a:t>
            </a:r>
            <a:r>
              <a:rPr lang="en-US" dirty="0" err="1"/>
              <a:t>trong</a:t>
            </a:r>
            <a:r>
              <a:rPr lang="en-US" dirty="0"/>
              <a:t> database</a:t>
            </a:r>
          </a:p>
          <a:p>
            <a:pPr lvl="1" algn="just"/>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convert, </a:t>
            </a:r>
            <a:r>
              <a:rPr lang="en-US" dirty="0" err="1"/>
              <a:t>tìm</a:t>
            </a:r>
            <a:r>
              <a:rPr lang="en-US" dirty="0"/>
              <a:t> </a:t>
            </a:r>
            <a:r>
              <a:rPr lang="en-US" dirty="0" err="1"/>
              <a:t>kiếm</a:t>
            </a:r>
            <a:r>
              <a:rPr lang="en-US" dirty="0"/>
              <a:t>, …</a:t>
            </a:r>
          </a:p>
          <a:p>
            <a:pPr lvl="1" algn="just"/>
            <a:r>
              <a:rPr lang="en-US" dirty="0" err="1"/>
              <a:t>Ghi</a:t>
            </a:r>
            <a:r>
              <a:rPr lang="en-US" dirty="0"/>
              <a:t> file, log.</a:t>
            </a:r>
          </a:p>
          <a:p>
            <a:pPr algn="just"/>
            <a:endParaRPr lang="en-US" dirty="0"/>
          </a:p>
        </p:txBody>
      </p:sp>
    </p:spTree>
    <p:extLst>
      <p:ext uri="{BB962C8B-B14F-4D97-AF65-F5344CB8AC3E}">
        <p14:creationId xmlns:p14="http://schemas.microsoft.com/office/powerpoint/2010/main" val="18109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a:t>Spring Batch </a:t>
            </a:r>
            <a:r>
              <a:rPr lang="en-US" b="1" dirty="0" err="1"/>
              <a:t>là</a:t>
            </a:r>
            <a:r>
              <a:rPr lang="en-US" b="1" dirty="0"/>
              <a:t> </a:t>
            </a:r>
            <a:r>
              <a:rPr lang="en-US" b="1" dirty="0" err="1"/>
              <a:t>gì</a:t>
            </a:r>
            <a:r>
              <a:rPr lang="en-US" b="1" dirty="0"/>
              <a:t>?</a:t>
            </a:r>
          </a:p>
        </p:txBody>
      </p:sp>
      <p:sp>
        <p:nvSpPr>
          <p:cNvPr id="3" name="コンテンツ プレースホルダー 2"/>
          <p:cNvSpPr>
            <a:spLocks noGrp="1"/>
          </p:cNvSpPr>
          <p:nvPr>
            <p:ph idx="1"/>
          </p:nvPr>
        </p:nvSpPr>
        <p:spPr/>
        <p:txBody>
          <a:bodyPr>
            <a:normAutofit/>
          </a:bodyPr>
          <a:lstStyle/>
          <a:p>
            <a:pPr algn="just"/>
            <a:r>
              <a:rPr lang="en-US" dirty="0"/>
              <a:t>Spring Batch </a:t>
            </a:r>
            <a:r>
              <a:rPr lang="en-US" dirty="0" err="1"/>
              <a:t>là</a:t>
            </a:r>
            <a:r>
              <a:rPr lang="en-US" dirty="0"/>
              <a:t> </a:t>
            </a:r>
            <a:r>
              <a:rPr lang="en-US" dirty="0" err="1"/>
              <a:t>một</a:t>
            </a:r>
            <a:r>
              <a:rPr lang="en-US" dirty="0"/>
              <a:t> framework </a:t>
            </a:r>
            <a:r>
              <a:rPr lang="en-US" dirty="0" err="1"/>
              <a:t>xử</a:t>
            </a:r>
            <a:r>
              <a:rPr lang="en-US" dirty="0"/>
              <a:t> </a:t>
            </a:r>
            <a:r>
              <a:rPr lang="en-US" dirty="0" err="1"/>
              <a:t>lý</a:t>
            </a:r>
            <a:r>
              <a:rPr lang="en-US" dirty="0"/>
              <a:t> batch </a:t>
            </a:r>
            <a:r>
              <a:rPr lang="en-US" dirty="0" err="1"/>
              <a:t>được</a:t>
            </a:r>
            <a:r>
              <a:rPr lang="en-US" dirty="0"/>
              <a:t> </a:t>
            </a:r>
            <a:r>
              <a:rPr lang="en-US" dirty="0" err="1"/>
              <a:t>xây</a:t>
            </a:r>
            <a:r>
              <a:rPr lang="en-US" dirty="0"/>
              <a:t> </a:t>
            </a:r>
            <a:r>
              <a:rPr lang="en-US" dirty="0" err="1"/>
              <a:t>dựng</a:t>
            </a:r>
            <a:r>
              <a:rPr lang="en-US" dirty="0"/>
              <a:t> </a:t>
            </a:r>
            <a:r>
              <a:rPr lang="en-US" dirty="0" err="1"/>
              <a:t>dựa</a:t>
            </a:r>
            <a:r>
              <a:rPr lang="en-US" dirty="0"/>
              <a:t> </a:t>
            </a:r>
            <a:r>
              <a:rPr lang="en-US" dirty="0" err="1"/>
              <a:t>trên</a:t>
            </a:r>
            <a:r>
              <a:rPr lang="en-US" dirty="0"/>
              <a:t> Spring Framework.</a:t>
            </a:r>
          </a:p>
          <a:p>
            <a:pPr algn="just"/>
            <a:r>
              <a:rPr lang="en-US" dirty="0" err="1"/>
              <a:t>Nó</a:t>
            </a:r>
            <a:r>
              <a:rPr lang="en-US" dirty="0"/>
              <a:t> </a:t>
            </a:r>
            <a:r>
              <a:rPr lang="en-US" dirty="0" err="1"/>
              <a:t>cung</a:t>
            </a:r>
            <a:r>
              <a:rPr lang="en-US" dirty="0"/>
              <a:t> </a:t>
            </a:r>
            <a:r>
              <a:rPr lang="en-US" dirty="0" err="1"/>
              <a:t>cấp</a:t>
            </a:r>
            <a:r>
              <a:rPr lang="en-US" dirty="0"/>
              <a:t> </a:t>
            </a:r>
            <a:r>
              <a:rPr lang="en-US" dirty="0" err="1"/>
              <a:t>nhiều</a:t>
            </a:r>
            <a:r>
              <a:rPr lang="en-US" dirty="0"/>
              <a:t> </a:t>
            </a:r>
            <a:r>
              <a:rPr lang="en-US" dirty="0" err="1"/>
              <a:t>tính</a:t>
            </a:r>
            <a:r>
              <a:rPr lang="en-US" dirty="0"/>
              <a:t> </a:t>
            </a:r>
            <a:r>
              <a:rPr lang="en-US" dirty="0" err="1"/>
              <a:t>năng</a:t>
            </a:r>
            <a:r>
              <a:rPr lang="en-US" dirty="0"/>
              <a:t> </a:t>
            </a:r>
            <a:r>
              <a:rPr lang="en-US" dirty="0" err="1"/>
              <a:t>và</a:t>
            </a:r>
            <a:r>
              <a:rPr lang="en-US" dirty="0"/>
              <a:t> </a:t>
            </a:r>
            <a:r>
              <a:rPr lang="en-US" dirty="0" err="1"/>
              <a:t>dịch</a:t>
            </a:r>
            <a:r>
              <a:rPr lang="en-US" dirty="0"/>
              <a:t> </a:t>
            </a:r>
            <a:r>
              <a:rPr lang="en-US" dirty="0" err="1"/>
              <a:t>vụ</a:t>
            </a:r>
            <a:r>
              <a:rPr lang="en-US" dirty="0"/>
              <a:t> </a:t>
            </a:r>
            <a:r>
              <a:rPr lang="en-US" dirty="0" err="1"/>
              <a:t>kĩ</a:t>
            </a:r>
            <a:r>
              <a:rPr lang="en-US" dirty="0"/>
              <a:t> </a:t>
            </a:r>
            <a:r>
              <a:rPr lang="en-US" dirty="0" err="1"/>
              <a:t>thuật</a:t>
            </a:r>
            <a:r>
              <a:rPr lang="en-US" dirty="0"/>
              <a:t> </a:t>
            </a:r>
            <a:r>
              <a:rPr lang="en-US" dirty="0" err="1"/>
              <a:t>tiên</a:t>
            </a:r>
            <a:r>
              <a:rPr lang="en-US" dirty="0"/>
              <a:t> </a:t>
            </a:r>
            <a:r>
              <a:rPr lang="en-US" dirty="0" err="1"/>
              <a:t>tiến</a:t>
            </a:r>
            <a:r>
              <a:rPr lang="en-US" dirty="0"/>
              <a:t> </a:t>
            </a:r>
            <a:r>
              <a:rPr lang="en-US" dirty="0" err="1"/>
              <a:t>mà</a:t>
            </a:r>
            <a:r>
              <a:rPr lang="en-US" dirty="0"/>
              <a:t> </a:t>
            </a:r>
            <a:r>
              <a:rPr lang="en-US" dirty="0" err="1"/>
              <a:t>cho</a:t>
            </a:r>
            <a:r>
              <a:rPr lang="en-US" dirty="0"/>
              <a:t> </a:t>
            </a:r>
            <a:r>
              <a:rPr lang="en-US" dirty="0" err="1"/>
              <a:t>phép</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hàng</a:t>
            </a:r>
            <a:r>
              <a:rPr lang="en-US" dirty="0"/>
              <a:t> </a:t>
            </a:r>
            <a:r>
              <a:rPr lang="en-US" dirty="0" err="1"/>
              <a:t>loạt</a:t>
            </a:r>
            <a:r>
              <a:rPr lang="en-US" dirty="0"/>
              <a:t> </a:t>
            </a:r>
            <a:r>
              <a:rPr lang="en-US" dirty="0" err="1"/>
              <a:t>với</a:t>
            </a:r>
            <a:r>
              <a:rPr lang="en-US" dirty="0"/>
              <a:t> </a:t>
            </a:r>
            <a:r>
              <a:rPr lang="en-US" dirty="0" err="1"/>
              <a:t>khối</a:t>
            </a:r>
            <a:r>
              <a:rPr lang="en-US" dirty="0"/>
              <a:t> </a:t>
            </a:r>
            <a:r>
              <a:rPr lang="en-US" dirty="0" err="1"/>
              <a:t>lượng</a:t>
            </a:r>
            <a:r>
              <a:rPr lang="en-US" dirty="0"/>
              <a:t> </a:t>
            </a:r>
            <a:r>
              <a:rPr lang="en-US" dirty="0" err="1"/>
              <a:t>cực</a:t>
            </a:r>
            <a:r>
              <a:rPr lang="en-US" dirty="0"/>
              <a:t> </a:t>
            </a:r>
            <a:r>
              <a:rPr lang="en-US" dirty="0" err="1"/>
              <a:t>lớn</a:t>
            </a:r>
            <a:r>
              <a:rPr lang="en-US" dirty="0"/>
              <a:t> </a:t>
            </a:r>
            <a:r>
              <a:rPr lang="en-US" dirty="0" err="1"/>
              <a:t>và</a:t>
            </a:r>
            <a:r>
              <a:rPr lang="en-US" dirty="0"/>
              <a:t> </a:t>
            </a:r>
            <a:r>
              <a:rPr lang="en-US" dirty="0" err="1"/>
              <a:t>hiệu</a:t>
            </a:r>
            <a:r>
              <a:rPr lang="en-US" dirty="0"/>
              <a:t> </a:t>
            </a:r>
            <a:r>
              <a:rPr lang="en-US" dirty="0" err="1"/>
              <a:t>suất</a:t>
            </a:r>
            <a:r>
              <a:rPr lang="en-US" dirty="0"/>
              <a:t> </a:t>
            </a:r>
            <a:r>
              <a:rPr lang="en-US" dirty="0" err="1"/>
              <a:t>cao</a:t>
            </a:r>
            <a:r>
              <a:rPr lang="en-US" dirty="0"/>
              <a:t> </a:t>
            </a:r>
            <a:r>
              <a:rPr lang="en-US" dirty="0" err="1"/>
              <a:t>thông</a:t>
            </a:r>
            <a:r>
              <a:rPr lang="en-US" dirty="0"/>
              <a:t> qua </a:t>
            </a:r>
            <a:r>
              <a:rPr lang="en-US" dirty="0" err="1"/>
              <a:t>kĩ</a:t>
            </a:r>
            <a:r>
              <a:rPr lang="en-US" dirty="0"/>
              <a:t>  </a:t>
            </a:r>
            <a:r>
              <a:rPr lang="en-US" dirty="0" err="1"/>
              <a:t>thuật</a:t>
            </a:r>
            <a:r>
              <a:rPr lang="en-US" dirty="0"/>
              <a:t> </a:t>
            </a:r>
            <a:r>
              <a:rPr lang="en-US" dirty="0" err="1"/>
              <a:t>tối</a:t>
            </a:r>
            <a:r>
              <a:rPr lang="en-US" dirty="0"/>
              <a:t> </a:t>
            </a:r>
            <a:r>
              <a:rPr lang="en-US" dirty="0" err="1"/>
              <a:t>ưu</a:t>
            </a:r>
            <a:r>
              <a:rPr lang="en-US" dirty="0"/>
              <a:t> </a:t>
            </a:r>
            <a:r>
              <a:rPr lang="en-US" dirty="0" err="1"/>
              <a:t>hóa</a:t>
            </a:r>
            <a:r>
              <a:rPr lang="en-US" dirty="0"/>
              <a:t> </a:t>
            </a:r>
            <a:r>
              <a:rPr lang="en-US" dirty="0" err="1"/>
              <a:t>và</a:t>
            </a:r>
            <a:r>
              <a:rPr lang="en-US" dirty="0"/>
              <a:t> </a:t>
            </a:r>
            <a:r>
              <a:rPr lang="en-US" dirty="0" err="1"/>
              <a:t>phân</a:t>
            </a:r>
            <a:r>
              <a:rPr lang="en-US" dirty="0"/>
              <a:t> </a:t>
            </a:r>
            <a:r>
              <a:rPr lang="en-US" dirty="0" err="1"/>
              <a:t>vùng</a:t>
            </a:r>
            <a:r>
              <a:rPr lang="en-US" dirty="0"/>
              <a:t>. </a:t>
            </a:r>
          </a:p>
          <a:p>
            <a:pPr algn="just"/>
            <a:r>
              <a:rPr lang="en-US" dirty="0"/>
              <a:t>Spring Batch </a:t>
            </a:r>
            <a:r>
              <a:rPr lang="en-US" dirty="0" err="1"/>
              <a:t>cung</a:t>
            </a:r>
            <a:r>
              <a:rPr lang="en-US" dirty="0"/>
              <a:t> </a:t>
            </a:r>
            <a:r>
              <a:rPr lang="en-US" dirty="0" err="1"/>
              <a:t>cấp</a:t>
            </a:r>
            <a:r>
              <a:rPr lang="en-US" dirty="0"/>
              <a:t> </a:t>
            </a:r>
            <a:r>
              <a:rPr lang="en-US" dirty="0" err="1"/>
              <a:t>những</a:t>
            </a:r>
            <a:r>
              <a:rPr lang="en-US" dirty="0"/>
              <a:t> </a:t>
            </a:r>
            <a:r>
              <a:rPr lang="en-US" dirty="0" err="1"/>
              <a:t>chức</a:t>
            </a:r>
            <a:r>
              <a:rPr lang="en-US" dirty="0"/>
              <a:t> </a:t>
            </a:r>
            <a:r>
              <a:rPr lang="en-US" dirty="0" err="1"/>
              <a:t>năng</a:t>
            </a:r>
            <a:r>
              <a:rPr lang="en-US" dirty="0"/>
              <a:t> </a:t>
            </a:r>
            <a:r>
              <a:rPr lang="en-US" dirty="0" err="1"/>
              <a:t>có</a:t>
            </a:r>
            <a:r>
              <a:rPr lang="en-US" dirty="0"/>
              <a:t> </a:t>
            </a:r>
            <a:r>
              <a:rPr lang="en-US" dirty="0" err="1"/>
              <a:t>thể</a:t>
            </a:r>
            <a:r>
              <a:rPr lang="en-US" dirty="0"/>
              <a:t> </a:t>
            </a:r>
            <a:r>
              <a:rPr lang="en-US" dirty="0" err="1"/>
              <a:t>tái</a:t>
            </a:r>
            <a:r>
              <a:rPr lang="en-US" dirty="0"/>
              <a:t> </a:t>
            </a:r>
            <a:r>
              <a:rPr lang="en-US" dirty="0" err="1"/>
              <a:t>sử</a:t>
            </a:r>
            <a:r>
              <a:rPr lang="en-US" dirty="0"/>
              <a:t> </a:t>
            </a:r>
            <a:r>
              <a:rPr lang="en-US" dirty="0" err="1"/>
              <a:t>dụng</a:t>
            </a:r>
            <a:r>
              <a:rPr lang="en-US" dirty="0"/>
              <a:t> </a:t>
            </a:r>
            <a:r>
              <a:rPr lang="en-US" dirty="0" err="1"/>
              <a:t>cần</a:t>
            </a:r>
            <a:r>
              <a:rPr lang="en-US" dirty="0"/>
              <a:t> </a:t>
            </a:r>
            <a:r>
              <a:rPr lang="en-US" dirty="0" err="1"/>
              <a:t>thiết</a:t>
            </a:r>
            <a:r>
              <a:rPr lang="en-US" dirty="0"/>
              <a:t> </a:t>
            </a:r>
            <a:r>
              <a:rPr lang="en-US" dirty="0" err="1"/>
              <a:t>trong</a:t>
            </a:r>
            <a:r>
              <a:rPr lang="en-US" dirty="0"/>
              <a:t> </a:t>
            </a:r>
            <a:r>
              <a:rPr lang="en-US" dirty="0" err="1"/>
              <a:t>những</a:t>
            </a:r>
            <a:r>
              <a:rPr lang="en-US" dirty="0"/>
              <a:t> </a:t>
            </a:r>
            <a:r>
              <a:rPr lang="en-US" dirty="0" err="1"/>
              <a:t>xử</a:t>
            </a:r>
            <a:r>
              <a:rPr lang="en-US" dirty="0"/>
              <a:t> </a:t>
            </a:r>
            <a:r>
              <a:rPr lang="en-US" dirty="0" err="1"/>
              <a:t>lý</a:t>
            </a:r>
            <a:r>
              <a:rPr lang="en-US" dirty="0"/>
              <a:t> </a:t>
            </a:r>
            <a:r>
              <a:rPr lang="en-US" dirty="0" err="1"/>
              <a:t>khối</a:t>
            </a:r>
            <a:r>
              <a:rPr lang="en-US" dirty="0"/>
              <a:t> </a:t>
            </a:r>
            <a:r>
              <a:rPr lang="en-US" dirty="0" err="1"/>
              <a:t>lượng</a:t>
            </a:r>
            <a:r>
              <a:rPr lang="en-US" dirty="0"/>
              <a:t> data </a:t>
            </a:r>
            <a:r>
              <a:rPr lang="en-US" dirty="0" err="1"/>
              <a:t>lớn</a:t>
            </a:r>
            <a:r>
              <a:rPr lang="en-US" dirty="0"/>
              <a:t>, </a:t>
            </a:r>
            <a:r>
              <a:rPr lang="en-US" dirty="0" err="1"/>
              <a:t>bao</a:t>
            </a:r>
            <a:r>
              <a:rPr lang="en-US" dirty="0"/>
              <a:t> </a:t>
            </a:r>
            <a:r>
              <a:rPr lang="en-US" dirty="0" err="1"/>
              <a:t>gồm</a:t>
            </a:r>
            <a:r>
              <a:rPr lang="en-US" dirty="0"/>
              <a:t>  logging/tracing, </a:t>
            </a:r>
            <a:r>
              <a:rPr lang="en-US" dirty="0" err="1"/>
              <a:t>quản</a:t>
            </a:r>
            <a:r>
              <a:rPr lang="en-US" dirty="0"/>
              <a:t> </a:t>
            </a:r>
            <a:r>
              <a:rPr lang="en-US" dirty="0" err="1"/>
              <a:t>lý</a:t>
            </a:r>
            <a:r>
              <a:rPr lang="en-US" dirty="0"/>
              <a:t> </a:t>
            </a:r>
            <a:r>
              <a:rPr lang="en-US" dirty="0" err="1"/>
              <a:t>giao</a:t>
            </a:r>
            <a:r>
              <a:rPr lang="en-US" dirty="0"/>
              <a:t> </a:t>
            </a:r>
            <a:r>
              <a:rPr lang="en-US" dirty="0" err="1"/>
              <a:t>dịch</a:t>
            </a:r>
            <a:r>
              <a:rPr lang="en-US" dirty="0"/>
              <a:t>, </a:t>
            </a:r>
            <a:r>
              <a:rPr lang="en-US" dirty="0" err="1"/>
              <a:t>thống</a:t>
            </a:r>
            <a:r>
              <a:rPr lang="en-US" dirty="0"/>
              <a:t> </a:t>
            </a:r>
            <a:r>
              <a:rPr lang="en-US" dirty="0" err="1"/>
              <a:t>kê</a:t>
            </a:r>
            <a:r>
              <a:rPr lang="en-US" dirty="0"/>
              <a:t> </a:t>
            </a:r>
            <a:r>
              <a:rPr lang="en-US" dirty="0" err="1"/>
              <a:t>xử</a:t>
            </a:r>
            <a:r>
              <a:rPr lang="en-US" dirty="0"/>
              <a:t> </a:t>
            </a:r>
            <a:r>
              <a:rPr lang="en-US" dirty="0" err="1"/>
              <a:t>lý</a:t>
            </a:r>
            <a:r>
              <a:rPr lang="en-US" dirty="0"/>
              <a:t> job, </a:t>
            </a:r>
            <a:r>
              <a:rPr lang="en-US" dirty="0" err="1"/>
              <a:t>khởi</a:t>
            </a:r>
            <a:r>
              <a:rPr lang="en-US" dirty="0"/>
              <a:t> </a:t>
            </a:r>
            <a:r>
              <a:rPr lang="en-US" dirty="0" err="1"/>
              <a:t>động</a:t>
            </a:r>
            <a:r>
              <a:rPr lang="en-US" dirty="0"/>
              <a:t> </a:t>
            </a:r>
            <a:r>
              <a:rPr lang="en-US" dirty="0" err="1"/>
              <a:t>lại</a:t>
            </a:r>
            <a:r>
              <a:rPr lang="en-US" dirty="0"/>
              <a:t>, </a:t>
            </a:r>
            <a:r>
              <a:rPr lang="en-US" dirty="0" err="1"/>
              <a:t>bỏ</a:t>
            </a:r>
            <a:r>
              <a:rPr lang="en-US" dirty="0"/>
              <a:t> qua jobs </a:t>
            </a:r>
            <a:r>
              <a:rPr lang="en-US" dirty="0" err="1"/>
              <a:t>và</a:t>
            </a:r>
            <a:r>
              <a:rPr lang="en-US" dirty="0"/>
              <a:t> </a:t>
            </a:r>
            <a:r>
              <a:rPr lang="en-US" dirty="0" err="1"/>
              <a:t>quản</a:t>
            </a:r>
            <a:r>
              <a:rPr lang="en-US" dirty="0"/>
              <a:t> </a:t>
            </a:r>
            <a:r>
              <a:rPr lang="en-US" dirty="0" err="1"/>
              <a:t>lý</a:t>
            </a:r>
            <a:r>
              <a:rPr lang="en-US" dirty="0"/>
              <a:t> </a:t>
            </a:r>
            <a:r>
              <a:rPr lang="en-US" dirty="0" err="1"/>
              <a:t>tài</a:t>
            </a:r>
            <a:r>
              <a:rPr lang="en-US" dirty="0"/>
              <a:t> </a:t>
            </a:r>
            <a:r>
              <a:rPr lang="en-US" dirty="0" err="1"/>
              <a:t>nguyên</a:t>
            </a:r>
            <a:r>
              <a:rPr lang="en-US" dirty="0"/>
              <a:t>. </a:t>
            </a:r>
          </a:p>
          <a:p>
            <a:pPr algn="just"/>
            <a:r>
              <a:rPr lang="en-US" dirty="0" err="1"/>
              <a:t>Các</a:t>
            </a:r>
            <a:r>
              <a:rPr lang="en-US" dirty="0"/>
              <a:t> </a:t>
            </a:r>
            <a:r>
              <a:rPr lang="en-US" dirty="0" err="1"/>
              <a:t>công</a:t>
            </a:r>
            <a:r>
              <a:rPr lang="en-US" dirty="0"/>
              <a:t> </a:t>
            </a:r>
            <a:r>
              <a:rPr lang="en-US" dirty="0" err="1"/>
              <a:t>việc</a:t>
            </a:r>
            <a:r>
              <a:rPr lang="en-US" dirty="0"/>
              <a:t> </a:t>
            </a:r>
            <a:r>
              <a:rPr lang="en-US" dirty="0" err="1"/>
              <a:t>hàng</a:t>
            </a:r>
            <a:r>
              <a:rPr lang="en-US" dirty="0"/>
              <a:t> </a:t>
            </a:r>
            <a:r>
              <a:rPr lang="en-US" dirty="0" err="1"/>
              <a:t>loạt</a:t>
            </a:r>
            <a:r>
              <a:rPr lang="en-US" dirty="0"/>
              <a:t> </a:t>
            </a:r>
            <a:r>
              <a:rPr lang="en-US" dirty="0" err="1"/>
              <a:t>đơn</a:t>
            </a:r>
            <a:r>
              <a:rPr lang="en-US" dirty="0"/>
              <a:t> </a:t>
            </a:r>
            <a:r>
              <a:rPr lang="en-US" dirty="0" err="1"/>
              <a:t>giản</a:t>
            </a:r>
            <a:r>
              <a:rPr lang="en-US" dirty="0"/>
              <a:t> </a:t>
            </a:r>
            <a:r>
              <a:rPr lang="en-US" dirty="0" err="1"/>
              <a:t>cũng</a:t>
            </a:r>
            <a:r>
              <a:rPr lang="en-US" dirty="0"/>
              <a:t> </a:t>
            </a:r>
            <a:r>
              <a:rPr lang="en-US" dirty="0" err="1"/>
              <a:t>như</a:t>
            </a:r>
            <a:r>
              <a:rPr lang="en-US" dirty="0"/>
              <a:t> </a:t>
            </a:r>
            <a:r>
              <a:rPr lang="en-US" dirty="0" err="1"/>
              <a:t>phức</a:t>
            </a:r>
            <a:r>
              <a:rPr lang="en-US" dirty="0"/>
              <a:t> </a:t>
            </a:r>
            <a:r>
              <a:rPr lang="en-US" dirty="0" err="1"/>
              <a:t>tạp</a:t>
            </a:r>
            <a:r>
              <a:rPr lang="en-US" dirty="0"/>
              <a:t>, </a:t>
            </a:r>
            <a:r>
              <a:rPr lang="en-US" dirty="0" err="1"/>
              <a:t>khối</a:t>
            </a:r>
            <a:r>
              <a:rPr lang="en-US" dirty="0"/>
              <a:t> </a:t>
            </a:r>
            <a:r>
              <a:rPr lang="en-US" dirty="0" err="1"/>
              <a:t>lượng</a:t>
            </a:r>
            <a:r>
              <a:rPr lang="en-US" dirty="0"/>
              <a:t> </a:t>
            </a:r>
            <a:r>
              <a:rPr lang="en-US" dirty="0" err="1"/>
              <a:t>lớn</a:t>
            </a:r>
            <a:r>
              <a:rPr lang="en-US" dirty="0"/>
              <a:t> </a:t>
            </a:r>
            <a:r>
              <a:rPr lang="en-US" dirty="0" err="1"/>
              <a:t>có</a:t>
            </a:r>
            <a:r>
              <a:rPr lang="en-US" dirty="0"/>
              <a:t> </a:t>
            </a:r>
            <a:r>
              <a:rPr lang="en-US" dirty="0" err="1"/>
              <a:t>thể</a:t>
            </a:r>
            <a:r>
              <a:rPr lang="en-US" dirty="0"/>
              <a:t> </a:t>
            </a:r>
            <a:r>
              <a:rPr lang="en-US" dirty="0" err="1"/>
              <a:t>tận</a:t>
            </a:r>
            <a:r>
              <a:rPr lang="en-US" dirty="0"/>
              <a:t> </a:t>
            </a:r>
            <a:r>
              <a:rPr lang="en-US" dirty="0" err="1"/>
              <a:t>dụng</a:t>
            </a:r>
            <a:r>
              <a:rPr lang="en-US" dirty="0"/>
              <a:t> framework </a:t>
            </a:r>
            <a:r>
              <a:rPr lang="en-US" dirty="0" err="1"/>
              <a:t>có</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 </a:t>
            </a:r>
            <a:r>
              <a:rPr lang="en-US" dirty="0" err="1"/>
              <a:t>cao</a:t>
            </a:r>
            <a:r>
              <a:rPr lang="en-US" dirty="0"/>
              <a:t> </a:t>
            </a:r>
            <a:r>
              <a:rPr lang="en-US" dirty="0" err="1"/>
              <a:t>để</a:t>
            </a:r>
            <a:r>
              <a:rPr lang="en-US" dirty="0"/>
              <a:t> </a:t>
            </a:r>
            <a:r>
              <a:rPr lang="en-US" dirty="0" err="1"/>
              <a:t>xử</a:t>
            </a:r>
            <a:r>
              <a:rPr lang="en-US" dirty="0"/>
              <a:t> </a:t>
            </a:r>
            <a:r>
              <a:rPr lang="en-US" dirty="0" err="1"/>
              <a:t>lý</a:t>
            </a:r>
            <a:r>
              <a:rPr lang="en-US" dirty="0"/>
              <a:t> </a:t>
            </a:r>
            <a:r>
              <a:rPr lang="en-US" dirty="0" err="1"/>
              <a:t>khối</a:t>
            </a:r>
            <a:r>
              <a:rPr lang="en-US" dirty="0"/>
              <a:t> </a:t>
            </a:r>
            <a:r>
              <a:rPr lang="en-US" dirty="0" err="1"/>
              <a:t>lượng</a:t>
            </a:r>
            <a:r>
              <a:rPr lang="en-US" dirty="0"/>
              <a:t> </a:t>
            </a:r>
            <a:r>
              <a:rPr lang="en-US" dirty="0" err="1"/>
              <a:t>thông</a:t>
            </a:r>
            <a:r>
              <a:rPr lang="en-US" dirty="0"/>
              <a:t> tin </a:t>
            </a:r>
            <a:r>
              <a:rPr lang="en-US" dirty="0" err="1"/>
              <a:t>đáng</a:t>
            </a:r>
            <a:r>
              <a:rPr lang="en-US" dirty="0"/>
              <a:t> </a:t>
            </a:r>
            <a:r>
              <a:rPr lang="en-US" dirty="0" err="1"/>
              <a:t>kể</a:t>
            </a:r>
            <a:r>
              <a:rPr lang="en-US" dirty="0"/>
              <a:t>.</a:t>
            </a:r>
          </a:p>
        </p:txBody>
      </p:sp>
    </p:spTree>
    <p:extLst>
      <p:ext uri="{BB962C8B-B14F-4D97-AF65-F5344CB8AC3E}">
        <p14:creationId xmlns:p14="http://schemas.microsoft.com/office/powerpoint/2010/main" val="55263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Các</a:t>
            </a:r>
            <a:r>
              <a:rPr lang="en-US" b="1" dirty="0"/>
              <a:t> </a:t>
            </a:r>
            <a:r>
              <a:rPr lang="en-US" b="1" dirty="0" err="1"/>
              <a:t>tính</a:t>
            </a:r>
            <a:r>
              <a:rPr lang="en-US" b="1" dirty="0"/>
              <a:t> </a:t>
            </a:r>
            <a:r>
              <a:rPr lang="en-US" b="1" dirty="0" err="1"/>
              <a:t>năng</a:t>
            </a:r>
            <a:endParaRPr lang="en-US" b="1" dirty="0"/>
          </a:p>
        </p:txBody>
      </p:sp>
      <p:sp>
        <p:nvSpPr>
          <p:cNvPr id="3" name="コンテンツ プレースホルダー 2"/>
          <p:cNvSpPr>
            <a:spLocks noGrp="1"/>
          </p:cNvSpPr>
          <p:nvPr>
            <p:ph idx="1"/>
          </p:nvPr>
        </p:nvSpPr>
        <p:spPr/>
        <p:txBody>
          <a:bodyPr/>
          <a:lstStyle/>
          <a:p>
            <a:r>
              <a:rPr lang="en-US" dirty="0" err="1"/>
              <a:t>Quản</a:t>
            </a:r>
            <a:r>
              <a:rPr lang="en-US" dirty="0"/>
              <a:t> </a:t>
            </a:r>
            <a:r>
              <a:rPr lang="en-US" dirty="0" err="1"/>
              <a:t>lý</a:t>
            </a:r>
            <a:r>
              <a:rPr lang="en-US" dirty="0"/>
              <a:t> </a:t>
            </a:r>
            <a:r>
              <a:rPr lang="en-US" dirty="0" err="1"/>
              <a:t>giao</a:t>
            </a:r>
            <a:r>
              <a:rPr lang="en-US" dirty="0"/>
              <a:t> </a:t>
            </a:r>
            <a:r>
              <a:rPr lang="en-US" dirty="0" err="1"/>
              <a:t>dịch</a:t>
            </a:r>
            <a:endParaRPr lang="en-US" dirty="0"/>
          </a:p>
          <a:p>
            <a:r>
              <a:rPr lang="en-US" dirty="0" err="1"/>
              <a:t>Xử</a:t>
            </a:r>
            <a:r>
              <a:rPr lang="en-US" dirty="0"/>
              <a:t> </a:t>
            </a:r>
            <a:r>
              <a:rPr lang="en-US" dirty="0" err="1"/>
              <a:t>lý</a:t>
            </a:r>
            <a:r>
              <a:rPr lang="en-US" dirty="0"/>
              <a:t> </a:t>
            </a:r>
            <a:r>
              <a:rPr lang="en-US" dirty="0" err="1"/>
              <a:t>dựa</a:t>
            </a:r>
            <a:r>
              <a:rPr lang="en-US" dirty="0"/>
              <a:t> </a:t>
            </a:r>
            <a:r>
              <a:rPr lang="en-US" dirty="0" err="1"/>
              <a:t>trên</a:t>
            </a:r>
            <a:r>
              <a:rPr lang="en-US" dirty="0"/>
              <a:t> </a:t>
            </a:r>
            <a:r>
              <a:rPr lang="en-US" dirty="0" err="1"/>
              <a:t>phân</a:t>
            </a:r>
            <a:r>
              <a:rPr lang="en-US" dirty="0"/>
              <a:t> </a:t>
            </a:r>
            <a:r>
              <a:rPr lang="en-US" dirty="0" err="1"/>
              <a:t>đoạn</a:t>
            </a:r>
            <a:endParaRPr lang="en-US" dirty="0"/>
          </a:p>
          <a:p>
            <a:r>
              <a:rPr lang="en-US" dirty="0" err="1"/>
              <a:t>Ghi</a:t>
            </a:r>
            <a:r>
              <a:rPr lang="en-US" dirty="0"/>
              <a:t> log </a:t>
            </a:r>
            <a:r>
              <a:rPr lang="en-US" dirty="0" err="1"/>
              <a:t>và</a:t>
            </a:r>
            <a:r>
              <a:rPr lang="en-US" dirty="0"/>
              <a:t> </a:t>
            </a:r>
            <a:r>
              <a:rPr lang="en-US" dirty="0" err="1"/>
              <a:t>truy</a:t>
            </a:r>
            <a:r>
              <a:rPr lang="en-US" dirty="0"/>
              <a:t> </a:t>
            </a:r>
            <a:r>
              <a:rPr lang="en-US" dirty="0" err="1"/>
              <a:t>vết</a:t>
            </a:r>
            <a:endParaRPr lang="en-US" dirty="0"/>
          </a:p>
          <a:p>
            <a:r>
              <a:rPr lang="en-US" dirty="0"/>
              <a:t>Start/Stop/Restart/Skip Job</a:t>
            </a:r>
          </a:p>
          <a:p>
            <a:r>
              <a:rPr lang="en-US" dirty="0" err="1"/>
              <a:t>Quản</a:t>
            </a:r>
            <a:r>
              <a:rPr lang="en-US" dirty="0"/>
              <a:t> </a:t>
            </a:r>
            <a:r>
              <a:rPr lang="en-US" dirty="0" err="1"/>
              <a:t>lý</a:t>
            </a:r>
            <a:r>
              <a:rPr lang="en-US" dirty="0"/>
              <a:t> </a:t>
            </a:r>
            <a:r>
              <a:rPr lang="en-US" dirty="0" err="1"/>
              <a:t>tài</a:t>
            </a:r>
            <a:r>
              <a:rPr lang="en-US" dirty="0"/>
              <a:t> </a:t>
            </a:r>
            <a:r>
              <a:rPr lang="en-US" dirty="0" err="1"/>
              <a:t>nguyên</a:t>
            </a:r>
            <a:endParaRPr lang="en-US" dirty="0"/>
          </a:p>
          <a:p>
            <a:r>
              <a:rPr lang="en-US" dirty="0" err="1"/>
              <a:t>Giao</a:t>
            </a:r>
            <a:r>
              <a:rPr lang="en-US" dirty="0"/>
              <a:t> </a:t>
            </a:r>
            <a:r>
              <a:rPr lang="en-US" dirty="0" err="1"/>
              <a:t>diện</a:t>
            </a:r>
            <a:r>
              <a:rPr lang="en-US" dirty="0"/>
              <a:t> </a:t>
            </a:r>
            <a:r>
              <a:rPr lang="en-US" dirty="0" err="1"/>
              <a:t>quản</a:t>
            </a:r>
            <a:r>
              <a:rPr lang="en-US" dirty="0"/>
              <a:t> </a:t>
            </a:r>
            <a:r>
              <a:rPr lang="en-US" dirty="0" err="1"/>
              <a:t>trị</a:t>
            </a:r>
            <a:r>
              <a:rPr lang="en-US" dirty="0"/>
              <a:t> </a:t>
            </a:r>
            <a:r>
              <a:rPr lang="en-US" dirty="0" err="1"/>
              <a:t>dựa</a:t>
            </a:r>
            <a:r>
              <a:rPr lang="en-US" dirty="0"/>
              <a:t> </a:t>
            </a:r>
            <a:r>
              <a:rPr lang="en-US" dirty="0" err="1"/>
              <a:t>trên</a:t>
            </a:r>
            <a:r>
              <a:rPr lang="en-US" dirty="0"/>
              <a:t> web (Spring Batch Admin)</a:t>
            </a:r>
          </a:p>
          <a:p>
            <a:pPr marL="0" indent="0">
              <a:buNone/>
            </a:pPr>
            <a:endParaRPr lang="en-US" dirty="0"/>
          </a:p>
        </p:txBody>
      </p:sp>
    </p:spTree>
    <p:extLst>
      <p:ext uri="{BB962C8B-B14F-4D97-AF65-F5344CB8AC3E}">
        <p14:creationId xmlns:p14="http://schemas.microsoft.com/office/powerpoint/2010/main" val="3218942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Các</a:t>
            </a:r>
            <a:r>
              <a:rPr lang="en-US" b="1" dirty="0"/>
              <a:t> </a:t>
            </a:r>
            <a:r>
              <a:rPr lang="en-US" b="1" dirty="0" err="1"/>
              <a:t>đặc</a:t>
            </a:r>
            <a:r>
              <a:rPr lang="en-US" b="1" dirty="0"/>
              <a:t> </a:t>
            </a:r>
            <a:r>
              <a:rPr lang="en-US" b="1" dirty="0" err="1"/>
              <a:t>điểm</a:t>
            </a:r>
            <a:endParaRPr lang="en-US" b="1" dirty="0"/>
          </a:p>
        </p:txBody>
      </p:sp>
      <p:sp>
        <p:nvSpPr>
          <p:cNvPr id="3" name="コンテンツ プレースホルダー 2"/>
          <p:cNvSpPr>
            <a:spLocks noGrp="1"/>
          </p:cNvSpPr>
          <p:nvPr>
            <p:ph idx="1"/>
          </p:nvPr>
        </p:nvSpPr>
        <p:spPr/>
        <p:txBody>
          <a:bodyPr>
            <a:normAutofit fontScale="85000" lnSpcReduction="20000"/>
          </a:bodyPr>
          <a:lstStyle/>
          <a:p>
            <a:r>
              <a:rPr lang="en-US" dirty="0" err="1"/>
              <a:t>Tính</a:t>
            </a:r>
            <a:r>
              <a:rPr lang="en-US" dirty="0"/>
              <a:t> </a:t>
            </a:r>
            <a:r>
              <a:rPr lang="en-US" dirty="0" err="1"/>
              <a:t>linh</a:t>
            </a:r>
            <a:r>
              <a:rPr lang="en-US" dirty="0"/>
              <a:t> </a:t>
            </a:r>
            <a:r>
              <a:rPr lang="en-US" dirty="0" err="1"/>
              <a:t>hoạt</a:t>
            </a:r>
            <a:endParaRPr lang="en-US" dirty="0"/>
          </a:p>
          <a:p>
            <a:pPr lvl="1"/>
            <a:r>
              <a:rPr lang="en-US" dirty="0" err="1"/>
              <a:t>Chỉ</a:t>
            </a:r>
            <a:r>
              <a:rPr lang="en-US" dirty="0"/>
              <a:t> </a:t>
            </a:r>
            <a:r>
              <a:rPr lang="en-US" dirty="0" err="1"/>
              <a:t>cần</a:t>
            </a:r>
            <a:r>
              <a:rPr lang="en-US" dirty="0"/>
              <a:t> </a:t>
            </a:r>
            <a:r>
              <a:rPr lang="en-US" dirty="0" err="1"/>
              <a:t>thay</a:t>
            </a:r>
            <a:r>
              <a:rPr lang="en-US" dirty="0"/>
              <a:t> </a:t>
            </a:r>
            <a:r>
              <a:rPr lang="en-US" dirty="0" err="1"/>
              <a:t>đổi</a:t>
            </a:r>
            <a:r>
              <a:rPr lang="en-US" dirty="0"/>
              <a:t> file XML </a:t>
            </a:r>
            <a:r>
              <a:rPr lang="en-US" dirty="0" err="1"/>
              <a:t>để</a:t>
            </a:r>
            <a:r>
              <a:rPr lang="en-US" dirty="0"/>
              <a:t> </a:t>
            </a:r>
            <a:r>
              <a:rPr lang="en-US" dirty="0" err="1"/>
              <a:t>thay</a:t>
            </a:r>
            <a:r>
              <a:rPr lang="en-US" dirty="0"/>
              <a:t> </a:t>
            </a:r>
            <a:r>
              <a:rPr lang="en-US" dirty="0" err="1"/>
              <a:t>đổi</a:t>
            </a:r>
            <a:r>
              <a:rPr lang="en-US" dirty="0"/>
              <a:t> </a:t>
            </a:r>
            <a:r>
              <a:rPr lang="en-US" dirty="0" err="1"/>
              <a:t>thứ</a:t>
            </a:r>
            <a:r>
              <a:rPr lang="en-US" dirty="0"/>
              <a:t> </a:t>
            </a:r>
            <a:r>
              <a:rPr lang="en-US" dirty="0" err="1"/>
              <a:t>tự</a:t>
            </a:r>
            <a:r>
              <a:rPr lang="en-US" dirty="0"/>
              <a:t> </a:t>
            </a:r>
            <a:r>
              <a:rPr lang="en-US" dirty="0" err="1"/>
              <a:t>xử</a:t>
            </a:r>
            <a:r>
              <a:rPr lang="en-US" dirty="0"/>
              <a:t> </a:t>
            </a:r>
            <a:r>
              <a:rPr lang="en-US" dirty="0" err="1"/>
              <a:t>lý</a:t>
            </a:r>
            <a:r>
              <a:rPr lang="en-US" dirty="0"/>
              <a:t> </a:t>
            </a:r>
            <a:r>
              <a:rPr lang="en-US" dirty="0" err="1"/>
              <a:t>trong</a:t>
            </a:r>
            <a:r>
              <a:rPr lang="en-US" dirty="0"/>
              <a:t> </a:t>
            </a:r>
            <a:r>
              <a:rPr lang="en-US" dirty="0" err="1"/>
              <a:t>một</a:t>
            </a:r>
            <a:r>
              <a:rPr lang="en-US" dirty="0"/>
              <a:t> </a:t>
            </a:r>
            <a:r>
              <a:rPr lang="en-US" dirty="0" err="1"/>
              <a:t>ứng</a:t>
            </a:r>
            <a:r>
              <a:rPr lang="en-US" dirty="0"/>
              <a:t> </a:t>
            </a:r>
            <a:r>
              <a:rPr lang="en-US" dirty="0" err="1"/>
              <a:t>dụng</a:t>
            </a:r>
            <a:endParaRPr lang="en-US" dirty="0"/>
          </a:p>
          <a:p>
            <a:r>
              <a:rPr lang="en-US" dirty="0" err="1"/>
              <a:t>Khả</a:t>
            </a:r>
            <a:r>
              <a:rPr lang="en-US" dirty="0"/>
              <a:t> </a:t>
            </a:r>
            <a:r>
              <a:rPr lang="en-US" dirty="0" err="1"/>
              <a:t>năng</a:t>
            </a:r>
            <a:r>
              <a:rPr lang="en-US" dirty="0"/>
              <a:t> </a:t>
            </a:r>
            <a:r>
              <a:rPr lang="en-US" dirty="0" err="1"/>
              <a:t>bảo</a:t>
            </a:r>
            <a:r>
              <a:rPr lang="en-US" dirty="0"/>
              <a:t> </a:t>
            </a:r>
            <a:r>
              <a:rPr lang="en-US" dirty="0" err="1"/>
              <a:t>trì</a:t>
            </a:r>
            <a:endParaRPr lang="en-US" dirty="0"/>
          </a:p>
          <a:p>
            <a:pPr lvl="1"/>
            <a:r>
              <a:rPr lang="en-US" dirty="0"/>
              <a:t>Spring Batch Job </a:t>
            </a:r>
            <a:r>
              <a:rPr lang="en-US" dirty="0" err="1"/>
              <a:t>bao</a:t>
            </a:r>
            <a:r>
              <a:rPr lang="en-US" dirty="0"/>
              <a:t> </a:t>
            </a:r>
            <a:r>
              <a:rPr lang="en-US" dirty="0" err="1"/>
              <a:t>gồm</a:t>
            </a:r>
            <a:r>
              <a:rPr lang="en-US" dirty="0"/>
              <a:t> </a:t>
            </a:r>
            <a:r>
              <a:rPr lang="en-US" dirty="0" err="1"/>
              <a:t>các</a:t>
            </a:r>
            <a:r>
              <a:rPr lang="en-US" dirty="0"/>
              <a:t> Step, </a:t>
            </a:r>
            <a:r>
              <a:rPr lang="en-US" dirty="0" err="1"/>
              <a:t>mỗi</a:t>
            </a:r>
            <a:r>
              <a:rPr lang="en-US" dirty="0"/>
              <a:t> Step </a:t>
            </a:r>
            <a:r>
              <a:rPr lang="en-US" dirty="0" err="1"/>
              <a:t>có</a:t>
            </a:r>
            <a:r>
              <a:rPr lang="en-US" dirty="0"/>
              <a:t> </a:t>
            </a:r>
            <a:r>
              <a:rPr lang="en-US" dirty="0" err="1"/>
              <a:t>thể</a:t>
            </a:r>
            <a:r>
              <a:rPr lang="en-US" dirty="0"/>
              <a:t> </a:t>
            </a:r>
            <a:r>
              <a:rPr lang="en-US" dirty="0" err="1"/>
              <a:t>được</a:t>
            </a:r>
            <a:r>
              <a:rPr lang="en-US" dirty="0"/>
              <a:t> </a:t>
            </a:r>
            <a:r>
              <a:rPr lang="en-US" dirty="0" err="1"/>
              <a:t>tách</a:t>
            </a:r>
            <a:r>
              <a:rPr lang="en-US" dirty="0"/>
              <a:t> </a:t>
            </a:r>
            <a:r>
              <a:rPr lang="en-US" dirty="0" err="1"/>
              <a:t>riêng</a:t>
            </a:r>
            <a:r>
              <a:rPr lang="en-US" dirty="0"/>
              <a:t>, </a:t>
            </a:r>
            <a:r>
              <a:rPr lang="en-US" dirty="0" err="1"/>
              <a:t>kiểm</a:t>
            </a:r>
            <a:r>
              <a:rPr lang="en-US" dirty="0"/>
              <a:t> </a:t>
            </a:r>
            <a:r>
              <a:rPr lang="en-US" dirty="0" err="1"/>
              <a:t>tra</a:t>
            </a:r>
            <a:r>
              <a:rPr lang="en-US" dirty="0"/>
              <a:t>, </a:t>
            </a:r>
            <a:r>
              <a:rPr lang="en-US" dirty="0" err="1"/>
              <a:t>cập</a:t>
            </a:r>
            <a:r>
              <a:rPr lang="en-US" dirty="0"/>
              <a:t> </a:t>
            </a:r>
            <a:r>
              <a:rPr lang="en-US" dirty="0" err="1"/>
              <a:t>nhật</a:t>
            </a:r>
            <a:r>
              <a:rPr lang="en-US" dirty="0"/>
              <a:t> </a:t>
            </a:r>
            <a:r>
              <a:rPr lang="en-US" dirty="0" err="1"/>
              <a:t>mà</a:t>
            </a:r>
            <a:r>
              <a:rPr lang="en-US" dirty="0"/>
              <a:t> </a:t>
            </a:r>
            <a:r>
              <a:rPr lang="en-US" dirty="0" err="1"/>
              <a:t>không</a:t>
            </a:r>
            <a:r>
              <a:rPr lang="en-US" dirty="0"/>
              <a:t> </a:t>
            </a:r>
            <a:r>
              <a:rPr lang="en-US" dirty="0" err="1"/>
              <a:t>ảnh</a:t>
            </a:r>
            <a:r>
              <a:rPr lang="en-US" dirty="0"/>
              <a:t> </a:t>
            </a:r>
            <a:r>
              <a:rPr lang="en-US" dirty="0" err="1"/>
              <a:t>hưởng</a:t>
            </a:r>
            <a:r>
              <a:rPr lang="en-US" dirty="0"/>
              <a:t> </a:t>
            </a:r>
            <a:r>
              <a:rPr lang="en-US" dirty="0" err="1"/>
              <a:t>đến</a:t>
            </a:r>
            <a:r>
              <a:rPr lang="en-US" dirty="0"/>
              <a:t> Step </a:t>
            </a:r>
            <a:r>
              <a:rPr lang="en-US" dirty="0" err="1"/>
              <a:t>khác</a:t>
            </a:r>
            <a:endParaRPr lang="en-US" dirty="0"/>
          </a:p>
          <a:p>
            <a:r>
              <a:rPr lang="en-US" dirty="0" err="1"/>
              <a:t>Khả</a:t>
            </a:r>
            <a:r>
              <a:rPr lang="en-US" dirty="0"/>
              <a:t> </a:t>
            </a:r>
            <a:r>
              <a:rPr lang="en-US" dirty="0" err="1"/>
              <a:t>năng</a:t>
            </a:r>
            <a:r>
              <a:rPr lang="en-US" dirty="0"/>
              <a:t> </a:t>
            </a:r>
            <a:r>
              <a:rPr lang="en-US" dirty="0" err="1"/>
              <a:t>mở</a:t>
            </a:r>
            <a:r>
              <a:rPr lang="en-US" dirty="0"/>
              <a:t> </a:t>
            </a:r>
            <a:r>
              <a:rPr lang="en-US" dirty="0" err="1"/>
              <a:t>rộng</a:t>
            </a:r>
            <a:endParaRPr lang="en-US" dirty="0"/>
          </a:p>
          <a:p>
            <a:r>
              <a:rPr lang="en-US" dirty="0" err="1"/>
              <a:t>Độ</a:t>
            </a:r>
            <a:r>
              <a:rPr lang="en-US" dirty="0"/>
              <a:t> tin </a:t>
            </a:r>
            <a:r>
              <a:rPr lang="en-US" dirty="0" err="1"/>
              <a:t>cậy</a:t>
            </a:r>
            <a:endParaRPr lang="en-US" dirty="0"/>
          </a:p>
          <a:p>
            <a:pPr lvl="1"/>
            <a:r>
              <a:rPr lang="en-US" dirty="0" err="1"/>
              <a:t>Trong</a:t>
            </a:r>
            <a:r>
              <a:rPr lang="en-US" dirty="0"/>
              <a:t> </a:t>
            </a:r>
            <a:r>
              <a:rPr lang="en-US" dirty="0" err="1"/>
              <a:t>trường</a:t>
            </a:r>
            <a:r>
              <a:rPr lang="en-US" dirty="0"/>
              <a:t> </a:t>
            </a:r>
            <a:r>
              <a:rPr lang="en-US" dirty="0" err="1"/>
              <a:t>hợp</a:t>
            </a:r>
            <a:r>
              <a:rPr lang="en-US" dirty="0"/>
              <a:t> </a:t>
            </a:r>
            <a:r>
              <a:rPr lang="en-US" dirty="0" err="1"/>
              <a:t>xảy</a:t>
            </a:r>
            <a:r>
              <a:rPr lang="en-US" dirty="0"/>
              <a:t> </a:t>
            </a:r>
            <a:r>
              <a:rPr lang="en-US" dirty="0" err="1"/>
              <a:t>ra</a:t>
            </a:r>
            <a:r>
              <a:rPr lang="en-US" dirty="0"/>
              <a:t> </a:t>
            </a:r>
            <a:r>
              <a:rPr lang="en-US" dirty="0" err="1"/>
              <a:t>lỗi</a:t>
            </a:r>
            <a:r>
              <a:rPr lang="en-US" dirty="0"/>
              <a:t>, </a:t>
            </a:r>
            <a:r>
              <a:rPr lang="en-US" dirty="0" err="1"/>
              <a:t>có</a:t>
            </a:r>
            <a:r>
              <a:rPr lang="en-US" dirty="0"/>
              <a:t> </a:t>
            </a:r>
            <a:r>
              <a:rPr lang="en-US" dirty="0" err="1"/>
              <a:t>thể</a:t>
            </a:r>
            <a:r>
              <a:rPr lang="en-US" dirty="0"/>
              <a:t> </a:t>
            </a:r>
            <a:r>
              <a:rPr lang="en-US" dirty="0" err="1"/>
              <a:t>bắt</a:t>
            </a:r>
            <a:r>
              <a:rPr lang="en-US" dirty="0"/>
              <a:t> </a:t>
            </a:r>
            <a:r>
              <a:rPr lang="en-US" dirty="0" err="1"/>
              <a:t>đầu</a:t>
            </a:r>
            <a:r>
              <a:rPr lang="en-US" dirty="0"/>
              <a:t> </a:t>
            </a:r>
            <a:r>
              <a:rPr lang="en-US" dirty="0" err="1"/>
              <a:t>lại</a:t>
            </a:r>
            <a:r>
              <a:rPr lang="en-US" dirty="0"/>
              <a:t> </a:t>
            </a:r>
            <a:r>
              <a:rPr lang="en-US" dirty="0" err="1"/>
              <a:t>công</a:t>
            </a:r>
            <a:r>
              <a:rPr lang="en-US" dirty="0"/>
              <a:t> </a:t>
            </a:r>
            <a:r>
              <a:rPr lang="en-US" dirty="0" err="1"/>
              <a:t>việc</a:t>
            </a:r>
            <a:r>
              <a:rPr lang="en-US" dirty="0"/>
              <a:t> </a:t>
            </a:r>
            <a:r>
              <a:rPr lang="en-US" dirty="0" err="1"/>
              <a:t>từ</a:t>
            </a:r>
            <a:r>
              <a:rPr lang="en-US" dirty="0"/>
              <a:t> </a:t>
            </a:r>
            <a:r>
              <a:rPr lang="en-US" dirty="0" err="1"/>
              <a:t>chính</a:t>
            </a:r>
            <a:r>
              <a:rPr lang="en-US" dirty="0"/>
              <a:t> </a:t>
            </a:r>
            <a:r>
              <a:rPr lang="en-US" dirty="0" err="1"/>
              <a:t>xác</a:t>
            </a:r>
            <a:r>
              <a:rPr lang="en-US" dirty="0"/>
              <a:t> </a:t>
            </a:r>
            <a:r>
              <a:rPr lang="en-US" dirty="0" err="1"/>
              <a:t>ví</a:t>
            </a:r>
            <a:r>
              <a:rPr lang="en-US" dirty="0"/>
              <a:t> </a:t>
            </a:r>
            <a:r>
              <a:rPr lang="en-US" dirty="0" err="1"/>
              <a:t>trí</a:t>
            </a:r>
            <a:r>
              <a:rPr lang="en-US" dirty="0"/>
              <a:t> </a:t>
            </a:r>
            <a:r>
              <a:rPr lang="en-US" dirty="0" err="1"/>
              <a:t>đã</a:t>
            </a:r>
            <a:r>
              <a:rPr lang="en-US" dirty="0"/>
              <a:t> </a:t>
            </a:r>
            <a:r>
              <a:rPr lang="en-US" dirty="0" err="1"/>
              <a:t>dừng</a:t>
            </a:r>
            <a:r>
              <a:rPr lang="en-US" dirty="0"/>
              <a:t>, </a:t>
            </a:r>
            <a:r>
              <a:rPr lang="en-US" dirty="0" err="1"/>
              <a:t>bằng</a:t>
            </a:r>
            <a:r>
              <a:rPr lang="en-US" dirty="0"/>
              <a:t> </a:t>
            </a:r>
            <a:r>
              <a:rPr lang="en-US" dirty="0" err="1"/>
              <a:t>cách</a:t>
            </a:r>
            <a:r>
              <a:rPr lang="en-US" dirty="0"/>
              <a:t> </a:t>
            </a:r>
            <a:r>
              <a:rPr lang="en-US" dirty="0" err="1"/>
              <a:t>tách</a:t>
            </a:r>
            <a:r>
              <a:rPr lang="en-US" dirty="0"/>
              <a:t> </a:t>
            </a:r>
            <a:r>
              <a:rPr lang="en-US" dirty="0" err="1"/>
              <a:t>các</a:t>
            </a:r>
            <a:r>
              <a:rPr lang="en-US" dirty="0"/>
              <a:t> Step </a:t>
            </a:r>
            <a:r>
              <a:rPr lang="en-US" dirty="0" err="1"/>
              <a:t>riêng</a:t>
            </a:r>
            <a:r>
              <a:rPr lang="en-US" dirty="0"/>
              <a:t> </a:t>
            </a:r>
            <a:r>
              <a:rPr lang="en-US" dirty="0" err="1"/>
              <a:t>rẽ</a:t>
            </a:r>
            <a:r>
              <a:rPr lang="en-US" dirty="0"/>
              <a:t>.</a:t>
            </a:r>
          </a:p>
          <a:p>
            <a:r>
              <a:rPr lang="en-US" dirty="0" err="1"/>
              <a:t>Hỗ</a:t>
            </a:r>
            <a:r>
              <a:rPr lang="en-US" dirty="0"/>
              <a:t> </a:t>
            </a:r>
            <a:r>
              <a:rPr lang="en-US" dirty="0" err="1"/>
              <a:t>trợ</a:t>
            </a:r>
            <a:r>
              <a:rPr lang="en-US" dirty="0"/>
              <a:t> </a:t>
            </a:r>
            <a:r>
              <a:rPr lang="en-US" dirty="0" err="1"/>
              <a:t>nhiều</a:t>
            </a:r>
            <a:r>
              <a:rPr lang="en-US" dirty="0"/>
              <a:t> </a:t>
            </a:r>
            <a:r>
              <a:rPr lang="en-US" dirty="0" err="1"/>
              <a:t>định</a:t>
            </a:r>
            <a:r>
              <a:rPr lang="en-US" dirty="0"/>
              <a:t> </a:t>
            </a:r>
            <a:r>
              <a:rPr lang="en-US" dirty="0" err="1"/>
              <a:t>dạng</a:t>
            </a:r>
            <a:r>
              <a:rPr lang="en-US" dirty="0"/>
              <a:t> </a:t>
            </a:r>
            <a:r>
              <a:rPr lang="en-US" dirty="0" err="1"/>
              <a:t>tệp</a:t>
            </a:r>
            <a:endParaRPr lang="en-US" dirty="0"/>
          </a:p>
          <a:p>
            <a:pPr lvl="1"/>
            <a:r>
              <a:rPr lang="en-US" dirty="0"/>
              <a:t>Spring Batch </a:t>
            </a:r>
            <a:r>
              <a:rPr lang="en-US" dirty="0" err="1"/>
              <a:t>cung</a:t>
            </a:r>
            <a:r>
              <a:rPr lang="en-US" dirty="0"/>
              <a:t> </a:t>
            </a:r>
            <a:r>
              <a:rPr lang="en-US" dirty="0" err="1"/>
              <a:t>cấp</a:t>
            </a:r>
            <a:r>
              <a:rPr lang="en-US" dirty="0"/>
              <a:t> </a:t>
            </a:r>
            <a:r>
              <a:rPr lang="en-US" dirty="0" err="1"/>
              <a:t>một</a:t>
            </a:r>
            <a:r>
              <a:rPr lang="en-US" dirty="0"/>
              <a:t> </a:t>
            </a:r>
            <a:r>
              <a:rPr lang="en-US" dirty="0" err="1"/>
              <a:t>lượng</a:t>
            </a:r>
            <a:r>
              <a:rPr lang="en-US" dirty="0"/>
              <a:t> </a:t>
            </a:r>
            <a:r>
              <a:rPr lang="en-US" dirty="0" err="1"/>
              <a:t>lớn</a:t>
            </a:r>
            <a:r>
              <a:rPr lang="en-US" dirty="0"/>
              <a:t> </a:t>
            </a:r>
            <a:r>
              <a:rPr lang="en-US" dirty="0" err="1"/>
              <a:t>trình</a:t>
            </a:r>
            <a:r>
              <a:rPr lang="en-US" dirty="0"/>
              <a:t> </a:t>
            </a:r>
            <a:r>
              <a:rPr lang="en-US" dirty="0" err="1"/>
              <a:t>đọc</a:t>
            </a:r>
            <a:r>
              <a:rPr lang="en-US" dirty="0"/>
              <a:t> </a:t>
            </a:r>
            <a:r>
              <a:rPr lang="en-US" dirty="0" err="1"/>
              <a:t>ghi</a:t>
            </a:r>
            <a:r>
              <a:rPr lang="en-US" dirty="0"/>
              <a:t> </a:t>
            </a:r>
            <a:r>
              <a:rPr lang="en-US" dirty="0" err="1"/>
              <a:t>như</a:t>
            </a:r>
            <a:r>
              <a:rPr lang="en-US" dirty="0"/>
              <a:t>: XML, CSV, MYSQL, Hibernate, JDBC, …</a:t>
            </a:r>
          </a:p>
          <a:p>
            <a:r>
              <a:rPr lang="en-US" dirty="0" err="1"/>
              <a:t>Có</a:t>
            </a:r>
            <a:r>
              <a:rPr lang="en-US" dirty="0"/>
              <a:t> </a:t>
            </a:r>
            <a:r>
              <a:rPr lang="en-US" dirty="0" err="1"/>
              <a:t>nhiều</a:t>
            </a:r>
            <a:r>
              <a:rPr lang="en-US" dirty="0"/>
              <a:t> </a:t>
            </a:r>
            <a:r>
              <a:rPr lang="en-US" dirty="0" err="1"/>
              <a:t>cách</a:t>
            </a:r>
            <a:r>
              <a:rPr lang="en-US" dirty="0"/>
              <a:t> </a:t>
            </a:r>
            <a:r>
              <a:rPr lang="en-US" dirty="0" err="1"/>
              <a:t>để</a:t>
            </a:r>
            <a:r>
              <a:rPr lang="en-US" dirty="0"/>
              <a:t> </a:t>
            </a:r>
            <a:r>
              <a:rPr lang="en-US" dirty="0" err="1"/>
              <a:t>khởi</a:t>
            </a:r>
            <a:r>
              <a:rPr lang="en-US" dirty="0"/>
              <a:t> </a:t>
            </a:r>
            <a:r>
              <a:rPr lang="en-US" dirty="0" err="1"/>
              <a:t>chạy</a:t>
            </a:r>
            <a:endParaRPr lang="en-US" dirty="0"/>
          </a:p>
          <a:p>
            <a:pPr lvl="1"/>
            <a:r>
              <a:rPr lang="en-US" dirty="0" err="1"/>
              <a:t>Có</a:t>
            </a:r>
            <a:r>
              <a:rPr lang="en-US" dirty="0"/>
              <a:t> </a:t>
            </a:r>
            <a:r>
              <a:rPr lang="en-US" dirty="0" err="1"/>
              <a:t>thể</a:t>
            </a:r>
            <a:r>
              <a:rPr lang="en-US" dirty="0"/>
              <a:t> </a:t>
            </a:r>
            <a:r>
              <a:rPr lang="en-US" dirty="0" err="1"/>
              <a:t>khởi</a:t>
            </a:r>
            <a:r>
              <a:rPr lang="en-US" dirty="0"/>
              <a:t> </a:t>
            </a:r>
            <a:r>
              <a:rPr lang="en-US" dirty="0" err="1"/>
              <a:t>chạy</a:t>
            </a:r>
            <a:r>
              <a:rPr lang="en-US" dirty="0"/>
              <a:t> Spring Batch </a:t>
            </a:r>
            <a:r>
              <a:rPr lang="en-US" dirty="0" err="1"/>
              <a:t>bằng</a:t>
            </a:r>
            <a:r>
              <a:rPr lang="en-US" dirty="0"/>
              <a:t> </a:t>
            </a:r>
            <a:r>
              <a:rPr lang="en-US" dirty="0" err="1"/>
              <a:t>các</a:t>
            </a:r>
            <a:r>
              <a:rPr lang="en-US" dirty="0"/>
              <a:t> </a:t>
            </a:r>
            <a:r>
              <a:rPr lang="en-US" dirty="0" err="1"/>
              <a:t>ứng</a:t>
            </a:r>
            <a:r>
              <a:rPr lang="en-US" dirty="0"/>
              <a:t> </a:t>
            </a:r>
            <a:r>
              <a:rPr lang="en-US" dirty="0" err="1"/>
              <a:t>dụng</a:t>
            </a:r>
            <a:r>
              <a:rPr lang="en-US" dirty="0"/>
              <a:t> web, </a:t>
            </a:r>
            <a:r>
              <a:rPr lang="en-US" dirty="0" err="1"/>
              <a:t>chương</a:t>
            </a:r>
            <a:r>
              <a:rPr lang="en-US" dirty="0"/>
              <a:t> </a:t>
            </a:r>
            <a:r>
              <a:rPr lang="en-US" dirty="0" err="1"/>
              <a:t>trình</a:t>
            </a:r>
            <a:r>
              <a:rPr lang="en-US" dirty="0"/>
              <a:t> Java hay </a:t>
            </a:r>
            <a:r>
              <a:rPr lang="en-US" dirty="0" err="1"/>
              <a:t>dòng</a:t>
            </a:r>
            <a:r>
              <a:rPr lang="en-US" dirty="0"/>
              <a:t> </a:t>
            </a:r>
            <a:r>
              <a:rPr lang="en-US" dirty="0" err="1"/>
              <a:t>lệnh</a:t>
            </a:r>
            <a:r>
              <a:rPr lang="en-US" dirty="0"/>
              <a:t>, …</a:t>
            </a:r>
          </a:p>
        </p:txBody>
      </p:sp>
    </p:spTree>
    <p:extLst>
      <p:ext uri="{BB962C8B-B14F-4D97-AF65-F5344CB8AC3E}">
        <p14:creationId xmlns:p14="http://schemas.microsoft.com/office/powerpoint/2010/main" val="2905796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652953" y="1864425"/>
            <a:ext cx="8311662" cy="4876647"/>
          </a:xfrm>
          <a:prstGeom prst="rect">
            <a:avLst/>
          </a:prstGeom>
          <a:solidFill>
            <a:srgbClr val="FFFFFF"/>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タイトル 1"/>
          <p:cNvSpPr>
            <a:spLocks noGrp="1"/>
          </p:cNvSpPr>
          <p:nvPr>
            <p:ph type="title"/>
          </p:nvPr>
        </p:nvSpPr>
        <p:spPr/>
        <p:txBody>
          <a:bodyPr/>
          <a:lstStyle/>
          <a:p>
            <a:r>
              <a:rPr lang="en-US" b="1" dirty="0" err="1"/>
              <a:t>Kiến</a:t>
            </a:r>
            <a:r>
              <a:rPr lang="en-US" b="1" dirty="0"/>
              <a:t> </a:t>
            </a:r>
            <a:r>
              <a:rPr lang="en-US" b="1" dirty="0" err="1"/>
              <a:t>trúc</a:t>
            </a:r>
            <a:r>
              <a:rPr lang="en-US" b="1" dirty="0"/>
              <a:t> </a:t>
            </a:r>
            <a:r>
              <a:rPr lang="en-US" b="1" dirty="0" err="1"/>
              <a:t>của</a:t>
            </a:r>
            <a:r>
              <a:rPr lang="en-US" b="1" dirty="0"/>
              <a:t> Spring Batch</a:t>
            </a:r>
          </a:p>
        </p:txBody>
      </p:sp>
      <p:pic>
        <p:nvPicPr>
          <p:cNvPr id="1026" name="Picture 2" descr="Hình 1.1: Kiến trúc phân lớp hàng loạt mùa xuâ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8646" y="1930447"/>
            <a:ext cx="4560277" cy="4786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641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Các</a:t>
            </a:r>
            <a:r>
              <a:rPr lang="en-US" b="1" dirty="0"/>
              <a:t> </a:t>
            </a:r>
            <a:r>
              <a:rPr lang="en-US" b="1" dirty="0" err="1"/>
              <a:t>thành</a:t>
            </a:r>
            <a:r>
              <a:rPr lang="en-US" b="1" dirty="0"/>
              <a:t> </a:t>
            </a:r>
            <a:r>
              <a:rPr lang="en-US" b="1" dirty="0" err="1"/>
              <a:t>phần</a:t>
            </a:r>
            <a:r>
              <a:rPr lang="en-US" b="1" dirty="0"/>
              <a:t> </a:t>
            </a:r>
            <a:r>
              <a:rPr lang="en-US" b="1" dirty="0" err="1"/>
              <a:t>của</a:t>
            </a:r>
            <a:r>
              <a:rPr lang="en-US" b="1" dirty="0"/>
              <a:t> spring batch</a:t>
            </a:r>
          </a:p>
        </p:txBody>
      </p:sp>
      <p:sp>
        <p:nvSpPr>
          <p:cNvPr id="3" name="コンテンツ プレースホルダー 2"/>
          <p:cNvSpPr>
            <a:spLocks noGrp="1"/>
          </p:cNvSpPr>
          <p:nvPr>
            <p:ph idx="1"/>
          </p:nvPr>
        </p:nvSpPr>
        <p:spPr/>
        <p:txBody>
          <a:bodyPr/>
          <a:lstStyle/>
          <a:p>
            <a:endParaRPr lang="en-US"/>
          </a:p>
        </p:txBody>
      </p:sp>
      <p:pic>
        <p:nvPicPr>
          <p:cNvPr id="5" name="コンテンツ プレースホルダ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740" y="2323070"/>
            <a:ext cx="10091186" cy="4020066"/>
          </a:xfrm>
          <a:prstGeom prst="rect">
            <a:avLst/>
          </a:prstGeom>
        </p:spPr>
      </p:pic>
    </p:spTree>
    <p:extLst>
      <p:ext uri="{BB962C8B-B14F-4D97-AF65-F5344CB8AC3E}">
        <p14:creationId xmlns:p14="http://schemas.microsoft.com/office/powerpoint/2010/main" val="2482999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197902" y="2011680"/>
            <a:ext cx="9784080" cy="467909"/>
          </a:xfrm>
        </p:spPr>
        <p:txBody>
          <a:bodyPr/>
          <a:lstStyle/>
          <a:p>
            <a:pPr marL="0" indent="0">
              <a:buNone/>
            </a:pPr>
            <a:r>
              <a:rPr lang="en-US" sz="2400" b="1" dirty="0" err="1"/>
              <a:t>Gradle</a:t>
            </a:r>
            <a:r>
              <a:rPr lang="en-US" sz="2400" b="1" dirty="0"/>
              <a:t> Dependencies: </a:t>
            </a:r>
            <a:r>
              <a:rPr lang="en-US" sz="2400" b="1" dirty="0" err="1"/>
              <a:t>Thêm</a:t>
            </a:r>
            <a:r>
              <a:rPr lang="en-US" sz="2400" b="1" dirty="0"/>
              <a:t> dependency </a:t>
            </a:r>
            <a:r>
              <a:rPr lang="en-US" sz="2400" b="1" dirty="0" err="1"/>
              <a:t>của</a:t>
            </a:r>
            <a:r>
              <a:rPr lang="en-US" sz="2400" b="1" dirty="0"/>
              <a:t> spring batch</a:t>
            </a:r>
            <a:endParaRPr lang="en-US" b="1" dirty="0"/>
          </a:p>
        </p:txBody>
      </p:sp>
      <p:grpSp>
        <p:nvGrpSpPr>
          <p:cNvPr id="7" name="グループ化 6"/>
          <p:cNvGrpSpPr/>
          <p:nvPr/>
        </p:nvGrpSpPr>
        <p:grpSpPr>
          <a:xfrm>
            <a:off x="131477" y="2927610"/>
            <a:ext cx="11926964" cy="3277057"/>
            <a:chOff x="131477" y="2927610"/>
            <a:chExt cx="11926964" cy="3277057"/>
          </a:xfrm>
        </p:grpSpPr>
        <p:pic>
          <p:nvPicPr>
            <p:cNvPr id="5" name="図 4"/>
            <p:cNvPicPr>
              <a:picLocks noChangeAspect="1"/>
            </p:cNvPicPr>
            <p:nvPr/>
          </p:nvPicPr>
          <p:blipFill>
            <a:blip r:embed="rId2"/>
            <a:stretch>
              <a:fillRect/>
            </a:stretch>
          </p:blipFill>
          <p:spPr>
            <a:xfrm>
              <a:off x="131477" y="2927610"/>
              <a:ext cx="11926964" cy="3277057"/>
            </a:xfrm>
            <a:prstGeom prst="rect">
              <a:avLst/>
            </a:prstGeom>
          </p:spPr>
        </p:pic>
        <p:sp>
          <p:nvSpPr>
            <p:cNvPr id="6" name="正方形/長方形 5"/>
            <p:cNvSpPr/>
            <p:nvPr/>
          </p:nvSpPr>
          <p:spPr>
            <a:xfrm>
              <a:off x="1202919" y="3810000"/>
              <a:ext cx="9910558" cy="3282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1081260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2747758" cy="4206240"/>
          </a:xfrm>
        </p:spPr>
        <p:txBody>
          <a:bodyPr/>
          <a:lstStyle/>
          <a:p>
            <a:r>
              <a:rPr lang="en-US" dirty="0"/>
              <a:t>Refresh </a:t>
            </a:r>
            <a:r>
              <a:rPr lang="en-US" dirty="0" err="1"/>
              <a:t>Gradle</a:t>
            </a:r>
            <a:r>
              <a:rPr lang="en-US" dirty="0"/>
              <a:t> </a:t>
            </a:r>
            <a:r>
              <a:rPr lang="en-US" dirty="0" err="1"/>
              <a:t>để</a:t>
            </a:r>
            <a:r>
              <a:rPr lang="en-US" dirty="0"/>
              <a:t> </a:t>
            </a:r>
            <a:r>
              <a:rPr lang="en-US" dirty="0" err="1"/>
              <a:t>lấy</a:t>
            </a:r>
            <a:r>
              <a:rPr lang="en-US" dirty="0"/>
              <a:t> </a:t>
            </a:r>
            <a:r>
              <a:rPr lang="en-US" dirty="0" err="1"/>
              <a:t>thư</a:t>
            </a:r>
            <a:r>
              <a:rPr lang="en-US" dirty="0"/>
              <a:t> </a:t>
            </a:r>
            <a:r>
              <a:rPr lang="en-US" dirty="0" err="1"/>
              <a:t>viện</a:t>
            </a:r>
            <a:r>
              <a:rPr lang="en-US" dirty="0"/>
              <a:t> </a:t>
            </a:r>
            <a:r>
              <a:rPr lang="en-US" dirty="0" err="1"/>
              <a:t>vừa</a:t>
            </a:r>
            <a:r>
              <a:rPr lang="en-US" dirty="0"/>
              <a:t> </a:t>
            </a:r>
            <a:r>
              <a:rPr lang="en-US" dirty="0" err="1"/>
              <a:t>thêm</a:t>
            </a:r>
            <a:endParaRPr lang="en-US" dirty="0"/>
          </a:p>
        </p:txBody>
      </p:sp>
      <p:pic>
        <p:nvPicPr>
          <p:cNvPr id="6" name="図 5"/>
          <p:cNvPicPr>
            <a:picLocks noChangeAspect="1"/>
          </p:cNvPicPr>
          <p:nvPr/>
        </p:nvPicPr>
        <p:blipFill>
          <a:blip r:embed="rId2"/>
          <a:stretch>
            <a:fillRect/>
          </a:stretch>
        </p:blipFill>
        <p:spPr>
          <a:xfrm>
            <a:off x="4325815" y="2011680"/>
            <a:ext cx="7559329" cy="4585005"/>
          </a:xfrm>
          <a:prstGeom prst="rect">
            <a:avLst/>
          </a:prstGeom>
        </p:spPr>
      </p:pic>
    </p:spTree>
    <p:extLst>
      <p:ext uri="{BB962C8B-B14F-4D97-AF65-F5344CB8AC3E}">
        <p14:creationId xmlns:p14="http://schemas.microsoft.com/office/powerpoint/2010/main" val="658425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3333455" cy="4206240"/>
          </a:xfrm>
        </p:spPr>
        <p:txBody>
          <a:bodyPr/>
          <a:lstStyle/>
          <a:p>
            <a:r>
              <a:rPr lang="en-US" dirty="0" err="1"/>
              <a:t>Tạo</a:t>
            </a:r>
            <a:r>
              <a:rPr lang="en-US" dirty="0"/>
              <a:t> file Batch Configure</a:t>
            </a:r>
          </a:p>
          <a:p>
            <a:r>
              <a:rPr lang="en-US" dirty="0" err="1"/>
              <a:t>Với</a:t>
            </a:r>
            <a:r>
              <a:rPr lang="en-US" dirty="0"/>
              <a:t> Job </a:t>
            </a:r>
            <a:r>
              <a:rPr lang="en-US" dirty="0" err="1"/>
              <a:t>và</a:t>
            </a:r>
            <a:r>
              <a:rPr lang="en-US" dirty="0"/>
              <a:t> </a:t>
            </a:r>
            <a:r>
              <a:rPr lang="en-US" dirty="0" err="1"/>
              <a:t>các</a:t>
            </a:r>
            <a:r>
              <a:rPr lang="en-US" dirty="0"/>
              <a:t> Step</a:t>
            </a:r>
          </a:p>
        </p:txBody>
      </p:sp>
      <p:pic>
        <p:nvPicPr>
          <p:cNvPr id="4" name="図 3"/>
          <p:cNvPicPr>
            <a:picLocks noChangeAspect="1"/>
          </p:cNvPicPr>
          <p:nvPr/>
        </p:nvPicPr>
        <p:blipFill rotWithShape="1">
          <a:blip r:embed="rId2"/>
          <a:srcRect r="25452"/>
          <a:stretch/>
        </p:blipFill>
        <p:spPr>
          <a:xfrm>
            <a:off x="5076092" y="2011680"/>
            <a:ext cx="6646985" cy="4533037"/>
          </a:xfrm>
          <a:prstGeom prst="rect">
            <a:avLst/>
          </a:prstGeom>
        </p:spPr>
      </p:pic>
    </p:spTree>
    <p:extLst>
      <p:ext uri="{BB962C8B-B14F-4D97-AF65-F5344CB8AC3E}">
        <p14:creationId xmlns:p14="http://schemas.microsoft.com/office/powerpoint/2010/main" val="42852081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2630527" cy="4206240"/>
          </a:xfrm>
        </p:spPr>
        <p:txBody>
          <a:bodyPr/>
          <a:lstStyle/>
          <a:p>
            <a:r>
              <a:rPr lang="en-US" dirty="0" err="1"/>
              <a:t>Tạo</a:t>
            </a:r>
            <a:r>
              <a:rPr lang="en-US" dirty="0"/>
              <a:t> Reader </a:t>
            </a:r>
            <a:r>
              <a:rPr lang="en-US" dirty="0" err="1"/>
              <a:t>đọc</a:t>
            </a:r>
            <a:r>
              <a:rPr lang="en-US" dirty="0"/>
              <a:t> </a:t>
            </a:r>
            <a:r>
              <a:rPr lang="en-US" dirty="0" err="1"/>
              <a:t>các</a:t>
            </a:r>
            <a:r>
              <a:rPr lang="en-US" dirty="0"/>
              <a:t> input</a:t>
            </a:r>
          </a:p>
        </p:txBody>
      </p:sp>
      <p:pic>
        <p:nvPicPr>
          <p:cNvPr id="6" name="図 5"/>
          <p:cNvPicPr>
            <a:picLocks noChangeAspect="1"/>
          </p:cNvPicPr>
          <p:nvPr/>
        </p:nvPicPr>
        <p:blipFill>
          <a:blip r:embed="rId2"/>
          <a:stretch>
            <a:fillRect/>
          </a:stretch>
        </p:blipFill>
        <p:spPr>
          <a:xfrm>
            <a:off x="4467962" y="1930400"/>
            <a:ext cx="7382905" cy="4439270"/>
          </a:xfrm>
          <a:prstGeom prst="rect">
            <a:avLst/>
          </a:prstGeom>
        </p:spPr>
      </p:pic>
    </p:spTree>
    <p:extLst>
      <p:ext uri="{BB962C8B-B14F-4D97-AF65-F5344CB8AC3E}">
        <p14:creationId xmlns:p14="http://schemas.microsoft.com/office/powerpoint/2010/main" val="622969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2630527" cy="4206240"/>
          </a:xfrm>
        </p:spPr>
        <p:txBody>
          <a:bodyPr/>
          <a:lstStyle/>
          <a:p>
            <a:r>
              <a:rPr lang="en-US" dirty="0" err="1"/>
              <a:t>Tạo</a:t>
            </a:r>
            <a:r>
              <a:rPr lang="en-US" dirty="0"/>
              <a:t> Processor </a:t>
            </a:r>
            <a:r>
              <a:rPr lang="en-US" dirty="0" err="1"/>
              <a:t>xử</a:t>
            </a:r>
            <a:r>
              <a:rPr lang="en-US" dirty="0"/>
              <a:t> </a:t>
            </a:r>
            <a:r>
              <a:rPr lang="en-US" dirty="0" err="1"/>
              <a:t>lý</a:t>
            </a:r>
            <a:r>
              <a:rPr lang="en-US" dirty="0"/>
              <a:t> data</a:t>
            </a:r>
          </a:p>
        </p:txBody>
      </p:sp>
      <p:pic>
        <p:nvPicPr>
          <p:cNvPr id="4" name="図 3"/>
          <p:cNvPicPr>
            <a:picLocks noChangeAspect="1"/>
          </p:cNvPicPr>
          <p:nvPr/>
        </p:nvPicPr>
        <p:blipFill>
          <a:blip r:embed="rId2"/>
          <a:stretch>
            <a:fillRect/>
          </a:stretch>
        </p:blipFill>
        <p:spPr>
          <a:xfrm>
            <a:off x="4536902" y="2011680"/>
            <a:ext cx="7290047" cy="4007262"/>
          </a:xfrm>
          <a:prstGeom prst="rect">
            <a:avLst/>
          </a:prstGeom>
        </p:spPr>
      </p:pic>
    </p:spTree>
    <p:extLst>
      <p:ext uri="{BB962C8B-B14F-4D97-AF65-F5344CB8AC3E}">
        <p14:creationId xmlns:p14="http://schemas.microsoft.com/office/powerpoint/2010/main" val="26096196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2630527" cy="4206240"/>
          </a:xfrm>
        </p:spPr>
        <p:txBody>
          <a:bodyPr/>
          <a:lstStyle/>
          <a:p>
            <a:r>
              <a:rPr lang="en-US" dirty="0" err="1"/>
              <a:t>Tạo</a:t>
            </a:r>
            <a:r>
              <a:rPr lang="en-US" dirty="0"/>
              <a:t> Writer output data</a:t>
            </a:r>
          </a:p>
        </p:txBody>
      </p:sp>
      <p:pic>
        <p:nvPicPr>
          <p:cNvPr id="5" name="図 4"/>
          <p:cNvPicPr>
            <a:picLocks noChangeAspect="1"/>
          </p:cNvPicPr>
          <p:nvPr/>
        </p:nvPicPr>
        <p:blipFill>
          <a:blip r:embed="rId3"/>
          <a:stretch>
            <a:fillRect/>
          </a:stretch>
        </p:blipFill>
        <p:spPr>
          <a:xfrm>
            <a:off x="3833446" y="2209258"/>
            <a:ext cx="8058234" cy="3633401"/>
          </a:xfrm>
          <a:prstGeom prst="rect">
            <a:avLst/>
          </a:prstGeom>
        </p:spPr>
      </p:pic>
    </p:spTree>
    <p:extLst>
      <p:ext uri="{BB962C8B-B14F-4D97-AF65-F5344CB8AC3E}">
        <p14:creationId xmlns:p14="http://schemas.microsoft.com/office/powerpoint/2010/main" val="1174700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2630527" cy="4206240"/>
          </a:xfrm>
        </p:spPr>
        <p:txBody>
          <a:bodyPr/>
          <a:lstStyle/>
          <a:p>
            <a:r>
              <a:rPr lang="en-US" dirty="0" err="1"/>
              <a:t>Tạo</a:t>
            </a:r>
            <a:r>
              <a:rPr lang="en-US" dirty="0"/>
              <a:t> Controller </a:t>
            </a:r>
            <a:r>
              <a:rPr lang="en-US" dirty="0" err="1"/>
              <a:t>để</a:t>
            </a:r>
            <a:r>
              <a:rPr lang="en-US" dirty="0"/>
              <a:t> </a:t>
            </a:r>
            <a:r>
              <a:rPr lang="en-US" dirty="0" err="1"/>
              <a:t>thực</a:t>
            </a:r>
            <a:r>
              <a:rPr lang="en-US" dirty="0"/>
              <a:t> thi batch qua Http Request</a:t>
            </a:r>
          </a:p>
        </p:txBody>
      </p:sp>
      <p:pic>
        <p:nvPicPr>
          <p:cNvPr id="4" name="図 3"/>
          <p:cNvPicPr>
            <a:picLocks noChangeAspect="1"/>
          </p:cNvPicPr>
          <p:nvPr/>
        </p:nvPicPr>
        <p:blipFill>
          <a:blip r:embed="rId3"/>
          <a:stretch>
            <a:fillRect/>
          </a:stretch>
        </p:blipFill>
        <p:spPr>
          <a:xfrm>
            <a:off x="3954330" y="2011681"/>
            <a:ext cx="7867435" cy="3913122"/>
          </a:xfrm>
          <a:prstGeom prst="rect">
            <a:avLst/>
          </a:prstGeom>
        </p:spPr>
      </p:pic>
    </p:spTree>
    <p:extLst>
      <p:ext uri="{BB962C8B-B14F-4D97-AF65-F5344CB8AC3E}">
        <p14:creationId xmlns:p14="http://schemas.microsoft.com/office/powerpoint/2010/main" val="2285195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3689715" cy="4206240"/>
          </a:xfrm>
        </p:spPr>
        <p:txBody>
          <a:bodyPr/>
          <a:lstStyle/>
          <a:p>
            <a:r>
              <a:rPr lang="en-US" dirty="0" err="1"/>
              <a:t>Thêm</a:t>
            </a:r>
            <a:r>
              <a:rPr lang="en-US" dirty="0"/>
              <a:t> Annotation</a:t>
            </a:r>
          </a:p>
          <a:p>
            <a:r>
              <a:rPr lang="en-US" dirty="0"/>
              <a:t>@</a:t>
            </a:r>
            <a:r>
              <a:rPr lang="en-US" dirty="0" err="1"/>
              <a:t>EnableBatch</a:t>
            </a:r>
            <a:r>
              <a:rPr lang="en-US" dirty="0"/>
              <a:t> Processing</a:t>
            </a:r>
          </a:p>
          <a:p>
            <a:r>
              <a:rPr lang="en-US" dirty="0" err="1"/>
              <a:t>Để</a:t>
            </a:r>
            <a:r>
              <a:rPr lang="en-US" dirty="0"/>
              <a:t> </a:t>
            </a:r>
            <a:r>
              <a:rPr lang="en-US" dirty="0" err="1"/>
              <a:t>tự</a:t>
            </a:r>
            <a:r>
              <a:rPr lang="en-US" dirty="0"/>
              <a:t> </a:t>
            </a:r>
            <a:r>
              <a:rPr lang="en-US" dirty="0" err="1"/>
              <a:t>động</a:t>
            </a:r>
            <a:r>
              <a:rPr lang="en-US" dirty="0"/>
              <a:t> </a:t>
            </a:r>
            <a:r>
              <a:rPr lang="en-US" dirty="0" err="1"/>
              <a:t>tạo</a:t>
            </a:r>
            <a:r>
              <a:rPr lang="en-US" dirty="0"/>
              <a:t> </a:t>
            </a:r>
            <a:r>
              <a:rPr lang="en-US" dirty="0" err="1"/>
              <a:t>ra</a:t>
            </a:r>
            <a:r>
              <a:rPr lang="en-US" dirty="0"/>
              <a:t> </a:t>
            </a:r>
            <a:r>
              <a:rPr lang="en-US" dirty="0" err="1"/>
              <a:t>các</a:t>
            </a:r>
            <a:r>
              <a:rPr lang="en-US" dirty="0"/>
              <a:t> bean </a:t>
            </a:r>
            <a:r>
              <a:rPr lang="en-US" dirty="0" err="1"/>
              <a:t>như</a:t>
            </a:r>
            <a:r>
              <a:rPr lang="en-US" dirty="0"/>
              <a:t> </a:t>
            </a:r>
            <a:r>
              <a:rPr lang="en-US" dirty="0" err="1"/>
              <a:t>JobLaucher</a:t>
            </a:r>
            <a:r>
              <a:rPr lang="en-US" dirty="0"/>
              <a:t>, Job ,..</a:t>
            </a:r>
          </a:p>
        </p:txBody>
      </p:sp>
      <p:pic>
        <p:nvPicPr>
          <p:cNvPr id="5" name="図 4"/>
          <p:cNvPicPr>
            <a:picLocks noChangeAspect="1"/>
          </p:cNvPicPr>
          <p:nvPr/>
        </p:nvPicPr>
        <p:blipFill>
          <a:blip r:embed="rId3"/>
          <a:stretch>
            <a:fillRect/>
          </a:stretch>
        </p:blipFill>
        <p:spPr>
          <a:xfrm>
            <a:off x="4791136" y="1930400"/>
            <a:ext cx="7214254" cy="3889613"/>
          </a:xfrm>
          <a:prstGeom prst="rect">
            <a:avLst/>
          </a:prstGeom>
        </p:spPr>
      </p:pic>
    </p:spTree>
    <p:extLst>
      <p:ext uri="{BB962C8B-B14F-4D97-AF65-F5344CB8AC3E}">
        <p14:creationId xmlns:p14="http://schemas.microsoft.com/office/powerpoint/2010/main" val="1475587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4084189" cy="4206240"/>
          </a:xfrm>
        </p:spPr>
        <p:txBody>
          <a:bodyPr/>
          <a:lstStyle/>
          <a:p>
            <a:r>
              <a:rPr lang="en-US" dirty="0" err="1"/>
              <a:t>Khởi</a:t>
            </a:r>
            <a:r>
              <a:rPr lang="en-US" dirty="0"/>
              <a:t> </a:t>
            </a:r>
            <a:r>
              <a:rPr lang="en-US" dirty="0" err="1"/>
              <a:t>chạy</a:t>
            </a:r>
            <a:r>
              <a:rPr lang="en-US" dirty="0"/>
              <a:t> project </a:t>
            </a:r>
            <a:r>
              <a:rPr lang="en-US" dirty="0" err="1"/>
              <a:t>bằng</a:t>
            </a:r>
            <a:r>
              <a:rPr lang="en-US" dirty="0"/>
              <a:t> </a:t>
            </a:r>
            <a:r>
              <a:rPr lang="en-US" dirty="0" err="1"/>
              <a:t>Gradle</a:t>
            </a:r>
            <a:r>
              <a:rPr lang="en-US" dirty="0"/>
              <a:t> Task: </a:t>
            </a:r>
            <a:r>
              <a:rPr lang="en-US" dirty="0" err="1"/>
              <a:t>bootRun</a:t>
            </a:r>
            <a:endParaRPr lang="en-US" dirty="0"/>
          </a:p>
          <a:p>
            <a:pPr marL="0" indent="0">
              <a:buNone/>
            </a:pPr>
            <a:endParaRPr lang="en-US" dirty="0"/>
          </a:p>
        </p:txBody>
      </p:sp>
      <p:pic>
        <p:nvPicPr>
          <p:cNvPr id="4" name="図 3"/>
          <p:cNvPicPr>
            <a:picLocks noChangeAspect="1"/>
          </p:cNvPicPr>
          <p:nvPr/>
        </p:nvPicPr>
        <p:blipFill>
          <a:blip r:embed="rId2"/>
          <a:stretch>
            <a:fillRect/>
          </a:stretch>
        </p:blipFill>
        <p:spPr>
          <a:xfrm>
            <a:off x="5287108" y="1930400"/>
            <a:ext cx="6651944" cy="3646691"/>
          </a:xfrm>
          <a:prstGeom prst="rect">
            <a:avLst/>
          </a:prstGeom>
        </p:spPr>
      </p:pic>
    </p:spTree>
    <p:extLst>
      <p:ext uri="{BB962C8B-B14F-4D97-AF65-F5344CB8AC3E}">
        <p14:creationId xmlns:p14="http://schemas.microsoft.com/office/powerpoint/2010/main" val="2808188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4084189" cy="4206240"/>
          </a:xfrm>
        </p:spPr>
        <p:txBody>
          <a:bodyPr/>
          <a:lstStyle/>
          <a:p>
            <a:r>
              <a:rPr lang="en-US" dirty="0" err="1"/>
              <a:t>Chạy</a:t>
            </a:r>
            <a:r>
              <a:rPr lang="en-US" dirty="0"/>
              <a:t> </a:t>
            </a:r>
            <a:r>
              <a:rPr lang="en-US" dirty="0" err="1"/>
              <a:t>thử</a:t>
            </a:r>
            <a:r>
              <a:rPr lang="en-US" dirty="0"/>
              <a:t> request /batch</a:t>
            </a:r>
          </a:p>
          <a:p>
            <a:r>
              <a:rPr lang="en-US" dirty="0" err="1"/>
              <a:t>Để</a:t>
            </a:r>
            <a:r>
              <a:rPr lang="en-US" dirty="0"/>
              <a:t> </a:t>
            </a:r>
            <a:r>
              <a:rPr lang="en-US" dirty="0" err="1"/>
              <a:t>thực</a:t>
            </a:r>
            <a:r>
              <a:rPr lang="en-US" dirty="0"/>
              <a:t> thi batch</a:t>
            </a:r>
          </a:p>
        </p:txBody>
      </p:sp>
      <p:pic>
        <p:nvPicPr>
          <p:cNvPr id="5" name="図 4"/>
          <p:cNvPicPr>
            <a:picLocks noChangeAspect="1"/>
          </p:cNvPicPr>
          <p:nvPr/>
        </p:nvPicPr>
        <p:blipFill rotWithShape="1">
          <a:blip r:embed="rId2"/>
          <a:srcRect r="16438"/>
          <a:stretch/>
        </p:blipFill>
        <p:spPr>
          <a:xfrm>
            <a:off x="5188646" y="2011680"/>
            <a:ext cx="6499262" cy="3979807"/>
          </a:xfrm>
          <a:prstGeom prst="rect">
            <a:avLst/>
          </a:prstGeom>
        </p:spPr>
      </p:pic>
    </p:spTree>
    <p:extLst>
      <p:ext uri="{BB962C8B-B14F-4D97-AF65-F5344CB8AC3E}">
        <p14:creationId xmlns:p14="http://schemas.microsoft.com/office/powerpoint/2010/main" val="36652815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4084189" cy="4206240"/>
          </a:xfrm>
        </p:spPr>
        <p:txBody>
          <a:bodyPr/>
          <a:lstStyle/>
          <a:p>
            <a:r>
              <a:rPr lang="en-US" dirty="0"/>
              <a:t>Log output</a:t>
            </a:r>
          </a:p>
        </p:txBody>
      </p:sp>
      <p:grpSp>
        <p:nvGrpSpPr>
          <p:cNvPr id="8" name="グループ化 7"/>
          <p:cNvGrpSpPr/>
          <p:nvPr/>
        </p:nvGrpSpPr>
        <p:grpSpPr>
          <a:xfrm>
            <a:off x="4083861" y="2235914"/>
            <a:ext cx="7611537" cy="3982006"/>
            <a:chOff x="4083861" y="2235914"/>
            <a:chExt cx="7611537" cy="3982006"/>
          </a:xfrm>
        </p:grpSpPr>
        <p:pic>
          <p:nvPicPr>
            <p:cNvPr id="6" name="図 5"/>
            <p:cNvPicPr>
              <a:picLocks noChangeAspect="1"/>
            </p:cNvPicPr>
            <p:nvPr/>
          </p:nvPicPr>
          <p:blipFill>
            <a:blip r:embed="rId2"/>
            <a:stretch>
              <a:fillRect/>
            </a:stretch>
          </p:blipFill>
          <p:spPr>
            <a:xfrm>
              <a:off x="4083861" y="2235914"/>
              <a:ext cx="7611537" cy="3982006"/>
            </a:xfrm>
            <a:prstGeom prst="rect">
              <a:avLst/>
            </a:prstGeom>
          </p:spPr>
        </p:pic>
        <p:sp>
          <p:nvSpPr>
            <p:cNvPr id="7" name="正方形/長方形 6"/>
            <p:cNvSpPr/>
            <p:nvPr/>
          </p:nvSpPr>
          <p:spPr>
            <a:xfrm>
              <a:off x="4083862" y="2555631"/>
              <a:ext cx="7486816" cy="35403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2615366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a:xfrm>
            <a:off x="135467" y="66675"/>
            <a:ext cx="7766936" cy="1181100"/>
          </a:xfrm>
        </p:spPr>
        <p:txBody>
          <a:bodyPr/>
          <a:lstStyle/>
          <a:p>
            <a:r>
              <a:rPr lang="en-US" b="1" dirty="0"/>
              <a:t>Spring Security</a:t>
            </a:r>
          </a:p>
        </p:txBody>
      </p:sp>
      <p:sp>
        <p:nvSpPr>
          <p:cNvPr id="6" name="サブタイトル 2"/>
          <p:cNvSpPr txBox="1">
            <a:spLocks/>
          </p:cNvSpPr>
          <p:nvPr/>
        </p:nvSpPr>
        <p:spPr>
          <a:xfrm>
            <a:off x="1796521" y="2441108"/>
            <a:ext cx="7766936" cy="2026117"/>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buFont typeface="Wingdings 3" charset="2"/>
              <a:buChar char=""/>
            </a:pPr>
            <a:r>
              <a:rPr kumimoji="1" lang="en-US" dirty="0"/>
              <a:t>Spring Security </a:t>
            </a:r>
            <a:r>
              <a:rPr kumimoji="1" lang="en-US" dirty="0" err="1"/>
              <a:t>là</a:t>
            </a:r>
            <a:r>
              <a:rPr kumimoji="1" lang="en-US" dirty="0"/>
              <a:t> </a:t>
            </a:r>
            <a:r>
              <a:rPr kumimoji="1" lang="en-US" dirty="0" err="1"/>
              <a:t>gì</a:t>
            </a:r>
            <a:r>
              <a:rPr kumimoji="1" lang="en-US" dirty="0"/>
              <a:t>?</a:t>
            </a:r>
          </a:p>
          <a:p>
            <a:pPr algn="l">
              <a:buFont typeface="Wingdings 3" charset="2"/>
              <a:buChar char=""/>
            </a:pPr>
            <a:r>
              <a:rPr kumimoji="1" lang="en-US" dirty="0"/>
              <a:t>Quy </a:t>
            </a:r>
            <a:r>
              <a:rPr kumimoji="1" lang="en-US" dirty="0" err="1"/>
              <a:t>trình</a:t>
            </a:r>
            <a:r>
              <a:rPr kumimoji="1" lang="en-US" dirty="0"/>
              <a:t> </a:t>
            </a:r>
            <a:r>
              <a:rPr kumimoji="1" lang="en-US" dirty="0" err="1"/>
              <a:t>hoạt</a:t>
            </a:r>
            <a:r>
              <a:rPr kumimoji="1" lang="en-US" dirty="0"/>
              <a:t> </a:t>
            </a:r>
            <a:r>
              <a:rPr kumimoji="1" lang="en-US" dirty="0" err="1"/>
              <a:t>động</a:t>
            </a:r>
            <a:r>
              <a:rPr kumimoji="1" lang="en-US" dirty="0"/>
              <a:t> </a:t>
            </a:r>
            <a:r>
              <a:rPr kumimoji="1" lang="en-US" dirty="0" err="1"/>
              <a:t>của</a:t>
            </a:r>
            <a:r>
              <a:rPr kumimoji="1" lang="en-US" dirty="0"/>
              <a:t> Spring security</a:t>
            </a:r>
          </a:p>
          <a:p>
            <a:pPr algn="l">
              <a:buFont typeface="Wingdings 3" charset="2"/>
              <a:buChar char=""/>
            </a:pPr>
            <a:r>
              <a:rPr kumimoji="1" lang="en-US" dirty="0" err="1"/>
              <a:t>Kiến</a:t>
            </a:r>
            <a:r>
              <a:rPr kumimoji="1" lang="en-US" dirty="0"/>
              <a:t> </a:t>
            </a:r>
            <a:r>
              <a:rPr kumimoji="1" lang="en-US" dirty="0" err="1"/>
              <a:t>trúc</a:t>
            </a:r>
            <a:r>
              <a:rPr kumimoji="1" lang="en-US" dirty="0"/>
              <a:t> </a:t>
            </a:r>
            <a:r>
              <a:rPr kumimoji="1" lang="en-US" dirty="0" err="1"/>
              <a:t>của</a:t>
            </a:r>
            <a:r>
              <a:rPr kumimoji="1" lang="en-US" dirty="0"/>
              <a:t> Spring Security</a:t>
            </a:r>
          </a:p>
          <a:p>
            <a:pPr algn="l">
              <a:buFont typeface="Wingdings 3" charset="2"/>
              <a:buChar char=""/>
            </a:pPr>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Spring Security</a:t>
            </a:r>
          </a:p>
          <a:p>
            <a:pPr algn="l">
              <a:buFont typeface="Wingdings 3" charset="2"/>
              <a:buChar char=""/>
            </a:pPr>
            <a:r>
              <a:rPr lang="en-US" dirty="0" err="1"/>
              <a:t>Các</a:t>
            </a:r>
            <a:r>
              <a:rPr lang="en-US" dirty="0"/>
              <a:t> </a:t>
            </a:r>
            <a:r>
              <a:rPr lang="en-US" dirty="0" err="1"/>
              <a:t>cài</a:t>
            </a:r>
            <a:r>
              <a:rPr lang="en-US" dirty="0"/>
              <a:t> </a:t>
            </a:r>
            <a:r>
              <a:rPr lang="en-US" dirty="0" err="1"/>
              <a:t>đặt</a:t>
            </a:r>
            <a:r>
              <a:rPr lang="en-US" dirty="0"/>
              <a:t> </a:t>
            </a:r>
            <a:r>
              <a:rPr lang="en-US" dirty="0" err="1"/>
              <a:t>và</a:t>
            </a:r>
            <a:r>
              <a:rPr lang="en-US" dirty="0"/>
              <a:t> </a:t>
            </a:r>
            <a:r>
              <a:rPr lang="en-US" dirty="0" err="1"/>
              <a:t>cấu</a:t>
            </a:r>
            <a:r>
              <a:rPr lang="en-US" dirty="0"/>
              <a:t> </a:t>
            </a:r>
            <a:r>
              <a:rPr lang="en-US" dirty="0" err="1"/>
              <a:t>hình</a:t>
            </a:r>
            <a:r>
              <a:rPr lang="en-US" dirty="0"/>
              <a:t> Spring Security</a:t>
            </a:r>
          </a:p>
        </p:txBody>
      </p:sp>
      <p:sp>
        <p:nvSpPr>
          <p:cNvPr id="7" name="コンテンツ プレースホルダー 2"/>
          <p:cNvSpPr txBox="1">
            <a:spLocks/>
          </p:cNvSpPr>
          <p:nvPr/>
        </p:nvSpPr>
        <p:spPr>
          <a:xfrm>
            <a:off x="1381655" y="1687518"/>
            <a:ext cx="8596668" cy="60800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kumimoji="1" lang="en-US" sz="2400" dirty="0" err="1"/>
              <a:t>Các</a:t>
            </a:r>
            <a:r>
              <a:rPr kumimoji="1" lang="en-US" sz="2400" dirty="0"/>
              <a:t> </a:t>
            </a:r>
            <a:r>
              <a:rPr kumimoji="1" lang="en-US" sz="2400" dirty="0" err="1"/>
              <a:t>mục</a:t>
            </a:r>
            <a:r>
              <a:rPr kumimoji="1" lang="en-US" sz="2400" dirty="0"/>
              <a:t> </a:t>
            </a:r>
            <a:r>
              <a:rPr kumimoji="1" lang="en-US" sz="2400" dirty="0" err="1"/>
              <a:t>trình</a:t>
            </a:r>
            <a:r>
              <a:rPr kumimoji="1" lang="en-US" sz="2400" dirty="0"/>
              <a:t> </a:t>
            </a:r>
            <a:r>
              <a:rPr kumimoji="1" lang="en-US" sz="2400" dirty="0" err="1"/>
              <a:t>bày</a:t>
            </a:r>
            <a:r>
              <a:rPr kumimoji="1" lang="en-US" sz="2400" dirty="0"/>
              <a:t> </a:t>
            </a:r>
            <a:r>
              <a:rPr kumimoji="1" lang="en-US" sz="2400" dirty="0" err="1"/>
              <a:t>trong</a:t>
            </a:r>
            <a:r>
              <a:rPr kumimoji="1" lang="en-US" sz="2400" dirty="0"/>
              <a:t> </a:t>
            </a:r>
            <a:r>
              <a:rPr lang="en-US" sz="3200" b="1" dirty="0"/>
              <a:t>Spring Security</a:t>
            </a:r>
          </a:p>
          <a:p>
            <a:pPr marL="0" indent="0">
              <a:buNone/>
            </a:pPr>
            <a:endParaRPr kumimoji="1" lang="en-US" b="1" dirty="0"/>
          </a:p>
        </p:txBody>
      </p:sp>
    </p:spTree>
    <p:extLst>
      <p:ext uri="{BB962C8B-B14F-4D97-AF65-F5344CB8AC3E}">
        <p14:creationId xmlns:p14="http://schemas.microsoft.com/office/powerpoint/2010/main" val="9657382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a:t>Spring Security </a:t>
            </a:r>
            <a:r>
              <a:rPr lang="en-US" b="1" dirty="0" err="1"/>
              <a:t>là</a:t>
            </a:r>
            <a:r>
              <a:rPr lang="en-US" b="1" dirty="0"/>
              <a:t> </a:t>
            </a:r>
            <a:r>
              <a:rPr lang="en-US" b="1" dirty="0" err="1"/>
              <a:t>gì</a:t>
            </a:r>
            <a:r>
              <a:rPr lang="en-US" b="1" dirty="0"/>
              <a:t>?</a:t>
            </a:r>
          </a:p>
        </p:txBody>
      </p:sp>
      <p:sp>
        <p:nvSpPr>
          <p:cNvPr id="3" name="コンテンツ プレースホルダー 2"/>
          <p:cNvSpPr>
            <a:spLocks noGrp="1"/>
          </p:cNvSpPr>
          <p:nvPr>
            <p:ph idx="1"/>
          </p:nvPr>
        </p:nvSpPr>
        <p:spPr/>
        <p:txBody>
          <a:bodyPr>
            <a:normAutofit fontScale="92500" lnSpcReduction="20000"/>
          </a:bodyPr>
          <a:lstStyle/>
          <a:p>
            <a:r>
              <a:rPr lang="en-US" dirty="0"/>
              <a:t>Spring Security </a:t>
            </a:r>
            <a:r>
              <a:rPr lang="en-US" dirty="0" err="1"/>
              <a:t>là</a:t>
            </a:r>
            <a:r>
              <a:rPr lang="en-US" dirty="0"/>
              <a:t> framework </a:t>
            </a:r>
            <a:r>
              <a:rPr lang="en-US" dirty="0" err="1"/>
              <a:t>mà</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việc</a:t>
            </a:r>
            <a:r>
              <a:rPr lang="en-US" dirty="0"/>
              <a:t> </a:t>
            </a:r>
            <a:r>
              <a:rPr lang="en-US" dirty="0" err="1"/>
              <a:t>cung</a:t>
            </a:r>
            <a:r>
              <a:rPr lang="en-US" dirty="0"/>
              <a:t> </a:t>
            </a:r>
            <a:r>
              <a:rPr lang="en-US" dirty="0" err="1"/>
              <a:t>cấp</a:t>
            </a:r>
            <a:r>
              <a:rPr lang="en-US" dirty="0"/>
              <a:t> </a:t>
            </a:r>
            <a:r>
              <a:rPr lang="en-US" dirty="0" err="1"/>
              <a:t>cả</a:t>
            </a:r>
            <a:r>
              <a:rPr lang="en-US" dirty="0"/>
              <a:t> </a:t>
            </a:r>
            <a:r>
              <a:rPr lang="en-US" dirty="0" err="1"/>
              <a:t>xác</a:t>
            </a:r>
            <a:r>
              <a:rPr lang="en-US" dirty="0"/>
              <a:t> </a:t>
            </a:r>
            <a:r>
              <a:rPr lang="en-US" dirty="0" err="1"/>
              <a:t>thực</a:t>
            </a:r>
            <a:r>
              <a:rPr lang="en-US" dirty="0"/>
              <a:t> </a:t>
            </a:r>
            <a:r>
              <a:rPr lang="en-US" dirty="0" err="1"/>
              <a:t>và</a:t>
            </a:r>
            <a:r>
              <a:rPr lang="en-US" dirty="0"/>
              <a:t> </a:t>
            </a:r>
            <a:r>
              <a:rPr lang="en-US" dirty="0" err="1"/>
              <a:t>phân</a:t>
            </a:r>
            <a:r>
              <a:rPr lang="en-US" dirty="0"/>
              <a:t> </a:t>
            </a:r>
            <a:r>
              <a:rPr lang="en-US" dirty="0" err="1"/>
              <a:t>quyền</a:t>
            </a:r>
            <a:r>
              <a:rPr lang="en-US" dirty="0"/>
              <a:t> (</a:t>
            </a:r>
            <a:r>
              <a:rPr lang="en-US" dirty="0" err="1"/>
              <a:t>hoặc</a:t>
            </a:r>
            <a:r>
              <a:rPr lang="en-US" dirty="0"/>
              <a:t> </a:t>
            </a:r>
            <a:r>
              <a:rPr lang="en-US" dirty="0" err="1"/>
              <a:t>kiểm</a:t>
            </a:r>
            <a:r>
              <a:rPr lang="en-US" dirty="0"/>
              <a:t> </a:t>
            </a:r>
            <a:r>
              <a:rPr lang="en-US" dirty="0" err="1"/>
              <a:t>soát</a:t>
            </a:r>
            <a:r>
              <a:rPr lang="en-US" dirty="0"/>
              <a:t> </a:t>
            </a:r>
            <a:r>
              <a:rPr lang="en-US" dirty="0" err="1"/>
              <a:t>truy</a:t>
            </a:r>
            <a:r>
              <a:rPr lang="en-US" dirty="0"/>
              <a:t> </a:t>
            </a:r>
            <a:r>
              <a:rPr lang="en-US" dirty="0" err="1"/>
              <a:t>cập</a:t>
            </a:r>
            <a:r>
              <a:rPr lang="en-US" dirty="0"/>
              <a:t>) </a:t>
            </a:r>
            <a:r>
              <a:rPr lang="en-US" dirty="0" err="1"/>
              <a:t>đối</a:t>
            </a:r>
            <a:r>
              <a:rPr lang="en-US" dirty="0"/>
              <a:t> </a:t>
            </a:r>
            <a:r>
              <a:rPr lang="en-US" dirty="0" err="1"/>
              <a:t>với</a:t>
            </a:r>
            <a:r>
              <a:rPr lang="en-US" dirty="0"/>
              <a:t> </a:t>
            </a:r>
            <a:r>
              <a:rPr lang="en-US" dirty="0" err="1"/>
              <a:t>ứng</a:t>
            </a:r>
            <a:r>
              <a:rPr lang="en-US" dirty="0"/>
              <a:t> </a:t>
            </a:r>
            <a:r>
              <a:rPr lang="en-US" dirty="0" err="1"/>
              <a:t>dụng</a:t>
            </a:r>
            <a:r>
              <a:rPr lang="en-US" dirty="0"/>
              <a:t> Java web </a:t>
            </a:r>
            <a:r>
              <a:rPr lang="en-US" dirty="0" err="1"/>
              <a:t>và</a:t>
            </a:r>
            <a:r>
              <a:rPr lang="en-US" dirty="0"/>
              <a:t> SOAP/RESTful </a:t>
            </a:r>
            <a:r>
              <a:rPr lang="en-US" dirty="0" err="1"/>
              <a:t>webservice</a:t>
            </a:r>
            <a:r>
              <a:rPr lang="en-US" dirty="0"/>
              <a:t>.</a:t>
            </a:r>
          </a:p>
          <a:p>
            <a:r>
              <a:rPr lang="en-US" dirty="0"/>
              <a:t>Spring Security </a:t>
            </a:r>
            <a:r>
              <a:rPr lang="en-US" dirty="0" err="1"/>
              <a:t>hiện</a:t>
            </a:r>
            <a:r>
              <a:rPr lang="en-US" dirty="0"/>
              <a:t> </a:t>
            </a:r>
            <a:r>
              <a:rPr lang="en-US" dirty="0" err="1"/>
              <a:t>tại</a:t>
            </a:r>
            <a:r>
              <a:rPr lang="en-US" dirty="0"/>
              <a:t> </a:t>
            </a:r>
            <a:r>
              <a:rPr lang="en-US" dirty="0" err="1"/>
              <a:t>hỗ</a:t>
            </a:r>
            <a:r>
              <a:rPr lang="en-US" dirty="0"/>
              <a:t> </a:t>
            </a:r>
            <a:r>
              <a:rPr lang="en-US" dirty="0" err="1"/>
              <a:t>trợ</a:t>
            </a:r>
            <a:r>
              <a:rPr lang="en-US" dirty="0"/>
              <a:t> </a:t>
            </a:r>
            <a:r>
              <a:rPr lang="en-US" dirty="0" err="1"/>
              <a:t>tích</a:t>
            </a:r>
            <a:r>
              <a:rPr lang="en-US" dirty="0"/>
              <a:t> </a:t>
            </a:r>
            <a:r>
              <a:rPr lang="en-US" dirty="0" err="1"/>
              <a:t>hợp</a:t>
            </a:r>
            <a:r>
              <a:rPr lang="en-US" dirty="0"/>
              <a:t> </a:t>
            </a:r>
            <a:r>
              <a:rPr lang="en-US" dirty="0" err="1"/>
              <a:t>với</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công</a:t>
            </a:r>
            <a:r>
              <a:rPr lang="en-US" dirty="0"/>
              <a:t> </a:t>
            </a:r>
            <a:r>
              <a:rPr lang="en-US" dirty="0" err="1"/>
              <a:t>nghệ</a:t>
            </a:r>
            <a:r>
              <a:rPr lang="en-US" dirty="0"/>
              <a:t> </a:t>
            </a:r>
            <a:r>
              <a:rPr lang="en-US" dirty="0" err="1"/>
              <a:t>dưới</a:t>
            </a:r>
            <a:r>
              <a:rPr lang="en-US" dirty="0"/>
              <a:t>:</a:t>
            </a:r>
          </a:p>
          <a:p>
            <a:pPr lvl="1"/>
            <a:r>
              <a:rPr lang="en-US" dirty="0"/>
              <a:t>HTTP basic access authentication</a:t>
            </a:r>
          </a:p>
          <a:p>
            <a:pPr lvl="1"/>
            <a:r>
              <a:rPr lang="en-US" dirty="0"/>
              <a:t>LDAP system</a:t>
            </a:r>
          </a:p>
          <a:p>
            <a:pPr lvl="1"/>
            <a:r>
              <a:rPr lang="en-US" dirty="0"/>
              <a:t>OpenID identity providers</a:t>
            </a:r>
          </a:p>
          <a:p>
            <a:pPr lvl="1"/>
            <a:r>
              <a:rPr lang="en-US" dirty="0"/>
              <a:t>JAAS API</a:t>
            </a:r>
          </a:p>
          <a:p>
            <a:pPr lvl="1"/>
            <a:r>
              <a:rPr lang="en-US" dirty="0"/>
              <a:t>CAS Server</a:t>
            </a:r>
          </a:p>
          <a:p>
            <a:pPr lvl="1"/>
            <a:r>
              <a:rPr lang="en-US" dirty="0"/>
              <a:t>ESB Platform</a:t>
            </a:r>
          </a:p>
          <a:p>
            <a:pPr lvl="1"/>
            <a:r>
              <a:rPr lang="en-US" dirty="0"/>
              <a:t>…</a:t>
            </a:r>
          </a:p>
          <a:p>
            <a:pPr lvl="1"/>
            <a:r>
              <a:rPr lang="en-US" dirty="0" err="1"/>
              <a:t>Các</a:t>
            </a:r>
            <a:r>
              <a:rPr lang="en-US" dirty="0"/>
              <a:t> </a:t>
            </a:r>
            <a:r>
              <a:rPr lang="en-US" dirty="0" err="1"/>
              <a:t>hệ</a:t>
            </a:r>
            <a:r>
              <a:rPr lang="en-US" dirty="0"/>
              <a:t> </a:t>
            </a:r>
            <a:r>
              <a:rPr lang="en-US" dirty="0" err="1"/>
              <a:t>thống</a:t>
            </a:r>
            <a:r>
              <a:rPr lang="en-US" dirty="0"/>
              <a:t> </a:t>
            </a:r>
            <a:r>
              <a:rPr lang="en-US" dirty="0" err="1"/>
              <a:t>xác</a:t>
            </a:r>
            <a:r>
              <a:rPr lang="en-US" dirty="0"/>
              <a:t> </a:t>
            </a:r>
            <a:r>
              <a:rPr lang="en-US" dirty="0" err="1"/>
              <a:t>thực</a:t>
            </a:r>
            <a:r>
              <a:rPr lang="en-US" dirty="0"/>
              <a:t> </a:t>
            </a:r>
            <a:r>
              <a:rPr lang="en-US" dirty="0" err="1"/>
              <a:t>của</a:t>
            </a:r>
            <a:r>
              <a:rPr lang="en-US" dirty="0"/>
              <a:t> </a:t>
            </a:r>
            <a:r>
              <a:rPr lang="en-US" dirty="0" err="1"/>
              <a:t>riêng</a:t>
            </a:r>
            <a:r>
              <a:rPr lang="en-US" dirty="0"/>
              <a:t> </a:t>
            </a:r>
            <a:r>
              <a:rPr lang="en-US" dirty="0" err="1"/>
              <a:t>bạn</a:t>
            </a:r>
            <a:r>
              <a:rPr lang="en-US" dirty="0"/>
              <a:t>.</a:t>
            </a:r>
          </a:p>
          <a:p>
            <a:r>
              <a:rPr lang="en-US" dirty="0" err="1"/>
              <a:t>Được</a:t>
            </a:r>
            <a:r>
              <a:rPr lang="en-US" dirty="0"/>
              <a:t> </a:t>
            </a:r>
            <a:r>
              <a:rPr lang="en-US" dirty="0" err="1"/>
              <a:t>xây</a:t>
            </a:r>
            <a:r>
              <a:rPr lang="en-US" dirty="0"/>
              <a:t> </a:t>
            </a:r>
            <a:r>
              <a:rPr lang="en-US" dirty="0" err="1"/>
              <a:t>dựng</a:t>
            </a:r>
            <a:r>
              <a:rPr lang="en-US" dirty="0"/>
              <a:t> </a:t>
            </a:r>
            <a:r>
              <a:rPr lang="en-US" dirty="0" err="1"/>
              <a:t>dựa</a:t>
            </a:r>
            <a:r>
              <a:rPr lang="en-US" dirty="0"/>
              <a:t> </a:t>
            </a:r>
            <a:r>
              <a:rPr lang="en-US" dirty="0" err="1"/>
              <a:t>trên</a:t>
            </a:r>
            <a:r>
              <a:rPr lang="en-US" dirty="0"/>
              <a:t> Spring Framework</a:t>
            </a:r>
          </a:p>
          <a:p>
            <a:pPr lvl="1"/>
            <a:endParaRPr lang="en-US" dirty="0"/>
          </a:p>
        </p:txBody>
      </p:sp>
    </p:spTree>
    <p:extLst>
      <p:ext uri="{BB962C8B-B14F-4D97-AF65-F5344CB8AC3E}">
        <p14:creationId xmlns:p14="http://schemas.microsoft.com/office/powerpoint/2010/main" val="169050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プレースホルダー 11"/>
          <p:cNvPicPr>
            <a:picLocks noGrp="1" noChangeAspect="1"/>
          </p:cNvPicPr>
          <p:nvPr>
            <p:ph type="pic" idx="4294967295"/>
          </p:nvPr>
        </p:nvPicPr>
        <p:blipFill rotWithShape="1">
          <a:blip r:embed="rId2"/>
          <a:srcRect t="11424" b="9893"/>
          <a:stretch/>
        </p:blipFill>
        <p:spPr>
          <a:xfrm>
            <a:off x="754063" y="981075"/>
            <a:ext cx="10683875" cy="5716588"/>
          </a:xfrm>
          <a:prstGeom prst="rect">
            <a:avLst/>
          </a:prstGeom>
        </p:spPr>
      </p:pic>
      <p:sp>
        <p:nvSpPr>
          <p:cNvPr id="4" name="タイトル 1"/>
          <p:cNvSpPr txBox="1">
            <a:spLocks/>
          </p:cNvSpPr>
          <p:nvPr/>
        </p:nvSpPr>
        <p:spPr>
          <a:xfrm>
            <a:off x="1797666" y="201922"/>
            <a:ext cx="8596668" cy="13208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90C226"/>
                </a:solidFill>
              </a:rPr>
              <a:t>Spring Security Common Workflow</a:t>
            </a:r>
          </a:p>
        </p:txBody>
      </p:sp>
    </p:spTree>
    <p:extLst>
      <p:ext uri="{BB962C8B-B14F-4D97-AF65-F5344CB8AC3E}">
        <p14:creationId xmlns:p14="http://schemas.microsoft.com/office/powerpoint/2010/main" val="13074842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3"/>
          <a:srcRect t="14125"/>
          <a:stretch/>
        </p:blipFill>
        <p:spPr>
          <a:xfrm>
            <a:off x="1496418" y="980302"/>
            <a:ext cx="9199164" cy="5687021"/>
          </a:xfrm>
          <a:prstGeom prst="rect">
            <a:avLst/>
          </a:prstGeom>
        </p:spPr>
      </p:pic>
      <p:sp>
        <p:nvSpPr>
          <p:cNvPr id="4" name="タイトル 1"/>
          <p:cNvSpPr txBox="1">
            <a:spLocks/>
          </p:cNvSpPr>
          <p:nvPr/>
        </p:nvSpPr>
        <p:spPr>
          <a:xfrm>
            <a:off x="1797666" y="189273"/>
            <a:ext cx="8596668" cy="13208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rgbClr val="90C226"/>
                </a:solidFill>
              </a:rPr>
              <a:t>Spring Security Architecture</a:t>
            </a:r>
          </a:p>
        </p:txBody>
      </p:sp>
    </p:spTree>
    <p:extLst>
      <p:ext uri="{BB962C8B-B14F-4D97-AF65-F5344CB8AC3E}">
        <p14:creationId xmlns:p14="http://schemas.microsoft.com/office/powerpoint/2010/main" val="1226160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Các</a:t>
            </a:r>
            <a:r>
              <a:rPr lang="en-US" b="1" dirty="0"/>
              <a:t> </a:t>
            </a:r>
            <a:r>
              <a:rPr lang="en-US" b="1" dirty="0" err="1"/>
              <a:t>thành</a:t>
            </a:r>
            <a:r>
              <a:rPr lang="en-US" b="1" dirty="0"/>
              <a:t> </a:t>
            </a:r>
            <a:r>
              <a:rPr lang="en-US" b="1" dirty="0" err="1"/>
              <a:t>phần</a:t>
            </a:r>
            <a:r>
              <a:rPr lang="en-US" b="1" dirty="0"/>
              <a:t> </a:t>
            </a:r>
            <a:r>
              <a:rPr lang="en-US" b="1" dirty="0" err="1"/>
              <a:t>của</a:t>
            </a:r>
            <a:r>
              <a:rPr lang="en-US" b="1" dirty="0"/>
              <a:t> Spring Security</a:t>
            </a:r>
          </a:p>
        </p:txBody>
      </p:sp>
      <p:sp>
        <p:nvSpPr>
          <p:cNvPr id="3" name="コンテンツ プレースホルダー 2"/>
          <p:cNvSpPr>
            <a:spLocks noGrp="1"/>
          </p:cNvSpPr>
          <p:nvPr>
            <p:ph sz="half" idx="1"/>
          </p:nvPr>
        </p:nvSpPr>
        <p:spPr/>
        <p:txBody>
          <a:bodyPr>
            <a:normAutofit/>
          </a:bodyPr>
          <a:lstStyle/>
          <a:p>
            <a:r>
              <a:rPr lang="en-US" dirty="0" err="1"/>
              <a:t>AuthenticationFilter</a:t>
            </a:r>
            <a:endParaRPr lang="en-US" dirty="0"/>
          </a:p>
          <a:p>
            <a:r>
              <a:rPr lang="en-US" dirty="0" err="1"/>
              <a:t>AuthenticationManager</a:t>
            </a:r>
            <a:endParaRPr lang="en-US" dirty="0"/>
          </a:p>
          <a:p>
            <a:r>
              <a:rPr lang="en-US" dirty="0" err="1"/>
              <a:t>AuthenticationProvider</a:t>
            </a:r>
            <a:endParaRPr lang="en-US" dirty="0"/>
          </a:p>
          <a:p>
            <a:r>
              <a:rPr lang="en-US" dirty="0" err="1"/>
              <a:t>UserDetailsService</a:t>
            </a:r>
            <a:endParaRPr lang="en-US" dirty="0"/>
          </a:p>
          <a:p>
            <a:r>
              <a:rPr lang="en-US" dirty="0"/>
              <a:t>Spring Security Context</a:t>
            </a:r>
          </a:p>
          <a:p>
            <a:endParaRPr lang="en-US" dirty="0"/>
          </a:p>
        </p:txBody>
      </p:sp>
      <p:sp>
        <p:nvSpPr>
          <p:cNvPr id="6" name="コンテンツ プレースホルダー 5"/>
          <p:cNvSpPr>
            <a:spLocks noGrp="1"/>
          </p:cNvSpPr>
          <p:nvPr>
            <p:ph sz="half" idx="2"/>
          </p:nvPr>
        </p:nvSpPr>
        <p:spPr/>
        <p:txBody>
          <a:bodyPr/>
          <a:lstStyle/>
          <a:p>
            <a:r>
              <a:rPr lang="en-US" dirty="0" err="1"/>
              <a:t>PasswordEncoder</a:t>
            </a:r>
            <a:r>
              <a:rPr lang="en-US" dirty="0"/>
              <a:t> </a:t>
            </a:r>
          </a:p>
          <a:p>
            <a:r>
              <a:rPr lang="en-US" dirty="0"/>
              <a:t>Form Login</a:t>
            </a:r>
          </a:p>
          <a:p>
            <a:r>
              <a:rPr lang="en-US" dirty="0"/>
              <a:t>Login with a Database</a:t>
            </a:r>
          </a:p>
          <a:p>
            <a:r>
              <a:rPr lang="en-US" dirty="0"/>
              <a:t>Login Attempts Limit</a:t>
            </a:r>
          </a:p>
        </p:txBody>
      </p:sp>
    </p:spTree>
    <p:extLst>
      <p:ext uri="{BB962C8B-B14F-4D97-AF65-F5344CB8AC3E}">
        <p14:creationId xmlns:p14="http://schemas.microsoft.com/office/powerpoint/2010/main" val="13614880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PasswordEncoder</a:t>
            </a:r>
            <a:endParaRPr lang="en-US" b="1" dirty="0"/>
          </a:p>
        </p:txBody>
      </p:sp>
      <p:sp>
        <p:nvSpPr>
          <p:cNvPr id="3" name="コンテンツ プレースホルダー 2"/>
          <p:cNvSpPr>
            <a:spLocks noGrp="1"/>
          </p:cNvSpPr>
          <p:nvPr>
            <p:ph idx="1"/>
          </p:nvPr>
        </p:nvSpPr>
        <p:spPr/>
        <p:txBody>
          <a:bodyPr/>
          <a:lstStyle/>
          <a:p>
            <a:r>
              <a:rPr lang="en-US" dirty="0" err="1"/>
              <a:t>PasswordEncoder</a:t>
            </a:r>
            <a:r>
              <a:rPr lang="en-US" dirty="0"/>
              <a:t> </a:t>
            </a:r>
            <a:r>
              <a:rPr lang="en-US" dirty="0" err="1"/>
              <a:t>là</a:t>
            </a:r>
            <a:r>
              <a:rPr lang="en-US" dirty="0"/>
              <a:t> </a:t>
            </a:r>
            <a:r>
              <a:rPr lang="en-US" dirty="0" err="1"/>
              <a:t>một</a:t>
            </a:r>
            <a:r>
              <a:rPr lang="en-US" dirty="0"/>
              <a:t> interface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lưu</a:t>
            </a:r>
            <a:r>
              <a:rPr lang="en-US" dirty="0"/>
              <a:t> </a:t>
            </a:r>
            <a:r>
              <a:rPr lang="en-US" dirty="0" err="1"/>
              <a:t>trữ</a:t>
            </a:r>
            <a:r>
              <a:rPr lang="en-US" dirty="0"/>
              <a:t> </a:t>
            </a:r>
            <a:r>
              <a:rPr lang="en-US" dirty="0" err="1"/>
              <a:t>và</a:t>
            </a:r>
            <a:r>
              <a:rPr lang="en-US" dirty="0"/>
              <a:t> </a:t>
            </a:r>
            <a:r>
              <a:rPr lang="en-US" dirty="0" err="1"/>
              <a:t>mã</a:t>
            </a:r>
            <a:r>
              <a:rPr lang="en-US" dirty="0"/>
              <a:t> </a:t>
            </a:r>
            <a:r>
              <a:rPr lang="en-US" dirty="0" err="1"/>
              <a:t>hóa</a:t>
            </a:r>
            <a:r>
              <a:rPr lang="en-US" dirty="0"/>
              <a:t> </a:t>
            </a:r>
            <a:r>
              <a:rPr lang="en-US" dirty="0" err="1"/>
              <a:t>mật</a:t>
            </a:r>
            <a:r>
              <a:rPr lang="en-US" dirty="0"/>
              <a:t> </a:t>
            </a:r>
            <a:r>
              <a:rPr lang="en-US" dirty="0" err="1"/>
              <a:t>khẩu</a:t>
            </a:r>
            <a:r>
              <a:rPr lang="en-US" dirty="0"/>
              <a:t>.</a:t>
            </a:r>
          </a:p>
          <a:p>
            <a:r>
              <a:rPr lang="en-US" dirty="0" err="1"/>
              <a:t>Lớp</a:t>
            </a:r>
            <a:r>
              <a:rPr lang="en-US" dirty="0"/>
              <a:t> implement </a:t>
            </a:r>
            <a:r>
              <a:rPr lang="en-US" dirty="0" err="1"/>
              <a:t>phổ</a:t>
            </a:r>
            <a:r>
              <a:rPr lang="en-US" dirty="0"/>
              <a:t> </a:t>
            </a:r>
            <a:r>
              <a:rPr lang="en-US" dirty="0" err="1"/>
              <a:t>biến</a:t>
            </a:r>
            <a:r>
              <a:rPr lang="en-US" dirty="0"/>
              <a:t> </a:t>
            </a:r>
            <a:r>
              <a:rPr lang="en-US" dirty="0" err="1"/>
              <a:t>nhất</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là</a:t>
            </a:r>
            <a:r>
              <a:rPr lang="en-US" dirty="0"/>
              <a:t> </a:t>
            </a:r>
            <a:r>
              <a:rPr lang="en-US" dirty="0" err="1"/>
              <a:t>BCryptPasswordEncoder</a:t>
            </a:r>
            <a:endParaRPr lang="en-US" dirty="0"/>
          </a:p>
          <a:p>
            <a:r>
              <a:rPr lang="en-US" dirty="0" err="1"/>
              <a:t>Một</a:t>
            </a:r>
            <a:r>
              <a:rPr lang="en-US" dirty="0"/>
              <a:t> </a:t>
            </a:r>
            <a:r>
              <a:rPr lang="en-US" dirty="0" err="1"/>
              <a:t>phiên</a:t>
            </a:r>
            <a:r>
              <a:rPr lang="en-US" dirty="0"/>
              <a:t> </a:t>
            </a:r>
            <a:r>
              <a:rPr lang="en-US" dirty="0" err="1"/>
              <a:t>bản</a:t>
            </a:r>
            <a:r>
              <a:rPr lang="en-US" dirty="0"/>
              <a:t> </a:t>
            </a:r>
            <a:r>
              <a:rPr lang="en-US" dirty="0" err="1"/>
              <a:t>khác</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lưu</a:t>
            </a:r>
            <a:r>
              <a:rPr lang="en-US" dirty="0"/>
              <a:t> </a:t>
            </a:r>
            <a:r>
              <a:rPr lang="en-US" dirty="0" err="1"/>
              <a:t>trữ</a:t>
            </a:r>
            <a:r>
              <a:rPr lang="en-US" dirty="0"/>
              <a:t> </a:t>
            </a:r>
            <a:r>
              <a:rPr lang="en-US" dirty="0" err="1"/>
              <a:t>mật</a:t>
            </a:r>
            <a:r>
              <a:rPr lang="en-US" dirty="0"/>
              <a:t> </a:t>
            </a:r>
            <a:r>
              <a:rPr lang="en-US" dirty="0" err="1"/>
              <a:t>khẩu</a:t>
            </a:r>
            <a:r>
              <a:rPr lang="en-US" dirty="0"/>
              <a:t> </a:t>
            </a:r>
            <a:r>
              <a:rPr lang="en-US" dirty="0" err="1"/>
              <a:t>dưới</a:t>
            </a:r>
            <a:r>
              <a:rPr lang="en-US" dirty="0"/>
              <a:t> </a:t>
            </a:r>
            <a:r>
              <a:rPr lang="en-US" dirty="0" err="1"/>
              <a:t>dạng</a:t>
            </a:r>
            <a:r>
              <a:rPr lang="en-US" dirty="0"/>
              <a:t> </a:t>
            </a:r>
            <a:r>
              <a:rPr lang="en-US" dirty="0" err="1"/>
              <a:t>văn</a:t>
            </a:r>
            <a:r>
              <a:rPr lang="en-US" dirty="0"/>
              <a:t> </a:t>
            </a:r>
            <a:r>
              <a:rPr lang="en-US" dirty="0" err="1"/>
              <a:t>bản</a:t>
            </a:r>
            <a:r>
              <a:rPr lang="en-US" dirty="0"/>
              <a:t> </a:t>
            </a:r>
            <a:r>
              <a:rPr lang="en-US" dirty="0" err="1"/>
              <a:t>thuần</a:t>
            </a:r>
            <a:r>
              <a:rPr lang="en-US" dirty="0"/>
              <a:t> </a:t>
            </a:r>
            <a:r>
              <a:rPr lang="en-US" dirty="0" err="1"/>
              <a:t>túy</a:t>
            </a:r>
            <a:r>
              <a:rPr lang="en-US" dirty="0"/>
              <a:t> </a:t>
            </a:r>
            <a:r>
              <a:rPr lang="en-US" dirty="0" err="1"/>
              <a:t>đó</a:t>
            </a:r>
            <a:r>
              <a:rPr lang="en-US" dirty="0"/>
              <a:t> </a:t>
            </a:r>
            <a:r>
              <a:rPr lang="en-US" dirty="0" err="1"/>
              <a:t>là</a:t>
            </a:r>
            <a:r>
              <a:rPr lang="en-US" dirty="0"/>
              <a:t> </a:t>
            </a:r>
            <a:r>
              <a:rPr lang="en-US" dirty="0" err="1"/>
              <a:t>NoOpPasswordEncoder</a:t>
            </a:r>
            <a:endParaRPr lang="en-US" dirty="0"/>
          </a:p>
        </p:txBody>
      </p:sp>
    </p:spTree>
    <p:extLst>
      <p:ext uri="{BB962C8B-B14F-4D97-AF65-F5344CB8AC3E}">
        <p14:creationId xmlns:p14="http://schemas.microsoft.com/office/powerpoint/2010/main" val="9516077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a:t>Form Login</a:t>
            </a:r>
          </a:p>
        </p:txBody>
      </p:sp>
      <p:sp>
        <p:nvSpPr>
          <p:cNvPr id="3" name="コンテンツ プレースホルダー 2"/>
          <p:cNvSpPr>
            <a:spLocks noGrp="1"/>
          </p:cNvSpPr>
          <p:nvPr>
            <p:ph idx="1"/>
          </p:nvPr>
        </p:nvSpPr>
        <p:spPr/>
        <p:txBody>
          <a:bodyPr/>
          <a:lstStyle/>
          <a:p>
            <a:r>
              <a:rPr lang="en-US" dirty="0" err="1"/>
              <a:t>Khi</a:t>
            </a:r>
            <a:r>
              <a:rPr lang="en-US" dirty="0"/>
              <a:t> </a:t>
            </a:r>
            <a:r>
              <a:rPr lang="en-US" dirty="0" err="1"/>
              <a:t>thêm</a:t>
            </a:r>
            <a:r>
              <a:rPr lang="en-US" dirty="0"/>
              <a:t> Spring Security </a:t>
            </a:r>
            <a:r>
              <a:rPr lang="en-US" dirty="0" err="1"/>
              <a:t>vào</a:t>
            </a:r>
            <a:r>
              <a:rPr lang="en-US" dirty="0"/>
              <a:t> </a:t>
            </a:r>
            <a:r>
              <a:rPr lang="en-US" dirty="0" err="1"/>
              <a:t>ứng</a:t>
            </a:r>
            <a:r>
              <a:rPr lang="en-US" dirty="0"/>
              <a:t> </a:t>
            </a:r>
            <a:r>
              <a:rPr lang="en-US" dirty="0" err="1"/>
              <a:t>dụng</a:t>
            </a:r>
            <a:r>
              <a:rPr lang="en-US" dirty="0"/>
              <a:t>, </a:t>
            </a:r>
            <a:r>
              <a:rPr lang="en-US" dirty="0" err="1"/>
              <a:t>nó</a:t>
            </a:r>
            <a:r>
              <a:rPr lang="en-US" dirty="0"/>
              <a:t> </a:t>
            </a:r>
            <a:r>
              <a:rPr lang="en-US" dirty="0" err="1"/>
              <a:t>tự</a:t>
            </a:r>
            <a:r>
              <a:rPr lang="en-US" dirty="0"/>
              <a:t> </a:t>
            </a:r>
            <a:r>
              <a:rPr lang="en-US" dirty="0" err="1"/>
              <a:t>động</a:t>
            </a:r>
            <a:r>
              <a:rPr lang="en-US" dirty="0"/>
              <a:t> </a:t>
            </a:r>
            <a:r>
              <a:rPr lang="en-US" dirty="0" err="1"/>
              <a:t>thêm</a:t>
            </a:r>
            <a:r>
              <a:rPr lang="en-US" dirty="0"/>
              <a:t> </a:t>
            </a:r>
            <a:r>
              <a:rPr lang="en-US" dirty="0" err="1"/>
              <a:t>một</a:t>
            </a:r>
            <a:r>
              <a:rPr lang="en-US" dirty="0"/>
              <a:t> form </a:t>
            </a:r>
            <a:r>
              <a:rPr lang="en-US" dirty="0" err="1"/>
              <a:t>đăng</a:t>
            </a:r>
            <a:r>
              <a:rPr lang="en-US" dirty="0"/>
              <a:t> </a:t>
            </a:r>
            <a:r>
              <a:rPr lang="en-US" dirty="0" err="1"/>
              <a:t>nhập</a:t>
            </a:r>
            <a:r>
              <a:rPr lang="en-US" dirty="0"/>
              <a:t> </a:t>
            </a:r>
            <a:r>
              <a:rPr lang="en-US" dirty="0" err="1"/>
              <a:t>và</a:t>
            </a:r>
            <a:r>
              <a:rPr lang="en-US" dirty="0"/>
              <a:t> </a:t>
            </a:r>
            <a:r>
              <a:rPr lang="en-US" dirty="0" err="1"/>
              <a:t>tạo</a:t>
            </a:r>
            <a:r>
              <a:rPr lang="en-US" dirty="0"/>
              <a:t> user dummy.</a:t>
            </a:r>
          </a:p>
          <a:p>
            <a:r>
              <a:rPr lang="en-US" dirty="0"/>
              <a:t>Ở </a:t>
            </a:r>
            <a:r>
              <a:rPr lang="en-US" dirty="0" err="1"/>
              <a:t>chế</a:t>
            </a:r>
            <a:r>
              <a:rPr lang="en-US" dirty="0"/>
              <a:t> </a:t>
            </a:r>
            <a:r>
              <a:rPr lang="en-US" dirty="0" err="1"/>
              <a:t>độ</a:t>
            </a:r>
            <a:r>
              <a:rPr lang="en-US" dirty="0"/>
              <a:t> </a:t>
            </a:r>
            <a:r>
              <a:rPr lang="en-US" dirty="0" err="1"/>
              <a:t>tự</a:t>
            </a:r>
            <a:r>
              <a:rPr lang="en-US" dirty="0"/>
              <a:t> </a:t>
            </a:r>
            <a:r>
              <a:rPr lang="en-US" dirty="0" err="1"/>
              <a:t>động</a:t>
            </a:r>
            <a:r>
              <a:rPr lang="en-US" dirty="0"/>
              <a:t> </a:t>
            </a:r>
            <a:r>
              <a:rPr lang="en-US" dirty="0" err="1"/>
              <a:t>config</a:t>
            </a:r>
            <a:r>
              <a:rPr lang="en-US" dirty="0"/>
              <a:t> </a:t>
            </a:r>
            <a:r>
              <a:rPr lang="en-US" dirty="0" err="1"/>
              <a:t>nó</a:t>
            </a:r>
            <a:r>
              <a:rPr lang="en-US" dirty="0"/>
              <a:t> </a:t>
            </a:r>
            <a:r>
              <a:rPr lang="en-US" dirty="0" err="1"/>
              <a:t>tự</a:t>
            </a:r>
            <a:r>
              <a:rPr lang="en-US" dirty="0"/>
              <a:t> </a:t>
            </a:r>
            <a:r>
              <a:rPr lang="en-US" dirty="0" err="1"/>
              <a:t>động</a:t>
            </a:r>
            <a:r>
              <a:rPr lang="en-US" dirty="0"/>
              <a:t> </a:t>
            </a:r>
            <a:r>
              <a:rPr lang="en-US" dirty="0" err="1"/>
              <a:t>cài</a:t>
            </a:r>
            <a:r>
              <a:rPr lang="en-US" dirty="0"/>
              <a:t> </a:t>
            </a:r>
            <a:r>
              <a:rPr lang="en-US" dirty="0" err="1"/>
              <a:t>đặt</a:t>
            </a:r>
            <a:r>
              <a:rPr lang="en-US" dirty="0"/>
              <a:t> </a:t>
            </a:r>
            <a:r>
              <a:rPr lang="en-US" dirty="0" err="1"/>
              <a:t>các</a:t>
            </a:r>
            <a:r>
              <a:rPr lang="en-US" dirty="0"/>
              <a:t> filter </a:t>
            </a:r>
            <a:r>
              <a:rPr lang="en-US" dirty="0" err="1"/>
              <a:t>mặc</a:t>
            </a:r>
            <a:r>
              <a:rPr lang="en-US" dirty="0"/>
              <a:t> </a:t>
            </a:r>
            <a:r>
              <a:rPr lang="en-US" dirty="0" err="1"/>
              <a:t>định</a:t>
            </a:r>
            <a:r>
              <a:rPr lang="en-US" dirty="0"/>
              <a:t>, </a:t>
            </a:r>
            <a:r>
              <a:rPr lang="en-US" dirty="0" err="1"/>
              <a:t>các</a:t>
            </a:r>
            <a:r>
              <a:rPr lang="en-US" dirty="0"/>
              <a:t> </a:t>
            </a:r>
            <a:r>
              <a:rPr lang="en-US" dirty="0" err="1"/>
              <a:t>AuthenticationManager</a:t>
            </a:r>
            <a:r>
              <a:rPr lang="en-US" dirty="0"/>
              <a:t>, </a:t>
            </a:r>
            <a:r>
              <a:rPr lang="en-US" dirty="0" err="1"/>
              <a:t>AuthenticationProvider</a:t>
            </a:r>
            <a:r>
              <a:rPr lang="en-US" dirty="0"/>
              <a:t>, ...</a:t>
            </a:r>
          </a:p>
          <a:p>
            <a:r>
              <a:rPr lang="en-US" dirty="0" err="1"/>
              <a:t>Chúng</a:t>
            </a:r>
            <a:r>
              <a:rPr lang="en-US" dirty="0"/>
              <a:t> ta </a:t>
            </a:r>
            <a:r>
              <a:rPr lang="en-US" dirty="0" err="1"/>
              <a:t>có</a:t>
            </a:r>
            <a:r>
              <a:rPr lang="en-US" dirty="0"/>
              <a:t> </a:t>
            </a:r>
            <a:r>
              <a:rPr lang="en-US" dirty="0" err="1"/>
              <a:t>thể</a:t>
            </a:r>
            <a:r>
              <a:rPr lang="en-US" dirty="0"/>
              <a:t> </a:t>
            </a:r>
            <a:r>
              <a:rPr lang="en-US" dirty="0" err="1"/>
              <a:t>ghi</a:t>
            </a:r>
            <a:r>
              <a:rPr lang="en-US" dirty="0"/>
              <a:t> </a:t>
            </a:r>
            <a:r>
              <a:rPr lang="en-US" dirty="0" err="1"/>
              <a:t>đè</a:t>
            </a:r>
            <a:r>
              <a:rPr lang="en-US" dirty="0"/>
              <a:t> </a:t>
            </a:r>
            <a:r>
              <a:rPr lang="en-US" dirty="0" err="1"/>
              <a:t>config</a:t>
            </a:r>
            <a:r>
              <a:rPr lang="en-US" dirty="0"/>
              <a:t> </a:t>
            </a:r>
            <a:r>
              <a:rPr lang="en-US" dirty="0" err="1"/>
              <a:t>tự</a:t>
            </a:r>
            <a:r>
              <a:rPr lang="en-US" dirty="0"/>
              <a:t> </a:t>
            </a:r>
            <a:r>
              <a:rPr lang="en-US" dirty="0" err="1"/>
              <a:t>động</a:t>
            </a:r>
            <a:r>
              <a:rPr lang="en-US" dirty="0"/>
              <a:t> </a:t>
            </a:r>
            <a:r>
              <a:rPr lang="en-US" dirty="0" err="1"/>
              <a:t>này</a:t>
            </a:r>
            <a:r>
              <a:rPr lang="en-US" dirty="0"/>
              <a:t> </a:t>
            </a:r>
            <a:r>
              <a:rPr lang="en-US" dirty="0" err="1"/>
              <a:t>để</a:t>
            </a:r>
            <a:r>
              <a:rPr lang="en-US" dirty="0"/>
              <a:t> </a:t>
            </a:r>
            <a:r>
              <a:rPr lang="en-US" dirty="0" err="1"/>
              <a:t>thiết</a:t>
            </a:r>
            <a:r>
              <a:rPr lang="en-US" dirty="0"/>
              <a:t> </a:t>
            </a:r>
            <a:r>
              <a:rPr lang="en-US" dirty="0" err="1"/>
              <a:t>lập</a:t>
            </a:r>
            <a:r>
              <a:rPr lang="en-US" dirty="0"/>
              <a:t> </a:t>
            </a:r>
            <a:r>
              <a:rPr lang="en-US" dirty="0" err="1"/>
              <a:t>các</a:t>
            </a:r>
            <a:r>
              <a:rPr lang="en-US" dirty="0"/>
              <a:t> user </a:t>
            </a:r>
            <a:r>
              <a:rPr lang="en-US" dirty="0" err="1"/>
              <a:t>riêng</a:t>
            </a:r>
            <a:r>
              <a:rPr lang="en-US" dirty="0"/>
              <a:t> </a:t>
            </a:r>
            <a:r>
              <a:rPr lang="en-US" dirty="0" err="1"/>
              <a:t>và</a:t>
            </a:r>
            <a:r>
              <a:rPr lang="en-US" dirty="0"/>
              <a:t> </a:t>
            </a:r>
            <a:r>
              <a:rPr lang="en-US" dirty="0" err="1"/>
              <a:t>tùy</a:t>
            </a:r>
            <a:r>
              <a:rPr lang="en-US" dirty="0"/>
              <a:t> </a:t>
            </a:r>
            <a:r>
              <a:rPr lang="en-US" dirty="0" err="1"/>
              <a:t>chỉnh</a:t>
            </a:r>
            <a:r>
              <a:rPr lang="en-US" dirty="0"/>
              <a:t> </a:t>
            </a:r>
            <a:r>
              <a:rPr lang="en-US" dirty="0" err="1"/>
              <a:t>các</a:t>
            </a:r>
            <a:r>
              <a:rPr lang="en-US" dirty="0"/>
              <a:t> </a:t>
            </a:r>
            <a:r>
              <a:rPr lang="en-US" dirty="0" err="1"/>
              <a:t>xử</a:t>
            </a:r>
            <a:r>
              <a:rPr lang="en-US" dirty="0"/>
              <a:t> </a:t>
            </a:r>
            <a:r>
              <a:rPr lang="en-US" dirty="0" err="1"/>
              <a:t>lý</a:t>
            </a:r>
            <a:r>
              <a:rPr lang="en-US" dirty="0"/>
              <a:t> </a:t>
            </a:r>
            <a:r>
              <a:rPr lang="en-US" dirty="0" err="1"/>
              <a:t>xác</a:t>
            </a:r>
            <a:r>
              <a:rPr lang="en-US" dirty="0"/>
              <a:t> </a:t>
            </a:r>
            <a:r>
              <a:rPr lang="en-US" dirty="0" err="1"/>
              <a:t>thực</a:t>
            </a:r>
            <a:r>
              <a:rPr lang="en-US" dirty="0"/>
              <a:t>.</a:t>
            </a:r>
          </a:p>
          <a:p>
            <a:r>
              <a:rPr lang="en-US" dirty="0" err="1"/>
              <a:t>Đây</a:t>
            </a:r>
            <a:r>
              <a:rPr lang="en-US" dirty="0"/>
              <a:t> </a:t>
            </a:r>
            <a:r>
              <a:rPr lang="en-US" dirty="0" err="1"/>
              <a:t>là</a:t>
            </a:r>
            <a:r>
              <a:rPr lang="en-US" dirty="0"/>
              <a:t> </a:t>
            </a:r>
            <a:r>
              <a:rPr lang="en-US" dirty="0" err="1"/>
              <a:t>một</a:t>
            </a:r>
            <a:r>
              <a:rPr lang="en-US" dirty="0"/>
              <a:t> </a:t>
            </a:r>
            <a:r>
              <a:rPr lang="en-US" dirty="0" err="1"/>
              <a:t>thiết</a:t>
            </a:r>
            <a:r>
              <a:rPr lang="en-US" dirty="0"/>
              <a:t> </a:t>
            </a:r>
            <a:r>
              <a:rPr lang="en-US" dirty="0" err="1"/>
              <a:t>lập</a:t>
            </a:r>
            <a:r>
              <a:rPr lang="en-US" dirty="0"/>
              <a:t> </a:t>
            </a:r>
            <a:r>
              <a:rPr lang="en-US" dirty="0" err="1"/>
              <a:t>xác</a:t>
            </a:r>
            <a:r>
              <a:rPr lang="en-US" dirty="0"/>
              <a:t> </a:t>
            </a:r>
            <a:r>
              <a:rPr lang="en-US" dirty="0" err="1"/>
              <a:t>thực</a:t>
            </a:r>
            <a:r>
              <a:rPr lang="en-US" dirty="0"/>
              <a:t> </a:t>
            </a:r>
            <a:r>
              <a:rPr lang="en-US" dirty="0" err="1"/>
              <a:t>trong</a:t>
            </a:r>
            <a:r>
              <a:rPr lang="en-US" dirty="0"/>
              <a:t> </a:t>
            </a:r>
            <a:r>
              <a:rPr lang="en-US" dirty="0" err="1"/>
              <a:t>bộ</a:t>
            </a:r>
            <a:r>
              <a:rPr lang="en-US" dirty="0"/>
              <a:t> </a:t>
            </a:r>
            <a:r>
              <a:rPr lang="en-US" dirty="0" err="1"/>
              <a:t>nhớ</a:t>
            </a:r>
            <a:r>
              <a:rPr lang="en-US" dirty="0"/>
              <a:t>.</a:t>
            </a:r>
          </a:p>
          <a:p>
            <a:endParaRPr lang="en-US" dirty="0"/>
          </a:p>
        </p:txBody>
      </p:sp>
    </p:spTree>
    <p:extLst>
      <p:ext uri="{BB962C8B-B14F-4D97-AF65-F5344CB8AC3E}">
        <p14:creationId xmlns:p14="http://schemas.microsoft.com/office/powerpoint/2010/main" val="16039412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a:t>Login with a database</a:t>
            </a:r>
          </a:p>
        </p:txBody>
      </p:sp>
      <p:sp>
        <p:nvSpPr>
          <p:cNvPr id="3" name="コンテンツ プレースホルダー 2"/>
          <p:cNvSpPr>
            <a:spLocks noGrp="1"/>
          </p:cNvSpPr>
          <p:nvPr>
            <p:ph idx="1"/>
          </p:nvPr>
        </p:nvSpPr>
        <p:spPr/>
        <p:txBody>
          <a:bodyPr/>
          <a:lstStyle/>
          <a:p>
            <a:r>
              <a:rPr lang="en-US" dirty="0"/>
              <a:t>Ở </a:t>
            </a:r>
            <a:r>
              <a:rPr lang="en-US" dirty="0" err="1"/>
              <a:t>mục</a:t>
            </a:r>
            <a:r>
              <a:rPr lang="en-US" dirty="0"/>
              <a:t> </a:t>
            </a:r>
            <a:r>
              <a:rPr lang="en-US" dirty="0" err="1"/>
              <a:t>trên</a:t>
            </a:r>
            <a:r>
              <a:rPr lang="en-US" dirty="0"/>
              <a:t>, Spring Security </a:t>
            </a:r>
            <a:r>
              <a:rPr lang="en-US" dirty="0" err="1"/>
              <a:t>mặc</a:t>
            </a:r>
            <a:r>
              <a:rPr lang="en-US" dirty="0"/>
              <a:t> </a:t>
            </a:r>
            <a:r>
              <a:rPr lang="en-US" dirty="0" err="1"/>
              <a:t>định</a:t>
            </a:r>
            <a:r>
              <a:rPr lang="en-US" dirty="0"/>
              <a:t> </a:t>
            </a:r>
            <a:r>
              <a:rPr lang="en-US" dirty="0" err="1"/>
              <a:t>cung</a:t>
            </a:r>
            <a:r>
              <a:rPr lang="en-US" dirty="0"/>
              <a:t> </a:t>
            </a:r>
            <a:r>
              <a:rPr lang="en-US" dirty="0" err="1"/>
              <a:t>cấp</a:t>
            </a:r>
            <a:r>
              <a:rPr lang="en-US" dirty="0"/>
              <a:t> </a:t>
            </a:r>
            <a:r>
              <a:rPr lang="en-US" dirty="0" err="1"/>
              <a:t>một</a:t>
            </a:r>
            <a:r>
              <a:rPr lang="en-US" dirty="0"/>
              <a:t> </a:t>
            </a:r>
            <a:r>
              <a:rPr lang="en-US" dirty="0" err="1"/>
              <a:t>triển</a:t>
            </a:r>
            <a:r>
              <a:rPr lang="en-US" dirty="0"/>
              <a:t> </a:t>
            </a:r>
            <a:r>
              <a:rPr lang="en-US" dirty="0" err="1"/>
              <a:t>khai</a:t>
            </a:r>
            <a:r>
              <a:rPr lang="en-US" dirty="0"/>
              <a:t> </a:t>
            </a:r>
            <a:r>
              <a:rPr lang="en-US" dirty="0" err="1"/>
              <a:t>xác</a:t>
            </a:r>
            <a:r>
              <a:rPr lang="en-US" dirty="0"/>
              <a:t> </a:t>
            </a:r>
            <a:r>
              <a:rPr lang="en-US" dirty="0" err="1"/>
              <a:t>thực</a:t>
            </a:r>
            <a:r>
              <a:rPr lang="en-US" dirty="0"/>
              <a:t> </a:t>
            </a:r>
            <a:r>
              <a:rPr lang="en-US" dirty="0" err="1"/>
              <a:t>trong</a:t>
            </a:r>
            <a:r>
              <a:rPr lang="en-US" dirty="0"/>
              <a:t> </a:t>
            </a:r>
            <a:r>
              <a:rPr lang="en-US" dirty="0" err="1"/>
              <a:t>bộ</a:t>
            </a:r>
            <a:r>
              <a:rPr lang="en-US" dirty="0"/>
              <a:t> </a:t>
            </a:r>
            <a:r>
              <a:rPr lang="en-US" dirty="0" err="1"/>
              <a:t>nhớ</a:t>
            </a:r>
            <a:r>
              <a:rPr lang="en-US" dirty="0"/>
              <a:t>.</a:t>
            </a:r>
          </a:p>
          <a:p>
            <a:r>
              <a:rPr lang="en-US" dirty="0" err="1"/>
              <a:t>Chúng</a:t>
            </a:r>
            <a:r>
              <a:rPr lang="en-US" dirty="0"/>
              <a:t> ta </a:t>
            </a:r>
            <a:r>
              <a:rPr lang="en-US" dirty="0" err="1"/>
              <a:t>có</a:t>
            </a:r>
            <a:r>
              <a:rPr lang="en-US" dirty="0"/>
              <a:t> </a:t>
            </a:r>
            <a:r>
              <a:rPr lang="en-US" dirty="0" err="1"/>
              <a:t>thể</a:t>
            </a:r>
            <a:r>
              <a:rPr lang="en-US" dirty="0"/>
              <a:t> </a:t>
            </a:r>
            <a:r>
              <a:rPr lang="en-US" dirty="0" err="1"/>
              <a:t>ghi</a:t>
            </a:r>
            <a:r>
              <a:rPr lang="en-US" dirty="0"/>
              <a:t> </a:t>
            </a:r>
            <a:r>
              <a:rPr lang="en-US" dirty="0" err="1"/>
              <a:t>đè</a:t>
            </a:r>
            <a:r>
              <a:rPr lang="en-US" dirty="0"/>
              <a:t> </a:t>
            </a:r>
            <a:r>
              <a:rPr lang="en-US" dirty="0" err="1"/>
              <a:t>điều</a:t>
            </a:r>
            <a:r>
              <a:rPr lang="en-US" dirty="0"/>
              <a:t> </a:t>
            </a:r>
            <a:r>
              <a:rPr lang="en-US" dirty="0" err="1"/>
              <a:t>này</a:t>
            </a:r>
            <a:r>
              <a:rPr lang="en-US" dirty="0"/>
              <a:t> </a:t>
            </a:r>
            <a:r>
              <a:rPr lang="en-US" dirty="0" err="1"/>
              <a:t>bằng</a:t>
            </a:r>
            <a:r>
              <a:rPr lang="en-US" dirty="0"/>
              <a:t> </a:t>
            </a:r>
            <a:r>
              <a:rPr lang="en-US" dirty="0" err="1"/>
              <a:t>cách</a:t>
            </a:r>
            <a:r>
              <a:rPr lang="en-US" dirty="0"/>
              <a:t> </a:t>
            </a:r>
            <a:r>
              <a:rPr lang="en-US" dirty="0" err="1"/>
              <a:t>xác</a:t>
            </a:r>
            <a:r>
              <a:rPr lang="en-US" dirty="0"/>
              <a:t> </a:t>
            </a:r>
            <a:r>
              <a:rPr lang="en-US" dirty="0" err="1"/>
              <a:t>thực</a:t>
            </a:r>
            <a:r>
              <a:rPr lang="en-US" dirty="0"/>
              <a:t> user </a:t>
            </a:r>
            <a:r>
              <a:rPr lang="en-US" dirty="0" err="1"/>
              <a:t>mà</a:t>
            </a:r>
            <a:r>
              <a:rPr lang="en-US" dirty="0"/>
              <a:t> </a:t>
            </a:r>
            <a:r>
              <a:rPr lang="en-US" dirty="0" err="1"/>
              <a:t>có</a:t>
            </a:r>
            <a:r>
              <a:rPr lang="en-US" dirty="0"/>
              <a:t> </a:t>
            </a:r>
            <a:r>
              <a:rPr lang="en-US" dirty="0" err="1"/>
              <a:t>thông</a:t>
            </a:r>
            <a:r>
              <a:rPr lang="en-US" dirty="0"/>
              <a:t> tin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database.</a:t>
            </a:r>
          </a:p>
          <a:p>
            <a:r>
              <a:rPr lang="en-US" dirty="0" err="1"/>
              <a:t>Điều</a:t>
            </a:r>
            <a:r>
              <a:rPr lang="en-US" dirty="0"/>
              <a:t> </a:t>
            </a:r>
            <a:r>
              <a:rPr lang="en-US" dirty="0" err="1"/>
              <a:t>này</a:t>
            </a:r>
            <a:r>
              <a:rPr lang="en-US" dirty="0"/>
              <a:t> </a:t>
            </a:r>
            <a:r>
              <a:rPr lang="en-US" dirty="0" err="1"/>
              <a:t>cho</a:t>
            </a:r>
            <a:r>
              <a:rPr lang="en-US" dirty="0"/>
              <a:t> </a:t>
            </a:r>
            <a:r>
              <a:rPr lang="en-US" dirty="0" err="1"/>
              <a:t>phép</a:t>
            </a:r>
            <a:r>
              <a:rPr lang="en-US" dirty="0"/>
              <a:t> </a:t>
            </a:r>
            <a:r>
              <a:rPr lang="en-US" dirty="0" err="1"/>
              <a:t>các</a:t>
            </a:r>
            <a:r>
              <a:rPr lang="en-US" dirty="0"/>
              <a:t> user </a:t>
            </a:r>
            <a:r>
              <a:rPr lang="en-US" dirty="0" err="1"/>
              <a:t>có</a:t>
            </a:r>
            <a:r>
              <a:rPr lang="en-US" dirty="0"/>
              <a:t> </a:t>
            </a:r>
            <a:r>
              <a:rPr lang="en-US" dirty="0" err="1"/>
              <a:t>thể</a:t>
            </a:r>
            <a:r>
              <a:rPr lang="en-US" dirty="0"/>
              <a:t> </a:t>
            </a:r>
            <a:r>
              <a:rPr lang="en-US" dirty="0" err="1"/>
              <a:t>đăng</a:t>
            </a:r>
            <a:r>
              <a:rPr lang="en-US" dirty="0"/>
              <a:t> </a:t>
            </a:r>
            <a:r>
              <a:rPr lang="en-US" dirty="0" err="1"/>
              <a:t>ký</a:t>
            </a:r>
            <a:r>
              <a:rPr lang="en-US" dirty="0"/>
              <a:t>, </a:t>
            </a:r>
            <a:r>
              <a:rPr lang="en-US" dirty="0" err="1"/>
              <a:t>thay</a:t>
            </a:r>
            <a:r>
              <a:rPr lang="en-US" dirty="0"/>
              <a:t> </a:t>
            </a:r>
            <a:r>
              <a:rPr lang="en-US" dirty="0" err="1"/>
              <a:t>đổi</a:t>
            </a:r>
            <a:r>
              <a:rPr lang="en-US" dirty="0"/>
              <a:t> </a:t>
            </a:r>
            <a:r>
              <a:rPr lang="en-US" dirty="0" err="1"/>
              <a:t>và</a:t>
            </a:r>
            <a:r>
              <a:rPr lang="en-US" dirty="0"/>
              <a:t> update </a:t>
            </a:r>
            <a:r>
              <a:rPr lang="en-US" dirty="0" err="1"/>
              <a:t>mật</a:t>
            </a:r>
            <a:r>
              <a:rPr lang="en-US" dirty="0"/>
              <a:t> </a:t>
            </a:r>
            <a:r>
              <a:rPr lang="en-US" dirty="0" err="1"/>
              <a:t>khẩu</a:t>
            </a:r>
            <a:r>
              <a:rPr lang="en-US" dirty="0"/>
              <a:t>, </a:t>
            </a:r>
            <a:r>
              <a:rPr lang="en-US" dirty="0" err="1"/>
              <a:t>quyền</a:t>
            </a:r>
            <a:r>
              <a:rPr lang="en-US" dirty="0"/>
              <a:t> </a:t>
            </a:r>
            <a:r>
              <a:rPr lang="en-US" dirty="0" err="1"/>
              <a:t>hạn</a:t>
            </a:r>
            <a:r>
              <a:rPr lang="en-US" dirty="0"/>
              <a:t> </a:t>
            </a:r>
            <a:r>
              <a:rPr lang="en-US" dirty="0" err="1"/>
              <a:t>trong</a:t>
            </a:r>
            <a:r>
              <a:rPr lang="en-US" dirty="0"/>
              <a:t> database.</a:t>
            </a:r>
          </a:p>
          <a:p>
            <a:endParaRPr lang="en-US" dirty="0"/>
          </a:p>
        </p:txBody>
      </p:sp>
    </p:spTree>
    <p:extLst>
      <p:ext uri="{BB962C8B-B14F-4D97-AF65-F5344CB8AC3E}">
        <p14:creationId xmlns:p14="http://schemas.microsoft.com/office/powerpoint/2010/main" val="1829284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a:t>Login attempts limit</a:t>
            </a:r>
          </a:p>
        </p:txBody>
      </p:sp>
      <p:sp>
        <p:nvSpPr>
          <p:cNvPr id="3" name="コンテンツ プレースホルダー 2"/>
          <p:cNvSpPr>
            <a:spLocks noGrp="1"/>
          </p:cNvSpPr>
          <p:nvPr>
            <p:ph idx="1"/>
          </p:nvPr>
        </p:nvSpPr>
        <p:spPr/>
        <p:txBody>
          <a:bodyPr>
            <a:normAutofit/>
          </a:bodyPr>
          <a:lstStyle/>
          <a:p>
            <a:r>
              <a:rPr lang="en-US" dirty="0" err="1"/>
              <a:t>Để</a:t>
            </a:r>
            <a:r>
              <a:rPr lang="en-US" dirty="0"/>
              <a:t> </a:t>
            </a:r>
            <a:r>
              <a:rPr lang="en-US" dirty="0" err="1"/>
              <a:t>giới</a:t>
            </a:r>
            <a:r>
              <a:rPr lang="en-US" dirty="0"/>
              <a:t> </a:t>
            </a:r>
            <a:r>
              <a:rPr lang="en-US" dirty="0" err="1"/>
              <a:t>hạn</a:t>
            </a:r>
            <a:r>
              <a:rPr lang="en-US" dirty="0"/>
              <a:t> </a:t>
            </a:r>
            <a:r>
              <a:rPr lang="en-US" dirty="0" err="1"/>
              <a:t>việc</a:t>
            </a:r>
            <a:r>
              <a:rPr lang="en-US" dirty="0"/>
              <a:t> </a:t>
            </a:r>
            <a:r>
              <a:rPr lang="en-US" dirty="0" err="1"/>
              <a:t>cố</a:t>
            </a:r>
            <a:r>
              <a:rPr lang="en-US" dirty="0"/>
              <a:t> </a:t>
            </a:r>
            <a:r>
              <a:rPr lang="en-US" dirty="0" err="1"/>
              <a:t>gắng</a:t>
            </a:r>
            <a:r>
              <a:rPr lang="en-US" dirty="0"/>
              <a:t> </a:t>
            </a:r>
            <a:r>
              <a:rPr lang="en-US" dirty="0" err="1"/>
              <a:t>đăng</a:t>
            </a:r>
            <a:r>
              <a:rPr lang="en-US" dirty="0"/>
              <a:t> </a:t>
            </a:r>
            <a:r>
              <a:rPr lang="en-US" dirty="0" err="1"/>
              <a:t>nhập</a:t>
            </a:r>
            <a:r>
              <a:rPr lang="en-US" dirty="0"/>
              <a:t> </a:t>
            </a:r>
            <a:r>
              <a:rPr lang="en-US" dirty="0" err="1"/>
              <a:t>vào</a:t>
            </a:r>
            <a:r>
              <a:rPr lang="en-US" dirty="0"/>
              <a:t> </a:t>
            </a:r>
            <a:r>
              <a:rPr lang="en-US" dirty="0" err="1"/>
              <a:t>ứng</a:t>
            </a:r>
            <a:r>
              <a:rPr lang="en-US" dirty="0"/>
              <a:t> </a:t>
            </a:r>
            <a:r>
              <a:rPr lang="en-US" dirty="0" err="1"/>
              <a:t>dụng</a:t>
            </a:r>
            <a:r>
              <a:rPr lang="en-US" dirty="0"/>
              <a:t>, ở Spring </a:t>
            </a:r>
            <a:r>
              <a:rPr lang="en-US" dirty="0" err="1"/>
              <a:t>Securiry</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thuộc</a:t>
            </a:r>
            <a:r>
              <a:rPr lang="en-US" dirty="0"/>
              <a:t> </a:t>
            </a:r>
            <a:r>
              <a:rPr lang="en-US" dirty="0" err="1"/>
              <a:t>tính</a:t>
            </a:r>
            <a:r>
              <a:rPr lang="en-US" dirty="0"/>
              <a:t> </a:t>
            </a:r>
            <a:r>
              <a:rPr lang="en-US" dirty="0" err="1"/>
              <a:t>isAccountNonLocked</a:t>
            </a:r>
            <a:r>
              <a:rPr lang="en-US" dirty="0"/>
              <a:t>.</a:t>
            </a:r>
          </a:p>
          <a:p>
            <a:r>
              <a:rPr lang="en-US" dirty="0" err="1"/>
              <a:t>Chúng</a:t>
            </a:r>
            <a:r>
              <a:rPr lang="en-US" dirty="0"/>
              <a:t> ta </a:t>
            </a:r>
            <a:r>
              <a:rPr lang="en-US" dirty="0" err="1"/>
              <a:t>có</a:t>
            </a:r>
            <a:r>
              <a:rPr lang="en-US" dirty="0"/>
              <a:t> </a:t>
            </a:r>
            <a:r>
              <a:rPr lang="en-US" dirty="0" err="1"/>
              <a:t>thể</a:t>
            </a:r>
            <a:r>
              <a:rPr lang="en-US" dirty="0"/>
              <a:t> </a:t>
            </a:r>
            <a:r>
              <a:rPr lang="en-US" dirty="0" err="1"/>
              <a:t>thiết</a:t>
            </a:r>
            <a:r>
              <a:rPr lang="en-US" dirty="0"/>
              <a:t> </a:t>
            </a:r>
            <a:r>
              <a:rPr lang="en-US" dirty="0" err="1"/>
              <a:t>lập</a:t>
            </a:r>
            <a:r>
              <a:rPr lang="en-US" dirty="0"/>
              <a:t> </a:t>
            </a:r>
            <a:r>
              <a:rPr lang="en-US" dirty="0" err="1"/>
              <a:t>một</a:t>
            </a:r>
            <a:r>
              <a:rPr lang="en-US" dirty="0"/>
              <a:t> </a:t>
            </a:r>
            <a:r>
              <a:rPr lang="en-US" dirty="0" err="1"/>
              <a:t>xác</a:t>
            </a:r>
            <a:r>
              <a:rPr lang="en-US" dirty="0"/>
              <a:t> </a:t>
            </a:r>
            <a:r>
              <a:rPr lang="en-US" dirty="0" err="1"/>
              <a:t>thực</a:t>
            </a:r>
            <a:r>
              <a:rPr lang="en-US" dirty="0"/>
              <a:t>, </a:t>
            </a:r>
            <a:r>
              <a:rPr lang="en-US" dirty="0" err="1"/>
              <a:t>mà</a:t>
            </a:r>
            <a:r>
              <a:rPr lang="en-US" dirty="0"/>
              <a:t> </a:t>
            </a:r>
            <a:r>
              <a:rPr lang="en-US" dirty="0" err="1"/>
              <a:t>trong</a:t>
            </a:r>
            <a:r>
              <a:rPr lang="en-US" dirty="0"/>
              <a:t> </a:t>
            </a:r>
            <a:r>
              <a:rPr lang="en-US" dirty="0" err="1"/>
              <a:t>đó</a:t>
            </a:r>
            <a:r>
              <a:rPr lang="en-US" dirty="0"/>
              <a:t>, </a:t>
            </a:r>
            <a:r>
              <a:rPr lang="en-US" dirty="0" err="1"/>
              <a:t>người</a:t>
            </a:r>
            <a:r>
              <a:rPr lang="en-US" dirty="0"/>
              <a:t> </a:t>
            </a:r>
            <a:r>
              <a:rPr lang="en-US" dirty="0" err="1"/>
              <a:t>dùng</a:t>
            </a:r>
            <a:r>
              <a:rPr lang="en-US" dirty="0"/>
              <a:t> </a:t>
            </a:r>
            <a:r>
              <a:rPr lang="en-US" dirty="0" err="1"/>
              <a:t>cung</a:t>
            </a:r>
            <a:r>
              <a:rPr lang="en-US" dirty="0"/>
              <a:t> </a:t>
            </a:r>
            <a:r>
              <a:rPr lang="en-US" dirty="0" err="1"/>
              <a:t>cấp</a:t>
            </a:r>
            <a:r>
              <a:rPr lang="en-US" dirty="0"/>
              <a:t> </a:t>
            </a:r>
            <a:r>
              <a:rPr lang="en-US" dirty="0" err="1"/>
              <a:t>thông</a:t>
            </a:r>
            <a:r>
              <a:rPr lang="en-US" dirty="0"/>
              <a:t> tin </a:t>
            </a:r>
            <a:r>
              <a:rPr lang="en-US" dirty="0" err="1"/>
              <a:t>đăng</a:t>
            </a:r>
            <a:r>
              <a:rPr lang="en-US" dirty="0"/>
              <a:t> </a:t>
            </a:r>
            <a:r>
              <a:rPr lang="en-US" dirty="0" err="1"/>
              <a:t>nhập</a:t>
            </a:r>
            <a:r>
              <a:rPr lang="en-US" dirty="0"/>
              <a:t> </a:t>
            </a:r>
            <a:r>
              <a:rPr lang="en-US" dirty="0" err="1"/>
              <a:t>không</a:t>
            </a:r>
            <a:r>
              <a:rPr lang="en-US" dirty="0"/>
              <a:t> </a:t>
            </a:r>
            <a:r>
              <a:rPr lang="en-US" dirty="0" err="1"/>
              <a:t>đúng</a:t>
            </a:r>
            <a:r>
              <a:rPr lang="en-US" dirty="0"/>
              <a:t> </a:t>
            </a:r>
            <a:r>
              <a:rPr lang="en-US" dirty="0" err="1"/>
              <a:t>trong</a:t>
            </a:r>
            <a:r>
              <a:rPr lang="en-US" dirty="0"/>
              <a:t> </a:t>
            </a:r>
            <a:r>
              <a:rPr lang="en-US" dirty="0" err="1"/>
              <a:t>một</a:t>
            </a:r>
            <a:r>
              <a:rPr lang="en-US" dirty="0"/>
              <a:t> </a:t>
            </a:r>
            <a:r>
              <a:rPr lang="en-US" dirty="0" err="1"/>
              <a:t>số</a:t>
            </a:r>
            <a:r>
              <a:rPr lang="en-US" dirty="0"/>
              <a:t> </a:t>
            </a:r>
            <a:r>
              <a:rPr lang="en-US" dirty="0" err="1"/>
              <a:t>lần</a:t>
            </a:r>
            <a:r>
              <a:rPr lang="en-US" dirty="0"/>
              <a:t> </a:t>
            </a:r>
            <a:r>
              <a:rPr lang="en-US" dirty="0" err="1"/>
              <a:t>nhất</a:t>
            </a:r>
            <a:r>
              <a:rPr lang="en-US" dirty="0"/>
              <a:t> </a:t>
            </a:r>
            <a:r>
              <a:rPr lang="en-US" dirty="0" err="1"/>
              <a:t>định</a:t>
            </a:r>
            <a:r>
              <a:rPr lang="en-US" dirty="0"/>
              <a:t>, </a:t>
            </a:r>
            <a:r>
              <a:rPr lang="en-US" dirty="0" err="1"/>
              <a:t>tài</a:t>
            </a:r>
            <a:r>
              <a:rPr lang="en-US" dirty="0"/>
              <a:t> </a:t>
            </a:r>
            <a:r>
              <a:rPr lang="en-US" dirty="0" err="1"/>
              <a:t>khoản</a:t>
            </a:r>
            <a:r>
              <a:rPr lang="en-US" dirty="0"/>
              <a:t> </a:t>
            </a:r>
            <a:r>
              <a:rPr lang="en-US" dirty="0" err="1"/>
              <a:t>của</a:t>
            </a:r>
            <a:r>
              <a:rPr lang="en-US" dirty="0"/>
              <a:t> </a:t>
            </a:r>
            <a:r>
              <a:rPr lang="en-US" dirty="0" err="1"/>
              <a:t>họ</a:t>
            </a:r>
            <a:r>
              <a:rPr lang="en-US" dirty="0"/>
              <a:t> </a:t>
            </a:r>
            <a:r>
              <a:rPr lang="en-US" dirty="0" err="1"/>
              <a:t>sẽ</a:t>
            </a:r>
            <a:r>
              <a:rPr lang="en-US" dirty="0"/>
              <a:t> </a:t>
            </a:r>
            <a:r>
              <a:rPr lang="en-US" dirty="0" err="1"/>
              <a:t>bị</a:t>
            </a:r>
            <a:r>
              <a:rPr lang="en-US" dirty="0"/>
              <a:t> </a:t>
            </a:r>
            <a:r>
              <a:rPr lang="en-US" dirty="0" err="1"/>
              <a:t>khóa</a:t>
            </a:r>
            <a:r>
              <a:rPr lang="en-US" dirty="0"/>
              <a:t>.</a:t>
            </a:r>
          </a:p>
          <a:p>
            <a:r>
              <a:rPr lang="en-US" dirty="0" err="1"/>
              <a:t>Số</a:t>
            </a:r>
            <a:r>
              <a:rPr lang="en-US" dirty="0"/>
              <a:t> </a:t>
            </a:r>
            <a:r>
              <a:rPr lang="en-US" dirty="0" err="1"/>
              <a:t>lần</a:t>
            </a:r>
            <a:r>
              <a:rPr lang="en-US" dirty="0"/>
              <a:t> </a:t>
            </a:r>
            <a:r>
              <a:rPr lang="en-US" dirty="0" err="1"/>
              <a:t>đăng</a:t>
            </a:r>
            <a:r>
              <a:rPr lang="en-US" dirty="0"/>
              <a:t> </a:t>
            </a:r>
            <a:r>
              <a:rPr lang="en-US" dirty="0" err="1"/>
              <a:t>nhập</a:t>
            </a:r>
            <a:r>
              <a:rPr lang="en-US" dirty="0"/>
              <a:t> </a:t>
            </a:r>
            <a:r>
              <a:rPr lang="en-US" dirty="0" err="1"/>
              <a:t>không</a:t>
            </a:r>
            <a:r>
              <a:rPr lang="en-US" dirty="0"/>
              <a:t> </a:t>
            </a:r>
            <a:r>
              <a:rPr lang="en-US" dirty="0" err="1"/>
              <a:t>đúng</a:t>
            </a:r>
            <a:r>
              <a:rPr lang="en-US" dirty="0"/>
              <a:t>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database, </a:t>
            </a:r>
            <a:r>
              <a:rPr lang="en-US" dirty="0" err="1"/>
              <a:t>mỗi</a:t>
            </a:r>
            <a:r>
              <a:rPr lang="en-US" dirty="0"/>
              <a:t> </a:t>
            </a:r>
            <a:r>
              <a:rPr lang="en-US" dirty="0" err="1"/>
              <a:t>lần</a:t>
            </a:r>
            <a:r>
              <a:rPr lang="en-US" dirty="0"/>
              <a:t> </a:t>
            </a:r>
            <a:r>
              <a:rPr lang="en-US" dirty="0" err="1"/>
              <a:t>đăng</a:t>
            </a:r>
            <a:r>
              <a:rPr lang="en-US" dirty="0"/>
              <a:t> </a:t>
            </a:r>
            <a:r>
              <a:rPr lang="en-US" dirty="0" err="1"/>
              <a:t>nhập</a:t>
            </a:r>
            <a:r>
              <a:rPr lang="en-US" dirty="0"/>
              <a:t> </a:t>
            </a:r>
            <a:r>
              <a:rPr lang="en-US" dirty="0" err="1"/>
              <a:t>không</a:t>
            </a:r>
            <a:r>
              <a:rPr lang="en-US" dirty="0"/>
              <a:t> </a:t>
            </a:r>
            <a:r>
              <a:rPr lang="en-US" dirty="0" err="1"/>
              <a:t>đúng</a:t>
            </a:r>
            <a:r>
              <a:rPr lang="en-US" dirty="0"/>
              <a:t> </a:t>
            </a:r>
            <a:r>
              <a:rPr lang="en-US" dirty="0" err="1"/>
              <a:t>số</a:t>
            </a:r>
            <a:r>
              <a:rPr lang="en-US" dirty="0"/>
              <a:t> </a:t>
            </a:r>
            <a:r>
              <a:rPr lang="en-US" dirty="0" err="1"/>
              <a:t>lần</a:t>
            </a:r>
            <a:r>
              <a:rPr lang="en-US" dirty="0"/>
              <a:t> </a:t>
            </a:r>
            <a:r>
              <a:rPr lang="en-US" dirty="0" err="1"/>
              <a:t>đăng</a:t>
            </a:r>
            <a:r>
              <a:rPr lang="en-US" dirty="0"/>
              <a:t> </a:t>
            </a:r>
            <a:r>
              <a:rPr lang="en-US" dirty="0" err="1"/>
              <a:t>nhập</a:t>
            </a:r>
            <a:r>
              <a:rPr lang="en-US" dirty="0"/>
              <a:t> </a:t>
            </a:r>
            <a:r>
              <a:rPr lang="en-US" dirty="0" err="1"/>
              <a:t>sẽ</a:t>
            </a:r>
            <a:r>
              <a:rPr lang="en-US" dirty="0"/>
              <a:t> </a:t>
            </a:r>
            <a:r>
              <a:rPr lang="en-US" dirty="0" err="1"/>
              <a:t>được</a:t>
            </a:r>
            <a:r>
              <a:rPr lang="en-US" dirty="0"/>
              <a:t> </a:t>
            </a:r>
            <a:r>
              <a:rPr lang="en-US" dirty="0" err="1"/>
              <a:t>tăng</a:t>
            </a:r>
            <a:r>
              <a:rPr lang="en-US" dirty="0"/>
              <a:t> </a:t>
            </a:r>
            <a:r>
              <a:rPr lang="en-US" dirty="0" err="1"/>
              <a:t>lên</a:t>
            </a:r>
            <a:r>
              <a:rPr lang="en-US" dirty="0"/>
              <a:t> </a:t>
            </a:r>
            <a:r>
              <a:rPr lang="en-US" dirty="0" err="1"/>
              <a:t>và</a:t>
            </a:r>
            <a:r>
              <a:rPr lang="en-US" dirty="0"/>
              <a:t> </a:t>
            </a:r>
            <a:r>
              <a:rPr lang="en-US" dirty="0" err="1"/>
              <a:t>kiểm</a:t>
            </a:r>
            <a:r>
              <a:rPr lang="en-US" dirty="0"/>
              <a:t> </a:t>
            </a:r>
            <a:r>
              <a:rPr lang="en-US" dirty="0" err="1"/>
              <a:t>tra</a:t>
            </a:r>
            <a:r>
              <a:rPr lang="en-US" dirty="0"/>
              <a:t> </a:t>
            </a:r>
            <a:r>
              <a:rPr lang="en-US" dirty="0" err="1"/>
              <a:t>nếu</a:t>
            </a:r>
            <a:r>
              <a:rPr lang="en-US" dirty="0"/>
              <a:t> </a:t>
            </a:r>
            <a:r>
              <a:rPr lang="en-US" dirty="0" err="1"/>
              <a:t>vượt</a:t>
            </a:r>
            <a:r>
              <a:rPr lang="en-US" dirty="0"/>
              <a:t> </a:t>
            </a:r>
            <a:r>
              <a:rPr lang="en-US" dirty="0" err="1"/>
              <a:t>quá</a:t>
            </a:r>
            <a:r>
              <a:rPr lang="en-US" dirty="0"/>
              <a:t> </a:t>
            </a:r>
            <a:r>
              <a:rPr lang="en-US" dirty="0" err="1"/>
              <a:t>giá</a:t>
            </a:r>
            <a:r>
              <a:rPr lang="en-US" dirty="0"/>
              <a:t> </a:t>
            </a:r>
            <a:r>
              <a:rPr lang="en-US" dirty="0" err="1"/>
              <a:t>trị</a:t>
            </a:r>
            <a:r>
              <a:rPr lang="en-US" dirty="0"/>
              <a:t> </a:t>
            </a:r>
            <a:r>
              <a:rPr lang="en-US" dirty="0" err="1"/>
              <a:t>giới</a:t>
            </a:r>
            <a:r>
              <a:rPr lang="en-US" dirty="0"/>
              <a:t> </a:t>
            </a:r>
            <a:r>
              <a:rPr lang="en-US" dirty="0" err="1"/>
              <a:t>hạn</a:t>
            </a:r>
            <a:r>
              <a:rPr lang="en-US" dirty="0"/>
              <a:t>, </a:t>
            </a:r>
            <a:r>
              <a:rPr lang="en-US" dirty="0" err="1"/>
              <a:t>tài</a:t>
            </a:r>
            <a:r>
              <a:rPr lang="en-US" dirty="0"/>
              <a:t> </a:t>
            </a:r>
            <a:r>
              <a:rPr lang="en-US" dirty="0" err="1"/>
              <a:t>khoản</a:t>
            </a:r>
            <a:r>
              <a:rPr lang="en-US" dirty="0"/>
              <a:t> </a:t>
            </a:r>
            <a:r>
              <a:rPr lang="en-US" dirty="0" err="1"/>
              <a:t>đó</a:t>
            </a:r>
            <a:r>
              <a:rPr lang="en-US" dirty="0"/>
              <a:t> </a:t>
            </a:r>
            <a:r>
              <a:rPr lang="en-US" dirty="0" err="1"/>
              <a:t>sẽ</a:t>
            </a:r>
            <a:r>
              <a:rPr lang="en-US" dirty="0"/>
              <a:t> </a:t>
            </a:r>
            <a:r>
              <a:rPr lang="en-US" dirty="0" err="1"/>
              <a:t>bị</a:t>
            </a:r>
            <a:r>
              <a:rPr lang="en-US" dirty="0"/>
              <a:t> </a:t>
            </a:r>
            <a:r>
              <a:rPr lang="en-US" dirty="0" err="1"/>
              <a:t>khóa</a:t>
            </a:r>
            <a:r>
              <a:rPr lang="en-US" dirty="0"/>
              <a:t>.</a:t>
            </a:r>
          </a:p>
          <a:p>
            <a:r>
              <a:rPr lang="en-US" dirty="0"/>
              <a:t>Spring Security </a:t>
            </a:r>
            <a:r>
              <a:rPr lang="en-US" dirty="0" err="1"/>
              <a:t>vô</a:t>
            </a:r>
            <a:r>
              <a:rPr lang="en-US" dirty="0"/>
              <a:t> </a:t>
            </a:r>
            <a:r>
              <a:rPr lang="en-US" dirty="0" err="1"/>
              <a:t>hiệu</a:t>
            </a:r>
            <a:r>
              <a:rPr lang="en-US" dirty="0"/>
              <a:t> </a:t>
            </a:r>
            <a:r>
              <a:rPr lang="en-US" dirty="0" err="1"/>
              <a:t>hóa</a:t>
            </a:r>
            <a:r>
              <a:rPr lang="en-US" dirty="0"/>
              <a:t> </a:t>
            </a:r>
            <a:r>
              <a:rPr lang="en-US" dirty="0" err="1"/>
              <a:t>việc</a:t>
            </a:r>
            <a:r>
              <a:rPr lang="en-US" dirty="0"/>
              <a:t> </a:t>
            </a:r>
            <a:r>
              <a:rPr lang="en-US" dirty="0" err="1"/>
              <a:t>xác</a:t>
            </a:r>
            <a:r>
              <a:rPr lang="en-US" dirty="0"/>
              <a:t> </a:t>
            </a:r>
            <a:r>
              <a:rPr lang="en-US" dirty="0" err="1"/>
              <a:t>thực</a:t>
            </a:r>
            <a:r>
              <a:rPr lang="en-US" dirty="0"/>
              <a:t> </a:t>
            </a:r>
            <a:r>
              <a:rPr lang="en-US" dirty="0" err="1"/>
              <a:t>cho</a:t>
            </a:r>
            <a:r>
              <a:rPr lang="en-US" dirty="0"/>
              <a:t> user </a:t>
            </a:r>
            <a:r>
              <a:rPr lang="en-US" dirty="0" err="1"/>
              <a:t>đã</a:t>
            </a:r>
            <a:r>
              <a:rPr lang="en-US" dirty="0"/>
              <a:t> </a:t>
            </a:r>
            <a:r>
              <a:rPr lang="en-US" dirty="0" err="1"/>
              <a:t>bị</a:t>
            </a:r>
            <a:r>
              <a:rPr lang="en-US" dirty="0"/>
              <a:t> </a:t>
            </a:r>
            <a:r>
              <a:rPr lang="en-US" dirty="0" err="1"/>
              <a:t>khóa</a:t>
            </a:r>
            <a:r>
              <a:rPr lang="en-US" dirty="0"/>
              <a:t>, </a:t>
            </a:r>
            <a:r>
              <a:rPr lang="en-US" dirty="0" err="1"/>
              <a:t>cho</a:t>
            </a:r>
            <a:r>
              <a:rPr lang="en-US" dirty="0"/>
              <a:t> </a:t>
            </a:r>
            <a:r>
              <a:rPr lang="en-US" dirty="0" err="1"/>
              <a:t>dù</a:t>
            </a:r>
            <a:r>
              <a:rPr lang="en-US" dirty="0"/>
              <a:t> user </a:t>
            </a:r>
            <a:r>
              <a:rPr lang="en-US" dirty="0" err="1"/>
              <a:t>có</a:t>
            </a:r>
            <a:r>
              <a:rPr lang="en-US" dirty="0"/>
              <a:t> </a:t>
            </a:r>
            <a:r>
              <a:rPr lang="en-US" dirty="0" err="1"/>
              <a:t>cung</a:t>
            </a:r>
            <a:r>
              <a:rPr lang="en-US" dirty="0"/>
              <a:t> </a:t>
            </a:r>
            <a:r>
              <a:rPr lang="en-US" dirty="0" err="1"/>
              <a:t>cấp</a:t>
            </a:r>
            <a:r>
              <a:rPr lang="en-US" dirty="0"/>
              <a:t> </a:t>
            </a:r>
            <a:r>
              <a:rPr lang="en-US" dirty="0" err="1"/>
              <a:t>thông</a:t>
            </a:r>
            <a:r>
              <a:rPr lang="en-US" dirty="0"/>
              <a:t> tin </a:t>
            </a:r>
            <a:r>
              <a:rPr lang="en-US" dirty="0" err="1"/>
              <a:t>đăng</a:t>
            </a:r>
            <a:r>
              <a:rPr lang="en-US" dirty="0"/>
              <a:t> </a:t>
            </a:r>
            <a:r>
              <a:rPr lang="en-US" dirty="0" err="1"/>
              <a:t>nhập</a:t>
            </a:r>
            <a:r>
              <a:rPr lang="en-US" dirty="0"/>
              <a:t> </a:t>
            </a:r>
            <a:r>
              <a:rPr lang="en-US" dirty="0" err="1"/>
              <a:t>đúng</a:t>
            </a:r>
            <a:r>
              <a:rPr lang="en-US" dirty="0"/>
              <a:t>.</a:t>
            </a:r>
          </a:p>
        </p:txBody>
      </p:sp>
    </p:spTree>
    <p:extLst>
      <p:ext uri="{BB962C8B-B14F-4D97-AF65-F5344CB8AC3E}">
        <p14:creationId xmlns:p14="http://schemas.microsoft.com/office/powerpoint/2010/main" val="3221355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445038" y="1978729"/>
            <a:ext cx="9784080" cy="459671"/>
          </a:xfrm>
        </p:spPr>
        <p:txBody>
          <a:bodyPr/>
          <a:lstStyle/>
          <a:p>
            <a:r>
              <a:rPr lang="en-US" dirty="0" err="1"/>
              <a:t>Config</a:t>
            </a:r>
            <a:r>
              <a:rPr lang="en-US" dirty="0"/>
              <a:t> </a:t>
            </a:r>
            <a:r>
              <a:rPr lang="en-US" dirty="0" err="1"/>
              <a:t>Gradle</a:t>
            </a:r>
            <a:r>
              <a:rPr lang="en-US" dirty="0"/>
              <a:t> dependencies</a:t>
            </a:r>
          </a:p>
        </p:txBody>
      </p:sp>
      <p:grpSp>
        <p:nvGrpSpPr>
          <p:cNvPr id="7" name="グループ化 6"/>
          <p:cNvGrpSpPr/>
          <p:nvPr/>
        </p:nvGrpSpPr>
        <p:grpSpPr>
          <a:xfrm>
            <a:off x="450084" y="2624193"/>
            <a:ext cx="10536915" cy="2795337"/>
            <a:chOff x="98134" y="2517101"/>
            <a:chExt cx="11993649" cy="3181794"/>
          </a:xfrm>
        </p:grpSpPr>
        <p:pic>
          <p:nvPicPr>
            <p:cNvPr id="5" name="図 4"/>
            <p:cNvPicPr>
              <a:picLocks noChangeAspect="1"/>
            </p:cNvPicPr>
            <p:nvPr/>
          </p:nvPicPr>
          <p:blipFill>
            <a:blip r:embed="rId2"/>
            <a:stretch>
              <a:fillRect/>
            </a:stretch>
          </p:blipFill>
          <p:spPr>
            <a:xfrm>
              <a:off x="98134" y="2517101"/>
              <a:ext cx="11993649" cy="3181794"/>
            </a:xfrm>
            <a:prstGeom prst="rect">
              <a:avLst/>
            </a:prstGeom>
          </p:spPr>
        </p:pic>
        <p:sp>
          <p:nvSpPr>
            <p:cNvPr id="6" name="正方形/長方形 5"/>
            <p:cNvSpPr/>
            <p:nvPr/>
          </p:nvSpPr>
          <p:spPr>
            <a:xfrm>
              <a:off x="1202919" y="3410466"/>
              <a:ext cx="10536195" cy="2553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13634594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8" y="2011680"/>
            <a:ext cx="9969173" cy="4206240"/>
          </a:xfrm>
        </p:spPr>
        <p:txBody>
          <a:bodyPr/>
          <a:lstStyle/>
          <a:p>
            <a:r>
              <a:rPr lang="en-US" dirty="0"/>
              <a:t>Refresh </a:t>
            </a:r>
            <a:r>
              <a:rPr lang="en-US" dirty="0" err="1"/>
              <a:t>Gradle</a:t>
            </a:r>
            <a:r>
              <a:rPr lang="en-US" dirty="0"/>
              <a:t> </a:t>
            </a:r>
            <a:r>
              <a:rPr lang="en-US" dirty="0" err="1"/>
              <a:t>để</a:t>
            </a:r>
            <a:r>
              <a:rPr lang="en-US" dirty="0"/>
              <a:t> </a:t>
            </a:r>
            <a:r>
              <a:rPr lang="en-US" dirty="0" err="1"/>
              <a:t>lấy</a:t>
            </a:r>
            <a:r>
              <a:rPr lang="en-US" dirty="0"/>
              <a:t> </a:t>
            </a:r>
            <a:r>
              <a:rPr lang="en-US" dirty="0" err="1"/>
              <a:t>thư</a:t>
            </a:r>
            <a:r>
              <a:rPr lang="en-US" dirty="0"/>
              <a:t> </a:t>
            </a:r>
            <a:r>
              <a:rPr lang="en-US" dirty="0" err="1"/>
              <a:t>viện</a:t>
            </a:r>
            <a:r>
              <a:rPr lang="en-US" dirty="0"/>
              <a:t> </a:t>
            </a:r>
            <a:r>
              <a:rPr lang="en-US" dirty="0" err="1"/>
              <a:t>vừa</a:t>
            </a:r>
            <a:r>
              <a:rPr lang="en-US" dirty="0"/>
              <a:t> </a:t>
            </a:r>
            <a:r>
              <a:rPr lang="en-US" dirty="0" err="1"/>
              <a:t>thêm</a:t>
            </a:r>
            <a:endParaRPr lang="en-US" dirty="0"/>
          </a:p>
        </p:txBody>
      </p:sp>
      <p:pic>
        <p:nvPicPr>
          <p:cNvPr id="6" name="図 5"/>
          <p:cNvPicPr>
            <a:picLocks noChangeAspect="1"/>
          </p:cNvPicPr>
          <p:nvPr/>
        </p:nvPicPr>
        <p:blipFill>
          <a:blip r:embed="rId2"/>
          <a:stretch>
            <a:fillRect/>
          </a:stretch>
        </p:blipFill>
        <p:spPr>
          <a:xfrm>
            <a:off x="1357598" y="2485292"/>
            <a:ext cx="6797809" cy="4123116"/>
          </a:xfrm>
          <a:prstGeom prst="rect">
            <a:avLst/>
          </a:prstGeom>
        </p:spPr>
      </p:pic>
    </p:spTree>
    <p:extLst>
      <p:ext uri="{BB962C8B-B14F-4D97-AF65-F5344CB8AC3E}">
        <p14:creationId xmlns:p14="http://schemas.microsoft.com/office/powerpoint/2010/main" val="10320992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a:xfrm>
            <a:off x="1202919" y="2011680"/>
            <a:ext cx="9784080" cy="485132"/>
          </a:xfrm>
        </p:spPr>
        <p:txBody>
          <a:bodyPr>
            <a:normAutofit/>
          </a:bodyPr>
          <a:lstStyle/>
          <a:p>
            <a:r>
              <a:rPr lang="en-US" dirty="0" err="1"/>
              <a:t>Tạo</a:t>
            </a:r>
            <a:r>
              <a:rPr lang="en-US" dirty="0"/>
              <a:t> class </a:t>
            </a:r>
            <a:r>
              <a:rPr lang="en-US" dirty="0" err="1"/>
              <a:t>WebSecurityConfig</a:t>
            </a:r>
            <a:r>
              <a:rPr lang="en-US" dirty="0"/>
              <a:t> implement </a:t>
            </a:r>
            <a:r>
              <a:rPr lang="en-US" dirty="0" err="1"/>
              <a:t>WebSecurityConfigurerAdapter</a:t>
            </a:r>
            <a:endParaRPr lang="en-US" dirty="0"/>
          </a:p>
        </p:txBody>
      </p:sp>
      <p:grpSp>
        <p:nvGrpSpPr>
          <p:cNvPr id="6" name="グループ化 5"/>
          <p:cNvGrpSpPr/>
          <p:nvPr/>
        </p:nvGrpSpPr>
        <p:grpSpPr>
          <a:xfrm>
            <a:off x="1202919" y="2496812"/>
            <a:ext cx="7487695" cy="4039164"/>
            <a:chOff x="1202919" y="2496812"/>
            <a:chExt cx="7487695" cy="4039164"/>
          </a:xfrm>
        </p:grpSpPr>
        <p:pic>
          <p:nvPicPr>
            <p:cNvPr id="4" name="図 3"/>
            <p:cNvPicPr>
              <a:picLocks noChangeAspect="1"/>
            </p:cNvPicPr>
            <p:nvPr/>
          </p:nvPicPr>
          <p:blipFill>
            <a:blip r:embed="rId3"/>
            <a:stretch>
              <a:fillRect/>
            </a:stretch>
          </p:blipFill>
          <p:spPr>
            <a:xfrm>
              <a:off x="1202919" y="2496812"/>
              <a:ext cx="7487695" cy="4039164"/>
            </a:xfrm>
            <a:prstGeom prst="rect">
              <a:avLst/>
            </a:prstGeom>
          </p:spPr>
        </p:pic>
        <p:sp>
          <p:nvSpPr>
            <p:cNvPr id="5" name="正方形/長方形 4"/>
            <p:cNvSpPr/>
            <p:nvPr/>
          </p:nvSpPr>
          <p:spPr>
            <a:xfrm>
              <a:off x="1565189" y="3476367"/>
              <a:ext cx="1342768" cy="3295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2034920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p:txBody>
          <a:bodyPr/>
          <a:lstStyle/>
          <a:p>
            <a:r>
              <a:rPr lang="en-US" dirty="0" err="1"/>
              <a:t>Khởi</a:t>
            </a:r>
            <a:r>
              <a:rPr lang="en-US" dirty="0"/>
              <a:t> </a:t>
            </a:r>
            <a:r>
              <a:rPr lang="en-US" dirty="0" err="1"/>
              <a:t>chạy</a:t>
            </a:r>
            <a:r>
              <a:rPr lang="en-US" dirty="0"/>
              <a:t> project </a:t>
            </a:r>
            <a:r>
              <a:rPr lang="en-US" dirty="0" err="1"/>
              <a:t>bằng</a:t>
            </a:r>
            <a:r>
              <a:rPr lang="en-US" dirty="0"/>
              <a:t> </a:t>
            </a:r>
            <a:r>
              <a:rPr lang="en-US" dirty="0" err="1"/>
              <a:t>Gradle</a:t>
            </a:r>
            <a:r>
              <a:rPr lang="en-US" dirty="0"/>
              <a:t> Task: </a:t>
            </a:r>
            <a:r>
              <a:rPr lang="en-US" dirty="0" err="1"/>
              <a:t>bootRun</a:t>
            </a:r>
            <a:endParaRPr lang="en-US" dirty="0"/>
          </a:p>
        </p:txBody>
      </p:sp>
      <p:pic>
        <p:nvPicPr>
          <p:cNvPr id="6" name="図 5"/>
          <p:cNvPicPr>
            <a:picLocks noChangeAspect="1"/>
          </p:cNvPicPr>
          <p:nvPr/>
        </p:nvPicPr>
        <p:blipFill>
          <a:blip r:embed="rId2"/>
          <a:stretch>
            <a:fillRect/>
          </a:stretch>
        </p:blipFill>
        <p:spPr>
          <a:xfrm>
            <a:off x="1202919" y="2551340"/>
            <a:ext cx="8764223" cy="3477110"/>
          </a:xfrm>
          <a:prstGeom prst="rect">
            <a:avLst/>
          </a:prstGeom>
        </p:spPr>
      </p:pic>
    </p:spTree>
    <p:extLst>
      <p:ext uri="{BB962C8B-B14F-4D97-AF65-F5344CB8AC3E}">
        <p14:creationId xmlns:p14="http://schemas.microsoft.com/office/powerpoint/2010/main" val="21286617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p:txBody>
          <a:bodyPr/>
          <a:lstStyle/>
          <a:p>
            <a:r>
              <a:rPr lang="en-US" dirty="0"/>
              <a:t>Password </a:t>
            </a:r>
            <a:r>
              <a:rPr lang="en-US" dirty="0" err="1"/>
              <a:t>được</a:t>
            </a:r>
            <a:r>
              <a:rPr lang="en-US" dirty="0"/>
              <a:t> </a:t>
            </a:r>
            <a:r>
              <a:rPr lang="en-US" dirty="0" err="1"/>
              <a:t>sinh</a:t>
            </a:r>
            <a:r>
              <a:rPr lang="en-US" dirty="0"/>
              <a:t> </a:t>
            </a:r>
            <a:r>
              <a:rPr lang="en-US" dirty="0" err="1"/>
              <a:t>ra</a:t>
            </a:r>
            <a:r>
              <a:rPr lang="en-US" dirty="0"/>
              <a:t> ở log, username </a:t>
            </a:r>
            <a:r>
              <a:rPr lang="en-US" dirty="0" err="1"/>
              <a:t>mặc</a:t>
            </a:r>
            <a:r>
              <a:rPr lang="en-US" dirty="0"/>
              <a:t> </a:t>
            </a:r>
            <a:r>
              <a:rPr lang="en-US" dirty="0" err="1"/>
              <a:t>định</a:t>
            </a:r>
            <a:r>
              <a:rPr lang="en-US" dirty="0"/>
              <a:t> </a:t>
            </a:r>
            <a:r>
              <a:rPr lang="en-US" dirty="0" err="1"/>
              <a:t>là</a:t>
            </a:r>
            <a:r>
              <a:rPr lang="en-US" dirty="0"/>
              <a:t> ‘user’: </a:t>
            </a:r>
          </a:p>
        </p:txBody>
      </p:sp>
      <p:grpSp>
        <p:nvGrpSpPr>
          <p:cNvPr id="7" name="グループ化 6"/>
          <p:cNvGrpSpPr/>
          <p:nvPr/>
        </p:nvGrpSpPr>
        <p:grpSpPr>
          <a:xfrm>
            <a:off x="1202919" y="2556390"/>
            <a:ext cx="6584770" cy="4224980"/>
            <a:chOff x="1202919" y="2556390"/>
            <a:chExt cx="6584770" cy="4224980"/>
          </a:xfrm>
        </p:grpSpPr>
        <p:pic>
          <p:nvPicPr>
            <p:cNvPr id="5" name="図 4"/>
            <p:cNvPicPr>
              <a:picLocks noChangeAspect="1"/>
            </p:cNvPicPr>
            <p:nvPr/>
          </p:nvPicPr>
          <p:blipFill>
            <a:blip r:embed="rId2"/>
            <a:stretch>
              <a:fillRect/>
            </a:stretch>
          </p:blipFill>
          <p:spPr>
            <a:xfrm>
              <a:off x="1202919" y="2556390"/>
              <a:ext cx="6584770" cy="4224980"/>
            </a:xfrm>
            <a:prstGeom prst="rect">
              <a:avLst/>
            </a:prstGeom>
          </p:spPr>
        </p:pic>
        <p:sp>
          <p:nvSpPr>
            <p:cNvPr id="6" name="正方形/長方形 5"/>
            <p:cNvSpPr/>
            <p:nvPr/>
          </p:nvSpPr>
          <p:spPr>
            <a:xfrm>
              <a:off x="1202919" y="5609968"/>
              <a:ext cx="6071092" cy="3542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12001361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p:txBody>
          <a:bodyPr/>
          <a:lstStyle/>
          <a:p>
            <a:r>
              <a:rPr lang="en-US" dirty="0" err="1"/>
              <a:t>Chạy</a:t>
            </a:r>
            <a:r>
              <a:rPr lang="en-US" dirty="0"/>
              <a:t> </a:t>
            </a:r>
            <a:r>
              <a:rPr lang="en-US" dirty="0" err="1"/>
              <a:t>thử</a:t>
            </a:r>
            <a:r>
              <a:rPr lang="en-US" dirty="0"/>
              <a:t> request /</a:t>
            </a:r>
            <a:r>
              <a:rPr lang="en-US" dirty="0" err="1"/>
              <a:t>getAll</a:t>
            </a:r>
            <a:r>
              <a:rPr lang="en-US" dirty="0"/>
              <a:t> </a:t>
            </a:r>
            <a:r>
              <a:rPr lang="en-US" dirty="0" err="1"/>
              <a:t>không</a:t>
            </a:r>
            <a:r>
              <a:rPr lang="en-US" dirty="0"/>
              <a:t> </a:t>
            </a:r>
            <a:r>
              <a:rPr lang="en-US" dirty="0" err="1"/>
              <a:t>bị</a:t>
            </a:r>
            <a:r>
              <a:rPr lang="en-US" dirty="0"/>
              <a:t> </a:t>
            </a:r>
            <a:r>
              <a:rPr lang="en-US" dirty="0" err="1"/>
              <a:t>xác</a:t>
            </a:r>
            <a:r>
              <a:rPr lang="en-US" dirty="0"/>
              <a:t> </a:t>
            </a:r>
            <a:r>
              <a:rPr lang="en-US" dirty="0" err="1"/>
              <a:t>thực</a:t>
            </a:r>
            <a:endParaRPr lang="en-US" dirty="0"/>
          </a:p>
        </p:txBody>
      </p:sp>
      <p:pic>
        <p:nvPicPr>
          <p:cNvPr id="5" name="図 4"/>
          <p:cNvPicPr>
            <a:picLocks noChangeAspect="1"/>
          </p:cNvPicPr>
          <p:nvPr/>
        </p:nvPicPr>
        <p:blipFill>
          <a:blip r:embed="rId2"/>
          <a:stretch>
            <a:fillRect/>
          </a:stretch>
        </p:blipFill>
        <p:spPr>
          <a:xfrm>
            <a:off x="1202919" y="2710204"/>
            <a:ext cx="7897327" cy="3277057"/>
          </a:xfrm>
          <a:prstGeom prst="rect">
            <a:avLst/>
          </a:prstGeom>
        </p:spPr>
      </p:pic>
    </p:spTree>
    <p:extLst>
      <p:ext uri="{BB962C8B-B14F-4D97-AF65-F5344CB8AC3E}">
        <p14:creationId xmlns:p14="http://schemas.microsoft.com/office/powerpoint/2010/main" val="2993186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dirty="0"/>
          </a:p>
        </p:txBody>
      </p:sp>
      <p:sp>
        <p:nvSpPr>
          <p:cNvPr id="3" name="コンテンツ プレースホルダー 2"/>
          <p:cNvSpPr>
            <a:spLocks noGrp="1"/>
          </p:cNvSpPr>
          <p:nvPr>
            <p:ph idx="1"/>
          </p:nvPr>
        </p:nvSpPr>
        <p:spPr/>
        <p:txBody>
          <a:bodyPr/>
          <a:lstStyle/>
          <a:p>
            <a:r>
              <a:rPr lang="en-US" dirty="0" err="1"/>
              <a:t>Chạy</a:t>
            </a:r>
            <a:r>
              <a:rPr lang="en-US" dirty="0"/>
              <a:t> </a:t>
            </a:r>
            <a:r>
              <a:rPr lang="en-US" dirty="0" err="1"/>
              <a:t>thử</a:t>
            </a:r>
            <a:r>
              <a:rPr lang="en-US" dirty="0"/>
              <a:t> request </a:t>
            </a:r>
            <a:r>
              <a:rPr lang="en-US" dirty="0" err="1"/>
              <a:t>khác</a:t>
            </a:r>
            <a:r>
              <a:rPr lang="en-US" dirty="0"/>
              <a:t>: /id/001, </a:t>
            </a:r>
            <a:r>
              <a:rPr lang="en-US" dirty="0" err="1"/>
              <a:t>màn</a:t>
            </a:r>
            <a:r>
              <a:rPr lang="en-US" dirty="0"/>
              <a:t> </a:t>
            </a:r>
            <a:r>
              <a:rPr lang="en-US" dirty="0" err="1"/>
              <a:t>hình</a:t>
            </a:r>
            <a:r>
              <a:rPr lang="en-US" dirty="0"/>
              <a:t> login </a:t>
            </a:r>
            <a:r>
              <a:rPr lang="en-US" dirty="0" err="1"/>
              <a:t>được</a:t>
            </a:r>
            <a:r>
              <a:rPr lang="en-US" dirty="0"/>
              <a:t> </a:t>
            </a:r>
            <a:r>
              <a:rPr lang="en-US" dirty="0" err="1"/>
              <a:t>hiển</a:t>
            </a:r>
            <a:r>
              <a:rPr lang="en-US" dirty="0"/>
              <a:t> </a:t>
            </a:r>
            <a:r>
              <a:rPr lang="en-US" dirty="0" err="1"/>
              <a:t>thị</a:t>
            </a:r>
            <a:endParaRPr lang="en-US" dirty="0"/>
          </a:p>
        </p:txBody>
      </p:sp>
      <p:pic>
        <p:nvPicPr>
          <p:cNvPr id="4" name="図 3"/>
          <p:cNvPicPr>
            <a:picLocks noChangeAspect="1"/>
          </p:cNvPicPr>
          <p:nvPr/>
        </p:nvPicPr>
        <p:blipFill rotWithShape="1">
          <a:blip r:embed="rId2"/>
          <a:srcRect b="51753"/>
          <a:stretch/>
        </p:blipFill>
        <p:spPr>
          <a:xfrm>
            <a:off x="1442357" y="2807219"/>
            <a:ext cx="7906853" cy="3231116"/>
          </a:xfrm>
          <a:prstGeom prst="rect">
            <a:avLst/>
          </a:prstGeom>
        </p:spPr>
      </p:pic>
    </p:spTree>
    <p:extLst>
      <p:ext uri="{BB962C8B-B14F-4D97-AF65-F5344CB8AC3E}">
        <p14:creationId xmlns:p14="http://schemas.microsoft.com/office/powerpoint/2010/main" val="1776647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1202919" y="2011680"/>
            <a:ext cx="9784080" cy="600230"/>
          </a:xfrm>
        </p:spPr>
        <p:txBody>
          <a:bodyPr/>
          <a:lstStyle/>
          <a:p>
            <a:r>
              <a:rPr lang="en-US" dirty="0" err="1"/>
              <a:t>Nhập</a:t>
            </a:r>
            <a:r>
              <a:rPr lang="en-US" dirty="0"/>
              <a:t> username, password </a:t>
            </a:r>
            <a:r>
              <a:rPr lang="en-US" dirty="0" err="1"/>
              <a:t>được</a:t>
            </a:r>
            <a:r>
              <a:rPr lang="en-US" dirty="0"/>
              <a:t> </a:t>
            </a:r>
            <a:r>
              <a:rPr lang="en-US" dirty="0" err="1"/>
              <a:t>sinh</a:t>
            </a:r>
            <a:r>
              <a:rPr lang="en-US" dirty="0"/>
              <a:t> </a:t>
            </a:r>
            <a:r>
              <a:rPr lang="en-US" dirty="0" err="1"/>
              <a:t>ra</a:t>
            </a:r>
            <a:r>
              <a:rPr lang="en-US" dirty="0"/>
              <a:t> ở log </a:t>
            </a:r>
            <a:r>
              <a:rPr lang="en-US" dirty="0" err="1"/>
              <a:t>và</a:t>
            </a:r>
            <a:r>
              <a:rPr lang="en-US" dirty="0"/>
              <a:t> </a:t>
            </a:r>
            <a:r>
              <a:rPr lang="en-US" dirty="0" err="1"/>
              <a:t>đăng</a:t>
            </a:r>
            <a:r>
              <a:rPr lang="en-US" dirty="0"/>
              <a:t> </a:t>
            </a:r>
            <a:r>
              <a:rPr lang="en-US" dirty="0" err="1"/>
              <a:t>nhập</a:t>
            </a:r>
            <a:endParaRPr lang="en-US" dirty="0"/>
          </a:p>
        </p:txBody>
      </p:sp>
      <p:pic>
        <p:nvPicPr>
          <p:cNvPr id="5" name="図 4"/>
          <p:cNvPicPr>
            <a:picLocks noChangeAspect="1"/>
          </p:cNvPicPr>
          <p:nvPr/>
        </p:nvPicPr>
        <p:blipFill>
          <a:blip r:embed="rId2"/>
          <a:stretch>
            <a:fillRect/>
          </a:stretch>
        </p:blipFill>
        <p:spPr>
          <a:xfrm>
            <a:off x="1202919" y="2718611"/>
            <a:ext cx="9192908" cy="3743847"/>
          </a:xfrm>
          <a:prstGeom prst="rect">
            <a:avLst/>
          </a:prstGeom>
        </p:spPr>
      </p:pic>
    </p:spTree>
    <p:extLst>
      <p:ext uri="{BB962C8B-B14F-4D97-AF65-F5344CB8AC3E}">
        <p14:creationId xmlns:p14="http://schemas.microsoft.com/office/powerpoint/2010/main" val="124236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675380" y="2117187"/>
            <a:ext cx="3231601" cy="1200443"/>
          </a:xfrm>
        </p:spPr>
        <p:txBody>
          <a:bodyPr>
            <a:normAutofit fontScale="85000" lnSpcReduction="20000"/>
          </a:bodyPr>
          <a:lstStyle/>
          <a:p>
            <a:r>
              <a:rPr lang="en-US" dirty="0" err="1"/>
              <a:t>Trường</a:t>
            </a:r>
            <a:r>
              <a:rPr lang="en-US" dirty="0"/>
              <a:t> </a:t>
            </a:r>
            <a:r>
              <a:rPr lang="en-US" dirty="0" err="1"/>
              <a:t>hợp</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trình</a:t>
            </a:r>
            <a:r>
              <a:rPr lang="en-US" dirty="0"/>
              <a:t> </a:t>
            </a:r>
            <a:r>
              <a:rPr lang="en-US" dirty="0" err="1"/>
              <a:t>duyệt</a:t>
            </a:r>
            <a:r>
              <a:rPr lang="en-US" dirty="0"/>
              <a:t>, </a:t>
            </a:r>
            <a:r>
              <a:rPr lang="en-US" dirty="0" err="1"/>
              <a:t>chưa</a:t>
            </a:r>
            <a:r>
              <a:rPr lang="en-US" dirty="0"/>
              <a:t> </a:t>
            </a:r>
            <a:r>
              <a:rPr lang="en-US" dirty="0" err="1"/>
              <a:t>có</a:t>
            </a:r>
            <a:r>
              <a:rPr lang="en-US" dirty="0"/>
              <a:t> </a:t>
            </a:r>
            <a:r>
              <a:rPr lang="en-US" dirty="0" err="1"/>
              <a:t>thông</a:t>
            </a:r>
            <a:r>
              <a:rPr lang="en-US" dirty="0"/>
              <a:t> tin </a:t>
            </a:r>
            <a:r>
              <a:rPr lang="en-US" dirty="0" err="1"/>
              <a:t>xác</a:t>
            </a:r>
            <a:r>
              <a:rPr lang="en-US" dirty="0"/>
              <a:t> </a:t>
            </a:r>
            <a:r>
              <a:rPr lang="en-US" dirty="0" err="1"/>
              <a:t>thực</a:t>
            </a:r>
            <a:endParaRPr lang="en-US" dirty="0"/>
          </a:p>
          <a:p>
            <a:r>
              <a:rPr lang="en-US" dirty="0" err="1"/>
              <a:t>Lỗi</a:t>
            </a:r>
            <a:r>
              <a:rPr lang="en-US" dirty="0"/>
              <a:t> 401 Unauthorized </a:t>
            </a:r>
            <a:r>
              <a:rPr lang="en-US" dirty="0" err="1"/>
              <a:t>được</a:t>
            </a:r>
            <a:r>
              <a:rPr lang="en-US" dirty="0"/>
              <a:t> </a:t>
            </a:r>
            <a:r>
              <a:rPr lang="en-US" dirty="0" err="1"/>
              <a:t>trả</a:t>
            </a:r>
            <a:r>
              <a:rPr lang="en-US" dirty="0"/>
              <a:t> </a:t>
            </a:r>
            <a:r>
              <a:rPr lang="en-US" dirty="0" err="1"/>
              <a:t>về</a:t>
            </a:r>
            <a:endParaRPr lang="en-US" dirty="0"/>
          </a:p>
        </p:txBody>
      </p:sp>
      <p:grpSp>
        <p:nvGrpSpPr>
          <p:cNvPr id="7" name="グループ化 6"/>
          <p:cNvGrpSpPr/>
          <p:nvPr/>
        </p:nvGrpSpPr>
        <p:grpSpPr>
          <a:xfrm>
            <a:off x="4041732" y="2011680"/>
            <a:ext cx="7602011" cy="4601217"/>
            <a:chOff x="4041732" y="2011680"/>
            <a:chExt cx="7602011" cy="4601217"/>
          </a:xfrm>
        </p:grpSpPr>
        <p:pic>
          <p:nvPicPr>
            <p:cNvPr id="4" name="図 3"/>
            <p:cNvPicPr>
              <a:picLocks noChangeAspect="1"/>
            </p:cNvPicPr>
            <p:nvPr/>
          </p:nvPicPr>
          <p:blipFill>
            <a:blip r:embed="rId2"/>
            <a:stretch>
              <a:fillRect/>
            </a:stretch>
          </p:blipFill>
          <p:spPr>
            <a:xfrm>
              <a:off x="4041732" y="2011680"/>
              <a:ext cx="7602011" cy="4601217"/>
            </a:xfrm>
            <a:prstGeom prst="rect">
              <a:avLst/>
            </a:prstGeom>
          </p:spPr>
        </p:pic>
        <p:sp>
          <p:nvSpPr>
            <p:cNvPr id="6" name="正方形/長方形 5"/>
            <p:cNvSpPr/>
            <p:nvPr/>
          </p:nvSpPr>
          <p:spPr>
            <a:xfrm>
              <a:off x="4196862" y="4630615"/>
              <a:ext cx="1723292"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12677802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b="1" dirty="0" err="1"/>
              <a:t>Cấu</a:t>
            </a:r>
            <a:r>
              <a:rPr lang="en-US" b="1" dirty="0"/>
              <a:t> </a:t>
            </a:r>
            <a:r>
              <a:rPr lang="en-US" b="1" dirty="0" err="1"/>
              <a:t>hình</a:t>
            </a:r>
            <a:endParaRPr lang="en-US" b="1" dirty="0"/>
          </a:p>
        </p:txBody>
      </p:sp>
      <p:sp>
        <p:nvSpPr>
          <p:cNvPr id="3" name="コンテンツ プレースホルダー 2"/>
          <p:cNvSpPr>
            <a:spLocks noGrp="1"/>
          </p:cNvSpPr>
          <p:nvPr>
            <p:ph idx="1"/>
          </p:nvPr>
        </p:nvSpPr>
        <p:spPr>
          <a:xfrm>
            <a:off x="675381" y="2117187"/>
            <a:ext cx="2947050" cy="1200443"/>
          </a:xfrm>
        </p:spPr>
        <p:txBody>
          <a:bodyPr>
            <a:normAutofit fontScale="85000" lnSpcReduction="10000"/>
          </a:bodyPr>
          <a:lstStyle/>
          <a:p>
            <a:r>
              <a:rPr lang="en-US" dirty="0" err="1"/>
              <a:t>Trường</a:t>
            </a:r>
            <a:r>
              <a:rPr lang="en-US" dirty="0"/>
              <a:t> </a:t>
            </a:r>
            <a:r>
              <a:rPr lang="en-US" dirty="0" err="1"/>
              <a:t>hợp</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trình</a:t>
            </a:r>
            <a:r>
              <a:rPr lang="en-US" dirty="0"/>
              <a:t> </a:t>
            </a:r>
            <a:r>
              <a:rPr lang="en-US" dirty="0" err="1"/>
              <a:t>duyệt</a:t>
            </a:r>
            <a:r>
              <a:rPr lang="en-US" dirty="0"/>
              <a:t> </a:t>
            </a:r>
            <a:r>
              <a:rPr lang="en-US" dirty="0" err="1"/>
              <a:t>và</a:t>
            </a:r>
            <a:r>
              <a:rPr lang="en-US" dirty="0"/>
              <a:t> </a:t>
            </a:r>
            <a:r>
              <a:rPr lang="en-US" dirty="0" err="1"/>
              <a:t>thêm</a:t>
            </a:r>
            <a:r>
              <a:rPr lang="en-US" dirty="0"/>
              <a:t> </a:t>
            </a:r>
            <a:r>
              <a:rPr lang="en-US" dirty="0" err="1"/>
              <a:t>thông</a:t>
            </a:r>
            <a:r>
              <a:rPr lang="en-US" dirty="0"/>
              <a:t> tin Basic Authentication</a:t>
            </a:r>
          </a:p>
          <a:p>
            <a:r>
              <a:rPr lang="en-US" dirty="0" err="1"/>
              <a:t>Thông</a:t>
            </a:r>
            <a:r>
              <a:rPr lang="en-US" dirty="0"/>
              <a:t> tin </a:t>
            </a:r>
            <a:r>
              <a:rPr lang="en-US" dirty="0" err="1"/>
              <a:t>trả</a:t>
            </a:r>
            <a:r>
              <a:rPr lang="en-US" dirty="0"/>
              <a:t> </a:t>
            </a:r>
            <a:r>
              <a:rPr lang="en-US" dirty="0" err="1"/>
              <a:t>về</a:t>
            </a:r>
            <a:r>
              <a:rPr lang="en-US" dirty="0"/>
              <a:t> normal</a:t>
            </a:r>
          </a:p>
        </p:txBody>
      </p:sp>
      <p:grpSp>
        <p:nvGrpSpPr>
          <p:cNvPr id="9" name="グループ化 8"/>
          <p:cNvGrpSpPr/>
          <p:nvPr/>
        </p:nvGrpSpPr>
        <p:grpSpPr>
          <a:xfrm>
            <a:off x="3786554" y="1966835"/>
            <a:ext cx="8249268" cy="4638001"/>
            <a:chOff x="3786554" y="1966835"/>
            <a:chExt cx="8249268" cy="4638001"/>
          </a:xfrm>
        </p:grpSpPr>
        <p:grpSp>
          <p:nvGrpSpPr>
            <p:cNvPr id="7" name="グループ化 6"/>
            <p:cNvGrpSpPr/>
            <p:nvPr/>
          </p:nvGrpSpPr>
          <p:grpSpPr>
            <a:xfrm>
              <a:off x="3786554" y="1966835"/>
              <a:ext cx="8249268" cy="4638001"/>
              <a:chOff x="3786554" y="1966835"/>
              <a:chExt cx="8249268" cy="4638001"/>
            </a:xfrm>
          </p:grpSpPr>
          <p:pic>
            <p:nvPicPr>
              <p:cNvPr id="5" name="図 4"/>
              <p:cNvPicPr>
                <a:picLocks noChangeAspect="1"/>
              </p:cNvPicPr>
              <p:nvPr/>
            </p:nvPicPr>
            <p:blipFill>
              <a:blip r:embed="rId2"/>
              <a:stretch>
                <a:fillRect/>
              </a:stretch>
            </p:blipFill>
            <p:spPr>
              <a:xfrm>
                <a:off x="3786554" y="1966835"/>
                <a:ext cx="8249268" cy="4638001"/>
              </a:xfrm>
              <a:prstGeom prst="rect">
                <a:avLst/>
              </a:prstGeom>
            </p:spPr>
          </p:pic>
          <p:sp>
            <p:nvSpPr>
              <p:cNvPr id="6" name="正方形/長方形 5"/>
              <p:cNvSpPr/>
              <p:nvPr/>
            </p:nvSpPr>
            <p:spPr>
              <a:xfrm>
                <a:off x="3915508" y="3774831"/>
                <a:ext cx="3938954" cy="8909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8" name="正方形/長方形 7"/>
            <p:cNvSpPr/>
            <p:nvPr/>
          </p:nvSpPr>
          <p:spPr>
            <a:xfrm>
              <a:off x="8217877" y="2117187"/>
              <a:ext cx="961292" cy="2508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p14="http://schemas.microsoft.com/office/powerpoint/2010/main" val="1630457607"/>
      </p:ext>
    </p:extLst>
  </p:cSld>
  <p:clrMapOvr>
    <a:masterClrMapping/>
  </p:clrMapOvr>
</p:sld>
</file>

<file path=ppt/theme/theme1.xml><?xml version="1.0" encoding="utf-8"?>
<a:theme xmlns:a="http://schemas.openxmlformats.org/drawingml/2006/main" name="ファセット">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5998</TotalTime>
  <Words>4924</Words>
  <Application>Microsoft Office PowerPoint</Application>
  <PresentationFormat>Widescreen</PresentationFormat>
  <Paragraphs>411</Paragraphs>
  <Slides>73</Slides>
  <Notes>38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73</vt:i4>
      </vt:variant>
    </vt:vector>
  </HeadingPairs>
  <TitlesOfParts>
    <vt:vector size="83" baseType="lpstr">
      <vt:lpstr>ＭＳ 明朝</vt:lpstr>
      <vt:lpstr>Arial</vt:lpstr>
      <vt:lpstr>Calibri</vt:lpstr>
      <vt:lpstr>Consolas</vt:lpstr>
      <vt:lpstr>Times New Roman</vt:lpstr>
      <vt:lpstr>Trebuchet MS</vt:lpstr>
      <vt:lpstr>Wingdings</vt:lpstr>
      <vt:lpstr>Wingdings 3</vt:lpstr>
      <vt:lpstr>ファセット</vt:lpstr>
      <vt:lpstr>1_ファセット</vt:lpstr>
      <vt:lpstr>PowerPoint Presentation</vt:lpstr>
      <vt:lpstr>PowerPoint Presentation</vt:lpstr>
      <vt:lpstr>PowerPoint Presentation</vt:lpstr>
      <vt:lpstr>PowerPoint Presentation</vt:lpstr>
      <vt:lpstr>1. Spring framework là gì?</vt:lpstr>
      <vt:lpstr>PowerPoint Presentation</vt:lpstr>
      <vt:lpstr>PowerPoint Presentation</vt:lpstr>
      <vt:lpstr>1. Spring Boot là gì?</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Spring Batch</vt:lpstr>
      <vt:lpstr>Batch là gì?</vt:lpstr>
      <vt:lpstr>Spring Batch là gì?</vt:lpstr>
      <vt:lpstr>Các tính năng</vt:lpstr>
      <vt:lpstr>Các đặc điểm</vt:lpstr>
      <vt:lpstr>Kiến trúc của Spring Batch</vt:lpstr>
      <vt:lpstr>Các thành phần của spring batch</vt:lpstr>
      <vt:lpstr>Cấu hình</vt:lpstr>
      <vt:lpstr>Cấu hình</vt:lpstr>
      <vt:lpstr>Cấu hình</vt:lpstr>
      <vt:lpstr>Cấu hình</vt:lpstr>
      <vt:lpstr>Cấu hình</vt:lpstr>
      <vt:lpstr>Cấu hình</vt:lpstr>
      <vt:lpstr>Cấu hình</vt:lpstr>
      <vt:lpstr>Cấu hình</vt:lpstr>
      <vt:lpstr>Cấu hình</vt:lpstr>
      <vt:lpstr>Cấu hình</vt:lpstr>
      <vt:lpstr>Cấu hình</vt:lpstr>
      <vt:lpstr>Spring Security</vt:lpstr>
      <vt:lpstr>Spring Security là gì?</vt:lpstr>
      <vt:lpstr>PowerPoint Presentation</vt:lpstr>
      <vt:lpstr>PowerPoint Presentation</vt:lpstr>
      <vt:lpstr>Các thành phần của Spring Security</vt:lpstr>
      <vt:lpstr>PasswordEncoder</vt:lpstr>
      <vt:lpstr>Form Login</vt:lpstr>
      <vt:lpstr>Login with a database</vt:lpstr>
      <vt:lpstr>Login attempts limit</vt:lpstr>
      <vt:lpstr>Cấu hình</vt:lpstr>
      <vt:lpstr>Cấu hình</vt:lpstr>
      <vt:lpstr>Cấu hình</vt:lpstr>
      <vt:lpstr>Cấu hình</vt:lpstr>
      <vt:lpstr>Cấu hình</vt:lpstr>
      <vt:lpstr>Cấu hình</vt:lpstr>
      <vt:lpstr>Cấu hình</vt:lpstr>
      <vt:lpstr>Cấu hình</vt:lpstr>
      <vt:lpstr>Cấu hình</vt:lpstr>
      <vt:lpstr>Cấu hình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Hoang Van Tien</dc:creator>
  <cp:lastModifiedBy>Mai Ngoc Khuong</cp:lastModifiedBy>
  <cp:revision>78</cp:revision>
  <dcterms:created xsi:type="dcterms:W3CDTF">2022-04-18T01:47:53Z</dcterms:created>
  <dcterms:modified xsi:type="dcterms:W3CDTF">2026-10-19T04:35:55Z</dcterms:modified>
</cp:coreProperties>
</file>