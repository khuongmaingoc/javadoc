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9144000" cy="6858000"/>
  <p:notesSz cx="9144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621790" y="461010"/>
            <a:ext cx="5900419" cy="701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6575" y="1606930"/>
            <a:ext cx="7357109" cy="14903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560320" y="2482532"/>
            <a:ext cx="4028440" cy="701040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Đề</a:t>
            </a:r>
            <a:r>
              <a:rPr dirty="0" spc="-105"/>
              <a:t> </a:t>
            </a:r>
            <a:r>
              <a:rPr dirty="0"/>
              <a:t>tài</a:t>
            </a:r>
            <a:r>
              <a:rPr dirty="0" spc="-50"/>
              <a:t> </a:t>
            </a:r>
            <a:r>
              <a:rPr dirty="0"/>
              <a:t>nghiên</a:t>
            </a:r>
            <a:r>
              <a:rPr dirty="0" spc="-75"/>
              <a:t> </a:t>
            </a:r>
            <a:r>
              <a:rPr dirty="0" spc="-25"/>
              <a:t>cứu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77975" y="3895979"/>
            <a:ext cx="6000750" cy="1986914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algn="ctr" marL="12700" marR="5080">
              <a:lnSpc>
                <a:spcPct val="100400"/>
              </a:lnSpc>
              <a:spcBef>
                <a:spcPts val="115"/>
              </a:spcBef>
            </a:pPr>
            <a:r>
              <a:rPr dirty="0" sz="3200">
                <a:solidFill>
                  <a:srgbClr val="888888"/>
                </a:solidFill>
                <a:latin typeface="Calibri"/>
                <a:cs typeface="Calibri"/>
              </a:rPr>
              <a:t>Nghiên</a:t>
            </a:r>
            <a:r>
              <a:rPr dirty="0" sz="3200" spc="-7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dirty="0" sz="3200">
                <a:solidFill>
                  <a:srgbClr val="888888"/>
                </a:solidFill>
                <a:latin typeface="Calibri"/>
                <a:cs typeface="Calibri"/>
              </a:rPr>
              <a:t>cứu</a:t>
            </a:r>
            <a:r>
              <a:rPr dirty="0" sz="3200" spc="-65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dirty="0" sz="3200">
                <a:solidFill>
                  <a:srgbClr val="888888"/>
                </a:solidFill>
                <a:latin typeface="Calibri"/>
                <a:cs typeface="Calibri"/>
              </a:rPr>
              <a:t>phương</a:t>
            </a:r>
            <a:r>
              <a:rPr dirty="0" sz="3200" spc="-35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dirty="0" sz="3200">
                <a:solidFill>
                  <a:srgbClr val="888888"/>
                </a:solidFill>
                <a:latin typeface="Calibri"/>
                <a:cs typeface="Calibri"/>
              </a:rPr>
              <a:t>pháp thích</a:t>
            </a:r>
            <a:r>
              <a:rPr dirty="0" sz="3200" spc="-65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dirty="0" sz="3200" spc="-20">
                <a:solidFill>
                  <a:srgbClr val="888888"/>
                </a:solidFill>
                <a:latin typeface="Calibri"/>
                <a:cs typeface="Calibri"/>
              </a:rPr>
              <a:t>nghi </a:t>
            </a:r>
            <a:r>
              <a:rPr dirty="0" sz="3200">
                <a:solidFill>
                  <a:srgbClr val="888888"/>
                </a:solidFill>
                <a:latin typeface="Calibri"/>
                <a:cs typeface="Calibri"/>
              </a:rPr>
              <a:t>mô</a:t>
            </a:r>
            <a:r>
              <a:rPr dirty="0" sz="3200" spc="-45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dirty="0" sz="3200">
                <a:solidFill>
                  <a:srgbClr val="888888"/>
                </a:solidFill>
                <a:latin typeface="Calibri"/>
                <a:cs typeface="Calibri"/>
              </a:rPr>
              <a:t>hình</a:t>
            </a:r>
            <a:r>
              <a:rPr dirty="0" sz="3200" spc="-4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dirty="0" sz="3200" spc="-10">
                <a:solidFill>
                  <a:srgbClr val="888888"/>
                </a:solidFill>
                <a:latin typeface="Calibri"/>
                <a:cs typeface="Calibri"/>
              </a:rPr>
              <a:t>không-</a:t>
            </a:r>
            <a:r>
              <a:rPr dirty="0" sz="3200">
                <a:solidFill>
                  <a:srgbClr val="888888"/>
                </a:solidFill>
                <a:latin typeface="Calibri"/>
                <a:cs typeface="Calibri"/>
              </a:rPr>
              <a:t>thời</a:t>
            </a:r>
            <a:r>
              <a:rPr dirty="0" sz="3200" spc="-55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dirty="0" sz="3200">
                <a:solidFill>
                  <a:srgbClr val="888888"/>
                </a:solidFill>
                <a:latin typeface="Calibri"/>
                <a:cs typeface="Calibri"/>
              </a:rPr>
              <a:t>gian</a:t>
            </a:r>
            <a:r>
              <a:rPr dirty="0" sz="3200" spc="-3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dirty="0" sz="3200">
                <a:solidFill>
                  <a:srgbClr val="888888"/>
                </a:solidFill>
                <a:latin typeface="Calibri"/>
                <a:cs typeface="Calibri"/>
              </a:rPr>
              <a:t>có</a:t>
            </a:r>
            <a:r>
              <a:rPr dirty="0" sz="3200" spc="-4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dirty="0" sz="3200" spc="-20">
                <a:solidFill>
                  <a:srgbClr val="888888"/>
                </a:solidFill>
                <a:latin typeface="Calibri"/>
                <a:cs typeface="Calibri"/>
              </a:rPr>
              <a:t>ràng </a:t>
            </a:r>
            <a:r>
              <a:rPr dirty="0" sz="3200">
                <a:solidFill>
                  <a:srgbClr val="888888"/>
                </a:solidFill>
                <a:latin typeface="Calibri"/>
                <a:cs typeface="Calibri"/>
              </a:rPr>
              <a:t>buộc</a:t>
            </a:r>
            <a:r>
              <a:rPr dirty="0" sz="3200" spc="-65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dirty="0" sz="3200">
                <a:solidFill>
                  <a:srgbClr val="888888"/>
                </a:solidFill>
                <a:latin typeface="Calibri"/>
                <a:cs typeface="Calibri"/>
              </a:rPr>
              <a:t>cân</a:t>
            </a:r>
            <a:r>
              <a:rPr dirty="0" sz="3200" spc="-25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dirty="0" sz="3200">
                <a:solidFill>
                  <a:srgbClr val="888888"/>
                </a:solidFill>
                <a:latin typeface="Calibri"/>
                <a:cs typeface="Calibri"/>
              </a:rPr>
              <a:t>bằng nước</a:t>
            </a:r>
            <a:r>
              <a:rPr dirty="0" sz="3200" spc="-65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dirty="0" sz="3200">
                <a:solidFill>
                  <a:srgbClr val="888888"/>
                </a:solidFill>
                <a:latin typeface="Calibri"/>
                <a:cs typeface="Calibri"/>
              </a:rPr>
              <a:t>cho</a:t>
            </a:r>
            <a:r>
              <a:rPr dirty="0" sz="3200" spc="-3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dirty="0" sz="3200">
                <a:solidFill>
                  <a:srgbClr val="888888"/>
                </a:solidFill>
                <a:latin typeface="Calibri"/>
                <a:cs typeface="Calibri"/>
              </a:rPr>
              <a:t>dự</a:t>
            </a:r>
            <a:r>
              <a:rPr dirty="0" sz="3200" spc="25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dirty="0" sz="3200" spc="-25">
                <a:solidFill>
                  <a:srgbClr val="888888"/>
                </a:solidFill>
                <a:latin typeface="Calibri"/>
                <a:cs typeface="Calibri"/>
              </a:rPr>
              <a:t>báo </a:t>
            </a:r>
            <a:r>
              <a:rPr dirty="0" sz="3200">
                <a:solidFill>
                  <a:srgbClr val="888888"/>
                </a:solidFill>
                <a:latin typeface="Calibri"/>
                <a:cs typeface="Calibri"/>
              </a:rPr>
              <a:t>dòng</a:t>
            </a:r>
            <a:r>
              <a:rPr dirty="0" sz="3200" spc="-9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dirty="0" sz="3200">
                <a:solidFill>
                  <a:srgbClr val="888888"/>
                </a:solidFill>
                <a:latin typeface="Calibri"/>
                <a:cs typeface="Calibri"/>
              </a:rPr>
              <a:t>chảy</a:t>
            </a:r>
            <a:r>
              <a:rPr dirty="0" sz="3200" spc="-25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dirty="0" sz="3200">
                <a:solidFill>
                  <a:srgbClr val="888888"/>
                </a:solidFill>
                <a:latin typeface="Calibri"/>
                <a:cs typeface="Calibri"/>
              </a:rPr>
              <a:t>tại</a:t>
            </a:r>
            <a:r>
              <a:rPr dirty="0" sz="3200" spc="-6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dirty="0" sz="3200">
                <a:solidFill>
                  <a:srgbClr val="888888"/>
                </a:solidFill>
                <a:latin typeface="Calibri"/>
                <a:cs typeface="Calibri"/>
              </a:rPr>
              <a:t>lưu</a:t>
            </a:r>
            <a:r>
              <a:rPr dirty="0" sz="3200" spc="-35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dirty="0" sz="3200">
                <a:solidFill>
                  <a:srgbClr val="888888"/>
                </a:solidFill>
                <a:latin typeface="Calibri"/>
                <a:cs typeface="Calibri"/>
              </a:rPr>
              <a:t>vực</a:t>
            </a:r>
            <a:r>
              <a:rPr dirty="0" sz="3200" spc="-5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dirty="0" sz="3200">
                <a:solidFill>
                  <a:srgbClr val="888888"/>
                </a:solidFill>
                <a:latin typeface="Calibri"/>
                <a:cs typeface="Calibri"/>
              </a:rPr>
              <a:t>ít</a:t>
            </a:r>
            <a:r>
              <a:rPr dirty="0" sz="3200" spc="-15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dirty="0" sz="3200">
                <a:solidFill>
                  <a:srgbClr val="888888"/>
                </a:solidFill>
                <a:latin typeface="Calibri"/>
                <a:cs typeface="Calibri"/>
              </a:rPr>
              <a:t>dữ</a:t>
            </a:r>
            <a:r>
              <a:rPr dirty="0" sz="3200" spc="-6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dirty="0" sz="3200" spc="-20">
                <a:solidFill>
                  <a:srgbClr val="888888"/>
                </a:solidFill>
                <a:latin typeface="Calibri"/>
                <a:cs typeface="Calibri"/>
              </a:rPr>
              <a:t>liệu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730375">
              <a:lnSpc>
                <a:spcPct val="100000"/>
              </a:lnSpc>
              <a:spcBef>
                <a:spcPts val="130"/>
              </a:spcBef>
            </a:pPr>
            <a:r>
              <a:rPr dirty="0"/>
              <a:t>Đặt</a:t>
            </a:r>
            <a:r>
              <a:rPr dirty="0" spc="-100"/>
              <a:t> </a:t>
            </a:r>
            <a:r>
              <a:rPr dirty="0"/>
              <a:t>vấn</a:t>
            </a:r>
            <a:r>
              <a:rPr dirty="0" spc="-105"/>
              <a:t> </a:t>
            </a:r>
            <a:r>
              <a:rPr dirty="0" spc="-25"/>
              <a:t>đề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6575" y="1606930"/>
            <a:ext cx="7833995" cy="1003935"/>
          </a:xfrm>
          <a:prstGeom prst="rect">
            <a:avLst/>
          </a:prstGeom>
        </p:spPr>
        <p:txBody>
          <a:bodyPr wrap="square" lIns="0" tIns="31115" rIns="0" bIns="0" rtlCol="0" vert="horz">
            <a:spAutoFit/>
          </a:bodyPr>
          <a:lstStyle/>
          <a:p>
            <a:pPr marL="355600" marR="5080" indent="-343535">
              <a:lnSpc>
                <a:spcPts val="3829"/>
              </a:lnSpc>
              <a:spcBef>
                <a:spcPts val="245"/>
              </a:spcBef>
              <a:buFont typeface="Arial"/>
              <a:buChar char="•"/>
              <a:tabLst>
                <a:tab pos="355600" algn="l"/>
              </a:tabLst>
            </a:pPr>
            <a:r>
              <a:rPr dirty="0" sz="3200">
                <a:latin typeface="Calibri"/>
                <a:cs typeface="Calibri"/>
              </a:rPr>
              <a:t>Thiếu</a:t>
            </a:r>
            <a:r>
              <a:rPr dirty="0" sz="3200" spc="1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dữ</a:t>
            </a:r>
            <a:r>
              <a:rPr dirty="0" sz="3200" spc="-7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liệu</a:t>
            </a:r>
            <a:r>
              <a:rPr dirty="0" sz="3200" spc="-6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quan</a:t>
            </a:r>
            <a:r>
              <a:rPr dirty="0" sz="3200" spc="-5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trắc,</a:t>
            </a:r>
            <a:r>
              <a:rPr dirty="0" sz="3200" spc="-7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chuyển</a:t>
            </a:r>
            <a:r>
              <a:rPr dirty="0" sz="3200" spc="-5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giao</a:t>
            </a:r>
            <a:r>
              <a:rPr dirty="0" sz="3200" spc="-6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mô</a:t>
            </a:r>
            <a:r>
              <a:rPr dirty="0" sz="3200" spc="-60">
                <a:latin typeface="Calibri"/>
                <a:cs typeface="Calibri"/>
              </a:rPr>
              <a:t> </a:t>
            </a:r>
            <a:r>
              <a:rPr dirty="0" sz="3200" spc="-20">
                <a:latin typeface="Calibri"/>
                <a:cs typeface="Calibri"/>
              </a:rPr>
              <a:t>hình </a:t>
            </a:r>
            <a:r>
              <a:rPr dirty="0" sz="3200">
                <a:latin typeface="Calibri"/>
                <a:cs typeface="Calibri"/>
              </a:rPr>
              <a:t>khó</a:t>
            </a:r>
            <a:r>
              <a:rPr dirty="0" sz="3200" spc="-9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khăn</a:t>
            </a:r>
            <a:r>
              <a:rPr dirty="0" sz="3200" spc="-1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và</a:t>
            </a:r>
            <a:r>
              <a:rPr dirty="0" sz="3200" spc="-8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yêu</a:t>
            </a:r>
            <a:r>
              <a:rPr dirty="0" sz="3200" spc="-1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cầu</a:t>
            </a:r>
            <a:r>
              <a:rPr dirty="0" sz="3200" spc="-8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tính</a:t>
            </a:r>
            <a:r>
              <a:rPr dirty="0" sz="3200" spc="-8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nhất</a:t>
            </a:r>
            <a:r>
              <a:rPr dirty="0" sz="3200" spc="-6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quán</a:t>
            </a:r>
            <a:r>
              <a:rPr dirty="0" sz="3200" spc="-8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vật</a:t>
            </a:r>
            <a:r>
              <a:rPr dirty="0" sz="3200" spc="-70">
                <a:latin typeface="Calibri"/>
                <a:cs typeface="Calibri"/>
              </a:rPr>
              <a:t> </a:t>
            </a:r>
            <a:r>
              <a:rPr dirty="0" sz="3200" spc="-25">
                <a:latin typeface="Calibri"/>
                <a:cs typeface="Calibri"/>
              </a:rPr>
              <a:t>lý.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777875">
              <a:lnSpc>
                <a:spcPct val="100000"/>
              </a:lnSpc>
              <a:spcBef>
                <a:spcPts val="130"/>
              </a:spcBef>
            </a:pPr>
            <a:r>
              <a:rPr dirty="0"/>
              <a:t>Mục</a:t>
            </a:r>
            <a:r>
              <a:rPr dirty="0" spc="-50"/>
              <a:t> </a:t>
            </a:r>
            <a:r>
              <a:rPr dirty="0"/>
              <a:t>tiêu</a:t>
            </a:r>
            <a:r>
              <a:rPr dirty="0" spc="-60"/>
              <a:t> </a:t>
            </a:r>
            <a:r>
              <a:rPr dirty="0"/>
              <a:t>tổng</a:t>
            </a:r>
            <a:r>
              <a:rPr dirty="0" spc="-45"/>
              <a:t> </a:t>
            </a:r>
            <a:r>
              <a:rPr dirty="0" spc="-20"/>
              <a:t>quát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31115" rIns="0" bIns="0" rtlCol="0" vert="horz">
            <a:spAutoFit/>
          </a:bodyPr>
          <a:lstStyle/>
          <a:p>
            <a:pPr marL="355600" marR="5080" indent="-343535">
              <a:lnSpc>
                <a:spcPts val="3829"/>
              </a:lnSpc>
              <a:spcBef>
                <a:spcPts val="245"/>
              </a:spcBef>
              <a:buFont typeface="Arial"/>
              <a:buChar char="•"/>
              <a:tabLst>
                <a:tab pos="355600" algn="l"/>
              </a:tabLst>
            </a:pPr>
            <a:r>
              <a:rPr dirty="0"/>
              <a:t>Phát</a:t>
            </a:r>
            <a:r>
              <a:rPr dirty="0" spc="-45"/>
              <a:t> </a:t>
            </a:r>
            <a:r>
              <a:rPr dirty="0"/>
              <a:t>triển</a:t>
            </a:r>
            <a:r>
              <a:rPr dirty="0" spc="-55"/>
              <a:t> </a:t>
            </a:r>
            <a:r>
              <a:rPr dirty="0"/>
              <a:t>phương</a:t>
            </a:r>
            <a:r>
              <a:rPr dirty="0" spc="-30"/>
              <a:t> </a:t>
            </a:r>
            <a:r>
              <a:rPr dirty="0"/>
              <a:t>pháp</a:t>
            </a:r>
            <a:r>
              <a:rPr dirty="0" spc="-55"/>
              <a:t> </a:t>
            </a:r>
            <a:r>
              <a:rPr dirty="0"/>
              <a:t>học</a:t>
            </a:r>
            <a:r>
              <a:rPr dirty="0" spc="-25"/>
              <a:t> </a:t>
            </a:r>
            <a:r>
              <a:rPr dirty="0"/>
              <a:t>thích</a:t>
            </a:r>
            <a:r>
              <a:rPr dirty="0" spc="-65"/>
              <a:t> </a:t>
            </a:r>
            <a:r>
              <a:rPr dirty="0"/>
              <a:t>nghi</a:t>
            </a:r>
            <a:r>
              <a:rPr dirty="0" spc="-75"/>
              <a:t> </a:t>
            </a:r>
            <a:r>
              <a:rPr dirty="0" spc="-25"/>
              <a:t>kết </a:t>
            </a:r>
            <a:r>
              <a:rPr dirty="0"/>
              <a:t>hợp</a:t>
            </a:r>
            <a:r>
              <a:rPr dirty="0" spc="-55"/>
              <a:t> </a:t>
            </a:r>
            <a:r>
              <a:rPr dirty="0"/>
              <a:t>TSFM,</a:t>
            </a:r>
            <a:r>
              <a:rPr dirty="0" spc="-65"/>
              <a:t> </a:t>
            </a:r>
            <a:r>
              <a:rPr dirty="0"/>
              <a:t>thông</a:t>
            </a:r>
            <a:r>
              <a:rPr dirty="0" spc="-30"/>
              <a:t> </a:t>
            </a:r>
            <a:r>
              <a:rPr dirty="0"/>
              <a:t>tin</a:t>
            </a:r>
            <a:r>
              <a:rPr dirty="0" spc="-45"/>
              <a:t> </a:t>
            </a:r>
            <a:r>
              <a:rPr dirty="0"/>
              <a:t>lưu</a:t>
            </a:r>
            <a:r>
              <a:rPr dirty="0" spc="-55"/>
              <a:t> </a:t>
            </a:r>
            <a:r>
              <a:rPr dirty="0"/>
              <a:t>vực</a:t>
            </a:r>
            <a:r>
              <a:rPr dirty="0" spc="-90"/>
              <a:t> </a:t>
            </a:r>
            <a:r>
              <a:rPr dirty="0"/>
              <a:t>và</a:t>
            </a:r>
            <a:r>
              <a:rPr dirty="0" spc="-55"/>
              <a:t> </a:t>
            </a:r>
            <a:r>
              <a:rPr dirty="0"/>
              <a:t>cân</a:t>
            </a:r>
            <a:r>
              <a:rPr dirty="0" spc="20"/>
              <a:t> </a:t>
            </a:r>
            <a:r>
              <a:rPr dirty="0" spc="-20"/>
              <a:t>bằng </a:t>
            </a:r>
            <a:r>
              <a:rPr dirty="0" spc="-10"/>
              <a:t>nước.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737360">
              <a:lnSpc>
                <a:spcPct val="100000"/>
              </a:lnSpc>
              <a:spcBef>
                <a:spcPts val="130"/>
              </a:spcBef>
            </a:pPr>
            <a:r>
              <a:rPr dirty="0"/>
              <a:t>Mục</a:t>
            </a:r>
            <a:r>
              <a:rPr dirty="0" spc="-45"/>
              <a:t> </a:t>
            </a:r>
            <a:r>
              <a:rPr dirty="0"/>
              <a:t>tiêu</a:t>
            </a:r>
            <a:r>
              <a:rPr dirty="0" spc="-40"/>
              <a:t> </a:t>
            </a:r>
            <a:r>
              <a:rPr dirty="0" spc="-50"/>
              <a:t>1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6575" y="1606930"/>
            <a:ext cx="7346315" cy="1003935"/>
          </a:xfrm>
          <a:prstGeom prst="rect">
            <a:avLst/>
          </a:prstGeom>
        </p:spPr>
        <p:txBody>
          <a:bodyPr wrap="square" lIns="0" tIns="31115" rIns="0" bIns="0" rtlCol="0" vert="horz">
            <a:spAutoFit/>
          </a:bodyPr>
          <a:lstStyle/>
          <a:p>
            <a:pPr marL="355600" marR="5080" indent="-343535">
              <a:lnSpc>
                <a:spcPts val="3829"/>
              </a:lnSpc>
              <a:spcBef>
                <a:spcPts val="245"/>
              </a:spcBef>
              <a:buFont typeface="Arial"/>
              <a:buChar char="•"/>
              <a:tabLst>
                <a:tab pos="355600" algn="l"/>
              </a:tabLst>
            </a:pPr>
            <a:r>
              <a:rPr dirty="0" sz="3200">
                <a:latin typeface="Calibri"/>
                <a:cs typeface="Calibri"/>
              </a:rPr>
              <a:t>Học</a:t>
            </a:r>
            <a:r>
              <a:rPr dirty="0" sz="3200" spc="-4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thích</a:t>
            </a:r>
            <a:r>
              <a:rPr dirty="0" sz="3200" spc="-7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nghi</a:t>
            </a:r>
            <a:r>
              <a:rPr dirty="0" sz="3200" spc="-8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tiết</a:t>
            </a:r>
            <a:r>
              <a:rPr dirty="0" sz="3200" spc="-5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kiệm</a:t>
            </a:r>
            <a:r>
              <a:rPr dirty="0" sz="3200" spc="-5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tham</a:t>
            </a:r>
            <a:r>
              <a:rPr dirty="0" sz="3200" spc="-5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số,</a:t>
            </a:r>
            <a:r>
              <a:rPr dirty="0" sz="3200" spc="-1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lựa</a:t>
            </a:r>
            <a:r>
              <a:rPr dirty="0" sz="3200" spc="-60">
                <a:latin typeface="Calibri"/>
                <a:cs typeface="Calibri"/>
              </a:rPr>
              <a:t> </a:t>
            </a:r>
            <a:r>
              <a:rPr dirty="0" sz="3200" spc="-20">
                <a:latin typeface="Calibri"/>
                <a:cs typeface="Calibri"/>
              </a:rPr>
              <a:t>chọn </a:t>
            </a:r>
            <a:r>
              <a:rPr dirty="0" sz="3200">
                <a:latin typeface="Calibri"/>
                <a:cs typeface="Calibri"/>
              </a:rPr>
              <a:t>thông</a:t>
            </a:r>
            <a:r>
              <a:rPr dirty="0" sz="3200" spc="-2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tin</a:t>
            </a:r>
            <a:r>
              <a:rPr dirty="0" sz="3200" spc="-3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chuyển</a:t>
            </a:r>
            <a:r>
              <a:rPr dirty="0" sz="3200" spc="-5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giao</a:t>
            </a:r>
            <a:r>
              <a:rPr dirty="0" sz="3200" spc="-5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từ</a:t>
            </a:r>
            <a:r>
              <a:rPr dirty="0" sz="3200" spc="-6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lưu</a:t>
            </a:r>
            <a:r>
              <a:rPr dirty="0" sz="3200" spc="-5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vực</a:t>
            </a:r>
            <a:r>
              <a:rPr dirty="0" sz="3200" spc="-10">
                <a:latin typeface="Calibri"/>
                <a:cs typeface="Calibri"/>
              </a:rPr>
              <a:t> nguồn.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737360">
              <a:lnSpc>
                <a:spcPct val="100000"/>
              </a:lnSpc>
              <a:spcBef>
                <a:spcPts val="130"/>
              </a:spcBef>
            </a:pPr>
            <a:r>
              <a:rPr dirty="0"/>
              <a:t>Mục</a:t>
            </a:r>
            <a:r>
              <a:rPr dirty="0" spc="-45"/>
              <a:t> </a:t>
            </a:r>
            <a:r>
              <a:rPr dirty="0"/>
              <a:t>tiêu</a:t>
            </a:r>
            <a:r>
              <a:rPr dirty="0" spc="-40"/>
              <a:t> </a:t>
            </a:r>
            <a:r>
              <a:rPr dirty="0" spc="-50"/>
              <a:t>2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6575" y="1606930"/>
            <a:ext cx="7872095" cy="1003935"/>
          </a:xfrm>
          <a:prstGeom prst="rect">
            <a:avLst/>
          </a:prstGeom>
        </p:spPr>
        <p:txBody>
          <a:bodyPr wrap="square" lIns="0" tIns="31115" rIns="0" bIns="0" rtlCol="0" vert="horz">
            <a:spAutoFit/>
          </a:bodyPr>
          <a:lstStyle/>
          <a:p>
            <a:pPr marL="355600" marR="5080" indent="-343535">
              <a:lnSpc>
                <a:spcPts val="3829"/>
              </a:lnSpc>
              <a:spcBef>
                <a:spcPts val="245"/>
              </a:spcBef>
              <a:buFont typeface="Arial"/>
              <a:buChar char="•"/>
              <a:tabLst>
                <a:tab pos="355600" algn="l"/>
              </a:tabLst>
            </a:pPr>
            <a:r>
              <a:rPr dirty="0" sz="3200">
                <a:latin typeface="Calibri"/>
                <a:cs typeface="Calibri"/>
              </a:rPr>
              <a:t>Phát</a:t>
            </a:r>
            <a:r>
              <a:rPr dirty="0" sz="3200" spc="-5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triển</a:t>
            </a:r>
            <a:r>
              <a:rPr dirty="0" sz="3200" spc="-7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lớp trạng</a:t>
            </a:r>
            <a:r>
              <a:rPr dirty="0" sz="3200" spc="-4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thái</a:t>
            </a:r>
            <a:r>
              <a:rPr dirty="0" sz="3200" spc="-1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thủy</a:t>
            </a:r>
            <a:r>
              <a:rPr dirty="0" sz="3200" spc="-6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văn</a:t>
            </a:r>
            <a:r>
              <a:rPr dirty="0" sz="3200" spc="-6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khả</a:t>
            </a:r>
            <a:r>
              <a:rPr dirty="0" sz="3200" spc="-7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vi</a:t>
            </a:r>
            <a:r>
              <a:rPr dirty="0" sz="3200" spc="-9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và</a:t>
            </a:r>
            <a:r>
              <a:rPr dirty="0" sz="3200" spc="-65">
                <a:latin typeface="Calibri"/>
                <a:cs typeface="Calibri"/>
              </a:rPr>
              <a:t> </a:t>
            </a:r>
            <a:r>
              <a:rPr dirty="0" sz="3200" spc="-25">
                <a:latin typeface="Calibri"/>
                <a:cs typeface="Calibri"/>
              </a:rPr>
              <a:t>cơ </a:t>
            </a:r>
            <a:r>
              <a:rPr dirty="0" sz="3200">
                <a:latin typeface="Calibri"/>
                <a:cs typeface="Calibri"/>
              </a:rPr>
              <a:t>chế</a:t>
            </a:r>
            <a:r>
              <a:rPr dirty="0" sz="3200" spc="-11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ràng</a:t>
            </a:r>
            <a:r>
              <a:rPr dirty="0" sz="3200" spc="-3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buộc</a:t>
            </a:r>
            <a:r>
              <a:rPr dirty="0" sz="3200" spc="-9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cân</a:t>
            </a:r>
            <a:r>
              <a:rPr dirty="0" sz="3200" spc="1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bằng</a:t>
            </a:r>
            <a:r>
              <a:rPr dirty="0" sz="3200" spc="-3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nước.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737360">
              <a:lnSpc>
                <a:spcPct val="100000"/>
              </a:lnSpc>
              <a:spcBef>
                <a:spcPts val="130"/>
              </a:spcBef>
            </a:pPr>
            <a:r>
              <a:rPr dirty="0"/>
              <a:t>Mục</a:t>
            </a:r>
            <a:r>
              <a:rPr dirty="0" spc="-45"/>
              <a:t> </a:t>
            </a:r>
            <a:r>
              <a:rPr dirty="0"/>
              <a:t>tiêu</a:t>
            </a:r>
            <a:r>
              <a:rPr dirty="0" spc="-40"/>
              <a:t> </a:t>
            </a:r>
            <a:r>
              <a:rPr dirty="0" spc="-50"/>
              <a:t>3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6575" y="1606930"/>
            <a:ext cx="7955915" cy="1003935"/>
          </a:xfrm>
          <a:prstGeom prst="rect">
            <a:avLst/>
          </a:prstGeom>
        </p:spPr>
        <p:txBody>
          <a:bodyPr wrap="square" lIns="0" tIns="31115" rIns="0" bIns="0" rtlCol="0" vert="horz">
            <a:spAutoFit/>
          </a:bodyPr>
          <a:lstStyle/>
          <a:p>
            <a:pPr marL="355600" marR="5080" indent="-343535">
              <a:lnSpc>
                <a:spcPts val="3829"/>
              </a:lnSpc>
              <a:spcBef>
                <a:spcPts val="245"/>
              </a:spcBef>
              <a:buFont typeface="Arial"/>
              <a:buChar char="•"/>
              <a:tabLst>
                <a:tab pos="355600" algn="l"/>
              </a:tabLst>
            </a:pPr>
            <a:r>
              <a:rPr dirty="0" sz="3200">
                <a:latin typeface="Calibri"/>
                <a:cs typeface="Calibri"/>
              </a:rPr>
              <a:t>Đánh</a:t>
            </a:r>
            <a:r>
              <a:rPr dirty="0" sz="3200" spc="-5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giá</a:t>
            </a:r>
            <a:r>
              <a:rPr dirty="0" sz="3200" spc="-4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theo</a:t>
            </a:r>
            <a:r>
              <a:rPr dirty="0" sz="3200" spc="-5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thời</a:t>
            </a:r>
            <a:r>
              <a:rPr dirty="0" sz="3200" spc="-7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gian,</a:t>
            </a:r>
            <a:r>
              <a:rPr dirty="0" sz="3200" spc="1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lưu</a:t>
            </a:r>
            <a:r>
              <a:rPr dirty="0" sz="3200" spc="-4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vực,</a:t>
            </a:r>
            <a:r>
              <a:rPr dirty="0" sz="3200" spc="1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mức</a:t>
            </a:r>
            <a:r>
              <a:rPr dirty="0" sz="3200" spc="-2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dữ</a:t>
            </a:r>
            <a:r>
              <a:rPr dirty="0" sz="3200" spc="-70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liệu, </a:t>
            </a:r>
            <a:r>
              <a:rPr dirty="0" sz="3200">
                <a:latin typeface="Calibri"/>
                <a:cs typeface="Calibri"/>
              </a:rPr>
              <a:t>lũ,</a:t>
            </a:r>
            <a:r>
              <a:rPr dirty="0" sz="3200" spc="-4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dòng</a:t>
            </a:r>
            <a:r>
              <a:rPr dirty="0" sz="3200" spc="-6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chảy</a:t>
            </a:r>
            <a:r>
              <a:rPr dirty="0" sz="3200" spc="-8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thấp</a:t>
            </a:r>
            <a:r>
              <a:rPr dirty="0" sz="3200" spc="-9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và</a:t>
            </a:r>
            <a:r>
              <a:rPr dirty="0" sz="3200" spc="-2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bất</a:t>
            </a:r>
            <a:r>
              <a:rPr dirty="0" sz="3200" spc="-80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định.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022350">
              <a:lnSpc>
                <a:spcPct val="100000"/>
              </a:lnSpc>
              <a:spcBef>
                <a:spcPts val="130"/>
              </a:spcBef>
            </a:pPr>
            <a:r>
              <a:rPr dirty="0"/>
              <a:t>Quy</a:t>
            </a:r>
            <a:r>
              <a:rPr dirty="0" spc="-40"/>
              <a:t> </a:t>
            </a:r>
            <a:r>
              <a:rPr dirty="0"/>
              <a:t>trình</a:t>
            </a:r>
            <a:r>
              <a:rPr dirty="0" spc="-45"/>
              <a:t> </a:t>
            </a:r>
            <a:r>
              <a:rPr dirty="0"/>
              <a:t>dữ</a:t>
            </a:r>
            <a:r>
              <a:rPr dirty="0" spc="-85"/>
              <a:t> </a:t>
            </a:r>
            <a:r>
              <a:rPr dirty="0" spc="-20"/>
              <a:t>liệu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6575" y="1606930"/>
            <a:ext cx="7766050" cy="1003935"/>
          </a:xfrm>
          <a:prstGeom prst="rect">
            <a:avLst/>
          </a:prstGeom>
        </p:spPr>
        <p:txBody>
          <a:bodyPr wrap="square" lIns="0" tIns="31115" rIns="0" bIns="0" rtlCol="0" vert="horz">
            <a:spAutoFit/>
          </a:bodyPr>
          <a:lstStyle/>
          <a:p>
            <a:pPr marL="355600" marR="5080" indent="-343535">
              <a:lnSpc>
                <a:spcPts val="3829"/>
              </a:lnSpc>
              <a:spcBef>
                <a:spcPts val="245"/>
              </a:spcBef>
              <a:buFont typeface="Arial"/>
              <a:buChar char="•"/>
              <a:tabLst>
                <a:tab pos="355600" algn="l"/>
              </a:tabLst>
            </a:pPr>
            <a:r>
              <a:rPr dirty="0" sz="3200">
                <a:latin typeface="Calibri"/>
                <a:cs typeface="Calibri"/>
              </a:rPr>
              <a:t>Chuẩn</a:t>
            </a:r>
            <a:r>
              <a:rPr dirty="0" sz="3200" spc="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hóa</a:t>
            </a:r>
            <a:r>
              <a:rPr dirty="0" sz="3200" spc="-6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dữ</a:t>
            </a:r>
            <a:r>
              <a:rPr dirty="0" sz="3200" spc="-1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liệu;</a:t>
            </a:r>
            <a:r>
              <a:rPr dirty="0" sz="3200" spc="-6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mã</a:t>
            </a:r>
            <a:r>
              <a:rPr dirty="0" sz="3200" spc="-6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hóa</a:t>
            </a:r>
            <a:r>
              <a:rPr dirty="0" sz="3200" spc="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bối</a:t>
            </a:r>
            <a:r>
              <a:rPr dirty="0" sz="3200" spc="-8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cảnh</a:t>
            </a:r>
            <a:r>
              <a:rPr dirty="0" sz="3200" spc="-6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lưu</a:t>
            </a:r>
            <a:r>
              <a:rPr dirty="0" sz="3200" spc="-60">
                <a:latin typeface="Calibri"/>
                <a:cs typeface="Calibri"/>
              </a:rPr>
              <a:t> </a:t>
            </a:r>
            <a:r>
              <a:rPr dirty="0" sz="3200" spc="-20">
                <a:latin typeface="Calibri"/>
                <a:cs typeface="Calibri"/>
              </a:rPr>
              <a:t>vực; </a:t>
            </a:r>
            <a:r>
              <a:rPr dirty="0" sz="3200" spc="-10">
                <a:latin typeface="Calibri"/>
                <a:cs typeface="Calibri"/>
              </a:rPr>
              <a:t>TSFM+Adapter;</a:t>
            </a:r>
            <a:r>
              <a:rPr dirty="0" sz="3200" spc="-5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lớp</a:t>
            </a:r>
            <a:r>
              <a:rPr dirty="0" sz="3200" spc="-5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thủy</a:t>
            </a:r>
            <a:r>
              <a:rPr dirty="0" sz="3200" spc="-50">
                <a:latin typeface="Calibri"/>
                <a:cs typeface="Calibri"/>
              </a:rPr>
              <a:t> </a:t>
            </a:r>
            <a:r>
              <a:rPr dirty="0" sz="3200" spc="-20">
                <a:latin typeface="Calibri"/>
                <a:cs typeface="Calibri"/>
              </a:rPr>
              <a:t>văn.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027430">
              <a:lnSpc>
                <a:spcPct val="100000"/>
              </a:lnSpc>
              <a:spcBef>
                <a:spcPts val="130"/>
              </a:spcBef>
            </a:pPr>
            <a:r>
              <a:rPr dirty="0"/>
              <a:t>Kiến</a:t>
            </a:r>
            <a:r>
              <a:rPr dirty="0" spc="-70"/>
              <a:t> </a:t>
            </a:r>
            <a:r>
              <a:rPr dirty="0"/>
              <a:t>trúc</a:t>
            </a:r>
            <a:r>
              <a:rPr dirty="0" spc="5"/>
              <a:t> </a:t>
            </a:r>
            <a:r>
              <a:rPr dirty="0"/>
              <a:t>đề</a:t>
            </a:r>
            <a:r>
              <a:rPr dirty="0" spc="-85"/>
              <a:t> </a:t>
            </a:r>
            <a:r>
              <a:rPr dirty="0" spc="-20"/>
              <a:t>xuất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6575" y="1606930"/>
            <a:ext cx="7633334" cy="1003935"/>
          </a:xfrm>
          <a:prstGeom prst="rect">
            <a:avLst/>
          </a:prstGeom>
        </p:spPr>
        <p:txBody>
          <a:bodyPr wrap="square" lIns="0" tIns="31115" rIns="0" bIns="0" rtlCol="0" vert="horz">
            <a:spAutoFit/>
          </a:bodyPr>
          <a:lstStyle/>
          <a:p>
            <a:pPr marL="355600" marR="5080" indent="-343535">
              <a:lnSpc>
                <a:spcPts val="3829"/>
              </a:lnSpc>
              <a:spcBef>
                <a:spcPts val="245"/>
              </a:spcBef>
              <a:buFont typeface="Arial"/>
              <a:buChar char="•"/>
              <a:tabLst>
                <a:tab pos="355600" algn="l"/>
              </a:tabLst>
            </a:pPr>
            <a:r>
              <a:rPr dirty="0" sz="3200">
                <a:latin typeface="Calibri"/>
                <a:cs typeface="Calibri"/>
              </a:rPr>
              <a:t>TSFM</a:t>
            </a:r>
            <a:r>
              <a:rPr dirty="0" sz="3200" spc="-8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tiền huấn</a:t>
            </a:r>
            <a:r>
              <a:rPr dirty="0" sz="3200" spc="-7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luyện</a:t>
            </a:r>
            <a:r>
              <a:rPr dirty="0" sz="3200" spc="-7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+</a:t>
            </a:r>
            <a:r>
              <a:rPr dirty="0" sz="3200" spc="-5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Adapter/PEFT</a:t>
            </a:r>
            <a:r>
              <a:rPr dirty="0" sz="3200" spc="-9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+</a:t>
            </a:r>
            <a:r>
              <a:rPr dirty="0" sz="3200" spc="-55">
                <a:latin typeface="Calibri"/>
                <a:cs typeface="Calibri"/>
              </a:rPr>
              <a:t> </a:t>
            </a:r>
            <a:r>
              <a:rPr dirty="0" sz="3200" spc="-25">
                <a:latin typeface="Calibri"/>
                <a:cs typeface="Calibri"/>
              </a:rPr>
              <a:t>Lớp </a:t>
            </a:r>
            <a:r>
              <a:rPr dirty="0" sz="3200">
                <a:latin typeface="Calibri"/>
                <a:cs typeface="Calibri"/>
              </a:rPr>
              <a:t>thủy</a:t>
            </a:r>
            <a:r>
              <a:rPr dirty="0" sz="3200" spc="-9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văn</a:t>
            </a:r>
            <a:r>
              <a:rPr dirty="0" sz="3200" spc="-10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có</a:t>
            </a:r>
            <a:r>
              <a:rPr dirty="0" sz="3200" spc="-4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ràng</a:t>
            </a:r>
            <a:r>
              <a:rPr dirty="0" sz="3200" spc="-80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buộc.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21590">
              <a:lnSpc>
                <a:spcPct val="100000"/>
              </a:lnSpc>
              <a:spcBef>
                <a:spcPts val="130"/>
              </a:spcBef>
            </a:pPr>
            <a:r>
              <a:rPr dirty="0"/>
              <a:t>Ràng</a:t>
            </a:r>
            <a:r>
              <a:rPr dirty="0" spc="-50"/>
              <a:t> </a:t>
            </a:r>
            <a:r>
              <a:rPr dirty="0"/>
              <a:t>buộc</a:t>
            </a:r>
            <a:r>
              <a:rPr dirty="0" spc="-55"/>
              <a:t> </a:t>
            </a:r>
            <a:r>
              <a:rPr dirty="0"/>
              <a:t>cân</a:t>
            </a:r>
            <a:r>
              <a:rPr dirty="0" spc="-60"/>
              <a:t> </a:t>
            </a:r>
            <a:r>
              <a:rPr dirty="0"/>
              <a:t>bằng</a:t>
            </a:r>
            <a:r>
              <a:rPr dirty="0" spc="-45"/>
              <a:t> </a:t>
            </a:r>
            <a:r>
              <a:rPr dirty="0" spc="-20"/>
              <a:t>nước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6575" y="1606930"/>
            <a:ext cx="7859395" cy="1003935"/>
          </a:xfrm>
          <a:prstGeom prst="rect">
            <a:avLst/>
          </a:prstGeom>
        </p:spPr>
        <p:txBody>
          <a:bodyPr wrap="square" lIns="0" tIns="31115" rIns="0" bIns="0" rtlCol="0" vert="horz">
            <a:spAutoFit/>
          </a:bodyPr>
          <a:lstStyle/>
          <a:p>
            <a:pPr marL="355600" marR="5080" indent="-343535">
              <a:lnSpc>
                <a:spcPts val="3829"/>
              </a:lnSpc>
              <a:spcBef>
                <a:spcPts val="245"/>
              </a:spcBef>
              <a:buFont typeface="Arial"/>
              <a:buChar char="•"/>
              <a:tabLst>
                <a:tab pos="355600" algn="l"/>
              </a:tabLst>
            </a:pPr>
            <a:r>
              <a:rPr dirty="0" sz="3200">
                <a:latin typeface="Calibri"/>
                <a:cs typeface="Calibri"/>
              </a:rPr>
              <a:t>ΔS</a:t>
            </a:r>
            <a:r>
              <a:rPr dirty="0" sz="3200" spc="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=</a:t>
            </a:r>
            <a:r>
              <a:rPr dirty="0" sz="3200" spc="-4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P</a:t>
            </a:r>
            <a:r>
              <a:rPr dirty="0" sz="3200" spc="-9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−</a:t>
            </a:r>
            <a:r>
              <a:rPr dirty="0" sz="3200" spc="-3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ET</a:t>
            </a:r>
            <a:r>
              <a:rPr dirty="0" sz="3200" spc="-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−</a:t>
            </a:r>
            <a:r>
              <a:rPr dirty="0" sz="3200" spc="-4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Q</a:t>
            </a:r>
            <a:r>
              <a:rPr dirty="0" sz="3200" spc="-7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+</a:t>
            </a:r>
            <a:r>
              <a:rPr dirty="0" sz="3200" spc="-3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ε;</a:t>
            </a:r>
            <a:r>
              <a:rPr dirty="0" sz="3200" spc="2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kiểm</a:t>
            </a:r>
            <a:r>
              <a:rPr dirty="0" sz="3200" spc="-4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soát</a:t>
            </a:r>
            <a:r>
              <a:rPr dirty="0" sz="3200" spc="-3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trạng</a:t>
            </a:r>
            <a:r>
              <a:rPr dirty="0" sz="3200" spc="-3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thái ẩn</a:t>
            </a:r>
            <a:r>
              <a:rPr dirty="0" sz="3200" spc="20">
                <a:latin typeface="Calibri"/>
                <a:cs typeface="Calibri"/>
              </a:rPr>
              <a:t> </a:t>
            </a:r>
            <a:r>
              <a:rPr dirty="0" sz="3200" spc="-25">
                <a:latin typeface="Calibri"/>
                <a:cs typeface="Calibri"/>
              </a:rPr>
              <a:t>và </a:t>
            </a:r>
            <a:r>
              <a:rPr dirty="0" sz="3200">
                <a:latin typeface="Calibri"/>
                <a:cs typeface="Calibri"/>
              </a:rPr>
              <a:t>tính</a:t>
            </a:r>
            <a:r>
              <a:rPr dirty="0" sz="3200" spc="-7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vật</a:t>
            </a:r>
            <a:r>
              <a:rPr dirty="0" sz="3200" spc="-55">
                <a:latin typeface="Calibri"/>
                <a:cs typeface="Calibri"/>
              </a:rPr>
              <a:t> </a:t>
            </a:r>
            <a:r>
              <a:rPr dirty="0" sz="3200" spc="-25">
                <a:latin typeface="Calibri"/>
                <a:cs typeface="Calibri"/>
              </a:rPr>
              <a:t>lý.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466090">
              <a:lnSpc>
                <a:spcPct val="100000"/>
              </a:lnSpc>
              <a:spcBef>
                <a:spcPts val="130"/>
              </a:spcBef>
            </a:pPr>
            <a:r>
              <a:rPr dirty="0"/>
              <a:t>Dữ</a:t>
            </a:r>
            <a:r>
              <a:rPr dirty="0" spc="-30"/>
              <a:t> </a:t>
            </a:r>
            <a:r>
              <a:rPr dirty="0"/>
              <a:t>liệu</a:t>
            </a:r>
            <a:r>
              <a:rPr dirty="0" spc="-55"/>
              <a:t> </a:t>
            </a:r>
            <a:r>
              <a:rPr dirty="0"/>
              <a:t>và</a:t>
            </a:r>
            <a:r>
              <a:rPr dirty="0" spc="-70"/>
              <a:t> </a:t>
            </a:r>
            <a:r>
              <a:rPr dirty="0" spc="-10"/>
              <a:t>Benchmark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6575" y="1606930"/>
            <a:ext cx="7806055" cy="1003935"/>
          </a:xfrm>
          <a:prstGeom prst="rect">
            <a:avLst/>
          </a:prstGeom>
        </p:spPr>
        <p:txBody>
          <a:bodyPr wrap="square" lIns="0" tIns="31115" rIns="0" bIns="0" rtlCol="0" vert="horz">
            <a:spAutoFit/>
          </a:bodyPr>
          <a:lstStyle/>
          <a:p>
            <a:pPr marL="355600" marR="5080" indent="-343535">
              <a:lnSpc>
                <a:spcPts val="3829"/>
              </a:lnSpc>
              <a:spcBef>
                <a:spcPts val="245"/>
              </a:spcBef>
              <a:buFont typeface="Arial"/>
              <a:buChar char="•"/>
              <a:tabLst>
                <a:tab pos="355600" algn="l"/>
              </a:tabLst>
            </a:pPr>
            <a:r>
              <a:rPr dirty="0" sz="3200" spc="-20">
                <a:latin typeface="Calibri"/>
                <a:cs typeface="Calibri"/>
              </a:rPr>
              <a:t>CAMELS-</a:t>
            </a:r>
            <a:r>
              <a:rPr dirty="0" sz="3200">
                <a:latin typeface="Calibri"/>
                <a:cs typeface="Calibri"/>
              </a:rPr>
              <a:t>US,</a:t>
            </a:r>
            <a:r>
              <a:rPr dirty="0" sz="3200" spc="-30">
                <a:latin typeface="Calibri"/>
                <a:cs typeface="Calibri"/>
              </a:rPr>
              <a:t> </a:t>
            </a:r>
            <a:r>
              <a:rPr dirty="0" sz="3200" spc="-20">
                <a:latin typeface="Calibri"/>
                <a:cs typeface="Calibri"/>
              </a:rPr>
              <a:t>Caravan,</a:t>
            </a:r>
            <a:r>
              <a:rPr dirty="0" sz="3200" spc="-30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CAMELS-</a:t>
            </a:r>
            <a:r>
              <a:rPr dirty="0" sz="3200">
                <a:latin typeface="Calibri"/>
                <a:cs typeface="Calibri"/>
              </a:rPr>
              <a:t>GB v2,</a:t>
            </a:r>
            <a:r>
              <a:rPr dirty="0" sz="3200" spc="-2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dữ</a:t>
            </a:r>
            <a:r>
              <a:rPr dirty="0" sz="3200" spc="-40">
                <a:latin typeface="Calibri"/>
                <a:cs typeface="Calibri"/>
              </a:rPr>
              <a:t> </a:t>
            </a:r>
            <a:r>
              <a:rPr dirty="0" sz="3200" spc="-20">
                <a:latin typeface="Calibri"/>
                <a:cs typeface="Calibri"/>
              </a:rPr>
              <a:t>liệu </a:t>
            </a:r>
            <a:r>
              <a:rPr dirty="0" sz="3200">
                <a:latin typeface="Calibri"/>
                <a:cs typeface="Calibri"/>
              </a:rPr>
              <a:t>Việt</a:t>
            </a:r>
            <a:r>
              <a:rPr dirty="0" sz="3200" spc="-3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Nam</a:t>
            </a:r>
            <a:r>
              <a:rPr dirty="0" sz="3200" spc="-2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WebAtlas.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957705">
              <a:lnSpc>
                <a:spcPct val="100000"/>
              </a:lnSpc>
              <a:spcBef>
                <a:spcPts val="130"/>
              </a:spcBef>
            </a:pPr>
            <a:r>
              <a:rPr dirty="0"/>
              <a:t>Đánh</a:t>
            </a:r>
            <a:r>
              <a:rPr dirty="0" spc="-45"/>
              <a:t> </a:t>
            </a:r>
            <a:r>
              <a:rPr dirty="0" spc="-25"/>
              <a:t>giá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6575" y="1606930"/>
            <a:ext cx="7597140" cy="1003935"/>
          </a:xfrm>
          <a:prstGeom prst="rect">
            <a:avLst/>
          </a:prstGeom>
        </p:spPr>
        <p:txBody>
          <a:bodyPr wrap="square" lIns="0" tIns="31115" rIns="0" bIns="0" rtlCol="0" vert="horz">
            <a:spAutoFit/>
          </a:bodyPr>
          <a:lstStyle/>
          <a:p>
            <a:pPr marL="355600" marR="5080" indent="-343535">
              <a:lnSpc>
                <a:spcPts val="3829"/>
              </a:lnSpc>
              <a:spcBef>
                <a:spcPts val="245"/>
              </a:spcBef>
              <a:buFont typeface="Arial"/>
              <a:buChar char="•"/>
              <a:tabLst>
                <a:tab pos="355600" algn="l"/>
              </a:tabLst>
            </a:pPr>
            <a:r>
              <a:rPr dirty="0" sz="3200">
                <a:latin typeface="Calibri"/>
                <a:cs typeface="Calibri"/>
              </a:rPr>
              <a:t>NSE,</a:t>
            </a:r>
            <a:r>
              <a:rPr dirty="0" sz="3200" spc="-10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KGE,</a:t>
            </a:r>
            <a:r>
              <a:rPr dirty="0" sz="3200" spc="-10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RMSE,</a:t>
            </a:r>
            <a:r>
              <a:rPr dirty="0" sz="3200" spc="-4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MAE,</a:t>
            </a:r>
            <a:r>
              <a:rPr dirty="0" sz="3200" spc="-9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Peak</a:t>
            </a:r>
            <a:r>
              <a:rPr dirty="0" sz="3200" spc="-9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Flow</a:t>
            </a:r>
            <a:r>
              <a:rPr dirty="0" sz="3200" spc="-40">
                <a:latin typeface="Calibri"/>
                <a:cs typeface="Calibri"/>
              </a:rPr>
              <a:t> </a:t>
            </a:r>
            <a:r>
              <a:rPr dirty="0" sz="3200" spc="-60">
                <a:latin typeface="Calibri"/>
                <a:cs typeface="Calibri"/>
              </a:rPr>
              <a:t>Error,</a:t>
            </a:r>
            <a:r>
              <a:rPr dirty="0" sz="3200" spc="-105">
                <a:latin typeface="Calibri"/>
                <a:cs typeface="Calibri"/>
              </a:rPr>
              <a:t> </a:t>
            </a:r>
            <a:r>
              <a:rPr dirty="0" sz="3200" spc="-25">
                <a:latin typeface="Calibri"/>
                <a:cs typeface="Calibri"/>
              </a:rPr>
              <a:t>Low </a:t>
            </a:r>
            <a:r>
              <a:rPr dirty="0" sz="3200">
                <a:latin typeface="Calibri"/>
                <a:cs typeface="Calibri"/>
              </a:rPr>
              <a:t>Flow</a:t>
            </a:r>
            <a:r>
              <a:rPr dirty="0" sz="3200" spc="-7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Error.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933450">
              <a:lnSpc>
                <a:spcPct val="100000"/>
              </a:lnSpc>
              <a:spcBef>
                <a:spcPts val="130"/>
              </a:spcBef>
            </a:pPr>
            <a:r>
              <a:rPr dirty="0"/>
              <a:t>Đóng</a:t>
            </a:r>
            <a:r>
              <a:rPr dirty="0" spc="-35"/>
              <a:t> </a:t>
            </a:r>
            <a:r>
              <a:rPr dirty="0"/>
              <a:t>góp</a:t>
            </a:r>
            <a:r>
              <a:rPr dirty="0" spc="-50"/>
              <a:t> </a:t>
            </a:r>
            <a:r>
              <a:rPr dirty="0"/>
              <a:t>kỳ</a:t>
            </a:r>
            <a:r>
              <a:rPr dirty="0" spc="-85"/>
              <a:t> </a:t>
            </a:r>
            <a:r>
              <a:rPr dirty="0" spc="-20"/>
              <a:t>vọng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6575" y="1606930"/>
            <a:ext cx="7823834" cy="1003935"/>
          </a:xfrm>
          <a:prstGeom prst="rect">
            <a:avLst/>
          </a:prstGeom>
        </p:spPr>
        <p:txBody>
          <a:bodyPr wrap="square" lIns="0" tIns="31115" rIns="0" bIns="0" rtlCol="0" vert="horz">
            <a:spAutoFit/>
          </a:bodyPr>
          <a:lstStyle/>
          <a:p>
            <a:pPr marL="355600" marR="5080" indent="-343535">
              <a:lnSpc>
                <a:spcPts val="3829"/>
              </a:lnSpc>
              <a:spcBef>
                <a:spcPts val="245"/>
              </a:spcBef>
              <a:buFont typeface="Arial"/>
              <a:buChar char="•"/>
              <a:tabLst>
                <a:tab pos="355600" algn="l"/>
              </a:tabLst>
            </a:pPr>
            <a:r>
              <a:rPr dirty="0" sz="3200">
                <a:latin typeface="Calibri"/>
                <a:cs typeface="Calibri"/>
              </a:rPr>
              <a:t>Mô</a:t>
            </a:r>
            <a:r>
              <a:rPr dirty="0" sz="3200" spc="-5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hình</a:t>
            </a:r>
            <a:r>
              <a:rPr dirty="0" sz="3200" spc="-4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thích</a:t>
            </a:r>
            <a:r>
              <a:rPr dirty="0" sz="3200" spc="3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nghi</a:t>
            </a:r>
            <a:r>
              <a:rPr dirty="0" sz="3200" spc="-6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cho</a:t>
            </a:r>
            <a:r>
              <a:rPr dirty="0" sz="3200" spc="-5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lưu</a:t>
            </a:r>
            <a:r>
              <a:rPr dirty="0" sz="3200" spc="3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vực</a:t>
            </a:r>
            <a:r>
              <a:rPr dirty="0" sz="3200" spc="-8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ít</a:t>
            </a:r>
            <a:r>
              <a:rPr dirty="0" sz="3200" spc="-2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dữ</a:t>
            </a:r>
            <a:r>
              <a:rPr dirty="0" sz="3200" spc="-65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liệu,</a:t>
            </a:r>
            <a:r>
              <a:rPr dirty="0" sz="3200" spc="10">
                <a:latin typeface="Calibri"/>
                <a:cs typeface="Calibri"/>
              </a:rPr>
              <a:t> </a:t>
            </a:r>
            <a:r>
              <a:rPr dirty="0" sz="3200" spc="-25">
                <a:latin typeface="Calibri"/>
                <a:cs typeface="Calibri"/>
              </a:rPr>
              <a:t>API </a:t>
            </a:r>
            <a:r>
              <a:rPr dirty="0" sz="3200" spc="-20">
                <a:latin typeface="Calibri"/>
                <a:cs typeface="Calibri"/>
              </a:rPr>
              <a:t>WebAtlas,</a:t>
            </a:r>
            <a:r>
              <a:rPr dirty="0" sz="3200" spc="-9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công</a:t>
            </a:r>
            <a:r>
              <a:rPr dirty="0" sz="3200" spc="-6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bố</a:t>
            </a:r>
            <a:r>
              <a:rPr dirty="0" sz="3200" spc="-2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khoa</a:t>
            </a:r>
            <a:r>
              <a:rPr dirty="0" sz="3200" spc="-80">
                <a:latin typeface="Calibri"/>
                <a:cs typeface="Calibri"/>
              </a:rPr>
              <a:t> </a:t>
            </a:r>
            <a:r>
              <a:rPr dirty="0" sz="3200" spc="-20">
                <a:latin typeface="Calibri"/>
                <a:cs typeface="Calibri"/>
              </a:rPr>
              <a:t>học.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2026-10-28T09:50:57Z</dcterms:created>
  <dcterms:modified xsi:type="dcterms:W3CDTF">2026-10-28T09:50:57Z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2026-10-28T00:00:00Z</vt:filetime>
  </property>
  <property fmtid="{D5CDD505-2E9C-101B-9397-08002B2CF9AE}" pid="3" name="LastSaved">
    <vt:filetime>2026-10-28T00:00:00Z</vt:filetime>
  </property>
</Properties>
</file>