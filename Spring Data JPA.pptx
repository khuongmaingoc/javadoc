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73" r:id="rId3"/>
    <p:sldId id="257" r:id="rId4"/>
    <p:sldId id="319" r:id="rId5"/>
    <p:sldId id="320" r:id="rId6"/>
    <p:sldId id="322" r:id="rId7"/>
    <p:sldId id="325" r:id="rId8"/>
    <p:sldId id="370" r:id="rId9"/>
    <p:sldId id="326" r:id="rId10"/>
    <p:sldId id="327" r:id="rId11"/>
    <p:sldId id="328" r:id="rId12"/>
    <p:sldId id="329" r:id="rId13"/>
    <p:sldId id="330" r:id="rId14"/>
    <p:sldId id="331" r:id="rId15"/>
    <p:sldId id="332" r:id="rId16"/>
    <p:sldId id="333" r:id="rId17"/>
    <p:sldId id="334" r:id="rId18"/>
    <p:sldId id="335" r:id="rId19"/>
    <p:sldId id="369" r:id="rId20"/>
    <p:sldId id="338" r:id="rId21"/>
    <p:sldId id="339" r:id="rId22"/>
    <p:sldId id="340" r:id="rId23"/>
    <p:sldId id="341" r:id="rId24"/>
    <p:sldId id="342" r:id="rId25"/>
    <p:sldId id="343" r:id="rId26"/>
    <p:sldId id="344" r:id="rId27"/>
    <p:sldId id="346" r:id="rId28"/>
    <p:sldId id="345" r:id="rId29"/>
    <p:sldId id="347" r:id="rId30"/>
    <p:sldId id="350" r:id="rId31"/>
    <p:sldId id="348" r:id="rId32"/>
    <p:sldId id="351" r:id="rId33"/>
    <p:sldId id="356" r:id="rId34"/>
    <p:sldId id="352" r:id="rId35"/>
    <p:sldId id="366" r:id="rId36"/>
    <p:sldId id="353" r:id="rId37"/>
    <p:sldId id="367" r:id="rId38"/>
    <p:sldId id="368" r:id="rId39"/>
    <p:sldId id="354" r:id="rId40"/>
    <p:sldId id="355" r:id="rId41"/>
    <p:sldId id="304" r:id="rId42"/>
    <p:sldId id="363" r:id="rId43"/>
    <p:sldId id="364" r:id="rId44"/>
    <p:sldId id="365" r:id="rId45"/>
    <p:sldId id="311" r:id="rId46"/>
    <p:sldId id="357" r:id="rId47"/>
    <p:sldId id="358" r:id="rId48"/>
    <p:sldId id="359" r:id="rId49"/>
    <p:sldId id="360" r:id="rId50"/>
    <p:sldId id="362" r:id="rId51"/>
    <p:sldId id="317" r:id="rId5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ang Van Tien" initials="HVT" lastIdx="1" clrIdx="0">
    <p:extLst>
      <p:ext uri="{19B8F6BF-5375-455C-9EA6-DF929625EA0E}">
        <p15:presenceInfo xmlns:p15="http://schemas.microsoft.com/office/powerpoint/2012/main" userId="S-1-5-21-2504642982-3838258727-2017454565-1092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53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7D6EF-AAA2-4732-879E-DE67F9C20C3B}" type="datetimeFigureOut">
              <a:rPr lang="en-US" smtClean="0"/>
              <a:t>5/17/2022</a:t>
            </a:fld>
            <a:endParaRPr 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2A5FC-28DD-4CA2-8824-1FC92AAC2223}" type="slidenum">
              <a:rPr lang="en-US" smtClean="0"/>
              <a:t>‹#›</a:t>
            </a:fld>
            <a:endParaRPr lang="en-US"/>
          </a:p>
        </p:txBody>
      </p:sp>
    </p:spTree>
    <p:extLst>
      <p:ext uri="{BB962C8B-B14F-4D97-AF65-F5344CB8AC3E}">
        <p14:creationId xmlns:p14="http://schemas.microsoft.com/office/powerpoint/2010/main" val="419761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3</a:t>
            </a:fld>
            <a:endParaRPr lang="en-US"/>
          </a:p>
        </p:txBody>
      </p:sp>
    </p:spTree>
    <p:extLst>
      <p:ext uri="{BB962C8B-B14F-4D97-AF65-F5344CB8AC3E}">
        <p14:creationId xmlns:p14="http://schemas.microsoft.com/office/powerpoint/2010/main" val="2315620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7</a:t>
            </a:fld>
            <a:endParaRPr lang="en-US"/>
          </a:p>
        </p:txBody>
      </p:sp>
    </p:spTree>
    <p:extLst>
      <p:ext uri="{BB962C8B-B14F-4D97-AF65-F5344CB8AC3E}">
        <p14:creationId xmlns:p14="http://schemas.microsoft.com/office/powerpoint/2010/main" val="1937101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31</a:t>
            </a:fld>
            <a:endParaRPr lang="en-US"/>
          </a:p>
        </p:txBody>
      </p:sp>
    </p:spTree>
    <p:extLst>
      <p:ext uri="{BB962C8B-B14F-4D97-AF65-F5344CB8AC3E}">
        <p14:creationId xmlns:p14="http://schemas.microsoft.com/office/powerpoint/2010/main" val="603455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56DD26-32A4-2A43-990A-6F7E5E73786E}" type="datetimeFigureOut">
              <a:rPr lang="en-US" smtClean="0"/>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56DD26-32A4-2A43-990A-6F7E5E73786E}" type="datetimeFigureOut">
              <a:rPr lang="en-US" smtClean="0"/>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56DD26-32A4-2A43-990A-6F7E5E73786E}" type="datetimeFigureOut">
              <a:rPr lang="en-US" smtClean="0"/>
              <a:t>5/17/2022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56DD26-32A4-2A43-990A-6F7E5E73786E}" type="datetimeFigureOut">
              <a:rPr lang="en-US" smtClean="0"/>
              <a:t>5/17/2022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56DD26-32A4-2A43-990A-6F7E5E73786E}" type="datetimeFigureOut">
              <a:rPr lang="en-US" smtClean="0"/>
              <a:t>5/17/2022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56DD26-32A4-2A43-990A-6F7E5E73786E}" type="datetimeFigureOut">
              <a:rPr lang="en-US" smtClean="0"/>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56DD26-32A4-2A43-990A-6F7E5E73786E}" type="datetimeFigureOut">
              <a:rPr lang="en-US" smtClean="0"/>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56DD26-32A4-2A43-990A-6F7E5E73786E}" type="datetimeFigureOut">
              <a:rPr lang="en-US" smtClean="0"/>
              <a:t>5/17/2022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6AF604-6CBA-6F4A-A6F6-26E48A4D0EE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package" Target="../embeddings/Microsoft_Excel_______2.xlsx"/><Relationship Id="rId13" Type="http://schemas.openxmlformats.org/officeDocument/2006/relationships/oleObject" Target="../embeddings/oleObject4.bin"/><Relationship Id="rId3" Type="http://schemas.openxmlformats.org/officeDocument/2006/relationships/image" Target="../media/image7.jpeg"/><Relationship Id="rId7" Type="http://schemas.openxmlformats.org/officeDocument/2006/relationships/oleObject" Target="../embeddings/oleObject2.bin"/><Relationship Id="rId12" Type="http://schemas.openxmlformats.org/officeDocument/2006/relationships/image" Target="../media/image15.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3.emf"/><Relationship Id="rId11" Type="http://schemas.openxmlformats.org/officeDocument/2006/relationships/package" Target="../embeddings/Microsoft_Excel_______3.xlsx"/><Relationship Id="rId5" Type="http://schemas.openxmlformats.org/officeDocument/2006/relationships/package" Target="../embeddings/Microsoft_Excel_______1.xlsx"/><Relationship Id="rId15" Type="http://schemas.openxmlformats.org/officeDocument/2006/relationships/image" Target="../media/image16.emf"/><Relationship Id="rId10" Type="http://schemas.openxmlformats.org/officeDocument/2006/relationships/oleObject" Target="../embeddings/oleObject3.bin"/><Relationship Id="rId4" Type="http://schemas.openxmlformats.org/officeDocument/2006/relationships/oleObject" Target="../embeddings/oleObject1.bin"/><Relationship Id="rId9" Type="http://schemas.openxmlformats.org/officeDocument/2006/relationships/image" Target="../media/image14.emf"/><Relationship Id="rId14" Type="http://schemas.openxmlformats.org/officeDocument/2006/relationships/package" Target="../embeddings/Microsoft_Excel_______4.xlsx"/></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44.png"/><Relationship Id="rId7" Type="http://schemas.openxmlformats.org/officeDocument/2006/relationships/package" Target="../embeddings/Microsoft_Excel_______5.xlsx"/><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46.emf"/><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docs.spring.io/spring-data/jpa/docs/current/api/index.html?org/springframework/data/jpa/repository/QueryHints.html" TargetMode="External"/><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hyperlink" Target="https://docs.oracle.com/javaee/7/api/javax/persistence/QueryHint.html"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0"/>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Freeform 1"/>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Freeform 2"/>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5"/>
          <p:cNvSpPr/>
          <p:nvPr/>
        </p:nvSpPr>
        <p:spPr>
          <a:xfrm>
            <a:off x="0" y="2825448"/>
            <a:ext cx="3116346" cy="1478046"/>
          </a:xfrm>
          <a:custGeom>
            <a:avLst/>
            <a:gdLst>
              <a:gd name="connsiteX0" fmla="*/ 1925378 w 3116346"/>
              <a:gd name="connsiteY0" fmla="*/ 1246768 h 1478046"/>
              <a:gd name="connsiteX1" fmla="*/ 1925378 w 3116346"/>
              <a:gd name="connsiteY1" fmla="*/ 1412710 h 1478046"/>
              <a:gd name="connsiteX2" fmla="*/ 3123547 w 3116346"/>
              <a:gd name="connsiteY2" fmla="*/ 721392 h 1478046"/>
              <a:gd name="connsiteX3" fmla="*/ 3123547 w 3116346"/>
              <a:gd name="connsiteY3" fmla="*/ 794656 h 1478046"/>
              <a:gd name="connsiteX4" fmla="*/ 1925378 w 3116346"/>
              <a:gd name="connsiteY4" fmla="*/ 1485975 h 1478046"/>
              <a:gd name="connsiteX5" fmla="*/ 14700 w 3116346"/>
              <a:gd name="connsiteY5" fmla="*/ 383247 h 1478046"/>
              <a:gd name="connsiteX6" fmla="*/ 14700 w 3116346"/>
              <a:gd name="connsiteY6" fmla="*/ 82047 h 1478046"/>
              <a:gd name="connsiteX7" fmla="*/ 1925378 w 3116346"/>
              <a:gd name="connsiteY7" fmla="*/ 1184775 h 1478046"/>
              <a:gd name="connsiteX8" fmla="*/ 1925378 w 3116346"/>
              <a:gd name="connsiteY8" fmla="*/ 1184149 h 1478046"/>
              <a:gd name="connsiteX9" fmla="*/ 14700 w 3116346"/>
              <a:gd name="connsiteY9" fmla="*/ 82047 h 1478046"/>
              <a:gd name="connsiteX10" fmla="*/ 122485 w 3116346"/>
              <a:gd name="connsiteY10" fmla="*/ 19428 h 1478046"/>
              <a:gd name="connsiteX11" fmla="*/ 122485 w 3116346"/>
              <a:gd name="connsiteY11" fmla="*/ 29447 h 1478046"/>
              <a:gd name="connsiteX12" fmla="*/ 1905325 w 3116346"/>
              <a:gd name="connsiteY12" fmla="*/ 1057658 h 1478046"/>
              <a:gd name="connsiteX13" fmla="*/ 1906578 w 3116346"/>
              <a:gd name="connsiteY13" fmla="*/ 1056405 h 1478046"/>
              <a:gd name="connsiteX14" fmla="*/ 1906578 w 3116346"/>
              <a:gd name="connsiteY14" fmla="*/ 1057658 h 1478046"/>
              <a:gd name="connsiteX15" fmla="*/ 3004482 w 3116346"/>
              <a:gd name="connsiteY15" fmla="*/ 424576 h 1478046"/>
              <a:gd name="connsiteX16" fmla="*/ 3114147 w 3116346"/>
              <a:gd name="connsiteY16" fmla="*/ 487821 h 1478046"/>
              <a:gd name="connsiteX17" fmla="*/ 3123547 w 3116346"/>
              <a:gd name="connsiteY17" fmla="*/ 482185 h 1478046"/>
              <a:gd name="connsiteX18" fmla="*/ 3123547 w 3116346"/>
              <a:gd name="connsiteY18" fmla="*/ 555450 h 1478046"/>
              <a:gd name="connsiteX19" fmla="*/ 1925378 w 3116346"/>
              <a:gd name="connsiteY19" fmla="*/ 1246768 h 1478046"/>
              <a:gd name="connsiteX20" fmla="*/ 1925378 w 3116346"/>
              <a:gd name="connsiteY20" fmla="*/ 1246768 h 147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16346" h="1478046">
                <a:moveTo>
                  <a:pt x="1925378" y="1246768"/>
                </a:moveTo>
                <a:lnTo>
                  <a:pt x="1925378" y="1412710"/>
                </a:lnTo>
                <a:lnTo>
                  <a:pt x="3123547" y="721392"/>
                </a:lnTo>
                <a:lnTo>
                  <a:pt x="3123547" y="794656"/>
                </a:lnTo>
                <a:lnTo>
                  <a:pt x="1925378" y="1485975"/>
                </a:lnTo>
                <a:lnTo>
                  <a:pt x="14700" y="383247"/>
                </a:lnTo>
                <a:lnTo>
                  <a:pt x="14700" y="82047"/>
                </a:lnTo>
                <a:lnTo>
                  <a:pt x="1925378" y="1184775"/>
                </a:lnTo>
                <a:lnTo>
                  <a:pt x="1925378" y="1184149"/>
                </a:lnTo>
                <a:lnTo>
                  <a:pt x="14700" y="82047"/>
                </a:lnTo>
                <a:lnTo>
                  <a:pt x="122485" y="19428"/>
                </a:lnTo>
                <a:lnTo>
                  <a:pt x="122485" y="29447"/>
                </a:lnTo>
                <a:lnTo>
                  <a:pt x="1905325" y="1057658"/>
                </a:lnTo>
                <a:lnTo>
                  <a:pt x="1906578" y="1056405"/>
                </a:lnTo>
                <a:lnTo>
                  <a:pt x="1906578" y="1057658"/>
                </a:lnTo>
                <a:lnTo>
                  <a:pt x="3004482" y="424576"/>
                </a:lnTo>
                <a:lnTo>
                  <a:pt x="3114147" y="487821"/>
                </a:lnTo>
                <a:lnTo>
                  <a:pt x="3123547" y="482185"/>
                </a:lnTo>
                <a:lnTo>
                  <a:pt x="3123547" y="555450"/>
                </a:lnTo>
                <a:lnTo>
                  <a:pt x="1925378" y="1246768"/>
                </a:lnTo>
                <a:lnTo>
                  <a:pt x="1925378" y="1246768"/>
                </a:lnTo>
                <a:close/>
              </a:path>
            </a:pathLst>
          </a:custGeom>
          <a:solidFill>
            <a:srgbClr val="F5B3A5">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0" name="Picture 10"/>
          <p:cNvPicPr>
            <a:picLocks noChangeAspect="1"/>
          </p:cNvPicPr>
          <p:nvPr/>
        </p:nvPicPr>
        <p:blipFill>
          <a:blip r:embed="rId2"/>
          <a:stretch>
            <a:fillRect/>
          </a:stretch>
        </p:blipFill>
        <p:spPr>
          <a:xfrm>
            <a:off x="0" y="0"/>
            <a:ext cx="7498080" cy="10287000"/>
          </a:xfrm>
          <a:prstGeom prst="rect">
            <a:avLst/>
          </a:prstGeom>
        </p:spPr>
      </p:pic>
      <p:sp>
        <p:nvSpPr>
          <p:cNvPr id="12" name="TextBox 10"/>
          <p:cNvSpPr txBox="1"/>
          <p:nvPr/>
        </p:nvSpPr>
        <p:spPr>
          <a:xfrm>
            <a:off x="8209046" y="1937396"/>
            <a:ext cx="9164554" cy="6316601"/>
          </a:xfrm>
          <a:prstGeom prst="rect">
            <a:avLst/>
          </a:prstGeom>
          <a:noFill/>
        </p:spPr>
        <p:txBody>
          <a:bodyPr wrap="square" lIns="0" tIns="0" rIns="0" bIns="0" rtlCol="0">
            <a:spAutoFit/>
          </a:bodyPr>
          <a:lstStyle/>
          <a:p>
            <a:pPr marL="0">
              <a:lnSpc>
                <a:spcPct val="100000"/>
              </a:lnSpc>
            </a:pPr>
            <a:r>
              <a:rPr lang="en-US" altLang="zh-CN" sz="2400" spc="515" dirty="0" smtClean="0">
                <a:solidFill>
                  <a:srgbClr val="93DCDD"/>
                </a:solidFill>
                <a:latin typeface="Times New Roman"/>
                <a:ea typeface="Times New Roman"/>
              </a:rPr>
              <a:t>Sample Spring Boot</a:t>
            </a:r>
            <a:endParaRPr lang="en-US" altLang="zh-CN" sz="2400" spc="490" dirty="0">
              <a:solidFill>
                <a:srgbClr val="93DCDD"/>
              </a:solidFill>
              <a:latin typeface="Times New Roman"/>
              <a:ea typeface="Times New Roman"/>
            </a:endParaRPr>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775"/>
              </a:lnSpc>
            </a:pPr>
            <a:endParaRPr lang="en-US" dirty="0" smtClean="0"/>
          </a:p>
          <a:p>
            <a:pPr hangingPunct="0">
              <a:lnSpc>
                <a:spcPct val="95416"/>
              </a:lnSpc>
            </a:pPr>
            <a:r>
              <a:rPr lang="en-US" altLang="zh-CN" sz="6600" b="1" spc="650" dirty="0">
                <a:solidFill>
                  <a:srgbClr val="F5B3A5"/>
                </a:solidFill>
                <a:latin typeface="Times New Roman"/>
                <a:ea typeface="Times New Roman"/>
              </a:rPr>
              <a:t>Spring Boot + </a:t>
            </a:r>
            <a:r>
              <a:rPr lang="en-US" altLang="zh-CN" sz="6600" b="1" spc="650" dirty="0" smtClean="0">
                <a:solidFill>
                  <a:srgbClr val="F5B3A5"/>
                </a:solidFill>
                <a:latin typeface="Times New Roman"/>
                <a:ea typeface="Times New Roman"/>
              </a:rPr>
              <a:t>Spring Data JPA + </a:t>
            </a:r>
            <a:r>
              <a:rPr lang="en-US" altLang="zh-CN" sz="6600" b="1" spc="650" dirty="0" err="1">
                <a:solidFill>
                  <a:srgbClr val="F5B3A5"/>
                </a:solidFill>
                <a:latin typeface="Times New Roman"/>
                <a:ea typeface="Times New Roman"/>
              </a:rPr>
              <a:t>PostgreSQL</a:t>
            </a:r>
            <a:r>
              <a:rPr lang="en-US" altLang="zh-CN" sz="6600" b="1" spc="650" dirty="0">
                <a:solidFill>
                  <a:srgbClr val="F5B3A5"/>
                </a:solidFill>
                <a:latin typeface="Times New Roman"/>
                <a:ea typeface="Times New Roman"/>
              </a:rPr>
              <a:t> </a:t>
            </a:r>
            <a:r>
              <a:rPr lang="en-US" altLang="zh-CN" sz="6600" b="1" spc="650" dirty="0" smtClean="0">
                <a:solidFill>
                  <a:srgbClr val="F5B3A5"/>
                </a:solidFill>
                <a:latin typeface="Times New Roman"/>
                <a:ea typeface="Times New Roman"/>
              </a:rPr>
              <a:t>CRUD </a:t>
            </a:r>
            <a:r>
              <a:rPr lang="en-US" altLang="zh-CN" sz="6600" b="1" spc="650" dirty="0">
                <a:solidFill>
                  <a:srgbClr val="F5B3A5"/>
                </a:solidFill>
                <a:latin typeface="Times New Roman"/>
                <a:ea typeface="Times New Roman"/>
              </a:rPr>
              <a:t>Restful </a:t>
            </a:r>
            <a:r>
              <a:rPr lang="en-US" altLang="zh-CN" sz="6600" b="1" spc="650" dirty="0" smtClean="0">
                <a:solidFill>
                  <a:srgbClr val="F5B3A5"/>
                </a:solidFill>
                <a:latin typeface="Times New Roman"/>
                <a:ea typeface="Times New Roman"/>
              </a:rPr>
              <a:t>API Example</a:t>
            </a:r>
            <a:endParaRPr lang="en-US" sz="1400"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364"/>
              </a:lnSpc>
            </a:pPr>
            <a:endParaRPr lang="en-US" dirty="0" smtClean="0"/>
          </a:p>
          <a:p>
            <a:pPr marL="0">
              <a:lnSpc>
                <a:spcPct val="100000"/>
              </a:lnSpc>
            </a:pPr>
            <a:r>
              <a:rPr lang="en-US" altLang="zh-CN" sz="3400" spc="290" dirty="0" err="1" smtClean="0">
                <a:solidFill>
                  <a:srgbClr val="93DCDD"/>
                </a:solidFill>
                <a:latin typeface="Times New Roman"/>
                <a:ea typeface="Times New Roman"/>
              </a:rPr>
              <a:t>Người</a:t>
            </a:r>
            <a:r>
              <a:rPr lang="en-US" altLang="zh-CN" sz="3400" spc="290" dirty="0" smtClean="0">
                <a:solidFill>
                  <a:srgbClr val="93DCDD"/>
                </a:solidFill>
                <a:latin typeface="Times New Roman"/>
                <a:ea typeface="Times New Roman"/>
              </a:rPr>
              <a:t> </a:t>
            </a:r>
            <a:r>
              <a:rPr lang="en-US" altLang="zh-CN" sz="3400" spc="290" dirty="0" err="1" smtClean="0">
                <a:solidFill>
                  <a:srgbClr val="93DCDD"/>
                </a:solidFill>
                <a:latin typeface="Times New Roman"/>
                <a:ea typeface="Times New Roman"/>
              </a:rPr>
              <a:t>thực</a:t>
            </a:r>
            <a:r>
              <a:rPr lang="en-US" altLang="zh-CN" sz="3400" spc="290" dirty="0" smtClean="0">
                <a:solidFill>
                  <a:srgbClr val="93DCDD"/>
                </a:solidFill>
                <a:latin typeface="Times New Roman"/>
                <a:ea typeface="Times New Roman"/>
              </a:rPr>
              <a:t> </a:t>
            </a:r>
            <a:r>
              <a:rPr lang="en-US" altLang="zh-CN" sz="3400" spc="290" dirty="0" err="1" smtClean="0">
                <a:solidFill>
                  <a:srgbClr val="93DCDD"/>
                </a:solidFill>
                <a:latin typeface="Times New Roman"/>
                <a:ea typeface="Times New Roman"/>
              </a:rPr>
              <a:t>hiện</a:t>
            </a:r>
            <a:r>
              <a:rPr lang="en-US" altLang="zh-CN" sz="3400" spc="290" dirty="0" smtClean="0">
                <a:solidFill>
                  <a:srgbClr val="93DCDD"/>
                </a:solidFill>
                <a:latin typeface="Times New Roman"/>
                <a:ea typeface="Times New Roman"/>
              </a:rPr>
              <a:t>: </a:t>
            </a:r>
            <a:r>
              <a:rPr lang="en-US" altLang="zh-CN" sz="3400" spc="290" dirty="0" err="1" smtClean="0">
                <a:solidFill>
                  <a:srgbClr val="93DCDD"/>
                </a:solidFill>
                <a:latin typeface="Times New Roman"/>
                <a:ea typeface="Times New Roman"/>
              </a:rPr>
              <a:t>Hoàng</a:t>
            </a:r>
            <a:r>
              <a:rPr lang="en-US" altLang="zh-CN" sz="3400" spc="290" dirty="0" smtClean="0">
                <a:solidFill>
                  <a:srgbClr val="93DCDD"/>
                </a:solidFill>
                <a:latin typeface="Times New Roman"/>
                <a:ea typeface="Times New Roman"/>
              </a:rPr>
              <a:t> Văn </a:t>
            </a:r>
            <a:r>
              <a:rPr lang="en-US" altLang="zh-CN" sz="3400" spc="290" dirty="0" err="1" smtClean="0">
                <a:solidFill>
                  <a:srgbClr val="93DCDD"/>
                </a:solidFill>
                <a:latin typeface="Times New Roman"/>
                <a:ea typeface="Times New Roman"/>
              </a:rPr>
              <a:t>Tiến</a:t>
            </a:r>
            <a:endParaRPr lang="en-US" altLang="zh-CN" sz="3400" spc="225" dirty="0">
              <a:solidFill>
                <a:srgbClr val="93DCDD"/>
              </a:solidFill>
              <a:latin typeface="Times New Roman"/>
              <a:ea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2"/>
          <a:stretch>
            <a:fillRect/>
          </a:stretch>
        </p:blipFill>
        <p:spPr>
          <a:xfrm>
            <a:off x="0" y="0"/>
            <a:ext cx="18288000" cy="10287000"/>
          </a:xfrm>
          <a:prstGeom prst="rect">
            <a:avLst/>
          </a:prstGeom>
        </p:spPr>
      </p:pic>
      <p:sp>
        <p:nvSpPr>
          <p:cNvPr id="6" name="TextBox 6"/>
          <p:cNvSpPr txBox="1"/>
          <p:nvPr/>
        </p:nvSpPr>
        <p:spPr>
          <a:xfrm>
            <a:off x="2129913" y="3317019"/>
            <a:ext cx="5329823" cy="697755"/>
          </a:xfrm>
          <a:prstGeom prst="rect">
            <a:avLst/>
          </a:prstGeom>
          <a:noFill/>
        </p:spPr>
        <p:txBody>
          <a:bodyPr wrap="square" lIns="0" tIns="0" rIns="0" bIns="0" rtlCol="0">
            <a:spAutoFit/>
          </a:bodyPr>
          <a:lstStyle/>
          <a:p>
            <a:pPr marL="0">
              <a:lnSpc>
                <a:spcPct val="126666"/>
              </a:lnSpc>
            </a:pPr>
            <a:r>
              <a:rPr lang="en-US" altLang="zh-CN" sz="3950" spc="234" dirty="0" err="1" smtClean="0">
                <a:solidFill>
                  <a:srgbClr val="FEFEFE"/>
                </a:solidFill>
                <a:latin typeface="Times New Roman"/>
                <a:ea typeface="Times New Roman"/>
              </a:rPr>
              <a:t>Nội</a:t>
            </a:r>
            <a:r>
              <a:rPr lang="en-US" altLang="zh-CN" sz="3950" spc="234" dirty="0" smtClean="0">
                <a:solidFill>
                  <a:srgbClr val="FEFEFE"/>
                </a:solidFill>
                <a:latin typeface="Times New Roman"/>
                <a:ea typeface="Times New Roman"/>
              </a:rPr>
              <a:t> dung </a:t>
            </a:r>
            <a:r>
              <a:rPr lang="en-US" altLang="zh-CN" sz="3950" spc="234" dirty="0" err="1" smtClean="0">
                <a:solidFill>
                  <a:srgbClr val="FEFEFE"/>
                </a:solidFill>
                <a:latin typeface="Times New Roman"/>
                <a:ea typeface="Times New Roman"/>
              </a:rPr>
              <a:t>thuyết</a:t>
            </a:r>
            <a:r>
              <a:rPr lang="en-US" altLang="zh-CN" sz="3950" spc="234" dirty="0" smtClean="0">
                <a:solidFill>
                  <a:srgbClr val="FEFEFE"/>
                </a:solidFill>
                <a:latin typeface="Times New Roman"/>
                <a:ea typeface="Times New Roman"/>
              </a:rPr>
              <a:t> </a:t>
            </a:r>
            <a:r>
              <a:rPr lang="en-US" altLang="zh-CN" sz="3950" spc="234" dirty="0" err="1" smtClean="0">
                <a:solidFill>
                  <a:srgbClr val="FEFEFE"/>
                </a:solidFill>
                <a:latin typeface="Times New Roman"/>
                <a:ea typeface="Times New Roman"/>
              </a:rPr>
              <a:t>trình</a:t>
            </a:r>
            <a:endParaRPr lang="en-US" altLang="zh-CN" sz="3950" spc="215" dirty="0">
              <a:solidFill>
                <a:srgbClr val="FEFEFE"/>
              </a:solidFill>
              <a:latin typeface="Times New Roman"/>
              <a:ea typeface="Times New Roman"/>
            </a:endParaRPr>
          </a:p>
        </p:txBody>
      </p:sp>
      <p:sp>
        <p:nvSpPr>
          <p:cNvPr id="7" name="TextBox 7"/>
          <p:cNvSpPr txBox="1"/>
          <p:nvPr/>
        </p:nvSpPr>
        <p:spPr>
          <a:xfrm>
            <a:off x="3797278" y="5616125"/>
            <a:ext cx="230673" cy="2259772"/>
          </a:xfrm>
          <a:prstGeom prst="rect">
            <a:avLst/>
          </a:prstGeom>
          <a:noFill/>
        </p:spPr>
        <p:txBody>
          <a:bodyPr wrap="square" lIns="0" tIns="0" rIns="0" bIns="0" rtlCol="0">
            <a:spAutoFit/>
          </a:bodyPr>
          <a:lstStyle/>
          <a:p>
            <a:pPr marL="0" indent="29210">
              <a:lnSpc>
                <a:spcPct val="110416"/>
              </a:lnSpc>
            </a:pPr>
            <a:r>
              <a:rPr lang="en-US" altLang="zh-CN" sz="3300" b="1" spc="-405" dirty="0">
                <a:solidFill>
                  <a:srgbClr val="FEFEFE"/>
                </a:solidFill>
                <a:latin typeface="Times New Roman"/>
                <a:ea typeface="Times New Roman"/>
              </a:rPr>
              <a:t>1</a:t>
            </a:r>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44"/>
              </a:lnSpc>
            </a:pPr>
            <a:endParaRPr lang="en-US" dirty="0" smtClean="0"/>
          </a:p>
          <a:p>
            <a:pPr marL="0">
              <a:lnSpc>
                <a:spcPct val="110416"/>
              </a:lnSpc>
            </a:pPr>
            <a:r>
              <a:rPr lang="en-US" altLang="zh-CN" sz="3300" b="1" spc="55" dirty="0">
                <a:solidFill>
                  <a:srgbClr val="FEFEFE"/>
                </a:solidFill>
                <a:latin typeface="Times New Roman"/>
                <a:ea typeface="Times New Roman"/>
              </a:rPr>
              <a:t>2</a:t>
            </a:r>
          </a:p>
        </p:txBody>
      </p:sp>
      <p:sp>
        <p:nvSpPr>
          <p:cNvPr id="8" name="TextBox 8"/>
          <p:cNvSpPr txBox="1"/>
          <p:nvPr/>
        </p:nvSpPr>
        <p:spPr>
          <a:xfrm>
            <a:off x="4494522" y="5405582"/>
            <a:ext cx="4895614" cy="2262158"/>
          </a:xfrm>
          <a:prstGeom prst="rect">
            <a:avLst/>
          </a:prstGeom>
          <a:noFill/>
        </p:spPr>
        <p:txBody>
          <a:bodyPr wrap="square" lIns="0" tIns="0" rIns="0" bIns="0" rtlCol="0">
            <a:spAutoFit/>
          </a:bodyPr>
          <a:lstStyle/>
          <a:p>
            <a:pPr marL="0">
              <a:lnSpc>
                <a:spcPct val="100000"/>
              </a:lnSpc>
            </a:pPr>
            <a:r>
              <a:rPr lang="en-US" altLang="zh-CN" sz="2400" spc="114" dirty="0">
                <a:solidFill>
                  <a:srgbClr val="000000"/>
                </a:solidFill>
                <a:latin typeface="Times New Roman"/>
                <a:ea typeface="Times New Roman"/>
              </a:rPr>
              <a:t>Giới</a:t>
            </a:r>
            <a:r>
              <a:rPr lang="en-US" altLang="zh-CN" sz="2400" spc="64" dirty="0">
                <a:solidFill>
                  <a:srgbClr val="000000"/>
                </a:solidFill>
                <a:latin typeface="Times New Roman"/>
                <a:cs typeface="Times New Roman"/>
              </a:rPr>
              <a:t> </a:t>
            </a:r>
            <a:r>
              <a:rPr lang="en-US" altLang="zh-CN" sz="2400" spc="100" dirty="0">
                <a:solidFill>
                  <a:srgbClr val="000000"/>
                </a:solidFill>
                <a:latin typeface="Times New Roman"/>
                <a:ea typeface="Times New Roman"/>
              </a:rPr>
              <a:t>thiệu</a:t>
            </a:r>
            <a:r>
              <a:rPr lang="en-US" altLang="zh-CN" sz="2400" spc="64" dirty="0">
                <a:solidFill>
                  <a:srgbClr val="000000"/>
                </a:solidFill>
                <a:latin typeface="Times New Roman"/>
                <a:cs typeface="Times New Roman"/>
              </a:rPr>
              <a:t> </a:t>
            </a:r>
            <a:r>
              <a:rPr lang="en-US" altLang="zh-CN" sz="2400" spc="125" dirty="0" err="1">
                <a:solidFill>
                  <a:srgbClr val="000000"/>
                </a:solidFill>
                <a:latin typeface="Times New Roman"/>
                <a:ea typeface="Times New Roman"/>
              </a:rPr>
              <a:t>về</a:t>
            </a:r>
            <a:r>
              <a:rPr lang="en-US" altLang="zh-CN" sz="2400" spc="69" dirty="0">
                <a:solidFill>
                  <a:srgbClr val="000000"/>
                </a:solidFill>
                <a:latin typeface="Times New Roman"/>
                <a:cs typeface="Times New Roman"/>
              </a:rPr>
              <a:t> </a:t>
            </a:r>
            <a:r>
              <a:rPr lang="en-US" altLang="zh-CN" sz="2400" spc="114" dirty="0" smtClean="0">
                <a:solidFill>
                  <a:srgbClr val="000000"/>
                </a:solidFill>
                <a:latin typeface="Times New Roman"/>
              </a:rPr>
              <a:t>Spring Data JPA </a:t>
            </a:r>
            <a:r>
              <a:rPr lang="en-US" altLang="zh-CN" sz="2400" spc="114" dirty="0" err="1" smtClean="0">
                <a:solidFill>
                  <a:srgbClr val="000000"/>
                </a:solidFill>
                <a:latin typeface="Times New Roman"/>
              </a:rPr>
              <a:t>và</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mục</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tiêu</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đạt</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được</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sau</a:t>
            </a:r>
            <a:r>
              <a:rPr lang="en-US" altLang="zh-CN" sz="2400" spc="114" dirty="0" smtClean="0">
                <a:solidFill>
                  <a:srgbClr val="000000"/>
                </a:solidFill>
                <a:latin typeface="Times New Roman"/>
              </a:rPr>
              <a:t> </a:t>
            </a:r>
            <a:r>
              <a:rPr lang="en-US" altLang="zh-CN" sz="2400" spc="114" dirty="0" err="1" smtClean="0">
                <a:solidFill>
                  <a:srgbClr val="000000"/>
                </a:solidFill>
                <a:latin typeface="Times New Roman"/>
              </a:rPr>
              <a:t>khi</a:t>
            </a:r>
            <a:r>
              <a:rPr lang="en-US" altLang="zh-CN" sz="2400" spc="114" dirty="0" smtClean="0">
                <a:solidFill>
                  <a:srgbClr val="000000"/>
                </a:solidFill>
                <a:latin typeface="Times New Roman"/>
              </a:rPr>
              <a:t> training</a:t>
            </a:r>
            <a:endParaRPr lang="en-US" altLang="zh-CN" sz="2400" spc="114" dirty="0">
              <a:solidFill>
                <a:srgbClr val="000000"/>
              </a:solidFill>
              <a:latin typeface="Times New Roman"/>
              <a:ea typeface="Times New Roman"/>
            </a:endParaRPr>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a:p>
          <a:p>
            <a:pPr>
              <a:lnSpc>
                <a:spcPts val="1000"/>
              </a:lnSpc>
            </a:pPr>
            <a:endParaRPr lang="en-US" dirty="0" smtClean="0"/>
          </a:p>
          <a:p>
            <a:pPr>
              <a:lnSpc>
                <a:spcPts val="1000"/>
              </a:lnSpc>
            </a:pPr>
            <a:endParaRPr lang="en-US" dirty="0"/>
          </a:p>
          <a:p>
            <a:pPr>
              <a:lnSpc>
                <a:spcPts val="1000"/>
              </a:lnSpc>
            </a:pPr>
            <a:endParaRPr lang="en-US" dirty="0" smtClean="0"/>
          </a:p>
          <a:p>
            <a:pPr marL="0">
              <a:lnSpc>
                <a:spcPct val="100000"/>
              </a:lnSpc>
            </a:pPr>
            <a:r>
              <a:rPr lang="en-US" altLang="zh-CN" sz="2400" spc="139" dirty="0" smtClean="0">
                <a:solidFill>
                  <a:srgbClr val="000000"/>
                </a:solidFill>
                <a:latin typeface="Times New Roman"/>
                <a:ea typeface="Times New Roman"/>
              </a:rPr>
              <a:t>Thao </a:t>
            </a:r>
            <a:r>
              <a:rPr lang="en-US" altLang="zh-CN" sz="2400" spc="139" dirty="0" err="1" smtClean="0">
                <a:solidFill>
                  <a:srgbClr val="000000"/>
                </a:solidFill>
                <a:latin typeface="Times New Roman"/>
                <a:ea typeface="Times New Roman"/>
              </a:rPr>
              <a:t>tác</a:t>
            </a:r>
            <a:r>
              <a:rPr lang="en-US" altLang="zh-CN" sz="2400" spc="139" dirty="0" smtClean="0">
                <a:solidFill>
                  <a:srgbClr val="000000"/>
                </a:solidFill>
                <a:latin typeface="Times New Roman"/>
                <a:ea typeface="Times New Roman"/>
              </a:rPr>
              <a:t> </a:t>
            </a:r>
            <a:r>
              <a:rPr lang="en-US" altLang="zh-CN" sz="2400" spc="139" dirty="0" err="1" smtClean="0">
                <a:solidFill>
                  <a:srgbClr val="000000"/>
                </a:solidFill>
                <a:latin typeface="Times New Roman"/>
                <a:ea typeface="Times New Roman"/>
              </a:rPr>
              <a:t>với</a:t>
            </a:r>
            <a:r>
              <a:rPr lang="en-US" altLang="zh-CN" sz="2400" spc="139" dirty="0" smtClean="0">
                <a:solidFill>
                  <a:srgbClr val="000000"/>
                </a:solidFill>
                <a:latin typeface="Times New Roman"/>
                <a:ea typeface="Times New Roman"/>
              </a:rPr>
              <a:t> </a:t>
            </a:r>
            <a:r>
              <a:rPr lang="en-US" altLang="zh-CN" sz="2400" spc="139" dirty="0" err="1" smtClean="0">
                <a:solidFill>
                  <a:srgbClr val="000000"/>
                </a:solidFill>
                <a:latin typeface="Times New Roman"/>
                <a:ea typeface="Times New Roman"/>
              </a:rPr>
              <a:t>bảng</a:t>
            </a:r>
            <a:r>
              <a:rPr lang="en-US" altLang="zh-CN" sz="2400" spc="139" dirty="0" smtClean="0">
                <a:solidFill>
                  <a:srgbClr val="000000"/>
                </a:solidFill>
                <a:latin typeface="Times New Roman"/>
                <a:ea typeface="Times New Roman"/>
              </a:rPr>
              <a:t> </a:t>
            </a:r>
            <a:r>
              <a:rPr lang="en-US" altLang="zh-CN" sz="2400" spc="139" dirty="0" err="1" smtClean="0">
                <a:solidFill>
                  <a:srgbClr val="000000"/>
                </a:solidFill>
                <a:latin typeface="Times New Roman"/>
                <a:ea typeface="Times New Roman"/>
              </a:rPr>
              <a:t>đơn</a:t>
            </a:r>
            <a:r>
              <a:rPr lang="en-US" altLang="zh-CN" sz="2400" spc="139" dirty="0" smtClean="0">
                <a:solidFill>
                  <a:srgbClr val="000000"/>
                </a:solidFill>
                <a:latin typeface="Times New Roman"/>
                <a:ea typeface="Times New Roman"/>
              </a:rPr>
              <a:t> </a:t>
            </a:r>
            <a:r>
              <a:rPr lang="en-US" altLang="zh-CN" sz="2400" spc="139" dirty="0" err="1" smtClean="0">
                <a:solidFill>
                  <a:srgbClr val="000000"/>
                </a:solidFill>
                <a:latin typeface="Times New Roman"/>
                <a:ea typeface="Times New Roman"/>
              </a:rPr>
              <a:t>trong</a:t>
            </a:r>
            <a:r>
              <a:rPr lang="en-US" altLang="zh-CN" sz="2400" spc="139" dirty="0" smtClean="0">
                <a:solidFill>
                  <a:srgbClr val="000000"/>
                </a:solidFill>
                <a:latin typeface="Times New Roman"/>
                <a:ea typeface="Times New Roman"/>
              </a:rPr>
              <a:t> JPA</a:t>
            </a:r>
            <a:endParaRPr lang="en-US" altLang="zh-CN" sz="2400" spc="150" dirty="0">
              <a:solidFill>
                <a:srgbClr val="000000"/>
              </a:solidFill>
              <a:latin typeface="Times New Roman"/>
              <a:ea typeface="Times New Roman"/>
            </a:endParaRPr>
          </a:p>
        </p:txBody>
      </p:sp>
      <p:sp>
        <p:nvSpPr>
          <p:cNvPr id="9" name="TextBox 9"/>
          <p:cNvSpPr txBox="1"/>
          <p:nvPr/>
        </p:nvSpPr>
        <p:spPr>
          <a:xfrm>
            <a:off x="10298203" y="5616126"/>
            <a:ext cx="232758" cy="2259770"/>
          </a:xfrm>
          <a:prstGeom prst="rect">
            <a:avLst/>
          </a:prstGeom>
          <a:noFill/>
        </p:spPr>
        <p:txBody>
          <a:bodyPr wrap="square" lIns="0" tIns="0" rIns="0" bIns="0" rtlCol="0">
            <a:spAutoFit/>
          </a:bodyPr>
          <a:lstStyle/>
          <a:p>
            <a:pPr marL="0">
              <a:lnSpc>
                <a:spcPct val="110416"/>
              </a:lnSpc>
            </a:pPr>
            <a:r>
              <a:rPr lang="en-US" altLang="zh-CN" sz="3300" b="1" spc="-60" dirty="0">
                <a:solidFill>
                  <a:srgbClr val="FEFEFE"/>
                </a:solidFill>
                <a:latin typeface="Times New Roman"/>
                <a:ea typeface="Times New Roman"/>
              </a:rPr>
              <a:t>3</a:t>
            </a:r>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44"/>
              </a:lnSpc>
            </a:pPr>
            <a:endParaRPr lang="en-US" dirty="0" smtClean="0"/>
          </a:p>
          <a:p>
            <a:pPr marL="0">
              <a:lnSpc>
                <a:spcPct val="110416"/>
              </a:lnSpc>
            </a:pPr>
            <a:r>
              <a:rPr lang="en-US" altLang="zh-CN" sz="3300" b="1" spc="69" dirty="0">
                <a:solidFill>
                  <a:srgbClr val="FEFEFE"/>
                </a:solidFill>
                <a:latin typeface="Times New Roman"/>
                <a:ea typeface="Times New Roman"/>
              </a:rPr>
              <a:t>4</a:t>
            </a:r>
          </a:p>
        </p:txBody>
      </p:sp>
      <p:sp>
        <p:nvSpPr>
          <p:cNvPr id="10" name="TextBox 10"/>
          <p:cNvSpPr txBox="1"/>
          <p:nvPr/>
        </p:nvSpPr>
        <p:spPr>
          <a:xfrm>
            <a:off x="11174631" y="5624062"/>
            <a:ext cx="5361842" cy="2100575"/>
          </a:xfrm>
          <a:prstGeom prst="rect">
            <a:avLst/>
          </a:prstGeom>
          <a:noFill/>
        </p:spPr>
        <p:txBody>
          <a:bodyPr wrap="square" lIns="0" tIns="0" rIns="0" bIns="0" rtlCol="0">
            <a:spAutoFit/>
          </a:bodyPr>
          <a:lstStyle/>
          <a:p>
            <a:pPr marL="0">
              <a:lnSpc>
                <a:spcPct val="100000"/>
              </a:lnSpc>
            </a:pPr>
            <a:r>
              <a:rPr lang="en-US" altLang="zh-CN" sz="2400" spc="160" dirty="0" err="1" smtClean="0">
                <a:solidFill>
                  <a:srgbClr val="000000"/>
                </a:solidFill>
                <a:latin typeface="Times New Roman" panose="02020603050405020304" pitchFamily="18" charset="0"/>
                <a:ea typeface="Times New Roman"/>
                <a:cs typeface="Times New Roman" panose="02020603050405020304" pitchFamily="18" charset="0"/>
              </a:rPr>
              <a:t>Quan</a:t>
            </a:r>
            <a:r>
              <a:rPr lang="en-US" altLang="zh-CN" sz="2400" spc="160" dirty="0" smtClean="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60" dirty="0" err="1" smtClean="0">
                <a:solidFill>
                  <a:srgbClr val="000000"/>
                </a:solidFill>
                <a:latin typeface="Times New Roman" panose="02020603050405020304" pitchFamily="18" charset="0"/>
                <a:ea typeface="Times New Roman"/>
                <a:cs typeface="Times New Roman" panose="02020603050405020304" pitchFamily="18" charset="0"/>
              </a:rPr>
              <a:t>hệ</a:t>
            </a:r>
            <a:r>
              <a:rPr lang="en-US" altLang="zh-CN" sz="2400" spc="160" dirty="0" smtClean="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60" dirty="0" err="1" smtClean="0">
                <a:solidFill>
                  <a:srgbClr val="000000"/>
                </a:solidFill>
                <a:latin typeface="Times New Roman" panose="02020603050405020304" pitchFamily="18" charset="0"/>
                <a:ea typeface="Times New Roman"/>
                <a:cs typeface="Times New Roman" panose="02020603050405020304" pitchFamily="18" charset="0"/>
              </a:rPr>
              <a:t>trong</a:t>
            </a:r>
            <a:r>
              <a:rPr lang="en-US" altLang="zh-CN" sz="2400" spc="160" dirty="0" smtClean="0">
                <a:solidFill>
                  <a:srgbClr val="000000"/>
                </a:solidFill>
                <a:latin typeface="Times New Roman" panose="02020603050405020304" pitchFamily="18" charset="0"/>
                <a:ea typeface="Times New Roman"/>
                <a:cs typeface="Times New Roman" panose="02020603050405020304" pitchFamily="18" charset="0"/>
              </a:rPr>
              <a:t> JPA</a:t>
            </a:r>
            <a:endParaRPr lang="en-US" altLang="zh-CN" sz="2400" spc="150" dirty="0">
              <a:solidFill>
                <a:srgbClr val="000000"/>
              </a:solidFill>
              <a:latin typeface="Times New Roman" panose="02020603050405020304" pitchFamily="18" charset="0"/>
              <a:ea typeface="Times New Roman"/>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000"/>
              </a:lnSpc>
            </a:pPr>
            <a:endParaRPr lang="en-US" sz="2400" dirty="0" smtClean="0">
              <a:latin typeface="Times New Roman" panose="02020603050405020304" pitchFamily="18" charset="0"/>
              <a:cs typeface="Times New Roman" panose="02020603050405020304" pitchFamily="18" charset="0"/>
            </a:endParaRPr>
          </a:p>
          <a:p>
            <a:pPr>
              <a:lnSpc>
                <a:spcPts val="1539"/>
              </a:lnSpc>
            </a:pPr>
            <a:r>
              <a:rPr lang="en-US" sz="2400" dirty="0" err="1" smtClean="0">
                <a:latin typeface="Times New Roman" panose="02020603050405020304" pitchFamily="18" charset="0"/>
                <a:cs typeface="Times New Roman" panose="02020603050405020304" pitchFamily="18" charset="0"/>
              </a:rPr>
              <a:t>Cách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dụng</a:t>
            </a:r>
            <a:r>
              <a:rPr lang="en-US" sz="2400" dirty="0" smtClean="0">
                <a:latin typeface="Times New Roman" panose="02020603050405020304" pitchFamily="18" charset="0"/>
                <a:cs typeface="Times New Roman" panose="02020603050405020304" pitchFamily="18" charset="0"/>
              </a:rPr>
              <a:t> JPQL </a:t>
            </a:r>
            <a:r>
              <a:rPr lang="en-US" sz="2400" dirty="0" err="1" smtClean="0">
                <a:latin typeface="Times New Roman" panose="02020603050405020304" pitchFamily="18" charset="0"/>
                <a:cs typeface="Times New Roman" panose="02020603050405020304" pitchFamily="18" charset="0"/>
              </a:rPr>
              <a:t>trên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JpaRepository</a:t>
            </a:r>
            <a:endParaRPr lang="en-US" sz="2400" dirty="0" smtClean="0">
              <a:latin typeface="Times New Roman" panose="02020603050405020304" pitchFamily="18" charset="0"/>
              <a:cs typeface="Times New Roman" panose="02020603050405020304" pitchFamily="18" charset="0"/>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05793" y="1173518"/>
            <a:ext cx="3715657" cy="3715657"/>
          </a:xfrm>
          <a:prstGeom prst="rect">
            <a:avLst/>
          </a:prstGeom>
        </p:spPr>
      </p:pic>
      <p:pic>
        <p:nvPicPr>
          <p:cNvPr id="11" name="図 10"/>
          <p:cNvPicPr>
            <a:picLocks noChangeAspect="1"/>
          </p:cNvPicPr>
          <p:nvPr/>
        </p:nvPicPr>
        <p:blipFill>
          <a:blip r:embed="rId4">
            <a:extLst>
              <a:ext uri="{BEBA8EAE-BF5A-486C-A8C5-ECC9F3942E4B}">
                <a14:imgProps xmlns:a14="http://schemas.microsoft.com/office/drawing/2010/main">
                  <a14:imgLayer r:embed="rId5">
                    <a14:imgEffect>
                      <a14:brightnessContrast bright="-36000" contrast="-10000"/>
                    </a14:imgEffect>
                  </a14:imgLayer>
                </a14:imgProps>
              </a:ext>
              <a:ext uri="{28A0092B-C50C-407E-A947-70E740481C1C}">
                <a14:useLocalDpi xmlns:a14="http://schemas.microsoft.com/office/drawing/2010/main" val="0"/>
              </a:ext>
            </a:extLst>
          </a:blip>
          <a:stretch>
            <a:fillRect/>
          </a:stretch>
        </p:blipFill>
        <p:spPr>
          <a:xfrm>
            <a:off x="9390136" y="612047"/>
            <a:ext cx="3715657" cy="3715657"/>
          </a:xfrm>
          <a:prstGeom prst="rect">
            <a:avLst/>
          </a:prstGeom>
        </p:spPr>
      </p:pic>
      <p:sp>
        <p:nvSpPr>
          <p:cNvPr id="12" name="TextBox 8"/>
          <p:cNvSpPr txBox="1"/>
          <p:nvPr/>
        </p:nvSpPr>
        <p:spPr>
          <a:xfrm>
            <a:off x="10713720" y="1410385"/>
            <a:ext cx="2102394" cy="204543"/>
          </a:xfrm>
          <a:prstGeom prst="rect">
            <a:avLst/>
          </a:prstGeom>
          <a:noFill/>
        </p:spPr>
        <p:txBody>
          <a:bodyPr wrap="square" lIns="0" tIns="0" rIns="0" bIns="0" rtlCol="0">
            <a:spAutoFit/>
          </a:bodyPr>
          <a:lstStyle/>
          <a:p>
            <a:pPr>
              <a:lnSpc>
                <a:spcPts val="1000"/>
              </a:lnSpc>
            </a:pPr>
            <a:r>
              <a:rPr lang="en-US" sz="3200" dirty="0" smtClean="0">
                <a:solidFill>
                  <a:schemeClr val="bg1"/>
                </a:solidFill>
                <a:latin typeface="Consolas" panose="020B0609020204030204" pitchFamily="49" charset="0"/>
              </a:rPr>
              <a:t>Users</a:t>
            </a:r>
          </a:p>
        </p:txBody>
      </p:sp>
      <p:sp>
        <p:nvSpPr>
          <p:cNvPr id="13" name="TextBox 8"/>
          <p:cNvSpPr txBox="1"/>
          <p:nvPr/>
        </p:nvSpPr>
        <p:spPr>
          <a:xfrm>
            <a:off x="13890171" y="1976442"/>
            <a:ext cx="2496457" cy="128240"/>
          </a:xfrm>
          <a:prstGeom prst="rect">
            <a:avLst/>
          </a:prstGeom>
          <a:noFill/>
        </p:spPr>
        <p:txBody>
          <a:bodyPr wrap="square" lIns="0" tIns="0" rIns="0" bIns="0" rtlCol="0">
            <a:spAutoFit/>
          </a:bodyPr>
          <a:lstStyle/>
          <a:p>
            <a:pPr>
              <a:lnSpc>
                <a:spcPts val="1000"/>
              </a:lnSpc>
            </a:pPr>
            <a:r>
              <a:rPr lang="en-US" sz="3200" dirty="0" smtClean="0">
                <a:solidFill>
                  <a:schemeClr val="bg1"/>
                </a:solidFill>
                <a:latin typeface="Consolas" panose="020B0609020204030204" pitchFamily="49" charset="0"/>
              </a:rPr>
              <a:t>Facilities</a:t>
            </a:r>
          </a:p>
        </p:txBody>
      </p:sp>
      <p:pic>
        <p:nvPicPr>
          <p:cNvPr id="2" name="図 1"/>
          <p:cNvPicPr>
            <a:picLocks noChangeAspect="1"/>
          </p:cNvPicPr>
          <p:nvPr/>
        </p:nvPicPr>
        <p:blipFill>
          <a:blip r:embed="rId6"/>
          <a:stretch>
            <a:fillRect/>
          </a:stretch>
        </p:blipFill>
        <p:spPr>
          <a:xfrm>
            <a:off x="2922661" y="8401251"/>
            <a:ext cx="6467475" cy="1304925"/>
          </a:xfrm>
          <a:prstGeom prst="rect">
            <a:avLst/>
          </a:prstGeom>
        </p:spPr>
      </p:pic>
      <p:sp>
        <p:nvSpPr>
          <p:cNvPr id="4" name="テキスト ボックス 3"/>
          <p:cNvSpPr txBox="1"/>
          <p:nvPr/>
        </p:nvSpPr>
        <p:spPr>
          <a:xfrm>
            <a:off x="3675789" y="8710200"/>
            <a:ext cx="473649" cy="600164"/>
          </a:xfrm>
          <a:prstGeom prst="rect">
            <a:avLst/>
          </a:prstGeom>
          <a:noFill/>
        </p:spPr>
        <p:txBody>
          <a:bodyPr wrap="square" rtlCol="0">
            <a:spAutoFit/>
          </a:bodyPr>
          <a:lstStyle/>
          <a:p>
            <a:r>
              <a:rPr lang="en-US" sz="3300" b="1" dirty="0" smtClean="0">
                <a:solidFill>
                  <a:schemeClr val="bg1"/>
                </a:solidFill>
                <a:latin typeface="Times New Roman" panose="02020603050405020304" pitchFamily="18" charset="0"/>
                <a:cs typeface="Times New Roman" panose="02020603050405020304" pitchFamily="18" charset="0"/>
              </a:rPr>
              <a:t>5</a:t>
            </a:r>
            <a:endParaRPr lang="en-US" sz="3300" b="1" dirty="0">
              <a:solidFill>
                <a:schemeClr val="bg1"/>
              </a:solidFill>
              <a:latin typeface="Times New Roman" panose="02020603050405020304" pitchFamily="18" charset="0"/>
              <a:cs typeface="Times New Roman" panose="02020603050405020304" pitchFamily="18" charset="0"/>
            </a:endParaRPr>
          </a:p>
        </p:txBody>
      </p:sp>
      <p:sp>
        <p:nvSpPr>
          <p:cNvPr id="15" name="テキスト ボックス 14"/>
          <p:cNvSpPr txBox="1"/>
          <p:nvPr/>
        </p:nvSpPr>
        <p:spPr>
          <a:xfrm>
            <a:off x="4494522" y="8569896"/>
            <a:ext cx="4464396" cy="830997"/>
          </a:xfrm>
          <a:prstGeom prst="rect">
            <a:avLst/>
          </a:prstGeom>
          <a:noFill/>
        </p:spPr>
        <p:txBody>
          <a:bodyPr wrap="square" rtlCol="0">
            <a:spAutoFit/>
          </a:bodyPr>
          <a:lstStyle/>
          <a:p>
            <a:r>
              <a:rPr lang="en-US" altLang="zh-CN" sz="2400" spc="139" dirty="0" err="1" smtClean="0">
                <a:solidFill>
                  <a:srgbClr val="000000"/>
                </a:solidFill>
                <a:latin typeface="Times New Roman" panose="02020603050405020304" pitchFamily="18" charset="0"/>
                <a:ea typeface="Times New Roman"/>
                <a:cs typeface="Times New Roman" panose="02020603050405020304" pitchFamily="18" charset="0"/>
              </a:rPr>
              <a:t>Sử</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39" dirty="0" err="1" smtClean="0">
                <a:solidFill>
                  <a:srgbClr val="000000"/>
                </a:solidFill>
                <a:latin typeface="Times New Roman" panose="02020603050405020304" pitchFamily="18" charset="0"/>
                <a:ea typeface="Times New Roman"/>
                <a:cs typeface="Times New Roman" panose="02020603050405020304" pitchFamily="18" charset="0"/>
              </a:rPr>
              <a:t>dụng</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 Pessimistic </a:t>
            </a:r>
            <a:r>
              <a:rPr lang="en-US" altLang="zh-CN" sz="2400" spc="139" dirty="0">
                <a:solidFill>
                  <a:srgbClr val="000000"/>
                </a:solidFill>
                <a:latin typeface="Times New Roman" panose="02020603050405020304" pitchFamily="18" charset="0"/>
                <a:ea typeface="Times New Roman"/>
                <a:cs typeface="Times New Roman" panose="02020603050405020304" pitchFamily="18" charset="0"/>
              </a:rPr>
              <a:t>Locking </a:t>
            </a:r>
            <a:r>
              <a:rPr lang="en-US" altLang="zh-CN" sz="2400" spc="139" dirty="0" err="1">
                <a:solidFill>
                  <a:srgbClr val="000000"/>
                </a:solidFill>
                <a:latin typeface="Times New Roman" panose="02020603050405020304" pitchFamily="18" charset="0"/>
                <a:ea typeface="Times New Roman"/>
                <a:cs typeface="Times New Roman" panose="02020603050405020304" pitchFamily="18" charset="0"/>
              </a:rPr>
              <a:t>trong</a:t>
            </a:r>
            <a:r>
              <a:rPr lang="en-US" altLang="zh-CN" sz="2400" spc="139"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JPA </a:t>
            </a:r>
            <a:r>
              <a:rPr lang="en-US" altLang="zh-CN" sz="2400" spc="139" dirty="0" err="1" smtClean="0">
                <a:solidFill>
                  <a:srgbClr val="000000"/>
                </a:solidFill>
                <a:latin typeface="Times New Roman" panose="02020603050405020304" pitchFamily="18" charset="0"/>
                <a:ea typeface="Times New Roman"/>
                <a:cs typeface="Times New Roman" panose="02020603050405020304" pitchFamily="18" charset="0"/>
              </a:rPr>
              <a:t>như</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39" dirty="0" err="1" smtClean="0">
                <a:solidFill>
                  <a:srgbClr val="000000"/>
                </a:solidFill>
                <a:latin typeface="Times New Roman" panose="02020603050405020304" pitchFamily="18" charset="0"/>
                <a:ea typeface="Times New Roman"/>
                <a:cs typeface="Times New Roman" panose="02020603050405020304" pitchFamily="18" charset="0"/>
              </a:rPr>
              <a:t>thế</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 </a:t>
            </a:r>
            <a:r>
              <a:rPr lang="en-US" altLang="zh-CN" sz="2400" spc="139" dirty="0" err="1" smtClean="0">
                <a:solidFill>
                  <a:srgbClr val="000000"/>
                </a:solidFill>
                <a:latin typeface="Times New Roman" panose="02020603050405020304" pitchFamily="18" charset="0"/>
                <a:ea typeface="Times New Roman"/>
                <a:cs typeface="Times New Roman" panose="02020603050405020304" pitchFamily="18" charset="0"/>
              </a:rPr>
              <a:t>nào</a:t>
            </a:r>
            <a:r>
              <a:rPr lang="en-US" altLang="zh-CN" sz="2400" spc="139" dirty="0" smtClean="0">
                <a:solidFill>
                  <a:srgbClr val="000000"/>
                </a:solidFill>
                <a:latin typeface="Times New Roman" panose="02020603050405020304" pitchFamily="18" charset="0"/>
                <a:ea typeface="Times New Roman"/>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329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2"/>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3"/>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1" name="Picture 21"/>
          <p:cNvPicPr>
            <a:picLocks noChangeAspect="1"/>
          </p:cNvPicPr>
          <p:nvPr/>
        </p:nvPicPr>
        <p:blipFill>
          <a:blip r:embed="rId3"/>
          <a:stretch>
            <a:fillRect/>
          </a:stretch>
        </p:blipFill>
        <p:spPr>
          <a:xfrm>
            <a:off x="1303020" y="1668780"/>
            <a:ext cx="6065520" cy="6675120"/>
          </a:xfrm>
          <a:prstGeom prst="rect">
            <a:avLst/>
          </a:prstGeom>
        </p:spPr>
      </p:pic>
      <p:sp>
        <p:nvSpPr>
          <p:cNvPr id="2" name="TextBox 21"/>
          <p:cNvSpPr txBox="1"/>
          <p:nvPr/>
        </p:nvSpPr>
        <p:spPr>
          <a:xfrm>
            <a:off x="8036417" y="3356693"/>
            <a:ext cx="8642220" cy="2708434"/>
          </a:xfrm>
          <a:prstGeom prst="rect">
            <a:avLst/>
          </a:prstGeom>
          <a:noFill/>
        </p:spPr>
        <p:txBody>
          <a:bodyPr wrap="square" lIns="0" tIns="0" rIns="0" bIns="0" rtlCol="0">
            <a:spAutoFit/>
          </a:bodyPr>
          <a:lstStyle/>
          <a:p>
            <a:pPr marL="0" algn="ctr">
              <a:lnSpc>
                <a:spcPct val="100000"/>
              </a:lnSpc>
            </a:pPr>
            <a:r>
              <a:rPr lang="en-US" altLang="zh-CN" sz="8800" b="1" spc="185" dirty="0" smtClean="0">
                <a:solidFill>
                  <a:srgbClr val="F5B3A5"/>
                </a:solidFill>
                <a:latin typeface="Times New Roman"/>
                <a:ea typeface="Times New Roman"/>
              </a:rPr>
              <a:t>1. </a:t>
            </a:r>
            <a:r>
              <a:rPr lang="en-US" altLang="zh-CN" sz="8800" b="1" spc="185" dirty="0" err="1" smtClean="0">
                <a:solidFill>
                  <a:srgbClr val="F5B3A5"/>
                </a:solidFill>
                <a:latin typeface="Times New Roman"/>
                <a:ea typeface="Times New Roman"/>
              </a:rPr>
              <a:t>Giới</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thiệu</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về</a:t>
            </a:r>
            <a:r>
              <a:rPr lang="en-US" altLang="zh-CN" sz="8800" b="1" spc="185" dirty="0" smtClean="0">
                <a:solidFill>
                  <a:srgbClr val="F5B3A5"/>
                </a:solidFill>
                <a:latin typeface="Times New Roman"/>
                <a:ea typeface="Times New Roman"/>
              </a:rPr>
              <a:t> Spring Data JPA</a:t>
            </a:r>
            <a:endParaRPr lang="en-US" altLang="zh-CN" sz="4400" spc="195" dirty="0">
              <a:solidFill>
                <a:srgbClr val="93DCDD"/>
              </a:solidFill>
              <a:latin typeface="Times New Roman"/>
              <a:ea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5401885"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4000" b="1" dirty="0">
                <a:latin typeface="Times New Roman" panose="02020603050405020304" pitchFamily="18" charset="0"/>
                <a:cs typeface="Times New Roman" panose="02020603050405020304" pitchFamily="18" charset="0"/>
              </a:rPr>
              <a:t>Spring Data JPA là gì?</a:t>
            </a:r>
          </a:p>
        </p:txBody>
      </p:sp>
      <p:sp>
        <p:nvSpPr>
          <p:cNvPr id="8" name="正方形/長方形 7"/>
          <p:cNvSpPr/>
          <p:nvPr/>
        </p:nvSpPr>
        <p:spPr>
          <a:xfrm>
            <a:off x="1443037" y="1207548"/>
            <a:ext cx="15866169" cy="1338828"/>
          </a:xfrm>
          <a:prstGeom prst="rect">
            <a:avLst/>
          </a:prstGeom>
        </p:spPr>
        <p:txBody>
          <a:bodyPr wrap="square">
            <a:spAutoFit/>
          </a:bodyPr>
          <a:lstStyle/>
          <a:p>
            <a:pPr algn="just"/>
            <a:r>
              <a:rPr lang="vi-VN" sz="2700" dirty="0">
                <a:solidFill>
                  <a:srgbClr val="333333"/>
                </a:solidFill>
              </a:rPr>
              <a:t>Spring Data JPA</a:t>
            </a:r>
            <a:r>
              <a:rPr lang="en-US" sz="2700" dirty="0">
                <a:solidFill>
                  <a:srgbClr val="333333"/>
                </a:solidFill>
              </a:rPr>
              <a:t> </a:t>
            </a:r>
            <a:r>
              <a:rPr lang="en-US" sz="2700" dirty="0" err="1">
                <a:solidFill>
                  <a:srgbClr val="333333"/>
                </a:solidFill>
              </a:rPr>
              <a:t>là</a:t>
            </a:r>
            <a:r>
              <a:rPr lang="vi-VN" sz="2700" dirty="0">
                <a:solidFill>
                  <a:srgbClr val="333333"/>
                </a:solidFill>
              </a:rPr>
              <a:t> một phần của dòng Spring Data, giúp dễ dàng triển khai các kho lưu trữ dựa trên JPA. Mô-đun này đề cập đến hỗ trợ nâng cao cho các lớp truy cập dữ liệu dựa trên JPA. Nó làm cho việc xây dựng các ứng dụng dựa trên Spring sử dụng công nghệ truy cập dữ liệu trở nên dễ dàng hơn</a:t>
            </a:r>
            <a:endParaRPr lang="en-US" sz="2700" dirty="0"/>
          </a:p>
        </p:txBody>
      </p:sp>
      <p:pic>
        <p:nvPicPr>
          <p:cNvPr id="9" name="Picture 2" descr="https://miro.medium.com/max/1400/1*beI5EsSh45USmgJnKk2v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0939" y="3245666"/>
            <a:ext cx="12019923" cy="631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8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7"/>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Freeform 28"/>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Freeform 29"/>
          <p:cNvSpPr/>
          <p:nvPr/>
        </p:nvSpPr>
        <p:spPr>
          <a:xfrm>
            <a:off x="0" y="-25758"/>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8" name="Picture 38"/>
          <p:cNvPicPr>
            <a:picLocks noChangeAspect="1"/>
          </p:cNvPicPr>
          <p:nvPr/>
        </p:nvPicPr>
        <p:blipFill>
          <a:blip r:embed="rId2"/>
          <a:stretch>
            <a:fillRect/>
          </a:stretch>
        </p:blipFill>
        <p:spPr>
          <a:xfrm>
            <a:off x="0" y="0"/>
            <a:ext cx="4602479" cy="1882139"/>
          </a:xfrm>
          <a:prstGeom prst="rect">
            <a:avLst/>
          </a:prstGeom>
        </p:spPr>
      </p:pic>
      <p:pic>
        <p:nvPicPr>
          <p:cNvPr id="39" name="Picture 39"/>
          <p:cNvPicPr>
            <a:picLocks noChangeAspect="1"/>
          </p:cNvPicPr>
          <p:nvPr/>
        </p:nvPicPr>
        <p:blipFill>
          <a:blip r:embed="rId3"/>
          <a:stretch>
            <a:fillRect/>
          </a:stretch>
        </p:blipFill>
        <p:spPr>
          <a:xfrm>
            <a:off x="10538460" y="373380"/>
            <a:ext cx="2087880" cy="1295400"/>
          </a:xfrm>
          <a:prstGeom prst="rect">
            <a:avLst/>
          </a:prstGeom>
        </p:spPr>
      </p:pic>
      <p:pic>
        <p:nvPicPr>
          <p:cNvPr id="65" name="Picture 65"/>
          <p:cNvPicPr>
            <a:picLocks noChangeAspect="1"/>
          </p:cNvPicPr>
          <p:nvPr/>
        </p:nvPicPr>
        <p:blipFill>
          <a:blip r:embed="rId4"/>
          <a:stretch>
            <a:fillRect/>
          </a:stretch>
        </p:blipFill>
        <p:spPr>
          <a:xfrm>
            <a:off x="13129260" y="0"/>
            <a:ext cx="3840479" cy="1668780"/>
          </a:xfrm>
          <a:prstGeom prst="rect">
            <a:avLst/>
          </a:prstGeom>
        </p:spPr>
      </p:pic>
      <p:pic>
        <p:nvPicPr>
          <p:cNvPr id="67" name="Picture 67"/>
          <p:cNvPicPr>
            <a:picLocks noChangeAspect="1"/>
          </p:cNvPicPr>
          <p:nvPr/>
        </p:nvPicPr>
        <p:blipFill>
          <a:blip r:embed="rId5"/>
          <a:stretch>
            <a:fillRect/>
          </a:stretch>
        </p:blipFill>
        <p:spPr>
          <a:xfrm>
            <a:off x="4983480" y="0"/>
            <a:ext cx="5356860" cy="1828800"/>
          </a:xfrm>
          <a:prstGeom prst="rect">
            <a:avLst/>
          </a:prstGeom>
        </p:spPr>
      </p:pic>
      <p:sp>
        <p:nvSpPr>
          <p:cNvPr id="5" name="テキスト ボックス 4"/>
          <p:cNvSpPr txBox="1"/>
          <p:nvPr/>
        </p:nvSpPr>
        <p:spPr>
          <a:xfrm>
            <a:off x="498656" y="2859723"/>
            <a:ext cx="16939338" cy="4031873"/>
          </a:xfrm>
          <a:prstGeom prst="rect">
            <a:avLst/>
          </a:prstGeom>
          <a:noFill/>
        </p:spPr>
        <p:txBody>
          <a:bodyPr wrap="square" rtlCol="0">
            <a:spAutoFit/>
          </a:bodyPr>
          <a:lstStyle/>
          <a:p>
            <a:r>
              <a:rPr lang="en-US" sz="3200" dirty="0" err="1" smtClean="0">
                <a:latin typeface="Arial" panose="020B0604020202020204" pitchFamily="34" charset="0"/>
                <a:cs typeface="Arial" panose="020B0604020202020204" pitchFamily="34" charset="0"/>
              </a:rPr>
              <a:t>Để</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có</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thể</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dễ</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hình</a:t>
            </a:r>
            <a:r>
              <a:rPr lang="en-US" sz="3200" dirty="0" smtClean="0">
                <a:latin typeface="Arial" panose="020B0604020202020204" pitchFamily="34" charset="0"/>
                <a:cs typeface="Arial" panose="020B0604020202020204" pitchFamily="34" charset="0"/>
              </a:rPr>
              <a:t> dung </a:t>
            </a:r>
            <a:r>
              <a:rPr lang="en-US" sz="3200" dirty="0" err="1" smtClean="0">
                <a:latin typeface="Arial" panose="020B0604020202020204" pitchFamily="34" charset="0"/>
                <a:cs typeface="Arial" panose="020B0604020202020204" pitchFamily="34" charset="0"/>
              </a:rPr>
              <a:t>về</a:t>
            </a:r>
            <a:r>
              <a:rPr lang="en-US" sz="3200" dirty="0" smtClean="0">
                <a:latin typeface="Arial" panose="020B0604020202020204" pitchFamily="34" charset="0"/>
                <a:cs typeface="Arial" panose="020B0604020202020204" pitchFamily="34" charset="0"/>
              </a:rPr>
              <a:t> Spring Data JPA </a:t>
            </a:r>
            <a:r>
              <a:rPr lang="en-US" sz="3200" dirty="0" err="1" smtClean="0">
                <a:latin typeface="Arial" panose="020B0604020202020204" pitchFamily="34" charset="0"/>
                <a:cs typeface="Arial" panose="020B0604020202020204" pitchFamily="34" charset="0"/>
              </a:rPr>
              <a:t>và</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cách</a:t>
            </a:r>
            <a:r>
              <a:rPr lang="en-US" sz="3200" dirty="0" smtClean="0">
                <a:latin typeface="Arial" panose="020B0604020202020204" pitchFamily="34" charset="0"/>
                <a:cs typeface="Arial" panose="020B0604020202020204" pitchFamily="34" charset="0"/>
              </a:rPr>
              <a:t> implement ta </a:t>
            </a:r>
            <a:r>
              <a:rPr lang="en-US" sz="3200" dirty="0" err="1" smtClean="0">
                <a:latin typeface="Arial" panose="020B0604020202020204" pitchFamily="34" charset="0"/>
                <a:cs typeface="Arial" panose="020B0604020202020204" pitchFamily="34" charset="0"/>
              </a:rPr>
              <a:t>thực</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hiện</a:t>
            </a:r>
            <a:r>
              <a:rPr lang="en-US" sz="3200" dirty="0" smtClean="0">
                <a:latin typeface="Arial" panose="020B0604020202020204" pitchFamily="34" charset="0"/>
                <a:cs typeface="Arial" panose="020B0604020202020204" pitchFamily="34" charset="0"/>
              </a:rPr>
              <a:t> sample </a:t>
            </a:r>
            <a:r>
              <a:rPr lang="en-US" sz="3200" dirty="0" err="1" smtClean="0">
                <a:latin typeface="Arial" panose="020B0604020202020204" pitchFamily="34" charset="0"/>
                <a:cs typeface="Arial" panose="020B0604020202020204" pitchFamily="34" charset="0"/>
              </a:rPr>
              <a:t>cho</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từng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mục</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tiêu</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dưới</a:t>
            </a:r>
            <a:r>
              <a:rPr lang="en-US" sz="3200" dirty="0" smtClean="0">
                <a:latin typeface="Arial" panose="020B0604020202020204" pitchFamily="34" charset="0"/>
                <a:cs typeface="Arial" panose="020B0604020202020204" pitchFamily="34" charset="0"/>
              </a:rPr>
              <a:t>:</a:t>
            </a:r>
          </a:p>
          <a:p>
            <a:pPr marL="457200" indent="-457200">
              <a:buFont typeface="Arial" panose="020B0604020202020204" pitchFamily="34" charset="0"/>
              <a:buChar char="•"/>
            </a:pPr>
            <a:r>
              <a:rPr lang="en-US" sz="3200" dirty="0" err="1"/>
              <a:t>Có</a:t>
            </a:r>
            <a:r>
              <a:rPr lang="en-US" sz="3200" dirty="0"/>
              <a:t> </a:t>
            </a:r>
            <a:r>
              <a:rPr lang="en-US" sz="3200" dirty="0" err="1"/>
              <a:t>thể</a:t>
            </a:r>
            <a:r>
              <a:rPr lang="en-US" sz="3200" dirty="0"/>
              <a:t> implement database access  </a:t>
            </a:r>
            <a:r>
              <a:rPr lang="en-US" sz="3200" dirty="0" err="1"/>
              <a:t>bằng</a:t>
            </a:r>
            <a:r>
              <a:rPr lang="en-US" sz="3200" dirty="0"/>
              <a:t> JPA</a:t>
            </a:r>
            <a:r>
              <a:rPr lang="ja-JP" altLang="en-US" sz="3200" dirty="0"/>
              <a:t>（</a:t>
            </a:r>
            <a:r>
              <a:rPr lang="en-US" sz="3200" dirty="0" err="1"/>
              <a:t>có</a:t>
            </a:r>
            <a:r>
              <a:rPr lang="en-US" sz="3200" dirty="0"/>
              <a:t> </a:t>
            </a:r>
            <a:r>
              <a:rPr lang="en-US" sz="3200" dirty="0" err="1"/>
              <a:t>thể</a:t>
            </a:r>
            <a:r>
              <a:rPr lang="en-US" sz="3200" dirty="0"/>
              <a:t> </a:t>
            </a:r>
            <a:r>
              <a:rPr lang="en-US" sz="3200" dirty="0" err="1"/>
              <a:t>chạy</a:t>
            </a:r>
            <a:r>
              <a:rPr lang="en-US" sz="3200" dirty="0"/>
              <a:t> CRUD </a:t>
            </a:r>
            <a:r>
              <a:rPr lang="en-US" sz="3200" dirty="0" err="1"/>
              <a:t>đối</a:t>
            </a:r>
            <a:r>
              <a:rPr lang="en-US" sz="3200" dirty="0"/>
              <a:t> </a:t>
            </a:r>
            <a:r>
              <a:rPr lang="en-US" sz="3200" dirty="0" err="1"/>
              <a:t>với</a:t>
            </a:r>
            <a:r>
              <a:rPr lang="en-US" sz="3200" dirty="0"/>
              <a:t> table </a:t>
            </a:r>
            <a:r>
              <a:rPr lang="en-US" sz="3200" dirty="0" err="1"/>
              <a:t>đơn</a:t>
            </a:r>
            <a:r>
              <a:rPr lang="en-US" sz="3200" dirty="0"/>
              <a:t> </a:t>
            </a:r>
            <a:r>
              <a:rPr lang="en-US" sz="3200" dirty="0" err="1"/>
              <a:t>lẻ</a:t>
            </a:r>
            <a:r>
              <a:rPr lang="ja-JP" altLang="en-US" sz="3200" dirty="0"/>
              <a:t>）</a:t>
            </a:r>
            <a:r>
              <a:rPr lang="en-US" sz="3200" dirty="0"/>
              <a:t>.</a:t>
            </a:r>
          </a:p>
          <a:p>
            <a:pPr marL="457200" indent="-457200">
              <a:buFont typeface="Arial" panose="020B0604020202020204" pitchFamily="34" charset="0"/>
              <a:buChar char="•"/>
            </a:pPr>
            <a:r>
              <a:rPr lang="en-US" sz="3200" dirty="0" err="1"/>
              <a:t>Có</a:t>
            </a:r>
            <a:r>
              <a:rPr lang="en-US" sz="3200" dirty="0"/>
              <a:t> </a:t>
            </a:r>
            <a:r>
              <a:rPr lang="en-US" sz="3200" dirty="0" err="1"/>
              <a:t>thể</a:t>
            </a:r>
            <a:r>
              <a:rPr lang="en-US" sz="3200" dirty="0"/>
              <a:t> access </a:t>
            </a:r>
            <a:r>
              <a:rPr lang="en-US" sz="3200" dirty="0" err="1"/>
              <a:t>bằng</a:t>
            </a:r>
            <a:r>
              <a:rPr lang="en-US" sz="3200" dirty="0"/>
              <a:t> JPA </a:t>
            </a:r>
            <a:r>
              <a:rPr lang="en-US" sz="3200" dirty="0" err="1"/>
              <a:t>đến</a:t>
            </a:r>
            <a:r>
              <a:rPr lang="en-US" sz="3200" dirty="0"/>
              <a:t> table </a:t>
            </a:r>
            <a:r>
              <a:rPr lang="en-US" sz="3200" dirty="0" err="1"/>
              <a:t>sử</a:t>
            </a:r>
            <a:r>
              <a:rPr lang="en-US" sz="3200" dirty="0"/>
              <a:t> </a:t>
            </a:r>
            <a:r>
              <a:rPr lang="en-US" sz="3200" dirty="0" err="1"/>
              <a:t>dụng</a:t>
            </a:r>
            <a:r>
              <a:rPr lang="en-US" sz="3200" dirty="0"/>
              <a:t> primary key </a:t>
            </a:r>
            <a:r>
              <a:rPr lang="en-US" sz="3200" dirty="0" err="1"/>
              <a:t>phức</a:t>
            </a:r>
            <a:r>
              <a:rPr lang="en-US" sz="3200" dirty="0"/>
              <a:t> </a:t>
            </a:r>
            <a:r>
              <a:rPr lang="en-US" sz="3200" dirty="0" err="1"/>
              <a:t>hợp</a:t>
            </a:r>
            <a:endParaRPr lang="en-US" sz="3200" dirty="0"/>
          </a:p>
          <a:p>
            <a:pPr marL="457200" indent="-457200">
              <a:buFont typeface="Arial" panose="020B0604020202020204" pitchFamily="34" charset="0"/>
              <a:buChar char="•"/>
            </a:pPr>
            <a:r>
              <a:rPr lang="en-US" sz="3200" dirty="0" err="1"/>
              <a:t>Có</a:t>
            </a:r>
            <a:r>
              <a:rPr lang="en-US" sz="3200" dirty="0"/>
              <a:t> </a:t>
            </a:r>
            <a:r>
              <a:rPr lang="en-US" sz="3200" dirty="0" err="1"/>
              <a:t>thể</a:t>
            </a:r>
            <a:r>
              <a:rPr lang="en-US" sz="3200" dirty="0"/>
              <a:t> </a:t>
            </a:r>
            <a:r>
              <a:rPr lang="en-US" sz="3200" dirty="0" err="1"/>
              <a:t>thực</a:t>
            </a:r>
            <a:r>
              <a:rPr lang="en-US" sz="3200" dirty="0"/>
              <a:t> </a:t>
            </a:r>
            <a:r>
              <a:rPr lang="en-US" sz="3200" dirty="0" err="1"/>
              <a:t>hiện</a:t>
            </a:r>
            <a:r>
              <a:rPr lang="en-US" sz="3200" dirty="0"/>
              <a:t> </a:t>
            </a:r>
            <a:r>
              <a:rPr lang="en-US" sz="3200" dirty="0" err="1"/>
              <a:t>kết</a:t>
            </a:r>
            <a:r>
              <a:rPr lang="en-US" sz="3200" dirty="0"/>
              <a:t> </a:t>
            </a:r>
            <a:r>
              <a:rPr lang="en-US" sz="3200" dirty="0" err="1"/>
              <a:t>hợp</a:t>
            </a:r>
            <a:r>
              <a:rPr lang="en-US" sz="3200" dirty="0"/>
              <a:t> table </a:t>
            </a:r>
            <a:r>
              <a:rPr lang="en-US" sz="3200" dirty="0" err="1"/>
              <a:t>bằng</a:t>
            </a:r>
            <a:r>
              <a:rPr lang="en-US" sz="3200" dirty="0"/>
              <a:t> JPA</a:t>
            </a:r>
            <a:r>
              <a:rPr lang="ja-JP" altLang="en-US" sz="3200" dirty="0"/>
              <a:t>（</a:t>
            </a:r>
            <a:r>
              <a:rPr lang="en-US" sz="3200" dirty="0" err="1"/>
              <a:t>OneToMany</a:t>
            </a:r>
            <a:r>
              <a:rPr lang="en-US" sz="3200" dirty="0"/>
              <a:t>, </a:t>
            </a:r>
            <a:r>
              <a:rPr lang="en-US" sz="3200" dirty="0" err="1"/>
              <a:t>ManyToOne</a:t>
            </a:r>
            <a:r>
              <a:rPr lang="en-US" sz="3200" dirty="0"/>
              <a:t>, </a:t>
            </a:r>
            <a:r>
              <a:rPr lang="en-US" sz="3200" dirty="0" err="1"/>
              <a:t>ManyToMany</a:t>
            </a:r>
            <a:r>
              <a:rPr lang="en-US" sz="3200" dirty="0"/>
              <a:t> ...</a:t>
            </a:r>
            <a:r>
              <a:rPr lang="ja-JP" altLang="en-US" sz="3200" dirty="0"/>
              <a:t>）</a:t>
            </a:r>
            <a:r>
              <a:rPr lang="en-US" sz="3200" dirty="0"/>
              <a:t>.</a:t>
            </a:r>
          </a:p>
          <a:p>
            <a:pPr marL="457200" indent="-457200">
              <a:buFont typeface="Arial" panose="020B0604020202020204" pitchFamily="34" charset="0"/>
              <a:buChar char="•"/>
            </a:pPr>
            <a:r>
              <a:rPr lang="en-US" sz="3200" dirty="0" err="1"/>
              <a:t>Có</a:t>
            </a:r>
            <a:r>
              <a:rPr lang="en-US" sz="3200" dirty="0"/>
              <a:t> </a:t>
            </a:r>
            <a:r>
              <a:rPr lang="en-US" sz="3200" dirty="0" err="1"/>
              <a:t>thể</a:t>
            </a:r>
            <a:r>
              <a:rPr lang="en-US" sz="3200" dirty="0"/>
              <a:t> </a:t>
            </a:r>
            <a:r>
              <a:rPr lang="en-US" sz="3200" dirty="0" err="1"/>
              <a:t>chạy</a:t>
            </a:r>
            <a:r>
              <a:rPr lang="en-US" sz="3200" dirty="0"/>
              <a:t> query </a:t>
            </a:r>
            <a:r>
              <a:rPr lang="en-US" sz="3200" dirty="0" err="1"/>
              <a:t>sử</a:t>
            </a:r>
            <a:r>
              <a:rPr lang="en-US" sz="3200" dirty="0"/>
              <a:t> </a:t>
            </a:r>
            <a:r>
              <a:rPr lang="en-US" sz="3200" dirty="0" err="1"/>
              <a:t>dụng</a:t>
            </a:r>
            <a:r>
              <a:rPr lang="en-US" sz="3200" dirty="0"/>
              <a:t> JPQL </a:t>
            </a:r>
            <a:r>
              <a:rPr lang="en-US" sz="3200" dirty="0" err="1"/>
              <a:t>trên</a:t>
            </a:r>
            <a:r>
              <a:rPr lang="en-US" sz="3200" dirty="0"/>
              <a:t> </a:t>
            </a:r>
            <a:r>
              <a:rPr lang="en-US" sz="3200" dirty="0" err="1"/>
              <a:t>JpaRepository</a:t>
            </a:r>
            <a:endParaRPr lang="en-US" sz="3200" dirty="0"/>
          </a:p>
          <a:p>
            <a:pPr marL="457200" indent="-457200">
              <a:buFont typeface="Arial" panose="020B0604020202020204" pitchFamily="34" charset="0"/>
              <a:buChar char="•"/>
            </a:pPr>
            <a:r>
              <a:rPr lang="en-US" sz="3200" dirty="0" err="1"/>
              <a:t>Có</a:t>
            </a:r>
            <a:r>
              <a:rPr lang="en-US" sz="3200" dirty="0"/>
              <a:t> </a:t>
            </a:r>
            <a:r>
              <a:rPr lang="en-US" sz="3200" dirty="0" err="1"/>
              <a:t>thể</a:t>
            </a:r>
            <a:r>
              <a:rPr lang="en-US" sz="3200" dirty="0"/>
              <a:t> </a:t>
            </a:r>
            <a:r>
              <a:rPr lang="en-US" sz="3200" dirty="0" err="1"/>
              <a:t>thực</a:t>
            </a:r>
            <a:r>
              <a:rPr lang="en-US" sz="3200" dirty="0"/>
              <a:t> </a:t>
            </a:r>
            <a:r>
              <a:rPr lang="en-US" sz="3200" dirty="0" err="1"/>
              <a:t>hiện</a:t>
            </a:r>
            <a:r>
              <a:rPr lang="en-US" sz="3200" dirty="0"/>
              <a:t> pessimistic lock </a:t>
            </a:r>
            <a:r>
              <a:rPr lang="en-US" sz="3200" dirty="0" err="1"/>
              <a:t>trên</a:t>
            </a:r>
            <a:r>
              <a:rPr lang="en-US" sz="3200" dirty="0"/>
              <a:t> </a:t>
            </a:r>
            <a:r>
              <a:rPr lang="en-US" sz="3200" dirty="0" err="1"/>
              <a:t>JpaRepository</a:t>
            </a:r>
            <a:endParaRPr lang="en-US" sz="3200" dirty="0"/>
          </a:p>
          <a:p>
            <a:endParaRPr lang="en-US" sz="3200" dirty="0">
              <a:latin typeface="Arial" panose="020B0604020202020204" pitchFamily="34" charset="0"/>
              <a:cs typeface="Arial" panose="020B0604020202020204" pitchFamily="34" charset="0"/>
            </a:endParaRPr>
          </a:p>
        </p:txBody>
      </p:sp>
      <p:sp>
        <p:nvSpPr>
          <p:cNvPr id="13" name="正方形/長方形 3"/>
          <p:cNvSpPr/>
          <p:nvPr/>
        </p:nvSpPr>
        <p:spPr>
          <a:xfrm>
            <a:off x="297293" y="1973036"/>
            <a:ext cx="5401885"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4000" b="1" dirty="0">
                <a:latin typeface="Times New Roman" panose="02020603050405020304" pitchFamily="18" charset="0"/>
                <a:cs typeface="Times New Roman" panose="02020603050405020304" pitchFamily="18" charset="0"/>
              </a:rPr>
              <a:t>Mục tiêu đạt được</a:t>
            </a:r>
          </a:p>
        </p:txBody>
      </p:sp>
    </p:spTree>
    <p:extLst>
      <p:ext uri="{BB962C8B-B14F-4D97-AF65-F5344CB8AC3E}">
        <p14:creationId xmlns:p14="http://schemas.microsoft.com/office/powerpoint/2010/main" val="14651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4287"/>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3"/>
          <a:stretch>
            <a:fillRect/>
          </a:stretch>
        </p:blipFill>
        <p:spPr>
          <a:xfrm>
            <a:off x="0" y="4175760"/>
            <a:ext cx="3139440" cy="6111240"/>
          </a:xfrm>
          <a:prstGeom prst="rect">
            <a:avLst/>
          </a:prstGeom>
        </p:spPr>
      </p:pic>
      <p:sp>
        <p:nvSpPr>
          <p:cNvPr id="12" name="正方形/長方形 3"/>
          <p:cNvSpPr/>
          <p:nvPr/>
        </p:nvSpPr>
        <p:spPr>
          <a:xfrm>
            <a:off x="174666" y="253783"/>
            <a:ext cx="8612147"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Table </a:t>
            </a:r>
            <a:r>
              <a:rPr lang="en-US" sz="4000" b="1" dirty="0" err="1">
                <a:latin typeface="Times New Roman" panose="02020603050405020304" pitchFamily="18" charset="0"/>
                <a:cs typeface="Times New Roman" panose="02020603050405020304" pitchFamily="18" charset="0"/>
              </a:rPr>
              <a:t>và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mối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giữa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các</a:t>
            </a:r>
            <a:r>
              <a:rPr lang="en-US" sz="4000" b="1" dirty="0">
                <a:latin typeface="Times New Roman" panose="02020603050405020304" pitchFamily="18" charset="0"/>
                <a:cs typeface="Times New Roman" panose="02020603050405020304" pitchFamily="18" charset="0"/>
              </a:rPr>
              <a:t> table</a:t>
            </a:r>
            <a:endParaRPr lang="vi-VN" sz="4000" b="1"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769270" y="1045919"/>
            <a:ext cx="13703028" cy="4110805"/>
            <a:chOff x="1769270" y="3118670"/>
            <a:chExt cx="13703028" cy="4110805"/>
          </a:xfrm>
        </p:grpSpPr>
        <p:graphicFrame>
          <p:nvGraphicFramePr>
            <p:cNvPr id="11" name="オブジェクト 10"/>
            <p:cNvGraphicFramePr>
              <a:graphicFrameLocks noChangeAspect="1"/>
            </p:cNvGraphicFramePr>
            <p:nvPr>
              <p:extLst>
                <p:ext uri="{D42A27DB-BD31-4B8C-83A1-F6EECF244321}">
                  <p14:modId xmlns:p14="http://schemas.microsoft.com/office/powerpoint/2010/main" val="222073305"/>
                </p:ext>
              </p:extLst>
            </p:nvPr>
          </p:nvGraphicFramePr>
          <p:xfrm>
            <a:off x="1769270" y="3118670"/>
            <a:ext cx="3214210" cy="4110805"/>
          </p:xfrm>
          <a:graphic>
            <a:graphicData uri="http://schemas.openxmlformats.org/presentationml/2006/ole">
              <mc:AlternateContent xmlns:mc="http://schemas.openxmlformats.org/markup-compatibility/2006">
                <mc:Choice xmlns:v="urn:schemas-microsoft-com:vml" Requires="v">
                  <p:oleObj spid="_x0000_s2386" name="ワークシート" r:id="rId5" imgW="1809720" imgH="2314575" progId="Excel.Sheet.12">
                    <p:embed/>
                  </p:oleObj>
                </mc:Choice>
                <mc:Fallback>
                  <p:oleObj name="ワークシート" r:id="rId5" imgW="1809720" imgH="2314575" progId="Excel.Sheet.12">
                    <p:embed/>
                    <p:pic>
                      <p:nvPicPr>
                        <p:cNvPr id="0" name=""/>
                        <p:cNvPicPr/>
                        <p:nvPr/>
                      </p:nvPicPr>
                      <p:blipFill>
                        <a:blip r:embed="rId6"/>
                        <a:stretch>
                          <a:fillRect/>
                        </a:stretch>
                      </p:blipFill>
                      <p:spPr>
                        <a:xfrm>
                          <a:off x="1769270" y="3118670"/>
                          <a:ext cx="3214210" cy="4110805"/>
                        </a:xfrm>
                        <a:prstGeom prst="rect">
                          <a:avLst/>
                        </a:prstGeom>
                      </p:spPr>
                    </p:pic>
                  </p:oleObj>
                </mc:Fallback>
              </mc:AlternateContent>
            </a:graphicData>
          </a:graphic>
        </p:graphicFrame>
        <p:graphicFrame>
          <p:nvGraphicFramePr>
            <p:cNvPr id="13" name="オブジェクト 12"/>
            <p:cNvGraphicFramePr>
              <a:graphicFrameLocks noChangeAspect="1"/>
            </p:cNvGraphicFramePr>
            <p:nvPr>
              <p:extLst>
                <p:ext uri="{D42A27DB-BD31-4B8C-83A1-F6EECF244321}">
                  <p14:modId xmlns:p14="http://schemas.microsoft.com/office/powerpoint/2010/main" val="3912130753"/>
                </p:ext>
              </p:extLst>
            </p:nvPr>
          </p:nvGraphicFramePr>
          <p:xfrm>
            <a:off x="6610355" y="3118670"/>
            <a:ext cx="4705350" cy="2681721"/>
          </p:xfrm>
          <a:graphic>
            <a:graphicData uri="http://schemas.openxmlformats.org/presentationml/2006/ole">
              <mc:AlternateContent xmlns:mc="http://schemas.openxmlformats.org/markup-compatibility/2006">
                <mc:Choice xmlns:v="urn:schemas-microsoft-com:vml" Requires="v">
                  <p:oleObj spid="_x0000_s2387" name="ワークシート" r:id="rId8" imgW="2724120" imgH="1552402" progId="Excel.Sheet.12">
                    <p:embed/>
                  </p:oleObj>
                </mc:Choice>
                <mc:Fallback>
                  <p:oleObj name="ワークシート" r:id="rId8" imgW="2724120" imgH="1552402" progId="Excel.Sheet.12">
                    <p:embed/>
                    <p:pic>
                      <p:nvPicPr>
                        <p:cNvPr id="0" name=""/>
                        <p:cNvPicPr/>
                        <p:nvPr/>
                      </p:nvPicPr>
                      <p:blipFill>
                        <a:blip r:embed="rId9"/>
                        <a:stretch>
                          <a:fillRect/>
                        </a:stretch>
                      </p:blipFill>
                      <p:spPr>
                        <a:xfrm>
                          <a:off x="6610355" y="3118670"/>
                          <a:ext cx="4705350" cy="2681721"/>
                        </a:xfrm>
                        <a:prstGeom prst="rect">
                          <a:avLst/>
                        </a:prstGeom>
                      </p:spPr>
                    </p:pic>
                  </p:oleObj>
                </mc:Fallback>
              </mc:AlternateContent>
            </a:graphicData>
          </a:graphic>
        </p:graphicFrame>
        <p:graphicFrame>
          <p:nvGraphicFramePr>
            <p:cNvPr id="14" name="オブジェクト 13"/>
            <p:cNvGraphicFramePr>
              <a:graphicFrameLocks noChangeAspect="1"/>
            </p:cNvGraphicFramePr>
            <p:nvPr>
              <p:extLst>
                <p:ext uri="{D42A27DB-BD31-4B8C-83A1-F6EECF244321}">
                  <p14:modId xmlns:p14="http://schemas.microsoft.com/office/powerpoint/2010/main" val="1998825933"/>
                </p:ext>
              </p:extLst>
            </p:nvPr>
          </p:nvGraphicFramePr>
          <p:xfrm>
            <a:off x="12449174" y="3128195"/>
            <a:ext cx="3023124" cy="3272605"/>
          </p:xfrm>
          <a:graphic>
            <a:graphicData uri="http://schemas.openxmlformats.org/presentationml/2006/ole">
              <mc:AlternateContent xmlns:mc="http://schemas.openxmlformats.org/markup-compatibility/2006">
                <mc:Choice xmlns:v="urn:schemas-microsoft-com:vml" Requires="v">
                  <p:oleObj spid="_x0000_s2388" name="ワークシート" r:id="rId11" imgW="1962000" imgH="2123942" progId="Excel.Sheet.12">
                    <p:embed/>
                  </p:oleObj>
                </mc:Choice>
                <mc:Fallback>
                  <p:oleObj name="ワークシート" r:id="rId11" imgW="1962000" imgH="2123942" progId="Excel.Sheet.12">
                    <p:embed/>
                    <p:pic>
                      <p:nvPicPr>
                        <p:cNvPr id="0" name=""/>
                        <p:cNvPicPr/>
                        <p:nvPr/>
                      </p:nvPicPr>
                      <p:blipFill>
                        <a:blip r:embed="rId12"/>
                        <a:stretch>
                          <a:fillRect/>
                        </a:stretch>
                      </p:blipFill>
                      <p:spPr>
                        <a:xfrm>
                          <a:off x="12449174" y="3128195"/>
                          <a:ext cx="3023124" cy="3272605"/>
                        </a:xfrm>
                        <a:prstGeom prst="rect">
                          <a:avLst/>
                        </a:prstGeom>
                      </p:spPr>
                    </p:pic>
                  </p:oleObj>
                </mc:Fallback>
              </mc:AlternateContent>
            </a:graphicData>
          </a:graphic>
        </p:graphicFrame>
        <p:cxnSp>
          <p:nvCxnSpPr>
            <p:cNvPr id="15" name="カギ線コネクタ 14"/>
            <p:cNvCxnSpPr/>
            <p:nvPr/>
          </p:nvCxnSpPr>
          <p:spPr>
            <a:xfrm>
              <a:off x="4983480" y="4000500"/>
              <a:ext cx="1626875" cy="1"/>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16" name="カギ線コネクタ 15"/>
            <p:cNvCxnSpPr/>
            <p:nvPr/>
          </p:nvCxnSpPr>
          <p:spPr>
            <a:xfrm flipV="1">
              <a:off x="11315705" y="3899205"/>
              <a:ext cx="1133469" cy="401333"/>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sp>
          <p:nvSpPr>
            <p:cNvPr id="17" name="テキスト ボックス 16"/>
            <p:cNvSpPr txBox="1"/>
            <p:nvPr/>
          </p:nvSpPr>
          <p:spPr>
            <a:xfrm>
              <a:off x="4983480" y="3671888"/>
              <a:ext cx="445770" cy="369332"/>
            </a:xfrm>
            <a:prstGeom prst="rect">
              <a:avLst/>
            </a:prstGeom>
            <a:noFill/>
          </p:spPr>
          <p:txBody>
            <a:bodyPr wrap="square" rtlCol="0">
              <a:spAutoFit/>
            </a:bodyPr>
            <a:lstStyle/>
            <a:p>
              <a:r>
                <a:rPr lang="en-US" dirty="0" smtClean="0"/>
                <a:t>1</a:t>
              </a:r>
              <a:endParaRPr lang="en-US" dirty="0"/>
            </a:p>
          </p:txBody>
        </p:sp>
        <p:sp>
          <p:nvSpPr>
            <p:cNvPr id="18" name="テキスト ボックス 17"/>
            <p:cNvSpPr txBox="1"/>
            <p:nvPr/>
          </p:nvSpPr>
          <p:spPr>
            <a:xfrm>
              <a:off x="12137659" y="3529873"/>
              <a:ext cx="311515" cy="369332"/>
            </a:xfrm>
            <a:prstGeom prst="rect">
              <a:avLst/>
            </a:prstGeom>
            <a:noFill/>
          </p:spPr>
          <p:txBody>
            <a:bodyPr wrap="square" rtlCol="0">
              <a:spAutoFit/>
            </a:bodyPr>
            <a:lstStyle/>
            <a:p>
              <a:r>
                <a:rPr lang="en-US" dirty="0" smtClean="0"/>
                <a:t>1</a:t>
              </a:r>
              <a:endParaRPr lang="en-US" dirty="0"/>
            </a:p>
          </p:txBody>
        </p:sp>
        <p:sp>
          <p:nvSpPr>
            <p:cNvPr id="22" name="テキスト ボックス 21"/>
            <p:cNvSpPr txBox="1"/>
            <p:nvPr/>
          </p:nvSpPr>
          <p:spPr>
            <a:xfrm>
              <a:off x="6272157" y="3671888"/>
              <a:ext cx="338198" cy="369332"/>
            </a:xfrm>
            <a:prstGeom prst="rect">
              <a:avLst/>
            </a:prstGeom>
            <a:noFill/>
          </p:spPr>
          <p:txBody>
            <a:bodyPr wrap="square" rtlCol="0">
              <a:spAutoFit/>
            </a:bodyPr>
            <a:lstStyle/>
            <a:p>
              <a:r>
                <a:rPr lang="en-US" dirty="0" smtClean="0"/>
                <a:t>*</a:t>
              </a:r>
              <a:endParaRPr lang="en-US" dirty="0"/>
            </a:p>
          </p:txBody>
        </p:sp>
        <p:sp>
          <p:nvSpPr>
            <p:cNvPr id="23" name="テキスト ボックス 22"/>
            <p:cNvSpPr txBox="1"/>
            <p:nvPr/>
          </p:nvSpPr>
          <p:spPr>
            <a:xfrm>
              <a:off x="11289022" y="3969783"/>
              <a:ext cx="338198" cy="369332"/>
            </a:xfrm>
            <a:prstGeom prst="rect">
              <a:avLst/>
            </a:prstGeom>
            <a:noFill/>
          </p:spPr>
          <p:txBody>
            <a:bodyPr wrap="square" rtlCol="0">
              <a:spAutoFit/>
            </a:bodyPr>
            <a:lstStyle/>
            <a:p>
              <a:r>
                <a:rPr lang="en-US" dirty="0" smtClean="0"/>
                <a:t>*</a:t>
              </a:r>
              <a:endParaRPr lang="en-US" dirty="0"/>
            </a:p>
          </p:txBody>
        </p:sp>
      </p:grpSp>
      <p:graphicFrame>
        <p:nvGraphicFramePr>
          <p:cNvPr id="24" name="オブジェクト 23"/>
          <p:cNvGraphicFramePr>
            <a:graphicFrameLocks noChangeAspect="1"/>
          </p:cNvGraphicFramePr>
          <p:nvPr>
            <p:extLst>
              <p:ext uri="{D42A27DB-BD31-4B8C-83A1-F6EECF244321}">
                <p14:modId xmlns:p14="http://schemas.microsoft.com/office/powerpoint/2010/main" val="2335416441"/>
              </p:ext>
            </p:extLst>
          </p:nvPr>
        </p:nvGraphicFramePr>
        <p:xfrm>
          <a:off x="7604770" y="3927248"/>
          <a:ext cx="2851780" cy="6198779"/>
        </p:xfrm>
        <a:graphic>
          <a:graphicData uri="http://schemas.openxmlformats.org/presentationml/2006/ole">
            <mc:AlternateContent xmlns:mc="http://schemas.openxmlformats.org/markup-compatibility/2006">
              <mc:Choice xmlns:v="urn:schemas-microsoft-com:vml" Requires="v">
                <p:oleObj spid="_x0000_s2389" name="ワークシート" r:id="rId14" imgW="1590840" imgH="3457655" progId="Excel.Sheet.12">
                  <p:embed/>
                </p:oleObj>
              </mc:Choice>
              <mc:Fallback>
                <p:oleObj name="ワークシート" r:id="rId14" imgW="1590840" imgH="3457655" progId="Excel.Sheet.12">
                  <p:embed/>
                  <p:pic>
                    <p:nvPicPr>
                      <p:cNvPr id="0" name=""/>
                      <p:cNvPicPr/>
                      <p:nvPr/>
                    </p:nvPicPr>
                    <p:blipFill>
                      <a:blip r:embed="rId15"/>
                      <a:stretch>
                        <a:fillRect/>
                      </a:stretch>
                    </p:blipFill>
                    <p:spPr>
                      <a:xfrm>
                        <a:off x="7604770" y="3927248"/>
                        <a:ext cx="2851780" cy="6198779"/>
                      </a:xfrm>
                      <a:prstGeom prst="rect">
                        <a:avLst/>
                      </a:prstGeom>
                    </p:spPr>
                  </p:pic>
                </p:oleObj>
              </mc:Fallback>
            </mc:AlternateContent>
          </a:graphicData>
        </a:graphic>
      </p:graphicFrame>
      <p:cxnSp>
        <p:nvCxnSpPr>
          <p:cNvPr id="5" name="カギ線コネクタ 4"/>
          <p:cNvCxnSpPr/>
          <p:nvPr/>
        </p:nvCxnSpPr>
        <p:spPr>
          <a:xfrm rot="10800000">
            <a:off x="4961512" y="3306064"/>
            <a:ext cx="2621290" cy="3925316"/>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29" name="カギ線コネクタ 28"/>
          <p:cNvCxnSpPr/>
          <p:nvPr/>
        </p:nvCxnSpPr>
        <p:spPr>
          <a:xfrm flipV="1">
            <a:off x="10456550" y="2591730"/>
            <a:ext cx="1992624" cy="4334891"/>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71414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2"/>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3"/>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1" name="Picture 21"/>
          <p:cNvPicPr>
            <a:picLocks noChangeAspect="1"/>
          </p:cNvPicPr>
          <p:nvPr/>
        </p:nvPicPr>
        <p:blipFill>
          <a:blip r:embed="rId3"/>
          <a:stretch>
            <a:fillRect/>
          </a:stretch>
        </p:blipFill>
        <p:spPr>
          <a:xfrm>
            <a:off x="1303020" y="1668780"/>
            <a:ext cx="6065520" cy="6675120"/>
          </a:xfrm>
          <a:prstGeom prst="rect">
            <a:avLst/>
          </a:prstGeom>
        </p:spPr>
      </p:pic>
      <p:sp>
        <p:nvSpPr>
          <p:cNvPr id="2" name="TextBox 21"/>
          <p:cNvSpPr txBox="1"/>
          <p:nvPr/>
        </p:nvSpPr>
        <p:spPr>
          <a:xfrm>
            <a:off x="8036417" y="3356693"/>
            <a:ext cx="8642220" cy="2708434"/>
          </a:xfrm>
          <a:prstGeom prst="rect">
            <a:avLst/>
          </a:prstGeom>
          <a:noFill/>
        </p:spPr>
        <p:txBody>
          <a:bodyPr wrap="square" lIns="0" tIns="0" rIns="0" bIns="0" rtlCol="0">
            <a:spAutoFit/>
          </a:bodyPr>
          <a:lstStyle/>
          <a:p>
            <a:pPr marL="0" algn="ctr">
              <a:lnSpc>
                <a:spcPct val="100000"/>
              </a:lnSpc>
            </a:pPr>
            <a:r>
              <a:rPr lang="en-US" altLang="zh-CN" sz="8800" b="1" spc="185" dirty="0" smtClean="0">
                <a:solidFill>
                  <a:srgbClr val="F5B3A5"/>
                </a:solidFill>
                <a:latin typeface="Times New Roman"/>
                <a:ea typeface="Times New Roman"/>
              </a:rPr>
              <a:t>2. Thao </a:t>
            </a:r>
            <a:r>
              <a:rPr lang="en-US" altLang="zh-CN" sz="8800" b="1" spc="185" dirty="0" err="1" smtClean="0">
                <a:solidFill>
                  <a:srgbClr val="F5B3A5"/>
                </a:solidFill>
                <a:latin typeface="Times New Roman"/>
                <a:ea typeface="Times New Roman"/>
              </a:rPr>
              <a:t>tác</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với</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bảng</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đơn</a:t>
            </a:r>
            <a:endParaRPr lang="en-US" altLang="zh-CN" sz="4400" spc="195" dirty="0">
              <a:solidFill>
                <a:srgbClr val="93DCDD"/>
              </a:solidFill>
              <a:latin typeface="Times New Roman"/>
              <a:ea typeface="Times New Roman"/>
            </a:endParaRPr>
          </a:p>
        </p:txBody>
      </p:sp>
    </p:spTree>
    <p:extLst>
      <p:ext uri="{BB962C8B-B14F-4D97-AF65-F5344CB8AC3E}">
        <p14:creationId xmlns:p14="http://schemas.microsoft.com/office/powerpoint/2010/main" val="162003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Freeform 23"/>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Freeform 24"/>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9" name="Picture 5"/>
          <p:cNvPicPr>
            <a:picLocks noChangeAspect="1"/>
          </p:cNvPicPr>
          <p:nvPr/>
        </p:nvPicPr>
        <p:blipFill>
          <a:blip r:embed="rId2"/>
          <a:stretch>
            <a:fillRect/>
          </a:stretch>
        </p:blipFill>
        <p:spPr>
          <a:xfrm>
            <a:off x="2758258" y="2067652"/>
            <a:ext cx="13350240" cy="5775960"/>
          </a:xfrm>
          <a:prstGeom prst="rect">
            <a:avLst/>
          </a:prstGeom>
        </p:spPr>
      </p:pic>
      <p:sp>
        <p:nvSpPr>
          <p:cNvPr id="2" name="TextBox 26"/>
          <p:cNvSpPr txBox="1"/>
          <p:nvPr/>
        </p:nvSpPr>
        <p:spPr>
          <a:xfrm>
            <a:off x="3982130" y="4447801"/>
            <a:ext cx="11845472" cy="2416046"/>
          </a:xfrm>
          <a:prstGeom prst="rect">
            <a:avLst/>
          </a:prstGeom>
          <a:noFill/>
        </p:spPr>
        <p:txBody>
          <a:bodyPr wrap="square" lIns="0" tIns="0" rIns="0" bIns="0" rtlCol="0">
            <a:spAutoFit/>
          </a:bodyPr>
          <a:lstStyle/>
          <a:p>
            <a:r>
              <a:rPr lang="en-US" altLang="zh-CN" sz="6600" spc="139" dirty="0" err="1" smtClean="0">
                <a:solidFill>
                  <a:srgbClr val="000000"/>
                </a:solidFill>
                <a:latin typeface="Times New Roman"/>
                <a:ea typeface="Times New Roman"/>
              </a:rPr>
              <a:t>Bảng</a:t>
            </a:r>
            <a:r>
              <a:rPr lang="en-US" altLang="zh-CN" sz="6600" spc="139" dirty="0" smtClean="0">
                <a:solidFill>
                  <a:srgbClr val="000000"/>
                </a:solidFill>
                <a:latin typeface="Times New Roman"/>
                <a:ea typeface="Times New Roman"/>
              </a:rPr>
              <a:t> </a:t>
            </a:r>
            <a:r>
              <a:rPr lang="en-US" altLang="zh-CN" sz="6600" spc="139" dirty="0" err="1" smtClean="0">
                <a:solidFill>
                  <a:srgbClr val="000000"/>
                </a:solidFill>
                <a:latin typeface="Times New Roman"/>
                <a:ea typeface="Times New Roman"/>
              </a:rPr>
              <a:t>đơn</a:t>
            </a:r>
            <a:r>
              <a:rPr lang="en-US" altLang="zh-CN" sz="6600" spc="139" dirty="0" smtClean="0">
                <a:solidFill>
                  <a:srgbClr val="000000"/>
                </a:solidFill>
                <a:latin typeface="Times New Roman"/>
                <a:ea typeface="Times New Roman"/>
              </a:rPr>
              <a:t> </a:t>
            </a:r>
            <a:r>
              <a:rPr lang="en-US" altLang="zh-CN" sz="6600" spc="139" dirty="0" err="1" smtClean="0">
                <a:solidFill>
                  <a:srgbClr val="000000"/>
                </a:solidFill>
                <a:latin typeface="Times New Roman"/>
                <a:ea typeface="Times New Roman"/>
              </a:rPr>
              <a:t>với</a:t>
            </a:r>
            <a:r>
              <a:rPr lang="en-US" altLang="zh-CN" sz="6600" spc="139" dirty="0" smtClean="0">
                <a:solidFill>
                  <a:srgbClr val="000000"/>
                </a:solidFill>
                <a:latin typeface="Times New Roman"/>
                <a:ea typeface="Times New Roman"/>
              </a:rPr>
              <a:t> table </a:t>
            </a:r>
            <a:r>
              <a:rPr lang="en-US" altLang="zh-CN" sz="6600" spc="139" dirty="0" err="1" smtClean="0">
                <a:solidFill>
                  <a:srgbClr val="000000"/>
                </a:solidFill>
                <a:latin typeface="Times New Roman"/>
                <a:ea typeface="Times New Roman"/>
              </a:rPr>
              <a:t>có</a:t>
            </a:r>
            <a:r>
              <a:rPr lang="en-US" altLang="zh-CN" sz="6600" spc="139" dirty="0" smtClean="0">
                <a:solidFill>
                  <a:srgbClr val="000000"/>
                </a:solidFill>
                <a:latin typeface="Times New Roman"/>
                <a:ea typeface="Times New Roman"/>
              </a:rPr>
              <a:t> key </a:t>
            </a:r>
            <a:r>
              <a:rPr lang="en-US" altLang="zh-CN" sz="6600" spc="139" dirty="0" err="1" smtClean="0">
                <a:solidFill>
                  <a:srgbClr val="000000"/>
                </a:solidFill>
                <a:latin typeface="Times New Roman"/>
                <a:ea typeface="Times New Roman"/>
              </a:rPr>
              <a:t>là</a:t>
            </a:r>
            <a:r>
              <a:rPr lang="en-US" altLang="zh-CN" sz="6600" spc="139" dirty="0">
                <a:solidFill>
                  <a:srgbClr val="000000"/>
                </a:solidFill>
                <a:latin typeface="Times New Roman"/>
                <a:ea typeface="Times New Roman"/>
              </a:rPr>
              <a:t> single primary key</a:t>
            </a: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p:txBody>
      </p:sp>
    </p:spTree>
    <p:extLst>
      <p:ext uri="{BB962C8B-B14F-4D97-AF65-F5344CB8AC3E}">
        <p14:creationId xmlns:p14="http://schemas.microsoft.com/office/powerpoint/2010/main" val="855597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3" name="TextBox 16"/>
          <p:cNvSpPr txBox="1"/>
          <p:nvPr/>
        </p:nvSpPr>
        <p:spPr>
          <a:xfrm>
            <a:off x="503642" y="1563837"/>
            <a:ext cx="4063593" cy="933204"/>
          </a:xfrm>
          <a:prstGeom prst="rect">
            <a:avLst/>
          </a:prstGeom>
          <a:noFill/>
        </p:spPr>
        <p:txBody>
          <a:bodyPr wrap="square" lIns="0" tIns="0" rIns="0" bIns="0" rtlCol="0">
            <a:spAutoFit/>
          </a:bodyPr>
          <a:lstStyle/>
          <a:p>
            <a:pPr marL="0">
              <a:lnSpc>
                <a:spcPct val="111249"/>
              </a:lnSpc>
            </a:pPr>
            <a:r>
              <a:rPr lang="en-US" altLang="zh-CN" sz="5900" spc="350" dirty="0" smtClean="0">
                <a:solidFill>
                  <a:srgbClr val="FEFEFE"/>
                </a:solidFill>
                <a:latin typeface="Times New Roman"/>
                <a:ea typeface="Times New Roman"/>
              </a:rPr>
              <a:t>Entity</a:t>
            </a:r>
            <a:endParaRPr lang="en-US" altLang="zh-CN" sz="5900" spc="375" dirty="0">
              <a:solidFill>
                <a:srgbClr val="FEFEFE"/>
              </a:solidFill>
              <a:latin typeface="Times New Roman"/>
              <a:ea typeface="Times New Roman"/>
            </a:endParaRPr>
          </a:p>
        </p:txBody>
      </p:sp>
      <p:sp>
        <p:nvSpPr>
          <p:cNvPr id="24" name="TextBox 20"/>
          <p:cNvSpPr txBox="1"/>
          <p:nvPr/>
        </p:nvSpPr>
        <p:spPr>
          <a:xfrm>
            <a:off x="6486868" y="3493063"/>
            <a:ext cx="2076561" cy="337080"/>
          </a:xfrm>
          <a:prstGeom prst="rect">
            <a:avLst/>
          </a:prstGeom>
          <a:noFill/>
        </p:spPr>
        <p:txBody>
          <a:bodyPr wrap="square" lIns="0" tIns="0" rIns="0" bIns="0" rtlCol="0">
            <a:spAutoFit/>
          </a:bodyPr>
          <a:lstStyle/>
          <a:p>
            <a:pPr algn="ctr">
              <a:lnSpc>
                <a:spcPct val="119583"/>
              </a:lnSpc>
            </a:pPr>
            <a:r>
              <a:rPr lang="en-US" altLang="zh-CN" sz="2000" spc="455" dirty="0">
                <a:solidFill>
                  <a:srgbClr val="FEFEFE"/>
                </a:solidFill>
                <a:latin typeface="Times New Roman"/>
                <a:ea typeface="Times New Roman"/>
              </a:rPr>
              <a:t>Users</a:t>
            </a:r>
            <a:endParaRPr lang="en-US" altLang="zh-CN" sz="2000" spc="400" dirty="0">
              <a:solidFill>
                <a:srgbClr val="FEFEFE"/>
              </a:solidFill>
              <a:latin typeface="Times New Roman"/>
              <a:ea typeface="Times New Roman"/>
            </a:endParaRPr>
          </a:p>
        </p:txBody>
      </p:sp>
      <p:grpSp>
        <p:nvGrpSpPr>
          <p:cNvPr id="6" name="グループ化 5"/>
          <p:cNvGrpSpPr/>
          <p:nvPr/>
        </p:nvGrpSpPr>
        <p:grpSpPr>
          <a:xfrm>
            <a:off x="702234" y="155906"/>
            <a:ext cx="16243190" cy="10120232"/>
            <a:chOff x="702234" y="155906"/>
            <a:chExt cx="16243190" cy="10120232"/>
          </a:xfrm>
        </p:grpSpPr>
        <p:pic>
          <p:nvPicPr>
            <p:cNvPr id="2" name="図 1"/>
            <p:cNvPicPr>
              <a:picLocks noChangeAspect="1"/>
            </p:cNvPicPr>
            <p:nvPr/>
          </p:nvPicPr>
          <p:blipFill>
            <a:blip r:embed="rId3"/>
            <a:stretch>
              <a:fillRect/>
            </a:stretch>
          </p:blipFill>
          <p:spPr>
            <a:xfrm>
              <a:off x="10055882" y="155906"/>
              <a:ext cx="6889542" cy="10120232"/>
            </a:xfrm>
            <a:prstGeom prst="rect">
              <a:avLst/>
            </a:prstGeom>
          </p:spPr>
        </p:pic>
        <p:pic>
          <p:nvPicPr>
            <p:cNvPr id="5" name="図 4"/>
            <p:cNvPicPr>
              <a:picLocks noChangeAspect="1"/>
            </p:cNvPicPr>
            <p:nvPr/>
          </p:nvPicPr>
          <p:blipFill>
            <a:blip r:embed="rId4"/>
            <a:stretch>
              <a:fillRect/>
            </a:stretch>
          </p:blipFill>
          <p:spPr>
            <a:xfrm>
              <a:off x="702234" y="4422769"/>
              <a:ext cx="7861195" cy="4283343"/>
            </a:xfrm>
            <a:prstGeom prst="rect">
              <a:avLst/>
            </a:prstGeom>
          </p:spPr>
        </p:pic>
        <p:sp>
          <p:nvSpPr>
            <p:cNvPr id="4" name="正方形/長方形 3"/>
            <p:cNvSpPr/>
            <p:nvPr/>
          </p:nvSpPr>
          <p:spPr>
            <a:xfrm>
              <a:off x="10415588" y="1257303"/>
              <a:ext cx="1714500" cy="30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正方形/長方形 9"/>
            <p:cNvSpPr/>
            <p:nvPr/>
          </p:nvSpPr>
          <p:spPr>
            <a:xfrm>
              <a:off x="10663688" y="1743077"/>
              <a:ext cx="3038017" cy="27146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128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5326247"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UserRepository</a:t>
            </a:r>
            <a:endParaRPr lang="en-US" sz="4000" b="1" dirty="0">
              <a:latin typeface="Times New Roman" panose="02020603050405020304" pitchFamily="18" charset="0"/>
              <a:cs typeface="Times New Roman" panose="02020603050405020304" pitchFamily="18" charset="0"/>
            </a:endParaRPr>
          </a:p>
        </p:txBody>
      </p:sp>
      <p:grpSp>
        <p:nvGrpSpPr>
          <p:cNvPr id="7" name="グループ化 6"/>
          <p:cNvGrpSpPr/>
          <p:nvPr/>
        </p:nvGrpSpPr>
        <p:grpSpPr>
          <a:xfrm>
            <a:off x="3139440" y="1672850"/>
            <a:ext cx="13495151" cy="7336006"/>
            <a:chOff x="3139440" y="1672850"/>
            <a:chExt cx="13495151" cy="7336006"/>
          </a:xfrm>
        </p:grpSpPr>
        <p:grpSp>
          <p:nvGrpSpPr>
            <p:cNvPr id="3" name="グループ化 2"/>
            <p:cNvGrpSpPr/>
            <p:nvPr/>
          </p:nvGrpSpPr>
          <p:grpSpPr>
            <a:xfrm>
              <a:off x="3139440" y="1672850"/>
              <a:ext cx="13495151" cy="6368064"/>
              <a:chOff x="3139440" y="1672850"/>
              <a:chExt cx="13495151" cy="6368064"/>
            </a:xfrm>
          </p:grpSpPr>
          <p:pic>
            <p:nvPicPr>
              <p:cNvPr id="4" name="図 3"/>
              <p:cNvPicPr>
                <a:picLocks noChangeAspect="1"/>
              </p:cNvPicPr>
              <p:nvPr/>
            </p:nvPicPr>
            <p:blipFill>
              <a:blip r:embed="rId3"/>
              <a:stretch>
                <a:fillRect/>
              </a:stretch>
            </p:blipFill>
            <p:spPr>
              <a:xfrm>
                <a:off x="3139440" y="1672850"/>
                <a:ext cx="13495151" cy="6368064"/>
              </a:xfrm>
              <a:prstGeom prst="rect">
                <a:avLst/>
              </a:prstGeom>
            </p:spPr>
          </p:pic>
          <p:sp>
            <p:nvSpPr>
              <p:cNvPr id="2" name="正方形/長方形 1"/>
              <p:cNvSpPr/>
              <p:nvPr/>
            </p:nvSpPr>
            <p:spPr>
              <a:xfrm>
                <a:off x="5386388" y="6472238"/>
                <a:ext cx="4386262" cy="4857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角丸四角形吹き出し 9"/>
            <p:cNvSpPr/>
            <p:nvPr/>
          </p:nvSpPr>
          <p:spPr>
            <a:xfrm>
              <a:off x="10925174" y="2640792"/>
              <a:ext cx="5276851" cy="1592118"/>
            </a:xfrm>
            <a:prstGeom prst="wedgeRoundRectCallout">
              <a:avLst/>
            </a:prstGeom>
          </p:spPr>
          <p:style>
            <a:lnRef idx="3">
              <a:schemeClr val="lt1"/>
            </a:lnRef>
            <a:fillRef idx="1">
              <a:schemeClr val="accent1"/>
            </a:fillRef>
            <a:effectRef idx="1">
              <a:schemeClr val="accent1"/>
            </a:effectRef>
            <a:fontRef idx="minor">
              <a:schemeClr val="lt1"/>
            </a:fontRef>
          </p:style>
          <p:txBody>
            <a:bodyPr rtlCol="0" anchor="ctr"/>
            <a:lstStyle/>
            <a:p>
              <a:r>
                <a:rPr lang="en-US" dirty="0" err="1">
                  <a:solidFill>
                    <a:schemeClr val="bg1"/>
                  </a:solidFill>
                </a:rPr>
                <a:t>Ineterface</a:t>
              </a:r>
              <a:r>
                <a:rPr lang="en-US" dirty="0">
                  <a:solidFill>
                    <a:schemeClr val="bg1"/>
                  </a:solidFill>
                </a:rPr>
                <a:t> </a:t>
              </a:r>
              <a:r>
                <a:rPr lang="en-US" b="1" dirty="0" err="1" smtClean="0">
                  <a:solidFill>
                    <a:schemeClr val="tx1"/>
                  </a:solidFill>
                </a:rPr>
                <a:t>UserRepository</a:t>
              </a:r>
              <a:r>
                <a:rPr lang="en-US" dirty="0" smtClean="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thừa</a:t>
              </a:r>
              <a:r>
                <a:rPr lang="en-US" dirty="0">
                  <a:solidFill>
                    <a:schemeClr val="bg1"/>
                  </a:solidFill>
                </a:rPr>
                <a:t> </a:t>
              </a:r>
              <a:r>
                <a:rPr lang="en-US" b="1" dirty="0" err="1" smtClean="0">
                  <a:solidFill>
                    <a:schemeClr val="tx1"/>
                  </a:solidFill>
                </a:rPr>
                <a:t>CrudRepository</a:t>
              </a:r>
              <a:r>
                <a:rPr lang="en-US" b="1" dirty="0" smtClean="0">
                  <a:solidFill>
                    <a:schemeClr val="tx1"/>
                  </a:solidFill>
                </a:rPr>
                <a:t> </a:t>
              </a:r>
              <a:r>
                <a:rPr lang="en-US" dirty="0" err="1" smtClean="0">
                  <a:solidFill>
                    <a:schemeClr val="bg1"/>
                  </a:solidFill>
                </a:rPr>
                <a:t>của</a:t>
              </a:r>
              <a:r>
                <a:rPr lang="en-US" dirty="0" smtClean="0">
                  <a:solidFill>
                    <a:schemeClr val="bg1"/>
                  </a:solidFill>
                </a:rPr>
                <a:t> spring data </a:t>
              </a:r>
              <a:r>
                <a:rPr lang="en-US" dirty="0" err="1" smtClean="0">
                  <a:solidFill>
                    <a:schemeClr val="bg1"/>
                  </a:solidFill>
                </a:rPr>
                <a:t>jpa</a:t>
              </a:r>
              <a:endParaRPr lang="en-US" dirty="0" smtClean="0">
                <a:solidFill>
                  <a:schemeClr val="bg1"/>
                </a:solidFill>
              </a:endParaRPr>
            </a:p>
            <a:p>
              <a:r>
                <a:rPr lang="en-US" dirty="0"/>
                <a:t>Trong </a:t>
              </a:r>
              <a:r>
                <a:rPr lang="en-US" b="1" dirty="0" err="1">
                  <a:solidFill>
                    <a:schemeClr val="tx1"/>
                  </a:solidFill>
                </a:rPr>
                <a:t>CrudRepository</a:t>
              </a:r>
              <a:r>
                <a:rPr lang="en-US" dirty="0"/>
                <a:t> </a:t>
              </a:r>
              <a:r>
                <a:rPr lang="en-US" dirty="0" err="1"/>
                <a:t>cần</a:t>
              </a:r>
              <a:r>
                <a:rPr lang="en-US" dirty="0"/>
                <a:t> </a:t>
              </a:r>
              <a:r>
                <a:rPr lang="en-US" dirty="0" err="1"/>
                <a:t>truyền</a:t>
              </a:r>
              <a:r>
                <a:rPr lang="en-US" dirty="0"/>
                <a:t> </a:t>
              </a:r>
              <a:r>
                <a:rPr lang="en-US" dirty="0" err="1"/>
                <a:t>vào</a:t>
              </a:r>
              <a:r>
                <a:rPr lang="en-US" dirty="0"/>
                <a:t> </a:t>
              </a:r>
              <a:r>
                <a:rPr lang="en-US" dirty="0" err="1"/>
                <a:t>loại</a:t>
              </a:r>
              <a:r>
                <a:rPr lang="en-US" dirty="0"/>
                <a:t> entity </a:t>
              </a:r>
              <a:r>
                <a:rPr lang="en-US" dirty="0" err="1"/>
                <a:t>và</a:t>
              </a:r>
              <a:r>
                <a:rPr lang="en-US" dirty="0"/>
                <a:t> </a:t>
              </a:r>
              <a:r>
                <a:rPr lang="en-US" dirty="0" err="1"/>
                <a:t>kiểu</a:t>
              </a:r>
              <a:r>
                <a:rPr lang="en-US" dirty="0"/>
                <a:t> </a:t>
              </a:r>
              <a:r>
                <a:rPr lang="en-US" dirty="0" err="1"/>
                <a:t>dữ</a:t>
              </a:r>
              <a:r>
                <a:rPr lang="en-US" dirty="0"/>
                <a:t> </a:t>
              </a:r>
              <a:r>
                <a:rPr lang="en-US" dirty="0" err="1"/>
                <a:t>liệu</a:t>
              </a:r>
              <a:r>
                <a:rPr lang="en-US" dirty="0"/>
                <a:t> ID </a:t>
              </a:r>
              <a:r>
                <a:rPr lang="en-US" dirty="0" err="1"/>
                <a:t>của</a:t>
              </a:r>
              <a:r>
                <a:rPr lang="en-US" dirty="0"/>
                <a:t> Entity </a:t>
              </a:r>
              <a:r>
                <a:rPr lang="en-US" dirty="0" err="1"/>
                <a:t>đó</a:t>
              </a:r>
              <a:endParaRPr lang="en-US" dirty="0"/>
            </a:p>
            <a:p>
              <a:endParaRPr lang="en-US" dirty="0">
                <a:solidFill>
                  <a:schemeClr val="tx1"/>
                </a:solidFill>
              </a:endParaRPr>
            </a:p>
          </p:txBody>
        </p:sp>
        <p:sp>
          <p:nvSpPr>
            <p:cNvPr id="5" name="角丸四角形吹き出し 4"/>
            <p:cNvSpPr/>
            <p:nvPr/>
          </p:nvSpPr>
          <p:spPr>
            <a:xfrm>
              <a:off x="7043738" y="7394368"/>
              <a:ext cx="5786437" cy="1614488"/>
            </a:xfrm>
            <a:prstGeom prst="wedgeRoundRectCallout">
              <a:avLst>
                <a:gd name="adj1" fmla="val -35176"/>
                <a:gd name="adj2" fmla="val -705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Method </a:t>
              </a:r>
              <a:r>
                <a:rPr lang="en-US" dirty="0" err="1"/>
                <a:t>truy</a:t>
              </a:r>
              <a:r>
                <a:rPr lang="en-US" dirty="0"/>
                <a:t> </a:t>
              </a:r>
              <a:r>
                <a:rPr lang="en-US" dirty="0" err="1" smtClean="0"/>
                <a:t>vấn</a:t>
              </a:r>
              <a:r>
                <a:rPr lang="en-US" dirty="0" smtClean="0"/>
                <a:t>, </a:t>
              </a:r>
              <a:r>
                <a:rPr lang="en-US" dirty="0" err="1" smtClean="0"/>
                <a:t>bằng</a:t>
              </a:r>
              <a:r>
                <a:rPr lang="en-US" dirty="0" smtClean="0"/>
                <a:t> </a:t>
              </a:r>
              <a:r>
                <a:rPr lang="en-US" dirty="0" err="1"/>
                <a:t>cách</a:t>
              </a:r>
              <a:r>
                <a:rPr lang="en-US" dirty="0"/>
                <a:t> </a:t>
              </a:r>
              <a:r>
                <a:rPr lang="en-US" dirty="0" err="1"/>
                <a:t>khai</a:t>
              </a:r>
              <a:r>
                <a:rPr lang="en-US" dirty="0"/>
                <a:t> </a:t>
              </a:r>
              <a:r>
                <a:rPr lang="en-US" dirty="0" err="1"/>
                <a:t>báo</a:t>
              </a:r>
              <a:r>
                <a:rPr lang="en-US" dirty="0"/>
                <a:t> method signature </a:t>
              </a:r>
              <a:r>
                <a:rPr lang="en-US" dirty="0" err="1"/>
                <a:t>của</a:t>
              </a:r>
              <a:r>
                <a:rPr lang="en-US" dirty="0"/>
                <a:t> </a:t>
              </a:r>
              <a:r>
                <a:rPr lang="en-US" dirty="0" err="1"/>
                <a:t>chúng</a:t>
              </a:r>
              <a:endParaRPr lang="en-US" dirty="0"/>
            </a:p>
          </p:txBody>
        </p:sp>
      </p:grpSp>
    </p:spTree>
    <p:extLst>
      <p:ext uri="{BB962C8B-B14F-4D97-AF65-F5344CB8AC3E}">
        <p14:creationId xmlns:p14="http://schemas.microsoft.com/office/powerpoint/2010/main" val="100594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44263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UserService</a:t>
            </a:r>
            <a:endParaRPr lang="en-US" sz="4000" b="1"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2851859" y="1261520"/>
            <a:ext cx="14374291" cy="8868317"/>
            <a:chOff x="2851859" y="1261520"/>
            <a:chExt cx="14374291" cy="8868317"/>
          </a:xfrm>
        </p:grpSpPr>
        <p:pic>
          <p:nvPicPr>
            <p:cNvPr id="8" name="図 7"/>
            <p:cNvPicPr>
              <a:picLocks noChangeAspect="1"/>
            </p:cNvPicPr>
            <p:nvPr/>
          </p:nvPicPr>
          <p:blipFill>
            <a:blip r:embed="rId3"/>
            <a:stretch>
              <a:fillRect/>
            </a:stretch>
          </p:blipFill>
          <p:spPr>
            <a:xfrm>
              <a:off x="2851859" y="1261520"/>
              <a:ext cx="14374291" cy="8868317"/>
            </a:xfrm>
            <a:prstGeom prst="rect">
              <a:avLst/>
            </a:prstGeom>
          </p:spPr>
        </p:pic>
        <p:sp>
          <p:nvSpPr>
            <p:cNvPr id="4" name="正方形/長方形 3"/>
            <p:cNvSpPr/>
            <p:nvPr/>
          </p:nvSpPr>
          <p:spPr>
            <a:xfrm>
              <a:off x="3587998" y="5484546"/>
              <a:ext cx="8429625"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角丸四角形吹き出し 9"/>
          <p:cNvSpPr/>
          <p:nvPr/>
        </p:nvSpPr>
        <p:spPr>
          <a:xfrm>
            <a:off x="7802810" y="3489960"/>
            <a:ext cx="4914900" cy="1743075"/>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smtClean="0">
                <a:latin typeface="Times New Roman" panose="02020603050405020304" pitchFamily="18" charset="0"/>
                <a:cs typeface="Times New Roman" panose="02020603050405020304" pitchFamily="18" charset="0"/>
              </a:rPr>
              <a:t>UserService</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sẽ</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gọi</a:t>
            </a:r>
            <a:r>
              <a:rPr lang="en-US"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UserRepository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với</a:t>
            </a:r>
            <a:r>
              <a:rPr lang="en-US" dirty="0" smtClean="0">
                <a:latin typeface="Times New Roman" panose="02020603050405020304" pitchFamily="18" charset="0"/>
                <a:cs typeface="Times New Roman" panose="02020603050405020304" pitchFamily="18" charset="0"/>
              </a:rPr>
              <a:t> method: </a:t>
            </a:r>
            <a:r>
              <a:rPr lang="en-US" dirty="0" err="1" smtClean="0">
                <a:latin typeface="Times New Roman" panose="02020603050405020304" pitchFamily="18" charset="0"/>
                <a:cs typeface="Times New Roman" panose="02020603050405020304" pitchFamily="18" charset="0"/>
              </a:rPr>
              <a:t>findAllByOrderByUseId</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96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44263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UserService</a:t>
            </a:r>
            <a:endParaRPr lang="en-US" sz="4000" b="1"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3139440" y="1207548"/>
            <a:ext cx="14508090" cy="8950865"/>
            <a:chOff x="3139440" y="1207548"/>
            <a:chExt cx="14508090" cy="8950865"/>
          </a:xfrm>
        </p:grpSpPr>
        <p:grpSp>
          <p:nvGrpSpPr>
            <p:cNvPr id="5" name="グループ化 4"/>
            <p:cNvGrpSpPr/>
            <p:nvPr/>
          </p:nvGrpSpPr>
          <p:grpSpPr>
            <a:xfrm>
              <a:off x="3139440" y="1207548"/>
              <a:ext cx="14508090" cy="8950865"/>
              <a:chOff x="3139440" y="1207548"/>
              <a:chExt cx="14508090" cy="8950865"/>
            </a:xfrm>
          </p:grpSpPr>
          <p:pic>
            <p:nvPicPr>
              <p:cNvPr id="3" name="図 2"/>
              <p:cNvPicPr>
                <a:picLocks noChangeAspect="1"/>
              </p:cNvPicPr>
              <p:nvPr/>
            </p:nvPicPr>
            <p:blipFill>
              <a:blip r:embed="rId3"/>
              <a:stretch>
                <a:fillRect/>
              </a:stretch>
            </p:blipFill>
            <p:spPr>
              <a:xfrm>
                <a:off x="3139440" y="1207548"/>
                <a:ext cx="14508090" cy="8950865"/>
              </a:xfrm>
              <a:prstGeom prst="rect">
                <a:avLst/>
              </a:prstGeom>
            </p:spPr>
          </p:pic>
          <p:sp>
            <p:nvSpPr>
              <p:cNvPr id="4" name="正方形/長方形 3"/>
              <p:cNvSpPr/>
              <p:nvPr/>
            </p:nvSpPr>
            <p:spPr>
              <a:xfrm flipV="1">
                <a:off x="3929063" y="2693191"/>
                <a:ext cx="2571750" cy="2428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正方形/長方形 7"/>
            <p:cNvSpPr/>
            <p:nvPr/>
          </p:nvSpPr>
          <p:spPr>
            <a:xfrm>
              <a:off x="3929063" y="6672263"/>
              <a:ext cx="3914775" cy="157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084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44263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UserService</a:t>
            </a:r>
            <a:endParaRPr lang="en-US" sz="4000" b="1" dirty="0">
              <a:latin typeface="Times New Roman" panose="02020603050405020304" pitchFamily="18" charset="0"/>
              <a:cs typeface="Times New Roman" panose="02020603050405020304" pitchFamily="18" charset="0"/>
            </a:endParaRPr>
          </a:p>
        </p:txBody>
      </p:sp>
      <p:grpSp>
        <p:nvGrpSpPr>
          <p:cNvPr id="5" name="グループ化 4"/>
          <p:cNvGrpSpPr/>
          <p:nvPr/>
        </p:nvGrpSpPr>
        <p:grpSpPr>
          <a:xfrm>
            <a:off x="2851859" y="1247232"/>
            <a:ext cx="14281659" cy="8811167"/>
            <a:chOff x="2851859" y="1247232"/>
            <a:chExt cx="14281659" cy="8811167"/>
          </a:xfrm>
        </p:grpSpPr>
        <p:pic>
          <p:nvPicPr>
            <p:cNvPr id="2" name="図 1"/>
            <p:cNvPicPr>
              <a:picLocks noChangeAspect="1"/>
            </p:cNvPicPr>
            <p:nvPr/>
          </p:nvPicPr>
          <p:blipFill>
            <a:blip r:embed="rId3"/>
            <a:stretch>
              <a:fillRect/>
            </a:stretch>
          </p:blipFill>
          <p:spPr>
            <a:xfrm>
              <a:off x="2851859" y="1247232"/>
              <a:ext cx="14281659" cy="8811167"/>
            </a:xfrm>
            <a:prstGeom prst="rect">
              <a:avLst/>
            </a:prstGeom>
          </p:spPr>
        </p:pic>
        <p:sp>
          <p:nvSpPr>
            <p:cNvPr id="3" name="正方形/長方形 2"/>
            <p:cNvSpPr/>
            <p:nvPr/>
          </p:nvSpPr>
          <p:spPr>
            <a:xfrm>
              <a:off x="3957638" y="4986338"/>
              <a:ext cx="1785937" cy="1431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9703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3" name="TextBox 16"/>
          <p:cNvSpPr txBox="1"/>
          <p:nvPr/>
        </p:nvSpPr>
        <p:spPr>
          <a:xfrm>
            <a:off x="581313" y="1563837"/>
            <a:ext cx="3381087" cy="614912"/>
          </a:xfrm>
          <a:prstGeom prst="rect">
            <a:avLst/>
          </a:prstGeom>
          <a:noFill/>
        </p:spPr>
        <p:txBody>
          <a:bodyPr wrap="square" lIns="0" tIns="0" rIns="0" bIns="0" rtlCol="0">
            <a:spAutoFit/>
          </a:bodyPr>
          <a:lstStyle/>
          <a:p>
            <a:pPr>
              <a:lnSpc>
                <a:spcPct val="111249"/>
              </a:lnSpc>
            </a:pPr>
            <a:r>
              <a:rPr lang="en-US" altLang="zh-CN" sz="3600" spc="350" dirty="0" err="1">
                <a:solidFill>
                  <a:srgbClr val="FEFEFE"/>
                </a:solidFill>
                <a:latin typeface="Times New Roman"/>
                <a:ea typeface="Times New Roman"/>
              </a:rPr>
              <a:t>UserController</a:t>
            </a:r>
            <a:endParaRPr lang="en-US" altLang="zh-CN" sz="3600" spc="350" dirty="0">
              <a:solidFill>
                <a:srgbClr val="FEFEFE"/>
              </a:solidFill>
              <a:latin typeface="Times New Roman"/>
              <a:ea typeface="Times New Roman"/>
            </a:endParaRPr>
          </a:p>
        </p:txBody>
      </p:sp>
      <p:sp>
        <p:nvSpPr>
          <p:cNvPr id="24" name="TextBox 20"/>
          <p:cNvSpPr txBox="1"/>
          <p:nvPr/>
        </p:nvSpPr>
        <p:spPr>
          <a:xfrm>
            <a:off x="6719463" y="3493063"/>
            <a:ext cx="2076561" cy="269689"/>
          </a:xfrm>
          <a:prstGeom prst="rect">
            <a:avLst/>
          </a:prstGeom>
          <a:noFill/>
        </p:spPr>
        <p:txBody>
          <a:bodyPr wrap="square" lIns="0" tIns="0" rIns="0" bIns="0" rtlCol="0">
            <a:spAutoFit/>
          </a:bodyPr>
          <a:lstStyle/>
          <a:p>
            <a:pPr marL="0">
              <a:lnSpc>
                <a:spcPct val="119583"/>
              </a:lnSpc>
            </a:pPr>
            <a:r>
              <a:rPr lang="en-US" altLang="zh-CN" sz="1600" spc="455" dirty="0" smtClean="0">
                <a:solidFill>
                  <a:srgbClr val="FEFEFE"/>
                </a:solidFill>
                <a:latin typeface="Times New Roman"/>
                <a:ea typeface="Times New Roman"/>
              </a:rPr>
              <a:t>Get all user</a:t>
            </a:r>
            <a:endParaRPr lang="en-US" altLang="zh-CN" sz="1600" spc="400" dirty="0">
              <a:solidFill>
                <a:srgbClr val="FEFEFE"/>
              </a:solidFill>
              <a:latin typeface="Times New Roman"/>
              <a:ea typeface="Times New Roman"/>
            </a:endParaRPr>
          </a:p>
        </p:txBody>
      </p:sp>
      <p:sp>
        <p:nvSpPr>
          <p:cNvPr id="25" name="TextBox 21"/>
          <p:cNvSpPr txBox="1"/>
          <p:nvPr/>
        </p:nvSpPr>
        <p:spPr>
          <a:xfrm>
            <a:off x="768616" y="4587413"/>
            <a:ext cx="8365854" cy="2954655"/>
          </a:xfrm>
          <a:prstGeom prst="rect">
            <a:avLst/>
          </a:prstGeom>
          <a:noFill/>
        </p:spPr>
        <p:txBody>
          <a:bodyPr wrap="square" lIns="0" tIns="0" rIns="0" bIns="0" rtlCol="0">
            <a:spAutoFit/>
          </a:bodyPr>
          <a:lstStyle/>
          <a:p>
            <a:r>
              <a:rPr lang="en-US" sz="2400" dirty="0">
                <a:solidFill>
                  <a:srgbClr val="3F7F5F"/>
                </a:solidFill>
                <a:latin typeface="Consolas" panose="020B0609020204030204" pitchFamily="49" charset="0"/>
              </a:rPr>
              <a:t>/**</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 Get All User</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a:t>
            </a:r>
          </a:p>
          <a:p>
            <a:r>
              <a:rPr lang="en-US" sz="2400" dirty="0">
                <a:solidFill>
                  <a:srgbClr val="646464"/>
                </a:solidFill>
                <a:latin typeface="Consolas" panose="020B0609020204030204" pitchFamily="49" charset="0"/>
              </a:rPr>
              <a:t>@</a:t>
            </a:r>
            <a:r>
              <a:rPr lang="en-US" sz="2400" dirty="0" err="1">
                <a:solidFill>
                  <a:srgbClr val="646464"/>
                </a:solidFill>
                <a:latin typeface="Consolas" panose="020B0609020204030204" pitchFamily="49" charset="0"/>
              </a:rPr>
              <a:t>GetMapping</a:t>
            </a:r>
            <a:r>
              <a:rPr lang="en-US" sz="2400" dirty="0">
                <a:solidFill>
                  <a:srgbClr val="000000"/>
                </a:solidFill>
                <a:latin typeface="Consolas" panose="020B0609020204030204" pitchFamily="49" charset="0"/>
              </a:rPr>
              <a:t>(</a:t>
            </a:r>
            <a:r>
              <a:rPr lang="en-US" sz="2400" dirty="0">
                <a:solidFill>
                  <a:srgbClr val="2A00FF"/>
                </a:solidFill>
                <a:latin typeface="Consolas" panose="020B0609020204030204" pitchFamily="49" charset="0"/>
              </a:rPr>
              <a:t>"/"</a:t>
            </a:r>
            <a:r>
              <a:rPr lang="en-US" sz="2400" dirty="0">
                <a:solidFill>
                  <a:srgbClr val="000000"/>
                </a:solidFill>
                <a:latin typeface="Consolas" panose="020B0609020204030204" pitchFamily="49" charset="0"/>
              </a:rPr>
              <a:t>)</a:t>
            </a:r>
          </a:p>
          <a:p>
            <a:r>
              <a:rPr lang="en-US" sz="2400" b="1" dirty="0">
                <a:solidFill>
                  <a:srgbClr val="7F0055"/>
                </a:solidFill>
                <a:latin typeface="Consolas" panose="020B0609020204030204" pitchFamily="49" charset="0"/>
              </a:rPr>
              <a:t>fun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getUser</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 {</a:t>
            </a:r>
          </a:p>
          <a:p>
            <a:r>
              <a:rPr lang="en-US" sz="2400" b="1" dirty="0">
                <a:solidFill>
                  <a:srgbClr val="7F0055"/>
                </a:solidFill>
                <a:latin typeface="Consolas" panose="020B0609020204030204" pitchFamily="49" charset="0"/>
              </a:rPr>
              <a:t>return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a:t>
            </a:r>
            <a:r>
              <a:rPr lang="en-US" sz="2400" b="1" dirty="0">
                <a:solidFill>
                  <a:srgbClr val="2A00FF"/>
                </a:solidFill>
                <a:latin typeface="Consolas" panose="020B0609020204030204" pitchFamily="49" charset="0"/>
              </a:rPr>
              <a:t>"Find All </a:t>
            </a:r>
            <a:r>
              <a:rPr lang="en-US" sz="2400" b="1" dirty="0" err="1">
                <a:solidFill>
                  <a:srgbClr val="2A00FF"/>
                </a:solidFill>
                <a:latin typeface="Consolas" panose="020B0609020204030204" pitchFamily="49" charset="0"/>
              </a:rPr>
              <a:t>Succes</a:t>
            </a:r>
            <a:r>
              <a:rPr lang="en-US" sz="2400" b="1" dirty="0">
                <a:solidFill>
                  <a:srgbClr val="2A00FF"/>
                </a:solidFill>
                <a:latin typeface="Consolas" panose="020B0609020204030204" pitchFamily="49" charset="0"/>
              </a:rPr>
              <a: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ResponseEntity.ok</a:t>
            </a:r>
            <a:r>
              <a:rPr lang="en-US" sz="2400" b="1" dirty="0">
                <a:solidFill>
                  <a:srgbClr val="000000"/>
                </a:solidFill>
                <a:latin typeface="Consolas" panose="020B0609020204030204" pitchFamily="49" charset="0"/>
              </a:rPr>
              <a:t>().body(</a:t>
            </a:r>
            <a:r>
              <a:rPr lang="en-US" sz="2400" b="1" dirty="0" err="1">
                <a:solidFill>
                  <a:srgbClr val="0000C0"/>
                </a:solidFill>
                <a:latin typeface="Consolas" panose="020B0609020204030204" pitchFamily="49" charset="0"/>
              </a:rPr>
              <a:t>service</a:t>
            </a:r>
            <a:r>
              <a:rPr lang="en-US" sz="2400" b="1" dirty="0" err="1">
                <a:solidFill>
                  <a:srgbClr val="000000"/>
                </a:solidFill>
                <a:latin typeface="Consolas" panose="020B0609020204030204" pitchFamily="49" charset="0"/>
              </a:rPr>
              <a:t>.getAllUser</a:t>
            </a:r>
            <a:r>
              <a:rPr lang="en-US" sz="2400" b="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endParaRPr lang="en-US" altLang="zh-CN" sz="2400" spc="125" dirty="0">
              <a:solidFill>
                <a:srgbClr val="000000"/>
              </a:solidFill>
              <a:latin typeface="Times New Roman"/>
              <a:ea typeface="Times New Roman"/>
            </a:endParaRPr>
          </a:p>
        </p:txBody>
      </p:sp>
      <p:grpSp>
        <p:nvGrpSpPr>
          <p:cNvPr id="10" name="グループ化 9"/>
          <p:cNvGrpSpPr/>
          <p:nvPr/>
        </p:nvGrpSpPr>
        <p:grpSpPr>
          <a:xfrm>
            <a:off x="9811366" y="420730"/>
            <a:ext cx="7721891" cy="9657405"/>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348686" y="1563837"/>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正方形/長方形 1"/>
          <p:cNvSpPr/>
          <p:nvPr/>
        </p:nvSpPr>
        <p:spPr>
          <a:xfrm>
            <a:off x="10187189" y="1249251"/>
            <a:ext cx="1957588" cy="2060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角丸四角形吹き出し 3"/>
          <p:cNvSpPr/>
          <p:nvPr/>
        </p:nvSpPr>
        <p:spPr>
          <a:xfrm>
            <a:off x="12556901" y="218941"/>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Url</a:t>
            </a:r>
            <a:r>
              <a:rPr lang="en-US" dirty="0" smtClean="0"/>
              <a:t> </a:t>
            </a:r>
            <a:r>
              <a:rPr lang="en-US" dirty="0" err="1" smtClean="0"/>
              <a:t>tương</a:t>
            </a:r>
            <a:r>
              <a:rPr lang="en-US" dirty="0" smtClean="0"/>
              <a:t> </a:t>
            </a:r>
            <a:r>
              <a:rPr lang="en-US" dirty="0" err="1" smtClean="0"/>
              <a:t>ứng</a:t>
            </a:r>
            <a:r>
              <a:rPr lang="en-US" dirty="0" smtClean="0"/>
              <a:t> </a:t>
            </a:r>
            <a:r>
              <a:rPr lang="en-US" dirty="0" err="1" smtClean="0"/>
              <a:t>khi</a:t>
            </a:r>
            <a:r>
              <a:rPr lang="en-US" dirty="0" smtClean="0"/>
              <a:t> </a:t>
            </a:r>
            <a:r>
              <a:rPr lang="en-US" dirty="0" err="1" smtClean="0"/>
              <a:t>chậy</a:t>
            </a:r>
            <a:r>
              <a:rPr lang="en-US" dirty="0" smtClean="0"/>
              <a:t> </a:t>
            </a:r>
            <a:r>
              <a:rPr lang="en-US" dirty="0" err="1" smtClean="0"/>
              <a:t>api</a:t>
            </a:r>
            <a:r>
              <a:rPr lang="en-US" dirty="0" smtClean="0"/>
              <a:t>: </a:t>
            </a:r>
            <a:r>
              <a:rPr lang="en-US" dirty="0"/>
              <a:t>http://localhost:8080/api/v1</a:t>
            </a:r>
          </a:p>
        </p:txBody>
      </p:sp>
    </p:spTree>
    <p:extLst>
      <p:ext uri="{BB962C8B-B14F-4D97-AF65-F5344CB8AC3E}">
        <p14:creationId xmlns:p14="http://schemas.microsoft.com/office/powerpoint/2010/main" val="173077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4" name="TextBox 20"/>
          <p:cNvSpPr txBox="1"/>
          <p:nvPr/>
        </p:nvSpPr>
        <p:spPr>
          <a:xfrm>
            <a:off x="6486868" y="3493063"/>
            <a:ext cx="2076561" cy="295466"/>
          </a:xfrm>
          <a:prstGeom prst="rect">
            <a:avLst/>
          </a:prstGeom>
          <a:noFill/>
        </p:spPr>
        <p:txBody>
          <a:bodyPr wrap="square" lIns="0" tIns="0" rIns="0" bIns="0" rtlCol="0">
            <a:spAutoFit/>
          </a:bodyPr>
          <a:lstStyle/>
          <a:p>
            <a:pPr marL="0">
              <a:lnSpc>
                <a:spcPct val="119583"/>
              </a:lnSpc>
            </a:pPr>
            <a:r>
              <a:rPr lang="en-US" altLang="zh-CN" sz="1600" spc="455" dirty="0" err="1" smtClean="0">
                <a:solidFill>
                  <a:srgbClr val="FEFEFE"/>
                </a:solidFill>
                <a:latin typeface="Times New Roman"/>
                <a:ea typeface="Times New Roman"/>
              </a:rPr>
              <a:t>UserController</a:t>
            </a:r>
            <a:endParaRPr lang="en-US" altLang="zh-CN" sz="1600" spc="400" dirty="0">
              <a:solidFill>
                <a:srgbClr val="FEFEFE"/>
              </a:solidFill>
              <a:latin typeface="Times New Roman"/>
              <a:ea typeface="Times New Roman"/>
            </a:endParaRPr>
          </a:p>
        </p:txBody>
      </p:sp>
      <p:sp>
        <p:nvSpPr>
          <p:cNvPr id="25" name="TextBox 21"/>
          <p:cNvSpPr txBox="1"/>
          <p:nvPr/>
        </p:nvSpPr>
        <p:spPr>
          <a:xfrm>
            <a:off x="768616" y="4587413"/>
            <a:ext cx="8365854" cy="3693319"/>
          </a:xfrm>
          <a:prstGeom prst="rect">
            <a:avLst/>
          </a:prstGeom>
          <a:noFill/>
        </p:spPr>
        <p:txBody>
          <a:bodyPr wrap="square" lIns="0" tIns="0" rIns="0" bIns="0" rtlCol="0">
            <a:spAutoFit/>
          </a:bodyPr>
          <a:lstStyle/>
          <a:p>
            <a:r>
              <a:rPr lang="en-US" sz="2400" dirty="0">
                <a:solidFill>
                  <a:srgbClr val="3F7F5F"/>
                </a:solidFill>
                <a:latin typeface="Consolas" panose="020B0609020204030204" pitchFamily="49" charset="0"/>
              </a:rPr>
              <a:t>/**</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 Create User</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a:t>
            </a:r>
          </a:p>
          <a:p>
            <a:r>
              <a:rPr lang="en-US" sz="2400" dirty="0">
                <a:solidFill>
                  <a:srgbClr val="646464"/>
                </a:solidFill>
                <a:latin typeface="Consolas" panose="020B0609020204030204" pitchFamily="49" charset="0"/>
              </a:rPr>
              <a:t>@</a:t>
            </a:r>
            <a:r>
              <a:rPr lang="en-US" sz="2400" dirty="0" err="1">
                <a:solidFill>
                  <a:srgbClr val="646464"/>
                </a:solidFill>
                <a:latin typeface="Consolas" panose="020B0609020204030204" pitchFamily="49" charset="0"/>
              </a:rPr>
              <a:t>PostMapping</a:t>
            </a:r>
            <a:r>
              <a:rPr lang="en-US" sz="2400" dirty="0">
                <a:solidFill>
                  <a:srgbClr val="000000"/>
                </a:solidFill>
                <a:latin typeface="Consolas" panose="020B0609020204030204" pitchFamily="49" charset="0"/>
              </a:rPr>
              <a:t>(</a:t>
            </a:r>
            <a:r>
              <a:rPr lang="en-US" sz="2400" dirty="0">
                <a:solidFill>
                  <a:srgbClr val="2A00FF"/>
                </a:solidFill>
                <a:latin typeface="Consolas" panose="020B0609020204030204" pitchFamily="49" charset="0"/>
              </a:rPr>
              <a:t>"/save"</a:t>
            </a:r>
            <a:r>
              <a:rPr lang="en-US" sz="2400" dirty="0">
                <a:solidFill>
                  <a:srgbClr val="000000"/>
                </a:solidFill>
                <a:latin typeface="Consolas" panose="020B0609020204030204" pitchFamily="49" charset="0"/>
              </a:rPr>
              <a:t>)</a:t>
            </a:r>
          </a:p>
          <a:p>
            <a:r>
              <a:rPr lang="en-US" sz="2400" b="1" dirty="0">
                <a:solidFill>
                  <a:srgbClr val="7F0055"/>
                </a:solidFill>
                <a:latin typeface="Consolas" panose="020B0609020204030204" pitchFamily="49" charset="0"/>
              </a:rPr>
              <a:t>fun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saveUser</a:t>
            </a:r>
            <a:r>
              <a:rPr lang="en-US" sz="2400" b="1" dirty="0">
                <a:solidFill>
                  <a:srgbClr val="000000"/>
                </a:solidFill>
                <a:latin typeface="Consolas" panose="020B0609020204030204" pitchFamily="49" charset="0"/>
              </a:rPr>
              <a:t>(</a:t>
            </a:r>
            <a:r>
              <a:rPr lang="en-US" sz="2400" b="1" dirty="0">
                <a:solidFill>
                  <a:srgbClr val="646464"/>
                </a:solidFill>
                <a:latin typeface="Consolas" panose="020B0609020204030204" pitchFamily="49" charset="0"/>
              </a:rPr>
              <a:t>@</a:t>
            </a:r>
            <a:r>
              <a:rPr lang="en-US" sz="2400" b="1" dirty="0" err="1">
                <a:solidFill>
                  <a:srgbClr val="646464"/>
                </a:solidFill>
                <a:latin typeface="Consolas" panose="020B0609020204030204" pitchFamily="49" charset="0"/>
              </a:rPr>
              <a:t>RequestBody</a:t>
            </a:r>
            <a:r>
              <a:rPr lang="en-US" sz="2400" b="1" dirty="0">
                <a:solidFill>
                  <a:srgbClr val="000000"/>
                </a:solidFill>
                <a:latin typeface="Consolas" panose="020B0609020204030204" pitchFamily="49" charset="0"/>
              </a:rPr>
              <a:t> user: Users):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 {</a:t>
            </a:r>
          </a:p>
          <a:p>
            <a:r>
              <a:rPr lang="en-US" sz="2400" b="1" dirty="0" err="1">
                <a:solidFill>
                  <a:srgbClr val="7F0055"/>
                </a:solidFill>
                <a:latin typeface="Consolas" panose="020B0609020204030204" pitchFamily="49" charset="0"/>
              </a:rPr>
              <a:t>var</a:t>
            </a:r>
            <a:r>
              <a:rPr lang="en-US" sz="2400" b="1" dirty="0">
                <a:solidFill>
                  <a:srgbClr val="000000"/>
                </a:solidFill>
                <a:latin typeface="Consolas" panose="020B0609020204030204" pitchFamily="49" charset="0"/>
              </a:rPr>
              <a:t> </a:t>
            </a:r>
            <a:r>
              <a:rPr lang="en-US" sz="2400" b="1" dirty="0" err="1">
                <a:solidFill>
                  <a:srgbClr val="6A3E3E"/>
                </a:solidFill>
                <a:latin typeface="Consolas" panose="020B0609020204030204" pitchFamily="49" charset="0"/>
              </a:rPr>
              <a:t>userSave</a:t>
            </a:r>
            <a:r>
              <a:rPr lang="en-US" sz="2400" b="1" dirty="0">
                <a:solidFill>
                  <a:srgbClr val="000000"/>
                </a:solidFill>
                <a:latin typeface="Consolas" panose="020B0609020204030204" pitchFamily="49" charset="0"/>
              </a:rPr>
              <a:t>: Users = </a:t>
            </a:r>
            <a:r>
              <a:rPr lang="en-US" sz="2400" b="1" dirty="0" err="1">
                <a:solidFill>
                  <a:srgbClr val="0000C0"/>
                </a:solidFill>
                <a:latin typeface="Consolas" panose="020B0609020204030204" pitchFamily="49" charset="0"/>
              </a:rPr>
              <a:t>service</a:t>
            </a:r>
            <a:r>
              <a:rPr lang="en-US" sz="2400" b="1" dirty="0" err="1">
                <a:solidFill>
                  <a:srgbClr val="000000"/>
                </a:solidFill>
                <a:latin typeface="Consolas" panose="020B0609020204030204" pitchFamily="49" charset="0"/>
              </a:rPr>
              <a:t>.saveUser</a:t>
            </a:r>
            <a:r>
              <a:rPr lang="en-US" sz="2400" b="1" dirty="0">
                <a:solidFill>
                  <a:srgbClr val="000000"/>
                </a:solidFill>
                <a:latin typeface="Consolas" panose="020B0609020204030204" pitchFamily="49" charset="0"/>
              </a:rPr>
              <a:t>(user)</a:t>
            </a:r>
          </a:p>
          <a:p>
            <a:r>
              <a:rPr lang="en-US" sz="2400" b="1" dirty="0">
                <a:solidFill>
                  <a:srgbClr val="7F0055"/>
                </a:solidFill>
                <a:latin typeface="Consolas" panose="020B0609020204030204" pitchFamily="49" charset="0"/>
              </a:rPr>
              <a:t>return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a:t>
            </a:r>
            <a:r>
              <a:rPr lang="en-US" sz="2400" b="1" dirty="0">
                <a:solidFill>
                  <a:srgbClr val="2A00FF"/>
                </a:solidFill>
                <a:latin typeface="Consolas" panose="020B0609020204030204" pitchFamily="49" charset="0"/>
              </a:rPr>
              <a:t>"Save </a:t>
            </a:r>
            <a:r>
              <a:rPr lang="en-US" sz="2400" b="1" dirty="0" err="1">
                <a:solidFill>
                  <a:srgbClr val="2A00FF"/>
                </a:solidFill>
                <a:latin typeface="Consolas" panose="020B0609020204030204" pitchFamily="49" charset="0"/>
              </a:rPr>
              <a:t>succes</a:t>
            </a:r>
            <a:r>
              <a:rPr lang="en-US" sz="2400" b="1" dirty="0">
                <a:solidFill>
                  <a:srgbClr val="2A00FF"/>
                </a:solidFill>
                <a:latin typeface="Consolas" panose="020B0609020204030204" pitchFamily="49" charset="0"/>
              </a:rPr>
              <a: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ResponseEntity.ok</a:t>
            </a:r>
            <a:r>
              <a:rPr lang="en-US" sz="2400" b="1" dirty="0">
                <a:solidFill>
                  <a:srgbClr val="000000"/>
                </a:solidFill>
                <a:latin typeface="Consolas" panose="020B0609020204030204" pitchFamily="49" charset="0"/>
              </a:rPr>
              <a:t>().body(</a:t>
            </a:r>
            <a:r>
              <a:rPr lang="en-US" sz="2400" b="1" dirty="0" err="1">
                <a:solidFill>
                  <a:srgbClr val="6A3E3E"/>
                </a:solidFill>
                <a:latin typeface="Consolas" panose="020B0609020204030204" pitchFamily="49" charset="0"/>
              </a:rPr>
              <a:t>userSave</a:t>
            </a:r>
            <a:r>
              <a:rPr lang="en-US" sz="2400" b="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endParaRPr lang="en-US" altLang="zh-CN" sz="2400" spc="125" dirty="0">
              <a:solidFill>
                <a:srgbClr val="000000"/>
              </a:solidFill>
              <a:latin typeface="Times New Roman"/>
              <a:ea typeface="Times New Roman"/>
            </a:endParaRPr>
          </a:p>
        </p:txBody>
      </p:sp>
      <p:grpSp>
        <p:nvGrpSpPr>
          <p:cNvPr id="10" name="グループ化 9"/>
          <p:cNvGrpSpPr/>
          <p:nvPr/>
        </p:nvGrpSpPr>
        <p:grpSpPr>
          <a:xfrm>
            <a:off x="9811366" y="420730"/>
            <a:ext cx="7721891" cy="9657405"/>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4089323"/>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 name="TextBox 16"/>
          <p:cNvSpPr txBox="1"/>
          <p:nvPr/>
        </p:nvSpPr>
        <p:spPr>
          <a:xfrm>
            <a:off x="581313" y="1563837"/>
            <a:ext cx="3381087" cy="614912"/>
          </a:xfrm>
          <a:prstGeom prst="rect">
            <a:avLst/>
          </a:prstGeom>
          <a:noFill/>
        </p:spPr>
        <p:txBody>
          <a:bodyPr wrap="square" lIns="0" tIns="0" rIns="0" bIns="0" rtlCol="0">
            <a:spAutoFit/>
          </a:bodyPr>
          <a:lstStyle/>
          <a:p>
            <a:pPr>
              <a:lnSpc>
                <a:spcPct val="111249"/>
              </a:lnSpc>
            </a:pPr>
            <a:r>
              <a:rPr lang="en-US" altLang="zh-CN" sz="3600" spc="350" dirty="0" err="1">
                <a:solidFill>
                  <a:srgbClr val="FEFEFE"/>
                </a:solidFill>
                <a:latin typeface="Times New Roman"/>
                <a:ea typeface="Times New Roman"/>
              </a:rPr>
              <a:t>UserController</a:t>
            </a:r>
            <a:endParaRPr lang="en-US" altLang="zh-CN" sz="3600" spc="350" dirty="0">
              <a:solidFill>
                <a:srgbClr val="FEFEFE"/>
              </a:solidFill>
              <a:latin typeface="Times New Roman"/>
              <a:ea typeface="Times New Roman"/>
            </a:endParaRPr>
          </a:p>
        </p:txBody>
      </p:sp>
    </p:spTree>
    <p:extLst>
      <p:ext uri="{BB962C8B-B14F-4D97-AF65-F5344CB8AC3E}">
        <p14:creationId xmlns:p14="http://schemas.microsoft.com/office/powerpoint/2010/main" val="157245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4" name="TextBox 20"/>
          <p:cNvSpPr txBox="1"/>
          <p:nvPr/>
        </p:nvSpPr>
        <p:spPr>
          <a:xfrm>
            <a:off x="6486868" y="3493063"/>
            <a:ext cx="2076561" cy="295466"/>
          </a:xfrm>
          <a:prstGeom prst="rect">
            <a:avLst/>
          </a:prstGeom>
          <a:noFill/>
        </p:spPr>
        <p:txBody>
          <a:bodyPr wrap="square" lIns="0" tIns="0" rIns="0" bIns="0" rtlCol="0">
            <a:spAutoFit/>
          </a:bodyPr>
          <a:lstStyle/>
          <a:p>
            <a:pPr marL="0">
              <a:lnSpc>
                <a:spcPct val="119583"/>
              </a:lnSpc>
            </a:pPr>
            <a:r>
              <a:rPr lang="en-US" altLang="zh-CN" sz="1600" spc="455" dirty="0" err="1" smtClean="0">
                <a:solidFill>
                  <a:srgbClr val="FEFEFE"/>
                </a:solidFill>
                <a:latin typeface="Times New Roman"/>
                <a:ea typeface="Times New Roman"/>
              </a:rPr>
              <a:t>UserController</a:t>
            </a:r>
            <a:endParaRPr lang="en-US" altLang="zh-CN" sz="1600" spc="400" dirty="0">
              <a:solidFill>
                <a:srgbClr val="FEFEFE"/>
              </a:solidFill>
              <a:latin typeface="Times New Roman"/>
              <a:ea typeface="Times New Roman"/>
            </a:endParaRPr>
          </a:p>
        </p:txBody>
      </p:sp>
      <p:sp>
        <p:nvSpPr>
          <p:cNvPr id="25" name="TextBox 21"/>
          <p:cNvSpPr txBox="1"/>
          <p:nvPr/>
        </p:nvSpPr>
        <p:spPr>
          <a:xfrm>
            <a:off x="768616" y="4587413"/>
            <a:ext cx="8365854" cy="4062651"/>
          </a:xfrm>
          <a:prstGeom prst="rect">
            <a:avLst/>
          </a:prstGeom>
          <a:noFill/>
        </p:spPr>
        <p:txBody>
          <a:bodyPr wrap="square" lIns="0" tIns="0" rIns="0" bIns="0" rtlCol="0">
            <a:spAutoFit/>
          </a:bodyPr>
          <a:lstStyle/>
          <a:p>
            <a:r>
              <a:rPr lang="en-US" sz="2400" dirty="0">
                <a:solidFill>
                  <a:srgbClr val="3F7F5F"/>
                </a:solidFill>
                <a:latin typeface="Consolas" panose="020B0609020204030204" pitchFamily="49" charset="0"/>
              </a:rPr>
              <a:t>/**</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 Update user</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a:t>
            </a:r>
          </a:p>
          <a:p>
            <a:r>
              <a:rPr lang="en-US" sz="2400" dirty="0">
                <a:solidFill>
                  <a:srgbClr val="646464"/>
                </a:solidFill>
                <a:latin typeface="Consolas" panose="020B0609020204030204" pitchFamily="49" charset="0"/>
              </a:rPr>
              <a:t>@</a:t>
            </a:r>
            <a:r>
              <a:rPr lang="en-US" sz="2400" dirty="0" err="1">
                <a:solidFill>
                  <a:srgbClr val="646464"/>
                </a:solidFill>
                <a:latin typeface="Consolas" panose="020B0609020204030204" pitchFamily="49" charset="0"/>
              </a:rPr>
              <a:t>PutMapping</a:t>
            </a:r>
            <a:r>
              <a:rPr lang="en-US" sz="2400" dirty="0">
                <a:solidFill>
                  <a:srgbClr val="000000"/>
                </a:solidFill>
                <a:latin typeface="Consolas" panose="020B0609020204030204" pitchFamily="49" charset="0"/>
              </a:rPr>
              <a:t>(</a:t>
            </a:r>
            <a:r>
              <a:rPr lang="en-US" sz="2400" dirty="0">
                <a:solidFill>
                  <a:srgbClr val="2A00FF"/>
                </a:solidFill>
                <a:latin typeface="Consolas" panose="020B0609020204030204" pitchFamily="49" charset="0"/>
              </a:rPr>
              <a:t>"/update"</a:t>
            </a:r>
            <a:r>
              <a:rPr lang="en-US" sz="2400" dirty="0">
                <a:solidFill>
                  <a:srgbClr val="000000"/>
                </a:solidFill>
                <a:latin typeface="Consolas" panose="020B0609020204030204" pitchFamily="49" charset="0"/>
              </a:rPr>
              <a:t>)</a:t>
            </a:r>
          </a:p>
          <a:p>
            <a:r>
              <a:rPr lang="en-US" sz="2400" b="1" dirty="0">
                <a:solidFill>
                  <a:srgbClr val="7F0055"/>
                </a:solidFill>
                <a:latin typeface="Consolas" panose="020B0609020204030204" pitchFamily="49" charset="0"/>
              </a:rPr>
              <a:t>fun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updateUser</a:t>
            </a:r>
            <a:r>
              <a:rPr lang="en-US" sz="2400" b="1" dirty="0">
                <a:solidFill>
                  <a:srgbClr val="000000"/>
                </a:solidFill>
                <a:latin typeface="Consolas" panose="020B0609020204030204" pitchFamily="49" charset="0"/>
              </a:rPr>
              <a:t>(</a:t>
            </a:r>
            <a:r>
              <a:rPr lang="en-US" sz="2400" b="1" dirty="0">
                <a:solidFill>
                  <a:srgbClr val="646464"/>
                </a:solidFill>
                <a:latin typeface="Consolas" panose="020B0609020204030204" pitchFamily="49" charset="0"/>
              </a:rPr>
              <a:t>@</a:t>
            </a:r>
            <a:r>
              <a:rPr lang="en-US" sz="2400" b="1" dirty="0" err="1">
                <a:solidFill>
                  <a:srgbClr val="646464"/>
                </a:solidFill>
                <a:latin typeface="Consolas" panose="020B0609020204030204" pitchFamily="49" charset="0"/>
              </a:rPr>
              <a:t>RequestParam</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userId</a:t>
            </a:r>
            <a:r>
              <a:rPr lang="en-US" sz="2400" b="1" dirty="0">
                <a:solidFill>
                  <a:srgbClr val="000000"/>
                </a:solidFill>
                <a:latin typeface="Consolas" panose="020B0609020204030204" pitchFamily="49" charset="0"/>
              </a:rPr>
              <a:t>: String, </a:t>
            </a:r>
            <a:r>
              <a:rPr lang="en-US" sz="2400" b="1" dirty="0">
                <a:solidFill>
                  <a:srgbClr val="646464"/>
                </a:solidFill>
                <a:latin typeface="Consolas" panose="020B0609020204030204" pitchFamily="49" charset="0"/>
              </a:rPr>
              <a:t>@</a:t>
            </a:r>
            <a:r>
              <a:rPr lang="en-US" sz="2400" b="1" dirty="0" err="1">
                <a:solidFill>
                  <a:srgbClr val="646464"/>
                </a:solidFill>
                <a:latin typeface="Consolas" panose="020B0609020204030204" pitchFamily="49" charset="0"/>
              </a:rPr>
              <a:t>RequestBody</a:t>
            </a:r>
            <a:r>
              <a:rPr lang="en-US" sz="2400" b="1" dirty="0">
                <a:solidFill>
                  <a:srgbClr val="000000"/>
                </a:solidFill>
                <a:latin typeface="Consolas" panose="020B0609020204030204" pitchFamily="49" charset="0"/>
              </a:rPr>
              <a:t> user: Users):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 {</a:t>
            </a:r>
          </a:p>
          <a:p>
            <a:r>
              <a:rPr lang="nb-NO" sz="2400" b="1" dirty="0">
                <a:solidFill>
                  <a:srgbClr val="7F0055"/>
                </a:solidFill>
                <a:latin typeface="Consolas" panose="020B0609020204030204" pitchFamily="49" charset="0"/>
              </a:rPr>
              <a:t>var</a:t>
            </a:r>
            <a:r>
              <a:rPr lang="nb-NO" sz="2400" b="1" dirty="0">
                <a:solidFill>
                  <a:srgbClr val="000000"/>
                </a:solidFill>
                <a:latin typeface="Consolas" panose="020B0609020204030204" pitchFamily="49" charset="0"/>
              </a:rPr>
              <a:t> </a:t>
            </a:r>
            <a:r>
              <a:rPr lang="nb-NO" sz="2400" b="1" dirty="0">
                <a:solidFill>
                  <a:srgbClr val="6A3E3E"/>
                </a:solidFill>
                <a:latin typeface="Consolas" panose="020B0609020204030204" pitchFamily="49" charset="0"/>
              </a:rPr>
              <a:t>userUpdate</a:t>
            </a:r>
            <a:r>
              <a:rPr lang="nb-NO" sz="2400" b="1" dirty="0">
                <a:solidFill>
                  <a:srgbClr val="000000"/>
                </a:solidFill>
                <a:latin typeface="Consolas" panose="020B0609020204030204" pitchFamily="49" charset="0"/>
              </a:rPr>
              <a:t>: Users = </a:t>
            </a:r>
            <a:r>
              <a:rPr lang="nb-NO" sz="2400" b="1" dirty="0">
                <a:solidFill>
                  <a:srgbClr val="0000C0"/>
                </a:solidFill>
                <a:latin typeface="Consolas" panose="020B0609020204030204" pitchFamily="49" charset="0"/>
              </a:rPr>
              <a:t>service</a:t>
            </a:r>
            <a:r>
              <a:rPr lang="nb-NO" sz="2400" b="1" dirty="0">
                <a:solidFill>
                  <a:srgbClr val="000000"/>
                </a:solidFill>
                <a:latin typeface="Consolas" panose="020B0609020204030204" pitchFamily="49" charset="0"/>
              </a:rPr>
              <a:t>.updateUser(userId, user)</a:t>
            </a:r>
          </a:p>
          <a:p>
            <a:r>
              <a:rPr lang="en-US" sz="2400" b="1" dirty="0">
                <a:solidFill>
                  <a:srgbClr val="7F0055"/>
                </a:solidFill>
                <a:latin typeface="Consolas" panose="020B0609020204030204" pitchFamily="49" charset="0"/>
              </a:rPr>
              <a:t>return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a:t>
            </a:r>
            <a:r>
              <a:rPr lang="en-US" sz="2400" b="1" dirty="0">
                <a:solidFill>
                  <a:srgbClr val="2A00FF"/>
                </a:solidFill>
                <a:latin typeface="Consolas" panose="020B0609020204030204" pitchFamily="49" charset="0"/>
              </a:rPr>
              <a:t>"Update </a:t>
            </a:r>
            <a:r>
              <a:rPr lang="en-US" sz="2400" b="1" dirty="0" err="1">
                <a:solidFill>
                  <a:srgbClr val="2A00FF"/>
                </a:solidFill>
                <a:latin typeface="Consolas" panose="020B0609020204030204" pitchFamily="49" charset="0"/>
              </a:rPr>
              <a:t>succes</a:t>
            </a:r>
            <a:r>
              <a:rPr lang="en-US" sz="2400" b="1" dirty="0">
                <a:solidFill>
                  <a:srgbClr val="2A00FF"/>
                </a:solidFill>
                <a:latin typeface="Consolas" panose="020B0609020204030204" pitchFamily="49" charset="0"/>
              </a:rPr>
              <a: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ResponseEntity.ok</a:t>
            </a:r>
            <a:r>
              <a:rPr lang="en-US" sz="2400" b="1" dirty="0">
                <a:solidFill>
                  <a:srgbClr val="000000"/>
                </a:solidFill>
                <a:latin typeface="Consolas" panose="020B0609020204030204" pitchFamily="49" charset="0"/>
              </a:rPr>
              <a:t>().body(</a:t>
            </a:r>
            <a:r>
              <a:rPr lang="en-US" sz="2400" b="1" dirty="0" err="1">
                <a:solidFill>
                  <a:srgbClr val="6A3E3E"/>
                </a:solidFill>
                <a:latin typeface="Consolas" panose="020B0609020204030204" pitchFamily="49" charset="0"/>
              </a:rPr>
              <a:t>userUpdate</a:t>
            </a:r>
            <a:r>
              <a:rPr lang="en-US" sz="2400" b="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endParaRPr lang="en-US" altLang="zh-CN" sz="2400" spc="125" dirty="0">
              <a:solidFill>
                <a:srgbClr val="000000"/>
              </a:solidFill>
              <a:latin typeface="Times New Roman"/>
              <a:ea typeface="Times New Roman"/>
            </a:endParaRPr>
          </a:p>
        </p:txBody>
      </p:sp>
      <p:grpSp>
        <p:nvGrpSpPr>
          <p:cNvPr id="10" name="グループ化 9"/>
          <p:cNvGrpSpPr/>
          <p:nvPr/>
        </p:nvGrpSpPr>
        <p:grpSpPr>
          <a:xfrm>
            <a:off x="9811366" y="420730"/>
            <a:ext cx="7721891" cy="9657405"/>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174514" y="5417001"/>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 name="TextBox 16"/>
          <p:cNvSpPr txBox="1"/>
          <p:nvPr/>
        </p:nvSpPr>
        <p:spPr>
          <a:xfrm>
            <a:off x="581313" y="1563837"/>
            <a:ext cx="3381087" cy="614912"/>
          </a:xfrm>
          <a:prstGeom prst="rect">
            <a:avLst/>
          </a:prstGeom>
          <a:noFill/>
        </p:spPr>
        <p:txBody>
          <a:bodyPr wrap="square" lIns="0" tIns="0" rIns="0" bIns="0" rtlCol="0">
            <a:spAutoFit/>
          </a:bodyPr>
          <a:lstStyle/>
          <a:p>
            <a:pPr>
              <a:lnSpc>
                <a:spcPct val="111249"/>
              </a:lnSpc>
            </a:pPr>
            <a:r>
              <a:rPr lang="en-US" altLang="zh-CN" sz="3600" spc="350" dirty="0" err="1">
                <a:solidFill>
                  <a:srgbClr val="FEFEFE"/>
                </a:solidFill>
                <a:latin typeface="Times New Roman"/>
                <a:ea typeface="Times New Roman"/>
              </a:rPr>
              <a:t>UserController</a:t>
            </a:r>
            <a:endParaRPr lang="en-US" altLang="zh-CN" sz="3600" spc="350" dirty="0">
              <a:solidFill>
                <a:srgbClr val="FEFEFE"/>
              </a:solidFill>
              <a:latin typeface="Times New Roman"/>
              <a:ea typeface="Times New Roman"/>
            </a:endParaRPr>
          </a:p>
        </p:txBody>
      </p:sp>
    </p:spTree>
    <p:extLst>
      <p:ext uri="{BB962C8B-B14F-4D97-AF65-F5344CB8AC3E}">
        <p14:creationId xmlns:p14="http://schemas.microsoft.com/office/powerpoint/2010/main" val="253424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4" name="TextBox 20"/>
          <p:cNvSpPr txBox="1"/>
          <p:nvPr/>
        </p:nvSpPr>
        <p:spPr>
          <a:xfrm>
            <a:off x="6486868" y="3493063"/>
            <a:ext cx="2076561" cy="295466"/>
          </a:xfrm>
          <a:prstGeom prst="rect">
            <a:avLst/>
          </a:prstGeom>
          <a:noFill/>
        </p:spPr>
        <p:txBody>
          <a:bodyPr wrap="square" lIns="0" tIns="0" rIns="0" bIns="0" rtlCol="0">
            <a:spAutoFit/>
          </a:bodyPr>
          <a:lstStyle/>
          <a:p>
            <a:pPr marL="0">
              <a:lnSpc>
                <a:spcPct val="119583"/>
              </a:lnSpc>
            </a:pPr>
            <a:r>
              <a:rPr lang="en-US" altLang="zh-CN" sz="1600" spc="455" dirty="0" err="1" smtClean="0">
                <a:solidFill>
                  <a:srgbClr val="FEFEFE"/>
                </a:solidFill>
                <a:latin typeface="Times New Roman"/>
                <a:ea typeface="Times New Roman"/>
              </a:rPr>
              <a:t>UserController</a:t>
            </a:r>
            <a:endParaRPr lang="en-US" altLang="zh-CN" sz="1600" spc="400" dirty="0">
              <a:solidFill>
                <a:srgbClr val="FEFEFE"/>
              </a:solidFill>
              <a:latin typeface="Times New Roman"/>
              <a:ea typeface="Times New Roman"/>
            </a:endParaRPr>
          </a:p>
        </p:txBody>
      </p:sp>
      <p:sp>
        <p:nvSpPr>
          <p:cNvPr id="25" name="TextBox 21"/>
          <p:cNvSpPr txBox="1"/>
          <p:nvPr/>
        </p:nvSpPr>
        <p:spPr>
          <a:xfrm>
            <a:off x="768616" y="4587413"/>
            <a:ext cx="8365854" cy="3693319"/>
          </a:xfrm>
          <a:prstGeom prst="rect">
            <a:avLst/>
          </a:prstGeom>
          <a:noFill/>
        </p:spPr>
        <p:txBody>
          <a:bodyPr wrap="square" lIns="0" tIns="0" rIns="0" bIns="0" rtlCol="0">
            <a:spAutoFit/>
          </a:bodyPr>
          <a:lstStyle/>
          <a:p>
            <a:r>
              <a:rPr lang="en-US" sz="2400" dirty="0">
                <a:solidFill>
                  <a:srgbClr val="3F7F5F"/>
                </a:solidFill>
                <a:latin typeface="Consolas" panose="020B0609020204030204" pitchFamily="49" charset="0"/>
              </a:rPr>
              <a:t>/**</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 </a:t>
            </a:r>
            <a:r>
              <a:rPr lang="en-US" sz="2400" dirty="0" smtClean="0">
                <a:solidFill>
                  <a:srgbClr val="3F7F5F"/>
                </a:solidFill>
                <a:latin typeface="Consolas" panose="020B0609020204030204" pitchFamily="49" charset="0"/>
              </a:rPr>
              <a:t>Delete </a:t>
            </a:r>
            <a:r>
              <a:rPr lang="en-US" sz="2400" dirty="0">
                <a:solidFill>
                  <a:srgbClr val="3F7F5F"/>
                </a:solidFill>
                <a:latin typeface="Consolas" panose="020B0609020204030204" pitchFamily="49" charset="0"/>
              </a:rPr>
              <a:t>user</a:t>
            </a:r>
          </a:p>
          <a:p>
            <a:r>
              <a:rPr lang="en-US" sz="2400" dirty="0">
                <a:solidFill>
                  <a:srgbClr val="000000"/>
                </a:solidFill>
                <a:latin typeface="Consolas" panose="020B0609020204030204" pitchFamily="49" charset="0"/>
              </a:rPr>
              <a:t> </a:t>
            </a:r>
            <a:r>
              <a:rPr lang="en-US" sz="2400" dirty="0">
                <a:solidFill>
                  <a:srgbClr val="3F7F5F"/>
                </a:solidFill>
                <a:latin typeface="Consolas" panose="020B0609020204030204" pitchFamily="49" charset="0"/>
              </a:rPr>
              <a:t>*/</a:t>
            </a:r>
          </a:p>
          <a:p>
            <a:r>
              <a:rPr lang="en-US" sz="2400" dirty="0">
                <a:solidFill>
                  <a:srgbClr val="646464"/>
                </a:solidFill>
                <a:latin typeface="Consolas" panose="020B0609020204030204" pitchFamily="49" charset="0"/>
              </a:rPr>
              <a:t>@</a:t>
            </a:r>
            <a:r>
              <a:rPr lang="en-US" sz="2400" dirty="0" err="1">
                <a:solidFill>
                  <a:srgbClr val="646464"/>
                </a:solidFill>
                <a:latin typeface="Consolas" panose="020B0609020204030204" pitchFamily="49" charset="0"/>
              </a:rPr>
              <a:t>DeleteMapping</a:t>
            </a:r>
            <a:r>
              <a:rPr lang="en-US" sz="2400" dirty="0">
                <a:solidFill>
                  <a:srgbClr val="000000"/>
                </a:solidFill>
                <a:latin typeface="Consolas" panose="020B0609020204030204" pitchFamily="49" charset="0"/>
              </a:rPr>
              <a:t>(</a:t>
            </a:r>
            <a:r>
              <a:rPr lang="en-US" sz="2400" dirty="0">
                <a:solidFill>
                  <a:srgbClr val="2A00FF"/>
                </a:solidFill>
                <a:latin typeface="Consolas" panose="020B0609020204030204" pitchFamily="49" charset="0"/>
              </a:rPr>
              <a:t>"/delete"</a:t>
            </a:r>
            <a:r>
              <a:rPr lang="en-US" sz="2400" dirty="0">
                <a:solidFill>
                  <a:srgbClr val="000000"/>
                </a:solidFill>
                <a:latin typeface="Consolas" panose="020B0609020204030204" pitchFamily="49" charset="0"/>
              </a:rPr>
              <a:t>)</a:t>
            </a:r>
          </a:p>
          <a:p>
            <a:r>
              <a:rPr lang="en-US" sz="2400" b="1" dirty="0">
                <a:solidFill>
                  <a:srgbClr val="7F0055"/>
                </a:solidFill>
                <a:latin typeface="Consolas" panose="020B0609020204030204" pitchFamily="49" charset="0"/>
              </a:rPr>
              <a:t>fun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deleteUser</a:t>
            </a:r>
            <a:r>
              <a:rPr lang="en-US" sz="2400" b="1" dirty="0">
                <a:solidFill>
                  <a:srgbClr val="000000"/>
                </a:solidFill>
                <a:latin typeface="Consolas" panose="020B0609020204030204" pitchFamily="49" charset="0"/>
              </a:rPr>
              <a:t>(</a:t>
            </a:r>
            <a:r>
              <a:rPr lang="en-US" sz="2400" b="1" dirty="0">
                <a:solidFill>
                  <a:srgbClr val="646464"/>
                </a:solidFill>
                <a:latin typeface="Consolas" panose="020B0609020204030204" pitchFamily="49" charset="0"/>
              </a:rPr>
              <a:t>@</a:t>
            </a:r>
            <a:r>
              <a:rPr lang="en-US" sz="2400" b="1" dirty="0" err="1">
                <a:solidFill>
                  <a:srgbClr val="646464"/>
                </a:solidFill>
                <a:latin typeface="Consolas" panose="020B0609020204030204" pitchFamily="49" charset="0"/>
              </a:rPr>
              <a:t>RequestBody</a:t>
            </a:r>
            <a:r>
              <a:rPr lang="en-US" sz="2400" b="1" dirty="0">
                <a:solidFill>
                  <a:srgbClr val="000000"/>
                </a:solidFill>
                <a:latin typeface="Consolas" panose="020B0609020204030204" pitchFamily="49" charset="0"/>
              </a:rPr>
              <a:t> user: Users):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 {</a:t>
            </a:r>
          </a:p>
          <a:p>
            <a:r>
              <a:rPr lang="en-US" sz="2400" dirty="0" err="1">
                <a:solidFill>
                  <a:srgbClr val="0000C0"/>
                </a:solidFill>
                <a:latin typeface="Consolas" panose="020B0609020204030204" pitchFamily="49" charset="0"/>
              </a:rPr>
              <a:t>service</a:t>
            </a:r>
            <a:r>
              <a:rPr lang="en-US" sz="2400" dirty="0" err="1">
                <a:solidFill>
                  <a:srgbClr val="000000"/>
                </a:solidFill>
                <a:latin typeface="Consolas" panose="020B0609020204030204" pitchFamily="49" charset="0"/>
              </a:rPr>
              <a:t>.deleteUser</a:t>
            </a:r>
            <a:r>
              <a:rPr lang="en-US" sz="2400" dirty="0">
                <a:solidFill>
                  <a:srgbClr val="000000"/>
                </a:solidFill>
                <a:latin typeface="Consolas" panose="020B0609020204030204" pitchFamily="49" charset="0"/>
              </a:rPr>
              <a:t>(user)</a:t>
            </a:r>
          </a:p>
          <a:p>
            <a:r>
              <a:rPr lang="en-US" sz="2400" b="1" dirty="0">
                <a:solidFill>
                  <a:srgbClr val="7F0055"/>
                </a:solidFill>
                <a:latin typeface="Consolas" panose="020B0609020204030204" pitchFamily="49" charset="0"/>
              </a:rPr>
              <a:t>return</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EntityResponse</a:t>
            </a:r>
            <a:r>
              <a:rPr lang="en-US" sz="2400" b="1" dirty="0">
                <a:solidFill>
                  <a:srgbClr val="000000"/>
                </a:solidFill>
                <a:latin typeface="Consolas" panose="020B0609020204030204" pitchFamily="49" charset="0"/>
              </a:rPr>
              <a:t>(</a:t>
            </a:r>
            <a:r>
              <a:rPr lang="en-US" sz="2400" b="1" dirty="0">
                <a:solidFill>
                  <a:srgbClr val="2A00FF"/>
                </a:solidFill>
                <a:latin typeface="Consolas" panose="020B0609020204030204" pitchFamily="49" charset="0"/>
              </a:rPr>
              <a:t>"Delete </a:t>
            </a:r>
            <a:r>
              <a:rPr lang="en-US" sz="2400" b="1" dirty="0" err="1">
                <a:solidFill>
                  <a:srgbClr val="2A00FF"/>
                </a:solidFill>
                <a:latin typeface="Consolas" panose="020B0609020204030204" pitchFamily="49" charset="0"/>
              </a:rPr>
              <a:t>Succes</a:t>
            </a:r>
            <a:r>
              <a:rPr lang="en-US" sz="2400" b="1" dirty="0">
                <a:solidFill>
                  <a:srgbClr val="2A00FF"/>
                </a:solidFill>
                <a:latin typeface="Consolas" panose="020B0609020204030204" pitchFamily="49" charset="0"/>
              </a:rPr>
              <a: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ResponseEntity</a:t>
            </a:r>
            <a:r>
              <a:rPr lang="en-US" sz="2400" b="1" dirty="0">
                <a:solidFill>
                  <a:srgbClr val="000000"/>
                </a:solidFill>
                <a:latin typeface="Consolas" panose="020B0609020204030204" pitchFamily="49" charset="0"/>
              </a:rPr>
              <a:t>(</a:t>
            </a:r>
            <a:r>
              <a:rPr lang="en-US" sz="2400" b="1" dirty="0">
                <a:solidFill>
                  <a:srgbClr val="7F0055"/>
                </a:solidFill>
                <a:latin typeface="Consolas" panose="020B0609020204030204" pitchFamily="49" charset="0"/>
              </a:rPr>
              <a:t>null</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HttpStatus.</a:t>
            </a:r>
            <a:r>
              <a:rPr lang="en-US" sz="2400" b="1" i="1" dirty="0" err="1">
                <a:solidFill>
                  <a:srgbClr val="0000C0"/>
                </a:solidFill>
                <a:latin typeface="Consolas" panose="020B0609020204030204" pitchFamily="49" charset="0"/>
              </a:rPr>
              <a:t>OK</a:t>
            </a:r>
            <a:r>
              <a:rPr lang="en-US" sz="2400" b="1" i="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endParaRPr lang="en-US" altLang="zh-CN" sz="2400" spc="125" dirty="0">
              <a:solidFill>
                <a:srgbClr val="000000"/>
              </a:solidFill>
              <a:latin typeface="Times New Roman"/>
              <a:ea typeface="Times New Roman"/>
            </a:endParaRPr>
          </a:p>
        </p:txBody>
      </p:sp>
      <p:grpSp>
        <p:nvGrpSpPr>
          <p:cNvPr id="10" name="グループ化 9"/>
          <p:cNvGrpSpPr/>
          <p:nvPr/>
        </p:nvGrpSpPr>
        <p:grpSpPr>
          <a:xfrm>
            <a:off x="9811366" y="420730"/>
            <a:ext cx="7721891" cy="9657405"/>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6774465"/>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 name="TextBox 16"/>
          <p:cNvSpPr txBox="1"/>
          <p:nvPr/>
        </p:nvSpPr>
        <p:spPr>
          <a:xfrm>
            <a:off x="581313" y="1563837"/>
            <a:ext cx="3381087" cy="614912"/>
          </a:xfrm>
          <a:prstGeom prst="rect">
            <a:avLst/>
          </a:prstGeom>
          <a:noFill/>
        </p:spPr>
        <p:txBody>
          <a:bodyPr wrap="square" lIns="0" tIns="0" rIns="0" bIns="0" rtlCol="0">
            <a:spAutoFit/>
          </a:bodyPr>
          <a:lstStyle/>
          <a:p>
            <a:pPr>
              <a:lnSpc>
                <a:spcPct val="111249"/>
              </a:lnSpc>
            </a:pPr>
            <a:r>
              <a:rPr lang="en-US" altLang="zh-CN" sz="3600" spc="350" dirty="0" err="1">
                <a:solidFill>
                  <a:srgbClr val="FEFEFE"/>
                </a:solidFill>
                <a:latin typeface="Times New Roman"/>
                <a:ea typeface="Times New Roman"/>
              </a:rPr>
              <a:t>UserController</a:t>
            </a:r>
            <a:endParaRPr lang="en-US" altLang="zh-CN" sz="3600" spc="350" dirty="0">
              <a:solidFill>
                <a:srgbClr val="FEFEFE"/>
              </a:solidFill>
              <a:latin typeface="Times New Roman"/>
              <a:ea typeface="Times New Roman"/>
            </a:endParaRPr>
          </a:p>
        </p:txBody>
      </p:sp>
    </p:spTree>
    <p:extLst>
      <p:ext uri="{BB962C8B-B14F-4D97-AF65-F5344CB8AC3E}">
        <p14:creationId xmlns:p14="http://schemas.microsoft.com/office/powerpoint/2010/main" val="3414275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65599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smtClean="0">
                <a:latin typeface="Times New Roman" panose="02020603050405020304" pitchFamily="18" charset="0"/>
                <a:cs typeface="Times New Roman" panose="02020603050405020304" pitchFamily="18" charset="0"/>
              </a:rPr>
              <a:t>Get All User</a:t>
            </a:r>
            <a:endParaRPr lang="en-US" sz="4000" b="1" dirty="0">
              <a:latin typeface="Times New Roman" panose="02020603050405020304" pitchFamily="18" charset="0"/>
              <a:cs typeface="Times New Roman" panose="02020603050405020304" pitchFamily="18" charset="0"/>
            </a:endParaRPr>
          </a:p>
        </p:txBody>
      </p:sp>
      <p:grpSp>
        <p:nvGrpSpPr>
          <p:cNvPr id="8" name="グループ化 7"/>
          <p:cNvGrpSpPr/>
          <p:nvPr/>
        </p:nvGrpSpPr>
        <p:grpSpPr>
          <a:xfrm>
            <a:off x="2034862" y="1978881"/>
            <a:ext cx="13445544" cy="7283003"/>
            <a:chOff x="2034862" y="1978881"/>
            <a:chExt cx="13445544" cy="7283003"/>
          </a:xfrm>
        </p:grpSpPr>
        <p:pic>
          <p:nvPicPr>
            <p:cNvPr id="6" name="図 5"/>
            <p:cNvPicPr>
              <a:picLocks noChangeAspect="1"/>
            </p:cNvPicPr>
            <p:nvPr/>
          </p:nvPicPr>
          <p:blipFill>
            <a:blip r:embed="rId3"/>
            <a:stretch>
              <a:fillRect/>
            </a:stretch>
          </p:blipFill>
          <p:spPr>
            <a:xfrm>
              <a:off x="2034862" y="1978881"/>
              <a:ext cx="13445544" cy="7283003"/>
            </a:xfrm>
            <a:prstGeom prst="rect">
              <a:avLst/>
            </a:prstGeom>
          </p:spPr>
        </p:pic>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7431110"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正方形/長方形 13"/>
            <p:cNvSpPr/>
            <p:nvPr/>
          </p:nvSpPr>
          <p:spPr>
            <a:xfrm>
              <a:off x="7841731" y="4196323"/>
              <a:ext cx="7342461" cy="4896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a:t>
              </a:r>
              <a:r>
                <a:rPr lang="en-US" dirty="0"/>
                <a:t>://localhost:8080/api/v1</a:t>
              </a:r>
            </a:p>
          </p:txBody>
        </p:sp>
      </p:grpSp>
    </p:spTree>
    <p:extLst>
      <p:ext uri="{BB962C8B-B14F-4D97-AF65-F5344CB8AC3E}">
        <p14:creationId xmlns:p14="http://schemas.microsoft.com/office/powerpoint/2010/main" val="25381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Freeform 23"/>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Freeform 24"/>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9" name="Picture 5"/>
          <p:cNvPicPr>
            <a:picLocks noChangeAspect="1"/>
          </p:cNvPicPr>
          <p:nvPr/>
        </p:nvPicPr>
        <p:blipFill>
          <a:blip r:embed="rId2"/>
          <a:stretch>
            <a:fillRect/>
          </a:stretch>
        </p:blipFill>
        <p:spPr>
          <a:xfrm>
            <a:off x="2758258" y="2067652"/>
            <a:ext cx="13350240" cy="5775960"/>
          </a:xfrm>
          <a:prstGeom prst="rect">
            <a:avLst/>
          </a:prstGeom>
        </p:spPr>
      </p:pic>
      <p:sp>
        <p:nvSpPr>
          <p:cNvPr id="2" name="TextBox 26"/>
          <p:cNvSpPr txBox="1"/>
          <p:nvPr/>
        </p:nvSpPr>
        <p:spPr>
          <a:xfrm>
            <a:off x="3982130" y="4447801"/>
            <a:ext cx="11845472" cy="2031325"/>
          </a:xfrm>
          <a:prstGeom prst="rect">
            <a:avLst/>
          </a:prstGeom>
          <a:noFill/>
        </p:spPr>
        <p:txBody>
          <a:bodyPr wrap="square" lIns="0" tIns="0" rIns="0" bIns="0" rtlCol="0">
            <a:spAutoFit/>
          </a:bodyPr>
          <a:lstStyle/>
          <a:p>
            <a:r>
              <a:rPr lang="en-US" altLang="zh-CN" sz="6600" spc="139" dirty="0">
                <a:solidFill>
                  <a:srgbClr val="000000"/>
                </a:solidFill>
                <a:latin typeface="Times New Roman"/>
                <a:ea typeface="Times New Roman"/>
              </a:rPr>
              <a:t>Thao </a:t>
            </a:r>
            <a:r>
              <a:rPr lang="en-US" altLang="zh-CN" sz="6600" spc="139" dirty="0" err="1">
                <a:solidFill>
                  <a:srgbClr val="000000"/>
                </a:solidFill>
                <a:latin typeface="Times New Roman"/>
                <a:ea typeface="Times New Roman"/>
              </a:rPr>
              <a:t>tác</a:t>
            </a:r>
            <a:r>
              <a:rPr lang="en-US" altLang="zh-CN" sz="6600" spc="139" dirty="0">
                <a:solidFill>
                  <a:srgbClr val="000000"/>
                </a:solidFill>
                <a:latin typeface="Times New Roman"/>
                <a:ea typeface="Times New Roman"/>
              </a:rPr>
              <a:t> </a:t>
            </a:r>
            <a:r>
              <a:rPr lang="en-US" altLang="zh-CN" sz="6600" spc="139" dirty="0" err="1">
                <a:solidFill>
                  <a:srgbClr val="000000"/>
                </a:solidFill>
                <a:latin typeface="Times New Roman"/>
                <a:ea typeface="Times New Roman"/>
              </a:rPr>
              <a:t>với</a:t>
            </a:r>
            <a:r>
              <a:rPr lang="en-US" altLang="zh-CN" sz="6600" spc="139" dirty="0">
                <a:solidFill>
                  <a:srgbClr val="000000"/>
                </a:solidFill>
                <a:latin typeface="Times New Roman"/>
                <a:ea typeface="Times New Roman"/>
              </a:rPr>
              <a:t> table </a:t>
            </a:r>
            <a:r>
              <a:rPr lang="en-US" altLang="zh-CN" sz="6600" spc="139" dirty="0" err="1">
                <a:solidFill>
                  <a:srgbClr val="000000"/>
                </a:solidFill>
                <a:latin typeface="Times New Roman"/>
                <a:ea typeface="Times New Roman"/>
              </a:rPr>
              <a:t>có</a:t>
            </a:r>
            <a:r>
              <a:rPr lang="en-US" altLang="zh-CN" sz="6600" spc="139" dirty="0">
                <a:solidFill>
                  <a:srgbClr val="000000"/>
                </a:solidFill>
                <a:latin typeface="Times New Roman"/>
                <a:ea typeface="Times New Roman"/>
              </a:rPr>
              <a:t> Composite Primary Key </a:t>
            </a:r>
            <a:endParaRPr lang="en-US" dirty="0" smtClean="0"/>
          </a:p>
        </p:txBody>
      </p:sp>
    </p:spTree>
    <p:extLst>
      <p:ext uri="{BB962C8B-B14F-4D97-AF65-F5344CB8AC3E}">
        <p14:creationId xmlns:p14="http://schemas.microsoft.com/office/powerpoint/2010/main" val="198470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11169609"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4000" b="1" dirty="0">
                <a:latin typeface="Times New Roman" panose="02020603050405020304" pitchFamily="18" charset="0"/>
                <a:cs typeface="Times New Roman" panose="02020603050405020304" pitchFamily="18" charset="0"/>
              </a:rPr>
              <a:t>Composite Primary </a:t>
            </a:r>
            <a:r>
              <a:rPr lang="nn-NO" sz="4000" b="1" dirty="0" smtClean="0">
                <a:latin typeface="Times New Roman" panose="02020603050405020304" pitchFamily="18" charset="0"/>
                <a:cs typeface="Times New Roman" panose="02020603050405020304" pitchFamily="18" charset="0"/>
              </a:rPr>
              <a:t>Keys trong Spring Data JPA</a:t>
            </a:r>
            <a:endParaRPr lang="nn-NO" sz="4000" b="1" dirty="0">
              <a:latin typeface="Times New Roman" panose="02020603050405020304" pitchFamily="18" charset="0"/>
              <a:cs typeface="Times New Roman" panose="02020603050405020304" pitchFamily="18" charset="0"/>
            </a:endParaRPr>
          </a:p>
        </p:txBody>
      </p:sp>
      <p:sp>
        <p:nvSpPr>
          <p:cNvPr id="8" name="正方形/長方形 7"/>
          <p:cNvSpPr/>
          <p:nvPr/>
        </p:nvSpPr>
        <p:spPr>
          <a:xfrm>
            <a:off x="1443037" y="1207548"/>
            <a:ext cx="14844713" cy="507831"/>
          </a:xfrm>
          <a:prstGeom prst="rect">
            <a:avLst/>
          </a:prstGeom>
        </p:spPr>
        <p:txBody>
          <a:bodyPr wrap="square">
            <a:spAutoFit/>
          </a:bodyPr>
          <a:lstStyle/>
          <a:p>
            <a:pPr algn="just"/>
            <a:r>
              <a:rPr lang="vi-VN" sz="2700" dirty="0">
                <a:solidFill>
                  <a:srgbClr val="333333"/>
                </a:solidFill>
              </a:rPr>
              <a:t>Trong JPA, </a:t>
            </a:r>
            <a:r>
              <a:rPr lang="en-US" sz="2700" dirty="0" err="1" smtClean="0">
                <a:solidFill>
                  <a:srgbClr val="333333"/>
                </a:solidFill>
              </a:rPr>
              <a:t>chúng</a:t>
            </a:r>
            <a:r>
              <a:rPr lang="en-US" sz="2700" dirty="0" smtClean="0">
                <a:solidFill>
                  <a:srgbClr val="333333"/>
                </a:solidFill>
              </a:rPr>
              <a:t> ta </a:t>
            </a:r>
            <a:r>
              <a:rPr lang="en-US" sz="2700" dirty="0" err="1" smtClean="0">
                <a:solidFill>
                  <a:srgbClr val="333333"/>
                </a:solidFill>
              </a:rPr>
              <a:t>các</a:t>
            </a:r>
            <a:r>
              <a:rPr lang="en-US" sz="2700" dirty="0" smtClean="0">
                <a:solidFill>
                  <a:srgbClr val="333333"/>
                </a:solidFill>
              </a:rPr>
              <a:t> </a:t>
            </a:r>
            <a:r>
              <a:rPr lang="en-US" sz="2700" dirty="0" err="1" smtClean="0">
                <a:solidFill>
                  <a:srgbClr val="333333"/>
                </a:solidFill>
              </a:rPr>
              <a:t>hai</a:t>
            </a:r>
            <a:r>
              <a:rPr lang="en-US" sz="2700" dirty="0" smtClean="0">
                <a:solidFill>
                  <a:srgbClr val="333333"/>
                </a:solidFill>
              </a:rPr>
              <a:t> </a:t>
            </a:r>
            <a:r>
              <a:rPr lang="en-US" sz="2700" dirty="0" err="1" smtClean="0">
                <a:solidFill>
                  <a:srgbClr val="333333"/>
                </a:solidFill>
              </a:rPr>
              <a:t>cách</a:t>
            </a:r>
            <a:r>
              <a:rPr lang="en-US" sz="2700" dirty="0" smtClean="0">
                <a:solidFill>
                  <a:srgbClr val="333333"/>
                </a:solidFill>
              </a:rPr>
              <a:t> </a:t>
            </a:r>
            <a:r>
              <a:rPr lang="en-US" sz="2700" dirty="0" err="1" smtClean="0">
                <a:solidFill>
                  <a:srgbClr val="333333"/>
                </a:solidFill>
              </a:rPr>
              <a:t>để</a:t>
            </a:r>
            <a:r>
              <a:rPr lang="en-US" sz="2700" dirty="0" smtClean="0">
                <a:solidFill>
                  <a:srgbClr val="333333"/>
                </a:solidFill>
              </a:rPr>
              <a:t> </a:t>
            </a:r>
            <a:r>
              <a:rPr lang="en-US" sz="2700" dirty="0" err="1" smtClean="0">
                <a:solidFill>
                  <a:srgbClr val="333333"/>
                </a:solidFill>
              </a:rPr>
              <a:t>xác</a:t>
            </a:r>
            <a:r>
              <a:rPr lang="en-US" sz="2700" dirty="0" smtClean="0">
                <a:solidFill>
                  <a:srgbClr val="333333"/>
                </a:solidFill>
              </a:rPr>
              <a:t> </a:t>
            </a:r>
            <a:r>
              <a:rPr lang="en-US" sz="2700" dirty="0" err="1" smtClean="0">
                <a:solidFill>
                  <a:srgbClr val="333333"/>
                </a:solidFill>
              </a:rPr>
              <a:t>định</a:t>
            </a:r>
            <a:r>
              <a:rPr lang="en-US" sz="2700" dirty="0" smtClean="0">
                <a:solidFill>
                  <a:srgbClr val="333333"/>
                </a:solidFill>
              </a:rPr>
              <a:t> </a:t>
            </a:r>
            <a:r>
              <a:rPr lang="en-US" sz="2700" dirty="0" err="1" smtClean="0">
                <a:solidFill>
                  <a:srgbClr val="333333"/>
                </a:solidFill>
              </a:rPr>
              <a:t>các</a:t>
            </a:r>
            <a:r>
              <a:rPr lang="en-US" sz="2700" dirty="0">
                <a:solidFill>
                  <a:srgbClr val="333333"/>
                </a:solidFill>
              </a:rPr>
              <a:t> Composite Primary </a:t>
            </a:r>
            <a:r>
              <a:rPr lang="en-US" sz="2700" dirty="0" smtClean="0">
                <a:solidFill>
                  <a:srgbClr val="333333"/>
                </a:solidFill>
              </a:rPr>
              <a:t>Keys </a:t>
            </a:r>
            <a:r>
              <a:rPr lang="en-US" sz="2700" dirty="0" err="1" smtClean="0">
                <a:solidFill>
                  <a:srgbClr val="333333"/>
                </a:solidFill>
              </a:rPr>
              <a:t>là</a:t>
            </a:r>
            <a:r>
              <a:rPr lang="en-US" sz="2700" dirty="0">
                <a:solidFill>
                  <a:srgbClr val="333333"/>
                </a:solidFill>
              </a:rPr>
              <a:t>: @</a:t>
            </a:r>
            <a:r>
              <a:rPr lang="en-US" sz="2700" dirty="0" err="1">
                <a:solidFill>
                  <a:srgbClr val="333333"/>
                </a:solidFill>
              </a:rPr>
              <a:t>IdClass</a:t>
            </a:r>
            <a:r>
              <a:rPr lang="en-US" sz="2700" dirty="0">
                <a:solidFill>
                  <a:srgbClr val="333333"/>
                </a:solidFill>
              </a:rPr>
              <a:t> </a:t>
            </a:r>
            <a:r>
              <a:rPr lang="en-US" sz="2700" dirty="0" err="1" smtClean="0">
                <a:solidFill>
                  <a:srgbClr val="333333"/>
                </a:solidFill>
              </a:rPr>
              <a:t>và</a:t>
            </a:r>
            <a:r>
              <a:rPr lang="en-US" sz="2700" dirty="0" smtClean="0">
                <a:solidFill>
                  <a:srgbClr val="333333"/>
                </a:solidFill>
              </a:rPr>
              <a:t> @</a:t>
            </a:r>
            <a:r>
              <a:rPr lang="en-US" sz="2700" dirty="0" err="1" smtClean="0">
                <a:solidFill>
                  <a:srgbClr val="333333"/>
                </a:solidFill>
              </a:rPr>
              <a:t>EmbeddedId</a:t>
            </a:r>
            <a:endParaRPr lang="en-US" sz="2700" dirty="0"/>
          </a:p>
        </p:txBody>
      </p:sp>
      <p:sp>
        <p:nvSpPr>
          <p:cNvPr id="2" name="テキスト ボックス 1"/>
          <p:cNvSpPr txBox="1"/>
          <p:nvPr/>
        </p:nvSpPr>
        <p:spPr>
          <a:xfrm>
            <a:off x="1569720" y="2161313"/>
            <a:ext cx="14487525" cy="2600712"/>
          </a:xfrm>
          <a:prstGeom prst="rect">
            <a:avLst/>
          </a:prstGeom>
          <a:noFill/>
        </p:spPr>
        <p:txBody>
          <a:bodyPr wrap="square" rtlCol="0">
            <a:spAutoFit/>
          </a:bodyPr>
          <a:lstStyle/>
          <a:p>
            <a:pPr algn="just"/>
            <a:r>
              <a:rPr lang="en-US" sz="2700" dirty="0" err="1">
                <a:solidFill>
                  <a:srgbClr val="333333"/>
                </a:solidFill>
              </a:rPr>
              <a:t>Để</a:t>
            </a:r>
            <a:r>
              <a:rPr lang="en-US" sz="2700" dirty="0">
                <a:solidFill>
                  <a:srgbClr val="333333"/>
                </a:solidFill>
              </a:rPr>
              <a:t> </a:t>
            </a:r>
            <a:r>
              <a:rPr lang="en-US" sz="2700" dirty="0" err="1">
                <a:solidFill>
                  <a:srgbClr val="333333"/>
                </a:solidFill>
              </a:rPr>
              <a:t>xác</a:t>
            </a:r>
            <a:r>
              <a:rPr lang="en-US" sz="2700" dirty="0">
                <a:solidFill>
                  <a:srgbClr val="333333"/>
                </a:solidFill>
              </a:rPr>
              <a:t> </a:t>
            </a:r>
            <a:r>
              <a:rPr lang="en-US" sz="2700" dirty="0" err="1">
                <a:solidFill>
                  <a:srgbClr val="333333"/>
                </a:solidFill>
              </a:rPr>
              <a:t>định</a:t>
            </a:r>
            <a:r>
              <a:rPr lang="en-US" sz="2700" dirty="0">
                <a:solidFill>
                  <a:srgbClr val="333333"/>
                </a:solidFill>
              </a:rPr>
              <a:t> </a:t>
            </a:r>
            <a:r>
              <a:rPr lang="en-US" sz="2700" dirty="0" err="1">
                <a:solidFill>
                  <a:srgbClr val="333333"/>
                </a:solidFill>
              </a:rPr>
              <a:t>được</a:t>
            </a:r>
            <a:r>
              <a:rPr lang="en-US" sz="2700" dirty="0">
                <a:solidFill>
                  <a:srgbClr val="333333"/>
                </a:solidFill>
              </a:rPr>
              <a:t> Composite Primary </a:t>
            </a:r>
            <a:r>
              <a:rPr lang="en-US" sz="2700" dirty="0" smtClean="0">
                <a:solidFill>
                  <a:srgbClr val="333333"/>
                </a:solidFill>
              </a:rPr>
              <a:t>Keys, </a:t>
            </a:r>
            <a:r>
              <a:rPr lang="en-US" sz="2700" dirty="0" err="1" smtClean="0">
                <a:solidFill>
                  <a:srgbClr val="333333"/>
                </a:solidFill>
              </a:rPr>
              <a:t>chúng</a:t>
            </a:r>
            <a:r>
              <a:rPr lang="en-US" sz="2700" dirty="0" smtClean="0">
                <a:solidFill>
                  <a:srgbClr val="333333"/>
                </a:solidFill>
              </a:rPr>
              <a:t> ta </a:t>
            </a:r>
            <a:r>
              <a:rPr lang="en-US" sz="2700" dirty="0" err="1" smtClean="0">
                <a:solidFill>
                  <a:srgbClr val="333333"/>
                </a:solidFill>
              </a:rPr>
              <a:t>nên</a:t>
            </a:r>
            <a:r>
              <a:rPr lang="en-US" sz="2700" dirty="0" smtClean="0">
                <a:solidFill>
                  <a:srgbClr val="333333"/>
                </a:solidFill>
              </a:rPr>
              <a:t> </a:t>
            </a:r>
            <a:r>
              <a:rPr lang="en-US" sz="2700" dirty="0" err="1" smtClean="0">
                <a:solidFill>
                  <a:srgbClr val="333333"/>
                </a:solidFill>
              </a:rPr>
              <a:t>tuân</a:t>
            </a:r>
            <a:r>
              <a:rPr lang="en-US" sz="2700" dirty="0" smtClean="0">
                <a:solidFill>
                  <a:srgbClr val="333333"/>
                </a:solidFill>
              </a:rPr>
              <a:t> </a:t>
            </a:r>
            <a:r>
              <a:rPr lang="en-US" sz="2700" dirty="0" err="1" smtClean="0">
                <a:solidFill>
                  <a:srgbClr val="333333"/>
                </a:solidFill>
              </a:rPr>
              <a:t>thủ</a:t>
            </a:r>
            <a:r>
              <a:rPr lang="en-US" sz="2700" dirty="0" smtClean="0">
                <a:solidFill>
                  <a:srgbClr val="333333"/>
                </a:solidFill>
              </a:rPr>
              <a:t> </a:t>
            </a:r>
            <a:r>
              <a:rPr lang="en-US" sz="2700" dirty="0" err="1" smtClean="0">
                <a:solidFill>
                  <a:srgbClr val="333333"/>
                </a:solidFill>
              </a:rPr>
              <a:t>một</a:t>
            </a:r>
            <a:r>
              <a:rPr lang="en-US" sz="2700" dirty="0" smtClean="0">
                <a:solidFill>
                  <a:srgbClr val="333333"/>
                </a:solidFill>
              </a:rPr>
              <a:t> </a:t>
            </a:r>
            <a:r>
              <a:rPr lang="en-US" sz="2700" dirty="0" err="1" smtClean="0">
                <a:solidFill>
                  <a:srgbClr val="333333"/>
                </a:solidFill>
              </a:rPr>
              <a:t>số</a:t>
            </a:r>
            <a:r>
              <a:rPr lang="en-US" sz="2700" dirty="0" smtClean="0">
                <a:solidFill>
                  <a:srgbClr val="333333"/>
                </a:solidFill>
              </a:rPr>
              <a:t> </a:t>
            </a:r>
            <a:r>
              <a:rPr lang="en-US" sz="2700" dirty="0" err="1" smtClean="0">
                <a:solidFill>
                  <a:srgbClr val="333333"/>
                </a:solidFill>
              </a:rPr>
              <a:t>quy</a:t>
            </a:r>
            <a:r>
              <a:rPr lang="en-US" sz="2700" dirty="0" smtClean="0">
                <a:solidFill>
                  <a:srgbClr val="333333"/>
                </a:solidFill>
              </a:rPr>
              <a:t> </a:t>
            </a:r>
            <a:r>
              <a:rPr lang="en-US" sz="2700" dirty="0" err="1" smtClean="0">
                <a:solidFill>
                  <a:srgbClr val="333333"/>
                </a:solidFill>
              </a:rPr>
              <a:t>tắc</a:t>
            </a:r>
            <a:r>
              <a:rPr lang="en-US" sz="2700" dirty="0" smtClean="0">
                <a:solidFill>
                  <a:srgbClr val="333333"/>
                </a:solidFill>
              </a:rPr>
              <a:t> </a:t>
            </a:r>
            <a:r>
              <a:rPr lang="en-US" sz="2700" dirty="0" err="1" smtClean="0">
                <a:solidFill>
                  <a:srgbClr val="333333"/>
                </a:solidFill>
              </a:rPr>
              <a:t>sau</a:t>
            </a:r>
            <a:r>
              <a:rPr lang="en-US" sz="2700" dirty="0" smtClean="0">
                <a:solidFill>
                  <a:srgbClr val="333333"/>
                </a:solidFill>
              </a:rPr>
              <a:t>:</a:t>
            </a:r>
          </a:p>
          <a:p>
            <a:pPr marL="914400" lvl="1" indent="-457200" algn="just">
              <a:buFont typeface="Arial" panose="020B0604020202020204" pitchFamily="34" charset="0"/>
              <a:buChar char="•"/>
            </a:pPr>
            <a:r>
              <a:rPr lang="en-US" sz="2700" dirty="0" smtClean="0">
                <a:solidFill>
                  <a:srgbClr val="333333"/>
                </a:solidFill>
              </a:rPr>
              <a:t>Class </a:t>
            </a:r>
            <a:r>
              <a:rPr lang="en-US" sz="2700" dirty="0" err="1" smtClean="0">
                <a:solidFill>
                  <a:srgbClr val="333333"/>
                </a:solidFill>
              </a:rPr>
              <a:t>định</a:t>
            </a:r>
            <a:r>
              <a:rPr lang="en-US" sz="2700" dirty="0" smtClean="0">
                <a:solidFill>
                  <a:srgbClr val="333333"/>
                </a:solidFill>
              </a:rPr>
              <a:t> </a:t>
            </a:r>
            <a:r>
              <a:rPr lang="en-US" sz="2700" dirty="0" err="1" smtClean="0">
                <a:solidFill>
                  <a:srgbClr val="333333"/>
                </a:solidFill>
              </a:rPr>
              <a:t>nghĩa</a:t>
            </a:r>
            <a:r>
              <a:rPr lang="en-US" sz="2700" dirty="0" smtClean="0">
                <a:solidFill>
                  <a:srgbClr val="333333"/>
                </a:solidFill>
              </a:rPr>
              <a:t> </a:t>
            </a:r>
            <a:r>
              <a:rPr lang="en-US" sz="2700" dirty="0">
                <a:solidFill>
                  <a:srgbClr val="333333"/>
                </a:solidFill>
              </a:rPr>
              <a:t>Composite Primary Keys </a:t>
            </a:r>
            <a:r>
              <a:rPr lang="en-US" sz="2700" dirty="0" err="1" smtClean="0">
                <a:solidFill>
                  <a:srgbClr val="333333"/>
                </a:solidFill>
              </a:rPr>
              <a:t>phải</a:t>
            </a:r>
            <a:r>
              <a:rPr lang="en-US" sz="2700" dirty="0" smtClean="0">
                <a:solidFill>
                  <a:srgbClr val="333333"/>
                </a:solidFill>
              </a:rPr>
              <a:t> </a:t>
            </a:r>
            <a:r>
              <a:rPr lang="en-US" sz="2700" dirty="0" err="1">
                <a:solidFill>
                  <a:srgbClr val="333333"/>
                </a:solidFill>
              </a:rPr>
              <a:t>là</a:t>
            </a:r>
            <a:r>
              <a:rPr lang="en-US" sz="2700" dirty="0">
                <a:solidFill>
                  <a:srgbClr val="333333"/>
                </a:solidFill>
              </a:rPr>
              <a:t> </a:t>
            </a:r>
            <a:r>
              <a:rPr lang="en-US" sz="2700" dirty="0" smtClean="0">
                <a:solidFill>
                  <a:srgbClr val="333333"/>
                </a:solidFill>
              </a:rPr>
              <a:t>class public</a:t>
            </a:r>
          </a:p>
          <a:p>
            <a:pPr marL="914400" lvl="1" indent="-457200" algn="just">
              <a:buFont typeface="Arial" panose="020B0604020202020204" pitchFamily="34" charset="0"/>
              <a:buChar char="•"/>
            </a:pPr>
            <a:r>
              <a:rPr lang="en-US" sz="2700" dirty="0" err="1" smtClean="0">
                <a:solidFill>
                  <a:srgbClr val="333333"/>
                </a:solidFill>
              </a:rPr>
              <a:t>Phải</a:t>
            </a:r>
            <a:r>
              <a:rPr lang="en-US" sz="2700" dirty="0" smtClean="0">
                <a:solidFill>
                  <a:srgbClr val="333333"/>
                </a:solidFill>
              </a:rPr>
              <a:t> </a:t>
            </a:r>
            <a:r>
              <a:rPr lang="en-US" sz="2700" dirty="0" err="1" smtClean="0">
                <a:solidFill>
                  <a:srgbClr val="333333"/>
                </a:solidFill>
              </a:rPr>
              <a:t>khởi</a:t>
            </a:r>
            <a:r>
              <a:rPr lang="en-US" sz="2700" dirty="0" smtClean="0">
                <a:solidFill>
                  <a:srgbClr val="333333"/>
                </a:solidFill>
              </a:rPr>
              <a:t> </a:t>
            </a:r>
            <a:r>
              <a:rPr lang="en-US" sz="2700" dirty="0" err="1" smtClean="0">
                <a:solidFill>
                  <a:srgbClr val="333333"/>
                </a:solidFill>
              </a:rPr>
              <a:t>tạo</a:t>
            </a:r>
            <a:r>
              <a:rPr lang="en-US" sz="2700" dirty="0" smtClean="0">
                <a:solidFill>
                  <a:srgbClr val="333333"/>
                </a:solidFill>
              </a:rPr>
              <a:t> </a:t>
            </a:r>
            <a:r>
              <a:rPr lang="en-US" sz="2700" dirty="0" err="1" smtClean="0">
                <a:solidFill>
                  <a:srgbClr val="333333"/>
                </a:solidFill>
              </a:rPr>
              <a:t>một</a:t>
            </a:r>
            <a:r>
              <a:rPr lang="en-US" sz="2700" dirty="0" smtClean="0">
                <a:solidFill>
                  <a:srgbClr val="333333"/>
                </a:solidFill>
              </a:rPr>
              <a:t> default constructor</a:t>
            </a:r>
          </a:p>
          <a:p>
            <a:pPr marL="914400" lvl="1" indent="-457200" algn="just">
              <a:buFont typeface="Arial" panose="020B0604020202020204" pitchFamily="34" charset="0"/>
              <a:buChar char="•"/>
            </a:pPr>
            <a:r>
              <a:rPr lang="en-US" sz="2700" dirty="0" err="1" smtClean="0">
                <a:solidFill>
                  <a:srgbClr val="333333"/>
                </a:solidFill>
              </a:rPr>
              <a:t>Phải</a:t>
            </a:r>
            <a:r>
              <a:rPr lang="en-US" sz="2700" dirty="0" smtClean="0">
                <a:solidFill>
                  <a:srgbClr val="333333"/>
                </a:solidFill>
              </a:rPr>
              <a:t> </a:t>
            </a:r>
            <a:r>
              <a:rPr lang="en-US" sz="2700" dirty="0" err="1" smtClean="0">
                <a:solidFill>
                  <a:srgbClr val="333333"/>
                </a:solidFill>
              </a:rPr>
              <a:t>định</a:t>
            </a:r>
            <a:r>
              <a:rPr lang="en-US" sz="2700" dirty="0" smtClean="0">
                <a:solidFill>
                  <a:srgbClr val="333333"/>
                </a:solidFill>
              </a:rPr>
              <a:t> </a:t>
            </a:r>
            <a:r>
              <a:rPr lang="en-US" sz="2700" dirty="0" err="1" smtClean="0">
                <a:solidFill>
                  <a:srgbClr val="333333"/>
                </a:solidFill>
              </a:rPr>
              <a:t>nghĩa</a:t>
            </a:r>
            <a:r>
              <a:rPr lang="en-US" sz="2700" dirty="0" smtClean="0">
                <a:solidFill>
                  <a:srgbClr val="333333"/>
                </a:solidFill>
              </a:rPr>
              <a:t> method </a:t>
            </a:r>
            <a:r>
              <a:rPr lang="en-US" sz="2800" i="1" dirty="0" smtClean="0"/>
              <a:t>equals</a:t>
            </a:r>
            <a:r>
              <a:rPr lang="en-US" sz="2800" i="1" dirty="0"/>
              <a:t>()</a:t>
            </a:r>
            <a:r>
              <a:rPr lang="en-US" sz="2800" dirty="0"/>
              <a:t> </a:t>
            </a:r>
            <a:r>
              <a:rPr lang="en-US" sz="2800" dirty="0" err="1" smtClean="0"/>
              <a:t>và</a:t>
            </a:r>
            <a:r>
              <a:rPr lang="en-US" sz="2800" dirty="0"/>
              <a:t> </a:t>
            </a:r>
            <a:r>
              <a:rPr lang="en-US" sz="2800" i="1" dirty="0" err="1"/>
              <a:t>hashCode</a:t>
            </a:r>
            <a:r>
              <a:rPr lang="en-US" sz="2800" i="1" dirty="0" smtClean="0"/>
              <a:t>()</a:t>
            </a:r>
            <a:endParaRPr lang="en-US" sz="2700" dirty="0" smtClean="0">
              <a:solidFill>
                <a:srgbClr val="333333"/>
              </a:solidFill>
            </a:endParaRPr>
          </a:p>
          <a:p>
            <a:pPr marL="914400" lvl="1" indent="-457200" algn="just">
              <a:buFont typeface="Arial" panose="020B0604020202020204" pitchFamily="34" charset="0"/>
              <a:buChar char="•"/>
            </a:pPr>
            <a:r>
              <a:rPr lang="en-US" sz="2700" dirty="0" err="1" smtClean="0">
                <a:solidFill>
                  <a:srgbClr val="333333"/>
                </a:solidFill>
              </a:rPr>
              <a:t>Phải</a:t>
            </a:r>
            <a:r>
              <a:rPr lang="en-US" sz="2700" dirty="0" smtClean="0">
                <a:solidFill>
                  <a:srgbClr val="333333"/>
                </a:solidFill>
              </a:rPr>
              <a:t> </a:t>
            </a:r>
            <a:r>
              <a:rPr lang="en-US" sz="2700" dirty="0" err="1" smtClean="0">
                <a:solidFill>
                  <a:srgbClr val="333333"/>
                </a:solidFill>
              </a:rPr>
              <a:t>là</a:t>
            </a:r>
            <a:r>
              <a:rPr lang="en-US" sz="2700" dirty="0" smtClean="0">
                <a:solidFill>
                  <a:srgbClr val="333333"/>
                </a:solidFill>
              </a:rPr>
              <a:t> </a:t>
            </a:r>
            <a:r>
              <a:rPr lang="en-US" sz="2700" dirty="0" err="1" smtClean="0">
                <a:solidFill>
                  <a:srgbClr val="333333"/>
                </a:solidFill>
              </a:rPr>
              <a:t>một</a:t>
            </a:r>
            <a:r>
              <a:rPr lang="en-US" sz="2700" dirty="0">
                <a:solidFill>
                  <a:srgbClr val="333333"/>
                </a:solidFill>
              </a:rPr>
              <a:t> </a:t>
            </a:r>
            <a:r>
              <a:rPr lang="en-US" sz="2700" b="1" dirty="0" err="1">
                <a:solidFill>
                  <a:srgbClr val="333333"/>
                </a:solidFill>
              </a:rPr>
              <a:t>Serializable</a:t>
            </a:r>
            <a:r>
              <a:rPr lang="en-US" sz="2700" b="1" dirty="0">
                <a:solidFill>
                  <a:srgbClr val="333333"/>
                </a:solidFill>
              </a:rPr>
              <a:t> </a:t>
            </a:r>
            <a:endParaRPr lang="en-US" sz="2700" b="1" dirty="0" smtClean="0">
              <a:solidFill>
                <a:srgbClr val="333333"/>
              </a:solidFill>
            </a:endParaRPr>
          </a:p>
          <a:p>
            <a:pPr marL="914400" lvl="1" indent="-457200" algn="just">
              <a:buFont typeface="Arial" panose="020B0604020202020204" pitchFamily="34" charset="0"/>
              <a:buChar char="•"/>
            </a:pPr>
            <a:endParaRPr lang="en-US" sz="2700" b="1" dirty="0">
              <a:solidFill>
                <a:srgbClr val="333333"/>
              </a:solidFill>
            </a:endParaRPr>
          </a:p>
        </p:txBody>
      </p:sp>
    </p:spTree>
    <p:extLst>
      <p:ext uri="{BB962C8B-B14F-4D97-AF65-F5344CB8AC3E}">
        <p14:creationId xmlns:p14="http://schemas.microsoft.com/office/powerpoint/2010/main" val="1829854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81692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4000" b="1" dirty="0" smtClean="0">
                <a:latin typeface="Times New Roman" panose="02020603050405020304" pitchFamily="18" charset="0"/>
                <a:cs typeface="Times New Roman" panose="02020603050405020304" pitchFamily="18" charset="0"/>
              </a:rPr>
              <a:t>Cách sử dụng </a:t>
            </a:r>
            <a:r>
              <a:rPr lang="nn-NO" sz="4000" b="1" dirty="0">
                <a:latin typeface="Times New Roman" panose="02020603050405020304" pitchFamily="18" charset="0"/>
                <a:cs typeface="Times New Roman" panose="02020603050405020304" pitchFamily="18" charset="0"/>
              </a:rPr>
              <a:t>annotation @IdClass </a:t>
            </a:r>
          </a:p>
        </p:txBody>
      </p:sp>
      <p:sp>
        <p:nvSpPr>
          <p:cNvPr id="8" name="正方形/長方形 7"/>
          <p:cNvSpPr/>
          <p:nvPr/>
        </p:nvSpPr>
        <p:spPr>
          <a:xfrm>
            <a:off x="2114550" y="1150212"/>
            <a:ext cx="15201899" cy="4770537"/>
          </a:xfrm>
          <a:prstGeom prst="rect">
            <a:avLst/>
          </a:prstGeom>
        </p:spPr>
        <p:txBody>
          <a:bodyPr wrap="square">
            <a:spAutoFit/>
          </a:bodyPr>
          <a:lstStyle/>
          <a:p>
            <a:pPr marL="457200" indent="-457200" algn="just">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annotation </a:t>
            </a:r>
            <a:r>
              <a:rPr lang="nn-NO" sz="2800" dirty="0">
                <a:latin typeface="Times New Roman" panose="02020603050405020304" pitchFamily="18" charset="0"/>
                <a:cs typeface="Times New Roman" panose="02020603050405020304" pitchFamily="18" charset="0"/>
              </a:rPr>
              <a:t>@IdClass </a:t>
            </a:r>
            <a:r>
              <a:rPr lang="en-US" sz="2800" dirty="0" err="1">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class Id,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item </a:t>
            </a:r>
            <a:r>
              <a:rPr lang="en-US" sz="2800" dirty="0" err="1">
                <a:latin typeface="Times New Roman" panose="02020603050405020304" pitchFamily="18" charset="0"/>
                <a:cs typeface="Times New Roman" panose="02020603050405020304" pitchFamily="18" charset="0"/>
              </a:rPr>
              <a:t>tương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ứng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key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entity</a:t>
            </a:r>
          </a:p>
          <a:p>
            <a:pPr algn="just"/>
            <a:r>
              <a:rPr lang="en-US" sz="2800" dirty="0" err="1" smtClean="0">
                <a:latin typeface="Times New Roman" panose="02020603050405020304" pitchFamily="18" charset="0"/>
                <a:cs typeface="Times New Roman" panose="02020603050405020304" pitchFamily="18" charset="0"/>
              </a:rPr>
              <a:t>Với</a:t>
            </a:r>
            <a:r>
              <a:rPr lang="en-US" sz="2800" dirty="0" smtClean="0">
                <a:latin typeface="Times New Roman" panose="02020603050405020304" pitchFamily="18" charset="0"/>
                <a:cs typeface="Times New Roman" panose="02020603050405020304" pitchFamily="18" charset="0"/>
              </a:rPr>
              <a:t> table </a:t>
            </a:r>
            <a:r>
              <a:rPr lang="en-US" altLang="zh-CN" sz="2800" dirty="0" err="1">
                <a:latin typeface="Times New Roman" panose="02020603050405020304" pitchFamily="18" charset="0"/>
                <a:cs typeface="Times New Roman" panose="02020603050405020304" pitchFamily="18" charset="0"/>
              </a:rPr>
              <a:t>Facility_Ta_Connects</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có</a:t>
            </a:r>
            <a:r>
              <a:rPr lang="en-US" altLang="zh-CN" sz="2800" dirty="0">
                <a:latin typeface="Times New Roman" panose="02020603050405020304" pitchFamily="18" charset="0"/>
                <a:cs typeface="Times New Roman" panose="02020603050405020304" pitchFamily="18" charset="0"/>
              </a:rPr>
              <a:t> Composite Primary Key </a:t>
            </a:r>
            <a:r>
              <a:rPr lang="en-US" altLang="zh-CN" sz="2800" dirty="0" err="1" smtClean="0">
                <a:latin typeface="Times New Roman" panose="02020603050405020304" pitchFamily="18" charset="0"/>
                <a:cs typeface="Times New Roman" panose="02020603050405020304" pitchFamily="18" charset="0"/>
              </a:rPr>
              <a:t>là</a:t>
            </a:r>
            <a:r>
              <a:rPr lang="en-US" altLang="zh-CN" sz="2800" dirty="0">
                <a:latin typeface="Times New Roman" panose="02020603050405020304" pitchFamily="18" charset="0"/>
                <a:cs typeface="Times New Roman" panose="02020603050405020304" pitchFamily="18" charset="0"/>
              </a:rPr>
              <a:t> </a:t>
            </a:r>
            <a:r>
              <a:rPr lang="en-US" altLang="zh-CN" sz="2800" b="1" dirty="0" err="1" smtClean="0">
                <a:latin typeface="Times New Roman" panose="02020603050405020304" pitchFamily="18" charset="0"/>
                <a:cs typeface="Times New Roman" panose="02020603050405020304" pitchFamily="18" charset="0"/>
              </a:rPr>
              <a:t>common_facility_code</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và</a:t>
            </a:r>
            <a:r>
              <a:rPr lang="en-US" altLang="zh-CN" sz="2800" dirty="0">
                <a:latin typeface="Times New Roman" panose="02020603050405020304" pitchFamily="18" charset="0"/>
                <a:cs typeface="Times New Roman" panose="02020603050405020304" pitchFamily="18" charset="0"/>
              </a:rPr>
              <a:t> </a:t>
            </a:r>
            <a:r>
              <a:rPr lang="en-US" altLang="zh-CN" sz="2800" b="1" dirty="0" err="1" smtClean="0">
                <a:latin typeface="Times New Roman" panose="02020603050405020304" pitchFamily="18" charset="0"/>
                <a:cs typeface="Times New Roman" panose="02020603050405020304" pitchFamily="18" charset="0"/>
              </a:rPr>
              <a:t>ta_code</a:t>
            </a:r>
            <a:r>
              <a:rPr lang="en-US" altLang="zh-CN" sz="2800" dirty="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thì</a:t>
            </a:r>
            <a:r>
              <a:rPr lang="en-US" altLang="zh-CN" sz="2800" dirty="0" smtClean="0">
                <a:latin typeface="Times New Roman" panose="02020603050405020304" pitchFamily="18" charset="0"/>
                <a:cs typeface="Times New Roman" panose="02020603050405020304" pitchFamily="18" charset="0"/>
              </a:rPr>
              <a:t> class Id </a:t>
            </a:r>
            <a:r>
              <a:rPr lang="en-US" altLang="zh-CN" sz="2800" dirty="0" err="1" smtClean="0">
                <a:latin typeface="Times New Roman" panose="02020603050405020304" pitchFamily="18" charset="0"/>
                <a:cs typeface="Times New Roman" panose="02020603050405020304" pitchFamily="18" charset="0"/>
              </a:rPr>
              <a:t>tương</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ứng</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sẽ</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bao</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gồm</a:t>
            </a:r>
            <a:r>
              <a:rPr lang="en-US" altLang="zh-CN" sz="2800" dirty="0" smtClean="0">
                <a:latin typeface="Times New Roman" panose="02020603050405020304" pitchFamily="18" charset="0"/>
                <a:cs typeface="Times New Roman" panose="02020603050405020304" pitchFamily="18" charset="0"/>
              </a:rPr>
              <a:t> item </a:t>
            </a:r>
            <a:r>
              <a:rPr lang="en-US" sz="3200" dirty="0" err="1" smtClean="0">
                <a:latin typeface="Times New Roman" panose="02020603050405020304" pitchFamily="18" charset="0"/>
                <a:cs typeface="Times New Roman" panose="02020603050405020304" pitchFamily="18" charset="0"/>
              </a:rPr>
              <a:t>commonFacilityCode</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và</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taCode</a:t>
            </a:r>
            <a:endParaRPr lang="en-US" sz="3200" dirty="0" smtClean="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Class id </a:t>
            </a:r>
            <a:r>
              <a:rPr lang="en-US" sz="2800" dirty="0" err="1" smtClean="0">
                <a:latin typeface="Times New Roman" panose="02020603050405020304" pitchFamily="18" charset="0"/>
                <a:cs typeface="Times New Roman" panose="02020603050405020304" pitchFamily="18" charset="0"/>
              </a:rPr>
              <a:t>phải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Serializable</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latin typeface="Times New Roman" panose="02020603050405020304" pitchFamily="18" charset="0"/>
                <a:cs typeface="Times New Roman" panose="02020603050405020304" pitchFamily="18" charset="0"/>
              </a:rPr>
              <a:t>Liên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kết</a:t>
            </a:r>
            <a:r>
              <a:rPr lang="en-US" sz="2800" dirty="0" smtClean="0">
                <a:latin typeface="Times New Roman" panose="02020603050405020304" pitchFamily="18" charset="0"/>
                <a:cs typeface="Times New Roman" panose="02020603050405020304" pitchFamily="18" charset="0"/>
              </a:rPr>
              <a:t> class entity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class id:</a:t>
            </a:r>
          </a:p>
          <a:p>
            <a:pPr marL="914400" lvl="1" indent="-457200" algn="just">
              <a:buFont typeface="Arial" panose="020B0604020202020204" pitchFamily="34" charset="0"/>
              <a:buChar char="•"/>
            </a:pPr>
            <a:r>
              <a:rPr lang="en-US" sz="3200" dirty="0" err="1" smtClean="0">
                <a:latin typeface="Times New Roman" panose="02020603050405020304" pitchFamily="18" charset="0"/>
                <a:cs typeface="Times New Roman" panose="02020603050405020304" pitchFamily="18" charset="0"/>
              </a:rPr>
              <a:t>Sử</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IdClass</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tại</a:t>
            </a:r>
            <a:r>
              <a:rPr lang="en-US" sz="3200" dirty="0" smtClean="0">
                <a:latin typeface="Times New Roman" panose="02020603050405020304" pitchFamily="18" charset="0"/>
                <a:cs typeface="Times New Roman" panose="02020603050405020304" pitchFamily="18" charset="0"/>
              </a:rPr>
              <a:t> entity </a:t>
            </a:r>
            <a:r>
              <a:rPr lang="en-US" sz="3200" dirty="0" err="1" smtClean="0">
                <a:latin typeface="Times New Roman" panose="02020603050405020304" pitchFamily="18" charset="0"/>
                <a:cs typeface="Times New Roman" panose="02020603050405020304" pitchFamily="18" charset="0"/>
              </a:rPr>
              <a:t>và</a:t>
            </a:r>
            <a:r>
              <a:rPr lang="en-US" sz="3200" dirty="0" smtClean="0">
                <a:latin typeface="Times New Roman" panose="02020603050405020304" pitchFamily="18" charset="0"/>
                <a:cs typeface="Times New Roman" panose="02020603050405020304" pitchFamily="18" charset="0"/>
              </a:rPr>
              <a:t> value </a:t>
            </a:r>
            <a:r>
              <a:rPr lang="en-US" sz="3200" dirty="0" err="1" smtClean="0">
                <a:latin typeface="Times New Roman" panose="02020603050405020304" pitchFamily="18" charset="0"/>
                <a:cs typeface="Times New Roman" panose="02020603050405020304" pitchFamily="18" charset="0"/>
              </a:rPr>
              <a:t>là</a:t>
            </a:r>
            <a:r>
              <a:rPr lang="en-US" sz="3200" dirty="0" smtClean="0">
                <a:latin typeface="Times New Roman" panose="02020603050405020304" pitchFamily="18" charset="0"/>
                <a:cs typeface="Times New Roman" panose="02020603050405020304" pitchFamily="18" charset="0"/>
              </a:rPr>
              <a:t> class Id </a:t>
            </a:r>
            <a:r>
              <a:rPr lang="en-US" sz="3200" dirty="0" err="1" smtClean="0">
                <a:latin typeface="Times New Roman" panose="02020603050405020304" pitchFamily="18" charset="0"/>
                <a:cs typeface="Times New Roman" panose="02020603050405020304" pitchFamily="18" charset="0"/>
              </a:rPr>
              <a:t>đã</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tạo</a:t>
            </a:r>
            <a:endParaRPr lang="en-US" sz="3200" dirty="0" smtClean="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3200" dirty="0" err="1" smtClean="0">
                <a:latin typeface="Times New Roman" panose="02020603050405020304" pitchFamily="18" charset="0"/>
                <a:cs typeface="Times New Roman" panose="02020603050405020304" pitchFamily="18" charset="0"/>
              </a:rPr>
              <a:t>Các</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trường</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trong</a:t>
            </a:r>
            <a:r>
              <a:rPr lang="en-US" sz="3200" dirty="0" smtClean="0">
                <a:latin typeface="Times New Roman" panose="02020603050405020304" pitchFamily="18" charset="0"/>
                <a:cs typeface="Times New Roman" panose="02020603050405020304" pitchFamily="18" charset="0"/>
              </a:rPr>
              <a:t> class Id </a:t>
            </a:r>
            <a:r>
              <a:rPr lang="en-US" sz="3200" dirty="0" err="1" smtClean="0">
                <a:latin typeface="Times New Roman" panose="02020603050405020304" pitchFamily="18" charset="0"/>
                <a:cs typeface="Times New Roman" panose="02020603050405020304" pitchFamily="18" charset="0"/>
              </a:rPr>
              <a:t>tương</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ứng</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với</a:t>
            </a:r>
            <a:r>
              <a:rPr lang="en-US" sz="3200" dirty="0" smtClean="0">
                <a:latin typeface="Times New Roman" panose="02020603050405020304" pitchFamily="18" charset="0"/>
                <a:cs typeface="Times New Roman" panose="02020603050405020304" pitchFamily="18" charset="0"/>
              </a:rPr>
              <a:t> Entity </a:t>
            </a:r>
            <a:r>
              <a:rPr lang="en-US" sz="3200" dirty="0" err="1" smtClean="0">
                <a:latin typeface="Times New Roman" panose="02020603050405020304" pitchFamily="18" charset="0"/>
                <a:cs typeface="Times New Roman" panose="02020603050405020304" pitchFamily="18" charset="0"/>
              </a:rPr>
              <a:t>được</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chú</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thích</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bằng</a:t>
            </a:r>
            <a:r>
              <a:rPr lang="en-US" sz="3200" dirty="0" smtClean="0">
                <a:latin typeface="Times New Roman" panose="02020603050405020304" pitchFamily="18" charset="0"/>
                <a:cs typeface="Times New Roman" panose="02020603050405020304" pitchFamily="18" charset="0"/>
              </a:rPr>
              <a:t> Annotation @Id</a:t>
            </a:r>
          </a:p>
          <a:p>
            <a:pPr lvl="1" algn="just"/>
            <a:r>
              <a:rPr lang="en-US" sz="3200" dirty="0" smtClean="0">
                <a:latin typeface="Times New Roman" panose="02020603050405020304" pitchFamily="18" charset="0"/>
                <a:cs typeface="Times New Roman" panose="02020603050405020304" pitchFamily="18" charset="0"/>
              </a:rPr>
              <a:t> Trong Class Id </a:t>
            </a:r>
            <a:r>
              <a:rPr lang="en-US" sz="3200" dirty="0" err="1" smtClean="0">
                <a:latin typeface="Times New Roman" panose="02020603050405020304" pitchFamily="18" charset="0"/>
                <a:cs typeface="Times New Roman" panose="02020603050405020304" pitchFamily="18" charset="0"/>
              </a:rPr>
              <a:t>có</a:t>
            </a:r>
            <a:r>
              <a:rPr lang="en-US" sz="3200" dirty="0" smtClean="0">
                <a:latin typeface="Times New Roman" panose="02020603050405020304" pitchFamily="18" charset="0"/>
                <a:cs typeface="Times New Roman" panose="02020603050405020304" pitchFamily="18" charset="0"/>
              </a:rPr>
              <a:t> : </a:t>
            </a:r>
            <a:r>
              <a:rPr lang="en-US" sz="3200" dirty="0" err="1" smtClean="0">
                <a:latin typeface="Times New Roman" panose="02020603050405020304" pitchFamily="18" charset="0"/>
                <a:cs typeface="Times New Roman" panose="02020603050405020304" pitchFamily="18" charset="0"/>
              </a:rPr>
              <a:t>commonFacilityCode</a:t>
            </a:r>
            <a:r>
              <a:rPr lang="en-US" sz="3200" dirty="0" smtClean="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taCode</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thì</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trong</a:t>
            </a:r>
            <a:r>
              <a:rPr lang="en-US" sz="3200" dirty="0" smtClean="0">
                <a:latin typeface="Times New Roman" panose="02020603050405020304" pitchFamily="18" charset="0"/>
                <a:cs typeface="Times New Roman" panose="02020603050405020304" pitchFamily="18" charset="0"/>
              </a:rPr>
              <a:t> class Entity </a:t>
            </a:r>
            <a:r>
              <a:rPr lang="en-US" sz="3200" dirty="0" err="1" smtClean="0">
                <a:latin typeface="Times New Roman" panose="02020603050405020304" pitchFamily="18" charset="0"/>
                <a:cs typeface="Times New Roman" panose="02020603050405020304" pitchFamily="18" charset="0"/>
              </a:rPr>
              <a:t>cũng</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có</a:t>
            </a:r>
            <a:r>
              <a:rPr lang="en-US" sz="3200" dirty="0" smtClean="0">
                <a:latin typeface="Times New Roman" panose="02020603050405020304" pitchFamily="18" charset="0"/>
                <a:cs typeface="Times New Roman" panose="02020603050405020304" pitchFamily="18" charset="0"/>
              </a:rPr>
              <a:t> 2 item </a:t>
            </a:r>
            <a:r>
              <a:rPr lang="en-US" sz="3200" dirty="0" err="1" smtClean="0">
                <a:latin typeface="Times New Roman" panose="02020603050405020304" pitchFamily="18" charset="0"/>
                <a:cs typeface="Times New Roman" panose="02020603050405020304" pitchFamily="18" charset="0"/>
              </a:rPr>
              <a:t>đó</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và</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được</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chú</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thích</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với</a:t>
            </a:r>
            <a:r>
              <a:rPr lang="en-US" sz="3200" dirty="0" smtClean="0">
                <a:latin typeface="Times New Roman" panose="02020603050405020304" pitchFamily="18" charset="0"/>
                <a:cs typeface="Times New Roman" panose="02020603050405020304" pitchFamily="18" charset="0"/>
              </a:rPr>
              <a:t> annotation @Id</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02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3" name="TextBox 16"/>
          <p:cNvSpPr txBox="1"/>
          <p:nvPr/>
        </p:nvSpPr>
        <p:spPr>
          <a:xfrm>
            <a:off x="503642" y="1563837"/>
            <a:ext cx="4063593" cy="933204"/>
          </a:xfrm>
          <a:prstGeom prst="rect">
            <a:avLst/>
          </a:prstGeom>
          <a:noFill/>
        </p:spPr>
        <p:txBody>
          <a:bodyPr wrap="square" lIns="0" tIns="0" rIns="0" bIns="0" rtlCol="0">
            <a:spAutoFit/>
          </a:bodyPr>
          <a:lstStyle/>
          <a:p>
            <a:pPr marL="0">
              <a:lnSpc>
                <a:spcPct val="111249"/>
              </a:lnSpc>
            </a:pPr>
            <a:r>
              <a:rPr lang="en-US" altLang="zh-CN" sz="5900" spc="350" dirty="0" smtClean="0">
                <a:solidFill>
                  <a:srgbClr val="FEFEFE"/>
                </a:solidFill>
                <a:latin typeface="Times New Roman"/>
                <a:ea typeface="Times New Roman"/>
              </a:rPr>
              <a:t>Entity</a:t>
            </a:r>
            <a:endParaRPr lang="en-US" altLang="zh-CN" sz="5900" spc="375"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791678" y="4446308"/>
            <a:ext cx="7696004" cy="1740179"/>
          </a:xfrm>
          <a:prstGeom prst="rect">
            <a:avLst/>
          </a:prstGeom>
        </p:spPr>
      </p:pic>
      <p:sp>
        <p:nvSpPr>
          <p:cNvPr id="12" name="正方形/長方形 11"/>
          <p:cNvSpPr/>
          <p:nvPr/>
        </p:nvSpPr>
        <p:spPr>
          <a:xfrm>
            <a:off x="5492409" y="3398193"/>
            <a:ext cx="3061437" cy="557213"/>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err="1" smtClean="0">
                <a:solidFill>
                  <a:schemeClr val="bg1"/>
                </a:solidFill>
                <a:latin typeface="Times New Roman" panose="02020603050405020304" pitchFamily="18" charset="0"/>
                <a:cs typeface="Times New Roman" panose="02020603050405020304" pitchFamily="18" charset="0"/>
              </a:rPr>
              <a:t>FacilityTaConnects</a:t>
            </a:r>
            <a:endParaRPr lang="en-US" altLang="zh-CN" sz="2800" spc="400"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21" name="グループ化 20"/>
          <p:cNvGrpSpPr/>
          <p:nvPr/>
        </p:nvGrpSpPr>
        <p:grpSpPr>
          <a:xfrm>
            <a:off x="9328581" y="356598"/>
            <a:ext cx="8746249" cy="9258889"/>
            <a:chOff x="9328581" y="356598"/>
            <a:chExt cx="8746249" cy="9258889"/>
          </a:xfrm>
        </p:grpSpPr>
        <p:grpSp>
          <p:nvGrpSpPr>
            <p:cNvPr id="18" name="グループ化 17"/>
            <p:cNvGrpSpPr/>
            <p:nvPr/>
          </p:nvGrpSpPr>
          <p:grpSpPr>
            <a:xfrm>
              <a:off x="9328581" y="356598"/>
              <a:ext cx="8746249" cy="9258889"/>
              <a:chOff x="9328581" y="356598"/>
              <a:chExt cx="8746249" cy="9258889"/>
            </a:xfrm>
          </p:grpSpPr>
          <p:pic>
            <p:nvPicPr>
              <p:cNvPr id="13" name="図 12"/>
              <p:cNvPicPr>
                <a:picLocks noChangeAspect="1"/>
              </p:cNvPicPr>
              <p:nvPr/>
            </p:nvPicPr>
            <p:blipFill>
              <a:blip r:embed="rId4"/>
              <a:stretch>
                <a:fillRect/>
              </a:stretch>
            </p:blipFill>
            <p:spPr>
              <a:xfrm>
                <a:off x="9328581" y="356598"/>
                <a:ext cx="8746249" cy="9258889"/>
              </a:xfrm>
              <a:prstGeom prst="rect">
                <a:avLst/>
              </a:prstGeom>
            </p:spPr>
          </p:pic>
          <p:grpSp>
            <p:nvGrpSpPr>
              <p:cNvPr id="11" name="グループ化 10"/>
              <p:cNvGrpSpPr/>
              <p:nvPr/>
            </p:nvGrpSpPr>
            <p:grpSpPr>
              <a:xfrm>
                <a:off x="9644063" y="1917020"/>
                <a:ext cx="5214937" cy="6455455"/>
                <a:chOff x="9644063" y="1917020"/>
                <a:chExt cx="5214937" cy="6455455"/>
              </a:xfrm>
            </p:grpSpPr>
            <p:grpSp>
              <p:nvGrpSpPr>
                <p:cNvPr id="8" name="グループ化 7"/>
                <p:cNvGrpSpPr/>
                <p:nvPr/>
              </p:nvGrpSpPr>
              <p:grpSpPr>
                <a:xfrm>
                  <a:off x="9660436" y="1917020"/>
                  <a:ext cx="4555627" cy="1393553"/>
                  <a:chOff x="9660436" y="1917020"/>
                  <a:chExt cx="4555627" cy="1393553"/>
                </a:xfrm>
              </p:grpSpPr>
              <p:sp>
                <p:nvSpPr>
                  <p:cNvPr id="5" name="正方形/長方形 4"/>
                  <p:cNvSpPr/>
                  <p:nvPr/>
                </p:nvSpPr>
                <p:spPr>
                  <a:xfrm>
                    <a:off x="9660436" y="1917020"/>
                    <a:ext cx="2802559" cy="1472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正方形/長方形 6"/>
                  <p:cNvSpPr/>
                  <p:nvPr/>
                </p:nvSpPr>
                <p:spPr>
                  <a:xfrm>
                    <a:off x="9889036" y="2224723"/>
                    <a:ext cx="4327027" cy="10858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正方形/長方形 9"/>
                <p:cNvSpPr/>
                <p:nvPr/>
              </p:nvSpPr>
              <p:spPr>
                <a:xfrm>
                  <a:off x="9644063" y="5486401"/>
                  <a:ext cx="5214937" cy="288607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角丸四角形吹き出し 13"/>
              <p:cNvSpPr/>
              <p:nvPr/>
            </p:nvSpPr>
            <p:spPr>
              <a:xfrm>
                <a:off x="15087600" y="4643437"/>
                <a:ext cx="2534553" cy="2300287"/>
              </a:xfrm>
              <a:prstGeom prst="wedgeRoundRectCallout">
                <a:avLst>
                  <a:gd name="adj1" fmla="val -56347"/>
                  <a:gd name="adj2" fmla="val 119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Default constructor </a:t>
                </a:r>
                <a:r>
                  <a:rPr lang="en-US" dirty="0" err="1" smtClean="0"/>
                  <a:t>khởi</a:t>
                </a:r>
                <a:r>
                  <a:rPr lang="en-US" dirty="0" smtClean="0"/>
                  <a:t> </a:t>
                </a:r>
                <a:r>
                  <a:rPr lang="en-US" dirty="0" err="1" smtClean="0"/>
                  <a:t>tạo</a:t>
                </a:r>
                <a:r>
                  <a:rPr lang="en-US" dirty="0" smtClean="0"/>
                  <a:t> </a:t>
                </a:r>
                <a:r>
                  <a:rPr lang="en-US" dirty="0" err="1" smtClean="0"/>
                  <a:t>với</a:t>
                </a:r>
                <a:r>
                  <a:rPr lang="en-US" dirty="0" smtClean="0"/>
                  <a:t> </a:t>
                </a:r>
                <a:r>
                  <a:rPr lang="en-US" b="1" dirty="0" err="1" smtClean="0"/>
                  <a:t>commonFacilityCode</a:t>
                </a:r>
                <a:r>
                  <a:rPr lang="en-US" dirty="0" smtClean="0"/>
                  <a:t>, </a:t>
                </a:r>
                <a:r>
                  <a:rPr lang="en-US" b="1" dirty="0" err="1" smtClean="0"/>
                  <a:t>taCode</a:t>
                </a:r>
                <a:r>
                  <a:rPr lang="en-US" dirty="0" smtClean="0"/>
                  <a:t> </a:t>
                </a:r>
                <a:r>
                  <a:rPr lang="en-US" dirty="0" err="1" smtClean="0"/>
                  <a:t>có</a:t>
                </a:r>
                <a:r>
                  <a:rPr lang="en-US" dirty="0" smtClean="0"/>
                  <a:t> </a:t>
                </a:r>
                <a:r>
                  <a:rPr lang="en-US" dirty="0" err="1" smtClean="0"/>
                  <a:t>giá</a:t>
                </a:r>
                <a:r>
                  <a:rPr lang="en-US" dirty="0" smtClean="0"/>
                  <a:t> </a:t>
                </a:r>
                <a:r>
                  <a:rPr lang="en-US" dirty="0" err="1" smtClean="0"/>
                  <a:t>trị</a:t>
                </a:r>
                <a:r>
                  <a:rPr lang="en-US" dirty="0" smtClean="0"/>
                  <a:t> </a:t>
                </a:r>
                <a:r>
                  <a:rPr lang="en-US" dirty="0" err="1" smtClean="0"/>
                  <a:t>là</a:t>
                </a:r>
                <a:r>
                  <a:rPr lang="en-US" dirty="0" smtClean="0"/>
                  <a:t> </a:t>
                </a:r>
                <a:r>
                  <a:rPr lang="en-US" b="1" dirty="0" smtClean="0"/>
                  <a:t>Empty</a:t>
                </a:r>
                <a:endParaRPr lang="en-US" b="1" dirty="0"/>
              </a:p>
            </p:txBody>
          </p:sp>
          <p:grpSp>
            <p:nvGrpSpPr>
              <p:cNvPr id="16" name="グループ化 15"/>
              <p:cNvGrpSpPr/>
              <p:nvPr/>
            </p:nvGrpSpPr>
            <p:grpSpPr>
              <a:xfrm>
                <a:off x="11358562" y="5800725"/>
                <a:ext cx="1385888" cy="657227"/>
                <a:chOff x="11358562" y="5800725"/>
                <a:chExt cx="1385888" cy="657227"/>
              </a:xfrm>
            </p:grpSpPr>
            <p:sp>
              <p:nvSpPr>
                <p:cNvPr id="15" name="正方形/長方形 14"/>
                <p:cNvSpPr/>
                <p:nvPr/>
              </p:nvSpPr>
              <p:spPr>
                <a:xfrm>
                  <a:off x="12258675" y="5800725"/>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正方形/長方形 19"/>
                <p:cNvSpPr/>
                <p:nvPr/>
              </p:nvSpPr>
              <p:spPr>
                <a:xfrm>
                  <a:off x="11358562" y="6257927"/>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19" name="正方形/長方形 18"/>
            <p:cNvSpPr/>
            <p:nvPr/>
          </p:nvSpPr>
          <p:spPr>
            <a:xfrm>
              <a:off x="14145074" y="1041606"/>
              <a:ext cx="3328987" cy="93006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b="1" dirty="0" smtClean="0"/>
                <a:t>Class Id</a:t>
              </a:r>
              <a:r>
                <a:rPr lang="en-US" dirty="0" smtClean="0"/>
                <a:t>: </a:t>
              </a:r>
              <a:r>
                <a:rPr lang="en-US" dirty="0" err="1" smtClean="0"/>
                <a:t>FacilityTaConnectId</a:t>
              </a:r>
              <a:endParaRPr lang="en-US" dirty="0" smtClean="0"/>
            </a:p>
            <a:p>
              <a:r>
                <a:rPr lang="en-US" b="1" dirty="0" smtClean="0"/>
                <a:t>Class Entity</a:t>
              </a:r>
              <a:r>
                <a:rPr lang="en-US" dirty="0" smtClean="0"/>
                <a:t>: </a:t>
              </a:r>
              <a:r>
                <a:rPr lang="en-US" dirty="0" err="1"/>
                <a:t>FacilityTaConnects</a:t>
              </a:r>
              <a:endParaRPr lang="en-US" dirty="0"/>
            </a:p>
          </p:txBody>
        </p:sp>
      </p:grpSp>
    </p:spTree>
    <p:extLst>
      <p:ext uri="{BB962C8B-B14F-4D97-AF65-F5344CB8AC3E}">
        <p14:creationId xmlns:p14="http://schemas.microsoft.com/office/powerpoint/2010/main" val="335240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9155071"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4000" b="1" dirty="0" smtClean="0">
                <a:latin typeface="Times New Roman" panose="02020603050405020304" pitchFamily="18" charset="0"/>
                <a:cs typeface="Times New Roman" panose="02020603050405020304" pitchFamily="18" charset="0"/>
              </a:rPr>
              <a:t>Cách sử dụng </a:t>
            </a:r>
            <a:r>
              <a:rPr lang="nn-NO" sz="4000" b="1" dirty="0">
                <a:latin typeface="Times New Roman" panose="02020603050405020304" pitchFamily="18" charset="0"/>
                <a:cs typeface="Times New Roman" panose="02020603050405020304" pitchFamily="18" charset="0"/>
              </a:rPr>
              <a:t>annotation @EmbeddedId </a:t>
            </a:r>
          </a:p>
        </p:txBody>
      </p:sp>
      <p:sp>
        <p:nvSpPr>
          <p:cNvPr id="8" name="正方形/長方形 7"/>
          <p:cNvSpPr/>
          <p:nvPr/>
        </p:nvSpPr>
        <p:spPr>
          <a:xfrm>
            <a:off x="2114550" y="1150212"/>
            <a:ext cx="15201899" cy="2677656"/>
          </a:xfrm>
          <a:prstGeom prst="rect">
            <a:avLst/>
          </a:prstGeom>
        </p:spPr>
        <p:txBody>
          <a:bodyPr wrap="square">
            <a:spAutoFit/>
          </a:bodyPr>
          <a:lstStyle/>
          <a:p>
            <a:pPr marL="457200" indent="-457200" algn="just">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annotation </a:t>
            </a:r>
            <a:r>
              <a:rPr lang="nn-NO" sz="2800" dirty="0">
                <a:latin typeface="Times New Roman" panose="02020603050405020304" pitchFamily="18" charset="0"/>
                <a:cs typeface="Times New Roman" panose="02020603050405020304" pitchFamily="18" charset="0"/>
              </a:rPr>
              <a:t>@EmbeddedId </a:t>
            </a:r>
            <a:r>
              <a:rPr lang="en-US" sz="2800" dirty="0" err="1" smtClean="0">
                <a:latin typeface="Times New Roman" panose="02020603050405020304" pitchFamily="18" charset="0"/>
                <a:cs typeface="Times New Roman" panose="02020603050405020304" pitchFamily="18" charset="0"/>
              </a:rPr>
              <a:t>cần</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class Id,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item </a:t>
            </a:r>
            <a:r>
              <a:rPr lang="en-US" sz="2800" dirty="0" err="1">
                <a:latin typeface="Times New Roman" panose="02020603050405020304" pitchFamily="18" charset="0"/>
                <a:cs typeface="Times New Roman" panose="02020603050405020304" pitchFamily="18" charset="0"/>
              </a:rPr>
              <a:t>tương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ứng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key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entity</a:t>
            </a:r>
          </a:p>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Class id </a:t>
            </a:r>
            <a:r>
              <a:rPr lang="en-US" sz="2800" dirty="0" err="1" smtClean="0">
                <a:latin typeface="Times New Roman" panose="02020603050405020304" pitchFamily="18" charset="0"/>
                <a:cs typeface="Times New Roman" panose="02020603050405020304" pitchFamily="18" charset="0"/>
              </a:rPr>
              <a:t>phải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Serializable</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annotation </a:t>
            </a:r>
            <a:r>
              <a:rPr lang="en-US" sz="2800" dirty="0">
                <a:latin typeface="Times New Roman" panose="02020603050405020304" pitchFamily="18" charset="0"/>
                <a:cs typeface="Times New Roman" panose="02020603050405020304" pitchFamily="18" charset="0"/>
              </a:rPr>
              <a:t>@Embeddable</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latin typeface="Times New Roman" panose="02020603050405020304" pitchFamily="18" charset="0"/>
                <a:cs typeface="Times New Roman" panose="02020603050405020304" pitchFamily="18" charset="0"/>
              </a:rPr>
              <a:t>Liên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kết</a:t>
            </a:r>
            <a:r>
              <a:rPr lang="en-US" sz="2800" dirty="0" smtClean="0">
                <a:latin typeface="Times New Roman" panose="02020603050405020304" pitchFamily="18" charset="0"/>
                <a:cs typeface="Times New Roman" panose="02020603050405020304" pitchFamily="18" charset="0"/>
              </a:rPr>
              <a:t> class entity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class id:</a:t>
            </a:r>
          </a:p>
          <a:p>
            <a:pPr marL="914400" lvl="1"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a:t>
            </a:r>
            <a:r>
              <a:rPr lang="nn-NO" sz="2800" dirty="0" smtClean="0">
                <a:latin typeface="Times New Roman" panose="02020603050405020304" pitchFamily="18" charset="0"/>
                <a:cs typeface="Times New Roman" panose="02020603050405020304" pitchFamily="18" charset="0"/>
              </a:rPr>
              <a:t>EmbeddedId </a:t>
            </a:r>
            <a:r>
              <a:rPr lang="en-US" sz="2800" dirty="0" err="1" smtClean="0">
                <a:latin typeface="Times New Roman" panose="02020603050405020304" pitchFamily="18" charset="0"/>
                <a:cs typeface="Times New Roman" panose="02020603050405020304" pitchFamily="18" charset="0"/>
              </a:rPr>
              <a:t>là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sự</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thay</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thế</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cho</a:t>
            </a:r>
            <a:r>
              <a:rPr lang="en-US" sz="2800" dirty="0" smtClean="0">
                <a:latin typeface="Times New Roman" panose="02020603050405020304" pitchFamily="18" charset="0"/>
                <a:cs typeface="Times New Roman" panose="02020603050405020304" pitchFamily="18" charset="0"/>
              </a:rPr>
              <a:t> </a:t>
            </a:r>
            <a:r>
              <a:rPr lang="pt-BR" sz="2800" dirty="0" smtClean="0">
                <a:latin typeface="Times New Roman" panose="02020603050405020304" pitchFamily="18" charset="0"/>
                <a:cs typeface="Times New Roman" panose="02020603050405020304" pitchFamily="18" charset="0"/>
              </a:rPr>
              <a:t>@IdClass và </a:t>
            </a:r>
            <a:r>
              <a:rPr lang="en-US" sz="2800" dirty="0">
                <a:latin typeface="Times New Roman" panose="02020603050405020304" pitchFamily="18" charset="0"/>
                <a:cs typeface="Times New Roman" panose="02020603050405020304" pitchFamily="18" charset="0"/>
              </a:rPr>
              <a:t>@</a:t>
            </a:r>
            <a:r>
              <a:rPr lang="en-US" sz="2800" dirty="0" smtClean="0">
                <a:latin typeface="Times New Roman" panose="02020603050405020304" pitchFamily="18" charset="0"/>
                <a:cs typeface="Times New Roman" panose="02020603050405020304" pitchFamily="18" charset="0"/>
              </a:rPr>
              <a:t>Id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entity</a:t>
            </a:r>
          </a:p>
          <a:p>
            <a:pPr marL="914400" lvl="1" indent="-457200" algn="just">
              <a:buFont typeface="Arial" panose="020B0604020202020204" pitchFamily="34" charset="0"/>
              <a:buChar char="•"/>
            </a:pPr>
            <a:r>
              <a:rPr lang="en-US" sz="2800" dirty="0" err="1" smtClean="0">
                <a:latin typeface="Times New Roman" panose="02020603050405020304" pitchFamily="18" charset="0"/>
                <a:cs typeface="Times New Roman" panose="02020603050405020304" pitchFamily="18" charset="0"/>
              </a:rPr>
              <a:t>Khai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báo</a:t>
            </a:r>
            <a:r>
              <a:rPr lang="en-US" sz="2800" dirty="0" smtClean="0">
                <a:latin typeface="Times New Roman" panose="02020603050405020304" pitchFamily="18" charset="0"/>
                <a:cs typeface="Times New Roman" panose="02020603050405020304" pitchFamily="18" charset="0"/>
              </a:rPr>
              <a:t> @</a:t>
            </a:r>
            <a:r>
              <a:rPr lang="nn-NO" sz="2800" dirty="0" smtClean="0">
                <a:latin typeface="Times New Roman" panose="02020603050405020304" pitchFamily="18" charset="0"/>
                <a:cs typeface="Times New Roman" panose="02020603050405020304" pitchFamily="18" charset="0"/>
              </a:rPr>
              <a:t>EmbeddedId với kiểu dữ liệu là class Id đã tạo ở trên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39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TextBox 66"/>
          <p:cNvSpPr txBox="1"/>
          <p:nvPr/>
        </p:nvSpPr>
        <p:spPr>
          <a:xfrm>
            <a:off x="1258207" y="1734220"/>
            <a:ext cx="6552746" cy="615553"/>
          </a:xfrm>
          <a:prstGeom prst="rect">
            <a:avLst/>
          </a:prstGeom>
          <a:noFill/>
        </p:spPr>
        <p:txBody>
          <a:bodyPr wrap="square" lIns="0" tIns="0" rIns="0" bIns="0" rtlCol="0">
            <a:spAutoFit/>
          </a:bodyPr>
          <a:lstStyle/>
          <a:p>
            <a:pPr marL="0">
              <a:lnSpc>
                <a:spcPct val="100000"/>
              </a:lnSpc>
            </a:pPr>
            <a:r>
              <a:rPr lang="en-US" altLang="zh-CN" sz="4000" b="1" spc="104" dirty="0" smtClean="0">
                <a:solidFill>
                  <a:srgbClr val="000000"/>
                </a:solidFill>
                <a:latin typeface="Times New Roman"/>
                <a:ea typeface="Times New Roman"/>
              </a:rPr>
              <a:t>Controller</a:t>
            </a:r>
            <a:endParaRPr lang="en-US" altLang="zh-CN" sz="3600" b="1" spc="220"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0" y="-1"/>
            <a:ext cx="9134471" cy="10276139"/>
          </a:xfrm>
          <a:prstGeom prst="rect">
            <a:avLst/>
          </a:prstGeom>
        </p:spPr>
      </p:pic>
      <p:sp>
        <p:nvSpPr>
          <p:cNvPr id="23" name="TextBox 16"/>
          <p:cNvSpPr txBox="1"/>
          <p:nvPr/>
        </p:nvSpPr>
        <p:spPr>
          <a:xfrm>
            <a:off x="503642" y="1563837"/>
            <a:ext cx="4063593" cy="933204"/>
          </a:xfrm>
          <a:prstGeom prst="rect">
            <a:avLst/>
          </a:prstGeom>
          <a:noFill/>
        </p:spPr>
        <p:txBody>
          <a:bodyPr wrap="square" lIns="0" tIns="0" rIns="0" bIns="0" rtlCol="0">
            <a:spAutoFit/>
          </a:bodyPr>
          <a:lstStyle/>
          <a:p>
            <a:pPr marL="0">
              <a:lnSpc>
                <a:spcPct val="111249"/>
              </a:lnSpc>
            </a:pPr>
            <a:r>
              <a:rPr lang="en-US" altLang="zh-CN" sz="5900" spc="350" dirty="0" smtClean="0">
                <a:solidFill>
                  <a:srgbClr val="FEFEFE"/>
                </a:solidFill>
                <a:latin typeface="Times New Roman"/>
                <a:ea typeface="Times New Roman"/>
              </a:rPr>
              <a:t>Entity</a:t>
            </a:r>
            <a:endParaRPr lang="en-US" altLang="zh-CN" sz="5900" spc="375"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791678" y="4446308"/>
            <a:ext cx="7696004" cy="1740179"/>
          </a:xfrm>
          <a:prstGeom prst="rect">
            <a:avLst/>
          </a:prstGeom>
        </p:spPr>
      </p:pic>
      <p:sp>
        <p:nvSpPr>
          <p:cNvPr id="15" name="正方形/長方形 11"/>
          <p:cNvSpPr/>
          <p:nvPr/>
        </p:nvSpPr>
        <p:spPr>
          <a:xfrm>
            <a:off x="5492409" y="3398193"/>
            <a:ext cx="3061437" cy="557213"/>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err="1" smtClean="0">
                <a:solidFill>
                  <a:schemeClr val="bg1"/>
                </a:solidFill>
                <a:latin typeface="Times New Roman" panose="02020603050405020304" pitchFamily="18" charset="0"/>
                <a:cs typeface="Times New Roman" panose="02020603050405020304" pitchFamily="18" charset="0"/>
              </a:rPr>
              <a:t>FacilityTaConnects</a:t>
            </a:r>
            <a:endParaRPr lang="en-US" altLang="zh-CN" sz="2800" spc="400"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12" name="グループ化 11"/>
          <p:cNvGrpSpPr/>
          <p:nvPr/>
        </p:nvGrpSpPr>
        <p:grpSpPr>
          <a:xfrm>
            <a:off x="9321356" y="442407"/>
            <a:ext cx="8797514" cy="7987217"/>
            <a:chOff x="9321356" y="442407"/>
            <a:chExt cx="8797514" cy="7987217"/>
          </a:xfrm>
        </p:grpSpPr>
        <p:pic>
          <p:nvPicPr>
            <p:cNvPr id="6" name="図 5"/>
            <p:cNvPicPr>
              <a:picLocks noChangeAspect="1"/>
            </p:cNvPicPr>
            <p:nvPr/>
          </p:nvPicPr>
          <p:blipFill>
            <a:blip r:embed="rId4"/>
            <a:stretch>
              <a:fillRect/>
            </a:stretch>
          </p:blipFill>
          <p:spPr>
            <a:xfrm>
              <a:off x="9321356" y="442407"/>
              <a:ext cx="8797514" cy="7987217"/>
            </a:xfrm>
            <a:prstGeom prst="rect">
              <a:avLst/>
            </a:prstGeom>
          </p:spPr>
        </p:pic>
        <p:grpSp>
          <p:nvGrpSpPr>
            <p:cNvPr id="11" name="グループ化 10"/>
            <p:cNvGrpSpPr/>
            <p:nvPr/>
          </p:nvGrpSpPr>
          <p:grpSpPr>
            <a:xfrm>
              <a:off x="9715096" y="2301890"/>
              <a:ext cx="5214937" cy="5584810"/>
              <a:chOff x="9589963" y="2318477"/>
              <a:chExt cx="5214937" cy="5584810"/>
            </a:xfrm>
          </p:grpSpPr>
          <p:sp>
            <p:nvSpPr>
              <p:cNvPr id="5" name="正方形/長方形 4"/>
              <p:cNvSpPr/>
              <p:nvPr/>
            </p:nvSpPr>
            <p:spPr>
              <a:xfrm>
                <a:off x="9898052" y="2318477"/>
                <a:ext cx="3335627" cy="33635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正方形/長方形 9"/>
              <p:cNvSpPr/>
              <p:nvPr/>
            </p:nvSpPr>
            <p:spPr>
              <a:xfrm>
                <a:off x="9589963" y="4760037"/>
                <a:ext cx="5214937" cy="31432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19211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71405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FacilityTaConnectsRepository</a:t>
            </a:r>
            <a:endParaRPr lang="en-US" sz="4000" b="1"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851944" y="1385888"/>
            <a:ext cx="15993045" cy="4514850"/>
            <a:chOff x="1851944" y="1385888"/>
            <a:chExt cx="15993045" cy="4514850"/>
          </a:xfrm>
        </p:grpSpPr>
        <p:pic>
          <p:nvPicPr>
            <p:cNvPr id="5" name="図 4"/>
            <p:cNvPicPr>
              <a:picLocks noChangeAspect="1"/>
            </p:cNvPicPr>
            <p:nvPr/>
          </p:nvPicPr>
          <p:blipFill>
            <a:blip r:embed="rId3"/>
            <a:stretch>
              <a:fillRect/>
            </a:stretch>
          </p:blipFill>
          <p:spPr>
            <a:xfrm>
              <a:off x="1851944" y="1767346"/>
              <a:ext cx="15993045" cy="4133392"/>
            </a:xfrm>
            <a:prstGeom prst="rect">
              <a:avLst/>
            </a:prstGeom>
          </p:spPr>
        </p:pic>
        <p:sp>
          <p:nvSpPr>
            <p:cNvPr id="8" name="正方形/長方形 7"/>
            <p:cNvSpPr/>
            <p:nvPr/>
          </p:nvSpPr>
          <p:spPr>
            <a:xfrm>
              <a:off x="10844213" y="3486150"/>
              <a:ext cx="2371725" cy="500063"/>
            </a:xfrm>
            <a:prstGeom prst="rect">
              <a:avLst/>
            </a:prstGeom>
            <a:noFill/>
            <a:ln>
              <a:solidFill>
                <a:srgbClr val="FF0000"/>
              </a:solidFill>
            </a:ln>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9" name="角丸四角形吹き出し 8"/>
            <p:cNvSpPr/>
            <p:nvPr/>
          </p:nvSpPr>
          <p:spPr>
            <a:xfrm>
              <a:off x="10958513" y="1385888"/>
              <a:ext cx="4000500" cy="1771650"/>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err="1" smtClean="0">
                  <a:latin typeface="Times New Roman" panose="02020603050405020304" pitchFamily="18" charset="0"/>
                  <a:cs typeface="Times New Roman" panose="02020603050405020304" pitchFamily="18" charset="0"/>
                </a:rPr>
                <a:t>Kiểu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dữ</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liệu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của</a:t>
              </a:r>
              <a:r>
                <a:rPr lang="en-US" sz="2800" dirty="0" smtClean="0">
                  <a:latin typeface="Times New Roman" panose="02020603050405020304" pitchFamily="18" charset="0"/>
                  <a:cs typeface="Times New Roman" panose="02020603050405020304" pitchFamily="18" charset="0"/>
                </a:rPr>
                <a:t> Id </a:t>
              </a:r>
              <a:r>
                <a:rPr lang="en-US" sz="2800" dirty="0" err="1" smtClean="0">
                  <a:latin typeface="Times New Roman" panose="02020603050405020304" pitchFamily="18" charset="0"/>
                  <a:cs typeface="Times New Roman" panose="02020603050405020304" pitchFamily="18" charset="0"/>
                </a:rPr>
                <a:t>chính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ClassId</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đã</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tạo</a:t>
              </a:r>
              <a:endParaRPr lang="en-US" sz="28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67466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71405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FacilityTaConnectsService</a:t>
            </a:r>
            <a:endParaRPr lang="en-US" sz="4000" b="1" dirty="0">
              <a:latin typeface="Times New Roman" panose="02020603050405020304" pitchFamily="18" charset="0"/>
              <a:cs typeface="Times New Roman" panose="02020603050405020304" pitchFamily="18" charset="0"/>
            </a:endParaRPr>
          </a:p>
        </p:txBody>
      </p:sp>
      <p:grpSp>
        <p:nvGrpSpPr>
          <p:cNvPr id="11" name="グループ化 10"/>
          <p:cNvGrpSpPr/>
          <p:nvPr/>
        </p:nvGrpSpPr>
        <p:grpSpPr>
          <a:xfrm>
            <a:off x="8152872" y="953766"/>
            <a:ext cx="9692215" cy="9301105"/>
            <a:chOff x="8152872" y="953766"/>
            <a:chExt cx="9692215" cy="9301105"/>
          </a:xfrm>
        </p:grpSpPr>
        <p:grpSp>
          <p:nvGrpSpPr>
            <p:cNvPr id="6" name="グループ化 5"/>
            <p:cNvGrpSpPr/>
            <p:nvPr/>
          </p:nvGrpSpPr>
          <p:grpSpPr>
            <a:xfrm>
              <a:off x="8152872" y="953766"/>
              <a:ext cx="9692215" cy="9301105"/>
              <a:chOff x="8152872" y="953766"/>
              <a:chExt cx="9692215" cy="9301105"/>
            </a:xfrm>
          </p:grpSpPr>
          <p:pic>
            <p:nvPicPr>
              <p:cNvPr id="2" name="図 1"/>
              <p:cNvPicPr>
                <a:picLocks noChangeAspect="1"/>
              </p:cNvPicPr>
              <p:nvPr/>
            </p:nvPicPr>
            <p:blipFill>
              <a:blip r:embed="rId3"/>
              <a:stretch>
                <a:fillRect/>
              </a:stretch>
            </p:blipFill>
            <p:spPr>
              <a:xfrm>
                <a:off x="8152872" y="953766"/>
                <a:ext cx="9692215" cy="9301105"/>
              </a:xfrm>
              <a:prstGeom prst="rect">
                <a:avLst/>
              </a:prstGeom>
            </p:spPr>
          </p:pic>
          <p:sp>
            <p:nvSpPr>
              <p:cNvPr id="4" name="正方形/長方形 3"/>
              <p:cNvSpPr/>
              <p:nvPr/>
            </p:nvSpPr>
            <p:spPr>
              <a:xfrm>
                <a:off x="9901238" y="4514850"/>
                <a:ext cx="4143375" cy="3143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 name="正方形/長方形 6"/>
            <p:cNvSpPr/>
            <p:nvPr/>
          </p:nvSpPr>
          <p:spPr>
            <a:xfrm>
              <a:off x="9601200" y="6929438"/>
              <a:ext cx="4786313" cy="4572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 name="テキスト ボックス 12"/>
          <p:cNvSpPr txBox="1"/>
          <p:nvPr/>
        </p:nvSpPr>
        <p:spPr>
          <a:xfrm>
            <a:off x="419524" y="1272096"/>
            <a:ext cx="7115175" cy="1569660"/>
          </a:xfrm>
          <a:prstGeom prst="rect">
            <a:avLst/>
          </a:prstGeom>
          <a:noFill/>
        </p:spPr>
        <p:txBody>
          <a:bodyPr wrap="square" rtlCol="0">
            <a:spAutoFit/>
          </a:bodyPr>
          <a:lstStyle/>
          <a:p>
            <a:r>
              <a:rPr lang="en-US" sz="3200" dirty="0" err="1" smtClean="0">
                <a:latin typeface="Times New Roman" panose="02020603050405020304" pitchFamily="18" charset="0"/>
                <a:cs typeface="Times New Roman" panose="02020603050405020304" pitchFamily="18" charset="0"/>
              </a:rPr>
              <a:t>Với</a:t>
            </a:r>
            <a:r>
              <a:rPr lang="en-US" sz="3200" dirty="0" smtClean="0">
                <a:latin typeface="Times New Roman" panose="02020603050405020304" pitchFamily="18" charset="0"/>
                <a:cs typeface="Times New Roman" panose="02020603050405020304" pitchFamily="18" charset="0"/>
              </a:rPr>
              <a:t> Service Class </a:t>
            </a:r>
            <a:r>
              <a:rPr lang="en-US" sz="3200" dirty="0" err="1" smtClean="0">
                <a:latin typeface="Times New Roman" panose="02020603050405020304" pitchFamily="18" charset="0"/>
                <a:cs typeface="Times New Roman" panose="02020603050405020304" pitchFamily="18" charset="0"/>
              </a:rPr>
              <a:t>của</a:t>
            </a:r>
            <a:r>
              <a:rPr lang="en-US" sz="3200" dirty="0" smtClean="0">
                <a:latin typeface="Times New Roman" panose="02020603050405020304" pitchFamily="18" charset="0"/>
                <a:cs typeface="Times New Roman" panose="02020603050405020304" pitchFamily="18" charset="0"/>
              </a:rPr>
              <a:t> table </a:t>
            </a:r>
            <a:r>
              <a:rPr lang="en-US" sz="3200" dirty="0" err="1" smtClean="0">
                <a:latin typeface="Times New Roman" panose="02020603050405020304" pitchFamily="18" charset="0"/>
                <a:cs typeface="Times New Roman" panose="02020603050405020304" pitchFamily="18" charset="0"/>
              </a:rPr>
              <a:t>có</a:t>
            </a:r>
            <a:r>
              <a:rPr lang="en-US" sz="3200" dirty="0" smtClean="0">
                <a:latin typeface="Times New Roman" panose="02020603050405020304" pitchFamily="18" charset="0"/>
                <a:cs typeface="Times New Roman" panose="02020603050405020304" pitchFamily="18" charset="0"/>
              </a:rPr>
              <a:t> </a:t>
            </a:r>
            <a:r>
              <a:rPr lang="nn-NO" sz="3200" dirty="0">
                <a:latin typeface="Times New Roman" panose="02020603050405020304" pitchFamily="18" charset="0"/>
                <a:cs typeface="Times New Roman" panose="02020603050405020304" pitchFamily="18" charset="0"/>
              </a:rPr>
              <a:t>Composite Primary </a:t>
            </a:r>
            <a:r>
              <a:rPr lang="nn-NO" sz="3200" dirty="0" smtClean="0">
                <a:latin typeface="Times New Roman" panose="02020603050405020304" pitchFamily="18" charset="0"/>
                <a:cs typeface="Times New Roman" panose="02020603050405020304" pitchFamily="18" charset="0"/>
              </a:rPr>
              <a:t>Keys việc xử lý CRUD tương tự với table bình thường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7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71405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FacilityTaConnectsController</a:t>
            </a:r>
            <a:endParaRPr lang="en-US" sz="4000" b="1"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2893753" y="1127775"/>
            <a:ext cx="12036685" cy="9042367"/>
            <a:chOff x="2893753" y="1127775"/>
            <a:chExt cx="12036685" cy="9042367"/>
          </a:xfrm>
        </p:grpSpPr>
        <p:pic>
          <p:nvPicPr>
            <p:cNvPr id="9" name="図 8"/>
            <p:cNvPicPr>
              <a:picLocks noChangeAspect="1"/>
            </p:cNvPicPr>
            <p:nvPr/>
          </p:nvPicPr>
          <p:blipFill>
            <a:blip r:embed="rId3"/>
            <a:stretch>
              <a:fillRect/>
            </a:stretch>
          </p:blipFill>
          <p:spPr>
            <a:xfrm>
              <a:off x="2893753" y="1127775"/>
              <a:ext cx="12036685" cy="9042367"/>
            </a:xfrm>
            <a:prstGeom prst="rect">
              <a:avLst/>
            </a:prstGeom>
          </p:spPr>
        </p:pic>
        <p:sp>
          <p:nvSpPr>
            <p:cNvPr id="5" name="正方形/長方形 4"/>
            <p:cNvSpPr/>
            <p:nvPr/>
          </p:nvSpPr>
          <p:spPr>
            <a:xfrm>
              <a:off x="3671886" y="5359951"/>
              <a:ext cx="8858251" cy="76938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203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65599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Get All </a:t>
            </a:r>
            <a:r>
              <a:rPr lang="en-US" sz="4000" dirty="0" err="1" smtClean="0">
                <a:latin typeface="Times New Roman" panose="02020603050405020304" pitchFamily="18" charset="0"/>
                <a:cs typeface="Times New Roman" panose="02020603050405020304" pitchFamily="18" charset="0"/>
              </a:rPr>
              <a:t>FacilityTaConnect</a:t>
            </a:r>
            <a:endParaRPr lang="en-US" sz="4000" b="1" dirty="0">
              <a:latin typeface="Times New Roman" panose="02020603050405020304" pitchFamily="18" charset="0"/>
              <a:cs typeface="Times New Roman" panose="02020603050405020304" pitchFamily="18" charset="0"/>
            </a:endParaRPr>
          </a:p>
        </p:txBody>
      </p:sp>
      <p:grpSp>
        <p:nvGrpSpPr>
          <p:cNvPr id="3" name="グループ化 2"/>
          <p:cNvGrpSpPr/>
          <p:nvPr/>
        </p:nvGrpSpPr>
        <p:grpSpPr>
          <a:xfrm>
            <a:off x="1200149" y="1520503"/>
            <a:ext cx="15665555" cy="8485509"/>
            <a:chOff x="1200149" y="1520503"/>
            <a:chExt cx="15665555" cy="8485509"/>
          </a:xfrm>
        </p:grpSpPr>
        <p:pic>
          <p:nvPicPr>
            <p:cNvPr id="2" name="図 1"/>
            <p:cNvPicPr>
              <a:picLocks noChangeAspect="1"/>
            </p:cNvPicPr>
            <p:nvPr/>
          </p:nvPicPr>
          <p:blipFill>
            <a:blip r:embed="rId3"/>
            <a:stretch>
              <a:fillRect/>
            </a:stretch>
          </p:blipFill>
          <p:spPr>
            <a:xfrm>
              <a:off x="1200149" y="1520503"/>
              <a:ext cx="15665555" cy="8485509"/>
            </a:xfrm>
            <a:prstGeom prst="rect">
              <a:avLst/>
            </a:prstGeom>
          </p:spPr>
        </p:pic>
        <p:grpSp>
          <p:nvGrpSpPr>
            <p:cNvPr id="8" name="グループ化 7"/>
            <p:cNvGrpSpPr/>
            <p:nvPr/>
          </p:nvGrpSpPr>
          <p:grpSpPr>
            <a:xfrm>
              <a:off x="3599645" y="2076153"/>
              <a:ext cx="12390979" cy="7796509"/>
              <a:chOff x="4095482" y="2290466"/>
              <a:chExt cx="12390979" cy="7796509"/>
            </a:xfrm>
          </p:grpSpPr>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正方形/長方形 13"/>
              <p:cNvSpPr/>
              <p:nvPr/>
            </p:nvSpPr>
            <p:spPr>
              <a:xfrm>
                <a:off x="9144000"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a:t>
                </a:r>
                <a:r>
                  <a:rPr lang="en-US" dirty="0"/>
                  <a:t>://</a:t>
                </a:r>
                <a:r>
                  <a:rPr lang="en-US" dirty="0" smtClean="0"/>
                  <a:t>localhost:8080/api/v3</a:t>
                </a:r>
                <a:endParaRPr lang="en-US" dirty="0"/>
              </a:p>
            </p:txBody>
          </p:sp>
        </p:grpSp>
      </p:grpSp>
    </p:spTree>
    <p:extLst>
      <p:ext uri="{BB962C8B-B14F-4D97-AF65-F5344CB8AC3E}">
        <p14:creationId xmlns:p14="http://schemas.microsoft.com/office/powerpoint/2010/main" val="210406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65599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Get All </a:t>
            </a:r>
            <a:r>
              <a:rPr lang="en-US" sz="4000" dirty="0" err="1" smtClean="0">
                <a:latin typeface="Times New Roman" panose="02020603050405020304" pitchFamily="18" charset="0"/>
                <a:cs typeface="Times New Roman" panose="02020603050405020304" pitchFamily="18" charset="0"/>
              </a:rPr>
              <a:t>FacilityTaConnect</a:t>
            </a:r>
            <a:endParaRPr lang="en-US" sz="4000" b="1"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1569719" y="1378446"/>
            <a:ext cx="15312355" cy="8294192"/>
            <a:chOff x="1569719" y="1378446"/>
            <a:chExt cx="15312355" cy="8294192"/>
          </a:xfrm>
        </p:grpSpPr>
        <p:pic>
          <p:nvPicPr>
            <p:cNvPr id="4" name="図 3"/>
            <p:cNvPicPr>
              <a:picLocks noChangeAspect="1"/>
            </p:cNvPicPr>
            <p:nvPr/>
          </p:nvPicPr>
          <p:blipFill>
            <a:blip r:embed="rId3"/>
            <a:stretch>
              <a:fillRect/>
            </a:stretch>
          </p:blipFill>
          <p:spPr>
            <a:xfrm>
              <a:off x="1569719" y="1378446"/>
              <a:ext cx="15312355" cy="8294192"/>
            </a:xfrm>
            <a:prstGeom prst="rect">
              <a:avLst/>
            </a:prstGeom>
          </p:spPr>
        </p:pic>
        <p:grpSp>
          <p:nvGrpSpPr>
            <p:cNvPr id="8" name="グループ化 7"/>
            <p:cNvGrpSpPr/>
            <p:nvPr/>
          </p:nvGrpSpPr>
          <p:grpSpPr>
            <a:xfrm>
              <a:off x="3942545" y="1876129"/>
              <a:ext cx="12290966" cy="7796509"/>
              <a:chOff x="4095482" y="2290466"/>
              <a:chExt cx="12290966" cy="7796509"/>
            </a:xfrm>
          </p:grpSpPr>
          <p:sp>
            <p:nvSpPr>
              <p:cNvPr id="7" name="正方形/長方形 6"/>
              <p:cNvSpPr/>
              <p:nvPr/>
            </p:nvSpPr>
            <p:spPr>
              <a:xfrm>
                <a:off x="4095482" y="3361386"/>
                <a:ext cx="1572430"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正方形/長方形 13"/>
              <p:cNvSpPr/>
              <p:nvPr/>
            </p:nvSpPr>
            <p:spPr>
              <a:xfrm>
                <a:off x="9043987"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角丸四角形吹き出し 14"/>
              <p:cNvSpPr/>
              <p:nvPr/>
            </p:nvSpPr>
            <p:spPr>
              <a:xfrm>
                <a:off x="5859887" y="2290466"/>
                <a:ext cx="3494200"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a:t>
                </a:r>
                <a:r>
                  <a:rPr lang="en-US" dirty="0"/>
                  <a:t>://</a:t>
                </a:r>
                <a:r>
                  <a:rPr lang="en-US" dirty="0" smtClean="0"/>
                  <a:t>localhost:8080/api/v3/byId</a:t>
                </a:r>
                <a:endParaRPr lang="en-US" dirty="0"/>
              </a:p>
            </p:txBody>
          </p:sp>
        </p:grpSp>
        <p:sp>
          <p:nvSpPr>
            <p:cNvPr id="5" name="正方形/長方形 4"/>
            <p:cNvSpPr/>
            <p:nvPr/>
          </p:nvSpPr>
          <p:spPr>
            <a:xfrm>
              <a:off x="3600450" y="4175760"/>
              <a:ext cx="2106500" cy="5781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08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6" y="253783"/>
            <a:ext cx="71405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a:t>
            </a:r>
            <a:r>
              <a:rPr lang="en-US" sz="4000" b="1" dirty="0" err="1">
                <a:latin typeface="Times New Roman" panose="02020603050405020304" pitchFamily="18" charset="0"/>
                <a:cs typeface="Times New Roman" panose="02020603050405020304" pitchFamily="18" charset="0"/>
              </a:rPr>
              <a:t>IdClass</a:t>
            </a:r>
            <a:r>
              <a:rPr lang="en-US" sz="4000" b="1" dirty="0">
                <a:latin typeface="Times New Roman" panose="02020603050405020304" pitchFamily="18" charset="0"/>
                <a:cs typeface="Times New Roman" panose="02020603050405020304" pitchFamily="18" charset="0"/>
              </a:rPr>
              <a:t> so </a:t>
            </a:r>
            <a:r>
              <a:rPr lang="en-US" sz="4000" b="1" dirty="0" err="1">
                <a:latin typeface="Times New Roman" panose="02020603050405020304" pitchFamily="18" charset="0"/>
                <a:cs typeface="Times New Roman" panose="02020603050405020304" pitchFamily="18" charset="0"/>
              </a:rPr>
              <a:t>với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EmbeddedId</a:t>
            </a:r>
            <a:endParaRPr lang="en-US" sz="4000" b="1"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485775" y="1271588"/>
            <a:ext cx="16959263" cy="1384995"/>
          </a:xfrm>
          <a:prstGeom prst="rect">
            <a:avLst/>
          </a:prstGeom>
          <a:noFill/>
        </p:spPr>
        <p:txBody>
          <a:bodyPr wrap="square" rtlCol="0">
            <a:spAutoFit/>
          </a:bodyPr>
          <a:lstStyle/>
          <a:p>
            <a:pPr marL="457200" indent="-457200">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Qua </a:t>
            </a:r>
            <a:r>
              <a:rPr lang="en-US" sz="2800" dirty="0" err="1" smtClean="0">
                <a:latin typeface="Times New Roman" panose="02020603050405020304" pitchFamily="18" charset="0"/>
                <a:cs typeface="Times New Roman" panose="02020603050405020304" pitchFamily="18" charset="0"/>
              </a:rPr>
              <a:t>những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giải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thích</a:t>
            </a:r>
            <a:r>
              <a:rPr lang="en-US" sz="2800" dirty="0" smtClean="0">
                <a:latin typeface="Times New Roman" panose="02020603050405020304" pitchFamily="18" charset="0"/>
                <a:cs typeface="Times New Roman" panose="02020603050405020304" pitchFamily="18" charset="0"/>
              </a:rPr>
              <a:t> ở </a:t>
            </a:r>
            <a:r>
              <a:rPr lang="en-US" sz="2800" dirty="0" err="1" smtClean="0">
                <a:latin typeface="Times New Roman" panose="02020603050405020304" pitchFamily="18" charset="0"/>
                <a:cs typeface="Times New Roman" panose="02020603050405020304" pitchFamily="18" charset="0"/>
              </a:rPr>
              <a:t>trên</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nhận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thấy</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sự</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khác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biệt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giữa</a:t>
            </a:r>
            <a:r>
              <a:rPr lang="en-US" sz="2800"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IdClass</a:t>
            </a:r>
            <a:r>
              <a:rPr lang="en-US" sz="2800" b="1"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và</a:t>
            </a:r>
            <a:r>
              <a:rPr lang="en-US" sz="2800" b="1"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t>
            </a:r>
            <a:r>
              <a:rPr lang="en-US" sz="2800" b="1" dirty="0" err="1" smtClean="0">
                <a:latin typeface="Times New Roman" panose="02020603050405020304" pitchFamily="18" charset="0"/>
                <a:cs typeface="Times New Roman" panose="02020603050405020304" pitchFamily="18" charset="0"/>
              </a:rPr>
              <a:t>EmbeddedId</a:t>
            </a:r>
            <a:endParaRPr lang="en-US" sz="2800" b="1" dirty="0" smtClean="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t>
            </a:r>
            <a:r>
              <a:rPr lang="en-US" sz="2800" b="1" dirty="0" err="1" smtClean="0">
                <a:latin typeface="Times New Roman" panose="02020603050405020304" pitchFamily="18" charset="0"/>
                <a:cs typeface="Times New Roman" panose="02020603050405020304" pitchFamily="18" charset="0"/>
              </a:rPr>
              <a:t>IdClass</a:t>
            </a:r>
            <a:r>
              <a:rPr lang="en-US" sz="2800" b="1"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chúng</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cần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chỉ</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định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column 2 </a:t>
            </a:r>
            <a:r>
              <a:rPr lang="en-US" sz="2800" dirty="0" err="1" smtClean="0">
                <a:latin typeface="Times New Roman" panose="02020603050405020304" pitchFamily="18" charset="0"/>
                <a:cs typeface="Times New Roman" panose="02020603050405020304" pitchFamily="18" charset="0"/>
              </a:rPr>
              <a:t>lần</a:t>
            </a:r>
            <a:r>
              <a:rPr lang="en-US" sz="2800" dirty="0" smtClean="0">
                <a:latin typeface="Times New Roman" panose="02020603050405020304" pitchFamily="18" charset="0"/>
                <a:cs typeface="Times New Roman" panose="02020603050405020304" pitchFamily="18" charset="0"/>
              </a:rPr>
              <a:t>, 1 </a:t>
            </a:r>
            <a:r>
              <a:rPr lang="en-US" sz="2800" dirty="0" err="1" smtClean="0">
                <a:latin typeface="Times New Roman" panose="02020603050405020304" pitchFamily="18" charset="0"/>
                <a:cs typeface="Times New Roman" panose="02020603050405020304" pitchFamily="18" charset="0"/>
              </a:rPr>
              <a:t>lần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class Id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1 </a:t>
            </a:r>
            <a:r>
              <a:rPr lang="en-US" sz="2800" dirty="0" err="1" smtClean="0">
                <a:latin typeface="Times New Roman" panose="02020603050405020304" pitchFamily="18" charset="0"/>
                <a:cs typeface="Times New Roman" panose="02020603050405020304" pitchFamily="18" charset="0"/>
              </a:rPr>
              <a:t>lần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entity</a:t>
            </a: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t>
            </a:r>
            <a:r>
              <a:rPr lang="en-US" sz="2800" b="1" dirty="0" err="1" smtClean="0">
                <a:latin typeface="Times New Roman" panose="02020603050405020304" pitchFamily="18" charset="0"/>
                <a:cs typeface="Times New Roman" panose="02020603050405020304" pitchFamily="18" charset="0"/>
              </a:rPr>
              <a:t>EmbeddedId</a:t>
            </a:r>
            <a:r>
              <a:rPr lang="en-US" sz="2800" b="1"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Chỉ</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chỉ</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định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column 1 </a:t>
            </a:r>
            <a:r>
              <a:rPr lang="en-US" sz="2800" dirty="0" err="1" smtClean="0">
                <a:latin typeface="Times New Roman" panose="02020603050405020304" pitchFamily="18" charset="0"/>
                <a:cs typeface="Times New Roman" panose="02020603050405020304" pitchFamily="18" charset="0"/>
              </a:rPr>
              <a:t>lần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class Id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class id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entity</a:t>
            </a:r>
            <a:endParaRPr lang="en-US" sz="2800" dirty="0">
              <a:latin typeface="Times New Roman" panose="02020603050405020304" pitchFamily="18" charset="0"/>
              <a:cs typeface="Times New Roman" panose="02020603050405020304" pitchFamily="18" charset="0"/>
            </a:endParaRPr>
          </a:p>
        </p:txBody>
      </p:sp>
      <p:sp>
        <p:nvSpPr>
          <p:cNvPr id="3" name="テキスト ボックス 2"/>
          <p:cNvSpPr txBox="1"/>
          <p:nvPr/>
        </p:nvSpPr>
        <p:spPr>
          <a:xfrm>
            <a:off x="485775" y="2983275"/>
            <a:ext cx="15030450" cy="2246769"/>
          </a:xfrm>
          <a:prstGeom prst="rect">
            <a:avLst/>
          </a:prstGeom>
          <a:noFill/>
        </p:spPr>
        <p:txBody>
          <a:bodyPr wrap="square" rtlCol="0">
            <a:spAutoFit/>
          </a:bodyPr>
          <a:lstStyle/>
          <a:p>
            <a:pPr marL="457200" indent="-457200">
              <a:buFont typeface="Wingdings" panose="05000000000000000000" pitchFamily="2" charset="2"/>
              <a:buChar char="Ø"/>
            </a:pPr>
            <a:r>
              <a:rPr lang="en-US" sz="2800" dirty="0" err="1" smtClean="0">
                <a:latin typeface="Times New Roman" panose="02020603050405020304" pitchFamily="18" charset="0"/>
                <a:cs typeface="Times New Roman" panose="02020603050405020304" pitchFamily="18" charset="0"/>
              </a:rPr>
              <a:t>Cách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IdClass</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dirty="0" err="1" smtClean="0">
                <a:latin typeface="Times New Roman" panose="02020603050405020304" pitchFamily="18" charset="0"/>
                <a:cs typeface="Times New Roman" panose="02020603050405020304" pitchFamily="18" charset="0"/>
              </a:rPr>
              <a:t>EmbeddedId</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cũng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ảnh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hưởng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đến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truy</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vấn</a:t>
            </a:r>
            <a:r>
              <a:rPr lang="en-US" sz="2800" dirty="0" smtClean="0">
                <a:latin typeface="Times New Roman" panose="02020603050405020304" pitchFamily="18" charset="0"/>
                <a:cs typeface="Times New Roman" panose="02020603050405020304" pitchFamily="18" charset="0"/>
              </a:rPr>
              <a:t> JPQL </a:t>
            </a:r>
            <a:r>
              <a:rPr lang="en-US" sz="2800" dirty="0" err="1" smtClean="0">
                <a:latin typeface="Times New Roman" panose="02020603050405020304" pitchFamily="18" charset="0"/>
                <a:cs typeface="Times New Roman" panose="02020603050405020304" pitchFamily="18" charset="0"/>
              </a:rPr>
              <a:t>mà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chúng</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viết</a:t>
            </a:r>
            <a:r>
              <a:rPr lang="en-US" sz="2800" dirty="0" smtClean="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Với @IdClass , truy vấn đơn giản hơn một </a:t>
            </a:r>
            <a:r>
              <a:rPr lang="vi-VN" sz="2800" dirty="0" smtClean="0">
                <a:latin typeface="Times New Roman" panose="02020603050405020304" pitchFamily="18" charset="0"/>
                <a:cs typeface="Times New Roman" panose="02020603050405020304" pitchFamily="18" charset="0"/>
              </a:rPr>
              <a:t>chút</a:t>
            </a:r>
            <a:r>
              <a:rPr lang="en-US" sz="2800" dirty="0" smtClean="0">
                <a:latin typeface="Times New Roman" panose="02020603050405020304" pitchFamily="18" charset="0"/>
                <a:cs typeface="Times New Roman" panose="02020603050405020304" pitchFamily="18" charset="0"/>
              </a:rPr>
              <a:t>:</a:t>
            </a:r>
          </a:p>
          <a:p>
            <a:pPr lvl="1"/>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2800" b="1" dirty="0" err="1" smtClean="0">
                <a:solidFill>
                  <a:srgbClr val="FF0000"/>
                </a:solidFill>
                <a:latin typeface="Times New Roman" panose="02020603050405020304" pitchFamily="18" charset="0"/>
                <a:cs typeface="Times New Roman" panose="02020603050405020304" pitchFamily="18" charset="0"/>
              </a:rPr>
              <a:t>ta.commonFacilityCode</a:t>
            </a:r>
            <a:r>
              <a:rPr lang="en-US" sz="2800" dirty="0" smtClean="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FROM </a:t>
            </a:r>
            <a:r>
              <a:rPr lang="en-US" sz="2800" dirty="0" err="1" smtClean="0">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2800" dirty="0" smtClean="0">
                <a:solidFill>
                  <a:schemeClr val="tx2">
                    <a:lumMod val="60000"/>
                    <a:lumOff val="40000"/>
                  </a:schemeClr>
                </a:solidFill>
                <a:latin typeface="Times New Roman" panose="02020603050405020304" pitchFamily="18" charset="0"/>
                <a:cs typeface="Times New Roman" panose="02020603050405020304" pitchFamily="18" charset="0"/>
              </a:rPr>
              <a:t> ta</a:t>
            </a:r>
          </a:p>
          <a:p>
            <a:pPr marL="914400" lvl="1" indent="-457200">
              <a:buFont typeface="Arial" panose="020B0604020202020204" pitchFamily="34" charset="0"/>
              <a:buChar char="•"/>
            </a:pPr>
            <a:r>
              <a:rPr lang="en-US" sz="2800" dirty="0" err="1"/>
              <a:t>Với</a:t>
            </a:r>
            <a:r>
              <a:rPr lang="en-US" sz="2800" dirty="0"/>
              <a:t> </a:t>
            </a:r>
            <a:r>
              <a:rPr lang="en-US" sz="2800" i="1" dirty="0"/>
              <a:t>@</a:t>
            </a:r>
            <a:r>
              <a:rPr lang="en-US" sz="2800" i="1" dirty="0" err="1"/>
              <a:t>EmbeddedId</a:t>
            </a:r>
            <a:r>
              <a:rPr lang="en-US" sz="2800" dirty="0"/>
              <a:t> , </a:t>
            </a:r>
            <a:r>
              <a:rPr lang="en-US" sz="2800" dirty="0" err="1"/>
              <a:t>chúng</a:t>
            </a:r>
            <a:r>
              <a:rPr lang="en-US" sz="2800" dirty="0"/>
              <a:t> ta </a:t>
            </a:r>
            <a:r>
              <a:rPr lang="en-US" sz="2800" dirty="0" err="1"/>
              <a:t>phải</a:t>
            </a:r>
            <a:r>
              <a:rPr lang="en-US" sz="2800" dirty="0"/>
              <a:t> </a:t>
            </a:r>
            <a:r>
              <a:rPr lang="en-US" sz="2800" dirty="0" err="1"/>
              <a:t>thực</a:t>
            </a:r>
            <a:r>
              <a:rPr lang="en-US" sz="2800" dirty="0"/>
              <a:t> </a:t>
            </a:r>
            <a:r>
              <a:rPr lang="en-US" sz="2800" dirty="0" err="1"/>
              <a:t>hiện</a:t>
            </a:r>
            <a:r>
              <a:rPr lang="en-US" sz="2800" dirty="0"/>
              <a:t> </a:t>
            </a:r>
            <a:r>
              <a:rPr lang="en-US" sz="2800" dirty="0" err="1"/>
              <a:t>thêm</a:t>
            </a:r>
            <a:r>
              <a:rPr lang="en-US" sz="2800" dirty="0"/>
              <a:t> </a:t>
            </a:r>
            <a:r>
              <a:rPr lang="en-US" sz="2800" dirty="0" err="1"/>
              <a:t>một</a:t>
            </a:r>
            <a:r>
              <a:rPr lang="en-US" sz="2800" dirty="0"/>
              <a:t> </a:t>
            </a:r>
            <a:r>
              <a:rPr lang="en-US" sz="2800" dirty="0" err="1"/>
              <a:t>lần</a:t>
            </a:r>
            <a:r>
              <a:rPr lang="en-US" sz="2800" dirty="0"/>
              <a:t> </a:t>
            </a:r>
            <a:r>
              <a:rPr lang="en-US" sz="2800" dirty="0" err="1" smtClean="0"/>
              <a:t>duyệt</a:t>
            </a:r>
            <a:r>
              <a:rPr lang="en-US" sz="2800" dirty="0" smtClean="0"/>
              <a:t>:</a:t>
            </a:r>
          </a:p>
          <a:p>
            <a:pPr lvl="1"/>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2800" b="1" dirty="0" err="1" smtClean="0">
                <a:solidFill>
                  <a:srgbClr val="FF0000"/>
                </a:solidFill>
                <a:latin typeface="Times New Roman" panose="02020603050405020304" pitchFamily="18" charset="0"/>
                <a:cs typeface="Times New Roman" panose="02020603050405020304" pitchFamily="18" charset="0"/>
              </a:rPr>
              <a:t>ta.facilityTaConnectId.commonFacilityCode</a:t>
            </a:r>
            <a:r>
              <a:rPr lang="en-US" sz="2800" dirty="0" smtClean="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FROM </a:t>
            </a:r>
            <a:r>
              <a:rPr lang="en-US" sz="2800" dirty="0" err="1">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 ta</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62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2"/>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3"/>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1" name="Picture 21"/>
          <p:cNvPicPr>
            <a:picLocks noChangeAspect="1"/>
          </p:cNvPicPr>
          <p:nvPr/>
        </p:nvPicPr>
        <p:blipFill>
          <a:blip r:embed="rId3"/>
          <a:stretch>
            <a:fillRect/>
          </a:stretch>
        </p:blipFill>
        <p:spPr>
          <a:xfrm>
            <a:off x="1303020" y="1668780"/>
            <a:ext cx="6065520" cy="6675120"/>
          </a:xfrm>
          <a:prstGeom prst="rect">
            <a:avLst/>
          </a:prstGeom>
        </p:spPr>
      </p:pic>
      <p:sp>
        <p:nvSpPr>
          <p:cNvPr id="2" name="TextBox 21"/>
          <p:cNvSpPr txBox="1"/>
          <p:nvPr/>
        </p:nvSpPr>
        <p:spPr>
          <a:xfrm>
            <a:off x="8036417" y="3356693"/>
            <a:ext cx="9551496" cy="4062651"/>
          </a:xfrm>
          <a:prstGeom prst="rect">
            <a:avLst/>
          </a:prstGeom>
          <a:noFill/>
        </p:spPr>
        <p:txBody>
          <a:bodyPr wrap="square" lIns="0" tIns="0" rIns="0" bIns="0" rtlCol="0">
            <a:spAutoFit/>
          </a:bodyPr>
          <a:lstStyle/>
          <a:p>
            <a:pPr algn="ctr"/>
            <a:r>
              <a:rPr lang="en-US" altLang="zh-CN" sz="8800" b="1" spc="185" dirty="0" smtClean="0">
                <a:solidFill>
                  <a:srgbClr val="F5B3A5"/>
                </a:solidFill>
                <a:latin typeface="Times New Roman"/>
                <a:ea typeface="Times New Roman"/>
              </a:rPr>
              <a:t>3. </a:t>
            </a:r>
            <a:r>
              <a:rPr lang="en-US" altLang="zh-CN" sz="8800" b="1" spc="185" dirty="0" err="1" smtClean="0">
                <a:solidFill>
                  <a:srgbClr val="F5B3A5"/>
                </a:solidFill>
                <a:latin typeface="Times New Roman"/>
                <a:ea typeface="Times New Roman"/>
              </a:rPr>
              <a:t>Quan</a:t>
            </a:r>
            <a:r>
              <a:rPr lang="en-US" altLang="zh-CN" sz="8800" b="1" spc="185" dirty="0" smtClean="0">
                <a:solidFill>
                  <a:srgbClr val="F5B3A5"/>
                </a:solidFill>
                <a:latin typeface="Times New Roman"/>
                <a:ea typeface="Times New Roman"/>
              </a:rPr>
              <a:t> </a:t>
            </a:r>
            <a:r>
              <a:rPr lang="en-US" altLang="zh-CN" sz="8800" b="1" spc="185" dirty="0" err="1" smtClean="0">
                <a:solidFill>
                  <a:srgbClr val="F5B3A5"/>
                </a:solidFill>
                <a:latin typeface="Times New Roman"/>
                <a:ea typeface="Times New Roman"/>
              </a:rPr>
              <a:t>hệ</a:t>
            </a:r>
            <a:r>
              <a:rPr lang="en-US" altLang="zh-CN" sz="8800" b="1" spc="185" dirty="0" smtClean="0">
                <a:solidFill>
                  <a:srgbClr val="F5B3A5"/>
                </a:solidFill>
                <a:latin typeface="Times New Roman"/>
                <a:ea typeface="Times New Roman"/>
              </a:rPr>
              <a:t> table </a:t>
            </a:r>
            <a:r>
              <a:rPr lang="en-US" altLang="zh-CN" sz="8800" b="1" spc="185" dirty="0" err="1" smtClean="0">
                <a:solidFill>
                  <a:srgbClr val="F5B3A5"/>
                </a:solidFill>
                <a:latin typeface="Times New Roman"/>
                <a:ea typeface="Times New Roman"/>
              </a:rPr>
              <a:t>thông</a:t>
            </a:r>
            <a:r>
              <a:rPr lang="en-US" altLang="zh-CN" sz="8800" b="1" spc="185" dirty="0" smtClean="0">
                <a:solidFill>
                  <a:srgbClr val="F5B3A5"/>
                </a:solidFill>
                <a:latin typeface="Times New Roman"/>
                <a:ea typeface="Times New Roman"/>
              </a:rPr>
              <a:t> qua annotation</a:t>
            </a:r>
            <a:endParaRPr lang="en-US" altLang="zh-CN" sz="4400" spc="195" dirty="0">
              <a:solidFill>
                <a:srgbClr val="93DCDD"/>
              </a:solidFill>
              <a:latin typeface="Times New Roman"/>
              <a:ea typeface="Times New Roman"/>
            </a:endParaRPr>
          </a:p>
        </p:txBody>
      </p:sp>
    </p:spTree>
    <p:extLst>
      <p:ext uri="{BB962C8B-B14F-4D97-AF65-F5344CB8AC3E}">
        <p14:creationId xmlns:p14="http://schemas.microsoft.com/office/powerpoint/2010/main" val="29319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6" y="253783"/>
            <a:ext cx="635472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Các</a:t>
            </a:r>
            <a:r>
              <a:rPr lang="en-US" sz="4000" b="1" dirty="0" smtClean="0">
                <a:latin typeface="Times New Roman" panose="02020603050405020304" pitchFamily="18" charset="0"/>
                <a:cs typeface="Times New Roman" panose="02020603050405020304" pitchFamily="18" charset="0"/>
              </a:rPr>
              <a:t> annotation </a:t>
            </a:r>
            <a:r>
              <a:rPr lang="en-US" sz="4000" b="1" dirty="0" err="1" smtClean="0">
                <a:latin typeface="Times New Roman" panose="02020603050405020304" pitchFamily="18" charset="0"/>
                <a:cs typeface="Times New Roman" panose="02020603050405020304" pitchFamily="18" charset="0"/>
              </a:rPr>
              <a:t>quan</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hệ</a:t>
            </a:r>
            <a:endParaRPr lang="en-US" sz="4000" b="1"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485775" y="1271588"/>
            <a:ext cx="16959263" cy="954107"/>
          </a:xfrm>
          <a:prstGeom prst="rect">
            <a:avLst/>
          </a:prstGeom>
          <a:noFill/>
        </p:spPr>
        <p:txBody>
          <a:bodyPr wrap="square" rtlCol="0">
            <a:spAutoFit/>
          </a:bodyPr>
          <a:lstStyle/>
          <a:p>
            <a:pPr marL="457200" indent="-457200">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Trong Spring Data JPA </a:t>
            </a:r>
            <a:r>
              <a:rPr lang="en-US" sz="2800" dirty="0" err="1" smtClean="0">
                <a:latin typeface="Times New Roman" panose="02020603050405020304" pitchFamily="18" charset="0"/>
                <a:cs typeface="Times New Roman" panose="02020603050405020304" pitchFamily="18" charset="0"/>
              </a:rPr>
              <a:t>chúng</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liên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kết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entity </a:t>
            </a:r>
            <a:r>
              <a:rPr lang="en-US" sz="2800" dirty="0" err="1" smtClean="0">
                <a:latin typeface="Times New Roman" panose="02020603050405020304" pitchFamily="18" charset="0"/>
                <a:cs typeface="Times New Roman" panose="02020603050405020304" pitchFamily="18" charset="0"/>
              </a:rPr>
              <a:t>quan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hệ</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thông</a:t>
            </a:r>
            <a:r>
              <a:rPr lang="en-US" sz="2800" dirty="0" smtClean="0">
                <a:latin typeface="Times New Roman" panose="02020603050405020304" pitchFamily="18" charset="0"/>
                <a:cs typeface="Times New Roman" panose="02020603050405020304" pitchFamily="18" charset="0"/>
              </a:rPr>
              <a:t> qua </a:t>
            </a:r>
            <a:r>
              <a:rPr lang="en-US" sz="2800" dirty="0" err="1" smtClean="0">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annotation:</a:t>
            </a:r>
            <a:r>
              <a:rPr lang="en-US" sz="2800" b="1" dirty="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ManyToOne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t>
            </a:r>
            <a:r>
              <a:rPr lang="en-US" sz="2800" b="1" dirty="0" err="1" smtClean="0">
                <a:latin typeface="Times New Roman" panose="02020603050405020304" pitchFamily="18" charset="0"/>
                <a:cs typeface="Times New Roman" panose="02020603050405020304" pitchFamily="18" charset="0"/>
              </a:rPr>
              <a:t>OneToMany</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t>
            </a:r>
            <a:r>
              <a:rPr lang="en-US" sz="2800" b="1" dirty="0" err="1" smtClean="0">
                <a:latin typeface="Times New Roman" panose="02020603050405020304" pitchFamily="18" charset="0"/>
                <a:cs typeface="Times New Roman" panose="02020603050405020304" pitchFamily="18" charset="0"/>
              </a:rPr>
              <a:t>OneToOne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ManyToMany</a:t>
            </a:r>
            <a:endParaRPr lang="en-US" sz="2800" b="1" dirty="0" smtClean="0">
              <a:latin typeface="Times New Roman" panose="02020603050405020304" pitchFamily="18" charset="0"/>
              <a:cs typeface="Times New Roman" panose="02020603050405020304" pitchFamily="18" charset="0"/>
            </a:endParaRPr>
          </a:p>
        </p:txBody>
      </p:sp>
      <p:sp>
        <p:nvSpPr>
          <p:cNvPr id="6" name="テキスト ボックス 5"/>
          <p:cNvSpPr txBox="1"/>
          <p:nvPr/>
        </p:nvSpPr>
        <p:spPr>
          <a:xfrm>
            <a:off x="628650" y="2586038"/>
            <a:ext cx="16502063" cy="1384995"/>
          </a:xfrm>
          <a:prstGeom prst="rect">
            <a:avLst/>
          </a:prstGeom>
          <a:noFill/>
        </p:spPr>
        <p:txBody>
          <a:bodyPr wrap="square" rtlCol="0">
            <a:spAutoFit/>
          </a:bodyPr>
          <a:lstStyle/>
          <a:p>
            <a:pPr marL="285750" indent="-285750">
              <a:buFont typeface="Arial" panose="020B0604020202020204" pitchFamily="34" charset="0"/>
              <a:buChar char="•"/>
            </a:pPr>
            <a:r>
              <a:rPr lang="vi-VN" sz="2800" dirty="0">
                <a:latin typeface="+mj-lt"/>
              </a:rPr>
              <a:t> </a:t>
            </a:r>
            <a:r>
              <a:rPr lang="vi-VN" sz="2800" b="1" dirty="0">
                <a:latin typeface="+mj-lt"/>
              </a:rPr>
              <a:t>@</a:t>
            </a:r>
            <a:r>
              <a:rPr lang="vi-VN" sz="2800" b="1" dirty="0" smtClean="0">
                <a:latin typeface="+mj-lt"/>
              </a:rPr>
              <a:t>ManyToOne</a:t>
            </a:r>
            <a:r>
              <a:rPr lang="en-US" sz="2800" b="1" dirty="0" smtClean="0">
                <a:latin typeface="+mj-lt"/>
              </a:rPr>
              <a:t>:</a:t>
            </a:r>
            <a:r>
              <a:rPr lang="vi-VN" sz="2800" dirty="0">
                <a:latin typeface="+mj-lt"/>
              </a:rPr>
              <a:t>là liên kết phổ biến nhất, cũng có </a:t>
            </a:r>
            <a:r>
              <a:rPr lang="en-US" sz="2800" dirty="0" err="1" smtClean="0">
                <a:latin typeface="+mj-lt"/>
              </a:rPr>
              <a:t>liên</a:t>
            </a:r>
            <a:r>
              <a:rPr lang="en-US" sz="2800" dirty="0" smtClean="0">
                <a:latin typeface="+mj-lt"/>
              </a:rPr>
              <a:t> </a:t>
            </a:r>
            <a:r>
              <a:rPr lang="en-US" sz="2800" dirty="0" err="1" smtClean="0">
                <a:latin typeface="+mj-lt"/>
              </a:rPr>
              <a:t>kết</a:t>
            </a:r>
            <a:r>
              <a:rPr lang="en-US" sz="2800" dirty="0" smtClean="0">
                <a:latin typeface="+mj-lt"/>
              </a:rPr>
              <a:t> </a:t>
            </a:r>
            <a:r>
              <a:rPr lang="vi-VN" sz="2800" dirty="0" smtClean="0">
                <a:latin typeface="+mj-lt"/>
              </a:rPr>
              <a:t>trực </a:t>
            </a:r>
            <a:r>
              <a:rPr lang="vi-VN" sz="2800" dirty="0">
                <a:latin typeface="+mj-lt"/>
              </a:rPr>
              <a:t>tiếp trong cơ sở dữ liệu quan hệ (ví dụ: khóa ngoại), và do đó nó thiết lập mối quan hệ giữa </a:t>
            </a:r>
            <a:r>
              <a:rPr lang="en-US" sz="2800" dirty="0" smtClean="0">
                <a:latin typeface="+mj-lt"/>
              </a:rPr>
              <a:t>entity con</a:t>
            </a:r>
            <a:r>
              <a:rPr lang="vi-VN" sz="2800" dirty="0" smtClean="0">
                <a:latin typeface="+mj-lt"/>
              </a:rPr>
              <a:t> </a:t>
            </a:r>
            <a:r>
              <a:rPr lang="en-US" sz="2800" dirty="0" err="1" smtClean="0">
                <a:latin typeface="+mj-lt"/>
              </a:rPr>
              <a:t>và</a:t>
            </a:r>
            <a:r>
              <a:rPr lang="en-US" sz="2800" dirty="0" smtClean="0">
                <a:latin typeface="+mj-lt"/>
              </a:rPr>
              <a:t> entity cha </a:t>
            </a:r>
            <a:r>
              <a:rPr lang="vi-VN" sz="2800" dirty="0" smtClean="0">
                <a:latin typeface="+mj-lt"/>
              </a:rPr>
              <a:t>được </a:t>
            </a:r>
            <a:r>
              <a:rPr lang="vi-VN" sz="2800" dirty="0">
                <a:latin typeface="+mj-lt"/>
              </a:rPr>
              <a:t>dùng để thể hiện mối quan hệ nhiều – một giữa hai bảng trong một </a:t>
            </a:r>
            <a:r>
              <a:rPr lang="vi-VN" sz="2800" dirty="0" smtClean="0">
                <a:latin typeface="+mj-lt"/>
              </a:rPr>
              <a:t>database</a:t>
            </a:r>
            <a:endParaRPr lang="en-US" sz="2800" dirty="0">
              <a:latin typeface="+mj-lt"/>
            </a:endParaRPr>
          </a:p>
        </p:txBody>
      </p:sp>
      <p:sp>
        <p:nvSpPr>
          <p:cNvPr id="11" name="テキスト ボックス 10"/>
          <p:cNvSpPr txBox="1"/>
          <p:nvPr/>
        </p:nvSpPr>
        <p:spPr>
          <a:xfrm>
            <a:off x="628649" y="3998682"/>
            <a:ext cx="16502063" cy="2246769"/>
          </a:xfrm>
          <a:prstGeom prst="rect">
            <a:avLst/>
          </a:prstGeom>
          <a:noFill/>
        </p:spPr>
        <p:txBody>
          <a:bodyPr wrap="square" rtlCol="0">
            <a:spAutoFit/>
          </a:bodyPr>
          <a:lstStyle/>
          <a:p>
            <a:pPr marL="285750" indent="-285750">
              <a:buFont typeface="Arial" panose="020B0604020202020204" pitchFamily="34" charset="0"/>
              <a:buChar char="•"/>
            </a:pPr>
            <a:r>
              <a:rPr lang="vi-VN" sz="2800" dirty="0">
                <a:latin typeface="+mj-lt"/>
              </a:rPr>
              <a:t> </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OneToMany</a:t>
            </a:r>
            <a:r>
              <a:rPr lang="en-US" sz="2800" b="1" dirty="0">
                <a:latin typeface="Times New Roman" panose="02020603050405020304" pitchFamily="18" charset="0"/>
                <a:cs typeface="Times New Roman" panose="02020603050405020304" pitchFamily="18" charset="0"/>
              </a:rPr>
              <a:t> </a:t>
            </a:r>
            <a:r>
              <a:rPr lang="en-US" sz="2800" b="1" dirty="0" smtClean="0">
                <a:latin typeface="+mj-lt"/>
              </a:rPr>
              <a:t>:</a:t>
            </a:r>
            <a:r>
              <a:rPr lang="vi-VN" sz="2800" dirty="0" smtClean="0">
                <a:latin typeface="+mj-lt"/>
              </a:rPr>
              <a:t>là</a:t>
            </a:r>
            <a:r>
              <a:rPr lang="en-US" sz="2800" dirty="0" smtClean="0">
                <a:latin typeface="+mj-lt"/>
              </a:rPr>
              <a:t> </a:t>
            </a:r>
            <a:r>
              <a:rPr lang="en-US" sz="2800" dirty="0" err="1" smtClean="0">
                <a:latin typeface="+mj-lt"/>
              </a:rPr>
              <a:t>mối</a:t>
            </a:r>
            <a:r>
              <a:rPr lang="en-US" sz="2800" dirty="0" smtClean="0">
                <a:latin typeface="+mj-lt"/>
              </a:rPr>
              <a:t> </a:t>
            </a:r>
            <a:r>
              <a:rPr lang="en-US" sz="2800" dirty="0" err="1" smtClean="0">
                <a:latin typeface="+mj-lt"/>
              </a:rPr>
              <a:t>quan</a:t>
            </a:r>
            <a:r>
              <a:rPr lang="en-US" sz="2800" dirty="0" smtClean="0">
                <a:latin typeface="+mj-lt"/>
              </a:rPr>
              <a:t> </a:t>
            </a:r>
            <a:r>
              <a:rPr lang="en-US" sz="2800" dirty="0" err="1" smtClean="0">
                <a:latin typeface="+mj-lt"/>
              </a:rPr>
              <a:t>hệ</a:t>
            </a:r>
            <a:r>
              <a:rPr lang="en-US" sz="2800" dirty="0" smtClean="0">
                <a:latin typeface="+mj-lt"/>
              </a:rPr>
              <a:t> </a:t>
            </a:r>
            <a:r>
              <a:rPr lang="en-US" sz="2800" dirty="0" err="1" smtClean="0">
                <a:latin typeface="+mj-lt"/>
              </a:rPr>
              <a:t>một</a:t>
            </a:r>
            <a:r>
              <a:rPr lang="en-US" sz="2800" dirty="0" smtClean="0">
                <a:latin typeface="+mj-lt"/>
              </a:rPr>
              <a:t> </a:t>
            </a:r>
            <a:r>
              <a:rPr lang="en-US" sz="2800" dirty="0" err="1" smtClean="0">
                <a:latin typeface="+mj-lt"/>
              </a:rPr>
              <a:t>nhiều</a:t>
            </a:r>
            <a:r>
              <a:rPr lang="en-US" sz="2800" dirty="0" smtClean="0">
                <a:latin typeface="+mj-lt"/>
              </a:rPr>
              <a:t>, </a:t>
            </a:r>
            <a:r>
              <a:rPr lang="en-US" sz="2800" dirty="0" err="1" smtClean="0">
                <a:latin typeface="+mj-lt"/>
              </a:rPr>
              <a:t>liên</a:t>
            </a:r>
            <a:r>
              <a:rPr lang="en-US" sz="2800" dirty="0" smtClean="0">
                <a:latin typeface="+mj-lt"/>
              </a:rPr>
              <a:t> </a:t>
            </a:r>
            <a:r>
              <a:rPr lang="en-US" sz="2800" dirty="0" err="1" smtClean="0">
                <a:latin typeface="+mj-lt"/>
              </a:rPr>
              <a:t>kết</a:t>
            </a:r>
            <a:r>
              <a:rPr lang="en-US" sz="2800" dirty="0" smtClean="0">
                <a:latin typeface="+mj-lt"/>
              </a:rPr>
              <a:t> </a:t>
            </a:r>
            <a:r>
              <a:rPr lang="en-US" sz="2800" dirty="0" err="1" smtClean="0">
                <a:latin typeface="+mj-lt"/>
              </a:rPr>
              <a:t>một</a:t>
            </a:r>
            <a:r>
              <a:rPr lang="en-US" sz="2800" dirty="0" smtClean="0">
                <a:latin typeface="+mj-lt"/>
              </a:rPr>
              <a:t> entity cha </a:t>
            </a:r>
            <a:r>
              <a:rPr lang="en-US" sz="2800" dirty="0" err="1" smtClean="0">
                <a:latin typeface="+mj-lt"/>
              </a:rPr>
              <a:t>với</a:t>
            </a:r>
            <a:r>
              <a:rPr lang="en-US" sz="2800" dirty="0" smtClean="0">
                <a:latin typeface="+mj-lt"/>
              </a:rPr>
              <a:t> </a:t>
            </a:r>
            <a:r>
              <a:rPr lang="en-US" sz="2800" dirty="0" err="1" smtClean="0">
                <a:latin typeface="+mj-lt"/>
              </a:rPr>
              <a:t>nhiều</a:t>
            </a:r>
            <a:r>
              <a:rPr lang="en-US" sz="2800" dirty="0" smtClean="0">
                <a:latin typeface="+mj-lt"/>
              </a:rPr>
              <a:t> entity con</a:t>
            </a:r>
          </a:p>
          <a:p>
            <a:pPr marL="457200" indent="-457200">
              <a:buFontTx/>
              <a:buChar char="-"/>
            </a:pPr>
            <a:r>
              <a:rPr lang="en-US" sz="2800" dirty="0" err="1" smtClean="0">
                <a:latin typeface="+mj-lt"/>
              </a:rPr>
              <a:t>Nếu</a:t>
            </a:r>
            <a:r>
              <a:rPr lang="en-US" sz="2800" dirty="0" smtClean="0">
                <a:latin typeface="+mj-lt"/>
              </a:rPr>
              <a:t> </a:t>
            </a:r>
            <a:r>
              <a:rPr lang="en-US" sz="2800" dirty="0" err="1" smtClean="0">
                <a:latin typeface="+mj-lt"/>
              </a:rPr>
              <a:t>thể</a:t>
            </a:r>
            <a:r>
              <a:rPr lang="en-US" sz="2800" dirty="0" smtClean="0">
                <a:latin typeface="+mj-lt"/>
              </a:rPr>
              <a:t> </a:t>
            </a:r>
            <a:r>
              <a:rPr lang="en-US" sz="2800" dirty="0" err="1" smtClean="0">
                <a:latin typeface="+mj-lt"/>
              </a:rPr>
              <a:t>hiện</a:t>
            </a:r>
            <a:r>
              <a:rPr lang="en-US" sz="2800" dirty="0" smtClean="0">
                <a:latin typeface="+mj-lt"/>
              </a:rPr>
              <a:t> @</a:t>
            </a:r>
            <a:r>
              <a:rPr lang="en-US" sz="2800" dirty="0" err="1" smtClean="0">
                <a:latin typeface="+mj-lt"/>
              </a:rPr>
              <a:t>OneToMay</a:t>
            </a:r>
            <a:r>
              <a:rPr lang="en-US" sz="2800" dirty="0" smtClean="0">
                <a:latin typeface="+mj-lt"/>
              </a:rPr>
              <a:t> ở Entity cha </a:t>
            </a:r>
            <a:r>
              <a:rPr lang="en-US" sz="2800" dirty="0" err="1" smtClean="0">
                <a:latin typeface="+mj-lt"/>
              </a:rPr>
              <a:t>nhưng</a:t>
            </a:r>
            <a:r>
              <a:rPr lang="en-US" sz="2800" dirty="0" smtClean="0">
                <a:latin typeface="+mj-lt"/>
              </a:rPr>
              <a:t> </a:t>
            </a:r>
            <a:r>
              <a:rPr lang="en-US" sz="2800" dirty="0" err="1" smtClean="0">
                <a:latin typeface="+mj-lt"/>
              </a:rPr>
              <a:t>không</a:t>
            </a:r>
            <a:r>
              <a:rPr lang="en-US" sz="2800" dirty="0" smtClean="0">
                <a:latin typeface="+mj-lt"/>
              </a:rPr>
              <a:t> </a:t>
            </a:r>
            <a:r>
              <a:rPr lang="en-US" sz="2800" dirty="0" err="1" smtClean="0">
                <a:latin typeface="+mj-lt"/>
              </a:rPr>
              <a:t>có</a:t>
            </a:r>
            <a:r>
              <a:rPr lang="en-US" sz="2800" dirty="0" smtClean="0">
                <a:latin typeface="+mj-lt"/>
              </a:rPr>
              <a:t> @</a:t>
            </a:r>
            <a:r>
              <a:rPr lang="en-US" sz="2800" dirty="0" err="1" smtClean="0">
                <a:latin typeface="+mj-lt"/>
              </a:rPr>
              <a:t>ManyToOne</a:t>
            </a:r>
            <a:r>
              <a:rPr lang="en-US" sz="2800" dirty="0" smtClean="0">
                <a:latin typeface="+mj-lt"/>
              </a:rPr>
              <a:t> ở entity con </a:t>
            </a:r>
            <a:r>
              <a:rPr lang="en-US" sz="2800" dirty="0" err="1" smtClean="0">
                <a:latin typeface="+mj-lt"/>
              </a:rPr>
              <a:t>thì</a:t>
            </a:r>
            <a:r>
              <a:rPr lang="en-US" sz="2800" dirty="0" smtClean="0">
                <a:latin typeface="+mj-lt"/>
              </a:rPr>
              <a:t> </a:t>
            </a:r>
            <a:r>
              <a:rPr lang="en-US" sz="2800" dirty="0"/>
              <a:t>@</a:t>
            </a:r>
            <a:r>
              <a:rPr lang="en-US" sz="2800" dirty="0" err="1"/>
              <a:t>OneToMay</a:t>
            </a:r>
            <a:r>
              <a:rPr lang="en-US" sz="2800" dirty="0"/>
              <a:t> </a:t>
            </a:r>
            <a:r>
              <a:rPr lang="en-US" sz="2800" dirty="0" smtClean="0"/>
              <a:t> </a:t>
            </a:r>
            <a:r>
              <a:rPr lang="en-US" sz="2800" dirty="0" err="1" smtClean="0"/>
              <a:t>là</a:t>
            </a:r>
            <a:r>
              <a:rPr lang="en-US" sz="2800" dirty="0" smtClean="0"/>
              <a:t> </a:t>
            </a:r>
            <a:r>
              <a:rPr lang="en-US" sz="2800" dirty="0" err="1" smtClean="0"/>
              <a:t>liên</a:t>
            </a:r>
            <a:r>
              <a:rPr lang="en-US" sz="2800" dirty="0" smtClean="0"/>
              <a:t> </a:t>
            </a:r>
            <a:r>
              <a:rPr lang="en-US" sz="2800" dirty="0" err="1" smtClean="0"/>
              <a:t>kết</a:t>
            </a:r>
            <a:r>
              <a:rPr lang="en-US" sz="2800" dirty="0" smtClean="0"/>
              <a:t> </a:t>
            </a:r>
            <a:r>
              <a:rPr lang="en-US" sz="2800" dirty="0" err="1" smtClean="0"/>
              <a:t>một</a:t>
            </a:r>
            <a:r>
              <a:rPr lang="en-US" sz="2800" dirty="0" smtClean="0"/>
              <a:t> </a:t>
            </a:r>
            <a:r>
              <a:rPr lang="en-US" sz="2800" dirty="0" err="1" smtClean="0"/>
              <a:t>chiều</a:t>
            </a:r>
            <a:r>
              <a:rPr lang="en-US" sz="2800" dirty="0" smtClean="0"/>
              <a:t>, </a:t>
            </a:r>
            <a:r>
              <a:rPr lang="en-US" sz="2800" dirty="0" err="1"/>
              <a:t>n</a:t>
            </a:r>
            <a:r>
              <a:rPr lang="en-US" sz="2800" dirty="0" err="1" smtClean="0"/>
              <a:t>ếu</a:t>
            </a:r>
            <a:r>
              <a:rPr lang="en-US" sz="2800" dirty="0" smtClean="0"/>
              <a:t> </a:t>
            </a:r>
            <a:r>
              <a:rPr lang="en-US" sz="2800" dirty="0" err="1"/>
              <a:t>có</a:t>
            </a:r>
            <a:r>
              <a:rPr lang="en-US" sz="2800" dirty="0"/>
              <a:t> @</a:t>
            </a:r>
            <a:r>
              <a:rPr lang="en-US" sz="2800" dirty="0" err="1"/>
              <a:t>ManyToOne</a:t>
            </a:r>
            <a:r>
              <a:rPr lang="en-US" sz="2800" dirty="0"/>
              <a:t> ở entity con </a:t>
            </a:r>
            <a:r>
              <a:rPr lang="en-US" sz="2800" dirty="0" err="1"/>
              <a:t>thì</a:t>
            </a:r>
            <a:r>
              <a:rPr lang="en-US" sz="2800" dirty="0"/>
              <a:t> @</a:t>
            </a:r>
            <a:r>
              <a:rPr lang="en-US" sz="2800" dirty="0" err="1"/>
              <a:t>OneToMay</a:t>
            </a:r>
            <a:r>
              <a:rPr lang="en-US" sz="2800" dirty="0"/>
              <a:t>  </a:t>
            </a:r>
            <a:r>
              <a:rPr lang="en-US" sz="2800" dirty="0" err="1"/>
              <a:t>là</a:t>
            </a:r>
            <a:r>
              <a:rPr lang="en-US" sz="2800" dirty="0"/>
              <a:t> </a:t>
            </a:r>
            <a:r>
              <a:rPr lang="en-US" sz="2800" dirty="0" err="1"/>
              <a:t>liên</a:t>
            </a:r>
            <a:r>
              <a:rPr lang="en-US" sz="2800" dirty="0"/>
              <a:t> </a:t>
            </a:r>
            <a:r>
              <a:rPr lang="en-US" sz="2800" dirty="0" err="1"/>
              <a:t>kết</a:t>
            </a:r>
            <a:r>
              <a:rPr lang="en-US" sz="2800" dirty="0"/>
              <a:t> </a:t>
            </a:r>
            <a:r>
              <a:rPr lang="en-US" sz="2800" dirty="0" err="1" smtClean="0"/>
              <a:t>hai</a:t>
            </a:r>
            <a:r>
              <a:rPr lang="en-US" sz="2800" dirty="0" smtClean="0"/>
              <a:t> </a:t>
            </a:r>
            <a:r>
              <a:rPr lang="en-US" sz="2800" dirty="0" err="1" smtClean="0"/>
              <a:t>chiều</a:t>
            </a:r>
            <a:endParaRPr lang="en-US" sz="2800" dirty="0" smtClean="0"/>
          </a:p>
          <a:p>
            <a:pPr marL="457200" indent="-457200">
              <a:buFontTx/>
              <a:buChar char="-"/>
            </a:pPr>
            <a:r>
              <a:rPr lang="en-US" sz="2800" dirty="0" err="1" smtClean="0"/>
              <a:t>Với</a:t>
            </a:r>
            <a:r>
              <a:rPr lang="en-US" sz="2800" dirty="0" smtClean="0"/>
              <a:t> </a:t>
            </a:r>
            <a:r>
              <a:rPr lang="en-US" sz="2800" dirty="0" err="1" smtClean="0"/>
              <a:t>liên</a:t>
            </a:r>
            <a:r>
              <a:rPr lang="en-US" sz="2800" dirty="0" smtClean="0"/>
              <a:t> </a:t>
            </a:r>
            <a:r>
              <a:rPr lang="en-US" sz="2800" dirty="0" err="1" smtClean="0"/>
              <a:t>kết</a:t>
            </a:r>
            <a:r>
              <a:rPr lang="en-US" sz="2800" dirty="0" smtClean="0"/>
              <a:t> 2 </a:t>
            </a:r>
            <a:r>
              <a:rPr lang="en-US" sz="2800" dirty="0" err="1" smtClean="0"/>
              <a:t>chiều</a:t>
            </a:r>
            <a:r>
              <a:rPr lang="en-US" sz="2800" dirty="0" smtClean="0"/>
              <a:t> </a:t>
            </a:r>
            <a:r>
              <a:rPr lang="en-US" sz="2800" dirty="0" err="1" smtClean="0"/>
              <a:t>nhà</a:t>
            </a:r>
            <a:r>
              <a:rPr lang="en-US" sz="2800" dirty="0" smtClean="0"/>
              <a:t> </a:t>
            </a:r>
            <a:r>
              <a:rPr lang="en-US" sz="2800" dirty="0" err="1" smtClean="0"/>
              <a:t>phát</a:t>
            </a:r>
            <a:r>
              <a:rPr lang="en-US" sz="2800" dirty="0" smtClean="0"/>
              <a:t> </a:t>
            </a:r>
            <a:r>
              <a:rPr lang="en-US" sz="2800" dirty="0" err="1" smtClean="0"/>
              <a:t>triển</a:t>
            </a:r>
            <a:r>
              <a:rPr lang="en-US" sz="2800" dirty="0" smtClean="0"/>
              <a:t> </a:t>
            </a:r>
            <a:r>
              <a:rPr lang="en-US" sz="2800" dirty="0" err="1" smtClean="0"/>
              <a:t>có</a:t>
            </a:r>
            <a:r>
              <a:rPr lang="en-US" sz="2800" dirty="0" smtClean="0"/>
              <a:t> </a:t>
            </a:r>
            <a:r>
              <a:rPr lang="en-US" sz="2800" dirty="0" err="1" smtClean="0"/>
              <a:t>thể</a:t>
            </a:r>
            <a:r>
              <a:rPr lang="en-US" sz="2800" dirty="0" smtClean="0"/>
              <a:t> </a:t>
            </a:r>
            <a:r>
              <a:rPr lang="en-US" sz="2800" dirty="0" err="1" smtClean="0"/>
              <a:t>điều</a:t>
            </a:r>
            <a:r>
              <a:rPr lang="en-US" sz="2800" dirty="0" smtClean="0"/>
              <a:t> </a:t>
            </a:r>
            <a:r>
              <a:rPr lang="en-US" sz="2800" dirty="0" err="1" smtClean="0"/>
              <a:t>hướng</a:t>
            </a:r>
            <a:r>
              <a:rPr lang="en-US" sz="2800" dirty="0" smtClean="0"/>
              <a:t> </a:t>
            </a:r>
            <a:r>
              <a:rPr lang="en-US" sz="2800" dirty="0" err="1" smtClean="0"/>
              <a:t>mối</a:t>
            </a:r>
            <a:r>
              <a:rPr lang="en-US" sz="2800" dirty="0" smtClean="0"/>
              <a:t> </a:t>
            </a:r>
            <a:r>
              <a:rPr lang="en-US" sz="2800" dirty="0" err="1" smtClean="0"/>
              <a:t>quan</a:t>
            </a:r>
            <a:r>
              <a:rPr lang="en-US" sz="2800" dirty="0" smtClean="0"/>
              <a:t> </a:t>
            </a:r>
            <a:r>
              <a:rPr lang="en-US" sz="2800" dirty="0" err="1" smtClean="0"/>
              <a:t>hệ</a:t>
            </a:r>
            <a:r>
              <a:rPr lang="en-US" sz="2800" dirty="0" smtClean="0"/>
              <a:t> </a:t>
            </a:r>
            <a:r>
              <a:rPr lang="en-US" sz="2800" dirty="0" err="1" smtClean="0"/>
              <a:t>này</a:t>
            </a:r>
            <a:r>
              <a:rPr lang="en-US" sz="2800" dirty="0" smtClean="0"/>
              <a:t> </a:t>
            </a:r>
            <a:r>
              <a:rPr lang="en-US" sz="2800" dirty="0" err="1" smtClean="0"/>
              <a:t>từ</a:t>
            </a:r>
            <a:r>
              <a:rPr lang="en-US" sz="2800" dirty="0" smtClean="0"/>
              <a:t> </a:t>
            </a:r>
            <a:r>
              <a:rPr lang="en-US" sz="2800" dirty="0" err="1" smtClean="0"/>
              <a:t>cả</a:t>
            </a:r>
            <a:r>
              <a:rPr lang="en-US" sz="2800" dirty="0" smtClean="0"/>
              <a:t> </a:t>
            </a:r>
            <a:r>
              <a:rPr lang="en-US" sz="2800" dirty="0" err="1" smtClean="0"/>
              <a:t>hai</a:t>
            </a:r>
            <a:r>
              <a:rPr lang="en-US" sz="2800" dirty="0" smtClean="0"/>
              <a:t> </a:t>
            </a:r>
            <a:r>
              <a:rPr lang="en-US" sz="2800" dirty="0" err="1" smtClean="0"/>
              <a:t>đầu</a:t>
            </a:r>
            <a:endParaRPr lang="en-US" sz="2800" dirty="0"/>
          </a:p>
          <a:p>
            <a:endParaRPr lang="en-US" sz="2800" dirty="0">
              <a:latin typeface="+mj-lt"/>
            </a:endParaRPr>
          </a:p>
        </p:txBody>
      </p:sp>
      <p:sp>
        <p:nvSpPr>
          <p:cNvPr id="13" name="テキスト ボックス 12"/>
          <p:cNvSpPr txBox="1"/>
          <p:nvPr/>
        </p:nvSpPr>
        <p:spPr>
          <a:xfrm>
            <a:off x="628645" y="6245451"/>
            <a:ext cx="16502063" cy="523220"/>
          </a:xfrm>
          <a:prstGeom prst="rect">
            <a:avLst/>
          </a:prstGeom>
          <a:noFill/>
        </p:spPr>
        <p:txBody>
          <a:bodyPr wrap="square" rtlCol="0">
            <a:spAutoFit/>
          </a:bodyPr>
          <a:lstStyle/>
          <a:p>
            <a:pPr marL="285750" indent="-285750">
              <a:buFont typeface="Arial" panose="020B0604020202020204" pitchFamily="34" charset="0"/>
              <a:buChar char="•"/>
            </a:pPr>
            <a:r>
              <a:rPr lang="vi-VN" sz="2800" dirty="0">
                <a:latin typeface="+mj-lt"/>
              </a:rPr>
              <a:t> </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OneToOne</a:t>
            </a:r>
            <a:r>
              <a:rPr lang="en-US" sz="2800" b="1" dirty="0">
                <a:latin typeface="Times New Roman" panose="02020603050405020304" pitchFamily="18" charset="0"/>
                <a:cs typeface="Times New Roman" panose="02020603050405020304" pitchFamily="18" charset="0"/>
              </a:rPr>
              <a:t> </a:t>
            </a:r>
            <a:r>
              <a:rPr lang="en-US" sz="2800" b="1" dirty="0" smtClean="0">
                <a:latin typeface="+mj-lt"/>
              </a:rPr>
              <a:t>:</a:t>
            </a:r>
            <a:r>
              <a:rPr lang="vi-VN" sz="2800" dirty="0">
                <a:latin typeface="+mj-lt"/>
              </a:rPr>
              <a:t>là </a:t>
            </a:r>
            <a:r>
              <a:rPr lang="en-US" sz="2800" dirty="0" err="1" smtClean="0">
                <a:latin typeface="+mj-lt"/>
              </a:rPr>
              <a:t>mối</a:t>
            </a:r>
            <a:r>
              <a:rPr lang="en-US" sz="2800" dirty="0" smtClean="0">
                <a:latin typeface="+mj-lt"/>
              </a:rPr>
              <a:t> </a:t>
            </a:r>
            <a:r>
              <a:rPr lang="en-US" sz="2800" dirty="0" err="1" smtClean="0">
                <a:latin typeface="+mj-lt"/>
              </a:rPr>
              <a:t>quan</a:t>
            </a:r>
            <a:r>
              <a:rPr lang="en-US" sz="2800" dirty="0" smtClean="0">
                <a:latin typeface="+mj-lt"/>
              </a:rPr>
              <a:t> </a:t>
            </a:r>
            <a:r>
              <a:rPr lang="en-US" sz="2800" dirty="0" err="1" smtClean="0">
                <a:latin typeface="+mj-lt"/>
              </a:rPr>
              <a:t>hệ</a:t>
            </a:r>
            <a:r>
              <a:rPr lang="en-US" sz="2800" dirty="0" smtClean="0">
                <a:latin typeface="+mj-lt"/>
              </a:rPr>
              <a:t> 1-1 </a:t>
            </a:r>
            <a:r>
              <a:rPr lang="en-US" sz="2800" dirty="0" err="1" smtClean="0">
                <a:latin typeface="+mj-lt"/>
              </a:rPr>
              <a:t>liên</a:t>
            </a:r>
            <a:r>
              <a:rPr lang="en-US" sz="2800" dirty="0" smtClean="0">
                <a:latin typeface="+mj-lt"/>
              </a:rPr>
              <a:t> </a:t>
            </a:r>
            <a:r>
              <a:rPr lang="en-US" sz="2800" dirty="0" err="1" smtClean="0">
                <a:latin typeface="+mj-lt"/>
              </a:rPr>
              <a:t>kết</a:t>
            </a:r>
            <a:r>
              <a:rPr lang="en-US" sz="2800" dirty="0" smtClean="0">
                <a:latin typeface="+mj-lt"/>
              </a:rPr>
              <a:t> 2 entity </a:t>
            </a:r>
            <a:r>
              <a:rPr lang="en-US" sz="2800" dirty="0" err="1" smtClean="0">
                <a:latin typeface="+mj-lt"/>
              </a:rPr>
              <a:t>bởi</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ngoại</a:t>
            </a:r>
            <a:r>
              <a:rPr lang="en-US" sz="2800" dirty="0" smtClean="0">
                <a:latin typeface="+mj-lt"/>
              </a:rPr>
              <a:t> </a:t>
            </a:r>
            <a:r>
              <a:rPr lang="en-US" sz="2800" dirty="0" err="1" smtClean="0">
                <a:latin typeface="+mj-lt"/>
              </a:rPr>
              <a:t>tương</a:t>
            </a:r>
            <a:r>
              <a:rPr lang="en-US" sz="2800" dirty="0" smtClean="0">
                <a:latin typeface="+mj-lt"/>
              </a:rPr>
              <a:t> </a:t>
            </a:r>
            <a:r>
              <a:rPr lang="en-US" sz="2800" dirty="0" err="1" smtClean="0">
                <a:latin typeface="+mj-lt"/>
              </a:rPr>
              <a:t>ứng</a:t>
            </a:r>
            <a:r>
              <a:rPr lang="en-US" sz="2800" dirty="0" smtClean="0">
                <a:latin typeface="+mj-lt"/>
              </a:rPr>
              <a:t> </a:t>
            </a:r>
            <a:r>
              <a:rPr lang="en-US" sz="2800" dirty="0" err="1" smtClean="0">
                <a:latin typeface="+mj-lt"/>
              </a:rPr>
              <a:t>với</a:t>
            </a:r>
            <a:r>
              <a:rPr lang="en-US" sz="2800" dirty="0" smtClean="0">
                <a:latin typeface="+mj-lt"/>
              </a:rPr>
              <a:t> </a:t>
            </a:r>
            <a:r>
              <a:rPr lang="en-US" sz="2800" dirty="0" err="1" smtClean="0">
                <a:latin typeface="+mj-lt"/>
              </a:rPr>
              <a:t>quan</a:t>
            </a:r>
            <a:r>
              <a:rPr lang="en-US" sz="2800" dirty="0" smtClean="0">
                <a:latin typeface="+mj-lt"/>
              </a:rPr>
              <a:t> </a:t>
            </a:r>
            <a:r>
              <a:rPr lang="en-US" sz="2800" dirty="0" err="1" smtClean="0">
                <a:latin typeface="+mj-lt"/>
              </a:rPr>
              <a:t>hệ</a:t>
            </a:r>
            <a:r>
              <a:rPr lang="en-US" sz="2800" dirty="0" smtClean="0">
                <a:latin typeface="+mj-lt"/>
              </a:rPr>
              <a:t> </a:t>
            </a:r>
            <a:r>
              <a:rPr lang="en-US" sz="2800" dirty="0" err="1" smtClean="0">
                <a:latin typeface="+mj-lt"/>
              </a:rPr>
              <a:t>trong</a:t>
            </a:r>
            <a:r>
              <a:rPr lang="en-US" sz="2800" dirty="0" smtClean="0">
                <a:latin typeface="+mj-lt"/>
              </a:rPr>
              <a:t> </a:t>
            </a:r>
            <a:r>
              <a:rPr lang="en-US" sz="2800" dirty="0" err="1" smtClean="0">
                <a:latin typeface="+mj-lt"/>
              </a:rPr>
              <a:t>cơ</a:t>
            </a:r>
            <a:r>
              <a:rPr lang="en-US" sz="2800" dirty="0" smtClean="0">
                <a:latin typeface="+mj-lt"/>
              </a:rPr>
              <a:t> </a:t>
            </a:r>
            <a:r>
              <a:rPr lang="en-US" sz="2800" dirty="0" err="1" smtClean="0">
                <a:latin typeface="+mj-lt"/>
              </a:rPr>
              <a:t>sở</a:t>
            </a:r>
            <a:r>
              <a:rPr lang="en-US" sz="2800" dirty="0" smtClean="0">
                <a:latin typeface="+mj-lt"/>
              </a:rPr>
              <a:t> </a:t>
            </a:r>
            <a:r>
              <a:rPr lang="en-US" sz="2800" dirty="0" err="1" smtClean="0">
                <a:latin typeface="+mj-lt"/>
              </a:rPr>
              <a:t>dữ</a:t>
            </a:r>
            <a:r>
              <a:rPr lang="en-US" sz="2800" dirty="0" smtClean="0">
                <a:latin typeface="+mj-lt"/>
              </a:rPr>
              <a:t> </a:t>
            </a:r>
            <a:r>
              <a:rPr lang="en-US" sz="2800" dirty="0" err="1" smtClean="0">
                <a:latin typeface="+mj-lt"/>
              </a:rPr>
              <a:t>liệu</a:t>
            </a:r>
            <a:endParaRPr lang="en-US" sz="2800" dirty="0">
              <a:latin typeface="+mj-lt"/>
            </a:endParaRPr>
          </a:p>
        </p:txBody>
      </p:sp>
      <p:sp>
        <p:nvSpPr>
          <p:cNvPr id="14" name="テキスト ボックス 13"/>
          <p:cNvSpPr txBox="1"/>
          <p:nvPr/>
        </p:nvSpPr>
        <p:spPr>
          <a:xfrm>
            <a:off x="628650" y="7328734"/>
            <a:ext cx="16502063" cy="954107"/>
          </a:xfrm>
          <a:prstGeom prst="rect">
            <a:avLst/>
          </a:prstGeom>
          <a:noFill/>
        </p:spPr>
        <p:txBody>
          <a:bodyPr wrap="square" rtlCol="0">
            <a:spAutoFit/>
          </a:bodyPr>
          <a:lstStyle/>
          <a:p>
            <a:pPr marL="285750" indent="-285750">
              <a:buFont typeface="Arial" panose="020B0604020202020204" pitchFamily="34" charset="0"/>
              <a:buChar char="•"/>
            </a:pPr>
            <a:r>
              <a:rPr lang="vi-VN" sz="2800" dirty="0">
                <a:latin typeface="+mj-lt"/>
              </a:rPr>
              <a:t> </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ManyToMany</a:t>
            </a:r>
            <a:r>
              <a:rPr lang="en-US" sz="2800" b="1" dirty="0">
                <a:latin typeface="Times New Roman" panose="02020603050405020304" pitchFamily="18" charset="0"/>
                <a:cs typeface="Times New Roman" panose="02020603050405020304" pitchFamily="18" charset="0"/>
              </a:rPr>
              <a:t> </a:t>
            </a:r>
            <a:r>
              <a:rPr lang="en-US" sz="2800" b="1" dirty="0" smtClean="0">
                <a:latin typeface="+mj-lt"/>
              </a:rPr>
              <a:t>:</a:t>
            </a:r>
            <a:r>
              <a:rPr lang="vi-VN" sz="2800" dirty="0"/>
              <a:t> là </a:t>
            </a:r>
            <a:r>
              <a:rPr lang="en-US" sz="2800" dirty="0" err="1"/>
              <a:t>mối</a:t>
            </a:r>
            <a:r>
              <a:rPr lang="en-US" sz="2800" dirty="0"/>
              <a:t> </a:t>
            </a:r>
            <a:r>
              <a:rPr lang="en-US" sz="2800" dirty="0" err="1"/>
              <a:t>quan</a:t>
            </a:r>
            <a:r>
              <a:rPr lang="en-US" sz="2800" dirty="0"/>
              <a:t> </a:t>
            </a:r>
            <a:r>
              <a:rPr lang="en-US" sz="2800" dirty="0" err="1"/>
              <a:t>hệ</a:t>
            </a:r>
            <a:r>
              <a:rPr lang="en-US" sz="2800" dirty="0"/>
              <a:t> </a:t>
            </a:r>
            <a:r>
              <a:rPr lang="en-US" sz="2800" dirty="0" err="1" smtClean="0"/>
              <a:t>nhiều-nhiều</a:t>
            </a:r>
            <a:r>
              <a:rPr lang="en-US" sz="2800" dirty="0" smtClean="0">
                <a:latin typeface="+mj-lt"/>
              </a:rPr>
              <a:t>, </a:t>
            </a:r>
            <a:r>
              <a:rPr lang="en-US" sz="2800" dirty="0" err="1" smtClean="0">
                <a:latin typeface="+mj-lt"/>
              </a:rPr>
              <a:t>giống</a:t>
            </a:r>
            <a:r>
              <a:rPr lang="en-US" sz="2800" dirty="0" smtClean="0">
                <a:latin typeface="+mj-lt"/>
              </a:rPr>
              <a:t> </a:t>
            </a:r>
            <a:r>
              <a:rPr lang="en-US" sz="2800" dirty="0" err="1" smtClean="0">
                <a:latin typeface="+mj-lt"/>
              </a:rPr>
              <a:t>như</a:t>
            </a:r>
            <a:r>
              <a:rPr lang="en-US" sz="2800" dirty="0"/>
              <a:t> @</a:t>
            </a:r>
            <a:r>
              <a:rPr lang="en-US" sz="2800" dirty="0" err="1" smtClean="0"/>
              <a:t>OneToMany</a:t>
            </a:r>
            <a:r>
              <a:rPr lang="en-US" sz="2800" dirty="0" smtClean="0"/>
              <a:t>,</a:t>
            </a:r>
            <a:r>
              <a:rPr lang="en-US" sz="2800" dirty="0" smtClean="0">
                <a:latin typeface="+mj-lt"/>
              </a:rPr>
              <a:t> </a:t>
            </a:r>
            <a:r>
              <a:rPr lang="en-US" sz="2800" dirty="0">
                <a:latin typeface="+mj-lt"/>
              </a:rPr>
              <a:t>@</a:t>
            </a:r>
            <a:r>
              <a:rPr lang="en-US" sz="2800" dirty="0" err="1" smtClean="0">
                <a:latin typeface="+mj-lt"/>
              </a:rPr>
              <a:t>ManyToMany</a:t>
            </a:r>
            <a:r>
              <a:rPr lang="en-US" sz="2800" dirty="0" smtClean="0">
                <a:latin typeface="+mj-lt"/>
              </a:rPr>
              <a:t> </a:t>
            </a:r>
            <a:r>
              <a:rPr lang="en-US" sz="2800" dirty="0" err="1" smtClean="0">
                <a:latin typeface="+mj-lt"/>
              </a:rPr>
              <a:t>có</a:t>
            </a:r>
            <a:r>
              <a:rPr lang="en-US" sz="2800" dirty="0" smtClean="0">
                <a:latin typeface="+mj-lt"/>
              </a:rPr>
              <a:t> </a:t>
            </a:r>
            <a:r>
              <a:rPr lang="en-US" sz="2800" dirty="0" err="1">
                <a:latin typeface="+mj-lt"/>
              </a:rPr>
              <a:t>thể</a:t>
            </a:r>
            <a:r>
              <a:rPr lang="en-US" sz="2800" dirty="0">
                <a:latin typeface="+mj-lt"/>
              </a:rPr>
              <a:t> </a:t>
            </a:r>
            <a:r>
              <a:rPr lang="en-US" sz="2800" dirty="0" err="1">
                <a:latin typeface="+mj-lt"/>
              </a:rPr>
              <a:t>là</a:t>
            </a:r>
            <a:r>
              <a:rPr lang="en-US" sz="2800" dirty="0">
                <a:latin typeface="+mj-lt"/>
              </a:rPr>
              <a:t> </a:t>
            </a:r>
            <a:r>
              <a:rPr lang="en-US" sz="2800" dirty="0" err="1">
                <a:latin typeface="+mj-lt"/>
              </a:rPr>
              <a:t>một</a:t>
            </a:r>
            <a:r>
              <a:rPr lang="en-US" sz="2800" dirty="0">
                <a:latin typeface="+mj-lt"/>
              </a:rPr>
              <a:t> </a:t>
            </a:r>
            <a:r>
              <a:rPr lang="en-US" sz="2800" dirty="0" err="1">
                <a:latin typeface="+mj-lt"/>
              </a:rPr>
              <a:t>chiều</a:t>
            </a:r>
            <a:r>
              <a:rPr lang="en-US" sz="2800" dirty="0">
                <a:latin typeface="+mj-lt"/>
              </a:rPr>
              <a:t> </a:t>
            </a:r>
            <a:r>
              <a:rPr lang="en-US" sz="2800" dirty="0" err="1">
                <a:latin typeface="+mj-lt"/>
              </a:rPr>
              <a:t>hoặc</a:t>
            </a:r>
            <a:r>
              <a:rPr lang="en-US" sz="2800" dirty="0">
                <a:latin typeface="+mj-lt"/>
              </a:rPr>
              <a:t> </a:t>
            </a:r>
            <a:r>
              <a:rPr lang="en-US" sz="2800" dirty="0" err="1">
                <a:latin typeface="+mj-lt"/>
              </a:rPr>
              <a:t>hai</a:t>
            </a:r>
            <a:r>
              <a:rPr lang="en-US" sz="2800" dirty="0">
                <a:latin typeface="+mj-lt"/>
              </a:rPr>
              <a:t> </a:t>
            </a:r>
            <a:r>
              <a:rPr lang="en-US" sz="2800" dirty="0" err="1">
                <a:latin typeface="+mj-lt"/>
              </a:rPr>
              <a:t>chiều</a:t>
            </a:r>
            <a:r>
              <a:rPr lang="en-US" sz="2800" dirty="0">
                <a:latin typeface="+mj-lt"/>
              </a:rPr>
              <a:t>.</a:t>
            </a:r>
          </a:p>
        </p:txBody>
      </p:sp>
    </p:spTree>
    <p:extLst>
      <p:ext uri="{BB962C8B-B14F-4D97-AF65-F5344CB8AC3E}">
        <p14:creationId xmlns:p14="http://schemas.microsoft.com/office/powerpoint/2010/main" val="213792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Freeform 23"/>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Freeform 24"/>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9" name="Picture 5"/>
          <p:cNvPicPr>
            <a:picLocks noChangeAspect="1"/>
          </p:cNvPicPr>
          <p:nvPr/>
        </p:nvPicPr>
        <p:blipFill>
          <a:blip r:embed="rId2"/>
          <a:stretch>
            <a:fillRect/>
          </a:stretch>
        </p:blipFill>
        <p:spPr>
          <a:xfrm>
            <a:off x="2758258" y="2067652"/>
            <a:ext cx="13350240" cy="5775960"/>
          </a:xfrm>
          <a:prstGeom prst="rect">
            <a:avLst/>
          </a:prstGeom>
        </p:spPr>
      </p:pic>
      <p:sp>
        <p:nvSpPr>
          <p:cNvPr id="2" name="TextBox 26"/>
          <p:cNvSpPr txBox="1"/>
          <p:nvPr/>
        </p:nvSpPr>
        <p:spPr>
          <a:xfrm>
            <a:off x="3982130" y="4447801"/>
            <a:ext cx="11845472" cy="1528624"/>
          </a:xfrm>
          <a:prstGeom prst="rect">
            <a:avLst/>
          </a:prstGeom>
          <a:noFill/>
        </p:spPr>
        <p:txBody>
          <a:bodyPr wrap="square" lIns="0" tIns="0" rIns="0" bIns="0" rtlCol="0">
            <a:spAutoFit/>
          </a:bodyPr>
          <a:lstStyle/>
          <a:p>
            <a:r>
              <a:rPr lang="en-US" altLang="zh-CN" sz="6600" spc="139" dirty="0" err="1" smtClean="0">
                <a:solidFill>
                  <a:srgbClr val="000000"/>
                </a:solidFill>
                <a:latin typeface="Times New Roman"/>
                <a:ea typeface="Times New Roman"/>
              </a:rPr>
              <a:t>Cách</a:t>
            </a:r>
            <a:r>
              <a:rPr lang="en-US" altLang="zh-CN" sz="6600" spc="139" dirty="0" smtClean="0">
                <a:solidFill>
                  <a:srgbClr val="000000"/>
                </a:solidFill>
                <a:latin typeface="Times New Roman"/>
                <a:ea typeface="Times New Roman"/>
              </a:rPr>
              <a:t> </a:t>
            </a:r>
            <a:r>
              <a:rPr lang="en-US" altLang="zh-CN" sz="6600" spc="139" dirty="0" err="1" smtClean="0">
                <a:solidFill>
                  <a:srgbClr val="000000"/>
                </a:solidFill>
                <a:latin typeface="Times New Roman"/>
                <a:ea typeface="Times New Roman"/>
              </a:rPr>
              <a:t>sử</a:t>
            </a:r>
            <a:r>
              <a:rPr lang="en-US" altLang="zh-CN" sz="6600" spc="139" dirty="0" smtClean="0">
                <a:solidFill>
                  <a:srgbClr val="000000"/>
                </a:solidFill>
                <a:latin typeface="Times New Roman"/>
                <a:ea typeface="Times New Roman"/>
              </a:rPr>
              <a:t> </a:t>
            </a:r>
            <a:r>
              <a:rPr lang="en-US" altLang="zh-CN" sz="6600" spc="139" dirty="0" err="1" smtClean="0">
                <a:solidFill>
                  <a:srgbClr val="000000"/>
                </a:solidFill>
                <a:latin typeface="Times New Roman"/>
                <a:ea typeface="Times New Roman"/>
              </a:rPr>
              <a:t>dụng</a:t>
            </a:r>
            <a:r>
              <a:rPr lang="en-US" altLang="zh-CN" sz="6600" spc="139" dirty="0" smtClean="0">
                <a:solidFill>
                  <a:srgbClr val="000000"/>
                </a:solidFill>
                <a:latin typeface="Times New Roman"/>
                <a:ea typeface="Times New Roman"/>
              </a:rPr>
              <a:t> </a:t>
            </a:r>
            <a:r>
              <a:rPr lang="en-US" altLang="zh-CN" sz="6600" spc="139" dirty="0" err="1" smtClean="0">
                <a:solidFill>
                  <a:srgbClr val="000000"/>
                </a:solidFill>
                <a:latin typeface="Times New Roman"/>
                <a:ea typeface="Times New Roman"/>
              </a:rPr>
              <a:t>các</a:t>
            </a:r>
            <a:r>
              <a:rPr lang="en-US" altLang="zh-CN" sz="6600" spc="139" dirty="0" smtClean="0">
                <a:solidFill>
                  <a:srgbClr val="000000"/>
                </a:solidFill>
                <a:latin typeface="Times New Roman"/>
                <a:ea typeface="Times New Roman"/>
              </a:rPr>
              <a:t> annotation</a:t>
            </a:r>
            <a:endParaRPr lang="en-US" altLang="zh-CN" sz="6600" spc="150" dirty="0">
              <a:solidFill>
                <a:srgbClr val="000000"/>
              </a:solidFill>
              <a:latin typeface="Times New Roman"/>
              <a:ea typeface="Times New Roman"/>
            </a:endParaRPr>
          </a:p>
          <a:p>
            <a:pPr>
              <a:lnSpc>
                <a:spcPts val="1000"/>
              </a:lnSpc>
            </a:pPr>
            <a:endParaRPr lang="en-US" dirty="0" smtClean="0"/>
          </a:p>
          <a:p>
            <a:pPr>
              <a:lnSpc>
                <a:spcPts val="1000"/>
              </a:lnSpc>
            </a:pPr>
            <a:endParaRPr lang="en-US" dirty="0" smtClean="0"/>
          </a:p>
          <a:p>
            <a:pPr>
              <a:lnSpc>
                <a:spcPts val="1000"/>
              </a:lnSpc>
            </a:pPr>
            <a:endParaRPr lang="en-US" dirty="0" smtClean="0"/>
          </a:p>
          <a:p>
            <a:pPr>
              <a:lnSpc>
                <a:spcPts val="1000"/>
              </a:lnSpc>
            </a:pPr>
            <a:endParaRPr lang="en-US" dirty="0" smtClean="0"/>
          </a:p>
        </p:txBody>
      </p:sp>
    </p:spTree>
    <p:extLst>
      <p:ext uri="{BB962C8B-B14F-4D97-AF65-F5344CB8AC3E}">
        <p14:creationId xmlns:p14="http://schemas.microsoft.com/office/powerpoint/2010/main" val="20404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8848721" y="19040"/>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7" name="図 6"/>
          <p:cNvPicPr>
            <a:picLocks noChangeAspect="1"/>
          </p:cNvPicPr>
          <p:nvPr/>
        </p:nvPicPr>
        <p:blipFill>
          <a:blip r:embed="rId2"/>
          <a:stretch>
            <a:fillRect/>
          </a:stretch>
        </p:blipFill>
        <p:spPr>
          <a:xfrm>
            <a:off x="1072834" y="379617"/>
            <a:ext cx="6344535" cy="9907383"/>
          </a:xfrm>
          <a:prstGeom prst="rect">
            <a:avLst/>
          </a:prstGeom>
        </p:spPr>
      </p:pic>
      <p:pic>
        <p:nvPicPr>
          <p:cNvPr id="10" name="図 9"/>
          <p:cNvPicPr>
            <a:picLocks noChangeAspect="1"/>
          </p:cNvPicPr>
          <p:nvPr/>
        </p:nvPicPr>
        <p:blipFill>
          <a:blip r:embed="rId3"/>
          <a:stretch>
            <a:fillRect/>
          </a:stretch>
        </p:blipFill>
        <p:spPr>
          <a:xfrm>
            <a:off x="9713578" y="592537"/>
            <a:ext cx="7567812" cy="9099241"/>
          </a:xfrm>
          <a:prstGeom prst="rect">
            <a:avLst/>
          </a:prstGeom>
        </p:spPr>
      </p:pic>
      <p:sp>
        <p:nvSpPr>
          <p:cNvPr id="21" name="正方形/長方形 3"/>
          <p:cNvSpPr/>
          <p:nvPr/>
        </p:nvSpPr>
        <p:spPr>
          <a:xfrm>
            <a:off x="0" y="-2040"/>
            <a:ext cx="635472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ManyToOne</a:t>
            </a:r>
            <a:endParaRPr lang="en-US" sz="4000" b="1" dirty="0">
              <a:latin typeface="Times New Roman" panose="02020603050405020304" pitchFamily="18" charset="0"/>
              <a:cs typeface="Times New Roman" panose="02020603050405020304" pitchFamily="18" charset="0"/>
            </a:endParaRPr>
          </a:p>
        </p:txBody>
      </p:sp>
      <p:sp>
        <p:nvSpPr>
          <p:cNvPr id="11" name="正方形/長方形 10"/>
          <p:cNvSpPr/>
          <p:nvPr/>
        </p:nvSpPr>
        <p:spPr>
          <a:xfrm>
            <a:off x="1414463" y="4586288"/>
            <a:ext cx="2286000" cy="5572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正方形/長方形 14"/>
          <p:cNvSpPr/>
          <p:nvPr/>
        </p:nvSpPr>
        <p:spPr>
          <a:xfrm>
            <a:off x="10515600" y="2643187"/>
            <a:ext cx="4000499" cy="64293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角丸四角形吹き出し 21"/>
          <p:cNvSpPr/>
          <p:nvPr/>
        </p:nvSpPr>
        <p:spPr>
          <a:xfrm>
            <a:off x="3832478" y="2170628"/>
            <a:ext cx="4657725" cy="2214562"/>
          </a:xfrm>
          <a:prstGeom prst="wedgeRoundRectCallout">
            <a:avLst>
              <a:gd name="adj1" fmla="val -45680"/>
              <a:gd name="adj2" fmla="val 586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Annotatin</a:t>
            </a:r>
            <a:r>
              <a:rPr lang="en-US" dirty="0" smtClean="0"/>
              <a:t> </a:t>
            </a:r>
            <a:r>
              <a:rPr lang="en-US" b="1" dirty="0">
                <a:latin typeface="Times New Roman" panose="02020603050405020304" pitchFamily="18" charset="0"/>
                <a:cs typeface="Times New Roman" panose="02020603050405020304" pitchFamily="18" charset="0"/>
              </a:rPr>
              <a:t>@</a:t>
            </a:r>
            <a:r>
              <a:rPr lang="en-US" b="1" dirty="0" err="1" smtClean="0">
                <a:latin typeface="Times New Roman" panose="02020603050405020304" pitchFamily="18" charset="0"/>
                <a:cs typeface="Times New Roman" panose="02020603050405020304" pitchFamily="18" charset="0"/>
              </a:rPr>
              <a:t>ManyToOne</a:t>
            </a:r>
            <a:r>
              <a:rPr lang="en-US" b="1"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phép</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ánh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xạ</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tới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khóa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ngoại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column “</a:t>
            </a:r>
            <a:r>
              <a:rPr lang="en-US" dirty="0" err="1" smtClean="0">
                <a:latin typeface="Times New Roman" panose="02020603050405020304" pitchFamily="18" charset="0"/>
                <a:cs typeface="Times New Roman" panose="02020603050405020304" pitchFamily="18" charset="0"/>
              </a:rPr>
              <a:t>ta_code</a:t>
            </a:r>
            <a:r>
              <a:rPr lang="en-US" dirty="0" smtClean="0">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355489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65599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Get All </a:t>
            </a:r>
            <a:r>
              <a:rPr lang="en-US" sz="4000" dirty="0" err="1" smtClean="0">
                <a:latin typeface="Times New Roman" panose="02020603050405020304" pitchFamily="18" charset="0"/>
                <a:cs typeface="Times New Roman" panose="02020603050405020304" pitchFamily="18" charset="0"/>
              </a:rPr>
              <a:t>FacilityTaConnect</a:t>
            </a:r>
            <a:endParaRPr lang="en-US" sz="4000" b="1" dirty="0">
              <a:latin typeface="Times New Roman" panose="02020603050405020304" pitchFamily="18" charset="0"/>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828675" y="1514810"/>
            <a:ext cx="15159038" cy="8211145"/>
          </a:xfrm>
          <a:prstGeom prst="rect">
            <a:avLst/>
          </a:prstGeom>
        </p:spPr>
      </p:pic>
      <p:grpSp>
        <p:nvGrpSpPr>
          <p:cNvPr id="8" name="グループ化 7"/>
          <p:cNvGrpSpPr/>
          <p:nvPr/>
        </p:nvGrpSpPr>
        <p:grpSpPr>
          <a:xfrm>
            <a:off x="3169564" y="2267892"/>
            <a:ext cx="8660486" cy="5304483"/>
            <a:chOff x="4095482" y="2628912"/>
            <a:chExt cx="8660486" cy="5304483"/>
          </a:xfrm>
        </p:grpSpPr>
        <p:sp>
          <p:nvSpPr>
            <p:cNvPr id="7" name="正方形/長方形 6"/>
            <p:cNvSpPr/>
            <p:nvPr/>
          </p:nvSpPr>
          <p:spPr>
            <a:xfrm>
              <a:off x="4095482" y="3361385"/>
              <a:ext cx="2145386"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8581757" y="3361385"/>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正方形/長方形 13"/>
            <p:cNvSpPr/>
            <p:nvPr/>
          </p:nvSpPr>
          <p:spPr>
            <a:xfrm>
              <a:off x="9555568" y="6690383"/>
              <a:ext cx="3200400" cy="12430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角丸四角形吹き出し 14"/>
            <p:cNvSpPr/>
            <p:nvPr/>
          </p:nvSpPr>
          <p:spPr>
            <a:xfrm>
              <a:off x="5859886" y="2628912"/>
              <a:ext cx="4338619"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a:t>
              </a:r>
              <a:r>
                <a:rPr lang="en-US" dirty="0"/>
                <a:t>://</a:t>
              </a:r>
              <a:r>
                <a:rPr lang="en-US" dirty="0" smtClean="0"/>
                <a:t>localhost:8080/api/v1/</a:t>
              </a:r>
              <a:r>
                <a:rPr lang="en-US" dirty="0"/>
                <a:t>user/{userId}</a:t>
              </a:r>
            </a:p>
          </p:txBody>
        </p:sp>
      </p:grpSp>
      <p:sp>
        <p:nvSpPr>
          <p:cNvPr id="3" name="角丸四角形吹き出し 2"/>
          <p:cNvSpPr/>
          <p:nvPr/>
        </p:nvSpPr>
        <p:spPr>
          <a:xfrm>
            <a:off x="11058525" y="7958138"/>
            <a:ext cx="4214813" cy="1157287"/>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Thông</a:t>
            </a:r>
            <a:r>
              <a:rPr lang="en-US" dirty="0" smtClean="0"/>
              <a:t> tin </a:t>
            </a:r>
            <a:r>
              <a:rPr lang="en-US" dirty="0" err="1" smtClean="0"/>
              <a:t>TravelAgency</a:t>
            </a:r>
            <a:r>
              <a:rPr lang="en-US" dirty="0" smtClean="0"/>
              <a:t> </a:t>
            </a:r>
            <a:r>
              <a:rPr lang="en-US" dirty="0" err="1" smtClean="0"/>
              <a:t>liên</a:t>
            </a:r>
            <a:r>
              <a:rPr lang="en-US" dirty="0" smtClean="0"/>
              <a:t> </a:t>
            </a:r>
            <a:r>
              <a:rPr lang="en-US" dirty="0" err="1" smtClean="0"/>
              <a:t>kết</a:t>
            </a:r>
            <a:r>
              <a:rPr lang="en-US" dirty="0" smtClean="0"/>
              <a:t> </a:t>
            </a:r>
            <a:r>
              <a:rPr lang="en-US" dirty="0" err="1" smtClean="0"/>
              <a:t>với</a:t>
            </a:r>
            <a:r>
              <a:rPr lang="en-US" dirty="0" smtClean="0"/>
              <a:t> User </a:t>
            </a:r>
            <a:r>
              <a:rPr lang="en-US" dirty="0" err="1" smtClean="0"/>
              <a:t>thông</a:t>
            </a:r>
            <a:r>
              <a:rPr lang="en-US" dirty="0" smtClean="0"/>
              <a:t> qua </a:t>
            </a:r>
            <a:r>
              <a:rPr lang="en-US" dirty="0" err="1" smtClean="0"/>
              <a:t>taCode</a:t>
            </a:r>
            <a:r>
              <a:rPr lang="en-US" dirty="0" smtClean="0"/>
              <a:t> </a:t>
            </a:r>
            <a:r>
              <a:rPr lang="en-US" dirty="0" err="1" smtClean="0"/>
              <a:t>cũng</a:t>
            </a:r>
            <a:r>
              <a:rPr lang="en-US" dirty="0" smtClean="0"/>
              <a:t> </a:t>
            </a:r>
            <a:r>
              <a:rPr lang="en-US" dirty="0" err="1" smtClean="0"/>
              <a:t>được</a:t>
            </a:r>
            <a:r>
              <a:rPr lang="en-US" dirty="0" smtClean="0"/>
              <a:t> get </a:t>
            </a:r>
            <a:r>
              <a:rPr lang="en-US" dirty="0" err="1" smtClean="0"/>
              <a:t>mà</a:t>
            </a:r>
            <a:r>
              <a:rPr lang="en-US" dirty="0" smtClean="0"/>
              <a:t> </a:t>
            </a:r>
            <a:r>
              <a:rPr lang="en-US" dirty="0" err="1" smtClean="0"/>
              <a:t>không</a:t>
            </a:r>
            <a:r>
              <a:rPr lang="en-US" dirty="0" smtClean="0"/>
              <a:t> </a:t>
            </a:r>
            <a:r>
              <a:rPr lang="en-US" dirty="0" err="1" smtClean="0"/>
              <a:t>cần</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câu</a:t>
            </a:r>
            <a:r>
              <a:rPr lang="en-US" dirty="0" smtClean="0"/>
              <a:t> </a:t>
            </a:r>
            <a:r>
              <a:rPr lang="en-US" dirty="0" err="1" smtClean="0"/>
              <a:t>lệnh</a:t>
            </a:r>
            <a:r>
              <a:rPr lang="en-US" dirty="0" smtClean="0"/>
              <a:t> Join </a:t>
            </a:r>
            <a:r>
              <a:rPr lang="en-US" dirty="0" err="1" smtClean="0"/>
              <a:t>thông</a:t>
            </a:r>
            <a:r>
              <a:rPr lang="en-US" dirty="0" smtClean="0"/>
              <a:t> </a:t>
            </a:r>
            <a:r>
              <a:rPr lang="en-US" dirty="0" err="1" smtClean="0"/>
              <a:t>thường</a:t>
            </a:r>
            <a:endParaRPr lang="en-US" dirty="0"/>
          </a:p>
        </p:txBody>
      </p:sp>
    </p:spTree>
    <p:extLst>
      <p:ext uri="{BB962C8B-B14F-4D97-AF65-F5344CB8AC3E}">
        <p14:creationId xmlns:p14="http://schemas.microsoft.com/office/powerpoint/2010/main" val="100110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正方形/長方形 3"/>
          <p:cNvSpPr/>
          <p:nvPr/>
        </p:nvSpPr>
        <p:spPr>
          <a:xfrm>
            <a:off x="174665" y="0"/>
            <a:ext cx="7797760"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a:t>
            </a:r>
            <a:r>
              <a:rPr lang="en-US" sz="4000" b="1" dirty="0" err="1" smtClean="0">
                <a:latin typeface="Times New Roman" panose="02020603050405020304" pitchFamily="18" charset="0"/>
                <a:cs typeface="Times New Roman" panose="02020603050405020304" pitchFamily="18" charset="0"/>
              </a:rPr>
              <a:t>OneToMany</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một</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chiều</a:t>
            </a:r>
            <a:endParaRPr lang="en-US" sz="4000" b="1"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355876" y="994865"/>
            <a:ext cx="7983636" cy="9117189"/>
            <a:chOff x="355876" y="994865"/>
            <a:chExt cx="7983636" cy="9117189"/>
          </a:xfrm>
        </p:grpSpPr>
        <p:pic>
          <p:nvPicPr>
            <p:cNvPr id="4" name="図 3"/>
            <p:cNvPicPr>
              <a:picLocks noChangeAspect="1"/>
            </p:cNvPicPr>
            <p:nvPr/>
          </p:nvPicPr>
          <p:blipFill>
            <a:blip r:embed="rId2"/>
            <a:stretch>
              <a:fillRect/>
            </a:stretch>
          </p:blipFill>
          <p:spPr>
            <a:xfrm>
              <a:off x="355876" y="994865"/>
              <a:ext cx="7983636" cy="9117189"/>
            </a:xfrm>
            <a:prstGeom prst="rect">
              <a:avLst/>
            </a:prstGeom>
          </p:spPr>
        </p:pic>
        <p:sp>
          <p:nvSpPr>
            <p:cNvPr id="5" name="正方形/長方形 4"/>
            <p:cNvSpPr/>
            <p:nvPr/>
          </p:nvSpPr>
          <p:spPr>
            <a:xfrm>
              <a:off x="1100138" y="8586788"/>
              <a:ext cx="6400800" cy="4429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 name="グループ化 7"/>
          <p:cNvGrpSpPr/>
          <p:nvPr/>
        </p:nvGrpSpPr>
        <p:grpSpPr>
          <a:xfrm>
            <a:off x="10296518" y="237494"/>
            <a:ext cx="6929881" cy="9874561"/>
            <a:chOff x="10296518" y="237494"/>
            <a:chExt cx="6929881" cy="9874561"/>
          </a:xfrm>
        </p:grpSpPr>
        <p:pic>
          <p:nvPicPr>
            <p:cNvPr id="2" name="図 1"/>
            <p:cNvPicPr>
              <a:picLocks noChangeAspect="1"/>
            </p:cNvPicPr>
            <p:nvPr/>
          </p:nvPicPr>
          <p:blipFill>
            <a:blip r:embed="rId3"/>
            <a:stretch>
              <a:fillRect/>
            </a:stretch>
          </p:blipFill>
          <p:spPr>
            <a:xfrm>
              <a:off x="10296518" y="237494"/>
              <a:ext cx="6929881" cy="9874561"/>
            </a:xfrm>
            <a:prstGeom prst="rect">
              <a:avLst/>
            </a:prstGeom>
          </p:spPr>
        </p:pic>
        <p:sp>
          <p:nvSpPr>
            <p:cNvPr id="7" name="正方形/長方形 6"/>
            <p:cNvSpPr/>
            <p:nvPr/>
          </p:nvSpPr>
          <p:spPr>
            <a:xfrm>
              <a:off x="11015663" y="5357813"/>
              <a:ext cx="3014662" cy="3714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 name="角丸四角形吹き出し 8"/>
          <p:cNvSpPr/>
          <p:nvPr/>
        </p:nvSpPr>
        <p:spPr>
          <a:xfrm>
            <a:off x="3943350" y="6615113"/>
            <a:ext cx="4200526" cy="1743075"/>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latin typeface="Times New Roman" panose="02020603050405020304" pitchFamily="18" charset="0"/>
                <a:cs typeface="Times New Roman" panose="02020603050405020304" pitchFamily="18" charset="0"/>
              </a:rPr>
              <a:t>Annotatin</a:t>
            </a:r>
            <a:r>
              <a:rPr lang="en-US"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t>
            </a:r>
            <a:r>
              <a:rPr lang="en-US" b="1" dirty="0" err="1" smtClean="0">
                <a:latin typeface="Times New Roman" panose="02020603050405020304" pitchFamily="18" charset="0"/>
                <a:cs typeface="Times New Roman" panose="02020603050405020304" pitchFamily="18" charset="0"/>
              </a:rPr>
              <a:t>OneToMany</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map </a:t>
            </a:r>
            <a:r>
              <a:rPr lang="en-US" dirty="0" err="1" smtClean="0">
                <a:latin typeface="Times New Roman" panose="02020603050405020304" pitchFamily="18" charset="0"/>
                <a:cs typeface="Times New Roman" panose="02020603050405020304" pitchFamily="18" charset="0"/>
              </a:rPr>
              <a:t>giữa</a:t>
            </a:r>
            <a:r>
              <a:rPr lang="en-US" dirty="0" smtClean="0">
                <a:latin typeface="Times New Roman" panose="02020603050405020304" pitchFamily="18" charset="0"/>
                <a:cs typeface="Times New Roman" panose="02020603050405020304" pitchFamily="18" charset="0"/>
              </a:rPr>
              <a:t> entity </a:t>
            </a:r>
            <a:r>
              <a:rPr lang="en-US" b="1" dirty="0" smtClean="0">
                <a:latin typeface="Times New Roman" panose="02020603050405020304" pitchFamily="18" charset="0"/>
                <a:cs typeface="Times New Roman" panose="02020603050405020304" pitchFamily="18" charset="0"/>
              </a:rPr>
              <a:t>Facility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Users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qua </a:t>
            </a:r>
            <a:r>
              <a:rPr lang="en-US" dirty="0" err="1" smtClean="0">
                <a:latin typeface="Times New Roman" panose="02020603050405020304" pitchFamily="18" charset="0"/>
                <a:cs typeface="Times New Roman" panose="02020603050405020304" pitchFamily="18" charset="0"/>
              </a:rPr>
              <a:t>thuộc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tính</a:t>
            </a:r>
            <a:r>
              <a:rPr lang="en-US" dirty="0" smtClean="0">
                <a:latin typeface="Times New Roman" panose="02020603050405020304" pitchFamily="18" charset="0"/>
                <a:cs typeface="Times New Roman" panose="02020603050405020304" pitchFamily="18" charset="0"/>
              </a:rPr>
              <a:t> </a:t>
            </a:r>
            <a:r>
              <a:rPr lang="en-US" b="1" u="sng" dirty="0" err="1" smtClean="0">
                <a:latin typeface="Times New Roman" panose="02020603050405020304" pitchFamily="18" charset="0"/>
                <a:cs typeface="Times New Roman" panose="02020603050405020304" pitchFamily="18" charset="0"/>
              </a:rPr>
              <a:t>commonFacilityCode</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được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khai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báo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trong</a:t>
            </a:r>
            <a:r>
              <a:rPr lang="en-US" dirty="0" smtClean="0">
                <a:latin typeface="Times New Roman" panose="02020603050405020304" pitchFamily="18" charset="0"/>
                <a:cs typeface="Times New Roman" panose="02020603050405020304" pitchFamily="18" charset="0"/>
              </a:rPr>
              <a:t> entity </a:t>
            </a:r>
            <a:r>
              <a:rPr lang="en-US" b="1" dirty="0" smtClean="0">
                <a:latin typeface="Times New Roman" panose="02020603050405020304" pitchFamily="18" charset="0"/>
                <a:cs typeface="Times New Roman" panose="02020603050405020304" pitchFamily="18" charset="0"/>
              </a:rPr>
              <a:t>Users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190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7" y="253783"/>
            <a:ext cx="655996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Get All </a:t>
            </a:r>
            <a:r>
              <a:rPr lang="en-US" sz="4000" dirty="0" err="1" smtClean="0">
                <a:latin typeface="Times New Roman" panose="02020603050405020304" pitchFamily="18" charset="0"/>
                <a:cs typeface="Times New Roman" panose="02020603050405020304" pitchFamily="18" charset="0"/>
              </a:rPr>
              <a:t>FacilityTaConnect</a:t>
            </a:r>
            <a:endParaRPr lang="en-US" sz="4000" b="1" dirty="0">
              <a:latin typeface="Times New Roman" panose="02020603050405020304" pitchFamily="18" charset="0"/>
              <a:cs typeface="Times New Roman" panose="02020603050405020304" pitchFamily="18" charset="0"/>
            </a:endParaRPr>
          </a:p>
        </p:txBody>
      </p:sp>
      <p:sp>
        <p:nvSpPr>
          <p:cNvPr id="3" name="角丸四角形吹き出し 2"/>
          <p:cNvSpPr/>
          <p:nvPr/>
        </p:nvSpPr>
        <p:spPr>
          <a:xfrm>
            <a:off x="11058525" y="7958138"/>
            <a:ext cx="4214813" cy="1157287"/>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Thông</a:t>
            </a:r>
            <a:r>
              <a:rPr lang="en-US" dirty="0" smtClean="0"/>
              <a:t> tin </a:t>
            </a:r>
            <a:r>
              <a:rPr lang="en-US" dirty="0" err="1" smtClean="0"/>
              <a:t>TravelAgency</a:t>
            </a:r>
            <a:r>
              <a:rPr lang="en-US" dirty="0" smtClean="0"/>
              <a:t> </a:t>
            </a:r>
            <a:r>
              <a:rPr lang="en-US" dirty="0" err="1" smtClean="0"/>
              <a:t>liên</a:t>
            </a:r>
            <a:r>
              <a:rPr lang="en-US" dirty="0" smtClean="0"/>
              <a:t> </a:t>
            </a:r>
            <a:r>
              <a:rPr lang="en-US" dirty="0" err="1" smtClean="0"/>
              <a:t>kết</a:t>
            </a:r>
            <a:r>
              <a:rPr lang="en-US" dirty="0" smtClean="0"/>
              <a:t> </a:t>
            </a:r>
            <a:r>
              <a:rPr lang="en-US" dirty="0" err="1" smtClean="0"/>
              <a:t>với</a:t>
            </a:r>
            <a:r>
              <a:rPr lang="en-US" dirty="0" smtClean="0"/>
              <a:t> User </a:t>
            </a:r>
            <a:r>
              <a:rPr lang="en-US" dirty="0" err="1" smtClean="0"/>
              <a:t>thông</a:t>
            </a:r>
            <a:r>
              <a:rPr lang="en-US" dirty="0" smtClean="0"/>
              <a:t> qua </a:t>
            </a:r>
            <a:r>
              <a:rPr lang="en-US" dirty="0" err="1" smtClean="0"/>
              <a:t>taCode</a:t>
            </a:r>
            <a:r>
              <a:rPr lang="en-US" dirty="0" smtClean="0"/>
              <a:t> </a:t>
            </a:r>
            <a:r>
              <a:rPr lang="en-US" dirty="0" err="1" smtClean="0"/>
              <a:t>cũng</a:t>
            </a:r>
            <a:r>
              <a:rPr lang="en-US" dirty="0" smtClean="0"/>
              <a:t> </a:t>
            </a:r>
            <a:r>
              <a:rPr lang="en-US" dirty="0" err="1" smtClean="0"/>
              <a:t>được</a:t>
            </a:r>
            <a:r>
              <a:rPr lang="en-US" dirty="0" smtClean="0"/>
              <a:t> get </a:t>
            </a:r>
            <a:r>
              <a:rPr lang="en-US" dirty="0" err="1" smtClean="0"/>
              <a:t>mà</a:t>
            </a:r>
            <a:r>
              <a:rPr lang="en-US" dirty="0" smtClean="0"/>
              <a:t> </a:t>
            </a:r>
            <a:r>
              <a:rPr lang="en-US" dirty="0" err="1" smtClean="0"/>
              <a:t>không</a:t>
            </a:r>
            <a:r>
              <a:rPr lang="en-US" dirty="0" smtClean="0"/>
              <a:t> </a:t>
            </a:r>
            <a:r>
              <a:rPr lang="en-US" dirty="0" err="1" smtClean="0"/>
              <a:t>cần</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câu</a:t>
            </a:r>
            <a:r>
              <a:rPr lang="en-US" dirty="0" smtClean="0"/>
              <a:t> </a:t>
            </a:r>
            <a:r>
              <a:rPr lang="en-US" dirty="0" err="1" smtClean="0"/>
              <a:t>lệnh</a:t>
            </a:r>
            <a:r>
              <a:rPr lang="en-US" dirty="0" smtClean="0"/>
              <a:t> Join </a:t>
            </a:r>
            <a:r>
              <a:rPr lang="en-US" dirty="0" err="1" smtClean="0"/>
              <a:t>thông</a:t>
            </a:r>
            <a:r>
              <a:rPr lang="en-US" dirty="0" smtClean="0"/>
              <a:t> </a:t>
            </a:r>
            <a:r>
              <a:rPr lang="en-US" dirty="0" err="1" smtClean="0"/>
              <a:t>thường</a:t>
            </a:r>
            <a:endParaRPr lang="en-US" dirty="0"/>
          </a:p>
        </p:txBody>
      </p:sp>
      <p:pic>
        <p:nvPicPr>
          <p:cNvPr id="4" name="図 3"/>
          <p:cNvPicPr>
            <a:picLocks noChangeAspect="1"/>
          </p:cNvPicPr>
          <p:nvPr/>
        </p:nvPicPr>
        <p:blipFill>
          <a:blip r:embed="rId3"/>
          <a:stretch>
            <a:fillRect/>
          </a:stretch>
        </p:blipFill>
        <p:spPr>
          <a:xfrm>
            <a:off x="1084394" y="1290317"/>
            <a:ext cx="16002000" cy="8667750"/>
          </a:xfrm>
          <a:prstGeom prst="rect">
            <a:avLst/>
          </a:prstGeom>
        </p:spPr>
      </p:pic>
      <p:grpSp>
        <p:nvGrpSpPr>
          <p:cNvPr id="8" name="グループ化 7"/>
          <p:cNvGrpSpPr/>
          <p:nvPr/>
        </p:nvGrpSpPr>
        <p:grpSpPr>
          <a:xfrm>
            <a:off x="3454647" y="2165809"/>
            <a:ext cx="10804277" cy="7678279"/>
            <a:chOff x="4095481" y="2628912"/>
            <a:chExt cx="10804277" cy="7678279"/>
          </a:xfrm>
        </p:grpSpPr>
        <p:sp>
          <p:nvSpPr>
            <p:cNvPr id="7" name="正方形/長方形 6"/>
            <p:cNvSpPr/>
            <p:nvPr/>
          </p:nvSpPr>
          <p:spPr>
            <a:xfrm>
              <a:off x="4095481" y="3361385"/>
              <a:ext cx="2531815"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8997549" y="335548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正方形/長方形 13"/>
            <p:cNvSpPr/>
            <p:nvPr/>
          </p:nvSpPr>
          <p:spPr>
            <a:xfrm>
              <a:off x="9555567" y="4482303"/>
              <a:ext cx="5344191" cy="582488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角丸四角形吹き出し 14"/>
            <p:cNvSpPr/>
            <p:nvPr/>
          </p:nvSpPr>
          <p:spPr>
            <a:xfrm>
              <a:off x="5859886" y="2628912"/>
              <a:ext cx="4867923"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http://localhost:8080/api/v2/facility?id=0000100</a:t>
              </a:r>
            </a:p>
          </p:txBody>
        </p:sp>
      </p:grpSp>
      <p:sp>
        <p:nvSpPr>
          <p:cNvPr id="5" name="角丸四角形吹き出し 4"/>
          <p:cNvSpPr/>
          <p:nvPr/>
        </p:nvSpPr>
        <p:spPr>
          <a:xfrm>
            <a:off x="13165931" y="4175760"/>
            <a:ext cx="4243389" cy="1714500"/>
          </a:xfrm>
          <a:prstGeom prst="wedgeRoundRectCallout">
            <a:avLst>
              <a:gd name="adj1" fmla="val -92126"/>
              <a:gd name="adj2" fmla="val -4166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Có</a:t>
            </a:r>
            <a:r>
              <a:rPr lang="en-US" dirty="0" smtClean="0"/>
              <a:t> 2 user </a:t>
            </a:r>
            <a:r>
              <a:rPr lang="en-US" dirty="0" err="1" smtClean="0"/>
              <a:t>tương</a:t>
            </a:r>
            <a:r>
              <a:rPr lang="en-US" dirty="0" smtClean="0"/>
              <a:t> </a:t>
            </a:r>
            <a:r>
              <a:rPr lang="en-US" dirty="0" err="1" smtClean="0"/>
              <a:t>ứng</a:t>
            </a:r>
            <a:r>
              <a:rPr lang="en-US" dirty="0" smtClean="0"/>
              <a:t> </a:t>
            </a:r>
            <a:r>
              <a:rPr lang="en-US" dirty="0" err="1" smtClean="0"/>
              <a:t>với</a:t>
            </a:r>
            <a:r>
              <a:rPr lang="en-US" dirty="0" smtClean="0"/>
              <a:t> </a:t>
            </a:r>
            <a:r>
              <a:rPr lang="en-US" dirty="0"/>
              <a:t>“</a:t>
            </a:r>
            <a:r>
              <a:rPr lang="en-US" dirty="0" err="1"/>
              <a:t>commonFacilityCode</a:t>
            </a:r>
            <a:r>
              <a:rPr lang="en-US" dirty="0"/>
              <a:t>” = “0000100”</a:t>
            </a:r>
          </a:p>
          <a:p>
            <a:pPr algn="ctr"/>
            <a:r>
              <a:rPr lang="en-US" dirty="0" smtClean="0"/>
              <a:t> </a:t>
            </a:r>
            <a:endParaRPr lang="en-US" dirty="0"/>
          </a:p>
        </p:txBody>
      </p:sp>
    </p:spTree>
    <p:extLst>
      <p:ext uri="{BB962C8B-B14F-4D97-AF65-F5344CB8AC3E}">
        <p14:creationId xmlns:p14="http://schemas.microsoft.com/office/powerpoint/2010/main" val="360250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正方形/長方形 3"/>
          <p:cNvSpPr/>
          <p:nvPr/>
        </p:nvSpPr>
        <p:spPr>
          <a:xfrm>
            <a:off x="174665" y="0"/>
            <a:ext cx="7797760"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a:t>
            </a:r>
            <a:r>
              <a:rPr lang="en-US" sz="4000" b="1" dirty="0" err="1" smtClean="0">
                <a:latin typeface="Times New Roman" panose="02020603050405020304" pitchFamily="18" charset="0"/>
                <a:cs typeface="Times New Roman" panose="02020603050405020304" pitchFamily="18" charset="0"/>
              </a:rPr>
              <a:t>OneToMany</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hai</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chiều</a:t>
            </a:r>
            <a:endParaRPr lang="en-US" sz="4000" b="1" dirty="0">
              <a:latin typeface="Times New Roman" panose="02020603050405020304" pitchFamily="18" charset="0"/>
              <a:cs typeface="Times New Roman" panose="02020603050405020304" pitchFamily="18" charset="0"/>
            </a:endParaRPr>
          </a:p>
        </p:txBody>
      </p:sp>
      <p:pic>
        <p:nvPicPr>
          <p:cNvPr id="10" name="図 9"/>
          <p:cNvPicPr>
            <a:picLocks noChangeAspect="1"/>
          </p:cNvPicPr>
          <p:nvPr/>
        </p:nvPicPr>
        <p:blipFill>
          <a:blip r:embed="rId2"/>
          <a:stretch>
            <a:fillRect/>
          </a:stretch>
        </p:blipFill>
        <p:spPr>
          <a:xfrm>
            <a:off x="9929431" y="271585"/>
            <a:ext cx="6829055" cy="9741145"/>
          </a:xfrm>
          <a:prstGeom prst="rect">
            <a:avLst/>
          </a:prstGeom>
        </p:spPr>
      </p:pic>
      <p:sp>
        <p:nvSpPr>
          <p:cNvPr id="7" name="正方形/長方形 6"/>
          <p:cNvSpPr/>
          <p:nvPr/>
        </p:nvSpPr>
        <p:spPr>
          <a:xfrm>
            <a:off x="10329296" y="5314951"/>
            <a:ext cx="3014662" cy="3714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図 10"/>
          <p:cNvPicPr>
            <a:picLocks noChangeAspect="1"/>
          </p:cNvPicPr>
          <p:nvPr/>
        </p:nvPicPr>
        <p:blipFill>
          <a:blip r:embed="rId3"/>
          <a:stretch>
            <a:fillRect/>
          </a:stretch>
        </p:blipFill>
        <p:spPr>
          <a:xfrm>
            <a:off x="365576" y="971498"/>
            <a:ext cx="7606849" cy="8686905"/>
          </a:xfrm>
          <a:prstGeom prst="rect">
            <a:avLst/>
          </a:prstGeom>
        </p:spPr>
      </p:pic>
      <p:sp>
        <p:nvSpPr>
          <p:cNvPr id="9" name="角丸四角形吹き出し 8"/>
          <p:cNvSpPr/>
          <p:nvPr/>
        </p:nvSpPr>
        <p:spPr>
          <a:xfrm>
            <a:off x="3943350" y="6172201"/>
            <a:ext cx="4200526" cy="1743075"/>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latin typeface="Times New Roman" panose="02020603050405020304" pitchFamily="18" charset="0"/>
                <a:cs typeface="Times New Roman" panose="02020603050405020304" pitchFamily="18" charset="0"/>
              </a:rPr>
              <a:t>Annotatin</a:t>
            </a:r>
            <a:r>
              <a:rPr lang="en-US"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t>
            </a:r>
            <a:r>
              <a:rPr lang="en-US" b="1" dirty="0" err="1" smtClean="0">
                <a:latin typeface="Times New Roman" panose="02020603050405020304" pitchFamily="18" charset="0"/>
                <a:cs typeface="Times New Roman" panose="02020603050405020304" pitchFamily="18" charset="0"/>
              </a:rPr>
              <a:t>OneToMany</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map </a:t>
            </a:r>
            <a:r>
              <a:rPr lang="en-US" dirty="0" err="1" smtClean="0">
                <a:latin typeface="Times New Roman" panose="02020603050405020304" pitchFamily="18" charset="0"/>
                <a:cs typeface="Times New Roman" panose="02020603050405020304" pitchFamily="18" charset="0"/>
              </a:rPr>
              <a:t>giữa</a:t>
            </a:r>
            <a:r>
              <a:rPr lang="en-US" dirty="0" smtClean="0">
                <a:latin typeface="Times New Roman" panose="02020603050405020304" pitchFamily="18" charset="0"/>
                <a:cs typeface="Times New Roman" panose="02020603050405020304" pitchFamily="18" charset="0"/>
              </a:rPr>
              <a:t> entity </a:t>
            </a:r>
            <a:r>
              <a:rPr lang="en-US" b="1" dirty="0" smtClean="0">
                <a:latin typeface="Times New Roman" panose="02020603050405020304" pitchFamily="18" charset="0"/>
                <a:cs typeface="Times New Roman" panose="02020603050405020304" pitchFamily="18" charset="0"/>
              </a:rPr>
              <a:t>Facility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Users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qua </a:t>
            </a:r>
            <a:r>
              <a:rPr lang="en-US" dirty="0" err="1" smtClean="0">
                <a:latin typeface="Times New Roman" panose="02020603050405020304" pitchFamily="18" charset="0"/>
                <a:cs typeface="Times New Roman" panose="02020603050405020304" pitchFamily="18" charset="0"/>
              </a:rPr>
              <a:t>thuộc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tính</a:t>
            </a:r>
            <a:r>
              <a:rPr lang="en-US" dirty="0" smtClean="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facility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được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khai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báo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trong</a:t>
            </a:r>
            <a:r>
              <a:rPr lang="en-US" dirty="0" smtClean="0">
                <a:latin typeface="Times New Roman" panose="02020603050405020304" pitchFamily="18" charset="0"/>
                <a:cs typeface="Times New Roman" panose="02020603050405020304" pitchFamily="18" charset="0"/>
              </a:rPr>
              <a:t> entity </a:t>
            </a:r>
            <a:r>
              <a:rPr lang="en-US" b="1" dirty="0" smtClean="0">
                <a:latin typeface="Times New Roman" panose="02020603050405020304" pitchFamily="18" charset="0"/>
                <a:cs typeface="Times New Roman" panose="02020603050405020304" pitchFamily="18" charset="0"/>
              </a:rPr>
              <a:t>Users</a:t>
            </a:r>
            <a:endParaRPr lang="en-US" b="1" dirty="0">
              <a:latin typeface="Times New Roman" panose="02020603050405020304" pitchFamily="18" charset="0"/>
              <a:cs typeface="Times New Roman" panose="02020603050405020304" pitchFamily="18" charset="0"/>
            </a:endParaRPr>
          </a:p>
        </p:txBody>
      </p:sp>
      <p:sp>
        <p:nvSpPr>
          <p:cNvPr id="5" name="正方形/長方形 4"/>
          <p:cNvSpPr/>
          <p:nvPr/>
        </p:nvSpPr>
        <p:spPr>
          <a:xfrm>
            <a:off x="1100138" y="8143876"/>
            <a:ext cx="6400800" cy="4429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角丸四角形吹き出し 11"/>
          <p:cNvSpPr/>
          <p:nvPr/>
        </p:nvSpPr>
        <p:spPr>
          <a:xfrm>
            <a:off x="14044613" y="4772025"/>
            <a:ext cx="3886200" cy="1400176"/>
          </a:xfrm>
          <a:prstGeom prst="wedgeRoundRectCallout">
            <a:avLst>
              <a:gd name="adj1" fmla="val -63848"/>
              <a:gd name="adj2" fmla="val -7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Khi</a:t>
            </a:r>
            <a:r>
              <a:rPr lang="en-US" dirty="0" smtClean="0"/>
              <a:t> </a:t>
            </a:r>
            <a:r>
              <a:rPr lang="en-US" dirty="0" err="1" smtClean="0"/>
              <a:t>liên</a:t>
            </a:r>
            <a:r>
              <a:rPr lang="en-US" dirty="0" smtClean="0"/>
              <a:t> </a:t>
            </a:r>
            <a:r>
              <a:rPr lang="en-US" dirty="0" err="1" smtClean="0"/>
              <a:t>kết</a:t>
            </a:r>
            <a:r>
              <a:rPr lang="en-US" dirty="0" smtClean="0"/>
              <a:t> @</a:t>
            </a:r>
            <a:r>
              <a:rPr lang="en-US" dirty="0" err="1" smtClean="0"/>
              <a:t>OneToMany</a:t>
            </a:r>
            <a:r>
              <a:rPr lang="en-US" dirty="0" smtClean="0"/>
              <a:t> 2 </a:t>
            </a:r>
            <a:r>
              <a:rPr lang="en-US" dirty="0" err="1" smtClean="0"/>
              <a:t>chiều</a:t>
            </a:r>
            <a:r>
              <a:rPr lang="en-US" dirty="0" smtClean="0"/>
              <a:t>, </a:t>
            </a:r>
            <a:r>
              <a:rPr lang="en-US" dirty="0" err="1" smtClean="0"/>
              <a:t>thì</a:t>
            </a:r>
            <a:r>
              <a:rPr lang="en-US" dirty="0" smtClean="0"/>
              <a:t> </a:t>
            </a:r>
            <a:r>
              <a:rPr lang="en-US" dirty="0" err="1" smtClean="0"/>
              <a:t>tại</a:t>
            </a:r>
            <a:r>
              <a:rPr lang="en-US" dirty="0" smtClean="0"/>
              <a:t> entity con </a:t>
            </a:r>
            <a:r>
              <a:rPr lang="en-US" dirty="0" err="1" smtClean="0"/>
              <a:t>cần</a:t>
            </a:r>
            <a:r>
              <a:rPr lang="en-US" dirty="0" smtClean="0"/>
              <a:t> </a:t>
            </a:r>
            <a:r>
              <a:rPr lang="en-US" dirty="0" err="1" smtClean="0"/>
              <a:t>có</a:t>
            </a:r>
            <a:r>
              <a:rPr lang="en-US" dirty="0" smtClean="0"/>
              <a:t> annotation @</a:t>
            </a:r>
            <a:r>
              <a:rPr lang="en-US" dirty="0" err="1" smtClean="0"/>
              <a:t>ManyToOne</a:t>
            </a:r>
            <a:endParaRPr lang="en-US" dirty="0"/>
          </a:p>
        </p:txBody>
      </p:sp>
    </p:spTree>
    <p:extLst>
      <p:ext uri="{BB962C8B-B14F-4D97-AF65-F5344CB8AC3E}">
        <p14:creationId xmlns:p14="http://schemas.microsoft.com/office/powerpoint/2010/main" val="412466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015413" y="3808836"/>
            <a:ext cx="119058" cy="646730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正方形/長方形 3"/>
          <p:cNvSpPr/>
          <p:nvPr/>
        </p:nvSpPr>
        <p:spPr>
          <a:xfrm>
            <a:off x="174666" y="8178"/>
            <a:ext cx="635472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a:t>
            </a:r>
            <a:r>
              <a:rPr lang="en-US" sz="4000" b="1" dirty="0" err="1" smtClean="0">
                <a:latin typeface="Times New Roman" panose="02020603050405020304" pitchFamily="18" charset="0"/>
                <a:cs typeface="Times New Roman" panose="02020603050405020304" pitchFamily="18" charset="0"/>
              </a:rPr>
              <a:t>OneToOne</a:t>
            </a:r>
            <a:endParaRPr lang="en-US" sz="4000" b="1" dirty="0">
              <a:latin typeface="Times New Roman" panose="02020603050405020304" pitchFamily="18" charset="0"/>
              <a:cs typeface="Times New Roman" panose="02020603050405020304" pitchFamily="18" charset="0"/>
            </a:endParaRPr>
          </a:p>
        </p:txBody>
      </p:sp>
      <p:pic>
        <p:nvPicPr>
          <p:cNvPr id="5" name="図 4"/>
          <p:cNvPicPr>
            <a:picLocks noChangeAspect="1"/>
          </p:cNvPicPr>
          <p:nvPr/>
        </p:nvPicPr>
        <p:blipFill>
          <a:blip r:embed="rId3"/>
          <a:stretch>
            <a:fillRect/>
          </a:stretch>
        </p:blipFill>
        <p:spPr>
          <a:xfrm>
            <a:off x="518703" y="3941768"/>
            <a:ext cx="7556456" cy="6172535"/>
          </a:xfrm>
          <a:prstGeom prst="rect">
            <a:avLst/>
          </a:prstGeom>
        </p:spPr>
      </p:pic>
      <p:pic>
        <p:nvPicPr>
          <p:cNvPr id="6" name="図 5"/>
          <p:cNvPicPr>
            <a:picLocks noChangeAspect="1"/>
          </p:cNvPicPr>
          <p:nvPr/>
        </p:nvPicPr>
        <p:blipFill>
          <a:blip r:embed="rId4"/>
          <a:stretch>
            <a:fillRect/>
          </a:stretch>
        </p:blipFill>
        <p:spPr>
          <a:xfrm>
            <a:off x="9829431" y="3941768"/>
            <a:ext cx="7546039" cy="6710684"/>
          </a:xfrm>
          <a:prstGeom prst="rect">
            <a:avLst/>
          </a:prstGeom>
        </p:spPr>
      </p:pic>
      <p:grpSp>
        <p:nvGrpSpPr>
          <p:cNvPr id="14" name="グループ化 13"/>
          <p:cNvGrpSpPr/>
          <p:nvPr/>
        </p:nvGrpSpPr>
        <p:grpSpPr>
          <a:xfrm>
            <a:off x="2195367" y="1784806"/>
            <a:ext cx="11759583" cy="2024030"/>
            <a:chOff x="2233612" y="866776"/>
            <a:chExt cx="11759583" cy="2024030"/>
          </a:xfrm>
        </p:grpSpPr>
        <p:pic>
          <p:nvPicPr>
            <p:cNvPr id="8" name="図 7"/>
            <p:cNvPicPr>
              <a:picLocks noChangeAspect="1"/>
            </p:cNvPicPr>
            <p:nvPr/>
          </p:nvPicPr>
          <p:blipFill>
            <a:blip r:embed="rId5"/>
            <a:stretch>
              <a:fillRect/>
            </a:stretch>
          </p:blipFill>
          <p:spPr>
            <a:xfrm>
              <a:off x="2233612" y="866776"/>
              <a:ext cx="3713958" cy="2024030"/>
            </a:xfrm>
            <a:prstGeom prst="rect">
              <a:avLst/>
            </a:prstGeom>
          </p:spPr>
        </p:pic>
        <p:graphicFrame>
          <p:nvGraphicFramePr>
            <p:cNvPr id="10" name="オブジェクト 9"/>
            <p:cNvGraphicFramePr>
              <a:graphicFrameLocks noChangeAspect="1"/>
            </p:cNvGraphicFramePr>
            <p:nvPr>
              <p:extLst>
                <p:ext uri="{D42A27DB-BD31-4B8C-83A1-F6EECF244321}">
                  <p14:modId xmlns:p14="http://schemas.microsoft.com/office/powerpoint/2010/main" val="1824742975"/>
                </p:ext>
              </p:extLst>
            </p:nvPr>
          </p:nvGraphicFramePr>
          <p:xfrm>
            <a:off x="10649551" y="866776"/>
            <a:ext cx="3343644" cy="1812607"/>
          </p:xfrm>
          <a:graphic>
            <a:graphicData uri="http://schemas.openxmlformats.org/presentationml/2006/ole">
              <mc:AlternateContent xmlns:mc="http://schemas.openxmlformats.org/markup-compatibility/2006">
                <mc:Choice xmlns:v="urn:schemas-microsoft-com:vml" Requires="v">
                  <p:oleObj spid="_x0000_s6159" name="ワークシート" r:id="rId7" imgW="1809720" imgH="981222" progId="Excel.Sheet.12">
                    <p:embed/>
                  </p:oleObj>
                </mc:Choice>
                <mc:Fallback>
                  <p:oleObj name="ワークシート" r:id="rId7" imgW="1809720" imgH="981222" progId="Excel.Sheet.12">
                    <p:embed/>
                    <p:pic>
                      <p:nvPicPr>
                        <p:cNvPr id="0" name=""/>
                        <p:cNvPicPr/>
                        <p:nvPr/>
                      </p:nvPicPr>
                      <p:blipFill>
                        <a:blip r:embed="rId8"/>
                        <a:stretch>
                          <a:fillRect/>
                        </a:stretch>
                      </p:blipFill>
                      <p:spPr>
                        <a:xfrm>
                          <a:off x="10649551" y="866776"/>
                          <a:ext cx="3343644" cy="1812607"/>
                        </a:xfrm>
                        <a:prstGeom prst="rect">
                          <a:avLst/>
                        </a:prstGeom>
                      </p:spPr>
                    </p:pic>
                  </p:oleObj>
                </mc:Fallback>
              </mc:AlternateContent>
            </a:graphicData>
          </a:graphic>
        </p:graphicFrame>
        <p:cxnSp>
          <p:nvCxnSpPr>
            <p:cNvPr id="12" name="直線コネクタ 11"/>
            <p:cNvCxnSpPr/>
            <p:nvPr/>
          </p:nvCxnSpPr>
          <p:spPr>
            <a:xfrm flipV="1">
              <a:off x="5947570" y="1878791"/>
              <a:ext cx="4701981" cy="800592"/>
            </a:xfrm>
            <a:prstGeom prst="line">
              <a:avLst/>
            </a:prstGeom>
          </p:spPr>
          <p:style>
            <a:lnRef idx="2">
              <a:schemeClr val="dk1"/>
            </a:lnRef>
            <a:fillRef idx="0">
              <a:schemeClr val="dk1"/>
            </a:fillRef>
            <a:effectRef idx="1">
              <a:schemeClr val="dk1"/>
            </a:effectRef>
            <a:fontRef idx="minor">
              <a:schemeClr val="tx1"/>
            </a:fontRef>
          </p:style>
        </p:cxnSp>
        <p:sp>
          <p:nvSpPr>
            <p:cNvPr id="13" name="テキスト ボックス 12"/>
            <p:cNvSpPr txBox="1"/>
            <p:nvPr/>
          </p:nvSpPr>
          <p:spPr>
            <a:xfrm>
              <a:off x="6129338" y="2279087"/>
              <a:ext cx="400050" cy="369332"/>
            </a:xfrm>
            <a:prstGeom prst="rect">
              <a:avLst/>
            </a:prstGeom>
            <a:noFill/>
          </p:spPr>
          <p:txBody>
            <a:bodyPr wrap="square" rtlCol="0">
              <a:spAutoFit/>
            </a:bodyPr>
            <a:lstStyle/>
            <a:p>
              <a:r>
                <a:rPr lang="en-US" dirty="0" smtClean="0"/>
                <a:t>1</a:t>
              </a:r>
              <a:endParaRPr lang="en-US" dirty="0"/>
            </a:p>
          </p:txBody>
        </p:sp>
        <p:sp>
          <p:nvSpPr>
            <p:cNvPr id="17" name="テキスト ボックス 16"/>
            <p:cNvSpPr txBox="1"/>
            <p:nvPr/>
          </p:nvSpPr>
          <p:spPr>
            <a:xfrm>
              <a:off x="10050909" y="1509459"/>
              <a:ext cx="400050" cy="369332"/>
            </a:xfrm>
            <a:prstGeom prst="rect">
              <a:avLst/>
            </a:prstGeom>
            <a:noFill/>
          </p:spPr>
          <p:txBody>
            <a:bodyPr wrap="square" rtlCol="0">
              <a:spAutoFit/>
            </a:bodyPr>
            <a:lstStyle/>
            <a:p>
              <a:r>
                <a:rPr lang="en-US" dirty="0" smtClean="0"/>
                <a:t>1</a:t>
              </a:r>
              <a:endParaRPr lang="en-US" dirty="0"/>
            </a:p>
          </p:txBody>
        </p:sp>
      </p:grpSp>
      <p:sp>
        <p:nvSpPr>
          <p:cNvPr id="18" name="テキスト ボックス 17"/>
          <p:cNvSpPr txBox="1"/>
          <p:nvPr/>
        </p:nvSpPr>
        <p:spPr>
          <a:xfrm>
            <a:off x="518703" y="957263"/>
            <a:ext cx="17454972" cy="646331"/>
          </a:xfrm>
          <a:prstGeom prst="rect">
            <a:avLst/>
          </a:prstGeom>
          <a:noFill/>
        </p:spPr>
        <p:txBody>
          <a:bodyPr wrap="square" rtlCol="0">
            <a:spAutoFit/>
          </a:bodyPr>
          <a:lstStyle/>
          <a:p>
            <a:r>
              <a:rPr lang="en-US" dirty="0" smtClean="0"/>
              <a:t>Do </a:t>
            </a:r>
            <a:r>
              <a:rPr lang="en-US" dirty="0" err="1" smtClean="0"/>
              <a:t>không</a:t>
            </a:r>
            <a:r>
              <a:rPr lang="en-US" dirty="0" smtClean="0"/>
              <a:t> </a:t>
            </a:r>
            <a:r>
              <a:rPr lang="en-US" dirty="0" err="1" smtClean="0"/>
              <a:t>có</a:t>
            </a:r>
            <a:r>
              <a:rPr lang="en-US" dirty="0" smtClean="0"/>
              <a:t> table </a:t>
            </a:r>
            <a:r>
              <a:rPr lang="en-US" dirty="0" err="1" smtClean="0"/>
              <a:t>quan</a:t>
            </a:r>
            <a:r>
              <a:rPr lang="en-US" dirty="0" smtClean="0"/>
              <a:t> </a:t>
            </a:r>
            <a:r>
              <a:rPr lang="en-US" dirty="0" err="1" smtClean="0"/>
              <a:t>hệ</a:t>
            </a:r>
            <a:r>
              <a:rPr lang="en-US" dirty="0" smtClean="0"/>
              <a:t> 1:1, </a:t>
            </a:r>
            <a:r>
              <a:rPr lang="en-US" dirty="0" err="1" smtClean="0"/>
              <a:t>nên</a:t>
            </a:r>
            <a:r>
              <a:rPr lang="en-US" dirty="0" smtClean="0"/>
              <a:t> </a:t>
            </a:r>
            <a:r>
              <a:rPr lang="en-US" dirty="0" err="1" smtClean="0"/>
              <a:t>tạo</a:t>
            </a:r>
            <a:r>
              <a:rPr lang="en-US" dirty="0" smtClean="0"/>
              <a:t> 2 table Phone </a:t>
            </a:r>
            <a:r>
              <a:rPr lang="en-US" dirty="0" err="1" smtClean="0"/>
              <a:t>và</a:t>
            </a:r>
            <a:r>
              <a:rPr lang="en-US" dirty="0" smtClean="0"/>
              <a:t> </a:t>
            </a:r>
            <a:r>
              <a:rPr lang="en-US" dirty="0" err="1" smtClean="0"/>
              <a:t>PhoneDetails</a:t>
            </a:r>
            <a:r>
              <a:rPr lang="en-US" dirty="0" smtClean="0"/>
              <a:t> </a:t>
            </a:r>
            <a:r>
              <a:rPr lang="en-US" dirty="0" err="1" smtClean="0"/>
              <a:t>để</a:t>
            </a:r>
            <a:r>
              <a:rPr lang="en-US" dirty="0" smtClean="0"/>
              <a:t> </a:t>
            </a:r>
            <a:r>
              <a:rPr lang="en-US" dirty="0" err="1" smtClean="0"/>
              <a:t>mô</a:t>
            </a:r>
            <a:r>
              <a:rPr lang="en-US" dirty="0" smtClean="0"/>
              <a:t> </a:t>
            </a:r>
            <a:r>
              <a:rPr lang="en-US" dirty="0" err="1" smtClean="0"/>
              <a:t>tả</a:t>
            </a:r>
            <a:r>
              <a:rPr lang="en-US" dirty="0" smtClean="0"/>
              <a:t>.</a:t>
            </a:r>
          </a:p>
          <a:p>
            <a:r>
              <a:rPr lang="en-US" dirty="0" smtClean="0"/>
              <a:t>Phone </a:t>
            </a:r>
            <a:r>
              <a:rPr lang="en-US" dirty="0" err="1" smtClean="0"/>
              <a:t>và</a:t>
            </a:r>
            <a:r>
              <a:rPr lang="en-US" dirty="0" smtClean="0"/>
              <a:t> </a:t>
            </a:r>
            <a:r>
              <a:rPr lang="en-US" dirty="0" err="1" smtClean="0"/>
              <a:t>PhoneDetails</a:t>
            </a:r>
            <a:r>
              <a:rPr lang="en-US" dirty="0" smtClean="0"/>
              <a:t> </a:t>
            </a:r>
            <a:r>
              <a:rPr lang="en-US" dirty="0" err="1" smtClean="0"/>
              <a:t>được</a:t>
            </a:r>
            <a:r>
              <a:rPr lang="en-US" dirty="0" smtClean="0"/>
              <a:t> </a:t>
            </a:r>
            <a:r>
              <a:rPr lang="en-US" dirty="0" err="1" smtClean="0"/>
              <a:t>liên</a:t>
            </a:r>
            <a:r>
              <a:rPr lang="en-US" dirty="0" smtClean="0"/>
              <a:t> </a:t>
            </a:r>
            <a:r>
              <a:rPr lang="en-US" dirty="0" err="1" smtClean="0"/>
              <a:t>kết</a:t>
            </a:r>
            <a:r>
              <a:rPr lang="en-US" dirty="0" smtClean="0"/>
              <a:t> </a:t>
            </a:r>
            <a:r>
              <a:rPr lang="en-US" dirty="0" err="1" smtClean="0"/>
              <a:t>với</a:t>
            </a:r>
            <a:r>
              <a:rPr lang="en-US" dirty="0" smtClean="0"/>
              <a:t> </a:t>
            </a:r>
            <a:r>
              <a:rPr lang="en-US" dirty="0" err="1" smtClean="0"/>
              <a:t>nhau</a:t>
            </a:r>
            <a:r>
              <a:rPr lang="en-US" dirty="0" smtClean="0"/>
              <a:t> </a:t>
            </a:r>
            <a:r>
              <a:rPr lang="en-US" dirty="0" err="1" smtClean="0"/>
              <a:t>như</a:t>
            </a:r>
            <a:r>
              <a:rPr lang="en-US" dirty="0" smtClean="0"/>
              <a:t> </a:t>
            </a:r>
            <a:r>
              <a:rPr lang="en-US" dirty="0" err="1" smtClean="0"/>
              <a:t>dưới</a:t>
            </a:r>
            <a:endParaRPr lang="en-US" dirty="0"/>
          </a:p>
        </p:txBody>
      </p:sp>
    </p:spTree>
    <p:extLst>
      <p:ext uri="{BB962C8B-B14F-4D97-AF65-F5344CB8AC3E}">
        <p14:creationId xmlns:p14="http://schemas.microsoft.com/office/powerpoint/2010/main" val="374134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9134471" y="8178"/>
            <a:ext cx="0" cy="10267960"/>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正方形/長方形 3"/>
          <p:cNvSpPr/>
          <p:nvPr/>
        </p:nvSpPr>
        <p:spPr>
          <a:xfrm>
            <a:off x="174666" y="8178"/>
            <a:ext cx="635472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ManyToMany</a:t>
            </a:r>
            <a:endParaRPr lang="en-US" sz="4000" b="1" dirty="0">
              <a:latin typeface="Times New Roman" panose="02020603050405020304" pitchFamily="18" charset="0"/>
              <a:cs typeface="Times New Roman" panose="02020603050405020304" pitchFamily="18" charset="0"/>
            </a:endParaRPr>
          </a:p>
        </p:txBody>
      </p:sp>
      <p:pic>
        <p:nvPicPr>
          <p:cNvPr id="4" name="図 3"/>
          <p:cNvPicPr>
            <a:picLocks noChangeAspect="1"/>
          </p:cNvPicPr>
          <p:nvPr/>
        </p:nvPicPr>
        <p:blipFill>
          <a:blip r:embed="rId2"/>
          <a:stretch>
            <a:fillRect/>
          </a:stretch>
        </p:blipFill>
        <p:spPr>
          <a:xfrm>
            <a:off x="9282105" y="1166325"/>
            <a:ext cx="8617526" cy="8692029"/>
          </a:xfrm>
          <a:prstGeom prst="rect">
            <a:avLst/>
          </a:prstGeom>
        </p:spPr>
      </p:pic>
      <p:pic>
        <p:nvPicPr>
          <p:cNvPr id="2" name="図 1"/>
          <p:cNvPicPr>
            <a:picLocks noChangeAspect="1"/>
          </p:cNvPicPr>
          <p:nvPr/>
        </p:nvPicPr>
        <p:blipFill>
          <a:blip r:embed="rId3"/>
          <a:stretch>
            <a:fillRect/>
          </a:stretch>
        </p:blipFill>
        <p:spPr>
          <a:xfrm>
            <a:off x="647298" y="1166324"/>
            <a:ext cx="7876453" cy="8692029"/>
          </a:xfrm>
          <a:prstGeom prst="rect">
            <a:avLst/>
          </a:prstGeom>
        </p:spPr>
      </p:pic>
      <p:sp>
        <p:nvSpPr>
          <p:cNvPr id="5" name="正方形/長方形 4"/>
          <p:cNvSpPr/>
          <p:nvPr/>
        </p:nvSpPr>
        <p:spPr>
          <a:xfrm>
            <a:off x="1388906" y="7682249"/>
            <a:ext cx="5372502" cy="124281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741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2"/>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3"/>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1" name="Picture 21"/>
          <p:cNvPicPr>
            <a:picLocks noChangeAspect="1"/>
          </p:cNvPicPr>
          <p:nvPr/>
        </p:nvPicPr>
        <p:blipFill>
          <a:blip r:embed="rId2"/>
          <a:stretch>
            <a:fillRect/>
          </a:stretch>
        </p:blipFill>
        <p:spPr>
          <a:xfrm>
            <a:off x="1303020" y="1668780"/>
            <a:ext cx="6065520" cy="6675120"/>
          </a:xfrm>
          <a:prstGeom prst="rect">
            <a:avLst/>
          </a:prstGeom>
        </p:spPr>
      </p:pic>
      <p:sp>
        <p:nvSpPr>
          <p:cNvPr id="2" name="TextBox 21"/>
          <p:cNvSpPr txBox="1"/>
          <p:nvPr/>
        </p:nvSpPr>
        <p:spPr>
          <a:xfrm>
            <a:off x="7368540" y="3450728"/>
            <a:ext cx="10363199" cy="3385542"/>
          </a:xfrm>
          <a:prstGeom prst="rect">
            <a:avLst/>
          </a:prstGeom>
          <a:noFill/>
        </p:spPr>
        <p:txBody>
          <a:bodyPr wrap="square" lIns="0" tIns="0" rIns="0" bIns="0" rtlCol="0">
            <a:spAutoFit/>
          </a:bodyPr>
          <a:lstStyle/>
          <a:p>
            <a:pPr algn="ctr"/>
            <a:r>
              <a:rPr lang="en-US" altLang="zh-CN" sz="8800" b="1" spc="185" dirty="0" smtClean="0">
                <a:solidFill>
                  <a:srgbClr val="F5B3A5"/>
                </a:solidFill>
                <a:latin typeface="Times New Roman"/>
                <a:ea typeface="Times New Roman"/>
              </a:rPr>
              <a:t>4. JPQL </a:t>
            </a:r>
            <a:r>
              <a:rPr lang="en-US" altLang="zh-CN" sz="8800" b="1" spc="185" dirty="0" err="1" smtClean="0">
                <a:solidFill>
                  <a:srgbClr val="F5B3A5"/>
                </a:solidFill>
                <a:latin typeface="Times New Roman"/>
                <a:ea typeface="Times New Roman"/>
              </a:rPr>
              <a:t>trong</a:t>
            </a:r>
            <a:r>
              <a:rPr lang="en-US" altLang="zh-CN" sz="8800" b="1" spc="185" dirty="0" smtClean="0">
                <a:solidFill>
                  <a:srgbClr val="F5B3A5"/>
                </a:solidFill>
                <a:latin typeface="Times New Roman"/>
                <a:ea typeface="Times New Roman"/>
              </a:rPr>
              <a:t> Spring Data JPA</a:t>
            </a:r>
            <a:endParaRPr lang="en-US" altLang="zh-CN" sz="8800" b="1" spc="185" dirty="0">
              <a:solidFill>
                <a:srgbClr val="F5B3A5"/>
              </a:solidFill>
              <a:latin typeface="Times New Roman"/>
              <a:ea typeface="Times New Roman"/>
            </a:endParaRPr>
          </a:p>
          <a:p>
            <a:pPr marL="0" algn="ctr">
              <a:lnSpc>
                <a:spcPct val="100000"/>
              </a:lnSpc>
            </a:pPr>
            <a:endParaRPr lang="en-US" altLang="zh-CN" sz="4400" spc="195" dirty="0">
              <a:solidFill>
                <a:srgbClr val="93DCDD"/>
              </a:solidFill>
              <a:latin typeface="Times New Roman"/>
              <a:ea typeface="Times New Roman"/>
            </a:endParaRPr>
          </a:p>
        </p:txBody>
      </p:sp>
    </p:spTree>
    <p:extLst>
      <p:ext uri="{BB962C8B-B14F-4D97-AF65-F5344CB8AC3E}">
        <p14:creationId xmlns:p14="http://schemas.microsoft.com/office/powerpoint/2010/main" val="409831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5" y="253783"/>
            <a:ext cx="7626309"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Java Persistence Query language</a:t>
            </a:r>
          </a:p>
        </p:txBody>
      </p:sp>
      <p:pic>
        <p:nvPicPr>
          <p:cNvPr id="14" name="Picture 28"/>
          <p:cNvPicPr>
            <a:picLocks noChangeAspect="1"/>
          </p:cNvPicPr>
          <p:nvPr/>
        </p:nvPicPr>
        <p:blipFill>
          <a:blip r:embed="rId2"/>
          <a:stretch>
            <a:fillRect/>
          </a:stretch>
        </p:blipFill>
        <p:spPr>
          <a:xfrm flipH="1">
            <a:off x="15148560" y="4175760"/>
            <a:ext cx="3139440" cy="6111240"/>
          </a:xfrm>
          <a:prstGeom prst="rect">
            <a:avLst/>
          </a:prstGeom>
        </p:spPr>
      </p:pic>
      <p:sp>
        <p:nvSpPr>
          <p:cNvPr id="2" name="テキスト ボックス 1"/>
          <p:cNvSpPr txBox="1"/>
          <p:nvPr/>
        </p:nvSpPr>
        <p:spPr>
          <a:xfrm>
            <a:off x="1100138" y="1328738"/>
            <a:ext cx="13916026" cy="2677656"/>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JPQL (</a:t>
            </a:r>
            <a:r>
              <a:rPr lang="en-US" sz="2800" b="1" dirty="0">
                <a:latin typeface="Times New Roman" panose="02020603050405020304" pitchFamily="18" charset="0"/>
                <a:cs typeface="Times New Roman" panose="02020603050405020304" pitchFamily="18" charset="0"/>
              </a:rPr>
              <a:t>Java Persistence Query language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Ngôn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truy</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vấn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của</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Java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nghĩa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a:t>
            </a:r>
            <a:r>
              <a:rPr lang="en-US" sz="2800" dirty="0">
                <a:latin typeface="Times New Roman" panose="02020603050405020304" pitchFamily="18" charset="0"/>
                <a:cs typeface="Times New Roman" panose="02020603050405020304" pitchFamily="18" charset="0"/>
              </a:rPr>
              <a:t> JPA. </a:t>
            </a:r>
            <a:r>
              <a:rPr lang="en-US" sz="2800" dirty="0" err="1">
                <a:latin typeface="Times New Roman" panose="02020603050405020304" pitchFamily="18" charset="0"/>
                <a:cs typeface="Times New Roman" panose="02020603050405020304" pitchFamily="18" charset="0"/>
              </a:rPr>
              <a:t>Nó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vấn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entity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lưu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sở</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lgn="just"/>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JPQL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triển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dựa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cú</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SQL. </a:t>
            </a:r>
            <a:r>
              <a:rPr lang="en-US" sz="2800" dirty="0" err="1">
                <a:latin typeface="Times New Roman" panose="02020603050405020304" pitchFamily="18" charset="0"/>
                <a:cs typeface="Times New Roman" panose="02020603050405020304" pitchFamily="18" charset="0"/>
              </a:rPr>
              <a:t>Nhưng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ảnh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hưởng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tiếp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sở</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liệu</a:t>
            </a: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59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5" y="253783"/>
            <a:ext cx="8554998"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Sử</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dụng</a:t>
            </a:r>
            <a:r>
              <a:rPr lang="en-US" sz="4000" b="1" dirty="0" smtClean="0">
                <a:latin typeface="Times New Roman" panose="02020603050405020304" pitchFamily="18" charset="0"/>
                <a:cs typeface="Times New Roman" panose="02020603050405020304" pitchFamily="18" charset="0"/>
              </a:rPr>
              <a:t> JPQL </a:t>
            </a:r>
            <a:r>
              <a:rPr lang="en-US" sz="4000" b="1" dirty="0" err="1" smtClean="0">
                <a:latin typeface="Times New Roman" panose="02020603050405020304" pitchFamily="18" charset="0"/>
                <a:cs typeface="Times New Roman" panose="02020603050405020304" pitchFamily="18" charset="0"/>
              </a:rPr>
              <a:t>trong</a:t>
            </a:r>
            <a:r>
              <a:rPr lang="en-US" sz="4000" b="1" dirty="0" smtClean="0">
                <a:latin typeface="Times New Roman" panose="02020603050405020304" pitchFamily="18" charset="0"/>
                <a:cs typeface="Times New Roman" panose="02020603050405020304" pitchFamily="18" charset="0"/>
              </a:rPr>
              <a:t> Spring Data JPA</a:t>
            </a:r>
            <a:endParaRPr lang="en-US" sz="4000" b="1" dirty="0">
              <a:latin typeface="Times New Roman" panose="02020603050405020304" pitchFamily="18" charset="0"/>
              <a:cs typeface="Times New Roman" panose="02020603050405020304" pitchFamily="18" charset="0"/>
            </a:endParaRPr>
          </a:p>
        </p:txBody>
      </p:sp>
      <p:pic>
        <p:nvPicPr>
          <p:cNvPr id="14" name="Picture 28"/>
          <p:cNvPicPr>
            <a:picLocks noChangeAspect="1"/>
          </p:cNvPicPr>
          <p:nvPr/>
        </p:nvPicPr>
        <p:blipFill>
          <a:blip r:embed="rId2"/>
          <a:stretch>
            <a:fillRect/>
          </a:stretch>
        </p:blipFill>
        <p:spPr>
          <a:xfrm flipH="1">
            <a:off x="15148560" y="4175760"/>
            <a:ext cx="3139440" cy="6111240"/>
          </a:xfrm>
          <a:prstGeom prst="rect">
            <a:avLst/>
          </a:prstGeom>
        </p:spPr>
      </p:pic>
      <p:sp>
        <p:nvSpPr>
          <p:cNvPr id="2" name="テキスト ボックス 1"/>
          <p:cNvSpPr txBox="1"/>
          <p:nvPr/>
        </p:nvSpPr>
        <p:spPr>
          <a:xfrm>
            <a:off x="1100138" y="1328738"/>
            <a:ext cx="13916026" cy="954107"/>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err="1" smtClean="0">
                <a:latin typeface="Times New Roman" panose="02020603050405020304" pitchFamily="18" charset="0"/>
                <a:cs typeface="Times New Roman" panose="02020603050405020304" pitchFamily="18" charset="0"/>
              </a:rPr>
              <a:t>Với</a:t>
            </a:r>
            <a:r>
              <a:rPr lang="en-US" sz="2800" dirty="0" smtClean="0">
                <a:latin typeface="Times New Roman" panose="02020603050405020304" pitchFamily="18" charset="0"/>
                <a:cs typeface="Times New Roman" panose="02020603050405020304" pitchFamily="18" charset="0"/>
              </a:rPr>
              <a:t> Spring Data JPA </a:t>
            </a:r>
            <a:r>
              <a:rPr lang="en-US" sz="2800" dirty="0" err="1" smtClean="0">
                <a:latin typeface="Times New Roman" panose="02020603050405020304" pitchFamily="18" charset="0"/>
                <a:cs typeface="Times New Roman" panose="02020603050405020304" pitchFamily="18" charset="0"/>
              </a:rPr>
              <a:t>chúng</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annotation @Query </a:t>
            </a:r>
            <a:r>
              <a:rPr lang="en-US" sz="2800" dirty="0" err="1" smtClean="0">
                <a:latin typeface="Times New Roman" panose="02020603050405020304" pitchFamily="18" charset="0"/>
                <a:cs typeface="Times New Roman" panose="02020603050405020304" pitchFamily="18" charset="0"/>
              </a:rPr>
              <a:t>để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thực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hiện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truy</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vấn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với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câu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lệnh</a:t>
            </a:r>
            <a:r>
              <a:rPr lang="en-US" sz="2800" dirty="0" smtClean="0">
                <a:latin typeface="Times New Roman" panose="02020603050405020304" pitchFamily="18" charset="0"/>
                <a:cs typeface="Times New Roman" panose="02020603050405020304" pitchFamily="18" charset="0"/>
              </a:rPr>
              <a:t> JPQL</a:t>
            </a:r>
          </a:p>
        </p:txBody>
      </p:sp>
      <p:sp>
        <p:nvSpPr>
          <p:cNvPr id="3" name="正方形/長方形 2"/>
          <p:cNvSpPr/>
          <p:nvPr/>
        </p:nvSpPr>
        <p:spPr>
          <a:xfrm>
            <a:off x="1514475" y="2465844"/>
            <a:ext cx="10858500" cy="2369880"/>
          </a:xfrm>
          <a:prstGeom prst="rect">
            <a:avLst/>
          </a:prstGeom>
        </p:spPr>
        <p:txBody>
          <a:bodyPr wrap="square">
            <a:spAutoFit/>
          </a:bodyPr>
          <a:lstStyle/>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Get </a:t>
            </a:r>
            <a:r>
              <a:rPr lang="en-US" sz="2000" b="1" dirty="0" err="1" smtClean="0">
                <a:latin typeface="Times New Roman" panose="02020603050405020304" pitchFamily="18" charset="0"/>
                <a:cs typeface="Times New Roman" panose="02020603050405020304" pitchFamily="18" charset="0"/>
              </a:rPr>
              <a:t>toàn</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bộ</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thông</a:t>
            </a:r>
            <a:r>
              <a:rPr lang="en-US" sz="2000" b="1" dirty="0" smtClean="0">
                <a:latin typeface="Times New Roman" panose="02020603050405020304" pitchFamily="18" charset="0"/>
                <a:cs typeface="Times New Roman" panose="02020603050405020304" pitchFamily="18" charset="0"/>
              </a:rPr>
              <a:t> tin table Facilities, </a:t>
            </a:r>
            <a:r>
              <a:rPr lang="en-US" sz="2000" b="1" dirty="0" err="1">
                <a:latin typeface="Times New Roman" panose="02020603050405020304" pitchFamily="18" charset="0"/>
                <a:cs typeface="Times New Roman" panose="02020603050405020304" pitchFamily="18" charset="0"/>
              </a:rPr>
              <a:t>t</a:t>
            </a:r>
            <a:r>
              <a:rPr lang="en-US" sz="2000" b="1" dirty="0" err="1" smtClean="0">
                <a:latin typeface="Times New Roman" panose="02020603050405020304" pitchFamily="18" charset="0"/>
                <a:cs typeface="Times New Roman" panose="02020603050405020304" pitchFamily="18" charset="0"/>
              </a:rPr>
              <a:t>ương</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ứng</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với</a:t>
            </a:r>
            <a:r>
              <a:rPr lang="en-US" sz="2000" b="1" dirty="0" smtClean="0">
                <a:latin typeface="Times New Roman" panose="02020603050405020304" pitchFamily="18" charset="0"/>
                <a:cs typeface="Times New Roman" panose="02020603050405020304" pitchFamily="18" charset="0"/>
              </a:rPr>
              <a:t> SQL(SELECT * FROM </a:t>
            </a:r>
            <a:r>
              <a:rPr lang="en-US" sz="2000" b="1" dirty="0">
                <a:latin typeface="Times New Roman" panose="02020603050405020304" pitchFamily="18" charset="0"/>
                <a:cs typeface="Times New Roman" panose="02020603050405020304" pitchFamily="18" charset="0"/>
              </a:rPr>
              <a:t>facilities</a:t>
            </a:r>
            <a:r>
              <a:rPr lang="en-US" sz="2000" b="1" dirty="0" smtClean="0">
                <a:latin typeface="Times New Roman" panose="02020603050405020304" pitchFamily="18" charset="0"/>
                <a:cs typeface="Times New Roman" panose="02020603050405020304" pitchFamily="18" charset="0"/>
              </a:rPr>
              <a:t>)</a:t>
            </a:r>
          </a:p>
          <a:p>
            <a:r>
              <a:rPr lang="en-US" altLang="ja-JP" sz="2000" dirty="0" smtClean="0">
                <a:latin typeface="Times New Roman" panose="02020603050405020304" pitchFamily="18" charset="0"/>
                <a:cs typeface="Times New Roman" panose="02020603050405020304" pitchFamily="18" charset="0"/>
              </a:rPr>
              <a:t>※</a:t>
            </a:r>
            <a:r>
              <a:rPr lang="en-US" sz="2000" i="1" dirty="0" err="1" smtClean="0">
                <a:latin typeface="Times New Roman" panose="02020603050405020304" pitchFamily="18" charset="0"/>
                <a:cs typeface="Times New Roman" panose="02020603050405020304" pitchFamily="18" charset="0"/>
              </a:rPr>
              <a:t>Đối</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với</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trường</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hợp</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lấy</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tất</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cả</a:t>
            </a:r>
            <a:r>
              <a:rPr lang="en-US" sz="2000" i="1" dirty="0" smtClean="0">
                <a:latin typeface="Times New Roman" panose="02020603050405020304" pitchFamily="18" charset="0"/>
                <a:cs typeface="Times New Roman" panose="02020603050405020304" pitchFamily="18" charset="0"/>
              </a:rPr>
              <a:t> column </a:t>
            </a:r>
            <a:r>
              <a:rPr lang="en-US" sz="2000" i="1" dirty="0" err="1" smtClean="0">
                <a:latin typeface="Times New Roman" panose="02020603050405020304" pitchFamily="18" charset="0"/>
                <a:cs typeface="Times New Roman" panose="02020603050405020304" pitchFamily="18" charset="0"/>
              </a:rPr>
              <a:t>thì</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không</a:t>
            </a:r>
            <a:r>
              <a:rPr lang="en-US" sz="2000" i="1" dirty="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cần</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có</a:t>
            </a:r>
            <a:r>
              <a:rPr lang="en-US" sz="2000" i="1" dirty="0" smtClean="0">
                <a:latin typeface="Times New Roman" panose="02020603050405020304" pitchFamily="18" charset="0"/>
                <a:cs typeface="Times New Roman" panose="02020603050405020304" pitchFamily="18" charset="0"/>
              </a:rPr>
              <a:t> “SELECT  </a:t>
            </a:r>
            <a:r>
              <a:rPr lang="en-US" sz="2000" i="1" dirty="0" err="1" smtClean="0">
                <a:latin typeface="Times New Roman" panose="02020603050405020304" pitchFamily="18" charset="0"/>
                <a:cs typeface="Times New Roman" panose="02020603050405020304" pitchFamily="18" charset="0"/>
              </a:rPr>
              <a:t>fa</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trong</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câu</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lệnh</a:t>
            </a:r>
            <a:r>
              <a:rPr lang="en-US" sz="2000" i="1" dirty="0" smtClean="0">
                <a:latin typeface="Times New Roman" panose="02020603050405020304" pitchFamily="18" charset="0"/>
                <a:cs typeface="Times New Roman" panose="02020603050405020304" pitchFamily="18" charset="0"/>
              </a:rPr>
              <a:t> JPQL </a:t>
            </a:r>
            <a:r>
              <a:rPr lang="en-US" sz="2000" i="1" dirty="0" err="1" smtClean="0">
                <a:latin typeface="Times New Roman" panose="02020603050405020304" pitchFamily="18" charset="0"/>
                <a:cs typeface="Times New Roman" panose="02020603050405020304" pitchFamily="18" charset="0"/>
              </a:rPr>
              <a:t>cũng</a:t>
            </a:r>
            <a:r>
              <a:rPr lang="en-US" sz="2000" i="1" dirty="0" smtClean="0">
                <a:latin typeface="Times New Roman" panose="02020603050405020304" pitchFamily="18" charset="0"/>
                <a:cs typeface="Times New Roman" panose="02020603050405020304" pitchFamily="18" charset="0"/>
              </a:rPr>
              <a:t> </a:t>
            </a:r>
            <a:r>
              <a:rPr lang="en-US" sz="2000" i="1" dirty="0" err="1" smtClean="0">
                <a:latin typeface="Times New Roman" panose="02020603050405020304" pitchFamily="18" charset="0"/>
                <a:cs typeface="Times New Roman" panose="02020603050405020304" pitchFamily="18" charset="0"/>
              </a:rPr>
              <a:t>được</a:t>
            </a:r>
            <a:endParaRPr lang="en-US" sz="2000" i="1" dirty="0" smtClean="0">
              <a:latin typeface="Times New Roman" panose="02020603050405020304" pitchFamily="18" charset="0"/>
              <a:cs typeface="Times New Roman" panose="02020603050405020304" pitchFamily="18" charset="0"/>
            </a:endParaRPr>
          </a:p>
          <a:p>
            <a:endParaRPr lang="en-US" dirty="0">
              <a:solidFill>
                <a:srgbClr val="3F7F5F"/>
              </a:solidFill>
              <a:latin typeface="Consolas" panose="020B0609020204030204" pitchFamily="49" charset="0"/>
            </a:endParaRPr>
          </a:p>
          <a:p>
            <a:r>
              <a:rPr lang="en-US" dirty="0" smtClean="0">
                <a:solidFill>
                  <a:srgbClr val="3F7F5F"/>
                </a:solidFill>
                <a:latin typeface="Consolas" panose="020B0609020204030204" pitchFamily="49" charset="0"/>
              </a:rPr>
              <a:t>/**</a:t>
            </a:r>
            <a:endParaRPr lang="en-US" dirty="0">
              <a:solidFill>
                <a:srgbClr val="3F7F5F"/>
              </a:solidFill>
              <a:latin typeface="Consolas" panose="020B0609020204030204" pitchFamily="49" charset="0"/>
            </a:endParaRPr>
          </a:p>
          <a:p>
            <a:r>
              <a:rPr lang="pl-PL" dirty="0">
                <a:solidFill>
                  <a:srgbClr val="000000"/>
                </a:solidFill>
                <a:latin typeface="Consolas" panose="020B0609020204030204" pitchFamily="49" charset="0"/>
              </a:rPr>
              <a:t> </a:t>
            </a:r>
            <a:r>
              <a:rPr lang="pl-PL" dirty="0">
                <a:solidFill>
                  <a:srgbClr val="3F7F5F"/>
                </a:solidFill>
                <a:latin typeface="Consolas" panose="020B0609020204030204" pitchFamily="49" charset="0"/>
              </a:rPr>
              <a:t>* Tim kiem toan bo Facility</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a:t>
            </a:r>
          </a:p>
          <a:p>
            <a:r>
              <a:rPr lang="en-US" dirty="0">
                <a:solidFill>
                  <a:srgbClr val="646464"/>
                </a:solidFill>
                <a:latin typeface="Consolas" panose="020B0609020204030204" pitchFamily="49" charset="0"/>
              </a:rPr>
              <a:t>@Query</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"from Facility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fun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findAllFacility</a:t>
            </a:r>
            <a:r>
              <a:rPr lang="en-US" b="1" dirty="0">
                <a:solidFill>
                  <a:srgbClr val="000000"/>
                </a:solidFill>
                <a:latin typeface="Consolas" panose="020B0609020204030204" pitchFamily="49" charset="0"/>
              </a:rPr>
              <a:t>(): List&lt;Facility&gt;?</a:t>
            </a:r>
            <a:endParaRPr lang="en-US" dirty="0"/>
          </a:p>
        </p:txBody>
      </p:sp>
      <p:sp>
        <p:nvSpPr>
          <p:cNvPr id="9" name="正方形/長方形 8"/>
          <p:cNvSpPr/>
          <p:nvPr/>
        </p:nvSpPr>
        <p:spPr>
          <a:xfrm>
            <a:off x="1514475" y="5167005"/>
            <a:ext cx="11272838" cy="2893100"/>
          </a:xfrm>
          <a:prstGeom prst="rect">
            <a:avLst/>
          </a:prstGeom>
        </p:spPr>
        <p:txBody>
          <a:bodyPr wrap="square">
            <a:spAutoFit/>
          </a:bodyPr>
          <a:lstStyle/>
          <a:p>
            <a:pPr marL="342900" indent="-342900">
              <a:buFont typeface="Arial" panose="020B0604020202020204" pitchFamily="34" charset="0"/>
              <a:buChar char="•"/>
            </a:pPr>
            <a:r>
              <a:rPr lang="en-US" sz="2000" b="1" dirty="0" err="1" smtClean="0">
                <a:latin typeface="Times New Roman" panose="02020603050405020304" pitchFamily="18" charset="0"/>
                <a:cs typeface="Times New Roman" panose="02020603050405020304" pitchFamily="18" charset="0"/>
              </a:rPr>
              <a:t>Thực</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hiện</a:t>
            </a:r>
            <a:r>
              <a:rPr lang="en-US" sz="2000" b="1" dirty="0" smtClean="0">
                <a:latin typeface="Times New Roman" panose="02020603050405020304" pitchFamily="18" charset="0"/>
                <a:cs typeface="Times New Roman" panose="02020603050405020304" pitchFamily="18" charset="0"/>
              </a:rPr>
              <a:t> join 2 table </a:t>
            </a:r>
            <a:r>
              <a:rPr lang="en-US" sz="2000" b="1" dirty="0" err="1" smtClean="0">
                <a:latin typeface="Times New Roman" panose="02020603050405020304" pitchFamily="18" charset="0"/>
                <a:cs typeface="Times New Roman" panose="02020603050405020304" pitchFamily="18" charset="0"/>
              </a:rPr>
              <a:t>sử</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dụng</a:t>
            </a:r>
            <a:r>
              <a:rPr lang="en-US" sz="2000" b="1" dirty="0" smtClean="0">
                <a:latin typeface="Times New Roman" panose="02020603050405020304" pitchFamily="18" charset="0"/>
                <a:cs typeface="Times New Roman" panose="02020603050405020304" pitchFamily="18" charset="0"/>
              </a:rPr>
              <a:t> JPQL</a:t>
            </a:r>
            <a:endParaRPr lang="en-US" b="1" dirty="0" smtClean="0">
              <a:solidFill>
                <a:srgbClr val="3F7F5F"/>
              </a:solidFill>
              <a:latin typeface="Consolas" panose="020B0609020204030204" pitchFamily="49" charset="0"/>
            </a:endParaRPr>
          </a:p>
          <a:p>
            <a:r>
              <a:rPr lang="en-US" dirty="0">
                <a:solidFill>
                  <a:srgbClr val="3F7F5F"/>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Thuc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hien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tim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kiem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theo</a:t>
            </a:r>
            <a:r>
              <a:rPr lang="en-US" dirty="0">
                <a:solidFill>
                  <a:srgbClr val="3F7F5F"/>
                </a:solidFill>
                <a:latin typeface="Consolas" panose="020B0609020204030204" pitchFamily="49" charset="0"/>
              </a:rPr>
              <a:t> annotation @Query</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Cau</a:t>
            </a:r>
            <a:r>
              <a:rPr lang="en-US" dirty="0">
                <a:solidFill>
                  <a:srgbClr val="3F7F5F"/>
                </a:solidFill>
                <a:latin typeface="Consolas" panose="020B0609020204030204" pitchFamily="49" charset="0"/>
              </a:rPr>
              <a:t> @Query </a:t>
            </a:r>
            <a:r>
              <a:rPr lang="en-US" dirty="0" err="1">
                <a:solidFill>
                  <a:srgbClr val="3F7F5F"/>
                </a:solidFill>
                <a:latin typeface="Consolas" panose="020B0609020204030204" pitchFamily="49" charset="0"/>
              </a:rPr>
              <a:t>thuc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hien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thao</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tac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voi</a:t>
            </a:r>
            <a:r>
              <a:rPr lang="en-US" dirty="0">
                <a:solidFill>
                  <a:srgbClr val="3F7F5F"/>
                </a:solidFill>
                <a:latin typeface="Consolas" panose="020B0609020204030204" pitchFamily="49" charset="0"/>
              </a:rPr>
              <a:t> ten entity </a:t>
            </a:r>
            <a:r>
              <a:rPr lang="en-US" dirty="0" err="1">
                <a:solidFill>
                  <a:srgbClr val="3F7F5F"/>
                </a:solidFill>
                <a:latin typeface="Consolas" panose="020B0609020204030204" pitchFamily="49" charset="0"/>
              </a:rPr>
              <a:t>thay</a:t>
            </a:r>
            <a:r>
              <a:rPr lang="en-US" dirty="0">
                <a:solidFill>
                  <a:srgbClr val="3F7F5F"/>
                </a:solidFill>
                <a:latin typeface="Consolas" panose="020B0609020204030204" pitchFamily="49" charset="0"/>
              </a:rPr>
              <a:t> vi </a:t>
            </a:r>
            <a:r>
              <a:rPr lang="en-US" dirty="0" err="1">
                <a:solidFill>
                  <a:srgbClr val="3F7F5F"/>
                </a:solidFill>
                <a:latin typeface="Consolas" panose="020B0609020204030204" pitchFamily="49" charset="0"/>
              </a:rPr>
              <a:t>voi</a:t>
            </a:r>
            <a:r>
              <a:rPr lang="en-US" dirty="0">
                <a:solidFill>
                  <a:srgbClr val="3F7F5F"/>
                </a:solidFill>
                <a:latin typeface="Consolas" panose="020B0609020204030204" pitchFamily="49" charset="0"/>
              </a:rPr>
              <a:t> ten table</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a:t>
            </a:r>
          </a:p>
          <a:p>
            <a:r>
              <a:rPr lang="en-US" dirty="0">
                <a:solidFill>
                  <a:srgbClr val="646464"/>
                </a:solidFill>
                <a:latin typeface="Consolas" panose="020B0609020204030204" pitchFamily="49" charset="0"/>
              </a:rPr>
              <a:t>@Query</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"from Facility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 inner join Users u on </a:t>
            </a:r>
            <a:r>
              <a:rPr lang="en-US" dirty="0" err="1">
                <a:solidFill>
                  <a:srgbClr val="2A00FF"/>
                </a:solidFill>
                <a:latin typeface="Consolas" panose="020B0609020204030204" pitchFamily="49" charset="0"/>
              </a:rPr>
              <a:t>fa.commonFacilityCode</a:t>
            </a:r>
            <a:r>
              <a:rPr lang="en-US" dirty="0">
                <a:solidFill>
                  <a:srgbClr val="2A00FF"/>
                </a:solidFill>
                <a:latin typeface="Consolas" panose="020B0609020204030204" pitchFamily="49" charset="0"/>
              </a:rPr>
              <a:t> = </a:t>
            </a:r>
            <a:r>
              <a:rPr lang="en-US" dirty="0" err="1">
                <a:solidFill>
                  <a:srgbClr val="2A00FF"/>
                </a:solidFill>
                <a:latin typeface="Consolas" panose="020B0609020204030204" pitchFamily="49" charset="0"/>
              </a:rPr>
              <a:t>u.commonFacilityCode</a:t>
            </a:r>
            <a:r>
              <a:rPr lang="en-US" dirty="0">
                <a:solidFill>
                  <a:srgbClr val="2A00FF"/>
                </a:solidFill>
                <a:latin typeface="Consolas" panose="020B0609020204030204" pitchFamily="49" charset="0"/>
              </a:rPr>
              <a:t> where </a:t>
            </a:r>
            <a:r>
              <a:rPr lang="en-US" dirty="0" err="1">
                <a:solidFill>
                  <a:srgbClr val="2A00FF"/>
                </a:solidFill>
                <a:latin typeface="Consolas" panose="020B0609020204030204" pitchFamily="49" charset="0"/>
              </a:rPr>
              <a:t>fa.commonFacilityCode</a:t>
            </a:r>
            <a:r>
              <a:rPr lang="en-US" dirty="0">
                <a:solidFill>
                  <a:srgbClr val="2A00FF"/>
                </a:solidFill>
                <a:latin typeface="Consolas" panose="020B0609020204030204" pitchFamily="49" charset="0"/>
              </a:rPr>
              <a:t> = :</a:t>
            </a:r>
            <a:r>
              <a:rPr lang="en-US" dirty="0" err="1">
                <a:solidFill>
                  <a:srgbClr val="2A00FF"/>
                </a:solidFill>
                <a:latin typeface="Consolas" panose="020B0609020204030204" pitchFamily="49" charset="0"/>
              </a:rPr>
              <a:t>commonFacility</a:t>
            </a:r>
            <a:r>
              <a:rPr lang="en-US" dirty="0">
                <a:solidFill>
                  <a:srgbClr val="2A00FF"/>
                </a:solidFill>
                <a:latin typeface="Consolas" panose="020B0609020204030204" pitchFamily="49" charset="0"/>
              </a:rPr>
              <a:t> group by </a:t>
            </a:r>
            <a:r>
              <a:rPr lang="en-US" dirty="0" err="1">
                <a:solidFill>
                  <a:srgbClr val="2A00FF"/>
                </a:solidFill>
                <a:latin typeface="Consolas" panose="020B0609020204030204" pitchFamily="49" charset="0"/>
              </a:rPr>
              <a:t>fa.commonFacilityCode</a:t>
            </a:r>
            <a:r>
              <a:rPr lang="en-US" dirty="0">
                <a:solidFill>
                  <a:srgbClr val="2A00FF"/>
                </a:solidFill>
                <a:latin typeface="Consolas" panose="020B0609020204030204" pitchFamily="49" charset="0"/>
              </a:rPr>
              <a:t>, </a:t>
            </a:r>
            <a:r>
              <a:rPr lang="en-US" dirty="0" err="1">
                <a:solidFill>
                  <a:srgbClr val="2A00FF"/>
                </a:solidFill>
                <a:latin typeface="Consolas" panose="020B0609020204030204" pitchFamily="49" charset="0"/>
              </a:rPr>
              <a:t>u.useId</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fun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findAllFacilityJoinUser</a:t>
            </a:r>
            <a:r>
              <a:rPr lang="en-US" b="1" dirty="0">
                <a:solidFill>
                  <a:srgbClr val="000000"/>
                </a:solidFill>
                <a:latin typeface="Consolas" panose="020B0609020204030204" pitchFamily="49" charset="0"/>
              </a:rPr>
              <a:t>(</a:t>
            </a:r>
            <a:r>
              <a:rPr lang="en-US" b="1" dirty="0">
                <a:solidFill>
                  <a:srgbClr val="646464"/>
                </a:solidFill>
                <a:latin typeface="Consolas" panose="020B0609020204030204" pitchFamily="49" charset="0"/>
              </a:rPr>
              <a:t>@</a:t>
            </a:r>
            <a:r>
              <a:rPr lang="en-US" b="1" dirty="0" err="1">
                <a:solidFill>
                  <a:srgbClr val="646464"/>
                </a:solidFill>
                <a:latin typeface="Consolas" panose="020B0609020204030204" pitchFamily="49" charset="0"/>
              </a:rPr>
              <a:t>Param</a:t>
            </a:r>
            <a:r>
              <a:rPr lang="en-US" b="1" dirty="0">
                <a:solidFill>
                  <a:srgbClr val="000000"/>
                </a:solidFill>
                <a:latin typeface="Consolas" panose="020B0609020204030204" pitchFamily="49" charset="0"/>
              </a:rPr>
              <a:t>(</a:t>
            </a:r>
            <a:r>
              <a:rPr lang="en-US" b="1" dirty="0">
                <a:solidFill>
                  <a:srgbClr val="2A00FF"/>
                </a:solidFill>
                <a:latin typeface="Consolas" panose="020B0609020204030204" pitchFamily="49" charset="0"/>
              </a:rPr>
              <a:t>"</a:t>
            </a:r>
            <a:r>
              <a:rPr lang="en-US" b="1" dirty="0" err="1">
                <a:solidFill>
                  <a:srgbClr val="2A00FF"/>
                </a:solidFill>
                <a:latin typeface="Consolas" panose="020B0609020204030204" pitchFamily="49" charset="0"/>
              </a:rPr>
              <a:t>commonFacility</a:t>
            </a:r>
            <a:r>
              <a:rPr lang="en-US" b="1" dirty="0">
                <a:solidFill>
                  <a:srgbClr val="2A00FF"/>
                </a:solidFill>
                <a:latin typeface="Consolas" panose="020B0609020204030204" pitchFamily="49" charset="0"/>
              </a:rPr>
              <a:t>"</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commonFacility</a:t>
            </a:r>
            <a:r>
              <a:rPr lang="en-US" b="1" dirty="0">
                <a:solidFill>
                  <a:srgbClr val="000000"/>
                </a:solidFill>
                <a:latin typeface="Consolas" panose="020B0609020204030204" pitchFamily="49" charset="0"/>
              </a:rPr>
              <a:t>: String): List&lt;Facility&gt;?</a:t>
            </a:r>
            <a:endParaRPr lang="en-US" dirty="0"/>
          </a:p>
        </p:txBody>
      </p:sp>
    </p:spTree>
    <p:extLst>
      <p:ext uri="{BB962C8B-B14F-4D97-AF65-F5344CB8AC3E}">
        <p14:creationId xmlns:p14="http://schemas.microsoft.com/office/powerpoint/2010/main" val="16808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2"/>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4" y="253783"/>
            <a:ext cx="10540961"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Sử</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dụng</a:t>
            </a:r>
            <a:r>
              <a:rPr lang="en-US" sz="4000" b="1" dirty="0" smtClean="0">
                <a:latin typeface="Times New Roman" panose="02020603050405020304" pitchFamily="18" charset="0"/>
                <a:cs typeface="Times New Roman" panose="02020603050405020304" pitchFamily="18" charset="0"/>
              </a:rPr>
              <a:t> JPQL </a:t>
            </a:r>
            <a:r>
              <a:rPr lang="en-US" sz="4000" b="1" dirty="0" err="1" smtClean="0">
                <a:latin typeface="Times New Roman" panose="02020603050405020304" pitchFamily="18" charset="0"/>
                <a:cs typeface="Times New Roman" panose="02020603050405020304" pitchFamily="18" charset="0"/>
              </a:rPr>
              <a:t>trong</a:t>
            </a:r>
            <a:r>
              <a:rPr lang="en-US" sz="4000" b="1" dirty="0" smtClean="0">
                <a:latin typeface="Times New Roman" panose="02020603050405020304" pitchFamily="18" charset="0"/>
                <a:cs typeface="Times New Roman" panose="02020603050405020304" pitchFamily="18" charset="0"/>
              </a:rPr>
              <a:t> Spring Data JPA (</a:t>
            </a:r>
            <a:r>
              <a:rPr lang="en-US" sz="4000" b="1" dirty="0" err="1" smtClean="0">
                <a:latin typeface="Times New Roman" panose="02020603050405020304" pitchFamily="18" charset="0"/>
                <a:cs typeface="Times New Roman" panose="02020603050405020304" pitchFamily="18" charset="0"/>
              </a:rPr>
              <a:t>Tiếp</a:t>
            </a:r>
            <a:r>
              <a:rPr lang="en-US" sz="4000" b="1" dirty="0" smtClean="0">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pic>
        <p:nvPicPr>
          <p:cNvPr id="14" name="Picture 28"/>
          <p:cNvPicPr>
            <a:picLocks noChangeAspect="1"/>
          </p:cNvPicPr>
          <p:nvPr/>
        </p:nvPicPr>
        <p:blipFill>
          <a:blip r:embed="rId2"/>
          <a:stretch>
            <a:fillRect/>
          </a:stretch>
        </p:blipFill>
        <p:spPr>
          <a:xfrm flipH="1">
            <a:off x="15148560" y="4175760"/>
            <a:ext cx="3139440" cy="6111240"/>
          </a:xfrm>
          <a:prstGeom prst="rect">
            <a:avLst/>
          </a:prstGeom>
        </p:spPr>
      </p:pic>
      <p:sp>
        <p:nvSpPr>
          <p:cNvPr id="2" name="テキスト ボックス 1"/>
          <p:cNvSpPr txBox="1"/>
          <p:nvPr/>
        </p:nvSpPr>
        <p:spPr>
          <a:xfrm>
            <a:off x="1100138" y="1328738"/>
            <a:ext cx="13916026" cy="523220"/>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err="1" smtClean="0">
                <a:latin typeface="Times New Roman" panose="02020603050405020304" pitchFamily="18" charset="0"/>
                <a:cs typeface="Times New Roman" panose="02020603050405020304" pitchFamily="18" charset="0"/>
              </a:rPr>
              <a:t>Để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truyền</a:t>
            </a:r>
            <a:r>
              <a:rPr lang="en-US" sz="2800" dirty="0" smtClean="0">
                <a:latin typeface="Times New Roman" panose="02020603050405020304" pitchFamily="18" charset="0"/>
                <a:cs typeface="Times New Roman" panose="02020603050405020304" pitchFamily="18" charset="0"/>
              </a:rPr>
              <a:t> parameter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câu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lệnh</a:t>
            </a:r>
            <a:r>
              <a:rPr lang="en-US" sz="2800" dirty="0" smtClean="0">
                <a:latin typeface="Times New Roman" panose="02020603050405020304" pitchFamily="18" charset="0"/>
                <a:cs typeface="Times New Roman" panose="02020603050405020304" pitchFamily="18" charset="0"/>
              </a:rPr>
              <a:t> JPQL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2 </a:t>
            </a:r>
            <a:r>
              <a:rPr lang="en-US" sz="2800" dirty="0" err="1" smtClean="0">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p:txBody>
      </p:sp>
      <p:sp>
        <p:nvSpPr>
          <p:cNvPr id="3" name="正方形/長方形 2"/>
          <p:cNvSpPr/>
          <p:nvPr/>
        </p:nvSpPr>
        <p:spPr>
          <a:xfrm>
            <a:off x="1514475" y="2360464"/>
            <a:ext cx="13030200" cy="2739211"/>
          </a:xfrm>
          <a:prstGeom prst="rect">
            <a:avLst/>
          </a:prstGeom>
        </p:spPr>
        <p:txBody>
          <a:bodyPr wrap="square">
            <a:spAutoFit/>
          </a:bodyPr>
          <a:lstStyle/>
          <a:p>
            <a:pPr marL="342900" indent="-342900">
              <a:buFont typeface="Arial" panose="020B0604020202020204" pitchFamily="34" charset="0"/>
              <a:buChar char="•"/>
            </a:pPr>
            <a:r>
              <a:rPr lang="en-US" sz="2800" dirty="0" err="1" smtClean="0">
                <a:latin typeface="Times New Roman" panose="02020603050405020304" pitchFamily="18" charset="0"/>
                <a:cs typeface="Times New Roman" panose="02020603050405020304" pitchFamily="18" charset="0"/>
              </a:rPr>
              <a:t>Thực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hiện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truyền</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parameter </a:t>
            </a:r>
            <a:r>
              <a:rPr lang="en-US" sz="2800" dirty="0" err="1" smtClean="0">
                <a:latin typeface="Times New Roman" panose="02020603050405020304" pitchFamily="18" charset="0"/>
                <a:cs typeface="Times New Roman" panose="02020603050405020304" pitchFamily="18" charset="0"/>
              </a:rPr>
              <a:t>theo</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thứ</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tự</a:t>
            </a:r>
            <a:endParaRPr lang="en-US" sz="2800" dirty="0" smtClean="0">
              <a:latin typeface="Times New Roman" panose="02020603050405020304" pitchFamily="18" charset="0"/>
              <a:cs typeface="Times New Roman" panose="02020603050405020304" pitchFamily="18" charset="0"/>
            </a:endParaRPr>
          </a:p>
          <a:p>
            <a:endParaRPr lang="en-US" dirty="0">
              <a:solidFill>
                <a:srgbClr val="3F7F5F"/>
              </a:solidFill>
              <a:latin typeface="Consolas" panose="020B0609020204030204" pitchFamily="49" charset="0"/>
            </a:endParaRPr>
          </a:p>
          <a:p>
            <a:r>
              <a:rPr lang="en-US" dirty="0">
                <a:solidFill>
                  <a:srgbClr val="3F7F5F"/>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Thuc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hien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tim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kiem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theo</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FacilityName</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và</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PrefectureCode</a:t>
            </a:r>
            <a:endParaRPr lang="en-US" dirty="0">
              <a:solidFill>
                <a:srgbClr val="3F7F5F"/>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Parameter </a:t>
            </a:r>
            <a:r>
              <a:rPr lang="en-US" dirty="0" err="1">
                <a:solidFill>
                  <a:srgbClr val="3F7F5F"/>
                </a:solidFill>
                <a:latin typeface="Consolas" panose="020B0609020204030204" pitchFamily="49" charset="0"/>
              </a:rPr>
              <a:t>duoc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truyen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theo</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thu</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tu</a:t>
            </a:r>
            <a:endParaRPr lang="en-US" dirty="0">
              <a:solidFill>
                <a:srgbClr val="3F7F5F"/>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a:t>
            </a:r>
          </a:p>
          <a:p>
            <a:r>
              <a:rPr lang="en-US" dirty="0">
                <a:solidFill>
                  <a:srgbClr val="646464"/>
                </a:solidFill>
                <a:latin typeface="Consolas" panose="020B0609020204030204" pitchFamily="49" charset="0"/>
              </a:rPr>
              <a:t>@Query</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"Select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 from Facility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 where </a:t>
            </a:r>
            <a:r>
              <a:rPr lang="en-US" dirty="0" err="1">
                <a:solidFill>
                  <a:srgbClr val="2A00FF"/>
                </a:solidFill>
                <a:latin typeface="Consolas" panose="020B0609020204030204" pitchFamily="49" charset="0"/>
              </a:rPr>
              <a:t>fa.facilityName</a:t>
            </a:r>
            <a:r>
              <a:rPr lang="en-US" dirty="0">
                <a:solidFill>
                  <a:srgbClr val="2A00FF"/>
                </a:solidFill>
                <a:latin typeface="Consolas" panose="020B0609020204030204" pitchFamily="49" charset="0"/>
              </a:rPr>
              <a:t> = ?1 And </a:t>
            </a:r>
            <a:r>
              <a:rPr lang="en-US" dirty="0" err="1">
                <a:solidFill>
                  <a:srgbClr val="2A00FF"/>
                </a:solidFill>
                <a:latin typeface="Consolas" panose="020B0609020204030204" pitchFamily="49" charset="0"/>
              </a:rPr>
              <a:t>fa.prefectureCode</a:t>
            </a:r>
            <a:r>
              <a:rPr lang="en-US" dirty="0">
                <a:solidFill>
                  <a:srgbClr val="2A00FF"/>
                </a:solidFill>
                <a:latin typeface="Consolas" panose="020B0609020204030204" pitchFamily="49" charset="0"/>
              </a:rPr>
              <a:t>=?2 ORDER BY </a:t>
            </a:r>
            <a:r>
              <a:rPr lang="en-US" dirty="0" err="1">
                <a:solidFill>
                  <a:srgbClr val="2A00FF"/>
                </a:solidFill>
                <a:latin typeface="Consolas" panose="020B0609020204030204" pitchFamily="49" charset="0"/>
              </a:rPr>
              <a:t>fa.commonFacilityCode</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fun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findByFacilityNameAndPrefectureCode</a:t>
            </a:r>
            <a:r>
              <a:rPr lang="en-US" b="1" dirty="0">
                <a:solidFill>
                  <a:srgbClr val="000000"/>
                </a:solidFill>
                <a:latin typeface="Consolas" panose="020B0609020204030204" pitchFamily="49" charset="0"/>
              </a:rPr>
              <a:t>(</a:t>
            </a:r>
            <a:r>
              <a:rPr lang="en-US" b="1" dirty="0" err="1">
                <a:solidFill>
                  <a:srgbClr val="000000"/>
                </a:solidFill>
                <a:latin typeface="Consolas" panose="020B0609020204030204" pitchFamily="49" charset="0"/>
              </a:rPr>
              <a:t>facilityName</a:t>
            </a:r>
            <a:r>
              <a:rPr lang="en-US" b="1" dirty="0">
                <a:solidFill>
                  <a:srgbClr val="000000"/>
                </a:solidFill>
                <a:latin typeface="Consolas" panose="020B0609020204030204" pitchFamily="49" charset="0"/>
              </a:rPr>
              <a:t>: String, </a:t>
            </a:r>
            <a:r>
              <a:rPr lang="en-US" b="1" dirty="0" err="1">
                <a:solidFill>
                  <a:srgbClr val="000000"/>
                </a:solidFill>
                <a:latin typeface="Consolas" panose="020B0609020204030204" pitchFamily="49" charset="0"/>
              </a:rPr>
              <a:t>prefectureCode</a:t>
            </a:r>
            <a:r>
              <a:rPr lang="en-US" b="1" dirty="0">
                <a:solidFill>
                  <a:srgbClr val="000000"/>
                </a:solidFill>
                <a:latin typeface="Consolas" panose="020B0609020204030204" pitchFamily="49" charset="0"/>
              </a:rPr>
              <a:t>: String): List&lt;Facility&gt;?</a:t>
            </a:r>
            <a:endParaRPr lang="en-US" dirty="0"/>
          </a:p>
        </p:txBody>
      </p:sp>
      <p:sp>
        <p:nvSpPr>
          <p:cNvPr id="9" name="正方形/長方形 8"/>
          <p:cNvSpPr/>
          <p:nvPr/>
        </p:nvSpPr>
        <p:spPr>
          <a:xfrm>
            <a:off x="1514475" y="5452756"/>
            <a:ext cx="13634086" cy="3600986"/>
          </a:xfrm>
          <a:prstGeom prst="rect">
            <a:avLst/>
          </a:prstGeom>
        </p:spPr>
        <p:txBody>
          <a:bodyPr wrap="square">
            <a:spAutoFit/>
          </a:bodyPr>
          <a:lstStyle/>
          <a:p>
            <a:pPr marL="342900" indent="-342900">
              <a:buFont typeface="Arial" panose="020B0604020202020204" pitchFamily="34" charset="0"/>
              <a:buChar char="•"/>
            </a:pPr>
            <a:r>
              <a:rPr lang="en-US" sz="2800" dirty="0" err="1" smtClean="0">
                <a:latin typeface="Times New Roman" panose="02020603050405020304" pitchFamily="18" charset="0"/>
                <a:cs typeface="Times New Roman" panose="02020603050405020304" pitchFamily="18" charset="0"/>
              </a:rPr>
              <a:t>Thực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hiện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truyền</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theo</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tên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param</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annotation @</a:t>
            </a:r>
            <a:r>
              <a:rPr lang="en-US" sz="2800" dirty="0" err="1" smtClean="0">
                <a:latin typeface="Times New Roman" panose="02020603050405020304" pitchFamily="18" charset="0"/>
                <a:cs typeface="Times New Roman" panose="02020603050405020304" pitchFamily="18" charset="0"/>
              </a:rPr>
              <a:t>Param</a:t>
            </a:r>
            <a:endParaRPr lang="en-US" sz="2800" dirty="0" smtClean="0">
              <a:latin typeface="Times New Roman" panose="02020603050405020304" pitchFamily="18" charset="0"/>
              <a:cs typeface="Times New Roman" panose="02020603050405020304" pitchFamily="18" charset="0"/>
            </a:endParaRPr>
          </a:p>
          <a:p>
            <a:endParaRPr lang="en-US" sz="2000" dirty="0">
              <a:solidFill>
                <a:srgbClr val="3F7F5F"/>
              </a:solidFill>
              <a:latin typeface="Consolas" panose="020B0609020204030204" pitchFamily="49" charset="0"/>
            </a:endParaRPr>
          </a:p>
          <a:p>
            <a:r>
              <a:rPr lang="en-US" dirty="0">
                <a:solidFill>
                  <a:srgbClr val="3F7F5F"/>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Thuc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hien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tim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kiem</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theo</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FacilityName</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và</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PrefectureCode</a:t>
            </a:r>
            <a:endParaRPr lang="en-US" dirty="0">
              <a:solidFill>
                <a:srgbClr val="3F7F5F"/>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 Parameter </a:t>
            </a:r>
            <a:r>
              <a:rPr lang="en-US" dirty="0" err="1">
                <a:solidFill>
                  <a:srgbClr val="3F7F5F"/>
                </a:solidFill>
                <a:latin typeface="Consolas" panose="020B0609020204030204" pitchFamily="49" charset="0"/>
              </a:rPr>
              <a:t>duoc</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truyen</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theo</a:t>
            </a:r>
            <a:r>
              <a:rPr lang="en-US" dirty="0">
                <a:solidFill>
                  <a:srgbClr val="3F7F5F"/>
                </a:solidFill>
                <a:latin typeface="Consolas" panose="020B0609020204030204" pitchFamily="49" charset="0"/>
              </a:rPr>
              <a:t> </a:t>
            </a:r>
            <a:r>
              <a:rPr lang="en-US" dirty="0" err="1">
                <a:solidFill>
                  <a:srgbClr val="3F7F5F"/>
                </a:solidFill>
                <a:latin typeface="Consolas" panose="020B0609020204030204" pitchFamily="49" charset="0"/>
              </a:rPr>
              <a:t>param</a:t>
            </a:r>
            <a:r>
              <a:rPr lang="en-US" dirty="0">
                <a:solidFill>
                  <a:srgbClr val="3F7F5F"/>
                </a:solidFill>
                <a:latin typeface="Consolas" panose="020B0609020204030204" pitchFamily="49" charset="0"/>
              </a:rPr>
              <a:t> name</a:t>
            </a:r>
          </a:p>
          <a:p>
            <a:r>
              <a:rPr lang="en-US" dirty="0">
                <a:solidFill>
                  <a:srgbClr val="000000"/>
                </a:solidFill>
                <a:latin typeface="Consolas" panose="020B0609020204030204" pitchFamily="49" charset="0"/>
              </a:rPr>
              <a:t> </a:t>
            </a:r>
            <a:r>
              <a:rPr lang="en-US" dirty="0">
                <a:solidFill>
                  <a:srgbClr val="3F7F5F"/>
                </a:solidFill>
                <a:latin typeface="Consolas" panose="020B0609020204030204" pitchFamily="49" charset="0"/>
              </a:rPr>
              <a:t>*/</a:t>
            </a:r>
          </a:p>
          <a:p>
            <a:r>
              <a:rPr lang="en-US" dirty="0">
                <a:solidFill>
                  <a:srgbClr val="646464"/>
                </a:solidFill>
                <a:latin typeface="Consolas" panose="020B0609020204030204" pitchFamily="49" charset="0"/>
              </a:rPr>
              <a:t>@Query</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"Select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 from Facility </a:t>
            </a:r>
            <a:r>
              <a:rPr lang="en-US" dirty="0" err="1">
                <a:solidFill>
                  <a:srgbClr val="2A00FF"/>
                </a:solidFill>
                <a:latin typeface="Consolas" panose="020B0609020204030204" pitchFamily="49" charset="0"/>
              </a:rPr>
              <a:t>fa</a:t>
            </a:r>
            <a:r>
              <a:rPr lang="en-US" dirty="0">
                <a:solidFill>
                  <a:srgbClr val="2A00FF"/>
                </a:solidFill>
                <a:latin typeface="Consolas" panose="020B0609020204030204" pitchFamily="49" charset="0"/>
              </a:rPr>
              <a:t> where </a:t>
            </a:r>
            <a:r>
              <a:rPr lang="en-US" dirty="0" err="1">
                <a:solidFill>
                  <a:srgbClr val="2A00FF"/>
                </a:solidFill>
                <a:latin typeface="Consolas" panose="020B0609020204030204" pitchFamily="49" charset="0"/>
              </a:rPr>
              <a:t>fa.facilityName</a:t>
            </a:r>
            <a:r>
              <a:rPr lang="en-US" dirty="0">
                <a:solidFill>
                  <a:srgbClr val="2A00FF"/>
                </a:solidFill>
                <a:latin typeface="Consolas" panose="020B0609020204030204" pitchFamily="49" charset="0"/>
              </a:rPr>
              <a:t> </a:t>
            </a:r>
            <a:r>
              <a:rPr lang="en-US" dirty="0" smtClean="0">
                <a:solidFill>
                  <a:srgbClr val="2A00FF"/>
                </a:solidFill>
                <a:latin typeface="Consolas" panose="020B0609020204030204" pitchFamily="49" charset="0"/>
              </a:rPr>
              <a:t>like %:</a:t>
            </a:r>
            <a:r>
              <a:rPr lang="en-US" dirty="0" err="1">
                <a:solidFill>
                  <a:srgbClr val="2A00FF"/>
                </a:solidFill>
                <a:latin typeface="Consolas" panose="020B0609020204030204" pitchFamily="49" charset="0"/>
              </a:rPr>
              <a:t>facilityName</a:t>
            </a:r>
            <a:r>
              <a:rPr lang="en-US" dirty="0">
                <a:solidFill>
                  <a:srgbClr val="2A00FF"/>
                </a:solidFill>
                <a:latin typeface="Consolas" panose="020B0609020204030204" pitchFamily="49" charset="0"/>
              </a:rPr>
              <a:t> </a:t>
            </a:r>
            <a:r>
              <a:rPr lang="en-US" dirty="0" smtClean="0">
                <a:solidFill>
                  <a:srgbClr val="2A00FF"/>
                </a:solidFill>
                <a:latin typeface="Consolas" panose="020B0609020204030204" pitchFamily="49" charset="0"/>
              </a:rPr>
              <a:t>And </a:t>
            </a:r>
            <a:r>
              <a:rPr lang="en-US" dirty="0" err="1" smtClean="0">
                <a:solidFill>
                  <a:srgbClr val="2A00FF"/>
                </a:solidFill>
                <a:latin typeface="Consolas" panose="020B0609020204030204" pitchFamily="49" charset="0"/>
              </a:rPr>
              <a:t>fa.prefectureCode</a:t>
            </a:r>
            <a:r>
              <a:rPr lang="en-US" dirty="0" smtClean="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prefectureCode</a:t>
            </a:r>
            <a:r>
              <a:rPr lang="en-US" dirty="0">
                <a:solidFill>
                  <a:srgbClr val="2A00FF"/>
                </a:solidFill>
                <a:latin typeface="Consolas" panose="020B0609020204030204" pitchFamily="49" charset="0"/>
              </a:rPr>
              <a:t> ORDER BY </a:t>
            </a:r>
            <a:r>
              <a:rPr lang="en-US" dirty="0" err="1">
                <a:solidFill>
                  <a:srgbClr val="2A00FF"/>
                </a:solidFill>
                <a:latin typeface="Consolas" panose="020B0609020204030204" pitchFamily="49" charset="0"/>
              </a:rPr>
              <a:t>fa.commonFacilityCode</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fun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findByFacilityNameAndPrefectureCode</a:t>
            </a:r>
            <a:r>
              <a:rPr lang="en-US" b="1" dirty="0" smtClean="0">
                <a:solidFill>
                  <a:srgbClr val="000000"/>
                </a:solidFill>
                <a:latin typeface="Consolas" panose="020B0609020204030204" pitchFamily="49" charset="0"/>
              </a:rPr>
              <a:t>(</a:t>
            </a:r>
          </a:p>
          <a:p>
            <a:r>
              <a:rPr lang="en-US" dirty="0" smtClean="0">
                <a:solidFill>
                  <a:srgbClr val="646464"/>
                </a:solidFill>
                <a:latin typeface="Consolas" panose="020B0609020204030204" pitchFamily="49" charset="0"/>
              </a:rPr>
              <a:t>@</a:t>
            </a:r>
            <a:r>
              <a:rPr lang="en-US" dirty="0" err="1" smtClean="0">
                <a:solidFill>
                  <a:srgbClr val="646464"/>
                </a:solidFill>
                <a:latin typeface="Consolas" panose="020B0609020204030204" pitchFamily="49" charset="0"/>
              </a:rPr>
              <a:t>Param</a:t>
            </a:r>
            <a:r>
              <a:rPr lang="en-US" dirty="0" smtClean="0">
                <a:solidFill>
                  <a:srgbClr val="000000"/>
                </a:solidFill>
                <a:latin typeface="Consolas" panose="020B0609020204030204" pitchFamily="49" charset="0"/>
              </a:rPr>
              <a:t>(</a:t>
            </a:r>
            <a:r>
              <a:rPr lang="en-US" dirty="0" smtClean="0">
                <a:solidFill>
                  <a:srgbClr val="2A00FF"/>
                </a:solidFill>
                <a:latin typeface="Consolas" panose="020B0609020204030204" pitchFamily="49" charset="0"/>
              </a:rPr>
              <a:t>"</a:t>
            </a:r>
            <a:r>
              <a:rPr lang="en-US" dirty="0" err="1" smtClean="0">
                <a:solidFill>
                  <a:srgbClr val="2A00FF"/>
                </a:solidFill>
                <a:latin typeface="Consolas" panose="020B0609020204030204" pitchFamily="49" charset="0"/>
              </a:rPr>
              <a:t>facilityName</a:t>
            </a:r>
            <a:r>
              <a:rPr lang="en-US" dirty="0" smtClean="0">
                <a:solidFill>
                  <a:srgbClr val="2A00FF"/>
                </a:solidFill>
                <a:latin typeface="Consolas" panose="020B0609020204030204" pitchFamily="49" charset="0"/>
              </a:rPr>
              <a:t>"</a:t>
            </a:r>
            <a:r>
              <a:rPr lang="en-US" dirty="0" smtClean="0">
                <a:solidFill>
                  <a:srgbClr val="000000"/>
                </a:solidFill>
                <a:latin typeface="Consolas" panose="020B0609020204030204" pitchFamily="49" charset="0"/>
              </a:rPr>
              <a:t>) </a:t>
            </a:r>
            <a:r>
              <a:rPr lang="en-US" dirty="0" err="1" smtClean="0">
                <a:solidFill>
                  <a:srgbClr val="000000"/>
                </a:solidFill>
                <a:latin typeface="Consolas" panose="020B0609020204030204" pitchFamily="49" charset="0"/>
              </a:rPr>
              <a:t>facilityName</a:t>
            </a:r>
            <a:r>
              <a:rPr lang="en-US" dirty="0" smtClean="0">
                <a:solidFill>
                  <a:srgbClr val="000000"/>
                </a:solidFill>
                <a:latin typeface="Consolas" panose="020B0609020204030204" pitchFamily="49" charset="0"/>
              </a:rPr>
              <a:t>: String,</a:t>
            </a:r>
          </a:p>
          <a:p>
            <a:r>
              <a:rPr lang="en-US" dirty="0" smtClean="0">
                <a:solidFill>
                  <a:srgbClr val="646464"/>
                </a:solidFill>
                <a:latin typeface="Consolas" panose="020B0609020204030204" pitchFamily="49" charset="0"/>
              </a:rPr>
              <a:t>@</a:t>
            </a:r>
            <a:r>
              <a:rPr lang="en-US" dirty="0" err="1" smtClean="0">
                <a:solidFill>
                  <a:srgbClr val="646464"/>
                </a:solidFill>
                <a:latin typeface="Consolas" panose="020B0609020204030204" pitchFamily="49" charset="0"/>
              </a:rPr>
              <a:t>Param</a:t>
            </a:r>
            <a:r>
              <a:rPr lang="en-US" dirty="0" smtClean="0">
                <a:solidFill>
                  <a:srgbClr val="000000"/>
                </a:solidFill>
                <a:latin typeface="Consolas" panose="020B0609020204030204" pitchFamily="49" charset="0"/>
              </a:rPr>
              <a:t>(</a:t>
            </a:r>
            <a:r>
              <a:rPr lang="en-US" dirty="0" smtClean="0">
                <a:solidFill>
                  <a:srgbClr val="2A00FF"/>
                </a:solidFill>
                <a:latin typeface="Consolas" panose="020B0609020204030204" pitchFamily="49" charset="0"/>
              </a:rPr>
              <a:t>"</a:t>
            </a:r>
            <a:r>
              <a:rPr lang="en-US" dirty="0" err="1" smtClean="0">
                <a:solidFill>
                  <a:srgbClr val="2A00FF"/>
                </a:solidFill>
                <a:latin typeface="Consolas" panose="020B0609020204030204" pitchFamily="49" charset="0"/>
              </a:rPr>
              <a:t>prefectureCode</a:t>
            </a:r>
            <a:r>
              <a:rPr lang="en-US" dirty="0" smtClean="0">
                <a:solidFill>
                  <a:srgbClr val="2A00FF"/>
                </a:solidFill>
                <a:latin typeface="Consolas" panose="020B0609020204030204" pitchFamily="49" charset="0"/>
              </a:rPr>
              <a:t>"</a:t>
            </a:r>
            <a:r>
              <a:rPr lang="en-US" dirty="0" smtClean="0">
                <a:solidFill>
                  <a:srgbClr val="000000"/>
                </a:solidFill>
                <a:latin typeface="Consolas" panose="020B0609020204030204" pitchFamily="49" charset="0"/>
              </a:rPr>
              <a:t>) </a:t>
            </a:r>
            <a:r>
              <a:rPr lang="en-US" dirty="0" err="1" smtClean="0">
                <a:solidFill>
                  <a:srgbClr val="000000"/>
                </a:solidFill>
                <a:latin typeface="Consolas" panose="020B0609020204030204" pitchFamily="49" charset="0"/>
              </a:rPr>
              <a:t>prefectureCode</a:t>
            </a:r>
            <a:r>
              <a:rPr lang="en-US" dirty="0" smtClean="0">
                <a:solidFill>
                  <a:srgbClr val="000000"/>
                </a:solidFill>
                <a:latin typeface="Consolas" panose="020B0609020204030204" pitchFamily="49" charset="0"/>
              </a:rPr>
              <a:t>: String</a:t>
            </a:r>
          </a:p>
          <a:p>
            <a:r>
              <a:rPr lang="en-US" dirty="0" smtClean="0">
                <a:solidFill>
                  <a:srgbClr val="000000"/>
                </a:solidFill>
                <a:latin typeface="Consolas" panose="020B0609020204030204" pitchFamily="49" charset="0"/>
              </a:rPr>
              <a:t>): </a:t>
            </a:r>
            <a:r>
              <a:rPr lang="en-US" dirty="0">
                <a:solidFill>
                  <a:srgbClr val="000000"/>
                </a:solidFill>
                <a:latin typeface="Consolas" panose="020B0609020204030204" pitchFamily="49" charset="0"/>
              </a:rPr>
              <a:t>List&lt;Facility&gt;?</a:t>
            </a:r>
            <a:endParaRPr lang="en-US" dirty="0"/>
          </a:p>
        </p:txBody>
      </p:sp>
      <p:sp>
        <p:nvSpPr>
          <p:cNvPr id="5" name="正方形/長方形 4"/>
          <p:cNvSpPr/>
          <p:nvPr/>
        </p:nvSpPr>
        <p:spPr>
          <a:xfrm>
            <a:off x="6629400" y="4175760"/>
            <a:ext cx="5857875" cy="26765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正方形/長方形 12"/>
          <p:cNvSpPr/>
          <p:nvPr/>
        </p:nvSpPr>
        <p:spPr>
          <a:xfrm>
            <a:off x="6629400" y="4698196"/>
            <a:ext cx="5629276" cy="40147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正方形/長方形 5"/>
          <p:cNvSpPr/>
          <p:nvPr/>
        </p:nvSpPr>
        <p:spPr>
          <a:xfrm>
            <a:off x="6629400" y="7272338"/>
            <a:ext cx="4529138" cy="3714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正方形/長方形 6"/>
          <p:cNvSpPr/>
          <p:nvPr/>
        </p:nvSpPr>
        <p:spPr>
          <a:xfrm>
            <a:off x="1514475" y="7643813"/>
            <a:ext cx="4257675" cy="2428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正方形/長方形 7"/>
          <p:cNvSpPr/>
          <p:nvPr/>
        </p:nvSpPr>
        <p:spPr>
          <a:xfrm>
            <a:off x="1514475" y="8172450"/>
            <a:ext cx="6143625" cy="5143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角丸四角形吹き出し 9"/>
          <p:cNvSpPr/>
          <p:nvPr/>
        </p:nvSpPr>
        <p:spPr>
          <a:xfrm>
            <a:off x="11744325" y="7572375"/>
            <a:ext cx="3586163" cy="1834448"/>
          </a:xfrm>
          <a:prstGeom prst="wedgeRoundRectCallout">
            <a:avLst>
              <a:gd name="adj1" fmla="val -64259"/>
              <a:gd name="adj2" fmla="val -4262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Với</a:t>
            </a:r>
            <a:r>
              <a:rPr lang="en-US" dirty="0" smtClean="0"/>
              <a:t> </a:t>
            </a:r>
            <a:r>
              <a:rPr lang="en-US" dirty="0" err="1" smtClean="0"/>
              <a:t>điều</a:t>
            </a:r>
            <a:r>
              <a:rPr lang="en-US" dirty="0" smtClean="0"/>
              <a:t> </a:t>
            </a:r>
            <a:r>
              <a:rPr lang="en-US" dirty="0" err="1" smtClean="0"/>
              <a:t>kiện</a:t>
            </a:r>
            <a:r>
              <a:rPr lang="en-US" dirty="0" smtClean="0"/>
              <a:t> Like </a:t>
            </a:r>
            <a:r>
              <a:rPr lang="en-US" dirty="0" err="1" smtClean="0"/>
              <a:t>các</a:t>
            </a:r>
            <a:r>
              <a:rPr lang="en-US" dirty="0" smtClean="0"/>
              <a:t> </a:t>
            </a:r>
            <a:r>
              <a:rPr lang="en-US" dirty="0" err="1" smtClean="0"/>
              <a:t>điều</a:t>
            </a:r>
            <a:r>
              <a:rPr lang="en-US" dirty="0" smtClean="0"/>
              <a:t> </a:t>
            </a:r>
            <a:r>
              <a:rPr lang="en-US" dirty="0" err="1" smtClean="0"/>
              <a:t>kiện</a:t>
            </a:r>
            <a:r>
              <a:rPr lang="en-US" dirty="0" smtClean="0"/>
              <a:t> “%”,”_” </a:t>
            </a:r>
            <a:r>
              <a:rPr lang="en-US" dirty="0" err="1" smtClean="0"/>
              <a:t>được</a:t>
            </a:r>
            <a:r>
              <a:rPr lang="en-US" dirty="0" smtClean="0"/>
              <a:t> </a:t>
            </a:r>
            <a:r>
              <a:rPr lang="en-US" dirty="0" err="1" smtClean="0"/>
              <a:t>đặt</a:t>
            </a:r>
            <a:r>
              <a:rPr lang="en-US" dirty="0" smtClean="0"/>
              <a:t> </a:t>
            </a:r>
            <a:r>
              <a:rPr lang="en-US" dirty="0" err="1" smtClean="0"/>
              <a:t>trước</a:t>
            </a:r>
            <a:r>
              <a:rPr lang="en-US" dirty="0" smtClean="0"/>
              <a:t> </a:t>
            </a:r>
            <a:r>
              <a:rPr lang="en-US" dirty="0" err="1" smtClean="0"/>
              <a:t>tên</a:t>
            </a:r>
            <a:r>
              <a:rPr lang="en-US" dirty="0" smtClean="0"/>
              <a:t> </a:t>
            </a:r>
            <a:r>
              <a:rPr lang="en-US" dirty="0" err="1" smtClean="0"/>
              <a:t>param</a:t>
            </a:r>
            <a:r>
              <a:rPr lang="en-US" dirty="0" smtClean="0"/>
              <a:t> </a:t>
            </a:r>
            <a:r>
              <a:rPr lang="en-US" dirty="0" err="1" smtClean="0"/>
              <a:t>mà</a:t>
            </a:r>
            <a:r>
              <a:rPr lang="en-US" dirty="0" smtClean="0"/>
              <a:t> </a:t>
            </a:r>
            <a:r>
              <a:rPr lang="en-US" dirty="0" err="1" smtClean="0"/>
              <a:t>không</a:t>
            </a:r>
            <a:r>
              <a:rPr lang="en-US" dirty="0" smtClean="0"/>
              <a:t> </a:t>
            </a:r>
            <a:r>
              <a:rPr lang="en-US" dirty="0" err="1" smtClean="0"/>
              <a:t>cần</a:t>
            </a:r>
            <a:r>
              <a:rPr lang="en-US" dirty="0" smtClean="0"/>
              <a:t> </a:t>
            </a:r>
            <a:r>
              <a:rPr lang="en-US" dirty="0" err="1" smtClean="0"/>
              <a:t>phải</a:t>
            </a:r>
            <a:r>
              <a:rPr lang="en-US" dirty="0" smtClean="0"/>
              <a:t> </a:t>
            </a:r>
            <a:r>
              <a:rPr lang="en-US" dirty="0" err="1" smtClean="0"/>
              <a:t>thêm</a:t>
            </a:r>
            <a:r>
              <a:rPr lang="en-US" dirty="0" smtClean="0"/>
              <a:t> </a:t>
            </a:r>
            <a:r>
              <a:rPr lang="en-US" dirty="0" err="1" smtClean="0"/>
              <a:t>dấu</a:t>
            </a:r>
            <a:r>
              <a:rPr lang="en-US" dirty="0" smtClean="0"/>
              <a:t> </a:t>
            </a:r>
            <a:r>
              <a:rPr lang="en-US" dirty="0" err="1" smtClean="0"/>
              <a:t>nháy</a:t>
            </a:r>
            <a:r>
              <a:rPr lang="en-US" dirty="0" smtClean="0"/>
              <a:t> </a:t>
            </a:r>
            <a:r>
              <a:rPr lang="en-US" dirty="0" err="1" smtClean="0"/>
              <a:t>đơn</a:t>
            </a:r>
            <a:r>
              <a:rPr lang="en-US" dirty="0" smtClean="0"/>
              <a:t> (‘ ’)</a:t>
            </a:r>
            <a:endParaRPr lang="en-US" dirty="0"/>
          </a:p>
        </p:txBody>
      </p:sp>
    </p:spTree>
    <p:extLst>
      <p:ext uri="{BB962C8B-B14F-4D97-AF65-F5344CB8AC3E}">
        <p14:creationId xmlns:p14="http://schemas.microsoft.com/office/powerpoint/2010/main" val="26789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2"/>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3"/>
          <p:cNvSpPr/>
          <p:nvPr/>
        </p:nvSpPr>
        <p:spPr>
          <a:xfrm>
            <a:off x="0" y="0"/>
            <a:ext cx="18288000" cy="10286999"/>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1" name="Picture 21"/>
          <p:cNvPicPr>
            <a:picLocks noChangeAspect="1"/>
          </p:cNvPicPr>
          <p:nvPr/>
        </p:nvPicPr>
        <p:blipFill>
          <a:blip r:embed="rId2"/>
          <a:stretch>
            <a:fillRect/>
          </a:stretch>
        </p:blipFill>
        <p:spPr>
          <a:xfrm>
            <a:off x="1303020" y="1668780"/>
            <a:ext cx="6065520" cy="6675120"/>
          </a:xfrm>
          <a:prstGeom prst="rect">
            <a:avLst/>
          </a:prstGeom>
        </p:spPr>
      </p:pic>
      <p:sp>
        <p:nvSpPr>
          <p:cNvPr id="2" name="TextBox 21"/>
          <p:cNvSpPr txBox="1"/>
          <p:nvPr/>
        </p:nvSpPr>
        <p:spPr>
          <a:xfrm>
            <a:off x="7368540" y="3450728"/>
            <a:ext cx="10363199" cy="3385542"/>
          </a:xfrm>
          <a:prstGeom prst="rect">
            <a:avLst/>
          </a:prstGeom>
          <a:noFill/>
        </p:spPr>
        <p:txBody>
          <a:bodyPr wrap="square" lIns="0" tIns="0" rIns="0" bIns="0" rtlCol="0">
            <a:spAutoFit/>
          </a:bodyPr>
          <a:lstStyle/>
          <a:p>
            <a:pPr algn="ctr"/>
            <a:r>
              <a:rPr lang="en-US" altLang="zh-CN" sz="8800" b="1" spc="185" dirty="0" smtClean="0">
                <a:solidFill>
                  <a:srgbClr val="F5B3A5"/>
                </a:solidFill>
                <a:latin typeface="Times New Roman"/>
                <a:ea typeface="Times New Roman"/>
              </a:rPr>
              <a:t>5. </a:t>
            </a:r>
            <a:r>
              <a:rPr lang="en-US" sz="8800" b="1" spc="185" dirty="0">
                <a:solidFill>
                  <a:srgbClr val="F5B3A5"/>
                </a:solidFill>
                <a:latin typeface="Times New Roman"/>
                <a:ea typeface="Times New Roman"/>
              </a:rPr>
              <a:t>Pessimistic Locking </a:t>
            </a:r>
            <a:r>
              <a:rPr lang="en-US" sz="8800" b="1" spc="185" dirty="0" err="1">
                <a:solidFill>
                  <a:srgbClr val="F5B3A5"/>
                </a:solidFill>
                <a:latin typeface="Times New Roman"/>
                <a:ea typeface="Times New Roman"/>
              </a:rPr>
              <a:t>trong</a:t>
            </a:r>
            <a:r>
              <a:rPr lang="en-US" sz="8800" b="1" spc="185" dirty="0">
                <a:solidFill>
                  <a:srgbClr val="F5B3A5"/>
                </a:solidFill>
                <a:latin typeface="Times New Roman"/>
                <a:ea typeface="Times New Roman"/>
              </a:rPr>
              <a:t> JPA</a:t>
            </a:r>
            <a:endParaRPr lang="en-US" altLang="zh-CN" sz="8800" b="1" spc="185" dirty="0">
              <a:solidFill>
                <a:srgbClr val="F5B3A5"/>
              </a:solidFill>
              <a:latin typeface="Times New Roman"/>
              <a:ea typeface="Times New Roman"/>
            </a:endParaRPr>
          </a:p>
          <a:p>
            <a:pPr marL="0" algn="ctr">
              <a:lnSpc>
                <a:spcPct val="100000"/>
              </a:lnSpc>
            </a:pPr>
            <a:endParaRPr lang="en-US" altLang="zh-CN" sz="4400" spc="195" dirty="0">
              <a:solidFill>
                <a:srgbClr val="93DCDD"/>
              </a:solidFill>
              <a:latin typeface="Times New Roman"/>
              <a:ea typeface="Times New Roman"/>
            </a:endParaRPr>
          </a:p>
        </p:txBody>
      </p:sp>
    </p:spTree>
    <p:extLst>
      <p:ext uri="{BB962C8B-B14F-4D97-AF65-F5344CB8AC3E}">
        <p14:creationId xmlns:p14="http://schemas.microsoft.com/office/powerpoint/2010/main" val="314493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6" y="253783"/>
            <a:ext cx="7140534"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Pessimistic Locking </a:t>
            </a:r>
            <a:r>
              <a:rPr lang="en-US" sz="4000" b="1" dirty="0" err="1">
                <a:latin typeface="Times New Roman" panose="02020603050405020304" pitchFamily="18" charset="0"/>
                <a:cs typeface="Times New Roman" panose="02020603050405020304" pitchFamily="18" charset="0"/>
              </a:rPr>
              <a:t>trong</a:t>
            </a:r>
            <a:r>
              <a:rPr lang="en-US" sz="4000" b="1" dirty="0">
                <a:latin typeface="Times New Roman" panose="02020603050405020304" pitchFamily="18" charset="0"/>
                <a:cs typeface="Times New Roman" panose="02020603050405020304" pitchFamily="18" charset="0"/>
              </a:rPr>
              <a:t> JPA</a:t>
            </a:r>
          </a:p>
        </p:txBody>
      </p:sp>
      <p:pic>
        <p:nvPicPr>
          <p:cNvPr id="14" name="Picture 28"/>
          <p:cNvPicPr>
            <a:picLocks noChangeAspect="1"/>
          </p:cNvPicPr>
          <p:nvPr/>
        </p:nvPicPr>
        <p:blipFill>
          <a:blip r:embed="rId2"/>
          <a:stretch>
            <a:fillRect/>
          </a:stretch>
        </p:blipFill>
        <p:spPr>
          <a:xfrm flipH="1">
            <a:off x="15148560" y="4175760"/>
            <a:ext cx="3139440" cy="6111240"/>
          </a:xfrm>
          <a:prstGeom prst="rect">
            <a:avLst/>
          </a:prstGeom>
        </p:spPr>
      </p:pic>
      <p:sp>
        <p:nvSpPr>
          <p:cNvPr id="2" name="テキスト ボックス 1"/>
          <p:cNvSpPr txBox="1"/>
          <p:nvPr/>
        </p:nvSpPr>
        <p:spPr>
          <a:xfrm>
            <a:off x="1100137" y="1328738"/>
            <a:ext cx="14130337" cy="5262979"/>
          </a:xfrm>
          <a:prstGeom prst="rect">
            <a:avLst/>
          </a:prstGeom>
          <a:noFill/>
        </p:spPr>
        <p:txBody>
          <a:bodyPr wrap="square" rtlCol="0">
            <a:spAutoFit/>
          </a:bodyPr>
          <a:lstStyle/>
          <a:p>
            <a:pPr marL="457200" indent="-457200">
              <a:buFont typeface="Wingdings" panose="05000000000000000000" pitchFamily="2" charset="2"/>
              <a:buChar char="Ø"/>
            </a:pPr>
            <a:r>
              <a:rPr lang="vi-VN" sz="2800" dirty="0">
                <a:latin typeface="+mj-lt"/>
              </a:rPr>
              <a:t>Có rất nhiều tình huống khi chúng ta muốn lấy dữ liệu từ cơ sở dữ </a:t>
            </a:r>
            <a:r>
              <a:rPr lang="vi-VN" sz="2800" dirty="0" smtClean="0">
                <a:latin typeface="+mj-lt"/>
              </a:rPr>
              <a:t>liệu</a:t>
            </a:r>
            <a:r>
              <a:rPr lang="en-US" sz="2800" dirty="0" smtClean="0">
                <a:latin typeface="+mj-lt"/>
              </a:rPr>
              <a:t> </a:t>
            </a:r>
            <a:r>
              <a:rPr lang="en-US" sz="2800" dirty="0" err="1" smtClean="0">
                <a:latin typeface="+mj-lt"/>
              </a:rPr>
              <a:t>để</a:t>
            </a:r>
            <a:r>
              <a:rPr lang="en-US" sz="2800" dirty="0" smtClean="0">
                <a:latin typeface="+mj-lt"/>
              </a:rPr>
              <a:t> </a:t>
            </a:r>
            <a:r>
              <a:rPr lang="en-US" sz="2800" dirty="0" err="1" smtClean="0">
                <a:latin typeface="+mj-lt"/>
              </a:rPr>
              <a:t>xử</a:t>
            </a:r>
            <a:r>
              <a:rPr lang="en-US" sz="2800" dirty="0" smtClean="0">
                <a:latin typeface="+mj-lt"/>
              </a:rPr>
              <a:t> </a:t>
            </a:r>
            <a:r>
              <a:rPr lang="en-US" sz="2800" dirty="0" err="1" smtClean="0">
                <a:latin typeface="+mj-lt"/>
              </a:rPr>
              <a:t>lý</a:t>
            </a:r>
            <a:r>
              <a:rPr lang="en-US" sz="2800" dirty="0" smtClean="0">
                <a:latin typeface="+mj-lt"/>
              </a:rPr>
              <a:t> </a:t>
            </a:r>
            <a:r>
              <a:rPr lang="en-US" sz="2800" dirty="0" err="1" smtClean="0">
                <a:latin typeface="+mj-lt"/>
              </a:rPr>
              <a:t>mà</a:t>
            </a:r>
            <a:r>
              <a:rPr lang="en-US" sz="2800" dirty="0" smtClean="0">
                <a:latin typeface="+mj-lt"/>
              </a:rPr>
              <a:t> </a:t>
            </a:r>
            <a:r>
              <a:rPr lang="en-US" sz="2800" dirty="0" err="1" smtClean="0">
                <a:latin typeface="+mj-lt"/>
              </a:rPr>
              <a:t>không</a:t>
            </a:r>
            <a:r>
              <a:rPr lang="en-US" sz="2800" dirty="0" smtClean="0">
                <a:latin typeface="+mj-lt"/>
              </a:rPr>
              <a:t> </a:t>
            </a:r>
            <a:r>
              <a:rPr lang="en-US" sz="2800" dirty="0" err="1" smtClean="0">
                <a:latin typeface="+mj-lt"/>
              </a:rPr>
              <a:t>muốn</a:t>
            </a:r>
            <a:r>
              <a:rPr lang="en-US" sz="2800" dirty="0" smtClean="0">
                <a:latin typeface="+mj-lt"/>
              </a:rPr>
              <a:t> </a:t>
            </a:r>
            <a:r>
              <a:rPr lang="en-US" sz="2800" dirty="0" err="1" smtClean="0">
                <a:latin typeface="+mj-lt"/>
              </a:rPr>
              <a:t>người</a:t>
            </a:r>
            <a:r>
              <a:rPr lang="en-US" sz="2800" dirty="0" smtClean="0">
                <a:latin typeface="+mj-lt"/>
              </a:rPr>
              <a:t> </a:t>
            </a:r>
            <a:r>
              <a:rPr lang="en-US" sz="2800" dirty="0" err="1" smtClean="0">
                <a:latin typeface="+mj-lt"/>
              </a:rPr>
              <a:t>khác</a:t>
            </a:r>
            <a:r>
              <a:rPr lang="en-US" sz="2800" dirty="0" smtClean="0">
                <a:latin typeface="+mj-lt"/>
              </a:rPr>
              <a:t> </a:t>
            </a:r>
            <a:r>
              <a:rPr lang="en-US" sz="2800" dirty="0" err="1" smtClean="0">
                <a:latin typeface="+mj-lt"/>
              </a:rPr>
              <a:t>làm</a:t>
            </a:r>
            <a:r>
              <a:rPr lang="en-US" sz="2800" dirty="0" smtClean="0">
                <a:latin typeface="+mj-lt"/>
              </a:rPr>
              <a:t> </a:t>
            </a:r>
            <a:r>
              <a:rPr lang="en-US" sz="2800" dirty="0" err="1" smtClean="0">
                <a:latin typeface="+mj-lt"/>
              </a:rPr>
              <a:t>gián</a:t>
            </a:r>
            <a:r>
              <a:rPr lang="en-US" sz="2800" dirty="0" smtClean="0">
                <a:latin typeface="+mj-lt"/>
              </a:rPr>
              <a:t> </a:t>
            </a:r>
            <a:r>
              <a:rPr lang="en-US" sz="2800" dirty="0" err="1" smtClean="0">
                <a:latin typeface="+mj-lt"/>
              </a:rPr>
              <a:t>đoạn</a:t>
            </a:r>
            <a:r>
              <a:rPr lang="en-US" sz="2800" dirty="0" smtClean="0">
                <a:latin typeface="+mj-lt"/>
              </a:rPr>
              <a:t> </a:t>
            </a:r>
            <a:r>
              <a:rPr lang="en-US" sz="2800" dirty="0" err="1" smtClean="0">
                <a:latin typeface="+mj-lt"/>
              </a:rPr>
              <a:t>trong</a:t>
            </a:r>
            <a:r>
              <a:rPr lang="en-US" sz="2800" dirty="0" smtClean="0">
                <a:latin typeface="+mj-lt"/>
              </a:rPr>
              <a:t> </a:t>
            </a:r>
            <a:r>
              <a:rPr lang="en-US" sz="2800" dirty="0" err="1" smtClean="0">
                <a:latin typeface="+mj-lt"/>
              </a:rPr>
              <a:t>quá</a:t>
            </a:r>
            <a:r>
              <a:rPr lang="en-US" sz="2800" dirty="0" smtClean="0">
                <a:latin typeface="+mj-lt"/>
              </a:rPr>
              <a:t> </a:t>
            </a:r>
            <a:r>
              <a:rPr lang="en-US" sz="2800" dirty="0" err="1" smtClean="0">
                <a:latin typeface="+mj-lt"/>
              </a:rPr>
              <a:t>trình</a:t>
            </a:r>
            <a:r>
              <a:rPr lang="en-US" sz="2800" dirty="0" smtClean="0">
                <a:latin typeface="+mj-lt"/>
              </a:rPr>
              <a:t> </a:t>
            </a:r>
            <a:r>
              <a:rPr lang="en-US" sz="2800" dirty="0" err="1" smtClean="0">
                <a:latin typeface="+mj-lt"/>
              </a:rPr>
              <a:t>xử</a:t>
            </a:r>
            <a:r>
              <a:rPr lang="en-US" sz="2800" dirty="0" smtClean="0">
                <a:latin typeface="+mj-lt"/>
              </a:rPr>
              <a:t> </a:t>
            </a:r>
            <a:r>
              <a:rPr lang="en-US" sz="2800" dirty="0" err="1" smtClean="0">
                <a:latin typeface="+mj-lt"/>
              </a:rPr>
              <a:t>lý</a:t>
            </a:r>
            <a:r>
              <a:rPr lang="en-US" sz="2800" dirty="0" smtClean="0">
                <a:latin typeface="+mj-lt"/>
              </a:rPr>
              <a:t> </a:t>
            </a:r>
            <a:r>
              <a:rPr lang="en-US" sz="2800" dirty="0" err="1" smtClean="0">
                <a:latin typeface="+mj-lt"/>
              </a:rPr>
              <a:t>của</a:t>
            </a:r>
            <a:r>
              <a:rPr lang="en-US" sz="2800" dirty="0" smtClean="0">
                <a:latin typeface="+mj-lt"/>
              </a:rPr>
              <a:t> </a:t>
            </a:r>
            <a:r>
              <a:rPr lang="en-US" sz="2800" dirty="0" err="1" smtClean="0">
                <a:latin typeface="+mj-lt"/>
              </a:rPr>
              <a:t>mình</a:t>
            </a:r>
            <a:r>
              <a:rPr lang="en-US" sz="2800" dirty="0" smtClean="0">
                <a:latin typeface="+mj-lt"/>
              </a:rPr>
              <a:t>, </a:t>
            </a:r>
            <a:r>
              <a:rPr lang="en-US" sz="2800" dirty="0" err="1" smtClean="0">
                <a:latin typeface="+mj-lt"/>
              </a:rPr>
              <a:t>thì</a:t>
            </a:r>
            <a:r>
              <a:rPr lang="en-US" sz="2800" dirty="0" smtClean="0">
                <a:latin typeface="+mj-lt"/>
              </a:rPr>
              <a:t> </a:t>
            </a:r>
            <a:r>
              <a:rPr lang="en-US" sz="2800" dirty="0" err="1" smtClean="0">
                <a:latin typeface="+mj-lt"/>
              </a:rPr>
              <a:t>cần</a:t>
            </a:r>
            <a:r>
              <a:rPr lang="en-US" sz="2800" dirty="0" smtClean="0">
                <a:latin typeface="+mj-lt"/>
              </a:rPr>
              <a:t> </a:t>
            </a:r>
            <a:r>
              <a:rPr lang="en-US" sz="2800" dirty="0" err="1" smtClean="0">
                <a:latin typeface="+mj-lt"/>
              </a:rPr>
              <a:t>thực</a:t>
            </a:r>
            <a:r>
              <a:rPr lang="en-US" sz="2800" dirty="0" smtClean="0">
                <a:latin typeface="+mj-lt"/>
              </a:rPr>
              <a:t> </a:t>
            </a:r>
            <a:r>
              <a:rPr lang="en-US" sz="2800" dirty="0" err="1" smtClean="0">
                <a:latin typeface="+mj-lt"/>
              </a:rPr>
              <a:t>hiện</a:t>
            </a:r>
            <a:r>
              <a:rPr lang="en-US" sz="2800" dirty="0">
                <a:latin typeface="+mj-lt"/>
              </a:rPr>
              <a:t> </a:t>
            </a:r>
            <a:r>
              <a:rPr lang="en-US" sz="2800" dirty="0" smtClean="0">
                <a:latin typeface="+mj-lt"/>
              </a:rPr>
              <a:t>lock </a:t>
            </a:r>
            <a:r>
              <a:rPr lang="en-US" sz="2800" dirty="0" err="1" smtClean="0">
                <a:latin typeface="+mj-lt"/>
              </a:rPr>
              <a:t>dữ</a:t>
            </a:r>
            <a:r>
              <a:rPr lang="en-US" sz="2800" dirty="0" smtClean="0">
                <a:latin typeface="+mj-lt"/>
              </a:rPr>
              <a:t> </a:t>
            </a:r>
            <a:r>
              <a:rPr lang="en-US" sz="2800" dirty="0" err="1" smtClean="0">
                <a:latin typeface="+mj-lt"/>
              </a:rPr>
              <a:t>liệu</a:t>
            </a:r>
            <a:r>
              <a:rPr lang="en-US" sz="2800" dirty="0" smtClean="0">
                <a:latin typeface="+mj-lt"/>
              </a:rPr>
              <a:t>.</a:t>
            </a:r>
          </a:p>
          <a:p>
            <a:endParaRPr lang="en-US" sz="2800" dirty="0" smtClean="0">
              <a:latin typeface="+mj-lt"/>
            </a:endParaRPr>
          </a:p>
          <a:p>
            <a:pPr marL="457200" indent="-457200">
              <a:buFont typeface="Wingdings" panose="05000000000000000000" pitchFamily="2" charset="2"/>
              <a:buChar char="Ø"/>
            </a:pPr>
            <a:r>
              <a:rPr lang="en-US" sz="2800" dirty="0" smtClean="0">
                <a:latin typeface="+mj-lt"/>
              </a:rPr>
              <a:t>Trong Spring Data JPA </a:t>
            </a:r>
            <a:r>
              <a:rPr lang="en-US" sz="2800" dirty="0" err="1" smtClean="0">
                <a:latin typeface="+mj-lt"/>
              </a:rPr>
              <a:t>chúng</a:t>
            </a:r>
            <a:r>
              <a:rPr lang="en-US" sz="2800" dirty="0" smtClean="0">
                <a:latin typeface="+mj-lt"/>
              </a:rPr>
              <a:t> ta </a:t>
            </a:r>
            <a:r>
              <a:rPr lang="en-US" sz="2800" dirty="0" err="1" smtClean="0">
                <a:latin typeface="+mj-lt"/>
              </a:rPr>
              <a:t>có</a:t>
            </a:r>
            <a:r>
              <a:rPr lang="en-US" sz="2800" dirty="0" smtClean="0">
                <a:latin typeface="+mj-lt"/>
              </a:rPr>
              <a:t> </a:t>
            </a:r>
            <a:r>
              <a:rPr lang="en-US" sz="2800" dirty="0" err="1" smtClean="0">
                <a:latin typeface="+mj-lt"/>
              </a:rPr>
              <a:t>thể</a:t>
            </a:r>
            <a:r>
              <a:rPr lang="en-US" sz="2800" dirty="0" smtClean="0">
                <a:latin typeface="+mj-lt"/>
              </a:rPr>
              <a:t> </a:t>
            </a:r>
            <a:r>
              <a:rPr lang="en-US" sz="2800" dirty="0" err="1" smtClean="0">
                <a:latin typeface="+mj-lt"/>
              </a:rPr>
              <a:t>sử</a:t>
            </a:r>
            <a:r>
              <a:rPr lang="en-US" sz="2800" dirty="0" smtClean="0">
                <a:latin typeface="+mj-lt"/>
              </a:rPr>
              <a:t> </a:t>
            </a:r>
            <a:r>
              <a:rPr lang="en-US" sz="2800" dirty="0" err="1" smtClean="0">
                <a:latin typeface="+mj-lt"/>
              </a:rPr>
              <a:t>dụng</a:t>
            </a:r>
            <a:r>
              <a:rPr lang="en-US" sz="2800" dirty="0" smtClean="0">
                <a:latin typeface="+mj-lt"/>
              </a:rPr>
              <a:t> </a:t>
            </a:r>
            <a:r>
              <a:rPr lang="en-US" sz="2800" dirty="0"/>
              <a:t>pessimistic </a:t>
            </a:r>
            <a:r>
              <a:rPr lang="en-US" sz="2800" dirty="0" smtClean="0"/>
              <a:t>locking(</a:t>
            </a:r>
            <a:r>
              <a:rPr lang="en-US" sz="2800" dirty="0" err="1" smtClean="0"/>
              <a:t>sử</a:t>
            </a:r>
            <a:r>
              <a:rPr lang="en-US" sz="2800" dirty="0" smtClean="0"/>
              <a:t> </a:t>
            </a:r>
            <a:r>
              <a:rPr lang="en-US" sz="2800" dirty="0" err="1" smtClean="0"/>
              <a:t>dụng</a:t>
            </a:r>
            <a:r>
              <a:rPr lang="en-US" sz="2800" dirty="0" smtClean="0"/>
              <a:t> </a:t>
            </a:r>
            <a:r>
              <a:rPr lang="en-US" sz="2800" dirty="0" err="1" smtClean="0"/>
              <a:t>cơ</a:t>
            </a:r>
            <a:r>
              <a:rPr lang="en-US" sz="2800" dirty="0" smtClean="0"/>
              <a:t> </a:t>
            </a:r>
            <a:r>
              <a:rPr lang="en-US" sz="2800" dirty="0" err="1" smtClean="0"/>
              <a:t>chế</a:t>
            </a:r>
            <a:r>
              <a:rPr lang="en-US" sz="2800" dirty="0" smtClean="0"/>
              <a:t> </a:t>
            </a:r>
            <a:r>
              <a:rPr lang="en-US" sz="2800" dirty="0" err="1" smtClean="0"/>
              <a:t>của</a:t>
            </a:r>
            <a:r>
              <a:rPr lang="en-US" sz="2800" dirty="0" smtClean="0"/>
              <a:t> database)</a:t>
            </a:r>
            <a:r>
              <a:rPr lang="en-US" sz="2800" dirty="0"/>
              <a:t> </a:t>
            </a:r>
            <a:r>
              <a:rPr lang="en-US" sz="2800" dirty="0" err="1" smtClean="0"/>
              <a:t>để</a:t>
            </a:r>
            <a:r>
              <a:rPr lang="en-US" sz="2800" dirty="0" smtClean="0"/>
              <a:t> </a:t>
            </a:r>
            <a:r>
              <a:rPr lang="en-US" sz="2800" dirty="0" err="1" smtClean="0"/>
              <a:t>có</a:t>
            </a:r>
            <a:r>
              <a:rPr lang="en-US" sz="2800" dirty="0" smtClean="0"/>
              <a:t> </a:t>
            </a:r>
            <a:r>
              <a:rPr lang="en-US" sz="2800" dirty="0" err="1" smtClean="0"/>
              <a:t>thể</a:t>
            </a:r>
            <a:r>
              <a:rPr lang="en-US" sz="2800" dirty="0" smtClean="0"/>
              <a:t> </a:t>
            </a:r>
            <a:r>
              <a:rPr lang="en-US" sz="2800" dirty="0" err="1" smtClean="0"/>
              <a:t>quản</a:t>
            </a:r>
            <a:r>
              <a:rPr lang="en-US" sz="2800" dirty="0" smtClean="0"/>
              <a:t> </a:t>
            </a:r>
            <a:r>
              <a:rPr lang="en-US" sz="2800" dirty="0" err="1" smtClean="0"/>
              <a:t>lý</a:t>
            </a:r>
            <a:r>
              <a:rPr lang="en-US" sz="2800" dirty="0" smtClean="0"/>
              <a:t> </a:t>
            </a:r>
            <a:r>
              <a:rPr lang="en-US" sz="2800" dirty="0" err="1" smtClean="0"/>
              <a:t>quyền</a:t>
            </a:r>
            <a:r>
              <a:rPr lang="en-US" sz="2800" dirty="0" smtClean="0"/>
              <a:t> </a:t>
            </a:r>
            <a:r>
              <a:rPr lang="en-US" sz="2800" dirty="0" err="1" smtClean="0"/>
              <a:t>truy</a:t>
            </a:r>
            <a:r>
              <a:rPr lang="en-US" sz="2800" dirty="0" smtClean="0"/>
              <a:t> </a:t>
            </a:r>
            <a:r>
              <a:rPr lang="en-US" sz="2800" dirty="0" err="1" smtClean="0"/>
              <a:t>cập</a:t>
            </a:r>
            <a:r>
              <a:rPr lang="en-US" sz="2800" dirty="0" smtClean="0"/>
              <a:t> chi </a:t>
            </a:r>
            <a:r>
              <a:rPr lang="en-US" sz="2800" dirty="0" err="1" smtClean="0"/>
              <a:t>tiết</a:t>
            </a:r>
            <a:r>
              <a:rPr lang="en-US" sz="2800" dirty="0" smtClean="0"/>
              <a:t> </a:t>
            </a:r>
            <a:r>
              <a:rPr lang="en-US" sz="2800" dirty="0" err="1" smtClean="0"/>
              <a:t>hơn</a:t>
            </a:r>
            <a:r>
              <a:rPr lang="en-US" sz="2800" dirty="0" smtClean="0"/>
              <a:t> </a:t>
            </a:r>
            <a:r>
              <a:rPr lang="en-US" sz="2800" dirty="0" err="1" smtClean="0"/>
              <a:t>vào</a:t>
            </a:r>
            <a:r>
              <a:rPr lang="en-US" sz="2800" dirty="0" smtClean="0"/>
              <a:t> </a:t>
            </a:r>
            <a:r>
              <a:rPr lang="en-US" sz="2800" dirty="0" err="1" smtClean="0"/>
              <a:t>dữ</a:t>
            </a:r>
            <a:r>
              <a:rPr lang="en-US" sz="2800" dirty="0" smtClean="0"/>
              <a:t> </a:t>
            </a:r>
            <a:r>
              <a:rPr lang="en-US" sz="2800" dirty="0" err="1" smtClean="0"/>
              <a:t>liệu</a:t>
            </a:r>
            <a:endParaRPr lang="en-US" sz="2800" dirty="0" smtClean="0"/>
          </a:p>
          <a:p>
            <a:endParaRPr lang="en-US" sz="2800" dirty="0" smtClean="0"/>
          </a:p>
          <a:p>
            <a:pPr marL="457200" indent="-457200">
              <a:buFont typeface="Wingdings" panose="05000000000000000000" pitchFamily="2" charset="2"/>
              <a:buChar char="Ø"/>
            </a:pPr>
            <a:r>
              <a:rPr lang="en-US" sz="2800" dirty="0" err="1" smtClean="0">
                <a:latin typeface="+mj-lt"/>
              </a:rPr>
              <a:t>Có</a:t>
            </a:r>
            <a:r>
              <a:rPr lang="en-US" sz="2800" dirty="0" smtClean="0">
                <a:latin typeface="+mj-lt"/>
              </a:rPr>
              <a:t> 2 </a:t>
            </a:r>
            <a:r>
              <a:rPr lang="en-US" sz="2800" dirty="0" err="1" smtClean="0">
                <a:latin typeface="+mj-lt"/>
              </a:rPr>
              <a:t>loại</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độc</a:t>
            </a:r>
            <a:r>
              <a:rPr lang="en-US" sz="2800" dirty="0" smtClean="0">
                <a:latin typeface="+mj-lt"/>
              </a:rPr>
              <a:t> </a:t>
            </a:r>
            <a:r>
              <a:rPr lang="en-US" sz="2800" dirty="0" err="1" smtClean="0">
                <a:latin typeface="+mj-lt"/>
              </a:rPr>
              <a:t>quyền</a:t>
            </a:r>
            <a:r>
              <a:rPr lang="en-US" sz="2800" dirty="0" smtClean="0">
                <a:latin typeface="+mj-lt"/>
              </a:rPr>
              <a:t> (</a:t>
            </a:r>
            <a:r>
              <a:rPr lang="en-US" sz="2800" dirty="0" smtClean="0"/>
              <a:t>Exclusive lock</a:t>
            </a:r>
            <a:r>
              <a:rPr lang="en-US" sz="2800" dirty="0" smtClean="0">
                <a:latin typeface="+mj-lt"/>
              </a:rPr>
              <a:t>) </a:t>
            </a:r>
            <a:r>
              <a:rPr lang="en-US" sz="2800" dirty="0" err="1" smtClean="0">
                <a:latin typeface="+mj-lt"/>
              </a:rPr>
              <a:t>và</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dùng</a:t>
            </a:r>
            <a:r>
              <a:rPr lang="en-US" sz="2800" dirty="0" smtClean="0">
                <a:latin typeface="+mj-lt"/>
              </a:rPr>
              <a:t> </a:t>
            </a:r>
            <a:r>
              <a:rPr lang="en-US" sz="2800" dirty="0" err="1" smtClean="0">
                <a:latin typeface="+mj-lt"/>
              </a:rPr>
              <a:t>chung</a:t>
            </a:r>
            <a:r>
              <a:rPr lang="en-US" sz="2800" dirty="0" smtClean="0">
                <a:latin typeface="+mj-lt"/>
              </a:rPr>
              <a:t> (</a:t>
            </a:r>
            <a:r>
              <a:rPr lang="en-US" sz="2800" dirty="0" smtClean="0"/>
              <a:t>Shared </a:t>
            </a:r>
            <a:r>
              <a:rPr lang="en-US" sz="2800" dirty="0"/>
              <a:t>lock</a:t>
            </a:r>
            <a:r>
              <a:rPr lang="en-US" sz="2800" dirty="0" smtClean="0">
                <a:latin typeface="+mj-lt"/>
              </a:rPr>
              <a:t>)</a:t>
            </a:r>
          </a:p>
          <a:p>
            <a:pPr marL="914400" lvl="1" indent="-457200">
              <a:buFont typeface="Arial" panose="020B0604020202020204" pitchFamily="34" charset="0"/>
              <a:buChar char="•"/>
            </a:pPr>
            <a:r>
              <a:rPr lang="en-US" sz="2800" dirty="0" err="1" smtClean="0">
                <a:latin typeface="+mj-lt"/>
              </a:rPr>
              <a:t>Với</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dùng</a:t>
            </a:r>
            <a:r>
              <a:rPr lang="en-US" sz="2800" dirty="0" smtClean="0">
                <a:latin typeface="+mj-lt"/>
              </a:rPr>
              <a:t> </a:t>
            </a:r>
            <a:r>
              <a:rPr lang="en-US" sz="2800" dirty="0" err="1" smtClean="0">
                <a:latin typeface="+mj-lt"/>
              </a:rPr>
              <a:t>chung</a:t>
            </a:r>
            <a:r>
              <a:rPr lang="en-US" sz="2800" dirty="0" smtClean="0">
                <a:latin typeface="+mj-lt"/>
              </a:rPr>
              <a:t>, </a:t>
            </a:r>
            <a:r>
              <a:rPr lang="en-US" sz="2800" dirty="0" err="1" smtClean="0">
                <a:latin typeface="+mj-lt"/>
              </a:rPr>
              <a:t>chúng</a:t>
            </a:r>
            <a:r>
              <a:rPr lang="en-US" sz="2800" dirty="0" smtClean="0">
                <a:latin typeface="+mj-lt"/>
              </a:rPr>
              <a:t> ta </a:t>
            </a:r>
            <a:r>
              <a:rPr lang="en-US" sz="2800" dirty="0" err="1" smtClean="0">
                <a:latin typeface="+mj-lt"/>
              </a:rPr>
              <a:t>có</a:t>
            </a:r>
            <a:r>
              <a:rPr lang="en-US" sz="2800" dirty="0" smtClean="0">
                <a:latin typeface="+mj-lt"/>
              </a:rPr>
              <a:t> </a:t>
            </a:r>
            <a:r>
              <a:rPr lang="en-US" sz="2800" dirty="0" err="1" smtClean="0">
                <a:latin typeface="+mj-lt"/>
              </a:rPr>
              <a:t>thể</a:t>
            </a:r>
            <a:r>
              <a:rPr lang="en-US" sz="2800" dirty="0" smtClean="0">
                <a:latin typeface="+mj-lt"/>
              </a:rPr>
              <a:t> </a:t>
            </a:r>
            <a:r>
              <a:rPr lang="en-US" sz="2800" dirty="0" err="1" smtClean="0">
                <a:latin typeface="+mj-lt"/>
              </a:rPr>
              <a:t>đọc</a:t>
            </a:r>
            <a:r>
              <a:rPr lang="en-US" sz="2800" dirty="0" smtClean="0">
                <a:latin typeface="+mj-lt"/>
              </a:rPr>
              <a:t> </a:t>
            </a:r>
            <a:r>
              <a:rPr lang="en-US" sz="2800" dirty="0" err="1" smtClean="0">
                <a:latin typeface="+mj-lt"/>
              </a:rPr>
              <a:t>nhưng</a:t>
            </a:r>
            <a:r>
              <a:rPr lang="en-US" sz="2800" dirty="0" smtClean="0">
                <a:latin typeface="+mj-lt"/>
              </a:rPr>
              <a:t> </a:t>
            </a:r>
            <a:r>
              <a:rPr lang="en-US" sz="2800" dirty="0" err="1" smtClean="0">
                <a:latin typeface="+mj-lt"/>
              </a:rPr>
              <a:t>không</a:t>
            </a:r>
            <a:r>
              <a:rPr lang="en-US" sz="2800" dirty="0" smtClean="0">
                <a:latin typeface="+mj-lt"/>
              </a:rPr>
              <a:t> </a:t>
            </a:r>
            <a:r>
              <a:rPr lang="en-US" sz="2800" dirty="0" err="1" smtClean="0">
                <a:latin typeface="+mj-lt"/>
              </a:rPr>
              <a:t>thể</a:t>
            </a:r>
            <a:r>
              <a:rPr lang="en-US" sz="2800" dirty="0" smtClean="0">
                <a:latin typeface="+mj-lt"/>
              </a:rPr>
              <a:t> </a:t>
            </a:r>
            <a:r>
              <a:rPr lang="en-US" sz="2800" dirty="0" err="1" smtClean="0">
                <a:latin typeface="+mj-lt"/>
              </a:rPr>
              <a:t>ghi</a:t>
            </a:r>
            <a:r>
              <a:rPr lang="en-US" sz="2800" dirty="0" smtClean="0">
                <a:latin typeface="+mj-lt"/>
              </a:rPr>
              <a:t> </a:t>
            </a:r>
            <a:r>
              <a:rPr lang="en-US" sz="2800" dirty="0" err="1" smtClean="0">
                <a:latin typeface="+mj-lt"/>
              </a:rPr>
              <a:t>dữ</a:t>
            </a:r>
            <a:r>
              <a:rPr lang="en-US" sz="2800" dirty="0" smtClean="0">
                <a:latin typeface="+mj-lt"/>
              </a:rPr>
              <a:t> </a:t>
            </a:r>
            <a:r>
              <a:rPr lang="en-US" sz="2800" dirty="0" err="1" smtClean="0">
                <a:latin typeface="+mj-lt"/>
              </a:rPr>
              <a:t>liệu</a:t>
            </a:r>
            <a:r>
              <a:rPr lang="en-US" sz="2800" dirty="0" smtClean="0">
                <a:latin typeface="+mj-lt"/>
              </a:rPr>
              <a:t> </a:t>
            </a:r>
            <a:r>
              <a:rPr lang="en-US" sz="2800" dirty="0" err="1" smtClean="0">
                <a:latin typeface="+mj-lt"/>
              </a:rPr>
              <a:t>khi</a:t>
            </a:r>
            <a:r>
              <a:rPr lang="en-US" sz="2800" dirty="0" smtClean="0">
                <a:latin typeface="+mj-lt"/>
              </a:rPr>
              <a:t> </a:t>
            </a:r>
            <a:r>
              <a:rPr lang="en-US" sz="2800" dirty="0" err="1" smtClean="0">
                <a:latin typeface="+mj-lt"/>
              </a:rPr>
              <a:t>người</a:t>
            </a:r>
            <a:r>
              <a:rPr lang="en-US" sz="2800" dirty="0" smtClean="0">
                <a:latin typeface="+mj-lt"/>
              </a:rPr>
              <a:t> </a:t>
            </a:r>
            <a:r>
              <a:rPr lang="en-US" sz="2800" dirty="0" err="1" smtClean="0">
                <a:latin typeface="+mj-lt"/>
              </a:rPr>
              <a:t>khác</a:t>
            </a:r>
            <a:r>
              <a:rPr lang="en-US" sz="2800" dirty="0" smtClean="0">
                <a:latin typeface="+mj-lt"/>
              </a:rPr>
              <a:t> </a:t>
            </a:r>
            <a:r>
              <a:rPr lang="en-US" sz="2800" dirty="0" err="1" smtClean="0">
                <a:latin typeface="+mj-lt"/>
              </a:rPr>
              <a:t>đang</a:t>
            </a:r>
            <a:r>
              <a:rPr lang="en-US" sz="2800" dirty="0" smtClean="0">
                <a:latin typeface="+mj-lt"/>
              </a:rPr>
              <a:t> </a:t>
            </a:r>
            <a:r>
              <a:rPr lang="en-US" sz="2800" dirty="0" err="1" smtClean="0">
                <a:latin typeface="+mj-lt"/>
              </a:rPr>
              <a:t>giữ</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dùng</a:t>
            </a:r>
            <a:r>
              <a:rPr lang="en-US" sz="2800" dirty="0" smtClean="0">
                <a:latin typeface="+mj-lt"/>
              </a:rPr>
              <a:t> </a:t>
            </a:r>
            <a:r>
              <a:rPr lang="en-US" sz="2800" dirty="0" err="1" smtClean="0">
                <a:latin typeface="+mj-lt"/>
              </a:rPr>
              <a:t>chung</a:t>
            </a:r>
            <a:r>
              <a:rPr lang="en-US" sz="2800" dirty="0" smtClean="0">
                <a:latin typeface="+mj-lt"/>
              </a:rPr>
              <a:t>.</a:t>
            </a:r>
          </a:p>
          <a:p>
            <a:pPr marL="914400" lvl="1" indent="-457200">
              <a:buFont typeface="Arial" panose="020B0604020202020204" pitchFamily="34" charset="0"/>
              <a:buChar char="•"/>
            </a:pPr>
            <a:r>
              <a:rPr lang="en-US" sz="2800" dirty="0" err="1" smtClean="0">
                <a:latin typeface="+mj-lt"/>
              </a:rPr>
              <a:t>Để</a:t>
            </a:r>
            <a:r>
              <a:rPr lang="en-US" sz="2800" dirty="0" smtClean="0">
                <a:latin typeface="+mj-lt"/>
              </a:rPr>
              <a:t> </a:t>
            </a:r>
            <a:r>
              <a:rPr lang="en-US" sz="2800" dirty="0" err="1" smtClean="0">
                <a:latin typeface="+mj-lt"/>
              </a:rPr>
              <a:t>sửa</a:t>
            </a:r>
            <a:r>
              <a:rPr lang="en-US" sz="2800" dirty="0" smtClean="0">
                <a:latin typeface="+mj-lt"/>
              </a:rPr>
              <a:t> </a:t>
            </a:r>
            <a:r>
              <a:rPr lang="en-US" sz="2800" dirty="0" err="1" smtClean="0">
                <a:latin typeface="+mj-lt"/>
              </a:rPr>
              <a:t>đổi</a:t>
            </a:r>
            <a:r>
              <a:rPr lang="en-US" sz="2800" dirty="0" smtClean="0">
                <a:latin typeface="+mj-lt"/>
              </a:rPr>
              <a:t> </a:t>
            </a:r>
            <a:r>
              <a:rPr lang="en-US" sz="2800" dirty="0" err="1" smtClean="0">
                <a:latin typeface="+mj-lt"/>
              </a:rPr>
              <a:t>hoặc</a:t>
            </a:r>
            <a:r>
              <a:rPr lang="en-US" sz="2800" dirty="0" smtClean="0">
                <a:latin typeface="+mj-lt"/>
              </a:rPr>
              <a:t> </a:t>
            </a:r>
            <a:r>
              <a:rPr lang="en-US" sz="2800" dirty="0" err="1" smtClean="0">
                <a:latin typeface="+mj-lt"/>
              </a:rPr>
              <a:t>xóa</a:t>
            </a:r>
            <a:r>
              <a:rPr lang="en-US" sz="2800" dirty="0" smtClean="0">
                <a:latin typeface="+mj-lt"/>
              </a:rPr>
              <a:t> </a:t>
            </a:r>
            <a:r>
              <a:rPr lang="en-US" sz="2800" dirty="0" err="1" smtClean="0">
                <a:latin typeface="+mj-lt"/>
              </a:rPr>
              <a:t>dữ</a:t>
            </a:r>
            <a:r>
              <a:rPr lang="en-US" sz="2800" dirty="0" smtClean="0">
                <a:latin typeface="+mj-lt"/>
              </a:rPr>
              <a:t> </a:t>
            </a:r>
            <a:r>
              <a:rPr lang="en-US" sz="2800" dirty="0" err="1" smtClean="0">
                <a:latin typeface="+mj-lt"/>
              </a:rPr>
              <a:t>liệu</a:t>
            </a:r>
            <a:r>
              <a:rPr lang="en-US" sz="2800" dirty="0" smtClean="0">
                <a:latin typeface="+mj-lt"/>
              </a:rPr>
              <a:t> </a:t>
            </a:r>
            <a:r>
              <a:rPr lang="en-US" sz="2800" dirty="0" err="1" smtClean="0">
                <a:latin typeface="+mj-lt"/>
              </a:rPr>
              <a:t>riêng</a:t>
            </a:r>
            <a:r>
              <a:rPr lang="en-US" sz="2800" dirty="0" smtClean="0">
                <a:latin typeface="+mj-lt"/>
              </a:rPr>
              <a:t> </a:t>
            </a:r>
            <a:r>
              <a:rPr lang="en-US" sz="2800" dirty="0" err="1" smtClean="0">
                <a:latin typeface="+mj-lt"/>
              </a:rPr>
              <a:t>biệt</a:t>
            </a:r>
            <a:r>
              <a:rPr lang="en-US" sz="2800" dirty="0" smtClean="0">
                <a:latin typeface="+mj-lt"/>
              </a:rPr>
              <a:t>, </a:t>
            </a:r>
            <a:r>
              <a:rPr lang="en-US" sz="2800" dirty="0" err="1" smtClean="0">
                <a:latin typeface="+mj-lt"/>
              </a:rPr>
              <a:t>chúng</a:t>
            </a:r>
            <a:r>
              <a:rPr lang="en-US" sz="2800" dirty="0" smtClean="0">
                <a:latin typeface="+mj-lt"/>
              </a:rPr>
              <a:t> ta </a:t>
            </a:r>
            <a:r>
              <a:rPr lang="en-US" sz="2800" dirty="0" err="1" smtClean="0">
                <a:latin typeface="+mj-lt"/>
              </a:rPr>
              <a:t>cần</a:t>
            </a:r>
            <a:r>
              <a:rPr lang="en-US" sz="2800" dirty="0" smtClean="0">
                <a:latin typeface="+mj-lt"/>
              </a:rPr>
              <a:t> </a:t>
            </a:r>
            <a:r>
              <a:rPr lang="en-US" sz="2800" dirty="0" err="1" smtClean="0">
                <a:latin typeface="+mj-lt"/>
              </a:rPr>
              <a:t>có</a:t>
            </a:r>
            <a:r>
              <a:rPr lang="en-US" sz="2800" dirty="0" smtClean="0">
                <a:latin typeface="+mj-lt"/>
              </a:rPr>
              <a:t> </a:t>
            </a:r>
            <a:r>
              <a:rPr lang="en-US" sz="2800" dirty="0" err="1" smtClean="0">
                <a:latin typeface="+mj-lt"/>
              </a:rPr>
              <a:t>khóa</a:t>
            </a:r>
            <a:r>
              <a:rPr lang="en-US" sz="2800" dirty="0" smtClean="0">
                <a:latin typeface="+mj-lt"/>
              </a:rPr>
              <a:t> </a:t>
            </a:r>
            <a:r>
              <a:rPr lang="en-US" sz="2800" dirty="0" err="1" smtClean="0">
                <a:latin typeface="+mj-lt"/>
              </a:rPr>
              <a:t>độc</a:t>
            </a:r>
            <a:r>
              <a:rPr lang="en-US" sz="2800" dirty="0" smtClean="0">
                <a:latin typeface="+mj-lt"/>
              </a:rPr>
              <a:t> </a:t>
            </a:r>
            <a:r>
              <a:rPr lang="en-US" sz="2800" dirty="0" err="1" smtClean="0">
                <a:latin typeface="+mj-lt"/>
              </a:rPr>
              <a:t>quyền</a:t>
            </a:r>
            <a:endParaRPr lang="en-US" sz="2800" dirty="0" smtClean="0">
              <a:latin typeface="+mj-lt"/>
            </a:endParaRPr>
          </a:p>
          <a:p>
            <a:endParaRPr lang="en-US" sz="2800" dirty="0">
              <a:latin typeface="+mj-lt"/>
            </a:endParaRPr>
          </a:p>
        </p:txBody>
      </p:sp>
    </p:spTree>
    <p:extLst>
      <p:ext uri="{BB962C8B-B14F-4D97-AF65-F5344CB8AC3E}">
        <p14:creationId xmlns:p14="http://schemas.microsoft.com/office/powerpoint/2010/main" val="215897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正方形/長方形 3"/>
          <p:cNvSpPr/>
          <p:nvPr/>
        </p:nvSpPr>
        <p:spPr>
          <a:xfrm>
            <a:off x="174666" y="253783"/>
            <a:ext cx="469737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Các</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chế</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độ</a:t>
            </a:r>
            <a:r>
              <a:rPr lang="en-US" sz="4000" b="1" dirty="0" smtClean="0">
                <a:latin typeface="Times New Roman" panose="02020603050405020304" pitchFamily="18" charset="0"/>
                <a:cs typeface="Times New Roman" panose="02020603050405020304" pitchFamily="18" charset="0"/>
              </a:rPr>
              <a:t> Lock</a:t>
            </a:r>
            <a:endParaRPr lang="en-US" sz="4000" b="1" dirty="0">
              <a:latin typeface="Times New Roman" panose="02020603050405020304" pitchFamily="18" charset="0"/>
              <a:cs typeface="Times New Roman" panose="02020603050405020304" pitchFamily="18" charset="0"/>
            </a:endParaRPr>
          </a:p>
        </p:txBody>
      </p:sp>
      <p:sp>
        <p:nvSpPr>
          <p:cNvPr id="3" name="テキスト ボックス 2"/>
          <p:cNvSpPr txBox="1"/>
          <p:nvPr/>
        </p:nvSpPr>
        <p:spPr>
          <a:xfrm>
            <a:off x="1100137" y="6012582"/>
            <a:ext cx="13973176" cy="523220"/>
          </a:xfrm>
          <a:prstGeom prst="rect">
            <a:avLst/>
          </a:prstGeom>
          <a:noFill/>
        </p:spPr>
        <p:txBody>
          <a:bodyPr wrap="square" rtlCol="0">
            <a:spAutoFit/>
          </a:bodyPr>
          <a:lstStyle/>
          <a:p>
            <a:pPr marL="285750" indent="-285750" algn="just">
              <a:buFont typeface="Wingdings" panose="05000000000000000000" pitchFamily="2" charset="2"/>
              <a:buChar char="Ø"/>
            </a:pPr>
            <a:r>
              <a:rPr lang="en-US" sz="2800" dirty="0" err="1" smtClean="0">
                <a:latin typeface="Times New Roman" panose="02020603050405020304" pitchFamily="18" charset="0"/>
                <a:cs typeface="Times New Roman" panose="02020603050405020304" pitchFamily="18" charset="0"/>
              </a:rPr>
              <a:t>Tất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cả</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chế</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trên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đều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là</a:t>
            </a:r>
            <a:r>
              <a:rPr lang="en-US" sz="2800" dirty="0" smtClean="0">
                <a:latin typeface="Times New Roman" panose="02020603050405020304" pitchFamily="18" charset="0"/>
                <a:cs typeface="Times New Roman" panose="02020603050405020304" pitchFamily="18" charset="0"/>
              </a:rPr>
              <a:t> static member </a:t>
            </a:r>
            <a:r>
              <a:rPr lang="en-US" sz="2800" dirty="0" err="1" smtClean="0">
                <a:latin typeface="Times New Roman" panose="02020603050405020304" pitchFamily="18" charset="0"/>
                <a:cs typeface="Times New Roman" panose="02020603050405020304" pitchFamily="18" charset="0"/>
              </a:rPr>
              <a:t>của</a:t>
            </a:r>
            <a:r>
              <a:rPr lang="en-US" sz="2800" dirty="0" smtClean="0">
                <a:latin typeface="Times New Roman" panose="02020603050405020304" pitchFamily="18" charset="0"/>
                <a:cs typeface="Times New Roman" panose="02020603050405020304" pitchFamily="18" charset="0"/>
              </a:rPr>
              <a:t> class </a:t>
            </a:r>
            <a:r>
              <a:rPr lang="en-US" sz="2800" b="1" i="1" dirty="0" err="1" smtClean="0">
                <a:latin typeface="Times New Roman" panose="02020603050405020304" pitchFamily="18" charset="0"/>
                <a:cs typeface="Times New Roman" panose="02020603050405020304" pitchFamily="18" charset="0"/>
              </a:rPr>
              <a:t>LockModeType</a:t>
            </a:r>
            <a:endParaRPr lang="en-US" sz="2800" b="1" dirty="0">
              <a:latin typeface="Times New Roman" panose="02020603050405020304" pitchFamily="18" charset="0"/>
              <a:cs typeface="Times New Roman" panose="02020603050405020304" pitchFamily="18" charset="0"/>
            </a:endParaRPr>
          </a:p>
        </p:txBody>
      </p:sp>
      <p:sp>
        <p:nvSpPr>
          <p:cNvPr id="4" name="テキスト ボックス 3"/>
          <p:cNvSpPr txBox="1"/>
          <p:nvPr/>
        </p:nvSpPr>
        <p:spPr>
          <a:xfrm>
            <a:off x="1100137" y="6886575"/>
            <a:ext cx="14130337" cy="954107"/>
          </a:xfrm>
          <a:prstGeom prst="rect">
            <a:avLst/>
          </a:prstGeom>
          <a:noFill/>
        </p:spPr>
        <p:txBody>
          <a:bodyPr wrap="square" rtlCol="0">
            <a:spAutoFit/>
          </a:bodyPr>
          <a:lstStyle/>
          <a:p>
            <a:pPr marL="285750" indent="-285750" algn="just">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Khi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Pessimistic Locking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transaction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cập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entity, </a:t>
            </a:r>
            <a:r>
              <a:rPr lang="en-US" sz="2800" dirty="0" err="1">
                <a:latin typeface="Times New Roman" panose="02020603050405020304" pitchFamily="18" charset="0"/>
                <a:cs typeface="Times New Roman" panose="02020603050405020304" pitchFamily="18" charset="0"/>
              </a:rPr>
              <a:t>nó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lập</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tức</a:t>
            </a:r>
            <a:r>
              <a:rPr lang="en-US" sz="2800" dirty="0" smtClean="0">
                <a:latin typeface="Times New Roman" panose="02020603050405020304" pitchFamily="18" charset="0"/>
                <a:cs typeface="Times New Roman" panose="02020603050405020304" pitchFamily="18" charset="0"/>
              </a:rPr>
              <a:t>. Transaction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phóng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commit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rollback</a:t>
            </a:r>
            <a:endParaRPr lang="en-US" sz="2800" dirty="0">
              <a:latin typeface="Times New Roman" panose="02020603050405020304" pitchFamily="18" charset="0"/>
              <a:cs typeface="Times New Roman" panose="02020603050405020304" pitchFamily="18" charset="0"/>
            </a:endParaRPr>
          </a:p>
        </p:txBody>
      </p:sp>
      <p:pic>
        <p:nvPicPr>
          <p:cNvPr id="11" name="Picture 28"/>
          <p:cNvPicPr>
            <a:picLocks noChangeAspect="1"/>
          </p:cNvPicPr>
          <p:nvPr/>
        </p:nvPicPr>
        <p:blipFill>
          <a:blip r:embed="rId2"/>
          <a:stretch>
            <a:fillRect/>
          </a:stretch>
        </p:blipFill>
        <p:spPr>
          <a:xfrm flipH="1">
            <a:off x="15148560" y="4175760"/>
            <a:ext cx="3139440" cy="6111240"/>
          </a:xfrm>
          <a:prstGeom prst="rect">
            <a:avLst/>
          </a:prstGeom>
        </p:spPr>
      </p:pic>
      <p:sp>
        <p:nvSpPr>
          <p:cNvPr id="2" name="テキスト ボックス 1"/>
          <p:cNvSpPr txBox="1"/>
          <p:nvPr/>
        </p:nvSpPr>
        <p:spPr>
          <a:xfrm>
            <a:off x="1100137" y="1328738"/>
            <a:ext cx="14130337" cy="4401205"/>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Trong JPA </a:t>
            </a:r>
            <a:r>
              <a:rPr lang="en-US" sz="2800" dirty="0" err="1" smtClean="0">
                <a:latin typeface="Times New Roman" panose="02020603050405020304" pitchFamily="18" charset="0"/>
                <a:cs typeface="Times New Roman" panose="02020603050405020304" pitchFamily="18" charset="0"/>
              </a:rPr>
              <a:t>chúng</a:t>
            </a:r>
            <a:r>
              <a:rPr lang="en-US" sz="2800" dirty="0" smtClean="0">
                <a:latin typeface="Times New Roman" panose="02020603050405020304" pitchFamily="18" charset="0"/>
                <a:cs typeface="Times New Roman" panose="02020603050405020304" pitchFamily="18" charset="0"/>
              </a:rPr>
              <a:t> ta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3 </a:t>
            </a:r>
            <a:r>
              <a:rPr lang="en-US" sz="2800" dirty="0" err="1" smtClean="0">
                <a:latin typeface="Times New Roman" panose="02020603050405020304" pitchFamily="18" charset="0"/>
                <a:cs typeface="Times New Roman" panose="02020603050405020304" pitchFamily="18" charset="0"/>
              </a:rPr>
              <a:t>chế</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Pessimistic </a:t>
            </a:r>
            <a:r>
              <a:rPr lang="en-US" sz="2800" dirty="0" smtClean="0">
                <a:latin typeface="Times New Roman" panose="02020603050405020304" pitchFamily="18" charset="0"/>
                <a:cs typeface="Times New Roman" panose="02020603050405020304" pitchFamily="18" charset="0"/>
              </a:rPr>
              <a:t>Locking:</a:t>
            </a:r>
          </a:p>
          <a:p>
            <a:pPr marL="914400" lvl="1" indent="-457200" algn="just">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PESSIMISTIC_READ</a:t>
            </a:r>
            <a:r>
              <a:rPr lang="en-US" sz="2800" dirty="0" smtClean="0">
                <a:latin typeface="Times New Roman" panose="02020603050405020304" pitchFamily="18" charset="0"/>
                <a:cs typeface="Times New Roman" panose="02020603050405020304" pitchFamily="18" charset="0"/>
              </a:rPr>
              <a:t>: Cho </a:t>
            </a:r>
            <a:r>
              <a:rPr lang="en-US" sz="2800" dirty="0" err="1" smtClean="0">
                <a:latin typeface="Times New Roman" panose="02020603050405020304" pitchFamily="18" charset="0"/>
                <a:cs typeface="Times New Roman" panose="02020603050405020304" pitchFamily="18" charset="0"/>
              </a:rPr>
              <a:t>phép</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người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dùng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được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khóa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dùng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chung</a:t>
            </a:r>
            <a:r>
              <a:rPr lang="en-US" sz="2800" dirty="0">
                <a:latin typeface="Times New Roman" panose="02020603050405020304" pitchFamily="18" charset="0"/>
                <a:cs typeface="Times New Roman" panose="02020603050405020304" pitchFamily="18" charset="0"/>
              </a:rPr>
              <a:t> (Shared lock</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ngăn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chặn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dữ</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liệu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bị</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cập</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nhật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hoặc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xóa</a:t>
            </a:r>
            <a:endParaRPr lang="en-US" sz="2800" dirty="0" smtClean="0">
              <a:latin typeface="Times New Roman" panose="02020603050405020304" pitchFamily="18" charset="0"/>
              <a:cs typeface="Times New Roman" panose="02020603050405020304" pitchFamily="18" charset="0"/>
            </a:endParaRPr>
          </a:p>
          <a:p>
            <a:pPr lvl="1" algn="just"/>
            <a:endParaRPr lang="en-US" sz="2800" dirty="0" smtClean="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PESSIMISTIC_WRITE</a:t>
            </a:r>
            <a:r>
              <a:rPr lang="en-US" sz="2800" dirty="0" smtClean="0">
                <a:latin typeface="Times New Roman" panose="02020603050405020304" pitchFamily="18" charset="0"/>
                <a:cs typeface="Times New Roman" panose="02020603050405020304" pitchFamily="18" charset="0"/>
              </a:rPr>
              <a:t>: Cho </a:t>
            </a:r>
            <a:r>
              <a:rPr lang="en-US" sz="2800" dirty="0" err="1" smtClean="0">
                <a:latin typeface="Times New Roman" panose="02020603050405020304" pitchFamily="18" charset="0"/>
                <a:cs typeface="Times New Roman" panose="02020603050405020304" pitchFamily="18" charset="0"/>
              </a:rPr>
              <a:t>phép</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người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dùng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được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khóa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quyền</a:t>
            </a:r>
            <a:r>
              <a:rPr lang="en-US" sz="2800" dirty="0">
                <a:latin typeface="Times New Roman" panose="02020603050405020304" pitchFamily="18" charset="0"/>
                <a:cs typeface="Times New Roman" panose="02020603050405020304" pitchFamily="18" charset="0"/>
              </a:rPr>
              <a:t> (Exclusive lock</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ngăn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chặn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dữ</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liệu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được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đọc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cập</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nhật</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hoặc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xóa</a:t>
            </a:r>
            <a:r>
              <a:rPr lang="en-US" sz="2800" dirty="0" smtClean="0">
                <a:latin typeface="Times New Roman" panose="02020603050405020304" pitchFamily="18" charset="0"/>
                <a:cs typeface="Times New Roman" panose="02020603050405020304" pitchFamily="18" charset="0"/>
              </a:rPr>
              <a:t>.</a:t>
            </a:r>
          </a:p>
          <a:p>
            <a:pPr lvl="1" algn="just"/>
            <a:endParaRPr lang="en-US" sz="2800" dirty="0" smtClean="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PESSIMISTIC_FORCE_INCREMENT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Hoạt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như</a:t>
            </a:r>
            <a:r>
              <a:rPr lang="en-US" sz="2800" dirty="0" smtClean="0">
                <a:latin typeface="Times New Roman" panose="02020603050405020304" pitchFamily="18" charset="0"/>
                <a:cs typeface="Times New Roman" panose="02020603050405020304" pitchFamily="18" charset="0"/>
              </a:rPr>
              <a:t> PESSIMISTIC_WRITE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sẽ</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cập</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nhật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thuộc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version </a:t>
            </a:r>
            <a:r>
              <a:rPr lang="en-US" sz="2800" dirty="0" err="1" smtClean="0">
                <a:latin typeface="Times New Roman" panose="02020603050405020304" pitchFamily="18" charset="0"/>
                <a:cs typeface="Times New Roman" panose="02020603050405020304" pitchFamily="18" charset="0"/>
              </a:rPr>
              <a:t>của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một</a:t>
            </a:r>
            <a:r>
              <a:rPr lang="en-US" sz="2800" dirty="0" smtClean="0">
                <a:latin typeface="Times New Roman" panose="02020603050405020304" pitchFamily="18" charset="0"/>
                <a:cs typeface="Times New Roman" panose="02020603050405020304" pitchFamily="18" charset="0"/>
              </a:rPr>
              <a:t> entity </a:t>
            </a:r>
            <a:r>
              <a:rPr lang="en-US" sz="2800" dirty="0" err="1" smtClean="0">
                <a:latin typeface="Times New Roman" panose="02020603050405020304" pitchFamily="18" charset="0"/>
                <a:cs typeface="Times New Roman" panose="02020603050405020304" pitchFamily="18" charset="0"/>
              </a:rPr>
              <a:t>được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tạo</a:t>
            </a:r>
            <a:r>
              <a:rPr lang="en-US" sz="2800" dirty="0" smtClean="0">
                <a:latin typeface="Times New Roman" panose="02020603050405020304" pitchFamily="18" charset="0"/>
                <a:cs typeface="Times New Roman" panose="02020603050405020304" pitchFamily="18" charset="0"/>
              </a:rPr>
              <a:t> version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entity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thuộc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tính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được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chú</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thích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bằng</a:t>
            </a:r>
            <a:r>
              <a:rPr lang="en-US" sz="2800" dirty="0" smtClean="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a:t>
            </a:r>
            <a:r>
              <a:rPr lang="en-US" sz="2800" i="1" dirty="0" smtClean="0">
                <a:latin typeface="Times New Roman" panose="02020603050405020304" pitchFamily="18" charset="0"/>
                <a:cs typeface="Times New Roman" panose="02020603050405020304" pitchFamily="18" charset="0"/>
              </a:rPr>
              <a:t>Version</a:t>
            </a:r>
            <a:r>
              <a:rPr lang="en-US" sz="28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610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8" name="Picture 28"/>
          <p:cNvPicPr>
            <a:picLocks noChangeAspect="1"/>
          </p:cNvPicPr>
          <p:nvPr/>
        </p:nvPicPr>
        <p:blipFill>
          <a:blip r:embed="rId2"/>
          <a:stretch>
            <a:fillRect/>
          </a:stretch>
        </p:blipFill>
        <p:spPr>
          <a:xfrm>
            <a:off x="0" y="4175760"/>
            <a:ext cx="3139440" cy="6111240"/>
          </a:xfrm>
          <a:prstGeom prst="rect">
            <a:avLst/>
          </a:prstGeom>
        </p:spPr>
      </p:pic>
      <p:sp>
        <p:nvSpPr>
          <p:cNvPr id="12" name="正方形/長方形 3"/>
          <p:cNvSpPr/>
          <p:nvPr/>
        </p:nvSpPr>
        <p:spPr>
          <a:xfrm>
            <a:off x="174666" y="253783"/>
            <a:ext cx="1264122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Các</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ngoại</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lệ</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phát</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sinh</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khi</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sử</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dụng</a:t>
            </a:r>
            <a:r>
              <a:rPr lang="en-US" sz="4000" b="1" dirty="0" smtClean="0">
                <a:latin typeface="Times New Roman" panose="02020603050405020304" pitchFamily="18" charset="0"/>
                <a:cs typeface="Times New Roman" panose="02020603050405020304" pitchFamily="18" charset="0"/>
              </a:rPr>
              <a:t> Pessimistic Locking</a:t>
            </a:r>
            <a:endParaRPr lang="en-US" sz="4000" b="1"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1100137" y="1328738"/>
            <a:ext cx="15287626" cy="4401205"/>
          </a:xfrm>
          <a:prstGeom prst="rect">
            <a:avLst/>
          </a:prstGeom>
          <a:noFill/>
        </p:spPr>
        <p:txBody>
          <a:bodyPr wrap="square" rtlCol="0">
            <a:spAutoFit/>
          </a:bodyPr>
          <a:lstStyle/>
          <a:p>
            <a:r>
              <a:rPr lang="en-US" sz="2800" dirty="0" err="1" smtClean="0">
                <a:latin typeface="Times New Roman" panose="02020603050405020304" pitchFamily="18" charset="0"/>
                <a:cs typeface="Times New Roman" panose="02020603050405020304" pitchFamily="18" charset="0"/>
              </a:rPr>
              <a:t>Khi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làm</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việc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với</a:t>
            </a:r>
            <a:r>
              <a:rPr lang="en-US" sz="2800"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Pessimistic </a:t>
            </a:r>
            <a:r>
              <a:rPr lang="en-US" sz="2800" b="1" dirty="0" smtClean="0">
                <a:latin typeface="Times New Roman" panose="02020603050405020304" pitchFamily="18" charset="0"/>
                <a:cs typeface="Times New Roman" panose="02020603050405020304" pitchFamily="18" charset="0"/>
              </a:rPr>
              <a:t>Locking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thật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tốt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biết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ngoại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lệ</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nào</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xảy</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ra.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Sẽ</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dễ</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dàng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điều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và</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xử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lý</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ngoại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lệ</a:t>
            </a:r>
            <a:r>
              <a:rPr lang="en-US" sz="28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Ø"/>
            </a:pP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ngoại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lệ</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phát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sinh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Pessimistic </a:t>
            </a:r>
            <a:r>
              <a:rPr lang="en-US" sz="2800" b="1" dirty="0" smtClean="0">
                <a:latin typeface="Times New Roman" panose="02020603050405020304" pitchFamily="18" charset="0"/>
                <a:cs typeface="Times New Roman" panose="02020603050405020304" pitchFamily="18" charset="0"/>
              </a:rPr>
              <a:t>Locking:</a:t>
            </a:r>
          </a:p>
          <a:p>
            <a:pPr marL="914400" lvl="1" indent="-457200">
              <a:buFont typeface="Arial" panose="020B0604020202020204" pitchFamily="34" charset="0"/>
              <a:buChar char="•"/>
            </a:pPr>
            <a:r>
              <a:rPr lang="en-US" sz="2800" b="1" dirty="0" err="1" smtClean="0">
                <a:latin typeface="Times New Roman" panose="02020603050405020304" pitchFamily="18" charset="0"/>
                <a:cs typeface="Times New Roman" panose="02020603050405020304" pitchFamily="18" charset="0"/>
              </a:rPr>
              <a:t>PessimisticLockException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rằng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việc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lấy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chuyển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đổi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chia </a:t>
            </a:r>
            <a:r>
              <a:rPr lang="en-US" sz="2800" dirty="0" err="1">
                <a:latin typeface="Times New Roman" panose="02020603050405020304" pitchFamily="18" charset="0"/>
                <a:cs typeface="Times New Roman" panose="02020603050405020304" pitchFamily="18" charset="0"/>
              </a:rPr>
              <a:t>sẻ</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riêng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dẫn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Transaction</a:t>
            </a:r>
          </a:p>
          <a:p>
            <a:pPr marL="914400" lvl="1" indent="-457200">
              <a:buFont typeface="Arial" panose="020B0604020202020204" pitchFamily="34" charset="0"/>
              <a:buChar char="•"/>
            </a:pPr>
            <a:r>
              <a:rPr lang="en-US" sz="2800" b="1" dirty="0" err="1" smtClean="0">
                <a:latin typeface="Times New Roman" panose="02020603050405020304" pitchFamily="18" charset="0"/>
                <a:cs typeface="Times New Roman" panose="02020603050405020304" pitchFamily="18" charset="0"/>
              </a:rPr>
              <a:t>LockTimeoutException</a:t>
            </a:r>
            <a:r>
              <a:rPr lang="en-US" sz="2800" dirty="0" smtClean="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cho biết rằng có được một khóa hoặc chuyển đổi một khóa chia sẻ thành thời gian chờ dành riêng và dẫn đến việc khôi phục cấp độ statement</a:t>
            </a:r>
            <a:endParaRPr lang="en-US" sz="2800" dirty="0" smtClean="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err="1" smtClean="0">
                <a:latin typeface="Times New Roman" panose="02020603050405020304" pitchFamily="18" charset="0"/>
                <a:cs typeface="Times New Roman" panose="02020603050405020304" pitchFamily="18" charset="0"/>
              </a:rPr>
              <a:t>PersistanceException</a:t>
            </a:r>
            <a:r>
              <a:rPr lang="en-US" sz="2800" dirty="0" smtClean="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chỉ ra rằng đã xảy ra sự cố liên tục. PersistanceException và các kiểu con của nó, ngoại trừ  NoResultException , NonUniqueResultException, LockTimeoutException và  QueryTimeoutException,  </a:t>
            </a:r>
            <a:r>
              <a:rPr lang="vi-VN" sz="2800" b="1" dirty="0">
                <a:latin typeface="Times New Roman" panose="02020603050405020304" pitchFamily="18" charset="0"/>
                <a:cs typeface="Times New Roman" panose="02020603050405020304" pitchFamily="18" charset="0"/>
              </a:rPr>
              <a:t>đánh dấu giao dịch đang hoạt động sẽ được khôi phục</a:t>
            </a:r>
            <a:r>
              <a:rPr lang="vi-VN"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57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2" name="正方形/長方形 3"/>
          <p:cNvSpPr/>
          <p:nvPr/>
        </p:nvSpPr>
        <p:spPr>
          <a:xfrm>
            <a:off x="174666" y="253783"/>
            <a:ext cx="8354972"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Cách</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sử</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dụng</a:t>
            </a:r>
            <a:r>
              <a:rPr lang="en-US" sz="4000" b="1" dirty="0" smtClean="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Pessimistic Locking</a:t>
            </a:r>
            <a:r>
              <a:rPr lang="en-US" sz="4000" b="1" dirty="0" smtClean="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p:txBody>
      </p:sp>
      <p:grpSp>
        <p:nvGrpSpPr>
          <p:cNvPr id="8" name="グループ化 7"/>
          <p:cNvGrpSpPr/>
          <p:nvPr/>
        </p:nvGrpSpPr>
        <p:grpSpPr>
          <a:xfrm>
            <a:off x="557213" y="1285875"/>
            <a:ext cx="16344900" cy="3857117"/>
            <a:chOff x="557213" y="1285875"/>
            <a:chExt cx="16344900" cy="3857117"/>
          </a:xfrm>
        </p:grpSpPr>
        <p:sp>
          <p:nvSpPr>
            <p:cNvPr id="3" name="テキスト ボックス 2"/>
            <p:cNvSpPr txBox="1"/>
            <p:nvPr/>
          </p:nvSpPr>
          <p:spPr>
            <a:xfrm>
              <a:off x="557213" y="1285875"/>
              <a:ext cx="16344900" cy="954107"/>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Trong Spring Data JPA </a:t>
              </a:r>
              <a:r>
                <a:rPr lang="en-US" sz="2800" dirty="0" err="1" smtClean="0">
                  <a:latin typeface="Times New Roman" panose="02020603050405020304" pitchFamily="18" charset="0"/>
                  <a:cs typeface="Times New Roman" panose="02020603050405020304" pitchFamily="18" charset="0"/>
                </a:rPr>
                <a:t>khi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dụng</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Pessimistic Locking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có</a:t>
              </a:r>
              <a:r>
                <a:rPr lang="en-US" sz="2800" dirty="0" smtClean="0">
                  <a:latin typeface="Times New Roman" panose="02020603050405020304" pitchFamily="18" charset="0"/>
                  <a:cs typeface="Times New Roman" panose="02020603050405020304" pitchFamily="18" charset="0"/>
                </a:rPr>
                <a:t> annotation @Lock </a:t>
              </a:r>
              <a:r>
                <a:rPr lang="en-US" sz="2800" dirty="0" err="1" smtClean="0">
                  <a:latin typeface="Times New Roman" panose="02020603050405020304" pitchFamily="18" charset="0"/>
                  <a:cs typeface="Times New Roman" panose="02020603050405020304" pitchFamily="18" charset="0"/>
                </a:rPr>
                <a:t>trước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function </a:t>
              </a:r>
              <a:r>
                <a:rPr lang="en-US" sz="2800" dirty="0" err="1" smtClean="0">
                  <a:latin typeface="Times New Roman" panose="02020603050405020304" pitchFamily="18" charset="0"/>
                  <a:cs typeface="Times New Roman" panose="02020603050405020304" pitchFamily="18" charset="0"/>
                </a:rPr>
                <a:t>trong</a:t>
              </a:r>
              <a:r>
                <a:rPr lang="en-US" sz="2800" dirty="0" smtClean="0">
                  <a:latin typeface="Times New Roman" panose="02020603050405020304" pitchFamily="18" charset="0"/>
                  <a:cs typeface="Times New Roman" panose="02020603050405020304" pitchFamily="18" charset="0"/>
                </a:rPr>
                <a:t> repository. </a:t>
              </a:r>
              <a:r>
                <a:rPr lang="en-US" sz="2800" dirty="0" err="1" smtClean="0">
                  <a:latin typeface="Times New Roman" panose="02020603050405020304" pitchFamily="18" charset="0"/>
                  <a:cs typeface="Times New Roman" panose="02020603050405020304" pitchFamily="18" charset="0"/>
                </a:rPr>
                <a:t>Ví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dụ</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như</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dưới</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15" name="正方形/長方形 14"/>
            <p:cNvSpPr/>
            <p:nvPr/>
          </p:nvSpPr>
          <p:spPr>
            <a:xfrm>
              <a:off x="962501" y="2535642"/>
              <a:ext cx="15648622" cy="1446550"/>
            </a:xfrm>
            <a:prstGeom prst="rect">
              <a:avLst/>
            </a:prstGeom>
          </p:spPr>
          <p:txBody>
            <a:bodyPr wrap="square">
              <a:spAutoFit/>
            </a:bodyPr>
            <a:lstStyle/>
            <a:p>
              <a:pPr marL="342900" indent="-342900">
                <a:buFont typeface="Wingdings" panose="05000000000000000000" pitchFamily="2" charset="2"/>
                <a:buChar char="Ø"/>
              </a:pPr>
              <a:r>
                <a:rPr lang="en-US" sz="2800" b="1" dirty="0" err="1" smtClean="0">
                  <a:latin typeface="Times New Roman" panose="02020603050405020304" pitchFamily="18" charset="0"/>
                  <a:cs typeface="Times New Roman" panose="02020603050405020304" pitchFamily="18" charset="0"/>
                </a:rPr>
                <a:t>Sử</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dụng</a:t>
              </a:r>
              <a:r>
                <a:rPr lang="en-US" sz="2800" b="1" dirty="0" smtClean="0">
                  <a:latin typeface="Times New Roman" panose="02020603050405020304" pitchFamily="18" charset="0"/>
                  <a:cs typeface="Times New Roman" panose="02020603050405020304" pitchFamily="18" charset="0"/>
                </a:rPr>
                <a:t> </a:t>
              </a:r>
              <a:r>
                <a:rPr lang="en-US" sz="2800" b="1" i="1" dirty="0" smtClean="0">
                  <a:latin typeface="Times New Roman" panose="02020603050405020304" pitchFamily="18" charset="0"/>
                  <a:cs typeface="Times New Roman" panose="02020603050405020304" pitchFamily="18" charset="0"/>
                </a:rPr>
                <a:t>PESSIMISTIC_READ</a:t>
              </a:r>
              <a:endParaRPr lang="en-US" sz="2800" b="1" dirty="0" smtClean="0">
                <a:latin typeface="Times New Roman" panose="02020603050405020304" pitchFamily="18" charset="0"/>
                <a:cs typeface="Times New Roman" panose="02020603050405020304" pitchFamily="18" charset="0"/>
              </a:endParaRPr>
            </a:p>
            <a:p>
              <a:r>
                <a:rPr lang="en-US" sz="2000" dirty="0" smtClean="0">
                  <a:solidFill>
                    <a:srgbClr val="646464"/>
                  </a:solidFill>
                  <a:latin typeface="Consolas" panose="020B0609020204030204" pitchFamily="49" charset="0"/>
                </a:rPr>
                <a:t>@</a:t>
              </a:r>
              <a:r>
                <a:rPr lang="en-US" sz="2000" dirty="0">
                  <a:solidFill>
                    <a:srgbClr val="646464"/>
                  </a:solidFill>
                  <a:latin typeface="Consolas" panose="020B0609020204030204" pitchFamily="49" charset="0"/>
                </a:rPr>
                <a:t>Lock</a:t>
              </a:r>
              <a:r>
                <a:rPr lang="en-US" sz="2000" dirty="0">
                  <a:solidFill>
                    <a:srgbClr val="000000"/>
                  </a:solidFill>
                  <a:latin typeface="Consolas" panose="020B0609020204030204" pitchFamily="49" charset="0"/>
                </a:rPr>
                <a:t>(</a:t>
              </a:r>
              <a:r>
                <a:rPr lang="en-US" sz="2000" dirty="0" err="1">
                  <a:solidFill>
                    <a:srgbClr val="000000"/>
                  </a:solidFill>
                  <a:latin typeface="Consolas" panose="020B0609020204030204" pitchFamily="49" charset="0"/>
                </a:rPr>
                <a:t>LockModeType.</a:t>
              </a:r>
              <a:r>
                <a:rPr lang="en-US" sz="2000" b="1" i="1" dirty="0" err="1">
                  <a:solidFill>
                    <a:srgbClr val="0000C0"/>
                  </a:solidFill>
                  <a:latin typeface="Consolas" panose="020B0609020204030204" pitchFamily="49" charset="0"/>
                </a:rPr>
                <a:t>PESSIMISTIC_READ</a:t>
              </a:r>
              <a:r>
                <a:rPr lang="en-US" sz="2000" b="1" i="1" dirty="0">
                  <a:solidFill>
                    <a:srgbClr val="000000"/>
                  </a:solidFill>
                  <a:latin typeface="Consolas" panose="020B0609020204030204" pitchFamily="49" charset="0"/>
                </a:rPr>
                <a:t>)</a:t>
              </a:r>
            </a:p>
            <a:p>
              <a:r>
                <a:rPr lang="en-US" sz="2000" dirty="0">
                  <a:solidFill>
                    <a:srgbClr val="646464"/>
                  </a:solidFill>
                  <a:latin typeface="Consolas" panose="020B0609020204030204" pitchFamily="49" charset="0"/>
                </a:rPr>
                <a:t>@Transactional</a:t>
              </a:r>
            </a:p>
            <a:p>
              <a:r>
                <a:rPr lang="en-US" sz="2000" b="1" dirty="0">
                  <a:solidFill>
                    <a:srgbClr val="7F0055"/>
                  </a:solidFill>
                  <a:latin typeface="Consolas" panose="020B0609020204030204" pitchFamily="49" charset="0"/>
                </a:rPr>
                <a:t>override</a:t>
              </a:r>
              <a:r>
                <a:rPr lang="en-US" sz="2000" b="1" dirty="0">
                  <a:solidFill>
                    <a:srgbClr val="000000"/>
                  </a:solidFill>
                  <a:latin typeface="Consolas" panose="020B0609020204030204" pitchFamily="49" charset="0"/>
                </a:rPr>
                <a:t> </a:t>
              </a:r>
              <a:r>
                <a:rPr lang="en-US" sz="2000" b="1" dirty="0">
                  <a:solidFill>
                    <a:srgbClr val="7F0055"/>
                  </a:solidFill>
                  <a:latin typeface="Consolas" panose="020B0609020204030204" pitchFamily="49" charset="0"/>
                </a:rPr>
                <a:t>fun</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findById</a:t>
              </a:r>
              <a:r>
                <a:rPr lang="en-US" sz="2000" b="1" dirty="0">
                  <a:solidFill>
                    <a:srgbClr val="000000"/>
                  </a:solidFill>
                  <a:latin typeface="Consolas" panose="020B0609020204030204" pitchFamily="49" charset="0"/>
                </a:rPr>
                <a:t>(</a:t>
              </a:r>
              <a:r>
                <a:rPr lang="en-US" sz="2000" b="1" dirty="0" err="1">
                  <a:solidFill>
                    <a:srgbClr val="000000"/>
                  </a:solidFill>
                  <a:latin typeface="Consolas" panose="020B0609020204030204" pitchFamily="49" charset="0"/>
                </a:rPr>
                <a:t>facilityTaConnectId:FacilityTaConnectId</a:t>
              </a:r>
              <a:r>
                <a:rPr lang="en-US" sz="2000" b="1" dirty="0">
                  <a:solidFill>
                    <a:srgbClr val="000000"/>
                  </a:solidFill>
                  <a:latin typeface="Consolas" panose="020B0609020204030204" pitchFamily="49" charset="0"/>
                </a:rPr>
                <a:t>):Optional&lt;</a:t>
              </a:r>
              <a:r>
                <a:rPr lang="en-US" sz="2000" b="1" dirty="0" err="1">
                  <a:solidFill>
                    <a:srgbClr val="000000"/>
                  </a:solidFill>
                  <a:latin typeface="Consolas" panose="020B0609020204030204" pitchFamily="49" charset="0"/>
                </a:rPr>
                <a:t>FacilityTaConnects</a:t>
              </a:r>
              <a:r>
                <a:rPr lang="en-US" sz="2000" b="1" dirty="0">
                  <a:solidFill>
                    <a:srgbClr val="000000"/>
                  </a:solidFill>
                  <a:latin typeface="Consolas" panose="020B0609020204030204" pitchFamily="49" charset="0"/>
                </a:rPr>
                <a:t>&gt;</a:t>
              </a:r>
              <a:endParaRPr lang="en-US" sz="2000" dirty="0"/>
            </a:p>
          </p:txBody>
        </p:sp>
        <p:grpSp>
          <p:nvGrpSpPr>
            <p:cNvPr id="7" name="グループ化 6"/>
            <p:cNvGrpSpPr/>
            <p:nvPr/>
          </p:nvGrpSpPr>
          <p:grpSpPr>
            <a:xfrm>
              <a:off x="1062514" y="3524992"/>
              <a:ext cx="6195536" cy="1618000"/>
              <a:chOff x="1062514" y="3524992"/>
              <a:chExt cx="6195536" cy="1618000"/>
            </a:xfrm>
          </p:grpSpPr>
          <p:sp>
            <p:nvSpPr>
              <p:cNvPr id="6" name="正方形/長方形 5"/>
              <p:cNvSpPr/>
              <p:nvPr/>
            </p:nvSpPr>
            <p:spPr>
              <a:xfrm>
                <a:off x="1062514" y="3524992"/>
                <a:ext cx="5409724" cy="4572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正方形/長方形 15"/>
              <p:cNvSpPr/>
              <p:nvPr/>
            </p:nvSpPr>
            <p:spPr>
              <a:xfrm>
                <a:off x="1062514" y="4800092"/>
                <a:ext cx="6195536" cy="3429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sp>
        <p:nvSpPr>
          <p:cNvPr id="23" name="正方形/長方形 22"/>
          <p:cNvSpPr/>
          <p:nvPr/>
        </p:nvSpPr>
        <p:spPr>
          <a:xfrm>
            <a:off x="1062514" y="4312192"/>
            <a:ext cx="15648622" cy="1446550"/>
          </a:xfrm>
          <a:prstGeom prst="rect">
            <a:avLst/>
          </a:prstGeom>
        </p:spPr>
        <p:txBody>
          <a:bodyPr wrap="square">
            <a:spAutoFit/>
          </a:bodyPr>
          <a:lstStyle/>
          <a:p>
            <a:pPr marL="342900" indent="-342900">
              <a:buFont typeface="Wingdings" panose="05000000000000000000" pitchFamily="2" charset="2"/>
              <a:buChar char="Ø"/>
            </a:pPr>
            <a:r>
              <a:rPr lang="en-US" sz="2800" b="1" dirty="0" err="1" smtClean="0">
                <a:latin typeface="Times New Roman" panose="02020603050405020304" pitchFamily="18" charset="0"/>
                <a:cs typeface="Times New Roman" panose="02020603050405020304" pitchFamily="18" charset="0"/>
              </a:rPr>
              <a:t>Sử</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dụng</a:t>
            </a:r>
            <a:r>
              <a:rPr lang="en-US" sz="2800" b="1" dirty="0" smtClean="0">
                <a:latin typeface="Times New Roman" panose="02020603050405020304" pitchFamily="18" charset="0"/>
                <a:cs typeface="Times New Roman" panose="02020603050405020304" pitchFamily="18" charset="0"/>
              </a:rPr>
              <a:t> </a:t>
            </a:r>
            <a:r>
              <a:rPr lang="en-US" sz="2800" b="1" i="1" dirty="0" smtClean="0">
                <a:latin typeface="Times New Roman" panose="02020603050405020304" pitchFamily="18" charset="0"/>
                <a:cs typeface="Times New Roman" panose="02020603050405020304" pitchFamily="18" charset="0"/>
              </a:rPr>
              <a:t>PESSIMISTIC_WRITE</a:t>
            </a:r>
            <a:endParaRPr lang="en-US" sz="2800" b="1" dirty="0" smtClean="0">
              <a:solidFill>
                <a:srgbClr val="646464"/>
              </a:solidFill>
              <a:latin typeface="Times New Roman" panose="02020603050405020304" pitchFamily="18" charset="0"/>
              <a:cs typeface="Times New Roman" panose="02020603050405020304" pitchFamily="18" charset="0"/>
            </a:endParaRPr>
          </a:p>
          <a:p>
            <a:r>
              <a:rPr lang="en-US" sz="2000" dirty="0" smtClean="0">
                <a:solidFill>
                  <a:srgbClr val="646464"/>
                </a:solidFill>
                <a:latin typeface="Consolas" panose="020B0609020204030204" pitchFamily="49" charset="0"/>
              </a:rPr>
              <a:t>@Lock</a:t>
            </a:r>
            <a:r>
              <a:rPr lang="en-US" sz="2000" dirty="0" smtClean="0">
                <a:solidFill>
                  <a:srgbClr val="000000"/>
                </a:solidFill>
                <a:latin typeface="Consolas" panose="020B0609020204030204" pitchFamily="49" charset="0"/>
              </a:rPr>
              <a:t>(</a:t>
            </a:r>
            <a:r>
              <a:rPr lang="en-US" sz="2000" dirty="0" err="1" smtClean="0">
                <a:solidFill>
                  <a:srgbClr val="000000"/>
                </a:solidFill>
                <a:latin typeface="Consolas" panose="020B0609020204030204" pitchFamily="49" charset="0"/>
              </a:rPr>
              <a:t>LockModeType.</a:t>
            </a:r>
            <a:r>
              <a:rPr lang="en-US" sz="2000" b="1" i="1" dirty="0" err="1" smtClean="0">
                <a:solidFill>
                  <a:srgbClr val="0000C0"/>
                </a:solidFill>
                <a:latin typeface="Consolas" panose="020B0609020204030204" pitchFamily="49" charset="0"/>
              </a:rPr>
              <a:t>PESSIMISTIC_WRITE</a:t>
            </a:r>
            <a:r>
              <a:rPr lang="en-US" sz="2000" b="1" i="1" dirty="0" smtClean="0">
                <a:solidFill>
                  <a:srgbClr val="000000"/>
                </a:solidFill>
                <a:latin typeface="Consolas" panose="020B0609020204030204" pitchFamily="49" charset="0"/>
              </a:rPr>
              <a:t>)</a:t>
            </a:r>
          </a:p>
          <a:p>
            <a:r>
              <a:rPr lang="en-US" sz="2000" dirty="0" smtClean="0">
                <a:solidFill>
                  <a:srgbClr val="646464"/>
                </a:solidFill>
                <a:latin typeface="Consolas" panose="020B0609020204030204" pitchFamily="49" charset="0"/>
              </a:rPr>
              <a:t>@</a:t>
            </a:r>
            <a:r>
              <a:rPr lang="en-US" sz="2000" dirty="0">
                <a:solidFill>
                  <a:srgbClr val="646464"/>
                </a:solidFill>
                <a:latin typeface="Consolas" panose="020B0609020204030204" pitchFamily="49" charset="0"/>
              </a:rPr>
              <a:t>Transactional</a:t>
            </a:r>
          </a:p>
          <a:p>
            <a:r>
              <a:rPr lang="en-US" sz="2000" b="1" dirty="0">
                <a:solidFill>
                  <a:srgbClr val="7F0055"/>
                </a:solidFill>
                <a:latin typeface="Consolas" panose="020B0609020204030204" pitchFamily="49" charset="0"/>
              </a:rPr>
              <a:t>override</a:t>
            </a:r>
            <a:r>
              <a:rPr lang="en-US" sz="2000" b="1" dirty="0">
                <a:solidFill>
                  <a:srgbClr val="000000"/>
                </a:solidFill>
                <a:latin typeface="Consolas" panose="020B0609020204030204" pitchFamily="49" charset="0"/>
              </a:rPr>
              <a:t> </a:t>
            </a:r>
            <a:r>
              <a:rPr lang="en-US" sz="2000" b="1" dirty="0">
                <a:solidFill>
                  <a:srgbClr val="7F0055"/>
                </a:solidFill>
                <a:latin typeface="Consolas" panose="020B0609020204030204" pitchFamily="49" charset="0"/>
              </a:rPr>
              <a:t>fun</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findById</a:t>
            </a:r>
            <a:r>
              <a:rPr lang="en-US" sz="2000" b="1" dirty="0">
                <a:solidFill>
                  <a:srgbClr val="000000"/>
                </a:solidFill>
                <a:latin typeface="Consolas" panose="020B0609020204030204" pitchFamily="49" charset="0"/>
              </a:rPr>
              <a:t>(</a:t>
            </a:r>
            <a:r>
              <a:rPr lang="en-US" sz="2000" b="1" dirty="0" err="1">
                <a:solidFill>
                  <a:srgbClr val="000000"/>
                </a:solidFill>
                <a:latin typeface="Consolas" panose="020B0609020204030204" pitchFamily="49" charset="0"/>
              </a:rPr>
              <a:t>facilityTaConnectId:FacilityTaConnectId</a:t>
            </a:r>
            <a:r>
              <a:rPr lang="en-US" sz="2000" b="1" dirty="0">
                <a:solidFill>
                  <a:srgbClr val="000000"/>
                </a:solidFill>
                <a:latin typeface="Consolas" panose="020B0609020204030204" pitchFamily="49" charset="0"/>
              </a:rPr>
              <a:t>):Optional&lt;</a:t>
            </a:r>
            <a:r>
              <a:rPr lang="en-US" sz="2000" b="1" dirty="0" err="1">
                <a:solidFill>
                  <a:srgbClr val="000000"/>
                </a:solidFill>
                <a:latin typeface="Consolas" panose="020B0609020204030204" pitchFamily="49" charset="0"/>
              </a:rPr>
              <a:t>FacilityTaConnects</a:t>
            </a:r>
            <a:r>
              <a:rPr lang="en-US" sz="2000" b="1" dirty="0">
                <a:solidFill>
                  <a:srgbClr val="000000"/>
                </a:solidFill>
                <a:latin typeface="Consolas" panose="020B0609020204030204" pitchFamily="49" charset="0"/>
              </a:rPr>
              <a:t>&gt;</a:t>
            </a:r>
            <a:endParaRPr lang="en-US" sz="2000" dirty="0"/>
          </a:p>
        </p:txBody>
      </p:sp>
      <p:sp>
        <p:nvSpPr>
          <p:cNvPr id="24" name="正方形/長方形 23"/>
          <p:cNvSpPr/>
          <p:nvPr/>
        </p:nvSpPr>
        <p:spPr>
          <a:xfrm>
            <a:off x="962501" y="6088742"/>
            <a:ext cx="15648622" cy="1446550"/>
          </a:xfrm>
          <a:prstGeom prst="rect">
            <a:avLst/>
          </a:prstGeom>
        </p:spPr>
        <p:txBody>
          <a:bodyPr wrap="square">
            <a:spAutoFit/>
          </a:bodyPr>
          <a:lstStyle/>
          <a:p>
            <a:pPr marL="342900" indent="-342900">
              <a:buFont typeface="Wingdings" panose="05000000000000000000" pitchFamily="2" charset="2"/>
              <a:buChar char="Ø"/>
            </a:pPr>
            <a:r>
              <a:rPr lang="en-US" sz="2800" b="1" dirty="0" err="1" smtClean="0">
                <a:latin typeface="Times New Roman" panose="02020603050405020304" pitchFamily="18" charset="0"/>
                <a:cs typeface="Times New Roman" panose="02020603050405020304" pitchFamily="18" charset="0"/>
              </a:rPr>
              <a:t>Sử</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dụng</a:t>
            </a:r>
            <a:r>
              <a:rPr lang="en-US" sz="2800" b="1" dirty="0">
                <a:latin typeface="Times New Roman" panose="02020603050405020304" pitchFamily="18" charset="0"/>
                <a:cs typeface="Times New Roman" panose="02020603050405020304" pitchFamily="18" charset="0"/>
              </a:rPr>
              <a:t> PESSIMISTIC_FORCE_INCREMENT</a:t>
            </a:r>
            <a:endParaRPr lang="en-US" sz="2800" dirty="0" smtClean="0">
              <a:solidFill>
                <a:srgbClr val="646464"/>
              </a:solidFill>
              <a:latin typeface="Times New Roman" panose="02020603050405020304" pitchFamily="18" charset="0"/>
              <a:cs typeface="Times New Roman" panose="02020603050405020304" pitchFamily="18" charset="0"/>
            </a:endParaRPr>
          </a:p>
          <a:p>
            <a:r>
              <a:rPr lang="en-US" sz="2000" dirty="0" smtClean="0">
                <a:solidFill>
                  <a:srgbClr val="646464"/>
                </a:solidFill>
                <a:latin typeface="Consolas" panose="020B0609020204030204" pitchFamily="49" charset="0"/>
              </a:rPr>
              <a:t>@Lock</a:t>
            </a:r>
            <a:r>
              <a:rPr lang="en-US" sz="2000" dirty="0" smtClean="0">
                <a:solidFill>
                  <a:srgbClr val="000000"/>
                </a:solidFill>
                <a:latin typeface="Consolas" panose="020B0609020204030204" pitchFamily="49" charset="0"/>
              </a:rPr>
              <a:t>(</a:t>
            </a:r>
            <a:r>
              <a:rPr lang="en-US" sz="2000" dirty="0" err="1" smtClean="0">
                <a:solidFill>
                  <a:srgbClr val="000000"/>
                </a:solidFill>
                <a:latin typeface="Consolas" panose="020B0609020204030204" pitchFamily="49" charset="0"/>
              </a:rPr>
              <a:t>LockModeType.</a:t>
            </a:r>
            <a:r>
              <a:rPr lang="en-US" sz="2000" b="1" i="1" dirty="0" err="1" smtClean="0">
                <a:solidFill>
                  <a:srgbClr val="0000C0"/>
                </a:solidFill>
                <a:latin typeface="Consolas" panose="020B0609020204030204" pitchFamily="49" charset="0"/>
              </a:rPr>
              <a:t>PESSIMISTIC_FORCE_INCREMENT</a:t>
            </a:r>
            <a:r>
              <a:rPr lang="en-US" sz="2000" b="1" i="1" dirty="0" smtClean="0">
                <a:solidFill>
                  <a:srgbClr val="000000"/>
                </a:solidFill>
                <a:latin typeface="Consolas" panose="020B0609020204030204" pitchFamily="49" charset="0"/>
              </a:rPr>
              <a:t>)</a:t>
            </a:r>
            <a:endParaRPr lang="en-US" sz="2000" b="1" i="1" dirty="0">
              <a:solidFill>
                <a:srgbClr val="000000"/>
              </a:solidFill>
              <a:latin typeface="Consolas" panose="020B0609020204030204" pitchFamily="49" charset="0"/>
            </a:endParaRPr>
          </a:p>
          <a:p>
            <a:r>
              <a:rPr lang="en-US" sz="2000" dirty="0">
                <a:solidFill>
                  <a:srgbClr val="646464"/>
                </a:solidFill>
                <a:latin typeface="Consolas" panose="020B0609020204030204" pitchFamily="49" charset="0"/>
              </a:rPr>
              <a:t>@Transactional</a:t>
            </a:r>
          </a:p>
          <a:p>
            <a:r>
              <a:rPr lang="en-US" sz="2000" b="1" dirty="0">
                <a:solidFill>
                  <a:srgbClr val="7F0055"/>
                </a:solidFill>
                <a:latin typeface="Consolas" panose="020B0609020204030204" pitchFamily="49" charset="0"/>
              </a:rPr>
              <a:t>override</a:t>
            </a:r>
            <a:r>
              <a:rPr lang="en-US" sz="2000" b="1" dirty="0">
                <a:solidFill>
                  <a:srgbClr val="000000"/>
                </a:solidFill>
                <a:latin typeface="Consolas" panose="020B0609020204030204" pitchFamily="49" charset="0"/>
              </a:rPr>
              <a:t> </a:t>
            </a:r>
            <a:r>
              <a:rPr lang="en-US" sz="2000" b="1" dirty="0">
                <a:solidFill>
                  <a:srgbClr val="7F0055"/>
                </a:solidFill>
                <a:latin typeface="Consolas" panose="020B0609020204030204" pitchFamily="49" charset="0"/>
              </a:rPr>
              <a:t>fun</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findById</a:t>
            </a:r>
            <a:r>
              <a:rPr lang="en-US" sz="2000" b="1" dirty="0">
                <a:solidFill>
                  <a:srgbClr val="000000"/>
                </a:solidFill>
                <a:latin typeface="Consolas" panose="020B0609020204030204" pitchFamily="49" charset="0"/>
              </a:rPr>
              <a:t>(</a:t>
            </a:r>
            <a:r>
              <a:rPr lang="en-US" sz="2000" b="1" dirty="0" err="1">
                <a:solidFill>
                  <a:srgbClr val="000000"/>
                </a:solidFill>
                <a:latin typeface="Consolas" panose="020B0609020204030204" pitchFamily="49" charset="0"/>
              </a:rPr>
              <a:t>facilityTaConnectId:FacilityTaConnectId</a:t>
            </a:r>
            <a:r>
              <a:rPr lang="en-US" sz="2000" b="1" dirty="0">
                <a:solidFill>
                  <a:srgbClr val="000000"/>
                </a:solidFill>
                <a:latin typeface="Consolas" panose="020B0609020204030204" pitchFamily="49" charset="0"/>
              </a:rPr>
              <a:t>):Optional&lt;</a:t>
            </a:r>
            <a:r>
              <a:rPr lang="en-US" sz="2000" b="1" dirty="0" err="1">
                <a:solidFill>
                  <a:srgbClr val="000000"/>
                </a:solidFill>
                <a:latin typeface="Consolas" panose="020B0609020204030204" pitchFamily="49" charset="0"/>
              </a:rPr>
              <a:t>FacilityTaConnects</a:t>
            </a:r>
            <a:r>
              <a:rPr lang="en-US" sz="2000" b="1" dirty="0">
                <a:solidFill>
                  <a:srgbClr val="000000"/>
                </a:solidFill>
                <a:latin typeface="Consolas" panose="020B0609020204030204" pitchFamily="49" charset="0"/>
              </a:rPr>
              <a:t>&gt;</a:t>
            </a:r>
            <a:endParaRPr lang="en-US" sz="2000" dirty="0"/>
          </a:p>
        </p:txBody>
      </p:sp>
      <p:sp>
        <p:nvSpPr>
          <p:cNvPr id="10" name="正方形/長方形 9"/>
          <p:cNvSpPr/>
          <p:nvPr/>
        </p:nvSpPr>
        <p:spPr>
          <a:xfrm>
            <a:off x="1062514" y="6600825"/>
            <a:ext cx="6638449" cy="3143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角丸四角形吹き出し 16"/>
          <p:cNvSpPr/>
          <p:nvPr/>
        </p:nvSpPr>
        <p:spPr>
          <a:xfrm>
            <a:off x="2776300" y="7677185"/>
            <a:ext cx="8096488" cy="2467921"/>
          </a:xfrm>
          <a:prstGeom prst="wedgeRoundRectCallout">
            <a:avLst>
              <a:gd name="adj1" fmla="val -11555"/>
              <a:gd name="adj2" fmla="val -79917"/>
              <a:gd name="adj3" fmla="val 16667"/>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dirty="0" err="1" smtClean="0">
                <a:solidFill>
                  <a:srgbClr val="FF0000"/>
                </a:solidFill>
              </a:rPr>
              <a:t>Đối</a:t>
            </a:r>
            <a:r>
              <a:rPr lang="en-US" dirty="0" smtClean="0">
                <a:solidFill>
                  <a:srgbClr val="FF0000"/>
                </a:solidFill>
              </a:rPr>
              <a:t> </a:t>
            </a:r>
            <a:r>
              <a:rPr lang="en-US" dirty="0" err="1" smtClean="0">
                <a:solidFill>
                  <a:srgbClr val="FF0000"/>
                </a:solidFill>
              </a:rPr>
              <a:t>với</a:t>
            </a:r>
            <a:r>
              <a:rPr lang="en-US" dirty="0" smtClean="0">
                <a:solidFill>
                  <a:srgbClr val="FF0000"/>
                </a:solidFill>
              </a:rPr>
              <a:t> Lock Mode </a:t>
            </a:r>
            <a:r>
              <a:rPr lang="en-US" dirty="0" err="1" smtClean="0">
                <a:solidFill>
                  <a:srgbClr val="FF0000"/>
                </a:solidFill>
              </a:rPr>
              <a:t>Tyle</a:t>
            </a:r>
            <a:r>
              <a:rPr lang="en-US" dirty="0" smtClean="0">
                <a:solidFill>
                  <a:srgbClr val="FF0000"/>
                </a:solidFill>
              </a:rPr>
              <a:t> </a:t>
            </a:r>
            <a:r>
              <a:rPr lang="en-US" dirty="0" err="1" smtClean="0">
                <a:solidFill>
                  <a:srgbClr val="FF0000"/>
                </a:solidFill>
              </a:rPr>
              <a:t>là</a:t>
            </a:r>
            <a:r>
              <a:rPr lang="en-US" dirty="0" smtClean="0">
                <a:solidFill>
                  <a:srgbClr val="FF0000"/>
                </a:solidFill>
              </a:rPr>
              <a:t> </a:t>
            </a:r>
            <a:r>
              <a:rPr lang="en-US" b="1" i="1" dirty="0" smtClean="0">
                <a:solidFill>
                  <a:srgbClr val="FF0000"/>
                </a:solidFill>
              </a:rPr>
              <a:t>PESSIMISTIC_FORCE_INCREMENT</a:t>
            </a:r>
          </a:p>
          <a:p>
            <a:r>
              <a:rPr lang="en-US" i="1" dirty="0" err="1" smtClean="0">
                <a:solidFill>
                  <a:srgbClr val="FF0000"/>
                </a:solidFill>
              </a:rPr>
              <a:t>Thì</a:t>
            </a:r>
            <a:r>
              <a:rPr lang="en-US" i="1" dirty="0" smtClean="0">
                <a:solidFill>
                  <a:srgbClr val="FF0000"/>
                </a:solidFill>
              </a:rPr>
              <a:t> entity </a:t>
            </a:r>
            <a:r>
              <a:rPr lang="en-US" i="1" dirty="0" err="1" smtClean="0">
                <a:solidFill>
                  <a:srgbClr val="FF0000"/>
                </a:solidFill>
              </a:rPr>
              <a:t>bắt</a:t>
            </a:r>
            <a:r>
              <a:rPr lang="en-US" i="1" dirty="0" smtClean="0">
                <a:solidFill>
                  <a:srgbClr val="FF0000"/>
                </a:solidFill>
              </a:rPr>
              <a:t> </a:t>
            </a:r>
            <a:r>
              <a:rPr lang="en-US" i="1" dirty="0" err="1" smtClean="0">
                <a:solidFill>
                  <a:srgbClr val="FF0000"/>
                </a:solidFill>
              </a:rPr>
              <a:t>buộc</a:t>
            </a:r>
            <a:r>
              <a:rPr lang="en-US" i="1" dirty="0" smtClean="0">
                <a:solidFill>
                  <a:srgbClr val="FF0000"/>
                </a:solidFill>
              </a:rPr>
              <a:t> </a:t>
            </a:r>
            <a:r>
              <a:rPr lang="en-US" i="1" dirty="0" err="1" smtClean="0">
                <a:solidFill>
                  <a:srgbClr val="FF0000"/>
                </a:solidFill>
              </a:rPr>
              <a:t>phải</a:t>
            </a:r>
            <a:r>
              <a:rPr lang="en-US" i="1" dirty="0" smtClean="0">
                <a:solidFill>
                  <a:srgbClr val="FF0000"/>
                </a:solidFill>
              </a:rPr>
              <a:t> </a:t>
            </a:r>
            <a:r>
              <a:rPr lang="en-US" i="1" dirty="0" err="1" smtClean="0">
                <a:solidFill>
                  <a:srgbClr val="FF0000"/>
                </a:solidFill>
              </a:rPr>
              <a:t>có</a:t>
            </a:r>
            <a:r>
              <a:rPr lang="en-US" i="1" dirty="0" smtClean="0">
                <a:solidFill>
                  <a:srgbClr val="FF0000"/>
                </a:solidFill>
              </a:rPr>
              <a:t> column version </a:t>
            </a:r>
            <a:r>
              <a:rPr lang="en-US" i="1" dirty="0" err="1" smtClean="0">
                <a:solidFill>
                  <a:srgbClr val="FF0000"/>
                </a:solidFill>
              </a:rPr>
              <a:t>được</a:t>
            </a:r>
            <a:r>
              <a:rPr lang="en-US" i="1" dirty="0" smtClean="0">
                <a:solidFill>
                  <a:srgbClr val="FF0000"/>
                </a:solidFill>
              </a:rPr>
              <a:t> </a:t>
            </a:r>
            <a:r>
              <a:rPr lang="en-US" i="1" dirty="0" err="1" smtClean="0">
                <a:solidFill>
                  <a:srgbClr val="FF0000"/>
                </a:solidFill>
              </a:rPr>
              <a:t>chú</a:t>
            </a:r>
            <a:r>
              <a:rPr lang="en-US" i="1" dirty="0" smtClean="0">
                <a:solidFill>
                  <a:srgbClr val="FF0000"/>
                </a:solidFill>
              </a:rPr>
              <a:t> </a:t>
            </a:r>
            <a:r>
              <a:rPr lang="en-US" i="1" dirty="0" err="1" smtClean="0">
                <a:solidFill>
                  <a:srgbClr val="FF0000"/>
                </a:solidFill>
              </a:rPr>
              <a:t>thích</a:t>
            </a:r>
            <a:r>
              <a:rPr lang="en-US" i="1" dirty="0" smtClean="0">
                <a:solidFill>
                  <a:srgbClr val="FF0000"/>
                </a:solidFill>
              </a:rPr>
              <a:t> </a:t>
            </a:r>
            <a:r>
              <a:rPr lang="en-US" i="1" dirty="0" err="1" smtClean="0">
                <a:solidFill>
                  <a:srgbClr val="FF0000"/>
                </a:solidFill>
              </a:rPr>
              <a:t>bằng</a:t>
            </a:r>
            <a:r>
              <a:rPr lang="en-US" i="1" dirty="0" smtClean="0">
                <a:solidFill>
                  <a:srgbClr val="FF0000"/>
                </a:solidFill>
              </a:rPr>
              <a:t> annotation version</a:t>
            </a:r>
          </a:p>
          <a:p>
            <a:r>
              <a:rPr lang="en-US" b="1" i="1" dirty="0" err="1" smtClean="0">
                <a:solidFill>
                  <a:schemeClr val="tx1"/>
                </a:solidFill>
              </a:rPr>
              <a:t>Ví</a:t>
            </a:r>
            <a:r>
              <a:rPr lang="en-US" b="1" i="1" dirty="0" smtClean="0">
                <a:solidFill>
                  <a:schemeClr val="tx1"/>
                </a:solidFill>
              </a:rPr>
              <a:t> </a:t>
            </a:r>
            <a:r>
              <a:rPr lang="en-US" b="1" i="1" dirty="0" err="1" smtClean="0">
                <a:solidFill>
                  <a:schemeClr val="tx1"/>
                </a:solidFill>
              </a:rPr>
              <a:t>dụ</a:t>
            </a:r>
            <a:r>
              <a:rPr lang="en-US" b="1" i="1" dirty="0" smtClean="0">
                <a:solidFill>
                  <a:schemeClr val="tx1"/>
                </a:solidFill>
              </a:rPr>
              <a:t>:</a:t>
            </a:r>
          </a:p>
          <a:p>
            <a:r>
              <a:rPr lang="en-US" dirty="0">
                <a:solidFill>
                  <a:srgbClr val="646464"/>
                </a:solidFill>
                <a:latin typeface="Consolas" panose="020B0609020204030204" pitchFamily="49" charset="0"/>
              </a:rPr>
              <a:t>@Version</a:t>
            </a:r>
          </a:p>
          <a:p>
            <a:r>
              <a:rPr lang="en-US" b="1" dirty="0" err="1" smtClean="0">
                <a:solidFill>
                  <a:srgbClr val="7F0055"/>
                </a:solidFill>
                <a:latin typeface="Consolas" panose="020B0609020204030204" pitchFamily="49" charset="0"/>
              </a:rPr>
              <a:t>var</a:t>
            </a:r>
            <a:r>
              <a:rPr lang="en-US" b="1" dirty="0" smtClean="0">
                <a:solidFill>
                  <a:srgbClr val="000000"/>
                </a:solidFill>
                <a:latin typeface="Consolas" panose="020B0609020204030204" pitchFamily="49" charset="0"/>
              </a:rPr>
              <a:t> </a:t>
            </a:r>
            <a:r>
              <a:rPr lang="en-US" b="1" u="sng" dirty="0" err="1" smtClean="0">
                <a:solidFill>
                  <a:srgbClr val="0000C0"/>
                </a:solidFill>
                <a:latin typeface="Consolas" panose="020B0609020204030204" pitchFamily="49" charset="0"/>
              </a:rPr>
              <a:t>version</a:t>
            </a:r>
            <a:r>
              <a:rPr lang="en-US" b="1" u="sng" dirty="0" err="1" smtClean="0">
                <a:solidFill>
                  <a:srgbClr val="000000"/>
                </a:solidFill>
                <a:latin typeface="Consolas" panose="020B0609020204030204" pitchFamily="49" charset="0"/>
              </a:rPr>
              <a:t>:Long</a:t>
            </a:r>
            <a:endParaRPr lang="en-US" b="1" u="sng" dirty="0" smtClean="0">
              <a:solidFill>
                <a:srgbClr val="000000"/>
              </a:solidFill>
              <a:latin typeface="Consolas" panose="020B0609020204030204" pitchFamily="49" charset="0"/>
            </a:endParaRPr>
          </a:p>
          <a:p>
            <a:endParaRPr lang="en-US" b="1" u="sng" dirty="0">
              <a:solidFill>
                <a:srgbClr val="000000"/>
              </a:solidFill>
              <a:latin typeface="Consolas" panose="020B0609020204030204" pitchFamily="49" charset="0"/>
            </a:endParaRPr>
          </a:p>
          <a:p>
            <a:r>
              <a:rPr lang="en-US" altLang="ja-JP" dirty="0" smtClean="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 </a:t>
            </a:r>
            <a:r>
              <a:rPr lang="en-US" altLang="ja-JP" dirty="0" smtClean="0">
                <a:solidFill>
                  <a:srgbClr val="000000"/>
                </a:solidFill>
                <a:latin typeface="Consolas" panose="020B0609020204030204" pitchFamily="49" charset="0"/>
              </a:rPr>
              <a:t>Trong table </a:t>
            </a:r>
            <a:r>
              <a:rPr lang="en-US" altLang="ja-JP" dirty="0" err="1" smtClean="0">
                <a:solidFill>
                  <a:srgbClr val="000000"/>
                </a:solidFill>
                <a:latin typeface="Consolas" panose="020B0609020204030204" pitchFamily="49" charset="0"/>
              </a:rPr>
              <a:t>cũng</a:t>
            </a:r>
            <a:r>
              <a:rPr lang="en-US" altLang="ja-JP" dirty="0" smtClean="0">
                <a:solidFill>
                  <a:srgbClr val="000000"/>
                </a:solidFill>
                <a:latin typeface="Consolas" panose="020B0609020204030204" pitchFamily="49" charset="0"/>
              </a:rPr>
              <a:t> </a:t>
            </a:r>
            <a:r>
              <a:rPr lang="en-US" altLang="ja-JP" dirty="0" err="1" smtClean="0">
                <a:solidFill>
                  <a:srgbClr val="000000"/>
                </a:solidFill>
                <a:latin typeface="Consolas" panose="020B0609020204030204" pitchFamily="49" charset="0"/>
              </a:rPr>
              <a:t>cần</a:t>
            </a:r>
            <a:r>
              <a:rPr lang="en-US" altLang="ja-JP" dirty="0" smtClean="0">
                <a:solidFill>
                  <a:srgbClr val="000000"/>
                </a:solidFill>
                <a:latin typeface="Consolas" panose="020B0609020204030204" pitchFamily="49" charset="0"/>
              </a:rPr>
              <a:t> </a:t>
            </a:r>
            <a:r>
              <a:rPr lang="en-US" altLang="ja-JP" dirty="0" err="1" smtClean="0">
                <a:solidFill>
                  <a:srgbClr val="000000"/>
                </a:solidFill>
                <a:latin typeface="Consolas" panose="020B0609020204030204" pitchFamily="49" charset="0"/>
              </a:rPr>
              <a:t>có</a:t>
            </a:r>
            <a:r>
              <a:rPr lang="en-US" altLang="ja-JP" dirty="0" smtClean="0">
                <a:solidFill>
                  <a:srgbClr val="000000"/>
                </a:solidFill>
                <a:latin typeface="Consolas" panose="020B0609020204030204" pitchFamily="49" charset="0"/>
              </a:rPr>
              <a:t> column </a:t>
            </a:r>
            <a:r>
              <a:rPr lang="en-US" dirty="0">
                <a:solidFill>
                  <a:srgbClr val="0000C0"/>
                </a:solidFill>
                <a:latin typeface="Consolas" panose="020B0609020204030204" pitchFamily="49" charset="0"/>
              </a:rPr>
              <a:t>version</a:t>
            </a:r>
            <a:endParaRPr lang="en-US" dirty="0">
              <a:solidFill>
                <a:schemeClr val="tx1"/>
              </a:solidFill>
            </a:endParaRPr>
          </a:p>
        </p:txBody>
      </p:sp>
      <p:pic>
        <p:nvPicPr>
          <p:cNvPr id="25" name="Picture 28"/>
          <p:cNvPicPr>
            <a:picLocks noChangeAspect="1"/>
          </p:cNvPicPr>
          <p:nvPr/>
        </p:nvPicPr>
        <p:blipFill>
          <a:blip r:embed="rId2"/>
          <a:stretch>
            <a:fillRect/>
          </a:stretch>
        </p:blipFill>
        <p:spPr>
          <a:xfrm flipH="1">
            <a:off x="14363700" y="2647949"/>
            <a:ext cx="3924300" cy="7639050"/>
          </a:xfrm>
          <a:prstGeom prst="rect">
            <a:avLst/>
          </a:prstGeom>
        </p:spPr>
      </p:pic>
    </p:spTree>
    <p:extLst>
      <p:ext uri="{BB962C8B-B14F-4D97-AF65-F5344CB8AC3E}">
        <p14:creationId xmlns:p14="http://schemas.microsoft.com/office/powerpoint/2010/main" val="12636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20"/>
          <p:cNvSpPr/>
          <p:nvPr/>
        </p:nvSpPr>
        <p:spPr>
          <a:xfrm>
            <a:off x="0" y="1"/>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1"/>
          <p:cNvSpPr/>
          <p:nvPr/>
        </p:nvSpPr>
        <p:spPr>
          <a:xfrm>
            <a:off x="0" y="112694"/>
            <a:ext cx="18288000" cy="10286998"/>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2" name="正方形/長方形 3"/>
          <p:cNvSpPr/>
          <p:nvPr/>
        </p:nvSpPr>
        <p:spPr>
          <a:xfrm>
            <a:off x="174666" y="253783"/>
            <a:ext cx="5683209" cy="699983"/>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err="1" smtClean="0">
                <a:latin typeface="Times New Roman" panose="02020603050405020304" pitchFamily="18" charset="0"/>
                <a:cs typeface="Times New Roman" panose="02020603050405020304" pitchFamily="18" charset="0"/>
              </a:rPr>
              <a:t>Thiết</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đặt</a:t>
            </a:r>
            <a:r>
              <a:rPr lang="en-US" sz="4000" b="1" dirty="0" smtClean="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Lock Timeout</a:t>
            </a:r>
          </a:p>
        </p:txBody>
      </p:sp>
      <p:pic>
        <p:nvPicPr>
          <p:cNvPr id="18" name="Picture 28"/>
          <p:cNvPicPr>
            <a:picLocks noChangeAspect="1"/>
          </p:cNvPicPr>
          <p:nvPr/>
        </p:nvPicPr>
        <p:blipFill>
          <a:blip r:embed="rId2"/>
          <a:stretch>
            <a:fillRect/>
          </a:stretch>
        </p:blipFill>
        <p:spPr>
          <a:xfrm flipH="1">
            <a:off x="15148560" y="4175759"/>
            <a:ext cx="3139440" cy="6111240"/>
          </a:xfrm>
          <a:prstGeom prst="rect">
            <a:avLst/>
          </a:prstGeom>
        </p:spPr>
      </p:pic>
      <p:sp>
        <p:nvSpPr>
          <p:cNvPr id="3" name="テキスト ボックス 2"/>
          <p:cNvSpPr txBox="1"/>
          <p:nvPr/>
        </p:nvSpPr>
        <p:spPr>
          <a:xfrm>
            <a:off x="557213" y="1285875"/>
            <a:ext cx="14758987" cy="3970318"/>
          </a:xfrm>
          <a:prstGeom prst="rect">
            <a:avLst/>
          </a:prstGeom>
          <a:noFill/>
        </p:spPr>
        <p:txBody>
          <a:bodyPr wrap="square" rtlCol="0">
            <a:spAutoFit/>
          </a:bodyPr>
          <a:lstStyle/>
          <a:p>
            <a:r>
              <a:rPr lang="vi-VN" sz="2800" dirty="0" smtClean="0">
                <a:latin typeface="+mj-lt"/>
              </a:rPr>
              <a:t>Bên cạnh việc thiết lập </a:t>
            </a:r>
            <a:r>
              <a:rPr lang="en-US" sz="2800" dirty="0" err="1" smtClean="0">
                <a:latin typeface="+mj-lt"/>
              </a:rPr>
              <a:t>chế</a:t>
            </a:r>
            <a:r>
              <a:rPr lang="en-US" sz="2800" dirty="0" smtClean="0">
                <a:latin typeface="+mj-lt"/>
              </a:rPr>
              <a:t> </a:t>
            </a:r>
            <a:r>
              <a:rPr lang="en-US" sz="2800" dirty="0" err="1" smtClean="0">
                <a:latin typeface="+mj-lt"/>
              </a:rPr>
              <a:t>độ</a:t>
            </a:r>
            <a:r>
              <a:rPr lang="en-US" sz="2800" dirty="0" smtClean="0">
                <a:latin typeface="+mj-lt"/>
              </a:rPr>
              <a:t> </a:t>
            </a:r>
            <a:r>
              <a:rPr lang="en-US" sz="2800" dirty="0" err="1" smtClean="0">
                <a:latin typeface="+mj-lt"/>
              </a:rPr>
              <a:t>khóa</a:t>
            </a:r>
            <a:r>
              <a:rPr lang="vi-VN" sz="2800" dirty="0" smtClean="0">
                <a:latin typeface="+mj-lt"/>
              </a:rPr>
              <a:t>, chúng ta có thể điều chỉnh một thông số khóa khác </a:t>
            </a:r>
            <a:r>
              <a:rPr lang="en-US" sz="2800" dirty="0" err="1" smtClean="0">
                <a:latin typeface="+mj-lt"/>
              </a:rPr>
              <a:t>như</a:t>
            </a:r>
            <a:r>
              <a:rPr lang="en-US" sz="2800" dirty="0" smtClean="0">
                <a:latin typeface="+mj-lt"/>
              </a:rPr>
              <a:t> </a:t>
            </a:r>
            <a:r>
              <a:rPr lang="en-US" sz="2800" dirty="0" err="1" smtClean="0">
                <a:latin typeface="+mj-lt"/>
              </a:rPr>
              <a:t>là</a:t>
            </a:r>
            <a:r>
              <a:rPr lang="vi-VN" sz="2800" dirty="0" smtClean="0">
                <a:latin typeface="+mj-lt"/>
              </a:rPr>
              <a:t> </a:t>
            </a:r>
            <a:r>
              <a:rPr lang="en-US" sz="2800" b="1" dirty="0" smtClean="0">
                <a:latin typeface="Times New Roman" panose="02020603050405020304" pitchFamily="18" charset="0"/>
                <a:cs typeface="Times New Roman" panose="02020603050405020304" pitchFamily="18" charset="0"/>
              </a:rPr>
              <a:t>Lock</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Timeout</a:t>
            </a:r>
            <a:r>
              <a:rPr lang="vi-VN" sz="2800" dirty="0" smtClean="0">
                <a:latin typeface="+mj-lt"/>
              </a:rPr>
              <a:t>. Giá trị </a:t>
            </a:r>
            <a:r>
              <a:rPr lang="en-US" sz="2800" b="1" dirty="0">
                <a:latin typeface="Times New Roman" panose="02020603050405020304" pitchFamily="18" charset="0"/>
                <a:cs typeface="Times New Roman" panose="02020603050405020304" pitchFamily="18" charset="0"/>
              </a:rPr>
              <a:t>Lock Timeout </a:t>
            </a:r>
            <a:r>
              <a:rPr lang="vi-VN" sz="2800" dirty="0" smtClean="0">
                <a:latin typeface="+mj-lt"/>
              </a:rPr>
              <a:t>là số mili </a:t>
            </a:r>
            <a:r>
              <a:rPr lang="vi-VN" sz="2800" dirty="0">
                <a:latin typeface="+mj-lt"/>
              </a:rPr>
              <a:t>giây mà </a:t>
            </a:r>
            <a:r>
              <a:rPr lang="en-US" sz="2800" dirty="0" err="1" smtClean="0">
                <a:latin typeface="Times New Roman" panose="02020603050405020304" pitchFamily="18" charset="0"/>
                <a:cs typeface="Times New Roman" panose="02020603050405020304" pitchFamily="18" charset="0"/>
              </a:rPr>
              <a:t>muốn</a:t>
            </a:r>
            <a:r>
              <a:rPr lang="vi-VN" sz="2800" dirty="0" smtClean="0">
                <a:latin typeface="+mj-lt"/>
              </a:rPr>
              <a:t> </a:t>
            </a:r>
            <a:r>
              <a:rPr lang="vi-VN" sz="2800" dirty="0">
                <a:latin typeface="+mj-lt"/>
              </a:rPr>
              <a:t>đợi để có được khóa trên các bảng cơ sở dữ </a:t>
            </a:r>
            <a:r>
              <a:rPr lang="vi-VN" sz="2800" dirty="0" smtClean="0">
                <a:latin typeface="+mj-lt"/>
              </a:rPr>
              <a:t>liệu</a:t>
            </a:r>
            <a:r>
              <a:rPr lang="en-US" sz="2800" dirty="0" smtClean="0">
                <a:latin typeface="Times New Roman" panose="02020603050405020304" pitchFamily="18" charset="0"/>
                <a:cs typeface="Times New Roman" panose="02020603050405020304" pitchFamily="18" charset="0"/>
              </a:rPr>
              <a:t>, </a:t>
            </a:r>
            <a:r>
              <a:rPr lang="vi-VN" sz="2800" dirty="0" smtClean="0">
                <a:latin typeface="+mj-lt"/>
              </a:rPr>
              <a:t>có </a:t>
            </a:r>
            <a:r>
              <a:rPr lang="vi-VN" sz="2800" dirty="0">
                <a:latin typeface="+mj-lt"/>
              </a:rPr>
              <a:t>thể được chỉ định bằng cách sử dụng thuộc tính </a:t>
            </a:r>
            <a:r>
              <a:rPr lang="vi-VN" sz="2800" b="1" dirty="0" smtClean="0">
                <a:latin typeface="+mj-lt"/>
              </a:rPr>
              <a:t>javax.persistence.lock.timeout</a:t>
            </a:r>
            <a:endParaRPr lang="en-US" sz="2800" b="1" dirty="0" smtClean="0">
              <a:latin typeface="+mj-lt"/>
            </a:endParaRPr>
          </a:p>
          <a:p>
            <a:endParaRPr lang="en-US" sz="2800" b="1" dirty="0" smtClean="0">
              <a:latin typeface="+mj-lt"/>
            </a:endParaRPr>
          </a:p>
          <a:p>
            <a:r>
              <a:rPr lang="en-US" sz="2800" dirty="0" err="1" smtClean="0">
                <a:latin typeface="Times New Roman" panose="02020603050405020304" pitchFamily="18" charset="0"/>
                <a:cs typeface="Times New Roman" panose="02020603050405020304" pitchFamily="18" charset="0"/>
              </a:rPr>
              <a:t>Nếu</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vượt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LockTimeoutException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sẽ</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nhưng</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transaction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dấu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phục</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Nếu</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thành</a:t>
            </a:r>
            <a:r>
              <a:rPr lang="en-US" sz="2800" dirty="0">
                <a:latin typeface="Times New Roman" panose="02020603050405020304" pitchFamily="18" charset="0"/>
                <a:cs typeface="Times New Roman" panose="02020603050405020304" pitchFamily="18" charset="0"/>
              </a:rPr>
              <a:t> 0, persistence provider </a:t>
            </a:r>
            <a:r>
              <a:rPr lang="en-US" sz="2800" dirty="0" err="1">
                <a:latin typeface="Times New Roman" panose="02020603050405020304" pitchFamily="18" charset="0"/>
                <a:cs typeface="Times New Roman" panose="02020603050405020304" pitchFamily="18" charset="0"/>
              </a:rPr>
              <a:t>sẽ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LockTimeoutException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nếu</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lấy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lập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tức</a:t>
            </a:r>
            <a:endParaRPr lang="en-US" sz="2800" dirty="0">
              <a:latin typeface="Times New Roman" panose="02020603050405020304" pitchFamily="18" charset="0"/>
              <a:cs typeface="Times New Roman" panose="02020603050405020304" pitchFamily="18" charset="0"/>
            </a:endParaRPr>
          </a:p>
        </p:txBody>
      </p:sp>
      <p:sp>
        <p:nvSpPr>
          <p:cNvPr id="2" name="正方形/長方形 1"/>
          <p:cNvSpPr/>
          <p:nvPr/>
        </p:nvSpPr>
        <p:spPr>
          <a:xfrm>
            <a:off x="700088" y="5588302"/>
            <a:ext cx="14448472" cy="954107"/>
          </a:xfrm>
          <a:prstGeom prst="rect">
            <a:avLst/>
          </a:prstGeom>
        </p:spPr>
        <p:txBody>
          <a:bodyPr wrap="square">
            <a:spAutoFit/>
          </a:bodyPr>
          <a:lstStyle/>
          <a:p>
            <a:r>
              <a:rPr lang="vi-VN" sz="2800" dirty="0">
                <a:solidFill>
                  <a:srgbClr val="000000"/>
                </a:solidFill>
                <a:latin typeface="+mj-lt"/>
              </a:rPr>
              <a:t>Trong Spring Data JPA, thời gian chờ khóa có thể được chỉ định bằng cách sử dụng chú thích </a:t>
            </a:r>
            <a:r>
              <a:rPr lang="vi-VN" sz="2800" i="1" dirty="0">
                <a:solidFill>
                  <a:srgbClr val="267438"/>
                </a:solidFill>
                <a:latin typeface="+mj-lt"/>
                <a:hlinkClick r:id="rId3"/>
              </a:rPr>
              <a:t>QueryHints</a:t>
            </a:r>
            <a:r>
              <a:rPr lang="vi-VN" sz="2800" dirty="0">
                <a:solidFill>
                  <a:srgbClr val="000000"/>
                </a:solidFill>
                <a:latin typeface="+mj-lt"/>
              </a:rPr>
              <a:t> bằng cách đặt một </a:t>
            </a:r>
            <a:r>
              <a:rPr lang="vi-VN" sz="2800" i="1" dirty="0">
                <a:solidFill>
                  <a:srgbClr val="267438"/>
                </a:solidFill>
                <a:latin typeface="+mj-lt"/>
                <a:hlinkClick r:id="rId4"/>
              </a:rPr>
              <a:t>QueryHint</a:t>
            </a:r>
            <a:r>
              <a:rPr lang="vi-VN" sz="2800" dirty="0">
                <a:solidFill>
                  <a:srgbClr val="000000"/>
                </a:solidFill>
                <a:latin typeface="+mj-lt"/>
              </a:rPr>
              <a:t> trên các phương thức truy </a:t>
            </a:r>
            <a:r>
              <a:rPr lang="vi-VN" sz="2800" dirty="0" smtClean="0">
                <a:solidFill>
                  <a:srgbClr val="000000"/>
                </a:solidFill>
                <a:latin typeface="+mj-lt"/>
              </a:rPr>
              <a:t>vấn</a:t>
            </a:r>
            <a:r>
              <a:rPr lang="en-US" sz="2800" dirty="0" smtClean="0">
                <a:solidFill>
                  <a:srgbClr val="000000"/>
                </a:solidFill>
                <a:latin typeface="+mj-lt"/>
              </a:rPr>
              <a:t>:</a:t>
            </a:r>
            <a:endParaRPr lang="en-US" sz="2800" dirty="0">
              <a:latin typeface="+mj-lt"/>
            </a:endParaRPr>
          </a:p>
        </p:txBody>
      </p:sp>
      <p:sp>
        <p:nvSpPr>
          <p:cNvPr id="4" name="テキスト ボックス 3"/>
          <p:cNvSpPr txBox="1"/>
          <p:nvPr/>
        </p:nvSpPr>
        <p:spPr>
          <a:xfrm>
            <a:off x="867728" y="6822638"/>
            <a:ext cx="14448472" cy="1323439"/>
          </a:xfrm>
          <a:prstGeom prst="rect">
            <a:avLst/>
          </a:prstGeom>
          <a:noFill/>
        </p:spPr>
        <p:txBody>
          <a:bodyPr wrap="square" rtlCol="0">
            <a:spAutoFit/>
          </a:bodyPr>
          <a:lstStyle/>
          <a:p>
            <a:r>
              <a:rPr lang="en-US" sz="2000" dirty="0">
                <a:solidFill>
                  <a:srgbClr val="646464"/>
                </a:solidFill>
                <a:latin typeface="Consolas" panose="020B0609020204030204" pitchFamily="49" charset="0"/>
              </a:rPr>
              <a:t>@Lock</a:t>
            </a:r>
            <a:r>
              <a:rPr lang="en-US" sz="2000" dirty="0">
                <a:solidFill>
                  <a:srgbClr val="000000"/>
                </a:solidFill>
                <a:latin typeface="Consolas" panose="020B0609020204030204" pitchFamily="49" charset="0"/>
              </a:rPr>
              <a:t>(</a:t>
            </a:r>
            <a:r>
              <a:rPr lang="en-US" sz="2000" dirty="0" err="1">
                <a:solidFill>
                  <a:srgbClr val="000000"/>
                </a:solidFill>
                <a:latin typeface="Consolas" panose="020B0609020204030204" pitchFamily="49" charset="0"/>
              </a:rPr>
              <a:t>LockModeType.</a:t>
            </a:r>
            <a:r>
              <a:rPr lang="en-US" sz="2000" b="1" i="1" dirty="0" err="1">
                <a:solidFill>
                  <a:srgbClr val="0000C0"/>
                </a:solidFill>
                <a:latin typeface="Consolas" panose="020B0609020204030204" pitchFamily="49" charset="0"/>
              </a:rPr>
              <a:t>PESSIMISTIC_READ</a:t>
            </a:r>
            <a:r>
              <a:rPr lang="en-US" sz="2000" b="1" i="1" dirty="0">
                <a:solidFill>
                  <a:srgbClr val="000000"/>
                </a:solidFill>
                <a:latin typeface="Consolas" panose="020B0609020204030204" pitchFamily="49" charset="0"/>
              </a:rPr>
              <a:t>)</a:t>
            </a:r>
          </a:p>
          <a:p>
            <a:r>
              <a:rPr lang="en-US" sz="2000" dirty="0">
                <a:solidFill>
                  <a:srgbClr val="646464"/>
                </a:solidFill>
                <a:latin typeface="Consolas" panose="020B0609020204030204" pitchFamily="49" charset="0"/>
              </a:rPr>
              <a:t>@</a:t>
            </a:r>
            <a:r>
              <a:rPr lang="en-US" sz="2000" dirty="0" err="1">
                <a:solidFill>
                  <a:srgbClr val="646464"/>
                </a:solidFill>
                <a:latin typeface="Consolas" panose="020B0609020204030204" pitchFamily="49" charset="0"/>
              </a:rPr>
              <a:t>QueryHints</a:t>
            </a:r>
            <a:r>
              <a:rPr lang="en-US" sz="2000" dirty="0">
                <a:solidFill>
                  <a:srgbClr val="000000"/>
                </a:solidFill>
                <a:latin typeface="Consolas" panose="020B0609020204030204" pitchFamily="49" charset="0"/>
              </a:rPr>
              <a:t>(value = [</a:t>
            </a:r>
            <a:r>
              <a:rPr lang="en-US" sz="2000" dirty="0" err="1">
                <a:solidFill>
                  <a:srgbClr val="646464"/>
                </a:solidFill>
                <a:latin typeface="Consolas" panose="020B0609020204030204" pitchFamily="49" charset="0"/>
              </a:rPr>
              <a:t>QueryHint</a:t>
            </a:r>
            <a:r>
              <a:rPr lang="en-US" sz="2000" dirty="0">
                <a:solidFill>
                  <a:srgbClr val="000000"/>
                </a:solidFill>
                <a:latin typeface="Consolas" panose="020B0609020204030204" pitchFamily="49" charset="0"/>
              </a:rPr>
              <a:t>(name = </a:t>
            </a:r>
            <a:r>
              <a:rPr lang="en-US" sz="2000" dirty="0">
                <a:solidFill>
                  <a:srgbClr val="2A00FF"/>
                </a:solidFill>
                <a:latin typeface="Consolas" panose="020B0609020204030204" pitchFamily="49" charset="0"/>
              </a:rPr>
              <a:t>"</a:t>
            </a:r>
            <a:r>
              <a:rPr lang="en-US" sz="2000" dirty="0" err="1">
                <a:solidFill>
                  <a:srgbClr val="2A00FF"/>
                </a:solidFill>
                <a:latin typeface="Consolas" panose="020B0609020204030204" pitchFamily="49" charset="0"/>
              </a:rPr>
              <a:t>javax.persistence.lock.timeout</a:t>
            </a:r>
            <a:r>
              <a:rPr lang="en-US" sz="2000" dirty="0">
                <a:solidFill>
                  <a:srgbClr val="2A00FF"/>
                </a:solidFill>
                <a:latin typeface="Consolas" panose="020B0609020204030204" pitchFamily="49" charset="0"/>
              </a:rPr>
              <a:t>"</a:t>
            </a:r>
            <a:r>
              <a:rPr lang="en-US" sz="2000" dirty="0">
                <a:solidFill>
                  <a:srgbClr val="000000"/>
                </a:solidFill>
                <a:latin typeface="Consolas" panose="020B0609020204030204" pitchFamily="49" charset="0"/>
              </a:rPr>
              <a:t>, value = </a:t>
            </a:r>
            <a:r>
              <a:rPr lang="en-US" sz="2000" dirty="0">
                <a:solidFill>
                  <a:srgbClr val="2A00FF"/>
                </a:solidFill>
                <a:latin typeface="Consolas" panose="020B0609020204030204" pitchFamily="49" charset="0"/>
              </a:rPr>
              <a:t>"10000"</a:t>
            </a:r>
            <a:r>
              <a:rPr lang="en-US" sz="2000" dirty="0">
                <a:solidFill>
                  <a:srgbClr val="000000"/>
                </a:solidFill>
                <a:latin typeface="Consolas" panose="020B0609020204030204" pitchFamily="49" charset="0"/>
              </a:rPr>
              <a:t>)])</a:t>
            </a:r>
          </a:p>
          <a:p>
            <a:r>
              <a:rPr lang="en-US" sz="2000" dirty="0">
                <a:solidFill>
                  <a:srgbClr val="646464"/>
                </a:solidFill>
                <a:latin typeface="Consolas" panose="020B0609020204030204" pitchFamily="49" charset="0"/>
              </a:rPr>
              <a:t>@Transactional</a:t>
            </a:r>
          </a:p>
          <a:p>
            <a:r>
              <a:rPr lang="en-US" sz="2000" b="1" dirty="0">
                <a:solidFill>
                  <a:srgbClr val="7F0055"/>
                </a:solidFill>
                <a:latin typeface="Consolas" panose="020B0609020204030204" pitchFamily="49" charset="0"/>
              </a:rPr>
              <a:t>fun</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findAllByOrderByCommonFacilityCode</a:t>
            </a:r>
            <a:r>
              <a:rPr lang="en-US" sz="2000" b="1" dirty="0">
                <a:solidFill>
                  <a:srgbClr val="000000"/>
                </a:solidFill>
                <a:latin typeface="Consolas" panose="020B0609020204030204" pitchFamily="49" charset="0"/>
              </a:rPr>
              <a:t>(): List&lt;</a:t>
            </a:r>
            <a:r>
              <a:rPr lang="en-US" sz="2000" b="1" dirty="0" err="1">
                <a:solidFill>
                  <a:srgbClr val="000000"/>
                </a:solidFill>
                <a:latin typeface="Consolas" panose="020B0609020204030204" pitchFamily="49" charset="0"/>
              </a:rPr>
              <a:t>FacilityTaConnects</a:t>
            </a:r>
            <a:r>
              <a:rPr lang="en-US" sz="2000" b="1" dirty="0">
                <a:solidFill>
                  <a:srgbClr val="000000"/>
                </a:solidFill>
                <a:latin typeface="Consolas" panose="020B0609020204030204" pitchFamily="49" charset="0"/>
              </a:rPr>
              <a:t>&gt;?</a:t>
            </a:r>
            <a:endParaRPr lang="en-US" sz="2000" dirty="0"/>
          </a:p>
        </p:txBody>
      </p:sp>
      <p:sp>
        <p:nvSpPr>
          <p:cNvPr id="5" name="正方形/長方形 4"/>
          <p:cNvSpPr/>
          <p:nvPr/>
        </p:nvSpPr>
        <p:spPr>
          <a:xfrm>
            <a:off x="867728" y="7231379"/>
            <a:ext cx="12776835" cy="25297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角丸四角形吹き出し 8"/>
          <p:cNvSpPr/>
          <p:nvPr/>
        </p:nvSpPr>
        <p:spPr>
          <a:xfrm>
            <a:off x="10615613" y="7970485"/>
            <a:ext cx="4057649" cy="1702506"/>
          </a:xfrm>
          <a:prstGeom prst="wedgeRoundRectCallout">
            <a:avLst>
              <a:gd name="adj1" fmla="val -5020"/>
              <a:gd name="adj2" fmla="val -7261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dirty="0" err="1" smtClean="0">
                <a:latin typeface="Times New Roman" panose="02020603050405020304" pitchFamily="18" charset="0"/>
                <a:cs typeface="Times New Roman" panose="02020603050405020304" pitchFamily="18" charset="0"/>
              </a:rPr>
              <a:t>Sau</a:t>
            </a:r>
            <a:r>
              <a:rPr lang="en-US" dirty="0" smtClean="0">
                <a:latin typeface="Times New Roman" panose="02020603050405020304" pitchFamily="18" charset="0"/>
                <a:cs typeface="Times New Roman" panose="02020603050405020304" pitchFamily="18" charset="0"/>
              </a:rPr>
              <a:t> 10 </a:t>
            </a:r>
            <a:r>
              <a:rPr lang="en-US" dirty="0" err="1" smtClean="0">
                <a:latin typeface="Times New Roman" panose="02020603050405020304" pitchFamily="18" charset="0"/>
                <a:cs typeface="Times New Roman" panose="02020603050405020304" pitchFamily="18" charset="0"/>
              </a:rPr>
              <a:t>giây</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không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lấy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được</a:t>
            </a:r>
            <a:r>
              <a:rPr lang="en-US" dirty="0" smtClean="0">
                <a:latin typeface="Times New Roman" panose="02020603050405020304" pitchFamily="18" charset="0"/>
                <a:cs typeface="Times New Roman" panose="02020603050405020304" pitchFamily="18" charset="0"/>
              </a:rPr>
              <a:t> lock, </a:t>
            </a:r>
            <a:r>
              <a:rPr lang="en-US" dirty="0" err="1" smtClean="0">
                <a:latin typeface="Times New Roman" panose="02020603050405020304" pitchFamily="18" charset="0"/>
                <a:cs typeface="Times New Roman" panose="02020603050405020304" pitchFamily="18" charset="0"/>
              </a:rPr>
              <a:t>sẽ</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phát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sinh</a:t>
            </a:r>
            <a:r>
              <a:rPr lang="en-US"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LockTimeoutException</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4703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 プレースホルダー 2"/>
          <p:cNvSpPr>
            <a:spLocks noGrp="1"/>
          </p:cNvSpPr>
          <p:nvPr>
            <p:ph idx="1"/>
          </p:nvPr>
        </p:nvSpPr>
        <p:spPr/>
        <p:txBody>
          <a:bodyPr/>
          <a:lstStyle/>
          <a:p>
            <a:endParaRPr lang="en-US"/>
          </a:p>
        </p:txBody>
      </p:sp>
      <p:pic>
        <p:nvPicPr>
          <p:cNvPr id="1026" name="Picture 2" descr="Kết quả hình ảnh cho thanks for watching | Powerpoint animation, Slide  background, Pur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8287997"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1544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11181</TotalTime>
  <Words>2252</Words>
  <Application>Microsoft Office PowerPoint</Application>
  <PresentationFormat>ユーザー設定</PresentationFormat>
  <Paragraphs>328</Paragraphs>
  <Slides>51</Slides>
  <Notes>3</Notes>
  <HiddenSlides>0</HiddenSlides>
  <MMClips>0</MMClips>
  <ScaleCrop>false</ScaleCrop>
  <HeadingPairs>
    <vt:vector size="8" baseType="variant">
      <vt:variant>
        <vt:lpstr>使用されているフォント</vt:lpstr>
      </vt:variant>
      <vt:variant>
        <vt:i4>7</vt:i4>
      </vt:variant>
      <vt:variant>
        <vt:lpstr>テーマ</vt:lpstr>
      </vt:variant>
      <vt:variant>
        <vt:i4>1</vt:i4>
      </vt:variant>
      <vt:variant>
        <vt:lpstr>埋め込まれた OLE サーバー</vt:lpstr>
      </vt:variant>
      <vt:variant>
        <vt:i4>1</vt:i4>
      </vt:variant>
      <vt:variant>
        <vt:lpstr>スライド タイトル</vt:lpstr>
      </vt:variant>
      <vt:variant>
        <vt:i4>51</vt:i4>
      </vt:variant>
    </vt:vector>
  </HeadingPairs>
  <TitlesOfParts>
    <vt:vector size="60" baseType="lpstr">
      <vt:lpstr>ＭＳ Ｐゴシック</vt:lpstr>
      <vt:lpstr>宋体</vt:lpstr>
      <vt:lpstr>Arial</vt:lpstr>
      <vt:lpstr>Calibri</vt:lpstr>
      <vt:lpstr>Consolas</vt:lpstr>
      <vt:lpstr>Times New Roman</vt:lpstr>
      <vt:lpstr>Wingdings</vt:lpstr>
      <vt:lpstr>Office Theme</vt:lpstr>
      <vt:lpstr>ワークシート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Hoang Van Tien</dc:creator>
  <cp:lastModifiedBy>Hoang Van Tien</cp:lastModifiedBy>
  <cp:revision>174</cp:revision>
  <dcterms:created xsi:type="dcterms:W3CDTF">2011-01-21T15:00:27Z</dcterms:created>
  <dcterms:modified xsi:type="dcterms:W3CDTF">2022-05-17T06:08:21Z</dcterms:modified>
</cp:coreProperties>
</file>