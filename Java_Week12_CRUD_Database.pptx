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796" r:id="rId2"/>
  </p:sldMasterIdLst>
  <p:notesMasterIdLst>
    <p:notesMasterId r:id="rId24"/>
  </p:notesMasterIdLst>
  <p:handoutMasterIdLst>
    <p:handoutMasterId r:id="rId25"/>
  </p:handoutMasterIdLst>
  <p:sldIdLst>
    <p:sldId id="689" r:id="rId3"/>
    <p:sldId id="260" r:id="rId4"/>
    <p:sldId id="690" r:id="rId5"/>
    <p:sldId id="691" r:id="rId6"/>
    <p:sldId id="692" r:id="rId7"/>
    <p:sldId id="693" r:id="rId8"/>
    <p:sldId id="694" r:id="rId9"/>
    <p:sldId id="695" r:id="rId10"/>
    <p:sldId id="697" r:id="rId11"/>
    <p:sldId id="696" r:id="rId12"/>
    <p:sldId id="698" r:id="rId13"/>
    <p:sldId id="699" r:id="rId14"/>
    <p:sldId id="700" r:id="rId15"/>
    <p:sldId id="701" r:id="rId16"/>
    <p:sldId id="702" r:id="rId17"/>
    <p:sldId id="703" r:id="rId18"/>
    <p:sldId id="704" r:id="rId19"/>
    <p:sldId id="705" r:id="rId20"/>
    <p:sldId id="706" r:id="rId21"/>
    <p:sldId id="707" r:id="rId22"/>
    <p:sldId id="708" r:id="rId23"/>
  </p:sldIdLst>
  <p:sldSz cx="9906000" cy="6858000" type="A4"/>
  <p:notesSz cx="7104063" cy="10234613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6239">
          <p15:clr>
            <a:srgbClr val="A4A3A4"/>
          </p15:clr>
        </p15:guide>
        <p15:guide id="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ABA46"/>
    <a:srgbClr val="0000CC"/>
    <a:srgbClr val="5B9BD5"/>
    <a:srgbClr val="FF0000"/>
    <a:srgbClr val="FF00FF"/>
    <a:srgbClr val="70AD47"/>
    <a:srgbClr val="4BC174"/>
    <a:srgbClr val="50C8A7"/>
    <a:srgbClr val="55C3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淡色スタイル 3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淡色スタイル 3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47" autoAdjust="0"/>
  </p:normalViewPr>
  <p:slideViewPr>
    <p:cSldViewPr>
      <p:cViewPr varScale="1">
        <p:scale>
          <a:sx n="106" d="100"/>
          <a:sy n="106" d="100"/>
        </p:scale>
        <p:origin x="1548" y="120"/>
      </p:cViewPr>
      <p:guideLst>
        <p:guide orient="horz"/>
        <p:guide pos="6239"/>
        <p:guide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DB899A6-A9CA-4711-9723-BA912D00FE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651D3A0-D571-4358-8785-1088F76D9B2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618" y="4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r" defTabSz="987824" eaLnBrk="1" hangingPunct="1">
              <a:spcBef>
                <a:spcPct val="0"/>
              </a:spcBef>
              <a:defRPr sz="1300" b="0">
                <a:effectLst/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19D7232F-6855-4919-8F75-B7A75D70C85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3842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4427D1B6-1508-4EFB-B526-79F7F58444C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618" y="9723842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r" defTabSz="987824" eaLnBrk="1" hangingPunct="1">
              <a:defRPr sz="1300" b="0"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ABF23BBB-24A2-4FB1-97AA-82B17F20F696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166555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31E1D87D-A0A0-44F6-BD18-1DA14110C53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5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anose="02020603050405020304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8D8AEA5-A4A6-41CD-B14C-F3CD4220D02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05324" y="5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r" defTabSz="987824" eaLnBrk="1" hangingPunct="1">
              <a:spcBef>
                <a:spcPct val="0"/>
              </a:spcBef>
              <a:defRPr sz="1300" b="0">
                <a:effectLst/>
                <a:latin typeface="Times New Roman" panose="02020603050405020304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747BF16E-6815-4F62-A34F-5B22F844803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09625" y="811213"/>
            <a:ext cx="5516563" cy="3821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009AFE73-A821-4ADE-B9D2-225F3B6F615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2689" y="4861922"/>
            <a:ext cx="5212595" cy="4632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 dirty="0"/>
              <a:t>マスタ テキストの書式設定</a:t>
            </a:r>
          </a:p>
          <a:p>
            <a:pPr lvl="1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81926" name="Rectangle 6">
            <a:extLst>
              <a:ext uri="{FF2B5EF4-FFF2-40B4-BE49-F238E27FC236}">
                <a16:creationId xmlns:a16="http://schemas.microsoft.com/office/drawing/2014/main" id="{62419E40-0084-4BCB-8A80-CBA337840ED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6227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anose="02020603050405020304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81927" name="Rectangle 7">
            <a:extLst>
              <a:ext uri="{FF2B5EF4-FFF2-40B4-BE49-F238E27FC236}">
                <a16:creationId xmlns:a16="http://schemas.microsoft.com/office/drawing/2014/main" id="{95A1F3E7-6C28-42BC-9477-4EE05BC271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05324" y="9726227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r" defTabSz="987824" eaLnBrk="1" hangingPunct="1">
              <a:defRPr sz="1300" b="0"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1B717ACA-5F59-481E-BAA1-3D2FC3B91B1D}" type="slidenum">
              <a:rPr lang="en-US" altLang="ja-JP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436483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096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7BC4D0-5990-408E-A9D0-64C8BD64FB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1B671C-012F-4812-90DC-336A45C19F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06179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8464" y="404664"/>
            <a:ext cx="9649072" cy="504056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28464" y="1124744"/>
            <a:ext cx="9649072" cy="5328592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41E8AE-EEDA-4D06-94E6-5202ED43BC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9E0A51D-D496-408F-833D-161747C36C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02924262-A928-46CF-B278-D04F8D0A90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990600"/>
            <a:ext cx="9753600" cy="36513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864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8464" y="404664"/>
            <a:ext cx="9649072" cy="504056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28464" y="1124744"/>
            <a:ext cx="9649072" cy="5328592"/>
          </a:xfrm>
          <a:prstGeom prst="rect">
            <a:avLst/>
          </a:prstGeom>
        </p:spPr>
        <p:txBody>
          <a:bodyPr/>
          <a:lstStyle>
            <a:lvl1pPr marL="360363" indent="-360363">
              <a:buFont typeface="+mj-lt"/>
              <a:buAutoNum type="arabicPeriod"/>
              <a:defRPr>
                <a:latin typeface="+mj-lt"/>
              </a:defRPr>
            </a:lvl1pPr>
            <a:lvl2pPr marL="803275" indent="-346075">
              <a:buFont typeface="+mj-lt"/>
              <a:buAutoNum type="alphaLcPeriod"/>
              <a:defRPr>
                <a:latin typeface="+mj-lt"/>
              </a:defRPr>
            </a:lvl2pPr>
            <a:lvl3pPr marL="1260475" indent="-346075">
              <a:buFont typeface="+mj-lt"/>
              <a:buAutoNum type="romanLcPeriod"/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41E8AE-EEDA-4D06-94E6-5202ED43BC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9E0A51D-D496-408F-833D-161747C36C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02924262-A928-46CF-B278-D04F8D0A90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990600"/>
            <a:ext cx="9753600" cy="36513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126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FDD564-A74A-4C8F-9933-83C5535F43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F1DDD9-12D1-479E-A469-4F7F1BA8EB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898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>
            <a:extLst>
              <a:ext uri="{FF2B5EF4-FFF2-40B4-BE49-F238E27FC236}">
                <a16:creationId xmlns:a16="http://schemas.microsoft.com/office/drawing/2014/main" id="{E1BEBA6E-D791-46C4-A7EB-608AC024D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64" y="404664"/>
            <a:ext cx="9649072" cy="504056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BCF5236-44D4-4877-AAFB-61FE62FD43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D636683-BFA6-4172-A561-0D16262C9F7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Page</a:t>
            </a:r>
            <a:r>
              <a:rPr lang="ja-JP" altLang="en-US"/>
              <a:t>　</a:t>
            </a:r>
            <a:r>
              <a:rPr lang="en-US" altLang="ja-JP"/>
              <a:t>:</a:t>
            </a:r>
            <a:r>
              <a:rPr lang="ja-JP" altLang="en-US"/>
              <a:t> </a:t>
            </a:r>
            <a:fld id="{8668C798-1731-4E4F-8BB5-E036A16CEAA1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02924262-A928-46CF-B278-D04F8D0A90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990600"/>
            <a:ext cx="9753600" cy="36513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721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68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1723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912CAC3-7059-17D9-9C06-FBC6A511B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D65A-0EC1-4CBC-8539-F9FD2B92F981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00A99C7-B9EB-D161-7E0B-A97F487D0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8B3AAF7-DB78-2248-5BC3-75E013149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F6F0A-8A1E-43EE-8FCD-0197D0B3E2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2414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">
            <a:extLst>
              <a:ext uri="{FF2B5EF4-FFF2-40B4-BE49-F238E27FC236}">
                <a16:creationId xmlns:a16="http://schemas.microsoft.com/office/drawing/2014/main" id="{09F48CFF-9599-4AEA-9D93-57B5675EEE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" y="420688"/>
            <a:ext cx="9753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ja-JP" altLang="en-US" dirty="0"/>
              <a:t>マスタ</a:t>
            </a:r>
            <a:r>
              <a:rPr lang="en-US" altLang="ja-JP" dirty="0"/>
              <a:t> </a:t>
            </a:r>
            <a:r>
              <a:rPr lang="ja-JP" altLang="en-US" dirty="0"/>
              <a:t>タイトルの書式設定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2F9F239E-C6DA-4D9A-8B7B-9954357B6D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" y="1146175"/>
            <a:ext cx="9753600" cy="534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ja-JP" altLang="en-US" dirty="0"/>
              <a:t>マスタ</a:t>
            </a:r>
            <a:r>
              <a:rPr lang="en-US" altLang="ja-JP" dirty="0"/>
              <a:t> </a:t>
            </a:r>
            <a:r>
              <a:rPr lang="ja-JP" altLang="en-US" dirty="0"/>
              <a:t>テキストの書式設定</a:t>
            </a:r>
            <a:endParaRPr lang="en-US" altLang="ja-JP" dirty="0"/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 2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 3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 4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 5 </a:t>
            </a:r>
            <a:r>
              <a:rPr lang="ja-JP" altLang="en-US" dirty="0"/>
              <a:t>レベル</a:t>
            </a:r>
          </a:p>
        </p:txBody>
      </p:sp>
      <p:sp>
        <p:nvSpPr>
          <p:cNvPr id="30" name="Line 19">
            <a:extLst>
              <a:ext uri="{FF2B5EF4-FFF2-40B4-BE49-F238E27FC236}">
                <a16:creationId xmlns:a16="http://schemas.microsoft.com/office/drawing/2014/main" id="{27389893-5139-4F35-B647-26C2DFA202E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572250"/>
            <a:ext cx="9906000" cy="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  <p:sp>
        <p:nvSpPr>
          <p:cNvPr id="31" name="Line 20">
            <a:extLst>
              <a:ext uri="{FF2B5EF4-FFF2-40B4-BE49-F238E27FC236}">
                <a16:creationId xmlns:a16="http://schemas.microsoft.com/office/drawing/2014/main" id="{4EFAA79C-D564-49D1-89C5-53185EA011B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613525"/>
            <a:ext cx="9906000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  <p:sp>
        <p:nvSpPr>
          <p:cNvPr id="32" name="Text Box 21">
            <a:extLst>
              <a:ext uri="{FF2B5EF4-FFF2-40B4-BE49-F238E27FC236}">
                <a16:creationId xmlns:a16="http://schemas.microsoft.com/office/drawing/2014/main" id="{5275CC5B-9DD2-42FB-A12C-D10D6B34D5E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64238" y="6583363"/>
            <a:ext cx="38131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1pPr>
            <a:lvl2pPr marL="742950" indent="-28575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2pPr>
            <a:lvl3pPr marL="11430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3pPr>
            <a:lvl4pPr marL="16002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4pPr>
            <a:lvl5pPr marL="20574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it-IT" altLang="ja-JP" sz="1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ＭＳ Ｐゴシック" pitchFamily="50" charset="-128"/>
                <a:ea typeface="ＭＳ Ｐゴシック" pitchFamily="50" charset="-128"/>
              </a:rPr>
              <a:t>USOL VIETNAM Co., Ltd</a:t>
            </a:r>
            <a:endParaRPr lang="en-US" altLang="ja-JP" sz="12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ＭＳ Ｐゴシック" pitchFamily="50" charset="-128"/>
              <a:ea typeface="ＭＳ Ｐゴシック" pitchFamily="50" charset="-128"/>
            </a:endParaRPr>
          </a:p>
        </p:txBody>
      </p:sp>
      <p:pic>
        <p:nvPicPr>
          <p:cNvPr id="1033" name="Picture 1031" descr="LogoM">
            <a:extLst>
              <a:ext uri="{FF2B5EF4-FFF2-40B4-BE49-F238E27FC236}">
                <a16:creationId xmlns:a16="http://schemas.microsoft.com/office/drawing/2014/main" id="{7C426F0B-8E88-4132-B8AF-A9C5709369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38132"/>
            <a:ext cx="946054" cy="204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4" name="Group 7">
            <a:extLst>
              <a:ext uri="{FF2B5EF4-FFF2-40B4-BE49-F238E27FC236}">
                <a16:creationId xmlns:a16="http://schemas.microsoft.com/office/drawing/2014/main" id="{E3F0A595-BBE1-4B7A-B594-6A1BDB4CCD3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-3175"/>
            <a:ext cx="9906000" cy="457200"/>
            <a:chOff x="480" y="0"/>
            <a:chExt cx="5280" cy="384"/>
          </a:xfrm>
        </p:grpSpPr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6AD08B79-E74D-46AD-935B-7885C39D329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80" y="288"/>
              <a:ext cx="5280" cy="96"/>
            </a:xfrm>
            <a:prstGeom prst="rect">
              <a:avLst/>
            </a:prstGeom>
            <a:gradFill flip="none" rotWithShape="1">
              <a:gsLst>
                <a:gs pos="0">
                  <a:srgbClr val="452D75">
                    <a:gamma/>
                    <a:tint val="0"/>
                    <a:invGamma/>
                  </a:srgbClr>
                </a:gs>
                <a:gs pos="100000">
                  <a:srgbClr val="FF9900"/>
                </a:gs>
              </a:gsLst>
              <a:lin ang="10800000" scaled="1"/>
              <a:tileRect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B33C69BC-68BD-4C29-97F4-36AE620BF0B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800" y="192"/>
              <a:ext cx="3960" cy="96"/>
            </a:xfrm>
            <a:prstGeom prst="rect">
              <a:avLst/>
            </a:prstGeom>
            <a:gradFill rotWithShape="0">
              <a:gsLst>
                <a:gs pos="0">
                  <a:srgbClr val="523991">
                    <a:gamma/>
                    <a:tint val="0"/>
                    <a:invGamma/>
                  </a:srgbClr>
                </a:gs>
                <a:gs pos="100000">
                  <a:srgbClr val="FFAA2D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  <p:sp>
          <p:nvSpPr>
            <p:cNvPr id="39" name="Rectangle 10">
              <a:extLst>
                <a:ext uri="{FF2B5EF4-FFF2-40B4-BE49-F238E27FC236}">
                  <a16:creationId xmlns:a16="http://schemas.microsoft.com/office/drawing/2014/main" id="{19C90753-9F71-4E42-A751-DE765269983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120" y="96"/>
              <a:ext cx="2640" cy="96"/>
            </a:xfrm>
            <a:prstGeom prst="rect">
              <a:avLst/>
            </a:prstGeom>
            <a:gradFill rotWithShape="0">
              <a:gsLst>
                <a:gs pos="0">
                  <a:srgbClr val="452D75">
                    <a:gamma/>
                    <a:tint val="0"/>
                    <a:invGamma/>
                  </a:srgbClr>
                </a:gs>
                <a:gs pos="100000">
                  <a:srgbClr val="FFB547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  <p:sp>
          <p:nvSpPr>
            <p:cNvPr id="40" name="Rectangle 11">
              <a:extLst>
                <a:ext uri="{FF2B5EF4-FFF2-40B4-BE49-F238E27FC236}">
                  <a16:creationId xmlns:a16="http://schemas.microsoft.com/office/drawing/2014/main" id="{2286BAA5-CD17-45D9-9AE7-385F7BC09B8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440" y="0"/>
              <a:ext cx="1320" cy="96"/>
            </a:xfrm>
            <a:prstGeom prst="rect">
              <a:avLst/>
            </a:prstGeom>
            <a:gradFill rotWithShape="0">
              <a:gsLst>
                <a:gs pos="0">
                  <a:srgbClr val="523991">
                    <a:gamma/>
                    <a:tint val="0"/>
                    <a:invGamma/>
                  </a:srgbClr>
                </a:gs>
                <a:gs pos="100000">
                  <a:srgbClr val="FFC165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</p:grpSp>
      <p:sp>
        <p:nvSpPr>
          <p:cNvPr id="42" name="Text Box 22">
            <a:extLst>
              <a:ext uri="{FF2B5EF4-FFF2-40B4-BE49-F238E27FC236}">
                <a16:creationId xmlns:a16="http://schemas.microsoft.com/office/drawing/2014/main" id="{9779E748-DE2F-4EBB-B8A7-4682B42515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053263" y="50800"/>
            <a:ext cx="31305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66FF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1pPr>
            <a:lvl2pPr marL="742950" indent="-28575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2pPr>
            <a:lvl3pPr marL="11430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3pPr>
            <a:lvl4pPr marL="16002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4pPr>
            <a:lvl5pPr marL="20574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800" dirty="0" err="1">
                <a:solidFill>
                  <a:schemeClr val="tx1"/>
                </a:solidFill>
                <a:latin typeface="Segoe Script" pitchFamily="34" charset="0"/>
              </a:rPr>
              <a:t>Usol</a:t>
            </a:r>
            <a:r>
              <a:rPr lang="ja-JP" altLang="en-US" sz="2800" i="0" dirty="0">
                <a:solidFill>
                  <a:schemeClr val="tx1"/>
                </a:solidFill>
                <a:latin typeface="Segoe Script" pitchFamily="34" charset="0"/>
              </a:rPr>
              <a:t>   </a:t>
            </a:r>
            <a:r>
              <a:rPr lang="en-US" altLang="ja-JP" sz="2800" dirty="0" err="1">
                <a:latin typeface="Segoe Script" pitchFamily="34" charset="0"/>
              </a:rPr>
              <a:t>ietnam</a:t>
            </a:r>
            <a:endParaRPr lang="ja-JP" altLang="en-US" sz="2800" dirty="0">
              <a:latin typeface="Segoe Script" pitchFamily="34" charset="0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3473BC66-2BE3-4BA7-9E94-658F932E5E73}"/>
              </a:ext>
            </a:extLst>
          </p:cNvPr>
          <p:cNvSpPr/>
          <p:nvPr userDrawn="1"/>
        </p:nvSpPr>
        <p:spPr>
          <a:xfrm>
            <a:off x="7953107" y="-179013"/>
            <a:ext cx="469156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4000" i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V</a:t>
            </a:r>
            <a:endParaRPr lang="ja-JP" altLang="en-US" sz="4000" i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sp>
        <p:nvSpPr>
          <p:cNvPr id="35" name="Text Box 11">
            <a:extLst>
              <a:ext uri="{FF2B5EF4-FFF2-40B4-BE49-F238E27FC236}">
                <a16:creationId xmlns:a16="http://schemas.microsoft.com/office/drawing/2014/main" id="{1DC4ECF5-E62B-44AA-90DF-10764551D43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800" y="44450"/>
            <a:ext cx="1492250" cy="327025"/>
          </a:xfrm>
          <a:prstGeom prst="rect">
            <a:avLst/>
          </a:prstGeom>
          <a:noFill/>
          <a:ln w="57150" cmpd="thinThick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179388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1pPr>
            <a:lvl2pPr marL="742950" indent="-28575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2pPr>
            <a:lvl3pPr marL="1143000" indent="-22860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3pPr>
            <a:lvl4pPr marL="1600200" indent="-22860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4pPr>
            <a:lvl5pPr marL="2057400" indent="-22860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1800" i="0" dirty="0">
                <a:solidFill>
                  <a:srgbClr val="FF0000"/>
                </a:solidFill>
                <a:latin typeface="ＭＳ Ｐゴシック" pitchFamily="50" charset="-128"/>
                <a:ea typeface="ＭＳ Ｐゴシック" pitchFamily="50" charset="-128"/>
              </a:rPr>
              <a:t>Confidential</a:t>
            </a:r>
            <a:endParaRPr lang="en-US" sz="1800" i="0" dirty="0">
              <a:solidFill>
                <a:srgbClr val="FF0000"/>
              </a:solidFill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A04B0585-20B2-4596-93D7-54D1340E096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3033266" y="6653213"/>
            <a:ext cx="2063750" cy="204787"/>
          </a:xfrm>
          <a:prstGeom prst="rect">
            <a:avLst/>
          </a:prstGeom>
        </p:spPr>
        <p:txBody>
          <a:bodyPr anchor="ctr"/>
          <a:lstStyle>
            <a:lvl1pPr>
              <a:defRPr sz="1050"/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C5564842-B2E4-45CE-AB60-14A7558DAFA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5097463" y="6653213"/>
            <a:ext cx="2063750" cy="204787"/>
          </a:xfrm>
          <a:prstGeom prst="rect">
            <a:avLst/>
          </a:prstGeom>
        </p:spPr>
        <p:txBody>
          <a:bodyPr anchor="ctr"/>
          <a:lstStyle>
            <a:lvl1pPr>
              <a:defRPr sz="1050"/>
            </a:lvl1pPr>
          </a:lstStyle>
          <a:p>
            <a:pPr>
              <a:defRPr/>
            </a:pPr>
            <a:r>
              <a:rPr lang="en-US" altLang="ja-JP"/>
              <a:t>Page</a:t>
            </a:r>
            <a:r>
              <a:rPr lang="ja-JP" altLang="en-US"/>
              <a:t>　</a:t>
            </a:r>
            <a:r>
              <a:rPr lang="en-US" altLang="ja-JP"/>
              <a:t>:</a:t>
            </a:r>
            <a:r>
              <a:rPr lang="ja-JP" altLang="en-US"/>
              <a:t> </a:t>
            </a:r>
            <a:fld id="{79353177-B86D-4022-983D-1132BA6711EB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21" name="BIPROGYロゴ">
            <a:extLst>
              <a:ext uri="{FF2B5EF4-FFF2-40B4-BE49-F238E27FC236}">
                <a16:creationId xmlns:a16="http://schemas.microsoft.com/office/drawing/2014/main" id="{3F93CD62-EE3C-4414-B5A1-AE038ED1351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3308" y="6590834"/>
            <a:ext cx="1692703" cy="29836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4" r:id="rId3"/>
    <p:sldLayoutId id="2147483792" r:id="rId4"/>
    <p:sldLayoutId id="2147483789" r:id="rId5"/>
    <p:sldLayoutId id="2147483793" r:id="rId6"/>
    <p:sldLayoutId id="2147483804" r:id="rId7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144D352-923E-E6B6-4D8A-AB66C88B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BC59BC7-F850-7C36-754E-E6369E518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DDECD-4404-C7CD-5336-354F8B649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4D65A-0EC1-4CBC-8539-F9FD2B92F981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90F2CC-709C-7ED4-7144-F5EFE9F78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AF8815-82A4-7D2E-5978-31B8771F5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F6F0A-8A1E-43EE-8FCD-0197D0B3E2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9028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ADLaM Display" panose="02010000000000000000" pitchFamily="2" charset="0"/>
          <a:ea typeface="+mj-ea"/>
          <a:cs typeface="ADLaM Display" panose="0201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C61E3-7210-D801-C73E-18DF39FE6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30425"/>
            <a:ext cx="9906000" cy="3584575"/>
          </a:xfrm>
        </p:spPr>
        <p:txBody>
          <a:bodyPr>
            <a:noAutofit/>
          </a:bodyPr>
          <a:lstStyle/>
          <a:p>
            <a:pPr algn="ctr" eaLnBrk="0" hangingPunct="0"/>
            <a:r>
              <a:rPr lang="ja-JP" altLang="ja-JP" dirty="0"/>
              <a:t>Java Spring REST APIs</a:t>
            </a:r>
            <a:br>
              <a:rPr lang="en-US" altLang="ja-JP" dirty="0"/>
            </a:br>
            <a:r>
              <a:rPr lang="en-US" altLang="ja-JP" dirty="0" err="1"/>
              <a:t>sử</a:t>
            </a:r>
            <a:r>
              <a:rPr lang="en-US" altLang="ja-JP" dirty="0"/>
              <a:t> </a:t>
            </a:r>
            <a:r>
              <a:rPr lang="en-US" altLang="ja-JP" dirty="0" err="1"/>
              <a:t>dụng</a:t>
            </a:r>
            <a:r>
              <a:rPr lang="en-US" altLang="ja-JP" dirty="0"/>
              <a:t> Vibe Coding</a:t>
            </a:r>
            <a:br>
              <a:rPr lang="ja-JP" altLang="ja-JP" dirty="0"/>
            </a:br>
            <a:endParaRPr kumimoji="1" lang="ja-JP" altLang="en-US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930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923" y="404664"/>
            <a:ext cx="8915400" cy="627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32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2037" y="1398006"/>
            <a:ext cx="8848725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+mj-lt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AA5B57-6C2D-158C-A7E9-E7D54595F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dirty="0" err="1"/>
              <a:t>Nội</a:t>
            </a:r>
            <a:r>
              <a:rPr lang="en-US" altLang="ja-JP" dirty="0"/>
              <a:t> dung </a:t>
            </a:r>
            <a:r>
              <a:rPr lang="en-US" altLang="ja-JP" dirty="0" err="1"/>
              <a:t>chính</a:t>
            </a:r>
            <a:endParaRPr lang="ja-JP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8B7D95-77BC-2C74-B7DA-7B1652C3B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Spring Boot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REST APIs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Spring Security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Testing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AI-assisted Development</a:t>
            </a:r>
          </a:p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3843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4BBD1-92E7-AFF2-9D60-3C7775B31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Mục tiêu khóa học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2F359-6F86-DAC2-A31A-885BF238D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Khóa học dành cho ai?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Đã biết Java cơ bản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Muốn học Backend với Spring Boot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Đang sử dụng AI để code nhưng chưa hiểu sâu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Chuẩn bị thực tập hoặc đi làm Backend Developer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4E61B-58C4-99ED-5817-31F94AFE5B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466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044A9-D9A7-C982-5BAB-9FB4E24FE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b="1" dirty="0"/>
              <a:t>Kết quả đạt được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86266-0F61-9AD1-37FA-2592CA418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/>
            <a:r>
              <a:rPr lang="ja-JP" altLang="ja-JP" dirty="0"/>
              <a:t>Xây dựng hệ thống HRM hoàn chỉnh</a:t>
            </a:r>
          </a:p>
          <a:p>
            <a:pPr fontAlgn="t"/>
            <a:r>
              <a:rPr lang="ja-JP" altLang="ja-JP" dirty="0"/>
              <a:t>Hiểu Spring Boot </a:t>
            </a:r>
            <a:endParaRPr lang="en-US" altLang="ja-JP" dirty="0"/>
          </a:p>
          <a:p>
            <a:pPr fontAlgn="t"/>
            <a:r>
              <a:rPr lang="ja-JP" altLang="ja-JP" dirty="0"/>
              <a:t>Biết dùng AI hiệu quả trong dự án thực tế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42AD2-DAD7-E5BB-BE28-81C9238D4B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36385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9ECF-0D6C-2359-66F0-4A2F9442A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Vấn đề của lập trình viên thời AI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424E7-B2D3-D223-9C9E-087A494A1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Thực trạng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AI giúp code nhanh hơn rất nhiều.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Nhưng: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Không hiểu code AI sinh ra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Không debug được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Không sửa được bug production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Không giải thích được khi phỏng vấn</a:t>
            </a:r>
            <a:endParaRPr lang="en-US" altLang="ja-JP" dirty="0"/>
          </a:p>
          <a:p>
            <a:pPr fontAlgn="t">
              <a:lnSpc>
                <a:spcPct val="100000"/>
              </a:lnSpc>
              <a:buNone/>
            </a:pPr>
            <a:r>
              <a:rPr lang="en-US" altLang="ja-JP" dirty="0">
                <a:sym typeface="Wingdings" panose="05000000000000000000" pitchFamily="2" charset="2"/>
              </a:rPr>
              <a:t> </a:t>
            </a:r>
            <a:r>
              <a:rPr lang="ja-JP" altLang="ja-JP" b="1" dirty="0"/>
              <a:t>Nghịch lý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Tốc độ tăng nhưng hiểu biết không tăng theo</a:t>
            </a:r>
            <a:endParaRPr lang="ja-JP" altLang="ja-JP" dirty="0"/>
          </a:p>
          <a:p>
            <a:pPr lvl="0" fontAlgn="t">
              <a:buFont typeface="Arial" panose="020B0604020202020204" pitchFamily="34" charset="0"/>
              <a:buChar char="•"/>
            </a:pPr>
            <a:endParaRPr lang="ja-JP" altLang="ja-JP" dirty="0"/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AFE10-AF6A-C3E8-D6F1-93B31528BF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40310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4004C-3DE8-A403-557A-F4B01C647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AI làm được gì?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1074C-F6D0-D719-4661-E90063CDB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Điểm mạnh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Generate boilerplate code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CRUD nhanh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Explain code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Viết Unit Test cơ bản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Hỗ trợ fix lỗi phổ biến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Giá trị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⏱ Tăng tốc phát triển phần mềm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3DBD5-8A6C-651C-C2C4-24518CF21F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20036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80DDD-F48F-BA98-12F5-DE45A5316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AI chưa làm được gì?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8CE86-4540-00F5-416B-36CF73C01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Hạn chế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Không hiểu business context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Không hiểu toàn bộ hệ thống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Không tự phát hiện lỗi kiến trúc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Không đảm bảo bảo mật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Không xử lý tốt lỗi phức tạp nhiều module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Kết luận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AI tạo code tốt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altLang="ja-JP" dirty="0">
                <a:sym typeface="Wingdings" panose="05000000000000000000" pitchFamily="2" charset="2"/>
              </a:rPr>
              <a:t></a:t>
            </a:r>
            <a:r>
              <a:rPr lang="ja-JP" altLang="ja-JP" dirty="0"/>
              <a:t>Nhưng không chịu trách nhiệm chất lượng code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3654C-E6F1-B0EC-5577-E05ADB1F44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35548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E91FE-3DE9-3A90-61F6-6CBA2C757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Tư duy mới của Developer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58E3A-9E34-2404-9358-89FD1B65A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Trước đây</a:t>
            </a:r>
          </a:p>
          <a:p>
            <a:pPr fontAlgn="t"/>
            <a:r>
              <a:rPr lang="ja-JP" altLang="ja-JP" dirty="0"/>
              <a:t>Developer = Người viết code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Bây giờ</a:t>
            </a:r>
          </a:p>
          <a:p>
            <a:pPr fontAlgn="t"/>
            <a:r>
              <a:rPr lang="ja-JP" altLang="ja-JP" dirty="0"/>
              <a:t>Developer = Người kiểm soát code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Kỹ năng quan trọng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Đọc hiểu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Verify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Debug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Ra quyết định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A2A33-9B4B-4C07-F4EE-DAE9609901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18667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143A2-D20D-70B9-2AB4-48182CAB4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Vibe Coding là gì?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B73BE-6C1F-4804-E24E-B6E4D89A6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Khái niệm</a:t>
            </a:r>
          </a:p>
          <a:p>
            <a:pPr fontAlgn="t"/>
            <a:r>
              <a:rPr lang="ja-JP" altLang="ja-JP" dirty="0"/>
              <a:t>Người dùng mô tả yêu cầu</a:t>
            </a:r>
          </a:p>
          <a:p>
            <a:pPr marL="0" indent="0" fontAlgn="t">
              <a:buNone/>
            </a:pPr>
            <a:r>
              <a:rPr lang="en-US" altLang="ja-JP" dirty="0"/>
              <a:t>	</a:t>
            </a:r>
            <a:r>
              <a:rPr lang="ja-JP" altLang="ja-JP" dirty="0"/>
              <a:t>↓</a:t>
            </a:r>
          </a:p>
          <a:p>
            <a:pPr fontAlgn="t"/>
            <a:r>
              <a:rPr lang="ja-JP" altLang="ja-JP" dirty="0"/>
              <a:t>AI sinh mã nguồn</a:t>
            </a:r>
          </a:p>
          <a:p>
            <a:pPr marL="0" indent="0" fontAlgn="t">
              <a:buNone/>
            </a:pPr>
            <a:r>
              <a:rPr lang="en-US" altLang="ja-JP" dirty="0"/>
              <a:t>	</a:t>
            </a:r>
            <a:r>
              <a:rPr lang="ja-JP" altLang="ja-JP" dirty="0"/>
              <a:t>↓</a:t>
            </a:r>
          </a:p>
          <a:p>
            <a:pPr fontAlgn="t"/>
            <a:r>
              <a:rPr lang="ja-JP" altLang="ja-JP" dirty="0"/>
              <a:t>Chạy thử</a:t>
            </a:r>
          </a:p>
          <a:p>
            <a:pPr marL="0" indent="0" fontAlgn="t">
              <a:buNone/>
            </a:pPr>
            <a:r>
              <a:rPr lang="en-US" altLang="ja-JP" dirty="0"/>
              <a:t>	</a:t>
            </a:r>
            <a:r>
              <a:rPr lang="ja-JP" altLang="ja-JP" dirty="0"/>
              <a:t>↓</a:t>
            </a:r>
          </a:p>
          <a:p>
            <a:pPr fontAlgn="t"/>
            <a:r>
              <a:rPr lang="ja-JP" altLang="ja-JP" dirty="0"/>
              <a:t>Sửa prompt</a:t>
            </a:r>
          </a:p>
          <a:p>
            <a:pPr marL="0" indent="0" fontAlgn="t">
              <a:buNone/>
            </a:pPr>
            <a:r>
              <a:rPr lang="en-US" altLang="ja-JP" dirty="0"/>
              <a:t>	</a:t>
            </a:r>
            <a:r>
              <a:rPr lang="ja-JP" altLang="ja-JP" dirty="0"/>
              <a:t>↓</a:t>
            </a:r>
          </a:p>
          <a:p>
            <a:pPr fontAlgn="t"/>
            <a:r>
              <a:rPr lang="ja-JP" altLang="ja-JP" dirty="0"/>
              <a:t>Lặp lại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Mục tiêu</a:t>
            </a:r>
          </a:p>
          <a:p>
            <a:pPr fontAlgn="t"/>
            <a:r>
              <a:rPr lang="ja-JP" altLang="ja-JP" dirty="0"/>
              <a:t>Tăng tốc xây dựng phần mềm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8E022-84F0-EE89-DA0A-8A0ABAE602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98848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C19F-CD19-94C1-C401-D7929890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Pure Vibe Coding vs Fundamental-Driven</a:t>
            </a:r>
            <a:endParaRPr kumimoji="1" lang="ja-JP" alt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E3E4927-EAC8-E9AF-5C36-C79C8FA73D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0387438"/>
              </p:ext>
            </p:extLst>
          </p:nvPr>
        </p:nvGraphicFramePr>
        <p:xfrm>
          <a:off x="128464" y="1447800"/>
          <a:ext cx="9648824" cy="22408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24412">
                  <a:extLst>
                    <a:ext uri="{9D8B030D-6E8A-4147-A177-3AD203B41FA5}">
                      <a16:colId xmlns:a16="http://schemas.microsoft.com/office/drawing/2014/main" val="612806650"/>
                    </a:ext>
                  </a:extLst>
                </a:gridCol>
                <a:gridCol w="4824412">
                  <a:extLst>
                    <a:ext uri="{9D8B030D-6E8A-4147-A177-3AD203B41FA5}">
                      <a16:colId xmlns:a16="http://schemas.microsoft.com/office/drawing/2014/main" val="243366311"/>
                    </a:ext>
                  </a:extLst>
                </a:gridCol>
              </a:tblGrid>
              <a:tr h="3618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800" dirty="0">
                          <a:solidFill>
                            <a:srgbClr val="FF0000"/>
                          </a:solidFill>
                          <a:effectLst/>
                        </a:rPr>
                        <a:t>Pure Vibe</a:t>
                      </a:r>
                    </a:p>
                  </a:txBody>
                  <a:tcPr marL="90458" marR="90458" marT="45229" marB="452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800" dirty="0">
                          <a:solidFill>
                            <a:srgbClr val="FF0000"/>
                          </a:solidFill>
                          <a:effectLst/>
                        </a:rPr>
                        <a:t>Fundamental</a:t>
                      </a:r>
                      <a:r>
                        <a:rPr lang="en-US" altLang="ja-JP" sz="1800" dirty="0">
                          <a:solidFill>
                            <a:srgbClr val="FF0000"/>
                          </a:solidFill>
                          <a:effectLst/>
                        </a:rPr>
                        <a:t> Driven</a:t>
                      </a:r>
                      <a:endParaRPr lang="ja-JP" sz="18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90458" marR="90458" marT="45229" marB="45229" anchor="ctr"/>
                </a:tc>
                <a:extLst>
                  <a:ext uri="{0D108BD9-81ED-4DB2-BD59-A6C34878D82A}">
                    <a16:rowId xmlns:a16="http://schemas.microsoft.com/office/drawing/2014/main" val="4084575394"/>
                  </a:ext>
                </a:extLst>
              </a:tr>
              <a:tr h="3618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800">
                          <a:effectLst/>
                        </a:rPr>
                        <a:t>Nhanh</a:t>
                      </a:r>
                    </a:p>
                  </a:txBody>
                  <a:tcPr marL="90458" marR="90458" marT="45229" marB="452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800" dirty="0">
                          <a:effectLst/>
                        </a:rPr>
                        <a:t>Nhanh</a:t>
                      </a:r>
                    </a:p>
                  </a:txBody>
                  <a:tcPr marL="90458" marR="90458" marT="45229" marB="45229" anchor="ctr"/>
                </a:tc>
                <a:extLst>
                  <a:ext uri="{0D108BD9-81ED-4DB2-BD59-A6C34878D82A}">
                    <a16:rowId xmlns:a16="http://schemas.microsoft.com/office/drawing/2014/main" val="531616216"/>
                  </a:ext>
                </a:extLst>
              </a:tr>
              <a:tr h="3618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800">
                          <a:effectLst/>
                        </a:rPr>
                        <a:t>Không hiểu code</a:t>
                      </a:r>
                    </a:p>
                  </a:txBody>
                  <a:tcPr marL="90458" marR="90458" marT="45229" marB="452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800">
                          <a:effectLst/>
                        </a:rPr>
                        <a:t>Hiểu code</a:t>
                      </a:r>
                    </a:p>
                  </a:txBody>
                  <a:tcPr marL="90458" marR="90458" marT="45229" marB="45229" anchor="ctr"/>
                </a:tc>
                <a:extLst>
                  <a:ext uri="{0D108BD9-81ED-4DB2-BD59-A6C34878D82A}">
                    <a16:rowId xmlns:a16="http://schemas.microsoft.com/office/drawing/2014/main" val="208397913"/>
                  </a:ext>
                </a:extLst>
              </a:tr>
              <a:tr h="3618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800">
                          <a:effectLst/>
                        </a:rPr>
                        <a:t>Khó debug</a:t>
                      </a:r>
                    </a:p>
                  </a:txBody>
                  <a:tcPr marL="90458" marR="90458" marT="45229" marB="452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800">
                          <a:effectLst/>
                        </a:rPr>
                        <a:t>Debug được</a:t>
                      </a:r>
                    </a:p>
                  </a:txBody>
                  <a:tcPr marL="90458" marR="90458" marT="45229" marB="45229" anchor="ctr"/>
                </a:tc>
                <a:extLst>
                  <a:ext uri="{0D108BD9-81ED-4DB2-BD59-A6C34878D82A}">
                    <a16:rowId xmlns:a16="http://schemas.microsoft.com/office/drawing/2014/main" val="2189246139"/>
                  </a:ext>
                </a:extLst>
              </a:tr>
              <a:tr h="3618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800">
                          <a:effectLst/>
                        </a:rPr>
                        <a:t>Khó maintain</a:t>
                      </a:r>
                    </a:p>
                  </a:txBody>
                  <a:tcPr marL="90458" marR="90458" marT="45229" marB="45229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800">
                          <a:effectLst/>
                        </a:rPr>
                        <a:t>Maintain tốt</a:t>
                      </a:r>
                    </a:p>
                  </a:txBody>
                  <a:tcPr marL="90458" marR="90458" marT="45229" marB="45229" anchor="ctr"/>
                </a:tc>
                <a:extLst>
                  <a:ext uri="{0D108BD9-81ED-4DB2-BD59-A6C34878D82A}">
                    <a16:rowId xmlns:a16="http://schemas.microsoft.com/office/drawing/2014/main" val="2661910124"/>
                  </a:ext>
                </a:extLst>
              </a:tr>
              <a:tr h="413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1800" dirty="0">
                          <a:effectLst/>
                        </a:rPr>
                        <a:t>Prototype</a:t>
                      </a:r>
                    </a:p>
                  </a:txBody>
                  <a:tcPr marL="90458" marR="90458" marT="45229" marB="45229" anchor="ctr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ct val="119048"/>
                        </a:lnSpc>
                        <a:buNone/>
                      </a:pPr>
                      <a:r>
                        <a:rPr lang="ja-JP" sz="1800" dirty="0">
                          <a:effectLst/>
                        </a:rPr>
                        <a:t>Production</a:t>
                      </a:r>
                      <a:endParaRPr lang="ja-JP" sz="10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0458" marR="90458" marT="45229" marB="45229" anchor="ctr"/>
                </a:tc>
                <a:extLst>
                  <a:ext uri="{0D108BD9-81ED-4DB2-BD59-A6C34878D82A}">
                    <a16:rowId xmlns:a16="http://schemas.microsoft.com/office/drawing/2014/main" val="92981159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22BA2-853E-914B-FFE8-03EDF2FB35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10</a:t>
            </a:fld>
            <a:endParaRPr lang="en-US" altLang="ja-J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CA568D-3226-AAF4-8364-687EE8CAB770}"/>
              </a:ext>
            </a:extLst>
          </p:cNvPr>
          <p:cNvSpPr txBox="1"/>
          <p:nvPr/>
        </p:nvSpPr>
        <p:spPr>
          <a:xfrm>
            <a:off x="128464" y="4495800"/>
            <a:ext cx="90155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ja-JP" altLang="ja-JP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Khuyến nghị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Production ⇒ Fundamental Driven</a:t>
            </a:r>
          </a:p>
        </p:txBody>
      </p:sp>
    </p:spTree>
    <p:extLst>
      <p:ext uri="{BB962C8B-B14F-4D97-AF65-F5344CB8AC3E}">
        <p14:creationId xmlns:p14="http://schemas.microsoft.com/office/powerpoint/2010/main" val="1515656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CA2EF-F3C4-C504-CBFF-3EF182059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Triết lý khóa học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7B0C6-E071-941C-76AE-0362434DC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Fundamental-driven Vibe Coding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AI làm phần: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Generate code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Con người làm phần: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Thiết kế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Review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Verify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Debug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Câu nói cốt lõi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Bạn là kiến trúc sư, AI là thợ xây</a:t>
            </a:r>
            <a:endParaRPr lang="ja-JP" altLang="ja-JP" dirty="0"/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650F8-1078-9EB6-36E7-F922371F2E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95356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A1C1A-09D2-6F21-59C3-4F4DEF8A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Workflow chuẩn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D15F-48FD-A2AF-3F61-0312B1679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4 bước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PROMPT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↓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GENERATE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↓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UNDERSTAND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↓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VERIFY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Không bỏ qua bước nào.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A0B0A-36DF-66B3-4D17-8F5A29778F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246065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829E2-3734-1BE3-94EE-21A838E88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Prompt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A645C-C65E-0923-6B52-2C6982FA2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Prompt tốt cần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Cụ thể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Có context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Rõ output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Có ràng buộc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Template</a:t>
            </a:r>
          </a:p>
          <a:p>
            <a:pPr fontAlgn="t"/>
            <a:r>
              <a:rPr lang="ja-JP" altLang="ja-JP" dirty="0"/>
              <a:t>Task</a:t>
            </a:r>
          </a:p>
          <a:p>
            <a:pPr fontAlgn="t"/>
            <a:r>
              <a:rPr lang="ja-JP" altLang="ja-JP" dirty="0"/>
              <a:t>Context</a:t>
            </a:r>
          </a:p>
          <a:p>
            <a:pPr fontAlgn="t"/>
            <a:r>
              <a:rPr lang="ja-JP" altLang="ja-JP" dirty="0"/>
              <a:t>Input</a:t>
            </a:r>
          </a:p>
          <a:p>
            <a:pPr fontAlgn="t"/>
            <a:r>
              <a:rPr lang="ja-JP" altLang="ja-JP" dirty="0"/>
              <a:t>Output</a:t>
            </a:r>
          </a:p>
          <a:p>
            <a:pPr fontAlgn="t"/>
            <a:r>
              <a:rPr lang="ja-JP" altLang="ja-JP" dirty="0"/>
              <a:t>Constraints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79A40-4FAB-D9EF-EF42-641E73690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03698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180A9-A75B-93FD-EBE6-5092EC83D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b="1" dirty="0"/>
              <a:t>Generate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718A8-7AE6-7621-606D-8F71FBA8A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Vai trò AI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Tạo bản nháp đầu tiên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Sinh mã nhanh</a:t>
            </a:r>
          </a:p>
          <a:p>
            <a:pPr fontAlgn="t">
              <a:lnSpc>
                <a:spcPct val="100000"/>
              </a:lnSpc>
              <a:buNone/>
            </a:pPr>
            <a:r>
              <a:rPr lang="en-US" altLang="ja-JP" dirty="0">
                <a:sym typeface="Wingdings" panose="05000000000000000000" pitchFamily="2" charset="2"/>
              </a:rPr>
              <a:t></a:t>
            </a:r>
            <a:r>
              <a:rPr lang="ja-JP" altLang="ja-JP" dirty="0"/>
              <a:t>Không phải sản phẩm cuối cùng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Sai lầm phổ biến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Code chạy được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↓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Deploy luôn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A7D98-BD8D-C809-1AB9-E7C2F9E4F6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05508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8B46B-F044-EFEE-F049-5991B6849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Understand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320C0-BAE2-4C49-C3BF-F5E167012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Trước khi dùng code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Trả lời được: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Code này làm gì?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Vì sao viết như vậy?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Có cách khác không?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Có phải best practice không?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C36DC-BE0B-63AE-3FA0-98687D469B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41014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0E6A8-B4CC-4FB1-EBBB-5EC4F4980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Verify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3A00D-7B3B-E627-F103-19D7EEF22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Checklist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✅ Functionality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✅ Edge Cases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✅ Exception Handling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✅ Security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✅ Performance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✅ Readability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2AE2B-0938-E118-8C28-0537AF6891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20970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9053C-C1C5-EA14-3A19-0D80BB4AF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Spring Boot Big Picture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68125-2D70-D094-D891-17E6B890B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Setup môi trường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Generate project bằng AI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Hello World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Project Structure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Auto Configuration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Annotation cơ bản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602CD-96A7-E44A-0972-E7F46062FC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72075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D5F76-A096-F23E-9154-82A071DF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Core Spring Framework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CB437-BB5F-D065-A005-76D84CA08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Dependency Injection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IoC Container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Bean Management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Constructor Injection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Spring Data JPA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ORM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Hibernate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Repository Pattern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REST API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HTTP Methods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Status Codes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API Design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F18FF-DAA2-ABD2-324B-6A257D7C3B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03342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70AAF-3417-07C0-5B79-FABAF9C18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Spring Security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EE95C-ABE2-C68F-5864-E3055EF49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Authentication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Authorization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JWT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OAuth2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BCrypt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Resource Server</a:t>
            </a:r>
            <a:endParaRPr lang="en-US" altLang="ja-JP" dirty="0"/>
          </a:p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Cảnh báo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dirty="0"/>
              <a:t>Không nên phụ thuộc hoàn toàn vào AI khi code Security</a:t>
            </a:r>
          </a:p>
          <a:p>
            <a:pPr lvl="0" fontAlgn="t">
              <a:buFont typeface="Arial" panose="020B0604020202020204" pitchFamily="34" charset="0"/>
              <a:buChar char="•"/>
            </a:pPr>
            <a:endParaRPr lang="ja-JP" altLang="ja-JP" dirty="0"/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AC9BA-3A90-E856-CE29-6C52808C6E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1864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F43D4-544C-AB76-8405-38A26A4E2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Testing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73A3B-3E23-52A4-113A-6E6460D66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Testing Mindset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Unit Test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Integration Test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E2E Test</a:t>
            </a:r>
          </a:p>
          <a:p>
            <a:pPr fontAlgn="t">
              <a:lnSpc>
                <a:spcPct val="100000"/>
              </a:lnSpc>
              <a:buNone/>
            </a:pPr>
            <a:r>
              <a:rPr lang="ja-JP" altLang="ja-JP" b="1" dirty="0"/>
              <a:t>Công cụ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JUnit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Mockito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Spring Test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34B46-91C9-AFD7-AEBA-27093A268E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20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42439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CA90-EE2C-CAB0-A657-EBBED7489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ja-JP" dirty="0"/>
              <a:t>HR Management System</a:t>
            </a:r>
            <a:endParaRPr kumimoji="1" lang="ja-JP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A7B40-5D49-90EA-2959-88B859FA8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Company CRUD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Permission CRUD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Role CRUD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User CRUD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Upload Avatar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JWT Login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Refresh Token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RBAC</a:t>
            </a:r>
          </a:p>
          <a:p>
            <a:pPr lvl="0" fontAlgn="t">
              <a:buFont typeface="Arial" panose="020B0604020202020204" pitchFamily="34" charset="0"/>
              <a:buChar char="•"/>
            </a:pPr>
            <a:r>
              <a:rPr lang="ja-JP" altLang="ja-JP" dirty="0"/>
              <a:t>Search &amp; Filter</a:t>
            </a:r>
          </a:p>
          <a:p>
            <a:endParaRPr kumimoji="1" lang="ja-JP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ADB62-B2BD-4D6D-6F41-852F6ED102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21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96953559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rial"/>
        <a:ea typeface="Arial"/>
        <a:cs typeface=""/>
      </a:majorFont>
      <a:minorFont>
        <a:latin typeface="Aptos Slab Black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66">
            <a:alpha val="80000"/>
          </a:srgbClr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sz="1400" b="0" i="0" u="none" strike="noStrike" cap="none" normalizeH="0" baseline="0" dirty="0">
            <a:ln>
              <a:noFill/>
            </a:ln>
            <a:solidFill>
              <a:srgbClr val="FF0000"/>
            </a:solidFill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spDef>
    <a:lnDef>
      <a:spPr bwMode="auto">
        <a:pattFill prst="dashHorz">
          <a:fgClr>
            <a:srgbClr val="808080"/>
          </a:fgClr>
          <a:bgClr>
            <a:srgbClr val="FFFF00"/>
          </a:bgClr>
        </a:patt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kumimoji="1" sz="1400" b="0" dirty="0" smtClean="0"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I_IoT_Assign_Plan_Optimization_GenAI_2025.pptx" id="{14E944DE-3199-4D98-A76C-EFBF91815B4E}" vid="{1A6114F4-44F2-4525-80F9-55402634BD3F}"/>
    </a:ext>
  </a:ext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IoT_Assign_Plan_Optimization_GenAI_2025.pptx" id="{14E944DE-3199-4D98-A76C-EFBF91815B4E}" vid="{8B1B50D9-B7E1-464E-B075-1B05D2128356}"/>
    </a:ext>
  </a:extLst>
</a:theme>
</file>

<file path=ppt/theme/theme3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UsolV-tmp</Template>
  <TotalTime>24265</TotalTime>
  <Words>813</Words>
  <Application>Microsoft Office PowerPoint</Application>
  <PresentationFormat>A4 Paper (210x297 mm)</PresentationFormat>
  <Paragraphs>209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HG丸ｺﾞｼｯｸM-PRO</vt:lpstr>
      <vt:lpstr>Meiryo UI</vt:lpstr>
      <vt:lpstr>ＭＳ Ｐゴシック</vt:lpstr>
      <vt:lpstr>ADLaM Display</vt:lpstr>
      <vt:lpstr>Arial</vt:lpstr>
      <vt:lpstr>Segoe Script</vt:lpstr>
      <vt:lpstr>Segoe UI</vt:lpstr>
      <vt:lpstr>Times New Roman</vt:lpstr>
      <vt:lpstr>Wingdings</vt:lpstr>
      <vt:lpstr>標準デザイン</vt:lpstr>
      <vt:lpstr>デザインの設定</vt:lpstr>
      <vt:lpstr>Java Spring REST APIs sử dụng Vibe Coding </vt:lpstr>
      <vt:lpstr>Nội dung chính</vt:lpstr>
      <vt:lpstr>Mục tiêu khóa học</vt:lpstr>
      <vt:lpstr>Kết quả đạt được</vt:lpstr>
      <vt:lpstr>Vấn đề của lập trình viên thời AI</vt:lpstr>
      <vt:lpstr>AI làm được gì?</vt:lpstr>
      <vt:lpstr>AI chưa làm được gì?</vt:lpstr>
      <vt:lpstr>Tư duy mới của Developer</vt:lpstr>
      <vt:lpstr>Vibe Coding là gì?</vt:lpstr>
      <vt:lpstr>Pure Vibe Coding vs Fundamental-Driven</vt:lpstr>
      <vt:lpstr>Triết lý khóa học</vt:lpstr>
      <vt:lpstr>Workflow chuẩn</vt:lpstr>
      <vt:lpstr>Prompt</vt:lpstr>
      <vt:lpstr>Generate</vt:lpstr>
      <vt:lpstr>Understand</vt:lpstr>
      <vt:lpstr>Verify</vt:lpstr>
      <vt:lpstr>Spring Boot Big Picture</vt:lpstr>
      <vt:lpstr>Core Spring Framework</vt:lpstr>
      <vt:lpstr>Spring Security</vt:lpstr>
      <vt:lpstr>Testing</vt:lpstr>
      <vt:lpstr>HR Management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Cơ bản về AI và Data</dc:title>
  <dc:creator>Dang Minh Duc</dc:creator>
  <cp:lastModifiedBy>Mai Ngoc Khuong</cp:lastModifiedBy>
  <cp:revision>551</cp:revision>
  <cp:lastPrinted>2018-04-10T08:59:30Z</cp:lastPrinted>
  <dcterms:created xsi:type="dcterms:W3CDTF">2025-05-21T02:38:07Z</dcterms:created>
  <dcterms:modified xsi:type="dcterms:W3CDTF">2026-10-07T10:13:41Z</dcterms:modified>
</cp:coreProperties>
</file>