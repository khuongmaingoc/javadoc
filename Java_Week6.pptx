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96" r:id="rId2"/>
  </p:sldMasterIdLst>
  <p:notesMasterIdLst>
    <p:notesMasterId r:id="rId20"/>
  </p:notesMasterIdLst>
  <p:handoutMasterIdLst>
    <p:handoutMasterId r:id="rId21"/>
  </p:handoutMasterIdLst>
  <p:sldIdLst>
    <p:sldId id="334" r:id="rId3"/>
    <p:sldId id="422" r:id="rId4"/>
    <p:sldId id="462" r:id="rId5"/>
    <p:sldId id="366" r:id="rId6"/>
    <p:sldId id="463" r:id="rId7"/>
    <p:sldId id="430" r:id="rId8"/>
    <p:sldId id="425" r:id="rId9"/>
    <p:sldId id="464" r:id="rId10"/>
    <p:sldId id="429" r:id="rId11"/>
    <p:sldId id="437" r:id="rId12"/>
    <p:sldId id="465" r:id="rId13"/>
    <p:sldId id="466" r:id="rId14"/>
    <p:sldId id="467" r:id="rId15"/>
    <p:sldId id="468" r:id="rId16"/>
    <p:sldId id="442" r:id="rId17"/>
    <p:sldId id="426" r:id="rId18"/>
    <p:sldId id="447" r:id="rId19"/>
  </p:sldIdLst>
  <p:sldSz cx="9906000" cy="6858000" type="A4"/>
  <p:notesSz cx="7104063" cy="10234613"/>
  <p:defaultTextStyle>
    <a:defPPr>
      <a:defRPr lang="ja-JP"/>
    </a:defPPr>
    <a:lvl1pPr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1pPr>
    <a:lvl2pPr marL="4572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2pPr>
    <a:lvl3pPr marL="9144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3pPr>
    <a:lvl4pPr marL="13716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4pPr>
    <a:lvl5pPr marL="18288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5pPr>
    <a:lvl6pPr marL="22860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6pPr>
    <a:lvl7pPr marL="27432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7pPr>
    <a:lvl8pPr marL="32004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8pPr>
    <a:lvl9pPr marL="36576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9pPr>
  </p:defaultTextStyle>
  <p:extLst>
    <p:ext uri="{EFAFB233-063F-42B5-8137-9DF3F51BA10A}">
      <p15:sldGuideLst xmlns:p15="http://schemas.microsoft.com/office/powerpoint/2012/main">
        <p15:guide id="1" orient="horz">
          <p15:clr>
            <a:srgbClr val="A4A3A4"/>
          </p15:clr>
        </p15:guide>
        <p15:guide id="2" pos="6239">
          <p15:clr>
            <a:srgbClr val="A4A3A4"/>
          </p15:clr>
        </p15:guide>
        <p15:guide id="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ABA46"/>
    <a:srgbClr val="0000CC"/>
    <a:srgbClr val="5B9BD5"/>
    <a:srgbClr val="FF0000"/>
    <a:srgbClr val="FF00FF"/>
    <a:srgbClr val="70AD47"/>
    <a:srgbClr val="4BC174"/>
    <a:srgbClr val="50C8A7"/>
    <a:srgbClr val="55C3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247" autoAdjust="0"/>
  </p:normalViewPr>
  <p:slideViewPr>
    <p:cSldViewPr>
      <p:cViewPr varScale="1">
        <p:scale>
          <a:sx n="106" d="100"/>
          <a:sy n="106" d="100"/>
        </p:scale>
        <p:origin x="1548" y="108"/>
      </p:cViewPr>
      <p:guideLst>
        <p:guide orient="horz"/>
        <p:guide pos="6239"/>
        <p:guide/>
      </p:guideLst>
    </p:cSldViewPr>
  </p:slideViewPr>
  <p:outlineViewPr>
    <p:cViewPr>
      <p:scale>
        <a:sx n="25" d="100"/>
        <a:sy n="25" d="100"/>
      </p:scale>
      <p:origin x="0" y="0"/>
    </p:cViewPr>
  </p:outlineViewPr>
  <p:notesTextViewPr>
    <p:cViewPr>
      <p:scale>
        <a:sx n="50" d="100"/>
        <a:sy n="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DB899A6-A9CA-4711-9723-BA912D00FE99}"/>
              </a:ext>
            </a:extLst>
          </p:cNvPr>
          <p:cNvSpPr>
            <a:spLocks noGrp="1" noChangeArrowheads="1"/>
          </p:cNvSpPr>
          <p:nvPr>
            <p:ph type="hdr" sz="quarter"/>
          </p:nvPr>
        </p:nvSpPr>
        <p:spPr bwMode="auto">
          <a:xfrm>
            <a:off x="1"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5" name="Rectangle 3">
            <a:extLst>
              <a:ext uri="{FF2B5EF4-FFF2-40B4-BE49-F238E27FC236}">
                <a16:creationId xmlns:a16="http://schemas.microsoft.com/office/drawing/2014/main" id="{1651D3A0-D571-4358-8785-1088F76D9B27}"/>
              </a:ext>
            </a:extLst>
          </p:cNvPr>
          <p:cNvSpPr>
            <a:spLocks noGrp="1" noChangeArrowheads="1"/>
          </p:cNvSpPr>
          <p:nvPr>
            <p:ph type="dt" sz="quarter" idx="1"/>
          </p:nvPr>
        </p:nvSpPr>
        <p:spPr bwMode="auto">
          <a:xfrm>
            <a:off x="4024618"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6" name="Rectangle 4">
            <a:extLst>
              <a:ext uri="{FF2B5EF4-FFF2-40B4-BE49-F238E27FC236}">
                <a16:creationId xmlns:a16="http://schemas.microsoft.com/office/drawing/2014/main" id="{19D7232F-6855-4919-8F75-B7A75D70C854}"/>
              </a:ext>
            </a:extLst>
          </p:cNvPr>
          <p:cNvSpPr>
            <a:spLocks noGrp="1" noChangeArrowheads="1"/>
          </p:cNvSpPr>
          <p:nvPr>
            <p:ph type="ftr" sz="quarter" idx="2"/>
          </p:nvPr>
        </p:nvSpPr>
        <p:spPr bwMode="auto">
          <a:xfrm>
            <a:off x="1"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7" name="Rectangle 5">
            <a:extLst>
              <a:ext uri="{FF2B5EF4-FFF2-40B4-BE49-F238E27FC236}">
                <a16:creationId xmlns:a16="http://schemas.microsoft.com/office/drawing/2014/main" id="{4427D1B6-1508-4EFB-B526-79F7F58444C8}"/>
              </a:ext>
            </a:extLst>
          </p:cNvPr>
          <p:cNvSpPr>
            <a:spLocks noGrp="1" noChangeArrowheads="1"/>
          </p:cNvSpPr>
          <p:nvPr>
            <p:ph type="sldNum" sz="quarter" idx="3"/>
          </p:nvPr>
        </p:nvSpPr>
        <p:spPr bwMode="auto">
          <a:xfrm>
            <a:off x="4024618"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ABF23BBB-24A2-4FB1-97AA-82B17F20F696}" type="slidenum">
              <a:rPr lang="en-US" altLang="ja-JP"/>
              <a:pPr>
                <a:defRPr/>
              </a:pPr>
              <a:t>‹#›</a:t>
            </a:fld>
            <a:endParaRPr lang="en-US" altLang="ja-JP" dirty="0"/>
          </a:p>
        </p:txBody>
      </p:sp>
    </p:spTree>
    <p:extLst>
      <p:ext uri="{BB962C8B-B14F-4D97-AF65-F5344CB8AC3E}">
        <p14:creationId xmlns:p14="http://schemas.microsoft.com/office/powerpoint/2010/main" val="2816655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31E1D87D-A0A0-44F6-BD18-1DA14110C531}"/>
              </a:ext>
            </a:extLst>
          </p:cNvPr>
          <p:cNvSpPr>
            <a:spLocks noGrp="1" noChangeArrowheads="1"/>
          </p:cNvSpPr>
          <p:nvPr>
            <p:ph type="hdr" sz="quarter"/>
          </p:nvPr>
        </p:nvSpPr>
        <p:spPr bwMode="auto">
          <a:xfrm>
            <a:off x="0"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3" name="Rectangle 3">
            <a:extLst>
              <a:ext uri="{FF2B5EF4-FFF2-40B4-BE49-F238E27FC236}">
                <a16:creationId xmlns:a16="http://schemas.microsoft.com/office/drawing/2014/main" id="{38D8AEA5-A4A6-41CD-B14C-F3CD4220D027}"/>
              </a:ext>
            </a:extLst>
          </p:cNvPr>
          <p:cNvSpPr>
            <a:spLocks noGrp="1" noChangeArrowheads="1"/>
          </p:cNvSpPr>
          <p:nvPr>
            <p:ph type="dt" idx="1"/>
          </p:nvPr>
        </p:nvSpPr>
        <p:spPr bwMode="auto">
          <a:xfrm>
            <a:off x="4005324"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6148" name="Rectangle 4">
            <a:extLst>
              <a:ext uri="{FF2B5EF4-FFF2-40B4-BE49-F238E27FC236}">
                <a16:creationId xmlns:a16="http://schemas.microsoft.com/office/drawing/2014/main" id="{747BF16E-6815-4F62-A34F-5B22F8448030}"/>
              </a:ext>
            </a:extLst>
          </p:cNvPr>
          <p:cNvSpPr>
            <a:spLocks noGrp="1" noRot="1" noChangeAspect="1" noChangeArrowheads="1" noTextEdit="1"/>
          </p:cNvSpPr>
          <p:nvPr>
            <p:ph type="sldImg" idx="2"/>
          </p:nvPr>
        </p:nvSpPr>
        <p:spPr bwMode="auto">
          <a:xfrm>
            <a:off x="809625" y="811213"/>
            <a:ext cx="5516563" cy="3821112"/>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5" name="Rectangle 5">
            <a:extLst>
              <a:ext uri="{FF2B5EF4-FFF2-40B4-BE49-F238E27FC236}">
                <a16:creationId xmlns:a16="http://schemas.microsoft.com/office/drawing/2014/main" id="{009AFE73-A821-4ADE-B9D2-225F3B6F615B}"/>
              </a:ext>
            </a:extLst>
          </p:cNvPr>
          <p:cNvSpPr>
            <a:spLocks noGrp="1" noChangeArrowheads="1"/>
          </p:cNvSpPr>
          <p:nvPr>
            <p:ph type="body" sz="quarter" idx="3"/>
          </p:nvPr>
        </p:nvSpPr>
        <p:spPr bwMode="auto">
          <a:xfrm>
            <a:off x="932689" y="4861922"/>
            <a:ext cx="5212595" cy="4632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p>
            <a:pPr lvl="0"/>
            <a:r>
              <a:rPr lang="ja-JP" altLang="en-US" noProof="0" dirty="0"/>
              <a:t>マスタ テキストの書式設定</a:t>
            </a:r>
          </a:p>
          <a:p>
            <a:pPr lvl="1"/>
            <a:r>
              <a:rPr lang="ja-JP" altLang="en-US" noProof="0" dirty="0"/>
              <a:t>第 </a:t>
            </a:r>
            <a:r>
              <a:rPr lang="en-US" altLang="ja-JP" noProof="0" dirty="0"/>
              <a:t>2 </a:t>
            </a:r>
            <a:r>
              <a:rPr lang="ja-JP" altLang="en-US" noProof="0" dirty="0"/>
              <a:t>レベル</a:t>
            </a:r>
          </a:p>
          <a:p>
            <a:pPr lvl="2"/>
            <a:r>
              <a:rPr lang="ja-JP" altLang="en-US" noProof="0" dirty="0"/>
              <a:t>第 </a:t>
            </a:r>
            <a:r>
              <a:rPr lang="en-US" altLang="ja-JP" noProof="0" dirty="0"/>
              <a:t>3 </a:t>
            </a:r>
            <a:r>
              <a:rPr lang="ja-JP" altLang="en-US" noProof="0" dirty="0"/>
              <a:t>レベル</a:t>
            </a:r>
          </a:p>
          <a:p>
            <a:pPr lvl="3"/>
            <a:r>
              <a:rPr lang="ja-JP" altLang="en-US" noProof="0" dirty="0"/>
              <a:t>第 </a:t>
            </a:r>
            <a:r>
              <a:rPr lang="en-US" altLang="ja-JP" noProof="0" dirty="0"/>
              <a:t>4 </a:t>
            </a:r>
            <a:r>
              <a:rPr lang="ja-JP" altLang="en-US" noProof="0" dirty="0"/>
              <a:t>レベル</a:t>
            </a:r>
          </a:p>
          <a:p>
            <a:pPr lvl="4"/>
            <a:r>
              <a:rPr lang="ja-JP" altLang="en-US" noProof="0" dirty="0"/>
              <a:t>第 </a:t>
            </a:r>
            <a:r>
              <a:rPr lang="en-US" altLang="ja-JP" noProof="0" dirty="0"/>
              <a:t>5 </a:t>
            </a:r>
            <a:r>
              <a:rPr lang="ja-JP" altLang="en-US" noProof="0" dirty="0"/>
              <a:t>レベル</a:t>
            </a:r>
          </a:p>
        </p:txBody>
      </p:sp>
      <p:sp>
        <p:nvSpPr>
          <p:cNvPr id="81926" name="Rectangle 6">
            <a:extLst>
              <a:ext uri="{FF2B5EF4-FFF2-40B4-BE49-F238E27FC236}">
                <a16:creationId xmlns:a16="http://schemas.microsoft.com/office/drawing/2014/main" id="{62419E40-0084-4BCB-8A80-CBA337840EDC}"/>
              </a:ext>
            </a:extLst>
          </p:cNvPr>
          <p:cNvSpPr>
            <a:spLocks noGrp="1" noChangeArrowheads="1"/>
          </p:cNvSpPr>
          <p:nvPr>
            <p:ph type="ftr" sz="quarter" idx="4"/>
          </p:nvPr>
        </p:nvSpPr>
        <p:spPr bwMode="auto">
          <a:xfrm>
            <a:off x="0"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7" name="Rectangle 7">
            <a:extLst>
              <a:ext uri="{FF2B5EF4-FFF2-40B4-BE49-F238E27FC236}">
                <a16:creationId xmlns:a16="http://schemas.microsoft.com/office/drawing/2014/main" id="{95A1F3E7-6C28-42BC-9477-4EE05BC271D4}"/>
              </a:ext>
            </a:extLst>
          </p:cNvPr>
          <p:cNvSpPr>
            <a:spLocks noGrp="1" noChangeArrowheads="1"/>
          </p:cNvSpPr>
          <p:nvPr>
            <p:ph type="sldNum" sz="quarter" idx="5"/>
          </p:nvPr>
        </p:nvSpPr>
        <p:spPr bwMode="auto">
          <a:xfrm>
            <a:off x="4005324"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1B717ACA-5F59-481E-BAA1-3D2FC3B91B1D}" type="slidenum">
              <a:rPr lang="en-US" altLang="ja-JP" smtClean="0"/>
              <a:pPr>
                <a:defRPr/>
              </a:pPr>
              <a:t>‹#›</a:t>
            </a:fld>
            <a:endParaRPr lang="en-US" altLang="ja-JP" dirty="0"/>
          </a:p>
        </p:txBody>
      </p:sp>
    </p:spTree>
    <p:extLst>
      <p:ext uri="{BB962C8B-B14F-4D97-AF65-F5344CB8AC3E}">
        <p14:creationId xmlns:p14="http://schemas.microsoft.com/office/powerpoint/2010/main" val="19436483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slide" Target="../slides/slide2.xml"/><Relationship Id="rId1" Type="http://schemas.openxmlformats.org/officeDocument/2006/relationships/notesMaster" Target="../notesMasters/notesMaster1.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3BD9E408-8B7F-30C9-F3C7-A9F0BFC0779F}"/>
              </a:ext>
            </a:extLst>
          </p:cNvPr>
          <p:cNvSpPr>
            <a:spLocks noRot="1" noChangeAspect="1" noChangeArrowheads="1" noTextEdit="1"/>
          </p:cNvSpPr>
          <p:nvPr>
            <p:ph type="sldImg"/>
          </p:nvPr>
        </p:nvSpPr>
        <p:spPr>
          <a:xfrm>
            <a:off x="784225" y="766763"/>
            <a:ext cx="5541963" cy="3836987"/>
          </a:xfrm>
          <a:ln/>
        </p:spPr>
      </p:sp>
      <p:sp>
        <p:nvSpPr>
          <p:cNvPr id="257029" name="Rectangle 5">
            <a:extLst>
              <a:ext uri="{FF2B5EF4-FFF2-40B4-BE49-F238E27FC236}">
                <a16:creationId xmlns:a16="http://schemas.microsoft.com/office/drawing/2014/main" id="{C6F47669-F94E-DA0A-1BC1-9D09209F072D}"/>
              </a:ext>
            </a:extLst>
          </p:cNvPr>
          <p:cNvSpPr>
            <a:spLocks noGrp="1" noChangeArrowheads="1"/>
          </p:cNvSpPr>
          <p:nvPr>
            <p:ph type="body" idx="1"/>
          </p:nvPr>
        </p:nvSpPr>
        <p:spPr/>
        <p:txBody>
          <a:bodyPr/>
          <a:lstStyle/>
          <a:p>
            <a:r>
              <a:rPr lang="en-US" altLang="ja-JP">
                <a:latin typeface="Arial" panose="020B0604020202020204" pitchFamily="34" charset="0"/>
              </a:rPr>
              <a:t>Trong chương 3 sẽ đề cập các nội dung sau: </a:t>
            </a:r>
          </a:p>
          <a:p>
            <a:endParaRPr lang="en-US" altLang="ja-JP">
              <a:latin typeface="Arial" panose="020B0604020202020204" pitchFamily="34" charset="0"/>
            </a:endParaRPr>
          </a:p>
          <a:p>
            <a:r>
              <a:rPr lang="en-US" altLang="ja-JP">
                <a:latin typeface="Arial" panose="020B0604020202020204" pitchFamily="34" charset="0"/>
              </a:rPr>
              <a:t>3.1</a:t>
            </a:r>
            <a:r>
              <a:rPr lang="ja-JP" altLang="en-US">
                <a:latin typeface="Arial" panose="020B0604020202020204" pitchFamily="34" charset="0"/>
              </a:rPr>
              <a:t>　</a:t>
            </a:r>
            <a:r>
              <a:rPr lang="en-US" altLang="ja-JP">
                <a:latin typeface="Arial" panose="020B0604020202020204" pitchFamily="34" charset="0"/>
              </a:rPr>
              <a:t>Thừa kế là gì? </a:t>
            </a:r>
          </a:p>
          <a:p>
            <a:r>
              <a:rPr lang="en-US" altLang="ja-JP">
                <a:latin typeface="Arial" panose="020B0604020202020204" pitchFamily="34" charset="0"/>
              </a:rPr>
              <a:t>3.2</a:t>
            </a:r>
            <a:r>
              <a:rPr lang="ja-JP" altLang="en-US">
                <a:latin typeface="Arial" panose="020B0604020202020204" pitchFamily="34" charset="0"/>
              </a:rPr>
              <a:t>　</a:t>
            </a:r>
            <a:r>
              <a:rPr lang="en-US" altLang="ja-JP">
                <a:latin typeface="Arial" panose="020B0604020202020204" pitchFamily="34" charset="0"/>
              </a:rPr>
              <a:t>Định nghĩa super class </a:t>
            </a:r>
          </a:p>
          <a:p>
            <a:r>
              <a:rPr lang="en-US" altLang="ja-JP">
                <a:latin typeface="Arial" panose="020B0604020202020204" pitchFamily="34" charset="0"/>
              </a:rPr>
              <a:t>3.3</a:t>
            </a:r>
            <a:r>
              <a:rPr lang="ja-JP" altLang="en-US">
                <a:latin typeface="Arial" panose="020B0604020202020204" pitchFamily="34" charset="0"/>
              </a:rPr>
              <a:t>　</a:t>
            </a:r>
            <a:r>
              <a:rPr lang="en-US" altLang="ja-JP">
                <a:latin typeface="Arial" panose="020B0604020202020204" pitchFamily="34" charset="0"/>
              </a:rPr>
              <a:t>Định nghĩa sub class</a:t>
            </a:r>
          </a:p>
          <a:p>
            <a:r>
              <a:rPr lang="en-US" altLang="ja-JP">
                <a:latin typeface="Arial" panose="020B0604020202020204" pitchFamily="34" charset="0"/>
              </a:rPr>
              <a:t>3.4</a:t>
            </a:r>
            <a:r>
              <a:rPr lang="ja-JP" altLang="en-US">
                <a:latin typeface="Arial" panose="020B0604020202020204" pitchFamily="34" charset="0"/>
              </a:rPr>
              <a:t>　</a:t>
            </a:r>
            <a:r>
              <a:rPr lang="en-US" altLang="ja-JP">
                <a:latin typeface="Arial" panose="020B0604020202020204" pitchFamily="34" charset="0"/>
              </a:rPr>
              <a:t>Override method </a:t>
            </a:r>
          </a:p>
          <a:p>
            <a:r>
              <a:rPr lang="en-US" altLang="ja-JP">
                <a:latin typeface="Arial" panose="020B0604020202020204" pitchFamily="34" charset="0"/>
              </a:rPr>
              <a:t>3.5</a:t>
            </a:r>
            <a:r>
              <a:rPr lang="ja-JP" altLang="en-US">
                <a:latin typeface="Arial" panose="020B0604020202020204" pitchFamily="34" charset="0"/>
              </a:rPr>
              <a:t>　</a:t>
            </a:r>
            <a:r>
              <a:rPr lang="en-US" altLang="ja-JP">
                <a:latin typeface="Arial" panose="020B0604020202020204" pitchFamily="34" charset="0"/>
              </a:rPr>
              <a:t>this và super</a:t>
            </a:r>
          </a:p>
          <a:p>
            <a:r>
              <a:rPr lang="en-US" altLang="en-US">
                <a:latin typeface="Arial" panose="020B0604020202020204" pitchFamily="34" charset="0"/>
              </a:rPr>
              <a:t>3.6　Gọi ra constructor của </a:t>
            </a:r>
            <a:r>
              <a:rPr lang="en-US" altLang="ja-JP">
                <a:latin typeface="Arial" panose="020B0604020202020204" pitchFamily="34" charset="0"/>
              </a:rPr>
              <a:t>chính </a:t>
            </a:r>
            <a:r>
              <a:rPr lang="en-US" altLang="en-US">
                <a:latin typeface="Arial" panose="020B0604020202020204" pitchFamily="34" charset="0"/>
              </a:rPr>
              <a:t>class</a:t>
            </a:r>
            <a:r>
              <a:rPr lang="en-US" altLang="ja-JP">
                <a:latin typeface="Arial" panose="020B0604020202020204" pitchFamily="34" charset="0"/>
              </a:rPr>
              <a:t> đó</a:t>
            </a:r>
          </a:p>
          <a:p>
            <a:r>
              <a:rPr lang="en-US" altLang="ja-JP">
                <a:latin typeface="Arial" panose="020B0604020202020204" pitchFamily="34" charset="0"/>
              </a:rPr>
              <a:t>3.7</a:t>
            </a:r>
            <a:r>
              <a:rPr lang="ja-JP" altLang="en-US">
                <a:latin typeface="Arial" panose="020B0604020202020204" pitchFamily="34" charset="0"/>
              </a:rPr>
              <a:t>　</a:t>
            </a:r>
            <a:r>
              <a:rPr lang="en-US" altLang="ja-JP">
                <a:latin typeface="Arial" panose="020B0604020202020204" pitchFamily="34" charset="0"/>
              </a:rPr>
              <a:t>Gọi ra constructor của super class</a:t>
            </a:r>
          </a:p>
          <a:p>
            <a:endParaRPr lang="en-US" altLang="ja-JP">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AutoShape 2">
            <a:extLst>
              <a:ext uri="{FF2B5EF4-FFF2-40B4-BE49-F238E27FC236}">
                <a16:creationId xmlns:a16="http://schemas.microsoft.com/office/drawing/2014/main" id="{0BBE3D32-3B11-AE33-FF68-0E24B87C1DF3}"/>
              </a:ext>
            </a:extLst>
          </p:cNvPr>
          <p:cNvSpPr>
            <a:spLocks noChangeArrowheads="1"/>
          </p:cNvSpPr>
          <p:nvPr/>
        </p:nvSpPr>
        <p:spPr bwMode="auto">
          <a:xfrm>
            <a:off x="493713" y="342900"/>
            <a:ext cx="6124575" cy="9402763"/>
          </a:xfrm>
          <a:prstGeom prst="roundRect">
            <a:avLst>
              <a:gd name="adj" fmla="val 3144"/>
            </a:avLst>
          </a:prstGeom>
          <a:noFill/>
          <a:ln w="28575">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457" tIns="47728" rIns="95457" bIns="47728"/>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ja-JP" altLang="en-US" b="0">
                <a:ea typeface="MS UI Gothic" panose="020B0600070205080204" pitchFamily="50" charset="-128"/>
              </a:rPr>
              <a:t>　　　　　　　　　　　　　　　</a:t>
            </a:r>
            <a:endParaRPr lang="ja-JP" altLang="en-US" sz="1300">
              <a:ea typeface="MS UI Gothic" panose="020B0600070205080204" pitchFamily="50" charset="-128"/>
            </a:endParaRPr>
          </a:p>
          <a:p>
            <a:endParaRPr lang="ja-JP" altLang="en-US" b="0">
              <a:ea typeface="MS UI Gothic" panose="020B0600070205080204" pitchFamily="50" charset="-128"/>
            </a:endParaRPr>
          </a:p>
          <a:p>
            <a:endParaRPr lang="ja-JP" altLang="en-US" b="0">
              <a:ea typeface="MS UI Gothic" panose="020B0600070205080204" pitchFamily="50" charset="-128"/>
            </a:endParaRPr>
          </a:p>
          <a:p>
            <a:r>
              <a:rPr lang="ja-JP" altLang="en-US" b="0">
                <a:ea typeface="MS UI Gothic" panose="020B0600070205080204" pitchFamily="50" charset="-128"/>
              </a:rPr>
              <a:t>　</a:t>
            </a:r>
            <a:r>
              <a:rPr lang="en-US" altLang="ja-JP" b="0">
                <a:ea typeface="MS UI Gothic" panose="020B0600070205080204" pitchFamily="50" charset="-128"/>
              </a:rPr>
              <a:t>Trong chương này chúng ta sẽ học về</a:t>
            </a:r>
            <a:r>
              <a:rPr lang="en-US" altLang="ja-JP">
                <a:ea typeface="MS UI Gothic" panose="020B0600070205080204" pitchFamily="50" charset="-128"/>
              </a:rPr>
              <a:t>̀</a:t>
            </a:r>
            <a:r>
              <a:rPr lang="ja-JP" altLang="en-US" b="0">
                <a:ea typeface="MS UI Gothic" panose="020B0600070205080204" pitchFamily="50" charset="-128"/>
              </a:rPr>
              <a:t>「</a:t>
            </a:r>
            <a:r>
              <a:rPr lang="en-US" altLang="ja-JP" b="0">
                <a:ea typeface="MS UI Gothic" panose="020B0600070205080204" pitchFamily="50" charset="-128"/>
              </a:rPr>
              <a:t>thừa kế</a:t>
            </a:r>
            <a:r>
              <a:rPr lang="ja-JP" altLang="en-US" b="0">
                <a:ea typeface="MS UI Gothic" panose="020B0600070205080204" pitchFamily="50" charset="-128"/>
              </a:rPr>
              <a:t>」</a:t>
            </a:r>
            <a:r>
              <a:rPr lang="en-US" altLang="ja-JP" b="0">
                <a:ea typeface="MS UI Gothic" panose="020B0600070205080204" pitchFamily="50" charset="-128"/>
              </a:rPr>
              <a:t>(một khái niệm quan trọng của hướng đối tượng)̀ về phương pháp implement</a:t>
            </a:r>
            <a:r>
              <a:rPr lang="en-US" altLang="ja-JP">
                <a:ea typeface="MS UI Gothic" panose="020B0600070205080204" pitchFamily="50" charset="-128"/>
              </a:rPr>
              <a:t> </a:t>
            </a:r>
            <a:r>
              <a:rPr lang="en-US" altLang="ja-JP" b="0">
                <a:ea typeface="MS UI Gothic" panose="020B0600070205080204" pitchFamily="50" charset="-128"/>
              </a:rPr>
              <a:t>bằng ngôn ngữ Java.</a:t>
            </a:r>
          </a:p>
          <a:p>
            <a:endParaRPr lang="en-US" altLang="ja-JP" b="0">
              <a:ea typeface="MS UI Gothic" panose="020B0600070205080204" pitchFamily="50" charset="-128"/>
            </a:endParaRPr>
          </a:p>
          <a:p>
            <a:r>
              <a:rPr lang="en-US" altLang="ja-JP" b="0">
                <a:ea typeface="MS UI Gothic" panose="020B0600070205080204" pitchFamily="50" charset="-128"/>
              </a:rPr>
              <a:t>■</a:t>
            </a:r>
            <a:r>
              <a:rPr lang="ja-JP" altLang="en-US" b="0">
                <a:ea typeface="MS UI Gothic" panose="020B0600070205080204" pitchFamily="50" charset="-128"/>
              </a:rPr>
              <a:t>　</a:t>
            </a:r>
            <a:r>
              <a:rPr lang="en-US" altLang="ja-JP" b="0">
                <a:ea typeface="MS UI Gothic" panose="020B0600070205080204" pitchFamily="50" charset="-128"/>
              </a:rPr>
              <a:t>Thừa kế</a:t>
            </a:r>
          </a:p>
          <a:p>
            <a:r>
              <a:rPr lang="ja-JP" altLang="en-US" b="0">
                <a:ea typeface="MS UI Gothic" panose="020B0600070205080204" pitchFamily="50" charset="-128"/>
              </a:rPr>
              <a:t>　</a:t>
            </a:r>
            <a:r>
              <a:rPr lang="en-US" altLang="ja-JP" b="0">
                <a:ea typeface="MS UI Gothic" panose="020B0600070205080204" pitchFamily="50" charset="-128"/>
              </a:rPr>
              <a:t>Kế thừa là việc định nghĩa class mới đã kế thừa class sẵn có.</a:t>
            </a:r>
          </a:p>
          <a:p>
            <a:r>
              <a:rPr lang="ja-JP" altLang="en-US" b="0">
                <a:ea typeface="MS UI Gothic" panose="020B0600070205080204" pitchFamily="50" charset="-128"/>
              </a:rPr>
              <a:t>　</a:t>
            </a:r>
            <a:r>
              <a:rPr lang="en-US" altLang="ja-JP" b="0">
                <a:ea typeface="MS UI Gothic" panose="020B0600070205080204" pitchFamily="50" charset="-128"/>
              </a:rPr>
              <a:t>Nếu sử dụng kế thừa thì có thể mở rộng chức năng của class sẵn có.</a:t>
            </a:r>
          </a:p>
          <a:p>
            <a:endParaRPr lang="en-US" altLang="ja-JP" b="0">
              <a:ea typeface="MS UI Gothic" panose="020B0600070205080204" pitchFamily="50" charset="-128"/>
            </a:endParaRPr>
          </a:p>
          <a:p>
            <a:r>
              <a:rPr lang="ja-JP" altLang="en-US" b="0">
                <a:ea typeface="MS UI Gothic" panose="020B0600070205080204" pitchFamily="50" charset="-128"/>
              </a:rPr>
              <a:t>　</a:t>
            </a:r>
            <a:r>
              <a:rPr lang="en-US" altLang="ja-JP" b="0">
                <a:ea typeface="MS UI Gothic" panose="020B0600070205080204" pitchFamily="50" charset="-128"/>
              </a:rPr>
              <a:t>Gọi class có những yếu tố chung thông thường là super class và gọi các class đã add thêm chức năng riêng biệt là sub class.</a:t>
            </a:r>
          </a:p>
          <a:p>
            <a:r>
              <a:rPr lang="en-US" altLang="ja-JP" b="0">
                <a:ea typeface="MS UI Gothic" panose="020B0600070205080204" pitchFamily="50" charset="-128"/>
              </a:rPr>
              <a:t>Cũng có trường hợp gọi super class là class cha, base class, etc...</a:t>
            </a:r>
          </a:p>
          <a:p>
            <a:r>
              <a:rPr lang="en-US" altLang="ja-JP" b="0">
                <a:ea typeface="MS UI Gothic" panose="020B0600070205080204" pitchFamily="50" charset="-128"/>
              </a:rPr>
              <a:t>Cũng có trường hợp gọi sub class là class con, class phái sinh, etc....</a:t>
            </a:r>
          </a:p>
          <a:p>
            <a:endParaRPr lang="en-US" altLang="ja-JP" b="0">
              <a:ea typeface="MS UI Gothic" panose="020B0600070205080204" pitchFamily="50" charset="-128"/>
            </a:endParaRPr>
          </a:p>
          <a:p>
            <a:r>
              <a:rPr lang="ja-JP" altLang="en-US" b="0">
                <a:ea typeface="MS UI Gothic" panose="020B0600070205080204" pitchFamily="50" charset="-128"/>
              </a:rPr>
              <a:t>　</a:t>
            </a:r>
            <a:r>
              <a:rPr lang="en-US" altLang="ja-JP" b="0">
                <a:ea typeface="MS UI Gothic" panose="020B0600070205080204" pitchFamily="50" charset="-128"/>
              </a:rPr>
              <a:t>【Những điều có thể thực hiện ở subclass】</a:t>
            </a:r>
          </a:p>
          <a:p>
            <a:r>
              <a:rPr lang="ja-JP" altLang="en-US" b="0">
                <a:ea typeface="MS UI Gothic" panose="020B0600070205080204" pitchFamily="50" charset="-128"/>
              </a:rPr>
              <a:t>・</a:t>
            </a:r>
            <a:r>
              <a:rPr lang="en-US" altLang="ja-JP" b="0">
                <a:ea typeface="MS UI Gothic" panose="020B0600070205080204" pitchFamily="50" charset="-128"/>
              </a:rPr>
              <a:t>Sub class có thể kế thừa tính chất (thuộc tính và thao tác) của super class.</a:t>
            </a:r>
          </a:p>
          <a:p>
            <a:r>
              <a:rPr lang="ja-JP" altLang="en-US" b="0">
                <a:ea typeface="MS UI Gothic" panose="020B0600070205080204" pitchFamily="50" charset="-128"/>
              </a:rPr>
              <a:t>・</a:t>
            </a:r>
            <a:r>
              <a:rPr lang="en-US" altLang="ja-JP" b="0">
                <a:ea typeface="MS UI Gothic" panose="020B0600070205080204" pitchFamily="50" charset="-128"/>
              </a:rPr>
              <a:t>Sub class có thể add thêm tính chất mới (thuộc tính và thao tác) mà super class không có.</a:t>
            </a:r>
          </a:p>
          <a:p>
            <a:r>
              <a:rPr lang="ja-JP" altLang="en-US" b="0">
                <a:ea typeface="MS UI Gothic" panose="020B0600070205080204" pitchFamily="50" charset="-128"/>
              </a:rPr>
              <a:t>・</a:t>
            </a:r>
            <a:r>
              <a:rPr lang="en-US" altLang="ja-JP" b="0">
                <a:ea typeface="MS UI Gothic" panose="020B0600070205080204" pitchFamily="50" charset="-128"/>
              </a:rPr>
              <a:t>Sub class cũng có thể định nghĩa lại</a:t>
            </a:r>
            <a:r>
              <a:rPr lang="en-US" altLang="ja-JP">
                <a:ea typeface="MS UI Gothic" panose="020B0600070205080204" pitchFamily="50" charset="-128"/>
              </a:rPr>
              <a:t> (</a:t>
            </a:r>
            <a:r>
              <a:rPr lang="en-US" altLang="ja-JP" b="0">
                <a:ea typeface="MS UI Gothic" panose="020B0600070205080204" pitchFamily="50" charset="-128"/>
              </a:rPr>
              <a:t>thay thành tính chất riêng, override) mà</a:t>
            </a:r>
            <a:r>
              <a:rPr lang="en-US" altLang="ja-JP">
                <a:ea typeface="MS UI Gothic" panose="020B0600070205080204" pitchFamily="50" charset="-128"/>
              </a:rPr>
              <a:t> </a:t>
            </a:r>
            <a:r>
              <a:rPr lang="en-US" altLang="ja-JP" b="0">
                <a:ea typeface="MS UI Gothic" panose="020B0600070205080204" pitchFamily="50" charset="-128"/>
              </a:rPr>
              <a:t>không kế thừa tính chất của super class.</a:t>
            </a:r>
          </a:p>
          <a:p>
            <a:endParaRPr lang="en-US" altLang="ja-JP" b="0">
              <a:ea typeface="MS UI Gothic" panose="020B0600070205080204" pitchFamily="50" charset="-128"/>
            </a:endParaRPr>
          </a:p>
          <a:p>
            <a:r>
              <a:rPr lang="en-US" altLang="ja-JP" b="0">
                <a:ea typeface="MS UI Gothic" panose="020B0600070205080204" pitchFamily="50" charset="-128"/>
              </a:rPr>
              <a:t>■ kế thừa ở Java</a:t>
            </a:r>
          </a:p>
          <a:p>
            <a:r>
              <a:rPr lang="ja-JP" altLang="en-US" b="0">
                <a:ea typeface="MS UI Gothic" panose="020B0600070205080204" pitchFamily="50" charset="-128"/>
              </a:rPr>
              <a:t>　 </a:t>
            </a:r>
            <a:r>
              <a:rPr lang="en-US" altLang="ja-JP" b="0">
                <a:ea typeface="MS UI Gothic" panose="020B0600070205080204" pitchFamily="50" charset="-128"/>
              </a:rPr>
              <a:t>Gọi kế thừa đơn là việc kế thừa mà class (sub class) nào đó có thể kế thừa trực tiếp chỉ giới hạn ở 1 class (super class).</a:t>
            </a:r>
          </a:p>
          <a:p>
            <a:r>
              <a:rPr lang="ja-JP" altLang="en-US" b="0">
                <a:ea typeface="MS UI Gothic" panose="020B0600070205080204" pitchFamily="50" charset="-128"/>
              </a:rPr>
              <a:t>　 </a:t>
            </a:r>
            <a:r>
              <a:rPr lang="en-US" altLang="ja-JP" b="0">
                <a:ea typeface="MS UI Gothic" panose="020B0600070205080204" pitchFamily="50" charset="-128"/>
              </a:rPr>
              <a:t>Java chỉ support đơn kế thừa </a:t>
            </a:r>
            <a:r>
              <a:rPr lang="en-US" altLang="ja-JP">
                <a:ea typeface="MS UI Gothic" panose="020B0600070205080204" pitchFamily="50" charset="-128"/>
              </a:rPr>
              <a:t>.</a:t>
            </a:r>
            <a:endParaRPr lang="en-US" altLang="ja-JP" b="0">
              <a:ea typeface="MS UI Gothic" panose="020B0600070205080204" pitchFamily="50" charset="-128"/>
            </a:endParaRPr>
          </a:p>
          <a:p>
            <a:r>
              <a:rPr lang="en-US" altLang="ja-JP" b="0">
                <a:ea typeface="MS UI Gothic" panose="020B0600070205080204" pitchFamily="50" charset="-128"/>
              </a:rPr>
              <a:t>【Tham khảo】</a:t>
            </a:r>
          </a:p>
          <a:p>
            <a:r>
              <a:rPr lang="ja-JP" altLang="en-US" b="0">
                <a:ea typeface="MS UI Gothic" panose="020B0600070205080204" pitchFamily="50" charset="-128"/>
              </a:rPr>
              <a:t>　</a:t>
            </a:r>
            <a:r>
              <a:rPr lang="en-US" altLang="ja-JP" b="0">
                <a:ea typeface="MS UI Gothic" panose="020B0600070205080204" pitchFamily="50" charset="-128"/>
              </a:rPr>
              <a:t>Nhìn từ quan điểm sub class, người ta gọi việc kế thừa trực tiếp từ nhiều (super) class là đa thừa kế. </a:t>
            </a:r>
          </a:p>
          <a:p>
            <a:r>
              <a:rPr lang="en-US" altLang="ja-JP" b="0">
                <a:ea typeface="MS UI Gothic" panose="020B0600070205080204" pitchFamily="50" charset="-128"/>
              </a:rPr>
              <a:t>  Trong Java, đa thừa kế</a:t>
            </a:r>
            <a:r>
              <a:rPr lang="en-US" altLang="ja-JP">
                <a:ea typeface="MS UI Gothic" panose="020B0600070205080204" pitchFamily="50" charset="-128"/>
              </a:rPr>
              <a:t> </a:t>
            </a:r>
            <a:r>
              <a:rPr lang="en-US" altLang="ja-JP" b="0">
                <a:ea typeface="MS UI Gothic" panose="020B0600070205080204" pitchFamily="50" charset="-128"/>
              </a:rPr>
              <a:t>không được support. </a:t>
            </a: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endParaRPr lang="en-US" altLang="ja-JP" b="0">
              <a:ea typeface="MS UI Gothic" panose="020B0600070205080204" pitchFamily="50" charset="-128"/>
            </a:endParaRPr>
          </a:p>
          <a:p>
            <a:r>
              <a:rPr lang="ja-JP" altLang="en-US" b="0">
                <a:ea typeface="MS UI Gothic" panose="020B0600070205080204" pitchFamily="50" charset="-128"/>
              </a:rPr>
              <a:t>　　　　　　　　　　</a:t>
            </a:r>
            <a:r>
              <a:rPr lang="en-US" altLang="ja-JP" b="0">
                <a:ea typeface="MS UI Gothic" panose="020B0600070205080204" pitchFamily="50" charset="-128"/>
              </a:rPr>
              <a:t>Ở biểu đồ trên, nhân viên là super class, còn SE, kinh doanh, kế hoạch là sub class.</a:t>
            </a:r>
          </a:p>
          <a:p>
            <a:endParaRPr lang="en-US" altLang="ja-JP" b="0">
              <a:ea typeface="MS UI Gothic" panose="020B0600070205080204" pitchFamily="50" charset="-128"/>
            </a:endParaRPr>
          </a:p>
        </p:txBody>
      </p:sp>
      <p:sp>
        <p:nvSpPr>
          <p:cNvPr id="486403" name="AutoShape 3">
            <a:extLst>
              <a:ext uri="{FF2B5EF4-FFF2-40B4-BE49-F238E27FC236}">
                <a16:creationId xmlns:a16="http://schemas.microsoft.com/office/drawing/2014/main" id="{9510E90B-F16F-F306-97A9-10F57A74C0CF}"/>
              </a:ext>
            </a:extLst>
          </p:cNvPr>
          <p:cNvSpPr>
            <a:spLocks noChangeArrowheads="1"/>
          </p:cNvSpPr>
          <p:nvPr/>
        </p:nvSpPr>
        <p:spPr bwMode="auto">
          <a:xfrm>
            <a:off x="603250" y="442913"/>
            <a:ext cx="1450975" cy="280987"/>
          </a:xfrm>
          <a:prstGeom prst="roundRect">
            <a:avLst>
              <a:gd name="adj" fmla="val 16667"/>
            </a:avLst>
          </a:prstGeom>
          <a:solidFill>
            <a:srgbClr val="3366FF"/>
          </a:solidFill>
          <a:ln>
            <a:noFill/>
          </a:ln>
          <a:effectLst>
            <a:outerShdw dist="53882" dir="2700000" algn="ctr" rotWithShape="0">
              <a:srgbClr val="0033CC">
                <a:alpha val="50000"/>
              </a:srgbClr>
            </a:outerShdw>
          </a:effectLst>
          <a:extLst>
            <a:ext uri="{91240B29-F687-4F45-9708-019B960494DF}">
              <a14:hiddenLine xmlns:a14="http://schemas.microsoft.com/office/drawing/2010/main" w="9525" algn="ctr">
                <a:solidFill>
                  <a:schemeClr val="tx1"/>
                </a:solidFill>
                <a:round/>
                <a:headEnd/>
                <a:tailEnd/>
              </a14:hiddenLine>
            </a:ext>
          </a:extLst>
        </p:spPr>
        <p:txBody>
          <a:bodyPr wrap="none" lIns="95457" tIns="47728" rIns="95457" bIns="47728" anchor="ctr"/>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47783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300">
                <a:solidFill>
                  <a:schemeClr val="bg1"/>
                </a:solidFill>
                <a:ea typeface="MS UI Gothic" panose="020B0600070205080204" pitchFamily="50" charset="-128"/>
              </a:rPr>
              <a:t>Lời mở đầu(1) </a:t>
            </a:r>
          </a:p>
        </p:txBody>
      </p:sp>
      <p:grpSp>
        <p:nvGrpSpPr>
          <p:cNvPr id="486450" name="Group 50">
            <a:extLst>
              <a:ext uri="{FF2B5EF4-FFF2-40B4-BE49-F238E27FC236}">
                <a16:creationId xmlns:a16="http://schemas.microsoft.com/office/drawing/2014/main" id="{DC5478B7-A1FF-1BFA-65A6-C5D5D5E98206}"/>
              </a:ext>
            </a:extLst>
          </p:cNvPr>
          <p:cNvGrpSpPr>
            <a:grpSpLocks/>
          </p:cNvGrpSpPr>
          <p:nvPr/>
        </p:nvGrpSpPr>
        <p:grpSpPr bwMode="auto">
          <a:xfrm>
            <a:off x="1666875" y="4765675"/>
            <a:ext cx="3087688" cy="2282825"/>
            <a:chOff x="1050" y="3002"/>
            <a:chExt cx="1945" cy="1438"/>
          </a:xfrm>
        </p:grpSpPr>
        <p:pic>
          <p:nvPicPr>
            <p:cNvPr id="486433" name="Picture 33">
              <a:extLst>
                <a:ext uri="{FF2B5EF4-FFF2-40B4-BE49-F238E27FC236}">
                  <a16:creationId xmlns:a16="http://schemas.microsoft.com/office/drawing/2014/main" id="{24321B69-9F0C-1883-D9FD-20F38D0961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0" y="3901"/>
              <a:ext cx="410" cy="422"/>
            </a:xfrm>
            <a:prstGeom prst="rect">
              <a:avLst/>
            </a:prstGeom>
            <a:noFill/>
            <a:extLst>
              <a:ext uri="{909E8E84-426E-40DD-AFC4-6F175D3DCCD1}">
                <a14:hiddenFill xmlns:a14="http://schemas.microsoft.com/office/drawing/2010/main">
                  <a:solidFill>
                    <a:srgbClr val="FFFFFF"/>
                  </a:solidFill>
                </a14:hiddenFill>
              </a:ext>
            </a:extLst>
          </p:spPr>
        </p:pic>
        <p:pic>
          <p:nvPicPr>
            <p:cNvPr id="486434" name="Picture 34">
              <a:extLst>
                <a:ext uri="{FF2B5EF4-FFF2-40B4-BE49-F238E27FC236}">
                  <a16:creationId xmlns:a16="http://schemas.microsoft.com/office/drawing/2014/main" id="{A3AF1C2B-BF1A-F8C8-97B0-E77AA1D5B3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3" y="3878"/>
              <a:ext cx="410" cy="434"/>
            </a:xfrm>
            <a:prstGeom prst="rect">
              <a:avLst/>
            </a:prstGeom>
            <a:noFill/>
            <a:extLst>
              <a:ext uri="{909E8E84-426E-40DD-AFC4-6F175D3DCCD1}">
                <a14:hiddenFill xmlns:a14="http://schemas.microsoft.com/office/drawing/2010/main">
                  <a:solidFill>
                    <a:srgbClr val="FFFFFF"/>
                  </a:solidFill>
                </a14:hiddenFill>
              </a:ext>
            </a:extLst>
          </p:spPr>
        </p:pic>
        <p:pic>
          <p:nvPicPr>
            <p:cNvPr id="486435" name="Picture 35">
              <a:extLst>
                <a:ext uri="{FF2B5EF4-FFF2-40B4-BE49-F238E27FC236}">
                  <a16:creationId xmlns:a16="http://schemas.microsoft.com/office/drawing/2014/main" id="{B5C54C41-DE19-0549-2E82-00A8CEC3FE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8" y="3903"/>
              <a:ext cx="379" cy="422"/>
            </a:xfrm>
            <a:prstGeom prst="rect">
              <a:avLst/>
            </a:prstGeom>
            <a:noFill/>
            <a:extLst>
              <a:ext uri="{909E8E84-426E-40DD-AFC4-6F175D3DCCD1}">
                <a14:hiddenFill xmlns:a14="http://schemas.microsoft.com/office/drawing/2010/main">
                  <a:solidFill>
                    <a:srgbClr val="FFFFFF"/>
                  </a:solidFill>
                </a14:hiddenFill>
              </a:ext>
            </a:extLst>
          </p:spPr>
        </p:pic>
        <p:pic>
          <p:nvPicPr>
            <p:cNvPr id="486436" name="Picture 36">
              <a:extLst>
                <a:ext uri="{FF2B5EF4-FFF2-40B4-BE49-F238E27FC236}">
                  <a16:creationId xmlns:a16="http://schemas.microsoft.com/office/drawing/2014/main" id="{6251970B-3056-A2C6-40C1-EE276D811C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1" y="3002"/>
              <a:ext cx="434" cy="439"/>
            </a:xfrm>
            <a:prstGeom prst="rect">
              <a:avLst/>
            </a:prstGeom>
            <a:noFill/>
            <a:extLst>
              <a:ext uri="{909E8E84-426E-40DD-AFC4-6F175D3DCCD1}">
                <a14:hiddenFill xmlns:a14="http://schemas.microsoft.com/office/drawing/2010/main">
                  <a:solidFill>
                    <a:srgbClr val="FFFFFF"/>
                  </a:solidFill>
                </a14:hiddenFill>
              </a:ext>
            </a:extLst>
          </p:spPr>
        </p:pic>
        <p:sp>
          <p:nvSpPr>
            <p:cNvPr id="486437" name="Text Box 37">
              <a:extLst>
                <a:ext uri="{FF2B5EF4-FFF2-40B4-BE49-F238E27FC236}">
                  <a16:creationId xmlns:a16="http://schemas.microsoft.com/office/drawing/2014/main" id="{1E915CF7-A041-32ED-4C5E-41EC425E9055}"/>
                </a:ext>
              </a:extLst>
            </p:cNvPr>
            <p:cNvSpPr txBox="1">
              <a:spLocks noChangeArrowheads="1"/>
            </p:cNvSpPr>
            <p:nvPr/>
          </p:nvSpPr>
          <p:spPr bwMode="auto">
            <a:xfrm>
              <a:off x="1722" y="3415"/>
              <a:ext cx="53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en-US" altLang="ja-JP">
                  <a:latin typeface="Times New Roman" panose="02020603050405020304" pitchFamily="18" charset="0"/>
                  <a:ea typeface="MS UI Gothic" panose="020B0600070205080204" pitchFamily="50" charset="-128"/>
                </a:rPr>
                <a:t>Nhân viên</a:t>
              </a:r>
            </a:p>
          </p:txBody>
        </p:sp>
        <p:sp>
          <p:nvSpPr>
            <p:cNvPr id="486438" name="Text Box 38">
              <a:extLst>
                <a:ext uri="{FF2B5EF4-FFF2-40B4-BE49-F238E27FC236}">
                  <a16:creationId xmlns:a16="http://schemas.microsoft.com/office/drawing/2014/main" id="{EAABD097-4C1B-BB57-14FB-BFD015ECEF06}"/>
                </a:ext>
              </a:extLst>
            </p:cNvPr>
            <p:cNvSpPr txBox="1">
              <a:spLocks noChangeArrowheads="1"/>
            </p:cNvSpPr>
            <p:nvPr/>
          </p:nvSpPr>
          <p:spPr bwMode="auto">
            <a:xfrm>
              <a:off x="2473" y="4285"/>
              <a:ext cx="52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en-US" altLang="ja-JP">
                  <a:latin typeface="Times New Roman" panose="02020603050405020304" pitchFamily="18" charset="0"/>
                  <a:ea typeface="MS UI Gothic" panose="020B0600070205080204" pitchFamily="50" charset="-128"/>
                </a:rPr>
                <a:t>Kế hoạch</a:t>
              </a:r>
            </a:p>
          </p:txBody>
        </p:sp>
        <p:sp>
          <p:nvSpPr>
            <p:cNvPr id="486439" name="Text Box 39">
              <a:extLst>
                <a:ext uri="{FF2B5EF4-FFF2-40B4-BE49-F238E27FC236}">
                  <a16:creationId xmlns:a16="http://schemas.microsoft.com/office/drawing/2014/main" id="{327A8F18-1388-9C79-F747-CD2DA4AA9AD7}"/>
                </a:ext>
              </a:extLst>
            </p:cNvPr>
            <p:cNvSpPr txBox="1">
              <a:spLocks noChangeArrowheads="1"/>
            </p:cNvSpPr>
            <p:nvPr/>
          </p:nvSpPr>
          <p:spPr bwMode="auto">
            <a:xfrm>
              <a:off x="1710" y="4285"/>
              <a:ext cx="529"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en-US" altLang="ja-JP">
                  <a:latin typeface="Times New Roman" panose="02020603050405020304" pitchFamily="18" charset="0"/>
                  <a:ea typeface="MS UI Gothic" panose="020B0600070205080204" pitchFamily="50" charset="-128"/>
                </a:rPr>
                <a:t>Kinh doanh</a:t>
              </a:r>
            </a:p>
          </p:txBody>
        </p:sp>
        <p:sp>
          <p:nvSpPr>
            <p:cNvPr id="486440" name="Text Box 40">
              <a:extLst>
                <a:ext uri="{FF2B5EF4-FFF2-40B4-BE49-F238E27FC236}">
                  <a16:creationId xmlns:a16="http://schemas.microsoft.com/office/drawing/2014/main" id="{AF87C6C5-D6AD-7457-9E13-27B9A8B16E3A}"/>
                </a:ext>
              </a:extLst>
            </p:cNvPr>
            <p:cNvSpPr txBox="1">
              <a:spLocks noChangeArrowheads="1"/>
            </p:cNvSpPr>
            <p:nvPr/>
          </p:nvSpPr>
          <p:spPr bwMode="auto">
            <a:xfrm>
              <a:off x="1170" y="4286"/>
              <a:ext cx="411"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ja-JP" altLang="en-US">
                  <a:latin typeface="Times New Roman" panose="02020603050405020304" pitchFamily="18" charset="0"/>
                  <a:ea typeface="MS UI Gothic" panose="020B0600070205080204" pitchFamily="50" charset="-128"/>
                </a:rPr>
                <a:t>ＳＥ</a:t>
              </a:r>
            </a:p>
          </p:txBody>
        </p:sp>
        <p:cxnSp>
          <p:nvCxnSpPr>
            <p:cNvPr id="486441" name="AutoShape 41">
              <a:extLst>
                <a:ext uri="{FF2B5EF4-FFF2-40B4-BE49-F238E27FC236}">
                  <a16:creationId xmlns:a16="http://schemas.microsoft.com/office/drawing/2014/main" id="{864805CE-EE60-2A5D-2EE7-88D598E12591}"/>
                </a:ext>
              </a:extLst>
            </p:cNvPr>
            <p:cNvCxnSpPr>
              <a:cxnSpLocks noChangeShapeType="1"/>
              <a:stCxn id="486434" idx="0"/>
              <a:endCxn id="486444" idx="3"/>
            </p:cNvCxnSpPr>
            <p:nvPr/>
          </p:nvCxnSpPr>
          <p:spPr bwMode="auto">
            <a:xfrm flipV="1">
              <a:off x="1918" y="3652"/>
              <a:ext cx="0" cy="22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6442" name="AutoShape 42">
              <a:extLst>
                <a:ext uri="{FF2B5EF4-FFF2-40B4-BE49-F238E27FC236}">
                  <a16:creationId xmlns:a16="http://schemas.microsoft.com/office/drawing/2014/main" id="{3199A44F-9F95-988B-B37D-49E78531E7EE}"/>
                </a:ext>
              </a:extLst>
            </p:cNvPr>
            <p:cNvCxnSpPr>
              <a:cxnSpLocks noChangeShapeType="1"/>
              <a:stCxn id="486433" idx="0"/>
              <a:endCxn id="486444" idx="3"/>
            </p:cNvCxnSpPr>
            <p:nvPr/>
          </p:nvCxnSpPr>
          <p:spPr bwMode="auto">
            <a:xfrm rot="16200000">
              <a:off x="1462" y="3445"/>
              <a:ext cx="249" cy="663"/>
            </a:xfrm>
            <a:prstGeom prst="bentConnector3">
              <a:avLst>
                <a:gd name="adj1" fmla="val 49889"/>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6443" name="AutoShape 43">
              <a:extLst>
                <a:ext uri="{FF2B5EF4-FFF2-40B4-BE49-F238E27FC236}">
                  <a16:creationId xmlns:a16="http://schemas.microsoft.com/office/drawing/2014/main" id="{C790403E-D987-DE0B-3098-E9579160A921}"/>
                </a:ext>
              </a:extLst>
            </p:cNvPr>
            <p:cNvCxnSpPr>
              <a:cxnSpLocks noChangeShapeType="1"/>
              <a:stCxn id="486435" idx="0"/>
              <a:endCxn id="486444" idx="3"/>
            </p:cNvCxnSpPr>
            <p:nvPr/>
          </p:nvCxnSpPr>
          <p:spPr bwMode="auto">
            <a:xfrm rot="5400000" flipH="1">
              <a:off x="2132" y="3438"/>
              <a:ext cx="251" cy="679"/>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6444" name="AutoShape 44">
              <a:extLst>
                <a:ext uri="{FF2B5EF4-FFF2-40B4-BE49-F238E27FC236}">
                  <a16:creationId xmlns:a16="http://schemas.microsoft.com/office/drawing/2014/main" id="{0451EF0A-716C-8338-F88B-7247B30F1C98}"/>
                </a:ext>
              </a:extLst>
            </p:cNvPr>
            <p:cNvSpPr>
              <a:spLocks noChangeArrowheads="1"/>
            </p:cNvSpPr>
            <p:nvPr/>
          </p:nvSpPr>
          <p:spPr bwMode="auto">
            <a:xfrm>
              <a:off x="1870" y="3573"/>
              <a:ext cx="97" cy="79"/>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sp>
        <p:nvSpPr>
          <p:cNvPr id="486445" name="AutoShape 45">
            <a:extLst>
              <a:ext uri="{FF2B5EF4-FFF2-40B4-BE49-F238E27FC236}">
                <a16:creationId xmlns:a16="http://schemas.microsoft.com/office/drawing/2014/main" id="{8FDBDB80-63D8-6733-B819-F7DA362132BA}"/>
              </a:ext>
            </a:extLst>
          </p:cNvPr>
          <p:cNvSpPr>
            <a:spLocks noChangeArrowheads="1"/>
          </p:cNvSpPr>
          <p:nvPr/>
        </p:nvSpPr>
        <p:spPr bwMode="auto">
          <a:xfrm>
            <a:off x="4005263" y="4902200"/>
            <a:ext cx="1409700" cy="341313"/>
          </a:xfrm>
          <a:prstGeom prst="wedgeRoundRectCallout">
            <a:avLst>
              <a:gd name="adj1" fmla="val -76801"/>
              <a:gd name="adj2" fmla="val 38370"/>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a:latin typeface="MS UI Gothic" panose="020B0600070205080204" pitchFamily="50" charset="-128"/>
                <a:ea typeface="MS UI Gothic" panose="020B0600070205080204" pitchFamily="50" charset="-128"/>
              </a:rPr>
              <a:t>Super class</a:t>
            </a:r>
          </a:p>
        </p:txBody>
      </p:sp>
      <p:sp>
        <p:nvSpPr>
          <p:cNvPr id="486446" name="AutoShape 46">
            <a:extLst>
              <a:ext uri="{FF2B5EF4-FFF2-40B4-BE49-F238E27FC236}">
                <a16:creationId xmlns:a16="http://schemas.microsoft.com/office/drawing/2014/main" id="{C37E41AA-B7A0-75FC-959A-10D96B4D6FBD}"/>
              </a:ext>
            </a:extLst>
          </p:cNvPr>
          <p:cNvSpPr>
            <a:spLocks noChangeArrowheads="1"/>
          </p:cNvSpPr>
          <p:nvPr/>
        </p:nvSpPr>
        <p:spPr bwMode="auto">
          <a:xfrm>
            <a:off x="1749425" y="7159625"/>
            <a:ext cx="2644775" cy="341313"/>
          </a:xfrm>
          <a:prstGeom prst="wedgeRoundRectCallout">
            <a:avLst>
              <a:gd name="adj1" fmla="val -3903"/>
              <a:gd name="adj2" fmla="val -11861"/>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a:latin typeface="MS UI Gothic" panose="020B0600070205080204" pitchFamily="50" charset="-128"/>
                <a:ea typeface="MS UI Gothic" panose="020B0600070205080204" pitchFamily="50" charset="-128"/>
              </a:rPr>
              <a:t>Subclass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Rectangle 2">
            <a:extLst>
              <a:ext uri="{FF2B5EF4-FFF2-40B4-BE49-F238E27FC236}">
                <a16:creationId xmlns:a16="http://schemas.microsoft.com/office/drawing/2014/main" id="{0E24C599-5E4C-7374-E8DA-11A0A005E1DC}"/>
              </a:ext>
            </a:extLst>
          </p:cNvPr>
          <p:cNvSpPr>
            <a:spLocks noRot="1" noChangeAspect="1" noChangeArrowheads="1" noTextEdit="1"/>
          </p:cNvSpPr>
          <p:nvPr>
            <p:ph type="sldImg"/>
          </p:nvPr>
        </p:nvSpPr>
        <p:spPr>
          <a:ln/>
        </p:spPr>
      </p:sp>
      <p:sp>
        <p:nvSpPr>
          <p:cNvPr id="570371" name="Rectangle 3">
            <a:extLst>
              <a:ext uri="{FF2B5EF4-FFF2-40B4-BE49-F238E27FC236}">
                <a16:creationId xmlns:a16="http://schemas.microsoft.com/office/drawing/2014/main" id="{0827A8B0-8F39-F375-09D8-0CD7F6E20BD0}"/>
              </a:ext>
            </a:extLst>
          </p:cNvPr>
          <p:cNvSpPr>
            <a:spLocks noGrp="1" noChangeArrowheads="1"/>
          </p:cNvSpPr>
          <p:nvPr>
            <p:ph type="body" idx="1"/>
          </p:nvPr>
        </p:nvSpPr>
        <p:spPr>
          <a:xfrm>
            <a:off x="733425" y="5203825"/>
            <a:ext cx="5635625" cy="4749800"/>
          </a:xfrm>
        </p:spPr>
        <p:txBody>
          <a:bodyPr/>
          <a:lstStyle/>
          <a:p>
            <a:pPr marL="0" indent="0" defTabSz="733425"/>
            <a:r>
              <a:rPr lang="en-US" altLang="ja-JP">
                <a:latin typeface="Arial" panose="020B0604020202020204" pitchFamily="34" charset="0"/>
              </a:rPr>
              <a:t>■ </a:t>
            </a:r>
            <a:r>
              <a:rPr lang="ja-JP" altLang="en-US">
                <a:latin typeface="Arial" panose="020B0604020202020204" pitchFamily="34" charset="0"/>
              </a:rPr>
              <a:t>　</a:t>
            </a:r>
            <a:r>
              <a:rPr lang="en-US" altLang="ja-JP">
                <a:latin typeface="Arial" panose="020B0604020202020204" pitchFamily="34" charset="0"/>
              </a:rPr>
              <a:t>Thừa kế</a:t>
            </a:r>
          </a:p>
          <a:p>
            <a:pPr marL="0" indent="0" defTabSz="733425"/>
            <a:r>
              <a:rPr lang="en-US" altLang="ja-JP">
                <a:latin typeface="Arial" panose="020B0604020202020204" pitchFamily="34" charset="0"/>
              </a:rPr>
              <a:t>  Kế thừa có quan hệ generation, thừa kế thuộc tính và thao tác của upper class (super class) sang lower class (sub class). Thừa kế là việc định nghĩa class mới thừa kế class có sẵn. </a:t>
            </a:r>
          </a:p>
          <a:p>
            <a:pPr marL="0" indent="0" defTabSz="733425"/>
            <a:r>
              <a:rPr lang="en-US" altLang="ja-JP">
                <a:latin typeface="Arial" panose="020B0604020202020204" pitchFamily="34" charset="0"/>
              </a:rPr>
              <a:t>  Gọi class có nh</a:t>
            </a:r>
            <a:r>
              <a:rPr lang="vi-VN" altLang="ja-JP">
                <a:latin typeface="Arial" panose="020B0604020202020204" pitchFamily="34" charset="0"/>
              </a:rPr>
              <a:t>ững yếu tố chung là super class, và</a:t>
            </a:r>
            <a:r>
              <a:rPr lang="en-US" altLang="ja-JP">
                <a:latin typeface="Arial" panose="020B0604020202020204" pitchFamily="34" charset="0"/>
              </a:rPr>
              <a:t> gọi</a:t>
            </a:r>
            <a:r>
              <a:rPr lang="vi-VN" altLang="ja-JP">
                <a:latin typeface="Arial" panose="020B0604020202020204" pitchFamily="34" charset="0"/>
              </a:rPr>
              <a:t> những class</a:t>
            </a:r>
            <a:r>
              <a:rPr lang="en-US" altLang="ja-JP">
                <a:latin typeface="Arial" panose="020B0604020202020204" pitchFamily="34" charset="0"/>
              </a:rPr>
              <a:t> có</a:t>
            </a:r>
            <a:r>
              <a:rPr lang="vi-VN" altLang="ja-JP">
                <a:latin typeface="Arial" panose="020B0604020202020204" pitchFamily="34" charset="0"/>
              </a:rPr>
              <a:t> add thêm </a:t>
            </a:r>
            <a:r>
              <a:rPr lang="en-US" altLang="ja-JP">
                <a:latin typeface="Arial" panose="020B0604020202020204" pitchFamily="34" charset="0"/>
              </a:rPr>
              <a:t>vào </a:t>
            </a:r>
            <a:r>
              <a:rPr lang="vi-VN" altLang="ja-JP">
                <a:latin typeface="Arial" panose="020B0604020202020204" pitchFamily="34" charset="0"/>
              </a:rPr>
              <a:t>các chức năng </a:t>
            </a:r>
            <a:r>
              <a:rPr lang="en-US" altLang="ja-JP">
                <a:latin typeface="Arial" panose="020B0604020202020204" pitchFamily="34" charset="0"/>
              </a:rPr>
              <a:t>riêng biệt</a:t>
            </a:r>
            <a:r>
              <a:rPr lang="vi-VN" altLang="ja-JP">
                <a:latin typeface="Arial" panose="020B0604020202020204" pitchFamily="34" charset="0"/>
              </a:rPr>
              <a:t> là sub class. </a:t>
            </a:r>
          </a:p>
          <a:p>
            <a:pPr marL="0" indent="0" defTabSz="733425"/>
            <a:r>
              <a:rPr lang="en-US" altLang="ja-JP">
                <a:latin typeface="Arial" panose="020B0604020202020204" pitchFamily="34" charset="0"/>
              </a:rPr>
              <a:t>  </a:t>
            </a:r>
            <a:r>
              <a:rPr lang="vi-VN" altLang="ja-JP">
                <a:latin typeface="Arial" panose="020B0604020202020204" pitchFamily="34" charset="0"/>
              </a:rPr>
              <a:t>Cũng có cách gọi khác super class thì gọi là class cha, class cơ sở</a:t>
            </a:r>
            <a:r>
              <a:rPr lang="en-US" altLang="ja-JP">
                <a:latin typeface="Arial" panose="020B0604020202020204" pitchFamily="34" charset="0"/>
              </a:rPr>
              <a:t> (base class)</a:t>
            </a:r>
            <a:r>
              <a:rPr lang="vi-VN" altLang="ja-JP">
                <a:latin typeface="Arial" panose="020B0604020202020204" pitchFamily="34" charset="0"/>
              </a:rPr>
              <a:t>. </a:t>
            </a:r>
          </a:p>
          <a:p>
            <a:pPr marL="0" indent="0" defTabSz="733425"/>
            <a:r>
              <a:rPr lang="en-US" altLang="ja-JP">
                <a:latin typeface="Arial" panose="020B0604020202020204" pitchFamily="34" charset="0"/>
              </a:rPr>
              <a:t>  </a:t>
            </a:r>
            <a:r>
              <a:rPr lang="vi-VN" altLang="ja-JP">
                <a:latin typeface="Arial" panose="020B0604020202020204" pitchFamily="34" charset="0"/>
              </a:rPr>
              <a:t>Và sub class là class con, class phái sinh. </a:t>
            </a:r>
            <a:endParaRPr lang="en-US" altLang="ja-JP">
              <a:latin typeface="Arial" panose="020B0604020202020204" pitchFamily="34" charset="0"/>
            </a:endParaRPr>
          </a:p>
          <a:p>
            <a:pPr marL="0" indent="0" defTabSz="733425"/>
            <a:endParaRPr lang="vi-VN" altLang="ja-JP">
              <a:latin typeface="Arial" panose="020B0604020202020204" pitchFamily="34" charset="0"/>
            </a:endParaRPr>
          </a:p>
          <a:p>
            <a:pPr marL="0" indent="0" defTabSz="733425"/>
            <a:r>
              <a:rPr lang="ja-JP" altLang="vi-VN">
                <a:latin typeface="Arial" panose="020B0604020202020204" pitchFamily="34" charset="0"/>
              </a:rPr>
              <a:t>　</a:t>
            </a:r>
            <a:r>
              <a:rPr lang="en-US" altLang="ja-JP">
                <a:latin typeface="Arial" panose="020B0604020202020204" pitchFamily="34" charset="0"/>
              </a:rPr>
              <a:t>Khi s</a:t>
            </a:r>
            <a:r>
              <a:rPr lang="vi-VN" altLang="ja-JP">
                <a:latin typeface="Arial" panose="020B0604020202020204" pitchFamily="34" charset="0"/>
              </a:rPr>
              <a:t>ử dụng thừa kế</a:t>
            </a:r>
            <a:r>
              <a:rPr lang="en-US" altLang="ja-JP">
                <a:latin typeface="Arial" panose="020B0604020202020204" pitchFamily="34" charset="0"/>
              </a:rPr>
              <a:t>, </a:t>
            </a:r>
            <a:r>
              <a:rPr lang="vi-VN" altLang="ja-JP">
                <a:latin typeface="Arial" panose="020B0604020202020204" pitchFamily="34" charset="0"/>
              </a:rPr>
              <a:t>có thể mở rộng chức năng của các class có sẵn.</a:t>
            </a:r>
          </a:p>
          <a:p>
            <a:pPr marL="0" indent="0" defTabSz="733425"/>
            <a:r>
              <a:rPr lang="ja-JP" altLang="vi-VN">
                <a:latin typeface="Arial" panose="020B0604020202020204" pitchFamily="34" charset="0"/>
              </a:rPr>
              <a:t>　</a:t>
            </a:r>
          </a:p>
          <a:p>
            <a:pPr marL="0" indent="0" defTabSz="733425"/>
            <a:r>
              <a:rPr lang="ja-JP" altLang="vi-VN">
                <a:latin typeface="Arial" panose="020B0604020202020204" pitchFamily="34" charset="0"/>
              </a:rPr>
              <a:t>●　</a:t>
            </a:r>
            <a:r>
              <a:rPr lang="en-US" altLang="ja-JP">
                <a:latin typeface="Arial" panose="020B0604020202020204" pitchFamily="34" charset="0"/>
              </a:rPr>
              <a:t>Những điều mà </a:t>
            </a:r>
            <a:r>
              <a:rPr lang="vi-VN" altLang="ja-JP">
                <a:latin typeface="Arial" panose="020B0604020202020204" pitchFamily="34" charset="0"/>
              </a:rPr>
              <a:t>sub class có thể </a:t>
            </a:r>
            <a:r>
              <a:rPr lang="en-US" altLang="ja-JP">
                <a:latin typeface="Arial" panose="020B0604020202020204" pitchFamily="34" charset="0"/>
              </a:rPr>
              <a:t>thực hiện</a:t>
            </a:r>
            <a:r>
              <a:rPr lang="vi-VN" altLang="ja-JP">
                <a:latin typeface="Arial" panose="020B0604020202020204" pitchFamily="34" charset="0"/>
              </a:rPr>
              <a:t> </a:t>
            </a:r>
          </a:p>
          <a:p>
            <a:pPr marL="0" indent="0" defTabSz="733425"/>
            <a:r>
              <a:rPr lang="ja-JP" altLang="vi-VN">
                <a:latin typeface="Arial" panose="020B0604020202020204" pitchFamily="34" charset="0"/>
              </a:rPr>
              <a:t>・</a:t>
            </a:r>
            <a:r>
              <a:rPr lang="vi-VN" altLang="ja-JP">
                <a:latin typeface="Arial" panose="020B0604020202020204" pitchFamily="34" charset="0"/>
              </a:rPr>
              <a:t>Sub class có thể thừa kế tính chất của super class (Thuộc tính và thao tác). </a:t>
            </a:r>
          </a:p>
          <a:p>
            <a:pPr marL="0" indent="0" defTabSz="733425"/>
            <a:r>
              <a:rPr lang="ja-JP" altLang="vi-VN">
                <a:latin typeface="Arial" panose="020B0604020202020204" pitchFamily="34" charset="0"/>
              </a:rPr>
              <a:t>・</a:t>
            </a:r>
            <a:r>
              <a:rPr lang="vi-VN" altLang="ja-JP">
                <a:latin typeface="Arial" panose="020B0604020202020204" pitchFamily="34" charset="0"/>
              </a:rPr>
              <a:t>Sub class có thể add thêm tính chất mới mà super class không có (Thuộc tính và thao tác). </a:t>
            </a:r>
          </a:p>
          <a:p>
            <a:pPr marL="0" indent="0" defTabSz="733425"/>
            <a:r>
              <a:rPr lang="ja-JP" altLang="vi-VN">
                <a:latin typeface="Arial" panose="020B0604020202020204" pitchFamily="34" charset="0"/>
              </a:rPr>
              <a:t>・</a:t>
            </a:r>
            <a:r>
              <a:rPr lang="vi-VN" altLang="ja-JP">
                <a:latin typeface="Arial" panose="020B0604020202020204" pitchFamily="34" charset="0"/>
              </a:rPr>
              <a:t>Sub class không thừa kế tính chất của super class, mà </a:t>
            </a:r>
            <a:r>
              <a:rPr lang="en-US" altLang="ja-JP">
                <a:latin typeface="Arial" panose="020B0604020202020204" pitchFamily="34" charset="0"/>
              </a:rPr>
              <a:t>có thể </a:t>
            </a:r>
            <a:r>
              <a:rPr lang="vi-VN" altLang="ja-JP">
                <a:latin typeface="Arial" panose="020B0604020202020204" pitchFamily="34" charset="0"/>
              </a:rPr>
              <a:t>định nghĩa lại (</a:t>
            </a:r>
            <a:r>
              <a:rPr lang="en-US" altLang="ja-JP">
                <a:latin typeface="Arial" panose="020B0604020202020204" pitchFamily="34" charset="0"/>
              </a:rPr>
              <a:t>thay</a:t>
            </a:r>
            <a:r>
              <a:rPr lang="vi-VN" altLang="ja-JP">
                <a:latin typeface="Arial" panose="020B0604020202020204" pitchFamily="34" charset="0"/>
              </a:rPr>
              <a:t> </a:t>
            </a:r>
            <a:r>
              <a:rPr lang="en-US" altLang="ja-JP">
                <a:latin typeface="Arial" panose="020B0604020202020204" pitchFamily="34" charset="0"/>
              </a:rPr>
              <a:t>sang </a:t>
            </a:r>
            <a:r>
              <a:rPr lang="vi-VN" altLang="ja-JP">
                <a:latin typeface="Arial" panose="020B0604020202020204" pitchFamily="34" charset="0"/>
              </a:rPr>
              <a:t>một </a:t>
            </a:r>
            <a:r>
              <a:rPr lang="en-US" altLang="ja-JP">
                <a:latin typeface="Arial" panose="020B0604020202020204" pitchFamily="34" charset="0"/>
              </a:rPr>
              <a:t>tính chất riêng</a:t>
            </a:r>
            <a:r>
              <a:rPr lang="vi-VN" altLang="ja-JP">
                <a:latin typeface="Arial" panose="020B0604020202020204" pitchFamily="34" charset="0"/>
              </a:rPr>
              <a:t>, override). </a:t>
            </a:r>
            <a:endParaRPr lang="en-US" altLang="ja-JP">
              <a:latin typeface="Arial" panose="020B0604020202020204" pitchFamily="34" charset="0"/>
            </a:endParaRPr>
          </a:p>
          <a:p>
            <a:pPr marL="0" indent="0" defTabSz="733425"/>
            <a:endParaRPr lang="vi-VN" altLang="ja-JP">
              <a:latin typeface="Arial" panose="020B0604020202020204" pitchFamily="34" charset="0"/>
            </a:endParaRPr>
          </a:p>
          <a:p>
            <a:pPr marL="0" indent="0" defTabSz="733425"/>
            <a:r>
              <a:rPr lang="vi-VN" altLang="ja-JP">
                <a:latin typeface="Arial" panose="020B0604020202020204" pitchFamily="34" charset="0"/>
              </a:rPr>
              <a:t>●</a:t>
            </a:r>
            <a:r>
              <a:rPr lang="ja-JP" altLang="vi-VN">
                <a:latin typeface="Arial" panose="020B0604020202020204" pitchFamily="34" charset="0"/>
              </a:rPr>
              <a:t>　</a:t>
            </a:r>
            <a:r>
              <a:rPr lang="en-US" altLang="ja-JP">
                <a:latin typeface="Arial" panose="020B0604020202020204" pitchFamily="34" charset="0"/>
              </a:rPr>
              <a:t>Thừa kế </a:t>
            </a:r>
            <a:r>
              <a:rPr lang="vi-VN" altLang="ja-JP">
                <a:latin typeface="Arial" panose="020B0604020202020204" pitchFamily="34" charset="0"/>
              </a:rPr>
              <a:t>trong </a:t>
            </a:r>
            <a:r>
              <a:rPr lang="en-US" altLang="ja-JP">
                <a:latin typeface="Arial" panose="020B0604020202020204" pitchFamily="34" charset="0"/>
              </a:rPr>
              <a:t>Java</a:t>
            </a:r>
          </a:p>
          <a:p>
            <a:pPr marL="0" indent="0" defTabSz="733425"/>
            <a:r>
              <a:rPr lang="ja-JP" altLang="en-US">
                <a:latin typeface="Arial" panose="020B0604020202020204" pitchFamily="34" charset="0"/>
              </a:rPr>
              <a:t>　</a:t>
            </a:r>
            <a:r>
              <a:rPr lang="en-US" altLang="ja-JP">
                <a:latin typeface="Arial" panose="020B0604020202020204" pitchFamily="34" charset="0"/>
              </a:rPr>
              <a:t>Đ</a:t>
            </a:r>
            <a:r>
              <a:rPr lang="vi-VN" altLang="ja-JP">
                <a:latin typeface="Arial" panose="020B0604020202020204" pitchFamily="34" charset="0"/>
              </a:rPr>
              <a:t>ơn thừa kế là thừa kế mà 1 class nào đó (Sub class) có thể thừa kế trực tiếp </a:t>
            </a:r>
            <a:r>
              <a:rPr lang="en-US" altLang="ja-JP">
                <a:latin typeface="Arial" panose="020B0604020202020204" pitchFamily="34" charset="0"/>
              </a:rPr>
              <a:t>chỉ từ 1 supper class</a:t>
            </a:r>
            <a:r>
              <a:rPr lang="vi-VN" altLang="ja-JP">
                <a:latin typeface="Arial" panose="020B0604020202020204" pitchFamily="34" charset="0"/>
              </a:rPr>
              <a:t>. </a:t>
            </a:r>
          </a:p>
          <a:p>
            <a:pPr marL="0" indent="0" defTabSz="733425"/>
            <a:r>
              <a:rPr lang="vi-VN" altLang="ja-JP">
                <a:latin typeface="Arial" panose="020B0604020202020204" pitchFamily="34" charset="0"/>
              </a:rPr>
              <a:t>Java chỉ support đơn thừa kế. </a:t>
            </a:r>
            <a:endParaRPr lang="en-US" altLang="ja-JP">
              <a:latin typeface="Arial" panose="020B0604020202020204" pitchFamily="34" charset="0"/>
            </a:endParaRPr>
          </a:p>
          <a:p>
            <a:pPr marL="0" indent="0" defTabSz="733425"/>
            <a:endParaRPr lang="en-US" altLang="ja-JP">
              <a:latin typeface="Arial" panose="020B0604020202020204" pitchFamily="34" charset="0"/>
            </a:endParaRPr>
          </a:p>
          <a:p>
            <a:pPr marL="0" indent="0" defTabSz="733425"/>
            <a:endParaRPr lang="en-US" altLang="ja-JP">
              <a:latin typeface="Arial" panose="020B0604020202020204" pitchFamily="34" charset="0"/>
            </a:endParaRPr>
          </a:p>
          <a:p>
            <a:pPr marL="0" indent="0" defTabSz="733425"/>
            <a:endParaRPr lang="en-US" altLang="ja-JP">
              <a:latin typeface="Arial" panose="020B0604020202020204" pitchFamily="34" charset="0"/>
            </a:endParaRPr>
          </a:p>
          <a:p>
            <a:pPr marL="0" indent="0" defTabSz="733425"/>
            <a:endParaRPr lang="en-US" altLang="ja-JP">
              <a:latin typeface="Arial" panose="020B0604020202020204" pitchFamily="34" charset="0"/>
            </a:endParaRPr>
          </a:p>
          <a:p>
            <a:pPr marL="0" indent="0" defTabSz="733425"/>
            <a:endParaRPr lang="en-US" altLang="ja-JP">
              <a:latin typeface="Arial" panose="020B0604020202020204" pitchFamily="34" charset="0"/>
            </a:endParaRPr>
          </a:p>
          <a:p>
            <a:pPr marL="0" indent="0" defTabSz="733425"/>
            <a:endParaRPr lang="en-US" altLang="ja-JP">
              <a:latin typeface="Arial" panose="020B0604020202020204" pitchFamily="34" charset="0"/>
            </a:endParaRPr>
          </a:p>
          <a:p>
            <a:pPr marL="0" indent="0" defTabSz="733425"/>
            <a:endParaRPr lang="en-US" altLang="ja-JP">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a:extLst>
              <a:ext uri="{FF2B5EF4-FFF2-40B4-BE49-F238E27FC236}">
                <a16:creationId xmlns:a16="http://schemas.microsoft.com/office/drawing/2014/main" id="{8F413AD7-2A46-3E44-ADE2-714A8EB27F79}"/>
              </a:ext>
            </a:extLst>
          </p:cNvPr>
          <p:cNvSpPr>
            <a:spLocks noRot="1" noChangeAspect="1" noChangeArrowheads="1" noTextEdit="1"/>
          </p:cNvSpPr>
          <p:nvPr>
            <p:ph type="sldImg"/>
          </p:nvPr>
        </p:nvSpPr>
        <p:spPr>
          <a:ln/>
        </p:spPr>
      </p:sp>
      <p:sp>
        <p:nvSpPr>
          <p:cNvPr id="369667" name="Rectangle 3">
            <a:extLst>
              <a:ext uri="{FF2B5EF4-FFF2-40B4-BE49-F238E27FC236}">
                <a16:creationId xmlns:a16="http://schemas.microsoft.com/office/drawing/2014/main" id="{79828B53-30EE-C6D7-95C2-ED5A8D0DC230}"/>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Định nghĩa super class</a:t>
            </a:r>
          </a:p>
          <a:p>
            <a:pPr marL="0" indent="0"/>
            <a:r>
              <a:rPr lang="en-US" altLang="ja-JP">
                <a:latin typeface="Arial" panose="020B0604020202020204" pitchFamily="34" charset="0"/>
              </a:rPr>
              <a:t>  Trong số những class có quan hệ thừa kế, gọi những class định nghĩa yếu tố phổ biến chung là super class.</a:t>
            </a:r>
            <a:br>
              <a:rPr lang="en-US" altLang="ja-JP">
                <a:latin typeface="Arial" panose="020B0604020202020204" pitchFamily="34" charset="0"/>
              </a:rPr>
            </a:br>
            <a:r>
              <a:rPr lang="en-US" altLang="ja-JP">
                <a:latin typeface="Arial" panose="020B0604020202020204" pitchFamily="34" charset="0"/>
              </a:rPr>
              <a:t>  Trong trường hợp thực hiện thừa kế thì đầu tiên là tạo super class. </a:t>
            </a:r>
            <a:br>
              <a:rPr lang="en-US" altLang="ja-JP">
                <a:latin typeface="Arial" panose="020B0604020202020204" pitchFamily="34" charset="0"/>
              </a:rPr>
            </a:br>
            <a:r>
              <a:rPr lang="en-US" altLang="ja-JP">
                <a:latin typeface="Arial" panose="020B0604020202020204" pitchFamily="34" charset="0"/>
              </a:rPr>
              <a:t>  Định nghĩa super class sẽ hoàn toàn giống với trường hợp định nghĩa class thông thường. </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Protected modifier </a:t>
            </a:r>
          </a:p>
          <a:p>
            <a:pPr marL="0" indent="0"/>
            <a:r>
              <a:rPr lang="en-US" altLang="ja-JP">
                <a:latin typeface="Arial" panose="020B0604020202020204" pitchFamily="34" charset="0"/>
              </a:rPr>
              <a:t>  Khi chỉ định protected modifier, để định nghĩa thuộc tính và thao tác của super class thì khi định nghĩa sub class, có thể access trực tiếp.</a:t>
            </a:r>
          </a:p>
          <a:p>
            <a:pPr marL="0" indent="0"/>
            <a:r>
              <a:rPr lang="en-US" altLang="ja-JP">
                <a:latin typeface="Arial" panose="020B0604020202020204" pitchFamily="34" charset="0"/>
              </a:rPr>
              <a:t>  Ví dụ: Trong trường hợp cần access trực tiếp vào thuộc tính super class khi định nghĩa constructor và method của sub class, thì chỉ định protected thay vì private cho thuộc tính của super class. </a:t>
            </a: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Định nghĩa super class</a:t>
            </a:r>
            <a:r>
              <a:rPr lang="ja-JP" altLang="en-US">
                <a:latin typeface="Arial" panose="020B0604020202020204" pitchFamily="34" charset="0"/>
              </a:rPr>
              <a:t>（</a:t>
            </a:r>
            <a:r>
              <a:rPr lang="en-US" altLang="ja-JP">
                <a:latin typeface="Arial" panose="020B0604020202020204" pitchFamily="34" charset="0"/>
              </a:rPr>
              <a:t>Employee</a:t>
            </a:r>
            <a:r>
              <a:rPr lang="ja-JP" altLang="en-US">
                <a:latin typeface="Arial" panose="020B0604020202020204" pitchFamily="34" charset="0"/>
              </a:rPr>
              <a:t>）</a:t>
            </a:r>
          </a:p>
          <a:p>
            <a:pPr marL="0" indent="0"/>
            <a:endParaRPr lang="ja-JP" altLang="en-US">
              <a:latin typeface="Arial" panose="020B0604020202020204" pitchFamily="34" charset="0"/>
            </a:endParaRPr>
          </a:p>
          <a:p>
            <a:pPr marL="0" indent="0"/>
            <a:endParaRPr lang="en-US" altLang="ja-JP">
              <a:latin typeface="Arial" panose="020B0604020202020204" pitchFamily="34" charset="0"/>
            </a:endParaRPr>
          </a:p>
        </p:txBody>
      </p:sp>
      <p:grpSp>
        <p:nvGrpSpPr>
          <p:cNvPr id="369735" name="Group 71">
            <a:extLst>
              <a:ext uri="{FF2B5EF4-FFF2-40B4-BE49-F238E27FC236}">
                <a16:creationId xmlns:a16="http://schemas.microsoft.com/office/drawing/2014/main" id="{FB6BB5ED-F3AD-A155-AFEC-CA427E81AF58}"/>
              </a:ext>
            </a:extLst>
          </p:cNvPr>
          <p:cNvGrpSpPr>
            <a:grpSpLocks/>
          </p:cNvGrpSpPr>
          <p:nvPr/>
        </p:nvGrpSpPr>
        <p:grpSpPr bwMode="auto">
          <a:xfrm>
            <a:off x="1014413" y="7394575"/>
            <a:ext cx="2520950" cy="1766888"/>
            <a:chOff x="639" y="4658"/>
            <a:chExt cx="1588" cy="1113"/>
          </a:xfrm>
        </p:grpSpPr>
        <p:sp>
          <p:nvSpPr>
            <p:cNvPr id="369731" name="Text Box 67">
              <a:extLst>
                <a:ext uri="{FF2B5EF4-FFF2-40B4-BE49-F238E27FC236}">
                  <a16:creationId xmlns:a16="http://schemas.microsoft.com/office/drawing/2014/main" id="{431332A1-9D25-6958-FB7D-6B8F94E8AA48}"/>
                </a:ext>
              </a:extLst>
            </p:cNvPr>
            <p:cNvSpPr txBox="1">
              <a:spLocks noChangeArrowheads="1"/>
            </p:cNvSpPr>
            <p:nvPr/>
          </p:nvSpPr>
          <p:spPr bwMode="auto">
            <a:xfrm>
              <a:off x="639" y="4658"/>
              <a:ext cx="1587" cy="1113"/>
            </a:xfrm>
            <a:prstGeom prst="rect">
              <a:avLst/>
            </a:prstGeom>
            <a:solidFill>
              <a:srgbClr val="FFFFCC">
                <a:alpha val="50999"/>
              </a:srgbClr>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5994" tIns="35994" rIns="35994" bIns="35994"/>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en-US" altLang="ja-JP" b="0">
                  <a:ea typeface="ＭＳ ゴシック" panose="020B0609070205080204" pitchFamily="49" charset="-128"/>
                </a:rPr>
                <a:t>Employee</a:t>
              </a:r>
            </a:p>
            <a:p>
              <a:pPr algn="just"/>
              <a:endParaRPr lang="en-US" altLang="ja-JP" b="0">
                <a:ea typeface="ＭＳ ゴシック" panose="020B0609070205080204" pitchFamily="49" charset="-128"/>
              </a:endParaRPr>
            </a:p>
            <a:p>
              <a:pPr algn="just"/>
              <a:r>
                <a:rPr lang="en-US" altLang="ja-JP" b="0">
                  <a:ea typeface="ＭＳ ゴシック" panose="020B0609070205080204" pitchFamily="49" charset="-128"/>
                </a:rPr>
                <a:t>Thuộc tính</a:t>
              </a:r>
              <a:r>
                <a:rPr lang="ja-JP" altLang="en-US" b="0">
                  <a:ea typeface="ＭＳ ゴシック" panose="020B0609070205080204" pitchFamily="49" charset="-128"/>
                </a:rPr>
                <a:t>：</a:t>
              </a:r>
            </a:p>
            <a:p>
              <a:pPr algn="just"/>
              <a:r>
                <a:rPr lang="ja-JP" altLang="en-US" b="0">
                  <a:ea typeface="ＭＳ ゴシック" panose="020B0609070205080204" pitchFamily="49" charset="-128"/>
                </a:rPr>
                <a:t>　</a:t>
              </a:r>
              <a:r>
                <a:rPr lang="en-US" altLang="ja-JP" b="0">
                  <a:ea typeface="ＭＳ ゴシック" panose="020B0609070205080204" pitchFamily="49" charset="-128"/>
                </a:rPr>
                <a:t>empId:String</a:t>
              </a:r>
            </a:p>
            <a:p>
              <a:pPr algn="just"/>
              <a:r>
                <a:rPr lang="ja-JP" altLang="en-US" b="0">
                  <a:ea typeface="ＭＳ ゴシック" panose="020B0609070205080204" pitchFamily="49" charset="-128"/>
                </a:rPr>
                <a:t>　</a:t>
              </a:r>
              <a:r>
                <a:rPr lang="en-US" altLang="ja-JP" b="0">
                  <a:ea typeface="ＭＳ ゴシック" panose="020B0609070205080204" pitchFamily="49" charset="-128"/>
                </a:rPr>
                <a:t>empName:String</a:t>
              </a:r>
            </a:p>
            <a:p>
              <a:pPr algn="just"/>
              <a:endParaRPr lang="en-US" altLang="ja-JP" b="0">
                <a:ea typeface="ＭＳ ゴシック" panose="020B0609070205080204" pitchFamily="49" charset="-128"/>
              </a:endParaRPr>
            </a:p>
            <a:p>
              <a:pPr algn="just"/>
              <a:r>
                <a:rPr lang="en-US" altLang="ja-JP" b="0">
                  <a:ea typeface="ＭＳ ゴシック" panose="020B0609070205080204" pitchFamily="49" charset="-128"/>
                </a:rPr>
                <a:t>Thao tác</a:t>
              </a:r>
              <a:r>
                <a:rPr lang="ja-JP" altLang="en-US" b="0">
                  <a:ea typeface="ＭＳ ゴシック" panose="020B0609070205080204" pitchFamily="49" charset="-128"/>
                </a:rPr>
                <a:t>：</a:t>
              </a:r>
            </a:p>
            <a:p>
              <a:pPr algn="just"/>
              <a:r>
                <a:rPr lang="ja-JP" altLang="en-US" b="0">
                  <a:ea typeface="ＭＳ ゴシック" panose="020B0609070205080204" pitchFamily="49" charset="-128"/>
                </a:rPr>
                <a:t>　</a:t>
              </a:r>
              <a:r>
                <a:rPr lang="en-US" altLang="ja-JP" b="0">
                  <a:ea typeface="ＭＳ ゴシック" panose="020B0609070205080204" pitchFamily="49" charset="-128"/>
                </a:rPr>
                <a:t>Employee()</a:t>
              </a:r>
            </a:p>
            <a:p>
              <a:pPr algn="just"/>
              <a:r>
                <a:rPr lang="ja-JP" altLang="en-US" b="0">
                  <a:ea typeface="ＭＳ ゴシック" panose="020B0609070205080204" pitchFamily="49" charset="-128"/>
                </a:rPr>
                <a:t>　</a:t>
              </a:r>
              <a:r>
                <a:rPr lang="en-US" altLang="ja-JP" b="0">
                  <a:ea typeface="ＭＳ ゴシック" panose="020B0609070205080204" pitchFamily="49" charset="-128"/>
                </a:rPr>
                <a:t>Employee(id:String, ename:String)</a:t>
              </a:r>
            </a:p>
            <a:p>
              <a:pPr algn="just"/>
              <a:r>
                <a:rPr lang="ja-JP" altLang="en-US" b="0">
                  <a:ea typeface="ＭＳ ゴシック" panose="020B0609070205080204" pitchFamily="49" charset="-128"/>
                </a:rPr>
                <a:t>　</a:t>
              </a:r>
              <a:r>
                <a:rPr lang="en-US" altLang="ja-JP" b="0">
                  <a:ea typeface="ＭＳ ゴシック" panose="020B0609070205080204" pitchFamily="49" charset="-128"/>
                </a:rPr>
                <a:t>printInfo():void</a:t>
              </a:r>
            </a:p>
          </p:txBody>
        </p:sp>
        <p:sp>
          <p:nvSpPr>
            <p:cNvPr id="369732" name="Line 68">
              <a:extLst>
                <a:ext uri="{FF2B5EF4-FFF2-40B4-BE49-F238E27FC236}">
                  <a16:creationId xmlns:a16="http://schemas.microsoft.com/office/drawing/2014/main" id="{936064B7-4122-8556-48FB-F24A19622D44}"/>
                </a:ext>
              </a:extLst>
            </p:cNvPr>
            <p:cNvSpPr>
              <a:spLocks noChangeShapeType="1"/>
            </p:cNvSpPr>
            <p:nvPr/>
          </p:nvSpPr>
          <p:spPr bwMode="auto">
            <a:xfrm>
              <a:off x="640" y="4836"/>
              <a:ext cx="1587"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sp>
          <p:nvSpPr>
            <p:cNvPr id="369733" name="Line 69">
              <a:extLst>
                <a:ext uri="{FF2B5EF4-FFF2-40B4-BE49-F238E27FC236}">
                  <a16:creationId xmlns:a16="http://schemas.microsoft.com/office/drawing/2014/main" id="{4C94E14E-EFCE-408A-7397-D68687139491}"/>
                </a:ext>
              </a:extLst>
            </p:cNvPr>
            <p:cNvSpPr>
              <a:spLocks noChangeShapeType="1"/>
            </p:cNvSpPr>
            <p:nvPr/>
          </p:nvSpPr>
          <p:spPr bwMode="auto">
            <a:xfrm>
              <a:off x="640" y="5217"/>
              <a:ext cx="1587"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36000"/>
            <a:lstStyle/>
            <a:p>
              <a:endParaRPr lang="ja-JP" altLang="en-US"/>
            </a:p>
          </p:txBody>
        </p:sp>
      </p:gr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a:extLst>
              <a:ext uri="{FF2B5EF4-FFF2-40B4-BE49-F238E27FC236}">
                <a16:creationId xmlns:a16="http://schemas.microsoft.com/office/drawing/2014/main" id="{3BFDB9F8-0A14-F728-A67B-3068070A155A}"/>
              </a:ext>
            </a:extLst>
          </p:cNvPr>
          <p:cNvSpPr>
            <a:spLocks noRot="1" noChangeAspect="1" noChangeArrowheads="1" noTextEdit="1"/>
          </p:cNvSpPr>
          <p:nvPr>
            <p:ph type="sldImg"/>
          </p:nvPr>
        </p:nvSpPr>
        <p:spPr>
          <a:xfrm>
            <a:off x="530225" y="835025"/>
            <a:ext cx="6024563" cy="4170363"/>
          </a:xfrm>
          <a:ln/>
        </p:spPr>
      </p:sp>
      <p:sp>
        <p:nvSpPr>
          <p:cNvPr id="502787" name="Rectangle 3">
            <a:extLst>
              <a:ext uri="{FF2B5EF4-FFF2-40B4-BE49-F238E27FC236}">
                <a16:creationId xmlns:a16="http://schemas.microsoft.com/office/drawing/2014/main" id="{CA2DF263-629C-1DCE-1BE8-B6BBA06AB82A}"/>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Định nghĩa sub class</a:t>
            </a:r>
          </a:p>
          <a:p>
            <a:pPr marL="0" indent="0"/>
            <a:r>
              <a:rPr lang="ja-JP" altLang="en-US">
                <a:latin typeface="Arial" panose="020B0604020202020204" pitchFamily="34" charset="0"/>
              </a:rPr>
              <a:t>　</a:t>
            </a:r>
            <a:r>
              <a:rPr lang="en-US" altLang="ja-JP">
                <a:latin typeface="Arial" panose="020B0604020202020204" pitchFamily="34" charset="0"/>
              </a:rPr>
              <a:t>Trong các class có quan hệ thừa kế thì sub class là class được tạo mà vừa thừa kế những tính chất chung từ super class vừa add thêm tính chất riêng. </a:t>
            </a:r>
          </a:p>
          <a:p>
            <a:pPr marL="0" indent="0"/>
            <a:r>
              <a:rPr lang="en-US" altLang="ja-JP">
                <a:latin typeface="Arial" panose="020B0604020202020204" pitchFamily="34" charset="0"/>
              </a:rPr>
              <a:t>  Dưới đây là những point trong trường hợp định nghĩa sub class.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●Cú pháp (Giải thích ở sau page tiếp theo)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sp>
        <p:nvSpPr>
          <p:cNvPr id="502788" name="Text Box 4">
            <a:extLst>
              <a:ext uri="{FF2B5EF4-FFF2-40B4-BE49-F238E27FC236}">
                <a16:creationId xmlns:a16="http://schemas.microsoft.com/office/drawing/2014/main" id="{F851020E-2174-BD22-A1C1-6A9706DAA214}"/>
              </a:ext>
            </a:extLst>
          </p:cNvPr>
          <p:cNvSpPr txBox="1">
            <a:spLocks noChangeArrowheads="1"/>
          </p:cNvSpPr>
          <p:nvPr/>
        </p:nvSpPr>
        <p:spPr bwMode="auto">
          <a:xfrm>
            <a:off x="669925" y="6092825"/>
            <a:ext cx="5705475" cy="127000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7938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ja-JP" altLang="ja-JP" b="0">
                <a:ea typeface="MS UI Gothic" panose="020B0600070205080204" pitchFamily="50" charset="-128"/>
              </a:rPr>
              <a:t>・</a:t>
            </a:r>
            <a:r>
              <a:rPr lang="en-US" altLang="ja-JP" b="0">
                <a:ea typeface="MS UI Gothic" panose="020B0600070205080204" pitchFamily="50" charset="-128"/>
              </a:rPr>
              <a:t>Class mới có thể kế thừa tính chất của class sẵn có (thuộc tính và thao tác)</a:t>
            </a:r>
          </a:p>
          <a:p>
            <a:pPr lvl="1" algn="just"/>
            <a:r>
              <a:rPr lang="ja-JP" altLang="en-US" b="0">
                <a:ea typeface="MS UI Gothic" panose="020B0600070205080204" pitchFamily="50" charset="-128"/>
              </a:rPr>
              <a:t>　　　　→　</a:t>
            </a:r>
            <a:r>
              <a:rPr lang="en-US" altLang="ja-JP" b="0">
                <a:ea typeface="MS UI Gothic" panose="020B0600070205080204" pitchFamily="50" charset="-128"/>
              </a:rPr>
              <a:t>Chỉ định là </a:t>
            </a:r>
            <a:r>
              <a:rPr lang="ja-JP" altLang="en-US" b="0">
                <a:ea typeface="MS UI Gothic" panose="020B0600070205080204" pitchFamily="50" charset="-128"/>
              </a:rPr>
              <a:t>「</a:t>
            </a:r>
            <a:r>
              <a:rPr lang="en-US" altLang="ja-JP" b="0">
                <a:ea typeface="MS UI Gothic" panose="020B0600070205080204" pitchFamily="50" charset="-128"/>
              </a:rPr>
              <a:t>extends</a:t>
            </a:r>
            <a:r>
              <a:rPr lang="ja-JP" altLang="en-US" b="0">
                <a:ea typeface="MS UI Gothic" panose="020B0600070205080204" pitchFamily="50" charset="-128"/>
              </a:rPr>
              <a:t>　</a:t>
            </a:r>
            <a:r>
              <a:rPr lang="en-US" altLang="ja-JP" b="0">
                <a:ea typeface="MS UI Gothic" panose="020B0600070205080204" pitchFamily="50" charset="-128"/>
              </a:rPr>
              <a:t>superclass name</a:t>
            </a:r>
            <a:r>
              <a:rPr lang="ja-JP" altLang="en-US" b="0">
                <a:ea typeface="MS UI Gothic" panose="020B0600070205080204" pitchFamily="50" charset="-128"/>
              </a:rPr>
              <a:t>」 </a:t>
            </a:r>
            <a:r>
              <a:rPr lang="en-US" altLang="ja-JP" b="0">
                <a:ea typeface="MS UI Gothic" panose="020B0600070205080204" pitchFamily="50" charset="-128"/>
              </a:rPr>
              <a:t>khi định nghĩa subclass</a:t>
            </a:r>
          </a:p>
          <a:p>
            <a:pPr lvl="1" algn="just"/>
            <a:r>
              <a:rPr lang="ja-JP" altLang="en-US" b="0">
                <a:ea typeface="MS UI Gothic" panose="020B0600070205080204" pitchFamily="50" charset="-128"/>
              </a:rPr>
              <a:t>・</a:t>
            </a:r>
            <a:r>
              <a:rPr lang="en-US" altLang="ja-JP" b="0">
                <a:ea typeface="MS UI Gothic" panose="020B0600070205080204" pitchFamily="50" charset="-128"/>
              </a:rPr>
              <a:t>Có thể add thêm tính chất mới (thuộc tính và thao tác)</a:t>
            </a:r>
          </a:p>
          <a:p>
            <a:pPr lvl="1" algn="just"/>
            <a:r>
              <a:rPr lang="ja-JP" altLang="en-US" b="0">
                <a:ea typeface="MS UI Gothic" panose="020B0600070205080204" pitchFamily="50" charset="-128"/>
              </a:rPr>
              <a:t>　　　　→　</a:t>
            </a:r>
            <a:r>
              <a:rPr lang="en-US" altLang="ja-JP" b="0">
                <a:ea typeface="MS UI Gothic" panose="020B0600070205080204" pitchFamily="50" charset="-128"/>
              </a:rPr>
              <a:t>Mô tả </a:t>
            </a:r>
            <a:r>
              <a:rPr lang="ja-JP" altLang="en-US" b="0">
                <a:ea typeface="MS UI Gothic" panose="020B0600070205080204" pitchFamily="50" charset="-128"/>
              </a:rPr>
              <a:t>「</a:t>
            </a:r>
            <a:r>
              <a:rPr lang="ja-JP" altLang="en-US">
                <a:ea typeface="MS UI Gothic" panose="020B0600070205080204" pitchFamily="50" charset="-128"/>
              </a:rPr>
              <a:t> </a:t>
            </a:r>
            <a:r>
              <a:rPr lang="en-US" altLang="ja-JP" b="0">
                <a:ea typeface="MS UI Gothic" panose="020B0600070205080204" pitchFamily="50" charset="-128"/>
              </a:rPr>
              <a:t>tính chất (thuộc tính và thao tác) muốn add thêm</a:t>
            </a:r>
            <a:r>
              <a:rPr lang="ja-JP" altLang="en-US" b="0">
                <a:ea typeface="MS UI Gothic" panose="020B0600070205080204" pitchFamily="50" charset="-128"/>
              </a:rPr>
              <a:t>」 </a:t>
            </a:r>
            <a:r>
              <a:rPr lang="en-US" altLang="ja-JP" b="0">
                <a:ea typeface="MS UI Gothic" panose="020B0600070205080204" pitchFamily="50" charset="-128"/>
              </a:rPr>
              <a:t>trong định nghĩa của subclass</a:t>
            </a:r>
          </a:p>
          <a:p>
            <a:pPr lvl="1" algn="just"/>
            <a:r>
              <a:rPr lang="ja-JP" altLang="ja-JP" b="0">
                <a:ea typeface="MS UI Gothic" panose="020B0600070205080204" pitchFamily="50" charset="-128"/>
              </a:rPr>
              <a:t>・</a:t>
            </a:r>
            <a:r>
              <a:rPr lang="en-US" altLang="ja-JP" b="0">
                <a:ea typeface="MS UI Gothic" panose="020B0600070205080204" pitchFamily="50" charset="-128"/>
              </a:rPr>
              <a:t>Có thể định nghĩa lại (chuyển sang tính chất riêng biệt ) mà không kế thừa tính chất của class sẵn có. </a:t>
            </a:r>
            <a:endParaRPr lang="ja-JP" altLang="ja-JP" b="0">
              <a:ea typeface="MS UI Gothic" panose="020B0600070205080204" pitchFamily="50" charset="-128"/>
            </a:endParaRPr>
          </a:p>
          <a:p>
            <a:pPr lvl="1" algn="just"/>
            <a:r>
              <a:rPr lang="ja-JP" altLang="ja-JP" b="0">
                <a:ea typeface="MS UI Gothic" panose="020B0600070205080204" pitchFamily="50" charset="-128"/>
              </a:rPr>
              <a:t>　　　　→　</a:t>
            </a:r>
            <a:r>
              <a:rPr lang="en-US" altLang="ja-JP" b="0">
                <a:ea typeface="MS UI Gothic" panose="020B0600070205080204" pitchFamily="50" charset="-128"/>
              </a:rPr>
              <a:t>Override method</a:t>
            </a:r>
            <a:endParaRPr lang="ja-JP" altLang="ja-JP" b="0">
              <a:ea typeface="MS UI Gothic" panose="020B0600070205080204" pitchFamily="50" charset="-128"/>
            </a:endParaRPr>
          </a:p>
          <a:p>
            <a:pPr lvl="1" algn="just"/>
            <a:endParaRPr lang="ja-JP" altLang="ja-JP" b="0">
              <a:ea typeface="MS UI Gothic" panose="020B0600070205080204" pitchFamily="50" charset="-128"/>
            </a:endParaRPr>
          </a:p>
        </p:txBody>
      </p:sp>
      <p:sp>
        <p:nvSpPr>
          <p:cNvPr id="502789" name="Text Box 5">
            <a:extLst>
              <a:ext uri="{FF2B5EF4-FFF2-40B4-BE49-F238E27FC236}">
                <a16:creationId xmlns:a16="http://schemas.microsoft.com/office/drawing/2014/main" id="{0E0C65C7-AE17-74BC-D24E-CA2D9F034821}"/>
              </a:ext>
            </a:extLst>
          </p:cNvPr>
          <p:cNvSpPr txBox="1">
            <a:spLocks noChangeArrowheads="1"/>
          </p:cNvSpPr>
          <p:nvPr/>
        </p:nvSpPr>
        <p:spPr bwMode="auto">
          <a:xfrm>
            <a:off x="638175" y="7816850"/>
            <a:ext cx="5786438" cy="7048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7938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MS UI Gothic" panose="020B0600070205080204" pitchFamily="50" charset="-128"/>
              </a:rPr>
              <a:t>Modifier</a:t>
            </a:r>
            <a:r>
              <a:rPr lang="ja-JP" altLang="ja-JP" b="0">
                <a:ea typeface="MS UI Gothic" panose="020B0600070205080204" pitchFamily="50" charset="-128"/>
              </a:rPr>
              <a:t>  </a:t>
            </a:r>
            <a:r>
              <a:rPr lang="ja-JP" altLang="ja-JP" b="0">
                <a:ea typeface="ＭＳ ゴシック" panose="020B0609070205080204" pitchFamily="49" charset="-128"/>
              </a:rPr>
              <a:t>class </a:t>
            </a:r>
            <a:r>
              <a:rPr lang="en-US" altLang="ja-JP" b="0">
                <a:ea typeface="ＭＳ ゴシック" panose="020B0609070205080204" pitchFamily="49" charset="-128"/>
              </a:rPr>
              <a:t>subclass name</a:t>
            </a:r>
            <a:r>
              <a:rPr lang="ja-JP" altLang="ja-JP" b="0">
                <a:ea typeface="ＭＳ ゴシック" panose="020B0609070205080204" pitchFamily="49" charset="-128"/>
              </a:rPr>
              <a:t> extends </a:t>
            </a:r>
            <a:r>
              <a:rPr lang="en-US" altLang="ja-JP" b="0">
                <a:ea typeface="ＭＳ ゴシック" panose="020B0609070205080204" pitchFamily="49" charset="-128"/>
              </a:rPr>
              <a:t>superclass name</a:t>
            </a:r>
            <a:r>
              <a:rPr lang="ja-JP" altLang="ja-JP" b="0">
                <a:ea typeface="ＭＳ ゴシック" panose="020B0609070205080204" pitchFamily="49" charset="-128"/>
              </a:rPr>
              <a:t> {</a:t>
            </a:r>
          </a:p>
          <a:p>
            <a:pPr lvl="1" algn="just"/>
            <a:r>
              <a:rPr lang="ja-JP" altLang="ja-JP" b="0">
                <a:ea typeface="ＭＳ ゴシック" panose="020B0609070205080204" pitchFamily="49" charset="-128"/>
              </a:rPr>
              <a:t>　　　//　</a:t>
            </a:r>
            <a:r>
              <a:rPr lang="en-US" altLang="ja-JP" b="0">
                <a:ea typeface="ＭＳ ゴシック" panose="020B0609070205080204" pitchFamily="49" charset="-128"/>
              </a:rPr>
              <a:t>Định nghĩa tính chất muốn add riêng</a:t>
            </a:r>
            <a:endParaRPr lang="en-US" altLang="ja-JP" b="0">
              <a:ea typeface="MS UI Gothic" panose="020B0600070205080204" pitchFamily="50" charset="-128"/>
            </a:endParaRPr>
          </a:p>
          <a:p>
            <a:pPr lvl="1" algn="just"/>
            <a:r>
              <a:rPr lang="en-US" altLang="ja-JP" b="0">
                <a:ea typeface="ＭＳ ゴシック" panose="020B0609070205080204" pitchFamily="49" charset="-128"/>
              </a:rPr>
              <a:t>      //</a:t>
            </a:r>
            <a:r>
              <a:rPr lang="ja-JP" altLang="en-US" b="0">
                <a:ea typeface="ＭＳ ゴシック" panose="020B0609070205080204" pitchFamily="49" charset="-128"/>
              </a:rPr>
              <a:t>　</a:t>
            </a:r>
            <a:r>
              <a:rPr lang="en-US" altLang="ja-JP" b="0">
                <a:ea typeface="ＭＳ ゴシック" panose="020B0609070205080204" pitchFamily="49" charset="-128"/>
              </a:rPr>
              <a:t>Override method</a:t>
            </a:r>
            <a:r>
              <a:rPr lang="ja-JP" altLang="ja-JP" b="0">
                <a:ea typeface="ＭＳ ゴシック" panose="020B0609070205080204" pitchFamily="49" charset="-128"/>
              </a:rPr>
              <a:t>	　</a:t>
            </a:r>
          </a:p>
          <a:p>
            <a:pPr lvl="1" algn="just"/>
            <a:r>
              <a:rPr lang="ja-JP" altLang="ja-JP" b="0">
                <a:ea typeface="ＭＳ ゴシック" panose="020B0609070205080204" pitchFamily="49" charset="-128"/>
              </a:rPr>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a:extLst>
              <a:ext uri="{FF2B5EF4-FFF2-40B4-BE49-F238E27FC236}">
                <a16:creationId xmlns:a16="http://schemas.microsoft.com/office/drawing/2014/main" id="{88023423-CB90-D465-9987-D08D1E8F61E9}"/>
              </a:ext>
            </a:extLst>
          </p:cNvPr>
          <p:cNvSpPr>
            <a:spLocks noRot="1" noChangeAspect="1" noChangeArrowheads="1" noTextEdit="1"/>
          </p:cNvSpPr>
          <p:nvPr>
            <p:ph type="sldImg"/>
          </p:nvPr>
        </p:nvSpPr>
        <p:spPr>
          <a:ln/>
        </p:spPr>
      </p:sp>
      <p:sp>
        <p:nvSpPr>
          <p:cNvPr id="492547" name="Rectangle 3">
            <a:extLst>
              <a:ext uri="{FF2B5EF4-FFF2-40B4-BE49-F238E27FC236}">
                <a16:creationId xmlns:a16="http://schemas.microsoft.com/office/drawing/2014/main" id="{6578B181-E6CE-6D0C-121B-2BCF74BE20CC}"/>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Định nghĩa super class (Point ①) </a:t>
            </a:r>
          </a:p>
          <a:p>
            <a:pPr marL="0" indent="0"/>
            <a:r>
              <a:rPr lang="ja-JP" altLang="en-US">
                <a:latin typeface="Arial" panose="020B0604020202020204" pitchFamily="34" charset="0"/>
              </a:rPr>
              <a:t>　　</a:t>
            </a:r>
            <a:r>
              <a:rPr lang="en-US" altLang="ja-JP">
                <a:latin typeface="Arial" panose="020B0604020202020204" pitchFamily="34" charset="0"/>
              </a:rPr>
              <a:t>Khi định nghĩa sub class, thì chỉ định </a:t>
            </a:r>
            <a:r>
              <a:rPr lang="ja-JP" altLang="en-US">
                <a:latin typeface="Arial" panose="020B0604020202020204" pitchFamily="34" charset="0"/>
              </a:rPr>
              <a:t>「</a:t>
            </a:r>
            <a:r>
              <a:rPr lang="en-US" altLang="ja-JP">
                <a:latin typeface="Arial" panose="020B0604020202020204" pitchFamily="34" charset="0"/>
              </a:rPr>
              <a:t>extends super class name</a:t>
            </a:r>
            <a:r>
              <a:rPr lang="ja-JP" altLang="en-US">
                <a:latin typeface="Arial" panose="020B0604020202020204" pitchFamily="34" charset="0"/>
              </a:rPr>
              <a:t>」 </a:t>
            </a:r>
            <a:r>
              <a:rPr lang="en-US" altLang="ja-JP">
                <a:latin typeface="Arial" panose="020B0604020202020204" pitchFamily="34" charset="0"/>
              </a:rPr>
              <a:t>tiếp sau sub class name. </a:t>
            </a:r>
          </a:p>
          <a:p>
            <a:pPr marL="0" indent="0"/>
            <a:r>
              <a:rPr lang="ja-JP" altLang="en-US">
                <a:latin typeface="Arial" panose="020B0604020202020204" pitchFamily="34" charset="0"/>
              </a:rPr>
              <a:t>　  </a:t>
            </a:r>
            <a:r>
              <a:rPr lang="en-US" altLang="ja-JP">
                <a:latin typeface="Arial" panose="020B0604020202020204" pitchFamily="34" charset="0"/>
              </a:rPr>
              <a:t>Chỉ bằng việc chỉ định</a:t>
            </a:r>
            <a:r>
              <a:rPr lang="ja-JP" altLang="en-US">
                <a:latin typeface="Arial" panose="020B0604020202020204" pitchFamily="34" charset="0"/>
              </a:rPr>
              <a:t>「</a:t>
            </a:r>
            <a:r>
              <a:rPr lang="en-US" altLang="ja-JP">
                <a:latin typeface="Arial" panose="020B0604020202020204" pitchFamily="34" charset="0"/>
              </a:rPr>
              <a:t>extends super class name</a:t>
            </a:r>
            <a:r>
              <a:rPr lang="ja-JP" altLang="en-US">
                <a:latin typeface="Arial" panose="020B0604020202020204" pitchFamily="34" charset="0"/>
              </a:rPr>
              <a:t>」</a:t>
            </a:r>
            <a:r>
              <a:rPr lang="en-US" altLang="ja-JP">
                <a:latin typeface="Arial" panose="020B0604020202020204" pitchFamily="34" charset="0"/>
              </a:rPr>
              <a:t>, thì toàn bộ biến số và method định nghĩa trong super class sẽ được thừa kế. (Về phần sử dụng constructor sẽ giải thích sau).</a:t>
            </a:r>
          </a:p>
          <a:p>
            <a:pPr marL="0" indent="0"/>
            <a:r>
              <a:rPr lang="en-US" altLang="ja-JP">
                <a:latin typeface="Arial" panose="020B0604020202020204" pitchFamily="34" charset="0"/>
              </a:rPr>
              <a:t>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●Cú pháp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Chỉ chỉ định 1 super class name  (Đơn kế thừa ) </a:t>
            </a:r>
          </a:p>
          <a:p>
            <a:pPr marL="0" indent="0"/>
            <a:endParaRPr lang="en-US" altLang="ja-JP">
              <a:latin typeface="Arial" panose="020B0604020202020204" pitchFamily="34" charset="0"/>
            </a:endParaRPr>
          </a:p>
        </p:txBody>
      </p:sp>
      <p:sp>
        <p:nvSpPr>
          <p:cNvPr id="492554" name="Text Box 10">
            <a:extLst>
              <a:ext uri="{FF2B5EF4-FFF2-40B4-BE49-F238E27FC236}">
                <a16:creationId xmlns:a16="http://schemas.microsoft.com/office/drawing/2014/main" id="{90887C4B-6C4B-70E8-7318-A0ECA50BD968}"/>
              </a:ext>
            </a:extLst>
          </p:cNvPr>
          <p:cNvSpPr txBox="1">
            <a:spLocks noChangeArrowheads="1"/>
          </p:cNvSpPr>
          <p:nvPr/>
        </p:nvSpPr>
        <p:spPr bwMode="auto">
          <a:xfrm>
            <a:off x="638175" y="6121400"/>
            <a:ext cx="5795963" cy="4381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7938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ja-JP" altLang="ja-JP" b="0">
                <a:latin typeface="MS UI Gothic" panose="020B0600070205080204" pitchFamily="50" charset="-128"/>
                <a:ea typeface="MS UI Gothic" panose="020B0600070205080204" pitchFamily="50" charset="-128"/>
              </a:rPr>
              <a:t>・</a:t>
            </a:r>
            <a:r>
              <a:rPr lang="en-US" altLang="ja-JP" b="0">
                <a:ea typeface="MS UI Gothic" panose="020B0600070205080204" pitchFamily="50" charset="-128"/>
              </a:rPr>
              <a:t>Class mới có thể kế thừa tính chất (thuộc tính và thao tác) của class sẵn có</a:t>
            </a:r>
          </a:p>
          <a:p>
            <a:pPr lvl="1" algn="just"/>
            <a:r>
              <a:rPr lang="ja-JP" altLang="en-US" b="0">
                <a:latin typeface="MS UI Gothic" panose="020B0600070205080204" pitchFamily="50" charset="-128"/>
                <a:ea typeface="MS UI Gothic" panose="020B0600070205080204" pitchFamily="50" charset="-128"/>
              </a:rPr>
              <a:t>　　　　→　 </a:t>
            </a:r>
            <a:r>
              <a:rPr lang="en-US" altLang="ja-JP" b="0">
                <a:ea typeface="MS UI Gothic" panose="020B0600070205080204" pitchFamily="50" charset="-128"/>
              </a:rPr>
              <a:t>Chỉ định là</a:t>
            </a:r>
            <a:r>
              <a:rPr lang="ja-JP" altLang="en-US" b="0">
                <a:ea typeface="MS UI Gothic" panose="020B0600070205080204" pitchFamily="50" charset="-128"/>
              </a:rPr>
              <a:t>「</a:t>
            </a:r>
            <a:r>
              <a:rPr lang="en-US" altLang="ja-JP" b="0">
                <a:ea typeface="MS UI Gothic" panose="020B0600070205080204" pitchFamily="50" charset="-128"/>
              </a:rPr>
              <a:t>extends superclass name</a:t>
            </a:r>
            <a:r>
              <a:rPr lang="ja-JP" altLang="en-US" b="0">
                <a:ea typeface="MS UI Gothic" panose="020B0600070205080204" pitchFamily="50" charset="-128"/>
              </a:rPr>
              <a:t>」 </a:t>
            </a:r>
            <a:r>
              <a:rPr lang="en-US" altLang="ja-JP" b="0">
                <a:ea typeface="MS UI Gothic" panose="020B0600070205080204" pitchFamily="50" charset="-128"/>
              </a:rPr>
              <a:t>khi định nghĩa subclass</a:t>
            </a:r>
            <a:endParaRPr lang="ja-JP" altLang="ja-JP" b="0">
              <a:ea typeface="MS UI Gothic" panose="020B0600070205080204" pitchFamily="50" charset="-128"/>
            </a:endParaRPr>
          </a:p>
        </p:txBody>
      </p:sp>
      <p:sp>
        <p:nvSpPr>
          <p:cNvPr id="492553" name="Text Box 9">
            <a:extLst>
              <a:ext uri="{FF2B5EF4-FFF2-40B4-BE49-F238E27FC236}">
                <a16:creationId xmlns:a16="http://schemas.microsoft.com/office/drawing/2014/main" id="{2C19EE86-9BFB-BDF7-A215-9C0F8FF3A08D}"/>
              </a:ext>
            </a:extLst>
          </p:cNvPr>
          <p:cNvSpPr txBox="1">
            <a:spLocks noChangeArrowheads="1"/>
          </p:cNvSpPr>
          <p:nvPr/>
        </p:nvSpPr>
        <p:spPr bwMode="auto">
          <a:xfrm>
            <a:off x="644525" y="7091363"/>
            <a:ext cx="5795963" cy="931862"/>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7938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50000"/>
              </a:lnSpc>
              <a:spcBef>
                <a:spcPct val="10000"/>
              </a:spcBef>
              <a:spcAft>
                <a:spcPct val="50000"/>
              </a:spcAft>
            </a:pPr>
            <a:r>
              <a:rPr lang="en-US" altLang="ja-JP" b="0">
                <a:ea typeface="MS UI Gothic" panose="020B0600070205080204" pitchFamily="50" charset="-128"/>
              </a:rPr>
              <a:t>Modifier</a:t>
            </a:r>
            <a:r>
              <a:rPr lang="ja-JP" altLang="ja-JP" b="0">
                <a:ea typeface="MS UI Gothic" panose="020B0600070205080204" pitchFamily="50" charset="-128"/>
              </a:rPr>
              <a:t>  </a:t>
            </a:r>
            <a:r>
              <a:rPr lang="ja-JP" altLang="ja-JP" b="0">
                <a:ea typeface="ＭＳ ゴシック" panose="020B0609070205080204" pitchFamily="49" charset="-128"/>
              </a:rPr>
              <a:t>class </a:t>
            </a:r>
            <a:r>
              <a:rPr lang="en-US" altLang="ja-JP" b="0">
                <a:ea typeface="ＭＳ ゴシック" panose="020B0609070205080204" pitchFamily="49" charset="-128"/>
              </a:rPr>
              <a:t>subclass name</a:t>
            </a:r>
            <a:r>
              <a:rPr lang="en-US" altLang="ja-JP" b="0">
                <a:ea typeface="MS UI Gothic" panose="020B0600070205080204" pitchFamily="50" charset="-128"/>
              </a:rPr>
              <a:t> </a:t>
            </a:r>
            <a:r>
              <a:rPr lang="en-US" altLang="ja-JP" b="0">
                <a:ea typeface="ＭＳ ゴシック" panose="020B0609070205080204" pitchFamily="49" charset="-128"/>
              </a:rPr>
              <a:t> </a:t>
            </a:r>
            <a:r>
              <a:rPr lang="ja-JP" altLang="ja-JP" b="0">
                <a:ea typeface="ＭＳ ゴシック" panose="020B0609070205080204" pitchFamily="49" charset="-128"/>
              </a:rPr>
              <a:t>extends </a:t>
            </a:r>
            <a:r>
              <a:rPr lang="en-US" altLang="ja-JP" b="0">
                <a:ea typeface="ＭＳ ゴシック" panose="020B0609070205080204" pitchFamily="49" charset="-128"/>
              </a:rPr>
              <a:t>superclass name</a:t>
            </a:r>
            <a:r>
              <a:rPr lang="en-US" altLang="ja-JP" b="0">
                <a:ea typeface="MS UI Gothic" panose="020B0600070205080204" pitchFamily="50" charset="-128"/>
              </a:rPr>
              <a:t> </a:t>
            </a:r>
            <a:r>
              <a:rPr lang="en-US" altLang="ja-JP" b="0">
                <a:ea typeface="ＭＳ ゴシック" panose="020B0609070205080204" pitchFamily="49" charset="-128"/>
              </a:rPr>
              <a:t> </a:t>
            </a:r>
            <a:r>
              <a:rPr lang="ja-JP" altLang="ja-JP" b="0">
                <a:ea typeface="ＭＳ ゴシック" panose="020B0609070205080204" pitchFamily="49" charset="-128"/>
              </a:rPr>
              <a:t>{</a:t>
            </a:r>
          </a:p>
          <a:p>
            <a:pPr lvl="1" algn="just">
              <a:lnSpc>
                <a:spcPct val="150000"/>
              </a:lnSpc>
              <a:spcAft>
                <a:spcPct val="30000"/>
              </a:spcAft>
            </a:pPr>
            <a:r>
              <a:rPr lang="ja-JP" altLang="ja-JP" b="0">
                <a:ea typeface="ＭＳ ゴシック" panose="020B0609070205080204" pitchFamily="49" charset="-128"/>
              </a:rPr>
              <a:t>　　</a:t>
            </a:r>
            <a:r>
              <a:rPr lang="ja-JP" altLang="en-US" b="0">
                <a:ea typeface="ＭＳ ゴシック" panose="020B0609070205080204" pitchFamily="49" charset="-128"/>
              </a:rPr>
              <a:t>  </a:t>
            </a:r>
            <a:r>
              <a:rPr lang="ja-JP" altLang="ja-JP" b="0">
                <a:ea typeface="ＭＳ ゴシック" panose="020B0609070205080204" pitchFamily="49" charset="-128"/>
              </a:rPr>
              <a:t>//　</a:t>
            </a:r>
            <a:r>
              <a:rPr lang="en-US" altLang="ja-JP" b="0">
                <a:ea typeface="ＭＳ ゴシック" panose="020B0609070205080204" pitchFamily="49" charset="-128"/>
              </a:rPr>
              <a:t>Định nghĩa tính chất riêng add thêm</a:t>
            </a:r>
            <a:r>
              <a:rPr lang="ja-JP" altLang="ja-JP" b="0">
                <a:ea typeface="ＭＳ ゴシック" panose="020B0609070205080204" pitchFamily="49" charset="-128"/>
              </a:rPr>
              <a:t>	　</a:t>
            </a:r>
          </a:p>
          <a:p>
            <a:pPr lvl="1" algn="just">
              <a:lnSpc>
                <a:spcPct val="150000"/>
              </a:lnSpc>
              <a:spcAft>
                <a:spcPct val="30000"/>
              </a:spcAft>
            </a:pPr>
            <a:r>
              <a:rPr lang="ja-JP" altLang="ja-JP" b="0">
                <a:ea typeface="ＭＳ ゴシック" panose="020B0609070205080204" pitchFamily="49" charset="-128"/>
              </a:rPr>
              <a:t>}</a:t>
            </a:r>
          </a:p>
        </p:txBody>
      </p:sp>
      <p:sp>
        <p:nvSpPr>
          <p:cNvPr id="492555" name="Rectangle 11">
            <a:extLst>
              <a:ext uri="{FF2B5EF4-FFF2-40B4-BE49-F238E27FC236}">
                <a16:creationId xmlns:a16="http://schemas.microsoft.com/office/drawing/2014/main" id="{C369FA19-D812-182E-0B25-AC82C6EC6ED6}"/>
              </a:ext>
            </a:extLst>
          </p:cNvPr>
          <p:cNvSpPr>
            <a:spLocks noChangeArrowheads="1"/>
          </p:cNvSpPr>
          <p:nvPr/>
        </p:nvSpPr>
        <p:spPr bwMode="auto">
          <a:xfrm>
            <a:off x="2505075" y="7150100"/>
            <a:ext cx="1571625" cy="247650"/>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a:extLst>
              <a:ext uri="{FF2B5EF4-FFF2-40B4-BE49-F238E27FC236}">
                <a16:creationId xmlns:a16="http://schemas.microsoft.com/office/drawing/2014/main" id="{2FD339A9-C744-4C1A-9512-8C872861CF31}"/>
              </a:ext>
            </a:extLst>
          </p:cNvPr>
          <p:cNvSpPr>
            <a:spLocks noRot="1" noChangeAspect="1" noChangeArrowheads="1" noTextEdit="1"/>
          </p:cNvSpPr>
          <p:nvPr>
            <p:ph type="sldImg"/>
          </p:nvPr>
        </p:nvSpPr>
        <p:spPr>
          <a:ln/>
        </p:spPr>
      </p:sp>
      <p:sp>
        <p:nvSpPr>
          <p:cNvPr id="500739" name="Rectangle 3">
            <a:extLst>
              <a:ext uri="{FF2B5EF4-FFF2-40B4-BE49-F238E27FC236}">
                <a16:creationId xmlns:a16="http://schemas.microsoft.com/office/drawing/2014/main" id="{8F628284-A9E4-A095-874A-FD87D1711360}"/>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Định nghĩa sub class (Point ②) </a:t>
            </a:r>
          </a:p>
          <a:p>
            <a:pPr marL="0" indent="0"/>
            <a:r>
              <a:rPr lang="ja-JP" altLang="en-US">
                <a:latin typeface="Arial" panose="020B0604020202020204" pitchFamily="34" charset="0"/>
              </a:rPr>
              <a:t>　</a:t>
            </a:r>
            <a:r>
              <a:rPr lang="en-US" altLang="ja-JP">
                <a:latin typeface="Arial" panose="020B0604020202020204" pitchFamily="34" charset="0"/>
              </a:rPr>
              <a:t>Sau khi chỉ định super class</a:t>
            </a:r>
            <a:r>
              <a:rPr lang="ja-JP" altLang="en-US">
                <a:latin typeface="Arial" panose="020B0604020202020204" pitchFamily="34" charset="0"/>
              </a:rPr>
              <a:t>「</a:t>
            </a:r>
            <a:r>
              <a:rPr lang="en-US" altLang="ja-JP">
                <a:latin typeface="Arial" panose="020B0604020202020204" pitchFamily="34" charset="0"/>
              </a:rPr>
              <a:t>extends  super class name</a:t>
            </a:r>
            <a:r>
              <a:rPr lang="ja-JP" altLang="en-US">
                <a:latin typeface="Arial" panose="020B0604020202020204" pitchFamily="34" charset="0"/>
              </a:rPr>
              <a:t>」</a:t>
            </a:r>
            <a:r>
              <a:rPr lang="en-US" altLang="ja-JP">
                <a:latin typeface="Arial" panose="020B0604020202020204" pitchFamily="34" charset="0"/>
              </a:rPr>
              <a:t>thì định nghĩa tính chất (Thuộc tính và thao tác) riêng biệt muốn add thêm vào bằng sub class.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●Cú pháp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Định nghĩa thuộc tính và method muốn add thêm mới trong sub class.</a:t>
            </a:r>
          </a:p>
          <a:p>
            <a:pPr marL="0" indent="0"/>
            <a:endParaRPr lang="en-US" altLang="ja-JP">
              <a:latin typeface="Arial" panose="020B0604020202020204" pitchFamily="34" charset="0"/>
            </a:endParaRPr>
          </a:p>
        </p:txBody>
      </p:sp>
      <p:sp>
        <p:nvSpPr>
          <p:cNvPr id="500741" name="Text Box 5">
            <a:extLst>
              <a:ext uri="{FF2B5EF4-FFF2-40B4-BE49-F238E27FC236}">
                <a16:creationId xmlns:a16="http://schemas.microsoft.com/office/drawing/2014/main" id="{D3298C87-8D79-F812-343F-E2183887CB6D}"/>
              </a:ext>
            </a:extLst>
          </p:cNvPr>
          <p:cNvSpPr txBox="1">
            <a:spLocks noChangeArrowheads="1"/>
          </p:cNvSpPr>
          <p:nvPr/>
        </p:nvSpPr>
        <p:spPr bwMode="auto">
          <a:xfrm>
            <a:off x="638175" y="6913563"/>
            <a:ext cx="5795963" cy="885825"/>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7938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MS UI Gothic" panose="020B0600070205080204" pitchFamily="50" charset="-128"/>
              </a:rPr>
              <a:t>Modifier</a:t>
            </a:r>
            <a:r>
              <a:rPr lang="ja-JP" altLang="ja-JP" b="0">
                <a:ea typeface="MS UI Gothic" panose="020B0600070205080204" pitchFamily="50" charset="-128"/>
              </a:rPr>
              <a:t>  </a:t>
            </a:r>
            <a:r>
              <a:rPr lang="ja-JP" altLang="ja-JP" b="0">
                <a:ea typeface="ＭＳ ゴシック" panose="020B0609070205080204" pitchFamily="49" charset="-128"/>
              </a:rPr>
              <a:t>class </a:t>
            </a:r>
            <a:r>
              <a:rPr lang="en-US" altLang="ja-JP" b="0">
                <a:ea typeface="ＭＳ ゴシック" panose="020B0609070205080204" pitchFamily="49" charset="-128"/>
              </a:rPr>
              <a:t>subclass name</a:t>
            </a:r>
            <a:r>
              <a:rPr lang="ja-JP" altLang="ja-JP" b="0">
                <a:ea typeface="ＭＳ ゴシック" panose="020B0609070205080204" pitchFamily="49" charset="-128"/>
              </a:rPr>
              <a:t> extends </a:t>
            </a:r>
            <a:r>
              <a:rPr lang="en-US" altLang="ja-JP" b="0">
                <a:ea typeface="MS UI Gothic" panose="020B0600070205080204" pitchFamily="50" charset="-128"/>
              </a:rPr>
              <a:t>superclass name</a:t>
            </a:r>
            <a:r>
              <a:rPr lang="en-US" altLang="ja-JP" b="0">
                <a:ea typeface="ＭＳ ゴシック" panose="020B0609070205080204" pitchFamily="49" charset="-128"/>
              </a:rPr>
              <a:t> </a:t>
            </a:r>
            <a:r>
              <a:rPr lang="ja-JP" altLang="ja-JP" b="0">
                <a:ea typeface="ＭＳ ゴシック" panose="020B0609070205080204" pitchFamily="49" charset="-128"/>
              </a:rPr>
              <a:t>{</a:t>
            </a:r>
            <a:endParaRPr lang="en-US" altLang="ja-JP" b="0">
              <a:ea typeface="ＭＳ ゴシック" panose="020B0609070205080204" pitchFamily="49" charset="-128"/>
            </a:endParaRPr>
          </a:p>
          <a:p>
            <a:pPr lvl="1" algn="just"/>
            <a:endParaRPr lang="ja-JP" altLang="ja-JP" b="0">
              <a:ea typeface="ＭＳ ゴシック" panose="020B0609070205080204" pitchFamily="49" charset="-128"/>
            </a:endParaRPr>
          </a:p>
          <a:p>
            <a:pPr lvl="1" algn="just"/>
            <a:r>
              <a:rPr lang="ja-JP" altLang="ja-JP" b="0">
                <a:ea typeface="ＭＳ ゴシック" panose="020B0609070205080204" pitchFamily="49" charset="-128"/>
              </a:rPr>
              <a:t>　　　//　</a:t>
            </a:r>
            <a:r>
              <a:rPr lang="en-US" altLang="ja-JP" b="0">
                <a:ea typeface="ＭＳ ゴシック" panose="020B0609070205080204" pitchFamily="49" charset="-128"/>
              </a:rPr>
              <a:t>Định nghĩa tính chất muốn add riêng biệt</a:t>
            </a:r>
            <a:r>
              <a:rPr lang="ja-JP" altLang="ja-JP" b="0">
                <a:ea typeface="ＭＳ ゴシック" panose="020B0609070205080204" pitchFamily="49" charset="-128"/>
              </a:rPr>
              <a:t>	</a:t>
            </a:r>
            <a:endParaRPr lang="en-US" altLang="ja-JP" b="0">
              <a:ea typeface="ＭＳ ゴシック" panose="020B0609070205080204" pitchFamily="49" charset="-128"/>
            </a:endParaRPr>
          </a:p>
          <a:p>
            <a:pPr lvl="1" algn="just"/>
            <a:r>
              <a:rPr lang="ja-JP" altLang="ja-JP" b="0">
                <a:ea typeface="ＭＳ ゴシック" panose="020B0609070205080204" pitchFamily="49" charset="-128"/>
              </a:rPr>
              <a:t>　</a:t>
            </a:r>
          </a:p>
          <a:p>
            <a:pPr lvl="1" algn="just"/>
            <a:r>
              <a:rPr lang="ja-JP" altLang="ja-JP" b="0">
                <a:ea typeface="ＭＳ ゴシック" panose="020B0609070205080204" pitchFamily="49" charset="-128"/>
              </a:rPr>
              <a:t>}</a:t>
            </a:r>
          </a:p>
        </p:txBody>
      </p:sp>
      <p:sp>
        <p:nvSpPr>
          <p:cNvPr id="500742" name="Text Box 6">
            <a:extLst>
              <a:ext uri="{FF2B5EF4-FFF2-40B4-BE49-F238E27FC236}">
                <a16:creationId xmlns:a16="http://schemas.microsoft.com/office/drawing/2014/main" id="{E2FA8AC8-C430-CE2A-9F9D-597FFCB9A986}"/>
              </a:ext>
            </a:extLst>
          </p:cNvPr>
          <p:cNvSpPr txBox="1">
            <a:spLocks noChangeArrowheads="1"/>
          </p:cNvSpPr>
          <p:nvPr/>
        </p:nvSpPr>
        <p:spPr bwMode="auto">
          <a:xfrm>
            <a:off x="638175" y="5888038"/>
            <a:ext cx="5795963" cy="43815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7938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ja-JP" altLang="en-US" b="0">
                <a:ea typeface="MS UI Gothic" panose="020B0600070205080204" pitchFamily="50" charset="-128"/>
              </a:rPr>
              <a:t>・</a:t>
            </a:r>
            <a:r>
              <a:rPr lang="en-US" altLang="ja-JP" b="0">
                <a:ea typeface="MS UI Gothic" panose="020B0600070205080204" pitchFamily="50" charset="-128"/>
              </a:rPr>
              <a:t>Có thể add thêm tính chất mới (thuộc tính và thao tác)</a:t>
            </a:r>
          </a:p>
          <a:p>
            <a:pPr lvl="1" algn="just"/>
            <a:r>
              <a:rPr lang="ja-JP" altLang="en-US" b="0">
                <a:ea typeface="MS UI Gothic" panose="020B0600070205080204" pitchFamily="50" charset="-128"/>
              </a:rPr>
              <a:t>　　　　→　</a:t>
            </a:r>
            <a:r>
              <a:rPr lang="en-US" altLang="ja-JP" b="0">
                <a:ea typeface="MS UI Gothic" panose="020B0600070205080204" pitchFamily="50" charset="-128"/>
              </a:rPr>
              <a:t>Mô tả tính chất (thuộc tính và thao tác) muốn add thêm trong định nghĩa class của sub class</a:t>
            </a:r>
          </a:p>
        </p:txBody>
      </p:sp>
      <p:sp>
        <p:nvSpPr>
          <p:cNvPr id="500743" name="Rectangle 7">
            <a:extLst>
              <a:ext uri="{FF2B5EF4-FFF2-40B4-BE49-F238E27FC236}">
                <a16:creationId xmlns:a16="http://schemas.microsoft.com/office/drawing/2014/main" id="{2FBC8F96-18B7-270C-0138-14FD33EF72B1}"/>
              </a:ext>
            </a:extLst>
          </p:cNvPr>
          <p:cNvSpPr>
            <a:spLocks noChangeArrowheads="1"/>
          </p:cNvSpPr>
          <p:nvPr/>
        </p:nvSpPr>
        <p:spPr bwMode="auto">
          <a:xfrm>
            <a:off x="887413" y="7188200"/>
            <a:ext cx="2755900" cy="279400"/>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500744" name="Rectangle 8">
            <a:extLst>
              <a:ext uri="{FF2B5EF4-FFF2-40B4-BE49-F238E27FC236}">
                <a16:creationId xmlns:a16="http://schemas.microsoft.com/office/drawing/2014/main" id="{87EC0C6C-38EE-0016-7374-97A2A4BFF336}"/>
              </a:ext>
            </a:extLst>
          </p:cNvPr>
          <p:cNvSpPr>
            <a:spLocks noChangeArrowheads="1"/>
          </p:cNvSpPr>
          <p:nvPr/>
        </p:nvSpPr>
        <p:spPr bwMode="auto">
          <a:xfrm>
            <a:off x="4071938" y="7121525"/>
            <a:ext cx="1814512" cy="415925"/>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a:ea typeface="MS UI Gothic" panose="020B0600070205080204" pitchFamily="50" charset="-128"/>
              </a:rPr>
              <a:t>Định nghĩa tính chất vốn có của subclass</a:t>
            </a:r>
          </a:p>
        </p:txBody>
      </p:sp>
      <p:cxnSp>
        <p:nvCxnSpPr>
          <p:cNvPr id="500745" name="AutoShape 9">
            <a:extLst>
              <a:ext uri="{FF2B5EF4-FFF2-40B4-BE49-F238E27FC236}">
                <a16:creationId xmlns:a16="http://schemas.microsoft.com/office/drawing/2014/main" id="{A17B8FA9-B1F3-627C-67DF-B617E0D6913F}"/>
              </a:ext>
            </a:extLst>
          </p:cNvPr>
          <p:cNvCxnSpPr>
            <a:cxnSpLocks noChangeShapeType="1"/>
            <a:stCxn id="500743" idx="3"/>
            <a:endCxn id="500744" idx="1"/>
          </p:cNvCxnSpPr>
          <p:nvPr/>
        </p:nvCxnSpPr>
        <p:spPr bwMode="auto">
          <a:xfrm>
            <a:off x="3652838" y="7327900"/>
            <a:ext cx="409575" cy="1588"/>
          </a:xfrm>
          <a:prstGeom prst="straightConnector1">
            <a:avLst/>
          </a:prstGeom>
          <a:noFill/>
          <a:ln w="19050">
            <a:solidFill>
              <a:srgbClr val="3FB007"/>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a:extLst>
              <a:ext uri="{FF2B5EF4-FFF2-40B4-BE49-F238E27FC236}">
                <a16:creationId xmlns:a16="http://schemas.microsoft.com/office/drawing/2014/main" id="{FE2F6CDB-8AB6-4B78-2B27-2330DF50512A}"/>
              </a:ext>
            </a:extLst>
          </p:cNvPr>
          <p:cNvSpPr>
            <a:spLocks noRot="1" noChangeAspect="1" noChangeArrowheads="1" noTextEdit="1"/>
          </p:cNvSpPr>
          <p:nvPr>
            <p:ph type="sldImg"/>
          </p:nvPr>
        </p:nvSpPr>
        <p:spPr>
          <a:xfrm>
            <a:off x="2008188" y="730250"/>
            <a:ext cx="6024562" cy="4170363"/>
          </a:xfrm>
          <a:ln/>
        </p:spPr>
      </p:sp>
      <p:sp>
        <p:nvSpPr>
          <p:cNvPr id="517123" name="Rectangle 3">
            <a:extLst>
              <a:ext uri="{FF2B5EF4-FFF2-40B4-BE49-F238E27FC236}">
                <a16:creationId xmlns:a16="http://schemas.microsoft.com/office/drawing/2014/main" id="{D82EA427-30C7-4869-B09F-34E31EE614ED}"/>
              </a:ext>
            </a:extLst>
          </p:cNvPr>
          <p:cNvSpPr>
            <a:spLocks noGrp="1" noChangeArrowheads="1"/>
          </p:cNvSpPr>
          <p:nvPr>
            <p:ph type="body" idx="1"/>
          </p:nvPr>
        </p:nvSpPr>
        <p:spPr/>
        <p:txBody>
          <a:bodyPr/>
          <a:lstStyle/>
          <a:p>
            <a:pPr marL="0" indent="0"/>
            <a:r>
              <a:rPr lang="en-US" altLang="ja-JP" dirty="0">
                <a:latin typeface="Arial" panose="020B0604020202020204" pitchFamily="34" charset="0"/>
              </a:rPr>
              <a:t>■</a:t>
            </a:r>
            <a:r>
              <a:rPr lang="ja-JP" altLang="en-US" dirty="0">
                <a:latin typeface="Arial" panose="020B0604020202020204" pitchFamily="34" charset="0"/>
              </a:rPr>
              <a:t>　</a:t>
            </a:r>
            <a:r>
              <a:rPr lang="en-US" altLang="ja-JP" dirty="0">
                <a:latin typeface="Arial" panose="020B0604020202020204" pitchFamily="34" charset="0"/>
              </a:rPr>
              <a:t>Override</a:t>
            </a:r>
          </a:p>
          <a:p>
            <a:pPr marL="0" indent="0"/>
            <a:r>
              <a:rPr lang="en-US" altLang="ja-JP" dirty="0">
                <a:latin typeface="Arial" panose="020B0604020202020204" pitchFamily="34" charset="0"/>
              </a:rPr>
              <a:t>    Ở </a:t>
            </a:r>
            <a:r>
              <a:rPr lang="en-US" altLang="ja-JP" dirty="0" err="1">
                <a:latin typeface="Arial" panose="020B0604020202020204" pitchFamily="34" charset="0"/>
              </a:rPr>
              <a:t>phía</a:t>
            </a:r>
            <a:r>
              <a:rPr lang="en-US" altLang="ja-JP" dirty="0">
                <a:latin typeface="Arial" panose="020B0604020202020204" pitchFamily="34" charset="0"/>
              </a:rPr>
              <a:t> sub class, </a:t>
            </a:r>
            <a:r>
              <a:rPr lang="en-US" altLang="ja-JP" dirty="0" err="1">
                <a:latin typeface="Arial" panose="020B0604020202020204" pitchFamily="34" charset="0"/>
              </a:rPr>
              <a:t>bên</a:t>
            </a:r>
            <a:r>
              <a:rPr lang="en-US" altLang="ja-JP" dirty="0">
                <a:latin typeface="Arial" panose="020B0604020202020204" pitchFamily="34" charset="0"/>
              </a:rPr>
              <a:t> </a:t>
            </a:r>
            <a:r>
              <a:rPr lang="en-US" altLang="ja-JP" dirty="0" err="1">
                <a:latin typeface="Arial" panose="020B0604020202020204" pitchFamily="34" charset="0"/>
              </a:rPr>
              <a:t>cạnh</a:t>
            </a:r>
            <a:r>
              <a:rPr lang="en-US" altLang="ja-JP" dirty="0">
                <a:latin typeface="Arial" panose="020B0604020202020204" pitchFamily="34" charset="0"/>
              </a:rPr>
              <a:t> </a:t>
            </a:r>
            <a:r>
              <a:rPr lang="en-US" altLang="ja-JP" dirty="0" err="1">
                <a:latin typeface="Arial" panose="020B0604020202020204" pitchFamily="34" charset="0"/>
              </a:rPr>
              <a:t>việc</a:t>
            </a:r>
            <a:r>
              <a:rPr lang="en-US" altLang="ja-JP" dirty="0">
                <a:latin typeface="Arial" panose="020B0604020202020204" pitchFamily="34" charset="0"/>
              </a:rPr>
              <a:t> </a:t>
            </a:r>
            <a:r>
              <a:rPr lang="en-US" altLang="ja-JP" dirty="0" err="1">
                <a:latin typeface="Arial" panose="020B0604020202020204" pitchFamily="34" charset="0"/>
              </a:rPr>
              <a:t>có</a:t>
            </a:r>
            <a:r>
              <a:rPr lang="en-US" altLang="ja-JP" dirty="0">
                <a:latin typeface="Arial" panose="020B0604020202020204" pitchFamily="34" charset="0"/>
              </a:rPr>
              <a:t> </a:t>
            </a:r>
            <a:r>
              <a:rPr lang="en-US" altLang="ja-JP" dirty="0" err="1">
                <a:latin typeface="Arial" panose="020B0604020202020204" pitchFamily="34" charset="0"/>
              </a:rPr>
              <a:t>thể</a:t>
            </a:r>
            <a:r>
              <a:rPr lang="en-US" altLang="ja-JP" dirty="0">
                <a:latin typeface="Arial" panose="020B0604020202020204" pitchFamily="34" charset="0"/>
              </a:rPr>
              <a:t> add </a:t>
            </a:r>
            <a:r>
              <a:rPr lang="en-US" altLang="ja-JP" dirty="0" err="1">
                <a:latin typeface="Arial" panose="020B0604020202020204" pitchFamily="34" charset="0"/>
              </a:rPr>
              <a:t>thêm</a:t>
            </a:r>
            <a:r>
              <a:rPr lang="en-US" altLang="ja-JP" dirty="0">
                <a:latin typeface="Arial" panose="020B0604020202020204" pitchFamily="34" charset="0"/>
              </a:rPr>
              <a:t> </a:t>
            </a:r>
            <a:r>
              <a:rPr lang="en-US" altLang="ja-JP" dirty="0" err="1">
                <a:latin typeface="Arial" panose="020B0604020202020204" pitchFamily="34" charset="0"/>
              </a:rPr>
              <a:t>tính</a:t>
            </a:r>
            <a:r>
              <a:rPr lang="en-US" altLang="ja-JP" dirty="0">
                <a:latin typeface="Arial" panose="020B0604020202020204" pitchFamily="34" charset="0"/>
              </a:rPr>
              <a:t> </a:t>
            </a:r>
            <a:r>
              <a:rPr lang="en-US" altLang="ja-JP" dirty="0" err="1">
                <a:latin typeface="Arial" panose="020B0604020202020204" pitchFamily="34" charset="0"/>
              </a:rPr>
              <a:t>chất</a:t>
            </a:r>
            <a:r>
              <a:rPr lang="en-US" altLang="ja-JP" dirty="0">
                <a:latin typeface="Arial" panose="020B0604020202020204" pitchFamily="34" charset="0"/>
              </a:rPr>
              <a:t> </a:t>
            </a:r>
            <a:r>
              <a:rPr lang="en-US" altLang="ja-JP" dirty="0" err="1">
                <a:latin typeface="Arial" panose="020B0604020202020204" pitchFamily="34" charset="0"/>
              </a:rPr>
              <a:t>mới</a:t>
            </a:r>
            <a:r>
              <a:rPr lang="en-US" altLang="ja-JP" dirty="0">
                <a:latin typeface="Arial" panose="020B0604020202020204" pitchFamily="34" charset="0"/>
              </a:rPr>
              <a:t> (</a:t>
            </a:r>
            <a:r>
              <a:rPr lang="en-US" altLang="ja-JP" dirty="0" err="1">
                <a:latin typeface="Arial" panose="020B0604020202020204" pitchFamily="34" charset="0"/>
              </a:rPr>
              <a:t>Thuộc</a:t>
            </a:r>
            <a:r>
              <a:rPr lang="en-US" altLang="ja-JP" dirty="0">
                <a:latin typeface="Arial" panose="020B0604020202020204" pitchFamily="34" charset="0"/>
              </a:rPr>
              <a:t> </a:t>
            </a:r>
            <a:r>
              <a:rPr lang="en-US" altLang="ja-JP" dirty="0" err="1">
                <a:latin typeface="Arial" panose="020B0604020202020204" pitchFamily="34" charset="0"/>
              </a:rPr>
              <a:t>tính</a:t>
            </a:r>
            <a:r>
              <a:rPr lang="en-US" altLang="ja-JP" dirty="0">
                <a:latin typeface="Arial" panose="020B0604020202020204" pitchFamily="34" charset="0"/>
              </a:rPr>
              <a:t> </a:t>
            </a:r>
            <a:r>
              <a:rPr lang="en-US" altLang="ja-JP" dirty="0" err="1">
                <a:latin typeface="Arial" panose="020B0604020202020204" pitchFamily="34" charset="0"/>
              </a:rPr>
              <a:t>và</a:t>
            </a:r>
            <a:r>
              <a:rPr lang="en-US" altLang="ja-JP" dirty="0">
                <a:latin typeface="Arial" panose="020B0604020202020204" pitchFamily="34" charset="0"/>
              </a:rPr>
              <a:t> </a:t>
            </a:r>
            <a:r>
              <a:rPr lang="en-US" altLang="ja-JP" dirty="0" err="1">
                <a:latin typeface="Arial" panose="020B0604020202020204" pitchFamily="34" charset="0"/>
              </a:rPr>
              <a:t>thao</a:t>
            </a:r>
            <a:r>
              <a:rPr lang="en-US" altLang="ja-JP" dirty="0">
                <a:latin typeface="Arial" panose="020B0604020202020204" pitchFamily="34" charset="0"/>
              </a:rPr>
              <a:t> </a:t>
            </a:r>
            <a:r>
              <a:rPr lang="en-US" altLang="ja-JP" dirty="0" err="1">
                <a:latin typeface="Arial" panose="020B0604020202020204" pitchFamily="34" charset="0"/>
              </a:rPr>
              <a:t>tác</a:t>
            </a:r>
            <a:r>
              <a:rPr lang="en-US" altLang="ja-JP" dirty="0">
                <a:latin typeface="Arial" panose="020B0604020202020204" pitchFamily="34" charset="0"/>
              </a:rPr>
              <a:t>) </a:t>
            </a:r>
            <a:r>
              <a:rPr lang="en-US" altLang="ja-JP" dirty="0" err="1">
                <a:latin typeface="Arial" panose="020B0604020202020204" pitchFamily="34" charset="0"/>
              </a:rPr>
              <a:t>thì</a:t>
            </a:r>
            <a:r>
              <a:rPr lang="en-US" altLang="ja-JP" dirty="0">
                <a:latin typeface="Arial" panose="020B0604020202020204" pitchFamily="34" charset="0"/>
              </a:rPr>
              <a:t> </a:t>
            </a:r>
            <a:r>
              <a:rPr lang="en-US" altLang="ja-JP" dirty="0" err="1">
                <a:latin typeface="Arial" panose="020B0604020202020204" pitchFamily="34" charset="0"/>
              </a:rPr>
              <a:t>khi</a:t>
            </a:r>
            <a:r>
              <a:rPr lang="en-US" altLang="ja-JP" dirty="0">
                <a:latin typeface="Arial" panose="020B0604020202020204" pitchFamily="34" charset="0"/>
              </a:rPr>
              <a:t> </a:t>
            </a:r>
            <a:r>
              <a:rPr lang="en-US" altLang="ja-JP" dirty="0" err="1">
                <a:latin typeface="Arial" panose="020B0604020202020204" pitchFamily="34" charset="0"/>
              </a:rPr>
              <a:t>cần</a:t>
            </a:r>
            <a:r>
              <a:rPr lang="en-US" altLang="ja-JP" dirty="0">
                <a:latin typeface="Arial" panose="020B0604020202020204" pitchFamily="34" charset="0"/>
              </a:rPr>
              <a:t> </a:t>
            </a:r>
            <a:r>
              <a:rPr lang="en-US" altLang="ja-JP" dirty="0" err="1">
                <a:latin typeface="Arial" panose="020B0604020202020204" pitchFamily="34" charset="0"/>
              </a:rPr>
              <a:t>thiết</a:t>
            </a:r>
            <a:r>
              <a:rPr lang="en-US" altLang="ja-JP" dirty="0">
                <a:latin typeface="Arial" panose="020B0604020202020204" pitchFamily="34" charset="0"/>
              </a:rPr>
              <a:t> </a:t>
            </a:r>
            <a:r>
              <a:rPr lang="en-US" altLang="ja-JP" dirty="0" err="1">
                <a:latin typeface="Arial" panose="020B0604020202020204" pitchFamily="34" charset="0"/>
              </a:rPr>
              <a:t>còn</a:t>
            </a:r>
            <a:r>
              <a:rPr lang="en-US" altLang="ja-JP" dirty="0">
                <a:latin typeface="Arial" panose="020B0604020202020204" pitchFamily="34" charset="0"/>
              </a:rPr>
              <a:t> </a:t>
            </a:r>
            <a:r>
              <a:rPr lang="en-US" altLang="ja-JP" dirty="0" err="1">
                <a:latin typeface="Arial" panose="020B0604020202020204" pitchFamily="34" charset="0"/>
              </a:rPr>
              <a:t>cho</a:t>
            </a:r>
            <a:r>
              <a:rPr lang="en-US" altLang="ja-JP" dirty="0">
                <a:latin typeface="Arial" panose="020B0604020202020204" pitchFamily="34" charset="0"/>
              </a:rPr>
              <a:t> </a:t>
            </a:r>
            <a:r>
              <a:rPr lang="en-US" altLang="ja-JP" dirty="0" err="1">
                <a:latin typeface="Arial" panose="020B0604020202020204" pitchFamily="34" charset="0"/>
              </a:rPr>
              <a:t>phép</a:t>
            </a:r>
            <a:r>
              <a:rPr lang="en-US" altLang="ja-JP" dirty="0">
                <a:latin typeface="Arial" panose="020B0604020202020204" pitchFamily="34" charset="0"/>
              </a:rPr>
              <a:t> </a:t>
            </a:r>
            <a:r>
              <a:rPr lang="en-US" altLang="ja-JP" dirty="0" err="1">
                <a:latin typeface="Arial" panose="020B0604020202020204" pitchFamily="34" charset="0"/>
              </a:rPr>
              <a:t>định</a:t>
            </a:r>
            <a:r>
              <a:rPr lang="en-US" altLang="ja-JP" dirty="0">
                <a:latin typeface="Arial" panose="020B0604020202020204" pitchFamily="34" charset="0"/>
              </a:rPr>
              <a:t> </a:t>
            </a:r>
            <a:r>
              <a:rPr lang="en-US" altLang="ja-JP" dirty="0" err="1">
                <a:latin typeface="Arial" panose="020B0604020202020204" pitchFamily="34" charset="0"/>
              </a:rPr>
              <a:t>nghĩa</a:t>
            </a:r>
            <a:r>
              <a:rPr lang="en-US" altLang="ja-JP" dirty="0">
                <a:latin typeface="Arial" panose="020B0604020202020204" pitchFamily="34" charset="0"/>
              </a:rPr>
              <a:t> </a:t>
            </a:r>
            <a:r>
              <a:rPr lang="en-US" altLang="ja-JP" dirty="0" err="1">
                <a:latin typeface="Arial" panose="020B0604020202020204" pitchFamily="34" charset="0"/>
              </a:rPr>
              <a:t>lại</a:t>
            </a:r>
            <a:r>
              <a:rPr lang="en-US" altLang="ja-JP" dirty="0">
                <a:latin typeface="Arial" panose="020B0604020202020204" pitchFamily="34" charset="0"/>
              </a:rPr>
              <a:t> </a:t>
            </a:r>
            <a:r>
              <a:rPr lang="en-US" altLang="ja-JP" dirty="0" err="1">
                <a:latin typeface="Arial" panose="020B0604020202020204" pitchFamily="34" charset="0"/>
              </a:rPr>
              <a:t>mà</a:t>
            </a:r>
            <a:r>
              <a:rPr lang="en-US" altLang="ja-JP" dirty="0">
                <a:latin typeface="Arial" panose="020B0604020202020204" pitchFamily="34" charset="0"/>
              </a:rPr>
              <a:t> </a:t>
            </a:r>
            <a:r>
              <a:rPr lang="en-US" altLang="ja-JP" dirty="0" err="1">
                <a:latin typeface="Arial" panose="020B0604020202020204" pitchFamily="34" charset="0"/>
              </a:rPr>
              <a:t>không</a:t>
            </a:r>
            <a:r>
              <a:rPr lang="en-US" altLang="ja-JP" dirty="0">
                <a:latin typeface="Arial" panose="020B0604020202020204" pitchFamily="34" charset="0"/>
              </a:rPr>
              <a:t> </a:t>
            </a:r>
            <a:r>
              <a:rPr lang="en-US" altLang="ja-JP" dirty="0" err="1">
                <a:latin typeface="Arial" panose="020B0604020202020204" pitchFamily="34" charset="0"/>
              </a:rPr>
              <a:t>thừa</a:t>
            </a:r>
            <a:r>
              <a:rPr lang="en-US" altLang="ja-JP" dirty="0">
                <a:latin typeface="Arial" panose="020B0604020202020204" pitchFamily="34" charset="0"/>
              </a:rPr>
              <a:t> </a:t>
            </a:r>
            <a:r>
              <a:rPr lang="en-US" altLang="ja-JP" dirty="0" err="1">
                <a:latin typeface="Arial" panose="020B0604020202020204" pitchFamily="34" charset="0"/>
              </a:rPr>
              <a:t>kế</a:t>
            </a:r>
            <a:r>
              <a:rPr lang="en-US" altLang="ja-JP" dirty="0">
                <a:latin typeface="Arial" panose="020B0604020202020204" pitchFamily="34" charset="0"/>
              </a:rPr>
              <a:t> </a:t>
            </a:r>
            <a:r>
              <a:rPr lang="en-US" altLang="ja-JP" dirty="0" err="1">
                <a:latin typeface="Arial" panose="020B0604020202020204" pitchFamily="34" charset="0"/>
              </a:rPr>
              <a:t>tính</a:t>
            </a:r>
            <a:r>
              <a:rPr lang="en-US" altLang="ja-JP" dirty="0">
                <a:latin typeface="Arial" panose="020B0604020202020204" pitchFamily="34" charset="0"/>
              </a:rPr>
              <a:t> </a:t>
            </a:r>
            <a:r>
              <a:rPr lang="en-US" altLang="ja-JP" dirty="0" err="1">
                <a:latin typeface="Arial" panose="020B0604020202020204" pitchFamily="34" charset="0"/>
              </a:rPr>
              <a:t>chất</a:t>
            </a:r>
            <a:r>
              <a:rPr lang="en-US" altLang="ja-JP" dirty="0">
                <a:latin typeface="Arial" panose="020B0604020202020204" pitchFamily="34" charset="0"/>
              </a:rPr>
              <a:t> </a:t>
            </a:r>
            <a:r>
              <a:rPr lang="en-US" altLang="ja-JP" dirty="0" err="1">
                <a:latin typeface="Arial" panose="020B0604020202020204" pitchFamily="34" charset="0"/>
              </a:rPr>
              <a:t>của</a:t>
            </a:r>
            <a:r>
              <a:rPr lang="en-US" altLang="ja-JP" dirty="0">
                <a:latin typeface="Arial" panose="020B0604020202020204" pitchFamily="34" charset="0"/>
              </a:rPr>
              <a:t> class </a:t>
            </a:r>
            <a:r>
              <a:rPr lang="en-US" altLang="ja-JP" dirty="0" err="1">
                <a:latin typeface="Arial" panose="020B0604020202020204" pitchFamily="34" charset="0"/>
              </a:rPr>
              <a:t>sẵn</a:t>
            </a:r>
            <a:r>
              <a:rPr lang="en-US" altLang="ja-JP" dirty="0">
                <a:latin typeface="Arial" panose="020B0604020202020204" pitchFamily="34" charset="0"/>
              </a:rPr>
              <a:t> </a:t>
            </a:r>
            <a:r>
              <a:rPr lang="en-US" altLang="ja-JP" dirty="0" err="1">
                <a:latin typeface="Arial" panose="020B0604020202020204" pitchFamily="34" charset="0"/>
              </a:rPr>
              <a:t>có</a:t>
            </a:r>
            <a:r>
              <a:rPr lang="en-US" altLang="ja-JP" dirty="0">
                <a:latin typeface="Arial" panose="020B0604020202020204" pitchFamily="34" charset="0"/>
              </a:rPr>
              <a:t>.</a:t>
            </a:r>
          </a:p>
          <a:p>
            <a:pPr marL="0" indent="0"/>
            <a:r>
              <a:rPr lang="en-US" altLang="ja-JP" dirty="0">
                <a:latin typeface="Arial" panose="020B0604020202020204" pitchFamily="34" charset="0"/>
              </a:rPr>
              <a:t>    </a:t>
            </a:r>
            <a:r>
              <a:rPr lang="en-US" altLang="ja-JP" dirty="0" err="1">
                <a:latin typeface="Arial" panose="020B0604020202020204" pitchFamily="34" charset="0"/>
              </a:rPr>
              <a:t>Gọi</a:t>
            </a:r>
            <a:r>
              <a:rPr lang="en-US" altLang="ja-JP" dirty="0">
                <a:latin typeface="Arial" panose="020B0604020202020204" pitchFamily="34" charset="0"/>
              </a:rPr>
              <a:t> </a:t>
            </a:r>
            <a:r>
              <a:rPr lang="en-US" altLang="ja-JP" dirty="0" err="1">
                <a:latin typeface="Arial" panose="020B0604020202020204" pitchFamily="34" charset="0"/>
              </a:rPr>
              <a:t>việc</a:t>
            </a:r>
            <a:r>
              <a:rPr lang="en-US" altLang="ja-JP" dirty="0">
                <a:latin typeface="Arial" panose="020B0604020202020204" pitchFamily="34" charset="0"/>
              </a:rPr>
              <a:t> </a:t>
            </a:r>
            <a:r>
              <a:rPr lang="en-US" altLang="ja-JP" dirty="0" err="1">
                <a:latin typeface="Arial" panose="020B0604020202020204" pitchFamily="34" charset="0"/>
              </a:rPr>
              <a:t>định</a:t>
            </a:r>
            <a:r>
              <a:rPr lang="en-US" altLang="ja-JP" dirty="0">
                <a:latin typeface="Arial" panose="020B0604020202020204" pitchFamily="34" charset="0"/>
              </a:rPr>
              <a:t> </a:t>
            </a:r>
            <a:r>
              <a:rPr lang="en-US" altLang="ja-JP" dirty="0" err="1">
                <a:latin typeface="Arial" panose="020B0604020202020204" pitchFamily="34" charset="0"/>
              </a:rPr>
              <a:t>nghĩa</a:t>
            </a:r>
            <a:r>
              <a:rPr lang="en-US" altLang="ja-JP" dirty="0">
                <a:latin typeface="Arial" panose="020B0604020202020204" pitchFamily="34" charset="0"/>
              </a:rPr>
              <a:t> </a:t>
            </a:r>
            <a:r>
              <a:rPr lang="en-US" altLang="ja-JP" dirty="0" err="1">
                <a:latin typeface="Arial" panose="020B0604020202020204" pitchFamily="34" charset="0"/>
              </a:rPr>
              <a:t>trong</a:t>
            </a:r>
            <a:r>
              <a:rPr lang="en-US" altLang="ja-JP" dirty="0">
                <a:latin typeface="Arial" panose="020B0604020202020204" pitchFamily="34" charset="0"/>
              </a:rPr>
              <a:t> sub class </a:t>
            </a:r>
            <a:r>
              <a:rPr lang="en-US" altLang="ja-JP" dirty="0" err="1">
                <a:latin typeface="Arial" panose="020B0604020202020204" pitchFamily="34" charset="0"/>
              </a:rPr>
              <a:t>các</a:t>
            </a:r>
            <a:r>
              <a:rPr lang="en-US" altLang="ja-JP" dirty="0">
                <a:latin typeface="Arial" panose="020B0604020202020204" pitchFamily="34" charset="0"/>
              </a:rPr>
              <a:t> method </a:t>
            </a:r>
            <a:r>
              <a:rPr lang="en-US" altLang="ja-JP" dirty="0" err="1">
                <a:latin typeface="Arial" panose="020B0604020202020204" pitchFamily="34" charset="0"/>
              </a:rPr>
              <a:t>của</a:t>
            </a:r>
            <a:r>
              <a:rPr lang="en-US" altLang="ja-JP" dirty="0">
                <a:latin typeface="Arial" panose="020B0604020202020204" pitchFamily="34" charset="0"/>
              </a:rPr>
              <a:t> super class, method </a:t>
            </a:r>
            <a:r>
              <a:rPr lang="en-US" altLang="ja-JP" dirty="0" err="1">
                <a:latin typeface="Arial" panose="020B0604020202020204" pitchFamily="34" charset="0"/>
              </a:rPr>
              <a:t>mà</a:t>
            </a:r>
            <a:r>
              <a:rPr lang="en-US" altLang="ja-JP" dirty="0">
                <a:latin typeface="Arial" panose="020B0604020202020204" pitchFamily="34" charset="0"/>
              </a:rPr>
              <a:t> </a:t>
            </a:r>
            <a:r>
              <a:rPr lang="en-US" altLang="ja-JP" dirty="0" err="1">
                <a:latin typeface="Arial" panose="020B0604020202020204" pitchFamily="34" charset="0"/>
              </a:rPr>
              <a:t>giá</a:t>
            </a:r>
            <a:r>
              <a:rPr lang="en-US" altLang="ja-JP" dirty="0">
                <a:latin typeface="Arial" panose="020B0604020202020204" pitchFamily="34" charset="0"/>
              </a:rPr>
              <a:t> </a:t>
            </a:r>
            <a:r>
              <a:rPr lang="en-US" altLang="ja-JP" dirty="0" err="1">
                <a:latin typeface="Arial" panose="020B0604020202020204" pitchFamily="34" charset="0"/>
              </a:rPr>
              <a:t>trị</a:t>
            </a:r>
            <a:r>
              <a:rPr lang="en-US" altLang="ja-JP" dirty="0">
                <a:latin typeface="Arial" panose="020B0604020202020204" pitchFamily="34" charset="0"/>
              </a:rPr>
              <a:t> </a:t>
            </a:r>
            <a:r>
              <a:rPr lang="en-US" altLang="ja-JP" dirty="0" err="1">
                <a:latin typeface="Arial" panose="020B0604020202020204" pitchFamily="34" charset="0"/>
              </a:rPr>
              <a:t>trả</a:t>
            </a:r>
            <a:r>
              <a:rPr lang="en-US" altLang="ja-JP" dirty="0">
                <a:latin typeface="Arial" panose="020B0604020202020204" pitchFamily="34" charset="0"/>
              </a:rPr>
              <a:t> </a:t>
            </a:r>
            <a:r>
              <a:rPr lang="en-US" altLang="ja-JP" dirty="0" err="1">
                <a:latin typeface="Arial" panose="020B0604020202020204" pitchFamily="34" charset="0"/>
              </a:rPr>
              <a:t>về</a:t>
            </a:r>
            <a:r>
              <a:rPr lang="en-US" altLang="ja-JP" dirty="0">
                <a:latin typeface="Arial" panose="020B0604020202020204" pitchFamily="34" charset="0"/>
              </a:rPr>
              <a:t> </a:t>
            </a:r>
            <a:r>
              <a:rPr lang="en-US" altLang="ja-JP" dirty="0" err="1">
                <a:latin typeface="Arial" panose="020B0604020202020204" pitchFamily="34" charset="0"/>
              </a:rPr>
              <a:t>và</a:t>
            </a:r>
            <a:r>
              <a:rPr lang="en-US" altLang="ja-JP" dirty="0">
                <a:latin typeface="Arial" panose="020B0604020202020204" pitchFamily="34" charset="0"/>
              </a:rPr>
              <a:t> signature (</a:t>
            </a:r>
            <a:r>
              <a:rPr lang="en-US" altLang="ja-JP" dirty="0" err="1">
                <a:latin typeface="Arial" panose="020B0604020202020204" pitchFamily="34" charset="0"/>
              </a:rPr>
              <a:t>Tên</a:t>
            </a:r>
            <a:r>
              <a:rPr lang="en-US" altLang="ja-JP" dirty="0">
                <a:latin typeface="Arial" panose="020B0604020202020204" pitchFamily="34" charset="0"/>
              </a:rPr>
              <a:t> </a:t>
            </a:r>
            <a:r>
              <a:rPr lang="en-US" altLang="ja-JP" dirty="0" err="1">
                <a:latin typeface="Arial" panose="020B0604020202020204" pitchFamily="34" charset="0"/>
              </a:rPr>
              <a:t>và</a:t>
            </a:r>
            <a:r>
              <a:rPr lang="en-US" altLang="ja-JP" dirty="0">
                <a:latin typeface="Arial" panose="020B0604020202020204" pitchFamily="34" charset="0"/>
              </a:rPr>
              <a:t> list </a:t>
            </a:r>
            <a:r>
              <a:rPr lang="en-US" altLang="ja-JP" dirty="0" err="1">
                <a:latin typeface="Arial" panose="020B0604020202020204" pitchFamily="34" charset="0"/>
              </a:rPr>
              <a:t>các</a:t>
            </a:r>
            <a:r>
              <a:rPr lang="en-US" altLang="ja-JP" dirty="0">
                <a:latin typeface="Arial" panose="020B0604020202020204" pitchFamily="34" charset="0"/>
              </a:rPr>
              <a:t> </a:t>
            </a:r>
            <a:r>
              <a:rPr lang="en-US" altLang="ja-JP" dirty="0" err="1">
                <a:latin typeface="Arial" panose="020B0604020202020204" pitchFamily="34" charset="0"/>
              </a:rPr>
              <a:t>đối</a:t>
            </a:r>
            <a:r>
              <a:rPr lang="en-US" altLang="ja-JP" dirty="0">
                <a:latin typeface="Arial" panose="020B0604020202020204" pitchFamily="34" charset="0"/>
              </a:rPr>
              <a:t> </a:t>
            </a:r>
            <a:r>
              <a:rPr lang="en-US" altLang="ja-JP" dirty="0" err="1">
                <a:latin typeface="Arial" panose="020B0604020202020204" pitchFamily="34" charset="0"/>
              </a:rPr>
              <a:t>số</a:t>
            </a:r>
            <a:r>
              <a:rPr lang="en-US" altLang="ja-JP" dirty="0">
                <a:latin typeface="Arial" panose="020B0604020202020204" pitchFamily="34" charset="0"/>
              </a:rPr>
              <a:t>) </a:t>
            </a:r>
            <a:r>
              <a:rPr lang="en-US" altLang="ja-JP" dirty="0" err="1">
                <a:latin typeface="Arial" panose="020B0604020202020204" pitchFamily="34" charset="0"/>
              </a:rPr>
              <a:t>hoàn</a:t>
            </a:r>
            <a:r>
              <a:rPr lang="en-US" altLang="ja-JP" dirty="0">
                <a:latin typeface="Arial" panose="020B0604020202020204" pitchFamily="34" charset="0"/>
              </a:rPr>
              <a:t> </a:t>
            </a:r>
            <a:r>
              <a:rPr lang="en-US" altLang="ja-JP" dirty="0" err="1">
                <a:latin typeface="Arial" panose="020B0604020202020204" pitchFamily="34" charset="0"/>
              </a:rPr>
              <a:t>toàn</a:t>
            </a:r>
            <a:r>
              <a:rPr lang="en-US" altLang="ja-JP" dirty="0">
                <a:latin typeface="Arial" panose="020B0604020202020204" pitchFamily="34" charset="0"/>
              </a:rPr>
              <a:t> </a:t>
            </a:r>
            <a:r>
              <a:rPr lang="en-US" altLang="ja-JP" dirty="0" err="1">
                <a:latin typeface="Arial" panose="020B0604020202020204" pitchFamily="34" charset="0"/>
              </a:rPr>
              <a:t>giống</a:t>
            </a:r>
            <a:r>
              <a:rPr lang="en-US" altLang="ja-JP" dirty="0">
                <a:latin typeface="Arial" panose="020B0604020202020204" pitchFamily="34" charset="0"/>
              </a:rPr>
              <a:t> </a:t>
            </a:r>
            <a:r>
              <a:rPr lang="en-US" altLang="ja-JP" dirty="0" err="1">
                <a:latin typeface="Arial" panose="020B0604020202020204" pitchFamily="34" charset="0"/>
              </a:rPr>
              <a:t>nhau</a:t>
            </a:r>
            <a:r>
              <a:rPr lang="en-US" altLang="ja-JP" dirty="0">
                <a:latin typeface="Arial" panose="020B0604020202020204" pitchFamily="34" charset="0"/>
              </a:rPr>
              <a:t> </a:t>
            </a:r>
            <a:r>
              <a:rPr lang="en-US" altLang="ja-JP" dirty="0" err="1">
                <a:latin typeface="Arial" panose="020B0604020202020204" pitchFamily="34" charset="0"/>
              </a:rPr>
              <a:t>là</a:t>
            </a:r>
            <a:r>
              <a:rPr lang="en-US" altLang="ja-JP" dirty="0">
                <a:latin typeface="Arial" panose="020B0604020202020204" pitchFamily="34" charset="0"/>
              </a:rPr>
              <a:t> Override </a:t>
            </a:r>
            <a:r>
              <a:rPr lang="en-US" altLang="ja-JP" dirty="0" err="1">
                <a:latin typeface="Arial" panose="020B0604020202020204" pitchFamily="34" charset="0"/>
              </a:rPr>
              <a:t>của</a:t>
            </a:r>
            <a:r>
              <a:rPr lang="en-US" altLang="ja-JP" dirty="0">
                <a:latin typeface="Arial" panose="020B0604020202020204" pitchFamily="34" charset="0"/>
              </a:rPr>
              <a:t> method. </a:t>
            </a:r>
          </a:p>
          <a:p>
            <a:pPr marL="0" indent="0"/>
            <a:r>
              <a:rPr lang="ja-JP" altLang="en-US" dirty="0">
                <a:latin typeface="Arial" panose="020B0604020202020204" pitchFamily="34" charset="0"/>
              </a:rPr>
              <a:t>　</a:t>
            </a:r>
          </a:p>
          <a:p>
            <a:pPr marL="0" indent="0"/>
            <a:r>
              <a:rPr lang="en-US" altLang="ja-JP" dirty="0">
                <a:latin typeface="Arial" panose="020B0604020202020204" pitchFamily="34" charset="0"/>
              </a:rPr>
              <a:t>【Tham </a:t>
            </a:r>
            <a:r>
              <a:rPr lang="en-US" altLang="ja-JP" dirty="0" err="1">
                <a:latin typeface="Arial" panose="020B0604020202020204" pitchFamily="34" charset="0"/>
              </a:rPr>
              <a:t>khảo</a:t>
            </a:r>
            <a:r>
              <a:rPr lang="en-US" altLang="ja-JP" dirty="0">
                <a:latin typeface="Arial" panose="020B0604020202020204" pitchFamily="34" charset="0"/>
              </a:rPr>
              <a:t>】</a:t>
            </a:r>
            <a:r>
              <a:rPr lang="ja-JP" altLang="en-US" dirty="0">
                <a:latin typeface="Arial" panose="020B0604020202020204" pitchFamily="34" charset="0"/>
              </a:rPr>
              <a:t>　</a:t>
            </a:r>
            <a:r>
              <a:rPr lang="en-US" altLang="ja-JP" dirty="0">
                <a:latin typeface="Arial" panose="020B0604020202020204" pitchFamily="34" charset="0"/>
              </a:rPr>
              <a:t>Override </a:t>
            </a:r>
            <a:r>
              <a:rPr lang="en-US" altLang="ja-JP" dirty="0" err="1">
                <a:latin typeface="Arial" panose="020B0604020202020204" pitchFamily="34" charset="0"/>
              </a:rPr>
              <a:t>và</a:t>
            </a:r>
            <a:r>
              <a:rPr lang="en-US" altLang="ja-JP" dirty="0">
                <a:latin typeface="Arial" panose="020B0604020202020204" pitchFamily="34" charset="0"/>
              </a:rPr>
              <a:t> modifier</a:t>
            </a:r>
          </a:p>
          <a:p>
            <a:pPr marL="0" indent="0"/>
            <a:r>
              <a:rPr lang="en-US" altLang="ja-JP" dirty="0">
                <a:latin typeface="Arial" panose="020B0604020202020204" pitchFamily="34" charset="0"/>
              </a:rPr>
              <a:t>    Khi override method </a:t>
            </a:r>
            <a:r>
              <a:rPr lang="en-US" altLang="ja-JP" dirty="0" err="1">
                <a:latin typeface="Arial" panose="020B0604020202020204" pitchFamily="34" charset="0"/>
              </a:rPr>
              <a:t>của</a:t>
            </a:r>
            <a:r>
              <a:rPr lang="en-US" altLang="ja-JP" dirty="0">
                <a:latin typeface="Arial" panose="020B0604020202020204" pitchFamily="34" charset="0"/>
              </a:rPr>
              <a:t> super class ở </a:t>
            </a:r>
            <a:r>
              <a:rPr lang="en-US" altLang="ja-JP" dirty="0" err="1">
                <a:latin typeface="Arial" panose="020B0604020202020204" pitchFamily="34" charset="0"/>
              </a:rPr>
              <a:t>bên</a:t>
            </a:r>
            <a:r>
              <a:rPr lang="en-US" altLang="ja-JP" dirty="0">
                <a:latin typeface="Arial" panose="020B0604020202020204" pitchFamily="34" charset="0"/>
              </a:rPr>
              <a:t> sub class </a:t>
            </a:r>
            <a:r>
              <a:rPr lang="en-US" altLang="ja-JP" dirty="0" err="1">
                <a:latin typeface="Arial" panose="020B0604020202020204" pitchFamily="34" charset="0"/>
              </a:rPr>
              <a:t>thì</a:t>
            </a:r>
            <a:r>
              <a:rPr lang="en-US" altLang="ja-JP" dirty="0">
                <a:latin typeface="Arial" panose="020B0604020202020204" pitchFamily="34" charset="0"/>
              </a:rPr>
              <a:t> </a:t>
            </a:r>
            <a:r>
              <a:rPr lang="en-US" altLang="ja-JP" dirty="0" err="1">
                <a:latin typeface="Arial" panose="020B0604020202020204" pitchFamily="34" charset="0"/>
              </a:rPr>
              <a:t>về</a:t>
            </a:r>
            <a:r>
              <a:rPr lang="en-US" altLang="ja-JP" dirty="0">
                <a:latin typeface="Arial" panose="020B0604020202020204" pitchFamily="34" charset="0"/>
              </a:rPr>
              <a:t> access modifier, </a:t>
            </a:r>
            <a:r>
              <a:rPr lang="en-US" altLang="ja-JP" dirty="0" err="1">
                <a:latin typeface="Arial" panose="020B0604020202020204" pitchFamily="34" charset="0"/>
              </a:rPr>
              <a:t>có</a:t>
            </a:r>
            <a:r>
              <a:rPr lang="en-US" altLang="ja-JP" dirty="0">
                <a:latin typeface="Arial" panose="020B0604020202020204" pitchFamily="34" charset="0"/>
              </a:rPr>
              <a:t> </a:t>
            </a:r>
            <a:r>
              <a:rPr lang="en-US" altLang="ja-JP" dirty="0" err="1">
                <a:latin typeface="Arial" panose="020B0604020202020204" pitchFamily="34" charset="0"/>
              </a:rPr>
              <a:t>thể</a:t>
            </a:r>
            <a:r>
              <a:rPr lang="en-US" altLang="ja-JP" dirty="0">
                <a:latin typeface="Arial" panose="020B0604020202020204" pitchFamily="34" charset="0"/>
              </a:rPr>
              <a:t> </a:t>
            </a:r>
            <a:r>
              <a:rPr lang="en-US" altLang="ja-JP" dirty="0" err="1">
                <a:latin typeface="Arial" panose="020B0604020202020204" pitchFamily="34" charset="0"/>
              </a:rPr>
              <a:t>thay</a:t>
            </a:r>
            <a:r>
              <a:rPr lang="en-US" altLang="ja-JP" dirty="0">
                <a:latin typeface="Arial" panose="020B0604020202020204" pitchFamily="34" charset="0"/>
              </a:rPr>
              <a:t> </a:t>
            </a:r>
            <a:r>
              <a:rPr lang="en-US" altLang="ja-JP" dirty="0" err="1">
                <a:latin typeface="Arial" panose="020B0604020202020204" pitchFamily="34" charset="0"/>
              </a:rPr>
              <a:t>đổi</a:t>
            </a:r>
            <a:r>
              <a:rPr lang="en-US" altLang="ja-JP" dirty="0">
                <a:latin typeface="Arial" panose="020B0604020202020204" pitchFamily="34" charset="0"/>
              </a:rPr>
              <a:t> </a:t>
            </a:r>
            <a:r>
              <a:rPr lang="en-US" altLang="ja-JP" dirty="0" err="1">
                <a:latin typeface="Arial" panose="020B0604020202020204" pitchFamily="34" charset="0"/>
              </a:rPr>
              <a:t>bằng</a:t>
            </a:r>
            <a:r>
              <a:rPr lang="en-US" altLang="ja-JP" dirty="0">
                <a:latin typeface="Arial" panose="020B0604020202020204" pitchFamily="34" charset="0"/>
              </a:rPr>
              <a:t> </a:t>
            </a:r>
            <a:r>
              <a:rPr lang="en-US" altLang="ja-JP" dirty="0" err="1">
                <a:latin typeface="Arial" panose="020B0604020202020204" pitchFamily="34" charset="0"/>
              </a:rPr>
              <a:t>hình</a:t>
            </a:r>
            <a:r>
              <a:rPr lang="en-US" altLang="ja-JP" dirty="0">
                <a:latin typeface="Arial" panose="020B0604020202020204" pitchFamily="34" charset="0"/>
              </a:rPr>
              <a:t> </a:t>
            </a:r>
            <a:r>
              <a:rPr lang="en-US" altLang="ja-JP" dirty="0" err="1">
                <a:latin typeface="Arial" panose="020B0604020202020204" pitchFamily="34" charset="0"/>
              </a:rPr>
              <a:t>thức</a:t>
            </a:r>
            <a:r>
              <a:rPr lang="en-US" altLang="ja-JP" dirty="0">
                <a:latin typeface="Arial" panose="020B0604020202020204" pitchFamily="34" charset="0"/>
              </a:rPr>
              <a:t> </a:t>
            </a:r>
            <a:r>
              <a:rPr lang="en-US" altLang="ja-JP" dirty="0" err="1">
                <a:latin typeface="Arial" panose="020B0604020202020204" pitchFamily="34" charset="0"/>
              </a:rPr>
              <a:t>nới</a:t>
            </a:r>
            <a:r>
              <a:rPr lang="en-US" altLang="ja-JP" dirty="0">
                <a:latin typeface="Arial" panose="020B0604020202020204" pitchFamily="34" charset="0"/>
              </a:rPr>
              <a:t> </a:t>
            </a:r>
            <a:r>
              <a:rPr lang="en-US" altLang="ja-JP" dirty="0" err="1">
                <a:latin typeface="Arial" panose="020B0604020202020204" pitchFamily="34" charset="0"/>
              </a:rPr>
              <a:t>lỏng</a:t>
            </a:r>
            <a:r>
              <a:rPr lang="en-US" altLang="ja-JP" dirty="0">
                <a:latin typeface="Arial" panose="020B0604020202020204" pitchFamily="34" charset="0"/>
              </a:rPr>
              <a:t> </a:t>
            </a:r>
            <a:r>
              <a:rPr lang="en-US" altLang="ja-JP" dirty="0" err="1">
                <a:latin typeface="Arial" panose="020B0604020202020204" pitchFamily="34" charset="0"/>
              </a:rPr>
              <a:t>các</a:t>
            </a:r>
            <a:r>
              <a:rPr lang="en-US" altLang="ja-JP" dirty="0">
                <a:latin typeface="Arial" panose="020B0604020202020204" pitchFamily="34" charset="0"/>
              </a:rPr>
              <a:t> </a:t>
            </a:r>
            <a:r>
              <a:rPr lang="en-US" altLang="ja-JP" dirty="0" err="1">
                <a:latin typeface="Arial" panose="020B0604020202020204" pitchFamily="34" charset="0"/>
              </a:rPr>
              <a:t>hạn</a:t>
            </a:r>
            <a:r>
              <a:rPr lang="en-US" altLang="ja-JP" dirty="0">
                <a:latin typeface="Arial" panose="020B0604020202020204" pitchFamily="34" charset="0"/>
              </a:rPr>
              <a:t> </a:t>
            </a:r>
            <a:r>
              <a:rPr lang="en-US" altLang="ja-JP" dirty="0" err="1">
                <a:latin typeface="Arial" panose="020B0604020202020204" pitchFamily="34" charset="0"/>
              </a:rPr>
              <a:t>chế</a:t>
            </a:r>
            <a:r>
              <a:rPr lang="en-US" altLang="ja-JP" dirty="0">
                <a:latin typeface="Arial" panose="020B0604020202020204" pitchFamily="34" charset="0"/>
              </a:rPr>
              <a:t>. </a:t>
            </a:r>
          </a:p>
          <a:p>
            <a:pPr marL="0" indent="0"/>
            <a:r>
              <a:rPr lang="en-US" altLang="ja-JP" dirty="0">
                <a:latin typeface="Arial" panose="020B0604020202020204" pitchFamily="34" charset="0"/>
              </a:rPr>
              <a:t>    (Super class  protected → Sub class public) </a:t>
            </a:r>
          </a:p>
        </p:txBody>
      </p:sp>
      <p:sp>
        <p:nvSpPr>
          <p:cNvPr id="517124" name="Text Box 4">
            <a:extLst>
              <a:ext uri="{FF2B5EF4-FFF2-40B4-BE49-F238E27FC236}">
                <a16:creationId xmlns:a16="http://schemas.microsoft.com/office/drawing/2014/main" id="{CF509258-8D4C-9222-3A9F-0AAD237486F4}"/>
              </a:ext>
            </a:extLst>
          </p:cNvPr>
          <p:cNvSpPr txBox="1">
            <a:spLocks noChangeArrowheads="1"/>
          </p:cNvSpPr>
          <p:nvPr/>
        </p:nvSpPr>
        <p:spPr bwMode="auto">
          <a:xfrm>
            <a:off x="827088" y="7113588"/>
            <a:ext cx="5618162" cy="2603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8296" tIns="116502" rIns="368296" bIns="116502">
            <a:spAutoFit/>
          </a:bodyPr>
          <a:lstStyle>
            <a:lvl1pPr defTabSz="901700">
              <a:defRPr kumimoji="1">
                <a:solidFill>
                  <a:schemeClr val="tx1"/>
                </a:solidFill>
                <a:latin typeface="Arial" panose="020B0604020202020204" pitchFamily="34" charset="0"/>
                <a:ea typeface="ＭＳ Ｐゴシック" panose="020B0600070205080204" pitchFamily="50" charset="-128"/>
              </a:defRPr>
            </a:lvl1pPr>
            <a:lvl2pPr marL="477838" defTabSz="901700">
              <a:defRPr kumimoji="1">
                <a:solidFill>
                  <a:schemeClr val="tx1"/>
                </a:solidFill>
                <a:latin typeface="Arial" panose="020B0604020202020204" pitchFamily="34" charset="0"/>
                <a:ea typeface="ＭＳ Ｐゴシック" panose="020B0600070205080204" pitchFamily="50" charset="-128"/>
              </a:defRPr>
            </a:lvl2pPr>
            <a:lvl3pPr marL="954088" defTabSz="901700">
              <a:defRPr kumimoji="1">
                <a:solidFill>
                  <a:schemeClr val="tx1"/>
                </a:solidFill>
                <a:latin typeface="Arial" panose="020B0604020202020204" pitchFamily="34" charset="0"/>
                <a:ea typeface="ＭＳ Ｐゴシック" panose="020B0600070205080204" pitchFamily="50" charset="-128"/>
              </a:defRPr>
            </a:lvl3pPr>
            <a:lvl4pPr marL="1431925" defTabSz="901700">
              <a:defRPr kumimoji="1">
                <a:solidFill>
                  <a:schemeClr val="tx1"/>
                </a:solidFill>
                <a:latin typeface="Arial" panose="020B0604020202020204" pitchFamily="34" charset="0"/>
                <a:ea typeface="ＭＳ Ｐゴシック" panose="020B0600070205080204" pitchFamily="50" charset="-128"/>
              </a:defRPr>
            </a:lvl4pPr>
            <a:lvl5pPr marL="1909763" defTabSz="901700">
              <a:defRPr kumimoji="1">
                <a:solidFill>
                  <a:schemeClr val="tx1"/>
                </a:solidFill>
                <a:latin typeface="Arial" panose="020B0604020202020204" pitchFamily="34" charset="0"/>
                <a:ea typeface="ＭＳ Ｐゴシック" panose="020B0600070205080204" pitchFamily="50" charset="-128"/>
              </a:defRPr>
            </a:lvl5pPr>
            <a:lvl6pPr marL="23669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a:t>Override và overload</a:t>
            </a:r>
          </a:p>
          <a:p>
            <a:pPr>
              <a:lnSpc>
                <a:spcPct val="50000"/>
              </a:lnSpc>
            </a:pPr>
            <a:endParaRPr lang="en-US" altLang="ja-JP" b="0"/>
          </a:p>
          <a:p>
            <a:r>
              <a:rPr lang="ja-JP" altLang="en-US" b="0"/>
              <a:t>　</a:t>
            </a:r>
            <a:r>
              <a:rPr lang="en-US" altLang="ja-JP" b="0"/>
              <a:t>Từ vựng thì giống nhau nhưng ý nghĩa hoàn toàn khác nhau nên cần chú ý để không bị nhầm lẫn.</a:t>
            </a:r>
          </a:p>
          <a:p>
            <a:endParaRPr lang="en-US" altLang="ja-JP" b="0"/>
          </a:p>
          <a:p>
            <a:r>
              <a:rPr lang="en-US" altLang="ja-JP" b="0"/>
              <a:t>【Override】</a:t>
            </a:r>
          </a:p>
          <a:p>
            <a:r>
              <a:rPr lang="ja-JP" altLang="en-US" b="0"/>
              <a:t>　</a:t>
            </a:r>
            <a:r>
              <a:rPr lang="en-US" altLang="ja-JP" b="0"/>
              <a:t>Là ở sub class định nghĩa method của supper class và method có </a:t>
            </a:r>
            <a:r>
              <a:rPr lang="en-US" altLang="ja-JP" b="0">
                <a:ea typeface="MS UI Gothic" panose="020B0600070205080204" pitchFamily="50" charset="-128"/>
              </a:rPr>
              <a:t>signature (name và list đối số) hoàn toàn giống nhau</a:t>
            </a:r>
            <a:endParaRPr lang="en-US" altLang="ja-JP" b="0"/>
          </a:p>
          <a:p>
            <a:r>
              <a:rPr lang="ja-JP" altLang="en-US" b="0"/>
              <a:t>　（</a:t>
            </a:r>
            <a:r>
              <a:rPr lang="en-US" altLang="ja-JP" b="0"/>
              <a:t>Về tính năng superclass đang có, sẽ định nghĩa lại một cách độc lập ở phía subclass</a:t>
            </a:r>
            <a:r>
              <a:rPr lang="ja-JP" altLang="en-US" b="0"/>
              <a:t>）</a:t>
            </a:r>
          </a:p>
          <a:p>
            <a:endParaRPr lang="ja-JP" altLang="en-US" b="0"/>
          </a:p>
          <a:p>
            <a:r>
              <a:rPr lang="en-US" altLang="ja-JP" b="0"/>
              <a:t>【Overload】</a:t>
            </a:r>
          </a:p>
          <a:p>
            <a:r>
              <a:rPr lang="ja-JP" altLang="en-US" b="0"/>
              <a:t>　</a:t>
            </a:r>
            <a:r>
              <a:rPr lang="en-US" altLang="ja-JP" b="0"/>
              <a:t>Là định nghĩa nhiều method/ constructor có name giống nhau  nhưng đối số khác nhau trong cùng 1 class.</a:t>
            </a:r>
          </a:p>
          <a:p>
            <a:r>
              <a:rPr lang="en-US" altLang="ja-JP" b="0"/>
              <a:t> </a:t>
            </a:r>
            <a:r>
              <a:rPr lang="ja-JP" altLang="en-US" b="0"/>
              <a:t>　（</a:t>
            </a:r>
            <a:r>
              <a:rPr lang="en-US" altLang="ja-JP" b="0"/>
              <a:t>Trường hợp muốn định nghĩa chức năng nào đó nhưng tồn tại nhiều pattern đối số </a:t>
            </a:r>
            <a:r>
              <a:rPr lang="ja-JP" altLang="en-US" b="0"/>
              <a:t>）</a:t>
            </a:r>
          </a:p>
        </p:txBody>
      </p:sp>
      <p:grpSp>
        <p:nvGrpSpPr>
          <p:cNvPr id="517125" name="Group 5">
            <a:extLst>
              <a:ext uri="{FF2B5EF4-FFF2-40B4-BE49-F238E27FC236}">
                <a16:creationId xmlns:a16="http://schemas.microsoft.com/office/drawing/2014/main" id="{69517CE8-5C15-E17C-9197-D52341435BE8}"/>
              </a:ext>
            </a:extLst>
          </p:cNvPr>
          <p:cNvGrpSpPr>
            <a:grpSpLocks/>
          </p:cNvGrpSpPr>
          <p:nvPr/>
        </p:nvGrpSpPr>
        <p:grpSpPr bwMode="auto">
          <a:xfrm>
            <a:off x="823913" y="6858000"/>
            <a:ext cx="5622925" cy="301625"/>
            <a:chOff x="351" y="1572"/>
            <a:chExt cx="4968" cy="204"/>
          </a:xfrm>
        </p:grpSpPr>
        <p:pic>
          <p:nvPicPr>
            <p:cNvPr id="517126" name="Picture 6">
              <a:extLst>
                <a:ext uri="{FF2B5EF4-FFF2-40B4-BE49-F238E27FC236}">
                  <a16:creationId xmlns:a16="http://schemas.microsoft.com/office/drawing/2014/main" id="{8D4C940A-2A32-901D-7412-3507715E4B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 y="1572"/>
              <a:ext cx="4968" cy="174"/>
            </a:xfrm>
            <a:prstGeom prst="rect">
              <a:avLst/>
            </a:prstGeom>
            <a:noFill/>
            <a:extLst>
              <a:ext uri="{909E8E84-426E-40DD-AFC4-6F175D3DCCD1}">
                <a14:hiddenFill xmlns:a14="http://schemas.microsoft.com/office/drawing/2010/main">
                  <a:solidFill>
                    <a:srgbClr val="FFFFFF"/>
                  </a:solidFill>
                </a14:hiddenFill>
              </a:ext>
            </a:extLst>
          </p:spPr>
        </p:pic>
        <p:sp>
          <p:nvSpPr>
            <p:cNvPr id="517127" name="Text Box 7">
              <a:extLst>
                <a:ext uri="{FF2B5EF4-FFF2-40B4-BE49-F238E27FC236}">
                  <a16:creationId xmlns:a16="http://schemas.microsoft.com/office/drawing/2014/main" id="{C9B6C23A-0A0F-B724-6F07-AE97F30019AF}"/>
                </a:ext>
              </a:extLst>
            </p:cNvPr>
            <p:cNvSpPr txBox="1">
              <a:spLocks noChangeArrowheads="1"/>
            </p:cNvSpPr>
            <p:nvPr/>
          </p:nvSpPr>
          <p:spPr bwMode="auto">
            <a:xfrm>
              <a:off x="517" y="1598"/>
              <a:ext cx="511" cy="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457" tIns="47728" rIns="95457" bIns="47728">
              <a:spAutoFit/>
            </a:bodyPr>
            <a:lstStyle>
              <a:lvl1pPr defTabSz="901700">
                <a:defRPr kumimoji="1">
                  <a:solidFill>
                    <a:schemeClr val="tx1"/>
                  </a:solidFill>
                  <a:latin typeface="Arial" panose="020B0604020202020204" pitchFamily="34" charset="0"/>
                  <a:ea typeface="ＭＳ Ｐゴシック" panose="020B0600070205080204" pitchFamily="50" charset="-128"/>
                </a:defRPr>
              </a:lvl1pPr>
              <a:lvl2pPr marL="477838" defTabSz="901700">
                <a:defRPr kumimoji="1">
                  <a:solidFill>
                    <a:schemeClr val="tx1"/>
                  </a:solidFill>
                  <a:latin typeface="Arial" panose="020B0604020202020204" pitchFamily="34" charset="0"/>
                  <a:ea typeface="ＭＳ Ｐゴシック" panose="020B0600070205080204" pitchFamily="50" charset="-128"/>
                </a:defRPr>
              </a:lvl2pPr>
              <a:lvl3pPr marL="954088" defTabSz="901700">
                <a:defRPr kumimoji="1">
                  <a:solidFill>
                    <a:schemeClr val="tx1"/>
                  </a:solidFill>
                  <a:latin typeface="Arial" panose="020B0604020202020204" pitchFamily="34" charset="0"/>
                  <a:ea typeface="ＭＳ Ｐゴシック" panose="020B0600070205080204" pitchFamily="50" charset="-128"/>
                </a:defRPr>
              </a:lvl3pPr>
              <a:lvl4pPr marL="1431925" defTabSz="901700">
                <a:defRPr kumimoji="1">
                  <a:solidFill>
                    <a:schemeClr val="tx1"/>
                  </a:solidFill>
                  <a:latin typeface="Arial" panose="020B0604020202020204" pitchFamily="34" charset="0"/>
                  <a:ea typeface="ＭＳ Ｐゴシック" panose="020B0600070205080204" pitchFamily="50" charset="-128"/>
                </a:defRPr>
              </a:lvl4pPr>
              <a:lvl5pPr marL="1909763" defTabSz="901700">
                <a:defRPr kumimoji="1">
                  <a:solidFill>
                    <a:schemeClr val="tx1"/>
                  </a:solidFill>
                  <a:latin typeface="Arial" panose="020B0604020202020204" pitchFamily="34" charset="0"/>
                  <a:ea typeface="ＭＳ Ｐゴシック" panose="020B0600070205080204" pitchFamily="50" charset="-128"/>
                </a:defRPr>
              </a:lvl5pPr>
              <a:lvl6pPr marL="23669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017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100">
                  <a:solidFill>
                    <a:schemeClr val="bg1"/>
                  </a:solidFill>
                </a:rPr>
                <a:t>Chú ý</a:t>
              </a:r>
            </a:p>
          </p:txBody>
        </p:sp>
      </p:gr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a:extLst>
              <a:ext uri="{FF2B5EF4-FFF2-40B4-BE49-F238E27FC236}">
                <a16:creationId xmlns:a16="http://schemas.microsoft.com/office/drawing/2014/main" id="{3B2CC78E-0F05-F475-F190-0996CC31CE0D}"/>
              </a:ext>
            </a:extLst>
          </p:cNvPr>
          <p:cNvSpPr>
            <a:spLocks noRot="1" noChangeAspect="1" noChangeArrowheads="1" noTextEdit="1"/>
          </p:cNvSpPr>
          <p:nvPr>
            <p:ph type="sldImg"/>
          </p:nvPr>
        </p:nvSpPr>
        <p:spPr>
          <a:xfrm>
            <a:off x="530225" y="835025"/>
            <a:ext cx="6024563" cy="4170363"/>
          </a:xfrm>
          <a:ln/>
        </p:spPr>
      </p:sp>
      <p:sp>
        <p:nvSpPr>
          <p:cNvPr id="527363" name="Rectangle 3">
            <a:extLst>
              <a:ext uri="{FF2B5EF4-FFF2-40B4-BE49-F238E27FC236}">
                <a16:creationId xmlns:a16="http://schemas.microsoft.com/office/drawing/2014/main" id="{4D40168D-8866-DE96-C230-442EFC3403D1}"/>
              </a:ext>
            </a:extLst>
          </p:cNvPr>
          <p:cNvSpPr>
            <a:spLocks noGrp="1" noChangeArrowheads="1"/>
          </p:cNvSpPr>
          <p:nvPr>
            <p:ph type="body" idx="1"/>
          </p:nvPr>
        </p:nvSpPr>
        <p:spPr/>
        <p:txBody>
          <a:bodyPr/>
          <a:lstStyle/>
          <a:p>
            <a:pPr marL="0" indent="0"/>
            <a:r>
              <a:rPr lang="ja-JP" altLang="ja-JP">
                <a:latin typeface="Arial" panose="020B0604020202020204" pitchFamily="34" charset="0"/>
              </a:rPr>
              <a:t>■　</a:t>
            </a:r>
            <a:r>
              <a:rPr lang="en-US" altLang="ja-JP">
                <a:latin typeface="Arial" panose="020B0604020202020204" pitchFamily="34" charset="0"/>
              </a:rPr>
              <a:t>This và super</a:t>
            </a:r>
          </a:p>
          <a:p>
            <a:pPr marL="0" indent="0"/>
            <a:r>
              <a:rPr lang="en-US" altLang="ja-JP">
                <a:latin typeface="Arial" panose="020B0604020202020204" pitchFamily="34" charset="0"/>
              </a:rPr>
              <a:t> Trong Java có chuẩn bị các key word là</a:t>
            </a:r>
            <a:r>
              <a:rPr lang="ja-JP" altLang="en-US">
                <a:latin typeface="Arial" panose="020B0604020202020204" pitchFamily="34" charset="0"/>
              </a:rPr>
              <a:t>「</a:t>
            </a:r>
            <a:r>
              <a:rPr lang="en-US" altLang="ja-JP">
                <a:latin typeface="Arial" panose="020B0604020202020204" pitchFamily="34" charset="0"/>
              </a:rPr>
              <a:t>this</a:t>
            </a:r>
            <a:r>
              <a:rPr lang="ja-JP" altLang="en-US">
                <a:latin typeface="Arial" panose="020B0604020202020204" pitchFamily="34" charset="0"/>
              </a:rPr>
              <a:t>」</a:t>
            </a:r>
            <a:r>
              <a:rPr lang="en-US" altLang="ja-JP">
                <a:latin typeface="Arial" panose="020B0604020202020204" pitchFamily="34" charset="0"/>
              </a:rPr>
              <a:t>thể hiện bản thân object mà hiện tại đang thực hiện xử lí và</a:t>
            </a:r>
            <a:r>
              <a:rPr lang="ja-JP" altLang="en-US">
                <a:latin typeface="Arial" panose="020B0604020202020204" pitchFamily="34" charset="0"/>
              </a:rPr>
              <a:t>「</a:t>
            </a:r>
            <a:r>
              <a:rPr lang="en-US" altLang="ja-JP">
                <a:latin typeface="Arial" panose="020B0604020202020204" pitchFamily="34" charset="0"/>
              </a:rPr>
              <a:t>super</a:t>
            </a:r>
            <a:r>
              <a:rPr lang="ja-JP" altLang="en-US">
                <a:latin typeface="Arial" panose="020B0604020202020204" pitchFamily="34" charset="0"/>
              </a:rPr>
              <a:t>」</a:t>
            </a:r>
            <a:r>
              <a:rPr lang="en-US" altLang="ja-JP">
                <a:latin typeface="Arial" panose="020B0604020202020204" pitchFamily="34" charset="0"/>
              </a:rPr>
              <a:t>thể hiện một cách rõ ràng về super class.</a:t>
            </a:r>
          </a:p>
          <a:p>
            <a:pPr marL="0" indent="0"/>
            <a:r>
              <a:rPr lang="en-US" altLang="ja-JP">
                <a:latin typeface="Arial" panose="020B0604020202020204" pitchFamily="34" charset="0"/>
              </a:rPr>
              <a:t> Nếu sử dụng this và super thì có thể phân biệt rõ ràng nội dung định nghĩa tại class đó hay là nội dung thừa kế từ super class. </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Sử dụng chủ yếu this</a:t>
            </a:r>
          </a:p>
          <a:p>
            <a:pPr marL="0" indent="0"/>
            <a:r>
              <a:rPr lang="ja-JP" altLang="en-US">
                <a:latin typeface="Arial" panose="020B0604020202020204" pitchFamily="34" charset="0"/>
              </a:rPr>
              <a:t>　・　</a:t>
            </a:r>
            <a:r>
              <a:rPr lang="en-US" altLang="ja-JP">
                <a:latin typeface="Arial" panose="020B0604020202020204" pitchFamily="34" charset="0"/>
              </a:rPr>
              <a:t>Ở đầu xử lí constructor gọi ra constructor khác của chính class đó.</a:t>
            </a:r>
          </a:p>
          <a:p>
            <a:pPr marL="0" indent="0"/>
            <a:r>
              <a:rPr lang="ja-JP" altLang="en-US">
                <a:latin typeface="Arial" panose="020B0604020202020204" pitchFamily="34" charset="0"/>
              </a:rPr>
              <a:t>　・　</a:t>
            </a:r>
            <a:r>
              <a:rPr lang="en-US" altLang="ja-JP">
                <a:latin typeface="Arial" panose="020B0604020202020204" pitchFamily="34" charset="0"/>
              </a:rPr>
              <a:t>Trong xử lí instance method nào đó, access vào biến số instance (Thuộc tính) của chính mình </a:t>
            </a:r>
          </a:p>
          <a:p>
            <a:pPr marL="0" indent="0"/>
            <a:r>
              <a:rPr lang="ja-JP" altLang="en-US">
                <a:latin typeface="Arial" panose="020B0604020202020204" pitchFamily="34" charset="0"/>
              </a:rPr>
              <a:t>　・　</a:t>
            </a:r>
            <a:r>
              <a:rPr lang="en-US" altLang="ja-JP">
                <a:latin typeface="Arial" panose="020B0604020202020204" pitchFamily="34" charset="0"/>
              </a:rPr>
              <a:t>Trong xử lí instance method nào đó, gọi ra instance method khác của chính mình. </a:t>
            </a:r>
          </a:p>
          <a:p>
            <a:pPr marL="0" indent="0"/>
            <a:r>
              <a:rPr lang="en-US" altLang="ja-JP">
                <a:latin typeface="Arial" panose="020B0604020202020204" pitchFamily="34" charset="0"/>
              </a:rPr>
              <a:t>Truyền đạt thông tin tham chiếu của chính mình cho đối tượng khác. </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Sử dụng chủ yếu super</a:t>
            </a:r>
          </a:p>
          <a:p>
            <a:pPr marL="0" indent="0"/>
            <a:r>
              <a:rPr lang="ja-JP" altLang="en-US">
                <a:latin typeface="Arial" panose="020B0604020202020204" pitchFamily="34" charset="0"/>
              </a:rPr>
              <a:t>　・  </a:t>
            </a:r>
            <a:r>
              <a:rPr lang="en-US" altLang="ja-JP">
                <a:latin typeface="Arial" panose="020B0604020202020204" pitchFamily="34" charset="0"/>
              </a:rPr>
              <a:t>Ở đầu xử lí constructor, gọi ra constructor của super class.</a:t>
            </a:r>
          </a:p>
          <a:p>
            <a:pPr marL="0" indent="0"/>
            <a:r>
              <a:rPr lang="ja-JP" altLang="en-US">
                <a:latin typeface="Arial" panose="020B0604020202020204" pitchFamily="34" charset="0"/>
              </a:rPr>
              <a:t>　・　</a:t>
            </a:r>
            <a:r>
              <a:rPr lang="en-US" altLang="ja-JP">
                <a:latin typeface="Arial" panose="020B0604020202020204" pitchFamily="34" charset="0"/>
              </a:rPr>
              <a:t>Trong trường hợp override thì từ trong method của sub class gọi ra method của super class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a:extLst>
              <a:ext uri="{FF2B5EF4-FFF2-40B4-BE49-F238E27FC236}">
                <a16:creationId xmlns:a16="http://schemas.microsoft.com/office/drawing/2014/main" id="{3A8FE3BF-620D-5913-B08A-CD84EF700E07}"/>
              </a:ext>
            </a:extLst>
          </p:cNvPr>
          <p:cNvSpPr>
            <a:spLocks noRot="1" noChangeAspect="1" noChangeArrowheads="1" noTextEdit="1"/>
          </p:cNvSpPr>
          <p:nvPr>
            <p:ph type="sldImg"/>
          </p:nvPr>
        </p:nvSpPr>
        <p:spPr>
          <a:ln/>
        </p:spPr>
      </p:sp>
      <p:sp>
        <p:nvSpPr>
          <p:cNvPr id="494595" name="Rectangle 3">
            <a:extLst>
              <a:ext uri="{FF2B5EF4-FFF2-40B4-BE49-F238E27FC236}">
                <a16:creationId xmlns:a16="http://schemas.microsoft.com/office/drawing/2014/main" id="{B06287CB-39C1-E5BC-E5FC-FE2B4EB17EE0}"/>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Gọi ra constructor của chính class đó</a:t>
            </a:r>
          </a:p>
          <a:p>
            <a:pPr marL="0" indent="0"/>
            <a:r>
              <a:rPr lang="en-US" altLang="ja-JP">
                <a:latin typeface="Arial" panose="020B0604020202020204" pitchFamily="34" charset="0"/>
              </a:rPr>
              <a:t>  Overload là việc định nghĩa các method có cùng tên nhưng lại khác nhau về list các đối số trong cùng một class.</a:t>
            </a:r>
          </a:p>
          <a:p>
            <a:pPr marL="0" indent="0"/>
            <a:r>
              <a:rPr lang="en-US" altLang="ja-JP">
                <a:latin typeface="Arial" panose="020B0604020202020204" pitchFamily="34" charset="0"/>
              </a:rPr>
              <a:t>  Nếu overload constructor thì muốn gọi constructor khác từ constructor nào đó. Trong trường hợp này thì có thể sử dụng this keyword.</a:t>
            </a:r>
          </a:p>
          <a:p>
            <a:pPr marL="0" indent="0"/>
            <a:r>
              <a:rPr lang="en-US" altLang="ja-JP">
                <a:latin typeface="Arial" panose="020B0604020202020204" pitchFamily="34" charset="0"/>
              </a:rPr>
              <a:t>  Có thể tránh được việc mô tả cùng một nội dung xử lí ở nhiều chỗ. </a:t>
            </a:r>
            <a:r>
              <a:rPr lang="ja-JP" altLang="en-US">
                <a:latin typeface="Arial" panose="020B0604020202020204" pitchFamily="34" charset="0"/>
              </a:rPr>
              <a:t>　</a:t>
            </a: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endParaRPr lang="ja-JP" altLang="en-US">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Cú pháp </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Chỉ định </a:t>
            </a:r>
            <a:r>
              <a:rPr lang="ja-JP" altLang="en-US">
                <a:latin typeface="Arial" panose="020B0604020202020204" pitchFamily="34" charset="0"/>
              </a:rPr>
              <a:t>「</a:t>
            </a:r>
            <a:r>
              <a:rPr lang="en-US" altLang="ja-JP">
                <a:latin typeface="Arial" panose="020B0604020202020204" pitchFamily="34" charset="0"/>
              </a:rPr>
              <a:t>this(); </a:t>
            </a:r>
            <a:r>
              <a:rPr lang="ja-JP" altLang="en-US">
                <a:latin typeface="Arial" panose="020B0604020202020204" pitchFamily="34" charset="0"/>
              </a:rPr>
              <a:t>」 </a:t>
            </a:r>
            <a:r>
              <a:rPr lang="en-US" altLang="ja-JP">
                <a:latin typeface="Arial" panose="020B0604020202020204" pitchFamily="34" charset="0"/>
              </a:rPr>
              <a:t>trong trường hợp gọi ra constructor không có đối số.</a:t>
            </a: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Trường hợp chỉ định thì nhất định phải mô tả xử lí ở đầu của constructor.</a:t>
            </a:r>
          </a:p>
        </p:txBody>
      </p:sp>
      <p:sp>
        <p:nvSpPr>
          <p:cNvPr id="494601" name="Text Box 9">
            <a:extLst>
              <a:ext uri="{FF2B5EF4-FFF2-40B4-BE49-F238E27FC236}">
                <a16:creationId xmlns:a16="http://schemas.microsoft.com/office/drawing/2014/main" id="{81DAF922-E265-8FC9-A9C6-C1DF790B5C03}"/>
              </a:ext>
            </a:extLst>
          </p:cNvPr>
          <p:cNvSpPr txBox="1">
            <a:spLocks noChangeArrowheads="1"/>
          </p:cNvSpPr>
          <p:nvPr/>
        </p:nvSpPr>
        <p:spPr bwMode="auto">
          <a:xfrm>
            <a:off x="638175" y="6572250"/>
            <a:ext cx="5808663" cy="896938"/>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7938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MS UI Gothic" panose="020B0600070205080204" pitchFamily="50" charset="-128"/>
              </a:rPr>
              <a:t>Modifier</a:t>
            </a:r>
            <a:r>
              <a:rPr lang="ja-JP" altLang="en-US" b="0">
                <a:ea typeface="ＭＳ ゴシック" panose="020B0609070205080204" pitchFamily="49" charset="-128"/>
              </a:rPr>
              <a:t>　</a:t>
            </a:r>
            <a:r>
              <a:rPr lang="en-US" altLang="ja-JP" b="0">
                <a:ea typeface="ＭＳ ゴシック" panose="020B0609070205080204" pitchFamily="49" charset="-128"/>
              </a:rPr>
              <a:t>class name(dạng data</a:t>
            </a:r>
            <a:r>
              <a:rPr lang="en-US" altLang="ja-JP" b="0">
                <a:ea typeface="MS UI Gothic" panose="020B0600070205080204" pitchFamily="50" charset="-128"/>
              </a:rPr>
              <a:t>  đối số</a:t>
            </a:r>
            <a:r>
              <a:rPr lang="ja-JP" altLang="en-US" b="0">
                <a:ea typeface="MS UI Gothic" panose="020B0600070205080204" pitchFamily="50" charset="-128"/>
              </a:rPr>
              <a:t>１</a:t>
            </a:r>
            <a:r>
              <a:rPr lang="en-US" altLang="ja-JP" b="0">
                <a:ea typeface="ＭＳ ゴシック" panose="020B0609070205080204" pitchFamily="49" charset="-128"/>
              </a:rPr>
              <a:t>, …) {</a:t>
            </a:r>
          </a:p>
          <a:p>
            <a:pPr lvl="1" algn="just">
              <a:spcBef>
                <a:spcPct val="50000"/>
              </a:spcBef>
              <a:spcAft>
                <a:spcPct val="50000"/>
              </a:spcAft>
            </a:pPr>
            <a:r>
              <a:rPr lang="en-US" altLang="ja-JP" b="0">
                <a:ea typeface="ＭＳ ゴシック" panose="020B0609070205080204" pitchFamily="49" charset="-128"/>
              </a:rPr>
              <a:t>    this (list đối số);</a:t>
            </a:r>
          </a:p>
          <a:p>
            <a:pPr lvl="1" algn="just"/>
            <a:r>
              <a:rPr lang="ja-JP" altLang="en-US" b="0">
                <a:ea typeface="ＭＳ ゴシック" panose="020B0609070205080204" pitchFamily="49" charset="-128"/>
              </a:rPr>
              <a:t>　　</a:t>
            </a:r>
            <a:r>
              <a:rPr lang="en-US" altLang="ja-JP" b="0">
                <a:ea typeface="ＭＳ ゴシック" panose="020B0609070205080204" pitchFamily="49" charset="-128"/>
              </a:rPr>
              <a:t>// Xử lý vốn có constructor này</a:t>
            </a:r>
            <a:endParaRPr lang="en-US" altLang="ja-JP" b="0">
              <a:ea typeface="MS UI Gothic" panose="020B0600070205080204" pitchFamily="50" charset="-128"/>
            </a:endParaRPr>
          </a:p>
          <a:p>
            <a:pPr lvl="1" algn="just"/>
            <a:r>
              <a:rPr lang="en-US" altLang="ja-JP" b="0">
                <a:ea typeface="ＭＳ ゴシック" panose="020B0609070205080204" pitchFamily="49" charset="-128"/>
              </a:rPr>
              <a:t>}</a:t>
            </a:r>
          </a:p>
        </p:txBody>
      </p:sp>
      <p:sp>
        <p:nvSpPr>
          <p:cNvPr id="494602" name="Rectangle 10">
            <a:extLst>
              <a:ext uri="{FF2B5EF4-FFF2-40B4-BE49-F238E27FC236}">
                <a16:creationId xmlns:a16="http://schemas.microsoft.com/office/drawing/2014/main" id="{2566463E-AB9E-1CED-C46C-3E6DE7408EF1}"/>
              </a:ext>
            </a:extLst>
          </p:cNvPr>
          <p:cNvSpPr>
            <a:spLocks noChangeArrowheads="1"/>
          </p:cNvSpPr>
          <p:nvPr/>
        </p:nvSpPr>
        <p:spPr bwMode="auto">
          <a:xfrm>
            <a:off x="1020763" y="6777038"/>
            <a:ext cx="1196975" cy="252412"/>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494603" name="Rectangle 11">
            <a:extLst>
              <a:ext uri="{FF2B5EF4-FFF2-40B4-BE49-F238E27FC236}">
                <a16:creationId xmlns:a16="http://schemas.microsoft.com/office/drawing/2014/main" id="{96385758-E981-E383-EC85-BEF1CAAC087E}"/>
              </a:ext>
            </a:extLst>
          </p:cNvPr>
          <p:cNvSpPr>
            <a:spLocks noChangeArrowheads="1"/>
          </p:cNvSpPr>
          <p:nvPr/>
        </p:nvSpPr>
        <p:spPr bwMode="auto">
          <a:xfrm>
            <a:off x="3157538" y="6777038"/>
            <a:ext cx="1330325" cy="252412"/>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a:ea typeface="MS UI Gothic" panose="020B0600070205080204" pitchFamily="50" charset="-128"/>
              </a:rPr>
              <a:t>Chú ý vị trí định nghĩa</a:t>
            </a:r>
            <a:r>
              <a:rPr lang="ja-JP" altLang="en-US">
                <a:ea typeface="MS UI Gothic" panose="020B0600070205080204" pitchFamily="50" charset="-128"/>
              </a:rPr>
              <a:t>！</a:t>
            </a:r>
          </a:p>
        </p:txBody>
      </p:sp>
      <p:cxnSp>
        <p:nvCxnSpPr>
          <p:cNvPr id="494604" name="AutoShape 12">
            <a:extLst>
              <a:ext uri="{FF2B5EF4-FFF2-40B4-BE49-F238E27FC236}">
                <a16:creationId xmlns:a16="http://schemas.microsoft.com/office/drawing/2014/main" id="{5DD1CF0E-B8DA-83D7-1B7B-3FCA512CF456}"/>
              </a:ext>
            </a:extLst>
          </p:cNvPr>
          <p:cNvCxnSpPr>
            <a:cxnSpLocks noChangeShapeType="1"/>
            <a:stCxn id="494602" idx="3"/>
            <a:endCxn id="494603" idx="1"/>
          </p:cNvCxnSpPr>
          <p:nvPr/>
        </p:nvCxnSpPr>
        <p:spPr bwMode="auto">
          <a:xfrm>
            <a:off x="2227263" y="6904038"/>
            <a:ext cx="920750" cy="0"/>
          </a:xfrm>
          <a:prstGeom prst="straightConnector1">
            <a:avLst/>
          </a:prstGeom>
          <a:noFill/>
          <a:ln w="19050">
            <a:solidFill>
              <a:srgbClr val="3FB007"/>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a:extLst>
              <a:ext uri="{FF2B5EF4-FFF2-40B4-BE49-F238E27FC236}">
                <a16:creationId xmlns:a16="http://schemas.microsoft.com/office/drawing/2014/main" id="{06B32654-E727-780B-E604-D4FA1E656C06}"/>
              </a:ext>
            </a:extLst>
          </p:cNvPr>
          <p:cNvSpPr>
            <a:spLocks noRot="1" noChangeAspect="1" noChangeArrowheads="1" noTextEdit="1"/>
          </p:cNvSpPr>
          <p:nvPr>
            <p:ph type="sldImg"/>
          </p:nvPr>
        </p:nvSpPr>
        <p:spPr>
          <a:ln/>
        </p:spPr>
      </p:sp>
      <p:sp>
        <p:nvSpPr>
          <p:cNvPr id="537603" name="Rectangle 3">
            <a:extLst>
              <a:ext uri="{FF2B5EF4-FFF2-40B4-BE49-F238E27FC236}">
                <a16:creationId xmlns:a16="http://schemas.microsoft.com/office/drawing/2014/main" id="{699B33F6-106C-06A2-4309-8F504D2239D8}"/>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Gọi ra constructor của super class</a:t>
            </a:r>
          </a:p>
          <a:p>
            <a:pPr marL="0" indent="0"/>
            <a:r>
              <a:rPr lang="ja-JP" altLang="en-US">
                <a:latin typeface="Arial" panose="020B0604020202020204" pitchFamily="34" charset="0"/>
              </a:rPr>
              <a:t>　</a:t>
            </a:r>
            <a:r>
              <a:rPr lang="en-US" altLang="ja-JP">
                <a:latin typeface="Arial" panose="020B0604020202020204" pitchFamily="34" charset="0"/>
              </a:rPr>
              <a:t>Thực hiện thừa kế, tính chất super class (biến và method) sẽ được thừa kế sang sub class, tuy nhiên thì về nguyên tắc thì constructor không được thừa kế.</a:t>
            </a:r>
          </a:p>
          <a:p>
            <a:pPr marL="0" indent="0"/>
            <a:r>
              <a:rPr lang="en-US" altLang="ja-JP">
                <a:latin typeface="Arial" panose="020B0604020202020204" pitchFamily="34" charset="0"/>
              </a:rPr>
              <a:t>    Cũng có thể sử dụng super keyword cả trong trường hợp muốn gọi ra constructor của super class từ constructor của sub class.</a:t>
            </a:r>
          </a:p>
          <a:p>
            <a:pPr marL="0" indent="0"/>
            <a:r>
              <a:rPr lang="en-US" altLang="ja-JP">
                <a:latin typeface="Arial" panose="020B0604020202020204" pitchFamily="34" charset="0"/>
              </a:rPr>
              <a:t>    Có thể tránh được việc mô tả nội dung của cùng xử lí ở nhiều chỗ.</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Cú pháp</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Chỉ định </a:t>
            </a:r>
            <a:r>
              <a:rPr lang="ja-JP" altLang="en-US">
                <a:latin typeface="Arial" panose="020B0604020202020204" pitchFamily="34" charset="0"/>
              </a:rPr>
              <a:t>「</a:t>
            </a:r>
            <a:r>
              <a:rPr lang="en-US" altLang="ja-JP">
                <a:latin typeface="Arial" panose="020B0604020202020204" pitchFamily="34" charset="0"/>
                <a:ea typeface="ＭＳ ゴシック" panose="020B0609070205080204" pitchFamily="49" charset="-128"/>
              </a:rPr>
              <a:t>super();</a:t>
            </a:r>
            <a:r>
              <a:rPr lang="ja-JP" altLang="en-US">
                <a:latin typeface="Arial" panose="020B0604020202020204" pitchFamily="34" charset="0"/>
              </a:rPr>
              <a:t>」</a:t>
            </a:r>
            <a:r>
              <a:rPr lang="en-US" altLang="ja-JP">
                <a:latin typeface="Arial" panose="020B0604020202020204" pitchFamily="34" charset="0"/>
              </a:rPr>
              <a:t>trong trường hợp gọi ra constructor không có đối số của super class.</a:t>
            </a: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Trường hợp chỉ định thì nhất định mô tả làm xử lí đầu của constructor.</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p:txBody>
      </p:sp>
      <p:sp>
        <p:nvSpPr>
          <p:cNvPr id="537604" name="Text Box 4">
            <a:extLst>
              <a:ext uri="{FF2B5EF4-FFF2-40B4-BE49-F238E27FC236}">
                <a16:creationId xmlns:a16="http://schemas.microsoft.com/office/drawing/2014/main" id="{F112806E-7876-3DC0-5C4C-A9937CD8B7A4}"/>
              </a:ext>
            </a:extLst>
          </p:cNvPr>
          <p:cNvSpPr txBox="1">
            <a:spLocks noChangeArrowheads="1"/>
          </p:cNvSpPr>
          <p:nvPr/>
        </p:nvSpPr>
        <p:spPr bwMode="auto">
          <a:xfrm>
            <a:off x="636588" y="6648450"/>
            <a:ext cx="5808662" cy="896938"/>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7938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a:ea typeface="MS UI Gothic" panose="020B0600070205080204" pitchFamily="50" charset="-128"/>
              </a:rPr>
              <a:t>Modifier</a:t>
            </a:r>
            <a:r>
              <a:rPr lang="ja-JP" altLang="en-US" b="0">
                <a:ea typeface="ＭＳ ゴシック" panose="020B0609070205080204" pitchFamily="49" charset="-128"/>
              </a:rPr>
              <a:t>　</a:t>
            </a:r>
            <a:r>
              <a:rPr lang="en-US" altLang="ja-JP" b="0">
                <a:ea typeface="ＭＳ ゴシック" panose="020B0609070205080204" pitchFamily="49" charset="-128"/>
              </a:rPr>
              <a:t>class name</a:t>
            </a:r>
            <a:r>
              <a:rPr lang="ja-JP" altLang="en-US" b="0">
                <a:ea typeface="ＭＳ ゴシック" panose="020B0609070205080204" pitchFamily="49" charset="-128"/>
              </a:rPr>
              <a:t>　</a:t>
            </a:r>
            <a:r>
              <a:rPr lang="en-US" altLang="ja-JP" b="0">
                <a:ea typeface="ＭＳ ゴシック" panose="020B0609070205080204" pitchFamily="49" charset="-128"/>
              </a:rPr>
              <a:t>(dạng data</a:t>
            </a:r>
            <a:r>
              <a:rPr lang="en-US" altLang="ja-JP" b="0">
                <a:ea typeface="MS UI Gothic" panose="020B0600070205080204" pitchFamily="50" charset="-128"/>
              </a:rPr>
              <a:t>  đối số</a:t>
            </a:r>
            <a:r>
              <a:rPr lang="ja-JP" altLang="en-US" b="0">
                <a:ea typeface="MS UI Gothic" panose="020B0600070205080204" pitchFamily="50" charset="-128"/>
              </a:rPr>
              <a:t>１</a:t>
            </a:r>
            <a:r>
              <a:rPr lang="en-US" altLang="ja-JP" b="0">
                <a:ea typeface="ＭＳ ゴシック" panose="020B0609070205080204" pitchFamily="49" charset="-128"/>
              </a:rPr>
              <a:t>, </a:t>
            </a:r>
            <a:r>
              <a:rPr lang="en-US" altLang="ja-JP" b="0">
                <a:ea typeface="MS UI Gothic" panose="020B0600070205080204" pitchFamily="50" charset="-128"/>
              </a:rPr>
              <a:t>…</a:t>
            </a:r>
            <a:r>
              <a:rPr lang="ja-JP" altLang="en-US" b="0">
                <a:ea typeface="ＭＳ ゴシック" panose="020B0609070205080204" pitchFamily="49" charset="-128"/>
              </a:rPr>
              <a:t>　</a:t>
            </a:r>
            <a:r>
              <a:rPr lang="en-US" altLang="ja-JP" b="0">
                <a:ea typeface="ＭＳ ゴシック" panose="020B0609070205080204" pitchFamily="49" charset="-128"/>
              </a:rPr>
              <a:t>) {</a:t>
            </a:r>
          </a:p>
          <a:p>
            <a:pPr lvl="1" algn="just">
              <a:spcBef>
                <a:spcPct val="50000"/>
              </a:spcBef>
              <a:spcAft>
                <a:spcPct val="50000"/>
              </a:spcAft>
            </a:pPr>
            <a:r>
              <a:rPr lang="en-US" altLang="ja-JP" b="0">
                <a:ea typeface="ＭＳ ゴシック" panose="020B0609070205080204" pitchFamily="49" charset="-128"/>
              </a:rPr>
              <a:t>    super(list đối số);</a:t>
            </a:r>
          </a:p>
          <a:p>
            <a:pPr lvl="1" algn="just"/>
            <a:r>
              <a:rPr lang="en-US" altLang="ja-JP" b="0">
                <a:ea typeface="ＭＳ ゴシック" panose="020B0609070205080204" pitchFamily="49" charset="-128"/>
              </a:rPr>
              <a:t>    // xử lý vốn cố constructor này</a:t>
            </a:r>
            <a:endParaRPr lang="en-US" altLang="ja-JP" b="0">
              <a:ea typeface="MS UI Gothic" panose="020B0600070205080204" pitchFamily="50" charset="-128"/>
            </a:endParaRPr>
          </a:p>
          <a:p>
            <a:pPr lvl="1" algn="just"/>
            <a:r>
              <a:rPr lang="en-US" altLang="ja-JP" b="0">
                <a:ea typeface="ＭＳ ゴシック" panose="020B0609070205080204" pitchFamily="49" charset="-128"/>
              </a:rPr>
              <a:t>}</a:t>
            </a:r>
          </a:p>
          <a:p>
            <a:pPr lvl="1" algn="just"/>
            <a:endParaRPr lang="en-US" altLang="ja-JP" b="0">
              <a:ea typeface="ＭＳ ゴシック" panose="020B0609070205080204" pitchFamily="49" charset="-128"/>
            </a:endParaRPr>
          </a:p>
        </p:txBody>
      </p:sp>
      <p:sp>
        <p:nvSpPr>
          <p:cNvPr id="537605" name="Rectangle 5">
            <a:extLst>
              <a:ext uri="{FF2B5EF4-FFF2-40B4-BE49-F238E27FC236}">
                <a16:creationId xmlns:a16="http://schemas.microsoft.com/office/drawing/2014/main" id="{4695B318-E1BD-603B-E2D1-24287A31F59C}"/>
              </a:ext>
            </a:extLst>
          </p:cNvPr>
          <p:cNvSpPr>
            <a:spLocks noChangeArrowheads="1"/>
          </p:cNvSpPr>
          <p:nvPr/>
        </p:nvSpPr>
        <p:spPr bwMode="auto">
          <a:xfrm>
            <a:off x="1009650" y="6853238"/>
            <a:ext cx="1349375" cy="252412"/>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537606" name="Rectangle 6">
            <a:extLst>
              <a:ext uri="{FF2B5EF4-FFF2-40B4-BE49-F238E27FC236}">
                <a16:creationId xmlns:a16="http://schemas.microsoft.com/office/drawing/2014/main" id="{5273F0DE-8885-1D2C-130A-77132AA22B93}"/>
              </a:ext>
            </a:extLst>
          </p:cNvPr>
          <p:cNvSpPr>
            <a:spLocks noChangeArrowheads="1"/>
          </p:cNvSpPr>
          <p:nvPr/>
        </p:nvSpPr>
        <p:spPr bwMode="auto">
          <a:xfrm>
            <a:off x="3463925" y="6853238"/>
            <a:ext cx="1330325" cy="252412"/>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a:ea typeface="MS UI Gothic" panose="020B0600070205080204" pitchFamily="50" charset="-128"/>
              </a:rPr>
              <a:t>Chú ý vị trí định nghĩa</a:t>
            </a:r>
            <a:r>
              <a:rPr lang="ja-JP" altLang="en-US">
                <a:latin typeface="MS UI Gothic" panose="020B0600070205080204" pitchFamily="50" charset="-128"/>
                <a:ea typeface="MS UI Gothic" panose="020B0600070205080204" pitchFamily="50" charset="-128"/>
              </a:rPr>
              <a:t>！</a:t>
            </a:r>
          </a:p>
        </p:txBody>
      </p:sp>
      <p:cxnSp>
        <p:nvCxnSpPr>
          <p:cNvPr id="537607" name="AutoShape 7">
            <a:extLst>
              <a:ext uri="{FF2B5EF4-FFF2-40B4-BE49-F238E27FC236}">
                <a16:creationId xmlns:a16="http://schemas.microsoft.com/office/drawing/2014/main" id="{078847F6-F75D-C45E-414D-903B99BB828D}"/>
              </a:ext>
            </a:extLst>
          </p:cNvPr>
          <p:cNvCxnSpPr>
            <a:cxnSpLocks noChangeShapeType="1"/>
            <a:stCxn id="537605" idx="3"/>
            <a:endCxn id="537606" idx="1"/>
          </p:cNvCxnSpPr>
          <p:nvPr/>
        </p:nvCxnSpPr>
        <p:spPr bwMode="auto">
          <a:xfrm>
            <a:off x="2368550" y="6980238"/>
            <a:ext cx="1085850" cy="0"/>
          </a:xfrm>
          <a:prstGeom prst="straightConnector1">
            <a:avLst/>
          </a:prstGeom>
          <a:noFill/>
          <a:ln w="19050">
            <a:solidFill>
              <a:srgbClr val="3FB007"/>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a:prstGeom prst="rect">
            <a:avLst/>
          </a:prstGeom>
        </p:spPr>
        <p:txBody>
          <a:bodyPr/>
          <a:lstStyle>
            <a:lvl1pPr>
              <a:defRPr>
                <a:latin typeface="+mn-ea"/>
                <a:ea typeface="+mn-ea"/>
              </a:defRPr>
            </a:lvl1pPr>
          </a:lstStyle>
          <a:p>
            <a:r>
              <a:rPr lang="en-US" altLang="ja-JP"/>
              <a:t>Click to edit Master title style</a:t>
            </a:r>
            <a:endParaRPr lang="en-US" dirty="0"/>
          </a:p>
        </p:txBody>
      </p:sp>
      <p:sp>
        <p:nvSpPr>
          <p:cNvPr id="3" name="サブタイトル 2"/>
          <p:cNvSpPr>
            <a:spLocks noGrp="1"/>
          </p:cNvSpPr>
          <p:nvPr>
            <p:ph type="subTitle" idx="1"/>
          </p:nvPr>
        </p:nvSpPr>
        <p:spPr>
          <a:xfrm>
            <a:off x="1485900" y="3886200"/>
            <a:ext cx="6934200" cy="1752600"/>
          </a:xfrm>
          <a:prstGeom prst="rect">
            <a:avLst/>
          </a:prstGeom>
        </p:spPr>
        <p:txBody>
          <a:bodyPr/>
          <a:lstStyle>
            <a:lvl1pPr marL="0" indent="0" algn="ctr">
              <a:buNone/>
              <a:defRPr>
                <a:latin typeface="+mn-ea"/>
                <a:ea typeface="+mn-ea"/>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a:t>Click to edit Master subtitle style</a:t>
            </a:r>
            <a:endParaRPr lang="en-US" dirty="0"/>
          </a:p>
        </p:txBody>
      </p:sp>
      <p:sp>
        <p:nvSpPr>
          <p:cNvPr id="4" name="Rectangle 4">
            <a:extLst>
              <a:ext uri="{FF2B5EF4-FFF2-40B4-BE49-F238E27FC236}">
                <a16:creationId xmlns:a16="http://schemas.microsoft.com/office/drawing/2014/main" id="{4D7BC4D0-5990-408E-A9D0-64C8BD64FB33}"/>
              </a:ext>
            </a:extLst>
          </p:cNvPr>
          <p:cNvSpPr>
            <a:spLocks noGrp="1" noChangeArrowheads="1"/>
          </p:cNvSpPr>
          <p:nvPr>
            <p:ph type="dt" sz="half" idx="10"/>
          </p:nvPr>
        </p:nvSpPr>
        <p:spPr>
          <a:xfrm>
            <a:off x="742950" y="6248400"/>
            <a:ext cx="2063750" cy="457200"/>
          </a:xfrm>
        </p:spPr>
        <p:txBody>
          <a:bodyPr/>
          <a:lstStyle>
            <a:lvl1pPr>
              <a:defRPr>
                <a:latin typeface="+mn-ea"/>
                <a:ea typeface="+mn-ea"/>
              </a:defRPr>
            </a:lvl1pPr>
          </a:lstStyle>
          <a:p>
            <a:pPr>
              <a:defRPr/>
            </a:pPr>
            <a:endParaRPr lang="en-US" altLang="ja-JP"/>
          </a:p>
        </p:txBody>
      </p:sp>
      <p:sp>
        <p:nvSpPr>
          <p:cNvPr id="5" name="Rectangle 5">
            <a:extLst>
              <a:ext uri="{FF2B5EF4-FFF2-40B4-BE49-F238E27FC236}">
                <a16:creationId xmlns:a16="http://schemas.microsoft.com/office/drawing/2014/main" id="{A01B671C-012F-4812-90DC-336A45C19F1F}"/>
              </a:ext>
            </a:extLst>
          </p:cNvPr>
          <p:cNvSpPr>
            <a:spLocks noGrp="1" noChangeArrowheads="1"/>
          </p:cNvSpPr>
          <p:nvPr>
            <p:ph type="ftr" sz="quarter" idx="11"/>
          </p:nvPr>
        </p:nvSpPr>
        <p:spPr>
          <a:xfrm>
            <a:off x="3384550" y="6248400"/>
            <a:ext cx="3136900" cy="457200"/>
          </a:xfrm>
          <a:prstGeom prst="rect">
            <a:avLst/>
          </a:prstGeom>
        </p:spPr>
        <p:txBody>
          <a:bodyPr/>
          <a:lstStyle>
            <a:lvl1pPr>
              <a:defRPr>
                <a:latin typeface="+mn-ea"/>
                <a:ea typeface="+mn-ea"/>
              </a:defRPr>
            </a:lvl1pPr>
          </a:lstStyle>
          <a:p>
            <a:pPr>
              <a:defRPr/>
            </a:pPr>
            <a:endParaRPr lang="en-US" altLang="ja-JP"/>
          </a:p>
        </p:txBody>
      </p:sp>
    </p:spTree>
    <p:extLst>
      <p:ext uri="{BB962C8B-B14F-4D97-AF65-F5344CB8AC3E}">
        <p14:creationId xmlns:p14="http://schemas.microsoft.com/office/powerpoint/2010/main" val="1606179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1930864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marL="360363" indent="-360363">
              <a:buFont typeface="+mj-lt"/>
              <a:buAutoNum type="arabicPeriod"/>
              <a:defRPr>
                <a:latin typeface="+mj-lt"/>
              </a:defRPr>
            </a:lvl1pPr>
            <a:lvl2pPr marL="803275" indent="-346075">
              <a:buFont typeface="+mj-lt"/>
              <a:buAutoNum type="alphaLcPeriod"/>
              <a:defRPr>
                <a:latin typeface="+mj-lt"/>
              </a:defRPr>
            </a:lvl2pPr>
            <a:lvl3pPr marL="1260475" indent="-346075">
              <a:buFont typeface="+mj-lt"/>
              <a:buAutoNum type="romanLcPeriod"/>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2099126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a:prstGeom prst="rect">
            <a:avLst/>
          </a:prstGeom>
        </p:spPr>
        <p:txBody>
          <a:bodyPr anchor="t"/>
          <a:lstStyle>
            <a:lvl1pPr algn="l">
              <a:defRPr sz="4000" b="1" cap="all">
                <a:latin typeface="+mj-lt"/>
              </a:defRPr>
            </a:lvl1pPr>
          </a:lstStyle>
          <a:p>
            <a:r>
              <a:rPr lang="en-US" altLang="ja-JP" dirty="0"/>
              <a:t>Click to edit Master title style</a:t>
            </a:r>
            <a:endParaRPr lang="en-US" dirty="0"/>
          </a:p>
        </p:txBody>
      </p:sp>
      <p:sp>
        <p:nvSpPr>
          <p:cNvPr id="3" name="テキスト プレースホルダー 2"/>
          <p:cNvSpPr>
            <a:spLocks noGrp="1"/>
          </p:cNvSpPr>
          <p:nvPr>
            <p:ph type="body" idx="1"/>
          </p:nvPr>
        </p:nvSpPr>
        <p:spPr>
          <a:xfrm>
            <a:off x="782638" y="2906713"/>
            <a:ext cx="8420100" cy="1500187"/>
          </a:xfrm>
          <a:prstGeom prst="rect">
            <a:avLst/>
          </a:prstGeom>
        </p:spPr>
        <p:txBody>
          <a:bodyPr anchor="b"/>
          <a:lstStyle>
            <a:lvl1pPr marL="0" indent="0">
              <a:buNone/>
              <a:defRPr sz="20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dirty="0"/>
              <a:t>Click to edit Master text styles</a:t>
            </a:r>
          </a:p>
        </p:txBody>
      </p:sp>
      <p:sp>
        <p:nvSpPr>
          <p:cNvPr id="4" name="Rectangle 4">
            <a:extLst>
              <a:ext uri="{FF2B5EF4-FFF2-40B4-BE49-F238E27FC236}">
                <a16:creationId xmlns:a16="http://schemas.microsoft.com/office/drawing/2014/main" id="{FBFDD564-A74A-4C8F-9933-83C5535F4389}"/>
              </a:ext>
            </a:extLst>
          </p:cNvPr>
          <p:cNvSpPr>
            <a:spLocks noGrp="1" noChangeArrowheads="1"/>
          </p:cNvSpPr>
          <p:nvPr>
            <p:ph type="dt" sz="half" idx="10"/>
          </p:nvPr>
        </p:nvSpPr>
        <p:spPr>
          <a:xfrm>
            <a:off x="742950" y="6248400"/>
            <a:ext cx="2063750" cy="457200"/>
          </a:xfrm>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D3F1DDD9-12D1-479E-A469-4F7F1BA8EB44}"/>
              </a:ext>
            </a:extLst>
          </p:cNvPr>
          <p:cNvSpPr>
            <a:spLocks noGrp="1" noChangeArrowheads="1"/>
          </p:cNvSpPr>
          <p:nvPr>
            <p:ph type="ftr" sz="quarter" idx="11"/>
          </p:nvPr>
        </p:nvSpPr>
        <p:spPr>
          <a:xfrm>
            <a:off x="3384550" y="6248400"/>
            <a:ext cx="3136900" cy="457200"/>
          </a:xfrm>
          <a:prstGeom prst="rect">
            <a:avLst/>
          </a:prstGeom>
        </p:spPr>
        <p:txBody>
          <a:bodyPr/>
          <a:lstStyle>
            <a:lvl1pPr>
              <a:defRPr/>
            </a:lvl1pPr>
          </a:lstStyle>
          <a:p>
            <a:pPr>
              <a:defRPr/>
            </a:pPr>
            <a:endParaRPr lang="en-US" altLang="ja-JP"/>
          </a:p>
        </p:txBody>
      </p:sp>
    </p:spTree>
    <p:extLst>
      <p:ext uri="{BB962C8B-B14F-4D97-AF65-F5344CB8AC3E}">
        <p14:creationId xmlns:p14="http://schemas.microsoft.com/office/powerpoint/2010/main" val="17898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8" name="タイトル 1">
            <a:extLst>
              <a:ext uri="{FF2B5EF4-FFF2-40B4-BE49-F238E27FC236}">
                <a16:creationId xmlns:a16="http://schemas.microsoft.com/office/drawing/2014/main" id="{E1BEBA6E-D791-46C4-A7EB-608AC024D98E}"/>
              </a:ext>
            </a:extLst>
          </p:cNvPr>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Rectangle 4">
            <a:extLst>
              <a:ext uri="{FF2B5EF4-FFF2-40B4-BE49-F238E27FC236}">
                <a16:creationId xmlns:a16="http://schemas.microsoft.com/office/drawing/2014/main" id="{4BCF5236-44D4-4877-AAFB-61FE62FD430E}"/>
              </a:ext>
            </a:extLst>
          </p:cNvPr>
          <p:cNvSpPr>
            <a:spLocks noGrp="1" noChangeArrowheads="1"/>
          </p:cNvSpPr>
          <p:nvPr>
            <p:ph type="dt" sz="half" idx="10"/>
          </p:nvPr>
        </p:nvSpPr>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DD636683-BFA6-4172-A561-0D16262C9F7C}"/>
              </a:ext>
            </a:extLst>
          </p:cNvPr>
          <p:cNvSpPr>
            <a:spLocks noGrp="1" noChangeArrowheads="1"/>
          </p:cNvSpPr>
          <p:nvPr>
            <p:ph type="sldNum" sz="quarter" idx="11"/>
          </p:nvPr>
        </p:nvSpPr>
        <p:spPr/>
        <p:txBody>
          <a:bodyPr/>
          <a:lstStyle>
            <a:lvl1pPr>
              <a:defRPr/>
            </a:lvl1pPr>
          </a:lstStyle>
          <a:p>
            <a:pPr>
              <a:defRPr/>
            </a:pPr>
            <a:r>
              <a:rPr lang="en-US" altLang="ja-JP"/>
              <a:t>Page</a:t>
            </a:r>
            <a:r>
              <a:rPr lang="ja-JP" altLang="en-US"/>
              <a:t>　</a:t>
            </a:r>
            <a:r>
              <a:rPr lang="en-US" altLang="ja-JP"/>
              <a:t>:</a:t>
            </a:r>
            <a:r>
              <a:rPr lang="ja-JP" altLang="en-US"/>
              <a:t> </a:t>
            </a:r>
            <a:fld id="{8668C798-1731-4E4F-8BB5-E036A16CEAA1}" type="slidenum">
              <a:rPr lang="en-US" altLang="ja-JP" smtClean="0"/>
              <a:pPr>
                <a:defRPr/>
              </a:pPr>
              <a:t>‹#›</a:t>
            </a:fld>
            <a:endParaRPr lang="en-US" altLang="ja-JP"/>
          </a:p>
        </p:txBody>
      </p:sp>
      <p:sp>
        <p:nvSpPr>
          <p:cNvPr id="5"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4220721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068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017A4-F4EA-5C5F-C63D-763EEEA9ABC8}"/>
              </a:ext>
            </a:extLst>
          </p:cNvPr>
          <p:cNvSpPr>
            <a:spLocks noGrp="1"/>
          </p:cNvSpPr>
          <p:nvPr>
            <p:ph type="title"/>
          </p:nvPr>
        </p:nvSpPr>
        <p:spPr>
          <a:xfrm>
            <a:off x="344488" y="84138"/>
            <a:ext cx="9217025" cy="490537"/>
          </a:xfrm>
        </p:spPr>
        <p:txBody>
          <a:bodyPr/>
          <a:lstStyle/>
          <a:p>
            <a:r>
              <a:rPr lang="en-US" altLang="ja-JP"/>
              <a:t>Click to edit Master title style</a:t>
            </a:r>
            <a:endParaRPr lang="ja-JP" altLang="en-US"/>
          </a:p>
        </p:txBody>
      </p:sp>
      <p:sp>
        <p:nvSpPr>
          <p:cNvPr id="3" name="Text Placeholder 2">
            <a:extLst>
              <a:ext uri="{FF2B5EF4-FFF2-40B4-BE49-F238E27FC236}">
                <a16:creationId xmlns:a16="http://schemas.microsoft.com/office/drawing/2014/main" id="{D6B7A11C-4035-33F4-1F2D-9369F58F807B}"/>
              </a:ext>
            </a:extLst>
          </p:cNvPr>
          <p:cNvSpPr>
            <a:spLocks noGrp="1"/>
          </p:cNvSpPr>
          <p:nvPr>
            <p:ph type="body" sz="half" idx="1"/>
          </p:nvPr>
        </p:nvSpPr>
        <p:spPr>
          <a:xfrm>
            <a:off x="344488" y="796925"/>
            <a:ext cx="4532312" cy="590391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4" name="Content Placeholder 3">
            <a:extLst>
              <a:ext uri="{FF2B5EF4-FFF2-40B4-BE49-F238E27FC236}">
                <a16:creationId xmlns:a16="http://schemas.microsoft.com/office/drawing/2014/main" id="{A780D2BC-9A2A-9BA7-E8F1-01068AFECEE3}"/>
              </a:ext>
            </a:extLst>
          </p:cNvPr>
          <p:cNvSpPr>
            <a:spLocks noGrp="1"/>
          </p:cNvSpPr>
          <p:nvPr>
            <p:ph sz="half" idx="2"/>
          </p:nvPr>
        </p:nvSpPr>
        <p:spPr>
          <a:xfrm>
            <a:off x="5029200" y="796925"/>
            <a:ext cx="4532313" cy="590391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ja-JP" altLang="en-US"/>
          </a:p>
        </p:txBody>
      </p:sp>
      <p:sp>
        <p:nvSpPr>
          <p:cNvPr id="5" name="Slide Number Placeholder 4">
            <a:extLst>
              <a:ext uri="{FF2B5EF4-FFF2-40B4-BE49-F238E27FC236}">
                <a16:creationId xmlns:a16="http://schemas.microsoft.com/office/drawing/2014/main" id="{9BCA33BC-8595-363B-80B1-3983D89607AA}"/>
              </a:ext>
            </a:extLst>
          </p:cNvPr>
          <p:cNvSpPr>
            <a:spLocks noGrp="1"/>
          </p:cNvSpPr>
          <p:nvPr>
            <p:ph type="sldNum" sz="quarter" idx="10"/>
          </p:nvPr>
        </p:nvSpPr>
        <p:spPr>
          <a:xfrm>
            <a:off x="7616825" y="6381750"/>
            <a:ext cx="2133600" cy="476250"/>
          </a:xfrm>
        </p:spPr>
        <p:txBody>
          <a:bodyPr/>
          <a:lstStyle>
            <a:lvl1pPr>
              <a:defRPr/>
            </a:lvl1pPr>
          </a:lstStyle>
          <a:p>
            <a:fld id="{6A23C60C-6516-4562-9893-F36504E29111}" type="slidenum">
              <a:rPr lang="en-US" altLang="ja-JP"/>
              <a:pPr/>
              <a:t>‹#›</a:t>
            </a:fld>
            <a:endParaRPr lang="en-US" altLang="ja-JP"/>
          </a:p>
        </p:txBody>
      </p:sp>
    </p:spTree>
    <p:extLst>
      <p:ext uri="{BB962C8B-B14F-4D97-AF65-F5344CB8AC3E}">
        <p14:creationId xmlns:p14="http://schemas.microsoft.com/office/powerpoint/2010/main" val="1117612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912CAC3-7059-17D9-9C06-FBC6A511B0A4}"/>
              </a:ext>
            </a:extLst>
          </p:cNvPr>
          <p:cNvSpPr>
            <a:spLocks noGrp="1"/>
          </p:cNvSpPr>
          <p:nvPr>
            <p:ph type="dt" sz="half" idx="10"/>
          </p:nvPr>
        </p:nvSpPr>
        <p:spPr/>
        <p:txBody>
          <a:bodyPr/>
          <a:lstStyle/>
          <a:p>
            <a:fld id="{A1E4D65A-0EC1-4CBC-8539-F9FD2B92F981}" type="datetimeFigureOut">
              <a:rPr kumimoji="1" lang="ja-JP" altLang="en-US" smtClean="0"/>
              <a:t>2026/8/14</a:t>
            </a:fld>
            <a:endParaRPr kumimoji="1" lang="ja-JP" altLang="en-US"/>
          </a:p>
        </p:txBody>
      </p:sp>
      <p:sp>
        <p:nvSpPr>
          <p:cNvPr id="3" name="フッター プレースホルダー 2">
            <a:extLst>
              <a:ext uri="{FF2B5EF4-FFF2-40B4-BE49-F238E27FC236}">
                <a16:creationId xmlns:a16="http://schemas.microsoft.com/office/drawing/2014/main" id="{200A99C7-B9EB-D161-7E0B-A97F487D0F7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8B3AAF7-DB78-2248-5BC3-75E01314967C}"/>
              </a:ext>
            </a:extLst>
          </p:cNvPr>
          <p:cNvSpPr>
            <a:spLocks noGrp="1"/>
          </p:cNvSpPr>
          <p:nvPr>
            <p:ph type="sldNum" sz="quarter" idx="12"/>
          </p:nvPr>
        </p:nvSpPr>
        <p:spPr/>
        <p:txBody>
          <a:body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61241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
            <a:extLst>
              <a:ext uri="{FF2B5EF4-FFF2-40B4-BE49-F238E27FC236}">
                <a16:creationId xmlns:a16="http://schemas.microsoft.com/office/drawing/2014/main" id="{09F48CFF-9599-4AEA-9D93-57B5675EEE9D}"/>
              </a:ext>
            </a:extLst>
          </p:cNvPr>
          <p:cNvSpPr>
            <a:spLocks noGrp="1" noChangeArrowheads="1"/>
          </p:cNvSpPr>
          <p:nvPr>
            <p:ph type="title"/>
          </p:nvPr>
        </p:nvSpPr>
        <p:spPr bwMode="auto">
          <a:xfrm>
            <a:off x="76200" y="420688"/>
            <a:ext cx="97536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a:bodyPr>
          <a:lstStyle/>
          <a:p>
            <a:pPr lvl="0"/>
            <a:r>
              <a:rPr lang="ja-JP" altLang="en-US" dirty="0"/>
              <a:t>マスタ</a:t>
            </a:r>
            <a:r>
              <a:rPr lang="en-US" altLang="ja-JP" dirty="0"/>
              <a:t> </a:t>
            </a:r>
            <a:r>
              <a:rPr lang="ja-JP" altLang="en-US" dirty="0"/>
              <a:t>タイトルの書式設定</a:t>
            </a:r>
          </a:p>
        </p:txBody>
      </p:sp>
      <p:sp>
        <p:nvSpPr>
          <p:cNvPr id="26" name="Rectangle 3">
            <a:extLst>
              <a:ext uri="{FF2B5EF4-FFF2-40B4-BE49-F238E27FC236}">
                <a16:creationId xmlns:a16="http://schemas.microsoft.com/office/drawing/2014/main" id="{2F9F239E-C6DA-4D9A-8B7B-9954357B6D87}"/>
              </a:ext>
            </a:extLst>
          </p:cNvPr>
          <p:cNvSpPr>
            <a:spLocks noGrp="1" noChangeArrowheads="1"/>
          </p:cNvSpPr>
          <p:nvPr>
            <p:ph type="body" idx="1"/>
          </p:nvPr>
        </p:nvSpPr>
        <p:spPr bwMode="auto">
          <a:xfrm>
            <a:off x="76200" y="1146175"/>
            <a:ext cx="9753600" cy="534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normAutofit/>
          </a:bodyPr>
          <a:lstStyle/>
          <a:p>
            <a:pPr lvl="0"/>
            <a:r>
              <a:rPr lang="ja-JP" altLang="en-US" dirty="0"/>
              <a:t>マスタ</a:t>
            </a:r>
            <a:r>
              <a:rPr lang="en-US" altLang="ja-JP" dirty="0"/>
              <a:t> </a:t>
            </a:r>
            <a:r>
              <a:rPr lang="ja-JP" altLang="en-US" dirty="0"/>
              <a:t>テキストの書式設定</a:t>
            </a:r>
            <a:endParaRPr lang="en-US" altLang="ja-JP" dirty="0"/>
          </a:p>
          <a:p>
            <a:pPr lvl="1"/>
            <a:r>
              <a:rPr lang="ja-JP" altLang="en-US" dirty="0"/>
              <a:t>第</a:t>
            </a:r>
            <a:r>
              <a:rPr lang="en-US" altLang="ja-JP" dirty="0"/>
              <a:t> 2 </a:t>
            </a:r>
            <a:r>
              <a:rPr lang="ja-JP" altLang="en-US" dirty="0"/>
              <a:t>レベル</a:t>
            </a:r>
            <a:endParaRPr lang="en-US" altLang="ja-JP" dirty="0"/>
          </a:p>
          <a:p>
            <a:pPr lvl="2"/>
            <a:r>
              <a:rPr lang="ja-JP" altLang="en-US" dirty="0"/>
              <a:t>第</a:t>
            </a:r>
            <a:r>
              <a:rPr lang="en-US" altLang="ja-JP" dirty="0"/>
              <a:t> 3 </a:t>
            </a:r>
            <a:r>
              <a:rPr lang="ja-JP" altLang="en-US" dirty="0"/>
              <a:t>レベル</a:t>
            </a:r>
            <a:endParaRPr lang="en-US" altLang="ja-JP" dirty="0"/>
          </a:p>
          <a:p>
            <a:pPr lvl="3"/>
            <a:r>
              <a:rPr lang="ja-JP" altLang="en-US" dirty="0"/>
              <a:t>第</a:t>
            </a:r>
            <a:r>
              <a:rPr lang="en-US" altLang="ja-JP" dirty="0"/>
              <a:t> 4 </a:t>
            </a:r>
            <a:r>
              <a:rPr lang="ja-JP" altLang="en-US" dirty="0"/>
              <a:t>レベル</a:t>
            </a:r>
            <a:endParaRPr lang="en-US" altLang="ja-JP" dirty="0"/>
          </a:p>
          <a:p>
            <a:pPr lvl="4"/>
            <a:r>
              <a:rPr lang="ja-JP" altLang="en-US" dirty="0"/>
              <a:t>第</a:t>
            </a:r>
            <a:r>
              <a:rPr lang="en-US" altLang="ja-JP" dirty="0"/>
              <a:t> 5 </a:t>
            </a:r>
            <a:r>
              <a:rPr lang="ja-JP" altLang="en-US" dirty="0"/>
              <a:t>レベル</a:t>
            </a:r>
          </a:p>
        </p:txBody>
      </p:sp>
      <p:sp>
        <p:nvSpPr>
          <p:cNvPr id="30" name="Line 19">
            <a:extLst>
              <a:ext uri="{FF2B5EF4-FFF2-40B4-BE49-F238E27FC236}">
                <a16:creationId xmlns:a16="http://schemas.microsoft.com/office/drawing/2014/main" id="{27389893-5139-4F35-B647-26C2DFA202EA}"/>
              </a:ext>
            </a:extLst>
          </p:cNvPr>
          <p:cNvSpPr>
            <a:spLocks noChangeShapeType="1"/>
          </p:cNvSpPr>
          <p:nvPr userDrawn="1"/>
        </p:nvSpPr>
        <p:spPr bwMode="auto">
          <a:xfrm>
            <a:off x="0" y="6572250"/>
            <a:ext cx="9906000" cy="0"/>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1" name="Line 20">
            <a:extLst>
              <a:ext uri="{FF2B5EF4-FFF2-40B4-BE49-F238E27FC236}">
                <a16:creationId xmlns:a16="http://schemas.microsoft.com/office/drawing/2014/main" id="{4EFAA79C-D564-49D1-89C5-53185EA011B4}"/>
              </a:ext>
            </a:extLst>
          </p:cNvPr>
          <p:cNvSpPr>
            <a:spLocks noChangeShapeType="1"/>
          </p:cNvSpPr>
          <p:nvPr userDrawn="1"/>
        </p:nvSpPr>
        <p:spPr bwMode="auto">
          <a:xfrm>
            <a:off x="0" y="6613525"/>
            <a:ext cx="9906000" cy="0"/>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2" name="Text Box 21">
            <a:extLst>
              <a:ext uri="{FF2B5EF4-FFF2-40B4-BE49-F238E27FC236}">
                <a16:creationId xmlns:a16="http://schemas.microsoft.com/office/drawing/2014/main" id="{5275CC5B-9DD2-42FB-A12C-D10D6B34D5E4}"/>
              </a:ext>
            </a:extLst>
          </p:cNvPr>
          <p:cNvSpPr txBox="1">
            <a:spLocks noChangeArrowheads="1"/>
          </p:cNvSpPr>
          <p:nvPr userDrawn="1"/>
        </p:nvSpPr>
        <p:spPr bwMode="auto">
          <a:xfrm>
            <a:off x="5964238" y="6583363"/>
            <a:ext cx="38131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algn="r" eaLnBrk="1" hangingPunct="1">
              <a:spcBef>
                <a:spcPct val="50000"/>
              </a:spcBef>
              <a:defRPr/>
            </a:pPr>
            <a:r>
              <a:rPr lang="it-IT"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rPr>
              <a:t>USOL VIETNAM Co., Ltd</a:t>
            </a:r>
            <a:endParaRPr lang="en-US"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endParaRPr>
          </a:p>
        </p:txBody>
      </p:sp>
      <p:pic>
        <p:nvPicPr>
          <p:cNvPr id="1033" name="Picture 1031" descr="LogoM">
            <a:extLst>
              <a:ext uri="{FF2B5EF4-FFF2-40B4-BE49-F238E27FC236}">
                <a16:creationId xmlns:a16="http://schemas.microsoft.com/office/drawing/2014/main" id="{7C426F0B-8E88-4132-B8AF-A9C57093698D}"/>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0" y="6638132"/>
            <a:ext cx="946054" cy="204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4" name="Group 7">
            <a:extLst>
              <a:ext uri="{FF2B5EF4-FFF2-40B4-BE49-F238E27FC236}">
                <a16:creationId xmlns:a16="http://schemas.microsoft.com/office/drawing/2014/main" id="{E3F0A595-BBE1-4B7A-B594-6A1BDB4CCD3F}"/>
              </a:ext>
            </a:extLst>
          </p:cNvPr>
          <p:cNvGrpSpPr>
            <a:grpSpLocks/>
          </p:cNvGrpSpPr>
          <p:nvPr userDrawn="1"/>
        </p:nvGrpSpPr>
        <p:grpSpPr bwMode="auto">
          <a:xfrm>
            <a:off x="0" y="-3175"/>
            <a:ext cx="9906000" cy="457200"/>
            <a:chOff x="480" y="0"/>
            <a:chExt cx="5280" cy="384"/>
          </a:xfrm>
        </p:grpSpPr>
        <p:sp>
          <p:nvSpPr>
            <p:cNvPr id="37" name="Rectangle 8">
              <a:extLst>
                <a:ext uri="{FF2B5EF4-FFF2-40B4-BE49-F238E27FC236}">
                  <a16:creationId xmlns:a16="http://schemas.microsoft.com/office/drawing/2014/main" id="{6AD08B79-E74D-46AD-935B-7885C39D329A}"/>
                </a:ext>
              </a:extLst>
            </p:cNvPr>
            <p:cNvSpPr>
              <a:spLocks noChangeArrowheads="1"/>
            </p:cNvSpPr>
            <p:nvPr/>
          </p:nvSpPr>
          <p:spPr bwMode="auto">
            <a:xfrm flipH="1">
              <a:off x="480" y="288"/>
              <a:ext cx="5280" cy="96"/>
            </a:xfrm>
            <a:prstGeom prst="rect">
              <a:avLst/>
            </a:prstGeom>
            <a:gradFill flip="none" rotWithShape="1">
              <a:gsLst>
                <a:gs pos="0">
                  <a:srgbClr val="452D75">
                    <a:gamma/>
                    <a:tint val="0"/>
                    <a:invGamma/>
                  </a:srgbClr>
                </a:gs>
                <a:gs pos="100000">
                  <a:srgbClr val="FF9900"/>
                </a:gs>
              </a:gsLst>
              <a:lin ang="10800000" scaled="1"/>
              <a:tileRect/>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8" name="Rectangle 9">
              <a:extLst>
                <a:ext uri="{FF2B5EF4-FFF2-40B4-BE49-F238E27FC236}">
                  <a16:creationId xmlns:a16="http://schemas.microsoft.com/office/drawing/2014/main" id="{B33C69BC-68BD-4C29-97F4-36AE620BF0BB}"/>
                </a:ext>
              </a:extLst>
            </p:cNvPr>
            <p:cNvSpPr>
              <a:spLocks noChangeArrowheads="1"/>
            </p:cNvSpPr>
            <p:nvPr/>
          </p:nvSpPr>
          <p:spPr bwMode="auto">
            <a:xfrm flipH="1">
              <a:off x="1800" y="192"/>
              <a:ext cx="3960" cy="96"/>
            </a:xfrm>
            <a:prstGeom prst="rect">
              <a:avLst/>
            </a:prstGeom>
            <a:gradFill rotWithShape="0">
              <a:gsLst>
                <a:gs pos="0">
                  <a:srgbClr val="523991">
                    <a:gamma/>
                    <a:tint val="0"/>
                    <a:invGamma/>
                  </a:srgbClr>
                </a:gs>
                <a:gs pos="100000">
                  <a:srgbClr val="FFAA2D"/>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9" name="Rectangle 10">
              <a:extLst>
                <a:ext uri="{FF2B5EF4-FFF2-40B4-BE49-F238E27FC236}">
                  <a16:creationId xmlns:a16="http://schemas.microsoft.com/office/drawing/2014/main" id="{19C90753-9F71-4E42-A751-DE7652699830}"/>
                </a:ext>
              </a:extLst>
            </p:cNvPr>
            <p:cNvSpPr>
              <a:spLocks noChangeArrowheads="1"/>
            </p:cNvSpPr>
            <p:nvPr/>
          </p:nvSpPr>
          <p:spPr bwMode="auto">
            <a:xfrm flipH="1">
              <a:off x="3120" y="96"/>
              <a:ext cx="2640" cy="96"/>
            </a:xfrm>
            <a:prstGeom prst="rect">
              <a:avLst/>
            </a:prstGeom>
            <a:gradFill rotWithShape="0">
              <a:gsLst>
                <a:gs pos="0">
                  <a:srgbClr val="452D75">
                    <a:gamma/>
                    <a:tint val="0"/>
                    <a:invGamma/>
                  </a:srgbClr>
                </a:gs>
                <a:gs pos="100000">
                  <a:srgbClr val="FFB547"/>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40" name="Rectangle 11">
              <a:extLst>
                <a:ext uri="{FF2B5EF4-FFF2-40B4-BE49-F238E27FC236}">
                  <a16:creationId xmlns:a16="http://schemas.microsoft.com/office/drawing/2014/main" id="{2286BAA5-CD17-45D9-9AE7-385F7BC09B89}"/>
                </a:ext>
              </a:extLst>
            </p:cNvPr>
            <p:cNvSpPr>
              <a:spLocks noChangeArrowheads="1"/>
            </p:cNvSpPr>
            <p:nvPr/>
          </p:nvSpPr>
          <p:spPr bwMode="auto">
            <a:xfrm flipH="1">
              <a:off x="4440" y="0"/>
              <a:ext cx="1320" cy="96"/>
            </a:xfrm>
            <a:prstGeom prst="rect">
              <a:avLst/>
            </a:prstGeom>
            <a:gradFill rotWithShape="0">
              <a:gsLst>
                <a:gs pos="0">
                  <a:srgbClr val="523991">
                    <a:gamma/>
                    <a:tint val="0"/>
                    <a:invGamma/>
                  </a:srgbClr>
                </a:gs>
                <a:gs pos="100000">
                  <a:srgbClr val="FFC165"/>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grpSp>
      <p:sp>
        <p:nvSpPr>
          <p:cNvPr id="42" name="Text Box 22">
            <a:extLst>
              <a:ext uri="{FF2B5EF4-FFF2-40B4-BE49-F238E27FC236}">
                <a16:creationId xmlns:a16="http://schemas.microsoft.com/office/drawing/2014/main" id="{9779E748-DE2F-4EBB-B8A7-4682B42515B4}"/>
              </a:ext>
            </a:extLst>
          </p:cNvPr>
          <p:cNvSpPr txBox="1">
            <a:spLocks noChangeArrowheads="1"/>
          </p:cNvSpPr>
          <p:nvPr userDrawn="1"/>
        </p:nvSpPr>
        <p:spPr bwMode="auto">
          <a:xfrm>
            <a:off x="7053263" y="50800"/>
            <a:ext cx="3130550" cy="5238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0066FF"/>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2800" dirty="0" err="1">
                <a:solidFill>
                  <a:schemeClr val="tx1"/>
                </a:solidFill>
                <a:latin typeface="Segoe Script" pitchFamily="34" charset="0"/>
              </a:rPr>
              <a:t>Usol</a:t>
            </a:r>
            <a:r>
              <a:rPr lang="ja-JP" altLang="en-US" sz="2800" i="0" dirty="0">
                <a:solidFill>
                  <a:schemeClr val="tx1"/>
                </a:solidFill>
                <a:latin typeface="Segoe Script" pitchFamily="34" charset="0"/>
              </a:rPr>
              <a:t>   </a:t>
            </a:r>
            <a:r>
              <a:rPr lang="en-US" altLang="ja-JP" sz="2800" dirty="0" err="1">
                <a:latin typeface="Segoe Script" pitchFamily="34" charset="0"/>
              </a:rPr>
              <a:t>ietnam</a:t>
            </a:r>
            <a:endParaRPr lang="ja-JP" altLang="en-US" sz="2800" dirty="0">
              <a:latin typeface="Segoe Script" pitchFamily="34" charset="0"/>
            </a:endParaRPr>
          </a:p>
        </p:txBody>
      </p:sp>
      <p:sp>
        <p:nvSpPr>
          <p:cNvPr id="43" name="正方形/長方形 42">
            <a:extLst>
              <a:ext uri="{FF2B5EF4-FFF2-40B4-BE49-F238E27FC236}">
                <a16:creationId xmlns:a16="http://schemas.microsoft.com/office/drawing/2014/main" id="{3473BC66-2BE3-4BA7-9E94-658F932E5E73}"/>
              </a:ext>
            </a:extLst>
          </p:cNvPr>
          <p:cNvSpPr/>
          <p:nvPr userDrawn="1"/>
        </p:nvSpPr>
        <p:spPr>
          <a:xfrm>
            <a:off x="7953107" y="-179013"/>
            <a:ext cx="469156" cy="707886"/>
          </a:xfrm>
          <a:prstGeom prst="rect">
            <a:avLst/>
          </a:prstGeom>
          <a:noFill/>
        </p:spPr>
        <p:txBody>
          <a:bodyPr>
            <a:spAutoFit/>
          </a:bodyPr>
          <a:lstStyle/>
          <a:p>
            <a:pPr algn="ctr" eaLnBrk="1" hangingPunct="1">
              <a:spcBef>
                <a:spcPct val="50000"/>
              </a:spcBef>
              <a:defRPr/>
            </a:pPr>
            <a:r>
              <a:rPr lang="en-US" altLang="ja-JP"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V</a:t>
            </a:r>
            <a:endParaRPr lang="ja-JP" altLang="en-US"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35" name="Text Box 11">
            <a:extLst>
              <a:ext uri="{FF2B5EF4-FFF2-40B4-BE49-F238E27FC236}">
                <a16:creationId xmlns:a16="http://schemas.microsoft.com/office/drawing/2014/main" id="{1DC4ECF5-E62B-44AA-90DF-10764551D43E}"/>
              </a:ext>
            </a:extLst>
          </p:cNvPr>
          <p:cNvSpPr txBox="1">
            <a:spLocks noChangeArrowheads="1"/>
          </p:cNvSpPr>
          <p:nvPr userDrawn="1"/>
        </p:nvSpPr>
        <p:spPr bwMode="auto">
          <a:xfrm>
            <a:off x="50800" y="44450"/>
            <a:ext cx="1492250" cy="327025"/>
          </a:xfrm>
          <a:prstGeom prst="rect">
            <a:avLst/>
          </a:prstGeom>
          <a:noFill/>
          <a:ln w="57150" cmpd="thinThick"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marL="179388" eaLnBrk="0" hangingPunct="0">
              <a:defRPr kumimoji="1" sz="1400" b="1" i="1">
                <a:solidFill>
                  <a:schemeClr val="bg1"/>
                </a:solidFill>
                <a:latin typeface="HG丸ｺﾞｼｯｸM-PRO" pitchFamily="50" charset="-128"/>
                <a:ea typeface="HG丸ｺﾞｼｯｸM-PRO" pitchFamily="50" charset="-128"/>
              </a:defRPr>
            </a:lvl1pPr>
            <a:lvl2pPr marL="742950" indent="-285750" eaLnBrk="0" hangingPunct="0">
              <a:defRPr kumimoji="1" sz="1400" b="1" i="1">
                <a:solidFill>
                  <a:schemeClr val="bg1"/>
                </a:solidFill>
                <a:latin typeface="HG丸ｺﾞｼｯｸM-PRO" pitchFamily="50" charset="-128"/>
                <a:ea typeface="HG丸ｺﾞｼｯｸM-PRO" pitchFamily="50" charset="-128"/>
              </a:defRPr>
            </a:lvl2pPr>
            <a:lvl3pPr marL="1143000" indent="-228600" eaLnBrk="0" hangingPunct="0">
              <a:defRPr kumimoji="1" sz="1400" b="1" i="1">
                <a:solidFill>
                  <a:schemeClr val="bg1"/>
                </a:solidFill>
                <a:latin typeface="HG丸ｺﾞｼｯｸM-PRO" pitchFamily="50" charset="-128"/>
                <a:ea typeface="HG丸ｺﾞｼｯｸM-PRO" pitchFamily="50" charset="-128"/>
              </a:defRPr>
            </a:lvl3pPr>
            <a:lvl4pPr marL="1600200" indent="-228600" eaLnBrk="0" hangingPunct="0">
              <a:defRPr kumimoji="1" sz="1400" b="1" i="1">
                <a:solidFill>
                  <a:schemeClr val="bg1"/>
                </a:solidFill>
                <a:latin typeface="HG丸ｺﾞｼｯｸM-PRO" pitchFamily="50" charset="-128"/>
                <a:ea typeface="HG丸ｺﾞｼｯｸM-PRO" pitchFamily="50" charset="-128"/>
              </a:defRPr>
            </a:lvl4pPr>
            <a:lvl5pPr marL="2057400" indent="-228600" eaLnBrk="0" hangingPunct="0">
              <a:defRPr kumimoji="1" sz="1400" b="1" i="1">
                <a:solidFill>
                  <a:schemeClr val="bg1"/>
                </a:solidFill>
                <a:latin typeface="HG丸ｺﾞｼｯｸM-PRO" pitchFamily="50" charset="-128"/>
                <a:ea typeface="HG丸ｺﾞｼｯｸM-PRO" pitchFamily="50" charset="-128"/>
              </a:defRPr>
            </a:lvl5pPr>
            <a:lvl6pPr marL="25146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1800" i="0" dirty="0">
                <a:solidFill>
                  <a:srgbClr val="FF0000"/>
                </a:solidFill>
                <a:latin typeface="ＭＳ Ｐゴシック" pitchFamily="50" charset="-128"/>
                <a:ea typeface="ＭＳ Ｐゴシック" pitchFamily="50" charset="-128"/>
              </a:rPr>
              <a:t>Confidential</a:t>
            </a:r>
            <a:endParaRPr lang="en-US" sz="1800" i="0" dirty="0">
              <a:solidFill>
                <a:srgbClr val="FF0000"/>
              </a:solidFill>
              <a:latin typeface="ＭＳ Ｐゴシック" pitchFamily="50" charset="-128"/>
              <a:ea typeface="ＭＳ Ｐゴシック" pitchFamily="50" charset="-128"/>
            </a:endParaRPr>
          </a:p>
        </p:txBody>
      </p:sp>
      <p:sp>
        <p:nvSpPr>
          <p:cNvPr id="18" name="Rectangle 4">
            <a:extLst>
              <a:ext uri="{FF2B5EF4-FFF2-40B4-BE49-F238E27FC236}">
                <a16:creationId xmlns:a16="http://schemas.microsoft.com/office/drawing/2014/main" id="{A04B0585-20B2-4596-93D7-54D1340E0964}"/>
              </a:ext>
            </a:extLst>
          </p:cNvPr>
          <p:cNvSpPr>
            <a:spLocks noGrp="1" noChangeArrowheads="1"/>
          </p:cNvSpPr>
          <p:nvPr>
            <p:ph type="dt" sz="half" idx="2"/>
          </p:nvPr>
        </p:nvSpPr>
        <p:spPr>
          <a:xfrm>
            <a:off x="3033266" y="6653213"/>
            <a:ext cx="2063750" cy="204787"/>
          </a:xfrm>
          <a:prstGeom prst="rect">
            <a:avLst/>
          </a:prstGeom>
        </p:spPr>
        <p:txBody>
          <a:bodyPr anchor="ctr"/>
          <a:lstStyle>
            <a:lvl1pPr>
              <a:defRPr sz="1050"/>
            </a:lvl1pPr>
          </a:lstStyle>
          <a:p>
            <a:pPr>
              <a:defRPr/>
            </a:pPr>
            <a:endParaRPr lang="en-US" altLang="ja-JP" dirty="0"/>
          </a:p>
        </p:txBody>
      </p:sp>
      <p:sp>
        <p:nvSpPr>
          <p:cNvPr id="19" name="Rectangle 6">
            <a:extLst>
              <a:ext uri="{FF2B5EF4-FFF2-40B4-BE49-F238E27FC236}">
                <a16:creationId xmlns:a16="http://schemas.microsoft.com/office/drawing/2014/main" id="{C5564842-B2E4-45CE-AB60-14A7558DAFA0}"/>
              </a:ext>
            </a:extLst>
          </p:cNvPr>
          <p:cNvSpPr>
            <a:spLocks noGrp="1" noChangeArrowheads="1"/>
          </p:cNvSpPr>
          <p:nvPr>
            <p:ph type="sldNum" sz="quarter" idx="4"/>
          </p:nvPr>
        </p:nvSpPr>
        <p:spPr>
          <a:xfrm>
            <a:off x="5097463" y="6653213"/>
            <a:ext cx="2063750" cy="204787"/>
          </a:xfrm>
          <a:prstGeom prst="rect">
            <a:avLst/>
          </a:prstGeom>
        </p:spPr>
        <p:txBody>
          <a:bodyPr anchor="ctr"/>
          <a:lstStyle>
            <a:lvl1pPr>
              <a:defRPr sz="1050"/>
            </a:lvl1pPr>
          </a:lstStyle>
          <a:p>
            <a:pPr>
              <a:defRPr/>
            </a:pPr>
            <a:r>
              <a:rPr lang="en-US" altLang="ja-JP"/>
              <a:t>Page</a:t>
            </a:r>
            <a:r>
              <a:rPr lang="ja-JP" altLang="en-US"/>
              <a:t>　</a:t>
            </a:r>
            <a:r>
              <a:rPr lang="en-US" altLang="ja-JP"/>
              <a:t>:</a:t>
            </a:r>
            <a:r>
              <a:rPr lang="ja-JP" altLang="en-US"/>
              <a:t> </a:t>
            </a:r>
            <a:fld id="{79353177-B86D-4022-983D-1132BA6711EB}" type="slidenum">
              <a:rPr lang="en-US" altLang="ja-JP" smtClean="0"/>
              <a:pPr>
                <a:defRPr/>
              </a:pPr>
              <a:t>‹#›</a:t>
            </a:fld>
            <a:endParaRPr lang="en-US" altLang="ja-JP"/>
          </a:p>
        </p:txBody>
      </p:sp>
      <p:pic>
        <p:nvPicPr>
          <p:cNvPr id="21" name="BIPROGYロゴ">
            <a:extLst>
              <a:ext uri="{FF2B5EF4-FFF2-40B4-BE49-F238E27FC236}">
                <a16:creationId xmlns:a16="http://schemas.microsoft.com/office/drawing/2014/main" id="{3F93CD62-EE3C-4414-B5A1-AE038ED135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143308" y="6590834"/>
            <a:ext cx="1692703" cy="298366"/>
          </a:xfrm>
          <a:prstGeom prst="rect">
            <a:avLst/>
          </a:prstGeom>
        </p:spPr>
      </p:pic>
    </p:spTree>
  </p:cSld>
  <p:clrMap bg1="lt1" tx1="dk1" bg2="lt2" tx2="dk2" accent1="accent1" accent2="accent2" accent3="accent3" accent4="accent4" accent5="accent5" accent6="accent6" hlink="hlink" folHlink="folHlink"/>
  <p:sldLayoutIdLst>
    <p:sldLayoutId id="2147483790" r:id="rId1"/>
    <p:sldLayoutId id="2147483791" r:id="rId2"/>
    <p:sldLayoutId id="2147483794" r:id="rId3"/>
    <p:sldLayoutId id="2147483792" r:id="rId4"/>
    <p:sldLayoutId id="2147483789" r:id="rId5"/>
    <p:sldLayoutId id="2147483793" r:id="rId6"/>
    <p:sldLayoutId id="2147483804" r:id="rId7"/>
  </p:sldLayoutIdLst>
  <p:hf hdr="0" ftr="0" dt="0"/>
  <p:txStyles>
    <p:titleStyle>
      <a:lvl1pPr algn="l" rtl="0" eaLnBrk="1" fontAlgn="base" hangingPunct="1">
        <a:spcBef>
          <a:spcPct val="0"/>
        </a:spcBef>
        <a:spcAft>
          <a:spcPct val="0"/>
        </a:spcAft>
        <a:defRPr kumimoji="1" sz="3600">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42950" indent="-285750" algn="l" rtl="0" eaLnBrk="1" fontAlgn="base" hangingPunct="1">
        <a:spcBef>
          <a:spcPct val="20000"/>
        </a:spcBef>
        <a:spcAft>
          <a:spcPct val="0"/>
        </a:spcAft>
        <a:buChar char="–"/>
        <a:defRPr kumimoji="1" sz="28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43000" indent="-228600" algn="l" rtl="0" eaLnBrk="1" fontAlgn="base" hangingPunct="1">
        <a:spcBef>
          <a:spcPct val="20000"/>
        </a:spcBef>
        <a:spcAft>
          <a:spcPct val="0"/>
        </a:spcAft>
        <a:buChar char="•"/>
        <a:defRPr kumimoji="1" sz="2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6002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574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144D352-923E-E6B6-4D8A-AB66C88BC3CC}"/>
              </a:ext>
            </a:extLst>
          </p:cNvPr>
          <p:cNvSpPr>
            <a:spLocks noGrp="1"/>
          </p:cNvSpPr>
          <p:nvPr>
            <p:ph type="title"/>
          </p:nvPr>
        </p:nvSpPr>
        <p:spPr>
          <a:xfrm>
            <a:off x="681038" y="365125"/>
            <a:ext cx="8543925"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0BC59BC7-F850-7C36-754E-E6369E518C47}"/>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E06DDECD-4404-C7CD-5336-354F8B649232}"/>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E4D65A-0EC1-4CBC-8539-F9FD2B92F981}" type="datetimeFigureOut">
              <a:rPr kumimoji="1" lang="ja-JP" altLang="en-US" smtClean="0"/>
              <a:t>2026/8/14</a:t>
            </a:fld>
            <a:endParaRPr kumimoji="1" lang="ja-JP" altLang="en-US"/>
          </a:p>
        </p:txBody>
      </p:sp>
      <p:sp>
        <p:nvSpPr>
          <p:cNvPr id="5" name="フッター プレースホルダー 4">
            <a:extLst>
              <a:ext uri="{FF2B5EF4-FFF2-40B4-BE49-F238E27FC236}">
                <a16:creationId xmlns:a16="http://schemas.microsoft.com/office/drawing/2014/main" id="{8390F2CC-709C-7ED4-7144-F5EFE9F7868F}"/>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0AF8815-82A4-7D2E-5978-31B8771F562E}"/>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3079028108"/>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lnSpc>
          <a:spcPct val="90000"/>
        </a:lnSpc>
        <a:spcBef>
          <a:spcPct val="0"/>
        </a:spcBef>
        <a:buNone/>
        <a:defRPr kumimoji="1" sz="4400" kern="1200">
          <a:solidFill>
            <a:schemeClr val="tx1"/>
          </a:solidFill>
          <a:latin typeface="ADLaM Display" panose="02010000000000000000" pitchFamily="2" charset="0"/>
          <a:ea typeface="+mj-ea"/>
          <a:cs typeface="ADLaM Display" panose="0201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image" Target="../media/image5.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F9DBA4-9BD3-3587-2D5F-443C8B8E03F7}"/>
              </a:ext>
            </a:extLst>
          </p:cNvPr>
          <p:cNvSpPr>
            <a:spLocks noGrp="1"/>
          </p:cNvSpPr>
          <p:nvPr>
            <p:ph type="sldNum" sz="quarter" idx="10"/>
          </p:nvPr>
        </p:nvSpPr>
        <p:spPr bwMode="auto">
          <a:xfrm>
            <a:off x="7616825" y="63817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ja-JP"/>
            </a:defPPr>
            <a:lvl1pPr algn="r" rtl="0" fontAlgn="base">
              <a:spcBef>
                <a:spcPct val="0"/>
              </a:spcBef>
              <a:spcAft>
                <a:spcPct val="0"/>
              </a:spcAft>
              <a:defRPr kumimoji="1" sz="1400" b="0" kern="1200">
                <a:solidFill>
                  <a:schemeClr val="tx1"/>
                </a:solidFill>
                <a:latin typeface="Arial" panose="020B0604020202020204" pitchFamily="34" charset="0"/>
                <a:ea typeface="+mj-ea"/>
                <a:cs typeface="+mn-cs"/>
              </a:defRPr>
            </a:lvl1pPr>
            <a:lvl2pPr marL="4572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2pPr>
            <a:lvl3pPr marL="9144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3pPr>
            <a:lvl4pPr marL="13716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4pPr>
            <a:lvl5pPr marL="18288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5pPr>
            <a:lvl6pPr marL="22860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6pPr>
            <a:lvl7pPr marL="27432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7pPr>
            <a:lvl8pPr marL="32004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8pPr>
            <a:lvl9pPr marL="36576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9pPr>
          </a:lstStyle>
          <a:p>
            <a:fld id="{92B97653-7A82-4130-A2D1-30C53FC4DD60}" type="slidenum">
              <a:rPr lang="en-US" altLang="ja-JP" smtClean="0"/>
              <a:pPr/>
              <a:t>1</a:t>
            </a:fld>
            <a:endParaRPr lang="en-US" altLang="ja-JP"/>
          </a:p>
        </p:txBody>
      </p:sp>
      <p:sp>
        <p:nvSpPr>
          <p:cNvPr id="256004" name="Text Box 4">
            <a:extLst>
              <a:ext uri="{FF2B5EF4-FFF2-40B4-BE49-F238E27FC236}">
                <a16:creationId xmlns:a16="http://schemas.microsoft.com/office/drawing/2014/main" id="{B3E0C649-19E7-3A23-525F-3A86B195FC1A}"/>
              </a:ext>
            </a:extLst>
          </p:cNvPr>
          <p:cNvSpPr txBox="1">
            <a:spLocks noChangeArrowheads="1"/>
          </p:cNvSpPr>
          <p:nvPr/>
        </p:nvSpPr>
        <p:spPr bwMode="auto">
          <a:xfrm>
            <a:off x="1330324" y="2336800"/>
            <a:ext cx="7889875" cy="667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2643" tIns="56322" rIns="112643" bIns="56322">
            <a:spAutoFit/>
          </a:bodyPr>
          <a:lstStyle>
            <a:lvl1pPr defTabSz="1063625">
              <a:defRPr kumimoji="1">
                <a:solidFill>
                  <a:schemeClr val="tx1"/>
                </a:solidFill>
                <a:latin typeface="Arial" panose="020B0604020202020204" pitchFamily="34" charset="0"/>
                <a:ea typeface="ＭＳ Ｐゴシック" panose="020B0600070205080204" pitchFamily="50" charset="-128"/>
              </a:defRPr>
            </a:lvl1pPr>
            <a:lvl2pPr marL="563563" defTabSz="1063625">
              <a:defRPr kumimoji="1">
                <a:solidFill>
                  <a:schemeClr val="tx1"/>
                </a:solidFill>
                <a:latin typeface="Arial" panose="020B0604020202020204" pitchFamily="34" charset="0"/>
                <a:ea typeface="ＭＳ Ｐゴシック" panose="020B0600070205080204" pitchFamily="50" charset="-128"/>
              </a:defRPr>
            </a:lvl2pPr>
            <a:lvl3pPr marL="1125538" defTabSz="1063625">
              <a:defRPr kumimoji="1">
                <a:solidFill>
                  <a:schemeClr val="tx1"/>
                </a:solidFill>
                <a:latin typeface="Arial" panose="020B0604020202020204" pitchFamily="34" charset="0"/>
                <a:ea typeface="ＭＳ Ｐゴシック" panose="020B0600070205080204" pitchFamily="50" charset="-128"/>
              </a:defRPr>
            </a:lvl3pPr>
            <a:lvl4pPr marL="1689100" defTabSz="1063625">
              <a:defRPr kumimoji="1">
                <a:solidFill>
                  <a:schemeClr val="tx1"/>
                </a:solidFill>
                <a:latin typeface="Arial" panose="020B0604020202020204" pitchFamily="34" charset="0"/>
                <a:ea typeface="ＭＳ Ｐゴシック" panose="020B0600070205080204" pitchFamily="50" charset="-128"/>
              </a:defRPr>
            </a:lvl4pPr>
            <a:lvl5pPr marL="2254250" defTabSz="1063625">
              <a:defRPr kumimoji="1">
                <a:solidFill>
                  <a:schemeClr val="tx1"/>
                </a:solidFill>
                <a:latin typeface="Arial" panose="020B0604020202020204" pitchFamily="34" charset="0"/>
                <a:ea typeface="ＭＳ Ｐゴシック" panose="020B0600070205080204" pitchFamily="50" charset="-128"/>
              </a:defRPr>
            </a:lvl5pPr>
            <a:lvl6pPr marL="27114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86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58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30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3600" b="0" dirty="0">
                <a:latin typeface="+mj-lt"/>
                <a:ea typeface="ヒラギノ明朝 Pro W6" pitchFamily="18" charset="-128"/>
              </a:rPr>
              <a:t>Object Oriented Programming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8F757-8667-FC71-C25B-409409551633}"/>
              </a:ext>
            </a:extLst>
          </p:cNvPr>
          <p:cNvSpPr>
            <a:spLocks noGrp="1"/>
          </p:cNvSpPr>
          <p:nvPr>
            <p:ph type="title"/>
          </p:nvPr>
        </p:nvSpPr>
        <p:spPr/>
        <p:txBody>
          <a:bodyPr>
            <a:normAutofit fontScale="90000"/>
          </a:bodyPr>
          <a:lstStyle/>
          <a:p>
            <a:r>
              <a:rPr lang="en-US" altLang="ja-JP" dirty="0" err="1">
                <a:latin typeface="Arial" panose="020B0604020202020204" pitchFamily="34" charset="0"/>
                <a:ea typeface="MS UI Gothic" panose="020B0600070205080204" pitchFamily="50" charset="-128"/>
              </a:rPr>
              <a:t>Thừa</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kế</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là</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gì</a:t>
            </a:r>
            <a:r>
              <a:rPr lang="en-US" altLang="ja-JP" dirty="0">
                <a:latin typeface="Arial" panose="020B0604020202020204" pitchFamily="34" charset="0"/>
                <a:ea typeface="MS UI Gothic" panose="020B0600070205080204" pitchFamily="50" charset="-128"/>
              </a:rPr>
              <a:t>? </a:t>
            </a:r>
            <a:endParaRPr lang="ja-JP" altLang="en-US" dirty="0"/>
          </a:p>
        </p:txBody>
      </p:sp>
      <p:sp>
        <p:nvSpPr>
          <p:cNvPr id="4" name="Content Placeholder 3">
            <a:extLst>
              <a:ext uri="{FF2B5EF4-FFF2-40B4-BE49-F238E27FC236}">
                <a16:creationId xmlns:a16="http://schemas.microsoft.com/office/drawing/2014/main" id="{A2BFCA50-FC68-AC66-FFBE-59D907AE691B}"/>
              </a:ext>
            </a:extLst>
          </p:cNvPr>
          <p:cNvSpPr>
            <a:spLocks noGrp="1"/>
          </p:cNvSpPr>
          <p:nvPr>
            <p:ph idx="1"/>
          </p:nvPr>
        </p:nvSpPr>
        <p:spPr/>
        <p:txBody>
          <a:bodyPr>
            <a:normAutofit fontScale="77500" lnSpcReduction="20000"/>
          </a:bodyPr>
          <a:lstStyle/>
          <a:p>
            <a:r>
              <a:rPr lang="en-US" altLang="ja-JP" dirty="0" err="1">
                <a:ea typeface="MS UI Gothic" panose="020B0600070205080204" pitchFamily="50" charset="-128"/>
              </a:rPr>
              <a:t>Kế</a:t>
            </a:r>
            <a:r>
              <a:rPr lang="en-US" altLang="ja-JP" dirty="0">
                <a:ea typeface="MS UI Gothic" panose="020B0600070205080204" pitchFamily="50" charset="-128"/>
              </a:rPr>
              <a:t> </a:t>
            </a:r>
            <a:r>
              <a:rPr lang="en-US" altLang="ja-JP" dirty="0" err="1">
                <a:ea typeface="MS UI Gothic" panose="020B0600070205080204" pitchFamily="50" charset="-128"/>
              </a:rPr>
              <a:t>thừa</a:t>
            </a:r>
            <a:r>
              <a:rPr lang="en-US" altLang="ja-JP" dirty="0">
                <a:ea typeface="MS UI Gothic" panose="020B0600070205080204" pitchFamily="50" charset="-128"/>
              </a:rPr>
              <a:t> là </a:t>
            </a:r>
            <a:r>
              <a:rPr lang="en-US" altLang="ja-JP" dirty="0" err="1">
                <a:ea typeface="MS UI Gothic" panose="020B0600070205080204" pitchFamily="50" charset="-128"/>
              </a:rPr>
              <a:t>việc</a:t>
            </a:r>
            <a:r>
              <a:rPr lang="en-US" altLang="ja-JP" dirty="0">
                <a:ea typeface="MS UI Gothic" panose="020B0600070205080204" pitchFamily="50" charset="-128"/>
              </a:rPr>
              <a:t> </a:t>
            </a:r>
            <a:r>
              <a:rPr lang="en-US" altLang="ja-JP" dirty="0" err="1">
                <a:ea typeface="MS UI Gothic" panose="020B0600070205080204" pitchFamily="50" charset="-128"/>
              </a:rPr>
              <a:t>định</a:t>
            </a:r>
            <a:r>
              <a:rPr lang="en-US" altLang="ja-JP" dirty="0">
                <a:ea typeface="MS UI Gothic" panose="020B0600070205080204" pitchFamily="50" charset="-128"/>
              </a:rPr>
              <a:t> </a:t>
            </a:r>
            <a:r>
              <a:rPr lang="en-US" altLang="ja-JP" dirty="0" err="1">
                <a:ea typeface="MS UI Gothic" panose="020B0600070205080204" pitchFamily="50" charset="-128"/>
              </a:rPr>
              <a:t>nghĩa</a:t>
            </a:r>
            <a:r>
              <a:rPr lang="en-US" altLang="ja-JP" dirty="0">
                <a:ea typeface="MS UI Gothic" panose="020B0600070205080204" pitchFamily="50" charset="-128"/>
              </a:rPr>
              <a:t> class </a:t>
            </a:r>
            <a:r>
              <a:rPr lang="en-US" altLang="ja-JP" dirty="0" err="1">
                <a:ea typeface="MS UI Gothic" panose="020B0600070205080204" pitchFamily="50" charset="-128"/>
              </a:rPr>
              <a:t>mới</a:t>
            </a:r>
            <a:r>
              <a:rPr lang="en-US" altLang="ja-JP" dirty="0">
                <a:ea typeface="MS UI Gothic" panose="020B0600070205080204" pitchFamily="50" charset="-128"/>
              </a:rPr>
              <a:t> </a:t>
            </a:r>
            <a:r>
              <a:rPr lang="en-US" altLang="ja-JP" dirty="0" err="1">
                <a:ea typeface="MS UI Gothic" panose="020B0600070205080204" pitchFamily="50" charset="-128"/>
              </a:rPr>
              <a:t>đã</a:t>
            </a:r>
            <a:r>
              <a:rPr lang="en-US" altLang="ja-JP" dirty="0">
                <a:ea typeface="MS UI Gothic" panose="020B0600070205080204" pitchFamily="50" charset="-128"/>
              </a:rPr>
              <a:t> </a:t>
            </a:r>
            <a:r>
              <a:rPr lang="en-US" altLang="ja-JP" dirty="0" err="1">
                <a:ea typeface="MS UI Gothic" panose="020B0600070205080204" pitchFamily="50" charset="-128"/>
              </a:rPr>
              <a:t>kế</a:t>
            </a:r>
            <a:r>
              <a:rPr lang="en-US" altLang="ja-JP" dirty="0">
                <a:ea typeface="MS UI Gothic" panose="020B0600070205080204" pitchFamily="50" charset="-128"/>
              </a:rPr>
              <a:t> </a:t>
            </a:r>
            <a:r>
              <a:rPr lang="en-US" altLang="ja-JP" dirty="0" err="1">
                <a:ea typeface="MS UI Gothic" panose="020B0600070205080204" pitchFamily="50" charset="-128"/>
              </a:rPr>
              <a:t>thừa</a:t>
            </a:r>
            <a:r>
              <a:rPr lang="en-US" altLang="ja-JP" dirty="0">
                <a:ea typeface="MS UI Gothic" panose="020B0600070205080204" pitchFamily="50" charset="-128"/>
              </a:rPr>
              <a:t> class </a:t>
            </a:r>
            <a:r>
              <a:rPr lang="en-US" altLang="ja-JP" dirty="0" err="1">
                <a:ea typeface="MS UI Gothic" panose="020B0600070205080204" pitchFamily="50" charset="-128"/>
              </a:rPr>
              <a:t>sẵn</a:t>
            </a:r>
            <a:r>
              <a:rPr lang="en-US" altLang="ja-JP" dirty="0">
                <a:ea typeface="MS UI Gothic" panose="020B0600070205080204" pitchFamily="50" charset="-128"/>
              </a:rPr>
              <a:t> có.</a:t>
            </a:r>
          </a:p>
          <a:p>
            <a:r>
              <a:rPr lang="en-US" altLang="ja-JP" dirty="0" err="1">
                <a:ea typeface="MS UI Gothic" panose="020B0600070205080204" pitchFamily="50" charset="-128"/>
              </a:rPr>
              <a:t>Nếu</a:t>
            </a:r>
            <a:r>
              <a:rPr lang="en-US" altLang="ja-JP" dirty="0">
                <a:ea typeface="MS UI Gothic" panose="020B0600070205080204" pitchFamily="50" charset="-128"/>
              </a:rPr>
              <a:t> </a:t>
            </a:r>
            <a:r>
              <a:rPr lang="en-US" altLang="ja-JP" dirty="0" err="1">
                <a:ea typeface="MS UI Gothic" panose="020B0600070205080204" pitchFamily="50" charset="-128"/>
              </a:rPr>
              <a:t>sư</a:t>
            </a:r>
            <a:r>
              <a:rPr lang="en-US" altLang="ja-JP" dirty="0">
                <a:ea typeface="MS UI Gothic" panose="020B0600070205080204" pitchFamily="50" charset="-128"/>
              </a:rPr>
              <a:t>̉ </a:t>
            </a:r>
            <a:r>
              <a:rPr lang="en-US" altLang="ja-JP" dirty="0" err="1">
                <a:ea typeface="MS UI Gothic" panose="020B0600070205080204" pitchFamily="50" charset="-128"/>
              </a:rPr>
              <a:t>dụng</a:t>
            </a:r>
            <a:r>
              <a:rPr lang="en-US" altLang="ja-JP" dirty="0">
                <a:ea typeface="MS UI Gothic" panose="020B0600070205080204" pitchFamily="50" charset="-128"/>
              </a:rPr>
              <a:t> </a:t>
            </a:r>
            <a:r>
              <a:rPr lang="en-US" altLang="ja-JP" dirty="0" err="1">
                <a:ea typeface="MS UI Gothic" panose="020B0600070205080204" pitchFamily="50" charset="-128"/>
              </a:rPr>
              <a:t>kế</a:t>
            </a:r>
            <a:r>
              <a:rPr lang="en-US" altLang="ja-JP" dirty="0">
                <a:ea typeface="MS UI Gothic" panose="020B0600070205080204" pitchFamily="50" charset="-128"/>
              </a:rPr>
              <a:t> </a:t>
            </a:r>
            <a:r>
              <a:rPr lang="en-US" altLang="ja-JP" dirty="0" err="1">
                <a:ea typeface="MS UI Gothic" panose="020B0600070205080204" pitchFamily="50" charset="-128"/>
              </a:rPr>
              <a:t>thừa</a:t>
            </a:r>
            <a:r>
              <a:rPr lang="en-US" altLang="ja-JP" dirty="0">
                <a:ea typeface="MS UI Gothic" panose="020B0600070205080204" pitchFamily="50" charset="-128"/>
              </a:rPr>
              <a:t> </a:t>
            </a:r>
            <a:r>
              <a:rPr lang="en-US" altLang="ja-JP" dirty="0" err="1">
                <a:ea typeface="MS UI Gothic" panose="020B0600070205080204" pitchFamily="50" charset="-128"/>
              </a:rPr>
              <a:t>thi</a:t>
            </a:r>
            <a:r>
              <a:rPr lang="en-US" altLang="ja-JP" dirty="0">
                <a:ea typeface="MS UI Gothic" panose="020B0600070205080204" pitchFamily="50" charset="-128"/>
              </a:rPr>
              <a:t>̀ có </a:t>
            </a:r>
            <a:r>
              <a:rPr lang="en-US" altLang="ja-JP" dirty="0" err="1">
                <a:ea typeface="MS UI Gothic" panose="020B0600070205080204" pitchFamily="50" charset="-128"/>
              </a:rPr>
              <a:t>thê</a:t>
            </a:r>
            <a:r>
              <a:rPr lang="en-US" altLang="ja-JP" dirty="0">
                <a:ea typeface="MS UI Gothic" panose="020B0600070205080204" pitchFamily="50" charset="-128"/>
              </a:rPr>
              <a:t>̉ </a:t>
            </a:r>
            <a:r>
              <a:rPr lang="en-US" altLang="ja-JP" dirty="0" err="1">
                <a:ea typeface="MS UI Gothic" panose="020B0600070205080204" pitchFamily="50" charset="-128"/>
              </a:rPr>
              <a:t>mơ</a:t>
            </a:r>
            <a:r>
              <a:rPr lang="en-US" altLang="ja-JP" dirty="0">
                <a:ea typeface="MS UI Gothic" panose="020B0600070205080204" pitchFamily="50" charset="-128"/>
              </a:rPr>
              <a:t>̉ </a:t>
            </a:r>
            <a:r>
              <a:rPr lang="en-US" altLang="ja-JP" dirty="0" err="1">
                <a:ea typeface="MS UI Gothic" panose="020B0600070205080204" pitchFamily="50" charset="-128"/>
              </a:rPr>
              <a:t>rộng</a:t>
            </a:r>
            <a:r>
              <a:rPr lang="en-US" altLang="ja-JP" dirty="0">
                <a:ea typeface="MS UI Gothic" panose="020B0600070205080204" pitchFamily="50" charset="-128"/>
              </a:rPr>
              <a:t> </a:t>
            </a:r>
            <a:r>
              <a:rPr lang="en-US" altLang="ja-JP" dirty="0" err="1">
                <a:ea typeface="MS UI Gothic" panose="020B0600070205080204" pitchFamily="50" charset="-128"/>
              </a:rPr>
              <a:t>chức</a:t>
            </a:r>
            <a:r>
              <a:rPr lang="en-US" altLang="ja-JP" dirty="0">
                <a:ea typeface="MS UI Gothic" panose="020B0600070205080204" pitchFamily="50" charset="-128"/>
              </a:rPr>
              <a:t> </a:t>
            </a:r>
            <a:r>
              <a:rPr lang="en-US" altLang="ja-JP" dirty="0" err="1">
                <a:ea typeface="MS UI Gothic" panose="020B0600070205080204" pitchFamily="50" charset="-128"/>
              </a:rPr>
              <a:t>năng</a:t>
            </a:r>
            <a:r>
              <a:rPr lang="en-US" altLang="ja-JP" dirty="0">
                <a:ea typeface="MS UI Gothic" panose="020B0600070205080204" pitchFamily="50" charset="-128"/>
              </a:rPr>
              <a:t> </a:t>
            </a:r>
            <a:r>
              <a:rPr lang="en-US" altLang="ja-JP" dirty="0" err="1">
                <a:ea typeface="MS UI Gothic" panose="020B0600070205080204" pitchFamily="50" charset="-128"/>
              </a:rPr>
              <a:t>của</a:t>
            </a:r>
            <a:r>
              <a:rPr lang="en-US" altLang="ja-JP" dirty="0">
                <a:ea typeface="MS UI Gothic" panose="020B0600070205080204" pitchFamily="50" charset="-128"/>
              </a:rPr>
              <a:t> class </a:t>
            </a:r>
            <a:r>
              <a:rPr lang="en-US" altLang="ja-JP" dirty="0" err="1">
                <a:ea typeface="MS UI Gothic" panose="020B0600070205080204" pitchFamily="50" charset="-128"/>
              </a:rPr>
              <a:t>sẵn</a:t>
            </a:r>
            <a:r>
              <a:rPr lang="en-US" altLang="ja-JP" dirty="0">
                <a:ea typeface="MS UI Gothic" panose="020B0600070205080204" pitchFamily="50" charset="-128"/>
              </a:rPr>
              <a:t> có.</a:t>
            </a:r>
          </a:p>
          <a:p>
            <a:r>
              <a:rPr lang="en-US" altLang="ja-JP" dirty="0" err="1">
                <a:ea typeface="MS UI Gothic" panose="020B0600070205080204" pitchFamily="50" charset="-128"/>
              </a:rPr>
              <a:t>Gọi</a:t>
            </a:r>
            <a:r>
              <a:rPr lang="en-US" altLang="ja-JP" dirty="0">
                <a:ea typeface="MS UI Gothic" panose="020B0600070205080204" pitchFamily="50" charset="-128"/>
              </a:rPr>
              <a:t> class </a:t>
            </a:r>
            <a:r>
              <a:rPr lang="en-US" altLang="ja-JP" dirty="0" err="1">
                <a:ea typeface="MS UI Gothic" panose="020B0600070205080204" pitchFamily="50" charset="-128"/>
              </a:rPr>
              <a:t>có</a:t>
            </a:r>
            <a:r>
              <a:rPr lang="en-US" altLang="ja-JP" dirty="0">
                <a:ea typeface="MS UI Gothic" panose="020B0600070205080204" pitchFamily="50" charset="-128"/>
              </a:rPr>
              <a:t> </a:t>
            </a:r>
            <a:r>
              <a:rPr lang="en-US" altLang="ja-JP" dirty="0" err="1">
                <a:ea typeface="MS UI Gothic" panose="020B0600070205080204" pitchFamily="50" charset="-128"/>
              </a:rPr>
              <a:t>những</a:t>
            </a:r>
            <a:r>
              <a:rPr lang="en-US" altLang="ja-JP" dirty="0">
                <a:ea typeface="MS UI Gothic" panose="020B0600070205080204" pitchFamily="50" charset="-128"/>
              </a:rPr>
              <a:t> </a:t>
            </a:r>
            <a:r>
              <a:rPr lang="en-US" altLang="ja-JP" dirty="0" err="1">
                <a:ea typeface="MS UI Gothic" panose="020B0600070205080204" pitchFamily="50" charset="-128"/>
              </a:rPr>
              <a:t>yếu</a:t>
            </a:r>
            <a:r>
              <a:rPr lang="en-US" altLang="ja-JP" dirty="0">
                <a:ea typeface="MS UI Gothic" panose="020B0600070205080204" pitchFamily="50" charset="-128"/>
              </a:rPr>
              <a:t> </a:t>
            </a:r>
            <a:r>
              <a:rPr lang="en-US" altLang="ja-JP" dirty="0" err="1">
                <a:ea typeface="MS UI Gothic" panose="020B0600070205080204" pitchFamily="50" charset="-128"/>
              </a:rPr>
              <a:t>tô</a:t>
            </a:r>
            <a:r>
              <a:rPr lang="en-US" altLang="ja-JP" dirty="0">
                <a:ea typeface="MS UI Gothic" panose="020B0600070205080204" pitchFamily="50" charset="-128"/>
              </a:rPr>
              <a:t>́ </a:t>
            </a:r>
            <a:r>
              <a:rPr lang="en-US" altLang="ja-JP" dirty="0" err="1">
                <a:ea typeface="MS UI Gothic" panose="020B0600070205080204" pitchFamily="50" charset="-128"/>
              </a:rPr>
              <a:t>chung</a:t>
            </a:r>
            <a:r>
              <a:rPr lang="en-US" altLang="ja-JP" dirty="0">
                <a:ea typeface="MS UI Gothic" panose="020B0600070205080204" pitchFamily="50" charset="-128"/>
              </a:rPr>
              <a:t> </a:t>
            </a:r>
            <a:r>
              <a:rPr lang="en-US" altLang="ja-JP" dirty="0" err="1">
                <a:ea typeface="MS UI Gothic" panose="020B0600070205080204" pitchFamily="50" charset="-128"/>
              </a:rPr>
              <a:t>thông</a:t>
            </a:r>
            <a:r>
              <a:rPr lang="en-US" altLang="ja-JP" dirty="0">
                <a:ea typeface="MS UI Gothic" panose="020B0600070205080204" pitchFamily="50" charset="-128"/>
              </a:rPr>
              <a:t> </a:t>
            </a:r>
            <a:r>
              <a:rPr lang="en-US" altLang="ja-JP" dirty="0" err="1">
                <a:ea typeface="MS UI Gothic" panose="020B0600070205080204" pitchFamily="50" charset="-128"/>
              </a:rPr>
              <a:t>thường</a:t>
            </a:r>
            <a:r>
              <a:rPr lang="en-US" altLang="ja-JP" dirty="0">
                <a:ea typeface="MS UI Gothic" panose="020B0600070205080204" pitchFamily="50" charset="-128"/>
              </a:rPr>
              <a:t> là super class </a:t>
            </a:r>
            <a:r>
              <a:rPr lang="en-US" altLang="ja-JP" dirty="0" err="1">
                <a:ea typeface="MS UI Gothic" panose="020B0600070205080204" pitchFamily="50" charset="-128"/>
              </a:rPr>
              <a:t>va</a:t>
            </a:r>
            <a:r>
              <a:rPr lang="en-US" altLang="ja-JP" dirty="0">
                <a:ea typeface="MS UI Gothic" panose="020B0600070205080204" pitchFamily="50" charset="-128"/>
              </a:rPr>
              <a:t>̀ </a:t>
            </a:r>
            <a:r>
              <a:rPr lang="en-US" altLang="ja-JP" dirty="0" err="1">
                <a:ea typeface="MS UI Gothic" panose="020B0600070205080204" pitchFamily="50" charset="-128"/>
              </a:rPr>
              <a:t>gọi</a:t>
            </a:r>
            <a:r>
              <a:rPr lang="en-US" altLang="ja-JP" dirty="0">
                <a:ea typeface="MS UI Gothic" panose="020B0600070205080204" pitchFamily="50" charset="-128"/>
              </a:rPr>
              <a:t> </a:t>
            </a:r>
            <a:r>
              <a:rPr lang="en-US" altLang="ja-JP" dirty="0" err="1">
                <a:ea typeface="MS UI Gothic" panose="020B0600070205080204" pitchFamily="50" charset="-128"/>
              </a:rPr>
              <a:t>các</a:t>
            </a:r>
            <a:r>
              <a:rPr lang="en-US" altLang="ja-JP" dirty="0">
                <a:ea typeface="MS UI Gothic" panose="020B0600070205080204" pitchFamily="50" charset="-128"/>
              </a:rPr>
              <a:t> class </a:t>
            </a:r>
            <a:r>
              <a:rPr lang="en-US" altLang="ja-JP" dirty="0" err="1">
                <a:ea typeface="MS UI Gothic" panose="020B0600070205080204" pitchFamily="50" charset="-128"/>
              </a:rPr>
              <a:t>đa</a:t>
            </a:r>
            <a:r>
              <a:rPr lang="en-US" altLang="ja-JP" dirty="0">
                <a:ea typeface="MS UI Gothic" panose="020B0600070205080204" pitchFamily="50" charset="-128"/>
              </a:rPr>
              <a:t>̃ add </a:t>
            </a:r>
            <a:r>
              <a:rPr lang="en-US" altLang="ja-JP" dirty="0" err="1">
                <a:ea typeface="MS UI Gothic" panose="020B0600070205080204" pitchFamily="50" charset="-128"/>
              </a:rPr>
              <a:t>thêm</a:t>
            </a:r>
            <a:r>
              <a:rPr lang="en-US" altLang="ja-JP" dirty="0">
                <a:ea typeface="MS UI Gothic" panose="020B0600070205080204" pitchFamily="50" charset="-128"/>
              </a:rPr>
              <a:t> </a:t>
            </a:r>
            <a:r>
              <a:rPr lang="en-US" altLang="ja-JP" dirty="0" err="1">
                <a:ea typeface="MS UI Gothic" panose="020B0600070205080204" pitchFamily="50" charset="-128"/>
              </a:rPr>
              <a:t>chức</a:t>
            </a:r>
            <a:r>
              <a:rPr lang="en-US" altLang="ja-JP" dirty="0">
                <a:ea typeface="MS UI Gothic" panose="020B0600070205080204" pitchFamily="50" charset="-128"/>
              </a:rPr>
              <a:t> </a:t>
            </a:r>
            <a:r>
              <a:rPr lang="en-US" altLang="ja-JP" dirty="0" err="1">
                <a:ea typeface="MS UI Gothic" panose="020B0600070205080204" pitchFamily="50" charset="-128"/>
              </a:rPr>
              <a:t>năng</a:t>
            </a:r>
            <a:r>
              <a:rPr lang="en-US" altLang="ja-JP" dirty="0">
                <a:ea typeface="MS UI Gothic" panose="020B0600070205080204" pitchFamily="50" charset="-128"/>
              </a:rPr>
              <a:t> </a:t>
            </a:r>
            <a:r>
              <a:rPr lang="en-US" altLang="ja-JP" dirty="0" err="1">
                <a:ea typeface="MS UI Gothic" panose="020B0600070205080204" pitchFamily="50" charset="-128"/>
              </a:rPr>
              <a:t>riêng</a:t>
            </a:r>
            <a:r>
              <a:rPr lang="en-US" altLang="ja-JP" dirty="0">
                <a:ea typeface="MS UI Gothic" panose="020B0600070205080204" pitchFamily="50" charset="-128"/>
              </a:rPr>
              <a:t> </a:t>
            </a:r>
            <a:r>
              <a:rPr lang="en-US" altLang="ja-JP" dirty="0" err="1">
                <a:ea typeface="MS UI Gothic" panose="020B0600070205080204" pitchFamily="50" charset="-128"/>
              </a:rPr>
              <a:t>biệt</a:t>
            </a:r>
            <a:r>
              <a:rPr lang="en-US" altLang="ja-JP" dirty="0">
                <a:ea typeface="MS UI Gothic" panose="020B0600070205080204" pitchFamily="50" charset="-128"/>
              </a:rPr>
              <a:t> là sub class.</a:t>
            </a:r>
          </a:p>
          <a:p>
            <a:pPr lvl="1"/>
            <a:r>
              <a:rPr lang="en-US" altLang="ja-JP" dirty="0" err="1">
                <a:ea typeface="MS UI Gothic" panose="020B0600070205080204" pitchFamily="50" charset="-128"/>
              </a:rPr>
              <a:t>Cũng</a:t>
            </a:r>
            <a:r>
              <a:rPr lang="en-US" altLang="ja-JP" dirty="0">
                <a:ea typeface="MS UI Gothic" panose="020B0600070205080204" pitchFamily="50" charset="-128"/>
              </a:rPr>
              <a:t> có </a:t>
            </a:r>
            <a:r>
              <a:rPr lang="en-US" altLang="ja-JP" dirty="0" err="1">
                <a:ea typeface="MS UI Gothic" panose="020B0600070205080204" pitchFamily="50" charset="-128"/>
              </a:rPr>
              <a:t>trường</a:t>
            </a:r>
            <a:r>
              <a:rPr lang="en-US" altLang="ja-JP" dirty="0">
                <a:ea typeface="MS UI Gothic" panose="020B0600070205080204" pitchFamily="50" charset="-128"/>
              </a:rPr>
              <a:t> </a:t>
            </a:r>
            <a:r>
              <a:rPr lang="en-US" altLang="ja-JP" dirty="0" err="1">
                <a:ea typeface="MS UI Gothic" panose="020B0600070205080204" pitchFamily="50" charset="-128"/>
              </a:rPr>
              <a:t>hợp</a:t>
            </a:r>
            <a:r>
              <a:rPr lang="en-US" altLang="ja-JP" dirty="0">
                <a:ea typeface="MS UI Gothic" panose="020B0600070205080204" pitchFamily="50" charset="-128"/>
              </a:rPr>
              <a:t> </a:t>
            </a:r>
            <a:r>
              <a:rPr lang="en-US" altLang="ja-JP" dirty="0" err="1">
                <a:ea typeface="MS UI Gothic" panose="020B0600070205080204" pitchFamily="50" charset="-128"/>
              </a:rPr>
              <a:t>gọi</a:t>
            </a:r>
            <a:r>
              <a:rPr lang="en-US" altLang="ja-JP" dirty="0">
                <a:ea typeface="MS UI Gothic" panose="020B0600070205080204" pitchFamily="50" charset="-128"/>
              </a:rPr>
              <a:t> super class là class cha, base class, etc...</a:t>
            </a:r>
          </a:p>
          <a:p>
            <a:pPr lvl="1"/>
            <a:r>
              <a:rPr lang="en-US" altLang="ja-JP" dirty="0" err="1">
                <a:ea typeface="MS UI Gothic" panose="020B0600070205080204" pitchFamily="50" charset="-128"/>
              </a:rPr>
              <a:t>Cũng</a:t>
            </a:r>
            <a:r>
              <a:rPr lang="en-US" altLang="ja-JP" dirty="0">
                <a:ea typeface="MS UI Gothic" panose="020B0600070205080204" pitchFamily="50" charset="-128"/>
              </a:rPr>
              <a:t> có </a:t>
            </a:r>
            <a:r>
              <a:rPr lang="en-US" altLang="ja-JP" dirty="0" err="1">
                <a:ea typeface="MS UI Gothic" panose="020B0600070205080204" pitchFamily="50" charset="-128"/>
              </a:rPr>
              <a:t>trường</a:t>
            </a:r>
            <a:r>
              <a:rPr lang="en-US" altLang="ja-JP" dirty="0">
                <a:ea typeface="MS UI Gothic" panose="020B0600070205080204" pitchFamily="50" charset="-128"/>
              </a:rPr>
              <a:t> </a:t>
            </a:r>
            <a:r>
              <a:rPr lang="en-US" altLang="ja-JP" dirty="0" err="1">
                <a:ea typeface="MS UI Gothic" panose="020B0600070205080204" pitchFamily="50" charset="-128"/>
              </a:rPr>
              <a:t>hợp</a:t>
            </a:r>
            <a:r>
              <a:rPr lang="en-US" altLang="ja-JP" dirty="0">
                <a:ea typeface="MS UI Gothic" panose="020B0600070205080204" pitchFamily="50" charset="-128"/>
              </a:rPr>
              <a:t> </a:t>
            </a:r>
            <a:r>
              <a:rPr lang="en-US" altLang="ja-JP" dirty="0" err="1">
                <a:ea typeface="MS UI Gothic" panose="020B0600070205080204" pitchFamily="50" charset="-128"/>
              </a:rPr>
              <a:t>gọi</a:t>
            </a:r>
            <a:r>
              <a:rPr lang="en-US" altLang="ja-JP" dirty="0">
                <a:ea typeface="MS UI Gothic" panose="020B0600070205080204" pitchFamily="50" charset="-128"/>
              </a:rPr>
              <a:t> sub class là class con, class </a:t>
            </a:r>
            <a:r>
              <a:rPr lang="en-US" altLang="ja-JP" dirty="0" err="1">
                <a:ea typeface="MS UI Gothic" panose="020B0600070205080204" pitchFamily="50" charset="-128"/>
              </a:rPr>
              <a:t>phái</a:t>
            </a:r>
            <a:r>
              <a:rPr lang="en-US" altLang="ja-JP" dirty="0">
                <a:ea typeface="MS UI Gothic" panose="020B0600070205080204" pitchFamily="50" charset="-128"/>
              </a:rPr>
              <a:t> </a:t>
            </a:r>
            <a:r>
              <a:rPr lang="en-US" altLang="ja-JP" dirty="0" err="1">
                <a:ea typeface="MS UI Gothic" panose="020B0600070205080204" pitchFamily="50" charset="-128"/>
              </a:rPr>
              <a:t>sinh</a:t>
            </a:r>
            <a:r>
              <a:rPr lang="en-US" altLang="ja-JP" dirty="0">
                <a:ea typeface="MS UI Gothic" panose="020B0600070205080204" pitchFamily="50" charset="-128"/>
              </a:rPr>
              <a:t>, etc....</a:t>
            </a:r>
          </a:p>
          <a:p>
            <a:endParaRPr lang="en-US" altLang="ja-JP" dirty="0">
              <a:ea typeface="MS UI Gothic" panose="020B0600070205080204" pitchFamily="50" charset="-128"/>
            </a:endParaRPr>
          </a:p>
          <a:p>
            <a:pPr marL="0" indent="0">
              <a:buNone/>
            </a:pPr>
            <a:r>
              <a:rPr lang="en-US" altLang="ja-JP" dirty="0">
                <a:ea typeface="MS UI Gothic" panose="020B0600070205080204" pitchFamily="50" charset="-128"/>
              </a:rPr>
              <a:t>【</a:t>
            </a:r>
            <a:r>
              <a:rPr lang="en-US" altLang="ja-JP" dirty="0" err="1">
                <a:ea typeface="MS UI Gothic" panose="020B0600070205080204" pitchFamily="50" charset="-128"/>
              </a:rPr>
              <a:t>Những</a:t>
            </a:r>
            <a:r>
              <a:rPr lang="en-US" altLang="ja-JP" dirty="0">
                <a:ea typeface="MS UI Gothic" panose="020B0600070205080204" pitchFamily="50" charset="-128"/>
              </a:rPr>
              <a:t> </a:t>
            </a:r>
            <a:r>
              <a:rPr lang="en-US" altLang="ja-JP" dirty="0" err="1">
                <a:ea typeface="MS UI Gothic" panose="020B0600070205080204" pitchFamily="50" charset="-128"/>
              </a:rPr>
              <a:t>điều</a:t>
            </a:r>
            <a:r>
              <a:rPr lang="en-US" altLang="ja-JP" dirty="0">
                <a:ea typeface="MS UI Gothic" panose="020B0600070205080204" pitchFamily="50" charset="-128"/>
              </a:rPr>
              <a:t> có </a:t>
            </a:r>
            <a:r>
              <a:rPr lang="en-US" altLang="ja-JP" dirty="0" err="1">
                <a:ea typeface="MS UI Gothic" panose="020B0600070205080204" pitchFamily="50" charset="-128"/>
              </a:rPr>
              <a:t>thê</a:t>
            </a:r>
            <a:r>
              <a:rPr lang="en-US" altLang="ja-JP" dirty="0">
                <a:ea typeface="MS UI Gothic" panose="020B0600070205080204" pitchFamily="50" charset="-128"/>
              </a:rPr>
              <a:t>̉ </a:t>
            </a:r>
            <a:r>
              <a:rPr lang="en-US" altLang="ja-JP" dirty="0" err="1">
                <a:ea typeface="MS UI Gothic" panose="020B0600070205080204" pitchFamily="50" charset="-128"/>
              </a:rPr>
              <a:t>thực</a:t>
            </a:r>
            <a:r>
              <a:rPr lang="en-US" altLang="ja-JP" dirty="0">
                <a:ea typeface="MS UI Gothic" panose="020B0600070205080204" pitchFamily="50" charset="-128"/>
              </a:rPr>
              <a:t> </a:t>
            </a:r>
            <a:r>
              <a:rPr lang="en-US" altLang="ja-JP" dirty="0" err="1">
                <a:ea typeface="MS UI Gothic" panose="020B0600070205080204" pitchFamily="50" charset="-128"/>
              </a:rPr>
              <a:t>hiện</a:t>
            </a:r>
            <a:r>
              <a:rPr lang="en-US" altLang="ja-JP" dirty="0">
                <a:ea typeface="MS UI Gothic" panose="020B0600070205080204" pitchFamily="50" charset="-128"/>
              </a:rPr>
              <a:t> ở subclass】</a:t>
            </a:r>
          </a:p>
          <a:p>
            <a:pPr marL="0" indent="0">
              <a:buNone/>
            </a:pPr>
            <a:r>
              <a:rPr lang="ja-JP" altLang="en-US" dirty="0">
                <a:ea typeface="MS UI Gothic" panose="020B0600070205080204" pitchFamily="50" charset="-128"/>
              </a:rPr>
              <a:t>・</a:t>
            </a:r>
            <a:r>
              <a:rPr lang="en-US" altLang="ja-JP" sz="3100" dirty="0">
                <a:ea typeface="MS UI Gothic" panose="020B0600070205080204" pitchFamily="50" charset="-128"/>
              </a:rPr>
              <a:t>Sub class có </a:t>
            </a:r>
            <a:r>
              <a:rPr lang="en-US" altLang="ja-JP" sz="3100" dirty="0" err="1">
                <a:ea typeface="MS UI Gothic" panose="020B0600070205080204" pitchFamily="50" charset="-128"/>
              </a:rPr>
              <a:t>thê</a:t>
            </a:r>
            <a:r>
              <a:rPr lang="en-US" altLang="ja-JP" sz="3100" dirty="0">
                <a:ea typeface="MS UI Gothic" panose="020B0600070205080204" pitchFamily="50" charset="-128"/>
              </a:rPr>
              <a:t>̉ </a:t>
            </a:r>
            <a:r>
              <a:rPr lang="en-US" altLang="ja-JP" sz="3100" dirty="0" err="1">
                <a:ea typeface="MS UI Gothic" panose="020B0600070205080204" pitchFamily="50" charset="-128"/>
              </a:rPr>
              <a:t>kế</a:t>
            </a:r>
            <a:r>
              <a:rPr lang="en-US" altLang="ja-JP" sz="3100" dirty="0">
                <a:ea typeface="MS UI Gothic" panose="020B0600070205080204" pitchFamily="50" charset="-128"/>
              </a:rPr>
              <a:t> </a:t>
            </a:r>
            <a:r>
              <a:rPr lang="en-US" altLang="ja-JP" sz="3100" dirty="0" err="1">
                <a:ea typeface="MS UI Gothic" panose="020B0600070205080204" pitchFamily="50" charset="-128"/>
              </a:rPr>
              <a:t>thừa</a:t>
            </a:r>
            <a:r>
              <a:rPr lang="en-US" altLang="ja-JP" sz="3100" dirty="0">
                <a:ea typeface="MS UI Gothic" panose="020B0600070205080204" pitchFamily="50" charset="-128"/>
              </a:rPr>
              <a:t> </a:t>
            </a:r>
            <a:r>
              <a:rPr lang="en-US" altLang="ja-JP" sz="3100" dirty="0" err="1">
                <a:ea typeface="MS UI Gothic" panose="020B0600070205080204" pitchFamily="50" charset="-128"/>
              </a:rPr>
              <a:t>tính</a:t>
            </a:r>
            <a:r>
              <a:rPr lang="en-US" altLang="ja-JP" sz="3100" dirty="0">
                <a:ea typeface="MS UI Gothic" panose="020B0600070205080204" pitchFamily="50" charset="-128"/>
              </a:rPr>
              <a:t> </a:t>
            </a:r>
            <a:r>
              <a:rPr lang="en-US" altLang="ja-JP" sz="3100" dirty="0" err="1">
                <a:ea typeface="MS UI Gothic" panose="020B0600070205080204" pitchFamily="50" charset="-128"/>
              </a:rPr>
              <a:t>chất</a:t>
            </a:r>
            <a:r>
              <a:rPr lang="en-US" altLang="ja-JP" sz="3100" dirty="0">
                <a:ea typeface="MS UI Gothic" panose="020B0600070205080204" pitchFamily="50" charset="-128"/>
              </a:rPr>
              <a:t> (</a:t>
            </a:r>
            <a:r>
              <a:rPr lang="en-US" altLang="ja-JP" sz="3100" dirty="0" err="1">
                <a:ea typeface="MS UI Gothic" panose="020B0600070205080204" pitchFamily="50" charset="-128"/>
              </a:rPr>
              <a:t>thuộc</a:t>
            </a:r>
            <a:r>
              <a:rPr lang="en-US" altLang="ja-JP" sz="3100" dirty="0">
                <a:ea typeface="MS UI Gothic" panose="020B0600070205080204" pitchFamily="50" charset="-128"/>
              </a:rPr>
              <a:t> </a:t>
            </a:r>
            <a:r>
              <a:rPr lang="en-US" altLang="ja-JP" sz="3100" dirty="0" err="1">
                <a:ea typeface="MS UI Gothic" panose="020B0600070205080204" pitchFamily="50" charset="-128"/>
              </a:rPr>
              <a:t>tính</a:t>
            </a:r>
            <a:r>
              <a:rPr lang="en-US" altLang="ja-JP" sz="3100" dirty="0">
                <a:ea typeface="MS UI Gothic" panose="020B0600070205080204" pitchFamily="50" charset="-128"/>
              </a:rPr>
              <a:t> </a:t>
            </a:r>
            <a:r>
              <a:rPr lang="en-US" altLang="ja-JP" sz="3100" dirty="0" err="1">
                <a:ea typeface="MS UI Gothic" panose="020B0600070205080204" pitchFamily="50" charset="-128"/>
              </a:rPr>
              <a:t>va</a:t>
            </a:r>
            <a:r>
              <a:rPr lang="en-US" altLang="ja-JP" sz="3100" dirty="0">
                <a:ea typeface="MS UI Gothic" panose="020B0600070205080204" pitchFamily="50" charset="-128"/>
              </a:rPr>
              <a:t>̀ </a:t>
            </a:r>
            <a:r>
              <a:rPr lang="en-US" altLang="ja-JP" sz="3100" dirty="0" err="1">
                <a:ea typeface="MS UI Gothic" panose="020B0600070205080204" pitchFamily="50" charset="-128"/>
              </a:rPr>
              <a:t>thao</a:t>
            </a:r>
            <a:r>
              <a:rPr lang="en-US" altLang="ja-JP" sz="3100" dirty="0">
                <a:ea typeface="MS UI Gothic" panose="020B0600070205080204" pitchFamily="50" charset="-128"/>
              </a:rPr>
              <a:t> </a:t>
            </a:r>
            <a:r>
              <a:rPr lang="en-US" altLang="ja-JP" sz="3100" dirty="0" err="1">
                <a:ea typeface="MS UI Gothic" panose="020B0600070205080204" pitchFamily="50" charset="-128"/>
              </a:rPr>
              <a:t>tác</a:t>
            </a:r>
            <a:r>
              <a:rPr lang="en-US" altLang="ja-JP" sz="3100" dirty="0">
                <a:ea typeface="MS UI Gothic" panose="020B0600070205080204" pitchFamily="50" charset="-128"/>
              </a:rPr>
              <a:t>) </a:t>
            </a:r>
            <a:r>
              <a:rPr lang="en-US" altLang="ja-JP" sz="3100" dirty="0" err="1">
                <a:ea typeface="MS UI Gothic" panose="020B0600070205080204" pitchFamily="50" charset="-128"/>
              </a:rPr>
              <a:t>của</a:t>
            </a:r>
            <a:r>
              <a:rPr lang="en-US" altLang="ja-JP" sz="3100" dirty="0">
                <a:ea typeface="MS UI Gothic" panose="020B0600070205080204" pitchFamily="50" charset="-128"/>
              </a:rPr>
              <a:t> super class.</a:t>
            </a:r>
          </a:p>
          <a:p>
            <a:pPr marL="0" indent="0">
              <a:buNone/>
            </a:pPr>
            <a:r>
              <a:rPr lang="ja-JP" altLang="en-US" sz="3100" dirty="0">
                <a:ea typeface="MS UI Gothic" panose="020B0600070205080204" pitchFamily="50" charset="-128"/>
              </a:rPr>
              <a:t>・</a:t>
            </a:r>
            <a:r>
              <a:rPr lang="en-US" altLang="ja-JP" sz="3100" dirty="0">
                <a:ea typeface="MS UI Gothic" panose="020B0600070205080204" pitchFamily="50" charset="-128"/>
              </a:rPr>
              <a:t>Sub class có </a:t>
            </a:r>
            <a:r>
              <a:rPr lang="en-US" altLang="ja-JP" sz="3100" dirty="0" err="1">
                <a:ea typeface="MS UI Gothic" panose="020B0600070205080204" pitchFamily="50" charset="-128"/>
              </a:rPr>
              <a:t>thê</a:t>
            </a:r>
            <a:r>
              <a:rPr lang="en-US" altLang="ja-JP" sz="3100" dirty="0">
                <a:ea typeface="MS UI Gothic" panose="020B0600070205080204" pitchFamily="50" charset="-128"/>
              </a:rPr>
              <a:t>̉ add </a:t>
            </a:r>
            <a:r>
              <a:rPr lang="en-US" altLang="ja-JP" sz="3100" dirty="0" err="1">
                <a:ea typeface="MS UI Gothic" panose="020B0600070205080204" pitchFamily="50" charset="-128"/>
              </a:rPr>
              <a:t>thêm</a:t>
            </a:r>
            <a:r>
              <a:rPr lang="en-US" altLang="ja-JP" sz="3100" dirty="0">
                <a:ea typeface="MS UI Gothic" panose="020B0600070205080204" pitchFamily="50" charset="-128"/>
              </a:rPr>
              <a:t> </a:t>
            </a:r>
            <a:r>
              <a:rPr lang="en-US" altLang="ja-JP" sz="3100" dirty="0" err="1">
                <a:ea typeface="MS UI Gothic" panose="020B0600070205080204" pitchFamily="50" charset="-128"/>
              </a:rPr>
              <a:t>tính</a:t>
            </a:r>
            <a:r>
              <a:rPr lang="en-US" altLang="ja-JP" sz="3100" dirty="0">
                <a:ea typeface="MS UI Gothic" panose="020B0600070205080204" pitchFamily="50" charset="-128"/>
              </a:rPr>
              <a:t> </a:t>
            </a:r>
            <a:r>
              <a:rPr lang="en-US" altLang="ja-JP" sz="3100" dirty="0" err="1">
                <a:ea typeface="MS UI Gothic" panose="020B0600070205080204" pitchFamily="50" charset="-128"/>
              </a:rPr>
              <a:t>chất</a:t>
            </a:r>
            <a:r>
              <a:rPr lang="en-US" altLang="ja-JP" sz="3100" dirty="0">
                <a:ea typeface="MS UI Gothic" panose="020B0600070205080204" pitchFamily="50" charset="-128"/>
              </a:rPr>
              <a:t> </a:t>
            </a:r>
            <a:r>
              <a:rPr lang="en-US" altLang="ja-JP" sz="3100" dirty="0" err="1">
                <a:ea typeface="MS UI Gothic" panose="020B0600070205080204" pitchFamily="50" charset="-128"/>
              </a:rPr>
              <a:t>mới</a:t>
            </a:r>
            <a:r>
              <a:rPr lang="en-US" altLang="ja-JP" sz="3100" dirty="0">
                <a:ea typeface="MS UI Gothic" panose="020B0600070205080204" pitchFamily="50" charset="-128"/>
              </a:rPr>
              <a:t> (</a:t>
            </a:r>
            <a:r>
              <a:rPr lang="en-US" altLang="ja-JP" sz="3100" dirty="0" err="1">
                <a:ea typeface="MS UI Gothic" panose="020B0600070205080204" pitchFamily="50" charset="-128"/>
              </a:rPr>
              <a:t>thuộc</a:t>
            </a:r>
            <a:r>
              <a:rPr lang="en-US" altLang="ja-JP" sz="3100" dirty="0">
                <a:ea typeface="MS UI Gothic" panose="020B0600070205080204" pitchFamily="50" charset="-128"/>
              </a:rPr>
              <a:t> </a:t>
            </a:r>
            <a:r>
              <a:rPr lang="en-US" altLang="ja-JP" sz="3100" dirty="0" err="1">
                <a:ea typeface="MS UI Gothic" panose="020B0600070205080204" pitchFamily="50" charset="-128"/>
              </a:rPr>
              <a:t>tính</a:t>
            </a:r>
            <a:r>
              <a:rPr lang="en-US" altLang="ja-JP" sz="3100" dirty="0">
                <a:ea typeface="MS UI Gothic" panose="020B0600070205080204" pitchFamily="50" charset="-128"/>
              </a:rPr>
              <a:t> </a:t>
            </a:r>
            <a:r>
              <a:rPr lang="en-US" altLang="ja-JP" sz="3100" dirty="0" err="1">
                <a:ea typeface="MS UI Gothic" panose="020B0600070205080204" pitchFamily="50" charset="-128"/>
              </a:rPr>
              <a:t>va</a:t>
            </a:r>
            <a:r>
              <a:rPr lang="en-US" altLang="ja-JP" sz="3100" dirty="0">
                <a:ea typeface="MS UI Gothic" panose="020B0600070205080204" pitchFamily="50" charset="-128"/>
              </a:rPr>
              <a:t>̀ </a:t>
            </a:r>
            <a:r>
              <a:rPr lang="en-US" altLang="ja-JP" sz="3100" dirty="0" err="1">
                <a:ea typeface="MS UI Gothic" panose="020B0600070205080204" pitchFamily="50" charset="-128"/>
              </a:rPr>
              <a:t>thao</a:t>
            </a:r>
            <a:r>
              <a:rPr lang="en-US" altLang="ja-JP" sz="3100" dirty="0">
                <a:ea typeface="MS UI Gothic" panose="020B0600070205080204" pitchFamily="50" charset="-128"/>
              </a:rPr>
              <a:t> </a:t>
            </a:r>
            <a:r>
              <a:rPr lang="en-US" altLang="ja-JP" sz="3100" dirty="0" err="1">
                <a:ea typeface="MS UI Gothic" panose="020B0600070205080204" pitchFamily="50" charset="-128"/>
              </a:rPr>
              <a:t>tác</a:t>
            </a:r>
            <a:r>
              <a:rPr lang="en-US" altLang="ja-JP" sz="3100" dirty="0">
                <a:ea typeface="MS UI Gothic" panose="020B0600070205080204" pitchFamily="50" charset="-128"/>
              </a:rPr>
              <a:t>) mà super class </a:t>
            </a:r>
            <a:r>
              <a:rPr lang="en-US" altLang="ja-JP" sz="3100" dirty="0" err="1">
                <a:ea typeface="MS UI Gothic" panose="020B0600070205080204" pitchFamily="50" charset="-128"/>
              </a:rPr>
              <a:t>không</a:t>
            </a:r>
            <a:r>
              <a:rPr lang="en-US" altLang="ja-JP" sz="3100" dirty="0">
                <a:ea typeface="MS UI Gothic" panose="020B0600070205080204" pitchFamily="50" charset="-128"/>
              </a:rPr>
              <a:t> có.</a:t>
            </a:r>
          </a:p>
          <a:p>
            <a:pPr marL="0" indent="0">
              <a:buNone/>
            </a:pPr>
            <a:r>
              <a:rPr lang="ja-JP" altLang="en-US" sz="3100" dirty="0">
                <a:ea typeface="MS UI Gothic" panose="020B0600070205080204" pitchFamily="50" charset="-128"/>
              </a:rPr>
              <a:t>・</a:t>
            </a:r>
            <a:r>
              <a:rPr lang="en-US" altLang="ja-JP" sz="3100" dirty="0">
                <a:ea typeface="MS UI Gothic" panose="020B0600070205080204" pitchFamily="50" charset="-128"/>
              </a:rPr>
              <a:t>Sub class </a:t>
            </a:r>
            <a:r>
              <a:rPr lang="en-US" altLang="ja-JP" sz="3100" dirty="0" err="1">
                <a:ea typeface="MS UI Gothic" panose="020B0600070205080204" pitchFamily="50" charset="-128"/>
              </a:rPr>
              <a:t>cũng</a:t>
            </a:r>
            <a:r>
              <a:rPr lang="en-US" altLang="ja-JP" sz="3100" dirty="0">
                <a:ea typeface="MS UI Gothic" panose="020B0600070205080204" pitchFamily="50" charset="-128"/>
              </a:rPr>
              <a:t> có </a:t>
            </a:r>
            <a:r>
              <a:rPr lang="en-US" altLang="ja-JP" sz="3100" dirty="0" err="1">
                <a:ea typeface="MS UI Gothic" panose="020B0600070205080204" pitchFamily="50" charset="-128"/>
              </a:rPr>
              <a:t>thê</a:t>
            </a:r>
            <a:r>
              <a:rPr lang="en-US" altLang="ja-JP" sz="3100" dirty="0">
                <a:ea typeface="MS UI Gothic" panose="020B0600070205080204" pitchFamily="50" charset="-128"/>
              </a:rPr>
              <a:t>̉ </a:t>
            </a:r>
            <a:r>
              <a:rPr lang="en-US" altLang="ja-JP" sz="3100" dirty="0" err="1">
                <a:ea typeface="MS UI Gothic" panose="020B0600070205080204" pitchFamily="50" charset="-128"/>
              </a:rPr>
              <a:t>định</a:t>
            </a:r>
            <a:r>
              <a:rPr lang="en-US" altLang="ja-JP" sz="3100" dirty="0">
                <a:ea typeface="MS UI Gothic" panose="020B0600070205080204" pitchFamily="50" charset="-128"/>
              </a:rPr>
              <a:t> </a:t>
            </a:r>
            <a:r>
              <a:rPr lang="en-US" altLang="ja-JP" sz="3100" dirty="0" err="1">
                <a:ea typeface="MS UI Gothic" panose="020B0600070205080204" pitchFamily="50" charset="-128"/>
              </a:rPr>
              <a:t>nghĩa</a:t>
            </a:r>
            <a:r>
              <a:rPr lang="en-US" altLang="ja-JP" sz="3100" dirty="0">
                <a:ea typeface="MS UI Gothic" panose="020B0600070205080204" pitchFamily="50" charset="-128"/>
              </a:rPr>
              <a:t> </a:t>
            </a:r>
            <a:r>
              <a:rPr lang="en-US" altLang="ja-JP" sz="3100" dirty="0" err="1">
                <a:ea typeface="MS UI Gothic" panose="020B0600070205080204" pitchFamily="50" charset="-128"/>
              </a:rPr>
              <a:t>lại</a:t>
            </a:r>
            <a:r>
              <a:rPr lang="en-US" altLang="ja-JP" sz="3100" dirty="0">
                <a:ea typeface="MS UI Gothic" panose="020B0600070205080204" pitchFamily="50" charset="-128"/>
              </a:rPr>
              <a:t> (</a:t>
            </a:r>
            <a:r>
              <a:rPr lang="en-US" altLang="ja-JP" sz="3100" dirty="0" err="1">
                <a:ea typeface="MS UI Gothic" panose="020B0600070205080204" pitchFamily="50" charset="-128"/>
              </a:rPr>
              <a:t>thay</a:t>
            </a:r>
            <a:r>
              <a:rPr lang="en-US" altLang="ja-JP" sz="3100" dirty="0">
                <a:ea typeface="MS UI Gothic" panose="020B0600070205080204" pitchFamily="50" charset="-128"/>
              </a:rPr>
              <a:t> </a:t>
            </a:r>
            <a:r>
              <a:rPr lang="en-US" altLang="ja-JP" sz="3100" dirty="0" err="1">
                <a:ea typeface="MS UI Gothic" panose="020B0600070205080204" pitchFamily="50" charset="-128"/>
              </a:rPr>
              <a:t>thành</a:t>
            </a:r>
            <a:r>
              <a:rPr lang="en-US" altLang="ja-JP" sz="3100" dirty="0">
                <a:ea typeface="MS UI Gothic" panose="020B0600070205080204" pitchFamily="50" charset="-128"/>
              </a:rPr>
              <a:t> </a:t>
            </a:r>
            <a:r>
              <a:rPr lang="en-US" altLang="ja-JP" sz="3100" dirty="0" err="1">
                <a:ea typeface="MS UI Gothic" panose="020B0600070205080204" pitchFamily="50" charset="-128"/>
              </a:rPr>
              <a:t>tính</a:t>
            </a:r>
            <a:r>
              <a:rPr lang="en-US" altLang="ja-JP" sz="3100" dirty="0">
                <a:ea typeface="MS UI Gothic" panose="020B0600070205080204" pitchFamily="50" charset="-128"/>
              </a:rPr>
              <a:t> </a:t>
            </a:r>
            <a:r>
              <a:rPr lang="en-US" altLang="ja-JP" sz="3100" dirty="0" err="1">
                <a:ea typeface="MS UI Gothic" panose="020B0600070205080204" pitchFamily="50" charset="-128"/>
              </a:rPr>
              <a:t>chất</a:t>
            </a:r>
            <a:r>
              <a:rPr lang="en-US" altLang="ja-JP" sz="3100" dirty="0">
                <a:ea typeface="MS UI Gothic" panose="020B0600070205080204" pitchFamily="50" charset="-128"/>
              </a:rPr>
              <a:t> </a:t>
            </a:r>
            <a:r>
              <a:rPr lang="en-US" altLang="ja-JP" sz="3100" dirty="0" err="1">
                <a:ea typeface="MS UI Gothic" panose="020B0600070205080204" pitchFamily="50" charset="-128"/>
              </a:rPr>
              <a:t>riêng</a:t>
            </a:r>
            <a:r>
              <a:rPr lang="en-US" altLang="ja-JP" sz="3100" dirty="0">
                <a:ea typeface="MS UI Gothic" panose="020B0600070205080204" pitchFamily="50" charset="-128"/>
              </a:rPr>
              <a:t>, override) mà </a:t>
            </a:r>
            <a:r>
              <a:rPr lang="en-US" altLang="ja-JP" sz="3100" dirty="0" err="1">
                <a:ea typeface="MS UI Gothic" panose="020B0600070205080204" pitchFamily="50" charset="-128"/>
              </a:rPr>
              <a:t>không</a:t>
            </a:r>
            <a:r>
              <a:rPr lang="en-US" altLang="ja-JP" sz="3100" dirty="0">
                <a:ea typeface="MS UI Gothic" panose="020B0600070205080204" pitchFamily="50" charset="-128"/>
              </a:rPr>
              <a:t> </a:t>
            </a:r>
            <a:r>
              <a:rPr lang="en-US" altLang="ja-JP" sz="3100" dirty="0" err="1">
                <a:ea typeface="MS UI Gothic" panose="020B0600070205080204" pitchFamily="50" charset="-128"/>
              </a:rPr>
              <a:t>kế</a:t>
            </a:r>
            <a:r>
              <a:rPr lang="en-US" altLang="ja-JP" sz="3100" dirty="0">
                <a:ea typeface="MS UI Gothic" panose="020B0600070205080204" pitchFamily="50" charset="-128"/>
              </a:rPr>
              <a:t> </a:t>
            </a:r>
            <a:r>
              <a:rPr lang="en-US" altLang="ja-JP" sz="3100" dirty="0" err="1">
                <a:ea typeface="MS UI Gothic" panose="020B0600070205080204" pitchFamily="50" charset="-128"/>
              </a:rPr>
              <a:t>thừa</a:t>
            </a:r>
            <a:r>
              <a:rPr lang="en-US" altLang="ja-JP" sz="3100" dirty="0">
                <a:ea typeface="MS UI Gothic" panose="020B0600070205080204" pitchFamily="50" charset="-128"/>
              </a:rPr>
              <a:t> </a:t>
            </a:r>
            <a:r>
              <a:rPr lang="en-US" altLang="ja-JP" sz="3100" dirty="0" err="1">
                <a:ea typeface="MS UI Gothic" panose="020B0600070205080204" pitchFamily="50" charset="-128"/>
              </a:rPr>
              <a:t>tính</a:t>
            </a:r>
            <a:r>
              <a:rPr lang="en-US" altLang="ja-JP" sz="3100" dirty="0">
                <a:ea typeface="MS UI Gothic" panose="020B0600070205080204" pitchFamily="50" charset="-128"/>
              </a:rPr>
              <a:t> </a:t>
            </a:r>
            <a:r>
              <a:rPr lang="en-US" altLang="ja-JP" sz="3100" dirty="0" err="1">
                <a:ea typeface="MS UI Gothic" panose="020B0600070205080204" pitchFamily="50" charset="-128"/>
              </a:rPr>
              <a:t>chất</a:t>
            </a:r>
            <a:r>
              <a:rPr lang="en-US" altLang="ja-JP" sz="3100" dirty="0">
                <a:ea typeface="MS UI Gothic" panose="020B0600070205080204" pitchFamily="50" charset="-128"/>
              </a:rPr>
              <a:t> </a:t>
            </a:r>
            <a:r>
              <a:rPr lang="en-US" altLang="ja-JP" sz="3100" dirty="0" err="1">
                <a:ea typeface="MS UI Gothic" panose="020B0600070205080204" pitchFamily="50" charset="-128"/>
              </a:rPr>
              <a:t>của</a:t>
            </a:r>
            <a:r>
              <a:rPr lang="en-US" altLang="ja-JP" sz="3100" dirty="0">
                <a:ea typeface="MS UI Gothic" panose="020B0600070205080204" pitchFamily="50" charset="-128"/>
              </a:rPr>
              <a:t> super class.</a:t>
            </a:r>
          </a:p>
          <a:p>
            <a:endParaRPr lang="en-US" altLang="ja-JP" dirty="0">
              <a:ea typeface="MS UI Gothic" panose="020B0600070205080204" pitchFamily="50" charset="-128"/>
            </a:endParaRPr>
          </a:p>
          <a:p>
            <a:endParaRPr lang="ja-JP" altLang="en-US" dirty="0"/>
          </a:p>
        </p:txBody>
      </p:sp>
      <p:sp>
        <p:nvSpPr>
          <p:cNvPr id="2" name="Slide Number Placeholder 4">
            <a:extLst>
              <a:ext uri="{FF2B5EF4-FFF2-40B4-BE49-F238E27FC236}">
                <a16:creationId xmlns:a16="http://schemas.microsoft.com/office/drawing/2014/main" id="{79299BE6-725A-D8CC-0D8B-E21252423791}"/>
              </a:ext>
            </a:extLst>
          </p:cNvPr>
          <p:cNvSpPr>
            <a:spLocks noGrp="1"/>
          </p:cNvSpPr>
          <p:nvPr>
            <p:ph type="sldNum" sz="quarter" idx="11"/>
          </p:nvPr>
        </p:nvSpPr>
        <p:spPr/>
        <p:txBody>
          <a:bodyPr/>
          <a:lstStyle/>
          <a:p>
            <a:fld id="{036FD5F1-DC89-4C54-92F4-6337441644B8}" type="slidenum">
              <a:rPr lang="en-US" altLang="ja-JP"/>
              <a:pPr/>
              <a:t>2</a:t>
            </a:fld>
            <a:endParaRPr lang="en-US" altLang="ja-JP"/>
          </a:p>
        </p:txBody>
      </p:sp>
      <p:sp>
        <p:nvSpPr>
          <p:cNvPr id="485378" name="Rectangle 2">
            <a:extLst>
              <a:ext uri="{FF2B5EF4-FFF2-40B4-BE49-F238E27FC236}">
                <a16:creationId xmlns:a16="http://schemas.microsoft.com/office/drawing/2014/main" id="{2E7FFCFD-99C0-9F09-F68F-F0B84C652C00}"/>
              </a:ext>
            </a:extLst>
          </p:cNvPr>
          <p:cNvSpPr>
            <a:spLocks noChangeArrowheads="1"/>
          </p:cNvSpPr>
          <p:nvPr/>
        </p:nvSpPr>
        <p:spPr bwMode="auto">
          <a:xfrm>
            <a:off x="-822325" y="2057400"/>
            <a:ext cx="9906000"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937B09C5-7009-BE41-6EAE-621FCCBEF12D}"/>
              </a:ext>
            </a:extLst>
          </p:cNvPr>
          <p:cNvSpPr>
            <a:spLocks noGrp="1"/>
          </p:cNvSpPr>
          <p:nvPr>
            <p:ph type="sldNum" sz="quarter" idx="10"/>
          </p:nvPr>
        </p:nvSpPr>
        <p:spPr/>
        <p:txBody>
          <a:bodyPr/>
          <a:lstStyle/>
          <a:p>
            <a:fld id="{AC154243-DD3A-41E2-85F5-76A341A6967C}" type="slidenum">
              <a:rPr lang="en-US" altLang="ja-JP"/>
              <a:pPr/>
              <a:t>3</a:t>
            </a:fld>
            <a:endParaRPr lang="en-US" altLang="ja-JP"/>
          </a:p>
        </p:txBody>
      </p:sp>
      <p:sp>
        <p:nvSpPr>
          <p:cNvPr id="569346" name="Rectangle 2">
            <a:extLst>
              <a:ext uri="{FF2B5EF4-FFF2-40B4-BE49-F238E27FC236}">
                <a16:creationId xmlns:a16="http://schemas.microsoft.com/office/drawing/2014/main" id="{53F4FBC5-910F-FBB4-8CBF-507E34235F7D}"/>
              </a:ext>
            </a:extLst>
          </p:cNvPr>
          <p:cNvSpPr>
            <a:spLocks noChangeArrowheads="1"/>
          </p:cNvSpPr>
          <p:nvPr/>
        </p:nvSpPr>
        <p:spPr bwMode="auto">
          <a:xfrm>
            <a:off x="344488" y="2159000"/>
            <a:ext cx="9120187" cy="4146550"/>
          </a:xfrm>
          <a:prstGeom prst="rect">
            <a:avLst/>
          </a:prstGeom>
          <a:solidFill>
            <a:srgbClr val="DDDDDD">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69347" name="Rectangle 3">
            <a:extLst>
              <a:ext uri="{FF2B5EF4-FFF2-40B4-BE49-F238E27FC236}">
                <a16:creationId xmlns:a16="http://schemas.microsoft.com/office/drawing/2014/main" id="{14C20F9A-A701-0385-4FE2-2681C721D47A}"/>
              </a:ext>
            </a:extLst>
          </p:cNvPr>
          <p:cNvSpPr>
            <a:spLocks noGrp="1" noChangeArrowheads="1"/>
          </p:cNvSpPr>
          <p:nvPr>
            <p:ph type="title"/>
          </p:nvPr>
        </p:nvSpPr>
        <p:spPr>
          <a:xfrm>
            <a:off x="344487" y="519133"/>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Thừa</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kế</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là</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gì</a:t>
            </a:r>
            <a:r>
              <a:rPr lang="en-US" altLang="ja-JP" dirty="0">
                <a:latin typeface="Arial" panose="020B0604020202020204" pitchFamily="34" charset="0"/>
                <a:ea typeface="MS UI Gothic" panose="020B0600070205080204" pitchFamily="50" charset="-128"/>
              </a:rPr>
              <a:t>? </a:t>
            </a:r>
          </a:p>
        </p:txBody>
      </p:sp>
      <p:sp>
        <p:nvSpPr>
          <p:cNvPr id="569349" name="Rectangle 5">
            <a:extLst>
              <a:ext uri="{FF2B5EF4-FFF2-40B4-BE49-F238E27FC236}">
                <a16:creationId xmlns:a16="http://schemas.microsoft.com/office/drawing/2014/main" id="{257081F0-33F9-7679-89B3-9D524D685B05}"/>
              </a:ext>
            </a:extLst>
          </p:cNvPr>
          <p:cNvSpPr>
            <a:spLocks noChangeArrowheads="1"/>
          </p:cNvSpPr>
          <p:nvPr/>
        </p:nvSpPr>
        <p:spPr bwMode="auto">
          <a:xfrm>
            <a:off x="344488" y="1204913"/>
            <a:ext cx="9120187" cy="8001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dirty="0" err="1">
                <a:latin typeface="Arial" panose="020B0604020202020204" pitchFamily="34" charset="0"/>
              </a:rPr>
              <a:t>Có</a:t>
            </a:r>
            <a:r>
              <a:rPr lang="en-US" altLang="ja-JP" sz="1800" dirty="0">
                <a:latin typeface="Arial" panose="020B0604020202020204" pitchFamily="34" charset="0"/>
              </a:rPr>
              <a:t> </a:t>
            </a:r>
            <a:r>
              <a:rPr lang="en-US" altLang="ja-JP" sz="1800" dirty="0" err="1">
                <a:latin typeface="Arial" panose="020B0604020202020204" pitchFamily="34" charset="0"/>
              </a:rPr>
              <a:t>quan</a:t>
            </a:r>
            <a:r>
              <a:rPr lang="en-US" altLang="ja-JP" sz="1800" dirty="0">
                <a:latin typeface="Arial" panose="020B0604020202020204" pitchFamily="34" charset="0"/>
              </a:rPr>
              <a:t> </a:t>
            </a:r>
            <a:r>
              <a:rPr lang="en-US" altLang="ja-JP" sz="1800" dirty="0" err="1">
                <a:latin typeface="Arial" panose="020B0604020202020204" pitchFamily="34" charset="0"/>
              </a:rPr>
              <a:t>hệ</a:t>
            </a:r>
            <a:r>
              <a:rPr lang="en-US" altLang="ja-JP" sz="1800" dirty="0">
                <a:latin typeface="Arial" panose="020B0604020202020204" pitchFamily="34" charset="0"/>
              </a:rPr>
              <a:t> generation, </a:t>
            </a:r>
            <a:r>
              <a:rPr lang="en-US" altLang="ja-JP" sz="1800" dirty="0" err="1">
                <a:latin typeface="Arial" panose="020B0604020202020204" pitchFamily="34" charset="0"/>
              </a:rPr>
              <a:t>thừa</a:t>
            </a:r>
            <a:r>
              <a:rPr lang="en-US" altLang="ja-JP" sz="1800" dirty="0">
                <a:latin typeface="Arial" panose="020B0604020202020204" pitchFamily="34" charset="0"/>
              </a:rPr>
              <a:t> </a:t>
            </a:r>
            <a:r>
              <a:rPr lang="en-US" altLang="ja-JP" sz="1800" dirty="0" err="1">
                <a:latin typeface="Arial" panose="020B0604020202020204" pitchFamily="34" charset="0"/>
              </a:rPr>
              <a:t>kế</a:t>
            </a:r>
            <a:r>
              <a:rPr lang="en-US" altLang="ja-JP" sz="1800" dirty="0">
                <a:latin typeface="Arial" panose="020B0604020202020204" pitchFamily="34" charset="0"/>
              </a:rPr>
              <a:t> </a:t>
            </a:r>
            <a:r>
              <a:rPr lang="en-US" altLang="ja-JP" sz="1800" dirty="0" err="1">
                <a:latin typeface="Arial" panose="020B0604020202020204" pitchFamily="34" charset="0"/>
              </a:rPr>
              <a:t>thuộc</a:t>
            </a:r>
            <a:r>
              <a:rPr lang="en-US" altLang="ja-JP" sz="1800" dirty="0">
                <a:latin typeface="Arial" panose="020B0604020202020204" pitchFamily="34" charset="0"/>
              </a:rPr>
              <a:t> </a:t>
            </a:r>
            <a:r>
              <a:rPr lang="en-US" altLang="ja-JP" sz="1800" dirty="0" err="1">
                <a:latin typeface="Arial" panose="020B0604020202020204" pitchFamily="34" charset="0"/>
              </a:rPr>
              <a:t>tính</a:t>
            </a:r>
            <a:r>
              <a:rPr lang="en-US" altLang="ja-JP" sz="1800" dirty="0">
                <a:latin typeface="Arial" panose="020B0604020202020204" pitchFamily="34" charset="0"/>
              </a:rPr>
              <a:t> </a:t>
            </a:r>
            <a:r>
              <a:rPr lang="en-US" altLang="ja-JP" sz="1800" dirty="0" err="1">
                <a:latin typeface="Arial" panose="020B0604020202020204" pitchFamily="34" charset="0"/>
              </a:rPr>
              <a:t>và</a:t>
            </a:r>
            <a:r>
              <a:rPr lang="en-US" altLang="ja-JP" sz="1800" dirty="0">
                <a:latin typeface="Arial" panose="020B0604020202020204" pitchFamily="34" charset="0"/>
              </a:rPr>
              <a:t> </a:t>
            </a:r>
            <a:r>
              <a:rPr lang="en-US" altLang="ja-JP" sz="1800" dirty="0" err="1">
                <a:latin typeface="Arial" panose="020B0604020202020204" pitchFamily="34" charset="0"/>
              </a:rPr>
              <a:t>hoạt</a:t>
            </a:r>
            <a:r>
              <a:rPr lang="en-US" altLang="ja-JP" sz="1800" dirty="0">
                <a:latin typeface="Arial" panose="020B0604020202020204" pitchFamily="34" charset="0"/>
              </a:rPr>
              <a:t> </a:t>
            </a:r>
            <a:r>
              <a:rPr lang="en-US" altLang="ja-JP" sz="1800" dirty="0" err="1">
                <a:latin typeface="Arial" panose="020B0604020202020204" pitchFamily="34" charset="0"/>
              </a:rPr>
              <a:t>động</a:t>
            </a:r>
            <a:r>
              <a:rPr lang="en-US" altLang="ja-JP" sz="1800" dirty="0">
                <a:latin typeface="Arial" panose="020B0604020202020204" pitchFamily="34" charset="0"/>
              </a:rPr>
              <a:t> </a:t>
            </a:r>
            <a:r>
              <a:rPr lang="en-US" altLang="ja-JP" sz="1800" dirty="0" err="1">
                <a:latin typeface="Arial" panose="020B0604020202020204" pitchFamily="34" charset="0"/>
              </a:rPr>
              <a:t>của</a:t>
            </a:r>
            <a:r>
              <a:rPr lang="en-US" altLang="ja-JP" sz="1800" dirty="0">
                <a:latin typeface="Arial" panose="020B0604020202020204" pitchFamily="34" charset="0"/>
              </a:rPr>
              <a:t> upper class (super class) sang lower class (sub class). Định </a:t>
            </a:r>
            <a:r>
              <a:rPr lang="en-US" altLang="ja-JP" sz="1800" dirty="0" err="1">
                <a:latin typeface="Arial" panose="020B0604020202020204" pitchFamily="34" charset="0"/>
              </a:rPr>
              <a:t>nghĩa</a:t>
            </a:r>
            <a:r>
              <a:rPr lang="en-US" altLang="ja-JP" sz="1800" dirty="0">
                <a:latin typeface="Arial" panose="020B0604020202020204" pitchFamily="34" charset="0"/>
              </a:rPr>
              <a:t> class </a:t>
            </a:r>
            <a:r>
              <a:rPr lang="en-US" altLang="ja-JP" sz="1800" dirty="0" err="1">
                <a:latin typeface="Arial" panose="020B0604020202020204" pitchFamily="34" charset="0"/>
              </a:rPr>
              <a:t>mới</a:t>
            </a:r>
            <a:r>
              <a:rPr lang="en-US" altLang="ja-JP" sz="1800" dirty="0">
                <a:latin typeface="Arial" panose="020B0604020202020204" pitchFamily="34" charset="0"/>
              </a:rPr>
              <a:t> </a:t>
            </a:r>
            <a:r>
              <a:rPr lang="en-US" altLang="ja-JP" sz="1800" dirty="0" err="1">
                <a:latin typeface="Arial" panose="020B0604020202020204" pitchFamily="34" charset="0"/>
              </a:rPr>
              <a:t>mà</a:t>
            </a:r>
            <a:r>
              <a:rPr lang="en-US" altLang="ja-JP" sz="1800" dirty="0">
                <a:latin typeface="Arial" panose="020B0604020202020204" pitchFamily="34" charset="0"/>
              </a:rPr>
              <a:t> </a:t>
            </a:r>
            <a:r>
              <a:rPr lang="en-US" altLang="ja-JP" sz="1800" dirty="0" err="1">
                <a:latin typeface="Arial" panose="020B0604020202020204" pitchFamily="34" charset="0"/>
              </a:rPr>
              <a:t>có</a:t>
            </a:r>
            <a:r>
              <a:rPr lang="en-US" altLang="ja-JP" sz="1800" dirty="0">
                <a:latin typeface="Arial" panose="020B0604020202020204" pitchFamily="34" charset="0"/>
              </a:rPr>
              <a:t> </a:t>
            </a:r>
            <a:r>
              <a:rPr lang="en-US" altLang="ja-JP" sz="1800" dirty="0" err="1">
                <a:latin typeface="Arial" panose="020B0604020202020204" pitchFamily="34" charset="0"/>
              </a:rPr>
              <a:t>thừa</a:t>
            </a:r>
            <a:r>
              <a:rPr lang="en-US" altLang="ja-JP" sz="1800" dirty="0">
                <a:latin typeface="Arial" panose="020B0604020202020204" pitchFamily="34" charset="0"/>
              </a:rPr>
              <a:t> </a:t>
            </a:r>
            <a:r>
              <a:rPr lang="en-US" altLang="ja-JP" sz="1800" dirty="0" err="1">
                <a:latin typeface="Arial" panose="020B0604020202020204" pitchFamily="34" charset="0"/>
              </a:rPr>
              <a:t>kế</a:t>
            </a:r>
            <a:r>
              <a:rPr lang="en-US" altLang="ja-JP" sz="1800" dirty="0">
                <a:latin typeface="Arial" panose="020B0604020202020204" pitchFamily="34" charset="0"/>
              </a:rPr>
              <a:t> class </a:t>
            </a:r>
            <a:r>
              <a:rPr lang="en-US" altLang="ja-JP" sz="1800" dirty="0" err="1">
                <a:latin typeface="Arial" panose="020B0604020202020204" pitchFamily="34" charset="0"/>
              </a:rPr>
              <a:t>có</a:t>
            </a:r>
            <a:r>
              <a:rPr lang="en-US" altLang="ja-JP" sz="1800" dirty="0">
                <a:latin typeface="Arial" panose="020B0604020202020204" pitchFamily="34" charset="0"/>
              </a:rPr>
              <a:t> </a:t>
            </a:r>
            <a:r>
              <a:rPr lang="en-US" altLang="ja-JP" sz="1800" dirty="0" err="1">
                <a:latin typeface="Arial" panose="020B0604020202020204" pitchFamily="34" charset="0"/>
              </a:rPr>
              <a:t>sẵn</a:t>
            </a:r>
            <a:r>
              <a:rPr lang="en-US" altLang="ja-JP" sz="1800" dirty="0">
                <a:latin typeface="Arial" panose="020B0604020202020204" pitchFamily="34" charset="0"/>
              </a:rPr>
              <a:t>.</a:t>
            </a:r>
            <a:r>
              <a:rPr lang="en-US" altLang="ja-JP" sz="1800" b="0" dirty="0">
                <a:latin typeface="Arial" panose="020B0604020202020204" pitchFamily="34" charset="0"/>
              </a:rPr>
              <a:t> </a:t>
            </a:r>
          </a:p>
        </p:txBody>
      </p:sp>
      <p:grpSp>
        <p:nvGrpSpPr>
          <p:cNvPr id="569383" name="Group 39">
            <a:extLst>
              <a:ext uri="{FF2B5EF4-FFF2-40B4-BE49-F238E27FC236}">
                <a16:creationId xmlns:a16="http://schemas.microsoft.com/office/drawing/2014/main" id="{4A57D3C8-6DA1-DB79-8E03-FACD7D292C8E}"/>
              </a:ext>
            </a:extLst>
          </p:cNvPr>
          <p:cNvGrpSpPr>
            <a:grpSpLocks/>
          </p:cNvGrpSpPr>
          <p:nvPr/>
        </p:nvGrpSpPr>
        <p:grpSpPr bwMode="auto">
          <a:xfrm>
            <a:off x="1874838" y="2455863"/>
            <a:ext cx="5503862" cy="3529012"/>
            <a:chOff x="1181" y="1357"/>
            <a:chExt cx="3615" cy="2413"/>
          </a:xfrm>
        </p:grpSpPr>
        <p:grpSp>
          <p:nvGrpSpPr>
            <p:cNvPr id="569366" name="Group 22">
              <a:extLst>
                <a:ext uri="{FF2B5EF4-FFF2-40B4-BE49-F238E27FC236}">
                  <a16:creationId xmlns:a16="http://schemas.microsoft.com/office/drawing/2014/main" id="{3DB850FE-3433-3E30-35DF-7B7F44987E6D}"/>
                </a:ext>
              </a:extLst>
            </p:cNvPr>
            <p:cNvGrpSpPr>
              <a:grpSpLocks/>
            </p:cNvGrpSpPr>
            <p:nvPr/>
          </p:nvGrpSpPr>
          <p:grpSpPr bwMode="auto">
            <a:xfrm>
              <a:off x="1202" y="1357"/>
              <a:ext cx="3453" cy="1986"/>
              <a:chOff x="1152" y="1265"/>
              <a:chExt cx="3840" cy="2674"/>
            </a:xfrm>
          </p:grpSpPr>
          <p:pic>
            <p:nvPicPr>
              <p:cNvPr id="569367" name="Picture 23">
                <a:extLst>
                  <a:ext uri="{FF2B5EF4-FFF2-40B4-BE49-F238E27FC236}">
                    <a16:creationId xmlns:a16="http://schemas.microsoft.com/office/drawing/2014/main" id="{E5045DBE-F4D3-7D54-D611-6BB670C012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2" y="2901"/>
                <a:ext cx="816" cy="766"/>
              </a:xfrm>
              <a:prstGeom prst="rect">
                <a:avLst/>
              </a:prstGeom>
              <a:noFill/>
              <a:extLst>
                <a:ext uri="{909E8E84-426E-40DD-AFC4-6F175D3DCCD1}">
                  <a14:hiddenFill xmlns:a14="http://schemas.microsoft.com/office/drawing/2010/main">
                    <a:solidFill>
                      <a:srgbClr val="FFFFFF"/>
                    </a:solidFill>
                  </a14:hiddenFill>
                </a:ext>
              </a:extLst>
            </p:spPr>
          </p:pic>
          <p:pic>
            <p:nvPicPr>
              <p:cNvPr id="569368" name="Picture 24">
                <a:extLst>
                  <a:ext uri="{FF2B5EF4-FFF2-40B4-BE49-F238E27FC236}">
                    <a16:creationId xmlns:a16="http://schemas.microsoft.com/office/drawing/2014/main" id="{CC08EE77-ACE7-52EE-733B-084F35A635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2" y="2859"/>
                <a:ext cx="816" cy="789"/>
              </a:xfrm>
              <a:prstGeom prst="rect">
                <a:avLst/>
              </a:prstGeom>
              <a:noFill/>
              <a:extLst>
                <a:ext uri="{909E8E84-426E-40DD-AFC4-6F175D3DCCD1}">
                  <a14:hiddenFill xmlns:a14="http://schemas.microsoft.com/office/drawing/2010/main">
                    <a:solidFill>
                      <a:srgbClr val="FFFFFF"/>
                    </a:solidFill>
                  </a14:hiddenFill>
                </a:ext>
              </a:extLst>
            </p:spPr>
          </p:pic>
          <p:pic>
            <p:nvPicPr>
              <p:cNvPr id="569369" name="Picture 25">
                <a:extLst>
                  <a:ext uri="{FF2B5EF4-FFF2-40B4-BE49-F238E27FC236}">
                    <a16:creationId xmlns:a16="http://schemas.microsoft.com/office/drawing/2014/main" id="{BD15AC55-EE83-F000-D991-1153AEE9C2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4" y="2904"/>
                <a:ext cx="754" cy="768"/>
              </a:xfrm>
              <a:prstGeom prst="rect">
                <a:avLst/>
              </a:prstGeom>
              <a:noFill/>
              <a:extLst>
                <a:ext uri="{909E8E84-426E-40DD-AFC4-6F175D3DCCD1}">
                  <a14:hiddenFill xmlns:a14="http://schemas.microsoft.com/office/drawing/2010/main">
                    <a:solidFill>
                      <a:srgbClr val="FFFFFF"/>
                    </a:solidFill>
                  </a14:hiddenFill>
                </a:ext>
              </a:extLst>
            </p:spPr>
          </p:pic>
          <p:pic>
            <p:nvPicPr>
              <p:cNvPr id="569370" name="Picture 26">
                <a:extLst>
                  <a:ext uri="{FF2B5EF4-FFF2-40B4-BE49-F238E27FC236}">
                    <a16:creationId xmlns:a16="http://schemas.microsoft.com/office/drawing/2014/main" id="{41FDED83-5058-80CF-450B-0F430A44D5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48" y="1265"/>
                <a:ext cx="864" cy="799"/>
              </a:xfrm>
              <a:prstGeom prst="rect">
                <a:avLst/>
              </a:prstGeom>
              <a:noFill/>
              <a:extLst>
                <a:ext uri="{909E8E84-426E-40DD-AFC4-6F175D3DCCD1}">
                  <a14:hiddenFill xmlns:a14="http://schemas.microsoft.com/office/drawing/2010/main">
                    <a:solidFill>
                      <a:srgbClr val="FFFFFF"/>
                    </a:solidFill>
                  </a14:hiddenFill>
                </a:ext>
              </a:extLst>
            </p:spPr>
          </p:pic>
          <p:sp>
            <p:nvSpPr>
              <p:cNvPr id="569371" name="Text Box 27">
                <a:extLst>
                  <a:ext uri="{FF2B5EF4-FFF2-40B4-BE49-F238E27FC236}">
                    <a16:creationId xmlns:a16="http://schemas.microsoft.com/office/drawing/2014/main" id="{F7197C11-DC22-6B88-127F-1F09E8F4D096}"/>
                  </a:ext>
                </a:extLst>
              </p:cNvPr>
              <p:cNvSpPr txBox="1">
                <a:spLocks noChangeArrowheads="1"/>
              </p:cNvSpPr>
              <p:nvPr/>
            </p:nvSpPr>
            <p:spPr bwMode="auto">
              <a:xfrm>
                <a:off x="2448" y="2015"/>
                <a:ext cx="1005"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en-US" altLang="ja-JP" sz="1800" dirty="0" err="1">
                    <a:ea typeface="MS UI Gothic" panose="020B0600070205080204" pitchFamily="50" charset="-128"/>
                  </a:rPr>
                  <a:t>Nhân</a:t>
                </a:r>
                <a:r>
                  <a:rPr lang="en-US" altLang="ja-JP" sz="1800" dirty="0">
                    <a:ea typeface="MS UI Gothic" panose="020B0600070205080204" pitchFamily="50" charset="-128"/>
                  </a:rPr>
                  <a:t> </a:t>
                </a:r>
                <a:r>
                  <a:rPr lang="en-US" altLang="ja-JP" sz="1800" dirty="0" err="1">
                    <a:ea typeface="MS UI Gothic" panose="020B0600070205080204" pitchFamily="50" charset="-128"/>
                  </a:rPr>
                  <a:t>viên</a:t>
                </a:r>
                <a:endParaRPr lang="en-US" altLang="ja-JP" sz="1800" dirty="0">
                  <a:ea typeface="MS UI Gothic" panose="020B0600070205080204" pitchFamily="50" charset="-128"/>
                </a:endParaRPr>
              </a:p>
            </p:txBody>
          </p:sp>
          <p:sp>
            <p:nvSpPr>
              <p:cNvPr id="569372" name="Text Box 28">
                <a:extLst>
                  <a:ext uri="{FF2B5EF4-FFF2-40B4-BE49-F238E27FC236}">
                    <a16:creationId xmlns:a16="http://schemas.microsoft.com/office/drawing/2014/main" id="{D9F61B7F-E877-B425-1282-AC380A064FBF}"/>
                  </a:ext>
                </a:extLst>
              </p:cNvPr>
              <p:cNvSpPr txBox="1">
                <a:spLocks noChangeArrowheads="1"/>
              </p:cNvSpPr>
              <p:nvPr/>
            </p:nvSpPr>
            <p:spPr bwMode="auto">
              <a:xfrm>
                <a:off x="3984" y="3599"/>
                <a:ext cx="1008"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en-US" altLang="ja-JP" sz="1800" dirty="0" err="1">
                    <a:ea typeface="MS UI Gothic" panose="020B0600070205080204" pitchFamily="50" charset="-128"/>
                  </a:rPr>
                  <a:t>Kế</a:t>
                </a:r>
                <a:r>
                  <a:rPr lang="en-US" altLang="ja-JP" sz="1800" dirty="0">
                    <a:ea typeface="MS UI Gothic" panose="020B0600070205080204" pitchFamily="50" charset="-128"/>
                  </a:rPr>
                  <a:t> </a:t>
                </a:r>
                <a:r>
                  <a:rPr lang="en-US" altLang="ja-JP" sz="1800" dirty="0" err="1">
                    <a:ea typeface="MS UI Gothic" panose="020B0600070205080204" pitchFamily="50" charset="-128"/>
                  </a:rPr>
                  <a:t>hoạch</a:t>
                </a:r>
                <a:endParaRPr lang="en-US" altLang="ja-JP" sz="1800" dirty="0">
                  <a:ea typeface="MS UI Gothic" panose="020B0600070205080204" pitchFamily="50" charset="-128"/>
                </a:endParaRPr>
              </a:p>
            </p:txBody>
          </p:sp>
          <p:sp>
            <p:nvSpPr>
              <p:cNvPr id="569373" name="Text Box 29">
                <a:extLst>
                  <a:ext uri="{FF2B5EF4-FFF2-40B4-BE49-F238E27FC236}">
                    <a16:creationId xmlns:a16="http://schemas.microsoft.com/office/drawing/2014/main" id="{746E0253-9DF1-36D6-21C8-B6BBE1922F64}"/>
                  </a:ext>
                </a:extLst>
              </p:cNvPr>
              <p:cNvSpPr txBox="1">
                <a:spLocks noChangeArrowheads="1"/>
              </p:cNvSpPr>
              <p:nvPr/>
            </p:nvSpPr>
            <p:spPr bwMode="auto">
              <a:xfrm>
                <a:off x="2475" y="3599"/>
                <a:ext cx="1075"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en-US" altLang="ja-JP" sz="1800" dirty="0">
                    <a:ea typeface="MS UI Gothic" panose="020B0600070205080204" pitchFamily="50" charset="-128"/>
                  </a:rPr>
                  <a:t>Kinh </a:t>
                </a:r>
                <a:r>
                  <a:rPr lang="en-US" altLang="ja-JP" sz="1800" dirty="0" err="1">
                    <a:ea typeface="MS UI Gothic" panose="020B0600070205080204" pitchFamily="50" charset="-128"/>
                  </a:rPr>
                  <a:t>doanh</a:t>
                </a:r>
                <a:endParaRPr lang="en-US" altLang="ja-JP" sz="1800" dirty="0">
                  <a:ea typeface="MS UI Gothic" panose="020B0600070205080204" pitchFamily="50" charset="-128"/>
                </a:endParaRPr>
              </a:p>
            </p:txBody>
          </p:sp>
          <p:sp>
            <p:nvSpPr>
              <p:cNvPr id="569374" name="Text Box 30">
                <a:extLst>
                  <a:ext uri="{FF2B5EF4-FFF2-40B4-BE49-F238E27FC236}">
                    <a16:creationId xmlns:a16="http://schemas.microsoft.com/office/drawing/2014/main" id="{5CBF5351-0ACE-D9BD-436D-8DED561A2877}"/>
                  </a:ext>
                </a:extLst>
              </p:cNvPr>
              <p:cNvSpPr txBox="1">
                <a:spLocks noChangeArrowheads="1"/>
              </p:cNvSpPr>
              <p:nvPr/>
            </p:nvSpPr>
            <p:spPr bwMode="auto">
              <a:xfrm>
                <a:off x="1390" y="3600"/>
                <a:ext cx="820"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ja-JP" altLang="en-US" sz="1800">
                    <a:ea typeface="MS UI Gothic" panose="020B0600070205080204" pitchFamily="50" charset="-128"/>
                  </a:rPr>
                  <a:t>ＳＥ</a:t>
                </a:r>
              </a:p>
            </p:txBody>
          </p:sp>
          <p:cxnSp>
            <p:nvCxnSpPr>
              <p:cNvPr id="569375" name="AutoShape 31">
                <a:extLst>
                  <a:ext uri="{FF2B5EF4-FFF2-40B4-BE49-F238E27FC236}">
                    <a16:creationId xmlns:a16="http://schemas.microsoft.com/office/drawing/2014/main" id="{CB90F4D0-FF81-A44B-2526-90C801AB6A98}"/>
                  </a:ext>
                </a:extLst>
              </p:cNvPr>
              <p:cNvCxnSpPr>
                <a:cxnSpLocks noChangeShapeType="1"/>
                <a:stCxn id="569368" idx="0"/>
                <a:endCxn id="569378" idx="3"/>
              </p:cNvCxnSpPr>
              <p:nvPr/>
            </p:nvCxnSpPr>
            <p:spPr bwMode="auto">
              <a:xfrm flipV="1">
                <a:off x="2880" y="2448"/>
                <a:ext cx="0" cy="41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9376" name="AutoShape 32">
                <a:extLst>
                  <a:ext uri="{FF2B5EF4-FFF2-40B4-BE49-F238E27FC236}">
                    <a16:creationId xmlns:a16="http://schemas.microsoft.com/office/drawing/2014/main" id="{229A57BD-A3FE-0925-6898-3A737D165963}"/>
                  </a:ext>
                </a:extLst>
              </p:cNvPr>
              <p:cNvCxnSpPr>
                <a:cxnSpLocks noChangeShapeType="1"/>
                <a:stCxn id="569367" idx="0"/>
                <a:endCxn id="569378" idx="3"/>
              </p:cNvCxnSpPr>
              <p:nvPr/>
            </p:nvCxnSpPr>
            <p:spPr bwMode="auto">
              <a:xfrm rot="16200000">
                <a:off x="1993" y="2015"/>
                <a:ext cx="453" cy="1320"/>
              </a:xfrm>
              <a:prstGeom prst="bentConnector3">
                <a:avLst>
                  <a:gd name="adj1" fmla="val 49889"/>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9377" name="AutoShape 33">
                <a:extLst>
                  <a:ext uri="{FF2B5EF4-FFF2-40B4-BE49-F238E27FC236}">
                    <a16:creationId xmlns:a16="http://schemas.microsoft.com/office/drawing/2014/main" id="{639AD906-D531-2E4A-8F5D-102A03A21459}"/>
                  </a:ext>
                </a:extLst>
              </p:cNvPr>
              <p:cNvCxnSpPr>
                <a:cxnSpLocks noChangeShapeType="1"/>
                <a:stCxn id="569369" idx="0"/>
                <a:endCxn id="569378" idx="3"/>
              </p:cNvCxnSpPr>
              <p:nvPr/>
            </p:nvCxnSpPr>
            <p:spPr bwMode="auto">
              <a:xfrm rot="5400000" flipH="1">
                <a:off x="3328" y="2000"/>
                <a:ext cx="456" cy="1351"/>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9378" name="AutoShape 34">
                <a:extLst>
                  <a:ext uri="{FF2B5EF4-FFF2-40B4-BE49-F238E27FC236}">
                    <a16:creationId xmlns:a16="http://schemas.microsoft.com/office/drawing/2014/main" id="{E4E522AD-CD4F-1BE4-BB94-796D99C44E63}"/>
                  </a:ext>
                </a:extLst>
              </p:cNvPr>
              <p:cNvSpPr>
                <a:spLocks noChangeArrowheads="1"/>
              </p:cNvSpPr>
              <p:nvPr/>
            </p:nvSpPr>
            <p:spPr bwMode="auto">
              <a:xfrm>
                <a:off x="2784" y="2304"/>
                <a:ext cx="192" cy="144"/>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grpSp>
        <p:sp>
          <p:nvSpPr>
            <p:cNvPr id="569379" name="AutoShape 35">
              <a:extLst>
                <a:ext uri="{FF2B5EF4-FFF2-40B4-BE49-F238E27FC236}">
                  <a16:creationId xmlns:a16="http://schemas.microsoft.com/office/drawing/2014/main" id="{C170AA1A-F08B-4EE3-40D4-2280B35D9EEB}"/>
                </a:ext>
              </a:extLst>
            </p:cNvPr>
            <p:cNvSpPr>
              <a:spLocks noChangeArrowheads="1"/>
            </p:cNvSpPr>
            <p:nvPr/>
          </p:nvSpPr>
          <p:spPr bwMode="auto">
            <a:xfrm>
              <a:off x="3736" y="1496"/>
              <a:ext cx="1060" cy="323"/>
            </a:xfrm>
            <a:prstGeom prst="wedgeRoundRectCallout">
              <a:avLst>
                <a:gd name="adj1" fmla="val -91792"/>
                <a:gd name="adj2" fmla="val 38856"/>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a:ea typeface="MS UI Gothic" panose="020B0600070205080204" pitchFamily="50" charset="-128"/>
                </a:rPr>
                <a:t>super class</a:t>
              </a:r>
            </a:p>
          </p:txBody>
        </p:sp>
        <p:sp>
          <p:nvSpPr>
            <p:cNvPr id="569380" name="AutoShape 36">
              <a:extLst>
                <a:ext uri="{FF2B5EF4-FFF2-40B4-BE49-F238E27FC236}">
                  <a16:creationId xmlns:a16="http://schemas.microsoft.com/office/drawing/2014/main" id="{BC8AA790-2EC1-96F7-29E8-37257AEAB8F6}"/>
                </a:ext>
              </a:extLst>
            </p:cNvPr>
            <p:cNvSpPr>
              <a:spLocks noChangeArrowheads="1"/>
            </p:cNvSpPr>
            <p:nvPr/>
          </p:nvSpPr>
          <p:spPr bwMode="auto">
            <a:xfrm>
              <a:off x="2335" y="3454"/>
              <a:ext cx="970" cy="307"/>
            </a:xfrm>
            <a:prstGeom prst="wedgeRoundRectCallout">
              <a:avLst>
                <a:gd name="adj1" fmla="val -7009"/>
                <a:gd name="adj2" fmla="val -86806"/>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a:ea typeface="MS UI Gothic" panose="020B0600070205080204" pitchFamily="50" charset="-128"/>
                </a:rPr>
                <a:t>Sub class</a:t>
              </a:r>
            </a:p>
          </p:txBody>
        </p:sp>
        <p:sp>
          <p:nvSpPr>
            <p:cNvPr id="569381" name="AutoShape 37">
              <a:extLst>
                <a:ext uri="{FF2B5EF4-FFF2-40B4-BE49-F238E27FC236}">
                  <a16:creationId xmlns:a16="http://schemas.microsoft.com/office/drawing/2014/main" id="{CE8D6508-874E-714D-CF20-8D0D168185F8}"/>
                </a:ext>
              </a:extLst>
            </p:cNvPr>
            <p:cNvSpPr>
              <a:spLocks noChangeArrowheads="1"/>
            </p:cNvSpPr>
            <p:nvPr/>
          </p:nvSpPr>
          <p:spPr bwMode="auto">
            <a:xfrm>
              <a:off x="1181" y="3463"/>
              <a:ext cx="970" cy="307"/>
            </a:xfrm>
            <a:prstGeom prst="wedgeRoundRectCallout">
              <a:avLst>
                <a:gd name="adj1" fmla="val -7009"/>
                <a:gd name="adj2" fmla="val -86806"/>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a:ea typeface="MS UI Gothic" panose="020B0600070205080204" pitchFamily="50" charset="-128"/>
                </a:rPr>
                <a:t>Sub class</a:t>
              </a:r>
            </a:p>
          </p:txBody>
        </p:sp>
        <p:sp>
          <p:nvSpPr>
            <p:cNvPr id="569382" name="AutoShape 38">
              <a:extLst>
                <a:ext uri="{FF2B5EF4-FFF2-40B4-BE49-F238E27FC236}">
                  <a16:creationId xmlns:a16="http://schemas.microsoft.com/office/drawing/2014/main" id="{5453D182-D0CC-179C-DC8D-089C87C5255E}"/>
                </a:ext>
              </a:extLst>
            </p:cNvPr>
            <p:cNvSpPr>
              <a:spLocks noChangeArrowheads="1"/>
            </p:cNvSpPr>
            <p:nvPr/>
          </p:nvSpPr>
          <p:spPr bwMode="auto">
            <a:xfrm>
              <a:off x="3543" y="3446"/>
              <a:ext cx="970" cy="307"/>
            </a:xfrm>
            <a:prstGeom prst="wedgeRoundRectCallout">
              <a:avLst>
                <a:gd name="adj1" fmla="val -7009"/>
                <a:gd name="adj2" fmla="val -86806"/>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800">
                  <a:ea typeface="MS UI Gothic" panose="020B0600070205080204" pitchFamily="50" charset="-128"/>
                </a:rPr>
                <a:t>Sub class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1B4DFD7C-0419-9BEB-6C87-5268A0F910E5}"/>
              </a:ext>
            </a:extLst>
          </p:cNvPr>
          <p:cNvSpPr>
            <a:spLocks noGrp="1"/>
          </p:cNvSpPr>
          <p:nvPr>
            <p:ph type="sldNum" sz="quarter" idx="10"/>
          </p:nvPr>
        </p:nvSpPr>
        <p:spPr/>
        <p:txBody>
          <a:bodyPr/>
          <a:lstStyle/>
          <a:p>
            <a:fld id="{269A3B62-B4C5-49DA-9FC5-FF2D19DC2D26}" type="slidenum">
              <a:rPr lang="en-US" altLang="ja-JP"/>
              <a:pPr/>
              <a:t>4</a:t>
            </a:fld>
            <a:endParaRPr lang="en-US" altLang="ja-JP"/>
          </a:p>
        </p:txBody>
      </p:sp>
      <p:sp>
        <p:nvSpPr>
          <p:cNvPr id="368642" name="Rectangle 2">
            <a:extLst>
              <a:ext uri="{FF2B5EF4-FFF2-40B4-BE49-F238E27FC236}">
                <a16:creationId xmlns:a16="http://schemas.microsoft.com/office/drawing/2014/main" id="{3C6ED4EE-25D8-B42B-4FBA-A5BAFE7D26E4}"/>
              </a:ext>
            </a:extLst>
          </p:cNvPr>
          <p:cNvSpPr>
            <a:spLocks noGrp="1" noChangeArrowheads="1"/>
          </p:cNvSpPr>
          <p:nvPr>
            <p:ph type="title"/>
          </p:nvPr>
        </p:nvSpPr>
        <p:spPr>
          <a:xfrm>
            <a:off x="344487" y="311151"/>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Định </a:t>
            </a:r>
            <a:r>
              <a:rPr lang="en-US" altLang="ja-JP" dirty="0" err="1">
                <a:latin typeface="Arial" panose="020B0604020202020204" pitchFamily="34" charset="0"/>
                <a:ea typeface="MS UI Gothic" panose="020B0600070205080204" pitchFamily="50" charset="-128"/>
              </a:rPr>
              <a:t>nghĩa</a:t>
            </a:r>
            <a:r>
              <a:rPr lang="en-US" altLang="ja-JP" dirty="0">
                <a:latin typeface="Arial" panose="020B0604020202020204" pitchFamily="34" charset="0"/>
                <a:ea typeface="MS UI Gothic" panose="020B0600070205080204" pitchFamily="50" charset="-128"/>
              </a:rPr>
              <a:t> super class</a:t>
            </a:r>
          </a:p>
        </p:txBody>
      </p:sp>
      <p:sp>
        <p:nvSpPr>
          <p:cNvPr id="368643" name="Rectangle 3">
            <a:extLst>
              <a:ext uri="{FF2B5EF4-FFF2-40B4-BE49-F238E27FC236}">
                <a16:creationId xmlns:a16="http://schemas.microsoft.com/office/drawing/2014/main" id="{3B89671D-1729-E642-D951-8EEB9F21C253}"/>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368644" name="Rectangle 4">
            <a:extLst>
              <a:ext uri="{FF2B5EF4-FFF2-40B4-BE49-F238E27FC236}">
                <a16:creationId xmlns:a16="http://schemas.microsoft.com/office/drawing/2014/main" id="{3396E96D-8E31-7911-A31C-85C17206DD2C}"/>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Định nghĩa super class</a:t>
            </a:r>
          </a:p>
          <a:p>
            <a:pPr>
              <a:spcBef>
                <a:spcPct val="50000"/>
              </a:spcBef>
              <a:buFont typeface="Wingdings" panose="05000000000000000000" pitchFamily="2" charset="2"/>
              <a:buNone/>
            </a:pPr>
            <a:r>
              <a:rPr lang="en-US" altLang="ja-JP" sz="2000" b="0">
                <a:latin typeface="Arial" panose="020B0604020202020204" pitchFamily="34" charset="0"/>
              </a:rPr>
              <a:t>●Cú pháp cơ bản </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368663" name="Rectangle 23">
            <a:extLst>
              <a:ext uri="{FF2B5EF4-FFF2-40B4-BE49-F238E27FC236}">
                <a16:creationId xmlns:a16="http://schemas.microsoft.com/office/drawing/2014/main" id="{15891B84-7B80-D6BF-3A24-E55E1D5ED027}"/>
              </a:ext>
            </a:extLst>
          </p:cNvPr>
          <p:cNvSpPr>
            <a:spLocks noChangeArrowheads="1"/>
          </p:cNvSpPr>
          <p:nvPr/>
        </p:nvSpPr>
        <p:spPr bwMode="auto">
          <a:xfrm>
            <a:off x="344488" y="37560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●Ví dụ</a:t>
            </a:r>
            <a:endParaRPr lang="en-US" altLang="ja-JP" sz="2400" b="0">
              <a:latin typeface="Arial" panose="020B0604020202020204" pitchFamily="34" charset="0"/>
            </a:endParaRPr>
          </a:p>
        </p:txBody>
      </p:sp>
      <p:sp>
        <p:nvSpPr>
          <p:cNvPr id="368664" name="Rectangle 24">
            <a:extLst>
              <a:ext uri="{FF2B5EF4-FFF2-40B4-BE49-F238E27FC236}">
                <a16:creationId xmlns:a16="http://schemas.microsoft.com/office/drawing/2014/main" id="{FB2CCDBE-58A5-013E-0846-45BAE3792CC9}"/>
              </a:ext>
            </a:extLst>
          </p:cNvPr>
          <p:cNvSpPr>
            <a:spLocks noChangeArrowheads="1"/>
          </p:cNvSpPr>
          <p:nvPr/>
        </p:nvSpPr>
        <p:spPr bwMode="auto">
          <a:xfrm>
            <a:off x="344488" y="4165600"/>
            <a:ext cx="9120187" cy="10779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en-US" sz="1800" b="0">
                <a:latin typeface="Arial" panose="020B0604020202020204" pitchFamily="34" charset="0"/>
                <a:ea typeface="ＭＳ ゴシック" panose="020B0609070205080204" pitchFamily="49" charset="-128"/>
              </a:rPr>
              <a:t>public Employee class {</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 Định nghĩa field và method</a:t>
            </a:r>
            <a:endParaRPr lang="en-US" altLang="ja-JP" sz="1800" b="0">
              <a:latin typeface="Arial" panose="020B0604020202020204" pitchFamily="34" charset="0"/>
              <a:ea typeface="ＭＳ ゴシック" panose="020B0609070205080204" pitchFamily="49" charset="-128"/>
            </a:endParaRPr>
          </a:p>
        </p:txBody>
      </p:sp>
      <p:grpSp>
        <p:nvGrpSpPr>
          <p:cNvPr id="368670" name="Group 30">
            <a:extLst>
              <a:ext uri="{FF2B5EF4-FFF2-40B4-BE49-F238E27FC236}">
                <a16:creationId xmlns:a16="http://schemas.microsoft.com/office/drawing/2014/main" id="{1F8693A9-C5A9-E977-7BF9-51BF23712DDA}"/>
              </a:ext>
            </a:extLst>
          </p:cNvPr>
          <p:cNvGrpSpPr>
            <a:grpSpLocks/>
          </p:cNvGrpSpPr>
          <p:nvPr/>
        </p:nvGrpSpPr>
        <p:grpSpPr bwMode="auto">
          <a:xfrm>
            <a:off x="344488" y="1150937"/>
            <a:ext cx="9120187" cy="2130425"/>
            <a:chOff x="217" y="725"/>
            <a:chExt cx="5745" cy="1342"/>
          </a:xfrm>
        </p:grpSpPr>
        <p:sp>
          <p:nvSpPr>
            <p:cNvPr id="368660" name="Text Box 20">
              <a:extLst>
                <a:ext uri="{FF2B5EF4-FFF2-40B4-BE49-F238E27FC236}">
                  <a16:creationId xmlns:a16="http://schemas.microsoft.com/office/drawing/2014/main" id="{A0DC5B65-B9FF-1C20-5E4F-AC75A75814C7}"/>
                </a:ext>
              </a:extLst>
            </p:cNvPr>
            <p:cNvSpPr txBox="1">
              <a:spLocks noChangeArrowheads="1"/>
            </p:cNvSpPr>
            <p:nvPr/>
          </p:nvSpPr>
          <p:spPr bwMode="auto">
            <a:xfrm>
              <a:off x="217" y="1103"/>
              <a:ext cx="5745" cy="964"/>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MS UI Gothic" panose="020B0600070205080204" pitchFamily="50" charset="-128"/>
                </a:rPr>
                <a:t>Modifier</a:t>
              </a:r>
              <a:r>
                <a:rPr lang="en-US" altLang="ja-JP" sz="2000">
                  <a:ea typeface="ＭＳ ゴシック" panose="020B0609070205080204" pitchFamily="49" charset="-128"/>
                </a:rPr>
                <a:t> class Class name {</a:t>
              </a:r>
            </a:p>
            <a:p>
              <a:pPr lvl="1" algn="just">
                <a:lnSpc>
                  <a:spcPct val="112000"/>
                </a:lnSpc>
              </a:pPr>
              <a:r>
                <a:rPr lang="en-US" altLang="ja-JP" sz="2000" b="0">
                  <a:ea typeface="ＭＳ ゴシック" panose="020B0609070205080204" pitchFamily="49" charset="-128"/>
                </a:rPr>
                <a:t>      // Định nghĩa thuộc tính (Field)</a:t>
              </a:r>
              <a:endParaRPr lang="en-US" altLang="ja-JP" sz="2000" b="0">
                <a:ea typeface="MS UI Gothic" panose="020B0600070205080204" pitchFamily="50" charset="-128"/>
              </a:endParaRPr>
            </a:p>
            <a:p>
              <a:pPr lvl="1" algn="just">
                <a:lnSpc>
                  <a:spcPct val="112000"/>
                </a:lnSpc>
              </a:pPr>
              <a:r>
                <a:rPr lang="ja-JP" altLang="en-US" sz="2000" b="0">
                  <a:ea typeface="ＭＳ ゴシック" panose="020B0609070205080204" pitchFamily="49" charset="-128"/>
                </a:rPr>
                <a:t>　　　</a:t>
              </a:r>
              <a:r>
                <a:rPr lang="en-US" altLang="ja-JP" sz="2000" b="0">
                  <a:ea typeface="ＭＳ ゴシック" panose="020B0609070205080204" pitchFamily="49" charset="-128"/>
                </a:rPr>
                <a:t>// Định nghĩa thao tác (Method) </a:t>
              </a:r>
              <a:endParaRPr lang="en-US" altLang="ja-JP" sz="2000" b="0">
                <a:ea typeface="MS UI Gothic" panose="020B0600070205080204" pitchFamily="50" charset="-128"/>
              </a:endParaRPr>
            </a:p>
            <a:p>
              <a:pPr lvl="1" algn="just">
                <a:lnSpc>
                  <a:spcPct val="112000"/>
                </a:lnSpc>
              </a:pPr>
              <a:r>
                <a:rPr lang="en-US" altLang="ja-JP" sz="2000">
                  <a:ea typeface="ＭＳ ゴシック" panose="020B0609070205080204" pitchFamily="49" charset="-128"/>
                </a:rPr>
                <a:t>}</a:t>
              </a:r>
            </a:p>
          </p:txBody>
        </p:sp>
        <p:sp>
          <p:nvSpPr>
            <p:cNvPr id="368666" name="AutoShape 26">
              <a:extLst>
                <a:ext uri="{FF2B5EF4-FFF2-40B4-BE49-F238E27FC236}">
                  <a16:creationId xmlns:a16="http://schemas.microsoft.com/office/drawing/2014/main" id="{07D9F299-FDEE-F765-8A34-A8995A351187}"/>
                </a:ext>
              </a:extLst>
            </p:cNvPr>
            <p:cNvSpPr>
              <a:spLocks noChangeArrowheads="1"/>
            </p:cNvSpPr>
            <p:nvPr/>
          </p:nvSpPr>
          <p:spPr bwMode="auto">
            <a:xfrm>
              <a:off x="2342" y="725"/>
              <a:ext cx="3322" cy="312"/>
            </a:xfrm>
            <a:prstGeom prst="wedgeRoundRectCallout">
              <a:avLst>
                <a:gd name="adj1" fmla="val -73523"/>
                <a:gd name="adj2" fmla="val 56486"/>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400" dirty="0">
                  <a:latin typeface="+mj-lt"/>
                </a:rPr>
                <a:t>Định </a:t>
              </a:r>
              <a:r>
                <a:rPr lang="en-US" altLang="ja-JP" sz="1400" dirty="0" err="1">
                  <a:latin typeface="+mj-lt"/>
                </a:rPr>
                <a:t>nghĩa</a:t>
              </a:r>
              <a:r>
                <a:rPr lang="en-US" altLang="ja-JP" sz="1400" dirty="0">
                  <a:latin typeface="+mj-lt"/>
                </a:rPr>
                <a:t> super class </a:t>
              </a:r>
              <a:r>
                <a:rPr lang="en-US" altLang="ja-JP" sz="1400" dirty="0" err="1">
                  <a:latin typeface="+mj-lt"/>
                </a:rPr>
                <a:t>hoàn</a:t>
              </a:r>
              <a:r>
                <a:rPr lang="en-US" altLang="ja-JP" sz="1400" dirty="0">
                  <a:latin typeface="+mj-lt"/>
                </a:rPr>
                <a:t> </a:t>
              </a:r>
              <a:r>
                <a:rPr lang="en-US" altLang="ja-JP" sz="1400" dirty="0" err="1">
                  <a:latin typeface="+mj-lt"/>
                </a:rPr>
                <a:t>toàn</a:t>
              </a:r>
              <a:r>
                <a:rPr lang="en-US" altLang="ja-JP" sz="1400" dirty="0">
                  <a:latin typeface="+mj-lt"/>
                </a:rPr>
                <a:t> </a:t>
              </a:r>
              <a:r>
                <a:rPr lang="en-US" altLang="ja-JP" sz="1400" dirty="0" err="1">
                  <a:latin typeface="+mj-lt"/>
                </a:rPr>
                <a:t>giống</a:t>
              </a:r>
              <a:r>
                <a:rPr lang="en-US" altLang="ja-JP" sz="1400" dirty="0">
                  <a:latin typeface="+mj-lt"/>
                </a:rPr>
                <a:t> </a:t>
              </a:r>
              <a:r>
                <a:rPr lang="en-US" altLang="ja-JP" sz="1400" dirty="0" err="1">
                  <a:latin typeface="+mj-lt"/>
                </a:rPr>
                <a:t>với</a:t>
              </a:r>
              <a:r>
                <a:rPr lang="en-US" altLang="ja-JP" sz="1400" dirty="0">
                  <a:latin typeface="+mj-lt"/>
                </a:rPr>
                <a:t> </a:t>
              </a:r>
              <a:r>
                <a:rPr lang="en-US" altLang="ja-JP" sz="1400" dirty="0" err="1">
                  <a:latin typeface="+mj-lt"/>
                </a:rPr>
                <a:t>phương</a:t>
              </a:r>
              <a:r>
                <a:rPr lang="en-US" altLang="ja-JP" sz="1400" dirty="0">
                  <a:latin typeface="+mj-lt"/>
                </a:rPr>
                <a:t> </a:t>
              </a:r>
              <a:r>
                <a:rPr lang="en-US" altLang="ja-JP" sz="1400" dirty="0" err="1">
                  <a:latin typeface="+mj-lt"/>
                </a:rPr>
                <a:t>pháp</a:t>
              </a:r>
              <a:r>
                <a:rPr lang="en-US" altLang="ja-JP" sz="1400" dirty="0">
                  <a:latin typeface="+mj-lt"/>
                </a:rPr>
                <a:t> </a:t>
              </a:r>
              <a:r>
                <a:rPr lang="en-US" altLang="ja-JP" sz="1400" dirty="0" err="1">
                  <a:latin typeface="+mj-lt"/>
                </a:rPr>
                <a:t>định</a:t>
              </a:r>
              <a:r>
                <a:rPr lang="en-US" altLang="ja-JP" sz="1400" dirty="0">
                  <a:latin typeface="+mj-lt"/>
                </a:rPr>
                <a:t> </a:t>
              </a:r>
              <a:r>
                <a:rPr lang="en-US" altLang="ja-JP" sz="1400" dirty="0" err="1">
                  <a:latin typeface="+mj-lt"/>
                </a:rPr>
                <a:t>nghĩa</a:t>
              </a:r>
              <a:r>
                <a:rPr lang="en-US" altLang="ja-JP" sz="1400" dirty="0">
                  <a:latin typeface="+mj-lt"/>
                </a:rPr>
                <a:t> class </a:t>
              </a:r>
              <a:r>
                <a:rPr lang="en-US" altLang="ja-JP" sz="1400" dirty="0" err="1">
                  <a:latin typeface="+mj-lt"/>
                </a:rPr>
                <a:t>đã</a:t>
              </a:r>
              <a:r>
                <a:rPr lang="en-US" altLang="ja-JP" sz="1400" dirty="0">
                  <a:latin typeface="+mj-lt"/>
                </a:rPr>
                <a:t> </a:t>
              </a:r>
              <a:r>
                <a:rPr lang="en-US" altLang="ja-JP" sz="1400" dirty="0" err="1">
                  <a:latin typeface="+mj-lt"/>
                </a:rPr>
                <a:t>xem</a:t>
              </a:r>
              <a:r>
                <a:rPr lang="en-US" altLang="ja-JP" sz="1400" dirty="0">
                  <a:latin typeface="+mj-lt"/>
                </a:rPr>
                <a:t> ở </a:t>
              </a:r>
              <a:r>
                <a:rPr lang="en-US" altLang="ja-JP" sz="1400" dirty="0" err="1">
                  <a:latin typeface="+mj-lt"/>
                </a:rPr>
                <a:t>chương</a:t>
              </a:r>
              <a:r>
                <a:rPr lang="en-US" altLang="ja-JP" sz="1400" dirty="0">
                  <a:latin typeface="+mj-lt"/>
                </a:rPr>
                <a:t> 2. </a:t>
              </a:r>
            </a:p>
          </p:txBody>
        </p:sp>
        <p:sp>
          <p:nvSpPr>
            <p:cNvPr id="368669" name="AutoShape 29">
              <a:extLst>
                <a:ext uri="{FF2B5EF4-FFF2-40B4-BE49-F238E27FC236}">
                  <a16:creationId xmlns:a16="http://schemas.microsoft.com/office/drawing/2014/main" id="{0474A3B4-59AB-566F-8BB3-777F177FDAF9}"/>
                </a:ext>
              </a:extLst>
            </p:cNvPr>
            <p:cNvSpPr>
              <a:spLocks noChangeArrowheads="1"/>
            </p:cNvSpPr>
            <p:nvPr/>
          </p:nvSpPr>
          <p:spPr bwMode="auto">
            <a:xfrm>
              <a:off x="3691" y="1263"/>
              <a:ext cx="2118" cy="535"/>
            </a:xfrm>
            <a:prstGeom prst="wedgeRoundRectCallout">
              <a:avLst>
                <a:gd name="adj1" fmla="val -74315"/>
                <a:gd name="adj2" fmla="val -7671"/>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400" dirty="0">
                  <a:latin typeface="+mj-lt"/>
                </a:rPr>
                <a:t>Trong </a:t>
              </a:r>
              <a:r>
                <a:rPr lang="en-US" altLang="ja-JP" sz="1400" dirty="0" err="1">
                  <a:latin typeface="+mj-lt"/>
                </a:rPr>
                <a:t>phần</a:t>
              </a:r>
              <a:r>
                <a:rPr lang="en-US" altLang="ja-JP" sz="1400" dirty="0">
                  <a:latin typeface="+mj-lt"/>
                </a:rPr>
                <a:t> </a:t>
              </a:r>
              <a:r>
                <a:rPr lang="en-US" altLang="ja-JP" sz="1400" dirty="0" err="1">
                  <a:latin typeface="+mj-lt"/>
                </a:rPr>
                <a:t>định</a:t>
              </a:r>
              <a:r>
                <a:rPr lang="en-US" altLang="ja-JP" sz="1400" dirty="0">
                  <a:latin typeface="+mj-lt"/>
                </a:rPr>
                <a:t> </a:t>
              </a:r>
              <a:r>
                <a:rPr lang="en-US" altLang="ja-JP" sz="1400" dirty="0" err="1">
                  <a:latin typeface="+mj-lt"/>
                </a:rPr>
                <a:t>nghĩa</a:t>
              </a:r>
              <a:r>
                <a:rPr lang="en-US" altLang="ja-JP" sz="1400" dirty="0">
                  <a:latin typeface="+mj-lt"/>
                </a:rPr>
                <a:t> </a:t>
              </a:r>
              <a:r>
                <a:rPr lang="en-US" altLang="ja-JP" sz="1400" dirty="0" err="1">
                  <a:latin typeface="+mj-lt"/>
                </a:rPr>
                <a:t>thuộc</a:t>
              </a:r>
              <a:r>
                <a:rPr lang="en-US" altLang="ja-JP" sz="1400" dirty="0">
                  <a:latin typeface="+mj-lt"/>
                </a:rPr>
                <a:t> </a:t>
              </a:r>
              <a:r>
                <a:rPr lang="en-US" altLang="ja-JP" sz="1400" dirty="0" err="1">
                  <a:latin typeface="+mj-lt"/>
                </a:rPr>
                <a:t>tính</a:t>
              </a:r>
              <a:r>
                <a:rPr lang="en-US" altLang="ja-JP" sz="1400" dirty="0">
                  <a:latin typeface="+mj-lt"/>
                </a:rPr>
                <a:t> </a:t>
              </a:r>
              <a:r>
                <a:rPr lang="en-US" altLang="ja-JP" sz="1400" dirty="0" err="1">
                  <a:latin typeface="+mj-lt"/>
                </a:rPr>
                <a:t>và</a:t>
              </a:r>
              <a:r>
                <a:rPr lang="en-US" altLang="ja-JP" sz="1400" dirty="0">
                  <a:latin typeface="+mj-lt"/>
                </a:rPr>
                <a:t> </a:t>
              </a:r>
              <a:r>
                <a:rPr lang="en-US" altLang="ja-JP" sz="1400" dirty="0" err="1">
                  <a:latin typeface="+mj-lt"/>
                </a:rPr>
                <a:t>hoạt</a:t>
              </a:r>
              <a:r>
                <a:rPr lang="en-US" altLang="ja-JP" sz="1400" dirty="0">
                  <a:latin typeface="+mj-lt"/>
                </a:rPr>
                <a:t> </a:t>
              </a:r>
              <a:r>
                <a:rPr lang="en-US" altLang="ja-JP" sz="1400" dirty="0" err="1">
                  <a:latin typeface="+mj-lt"/>
                </a:rPr>
                <a:t>động</a:t>
              </a:r>
              <a:r>
                <a:rPr lang="en-US" altLang="ja-JP" sz="1400" dirty="0">
                  <a:latin typeface="+mj-lt"/>
                </a:rPr>
                <a:t> </a:t>
              </a:r>
              <a:r>
                <a:rPr lang="en-US" altLang="ja-JP" sz="1400" dirty="0" err="1">
                  <a:latin typeface="+mj-lt"/>
                </a:rPr>
                <a:t>của</a:t>
              </a:r>
              <a:r>
                <a:rPr lang="en-US" altLang="ja-JP" sz="1400" dirty="0">
                  <a:latin typeface="+mj-lt"/>
                </a:rPr>
                <a:t> super class, </a:t>
              </a:r>
              <a:r>
                <a:rPr lang="en-US" altLang="ja-JP" sz="1400" dirty="0" err="1">
                  <a:latin typeface="+mj-lt"/>
                </a:rPr>
                <a:t>nếu</a:t>
              </a:r>
              <a:r>
                <a:rPr lang="en-US" altLang="ja-JP" sz="1400" dirty="0">
                  <a:latin typeface="+mj-lt"/>
                </a:rPr>
                <a:t> </a:t>
              </a:r>
              <a:r>
                <a:rPr lang="en-US" altLang="ja-JP" sz="1400" dirty="0" err="1">
                  <a:latin typeface="+mj-lt"/>
                </a:rPr>
                <a:t>cần</a:t>
              </a:r>
              <a:r>
                <a:rPr lang="en-US" altLang="ja-JP" sz="1400" dirty="0">
                  <a:latin typeface="+mj-lt"/>
                </a:rPr>
                <a:t>  </a:t>
              </a:r>
              <a:r>
                <a:rPr lang="en-US" altLang="ja-JP" sz="1400" dirty="0" err="1">
                  <a:latin typeface="+mj-lt"/>
                </a:rPr>
                <a:t>thì</a:t>
              </a:r>
              <a:r>
                <a:rPr lang="en-US" altLang="ja-JP" sz="1400" dirty="0">
                  <a:latin typeface="+mj-lt"/>
                </a:rPr>
                <a:t> </a:t>
              </a:r>
              <a:r>
                <a:rPr lang="en-US" altLang="ja-JP" sz="1400" dirty="0" err="1">
                  <a:latin typeface="+mj-lt"/>
                </a:rPr>
                <a:t>sử</a:t>
              </a:r>
              <a:r>
                <a:rPr lang="en-US" altLang="ja-JP" sz="1400" dirty="0">
                  <a:latin typeface="+mj-lt"/>
                </a:rPr>
                <a:t> </a:t>
              </a:r>
              <a:r>
                <a:rPr lang="en-US" altLang="ja-JP" sz="1400" dirty="0" err="1">
                  <a:latin typeface="+mj-lt"/>
                </a:rPr>
                <a:t>dụng</a:t>
              </a:r>
              <a:r>
                <a:rPr lang="en-US" altLang="ja-JP" sz="1400" dirty="0">
                  <a:latin typeface="+mj-lt"/>
                </a:rPr>
                <a:t> modifier protected. </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98F04-A2BC-1B63-1AA5-C8F3453D8282}"/>
              </a:ext>
            </a:extLst>
          </p:cNvPr>
          <p:cNvSpPr>
            <a:spLocks noGrp="1"/>
          </p:cNvSpPr>
          <p:nvPr>
            <p:ph type="title"/>
          </p:nvPr>
        </p:nvSpPr>
        <p:spPr/>
        <p:txBody>
          <a:bodyPr>
            <a:normAutofit fontScale="90000"/>
          </a:bodyPr>
          <a:lstStyle/>
          <a:p>
            <a:r>
              <a:rPr lang="en-US" altLang="ja-JP" dirty="0">
                <a:ea typeface="MS UI Gothic" panose="020B0600070205080204" pitchFamily="50" charset="-128"/>
              </a:rPr>
              <a:t>Protected modifier</a:t>
            </a:r>
            <a:endParaRPr kumimoji="1" lang="ja-JP" altLang="en-US" dirty="0"/>
          </a:p>
        </p:txBody>
      </p:sp>
      <p:sp>
        <p:nvSpPr>
          <p:cNvPr id="16" name="Content Placeholder 15">
            <a:extLst>
              <a:ext uri="{FF2B5EF4-FFF2-40B4-BE49-F238E27FC236}">
                <a16:creationId xmlns:a16="http://schemas.microsoft.com/office/drawing/2014/main" id="{BA026FE2-91CA-62C4-DEA9-CD6008B549D7}"/>
              </a:ext>
            </a:extLst>
          </p:cNvPr>
          <p:cNvSpPr>
            <a:spLocks noGrp="1"/>
          </p:cNvSpPr>
          <p:nvPr>
            <p:ph idx="1"/>
          </p:nvPr>
        </p:nvSpPr>
        <p:spPr/>
        <p:txBody>
          <a:bodyPr>
            <a:normAutofit fontScale="92500" lnSpcReduction="10000"/>
          </a:bodyPr>
          <a:lstStyle/>
          <a:p>
            <a:r>
              <a:rPr lang="en-US" altLang="ja-JP" dirty="0" err="1">
                <a:ea typeface="MS UI Gothic" panose="020B0600070205080204" pitchFamily="50" charset="-128"/>
              </a:rPr>
              <a:t>Một</a:t>
            </a:r>
            <a:r>
              <a:rPr lang="en-US" altLang="ja-JP" dirty="0">
                <a:ea typeface="MS UI Gothic" panose="020B0600070205080204" pitchFamily="50" charset="-128"/>
              </a:rPr>
              <a:t> </a:t>
            </a:r>
            <a:r>
              <a:rPr lang="en-US" altLang="ja-JP" dirty="0" err="1">
                <a:ea typeface="MS UI Gothic" panose="020B0600070205080204" pitchFamily="50" charset="-128"/>
              </a:rPr>
              <a:t>trong</a:t>
            </a:r>
            <a:r>
              <a:rPr lang="en-US" altLang="ja-JP" dirty="0">
                <a:ea typeface="MS UI Gothic" panose="020B0600070205080204" pitchFamily="50" charset="-128"/>
              </a:rPr>
              <a:t> modifier có </a:t>
            </a:r>
            <a:r>
              <a:rPr lang="en-US" altLang="ja-JP" dirty="0" err="1">
                <a:ea typeface="MS UI Gothic" panose="020B0600070205080204" pitchFamily="50" charset="-128"/>
              </a:rPr>
              <a:t>thê</a:t>
            </a:r>
            <a:r>
              <a:rPr lang="en-US" altLang="ja-JP" dirty="0">
                <a:ea typeface="MS UI Gothic" panose="020B0600070205080204" pitchFamily="50" charset="-128"/>
              </a:rPr>
              <a:t>̉ chỉ </a:t>
            </a:r>
            <a:r>
              <a:rPr lang="en-US" altLang="ja-JP" dirty="0" err="1">
                <a:ea typeface="MS UI Gothic" panose="020B0600070205080204" pitchFamily="50" charset="-128"/>
              </a:rPr>
              <a:t>định</a:t>
            </a:r>
            <a:r>
              <a:rPr lang="en-US" altLang="ja-JP" dirty="0">
                <a:ea typeface="MS UI Gothic" panose="020B0600070205080204" pitchFamily="50" charset="-128"/>
              </a:rPr>
              <a:t> </a:t>
            </a:r>
            <a:r>
              <a:rPr lang="en-US" altLang="ja-JP" dirty="0" err="1">
                <a:ea typeface="MS UI Gothic" panose="020B0600070205080204" pitchFamily="50" charset="-128"/>
              </a:rPr>
              <a:t>thuộc</a:t>
            </a:r>
            <a:r>
              <a:rPr lang="en-US" altLang="ja-JP" dirty="0">
                <a:ea typeface="MS UI Gothic" panose="020B0600070205080204" pitchFamily="50" charset="-128"/>
              </a:rPr>
              <a:t> </a:t>
            </a:r>
            <a:r>
              <a:rPr lang="en-US" altLang="ja-JP" dirty="0" err="1">
                <a:ea typeface="MS UI Gothic" panose="020B0600070205080204" pitchFamily="50" charset="-128"/>
              </a:rPr>
              <a:t>tính</a:t>
            </a:r>
            <a:r>
              <a:rPr lang="en-US" altLang="ja-JP" dirty="0">
                <a:ea typeface="MS UI Gothic" panose="020B0600070205080204" pitchFamily="50" charset="-128"/>
              </a:rPr>
              <a:t> </a:t>
            </a:r>
            <a:r>
              <a:rPr lang="en-US" altLang="ja-JP" dirty="0" err="1">
                <a:ea typeface="MS UI Gothic" panose="020B0600070205080204" pitchFamily="50" charset="-128"/>
              </a:rPr>
              <a:t>va</a:t>
            </a:r>
            <a:r>
              <a:rPr lang="en-US" altLang="ja-JP" dirty="0">
                <a:ea typeface="MS UI Gothic" panose="020B0600070205080204" pitchFamily="50" charset="-128"/>
              </a:rPr>
              <a:t>̀ </a:t>
            </a:r>
            <a:r>
              <a:rPr lang="en-US" altLang="ja-JP" dirty="0" err="1">
                <a:ea typeface="MS UI Gothic" panose="020B0600070205080204" pitchFamily="50" charset="-128"/>
              </a:rPr>
              <a:t>thao</a:t>
            </a:r>
            <a:r>
              <a:rPr lang="en-US" altLang="ja-JP" dirty="0">
                <a:ea typeface="MS UI Gothic" panose="020B0600070205080204" pitchFamily="50" charset="-128"/>
              </a:rPr>
              <a:t> </a:t>
            </a:r>
            <a:r>
              <a:rPr lang="en-US" altLang="ja-JP" dirty="0" err="1">
                <a:ea typeface="MS UI Gothic" panose="020B0600070205080204" pitchFamily="50" charset="-128"/>
              </a:rPr>
              <a:t>tác</a:t>
            </a:r>
            <a:r>
              <a:rPr lang="en-US" altLang="ja-JP" dirty="0">
                <a:ea typeface="MS UI Gothic" panose="020B0600070205080204" pitchFamily="50" charset="-128"/>
              </a:rPr>
              <a:t> </a:t>
            </a:r>
            <a:r>
              <a:rPr lang="en-US" altLang="ja-JP" dirty="0" err="1">
                <a:ea typeface="MS UI Gothic" panose="020B0600070205080204" pitchFamily="50" charset="-128"/>
              </a:rPr>
              <a:t>là</a:t>
            </a:r>
            <a:r>
              <a:rPr lang="en-US" altLang="ja-JP" dirty="0">
                <a:ea typeface="MS UI Gothic" panose="020B0600070205080204" pitchFamily="50" charset="-128"/>
              </a:rPr>
              <a:t> protected.</a:t>
            </a:r>
          </a:p>
          <a:p>
            <a:endParaRPr lang="en-US" altLang="ja-JP" dirty="0">
              <a:ea typeface="MS UI Gothic" panose="020B0600070205080204" pitchFamily="50" charset="-128"/>
            </a:endParaRPr>
          </a:p>
          <a:p>
            <a:endParaRPr lang="en-US" altLang="ja-JP" dirty="0">
              <a:ea typeface="MS UI Gothic" panose="020B0600070205080204" pitchFamily="50" charset="-128"/>
            </a:endParaRPr>
          </a:p>
          <a:p>
            <a:endParaRPr lang="en-US" altLang="ja-JP" dirty="0">
              <a:ea typeface="MS UI Gothic" panose="020B0600070205080204" pitchFamily="50" charset="-128"/>
            </a:endParaRPr>
          </a:p>
          <a:p>
            <a:endParaRPr lang="en-US" altLang="ja-JP" dirty="0">
              <a:ea typeface="MS UI Gothic" panose="020B0600070205080204" pitchFamily="50" charset="-128"/>
            </a:endParaRPr>
          </a:p>
          <a:p>
            <a:endParaRPr lang="en-US" altLang="ja-JP" dirty="0">
              <a:ea typeface="MS UI Gothic" panose="020B0600070205080204" pitchFamily="50" charset="-128"/>
            </a:endParaRPr>
          </a:p>
          <a:p>
            <a:r>
              <a:rPr lang="ja-JP" altLang="en-US" dirty="0">
                <a:ea typeface="MS UI Gothic" panose="020B0600070205080204" pitchFamily="50" charset="-128"/>
              </a:rPr>
              <a:t>　</a:t>
            </a:r>
            <a:r>
              <a:rPr lang="en-US" altLang="ja-JP" dirty="0" err="1">
                <a:ea typeface="MS UI Gothic" panose="020B0600070205080204" pitchFamily="50" charset="-128"/>
              </a:rPr>
              <a:t>Mặc</a:t>
            </a:r>
            <a:r>
              <a:rPr lang="en-US" altLang="ja-JP" dirty="0">
                <a:ea typeface="MS UI Gothic" panose="020B0600070205080204" pitchFamily="50" charset="-128"/>
              </a:rPr>
              <a:t> dù </a:t>
            </a:r>
            <a:r>
              <a:rPr lang="en-US" altLang="ja-JP" dirty="0" err="1">
                <a:ea typeface="MS UI Gothic" panose="020B0600070205080204" pitchFamily="50" charset="-128"/>
              </a:rPr>
              <a:t>muốn</a:t>
            </a:r>
            <a:r>
              <a:rPr lang="en-US" altLang="ja-JP" dirty="0">
                <a:ea typeface="MS UI Gothic" panose="020B0600070205080204" pitchFamily="50" charset="-128"/>
              </a:rPr>
              <a:t> </a:t>
            </a:r>
            <a:r>
              <a:rPr lang="en-US" altLang="ja-JP" dirty="0" err="1">
                <a:ea typeface="MS UI Gothic" panose="020B0600070205080204" pitchFamily="50" charset="-128"/>
              </a:rPr>
              <a:t>tránh</a:t>
            </a:r>
            <a:r>
              <a:rPr lang="en-US" altLang="ja-JP" dirty="0">
                <a:ea typeface="MS UI Gothic" panose="020B0600070205080204" pitchFamily="50" charset="-128"/>
              </a:rPr>
              <a:t> </a:t>
            </a:r>
            <a:r>
              <a:rPr lang="en-US" altLang="ja-JP" dirty="0" err="1">
                <a:ea typeface="MS UI Gothic" panose="020B0600070205080204" pitchFamily="50" charset="-128"/>
              </a:rPr>
              <a:t>việc</a:t>
            </a:r>
            <a:r>
              <a:rPr lang="en-US" altLang="ja-JP" dirty="0">
                <a:ea typeface="MS UI Gothic" panose="020B0600070205080204" pitchFamily="50" charset="-128"/>
              </a:rPr>
              <a:t> </a:t>
            </a:r>
            <a:r>
              <a:rPr lang="en-US" altLang="ja-JP" dirty="0" err="1">
                <a:ea typeface="MS UI Gothic" panose="020B0600070205080204" pitchFamily="50" charset="-128"/>
              </a:rPr>
              <a:t>công</a:t>
            </a:r>
            <a:r>
              <a:rPr lang="en-US" altLang="ja-JP" dirty="0">
                <a:ea typeface="MS UI Gothic" panose="020B0600070205080204" pitchFamily="50" charset="-128"/>
              </a:rPr>
              <a:t> </a:t>
            </a:r>
            <a:r>
              <a:rPr lang="en-US" altLang="ja-JP" dirty="0" err="1">
                <a:ea typeface="MS UI Gothic" panose="020B0600070205080204" pitchFamily="50" charset="-128"/>
              </a:rPr>
              <a:t>khai</a:t>
            </a:r>
            <a:r>
              <a:rPr lang="en-US" altLang="ja-JP" dirty="0">
                <a:ea typeface="MS UI Gothic" panose="020B0600070205080204" pitchFamily="50" charset="-128"/>
              </a:rPr>
              <a:t> </a:t>
            </a:r>
            <a:r>
              <a:rPr lang="en-US" altLang="ja-JP" dirty="0" err="1">
                <a:ea typeface="MS UI Gothic" panose="020B0600070205080204" pitchFamily="50" charset="-128"/>
              </a:rPr>
              <a:t>ra</a:t>
            </a:r>
            <a:r>
              <a:rPr lang="en-US" altLang="ja-JP" dirty="0">
                <a:ea typeface="MS UI Gothic" panose="020B0600070205080204" pitchFamily="50" charset="-128"/>
              </a:rPr>
              <a:t> </a:t>
            </a:r>
            <a:r>
              <a:rPr lang="en-US" altLang="ja-JP" dirty="0" err="1">
                <a:ea typeface="MS UI Gothic" panose="020B0600070205080204" pitchFamily="50" charset="-128"/>
              </a:rPr>
              <a:t>bên</a:t>
            </a:r>
            <a:r>
              <a:rPr lang="en-US" altLang="ja-JP" dirty="0">
                <a:ea typeface="MS UI Gothic" panose="020B0600070205080204" pitchFamily="50" charset="-128"/>
              </a:rPr>
              <a:t> </a:t>
            </a:r>
            <a:r>
              <a:rPr lang="en-US" altLang="ja-JP" dirty="0" err="1">
                <a:ea typeface="MS UI Gothic" panose="020B0600070205080204" pitchFamily="50" charset="-128"/>
              </a:rPr>
              <a:t>ngoài</a:t>
            </a:r>
            <a:r>
              <a:rPr lang="en-US" altLang="ja-JP" dirty="0">
                <a:ea typeface="MS UI Gothic" panose="020B0600070205080204" pitchFamily="50" charset="-128"/>
              </a:rPr>
              <a:t> </a:t>
            </a:r>
            <a:r>
              <a:rPr lang="en-US" altLang="ja-JP" dirty="0" err="1">
                <a:ea typeface="MS UI Gothic" panose="020B0600070205080204" pitchFamily="50" charset="-128"/>
              </a:rPr>
              <a:t>nhưng</a:t>
            </a:r>
            <a:r>
              <a:rPr lang="en-US" altLang="ja-JP" dirty="0">
                <a:ea typeface="MS UI Gothic" panose="020B0600070205080204" pitchFamily="50" charset="-128"/>
              </a:rPr>
              <a:t> </a:t>
            </a:r>
            <a:r>
              <a:rPr lang="en-US" altLang="ja-JP" dirty="0" err="1">
                <a:ea typeface="MS UI Gothic" panose="020B0600070205080204" pitchFamily="50" charset="-128"/>
              </a:rPr>
              <a:t>khi</a:t>
            </a:r>
            <a:r>
              <a:rPr lang="en-US" altLang="ja-JP" dirty="0">
                <a:ea typeface="MS UI Gothic" panose="020B0600070205080204" pitchFamily="50" charset="-128"/>
              </a:rPr>
              <a:t> </a:t>
            </a:r>
            <a:r>
              <a:rPr lang="en-US" altLang="ja-JP" dirty="0" err="1">
                <a:ea typeface="MS UI Gothic" panose="020B0600070205080204" pitchFamily="50" charset="-128"/>
              </a:rPr>
              <a:t>định</a:t>
            </a:r>
            <a:r>
              <a:rPr lang="en-US" altLang="ja-JP" dirty="0">
                <a:ea typeface="MS UI Gothic" panose="020B0600070205080204" pitchFamily="50" charset="-128"/>
              </a:rPr>
              <a:t> </a:t>
            </a:r>
            <a:r>
              <a:rPr lang="en-US" altLang="ja-JP" dirty="0" err="1">
                <a:ea typeface="MS UI Gothic" panose="020B0600070205080204" pitchFamily="50" charset="-128"/>
              </a:rPr>
              <a:t>nghĩa</a:t>
            </a:r>
            <a:r>
              <a:rPr lang="en-US" altLang="ja-JP" dirty="0">
                <a:ea typeface="MS UI Gothic" panose="020B0600070205080204" pitchFamily="50" charset="-128"/>
              </a:rPr>
              <a:t> subclass, </a:t>
            </a:r>
            <a:r>
              <a:rPr lang="en-US" altLang="ja-JP" dirty="0" err="1">
                <a:ea typeface="MS UI Gothic" panose="020B0600070205080204" pitchFamily="50" charset="-128"/>
              </a:rPr>
              <a:t>trường</a:t>
            </a:r>
            <a:r>
              <a:rPr lang="en-US" altLang="ja-JP" dirty="0">
                <a:ea typeface="MS UI Gothic" panose="020B0600070205080204" pitchFamily="50" charset="-128"/>
              </a:rPr>
              <a:t> </a:t>
            </a:r>
            <a:r>
              <a:rPr lang="en-US" altLang="ja-JP" dirty="0" err="1">
                <a:ea typeface="MS UI Gothic" panose="020B0600070205080204" pitchFamily="50" charset="-128"/>
              </a:rPr>
              <a:t>hợp</a:t>
            </a:r>
            <a:r>
              <a:rPr lang="en-US" altLang="ja-JP" dirty="0">
                <a:ea typeface="MS UI Gothic" panose="020B0600070205080204" pitchFamily="50" charset="-128"/>
              </a:rPr>
              <a:t> có </a:t>
            </a:r>
            <a:r>
              <a:rPr lang="en-US" altLang="ja-JP" dirty="0" err="1">
                <a:ea typeface="MS UI Gothic" panose="020B0600070205080204" pitchFamily="50" charset="-128"/>
              </a:rPr>
              <a:t>thuộc</a:t>
            </a:r>
            <a:r>
              <a:rPr lang="en-US" altLang="ja-JP" dirty="0">
                <a:ea typeface="MS UI Gothic" panose="020B0600070205080204" pitchFamily="50" charset="-128"/>
              </a:rPr>
              <a:t> </a:t>
            </a:r>
            <a:r>
              <a:rPr lang="en-US" altLang="ja-JP" dirty="0" err="1">
                <a:ea typeface="MS UI Gothic" panose="020B0600070205080204" pitchFamily="50" charset="-128"/>
              </a:rPr>
              <a:t>tính</a:t>
            </a:r>
            <a:r>
              <a:rPr lang="en-US" altLang="ja-JP" dirty="0">
                <a:ea typeface="MS UI Gothic" panose="020B0600070205080204" pitchFamily="50" charset="-128"/>
              </a:rPr>
              <a:t> </a:t>
            </a:r>
            <a:r>
              <a:rPr lang="en-US" altLang="ja-JP" dirty="0" err="1">
                <a:ea typeface="MS UI Gothic" panose="020B0600070205080204" pitchFamily="50" charset="-128"/>
              </a:rPr>
              <a:t>va</a:t>
            </a:r>
            <a:r>
              <a:rPr lang="en-US" altLang="ja-JP" dirty="0">
                <a:ea typeface="MS UI Gothic" panose="020B0600070205080204" pitchFamily="50" charset="-128"/>
              </a:rPr>
              <a:t>̀ </a:t>
            </a:r>
            <a:r>
              <a:rPr lang="en-US" altLang="ja-JP" dirty="0" err="1">
                <a:ea typeface="MS UI Gothic" panose="020B0600070205080204" pitchFamily="50" charset="-128"/>
              </a:rPr>
              <a:t>thao</a:t>
            </a:r>
            <a:r>
              <a:rPr lang="en-US" altLang="ja-JP" dirty="0">
                <a:ea typeface="MS UI Gothic" panose="020B0600070205080204" pitchFamily="50" charset="-128"/>
              </a:rPr>
              <a:t> </a:t>
            </a:r>
            <a:r>
              <a:rPr lang="en-US" altLang="ja-JP" dirty="0" err="1">
                <a:ea typeface="MS UI Gothic" panose="020B0600070205080204" pitchFamily="50" charset="-128"/>
              </a:rPr>
              <a:t>tác</a:t>
            </a:r>
            <a:r>
              <a:rPr lang="en-US" altLang="ja-JP" dirty="0">
                <a:ea typeface="MS UI Gothic" panose="020B0600070205080204" pitchFamily="50" charset="-128"/>
              </a:rPr>
              <a:t> </a:t>
            </a:r>
            <a:r>
              <a:rPr lang="en-US" altLang="ja-JP" dirty="0" err="1">
                <a:ea typeface="MS UI Gothic" panose="020B0600070205080204" pitchFamily="50" charset="-128"/>
              </a:rPr>
              <a:t>của</a:t>
            </a:r>
            <a:r>
              <a:rPr lang="en-US" altLang="ja-JP" dirty="0">
                <a:ea typeface="MS UI Gothic" panose="020B0600070205080204" pitchFamily="50" charset="-128"/>
              </a:rPr>
              <a:t> super class </a:t>
            </a:r>
            <a:r>
              <a:rPr lang="en-US" altLang="ja-JP" dirty="0" err="1">
                <a:ea typeface="MS UI Gothic" panose="020B0600070205080204" pitchFamily="50" charset="-128"/>
              </a:rPr>
              <a:t>muốn</a:t>
            </a:r>
            <a:r>
              <a:rPr lang="en-US" altLang="ja-JP" dirty="0">
                <a:ea typeface="MS UI Gothic" panose="020B0600070205080204" pitchFamily="50" charset="-128"/>
              </a:rPr>
              <a:t> access </a:t>
            </a:r>
            <a:r>
              <a:rPr lang="en-US" altLang="ja-JP" dirty="0" err="1">
                <a:ea typeface="MS UI Gothic" panose="020B0600070205080204" pitchFamily="50" charset="-128"/>
              </a:rPr>
              <a:t>trực</a:t>
            </a:r>
            <a:r>
              <a:rPr lang="en-US" altLang="ja-JP" dirty="0">
                <a:ea typeface="MS UI Gothic" panose="020B0600070205080204" pitchFamily="50" charset="-128"/>
              </a:rPr>
              <a:t> </a:t>
            </a:r>
            <a:r>
              <a:rPr lang="en-US" altLang="ja-JP" dirty="0" err="1">
                <a:ea typeface="MS UI Gothic" panose="020B0600070205080204" pitchFamily="50" charset="-128"/>
              </a:rPr>
              <a:t>tiếp</a:t>
            </a:r>
            <a:r>
              <a:rPr lang="en-US" altLang="ja-JP" dirty="0">
                <a:ea typeface="MS UI Gothic" panose="020B0600070205080204" pitchFamily="50" charset="-128"/>
              </a:rPr>
              <a:t> </a:t>
            </a:r>
            <a:r>
              <a:rPr lang="en-US" altLang="ja-JP" dirty="0" err="1">
                <a:ea typeface="MS UI Gothic" panose="020B0600070205080204" pitchFamily="50" charset="-128"/>
              </a:rPr>
              <a:t>thi</a:t>
            </a:r>
            <a:r>
              <a:rPr lang="en-US" altLang="ja-JP" dirty="0">
                <a:ea typeface="MS UI Gothic" panose="020B0600070205080204" pitchFamily="50" charset="-128"/>
              </a:rPr>
              <a:t>̀ </a:t>
            </a:r>
            <a:r>
              <a:rPr lang="en-US" altLang="ja-JP" dirty="0" err="1">
                <a:ea typeface="MS UI Gothic" panose="020B0600070205080204" pitchFamily="50" charset="-128"/>
              </a:rPr>
              <a:t>sẽ</a:t>
            </a:r>
            <a:r>
              <a:rPr lang="en-US" altLang="ja-JP" dirty="0">
                <a:ea typeface="MS UI Gothic" panose="020B0600070205080204" pitchFamily="50" charset="-128"/>
              </a:rPr>
              <a:t> chỉ </a:t>
            </a:r>
            <a:r>
              <a:rPr lang="en-US" altLang="ja-JP" dirty="0" err="1">
                <a:ea typeface="MS UI Gothic" panose="020B0600070205080204" pitchFamily="50" charset="-128"/>
              </a:rPr>
              <a:t>định</a:t>
            </a:r>
            <a:r>
              <a:rPr lang="en-US" altLang="ja-JP" dirty="0">
                <a:ea typeface="MS UI Gothic" panose="020B0600070205080204" pitchFamily="50" charset="-128"/>
              </a:rPr>
              <a:t> protected modifier.</a:t>
            </a:r>
          </a:p>
          <a:p>
            <a:endParaRPr lang="en-US" altLang="ja-JP" dirty="0">
              <a:ea typeface="MS UI Gothic" panose="020B0600070205080204" pitchFamily="50" charset="-128"/>
            </a:endParaRPr>
          </a:p>
          <a:p>
            <a:endParaRPr lang="ja-JP" altLang="en-US" dirty="0"/>
          </a:p>
        </p:txBody>
      </p:sp>
      <p:sp>
        <p:nvSpPr>
          <p:cNvPr id="5" name="Slide Number Placeholder 4">
            <a:extLst>
              <a:ext uri="{FF2B5EF4-FFF2-40B4-BE49-F238E27FC236}">
                <a16:creationId xmlns:a16="http://schemas.microsoft.com/office/drawing/2014/main" id="{7CED7D88-0E56-7AA7-0112-AD3554A8D02E}"/>
              </a:ext>
            </a:extLst>
          </p:cNvPr>
          <p:cNvSpPr>
            <a:spLocks noGrp="1"/>
          </p:cNvSpPr>
          <p:nvPr>
            <p:ph type="sldNum" sz="quarter" idx="11"/>
          </p:nvPr>
        </p:nvSpPr>
        <p:spPr/>
        <p:txBody>
          <a:bodyPr/>
          <a:lstStyle/>
          <a:p>
            <a:fld id="{6A23C60C-6516-4562-9893-F36504E29111}" type="slidenum">
              <a:rPr lang="en-US" altLang="ja-JP" smtClean="0"/>
              <a:pPr/>
              <a:t>5</a:t>
            </a:fld>
            <a:endParaRPr lang="en-US" altLang="ja-JP"/>
          </a:p>
        </p:txBody>
      </p:sp>
      <p:sp>
        <p:nvSpPr>
          <p:cNvPr id="11" name="Text Box 4">
            <a:extLst>
              <a:ext uri="{FF2B5EF4-FFF2-40B4-BE49-F238E27FC236}">
                <a16:creationId xmlns:a16="http://schemas.microsoft.com/office/drawing/2014/main" id="{B18726CE-918F-0111-403D-4BA77F8BEF5C}"/>
              </a:ext>
            </a:extLst>
          </p:cNvPr>
          <p:cNvSpPr txBox="1">
            <a:spLocks noChangeArrowheads="1"/>
          </p:cNvSpPr>
          <p:nvPr/>
        </p:nvSpPr>
        <p:spPr bwMode="auto">
          <a:xfrm>
            <a:off x="609600" y="2286000"/>
            <a:ext cx="8915400" cy="205740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defTabSz="442913">
              <a:defRPr kumimoji="1">
                <a:solidFill>
                  <a:schemeClr val="tx1"/>
                </a:solidFill>
                <a:latin typeface="Arial" panose="020B0604020202020204" pitchFamily="34" charset="0"/>
                <a:ea typeface="ＭＳ Ｐゴシック" panose="020B0600070205080204" pitchFamily="50" charset="-128"/>
              </a:defRPr>
            </a:lvl1pPr>
            <a:lvl2pPr marL="179388" defTabSz="442913">
              <a:defRPr kumimoji="1">
                <a:solidFill>
                  <a:schemeClr val="tx1"/>
                </a:solidFill>
                <a:latin typeface="Arial" panose="020B0604020202020204" pitchFamily="34" charset="0"/>
                <a:ea typeface="ＭＳ Ｐゴシック" panose="020B0600070205080204" pitchFamily="50" charset="-128"/>
              </a:defRPr>
            </a:lvl2pPr>
            <a:lvl3pPr marL="954088" defTabSz="442913">
              <a:defRPr kumimoji="1">
                <a:solidFill>
                  <a:schemeClr val="tx1"/>
                </a:solidFill>
                <a:latin typeface="Arial" panose="020B0604020202020204" pitchFamily="34" charset="0"/>
                <a:ea typeface="ＭＳ Ｐゴシック" panose="020B0600070205080204" pitchFamily="50" charset="-128"/>
              </a:defRPr>
            </a:lvl3pPr>
            <a:lvl4pPr marL="1431925" defTabSz="442913">
              <a:defRPr kumimoji="1">
                <a:solidFill>
                  <a:schemeClr val="tx1"/>
                </a:solidFill>
                <a:latin typeface="Arial" panose="020B0604020202020204" pitchFamily="34" charset="0"/>
                <a:ea typeface="ＭＳ Ｐゴシック" panose="020B0600070205080204" pitchFamily="50" charset="-128"/>
              </a:defRPr>
            </a:lvl4pPr>
            <a:lvl5pPr marL="1909763" defTabSz="442913">
              <a:defRPr kumimoji="1">
                <a:solidFill>
                  <a:schemeClr val="tx1"/>
                </a:solidFill>
                <a:latin typeface="Arial" panose="020B0604020202020204" pitchFamily="34" charset="0"/>
                <a:ea typeface="ＭＳ Ｐゴシック" panose="020B0600070205080204" pitchFamily="50" charset="-128"/>
              </a:defRPr>
            </a:lvl5pPr>
            <a:lvl6pPr marL="2366963" defTabSz="4429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4429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4429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442913"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spcAft>
                <a:spcPct val="40000"/>
              </a:spcAft>
            </a:pPr>
            <a:r>
              <a:rPr lang="ja-JP" altLang="ja-JP" b="0" dirty="0">
                <a:ea typeface="ＭＳ ゴシック" panose="020B0609070205080204" pitchFamily="49" charset="-128"/>
              </a:rPr>
              <a:t>public Employee class {　　　　</a:t>
            </a:r>
          </a:p>
          <a:p>
            <a:pPr lvl="1" algn="just">
              <a:spcAft>
                <a:spcPct val="40000"/>
              </a:spcAft>
            </a:pPr>
            <a:r>
              <a:rPr lang="ja-JP" altLang="en-US" b="0" dirty="0">
                <a:ea typeface="ＭＳ ゴシック" panose="020B0609070205080204" pitchFamily="49" charset="-128"/>
              </a:rPr>
              <a:t>    </a:t>
            </a:r>
            <a:r>
              <a:rPr lang="en-US" altLang="ja-JP" b="0" dirty="0">
                <a:ea typeface="ＭＳ ゴシック" panose="020B0609070205080204" pitchFamily="49" charset="-128"/>
              </a:rPr>
              <a:t>protected String </a:t>
            </a:r>
            <a:r>
              <a:rPr lang="en-US" altLang="ja-JP" b="0" dirty="0" err="1">
                <a:ea typeface="ＭＳ ゴシック" panose="020B0609070205080204" pitchFamily="49" charset="-128"/>
              </a:rPr>
              <a:t>empId</a:t>
            </a:r>
            <a:r>
              <a:rPr lang="en-US" altLang="ja-JP" b="0" dirty="0">
                <a:ea typeface="ＭＳ ゴシック" panose="020B0609070205080204" pitchFamily="49" charset="-128"/>
              </a:rPr>
              <a:t>;   		</a:t>
            </a:r>
          </a:p>
          <a:p>
            <a:pPr lvl="1" algn="just">
              <a:spcAft>
                <a:spcPct val="40000"/>
              </a:spcAft>
            </a:pPr>
            <a:r>
              <a:rPr lang="en-US" altLang="ja-JP" b="0" dirty="0">
                <a:ea typeface="ＭＳ ゴシック" panose="020B0609070205080204" pitchFamily="49" charset="-128"/>
              </a:rPr>
              <a:t>    protected String </a:t>
            </a:r>
            <a:r>
              <a:rPr lang="en-US" altLang="ja-JP" b="0" dirty="0" err="1">
                <a:ea typeface="ＭＳ ゴシック" panose="020B0609070205080204" pitchFamily="49" charset="-128"/>
              </a:rPr>
              <a:t>empName</a:t>
            </a:r>
            <a:r>
              <a:rPr lang="en-US" altLang="ja-JP" b="0" dirty="0">
                <a:ea typeface="ＭＳ ゴシック" panose="020B0609070205080204" pitchFamily="49" charset="-128"/>
              </a:rPr>
              <a:t>; 	</a:t>
            </a:r>
          </a:p>
          <a:p>
            <a:pPr lvl="1" algn="just">
              <a:spcAft>
                <a:spcPct val="40000"/>
              </a:spcAft>
            </a:pPr>
            <a:r>
              <a:rPr lang="en-US" altLang="ja-JP" b="0" dirty="0">
                <a:ea typeface="ＭＳ ゴシック" panose="020B0609070205080204" pitchFamily="49" charset="-128"/>
              </a:rPr>
              <a:t>		</a:t>
            </a:r>
            <a:r>
              <a:rPr lang="ja-JP" altLang="en-US" b="0" dirty="0">
                <a:ea typeface="ＭＳ ゴシック" panose="020B0609070205080204" pitchFamily="49" charset="-128"/>
              </a:rPr>
              <a:t>（</a:t>
            </a:r>
            <a:r>
              <a:rPr lang="en-US" altLang="ja-JP" b="0" dirty="0" err="1">
                <a:ea typeface="ＭＳ ゴシック" panose="020B0609070205080204" pitchFamily="49" charset="-128"/>
              </a:rPr>
              <a:t>Lược</a:t>
            </a:r>
            <a:r>
              <a:rPr lang="ja-JP" altLang="en-US" b="0" dirty="0">
                <a:ea typeface="ＭＳ ゴシック" panose="020B0609070205080204" pitchFamily="49" charset="-128"/>
              </a:rPr>
              <a:t>）</a:t>
            </a:r>
          </a:p>
          <a:p>
            <a:pPr lvl="1" algn="just">
              <a:spcAft>
                <a:spcPct val="40000"/>
              </a:spcAft>
            </a:pPr>
            <a:r>
              <a:rPr lang="ja-JP" altLang="ja-JP" b="0" dirty="0">
                <a:ea typeface="ＭＳ ゴシック" panose="020B0609070205080204" pitchFamily="49" charset="-128"/>
              </a:rPr>
              <a:t>}</a:t>
            </a:r>
          </a:p>
        </p:txBody>
      </p:sp>
      <p:sp>
        <p:nvSpPr>
          <p:cNvPr id="13" name="Rectangle 51">
            <a:extLst>
              <a:ext uri="{FF2B5EF4-FFF2-40B4-BE49-F238E27FC236}">
                <a16:creationId xmlns:a16="http://schemas.microsoft.com/office/drawing/2014/main" id="{01B2EEC9-2C37-93CD-A8D7-2DCB0F097D6A}"/>
              </a:ext>
            </a:extLst>
          </p:cNvPr>
          <p:cNvSpPr>
            <a:spLocks noChangeArrowheads="1"/>
          </p:cNvSpPr>
          <p:nvPr/>
        </p:nvSpPr>
        <p:spPr bwMode="auto">
          <a:xfrm>
            <a:off x="914400" y="2598533"/>
            <a:ext cx="2719388" cy="754268"/>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15" name="AutoShape 52">
            <a:extLst>
              <a:ext uri="{FF2B5EF4-FFF2-40B4-BE49-F238E27FC236}">
                <a16:creationId xmlns:a16="http://schemas.microsoft.com/office/drawing/2014/main" id="{69034AA3-9062-B3A3-3FDE-CB7F101B8E17}"/>
              </a:ext>
            </a:extLst>
          </p:cNvPr>
          <p:cNvSpPr>
            <a:spLocks noChangeArrowheads="1"/>
          </p:cNvSpPr>
          <p:nvPr/>
        </p:nvSpPr>
        <p:spPr bwMode="auto">
          <a:xfrm>
            <a:off x="4550608" y="2555875"/>
            <a:ext cx="4876800" cy="1746250"/>
          </a:xfrm>
          <a:prstGeom prst="wedgeRoundRectCallout">
            <a:avLst>
              <a:gd name="adj1" fmla="val -67458"/>
              <a:gd name="adj2" fmla="val -20199"/>
              <a:gd name="adj3" fmla="val 16667"/>
            </a:avLst>
          </a:prstGeom>
          <a:solidFill>
            <a:srgbClr val="FFFF99"/>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3" tIns="19046"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ja-JP" altLang="en-US" b="0" dirty="0">
                <a:latin typeface="ＭＳ ゴシック" panose="020B0609070205080204" pitchFamily="49" charset="-128"/>
                <a:ea typeface="ＭＳ ゴシック" panose="020B0609070205080204" pitchFamily="49" charset="-128"/>
              </a:rPr>
              <a:t>・</a:t>
            </a:r>
            <a:r>
              <a:rPr lang="en-US" altLang="ja-JP" b="0" dirty="0" err="1">
                <a:ea typeface="ＭＳ ゴシック" panose="020B0609070205080204" pitchFamily="49" charset="-128"/>
              </a:rPr>
              <a:t>Nếu</a:t>
            </a:r>
            <a:r>
              <a:rPr lang="en-US" altLang="ja-JP" b="0" dirty="0">
                <a:ea typeface="ＭＳ ゴシック" panose="020B0609070205080204" pitchFamily="49" charset="-128"/>
              </a:rPr>
              <a:t> chỉ </a:t>
            </a:r>
            <a:r>
              <a:rPr lang="en-US" altLang="ja-JP" b="0" dirty="0" err="1">
                <a:ea typeface="ＭＳ ゴシック" panose="020B0609070205080204" pitchFamily="49" charset="-128"/>
              </a:rPr>
              <a:t>định</a:t>
            </a:r>
            <a:r>
              <a:rPr lang="en-US" altLang="ja-JP" b="0" dirty="0">
                <a:ea typeface="ＭＳ ゴシック" panose="020B0609070205080204" pitchFamily="49" charset="-128"/>
              </a:rPr>
              <a:t> là</a:t>
            </a:r>
            <a:r>
              <a:rPr lang="ja-JP" altLang="en-US" b="0" dirty="0">
                <a:ea typeface="ＭＳ ゴシック" panose="020B0609070205080204" pitchFamily="49" charset="-128"/>
              </a:rPr>
              <a:t>「</a:t>
            </a:r>
            <a:r>
              <a:rPr lang="en-US" altLang="ja-JP" b="0" dirty="0">
                <a:ea typeface="ＭＳ ゴシック" panose="020B0609070205080204" pitchFamily="49" charset="-128"/>
              </a:rPr>
              <a:t>private String </a:t>
            </a:r>
            <a:r>
              <a:rPr lang="en-US" altLang="ja-JP" b="0" dirty="0" err="1">
                <a:ea typeface="ＭＳ ゴシック" panose="020B0609070205080204" pitchFamily="49" charset="-128"/>
              </a:rPr>
              <a:t>empId</a:t>
            </a:r>
            <a:r>
              <a:rPr lang="ja-JP" altLang="en-US" b="0" dirty="0">
                <a:ea typeface="ＭＳ ゴシック" panose="020B0609070205080204" pitchFamily="49" charset="-128"/>
              </a:rPr>
              <a:t>」</a:t>
            </a:r>
            <a:r>
              <a:rPr lang="en-US" altLang="ja-JP" b="0" dirty="0" err="1">
                <a:ea typeface="ＭＳ ゴシック" panose="020B0609070205080204" pitchFamily="49" charset="-128"/>
              </a:rPr>
              <a:t>thi</a:t>
            </a:r>
            <a:r>
              <a:rPr lang="en-US" altLang="ja-JP" b="0" dirty="0">
                <a:ea typeface="ＭＳ ゴシック" panose="020B0609070205080204" pitchFamily="49" charset="-128"/>
              </a:rPr>
              <a:t>̀ </a:t>
            </a:r>
            <a:r>
              <a:rPr lang="en-US" altLang="ja-JP" b="0" dirty="0" err="1">
                <a:ea typeface="ＭＳ ゴシック" panose="020B0609070205080204" pitchFamily="49" charset="-128"/>
              </a:rPr>
              <a:t>không</a:t>
            </a:r>
            <a:r>
              <a:rPr lang="en-US" altLang="ja-JP" b="0" dirty="0">
                <a:ea typeface="ＭＳ ゴシック" panose="020B0609070205080204" pitchFamily="49" charset="-128"/>
              </a:rPr>
              <a:t> </a:t>
            </a:r>
            <a:r>
              <a:rPr lang="en-US" altLang="ja-JP" b="0" dirty="0" err="1">
                <a:ea typeface="ＭＳ ゴシック" panose="020B0609070205080204" pitchFamily="49" charset="-128"/>
              </a:rPr>
              <a:t>thê</a:t>
            </a:r>
            <a:r>
              <a:rPr lang="en-US" altLang="ja-JP" b="0" dirty="0">
                <a:ea typeface="ＭＳ ゴシック" panose="020B0609070205080204" pitchFamily="49" charset="-128"/>
              </a:rPr>
              <a:t>̉ access </a:t>
            </a:r>
            <a:r>
              <a:rPr lang="en-US" altLang="ja-JP" b="0" dirty="0" err="1">
                <a:ea typeface="ＭＳ ゴシック" panose="020B0609070205080204" pitchFamily="49" charset="-128"/>
              </a:rPr>
              <a:t>trực</a:t>
            </a:r>
            <a:r>
              <a:rPr lang="en-US" altLang="ja-JP" b="0" dirty="0">
                <a:ea typeface="ＭＳ ゴシック" panose="020B0609070205080204" pitchFamily="49" charset="-128"/>
              </a:rPr>
              <a:t> </a:t>
            </a:r>
            <a:r>
              <a:rPr lang="en-US" altLang="ja-JP" b="0" dirty="0" err="1">
                <a:ea typeface="ＭＳ ゴシック" panose="020B0609070205080204" pitchFamily="49" charset="-128"/>
              </a:rPr>
              <a:t>tiếp</a:t>
            </a:r>
            <a:r>
              <a:rPr lang="en-US" altLang="ja-JP" b="0" dirty="0">
                <a:ea typeface="ＭＳ ゴシック" panose="020B0609070205080204" pitchFamily="49" charset="-128"/>
              </a:rPr>
              <a:t> </a:t>
            </a:r>
            <a:r>
              <a:rPr lang="en-US" altLang="ja-JP" b="0" dirty="0" err="1">
                <a:ea typeface="ＭＳ ゴシック" panose="020B0609070205080204" pitchFamily="49" charset="-128"/>
              </a:rPr>
              <a:t>trong</a:t>
            </a:r>
            <a:r>
              <a:rPr lang="en-US" altLang="ja-JP" b="0" dirty="0">
                <a:ea typeface="ＭＳ ゴシック" panose="020B0609070205080204" pitchFamily="49" charset="-128"/>
              </a:rPr>
              <a:t> constructor </a:t>
            </a:r>
            <a:r>
              <a:rPr lang="en-US" altLang="ja-JP" b="0" dirty="0" err="1">
                <a:ea typeface="ＭＳ ゴシック" panose="020B0609070205080204" pitchFamily="49" charset="-128"/>
              </a:rPr>
              <a:t>của</a:t>
            </a:r>
            <a:r>
              <a:rPr lang="en-US" altLang="ja-JP" b="0" dirty="0">
                <a:ea typeface="ＭＳ ゴシック" panose="020B0609070205080204" pitchFamily="49" charset="-128"/>
              </a:rPr>
              <a:t> Sales class </a:t>
            </a:r>
            <a:r>
              <a:rPr lang="en-US" altLang="ja-JP" b="0" dirty="0" err="1">
                <a:ea typeface="ＭＳ ゴシック" panose="020B0609070205080204" pitchFamily="49" charset="-128"/>
              </a:rPr>
              <a:t>va</a:t>
            </a:r>
            <a:r>
              <a:rPr lang="en-US" altLang="ja-JP" b="0" dirty="0">
                <a:ea typeface="ＭＳ ゴシック" panose="020B0609070205080204" pitchFamily="49" charset="-128"/>
              </a:rPr>
              <a:t>̀ class SE</a:t>
            </a:r>
          </a:p>
          <a:p>
            <a:r>
              <a:rPr lang="ja-JP" altLang="en-US" b="0" dirty="0">
                <a:ea typeface="ＭＳ ゴシック" panose="020B0609070205080204" pitchFamily="49" charset="-128"/>
              </a:rPr>
              <a:t>・</a:t>
            </a:r>
            <a:r>
              <a:rPr lang="en-US" altLang="ja-JP" b="0" dirty="0" err="1">
                <a:ea typeface="ＭＳ ゴシック" panose="020B0609070205080204" pitchFamily="49" charset="-128"/>
              </a:rPr>
              <a:t>Nếu</a:t>
            </a:r>
            <a:r>
              <a:rPr lang="en-US" altLang="ja-JP" b="0" dirty="0">
                <a:ea typeface="ＭＳ ゴシック" panose="020B0609070205080204" pitchFamily="49" charset="-128"/>
              </a:rPr>
              <a:t> chỉ </a:t>
            </a:r>
            <a:r>
              <a:rPr lang="en-US" altLang="ja-JP" b="0" dirty="0" err="1">
                <a:ea typeface="ＭＳ ゴシック" panose="020B0609070205080204" pitchFamily="49" charset="-128"/>
              </a:rPr>
              <a:t>định</a:t>
            </a:r>
            <a:r>
              <a:rPr lang="en-US" altLang="ja-JP" b="0" dirty="0">
                <a:ea typeface="ＭＳ ゴシック" panose="020B0609070205080204" pitchFamily="49" charset="-128"/>
              </a:rPr>
              <a:t> là</a:t>
            </a:r>
            <a:r>
              <a:rPr lang="ja-JP" altLang="en-US" b="0" dirty="0">
                <a:ea typeface="ＭＳ ゴシック" panose="020B0609070205080204" pitchFamily="49" charset="-128"/>
              </a:rPr>
              <a:t>「</a:t>
            </a:r>
            <a:r>
              <a:rPr lang="en-US" altLang="ja-JP" b="0" dirty="0">
                <a:ea typeface="ＭＳ ゴシック" panose="020B0609070205080204" pitchFamily="49" charset="-128"/>
              </a:rPr>
              <a:t>protected String </a:t>
            </a:r>
            <a:r>
              <a:rPr lang="en-US" altLang="ja-JP" b="0" dirty="0" err="1">
                <a:ea typeface="ＭＳ ゴシック" panose="020B0609070205080204" pitchFamily="49" charset="-128"/>
              </a:rPr>
              <a:t>empID</a:t>
            </a:r>
            <a:r>
              <a:rPr lang="ja-JP" altLang="en-US" b="0" dirty="0">
                <a:ea typeface="ＭＳ ゴシック" panose="020B0609070205080204" pitchFamily="49" charset="-128"/>
              </a:rPr>
              <a:t>」</a:t>
            </a:r>
            <a:r>
              <a:rPr lang="en-US" altLang="ja-JP" b="0" dirty="0" err="1">
                <a:ea typeface="ＭＳ ゴシック" panose="020B0609070205080204" pitchFamily="49" charset="-128"/>
              </a:rPr>
              <a:t>thi</a:t>
            </a:r>
            <a:r>
              <a:rPr lang="en-US" altLang="ja-JP" b="0" dirty="0">
                <a:ea typeface="ＭＳ ゴシック" panose="020B0609070205080204" pitchFamily="49" charset="-128"/>
              </a:rPr>
              <a:t>̀ có </a:t>
            </a:r>
            <a:r>
              <a:rPr lang="en-US" altLang="ja-JP" b="0" dirty="0" err="1">
                <a:ea typeface="ＭＳ ゴシック" panose="020B0609070205080204" pitchFamily="49" charset="-128"/>
              </a:rPr>
              <a:t>thê</a:t>
            </a:r>
            <a:r>
              <a:rPr lang="en-US" altLang="ja-JP" b="0" dirty="0">
                <a:ea typeface="ＭＳ ゴシック" panose="020B0609070205080204" pitchFamily="49" charset="-128"/>
              </a:rPr>
              <a:t>̉ </a:t>
            </a:r>
            <a:r>
              <a:rPr lang="en-US" altLang="ja-JP" b="0" dirty="0">
                <a:ea typeface="MS UI Gothic" panose="020B0600070205080204" pitchFamily="50" charset="-128"/>
              </a:rPr>
              <a:t>access </a:t>
            </a:r>
            <a:r>
              <a:rPr lang="en-US" altLang="ja-JP" b="0" dirty="0" err="1">
                <a:ea typeface="MS UI Gothic" panose="020B0600070205080204" pitchFamily="50" charset="-128"/>
              </a:rPr>
              <a:t>trực</a:t>
            </a:r>
            <a:r>
              <a:rPr lang="en-US" altLang="ja-JP" b="0" dirty="0">
                <a:ea typeface="MS UI Gothic" panose="020B0600070205080204" pitchFamily="50" charset="-128"/>
              </a:rPr>
              <a:t> </a:t>
            </a:r>
            <a:r>
              <a:rPr lang="en-US" altLang="ja-JP" b="0" dirty="0" err="1">
                <a:ea typeface="MS UI Gothic" panose="020B0600070205080204" pitchFamily="50" charset="-128"/>
              </a:rPr>
              <a:t>tiếp</a:t>
            </a:r>
            <a:r>
              <a:rPr lang="en-US" altLang="ja-JP" b="0" dirty="0">
                <a:ea typeface="MS UI Gothic" panose="020B0600070205080204" pitchFamily="50" charset="-128"/>
              </a:rPr>
              <a:t> </a:t>
            </a:r>
            <a:r>
              <a:rPr lang="en-US" altLang="ja-JP" b="0" dirty="0" err="1">
                <a:ea typeface="MS UI Gothic" panose="020B0600070205080204" pitchFamily="50" charset="-128"/>
              </a:rPr>
              <a:t>trong</a:t>
            </a:r>
            <a:r>
              <a:rPr lang="en-US" altLang="ja-JP" b="0" dirty="0">
                <a:ea typeface="MS UI Gothic" panose="020B0600070205080204" pitchFamily="50" charset="-128"/>
              </a:rPr>
              <a:t> constructor </a:t>
            </a:r>
            <a:r>
              <a:rPr lang="en-US" altLang="ja-JP" b="0" dirty="0" err="1">
                <a:ea typeface="MS UI Gothic" panose="020B0600070205080204" pitchFamily="50" charset="-128"/>
              </a:rPr>
              <a:t>của</a:t>
            </a:r>
            <a:r>
              <a:rPr lang="en-US" altLang="ja-JP" b="0" dirty="0">
                <a:ea typeface="MS UI Gothic" panose="020B0600070205080204" pitchFamily="50" charset="-128"/>
              </a:rPr>
              <a:t> Sales class </a:t>
            </a:r>
            <a:r>
              <a:rPr lang="en-US" altLang="ja-JP" b="0" dirty="0" err="1">
                <a:ea typeface="MS UI Gothic" panose="020B0600070205080204" pitchFamily="50" charset="-128"/>
              </a:rPr>
              <a:t>va</a:t>
            </a:r>
            <a:r>
              <a:rPr lang="en-US" altLang="ja-JP" b="0" dirty="0">
                <a:ea typeface="MS UI Gothic" panose="020B0600070205080204" pitchFamily="50" charset="-128"/>
              </a:rPr>
              <a:t>̀ class SE</a:t>
            </a:r>
            <a:endParaRPr lang="en-US" altLang="ja-JP" b="0" dirty="0">
              <a:ea typeface="ＭＳ ゴシック" panose="020B0609070205080204" pitchFamily="49" charset="-128"/>
            </a:endParaRPr>
          </a:p>
        </p:txBody>
      </p:sp>
    </p:spTree>
    <p:extLst>
      <p:ext uri="{BB962C8B-B14F-4D97-AF65-F5344CB8AC3E}">
        <p14:creationId xmlns:p14="http://schemas.microsoft.com/office/powerpoint/2010/main" val="3655759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1792CBEA-30FC-8C1E-3B9B-C3E95DF081E5}"/>
              </a:ext>
            </a:extLst>
          </p:cNvPr>
          <p:cNvSpPr>
            <a:spLocks noGrp="1"/>
          </p:cNvSpPr>
          <p:nvPr>
            <p:ph type="sldNum" sz="quarter" idx="10"/>
          </p:nvPr>
        </p:nvSpPr>
        <p:spPr/>
        <p:txBody>
          <a:bodyPr/>
          <a:lstStyle/>
          <a:p>
            <a:fld id="{180B937D-C29D-4743-9980-2435EEBD7DBD}" type="slidenum">
              <a:rPr lang="en-US" altLang="ja-JP"/>
              <a:pPr/>
              <a:t>6</a:t>
            </a:fld>
            <a:endParaRPr lang="en-US" altLang="ja-JP"/>
          </a:p>
        </p:txBody>
      </p:sp>
      <p:sp>
        <p:nvSpPr>
          <p:cNvPr id="501762" name="Rectangle 2">
            <a:extLst>
              <a:ext uri="{FF2B5EF4-FFF2-40B4-BE49-F238E27FC236}">
                <a16:creationId xmlns:a16="http://schemas.microsoft.com/office/drawing/2014/main" id="{5A4A262A-F714-2E07-FB09-5914EB328679}"/>
              </a:ext>
            </a:extLst>
          </p:cNvPr>
          <p:cNvSpPr>
            <a:spLocks noGrp="1" noChangeArrowheads="1"/>
          </p:cNvSpPr>
          <p:nvPr>
            <p:ph type="title"/>
          </p:nvPr>
        </p:nvSpPr>
        <p:spPr>
          <a:xfrm>
            <a:off x="340716" y="282576"/>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Định </a:t>
            </a:r>
            <a:r>
              <a:rPr lang="en-US" altLang="ja-JP" dirty="0" err="1">
                <a:latin typeface="Arial" panose="020B0604020202020204" pitchFamily="34" charset="0"/>
                <a:ea typeface="MS UI Gothic" panose="020B0600070205080204" pitchFamily="50" charset="-128"/>
              </a:rPr>
              <a:t>nghĩa</a:t>
            </a:r>
            <a:r>
              <a:rPr lang="en-US" altLang="ja-JP" dirty="0">
                <a:latin typeface="Arial" panose="020B0604020202020204" pitchFamily="34" charset="0"/>
                <a:ea typeface="MS UI Gothic" panose="020B0600070205080204" pitchFamily="50" charset="-128"/>
              </a:rPr>
              <a:t> sub class (1)</a:t>
            </a:r>
          </a:p>
        </p:txBody>
      </p:sp>
      <p:sp>
        <p:nvSpPr>
          <p:cNvPr id="501763" name="Rectangle 3">
            <a:extLst>
              <a:ext uri="{FF2B5EF4-FFF2-40B4-BE49-F238E27FC236}">
                <a16:creationId xmlns:a16="http://schemas.microsoft.com/office/drawing/2014/main" id="{ED4C606E-B5EC-3669-DB91-E25CF3C92B50}"/>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501764" name="Rectangle 4">
            <a:extLst>
              <a:ext uri="{FF2B5EF4-FFF2-40B4-BE49-F238E27FC236}">
                <a16:creationId xmlns:a16="http://schemas.microsoft.com/office/drawing/2014/main" id="{E90C7600-1F99-E2A9-889F-891F2C45BEC3}"/>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1600" b="0">
                <a:latin typeface="Arial" panose="020B0604020202020204" pitchFamily="34" charset="0"/>
              </a:rPr>
              <a:t>Định nghĩa sub class</a:t>
            </a:r>
          </a:p>
          <a:p>
            <a:pPr>
              <a:spcBef>
                <a:spcPct val="50000"/>
              </a:spcBef>
              <a:buFont typeface="Wingdings" panose="05000000000000000000" pitchFamily="2" charset="2"/>
              <a:buNone/>
            </a:pPr>
            <a:r>
              <a:rPr lang="en-US" altLang="ja-JP" sz="1600" b="0">
                <a:solidFill>
                  <a:srgbClr val="E10000"/>
                </a:solidFill>
                <a:latin typeface="Arial" panose="020B0604020202020204" pitchFamily="34" charset="0"/>
              </a:rPr>
              <a:t>●Point</a:t>
            </a:r>
            <a:r>
              <a:rPr lang="ja-JP" altLang="en-US" sz="1600" b="0">
                <a:solidFill>
                  <a:srgbClr val="E10000"/>
                </a:solidFill>
                <a:latin typeface="Arial" panose="020B0604020202020204" pitchFamily="34" charset="0"/>
              </a:rPr>
              <a:t>（「</a:t>
            </a:r>
            <a:r>
              <a:rPr lang="en-US" altLang="ja-JP" sz="1600" b="0">
                <a:solidFill>
                  <a:srgbClr val="E10000"/>
                </a:solidFill>
                <a:latin typeface="Arial" panose="020B0604020202020204" pitchFamily="34" charset="0"/>
              </a:rPr>
              <a:t>Những khả năng thực hiện ở sub class</a:t>
            </a:r>
            <a:r>
              <a:rPr lang="ja-JP" altLang="en-US" sz="1600" b="0">
                <a:solidFill>
                  <a:srgbClr val="E10000"/>
                </a:solidFill>
                <a:latin typeface="Arial" panose="020B0604020202020204" pitchFamily="34" charset="0"/>
              </a:rPr>
              <a:t>」</a:t>
            </a:r>
            <a:r>
              <a:rPr lang="en-US" altLang="ja-JP" sz="1600" b="0">
                <a:solidFill>
                  <a:srgbClr val="E10000"/>
                </a:solidFill>
                <a:latin typeface="Arial" panose="020B0604020202020204" pitchFamily="34" charset="0"/>
              </a:rPr>
              <a:t>được thể hiện bằng Java như thế nào</a:t>
            </a:r>
            <a:r>
              <a:rPr lang="ja-JP" altLang="en-US" sz="1600" b="0">
                <a:solidFill>
                  <a:srgbClr val="E10000"/>
                </a:solidFill>
                <a:latin typeface="Arial" panose="020B0604020202020204" pitchFamily="34" charset="0"/>
              </a:rPr>
              <a:t>）</a:t>
            </a:r>
          </a:p>
          <a:p>
            <a:pPr lvl="1"/>
            <a:endParaRPr lang="en-US" altLang="ja-JP" sz="1600" b="0">
              <a:solidFill>
                <a:srgbClr val="E10000"/>
              </a:solidFill>
              <a:latin typeface="Arial" panose="020B0604020202020204" pitchFamily="34" charset="0"/>
            </a:endParaRPr>
          </a:p>
        </p:txBody>
      </p:sp>
      <p:sp>
        <p:nvSpPr>
          <p:cNvPr id="501765" name="Text Box 5">
            <a:extLst>
              <a:ext uri="{FF2B5EF4-FFF2-40B4-BE49-F238E27FC236}">
                <a16:creationId xmlns:a16="http://schemas.microsoft.com/office/drawing/2014/main" id="{047E1026-CBF7-6490-C1DC-F8A01EB9DD47}"/>
              </a:ext>
            </a:extLst>
          </p:cNvPr>
          <p:cNvSpPr txBox="1">
            <a:spLocks noChangeArrowheads="1"/>
          </p:cNvSpPr>
          <p:nvPr/>
        </p:nvSpPr>
        <p:spPr bwMode="auto">
          <a:xfrm>
            <a:off x="173038" y="4284663"/>
            <a:ext cx="9120187" cy="889000"/>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ja-JP" altLang="en-US" sz="1600">
                <a:ea typeface="MS UI Gothic" panose="020B0600070205080204" pitchFamily="50" charset="-128"/>
              </a:rPr>
              <a:t>・</a:t>
            </a:r>
            <a:r>
              <a:rPr lang="en-US" altLang="ja-JP" sz="1600">
                <a:ea typeface="MS UI Gothic" panose="020B0600070205080204" pitchFamily="50" charset="-128"/>
              </a:rPr>
              <a:t>Cũng có thể định nghĩa lại (chuyển sang tính chất riêng biệt )  mà không kế thừa thuộc tính của class sẵn có. </a:t>
            </a:r>
          </a:p>
          <a:p>
            <a:pPr lvl="1" algn="just">
              <a:lnSpc>
                <a:spcPct val="112000"/>
              </a:lnSpc>
            </a:pPr>
            <a:r>
              <a:rPr lang="ja-JP" altLang="en-US" sz="1600" b="0">
                <a:ea typeface="MS UI Gothic" panose="020B0600070205080204" pitchFamily="50" charset="-128"/>
              </a:rPr>
              <a:t>　　　　</a:t>
            </a:r>
            <a:r>
              <a:rPr lang="ja-JP" altLang="en-US" sz="1600">
                <a:solidFill>
                  <a:srgbClr val="0000FF"/>
                </a:solidFill>
                <a:ea typeface="MS UI Gothic" panose="020B0600070205080204" pitchFamily="50" charset="-128"/>
              </a:rPr>
              <a:t>→　</a:t>
            </a:r>
            <a:r>
              <a:rPr lang="en-US" altLang="ja-JP" sz="1600">
                <a:solidFill>
                  <a:srgbClr val="0000FF"/>
                </a:solidFill>
                <a:ea typeface="MS UI Gothic" panose="020B0600070205080204" pitchFamily="50" charset="-128"/>
              </a:rPr>
              <a:t>Override method</a:t>
            </a:r>
          </a:p>
        </p:txBody>
      </p:sp>
      <p:sp>
        <p:nvSpPr>
          <p:cNvPr id="501770" name="Text Box 10">
            <a:extLst>
              <a:ext uri="{FF2B5EF4-FFF2-40B4-BE49-F238E27FC236}">
                <a16:creationId xmlns:a16="http://schemas.microsoft.com/office/drawing/2014/main" id="{5040CA23-1D04-8E6D-6541-AA27BFAA7CA9}"/>
              </a:ext>
            </a:extLst>
          </p:cNvPr>
          <p:cNvSpPr txBox="1">
            <a:spLocks noChangeArrowheads="1"/>
          </p:cNvSpPr>
          <p:nvPr/>
        </p:nvSpPr>
        <p:spPr bwMode="auto">
          <a:xfrm>
            <a:off x="344488" y="1797050"/>
            <a:ext cx="9120187" cy="881063"/>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ja-JP" altLang="en-US" sz="1600" b="0">
                <a:ea typeface="MS UI Gothic" panose="020B0600070205080204" pitchFamily="50" charset="-128"/>
              </a:rPr>
              <a:t>・</a:t>
            </a:r>
            <a:r>
              <a:rPr lang="en-US" altLang="ja-JP" sz="1600" b="0">
                <a:ea typeface="MS UI Gothic" panose="020B0600070205080204" pitchFamily="50" charset="-128"/>
              </a:rPr>
              <a:t>Class mới sẽ có thể thừa kế tính chất của class sẵn có (Thuộc tính và Thao tác). </a:t>
            </a:r>
            <a:endParaRPr lang="en-US" altLang="ja-JP" sz="1600">
              <a:ea typeface="MS UI Gothic" panose="020B0600070205080204" pitchFamily="50" charset="-128"/>
            </a:endParaRPr>
          </a:p>
          <a:p>
            <a:pPr lvl="1" algn="just">
              <a:lnSpc>
                <a:spcPct val="112000"/>
              </a:lnSpc>
            </a:pPr>
            <a:r>
              <a:rPr lang="ja-JP" altLang="en-US" sz="1600" b="0">
                <a:ea typeface="MS UI Gothic" panose="020B0600070205080204" pitchFamily="50" charset="-128"/>
              </a:rPr>
              <a:t>　　　　</a:t>
            </a:r>
            <a:r>
              <a:rPr lang="ja-JP" altLang="en-US" sz="1600">
                <a:solidFill>
                  <a:srgbClr val="0000FF"/>
                </a:solidFill>
                <a:ea typeface="MS UI Gothic" panose="020B0600070205080204" pitchFamily="50" charset="-128"/>
              </a:rPr>
              <a:t>→　</a:t>
            </a:r>
            <a:r>
              <a:rPr lang="en-US" altLang="ja-JP" sz="1600">
                <a:solidFill>
                  <a:srgbClr val="0000FF"/>
                </a:solidFill>
                <a:ea typeface="MS UI Gothic" panose="020B0600070205080204" pitchFamily="50" charset="-128"/>
              </a:rPr>
              <a:t>Chỉ định </a:t>
            </a:r>
            <a:r>
              <a:rPr lang="ja-JP" altLang="en-US" sz="1600">
                <a:solidFill>
                  <a:srgbClr val="0000FF"/>
                </a:solidFill>
                <a:ea typeface="MS UI Gothic" panose="020B0600070205080204" pitchFamily="50" charset="-128"/>
              </a:rPr>
              <a:t>「</a:t>
            </a:r>
            <a:r>
              <a:rPr lang="en-US" altLang="ja-JP" sz="1600">
                <a:solidFill>
                  <a:srgbClr val="0000FF"/>
                </a:solidFill>
                <a:ea typeface="MS UI Gothic" panose="020B0600070205080204" pitchFamily="50" charset="-128"/>
              </a:rPr>
              <a:t>extends</a:t>
            </a:r>
            <a:r>
              <a:rPr lang="ja-JP" altLang="en-US" sz="1600">
                <a:solidFill>
                  <a:srgbClr val="0000FF"/>
                </a:solidFill>
                <a:ea typeface="MS UI Gothic" panose="020B0600070205080204" pitchFamily="50" charset="-128"/>
              </a:rPr>
              <a:t>　</a:t>
            </a:r>
            <a:r>
              <a:rPr lang="en-US" altLang="ja-JP" sz="1600">
                <a:solidFill>
                  <a:srgbClr val="0000FF"/>
                </a:solidFill>
                <a:ea typeface="MS UI Gothic" panose="020B0600070205080204" pitchFamily="50" charset="-128"/>
              </a:rPr>
              <a:t>super class name</a:t>
            </a:r>
            <a:r>
              <a:rPr lang="ja-JP" altLang="en-US" sz="1600">
                <a:solidFill>
                  <a:srgbClr val="0000FF"/>
                </a:solidFill>
                <a:ea typeface="MS UI Gothic" panose="020B0600070205080204" pitchFamily="50" charset="-128"/>
              </a:rPr>
              <a:t>」</a:t>
            </a:r>
            <a:r>
              <a:rPr lang="en-US" altLang="ja-JP" sz="1600">
                <a:solidFill>
                  <a:srgbClr val="0000FF"/>
                </a:solidFill>
                <a:ea typeface="MS UI Gothic" panose="020B0600070205080204" pitchFamily="50" charset="-128"/>
              </a:rPr>
              <a:t>khi định nghĩa sub class</a:t>
            </a:r>
          </a:p>
        </p:txBody>
      </p:sp>
      <p:sp>
        <p:nvSpPr>
          <p:cNvPr id="501771" name="Text Box 11">
            <a:extLst>
              <a:ext uri="{FF2B5EF4-FFF2-40B4-BE49-F238E27FC236}">
                <a16:creationId xmlns:a16="http://schemas.microsoft.com/office/drawing/2014/main" id="{1B80404B-3C05-B18C-497F-54401CC804DB}"/>
              </a:ext>
            </a:extLst>
          </p:cNvPr>
          <p:cNvSpPr txBox="1">
            <a:spLocks noChangeArrowheads="1"/>
          </p:cNvSpPr>
          <p:nvPr/>
        </p:nvSpPr>
        <p:spPr bwMode="auto">
          <a:xfrm>
            <a:off x="344488" y="2870200"/>
            <a:ext cx="9120187" cy="881063"/>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ja-JP" altLang="en-US" sz="1600">
                <a:ea typeface="MS UI Gothic" panose="020B0600070205080204" pitchFamily="50" charset="-128"/>
              </a:rPr>
              <a:t>・</a:t>
            </a:r>
            <a:r>
              <a:rPr lang="en-US" altLang="ja-JP" sz="1600">
                <a:ea typeface="MS UI Gothic" panose="020B0600070205080204" pitchFamily="50" charset="-128"/>
              </a:rPr>
              <a:t>Có thể add thêm thuộc tính mới (thuộc tính và thao tác) </a:t>
            </a:r>
          </a:p>
          <a:p>
            <a:pPr lvl="1" algn="just">
              <a:lnSpc>
                <a:spcPct val="112000"/>
              </a:lnSpc>
            </a:pPr>
            <a:r>
              <a:rPr lang="ja-JP" altLang="en-US" sz="1600" b="0">
                <a:ea typeface="MS UI Gothic" panose="020B0600070205080204" pitchFamily="50" charset="-128"/>
              </a:rPr>
              <a:t>　　　　</a:t>
            </a:r>
            <a:r>
              <a:rPr lang="ja-JP" altLang="en-US" sz="1600">
                <a:solidFill>
                  <a:srgbClr val="0000FF"/>
                </a:solidFill>
                <a:ea typeface="MS UI Gothic" panose="020B0600070205080204" pitchFamily="50" charset="-128"/>
              </a:rPr>
              <a:t>→　</a:t>
            </a:r>
            <a:r>
              <a:rPr lang="en-US" altLang="ja-JP" sz="1600">
                <a:solidFill>
                  <a:srgbClr val="0000FF"/>
                </a:solidFill>
                <a:ea typeface="MS UI Gothic" panose="020B0600070205080204" pitchFamily="50" charset="-128"/>
              </a:rPr>
              <a:t>Mô tả </a:t>
            </a:r>
            <a:r>
              <a:rPr lang="ja-JP" altLang="en-US" sz="1600">
                <a:solidFill>
                  <a:srgbClr val="0000FF"/>
                </a:solidFill>
                <a:ea typeface="MS UI Gothic" panose="020B0600070205080204" pitchFamily="50" charset="-128"/>
              </a:rPr>
              <a:t>「</a:t>
            </a:r>
            <a:r>
              <a:rPr lang="en-US" altLang="ja-JP" sz="1600">
                <a:solidFill>
                  <a:srgbClr val="0000FF"/>
                </a:solidFill>
                <a:ea typeface="MS UI Gothic" panose="020B0600070205080204" pitchFamily="50" charset="-128"/>
              </a:rPr>
              <a:t>Thuộc tính độc lập (Thuộc tính và thao tác) </a:t>
            </a:r>
            <a:r>
              <a:rPr lang="ja-JP" altLang="en-US" sz="1600">
                <a:solidFill>
                  <a:srgbClr val="0000FF"/>
                </a:solidFill>
                <a:ea typeface="MS UI Gothic" panose="020B0600070205080204" pitchFamily="50" charset="-128"/>
              </a:rPr>
              <a:t>」 </a:t>
            </a:r>
            <a:r>
              <a:rPr lang="en-US" altLang="ja-JP" sz="1600">
                <a:solidFill>
                  <a:srgbClr val="0000FF"/>
                </a:solidFill>
                <a:ea typeface="MS UI Gothic" panose="020B0600070205080204" pitchFamily="50" charset="-128"/>
              </a:rPr>
              <a:t>vào trong định nghĩa class của sub class.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BA72CEC5-9D9F-23AA-C1E1-40881E0F68ED}"/>
              </a:ext>
            </a:extLst>
          </p:cNvPr>
          <p:cNvSpPr>
            <a:spLocks noGrp="1"/>
          </p:cNvSpPr>
          <p:nvPr>
            <p:ph type="sldNum" sz="quarter" idx="10"/>
          </p:nvPr>
        </p:nvSpPr>
        <p:spPr/>
        <p:txBody>
          <a:bodyPr/>
          <a:lstStyle/>
          <a:p>
            <a:fld id="{6EB12771-2684-49A7-ADA9-BCC4EB321593}" type="slidenum">
              <a:rPr lang="en-US" altLang="ja-JP"/>
              <a:pPr/>
              <a:t>7</a:t>
            </a:fld>
            <a:endParaRPr lang="en-US" altLang="ja-JP"/>
          </a:p>
        </p:txBody>
      </p:sp>
      <p:sp>
        <p:nvSpPr>
          <p:cNvPr id="491522" name="Rectangle 2">
            <a:extLst>
              <a:ext uri="{FF2B5EF4-FFF2-40B4-BE49-F238E27FC236}">
                <a16:creationId xmlns:a16="http://schemas.microsoft.com/office/drawing/2014/main" id="{3F924400-6E8E-97A7-8555-B66D1BB09C81}"/>
              </a:ext>
            </a:extLst>
          </p:cNvPr>
          <p:cNvSpPr>
            <a:spLocks noGrp="1" noChangeArrowheads="1"/>
          </p:cNvSpPr>
          <p:nvPr>
            <p:ph type="title"/>
          </p:nvPr>
        </p:nvSpPr>
        <p:spPr>
          <a:xfrm>
            <a:off x="344487" y="333375"/>
            <a:ext cx="9217025" cy="490537"/>
          </a:xfrm>
        </p:spPr>
        <p:txBody>
          <a:bodyPr>
            <a:normAutofit fontScale="90000"/>
          </a:bodyPr>
          <a:lstStyle/>
          <a:p>
            <a:r>
              <a:rPr lang="en-US" altLang="ja-JP" dirty="0">
                <a:latin typeface="MS UI Gothic" panose="020B0600070205080204" pitchFamily="50" charset="-128"/>
                <a:ea typeface="MS UI Gothic" panose="020B0600070205080204" pitchFamily="50" charset="-128"/>
              </a:rPr>
              <a:t>Định </a:t>
            </a:r>
            <a:r>
              <a:rPr lang="en-US" altLang="ja-JP" dirty="0" err="1">
                <a:latin typeface="MS UI Gothic" panose="020B0600070205080204" pitchFamily="50" charset="-128"/>
                <a:ea typeface="MS UI Gothic" panose="020B0600070205080204" pitchFamily="50" charset="-128"/>
              </a:rPr>
              <a:t>nghĩa</a:t>
            </a:r>
            <a:r>
              <a:rPr lang="en-US" altLang="ja-JP" dirty="0">
                <a:latin typeface="MS UI Gothic" panose="020B0600070205080204" pitchFamily="50" charset="-128"/>
                <a:ea typeface="MS UI Gothic" panose="020B0600070205080204" pitchFamily="50" charset="-128"/>
              </a:rPr>
              <a:t> sub class(2)</a:t>
            </a:r>
          </a:p>
        </p:txBody>
      </p:sp>
      <p:sp>
        <p:nvSpPr>
          <p:cNvPr id="491523" name="Rectangle 3">
            <a:extLst>
              <a:ext uri="{FF2B5EF4-FFF2-40B4-BE49-F238E27FC236}">
                <a16:creationId xmlns:a16="http://schemas.microsoft.com/office/drawing/2014/main" id="{8E1A8AA2-05DD-A956-ACFE-1F511251E448}"/>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491524" name="Rectangle 4">
            <a:extLst>
              <a:ext uri="{FF2B5EF4-FFF2-40B4-BE49-F238E27FC236}">
                <a16:creationId xmlns:a16="http://schemas.microsoft.com/office/drawing/2014/main" id="{49670439-AAA9-6A52-0603-91DC58E19059}"/>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t>Định nghĩa sub class(Thừa kế tính chất của super class) </a:t>
            </a:r>
          </a:p>
          <a:p>
            <a:pPr>
              <a:spcBef>
                <a:spcPct val="50000"/>
              </a:spcBef>
              <a:buFont typeface="Wingdings" panose="05000000000000000000" pitchFamily="2" charset="2"/>
              <a:buNone/>
            </a:pPr>
            <a:r>
              <a:rPr lang="en-US" altLang="ja-JP" sz="2000" b="0"/>
              <a:t>●Cú pháp cơ bản</a:t>
            </a:r>
            <a:endParaRPr lang="en-US" altLang="ja-JP" sz="2400" b="0"/>
          </a:p>
          <a:p>
            <a:pPr lvl="1"/>
            <a:endParaRPr lang="en-US" altLang="ja-JP" sz="2400" b="0"/>
          </a:p>
        </p:txBody>
      </p:sp>
      <p:sp>
        <p:nvSpPr>
          <p:cNvPr id="491526" name="Rectangle 6">
            <a:extLst>
              <a:ext uri="{FF2B5EF4-FFF2-40B4-BE49-F238E27FC236}">
                <a16:creationId xmlns:a16="http://schemas.microsoft.com/office/drawing/2014/main" id="{8C54BB69-C6AD-D3D0-E576-2C110D15F348}"/>
              </a:ext>
            </a:extLst>
          </p:cNvPr>
          <p:cNvSpPr>
            <a:spLocks noChangeArrowheads="1"/>
          </p:cNvSpPr>
          <p:nvPr/>
        </p:nvSpPr>
        <p:spPr bwMode="auto">
          <a:xfrm>
            <a:off x="344488" y="39782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t>●Ví dụ</a:t>
            </a:r>
            <a:endParaRPr lang="en-US" altLang="ja-JP" sz="2400" b="0"/>
          </a:p>
        </p:txBody>
      </p:sp>
      <p:sp>
        <p:nvSpPr>
          <p:cNvPr id="491527" name="Rectangle 7">
            <a:extLst>
              <a:ext uri="{FF2B5EF4-FFF2-40B4-BE49-F238E27FC236}">
                <a16:creationId xmlns:a16="http://schemas.microsoft.com/office/drawing/2014/main" id="{AB32865D-634E-45BD-151E-9405F8570B93}"/>
              </a:ext>
            </a:extLst>
          </p:cNvPr>
          <p:cNvSpPr>
            <a:spLocks noChangeArrowheads="1"/>
          </p:cNvSpPr>
          <p:nvPr/>
        </p:nvSpPr>
        <p:spPr bwMode="auto">
          <a:xfrm>
            <a:off x="344488" y="4387850"/>
            <a:ext cx="9120187" cy="10779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en-US" sz="1800" b="0">
                <a:latin typeface="Arial" panose="020B0604020202020204" pitchFamily="34" charset="0"/>
                <a:ea typeface="ＭＳ ゴシック" panose="020B0609070205080204" pitchFamily="49" charset="-128"/>
              </a:rPr>
              <a:t>public Sales class extends Employee</a:t>
            </a:r>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a:t>
            </a:r>
          </a:p>
          <a:p>
            <a:pPr lvl="1"/>
            <a:r>
              <a:rPr lang="en-US" altLang="en-US" sz="1800" b="0">
                <a:latin typeface="Arial" panose="020B0604020202020204" pitchFamily="34" charset="0"/>
                <a:ea typeface="ＭＳ ゴシック" panose="020B0609070205080204" pitchFamily="49" charset="-128"/>
              </a:rPr>
              <a:t>　</a:t>
            </a:r>
            <a:r>
              <a:rPr lang="ja-JP" altLang="en-US"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 </a:t>
            </a:r>
            <a:r>
              <a:rPr lang="en-US" altLang="ja-JP" sz="1800" b="0">
                <a:latin typeface="Arial" panose="020B0604020202020204" pitchFamily="34" charset="0"/>
                <a:ea typeface="ＭＳ ゴシック" panose="020B0609070205080204" pitchFamily="49" charset="-128"/>
              </a:rPr>
              <a:t>Mô tả thuộc tính và thao tác add thêm </a:t>
            </a:r>
            <a:endParaRPr lang="en-US" altLang="ja-JP" sz="1800" b="0">
              <a:latin typeface="Arial" panose="020B0604020202020204" pitchFamily="34" charset="0"/>
            </a:endParaRPr>
          </a:p>
          <a:p>
            <a:pPr lvl="1"/>
            <a:r>
              <a:rPr lang="en-US" altLang="en-US" sz="1800" b="0">
                <a:latin typeface="Arial" panose="020B0604020202020204" pitchFamily="34" charset="0"/>
                <a:ea typeface="ＭＳ ゴシック" panose="020B0609070205080204" pitchFamily="49" charset="-128"/>
              </a:rPr>
              <a:t>}</a:t>
            </a:r>
            <a:endParaRPr lang="en-US" altLang="ja-JP" sz="1800" b="0">
              <a:latin typeface="Arial" panose="020B0604020202020204" pitchFamily="34" charset="0"/>
              <a:ea typeface="ＭＳ ゴシック" panose="020B0609070205080204" pitchFamily="49" charset="-128"/>
            </a:endParaRPr>
          </a:p>
        </p:txBody>
      </p:sp>
      <p:grpSp>
        <p:nvGrpSpPr>
          <p:cNvPr id="491530" name="Group 10">
            <a:extLst>
              <a:ext uri="{FF2B5EF4-FFF2-40B4-BE49-F238E27FC236}">
                <a16:creationId xmlns:a16="http://schemas.microsoft.com/office/drawing/2014/main" id="{DF7C929C-0019-ADFB-42C7-407A4A56C928}"/>
              </a:ext>
            </a:extLst>
          </p:cNvPr>
          <p:cNvGrpSpPr>
            <a:grpSpLocks/>
          </p:cNvGrpSpPr>
          <p:nvPr/>
        </p:nvGrpSpPr>
        <p:grpSpPr bwMode="auto">
          <a:xfrm>
            <a:off x="344488" y="1751013"/>
            <a:ext cx="9120187" cy="1966913"/>
            <a:chOff x="217" y="1103"/>
            <a:chExt cx="5745" cy="1239"/>
          </a:xfrm>
        </p:grpSpPr>
        <p:sp>
          <p:nvSpPr>
            <p:cNvPr id="491525" name="Text Box 5">
              <a:extLst>
                <a:ext uri="{FF2B5EF4-FFF2-40B4-BE49-F238E27FC236}">
                  <a16:creationId xmlns:a16="http://schemas.microsoft.com/office/drawing/2014/main" id="{C105CD5E-432E-4975-E858-E4D00693F1AD}"/>
                </a:ext>
              </a:extLst>
            </p:cNvPr>
            <p:cNvSpPr txBox="1">
              <a:spLocks noChangeArrowheads="1"/>
            </p:cNvSpPr>
            <p:nvPr/>
          </p:nvSpPr>
          <p:spPr bwMode="auto">
            <a:xfrm>
              <a:off x="217" y="1103"/>
              <a:ext cx="5745" cy="734"/>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MS UI Gothic" panose="020B0600070205080204" pitchFamily="50" charset="-128"/>
                </a:rPr>
                <a:t>Modifier </a:t>
              </a:r>
              <a:r>
                <a:rPr lang="en-US" altLang="ja-JP" sz="2000">
                  <a:ea typeface="ＭＳ ゴシック" panose="020B0609070205080204" pitchFamily="49" charset="-128"/>
                </a:rPr>
                <a:t>class  Sub class name  extends  super class name {</a:t>
              </a:r>
            </a:p>
            <a:p>
              <a:pPr lvl="1" algn="just">
                <a:lnSpc>
                  <a:spcPct val="112000"/>
                </a:lnSpc>
              </a:pPr>
              <a:r>
                <a:rPr lang="ja-JP" altLang="en-US" sz="2000">
                  <a:ea typeface="ＭＳ ゴシック" panose="020B0609070205080204" pitchFamily="49" charset="-128"/>
                </a:rPr>
                <a:t>　　　</a:t>
              </a:r>
              <a:r>
                <a:rPr lang="en-US" altLang="ja-JP" sz="2000" b="0">
                  <a:ea typeface="ＭＳ ゴシック" panose="020B0609070205080204" pitchFamily="49" charset="-128"/>
                </a:rPr>
                <a:t>//</a:t>
              </a:r>
              <a:r>
                <a:rPr lang="ja-JP" altLang="en-US" sz="2000" b="0">
                  <a:ea typeface="ＭＳ ゴシック" panose="020B0609070205080204" pitchFamily="49" charset="-128"/>
                </a:rPr>
                <a:t>　</a:t>
              </a:r>
              <a:r>
                <a:rPr lang="en-US" altLang="ja-JP" sz="2000" b="0">
                  <a:ea typeface="ＭＳ ゴシック" panose="020B0609070205080204" pitchFamily="49" charset="-128"/>
                </a:rPr>
                <a:t>Định nghĩa tính chất riêng muốn add thêm</a:t>
              </a:r>
              <a:endParaRPr lang="en-US" altLang="ja-JP" sz="2000">
                <a:ea typeface="ＭＳ ゴシック" panose="020B0609070205080204" pitchFamily="49" charset="-128"/>
              </a:endParaRPr>
            </a:p>
          </p:txBody>
        </p:sp>
        <p:sp>
          <p:nvSpPr>
            <p:cNvPr id="491529" name="AutoShape 9">
              <a:extLst>
                <a:ext uri="{FF2B5EF4-FFF2-40B4-BE49-F238E27FC236}">
                  <a16:creationId xmlns:a16="http://schemas.microsoft.com/office/drawing/2014/main" id="{1FF974B7-89E3-185C-1D48-CCEC1063B4EE}"/>
                </a:ext>
              </a:extLst>
            </p:cNvPr>
            <p:cNvSpPr>
              <a:spLocks noChangeArrowheads="1"/>
            </p:cNvSpPr>
            <p:nvPr/>
          </p:nvSpPr>
          <p:spPr bwMode="auto">
            <a:xfrm>
              <a:off x="1067" y="1923"/>
              <a:ext cx="4895" cy="419"/>
            </a:xfrm>
            <a:prstGeom prst="wedgeRoundRectCallout">
              <a:avLst>
                <a:gd name="adj1" fmla="val -31185"/>
                <a:gd name="adj2" fmla="val -108694"/>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600" dirty="0" err="1">
                  <a:latin typeface="+mj-lt"/>
                </a:rPr>
                <a:t>Chỉ</a:t>
              </a:r>
              <a:r>
                <a:rPr lang="en-US" altLang="ja-JP" sz="1600" dirty="0">
                  <a:latin typeface="+mj-lt"/>
                </a:rPr>
                <a:t> </a:t>
              </a:r>
              <a:r>
                <a:rPr lang="en-US" altLang="ja-JP" sz="1600" dirty="0" err="1">
                  <a:latin typeface="+mj-lt"/>
                </a:rPr>
                <a:t>bằng</a:t>
              </a:r>
              <a:r>
                <a:rPr lang="en-US" altLang="ja-JP" sz="1600" dirty="0">
                  <a:latin typeface="+mj-lt"/>
                </a:rPr>
                <a:t> </a:t>
              </a:r>
              <a:r>
                <a:rPr lang="en-US" altLang="ja-JP" sz="1600" dirty="0" err="1">
                  <a:latin typeface="+mj-lt"/>
                </a:rPr>
                <a:t>việc</a:t>
              </a:r>
              <a:r>
                <a:rPr lang="en-US" altLang="ja-JP" sz="1600" dirty="0">
                  <a:latin typeface="+mj-lt"/>
                </a:rPr>
                <a:t> </a:t>
              </a:r>
              <a:r>
                <a:rPr lang="en-US" altLang="ja-JP" sz="1600" dirty="0" err="1">
                  <a:latin typeface="+mj-lt"/>
                </a:rPr>
                <a:t>chỉ</a:t>
              </a:r>
              <a:r>
                <a:rPr lang="en-US" altLang="ja-JP" sz="1600" dirty="0">
                  <a:latin typeface="+mj-lt"/>
                </a:rPr>
                <a:t> </a:t>
              </a:r>
              <a:r>
                <a:rPr lang="en-US" altLang="ja-JP" sz="1600" dirty="0" err="1">
                  <a:latin typeface="+mj-lt"/>
                </a:rPr>
                <a:t>định</a:t>
              </a:r>
              <a:r>
                <a:rPr lang="en-US" altLang="ja-JP" sz="1600" dirty="0">
                  <a:latin typeface="+mj-lt"/>
                </a:rPr>
                <a:t> </a:t>
              </a:r>
              <a:r>
                <a:rPr lang="ja-JP" altLang="en-US" sz="1600" dirty="0">
                  <a:latin typeface="+mj-lt"/>
                </a:rPr>
                <a:t>「</a:t>
              </a:r>
              <a:r>
                <a:rPr lang="en-US" altLang="ja-JP" sz="1600" dirty="0">
                  <a:latin typeface="+mj-lt"/>
                </a:rPr>
                <a:t>extends  super class name</a:t>
              </a:r>
              <a:r>
                <a:rPr lang="ja-JP" altLang="en-US" sz="1600" dirty="0">
                  <a:latin typeface="+mj-lt"/>
                </a:rPr>
                <a:t>」</a:t>
              </a:r>
              <a:r>
                <a:rPr lang="en-US" altLang="ja-JP" sz="1600" dirty="0" err="1">
                  <a:latin typeface="+mj-lt"/>
                </a:rPr>
                <a:t>có</a:t>
              </a:r>
              <a:r>
                <a:rPr lang="en-US" altLang="ja-JP" sz="1600" dirty="0">
                  <a:latin typeface="+mj-lt"/>
                </a:rPr>
                <a:t> </a:t>
              </a:r>
              <a:r>
                <a:rPr lang="en-US" altLang="ja-JP" sz="1600" dirty="0" err="1">
                  <a:latin typeface="+mj-lt"/>
                </a:rPr>
                <a:t>thể</a:t>
              </a:r>
              <a:r>
                <a:rPr lang="en-US" altLang="ja-JP" sz="1600" dirty="0">
                  <a:latin typeface="+mj-lt"/>
                </a:rPr>
                <a:t> </a:t>
              </a:r>
              <a:r>
                <a:rPr lang="en-US" altLang="ja-JP" sz="1600" dirty="0" err="1">
                  <a:latin typeface="+mj-lt"/>
                </a:rPr>
                <a:t>thừa</a:t>
              </a:r>
              <a:r>
                <a:rPr lang="en-US" altLang="ja-JP" sz="1600" dirty="0">
                  <a:latin typeface="+mj-lt"/>
                </a:rPr>
                <a:t> </a:t>
              </a:r>
              <a:r>
                <a:rPr lang="en-US" altLang="ja-JP" sz="1600" dirty="0" err="1">
                  <a:latin typeface="+mj-lt"/>
                </a:rPr>
                <a:t>kế</a:t>
              </a:r>
              <a:r>
                <a:rPr lang="en-US" altLang="ja-JP" sz="1600" dirty="0">
                  <a:latin typeface="+mj-lt"/>
                </a:rPr>
                <a:t> </a:t>
              </a:r>
              <a:r>
                <a:rPr lang="en-US" altLang="ja-JP" sz="1600" dirty="0" err="1">
                  <a:latin typeface="+mj-lt"/>
                </a:rPr>
                <a:t>được</a:t>
              </a:r>
              <a:r>
                <a:rPr lang="en-US" altLang="ja-JP" sz="1600" dirty="0">
                  <a:latin typeface="+mj-lt"/>
                </a:rPr>
                <a:t> </a:t>
              </a:r>
              <a:r>
                <a:rPr lang="en-US" altLang="ja-JP" sz="1600" dirty="0" err="1">
                  <a:latin typeface="+mj-lt"/>
                </a:rPr>
                <a:t>tính</a:t>
              </a:r>
              <a:r>
                <a:rPr lang="en-US" altLang="ja-JP" sz="1600" dirty="0">
                  <a:latin typeface="+mj-lt"/>
                </a:rPr>
                <a:t> </a:t>
              </a:r>
              <a:r>
                <a:rPr lang="en-US" altLang="ja-JP" sz="1600" dirty="0" err="1">
                  <a:latin typeface="+mj-lt"/>
                </a:rPr>
                <a:t>chất</a:t>
              </a:r>
              <a:r>
                <a:rPr lang="en-US" altLang="ja-JP" sz="1600" dirty="0">
                  <a:latin typeface="+mj-lt"/>
                </a:rPr>
                <a:t> ( </a:t>
              </a:r>
              <a:r>
                <a:rPr lang="en-US" altLang="ja-JP" sz="1600" dirty="0" err="1">
                  <a:latin typeface="+mj-lt"/>
                </a:rPr>
                <a:t>Biến</a:t>
              </a:r>
              <a:r>
                <a:rPr lang="en-US" altLang="ja-JP" sz="1600" dirty="0">
                  <a:latin typeface="+mj-lt"/>
                </a:rPr>
                <a:t> </a:t>
              </a:r>
              <a:r>
                <a:rPr lang="en-US" altLang="ja-JP" sz="1600" dirty="0" err="1">
                  <a:latin typeface="+mj-lt"/>
                </a:rPr>
                <a:t>và</a:t>
              </a:r>
              <a:r>
                <a:rPr lang="en-US" altLang="ja-JP" sz="1600" dirty="0">
                  <a:latin typeface="+mj-lt"/>
                </a:rPr>
                <a:t> method</a:t>
              </a:r>
              <a:r>
                <a:rPr lang="ja-JP" altLang="en-US" sz="1600" dirty="0">
                  <a:latin typeface="+mj-lt"/>
                </a:rPr>
                <a:t>）</a:t>
              </a:r>
              <a:r>
                <a:rPr lang="en-US" altLang="ja-JP" sz="1600" dirty="0" err="1">
                  <a:latin typeface="+mj-lt"/>
                </a:rPr>
                <a:t>được</a:t>
              </a:r>
              <a:r>
                <a:rPr lang="en-US" altLang="ja-JP" sz="1600" dirty="0">
                  <a:latin typeface="+mj-lt"/>
                </a:rPr>
                <a:t> </a:t>
              </a:r>
              <a:r>
                <a:rPr lang="en-US" altLang="ja-JP" sz="1600" dirty="0" err="1">
                  <a:latin typeface="+mj-lt"/>
                </a:rPr>
                <a:t>định</a:t>
              </a:r>
              <a:r>
                <a:rPr lang="en-US" altLang="ja-JP" sz="1600" dirty="0">
                  <a:latin typeface="+mj-lt"/>
                </a:rPr>
                <a:t> </a:t>
              </a:r>
              <a:r>
                <a:rPr lang="en-US" altLang="ja-JP" sz="1600" dirty="0" err="1">
                  <a:latin typeface="+mj-lt"/>
                </a:rPr>
                <a:t>nghĩa</a:t>
              </a:r>
              <a:r>
                <a:rPr lang="en-US" altLang="ja-JP" sz="1600" dirty="0">
                  <a:latin typeface="+mj-lt"/>
                </a:rPr>
                <a:t> </a:t>
              </a:r>
              <a:r>
                <a:rPr lang="en-US" altLang="ja-JP" sz="1600" dirty="0" err="1">
                  <a:latin typeface="+mj-lt"/>
                </a:rPr>
                <a:t>trong</a:t>
              </a:r>
              <a:r>
                <a:rPr lang="en-US" altLang="ja-JP" sz="1600" dirty="0">
                  <a:latin typeface="+mj-lt"/>
                </a:rPr>
                <a:t> super class. </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229C20A-A071-64E8-5E39-DE877C6199B1}"/>
              </a:ext>
            </a:extLst>
          </p:cNvPr>
          <p:cNvSpPr>
            <a:spLocks noGrp="1"/>
          </p:cNvSpPr>
          <p:nvPr>
            <p:ph type="sldNum" sz="quarter" idx="4294967295"/>
          </p:nvPr>
        </p:nvSpPr>
        <p:spPr>
          <a:xfrm>
            <a:off x="7772400" y="6381750"/>
            <a:ext cx="2133600" cy="476250"/>
          </a:xfrm>
        </p:spPr>
        <p:txBody>
          <a:bodyPr/>
          <a:lstStyle/>
          <a:p>
            <a:fld id="{6A23C60C-6516-4562-9893-F36504E29111}" type="slidenum">
              <a:rPr lang="en-US" altLang="ja-JP" smtClean="0"/>
              <a:pPr/>
              <a:t>8</a:t>
            </a:fld>
            <a:endParaRPr lang="en-US" altLang="ja-JP"/>
          </a:p>
        </p:txBody>
      </p:sp>
      <p:grpSp>
        <p:nvGrpSpPr>
          <p:cNvPr id="8" name="Group 178">
            <a:extLst>
              <a:ext uri="{FF2B5EF4-FFF2-40B4-BE49-F238E27FC236}">
                <a16:creationId xmlns:a16="http://schemas.microsoft.com/office/drawing/2014/main" id="{B2590983-DB1B-17D2-A953-96A7BB6C347C}"/>
              </a:ext>
            </a:extLst>
          </p:cNvPr>
          <p:cNvGrpSpPr>
            <a:grpSpLocks/>
          </p:cNvGrpSpPr>
          <p:nvPr/>
        </p:nvGrpSpPr>
        <p:grpSpPr bwMode="auto">
          <a:xfrm>
            <a:off x="766762" y="762000"/>
            <a:ext cx="8072437" cy="1485360"/>
            <a:chOff x="483" y="1395"/>
            <a:chExt cx="3496" cy="814"/>
          </a:xfrm>
        </p:grpSpPr>
        <p:sp>
          <p:nvSpPr>
            <p:cNvPr id="9" name="Text Box 146">
              <a:extLst>
                <a:ext uri="{FF2B5EF4-FFF2-40B4-BE49-F238E27FC236}">
                  <a16:creationId xmlns:a16="http://schemas.microsoft.com/office/drawing/2014/main" id="{ECD782E2-3E33-75DC-FD38-CF2C3A4CC637}"/>
                </a:ext>
              </a:extLst>
            </p:cNvPr>
            <p:cNvSpPr txBox="1">
              <a:spLocks noChangeArrowheads="1"/>
            </p:cNvSpPr>
            <p:nvPr/>
          </p:nvSpPr>
          <p:spPr bwMode="auto">
            <a:xfrm>
              <a:off x="483" y="1395"/>
              <a:ext cx="3496" cy="432"/>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7938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en-US" altLang="ja-JP" b="0" dirty="0">
                  <a:ea typeface="ＭＳ ゴシック" panose="020B0609070205080204" pitchFamily="49" charset="-128"/>
                </a:rPr>
                <a:t>public </a:t>
              </a:r>
              <a:r>
                <a:rPr lang="ja-JP" altLang="ja-JP" b="0" dirty="0">
                  <a:ea typeface="ＭＳ ゴシック" panose="020B0609070205080204" pitchFamily="49" charset="-128"/>
                </a:rPr>
                <a:t>Employee class { </a:t>
              </a:r>
              <a:r>
                <a:rPr lang="en-US" altLang="ja-JP" b="0" dirty="0">
                  <a:ea typeface="ＭＳ ゴシック" panose="020B0609070205080204" pitchFamily="49" charset="-128"/>
                </a:rPr>
                <a:t> </a:t>
              </a:r>
              <a:r>
                <a:rPr lang="ja-JP" altLang="ja-JP" b="0" dirty="0">
                  <a:ea typeface="ＭＳ ゴシック" panose="020B0609070205080204" pitchFamily="49" charset="-128"/>
                </a:rPr>
                <a:t>// </a:t>
              </a:r>
              <a:r>
                <a:rPr lang="en-US" altLang="ja-JP" b="0" dirty="0" err="1">
                  <a:ea typeface="ＭＳ ゴシック" panose="020B0609070205080204" pitchFamily="49" charset="-128"/>
                </a:rPr>
                <a:t>Trường</a:t>
              </a:r>
              <a:r>
                <a:rPr lang="en-US" altLang="ja-JP" b="0" dirty="0">
                  <a:ea typeface="ＭＳ ゴシック" panose="020B0609070205080204" pitchFamily="49" charset="-128"/>
                </a:rPr>
                <a:t> </a:t>
              </a:r>
              <a:r>
                <a:rPr lang="en-US" altLang="ja-JP" b="0" dirty="0" err="1">
                  <a:ea typeface="ＭＳ ゴシック" panose="020B0609070205080204" pitchFamily="49" charset="-128"/>
                </a:rPr>
                <a:t>hợp</a:t>
              </a:r>
              <a:r>
                <a:rPr lang="en-US" altLang="ja-JP" b="0" dirty="0">
                  <a:ea typeface="ＭＳ ゴシック" panose="020B0609070205080204" pitchFamily="49" charset="-128"/>
                </a:rPr>
                <a:t> </a:t>
              </a:r>
              <a:r>
                <a:rPr lang="en-US" altLang="ja-JP" b="0" dirty="0" err="1">
                  <a:ea typeface="ＭＳ ゴシック" panose="020B0609070205080204" pitchFamily="49" charset="-128"/>
                </a:rPr>
                <a:t>không</a:t>
              </a:r>
              <a:r>
                <a:rPr lang="en-US" altLang="ja-JP" b="0" dirty="0">
                  <a:ea typeface="ＭＳ ゴシック" panose="020B0609070205080204" pitchFamily="49" charset="-128"/>
                </a:rPr>
                <a:t> có chỉ </a:t>
              </a:r>
              <a:r>
                <a:rPr lang="en-US" altLang="ja-JP" b="0" dirty="0" err="1">
                  <a:ea typeface="ＭＳ ゴシック" panose="020B0609070205080204" pitchFamily="49" charset="-128"/>
                </a:rPr>
                <a:t>định</a:t>
              </a:r>
              <a:r>
                <a:rPr lang="en-US" altLang="ja-JP" b="0" dirty="0">
                  <a:ea typeface="ＭＳ ゴシック" panose="020B0609070205080204" pitchFamily="49" charset="-128"/>
                </a:rPr>
                <a:t> </a:t>
              </a:r>
              <a:r>
                <a:rPr lang="en-US" altLang="ja-JP" b="0" dirty="0" err="1">
                  <a:ea typeface="ＭＳ ゴシック" panose="020B0609070205080204" pitchFamily="49" charset="-128"/>
                </a:rPr>
                <a:t>của</a:t>
              </a:r>
              <a:r>
                <a:rPr lang="en-US" altLang="ja-JP" b="0" dirty="0">
                  <a:ea typeface="ＭＳ ゴシック" panose="020B0609070205080204" pitchFamily="49" charset="-128"/>
                </a:rPr>
                <a:t> super class</a:t>
              </a:r>
            </a:p>
            <a:p>
              <a:pPr lvl="1" algn="just"/>
              <a:r>
                <a:rPr lang="en-US" altLang="ja-JP" b="0" dirty="0">
                  <a:ea typeface="ＭＳ ゴシック" panose="020B0609070205080204" pitchFamily="49" charset="-128"/>
                </a:rPr>
                <a:t>                         // </a:t>
              </a:r>
              <a:r>
                <a:rPr lang="en-US" altLang="ja-JP" b="0" dirty="0">
                  <a:ea typeface="MS UI Gothic" panose="020B0600070205080204" pitchFamily="50" charset="-128"/>
                </a:rPr>
                <a:t> </a:t>
              </a:r>
              <a:r>
                <a:rPr lang="en-US" altLang="ja-JP" b="0" dirty="0" err="1">
                  <a:ea typeface="MS UI Gothic" panose="020B0600070205080204" pitchFamily="50" charset="-128"/>
                </a:rPr>
                <a:t>thi</a:t>
              </a:r>
              <a:r>
                <a:rPr lang="en-US" altLang="ja-JP" b="0" dirty="0">
                  <a:ea typeface="MS UI Gothic" panose="020B0600070205080204" pitchFamily="50" charset="-128"/>
                </a:rPr>
                <a:t>̀ </a:t>
              </a:r>
              <a:r>
                <a:rPr lang="en-US" altLang="ja-JP" b="0" dirty="0" err="1">
                  <a:ea typeface="MS UI Gothic" panose="020B0600070205080204" pitchFamily="50" charset="-128"/>
                </a:rPr>
                <a:t>coi</a:t>
              </a:r>
              <a:r>
                <a:rPr lang="en-US" altLang="ja-JP" b="0" dirty="0">
                  <a:ea typeface="MS UI Gothic" panose="020B0600070205080204" pitchFamily="50" charset="-128"/>
                </a:rPr>
                <a:t> là</a:t>
              </a:r>
              <a:r>
                <a:rPr lang="ja-JP" altLang="ja-JP" b="0" dirty="0">
                  <a:ea typeface="MS UI Gothic" panose="020B0600070205080204" pitchFamily="50" charset="-128"/>
                </a:rPr>
                <a:t>「extends</a:t>
              </a:r>
              <a:r>
                <a:rPr lang="en-US" altLang="ja-JP" b="0" dirty="0">
                  <a:ea typeface="MS UI Gothic" panose="020B0600070205080204" pitchFamily="50" charset="-128"/>
                </a:rPr>
                <a:t> </a:t>
              </a:r>
              <a:r>
                <a:rPr lang="ja-JP" altLang="ja-JP" b="0" dirty="0">
                  <a:ea typeface="MS UI Gothic" panose="020B0600070205080204" pitchFamily="50" charset="-128"/>
                </a:rPr>
                <a:t>java.lang.Object」</a:t>
              </a:r>
            </a:p>
            <a:p>
              <a:pPr lvl="1" algn="just"/>
              <a:r>
                <a:rPr lang="ja-JP" altLang="en-US" b="0" dirty="0">
                  <a:ea typeface="ＭＳ ゴシック" panose="020B0609070205080204" pitchFamily="49" charset="-128"/>
                </a:rPr>
                <a:t>　　</a:t>
              </a:r>
              <a:r>
                <a:rPr lang="en-US" altLang="ja-JP" b="0" dirty="0">
                  <a:ea typeface="ＭＳ ゴシック" panose="020B0609070205080204" pitchFamily="49" charset="-128"/>
                </a:rPr>
                <a:t>//</a:t>
              </a:r>
              <a:r>
                <a:rPr lang="ja-JP" altLang="en-US" b="0" dirty="0">
                  <a:ea typeface="ＭＳ ゴシック" panose="020B0609070205080204" pitchFamily="49" charset="-128"/>
                </a:rPr>
                <a:t>　</a:t>
              </a:r>
              <a:r>
                <a:rPr lang="en-US" altLang="ja-JP" b="0" dirty="0" err="1">
                  <a:ea typeface="ＭＳ ゴシック" panose="020B0609070205080204" pitchFamily="49" charset="-128"/>
                </a:rPr>
                <a:t>Định</a:t>
              </a:r>
              <a:r>
                <a:rPr lang="en-US" altLang="ja-JP" b="0" dirty="0">
                  <a:ea typeface="ＭＳ ゴシック" panose="020B0609070205080204" pitchFamily="49" charset="-128"/>
                </a:rPr>
                <a:t> </a:t>
              </a:r>
              <a:r>
                <a:rPr lang="en-US" altLang="ja-JP" b="0" dirty="0" err="1">
                  <a:ea typeface="ＭＳ ゴシック" panose="020B0609070205080204" pitchFamily="49" charset="-128"/>
                </a:rPr>
                <a:t>nghĩa</a:t>
              </a:r>
              <a:r>
                <a:rPr lang="en-US" altLang="ja-JP" b="0" dirty="0">
                  <a:ea typeface="ＭＳ ゴシック" panose="020B0609070205080204" pitchFamily="49" charset="-128"/>
                </a:rPr>
                <a:t> </a:t>
              </a:r>
              <a:r>
                <a:rPr lang="en-US" altLang="ja-JP" b="0" dirty="0" err="1">
                  <a:ea typeface="ＭＳ ゴシック" panose="020B0609070205080204" pitchFamily="49" charset="-128"/>
                </a:rPr>
                <a:t>tính</a:t>
              </a:r>
              <a:r>
                <a:rPr lang="en-US" altLang="ja-JP" b="0" dirty="0">
                  <a:ea typeface="ＭＳ ゴシック" panose="020B0609070205080204" pitchFamily="49" charset="-128"/>
                </a:rPr>
                <a:t> </a:t>
              </a:r>
              <a:r>
                <a:rPr lang="en-US" altLang="ja-JP" b="0" dirty="0" err="1">
                  <a:ea typeface="ＭＳ ゴシック" panose="020B0609070205080204" pitchFamily="49" charset="-128"/>
                </a:rPr>
                <a:t>chất</a:t>
              </a:r>
              <a:r>
                <a:rPr lang="en-US" altLang="ja-JP" b="0" dirty="0">
                  <a:ea typeface="ＭＳ ゴシック" panose="020B0609070205080204" pitchFamily="49" charset="-128"/>
                </a:rPr>
                <a:t> (</a:t>
              </a:r>
              <a:r>
                <a:rPr lang="en-US" altLang="ja-JP" b="0" dirty="0" err="1">
                  <a:ea typeface="ＭＳ ゴシック" panose="020B0609070205080204" pitchFamily="49" charset="-128"/>
                </a:rPr>
                <a:t>thuộc</a:t>
              </a:r>
              <a:r>
                <a:rPr lang="en-US" altLang="ja-JP" b="0" dirty="0">
                  <a:ea typeface="ＭＳ ゴシック" panose="020B0609070205080204" pitchFamily="49" charset="-128"/>
                </a:rPr>
                <a:t> </a:t>
              </a:r>
              <a:r>
                <a:rPr lang="en-US" altLang="ja-JP" b="0" dirty="0" err="1">
                  <a:ea typeface="ＭＳ ゴシック" panose="020B0609070205080204" pitchFamily="49" charset="-128"/>
                </a:rPr>
                <a:t>tính</a:t>
              </a:r>
              <a:r>
                <a:rPr lang="en-US" altLang="ja-JP" b="0" dirty="0">
                  <a:ea typeface="ＭＳ ゴシック" panose="020B0609070205080204" pitchFamily="49" charset="-128"/>
                </a:rPr>
                <a:t>, </a:t>
              </a:r>
              <a:r>
                <a:rPr lang="en-US" altLang="ja-JP" b="0" dirty="0" err="1">
                  <a:ea typeface="ＭＳ ゴシック" panose="020B0609070205080204" pitchFamily="49" charset="-128"/>
                </a:rPr>
                <a:t>thao</a:t>
              </a:r>
              <a:r>
                <a:rPr lang="en-US" altLang="ja-JP" b="0" dirty="0">
                  <a:ea typeface="ＭＳ ゴシック" panose="020B0609070205080204" pitchFamily="49" charset="-128"/>
                </a:rPr>
                <a:t> </a:t>
              </a:r>
              <a:r>
                <a:rPr lang="en-US" altLang="ja-JP" b="0" dirty="0" err="1">
                  <a:ea typeface="ＭＳ ゴシック" panose="020B0609070205080204" pitchFamily="49" charset="-128"/>
                </a:rPr>
                <a:t>tác</a:t>
              </a:r>
              <a:r>
                <a:rPr lang="en-US" altLang="ja-JP" b="0" dirty="0">
                  <a:ea typeface="ＭＳ ゴシック" panose="020B0609070205080204" pitchFamily="49" charset="-128"/>
                </a:rPr>
                <a:t>) </a:t>
              </a:r>
              <a:r>
                <a:rPr lang="en-US" altLang="ja-JP" b="0" dirty="0" err="1">
                  <a:ea typeface="ＭＳ ゴシック" panose="020B0609070205080204" pitchFamily="49" charset="-128"/>
                </a:rPr>
                <a:t>chung</a:t>
              </a:r>
              <a:endParaRPr lang="en-US" altLang="ja-JP" b="0" dirty="0">
                <a:ea typeface="MS UI Gothic" panose="020B0600070205080204" pitchFamily="50" charset="-128"/>
              </a:endParaRPr>
            </a:p>
            <a:p>
              <a:pPr lvl="1" algn="just"/>
              <a:r>
                <a:rPr lang="ja-JP" altLang="ja-JP" b="0" dirty="0">
                  <a:ea typeface="ＭＳ ゴシック" panose="020B0609070205080204" pitchFamily="49" charset="-128"/>
                </a:rPr>
                <a:t>}</a:t>
              </a:r>
            </a:p>
          </p:txBody>
        </p:sp>
        <p:sp>
          <p:nvSpPr>
            <p:cNvPr id="10" name="Text Box 147">
              <a:extLst>
                <a:ext uri="{FF2B5EF4-FFF2-40B4-BE49-F238E27FC236}">
                  <a16:creationId xmlns:a16="http://schemas.microsoft.com/office/drawing/2014/main" id="{A01DB5DD-5317-8D6A-ACE6-31543A6F5715}"/>
                </a:ext>
              </a:extLst>
            </p:cNvPr>
            <p:cNvSpPr txBox="1">
              <a:spLocks noChangeArrowheads="1"/>
            </p:cNvSpPr>
            <p:nvPr/>
          </p:nvSpPr>
          <p:spPr bwMode="auto">
            <a:xfrm>
              <a:off x="483" y="1867"/>
              <a:ext cx="3496" cy="342"/>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defTabSz="954088">
                <a:defRPr kumimoji="1">
                  <a:solidFill>
                    <a:schemeClr val="tx1"/>
                  </a:solidFill>
                  <a:latin typeface="Arial" panose="020B0604020202020204" pitchFamily="34" charset="0"/>
                  <a:ea typeface="ＭＳ Ｐゴシック" panose="020B0600070205080204" pitchFamily="50" charset="-128"/>
                </a:defRPr>
              </a:lvl1pPr>
              <a:lvl2pPr marL="179388" defTabSz="954088">
                <a:defRPr kumimoji="1">
                  <a:solidFill>
                    <a:schemeClr val="tx1"/>
                  </a:solidFill>
                  <a:latin typeface="Arial" panose="020B0604020202020204" pitchFamily="34" charset="0"/>
                  <a:ea typeface="ＭＳ Ｐゴシック" panose="020B0600070205080204" pitchFamily="50" charset="-128"/>
                </a:defRPr>
              </a:lvl2pPr>
              <a:lvl3pPr marL="954088" defTabSz="954088">
                <a:defRPr kumimoji="1">
                  <a:solidFill>
                    <a:schemeClr val="tx1"/>
                  </a:solidFill>
                  <a:latin typeface="Arial" panose="020B0604020202020204" pitchFamily="34" charset="0"/>
                  <a:ea typeface="ＭＳ Ｐゴシック" panose="020B0600070205080204" pitchFamily="50" charset="-128"/>
                </a:defRPr>
              </a:lvl3pPr>
              <a:lvl4pPr marL="1431925" defTabSz="954088">
                <a:defRPr kumimoji="1">
                  <a:solidFill>
                    <a:schemeClr val="tx1"/>
                  </a:solidFill>
                  <a:latin typeface="Arial" panose="020B0604020202020204" pitchFamily="34" charset="0"/>
                  <a:ea typeface="ＭＳ Ｐゴシック" panose="020B0600070205080204" pitchFamily="50" charset="-128"/>
                </a:defRPr>
              </a:lvl4pPr>
              <a:lvl5pPr marL="1909763" defTabSz="954088">
                <a:defRPr kumimoji="1">
                  <a:solidFill>
                    <a:schemeClr val="tx1"/>
                  </a:solidFill>
                  <a:latin typeface="Arial" panose="020B0604020202020204" pitchFamily="34" charset="0"/>
                  <a:ea typeface="ＭＳ Ｐゴシック" panose="020B0600070205080204" pitchFamily="50" charset="-128"/>
                </a:defRPr>
              </a:lvl5pPr>
              <a:lvl6pPr marL="23669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8241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2813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738563" defTabSz="954088"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r>
                <a:rPr lang="ja-JP" altLang="ja-JP" b="0">
                  <a:ea typeface="ＭＳ ゴシック" panose="020B0609070205080204" pitchFamily="49" charset="-128"/>
                </a:rPr>
                <a:t>public Sales class extends Employee</a:t>
              </a:r>
              <a:r>
                <a:rPr lang="en-US" altLang="ja-JP" b="0">
                  <a:ea typeface="ＭＳ ゴシック" panose="020B0609070205080204" pitchFamily="49" charset="-128"/>
                </a:rPr>
                <a:t> </a:t>
              </a:r>
              <a:r>
                <a:rPr lang="ja-JP" altLang="ja-JP" b="0">
                  <a:ea typeface="ＭＳ ゴシック" panose="020B0609070205080204" pitchFamily="49" charset="-128"/>
                </a:rPr>
                <a:t>{</a:t>
              </a:r>
            </a:p>
            <a:p>
              <a:pPr lvl="1" algn="just"/>
              <a:r>
                <a:rPr lang="ja-JP" altLang="ja-JP" b="0">
                  <a:ea typeface="ＭＳ ゴシック" panose="020B0609070205080204" pitchFamily="49" charset="-128"/>
                </a:rPr>
                <a:t>　　// </a:t>
              </a:r>
              <a:r>
                <a:rPr lang="en-US" altLang="ja-JP" b="0">
                  <a:ea typeface="ＭＳ ゴシック" panose="020B0609070205080204" pitchFamily="49" charset="-128"/>
                </a:rPr>
                <a:t>Mô tả thuộc tính và thao tác add thêm vào </a:t>
              </a:r>
              <a:r>
                <a:rPr lang="ja-JP" altLang="ja-JP" b="0">
                  <a:ea typeface="MS UI Gothic" panose="020B0600070205080204" pitchFamily="50" charset="-128"/>
                </a:rPr>
                <a:t>Sales</a:t>
              </a:r>
              <a:r>
                <a:rPr lang="en-US" altLang="ja-JP" b="0">
                  <a:ea typeface="MS UI Gothic" panose="020B0600070205080204" pitchFamily="50" charset="-128"/>
                </a:rPr>
                <a:t> class</a:t>
              </a:r>
              <a:r>
                <a:rPr lang="ja-JP" altLang="ja-JP" b="0">
                  <a:ea typeface="MS UI Gothic" panose="020B0600070205080204" pitchFamily="50" charset="-128"/>
                </a:rPr>
                <a:t> </a:t>
              </a:r>
              <a:r>
                <a:rPr lang="en-US" altLang="ja-JP" b="0">
                  <a:ea typeface="ＭＳ ゴシック" panose="020B0609070205080204" pitchFamily="49" charset="-128"/>
                </a:rPr>
                <a:t>vốn có </a:t>
              </a:r>
              <a:r>
                <a:rPr lang="ja-JP" altLang="ja-JP" b="0">
                  <a:ea typeface="ＭＳ ゴシック" panose="020B0609070205080204" pitchFamily="49" charset="-128"/>
                </a:rPr>
                <a:t>}</a:t>
              </a:r>
            </a:p>
          </p:txBody>
        </p:sp>
      </p:grpSp>
      <p:grpSp>
        <p:nvGrpSpPr>
          <p:cNvPr id="11" name="Group 176">
            <a:extLst>
              <a:ext uri="{FF2B5EF4-FFF2-40B4-BE49-F238E27FC236}">
                <a16:creationId xmlns:a16="http://schemas.microsoft.com/office/drawing/2014/main" id="{775FD119-30AF-8996-CA34-27CFB27BA07D}"/>
              </a:ext>
            </a:extLst>
          </p:cNvPr>
          <p:cNvGrpSpPr>
            <a:grpSpLocks/>
          </p:cNvGrpSpPr>
          <p:nvPr/>
        </p:nvGrpSpPr>
        <p:grpSpPr bwMode="auto">
          <a:xfrm>
            <a:off x="569912" y="2301875"/>
            <a:ext cx="8574088" cy="3717925"/>
            <a:chOff x="359" y="2339"/>
            <a:chExt cx="2721" cy="2342"/>
          </a:xfrm>
        </p:grpSpPr>
        <p:sp>
          <p:nvSpPr>
            <p:cNvPr id="12" name="AutoShape 131">
              <a:extLst>
                <a:ext uri="{FF2B5EF4-FFF2-40B4-BE49-F238E27FC236}">
                  <a16:creationId xmlns:a16="http://schemas.microsoft.com/office/drawing/2014/main" id="{FE1C70A3-81D9-7781-BDB6-A4C888F6E238}"/>
                </a:ext>
              </a:extLst>
            </p:cNvPr>
            <p:cNvSpPr>
              <a:spLocks noChangeArrowheads="1"/>
            </p:cNvSpPr>
            <p:nvPr/>
          </p:nvSpPr>
          <p:spPr bwMode="auto">
            <a:xfrm>
              <a:off x="396" y="2339"/>
              <a:ext cx="928" cy="459"/>
            </a:xfrm>
            <a:prstGeom prst="wedgeRoundRectCallout">
              <a:avLst>
                <a:gd name="adj1" fmla="val 70824"/>
                <a:gd name="adj2" fmla="val 9694"/>
                <a:gd name="adj3" fmla="val 16667"/>
              </a:avLst>
            </a:prstGeom>
            <a:solidFill>
              <a:srgbClr val="FFFF99"/>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3" tIns="19046"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dirty="0">
                  <a:latin typeface="+mj-lt"/>
                  <a:ea typeface="MS UI Gothic" panose="020B0600070205080204" pitchFamily="50" charset="-128"/>
                </a:rPr>
                <a:t>Superclass </a:t>
              </a:r>
              <a:r>
                <a:rPr lang="en-US" altLang="ja-JP" b="0" dirty="0" err="1">
                  <a:latin typeface="+mj-lt"/>
                  <a:ea typeface="MS UI Gothic" panose="020B0600070205080204" pitchFamily="50" charset="-128"/>
                </a:rPr>
                <a:t>của</a:t>
              </a:r>
              <a:r>
                <a:rPr lang="en-US" altLang="ja-JP" b="0" dirty="0">
                  <a:latin typeface="+mj-lt"/>
                  <a:ea typeface="MS UI Gothic" panose="020B0600070205080204" pitchFamily="50" charset="-128"/>
                </a:rPr>
                <a:t> Employee</a:t>
              </a:r>
            </a:p>
            <a:p>
              <a:pPr algn="ctr"/>
              <a:r>
                <a:rPr lang="en-US" altLang="ja-JP" b="0" dirty="0">
                  <a:latin typeface="+mj-lt"/>
                  <a:ea typeface="MS UI Gothic" panose="020B0600070205080204" pitchFamily="50" charset="-128"/>
                </a:rPr>
                <a:t>【</a:t>
              </a:r>
              <a:r>
                <a:rPr lang="en-US" altLang="ja-JP" b="0" dirty="0" err="1">
                  <a:latin typeface="+mj-lt"/>
                  <a:ea typeface="MS UI Gothic" panose="020B0600070205080204" pitchFamily="50" charset="-128"/>
                </a:rPr>
                <a:t>Định</a:t>
              </a:r>
              <a:r>
                <a:rPr lang="en-US" altLang="ja-JP" b="0" dirty="0">
                  <a:latin typeface="+mj-lt"/>
                  <a:ea typeface="MS UI Gothic" panose="020B0600070205080204" pitchFamily="50" charset="-128"/>
                </a:rPr>
                <a:t> </a:t>
              </a:r>
              <a:r>
                <a:rPr lang="en-US" altLang="ja-JP" b="0" dirty="0" err="1">
                  <a:latin typeface="+mj-lt"/>
                  <a:ea typeface="MS UI Gothic" panose="020B0600070205080204" pitchFamily="50" charset="-128"/>
                </a:rPr>
                <a:t>nghĩa</a:t>
              </a:r>
              <a:r>
                <a:rPr lang="en-US" altLang="ja-JP" b="0" dirty="0">
                  <a:latin typeface="+mj-lt"/>
                  <a:ea typeface="MS UI Gothic" panose="020B0600070205080204" pitchFamily="50" charset="-128"/>
                </a:rPr>
                <a:t> </a:t>
              </a:r>
              <a:r>
                <a:rPr lang="en-US" altLang="ja-JP" b="0" dirty="0" err="1">
                  <a:latin typeface="+mj-lt"/>
                  <a:ea typeface="MS UI Gothic" panose="020B0600070205080204" pitchFamily="50" charset="-128"/>
                </a:rPr>
                <a:t>tính</a:t>
              </a:r>
              <a:r>
                <a:rPr lang="en-US" altLang="ja-JP" b="0" dirty="0">
                  <a:latin typeface="+mj-lt"/>
                  <a:ea typeface="MS UI Gothic" panose="020B0600070205080204" pitchFamily="50" charset="-128"/>
                </a:rPr>
                <a:t> </a:t>
              </a:r>
              <a:r>
                <a:rPr lang="en-US" altLang="ja-JP" b="0" dirty="0" err="1">
                  <a:latin typeface="+mj-lt"/>
                  <a:ea typeface="MS UI Gothic" panose="020B0600070205080204" pitchFamily="50" charset="-128"/>
                </a:rPr>
                <a:t>chất</a:t>
              </a:r>
              <a:r>
                <a:rPr lang="en-US" altLang="ja-JP" b="0" dirty="0">
                  <a:latin typeface="+mj-lt"/>
                  <a:ea typeface="MS UI Gothic" panose="020B0600070205080204" pitchFamily="50" charset="-128"/>
                </a:rPr>
                <a:t> common Object】</a:t>
              </a:r>
              <a:endParaRPr lang="en-US" altLang="ja-JP" dirty="0">
                <a:latin typeface="+mj-lt"/>
                <a:ea typeface="MS UI Gothic" panose="020B0600070205080204" pitchFamily="50" charset="-128"/>
              </a:endParaRPr>
            </a:p>
          </p:txBody>
        </p:sp>
        <p:sp>
          <p:nvSpPr>
            <p:cNvPr id="13" name="AutoShape 132">
              <a:extLst>
                <a:ext uri="{FF2B5EF4-FFF2-40B4-BE49-F238E27FC236}">
                  <a16:creationId xmlns:a16="http://schemas.microsoft.com/office/drawing/2014/main" id="{A36E100C-46FD-5988-A849-EE3089415709}"/>
                </a:ext>
              </a:extLst>
            </p:cNvPr>
            <p:cNvSpPr>
              <a:spLocks noChangeArrowheads="1"/>
            </p:cNvSpPr>
            <p:nvPr/>
          </p:nvSpPr>
          <p:spPr bwMode="auto">
            <a:xfrm>
              <a:off x="359" y="2931"/>
              <a:ext cx="1032" cy="704"/>
            </a:xfrm>
            <a:prstGeom prst="wedgeRoundRectCallout">
              <a:avLst>
                <a:gd name="adj1" fmla="val 57463"/>
                <a:gd name="adj2" fmla="val -28606"/>
                <a:gd name="adj3" fmla="val 16667"/>
              </a:avLst>
            </a:prstGeom>
            <a:solidFill>
              <a:srgbClr val="FFFF99"/>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3" tIns="19046"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dirty="0">
                  <a:ea typeface="MS UI Gothic" panose="020B0600070205080204" pitchFamily="50" charset="-128"/>
                </a:rPr>
                <a:t>Subclass </a:t>
              </a:r>
              <a:r>
                <a:rPr lang="en-US" altLang="ja-JP" b="0" dirty="0" err="1">
                  <a:ea typeface="MS UI Gothic" panose="020B0600070205080204" pitchFamily="50" charset="-128"/>
                </a:rPr>
                <a:t>của</a:t>
              </a:r>
              <a:r>
                <a:rPr lang="en-US" altLang="ja-JP" b="0" dirty="0">
                  <a:ea typeface="MS UI Gothic" panose="020B0600070205080204" pitchFamily="50" charset="-128"/>
                </a:rPr>
                <a:t> </a:t>
              </a:r>
              <a:r>
                <a:rPr lang="en-US" altLang="ja-JP" b="0" dirty="0" err="1">
                  <a:ea typeface="MS UI Gothic" panose="020B0600070205080204" pitchFamily="50" charset="-128"/>
                </a:rPr>
                <a:t>ObjectSales</a:t>
              </a:r>
              <a:r>
                <a:rPr lang="en-US" altLang="ja-JP" b="0" dirty="0">
                  <a:ea typeface="MS UI Gothic" panose="020B0600070205080204" pitchFamily="50" charset="-128"/>
                </a:rPr>
                <a:t>, Super class </a:t>
              </a:r>
              <a:r>
                <a:rPr lang="en-US" altLang="ja-JP" b="0" dirty="0" err="1">
                  <a:ea typeface="MS UI Gothic" panose="020B0600070205080204" pitchFamily="50" charset="-128"/>
                </a:rPr>
                <a:t>của</a:t>
              </a:r>
              <a:r>
                <a:rPr lang="en-US" altLang="ja-JP" b="0" dirty="0">
                  <a:ea typeface="MS UI Gothic" panose="020B0600070205080204" pitchFamily="50" charset="-128"/>
                </a:rPr>
                <a:t> SE</a:t>
              </a:r>
            </a:p>
            <a:p>
              <a:pPr algn="ctr"/>
              <a:r>
                <a:rPr lang="en-US" altLang="ja-JP" b="0" dirty="0">
                  <a:ea typeface="MS UI Gothic" panose="020B0600070205080204" pitchFamily="50" charset="-128"/>
                </a:rPr>
                <a:t>【 </a:t>
              </a:r>
              <a:r>
                <a:rPr lang="en-US" altLang="ja-JP" b="0" dirty="0" err="1">
                  <a:ea typeface="MS UI Gothic" panose="020B0600070205080204" pitchFamily="50" charset="-128"/>
                </a:rPr>
                <a:t>Định</a:t>
              </a:r>
              <a:r>
                <a:rPr lang="en-US" altLang="ja-JP" b="0" dirty="0">
                  <a:ea typeface="MS UI Gothic" panose="020B0600070205080204" pitchFamily="50" charset="-128"/>
                </a:rPr>
                <a:t> </a:t>
              </a:r>
              <a:r>
                <a:rPr lang="en-US" altLang="ja-JP" b="0" dirty="0" err="1">
                  <a:ea typeface="MS UI Gothic" panose="020B0600070205080204" pitchFamily="50" charset="-128"/>
                </a:rPr>
                <a:t>nghĩa</a:t>
              </a:r>
              <a:r>
                <a:rPr lang="en-US" altLang="ja-JP" b="0" dirty="0">
                  <a:ea typeface="MS UI Gothic" panose="020B0600070205080204" pitchFamily="50" charset="-128"/>
                </a:rPr>
                <a:t> </a:t>
              </a:r>
              <a:r>
                <a:rPr lang="en-US" altLang="ja-JP" b="0" dirty="0" err="1">
                  <a:ea typeface="MS UI Gothic" panose="020B0600070205080204" pitchFamily="50" charset="-128"/>
                </a:rPr>
                <a:t>tính</a:t>
              </a:r>
              <a:r>
                <a:rPr lang="en-US" altLang="ja-JP" b="0" dirty="0">
                  <a:ea typeface="MS UI Gothic" panose="020B0600070205080204" pitchFamily="50" charset="-128"/>
                </a:rPr>
                <a:t> </a:t>
              </a:r>
              <a:r>
                <a:rPr lang="en-US" altLang="ja-JP" b="0" dirty="0" err="1">
                  <a:ea typeface="MS UI Gothic" panose="020B0600070205080204" pitchFamily="50" charset="-128"/>
                </a:rPr>
                <a:t>chất</a:t>
              </a:r>
              <a:r>
                <a:rPr lang="en-US" altLang="ja-JP" b="0" dirty="0">
                  <a:ea typeface="MS UI Gothic" panose="020B0600070205080204" pitchFamily="50" charset="-128"/>
                </a:rPr>
                <a:t> common </a:t>
              </a:r>
              <a:r>
                <a:rPr lang="en-US" altLang="ja-JP" b="0" dirty="0" err="1">
                  <a:ea typeface="MS UI Gothic" panose="020B0600070205080204" pitchFamily="50" charset="-128"/>
                </a:rPr>
                <a:t>của</a:t>
              </a:r>
              <a:r>
                <a:rPr lang="en-US" altLang="ja-JP" b="0" dirty="0">
                  <a:ea typeface="MS UI Gothic" panose="020B0600070205080204" pitchFamily="50" charset="-128"/>
                </a:rPr>
                <a:t> </a:t>
              </a:r>
              <a:r>
                <a:rPr lang="en-US" altLang="ja-JP" b="0" dirty="0" err="1">
                  <a:ea typeface="MS UI Gothic" panose="020B0600070205080204" pitchFamily="50" charset="-128"/>
                </a:rPr>
                <a:t>nhân</a:t>
              </a:r>
              <a:r>
                <a:rPr lang="en-US" altLang="ja-JP" b="0" dirty="0">
                  <a:ea typeface="MS UI Gothic" panose="020B0600070205080204" pitchFamily="50" charset="-128"/>
                </a:rPr>
                <a:t> </a:t>
              </a:r>
              <a:r>
                <a:rPr lang="en-US" altLang="ja-JP" b="0" dirty="0" err="1">
                  <a:ea typeface="MS UI Gothic" panose="020B0600070205080204" pitchFamily="50" charset="-128"/>
                </a:rPr>
                <a:t>viên</a:t>
              </a:r>
              <a:r>
                <a:rPr lang="en-US" altLang="ja-JP" b="0" dirty="0">
                  <a:ea typeface="MS UI Gothic" panose="020B0600070205080204" pitchFamily="50" charset="-128"/>
                </a:rPr>
                <a:t>】</a:t>
              </a:r>
            </a:p>
          </p:txBody>
        </p:sp>
        <p:sp>
          <p:nvSpPr>
            <p:cNvPr id="14" name="Rectangle 133">
              <a:extLst>
                <a:ext uri="{FF2B5EF4-FFF2-40B4-BE49-F238E27FC236}">
                  <a16:creationId xmlns:a16="http://schemas.microsoft.com/office/drawing/2014/main" id="{8822E0C0-4D89-6812-FD09-CBC89D3B467B}"/>
                </a:ext>
              </a:extLst>
            </p:cNvPr>
            <p:cNvSpPr>
              <a:spLocks noChangeArrowheads="1"/>
            </p:cNvSpPr>
            <p:nvPr/>
          </p:nvSpPr>
          <p:spPr bwMode="auto">
            <a:xfrm>
              <a:off x="1505" y="2452"/>
              <a:ext cx="772" cy="249"/>
            </a:xfrm>
            <a:prstGeom prst="rect">
              <a:avLst/>
            </a:prstGeom>
            <a:solidFill>
              <a:srgbClr val="CCFFFF"/>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3" tIns="90000"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java.lang.Object</a:t>
              </a:r>
              <a:endParaRPr lang="en-US" altLang="ja-JP">
                <a:ea typeface="MS UI Gothic" panose="020B0600070205080204" pitchFamily="50" charset="-128"/>
              </a:endParaRPr>
            </a:p>
          </p:txBody>
        </p:sp>
        <p:sp>
          <p:nvSpPr>
            <p:cNvPr id="15" name="Rectangle 134">
              <a:extLst>
                <a:ext uri="{FF2B5EF4-FFF2-40B4-BE49-F238E27FC236}">
                  <a16:creationId xmlns:a16="http://schemas.microsoft.com/office/drawing/2014/main" id="{55D20365-4EE9-CD61-03BA-6E2FE3F65BD9}"/>
                </a:ext>
              </a:extLst>
            </p:cNvPr>
            <p:cNvSpPr>
              <a:spLocks noChangeArrowheads="1"/>
            </p:cNvSpPr>
            <p:nvPr/>
          </p:nvSpPr>
          <p:spPr bwMode="auto">
            <a:xfrm>
              <a:off x="1526" y="2918"/>
              <a:ext cx="772" cy="248"/>
            </a:xfrm>
            <a:prstGeom prst="rect">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3" tIns="90000"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Employee</a:t>
              </a:r>
              <a:endParaRPr lang="en-US" altLang="ja-JP">
                <a:ea typeface="MS UI Gothic" panose="020B0600070205080204" pitchFamily="50" charset="-128"/>
              </a:endParaRPr>
            </a:p>
          </p:txBody>
        </p:sp>
        <p:sp>
          <p:nvSpPr>
            <p:cNvPr id="16" name="Rectangle 135">
              <a:extLst>
                <a:ext uri="{FF2B5EF4-FFF2-40B4-BE49-F238E27FC236}">
                  <a16:creationId xmlns:a16="http://schemas.microsoft.com/office/drawing/2014/main" id="{A13BC076-2103-49AF-67F3-D0296D18C642}"/>
                </a:ext>
              </a:extLst>
            </p:cNvPr>
            <p:cNvSpPr>
              <a:spLocks noChangeArrowheads="1"/>
            </p:cNvSpPr>
            <p:nvPr/>
          </p:nvSpPr>
          <p:spPr bwMode="auto">
            <a:xfrm>
              <a:off x="1111" y="3451"/>
              <a:ext cx="772" cy="249"/>
            </a:xfrm>
            <a:prstGeom prst="rect">
              <a:avLst/>
            </a:prstGeom>
            <a:solidFill>
              <a:srgbClr val="FFCC99"/>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3" tIns="90000"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Sales</a:t>
              </a:r>
              <a:endParaRPr lang="en-US" altLang="ja-JP">
                <a:ea typeface="MS UI Gothic" panose="020B0600070205080204" pitchFamily="50" charset="-128"/>
              </a:endParaRPr>
            </a:p>
          </p:txBody>
        </p:sp>
        <p:sp>
          <p:nvSpPr>
            <p:cNvPr id="17" name="Rectangle 136">
              <a:extLst>
                <a:ext uri="{FF2B5EF4-FFF2-40B4-BE49-F238E27FC236}">
                  <a16:creationId xmlns:a16="http://schemas.microsoft.com/office/drawing/2014/main" id="{B3140279-90BD-88E4-ADD4-A62DE0645276}"/>
                </a:ext>
              </a:extLst>
            </p:cNvPr>
            <p:cNvSpPr>
              <a:spLocks noChangeArrowheads="1"/>
            </p:cNvSpPr>
            <p:nvPr/>
          </p:nvSpPr>
          <p:spPr bwMode="auto">
            <a:xfrm>
              <a:off x="1971" y="3453"/>
              <a:ext cx="772" cy="249"/>
            </a:xfrm>
            <a:prstGeom prst="rect">
              <a:avLst/>
            </a:prstGeom>
            <a:solidFill>
              <a:schemeClr val="bg1"/>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3" tIns="90000"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SimSun" panose="02010600030101010101" pitchFamily="2" charset="-122"/>
                </a:rPr>
                <a:t>SE</a:t>
              </a:r>
              <a:endParaRPr lang="en-US" altLang="ja-JP">
                <a:ea typeface="SimSun" panose="02010600030101010101" pitchFamily="2" charset="-122"/>
              </a:endParaRPr>
            </a:p>
          </p:txBody>
        </p:sp>
        <p:grpSp>
          <p:nvGrpSpPr>
            <p:cNvPr id="18" name="Group 137">
              <a:extLst>
                <a:ext uri="{FF2B5EF4-FFF2-40B4-BE49-F238E27FC236}">
                  <a16:creationId xmlns:a16="http://schemas.microsoft.com/office/drawing/2014/main" id="{5859D918-CCF9-F8F0-4E6F-C9CE06224163}"/>
                </a:ext>
              </a:extLst>
            </p:cNvPr>
            <p:cNvGrpSpPr>
              <a:grpSpLocks/>
            </p:cNvGrpSpPr>
            <p:nvPr/>
          </p:nvGrpSpPr>
          <p:grpSpPr bwMode="auto">
            <a:xfrm>
              <a:off x="1878" y="2709"/>
              <a:ext cx="87" cy="207"/>
              <a:chOff x="3768" y="11623"/>
              <a:chExt cx="218" cy="517"/>
            </a:xfrm>
          </p:grpSpPr>
          <p:sp>
            <p:nvSpPr>
              <p:cNvPr id="26" name="Line 138">
                <a:extLst>
                  <a:ext uri="{FF2B5EF4-FFF2-40B4-BE49-F238E27FC236}">
                    <a16:creationId xmlns:a16="http://schemas.microsoft.com/office/drawing/2014/main" id="{464C581F-FEB3-9EEF-F74A-DD59B63A8DD2}"/>
                  </a:ext>
                </a:extLst>
              </p:cNvPr>
              <p:cNvSpPr>
                <a:spLocks noChangeShapeType="1"/>
              </p:cNvSpPr>
              <p:nvPr/>
            </p:nvSpPr>
            <p:spPr bwMode="auto">
              <a:xfrm flipV="1">
                <a:off x="3872" y="11767"/>
                <a:ext cx="0" cy="37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27" name="AutoShape 139">
                <a:extLst>
                  <a:ext uri="{FF2B5EF4-FFF2-40B4-BE49-F238E27FC236}">
                    <a16:creationId xmlns:a16="http://schemas.microsoft.com/office/drawing/2014/main" id="{62FFA27C-7166-8D2B-D651-D46F8593D4FA}"/>
                  </a:ext>
                </a:extLst>
              </p:cNvPr>
              <p:cNvSpPr>
                <a:spLocks noChangeArrowheads="1"/>
              </p:cNvSpPr>
              <p:nvPr/>
            </p:nvSpPr>
            <p:spPr bwMode="auto">
              <a:xfrm>
                <a:off x="3768" y="11623"/>
                <a:ext cx="218" cy="154"/>
              </a:xfrm>
              <a:prstGeom prst="triangle">
                <a:avLst>
                  <a:gd name="adj" fmla="val 50000"/>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grpSp>
        <p:sp>
          <p:nvSpPr>
            <p:cNvPr id="19" name="Line 140">
              <a:extLst>
                <a:ext uri="{FF2B5EF4-FFF2-40B4-BE49-F238E27FC236}">
                  <a16:creationId xmlns:a16="http://schemas.microsoft.com/office/drawing/2014/main" id="{FEC635E0-966A-AC0A-8E26-6C17B95E0ED8}"/>
                </a:ext>
              </a:extLst>
            </p:cNvPr>
            <p:cNvSpPr>
              <a:spLocks noChangeShapeType="1"/>
            </p:cNvSpPr>
            <p:nvPr/>
          </p:nvSpPr>
          <p:spPr bwMode="auto">
            <a:xfrm flipV="1">
              <a:off x="1928" y="3204"/>
              <a:ext cx="0" cy="129"/>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20" name="AutoShape 141">
              <a:extLst>
                <a:ext uri="{FF2B5EF4-FFF2-40B4-BE49-F238E27FC236}">
                  <a16:creationId xmlns:a16="http://schemas.microsoft.com/office/drawing/2014/main" id="{66560E44-C191-9417-1B00-74FA526EAD77}"/>
                </a:ext>
              </a:extLst>
            </p:cNvPr>
            <p:cNvSpPr>
              <a:spLocks noChangeArrowheads="1"/>
            </p:cNvSpPr>
            <p:nvPr/>
          </p:nvSpPr>
          <p:spPr bwMode="auto">
            <a:xfrm>
              <a:off x="1881" y="3173"/>
              <a:ext cx="87" cy="61"/>
            </a:xfrm>
            <a:prstGeom prst="triangle">
              <a:avLst>
                <a:gd name="adj" fmla="val 50000"/>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21" name="Line 142">
              <a:extLst>
                <a:ext uri="{FF2B5EF4-FFF2-40B4-BE49-F238E27FC236}">
                  <a16:creationId xmlns:a16="http://schemas.microsoft.com/office/drawing/2014/main" id="{087D0F67-B356-50FC-8283-1F7071419140}"/>
                </a:ext>
              </a:extLst>
            </p:cNvPr>
            <p:cNvSpPr>
              <a:spLocks noChangeShapeType="1"/>
            </p:cNvSpPr>
            <p:nvPr/>
          </p:nvSpPr>
          <p:spPr bwMode="auto">
            <a:xfrm flipV="1">
              <a:off x="1501" y="3337"/>
              <a:ext cx="0" cy="10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22" name="Line 143">
              <a:extLst>
                <a:ext uri="{FF2B5EF4-FFF2-40B4-BE49-F238E27FC236}">
                  <a16:creationId xmlns:a16="http://schemas.microsoft.com/office/drawing/2014/main" id="{8ECF94CE-74AC-4808-A5AE-86D909FF9D09}"/>
                </a:ext>
              </a:extLst>
            </p:cNvPr>
            <p:cNvSpPr>
              <a:spLocks noChangeShapeType="1"/>
            </p:cNvSpPr>
            <p:nvPr/>
          </p:nvSpPr>
          <p:spPr bwMode="auto">
            <a:xfrm flipH="1" flipV="1">
              <a:off x="1503" y="3337"/>
              <a:ext cx="85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23" name="Line 144">
              <a:extLst>
                <a:ext uri="{FF2B5EF4-FFF2-40B4-BE49-F238E27FC236}">
                  <a16:creationId xmlns:a16="http://schemas.microsoft.com/office/drawing/2014/main" id="{DEC699E5-E94F-E376-15AE-70CDA8275795}"/>
                </a:ext>
              </a:extLst>
            </p:cNvPr>
            <p:cNvSpPr>
              <a:spLocks noChangeShapeType="1"/>
            </p:cNvSpPr>
            <p:nvPr/>
          </p:nvSpPr>
          <p:spPr bwMode="auto">
            <a:xfrm flipV="1">
              <a:off x="2361" y="3342"/>
              <a:ext cx="0" cy="10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24" name="AutoShape 150">
              <a:extLst>
                <a:ext uri="{FF2B5EF4-FFF2-40B4-BE49-F238E27FC236}">
                  <a16:creationId xmlns:a16="http://schemas.microsoft.com/office/drawing/2014/main" id="{67DDC5E1-33E5-A205-82AC-FFCF0CAACD01}"/>
                </a:ext>
              </a:extLst>
            </p:cNvPr>
            <p:cNvSpPr>
              <a:spLocks noChangeArrowheads="1"/>
            </p:cNvSpPr>
            <p:nvPr/>
          </p:nvSpPr>
          <p:spPr bwMode="auto">
            <a:xfrm>
              <a:off x="823" y="3916"/>
              <a:ext cx="1070" cy="765"/>
            </a:xfrm>
            <a:prstGeom prst="wedgeRoundRectCallout">
              <a:avLst>
                <a:gd name="adj1" fmla="val 11727"/>
                <a:gd name="adj2" fmla="val -78160"/>
                <a:gd name="adj3" fmla="val 16667"/>
              </a:avLst>
            </a:prstGeom>
            <a:solidFill>
              <a:srgbClr val="FFFF99"/>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3" tIns="19046"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dirty="0">
                  <a:ea typeface="MS UI Gothic" panose="020B0600070205080204" pitchFamily="50" charset="-128"/>
                </a:rPr>
                <a:t>Subclass </a:t>
              </a:r>
              <a:r>
                <a:rPr lang="en-US" altLang="ja-JP" b="0" dirty="0" err="1">
                  <a:ea typeface="MS UI Gothic" panose="020B0600070205080204" pitchFamily="50" charset="-128"/>
                </a:rPr>
                <a:t>của</a:t>
              </a:r>
              <a:r>
                <a:rPr lang="en-US" altLang="ja-JP" b="0" dirty="0">
                  <a:ea typeface="MS UI Gothic" panose="020B0600070205080204" pitchFamily="50" charset="-128"/>
                </a:rPr>
                <a:t> Employee</a:t>
              </a:r>
            </a:p>
            <a:p>
              <a:pPr algn="ctr"/>
              <a:r>
                <a:rPr lang="en-US" altLang="ja-JP" b="0" dirty="0">
                  <a:ea typeface="MS UI Gothic" panose="020B0600070205080204" pitchFamily="50" charset="-128"/>
                </a:rPr>
                <a:t>【</a:t>
              </a:r>
              <a:r>
                <a:rPr lang="en-US" altLang="ja-JP" b="0" dirty="0" err="1">
                  <a:ea typeface="MS UI Gothic" panose="020B0600070205080204" pitchFamily="50" charset="-128"/>
                </a:rPr>
                <a:t>Định</a:t>
              </a:r>
              <a:r>
                <a:rPr lang="en-US" altLang="ja-JP" b="0" dirty="0">
                  <a:ea typeface="MS UI Gothic" panose="020B0600070205080204" pitchFamily="50" charset="-128"/>
                </a:rPr>
                <a:t> </a:t>
              </a:r>
              <a:r>
                <a:rPr lang="en-US" altLang="ja-JP" b="0" dirty="0" err="1">
                  <a:ea typeface="MS UI Gothic" panose="020B0600070205080204" pitchFamily="50" charset="-128"/>
                </a:rPr>
                <a:t>nghĩa</a:t>
              </a:r>
              <a:r>
                <a:rPr lang="en-US" altLang="ja-JP" b="0" dirty="0">
                  <a:ea typeface="MS UI Gothic" panose="020B0600070205080204" pitchFamily="50" charset="-128"/>
                </a:rPr>
                <a:t> </a:t>
              </a:r>
              <a:r>
                <a:rPr lang="en-US" altLang="ja-JP" b="0" dirty="0" err="1">
                  <a:ea typeface="MS UI Gothic" panose="020B0600070205080204" pitchFamily="50" charset="-128"/>
                </a:rPr>
                <a:t>tính</a:t>
              </a:r>
              <a:r>
                <a:rPr lang="en-US" altLang="ja-JP" b="0" dirty="0">
                  <a:ea typeface="MS UI Gothic" panose="020B0600070205080204" pitchFamily="50" charset="-128"/>
                </a:rPr>
                <a:t> </a:t>
              </a:r>
              <a:r>
                <a:rPr lang="en-US" altLang="ja-JP" b="0" dirty="0" err="1">
                  <a:ea typeface="MS UI Gothic" panose="020B0600070205080204" pitchFamily="50" charset="-128"/>
                </a:rPr>
                <a:t>chất</a:t>
              </a:r>
              <a:r>
                <a:rPr lang="en-US" altLang="ja-JP" b="0" dirty="0">
                  <a:ea typeface="MS UI Gothic" panose="020B0600070205080204" pitchFamily="50" charset="-128"/>
                </a:rPr>
                <a:t> </a:t>
              </a:r>
              <a:r>
                <a:rPr lang="en-US" altLang="ja-JP" b="0" dirty="0" err="1">
                  <a:ea typeface="MS UI Gothic" panose="020B0600070205080204" pitchFamily="50" charset="-128"/>
                </a:rPr>
                <a:t>vốn</a:t>
              </a:r>
              <a:r>
                <a:rPr lang="en-US" altLang="ja-JP" b="0" dirty="0">
                  <a:ea typeface="MS UI Gothic" panose="020B0600070205080204" pitchFamily="50" charset="-128"/>
                </a:rPr>
                <a:t> có </a:t>
              </a:r>
              <a:r>
                <a:rPr lang="en-US" altLang="ja-JP" b="0" dirty="0" err="1">
                  <a:ea typeface="MS UI Gothic" panose="020B0600070205080204" pitchFamily="50" charset="-128"/>
                </a:rPr>
                <a:t>của</a:t>
              </a:r>
              <a:r>
                <a:rPr lang="en-US" altLang="ja-JP" b="0" dirty="0">
                  <a:ea typeface="MS UI Gothic" panose="020B0600070205080204" pitchFamily="50" charset="-128"/>
                </a:rPr>
                <a:t> </a:t>
              </a:r>
              <a:r>
                <a:rPr lang="en-US" altLang="ja-JP" b="0" dirty="0" err="1">
                  <a:ea typeface="MS UI Gothic" panose="020B0600070205080204" pitchFamily="50" charset="-128"/>
                </a:rPr>
                <a:t>kinh</a:t>
              </a:r>
              <a:r>
                <a:rPr lang="en-US" altLang="ja-JP" b="0" dirty="0">
                  <a:ea typeface="MS UI Gothic" panose="020B0600070205080204" pitchFamily="50" charset="-128"/>
                </a:rPr>
                <a:t> </a:t>
              </a:r>
              <a:r>
                <a:rPr lang="en-US" altLang="ja-JP" b="0" dirty="0" err="1">
                  <a:ea typeface="MS UI Gothic" panose="020B0600070205080204" pitchFamily="50" charset="-128"/>
                </a:rPr>
                <a:t>doanh</a:t>
              </a:r>
              <a:r>
                <a:rPr lang="en-US" altLang="ja-JP" b="0" dirty="0">
                  <a:ea typeface="MS UI Gothic" panose="020B0600070205080204" pitchFamily="50" charset="-128"/>
                </a:rPr>
                <a:t>】</a:t>
              </a:r>
              <a:endParaRPr lang="en-US" altLang="ja-JP" dirty="0">
                <a:ea typeface="MS UI Gothic" panose="020B0600070205080204" pitchFamily="50" charset="-128"/>
              </a:endParaRPr>
            </a:p>
          </p:txBody>
        </p:sp>
        <p:sp>
          <p:nvSpPr>
            <p:cNvPr id="25" name="AutoShape 151">
              <a:extLst>
                <a:ext uri="{FF2B5EF4-FFF2-40B4-BE49-F238E27FC236}">
                  <a16:creationId xmlns:a16="http://schemas.microsoft.com/office/drawing/2014/main" id="{EC3E0D60-CC63-135E-4BDB-F872EDA1F19E}"/>
                </a:ext>
              </a:extLst>
            </p:cNvPr>
            <p:cNvSpPr>
              <a:spLocks noChangeArrowheads="1"/>
            </p:cNvSpPr>
            <p:nvPr/>
          </p:nvSpPr>
          <p:spPr bwMode="auto">
            <a:xfrm>
              <a:off x="2010" y="3925"/>
              <a:ext cx="1070" cy="706"/>
            </a:xfrm>
            <a:prstGeom prst="wedgeRoundRectCallout">
              <a:avLst>
                <a:gd name="adj1" fmla="val -21657"/>
                <a:gd name="adj2" fmla="val -80477"/>
                <a:gd name="adj3" fmla="val 16667"/>
              </a:avLst>
            </a:prstGeom>
            <a:solidFill>
              <a:srgbClr val="FFFF99"/>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3" tIns="19046"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Subclass của Employee</a:t>
              </a:r>
            </a:p>
            <a:p>
              <a:pPr algn="ctr"/>
              <a:r>
                <a:rPr lang="en-US" altLang="ja-JP" b="0">
                  <a:ea typeface="MS UI Gothic" panose="020B0600070205080204" pitchFamily="50" charset="-128"/>
                </a:rPr>
                <a:t>【 Định nghĩa tính chất vốn có</a:t>
              </a:r>
              <a:r>
                <a:rPr lang="en-US" altLang="ja-JP">
                  <a:ea typeface="MS UI Gothic" panose="020B0600070205080204" pitchFamily="50" charset="-128"/>
                </a:rPr>
                <a:t> của </a:t>
              </a:r>
              <a:r>
                <a:rPr lang="en-US" altLang="ja-JP" b="0">
                  <a:ea typeface="MS UI Gothic" panose="020B0600070205080204" pitchFamily="50" charset="-128"/>
                </a:rPr>
                <a:t>SE】</a:t>
              </a:r>
            </a:p>
          </p:txBody>
        </p:sp>
      </p:grpSp>
      <p:sp>
        <p:nvSpPr>
          <p:cNvPr id="28" name="AutoShape 174">
            <a:extLst>
              <a:ext uri="{FF2B5EF4-FFF2-40B4-BE49-F238E27FC236}">
                <a16:creationId xmlns:a16="http://schemas.microsoft.com/office/drawing/2014/main" id="{B24BE24B-99E9-E8AB-1FAD-368C664D4D00}"/>
              </a:ext>
            </a:extLst>
          </p:cNvPr>
          <p:cNvSpPr>
            <a:spLocks noChangeArrowheads="1"/>
          </p:cNvSpPr>
          <p:nvPr/>
        </p:nvSpPr>
        <p:spPr bwMode="auto">
          <a:xfrm>
            <a:off x="7273972" y="2301875"/>
            <a:ext cx="2593062" cy="2076450"/>
          </a:xfrm>
          <a:prstGeom prst="roundRect">
            <a:avLst>
              <a:gd name="adj" fmla="val 16667"/>
            </a:avLst>
          </a:prstGeom>
          <a:solidFill>
            <a:srgbClr val="99CCFF"/>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1"/>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a:latin typeface="MS UI Gothic" panose="020B0600070205080204" pitchFamily="50" charset="-128"/>
                <a:ea typeface="MS UI Gothic" panose="020B0600070205080204" pitchFamily="50" charset="-128"/>
              </a:rPr>
              <a:t>Sales object</a:t>
            </a:r>
          </a:p>
        </p:txBody>
      </p:sp>
      <p:grpSp>
        <p:nvGrpSpPr>
          <p:cNvPr id="29" name="Group 180">
            <a:extLst>
              <a:ext uri="{FF2B5EF4-FFF2-40B4-BE49-F238E27FC236}">
                <a16:creationId xmlns:a16="http://schemas.microsoft.com/office/drawing/2014/main" id="{1D38A357-D23C-61F1-C0DA-3D2F173F827B}"/>
              </a:ext>
            </a:extLst>
          </p:cNvPr>
          <p:cNvGrpSpPr>
            <a:grpSpLocks/>
          </p:cNvGrpSpPr>
          <p:nvPr/>
        </p:nvGrpSpPr>
        <p:grpSpPr bwMode="auto">
          <a:xfrm>
            <a:off x="7339059" y="2667000"/>
            <a:ext cx="2325214" cy="1600200"/>
            <a:chOff x="2918" y="2767"/>
            <a:chExt cx="1007" cy="846"/>
          </a:xfrm>
        </p:grpSpPr>
        <p:sp>
          <p:nvSpPr>
            <p:cNvPr id="30" name="AutoShape 154">
              <a:extLst>
                <a:ext uri="{FF2B5EF4-FFF2-40B4-BE49-F238E27FC236}">
                  <a16:creationId xmlns:a16="http://schemas.microsoft.com/office/drawing/2014/main" id="{48EFBB93-F93D-A05A-7D8F-BA690A4B5C1F}"/>
                </a:ext>
              </a:extLst>
            </p:cNvPr>
            <p:cNvSpPr>
              <a:spLocks noChangeArrowheads="1"/>
            </p:cNvSpPr>
            <p:nvPr/>
          </p:nvSpPr>
          <p:spPr bwMode="auto">
            <a:xfrm>
              <a:off x="2918" y="2767"/>
              <a:ext cx="1007" cy="846"/>
            </a:xfrm>
            <a:prstGeom prst="wedgeRoundRectCallout">
              <a:avLst>
                <a:gd name="adj1" fmla="val -48153"/>
                <a:gd name="adj2" fmla="val -10690"/>
                <a:gd name="adj3" fmla="val 16667"/>
              </a:avLst>
            </a:prstGeom>
            <a:solidFill>
              <a:srgbClr val="FFCC99"/>
            </a:solidFill>
            <a:ln w="12700" cap="rnd">
              <a:solidFill>
                <a:schemeClr val="tx1"/>
              </a:solidFill>
              <a:prstDash val="sysDot"/>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3" tIns="19046"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ja-JP" altLang="en-US" b="0">
                  <a:ea typeface="MS UI Gothic" panose="020B0600070205080204" pitchFamily="50" charset="-128"/>
                </a:rPr>
                <a:t>　</a:t>
              </a:r>
              <a:r>
                <a:rPr lang="ja-JP" altLang="en-US" sz="900" b="0">
                  <a:ea typeface="MS UI Gothic" panose="020B0600070205080204" pitchFamily="50" charset="-128"/>
                </a:rPr>
                <a:t>　</a:t>
              </a:r>
              <a:r>
                <a:rPr lang="en-US" altLang="ja-JP" sz="800" b="0">
                  <a:ea typeface="MS UI Gothic" panose="020B0600070205080204" pitchFamily="50" charset="-128"/>
                </a:rPr>
                <a:t>Thuộc tính/thao tác đã định nghĩa add thêm trong Sales class</a:t>
              </a:r>
            </a:p>
          </p:txBody>
        </p:sp>
        <p:sp>
          <p:nvSpPr>
            <p:cNvPr id="31" name="AutoShape 155">
              <a:extLst>
                <a:ext uri="{FF2B5EF4-FFF2-40B4-BE49-F238E27FC236}">
                  <a16:creationId xmlns:a16="http://schemas.microsoft.com/office/drawing/2014/main" id="{CFC7A8B5-EAED-2B94-2E60-E21C0CEDF9CA}"/>
                </a:ext>
              </a:extLst>
            </p:cNvPr>
            <p:cNvSpPr>
              <a:spLocks noChangeArrowheads="1"/>
            </p:cNvSpPr>
            <p:nvPr/>
          </p:nvSpPr>
          <p:spPr bwMode="auto">
            <a:xfrm>
              <a:off x="2966" y="3023"/>
              <a:ext cx="927" cy="514"/>
            </a:xfrm>
            <a:prstGeom prst="wedgeRoundRectCallout">
              <a:avLst>
                <a:gd name="adj1" fmla="val -35079"/>
                <a:gd name="adj2" fmla="val 8722"/>
                <a:gd name="adj3" fmla="val 16667"/>
              </a:avLst>
            </a:prstGeom>
            <a:solidFill>
              <a:srgbClr val="FFFFCC"/>
            </a:solidFill>
            <a:ln w="12700" cap="rnd">
              <a:solidFill>
                <a:schemeClr val="tx1"/>
              </a:solidFill>
              <a:prstDash val="sysDot"/>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3" tIns="19046"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ja-JP" altLang="en-US" sz="900" b="0">
                  <a:ea typeface="MS UI Gothic" panose="020B0600070205080204" pitchFamily="50" charset="-128"/>
                </a:rPr>
                <a:t>　</a:t>
              </a:r>
              <a:r>
                <a:rPr lang="en-US" altLang="ja-JP" sz="800" b="0">
                  <a:ea typeface="MS UI Gothic" panose="020B0600070205080204" pitchFamily="50" charset="-128"/>
                </a:rPr>
                <a:t>Thuộc tính/thao tác đã kế thừa từ class Employee</a:t>
              </a:r>
            </a:p>
          </p:txBody>
        </p:sp>
        <p:sp>
          <p:nvSpPr>
            <p:cNvPr id="32" name="AutoShape 156">
              <a:extLst>
                <a:ext uri="{FF2B5EF4-FFF2-40B4-BE49-F238E27FC236}">
                  <a16:creationId xmlns:a16="http://schemas.microsoft.com/office/drawing/2014/main" id="{1B0B4FFB-CC9A-0DA5-8398-95F7809162F3}"/>
                </a:ext>
              </a:extLst>
            </p:cNvPr>
            <p:cNvSpPr>
              <a:spLocks noChangeArrowheads="1"/>
            </p:cNvSpPr>
            <p:nvPr/>
          </p:nvSpPr>
          <p:spPr bwMode="auto">
            <a:xfrm>
              <a:off x="3041" y="3269"/>
              <a:ext cx="776" cy="311"/>
            </a:xfrm>
            <a:prstGeom prst="wedgeRoundRectCallout">
              <a:avLst>
                <a:gd name="adj1" fmla="val -19972"/>
                <a:gd name="adj2" fmla="val -6912"/>
                <a:gd name="adj3" fmla="val 16667"/>
              </a:avLst>
            </a:prstGeom>
            <a:solidFill>
              <a:srgbClr val="CCFFFF"/>
            </a:solidFill>
            <a:ln w="12700" cap="rnd">
              <a:solidFill>
                <a:schemeClr val="tx1"/>
              </a:solidFill>
              <a:prstDash val="sysDot"/>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3" tIns="19046"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900" b="0">
                  <a:ea typeface="MS UI Gothic" panose="020B0600070205080204" pitchFamily="50" charset="-128"/>
                </a:rPr>
                <a:t>Thuộc tính/thao tác đã kế thừa từ class</a:t>
              </a:r>
              <a:r>
                <a:rPr lang="en-US" altLang="ja-JP" sz="900">
                  <a:ea typeface="MS UI Gothic" panose="020B0600070205080204" pitchFamily="50" charset="-128"/>
                </a:rPr>
                <a:t> </a:t>
              </a:r>
              <a:r>
                <a:rPr lang="en-US" altLang="ja-JP" sz="900" b="0">
                  <a:ea typeface="MS UI Gothic" panose="020B0600070205080204" pitchFamily="50" charset="-128"/>
                </a:rPr>
                <a:t>Object</a:t>
              </a:r>
            </a:p>
          </p:txBody>
        </p:sp>
      </p:grpSp>
      <p:sp>
        <p:nvSpPr>
          <p:cNvPr id="33" name="Rectangle 2">
            <a:extLst>
              <a:ext uri="{FF2B5EF4-FFF2-40B4-BE49-F238E27FC236}">
                <a16:creationId xmlns:a16="http://schemas.microsoft.com/office/drawing/2014/main" id="{532345A4-9547-BD62-FD30-9E887F0CCB58}"/>
              </a:ext>
            </a:extLst>
          </p:cNvPr>
          <p:cNvSpPr txBox="1">
            <a:spLocks noChangeArrowheads="1"/>
          </p:cNvSpPr>
          <p:nvPr/>
        </p:nvSpPr>
        <p:spPr>
          <a:xfrm>
            <a:off x="344487" y="333375"/>
            <a:ext cx="9217025" cy="490537"/>
          </a:xfrm>
          <a:prstGeom prst="rect">
            <a:avLst/>
          </a:prstGeom>
        </p:spPr>
        <p:txBody>
          <a:bodyPr>
            <a:normAutofit fontScale="90000" lnSpcReduction="20000"/>
          </a:bodyPr>
          <a:lstStyle>
            <a:lvl1pPr algn="l" rtl="0" eaLnBrk="1" fontAlgn="base" hangingPunct="1">
              <a:spcBef>
                <a:spcPct val="0"/>
              </a:spcBef>
              <a:spcAft>
                <a:spcPct val="0"/>
              </a:spcAft>
              <a:defRPr kumimoji="1" sz="3600">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a:lstStyle>
          <a:p>
            <a:r>
              <a:rPr lang="en-US" altLang="ja-JP" b="0" kern="0">
                <a:latin typeface="MS UI Gothic" panose="020B0600070205080204" pitchFamily="50" charset="-128"/>
                <a:ea typeface="MS UI Gothic" panose="020B0600070205080204" pitchFamily="50" charset="-128"/>
              </a:rPr>
              <a:t>Định nghĩa sub class(2)</a:t>
            </a:r>
            <a:endParaRPr lang="en-US" altLang="ja-JP" b="0" kern="0" dirty="0">
              <a:latin typeface="MS UI Gothic" panose="020B0600070205080204" pitchFamily="50" charset="-128"/>
              <a:ea typeface="MS UI Gothic" panose="020B0600070205080204" pitchFamily="50" charset="-128"/>
            </a:endParaRPr>
          </a:p>
        </p:txBody>
      </p:sp>
    </p:spTree>
    <p:extLst>
      <p:ext uri="{BB962C8B-B14F-4D97-AF65-F5344CB8AC3E}">
        <p14:creationId xmlns:p14="http://schemas.microsoft.com/office/powerpoint/2010/main" val="719188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100FB096-CCF7-7715-E157-AAA615D01D10}"/>
              </a:ext>
            </a:extLst>
          </p:cNvPr>
          <p:cNvSpPr>
            <a:spLocks noGrp="1"/>
          </p:cNvSpPr>
          <p:nvPr>
            <p:ph type="sldNum" sz="quarter" idx="10"/>
          </p:nvPr>
        </p:nvSpPr>
        <p:spPr/>
        <p:txBody>
          <a:bodyPr/>
          <a:lstStyle/>
          <a:p>
            <a:fld id="{1B8FBFC2-4143-459C-9070-F580D700B181}" type="slidenum">
              <a:rPr lang="en-US" altLang="ja-JP"/>
              <a:pPr/>
              <a:t>9</a:t>
            </a:fld>
            <a:endParaRPr lang="en-US" altLang="ja-JP"/>
          </a:p>
        </p:txBody>
      </p:sp>
      <p:sp>
        <p:nvSpPr>
          <p:cNvPr id="499714" name="Rectangle 2">
            <a:extLst>
              <a:ext uri="{FF2B5EF4-FFF2-40B4-BE49-F238E27FC236}">
                <a16:creationId xmlns:a16="http://schemas.microsoft.com/office/drawing/2014/main" id="{2C4FA43C-7C9C-86AC-A3AE-5C3ECF22589B}"/>
              </a:ext>
            </a:extLst>
          </p:cNvPr>
          <p:cNvSpPr>
            <a:spLocks noGrp="1" noChangeArrowheads="1"/>
          </p:cNvSpPr>
          <p:nvPr>
            <p:ph type="title"/>
          </p:nvPr>
        </p:nvSpPr>
        <p:spPr>
          <a:xfrm>
            <a:off x="342224" y="283322"/>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Định </a:t>
            </a:r>
            <a:r>
              <a:rPr lang="en-US" altLang="ja-JP" dirty="0" err="1">
                <a:latin typeface="Arial" panose="020B0604020202020204" pitchFamily="34" charset="0"/>
                <a:ea typeface="MS UI Gothic" panose="020B0600070205080204" pitchFamily="50" charset="-128"/>
              </a:rPr>
              <a:t>nghĩa</a:t>
            </a:r>
            <a:r>
              <a:rPr lang="en-US" altLang="ja-JP" dirty="0">
                <a:latin typeface="Arial" panose="020B0604020202020204" pitchFamily="34" charset="0"/>
                <a:ea typeface="MS UI Gothic" panose="020B0600070205080204" pitchFamily="50" charset="-128"/>
              </a:rPr>
              <a:t> sub class(3)</a:t>
            </a:r>
          </a:p>
        </p:txBody>
      </p:sp>
      <p:sp>
        <p:nvSpPr>
          <p:cNvPr id="499715" name="Rectangle 3">
            <a:extLst>
              <a:ext uri="{FF2B5EF4-FFF2-40B4-BE49-F238E27FC236}">
                <a16:creationId xmlns:a16="http://schemas.microsoft.com/office/drawing/2014/main" id="{28EBBA4A-DBCA-2707-A4BF-BC40EE8E8D87}"/>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499716" name="Rectangle 4">
            <a:extLst>
              <a:ext uri="{FF2B5EF4-FFF2-40B4-BE49-F238E27FC236}">
                <a16:creationId xmlns:a16="http://schemas.microsoft.com/office/drawing/2014/main" id="{5F823221-8D89-2C4E-F4AE-092F0AAA8A68}"/>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Định nghĩa sub class (Add thêm thuộc tính, thao tác riêng) </a:t>
            </a:r>
          </a:p>
          <a:p>
            <a:pPr>
              <a:spcBef>
                <a:spcPct val="50000"/>
              </a:spcBef>
              <a:buFont typeface="Wingdings" panose="05000000000000000000" pitchFamily="2" charset="2"/>
              <a:buNone/>
            </a:pPr>
            <a:r>
              <a:rPr lang="en-US" altLang="ja-JP" sz="2000" b="0">
                <a:latin typeface="Arial" panose="020B0604020202020204" pitchFamily="34" charset="0"/>
              </a:rPr>
              <a:t>●Ví dụ </a:t>
            </a:r>
            <a:endParaRPr lang="en-US" altLang="ja-JP" sz="2400" b="0">
              <a:latin typeface="Arial" panose="020B0604020202020204" pitchFamily="34" charset="0"/>
            </a:endParaRPr>
          </a:p>
        </p:txBody>
      </p:sp>
      <p:sp>
        <p:nvSpPr>
          <p:cNvPr id="499719" name="Rectangle 7">
            <a:extLst>
              <a:ext uri="{FF2B5EF4-FFF2-40B4-BE49-F238E27FC236}">
                <a16:creationId xmlns:a16="http://schemas.microsoft.com/office/drawing/2014/main" id="{D28977AE-3E61-90C4-28CA-B2C9C5D70291}"/>
              </a:ext>
            </a:extLst>
          </p:cNvPr>
          <p:cNvSpPr>
            <a:spLocks noChangeArrowheads="1"/>
          </p:cNvSpPr>
          <p:nvPr/>
        </p:nvSpPr>
        <p:spPr bwMode="auto">
          <a:xfrm>
            <a:off x="344488" y="1668463"/>
            <a:ext cx="9120187" cy="4629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522288" indent="-34290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1236663" indent="-342900">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682750" indent="-34290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2090738" indent="-342900">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547938" indent="-342900"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3005138" indent="-342900"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462338" indent="-342900"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919538" indent="-342900"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en-US" sz="1800">
                <a:solidFill>
                  <a:schemeClr val="accent2"/>
                </a:solidFill>
                <a:latin typeface="Arial" panose="020B0604020202020204" pitchFamily="34" charset="0"/>
                <a:ea typeface="ＭＳ ゴシック" panose="020B0609070205080204" pitchFamily="49" charset="-128"/>
              </a:rPr>
              <a:t>public Sales class extends Employee</a:t>
            </a:r>
            <a:r>
              <a:rPr lang="en-US" altLang="ja-JP" sz="1800">
                <a:solidFill>
                  <a:schemeClr val="accent2"/>
                </a:solidFill>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a:t>
            </a:r>
          </a:p>
          <a:p>
            <a:pPr lvl="1"/>
            <a:r>
              <a:rPr lang="en-US" altLang="ja-JP" sz="1800" b="0">
                <a:latin typeface="Arial" panose="020B0604020202020204" pitchFamily="34" charset="0"/>
                <a:ea typeface="ＭＳ ゴシック" panose="020B0609070205080204" pitchFamily="49" charset="-128"/>
              </a:rPr>
              <a:t>    private int</a:t>
            </a:r>
            <a:r>
              <a:rPr lang="en-US" altLang="en-US" sz="1800" b="0">
                <a:latin typeface="Arial" panose="020B0604020202020204" pitchFamily="34" charset="0"/>
                <a:ea typeface="ＭＳ ゴシック" panose="020B0609070205080204" pitchFamily="49" charset="-128"/>
              </a:rPr>
              <a:t> customerCount;</a:t>
            </a:r>
          </a:p>
          <a:p>
            <a:pPr lvl="1"/>
            <a:r>
              <a:rPr lang="en-US" altLang="en-US" sz="1800" b="0">
                <a:latin typeface="Arial" panose="020B0604020202020204" pitchFamily="34" charset="0"/>
                <a:ea typeface="ＭＳ ゴシック" panose="020B0609070205080204" pitchFamily="49" charset="-128"/>
              </a:rPr>
              <a:t>　</a:t>
            </a:r>
          </a:p>
          <a:p>
            <a:pPr lvl="1"/>
            <a:r>
              <a:rPr lang="ja-JP" altLang="en-US" sz="1800" b="0">
                <a:latin typeface="Arial" panose="020B0604020202020204" pitchFamily="34" charset="0"/>
                <a:ea typeface="ＭＳ ゴシック" panose="020B0609070205080204" pitchFamily="49" charset="-128"/>
              </a:rPr>
              <a:t>    </a:t>
            </a:r>
            <a:r>
              <a:rPr lang="en-US" altLang="ja-JP" sz="1800" b="0">
                <a:latin typeface="Arial" panose="020B0604020202020204" pitchFamily="34" charset="0"/>
                <a:ea typeface="ＭＳ ゴシック" panose="020B0609070205080204" pitchFamily="49" charset="-128"/>
              </a:rPr>
              <a:t>public Sales(String</a:t>
            </a:r>
            <a:r>
              <a:rPr lang="en-US" altLang="en-US" sz="1800" b="0">
                <a:latin typeface="Arial" panose="020B0604020202020204" pitchFamily="34" charset="0"/>
                <a:ea typeface="ＭＳ ゴシック" panose="020B0609070205080204" pitchFamily="49" charset="-128"/>
              </a:rPr>
              <a:t> id,</a:t>
            </a:r>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String ename,</a:t>
            </a:r>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int cnt)</a:t>
            </a:r>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a:t>
            </a:r>
          </a:p>
          <a:p>
            <a:pPr lvl="1"/>
            <a:r>
              <a:rPr lang="en-US" altLang="ja-JP" sz="1800" b="0">
                <a:latin typeface="Arial" panose="020B0604020202020204" pitchFamily="34" charset="0"/>
                <a:ea typeface="ＭＳ ゴシック" panose="020B0609070205080204" pitchFamily="49" charset="-128"/>
              </a:rPr>
              <a:t>         //  Set giá trị khởi tạo (Lược) </a:t>
            </a:r>
            <a:endParaRPr lang="en-US" altLang="en-US" sz="1800" b="0">
              <a:latin typeface="Arial" panose="020B0604020202020204" pitchFamily="34" charset="0"/>
              <a:ea typeface="ＭＳ ゴシック" panose="020B0609070205080204" pitchFamily="49" charset="-128"/>
            </a:endParaRP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a:t>
            </a:r>
            <a:endParaRPr lang="en-US" altLang="ja-JP" sz="1800" b="0">
              <a:latin typeface="Arial" panose="020B0604020202020204" pitchFamily="34" charset="0"/>
              <a:ea typeface="ＭＳ ゴシック" panose="020B0609070205080204" pitchFamily="49" charset="-128"/>
            </a:endParaRPr>
          </a:p>
          <a:p>
            <a:pPr lvl="1"/>
            <a:endParaRPr lang="en-US" altLang="en-US" sz="1800" b="0">
              <a:latin typeface="Arial" panose="020B0604020202020204" pitchFamily="34" charset="0"/>
              <a:ea typeface="ＭＳ ゴシック" panose="020B0609070205080204" pitchFamily="49" charset="-128"/>
            </a:endParaRP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public void addCount()</a:t>
            </a:r>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customerCount++;</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a:t>
            </a:r>
          </a:p>
          <a:p>
            <a:pPr lvl="1"/>
            <a:r>
              <a:rPr lang="en-US" altLang="en-US" sz="1800" b="0">
                <a:latin typeface="Arial" panose="020B0604020202020204" pitchFamily="34" charset="0"/>
                <a:ea typeface="ＭＳ ゴシック" panose="020B0609070205080204" pitchFamily="49" charset="-128"/>
              </a:rPr>
              <a:t>	</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public int getCount()</a:t>
            </a:r>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return customerCount;</a:t>
            </a:r>
          </a:p>
          <a:p>
            <a:pPr lvl="1"/>
            <a:r>
              <a:rPr lang="en-US" altLang="ja-JP" sz="1800" b="0">
                <a:latin typeface="Arial" panose="020B0604020202020204" pitchFamily="34" charset="0"/>
                <a:ea typeface="ＭＳ ゴシック" panose="020B0609070205080204" pitchFamily="49" charset="-128"/>
              </a:rPr>
              <a:t>    </a:t>
            </a:r>
            <a:r>
              <a:rPr lang="en-US" altLang="en-US" sz="1800" b="0">
                <a:latin typeface="Arial" panose="020B0604020202020204" pitchFamily="34" charset="0"/>
                <a:ea typeface="ＭＳ ゴシック" panose="020B0609070205080204" pitchFamily="49" charset="-128"/>
              </a:rPr>
              <a:t>} </a:t>
            </a:r>
          </a:p>
          <a:p>
            <a:pPr lvl="1"/>
            <a:r>
              <a:rPr lang="en-US" altLang="en-US" sz="1800">
                <a:solidFill>
                  <a:schemeClr val="accent2"/>
                </a:solidFill>
                <a:latin typeface="Arial" panose="020B0604020202020204" pitchFamily="34" charset="0"/>
                <a:ea typeface="ＭＳ ゴシック" panose="020B0609070205080204" pitchFamily="49" charset="-128"/>
              </a:rPr>
              <a:t>}</a:t>
            </a:r>
          </a:p>
        </p:txBody>
      </p:sp>
      <p:sp>
        <p:nvSpPr>
          <p:cNvPr id="499724" name="Rectangle 12">
            <a:extLst>
              <a:ext uri="{FF2B5EF4-FFF2-40B4-BE49-F238E27FC236}">
                <a16:creationId xmlns:a16="http://schemas.microsoft.com/office/drawing/2014/main" id="{FFED409F-13A1-AA2C-8C1D-523436E24F28}"/>
              </a:ext>
            </a:extLst>
          </p:cNvPr>
          <p:cNvSpPr>
            <a:spLocks noChangeArrowheads="1"/>
          </p:cNvSpPr>
          <p:nvPr/>
        </p:nvSpPr>
        <p:spPr bwMode="auto">
          <a:xfrm>
            <a:off x="823913" y="2030413"/>
            <a:ext cx="6115050" cy="323850"/>
          </a:xfrm>
          <a:prstGeom prst="rect">
            <a:avLst/>
          </a:prstGeom>
          <a:noFill/>
          <a:ln w="25400">
            <a:solidFill>
              <a:srgbClr val="E1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499725" name="Rectangle 13">
            <a:extLst>
              <a:ext uri="{FF2B5EF4-FFF2-40B4-BE49-F238E27FC236}">
                <a16:creationId xmlns:a16="http://schemas.microsoft.com/office/drawing/2014/main" id="{3CB71D28-30B3-9C84-808B-1455DD9FBCA8}"/>
              </a:ext>
            </a:extLst>
          </p:cNvPr>
          <p:cNvSpPr>
            <a:spLocks noChangeArrowheads="1"/>
          </p:cNvSpPr>
          <p:nvPr/>
        </p:nvSpPr>
        <p:spPr bwMode="auto">
          <a:xfrm>
            <a:off x="7224713" y="1958975"/>
            <a:ext cx="2120900" cy="481013"/>
          </a:xfrm>
          <a:prstGeom prst="rect">
            <a:avLst/>
          </a:prstGeom>
          <a:noFill/>
          <a:ln w="25400">
            <a:solidFill>
              <a:srgbClr val="E1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800">
                <a:ea typeface="MS UI Gothic" panose="020B0600070205080204" pitchFamily="50" charset="-128"/>
              </a:rPr>
              <a:t>Thuộc tính riêng của Sales</a:t>
            </a:r>
            <a:endParaRPr lang="en-US" altLang="ja-JP" sz="1800" b="0">
              <a:ea typeface="MS UI Gothic" panose="020B0600070205080204" pitchFamily="50" charset="-128"/>
            </a:endParaRPr>
          </a:p>
        </p:txBody>
      </p:sp>
      <p:cxnSp>
        <p:nvCxnSpPr>
          <p:cNvPr id="499726" name="AutoShape 14">
            <a:extLst>
              <a:ext uri="{FF2B5EF4-FFF2-40B4-BE49-F238E27FC236}">
                <a16:creationId xmlns:a16="http://schemas.microsoft.com/office/drawing/2014/main" id="{DFBBCC45-D232-764D-AC9E-E1CE29FE8764}"/>
              </a:ext>
            </a:extLst>
          </p:cNvPr>
          <p:cNvCxnSpPr>
            <a:cxnSpLocks noChangeShapeType="1"/>
            <a:stCxn id="499724" idx="3"/>
            <a:endCxn id="499725" idx="1"/>
          </p:cNvCxnSpPr>
          <p:nvPr/>
        </p:nvCxnSpPr>
        <p:spPr bwMode="auto">
          <a:xfrm>
            <a:off x="6951663" y="2192338"/>
            <a:ext cx="260350" cy="7937"/>
          </a:xfrm>
          <a:prstGeom prst="bentConnector3">
            <a:avLst>
              <a:gd name="adj1" fmla="val 50000"/>
            </a:avLst>
          </a:prstGeom>
          <a:noFill/>
          <a:ln w="25400">
            <a:solidFill>
              <a:srgbClr val="E1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9727" name="Rectangle 15">
            <a:extLst>
              <a:ext uri="{FF2B5EF4-FFF2-40B4-BE49-F238E27FC236}">
                <a16:creationId xmlns:a16="http://schemas.microsoft.com/office/drawing/2014/main" id="{B4863D86-D994-9628-2FBF-C925AAC72A98}"/>
              </a:ext>
            </a:extLst>
          </p:cNvPr>
          <p:cNvSpPr>
            <a:spLocks noChangeArrowheads="1"/>
          </p:cNvSpPr>
          <p:nvPr/>
        </p:nvSpPr>
        <p:spPr bwMode="auto">
          <a:xfrm>
            <a:off x="817563" y="2549525"/>
            <a:ext cx="6115050" cy="3402013"/>
          </a:xfrm>
          <a:prstGeom prst="rect">
            <a:avLst/>
          </a:prstGeom>
          <a:noFill/>
          <a:ln w="254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cxnSp>
        <p:nvCxnSpPr>
          <p:cNvPr id="499728" name="AutoShape 16">
            <a:extLst>
              <a:ext uri="{FF2B5EF4-FFF2-40B4-BE49-F238E27FC236}">
                <a16:creationId xmlns:a16="http://schemas.microsoft.com/office/drawing/2014/main" id="{98D08343-9A4D-8B1E-DFAF-B521D529002C}"/>
              </a:ext>
            </a:extLst>
          </p:cNvPr>
          <p:cNvCxnSpPr>
            <a:cxnSpLocks noChangeShapeType="1"/>
            <a:stCxn id="499727" idx="3"/>
            <a:endCxn id="499729" idx="1"/>
          </p:cNvCxnSpPr>
          <p:nvPr/>
        </p:nvCxnSpPr>
        <p:spPr bwMode="auto">
          <a:xfrm>
            <a:off x="6945313" y="4251325"/>
            <a:ext cx="406400" cy="0"/>
          </a:xfrm>
          <a:prstGeom prst="straightConnector1">
            <a:avLst/>
          </a:prstGeom>
          <a:noFill/>
          <a:ln w="25400">
            <a:solidFill>
              <a:srgbClr val="3FB00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9729" name="Rectangle 17">
            <a:extLst>
              <a:ext uri="{FF2B5EF4-FFF2-40B4-BE49-F238E27FC236}">
                <a16:creationId xmlns:a16="http://schemas.microsoft.com/office/drawing/2014/main" id="{FF27FF46-56A9-2D6A-27FF-F6C9D3846C99}"/>
              </a:ext>
            </a:extLst>
          </p:cNvPr>
          <p:cNvSpPr>
            <a:spLocks noChangeArrowheads="1"/>
          </p:cNvSpPr>
          <p:nvPr/>
        </p:nvSpPr>
        <p:spPr bwMode="auto">
          <a:xfrm>
            <a:off x="7364413" y="3917950"/>
            <a:ext cx="1903412" cy="666750"/>
          </a:xfrm>
          <a:prstGeom prst="rect">
            <a:avLst/>
          </a:prstGeom>
          <a:noFill/>
          <a:ln w="254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spAutoFit/>
          </a:bodyP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defTabSz="863600">
              <a:defRPr kumimoji="1">
                <a:solidFill>
                  <a:schemeClr val="tx1"/>
                </a:solidFill>
                <a:latin typeface="Arial" panose="020B0604020202020204" pitchFamily="34" charset="0"/>
                <a:ea typeface="ＭＳ Ｐゴシック" panose="020B0600070205080204" pitchFamily="50" charset="-128"/>
              </a:defRPr>
            </a:lvl4pPr>
            <a:lvl5pPr marL="1827213" defTabSz="863600">
              <a:defRPr kumimoji="1">
                <a:solidFill>
                  <a:schemeClr val="tx1"/>
                </a:solidFill>
                <a:latin typeface="Arial" panose="020B0604020202020204" pitchFamily="34" charset="0"/>
                <a:ea typeface="ＭＳ Ｐゴシック" panose="020B0600070205080204" pitchFamily="50" charset="-128"/>
              </a:defRPr>
            </a:lvl5pPr>
            <a:lvl6pPr marL="22844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7416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988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656013"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1800">
                <a:ea typeface="MS UI Gothic" panose="020B0600070205080204" pitchFamily="50" charset="-128"/>
              </a:rPr>
              <a:t>Thao tác riêng của Sales</a:t>
            </a:r>
            <a:endParaRPr lang="en-US" altLang="ja-JP" sz="1800" b="0">
              <a:ea typeface="MS UI Gothic" panose="020B0600070205080204" pitchFamily="50" charset="-128"/>
            </a:endParaRPr>
          </a:p>
        </p:txBody>
      </p:sp>
      <p:sp>
        <p:nvSpPr>
          <p:cNvPr id="499720" name="AutoShape 8">
            <a:extLst>
              <a:ext uri="{FF2B5EF4-FFF2-40B4-BE49-F238E27FC236}">
                <a16:creationId xmlns:a16="http://schemas.microsoft.com/office/drawing/2014/main" id="{69E07178-AE4F-FA57-D50D-3CF8B2140F0F}"/>
              </a:ext>
            </a:extLst>
          </p:cNvPr>
          <p:cNvSpPr>
            <a:spLocks noChangeArrowheads="1"/>
          </p:cNvSpPr>
          <p:nvPr/>
        </p:nvSpPr>
        <p:spPr bwMode="auto">
          <a:xfrm>
            <a:off x="5599113" y="1158875"/>
            <a:ext cx="4117975" cy="711200"/>
          </a:xfrm>
          <a:prstGeom prst="wedgeRoundRectCallout">
            <a:avLst>
              <a:gd name="adj1" fmla="val -64458"/>
              <a:gd name="adj2" fmla="val 56472"/>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400" dirty="0" err="1">
                <a:latin typeface="+mj-lt"/>
              </a:rPr>
              <a:t>Chỉ</a:t>
            </a:r>
            <a:r>
              <a:rPr lang="en-US" altLang="ja-JP" sz="1400" dirty="0">
                <a:latin typeface="+mj-lt"/>
              </a:rPr>
              <a:t> </a:t>
            </a:r>
            <a:r>
              <a:rPr lang="en-US" altLang="ja-JP" sz="1400" dirty="0" err="1">
                <a:latin typeface="+mj-lt"/>
              </a:rPr>
              <a:t>cần</a:t>
            </a:r>
            <a:r>
              <a:rPr lang="en-US" altLang="ja-JP" sz="1400" dirty="0">
                <a:latin typeface="+mj-lt"/>
              </a:rPr>
              <a:t> </a:t>
            </a:r>
            <a:r>
              <a:rPr lang="en-US" altLang="ja-JP" sz="1400" dirty="0" err="1">
                <a:latin typeface="+mj-lt"/>
              </a:rPr>
              <a:t>định</a:t>
            </a:r>
            <a:r>
              <a:rPr lang="en-US" altLang="ja-JP" sz="1400" dirty="0">
                <a:latin typeface="+mj-lt"/>
              </a:rPr>
              <a:t> </a:t>
            </a:r>
            <a:r>
              <a:rPr lang="en-US" altLang="ja-JP" sz="1400" dirty="0" err="1">
                <a:latin typeface="+mj-lt"/>
              </a:rPr>
              <a:t>nghĩa</a:t>
            </a:r>
            <a:r>
              <a:rPr lang="en-US" altLang="ja-JP" sz="1400" dirty="0">
                <a:latin typeface="+mj-lt"/>
              </a:rPr>
              <a:t> </a:t>
            </a:r>
            <a:r>
              <a:rPr lang="en-US" altLang="ja-JP" sz="1400" dirty="0" err="1">
                <a:latin typeface="+mj-lt"/>
              </a:rPr>
              <a:t>tính</a:t>
            </a:r>
            <a:r>
              <a:rPr lang="en-US" altLang="ja-JP" sz="1400" dirty="0">
                <a:latin typeface="+mj-lt"/>
              </a:rPr>
              <a:t> </a:t>
            </a:r>
            <a:r>
              <a:rPr lang="en-US" altLang="ja-JP" sz="1400" dirty="0" err="1">
                <a:latin typeface="+mj-lt"/>
              </a:rPr>
              <a:t>chất</a:t>
            </a:r>
            <a:r>
              <a:rPr lang="en-US" altLang="ja-JP" sz="1400" dirty="0">
                <a:latin typeface="+mj-lt"/>
              </a:rPr>
              <a:t> </a:t>
            </a:r>
            <a:r>
              <a:rPr lang="en-US" altLang="ja-JP" sz="1400" dirty="0" err="1">
                <a:latin typeface="+mj-lt"/>
              </a:rPr>
              <a:t>riêng</a:t>
            </a:r>
            <a:r>
              <a:rPr lang="en-US" altLang="ja-JP" sz="1400" dirty="0">
                <a:latin typeface="+mj-lt"/>
              </a:rPr>
              <a:t> (</a:t>
            </a:r>
            <a:r>
              <a:rPr lang="en-US" altLang="ja-JP" sz="1400" dirty="0" err="1">
                <a:latin typeface="+mj-lt"/>
              </a:rPr>
              <a:t>Thuôc</a:t>
            </a:r>
            <a:r>
              <a:rPr lang="en-US" altLang="ja-JP" sz="1400" dirty="0">
                <a:latin typeface="+mj-lt"/>
              </a:rPr>
              <a:t> </a:t>
            </a:r>
            <a:r>
              <a:rPr lang="en-US" altLang="ja-JP" sz="1400" dirty="0" err="1">
                <a:latin typeface="+mj-lt"/>
              </a:rPr>
              <a:t>tính</a:t>
            </a:r>
            <a:r>
              <a:rPr lang="en-US" altLang="ja-JP" sz="1400" dirty="0">
                <a:latin typeface="+mj-lt"/>
              </a:rPr>
              <a:t> </a:t>
            </a:r>
            <a:r>
              <a:rPr lang="en-US" altLang="ja-JP" sz="1400" dirty="0" err="1">
                <a:latin typeface="+mj-lt"/>
              </a:rPr>
              <a:t>và</a:t>
            </a:r>
            <a:r>
              <a:rPr lang="en-US" altLang="ja-JP" sz="1400" dirty="0">
                <a:latin typeface="+mj-lt"/>
              </a:rPr>
              <a:t> </a:t>
            </a:r>
            <a:r>
              <a:rPr lang="en-US" altLang="ja-JP" sz="1400" dirty="0" err="1">
                <a:latin typeface="+mj-lt"/>
              </a:rPr>
              <a:t>thao</a:t>
            </a:r>
            <a:r>
              <a:rPr lang="en-US" altLang="ja-JP" sz="1400" dirty="0">
                <a:latin typeface="+mj-lt"/>
              </a:rPr>
              <a:t> </a:t>
            </a:r>
            <a:r>
              <a:rPr lang="en-US" altLang="ja-JP" sz="1400" dirty="0" err="1">
                <a:latin typeface="+mj-lt"/>
              </a:rPr>
              <a:t>tác</a:t>
            </a:r>
            <a:r>
              <a:rPr lang="en-US" altLang="ja-JP" sz="1400" dirty="0">
                <a:latin typeface="+mj-lt"/>
              </a:rPr>
              <a:t>) </a:t>
            </a:r>
            <a:r>
              <a:rPr lang="en-US" altLang="ja-JP" sz="1400" dirty="0" err="1">
                <a:latin typeface="+mj-lt"/>
              </a:rPr>
              <a:t>muốn</a:t>
            </a:r>
            <a:r>
              <a:rPr lang="en-US" altLang="ja-JP" sz="1400" dirty="0">
                <a:latin typeface="+mj-lt"/>
              </a:rPr>
              <a:t> add </a:t>
            </a:r>
            <a:r>
              <a:rPr lang="en-US" altLang="ja-JP" sz="1400" dirty="0" err="1">
                <a:latin typeface="+mj-lt"/>
              </a:rPr>
              <a:t>thêm</a:t>
            </a:r>
            <a:r>
              <a:rPr lang="en-US" altLang="ja-JP" sz="1400" dirty="0">
                <a:latin typeface="+mj-lt"/>
              </a:rPr>
              <a:t> </a:t>
            </a:r>
            <a:r>
              <a:rPr lang="en-US" altLang="ja-JP" sz="1400" dirty="0" err="1">
                <a:latin typeface="+mj-lt"/>
              </a:rPr>
              <a:t>vào</a:t>
            </a:r>
            <a:r>
              <a:rPr lang="en-US" altLang="ja-JP" sz="1400" dirty="0">
                <a:latin typeface="+mj-lt"/>
              </a:rPr>
              <a:t> sub class </a:t>
            </a:r>
            <a:r>
              <a:rPr lang="en-US" altLang="ja-JP" sz="1400" dirty="0" err="1">
                <a:latin typeface="+mj-lt"/>
              </a:rPr>
              <a:t>là</a:t>
            </a:r>
            <a:r>
              <a:rPr lang="en-US" altLang="ja-JP" sz="1400" dirty="0">
                <a:latin typeface="+mj-lt"/>
              </a:rPr>
              <a:t> </a:t>
            </a:r>
            <a:r>
              <a:rPr lang="en-US" altLang="ja-JP" sz="1400" dirty="0" err="1">
                <a:latin typeface="+mj-lt"/>
              </a:rPr>
              <a:t>được</a:t>
            </a:r>
            <a:r>
              <a:rPr lang="en-US" altLang="ja-JP" sz="1400" dirty="0">
                <a:latin typeface="+mj-lt"/>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6DA3BAB1-836E-ACED-10EC-3AF903937640}"/>
              </a:ext>
            </a:extLst>
          </p:cNvPr>
          <p:cNvSpPr>
            <a:spLocks noGrp="1"/>
          </p:cNvSpPr>
          <p:nvPr>
            <p:ph type="sldNum" sz="quarter" idx="10"/>
          </p:nvPr>
        </p:nvSpPr>
        <p:spPr/>
        <p:txBody>
          <a:bodyPr/>
          <a:lstStyle/>
          <a:p>
            <a:fld id="{BFACF1D7-525A-4266-A435-F655E61ED8FA}" type="slidenum">
              <a:rPr lang="en-US" altLang="ja-JP"/>
              <a:pPr/>
              <a:t>10</a:t>
            </a:fld>
            <a:endParaRPr lang="en-US" altLang="ja-JP"/>
          </a:p>
        </p:txBody>
      </p:sp>
      <p:sp>
        <p:nvSpPr>
          <p:cNvPr id="516098" name="Rectangle 2">
            <a:extLst>
              <a:ext uri="{FF2B5EF4-FFF2-40B4-BE49-F238E27FC236}">
                <a16:creationId xmlns:a16="http://schemas.microsoft.com/office/drawing/2014/main" id="{5625DEBD-2210-4769-BEA6-AC8A5617B408}"/>
              </a:ext>
            </a:extLst>
          </p:cNvPr>
          <p:cNvSpPr>
            <a:spLocks noGrp="1" noChangeArrowheads="1"/>
          </p:cNvSpPr>
          <p:nvPr>
            <p:ph type="title"/>
          </p:nvPr>
        </p:nvSpPr>
        <p:spPr>
          <a:xfrm>
            <a:off x="291306" y="328613"/>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Override method</a:t>
            </a:r>
          </a:p>
        </p:txBody>
      </p:sp>
      <p:sp>
        <p:nvSpPr>
          <p:cNvPr id="516099" name="Rectangle 3">
            <a:extLst>
              <a:ext uri="{FF2B5EF4-FFF2-40B4-BE49-F238E27FC236}">
                <a16:creationId xmlns:a16="http://schemas.microsoft.com/office/drawing/2014/main" id="{E7A2BEBE-A3D1-D371-AE03-732BBB4E1B32}"/>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516100" name="Rectangle 4">
            <a:extLst>
              <a:ext uri="{FF2B5EF4-FFF2-40B4-BE49-F238E27FC236}">
                <a16:creationId xmlns:a16="http://schemas.microsoft.com/office/drawing/2014/main" id="{5DC5EF0B-841B-2BFD-324A-A7FC7112253C}"/>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Override</a:t>
            </a:r>
          </a:p>
          <a:p>
            <a:pPr>
              <a:buFont typeface="Wingdings" panose="05000000000000000000" pitchFamily="2" charset="2"/>
              <a:buNone/>
            </a:pPr>
            <a:r>
              <a:rPr lang="en-US" altLang="ja-JP" sz="2000" b="0">
                <a:latin typeface="Arial" panose="020B0604020202020204" pitchFamily="34" charset="0"/>
              </a:rPr>
              <a:t>●Override là gì?</a:t>
            </a:r>
          </a:p>
        </p:txBody>
      </p:sp>
      <p:sp>
        <p:nvSpPr>
          <p:cNvPr id="516101" name="Rectangle 5">
            <a:extLst>
              <a:ext uri="{FF2B5EF4-FFF2-40B4-BE49-F238E27FC236}">
                <a16:creationId xmlns:a16="http://schemas.microsoft.com/office/drawing/2014/main" id="{928E986E-8F8A-A8EB-C809-551F9013C4B1}"/>
              </a:ext>
            </a:extLst>
          </p:cNvPr>
          <p:cNvSpPr>
            <a:spLocks noChangeArrowheads="1"/>
          </p:cNvSpPr>
          <p:nvPr/>
        </p:nvSpPr>
        <p:spPr bwMode="auto">
          <a:xfrm>
            <a:off x="344488" y="34544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●Biểu hiện override trong Java…</a:t>
            </a:r>
            <a:endParaRPr lang="en-US" altLang="ja-JP" sz="2400" b="0">
              <a:latin typeface="Arial" panose="020B0604020202020204" pitchFamily="34" charset="0"/>
            </a:endParaRPr>
          </a:p>
        </p:txBody>
      </p:sp>
      <p:sp>
        <p:nvSpPr>
          <p:cNvPr id="516104" name="Rectangle 8">
            <a:extLst>
              <a:ext uri="{FF2B5EF4-FFF2-40B4-BE49-F238E27FC236}">
                <a16:creationId xmlns:a16="http://schemas.microsoft.com/office/drawing/2014/main" id="{DAD88607-2DCE-8A1F-AB5C-5FAD490BFDAD}"/>
              </a:ext>
            </a:extLst>
          </p:cNvPr>
          <p:cNvSpPr>
            <a:spLocks noChangeArrowheads="1"/>
          </p:cNvSpPr>
          <p:nvPr/>
        </p:nvSpPr>
        <p:spPr bwMode="auto">
          <a:xfrm>
            <a:off x="344488" y="1635125"/>
            <a:ext cx="9110662" cy="509588"/>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600">
                <a:latin typeface="Arial" panose="020B0604020202020204" pitchFamily="34" charset="0"/>
              </a:rPr>
              <a:t>Định nghĩa lại một cách riêng biệt tại phía sub class về chức năng có trong super class.</a:t>
            </a:r>
            <a:r>
              <a:rPr lang="en-US" altLang="ja-JP" sz="1600" b="0">
                <a:latin typeface="Arial" panose="020B0604020202020204" pitchFamily="34" charset="0"/>
              </a:rPr>
              <a:t> </a:t>
            </a:r>
          </a:p>
        </p:txBody>
      </p:sp>
      <p:sp>
        <p:nvSpPr>
          <p:cNvPr id="516107" name="AutoShape 11">
            <a:extLst>
              <a:ext uri="{FF2B5EF4-FFF2-40B4-BE49-F238E27FC236}">
                <a16:creationId xmlns:a16="http://schemas.microsoft.com/office/drawing/2014/main" id="{8FBBEAF9-4524-2E40-09CB-AB23883DC0EE}"/>
              </a:ext>
            </a:extLst>
          </p:cNvPr>
          <p:cNvSpPr>
            <a:spLocks noChangeArrowheads="1"/>
          </p:cNvSpPr>
          <p:nvPr/>
        </p:nvSpPr>
        <p:spPr bwMode="auto">
          <a:xfrm>
            <a:off x="1127125" y="2405063"/>
            <a:ext cx="7234238" cy="717550"/>
          </a:xfrm>
          <a:prstGeom prst="wedgeRoundRectCallout">
            <a:avLst>
              <a:gd name="adj1" fmla="val 29569"/>
              <a:gd name="adj2" fmla="val -102435"/>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r>
              <a:rPr lang="en-US" altLang="ja-JP" sz="1400" dirty="0" err="1">
                <a:latin typeface="+mj-lt"/>
              </a:rPr>
              <a:t>Về</a:t>
            </a:r>
            <a:r>
              <a:rPr lang="en-US" altLang="ja-JP" sz="1400" dirty="0">
                <a:latin typeface="+mj-lt"/>
              </a:rPr>
              <a:t> </a:t>
            </a:r>
            <a:r>
              <a:rPr lang="en-US" altLang="ja-JP" sz="1400" dirty="0" err="1">
                <a:latin typeface="+mj-lt"/>
              </a:rPr>
              <a:t>chức</a:t>
            </a:r>
            <a:r>
              <a:rPr lang="en-US" altLang="ja-JP" sz="1400" dirty="0">
                <a:latin typeface="+mj-lt"/>
              </a:rPr>
              <a:t> </a:t>
            </a:r>
            <a:r>
              <a:rPr lang="en-US" altLang="ja-JP" sz="1400" dirty="0" err="1">
                <a:latin typeface="+mj-lt"/>
              </a:rPr>
              <a:t>năng</a:t>
            </a:r>
            <a:r>
              <a:rPr lang="en-US" altLang="ja-JP" sz="1400" dirty="0">
                <a:latin typeface="+mj-lt"/>
              </a:rPr>
              <a:t> </a:t>
            </a:r>
            <a:r>
              <a:rPr lang="en-US" altLang="ja-JP" sz="1400" dirty="0" err="1">
                <a:latin typeface="+mj-lt"/>
              </a:rPr>
              <a:t>tên</a:t>
            </a:r>
            <a:r>
              <a:rPr lang="en-US" altLang="ja-JP" sz="1400" dirty="0">
                <a:latin typeface="+mj-lt"/>
              </a:rPr>
              <a:t> </a:t>
            </a:r>
            <a:r>
              <a:rPr lang="en-US" altLang="ja-JP" sz="1400" dirty="0" err="1">
                <a:latin typeface="+mj-lt"/>
              </a:rPr>
              <a:t>mà</a:t>
            </a:r>
            <a:r>
              <a:rPr lang="en-US" altLang="ja-JP" sz="1400" dirty="0">
                <a:latin typeface="+mj-lt"/>
              </a:rPr>
              <a:t> super class </a:t>
            </a:r>
            <a:r>
              <a:rPr lang="en-US" altLang="ja-JP" sz="1400" dirty="0" err="1">
                <a:latin typeface="+mj-lt"/>
              </a:rPr>
              <a:t>đang</a:t>
            </a:r>
            <a:r>
              <a:rPr lang="en-US" altLang="ja-JP" sz="1400" dirty="0">
                <a:latin typeface="+mj-lt"/>
              </a:rPr>
              <a:t> </a:t>
            </a:r>
            <a:r>
              <a:rPr lang="en-US" altLang="ja-JP" sz="1400" dirty="0" err="1">
                <a:latin typeface="+mj-lt"/>
              </a:rPr>
              <a:t>có</a:t>
            </a:r>
            <a:r>
              <a:rPr lang="en-US" altLang="ja-JP" sz="1400" dirty="0">
                <a:latin typeface="+mj-lt"/>
              </a:rPr>
              <a:t> </a:t>
            </a:r>
            <a:r>
              <a:rPr lang="en-US" altLang="ja-JP" sz="1400" dirty="0" err="1">
                <a:latin typeface="+mj-lt"/>
              </a:rPr>
              <a:t>thì</a:t>
            </a:r>
            <a:r>
              <a:rPr lang="en-US" altLang="ja-JP" sz="1400" dirty="0">
                <a:latin typeface="+mj-lt"/>
              </a:rPr>
              <a:t> </a:t>
            </a:r>
            <a:r>
              <a:rPr lang="en-US" altLang="ja-JP" sz="1400" dirty="0" err="1">
                <a:latin typeface="+mj-lt"/>
              </a:rPr>
              <a:t>thay</a:t>
            </a:r>
            <a:r>
              <a:rPr lang="en-US" altLang="ja-JP" sz="1400" dirty="0">
                <a:latin typeface="+mj-lt"/>
              </a:rPr>
              <a:t> </a:t>
            </a:r>
            <a:r>
              <a:rPr lang="en-US" altLang="ja-JP" sz="1400" dirty="0" err="1">
                <a:latin typeface="+mj-lt"/>
              </a:rPr>
              <a:t>vì</a:t>
            </a:r>
            <a:r>
              <a:rPr lang="en-US" altLang="ja-JP" sz="1400" dirty="0">
                <a:latin typeface="+mj-lt"/>
              </a:rPr>
              <a:t> </a:t>
            </a:r>
            <a:r>
              <a:rPr lang="en-US" altLang="ja-JP" sz="1400" dirty="0" err="1">
                <a:latin typeface="+mj-lt"/>
              </a:rPr>
              <a:t>thừa</a:t>
            </a:r>
            <a:r>
              <a:rPr lang="en-US" altLang="ja-JP" sz="1400" dirty="0">
                <a:latin typeface="+mj-lt"/>
              </a:rPr>
              <a:t> </a:t>
            </a:r>
            <a:r>
              <a:rPr lang="en-US" altLang="ja-JP" sz="1400" dirty="0" err="1">
                <a:latin typeface="+mj-lt"/>
              </a:rPr>
              <a:t>kế</a:t>
            </a:r>
            <a:r>
              <a:rPr lang="en-US" altLang="ja-JP" sz="1400" dirty="0">
                <a:latin typeface="+mj-lt"/>
              </a:rPr>
              <a:t> </a:t>
            </a:r>
            <a:r>
              <a:rPr lang="en-US" altLang="ja-JP" sz="1400" dirty="0" err="1">
                <a:latin typeface="+mj-lt"/>
              </a:rPr>
              <a:t>nguyên</a:t>
            </a:r>
            <a:r>
              <a:rPr lang="en-US" altLang="ja-JP" sz="1400" dirty="0">
                <a:latin typeface="+mj-lt"/>
              </a:rPr>
              <a:t>, </a:t>
            </a:r>
            <a:r>
              <a:rPr lang="en-US" altLang="ja-JP" sz="1400" dirty="0" err="1">
                <a:latin typeface="+mj-lt"/>
              </a:rPr>
              <a:t>có</a:t>
            </a:r>
            <a:r>
              <a:rPr lang="en-US" altLang="ja-JP" sz="1400" dirty="0">
                <a:latin typeface="+mj-lt"/>
              </a:rPr>
              <a:t> </a:t>
            </a:r>
            <a:r>
              <a:rPr lang="en-US" altLang="ja-JP" sz="1400" dirty="0" err="1">
                <a:latin typeface="+mj-lt"/>
              </a:rPr>
              <a:t>thể</a:t>
            </a:r>
            <a:r>
              <a:rPr lang="en-US" altLang="ja-JP" sz="1400" dirty="0">
                <a:latin typeface="+mj-lt"/>
              </a:rPr>
              <a:t> </a:t>
            </a:r>
            <a:r>
              <a:rPr lang="en-US" altLang="ja-JP" sz="1400" dirty="0" err="1">
                <a:latin typeface="+mj-lt"/>
              </a:rPr>
              <a:t>thay</a:t>
            </a:r>
            <a:r>
              <a:rPr lang="en-US" altLang="ja-JP" sz="1400" dirty="0">
                <a:latin typeface="+mj-lt"/>
              </a:rPr>
              <a:t> </a:t>
            </a:r>
            <a:r>
              <a:rPr lang="en-US" altLang="ja-JP" sz="1400" dirty="0" err="1">
                <a:latin typeface="+mj-lt"/>
              </a:rPr>
              <a:t>đổi</a:t>
            </a:r>
            <a:r>
              <a:rPr lang="en-US" altLang="ja-JP" sz="1400" dirty="0">
                <a:latin typeface="+mj-lt"/>
              </a:rPr>
              <a:t> </a:t>
            </a:r>
            <a:r>
              <a:rPr lang="en-US" altLang="ja-JP" sz="1400" dirty="0" err="1">
                <a:latin typeface="+mj-lt"/>
              </a:rPr>
              <a:t>nội</a:t>
            </a:r>
            <a:r>
              <a:rPr lang="en-US" altLang="ja-JP" sz="1400" dirty="0">
                <a:latin typeface="+mj-lt"/>
              </a:rPr>
              <a:t> dung </a:t>
            </a:r>
            <a:r>
              <a:rPr lang="en-US" altLang="ja-JP" sz="1400" dirty="0" err="1">
                <a:latin typeface="+mj-lt"/>
              </a:rPr>
              <a:t>hoạt</a:t>
            </a:r>
            <a:r>
              <a:rPr lang="en-US" altLang="ja-JP" sz="1400" dirty="0">
                <a:latin typeface="+mj-lt"/>
              </a:rPr>
              <a:t> </a:t>
            </a:r>
            <a:r>
              <a:rPr lang="en-US" altLang="ja-JP" sz="1400" dirty="0" err="1">
                <a:latin typeface="+mj-lt"/>
              </a:rPr>
              <a:t>động</a:t>
            </a:r>
            <a:r>
              <a:rPr lang="en-US" altLang="ja-JP" sz="1400" dirty="0">
                <a:latin typeface="+mj-lt"/>
              </a:rPr>
              <a:t> </a:t>
            </a:r>
            <a:r>
              <a:rPr lang="en-US" altLang="ja-JP" sz="1400" dirty="0" err="1">
                <a:latin typeface="+mj-lt"/>
              </a:rPr>
              <a:t>bên</a:t>
            </a:r>
            <a:r>
              <a:rPr lang="en-US" altLang="ja-JP" sz="1400" dirty="0">
                <a:latin typeface="+mj-lt"/>
              </a:rPr>
              <a:t> </a:t>
            </a:r>
            <a:r>
              <a:rPr lang="en-US" altLang="ja-JP" sz="1400" dirty="0" err="1">
                <a:latin typeface="+mj-lt"/>
              </a:rPr>
              <a:t>phía</a:t>
            </a:r>
            <a:r>
              <a:rPr lang="en-US" altLang="ja-JP" sz="1400" dirty="0">
                <a:latin typeface="+mj-lt"/>
              </a:rPr>
              <a:t> sub class </a:t>
            </a:r>
            <a:r>
              <a:rPr lang="en-US" altLang="ja-JP" sz="1400" dirty="0" err="1">
                <a:latin typeface="+mj-lt"/>
              </a:rPr>
              <a:t>sao</a:t>
            </a:r>
            <a:r>
              <a:rPr lang="en-US" altLang="ja-JP" sz="1400" dirty="0">
                <a:latin typeface="+mj-lt"/>
              </a:rPr>
              <a:t> </a:t>
            </a:r>
            <a:r>
              <a:rPr lang="en-US" altLang="ja-JP" sz="1400" dirty="0" err="1">
                <a:latin typeface="+mj-lt"/>
              </a:rPr>
              <a:t>cho</a:t>
            </a:r>
            <a:r>
              <a:rPr lang="en-US" altLang="ja-JP" sz="1400" dirty="0">
                <a:latin typeface="+mj-lt"/>
              </a:rPr>
              <a:t> sub class </a:t>
            </a:r>
            <a:r>
              <a:rPr lang="en-US" altLang="ja-JP" sz="1400" dirty="0" err="1">
                <a:latin typeface="+mj-lt"/>
              </a:rPr>
              <a:t>hoạt</a:t>
            </a:r>
            <a:r>
              <a:rPr lang="en-US" altLang="ja-JP" sz="1400" dirty="0">
                <a:latin typeface="+mj-lt"/>
              </a:rPr>
              <a:t> </a:t>
            </a:r>
            <a:r>
              <a:rPr lang="en-US" altLang="ja-JP" sz="1400" dirty="0" err="1">
                <a:latin typeface="+mj-lt"/>
              </a:rPr>
              <a:t>động</a:t>
            </a:r>
            <a:r>
              <a:rPr lang="en-US" altLang="ja-JP" sz="1400" dirty="0">
                <a:latin typeface="+mj-lt"/>
              </a:rPr>
              <a:t> </a:t>
            </a:r>
            <a:r>
              <a:rPr lang="en-US" altLang="ja-JP" sz="1400" dirty="0" err="1">
                <a:latin typeface="+mj-lt"/>
              </a:rPr>
              <a:t>độc</a:t>
            </a:r>
            <a:r>
              <a:rPr lang="en-US" altLang="ja-JP" sz="1400" dirty="0">
                <a:latin typeface="+mj-lt"/>
              </a:rPr>
              <a:t> </a:t>
            </a:r>
            <a:r>
              <a:rPr lang="en-US" altLang="ja-JP" sz="1400" dirty="0" err="1">
                <a:latin typeface="+mj-lt"/>
              </a:rPr>
              <a:t>lập</a:t>
            </a:r>
            <a:r>
              <a:rPr lang="en-US" altLang="ja-JP" sz="1400" dirty="0">
                <a:latin typeface="+mj-lt"/>
              </a:rPr>
              <a:t>!</a:t>
            </a:r>
          </a:p>
        </p:txBody>
      </p:sp>
      <p:sp>
        <p:nvSpPr>
          <p:cNvPr id="516112" name="Rectangle 16">
            <a:extLst>
              <a:ext uri="{FF2B5EF4-FFF2-40B4-BE49-F238E27FC236}">
                <a16:creationId xmlns:a16="http://schemas.microsoft.com/office/drawing/2014/main" id="{6466E674-B47E-FFC4-D982-8F3A11B3E22C}"/>
              </a:ext>
            </a:extLst>
          </p:cNvPr>
          <p:cNvSpPr>
            <a:spLocks noChangeArrowheads="1"/>
          </p:cNvSpPr>
          <p:nvPr/>
        </p:nvSpPr>
        <p:spPr bwMode="auto">
          <a:xfrm>
            <a:off x="344488" y="3975100"/>
            <a:ext cx="9115425" cy="7747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a:latin typeface="Arial" panose="020B0604020202020204" pitchFamily="34" charset="0"/>
              </a:rPr>
              <a:t>Định nghĩa ở sub class các method của super class, method mà giá trị trả về và signature (Tên và List các đối số) là hoàn toàn giống nhau</a:t>
            </a:r>
          </a:p>
        </p:txBody>
      </p:sp>
      <p:sp>
        <p:nvSpPr>
          <p:cNvPr id="516113" name="AutoShape 17">
            <a:extLst>
              <a:ext uri="{FF2B5EF4-FFF2-40B4-BE49-F238E27FC236}">
                <a16:creationId xmlns:a16="http://schemas.microsoft.com/office/drawing/2014/main" id="{DC71D877-2202-1ED5-FF79-1717084C65C9}"/>
              </a:ext>
            </a:extLst>
          </p:cNvPr>
          <p:cNvSpPr>
            <a:spLocks noChangeArrowheads="1"/>
          </p:cNvSpPr>
          <p:nvPr/>
        </p:nvSpPr>
        <p:spPr bwMode="auto">
          <a:xfrm>
            <a:off x="992188" y="4983163"/>
            <a:ext cx="8062912" cy="400050"/>
          </a:xfrm>
          <a:prstGeom prst="wedgeRoundRectCallout">
            <a:avLst>
              <a:gd name="adj1" fmla="val 19443"/>
              <a:gd name="adj2" fmla="val -107374"/>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ctr"/>
            <a:r>
              <a:rPr lang="en-US" altLang="ja-JP" sz="1400" dirty="0" err="1">
                <a:latin typeface="+mj-lt"/>
              </a:rPr>
              <a:t>Đối</a:t>
            </a:r>
            <a:r>
              <a:rPr lang="en-US" altLang="ja-JP" sz="1400" dirty="0">
                <a:latin typeface="+mj-lt"/>
              </a:rPr>
              <a:t> </a:t>
            </a:r>
            <a:r>
              <a:rPr lang="en-US" altLang="ja-JP" sz="1400" dirty="0" err="1">
                <a:latin typeface="+mj-lt"/>
              </a:rPr>
              <a:t>số</a:t>
            </a:r>
            <a:r>
              <a:rPr lang="en-US" altLang="ja-JP" sz="1400" dirty="0">
                <a:latin typeface="+mj-lt"/>
              </a:rPr>
              <a:t> </a:t>
            </a:r>
            <a:r>
              <a:rPr lang="en-US" altLang="ja-JP" sz="1400" dirty="0" err="1">
                <a:latin typeface="+mj-lt"/>
              </a:rPr>
              <a:t>giống</a:t>
            </a:r>
            <a:r>
              <a:rPr lang="en-US" altLang="ja-JP" sz="1400" dirty="0">
                <a:latin typeface="+mj-lt"/>
              </a:rPr>
              <a:t> </a:t>
            </a:r>
            <a:r>
              <a:rPr lang="en-US" altLang="ja-JP" sz="1400" dirty="0" err="1">
                <a:latin typeface="+mj-lt"/>
              </a:rPr>
              <a:t>nhau</a:t>
            </a:r>
            <a:r>
              <a:rPr lang="en-US" altLang="ja-JP" sz="1400" dirty="0">
                <a:latin typeface="+mj-lt"/>
              </a:rPr>
              <a:t> </a:t>
            </a:r>
            <a:r>
              <a:rPr lang="en-US" altLang="ja-JP" sz="1400" dirty="0" err="1">
                <a:latin typeface="+mj-lt"/>
              </a:rPr>
              <a:t>có</a:t>
            </a:r>
            <a:r>
              <a:rPr lang="en-US" altLang="ja-JP" sz="1400" dirty="0">
                <a:latin typeface="+mj-lt"/>
              </a:rPr>
              <a:t> </a:t>
            </a:r>
            <a:r>
              <a:rPr lang="en-US" altLang="ja-JP" sz="1400" dirty="0" err="1">
                <a:latin typeface="+mj-lt"/>
              </a:rPr>
              <a:t>nghĩa</a:t>
            </a:r>
            <a:r>
              <a:rPr lang="en-US" altLang="ja-JP" sz="1400" dirty="0">
                <a:latin typeface="+mj-lt"/>
              </a:rPr>
              <a:t> </a:t>
            </a:r>
            <a:r>
              <a:rPr lang="en-US" altLang="ja-JP" sz="1400" dirty="0" err="1">
                <a:latin typeface="+mj-lt"/>
              </a:rPr>
              <a:t>là</a:t>
            </a:r>
            <a:r>
              <a:rPr lang="en-US" altLang="ja-JP" sz="1400" dirty="0">
                <a:latin typeface="+mj-lt"/>
              </a:rPr>
              <a:t> </a:t>
            </a:r>
            <a:r>
              <a:rPr lang="ja-JP" altLang="en-US" sz="1400" dirty="0">
                <a:latin typeface="+mj-lt"/>
              </a:rPr>
              <a:t>「</a:t>
            </a:r>
            <a:r>
              <a:rPr lang="en-US" altLang="ja-JP" sz="1400" dirty="0" err="1">
                <a:latin typeface="+mj-lt"/>
              </a:rPr>
              <a:t>Số</a:t>
            </a:r>
            <a:r>
              <a:rPr lang="en-US" altLang="ja-JP" sz="1400" dirty="0">
                <a:latin typeface="+mj-lt"/>
              </a:rPr>
              <a:t> </a:t>
            </a:r>
            <a:r>
              <a:rPr lang="en-US" altLang="ja-JP" sz="1400" dirty="0" err="1">
                <a:latin typeface="+mj-lt"/>
              </a:rPr>
              <a:t>lượng</a:t>
            </a:r>
            <a:r>
              <a:rPr lang="en-US" altLang="ja-JP" sz="1400" dirty="0">
                <a:latin typeface="+mj-lt"/>
              </a:rPr>
              <a:t> </a:t>
            </a:r>
            <a:r>
              <a:rPr lang="en-US" altLang="ja-JP" sz="1400" dirty="0" err="1">
                <a:latin typeface="+mj-lt"/>
              </a:rPr>
              <a:t>của</a:t>
            </a:r>
            <a:r>
              <a:rPr lang="en-US" altLang="ja-JP" sz="1400" dirty="0">
                <a:latin typeface="+mj-lt"/>
              </a:rPr>
              <a:t> </a:t>
            </a:r>
            <a:r>
              <a:rPr lang="en-US" altLang="ja-JP" sz="1400" dirty="0" err="1">
                <a:latin typeface="+mj-lt"/>
              </a:rPr>
              <a:t>đối</a:t>
            </a:r>
            <a:r>
              <a:rPr lang="en-US" altLang="ja-JP" sz="1400" dirty="0">
                <a:latin typeface="+mj-lt"/>
              </a:rPr>
              <a:t> </a:t>
            </a:r>
            <a:r>
              <a:rPr lang="en-US" altLang="ja-JP" sz="1400" dirty="0" err="1">
                <a:latin typeface="+mj-lt"/>
              </a:rPr>
              <a:t>số</a:t>
            </a:r>
            <a:r>
              <a:rPr lang="ja-JP" altLang="en-US" sz="1400" dirty="0">
                <a:latin typeface="+mj-lt"/>
              </a:rPr>
              <a:t>」「</a:t>
            </a:r>
            <a:r>
              <a:rPr lang="en-US" altLang="ja-JP" sz="1400" dirty="0">
                <a:latin typeface="+mj-lt"/>
              </a:rPr>
              <a:t>Data type</a:t>
            </a:r>
            <a:r>
              <a:rPr lang="ja-JP" altLang="en-US" sz="1400" dirty="0">
                <a:latin typeface="+mj-lt"/>
              </a:rPr>
              <a:t>」「</a:t>
            </a:r>
            <a:r>
              <a:rPr lang="en-US" altLang="ja-JP" sz="1400" dirty="0" err="1">
                <a:latin typeface="+mj-lt"/>
              </a:rPr>
              <a:t>Trình</a:t>
            </a:r>
            <a:r>
              <a:rPr lang="en-US" altLang="ja-JP" sz="1400" dirty="0">
                <a:latin typeface="+mj-lt"/>
              </a:rPr>
              <a:t> </a:t>
            </a:r>
            <a:r>
              <a:rPr lang="en-US" altLang="ja-JP" sz="1400" dirty="0" err="1">
                <a:latin typeface="+mj-lt"/>
              </a:rPr>
              <a:t>tự</a:t>
            </a:r>
            <a:r>
              <a:rPr lang="en-US" altLang="ja-JP" sz="1400" dirty="0">
                <a:latin typeface="+mj-lt"/>
              </a:rPr>
              <a:t> </a:t>
            </a:r>
            <a:r>
              <a:rPr lang="en-US" altLang="ja-JP" sz="1400" dirty="0" err="1">
                <a:latin typeface="+mj-lt"/>
              </a:rPr>
              <a:t>định</a:t>
            </a:r>
            <a:r>
              <a:rPr lang="en-US" altLang="ja-JP" sz="1400" dirty="0">
                <a:latin typeface="+mj-lt"/>
              </a:rPr>
              <a:t> </a:t>
            </a:r>
            <a:r>
              <a:rPr lang="en-US" altLang="ja-JP" sz="1400" dirty="0" err="1">
                <a:latin typeface="+mj-lt"/>
              </a:rPr>
              <a:t>nghĩa</a:t>
            </a:r>
            <a:r>
              <a:rPr lang="en-US" altLang="ja-JP" sz="1400" dirty="0">
                <a:latin typeface="+mj-lt"/>
              </a:rPr>
              <a:t> </a:t>
            </a:r>
            <a:r>
              <a:rPr lang="en-US" altLang="ja-JP" sz="1400" dirty="0" err="1">
                <a:latin typeface="+mj-lt"/>
              </a:rPr>
              <a:t>đối</a:t>
            </a:r>
            <a:r>
              <a:rPr lang="en-US" altLang="ja-JP" sz="1400" dirty="0">
                <a:latin typeface="+mj-lt"/>
              </a:rPr>
              <a:t> </a:t>
            </a:r>
            <a:r>
              <a:rPr lang="en-US" altLang="ja-JP" sz="1400" dirty="0" err="1">
                <a:latin typeface="+mj-lt"/>
              </a:rPr>
              <a:t>số</a:t>
            </a:r>
            <a:r>
              <a:rPr lang="ja-JP" altLang="en-US" sz="1400" dirty="0">
                <a:latin typeface="+mj-lt"/>
              </a:rPr>
              <a:t>」</a:t>
            </a:r>
            <a:r>
              <a:rPr lang="en-US" altLang="ja-JP" sz="1400" dirty="0" err="1">
                <a:latin typeface="+mj-lt"/>
              </a:rPr>
              <a:t>hoàn</a:t>
            </a:r>
            <a:r>
              <a:rPr lang="en-US" altLang="ja-JP" sz="1400" dirty="0">
                <a:latin typeface="+mj-lt"/>
              </a:rPr>
              <a:t> </a:t>
            </a:r>
            <a:r>
              <a:rPr lang="en-US" altLang="ja-JP" sz="1400" dirty="0" err="1">
                <a:latin typeface="+mj-lt"/>
              </a:rPr>
              <a:t>toàn</a:t>
            </a:r>
            <a:r>
              <a:rPr lang="en-US" altLang="ja-JP" sz="1400" dirty="0">
                <a:latin typeface="+mj-lt"/>
              </a:rPr>
              <a:t> </a:t>
            </a:r>
            <a:r>
              <a:rPr lang="en-US" altLang="ja-JP" sz="1400" dirty="0" err="1">
                <a:latin typeface="+mj-lt"/>
              </a:rPr>
              <a:t>giống</a:t>
            </a:r>
            <a:r>
              <a:rPr lang="en-US" altLang="ja-JP" sz="1400" dirty="0">
                <a:latin typeface="+mj-lt"/>
              </a:rPr>
              <a:t> </a:t>
            </a:r>
            <a:r>
              <a:rPr lang="en-US" altLang="ja-JP" sz="1400" dirty="0" err="1">
                <a:latin typeface="+mj-lt"/>
              </a:rPr>
              <a:t>nhau</a:t>
            </a:r>
            <a:r>
              <a:rPr lang="en-US" altLang="ja-JP" sz="1400" dirty="0">
                <a:latin typeface="+mj-lt"/>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731831F-D384-AB1C-A08E-B85E91850B61}"/>
              </a:ext>
            </a:extLst>
          </p:cNvPr>
          <p:cNvSpPr>
            <a:spLocks noGrp="1"/>
          </p:cNvSpPr>
          <p:nvPr>
            <p:ph type="title"/>
          </p:nvPr>
        </p:nvSpPr>
        <p:spPr/>
        <p:txBody>
          <a:bodyPr>
            <a:normAutofit fontScale="90000"/>
          </a:bodyPr>
          <a:lstStyle/>
          <a:p>
            <a:r>
              <a:rPr lang="en-US" altLang="ja-JP" dirty="0"/>
              <a:t>Override </a:t>
            </a:r>
            <a:r>
              <a:rPr lang="en-US" altLang="ja-JP" dirty="0" err="1"/>
              <a:t>va</a:t>
            </a:r>
            <a:r>
              <a:rPr lang="en-US" altLang="ja-JP" dirty="0"/>
              <a:t>̀ overload</a:t>
            </a:r>
            <a:endParaRPr lang="ja-JP" altLang="en-US" dirty="0"/>
          </a:p>
        </p:txBody>
      </p:sp>
      <p:sp>
        <p:nvSpPr>
          <p:cNvPr id="7" name="Content Placeholder 6">
            <a:extLst>
              <a:ext uri="{FF2B5EF4-FFF2-40B4-BE49-F238E27FC236}">
                <a16:creationId xmlns:a16="http://schemas.microsoft.com/office/drawing/2014/main" id="{B0C80D64-D1E8-8F2B-1DB8-BB0ECBEEF378}"/>
              </a:ext>
            </a:extLst>
          </p:cNvPr>
          <p:cNvSpPr>
            <a:spLocks noGrp="1"/>
          </p:cNvSpPr>
          <p:nvPr>
            <p:ph idx="1"/>
          </p:nvPr>
        </p:nvSpPr>
        <p:spPr>
          <a:xfrm>
            <a:off x="128464" y="990600"/>
            <a:ext cx="9649072" cy="5462736"/>
          </a:xfrm>
        </p:spPr>
        <p:txBody>
          <a:bodyPr>
            <a:normAutofit fontScale="85000" lnSpcReduction="20000"/>
          </a:bodyPr>
          <a:lstStyle/>
          <a:p>
            <a:endParaRPr lang="en-US" altLang="ja-JP" dirty="0"/>
          </a:p>
          <a:p>
            <a:pPr marL="0" indent="0">
              <a:buNone/>
            </a:pPr>
            <a:r>
              <a:rPr lang="en-US" altLang="ja-JP" dirty="0"/>
              <a:t>【Override】</a:t>
            </a:r>
          </a:p>
          <a:p>
            <a:r>
              <a:rPr lang="ja-JP" altLang="en-US" dirty="0"/>
              <a:t>　</a:t>
            </a:r>
            <a:r>
              <a:rPr lang="en-US" altLang="ja-JP" dirty="0"/>
              <a:t>Là ở sub class </a:t>
            </a:r>
            <a:r>
              <a:rPr lang="en-US" altLang="ja-JP" dirty="0" err="1"/>
              <a:t>định</a:t>
            </a:r>
            <a:r>
              <a:rPr lang="en-US" altLang="ja-JP" dirty="0"/>
              <a:t> </a:t>
            </a:r>
            <a:r>
              <a:rPr lang="en-US" altLang="ja-JP" dirty="0" err="1"/>
              <a:t>nghĩa</a:t>
            </a:r>
            <a:r>
              <a:rPr lang="en-US" altLang="ja-JP" dirty="0"/>
              <a:t> method </a:t>
            </a:r>
            <a:r>
              <a:rPr lang="en-US" altLang="ja-JP" dirty="0" err="1"/>
              <a:t>của</a:t>
            </a:r>
            <a:r>
              <a:rPr lang="en-US" altLang="ja-JP" dirty="0"/>
              <a:t> supper class </a:t>
            </a:r>
            <a:r>
              <a:rPr lang="en-US" altLang="ja-JP" dirty="0" err="1"/>
              <a:t>va</a:t>
            </a:r>
            <a:r>
              <a:rPr lang="en-US" altLang="ja-JP" dirty="0"/>
              <a:t>̀ method </a:t>
            </a:r>
            <a:r>
              <a:rPr lang="en-US" altLang="ja-JP" dirty="0" err="1"/>
              <a:t>có</a:t>
            </a:r>
            <a:r>
              <a:rPr lang="en-US" altLang="ja-JP" dirty="0"/>
              <a:t> </a:t>
            </a:r>
            <a:r>
              <a:rPr lang="en-US" altLang="ja-JP" dirty="0">
                <a:ea typeface="MS UI Gothic" panose="020B0600070205080204" pitchFamily="50" charset="-128"/>
              </a:rPr>
              <a:t>signature (name </a:t>
            </a:r>
            <a:r>
              <a:rPr lang="en-US" altLang="ja-JP" dirty="0" err="1">
                <a:ea typeface="MS UI Gothic" panose="020B0600070205080204" pitchFamily="50" charset="-128"/>
              </a:rPr>
              <a:t>va</a:t>
            </a:r>
            <a:r>
              <a:rPr lang="en-US" altLang="ja-JP" dirty="0">
                <a:ea typeface="MS UI Gothic" panose="020B0600070205080204" pitchFamily="50" charset="-128"/>
              </a:rPr>
              <a:t>̀ list </a:t>
            </a:r>
            <a:r>
              <a:rPr lang="en-US" altLang="ja-JP" dirty="0" err="1">
                <a:ea typeface="MS UI Gothic" panose="020B0600070205080204" pitchFamily="50" charset="-128"/>
              </a:rPr>
              <a:t>đối</a:t>
            </a:r>
            <a:r>
              <a:rPr lang="en-US" altLang="ja-JP" dirty="0">
                <a:ea typeface="MS UI Gothic" panose="020B0600070205080204" pitchFamily="50" charset="-128"/>
              </a:rPr>
              <a:t> </a:t>
            </a:r>
            <a:r>
              <a:rPr lang="en-US" altLang="ja-JP" dirty="0" err="1">
                <a:ea typeface="MS UI Gothic" panose="020B0600070205080204" pitchFamily="50" charset="-128"/>
              </a:rPr>
              <a:t>sô</a:t>
            </a:r>
            <a:r>
              <a:rPr lang="en-US" altLang="ja-JP" dirty="0">
                <a:ea typeface="MS UI Gothic" panose="020B0600070205080204" pitchFamily="50" charset="-128"/>
              </a:rPr>
              <a:t>́) </a:t>
            </a:r>
            <a:r>
              <a:rPr lang="en-US" altLang="ja-JP" dirty="0" err="1">
                <a:ea typeface="MS UI Gothic" panose="020B0600070205080204" pitchFamily="50" charset="-128"/>
              </a:rPr>
              <a:t>hoàn</a:t>
            </a:r>
            <a:r>
              <a:rPr lang="en-US" altLang="ja-JP" dirty="0">
                <a:ea typeface="MS UI Gothic" panose="020B0600070205080204" pitchFamily="50" charset="-128"/>
              </a:rPr>
              <a:t> </a:t>
            </a:r>
            <a:r>
              <a:rPr lang="en-US" altLang="ja-JP" dirty="0" err="1">
                <a:ea typeface="MS UI Gothic" panose="020B0600070205080204" pitchFamily="50" charset="-128"/>
              </a:rPr>
              <a:t>toàn</a:t>
            </a:r>
            <a:r>
              <a:rPr lang="en-US" altLang="ja-JP" dirty="0">
                <a:ea typeface="MS UI Gothic" panose="020B0600070205080204" pitchFamily="50" charset="-128"/>
              </a:rPr>
              <a:t> </a:t>
            </a:r>
            <a:r>
              <a:rPr lang="en-US" altLang="ja-JP" dirty="0" err="1">
                <a:ea typeface="MS UI Gothic" panose="020B0600070205080204" pitchFamily="50" charset="-128"/>
              </a:rPr>
              <a:t>giống</a:t>
            </a:r>
            <a:r>
              <a:rPr lang="en-US" altLang="ja-JP" dirty="0">
                <a:ea typeface="MS UI Gothic" panose="020B0600070205080204" pitchFamily="50" charset="-128"/>
              </a:rPr>
              <a:t> </a:t>
            </a:r>
            <a:r>
              <a:rPr lang="en-US" altLang="ja-JP" dirty="0" err="1">
                <a:ea typeface="MS UI Gothic" panose="020B0600070205080204" pitchFamily="50" charset="-128"/>
              </a:rPr>
              <a:t>nhau</a:t>
            </a:r>
            <a:endParaRPr lang="en-US" altLang="ja-JP" dirty="0"/>
          </a:p>
          <a:p>
            <a:r>
              <a:rPr lang="ja-JP" altLang="en-US" dirty="0"/>
              <a:t>　（</a:t>
            </a:r>
            <a:r>
              <a:rPr lang="en-US" altLang="ja-JP" dirty="0" err="1"/>
              <a:t>Vê</a:t>
            </a:r>
            <a:r>
              <a:rPr lang="en-US" altLang="ja-JP" dirty="0"/>
              <a:t>̀ </a:t>
            </a:r>
            <a:r>
              <a:rPr lang="en-US" altLang="ja-JP" dirty="0" err="1"/>
              <a:t>tính</a:t>
            </a:r>
            <a:r>
              <a:rPr lang="en-US" altLang="ja-JP" dirty="0"/>
              <a:t> </a:t>
            </a:r>
            <a:r>
              <a:rPr lang="en-US" altLang="ja-JP" dirty="0" err="1"/>
              <a:t>năng</a:t>
            </a:r>
            <a:r>
              <a:rPr lang="en-US" altLang="ja-JP" dirty="0"/>
              <a:t> superclass </a:t>
            </a:r>
            <a:r>
              <a:rPr lang="en-US" altLang="ja-JP" dirty="0" err="1"/>
              <a:t>đang</a:t>
            </a:r>
            <a:r>
              <a:rPr lang="en-US" altLang="ja-JP" dirty="0"/>
              <a:t> </a:t>
            </a:r>
            <a:r>
              <a:rPr lang="en-US" altLang="ja-JP" dirty="0" err="1"/>
              <a:t>có</a:t>
            </a:r>
            <a:r>
              <a:rPr lang="en-US" altLang="ja-JP" dirty="0"/>
              <a:t>, sẽ </a:t>
            </a:r>
            <a:r>
              <a:rPr lang="en-US" altLang="ja-JP" dirty="0" err="1"/>
              <a:t>định</a:t>
            </a:r>
            <a:r>
              <a:rPr lang="en-US" altLang="ja-JP" dirty="0"/>
              <a:t> </a:t>
            </a:r>
            <a:r>
              <a:rPr lang="en-US" altLang="ja-JP" dirty="0" err="1"/>
              <a:t>nghĩa</a:t>
            </a:r>
            <a:r>
              <a:rPr lang="en-US" altLang="ja-JP" dirty="0"/>
              <a:t> </a:t>
            </a:r>
            <a:r>
              <a:rPr lang="en-US" altLang="ja-JP" dirty="0" err="1"/>
              <a:t>lại</a:t>
            </a:r>
            <a:r>
              <a:rPr lang="en-US" altLang="ja-JP" dirty="0"/>
              <a:t> </a:t>
            </a:r>
            <a:r>
              <a:rPr lang="en-US" altLang="ja-JP" dirty="0" err="1"/>
              <a:t>một</a:t>
            </a:r>
            <a:r>
              <a:rPr lang="en-US" altLang="ja-JP" dirty="0"/>
              <a:t> </a:t>
            </a:r>
            <a:r>
              <a:rPr lang="en-US" altLang="ja-JP" dirty="0" err="1"/>
              <a:t>cách</a:t>
            </a:r>
            <a:r>
              <a:rPr lang="en-US" altLang="ja-JP" dirty="0"/>
              <a:t> </a:t>
            </a:r>
            <a:r>
              <a:rPr lang="en-US" altLang="ja-JP" dirty="0" err="1"/>
              <a:t>độc</a:t>
            </a:r>
            <a:r>
              <a:rPr lang="en-US" altLang="ja-JP" dirty="0"/>
              <a:t> </a:t>
            </a:r>
            <a:r>
              <a:rPr lang="en-US" altLang="ja-JP" dirty="0" err="1"/>
              <a:t>lập</a:t>
            </a:r>
            <a:r>
              <a:rPr lang="en-US" altLang="ja-JP" dirty="0"/>
              <a:t> ở </a:t>
            </a:r>
            <a:r>
              <a:rPr lang="en-US" altLang="ja-JP" dirty="0" err="1"/>
              <a:t>phía</a:t>
            </a:r>
            <a:r>
              <a:rPr lang="en-US" altLang="ja-JP" dirty="0"/>
              <a:t> subclass</a:t>
            </a:r>
            <a:r>
              <a:rPr lang="ja-JP" altLang="en-US" dirty="0"/>
              <a:t>）</a:t>
            </a:r>
          </a:p>
          <a:p>
            <a:endParaRPr lang="ja-JP" altLang="en-US" dirty="0"/>
          </a:p>
          <a:p>
            <a:pPr marL="0" indent="0">
              <a:buNone/>
            </a:pPr>
            <a:r>
              <a:rPr lang="en-US" altLang="ja-JP" dirty="0"/>
              <a:t>【Overload】</a:t>
            </a:r>
          </a:p>
          <a:p>
            <a:r>
              <a:rPr lang="ja-JP" altLang="en-US" dirty="0"/>
              <a:t>　</a:t>
            </a:r>
            <a:r>
              <a:rPr lang="en-US" altLang="ja-JP" dirty="0"/>
              <a:t>Là </a:t>
            </a:r>
            <a:r>
              <a:rPr lang="en-US" altLang="ja-JP" dirty="0" err="1"/>
              <a:t>định</a:t>
            </a:r>
            <a:r>
              <a:rPr lang="en-US" altLang="ja-JP" dirty="0"/>
              <a:t> </a:t>
            </a:r>
            <a:r>
              <a:rPr lang="en-US" altLang="ja-JP" dirty="0" err="1"/>
              <a:t>nghĩa</a:t>
            </a:r>
            <a:r>
              <a:rPr lang="en-US" altLang="ja-JP" dirty="0"/>
              <a:t> </a:t>
            </a:r>
            <a:r>
              <a:rPr lang="en-US" altLang="ja-JP" dirty="0" err="1"/>
              <a:t>nhiều</a:t>
            </a:r>
            <a:r>
              <a:rPr lang="en-US" altLang="ja-JP" dirty="0"/>
              <a:t> method/ constructor có name </a:t>
            </a:r>
            <a:r>
              <a:rPr lang="en-US" altLang="ja-JP" dirty="0" err="1"/>
              <a:t>giống</a:t>
            </a:r>
            <a:r>
              <a:rPr lang="en-US" altLang="ja-JP" dirty="0"/>
              <a:t> </a:t>
            </a:r>
            <a:r>
              <a:rPr lang="en-US" altLang="ja-JP" dirty="0" err="1"/>
              <a:t>nhau</a:t>
            </a:r>
            <a:r>
              <a:rPr lang="en-US" altLang="ja-JP" dirty="0"/>
              <a:t>  </a:t>
            </a:r>
            <a:r>
              <a:rPr lang="en-US" altLang="ja-JP" dirty="0" err="1"/>
              <a:t>nhưng</a:t>
            </a:r>
            <a:r>
              <a:rPr lang="en-US" altLang="ja-JP" dirty="0"/>
              <a:t> </a:t>
            </a:r>
            <a:r>
              <a:rPr lang="en-US" altLang="ja-JP" dirty="0" err="1"/>
              <a:t>đối</a:t>
            </a:r>
            <a:r>
              <a:rPr lang="en-US" altLang="ja-JP" dirty="0"/>
              <a:t> </a:t>
            </a:r>
            <a:r>
              <a:rPr lang="en-US" altLang="ja-JP" dirty="0" err="1"/>
              <a:t>sô</a:t>
            </a:r>
            <a:r>
              <a:rPr lang="en-US" altLang="ja-JP" dirty="0"/>
              <a:t>́ </a:t>
            </a:r>
            <a:r>
              <a:rPr lang="en-US" altLang="ja-JP" dirty="0" err="1"/>
              <a:t>khác</a:t>
            </a:r>
            <a:r>
              <a:rPr lang="en-US" altLang="ja-JP" dirty="0"/>
              <a:t> </a:t>
            </a:r>
            <a:r>
              <a:rPr lang="en-US" altLang="ja-JP" dirty="0" err="1"/>
              <a:t>nhau</a:t>
            </a:r>
            <a:r>
              <a:rPr lang="en-US" altLang="ja-JP" dirty="0"/>
              <a:t> </a:t>
            </a:r>
            <a:r>
              <a:rPr lang="en-US" altLang="ja-JP" dirty="0" err="1"/>
              <a:t>trong</a:t>
            </a:r>
            <a:r>
              <a:rPr lang="en-US" altLang="ja-JP" dirty="0"/>
              <a:t> </a:t>
            </a:r>
            <a:r>
              <a:rPr lang="en-US" altLang="ja-JP" dirty="0" err="1"/>
              <a:t>cùng</a:t>
            </a:r>
            <a:r>
              <a:rPr lang="en-US" altLang="ja-JP" dirty="0"/>
              <a:t> 1 class.</a:t>
            </a:r>
          </a:p>
          <a:p>
            <a:r>
              <a:rPr lang="en-US" altLang="ja-JP" dirty="0"/>
              <a:t> </a:t>
            </a:r>
            <a:r>
              <a:rPr lang="ja-JP" altLang="en-US" dirty="0"/>
              <a:t>　（</a:t>
            </a:r>
            <a:r>
              <a:rPr lang="en-US" altLang="ja-JP" dirty="0"/>
              <a:t>Trường </a:t>
            </a:r>
            <a:r>
              <a:rPr lang="en-US" altLang="ja-JP" dirty="0" err="1"/>
              <a:t>hợp</a:t>
            </a:r>
            <a:r>
              <a:rPr lang="en-US" altLang="ja-JP" dirty="0"/>
              <a:t> </a:t>
            </a:r>
            <a:r>
              <a:rPr lang="en-US" altLang="ja-JP" dirty="0" err="1"/>
              <a:t>muốn</a:t>
            </a:r>
            <a:r>
              <a:rPr lang="en-US" altLang="ja-JP" dirty="0"/>
              <a:t> </a:t>
            </a:r>
            <a:r>
              <a:rPr lang="en-US" altLang="ja-JP" dirty="0" err="1"/>
              <a:t>định</a:t>
            </a:r>
            <a:r>
              <a:rPr lang="en-US" altLang="ja-JP" dirty="0"/>
              <a:t> </a:t>
            </a:r>
            <a:r>
              <a:rPr lang="en-US" altLang="ja-JP" dirty="0" err="1"/>
              <a:t>nghĩa</a:t>
            </a:r>
            <a:r>
              <a:rPr lang="en-US" altLang="ja-JP" dirty="0"/>
              <a:t> </a:t>
            </a:r>
            <a:r>
              <a:rPr lang="en-US" altLang="ja-JP" dirty="0" err="1"/>
              <a:t>chức</a:t>
            </a:r>
            <a:r>
              <a:rPr lang="en-US" altLang="ja-JP" dirty="0"/>
              <a:t> </a:t>
            </a:r>
            <a:r>
              <a:rPr lang="en-US" altLang="ja-JP" dirty="0" err="1"/>
              <a:t>năng</a:t>
            </a:r>
            <a:r>
              <a:rPr lang="en-US" altLang="ja-JP" dirty="0"/>
              <a:t> </a:t>
            </a:r>
            <a:r>
              <a:rPr lang="en-US" altLang="ja-JP" dirty="0" err="1"/>
              <a:t>nào</a:t>
            </a:r>
            <a:r>
              <a:rPr lang="en-US" altLang="ja-JP" dirty="0"/>
              <a:t> </a:t>
            </a:r>
            <a:r>
              <a:rPr lang="en-US" altLang="ja-JP" dirty="0" err="1"/>
              <a:t>đo</a:t>
            </a:r>
            <a:r>
              <a:rPr lang="en-US" altLang="ja-JP" dirty="0"/>
              <a:t>́ </a:t>
            </a:r>
            <a:r>
              <a:rPr lang="en-US" altLang="ja-JP" dirty="0" err="1"/>
              <a:t>nhưng</a:t>
            </a:r>
            <a:r>
              <a:rPr lang="en-US" altLang="ja-JP" dirty="0"/>
              <a:t> </a:t>
            </a:r>
            <a:r>
              <a:rPr lang="en-US" altLang="ja-JP" dirty="0" err="1"/>
              <a:t>tồn</a:t>
            </a:r>
            <a:r>
              <a:rPr lang="en-US" altLang="ja-JP" dirty="0"/>
              <a:t> </a:t>
            </a:r>
            <a:r>
              <a:rPr lang="en-US" altLang="ja-JP" dirty="0" err="1"/>
              <a:t>tại</a:t>
            </a:r>
            <a:r>
              <a:rPr lang="en-US" altLang="ja-JP" dirty="0"/>
              <a:t> </a:t>
            </a:r>
            <a:r>
              <a:rPr lang="en-US" altLang="ja-JP" dirty="0" err="1"/>
              <a:t>nhiều</a:t>
            </a:r>
            <a:r>
              <a:rPr lang="en-US" altLang="ja-JP" dirty="0"/>
              <a:t> pattern </a:t>
            </a:r>
            <a:r>
              <a:rPr lang="en-US" altLang="ja-JP" dirty="0" err="1"/>
              <a:t>đối</a:t>
            </a:r>
            <a:r>
              <a:rPr lang="en-US" altLang="ja-JP" dirty="0"/>
              <a:t> </a:t>
            </a:r>
            <a:r>
              <a:rPr lang="en-US" altLang="ja-JP" dirty="0" err="1"/>
              <a:t>sô</a:t>
            </a:r>
            <a:r>
              <a:rPr lang="en-US" altLang="ja-JP" dirty="0"/>
              <a:t>́ </a:t>
            </a:r>
            <a:r>
              <a:rPr lang="ja-JP" altLang="en-US" dirty="0"/>
              <a:t>）</a:t>
            </a:r>
          </a:p>
          <a:p>
            <a:endParaRPr lang="ja-JP" altLang="en-US" dirty="0"/>
          </a:p>
        </p:txBody>
      </p:sp>
      <p:sp>
        <p:nvSpPr>
          <p:cNvPr id="5" name="Slide Number Placeholder 4">
            <a:extLst>
              <a:ext uri="{FF2B5EF4-FFF2-40B4-BE49-F238E27FC236}">
                <a16:creationId xmlns:a16="http://schemas.microsoft.com/office/drawing/2014/main" id="{760AF6C7-36B8-C6B4-F551-F8EA95F92D85}"/>
              </a:ext>
            </a:extLst>
          </p:cNvPr>
          <p:cNvSpPr>
            <a:spLocks noGrp="1"/>
          </p:cNvSpPr>
          <p:nvPr>
            <p:ph type="sldNum" sz="quarter" idx="11"/>
          </p:nvPr>
        </p:nvSpPr>
        <p:spPr/>
        <p:txBody>
          <a:bodyPr/>
          <a:lstStyle/>
          <a:p>
            <a:fld id="{6A23C60C-6516-4562-9893-F36504E29111}" type="slidenum">
              <a:rPr lang="en-US" altLang="ja-JP" smtClean="0"/>
              <a:pPr/>
              <a:t>11</a:t>
            </a:fld>
            <a:endParaRPr lang="en-US" altLang="ja-JP"/>
          </a:p>
        </p:txBody>
      </p:sp>
    </p:spTree>
    <p:extLst>
      <p:ext uri="{BB962C8B-B14F-4D97-AF65-F5344CB8AC3E}">
        <p14:creationId xmlns:p14="http://schemas.microsoft.com/office/powerpoint/2010/main" val="2635330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F31CB-E110-E1DB-A35E-9D73B96C2893}"/>
              </a:ext>
            </a:extLst>
          </p:cNvPr>
          <p:cNvSpPr>
            <a:spLocks noGrp="1"/>
          </p:cNvSpPr>
          <p:nvPr>
            <p:ph type="title"/>
          </p:nvPr>
        </p:nvSpPr>
        <p:spPr/>
        <p:txBody>
          <a:bodyPr>
            <a:normAutofit fontScale="90000"/>
          </a:bodyPr>
          <a:lstStyle/>
          <a:p>
            <a:r>
              <a:rPr kumimoji="1" lang="en-US" altLang="ja-JP" dirty="0"/>
              <a:t>Override</a:t>
            </a:r>
            <a:endParaRPr kumimoji="1" lang="ja-JP" altLang="en-US" dirty="0"/>
          </a:p>
        </p:txBody>
      </p:sp>
      <p:sp>
        <p:nvSpPr>
          <p:cNvPr id="4" name="Slide Number Placeholder 3">
            <a:extLst>
              <a:ext uri="{FF2B5EF4-FFF2-40B4-BE49-F238E27FC236}">
                <a16:creationId xmlns:a16="http://schemas.microsoft.com/office/drawing/2014/main" id="{D312D0D9-934C-55A6-F581-5069BD00BE55}"/>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12</a:t>
            </a:fld>
            <a:endParaRPr lang="en-US" altLang="ja-JP"/>
          </a:p>
        </p:txBody>
      </p:sp>
      <p:sp>
        <p:nvSpPr>
          <p:cNvPr id="6" name="Text Box 4">
            <a:extLst>
              <a:ext uri="{FF2B5EF4-FFF2-40B4-BE49-F238E27FC236}">
                <a16:creationId xmlns:a16="http://schemas.microsoft.com/office/drawing/2014/main" id="{136580D7-A8A1-AFFD-114D-C01635BF894C}"/>
              </a:ext>
            </a:extLst>
          </p:cNvPr>
          <p:cNvSpPr txBox="1">
            <a:spLocks noChangeArrowheads="1"/>
          </p:cNvSpPr>
          <p:nvPr/>
        </p:nvSpPr>
        <p:spPr bwMode="auto">
          <a:xfrm>
            <a:off x="1" y="1152077"/>
            <a:ext cx="4724399" cy="220980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marL="342900" indent="-342900" defTabSz="447675">
              <a:defRPr kumimoji="1">
                <a:solidFill>
                  <a:schemeClr val="tx1"/>
                </a:solidFill>
                <a:latin typeface="Arial" panose="020B0604020202020204" pitchFamily="34" charset="0"/>
                <a:ea typeface="ＭＳ Ｐゴシック" panose="020B0600070205080204" pitchFamily="50" charset="-128"/>
              </a:defRPr>
            </a:lvl1pPr>
            <a:lvl2pPr marL="522288" indent="-342900" defTabSz="447675">
              <a:defRPr kumimoji="1">
                <a:solidFill>
                  <a:schemeClr val="tx1"/>
                </a:solidFill>
                <a:latin typeface="Arial" panose="020B0604020202020204" pitchFamily="34" charset="0"/>
                <a:ea typeface="ＭＳ Ｐゴシック" panose="020B0600070205080204" pitchFamily="50" charset="-128"/>
              </a:defRPr>
            </a:lvl2pPr>
            <a:lvl3pPr marL="1296988" indent="-342900" defTabSz="447675">
              <a:defRPr kumimoji="1">
                <a:solidFill>
                  <a:schemeClr val="tx1"/>
                </a:solidFill>
                <a:latin typeface="Arial" panose="020B0604020202020204" pitchFamily="34" charset="0"/>
                <a:ea typeface="ＭＳ Ｐゴシック" panose="020B0600070205080204" pitchFamily="50" charset="-128"/>
              </a:defRPr>
            </a:lvl3pPr>
            <a:lvl4pPr marL="1774825" indent="-342900" defTabSz="447675">
              <a:defRPr kumimoji="1">
                <a:solidFill>
                  <a:schemeClr val="tx1"/>
                </a:solidFill>
                <a:latin typeface="Arial" panose="020B0604020202020204" pitchFamily="34" charset="0"/>
                <a:ea typeface="ＭＳ Ｐゴシック" panose="020B0600070205080204" pitchFamily="50" charset="-128"/>
              </a:defRPr>
            </a:lvl4pPr>
            <a:lvl5pPr marL="2252663" indent="-342900" defTabSz="447675">
              <a:defRPr kumimoji="1">
                <a:solidFill>
                  <a:schemeClr val="tx1"/>
                </a:solidFill>
                <a:latin typeface="Arial" panose="020B0604020202020204" pitchFamily="34" charset="0"/>
                <a:ea typeface="ＭＳ Ｐゴシック" panose="020B0600070205080204" pitchFamily="50" charset="-128"/>
              </a:defRPr>
            </a:lvl5pPr>
            <a:lvl6pPr marL="2709863" indent="-342900"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7063" indent="-342900"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4263" indent="-342900"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1463" indent="-342900"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buFontTx/>
              <a:buAutoNum type="arabicPeriod"/>
            </a:pPr>
            <a:r>
              <a:rPr lang="ja-JP" altLang="ja-JP" sz="1400" b="0" dirty="0">
                <a:ea typeface="ＭＳ ゴシック" panose="020B0609070205080204" pitchFamily="49" charset="-128"/>
              </a:rPr>
              <a:t>public Employee class {</a:t>
            </a:r>
          </a:p>
          <a:p>
            <a:pPr lvl="1" algn="just">
              <a:buFontTx/>
              <a:buAutoNum type="arabicPeriod"/>
            </a:pP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protected String empId; </a:t>
            </a: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 </a:t>
            </a:r>
            <a:r>
              <a:rPr lang="en-US" altLang="ja-JP" sz="1400" b="0" dirty="0">
                <a:ea typeface="ＭＳ ゴシック" panose="020B0609070205080204" pitchFamily="49" charset="-128"/>
              </a:rPr>
              <a:t>Mã </a:t>
            </a:r>
            <a:r>
              <a:rPr lang="en-US" altLang="ja-JP" sz="1400" b="0" dirty="0" err="1">
                <a:ea typeface="ＭＳ ゴシック" panose="020B0609070205080204" pitchFamily="49" charset="-128"/>
              </a:rPr>
              <a:t>sô</a:t>
            </a:r>
            <a:r>
              <a:rPr lang="en-US" altLang="ja-JP" sz="1400" b="0" dirty="0">
                <a:ea typeface="ＭＳ ゴシック" panose="020B0609070205080204" pitchFamily="49" charset="-128"/>
              </a:rPr>
              <a:t>́ </a:t>
            </a:r>
            <a:r>
              <a:rPr lang="en-US" altLang="ja-JP" sz="1400" b="0" dirty="0" err="1">
                <a:ea typeface="ＭＳ ゴシック" panose="020B0609070205080204" pitchFamily="49" charset="-128"/>
              </a:rPr>
              <a:t>nhân</a:t>
            </a:r>
            <a:r>
              <a:rPr lang="en-US" altLang="ja-JP" sz="1400" b="0" dirty="0">
                <a:ea typeface="ＭＳ ゴシック" panose="020B0609070205080204" pitchFamily="49" charset="-128"/>
              </a:rPr>
              <a:t> </a:t>
            </a:r>
            <a:r>
              <a:rPr lang="en-US" altLang="ja-JP" sz="1400" b="0" dirty="0" err="1">
                <a:ea typeface="ＭＳ ゴシック" panose="020B0609070205080204" pitchFamily="49" charset="-128"/>
              </a:rPr>
              <a:t>viên</a:t>
            </a:r>
            <a:endParaRPr lang="ja-JP" altLang="ja-JP" sz="1400" b="0" dirty="0">
              <a:ea typeface="ＭＳ ゴシック" panose="020B0609070205080204" pitchFamily="49" charset="-128"/>
            </a:endParaRPr>
          </a:p>
          <a:p>
            <a:pPr lvl="1" algn="just">
              <a:buFontTx/>
              <a:buAutoNum type="arabicPeriod"/>
            </a:pP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protected String empName;</a:t>
            </a: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 </a:t>
            </a:r>
            <a:r>
              <a:rPr lang="en-US" altLang="ja-JP" sz="1400" b="0" dirty="0">
                <a:ea typeface="ＭＳ ゴシック" panose="020B0609070205080204" pitchFamily="49" charset="-128"/>
              </a:rPr>
              <a:t>Họ </a:t>
            </a:r>
            <a:r>
              <a:rPr lang="en-US" altLang="ja-JP" sz="1400" b="0" dirty="0" err="1">
                <a:ea typeface="ＭＳ ゴシック" panose="020B0609070205080204" pitchFamily="49" charset="-128"/>
              </a:rPr>
              <a:t>tên</a:t>
            </a:r>
            <a:endParaRPr lang="ja-JP" altLang="ja-JP" sz="1400" b="0" dirty="0">
              <a:ea typeface="ＭＳ ゴシック" panose="020B0609070205080204" pitchFamily="49" charset="-128"/>
            </a:endParaRPr>
          </a:p>
          <a:p>
            <a:pPr lvl="1" algn="just">
              <a:buFontTx/>
              <a:buAutoNum type="arabicPeriod"/>
            </a:pPr>
            <a:r>
              <a:rPr lang="ja-JP" altLang="ja-JP" sz="1400" b="0" dirty="0">
                <a:ea typeface="ＭＳ ゴシック" panose="020B0609070205080204" pitchFamily="49" charset="-128"/>
              </a:rPr>
              <a:t> </a:t>
            </a:r>
            <a:r>
              <a:rPr lang="en-US" altLang="ja-JP" sz="1400" b="0" dirty="0">
                <a:ea typeface="ＭＳ ゴシック" panose="020B0609070205080204" pitchFamily="49" charset="-128"/>
              </a:rPr>
              <a:t>                     </a:t>
            </a:r>
            <a:r>
              <a:rPr lang="ja-JP" altLang="en-US" sz="1400" b="0" dirty="0">
                <a:ea typeface="ＭＳ ゴシック" panose="020B0609070205080204" pitchFamily="49" charset="-128"/>
                <a:sym typeface="Wingdings" panose="05000000000000000000" pitchFamily="2" charset="2"/>
              </a:rPr>
              <a:t>（</a:t>
            </a:r>
            <a:r>
              <a:rPr lang="en-US" altLang="ja-JP" sz="1400" b="0" dirty="0" err="1">
                <a:ea typeface="ＭＳ ゴシック" panose="020B0609070205080204" pitchFamily="49" charset="-128"/>
                <a:sym typeface="Wingdings" panose="05000000000000000000" pitchFamily="2" charset="2"/>
              </a:rPr>
              <a:t>Lược</a:t>
            </a:r>
            <a:r>
              <a:rPr lang="ja-JP" altLang="en-US" sz="1400" b="0" dirty="0">
                <a:ea typeface="ＭＳ ゴシック" panose="020B0609070205080204" pitchFamily="49" charset="-128"/>
                <a:sym typeface="Wingdings" panose="05000000000000000000" pitchFamily="2" charset="2"/>
              </a:rPr>
              <a:t>）</a:t>
            </a:r>
            <a:endParaRPr lang="ja-JP" altLang="en-US" sz="1400" b="0" dirty="0">
              <a:ea typeface="ＭＳ ゴシック" panose="020B0609070205080204" pitchFamily="49" charset="-128"/>
            </a:endParaRPr>
          </a:p>
          <a:p>
            <a:pPr lvl="1" algn="just">
              <a:buFontTx/>
              <a:buAutoNum type="arabicPeriod"/>
            </a:pPr>
            <a:r>
              <a:rPr lang="ja-JP" altLang="en-US" sz="1400" b="0" dirty="0">
                <a:ea typeface="ＭＳ ゴシック" panose="020B0609070205080204" pitchFamily="49" charset="-128"/>
              </a:rPr>
              <a:t>    </a:t>
            </a:r>
            <a:r>
              <a:rPr lang="ja-JP" altLang="ja-JP" sz="1400" b="0" dirty="0">
                <a:ea typeface="ＭＳ ゴシック" panose="020B0609070205080204" pitchFamily="49" charset="-128"/>
              </a:rPr>
              <a:t>public void calcSalary()</a:t>
            </a: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a:t>
            </a:r>
          </a:p>
          <a:p>
            <a:pPr lvl="1" algn="just">
              <a:buFontTx/>
              <a:buAutoNum type="arabicPeriod"/>
            </a:pP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System.out.println("Employee calcSalary");</a:t>
            </a:r>
          </a:p>
          <a:p>
            <a:pPr lvl="1" algn="just">
              <a:buFontTx/>
              <a:buAutoNum type="arabicPeriod"/>
            </a:pP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a:t>
            </a:r>
          </a:p>
          <a:p>
            <a:pPr lvl="1" algn="just">
              <a:buFontTx/>
              <a:buAutoNum type="arabicPeriod"/>
            </a:pPr>
            <a:r>
              <a:rPr lang="ja-JP" altLang="ja-JP" sz="1400" b="0" dirty="0">
                <a:ea typeface="ＭＳ ゴシック" panose="020B0609070205080204" pitchFamily="49" charset="-128"/>
              </a:rPr>
              <a:t>}</a:t>
            </a:r>
          </a:p>
        </p:txBody>
      </p:sp>
      <p:sp>
        <p:nvSpPr>
          <p:cNvPr id="8" name="Text Box 8">
            <a:extLst>
              <a:ext uri="{FF2B5EF4-FFF2-40B4-BE49-F238E27FC236}">
                <a16:creationId xmlns:a16="http://schemas.microsoft.com/office/drawing/2014/main" id="{A54B9EB5-693A-BFEE-91A3-72E37D78DCB5}"/>
              </a:ext>
            </a:extLst>
          </p:cNvPr>
          <p:cNvSpPr txBox="1">
            <a:spLocks noChangeArrowheads="1"/>
          </p:cNvSpPr>
          <p:nvPr/>
        </p:nvSpPr>
        <p:spPr bwMode="auto">
          <a:xfrm>
            <a:off x="1" y="3453897"/>
            <a:ext cx="4800600" cy="2627436"/>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marL="342900" indent="-342900" defTabSz="447675">
              <a:defRPr kumimoji="1">
                <a:solidFill>
                  <a:schemeClr val="tx1"/>
                </a:solidFill>
                <a:latin typeface="Arial" panose="020B0604020202020204" pitchFamily="34" charset="0"/>
                <a:ea typeface="ＭＳ Ｐゴシック" panose="020B0600070205080204" pitchFamily="50" charset="-128"/>
              </a:defRPr>
            </a:lvl1pPr>
            <a:lvl2pPr marL="522288" indent="-342900" defTabSz="447675">
              <a:defRPr kumimoji="1">
                <a:solidFill>
                  <a:schemeClr val="tx1"/>
                </a:solidFill>
                <a:latin typeface="Arial" panose="020B0604020202020204" pitchFamily="34" charset="0"/>
                <a:ea typeface="ＭＳ Ｐゴシック" panose="020B0600070205080204" pitchFamily="50" charset="-128"/>
              </a:defRPr>
            </a:lvl2pPr>
            <a:lvl3pPr marL="1296988" indent="-342900" defTabSz="447675">
              <a:defRPr kumimoji="1">
                <a:solidFill>
                  <a:schemeClr val="tx1"/>
                </a:solidFill>
                <a:latin typeface="Arial" panose="020B0604020202020204" pitchFamily="34" charset="0"/>
                <a:ea typeface="ＭＳ Ｐゴシック" panose="020B0600070205080204" pitchFamily="50" charset="-128"/>
              </a:defRPr>
            </a:lvl3pPr>
            <a:lvl4pPr marL="1774825" indent="-342900" defTabSz="447675">
              <a:defRPr kumimoji="1">
                <a:solidFill>
                  <a:schemeClr val="tx1"/>
                </a:solidFill>
                <a:latin typeface="Arial" panose="020B0604020202020204" pitchFamily="34" charset="0"/>
                <a:ea typeface="ＭＳ Ｐゴシック" panose="020B0600070205080204" pitchFamily="50" charset="-128"/>
              </a:defRPr>
            </a:lvl4pPr>
            <a:lvl5pPr marL="2252663" indent="-342900" defTabSz="447675">
              <a:defRPr kumimoji="1">
                <a:solidFill>
                  <a:schemeClr val="tx1"/>
                </a:solidFill>
                <a:latin typeface="Arial" panose="020B0604020202020204" pitchFamily="34" charset="0"/>
                <a:ea typeface="ＭＳ Ｐゴシック" panose="020B0600070205080204" pitchFamily="50" charset="-128"/>
              </a:defRPr>
            </a:lvl5pPr>
            <a:lvl6pPr marL="2709863" indent="-342900"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7063" indent="-342900"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4263" indent="-342900"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1463" indent="-342900"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buFontTx/>
              <a:buAutoNum type="arabicPeriod"/>
            </a:pPr>
            <a:r>
              <a:rPr lang="ja-JP" altLang="ja-JP" sz="1400" b="0" dirty="0">
                <a:ea typeface="ＭＳ ゴシック" panose="020B0609070205080204" pitchFamily="49" charset="-128"/>
              </a:rPr>
              <a:t>public Sales class extends Employee</a:t>
            </a: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a:t>
            </a:r>
          </a:p>
          <a:p>
            <a:pPr lvl="1" algn="just">
              <a:buFontTx/>
              <a:buAutoNum type="arabicPeriod"/>
            </a:pP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private int customerCount;  </a:t>
            </a: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 </a:t>
            </a:r>
            <a:r>
              <a:rPr lang="en-US" altLang="ja-JP" sz="1400" b="0" dirty="0" err="1">
                <a:ea typeface="ＭＳ ゴシック" panose="020B0609070205080204" pitchFamily="49" charset="-128"/>
              </a:rPr>
              <a:t>sô</a:t>
            </a:r>
            <a:r>
              <a:rPr lang="en-US" altLang="ja-JP" sz="1400" b="0" dirty="0">
                <a:ea typeface="ＭＳ ゴシック" panose="020B0609070205080204" pitchFamily="49" charset="-128"/>
              </a:rPr>
              <a:t>́ </a:t>
            </a:r>
            <a:r>
              <a:rPr lang="en-US" altLang="ja-JP" sz="1400" b="0" dirty="0" err="1">
                <a:ea typeface="ＭＳ ゴシック" panose="020B0609070205080204" pitchFamily="49" charset="-128"/>
              </a:rPr>
              <a:t>lượng</a:t>
            </a:r>
            <a:r>
              <a:rPr lang="en-US" altLang="ja-JP" sz="1400" b="0" dirty="0">
                <a:ea typeface="ＭＳ ゴシック" panose="020B0609070205080204" pitchFamily="49" charset="-128"/>
              </a:rPr>
              <a:t> customer</a:t>
            </a:r>
            <a:endParaRPr lang="ja-JP" altLang="ja-JP" sz="1400" b="0" dirty="0">
              <a:ea typeface="ＭＳ ゴシック" panose="020B0609070205080204" pitchFamily="49" charset="-128"/>
            </a:endParaRPr>
          </a:p>
          <a:p>
            <a:pPr lvl="1" algn="just">
              <a:buFontTx/>
              <a:buAutoNum type="arabicPeriod"/>
            </a:pPr>
            <a:r>
              <a:rPr lang="ja-JP" altLang="ja-JP" sz="1400" b="0" dirty="0">
                <a:ea typeface="ＭＳ ゴシック" panose="020B0609070205080204" pitchFamily="49" charset="-128"/>
              </a:rPr>
              <a:t>	</a:t>
            </a:r>
          </a:p>
          <a:p>
            <a:pPr lvl="1" algn="just">
              <a:buFontTx/>
              <a:buAutoNum type="arabicPeriod"/>
            </a:pP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public Sales(String id,</a:t>
            </a: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String name,</a:t>
            </a: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int cnt)</a:t>
            </a: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a:t>
            </a:r>
          </a:p>
          <a:p>
            <a:pPr lvl="1" algn="just">
              <a:buFontTx/>
              <a:buAutoNum type="arabicPeriod"/>
            </a:pP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empId = id;</a:t>
            </a:r>
          </a:p>
          <a:p>
            <a:pPr lvl="1" algn="just">
              <a:buFontTx/>
              <a:buAutoNum type="arabicPeriod"/>
            </a:pP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empName = name;</a:t>
            </a:r>
          </a:p>
          <a:p>
            <a:pPr lvl="1" algn="just">
              <a:buFontTx/>
              <a:buAutoNum type="arabicPeriod"/>
            </a:pP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customerCount = cnt;</a:t>
            </a:r>
          </a:p>
          <a:p>
            <a:pPr lvl="1" algn="just">
              <a:buFontTx/>
              <a:buAutoNum type="arabicPeriod"/>
            </a:pP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a:t>
            </a:r>
          </a:p>
          <a:p>
            <a:pPr lvl="1" algn="just">
              <a:buFontTx/>
              <a:buAutoNum type="arabicPeriod"/>
            </a:pPr>
            <a:r>
              <a:rPr lang="ja-JP" altLang="ja-JP" sz="1400" b="0" dirty="0">
                <a:ea typeface="ＭＳ ゴシック" panose="020B0609070205080204" pitchFamily="49" charset="-128"/>
              </a:rPr>
              <a:t>  　　　　　　　　　 </a:t>
            </a:r>
            <a:r>
              <a:rPr lang="ja-JP" altLang="en-US" sz="1400" dirty="0">
                <a:ea typeface="ＭＳ ゴシック" panose="020B0609070205080204" pitchFamily="49" charset="-128"/>
              </a:rPr>
              <a:t> </a:t>
            </a:r>
            <a:r>
              <a:rPr lang="ja-JP" altLang="en-US" sz="1400" b="0" dirty="0">
                <a:ea typeface="ＭＳ ゴシック" panose="020B0609070205080204" pitchFamily="49" charset="-128"/>
                <a:sym typeface="Wingdings" panose="05000000000000000000" pitchFamily="2" charset="2"/>
              </a:rPr>
              <a:t>（</a:t>
            </a:r>
            <a:r>
              <a:rPr lang="en-US" altLang="ja-JP" sz="1400" b="0" dirty="0" err="1">
                <a:ea typeface="ＭＳ ゴシック" panose="020B0609070205080204" pitchFamily="49" charset="-128"/>
                <a:sym typeface="Wingdings" panose="05000000000000000000" pitchFamily="2" charset="2"/>
              </a:rPr>
              <a:t>Lược</a:t>
            </a:r>
            <a:r>
              <a:rPr lang="ja-JP" altLang="en-US" sz="1400" b="0" dirty="0">
                <a:ea typeface="ＭＳ ゴシック" panose="020B0609070205080204" pitchFamily="49" charset="-128"/>
                <a:sym typeface="Wingdings" panose="05000000000000000000" pitchFamily="2" charset="2"/>
              </a:rPr>
              <a:t>）</a:t>
            </a:r>
            <a:endParaRPr lang="ja-JP" altLang="en-US" sz="1400" b="0" dirty="0">
              <a:ea typeface="ＭＳ ゴシック" panose="020B0609070205080204" pitchFamily="49" charset="-128"/>
            </a:endParaRPr>
          </a:p>
          <a:p>
            <a:pPr lvl="1" algn="just">
              <a:buFontTx/>
              <a:buAutoNum type="arabicPeriod"/>
            </a:pPr>
            <a:r>
              <a:rPr lang="ja-JP" altLang="ja-JP" sz="1400" b="0" dirty="0">
                <a:ea typeface="ＭＳ ゴシック" panose="020B0609070205080204" pitchFamily="49" charset="-128"/>
              </a:rPr>
              <a:t>}</a:t>
            </a:r>
          </a:p>
        </p:txBody>
      </p:sp>
      <p:sp>
        <p:nvSpPr>
          <p:cNvPr id="10" name="Text Box 6">
            <a:extLst>
              <a:ext uri="{FF2B5EF4-FFF2-40B4-BE49-F238E27FC236}">
                <a16:creationId xmlns:a16="http://schemas.microsoft.com/office/drawing/2014/main" id="{1169A720-C8FC-ED65-680E-B9A946C835C1}"/>
              </a:ext>
            </a:extLst>
          </p:cNvPr>
          <p:cNvSpPr txBox="1">
            <a:spLocks noChangeArrowheads="1"/>
          </p:cNvSpPr>
          <p:nvPr/>
        </p:nvSpPr>
        <p:spPr bwMode="auto">
          <a:xfrm>
            <a:off x="4800601" y="1152077"/>
            <a:ext cx="4976936" cy="3343723"/>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marL="342900" indent="-342900" defTabSz="447675">
              <a:defRPr kumimoji="1">
                <a:solidFill>
                  <a:schemeClr val="tx1"/>
                </a:solidFill>
                <a:latin typeface="Arial" panose="020B0604020202020204" pitchFamily="34" charset="0"/>
                <a:ea typeface="ＭＳ Ｐゴシック" panose="020B0600070205080204" pitchFamily="50" charset="-128"/>
              </a:defRPr>
            </a:lvl1pPr>
            <a:lvl2pPr marL="522288" indent="-342900" defTabSz="447675">
              <a:defRPr kumimoji="1">
                <a:solidFill>
                  <a:schemeClr val="tx1"/>
                </a:solidFill>
                <a:latin typeface="Arial" panose="020B0604020202020204" pitchFamily="34" charset="0"/>
                <a:ea typeface="ＭＳ Ｐゴシック" panose="020B0600070205080204" pitchFamily="50" charset="-128"/>
              </a:defRPr>
            </a:lvl2pPr>
            <a:lvl3pPr marL="1295400" indent="-341313" defTabSz="447675">
              <a:defRPr kumimoji="1">
                <a:solidFill>
                  <a:schemeClr val="tx1"/>
                </a:solidFill>
                <a:latin typeface="Arial" panose="020B0604020202020204" pitchFamily="34" charset="0"/>
                <a:ea typeface="ＭＳ Ｐゴシック" panose="020B0600070205080204" pitchFamily="50" charset="-128"/>
              </a:defRPr>
            </a:lvl3pPr>
            <a:lvl4pPr marL="1774825" indent="-342900" defTabSz="447675">
              <a:defRPr kumimoji="1">
                <a:solidFill>
                  <a:schemeClr val="tx1"/>
                </a:solidFill>
                <a:latin typeface="Arial" panose="020B0604020202020204" pitchFamily="34" charset="0"/>
                <a:ea typeface="ＭＳ Ｐゴシック" panose="020B0600070205080204" pitchFamily="50" charset="-128"/>
              </a:defRPr>
            </a:lvl4pPr>
            <a:lvl5pPr marL="2252663" indent="-342900" defTabSz="447675">
              <a:defRPr kumimoji="1">
                <a:solidFill>
                  <a:schemeClr val="tx1"/>
                </a:solidFill>
                <a:latin typeface="Arial" panose="020B0604020202020204" pitchFamily="34" charset="0"/>
                <a:ea typeface="ＭＳ Ｐゴシック" panose="020B0600070205080204" pitchFamily="50" charset="-128"/>
              </a:defRPr>
            </a:lvl5pPr>
            <a:lvl6pPr marL="2709863" indent="-342900"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7063" indent="-342900"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4263" indent="-342900"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1463" indent="-342900" defTabSz="44767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buFontTx/>
              <a:buAutoNum type="arabicPeriod"/>
            </a:pPr>
            <a:r>
              <a:rPr lang="ja-JP" altLang="ja-JP" sz="1400" b="0" dirty="0">
                <a:ea typeface="ＭＳ ゴシック" panose="020B0609070205080204" pitchFamily="49" charset="-128"/>
              </a:rPr>
              <a:t>public class SE extends Employee</a:t>
            </a: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a:t>
            </a:r>
          </a:p>
          <a:p>
            <a:pPr lvl="1" algn="just">
              <a:buFontTx/>
              <a:buAutoNum type="arabicPeriod"/>
            </a:pP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private String specializedField;//</a:t>
            </a:r>
            <a:r>
              <a:rPr lang="en-US" altLang="ja-JP" sz="1400" b="0" dirty="0" err="1">
                <a:ea typeface="ＭＳ ゴシック" panose="020B0609070205080204" pitchFamily="49" charset="-128"/>
              </a:rPr>
              <a:t>Lĩnh</a:t>
            </a:r>
            <a:r>
              <a:rPr lang="en-US" altLang="ja-JP" sz="1400" b="0" dirty="0">
                <a:ea typeface="ＭＳ ゴシック" panose="020B0609070205080204" pitchFamily="49" charset="-128"/>
              </a:rPr>
              <a:t> </a:t>
            </a:r>
            <a:r>
              <a:rPr lang="en-US" altLang="ja-JP" sz="1400" b="0" dirty="0" err="1">
                <a:ea typeface="ＭＳ ゴシック" panose="020B0609070205080204" pitchFamily="49" charset="-128"/>
              </a:rPr>
              <a:t>vực</a:t>
            </a:r>
            <a:r>
              <a:rPr lang="en-US" altLang="ja-JP" sz="1400" b="0" dirty="0">
                <a:ea typeface="ＭＳ ゴシック" panose="020B0609070205080204" pitchFamily="49" charset="-128"/>
              </a:rPr>
              <a:t> </a:t>
            </a:r>
            <a:r>
              <a:rPr lang="en-US" altLang="ja-JP" sz="1400" b="0" dirty="0" err="1">
                <a:ea typeface="ＭＳ ゴシック" panose="020B0609070205080204" pitchFamily="49" charset="-128"/>
              </a:rPr>
              <a:t>chuyên</a:t>
            </a:r>
            <a:r>
              <a:rPr lang="en-US" altLang="ja-JP" sz="1400" b="0" dirty="0">
                <a:ea typeface="ＭＳ ゴシック" panose="020B0609070205080204" pitchFamily="49" charset="-128"/>
              </a:rPr>
              <a:t> </a:t>
            </a:r>
            <a:r>
              <a:rPr lang="en-US" altLang="ja-JP" sz="1400" b="0" dirty="0" err="1">
                <a:ea typeface="ＭＳ ゴシック" panose="020B0609070205080204" pitchFamily="49" charset="-128"/>
              </a:rPr>
              <a:t>môn</a:t>
            </a:r>
            <a:endParaRPr lang="ja-JP" altLang="ja-JP" sz="1400" b="0" dirty="0">
              <a:ea typeface="ＭＳ ゴシック" panose="020B0609070205080204" pitchFamily="49" charset="-128"/>
            </a:endParaRPr>
          </a:p>
          <a:p>
            <a:pPr lvl="1" algn="just">
              <a:buFontTx/>
              <a:buAutoNum type="arabicPeriod"/>
            </a:pPr>
            <a:r>
              <a:rPr lang="ja-JP" altLang="ja-JP" sz="1400" b="0" dirty="0">
                <a:ea typeface="ＭＳ ゴシック" panose="020B0609070205080204" pitchFamily="49" charset="-128"/>
              </a:rPr>
              <a:t> </a:t>
            </a:r>
          </a:p>
          <a:p>
            <a:pPr lvl="1" algn="just">
              <a:buFontTx/>
              <a:buAutoNum type="arabicPeriod"/>
            </a:pP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public SE(String id, String ename,</a:t>
            </a: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String f)</a:t>
            </a: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a:t>
            </a:r>
          </a:p>
          <a:p>
            <a:pPr lvl="1" algn="just">
              <a:buFontTx/>
              <a:buAutoNum type="arabicPeriod"/>
            </a:pP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empId = id;</a:t>
            </a:r>
          </a:p>
          <a:p>
            <a:pPr lvl="1" algn="just">
              <a:buFontTx/>
              <a:buAutoNum type="arabicPeriod"/>
            </a:pP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empName = ename;</a:t>
            </a:r>
          </a:p>
          <a:p>
            <a:pPr lvl="1" algn="just">
              <a:buFontTx/>
              <a:buAutoNum type="arabicPeriod"/>
            </a:pP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specializedField = f;</a:t>
            </a:r>
          </a:p>
          <a:p>
            <a:pPr lvl="1" algn="just">
              <a:buFontTx/>
              <a:buAutoNum type="arabicPeriod"/>
            </a:pP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a:t>
            </a:r>
          </a:p>
          <a:p>
            <a:pPr lvl="1" algn="just">
              <a:buFontTx/>
              <a:buAutoNum type="arabicPeriod"/>
            </a:pPr>
            <a:r>
              <a:rPr lang="ja-JP" altLang="ja-JP" sz="1400" b="0" dirty="0">
                <a:ea typeface="ＭＳ ゴシック" panose="020B0609070205080204" pitchFamily="49" charset="-128"/>
              </a:rPr>
              <a:t>　　　　　　　　　 </a:t>
            </a:r>
            <a:r>
              <a:rPr lang="ja-JP" altLang="en-US" sz="1400" dirty="0">
                <a:ea typeface="ＭＳ ゴシック" panose="020B0609070205080204" pitchFamily="49" charset="-128"/>
              </a:rPr>
              <a:t> </a:t>
            </a:r>
            <a:r>
              <a:rPr lang="ja-JP" altLang="en-US" sz="1400" b="0" dirty="0">
                <a:ea typeface="ＭＳ ゴシック" panose="020B0609070205080204" pitchFamily="49" charset="-128"/>
                <a:sym typeface="Wingdings" panose="05000000000000000000" pitchFamily="2" charset="2"/>
              </a:rPr>
              <a:t>（</a:t>
            </a:r>
            <a:r>
              <a:rPr lang="en-US" altLang="ja-JP" sz="1400" b="0" dirty="0" err="1">
                <a:ea typeface="ＭＳ ゴシック" panose="020B0609070205080204" pitchFamily="49" charset="-128"/>
                <a:sym typeface="Wingdings" panose="05000000000000000000" pitchFamily="2" charset="2"/>
              </a:rPr>
              <a:t>Lược</a:t>
            </a:r>
            <a:r>
              <a:rPr lang="ja-JP" altLang="en-US" sz="1400" b="0" dirty="0">
                <a:ea typeface="ＭＳ ゴシック" panose="020B0609070205080204" pitchFamily="49" charset="-128"/>
                <a:sym typeface="Wingdings" panose="05000000000000000000" pitchFamily="2" charset="2"/>
              </a:rPr>
              <a:t>）</a:t>
            </a:r>
            <a:endParaRPr lang="ja-JP" altLang="en-US" sz="1400" b="0" dirty="0">
              <a:ea typeface="ＭＳ ゴシック" panose="020B0609070205080204" pitchFamily="49" charset="-128"/>
            </a:endParaRPr>
          </a:p>
          <a:p>
            <a:pPr lvl="1" algn="just">
              <a:buFontTx/>
              <a:buAutoNum type="arabicPeriod"/>
            </a:pPr>
            <a:r>
              <a:rPr lang="ja-JP" altLang="en-US" sz="1400" b="0" dirty="0">
                <a:ea typeface="ＭＳ ゴシック" panose="020B0609070205080204" pitchFamily="49" charset="-128"/>
              </a:rPr>
              <a:t>    </a:t>
            </a:r>
            <a:r>
              <a:rPr lang="ja-JP" altLang="ja-JP" sz="1400" b="0" dirty="0">
                <a:ea typeface="ＭＳ ゴシック" panose="020B0609070205080204" pitchFamily="49" charset="-128"/>
              </a:rPr>
              <a:t>public void calcSalary()</a:t>
            </a: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a:t>
            </a:r>
          </a:p>
          <a:p>
            <a:pPr lvl="1" algn="just">
              <a:buFontTx/>
              <a:buAutoNum type="arabicPeriod"/>
            </a:pP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System.out.println("SE calcSalary");</a:t>
            </a:r>
          </a:p>
          <a:p>
            <a:pPr lvl="1" algn="just">
              <a:buFontTx/>
              <a:buAutoNum type="arabicPeriod"/>
            </a:pPr>
            <a:r>
              <a:rPr lang="en-US" altLang="ja-JP" sz="1400" b="0" dirty="0">
                <a:ea typeface="ＭＳ ゴシック" panose="020B0609070205080204" pitchFamily="49" charset="-128"/>
              </a:rPr>
              <a:t>    </a:t>
            </a:r>
            <a:r>
              <a:rPr lang="ja-JP" altLang="ja-JP" sz="1400" b="0" dirty="0">
                <a:ea typeface="ＭＳ ゴシック" panose="020B0609070205080204" pitchFamily="49" charset="-128"/>
              </a:rPr>
              <a:t>}</a:t>
            </a:r>
          </a:p>
          <a:p>
            <a:pPr lvl="1" algn="just">
              <a:buFontTx/>
              <a:buAutoNum type="arabicPeriod"/>
            </a:pPr>
            <a:r>
              <a:rPr lang="ja-JP" altLang="ja-JP" sz="1400" b="0" dirty="0">
                <a:ea typeface="ＭＳ ゴシック" panose="020B0609070205080204" pitchFamily="49" charset="-128"/>
              </a:rPr>
              <a:t>}</a:t>
            </a:r>
          </a:p>
        </p:txBody>
      </p:sp>
      <p:sp>
        <p:nvSpPr>
          <p:cNvPr id="12" name="AutoShape 9">
            <a:extLst>
              <a:ext uri="{FF2B5EF4-FFF2-40B4-BE49-F238E27FC236}">
                <a16:creationId xmlns:a16="http://schemas.microsoft.com/office/drawing/2014/main" id="{269E74CE-3857-F617-4BAE-CAEBB4951743}"/>
              </a:ext>
            </a:extLst>
          </p:cNvPr>
          <p:cNvSpPr>
            <a:spLocks noChangeArrowheads="1"/>
          </p:cNvSpPr>
          <p:nvPr/>
        </p:nvSpPr>
        <p:spPr bwMode="auto">
          <a:xfrm>
            <a:off x="3492831" y="5454270"/>
            <a:ext cx="1179513" cy="627063"/>
          </a:xfrm>
          <a:prstGeom prst="wedgeRoundRectCallout">
            <a:avLst>
              <a:gd name="adj1" fmla="val -139907"/>
              <a:gd name="adj2" fmla="val -36583"/>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200" dirty="0" err="1">
                <a:latin typeface="+mj-lt"/>
                <a:ea typeface="ＭＳ ゴシック" panose="020B0609070205080204" pitchFamily="49" charset="-128"/>
              </a:rPr>
              <a:t>kế</a:t>
            </a:r>
            <a:r>
              <a:rPr lang="en-US" altLang="ja-JP" sz="1200" dirty="0">
                <a:latin typeface="+mj-lt"/>
                <a:ea typeface="ＭＳ ゴシック" panose="020B0609070205080204" pitchFamily="49" charset="-128"/>
              </a:rPr>
              <a:t> </a:t>
            </a:r>
            <a:r>
              <a:rPr lang="en-US" altLang="ja-JP" sz="1200" dirty="0" err="1">
                <a:latin typeface="+mj-lt"/>
                <a:ea typeface="ＭＳ ゴシック" panose="020B0609070205080204" pitchFamily="49" charset="-128"/>
              </a:rPr>
              <a:t>thừa</a:t>
            </a:r>
            <a:r>
              <a:rPr lang="en-US" altLang="ja-JP" sz="1200" dirty="0">
                <a:latin typeface="+mj-lt"/>
                <a:ea typeface="ＭＳ ゴシック" panose="020B0609070205080204" pitchFamily="49" charset="-128"/>
              </a:rPr>
              <a:t> </a:t>
            </a:r>
            <a:r>
              <a:rPr lang="en-US" altLang="ja-JP" sz="1200" dirty="0" err="1">
                <a:latin typeface="+mj-lt"/>
                <a:ea typeface="ＭＳ ゴシック" panose="020B0609070205080204" pitchFamily="49" charset="-128"/>
              </a:rPr>
              <a:t>calcSalary</a:t>
            </a:r>
            <a:r>
              <a:rPr lang="en-US" altLang="ja-JP" sz="1200" dirty="0">
                <a:latin typeface="+mj-lt"/>
                <a:ea typeface="ＭＳ ゴシック" panose="020B0609070205080204" pitchFamily="49" charset="-128"/>
              </a:rPr>
              <a:t> </a:t>
            </a:r>
            <a:r>
              <a:rPr lang="en-US" altLang="ja-JP" sz="1200" dirty="0" err="1">
                <a:latin typeface="+mj-lt"/>
                <a:ea typeface="ＭＳ ゴシック" panose="020B0609070205080204" pitchFamily="49" charset="-128"/>
              </a:rPr>
              <a:t>của</a:t>
            </a:r>
            <a:r>
              <a:rPr lang="en-US" altLang="ja-JP" sz="1200" dirty="0">
                <a:latin typeface="+mj-lt"/>
                <a:ea typeface="ＭＳ ゴシック" panose="020B0609070205080204" pitchFamily="49" charset="-128"/>
              </a:rPr>
              <a:t> </a:t>
            </a:r>
            <a:r>
              <a:rPr lang="en-US" altLang="ja-JP" sz="1200" dirty="0">
                <a:latin typeface="+mj-lt"/>
                <a:ea typeface="MS UI Gothic" panose="020B0600070205080204" pitchFamily="50" charset="-128"/>
              </a:rPr>
              <a:t>Employee</a:t>
            </a:r>
            <a:endParaRPr lang="en-US" altLang="ja-JP" sz="1200" dirty="0">
              <a:latin typeface="+mj-lt"/>
              <a:ea typeface="ＭＳ ゴシック" panose="020B0609070205080204" pitchFamily="49" charset="-128"/>
            </a:endParaRPr>
          </a:p>
        </p:txBody>
      </p:sp>
      <p:sp>
        <p:nvSpPr>
          <p:cNvPr id="14" name="AutoShape 10">
            <a:extLst>
              <a:ext uri="{FF2B5EF4-FFF2-40B4-BE49-F238E27FC236}">
                <a16:creationId xmlns:a16="http://schemas.microsoft.com/office/drawing/2014/main" id="{7C4731CC-CA29-D368-20DD-943865164B39}"/>
              </a:ext>
            </a:extLst>
          </p:cNvPr>
          <p:cNvSpPr>
            <a:spLocks noChangeArrowheads="1"/>
          </p:cNvSpPr>
          <p:nvPr/>
        </p:nvSpPr>
        <p:spPr bwMode="auto">
          <a:xfrm>
            <a:off x="6019800" y="5024538"/>
            <a:ext cx="3581400" cy="577850"/>
          </a:xfrm>
          <a:prstGeom prst="wedgeRoundRectCallout">
            <a:avLst>
              <a:gd name="adj1" fmla="val -45160"/>
              <a:gd name="adj2" fmla="val -299036"/>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400" dirty="0" err="1">
                <a:ea typeface="ＭＳ ゴシック" panose="020B0609070205080204" pitchFamily="49" charset="-128"/>
              </a:rPr>
              <a:t>Định</a:t>
            </a:r>
            <a:r>
              <a:rPr lang="en-US" altLang="ja-JP" sz="1400" dirty="0">
                <a:ea typeface="ＭＳ ゴシック" panose="020B0609070205080204" pitchFamily="49" charset="-128"/>
              </a:rPr>
              <a:t> </a:t>
            </a:r>
            <a:r>
              <a:rPr lang="en-US" altLang="ja-JP" sz="1400" dirty="0" err="1">
                <a:ea typeface="ＭＳ ゴシック" panose="020B0609070205080204" pitchFamily="49" charset="-128"/>
              </a:rPr>
              <a:t>nghĩa</a:t>
            </a:r>
            <a:r>
              <a:rPr lang="en-US" altLang="ja-JP" sz="1400" dirty="0">
                <a:ea typeface="ＭＳ ゴシック" panose="020B0609070205080204" pitchFamily="49" charset="-128"/>
              </a:rPr>
              <a:t> </a:t>
            </a:r>
            <a:r>
              <a:rPr lang="en-US" altLang="ja-JP" sz="1400" dirty="0" err="1">
                <a:ea typeface="ＭＳ ゴシック" panose="020B0609070205080204" pitchFamily="49" charset="-128"/>
              </a:rPr>
              <a:t>lại</a:t>
            </a:r>
            <a:r>
              <a:rPr lang="en-US" altLang="ja-JP" sz="1400" dirty="0">
                <a:ea typeface="ＭＳ ゴシック" panose="020B0609070205080204" pitchFamily="49" charset="-128"/>
              </a:rPr>
              <a:t> </a:t>
            </a:r>
            <a:r>
              <a:rPr lang="en-US" altLang="ja-JP" sz="1400" dirty="0" err="1">
                <a:ea typeface="ＭＳ ゴシック" panose="020B0609070205080204" pitchFamily="49" charset="-128"/>
              </a:rPr>
              <a:t>một</a:t>
            </a:r>
            <a:r>
              <a:rPr lang="en-US" altLang="ja-JP" sz="1400" dirty="0">
                <a:ea typeface="ＭＳ ゴシック" panose="020B0609070205080204" pitchFamily="49" charset="-128"/>
              </a:rPr>
              <a:t> </a:t>
            </a:r>
            <a:r>
              <a:rPr lang="en-US" altLang="ja-JP" sz="1400" dirty="0" err="1">
                <a:ea typeface="ＭＳ ゴシック" panose="020B0609070205080204" pitchFamily="49" charset="-128"/>
              </a:rPr>
              <a:t>cách</a:t>
            </a:r>
            <a:r>
              <a:rPr lang="en-US" altLang="ja-JP" sz="1400" dirty="0">
                <a:ea typeface="ＭＳ ゴシック" panose="020B0609070205080204" pitchFamily="49" charset="-128"/>
              </a:rPr>
              <a:t> </a:t>
            </a:r>
            <a:r>
              <a:rPr lang="en-US" altLang="ja-JP" sz="1400" dirty="0" err="1">
                <a:ea typeface="ＭＳ ゴシック" panose="020B0609070205080204" pitchFamily="49" charset="-128"/>
              </a:rPr>
              <a:t>độc</a:t>
            </a:r>
            <a:r>
              <a:rPr lang="en-US" altLang="ja-JP" sz="1400" dirty="0">
                <a:ea typeface="ＭＳ ゴシック" panose="020B0609070205080204" pitchFamily="49" charset="-128"/>
              </a:rPr>
              <a:t> </a:t>
            </a:r>
            <a:r>
              <a:rPr lang="en-US" altLang="ja-JP" sz="1400" dirty="0" err="1">
                <a:ea typeface="ＭＳ ゴシック" panose="020B0609070205080204" pitchFamily="49" charset="-128"/>
              </a:rPr>
              <a:t>lập</a:t>
            </a:r>
            <a:r>
              <a:rPr lang="en-US" altLang="ja-JP" sz="1400" dirty="0">
                <a:ea typeface="ＭＳ ゴシック" panose="020B0609070205080204" pitchFamily="49" charset="-128"/>
              </a:rPr>
              <a:t> </a:t>
            </a:r>
            <a:r>
              <a:rPr lang="en-US" altLang="ja-JP" sz="1400" dirty="0" err="1">
                <a:ea typeface="ＭＳ ゴシック" panose="020B0609070205080204" pitchFamily="49" charset="-128"/>
              </a:rPr>
              <a:t>chư</a:t>
            </a:r>
            <a:r>
              <a:rPr lang="en-US" altLang="ja-JP" sz="1400" dirty="0">
                <a:ea typeface="ＭＳ ゴシック" panose="020B0609070205080204" pitchFamily="49" charset="-128"/>
              </a:rPr>
              <a:t>́ </a:t>
            </a:r>
            <a:r>
              <a:rPr lang="en-US" altLang="ja-JP" sz="1400" dirty="0" err="1">
                <a:ea typeface="ＭＳ ゴシック" panose="020B0609070205080204" pitchFamily="49" charset="-128"/>
              </a:rPr>
              <a:t>không</a:t>
            </a:r>
            <a:r>
              <a:rPr lang="en-US" altLang="ja-JP" sz="1400" dirty="0">
                <a:ea typeface="ＭＳ ゴシック" panose="020B0609070205080204" pitchFamily="49" charset="-128"/>
              </a:rPr>
              <a:t> </a:t>
            </a:r>
            <a:r>
              <a:rPr lang="en-US" altLang="ja-JP" sz="1400" dirty="0" err="1">
                <a:ea typeface="ＭＳ ゴシック" panose="020B0609070205080204" pitchFamily="49" charset="-128"/>
              </a:rPr>
              <a:t>kế</a:t>
            </a:r>
            <a:r>
              <a:rPr lang="en-US" altLang="ja-JP" sz="1400" dirty="0">
                <a:ea typeface="ＭＳ ゴシック" panose="020B0609070205080204" pitchFamily="49" charset="-128"/>
              </a:rPr>
              <a:t> </a:t>
            </a:r>
            <a:r>
              <a:rPr lang="en-US" altLang="ja-JP" sz="1400" dirty="0" err="1">
                <a:ea typeface="ＭＳ ゴシック" panose="020B0609070205080204" pitchFamily="49" charset="-128"/>
              </a:rPr>
              <a:t>thừa</a:t>
            </a:r>
            <a:r>
              <a:rPr lang="en-US" altLang="ja-JP" sz="1400" dirty="0">
                <a:ea typeface="ＭＳ ゴシック" panose="020B0609070205080204" pitchFamily="49" charset="-128"/>
              </a:rPr>
              <a:t> </a:t>
            </a:r>
            <a:r>
              <a:rPr lang="en-US" altLang="ja-JP" sz="1400" dirty="0" err="1">
                <a:ea typeface="ＭＳ ゴシック" panose="020B0609070205080204" pitchFamily="49" charset="-128"/>
              </a:rPr>
              <a:t>calcSalary</a:t>
            </a:r>
            <a:r>
              <a:rPr lang="en-US" altLang="ja-JP" sz="1400" dirty="0">
                <a:ea typeface="ＭＳ ゴシック" panose="020B0609070205080204" pitchFamily="49" charset="-128"/>
              </a:rPr>
              <a:t> </a:t>
            </a:r>
            <a:r>
              <a:rPr lang="en-US" altLang="ja-JP" sz="1400" dirty="0" err="1">
                <a:ea typeface="ＭＳ ゴシック" panose="020B0609070205080204" pitchFamily="49" charset="-128"/>
              </a:rPr>
              <a:t>của</a:t>
            </a:r>
            <a:r>
              <a:rPr lang="en-US" altLang="ja-JP" sz="1400" dirty="0">
                <a:ea typeface="ＭＳ ゴシック" panose="020B0609070205080204" pitchFamily="49" charset="-128"/>
              </a:rPr>
              <a:t> </a:t>
            </a:r>
            <a:r>
              <a:rPr lang="en-US" altLang="ja-JP" sz="1400" dirty="0">
                <a:ea typeface="MS UI Gothic" panose="020B0600070205080204" pitchFamily="50" charset="-128"/>
              </a:rPr>
              <a:t>Employee</a:t>
            </a:r>
            <a:endParaRPr lang="en-US" altLang="ja-JP" sz="1400" dirty="0">
              <a:ea typeface="ＭＳ ゴシック" panose="020B0609070205080204" pitchFamily="49" charset="-128"/>
            </a:endParaRPr>
          </a:p>
        </p:txBody>
      </p:sp>
    </p:spTree>
    <p:extLst>
      <p:ext uri="{BB962C8B-B14F-4D97-AF65-F5344CB8AC3E}">
        <p14:creationId xmlns:p14="http://schemas.microsoft.com/office/powerpoint/2010/main" val="2316195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86ACB-1DDC-3833-5269-2E8985E817D2}"/>
              </a:ext>
            </a:extLst>
          </p:cNvPr>
          <p:cNvSpPr>
            <a:spLocks noGrp="1"/>
          </p:cNvSpPr>
          <p:nvPr>
            <p:ph type="title"/>
          </p:nvPr>
        </p:nvSpPr>
        <p:spPr/>
        <p:txBody>
          <a:bodyPr>
            <a:normAutofit fontScale="90000"/>
          </a:bodyPr>
          <a:lstStyle/>
          <a:p>
            <a:r>
              <a:rPr kumimoji="1" lang="en-US" altLang="ja-JP" dirty="0"/>
              <a:t>Override</a:t>
            </a:r>
            <a:endParaRPr kumimoji="1" lang="ja-JP" altLang="en-US" dirty="0"/>
          </a:p>
        </p:txBody>
      </p:sp>
      <p:sp>
        <p:nvSpPr>
          <p:cNvPr id="4" name="Slide Number Placeholder 3">
            <a:extLst>
              <a:ext uri="{FF2B5EF4-FFF2-40B4-BE49-F238E27FC236}">
                <a16:creationId xmlns:a16="http://schemas.microsoft.com/office/drawing/2014/main" id="{CDAF0134-66C7-C1B1-B6A0-BFF56BCAE4AD}"/>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13</a:t>
            </a:fld>
            <a:endParaRPr lang="en-US" altLang="ja-JP"/>
          </a:p>
        </p:txBody>
      </p:sp>
      <p:sp>
        <p:nvSpPr>
          <p:cNvPr id="6" name="Rectangle 29">
            <a:extLst>
              <a:ext uri="{FF2B5EF4-FFF2-40B4-BE49-F238E27FC236}">
                <a16:creationId xmlns:a16="http://schemas.microsoft.com/office/drawing/2014/main" id="{96CE5079-85AB-B67C-9A71-CE09A15F0538}"/>
              </a:ext>
            </a:extLst>
          </p:cNvPr>
          <p:cNvSpPr>
            <a:spLocks noChangeArrowheads="1"/>
          </p:cNvSpPr>
          <p:nvPr/>
        </p:nvSpPr>
        <p:spPr bwMode="auto">
          <a:xfrm>
            <a:off x="638175" y="1150937"/>
            <a:ext cx="8963025" cy="700757"/>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spcAft>
                <a:spcPct val="50000"/>
              </a:spcAft>
            </a:pPr>
            <a:r>
              <a:rPr lang="ja-JP" altLang="en-US" b="0" dirty="0">
                <a:ea typeface="MS UI Gothic" panose="020B0600070205080204" pitchFamily="50" charset="-128"/>
              </a:rPr>
              <a:t>・</a:t>
            </a:r>
            <a:r>
              <a:rPr lang="en-US" altLang="ja-JP" b="0" dirty="0" err="1">
                <a:ea typeface="MS UI Gothic" panose="020B0600070205080204" pitchFamily="50" charset="-128"/>
              </a:rPr>
              <a:t>Định</a:t>
            </a:r>
            <a:r>
              <a:rPr lang="en-US" altLang="ja-JP" b="0" dirty="0">
                <a:ea typeface="MS UI Gothic" panose="020B0600070205080204" pitchFamily="50" charset="-128"/>
              </a:rPr>
              <a:t> </a:t>
            </a:r>
            <a:r>
              <a:rPr lang="en-US" altLang="ja-JP" b="0" dirty="0" err="1">
                <a:ea typeface="MS UI Gothic" panose="020B0600070205080204" pitchFamily="50" charset="-128"/>
              </a:rPr>
              <a:t>nghĩa</a:t>
            </a:r>
            <a:r>
              <a:rPr lang="en-US" altLang="ja-JP" b="0" dirty="0">
                <a:ea typeface="MS UI Gothic" panose="020B0600070205080204" pitchFamily="50" charset="-128"/>
              </a:rPr>
              <a:t> </a:t>
            </a:r>
            <a:r>
              <a:rPr lang="en-US" altLang="ja-JP" b="0" dirty="0" err="1">
                <a:ea typeface="MS UI Gothic" panose="020B0600070205080204" pitchFamily="50" charset="-128"/>
              </a:rPr>
              <a:t>những</a:t>
            </a:r>
            <a:r>
              <a:rPr lang="en-US" altLang="ja-JP" b="0" dirty="0">
                <a:ea typeface="MS UI Gothic" panose="020B0600070205080204" pitchFamily="50" charset="-128"/>
              </a:rPr>
              <a:t> </a:t>
            </a:r>
            <a:r>
              <a:rPr lang="en-US" altLang="ja-JP" b="0" dirty="0" err="1">
                <a:ea typeface="MS UI Gothic" panose="020B0600070205080204" pitchFamily="50" charset="-128"/>
              </a:rPr>
              <a:t>phần</a:t>
            </a:r>
            <a:r>
              <a:rPr lang="en-US" altLang="ja-JP" b="0" dirty="0">
                <a:ea typeface="MS UI Gothic" panose="020B0600070205080204" pitchFamily="50" charset="-128"/>
              </a:rPr>
              <a:t> </a:t>
            </a:r>
            <a:r>
              <a:rPr lang="en-US" altLang="ja-JP" b="0" dirty="0" err="1">
                <a:ea typeface="MS UI Gothic" panose="020B0600070205080204" pitchFamily="50" charset="-128"/>
              </a:rPr>
              <a:t>c</a:t>
            </a:r>
            <a:r>
              <a:rPr lang="en-US" altLang="ja-JP" b="0" dirty="0" err="1">
                <a:latin typeface="MS UI Gothic" panose="020B0600070205080204" pitchFamily="50" charset="-128"/>
                <a:ea typeface="MS UI Gothic" panose="020B0600070205080204" pitchFamily="50" charset="-128"/>
              </a:rPr>
              <a:t>ó</a:t>
            </a:r>
            <a:r>
              <a:rPr lang="en-US" altLang="ja-JP" b="0" dirty="0">
                <a:ea typeface="MS UI Gothic" panose="020B0600070205080204" pitchFamily="50" charset="-128"/>
              </a:rPr>
              <a:t> </a:t>
            </a:r>
            <a:r>
              <a:rPr lang="en-US" altLang="ja-JP" b="0" dirty="0" err="1">
                <a:ea typeface="MS UI Gothic" panose="020B0600070205080204" pitchFamily="50" charset="-128"/>
              </a:rPr>
              <a:t>nội</a:t>
            </a:r>
            <a:r>
              <a:rPr lang="en-US" altLang="ja-JP" b="0" dirty="0">
                <a:ea typeface="MS UI Gothic" panose="020B0600070205080204" pitchFamily="50" charset="-128"/>
              </a:rPr>
              <a:t> dung </a:t>
            </a:r>
            <a:r>
              <a:rPr lang="en-US" altLang="ja-JP" b="0" dirty="0" err="1">
                <a:ea typeface="MS UI Gothic" panose="020B0600070205080204" pitchFamily="50" charset="-128"/>
              </a:rPr>
              <a:t>tương</a:t>
            </a:r>
            <a:r>
              <a:rPr lang="en-US" altLang="ja-JP" b="0" dirty="0">
                <a:ea typeface="MS UI Gothic" panose="020B0600070205080204" pitchFamily="50" charset="-128"/>
              </a:rPr>
              <a:t> </a:t>
            </a:r>
            <a:r>
              <a:rPr lang="en-US" altLang="ja-JP" b="0" dirty="0" err="1">
                <a:ea typeface="MS UI Gothic" panose="020B0600070205080204" pitchFamily="50" charset="-128"/>
              </a:rPr>
              <a:t>tư</a:t>
            </a:r>
            <a:r>
              <a:rPr lang="en-US" altLang="ja-JP" b="0" dirty="0">
                <a:ea typeface="MS UI Gothic" panose="020B0600070205080204" pitchFamily="50" charset="-128"/>
              </a:rPr>
              <a:t>̣ </a:t>
            </a:r>
            <a:r>
              <a:rPr lang="en-US" altLang="ja-JP" b="0" dirty="0" err="1">
                <a:ea typeface="MS UI Gothic" panose="020B0600070205080204" pitchFamily="50" charset="-128"/>
              </a:rPr>
              <a:t>trong</a:t>
            </a:r>
            <a:r>
              <a:rPr lang="en-US" altLang="ja-JP" b="0" dirty="0">
                <a:ea typeface="MS UI Gothic" panose="020B0600070205080204" pitchFamily="50" charset="-128"/>
              </a:rPr>
              <a:t> </a:t>
            </a:r>
            <a:r>
              <a:rPr lang="en-US" altLang="ja-JP" b="0" dirty="0" err="1">
                <a:ea typeface="MS UI Gothic" panose="020B0600070205080204" pitchFamily="50" charset="-128"/>
              </a:rPr>
              <a:t>nhiều</a:t>
            </a:r>
            <a:r>
              <a:rPr lang="en-US" altLang="ja-JP" b="0" dirty="0">
                <a:ea typeface="MS UI Gothic" panose="020B0600070205080204" pitchFamily="50" charset="-128"/>
              </a:rPr>
              <a:t> subclass</a:t>
            </a:r>
          </a:p>
          <a:p>
            <a:pPr lvl="1">
              <a:spcAft>
                <a:spcPct val="50000"/>
              </a:spcAft>
            </a:pPr>
            <a:r>
              <a:rPr lang="ja-JP" altLang="en-US" b="0" dirty="0">
                <a:ea typeface="MS UI Gothic" panose="020B0600070205080204" pitchFamily="50" charset="-128"/>
              </a:rPr>
              <a:t>・</a:t>
            </a:r>
            <a:r>
              <a:rPr lang="en-US" altLang="ja-JP" b="0" dirty="0" err="1">
                <a:ea typeface="MS UI Gothic" panose="020B0600070205080204" pitchFamily="50" charset="-128"/>
              </a:rPr>
              <a:t>Phía</a:t>
            </a:r>
            <a:r>
              <a:rPr lang="en-US" altLang="ja-JP" b="0" dirty="0">
                <a:ea typeface="MS UI Gothic" panose="020B0600070205080204" pitchFamily="50" charset="-128"/>
              </a:rPr>
              <a:t> </a:t>
            </a:r>
            <a:r>
              <a:rPr lang="en-US" altLang="ja-JP" b="0" dirty="0" err="1">
                <a:ea typeface="MS UI Gothic" panose="020B0600070205080204" pitchFamily="50" charset="-128"/>
              </a:rPr>
              <a:t>sư</a:t>
            </a:r>
            <a:r>
              <a:rPr lang="en-US" altLang="ja-JP" b="0" dirty="0">
                <a:ea typeface="MS UI Gothic" panose="020B0600070205080204" pitchFamily="50" charset="-128"/>
              </a:rPr>
              <a:t>̉ </a:t>
            </a:r>
            <a:r>
              <a:rPr lang="en-US" altLang="ja-JP" b="0" dirty="0" err="1">
                <a:ea typeface="MS UI Gothic" panose="020B0600070205080204" pitchFamily="50" charset="-128"/>
              </a:rPr>
              <a:t>dụng</a:t>
            </a:r>
            <a:r>
              <a:rPr lang="en-US" altLang="ja-JP" b="0" dirty="0">
                <a:ea typeface="MS UI Gothic" panose="020B0600070205080204" pitchFamily="50" charset="-128"/>
              </a:rPr>
              <a:t> method sẽ </a:t>
            </a:r>
            <a:r>
              <a:rPr lang="en-US" altLang="ja-JP" b="0" dirty="0" err="1">
                <a:ea typeface="MS UI Gothic" panose="020B0600070205080204" pitchFamily="50" charset="-128"/>
              </a:rPr>
              <a:t>phân</a:t>
            </a:r>
            <a:r>
              <a:rPr lang="en-US" altLang="ja-JP" b="0" dirty="0">
                <a:ea typeface="MS UI Gothic" panose="020B0600070205080204" pitchFamily="50" charset="-128"/>
              </a:rPr>
              <a:t> chia </a:t>
            </a:r>
            <a:r>
              <a:rPr lang="en-US" altLang="ja-JP" b="0" dirty="0" err="1">
                <a:ea typeface="MS UI Gothic" panose="020B0600070205080204" pitchFamily="50" charset="-128"/>
              </a:rPr>
              <a:t>sư</a:t>
            </a:r>
            <a:r>
              <a:rPr lang="en-US" altLang="ja-JP" b="0" dirty="0">
                <a:ea typeface="MS UI Gothic" panose="020B0600070205080204" pitchFamily="50" charset="-128"/>
              </a:rPr>
              <a:t>̉ </a:t>
            </a:r>
            <a:r>
              <a:rPr lang="en-US" altLang="ja-JP" b="0" dirty="0" err="1">
                <a:ea typeface="MS UI Gothic" panose="020B0600070205080204" pitchFamily="50" charset="-128"/>
              </a:rPr>
              <a:t>dụng</a:t>
            </a:r>
            <a:r>
              <a:rPr lang="en-US" altLang="ja-JP" b="0" dirty="0">
                <a:ea typeface="MS UI Gothic" panose="020B0600070205080204" pitchFamily="50" charset="-128"/>
              </a:rPr>
              <a:t> </a:t>
            </a:r>
            <a:r>
              <a:rPr lang="en-US" altLang="ja-JP" b="0" dirty="0" err="1">
                <a:ea typeface="MS UI Gothic" panose="020B0600070205080204" pitchFamily="50" charset="-128"/>
              </a:rPr>
              <a:t>nhiều</a:t>
            </a:r>
            <a:r>
              <a:rPr lang="en-US" altLang="ja-JP" b="0" dirty="0">
                <a:ea typeface="MS UI Gothic" panose="020B0600070205080204" pitchFamily="50" charset="-128"/>
              </a:rPr>
              <a:t> method name</a:t>
            </a:r>
          </a:p>
        </p:txBody>
      </p:sp>
      <p:sp>
        <p:nvSpPr>
          <p:cNvPr id="7" name="AutoShape 30">
            <a:extLst>
              <a:ext uri="{FF2B5EF4-FFF2-40B4-BE49-F238E27FC236}">
                <a16:creationId xmlns:a16="http://schemas.microsoft.com/office/drawing/2014/main" id="{506A0D16-FAEE-6735-6A12-1F94EFC742E3}"/>
              </a:ext>
            </a:extLst>
          </p:cNvPr>
          <p:cNvSpPr>
            <a:spLocks noChangeArrowheads="1"/>
          </p:cNvSpPr>
          <p:nvPr/>
        </p:nvSpPr>
        <p:spPr bwMode="auto">
          <a:xfrm>
            <a:off x="4418805" y="1851694"/>
            <a:ext cx="277813" cy="220662"/>
          </a:xfrm>
          <a:prstGeom prst="downArrow">
            <a:avLst>
              <a:gd name="adj1" fmla="val 50000"/>
              <a:gd name="adj2" fmla="val 25000"/>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8" name="Rectangle 31">
            <a:extLst>
              <a:ext uri="{FF2B5EF4-FFF2-40B4-BE49-F238E27FC236}">
                <a16:creationId xmlns:a16="http://schemas.microsoft.com/office/drawing/2014/main" id="{6D046DCC-3E3F-F583-FDCA-A2C6918388CA}"/>
              </a:ext>
            </a:extLst>
          </p:cNvPr>
          <p:cNvSpPr>
            <a:spLocks noChangeArrowheads="1"/>
          </p:cNvSpPr>
          <p:nvPr/>
        </p:nvSpPr>
        <p:spPr bwMode="auto">
          <a:xfrm>
            <a:off x="636588" y="2078038"/>
            <a:ext cx="8963024" cy="892968"/>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spcAft>
                <a:spcPct val="50000"/>
              </a:spcAft>
            </a:pPr>
            <a:r>
              <a:rPr lang="ja-JP" altLang="en-US" b="0" dirty="0">
                <a:ea typeface="MS UI Gothic" panose="020B0600070205080204" pitchFamily="50" charset="-128"/>
              </a:rPr>
              <a:t>・</a:t>
            </a:r>
            <a:r>
              <a:rPr lang="en-US" altLang="ja-JP" b="0" dirty="0" err="1">
                <a:ea typeface="MS UI Gothic" panose="020B0600070205080204" pitchFamily="50" charset="-128"/>
              </a:rPr>
              <a:t>Xư</a:t>
            </a:r>
            <a:r>
              <a:rPr lang="en-US" altLang="ja-JP" b="0" dirty="0">
                <a:ea typeface="MS UI Gothic" panose="020B0600070205080204" pitchFamily="50" charset="-128"/>
              </a:rPr>
              <a:t>̉ </a:t>
            </a:r>
            <a:r>
              <a:rPr lang="en-US" altLang="ja-JP" b="0" dirty="0" err="1">
                <a:ea typeface="MS UI Gothic" panose="020B0600070205080204" pitchFamily="50" charset="-128"/>
              </a:rPr>
              <a:t>ly</a:t>
            </a:r>
            <a:r>
              <a:rPr lang="en-US" altLang="ja-JP" b="0" dirty="0">
                <a:ea typeface="MS UI Gothic" panose="020B0600070205080204" pitchFamily="50" charset="-128"/>
              </a:rPr>
              <a:t>́ common </a:t>
            </a:r>
            <a:r>
              <a:rPr lang="en-US" altLang="ja-JP" b="0" dirty="0" err="1">
                <a:ea typeface="MS UI Gothic" panose="020B0600070205080204" pitchFamily="50" charset="-128"/>
              </a:rPr>
              <a:t>trong</a:t>
            </a:r>
            <a:r>
              <a:rPr lang="en-US" altLang="ja-JP" b="0" dirty="0">
                <a:ea typeface="MS UI Gothic" panose="020B0600070205080204" pitchFamily="50" charset="-128"/>
              </a:rPr>
              <a:t> </a:t>
            </a:r>
            <a:r>
              <a:rPr lang="en-US" altLang="ja-JP" b="0" dirty="0" err="1">
                <a:ea typeface="MS UI Gothic" panose="020B0600070205080204" pitchFamily="50" charset="-128"/>
              </a:rPr>
              <a:t>nhiều</a:t>
            </a:r>
            <a:r>
              <a:rPr lang="en-US" altLang="ja-JP" b="0" dirty="0">
                <a:ea typeface="MS UI Gothic" panose="020B0600070205080204" pitchFamily="50" charset="-128"/>
              </a:rPr>
              <a:t> subclass sẽ </a:t>
            </a:r>
            <a:r>
              <a:rPr lang="en-US" altLang="ja-JP" b="0" dirty="0" err="1">
                <a:ea typeface="MS UI Gothic" panose="020B0600070205080204" pitchFamily="50" charset="-128"/>
              </a:rPr>
              <a:t>định</a:t>
            </a:r>
            <a:r>
              <a:rPr lang="en-US" altLang="ja-JP" b="0" dirty="0">
                <a:ea typeface="MS UI Gothic" panose="020B0600070205080204" pitchFamily="50" charset="-128"/>
              </a:rPr>
              <a:t> </a:t>
            </a:r>
            <a:r>
              <a:rPr lang="en-US" altLang="ja-JP" b="0" dirty="0" err="1">
                <a:ea typeface="MS UI Gothic" panose="020B0600070205080204" pitchFamily="50" charset="-128"/>
              </a:rPr>
              <a:t>nghĩa</a:t>
            </a:r>
            <a:r>
              <a:rPr lang="en-US" altLang="ja-JP" b="0" dirty="0">
                <a:ea typeface="MS UI Gothic" panose="020B0600070205080204" pitchFamily="50" charset="-128"/>
              </a:rPr>
              <a:t> </a:t>
            </a:r>
            <a:r>
              <a:rPr lang="en-US" altLang="ja-JP" b="0" dirty="0" err="1">
                <a:ea typeface="MS UI Gothic" panose="020B0600070205080204" pitchFamily="50" charset="-128"/>
              </a:rPr>
              <a:t>trong</a:t>
            </a:r>
            <a:r>
              <a:rPr lang="en-US" altLang="ja-JP" b="0" dirty="0">
                <a:ea typeface="MS UI Gothic" panose="020B0600070205080204" pitchFamily="50" charset="-128"/>
              </a:rPr>
              <a:t> superclass (</a:t>
            </a:r>
            <a:r>
              <a:rPr lang="en-US" altLang="ja-JP" b="0" dirty="0" err="1">
                <a:ea typeface="MS UI Gothic" panose="020B0600070205080204" pitchFamily="50" charset="-128"/>
              </a:rPr>
              <a:t>mô</a:t>
            </a:r>
            <a:r>
              <a:rPr lang="en-US" altLang="ja-JP" b="0" dirty="0">
                <a:ea typeface="MS UI Gothic" panose="020B0600070205080204" pitchFamily="50" charset="-128"/>
              </a:rPr>
              <a:t> tả chỉ ở 1 </a:t>
            </a:r>
            <a:r>
              <a:rPr lang="en-US" altLang="ja-JP" b="0" dirty="0" err="1">
                <a:ea typeface="MS UI Gothic" panose="020B0600070205080204" pitchFamily="50" charset="-128"/>
              </a:rPr>
              <a:t>chô</a:t>
            </a:r>
            <a:r>
              <a:rPr lang="en-US" altLang="ja-JP" b="0" dirty="0">
                <a:ea typeface="MS UI Gothic" panose="020B0600070205080204" pitchFamily="50" charset="-128"/>
              </a:rPr>
              <a:t>̃)</a:t>
            </a:r>
          </a:p>
          <a:p>
            <a:pPr lvl="1">
              <a:spcAft>
                <a:spcPct val="50000"/>
              </a:spcAft>
            </a:pPr>
            <a:r>
              <a:rPr lang="ja-JP" altLang="en-US" b="0" dirty="0">
                <a:ea typeface="MS UI Gothic" panose="020B0600070205080204" pitchFamily="50" charset="-128"/>
              </a:rPr>
              <a:t>・</a:t>
            </a:r>
            <a:r>
              <a:rPr lang="en-US" altLang="ja-JP" b="0" dirty="0" err="1">
                <a:ea typeface="MS UI Gothic" panose="020B0600070205080204" pitchFamily="50" charset="-128"/>
              </a:rPr>
              <a:t>Phía</a:t>
            </a:r>
            <a:r>
              <a:rPr lang="en-US" altLang="ja-JP" b="0" dirty="0">
                <a:ea typeface="MS UI Gothic" panose="020B0600070205080204" pitchFamily="50" charset="-128"/>
              </a:rPr>
              <a:t> </a:t>
            </a:r>
            <a:r>
              <a:rPr lang="en-US" altLang="ja-JP" b="0" dirty="0" err="1">
                <a:ea typeface="MS UI Gothic" panose="020B0600070205080204" pitchFamily="50" charset="-128"/>
              </a:rPr>
              <a:t>sư</a:t>
            </a:r>
            <a:r>
              <a:rPr lang="en-US" altLang="ja-JP" b="0" dirty="0">
                <a:ea typeface="MS UI Gothic" panose="020B0600070205080204" pitchFamily="50" charset="-128"/>
              </a:rPr>
              <a:t>̉ </a:t>
            </a:r>
            <a:r>
              <a:rPr lang="en-US" altLang="ja-JP" b="0" dirty="0" err="1">
                <a:ea typeface="MS UI Gothic" panose="020B0600070205080204" pitchFamily="50" charset="-128"/>
              </a:rPr>
              <a:t>dụng</a:t>
            </a:r>
            <a:r>
              <a:rPr lang="en-US" altLang="ja-JP" b="0" dirty="0">
                <a:ea typeface="MS UI Gothic" panose="020B0600070205080204" pitchFamily="50" charset="-128"/>
              </a:rPr>
              <a:t> method có </a:t>
            </a:r>
            <a:r>
              <a:rPr lang="en-US" altLang="ja-JP" b="0" dirty="0" err="1">
                <a:ea typeface="MS UI Gothic" panose="020B0600070205080204" pitchFamily="50" charset="-128"/>
              </a:rPr>
              <a:t>thê</a:t>
            </a:r>
            <a:r>
              <a:rPr lang="en-US" altLang="ja-JP" b="0" dirty="0">
                <a:ea typeface="MS UI Gothic" panose="020B0600070205080204" pitchFamily="50" charset="-128"/>
              </a:rPr>
              <a:t>̉ </a:t>
            </a:r>
            <a:r>
              <a:rPr lang="en-US" altLang="ja-JP" b="0" dirty="0" err="1">
                <a:ea typeface="MS UI Gothic" panose="020B0600070205080204" pitchFamily="50" charset="-128"/>
              </a:rPr>
              <a:t>sư</a:t>
            </a:r>
            <a:r>
              <a:rPr lang="en-US" altLang="ja-JP" b="0" dirty="0">
                <a:ea typeface="MS UI Gothic" panose="020B0600070205080204" pitchFamily="50" charset="-128"/>
              </a:rPr>
              <a:t>̉ </a:t>
            </a:r>
            <a:r>
              <a:rPr lang="en-US" altLang="ja-JP" b="0" dirty="0" err="1">
                <a:ea typeface="MS UI Gothic" panose="020B0600070205080204" pitchFamily="50" charset="-128"/>
              </a:rPr>
              <a:t>dụng</a:t>
            </a:r>
            <a:r>
              <a:rPr lang="en-US" altLang="ja-JP" b="0" dirty="0">
                <a:ea typeface="MS UI Gothic" panose="020B0600070205080204" pitchFamily="50" charset="-128"/>
              </a:rPr>
              <a:t> common method name (method name </a:t>
            </a:r>
            <a:r>
              <a:rPr lang="en-US" altLang="ja-JP" b="0" dirty="0" err="1">
                <a:ea typeface="MS UI Gothic" panose="020B0600070205080204" pitchFamily="50" charset="-128"/>
              </a:rPr>
              <a:t>giống</a:t>
            </a:r>
            <a:r>
              <a:rPr lang="en-US" altLang="ja-JP" b="0" dirty="0">
                <a:ea typeface="MS UI Gothic" panose="020B0600070205080204" pitchFamily="50" charset="-128"/>
              </a:rPr>
              <a:t> </a:t>
            </a:r>
            <a:r>
              <a:rPr lang="en-US" altLang="ja-JP" b="0" dirty="0" err="1">
                <a:ea typeface="MS UI Gothic" panose="020B0600070205080204" pitchFamily="50" charset="-128"/>
              </a:rPr>
              <a:t>với</a:t>
            </a:r>
            <a:r>
              <a:rPr lang="en-US" altLang="ja-JP" b="0" dirty="0">
                <a:ea typeface="MS UI Gothic" panose="020B0600070205080204" pitchFamily="50" charset="-128"/>
              </a:rPr>
              <a:t> </a:t>
            </a:r>
            <a:r>
              <a:rPr lang="en-US" altLang="ja-JP" b="0" dirty="0" err="1">
                <a:ea typeface="MS UI Gothic" panose="020B0600070205080204" pitchFamily="50" charset="-128"/>
              </a:rPr>
              <a:t>toàn</a:t>
            </a:r>
            <a:r>
              <a:rPr lang="en-US" altLang="ja-JP" b="0" dirty="0">
                <a:ea typeface="MS UI Gothic" panose="020B0600070205080204" pitchFamily="50" charset="-128"/>
              </a:rPr>
              <a:t> </a:t>
            </a:r>
            <a:r>
              <a:rPr lang="en-US" altLang="ja-JP" b="0" dirty="0" err="1">
                <a:ea typeface="MS UI Gothic" panose="020B0600070205080204" pitchFamily="50" charset="-128"/>
              </a:rPr>
              <a:t>bô</a:t>
            </a:r>
            <a:r>
              <a:rPr lang="en-US" altLang="ja-JP" b="0" dirty="0">
                <a:ea typeface="MS UI Gothic" panose="020B0600070205080204" pitchFamily="50" charset="-128"/>
              </a:rPr>
              <a:t>̣ subclass)</a:t>
            </a:r>
          </a:p>
        </p:txBody>
      </p:sp>
      <p:pic>
        <p:nvPicPr>
          <p:cNvPr id="9" name="Picture 53">
            <a:extLst>
              <a:ext uri="{FF2B5EF4-FFF2-40B4-BE49-F238E27FC236}">
                <a16:creationId xmlns:a16="http://schemas.microsoft.com/office/drawing/2014/main" id="{9A57B718-89CB-533B-7908-403E09BF08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1583" y="4568825"/>
            <a:ext cx="487363" cy="39846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54">
            <a:extLst>
              <a:ext uri="{FF2B5EF4-FFF2-40B4-BE49-F238E27FC236}">
                <a16:creationId xmlns:a16="http://schemas.microsoft.com/office/drawing/2014/main" id="{49322E12-811F-6E86-BAF4-F5B8951EC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4585494"/>
            <a:ext cx="488950" cy="40957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55">
            <a:extLst>
              <a:ext uri="{FF2B5EF4-FFF2-40B4-BE49-F238E27FC236}">
                <a16:creationId xmlns:a16="http://schemas.microsoft.com/office/drawing/2014/main" id="{F8BE7A0B-F8A8-EFF3-0EB5-7D5CFFA5B6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2062" y="4570413"/>
            <a:ext cx="450850" cy="39846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56">
            <a:extLst>
              <a:ext uri="{FF2B5EF4-FFF2-40B4-BE49-F238E27FC236}">
                <a16:creationId xmlns:a16="http://schemas.microsoft.com/office/drawing/2014/main" id="{2FF3A9B8-BDD0-0398-D2F0-E5A914A3F3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6" y="3287394"/>
            <a:ext cx="434975" cy="339725"/>
          </a:xfrm>
          <a:prstGeom prst="rect">
            <a:avLst/>
          </a:prstGeom>
          <a:noFill/>
          <a:extLst>
            <a:ext uri="{909E8E84-426E-40DD-AFC4-6F175D3DCCD1}">
              <a14:hiddenFill xmlns:a14="http://schemas.microsoft.com/office/drawing/2010/main">
                <a:solidFill>
                  <a:srgbClr val="FFFFFF"/>
                </a:solidFill>
              </a14:hiddenFill>
            </a:ext>
          </a:extLst>
        </p:spPr>
      </p:pic>
      <p:sp>
        <p:nvSpPr>
          <p:cNvPr id="13" name="Text Box 57">
            <a:extLst>
              <a:ext uri="{FF2B5EF4-FFF2-40B4-BE49-F238E27FC236}">
                <a16:creationId xmlns:a16="http://schemas.microsoft.com/office/drawing/2014/main" id="{563C89CD-1680-5618-69C2-68DDB8D0F444}"/>
              </a:ext>
            </a:extLst>
          </p:cNvPr>
          <p:cNvSpPr txBox="1">
            <a:spLocks noChangeArrowheads="1"/>
          </p:cNvSpPr>
          <p:nvPr/>
        </p:nvSpPr>
        <p:spPr bwMode="auto">
          <a:xfrm>
            <a:off x="2146305" y="3757613"/>
            <a:ext cx="1206495" cy="338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en-US" altLang="ja-JP" b="0" dirty="0" err="1">
                <a:ea typeface="MS UI Gothic" panose="020B0600070205080204" pitchFamily="50" charset="-128"/>
              </a:rPr>
              <a:t>Nhân</a:t>
            </a:r>
            <a:r>
              <a:rPr lang="en-US" altLang="ja-JP" b="0" dirty="0">
                <a:ea typeface="MS UI Gothic" panose="020B0600070205080204" pitchFamily="50" charset="-128"/>
              </a:rPr>
              <a:t> </a:t>
            </a:r>
            <a:r>
              <a:rPr lang="en-US" altLang="ja-JP" b="0" dirty="0" err="1">
                <a:ea typeface="MS UI Gothic" panose="020B0600070205080204" pitchFamily="50" charset="-128"/>
              </a:rPr>
              <a:t>viên</a:t>
            </a:r>
            <a:endParaRPr lang="en-US" altLang="ja-JP" b="0" dirty="0">
              <a:ea typeface="MS UI Gothic" panose="020B0600070205080204" pitchFamily="50" charset="-128"/>
            </a:endParaRPr>
          </a:p>
        </p:txBody>
      </p:sp>
      <p:sp>
        <p:nvSpPr>
          <p:cNvPr id="14" name="Text Box 58">
            <a:extLst>
              <a:ext uri="{FF2B5EF4-FFF2-40B4-BE49-F238E27FC236}">
                <a16:creationId xmlns:a16="http://schemas.microsoft.com/office/drawing/2014/main" id="{CB9CCF89-E92E-DCB9-5A4F-B8DBD2C6318B}"/>
              </a:ext>
            </a:extLst>
          </p:cNvPr>
          <p:cNvSpPr txBox="1">
            <a:spLocks noChangeArrowheads="1"/>
          </p:cNvSpPr>
          <p:nvPr/>
        </p:nvSpPr>
        <p:spPr bwMode="auto">
          <a:xfrm>
            <a:off x="3879850" y="4930775"/>
            <a:ext cx="677862"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en-US" altLang="ja-JP" sz="800" b="0">
                <a:ea typeface="MS UI Gothic" panose="020B0600070205080204" pitchFamily="50" charset="-128"/>
              </a:rPr>
              <a:t>Kế hoạch</a:t>
            </a:r>
          </a:p>
        </p:txBody>
      </p:sp>
      <p:sp>
        <p:nvSpPr>
          <p:cNvPr id="15" name="Text Box 59">
            <a:extLst>
              <a:ext uri="{FF2B5EF4-FFF2-40B4-BE49-F238E27FC236}">
                <a16:creationId xmlns:a16="http://schemas.microsoft.com/office/drawing/2014/main" id="{931F51A6-7283-DE46-C912-7DEED43E7E5F}"/>
              </a:ext>
            </a:extLst>
          </p:cNvPr>
          <p:cNvSpPr txBox="1">
            <a:spLocks noChangeArrowheads="1"/>
          </p:cNvSpPr>
          <p:nvPr/>
        </p:nvSpPr>
        <p:spPr bwMode="auto">
          <a:xfrm>
            <a:off x="2435219" y="4930775"/>
            <a:ext cx="73342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en-US" altLang="ja-JP" sz="800" b="0" dirty="0">
                <a:ea typeface="MS UI Gothic" panose="020B0600070205080204" pitchFamily="50" charset="-128"/>
              </a:rPr>
              <a:t>Kinh </a:t>
            </a:r>
            <a:r>
              <a:rPr lang="en-US" altLang="ja-JP" sz="800" b="0" dirty="0" err="1">
                <a:ea typeface="MS UI Gothic" panose="020B0600070205080204" pitchFamily="50" charset="-128"/>
              </a:rPr>
              <a:t>doanh</a:t>
            </a:r>
            <a:endParaRPr lang="en-US" altLang="ja-JP" sz="800" b="0" dirty="0">
              <a:ea typeface="MS UI Gothic" panose="020B0600070205080204" pitchFamily="50" charset="-128"/>
            </a:endParaRPr>
          </a:p>
        </p:txBody>
      </p:sp>
      <p:sp>
        <p:nvSpPr>
          <p:cNvPr id="16" name="Text Box 60">
            <a:extLst>
              <a:ext uri="{FF2B5EF4-FFF2-40B4-BE49-F238E27FC236}">
                <a16:creationId xmlns:a16="http://schemas.microsoft.com/office/drawing/2014/main" id="{E8854C79-15A6-39F1-9FB0-66731FD07146}"/>
              </a:ext>
            </a:extLst>
          </p:cNvPr>
          <p:cNvSpPr txBox="1">
            <a:spLocks noChangeArrowheads="1"/>
          </p:cNvSpPr>
          <p:nvPr/>
        </p:nvSpPr>
        <p:spPr bwMode="auto">
          <a:xfrm>
            <a:off x="1317621" y="4899024"/>
            <a:ext cx="487362"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ja-JP" altLang="en-US" sz="800" b="0" dirty="0">
                <a:latin typeface="Times New Roman" panose="02020603050405020304" pitchFamily="18" charset="0"/>
                <a:ea typeface="MS UI Gothic" panose="020B0600070205080204" pitchFamily="50" charset="-128"/>
              </a:rPr>
              <a:t>ＳＥ</a:t>
            </a:r>
          </a:p>
        </p:txBody>
      </p:sp>
      <p:cxnSp>
        <p:nvCxnSpPr>
          <p:cNvPr id="18" name="AutoShape 62">
            <a:extLst>
              <a:ext uri="{FF2B5EF4-FFF2-40B4-BE49-F238E27FC236}">
                <a16:creationId xmlns:a16="http://schemas.microsoft.com/office/drawing/2014/main" id="{5E0080CF-4AC6-8E8F-5308-101CDCAB3ED0}"/>
              </a:ext>
            </a:extLst>
          </p:cNvPr>
          <p:cNvCxnSpPr>
            <a:cxnSpLocks noChangeShapeType="1"/>
            <a:stCxn id="9" idx="0"/>
            <a:endCxn id="20" idx="3"/>
          </p:cNvCxnSpPr>
          <p:nvPr/>
        </p:nvCxnSpPr>
        <p:spPr bwMode="auto">
          <a:xfrm rot="5400000" flipH="1" flipV="1">
            <a:off x="1986360" y="3862780"/>
            <a:ext cx="234950" cy="1177140"/>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63">
            <a:extLst>
              <a:ext uri="{FF2B5EF4-FFF2-40B4-BE49-F238E27FC236}">
                <a16:creationId xmlns:a16="http://schemas.microsoft.com/office/drawing/2014/main" id="{C86DFA57-F41C-AE92-7695-FE7E40EE6218}"/>
              </a:ext>
            </a:extLst>
          </p:cNvPr>
          <p:cNvCxnSpPr>
            <a:cxnSpLocks noChangeShapeType="1"/>
            <a:stCxn id="11" idx="0"/>
            <a:endCxn id="20" idx="3"/>
          </p:cNvCxnSpPr>
          <p:nvPr/>
        </p:nvCxnSpPr>
        <p:spPr bwMode="auto">
          <a:xfrm rot="16200000" flipV="1">
            <a:off x="3241677" y="3784603"/>
            <a:ext cx="236538" cy="1335082"/>
          </a:xfrm>
          <a:prstGeom prst="bentConnector3">
            <a:avLst>
              <a:gd name="adj1" fmla="val 50000"/>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AutoShape 64">
            <a:extLst>
              <a:ext uri="{FF2B5EF4-FFF2-40B4-BE49-F238E27FC236}">
                <a16:creationId xmlns:a16="http://schemas.microsoft.com/office/drawing/2014/main" id="{30E6FF22-F4CB-E136-29B2-8A6D8E3353F1}"/>
              </a:ext>
            </a:extLst>
          </p:cNvPr>
          <p:cNvSpPr>
            <a:spLocks noChangeArrowheads="1"/>
          </p:cNvSpPr>
          <p:nvPr/>
        </p:nvSpPr>
        <p:spPr bwMode="auto">
          <a:xfrm>
            <a:off x="2635255" y="4259263"/>
            <a:ext cx="114300" cy="74612"/>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21" name="AutoShape 65">
            <a:extLst>
              <a:ext uri="{FF2B5EF4-FFF2-40B4-BE49-F238E27FC236}">
                <a16:creationId xmlns:a16="http://schemas.microsoft.com/office/drawing/2014/main" id="{683A21F9-7DE5-6BF4-E0C5-C01B4B13C2E1}"/>
              </a:ext>
            </a:extLst>
          </p:cNvPr>
          <p:cNvSpPr>
            <a:spLocks noChangeArrowheads="1"/>
          </p:cNvSpPr>
          <p:nvPr/>
        </p:nvSpPr>
        <p:spPr bwMode="auto">
          <a:xfrm>
            <a:off x="152400" y="5259388"/>
            <a:ext cx="1792284" cy="379412"/>
          </a:xfrm>
          <a:prstGeom prst="wedgeRoundRectCallout">
            <a:avLst>
              <a:gd name="adj1" fmla="val 28982"/>
              <a:gd name="adj2" fmla="val -107334"/>
              <a:gd name="adj3" fmla="val 16667"/>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46800" tIns="54000"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en-US" altLang="ja-JP" sz="1400" b="0" dirty="0" err="1">
                <a:latin typeface="+mj-lt"/>
                <a:ea typeface="MS UI Gothic" panose="020B0600070205080204" pitchFamily="50" charset="-128"/>
              </a:rPr>
              <a:t>Tính</a:t>
            </a:r>
            <a:r>
              <a:rPr lang="en-US" altLang="ja-JP" sz="1400" b="0" dirty="0">
                <a:latin typeface="+mj-lt"/>
                <a:ea typeface="MS UI Gothic" panose="020B0600070205080204" pitchFamily="50" charset="-128"/>
              </a:rPr>
              <a:t> </a:t>
            </a:r>
            <a:r>
              <a:rPr lang="en-US" altLang="ja-JP" sz="1400" b="0" dirty="0" err="1">
                <a:latin typeface="+mj-lt"/>
                <a:ea typeface="MS UI Gothic" panose="020B0600070205080204" pitchFamily="50" charset="-128"/>
              </a:rPr>
              <a:t>toán</a:t>
            </a:r>
            <a:r>
              <a:rPr lang="en-US" altLang="ja-JP" sz="1400" b="0" dirty="0">
                <a:latin typeface="+mj-lt"/>
                <a:ea typeface="MS UI Gothic" panose="020B0600070205080204" pitchFamily="50" charset="-128"/>
              </a:rPr>
              <a:t> </a:t>
            </a:r>
            <a:r>
              <a:rPr lang="en-US" altLang="ja-JP" sz="1400" b="0" dirty="0" err="1">
                <a:latin typeface="+mj-lt"/>
                <a:ea typeface="MS UI Gothic" panose="020B0600070205080204" pitchFamily="50" charset="-128"/>
              </a:rPr>
              <a:t>lương</a:t>
            </a:r>
            <a:r>
              <a:rPr lang="ja-JP" altLang="en-US" sz="1400" b="0" dirty="0">
                <a:latin typeface="+mj-lt"/>
                <a:ea typeface="MS UI Gothic" panose="020B0600070205080204" pitchFamily="50" charset="-128"/>
              </a:rPr>
              <a:t>（）</a:t>
            </a:r>
          </a:p>
          <a:p>
            <a:pPr algn="just"/>
            <a:endParaRPr lang="en-US" altLang="ja-JP" sz="700" dirty="0">
              <a:latin typeface="+mj-lt"/>
              <a:ea typeface="MS UI Gothic" panose="020B0600070205080204" pitchFamily="50" charset="-128"/>
            </a:endParaRPr>
          </a:p>
        </p:txBody>
      </p:sp>
      <p:sp>
        <p:nvSpPr>
          <p:cNvPr id="22" name="AutoShape 66">
            <a:extLst>
              <a:ext uri="{FF2B5EF4-FFF2-40B4-BE49-F238E27FC236}">
                <a16:creationId xmlns:a16="http://schemas.microsoft.com/office/drawing/2014/main" id="{B986EAEB-AFE0-8199-444A-F4E89FD76ECB}"/>
              </a:ext>
            </a:extLst>
          </p:cNvPr>
          <p:cNvSpPr>
            <a:spLocks noChangeArrowheads="1"/>
          </p:cNvSpPr>
          <p:nvPr/>
        </p:nvSpPr>
        <p:spPr bwMode="auto">
          <a:xfrm>
            <a:off x="1981201" y="5238353"/>
            <a:ext cx="1752598" cy="432594"/>
          </a:xfrm>
          <a:prstGeom prst="wedgeRoundRectCallout">
            <a:avLst>
              <a:gd name="adj1" fmla="val -8921"/>
              <a:gd name="adj2" fmla="val -71213"/>
              <a:gd name="adj3" fmla="val 16667"/>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46800" tIns="54000"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en-US" altLang="ja-JP" sz="1400" b="0" dirty="0" err="1">
                <a:ea typeface="MS UI Gothic" panose="020B0600070205080204" pitchFamily="50" charset="-128"/>
              </a:rPr>
              <a:t>Tính</a:t>
            </a:r>
            <a:r>
              <a:rPr lang="en-US" altLang="ja-JP" sz="1400" b="0" dirty="0">
                <a:ea typeface="MS UI Gothic" panose="020B0600070205080204" pitchFamily="50" charset="-128"/>
              </a:rPr>
              <a:t> </a:t>
            </a:r>
            <a:r>
              <a:rPr lang="en-US" altLang="ja-JP" sz="1400" b="0" dirty="0" err="1">
                <a:ea typeface="MS UI Gothic" panose="020B0600070205080204" pitchFamily="50" charset="-128"/>
              </a:rPr>
              <a:t>toán</a:t>
            </a:r>
            <a:r>
              <a:rPr lang="en-US" altLang="ja-JP" sz="1400" b="0" dirty="0">
                <a:ea typeface="MS UI Gothic" panose="020B0600070205080204" pitchFamily="50" charset="-128"/>
              </a:rPr>
              <a:t> </a:t>
            </a:r>
            <a:r>
              <a:rPr lang="en-US" altLang="ja-JP" sz="1400" b="0" dirty="0" err="1">
                <a:ea typeface="MS UI Gothic" panose="020B0600070205080204" pitchFamily="50" charset="-128"/>
              </a:rPr>
              <a:t>lương</a:t>
            </a:r>
            <a:r>
              <a:rPr lang="ja-JP" altLang="en-US" sz="1400" b="0" dirty="0">
                <a:ea typeface="MS UI Gothic" panose="020B0600070205080204" pitchFamily="50" charset="-128"/>
              </a:rPr>
              <a:t>（）</a:t>
            </a:r>
          </a:p>
        </p:txBody>
      </p:sp>
      <p:sp>
        <p:nvSpPr>
          <p:cNvPr id="23" name="AutoShape 67">
            <a:extLst>
              <a:ext uri="{FF2B5EF4-FFF2-40B4-BE49-F238E27FC236}">
                <a16:creationId xmlns:a16="http://schemas.microsoft.com/office/drawing/2014/main" id="{315C9A41-9B69-F091-F064-BB71543ECD4C}"/>
              </a:ext>
            </a:extLst>
          </p:cNvPr>
          <p:cNvSpPr>
            <a:spLocks noChangeArrowheads="1"/>
          </p:cNvSpPr>
          <p:nvPr/>
        </p:nvSpPr>
        <p:spPr bwMode="auto">
          <a:xfrm>
            <a:off x="3753746" y="5262854"/>
            <a:ext cx="1976437" cy="379412"/>
          </a:xfrm>
          <a:prstGeom prst="wedgeRoundRectCallout">
            <a:avLst>
              <a:gd name="adj1" fmla="val -11139"/>
              <a:gd name="adj2" fmla="val -74685"/>
              <a:gd name="adj3" fmla="val 16667"/>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46800" tIns="54000"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en-US" altLang="ja-JP" sz="1400" b="0" dirty="0" err="1">
                <a:ea typeface="MS UI Gothic" panose="020B0600070205080204" pitchFamily="50" charset="-128"/>
              </a:rPr>
              <a:t>Tính</a:t>
            </a:r>
            <a:r>
              <a:rPr lang="en-US" altLang="ja-JP" sz="1400" b="0" dirty="0">
                <a:ea typeface="MS UI Gothic" panose="020B0600070205080204" pitchFamily="50" charset="-128"/>
              </a:rPr>
              <a:t> </a:t>
            </a:r>
            <a:r>
              <a:rPr lang="en-US" altLang="ja-JP" sz="1400" b="0" dirty="0" err="1">
                <a:ea typeface="MS UI Gothic" panose="020B0600070205080204" pitchFamily="50" charset="-128"/>
              </a:rPr>
              <a:t>toán</a:t>
            </a:r>
            <a:r>
              <a:rPr lang="en-US" altLang="ja-JP" sz="1400" b="0" dirty="0">
                <a:ea typeface="MS UI Gothic" panose="020B0600070205080204" pitchFamily="50" charset="-128"/>
              </a:rPr>
              <a:t> </a:t>
            </a:r>
            <a:r>
              <a:rPr lang="en-US" altLang="ja-JP" sz="1400" b="0" dirty="0" err="1">
                <a:ea typeface="MS UI Gothic" panose="020B0600070205080204" pitchFamily="50" charset="-128"/>
              </a:rPr>
              <a:t>lương</a:t>
            </a:r>
            <a:r>
              <a:rPr lang="ja-JP" altLang="en-US" sz="1400" b="0" dirty="0">
                <a:ea typeface="MS UI Gothic" panose="020B0600070205080204" pitchFamily="50" charset="-128"/>
              </a:rPr>
              <a:t>（）</a:t>
            </a:r>
          </a:p>
        </p:txBody>
      </p:sp>
      <p:sp>
        <p:nvSpPr>
          <p:cNvPr id="24" name="AutoShape 68">
            <a:extLst>
              <a:ext uri="{FF2B5EF4-FFF2-40B4-BE49-F238E27FC236}">
                <a16:creationId xmlns:a16="http://schemas.microsoft.com/office/drawing/2014/main" id="{4C836EF0-0757-DF24-F030-DCB3DE111C9E}"/>
              </a:ext>
            </a:extLst>
          </p:cNvPr>
          <p:cNvSpPr>
            <a:spLocks/>
          </p:cNvSpPr>
          <p:nvPr/>
        </p:nvSpPr>
        <p:spPr bwMode="auto">
          <a:xfrm rot="16200000">
            <a:off x="2587225" y="3997723"/>
            <a:ext cx="234949" cy="3428200"/>
          </a:xfrm>
          <a:prstGeom prst="leftBrace">
            <a:avLst>
              <a:gd name="adj1" fmla="val 95671"/>
              <a:gd name="adj2" fmla="val 50000"/>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endParaRPr lang="ja-JP" altLang="en-US"/>
          </a:p>
        </p:txBody>
      </p:sp>
      <p:sp>
        <p:nvSpPr>
          <p:cNvPr id="25" name="Text Box 69">
            <a:extLst>
              <a:ext uri="{FF2B5EF4-FFF2-40B4-BE49-F238E27FC236}">
                <a16:creationId xmlns:a16="http://schemas.microsoft.com/office/drawing/2014/main" id="{F8FE6A1C-F7BB-4670-8DB5-B02A3B6E2A69}"/>
              </a:ext>
            </a:extLst>
          </p:cNvPr>
          <p:cNvSpPr txBox="1">
            <a:spLocks noChangeArrowheads="1"/>
          </p:cNvSpPr>
          <p:nvPr/>
        </p:nvSpPr>
        <p:spPr bwMode="auto">
          <a:xfrm>
            <a:off x="556899" y="5863800"/>
            <a:ext cx="4522787" cy="527050"/>
          </a:xfrm>
          <a:prstGeom prst="rect">
            <a:avLst/>
          </a:prstGeom>
          <a:solidFill>
            <a:srgbClr val="FFFFCC"/>
          </a:solidFill>
          <a:ln w="19050" algn="ctr">
            <a:solidFill>
              <a:srgbClr val="FF00FF"/>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3" tIns="19046"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dirty="0">
                <a:ea typeface="MS UI Gothic" panose="020B0600070205080204" pitchFamily="50" charset="-128"/>
              </a:rPr>
              <a:t>Phải </a:t>
            </a:r>
            <a:r>
              <a:rPr lang="en-US" altLang="ja-JP" b="0" dirty="0" err="1">
                <a:ea typeface="MS UI Gothic" panose="020B0600070205080204" pitchFamily="50" charset="-128"/>
              </a:rPr>
              <a:t>mô</a:t>
            </a:r>
            <a:r>
              <a:rPr lang="en-US" altLang="ja-JP" b="0" dirty="0">
                <a:ea typeface="MS UI Gothic" panose="020B0600070205080204" pitchFamily="50" charset="-128"/>
              </a:rPr>
              <a:t> tả </a:t>
            </a:r>
            <a:r>
              <a:rPr lang="en-US" altLang="ja-JP" b="0" dirty="0" err="1">
                <a:ea typeface="MS UI Gothic" panose="020B0600070205080204" pitchFamily="50" charset="-128"/>
              </a:rPr>
              <a:t>nội</a:t>
            </a:r>
            <a:r>
              <a:rPr lang="en-US" altLang="ja-JP" b="0" dirty="0">
                <a:ea typeface="MS UI Gothic" panose="020B0600070205080204" pitchFamily="50" charset="-128"/>
              </a:rPr>
              <a:t> dung </a:t>
            </a:r>
            <a:r>
              <a:rPr lang="en-US" altLang="ja-JP" b="0" dirty="0" err="1">
                <a:ea typeface="MS UI Gothic" panose="020B0600070205080204" pitchFamily="50" charset="-128"/>
              </a:rPr>
              <a:t>giống</a:t>
            </a:r>
            <a:r>
              <a:rPr lang="en-US" altLang="ja-JP" b="0" dirty="0">
                <a:ea typeface="MS UI Gothic" panose="020B0600070205080204" pitchFamily="50" charset="-128"/>
              </a:rPr>
              <a:t> </a:t>
            </a:r>
            <a:r>
              <a:rPr lang="en-US" altLang="ja-JP" b="0" dirty="0" err="1">
                <a:ea typeface="MS UI Gothic" panose="020B0600070205080204" pitchFamily="50" charset="-128"/>
              </a:rPr>
              <a:t>nhau</a:t>
            </a:r>
            <a:r>
              <a:rPr lang="en-US" altLang="ja-JP" b="0" dirty="0">
                <a:ea typeface="MS UI Gothic" panose="020B0600070205080204" pitchFamily="50" charset="-128"/>
              </a:rPr>
              <a:t> ở </a:t>
            </a:r>
            <a:r>
              <a:rPr lang="en-US" altLang="ja-JP" b="0" dirty="0" err="1">
                <a:ea typeface="MS UI Gothic" panose="020B0600070205080204" pitchFamily="50" charset="-128"/>
              </a:rPr>
              <a:t>nhiều</a:t>
            </a:r>
            <a:r>
              <a:rPr lang="en-US" altLang="ja-JP" b="0" dirty="0">
                <a:ea typeface="MS UI Gothic" panose="020B0600070205080204" pitchFamily="50" charset="-128"/>
              </a:rPr>
              <a:t> </a:t>
            </a:r>
            <a:r>
              <a:rPr lang="en-US" altLang="ja-JP" b="0" dirty="0" err="1">
                <a:ea typeface="MS UI Gothic" panose="020B0600070205080204" pitchFamily="50" charset="-128"/>
              </a:rPr>
              <a:t>chô</a:t>
            </a:r>
            <a:r>
              <a:rPr lang="en-US" altLang="ja-JP" b="0" dirty="0">
                <a:ea typeface="MS UI Gothic" panose="020B0600070205080204" pitchFamily="50" charset="-128"/>
              </a:rPr>
              <a:t>̃</a:t>
            </a:r>
            <a:endParaRPr lang="en-US" altLang="ja-JP" sz="800" b="0" dirty="0">
              <a:latin typeface="ＭＳ Ｐゴシック" panose="020B0600070205080204" pitchFamily="50" charset="-128"/>
              <a:ea typeface="MS UI Gothic" panose="020B0600070205080204" pitchFamily="50" charset="-128"/>
            </a:endParaRPr>
          </a:p>
        </p:txBody>
      </p:sp>
      <p:pic>
        <p:nvPicPr>
          <p:cNvPr id="26" name="Picture 72">
            <a:extLst>
              <a:ext uri="{FF2B5EF4-FFF2-40B4-BE49-F238E27FC236}">
                <a16:creationId xmlns:a16="http://schemas.microsoft.com/office/drawing/2014/main" id="{738A8BBB-3D8E-CE74-BB29-E8AF4DBE3D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4498974"/>
            <a:ext cx="427037" cy="382587"/>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73">
            <a:extLst>
              <a:ext uri="{FF2B5EF4-FFF2-40B4-BE49-F238E27FC236}">
                <a16:creationId xmlns:a16="http://schemas.microsoft.com/office/drawing/2014/main" id="{033CB055-D2FA-785D-CD7F-C042ABBBD4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4470676"/>
            <a:ext cx="425450" cy="3937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74">
            <a:extLst>
              <a:ext uri="{FF2B5EF4-FFF2-40B4-BE49-F238E27FC236}">
                <a16:creationId xmlns:a16="http://schemas.microsoft.com/office/drawing/2014/main" id="{CCF85033-3698-DEFC-E468-6ED383C9B2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0241" y="4546600"/>
            <a:ext cx="396875" cy="384175"/>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75">
            <a:extLst>
              <a:ext uri="{FF2B5EF4-FFF2-40B4-BE49-F238E27FC236}">
                <a16:creationId xmlns:a16="http://schemas.microsoft.com/office/drawing/2014/main" id="{A25CA500-780E-69AC-7578-852AE3E938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22948" y="3320107"/>
            <a:ext cx="379412" cy="327025"/>
          </a:xfrm>
          <a:prstGeom prst="rect">
            <a:avLst/>
          </a:prstGeom>
          <a:noFill/>
          <a:extLst>
            <a:ext uri="{909E8E84-426E-40DD-AFC4-6F175D3DCCD1}">
              <a14:hiddenFill xmlns:a14="http://schemas.microsoft.com/office/drawing/2010/main">
                <a:solidFill>
                  <a:srgbClr val="FFFFFF"/>
                </a:solidFill>
              </a14:hiddenFill>
            </a:ext>
          </a:extLst>
        </p:spPr>
      </p:pic>
      <p:sp>
        <p:nvSpPr>
          <p:cNvPr id="30" name="Text Box 76">
            <a:extLst>
              <a:ext uri="{FF2B5EF4-FFF2-40B4-BE49-F238E27FC236}">
                <a16:creationId xmlns:a16="http://schemas.microsoft.com/office/drawing/2014/main" id="{33158265-48F3-24D4-30D5-F137C6453BF5}"/>
              </a:ext>
            </a:extLst>
          </p:cNvPr>
          <p:cNvSpPr txBox="1">
            <a:spLocks noChangeArrowheads="1"/>
          </p:cNvSpPr>
          <p:nvPr/>
        </p:nvSpPr>
        <p:spPr bwMode="auto">
          <a:xfrm>
            <a:off x="7205448" y="3702602"/>
            <a:ext cx="1255712" cy="338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en-US" altLang="ja-JP" b="0" dirty="0" err="1">
                <a:ea typeface="MS UI Gothic" panose="020B0600070205080204" pitchFamily="50" charset="-128"/>
              </a:rPr>
              <a:t>Nhân</a:t>
            </a:r>
            <a:r>
              <a:rPr lang="en-US" altLang="ja-JP" b="0" dirty="0">
                <a:ea typeface="MS UI Gothic" panose="020B0600070205080204" pitchFamily="50" charset="-128"/>
              </a:rPr>
              <a:t> </a:t>
            </a:r>
            <a:r>
              <a:rPr lang="en-US" altLang="ja-JP" b="0" dirty="0" err="1">
                <a:ea typeface="MS UI Gothic" panose="020B0600070205080204" pitchFamily="50" charset="-128"/>
              </a:rPr>
              <a:t>viên</a:t>
            </a:r>
            <a:endParaRPr lang="en-US" altLang="ja-JP" b="0" dirty="0">
              <a:ea typeface="MS UI Gothic" panose="020B0600070205080204" pitchFamily="50" charset="-128"/>
            </a:endParaRPr>
          </a:p>
        </p:txBody>
      </p:sp>
      <p:sp>
        <p:nvSpPr>
          <p:cNvPr id="31" name="Text Box 77">
            <a:extLst>
              <a:ext uri="{FF2B5EF4-FFF2-40B4-BE49-F238E27FC236}">
                <a16:creationId xmlns:a16="http://schemas.microsoft.com/office/drawing/2014/main" id="{ED4DB485-DCA9-4DF9-9AAB-45E46AF0D418}"/>
              </a:ext>
            </a:extLst>
          </p:cNvPr>
          <p:cNvSpPr txBox="1">
            <a:spLocks noChangeArrowheads="1"/>
          </p:cNvSpPr>
          <p:nvPr/>
        </p:nvSpPr>
        <p:spPr bwMode="auto">
          <a:xfrm>
            <a:off x="9108503" y="4892675"/>
            <a:ext cx="636588"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en-US" altLang="ja-JP" sz="800" b="0">
                <a:ea typeface="MS UI Gothic" panose="020B0600070205080204" pitchFamily="50" charset="-128"/>
              </a:rPr>
              <a:t>Kế hoạch</a:t>
            </a:r>
          </a:p>
        </p:txBody>
      </p:sp>
      <p:sp>
        <p:nvSpPr>
          <p:cNvPr id="32" name="Text Box 78">
            <a:extLst>
              <a:ext uri="{FF2B5EF4-FFF2-40B4-BE49-F238E27FC236}">
                <a16:creationId xmlns:a16="http://schemas.microsoft.com/office/drawing/2014/main" id="{6F912837-3AF7-20CC-617C-03ED3B92BF57}"/>
              </a:ext>
            </a:extLst>
          </p:cNvPr>
          <p:cNvSpPr txBox="1">
            <a:spLocks noChangeArrowheads="1"/>
          </p:cNvSpPr>
          <p:nvPr/>
        </p:nvSpPr>
        <p:spPr bwMode="auto">
          <a:xfrm>
            <a:off x="7522948" y="4893006"/>
            <a:ext cx="791801" cy="215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en-US" altLang="ja-JP" sz="800" b="0" dirty="0">
                <a:ea typeface="MS UI Gothic" panose="020B0600070205080204" pitchFamily="50" charset="-128"/>
              </a:rPr>
              <a:t>Kinh </a:t>
            </a:r>
            <a:r>
              <a:rPr lang="en-US" altLang="ja-JP" sz="800" b="0" dirty="0" err="1">
                <a:ea typeface="MS UI Gothic" panose="020B0600070205080204" pitchFamily="50" charset="-128"/>
              </a:rPr>
              <a:t>doanh</a:t>
            </a:r>
            <a:endParaRPr lang="en-US" altLang="ja-JP" sz="800" b="0" dirty="0">
              <a:ea typeface="MS UI Gothic" panose="020B0600070205080204" pitchFamily="50" charset="-128"/>
            </a:endParaRPr>
          </a:p>
        </p:txBody>
      </p:sp>
      <p:sp>
        <p:nvSpPr>
          <p:cNvPr id="33" name="Text Box 79">
            <a:extLst>
              <a:ext uri="{FF2B5EF4-FFF2-40B4-BE49-F238E27FC236}">
                <a16:creationId xmlns:a16="http://schemas.microsoft.com/office/drawing/2014/main" id="{5D64ACD2-5A8C-D1E4-F422-EBCAD0632666}"/>
              </a:ext>
            </a:extLst>
          </p:cNvPr>
          <p:cNvSpPr txBox="1">
            <a:spLocks noChangeArrowheads="1"/>
          </p:cNvSpPr>
          <p:nvPr/>
        </p:nvSpPr>
        <p:spPr bwMode="auto">
          <a:xfrm>
            <a:off x="6818312" y="4838700"/>
            <a:ext cx="42545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ja-JP" altLang="en-US" sz="800" b="0">
                <a:latin typeface="MS UI Gothic" panose="020B0600070205080204" pitchFamily="50" charset="-128"/>
                <a:ea typeface="MS UI Gothic" panose="020B0600070205080204" pitchFamily="50" charset="-128"/>
              </a:rPr>
              <a:t>ＳＥ</a:t>
            </a:r>
          </a:p>
        </p:txBody>
      </p:sp>
      <p:cxnSp>
        <p:nvCxnSpPr>
          <p:cNvPr id="34" name="AutoShape 80">
            <a:extLst>
              <a:ext uri="{FF2B5EF4-FFF2-40B4-BE49-F238E27FC236}">
                <a16:creationId xmlns:a16="http://schemas.microsoft.com/office/drawing/2014/main" id="{F4A52815-3973-16D0-48A5-3E892B69E8DD}"/>
              </a:ext>
            </a:extLst>
          </p:cNvPr>
          <p:cNvCxnSpPr>
            <a:cxnSpLocks noChangeShapeType="1"/>
            <a:endCxn id="37" idx="3"/>
          </p:cNvCxnSpPr>
          <p:nvPr/>
        </p:nvCxnSpPr>
        <p:spPr bwMode="auto">
          <a:xfrm flipV="1">
            <a:off x="7709908" y="4264025"/>
            <a:ext cx="1" cy="34000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AutoShape 81">
            <a:extLst>
              <a:ext uri="{FF2B5EF4-FFF2-40B4-BE49-F238E27FC236}">
                <a16:creationId xmlns:a16="http://schemas.microsoft.com/office/drawing/2014/main" id="{DF8C4DC8-1D8A-F6A0-4DEB-4B580E6AD7C2}"/>
              </a:ext>
            </a:extLst>
          </p:cNvPr>
          <p:cNvCxnSpPr>
            <a:cxnSpLocks noChangeShapeType="1"/>
            <a:stCxn id="26" idx="0"/>
          </p:cNvCxnSpPr>
          <p:nvPr/>
        </p:nvCxnSpPr>
        <p:spPr bwMode="auto">
          <a:xfrm rot="5400000" flipH="1" flipV="1">
            <a:off x="6876714" y="3626981"/>
            <a:ext cx="304799" cy="1439189"/>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AutoShape 82">
            <a:extLst>
              <a:ext uri="{FF2B5EF4-FFF2-40B4-BE49-F238E27FC236}">
                <a16:creationId xmlns:a16="http://schemas.microsoft.com/office/drawing/2014/main" id="{67C7ED66-A4DF-DF80-FE47-528196456DC1}"/>
              </a:ext>
            </a:extLst>
          </p:cNvPr>
          <p:cNvCxnSpPr>
            <a:cxnSpLocks noChangeShapeType="1"/>
            <a:stCxn id="28" idx="0"/>
            <a:endCxn id="29" idx="2"/>
          </p:cNvCxnSpPr>
          <p:nvPr/>
        </p:nvCxnSpPr>
        <p:spPr bwMode="auto">
          <a:xfrm rot="16200000" flipV="1">
            <a:off x="8025933" y="3333853"/>
            <a:ext cx="899468" cy="1526025"/>
          </a:xfrm>
          <a:prstGeom prst="bentConnector3">
            <a:avLst>
              <a:gd name="adj1" fmla="val 38928"/>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AutoShape 83">
            <a:extLst>
              <a:ext uri="{FF2B5EF4-FFF2-40B4-BE49-F238E27FC236}">
                <a16:creationId xmlns:a16="http://schemas.microsoft.com/office/drawing/2014/main" id="{3770522B-84ED-5F0B-F1A9-0AD4ACF2D10A}"/>
              </a:ext>
            </a:extLst>
          </p:cNvPr>
          <p:cNvSpPr>
            <a:spLocks noChangeArrowheads="1"/>
          </p:cNvSpPr>
          <p:nvPr/>
        </p:nvSpPr>
        <p:spPr bwMode="auto">
          <a:xfrm>
            <a:off x="7659902" y="4194175"/>
            <a:ext cx="100013" cy="69850"/>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38" name="AutoShape 84">
            <a:extLst>
              <a:ext uri="{FF2B5EF4-FFF2-40B4-BE49-F238E27FC236}">
                <a16:creationId xmlns:a16="http://schemas.microsoft.com/office/drawing/2014/main" id="{ACEC55F1-AFD0-2A68-B908-797754EBB2F6}"/>
              </a:ext>
            </a:extLst>
          </p:cNvPr>
          <p:cNvSpPr>
            <a:spLocks noChangeArrowheads="1"/>
          </p:cNvSpPr>
          <p:nvPr/>
        </p:nvSpPr>
        <p:spPr bwMode="auto">
          <a:xfrm>
            <a:off x="5825325" y="5154613"/>
            <a:ext cx="1685138" cy="555625"/>
          </a:xfrm>
          <a:prstGeom prst="wedgeRoundRectCallout">
            <a:avLst>
              <a:gd name="adj1" fmla="val -21738"/>
              <a:gd name="adj2" fmla="val -82063"/>
              <a:gd name="adj3" fmla="val 16667"/>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46800" tIns="54000"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en-US" altLang="ja-JP" sz="1400" b="0" dirty="0" err="1">
                <a:ea typeface="MS UI Gothic" panose="020B0600070205080204" pitchFamily="50" charset="-128"/>
              </a:rPr>
              <a:t>Tính</a:t>
            </a:r>
            <a:r>
              <a:rPr lang="en-US" altLang="ja-JP" sz="1400" b="0" dirty="0">
                <a:ea typeface="MS UI Gothic" panose="020B0600070205080204" pitchFamily="50" charset="-128"/>
              </a:rPr>
              <a:t> </a:t>
            </a:r>
            <a:r>
              <a:rPr lang="en-US" altLang="ja-JP" sz="1400" b="0" dirty="0" err="1">
                <a:ea typeface="MS UI Gothic" panose="020B0600070205080204" pitchFamily="50" charset="-128"/>
              </a:rPr>
              <a:t>toán</a:t>
            </a:r>
            <a:r>
              <a:rPr lang="en-US" altLang="ja-JP" sz="1400" b="0" dirty="0">
                <a:ea typeface="MS UI Gothic" panose="020B0600070205080204" pitchFamily="50" charset="-128"/>
              </a:rPr>
              <a:t> </a:t>
            </a:r>
            <a:r>
              <a:rPr lang="en-US" altLang="ja-JP" sz="1400" b="0" dirty="0" err="1">
                <a:ea typeface="MS UI Gothic" panose="020B0600070205080204" pitchFamily="50" charset="-128"/>
              </a:rPr>
              <a:t>lương</a:t>
            </a:r>
            <a:r>
              <a:rPr lang="ja-JP" altLang="en-US" sz="1400" b="0" dirty="0">
                <a:ea typeface="MS UI Gothic" panose="020B0600070205080204" pitchFamily="50" charset="-128"/>
              </a:rPr>
              <a:t>（）</a:t>
            </a:r>
          </a:p>
          <a:p>
            <a:pPr algn="just"/>
            <a:r>
              <a:rPr lang="en-US" altLang="ja-JP" sz="1400" b="0" dirty="0">
                <a:ea typeface="MS UI Gothic" panose="020B0600070205080204" pitchFamily="50" charset="-128"/>
              </a:rPr>
              <a:t>SE</a:t>
            </a:r>
            <a:endParaRPr lang="en-US" altLang="ja-JP" sz="700" dirty="0">
              <a:latin typeface="MS UI Gothic" panose="020B0600070205080204" pitchFamily="50" charset="-128"/>
              <a:ea typeface="MS UI Gothic" panose="020B0600070205080204" pitchFamily="50" charset="-128"/>
            </a:endParaRPr>
          </a:p>
        </p:txBody>
      </p:sp>
      <p:sp>
        <p:nvSpPr>
          <p:cNvPr id="39" name="AutoShape 85">
            <a:extLst>
              <a:ext uri="{FF2B5EF4-FFF2-40B4-BE49-F238E27FC236}">
                <a16:creationId xmlns:a16="http://schemas.microsoft.com/office/drawing/2014/main" id="{813735A5-A3D4-C242-B6C5-985FC077F3B8}"/>
              </a:ext>
            </a:extLst>
          </p:cNvPr>
          <p:cNvSpPr>
            <a:spLocks noChangeArrowheads="1"/>
          </p:cNvSpPr>
          <p:nvPr/>
        </p:nvSpPr>
        <p:spPr bwMode="auto">
          <a:xfrm>
            <a:off x="8156989" y="3544094"/>
            <a:ext cx="1776537" cy="261938"/>
          </a:xfrm>
          <a:prstGeom prst="wedgeRoundRectCallout">
            <a:avLst>
              <a:gd name="adj1" fmla="val -70102"/>
              <a:gd name="adj2" fmla="val 5153"/>
              <a:gd name="adj3" fmla="val 16667"/>
            </a:avLst>
          </a:prstGeom>
          <a:solidFill>
            <a:srgbClr val="FFFFCC"/>
          </a:solidFill>
          <a:ln w="9525"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46800" tIns="54000"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just"/>
            <a:r>
              <a:rPr lang="en-US" altLang="ja-JP" b="0">
                <a:ea typeface="MS UI Gothic" panose="020B0600070205080204" pitchFamily="50" charset="-128"/>
              </a:rPr>
              <a:t>Tính toán lương</a:t>
            </a:r>
            <a:r>
              <a:rPr lang="ja-JP" altLang="en-US" b="0">
                <a:ea typeface="MS UI Gothic" panose="020B0600070205080204" pitchFamily="50" charset="-128"/>
              </a:rPr>
              <a:t>（）</a:t>
            </a:r>
          </a:p>
        </p:txBody>
      </p:sp>
      <p:sp>
        <p:nvSpPr>
          <p:cNvPr id="40" name="Text Box 86">
            <a:extLst>
              <a:ext uri="{FF2B5EF4-FFF2-40B4-BE49-F238E27FC236}">
                <a16:creationId xmlns:a16="http://schemas.microsoft.com/office/drawing/2014/main" id="{A09124E3-BED6-C8C3-C277-6CDE22929CF3}"/>
              </a:ext>
            </a:extLst>
          </p:cNvPr>
          <p:cNvSpPr txBox="1">
            <a:spLocks noChangeArrowheads="1"/>
          </p:cNvSpPr>
          <p:nvPr/>
        </p:nvSpPr>
        <p:spPr bwMode="auto">
          <a:xfrm>
            <a:off x="7550149" y="5151438"/>
            <a:ext cx="2227384" cy="792162"/>
          </a:xfrm>
          <a:prstGeom prst="rect">
            <a:avLst/>
          </a:prstGeom>
          <a:solidFill>
            <a:srgbClr val="FFFFCC"/>
          </a:solidFill>
          <a:ln w="19050" algn="ctr">
            <a:solidFill>
              <a:srgbClr val="FF00FF"/>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3" tIns="19046" rIns="9523" bIns="9523"/>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800" b="0" dirty="0" err="1">
                <a:ea typeface="MS UI Gothic" panose="020B0600070205080204" pitchFamily="50" charset="-128"/>
              </a:rPr>
              <a:t>Vê</a:t>
            </a:r>
            <a:r>
              <a:rPr lang="en-US" altLang="ja-JP" sz="800" b="0" dirty="0">
                <a:ea typeface="MS UI Gothic" panose="020B0600070205080204" pitchFamily="50" charset="-128"/>
              </a:rPr>
              <a:t>̀ </a:t>
            </a:r>
            <a:r>
              <a:rPr lang="en-US" altLang="ja-JP" sz="800" b="0" dirty="0" err="1">
                <a:ea typeface="MS UI Gothic" panose="020B0600070205080204" pitchFamily="50" charset="-128"/>
              </a:rPr>
              <a:t>phía</a:t>
            </a:r>
            <a:r>
              <a:rPr lang="en-US" altLang="ja-JP" sz="800" b="0" dirty="0">
                <a:ea typeface="MS UI Gothic" panose="020B0600070205080204" pitchFamily="50" charset="-128"/>
              </a:rPr>
              <a:t> </a:t>
            </a:r>
            <a:r>
              <a:rPr lang="en-US" altLang="ja-JP" sz="800" b="0" dirty="0" err="1">
                <a:ea typeface="MS UI Gothic" panose="020B0600070205080204" pitchFamily="50" charset="-128"/>
              </a:rPr>
              <a:t>gọi</a:t>
            </a:r>
            <a:r>
              <a:rPr lang="en-US" altLang="ja-JP" sz="800" b="0" dirty="0">
                <a:ea typeface="MS UI Gothic" panose="020B0600070205080204" pitchFamily="50" charset="-128"/>
              </a:rPr>
              <a:t> </a:t>
            </a:r>
            <a:r>
              <a:rPr lang="en-US" altLang="ja-JP" sz="800" b="0" dirty="0" err="1">
                <a:ea typeface="MS UI Gothic" panose="020B0600070205080204" pitchFamily="50" charset="-128"/>
              </a:rPr>
              <a:t>ra</a:t>
            </a:r>
            <a:r>
              <a:rPr lang="en-US" altLang="ja-JP" sz="800" b="0" dirty="0">
                <a:ea typeface="MS UI Gothic" panose="020B0600070205080204" pitchFamily="50" charset="-128"/>
              </a:rPr>
              <a:t> </a:t>
            </a:r>
            <a:r>
              <a:rPr lang="en-US" altLang="ja-JP" sz="800" b="0" dirty="0" err="1">
                <a:ea typeface="MS UI Gothic" panose="020B0600070205080204" pitchFamily="50" charset="-128"/>
              </a:rPr>
              <a:t>tính</a:t>
            </a:r>
            <a:r>
              <a:rPr lang="en-US" altLang="ja-JP" sz="800" b="0" dirty="0">
                <a:ea typeface="MS UI Gothic" panose="020B0600070205080204" pitchFamily="50" charset="-128"/>
              </a:rPr>
              <a:t> </a:t>
            </a:r>
            <a:r>
              <a:rPr lang="en-US" altLang="ja-JP" sz="800" b="0" dirty="0" err="1">
                <a:ea typeface="MS UI Gothic" panose="020B0600070205080204" pitchFamily="50" charset="-128"/>
              </a:rPr>
              <a:t>toán</a:t>
            </a:r>
            <a:r>
              <a:rPr lang="en-US" altLang="ja-JP" sz="800" b="0" dirty="0">
                <a:ea typeface="MS UI Gothic" panose="020B0600070205080204" pitchFamily="50" charset="-128"/>
              </a:rPr>
              <a:t> </a:t>
            </a:r>
            <a:r>
              <a:rPr lang="en-US" altLang="ja-JP" sz="800" b="0" dirty="0" err="1">
                <a:ea typeface="MS UI Gothic" panose="020B0600070205080204" pitchFamily="50" charset="-128"/>
              </a:rPr>
              <a:t>lương</a:t>
            </a:r>
            <a:r>
              <a:rPr lang="en-US" altLang="ja-JP" sz="800" b="0" dirty="0">
                <a:ea typeface="MS UI Gothic" panose="020B0600070205080204" pitchFamily="50" charset="-128"/>
              </a:rPr>
              <a:t> </a:t>
            </a:r>
            <a:r>
              <a:rPr lang="en-US" altLang="ja-JP" sz="800" b="0" dirty="0" err="1">
                <a:ea typeface="MS UI Gothic" panose="020B0600070205080204" pitchFamily="50" charset="-128"/>
              </a:rPr>
              <a:t>thi</a:t>
            </a:r>
            <a:r>
              <a:rPr lang="en-US" altLang="ja-JP" sz="800" b="0" dirty="0">
                <a:ea typeface="MS UI Gothic" panose="020B0600070205080204" pitchFamily="50" charset="-128"/>
              </a:rPr>
              <a:t>̀ </a:t>
            </a:r>
            <a:r>
              <a:rPr lang="en-US" altLang="ja-JP" sz="800" b="0" dirty="0" err="1">
                <a:ea typeface="MS UI Gothic" panose="020B0600070205080204" pitchFamily="50" charset="-128"/>
              </a:rPr>
              <a:t>phải</a:t>
            </a:r>
            <a:r>
              <a:rPr lang="en-US" altLang="ja-JP" sz="800" b="0" dirty="0">
                <a:ea typeface="MS UI Gothic" panose="020B0600070205080204" pitchFamily="50" charset="-128"/>
              </a:rPr>
              <a:t> </a:t>
            </a:r>
            <a:r>
              <a:rPr lang="en-US" altLang="ja-JP" sz="800" b="0" dirty="0" err="1">
                <a:ea typeface="MS UI Gothic" panose="020B0600070205080204" pitchFamily="50" charset="-128"/>
              </a:rPr>
              <a:t>phân</a:t>
            </a:r>
            <a:r>
              <a:rPr lang="en-US" altLang="ja-JP" sz="800" b="0" dirty="0">
                <a:ea typeface="MS UI Gothic" panose="020B0600070205080204" pitchFamily="50" charset="-128"/>
              </a:rPr>
              <a:t> chia </a:t>
            </a:r>
            <a:r>
              <a:rPr lang="en-US" altLang="ja-JP" sz="800" b="0" dirty="0" err="1">
                <a:ea typeface="MS UI Gothic" panose="020B0600070205080204" pitchFamily="50" charset="-128"/>
              </a:rPr>
              <a:t>sư</a:t>
            </a:r>
            <a:r>
              <a:rPr lang="en-US" altLang="ja-JP" sz="800" b="0" dirty="0">
                <a:ea typeface="MS UI Gothic" panose="020B0600070205080204" pitchFamily="50" charset="-128"/>
              </a:rPr>
              <a:t>̉ </a:t>
            </a:r>
            <a:r>
              <a:rPr lang="en-US" altLang="ja-JP" sz="800" b="0" dirty="0" err="1">
                <a:ea typeface="MS UI Gothic" panose="020B0600070205080204" pitchFamily="50" charset="-128"/>
              </a:rPr>
              <a:t>dụng</a:t>
            </a:r>
            <a:r>
              <a:rPr lang="en-US" altLang="ja-JP" sz="800" b="0" dirty="0">
                <a:ea typeface="MS UI Gothic" panose="020B0600070205080204" pitchFamily="50" charset="-128"/>
              </a:rPr>
              <a:t> </a:t>
            </a:r>
            <a:r>
              <a:rPr lang="en-US" altLang="ja-JP" sz="800" b="0" dirty="0" err="1">
                <a:ea typeface="MS UI Gothic" panose="020B0600070205080204" pitchFamily="50" charset="-128"/>
              </a:rPr>
              <a:t>nhiều</a:t>
            </a:r>
            <a:r>
              <a:rPr lang="en-US" altLang="ja-JP" sz="800" b="0" dirty="0">
                <a:ea typeface="MS UI Gothic" panose="020B0600070205080204" pitchFamily="50" charset="-128"/>
              </a:rPr>
              <a:t> method name</a:t>
            </a:r>
          </a:p>
          <a:p>
            <a:r>
              <a:rPr lang="ja-JP" altLang="en-US" sz="800" b="0" dirty="0">
                <a:ea typeface="MS UI Gothic" panose="020B0600070205080204" pitchFamily="50" charset="-128"/>
              </a:rPr>
              <a:t>　</a:t>
            </a:r>
            <a:r>
              <a:rPr lang="en-US" altLang="ja-JP" sz="800" b="0" dirty="0" err="1">
                <a:ea typeface="MS UI Gothic" panose="020B0600070205080204" pitchFamily="50" charset="-128"/>
              </a:rPr>
              <a:t>Đối</a:t>
            </a:r>
            <a:r>
              <a:rPr lang="en-US" altLang="ja-JP" sz="800" b="0" dirty="0">
                <a:ea typeface="MS UI Gothic" panose="020B0600070205080204" pitchFamily="50" charset="-128"/>
              </a:rPr>
              <a:t> </a:t>
            </a:r>
            <a:r>
              <a:rPr lang="en-US" altLang="ja-JP" sz="800" b="0" dirty="0" err="1">
                <a:ea typeface="MS UI Gothic" panose="020B0600070205080204" pitchFamily="50" charset="-128"/>
              </a:rPr>
              <a:t>với</a:t>
            </a:r>
            <a:r>
              <a:rPr lang="en-US" altLang="ja-JP" sz="800" b="0" dirty="0">
                <a:ea typeface="MS UI Gothic" panose="020B0600070205080204" pitchFamily="50" charset="-128"/>
              </a:rPr>
              <a:t> SE </a:t>
            </a:r>
            <a:r>
              <a:rPr lang="en-US" altLang="ja-JP" sz="800" b="0" dirty="0" err="1">
                <a:ea typeface="MS UI Gothic" panose="020B0600070205080204" pitchFamily="50" charset="-128"/>
              </a:rPr>
              <a:t>thi</a:t>
            </a:r>
            <a:r>
              <a:rPr lang="en-US" altLang="ja-JP" sz="800" b="0" dirty="0">
                <a:ea typeface="MS UI Gothic" panose="020B0600070205080204" pitchFamily="50" charset="-128"/>
              </a:rPr>
              <a:t>̀ là </a:t>
            </a:r>
            <a:r>
              <a:rPr lang="ja-JP" altLang="en-US" sz="800" b="0" dirty="0">
                <a:ea typeface="MS UI Gothic" panose="020B0600070205080204" pitchFamily="50" charset="-128"/>
              </a:rPr>
              <a:t>「</a:t>
            </a:r>
            <a:r>
              <a:rPr lang="en-US" altLang="ja-JP" sz="800" b="0" dirty="0" err="1">
                <a:ea typeface="MS UI Gothic" panose="020B0600070205080204" pitchFamily="50" charset="-128"/>
              </a:rPr>
              <a:t>Tính</a:t>
            </a:r>
            <a:r>
              <a:rPr lang="en-US" altLang="ja-JP" sz="800" b="0" dirty="0">
                <a:ea typeface="MS UI Gothic" panose="020B0600070205080204" pitchFamily="50" charset="-128"/>
              </a:rPr>
              <a:t> </a:t>
            </a:r>
            <a:r>
              <a:rPr lang="en-US" altLang="ja-JP" sz="800" b="0" dirty="0" err="1">
                <a:ea typeface="MS UI Gothic" panose="020B0600070205080204" pitchFamily="50" charset="-128"/>
              </a:rPr>
              <a:t>toán</a:t>
            </a:r>
            <a:r>
              <a:rPr lang="en-US" altLang="ja-JP" sz="800" b="0" dirty="0">
                <a:ea typeface="MS UI Gothic" panose="020B0600070205080204" pitchFamily="50" charset="-128"/>
              </a:rPr>
              <a:t> </a:t>
            </a:r>
            <a:r>
              <a:rPr lang="en-US" altLang="ja-JP" sz="800" b="0" dirty="0" err="1">
                <a:ea typeface="MS UI Gothic" panose="020B0600070205080204" pitchFamily="50" charset="-128"/>
              </a:rPr>
              <a:t>lương</a:t>
            </a:r>
            <a:r>
              <a:rPr lang="en-US" altLang="ja-JP" sz="800" b="0" dirty="0">
                <a:ea typeface="MS UI Gothic" panose="020B0600070205080204" pitchFamily="50" charset="-128"/>
              </a:rPr>
              <a:t> SE</a:t>
            </a:r>
            <a:r>
              <a:rPr lang="ja-JP" altLang="en-US" sz="800" b="0" dirty="0">
                <a:ea typeface="MS UI Gothic" panose="020B0600070205080204" pitchFamily="50" charset="-128"/>
              </a:rPr>
              <a:t>」</a:t>
            </a:r>
          </a:p>
          <a:p>
            <a:r>
              <a:rPr lang="ja-JP" altLang="en-US" sz="800" b="0" dirty="0">
                <a:ea typeface="MS UI Gothic" panose="020B0600070205080204" pitchFamily="50" charset="-128"/>
              </a:rPr>
              <a:t>　</a:t>
            </a:r>
            <a:r>
              <a:rPr lang="en-US" altLang="ja-JP" sz="800" b="0" dirty="0" err="1">
                <a:ea typeface="MS UI Gothic" panose="020B0600070205080204" pitchFamily="50" charset="-128"/>
              </a:rPr>
              <a:t>Đối</a:t>
            </a:r>
            <a:r>
              <a:rPr lang="en-US" altLang="ja-JP" sz="800" b="0" dirty="0">
                <a:ea typeface="MS UI Gothic" panose="020B0600070205080204" pitchFamily="50" charset="-128"/>
              </a:rPr>
              <a:t> </a:t>
            </a:r>
            <a:r>
              <a:rPr lang="en-US" altLang="ja-JP" sz="800" b="0" dirty="0" err="1">
                <a:ea typeface="MS UI Gothic" panose="020B0600070205080204" pitchFamily="50" charset="-128"/>
              </a:rPr>
              <a:t>với</a:t>
            </a:r>
            <a:r>
              <a:rPr lang="en-US" altLang="ja-JP" sz="800" b="0" dirty="0">
                <a:ea typeface="MS UI Gothic" panose="020B0600070205080204" pitchFamily="50" charset="-128"/>
              </a:rPr>
              <a:t> </a:t>
            </a:r>
            <a:r>
              <a:rPr lang="en-US" altLang="ja-JP" sz="800" b="0" dirty="0" err="1">
                <a:ea typeface="MS UI Gothic" panose="020B0600070205080204" pitchFamily="50" charset="-128"/>
              </a:rPr>
              <a:t>kinh</a:t>
            </a:r>
            <a:r>
              <a:rPr lang="en-US" altLang="ja-JP" sz="800" b="0" dirty="0">
                <a:ea typeface="MS UI Gothic" panose="020B0600070205080204" pitchFamily="50" charset="-128"/>
              </a:rPr>
              <a:t> </a:t>
            </a:r>
            <a:r>
              <a:rPr lang="en-US" altLang="ja-JP" sz="800" b="0" dirty="0" err="1">
                <a:ea typeface="MS UI Gothic" panose="020B0600070205080204" pitchFamily="50" charset="-128"/>
              </a:rPr>
              <a:t>doanh</a:t>
            </a:r>
            <a:r>
              <a:rPr lang="en-US" altLang="ja-JP" sz="800" b="0" dirty="0">
                <a:ea typeface="MS UI Gothic" panose="020B0600070205080204" pitchFamily="50" charset="-128"/>
              </a:rPr>
              <a:t>, </a:t>
            </a:r>
            <a:r>
              <a:rPr lang="en-US" altLang="ja-JP" sz="800" b="0" dirty="0" err="1">
                <a:ea typeface="MS UI Gothic" panose="020B0600070205080204" pitchFamily="50" charset="-128"/>
              </a:rPr>
              <a:t>kê</a:t>
            </a:r>
            <a:r>
              <a:rPr lang="en-US" altLang="ja-JP" sz="800" b="0" dirty="0">
                <a:ea typeface="MS UI Gothic" panose="020B0600070205080204" pitchFamily="50" charset="-128"/>
              </a:rPr>
              <a:t>́ </a:t>
            </a:r>
            <a:r>
              <a:rPr lang="en-US" altLang="ja-JP" sz="800" b="0" dirty="0" err="1">
                <a:ea typeface="MS UI Gothic" panose="020B0600070205080204" pitchFamily="50" charset="-128"/>
              </a:rPr>
              <a:t>hoạch</a:t>
            </a:r>
            <a:r>
              <a:rPr lang="en-US" altLang="ja-JP" sz="800" b="0" dirty="0">
                <a:ea typeface="MS UI Gothic" panose="020B0600070205080204" pitchFamily="50" charset="-128"/>
              </a:rPr>
              <a:t> </a:t>
            </a:r>
            <a:r>
              <a:rPr lang="en-US" altLang="ja-JP" sz="800" b="0" dirty="0" err="1">
                <a:ea typeface="MS UI Gothic" panose="020B0600070205080204" pitchFamily="50" charset="-128"/>
              </a:rPr>
              <a:t>thi</a:t>
            </a:r>
            <a:r>
              <a:rPr lang="en-US" altLang="ja-JP" sz="800" b="0" dirty="0">
                <a:ea typeface="MS UI Gothic" panose="020B0600070205080204" pitchFamily="50" charset="-128"/>
              </a:rPr>
              <a:t>̀ là</a:t>
            </a:r>
            <a:r>
              <a:rPr lang="ja-JP" altLang="en-US" sz="800" b="0" dirty="0">
                <a:ea typeface="MS UI Gothic" panose="020B0600070205080204" pitchFamily="50" charset="-128"/>
              </a:rPr>
              <a:t>「</a:t>
            </a:r>
            <a:r>
              <a:rPr lang="en-US" altLang="ja-JP" sz="800" b="0" dirty="0" err="1">
                <a:ea typeface="MS UI Gothic" panose="020B0600070205080204" pitchFamily="50" charset="-128"/>
              </a:rPr>
              <a:t>tính</a:t>
            </a:r>
            <a:r>
              <a:rPr lang="en-US" altLang="ja-JP" sz="800" b="0" dirty="0">
                <a:ea typeface="MS UI Gothic" panose="020B0600070205080204" pitchFamily="50" charset="-128"/>
              </a:rPr>
              <a:t> </a:t>
            </a:r>
            <a:r>
              <a:rPr lang="en-US" altLang="ja-JP" sz="800" b="0" dirty="0" err="1">
                <a:ea typeface="MS UI Gothic" panose="020B0600070205080204" pitchFamily="50" charset="-128"/>
              </a:rPr>
              <a:t>toán</a:t>
            </a:r>
            <a:r>
              <a:rPr lang="en-US" altLang="ja-JP" sz="800" b="0" dirty="0">
                <a:ea typeface="MS UI Gothic" panose="020B0600070205080204" pitchFamily="50" charset="-128"/>
              </a:rPr>
              <a:t> </a:t>
            </a:r>
            <a:r>
              <a:rPr lang="en-US" altLang="ja-JP" sz="800" b="0" dirty="0" err="1">
                <a:ea typeface="MS UI Gothic" panose="020B0600070205080204" pitchFamily="50" charset="-128"/>
              </a:rPr>
              <a:t>lương</a:t>
            </a:r>
            <a:r>
              <a:rPr lang="en-US" altLang="ja-JP" sz="800" b="0" dirty="0">
                <a:ea typeface="MS UI Gothic" panose="020B0600070205080204" pitchFamily="50" charset="-128"/>
              </a:rPr>
              <a:t>()</a:t>
            </a:r>
            <a:r>
              <a:rPr lang="ja-JP" altLang="en-US" sz="800" b="0" dirty="0">
                <a:ea typeface="MS UI Gothic" panose="020B0600070205080204" pitchFamily="50" charset="-128"/>
              </a:rPr>
              <a:t>」</a:t>
            </a:r>
          </a:p>
        </p:txBody>
      </p:sp>
      <p:sp>
        <p:nvSpPr>
          <p:cNvPr id="41" name="Line 95">
            <a:extLst>
              <a:ext uri="{FF2B5EF4-FFF2-40B4-BE49-F238E27FC236}">
                <a16:creationId xmlns:a16="http://schemas.microsoft.com/office/drawing/2014/main" id="{57B9B666-5EB7-A1A2-8F8B-DF81E183C1D5}"/>
              </a:ext>
            </a:extLst>
          </p:cNvPr>
          <p:cNvSpPr>
            <a:spLocks noChangeShapeType="1"/>
          </p:cNvSpPr>
          <p:nvPr/>
        </p:nvSpPr>
        <p:spPr bwMode="auto">
          <a:xfrm>
            <a:off x="5867400" y="3675063"/>
            <a:ext cx="0" cy="2574925"/>
          </a:xfrm>
          <a:prstGeom prst="line">
            <a:avLst/>
          </a:prstGeom>
          <a:noFill/>
          <a:ln w="127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Tree>
    <p:extLst>
      <p:ext uri="{BB962C8B-B14F-4D97-AF65-F5344CB8AC3E}">
        <p14:creationId xmlns:p14="http://schemas.microsoft.com/office/powerpoint/2010/main" val="938486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2069D-0B12-E1A7-F35F-E444C9C8A86B}"/>
              </a:ext>
            </a:extLst>
          </p:cNvPr>
          <p:cNvSpPr>
            <a:spLocks noGrp="1"/>
          </p:cNvSpPr>
          <p:nvPr>
            <p:ph type="title"/>
          </p:nvPr>
        </p:nvSpPr>
        <p:spPr/>
        <p:txBody>
          <a:bodyPr>
            <a:normAutofit fontScale="90000"/>
          </a:bodyPr>
          <a:lstStyle/>
          <a:p>
            <a:r>
              <a:rPr lang="en-US" altLang="ja-JP" dirty="0">
                <a:ea typeface="MS UI Gothic" panose="020B0600070205080204" pitchFamily="50" charset="-128"/>
              </a:rPr>
              <a:t>@Override annotation</a:t>
            </a:r>
            <a:endParaRPr kumimoji="1" lang="ja-JP" altLang="en-US" dirty="0"/>
          </a:p>
        </p:txBody>
      </p:sp>
      <p:sp>
        <p:nvSpPr>
          <p:cNvPr id="3" name="Content Placeholder 2">
            <a:extLst>
              <a:ext uri="{FF2B5EF4-FFF2-40B4-BE49-F238E27FC236}">
                <a16:creationId xmlns:a16="http://schemas.microsoft.com/office/drawing/2014/main" id="{5DECD2D5-5391-4D07-96F9-251402061741}"/>
              </a:ext>
            </a:extLst>
          </p:cNvPr>
          <p:cNvSpPr>
            <a:spLocks noGrp="1"/>
          </p:cNvSpPr>
          <p:nvPr>
            <p:ph idx="1"/>
          </p:nvPr>
        </p:nvSpPr>
        <p:spPr/>
        <p:txBody>
          <a:bodyPr>
            <a:normAutofit/>
          </a:bodyPr>
          <a:lstStyle/>
          <a:p>
            <a:pPr algn="just"/>
            <a:r>
              <a:rPr lang="en-US" altLang="ja-JP" sz="2800" dirty="0">
                <a:ea typeface="MS UI Gothic" panose="020B0600070205080204" pitchFamily="50" charset="-128"/>
              </a:rPr>
              <a:t>Annotation</a:t>
            </a:r>
          </a:p>
          <a:p>
            <a:pPr algn="just"/>
            <a:r>
              <a:rPr lang="ja-JP" altLang="en-US" sz="2800" dirty="0">
                <a:ea typeface="MS UI Gothic" panose="020B0600070205080204" pitchFamily="50" charset="-128"/>
              </a:rPr>
              <a:t>　</a:t>
            </a:r>
            <a:r>
              <a:rPr lang="en-US" altLang="ja-JP" sz="2800" dirty="0">
                <a:ea typeface="MS UI Gothic" panose="020B0600070205080204" pitchFamily="50" charset="-128"/>
              </a:rPr>
              <a:t>Là </a:t>
            </a:r>
            <a:r>
              <a:rPr lang="en-US" altLang="ja-JP" sz="2800" dirty="0" err="1">
                <a:ea typeface="MS UI Gothic" panose="020B0600070205080204" pitchFamily="50" charset="-128"/>
              </a:rPr>
              <a:t>việc</a:t>
            </a:r>
            <a:r>
              <a:rPr lang="en-US" altLang="ja-JP" sz="2800" dirty="0">
                <a:ea typeface="MS UI Gothic" panose="020B0600070205080204" pitchFamily="50" charset="-128"/>
              </a:rPr>
              <a:t> </a:t>
            </a:r>
            <a:r>
              <a:rPr lang="en-US" altLang="ja-JP" sz="2800" dirty="0" err="1">
                <a:ea typeface="MS UI Gothic" panose="020B0600070205080204" pitchFamily="50" charset="-128"/>
              </a:rPr>
              <a:t>thực</a:t>
            </a:r>
            <a:r>
              <a:rPr lang="en-US" altLang="ja-JP" sz="2800" dirty="0">
                <a:ea typeface="MS UI Gothic" panose="020B0600070205080204" pitchFamily="50" charset="-128"/>
              </a:rPr>
              <a:t> </a:t>
            </a:r>
            <a:r>
              <a:rPr lang="en-US" altLang="ja-JP" sz="2800" dirty="0" err="1">
                <a:ea typeface="MS UI Gothic" panose="020B0600070205080204" pitchFamily="50" charset="-128"/>
              </a:rPr>
              <a:t>hiện</a:t>
            </a:r>
            <a:r>
              <a:rPr lang="en-US" altLang="ja-JP" sz="2800" dirty="0">
                <a:ea typeface="MS UI Gothic" panose="020B0600070205080204" pitchFamily="50" charset="-128"/>
              </a:rPr>
              <a:t> </a:t>
            </a:r>
            <a:r>
              <a:rPr lang="en-US" altLang="ja-JP" sz="2800" dirty="0" err="1">
                <a:ea typeface="MS UI Gothic" panose="020B0600070205080204" pitchFamily="50" charset="-128"/>
              </a:rPr>
              <a:t>gắn</a:t>
            </a:r>
            <a:r>
              <a:rPr lang="en-US" altLang="ja-JP" sz="2800" dirty="0">
                <a:ea typeface="MS UI Gothic" panose="020B0600070205080204" pitchFamily="50" charset="-128"/>
              </a:rPr>
              <a:t> ý </a:t>
            </a:r>
            <a:r>
              <a:rPr lang="en-US" altLang="ja-JP" sz="2800" dirty="0" err="1">
                <a:ea typeface="MS UI Gothic" panose="020B0600070205080204" pitchFamily="50" charset="-128"/>
              </a:rPr>
              <a:t>nghĩa</a:t>
            </a:r>
            <a:r>
              <a:rPr lang="en-US" altLang="ja-JP" sz="2800" dirty="0">
                <a:ea typeface="MS UI Gothic" panose="020B0600070205080204" pitchFamily="50" charset="-128"/>
              </a:rPr>
              <a:t> </a:t>
            </a:r>
            <a:r>
              <a:rPr lang="en-US" altLang="ja-JP" sz="2800" dirty="0" err="1">
                <a:ea typeface="MS UI Gothic" panose="020B0600070205080204" pitchFamily="50" charset="-128"/>
              </a:rPr>
              <a:t>bô</a:t>
            </a:r>
            <a:r>
              <a:rPr lang="en-US" altLang="ja-JP" sz="2800" dirty="0">
                <a:ea typeface="MS UI Gothic" panose="020B0600070205080204" pitchFamily="50" charset="-128"/>
              </a:rPr>
              <a:t>̉ sung </a:t>
            </a:r>
            <a:r>
              <a:rPr lang="en-US" altLang="ja-JP" sz="2800" dirty="0" err="1">
                <a:ea typeface="MS UI Gothic" panose="020B0600070205080204" pitchFamily="50" charset="-128"/>
              </a:rPr>
              <a:t>đối</a:t>
            </a:r>
            <a:r>
              <a:rPr lang="en-US" altLang="ja-JP" sz="2800" dirty="0">
                <a:ea typeface="MS UI Gothic" panose="020B0600070205080204" pitchFamily="50" charset="-128"/>
              </a:rPr>
              <a:t> </a:t>
            </a:r>
            <a:r>
              <a:rPr lang="en-US" altLang="ja-JP" sz="2800" dirty="0" err="1">
                <a:ea typeface="MS UI Gothic" panose="020B0600070205080204" pitchFamily="50" charset="-128"/>
              </a:rPr>
              <a:t>với</a:t>
            </a:r>
            <a:r>
              <a:rPr lang="en-US" altLang="ja-JP" sz="2800" dirty="0">
                <a:ea typeface="MS UI Gothic" panose="020B0600070205080204" pitchFamily="50" charset="-128"/>
              </a:rPr>
              <a:t> program element </a:t>
            </a:r>
            <a:r>
              <a:rPr lang="en-US" altLang="ja-JP" sz="2800" dirty="0" err="1">
                <a:ea typeface="MS UI Gothic" panose="020B0600070205080204" pitchFamily="50" charset="-128"/>
              </a:rPr>
              <a:t>như</a:t>
            </a:r>
            <a:r>
              <a:rPr lang="en-US" altLang="ja-JP" sz="2800" dirty="0">
                <a:ea typeface="MS UI Gothic" panose="020B0600070205080204" pitchFamily="50" charset="-128"/>
              </a:rPr>
              <a:t> class, method, field, etc... Comment là có </a:t>
            </a:r>
            <a:r>
              <a:rPr lang="en-US" altLang="ja-JP" sz="2800" dirty="0" err="1">
                <a:ea typeface="MS UI Gothic" panose="020B0600070205080204" pitchFamily="50" charset="-128"/>
              </a:rPr>
              <a:t>thê</a:t>
            </a:r>
            <a:r>
              <a:rPr lang="en-US" altLang="ja-JP" sz="2800" dirty="0">
                <a:ea typeface="MS UI Gothic" panose="020B0600070205080204" pitchFamily="50" charset="-128"/>
              </a:rPr>
              <a:t>̉ </a:t>
            </a:r>
            <a:r>
              <a:rPr lang="en-US" altLang="ja-JP" sz="2800" dirty="0" err="1">
                <a:ea typeface="MS UI Gothic" panose="020B0600070205080204" pitchFamily="50" charset="-128"/>
              </a:rPr>
              <a:t>truyền</a:t>
            </a:r>
            <a:r>
              <a:rPr lang="en-US" altLang="ja-JP" sz="2800" dirty="0">
                <a:ea typeface="MS UI Gothic" panose="020B0600070205080204" pitchFamily="50" charset="-128"/>
              </a:rPr>
              <a:t> </a:t>
            </a:r>
            <a:r>
              <a:rPr lang="en-US" altLang="ja-JP" sz="2800" dirty="0" err="1">
                <a:ea typeface="MS UI Gothic" panose="020B0600070205080204" pitchFamily="50" charset="-128"/>
              </a:rPr>
              <a:t>đạt</a:t>
            </a:r>
            <a:r>
              <a:rPr lang="en-US" altLang="ja-JP" sz="2800" dirty="0">
                <a:ea typeface="MS UI Gothic" panose="020B0600070205080204" pitchFamily="50" charset="-128"/>
              </a:rPr>
              <a:t> </a:t>
            </a:r>
            <a:r>
              <a:rPr lang="en-US" altLang="ja-JP" sz="2800" dirty="0" err="1">
                <a:ea typeface="MS UI Gothic" panose="020B0600070205080204" pitchFamily="50" charset="-128"/>
              </a:rPr>
              <a:t>thông</a:t>
            </a:r>
            <a:r>
              <a:rPr lang="en-US" altLang="ja-JP" sz="2800" dirty="0">
                <a:ea typeface="MS UI Gothic" panose="020B0600070205080204" pitchFamily="50" charset="-128"/>
              </a:rPr>
              <a:t> tin </a:t>
            </a:r>
            <a:r>
              <a:rPr lang="en-US" altLang="ja-JP" sz="2800" dirty="0" err="1">
                <a:ea typeface="MS UI Gothic" panose="020B0600070205080204" pitchFamily="50" charset="-128"/>
              </a:rPr>
              <a:t>bô</a:t>
            </a:r>
            <a:r>
              <a:rPr lang="en-US" altLang="ja-JP" sz="2800" dirty="0">
                <a:ea typeface="MS UI Gothic" panose="020B0600070205080204" pitchFamily="50" charset="-128"/>
              </a:rPr>
              <a:t>̉ sung </a:t>
            </a:r>
            <a:r>
              <a:rPr lang="en-US" altLang="ja-JP" sz="2800" dirty="0" err="1">
                <a:ea typeface="MS UI Gothic" panose="020B0600070205080204" pitchFamily="50" charset="-128"/>
              </a:rPr>
              <a:t>khác</a:t>
            </a:r>
            <a:r>
              <a:rPr lang="en-US" altLang="ja-JP" sz="2800" dirty="0">
                <a:ea typeface="MS UI Gothic" panose="020B0600070205080204" pitchFamily="50" charset="-128"/>
              </a:rPr>
              <a:t> </a:t>
            </a:r>
            <a:r>
              <a:rPr lang="en-US" altLang="ja-JP" sz="2800" dirty="0" err="1">
                <a:ea typeface="MS UI Gothic" panose="020B0600070205080204" pitchFamily="50" charset="-128"/>
              </a:rPr>
              <a:t>cho</a:t>
            </a:r>
            <a:r>
              <a:rPr lang="en-US" altLang="ja-JP" sz="2800" dirty="0">
                <a:ea typeface="MS UI Gothic" panose="020B0600070205080204" pitchFamily="50" charset="-128"/>
              </a:rPr>
              <a:t> compile (tool).</a:t>
            </a:r>
          </a:p>
          <a:p>
            <a:pPr algn="just"/>
            <a:r>
              <a:rPr lang="ja-JP" altLang="en-US" sz="2800" dirty="0">
                <a:ea typeface="MS UI Gothic" panose="020B0600070205080204" pitchFamily="50" charset="-128"/>
              </a:rPr>
              <a:t>　</a:t>
            </a:r>
            <a:r>
              <a:rPr lang="en-US" altLang="ja-JP" sz="2800" dirty="0">
                <a:ea typeface="MS UI Gothic" panose="020B0600070205080204" pitchFamily="50" charset="-128"/>
              </a:rPr>
              <a:t>Ví dụ, </a:t>
            </a:r>
            <a:r>
              <a:rPr lang="en-US" altLang="ja-JP" sz="2800" dirty="0" err="1">
                <a:ea typeface="MS UI Gothic" panose="020B0600070205080204" pitchFamily="50" charset="-128"/>
              </a:rPr>
              <a:t>trường</a:t>
            </a:r>
            <a:r>
              <a:rPr lang="en-US" altLang="ja-JP" sz="2800" dirty="0">
                <a:ea typeface="MS UI Gothic" panose="020B0600070205080204" pitchFamily="50" charset="-128"/>
              </a:rPr>
              <a:t> </a:t>
            </a:r>
            <a:r>
              <a:rPr lang="en-US" altLang="ja-JP" sz="2800" dirty="0" err="1">
                <a:ea typeface="MS UI Gothic" panose="020B0600070205080204" pitchFamily="50" charset="-128"/>
              </a:rPr>
              <a:t>hợp</a:t>
            </a:r>
            <a:r>
              <a:rPr lang="en-US" altLang="ja-JP" sz="2800" dirty="0">
                <a:ea typeface="MS UI Gothic" panose="020B0600070205080204" pitchFamily="50" charset="-128"/>
              </a:rPr>
              <a:t> override method </a:t>
            </a:r>
            <a:r>
              <a:rPr lang="en-US" altLang="ja-JP" sz="2800" dirty="0" err="1">
                <a:ea typeface="MS UI Gothic" panose="020B0600070205080204" pitchFamily="50" charset="-128"/>
              </a:rPr>
              <a:t>của</a:t>
            </a:r>
            <a:r>
              <a:rPr lang="en-US" altLang="ja-JP" sz="2800" dirty="0">
                <a:ea typeface="MS UI Gothic" panose="020B0600070205080204" pitchFamily="50" charset="-128"/>
              </a:rPr>
              <a:t> superclass </a:t>
            </a:r>
            <a:r>
              <a:rPr lang="en-US" altLang="ja-JP" sz="2800" dirty="0" err="1">
                <a:ea typeface="MS UI Gothic" panose="020B0600070205080204" pitchFamily="50" charset="-128"/>
              </a:rPr>
              <a:t>trong</a:t>
            </a:r>
            <a:r>
              <a:rPr lang="en-US" altLang="ja-JP" sz="2800" dirty="0">
                <a:ea typeface="MS UI Gothic" panose="020B0600070205080204" pitchFamily="50" charset="-128"/>
              </a:rPr>
              <a:t> subclass, </a:t>
            </a:r>
            <a:r>
              <a:rPr lang="en-US" altLang="ja-JP" sz="2800" dirty="0" err="1">
                <a:ea typeface="MS UI Gothic" panose="020B0600070205080204" pitchFamily="50" charset="-128"/>
              </a:rPr>
              <a:t>nếu</a:t>
            </a:r>
            <a:r>
              <a:rPr lang="en-US" altLang="ja-JP" sz="2800" dirty="0">
                <a:ea typeface="MS UI Gothic" panose="020B0600070205080204" pitchFamily="50" charset="-128"/>
              </a:rPr>
              <a:t> chỉ </a:t>
            </a:r>
            <a:r>
              <a:rPr lang="en-US" altLang="ja-JP" sz="2800" dirty="0" err="1">
                <a:ea typeface="MS UI Gothic" panose="020B0600070205080204" pitchFamily="50" charset="-128"/>
              </a:rPr>
              <a:t>định</a:t>
            </a:r>
            <a:r>
              <a:rPr lang="en-US" altLang="ja-JP" sz="2800" dirty="0">
                <a:ea typeface="MS UI Gothic" panose="020B0600070205080204" pitchFamily="50" charset="-128"/>
              </a:rPr>
              <a:t> @Override annotation </a:t>
            </a:r>
            <a:r>
              <a:rPr lang="en-US" altLang="ja-JP" sz="2800" dirty="0" err="1">
                <a:ea typeface="MS UI Gothic" panose="020B0600070205080204" pitchFamily="50" charset="-128"/>
              </a:rPr>
              <a:t>trong</a:t>
            </a:r>
            <a:r>
              <a:rPr lang="en-US" altLang="ja-JP" sz="2800" dirty="0">
                <a:ea typeface="MS UI Gothic" panose="020B0600070205080204" pitchFamily="50" charset="-128"/>
              </a:rPr>
              <a:t> method </a:t>
            </a:r>
            <a:r>
              <a:rPr lang="en-US" altLang="ja-JP" sz="2800" dirty="0" err="1">
                <a:ea typeface="MS UI Gothic" panose="020B0600070205080204" pitchFamily="50" charset="-128"/>
              </a:rPr>
              <a:t>của</a:t>
            </a:r>
            <a:r>
              <a:rPr lang="en-US" altLang="ja-JP" sz="2800" dirty="0">
                <a:ea typeface="MS UI Gothic" panose="020B0600070205080204" pitchFamily="50" charset="-128"/>
              </a:rPr>
              <a:t> subclass mà </a:t>
            </a:r>
            <a:r>
              <a:rPr lang="en-US" altLang="ja-JP" sz="2800" dirty="0" err="1">
                <a:ea typeface="MS UI Gothic" panose="020B0600070205080204" pitchFamily="50" charset="-128"/>
              </a:rPr>
              <a:t>không</a:t>
            </a:r>
            <a:r>
              <a:rPr lang="en-US" altLang="ja-JP" sz="2800" dirty="0">
                <a:ea typeface="MS UI Gothic" panose="020B0600070205080204" pitchFamily="50" charset="-128"/>
              </a:rPr>
              <a:t> </a:t>
            </a:r>
            <a:r>
              <a:rPr lang="en-US" altLang="ja-JP" sz="2800" dirty="0" err="1">
                <a:ea typeface="MS UI Gothic" panose="020B0600070205080204" pitchFamily="50" charset="-128"/>
              </a:rPr>
              <a:t>định</a:t>
            </a:r>
            <a:r>
              <a:rPr lang="en-US" altLang="ja-JP" sz="2800" dirty="0">
                <a:ea typeface="MS UI Gothic" panose="020B0600070205080204" pitchFamily="50" charset="-128"/>
              </a:rPr>
              <a:t> </a:t>
            </a:r>
            <a:r>
              <a:rPr lang="en-US" altLang="ja-JP" sz="2800" dirty="0" err="1">
                <a:ea typeface="MS UI Gothic" panose="020B0600070205080204" pitchFamily="50" charset="-128"/>
              </a:rPr>
              <a:t>nghĩa</a:t>
            </a:r>
            <a:r>
              <a:rPr lang="en-US" altLang="ja-JP" sz="2800" dirty="0">
                <a:ea typeface="MS UI Gothic" panose="020B0600070205080204" pitchFamily="50" charset="-128"/>
              </a:rPr>
              <a:t> method </a:t>
            </a:r>
            <a:r>
              <a:rPr lang="en-US" altLang="ja-JP" sz="2800" dirty="0" err="1">
                <a:ea typeface="MS UI Gothic" panose="020B0600070205080204" pitchFamily="50" charset="-128"/>
              </a:rPr>
              <a:t>được</a:t>
            </a:r>
            <a:r>
              <a:rPr lang="en-US" altLang="ja-JP" sz="2800" dirty="0">
                <a:ea typeface="MS UI Gothic" panose="020B0600070205080204" pitchFamily="50" charset="-128"/>
              </a:rPr>
              <a:t> override </a:t>
            </a:r>
            <a:r>
              <a:rPr lang="en-US" altLang="ja-JP" sz="2800" dirty="0" err="1">
                <a:ea typeface="MS UI Gothic" panose="020B0600070205080204" pitchFamily="50" charset="-128"/>
              </a:rPr>
              <a:t>trong</a:t>
            </a:r>
            <a:r>
              <a:rPr lang="en-US" altLang="ja-JP" sz="2800" dirty="0">
                <a:ea typeface="MS UI Gothic" panose="020B0600070205080204" pitchFamily="50" charset="-128"/>
              </a:rPr>
              <a:t> superclass </a:t>
            </a:r>
            <a:r>
              <a:rPr lang="en-US" altLang="ja-JP" sz="2800" dirty="0" err="1">
                <a:ea typeface="MS UI Gothic" panose="020B0600070205080204" pitchFamily="50" charset="-128"/>
              </a:rPr>
              <a:t>thi</a:t>
            </a:r>
            <a:r>
              <a:rPr lang="en-US" altLang="ja-JP" sz="2800" dirty="0">
                <a:ea typeface="MS UI Gothic" panose="020B0600070205080204" pitchFamily="50" charset="-128"/>
              </a:rPr>
              <a:t>̀ sẽ bị  compile error </a:t>
            </a:r>
            <a:r>
              <a:rPr lang="en-US" altLang="ja-JP" sz="2800" dirty="0" err="1">
                <a:ea typeface="MS UI Gothic" panose="020B0600070205080204" pitchFamily="50" charset="-128"/>
              </a:rPr>
              <a:t>va</a:t>
            </a:r>
            <a:r>
              <a:rPr lang="en-US" altLang="ja-JP" sz="2800" dirty="0">
                <a:ea typeface="MS UI Gothic" panose="020B0600070205080204" pitchFamily="50" charset="-128"/>
              </a:rPr>
              <a:t>̀ có </a:t>
            </a:r>
            <a:r>
              <a:rPr lang="en-US" altLang="ja-JP" sz="2800" dirty="0" err="1">
                <a:ea typeface="MS UI Gothic" panose="020B0600070205080204" pitchFamily="50" charset="-128"/>
              </a:rPr>
              <a:t>thê</a:t>
            </a:r>
            <a:r>
              <a:rPr lang="en-US" altLang="ja-JP" sz="2800" dirty="0">
                <a:ea typeface="MS UI Gothic" panose="020B0600070205080204" pitchFamily="50" charset="-128"/>
              </a:rPr>
              <a:t>̉ check </a:t>
            </a:r>
            <a:r>
              <a:rPr lang="en-US" altLang="ja-JP" sz="2800" dirty="0" err="1">
                <a:ea typeface="MS UI Gothic" panose="020B0600070205080204" pitchFamily="50" charset="-128"/>
              </a:rPr>
              <a:t>khi</a:t>
            </a:r>
            <a:r>
              <a:rPr lang="en-US" altLang="ja-JP" sz="2800" dirty="0">
                <a:ea typeface="MS UI Gothic" panose="020B0600070205080204" pitchFamily="50" charset="-128"/>
              </a:rPr>
              <a:t> compile.</a:t>
            </a:r>
          </a:p>
          <a:p>
            <a:pPr algn="just"/>
            <a:r>
              <a:rPr lang="ja-JP" altLang="en-US" sz="2800" dirty="0">
                <a:ea typeface="MS UI Gothic" panose="020B0600070205080204" pitchFamily="50" charset="-128"/>
              </a:rPr>
              <a:t>　</a:t>
            </a:r>
            <a:r>
              <a:rPr lang="en-US" altLang="ja-JP" sz="2800" dirty="0">
                <a:ea typeface="MS UI Gothic" panose="020B0600070205080204" pitchFamily="50" charset="-128"/>
              </a:rPr>
              <a:t>Annotation là function từJ2SE5.0.</a:t>
            </a:r>
          </a:p>
          <a:p>
            <a:pPr algn="just"/>
            <a:endParaRPr kumimoji="1" lang="ja-JP" altLang="en-US" sz="2800" dirty="0"/>
          </a:p>
        </p:txBody>
      </p:sp>
      <p:sp>
        <p:nvSpPr>
          <p:cNvPr id="4" name="Slide Number Placeholder 3">
            <a:extLst>
              <a:ext uri="{FF2B5EF4-FFF2-40B4-BE49-F238E27FC236}">
                <a16:creationId xmlns:a16="http://schemas.microsoft.com/office/drawing/2014/main" id="{4903E573-1385-3F96-1E54-91CC52EA8FEA}"/>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14</a:t>
            </a:fld>
            <a:endParaRPr lang="en-US" altLang="ja-JP"/>
          </a:p>
        </p:txBody>
      </p:sp>
    </p:spTree>
    <p:extLst>
      <p:ext uri="{BB962C8B-B14F-4D97-AF65-F5344CB8AC3E}">
        <p14:creationId xmlns:p14="http://schemas.microsoft.com/office/powerpoint/2010/main" val="762723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C3B4FB48-64B0-63A6-3D03-F512EE2F77D6}"/>
              </a:ext>
            </a:extLst>
          </p:cNvPr>
          <p:cNvSpPr>
            <a:spLocks noGrp="1"/>
          </p:cNvSpPr>
          <p:nvPr>
            <p:ph type="sldNum" sz="quarter" idx="10"/>
          </p:nvPr>
        </p:nvSpPr>
        <p:spPr/>
        <p:txBody>
          <a:bodyPr/>
          <a:lstStyle/>
          <a:p>
            <a:fld id="{A297316F-E1CD-4D8D-A3F2-48DD1476476F}" type="slidenum">
              <a:rPr lang="en-US" altLang="ja-JP"/>
              <a:pPr/>
              <a:t>15</a:t>
            </a:fld>
            <a:endParaRPr lang="en-US" altLang="ja-JP"/>
          </a:p>
        </p:txBody>
      </p:sp>
      <p:sp>
        <p:nvSpPr>
          <p:cNvPr id="526338" name="Rectangle 2">
            <a:extLst>
              <a:ext uri="{FF2B5EF4-FFF2-40B4-BE49-F238E27FC236}">
                <a16:creationId xmlns:a16="http://schemas.microsoft.com/office/drawing/2014/main" id="{0F851FFC-DD26-10C8-8A4F-85F88155BCC0}"/>
              </a:ext>
            </a:extLst>
          </p:cNvPr>
          <p:cNvSpPr>
            <a:spLocks noGrp="1" noChangeArrowheads="1"/>
          </p:cNvSpPr>
          <p:nvPr>
            <p:ph type="title"/>
          </p:nvPr>
        </p:nvSpPr>
        <p:spPr>
          <a:xfrm>
            <a:off x="344488" y="376513"/>
            <a:ext cx="9217025" cy="490537"/>
          </a:xfrm>
        </p:spPr>
        <p:txBody>
          <a:bodyPr>
            <a:normAutofit fontScale="90000"/>
          </a:bodyPr>
          <a:lstStyle/>
          <a:p>
            <a:r>
              <a:rPr lang="en-US" altLang="ja-JP" dirty="0">
                <a:latin typeface="MS UI Gothic" panose="020B0600070205080204" pitchFamily="50" charset="-128"/>
                <a:ea typeface="MS UI Gothic" panose="020B0600070205080204" pitchFamily="50" charset="-128"/>
              </a:rPr>
              <a:t>this </a:t>
            </a:r>
            <a:r>
              <a:rPr lang="en-US" altLang="ja-JP" dirty="0" err="1">
                <a:latin typeface="MS UI Gothic" panose="020B0600070205080204" pitchFamily="50" charset="-128"/>
                <a:ea typeface="MS UI Gothic" panose="020B0600070205080204" pitchFamily="50" charset="-128"/>
              </a:rPr>
              <a:t>và</a:t>
            </a:r>
            <a:r>
              <a:rPr lang="en-US" altLang="ja-JP" dirty="0">
                <a:latin typeface="MS UI Gothic" panose="020B0600070205080204" pitchFamily="50" charset="-128"/>
                <a:ea typeface="MS UI Gothic" panose="020B0600070205080204" pitchFamily="50" charset="-128"/>
              </a:rPr>
              <a:t> super</a:t>
            </a:r>
          </a:p>
        </p:txBody>
      </p:sp>
      <p:sp>
        <p:nvSpPr>
          <p:cNvPr id="526339" name="Rectangle 3">
            <a:extLst>
              <a:ext uri="{FF2B5EF4-FFF2-40B4-BE49-F238E27FC236}">
                <a16:creationId xmlns:a16="http://schemas.microsoft.com/office/drawing/2014/main" id="{AB7172A1-FE93-B9A3-84FC-1360371DBBA4}"/>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526340" name="Rectangle 4">
            <a:extLst>
              <a:ext uri="{FF2B5EF4-FFF2-40B4-BE49-F238E27FC236}">
                <a16:creationId xmlns:a16="http://schemas.microsoft.com/office/drawing/2014/main" id="{83FEC098-0BE4-8851-7BA9-8DD60D44EFCC}"/>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t>this và super</a:t>
            </a:r>
          </a:p>
          <a:p>
            <a:pPr>
              <a:buFont typeface="Wingdings" panose="05000000000000000000" pitchFamily="2" charset="2"/>
              <a:buNone/>
            </a:pPr>
            <a:r>
              <a:rPr lang="en-US" altLang="ja-JP" sz="2000" b="0"/>
              <a:t>●this</a:t>
            </a:r>
          </a:p>
        </p:txBody>
      </p:sp>
      <p:sp>
        <p:nvSpPr>
          <p:cNvPr id="526341" name="Rectangle 5">
            <a:extLst>
              <a:ext uri="{FF2B5EF4-FFF2-40B4-BE49-F238E27FC236}">
                <a16:creationId xmlns:a16="http://schemas.microsoft.com/office/drawing/2014/main" id="{38F7F110-BD62-5D63-7087-56B8C0B4A30A}"/>
              </a:ext>
            </a:extLst>
          </p:cNvPr>
          <p:cNvSpPr>
            <a:spLocks noChangeArrowheads="1"/>
          </p:cNvSpPr>
          <p:nvPr/>
        </p:nvSpPr>
        <p:spPr bwMode="auto">
          <a:xfrm>
            <a:off x="344488" y="3744913"/>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latin typeface="Arial" panose="020B0604020202020204" pitchFamily="34" charset="0"/>
              </a:rPr>
              <a:t>●super</a:t>
            </a:r>
            <a:endParaRPr lang="en-US" altLang="ja-JP" sz="2400" b="0">
              <a:latin typeface="Arial" panose="020B0604020202020204" pitchFamily="34" charset="0"/>
            </a:endParaRPr>
          </a:p>
        </p:txBody>
      </p:sp>
      <p:grpSp>
        <p:nvGrpSpPr>
          <p:cNvPr id="526352" name="Group 16">
            <a:extLst>
              <a:ext uri="{FF2B5EF4-FFF2-40B4-BE49-F238E27FC236}">
                <a16:creationId xmlns:a16="http://schemas.microsoft.com/office/drawing/2014/main" id="{32644A88-E16A-4689-ABAD-91F9B06661B8}"/>
              </a:ext>
            </a:extLst>
          </p:cNvPr>
          <p:cNvGrpSpPr>
            <a:grpSpLocks/>
          </p:cNvGrpSpPr>
          <p:nvPr/>
        </p:nvGrpSpPr>
        <p:grpSpPr bwMode="auto">
          <a:xfrm>
            <a:off x="344488" y="1635125"/>
            <a:ext cx="9140825" cy="4662488"/>
            <a:chOff x="217" y="1030"/>
            <a:chExt cx="5758" cy="2937"/>
          </a:xfrm>
        </p:grpSpPr>
        <p:sp>
          <p:nvSpPr>
            <p:cNvPr id="526342" name="Rectangle 6">
              <a:extLst>
                <a:ext uri="{FF2B5EF4-FFF2-40B4-BE49-F238E27FC236}">
                  <a16:creationId xmlns:a16="http://schemas.microsoft.com/office/drawing/2014/main" id="{A54D383E-7BD7-4934-DD92-5658B14DF24F}"/>
                </a:ext>
              </a:extLst>
            </p:cNvPr>
            <p:cNvSpPr>
              <a:spLocks noChangeArrowheads="1"/>
            </p:cNvSpPr>
            <p:nvPr/>
          </p:nvSpPr>
          <p:spPr bwMode="auto">
            <a:xfrm>
              <a:off x="217" y="1030"/>
              <a:ext cx="5739" cy="321"/>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Chỉ bản thân object hiện tại đang thực hiện xử lí (Instance)</a:t>
              </a:r>
            </a:p>
          </p:txBody>
        </p:sp>
        <p:sp>
          <p:nvSpPr>
            <p:cNvPr id="526344" name="Rectangle 8">
              <a:extLst>
                <a:ext uri="{FF2B5EF4-FFF2-40B4-BE49-F238E27FC236}">
                  <a16:creationId xmlns:a16="http://schemas.microsoft.com/office/drawing/2014/main" id="{DA7842BA-6420-D901-67DC-54B64B8922AE}"/>
                </a:ext>
              </a:extLst>
            </p:cNvPr>
            <p:cNvSpPr>
              <a:spLocks noChangeArrowheads="1"/>
            </p:cNvSpPr>
            <p:nvPr/>
          </p:nvSpPr>
          <p:spPr bwMode="auto">
            <a:xfrm>
              <a:off x="217" y="2633"/>
              <a:ext cx="5736" cy="338"/>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a:latin typeface="Arial" panose="020B0604020202020204" pitchFamily="34" charset="0"/>
                </a:rPr>
                <a:t>Chỉ đến super class của class mà hiện tại đang thực hiện xử lí</a:t>
              </a:r>
            </a:p>
          </p:txBody>
        </p:sp>
        <p:sp>
          <p:nvSpPr>
            <p:cNvPr id="526347" name="Rectangle 11">
              <a:extLst>
                <a:ext uri="{FF2B5EF4-FFF2-40B4-BE49-F238E27FC236}">
                  <a16:creationId xmlns:a16="http://schemas.microsoft.com/office/drawing/2014/main" id="{EA330972-A74C-B6BE-7264-56D084D1D027}"/>
                </a:ext>
              </a:extLst>
            </p:cNvPr>
            <p:cNvSpPr>
              <a:spLocks noChangeArrowheads="1"/>
            </p:cNvSpPr>
            <p:nvPr/>
          </p:nvSpPr>
          <p:spPr bwMode="auto">
            <a:xfrm>
              <a:off x="217" y="1461"/>
              <a:ext cx="5745" cy="84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531813">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defTabSz="53181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defTabSz="53181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defTabSz="53181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defTabSz="531813">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Arial" panose="020B0604020202020204" pitchFamily="34" charset="0"/>
                  <a:ea typeface="ＭＳ ゴシック" panose="020B0609070205080204" pitchFamily="49" charset="-128"/>
                </a:rPr>
                <a:t>public Employee(String empId, String empName) {</a:t>
              </a:r>
            </a:p>
            <a:p>
              <a:pPr lvl="1"/>
              <a:r>
                <a:rPr lang="en-US" altLang="ja-JP" sz="1800" b="0">
                  <a:latin typeface="Arial" panose="020B0604020202020204" pitchFamily="34" charset="0"/>
                  <a:ea typeface="ＭＳ ゴシック" panose="020B0609070205080204" pitchFamily="49" charset="-128"/>
                </a:rPr>
                <a:t>    this.empId = empId;</a:t>
              </a:r>
            </a:p>
            <a:p>
              <a:pPr lvl="1"/>
              <a:r>
                <a:rPr lang="en-US" altLang="ja-JP" sz="1800" b="0">
                  <a:latin typeface="Arial" panose="020B0604020202020204" pitchFamily="34" charset="0"/>
                  <a:ea typeface="ＭＳ ゴシック" panose="020B0609070205080204" pitchFamily="49" charset="-128"/>
                </a:rPr>
                <a:t>    this.empName = empName;</a:t>
              </a:r>
            </a:p>
            <a:p>
              <a:pPr lvl="1"/>
              <a:r>
                <a:rPr lang="en-US" altLang="ja-JP" sz="1800" b="0">
                  <a:latin typeface="Arial" panose="020B0604020202020204" pitchFamily="34" charset="0"/>
                </a:rPr>
                <a:t>}</a:t>
              </a:r>
            </a:p>
          </p:txBody>
        </p:sp>
        <p:sp>
          <p:nvSpPr>
            <p:cNvPr id="526348" name="Rectangle 12">
              <a:extLst>
                <a:ext uri="{FF2B5EF4-FFF2-40B4-BE49-F238E27FC236}">
                  <a16:creationId xmlns:a16="http://schemas.microsoft.com/office/drawing/2014/main" id="{507B55EE-F274-7154-C585-7152D3207E5F}"/>
                </a:ext>
              </a:extLst>
            </p:cNvPr>
            <p:cNvSpPr>
              <a:spLocks noChangeArrowheads="1"/>
            </p:cNvSpPr>
            <p:nvPr/>
          </p:nvSpPr>
          <p:spPr bwMode="auto">
            <a:xfrm>
              <a:off x="217" y="3125"/>
              <a:ext cx="5745" cy="84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531813">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defTabSz="53181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defTabSz="53181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defTabSz="53181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defTabSz="531813">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Arial" panose="020B0604020202020204" pitchFamily="34" charset="0"/>
                  <a:ea typeface="ＭＳ ゴシック" panose="020B0609070205080204" pitchFamily="49" charset="-128"/>
                </a:rPr>
                <a:t>public void printInfo() {</a:t>
              </a:r>
            </a:p>
            <a:p>
              <a:pPr lvl="1"/>
              <a:r>
                <a:rPr lang="en-US" altLang="ja-JP" sz="1800" b="0">
                  <a:latin typeface="Arial" panose="020B0604020202020204" pitchFamily="34" charset="0"/>
                  <a:ea typeface="ＭＳ ゴシック" panose="020B0609070205080204" pitchFamily="49" charset="-128"/>
                </a:rPr>
                <a:t>    super.printInfo();</a:t>
              </a:r>
            </a:p>
            <a:p>
              <a:pPr lvl="1"/>
              <a:r>
                <a:rPr lang="en-US" altLang="ja-JP" sz="1800" b="0">
                  <a:latin typeface="Arial" panose="020B0604020202020204" pitchFamily="34" charset="0"/>
                  <a:ea typeface="ＭＳ ゴシック" panose="020B0609070205080204" pitchFamily="49" charset="-128"/>
                </a:rPr>
                <a:t>    System.out.println("customerCount:" + customerCount);</a:t>
              </a:r>
            </a:p>
            <a:p>
              <a:pPr lvl="1"/>
              <a:r>
                <a:rPr lang="en-US" altLang="ja-JP" sz="1800" b="0">
                  <a:latin typeface="Arial" panose="020B0604020202020204" pitchFamily="34" charset="0"/>
                  <a:ea typeface="ＭＳ ゴシック" panose="020B0609070205080204" pitchFamily="49" charset="-128"/>
                </a:rPr>
                <a:t>}</a:t>
              </a:r>
            </a:p>
          </p:txBody>
        </p:sp>
        <p:sp>
          <p:nvSpPr>
            <p:cNvPr id="526349" name="AutoShape 13">
              <a:extLst>
                <a:ext uri="{FF2B5EF4-FFF2-40B4-BE49-F238E27FC236}">
                  <a16:creationId xmlns:a16="http://schemas.microsoft.com/office/drawing/2014/main" id="{88FDDD80-C280-3F6F-252B-FD145FDE6AA1}"/>
                </a:ext>
              </a:extLst>
            </p:cNvPr>
            <p:cNvSpPr>
              <a:spLocks noChangeArrowheads="1"/>
            </p:cNvSpPr>
            <p:nvPr/>
          </p:nvSpPr>
          <p:spPr bwMode="auto">
            <a:xfrm>
              <a:off x="2466" y="1724"/>
              <a:ext cx="3509" cy="452"/>
            </a:xfrm>
            <a:prstGeom prst="wedgeRoundRectCallout">
              <a:avLst>
                <a:gd name="adj1" fmla="val -60259"/>
                <a:gd name="adj2" fmla="val -37389"/>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r>
                <a:rPr lang="en-US" altLang="ja-JP" sz="1600" dirty="0" err="1">
                  <a:latin typeface="+mj-lt"/>
                </a:rPr>
                <a:t>Gán</a:t>
              </a:r>
              <a:r>
                <a:rPr lang="en-US" altLang="ja-JP" sz="1600" dirty="0">
                  <a:latin typeface="+mj-lt"/>
                </a:rPr>
                <a:t> </a:t>
              </a:r>
              <a:r>
                <a:rPr lang="en-US" altLang="ja-JP" sz="1600" dirty="0" err="1">
                  <a:latin typeface="+mj-lt"/>
                </a:rPr>
                <a:t>giá</a:t>
              </a:r>
              <a:r>
                <a:rPr lang="en-US" altLang="ja-JP" sz="1600" dirty="0">
                  <a:latin typeface="+mj-lt"/>
                </a:rPr>
                <a:t> </a:t>
              </a:r>
              <a:r>
                <a:rPr lang="en-US" altLang="ja-JP" sz="1600" dirty="0" err="1">
                  <a:latin typeface="+mj-lt"/>
                </a:rPr>
                <a:t>trị</a:t>
              </a:r>
              <a:r>
                <a:rPr lang="en-US" altLang="ja-JP" sz="1600" dirty="0">
                  <a:latin typeface="+mj-lt"/>
                </a:rPr>
                <a:t> </a:t>
              </a:r>
              <a:r>
                <a:rPr lang="en-US" altLang="ja-JP" sz="1600" dirty="0" err="1">
                  <a:latin typeface="+mj-lt"/>
                </a:rPr>
                <a:t>đã</a:t>
              </a:r>
              <a:r>
                <a:rPr lang="en-US" altLang="ja-JP" sz="1600" dirty="0">
                  <a:latin typeface="+mj-lt"/>
                </a:rPr>
                <a:t> </a:t>
              </a:r>
              <a:r>
                <a:rPr lang="en-US" altLang="ja-JP" sz="1600" dirty="0" err="1">
                  <a:latin typeface="+mj-lt"/>
                </a:rPr>
                <a:t>nhận</a:t>
              </a:r>
              <a:r>
                <a:rPr lang="en-US" altLang="ja-JP" sz="1600" dirty="0">
                  <a:latin typeface="+mj-lt"/>
                </a:rPr>
                <a:t> </a:t>
              </a:r>
              <a:r>
                <a:rPr lang="en-US" altLang="ja-JP" sz="1600" dirty="0" err="1">
                  <a:latin typeface="+mj-lt"/>
                </a:rPr>
                <a:t>bằng</a:t>
              </a:r>
              <a:r>
                <a:rPr lang="en-US" altLang="ja-JP" sz="1600" dirty="0">
                  <a:latin typeface="+mj-lt"/>
                </a:rPr>
                <a:t> </a:t>
              </a:r>
              <a:r>
                <a:rPr lang="en-US" altLang="ja-JP" sz="1600" dirty="0" err="1">
                  <a:latin typeface="+mj-lt"/>
                </a:rPr>
                <a:t>đối</a:t>
              </a:r>
              <a:r>
                <a:rPr lang="en-US" altLang="ja-JP" sz="1600" dirty="0">
                  <a:latin typeface="+mj-lt"/>
                </a:rPr>
                <a:t> </a:t>
              </a:r>
              <a:r>
                <a:rPr lang="en-US" altLang="ja-JP" sz="1600" dirty="0" err="1">
                  <a:latin typeface="+mj-lt"/>
                </a:rPr>
                <a:t>số</a:t>
              </a:r>
              <a:r>
                <a:rPr lang="en-US" altLang="ja-JP" sz="1600" dirty="0">
                  <a:latin typeface="+mj-lt"/>
                </a:rPr>
                <a:t> (</a:t>
              </a:r>
              <a:r>
                <a:rPr lang="en-US" altLang="ja-JP" sz="1600" dirty="0" err="1">
                  <a:latin typeface="+mj-lt"/>
                </a:rPr>
                <a:t>empId</a:t>
              </a:r>
              <a:r>
                <a:rPr lang="en-US" altLang="ja-JP" sz="1600" dirty="0">
                  <a:latin typeface="+mj-lt"/>
                </a:rPr>
                <a:t>) </a:t>
              </a:r>
              <a:r>
                <a:rPr lang="en-US" altLang="ja-JP" sz="1600" dirty="0" err="1">
                  <a:latin typeface="+mj-lt"/>
                </a:rPr>
                <a:t>vào</a:t>
              </a:r>
              <a:r>
                <a:rPr lang="en-US" altLang="ja-JP" sz="1600" dirty="0">
                  <a:latin typeface="+mj-lt"/>
                </a:rPr>
                <a:t> </a:t>
              </a:r>
              <a:r>
                <a:rPr lang="en-US" altLang="ja-JP" sz="1600" dirty="0" err="1">
                  <a:latin typeface="+mj-lt"/>
                </a:rPr>
                <a:t>biến</a:t>
              </a:r>
              <a:r>
                <a:rPr lang="en-US" altLang="ja-JP" sz="1600" dirty="0">
                  <a:latin typeface="+mj-lt"/>
                </a:rPr>
                <a:t> instance </a:t>
              </a:r>
              <a:r>
                <a:rPr lang="ja-JP" altLang="en-US" sz="1600" dirty="0">
                  <a:latin typeface="+mj-lt"/>
                </a:rPr>
                <a:t>（</a:t>
              </a:r>
              <a:r>
                <a:rPr lang="en-US" altLang="ja-JP" sz="1600" dirty="0" err="1">
                  <a:latin typeface="+mj-lt"/>
                </a:rPr>
                <a:t>this.empId</a:t>
              </a:r>
              <a:r>
                <a:rPr lang="ja-JP" altLang="en-US" sz="1600" dirty="0">
                  <a:latin typeface="+mj-lt"/>
                </a:rPr>
                <a:t>）</a:t>
              </a:r>
              <a:r>
                <a:rPr lang="en-US" altLang="ja-JP" sz="1600" dirty="0" err="1">
                  <a:latin typeface="+mj-lt"/>
                </a:rPr>
                <a:t>của</a:t>
              </a:r>
              <a:r>
                <a:rPr lang="en-US" altLang="ja-JP" sz="1600" dirty="0">
                  <a:latin typeface="+mj-lt"/>
                </a:rPr>
                <a:t> class Employee. </a:t>
              </a:r>
            </a:p>
          </p:txBody>
        </p:sp>
        <p:sp>
          <p:nvSpPr>
            <p:cNvPr id="526350" name="AutoShape 14">
              <a:extLst>
                <a:ext uri="{FF2B5EF4-FFF2-40B4-BE49-F238E27FC236}">
                  <a16:creationId xmlns:a16="http://schemas.microsoft.com/office/drawing/2014/main" id="{B276043D-668E-FE54-8A8B-3C6D71398B38}"/>
                </a:ext>
              </a:extLst>
            </p:cNvPr>
            <p:cNvSpPr>
              <a:spLocks noChangeArrowheads="1"/>
            </p:cNvSpPr>
            <p:nvPr/>
          </p:nvSpPr>
          <p:spPr bwMode="auto">
            <a:xfrm>
              <a:off x="2362" y="3036"/>
              <a:ext cx="3531" cy="467"/>
            </a:xfrm>
            <a:prstGeom prst="wedgeRoundRectCallout">
              <a:avLst>
                <a:gd name="adj1" fmla="val -60310"/>
                <a:gd name="adj2" fmla="val 39079"/>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pPr algn="just"/>
              <a:r>
                <a:rPr lang="en-US" altLang="ja-JP" sz="1600" dirty="0" err="1">
                  <a:latin typeface="+mj-lt"/>
                </a:rPr>
                <a:t>Gọi</a:t>
              </a:r>
              <a:r>
                <a:rPr lang="en-US" altLang="ja-JP" sz="1600" dirty="0">
                  <a:latin typeface="+mj-lt"/>
                </a:rPr>
                <a:t> </a:t>
              </a:r>
              <a:r>
                <a:rPr lang="en-US" altLang="ja-JP" sz="1600" dirty="0" err="1">
                  <a:latin typeface="+mj-lt"/>
                </a:rPr>
                <a:t>ra</a:t>
              </a:r>
              <a:r>
                <a:rPr lang="en-US" altLang="ja-JP" sz="1600" dirty="0">
                  <a:latin typeface="+mj-lt"/>
                </a:rPr>
                <a:t> </a:t>
              </a:r>
              <a:r>
                <a:rPr lang="en-US" altLang="ja-JP" sz="1600" dirty="0" err="1">
                  <a:latin typeface="+mj-lt"/>
                </a:rPr>
                <a:t>printInfo</a:t>
              </a:r>
              <a:r>
                <a:rPr lang="en-US" altLang="ja-JP" sz="1600" dirty="0">
                  <a:latin typeface="+mj-lt"/>
                </a:rPr>
                <a:t> method </a:t>
              </a:r>
              <a:r>
                <a:rPr lang="en-US" altLang="ja-JP" sz="1600" dirty="0" err="1">
                  <a:latin typeface="+mj-lt"/>
                </a:rPr>
                <a:t>của</a:t>
              </a:r>
              <a:r>
                <a:rPr lang="en-US" altLang="ja-JP" sz="1600" dirty="0">
                  <a:latin typeface="+mj-lt"/>
                </a:rPr>
                <a:t> super class (Employee) </a:t>
              </a:r>
              <a:r>
                <a:rPr lang="en-US" altLang="ja-JP" sz="1600" dirty="0" err="1">
                  <a:latin typeface="+mj-lt"/>
                </a:rPr>
                <a:t>trong</a:t>
              </a:r>
              <a:r>
                <a:rPr lang="en-US" altLang="ja-JP" sz="1600" dirty="0">
                  <a:latin typeface="+mj-lt"/>
                </a:rPr>
                <a:t> </a:t>
              </a:r>
              <a:r>
                <a:rPr lang="en-US" altLang="ja-JP" sz="1600" dirty="0" err="1">
                  <a:latin typeface="+mj-lt"/>
                </a:rPr>
                <a:t>printInfo</a:t>
              </a:r>
              <a:r>
                <a:rPr lang="en-US" altLang="ja-JP" sz="1600" dirty="0">
                  <a:latin typeface="+mj-lt"/>
                </a:rPr>
                <a:t> method </a:t>
              </a:r>
              <a:r>
                <a:rPr lang="en-US" altLang="ja-JP" sz="1600" dirty="0" err="1">
                  <a:latin typeface="+mj-lt"/>
                </a:rPr>
                <a:t>của</a:t>
              </a:r>
              <a:r>
                <a:rPr lang="en-US" altLang="ja-JP" sz="1600" dirty="0">
                  <a:latin typeface="+mj-lt"/>
                </a:rPr>
                <a:t> sub class (Sales). </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12BD03C4-44DA-4445-3D86-424AF49EC92C}"/>
              </a:ext>
            </a:extLst>
          </p:cNvPr>
          <p:cNvSpPr>
            <a:spLocks noGrp="1"/>
          </p:cNvSpPr>
          <p:nvPr>
            <p:ph type="sldNum" sz="quarter" idx="10"/>
          </p:nvPr>
        </p:nvSpPr>
        <p:spPr/>
        <p:txBody>
          <a:bodyPr/>
          <a:lstStyle/>
          <a:p>
            <a:fld id="{8497DE62-9172-4B43-98DC-C5600A721E41}" type="slidenum">
              <a:rPr lang="en-US" altLang="ja-JP"/>
              <a:pPr/>
              <a:t>16</a:t>
            </a:fld>
            <a:endParaRPr lang="en-US" altLang="ja-JP"/>
          </a:p>
        </p:txBody>
      </p:sp>
      <p:sp>
        <p:nvSpPr>
          <p:cNvPr id="493570" name="Rectangle 2">
            <a:extLst>
              <a:ext uri="{FF2B5EF4-FFF2-40B4-BE49-F238E27FC236}">
                <a16:creationId xmlns:a16="http://schemas.microsoft.com/office/drawing/2014/main" id="{B6BB5275-36D2-64FE-9A5E-82E821711362}"/>
              </a:ext>
            </a:extLst>
          </p:cNvPr>
          <p:cNvSpPr>
            <a:spLocks noGrp="1" noChangeArrowheads="1"/>
          </p:cNvSpPr>
          <p:nvPr>
            <p:ph type="title"/>
          </p:nvPr>
        </p:nvSpPr>
        <p:spPr>
          <a:xfrm>
            <a:off x="415925" y="333375"/>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Gọi</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ra</a:t>
            </a:r>
            <a:r>
              <a:rPr lang="en-US" altLang="ja-JP" dirty="0">
                <a:latin typeface="Arial" panose="020B0604020202020204" pitchFamily="34" charset="0"/>
                <a:ea typeface="MS UI Gothic" panose="020B0600070205080204" pitchFamily="50" charset="-128"/>
              </a:rPr>
              <a:t> constructor </a:t>
            </a:r>
            <a:r>
              <a:rPr lang="en-US" altLang="ja-JP" dirty="0" err="1">
                <a:latin typeface="Arial" panose="020B0604020202020204" pitchFamily="34" charset="0"/>
                <a:ea typeface="MS UI Gothic" panose="020B0600070205080204" pitchFamily="50" charset="-128"/>
              </a:rPr>
              <a:t>của</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chính</a:t>
            </a:r>
            <a:r>
              <a:rPr lang="en-US" altLang="ja-JP" dirty="0">
                <a:latin typeface="Arial" panose="020B0604020202020204" pitchFamily="34" charset="0"/>
                <a:ea typeface="MS UI Gothic" panose="020B0600070205080204" pitchFamily="50" charset="-128"/>
              </a:rPr>
              <a:t> class </a:t>
            </a:r>
            <a:r>
              <a:rPr lang="en-US" altLang="ja-JP" dirty="0" err="1">
                <a:latin typeface="Arial" panose="020B0604020202020204" pitchFamily="34" charset="0"/>
                <a:ea typeface="MS UI Gothic" panose="020B0600070205080204" pitchFamily="50" charset="-128"/>
              </a:rPr>
              <a:t>đó</a:t>
            </a:r>
            <a:endParaRPr lang="en-US" altLang="ja-JP" dirty="0">
              <a:latin typeface="Arial" panose="020B0604020202020204" pitchFamily="34" charset="0"/>
              <a:ea typeface="MS UI Gothic" panose="020B0600070205080204" pitchFamily="50" charset="-128"/>
            </a:endParaRPr>
          </a:p>
        </p:txBody>
      </p:sp>
      <p:sp>
        <p:nvSpPr>
          <p:cNvPr id="493571" name="Rectangle 3">
            <a:extLst>
              <a:ext uri="{FF2B5EF4-FFF2-40B4-BE49-F238E27FC236}">
                <a16:creationId xmlns:a16="http://schemas.microsoft.com/office/drawing/2014/main" id="{3CE45FFA-144B-D845-9B24-273271901654}"/>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493572" name="Rectangle 4">
            <a:extLst>
              <a:ext uri="{FF2B5EF4-FFF2-40B4-BE49-F238E27FC236}">
                <a16:creationId xmlns:a16="http://schemas.microsoft.com/office/drawing/2014/main" id="{BFF7BF30-9795-5454-1F03-18C3D84E35F9}"/>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t>Gọi ra constructor của chính class đó</a:t>
            </a:r>
          </a:p>
          <a:p>
            <a:pPr>
              <a:spcBef>
                <a:spcPct val="50000"/>
              </a:spcBef>
              <a:buFont typeface="Wingdings" panose="05000000000000000000" pitchFamily="2" charset="2"/>
              <a:buNone/>
            </a:pPr>
            <a:r>
              <a:rPr lang="en-US" altLang="ja-JP" sz="2000" b="0"/>
              <a:t>●Cú pháp cơ bản</a:t>
            </a:r>
            <a:endParaRPr lang="en-US" altLang="ja-JP" sz="2400" b="0"/>
          </a:p>
        </p:txBody>
      </p:sp>
      <p:sp>
        <p:nvSpPr>
          <p:cNvPr id="493573" name="Text Box 5">
            <a:extLst>
              <a:ext uri="{FF2B5EF4-FFF2-40B4-BE49-F238E27FC236}">
                <a16:creationId xmlns:a16="http://schemas.microsoft.com/office/drawing/2014/main" id="{D3518C6E-D8D9-1F7A-E54C-DBA59DD4B696}"/>
              </a:ext>
            </a:extLst>
          </p:cNvPr>
          <p:cNvSpPr txBox="1">
            <a:spLocks noChangeArrowheads="1"/>
          </p:cNvSpPr>
          <p:nvPr/>
        </p:nvSpPr>
        <p:spPr bwMode="auto">
          <a:xfrm>
            <a:off x="344488" y="1751013"/>
            <a:ext cx="9120187" cy="541337"/>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dirty="0">
                <a:latin typeface="+mj-lt"/>
                <a:ea typeface="ＭＳ ゴシック" panose="020B0609070205080204" pitchFamily="49" charset="-128"/>
              </a:rPr>
              <a:t>this(List </a:t>
            </a:r>
            <a:r>
              <a:rPr lang="en-US" altLang="ja-JP" sz="2000" dirty="0" err="1">
                <a:latin typeface="+mj-lt"/>
                <a:ea typeface="ＭＳ ゴシック" panose="020B0609070205080204" pitchFamily="49" charset="-128"/>
              </a:rPr>
              <a:t>các</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đối</a:t>
            </a:r>
            <a:r>
              <a:rPr lang="en-US" altLang="ja-JP" sz="2000" dirty="0">
                <a:latin typeface="+mj-lt"/>
                <a:ea typeface="ＭＳ ゴシック" panose="020B0609070205080204" pitchFamily="49" charset="-128"/>
              </a:rPr>
              <a:t> </a:t>
            </a:r>
            <a:r>
              <a:rPr lang="en-US" altLang="ja-JP" sz="2000" dirty="0" err="1">
                <a:latin typeface="+mj-lt"/>
                <a:ea typeface="ＭＳ ゴシック" panose="020B0609070205080204" pitchFamily="49" charset="-128"/>
              </a:rPr>
              <a:t>số</a:t>
            </a:r>
            <a:r>
              <a:rPr lang="en-US" altLang="ja-JP" sz="2000" dirty="0">
                <a:latin typeface="+mj-lt"/>
                <a:ea typeface="MS UI Gothic" panose="020B0600070205080204" pitchFamily="50" charset="-128"/>
              </a:rPr>
              <a:t>)</a:t>
            </a:r>
            <a:r>
              <a:rPr lang="en-US" altLang="ja-JP" sz="2000" dirty="0">
                <a:latin typeface="+mj-lt"/>
                <a:ea typeface="ＭＳ ゴシック" panose="020B0609070205080204" pitchFamily="49" charset="-128"/>
              </a:rPr>
              <a:t>;</a:t>
            </a:r>
          </a:p>
        </p:txBody>
      </p:sp>
      <p:sp>
        <p:nvSpPr>
          <p:cNvPr id="493574" name="Rectangle 6">
            <a:extLst>
              <a:ext uri="{FF2B5EF4-FFF2-40B4-BE49-F238E27FC236}">
                <a16:creationId xmlns:a16="http://schemas.microsoft.com/office/drawing/2014/main" id="{7FBFEDF1-E814-CF42-81B8-177F206851CC}"/>
              </a:ext>
            </a:extLst>
          </p:cNvPr>
          <p:cNvSpPr>
            <a:spLocks noChangeArrowheads="1"/>
          </p:cNvSpPr>
          <p:nvPr/>
        </p:nvSpPr>
        <p:spPr bwMode="auto">
          <a:xfrm>
            <a:off x="344488" y="2401888"/>
            <a:ext cx="889952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t>●Ví dụ</a:t>
            </a:r>
            <a:endParaRPr lang="en-US" altLang="ja-JP" sz="2400" b="0"/>
          </a:p>
        </p:txBody>
      </p:sp>
      <p:sp>
        <p:nvSpPr>
          <p:cNvPr id="493575" name="Rectangle 7">
            <a:extLst>
              <a:ext uri="{FF2B5EF4-FFF2-40B4-BE49-F238E27FC236}">
                <a16:creationId xmlns:a16="http://schemas.microsoft.com/office/drawing/2014/main" id="{400D13AC-7878-1746-83DB-04D6480EEFDE}"/>
              </a:ext>
            </a:extLst>
          </p:cNvPr>
          <p:cNvSpPr>
            <a:spLocks noChangeArrowheads="1"/>
          </p:cNvSpPr>
          <p:nvPr/>
        </p:nvSpPr>
        <p:spPr bwMode="auto">
          <a:xfrm>
            <a:off x="344488" y="2798763"/>
            <a:ext cx="9120187" cy="34988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531813">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defTabSz="53181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defTabSz="53181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defTabSz="53181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defTabSz="531813">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en-US" sz="1800" b="0" dirty="0">
                <a:latin typeface="Arial" panose="020B0604020202020204" pitchFamily="34" charset="0"/>
                <a:ea typeface="ＭＳ ゴシック" panose="020B0609070205080204" pitchFamily="49" charset="-128"/>
              </a:rPr>
              <a:t>public Employee class {</a:t>
            </a:r>
          </a:p>
          <a:p>
            <a:pPr lvl="1"/>
            <a:r>
              <a:rPr lang="en-US" altLang="ja-JP" sz="1800" b="0" dirty="0">
                <a:latin typeface="Arial" panose="020B0604020202020204" pitchFamily="34" charset="0"/>
                <a:ea typeface="ＭＳ ゴシック" panose="020B0609070205080204" pitchFamily="49" charset="-128"/>
              </a:rPr>
              <a:t>    </a:t>
            </a:r>
            <a:r>
              <a:rPr lang="en-US" altLang="en-US" sz="1800" b="0" dirty="0">
                <a:latin typeface="Arial" panose="020B0604020202020204" pitchFamily="34" charset="0"/>
                <a:ea typeface="ＭＳ ゴシック" panose="020B0609070205080204" pitchFamily="49" charset="-128"/>
              </a:rPr>
              <a:t>private String </a:t>
            </a:r>
            <a:r>
              <a:rPr lang="en-US" altLang="en-US" sz="1800" b="0" dirty="0" err="1">
                <a:latin typeface="Arial" panose="020B0604020202020204" pitchFamily="34" charset="0"/>
                <a:ea typeface="ＭＳ ゴシック" panose="020B0609070205080204" pitchFamily="49" charset="-128"/>
              </a:rPr>
              <a:t>empId</a:t>
            </a:r>
            <a:r>
              <a:rPr lang="en-US" altLang="en-US" sz="1800" b="0" dirty="0">
                <a:latin typeface="Arial" panose="020B0604020202020204" pitchFamily="34" charset="0"/>
                <a:ea typeface="ＭＳ ゴシック" panose="020B0609070205080204" pitchFamily="49" charset="-128"/>
              </a:rPr>
              <a:t>;</a:t>
            </a:r>
          </a:p>
          <a:p>
            <a:pPr lvl="1"/>
            <a:r>
              <a:rPr lang="en-US" altLang="ja-JP" sz="1800" b="0" dirty="0">
                <a:latin typeface="Arial" panose="020B0604020202020204" pitchFamily="34" charset="0"/>
                <a:ea typeface="ＭＳ ゴシック" panose="020B0609070205080204" pitchFamily="49" charset="-128"/>
              </a:rPr>
              <a:t>    </a:t>
            </a:r>
            <a:r>
              <a:rPr lang="en-US" altLang="en-US" sz="1800" b="0" dirty="0">
                <a:latin typeface="Arial" panose="020B0604020202020204" pitchFamily="34" charset="0"/>
                <a:ea typeface="ＭＳ ゴシック" panose="020B0609070205080204" pitchFamily="49" charset="-128"/>
              </a:rPr>
              <a:t>private String </a:t>
            </a:r>
            <a:r>
              <a:rPr lang="en-US" altLang="en-US" sz="1800" b="0" dirty="0" err="1">
                <a:latin typeface="Arial" panose="020B0604020202020204" pitchFamily="34" charset="0"/>
                <a:ea typeface="ＭＳ ゴシック" panose="020B0609070205080204" pitchFamily="49" charset="-128"/>
              </a:rPr>
              <a:t>empName</a:t>
            </a:r>
            <a:r>
              <a:rPr lang="en-US" altLang="en-US" sz="1800" b="0" dirty="0">
                <a:latin typeface="Arial" panose="020B0604020202020204" pitchFamily="34" charset="0"/>
                <a:ea typeface="ＭＳ ゴシック" panose="020B0609070205080204" pitchFamily="49" charset="-128"/>
              </a:rPr>
              <a:t>;</a:t>
            </a:r>
          </a:p>
          <a:p>
            <a:pPr lvl="1"/>
            <a:r>
              <a:rPr lang="en-US" altLang="ja-JP" sz="1800" b="0" dirty="0">
                <a:latin typeface="Arial" panose="020B0604020202020204" pitchFamily="34" charset="0"/>
                <a:ea typeface="ＭＳ ゴシック" panose="020B0609070205080204" pitchFamily="49" charset="-128"/>
              </a:rPr>
              <a:t>    </a:t>
            </a:r>
            <a:r>
              <a:rPr lang="en-US" altLang="en-US" sz="1800" b="0" dirty="0">
                <a:latin typeface="Arial" panose="020B0604020202020204" pitchFamily="34" charset="0"/>
                <a:ea typeface="ＭＳ ゴシック" panose="020B0609070205080204" pitchFamily="49" charset="-128"/>
              </a:rPr>
              <a:t>public Employee()</a:t>
            </a:r>
            <a:r>
              <a:rPr lang="en-US" altLang="ja-JP" sz="1800" b="0" dirty="0">
                <a:latin typeface="Arial" panose="020B0604020202020204" pitchFamily="34" charset="0"/>
                <a:ea typeface="ＭＳ ゴシック" panose="020B0609070205080204" pitchFamily="49" charset="-128"/>
              </a:rPr>
              <a:t> </a:t>
            </a:r>
            <a:r>
              <a:rPr lang="en-US" altLang="en-US" sz="1800" b="0" dirty="0">
                <a:latin typeface="Arial" panose="020B0604020202020204" pitchFamily="34" charset="0"/>
                <a:ea typeface="ＭＳ ゴシック" panose="020B0609070205080204" pitchFamily="49" charset="-128"/>
              </a:rPr>
              <a:t>{</a:t>
            </a:r>
          </a:p>
          <a:p>
            <a:pPr lvl="1"/>
            <a:r>
              <a:rPr lang="en-US" altLang="ja-JP" sz="1800" b="0" dirty="0">
                <a:latin typeface="Arial" panose="020B0604020202020204" pitchFamily="34" charset="0"/>
                <a:ea typeface="ＭＳ ゴシック" panose="020B0609070205080204" pitchFamily="49" charset="-128"/>
              </a:rPr>
              <a:t>        </a:t>
            </a:r>
            <a:r>
              <a:rPr lang="en-US" altLang="en-US" sz="1800" b="0" dirty="0">
                <a:latin typeface="Arial" panose="020B0604020202020204" pitchFamily="34" charset="0"/>
                <a:ea typeface="ＭＳ ゴシック" panose="020B0609070205080204" pitchFamily="49" charset="-128"/>
              </a:rPr>
              <a:t>this("123456", “Yamada </a:t>
            </a:r>
            <a:r>
              <a:rPr lang="en-US" altLang="en-US" sz="1800" b="0" dirty="0" err="1">
                <a:latin typeface="Arial" panose="020B0604020202020204" pitchFamily="34" charset="0"/>
                <a:ea typeface="ＭＳ ゴシック" panose="020B0609070205080204" pitchFamily="49" charset="-128"/>
              </a:rPr>
              <a:t>ichiro</a:t>
            </a:r>
            <a:r>
              <a:rPr lang="en-US" altLang="en-US" sz="1800" b="0" dirty="0">
                <a:latin typeface="Arial" panose="020B0604020202020204" pitchFamily="34" charset="0"/>
                <a:ea typeface="ＭＳ ゴシック" panose="020B0609070205080204" pitchFamily="49" charset="-128"/>
              </a:rPr>
              <a:t>");</a:t>
            </a:r>
          </a:p>
          <a:p>
            <a:pPr lvl="1"/>
            <a:r>
              <a:rPr lang="en-US" altLang="ja-JP" sz="1800" b="0" dirty="0">
                <a:latin typeface="Arial" panose="020B0604020202020204" pitchFamily="34" charset="0"/>
                <a:ea typeface="ＭＳ ゴシック" panose="020B0609070205080204" pitchFamily="49" charset="-128"/>
              </a:rPr>
              <a:t>    </a:t>
            </a:r>
            <a:r>
              <a:rPr lang="en-US" altLang="en-US" sz="1800" b="0" dirty="0">
                <a:latin typeface="Arial" panose="020B0604020202020204" pitchFamily="34" charset="0"/>
                <a:ea typeface="ＭＳ ゴシック" panose="020B0609070205080204" pitchFamily="49" charset="-128"/>
              </a:rPr>
              <a:t>}</a:t>
            </a:r>
          </a:p>
          <a:p>
            <a:pPr lvl="1">
              <a:spcAft>
                <a:spcPct val="50000"/>
              </a:spcAft>
            </a:pPr>
            <a:r>
              <a:rPr lang="en-US" altLang="ja-JP" sz="1800" b="0" dirty="0">
                <a:latin typeface="Arial" panose="020B0604020202020204" pitchFamily="34" charset="0"/>
                <a:ea typeface="ＭＳ ゴシック" panose="020B0609070205080204" pitchFamily="49" charset="-128"/>
              </a:rPr>
              <a:t>    </a:t>
            </a:r>
            <a:r>
              <a:rPr lang="en-US" altLang="en-US" sz="1800" b="0" dirty="0">
                <a:latin typeface="Arial" panose="020B0604020202020204" pitchFamily="34" charset="0"/>
                <a:ea typeface="ＭＳ ゴシック" panose="020B0609070205080204" pitchFamily="49" charset="-128"/>
              </a:rPr>
              <a:t>public Employee(String id, String </a:t>
            </a:r>
            <a:r>
              <a:rPr lang="en-US" altLang="en-US" sz="1800" b="0" dirty="0" err="1">
                <a:latin typeface="Arial" panose="020B0604020202020204" pitchFamily="34" charset="0"/>
                <a:ea typeface="ＭＳ ゴシック" panose="020B0609070205080204" pitchFamily="49" charset="-128"/>
              </a:rPr>
              <a:t>ename</a:t>
            </a:r>
            <a:r>
              <a:rPr lang="en-US" altLang="en-US" sz="1800" b="0" dirty="0">
                <a:latin typeface="Arial" panose="020B0604020202020204" pitchFamily="34" charset="0"/>
                <a:ea typeface="ＭＳ ゴシック" panose="020B0609070205080204" pitchFamily="49" charset="-128"/>
              </a:rPr>
              <a:t>)</a:t>
            </a:r>
            <a:r>
              <a:rPr lang="en-US" altLang="ja-JP" sz="1800" b="0" dirty="0">
                <a:latin typeface="Arial" panose="020B0604020202020204" pitchFamily="34" charset="0"/>
                <a:ea typeface="ＭＳ ゴシック" panose="020B0609070205080204" pitchFamily="49" charset="-128"/>
              </a:rPr>
              <a:t> </a:t>
            </a:r>
            <a:r>
              <a:rPr lang="en-US" altLang="en-US" sz="1800" b="0" dirty="0">
                <a:latin typeface="Arial" panose="020B0604020202020204" pitchFamily="34" charset="0"/>
                <a:ea typeface="ＭＳ ゴシック" panose="020B0609070205080204" pitchFamily="49" charset="-128"/>
              </a:rPr>
              <a:t>{</a:t>
            </a:r>
          </a:p>
          <a:p>
            <a:pPr lvl="1"/>
            <a:r>
              <a:rPr lang="en-US" altLang="ja-JP" sz="1800" b="0" dirty="0">
                <a:latin typeface="Arial" panose="020B0604020202020204" pitchFamily="34" charset="0"/>
                <a:ea typeface="ＭＳ ゴシック" panose="020B0609070205080204" pitchFamily="49" charset="-128"/>
              </a:rPr>
              <a:t>        </a:t>
            </a:r>
            <a:r>
              <a:rPr lang="en-US" altLang="en-US" sz="1800" b="0" dirty="0" err="1">
                <a:latin typeface="Arial" panose="020B0604020202020204" pitchFamily="34" charset="0"/>
                <a:ea typeface="ＭＳ ゴシック" panose="020B0609070205080204" pitchFamily="49" charset="-128"/>
              </a:rPr>
              <a:t>empId</a:t>
            </a:r>
            <a:r>
              <a:rPr lang="en-US" altLang="en-US" sz="1800" b="0">
                <a:latin typeface="Arial" panose="020B0604020202020204" pitchFamily="34" charset="0"/>
                <a:ea typeface="ＭＳ ゴシック" panose="020B0609070205080204" pitchFamily="49" charset="-128"/>
              </a:rPr>
              <a:t> = id;</a:t>
            </a:r>
          </a:p>
          <a:p>
            <a:pPr lvl="1"/>
            <a:r>
              <a:rPr lang="en-US" altLang="ja-JP" sz="1800" b="0" dirty="0">
                <a:latin typeface="Arial" panose="020B0604020202020204" pitchFamily="34" charset="0"/>
                <a:ea typeface="ＭＳ ゴシック" panose="020B0609070205080204" pitchFamily="49" charset="-128"/>
              </a:rPr>
              <a:t>        </a:t>
            </a:r>
            <a:r>
              <a:rPr lang="en-US" altLang="en-US" sz="1800" b="0" dirty="0" err="1">
                <a:latin typeface="Arial" panose="020B0604020202020204" pitchFamily="34" charset="0"/>
                <a:ea typeface="ＭＳ ゴシック" panose="020B0609070205080204" pitchFamily="49" charset="-128"/>
              </a:rPr>
              <a:t>empName</a:t>
            </a:r>
            <a:r>
              <a:rPr lang="en-US" altLang="en-US" sz="1800" b="0" dirty="0">
                <a:latin typeface="Arial" panose="020B0604020202020204" pitchFamily="34" charset="0"/>
                <a:ea typeface="ＭＳ ゴシック" panose="020B0609070205080204" pitchFamily="49" charset="-128"/>
              </a:rPr>
              <a:t> = </a:t>
            </a:r>
            <a:r>
              <a:rPr lang="en-US" altLang="en-US" sz="1800" b="0" dirty="0" err="1">
                <a:latin typeface="Arial" panose="020B0604020202020204" pitchFamily="34" charset="0"/>
                <a:ea typeface="ＭＳ ゴシック" panose="020B0609070205080204" pitchFamily="49" charset="-128"/>
              </a:rPr>
              <a:t>ename</a:t>
            </a:r>
            <a:r>
              <a:rPr lang="en-US" altLang="en-US" sz="1800" b="0" dirty="0">
                <a:latin typeface="Arial" panose="020B0604020202020204" pitchFamily="34" charset="0"/>
                <a:ea typeface="ＭＳ ゴシック" panose="020B0609070205080204" pitchFamily="49" charset="-128"/>
              </a:rPr>
              <a:t>;</a:t>
            </a:r>
          </a:p>
          <a:p>
            <a:pPr lvl="1"/>
            <a:r>
              <a:rPr lang="en-US" altLang="ja-JP" sz="1800" b="0" dirty="0">
                <a:latin typeface="Arial" panose="020B0604020202020204" pitchFamily="34" charset="0"/>
                <a:ea typeface="ＭＳ ゴシック" panose="020B0609070205080204" pitchFamily="49" charset="-128"/>
              </a:rPr>
              <a:t>    </a:t>
            </a:r>
            <a:r>
              <a:rPr lang="en-US" altLang="en-US" sz="1800" b="0" dirty="0">
                <a:latin typeface="Arial" panose="020B0604020202020204" pitchFamily="34" charset="0"/>
                <a:ea typeface="ＭＳ ゴシック" panose="020B0609070205080204" pitchFamily="49" charset="-128"/>
              </a:rPr>
              <a:t>} </a:t>
            </a:r>
            <a:endParaRPr lang="en-US" altLang="ja-JP" sz="1800" b="0" dirty="0">
              <a:latin typeface="Arial" panose="020B0604020202020204" pitchFamily="34" charset="0"/>
              <a:ea typeface="ＭＳ ゴシック" panose="020B0609070205080204" pitchFamily="49" charset="-128"/>
            </a:endParaRPr>
          </a:p>
          <a:p>
            <a:pPr lvl="1"/>
            <a:r>
              <a:rPr lang="en-US" altLang="en-US" sz="1800" b="0" dirty="0">
                <a:latin typeface="Arial" panose="020B0604020202020204" pitchFamily="34" charset="0"/>
                <a:ea typeface="ＭＳ ゴシック" panose="020B0609070205080204" pitchFamily="49" charset="-128"/>
              </a:rPr>
              <a:t>}</a:t>
            </a:r>
            <a:endParaRPr lang="en-US" altLang="ja-JP" sz="1800" b="0" dirty="0">
              <a:latin typeface="Arial" panose="020B0604020202020204" pitchFamily="34" charset="0"/>
              <a:ea typeface="ＭＳ ゴシック" panose="020B0609070205080204" pitchFamily="49" charset="-128"/>
            </a:endParaRPr>
          </a:p>
        </p:txBody>
      </p:sp>
      <p:sp>
        <p:nvSpPr>
          <p:cNvPr id="493577" name="AutoShape 9">
            <a:extLst>
              <a:ext uri="{FF2B5EF4-FFF2-40B4-BE49-F238E27FC236}">
                <a16:creationId xmlns:a16="http://schemas.microsoft.com/office/drawing/2014/main" id="{468C06B9-CCCC-6AE0-D204-1148161AEF52}"/>
              </a:ext>
            </a:extLst>
          </p:cNvPr>
          <p:cNvSpPr>
            <a:spLocks noChangeArrowheads="1"/>
          </p:cNvSpPr>
          <p:nvPr/>
        </p:nvSpPr>
        <p:spPr bwMode="auto">
          <a:xfrm>
            <a:off x="3208338" y="2014538"/>
            <a:ext cx="5981700" cy="517525"/>
          </a:xfrm>
          <a:prstGeom prst="wedgeRoundRectCallout">
            <a:avLst>
              <a:gd name="adj1" fmla="val -60565"/>
              <a:gd name="adj2" fmla="val -44477"/>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600" dirty="0">
                <a:latin typeface="+mj-lt"/>
              </a:rPr>
              <a:t>Trong </a:t>
            </a:r>
            <a:r>
              <a:rPr lang="en-US" altLang="ja-JP" sz="1600" dirty="0" err="1">
                <a:latin typeface="+mj-lt"/>
              </a:rPr>
              <a:t>trường</a:t>
            </a:r>
            <a:r>
              <a:rPr lang="en-US" altLang="ja-JP" sz="1600" dirty="0">
                <a:latin typeface="+mj-lt"/>
              </a:rPr>
              <a:t> </a:t>
            </a:r>
            <a:r>
              <a:rPr lang="en-US" altLang="ja-JP" sz="1600" dirty="0" err="1">
                <a:latin typeface="+mj-lt"/>
              </a:rPr>
              <a:t>hợp</a:t>
            </a:r>
            <a:r>
              <a:rPr lang="en-US" altLang="ja-JP" sz="1600" dirty="0">
                <a:latin typeface="+mj-lt"/>
              </a:rPr>
              <a:t> </a:t>
            </a:r>
            <a:r>
              <a:rPr lang="en-US" altLang="ja-JP" sz="1600" dirty="0" err="1">
                <a:latin typeface="+mj-lt"/>
              </a:rPr>
              <a:t>chỉ</a:t>
            </a:r>
            <a:r>
              <a:rPr lang="en-US" altLang="ja-JP" sz="1600" dirty="0">
                <a:latin typeface="+mj-lt"/>
              </a:rPr>
              <a:t> </a:t>
            </a:r>
            <a:r>
              <a:rPr lang="en-US" altLang="ja-JP" sz="1600" dirty="0" err="1">
                <a:latin typeface="+mj-lt"/>
              </a:rPr>
              <a:t>định</a:t>
            </a:r>
            <a:r>
              <a:rPr lang="en-US" altLang="ja-JP" sz="1600" dirty="0">
                <a:latin typeface="+mj-lt"/>
              </a:rPr>
              <a:t> </a:t>
            </a:r>
            <a:r>
              <a:rPr lang="en-US" altLang="ja-JP" sz="1600" dirty="0" err="1">
                <a:latin typeface="+mj-lt"/>
              </a:rPr>
              <a:t>thì</a:t>
            </a:r>
            <a:r>
              <a:rPr lang="en-US" altLang="ja-JP" sz="1600" dirty="0">
                <a:latin typeface="+mj-lt"/>
              </a:rPr>
              <a:t> </a:t>
            </a:r>
            <a:r>
              <a:rPr lang="en-US" altLang="ja-JP" sz="1600" dirty="0" err="1">
                <a:latin typeface="+mj-lt"/>
              </a:rPr>
              <a:t>nhất</a:t>
            </a:r>
            <a:r>
              <a:rPr lang="en-US" altLang="ja-JP" sz="1600" dirty="0">
                <a:latin typeface="+mj-lt"/>
              </a:rPr>
              <a:t> </a:t>
            </a:r>
            <a:r>
              <a:rPr lang="en-US" altLang="ja-JP" sz="1600" dirty="0" err="1">
                <a:latin typeface="+mj-lt"/>
              </a:rPr>
              <a:t>định</a:t>
            </a:r>
            <a:r>
              <a:rPr lang="en-US" altLang="ja-JP" sz="1600" dirty="0">
                <a:latin typeface="+mj-lt"/>
              </a:rPr>
              <a:t> </a:t>
            </a:r>
            <a:r>
              <a:rPr lang="en-US" altLang="ja-JP" sz="1600" dirty="0" err="1">
                <a:latin typeface="+mj-lt"/>
              </a:rPr>
              <a:t>là</a:t>
            </a:r>
            <a:r>
              <a:rPr lang="en-US" altLang="ja-JP" sz="1600" dirty="0">
                <a:latin typeface="+mj-lt"/>
              </a:rPr>
              <a:t> </a:t>
            </a:r>
            <a:r>
              <a:rPr lang="en-US" altLang="ja-JP" sz="1600" dirty="0" err="1">
                <a:latin typeface="+mj-lt"/>
              </a:rPr>
              <a:t>phải</a:t>
            </a:r>
            <a:r>
              <a:rPr lang="en-US" altLang="ja-JP" sz="1600" dirty="0">
                <a:latin typeface="+mj-lt"/>
              </a:rPr>
              <a:t> </a:t>
            </a:r>
            <a:r>
              <a:rPr lang="en-US" altLang="ja-JP" sz="1600" dirty="0" err="1">
                <a:latin typeface="+mj-lt"/>
              </a:rPr>
              <a:t>mô</a:t>
            </a:r>
            <a:r>
              <a:rPr lang="en-US" altLang="ja-JP" sz="1600" dirty="0">
                <a:latin typeface="+mj-lt"/>
              </a:rPr>
              <a:t> </a:t>
            </a:r>
            <a:r>
              <a:rPr lang="en-US" altLang="ja-JP" sz="1600" dirty="0" err="1">
                <a:latin typeface="+mj-lt"/>
              </a:rPr>
              <a:t>tả</a:t>
            </a:r>
            <a:r>
              <a:rPr lang="en-US" altLang="ja-JP" sz="1600" dirty="0">
                <a:latin typeface="+mj-lt"/>
              </a:rPr>
              <a:t> </a:t>
            </a:r>
            <a:r>
              <a:rPr lang="en-US" altLang="ja-JP" sz="1600" dirty="0" err="1">
                <a:latin typeface="+mj-lt"/>
              </a:rPr>
              <a:t>làm</a:t>
            </a:r>
            <a:r>
              <a:rPr lang="en-US" altLang="ja-JP" sz="1600" dirty="0">
                <a:latin typeface="+mj-lt"/>
              </a:rPr>
              <a:t> </a:t>
            </a:r>
            <a:r>
              <a:rPr lang="en-US" altLang="ja-JP" sz="1600" dirty="0" err="1">
                <a:latin typeface="+mj-lt"/>
              </a:rPr>
              <a:t>xử</a:t>
            </a:r>
            <a:r>
              <a:rPr lang="en-US" altLang="ja-JP" sz="1600" dirty="0">
                <a:latin typeface="+mj-lt"/>
              </a:rPr>
              <a:t> </a:t>
            </a:r>
            <a:r>
              <a:rPr lang="en-US" altLang="ja-JP" sz="1600" dirty="0" err="1">
                <a:latin typeface="+mj-lt"/>
              </a:rPr>
              <a:t>lí</a:t>
            </a:r>
            <a:r>
              <a:rPr lang="en-US" altLang="ja-JP" sz="1600" dirty="0">
                <a:latin typeface="+mj-lt"/>
              </a:rPr>
              <a:t> </a:t>
            </a:r>
            <a:r>
              <a:rPr lang="en-US" altLang="ja-JP" sz="1600" dirty="0" err="1">
                <a:latin typeface="+mj-lt"/>
              </a:rPr>
              <a:t>phần</a:t>
            </a:r>
            <a:r>
              <a:rPr lang="en-US" altLang="ja-JP" sz="1600" dirty="0">
                <a:latin typeface="+mj-lt"/>
              </a:rPr>
              <a:t> </a:t>
            </a:r>
            <a:r>
              <a:rPr lang="en-US" altLang="ja-JP" sz="1600" dirty="0" err="1">
                <a:latin typeface="+mj-lt"/>
              </a:rPr>
              <a:t>đầu</a:t>
            </a:r>
            <a:r>
              <a:rPr lang="en-US" altLang="ja-JP" sz="1600" dirty="0">
                <a:latin typeface="+mj-lt"/>
              </a:rPr>
              <a:t> </a:t>
            </a:r>
            <a:r>
              <a:rPr lang="en-US" altLang="ja-JP" sz="1600" dirty="0" err="1">
                <a:latin typeface="+mj-lt"/>
              </a:rPr>
              <a:t>của</a:t>
            </a:r>
            <a:r>
              <a:rPr lang="en-US" altLang="ja-JP" sz="1600" dirty="0">
                <a:latin typeface="+mj-lt"/>
              </a:rPr>
              <a:t> constructor. </a:t>
            </a:r>
          </a:p>
        </p:txBody>
      </p:sp>
      <p:sp>
        <p:nvSpPr>
          <p:cNvPr id="493578" name="Rectangle 10">
            <a:extLst>
              <a:ext uri="{FF2B5EF4-FFF2-40B4-BE49-F238E27FC236}">
                <a16:creationId xmlns:a16="http://schemas.microsoft.com/office/drawing/2014/main" id="{67F41E79-9CE6-F144-B533-B1B2962E1183}"/>
              </a:ext>
            </a:extLst>
          </p:cNvPr>
          <p:cNvSpPr>
            <a:spLocks noChangeArrowheads="1"/>
          </p:cNvSpPr>
          <p:nvPr/>
        </p:nvSpPr>
        <p:spPr bwMode="auto">
          <a:xfrm>
            <a:off x="1452563" y="4041775"/>
            <a:ext cx="3571875" cy="369888"/>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cxnSp>
        <p:nvCxnSpPr>
          <p:cNvPr id="493579" name="AutoShape 11">
            <a:extLst>
              <a:ext uri="{FF2B5EF4-FFF2-40B4-BE49-F238E27FC236}">
                <a16:creationId xmlns:a16="http://schemas.microsoft.com/office/drawing/2014/main" id="{E868CCE2-DE24-E768-84D4-AE8C978E10D4}"/>
              </a:ext>
            </a:extLst>
          </p:cNvPr>
          <p:cNvCxnSpPr>
            <a:cxnSpLocks noChangeShapeType="1"/>
            <a:stCxn id="493578" idx="3"/>
            <a:endCxn id="493580" idx="3"/>
          </p:cNvCxnSpPr>
          <p:nvPr/>
        </p:nvCxnSpPr>
        <p:spPr bwMode="auto">
          <a:xfrm>
            <a:off x="5043488" y="4227513"/>
            <a:ext cx="1190625" cy="1116012"/>
          </a:xfrm>
          <a:prstGeom prst="bentConnector3">
            <a:avLst>
              <a:gd name="adj1" fmla="val 176134"/>
            </a:avLst>
          </a:prstGeom>
          <a:noFill/>
          <a:ln w="38100">
            <a:solidFill>
              <a:srgbClr val="3FB007"/>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93580" name="Rectangle 12">
            <a:extLst>
              <a:ext uri="{FF2B5EF4-FFF2-40B4-BE49-F238E27FC236}">
                <a16:creationId xmlns:a16="http://schemas.microsoft.com/office/drawing/2014/main" id="{D82DEDDA-6396-2DC1-99B8-5E373F438D90}"/>
              </a:ext>
            </a:extLst>
          </p:cNvPr>
          <p:cNvSpPr>
            <a:spLocks noChangeArrowheads="1"/>
          </p:cNvSpPr>
          <p:nvPr/>
        </p:nvSpPr>
        <p:spPr bwMode="auto">
          <a:xfrm>
            <a:off x="876300" y="4687888"/>
            <a:ext cx="5338763" cy="1311275"/>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493581" name="Rectangle 13">
            <a:extLst>
              <a:ext uri="{FF2B5EF4-FFF2-40B4-BE49-F238E27FC236}">
                <a16:creationId xmlns:a16="http://schemas.microsoft.com/office/drawing/2014/main" id="{5F151582-7510-8E17-3060-286F1A114FA1}"/>
              </a:ext>
            </a:extLst>
          </p:cNvPr>
          <p:cNvSpPr>
            <a:spLocks noChangeArrowheads="1"/>
          </p:cNvSpPr>
          <p:nvPr/>
        </p:nvSpPr>
        <p:spPr bwMode="auto">
          <a:xfrm>
            <a:off x="874713" y="3787775"/>
            <a:ext cx="5337175" cy="846138"/>
          </a:xfrm>
          <a:prstGeom prst="rect">
            <a:avLst/>
          </a:prstGeom>
          <a:noFill/>
          <a:ln w="38100">
            <a:solidFill>
              <a:srgbClr val="FF8519"/>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493582" name="AutoShape 14">
            <a:extLst>
              <a:ext uri="{FF2B5EF4-FFF2-40B4-BE49-F238E27FC236}">
                <a16:creationId xmlns:a16="http://schemas.microsoft.com/office/drawing/2014/main" id="{33593497-BDE2-B897-DEDA-AC8B89700773}"/>
              </a:ext>
            </a:extLst>
          </p:cNvPr>
          <p:cNvSpPr>
            <a:spLocks noChangeArrowheads="1"/>
          </p:cNvSpPr>
          <p:nvPr/>
        </p:nvSpPr>
        <p:spPr bwMode="auto">
          <a:xfrm>
            <a:off x="6305550" y="2906713"/>
            <a:ext cx="3076575" cy="957262"/>
          </a:xfrm>
          <a:prstGeom prst="wedgeRoundRectCallout">
            <a:avLst>
              <a:gd name="adj1" fmla="val -100463"/>
              <a:gd name="adj2" fmla="val 82338"/>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600" b="0" dirty="0">
                <a:latin typeface="+mj-lt"/>
              </a:rPr>
              <a:t>【Tham </a:t>
            </a:r>
            <a:r>
              <a:rPr lang="en-US" altLang="ja-JP" sz="1600" b="0" dirty="0" err="1">
                <a:latin typeface="+mj-lt"/>
              </a:rPr>
              <a:t>khảo】Mô</a:t>
            </a:r>
            <a:r>
              <a:rPr lang="en-US" altLang="ja-JP" sz="1600" b="0" dirty="0">
                <a:latin typeface="+mj-lt"/>
              </a:rPr>
              <a:t> </a:t>
            </a:r>
            <a:r>
              <a:rPr lang="en-US" altLang="ja-JP" sz="1600" b="0" dirty="0" err="1">
                <a:latin typeface="+mj-lt"/>
              </a:rPr>
              <a:t>tả</a:t>
            </a:r>
            <a:r>
              <a:rPr lang="en-US" altLang="ja-JP" sz="1600" b="0" dirty="0">
                <a:latin typeface="+mj-lt"/>
              </a:rPr>
              <a:t> </a:t>
            </a:r>
            <a:r>
              <a:rPr lang="en-US" altLang="ja-JP" sz="1600" b="0" dirty="0" err="1">
                <a:latin typeface="+mj-lt"/>
              </a:rPr>
              <a:t>cho</a:t>
            </a:r>
            <a:r>
              <a:rPr lang="en-US" altLang="ja-JP" sz="1600" b="0" dirty="0">
                <a:latin typeface="+mj-lt"/>
              </a:rPr>
              <a:t> </a:t>
            </a:r>
            <a:r>
              <a:rPr lang="en-US" altLang="ja-JP" sz="1600" b="0" dirty="0" err="1">
                <a:latin typeface="+mj-lt"/>
              </a:rPr>
              <a:t>tới</a:t>
            </a:r>
            <a:r>
              <a:rPr lang="en-US" altLang="ja-JP" sz="1600" b="0" dirty="0">
                <a:latin typeface="+mj-lt"/>
              </a:rPr>
              <a:t> </a:t>
            </a:r>
            <a:r>
              <a:rPr lang="en-US" altLang="ja-JP" sz="1600" b="0" dirty="0" err="1">
                <a:latin typeface="+mj-lt"/>
              </a:rPr>
              <a:t>đây</a:t>
            </a:r>
            <a:endParaRPr lang="en-US" altLang="ja-JP" sz="1600" b="0" dirty="0">
              <a:latin typeface="+mj-lt"/>
            </a:endParaRPr>
          </a:p>
          <a:p>
            <a:r>
              <a:rPr lang="en-US" altLang="ja-JP" sz="1600" b="0" dirty="0" err="1">
                <a:latin typeface="+mj-lt"/>
              </a:rPr>
              <a:t>empId</a:t>
            </a:r>
            <a:r>
              <a:rPr lang="en-US" altLang="ja-JP" sz="1600" b="0" dirty="0">
                <a:latin typeface="+mj-lt"/>
              </a:rPr>
              <a:t> = "123456";</a:t>
            </a:r>
          </a:p>
          <a:p>
            <a:r>
              <a:rPr lang="en-US" altLang="ja-JP" sz="1600" b="0" dirty="0" err="1">
                <a:latin typeface="+mj-lt"/>
              </a:rPr>
              <a:t>empName</a:t>
            </a:r>
            <a:r>
              <a:rPr lang="en-US" altLang="ja-JP" sz="1600" b="0" dirty="0">
                <a:latin typeface="+mj-lt"/>
              </a:rPr>
              <a:t> = “Yamada </a:t>
            </a:r>
            <a:r>
              <a:rPr lang="en-US" altLang="ja-JP" sz="1600" b="0" dirty="0" err="1">
                <a:latin typeface="+mj-lt"/>
              </a:rPr>
              <a:t>ichiro</a:t>
            </a:r>
            <a:r>
              <a:rPr lang="en-US" altLang="ja-JP" sz="1600" b="0" dirty="0">
                <a:latin typeface="+mj-lt"/>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B77F5B81-7C8C-4A9F-69E0-D7CBC9DD3F0D}"/>
              </a:ext>
            </a:extLst>
          </p:cNvPr>
          <p:cNvSpPr>
            <a:spLocks noGrp="1"/>
          </p:cNvSpPr>
          <p:nvPr>
            <p:ph type="sldNum" sz="quarter" idx="10"/>
          </p:nvPr>
        </p:nvSpPr>
        <p:spPr/>
        <p:txBody>
          <a:bodyPr/>
          <a:lstStyle/>
          <a:p>
            <a:fld id="{E90A0207-195A-4B89-B8E2-1F3152D2C556}" type="slidenum">
              <a:rPr lang="en-US" altLang="ja-JP"/>
              <a:pPr/>
              <a:t>17</a:t>
            </a:fld>
            <a:endParaRPr lang="en-US" altLang="ja-JP"/>
          </a:p>
        </p:txBody>
      </p:sp>
      <p:sp>
        <p:nvSpPr>
          <p:cNvPr id="536578" name="Rectangle 2">
            <a:extLst>
              <a:ext uri="{FF2B5EF4-FFF2-40B4-BE49-F238E27FC236}">
                <a16:creationId xmlns:a16="http://schemas.microsoft.com/office/drawing/2014/main" id="{18FA637D-DF97-55F9-BA5C-34C4FA7DD980}"/>
              </a:ext>
            </a:extLst>
          </p:cNvPr>
          <p:cNvSpPr>
            <a:spLocks noGrp="1" noChangeArrowheads="1"/>
          </p:cNvSpPr>
          <p:nvPr>
            <p:ph type="title"/>
          </p:nvPr>
        </p:nvSpPr>
        <p:spPr>
          <a:xfrm>
            <a:off x="333926" y="290788"/>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Gọi</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ra</a:t>
            </a:r>
            <a:r>
              <a:rPr lang="en-US" altLang="ja-JP" dirty="0">
                <a:latin typeface="Arial" panose="020B0604020202020204" pitchFamily="34" charset="0"/>
                <a:ea typeface="MS UI Gothic" panose="020B0600070205080204" pitchFamily="50" charset="-128"/>
              </a:rPr>
              <a:t> constructor </a:t>
            </a:r>
            <a:r>
              <a:rPr lang="en-US" altLang="ja-JP" dirty="0" err="1">
                <a:latin typeface="Arial" panose="020B0604020202020204" pitchFamily="34" charset="0"/>
                <a:ea typeface="MS UI Gothic" panose="020B0600070205080204" pitchFamily="50" charset="-128"/>
              </a:rPr>
              <a:t>của</a:t>
            </a:r>
            <a:r>
              <a:rPr lang="en-US" altLang="ja-JP" dirty="0">
                <a:latin typeface="Arial" panose="020B0604020202020204" pitchFamily="34" charset="0"/>
                <a:ea typeface="MS UI Gothic" panose="020B0600070205080204" pitchFamily="50" charset="-128"/>
              </a:rPr>
              <a:t> super class</a:t>
            </a:r>
          </a:p>
        </p:txBody>
      </p:sp>
      <p:sp>
        <p:nvSpPr>
          <p:cNvPr id="536579" name="Rectangle 3">
            <a:extLst>
              <a:ext uri="{FF2B5EF4-FFF2-40B4-BE49-F238E27FC236}">
                <a16:creationId xmlns:a16="http://schemas.microsoft.com/office/drawing/2014/main" id="{99E0EE85-22EF-18F3-8DBB-5BA389F485B5}"/>
              </a:ext>
            </a:extLst>
          </p:cNvPr>
          <p:cNvSpPr>
            <a:spLocks noChangeArrowheads="1"/>
          </p:cNvSpPr>
          <p:nvPr/>
        </p:nvSpPr>
        <p:spPr bwMode="auto">
          <a:xfrm>
            <a:off x="-979488" y="2136775"/>
            <a:ext cx="9906001" cy="0"/>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ja-JP" altLang="en-US"/>
          </a:p>
        </p:txBody>
      </p:sp>
      <p:sp>
        <p:nvSpPr>
          <p:cNvPr id="536580" name="Rectangle 4">
            <a:extLst>
              <a:ext uri="{FF2B5EF4-FFF2-40B4-BE49-F238E27FC236}">
                <a16:creationId xmlns:a16="http://schemas.microsoft.com/office/drawing/2014/main" id="{14C63702-1101-5C07-ED5B-C2C50B4DE61D}"/>
              </a:ext>
            </a:extLst>
          </p:cNvPr>
          <p:cNvSpPr>
            <a:spLocks noChangeArrowheads="1"/>
          </p:cNvSpPr>
          <p:nvPr/>
        </p:nvSpPr>
        <p:spPr bwMode="auto">
          <a:xfrm>
            <a:off x="344488" y="74930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Gọi ra constructor của super class</a:t>
            </a:r>
          </a:p>
          <a:p>
            <a:pPr>
              <a:spcBef>
                <a:spcPct val="50000"/>
              </a:spcBef>
              <a:buFont typeface="Wingdings" panose="05000000000000000000" pitchFamily="2" charset="2"/>
              <a:buNone/>
            </a:pPr>
            <a:r>
              <a:rPr lang="en-US" altLang="ja-JP" sz="2000" b="0">
                <a:latin typeface="Arial" panose="020B0604020202020204" pitchFamily="34" charset="0"/>
              </a:rPr>
              <a:t>●Cú pháp cơ bản</a:t>
            </a:r>
            <a:endParaRPr lang="en-US" altLang="ja-JP" sz="2400" b="0">
              <a:latin typeface="Arial" panose="020B0604020202020204" pitchFamily="34" charset="0"/>
            </a:endParaRPr>
          </a:p>
          <a:p>
            <a:pPr lvl="1"/>
            <a:endParaRPr lang="en-US" altLang="ja-JP" sz="2400" b="0">
              <a:latin typeface="Arial" panose="020B0604020202020204" pitchFamily="34" charset="0"/>
            </a:endParaRPr>
          </a:p>
        </p:txBody>
      </p:sp>
      <p:sp>
        <p:nvSpPr>
          <p:cNvPr id="536581" name="Text Box 5">
            <a:extLst>
              <a:ext uri="{FF2B5EF4-FFF2-40B4-BE49-F238E27FC236}">
                <a16:creationId xmlns:a16="http://schemas.microsoft.com/office/drawing/2014/main" id="{7F91DB51-13E1-4B93-EAE7-1B4DD4D9EEE2}"/>
              </a:ext>
            </a:extLst>
          </p:cNvPr>
          <p:cNvSpPr txBox="1">
            <a:spLocks noChangeArrowheads="1"/>
          </p:cNvSpPr>
          <p:nvPr/>
        </p:nvSpPr>
        <p:spPr bwMode="auto">
          <a:xfrm>
            <a:off x="344488" y="1751013"/>
            <a:ext cx="9120187" cy="541337"/>
          </a:xfrm>
          <a:prstGeom prst="rect">
            <a:avLst/>
          </a:prstGeom>
          <a:solidFill>
            <a:srgbClr val="FFFFCC"/>
          </a:solidFill>
          <a:ln w="9525" algn="ctr">
            <a:solidFill>
              <a:srgbClr val="000000"/>
            </a:solidFill>
            <a:miter lim="800000"/>
            <a:headEnd/>
            <a:tailEnd/>
          </a:ln>
          <a:effectLst>
            <a:outerShdw dist="57238" dir="2021404" algn="ctr" rotWithShape="0">
              <a:srgbClr val="000000"/>
            </a:outerShdw>
          </a:effectLst>
        </p:spPr>
        <p:txBody>
          <a:bodyPr lIns="9525" tIns="19050" rIns="9525" bIns="9525"/>
          <a:lstStyle>
            <a:lvl1pPr>
              <a:defRPr kumimoji="1">
                <a:solidFill>
                  <a:schemeClr val="tx1"/>
                </a:solidFill>
                <a:latin typeface="Arial" panose="020B0604020202020204" pitchFamily="34" charset="0"/>
                <a:ea typeface="ＭＳ Ｐゴシック" panose="020B0600070205080204" pitchFamily="50" charset="-128"/>
              </a:defRPr>
            </a:lvl1pPr>
            <a:lvl2pPr marL="179388">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lvl="1" algn="just">
              <a:lnSpc>
                <a:spcPct val="112000"/>
              </a:lnSpc>
            </a:pPr>
            <a:r>
              <a:rPr lang="en-US" altLang="ja-JP" sz="2000">
                <a:ea typeface="ＭＳ ゴシック" panose="020B0609070205080204" pitchFamily="49" charset="-128"/>
              </a:rPr>
              <a:t>super(List các đối số);</a:t>
            </a:r>
          </a:p>
        </p:txBody>
      </p:sp>
      <p:sp>
        <p:nvSpPr>
          <p:cNvPr id="536582" name="Rectangle 6">
            <a:extLst>
              <a:ext uri="{FF2B5EF4-FFF2-40B4-BE49-F238E27FC236}">
                <a16:creationId xmlns:a16="http://schemas.microsoft.com/office/drawing/2014/main" id="{4284F034-C67E-0EF2-7125-3CA9211C4E93}"/>
              </a:ext>
            </a:extLst>
          </p:cNvPr>
          <p:cNvSpPr>
            <a:spLocks noChangeArrowheads="1"/>
          </p:cNvSpPr>
          <p:nvPr/>
        </p:nvSpPr>
        <p:spPr bwMode="auto">
          <a:xfrm>
            <a:off x="344488" y="243522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2000" b="0"/>
              <a:t>●Ví dụ</a:t>
            </a:r>
          </a:p>
          <a:p>
            <a:pPr>
              <a:spcBef>
                <a:spcPct val="50000"/>
              </a:spcBef>
              <a:buFont typeface="Wingdings" panose="05000000000000000000" pitchFamily="2" charset="2"/>
              <a:buNone/>
            </a:pPr>
            <a:r>
              <a:rPr lang="en-US" altLang="ja-JP" sz="1800" b="0"/>
              <a:t>【Constructor của super class】</a:t>
            </a:r>
          </a:p>
        </p:txBody>
      </p:sp>
      <p:sp>
        <p:nvSpPr>
          <p:cNvPr id="536584" name="AutoShape 8">
            <a:extLst>
              <a:ext uri="{FF2B5EF4-FFF2-40B4-BE49-F238E27FC236}">
                <a16:creationId xmlns:a16="http://schemas.microsoft.com/office/drawing/2014/main" id="{14EED6E3-D59A-2761-C89E-758D3B6706D2}"/>
              </a:ext>
            </a:extLst>
          </p:cNvPr>
          <p:cNvSpPr>
            <a:spLocks noChangeArrowheads="1"/>
          </p:cNvSpPr>
          <p:nvPr/>
        </p:nvSpPr>
        <p:spPr bwMode="auto">
          <a:xfrm>
            <a:off x="3208338" y="2014538"/>
            <a:ext cx="5981700" cy="468312"/>
          </a:xfrm>
          <a:prstGeom prst="wedgeRoundRectCallout">
            <a:avLst>
              <a:gd name="adj1" fmla="val -59181"/>
              <a:gd name="adj2" fmla="val -49662"/>
              <a:gd name="adj3" fmla="val 16667"/>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600" dirty="0">
                <a:latin typeface="+mj-lt"/>
              </a:rPr>
              <a:t>Trường </a:t>
            </a:r>
            <a:r>
              <a:rPr lang="en-US" altLang="ja-JP" sz="1600" dirty="0" err="1">
                <a:latin typeface="+mj-lt"/>
              </a:rPr>
              <a:t>hợp</a:t>
            </a:r>
            <a:r>
              <a:rPr lang="en-US" altLang="ja-JP" sz="1600" dirty="0">
                <a:latin typeface="+mj-lt"/>
              </a:rPr>
              <a:t> </a:t>
            </a:r>
            <a:r>
              <a:rPr lang="en-US" altLang="ja-JP" sz="1600" dirty="0" err="1">
                <a:latin typeface="+mj-lt"/>
              </a:rPr>
              <a:t>chỉ</a:t>
            </a:r>
            <a:r>
              <a:rPr lang="en-US" altLang="ja-JP" sz="1600" dirty="0">
                <a:latin typeface="+mj-lt"/>
              </a:rPr>
              <a:t> </a:t>
            </a:r>
            <a:r>
              <a:rPr lang="en-US" altLang="ja-JP" sz="1600" dirty="0" err="1">
                <a:latin typeface="+mj-lt"/>
              </a:rPr>
              <a:t>định</a:t>
            </a:r>
            <a:r>
              <a:rPr lang="en-US" altLang="ja-JP" sz="1600" dirty="0">
                <a:latin typeface="+mj-lt"/>
              </a:rPr>
              <a:t> </a:t>
            </a:r>
            <a:r>
              <a:rPr lang="en-US" altLang="ja-JP" sz="1600" dirty="0" err="1">
                <a:latin typeface="+mj-lt"/>
              </a:rPr>
              <a:t>thì</a:t>
            </a:r>
            <a:r>
              <a:rPr lang="en-US" altLang="ja-JP" sz="1600" dirty="0">
                <a:latin typeface="+mj-lt"/>
              </a:rPr>
              <a:t> </a:t>
            </a:r>
            <a:r>
              <a:rPr lang="en-US" altLang="ja-JP" sz="1600" dirty="0" err="1">
                <a:latin typeface="+mj-lt"/>
              </a:rPr>
              <a:t>nhất</a:t>
            </a:r>
            <a:r>
              <a:rPr lang="en-US" altLang="ja-JP" sz="1600" dirty="0">
                <a:latin typeface="+mj-lt"/>
              </a:rPr>
              <a:t> </a:t>
            </a:r>
            <a:r>
              <a:rPr lang="en-US" altLang="ja-JP" sz="1600" dirty="0" err="1">
                <a:latin typeface="+mj-lt"/>
              </a:rPr>
              <a:t>định</a:t>
            </a:r>
            <a:r>
              <a:rPr lang="en-US" altLang="ja-JP" sz="1600" dirty="0">
                <a:latin typeface="+mj-lt"/>
              </a:rPr>
              <a:t> </a:t>
            </a:r>
            <a:r>
              <a:rPr lang="en-US" altLang="ja-JP" sz="1600" dirty="0" err="1">
                <a:latin typeface="+mj-lt"/>
              </a:rPr>
              <a:t>phải</a:t>
            </a:r>
            <a:r>
              <a:rPr lang="en-US" altLang="ja-JP" sz="1600" dirty="0">
                <a:latin typeface="+mj-lt"/>
              </a:rPr>
              <a:t> </a:t>
            </a:r>
            <a:r>
              <a:rPr lang="en-US" altLang="ja-JP" sz="1600" dirty="0" err="1">
                <a:latin typeface="+mj-lt"/>
              </a:rPr>
              <a:t>mô</a:t>
            </a:r>
            <a:r>
              <a:rPr lang="en-US" altLang="ja-JP" sz="1600" dirty="0">
                <a:latin typeface="+mj-lt"/>
              </a:rPr>
              <a:t> </a:t>
            </a:r>
            <a:r>
              <a:rPr lang="en-US" altLang="ja-JP" sz="1600" dirty="0" err="1">
                <a:latin typeface="+mj-lt"/>
              </a:rPr>
              <a:t>tả</a:t>
            </a:r>
            <a:r>
              <a:rPr lang="en-US" altLang="ja-JP" sz="1600" dirty="0">
                <a:latin typeface="+mj-lt"/>
              </a:rPr>
              <a:t> </a:t>
            </a:r>
            <a:r>
              <a:rPr lang="en-US" altLang="ja-JP" sz="1600" dirty="0" err="1">
                <a:latin typeface="+mj-lt"/>
              </a:rPr>
              <a:t>làm</a:t>
            </a:r>
            <a:r>
              <a:rPr lang="en-US" altLang="ja-JP" sz="1600" dirty="0">
                <a:latin typeface="+mj-lt"/>
              </a:rPr>
              <a:t> </a:t>
            </a:r>
            <a:r>
              <a:rPr lang="en-US" altLang="ja-JP" sz="1600" dirty="0" err="1">
                <a:latin typeface="+mj-lt"/>
              </a:rPr>
              <a:t>xử</a:t>
            </a:r>
            <a:r>
              <a:rPr lang="en-US" altLang="ja-JP" sz="1600" dirty="0">
                <a:latin typeface="+mj-lt"/>
              </a:rPr>
              <a:t> </a:t>
            </a:r>
            <a:r>
              <a:rPr lang="en-US" altLang="ja-JP" sz="1600" dirty="0" err="1">
                <a:latin typeface="+mj-lt"/>
              </a:rPr>
              <a:t>lí</a:t>
            </a:r>
            <a:r>
              <a:rPr lang="en-US" altLang="ja-JP" sz="1600" dirty="0">
                <a:latin typeface="+mj-lt"/>
              </a:rPr>
              <a:t> </a:t>
            </a:r>
            <a:r>
              <a:rPr lang="en-US" altLang="ja-JP" sz="1600" dirty="0" err="1">
                <a:latin typeface="+mj-lt"/>
              </a:rPr>
              <a:t>đầu</a:t>
            </a:r>
            <a:r>
              <a:rPr lang="en-US" altLang="ja-JP" sz="1600" dirty="0">
                <a:latin typeface="+mj-lt"/>
              </a:rPr>
              <a:t> </a:t>
            </a:r>
            <a:r>
              <a:rPr lang="en-US" altLang="ja-JP" sz="1600" dirty="0" err="1">
                <a:latin typeface="+mj-lt"/>
              </a:rPr>
              <a:t>của</a:t>
            </a:r>
            <a:r>
              <a:rPr lang="en-US" altLang="ja-JP" sz="1600" dirty="0">
                <a:latin typeface="+mj-lt"/>
              </a:rPr>
              <a:t> constructor. </a:t>
            </a:r>
          </a:p>
        </p:txBody>
      </p:sp>
      <p:sp>
        <p:nvSpPr>
          <p:cNvPr id="536589" name="Rectangle 13">
            <a:extLst>
              <a:ext uri="{FF2B5EF4-FFF2-40B4-BE49-F238E27FC236}">
                <a16:creationId xmlns:a16="http://schemas.microsoft.com/office/drawing/2014/main" id="{64166BBA-FD18-7CF9-A5ED-87C963DEAB7E}"/>
              </a:ext>
            </a:extLst>
          </p:cNvPr>
          <p:cNvSpPr>
            <a:spLocks noChangeArrowheads="1"/>
          </p:cNvSpPr>
          <p:nvPr/>
        </p:nvSpPr>
        <p:spPr bwMode="auto">
          <a:xfrm>
            <a:off x="344488" y="5197475"/>
            <a:ext cx="8882062" cy="13366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531813">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defTabSz="53181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defTabSz="53181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defTabSz="53181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defTabSz="531813">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en-US" altLang="ja-JP" sz="1800" b="0">
                <a:latin typeface="ＭＳ ゴシック" panose="020B0609070205080204" pitchFamily="49" charset="-128"/>
                <a:ea typeface="ＭＳ ゴシック" panose="020B0609070205080204" pitchFamily="49" charset="-128"/>
              </a:rPr>
              <a:t>public Sales(String</a:t>
            </a:r>
            <a:r>
              <a:rPr lang="en-US" altLang="en-US" sz="1800" b="0">
                <a:latin typeface="ＭＳ ゴシック" panose="020B0609070205080204" pitchFamily="49" charset="-128"/>
                <a:ea typeface="ＭＳ ゴシック" panose="020B0609070205080204" pitchFamily="49" charset="-128"/>
              </a:rPr>
              <a:t> </a:t>
            </a:r>
            <a:r>
              <a:rPr lang="en-US" altLang="ja-JP" sz="1800" b="0">
                <a:latin typeface="ＭＳ ゴシック" panose="020B0609070205080204" pitchFamily="49" charset="-128"/>
                <a:ea typeface="ＭＳ ゴシック" panose="020B0609070205080204" pitchFamily="49" charset="-128"/>
              </a:rPr>
              <a:t>id, String ename, int </a:t>
            </a:r>
            <a:r>
              <a:rPr lang="en-US" altLang="en-US" sz="1800" b="0">
                <a:latin typeface="ＭＳ ゴシック" panose="020B0609070205080204" pitchFamily="49" charset="-128"/>
                <a:ea typeface="ＭＳ ゴシック" panose="020B0609070205080204" pitchFamily="49" charset="-128"/>
              </a:rPr>
              <a:t>cnt</a:t>
            </a:r>
            <a:r>
              <a:rPr lang="en-US" altLang="ja-JP" sz="1800" b="0">
                <a:latin typeface="ＭＳ ゴシック" panose="020B0609070205080204" pitchFamily="49" charset="-128"/>
                <a:ea typeface="ＭＳ ゴシック" panose="020B0609070205080204" pitchFamily="49" charset="-128"/>
              </a:rPr>
              <a:t>) {</a:t>
            </a:r>
          </a:p>
          <a:p>
            <a:pPr lvl="1"/>
            <a:r>
              <a:rPr lang="en-US" altLang="ja-JP" sz="1800" b="0">
                <a:latin typeface="ＭＳ ゴシック" panose="020B0609070205080204" pitchFamily="49" charset="-128"/>
                <a:ea typeface="ＭＳ ゴシック" panose="020B0609070205080204" pitchFamily="49" charset="-128"/>
              </a:rPr>
              <a:t>    super(id</a:t>
            </a:r>
            <a:r>
              <a:rPr lang="en-US" altLang="en-US" sz="1800" b="0">
                <a:latin typeface="ＭＳ ゴシック" panose="020B0609070205080204" pitchFamily="49" charset="-128"/>
                <a:ea typeface="ＭＳ ゴシック" panose="020B0609070205080204" pitchFamily="49" charset="-128"/>
              </a:rPr>
              <a:t>, ename);</a:t>
            </a:r>
          </a:p>
          <a:p>
            <a:pPr lvl="1"/>
            <a:r>
              <a:rPr lang="en-US" altLang="ja-JP" sz="1800" b="0">
                <a:latin typeface="ＭＳ ゴシック" panose="020B0609070205080204" pitchFamily="49" charset="-128"/>
                <a:ea typeface="ＭＳ ゴシック" panose="020B0609070205080204" pitchFamily="49" charset="-128"/>
              </a:rPr>
              <a:t>    </a:t>
            </a:r>
            <a:r>
              <a:rPr lang="en-US" altLang="en-US" sz="1800" b="0">
                <a:latin typeface="ＭＳ ゴシック" panose="020B0609070205080204" pitchFamily="49" charset="-128"/>
                <a:ea typeface="ＭＳ ゴシック" panose="020B0609070205080204" pitchFamily="49" charset="-128"/>
              </a:rPr>
              <a:t>customerCount = cnt;</a:t>
            </a:r>
          </a:p>
          <a:p>
            <a:pPr lvl="1"/>
            <a:r>
              <a:rPr lang="en-US" altLang="en-US" sz="1800" b="0">
                <a:latin typeface="ＭＳ ゴシック" panose="020B0609070205080204" pitchFamily="49" charset="-128"/>
                <a:ea typeface="ＭＳ ゴシック" panose="020B0609070205080204" pitchFamily="49" charset="-128"/>
              </a:rPr>
              <a:t>}</a:t>
            </a:r>
            <a:endParaRPr lang="en-US" altLang="ja-JP" sz="1800" b="0">
              <a:latin typeface="ＭＳ ゴシック" panose="020B0609070205080204" pitchFamily="49" charset="-128"/>
              <a:ea typeface="ＭＳ ゴシック" panose="020B0609070205080204" pitchFamily="49" charset="-128"/>
            </a:endParaRPr>
          </a:p>
        </p:txBody>
      </p:sp>
      <p:sp>
        <p:nvSpPr>
          <p:cNvPr id="536583" name="Rectangle 7">
            <a:extLst>
              <a:ext uri="{FF2B5EF4-FFF2-40B4-BE49-F238E27FC236}">
                <a16:creationId xmlns:a16="http://schemas.microsoft.com/office/drawing/2014/main" id="{52678F32-64C7-1BDA-8386-219E2156EF6A}"/>
              </a:ext>
            </a:extLst>
          </p:cNvPr>
          <p:cNvSpPr>
            <a:spLocks noChangeArrowheads="1"/>
          </p:cNvSpPr>
          <p:nvPr/>
        </p:nvSpPr>
        <p:spPr bwMode="auto">
          <a:xfrm>
            <a:off x="344488" y="3268663"/>
            <a:ext cx="8882062" cy="15287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531813">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defTabSz="53181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defTabSz="53181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defTabSz="53181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defTabSz="531813">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defTabSz="531813"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lnSpc>
                <a:spcPct val="130000"/>
              </a:lnSpc>
            </a:pPr>
            <a:r>
              <a:rPr lang="en-US" altLang="en-US" sz="1800" b="0">
                <a:latin typeface="ＭＳ ゴシック" panose="020B0609070205080204" pitchFamily="49" charset="-128"/>
                <a:ea typeface="ＭＳ ゴシック" panose="020B0609070205080204" pitchFamily="49" charset="-128"/>
              </a:rPr>
              <a:t>public </a:t>
            </a:r>
            <a:r>
              <a:rPr lang="en-US" altLang="ja-JP" sz="1800" b="0">
                <a:latin typeface="ＭＳ ゴシック" panose="020B0609070205080204" pitchFamily="49" charset="-128"/>
                <a:ea typeface="ＭＳ ゴシック" panose="020B0609070205080204" pitchFamily="49" charset="-128"/>
              </a:rPr>
              <a:t>Employee(String</a:t>
            </a:r>
            <a:r>
              <a:rPr lang="en-US" altLang="en-US" sz="1800" b="0">
                <a:latin typeface="ＭＳ ゴシック" panose="020B0609070205080204" pitchFamily="49" charset="-128"/>
                <a:ea typeface="ＭＳ ゴシック" panose="020B0609070205080204" pitchFamily="49" charset="-128"/>
              </a:rPr>
              <a:t> id, String ename</a:t>
            </a:r>
            <a:r>
              <a:rPr lang="en-US" altLang="ja-JP" sz="1800" b="0">
                <a:latin typeface="ＭＳ ゴシック" panose="020B0609070205080204" pitchFamily="49" charset="-128"/>
                <a:ea typeface="ＭＳ ゴシック" panose="020B0609070205080204" pitchFamily="49" charset="-128"/>
              </a:rPr>
              <a:t>) {</a:t>
            </a:r>
          </a:p>
          <a:p>
            <a:pPr lvl="1"/>
            <a:r>
              <a:rPr lang="en-US" altLang="ja-JP" sz="1800" b="0">
                <a:latin typeface="ＭＳ ゴシック" panose="020B0609070205080204" pitchFamily="49" charset="-128"/>
                <a:ea typeface="ＭＳ ゴシック" panose="020B0609070205080204" pitchFamily="49" charset="-128"/>
              </a:rPr>
              <a:t>    </a:t>
            </a:r>
            <a:r>
              <a:rPr lang="en-US" altLang="en-US" sz="1800" b="0">
                <a:latin typeface="ＭＳ ゴシック" panose="020B0609070205080204" pitchFamily="49" charset="-128"/>
                <a:ea typeface="ＭＳ ゴシック" panose="020B0609070205080204" pitchFamily="49" charset="-128"/>
              </a:rPr>
              <a:t>empId = id;</a:t>
            </a:r>
          </a:p>
          <a:p>
            <a:pPr lvl="1"/>
            <a:r>
              <a:rPr lang="en-US" altLang="ja-JP" sz="1800" b="0">
                <a:latin typeface="ＭＳ ゴシック" panose="020B0609070205080204" pitchFamily="49" charset="-128"/>
                <a:ea typeface="ＭＳ ゴシック" panose="020B0609070205080204" pitchFamily="49" charset="-128"/>
              </a:rPr>
              <a:t>    </a:t>
            </a:r>
            <a:r>
              <a:rPr lang="en-US" altLang="en-US" sz="1800" b="0">
                <a:latin typeface="ＭＳ ゴシック" panose="020B0609070205080204" pitchFamily="49" charset="-128"/>
                <a:ea typeface="ＭＳ ゴシック" panose="020B0609070205080204" pitchFamily="49" charset="-128"/>
              </a:rPr>
              <a:t>empName = ename;</a:t>
            </a:r>
          </a:p>
          <a:p>
            <a:pPr lvl="1"/>
            <a:r>
              <a:rPr lang="en-US" altLang="en-US" sz="1800" b="0">
                <a:latin typeface="ＭＳ ゴシック" panose="020B0609070205080204" pitchFamily="49" charset="-128"/>
                <a:ea typeface="ＭＳ ゴシック" panose="020B0609070205080204" pitchFamily="49" charset="-128"/>
              </a:rPr>
              <a:t>} </a:t>
            </a:r>
            <a:endParaRPr lang="en-US" altLang="ja-JP" sz="1800" b="0">
              <a:latin typeface="ＭＳ ゴシック" panose="020B0609070205080204" pitchFamily="49" charset="-128"/>
              <a:ea typeface="ＭＳ ゴシック" panose="020B0609070205080204" pitchFamily="49" charset="-128"/>
            </a:endParaRPr>
          </a:p>
          <a:p>
            <a:pPr lvl="1"/>
            <a:endParaRPr lang="en-US" altLang="ja-JP" sz="1800" b="0">
              <a:latin typeface="ＭＳ ゴシック" panose="020B0609070205080204" pitchFamily="49" charset="-128"/>
              <a:ea typeface="ＭＳ ゴシック" panose="020B0609070205080204" pitchFamily="49" charset="-128"/>
            </a:endParaRPr>
          </a:p>
        </p:txBody>
      </p:sp>
      <p:grpSp>
        <p:nvGrpSpPr>
          <p:cNvPr id="536594" name="Group 18">
            <a:extLst>
              <a:ext uri="{FF2B5EF4-FFF2-40B4-BE49-F238E27FC236}">
                <a16:creationId xmlns:a16="http://schemas.microsoft.com/office/drawing/2014/main" id="{2EC842FE-05C4-5E10-5431-F30AB9B3A684}"/>
              </a:ext>
            </a:extLst>
          </p:cNvPr>
          <p:cNvGrpSpPr>
            <a:grpSpLocks/>
          </p:cNvGrpSpPr>
          <p:nvPr/>
        </p:nvGrpSpPr>
        <p:grpSpPr bwMode="auto">
          <a:xfrm>
            <a:off x="444500" y="3371851"/>
            <a:ext cx="8701088" cy="3105151"/>
            <a:chOff x="280" y="2124"/>
            <a:chExt cx="5481" cy="1956"/>
          </a:xfrm>
        </p:grpSpPr>
        <p:sp>
          <p:nvSpPr>
            <p:cNvPr id="536585" name="Rectangle 9">
              <a:extLst>
                <a:ext uri="{FF2B5EF4-FFF2-40B4-BE49-F238E27FC236}">
                  <a16:creationId xmlns:a16="http://schemas.microsoft.com/office/drawing/2014/main" id="{F7DE6A8F-D9EE-6415-B4E7-4644E2F8D170}"/>
                </a:ext>
              </a:extLst>
            </p:cNvPr>
            <p:cNvSpPr>
              <a:spLocks noChangeArrowheads="1"/>
            </p:cNvSpPr>
            <p:nvPr/>
          </p:nvSpPr>
          <p:spPr bwMode="auto">
            <a:xfrm>
              <a:off x="540" y="3497"/>
              <a:ext cx="2625" cy="203"/>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cxnSp>
          <p:nvCxnSpPr>
            <p:cNvPr id="536586" name="AutoShape 10">
              <a:extLst>
                <a:ext uri="{FF2B5EF4-FFF2-40B4-BE49-F238E27FC236}">
                  <a16:creationId xmlns:a16="http://schemas.microsoft.com/office/drawing/2014/main" id="{FD9DC170-067B-7727-7BBD-672448A2907C}"/>
                </a:ext>
              </a:extLst>
            </p:cNvPr>
            <p:cNvCxnSpPr>
              <a:cxnSpLocks noChangeShapeType="1"/>
              <a:stCxn id="536585" idx="3"/>
              <a:endCxn id="536587" idx="3"/>
            </p:cNvCxnSpPr>
            <p:nvPr/>
          </p:nvCxnSpPr>
          <p:spPr bwMode="auto">
            <a:xfrm flipV="1">
              <a:off x="3177" y="2516"/>
              <a:ext cx="330" cy="1083"/>
            </a:xfrm>
            <a:prstGeom prst="bentConnector3">
              <a:avLst>
                <a:gd name="adj1" fmla="val 233028"/>
              </a:avLst>
            </a:prstGeom>
            <a:noFill/>
            <a:ln w="38100">
              <a:solidFill>
                <a:srgbClr val="3FB007"/>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6587" name="Rectangle 11">
              <a:extLst>
                <a:ext uri="{FF2B5EF4-FFF2-40B4-BE49-F238E27FC236}">
                  <a16:creationId xmlns:a16="http://schemas.microsoft.com/office/drawing/2014/main" id="{EBDBBE61-E90C-24B2-F888-9F79490B161B}"/>
                </a:ext>
              </a:extLst>
            </p:cNvPr>
            <p:cNvSpPr>
              <a:spLocks noChangeArrowheads="1"/>
            </p:cNvSpPr>
            <p:nvPr/>
          </p:nvSpPr>
          <p:spPr bwMode="auto">
            <a:xfrm>
              <a:off x="280" y="2124"/>
              <a:ext cx="3215" cy="783"/>
            </a:xfrm>
            <a:prstGeom prst="rect">
              <a:avLst/>
            </a:prstGeom>
            <a:noFill/>
            <a:ln w="38100">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36590" name="AutoShape 14">
              <a:extLst>
                <a:ext uri="{FF2B5EF4-FFF2-40B4-BE49-F238E27FC236}">
                  <a16:creationId xmlns:a16="http://schemas.microsoft.com/office/drawing/2014/main" id="{35ED1DDD-80C8-6BE2-BE37-358E9A4DAB11}"/>
                </a:ext>
              </a:extLst>
            </p:cNvPr>
            <p:cNvSpPr>
              <a:spLocks noChangeArrowheads="1"/>
            </p:cNvSpPr>
            <p:nvPr/>
          </p:nvSpPr>
          <p:spPr bwMode="auto">
            <a:xfrm>
              <a:off x="4030" y="3333"/>
              <a:ext cx="1731" cy="747"/>
            </a:xfrm>
            <a:prstGeom prst="wedgeRoundRectCallout">
              <a:avLst>
                <a:gd name="adj1" fmla="val -97546"/>
                <a:gd name="adj2" fmla="val 3944"/>
                <a:gd name="adj3" fmla="val 16667"/>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525" tIns="19050" rIns="9525" bIns="9525"/>
            <a:lstStyle/>
            <a:p>
              <a:r>
                <a:rPr lang="en-US" altLang="ja-JP" sz="1800" b="0" dirty="0">
                  <a:latin typeface="+mj-lt"/>
                </a:rPr>
                <a:t>【Tham </a:t>
              </a:r>
              <a:r>
                <a:rPr lang="en-US" altLang="ja-JP" sz="1800" b="0" dirty="0" err="1">
                  <a:latin typeface="+mj-lt"/>
                </a:rPr>
                <a:t>khảo】Mô</a:t>
              </a:r>
              <a:r>
                <a:rPr lang="en-US" altLang="ja-JP" sz="1800" b="0" dirty="0">
                  <a:latin typeface="+mj-lt"/>
                </a:rPr>
                <a:t> </a:t>
              </a:r>
              <a:r>
                <a:rPr lang="en-US" altLang="ja-JP" sz="1800" b="0" dirty="0" err="1">
                  <a:latin typeface="+mj-lt"/>
                </a:rPr>
                <a:t>tả</a:t>
              </a:r>
              <a:r>
                <a:rPr lang="en-US" altLang="ja-JP" sz="1800" b="0" dirty="0">
                  <a:latin typeface="+mj-lt"/>
                </a:rPr>
                <a:t> </a:t>
              </a:r>
              <a:r>
                <a:rPr lang="en-US" altLang="ja-JP" sz="1800" b="0" dirty="0" err="1">
                  <a:latin typeface="+mj-lt"/>
                </a:rPr>
                <a:t>cho</a:t>
              </a:r>
              <a:r>
                <a:rPr lang="en-US" altLang="ja-JP" sz="1800" b="0" dirty="0">
                  <a:latin typeface="+mj-lt"/>
                </a:rPr>
                <a:t> </a:t>
              </a:r>
              <a:r>
                <a:rPr lang="en-US" altLang="ja-JP" sz="1800" b="0" dirty="0" err="1">
                  <a:latin typeface="+mj-lt"/>
                </a:rPr>
                <a:t>đến</a:t>
              </a:r>
              <a:r>
                <a:rPr lang="en-US" altLang="ja-JP" sz="1800" b="0" dirty="0">
                  <a:latin typeface="+mj-lt"/>
                </a:rPr>
                <a:t> </a:t>
              </a:r>
              <a:r>
                <a:rPr lang="en-US" altLang="ja-JP" sz="1800" b="0" dirty="0" err="1">
                  <a:latin typeface="+mj-lt"/>
                </a:rPr>
                <a:t>đây</a:t>
              </a:r>
              <a:endParaRPr lang="en-US" altLang="ja-JP" sz="1800" b="0" dirty="0">
                <a:latin typeface="+mj-lt"/>
              </a:endParaRPr>
            </a:p>
            <a:p>
              <a:r>
                <a:rPr lang="en-US" altLang="ja-JP" sz="1800" b="0" dirty="0" err="1">
                  <a:latin typeface="+mj-lt"/>
                  <a:ea typeface="ＭＳ ゴシック" panose="020B0609070205080204" pitchFamily="49" charset="-128"/>
                </a:rPr>
                <a:t>empId</a:t>
              </a:r>
              <a:r>
                <a:rPr lang="en-US" altLang="ja-JP" sz="1800" b="0" dirty="0">
                  <a:latin typeface="+mj-lt"/>
                  <a:ea typeface="ＭＳ ゴシック" panose="020B0609070205080204" pitchFamily="49" charset="-128"/>
                </a:rPr>
                <a:t> = id;</a:t>
              </a:r>
            </a:p>
            <a:p>
              <a:r>
                <a:rPr lang="en-US" altLang="ja-JP" sz="1800" b="0" dirty="0" err="1">
                  <a:latin typeface="+mj-lt"/>
                  <a:ea typeface="ＭＳ ゴシック" panose="020B0609070205080204" pitchFamily="49" charset="-128"/>
                </a:rPr>
                <a:t>empName</a:t>
              </a:r>
              <a:r>
                <a:rPr lang="en-US" altLang="ja-JP" sz="1800" b="0" dirty="0">
                  <a:latin typeface="+mj-lt"/>
                  <a:ea typeface="ＭＳ ゴシック" panose="020B0609070205080204" pitchFamily="49" charset="-128"/>
                </a:rPr>
                <a:t> = </a:t>
              </a:r>
              <a:r>
                <a:rPr lang="en-US" altLang="ja-JP" sz="1800" b="0" dirty="0" err="1">
                  <a:latin typeface="+mj-lt"/>
                  <a:ea typeface="ＭＳ ゴシック" panose="020B0609070205080204" pitchFamily="49" charset="-128"/>
                </a:rPr>
                <a:t>ename</a:t>
              </a:r>
              <a:r>
                <a:rPr lang="en-US" altLang="ja-JP" sz="1800" b="0" dirty="0">
                  <a:latin typeface="+mj-lt"/>
                  <a:ea typeface="ＭＳ ゴシック" panose="020B0609070205080204" pitchFamily="49" charset="-128"/>
                </a:rPr>
                <a:t>;</a:t>
              </a:r>
            </a:p>
          </p:txBody>
        </p:sp>
      </p:grpSp>
      <p:sp>
        <p:nvSpPr>
          <p:cNvPr id="536591" name="Rectangle 15">
            <a:extLst>
              <a:ext uri="{FF2B5EF4-FFF2-40B4-BE49-F238E27FC236}">
                <a16:creationId xmlns:a16="http://schemas.microsoft.com/office/drawing/2014/main" id="{F80923F0-823E-0231-0489-B795D3933B1A}"/>
              </a:ext>
            </a:extLst>
          </p:cNvPr>
          <p:cNvSpPr>
            <a:spLocks noChangeArrowheads="1"/>
          </p:cNvSpPr>
          <p:nvPr/>
        </p:nvSpPr>
        <p:spPr bwMode="auto">
          <a:xfrm>
            <a:off x="344488" y="4826000"/>
            <a:ext cx="8899525"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spcBef>
                <a:spcPct val="50000"/>
              </a:spcBef>
              <a:buFont typeface="Wingdings" panose="05000000000000000000" pitchFamily="2" charset="2"/>
              <a:buNone/>
            </a:pPr>
            <a:r>
              <a:rPr lang="en-US" altLang="ja-JP" sz="1800" b="0"/>
              <a:t>【Constructor của sub class】</a:t>
            </a:r>
          </a:p>
        </p:txBody>
      </p:sp>
    </p:spTree>
  </p:cSld>
  <p:clrMapOvr>
    <a:masterClrMapping/>
  </p:clrMapOvr>
</p:sld>
</file>

<file path=ppt/theme/theme1.xml><?xml version="1.0" encoding="utf-8"?>
<a:theme xmlns:a="http://schemas.openxmlformats.org/drawingml/2006/main" name="標準デザイン">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Arial"/>
        <a:ea typeface="Arial"/>
        <a:cs typeface=""/>
      </a:majorFont>
      <a:minorFont>
        <a:latin typeface="Aptos Slab Black"/>
        <a:ea typeface="Arial"/>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66">
            <a:alpha val="80000"/>
          </a:srgbClr>
        </a:solidFill>
        <a:ln w="12700" cap="flat" cmpd="sng" algn="ctr">
          <a:noFill/>
          <a:prstDash val="solid"/>
          <a:round/>
          <a:headEnd type="none" w="med" len="med"/>
          <a:tailEnd type="none" w="med" len="me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sz="1400" b="0" i="0" u="none" strike="noStrike" cap="none" normalizeH="0" baseline="0" dirty="0">
            <a:ln>
              <a:noFill/>
            </a:ln>
            <a:solidFill>
              <a:srgbClr val="FF0000"/>
            </a:solidFill>
            <a:latin typeface="Meiryo UI" panose="020B0604030504040204" pitchFamily="50" charset="-128"/>
            <a:ea typeface="Meiryo UI" panose="020B0604030504040204" pitchFamily="50" charset="-128"/>
          </a:defRPr>
        </a:defPPr>
      </a:lstStyle>
    </a:spDef>
    <a:lnDef>
      <a:spPr bwMode="auto">
        <a:pattFill prst="dashHorz">
          <a:fgClr>
            <a:srgbClr val="808080"/>
          </a:fgClr>
          <a:bgClr>
            <a:srgbClr val="FFFF00"/>
          </a:bgClr>
        </a:pattFill>
        <a:ln w="12700" cap="flat" cmpd="sng" algn="ctr">
          <a:solidFill>
            <a:srgbClr val="000000"/>
          </a:solidFill>
          <a:prstDash val="solid"/>
          <a:round/>
          <a:headEnd type="none" w="med" len="med"/>
          <a:tailEnd type="none" w="med" len="med"/>
        </a:ln>
        <a:effectLst/>
      </a:spPr>
      <a:bodyPr/>
      <a:lstStyle/>
    </a:lnDef>
    <a:txDef>
      <a:spPr>
        <a:noFill/>
      </a:spPr>
      <a:bodyPr wrap="square" rtlCol="0">
        <a:spAutoFit/>
      </a:bodyPr>
      <a:lstStyle>
        <a:defPPr>
          <a:defRPr kumimoji="1" sz="1400" b="0" dirty="0" smtClean="0">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AI_IoT_Assign_Plan_Optimization_GenAI_2025.pptx" id="{14E944DE-3199-4D98-A76C-EFBF91815B4E}" vid="{1A6114F4-44F2-4525-80F9-55402634BD3F}"/>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I_IoT_Assign_Plan_Optimization_GenAI_2025.pptx" id="{14E944DE-3199-4D98-A76C-EFBF91815B4E}" vid="{8B1B50D9-B7E1-464E-B075-1B05D2128356}"/>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UsolV-tmp</Template>
  <TotalTime>22197</TotalTime>
  <Words>4119</Words>
  <Application>Microsoft Office PowerPoint</Application>
  <PresentationFormat>A4 Paper (210x297 mm)</PresentationFormat>
  <Paragraphs>520</Paragraphs>
  <Slides>17</Slides>
  <Notes>11</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17</vt:i4>
      </vt:variant>
    </vt:vector>
  </HeadingPairs>
  <TitlesOfParts>
    <vt:vector size="30" baseType="lpstr">
      <vt:lpstr>HG丸ｺﾞｼｯｸM-PRO</vt:lpstr>
      <vt:lpstr>Meiryo UI</vt:lpstr>
      <vt:lpstr>ＭＳ Ｐゴシック</vt:lpstr>
      <vt:lpstr>MS UI Gothic</vt:lpstr>
      <vt:lpstr>ＭＳ ゴシック</vt:lpstr>
      <vt:lpstr>SimSun</vt:lpstr>
      <vt:lpstr>ADLaM Display</vt:lpstr>
      <vt:lpstr>Arial</vt:lpstr>
      <vt:lpstr>Segoe Script</vt:lpstr>
      <vt:lpstr>Times New Roman</vt:lpstr>
      <vt:lpstr>Wingdings</vt:lpstr>
      <vt:lpstr>標準デザイン</vt:lpstr>
      <vt:lpstr>デザインの設定</vt:lpstr>
      <vt:lpstr>PowerPoint Presentation</vt:lpstr>
      <vt:lpstr>Thừa kế là gì? </vt:lpstr>
      <vt:lpstr>Thừa kế là gì? </vt:lpstr>
      <vt:lpstr>Định nghĩa super class</vt:lpstr>
      <vt:lpstr>Protected modifier</vt:lpstr>
      <vt:lpstr>Định nghĩa sub class (1)</vt:lpstr>
      <vt:lpstr>Định nghĩa sub class(2)</vt:lpstr>
      <vt:lpstr>PowerPoint Presentation</vt:lpstr>
      <vt:lpstr>Định nghĩa sub class(3)</vt:lpstr>
      <vt:lpstr>Override method</vt:lpstr>
      <vt:lpstr>Override và overload</vt:lpstr>
      <vt:lpstr>Override</vt:lpstr>
      <vt:lpstr>Override</vt:lpstr>
      <vt:lpstr>@Override annotation</vt:lpstr>
      <vt:lpstr>this và super</vt:lpstr>
      <vt:lpstr>Gọi ra constructor của chính class đó</vt:lpstr>
      <vt:lpstr>Gọi ra constructor của super class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bản về AI và Data</dc:title>
  <dc:creator>Dang Minh Duc</dc:creator>
  <cp:lastModifiedBy>Mai Ngoc Khuong</cp:lastModifiedBy>
  <cp:revision>453</cp:revision>
  <cp:lastPrinted>2018-04-10T08:59:30Z</cp:lastPrinted>
  <dcterms:created xsi:type="dcterms:W3CDTF">2025-05-21T02:38:07Z</dcterms:created>
  <dcterms:modified xsi:type="dcterms:W3CDTF">2026-08-14T04:23:14Z</dcterms:modified>
</cp:coreProperties>
</file>