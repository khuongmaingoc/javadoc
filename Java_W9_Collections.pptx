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23"/>
  </p:notesMasterIdLst>
  <p:handoutMasterIdLst>
    <p:handoutMasterId r:id="rId24"/>
  </p:handoutMasterIdLst>
  <p:sldIdLst>
    <p:sldId id="689" r:id="rId3"/>
    <p:sldId id="334" r:id="rId4"/>
    <p:sldId id="452" r:id="rId5"/>
    <p:sldId id="466" r:id="rId6"/>
    <p:sldId id="691" r:id="rId7"/>
    <p:sldId id="694" r:id="rId8"/>
    <p:sldId id="696" r:id="rId9"/>
    <p:sldId id="497" r:id="rId10"/>
    <p:sldId id="692" r:id="rId11"/>
    <p:sldId id="693" r:id="rId12"/>
    <p:sldId id="697" r:id="rId13"/>
    <p:sldId id="499" r:id="rId14"/>
    <p:sldId id="695" r:id="rId15"/>
    <p:sldId id="698" r:id="rId16"/>
    <p:sldId id="699" r:id="rId17"/>
    <p:sldId id="704" r:id="rId18"/>
    <p:sldId id="702" r:id="rId19"/>
    <p:sldId id="703" r:id="rId20"/>
    <p:sldId id="705" r:id="rId21"/>
    <p:sldId id="706" r:id="rId22"/>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p:cViewPr varScale="1">
        <p:scale>
          <a:sx n="106" d="100"/>
          <a:sy n="106" d="100"/>
        </p:scale>
        <p:origin x="1548" y="108"/>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a:extLst>
              <a:ext uri="{FF2B5EF4-FFF2-40B4-BE49-F238E27FC236}">
                <a16:creationId xmlns:a16="http://schemas.microsoft.com/office/drawing/2014/main" id="{D43EDC8B-2DE3-1BF9-94D3-89208A6CED42}"/>
              </a:ext>
            </a:extLst>
          </p:cNvPr>
          <p:cNvSpPr>
            <a:spLocks noGrp="1" noRot="1" noChangeAspect="1" noChangeArrowheads="1" noTextEdit="1"/>
          </p:cNvSpPr>
          <p:nvPr>
            <p:ph type="sldImg"/>
          </p:nvPr>
        </p:nvSpPr>
        <p:spPr>
          <a:xfrm>
            <a:off x="784225" y="766763"/>
            <a:ext cx="5541963" cy="3836987"/>
          </a:xfrm>
          <a:ln/>
        </p:spPr>
      </p:sp>
      <p:sp>
        <p:nvSpPr>
          <p:cNvPr id="257029" name="Rectangle 5">
            <a:extLst>
              <a:ext uri="{FF2B5EF4-FFF2-40B4-BE49-F238E27FC236}">
                <a16:creationId xmlns:a16="http://schemas.microsoft.com/office/drawing/2014/main" id="{863CF162-55D7-851E-F4DA-B16DBD65F1F5}"/>
              </a:ext>
            </a:extLst>
          </p:cNvPr>
          <p:cNvSpPr>
            <a:spLocks noGrp="1" noChangeArrowheads="1"/>
          </p:cNvSpPr>
          <p:nvPr>
            <p:ph type="body" idx="1"/>
          </p:nvPr>
        </p:nvSpPr>
        <p:spPr/>
        <p:txBody>
          <a:bodyPr/>
          <a:lstStyle/>
          <a:p>
            <a:r>
              <a:rPr lang="en-US" altLang="ja-JP">
                <a:latin typeface="Arial" panose="020B0604020202020204" pitchFamily="34" charset="0"/>
              </a:rPr>
              <a:t>Trong chương 8, sẽ sử dụng các nội dung sau:</a:t>
            </a:r>
          </a:p>
          <a:p>
            <a:endParaRPr lang="en-US" altLang="ja-JP">
              <a:latin typeface="Arial" panose="020B0604020202020204" pitchFamily="34" charset="0"/>
            </a:endParaRPr>
          </a:p>
          <a:p>
            <a:r>
              <a:rPr lang="en-US" altLang="ja-JP">
                <a:latin typeface="Arial" panose="020B0604020202020204" pitchFamily="34" charset="0"/>
              </a:rPr>
              <a:t>8.1</a:t>
            </a:r>
            <a:r>
              <a:rPr lang="ja-JP" altLang="en-US">
                <a:latin typeface="Arial" panose="020B0604020202020204" pitchFamily="34" charset="0"/>
              </a:rPr>
              <a:t>　</a:t>
            </a:r>
            <a:r>
              <a:rPr lang="en-US" altLang="ja-JP">
                <a:latin typeface="Arial" panose="020B0604020202020204" pitchFamily="34" charset="0"/>
              </a:rPr>
              <a:t>Collection là gì?</a:t>
            </a:r>
          </a:p>
          <a:p>
            <a:r>
              <a:rPr lang="en-US" altLang="ja-JP">
                <a:latin typeface="Arial" panose="020B0604020202020204" pitchFamily="34" charset="0"/>
              </a:rPr>
              <a:t>8.2</a:t>
            </a:r>
            <a:r>
              <a:rPr lang="ja-JP" altLang="en-US">
                <a:latin typeface="Arial" panose="020B0604020202020204" pitchFamily="34" charset="0"/>
              </a:rPr>
              <a:t>　</a:t>
            </a:r>
            <a:r>
              <a:rPr lang="en-US" altLang="ja-JP">
                <a:latin typeface="Arial" panose="020B0604020202020204" pitchFamily="34" charset="0"/>
              </a:rPr>
              <a:t>ArrayList</a:t>
            </a:r>
          </a:p>
          <a:p>
            <a:r>
              <a:rPr lang="en-US" altLang="ja-JP">
                <a:latin typeface="Arial" panose="020B0604020202020204" pitchFamily="34" charset="0"/>
              </a:rPr>
              <a:t>8.3</a:t>
            </a:r>
            <a:r>
              <a:rPr lang="ja-JP" altLang="en-US">
                <a:latin typeface="Arial" panose="020B0604020202020204" pitchFamily="34" charset="0"/>
              </a:rPr>
              <a:t>　</a:t>
            </a:r>
            <a:r>
              <a:rPr lang="en-US" altLang="ja-JP">
                <a:latin typeface="Arial" panose="020B0604020202020204" pitchFamily="34" charset="0"/>
              </a:rPr>
              <a:t>HashSet</a:t>
            </a:r>
          </a:p>
          <a:p>
            <a:r>
              <a:rPr lang="en-US" altLang="ja-JP">
                <a:latin typeface="Arial" panose="020B0604020202020204" pitchFamily="34" charset="0"/>
              </a:rPr>
              <a:t>8.4</a:t>
            </a:r>
            <a:r>
              <a:rPr lang="ja-JP" altLang="en-US">
                <a:latin typeface="Arial" panose="020B0604020202020204" pitchFamily="34" charset="0"/>
              </a:rPr>
              <a:t>　</a:t>
            </a:r>
            <a:r>
              <a:rPr lang="en-US" altLang="ja-JP">
                <a:latin typeface="Arial" panose="020B0604020202020204" pitchFamily="34" charset="0"/>
              </a:rPr>
              <a:t>【Bổ sung】HashMap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a:extLst>
              <a:ext uri="{FF2B5EF4-FFF2-40B4-BE49-F238E27FC236}">
                <a16:creationId xmlns:a16="http://schemas.microsoft.com/office/drawing/2014/main" id="{3304C10B-E9F1-1A2F-1873-046EA1E42AD7}"/>
              </a:ext>
            </a:extLst>
          </p:cNvPr>
          <p:cNvSpPr>
            <a:spLocks noGrp="1" noRot="1" noChangeAspect="1" noChangeArrowheads="1" noTextEdit="1"/>
          </p:cNvSpPr>
          <p:nvPr>
            <p:ph type="sldImg"/>
          </p:nvPr>
        </p:nvSpPr>
        <p:spPr>
          <a:xfrm>
            <a:off x="530225" y="835025"/>
            <a:ext cx="6024563" cy="4170363"/>
          </a:xfrm>
          <a:ln/>
        </p:spPr>
      </p:sp>
      <p:sp>
        <p:nvSpPr>
          <p:cNvPr id="547843" name="Rectangle 3">
            <a:extLst>
              <a:ext uri="{FF2B5EF4-FFF2-40B4-BE49-F238E27FC236}">
                <a16:creationId xmlns:a16="http://schemas.microsoft.com/office/drawing/2014/main" id="{E3C6C1CE-7180-1CD2-9AEF-55B1B7B94922}"/>
              </a:ext>
            </a:extLst>
          </p:cNvPr>
          <p:cNvSpPr>
            <a:spLocks noGrp="1" noChangeArrowheads="1"/>
          </p:cNvSpPr>
          <p:nvPr>
            <p:ph type="body" idx="1"/>
          </p:nvPr>
        </p:nvSpPr>
        <p:spPr/>
        <p:txBody>
          <a:bodyPr/>
          <a:lstStyle/>
          <a:p>
            <a:pPr marL="0" indent="0"/>
            <a:r>
              <a:rPr lang="en-US" altLang="ja-JP" dirty="0">
                <a:latin typeface="Arial" panose="020B0604020202020204" pitchFamily="34" charset="0"/>
              </a:rPr>
              <a:t>■</a:t>
            </a:r>
            <a:r>
              <a:rPr lang="ja-JP" altLang="en-US" dirty="0">
                <a:latin typeface="Arial" panose="020B0604020202020204" pitchFamily="34" charset="0"/>
              </a:rPr>
              <a:t>　</a:t>
            </a:r>
            <a:r>
              <a:rPr lang="en-US" altLang="ja-JP" dirty="0">
                <a:latin typeface="Arial" panose="020B0604020202020204" pitchFamily="34" charset="0"/>
              </a:rPr>
              <a:t>Collection</a:t>
            </a:r>
          </a:p>
          <a:p>
            <a:pPr marL="0" indent="0"/>
            <a:r>
              <a:rPr lang="ja-JP" altLang="en-US" dirty="0">
                <a:latin typeface="Arial" panose="020B0604020202020204" pitchFamily="34" charset="0"/>
              </a:rPr>
              <a:t>　</a:t>
            </a:r>
            <a:r>
              <a:rPr lang="en-US" altLang="ja-JP" dirty="0">
                <a:latin typeface="Arial" panose="020B0604020202020204" pitchFamily="34" charset="0"/>
              </a:rPr>
              <a:t>Collection </a:t>
            </a:r>
            <a:r>
              <a:rPr lang="en-US" altLang="ja-JP" dirty="0" err="1">
                <a:latin typeface="Arial" panose="020B0604020202020204" pitchFamily="34" charset="0"/>
              </a:rPr>
              <a:t>là</a:t>
            </a:r>
            <a:r>
              <a:rPr lang="en-US" altLang="ja-JP" dirty="0">
                <a:latin typeface="Arial" panose="020B0604020202020204" pitchFamily="34" charset="0"/>
              </a:rPr>
              <a:t> object </a:t>
            </a:r>
            <a:r>
              <a:rPr lang="en-US" altLang="ja-JP" dirty="0" err="1">
                <a:latin typeface="Arial" panose="020B0604020202020204" pitchFamily="34" charset="0"/>
              </a:rPr>
              <a:t>thê</a:t>
            </a:r>
            <a:r>
              <a:rPr lang="en-US" altLang="ja-JP" dirty="0">
                <a:latin typeface="Arial" panose="020B0604020202020204" pitchFamily="34" charset="0"/>
              </a:rPr>
              <a:t>̉ </a:t>
            </a:r>
            <a:r>
              <a:rPr lang="en-US" altLang="ja-JP" dirty="0" err="1">
                <a:latin typeface="Arial" panose="020B0604020202020204" pitchFamily="34" charset="0"/>
              </a:rPr>
              <a:t>hiện</a:t>
            </a:r>
            <a:r>
              <a:rPr lang="en-US" altLang="ja-JP" dirty="0">
                <a:latin typeface="Arial" panose="020B0604020202020204" pitchFamily="34" charset="0"/>
              </a:rPr>
              <a:t> </a:t>
            </a:r>
            <a:r>
              <a:rPr lang="en-US" altLang="ja-JP" dirty="0" err="1">
                <a:latin typeface="Arial" panose="020B0604020202020204" pitchFamily="34" charset="0"/>
              </a:rPr>
              <a:t>tập</a:t>
            </a:r>
            <a:r>
              <a:rPr lang="en-US" altLang="ja-JP" dirty="0">
                <a:latin typeface="Arial" panose="020B0604020202020204" pitchFamily="34" charset="0"/>
              </a:rPr>
              <a:t> </a:t>
            </a:r>
            <a:r>
              <a:rPr lang="en-US" altLang="ja-JP" dirty="0" err="1">
                <a:latin typeface="Arial" panose="020B0604020202020204" pitchFamily="34" charset="0"/>
              </a:rPr>
              <a:t>hợp</a:t>
            </a:r>
            <a:r>
              <a:rPr lang="en-US" altLang="ja-JP" dirty="0">
                <a:latin typeface="Arial" panose="020B0604020202020204" pitchFamily="34" charset="0"/>
              </a:rPr>
              <a:t> </a:t>
            </a:r>
            <a:r>
              <a:rPr lang="en-US" altLang="ja-JP" dirty="0" err="1">
                <a:latin typeface="Arial" panose="020B0604020202020204" pitchFamily="34" charset="0"/>
              </a:rPr>
              <a:t>của</a:t>
            </a:r>
            <a:r>
              <a:rPr lang="en-US" altLang="ja-JP" dirty="0">
                <a:latin typeface="Arial" panose="020B0604020202020204" pitchFamily="34" charset="0"/>
              </a:rPr>
              <a:t> </a:t>
            </a:r>
            <a:r>
              <a:rPr lang="en-US" altLang="ja-JP" dirty="0" err="1">
                <a:latin typeface="Arial" panose="020B0604020202020204" pitchFamily="34" charset="0"/>
              </a:rPr>
              <a:t>nhiều</a:t>
            </a:r>
            <a:r>
              <a:rPr lang="en-US" altLang="ja-JP" dirty="0">
                <a:latin typeface="Arial" panose="020B0604020202020204" pitchFamily="34" charset="0"/>
              </a:rPr>
              <a:t> </a:t>
            </a:r>
            <a:r>
              <a:rPr lang="en-US" altLang="ja-JP" dirty="0" err="1">
                <a:latin typeface="Arial" panose="020B0604020202020204" pitchFamily="34" charset="0"/>
              </a:rPr>
              <a:t>phần</a:t>
            </a:r>
            <a:r>
              <a:rPr lang="en-US" altLang="ja-JP" dirty="0">
                <a:latin typeface="Arial" panose="020B0604020202020204" pitchFamily="34" charset="0"/>
              </a:rPr>
              <a:t> </a:t>
            </a:r>
            <a:r>
              <a:rPr lang="en-US" altLang="ja-JP" dirty="0" err="1">
                <a:latin typeface="Arial" panose="020B0604020202020204" pitchFamily="34" charset="0"/>
              </a:rPr>
              <a:t>tử</a:t>
            </a:r>
            <a:r>
              <a:rPr lang="en-US" altLang="ja-JP" dirty="0">
                <a:latin typeface="Arial" panose="020B0604020202020204" pitchFamily="34" charset="0"/>
              </a:rPr>
              <a:t> (object). </a:t>
            </a:r>
          </a:p>
          <a:p>
            <a:pPr marL="0" indent="0"/>
            <a:r>
              <a:rPr lang="ja-JP" altLang="en-US" dirty="0">
                <a:latin typeface="Arial" panose="020B0604020202020204" pitchFamily="34" charset="0"/>
              </a:rPr>
              <a:t>　</a:t>
            </a:r>
            <a:r>
              <a:rPr lang="en-US" altLang="ja-JP" dirty="0" err="1">
                <a:latin typeface="Arial" panose="020B0604020202020204" pitchFamily="34" charset="0"/>
              </a:rPr>
              <a:t>Mảng</a:t>
            </a:r>
            <a:r>
              <a:rPr lang="en-US" altLang="ja-JP" dirty="0">
                <a:latin typeface="Arial" panose="020B0604020202020204" pitchFamily="34" charset="0"/>
              </a:rPr>
              <a:t> </a:t>
            </a:r>
            <a:r>
              <a:rPr lang="en-US" altLang="ja-JP" dirty="0" err="1">
                <a:latin typeface="Arial" panose="020B0604020202020204" pitchFamily="34" charset="0"/>
              </a:rPr>
              <a:t>cũng</a:t>
            </a:r>
            <a:r>
              <a:rPr lang="en-US" altLang="ja-JP" dirty="0">
                <a:latin typeface="Arial" panose="020B0604020202020204" pitchFamily="34" charset="0"/>
              </a:rPr>
              <a:t> </a:t>
            </a:r>
            <a:r>
              <a:rPr lang="en-US" altLang="ja-JP" dirty="0" err="1">
                <a:latin typeface="Arial" panose="020B0604020202020204" pitchFamily="34" charset="0"/>
              </a:rPr>
              <a:t>có</a:t>
            </a:r>
            <a:r>
              <a:rPr lang="en-US" altLang="ja-JP" dirty="0">
                <a:latin typeface="Arial" panose="020B0604020202020204" pitchFamily="34" charset="0"/>
              </a:rPr>
              <a:t> </a:t>
            </a:r>
            <a:r>
              <a:rPr lang="en-US" altLang="ja-JP" dirty="0" err="1">
                <a:latin typeface="Arial" panose="020B0604020202020204" pitchFamily="34" charset="0"/>
              </a:rPr>
              <a:t>thể</a:t>
            </a:r>
            <a:r>
              <a:rPr lang="en-US" altLang="ja-JP" dirty="0">
                <a:latin typeface="Arial" panose="020B0604020202020204" pitchFamily="34" charset="0"/>
              </a:rPr>
              <a:t> </a:t>
            </a:r>
            <a:r>
              <a:rPr lang="en-US" altLang="ja-JP" dirty="0" err="1">
                <a:latin typeface="Arial" panose="020B0604020202020204" pitchFamily="34" charset="0"/>
              </a:rPr>
              <a:t>thao</a:t>
            </a:r>
            <a:r>
              <a:rPr lang="en-US" altLang="ja-JP" dirty="0">
                <a:latin typeface="Arial" panose="020B0604020202020204" pitchFamily="34" charset="0"/>
              </a:rPr>
              <a:t> </a:t>
            </a:r>
            <a:r>
              <a:rPr lang="en-US" altLang="ja-JP" dirty="0" err="1">
                <a:latin typeface="Arial" panose="020B0604020202020204" pitchFamily="34" charset="0"/>
              </a:rPr>
              <a:t>tác</a:t>
            </a:r>
            <a:r>
              <a:rPr lang="en-US" altLang="ja-JP" dirty="0">
                <a:latin typeface="Arial" panose="020B0604020202020204" pitchFamily="34" charset="0"/>
              </a:rPr>
              <a:t> </a:t>
            </a:r>
            <a:r>
              <a:rPr lang="en-US" altLang="ja-JP" dirty="0" err="1">
                <a:latin typeface="Arial" panose="020B0604020202020204" pitchFamily="34" charset="0"/>
              </a:rPr>
              <a:t>nhiều</a:t>
            </a:r>
            <a:r>
              <a:rPr lang="en-US" altLang="ja-JP" dirty="0">
                <a:latin typeface="Arial" panose="020B0604020202020204" pitchFamily="34" charset="0"/>
              </a:rPr>
              <a:t> </a:t>
            </a:r>
            <a:r>
              <a:rPr lang="en-US" altLang="ja-JP" dirty="0" err="1">
                <a:latin typeface="Arial" panose="020B0604020202020204" pitchFamily="34" charset="0"/>
              </a:rPr>
              <a:t>phần</a:t>
            </a:r>
            <a:r>
              <a:rPr lang="en-US" altLang="ja-JP" dirty="0">
                <a:latin typeface="Arial" panose="020B0604020202020204" pitchFamily="34" charset="0"/>
              </a:rPr>
              <a:t> </a:t>
            </a:r>
            <a:r>
              <a:rPr lang="en-US" altLang="ja-JP" dirty="0" err="1">
                <a:latin typeface="Arial" panose="020B0604020202020204" pitchFamily="34" charset="0"/>
              </a:rPr>
              <a:t>tử</a:t>
            </a:r>
            <a:r>
              <a:rPr lang="en-US" altLang="ja-JP" dirty="0">
                <a:latin typeface="Arial" panose="020B0604020202020204" pitchFamily="34" charset="0"/>
              </a:rPr>
              <a:t> </a:t>
            </a:r>
            <a:r>
              <a:rPr lang="en-US" altLang="ja-JP" dirty="0" err="1">
                <a:latin typeface="Arial" panose="020B0604020202020204" pitchFamily="34" charset="0"/>
              </a:rPr>
              <a:t>như</a:t>
            </a:r>
            <a:r>
              <a:rPr lang="en-US" altLang="ja-JP" dirty="0">
                <a:latin typeface="Arial" panose="020B0604020202020204" pitchFamily="34" charset="0"/>
              </a:rPr>
              <a:t> </a:t>
            </a:r>
            <a:r>
              <a:rPr lang="en-US" altLang="ja-JP" dirty="0" err="1">
                <a:latin typeface="Arial" panose="020B0604020202020204" pitchFamily="34" charset="0"/>
              </a:rPr>
              <a:t>một</a:t>
            </a:r>
            <a:r>
              <a:rPr lang="en-US" altLang="ja-JP" dirty="0">
                <a:latin typeface="Arial" panose="020B0604020202020204" pitchFamily="34" charset="0"/>
              </a:rPr>
              <a:t> object </a:t>
            </a:r>
            <a:r>
              <a:rPr lang="en-US" altLang="ja-JP" dirty="0" err="1">
                <a:latin typeface="Arial" panose="020B0604020202020204" pitchFamily="34" charset="0"/>
              </a:rPr>
              <a:t>nhưng</a:t>
            </a:r>
            <a:r>
              <a:rPr lang="en-US" altLang="ja-JP" dirty="0">
                <a:latin typeface="Arial" panose="020B0604020202020204" pitchFamily="34" charset="0"/>
              </a:rPr>
              <a:t> </a:t>
            </a:r>
            <a:r>
              <a:rPr lang="en-US" altLang="ja-JP" dirty="0" err="1">
                <a:latin typeface="Arial" panose="020B0604020202020204" pitchFamily="34" charset="0"/>
              </a:rPr>
              <a:t>số</a:t>
            </a:r>
            <a:r>
              <a:rPr lang="en-US" altLang="ja-JP" dirty="0">
                <a:latin typeface="Arial" panose="020B0604020202020204" pitchFamily="34" charset="0"/>
              </a:rPr>
              <a:t> </a:t>
            </a:r>
            <a:r>
              <a:rPr lang="en-US" altLang="ja-JP" dirty="0" err="1">
                <a:latin typeface="Arial" panose="020B0604020202020204" pitchFamily="34" charset="0"/>
              </a:rPr>
              <a:t>phần</a:t>
            </a:r>
            <a:r>
              <a:rPr lang="en-US" altLang="ja-JP" dirty="0">
                <a:latin typeface="Arial" panose="020B0604020202020204" pitchFamily="34" charset="0"/>
              </a:rPr>
              <a:t> </a:t>
            </a:r>
            <a:r>
              <a:rPr lang="en-US" altLang="ja-JP" dirty="0" err="1">
                <a:latin typeface="Arial" panose="020B0604020202020204" pitchFamily="34" charset="0"/>
              </a:rPr>
              <a:t>tử</a:t>
            </a:r>
            <a:r>
              <a:rPr lang="en-US" altLang="ja-JP" dirty="0">
                <a:latin typeface="Arial" panose="020B0604020202020204" pitchFamily="34" charset="0"/>
              </a:rPr>
              <a:t> </a:t>
            </a:r>
            <a:r>
              <a:rPr lang="en-US" altLang="ja-JP" dirty="0" err="1">
                <a:latin typeface="Arial" panose="020B0604020202020204" pitchFamily="34" charset="0"/>
              </a:rPr>
              <a:t>là</a:t>
            </a:r>
            <a:r>
              <a:rPr lang="en-US" altLang="ja-JP" dirty="0">
                <a:latin typeface="Arial" panose="020B0604020202020204" pitchFamily="34" charset="0"/>
              </a:rPr>
              <a:t> </a:t>
            </a:r>
            <a:r>
              <a:rPr lang="en-US" altLang="ja-JP" dirty="0" err="1">
                <a:latin typeface="Arial" panose="020B0604020202020204" pitchFamily="34" charset="0"/>
              </a:rPr>
              <a:t>cố</a:t>
            </a:r>
            <a:r>
              <a:rPr lang="en-US" altLang="ja-JP" dirty="0">
                <a:latin typeface="Arial" panose="020B0604020202020204" pitchFamily="34" charset="0"/>
              </a:rPr>
              <a:t> </a:t>
            </a:r>
            <a:r>
              <a:rPr lang="en-US" altLang="ja-JP" dirty="0" err="1">
                <a:latin typeface="Arial" panose="020B0604020202020204" pitchFamily="34" charset="0"/>
              </a:rPr>
              <a:t>định</a:t>
            </a:r>
            <a:r>
              <a:rPr lang="en-US" altLang="ja-JP" dirty="0">
                <a:latin typeface="Arial" panose="020B0604020202020204" pitchFamily="34" charset="0"/>
              </a:rPr>
              <a:t> </a:t>
            </a:r>
            <a:r>
              <a:rPr lang="en-US" altLang="ja-JP" dirty="0" err="1">
                <a:latin typeface="Arial" panose="020B0604020202020204" pitchFamily="34" charset="0"/>
              </a:rPr>
              <a:t>nên</a:t>
            </a:r>
            <a:r>
              <a:rPr lang="en-US" altLang="ja-JP" dirty="0">
                <a:latin typeface="Arial" panose="020B0604020202020204" pitchFamily="34" charset="0"/>
              </a:rPr>
              <a:t> </a:t>
            </a:r>
            <a:r>
              <a:rPr lang="en-US" altLang="ja-JP" dirty="0" err="1">
                <a:latin typeface="Arial" panose="020B0604020202020204" pitchFamily="34" charset="0"/>
              </a:rPr>
              <a:t>sau</a:t>
            </a:r>
            <a:r>
              <a:rPr lang="en-US" altLang="ja-JP" dirty="0">
                <a:latin typeface="Arial" panose="020B0604020202020204" pitchFamily="34" charset="0"/>
              </a:rPr>
              <a:t> </a:t>
            </a:r>
            <a:r>
              <a:rPr lang="en-US" altLang="ja-JP" dirty="0" err="1">
                <a:latin typeface="Arial" panose="020B0604020202020204" pitchFamily="34" charset="0"/>
              </a:rPr>
              <a:t>đó</a:t>
            </a:r>
            <a:r>
              <a:rPr lang="en-US" altLang="ja-JP" dirty="0">
                <a:latin typeface="Arial" panose="020B0604020202020204" pitchFamily="34" charset="0"/>
              </a:rPr>
              <a:t> </a:t>
            </a:r>
            <a:r>
              <a:rPr lang="en-US" altLang="ja-JP" dirty="0" err="1">
                <a:latin typeface="Arial" panose="020B0604020202020204" pitchFamily="34" charset="0"/>
              </a:rPr>
              <a:t>không</a:t>
            </a:r>
            <a:r>
              <a:rPr lang="en-US" altLang="ja-JP" dirty="0">
                <a:latin typeface="Arial" panose="020B0604020202020204" pitchFamily="34" charset="0"/>
              </a:rPr>
              <a:t> </a:t>
            </a:r>
            <a:r>
              <a:rPr lang="en-US" altLang="ja-JP" dirty="0" err="1">
                <a:latin typeface="Arial" panose="020B0604020202020204" pitchFamily="34" charset="0"/>
              </a:rPr>
              <a:t>thể</a:t>
            </a:r>
            <a:r>
              <a:rPr lang="en-US" altLang="ja-JP" dirty="0">
                <a:latin typeface="Arial" panose="020B0604020202020204" pitchFamily="34" charset="0"/>
              </a:rPr>
              <a:t> </a:t>
            </a:r>
            <a:r>
              <a:rPr lang="en-US" altLang="ja-JP" dirty="0" err="1">
                <a:latin typeface="Arial" panose="020B0604020202020204" pitchFamily="34" charset="0"/>
              </a:rPr>
              <a:t>thay</a:t>
            </a:r>
            <a:r>
              <a:rPr lang="en-US" altLang="ja-JP" dirty="0">
                <a:latin typeface="Arial" panose="020B0604020202020204" pitchFamily="34" charset="0"/>
              </a:rPr>
              <a:t> </a:t>
            </a:r>
            <a:r>
              <a:rPr lang="en-US" altLang="ja-JP" dirty="0" err="1">
                <a:latin typeface="Arial" panose="020B0604020202020204" pitchFamily="34" charset="0"/>
              </a:rPr>
              <a:t>đối</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a:t>
            </a:r>
            <a:r>
              <a:rPr lang="en-US" altLang="ja-JP" dirty="0" err="1">
                <a:latin typeface="Arial" panose="020B0604020202020204" pitchFamily="34" charset="0"/>
              </a:rPr>
              <a:t>nữa</a:t>
            </a:r>
            <a:r>
              <a:rPr lang="en-US" altLang="ja-JP" dirty="0">
                <a:latin typeface="Arial" panose="020B0604020202020204" pitchFamily="34" charset="0"/>
              </a:rPr>
              <a:t>. </a:t>
            </a:r>
          </a:p>
          <a:p>
            <a:pPr marL="0" indent="0"/>
            <a:r>
              <a:rPr lang="en-US" altLang="ja-JP" dirty="0">
                <a:latin typeface="Arial" panose="020B0604020202020204" pitchFamily="34" charset="0"/>
              </a:rPr>
              <a:t>Collection </a:t>
            </a:r>
            <a:r>
              <a:rPr lang="en-US" altLang="ja-JP" dirty="0" err="1">
                <a:latin typeface="Arial" panose="020B0604020202020204" pitchFamily="34" charset="0"/>
              </a:rPr>
              <a:t>không</a:t>
            </a:r>
            <a:r>
              <a:rPr lang="en-US" altLang="ja-JP" dirty="0">
                <a:latin typeface="Arial" panose="020B0604020202020204" pitchFamily="34" charset="0"/>
              </a:rPr>
              <a:t> </a:t>
            </a:r>
            <a:r>
              <a:rPr lang="en-US" altLang="ja-JP" dirty="0" err="1">
                <a:latin typeface="Arial" panose="020B0604020202020204" pitchFamily="34" charset="0"/>
              </a:rPr>
              <a:t>cần</a:t>
            </a:r>
            <a:r>
              <a:rPr lang="en-US" altLang="ja-JP" dirty="0">
                <a:latin typeface="Arial" panose="020B0604020202020204" pitchFamily="34" charset="0"/>
              </a:rPr>
              <a:t> </a:t>
            </a:r>
            <a:r>
              <a:rPr lang="en-US" altLang="ja-JP" dirty="0" err="1">
                <a:latin typeface="Arial" panose="020B0604020202020204" pitchFamily="34" charset="0"/>
              </a:rPr>
              <a:t>khai</a:t>
            </a:r>
            <a:r>
              <a:rPr lang="en-US" altLang="ja-JP" dirty="0">
                <a:latin typeface="Arial" panose="020B0604020202020204" pitchFamily="34" charset="0"/>
              </a:rPr>
              <a:t> </a:t>
            </a:r>
            <a:r>
              <a:rPr lang="en-US" altLang="ja-JP" dirty="0" err="1">
                <a:latin typeface="Arial" panose="020B0604020202020204" pitchFamily="34" charset="0"/>
              </a:rPr>
              <a:t>báo</a:t>
            </a:r>
            <a:r>
              <a:rPr lang="en-US" altLang="ja-JP" dirty="0">
                <a:latin typeface="Arial" panose="020B0604020202020204" pitchFamily="34" charset="0"/>
              </a:rPr>
              <a:t> </a:t>
            </a:r>
            <a:r>
              <a:rPr lang="en-US" altLang="ja-JP" dirty="0" err="1">
                <a:latin typeface="Arial" panose="020B0604020202020204" pitchFamily="34" charset="0"/>
              </a:rPr>
              <a:t>số</a:t>
            </a:r>
            <a:r>
              <a:rPr lang="en-US" altLang="ja-JP" dirty="0">
                <a:latin typeface="Arial" panose="020B0604020202020204" pitchFamily="34" charset="0"/>
              </a:rPr>
              <a:t> </a:t>
            </a:r>
            <a:r>
              <a:rPr lang="en-US" altLang="ja-JP" dirty="0" err="1">
                <a:latin typeface="Arial" panose="020B0604020202020204" pitchFamily="34" charset="0"/>
              </a:rPr>
              <a:t>phần</a:t>
            </a:r>
            <a:r>
              <a:rPr lang="en-US" altLang="ja-JP" dirty="0">
                <a:latin typeface="Arial" panose="020B0604020202020204" pitchFamily="34" charset="0"/>
              </a:rPr>
              <a:t> </a:t>
            </a:r>
            <a:r>
              <a:rPr lang="en-US" altLang="ja-JP" dirty="0" err="1">
                <a:latin typeface="Arial" panose="020B0604020202020204" pitchFamily="34" charset="0"/>
              </a:rPr>
              <a:t>tử</a:t>
            </a:r>
            <a:r>
              <a:rPr lang="en-US" altLang="ja-JP" dirty="0">
                <a:latin typeface="Arial" panose="020B0604020202020204" pitchFamily="34" charset="0"/>
              </a:rPr>
              <a:t> </a:t>
            </a:r>
            <a:r>
              <a:rPr lang="en-US" altLang="ja-JP" dirty="0" err="1">
                <a:latin typeface="Arial" panose="020B0604020202020204" pitchFamily="34" charset="0"/>
              </a:rPr>
              <a:t>khi</a:t>
            </a:r>
            <a:r>
              <a:rPr lang="en-US" altLang="ja-JP" dirty="0">
                <a:latin typeface="Arial" panose="020B0604020202020204" pitchFamily="34" charset="0"/>
              </a:rPr>
              <a:t> </a:t>
            </a:r>
            <a:r>
              <a:rPr lang="en-US" altLang="ja-JP" dirty="0" err="1">
                <a:latin typeface="Arial" panose="020B0604020202020204" pitchFamily="34" charset="0"/>
              </a:rPr>
              <a:t>sử</a:t>
            </a:r>
            <a:r>
              <a:rPr lang="en-US" altLang="ja-JP" dirty="0">
                <a:latin typeface="Arial" panose="020B0604020202020204" pitchFamily="34" charset="0"/>
              </a:rPr>
              <a:t> </a:t>
            </a:r>
            <a:r>
              <a:rPr lang="en-US" altLang="ja-JP" dirty="0" err="1">
                <a:latin typeface="Arial" panose="020B0604020202020204" pitchFamily="34" charset="0"/>
              </a:rPr>
              <a:t>dụng</a:t>
            </a:r>
            <a:r>
              <a:rPr lang="en-US" altLang="ja-JP" dirty="0">
                <a:latin typeface="Arial" panose="020B0604020202020204" pitchFamily="34" charset="0"/>
              </a:rPr>
              <a:t> </a:t>
            </a:r>
            <a:r>
              <a:rPr lang="en-US" altLang="ja-JP" dirty="0" err="1">
                <a:latin typeface="Arial" panose="020B0604020202020204" pitchFamily="34" charset="0"/>
              </a:rPr>
              <a:t>nên</a:t>
            </a:r>
            <a:r>
              <a:rPr lang="en-US" altLang="ja-JP" dirty="0">
                <a:latin typeface="Arial" panose="020B0604020202020204" pitchFamily="34" charset="0"/>
              </a:rPr>
              <a:t> </a:t>
            </a:r>
            <a:r>
              <a:rPr lang="en-US" altLang="ja-JP" dirty="0" err="1">
                <a:latin typeface="Arial" panose="020B0604020202020204" pitchFamily="34" charset="0"/>
              </a:rPr>
              <a:t>có</a:t>
            </a:r>
            <a:r>
              <a:rPr lang="en-US" altLang="ja-JP" dirty="0">
                <a:latin typeface="Arial" panose="020B0604020202020204" pitchFamily="34" charset="0"/>
              </a:rPr>
              <a:t> </a:t>
            </a:r>
            <a:r>
              <a:rPr lang="en-US" altLang="ja-JP" dirty="0" err="1">
                <a:latin typeface="Arial" panose="020B0604020202020204" pitchFamily="34" charset="0"/>
              </a:rPr>
              <a:t>thể</a:t>
            </a:r>
            <a:r>
              <a:rPr lang="en-US" altLang="ja-JP" dirty="0">
                <a:latin typeface="Arial" panose="020B0604020202020204" pitchFamily="34" charset="0"/>
              </a:rPr>
              <a:t> add </a:t>
            </a:r>
            <a:r>
              <a:rPr lang="en-US" altLang="ja-JP" dirty="0" err="1">
                <a:latin typeface="Arial" panose="020B0604020202020204" pitchFamily="34" charset="0"/>
              </a:rPr>
              <a:t>thêm</a:t>
            </a:r>
            <a:r>
              <a:rPr lang="en-US" altLang="ja-JP" dirty="0">
                <a:latin typeface="Arial" panose="020B0604020202020204" pitchFamily="34" charset="0"/>
              </a:rPr>
              <a:t> </a:t>
            </a:r>
            <a:r>
              <a:rPr lang="en-US" altLang="ja-JP" dirty="0" err="1">
                <a:latin typeface="Arial" panose="020B0604020202020204" pitchFamily="34" charset="0"/>
              </a:rPr>
              <a:t>hoặc</a:t>
            </a:r>
            <a:r>
              <a:rPr lang="en-US" altLang="ja-JP" dirty="0">
                <a:latin typeface="Arial" panose="020B0604020202020204" pitchFamily="34" charset="0"/>
              </a:rPr>
              <a:t> </a:t>
            </a:r>
            <a:r>
              <a:rPr lang="en-US" altLang="ja-JP" dirty="0" err="1">
                <a:latin typeface="Arial" panose="020B0604020202020204" pitchFamily="34" charset="0"/>
              </a:rPr>
              <a:t>xóa</a:t>
            </a:r>
            <a:r>
              <a:rPr lang="en-US" altLang="ja-JP" dirty="0">
                <a:latin typeface="Arial" panose="020B0604020202020204" pitchFamily="34" charset="0"/>
              </a:rPr>
              <a:t> </a:t>
            </a:r>
            <a:r>
              <a:rPr lang="en-US" altLang="ja-JP" dirty="0" err="1">
                <a:latin typeface="Arial" panose="020B0604020202020204" pitchFamily="34" charset="0"/>
              </a:rPr>
              <a:t>đi</a:t>
            </a:r>
            <a:r>
              <a:rPr lang="en-US" altLang="ja-JP" dirty="0">
                <a:latin typeface="Arial" panose="020B0604020202020204" pitchFamily="34" charset="0"/>
              </a:rPr>
              <a:t> </a:t>
            </a:r>
            <a:r>
              <a:rPr lang="en-US" altLang="ja-JP" dirty="0" err="1">
                <a:latin typeface="Arial" panose="020B0604020202020204" pitchFamily="34" charset="0"/>
              </a:rPr>
              <a:t>các</a:t>
            </a:r>
            <a:r>
              <a:rPr lang="en-US" altLang="ja-JP" dirty="0">
                <a:latin typeface="Arial" panose="020B0604020202020204" pitchFamily="34" charset="0"/>
              </a:rPr>
              <a:t> </a:t>
            </a:r>
            <a:r>
              <a:rPr lang="en-US" altLang="ja-JP" dirty="0" err="1">
                <a:latin typeface="Arial" panose="020B0604020202020204" pitchFamily="34" charset="0"/>
              </a:rPr>
              <a:t>phần</a:t>
            </a:r>
            <a:r>
              <a:rPr lang="en-US" altLang="ja-JP" dirty="0">
                <a:latin typeface="Arial" panose="020B0604020202020204" pitchFamily="34" charset="0"/>
              </a:rPr>
              <a:t> </a:t>
            </a:r>
            <a:r>
              <a:rPr lang="en-US" altLang="ja-JP" dirty="0" err="1">
                <a:latin typeface="Arial" panose="020B0604020202020204" pitchFamily="34" charset="0"/>
              </a:rPr>
              <a:t>tử</a:t>
            </a:r>
            <a:r>
              <a:rPr lang="en-US" altLang="ja-JP" dirty="0">
                <a:latin typeface="Arial" panose="020B0604020202020204" pitchFamily="34" charset="0"/>
              </a:rPr>
              <a:t> </a:t>
            </a:r>
            <a:r>
              <a:rPr lang="en-US" altLang="ja-JP" dirty="0" err="1">
                <a:latin typeface="Arial" panose="020B0604020202020204" pitchFamily="34" charset="0"/>
              </a:rPr>
              <a:t>nếu</a:t>
            </a:r>
            <a:r>
              <a:rPr lang="en-US" altLang="ja-JP" dirty="0">
                <a:latin typeface="Arial" panose="020B0604020202020204" pitchFamily="34" charset="0"/>
              </a:rPr>
              <a:t> </a:t>
            </a:r>
            <a:r>
              <a:rPr lang="en-US" altLang="ja-JP" dirty="0" err="1">
                <a:latin typeface="Arial" panose="020B0604020202020204" pitchFamily="34" charset="0"/>
              </a:rPr>
              <a:t>cần</a:t>
            </a:r>
            <a:r>
              <a:rPr lang="en-US" altLang="ja-JP" dirty="0">
                <a:latin typeface="Arial" panose="020B0604020202020204" pitchFamily="34" charset="0"/>
              </a:rPr>
              <a:t>. </a:t>
            </a:r>
          </a:p>
          <a:p>
            <a:pPr marL="0" indent="0"/>
            <a:endParaRPr lang="en-US" altLang="ja-JP" dirty="0">
              <a:latin typeface="Arial" panose="020B0604020202020204" pitchFamily="34" charset="0"/>
            </a:endParaRPr>
          </a:p>
          <a:p>
            <a:pPr marL="0" indent="0"/>
            <a:r>
              <a:rPr lang="en-US" altLang="ja-JP" dirty="0">
                <a:latin typeface="Arial" panose="020B0604020202020204" pitchFamily="34" charset="0"/>
              </a:rPr>
              <a:t>■</a:t>
            </a:r>
            <a:r>
              <a:rPr lang="ja-JP" altLang="en-US" dirty="0">
                <a:latin typeface="Arial" panose="020B0604020202020204" pitchFamily="34" charset="0"/>
              </a:rPr>
              <a:t>　</a:t>
            </a:r>
            <a:r>
              <a:rPr lang="en-US" altLang="ja-JP" dirty="0" err="1">
                <a:latin typeface="Arial" panose="020B0604020202020204" pitchFamily="34" charset="0"/>
              </a:rPr>
              <a:t>java.util</a:t>
            </a:r>
            <a:r>
              <a:rPr lang="en-US" altLang="ja-JP" dirty="0">
                <a:latin typeface="Arial" panose="020B0604020202020204" pitchFamily="34" charset="0"/>
              </a:rPr>
              <a:t> package</a:t>
            </a:r>
          </a:p>
          <a:p>
            <a:pPr marL="0" indent="0"/>
            <a:r>
              <a:rPr lang="ja-JP" altLang="en-US" dirty="0">
                <a:latin typeface="Arial" panose="020B0604020202020204" pitchFamily="34" charset="0"/>
              </a:rPr>
              <a:t>　</a:t>
            </a:r>
            <a:r>
              <a:rPr lang="en-US" altLang="ja-JP" dirty="0" err="1">
                <a:latin typeface="Arial" panose="020B0604020202020204" pitchFamily="34" charset="0"/>
              </a:rPr>
              <a:t>Những</a:t>
            </a:r>
            <a:r>
              <a:rPr lang="en-US" altLang="ja-JP" dirty="0">
                <a:latin typeface="Arial" panose="020B0604020202020204" pitchFamily="34" charset="0"/>
              </a:rPr>
              <a:t> class </a:t>
            </a:r>
            <a:r>
              <a:rPr lang="en-US" altLang="ja-JP" dirty="0" err="1">
                <a:latin typeface="Arial" panose="020B0604020202020204" pitchFamily="34" charset="0"/>
              </a:rPr>
              <a:t>liên</a:t>
            </a:r>
            <a:r>
              <a:rPr lang="en-US" altLang="ja-JP" dirty="0">
                <a:latin typeface="Arial" panose="020B0604020202020204" pitchFamily="34" charset="0"/>
              </a:rPr>
              <a:t> </a:t>
            </a:r>
            <a:r>
              <a:rPr lang="en-US" altLang="ja-JP" dirty="0" err="1">
                <a:latin typeface="Arial" panose="020B0604020202020204" pitchFamily="34" charset="0"/>
              </a:rPr>
              <a:t>quan</a:t>
            </a:r>
            <a:r>
              <a:rPr lang="en-US" altLang="ja-JP" dirty="0">
                <a:latin typeface="Arial" panose="020B0604020202020204" pitchFamily="34" charset="0"/>
              </a:rPr>
              <a:t> </a:t>
            </a:r>
            <a:r>
              <a:rPr lang="en-US" altLang="ja-JP" dirty="0" err="1">
                <a:latin typeface="Arial" panose="020B0604020202020204" pitchFamily="34" charset="0"/>
              </a:rPr>
              <a:t>đến</a:t>
            </a:r>
            <a:r>
              <a:rPr lang="en-US" altLang="ja-JP" dirty="0">
                <a:latin typeface="Arial" panose="020B0604020202020204" pitchFamily="34" charset="0"/>
              </a:rPr>
              <a:t> collection </a:t>
            </a:r>
            <a:r>
              <a:rPr lang="en-US" altLang="ja-JP" dirty="0" err="1">
                <a:latin typeface="Arial" panose="020B0604020202020204" pitchFamily="34" charset="0"/>
              </a:rPr>
              <a:t>đa</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a:t>
            </a:r>
            <a:r>
              <a:rPr lang="en-US" altLang="ja-JP" dirty="0" err="1">
                <a:latin typeface="Arial" panose="020B0604020202020204" pitchFamily="34" charset="0"/>
              </a:rPr>
              <a:t>trang</a:t>
            </a:r>
            <a:r>
              <a:rPr lang="en-US" altLang="ja-JP" dirty="0">
                <a:latin typeface="Arial" panose="020B0604020202020204" pitchFamily="34" charset="0"/>
              </a:rPr>
              <a:t> bị </a:t>
            </a:r>
            <a:r>
              <a:rPr lang="en-US" altLang="ja-JP" dirty="0" err="1">
                <a:latin typeface="Arial" panose="020B0604020202020204" pitchFamily="34" charset="0"/>
              </a:rPr>
              <a:t>trong</a:t>
            </a:r>
            <a:r>
              <a:rPr lang="en-US" altLang="ja-JP" dirty="0">
                <a:latin typeface="Arial" panose="020B0604020202020204" pitchFamily="34" charset="0"/>
              </a:rPr>
              <a:t> </a:t>
            </a:r>
            <a:r>
              <a:rPr lang="en-US" altLang="ja-JP" dirty="0" err="1">
                <a:latin typeface="Arial" panose="020B0604020202020204" pitchFamily="34" charset="0"/>
              </a:rPr>
              <a:t>java.util</a:t>
            </a:r>
            <a:r>
              <a:rPr lang="en-US" altLang="ja-JP" dirty="0">
                <a:latin typeface="Arial" panose="020B0604020202020204" pitchFamily="34" charset="0"/>
              </a:rPr>
              <a:t> package.</a:t>
            </a:r>
          </a:p>
          <a:p>
            <a:pPr marL="0" indent="0"/>
            <a:endParaRPr lang="en-US" altLang="ja-JP" dirty="0">
              <a:latin typeface="Arial" panose="020B0604020202020204" pitchFamily="34" charset="0"/>
            </a:endParaRPr>
          </a:p>
          <a:p>
            <a:pPr marL="0" indent="0"/>
            <a:r>
              <a:rPr lang="ja-JP" altLang="en-US" dirty="0">
                <a:latin typeface="Arial" panose="020B0604020202020204" pitchFamily="34" charset="0"/>
              </a:rPr>
              <a:t>　</a:t>
            </a:r>
            <a:r>
              <a:rPr lang="en-US" altLang="ja-JP" dirty="0">
                <a:latin typeface="Arial" panose="020B0604020202020204" pitchFamily="34" charset="0"/>
              </a:rPr>
              <a:t>【Tham </a:t>
            </a:r>
            <a:r>
              <a:rPr lang="en-US" altLang="ja-JP" dirty="0" err="1">
                <a:latin typeface="Arial" panose="020B0604020202020204" pitchFamily="34" charset="0"/>
              </a:rPr>
              <a:t>khảo</a:t>
            </a:r>
            <a:r>
              <a:rPr lang="en-US" altLang="ja-JP" dirty="0">
                <a:latin typeface="Arial" panose="020B0604020202020204" pitchFamily="34" charset="0"/>
              </a:rPr>
              <a:t>】</a:t>
            </a:r>
          </a:p>
          <a:p>
            <a:pPr marL="0" indent="0"/>
            <a:r>
              <a:rPr lang="ja-JP" altLang="en-US" dirty="0">
                <a:latin typeface="Arial" panose="020B0604020202020204" pitchFamily="34" charset="0"/>
              </a:rPr>
              <a:t>　</a:t>
            </a:r>
            <a:r>
              <a:rPr lang="en-US" altLang="ja-JP" dirty="0" err="1">
                <a:latin typeface="Arial" panose="020B0604020202020204" pitchFamily="34" charset="0"/>
              </a:rPr>
              <a:t>Từ</a:t>
            </a:r>
            <a:r>
              <a:rPr lang="en-US" altLang="ja-JP" dirty="0">
                <a:latin typeface="Arial" panose="020B0604020202020204" pitchFamily="34" charset="0"/>
              </a:rPr>
              <a:t> J2SE5.0, </a:t>
            </a:r>
            <a:r>
              <a:rPr lang="en-US" altLang="ja-JP" dirty="0" err="1">
                <a:latin typeface="Arial" panose="020B0604020202020204" pitchFamily="34" charset="0"/>
              </a:rPr>
              <a:t>những</a:t>
            </a:r>
            <a:r>
              <a:rPr lang="en-US" altLang="ja-JP" dirty="0">
                <a:latin typeface="Arial" panose="020B0604020202020204" pitchFamily="34" charset="0"/>
              </a:rPr>
              <a:t> class </a:t>
            </a:r>
            <a:r>
              <a:rPr lang="en-US" altLang="ja-JP" dirty="0" err="1">
                <a:latin typeface="Arial" panose="020B0604020202020204" pitchFamily="34" charset="0"/>
              </a:rPr>
              <a:t>sử</a:t>
            </a:r>
            <a:r>
              <a:rPr lang="en-US" altLang="ja-JP" dirty="0">
                <a:latin typeface="Arial" panose="020B0604020202020204" pitchFamily="34" charset="0"/>
              </a:rPr>
              <a:t> </a:t>
            </a:r>
            <a:r>
              <a:rPr lang="en-US" altLang="ja-JP" dirty="0" err="1">
                <a:latin typeface="Arial" panose="020B0604020202020204" pitchFamily="34" charset="0"/>
              </a:rPr>
              <a:t>dụng</a:t>
            </a:r>
            <a:r>
              <a:rPr lang="en-US" altLang="ja-JP" dirty="0">
                <a:latin typeface="Arial" panose="020B0604020202020204" pitchFamily="34" charset="0"/>
              </a:rPr>
              <a:t> </a:t>
            </a:r>
            <a:r>
              <a:rPr lang="en-US" altLang="ja-JP" dirty="0" err="1">
                <a:latin typeface="Arial" panose="020B0604020202020204" pitchFamily="34" charset="0"/>
              </a:rPr>
              <a:t>trong</a:t>
            </a:r>
            <a:r>
              <a:rPr lang="en-US" altLang="ja-JP" dirty="0">
                <a:latin typeface="Arial" panose="020B0604020202020204" pitchFamily="34" charset="0"/>
              </a:rPr>
              <a:t> collection </a:t>
            </a:r>
            <a:r>
              <a:rPr lang="en-US" altLang="ja-JP" dirty="0" err="1">
                <a:latin typeface="Arial" panose="020B0604020202020204" pitchFamily="34" charset="0"/>
              </a:rPr>
              <a:t>đang</a:t>
            </a:r>
            <a:r>
              <a:rPr lang="en-US" altLang="ja-JP" dirty="0">
                <a:latin typeface="Arial" panose="020B0604020202020204" pitchFamily="34" charset="0"/>
              </a:rPr>
              <a:t> </a:t>
            </a:r>
            <a:r>
              <a:rPr lang="en-US" altLang="ja-JP" dirty="0" err="1">
                <a:latin typeface="Arial" panose="020B0604020202020204" pitchFamily="34" charset="0"/>
              </a:rPr>
              <a:t>được</a:t>
            </a:r>
            <a:r>
              <a:rPr lang="en-US" altLang="ja-JP" dirty="0">
                <a:latin typeface="Arial" panose="020B0604020202020204" pitchFamily="34" charset="0"/>
              </a:rPr>
              <a:t> </a:t>
            </a:r>
            <a:r>
              <a:rPr lang="en-US" altLang="ja-JP" dirty="0" err="1">
                <a:latin typeface="Arial" panose="020B0604020202020204" pitchFamily="34" charset="0"/>
              </a:rPr>
              <a:t>định</a:t>
            </a:r>
            <a:r>
              <a:rPr lang="en-US" altLang="ja-JP" dirty="0">
                <a:latin typeface="Arial" panose="020B0604020202020204" pitchFamily="34" charset="0"/>
              </a:rPr>
              <a:t> </a:t>
            </a:r>
            <a:r>
              <a:rPr lang="en-US" altLang="ja-JP" dirty="0" err="1">
                <a:latin typeface="Arial" panose="020B0604020202020204" pitchFamily="34" charset="0"/>
              </a:rPr>
              <a:t>nghĩa</a:t>
            </a:r>
            <a:r>
              <a:rPr lang="en-US" altLang="ja-JP" dirty="0">
                <a:latin typeface="Arial" panose="020B0604020202020204" pitchFamily="34" charset="0"/>
              </a:rPr>
              <a:t> </a:t>
            </a:r>
            <a:r>
              <a:rPr lang="en-US" altLang="ja-JP" dirty="0" err="1">
                <a:latin typeface="Arial" panose="020B0604020202020204" pitchFamily="34" charset="0"/>
              </a:rPr>
              <a:t>là</a:t>
            </a:r>
            <a:r>
              <a:rPr lang="en-US" altLang="ja-JP" dirty="0">
                <a:latin typeface="Arial" panose="020B0604020202020204" pitchFamily="34" charset="0"/>
              </a:rPr>
              <a:t> class có </a:t>
            </a:r>
            <a:r>
              <a:rPr lang="en-US" altLang="ja-JP" dirty="0" err="1">
                <a:latin typeface="Arial" panose="020B0604020202020204" pitchFamily="34" charset="0"/>
              </a:rPr>
              <a:t>sử</a:t>
            </a:r>
            <a:r>
              <a:rPr lang="en-US" altLang="ja-JP" dirty="0">
                <a:latin typeface="Arial" panose="020B0604020202020204" pitchFamily="34" charset="0"/>
              </a:rPr>
              <a:t> </a:t>
            </a:r>
            <a:r>
              <a:rPr lang="en-US" altLang="ja-JP" dirty="0" err="1">
                <a:latin typeface="Arial" panose="020B0604020202020204" pitchFamily="34" charset="0"/>
              </a:rPr>
              <a:t>dụng</a:t>
            </a:r>
            <a:r>
              <a:rPr lang="en-US" altLang="ja-JP" dirty="0">
                <a:latin typeface="Arial" panose="020B0604020202020204" pitchFamily="34" charset="0"/>
              </a:rPr>
              <a:t> Generics (</a:t>
            </a:r>
            <a:r>
              <a:rPr lang="en-US" altLang="ja-JP" dirty="0" err="1">
                <a:latin typeface="Arial" panose="020B0604020202020204" pitchFamily="34" charset="0"/>
              </a:rPr>
              <a:t>trình</a:t>
            </a:r>
            <a:r>
              <a:rPr lang="en-US" altLang="ja-JP" dirty="0">
                <a:latin typeface="Arial" panose="020B0604020202020204" pitchFamily="34" charset="0"/>
              </a:rPr>
              <a:t> </a:t>
            </a:r>
            <a:r>
              <a:rPr lang="en-US" altLang="ja-JP" dirty="0" err="1">
                <a:latin typeface="Arial" panose="020B0604020202020204" pitchFamily="34" charset="0"/>
              </a:rPr>
              <a:t>bày</a:t>
            </a:r>
            <a:r>
              <a:rPr lang="en-US" altLang="ja-JP" dirty="0">
                <a:latin typeface="Arial" panose="020B0604020202020204" pitchFamily="34" charset="0"/>
              </a:rPr>
              <a:t> </a:t>
            </a:r>
            <a:r>
              <a:rPr lang="en-US" altLang="ja-JP" dirty="0" err="1">
                <a:latin typeface="Arial" panose="020B0604020202020204" pitchFamily="34" charset="0"/>
              </a:rPr>
              <a:t>sau</a:t>
            </a:r>
            <a:r>
              <a:rPr lang="en-US" altLang="ja-JP" dirty="0">
                <a:latin typeface="Arial" panose="020B0604020202020204" pitchFamily="34" charset="0"/>
              </a:rPr>
              <a:t>). </a:t>
            </a:r>
          </a:p>
          <a:p>
            <a:pPr marL="0" indent="0"/>
            <a:endParaRPr lang="en-US" altLang="ja-JP" dirty="0">
              <a:latin typeface="Arial" panose="020B0604020202020204" pitchFamily="34" charset="0"/>
            </a:endParaRPr>
          </a:p>
          <a:p>
            <a:pPr marL="0" indent="0"/>
            <a:endParaRPr lang="en-US" altLang="ja-JP" dirty="0">
              <a:latin typeface="Arial" panose="020B0604020202020204" pitchFamily="34" charset="0"/>
            </a:endParaRPr>
          </a:p>
          <a:p>
            <a:pPr marL="0" indent="0"/>
            <a:r>
              <a:rPr lang="en-US" altLang="ja-JP" dirty="0">
                <a:latin typeface="Arial" panose="020B0604020202020204" pitchFamily="34" charset="0"/>
              </a:rPr>
              <a:t>■</a:t>
            </a:r>
            <a:r>
              <a:rPr lang="ja-JP" altLang="en-US" dirty="0">
                <a:latin typeface="Arial" panose="020B0604020202020204" pitchFamily="34" charset="0"/>
              </a:rPr>
              <a:t>　</a:t>
            </a:r>
            <a:r>
              <a:rPr lang="en-US" altLang="ja-JP" dirty="0" err="1">
                <a:latin typeface="Arial" panose="020B0604020202020204" pitchFamily="34" charset="0"/>
              </a:rPr>
              <a:t>Các</a:t>
            </a:r>
            <a:r>
              <a:rPr lang="en-US" altLang="ja-JP" dirty="0">
                <a:latin typeface="Arial" panose="020B0604020202020204" pitchFamily="34" charset="0"/>
              </a:rPr>
              <a:t> </a:t>
            </a:r>
            <a:r>
              <a:rPr lang="en-US" altLang="ja-JP" dirty="0" err="1">
                <a:latin typeface="Arial" panose="020B0604020202020204" pitchFamily="34" charset="0"/>
              </a:rPr>
              <a:t>loại</a:t>
            </a:r>
            <a:r>
              <a:rPr lang="en-US" altLang="ja-JP" dirty="0">
                <a:latin typeface="Arial" panose="020B0604020202020204" pitchFamily="34" charset="0"/>
              </a:rPr>
              <a:t> collection</a:t>
            </a:r>
          </a:p>
          <a:p>
            <a:pPr marL="0" indent="0"/>
            <a:r>
              <a:rPr lang="ja-JP" altLang="en-US" dirty="0">
                <a:latin typeface="Arial" panose="020B0604020202020204" pitchFamily="34" charset="0"/>
              </a:rPr>
              <a:t>　</a:t>
            </a:r>
            <a:r>
              <a:rPr lang="en-US" altLang="ja-JP" dirty="0">
                <a:latin typeface="Arial" panose="020B0604020202020204" pitchFamily="34" charset="0"/>
              </a:rPr>
              <a:t>Trong collection, </a:t>
            </a:r>
            <a:r>
              <a:rPr lang="en-US" altLang="ja-JP" dirty="0" err="1">
                <a:latin typeface="Arial" panose="020B0604020202020204" pitchFamily="34" charset="0"/>
              </a:rPr>
              <a:t>có</a:t>
            </a:r>
            <a:r>
              <a:rPr lang="en-US" altLang="ja-JP" dirty="0">
                <a:latin typeface="Arial" panose="020B0604020202020204" pitchFamily="34" charset="0"/>
              </a:rPr>
              <a:t> </a:t>
            </a:r>
            <a:r>
              <a:rPr lang="en-US" altLang="ja-JP" dirty="0" err="1">
                <a:latin typeface="Arial" panose="020B0604020202020204" pitchFamily="34" charset="0"/>
              </a:rPr>
              <a:t>nhiều</a:t>
            </a:r>
            <a:r>
              <a:rPr lang="en-US" altLang="ja-JP" dirty="0">
                <a:latin typeface="Arial" panose="020B0604020202020204" pitchFamily="34" charset="0"/>
              </a:rPr>
              <a:t> </a:t>
            </a:r>
            <a:r>
              <a:rPr lang="en-US" altLang="ja-JP" dirty="0" err="1">
                <a:latin typeface="Arial" panose="020B0604020202020204" pitchFamily="34" charset="0"/>
              </a:rPr>
              <a:t>loại</a:t>
            </a:r>
            <a:r>
              <a:rPr lang="en-US" altLang="ja-JP" dirty="0">
                <a:latin typeface="Arial" panose="020B0604020202020204" pitchFamily="34" charset="0"/>
              </a:rPr>
              <a:t> </a:t>
            </a:r>
            <a:r>
              <a:rPr lang="en-US" altLang="ja-JP" dirty="0" err="1">
                <a:latin typeface="Arial" panose="020B0604020202020204" pitchFamily="34" charset="0"/>
              </a:rPr>
              <a:t>đa</a:t>
            </a:r>
            <a:r>
              <a:rPr lang="en-US" altLang="ja-JP" dirty="0">
                <a:latin typeface="Arial" panose="020B0604020202020204" pitchFamily="34" charset="0"/>
              </a:rPr>
              <a:t> </a:t>
            </a:r>
            <a:r>
              <a:rPr lang="en-US" altLang="ja-JP" dirty="0" err="1">
                <a:latin typeface="Arial" panose="020B0604020202020204" pitchFamily="34" charset="0"/>
              </a:rPr>
              <a:t>dạng</a:t>
            </a:r>
            <a:r>
              <a:rPr lang="en-US" altLang="ja-JP" dirty="0">
                <a:latin typeface="Arial" panose="020B0604020202020204" pitchFamily="34" charset="0"/>
              </a:rPr>
              <a:t> </a:t>
            </a:r>
            <a:r>
              <a:rPr lang="en-US" altLang="ja-JP" dirty="0" err="1">
                <a:latin typeface="Arial" panose="020B0604020202020204" pitchFamily="34" charset="0"/>
              </a:rPr>
              <a:t>như</a:t>
            </a:r>
            <a:r>
              <a:rPr lang="en-US" altLang="ja-JP" dirty="0">
                <a:latin typeface="Arial" panose="020B0604020202020204" pitchFamily="34" charset="0"/>
              </a:rPr>
              <a:t> </a:t>
            </a:r>
            <a:r>
              <a:rPr lang="en-US" altLang="ja-JP" dirty="0" err="1">
                <a:latin typeface="Arial" panose="020B0604020202020204" pitchFamily="34" charset="0"/>
              </a:rPr>
              <a:t>là</a:t>
            </a:r>
            <a:r>
              <a:rPr lang="en-US" altLang="ja-JP" dirty="0">
                <a:latin typeface="Arial" panose="020B0604020202020204" pitchFamily="34" charset="0"/>
              </a:rPr>
              <a:t> List, Set, Map, etc. </a:t>
            </a:r>
          </a:p>
          <a:p>
            <a:pPr marL="0" indent="0"/>
            <a:r>
              <a:rPr lang="ja-JP" altLang="en-US" dirty="0">
                <a:latin typeface="Arial" panose="020B0604020202020204" pitchFamily="34" charset="0"/>
              </a:rPr>
              <a:t>　</a:t>
            </a:r>
            <a:r>
              <a:rPr lang="en-US" altLang="ja-JP" dirty="0">
                <a:latin typeface="Arial" panose="020B0604020202020204" pitchFamily="34" charset="0"/>
              </a:rPr>
              <a:t>Các </a:t>
            </a:r>
            <a:r>
              <a:rPr lang="en-US" altLang="ja-JP" dirty="0" err="1">
                <a:latin typeface="Arial" panose="020B0604020202020204" pitchFamily="34" charset="0"/>
              </a:rPr>
              <a:t>chức</a:t>
            </a:r>
            <a:r>
              <a:rPr lang="en-US" altLang="ja-JP" dirty="0">
                <a:latin typeface="Arial" panose="020B0604020202020204" pitchFamily="34" charset="0"/>
              </a:rPr>
              <a:t> </a:t>
            </a:r>
            <a:r>
              <a:rPr lang="en-US" altLang="ja-JP" dirty="0" err="1">
                <a:latin typeface="Arial" panose="020B0604020202020204" pitchFamily="34" charset="0"/>
              </a:rPr>
              <a:t>năng</a:t>
            </a:r>
            <a:r>
              <a:rPr lang="en-US" altLang="ja-JP" dirty="0">
                <a:latin typeface="Arial" panose="020B0604020202020204" pitchFamily="34" charset="0"/>
              </a:rPr>
              <a:t> </a:t>
            </a:r>
            <a:r>
              <a:rPr lang="en-US" altLang="ja-JP" dirty="0" err="1">
                <a:latin typeface="Arial" panose="020B0604020202020204" pitchFamily="34" charset="0"/>
              </a:rPr>
              <a:t>cần</a:t>
            </a:r>
            <a:r>
              <a:rPr lang="en-US" altLang="ja-JP" dirty="0">
                <a:latin typeface="Arial" panose="020B0604020202020204" pitchFamily="34" charset="0"/>
              </a:rPr>
              <a:t> </a:t>
            </a:r>
            <a:r>
              <a:rPr lang="en-US" altLang="ja-JP" dirty="0" err="1">
                <a:latin typeface="Arial" panose="020B0604020202020204" pitchFamily="34" charset="0"/>
              </a:rPr>
              <a:t>thiết</a:t>
            </a:r>
            <a:r>
              <a:rPr lang="en-US" altLang="ja-JP" dirty="0">
                <a:latin typeface="Arial" panose="020B0604020202020204" pitchFamily="34" charset="0"/>
              </a:rPr>
              <a:t> </a:t>
            </a:r>
            <a:r>
              <a:rPr lang="en-US" altLang="ja-JP" dirty="0" err="1">
                <a:latin typeface="Arial" panose="020B0604020202020204" pitchFamily="34" charset="0"/>
              </a:rPr>
              <a:t>như</a:t>
            </a:r>
            <a:r>
              <a:rPr lang="en-US" altLang="ja-JP" dirty="0">
                <a:latin typeface="Arial" panose="020B0604020202020204" pitchFamily="34" charset="0"/>
              </a:rPr>
              <a:t> </a:t>
            </a:r>
            <a:r>
              <a:rPr lang="en-US" altLang="ja-JP" dirty="0" err="1">
                <a:latin typeface="Arial" panose="020B0604020202020204" pitchFamily="34" charset="0"/>
              </a:rPr>
              <a:t>là</a:t>
            </a:r>
            <a:r>
              <a:rPr lang="en-US" altLang="ja-JP" dirty="0">
                <a:latin typeface="Arial" panose="020B0604020202020204" pitchFamily="34" charset="0"/>
              </a:rPr>
              <a:t> List interface, Set interface </a:t>
            </a:r>
            <a:r>
              <a:rPr lang="en-US" altLang="ja-JP" dirty="0" err="1">
                <a:latin typeface="Arial" panose="020B0604020202020204" pitchFamily="34" charset="0"/>
              </a:rPr>
              <a:t>đang</a:t>
            </a:r>
            <a:r>
              <a:rPr lang="en-US" altLang="ja-JP" dirty="0">
                <a:latin typeface="Arial" panose="020B0604020202020204" pitchFamily="34" charset="0"/>
              </a:rPr>
              <a:t> </a:t>
            </a:r>
            <a:r>
              <a:rPr lang="en-US" altLang="ja-JP" dirty="0" err="1">
                <a:latin typeface="Arial" panose="020B0604020202020204" pitchFamily="34" charset="0"/>
              </a:rPr>
              <a:t>được</a:t>
            </a:r>
            <a:r>
              <a:rPr lang="en-US" altLang="ja-JP" dirty="0">
                <a:latin typeface="Arial" panose="020B0604020202020204" pitchFamily="34" charset="0"/>
              </a:rPr>
              <a:t> </a:t>
            </a:r>
            <a:r>
              <a:rPr lang="en-US" altLang="ja-JP" dirty="0" err="1">
                <a:latin typeface="Arial" panose="020B0604020202020204" pitchFamily="34" charset="0"/>
              </a:rPr>
              <a:t>định</a:t>
            </a:r>
            <a:r>
              <a:rPr lang="en-US" altLang="ja-JP" dirty="0">
                <a:latin typeface="Arial" panose="020B0604020202020204" pitchFamily="34" charset="0"/>
              </a:rPr>
              <a:t> </a:t>
            </a:r>
            <a:r>
              <a:rPr lang="en-US" altLang="ja-JP" dirty="0" err="1">
                <a:latin typeface="Arial" panose="020B0604020202020204" pitchFamily="34" charset="0"/>
              </a:rPr>
              <a:t>nghĩa</a:t>
            </a:r>
            <a:r>
              <a:rPr lang="en-US" altLang="ja-JP" dirty="0">
                <a:latin typeface="Arial" panose="020B0604020202020204" pitchFamily="34" charset="0"/>
              </a:rPr>
              <a:t> </a:t>
            </a:r>
            <a:r>
              <a:rPr lang="en-US" altLang="ja-JP" dirty="0" err="1">
                <a:latin typeface="Arial" panose="020B0604020202020204" pitchFamily="34" charset="0"/>
              </a:rPr>
              <a:t>là</a:t>
            </a:r>
            <a:r>
              <a:rPr lang="en-US" altLang="ja-JP" dirty="0">
                <a:latin typeface="Arial" panose="020B0604020202020204" pitchFamily="34" charset="0"/>
              </a:rPr>
              <a:t> interface, </a:t>
            </a:r>
            <a:r>
              <a:rPr lang="en-US" altLang="ja-JP" dirty="0" err="1">
                <a:latin typeface="Arial" panose="020B0604020202020204" pitchFamily="34" charset="0"/>
              </a:rPr>
              <a:t>nhiều</a:t>
            </a:r>
            <a:r>
              <a:rPr lang="en-US" altLang="ja-JP" dirty="0">
                <a:latin typeface="Arial" panose="020B0604020202020204" pitchFamily="34" charset="0"/>
              </a:rPr>
              <a:t> class </a:t>
            </a:r>
            <a:r>
              <a:rPr lang="en-US" altLang="ja-JP" dirty="0" err="1">
                <a:latin typeface="Arial" panose="020B0604020202020204" pitchFamily="34" charset="0"/>
              </a:rPr>
              <a:t>thực</a:t>
            </a:r>
            <a:r>
              <a:rPr lang="en-US" altLang="ja-JP" dirty="0">
                <a:latin typeface="Arial" panose="020B0604020202020204" pitchFamily="34" charset="0"/>
              </a:rPr>
              <a:t> </a:t>
            </a:r>
            <a:r>
              <a:rPr lang="en-US" altLang="ja-JP" dirty="0" err="1">
                <a:latin typeface="Arial" panose="020B0604020202020204" pitchFamily="34" charset="0"/>
              </a:rPr>
              <a:t>hiện</a:t>
            </a:r>
            <a:r>
              <a:rPr lang="en-US" altLang="ja-JP" dirty="0">
                <a:latin typeface="Arial" panose="020B0604020202020204" pitchFamily="34" charset="0"/>
              </a:rPr>
              <a:t> </a:t>
            </a:r>
            <a:r>
              <a:rPr lang="en-US" altLang="ja-JP" dirty="0" err="1">
                <a:latin typeface="Arial" panose="020B0604020202020204" pitchFamily="34" charset="0"/>
              </a:rPr>
              <a:t>những</a:t>
            </a:r>
            <a:r>
              <a:rPr lang="en-US" altLang="ja-JP" dirty="0">
                <a:latin typeface="Arial" panose="020B0604020202020204" pitchFamily="34" charset="0"/>
              </a:rPr>
              <a:t> interface </a:t>
            </a:r>
            <a:r>
              <a:rPr lang="en-US" altLang="ja-JP" dirty="0" err="1">
                <a:latin typeface="Arial" panose="020B0604020202020204" pitchFamily="34" charset="0"/>
              </a:rPr>
              <a:t>này</a:t>
            </a:r>
            <a:r>
              <a:rPr lang="en-US" altLang="ja-JP" dirty="0">
                <a:latin typeface="Arial" panose="020B0604020202020204" pitchFamily="34" charset="0"/>
              </a:rPr>
              <a:t> </a:t>
            </a:r>
            <a:r>
              <a:rPr lang="en-US" altLang="ja-JP" dirty="0" err="1">
                <a:latin typeface="Arial" panose="020B0604020202020204" pitchFamily="34" charset="0"/>
              </a:rPr>
              <a:t>đa</a:t>
            </a:r>
            <a:r>
              <a:rPr lang="en-US" altLang="ja-JP" dirty="0">
                <a:latin typeface="Arial" panose="020B0604020202020204" pitchFamily="34" charset="0"/>
              </a:rPr>
              <a:t>̃ </a:t>
            </a:r>
            <a:r>
              <a:rPr lang="en-US" altLang="ja-JP" dirty="0" err="1">
                <a:latin typeface="Arial" panose="020B0604020202020204" pitchFamily="34" charset="0"/>
              </a:rPr>
              <a:t>được</a:t>
            </a:r>
            <a:r>
              <a:rPr lang="en-US" altLang="ja-JP" dirty="0">
                <a:latin typeface="Arial" panose="020B0604020202020204" pitchFamily="34" charset="0"/>
              </a:rPr>
              <a:t> </a:t>
            </a:r>
            <a:r>
              <a:rPr lang="en-US" altLang="ja-JP" dirty="0" err="1">
                <a:latin typeface="Arial" panose="020B0604020202020204" pitchFamily="34" charset="0"/>
              </a:rPr>
              <a:t>trang</a:t>
            </a:r>
            <a:r>
              <a:rPr lang="en-US" altLang="ja-JP" dirty="0">
                <a:latin typeface="Arial" panose="020B0604020202020204" pitchFamily="34" charset="0"/>
              </a:rPr>
              <a:t> bị </a:t>
            </a:r>
            <a:r>
              <a:rPr lang="en-US" altLang="ja-JP" dirty="0" err="1">
                <a:latin typeface="Arial" panose="020B0604020202020204" pitchFamily="34" charset="0"/>
              </a:rPr>
              <a:t>sẵn</a:t>
            </a:r>
            <a:r>
              <a:rPr lang="en-US" altLang="ja-JP" dirty="0">
                <a:latin typeface="Arial" panose="020B0604020202020204" pitchFamily="34" charset="0"/>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a:extLst>
              <a:ext uri="{FF2B5EF4-FFF2-40B4-BE49-F238E27FC236}">
                <a16:creationId xmlns:a16="http://schemas.microsoft.com/office/drawing/2014/main" id="{0B8234E1-E38C-029F-E367-BF9F63145F2B}"/>
              </a:ext>
            </a:extLst>
          </p:cNvPr>
          <p:cNvSpPr>
            <a:spLocks noGrp="1" noRot="1" noChangeAspect="1" noChangeArrowheads="1" noTextEdit="1"/>
          </p:cNvSpPr>
          <p:nvPr>
            <p:ph type="sldImg"/>
          </p:nvPr>
        </p:nvSpPr>
        <p:spPr>
          <a:xfrm>
            <a:off x="530225" y="835025"/>
            <a:ext cx="6024563" cy="4170363"/>
          </a:xfrm>
          <a:ln/>
        </p:spPr>
      </p:sp>
      <p:sp>
        <p:nvSpPr>
          <p:cNvPr id="576515" name="Rectangle 3">
            <a:extLst>
              <a:ext uri="{FF2B5EF4-FFF2-40B4-BE49-F238E27FC236}">
                <a16:creationId xmlns:a16="http://schemas.microsoft.com/office/drawing/2014/main" id="{163B923E-0C84-9812-A806-F316896CEBEA}"/>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en-US">
                <a:latin typeface="Arial" panose="020B0604020202020204" pitchFamily="34" charset="0"/>
              </a:rPr>
              <a:t>ArrayList class</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b="1">
                <a:latin typeface="Arial" panose="020B0604020202020204" pitchFamily="34" charset="0"/>
              </a:rPr>
              <a:t>Là class để implement List interface, và thể hiện mảng có thể thay đổi size.</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Các method chính</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r>
              <a:rPr lang="en-US" altLang="en-US">
                <a:latin typeface="Arial" panose="020B0604020202020204" pitchFamily="34" charset="0"/>
              </a:rPr>
              <a:t>※　E chỉ ra kiểu data đã được định nghĩa trong generics. </a:t>
            </a:r>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Ngoài ra còn có nhiều method khác nữa. Về chi tiết, hãy xác nhận bằng các tài liệu API đi kèm Java SE. </a:t>
            </a:r>
          </a:p>
          <a:p>
            <a:pPr marL="0" indent="0"/>
            <a:endParaRPr lang="en-US" altLang="ja-JP">
              <a:latin typeface="Arial" panose="020B0604020202020204" pitchFamily="34" charset="0"/>
            </a:endParaRPr>
          </a:p>
        </p:txBody>
      </p:sp>
      <p:graphicFrame>
        <p:nvGraphicFramePr>
          <p:cNvPr id="576661" name="Group 149">
            <a:extLst>
              <a:ext uri="{FF2B5EF4-FFF2-40B4-BE49-F238E27FC236}">
                <a16:creationId xmlns:a16="http://schemas.microsoft.com/office/drawing/2014/main" id="{E55EC052-37AF-C2F0-A515-45AD54549B14}"/>
              </a:ext>
            </a:extLst>
          </p:cNvPr>
          <p:cNvGraphicFramePr>
            <a:graphicFrameLocks noGrp="1"/>
          </p:cNvGraphicFramePr>
          <p:nvPr/>
        </p:nvGraphicFramePr>
        <p:xfrm>
          <a:off x="636588" y="5973763"/>
          <a:ext cx="5810250" cy="2794906"/>
        </p:xfrm>
        <a:graphic>
          <a:graphicData uri="http://schemas.openxmlformats.org/drawingml/2006/table">
            <a:tbl>
              <a:tblPr/>
              <a:tblGrid>
                <a:gridCol w="2243137">
                  <a:extLst>
                    <a:ext uri="{9D8B030D-6E8A-4147-A177-3AD203B41FA5}">
                      <a16:colId xmlns:a16="http://schemas.microsoft.com/office/drawing/2014/main" val="2436460682"/>
                    </a:ext>
                  </a:extLst>
                </a:gridCol>
                <a:gridCol w="3567113">
                  <a:extLst>
                    <a:ext uri="{9D8B030D-6E8A-4147-A177-3AD203B41FA5}">
                      <a16:colId xmlns:a16="http://schemas.microsoft.com/office/drawing/2014/main" val="1697752702"/>
                    </a:ext>
                  </a:extLst>
                </a:gridCol>
              </a:tblGrid>
              <a:tr h="31273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352649"/>
                  </a:ext>
                </a:extLst>
              </a:tr>
              <a:tr h="2524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add(E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Thêm phần tử đã được chỉ định vào cuối và trả về true.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6918731"/>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void add(int index, E element)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Insert phần tử đã được chỉ định vào vị trí đã được chỉ định.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Di chuyển phần tử hiện tại có ở vị trí đó và phần tử kế tiếp sang bên phải</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6744418"/>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set(int index, E element)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Thay thế phần tử có ở vị trí đã được chỉ định bằng phần tử đã được chỉ định.</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phần tử đã có từ trước vào vị trí đã được chỉ định.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7705758"/>
                  </a:ext>
                </a:extLst>
              </a:tr>
              <a:tr h="26670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get(int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phần tử có ở vị trí đã được chỉ định.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0498087"/>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remove(int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Delete phần tử khỏi vị trí đã được chỉ định.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Di chuyển phần tử kế tiếp sang phía trái. Trả lại phần tử đã bị xóa.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6561967"/>
                  </a:ext>
                </a:extLst>
              </a:tr>
              <a:tr h="2714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lại</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số</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3233082"/>
                  </a:ext>
                </a:extLst>
              </a:tr>
            </a:tbl>
          </a:graphicData>
        </a:graphic>
      </p:graphicFrame>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11A6-4C34-5776-25EB-8782491FEF96}"/>
            </a:ext>
          </a:extLst>
        </p:cNvPr>
        <p:cNvGrpSpPr/>
        <p:nvPr/>
      </p:nvGrpSpPr>
      <p:grpSpPr>
        <a:xfrm>
          <a:off x="0" y="0"/>
          <a:ext cx="0" cy="0"/>
          <a:chOff x="0" y="0"/>
          <a:chExt cx="0" cy="0"/>
        </a:xfrm>
      </p:grpSpPr>
      <p:sp>
        <p:nvSpPr>
          <p:cNvPr id="576514" name="Rectangle 2">
            <a:extLst>
              <a:ext uri="{FF2B5EF4-FFF2-40B4-BE49-F238E27FC236}">
                <a16:creationId xmlns:a16="http://schemas.microsoft.com/office/drawing/2014/main" id="{59B61DD1-26B6-1674-254F-4A73765B6DC6}"/>
              </a:ext>
            </a:extLst>
          </p:cNvPr>
          <p:cNvSpPr>
            <a:spLocks noGrp="1" noRot="1" noChangeAspect="1" noChangeArrowheads="1" noTextEdit="1"/>
          </p:cNvSpPr>
          <p:nvPr>
            <p:ph type="sldImg"/>
          </p:nvPr>
        </p:nvSpPr>
        <p:spPr>
          <a:xfrm>
            <a:off x="530225" y="835025"/>
            <a:ext cx="6024563" cy="4170363"/>
          </a:xfrm>
          <a:ln/>
        </p:spPr>
      </p:sp>
      <p:sp>
        <p:nvSpPr>
          <p:cNvPr id="576515" name="Rectangle 3">
            <a:extLst>
              <a:ext uri="{FF2B5EF4-FFF2-40B4-BE49-F238E27FC236}">
                <a16:creationId xmlns:a16="http://schemas.microsoft.com/office/drawing/2014/main" id="{CFC7AB7E-12F7-5D77-8864-9CFE847004A9}"/>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en-US">
                <a:latin typeface="Arial" panose="020B0604020202020204" pitchFamily="34" charset="0"/>
              </a:rPr>
              <a:t>ArrayList class</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b="1">
                <a:latin typeface="Arial" panose="020B0604020202020204" pitchFamily="34" charset="0"/>
              </a:rPr>
              <a:t>Là class để implement List interface, và thể hiện mảng có thể thay đổi size.</a:t>
            </a:r>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Các method chính</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r>
              <a:rPr lang="en-US" altLang="en-US">
                <a:latin typeface="Arial" panose="020B0604020202020204" pitchFamily="34" charset="0"/>
              </a:rPr>
              <a:t>※　E chỉ ra kiểu data đã được định nghĩa trong generics. </a:t>
            </a:r>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Ngoài ra còn có nhiều method khác nữa. Về chi tiết, hãy xác nhận bằng các tài liệu API đi kèm Java SE. </a:t>
            </a:r>
          </a:p>
          <a:p>
            <a:pPr marL="0" indent="0"/>
            <a:endParaRPr lang="en-US" altLang="ja-JP">
              <a:latin typeface="Arial" panose="020B0604020202020204" pitchFamily="34" charset="0"/>
            </a:endParaRPr>
          </a:p>
        </p:txBody>
      </p:sp>
      <p:graphicFrame>
        <p:nvGraphicFramePr>
          <p:cNvPr id="576661" name="Group 149">
            <a:extLst>
              <a:ext uri="{FF2B5EF4-FFF2-40B4-BE49-F238E27FC236}">
                <a16:creationId xmlns:a16="http://schemas.microsoft.com/office/drawing/2014/main" id="{9A3FF91E-2E67-58EE-4AE0-6DD845E4E82E}"/>
              </a:ext>
            </a:extLst>
          </p:cNvPr>
          <p:cNvGraphicFramePr>
            <a:graphicFrameLocks noGrp="1"/>
          </p:cNvGraphicFramePr>
          <p:nvPr/>
        </p:nvGraphicFramePr>
        <p:xfrm>
          <a:off x="636588" y="5973763"/>
          <a:ext cx="5810250" cy="2794906"/>
        </p:xfrm>
        <a:graphic>
          <a:graphicData uri="http://schemas.openxmlformats.org/drawingml/2006/table">
            <a:tbl>
              <a:tblPr/>
              <a:tblGrid>
                <a:gridCol w="2243137">
                  <a:extLst>
                    <a:ext uri="{9D8B030D-6E8A-4147-A177-3AD203B41FA5}">
                      <a16:colId xmlns:a16="http://schemas.microsoft.com/office/drawing/2014/main" val="2436460682"/>
                    </a:ext>
                  </a:extLst>
                </a:gridCol>
                <a:gridCol w="3567113">
                  <a:extLst>
                    <a:ext uri="{9D8B030D-6E8A-4147-A177-3AD203B41FA5}">
                      <a16:colId xmlns:a16="http://schemas.microsoft.com/office/drawing/2014/main" val="1697752702"/>
                    </a:ext>
                  </a:extLst>
                </a:gridCol>
              </a:tblGrid>
              <a:tr h="31273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352649"/>
                  </a:ext>
                </a:extLst>
              </a:tr>
              <a:tr h="2524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add(E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Thêm phần tử đã được chỉ định vào cuối và trả về true.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6918731"/>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void add(int index, E element)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Insert phần tử đã được chỉ định vào vị trí đã được chỉ định.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Di chuyển phần tử hiện tại có ở vị trí đó và phần tử kế tiếp sang bên phải</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6744418"/>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set(int index, E element)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Thay thế phần tử có ở vị trí đã được chỉ định bằng phần tử đã được chỉ định.</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phần tử đã có từ trước vào vị trí đã được chỉ định.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7705758"/>
                  </a:ext>
                </a:extLst>
              </a:tr>
              <a:tr h="26670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get(int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phần tử có ở vị trí đã được chỉ định.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0498087"/>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remove(int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Delete phần tử khỏi vị trí đã được chỉ định.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Di chuyển phần tử kế tiếp sang phía trái. Trả lại phần tử đã bị xóa.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6561967"/>
                  </a:ext>
                </a:extLst>
              </a:tr>
              <a:tr h="2714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lại</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số</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0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3233082"/>
                  </a:ext>
                </a:extLst>
              </a:tr>
            </a:tbl>
          </a:graphicData>
        </a:graphic>
      </p:graphicFrame>
    </p:spTree>
    <p:extLst>
      <p:ext uri="{BB962C8B-B14F-4D97-AF65-F5344CB8AC3E}">
        <p14:creationId xmlns:p14="http://schemas.microsoft.com/office/powerpoint/2010/main" val="125599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a:extLst>
              <a:ext uri="{FF2B5EF4-FFF2-40B4-BE49-F238E27FC236}">
                <a16:creationId xmlns:a16="http://schemas.microsoft.com/office/drawing/2014/main" id="{A779CE96-3815-5B9E-B9C8-A740EC1D348A}"/>
              </a:ext>
            </a:extLst>
          </p:cNvPr>
          <p:cNvSpPr>
            <a:spLocks noGrp="1" noRot="1" noChangeAspect="1" noChangeArrowheads="1" noTextEdit="1"/>
          </p:cNvSpPr>
          <p:nvPr>
            <p:ph type="sldImg"/>
          </p:nvPr>
        </p:nvSpPr>
        <p:spPr>
          <a:xfrm>
            <a:off x="530225" y="835025"/>
            <a:ext cx="6024563" cy="4170363"/>
          </a:xfrm>
          <a:ln/>
        </p:spPr>
      </p:sp>
      <p:sp>
        <p:nvSpPr>
          <p:cNvPr id="643075" name="Rectangle 3">
            <a:extLst>
              <a:ext uri="{FF2B5EF4-FFF2-40B4-BE49-F238E27FC236}">
                <a16:creationId xmlns:a16="http://schemas.microsoft.com/office/drawing/2014/main" id="{6C65010D-EF3B-7948-34F1-249F90BA888C}"/>
              </a:ext>
            </a:extLst>
          </p:cNvPr>
          <p:cNvSpPr>
            <a:spLocks noGrp="1" noChangeArrowheads="1"/>
          </p:cNvSpPr>
          <p:nvPr>
            <p:ph type="body" idx="1"/>
          </p:nvPr>
        </p:nvSpPr>
        <p:spPr/>
        <p:txBody>
          <a:bodyPr/>
          <a:lstStyle/>
          <a:p>
            <a:pPr marL="0" indent="0"/>
            <a:r>
              <a:rPr lang="en-US" altLang="ja-JP">
                <a:latin typeface="Arial" panose="020B0604020202020204" pitchFamily="34" charset="0"/>
              </a:rPr>
              <a:t>■</a:t>
            </a:r>
            <a:r>
              <a:rPr lang="ja-JP" altLang="en-US">
                <a:latin typeface="Arial" panose="020B0604020202020204" pitchFamily="34" charset="0"/>
              </a:rPr>
              <a:t>　</a:t>
            </a:r>
            <a:r>
              <a:rPr lang="en-US" altLang="en-US">
                <a:latin typeface="Arial" panose="020B0604020202020204" pitchFamily="34" charset="0"/>
              </a:rPr>
              <a:t>HashSet class</a:t>
            </a:r>
            <a:endParaRPr lang="en-US" altLang="ja-JP">
              <a:latin typeface="Arial" panose="020B0604020202020204" pitchFamily="34" charset="0"/>
            </a:endParaRPr>
          </a:p>
          <a:p>
            <a:pPr marL="0" indent="0"/>
            <a:r>
              <a:rPr lang="ja-JP" altLang="en-US">
                <a:latin typeface="Arial" panose="020B0604020202020204" pitchFamily="34" charset="0"/>
              </a:rPr>
              <a:t>　</a:t>
            </a:r>
            <a:r>
              <a:rPr lang="en-US" altLang="ja-JP">
                <a:latin typeface="Arial" panose="020B0604020202020204" pitchFamily="34" charset="0"/>
              </a:rPr>
              <a:t>HashSet là class để implement Set interface, thể hiện tập hợp hợp của các giá trị không trùng lặp dựa vào hash table. </a:t>
            </a:r>
          </a:p>
          <a:p>
            <a:pPr marL="0" indent="0"/>
            <a:r>
              <a:rPr lang="en-US" altLang="ja-JP">
                <a:latin typeface="Arial" panose="020B0604020202020204" pitchFamily="34" charset="0"/>
              </a:rPr>
              <a:t> Nó chỉ có thể bảo lưu và duy trì 1 phần tử null.</a:t>
            </a:r>
          </a:p>
          <a:p>
            <a:pPr marL="0" indent="0"/>
            <a:r>
              <a:rPr lang="en-US" altLang="ja-JP">
                <a:latin typeface="Arial" panose="020B0604020202020204" pitchFamily="34" charset="0"/>
              </a:rPr>
              <a:t> Do trình tự không được đảm bảo nên không thể thao tác dựa vào index. </a:t>
            </a:r>
          </a:p>
          <a:p>
            <a:pPr marL="0" indent="0"/>
            <a:endParaRPr lang="en-US" altLang="ja-JP">
              <a:latin typeface="Arial" panose="020B0604020202020204" pitchFamily="34" charset="0"/>
            </a:endParaRP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Các method chính</a:t>
            </a: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ja-JP">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endParaRPr lang="en-US" altLang="en-US">
              <a:latin typeface="Arial" panose="020B0604020202020204" pitchFamily="34" charset="0"/>
            </a:endParaRPr>
          </a:p>
          <a:p>
            <a:pPr marL="0" indent="0"/>
            <a:r>
              <a:rPr lang="en-US" altLang="en-US">
                <a:latin typeface="Arial" panose="020B0604020202020204" pitchFamily="34" charset="0"/>
              </a:rPr>
              <a:t>※　E chỉ kiểu data đã được định nghĩa </a:t>
            </a:r>
            <a:r>
              <a:rPr lang="en-US" altLang="ja-JP">
                <a:latin typeface="Arial" panose="020B0604020202020204" pitchFamily="34" charset="0"/>
              </a:rPr>
              <a:t>bằng</a:t>
            </a:r>
            <a:r>
              <a:rPr lang="en-US" altLang="en-US">
                <a:latin typeface="Arial" panose="020B0604020202020204" pitchFamily="34" charset="0"/>
              </a:rPr>
              <a:t> generics. </a:t>
            </a:r>
          </a:p>
          <a:p>
            <a:pPr marL="0" indent="0"/>
            <a:r>
              <a:rPr lang="en-US" altLang="ja-JP">
                <a:latin typeface="Arial" panose="020B0604020202020204" pitchFamily="34" charset="0"/>
              </a:rPr>
              <a:t>※</a:t>
            </a:r>
            <a:r>
              <a:rPr lang="ja-JP" altLang="en-US">
                <a:latin typeface="Arial" panose="020B0604020202020204" pitchFamily="34" charset="0"/>
              </a:rPr>
              <a:t>　</a:t>
            </a:r>
            <a:r>
              <a:rPr lang="en-US" altLang="ja-JP">
                <a:latin typeface="Arial" panose="020B0604020202020204" pitchFamily="34" charset="0"/>
              </a:rPr>
              <a:t>Ngoài ra còn có nhiều method khác nữa. Về chi tiết, hãy xác nhận bằng các tài liệu API đi kèm JavaSE.</a:t>
            </a:r>
          </a:p>
          <a:p>
            <a:pPr marL="0" indent="0"/>
            <a:endParaRPr lang="en-US" altLang="ja-JP">
              <a:latin typeface="Arial" panose="020B0604020202020204" pitchFamily="34" charset="0"/>
            </a:endParaRPr>
          </a:p>
        </p:txBody>
      </p:sp>
      <p:graphicFrame>
        <p:nvGraphicFramePr>
          <p:cNvPr id="643130" name="Group 58">
            <a:extLst>
              <a:ext uri="{FF2B5EF4-FFF2-40B4-BE49-F238E27FC236}">
                <a16:creationId xmlns:a16="http://schemas.microsoft.com/office/drawing/2014/main" id="{0DCEF723-EA3C-AC53-DDBE-C0510D206AE7}"/>
              </a:ext>
            </a:extLst>
          </p:cNvPr>
          <p:cNvGraphicFramePr>
            <a:graphicFrameLocks noGrp="1"/>
          </p:cNvGraphicFramePr>
          <p:nvPr/>
        </p:nvGraphicFramePr>
        <p:xfrm>
          <a:off x="642938" y="6478588"/>
          <a:ext cx="5810250" cy="1981200"/>
        </p:xfrm>
        <a:graphic>
          <a:graphicData uri="http://schemas.openxmlformats.org/drawingml/2006/table">
            <a:tbl>
              <a:tblPr/>
              <a:tblGrid>
                <a:gridCol w="1901825">
                  <a:extLst>
                    <a:ext uri="{9D8B030D-6E8A-4147-A177-3AD203B41FA5}">
                      <a16:colId xmlns:a16="http://schemas.microsoft.com/office/drawing/2014/main" val="1377284083"/>
                    </a:ext>
                  </a:extLst>
                </a:gridCol>
                <a:gridCol w="3908425">
                  <a:extLst>
                    <a:ext uri="{9D8B030D-6E8A-4147-A177-3AD203B41FA5}">
                      <a16:colId xmlns:a16="http://schemas.microsoft.com/office/drawing/2014/main" val="881114515"/>
                    </a:ext>
                  </a:extLst>
                </a:gridCol>
              </a:tblGrid>
              <a:tr h="312738">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05350836"/>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add(E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không tồn tại phần tử đã được chỉ định thì add thêm vào và trả về true.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tồn tại thì trả về false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5826157"/>
                  </a:ext>
                </a:extLst>
              </a:tr>
              <a:tr h="4095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contains(Object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trường hợp đang bảo lưu và duy trì phần tử đã được chỉ định thì trả về true.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2551573"/>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remove(Object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tồn tại thì xóa phần tử và trả về true.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không tồn tại thì trả về false.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9256795"/>
                  </a:ext>
                </a:extLst>
              </a:tr>
              <a:tr h="2714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số phần tử</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2732604"/>
                  </a:ext>
                </a:extLst>
              </a:tr>
            </a:tbl>
          </a:graphicData>
        </a:graphic>
      </p:graphicFrame>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a:extLst>
              <a:ext uri="{FF2B5EF4-FFF2-40B4-BE49-F238E27FC236}">
                <a16:creationId xmlns:a16="http://schemas.microsoft.com/office/drawing/2014/main" id="{1545710A-6088-AC34-F8DB-79E734ADF5D5}"/>
              </a:ext>
            </a:extLst>
          </p:cNvPr>
          <p:cNvSpPr>
            <a:spLocks noGrp="1" noRot="1" noChangeAspect="1" noChangeArrowheads="1" noTextEdit="1"/>
          </p:cNvSpPr>
          <p:nvPr>
            <p:ph type="sldImg"/>
          </p:nvPr>
        </p:nvSpPr>
        <p:spPr>
          <a:xfrm>
            <a:off x="530225" y="835025"/>
            <a:ext cx="6024563" cy="4170363"/>
          </a:xfrm>
          <a:ln/>
        </p:spPr>
      </p:sp>
      <p:sp>
        <p:nvSpPr>
          <p:cNvPr id="647171" name="Rectangle 3">
            <a:extLst>
              <a:ext uri="{FF2B5EF4-FFF2-40B4-BE49-F238E27FC236}">
                <a16:creationId xmlns:a16="http://schemas.microsoft.com/office/drawing/2014/main" id="{CF78B2F8-A1CF-BB7D-D954-27AE29C046EE}"/>
              </a:ext>
            </a:extLst>
          </p:cNvPr>
          <p:cNvSpPr>
            <a:spLocks noGrp="1" noChangeArrowheads="1"/>
          </p:cNvSpPr>
          <p:nvPr>
            <p:ph type="body" idx="1"/>
          </p:nvPr>
        </p:nvSpPr>
        <p:spPr/>
        <p:txBody>
          <a:bodyPr/>
          <a:lstStyle/>
          <a:p>
            <a:pPr marL="0" indent="0">
              <a:lnSpc>
                <a:spcPct val="90000"/>
              </a:lnSpc>
            </a:pPr>
            <a:r>
              <a:rPr lang="en-US" altLang="ja-JP" sz="800">
                <a:latin typeface="Arial" panose="020B0604020202020204" pitchFamily="34" charset="0"/>
              </a:rPr>
              <a:t>■</a:t>
            </a:r>
            <a:r>
              <a:rPr lang="ja-JP" altLang="en-US" sz="800">
                <a:latin typeface="Arial" panose="020B0604020202020204" pitchFamily="34" charset="0"/>
              </a:rPr>
              <a:t>　</a:t>
            </a:r>
            <a:r>
              <a:rPr lang="en-US" altLang="en-US" sz="800">
                <a:latin typeface="Arial" panose="020B0604020202020204" pitchFamily="34" charset="0"/>
              </a:rPr>
              <a:t>HashMap class</a:t>
            </a:r>
            <a:endParaRPr lang="en-US" altLang="ja-JP" sz="800">
              <a:latin typeface="Arial" panose="020B0604020202020204" pitchFamily="34" charset="0"/>
            </a:endParaRPr>
          </a:p>
          <a:p>
            <a:pPr marL="0" indent="0">
              <a:lnSpc>
                <a:spcPct val="90000"/>
              </a:lnSpc>
            </a:pPr>
            <a:r>
              <a:rPr lang="ja-JP" altLang="en-US" sz="800">
                <a:latin typeface="Arial" panose="020B0604020202020204" pitchFamily="34" charset="0"/>
              </a:rPr>
              <a:t>　 </a:t>
            </a:r>
            <a:r>
              <a:rPr lang="en-US" altLang="ja-JP" sz="900">
                <a:latin typeface="Arial" panose="020B0604020202020204" pitchFamily="34" charset="0"/>
              </a:rPr>
              <a:t>Là class để implement Map interface dựa vào hash table, có thể quản lý có kèm xử lý key và giá trị.</a:t>
            </a:r>
            <a:endParaRPr lang="en-US" altLang="ja-JP" sz="800">
              <a:latin typeface="Arial" panose="020B0604020202020204" pitchFamily="34" charset="0"/>
            </a:endParaRPr>
          </a:p>
          <a:p>
            <a:pPr marL="0" indent="0">
              <a:lnSpc>
                <a:spcPct val="90000"/>
              </a:lnSpc>
            </a:pPr>
            <a:r>
              <a:rPr lang="ja-JP" altLang="en-US" sz="800">
                <a:latin typeface="Arial" panose="020B0604020202020204" pitchFamily="34" charset="0"/>
              </a:rPr>
              <a:t>　 </a:t>
            </a:r>
            <a:r>
              <a:rPr lang="en-US" altLang="ja-JP" sz="800">
                <a:latin typeface="Arial" panose="020B0604020202020204" pitchFamily="34" charset="0"/>
              </a:rPr>
              <a:t>Có thể sử dụng null value và null key. </a:t>
            </a:r>
          </a:p>
          <a:p>
            <a:pPr marL="0" indent="0">
              <a:lnSpc>
                <a:spcPct val="90000"/>
              </a:lnSpc>
            </a:pPr>
            <a:r>
              <a:rPr lang="ja-JP" altLang="en-US" sz="800">
                <a:latin typeface="Arial" panose="020B0604020202020204" pitchFamily="34" charset="0"/>
              </a:rPr>
              <a:t>　 </a:t>
            </a:r>
            <a:r>
              <a:rPr lang="en-US" altLang="ja-JP" sz="800">
                <a:latin typeface="Arial" panose="020B0604020202020204" pitchFamily="34" charset="0"/>
              </a:rPr>
              <a:t>Trường hợp đã tồn tại key đã được chỉ định khi đăng kí, giá trị cũ sẽ được thay thế. </a:t>
            </a:r>
          </a:p>
          <a:p>
            <a:pPr marL="0" indent="0">
              <a:lnSpc>
                <a:spcPct val="90000"/>
              </a:lnSpc>
            </a:pPr>
            <a:r>
              <a:rPr lang="ja-JP" altLang="en-US" sz="800">
                <a:latin typeface="Arial" panose="020B0604020202020204" pitchFamily="34" charset="0"/>
              </a:rPr>
              <a:t>　 </a:t>
            </a:r>
            <a:r>
              <a:rPr lang="en-US" altLang="ja-JP" sz="800">
                <a:latin typeface="Arial" panose="020B0604020202020204" pitchFamily="34" charset="0"/>
              </a:rPr>
              <a:t>Vì trình tự không được đảm bảo nên không thể thao tác dựa vào index. </a:t>
            </a:r>
          </a:p>
          <a:p>
            <a:pPr marL="0" indent="0">
              <a:lnSpc>
                <a:spcPct val="90000"/>
              </a:lnSpc>
            </a:pPr>
            <a:endParaRPr lang="en-US" altLang="ja-JP" sz="800">
              <a:latin typeface="Arial" panose="020B0604020202020204" pitchFamily="34" charset="0"/>
            </a:endParaRPr>
          </a:p>
          <a:p>
            <a:pPr marL="0" indent="0">
              <a:lnSpc>
                <a:spcPct val="90000"/>
              </a:lnSpc>
            </a:pPr>
            <a:r>
              <a:rPr lang="en-US" altLang="ja-JP" sz="800">
                <a:latin typeface="Arial" panose="020B0604020202020204" pitchFamily="34" charset="0"/>
              </a:rPr>
              <a:t>●</a:t>
            </a:r>
            <a:r>
              <a:rPr lang="ja-JP" altLang="en-US" sz="800">
                <a:latin typeface="Arial" panose="020B0604020202020204" pitchFamily="34" charset="0"/>
              </a:rPr>
              <a:t>　</a:t>
            </a:r>
            <a:r>
              <a:rPr lang="en-US" altLang="ja-JP" sz="800">
                <a:latin typeface="Arial" panose="020B0604020202020204" pitchFamily="34" charset="0"/>
              </a:rPr>
              <a:t>Các method chính</a:t>
            </a: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ja-JP"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endParaRPr lang="en-US" altLang="en-US" sz="800">
              <a:latin typeface="Arial" panose="020B0604020202020204" pitchFamily="34" charset="0"/>
            </a:endParaRPr>
          </a:p>
          <a:p>
            <a:pPr marL="0" indent="0">
              <a:lnSpc>
                <a:spcPct val="90000"/>
              </a:lnSpc>
            </a:pPr>
            <a:r>
              <a:rPr lang="en-US" altLang="en-US" sz="800">
                <a:latin typeface="Arial" panose="020B0604020202020204" pitchFamily="34" charset="0"/>
              </a:rPr>
              <a:t>※　</a:t>
            </a:r>
            <a:r>
              <a:rPr lang="en-US" altLang="ja-JP" sz="800">
                <a:latin typeface="Arial" panose="020B0604020202020204" pitchFamily="34" charset="0"/>
              </a:rPr>
              <a:t>K, V chỉ kiểu data đã được định nghĩa bằng generics. </a:t>
            </a:r>
          </a:p>
          <a:p>
            <a:pPr marL="0" indent="0">
              <a:lnSpc>
                <a:spcPct val="90000"/>
              </a:lnSpc>
            </a:pPr>
            <a:r>
              <a:rPr lang="en-US" altLang="ja-JP" sz="800">
                <a:latin typeface="Arial" panose="020B0604020202020204" pitchFamily="34" charset="0"/>
              </a:rPr>
              <a:t>※</a:t>
            </a:r>
            <a:r>
              <a:rPr lang="ja-JP" altLang="en-US" sz="800">
                <a:latin typeface="Arial" panose="020B0604020202020204" pitchFamily="34" charset="0"/>
              </a:rPr>
              <a:t>　</a:t>
            </a:r>
            <a:r>
              <a:rPr lang="en-US" altLang="ja-JP" sz="800">
                <a:latin typeface="Arial" panose="020B0604020202020204" pitchFamily="34" charset="0"/>
              </a:rPr>
              <a:t>Ngoài ra còn có nhiều method khác nữa. Về chi tiết, hãy xác nhận bằng các tài liệu API… đi kèm JavaSE. </a:t>
            </a:r>
          </a:p>
          <a:p>
            <a:pPr marL="0" indent="0">
              <a:lnSpc>
                <a:spcPct val="90000"/>
              </a:lnSpc>
            </a:pPr>
            <a:endParaRPr lang="en-US" altLang="ja-JP" sz="800">
              <a:latin typeface="Arial" panose="020B0604020202020204" pitchFamily="34" charset="0"/>
            </a:endParaRPr>
          </a:p>
        </p:txBody>
      </p:sp>
      <p:graphicFrame>
        <p:nvGraphicFramePr>
          <p:cNvPr id="647284" name="Group 116">
            <a:extLst>
              <a:ext uri="{FF2B5EF4-FFF2-40B4-BE49-F238E27FC236}">
                <a16:creationId xmlns:a16="http://schemas.microsoft.com/office/drawing/2014/main" id="{EA2CF96B-4E66-5804-5B2C-84503358A6AF}"/>
              </a:ext>
            </a:extLst>
          </p:cNvPr>
          <p:cNvGraphicFramePr>
            <a:graphicFrameLocks noGrp="1"/>
          </p:cNvGraphicFramePr>
          <p:nvPr/>
        </p:nvGraphicFramePr>
        <p:xfrm>
          <a:off x="636588" y="6324600"/>
          <a:ext cx="5810250" cy="3249613"/>
        </p:xfrm>
        <a:graphic>
          <a:graphicData uri="http://schemas.openxmlformats.org/drawingml/2006/table">
            <a:tbl>
              <a:tblPr/>
              <a:tblGrid>
                <a:gridCol w="1682750">
                  <a:extLst>
                    <a:ext uri="{9D8B030D-6E8A-4147-A177-3AD203B41FA5}">
                      <a16:colId xmlns:a16="http://schemas.microsoft.com/office/drawing/2014/main" val="1358400336"/>
                    </a:ext>
                  </a:extLst>
                </a:gridCol>
                <a:gridCol w="4127500">
                  <a:extLst>
                    <a:ext uri="{9D8B030D-6E8A-4147-A177-3AD203B41FA5}">
                      <a16:colId xmlns:a16="http://schemas.microsoft.com/office/drawing/2014/main" val="3047965151"/>
                    </a:ext>
                  </a:extLst>
                </a:gridCol>
              </a:tblGrid>
              <a:tr h="58102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698732799"/>
                  </a:ext>
                </a:extLst>
              </a:tr>
              <a:tr h="463550">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V put(K key, V value)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Tạo mối quan hệ của giá trị đã được chỉ định và key đã được chỉ định với map này (giá trị trả về là null).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Trường hợp key chỉ định đã tồn tại trong map, thì thay thế giá trị cũ (giá trị trả về là giá trị cũ).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331624"/>
                  </a:ext>
                </a:extLst>
              </a:tr>
              <a:tr h="42227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containsKey</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(Object key)</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Trường hợp đã bảo lưu  và duy tr</a:t>
                      </a:r>
                      <a:r>
                        <a:rPr kumimoji="1" lang="en-US" altLang="ja-JP"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ì</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key đã được chỉ định thì trả về true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709844"/>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containsValue</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(Object value)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Trường hợp đang mapping gi</a:t>
                      </a:r>
                      <a:r>
                        <a:rPr kumimoji="1" lang="en-US" altLang="ja-JP" sz="10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á</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trị đã được chỉ định với một hoặc nhiều key thì trả về true.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47360894"/>
                  </a:ext>
                </a:extLst>
              </a:tr>
              <a:tr h="4238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V</a:t>
                      </a:r>
                      <a:r>
                        <a:rPr kumimoji="1" lang="en-US" altLang="ja-JP" sz="10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remove(Object key)</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tồn tại maping của key đã được chỉ định</a:t>
                      </a:r>
                      <a:r>
                        <a:rPr kumimoji="1" lang="en-US" altLang="ja-JP" sz="10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thì xóa đi(giá trị trả về là giá trị value đã xóa).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không tồn tại thì trả về null.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8463654"/>
                  </a:ext>
                </a:extLst>
              </a:tr>
              <a:tr h="2714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số phần tử</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8681725"/>
                  </a:ext>
                </a:extLst>
              </a:tr>
              <a:tr h="27146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Set&lt;K&gt; keySet()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0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Set của key có trong map này.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6120715"/>
                  </a:ext>
                </a:extLst>
              </a:tr>
            </a:tbl>
          </a:graphicData>
        </a:graphic>
      </p:graphicFrame>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510C3-DC37-3356-6846-739DB208F8F2}"/>
              </a:ext>
            </a:extLst>
          </p:cNvPr>
          <p:cNvSpPr>
            <a:spLocks noGrp="1"/>
          </p:cNvSpPr>
          <p:nvPr>
            <p:ph type="title"/>
          </p:nvPr>
        </p:nvSpPr>
        <p:spPr>
          <a:xfrm>
            <a:off x="344488" y="84138"/>
            <a:ext cx="9217025" cy="490537"/>
          </a:xfrm>
        </p:spPr>
        <p:txBody>
          <a:bodyPr/>
          <a:lstStyle/>
          <a:p>
            <a:r>
              <a:rPr lang="en-US" altLang="ja-JP"/>
              <a:t>Click to edit Master title style</a:t>
            </a:r>
            <a:endParaRPr lang="ja-JP" altLang="en-US"/>
          </a:p>
        </p:txBody>
      </p:sp>
      <p:sp>
        <p:nvSpPr>
          <p:cNvPr id="3" name="Table Placeholder 2">
            <a:extLst>
              <a:ext uri="{FF2B5EF4-FFF2-40B4-BE49-F238E27FC236}">
                <a16:creationId xmlns:a16="http://schemas.microsoft.com/office/drawing/2014/main" id="{94A71733-0A80-1D70-087A-17EC2A634FEF}"/>
              </a:ext>
            </a:extLst>
          </p:cNvPr>
          <p:cNvSpPr>
            <a:spLocks noGrp="1"/>
          </p:cNvSpPr>
          <p:nvPr>
            <p:ph type="tbl" idx="1"/>
          </p:nvPr>
        </p:nvSpPr>
        <p:spPr>
          <a:xfrm>
            <a:off x="344488" y="796925"/>
            <a:ext cx="9217025" cy="5903913"/>
          </a:xfrm>
        </p:spPr>
        <p:txBody>
          <a:bodyPr/>
          <a:lstStyle/>
          <a:p>
            <a:endParaRPr lang="ja-JP" altLang="en-US"/>
          </a:p>
        </p:txBody>
      </p:sp>
      <p:sp>
        <p:nvSpPr>
          <p:cNvPr id="4" name="Slide Number Placeholder 3">
            <a:extLst>
              <a:ext uri="{FF2B5EF4-FFF2-40B4-BE49-F238E27FC236}">
                <a16:creationId xmlns:a16="http://schemas.microsoft.com/office/drawing/2014/main" id="{86D2AD35-7D1A-7085-EF19-CFAB5EE3070E}"/>
              </a:ext>
            </a:extLst>
          </p:cNvPr>
          <p:cNvSpPr>
            <a:spLocks noGrp="1"/>
          </p:cNvSpPr>
          <p:nvPr>
            <p:ph type="sldNum" sz="quarter" idx="10"/>
          </p:nvPr>
        </p:nvSpPr>
        <p:spPr>
          <a:xfrm>
            <a:off x="7616825" y="6381750"/>
            <a:ext cx="2133600" cy="476250"/>
          </a:xfrm>
        </p:spPr>
        <p:txBody>
          <a:bodyPr/>
          <a:lstStyle>
            <a:lvl1pPr>
              <a:defRPr/>
            </a:lvl1pPr>
          </a:lstStyle>
          <a:p>
            <a:fld id="{2A23074F-B102-40E4-A99A-14288BCA1A83}" type="slidenum">
              <a:rPr lang="en-US" altLang="ja-JP"/>
              <a:pPr/>
              <a:t>‹#›</a:t>
            </a:fld>
            <a:endParaRPr lang="en-US" altLang="ja-JP"/>
          </a:p>
        </p:txBody>
      </p:sp>
    </p:spTree>
    <p:extLst>
      <p:ext uri="{BB962C8B-B14F-4D97-AF65-F5344CB8AC3E}">
        <p14:creationId xmlns:p14="http://schemas.microsoft.com/office/powerpoint/2010/main" val="1206225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2026/9/10</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 id="2147483805" r:id="rId7"/>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2026/9/10</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C61E3-7210-D801-C73E-18DF39FE6C40}"/>
              </a:ext>
            </a:extLst>
          </p:cNvPr>
          <p:cNvSpPr>
            <a:spLocks noGrp="1"/>
          </p:cNvSpPr>
          <p:nvPr>
            <p:ph type="ctrTitle"/>
          </p:nvPr>
        </p:nvSpPr>
        <p:spPr>
          <a:xfrm>
            <a:off x="742950" y="2130425"/>
            <a:ext cx="7486650" cy="1470025"/>
          </a:xfrm>
        </p:spPr>
        <p:txBody>
          <a:bodyPr>
            <a:noAutofit/>
          </a:bodyPr>
          <a:lstStyle/>
          <a:p>
            <a:pPr algn="ctr" eaLnBrk="0" hangingPunct="0"/>
            <a:r>
              <a:rPr lang="ja-JP" altLang="ja-JP" dirty="0">
                <a:latin typeface="+mj-lt"/>
              </a:rPr>
              <a:t>Java</a:t>
            </a:r>
            <a:r>
              <a:rPr lang="en-US" altLang="ja-JP" dirty="0">
                <a:latin typeface="+mj-lt"/>
              </a:rPr>
              <a:t> Training</a:t>
            </a:r>
            <a:endParaRPr kumimoji="1" lang="ja-JP" altLang="en-US" dirty="0">
              <a:latin typeface="+mj-lt"/>
              <a:cs typeface="Times New Roman" panose="02020603050405020304" pitchFamily="18" charset="0"/>
            </a:endParaRPr>
          </a:p>
        </p:txBody>
      </p:sp>
    </p:spTree>
    <p:extLst>
      <p:ext uri="{BB962C8B-B14F-4D97-AF65-F5344CB8AC3E}">
        <p14:creationId xmlns:p14="http://schemas.microsoft.com/office/powerpoint/2010/main" val="423293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B08F16-C486-2DC7-0611-9C54B2DF99C5}"/>
              </a:ext>
            </a:extLst>
          </p:cNvPr>
          <p:cNvSpPr>
            <a:spLocks noGrp="1"/>
          </p:cNvSpPr>
          <p:nvPr>
            <p:ph type="sldNum" sz="quarter" idx="10"/>
          </p:nvPr>
        </p:nvSpPr>
        <p:spPr bwMode="auto">
          <a:xfrm>
            <a:off x="7616825"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ja-JP"/>
            </a:defPPr>
            <a:lvl1pPr algn="r" rtl="0" fontAlgn="base">
              <a:spcBef>
                <a:spcPct val="0"/>
              </a:spcBef>
              <a:spcAft>
                <a:spcPct val="0"/>
              </a:spcAft>
              <a:defRPr kumimoji="1" sz="1400" b="0" kern="1200">
                <a:solidFill>
                  <a:schemeClr val="tx1"/>
                </a:solidFill>
                <a:latin typeface="Arial" panose="020B0604020202020204" pitchFamily="34" charset="0"/>
                <a:ea typeface="+mj-ea"/>
                <a:cs typeface="+mn-cs"/>
              </a:defRPr>
            </a:lvl1pPr>
            <a:lvl2pPr marL="4572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2pPr>
            <a:lvl3pPr marL="9144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3pPr>
            <a:lvl4pPr marL="13716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4pPr>
            <a:lvl5pPr marL="1828800" algn="l" rtl="0" fontAlgn="base">
              <a:spcBef>
                <a:spcPct val="0"/>
              </a:spcBef>
              <a:spcAft>
                <a:spcPct val="0"/>
              </a:spcAft>
              <a:defRPr kumimoji="1" sz="1000" b="1" kern="1200">
                <a:solidFill>
                  <a:schemeClr val="tx1"/>
                </a:solidFill>
                <a:latin typeface="Arial" panose="020B0604020202020204" pitchFamily="34" charset="0"/>
                <a:ea typeface="MS UI Gothic" panose="020B0600070205080204" pitchFamily="50" charset="-128"/>
                <a:cs typeface="+mn-cs"/>
              </a:defRPr>
            </a:lvl5pPr>
            <a:lvl6pPr marL="22860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6pPr>
            <a:lvl7pPr marL="27432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7pPr>
            <a:lvl8pPr marL="32004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8pPr>
            <a:lvl9pPr marL="3657600" algn="l" defTabSz="914400" rtl="0" eaLnBrk="1" latinLnBrk="0" hangingPunct="1">
              <a:defRPr kumimoji="1" sz="1000" b="1" kern="1200">
                <a:solidFill>
                  <a:schemeClr val="tx1"/>
                </a:solidFill>
                <a:latin typeface="Arial" panose="020B0604020202020204" pitchFamily="34" charset="0"/>
                <a:ea typeface="MS UI Gothic" panose="020B0600070205080204" pitchFamily="50" charset="-128"/>
                <a:cs typeface="+mn-cs"/>
              </a:defRPr>
            </a:lvl9pPr>
          </a:lstStyle>
          <a:p>
            <a:fld id="{420DEDA9-72B9-461E-80D3-448A88F1118C}" type="slidenum">
              <a:rPr lang="en-US" altLang="ja-JP" smtClean="0"/>
              <a:pPr/>
              <a:t>2</a:t>
            </a:fld>
            <a:endParaRPr lang="en-US" altLang="ja-JP"/>
          </a:p>
        </p:txBody>
      </p:sp>
      <p:sp>
        <p:nvSpPr>
          <p:cNvPr id="256003" name="Text Box 3">
            <a:extLst>
              <a:ext uri="{FF2B5EF4-FFF2-40B4-BE49-F238E27FC236}">
                <a16:creationId xmlns:a16="http://schemas.microsoft.com/office/drawing/2014/main" id="{F4FA4A99-E705-3E23-BA39-65E0FB23129E}"/>
              </a:ext>
            </a:extLst>
          </p:cNvPr>
          <p:cNvSpPr txBox="1">
            <a:spLocks noChangeArrowheads="1"/>
          </p:cNvSpPr>
          <p:nvPr/>
        </p:nvSpPr>
        <p:spPr bwMode="auto">
          <a:xfrm>
            <a:off x="2386013" y="2336800"/>
            <a:ext cx="5287962"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2643" tIns="56322" rIns="112643" bIns="56322">
            <a:spAutoFit/>
          </a:bodyPr>
          <a:lstStyle>
            <a:lvl1pPr defTabSz="1063625">
              <a:defRPr kumimoji="1">
                <a:solidFill>
                  <a:schemeClr val="tx1"/>
                </a:solidFill>
                <a:latin typeface="Arial" panose="020B0604020202020204" pitchFamily="34" charset="0"/>
                <a:ea typeface="ＭＳ Ｐゴシック" panose="020B0600070205080204" pitchFamily="50" charset="-128"/>
              </a:defRPr>
            </a:lvl1pPr>
            <a:lvl2pPr marL="563563" defTabSz="1063625">
              <a:defRPr kumimoji="1">
                <a:solidFill>
                  <a:schemeClr val="tx1"/>
                </a:solidFill>
                <a:latin typeface="Arial" panose="020B0604020202020204" pitchFamily="34" charset="0"/>
                <a:ea typeface="ＭＳ Ｐゴシック" panose="020B0600070205080204" pitchFamily="50" charset="-128"/>
              </a:defRPr>
            </a:lvl2pPr>
            <a:lvl3pPr marL="1125538" defTabSz="1063625">
              <a:defRPr kumimoji="1">
                <a:solidFill>
                  <a:schemeClr val="tx1"/>
                </a:solidFill>
                <a:latin typeface="Arial" panose="020B0604020202020204" pitchFamily="34" charset="0"/>
                <a:ea typeface="ＭＳ Ｐゴシック" panose="020B0600070205080204" pitchFamily="50" charset="-128"/>
              </a:defRPr>
            </a:lvl3pPr>
            <a:lvl4pPr marL="1689100" defTabSz="1063625">
              <a:defRPr kumimoji="1">
                <a:solidFill>
                  <a:schemeClr val="tx1"/>
                </a:solidFill>
                <a:latin typeface="Arial" panose="020B0604020202020204" pitchFamily="34" charset="0"/>
                <a:ea typeface="ＭＳ Ｐゴシック" panose="020B0600070205080204" pitchFamily="50" charset="-128"/>
              </a:defRPr>
            </a:lvl4pPr>
            <a:lvl5pPr marL="2254250" defTabSz="1063625">
              <a:defRPr kumimoji="1">
                <a:solidFill>
                  <a:schemeClr val="tx1"/>
                </a:solidFill>
                <a:latin typeface="Arial" panose="020B0604020202020204" pitchFamily="34" charset="0"/>
                <a:ea typeface="ＭＳ Ｐゴシック" panose="020B0600070205080204" pitchFamily="50" charset="-128"/>
              </a:defRPr>
            </a:lvl5pPr>
            <a:lvl6pPr marL="27114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31686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6258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4083050" defTabSz="1063625"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r>
              <a:rPr lang="en-US" altLang="ja-JP" sz="2400" b="0">
                <a:ea typeface="ヒラギノ明朝 Pro W6" pitchFamily="18" charset="-128"/>
              </a:rPr>
              <a:t>Chương 8</a:t>
            </a:r>
            <a:br>
              <a:rPr lang="en-US" altLang="ja-JP" sz="2100" b="0">
                <a:ea typeface="ヒラギノ明朝 Pro W6" pitchFamily="18" charset="-128"/>
              </a:rPr>
            </a:br>
            <a:r>
              <a:rPr lang="en-US" altLang="ja-JP" sz="4700" b="0">
                <a:ea typeface="ヒラギノ明朝 Pro W6" pitchFamily="18" charset="-128"/>
              </a:rPr>
              <a:t>Collection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BB44ACD-3145-3B39-D307-18BB62A681AF}"/>
              </a:ext>
            </a:extLst>
          </p:cNvPr>
          <p:cNvSpPr>
            <a:spLocks noGrp="1"/>
          </p:cNvSpPr>
          <p:nvPr>
            <p:ph type="sldNum" sz="quarter" idx="10"/>
          </p:nvPr>
        </p:nvSpPr>
        <p:spPr/>
        <p:txBody>
          <a:bodyPr/>
          <a:lstStyle/>
          <a:p>
            <a:fld id="{2C4F7C06-C7B1-478E-A5E5-82EFB808BC5C}" type="slidenum">
              <a:rPr lang="en-US" altLang="ja-JP"/>
              <a:pPr/>
              <a:t>3</a:t>
            </a:fld>
            <a:endParaRPr lang="en-US" altLang="ja-JP"/>
          </a:p>
        </p:txBody>
      </p:sp>
      <p:sp>
        <p:nvSpPr>
          <p:cNvPr id="546818" name="Rectangle 2">
            <a:extLst>
              <a:ext uri="{FF2B5EF4-FFF2-40B4-BE49-F238E27FC236}">
                <a16:creationId xmlns:a16="http://schemas.microsoft.com/office/drawing/2014/main" id="{89BB4AF0-A004-EAE6-3DB9-36480706C6B0}"/>
              </a:ext>
            </a:extLst>
          </p:cNvPr>
          <p:cNvSpPr>
            <a:spLocks noGrp="1" noChangeArrowheads="1"/>
          </p:cNvSpPr>
          <p:nvPr>
            <p:ph type="title"/>
          </p:nvPr>
        </p:nvSpPr>
        <p:spPr>
          <a:xfrm>
            <a:off x="344488" y="358430"/>
            <a:ext cx="9217025" cy="490537"/>
          </a:xfrm>
        </p:spPr>
        <p:txBody>
          <a:bodyPr>
            <a:normAutofit fontScale="90000"/>
          </a:bodyPr>
          <a:lstStyle/>
          <a:p>
            <a:r>
              <a:rPr lang="en-US" altLang="ja-JP" dirty="0">
                <a:latin typeface="Arial" panose="020B0604020202020204" pitchFamily="34" charset="0"/>
                <a:ea typeface="MS UI Gothic" panose="020B0600070205080204" pitchFamily="50" charset="-128"/>
              </a:rPr>
              <a:t>Collection </a:t>
            </a:r>
            <a:r>
              <a:rPr lang="en-US" altLang="ja-JP" dirty="0" err="1">
                <a:latin typeface="Arial" panose="020B0604020202020204" pitchFamily="34" charset="0"/>
                <a:ea typeface="MS UI Gothic" panose="020B0600070205080204" pitchFamily="50" charset="-128"/>
              </a:rPr>
              <a:t>là</a:t>
            </a:r>
            <a:r>
              <a:rPr lang="en-US" altLang="ja-JP" dirty="0">
                <a:latin typeface="Arial" panose="020B0604020202020204" pitchFamily="34" charset="0"/>
                <a:ea typeface="MS UI Gothic" panose="020B0600070205080204" pitchFamily="50" charset="-128"/>
              </a:rPr>
              <a:t> </a:t>
            </a:r>
            <a:r>
              <a:rPr lang="en-US" altLang="ja-JP" dirty="0" err="1">
                <a:latin typeface="Arial" panose="020B0604020202020204" pitchFamily="34" charset="0"/>
                <a:ea typeface="MS UI Gothic" panose="020B0600070205080204" pitchFamily="50" charset="-128"/>
              </a:rPr>
              <a:t>gì</a:t>
            </a:r>
            <a:r>
              <a:rPr lang="en-US" altLang="ja-JP" dirty="0">
                <a:latin typeface="Arial" panose="020B0604020202020204" pitchFamily="34" charset="0"/>
                <a:ea typeface="MS UI Gothic" panose="020B0600070205080204" pitchFamily="50" charset="-128"/>
              </a:rPr>
              <a:t>?</a:t>
            </a:r>
          </a:p>
        </p:txBody>
      </p:sp>
      <p:sp>
        <p:nvSpPr>
          <p:cNvPr id="546820" name="Rectangle 4">
            <a:extLst>
              <a:ext uri="{FF2B5EF4-FFF2-40B4-BE49-F238E27FC236}">
                <a16:creationId xmlns:a16="http://schemas.microsoft.com/office/drawing/2014/main" id="{02CEF6CD-207B-6477-9257-D1BF547ED602}"/>
              </a:ext>
            </a:extLst>
          </p:cNvPr>
          <p:cNvSpPr>
            <a:spLocks noChangeArrowheads="1"/>
          </p:cNvSpPr>
          <p:nvPr/>
        </p:nvSpPr>
        <p:spPr bwMode="auto">
          <a:xfrm>
            <a:off x="344488" y="2162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a:latin typeface="Arial" panose="020B0604020202020204" pitchFamily="34" charset="0"/>
              </a:rPr>
              <a:t>Các loại collection</a:t>
            </a:r>
          </a:p>
          <a:p>
            <a:pPr lvl="1"/>
            <a:endParaRPr lang="en-US" altLang="ja-JP" sz="2400" b="0">
              <a:latin typeface="Arial" panose="020B0604020202020204" pitchFamily="34" charset="0"/>
            </a:endParaRPr>
          </a:p>
        </p:txBody>
      </p:sp>
      <p:sp>
        <p:nvSpPr>
          <p:cNvPr id="546890" name="Rectangle 74">
            <a:extLst>
              <a:ext uri="{FF2B5EF4-FFF2-40B4-BE49-F238E27FC236}">
                <a16:creationId xmlns:a16="http://schemas.microsoft.com/office/drawing/2014/main" id="{D34FCF86-504B-B9FD-A9E7-752594ED4FAF}"/>
              </a:ext>
            </a:extLst>
          </p:cNvPr>
          <p:cNvSpPr>
            <a:spLocks noChangeArrowheads="1"/>
          </p:cNvSpPr>
          <p:nvPr/>
        </p:nvSpPr>
        <p:spPr bwMode="auto">
          <a:xfrm>
            <a:off x="344488" y="807244"/>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ja-JP" sz="2400" b="0" dirty="0">
                <a:latin typeface="Arial" panose="020B0604020202020204" pitchFamily="34" charset="0"/>
              </a:rPr>
              <a:t>Collection </a:t>
            </a:r>
            <a:r>
              <a:rPr lang="en-US" altLang="ja-JP" sz="2400" b="0" dirty="0" err="1">
                <a:latin typeface="Arial" panose="020B0604020202020204" pitchFamily="34" charset="0"/>
              </a:rPr>
              <a:t>là</a:t>
            </a:r>
            <a:r>
              <a:rPr lang="en-US" altLang="ja-JP" sz="2400" b="0" dirty="0">
                <a:latin typeface="Arial" panose="020B0604020202020204" pitchFamily="34" charset="0"/>
              </a:rPr>
              <a:t> </a:t>
            </a:r>
            <a:r>
              <a:rPr lang="en-US" altLang="ja-JP" sz="2400" b="0" dirty="0" err="1">
                <a:latin typeface="Arial" panose="020B0604020202020204" pitchFamily="34" charset="0"/>
              </a:rPr>
              <a:t>gì</a:t>
            </a:r>
            <a:r>
              <a:rPr lang="en-US" altLang="ja-JP" sz="2400" b="0" dirty="0">
                <a:latin typeface="Arial" panose="020B0604020202020204" pitchFamily="34" charset="0"/>
              </a:rPr>
              <a:t>?</a:t>
            </a:r>
          </a:p>
          <a:p>
            <a:pPr lvl="1"/>
            <a:endParaRPr lang="en-US" altLang="ja-JP" sz="2400" b="0" dirty="0">
              <a:latin typeface="Arial" panose="020B0604020202020204" pitchFamily="34" charset="0"/>
            </a:endParaRPr>
          </a:p>
        </p:txBody>
      </p:sp>
      <p:sp>
        <p:nvSpPr>
          <p:cNvPr id="546891" name="Rectangle 75">
            <a:extLst>
              <a:ext uri="{FF2B5EF4-FFF2-40B4-BE49-F238E27FC236}">
                <a16:creationId xmlns:a16="http://schemas.microsoft.com/office/drawing/2014/main" id="{B64F1CDA-F354-146A-9A32-99AFA4FD214B}"/>
              </a:ext>
            </a:extLst>
          </p:cNvPr>
          <p:cNvSpPr>
            <a:spLocks noChangeArrowheads="1"/>
          </p:cNvSpPr>
          <p:nvPr/>
        </p:nvSpPr>
        <p:spPr bwMode="auto">
          <a:xfrm>
            <a:off x="344488" y="1282700"/>
            <a:ext cx="9120187" cy="696913"/>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dirty="0" err="1">
                <a:latin typeface="Arial" panose="020B0604020202020204" pitchFamily="34" charset="0"/>
              </a:rPr>
              <a:t>Là</a:t>
            </a:r>
            <a:r>
              <a:rPr lang="en-US" altLang="ja-JP" sz="2000" dirty="0">
                <a:latin typeface="Arial" panose="020B0604020202020204" pitchFamily="34" charset="0"/>
              </a:rPr>
              <a:t> object </a:t>
            </a:r>
            <a:r>
              <a:rPr lang="en-US" altLang="ja-JP" sz="2000" dirty="0" err="1">
                <a:latin typeface="Arial" panose="020B0604020202020204" pitchFamily="34" charset="0"/>
              </a:rPr>
              <a:t>thê</a:t>
            </a:r>
            <a:r>
              <a:rPr lang="en-US" altLang="ja-JP" sz="2000" dirty="0">
                <a:latin typeface="Arial" panose="020B0604020202020204" pitchFamily="34" charset="0"/>
              </a:rPr>
              <a:t>̉ </a:t>
            </a:r>
            <a:r>
              <a:rPr lang="en-US" altLang="ja-JP" sz="2000" dirty="0" err="1">
                <a:latin typeface="Arial" panose="020B0604020202020204" pitchFamily="34" charset="0"/>
              </a:rPr>
              <a:t>hiện</a:t>
            </a:r>
            <a:r>
              <a:rPr lang="en-US" altLang="ja-JP" sz="2000" dirty="0">
                <a:latin typeface="Arial" panose="020B0604020202020204" pitchFamily="34" charset="0"/>
              </a:rPr>
              <a:t> </a:t>
            </a:r>
            <a:r>
              <a:rPr lang="en-US" altLang="ja-JP" sz="2000" dirty="0" err="1">
                <a:latin typeface="Arial" panose="020B0604020202020204" pitchFamily="34" charset="0"/>
              </a:rPr>
              <a:t>tập</a:t>
            </a:r>
            <a:r>
              <a:rPr lang="en-US" altLang="ja-JP" sz="2000" dirty="0">
                <a:latin typeface="Arial" panose="020B0604020202020204" pitchFamily="34" charset="0"/>
              </a:rPr>
              <a:t> </a:t>
            </a:r>
            <a:r>
              <a:rPr lang="en-US" altLang="ja-JP" sz="2000" dirty="0" err="1">
                <a:latin typeface="Arial" panose="020B0604020202020204" pitchFamily="34" charset="0"/>
              </a:rPr>
              <a:t>hợp</a:t>
            </a:r>
            <a:r>
              <a:rPr lang="en-US" altLang="ja-JP" sz="2000" dirty="0">
                <a:latin typeface="Arial" panose="020B0604020202020204" pitchFamily="34" charset="0"/>
              </a:rPr>
              <a:t> </a:t>
            </a:r>
            <a:r>
              <a:rPr lang="en-US" altLang="ja-JP" sz="2000" dirty="0" err="1">
                <a:latin typeface="Arial" panose="020B0604020202020204" pitchFamily="34" charset="0"/>
              </a:rPr>
              <a:t>của</a:t>
            </a:r>
            <a:r>
              <a:rPr lang="en-US" altLang="ja-JP" sz="2000" dirty="0">
                <a:latin typeface="Arial" panose="020B0604020202020204" pitchFamily="34" charset="0"/>
              </a:rPr>
              <a:t> </a:t>
            </a:r>
            <a:r>
              <a:rPr lang="en-US" altLang="ja-JP" sz="2000" dirty="0" err="1">
                <a:latin typeface="Arial" panose="020B0604020202020204" pitchFamily="34" charset="0"/>
              </a:rPr>
              <a:t>nhiều</a:t>
            </a:r>
            <a:r>
              <a:rPr lang="en-US" altLang="ja-JP" sz="2000" dirty="0">
                <a:latin typeface="Arial" panose="020B0604020202020204" pitchFamily="34" charset="0"/>
              </a:rPr>
              <a:t> </a:t>
            </a:r>
            <a:r>
              <a:rPr lang="en-US" altLang="ja-JP" sz="2000" dirty="0" err="1">
                <a:latin typeface="Arial" panose="020B0604020202020204" pitchFamily="34" charset="0"/>
              </a:rPr>
              <a:t>phần</a:t>
            </a:r>
            <a:r>
              <a:rPr lang="en-US" altLang="ja-JP" sz="2000" dirty="0">
                <a:latin typeface="Arial" panose="020B0604020202020204" pitchFamily="34" charset="0"/>
              </a:rPr>
              <a:t> </a:t>
            </a:r>
            <a:r>
              <a:rPr lang="en-US" altLang="ja-JP" sz="2000" dirty="0" err="1">
                <a:latin typeface="Arial" panose="020B0604020202020204" pitchFamily="34" charset="0"/>
              </a:rPr>
              <a:t>tử</a:t>
            </a:r>
            <a:r>
              <a:rPr lang="en-US" altLang="ja-JP" sz="2000" dirty="0">
                <a:latin typeface="Arial" panose="020B0604020202020204" pitchFamily="34" charset="0"/>
              </a:rPr>
              <a:t> (object) </a:t>
            </a:r>
            <a:r>
              <a:rPr lang="en-US" altLang="ja-JP" sz="2000" dirty="0" err="1">
                <a:latin typeface="Arial" panose="020B0604020202020204" pitchFamily="34" charset="0"/>
              </a:rPr>
              <a:t>với</a:t>
            </a:r>
            <a:r>
              <a:rPr lang="en-US" altLang="ja-JP" sz="2000" dirty="0">
                <a:latin typeface="Arial" panose="020B0604020202020204" pitchFamily="34" charset="0"/>
              </a:rPr>
              <a:t> </a:t>
            </a:r>
            <a:r>
              <a:rPr lang="en-US" altLang="ja-JP" sz="2000" dirty="0" err="1">
                <a:latin typeface="Arial" panose="020B0604020202020204" pitchFamily="34" charset="0"/>
              </a:rPr>
              <a:t>số</a:t>
            </a:r>
            <a:r>
              <a:rPr lang="en-US" altLang="ja-JP" sz="2000" dirty="0">
                <a:latin typeface="Arial" panose="020B0604020202020204" pitchFamily="34" charset="0"/>
              </a:rPr>
              <a:t> </a:t>
            </a:r>
            <a:r>
              <a:rPr lang="en-US" altLang="ja-JP" sz="2000" dirty="0" err="1">
                <a:latin typeface="Arial" panose="020B0604020202020204" pitchFamily="34" charset="0"/>
              </a:rPr>
              <a:t>phần</a:t>
            </a:r>
            <a:r>
              <a:rPr lang="en-US" altLang="ja-JP" sz="2000" dirty="0">
                <a:latin typeface="Arial" panose="020B0604020202020204" pitchFamily="34" charset="0"/>
              </a:rPr>
              <a:t> </a:t>
            </a:r>
            <a:r>
              <a:rPr lang="en-US" altLang="ja-JP" sz="2000" dirty="0" err="1">
                <a:latin typeface="Arial" panose="020B0604020202020204" pitchFamily="34" charset="0"/>
              </a:rPr>
              <a:t>tử</a:t>
            </a:r>
            <a:r>
              <a:rPr lang="en-US" altLang="ja-JP" sz="2000" dirty="0">
                <a:latin typeface="Arial" panose="020B0604020202020204" pitchFamily="34" charset="0"/>
              </a:rPr>
              <a:t> </a:t>
            </a:r>
            <a:r>
              <a:rPr lang="en-US" altLang="ja-JP" sz="2000" dirty="0" err="1">
                <a:latin typeface="Arial" panose="020B0604020202020204" pitchFamily="34" charset="0"/>
              </a:rPr>
              <a:t>không</a:t>
            </a:r>
            <a:r>
              <a:rPr lang="en-US" altLang="ja-JP" sz="2000" dirty="0">
                <a:latin typeface="Arial" panose="020B0604020202020204" pitchFamily="34" charset="0"/>
              </a:rPr>
              <a:t> </a:t>
            </a:r>
            <a:r>
              <a:rPr lang="en-US" altLang="ja-JP" sz="2000" dirty="0" err="1">
                <a:latin typeface="Arial" panose="020B0604020202020204" pitchFamily="34" charset="0"/>
              </a:rPr>
              <a:t>cố</a:t>
            </a:r>
            <a:r>
              <a:rPr lang="en-US" altLang="ja-JP" sz="2000" dirty="0">
                <a:latin typeface="Arial" panose="020B0604020202020204" pitchFamily="34" charset="0"/>
              </a:rPr>
              <a:t> </a:t>
            </a:r>
            <a:r>
              <a:rPr lang="en-US" altLang="ja-JP" sz="2000" dirty="0" err="1">
                <a:latin typeface="Arial" panose="020B0604020202020204" pitchFamily="34" charset="0"/>
              </a:rPr>
              <a:t>định</a:t>
            </a:r>
            <a:r>
              <a:rPr lang="en-US" altLang="ja-JP" sz="2000" dirty="0">
                <a:latin typeface="Arial" panose="020B0604020202020204" pitchFamily="34" charset="0"/>
              </a:rPr>
              <a:t>.</a:t>
            </a:r>
          </a:p>
        </p:txBody>
      </p:sp>
      <p:graphicFrame>
        <p:nvGraphicFramePr>
          <p:cNvPr id="546954" name="Group 138">
            <a:extLst>
              <a:ext uri="{FF2B5EF4-FFF2-40B4-BE49-F238E27FC236}">
                <a16:creationId xmlns:a16="http://schemas.microsoft.com/office/drawing/2014/main" id="{1A11BF15-2100-17C2-7547-8D8BD4F0C919}"/>
              </a:ext>
            </a:extLst>
          </p:cNvPr>
          <p:cNvGraphicFramePr>
            <a:graphicFrameLocks noGrp="1"/>
          </p:cNvGraphicFramePr>
          <p:nvPr>
            <p:ph idx="1"/>
          </p:nvPr>
        </p:nvGraphicFramePr>
        <p:xfrm>
          <a:off x="344488" y="2663825"/>
          <a:ext cx="9120187" cy="2112010"/>
        </p:xfrm>
        <a:graphic>
          <a:graphicData uri="http://schemas.openxmlformats.org/drawingml/2006/table">
            <a:tbl>
              <a:tblPr/>
              <a:tblGrid>
                <a:gridCol w="1012825">
                  <a:extLst>
                    <a:ext uri="{9D8B030D-6E8A-4147-A177-3AD203B41FA5}">
                      <a16:colId xmlns:a16="http://schemas.microsoft.com/office/drawing/2014/main" val="2558554136"/>
                    </a:ext>
                  </a:extLst>
                </a:gridCol>
                <a:gridCol w="5718175">
                  <a:extLst>
                    <a:ext uri="{9D8B030D-6E8A-4147-A177-3AD203B41FA5}">
                      <a16:colId xmlns:a16="http://schemas.microsoft.com/office/drawing/2014/main" val="2485121715"/>
                    </a:ext>
                  </a:extLst>
                </a:gridCol>
                <a:gridCol w="2389187">
                  <a:extLst>
                    <a:ext uri="{9D8B030D-6E8A-4147-A177-3AD203B41FA5}">
                      <a16:colId xmlns:a16="http://schemas.microsoft.com/office/drawing/2014/main" val="564930814"/>
                    </a:ext>
                  </a:extLst>
                </a:gridCol>
              </a:tblGrid>
              <a:tr h="44450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Loại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Class name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795229478"/>
                  </a:ext>
                </a:extLst>
              </a:tr>
              <a:tr h="3365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List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Quản lý đối tượng theo trình tự. Có thể lưu giữ phần tử trùng lặp.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ArrayList, LinkedList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55478867"/>
                  </a:ext>
                </a:extLst>
              </a:tr>
              <a:tr h="382588">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Set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Quản lý đối tượng không theo trình tự. Lưu giữ phần tử đơn nhất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HashSet, TreeSet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9905277"/>
                  </a:ext>
                </a:extLst>
              </a:tr>
              <a:tr h="387350">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Map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Quan hệ tương ứng giữa key và giá trị, quản lý object.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HashMap, TreeMap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09136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05A76D0-F7B1-742A-062E-E743727025D8}"/>
              </a:ext>
            </a:extLst>
          </p:cNvPr>
          <p:cNvSpPr>
            <a:spLocks noGrp="1"/>
          </p:cNvSpPr>
          <p:nvPr>
            <p:ph type="sldNum" sz="quarter" idx="10"/>
          </p:nvPr>
        </p:nvSpPr>
        <p:spPr/>
        <p:txBody>
          <a:bodyPr/>
          <a:lstStyle/>
          <a:p>
            <a:fld id="{9DF80CA7-5D4C-4FC0-97B4-0E0171CA0D0F}" type="slidenum">
              <a:rPr lang="en-US" altLang="ja-JP"/>
              <a:pPr/>
              <a:t>4</a:t>
            </a:fld>
            <a:endParaRPr lang="en-US" altLang="ja-JP"/>
          </a:p>
        </p:txBody>
      </p:sp>
      <p:sp>
        <p:nvSpPr>
          <p:cNvPr id="575490" name="Rectangle 2">
            <a:extLst>
              <a:ext uri="{FF2B5EF4-FFF2-40B4-BE49-F238E27FC236}">
                <a16:creationId xmlns:a16="http://schemas.microsoft.com/office/drawing/2014/main" id="{D1F1C3EE-4081-0319-0320-E538631D1275}"/>
              </a:ext>
            </a:extLst>
          </p:cNvPr>
          <p:cNvSpPr>
            <a:spLocks noGrp="1" noChangeArrowheads="1"/>
          </p:cNvSpPr>
          <p:nvPr>
            <p:ph type="title"/>
          </p:nvPr>
        </p:nvSpPr>
        <p:spPr>
          <a:xfrm>
            <a:off x="359577" y="354933"/>
            <a:ext cx="9217025" cy="490537"/>
          </a:xfrm>
        </p:spPr>
        <p:txBody>
          <a:bodyPr>
            <a:normAutofit fontScale="90000"/>
          </a:bodyPr>
          <a:lstStyle/>
          <a:p>
            <a:r>
              <a:rPr lang="en-US" altLang="ja-JP" dirty="0" err="1">
                <a:latin typeface="Arial" panose="020B0604020202020204" pitchFamily="34" charset="0"/>
                <a:ea typeface="MS UI Gothic" panose="020B0600070205080204" pitchFamily="50" charset="-128"/>
              </a:rPr>
              <a:t>ArrayList</a:t>
            </a:r>
            <a:r>
              <a:rPr lang="en-US" altLang="ja-JP" dirty="0">
                <a:latin typeface="Arial" panose="020B0604020202020204" pitchFamily="34" charset="0"/>
                <a:ea typeface="MS UI Gothic" panose="020B0600070205080204" pitchFamily="50" charset="-128"/>
              </a:rPr>
              <a:t> </a:t>
            </a:r>
          </a:p>
        </p:txBody>
      </p:sp>
      <p:sp>
        <p:nvSpPr>
          <p:cNvPr id="575491" name="Rectangle 3">
            <a:extLst>
              <a:ext uri="{FF2B5EF4-FFF2-40B4-BE49-F238E27FC236}">
                <a16:creationId xmlns:a16="http://schemas.microsoft.com/office/drawing/2014/main" id="{47D104C2-D9A1-DB79-8DB3-BC73FF55C8FC}"/>
              </a:ext>
            </a:extLst>
          </p:cNvPr>
          <p:cNvSpPr>
            <a:spLocks noChangeArrowheads="1"/>
          </p:cNvSpPr>
          <p:nvPr/>
        </p:nvSpPr>
        <p:spPr bwMode="auto">
          <a:xfrm>
            <a:off x="344488" y="2162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latin typeface="Arial" panose="020B0604020202020204" pitchFamily="34" charset="0"/>
              </a:rPr>
              <a:t>● Ví dụ</a:t>
            </a:r>
          </a:p>
          <a:p>
            <a:pPr lvl="1"/>
            <a:endParaRPr lang="en-US" altLang="ja-JP" sz="2400" b="0">
              <a:latin typeface="Arial" panose="020B0604020202020204" pitchFamily="34" charset="0"/>
            </a:endParaRPr>
          </a:p>
        </p:txBody>
      </p:sp>
      <p:sp>
        <p:nvSpPr>
          <p:cNvPr id="575518" name="Rectangle 30">
            <a:extLst>
              <a:ext uri="{FF2B5EF4-FFF2-40B4-BE49-F238E27FC236}">
                <a16:creationId xmlns:a16="http://schemas.microsoft.com/office/drawing/2014/main" id="{4B474E16-B924-2189-2D3F-755E707977C2}"/>
              </a:ext>
            </a:extLst>
          </p:cNvPr>
          <p:cNvSpPr>
            <a:spLocks noChangeArrowheads="1"/>
          </p:cNvSpPr>
          <p:nvPr/>
        </p:nvSpPr>
        <p:spPr bwMode="auto">
          <a:xfrm>
            <a:off x="344487" y="1012730"/>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dirty="0" err="1">
                <a:latin typeface="Arial" panose="020B0604020202020204" pitchFamily="34" charset="0"/>
              </a:rPr>
              <a:t>ArrayList</a:t>
            </a:r>
            <a:r>
              <a:rPr lang="en-US" altLang="en-US" sz="2400" b="0" dirty="0">
                <a:latin typeface="Arial" panose="020B0604020202020204" pitchFamily="34" charset="0"/>
              </a:rPr>
              <a:t> class</a:t>
            </a:r>
            <a:endParaRPr lang="en-US" altLang="ja-JP" sz="2400" b="0" dirty="0">
              <a:latin typeface="Arial" panose="020B0604020202020204" pitchFamily="34" charset="0"/>
            </a:endParaRPr>
          </a:p>
          <a:p>
            <a:pPr lvl="1"/>
            <a:endParaRPr lang="en-US" altLang="ja-JP" sz="2400" b="0" dirty="0">
              <a:latin typeface="Arial" panose="020B0604020202020204" pitchFamily="34" charset="0"/>
            </a:endParaRPr>
          </a:p>
        </p:txBody>
      </p:sp>
      <p:sp>
        <p:nvSpPr>
          <p:cNvPr id="575519" name="Rectangle 31">
            <a:extLst>
              <a:ext uri="{FF2B5EF4-FFF2-40B4-BE49-F238E27FC236}">
                <a16:creationId xmlns:a16="http://schemas.microsoft.com/office/drawing/2014/main" id="{63902EB9-5FA4-7B50-2A5B-CD1B22ED0CB3}"/>
              </a:ext>
            </a:extLst>
          </p:cNvPr>
          <p:cNvSpPr>
            <a:spLocks noChangeArrowheads="1"/>
          </p:cNvSpPr>
          <p:nvPr/>
        </p:nvSpPr>
        <p:spPr bwMode="auto">
          <a:xfrm>
            <a:off x="344488" y="1630174"/>
            <a:ext cx="9120187" cy="4699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dirty="0">
                <a:latin typeface="Arial" panose="020B0604020202020204" pitchFamily="34" charset="0"/>
              </a:rPr>
              <a:t>Là class </a:t>
            </a:r>
            <a:r>
              <a:rPr lang="en-US" altLang="ja-JP" sz="1800" dirty="0" err="1">
                <a:latin typeface="Arial" panose="020B0604020202020204" pitchFamily="34" charset="0"/>
              </a:rPr>
              <a:t>đê</a:t>
            </a:r>
            <a:r>
              <a:rPr lang="en-US" altLang="ja-JP" sz="1800" dirty="0">
                <a:latin typeface="Arial" panose="020B0604020202020204" pitchFamily="34" charset="0"/>
              </a:rPr>
              <a:t>̉ implement List interface, </a:t>
            </a:r>
            <a:r>
              <a:rPr lang="en-US" altLang="ja-JP" sz="1800" dirty="0" err="1">
                <a:latin typeface="Arial" panose="020B0604020202020204" pitchFamily="34" charset="0"/>
              </a:rPr>
              <a:t>va</a:t>
            </a:r>
            <a:r>
              <a:rPr lang="en-US" altLang="ja-JP" sz="1800" dirty="0">
                <a:latin typeface="Arial" panose="020B0604020202020204" pitchFamily="34" charset="0"/>
              </a:rPr>
              <a:t>̀ </a:t>
            </a:r>
            <a:r>
              <a:rPr lang="en-US" altLang="ja-JP" sz="1800" dirty="0" err="1">
                <a:latin typeface="Arial" panose="020B0604020202020204" pitchFamily="34" charset="0"/>
              </a:rPr>
              <a:t>thê</a:t>
            </a:r>
            <a:r>
              <a:rPr lang="en-US" altLang="ja-JP" sz="1800" dirty="0">
                <a:latin typeface="Arial" panose="020B0604020202020204" pitchFamily="34" charset="0"/>
              </a:rPr>
              <a:t>̉ </a:t>
            </a:r>
            <a:r>
              <a:rPr lang="en-US" altLang="ja-JP" sz="1800" dirty="0" err="1">
                <a:latin typeface="Arial" panose="020B0604020202020204" pitchFamily="34" charset="0"/>
              </a:rPr>
              <a:t>hiện</a:t>
            </a:r>
            <a:r>
              <a:rPr lang="en-US" altLang="ja-JP" sz="1800" dirty="0">
                <a:latin typeface="Arial" panose="020B0604020202020204" pitchFamily="34" charset="0"/>
              </a:rPr>
              <a:t> </a:t>
            </a:r>
            <a:r>
              <a:rPr lang="en-US" altLang="ja-JP" sz="1800" dirty="0" err="1">
                <a:latin typeface="Arial" panose="020B0604020202020204" pitchFamily="34" charset="0"/>
              </a:rPr>
              <a:t>mảng</a:t>
            </a:r>
            <a:r>
              <a:rPr lang="en-US" altLang="ja-JP" sz="1800" dirty="0">
                <a:latin typeface="Arial" panose="020B0604020202020204" pitchFamily="34" charset="0"/>
              </a:rPr>
              <a:t> </a:t>
            </a:r>
            <a:r>
              <a:rPr lang="en-US" altLang="ja-JP" sz="1800" dirty="0" err="1">
                <a:latin typeface="Arial" panose="020B0604020202020204" pitchFamily="34" charset="0"/>
              </a:rPr>
              <a:t>có</a:t>
            </a:r>
            <a:r>
              <a:rPr lang="en-US" altLang="ja-JP" sz="1800" dirty="0">
                <a:latin typeface="Arial" panose="020B0604020202020204" pitchFamily="34" charset="0"/>
              </a:rPr>
              <a:t> </a:t>
            </a:r>
            <a:r>
              <a:rPr lang="en-US" altLang="ja-JP" sz="1800" dirty="0" err="1">
                <a:latin typeface="Arial" panose="020B0604020202020204" pitchFamily="34" charset="0"/>
              </a:rPr>
              <a:t>thể</a:t>
            </a:r>
            <a:r>
              <a:rPr lang="en-US" altLang="ja-JP" sz="1800" dirty="0">
                <a:latin typeface="Arial" panose="020B0604020202020204" pitchFamily="34" charset="0"/>
              </a:rPr>
              <a:t> </a:t>
            </a:r>
            <a:r>
              <a:rPr lang="en-US" altLang="ja-JP" sz="1800" dirty="0" err="1">
                <a:latin typeface="Arial" panose="020B0604020202020204" pitchFamily="34" charset="0"/>
              </a:rPr>
              <a:t>thay</a:t>
            </a:r>
            <a:r>
              <a:rPr lang="en-US" altLang="ja-JP" sz="1800" dirty="0">
                <a:latin typeface="Arial" panose="020B0604020202020204" pitchFamily="34" charset="0"/>
              </a:rPr>
              <a:t> </a:t>
            </a:r>
            <a:r>
              <a:rPr lang="en-US" altLang="ja-JP" sz="1800" dirty="0" err="1">
                <a:latin typeface="Arial" panose="020B0604020202020204" pitchFamily="34" charset="0"/>
              </a:rPr>
              <a:t>đổi</a:t>
            </a:r>
            <a:r>
              <a:rPr lang="en-US" altLang="ja-JP" sz="1800" dirty="0">
                <a:latin typeface="Arial" panose="020B0604020202020204" pitchFamily="34" charset="0"/>
              </a:rPr>
              <a:t> size.</a:t>
            </a:r>
          </a:p>
        </p:txBody>
      </p:sp>
      <p:sp>
        <p:nvSpPr>
          <p:cNvPr id="575555" name="Rectangle 67">
            <a:extLst>
              <a:ext uri="{FF2B5EF4-FFF2-40B4-BE49-F238E27FC236}">
                <a16:creationId xmlns:a16="http://schemas.microsoft.com/office/drawing/2014/main" id="{A68791C3-7F82-C4E5-BFF4-EC0715C61E89}"/>
              </a:ext>
            </a:extLst>
          </p:cNvPr>
          <p:cNvSpPr>
            <a:spLocks noChangeArrowheads="1"/>
          </p:cNvSpPr>
          <p:nvPr/>
        </p:nvSpPr>
        <p:spPr bwMode="auto">
          <a:xfrm>
            <a:off x="344488" y="2641600"/>
            <a:ext cx="9120187" cy="314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Generate</a:t>
            </a:r>
            <a:r>
              <a:rPr lang="fr-FR" altLang="ja-JP" sz="1800" b="0" dirty="0">
                <a:latin typeface="Arial" panose="020B0604020202020204" pitchFamily="34" charset="0"/>
                <a:ea typeface="ＭＳ ゴシック" panose="020B0609070205080204" pitchFamily="49" charset="-128"/>
              </a:rPr>
              <a:t>/</a:t>
            </a:r>
            <a:r>
              <a:rPr lang="fr-FR" altLang="ja-JP" sz="1800" b="0" dirty="0" err="1">
                <a:latin typeface="Arial" panose="020B0604020202020204" pitchFamily="34" charset="0"/>
                <a:ea typeface="ＭＳ ゴシック" panose="020B0609070205080204" pitchFamily="49" charset="-128"/>
              </a:rPr>
              <a:t>sinh</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ArrayList</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quản</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lý</a:t>
            </a:r>
            <a:r>
              <a:rPr lang="fr-FR" altLang="ja-JP" sz="1800" b="0" dirty="0">
                <a:latin typeface="Arial" panose="020B0604020202020204" pitchFamily="34" charset="0"/>
                <a:ea typeface="ＭＳ ゴシック" panose="020B0609070205080204" pitchFamily="49" charset="-128"/>
              </a:rPr>
              <a:t> data </a:t>
            </a:r>
            <a:r>
              <a:rPr lang="fr-FR" altLang="ja-JP" sz="1800" b="0" dirty="0" err="1">
                <a:latin typeface="Arial" panose="020B0604020202020204" pitchFamily="34" charset="0"/>
                <a:ea typeface="ＭＳ ゴシック" panose="020B0609070205080204" pitchFamily="49" charset="-128"/>
              </a:rPr>
              <a:t>kiểu</a:t>
            </a:r>
            <a:r>
              <a:rPr lang="fr-FR" altLang="ja-JP" sz="1800" b="0" dirty="0">
                <a:latin typeface="Arial" panose="020B0604020202020204" pitchFamily="34" charset="0"/>
                <a:ea typeface="ＭＳ ゴシック" panose="020B0609070205080204" pitchFamily="49" charset="-128"/>
              </a:rPr>
              <a:t> String</a:t>
            </a:r>
          </a:p>
          <a:p>
            <a:pPr lvl="1"/>
            <a:r>
              <a:rPr lang="fr-FR" altLang="ja-JP" sz="1800" b="0" dirty="0" err="1">
                <a:latin typeface="Arial" panose="020B0604020202020204" pitchFamily="34" charset="0"/>
                <a:ea typeface="ＭＳ ゴシック" panose="020B0609070205080204" pitchFamily="49" charset="-128"/>
              </a:rPr>
              <a:t>ArrayList</a:t>
            </a:r>
            <a:r>
              <a:rPr lang="fr-FR" altLang="ja-JP" sz="1800" b="0" dirty="0">
                <a:latin typeface="Arial" panose="020B0604020202020204" pitchFamily="34" charset="0"/>
                <a:ea typeface="ＭＳ ゴシック" panose="020B0609070205080204" pitchFamily="49" charset="-128"/>
              </a:rPr>
              <a:t>&lt;String&gt; al = new </a:t>
            </a:r>
            <a:r>
              <a:rPr lang="fr-FR" altLang="ja-JP" sz="1800" b="0" dirty="0" err="1">
                <a:latin typeface="Arial" panose="020B0604020202020204" pitchFamily="34" charset="0"/>
                <a:ea typeface="ＭＳ ゴシック" panose="020B0609070205080204" pitchFamily="49" charset="-128"/>
              </a:rPr>
              <a:t>ArrayList</a:t>
            </a:r>
            <a:r>
              <a:rPr lang="fr-FR" altLang="ja-JP" sz="1800" b="0" dirty="0">
                <a:latin typeface="Arial" panose="020B0604020202020204" pitchFamily="34" charset="0"/>
                <a:ea typeface="ＭＳ ゴシック" panose="020B0609070205080204" pitchFamily="49" charset="-128"/>
              </a:rPr>
              <a:t>&lt;String&gt;();</a:t>
            </a:r>
          </a:p>
          <a:p>
            <a:pPr lvl="1"/>
            <a:endParaRPr lang="fr-FR" altLang="ja-JP" sz="1800" b="0" dirty="0">
              <a:latin typeface="Arial" panose="020B0604020202020204" pitchFamily="34" charset="0"/>
              <a:ea typeface="ＭＳ ゴシック" panose="020B0609070205080204" pitchFamily="49" charset="-128"/>
            </a:endParaRPr>
          </a:p>
          <a:p>
            <a:pPr lvl="1"/>
            <a:r>
              <a:rPr lang="fr-FR" altLang="ja-JP" sz="1800" b="0" dirty="0">
                <a:latin typeface="Arial" panose="020B0604020202020204" pitchFamily="34" charset="0"/>
                <a:ea typeface="ＭＳ ゴシック" panose="020B0609070205080204" pitchFamily="49" charset="-128"/>
              </a:rPr>
              <a:t>// Add </a:t>
            </a:r>
            <a:r>
              <a:rPr lang="fr-FR" altLang="ja-JP" sz="1800" b="0" dirty="0" err="1">
                <a:latin typeface="Arial" panose="020B0604020202020204" pitchFamily="34" charset="0"/>
                <a:ea typeface="ＭＳ ゴシック" panose="020B0609070205080204" pitchFamily="49" charset="-128"/>
              </a:rPr>
              <a:t>thêm</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phần</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tử</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vào</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cuối</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của</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ArrayList</a:t>
            </a:r>
            <a:endParaRPr lang="ja-JP" altLang="fr-FR" sz="1800" b="0" dirty="0">
              <a:latin typeface="Arial" panose="020B0604020202020204" pitchFamily="34" charset="0"/>
              <a:ea typeface="ＭＳ ゴシック" panose="020B0609070205080204" pitchFamily="49" charset="-128"/>
            </a:endParaRPr>
          </a:p>
          <a:p>
            <a:pPr lvl="1"/>
            <a:r>
              <a:rPr lang="fr-FR" altLang="ja-JP" sz="1800" b="0" dirty="0" err="1">
                <a:latin typeface="Arial" panose="020B0604020202020204" pitchFamily="34" charset="0"/>
                <a:ea typeface="ＭＳ ゴシック" panose="020B0609070205080204" pitchFamily="49" charset="-128"/>
              </a:rPr>
              <a:t>al.add</a:t>
            </a:r>
            <a:r>
              <a:rPr lang="fr-FR" altLang="ja-JP" sz="1800" b="0" dirty="0">
                <a:latin typeface="Arial" panose="020B0604020202020204" pitchFamily="34" charset="0"/>
                <a:ea typeface="ＭＳ ゴシック" panose="020B0609070205080204" pitchFamily="49" charset="-128"/>
              </a:rPr>
              <a:t>("Hi");      // "Hi"</a:t>
            </a:r>
          </a:p>
          <a:p>
            <a:pPr lvl="1"/>
            <a:endParaRPr lang="fr-FR" altLang="ja-JP" sz="1800" b="0" dirty="0">
              <a:latin typeface="Arial" panose="020B0604020202020204" pitchFamily="34" charset="0"/>
              <a:ea typeface="ＭＳ ゴシック" panose="020B0609070205080204" pitchFamily="49" charset="-128"/>
            </a:endParaRPr>
          </a:p>
          <a:p>
            <a:pPr lvl="1"/>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Lấy</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và</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hiển</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thị</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tất</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cả</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các</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phần</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tử</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của</a:t>
            </a:r>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ArrayList</a:t>
            </a:r>
            <a:endParaRPr lang="ja-JP" altLang="fr-FR" sz="1800" b="0" dirty="0">
              <a:latin typeface="Arial" panose="020B0604020202020204" pitchFamily="34" charset="0"/>
              <a:ea typeface="ＭＳ ゴシック" panose="020B0609070205080204" pitchFamily="49" charset="-128"/>
            </a:endParaRPr>
          </a:p>
          <a:p>
            <a:pPr lvl="1"/>
            <a:r>
              <a:rPr lang="fr-FR" altLang="ja-JP" sz="1800" b="0" dirty="0">
                <a:latin typeface="Arial" panose="020B0604020202020204" pitchFamily="34" charset="0"/>
                <a:ea typeface="ＭＳ ゴシック" panose="020B0609070205080204" pitchFamily="49" charset="-128"/>
              </a:rPr>
              <a:t>for (String </a:t>
            </a:r>
            <a:r>
              <a:rPr lang="fr-FR" altLang="ja-JP" sz="1800" b="0" dirty="0" err="1">
                <a:latin typeface="Arial" panose="020B0604020202020204" pitchFamily="34" charset="0"/>
                <a:ea typeface="ＭＳ ゴシック" panose="020B0609070205080204" pitchFamily="49" charset="-128"/>
              </a:rPr>
              <a:t>str</a:t>
            </a:r>
            <a:r>
              <a:rPr lang="fr-FR" altLang="ja-JP" sz="1800" b="0" dirty="0">
                <a:latin typeface="Arial" panose="020B0604020202020204" pitchFamily="34" charset="0"/>
                <a:ea typeface="ＭＳ ゴシック" panose="020B0609070205080204" pitchFamily="49" charset="-128"/>
              </a:rPr>
              <a:t> : al) {</a:t>
            </a:r>
          </a:p>
          <a:p>
            <a:pPr lvl="1"/>
            <a:r>
              <a:rPr lang="fr-FR" altLang="ja-JP" sz="1800" b="0" dirty="0">
                <a:latin typeface="Arial" panose="020B0604020202020204" pitchFamily="34" charset="0"/>
                <a:ea typeface="ＭＳ ゴシック" panose="020B0609070205080204" pitchFamily="49" charset="-128"/>
              </a:rPr>
              <a:t>    </a:t>
            </a:r>
            <a:r>
              <a:rPr lang="fr-FR" altLang="ja-JP" sz="1800" b="0" dirty="0" err="1">
                <a:latin typeface="Arial" panose="020B0604020202020204" pitchFamily="34" charset="0"/>
                <a:ea typeface="ＭＳ ゴシック" panose="020B0609070205080204" pitchFamily="49" charset="-128"/>
              </a:rPr>
              <a:t>System.out.println</a:t>
            </a:r>
            <a:r>
              <a:rPr lang="fr-FR" altLang="ja-JP" sz="1800" b="0" dirty="0">
                <a:latin typeface="Arial" panose="020B0604020202020204" pitchFamily="34" charset="0"/>
                <a:ea typeface="ＭＳ ゴシック" panose="020B0609070205080204" pitchFamily="49" charset="-128"/>
              </a:rPr>
              <a:t>(</a:t>
            </a:r>
            <a:r>
              <a:rPr lang="fr-FR" altLang="ja-JP" sz="1800" b="0" dirty="0" err="1">
                <a:latin typeface="Arial" panose="020B0604020202020204" pitchFamily="34" charset="0"/>
                <a:ea typeface="ＭＳ ゴシック" panose="020B0609070205080204" pitchFamily="49" charset="-128"/>
              </a:rPr>
              <a:t>str</a:t>
            </a:r>
            <a:r>
              <a:rPr lang="fr-FR" altLang="ja-JP" sz="1800" b="0" dirty="0">
                <a:latin typeface="Arial" panose="020B0604020202020204" pitchFamily="34" charset="0"/>
                <a:ea typeface="ＭＳ ゴシック" panose="020B0609070205080204" pitchFamily="49" charset="-128"/>
              </a:rPr>
              <a:t>);</a:t>
            </a:r>
          </a:p>
          <a:p>
            <a:pPr lvl="1"/>
            <a:r>
              <a:rPr lang="fr-FR" altLang="ja-JP" sz="1800" b="0" dirty="0">
                <a:latin typeface="Arial" panose="020B0604020202020204" pitchFamily="34" charset="0"/>
                <a:ea typeface="ＭＳ ゴシック" panose="020B0609070205080204" pitchFamily="49" charset="-128"/>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EBEE-C1B6-81D1-8BB5-3B203C73F10A}"/>
            </a:ext>
          </a:extLst>
        </p:cNvPr>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DA28393-B6E4-31C1-2CEA-06F28307E1FC}"/>
              </a:ext>
            </a:extLst>
          </p:cNvPr>
          <p:cNvSpPr>
            <a:spLocks noGrp="1"/>
          </p:cNvSpPr>
          <p:nvPr>
            <p:ph type="sldNum" sz="quarter" idx="10"/>
          </p:nvPr>
        </p:nvSpPr>
        <p:spPr/>
        <p:txBody>
          <a:bodyPr/>
          <a:lstStyle/>
          <a:p>
            <a:fld id="{9DF80CA7-5D4C-4FC0-97B4-0E0171CA0D0F}" type="slidenum">
              <a:rPr lang="en-US" altLang="ja-JP"/>
              <a:pPr/>
              <a:t>5</a:t>
            </a:fld>
            <a:endParaRPr lang="en-US" altLang="ja-JP"/>
          </a:p>
        </p:txBody>
      </p:sp>
      <p:sp>
        <p:nvSpPr>
          <p:cNvPr id="575490" name="Rectangle 2">
            <a:extLst>
              <a:ext uri="{FF2B5EF4-FFF2-40B4-BE49-F238E27FC236}">
                <a16:creationId xmlns:a16="http://schemas.microsoft.com/office/drawing/2014/main" id="{D25EF8D2-8C4F-F89D-03EF-E195087E28EA}"/>
              </a:ext>
            </a:extLst>
          </p:cNvPr>
          <p:cNvSpPr>
            <a:spLocks noGrp="1" noChangeArrowheads="1"/>
          </p:cNvSpPr>
          <p:nvPr>
            <p:ph type="title"/>
          </p:nvPr>
        </p:nvSpPr>
        <p:spPr>
          <a:xfrm>
            <a:off x="359577" y="354933"/>
            <a:ext cx="9217025" cy="490537"/>
          </a:xfrm>
        </p:spPr>
        <p:txBody>
          <a:bodyPr>
            <a:normAutofit fontScale="90000"/>
          </a:bodyPr>
          <a:lstStyle/>
          <a:p>
            <a:pPr marL="0" indent="0"/>
            <a:r>
              <a:rPr lang="en-US" altLang="ja-JP" dirty="0" err="1">
                <a:latin typeface="Arial" panose="020B0604020202020204" pitchFamily="34" charset="0"/>
              </a:rPr>
              <a:t>ArrayList</a:t>
            </a:r>
            <a:r>
              <a:rPr lang="en-US" altLang="ja-JP" dirty="0">
                <a:latin typeface="Arial" panose="020B0604020202020204" pitchFamily="34" charset="0"/>
              </a:rPr>
              <a:t>: Các method </a:t>
            </a:r>
            <a:r>
              <a:rPr lang="en-US" altLang="ja-JP" dirty="0" err="1">
                <a:latin typeface="Arial" panose="020B0604020202020204" pitchFamily="34" charset="0"/>
              </a:rPr>
              <a:t>chính</a:t>
            </a:r>
            <a:endParaRPr lang="en-US" altLang="ja-JP" dirty="0">
              <a:latin typeface="Arial" panose="020B0604020202020204" pitchFamily="34" charset="0"/>
            </a:endParaRPr>
          </a:p>
        </p:txBody>
      </p:sp>
      <p:graphicFrame>
        <p:nvGraphicFramePr>
          <p:cNvPr id="4" name="Group 149">
            <a:extLst>
              <a:ext uri="{FF2B5EF4-FFF2-40B4-BE49-F238E27FC236}">
                <a16:creationId xmlns:a16="http://schemas.microsoft.com/office/drawing/2014/main" id="{DBB3164C-C25F-DD7C-2046-5B2459020EA4}"/>
              </a:ext>
            </a:extLst>
          </p:cNvPr>
          <p:cNvGraphicFramePr>
            <a:graphicFrameLocks noGrp="1"/>
          </p:cNvGraphicFramePr>
          <p:nvPr>
            <p:extLst>
              <p:ext uri="{D42A27DB-BD31-4B8C-83A1-F6EECF244321}">
                <p14:modId xmlns:p14="http://schemas.microsoft.com/office/powerpoint/2010/main" val="4056608739"/>
              </p:ext>
            </p:extLst>
          </p:nvPr>
        </p:nvGraphicFramePr>
        <p:xfrm>
          <a:off x="304800" y="981422"/>
          <a:ext cx="9217025" cy="5402591"/>
        </p:xfrm>
        <a:graphic>
          <a:graphicData uri="http://schemas.openxmlformats.org/drawingml/2006/table">
            <a:tbl>
              <a:tblPr/>
              <a:tblGrid>
                <a:gridCol w="3558376">
                  <a:extLst>
                    <a:ext uri="{9D8B030D-6E8A-4147-A177-3AD203B41FA5}">
                      <a16:colId xmlns:a16="http://schemas.microsoft.com/office/drawing/2014/main" val="2436460682"/>
                    </a:ext>
                  </a:extLst>
                </a:gridCol>
                <a:gridCol w="5658649">
                  <a:extLst>
                    <a:ext uri="{9D8B030D-6E8A-4147-A177-3AD203B41FA5}">
                      <a16:colId xmlns:a16="http://schemas.microsoft.com/office/drawing/2014/main" val="1697752702"/>
                    </a:ext>
                  </a:extLst>
                </a:gridCol>
              </a:tblGrid>
              <a:tr h="51030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352649"/>
                  </a:ext>
                </a:extLst>
              </a:tr>
              <a:tr h="598554">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add(E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Thêm phần tử đã được chỉ định vào cuối và trả về true.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06918731"/>
                  </a:ext>
                </a:extLst>
              </a:tr>
              <a:tr h="1137267">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ＭＳ ゴシック" panose="020B0609070205080204" pitchFamily="49" charset="-128"/>
                        </a:rPr>
                        <a:t>void add(int index, E element)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Insert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được</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chỉ</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định</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vào</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vị</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được</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chỉ</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định</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Di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chuyển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hiện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tại</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có</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ở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vị</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đó</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và</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kế</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tiếp</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sang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bên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phải</a:t>
                      </a:r>
                      <a:endPar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endParaRP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76744418"/>
                  </a:ext>
                </a:extLst>
              </a:tr>
              <a:tr h="1137267">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set(int index, E element)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Thay thế phần tử có ở vị trí đã được chỉ định bằng phần tử đã được chỉ định.</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phần tử đã có từ trước vào vị trí đã được chỉ định.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7705758"/>
                  </a:ext>
                </a:extLst>
              </a:tr>
              <a:tr h="435182">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get(int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phần tử có ở vị trí đã được chỉ định.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0498087"/>
                  </a:ext>
                </a:extLst>
              </a:tr>
              <a:tr h="92007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E remove(int index)</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Delete phần tử khỏi vị trí đã được chỉ định.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Di chuyển phần tử kế tiếp sang phía trái. Trả lại phần tử đã bị xóa.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6561967"/>
                  </a:ext>
                </a:extLst>
              </a:tr>
              <a:tr h="442954">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lại</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số</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3233082"/>
                  </a:ext>
                </a:extLst>
              </a:tr>
            </a:tbl>
          </a:graphicData>
        </a:graphic>
      </p:graphicFrame>
    </p:spTree>
    <p:extLst>
      <p:ext uri="{BB962C8B-B14F-4D97-AF65-F5344CB8AC3E}">
        <p14:creationId xmlns:p14="http://schemas.microsoft.com/office/powerpoint/2010/main" val="230927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C3982-2710-3C85-7FF4-D26395814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DD066-0832-DC1D-E4A5-E31728BF626E}"/>
              </a:ext>
            </a:extLst>
          </p:cNvPr>
          <p:cNvSpPr>
            <a:spLocks noGrp="1"/>
          </p:cNvSpPr>
          <p:nvPr>
            <p:ph type="title"/>
          </p:nvPr>
        </p:nvSpPr>
        <p:spPr>
          <a:xfrm>
            <a:off x="344488" y="610733"/>
            <a:ext cx="9217025" cy="490537"/>
          </a:xfrm>
        </p:spPr>
        <p:txBody>
          <a:bodyPr>
            <a:normAutofit fontScale="90000"/>
          </a:bodyPr>
          <a:lstStyle/>
          <a:p>
            <a:r>
              <a:rPr kumimoji="1" lang="en-US" altLang="ja-JP" dirty="0" err="1"/>
              <a:t>ArrayList</a:t>
            </a:r>
            <a:r>
              <a:rPr kumimoji="1" lang="en-US" altLang="ja-JP" dirty="0"/>
              <a:t>: </a:t>
            </a:r>
            <a:r>
              <a:rPr kumimoji="1" lang="en-US" altLang="ja-JP" dirty="0" err="1"/>
              <a:t>Ví</a:t>
            </a:r>
            <a:r>
              <a:rPr kumimoji="1" lang="en-US" altLang="ja-JP" dirty="0"/>
              <a:t> </a:t>
            </a:r>
            <a:r>
              <a:rPr kumimoji="1" lang="en-US" altLang="ja-JP" dirty="0" err="1"/>
              <a:t>dụ</a:t>
            </a:r>
            <a:endParaRPr kumimoji="1" lang="ja-JP" altLang="en-US" dirty="0"/>
          </a:p>
        </p:txBody>
      </p:sp>
      <p:sp>
        <p:nvSpPr>
          <p:cNvPr id="3" name="Table Placeholder 2">
            <a:extLst>
              <a:ext uri="{FF2B5EF4-FFF2-40B4-BE49-F238E27FC236}">
                <a16:creationId xmlns:a16="http://schemas.microsoft.com/office/drawing/2014/main" id="{0B7D74E9-3957-E388-D7FB-97E9EBC51281}"/>
              </a:ext>
            </a:extLst>
          </p:cNvPr>
          <p:cNvSpPr>
            <a:spLocks noGrp="1"/>
          </p:cNvSpPr>
          <p:nvPr>
            <p:ph type="tbl" idx="1"/>
          </p:nvPr>
        </p:nvSpPr>
        <p:spPr>
          <a:xfrm>
            <a:off x="344487" y="1295400"/>
            <a:ext cx="9217025" cy="5334000"/>
          </a:xfrm>
        </p:spPr>
        <p:txBody>
          <a:bodyPr>
            <a:normAutofit fontScale="32500" lnSpcReduction="20000"/>
          </a:bodyPr>
          <a:lstStyle/>
          <a:p>
            <a:pPr marL="0" indent="0">
              <a:buNone/>
            </a:pPr>
            <a:r>
              <a:rPr lang="vi-VN" altLang="ja-JP" dirty="0"/>
              <a:t>package chuong8;</a:t>
            </a:r>
          </a:p>
          <a:p>
            <a:pPr marL="0" indent="0">
              <a:buNone/>
            </a:pPr>
            <a:endParaRPr lang="vi-VN" altLang="ja-JP" dirty="0"/>
          </a:p>
          <a:p>
            <a:pPr marL="0" indent="0">
              <a:buNone/>
            </a:pPr>
            <a:r>
              <a:rPr lang="vi-VN" altLang="ja-JP" dirty="0"/>
              <a:t>import java.util.ArrayList;</a:t>
            </a:r>
          </a:p>
          <a:p>
            <a:pPr marL="0" indent="0">
              <a:buNone/>
            </a:pPr>
            <a:r>
              <a:rPr lang="vi-VN" altLang="ja-JP" dirty="0"/>
              <a:t> </a:t>
            </a:r>
          </a:p>
          <a:p>
            <a:pPr marL="0" indent="0">
              <a:buNone/>
            </a:pPr>
            <a:r>
              <a:rPr lang="vi-VN" altLang="ja-JP" dirty="0"/>
              <a:t>public class ArrayList01 {</a:t>
            </a:r>
          </a:p>
          <a:p>
            <a:pPr marL="0" indent="0">
              <a:buNone/>
            </a:pPr>
            <a:r>
              <a:rPr lang="vi-VN" altLang="ja-JP" dirty="0"/>
              <a:t>    public static void main(String[] args) {</a:t>
            </a:r>
          </a:p>
          <a:p>
            <a:pPr marL="0" indent="0">
              <a:buNone/>
            </a:pPr>
            <a:r>
              <a:rPr lang="vi-VN" altLang="ja-JP" dirty="0"/>
              <a:t>    // Generate/sinh ArrayList để quản lý data kiểu String</a:t>
            </a:r>
          </a:p>
          <a:p>
            <a:pPr marL="0" indent="0">
              <a:buNone/>
            </a:pPr>
            <a:r>
              <a:rPr lang="vi-VN" altLang="ja-JP" dirty="0"/>
              <a:t>        ArrayList&lt;String&gt; al = new ArrayList&lt;String&gt;();</a:t>
            </a:r>
          </a:p>
          <a:p>
            <a:pPr marL="0" indent="0">
              <a:buNone/>
            </a:pPr>
            <a:r>
              <a:rPr lang="vi-VN" altLang="ja-JP" dirty="0"/>
              <a:t> </a:t>
            </a:r>
          </a:p>
          <a:p>
            <a:pPr marL="0" indent="0">
              <a:buNone/>
            </a:pPr>
            <a:r>
              <a:rPr lang="vi-VN" altLang="ja-JP" dirty="0"/>
              <a:t>        // Thêm phần tử vào cuối của ArrayList</a:t>
            </a:r>
          </a:p>
          <a:p>
            <a:pPr marL="0" indent="0">
              <a:buNone/>
            </a:pPr>
            <a:r>
              <a:rPr lang="vi-VN" altLang="ja-JP" dirty="0"/>
              <a:t>        al.add("Hi");      // "Hi"</a:t>
            </a:r>
          </a:p>
          <a:p>
            <a:pPr marL="0" indent="0">
              <a:buNone/>
            </a:pPr>
            <a:r>
              <a:rPr lang="vi-VN" altLang="ja-JP" dirty="0"/>
              <a:t>        al.add("Hello");   // "Hi" "Hello"</a:t>
            </a:r>
          </a:p>
          <a:p>
            <a:pPr marL="0" indent="0">
              <a:buNone/>
            </a:pPr>
            <a:r>
              <a:rPr lang="vi-VN" altLang="ja-JP" dirty="0"/>
              <a:t> </a:t>
            </a:r>
          </a:p>
          <a:p>
            <a:pPr marL="0" indent="0">
              <a:buNone/>
            </a:pPr>
            <a:r>
              <a:rPr lang="vi-VN" altLang="ja-JP" dirty="0"/>
              <a:t>        // Thêm phần tử vào vị trí chỉ định của ArrayList</a:t>
            </a:r>
          </a:p>
          <a:p>
            <a:pPr marL="0" indent="0">
              <a:buNone/>
            </a:pPr>
            <a:r>
              <a:rPr lang="vi-VN" altLang="ja-JP" dirty="0"/>
              <a:t>        al.add(0, "Java");  // "Java" "Hi" "Hello"</a:t>
            </a:r>
          </a:p>
          <a:p>
            <a:pPr marL="0" indent="0">
              <a:buNone/>
            </a:pPr>
            <a:r>
              <a:rPr lang="vi-VN" altLang="ja-JP" dirty="0"/>
              <a:t> </a:t>
            </a:r>
          </a:p>
          <a:p>
            <a:pPr marL="0" indent="0">
              <a:buNone/>
            </a:pPr>
            <a:r>
              <a:rPr lang="vi-VN" altLang="ja-JP" dirty="0"/>
              <a:t>        // Thay thế phần tử của vị trí chỉ định của ArrayList</a:t>
            </a:r>
          </a:p>
          <a:p>
            <a:pPr marL="0" indent="0">
              <a:buNone/>
            </a:pPr>
            <a:r>
              <a:rPr lang="vi-VN" altLang="ja-JP" dirty="0"/>
              <a:t>        al.set(1, "abc");   // "Java" "abc" "Hello"</a:t>
            </a:r>
          </a:p>
          <a:p>
            <a:pPr marL="0" indent="0">
              <a:buNone/>
            </a:pPr>
            <a:r>
              <a:rPr lang="vi-VN" altLang="ja-JP" dirty="0"/>
              <a:t> </a:t>
            </a:r>
          </a:p>
          <a:p>
            <a:pPr marL="0" indent="0">
              <a:buNone/>
            </a:pPr>
            <a:r>
              <a:rPr lang="vi-VN" altLang="ja-JP" dirty="0"/>
              <a:t>        // Lấy và hiển thị phần tử của vị trí chỉ định của ArrayList</a:t>
            </a:r>
          </a:p>
          <a:p>
            <a:pPr marL="0" indent="0">
              <a:buNone/>
            </a:pPr>
            <a:r>
              <a:rPr lang="vi-VN" altLang="ja-JP" dirty="0"/>
              <a:t>        System.out.println("3</a:t>
            </a:r>
            <a:r>
              <a:rPr lang="ja-JP" altLang="en-US" dirty="0"/>
              <a:t>番目の要素</a:t>
            </a:r>
            <a:r>
              <a:rPr lang="en-US" altLang="ja-JP" dirty="0"/>
              <a:t>" + </a:t>
            </a:r>
            <a:r>
              <a:rPr lang="vi-VN" altLang="ja-JP" dirty="0"/>
              <a:t>al.get(2) );</a:t>
            </a:r>
          </a:p>
          <a:p>
            <a:pPr marL="0" indent="0">
              <a:buNone/>
            </a:pPr>
            <a:r>
              <a:rPr lang="vi-VN" altLang="ja-JP" dirty="0"/>
              <a:t>  </a:t>
            </a:r>
          </a:p>
          <a:p>
            <a:pPr marL="0" indent="0">
              <a:buNone/>
            </a:pPr>
            <a:r>
              <a:rPr lang="vi-VN" altLang="ja-JP" dirty="0"/>
              <a:t>        // Delete phần tử của vị trí chỉ định của ArrayList</a:t>
            </a:r>
          </a:p>
          <a:p>
            <a:pPr marL="0" indent="0">
              <a:buNone/>
            </a:pPr>
            <a:r>
              <a:rPr lang="vi-VN" altLang="ja-JP" dirty="0"/>
              <a:t>        al.remove(2);      // "Java" "abc"</a:t>
            </a:r>
          </a:p>
          <a:p>
            <a:pPr marL="0" indent="0">
              <a:buNone/>
            </a:pPr>
            <a:r>
              <a:rPr lang="vi-VN" altLang="ja-JP" dirty="0"/>
              <a:t> </a:t>
            </a:r>
          </a:p>
          <a:p>
            <a:pPr marL="0" indent="0">
              <a:buNone/>
            </a:pPr>
            <a:r>
              <a:rPr lang="vi-VN" altLang="ja-JP" dirty="0"/>
              <a:t>        // Lấy và hiển thị số phần tử của ArrayList</a:t>
            </a:r>
          </a:p>
          <a:p>
            <a:pPr marL="0" indent="0">
              <a:buNone/>
            </a:pPr>
            <a:r>
              <a:rPr lang="vi-VN" altLang="ja-JP" dirty="0"/>
              <a:t>        System.out.println("size:" + al.size() );</a:t>
            </a:r>
          </a:p>
          <a:p>
            <a:pPr marL="0" indent="0">
              <a:buNone/>
            </a:pPr>
            <a:r>
              <a:rPr lang="vi-VN" altLang="ja-JP" dirty="0"/>
              <a:t> </a:t>
            </a:r>
          </a:p>
          <a:p>
            <a:pPr marL="0" indent="0">
              <a:buNone/>
            </a:pPr>
            <a:r>
              <a:rPr lang="vi-VN" altLang="ja-JP" dirty="0"/>
              <a:t>        // Lấy và hiển thị tất cả phần tử của ArrayList</a:t>
            </a:r>
          </a:p>
          <a:p>
            <a:pPr marL="0" indent="0">
              <a:buNone/>
            </a:pPr>
            <a:r>
              <a:rPr lang="vi-VN" altLang="ja-JP" dirty="0"/>
              <a:t>        for (String str : al) {</a:t>
            </a:r>
          </a:p>
          <a:p>
            <a:pPr marL="0" indent="0">
              <a:buNone/>
            </a:pPr>
            <a:r>
              <a:rPr lang="vi-VN" altLang="ja-JP" dirty="0"/>
              <a:t>            System.out.println(str);</a:t>
            </a:r>
          </a:p>
          <a:p>
            <a:pPr marL="0" indent="0">
              <a:buNone/>
            </a:pPr>
            <a:r>
              <a:rPr lang="vi-VN" altLang="ja-JP" dirty="0"/>
              <a:t>        }</a:t>
            </a:r>
          </a:p>
          <a:p>
            <a:pPr marL="0" indent="0">
              <a:buNone/>
            </a:pPr>
            <a:r>
              <a:rPr lang="vi-VN" altLang="ja-JP" dirty="0"/>
              <a:t>    }</a:t>
            </a:r>
          </a:p>
          <a:p>
            <a:pPr marL="0" indent="0">
              <a:buNone/>
            </a:pPr>
            <a:r>
              <a:rPr lang="vi-VN" altLang="ja-JP" dirty="0"/>
              <a:t>}</a:t>
            </a:r>
          </a:p>
        </p:txBody>
      </p:sp>
      <p:sp>
        <p:nvSpPr>
          <p:cNvPr id="4" name="Slide Number Placeholder 3">
            <a:extLst>
              <a:ext uri="{FF2B5EF4-FFF2-40B4-BE49-F238E27FC236}">
                <a16:creationId xmlns:a16="http://schemas.microsoft.com/office/drawing/2014/main" id="{820277F1-3633-E699-E67A-DB1BA430CDD0}"/>
              </a:ext>
            </a:extLst>
          </p:cNvPr>
          <p:cNvSpPr>
            <a:spLocks noGrp="1"/>
          </p:cNvSpPr>
          <p:nvPr>
            <p:ph type="sldNum" sz="quarter" idx="10"/>
          </p:nvPr>
        </p:nvSpPr>
        <p:spPr/>
        <p:txBody>
          <a:bodyPr/>
          <a:lstStyle/>
          <a:p>
            <a:fld id="{2A23074F-B102-40E4-A99A-14288BCA1A83}" type="slidenum">
              <a:rPr lang="en-US" altLang="ja-JP" smtClean="0"/>
              <a:pPr/>
              <a:t>6</a:t>
            </a:fld>
            <a:endParaRPr lang="en-US" altLang="ja-JP"/>
          </a:p>
        </p:txBody>
      </p:sp>
      <p:grpSp>
        <p:nvGrpSpPr>
          <p:cNvPr id="13" name="Group 31">
            <a:extLst>
              <a:ext uri="{FF2B5EF4-FFF2-40B4-BE49-F238E27FC236}">
                <a16:creationId xmlns:a16="http://schemas.microsoft.com/office/drawing/2014/main" id="{9231F742-9C6E-5E89-5F56-04A626CDC9C7}"/>
              </a:ext>
            </a:extLst>
          </p:cNvPr>
          <p:cNvGrpSpPr>
            <a:grpSpLocks/>
          </p:cNvGrpSpPr>
          <p:nvPr/>
        </p:nvGrpSpPr>
        <p:grpSpPr bwMode="auto">
          <a:xfrm>
            <a:off x="6026150" y="2976563"/>
            <a:ext cx="2511425" cy="863600"/>
            <a:chOff x="2035" y="1383"/>
            <a:chExt cx="1582" cy="544"/>
          </a:xfrm>
        </p:grpSpPr>
        <p:sp>
          <p:nvSpPr>
            <p:cNvPr id="14" name="AutoShape 6">
              <a:extLst>
                <a:ext uri="{FF2B5EF4-FFF2-40B4-BE49-F238E27FC236}">
                  <a16:creationId xmlns:a16="http://schemas.microsoft.com/office/drawing/2014/main" id="{858F87F9-49C2-F0FA-7DD4-89402A97E67D}"/>
                </a:ext>
              </a:extLst>
            </p:cNvPr>
            <p:cNvSpPr>
              <a:spLocks noChangeArrowheads="1"/>
            </p:cNvSpPr>
            <p:nvPr/>
          </p:nvSpPr>
          <p:spPr bwMode="auto">
            <a:xfrm>
              <a:off x="2035" y="1383"/>
              <a:ext cx="1582" cy="544"/>
            </a:xfrm>
            <a:prstGeom prst="roundRect">
              <a:avLst>
                <a:gd name="adj" fmla="val 16667"/>
              </a:avLst>
            </a:prstGeom>
            <a:solidFill>
              <a:srgbClr val="FFFFCC">
                <a:alpha val="50000"/>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1"/>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a:latin typeface="MS UI Gothic" panose="020B0600070205080204" pitchFamily="50" charset="-128"/>
                  <a:ea typeface="MS UI Gothic" panose="020B0600070205080204" pitchFamily="50" charset="-128"/>
                </a:rPr>
                <a:t>ArrayList</a:t>
              </a:r>
            </a:p>
          </p:txBody>
        </p:sp>
        <p:sp>
          <p:nvSpPr>
            <p:cNvPr id="15" name="Text Box 7">
              <a:extLst>
                <a:ext uri="{FF2B5EF4-FFF2-40B4-BE49-F238E27FC236}">
                  <a16:creationId xmlns:a16="http://schemas.microsoft.com/office/drawing/2014/main" id="{5506934E-FA06-F476-3E63-254973B76148}"/>
                </a:ext>
              </a:extLst>
            </p:cNvPr>
            <p:cNvSpPr txBox="1">
              <a:spLocks noChangeArrowheads="1"/>
            </p:cNvSpPr>
            <p:nvPr/>
          </p:nvSpPr>
          <p:spPr bwMode="auto">
            <a:xfrm>
              <a:off x="2096" y="1536"/>
              <a:ext cx="1480" cy="144"/>
            </a:xfrm>
            <a:prstGeom prst="rect">
              <a:avLst/>
            </a:prstGeom>
            <a:noFill/>
            <a:ln>
              <a:noFill/>
            </a:ln>
            <a:effectLst/>
            <a:extLst>
              <a:ext uri="{909E8E84-426E-40DD-AFC4-6F175D3DCCD1}">
                <a14:hiddenFill xmlns:a14="http://schemas.microsoft.com/office/drawing/2010/main">
                  <a:solidFill>
                    <a:srgbClr val="99CCFF">
                      <a:alpha val="50000"/>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spAutoFit/>
            </a:bodyP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spcBef>
                  <a:spcPct val="50000"/>
                </a:spcBef>
              </a:pPr>
              <a:r>
                <a:rPr lang="en-US" altLang="ja-JP" sz="900">
                  <a:latin typeface="MS UI Gothic" panose="020B0600070205080204" pitchFamily="50" charset="-128"/>
                  <a:ea typeface="MS UI Gothic" panose="020B0600070205080204" pitchFamily="50" charset="-128"/>
                </a:rPr>
                <a:t>   [ 0 ]       [ 1 ]      [ 2 ]       [ 3 ]       …</a:t>
              </a:r>
            </a:p>
          </p:txBody>
        </p:sp>
      </p:grpSp>
      <p:sp>
        <p:nvSpPr>
          <p:cNvPr id="16" name="AutoShape 40">
            <a:extLst>
              <a:ext uri="{FF2B5EF4-FFF2-40B4-BE49-F238E27FC236}">
                <a16:creationId xmlns:a16="http://schemas.microsoft.com/office/drawing/2014/main" id="{A5048D78-6176-FD72-2499-42CF77564BA1}"/>
              </a:ext>
            </a:extLst>
          </p:cNvPr>
          <p:cNvSpPr>
            <a:spLocks noChangeArrowheads="1"/>
          </p:cNvSpPr>
          <p:nvPr/>
        </p:nvSpPr>
        <p:spPr bwMode="auto">
          <a:xfrm>
            <a:off x="6026150" y="1752601"/>
            <a:ext cx="2584450" cy="685800"/>
          </a:xfrm>
          <a:prstGeom prst="wedgeRoundRectCallout">
            <a:avLst>
              <a:gd name="adj1" fmla="val -32426"/>
              <a:gd name="adj2" fmla="val 10884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dirty="0" err="1">
                <a:ea typeface="MS UI Gothic" panose="020B0600070205080204" pitchFamily="50" charset="-128"/>
              </a:rPr>
              <a:t>Mảng</a:t>
            </a:r>
            <a:r>
              <a:rPr lang="en-US" altLang="ja-JP" b="0" dirty="0">
                <a:ea typeface="MS UI Gothic" panose="020B0600070205080204" pitchFamily="50" charset="-128"/>
              </a:rPr>
              <a:t> </a:t>
            </a:r>
            <a:r>
              <a:rPr lang="en-US" altLang="ja-JP" b="0" dirty="0" err="1">
                <a:ea typeface="MS UI Gothic" panose="020B0600070205080204" pitchFamily="50" charset="-128"/>
              </a:rPr>
              <a:t>có</a:t>
            </a:r>
            <a:r>
              <a:rPr lang="en-US" altLang="ja-JP" b="0" dirty="0">
                <a:ea typeface="MS UI Gothic" panose="020B0600070205080204" pitchFamily="50" charset="-128"/>
              </a:rPr>
              <a:t> </a:t>
            </a:r>
            <a:r>
              <a:rPr lang="en-US" altLang="ja-JP" b="0" dirty="0" err="1">
                <a:ea typeface="MS UI Gothic" panose="020B0600070205080204" pitchFamily="50" charset="-128"/>
              </a:rPr>
              <a:t>khả</a:t>
            </a:r>
            <a:r>
              <a:rPr lang="en-US" altLang="ja-JP" b="0" dirty="0">
                <a:ea typeface="MS UI Gothic" panose="020B0600070205080204" pitchFamily="50" charset="-128"/>
              </a:rPr>
              <a:t> </a:t>
            </a:r>
            <a:r>
              <a:rPr lang="en-US" altLang="ja-JP" b="0" dirty="0" err="1">
                <a:ea typeface="MS UI Gothic" panose="020B0600070205080204" pitchFamily="50" charset="-128"/>
              </a:rPr>
              <a:t>năng</a:t>
            </a:r>
            <a:r>
              <a:rPr lang="en-US" altLang="ja-JP" b="0" dirty="0">
                <a:ea typeface="MS UI Gothic" panose="020B0600070205080204" pitchFamily="50" charset="-128"/>
              </a:rPr>
              <a:t> </a:t>
            </a:r>
            <a:r>
              <a:rPr lang="en-US" altLang="ja-JP" b="0" dirty="0" err="1">
                <a:ea typeface="MS UI Gothic" panose="020B0600070205080204" pitchFamily="50" charset="-128"/>
              </a:rPr>
              <a:t>thay</a:t>
            </a:r>
            <a:r>
              <a:rPr lang="en-US" altLang="ja-JP" b="0" dirty="0">
                <a:ea typeface="MS UI Gothic" panose="020B0600070205080204" pitchFamily="50" charset="-128"/>
              </a:rPr>
              <a:t> </a:t>
            </a:r>
            <a:r>
              <a:rPr lang="en-US" altLang="ja-JP" b="0" dirty="0" err="1">
                <a:ea typeface="MS UI Gothic" panose="020B0600070205080204" pitchFamily="50" charset="-128"/>
              </a:rPr>
              <a:t>đổi</a:t>
            </a:r>
            <a:r>
              <a:rPr lang="en-US" altLang="ja-JP" b="0" dirty="0">
                <a:ea typeface="MS UI Gothic" panose="020B0600070205080204" pitchFamily="50" charset="-128"/>
              </a:rPr>
              <a:t> size</a:t>
            </a:r>
          </a:p>
        </p:txBody>
      </p:sp>
      <p:sp>
        <p:nvSpPr>
          <p:cNvPr id="18" name="Rectangle 5">
            <a:extLst>
              <a:ext uri="{FF2B5EF4-FFF2-40B4-BE49-F238E27FC236}">
                <a16:creationId xmlns:a16="http://schemas.microsoft.com/office/drawing/2014/main" id="{7F1D1BE4-A6F8-EEAB-1699-FA968AC6BA78}"/>
              </a:ext>
            </a:extLst>
          </p:cNvPr>
          <p:cNvSpPr>
            <a:spLocks noChangeArrowheads="1"/>
          </p:cNvSpPr>
          <p:nvPr/>
        </p:nvSpPr>
        <p:spPr bwMode="auto">
          <a:xfrm>
            <a:off x="685795" y="5744776"/>
            <a:ext cx="3194051" cy="43098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0" name="Rectangle 5">
            <a:extLst>
              <a:ext uri="{FF2B5EF4-FFF2-40B4-BE49-F238E27FC236}">
                <a16:creationId xmlns:a16="http://schemas.microsoft.com/office/drawing/2014/main" id="{75C6599C-21C5-9E85-63DB-F82D8DA0312F}"/>
              </a:ext>
            </a:extLst>
          </p:cNvPr>
          <p:cNvSpPr>
            <a:spLocks noChangeArrowheads="1"/>
          </p:cNvSpPr>
          <p:nvPr/>
        </p:nvSpPr>
        <p:spPr bwMode="auto">
          <a:xfrm>
            <a:off x="685799" y="2849106"/>
            <a:ext cx="3194050" cy="808493"/>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2" name="Rectangle 5">
            <a:extLst>
              <a:ext uri="{FF2B5EF4-FFF2-40B4-BE49-F238E27FC236}">
                <a16:creationId xmlns:a16="http://schemas.microsoft.com/office/drawing/2014/main" id="{5373D4AA-5E2A-16D6-2A06-1C001D22D912}"/>
              </a:ext>
            </a:extLst>
          </p:cNvPr>
          <p:cNvSpPr>
            <a:spLocks noChangeArrowheads="1"/>
          </p:cNvSpPr>
          <p:nvPr/>
        </p:nvSpPr>
        <p:spPr bwMode="auto">
          <a:xfrm>
            <a:off x="685795" y="4353887"/>
            <a:ext cx="3194051" cy="22860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3" name="Rectangle 5">
            <a:extLst>
              <a:ext uri="{FF2B5EF4-FFF2-40B4-BE49-F238E27FC236}">
                <a16:creationId xmlns:a16="http://schemas.microsoft.com/office/drawing/2014/main" id="{3DE4EFCD-4B1F-3372-5C76-8FDCEFD1A2BC}"/>
              </a:ext>
            </a:extLst>
          </p:cNvPr>
          <p:cNvSpPr>
            <a:spLocks noChangeArrowheads="1"/>
          </p:cNvSpPr>
          <p:nvPr/>
        </p:nvSpPr>
        <p:spPr bwMode="auto">
          <a:xfrm>
            <a:off x="685798" y="3915905"/>
            <a:ext cx="3194051" cy="22860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5" name="Rectangle 5">
            <a:extLst>
              <a:ext uri="{FF2B5EF4-FFF2-40B4-BE49-F238E27FC236}">
                <a16:creationId xmlns:a16="http://schemas.microsoft.com/office/drawing/2014/main" id="{0248F507-07EC-3B70-D71D-64E022922C5D}"/>
              </a:ext>
            </a:extLst>
          </p:cNvPr>
          <p:cNvSpPr>
            <a:spLocks noChangeArrowheads="1"/>
          </p:cNvSpPr>
          <p:nvPr/>
        </p:nvSpPr>
        <p:spPr bwMode="auto">
          <a:xfrm>
            <a:off x="685797" y="4801729"/>
            <a:ext cx="3194049" cy="228600"/>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7" name="Rectangle 5">
            <a:extLst>
              <a:ext uri="{FF2B5EF4-FFF2-40B4-BE49-F238E27FC236}">
                <a16:creationId xmlns:a16="http://schemas.microsoft.com/office/drawing/2014/main" id="{BB507442-3F94-9DB4-177A-11ED09B1244A}"/>
              </a:ext>
            </a:extLst>
          </p:cNvPr>
          <p:cNvSpPr>
            <a:spLocks noChangeArrowheads="1"/>
          </p:cNvSpPr>
          <p:nvPr/>
        </p:nvSpPr>
        <p:spPr bwMode="auto">
          <a:xfrm>
            <a:off x="685795" y="5288635"/>
            <a:ext cx="3194048" cy="18097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9" name="Rectangle 5">
            <a:extLst>
              <a:ext uri="{FF2B5EF4-FFF2-40B4-BE49-F238E27FC236}">
                <a16:creationId xmlns:a16="http://schemas.microsoft.com/office/drawing/2014/main" id="{A657C295-B068-F858-45A3-6EBBED808AA0}"/>
              </a:ext>
            </a:extLst>
          </p:cNvPr>
          <p:cNvSpPr>
            <a:spLocks noChangeArrowheads="1"/>
          </p:cNvSpPr>
          <p:nvPr/>
        </p:nvSpPr>
        <p:spPr bwMode="auto">
          <a:xfrm>
            <a:off x="685794" y="2361484"/>
            <a:ext cx="3194047" cy="293492"/>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Tree>
    <p:extLst>
      <p:ext uri="{BB962C8B-B14F-4D97-AF65-F5344CB8AC3E}">
        <p14:creationId xmlns:p14="http://schemas.microsoft.com/office/powerpoint/2010/main" val="3565628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AA4CF-F814-6EB6-8024-6A1E9D4433B7}"/>
              </a:ext>
            </a:extLst>
          </p:cNvPr>
          <p:cNvSpPr>
            <a:spLocks noGrp="1"/>
          </p:cNvSpPr>
          <p:nvPr>
            <p:ph type="title"/>
          </p:nvPr>
        </p:nvSpPr>
        <p:spPr>
          <a:xfrm>
            <a:off x="344488" y="490554"/>
            <a:ext cx="9217025" cy="490537"/>
          </a:xfrm>
        </p:spPr>
        <p:txBody>
          <a:bodyPr>
            <a:normAutofit fontScale="90000"/>
          </a:bodyPr>
          <a:lstStyle/>
          <a:p>
            <a:r>
              <a:rPr lang="en-US" altLang="ja-JP" b="1" dirty="0" err="1"/>
              <a:t>Bài</a:t>
            </a:r>
            <a:r>
              <a:rPr lang="en-US" altLang="ja-JP" b="1" dirty="0"/>
              <a:t> </a:t>
            </a:r>
            <a:r>
              <a:rPr lang="en-US" altLang="ja-JP" b="1" dirty="0" err="1"/>
              <a:t>tập</a:t>
            </a:r>
            <a:r>
              <a:rPr lang="en-US" altLang="ja-JP" b="1" dirty="0"/>
              <a:t>: </a:t>
            </a:r>
            <a:r>
              <a:rPr lang="en-US" altLang="ja-JP" b="1" dirty="0" err="1"/>
              <a:t>ArrayList</a:t>
            </a:r>
            <a:r>
              <a:rPr lang="en-US" altLang="ja-JP" b="1" dirty="0"/>
              <a:t> class</a:t>
            </a:r>
            <a:endParaRPr kumimoji="1" lang="ja-JP" altLang="en-US" dirty="0"/>
          </a:p>
        </p:txBody>
      </p:sp>
      <p:sp>
        <p:nvSpPr>
          <p:cNvPr id="3" name="Table Placeholder 2">
            <a:extLst>
              <a:ext uri="{FF2B5EF4-FFF2-40B4-BE49-F238E27FC236}">
                <a16:creationId xmlns:a16="http://schemas.microsoft.com/office/drawing/2014/main" id="{C97AB8D1-6A46-F069-6763-22166B4C4DD8}"/>
              </a:ext>
            </a:extLst>
          </p:cNvPr>
          <p:cNvSpPr>
            <a:spLocks noGrp="1"/>
          </p:cNvSpPr>
          <p:nvPr>
            <p:ph type="tbl" idx="1"/>
          </p:nvPr>
        </p:nvSpPr>
        <p:spPr>
          <a:xfrm>
            <a:off x="344488" y="1143000"/>
            <a:ext cx="9217025" cy="5557838"/>
          </a:xfrm>
        </p:spPr>
        <p:txBody>
          <a:bodyPr>
            <a:normAutofit/>
          </a:bodyPr>
          <a:lstStyle/>
          <a:p>
            <a:pPr marL="0" indent="0" algn="just">
              <a:buNone/>
            </a:pPr>
            <a:r>
              <a:rPr lang="en-US" altLang="ja-JP" sz="2400" b="1" i="1" dirty="0">
                <a:latin typeface="+mj-lt"/>
              </a:rPr>
              <a:t>L</a:t>
            </a:r>
            <a:r>
              <a:rPr lang="vi-VN" altLang="ja-JP" sz="2400" b="1" i="1" dirty="0">
                <a:latin typeface="+mj-lt"/>
              </a:rPr>
              <a:t>ưu </a:t>
            </a:r>
            <a:r>
              <a:rPr lang="en-US" altLang="ja-JP" sz="2400" b="1" i="1" dirty="0" err="1">
                <a:latin typeface="+mj-lt"/>
              </a:rPr>
              <a:t>bội</a:t>
            </a:r>
            <a:r>
              <a:rPr lang="en-US" altLang="ja-JP" sz="2400" b="1" i="1" dirty="0">
                <a:latin typeface="+mj-lt"/>
              </a:rPr>
              <a:t> </a:t>
            </a:r>
            <a:r>
              <a:rPr lang="en-US" altLang="ja-JP" sz="2400" b="1" i="1" dirty="0" err="1">
                <a:latin typeface="+mj-lt"/>
              </a:rPr>
              <a:t>số</a:t>
            </a:r>
            <a:r>
              <a:rPr lang="en-US" altLang="ja-JP" sz="2400" b="1" i="1" dirty="0">
                <a:latin typeface="+mj-lt"/>
              </a:rPr>
              <a:t> </a:t>
            </a:r>
            <a:r>
              <a:rPr lang="en-US" altLang="ja-JP" sz="2400" b="1" i="1" dirty="0" err="1">
                <a:latin typeface="+mj-lt"/>
              </a:rPr>
              <a:t>của</a:t>
            </a:r>
            <a:r>
              <a:rPr lang="en-US" altLang="ja-JP" sz="2400" b="1" i="1" dirty="0">
                <a:latin typeface="+mj-lt"/>
              </a:rPr>
              <a:t> 3 </a:t>
            </a:r>
            <a:r>
              <a:rPr lang="en-US" altLang="ja-JP" sz="2400" b="1" i="1" dirty="0" err="1">
                <a:latin typeface="+mj-lt"/>
              </a:rPr>
              <a:t>trong</a:t>
            </a:r>
            <a:r>
              <a:rPr lang="en-US" altLang="ja-JP" sz="2400" b="1" i="1" dirty="0">
                <a:latin typeface="+mj-lt"/>
              </a:rPr>
              <a:t> </a:t>
            </a:r>
            <a:r>
              <a:rPr lang="en-US" altLang="ja-JP" sz="2400" b="1" i="1" dirty="0" err="1">
                <a:latin typeface="+mj-lt"/>
              </a:rPr>
              <a:t>khoảng</a:t>
            </a:r>
            <a:r>
              <a:rPr lang="en-US" altLang="ja-JP" sz="2400" b="1" i="1" dirty="0">
                <a:latin typeface="+mj-lt"/>
              </a:rPr>
              <a:t> </a:t>
            </a:r>
            <a:r>
              <a:rPr lang="en-US" altLang="ja-JP" sz="2400" b="1" i="1" dirty="0" err="1">
                <a:latin typeface="+mj-lt"/>
              </a:rPr>
              <a:t>từ</a:t>
            </a:r>
            <a:r>
              <a:rPr lang="en-US" altLang="ja-JP" sz="2400" b="1" i="1" dirty="0">
                <a:latin typeface="+mj-lt"/>
              </a:rPr>
              <a:t> 1 </a:t>
            </a:r>
            <a:r>
              <a:rPr lang="en-US" altLang="ja-JP" sz="2400" b="1" i="1" dirty="0" err="1">
                <a:latin typeface="+mj-lt"/>
              </a:rPr>
              <a:t>đến</a:t>
            </a:r>
            <a:r>
              <a:rPr lang="en-US" altLang="ja-JP" sz="2400" b="1" i="1" dirty="0">
                <a:latin typeface="+mj-lt"/>
              </a:rPr>
              <a:t> 20 </a:t>
            </a:r>
            <a:r>
              <a:rPr lang="en-US" altLang="ja-JP" sz="2400" b="1" i="1" dirty="0" err="1">
                <a:latin typeface="+mj-lt"/>
              </a:rPr>
              <a:t>vào</a:t>
            </a:r>
            <a:r>
              <a:rPr lang="en-US" altLang="ja-JP" sz="2400" b="1" i="1" dirty="0">
                <a:latin typeface="+mj-lt"/>
              </a:rPr>
              <a:t> </a:t>
            </a:r>
            <a:r>
              <a:rPr lang="en-US" altLang="ja-JP" sz="2400" b="1" i="1" dirty="0" err="1">
                <a:latin typeface="+mj-lt"/>
              </a:rPr>
              <a:t>ArrayList</a:t>
            </a:r>
            <a:r>
              <a:rPr lang="en-US" altLang="ja-JP" sz="2400" b="1" i="1" dirty="0">
                <a:latin typeface="+mj-lt"/>
              </a:rPr>
              <a:t>. Sau </a:t>
            </a:r>
            <a:r>
              <a:rPr lang="en-US" altLang="ja-JP" sz="2400" b="1" i="1" dirty="0" err="1">
                <a:latin typeface="+mj-lt"/>
              </a:rPr>
              <a:t>khi</a:t>
            </a:r>
            <a:r>
              <a:rPr lang="en-US" altLang="ja-JP" sz="2400" b="1" i="1" dirty="0">
                <a:latin typeface="+mj-lt"/>
              </a:rPr>
              <a:t> </a:t>
            </a:r>
            <a:r>
              <a:rPr lang="en-US" altLang="ja-JP" sz="2400" b="1" i="1" dirty="0" err="1">
                <a:latin typeface="+mj-lt"/>
              </a:rPr>
              <a:t>hiển</a:t>
            </a:r>
            <a:r>
              <a:rPr lang="en-US" altLang="ja-JP" sz="2400" b="1" i="1" dirty="0">
                <a:latin typeface="+mj-lt"/>
              </a:rPr>
              <a:t> </a:t>
            </a:r>
            <a:r>
              <a:rPr lang="en-US" altLang="ja-JP" sz="2400" b="1" i="1" dirty="0" err="1">
                <a:latin typeface="+mj-lt"/>
              </a:rPr>
              <a:t>thị</a:t>
            </a:r>
            <a:r>
              <a:rPr lang="en-US" altLang="ja-JP" sz="2400" b="1" i="1" dirty="0">
                <a:latin typeface="+mj-lt"/>
              </a:rPr>
              <a:t> </a:t>
            </a:r>
            <a:r>
              <a:rPr lang="en-US" altLang="ja-JP" sz="2400" b="1" i="1" dirty="0" err="1">
                <a:latin typeface="+mj-lt"/>
              </a:rPr>
              <a:t>số</a:t>
            </a:r>
            <a:r>
              <a:rPr lang="en-US" altLang="ja-JP" sz="2400" b="1" i="1" dirty="0">
                <a:latin typeface="+mj-lt"/>
              </a:rPr>
              <a:t> </a:t>
            </a:r>
            <a:r>
              <a:rPr lang="en-US" altLang="ja-JP" sz="2400" b="1" i="1" dirty="0" err="1">
                <a:latin typeface="+mj-lt"/>
              </a:rPr>
              <a:t>phần</a:t>
            </a:r>
            <a:r>
              <a:rPr lang="en-US" altLang="ja-JP" sz="2400" b="1" i="1" dirty="0">
                <a:latin typeface="+mj-lt"/>
              </a:rPr>
              <a:t> </a:t>
            </a:r>
            <a:r>
              <a:rPr lang="en-US" altLang="ja-JP" sz="2400" b="1" i="1" dirty="0" err="1">
                <a:latin typeface="+mj-lt"/>
              </a:rPr>
              <a:t>tử</a:t>
            </a:r>
            <a:r>
              <a:rPr lang="en-US" altLang="ja-JP" sz="2400" b="1" i="1" dirty="0">
                <a:latin typeface="+mj-lt"/>
              </a:rPr>
              <a:t> </a:t>
            </a:r>
            <a:r>
              <a:rPr lang="en-US" altLang="ja-JP" sz="2400" b="1" i="1" dirty="0" err="1">
                <a:latin typeface="+mj-lt"/>
              </a:rPr>
              <a:t>của</a:t>
            </a:r>
            <a:r>
              <a:rPr lang="en-US" altLang="ja-JP" sz="2400" b="1" i="1" dirty="0">
                <a:latin typeface="+mj-lt"/>
              </a:rPr>
              <a:t> </a:t>
            </a:r>
            <a:r>
              <a:rPr lang="en-US" altLang="ja-JP" sz="2400" b="1" i="1" dirty="0" err="1">
                <a:latin typeface="+mj-lt"/>
              </a:rPr>
              <a:t>ArrayList</a:t>
            </a:r>
            <a:r>
              <a:rPr lang="en-US" altLang="ja-JP" sz="2400" b="1" i="1" dirty="0">
                <a:latin typeface="+mj-lt"/>
              </a:rPr>
              <a:t>, </a:t>
            </a:r>
            <a:r>
              <a:rPr lang="en-US" altLang="ja-JP" sz="2400" b="1" i="1" dirty="0" err="1">
                <a:latin typeface="+mj-lt"/>
              </a:rPr>
              <a:t>lấy</a:t>
            </a:r>
            <a:r>
              <a:rPr lang="en-US" altLang="ja-JP" sz="2400" b="1" i="1" dirty="0">
                <a:latin typeface="+mj-lt"/>
              </a:rPr>
              <a:t> </a:t>
            </a:r>
            <a:r>
              <a:rPr lang="en-US" altLang="ja-JP" sz="2400" b="1" i="1" dirty="0" err="1">
                <a:latin typeface="+mj-lt"/>
              </a:rPr>
              <a:t>ra</a:t>
            </a:r>
            <a:r>
              <a:rPr lang="en-US" altLang="ja-JP" sz="2400" b="1" i="1" dirty="0">
                <a:latin typeface="+mj-lt"/>
              </a:rPr>
              <a:t> </a:t>
            </a:r>
            <a:r>
              <a:rPr lang="en-US" altLang="ja-JP" sz="2400" b="1" i="1" dirty="0" err="1">
                <a:latin typeface="+mj-lt"/>
              </a:rPr>
              <a:t>từng</a:t>
            </a:r>
            <a:r>
              <a:rPr lang="en-US" altLang="ja-JP" sz="2400" b="1" i="1" dirty="0">
                <a:latin typeface="+mj-lt"/>
              </a:rPr>
              <a:t> </a:t>
            </a:r>
            <a:r>
              <a:rPr lang="en-US" altLang="ja-JP" sz="2400" b="1" i="1" dirty="0" err="1">
                <a:latin typeface="+mj-lt"/>
              </a:rPr>
              <a:t>giá</a:t>
            </a:r>
            <a:r>
              <a:rPr lang="en-US" altLang="ja-JP" sz="2400" b="1" i="1" dirty="0">
                <a:latin typeface="+mj-lt"/>
              </a:rPr>
              <a:t> </a:t>
            </a:r>
            <a:r>
              <a:rPr lang="en-US" altLang="ja-JP" sz="2400" b="1" i="1" dirty="0" err="1">
                <a:latin typeface="+mj-lt"/>
              </a:rPr>
              <a:t>trị</a:t>
            </a:r>
            <a:r>
              <a:rPr lang="en-US" altLang="ja-JP" sz="2400" b="1" i="1" dirty="0">
                <a:latin typeface="+mj-lt"/>
              </a:rPr>
              <a:t> </a:t>
            </a:r>
            <a:r>
              <a:rPr lang="en-US" altLang="ja-JP" sz="2400" b="1" i="1" dirty="0" err="1">
                <a:latin typeface="+mj-lt"/>
              </a:rPr>
              <a:t>đã</a:t>
            </a:r>
            <a:r>
              <a:rPr lang="en-US" altLang="ja-JP" sz="2400" b="1" i="1" dirty="0">
                <a:latin typeface="+mj-lt"/>
              </a:rPr>
              <a:t> </a:t>
            </a:r>
            <a:r>
              <a:rPr lang="en-US" altLang="ja-JP" sz="2400" b="1" i="1" dirty="0" err="1">
                <a:latin typeface="+mj-lt"/>
              </a:rPr>
              <a:t>lưu</a:t>
            </a:r>
            <a:r>
              <a:rPr lang="en-US" altLang="ja-JP" sz="2400" b="1" i="1" dirty="0">
                <a:latin typeface="+mj-lt"/>
              </a:rPr>
              <a:t> </a:t>
            </a:r>
            <a:r>
              <a:rPr lang="en-US" altLang="ja-JP" sz="2400" b="1" i="1" dirty="0" err="1">
                <a:latin typeface="+mj-lt"/>
              </a:rPr>
              <a:t>và</a:t>
            </a:r>
            <a:r>
              <a:rPr lang="en-US" altLang="ja-JP" sz="2400" b="1" i="1" dirty="0">
                <a:latin typeface="+mj-lt"/>
              </a:rPr>
              <a:t> </a:t>
            </a:r>
            <a:r>
              <a:rPr lang="en-US" altLang="ja-JP" sz="2400" b="1" i="1" dirty="0" err="1">
                <a:latin typeface="+mj-lt"/>
              </a:rPr>
              <a:t>hiển</a:t>
            </a:r>
            <a:r>
              <a:rPr lang="en-US" altLang="ja-JP" sz="2400" b="1" i="1" dirty="0">
                <a:latin typeface="+mj-lt"/>
              </a:rPr>
              <a:t> </a:t>
            </a:r>
            <a:r>
              <a:rPr lang="en-US" altLang="ja-JP" sz="2400" b="1" i="1" dirty="0" err="1">
                <a:latin typeface="+mj-lt"/>
              </a:rPr>
              <a:t>thị</a:t>
            </a:r>
            <a:r>
              <a:rPr lang="en-US" altLang="ja-JP" sz="2400" b="1" i="1" dirty="0">
                <a:latin typeface="+mj-lt"/>
              </a:rPr>
              <a:t>.</a:t>
            </a:r>
            <a:r>
              <a:rPr lang="en-US" altLang="ja-JP" sz="2400" b="1" dirty="0">
                <a:latin typeface="+mj-lt"/>
              </a:rPr>
              <a:t> </a:t>
            </a:r>
          </a:p>
          <a:p>
            <a:pPr algn="just"/>
            <a:r>
              <a:rPr lang="en-US" altLang="ja-JP" sz="2400" b="1" dirty="0">
                <a:latin typeface="+mj-lt"/>
              </a:rPr>
              <a:t>Class </a:t>
            </a:r>
            <a:r>
              <a:rPr lang="en-US" altLang="ja-JP" sz="2400" b="1" dirty="0" err="1">
                <a:latin typeface="+mj-lt"/>
              </a:rPr>
              <a:t>định</a:t>
            </a:r>
            <a:r>
              <a:rPr lang="en-US" altLang="ja-JP" sz="2400" b="1" dirty="0">
                <a:latin typeface="+mj-lt"/>
              </a:rPr>
              <a:t> </a:t>
            </a:r>
            <a:r>
              <a:rPr lang="en-US" altLang="ja-JP" sz="2400" b="1" dirty="0" err="1">
                <a:latin typeface="+mj-lt"/>
              </a:rPr>
              <a:t>nghĩa</a:t>
            </a:r>
            <a:endParaRPr lang="en-US" altLang="ja-JP" sz="2400" b="1" dirty="0">
              <a:latin typeface="+mj-lt"/>
            </a:endParaRPr>
          </a:p>
          <a:p>
            <a:pPr algn="just"/>
            <a:endParaRPr lang="en-US" altLang="ja-JP" sz="2400" b="1" dirty="0">
              <a:latin typeface="+mj-lt"/>
            </a:endParaRPr>
          </a:p>
          <a:p>
            <a:pPr algn="just"/>
            <a:r>
              <a:rPr lang="en-US" altLang="ja-JP" sz="2400" b="1" dirty="0">
                <a:latin typeface="+mj-lt"/>
              </a:rPr>
              <a:t>Compile/ </a:t>
            </a:r>
            <a:r>
              <a:rPr lang="en-US" altLang="ja-JP" sz="2400" b="1" dirty="0" err="1">
                <a:latin typeface="+mj-lt"/>
              </a:rPr>
              <a:t>Kết</a:t>
            </a:r>
            <a:r>
              <a:rPr lang="en-US" altLang="ja-JP" sz="2400" b="1" dirty="0">
                <a:latin typeface="+mj-lt"/>
              </a:rPr>
              <a:t> </a:t>
            </a:r>
            <a:r>
              <a:rPr lang="en-US" altLang="ja-JP" sz="2400" b="1" dirty="0" err="1">
                <a:latin typeface="+mj-lt"/>
              </a:rPr>
              <a:t>quả</a:t>
            </a:r>
            <a:endParaRPr lang="en-US" altLang="ja-JP" sz="2400" b="1" dirty="0">
              <a:latin typeface="+mj-lt"/>
            </a:endParaRPr>
          </a:p>
          <a:p>
            <a:pPr marL="0" indent="0" algn="just">
              <a:buNone/>
            </a:pPr>
            <a:r>
              <a:rPr lang="en-US" altLang="ja-JP" sz="2400" b="1" dirty="0" err="1">
                <a:latin typeface="+mj-lt"/>
              </a:rPr>
              <a:t>thực</a:t>
            </a:r>
            <a:r>
              <a:rPr lang="en-US" altLang="ja-JP" sz="2400" b="1" dirty="0">
                <a:latin typeface="+mj-lt"/>
              </a:rPr>
              <a:t> </a:t>
            </a:r>
            <a:r>
              <a:rPr lang="en-US" altLang="ja-JP" sz="2400" b="1" dirty="0" err="1">
                <a:latin typeface="+mj-lt"/>
              </a:rPr>
              <a:t>hiện</a:t>
            </a:r>
            <a:endParaRPr lang="en-US" altLang="ja-JP" sz="2400" b="1" dirty="0">
              <a:latin typeface="+mj-lt"/>
            </a:endParaRPr>
          </a:p>
          <a:p>
            <a:pPr marL="0" indent="0" algn="just">
              <a:buNone/>
            </a:pPr>
            <a:endParaRPr lang="en-US" altLang="ja-JP" sz="2400" b="1" dirty="0">
              <a:latin typeface="+mj-lt"/>
            </a:endParaRPr>
          </a:p>
          <a:p>
            <a:pPr marL="0" indent="0" algn="just">
              <a:buNone/>
            </a:pPr>
            <a:endParaRPr lang="en-US" altLang="ja-JP" sz="2400" b="1" dirty="0">
              <a:latin typeface="+mj-lt"/>
            </a:endParaRPr>
          </a:p>
          <a:p>
            <a:pPr marL="0" indent="0" algn="just">
              <a:buNone/>
            </a:pPr>
            <a:endParaRPr lang="en-US" altLang="ja-JP" sz="2400" b="1" dirty="0">
              <a:latin typeface="+mj-lt"/>
            </a:endParaRPr>
          </a:p>
          <a:p>
            <a:pPr algn="just"/>
            <a:r>
              <a:rPr lang="en-US" altLang="ja-JP" sz="2400" b="1" dirty="0" err="1">
                <a:latin typeface="+mj-lt"/>
              </a:rPr>
              <a:t>Gợi</a:t>
            </a:r>
            <a:r>
              <a:rPr lang="en-US" altLang="ja-JP" sz="2400" b="1" dirty="0">
                <a:latin typeface="+mj-lt"/>
              </a:rPr>
              <a:t> ý:</a:t>
            </a:r>
          </a:p>
          <a:p>
            <a:pPr algn="just"/>
            <a:endParaRPr lang="ja-JP" altLang="ja-JP" sz="2400" dirty="0">
              <a:latin typeface="+mj-lt"/>
            </a:endParaRPr>
          </a:p>
          <a:p>
            <a:pPr algn="just"/>
            <a:endParaRPr lang="ja-JP" altLang="en-US" sz="2400" dirty="0">
              <a:latin typeface="+mj-lt"/>
            </a:endParaRPr>
          </a:p>
        </p:txBody>
      </p:sp>
      <p:sp>
        <p:nvSpPr>
          <p:cNvPr id="4" name="Slide Number Placeholder 3">
            <a:extLst>
              <a:ext uri="{FF2B5EF4-FFF2-40B4-BE49-F238E27FC236}">
                <a16:creationId xmlns:a16="http://schemas.microsoft.com/office/drawing/2014/main" id="{E284AE00-00C5-1A71-C446-A917B1DE0D28}"/>
              </a:ext>
            </a:extLst>
          </p:cNvPr>
          <p:cNvSpPr>
            <a:spLocks noGrp="1"/>
          </p:cNvSpPr>
          <p:nvPr>
            <p:ph type="sldNum" sz="quarter" idx="10"/>
          </p:nvPr>
        </p:nvSpPr>
        <p:spPr/>
        <p:txBody>
          <a:bodyPr/>
          <a:lstStyle/>
          <a:p>
            <a:fld id="{2A23074F-B102-40E4-A99A-14288BCA1A83}" type="slidenum">
              <a:rPr lang="en-US" altLang="ja-JP" smtClean="0"/>
              <a:pPr/>
              <a:t>7</a:t>
            </a:fld>
            <a:endParaRPr lang="en-US" altLang="ja-JP"/>
          </a:p>
        </p:txBody>
      </p:sp>
      <p:pic>
        <p:nvPicPr>
          <p:cNvPr id="7" name="Picture 6">
            <a:extLst>
              <a:ext uri="{FF2B5EF4-FFF2-40B4-BE49-F238E27FC236}">
                <a16:creationId xmlns:a16="http://schemas.microsoft.com/office/drawing/2014/main" id="{D1350695-F245-C8EA-9532-D9C8EDD4C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5645" y="5426964"/>
            <a:ext cx="5361905" cy="733333"/>
          </a:xfrm>
          <a:prstGeom prst="rect">
            <a:avLst/>
          </a:prstGeom>
        </p:spPr>
      </p:pic>
      <p:graphicFrame>
        <p:nvGraphicFramePr>
          <p:cNvPr id="11" name="Table 10">
            <a:extLst>
              <a:ext uri="{FF2B5EF4-FFF2-40B4-BE49-F238E27FC236}">
                <a16:creationId xmlns:a16="http://schemas.microsoft.com/office/drawing/2014/main" id="{FDE6053F-42B5-078B-3A64-B4FBEC5278E3}"/>
              </a:ext>
            </a:extLst>
          </p:cNvPr>
          <p:cNvGraphicFramePr>
            <a:graphicFrameLocks noGrp="1"/>
          </p:cNvGraphicFramePr>
          <p:nvPr>
            <p:extLst>
              <p:ext uri="{D42A27DB-BD31-4B8C-83A1-F6EECF244321}">
                <p14:modId xmlns:p14="http://schemas.microsoft.com/office/powerpoint/2010/main" val="3153776125"/>
              </p:ext>
            </p:extLst>
          </p:nvPr>
        </p:nvGraphicFramePr>
        <p:xfrm>
          <a:off x="4047612" y="2565342"/>
          <a:ext cx="5366385" cy="504190"/>
        </p:xfrm>
        <a:graphic>
          <a:graphicData uri="http://schemas.openxmlformats.org/drawingml/2006/table">
            <a:tbl>
              <a:tblPr firstRow="1" firstCol="1" bandRow="1" bandCol="1">
                <a:tableStyleId>{5C22544A-7EE6-4342-B048-85BDC9FD1C3A}</a:tableStyleId>
              </a:tblPr>
              <a:tblGrid>
                <a:gridCol w="1246505">
                  <a:extLst>
                    <a:ext uri="{9D8B030D-6E8A-4147-A177-3AD203B41FA5}">
                      <a16:colId xmlns:a16="http://schemas.microsoft.com/office/drawing/2014/main" val="3162294258"/>
                    </a:ext>
                  </a:extLst>
                </a:gridCol>
                <a:gridCol w="1626870">
                  <a:extLst>
                    <a:ext uri="{9D8B030D-6E8A-4147-A177-3AD203B41FA5}">
                      <a16:colId xmlns:a16="http://schemas.microsoft.com/office/drawing/2014/main" val="352555427"/>
                    </a:ext>
                  </a:extLst>
                </a:gridCol>
                <a:gridCol w="1452245">
                  <a:extLst>
                    <a:ext uri="{9D8B030D-6E8A-4147-A177-3AD203B41FA5}">
                      <a16:colId xmlns:a16="http://schemas.microsoft.com/office/drawing/2014/main" val="3498504623"/>
                    </a:ext>
                  </a:extLst>
                </a:gridCol>
                <a:gridCol w="1040765">
                  <a:extLst>
                    <a:ext uri="{9D8B030D-6E8A-4147-A177-3AD203B41FA5}">
                      <a16:colId xmlns:a16="http://schemas.microsoft.com/office/drawing/2014/main" val="1054988693"/>
                    </a:ext>
                  </a:extLst>
                </a:gridCol>
              </a:tblGrid>
              <a:tr h="252095">
                <a:tc>
                  <a:txBody>
                    <a:bodyPr/>
                    <a:lstStyle/>
                    <a:p>
                      <a:pPr marL="66675" indent="66675" algn="ctr" hangingPunct="0">
                        <a:lnSpc>
                          <a:spcPct val="106061"/>
                        </a:lnSpc>
                        <a:buNone/>
                      </a:pPr>
                      <a:r>
                        <a:rPr lang="en-US" sz="1100" kern="1000" spc="70">
                          <a:effectLst/>
                        </a:rPr>
                        <a:t>Class name</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ctr" hangingPunct="0">
                        <a:lnSpc>
                          <a:spcPct val="106061"/>
                        </a:lnSpc>
                        <a:buNone/>
                      </a:pPr>
                      <a:r>
                        <a:rPr lang="en-US" sz="1100" kern="1000" spc="70">
                          <a:effectLst/>
                        </a:rPr>
                        <a:t>Folder sử dụng</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ctr" hangingPunct="0">
                        <a:lnSpc>
                          <a:spcPct val="106061"/>
                        </a:lnSpc>
                        <a:buNone/>
                      </a:pPr>
                      <a:r>
                        <a:rPr lang="en-US" sz="1100" kern="1000" spc="70">
                          <a:effectLst/>
                        </a:rPr>
                        <a:t>File name</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ctr" hangingPunct="0">
                        <a:lnSpc>
                          <a:spcPct val="106061"/>
                        </a:lnSpc>
                        <a:buNone/>
                      </a:pPr>
                      <a:r>
                        <a:rPr lang="en-US" sz="1100" kern="1000" spc="70">
                          <a:effectLst/>
                        </a:rPr>
                        <a:t>Chú thích</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50376023"/>
                  </a:ext>
                </a:extLst>
              </a:tr>
              <a:tr h="252095">
                <a:tc>
                  <a:txBody>
                    <a:bodyPr/>
                    <a:lstStyle/>
                    <a:p>
                      <a:pPr marL="66675" indent="66675" algn="just" hangingPunct="0">
                        <a:lnSpc>
                          <a:spcPct val="106061"/>
                        </a:lnSpc>
                        <a:buNone/>
                      </a:pPr>
                      <a:r>
                        <a:rPr lang="en-US" sz="1100" kern="1000" spc="70" dirty="0">
                          <a:effectLst/>
                        </a:rPr>
                        <a:t>Ex08_01</a:t>
                      </a:r>
                      <a:endParaRPr lang="ja-JP" sz="1100" kern="10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just" hangingPunct="0">
                        <a:lnSpc>
                          <a:spcPct val="106061"/>
                        </a:lnSpc>
                        <a:buNone/>
                      </a:pPr>
                      <a:r>
                        <a:rPr lang="en-US" sz="1100" kern="1000" spc="70" dirty="0">
                          <a:effectLst/>
                        </a:rPr>
                        <a:t>labs\ex08</a:t>
                      </a:r>
                      <a:endParaRPr lang="ja-JP" sz="1100" kern="10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just" hangingPunct="0">
                        <a:lnSpc>
                          <a:spcPct val="106061"/>
                        </a:lnSpc>
                        <a:buNone/>
                      </a:pPr>
                      <a:r>
                        <a:rPr lang="en-US" sz="1100" kern="1000" spc="70" dirty="0">
                          <a:effectLst/>
                        </a:rPr>
                        <a:t>Ex08_01. java</a:t>
                      </a:r>
                      <a:endParaRPr lang="ja-JP" sz="1100" kern="10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just" hangingPunct="0">
                        <a:lnSpc>
                          <a:spcPct val="106061"/>
                        </a:lnSpc>
                        <a:buNone/>
                      </a:pPr>
                      <a:r>
                        <a:rPr lang="en-US" sz="1100" kern="1000" spc="70" dirty="0" err="1">
                          <a:effectLst/>
                        </a:rPr>
                        <a:t>Creat</a:t>
                      </a:r>
                      <a:r>
                        <a:rPr lang="en-US" sz="1100" kern="1000" spc="70" dirty="0">
                          <a:effectLst/>
                        </a:rPr>
                        <a:t> new</a:t>
                      </a:r>
                      <a:endParaRPr lang="ja-JP" sz="1100" kern="10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526087431"/>
                  </a:ext>
                </a:extLst>
              </a:tr>
            </a:tbl>
          </a:graphicData>
        </a:graphic>
      </p:graphicFrame>
      <p:pic>
        <p:nvPicPr>
          <p:cNvPr id="13" name="Picture 12">
            <a:extLst>
              <a:ext uri="{FF2B5EF4-FFF2-40B4-BE49-F238E27FC236}">
                <a16:creationId xmlns:a16="http://schemas.microsoft.com/office/drawing/2014/main" id="{B9BFFA0E-0B71-0F9A-BB22-8668140931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7612" y="3231441"/>
            <a:ext cx="5314286" cy="1933333"/>
          </a:xfrm>
          <a:prstGeom prst="rect">
            <a:avLst/>
          </a:prstGeom>
        </p:spPr>
      </p:pic>
    </p:spTree>
    <p:extLst>
      <p:ext uri="{BB962C8B-B14F-4D97-AF65-F5344CB8AC3E}">
        <p14:creationId xmlns:p14="http://schemas.microsoft.com/office/powerpoint/2010/main" val="4100309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A39BC66A-8C18-C95F-1420-9BE57AF46C91}"/>
              </a:ext>
            </a:extLst>
          </p:cNvPr>
          <p:cNvSpPr>
            <a:spLocks noGrp="1"/>
          </p:cNvSpPr>
          <p:nvPr>
            <p:ph type="sldNum" sz="quarter" idx="10"/>
          </p:nvPr>
        </p:nvSpPr>
        <p:spPr/>
        <p:txBody>
          <a:bodyPr/>
          <a:lstStyle/>
          <a:p>
            <a:fld id="{950392C0-234B-4C4D-B9E9-2C0D48F4D028}" type="slidenum">
              <a:rPr lang="en-US" altLang="ja-JP"/>
              <a:pPr/>
              <a:t>8</a:t>
            </a:fld>
            <a:endParaRPr lang="en-US" altLang="ja-JP"/>
          </a:p>
        </p:txBody>
      </p:sp>
      <p:sp>
        <p:nvSpPr>
          <p:cNvPr id="642050" name="Rectangle 2">
            <a:extLst>
              <a:ext uri="{FF2B5EF4-FFF2-40B4-BE49-F238E27FC236}">
                <a16:creationId xmlns:a16="http://schemas.microsoft.com/office/drawing/2014/main" id="{33ADCBFC-2BD7-D227-0F24-0197B656B6BE}"/>
              </a:ext>
            </a:extLst>
          </p:cNvPr>
          <p:cNvSpPr>
            <a:spLocks noGrp="1" noChangeArrowheads="1"/>
          </p:cNvSpPr>
          <p:nvPr>
            <p:ph type="title"/>
          </p:nvPr>
        </p:nvSpPr>
        <p:spPr>
          <a:xfrm>
            <a:off x="325438" y="380631"/>
            <a:ext cx="9217025" cy="490537"/>
          </a:xfrm>
        </p:spPr>
        <p:txBody>
          <a:bodyPr>
            <a:normAutofit fontScale="90000"/>
          </a:bodyPr>
          <a:lstStyle/>
          <a:p>
            <a:r>
              <a:rPr lang="en-US" altLang="en-US" dirty="0">
                <a:latin typeface="Arial" panose="020B0604020202020204" pitchFamily="34" charset="0"/>
                <a:ea typeface="MS UI Gothic" panose="020B0600070205080204" pitchFamily="50" charset="-128"/>
              </a:rPr>
              <a:t>HashSet</a:t>
            </a:r>
            <a:endParaRPr lang="en-US" altLang="ja-JP" dirty="0">
              <a:latin typeface="Arial" panose="020B0604020202020204" pitchFamily="34" charset="0"/>
              <a:ea typeface="MS UI Gothic" panose="020B0600070205080204" pitchFamily="50" charset="-128"/>
            </a:endParaRPr>
          </a:p>
        </p:txBody>
      </p:sp>
      <p:sp>
        <p:nvSpPr>
          <p:cNvPr id="642051" name="Rectangle 3">
            <a:extLst>
              <a:ext uri="{FF2B5EF4-FFF2-40B4-BE49-F238E27FC236}">
                <a16:creationId xmlns:a16="http://schemas.microsoft.com/office/drawing/2014/main" id="{FB3E1AEC-5721-90FD-4B14-BC822B97CF6B}"/>
              </a:ext>
            </a:extLst>
          </p:cNvPr>
          <p:cNvSpPr>
            <a:spLocks noChangeArrowheads="1"/>
          </p:cNvSpPr>
          <p:nvPr/>
        </p:nvSpPr>
        <p:spPr bwMode="auto">
          <a:xfrm>
            <a:off x="344488" y="2162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latin typeface="Arial" panose="020B0604020202020204" pitchFamily="34" charset="0"/>
              </a:rPr>
              <a:t>●Ví dụ</a:t>
            </a:r>
          </a:p>
          <a:p>
            <a:pPr lvl="1"/>
            <a:endParaRPr lang="en-US" altLang="ja-JP" sz="2400" b="0">
              <a:latin typeface="Arial" panose="020B0604020202020204" pitchFamily="34" charset="0"/>
            </a:endParaRPr>
          </a:p>
        </p:txBody>
      </p:sp>
      <p:sp>
        <p:nvSpPr>
          <p:cNvPr id="642052" name="Rectangle 4">
            <a:extLst>
              <a:ext uri="{FF2B5EF4-FFF2-40B4-BE49-F238E27FC236}">
                <a16:creationId xmlns:a16="http://schemas.microsoft.com/office/drawing/2014/main" id="{3CC07090-1F5F-AECA-BADE-89FF19D8A8F4}"/>
              </a:ext>
            </a:extLst>
          </p:cNvPr>
          <p:cNvSpPr>
            <a:spLocks noChangeArrowheads="1"/>
          </p:cNvSpPr>
          <p:nvPr/>
        </p:nvSpPr>
        <p:spPr bwMode="auto">
          <a:xfrm>
            <a:off x="344488" y="803656"/>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dirty="0">
                <a:latin typeface="Arial" panose="020B0604020202020204" pitchFamily="34" charset="0"/>
              </a:rPr>
              <a:t>HashSet class</a:t>
            </a:r>
            <a:endParaRPr lang="en-US" altLang="ja-JP" sz="2400" b="0" dirty="0">
              <a:latin typeface="Arial" panose="020B0604020202020204" pitchFamily="34" charset="0"/>
            </a:endParaRPr>
          </a:p>
        </p:txBody>
      </p:sp>
      <p:sp>
        <p:nvSpPr>
          <p:cNvPr id="642053" name="Rectangle 5">
            <a:extLst>
              <a:ext uri="{FF2B5EF4-FFF2-40B4-BE49-F238E27FC236}">
                <a16:creationId xmlns:a16="http://schemas.microsoft.com/office/drawing/2014/main" id="{54DBA847-8B9D-21B2-E827-053140610CC2}"/>
              </a:ext>
            </a:extLst>
          </p:cNvPr>
          <p:cNvSpPr>
            <a:spLocks noChangeArrowheads="1"/>
          </p:cNvSpPr>
          <p:nvPr/>
        </p:nvSpPr>
        <p:spPr bwMode="auto">
          <a:xfrm>
            <a:off x="325438" y="1282700"/>
            <a:ext cx="9129712" cy="67945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79388">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1800" dirty="0">
                <a:latin typeface="Arial" panose="020B0604020202020204" pitchFamily="34" charset="0"/>
              </a:rPr>
              <a:t>Là class </a:t>
            </a:r>
            <a:r>
              <a:rPr lang="en-US" altLang="ja-JP" sz="1800" dirty="0" err="1">
                <a:latin typeface="Arial" panose="020B0604020202020204" pitchFamily="34" charset="0"/>
              </a:rPr>
              <a:t>đê</a:t>
            </a:r>
            <a:r>
              <a:rPr lang="en-US" altLang="ja-JP" sz="1800" dirty="0">
                <a:latin typeface="Arial" panose="020B0604020202020204" pitchFamily="34" charset="0"/>
              </a:rPr>
              <a:t>̉ implement Set interface, </a:t>
            </a:r>
            <a:r>
              <a:rPr lang="en-US" altLang="ja-JP" sz="1800" dirty="0" err="1">
                <a:latin typeface="Arial" panose="020B0604020202020204" pitchFamily="34" charset="0"/>
              </a:rPr>
              <a:t>thê</a:t>
            </a:r>
            <a:r>
              <a:rPr lang="en-US" altLang="ja-JP" sz="1800" dirty="0">
                <a:latin typeface="Arial" panose="020B0604020202020204" pitchFamily="34" charset="0"/>
              </a:rPr>
              <a:t>̉ </a:t>
            </a:r>
            <a:r>
              <a:rPr lang="en-US" altLang="ja-JP" sz="1800" dirty="0" err="1">
                <a:latin typeface="Arial" panose="020B0604020202020204" pitchFamily="34" charset="0"/>
              </a:rPr>
              <a:t>hiện</a:t>
            </a:r>
            <a:r>
              <a:rPr lang="en-US" altLang="ja-JP" sz="1800" dirty="0">
                <a:latin typeface="Arial" panose="020B0604020202020204" pitchFamily="34" charset="0"/>
              </a:rPr>
              <a:t> </a:t>
            </a:r>
            <a:r>
              <a:rPr lang="en-US" altLang="ja-JP" sz="1800" dirty="0" err="1">
                <a:latin typeface="Arial" panose="020B0604020202020204" pitchFamily="34" charset="0"/>
              </a:rPr>
              <a:t>tập</a:t>
            </a:r>
            <a:r>
              <a:rPr lang="en-US" altLang="ja-JP" sz="1800" dirty="0">
                <a:latin typeface="Arial" panose="020B0604020202020204" pitchFamily="34" charset="0"/>
              </a:rPr>
              <a:t> </a:t>
            </a:r>
            <a:r>
              <a:rPr lang="en-US" altLang="ja-JP" sz="1800" dirty="0" err="1">
                <a:latin typeface="Arial" panose="020B0604020202020204" pitchFamily="34" charset="0"/>
              </a:rPr>
              <a:t>hợp</a:t>
            </a:r>
            <a:r>
              <a:rPr lang="en-US" altLang="ja-JP" sz="1800" dirty="0">
                <a:latin typeface="Arial" panose="020B0604020202020204" pitchFamily="34" charset="0"/>
              </a:rPr>
              <a:t> </a:t>
            </a:r>
            <a:r>
              <a:rPr lang="en-US" altLang="ja-JP" sz="1800" dirty="0" err="1">
                <a:latin typeface="Arial" panose="020B0604020202020204" pitchFamily="34" charset="0"/>
              </a:rPr>
              <a:t>của</a:t>
            </a:r>
            <a:r>
              <a:rPr lang="en-US" altLang="ja-JP" sz="1800" dirty="0">
                <a:latin typeface="Arial" panose="020B0604020202020204" pitchFamily="34" charset="0"/>
              </a:rPr>
              <a:t> </a:t>
            </a:r>
            <a:r>
              <a:rPr lang="en-US" altLang="ja-JP" sz="1800" dirty="0" err="1">
                <a:latin typeface="Arial" panose="020B0604020202020204" pitchFamily="34" charset="0"/>
              </a:rPr>
              <a:t>các</a:t>
            </a:r>
            <a:r>
              <a:rPr lang="en-US" altLang="ja-JP" sz="1800" dirty="0">
                <a:latin typeface="Arial" panose="020B0604020202020204" pitchFamily="34" charset="0"/>
              </a:rPr>
              <a:t> </a:t>
            </a:r>
            <a:r>
              <a:rPr lang="en-US" altLang="ja-JP" sz="1800" dirty="0" err="1">
                <a:latin typeface="Arial" panose="020B0604020202020204" pitchFamily="34" charset="0"/>
              </a:rPr>
              <a:t>gia</a:t>
            </a:r>
            <a:r>
              <a:rPr lang="en-US" altLang="ja-JP" sz="1800" dirty="0">
                <a:latin typeface="Arial" panose="020B0604020202020204" pitchFamily="34" charset="0"/>
              </a:rPr>
              <a:t>́ trị </a:t>
            </a:r>
            <a:r>
              <a:rPr lang="en-US" altLang="ja-JP" sz="1800" dirty="0" err="1">
                <a:latin typeface="Arial" panose="020B0604020202020204" pitchFamily="34" charset="0"/>
              </a:rPr>
              <a:t>không</a:t>
            </a:r>
            <a:r>
              <a:rPr lang="en-US" altLang="ja-JP" sz="1800" dirty="0">
                <a:latin typeface="Arial" panose="020B0604020202020204" pitchFamily="34" charset="0"/>
              </a:rPr>
              <a:t> </a:t>
            </a:r>
            <a:r>
              <a:rPr lang="en-US" altLang="ja-JP" sz="1800" dirty="0" err="1">
                <a:latin typeface="Arial" panose="020B0604020202020204" pitchFamily="34" charset="0"/>
              </a:rPr>
              <a:t>trùng</a:t>
            </a:r>
            <a:r>
              <a:rPr lang="en-US" altLang="ja-JP" sz="1800" dirty="0">
                <a:latin typeface="Arial" panose="020B0604020202020204" pitchFamily="34" charset="0"/>
              </a:rPr>
              <a:t> </a:t>
            </a:r>
            <a:r>
              <a:rPr lang="en-US" altLang="ja-JP" sz="1800" dirty="0" err="1">
                <a:latin typeface="Arial" panose="020B0604020202020204" pitchFamily="34" charset="0"/>
              </a:rPr>
              <a:t>lặp</a:t>
            </a:r>
            <a:r>
              <a:rPr lang="en-US" altLang="ja-JP" sz="1800" dirty="0">
                <a:latin typeface="Arial" panose="020B0604020202020204" pitchFamily="34" charset="0"/>
              </a:rPr>
              <a:t>.</a:t>
            </a:r>
            <a:r>
              <a:rPr lang="en-US" altLang="ja-JP" sz="2000" dirty="0">
                <a:latin typeface="Arial" panose="020B0604020202020204" pitchFamily="34" charset="0"/>
              </a:rPr>
              <a:t> </a:t>
            </a:r>
          </a:p>
        </p:txBody>
      </p:sp>
      <p:sp>
        <p:nvSpPr>
          <p:cNvPr id="642054" name="Rectangle 6">
            <a:extLst>
              <a:ext uri="{FF2B5EF4-FFF2-40B4-BE49-F238E27FC236}">
                <a16:creationId xmlns:a16="http://schemas.microsoft.com/office/drawing/2014/main" id="{9D2F11F7-59AD-6443-4145-5B65D3D44AF2}"/>
              </a:ext>
            </a:extLst>
          </p:cNvPr>
          <p:cNvSpPr>
            <a:spLocks noChangeArrowheads="1"/>
          </p:cNvSpPr>
          <p:nvPr/>
        </p:nvSpPr>
        <p:spPr bwMode="auto">
          <a:xfrm>
            <a:off x="344488" y="2641600"/>
            <a:ext cx="9120187" cy="314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fr-FR" sz="1800" b="0">
                <a:latin typeface="Arial" panose="020B0604020202020204" pitchFamily="34" charset="0"/>
                <a:ea typeface="ＭＳ ゴシック" panose="020B0609070205080204" pitchFamily="49" charset="-128"/>
              </a:rPr>
              <a:t>// Generate</a:t>
            </a:r>
            <a:r>
              <a:rPr lang="fr-FR" altLang="ja-JP" sz="1800" b="0">
                <a:latin typeface="Arial" panose="020B0604020202020204" pitchFamily="34" charset="0"/>
                <a:ea typeface="ＭＳ ゴシック" panose="020B0609070205080204" pitchFamily="49" charset="-128"/>
              </a:rPr>
              <a:t>/sinh</a:t>
            </a:r>
            <a:r>
              <a:rPr lang="fr-FR" altLang="fr-FR" sz="1800" b="0">
                <a:latin typeface="Arial" panose="020B0604020202020204" pitchFamily="34" charset="0"/>
                <a:ea typeface="ＭＳ ゴシック" panose="020B0609070205080204" pitchFamily="49" charset="-128"/>
              </a:rPr>
              <a:t> HashSet quản lý data kiểu String</a:t>
            </a:r>
          </a:p>
          <a:p>
            <a:pPr lvl="1"/>
            <a:r>
              <a:rPr lang="fr-FR" altLang="fr-FR" sz="1800" b="0">
                <a:latin typeface="Arial" panose="020B0604020202020204" pitchFamily="34" charset="0"/>
                <a:ea typeface="ＭＳ ゴシック" panose="020B0609070205080204" pitchFamily="49" charset="-128"/>
              </a:rPr>
              <a:t>HashSet&lt;String&gt; hs = new HashSet&lt;String&gt;();</a:t>
            </a:r>
          </a:p>
          <a:p>
            <a:pPr lvl="1"/>
            <a:endParaRPr lang="fr-FR" altLang="fr-FR" sz="1800" b="0">
              <a:latin typeface="Arial" panose="020B0604020202020204" pitchFamily="34" charset="0"/>
              <a:ea typeface="ＭＳ ゴシック" panose="020B0609070205080204" pitchFamily="49" charset="-128"/>
            </a:endParaRPr>
          </a:p>
          <a:p>
            <a:pPr lvl="1"/>
            <a:r>
              <a:rPr lang="fr-FR" altLang="fr-FR" sz="1800" b="0">
                <a:latin typeface="Arial" panose="020B0604020202020204" pitchFamily="34" charset="0"/>
                <a:ea typeface="ＭＳ ゴシック" panose="020B0609070205080204" pitchFamily="49" charset="-128"/>
              </a:rPr>
              <a:t>//  Thêm phần tử cho HashSet</a:t>
            </a:r>
          </a:p>
          <a:p>
            <a:pPr lvl="1"/>
            <a:r>
              <a:rPr lang="fr-FR" altLang="fr-FR" sz="1800" b="0">
                <a:latin typeface="Arial" panose="020B0604020202020204" pitchFamily="34" charset="0"/>
                <a:ea typeface="ＭＳ ゴシック" panose="020B0609070205080204" pitchFamily="49" charset="-128"/>
              </a:rPr>
              <a:t>hs.add("Hi");      // "Hi"</a:t>
            </a:r>
          </a:p>
          <a:p>
            <a:pPr lvl="1"/>
            <a:endParaRPr lang="fr-FR" altLang="fr-FR" sz="1800" b="0">
              <a:latin typeface="Arial" panose="020B0604020202020204" pitchFamily="34" charset="0"/>
              <a:ea typeface="ＭＳ ゴシック" panose="020B0609070205080204" pitchFamily="49" charset="-128"/>
            </a:endParaRPr>
          </a:p>
          <a:p>
            <a:pPr lvl="1"/>
            <a:r>
              <a:rPr lang="fr-FR" altLang="fr-FR" sz="1800" b="0">
                <a:latin typeface="Arial" panose="020B0604020202020204" pitchFamily="34" charset="0"/>
                <a:ea typeface="ＭＳ ゴシック" panose="020B0609070205080204" pitchFamily="49" charset="-128"/>
              </a:rPr>
              <a:t>//  Lấy và hiển thị tất cả phần tử của HashSet</a:t>
            </a:r>
          </a:p>
          <a:p>
            <a:pPr lvl="1"/>
            <a:r>
              <a:rPr lang="fr-FR" altLang="fr-FR" sz="1800" b="0">
                <a:latin typeface="Arial" panose="020B0604020202020204" pitchFamily="34" charset="0"/>
                <a:ea typeface="ＭＳ ゴシック" panose="020B0609070205080204" pitchFamily="49" charset="-128"/>
              </a:rPr>
              <a:t>for</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(String str</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hs)</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a:t>
            </a:r>
          </a:p>
          <a:p>
            <a:pPr lvl="1"/>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System.out.println(str);</a:t>
            </a:r>
          </a:p>
          <a:p>
            <a:pPr lvl="1"/>
            <a:r>
              <a:rPr lang="fr-FR" altLang="fr-FR" sz="1800" b="0">
                <a:latin typeface="Arial" panose="020B0604020202020204" pitchFamily="34" charset="0"/>
                <a:ea typeface="ＭＳ ゴシック" panose="020B0609070205080204" pitchFamily="49" charset="-128"/>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73BDB-2617-541B-3971-4AA226F4BB5D}"/>
              </a:ext>
            </a:extLst>
          </p:cNvPr>
          <p:cNvSpPr>
            <a:spLocks noGrp="1"/>
          </p:cNvSpPr>
          <p:nvPr>
            <p:ph type="title"/>
          </p:nvPr>
        </p:nvSpPr>
        <p:spPr>
          <a:xfrm>
            <a:off x="344487" y="533400"/>
            <a:ext cx="9217025" cy="490537"/>
          </a:xfrm>
        </p:spPr>
        <p:txBody>
          <a:bodyPr>
            <a:normAutofit fontScale="90000"/>
          </a:bodyPr>
          <a:lstStyle/>
          <a:p>
            <a:r>
              <a:rPr kumimoji="1" lang="en-US" altLang="ja-JP" dirty="0"/>
              <a:t>HashSet: Các method </a:t>
            </a:r>
            <a:r>
              <a:rPr kumimoji="1" lang="en-US" altLang="ja-JP" dirty="0" err="1"/>
              <a:t>chính</a:t>
            </a:r>
            <a:endParaRPr kumimoji="1" lang="ja-JP" altLang="en-US" dirty="0"/>
          </a:p>
        </p:txBody>
      </p:sp>
      <p:sp>
        <p:nvSpPr>
          <p:cNvPr id="4" name="Slide Number Placeholder 3">
            <a:extLst>
              <a:ext uri="{FF2B5EF4-FFF2-40B4-BE49-F238E27FC236}">
                <a16:creationId xmlns:a16="http://schemas.microsoft.com/office/drawing/2014/main" id="{2E737D00-487C-BA3D-7A6B-7B8FF46E1C00}"/>
              </a:ext>
            </a:extLst>
          </p:cNvPr>
          <p:cNvSpPr>
            <a:spLocks noGrp="1"/>
          </p:cNvSpPr>
          <p:nvPr>
            <p:ph type="sldNum" sz="quarter" idx="10"/>
          </p:nvPr>
        </p:nvSpPr>
        <p:spPr/>
        <p:txBody>
          <a:bodyPr/>
          <a:lstStyle/>
          <a:p>
            <a:fld id="{2A23074F-B102-40E4-A99A-14288BCA1A83}" type="slidenum">
              <a:rPr lang="en-US" altLang="ja-JP" smtClean="0"/>
              <a:pPr/>
              <a:t>9</a:t>
            </a:fld>
            <a:endParaRPr lang="en-US" altLang="ja-JP"/>
          </a:p>
        </p:txBody>
      </p:sp>
      <p:graphicFrame>
        <p:nvGraphicFramePr>
          <p:cNvPr id="6" name="Group 58">
            <a:extLst>
              <a:ext uri="{FF2B5EF4-FFF2-40B4-BE49-F238E27FC236}">
                <a16:creationId xmlns:a16="http://schemas.microsoft.com/office/drawing/2014/main" id="{8FE7849A-490F-13DB-B2AC-67D9414DDC81}"/>
              </a:ext>
            </a:extLst>
          </p:cNvPr>
          <p:cNvGraphicFramePr>
            <a:graphicFrameLocks noGrp="1"/>
          </p:cNvGraphicFramePr>
          <p:nvPr>
            <p:extLst>
              <p:ext uri="{D42A27DB-BD31-4B8C-83A1-F6EECF244321}">
                <p14:modId xmlns:p14="http://schemas.microsoft.com/office/powerpoint/2010/main" val="3049631115"/>
              </p:ext>
            </p:extLst>
          </p:nvPr>
        </p:nvGraphicFramePr>
        <p:xfrm>
          <a:off x="533400" y="1721340"/>
          <a:ext cx="8763000" cy="3841260"/>
        </p:xfrm>
        <a:graphic>
          <a:graphicData uri="http://schemas.openxmlformats.org/drawingml/2006/table">
            <a:tbl>
              <a:tblPr/>
              <a:tblGrid>
                <a:gridCol w="3124200">
                  <a:extLst>
                    <a:ext uri="{9D8B030D-6E8A-4147-A177-3AD203B41FA5}">
                      <a16:colId xmlns:a16="http://schemas.microsoft.com/office/drawing/2014/main" val="1377284083"/>
                    </a:ext>
                  </a:extLst>
                </a:gridCol>
                <a:gridCol w="5638800">
                  <a:extLst>
                    <a:ext uri="{9D8B030D-6E8A-4147-A177-3AD203B41FA5}">
                      <a16:colId xmlns:a16="http://schemas.microsoft.com/office/drawing/2014/main" val="881114515"/>
                    </a:ext>
                  </a:extLst>
                </a:gridCol>
              </a:tblGrid>
              <a:tr h="471312">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2705350836"/>
                  </a:ext>
                </a:extLst>
              </a:tr>
              <a:tr h="1213662">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add(E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Nếu</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không</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tồn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tại</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được</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chỉ</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định</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thì</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add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thêm</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vào</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và</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true.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Nếu</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tồn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tại</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thì</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false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45826157"/>
                  </a:ext>
                </a:extLst>
              </a:tr>
              <a:tr h="824812">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contains(Object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Trong trường hợp đang bảo lưu và duy trì phần tử đã được chỉ định thì trả về true.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2551573"/>
                  </a:ext>
                </a:extLst>
              </a:tr>
              <a:tr h="860162">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remove(Object o)</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tồn tại thì xóa phần tử và trả về true.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không tồn tại thì trả về false.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9256795"/>
                  </a:ext>
                </a:extLst>
              </a:tr>
              <a:tr h="471312">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số</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phần</a:t>
                      </a:r>
                      <a:r>
                        <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8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tử</a:t>
                      </a:r>
                      <a:endParaRPr kumimoji="1" lang="en-US" altLang="ja-JP" sz="18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endParaRP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2732604"/>
                  </a:ext>
                </a:extLst>
              </a:tr>
            </a:tbl>
          </a:graphicData>
        </a:graphic>
      </p:graphicFrame>
    </p:spTree>
    <p:extLst>
      <p:ext uri="{BB962C8B-B14F-4D97-AF65-F5344CB8AC3E}">
        <p14:creationId xmlns:p14="http://schemas.microsoft.com/office/powerpoint/2010/main" val="560054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D857F-C263-4752-1782-B818C77CCA07}"/>
              </a:ext>
            </a:extLst>
          </p:cNvPr>
          <p:cNvSpPr>
            <a:spLocks noGrp="1"/>
          </p:cNvSpPr>
          <p:nvPr>
            <p:ph type="title"/>
          </p:nvPr>
        </p:nvSpPr>
        <p:spPr>
          <a:xfrm>
            <a:off x="344488" y="610733"/>
            <a:ext cx="9217025" cy="490537"/>
          </a:xfrm>
        </p:spPr>
        <p:txBody>
          <a:bodyPr>
            <a:normAutofit fontScale="90000"/>
          </a:bodyPr>
          <a:lstStyle/>
          <a:p>
            <a:r>
              <a:rPr kumimoji="1" lang="en-US" altLang="ja-JP" dirty="0"/>
              <a:t>HashSet: </a:t>
            </a:r>
            <a:r>
              <a:rPr kumimoji="1" lang="en-US" altLang="ja-JP" dirty="0" err="1"/>
              <a:t>Ví</a:t>
            </a:r>
            <a:r>
              <a:rPr kumimoji="1" lang="en-US" altLang="ja-JP" dirty="0"/>
              <a:t> </a:t>
            </a:r>
            <a:r>
              <a:rPr kumimoji="1" lang="en-US" altLang="ja-JP" dirty="0" err="1"/>
              <a:t>dụ</a:t>
            </a:r>
            <a:endParaRPr kumimoji="1" lang="ja-JP" altLang="en-US" dirty="0"/>
          </a:p>
        </p:txBody>
      </p:sp>
      <p:sp>
        <p:nvSpPr>
          <p:cNvPr id="3" name="Table Placeholder 2">
            <a:extLst>
              <a:ext uri="{FF2B5EF4-FFF2-40B4-BE49-F238E27FC236}">
                <a16:creationId xmlns:a16="http://schemas.microsoft.com/office/drawing/2014/main" id="{0DB5D3A3-C60E-992D-03A5-05D087C94839}"/>
              </a:ext>
            </a:extLst>
          </p:cNvPr>
          <p:cNvSpPr>
            <a:spLocks noGrp="1"/>
          </p:cNvSpPr>
          <p:nvPr>
            <p:ph type="tbl" idx="1"/>
          </p:nvPr>
        </p:nvSpPr>
        <p:spPr>
          <a:xfrm>
            <a:off x="344488" y="1295400"/>
            <a:ext cx="9217025" cy="5405438"/>
          </a:xfrm>
        </p:spPr>
        <p:txBody>
          <a:bodyPr>
            <a:normAutofit fontScale="85000" lnSpcReduction="20000"/>
          </a:bodyPr>
          <a:lstStyle/>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import java.util.HashSet;</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 </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public class HashSet01</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public static void main(String[] args)</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a:t>
            </a:r>
            <a:r>
              <a:rPr lang="en-US" altLang="ja-JP" sz="1000" dirty="0">
                <a:latin typeface="ＭＳ ゴシック" panose="020B0609070205080204" pitchFamily="49" charset="-128"/>
                <a:ea typeface="ＭＳ ゴシック" panose="020B0609070205080204" pitchFamily="49" charset="-128"/>
              </a:rPr>
              <a:t>Generate/</a:t>
            </a:r>
            <a:r>
              <a:rPr lang="en-US" altLang="ja-JP" sz="1000" dirty="0" err="1">
                <a:latin typeface="ＭＳ ゴシック" panose="020B0609070205080204" pitchFamily="49" charset="-128"/>
                <a:ea typeface="ＭＳ ゴシック" panose="020B0609070205080204" pitchFamily="49" charset="-128"/>
              </a:rPr>
              <a:t>sinh</a:t>
            </a:r>
            <a:r>
              <a:rPr lang="en-US" altLang="ja-JP" sz="1000" dirty="0">
                <a:latin typeface="ＭＳ ゴシック" panose="020B0609070205080204" pitchFamily="49" charset="-128"/>
                <a:ea typeface="ＭＳ ゴシック" panose="020B0609070205080204" pitchFamily="49" charset="-128"/>
              </a:rPr>
              <a:t> HashSet </a:t>
            </a:r>
            <a:r>
              <a:rPr lang="en-US" altLang="ja-JP" sz="1000" dirty="0" err="1">
                <a:latin typeface="ＭＳ ゴシック" panose="020B0609070205080204" pitchFamily="49" charset="-128"/>
                <a:ea typeface="ＭＳ ゴシック" panose="020B0609070205080204" pitchFamily="49" charset="-128"/>
              </a:rPr>
              <a:t>quản</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lý</a:t>
            </a:r>
            <a:r>
              <a:rPr lang="en-US" altLang="ja-JP" sz="1000" dirty="0">
                <a:latin typeface="ＭＳ ゴシック" panose="020B0609070205080204" pitchFamily="49" charset="-128"/>
                <a:ea typeface="ＭＳ ゴシック" panose="020B0609070205080204" pitchFamily="49" charset="-128"/>
              </a:rPr>
              <a:t> data </a:t>
            </a:r>
            <a:r>
              <a:rPr lang="en-US" altLang="ja-JP" sz="1000" dirty="0" err="1">
                <a:latin typeface="ＭＳ ゴシック" panose="020B0609070205080204" pitchFamily="49" charset="-128"/>
                <a:ea typeface="ＭＳ ゴシック" panose="020B0609070205080204" pitchFamily="49" charset="-128"/>
              </a:rPr>
              <a:t>kiểu</a:t>
            </a:r>
            <a:r>
              <a:rPr lang="en-US" altLang="ja-JP" sz="1000" dirty="0">
                <a:latin typeface="ＭＳ ゴシック" panose="020B0609070205080204" pitchFamily="49" charset="-128"/>
                <a:ea typeface="ＭＳ ゴシック" panose="020B0609070205080204" pitchFamily="49" charset="-128"/>
              </a:rPr>
              <a:t> String</a:t>
            </a:r>
            <a:endParaRPr lang="ja-JP" altLang="ja-JP" sz="1000" dirty="0">
              <a:latin typeface="ＭＳ ゴシック" panose="020B0609070205080204" pitchFamily="49" charset="-128"/>
              <a:ea typeface="ＭＳ ゴシック" panose="020B0609070205080204" pitchFamily="49" charset="-128"/>
            </a:endParaRP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HashSet&lt;String&gt; hs = new HashSet&lt;String&gt;();</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 </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a:t>
            </a:r>
            <a:r>
              <a:rPr lang="en-US" altLang="ja-JP" sz="1000" dirty="0">
                <a:ea typeface="ＭＳ ゴシック" panose="020B0609070205080204" pitchFamily="49" charset="-128"/>
              </a:rPr>
              <a:t>Add </a:t>
            </a:r>
            <a:r>
              <a:rPr lang="en-US" altLang="ja-JP" sz="1000" dirty="0" err="1">
                <a:ea typeface="ＭＳ ゴシック" panose="020B0609070205080204" pitchFamily="49" charset="-128"/>
              </a:rPr>
              <a:t>thêm</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phần</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tử</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cho</a:t>
            </a:r>
            <a:r>
              <a:rPr lang="en-US" altLang="ja-JP" sz="1000" dirty="0">
                <a:ea typeface="ＭＳ ゴシック" panose="020B0609070205080204" pitchFamily="49" charset="-128"/>
              </a:rPr>
              <a:t> </a:t>
            </a:r>
            <a:r>
              <a:rPr lang="ja-JP" altLang="ja-JP" sz="1000" dirty="0">
                <a:ea typeface="ＭＳ ゴシック" panose="020B0609070205080204" pitchFamily="49" charset="-128"/>
              </a:rPr>
              <a:t>HashSet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hs.add("Hi");      // "Hi"</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hs.add("Hello");   // "Hi" "Hello"</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hs.add("Java");   </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"Hi" "Hello" "Java"</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 </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a:t>
            </a:r>
            <a:r>
              <a:rPr lang="en-US" altLang="ja-JP" sz="1000" dirty="0" err="1">
                <a:ea typeface="ＭＳ ゴシック" panose="020B0609070205080204" pitchFamily="49" charset="-128"/>
              </a:rPr>
              <a:t>Lấy</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và</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hiển</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thị</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số</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phần</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tử</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của</a:t>
            </a:r>
            <a:r>
              <a:rPr lang="en-US" altLang="ja-JP" sz="1000" dirty="0">
                <a:ea typeface="ＭＳ ゴシック" panose="020B0609070205080204" pitchFamily="49" charset="-128"/>
              </a:rPr>
              <a:t> </a:t>
            </a:r>
            <a:r>
              <a:rPr lang="ja-JP" altLang="ja-JP" sz="1000" dirty="0">
                <a:ea typeface="ＭＳ ゴシック" panose="020B0609070205080204" pitchFamily="49" charset="-128"/>
              </a:rPr>
              <a:t>HashSet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System.out.println(“</a:t>
            </a:r>
            <a:r>
              <a:rPr lang="ja-JP" altLang="ja-JP" sz="1000" dirty="0">
                <a:ea typeface="ＭＳ ゴシック" panose="020B0609070205080204" pitchFamily="49" charset="-128"/>
              </a:rPr>
              <a:t>size</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trước</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khi</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xóa</a:t>
            </a:r>
            <a:r>
              <a:rPr lang="ja-JP" altLang="ja-JP" sz="1000" dirty="0">
                <a:latin typeface="ＭＳ ゴシック" panose="020B0609070205080204" pitchFamily="49" charset="-128"/>
                <a:ea typeface="ＭＳ ゴシック" panose="020B0609070205080204" pitchFamily="49" charset="-128"/>
              </a:rPr>
              <a:t>:" +  hs.size()</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 </a:t>
            </a:r>
          </a:p>
          <a:p>
            <a:pPr marL="187325" lvl="1" indent="0">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a:t>
            </a:r>
            <a:r>
              <a:rPr lang="en-US" altLang="ja-JP" sz="1000" dirty="0">
                <a:latin typeface="ＭＳ ゴシック" panose="020B0609070205080204" pitchFamily="49" charset="-128"/>
                <a:ea typeface="ＭＳ ゴシック" panose="020B0609070205080204" pitchFamily="49" charset="-128"/>
              </a:rPr>
              <a:t>Delete </a:t>
            </a:r>
            <a:r>
              <a:rPr lang="en-US" altLang="ja-JP" sz="1000" dirty="0" err="1">
                <a:latin typeface="ＭＳ ゴシック" panose="020B0609070205080204" pitchFamily="49" charset="-128"/>
                <a:ea typeface="ＭＳ ゴシック" panose="020B0609070205080204" pitchFamily="49" charset="-128"/>
              </a:rPr>
              <a:t>trong</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trường</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hợp</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tồn</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tại</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phần</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tử</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đã</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chỉ</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định</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trongHashSet</a:t>
            </a:r>
            <a:endParaRPr lang="ja-JP" altLang="ja-JP" sz="1000" dirty="0">
              <a:latin typeface="ＭＳ ゴシック" panose="020B0609070205080204" pitchFamily="49" charset="-128"/>
              <a:ea typeface="ＭＳ ゴシック" panose="020B0609070205080204" pitchFamily="49" charset="-128"/>
            </a:endParaRP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if ( hs.remove("Hello") ) {</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System.out.println(</a:t>
            </a:r>
            <a:r>
              <a:rPr lang="en-US" altLang="ja-JP" sz="1000" dirty="0" err="1">
                <a:latin typeface="ＭＳ ゴシック" panose="020B0609070205080204" pitchFamily="49" charset="-128"/>
                <a:ea typeface="ＭＳ ゴシック" panose="020B0609070205080204" pitchFamily="49" charset="-128"/>
              </a:rPr>
              <a:t>Đ</a:t>
            </a:r>
            <a:r>
              <a:rPr lang="en-US" altLang="ja-JP" sz="1000" dirty="0" err="1">
                <a:ea typeface="ＭＳ ゴシック" panose="020B0609070205080204" pitchFamily="49" charset="-128"/>
              </a:rPr>
              <a:t>a</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xóa</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r>
              <a:rPr lang="en-US" altLang="ja-JP" sz="1000" dirty="0" err="1">
                <a:ea typeface="ＭＳ ゴシック" panose="020B0609070205080204" pitchFamily="49" charset="-128"/>
              </a:rPr>
              <a:t>phần</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tư</a:t>
            </a:r>
            <a:r>
              <a:rPr lang="en-US" altLang="ja-JP" sz="1000" dirty="0">
                <a:ea typeface="ＭＳ ゴシック" panose="020B0609070205080204" pitchFamily="49" charset="-128"/>
              </a:rPr>
              <a:t>̉</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\"Hello\"");</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else {</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System.out.println(“</a:t>
            </a:r>
            <a:r>
              <a:rPr lang="en-US" altLang="ja-JP" sz="1000" dirty="0" err="1">
                <a:ea typeface="ＭＳ ゴシック" panose="020B0609070205080204" pitchFamily="49" charset="-128"/>
              </a:rPr>
              <a:t>Phần</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tư</a:t>
            </a:r>
            <a:r>
              <a:rPr lang="en-US" altLang="ja-JP" sz="1000" dirty="0">
                <a:ea typeface="ＭＳ ゴシック" panose="020B0609070205080204" pitchFamily="49" charset="-128"/>
              </a:rPr>
              <a:t>̉</a:t>
            </a:r>
            <a:r>
              <a:rPr lang="ja-JP" altLang="ja-JP" sz="1000" dirty="0">
                <a:latin typeface="ＭＳ ゴシック" panose="020B0609070205080204" pitchFamily="49" charset="-128"/>
                <a:ea typeface="ＭＳ ゴシック" panose="020B0609070205080204" pitchFamily="49" charset="-128"/>
              </a:rPr>
              <a:t>\”Hello\“</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ea typeface="ＭＳ ゴシック" panose="020B0609070205080204" pitchFamily="49" charset="-128"/>
              </a:rPr>
              <a:t>không</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tồn</a:t>
            </a:r>
            <a:r>
              <a:rPr lang="en-US" altLang="ja-JP" sz="1000" dirty="0">
                <a:ea typeface="ＭＳ ゴシック" panose="020B0609070205080204" pitchFamily="49" charset="-128"/>
              </a:rPr>
              <a:t> </a:t>
            </a:r>
            <a:r>
              <a:rPr lang="en-US" altLang="ja-JP" sz="1000" dirty="0" err="1">
                <a:ea typeface="ＭＳ ゴシック" panose="020B0609070205080204" pitchFamily="49" charset="-128"/>
              </a:rPr>
              <a:t>tại</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 </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Lấy</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và</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hiển</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thị</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tất</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cả</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phần</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tử</a:t>
            </a:r>
            <a:r>
              <a:rPr lang="en-US" altLang="ja-JP" sz="1000" dirty="0">
                <a:latin typeface="ＭＳ ゴシック" panose="020B0609070205080204" pitchFamily="49" charset="-128"/>
                <a:ea typeface="ＭＳ ゴシック" panose="020B0609070205080204" pitchFamily="49" charset="-128"/>
              </a:rPr>
              <a:t> </a:t>
            </a:r>
            <a:r>
              <a:rPr lang="en-US" altLang="ja-JP" sz="1000" dirty="0" err="1">
                <a:latin typeface="ＭＳ ゴシック" panose="020B0609070205080204" pitchFamily="49" charset="-128"/>
                <a:ea typeface="ＭＳ ゴシック" panose="020B0609070205080204" pitchFamily="49" charset="-128"/>
              </a:rPr>
              <a:t>của</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HashSet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for</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(String str</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hs)</a:t>
            </a: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System.out.println(str);</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en-US" altLang="ja-JP" sz="1000" dirty="0">
                <a:latin typeface="ＭＳ ゴシック" panose="020B0609070205080204" pitchFamily="49" charset="-128"/>
                <a:ea typeface="ＭＳ ゴシック" panose="020B0609070205080204" pitchFamily="49" charset="-128"/>
              </a:rPr>
              <a:t>    </a:t>
            </a:r>
            <a:r>
              <a:rPr lang="ja-JP" altLang="ja-JP" sz="1000" dirty="0">
                <a:latin typeface="ＭＳ ゴシック" panose="020B0609070205080204" pitchFamily="49" charset="-128"/>
                <a:ea typeface="ＭＳ ゴシック" panose="020B0609070205080204" pitchFamily="49" charset="-128"/>
              </a:rPr>
              <a:t>}</a:t>
            </a:r>
          </a:p>
          <a:p>
            <a:pPr marL="187325" lvl="1" indent="0" algn="just">
              <a:lnSpc>
                <a:spcPct val="130000"/>
              </a:lnSpc>
              <a:buNone/>
            </a:pPr>
            <a:r>
              <a:rPr lang="ja-JP" altLang="ja-JP" sz="1000" dirty="0">
                <a:latin typeface="ＭＳ ゴシック" panose="020B0609070205080204" pitchFamily="49" charset="-128"/>
                <a:ea typeface="ＭＳ ゴシック" panose="020B0609070205080204" pitchFamily="49" charset="-128"/>
              </a:rPr>
              <a:t>}</a:t>
            </a:r>
          </a:p>
          <a:p>
            <a:pPr marL="0" indent="0">
              <a:buNone/>
            </a:pPr>
            <a:endParaRPr lang="ja-JP" altLang="en-US" sz="1100" dirty="0"/>
          </a:p>
        </p:txBody>
      </p:sp>
      <p:sp>
        <p:nvSpPr>
          <p:cNvPr id="4" name="Slide Number Placeholder 3">
            <a:extLst>
              <a:ext uri="{FF2B5EF4-FFF2-40B4-BE49-F238E27FC236}">
                <a16:creationId xmlns:a16="http://schemas.microsoft.com/office/drawing/2014/main" id="{185E0176-4233-2385-2BC8-B473BF9D45A5}"/>
              </a:ext>
            </a:extLst>
          </p:cNvPr>
          <p:cNvSpPr>
            <a:spLocks noGrp="1"/>
          </p:cNvSpPr>
          <p:nvPr>
            <p:ph type="sldNum" sz="quarter" idx="10"/>
          </p:nvPr>
        </p:nvSpPr>
        <p:spPr/>
        <p:txBody>
          <a:bodyPr/>
          <a:lstStyle/>
          <a:p>
            <a:fld id="{2A23074F-B102-40E4-A99A-14288BCA1A83}" type="slidenum">
              <a:rPr lang="en-US" altLang="ja-JP" smtClean="0"/>
              <a:pPr/>
              <a:t>10</a:t>
            </a:fld>
            <a:endParaRPr lang="en-US" altLang="ja-JP"/>
          </a:p>
        </p:txBody>
      </p:sp>
      <p:sp>
        <p:nvSpPr>
          <p:cNvPr id="6" name="AutoShape 34">
            <a:extLst>
              <a:ext uri="{FF2B5EF4-FFF2-40B4-BE49-F238E27FC236}">
                <a16:creationId xmlns:a16="http://schemas.microsoft.com/office/drawing/2014/main" id="{13DF8887-E837-9DA2-3BDC-9C4A1C83FC57}"/>
              </a:ext>
            </a:extLst>
          </p:cNvPr>
          <p:cNvSpPr>
            <a:spLocks noChangeArrowheads="1"/>
          </p:cNvSpPr>
          <p:nvPr/>
        </p:nvSpPr>
        <p:spPr bwMode="auto">
          <a:xfrm>
            <a:off x="5930900" y="3065462"/>
            <a:ext cx="2387600" cy="769938"/>
          </a:xfrm>
          <a:prstGeom prst="roundRect">
            <a:avLst>
              <a:gd name="adj" fmla="val 16667"/>
            </a:avLst>
          </a:prstGeom>
          <a:solidFill>
            <a:srgbClr val="FFFFCC">
              <a:alpha val="50000"/>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1"/>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a:latin typeface="MS UI Gothic" panose="020B0600070205080204" pitchFamily="50" charset="-128"/>
                <a:ea typeface="MS UI Gothic" panose="020B0600070205080204" pitchFamily="50" charset="-128"/>
              </a:rPr>
              <a:t>HashSet</a:t>
            </a:r>
          </a:p>
        </p:txBody>
      </p:sp>
      <p:sp>
        <p:nvSpPr>
          <p:cNvPr id="8" name="AutoShape 39">
            <a:extLst>
              <a:ext uri="{FF2B5EF4-FFF2-40B4-BE49-F238E27FC236}">
                <a16:creationId xmlns:a16="http://schemas.microsoft.com/office/drawing/2014/main" id="{021286FA-0C43-AB7E-2F9C-CAAF4725C816}"/>
              </a:ext>
            </a:extLst>
          </p:cNvPr>
          <p:cNvSpPr>
            <a:spLocks noChangeArrowheads="1"/>
          </p:cNvSpPr>
          <p:nvPr/>
        </p:nvSpPr>
        <p:spPr bwMode="auto">
          <a:xfrm>
            <a:off x="5930900" y="2133600"/>
            <a:ext cx="2933700" cy="585725"/>
          </a:xfrm>
          <a:prstGeom prst="wedgeRoundRectCallout">
            <a:avLst>
              <a:gd name="adj1" fmla="val -32426"/>
              <a:gd name="adj2" fmla="val 10884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Tập hợp của giá trị không trùng lặp</a:t>
            </a:r>
          </a:p>
        </p:txBody>
      </p:sp>
      <p:sp>
        <p:nvSpPr>
          <p:cNvPr id="10" name="Rectangle 35">
            <a:extLst>
              <a:ext uri="{FF2B5EF4-FFF2-40B4-BE49-F238E27FC236}">
                <a16:creationId xmlns:a16="http://schemas.microsoft.com/office/drawing/2014/main" id="{E8D7D922-1C6C-FA62-A3C3-FB602BA08161}"/>
              </a:ext>
            </a:extLst>
          </p:cNvPr>
          <p:cNvSpPr>
            <a:spLocks noChangeArrowheads="1"/>
          </p:cNvSpPr>
          <p:nvPr/>
        </p:nvSpPr>
        <p:spPr bwMode="auto">
          <a:xfrm>
            <a:off x="6254750" y="3323431"/>
            <a:ext cx="460375" cy="201612"/>
          </a:xfrm>
          <a:prstGeom prst="rect">
            <a:avLst/>
          </a:prstGeom>
          <a:solidFill>
            <a:srgbClr val="CCFFFF">
              <a:alpha val="50000"/>
            </a:srgbClr>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a:latin typeface="MS UI Gothic" panose="020B0600070205080204" pitchFamily="50" charset="-128"/>
                <a:ea typeface="MS UI Gothic" panose="020B0600070205080204" pitchFamily="50" charset="-128"/>
              </a:rPr>
              <a:t>"Hi"</a:t>
            </a:r>
          </a:p>
        </p:txBody>
      </p:sp>
      <p:sp>
        <p:nvSpPr>
          <p:cNvPr id="12" name="Rectangle 36">
            <a:extLst>
              <a:ext uri="{FF2B5EF4-FFF2-40B4-BE49-F238E27FC236}">
                <a16:creationId xmlns:a16="http://schemas.microsoft.com/office/drawing/2014/main" id="{63A236F3-565B-32A0-803D-2FF261738DF4}"/>
              </a:ext>
            </a:extLst>
          </p:cNvPr>
          <p:cNvSpPr>
            <a:spLocks noChangeArrowheads="1"/>
          </p:cNvSpPr>
          <p:nvPr/>
        </p:nvSpPr>
        <p:spPr bwMode="auto">
          <a:xfrm>
            <a:off x="7696200" y="3328193"/>
            <a:ext cx="460375" cy="201613"/>
          </a:xfrm>
          <a:prstGeom prst="rect">
            <a:avLst/>
          </a:prstGeom>
          <a:solidFill>
            <a:srgbClr val="CCFFFF">
              <a:alpha val="50000"/>
            </a:srgbClr>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a:latin typeface="MS UI Gothic" panose="020B0600070205080204" pitchFamily="50" charset="-128"/>
                <a:ea typeface="MS UI Gothic" panose="020B0600070205080204" pitchFamily="50" charset="-128"/>
              </a:rPr>
              <a:t>"Hello"</a:t>
            </a:r>
          </a:p>
        </p:txBody>
      </p:sp>
      <p:sp>
        <p:nvSpPr>
          <p:cNvPr id="14" name="Rectangle 37">
            <a:extLst>
              <a:ext uri="{FF2B5EF4-FFF2-40B4-BE49-F238E27FC236}">
                <a16:creationId xmlns:a16="http://schemas.microsoft.com/office/drawing/2014/main" id="{59B9130E-DD06-83D8-C95F-82E559D69CF8}"/>
              </a:ext>
            </a:extLst>
          </p:cNvPr>
          <p:cNvSpPr>
            <a:spLocks noChangeArrowheads="1"/>
          </p:cNvSpPr>
          <p:nvPr/>
        </p:nvSpPr>
        <p:spPr bwMode="auto">
          <a:xfrm>
            <a:off x="6948487" y="3550443"/>
            <a:ext cx="460375" cy="201613"/>
          </a:xfrm>
          <a:prstGeom prst="rect">
            <a:avLst/>
          </a:prstGeom>
          <a:solidFill>
            <a:srgbClr val="CCFFFF">
              <a:alpha val="50000"/>
            </a:srgbClr>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900">
                <a:latin typeface="MS UI Gothic" panose="020B0600070205080204" pitchFamily="50" charset="-128"/>
                <a:ea typeface="MS UI Gothic" panose="020B0600070205080204" pitchFamily="50" charset="-128"/>
              </a:rPr>
              <a:t>"Java"</a:t>
            </a:r>
          </a:p>
        </p:txBody>
      </p:sp>
      <p:sp>
        <p:nvSpPr>
          <p:cNvPr id="16" name="Rectangle 5">
            <a:extLst>
              <a:ext uri="{FF2B5EF4-FFF2-40B4-BE49-F238E27FC236}">
                <a16:creationId xmlns:a16="http://schemas.microsoft.com/office/drawing/2014/main" id="{B0DD285E-CBD8-C1CE-0BA5-DA34CEAECA81}"/>
              </a:ext>
            </a:extLst>
          </p:cNvPr>
          <p:cNvSpPr>
            <a:spLocks noChangeArrowheads="1"/>
          </p:cNvSpPr>
          <p:nvPr/>
        </p:nvSpPr>
        <p:spPr bwMode="auto">
          <a:xfrm>
            <a:off x="971551" y="2245487"/>
            <a:ext cx="3003550" cy="18097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8" name="Rectangle 5">
            <a:extLst>
              <a:ext uri="{FF2B5EF4-FFF2-40B4-BE49-F238E27FC236}">
                <a16:creationId xmlns:a16="http://schemas.microsoft.com/office/drawing/2014/main" id="{9E654298-20A7-EBC0-03AD-9452AFFB1AB4}"/>
              </a:ext>
            </a:extLst>
          </p:cNvPr>
          <p:cNvSpPr>
            <a:spLocks noChangeArrowheads="1"/>
          </p:cNvSpPr>
          <p:nvPr/>
        </p:nvSpPr>
        <p:spPr bwMode="auto">
          <a:xfrm>
            <a:off x="971551" y="2720834"/>
            <a:ext cx="3003550" cy="58572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0" name="Rectangle 5">
            <a:extLst>
              <a:ext uri="{FF2B5EF4-FFF2-40B4-BE49-F238E27FC236}">
                <a16:creationId xmlns:a16="http://schemas.microsoft.com/office/drawing/2014/main" id="{1723EA7E-716F-12B1-6834-5C95B0630323}"/>
              </a:ext>
            </a:extLst>
          </p:cNvPr>
          <p:cNvSpPr>
            <a:spLocks noChangeArrowheads="1"/>
          </p:cNvSpPr>
          <p:nvPr/>
        </p:nvSpPr>
        <p:spPr bwMode="auto">
          <a:xfrm>
            <a:off x="971552" y="4191000"/>
            <a:ext cx="3003550" cy="18097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22" name="Rectangle 5">
            <a:extLst>
              <a:ext uri="{FF2B5EF4-FFF2-40B4-BE49-F238E27FC236}">
                <a16:creationId xmlns:a16="http://schemas.microsoft.com/office/drawing/2014/main" id="{7F3C1447-8FA1-90DA-F6F7-E38F9E3A6A17}"/>
              </a:ext>
            </a:extLst>
          </p:cNvPr>
          <p:cNvSpPr>
            <a:spLocks noChangeArrowheads="1"/>
          </p:cNvSpPr>
          <p:nvPr/>
        </p:nvSpPr>
        <p:spPr bwMode="auto">
          <a:xfrm>
            <a:off x="914400" y="5381625"/>
            <a:ext cx="3003550" cy="58572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Tree>
    <p:extLst>
      <p:ext uri="{BB962C8B-B14F-4D97-AF65-F5344CB8AC3E}">
        <p14:creationId xmlns:p14="http://schemas.microsoft.com/office/powerpoint/2010/main" val="1112364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9D9F6-69CB-5D90-E8F3-BF02EAA80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CD1A3B-DB28-C034-2DE8-7B9DB78BDFBE}"/>
              </a:ext>
            </a:extLst>
          </p:cNvPr>
          <p:cNvSpPr>
            <a:spLocks noGrp="1"/>
          </p:cNvSpPr>
          <p:nvPr>
            <p:ph type="title"/>
          </p:nvPr>
        </p:nvSpPr>
        <p:spPr>
          <a:xfrm>
            <a:off x="344488" y="490554"/>
            <a:ext cx="9217025" cy="490537"/>
          </a:xfrm>
        </p:spPr>
        <p:txBody>
          <a:bodyPr>
            <a:normAutofit fontScale="90000"/>
          </a:bodyPr>
          <a:lstStyle/>
          <a:p>
            <a:r>
              <a:rPr lang="en-US" altLang="ja-JP" b="1" dirty="0" err="1"/>
              <a:t>Bài</a:t>
            </a:r>
            <a:r>
              <a:rPr lang="en-US" altLang="ja-JP" b="1" dirty="0"/>
              <a:t> </a:t>
            </a:r>
            <a:r>
              <a:rPr lang="en-US" altLang="ja-JP" b="1" dirty="0" err="1"/>
              <a:t>tập</a:t>
            </a:r>
            <a:r>
              <a:rPr lang="en-US" altLang="ja-JP" b="1" dirty="0"/>
              <a:t>: HashSet class</a:t>
            </a:r>
            <a:endParaRPr kumimoji="1" lang="ja-JP" altLang="en-US" dirty="0"/>
          </a:p>
        </p:txBody>
      </p:sp>
      <p:sp>
        <p:nvSpPr>
          <p:cNvPr id="3" name="Table Placeholder 2">
            <a:extLst>
              <a:ext uri="{FF2B5EF4-FFF2-40B4-BE49-F238E27FC236}">
                <a16:creationId xmlns:a16="http://schemas.microsoft.com/office/drawing/2014/main" id="{22C80431-61FA-FD0D-3F2F-943FBCFBF932}"/>
              </a:ext>
            </a:extLst>
          </p:cNvPr>
          <p:cNvSpPr>
            <a:spLocks noGrp="1"/>
          </p:cNvSpPr>
          <p:nvPr>
            <p:ph type="tbl" idx="1"/>
          </p:nvPr>
        </p:nvSpPr>
        <p:spPr>
          <a:xfrm>
            <a:off x="344489" y="1143000"/>
            <a:ext cx="8865502" cy="5557838"/>
          </a:xfrm>
        </p:spPr>
        <p:txBody>
          <a:bodyPr>
            <a:normAutofit/>
          </a:bodyPr>
          <a:lstStyle/>
          <a:p>
            <a:pPr marL="0" indent="0" algn="just">
              <a:buNone/>
            </a:pPr>
            <a:r>
              <a:rPr lang="vi-VN" altLang="ja-JP" sz="2000" b="1" i="1" dirty="0">
                <a:latin typeface="+mj-lt"/>
              </a:rPr>
              <a:t>Lưu chuỗi kí tự đã chỉ định khi thực hiện vào HashSet. Sau khi hiển thị số phần tử của HashSet, lấy ra từng giá trị đã lưu và hiển thị (trường hợp đã chỉ thị giá trị bị trùng lặp thì sẽ không được lưu vào HashSet).</a:t>
            </a:r>
            <a:endParaRPr lang="en-US" altLang="ja-JP" sz="2000" b="1" i="1" dirty="0">
              <a:latin typeface="+mj-lt"/>
            </a:endParaRPr>
          </a:p>
          <a:p>
            <a:pPr algn="just"/>
            <a:endParaRPr lang="en-US" altLang="ja-JP" sz="1800" b="1" dirty="0">
              <a:latin typeface="+mj-lt"/>
            </a:endParaRPr>
          </a:p>
          <a:p>
            <a:pPr algn="just"/>
            <a:r>
              <a:rPr lang="en-US" altLang="ja-JP" sz="1800" b="1" dirty="0">
                <a:latin typeface="+mj-lt"/>
              </a:rPr>
              <a:t>Class </a:t>
            </a:r>
            <a:r>
              <a:rPr lang="en-US" altLang="ja-JP" sz="1800" b="1" dirty="0" err="1">
                <a:latin typeface="+mj-lt"/>
              </a:rPr>
              <a:t>định</a:t>
            </a:r>
            <a:r>
              <a:rPr lang="en-US" altLang="ja-JP" sz="1800" b="1" dirty="0">
                <a:latin typeface="+mj-lt"/>
              </a:rPr>
              <a:t> </a:t>
            </a:r>
            <a:r>
              <a:rPr lang="en-US" altLang="ja-JP" sz="1800" b="1" dirty="0" err="1">
                <a:latin typeface="+mj-lt"/>
              </a:rPr>
              <a:t>nghĩa</a:t>
            </a:r>
            <a:endParaRPr lang="en-US" altLang="ja-JP" sz="1800" b="1" dirty="0">
              <a:latin typeface="+mj-lt"/>
            </a:endParaRPr>
          </a:p>
          <a:p>
            <a:pPr algn="just"/>
            <a:endParaRPr lang="en-US" altLang="ja-JP" sz="1800" b="1" dirty="0">
              <a:latin typeface="+mj-lt"/>
            </a:endParaRPr>
          </a:p>
          <a:p>
            <a:pPr algn="just"/>
            <a:endParaRPr lang="en-US" altLang="ja-JP" sz="1800" b="1" dirty="0">
              <a:latin typeface="+mj-lt"/>
            </a:endParaRPr>
          </a:p>
          <a:p>
            <a:pPr algn="just"/>
            <a:r>
              <a:rPr lang="en-US" altLang="ja-JP" sz="1800" b="1" dirty="0">
                <a:latin typeface="+mj-lt"/>
              </a:rPr>
              <a:t>Compile/ </a:t>
            </a:r>
            <a:r>
              <a:rPr lang="en-US" altLang="ja-JP" sz="1800" b="1" dirty="0" err="1">
                <a:latin typeface="+mj-lt"/>
              </a:rPr>
              <a:t>Kết</a:t>
            </a:r>
            <a:r>
              <a:rPr lang="en-US" altLang="ja-JP" sz="1800" b="1" dirty="0">
                <a:latin typeface="+mj-lt"/>
              </a:rPr>
              <a:t> </a:t>
            </a:r>
            <a:r>
              <a:rPr lang="en-US" altLang="ja-JP" sz="1800" b="1" dirty="0" err="1">
                <a:latin typeface="+mj-lt"/>
              </a:rPr>
              <a:t>quả</a:t>
            </a:r>
            <a:endParaRPr lang="en-US" altLang="ja-JP" sz="1800" b="1" dirty="0">
              <a:latin typeface="+mj-lt"/>
            </a:endParaRPr>
          </a:p>
          <a:p>
            <a:pPr marL="0" indent="0" algn="just">
              <a:buNone/>
            </a:pPr>
            <a:r>
              <a:rPr lang="en-US" altLang="ja-JP" sz="1800" b="1" dirty="0" err="1">
                <a:latin typeface="+mj-lt"/>
              </a:rPr>
              <a:t>thực</a:t>
            </a:r>
            <a:r>
              <a:rPr lang="en-US" altLang="ja-JP" sz="1800" b="1" dirty="0">
                <a:latin typeface="+mj-lt"/>
              </a:rPr>
              <a:t> </a:t>
            </a:r>
            <a:r>
              <a:rPr lang="en-US" altLang="ja-JP" sz="1800" b="1" dirty="0" err="1">
                <a:latin typeface="+mj-lt"/>
              </a:rPr>
              <a:t>hiện</a:t>
            </a:r>
            <a:endParaRPr lang="en-US" altLang="ja-JP" sz="1800" b="1" dirty="0">
              <a:latin typeface="+mj-lt"/>
            </a:endParaRPr>
          </a:p>
          <a:p>
            <a:pPr marL="0" indent="0" algn="just">
              <a:buNone/>
            </a:pPr>
            <a:endParaRPr lang="en-US" altLang="ja-JP" sz="1800" b="1" dirty="0">
              <a:latin typeface="+mj-lt"/>
            </a:endParaRPr>
          </a:p>
          <a:p>
            <a:pPr marL="0" indent="0" algn="just">
              <a:buNone/>
            </a:pPr>
            <a:endParaRPr lang="en-US" altLang="ja-JP" sz="1800" b="1" dirty="0">
              <a:latin typeface="+mj-lt"/>
            </a:endParaRPr>
          </a:p>
          <a:p>
            <a:pPr marL="0" indent="0" algn="just">
              <a:buNone/>
            </a:pPr>
            <a:endParaRPr lang="en-US" altLang="ja-JP" sz="1800" b="1" dirty="0">
              <a:latin typeface="+mj-lt"/>
            </a:endParaRPr>
          </a:p>
          <a:p>
            <a:pPr algn="just"/>
            <a:endParaRPr lang="en-US" altLang="ja-JP" sz="1800" b="1" dirty="0">
              <a:latin typeface="+mj-lt"/>
            </a:endParaRPr>
          </a:p>
          <a:p>
            <a:pPr algn="just"/>
            <a:r>
              <a:rPr lang="en-US" altLang="ja-JP" sz="1800" b="1" dirty="0" err="1">
                <a:latin typeface="+mj-lt"/>
              </a:rPr>
              <a:t>Gợi</a:t>
            </a:r>
            <a:r>
              <a:rPr lang="en-US" altLang="ja-JP" sz="1800" b="1" dirty="0">
                <a:latin typeface="+mj-lt"/>
              </a:rPr>
              <a:t> ý:</a:t>
            </a:r>
          </a:p>
          <a:p>
            <a:pPr algn="just"/>
            <a:endParaRPr lang="ja-JP" altLang="ja-JP" sz="1800" dirty="0">
              <a:latin typeface="+mj-lt"/>
            </a:endParaRPr>
          </a:p>
          <a:p>
            <a:pPr algn="just"/>
            <a:endParaRPr lang="ja-JP" altLang="en-US" sz="2400" dirty="0">
              <a:latin typeface="+mj-lt"/>
            </a:endParaRPr>
          </a:p>
        </p:txBody>
      </p:sp>
      <p:graphicFrame>
        <p:nvGraphicFramePr>
          <p:cNvPr id="5" name="Table 4">
            <a:extLst>
              <a:ext uri="{FF2B5EF4-FFF2-40B4-BE49-F238E27FC236}">
                <a16:creationId xmlns:a16="http://schemas.microsoft.com/office/drawing/2014/main" id="{14B0427C-D727-55C8-59EC-937756423C9E}"/>
              </a:ext>
            </a:extLst>
          </p:cNvPr>
          <p:cNvGraphicFramePr>
            <a:graphicFrameLocks noGrp="1"/>
          </p:cNvGraphicFramePr>
          <p:nvPr>
            <p:extLst>
              <p:ext uri="{D42A27DB-BD31-4B8C-83A1-F6EECF244321}">
                <p14:modId xmlns:p14="http://schemas.microsoft.com/office/powerpoint/2010/main" val="2452978894"/>
              </p:ext>
            </p:extLst>
          </p:nvPr>
        </p:nvGraphicFramePr>
        <p:xfrm>
          <a:off x="3733800" y="2419814"/>
          <a:ext cx="5476190" cy="598551"/>
        </p:xfrm>
        <a:graphic>
          <a:graphicData uri="http://schemas.openxmlformats.org/drawingml/2006/table">
            <a:tbl>
              <a:tblPr firstRow="1" firstCol="1" bandRow="1" bandCol="1">
                <a:tableStyleId>{5C22544A-7EE6-4342-B048-85BDC9FD1C3A}</a:tableStyleId>
              </a:tblPr>
              <a:tblGrid>
                <a:gridCol w="1272011">
                  <a:extLst>
                    <a:ext uri="{9D8B030D-6E8A-4147-A177-3AD203B41FA5}">
                      <a16:colId xmlns:a16="http://schemas.microsoft.com/office/drawing/2014/main" val="3648942956"/>
                    </a:ext>
                  </a:extLst>
                </a:gridCol>
                <a:gridCol w="1660158">
                  <a:extLst>
                    <a:ext uri="{9D8B030D-6E8A-4147-A177-3AD203B41FA5}">
                      <a16:colId xmlns:a16="http://schemas.microsoft.com/office/drawing/2014/main" val="3324114469"/>
                    </a:ext>
                  </a:extLst>
                </a:gridCol>
                <a:gridCol w="1481960">
                  <a:extLst>
                    <a:ext uri="{9D8B030D-6E8A-4147-A177-3AD203B41FA5}">
                      <a16:colId xmlns:a16="http://schemas.microsoft.com/office/drawing/2014/main" val="3980107212"/>
                    </a:ext>
                  </a:extLst>
                </a:gridCol>
                <a:gridCol w="1062061">
                  <a:extLst>
                    <a:ext uri="{9D8B030D-6E8A-4147-A177-3AD203B41FA5}">
                      <a16:colId xmlns:a16="http://schemas.microsoft.com/office/drawing/2014/main" val="2065984994"/>
                    </a:ext>
                  </a:extLst>
                </a:gridCol>
              </a:tblGrid>
              <a:tr h="252095">
                <a:tc>
                  <a:txBody>
                    <a:bodyPr/>
                    <a:lstStyle/>
                    <a:p>
                      <a:pPr marL="66675" indent="66675" algn="ctr" hangingPunct="0">
                        <a:lnSpc>
                          <a:spcPct val="106061"/>
                        </a:lnSpc>
                        <a:buNone/>
                      </a:pPr>
                      <a:r>
                        <a:rPr lang="en-US" sz="1100" kern="1000" spc="70">
                          <a:effectLst/>
                        </a:rPr>
                        <a:t>Class name</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ctr" hangingPunct="0">
                        <a:lnSpc>
                          <a:spcPct val="106061"/>
                        </a:lnSpc>
                        <a:buNone/>
                      </a:pPr>
                      <a:r>
                        <a:rPr lang="en-US" sz="1100" kern="1000" spc="70">
                          <a:effectLst/>
                        </a:rPr>
                        <a:t>Folder sử dụng</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ctr" hangingPunct="0">
                        <a:lnSpc>
                          <a:spcPct val="106061"/>
                        </a:lnSpc>
                        <a:buNone/>
                      </a:pPr>
                      <a:r>
                        <a:rPr lang="en-US" sz="1100" kern="1000" spc="70">
                          <a:effectLst/>
                        </a:rPr>
                        <a:t>File name</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ctr" hangingPunct="0">
                        <a:lnSpc>
                          <a:spcPct val="106061"/>
                        </a:lnSpc>
                        <a:buNone/>
                      </a:pPr>
                      <a:r>
                        <a:rPr lang="en-US" sz="1100" kern="1000" spc="70">
                          <a:effectLst/>
                        </a:rPr>
                        <a:t>Chú thích</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860250605"/>
                  </a:ext>
                </a:extLst>
              </a:tr>
              <a:tr h="252095">
                <a:tc>
                  <a:txBody>
                    <a:bodyPr/>
                    <a:lstStyle/>
                    <a:p>
                      <a:pPr marL="66675" indent="66675" algn="just" hangingPunct="0">
                        <a:lnSpc>
                          <a:spcPct val="106061"/>
                        </a:lnSpc>
                        <a:buNone/>
                      </a:pPr>
                      <a:r>
                        <a:rPr lang="en-US" sz="1100" kern="1000" spc="70">
                          <a:effectLst/>
                        </a:rPr>
                        <a:t>Ex08_02</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just" hangingPunct="0">
                        <a:lnSpc>
                          <a:spcPct val="106061"/>
                        </a:lnSpc>
                        <a:buNone/>
                      </a:pPr>
                      <a:r>
                        <a:rPr lang="en-US" sz="1100" kern="1000" spc="70">
                          <a:effectLst/>
                        </a:rPr>
                        <a:t>C:\oojava\labs\ex08</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just" hangingPunct="0">
                        <a:lnSpc>
                          <a:spcPct val="106061"/>
                        </a:lnSpc>
                        <a:buNone/>
                      </a:pPr>
                      <a:r>
                        <a:rPr lang="en-US" sz="1100" kern="1000" spc="70">
                          <a:effectLst/>
                        </a:rPr>
                        <a:t>Ex08_02. java</a:t>
                      </a:r>
                      <a:endParaRPr lang="ja-JP" sz="1100" kern="100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tc>
                  <a:txBody>
                    <a:bodyPr/>
                    <a:lstStyle/>
                    <a:p>
                      <a:pPr marL="66675" indent="66675" algn="just" hangingPunct="0">
                        <a:lnSpc>
                          <a:spcPct val="106061"/>
                        </a:lnSpc>
                        <a:buNone/>
                      </a:pPr>
                      <a:r>
                        <a:rPr lang="en-US" sz="1100" kern="1000" spc="70" dirty="0" err="1">
                          <a:effectLst/>
                        </a:rPr>
                        <a:t>Creat</a:t>
                      </a:r>
                      <a:r>
                        <a:rPr lang="en-US" sz="1100" kern="1000" spc="70" dirty="0">
                          <a:effectLst/>
                        </a:rPr>
                        <a:t> new</a:t>
                      </a:r>
                      <a:endParaRPr lang="ja-JP" sz="1100" kern="1000" dirty="0">
                        <a:effectLst/>
                        <a:latin typeface="ＭＳ Ｐゴシック" panose="020B0600070205080204" pitchFamily="50" charset="-128"/>
                        <a:ea typeface="ＭＳ Ｐゴシック" panose="020B0600070205080204" pitchFamily="50"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435128345"/>
                  </a:ext>
                </a:extLst>
              </a:tr>
            </a:tbl>
          </a:graphicData>
        </a:graphic>
      </p:graphicFrame>
      <p:pic>
        <p:nvPicPr>
          <p:cNvPr id="8" name="Picture 7">
            <a:extLst>
              <a:ext uri="{FF2B5EF4-FFF2-40B4-BE49-F238E27FC236}">
                <a16:creationId xmlns:a16="http://schemas.microsoft.com/office/drawing/2014/main" id="{654AAE88-9103-B517-5CDA-AD0D91EBA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3094093"/>
            <a:ext cx="5476190" cy="2257143"/>
          </a:xfrm>
          <a:prstGeom prst="rect">
            <a:avLst/>
          </a:prstGeom>
        </p:spPr>
      </p:pic>
      <p:pic>
        <p:nvPicPr>
          <p:cNvPr id="10" name="Picture 9">
            <a:extLst>
              <a:ext uri="{FF2B5EF4-FFF2-40B4-BE49-F238E27FC236}">
                <a16:creationId xmlns:a16="http://schemas.microsoft.com/office/drawing/2014/main" id="{DDB5B90E-A38D-C901-4335-2A9DB62239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5513145"/>
            <a:ext cx="5476190" cy="723810"/>
          </a:xfrm>
          <a:prstGeom prst="rect">
            <a:avLst/>
          </a:prstGeom>
        </p:spPr>
      </p:pic>
    </p:spTree>
    <p:extLst>
      <p:ext uri="{BB962C8B-B14F-4D97-AF65-F5344CB8AC3E}">
        <p14:creationId xmlns:p14="http://schemas.microsoft.com/office/powerpoint/2010/main" val="4089054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8AA4D3A-A601-8A7A-B6E0-F7179646B8D4}"/>
              </a:ext>
            </a:extLst>
          </p:cNvPr>
          <p:cNvSpPr>
            <a:spLocks noGrp="1"/>
          </p:cNvSpPr>
          <p:nvPr>
            <p:ph type="sldNum" sz="quarter" idx="10"/>
          </p:nvPr>
        </p:nvSpPr>
        <p:spPr/>
        <p:txBody>
          <a:bodyPr/>
          <a:lstStyle/>
          <a:p>
            <a:fld id="{7F45262B-DA37-48FA-B0B7-C2A8F181F365}" type="slidenum">
              <a:rPr lang="en-US" altLang="ja-JP"/>
              <a:pPr/>
              <a:t>12</a:t>
            </a:fld>
            <a:endParaRPr lang="en-US" altLang="ja-JP"/>
          </a:p>
        </p:txBody>
      </p:sp>
      <p:sp>
        <p:nvSpPr>
          <p:cNvPr id="646146" name="Rectangle 2">
            <a:extLst>
              <a:ext uri="{FF2B5EF4-FFF2-40B4-BE49-F238E27FC236}">
                <a16:creationId xmlns:a16="http://schemas.microsoft.com/office/drawing/2014/main" id="{D7FF5029-2138-80A4-6736-CED5CEA08DDA}"/>
              </a:ext>
            </a:extLst>
          </p:cNvPr>
          <p:cNvSpPr>
            <a:spLocks noGrp="1" noChangeArrowheads="1"/>
          </p:cNvSpPr>
          <p:nvPr>
            <p:ph type="title"/>
          </p:nvPr>
        </p:nvSpPr>
        <p:spPr>
          <a:xfrm>
            <a:off x="344488" y="356394"/>
            <a:ext cx="9217025" cy="490537"/>
          </a:xfrm>
        </p:spPr>
        <p:txBody>
          <a:bodyPr>
            <a:normAutofit fontScale="90000"/>
          </a:bodyPr>
          <a:lstStyle/>
          <a:p>
            <a:r>
              <a:rPr lang="en-US" altLang="en-US" dirty="0">
                <a:latin typeface="Arial" panose="020B0604020202020204" pitchFamily="34" charset="0"/>
                <a:ea typeface="MS UI Gothic" panose="020B0600070205080204" pitchFamily="50" charset="-128"/>
              </a:rPr>
              <a:t>Hash</a:t>
            </a:r>
            <a:r>
              <a:rPr lang="en-US" altLang="ja-JP" dirty="0">
                <a:latin typeface="Arial" panose="020B0604020202020204" pitchFamily="34" charset="0"/>
                <a:ea typeface="MS UI Gothic" panose="020B0600070205080204" pitchFamily="50" charset="-128"/>
              </a:rPr>
              <a:t>Map</a:t>
            </a:r>
          </a:p>
        </p:txBody>
      </p:sp>
      <p:sp>
        <p:nvSpPr>
          <p:cNvPr id="646147" name="Rectangle 3">
            <a:extLst>
              <a:ext uri="{FF2B5EF4-FFF2-40B4-BE49-F238E27FC236}">
                <a16:creationId xmlns:a16="http://schemas.microsoft.com/office/drawing/2014/main" id="{2C1D6767-DC31-F15F-CD35-2CEF707C826B}"/>
              </a:ext>
            </a:extLst>
          </p:cNvPr>
          <p:cNvSpPr>
            <a:spLocks noChangeArrowheads="1"/>
          </p:cNvSpPr>
          <p:nvPr/>
        </p:nvSpPr>
        <p:spPr bwMode="auto">
          <a:xfrm>
            <a:off x="344488" y="216217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400" b="0">
                <a:latin typeface="Arial" panose="020B0604020202020204" pitchFamily="34" charset="0"/>
              </a:rPr>
              <a:t>● Ví dụ</a:t>
            </a:r>
          </a:p>
          <a:p>
            <a:pPr lvl="1"/>
            <a:endParaRPr lang="en-US" altLang="ja-JP" sz="2400" b="0">
              <a:latin typeface="Arial" panose="020B0604020202020204" pitchFamily="34" charset="0"/>
            </a:endParaRPr>
          </a:p>
        </p:txBody>
      </p:sp>
      <p:sp>
        <p:nvSpPr>
          <p:cNvPr id="646148" name="Rectangle 4">
            <a:extLst>
              <a:ext uri="{FF2B5EF4-FFF2-40B4-BE49-F238E27FC236}">
                <a16:creationId xmlns:a16="http://schemas.microsoft.com/office/drawing/2014/main" id="{858AE44C-7806-0132-D01C-1E028412DDB4}"/>
              </a:ext>
            </a:extLst>
          </p:cNvPr>
          <p:cNvSpPr>
            <a:spLocks noChangeArrowheads="1"/>
          </p:cNvSpPr>
          <p:nvPr/>
        </p:nvSpPr>
        <p:spPr bwMode="auto">
          <a:xfrm>
            <a:off x="358822" y="876355"/>
            <a:ext cx="889952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9875" indent="-269875">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r>
              <a:rPr lang="en-US" altLang="en-US" sz="2400" b="0" dirty="0">
                <a:latin typeface="Arial" panose="020B0604020202020204" pitchFamily="34" charset="0"/>
              </a:rPr>
              <a:t>HashMap class</a:t>
            </a:r>
            <a:endParaRPr lang="en-US" altLang="ja-JP" sz="2400" b="0" dirty="0">
              <a:latin typeface="Arial" panose="020B0604020202020204" pitchFamily="34" charset="0"/>
            </a:endParaRPr>
          </a:p>
        </p:txBody>
      </p:sp>
      <p:sp>
        <p:nvSpPr>
          <p:cNvPr id="646149" name="Rectangle 5">
            <a:extLst>
              <a:ext uri="{FF2B5EF4-FFF2-40B4-BE49-F238E27FC236}">
                <a16:creationId xmlns:a16="http://schemas.microsoft.com/office/drawing/2014/main" id="{872085FD-C7C7-9FEA-9855-668155DA92AD}"/>
              </a:ext>
            </a:extLst>
          </p:cNvPr>
          <p:cNvSpPr>
            <a:spLocks noChangeArrowheads="1"/>
          </p:cNvSpPr>
          <p:nvPr/>
        </p:nvSpPr>
        <p:spPr bwMode="auto">
          <a:xfrm>
            <a:off x="344488" y="1465396"/>
            <a:ext cx="9120187" cy="677863"/>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449263">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a:buFont typeface="Wingdings" panose="05000000000000000000" pitchFamily="2" charset="2"/>
              <a:buNone/>
            </a:pPr>
            <a:r>
              <a:rPr lang="en-US" altLang="ja-JP" sz="2000" dirty="0">
                <a:latin typeface="Arial" panose="020B0604020202020204" pitchFamily="34" charset="0"/>
              </a:rPr>
              <a:t>Là class </a:t>
            </a:r>
            <a:r>
              <a:rPr lang="en-US" altLang="ja-JP" sz="2000" dirty="0" err="1">
                <a:latin typeface="Arial" panose="020B0604020202020204" pitchFamily="34" charset="0"/>
              </a:rPr>
              <a:t>đê</a:t>
            </a:r>
            <a:r>
              <a:rPr lang="en-US" altLang="ja-JP" sz="2000" dirty="0">
                <a:latin typeface="Arial" panose="020B0604020202020204" pitchFamily="34" charset="0"/>
              </a:rPr>
              <a:t>̉ implement Map interface </a:t>
            </a:r>
            <a:r>
              <a:rPr lang="en-US" altLang="ja-JP" sz="2000" dirty="0" err="1">
                <a:latin typeface="Arial" panose="020B0604020202020204" pitchFamily="34" charset="0"/>
              </a:rPr>
              <a:t>dựa</a:t>
            </a:r>
            <a:r>
              <a:rPr lang="en-US" altLang="ja-JP" sz="2000" dirty="0">
                <a:latin typeface="Arial" panose="020B0604020202020204" pitchFamily="34" charset="0"/>
              </a:rPr>
              <a:t> </a:t>
            </a:r>
            <a:r>
              <a:rPr lang="en-US" altLang="ja-JP" sz="2000" dirty="0" err="1">
                <a:latin typeface="Arial" panose="020B0604020202020204" pitchFamily="34" charset="0"/>
              </a:rPr>
              <a:t>vào</a:t>
            </a:r>
            <a:r>
              <a:rPr lang="en-US" altLang="ja-JP" sz="2000" dirty="0">
                <a:latin typeface="Arial" panose="020B0604020202020204" pitchFamily="34" charset="0"/>
              </a:rPr>
              <a:t> hash table, </a:t>
            </a:r>
            <a:r>
              <a:rPr lang="en-US" altLang="ja-JP" sz="2000" dirty="0" err="1">
                <a:latin typeface="Arial" panose="020B0604020202020204" pitchFamily="34" charset="0"/>
              </a:rPr>
              <a:t>quản</a:t>
            </a:r>
            <a:r>
              <a:rPr lang="en-US" altLang="ja-JP" sz="2000" dirty="0">
                <a:latin typeface="Arial" panose="020B0604020202020204" pitchFamily="34" charset="0"/>
              </a:rPr>
              <a:t> </a:t>
            </a:r>
            <a:r>
              <a:rPr lang="en-US" altLang="ja-JP" sz="2000" dirty="0" err="1">
                <a:latin typeface="Arial" panose="020B0604020202020204" pitchFamily="34" charset="0"/>
              </a:rPr>
              <a:t>ly</a:t>
            </a:r>
            <a:r>
              <a:rPr lang="en-US" altLang="ja-JP" sz="2000" dirty="0">
                <a:latin typeface="Arial" panose="020B0604020202020204" pitchFamily="34" charset="0"/>
              </a:rPr>
              <a:t>́ có </a:t>
            </a:r>
            <a:r>
              <a:rPr lang="en-US" altLang="ja-JP" sz="2000" dirty="0" err="1">
                <a:latin typeface="Arial" panose="020B0604020202020204" pitchFamily="34" charset="0"/>
              </a:rPr>
              <a:t>kèm</a:t>
            </a:r>
            <a:r>
              <a:rPr lang="en-US" altLang="ja-JP" sz="2000" dirty="0">
                <a:latin typeface="Arial" panose="020B0604020202020204" pitchFamily="34" charset="0"/>
              </a:rPr>
              <a:t> </a:t>
            </a:r>
            <a:r>
              <a:rPr lang="en-US" altLang="ja-JP" sz="2000" dirty="0" err="1">
                <a:latin typeface="Arial" panose="020B0604020202020204" pitchFamily="34" charset="0"/>
              </a:rPr>
              <a:t>xư</a:t>
            </a:r>
            <a:r>
              <a:rPr lang="en-US" altLang="ja-JP" sz="2000" dirty="0">
                <a:latin typeface="Arial" panose="020B0604020202020204" pitchFamily="34" charset="0"/>
              </a:rPr>
              <a:t>̉ </a:t>
            </a:r>
            <a:r>
              <a:rPr lang="en-US" altLang="ja-JP" sz="2000" dirty="0" err="1">
                <a:latin typeface="Arial" panose="020B0604020202020204" pitchFamily="34" charset="0"/>
              </a:rPr>
              <a:t>ly</a:t>
            </a:r>
            <a:r>
              <a:rPr lang="en-US" altLang="ja-JP" sz="2000" dirty="0">
                <a:latin typeface="Arial" panose="020B0604020202020204" pitchFamily="34" charset="0"/>
              </a:rPr>
              <a:t>́ key </a:t>
            </a:r>
            <a:r>
              <a:rPr lang="en-US" altLang="ja-JP" sz="2000" dirty="0" err="1">
                <a:latin typeface="Arial" panose="020B0604020202020204" pitchFamily="34" charset="0"/>
              </a:rPr>
              <a:t>va</a:t>
            </a:r>
            <a:r>
              <a:rPr lang="en-US" altLang="ja-JP" sz="2000" dirty="0">
                <a:latin typeface="Arial" panose="020B0604020202020204" pitchFamily="34" charset="0"/>
              </a:rPr>
              <a:t>̀ </a:t>
            </a:r>
            <a:r>
              <a:rPr lang="en-US" altLang="ja-JP" sz="2000" dirty="0" err="1">
                <a:latin typeface="Arial" panose="020B0604020202020204" pitchFamily="34" charset="0"/>
              </a:rPr>
              <a:t>gia</a:t>
            </a:r>
            <a:r>
              <a:rPr lang="en-US" altLang="ja-JP" sz="2000" dirty="0">
                <a:latin typeface="Arial" panose="020B0604020202020204" pitchFamily="34" charset="0"/>
              </a:rPr>
              <a:t>́ trị.</a:t>
            </a:r>
          </a:p>
        </p:txBody>
      </p:sp>
      <p:sp>
        <p:nvSpPr>
          <p:cNvPr id="646150" name="Rectangle 6">
            <a:extLst>
              <a:ext uri="{FF2B5EF4-FFF2-40B4-BE49-F238E27FC236}">
                <a16:creationId xmlns:a16="http://schemas.microsoft.com/office/drawing/2014/main" id="{6C512D96-7108-CCC4-AD69-BF7B92192BB5}"/>
              </a:ext>
            </a:extLst>
          </p:cNvPr>
          <p:cNvSpPr>
            <a:spLocks noChangeArrowheads="1"/>
          </p:cNvSpPr>
          <p:nvPr/>
        </p:nvSpPr>
        <p:spPr bwMode="auto">
          <a:xfrm>
            <a:off x="344488" y="2641600"/>
            <a:ext cx="9120187" cy="314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10000"/>
              </a:spcBef>
              <a:buFont typeface="Wingdings" panose="05000000000000000000" pitchFamily="2" charset="2"/>
              <a:buChar char="n"/>
              <a:defRPr kumimoji="1">
                <a:solidFill>
                  <a:schemeClr val="tx1"/>
                </a:solidFill>
                <a:latin typeface="MS UI Gothic" panose="020B0600070205080204" pitchFamily="50" charset="-128"/>
                <a:ea typeface="MS UI Gothic" panose="020B0600070205080204" pitchFamily="50" charset="-128"/>
              </a:defRPr>
            </a:lvl1pPr>
            <a:lvl2pPr marL="179388">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2pPr>
            <a:lvl3pPr marL="893763">
              <a:spcBef>
                <a:spcPct val="10000"/>
              </a:spcBef>
              <a:defRPr kumimoji="1">
                <a:solidFill>
                  <a:schemeClr val="tx1"/>
                </a:solidFill>
                <a:latin typeface="MS UI Gothic" panose="020B0600070205080204" pitchFamily="50" charset="-128"/>
                <a:ea typeface="MS UI Gothic" panose="020B0600070205080204" pitchFamily="50" charset="-128"/>
              </a:defRPr>
            </a:lvl3pPr>
            <a:lvl4pPr marL="1339850">
              <a:spcBef>
                <a:spcPct val="10000"/>
              </a:spcBef>
              <a:buFont typeface="Wingdings" panose="05000000000000000000" pitchFamily="2" charset="2"/>
              <a:defRPr kumimoji="1">
                <a:solidFill>
                  <a:schemeClr val="tx1"/>
                </a:solidFill>
                <a:latin typeface="MS UI Gothic" panose="020B0600070205080204" pitchFamily="50" charset="-128"/>
                <a:ea typeface="MS UI Gothic" panose="020B0600070205080204" pitchFamily="50" charset="-128"/>
              </a:defRPr>
            </a:lvl4pPr>
            <a:lvl5pPr marL="1747838">
              <a:spcBef>
                <a:spcPct val="10000"/>
              </a:spcBef>
              <a:defRPr kumimoji="1">
                <a:solidFill>
                  <a:schemeClr val="tx1"/>
                </a:solidFill>
                <a:latin typeface="MS UI Gothic" panose="020B0600070205080204" pitchFamily="50" charset="-128"/>
                <a:ea typeface="MS UI Gothic" panose="020B0600070205080204" pitchFamily="50" charset="-128"/>
              </a:defRPr>
            </a:lvl5pPr>
            <a:lvl6pPr marL="22050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6pPr>
            <a:lvl7pPr marL="26622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7pPr>
            <a:lvl8pPr marL="31194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8pPr>
            <a:lvl9pPr marL="3576638" fontAlgn="base">
              <a:spcBef>
                <a:spcPct val="10000"/>
              </a:spcBef>
              <a:spcAft>
                <a:spcPct val="0"/>
              </a:spcAft>
              <a:defRPr kumimoji="1">
                <a:solidFill>
                  <a:schemeClr val="tx1"/>
                </a:solidFill>
                <a:latin typeface="MS UI Gothic" panose="020B0600070205080204" pitchFamily="50" charset="-128"/>
                <a:ea typeface="MS UI Gothic" panose="020B0600070205080204" pitchFamily="50" charset="-128"/>
              </a:defRPr>
            </a:lvl9pPr>
          </a:lstStyle>
          <a:p>
            <a:pPr lvl="1"/>
            <a:r>
              <a:rPr lang="fr-FR" altLang="fr-FR" sz="1800" b="0">
                <a:latin typeface="Arial" panose="020B0604020202020204" pitchFamily="34" charset="0"/>
                <a:ea typeface="ＭＳ ゴシック" panose="020B0609070205080204" pitchFamily="49" charset="-128"/>
              </a:rPr>
              <a:t>// Generate HashMap quản lý data kiểu String</a:t>
            </a:r>
          </a:p>
          <a:p>
            <a:pPr lvl="1"/>
            <a:r>
              <a:rPr lang="fr-FR" altLang="fr-FR" sz="1800" b="0">
                <a:latin typeface="Arial" panose="020B0604020202020204" pitchFamily="34" charset="0"/>
                <a:ea typeface="ＭＳ ゴシック" panose="020B0609070205080204" pitchFamily="49" charset="-128"/>
              </a:rPr>
              <a:t>HashMap&lt;String,</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String&gt; hm = new HashMap&lt;String,</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String&gt;();</a:t>
            </a:r>
          </a:p>
          <a:p>
            <a:pPr lvl="1"/>
            <a:endParaRPr lang="fr-FR" altLang="fr-FR" sz="1800" b="0">
              <a:latin typeface="Arial" panose="020B0604020202020204" pitchFamily="34" charset="0"/>
              <a:ea typeface="ＭＳ ゴシック" panose="020B0609070205080204" pitchFamily="49" charset="-128"/>
            </a:endParaRPr>
          </a:p>
          <a:p>
            <a:pPr lvl="1"/>
            <a:r>
              <a:rPr lang="fr-FR" altLang="fr-FR" sz="1800" b="0">
                <a:latin typeface="Arial" panose="020B0604020202020204" pitchFamily="34" charset="0"/>
                <a:ea typeface="ＭＳ ゴシック" panose="020B0609070205080204" pitchFamily="49" charset="-128"/>
              </a:rPr>
              <a:t>//  Add thêm phần tử vào HashMap</a:t>
            </a:r>
          </a:p>
          <a:p>
            <a:pPr lvl="1"/>
            <a:r>
              <a:rPr lang="fr-FR" altLang="fr-FR" sz="1800" b="0">
                <a:latin typeface="Arial" panose="020B0604020202020204" pitchFamily="34" charset="0"/>
                <a:ea typeface="ＭＳ ゴシック" panose="020B0609070205080204" pitchFamily="49" charset="-128"/>
              </a:rPr>
              <a:t>hm.put("e1",</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"Hi");</a:t>
            </a:r>
          </a:p>
          <a:p>
            <a:pPr lvl="1"/>
            <a:endParaRPr lang="fr-FR" altLang="fr-FR" sz="1800" b="0">
              <a:latin typeface="Arial" panose="020B0604020202020204" pitchFamily="34" charset="0"/>
              <a:ea typeface="ＭＳ ゴシック" panose="020B0609070205080204" pitchFamily="49" charset="-128"/>
            </a:endParaRPr>
          </a:p>
          <a:p>
            <a:pPr lvl="1"/>
            <a:r>
              <a:rPr lang="fr-FR" altLang="fr-FR" sz="1800" b="0">
                <a:latin typeface="Arial" panose="020B0604020202020204" pitchFamily="34" charset="0"/>
                <a:ea typeface="ＭＳ ゴシック" panose="020B0609070205080204" pitchFamily="49" charset="-128"/>
              </a:rPr>
              <a:t>//  Lấy và hiển thị tất cả phần tử của HashMap (key và giá trị) </a:t>
            </a:r>
          </a:p>
          <a:p>
            <a:pPr lvl="1"/>
            <a:r>
              <a:rPr lang="fr-FR" altLang="fr-FR" sz="1800" b="0">
                <a:latin typeface="Arial" panose="020B0604020202020204" pitchFamily="34" charset="0"/>
                <a:ea typeface="ＭＳ ゴシック" panose="020B0609070205080204" pitchFamily="49" charset="-128"/>
              </a:rPr>
              <a:t>for</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(String str</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hm.keySet())</a:t>
            </a:r>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a:t>
            </a:r>
          </a:p>
          <a:p>
            <a:pPr lvl="1"/>
            <a:r>
              <a:rPr lang="fr-FR" altLang="ja-JP" sz="1800" b="0">
                <a:latin typeface="Arial" panose="020B0604020202020204" pitchFamily="34" charset="0"/>
                <a:ea typeface="ＭＳ ゴシック" panose="020B0609070205080204" pitchFamily="49" charset="-128"/>
              </a:rPr>
              <a:t>    </a:t>
            </a:r>
            <a:r>
              <a:rPr lang="fr-FR" altLang="fr-FR" sz="1800" b="0">
                <a:latin typeface="Arial" panose="020B0604020202020204" pitchFamily="34" charset="0"/>
                <a:ea typeface="ＭＳ ゴシック" panose="020B0609070205080204" pitchFamily="49" charset="-128"/>
              </a:rPr>
              <a:t>System.out.println(str + ":" + hm.get(str));</a:t>
            </a:r>
          </a:p>
          <a:p>
            <a:pPr lvl="1"/>
            <a:r>
              <a:rPr lang="fr-FR" altLang="fr-FR" sz="1800" b="0">
                <a:latin typeface="Arial" panose="020B0604020202020204" pitchFamily="34" charset="0"/>
                <a:ea typeface="ＭＳ ゴシック" panose="020B0609070205080204" pitchFamily="49" charset="-128"/>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235B-D9EE-B28D-14A9-CB2136BE4FC5}"/>
              </a:ext>
            </a:extLst>
          </p:cNvPr>
          <p:cNvSpPr>
            <a:spLocks noGrp="1"/>
          </p:cNvSpPr>
          <p:nvPr>
            <p:ph type="title"/>
          </p:nvPr>
        </p:nvSpPr>
        <p:spPr>
          <a:xfrm>
            <a:off x="344488" y="533400"/>
            <a:ext cx="9217025" cy="457200"/>
          </a:xfrm>
        </p:spPr>
        <p:txBody>
          <a:bodyPr>
            <a:normAutofit fontScale="90000"/>
          </a:bodyPr>
          <a:lstStyle/>
          <a:p>
            <a:r>
              <a:rPr kumimoji="1" lang="en-US" altLang="ja-JP" dirty="0"/>
              <a:t>HashMap: Các method </a:t>
            </a:r>
            <a:r>
              <a:rPr kumimoji="1" lang="en-US" altLang="ja-JP" dirty="0" err="1"/>
              <a:t>chính</a:t>
            </a:r>
            <a:endParaRPr kumimoji="1" lang="ja-JP" altLang="en-US" dirty="0"/>
          </a:p>
        </p:txBody>
      </p:sp>
      <p:sp>
        <p:nvSpPr>
          <p:cNvPr id="3" name="Table Placeholder 2">
            <a:extLst>
              <a:ext uri="{FF2B5EF4-FFF2-40B4-BE49-F238E27FC236}">
                <a16:creationId xmlns:a16="http://schemas.microsoft.com/office/drawing/2014/main" id="{85D6F1BD-DB50-EF15-B603-F6DC500E3E7B}"/>
              </a:ext>
            </a:extLst>
          </p:cNvPr>
          <p:cNvSpPr>
            <a:spLocks noGrp="1"/>
          </p:cNvSpPr>
          <p:nvPr>
            <p:ph type="tbl" idx="1"/>
          </p:nvPr>
        </p:nvSpPr>
        <p:spPr>
          <a:xfrm>
            <a:off x="344488" y="1066800"/>
            <a:ext cx="9217025" cy="5372099"/>
          </a:xfrm>
        </p:spPr>
        <p:txBody>
          <a:bodyPr/>
          <a:lstStyle/>
          <a:p>
            <a:endParaRPr lang="ja-JP" altLang="en-US"/>
          </a:p>
        </p:txBody>
      </p:sp>
      <p:graphicFrame>
        <p:nvGraphicFramePr>
          <p:cNvPr id="6" name="Group 116">
            <a:extLst>
              <a:ext uri="{FF2B5EF4-FFF2-40B4-BE49-F238E27FC236}">
                <a16:creationId xmlns:a16="http://schemas.microsoft.com/office/drawing/2014/main" id="{2984C7F8-6DDF-BDDF-7414-94DFE80AFEC3}"/>
              </a:ext>
            </a:extLst>
          </p:cNvPr>
          <p:cNvGraphicFramePr>
            <a:graphicFrameLocks noGrp="1"/>
          </p:cNvGraphicFramePr>
          <p:nvPr>
            <p:extLst>
              <p:ext uri="{D42A27DB-BD31-4B8C-83A1-F6EECF244321}">
                <p14:modId xmlns:p14="http://schemas.microsoft.com/office/powerpoint/2010/main" val="1422341882"/>
              </p:ext>
            </p:extLst>
          </p:nvPr>
        </p:nvGraphicFramePr>
        <p:xfrm>
          <a:off x="533400" y="1219200"/>
          <a:ext cx="9028112" cy="5082824"/>
        </p:xfrm>
        <a:graphic>
          <a:graphicData uri="http://schemas.openxmlformats.org/drawingml/2006/table">
            <a:tbl>
              <a:tblPr/>
              <a:tblGrid>
                <a:gridCol w="2614699">
                  <a:extLst>
                    <a:ext uri="{9D8B030D-6E8A-4147-A177-3AD203B41FA5}">
                      <a16:colId xmlns:a16="http://schemas.microsoft.com/office/drawing/2014/main" val="1358400336"/>
                    </a:ext>
                  </a:extLst>
                </a:gridCol>
                <a:gridCol w="6413413">
                  <a:extLst>
                    <a:ext uri="{9D8B030D-6E8A-4147-A177-3AD203B41FA5}">
                      <a16:colId xmlns:a16="http://schemas.microsoft.com/office/drawing/2014/main" val="3047965151"/>
                    </a:ext>
                  </a:extLst>
                </a:gridCol>
              </a:tblGrid>
              <a:tr h="671647">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Method</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ctr"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Giải thích</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000"/>
                      </a:srgbClr>
                    </a:solidFill>
                  </a:tcPr>
                </a:tc>
                <a:extLst>
                  <a:ext uri="{0D108BD9-81ED-4DB2-BD59-A6C34878D82A}">
                    <a16:rowId xmlns:a16="http://schemas.microsoft.com/office/drawing/2014/main" val="1698732799"/>
                  </a:ext>
                </a:extLst>
              </a:tr>
              <a:tr h="1261356">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V put(K key, V value)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Tạo</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mối</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quan</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hê</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của</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giá</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trị</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đã</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được</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chỉ</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định</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và</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key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đã</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được</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chỉ</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định</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với</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map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này</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giá</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trị</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là</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null).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Trường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hợp</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key chỉ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định</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đa</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tồn</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tại</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trong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map,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thi</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thay</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thế</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giá</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trị</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cũ</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giá</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trị</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là</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giá</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trị</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cũ</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331624"/>
                  </a:ext>
                </a:extLst>
              </a:tr>
              <a:tr h="6976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containsKey</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(Object key)</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Trường hợp đã bảo lưu  và duy tr</a:t>
                      </a:r>
                      <a:r>
                        <a:rPr kumimoji="1" lang="en-US" altLang="ja-JP" sz="16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ì</a:t>
                      </a: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key đã được chỉ định thì trả về true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709844"/>
                  </a:ext>
                </a:extLst>
              </a:tr>
              <a:tr h="697613">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boolean containsValue</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(Object value)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Trường hợp đang mapping gi</a:t>
                      </a:r>
                      <a:r>
                        <a:rPr kumimoji="1" lang="en-US" altLang="ja-JP" sz="1600" b="0" i="0" u="none" strike="noStrike" cap="none" normalizeH="0" baseline="0">
                          <a:ln>
                            <a:noFill/>
                          </a:ln>
                          <a:solidFill>
                            <a:schemeClr val="tx1"/>
                          </a:solidFill>
                          <a:effectLst/>
                          <a:latin typeface="MS UI Gothic" panose="020B0600070205080204" pitchFamily="50" charset="-128"/>
                          <a:ea typeface="MS UI Gothic" panose="020B0600070205080204" pitchFamily="50" charset="-128"/>
                        </a:rPr>
                        <a:t>á</a:t>
                      </a: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 trị đã được chỉ định với một hoặc nhiều key thì trả về true.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47360894"/>
                  </a:ext>
                </a:extLst>
              </a:tr>
              <a:tr h="97948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V</a:t>
                      </a:r>
                      <a:r>
                        <a:rPr kumimoji="1" lang="en-US" altLang="ja-JP" sz="1600" b="1"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 </a:t>
                      </a: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remove(Object key)</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tồn tại maping của key đã được chỉ định</a:t>
                      </a:r>
                      <a:r>
                        <a:rPr kumimoji="1" lang="en-US" altLang="ja-JP" sz="1600" b="1" i="0" u="none" strike="noStrike" cap="none" normalizeH="0" baseline="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thì xóa đi(giá trị trả về là giá trị value đã xóa). </a:t>
                      </a:r>
                    </a:p>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Nếu không tồn tại thì trả về null.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08463654"/>
                  </a:ext>
                </a:extLst>
              </a:tr>
              <a:tr h="38755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int size()</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MS UI Gothic" panose="020B0600070205080204" pitchFamily="50" charset="-128"/>
                        </a:rPr>
                        <a:t>Trả về số phần tử</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8681725"/>
                  </a:ext>
                </a:extLst>
              </a:tr>
              <a:tr h="387555">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a:ln>
                            <a:noFill/>
                          </a:ln>
                          <a:solidFill>
                            <a:schemeClr val="tx1"/>
                          </a:solidFill>
                          <a:effectLst/>
                          <a:latin typeface="Arial" panose="020B0604020202020204" pitchFamily="34" charset="0"/>
                          <a:ea typeface="ＭＳ ゴシック" panose="020B0609070205080204" pitchFamily="49" charset="-128"/>
                        </a:rPr>
                        <a:t>Set&lt;K&gt; keySet()</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a:solidFill>
                            <a:schemeClr val="tx1"/>
                          </a:solidFill>
                          <a:latin typeface="Arial" panose="020B0604020202020204" pitchFamily="34" charset="0"/>
                          <a:ea typeface="ＭＳ Ｐゴシック" panose="020B0600070205080204" pitchFamily="50" charset="-128"/>
                        </a:defRPr>
                      </a:lvl1pPr>
                      <a:lvl2pPr marL="449263">
                        <a:defRPr kumimoji="1">
                          <a:solidFill>
                            <a:schemeClr val="tx1"/>
                          </a:solidFill>
                          <a:latin typeface="Arial" panose="020B0604020202020204" pitchFamily="34" charset="0"/>
                          <a:ea typeface="ＭＳ Ｐゴシック" panose="020B0600070205080204" pitchFamily="50" charset="-128"/>
                        </a:defRPr>
                      </a:lvl2pPr>
                      <a:lvl3pPr marL="893763">
                        <a:defRPr kumimoji="1">
                          <a:solidFill>
                            <a:schemeClr val="tx1"/>
                          </a:solidFill>
                          <a:latin typeface="Arial" panose="020B0604020202020204" pitchFamily="34" charset="0"/>
                          <a:ea typeface="ＭＳ Ｐゴシック" panose="020B0600070205080204" pitchFamily="50" charset="-128"/>
                        </a:defRPr>
                      </a:lvl3pPr>
                      <a:lvl4pPr marL="1339850">
                        <a:defRPr kumimoji="1">
                          <a:solidFill>
                            <a:schemeClr val="tx1"/>
                          </a:solidFill>
                          <a:latin typeface="Arial" panose="020B0604020202020204" pitchFamily="34" charset="0"/>
                          <a:ea typeface="ＭＳ Ｐゴシック" panose="020B0600070205080204" pitchFamily="50" charset="-128"/>
                        </a:defRPr>
                      </a:lvl4pPr>
                      <a:lvl5pPr marL="1746250">
                        <a:defRPr kumimoji="1">
                          <a:solidFill>
                            <a:schemeClr val="tx1"/>
                          </a:solidFill>
                          <a:latin typeface="Arial" panose="020B0604020202020204" pitchFamily="34" charset="0"/>
                          <a:ea typeface="ＭＳ Ｐゴシック" panose="020B0600070205080204" pitchFamily="50" charset="-128"/>
                        </a:defRPr>
                      </a:lvl5pPr>
                      <a:lvl6pPr marL="22034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marL="26606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marL="31178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marL="357505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1" fontAlgn="base" latinLnBrk="0" hangingPunct="1">
                        <a:lnSpc>
                          <a:spcPct val="100000"/>
                        </a:lnSpc>
                        <a:spcBef>
                          <a:spcPct val="10000"/>
                        </a:spcBef>
                        <a:spcAft>
                          <a:spcPct val="0"/>
                        </a:spcAft>
                        <a:buClrTx/>
                        <a:buSzTx/>
                        <a:buFont typeface="Wingdings" panose="05000000000000000000" pitchFamily="2" charset="2"/>
                        <a:buNone/>
                        <a:tabLst/>
                      </a:pP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Trả</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về</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Set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của</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key có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trong</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map </a:t>
                      </a:r>
                      <a:r>
                        <a:rPr kumimoji="1" lang="en-US" altLang="ja-JP" sz="1600" b="0" i="0" u="none" strike="noStrike" cap="none" normalizeH="0" baseline="0" dirty="0" err="1">
                          <a:ln>
                            <a:noFill/>
                          </a:ln>
                          <a:solidFill>
                            <a:schemeClr val="tx1"/>
                          </a:solidFill>
                          <a:effectLst/>
                          <a:latin typeface="Arial" panose="020B0604020202020204" pitchFamily="34" charset="0"/>
                          <a:ea typeface="MS UI Gothic" panose="020B0600070205080204" pitchFamily="50" charset="-128"/>
                        </a:rPr>
                        <a:t>này</a:t>
                      </a:r>
                      <a:r>
                        <a:rPr kumimoji="1" lang="en-US" altLang="ja-JP" sz="1600" b="0" i="0" u="none" strike="noStrike" cap="none" normalizeH="0" baseline="0" dirty="0">
                          <a:ln>
                            <a:noFill/>
                          </a:ln>
                          <a:solidFill>
                            <a:schemeClr val="tx1"/>
                          </a:solidFill>
                          <a:effectLst/>
                          <a:latin typeface="Arial" panose="020B0604020202020204" pitchFamily="34" charset="0"/>
                          <a:ea typeface="MS UI Gothic" panose="020B0600070205080204" pitchFamily="50" charset="-128"/>
                        </a:rPr>
                        <a:t>. </a:t>
                      </a:r>
                    </a:p>
                  </a:txBody>
                  <a:tcPr marL="91425" marR="91425"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6120715"/>
                  </a:ext>
                </a:extLst>
              </a:tr>
            </a:tbl>
          </a:graphicData>
        </a:graphic>
      </p:graphicFrame>
    </p:spTree>
    <p:extLst>
      <p:ext uri="{BB962C8B-B14F-4D97-AF65-F5344CB8AC3E}">
        <p14:creationId xmlns:p14="http://schemas.microsoft.com/office/powerpoint/2010/main" val="952305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52976-CB67-4827-2B72-20C7A14029E5}"/>
              </a:ext>
            </a:extLst>
          </p:cNvPr>
          <p:cNvSpPr>
            <a:spLocks noGrp="1"/>
          </p:cNvSpPr>
          <p:nvPr>
            <p:ph type="title"/>
          </p:nvPr>
        </p:nvSpPr>
        <p:spPr>
          <a:xfrm>
            <a:off x="344487" y="485493"/>
            <a:ext cx="9217025" cy="490537"/>
          </a:xfrm>
        </p:spPr>
        <p:txBody>
          <a:bodyPr>
            <a:normAutofit fontScale="90000"/>
          </a:bodyPr>
          <a:lstStyle/>
          <a:p>
            <a:r>
              <a:rPr kumimoji="1" lang="en-US" altLang="ja-JP" dirty="0"/>
              <a:t>HashMap: </a:t>
            </a:r>
            <a:r>
              <a:rPr kumimoji="1" lang="en-US" altLang="ja-JP" dirty="0" err="1"/>
              <a:t>Ví</a:t>
            </a:r>
            <a:r>
              <a:rPr kumimoji="1" lang="en-US" altLang="ja-JP" dirty="0"/>
              <a:t> </a:t>
            </a:r>
            <a:r>
              <a:rPr kumimoji="1" lang="en-US" altLang="ja-JP" dirty="0" err="1"/>
              <a:t>dụ</a:t>
            </a:r>
            <a:endParaRPr kumimoji="1" lang="ja-JP" altLang="en-US" dirty="0"/>
          </a:p>
        </p:txBody>
      </p:sp>
      <p:sp>
        <p:nvSpPr>
          <p:cNvPr id="3" name="Table Placeholder 2">
            <a:extLst>
              <a:ext uri="{FF2B5EF4-FFF2-40B4-BE49-F238E27FC236}">
                <a16:creationId xmlns:a16="http://schemas.microsoft.com/office/drawing/2014/main" id="{6665B40A-1824-FD24-3E30-556162CA0E8A}"/>
              </a:ext>
            </a:extLst>
          </p:cNvPr>
          <p:cNvSpPr>
            <a:spLocks noGrp="1"/>
          </p:cNvSpPr>
          <p:nvPr>
            <p:ph type="tbl" idx="1"/>
          </p:nvPr>
        </p:nvSpPr>
        <p:spPr>
          <a:xfrm>
            <a:off x="344488" y="1143000"/>
            <a:ext cx="9217025" cy="5557838"/>
          </a:xfrm>
        </p:spPr>
        <p:txBody>
          <a:bodyPr>
            <a:normAutofit fontScale="32500" lnSpcReduction="20000"/>
          </a:bodyPr>
          <a:lstStyle/>
          <a:p>
            <a:pPr marL="187325" lvl="1" indent="0" algn="just">
              <a:lnSpc>
                <a:spcPct val="130000"/>
              </a:lnSpc>
              <a:buNone/>
            </a:pPr>
            <a:r>
              <a:rPr lang="ja-JP" altLang="ja-JP" dirty="0">
                <a:ea typeface="ＭＳ ゴシック" panose="020B0609070205080204" pitchFamily="49" charset="-128"/>
              </a:rPr>
              <a:t>import java.util.HashMap;</a:t>
            </a:r>
          </a:p>
          <a:p>
            <a:pPr marL="187325" lvl="1" indent="0" algn="just">
              <a:lnSpc>
                <a:spcPct val="130000"/>
              </a:lnSpc>
              <a:buNone/>
            </a:pPr>
            <a:r>
              <a:rPr lang="ja-JP" altLang="ja-JP" dirty="0">
                <a:ea typeface="ＭＳ ゴシック" panose="020B0609070205080204" pitchFamily="49" charset="-128"/>
              </a:rPr>
              <a:t> </a:t>
            </a:r>
          </a:p>
          <a:p>
            <a:pPr marL="187325" lvl="1" indent="0" algn="just">
              <a:lnSpc>
                <a:spcPct val="130000"/>
              </a:lnSpc>
              <a:buNone/>
            </a:pPr>
            <a:r>
              <a:rPr lang="ja-JP" altLang="ja-JP" dirty="0">
                <a:ea typeface="ＭＳ ゴシック" panose="020B0609070205080204" pitchFamily="49" charset="-128"/>
              </a:rPr>
              <a:t>public class HashMap01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public static void main(String[] args)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 </a:t>
            </a:r>
            <a:r>
              <a:rPr lang="en-US" altLang="ja-JP" dirty="0">
                <a:ea typeface="ＭＳ ゴシック" panose="020B0609070205080204" pitchFamily="49" charset="-128"/>
              </a:rPr>
              <a:t>Generate HashMap </a:t>
            </a:r>
            <a:r>
              <a:rPr lang="en-US" altLang="ja-JP" dirty="0" err="1">
                <a:ea typeface="ＭＳ ゴシック" panose="020B0609070205080204" pitchFamily="49" charset="-128"/>
              </a:rPr>
              <a:t>quản</a:t>
            </a:r>
            <a:r>
              <a:rPr lang="en-US" altLang="ja-JP" dirty="0">
                <a:ea typeface="ＭＳ ゴシック" panose="020B0609070205080204" pitchFamily="49" charset="-128"/>
              </a:rPr>
              <a:t> </a:t>
            </a:r>
            <a:r>
              <a:rPr lang="en-US" altLang="ja-JP" dirty="0" err="1">
                <a:ea typeface="ＭＳ ゴシック" panose="020B0609070205080204" pitchFamily="49" charset="-128"/>
              </a:rPr>
              <a:t>lý</a:t>
            </a:r>
            <a:r>
              <a:rPr lang="en-US" altLang="ja-JP" dirty="0">
                <a:ea typeface="ＭＳ ゴシック" panose="020B0609070205080204" pitchFamily="49" charset="-128"/>
              </a:rPr>
              <a:t> data </a:t>
            </a:r>
            <a:r>
              <a:rPr lang="en-US" altLang="ja-JP" dirty="0" err="1">
                <a:ea typeface="ＭＳ ゴシック" panose="020B0609070205080204" pitchFamily="49" charset="-128"/>
              </a:rPr>
              <a:t>kiểu</a:t>
            </a:r>
            <a:r>
              <a:rPr lang="en-US" altLang="ja-JP" dirty="0">
                <a:ea typeface="ＭＳ ゴシック" panose="020B0609070205080204" pitchFamily="49" charset="-128"/>
              </a:rPr>
              <a:t> </a:t>
            </a:r>
            <a:r>
              <a:rPr lang="ja-JP" altLang="ja-JP" dirty="0">
                <a:ea typeface="ＭＳ ゴシック" panose="020B0609070205080204" pitchFamily="49" charset="-128"/>
              </a:rPr>
              <a:t>String</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HashMap&lt;String,</a:t>
            </a:r>
            <a:r>
              <a:rPr lang="en-US" altLang="ja-JP" dirty="0">
                <a:ea typeface="ＭＳ ゴシック" panose="020B0609070205080204" pitchFamily="49" charset="-128"/>
              </a:rPr>
              <a:t> </a:t>
            </a:r>
            <a:r>
              <a:rPr lang="ja-JP" altLang="ja-JP" dirty="0">
                <a:ea typeface="ＭＳ ゴシック" panose="020B0609070205080204" pitchFamily="49" charset="-128"/>
              </a:rPr>
              <a:t>String&gt; hm = new HashMap&lt;String,</a:t>
            </a:r>
            <a:r>
              <a:rPr lang="en-US" altLang="ja-JP" dirty="0">
                <a:ea typeface="ＭＳ ゴシック" panose="020B0609070205080204" pitchFamily="49" charset="-128"/>
              </a:rPr>
              <a:t> </a:t>
            </a:r>
            <a:r>
              <a:rPr lang="ja-JP" altLang="ja-JP" dirty="0">
                <a:ea typeface="ＭＳ ゴシック" panose="020B0609070205080204" pitchFamily="49" charset="-128"/>
              </a:rPr>
              <a:t>String&gt;();</a:t>
            </a:r>
          </a:p>
          <a:p>
            <a:pPr marL="187325" lvl="1" indent="0" algn="just">
              <a:lnSpc>
                <a:spcPct val="130000"/>
              </a:lnSpc>
              <a:buNone/>
            </a:pPr>
            <a:r>
              <a:rPr lang="ja-JP" altLang="ja-JP" dirty="0">
                <a:ea typeface="ＭＳ ゴシック" panose="020B0609070205080204" pitchFamily="49" charset="-128"/>
              </a:rPr>
              <a:t>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 </a:t>
            </a:r>
            <a:r>
              <a:rPr lang="en-US" altLang="ja-JP" dirty="0">
                <a:ea typeface="ＭＳ ゴシック" panose="020B0609070205080204" pitchFamily="49" charset="-128"/>
              </a:rPr>
              <a:t>Add </a:t>
            </a:r>
            <a:r>
              <a:rPr lang="en-US" altLang="ja-JP" dirty="0" err="1">
                <a:ea typeface="ＭＳ ゴシック" panose="020B0609070205080204" pitchFamily="49" charset="-128"/>
              </a:rPr>
              <a:t>phần</a:t>
            </a:r>
            <a:r>
              <a:rPr lang="en-US" altLang="ja-JP" dirty="0">
                <a:ea typeface="ＭＳ ゴシック" panose="020B0609070205080204" pitchFamily="49" charset="-128"/>
              </a:rPr>
              <a:t> </a:t>
            </a:r>
            <a:r>
              <a:rPr lang="en-US" altLang="ja-JP" dirty="0" err="1">
                <a:ea typeface="ＭＳ ゴシック" panose="020B0609070205080204" pitchFamily="49" charset="-128"/>
              </a:rPr>
              <a:t>tử</a:t>
            </a:r>
            <a:r>
              <a:rPr lang="en-US" altLang="ja-JP" dirty="0">
                <a:ea typeface="ＭＳ ゴシック" panose="020B0609070205080204" pitchFamily="49" charset="-128"/>
              </a:rPr>
              <a:t> </a:t>
            </a:r>
            <a:r>
              <a:rPr lang="en-US" altLang="ja-JP" dirty="0" err="1">
                <a:ea typeface="ＭＳ ゴシック" panose="020B0609070205080204" pitchFamily="49" charset="-128"/>
              </a:rPr>
              <a:t>cho</a:t>
            </a:r>
            <a:r>
              <a:rPr lang="en-US" altLang="ja-JP" dirty="0">
                <a:ea typeface="ＭＳ ゴシック" panose="020B0609070205080204" pitchFamily="49" charset="-128"/>
              </a:rPr>
              <a:t> </a:t>
            </a:r>
            <a:r>
              <a:rPr lang="ja-JP" altLang="ja-JP" dirty="0">
                <a:ea typeface="ＭＳ ゴシック" panose="020B0609070205080204" pitchFamily="49" charset="-128"/>
              </a:rPr>
              <a:t>HashMap</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hm.put("e1",</a:t>
            </a:r>
            <a:r>
              <a:rPr lang="en-US" altLang="ja-JP" dirty="0">
                <a:ea typeface="ＭＳ ゴシック" panose="020B0609070205080204" pitchFamily="49" charset="-128"/>
              </a:rPr>
              <a:t> </a:t>
            </a:r>
            <a:r>
              <a:rPr lang="ja-JP" altLang="ja-JP" dirty="0">
                <a:ea typeface="ＭＳ ゴシック" panose="020B0609070205080204" pitchFamily="49" charset="-128"/>
              </a:rPr>
              <a:t>"Hi");</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hm.put("e2",</a:t>
            </a:r>
            <a:r>
              <a:rPr lang="en-US" altLang="ja-JP" dirty="0">
                <a:ea typeface="ＭＳ ゴシック" panose="020B0609070205080204" pitchFamily="49" charset="-128"/>
              </a:rPr>
              <a:t> </a:t>
            </a:r>
            <a:r>
              <a:rPr lang="ja-JP" altLang="ja-JP" dirty="0">
                <a:ea typeface="ＭＳ ゴシック" panose="020B0609070205080204" pitchFamily="49" charset="-128"/>
              </a:rPr>
              <a:t>"Hello");</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hm.put("e3",</a:t>
            </a:r>
            <a:r>
              <a:rPr lang="en-US" altLang="ja-JP" dirty="0">
                <a:ea typeface="ＭＳ ゴシック" panose="020B0609070205080204" pitchFamily="49" charset="-128"/>
              </a:rPr>
              <a:t> </a:t>
            </a:r>
            <a:r>
              <a:rPr lang="ja-JP" altLang="ja-JP" dirty="0">
                <a:ea typeface="ＭＳ ゴシック" panose="020B0609070205080204" pitchFamily="49" charset="-128"/>
              </a:rPr>
              <a:t>"Java");</a:t>
            </a:r>
          </a:p>
          <a:p>
            <a:pPr marL="187325" lvl="1" indent="0" algn="just">
              <a:lnSpc>
                <a:spcPct val="130000"/>
              </a:lnSpc>
              <a:buNone/>
            </a:pPr>
            <a:r>
              <a:rPr lang="ja-JP" altLang="ja-JP" dirty="0">
                <a:ea typeface="ＭＳ ゴシック" panose="020B0609070205080204" pitchFamily="49" charset="-128"/>
              </a:rPr>
              <a:t>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 </a:t>
            </a:r>
            <a:r>
              <a:rPr lang="en-US" altLang="ja-JP" dirty="0" err="1">
                <a:ea typeface="ＭＳ ゴシック" panose="020B0609070205080204" pitchFamily="49" charset="-128"/>
              </a:rPr>
              <a:t>Lấy</a:t>
            </a:r>
            <a:r>
              <a:rPr lang="en-US" altLang="ja-JP" dirty="0">
                <a:ea typeface="ＭＳ ゴシック" panose="020B0609070205080204" pitchFamily="49" charset="-128"/>
              </a:rPr>
              <a:t> </a:t>
            </a:r>
            <a:r>
              <a:rPr lang="en-US" altLang="ja-JP" dirty="0" err="1">
                <a:ea typeface="ＭＳ ゴシック" panose="020B0609070205080204" pitchFamily="49" charset="-128"/>
              </a:rPr>
              <a:t>và</a:t>
            </a:r>
            <a:r>
              <a:rPr lang="en-US" altLang="ja-JP" dirty="0">
                <a:ea typeface="ＭＳ ゴシック" panose="020B0609070205080204" pitchFamily="49" charset="-128"/>
              </a:rPr>
              <a:t> </a:t>
            </a:r>
            <a:r>
              <a:rPr lang="en-US" altLang="ja-JP" dirty="0" err="1">
                <a:ea typeface="ＭＳ ゴシック" panose="020B0609070205080204" pitchFamily="49" charset="-128"/>
              </a:rPr>
              <a:t>hiển</a:t>
            </a:r>
            <a:r>
              <a:rPr lang="en-US" altLang="ja-JP" dirty="0">
                <a:ea typeface="ＭＳ ゴシック" panose="020B0609070205080204" pitchFamily="49" charset="-128"/>
              </a:rPr>
              <a:t> </a:t>
            </a:r>
            <a:r>
              <a:rPr lang="en-US" altLang="ja-JP" dirty="0" err="1">
                <a:ea typeface="ＭＳ ゴシック" panose="020B0609070205080204" pitchFamily="49" charset="-128"/>
              </a:rPr>
              <a:t>thị</a:t>
            </a:r>
            <a:r>
              <a:rPr lang="en-US" altLang="ja-JP" dirty="0">
                <a:ea typeface="ＭＳ ゴシック" panose="020B0609070205080204" pitchFamily="49" charset="-128"/>
              </a:rPr>
              <a:t> </a:t>
            </a:r>
            <a:r>
              <a:rPr lang="en-US" altLang="ja-JP" dirty="0" err="1">
                <a:ea typeface="ＭＳ ゴシック" panose="020B0609070205080204" pitchFamily="49" charset="-128"/>
              </a:rPr>
              <a:t>số</a:t>
            </a:r>
            <a:r>
              <a:rPr lang="en-US" altLang="ja-JP" dirty="0">
                <a:ea typeface="ＭＳ ゴシック" panose="020B0609070205080204" pitchFamily="49" charset="-128"/>
              </a:rPr>
              <a:t> </a:t>
            </a:r>
            <a:r>
              <a:rPr lang="en-US" altLang="ja-JP" dirty="0" err="1">
                <a:ea typeface="ＭＳ ゴシック" panose="020B0609070205080204" pitchFamily="49" charset="-128"/>
              </a:rPr>
              <a:t>phần</a:t>
            </a:r>
            <a:r>
              <a:rPr lang="en-US" altLang="ja-JP" dirty="0">
                <a:ea typeface="ＭＳ ゴシック" panose="020B0609070205080204" pitchFamily="49" charset="-128"/>
              </a:rPr>
              <a:t> </a:t>
            </a:r>
            <a:r>
              <a:rPr lang="en-US" altLang="ja-JP" dirty="0" err="1">
                <a:ea typeface="ＭＳ ゴシック" panose="020B0609070205080204" pitchFamily="49" charset="-128"/>
              </a:rPr>
              <a:t>tử</a:t>
            </a:r>
            <a:r>
              <a:rPr lang="en-US" altLang="ja-JP" dirty="0">
                <a:ea typeface="ＭＳ ゴシック" panose="020B0609070205080204" pitchFamily="49" charset="-128"/>
              </a:rPr>
              <a:t> </a:t>
            </a:r>
            <a:r>
              <a:rPr lang="en-US" altLang="ja-JP" dirty="0" err="1">
                <a:ea typeface="ＭＳ ゴシック" panose="020B0609070205080204" pitchFamily="49" charset="-128"/>
              </a:rPr>
              <a:t>của</a:t>
            </a:r>
            <a:r>
              <a:rPr lang="en-US" altLang="ja-JP" dirty="0">
                <a:ea typeface="ＭＳ ゴシック" panose="020B0609070205080204" pitchFamily="49" charset="-128"/>
              </a:rPr>
              <a:t> </a:t>
            </a:r>
            <a:r>
              <a:rPr lang="ja-JP" altLang="ja-JP" dirty="0">
                <a:ea typeface="ＭＳ ゴシック" panose="020B0609070205080204" pitchFamily="49" charset="-128"/>
              </a:rPr>
              <a:t>HashMap</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System.out.println(“size</a:t>
            </a:r>
            <a:r>
              <a:rPr lang="en-US" altLang="ja-JP" dirty="0">
                <a:ea typeface="ＭＳ ゴシック" panose="020B0609070205080204" pitchFamily="49" charset="-128"/>
              </a:rPr>
              <a:t> </a:t>
            </a:r>
            <a:r>
              <a:rPr lang="en-US" altLang="ja-JP" dirty="0" err="1">
                <a:ea typeface="ＭＳ ゴシック" panose="020B0609070205080204" pitchFamily="49" charset="-128"/>
              </a:rPr>
              <a:t>trước</a:t>
            </a:r>
            <a:r>
              <a:rPr lang="en-US" altLang="ja-JP" dirty="0">
                <a:ea typeface="ＭＳ ゴシック" panose="020B0609070205080204" pitchFamily="49" charset="-128"/>
              </a:rPr>
              <a:t> </a:t>
            </a:r>
            <a:r>
              <a:rPr lang="en-US" altLang="ja-JP" dirty="0" err="1">
                <a:ea typeface="ＭＳ ゴシック" panose="020B0609070205080204" pitchFamily="49" charset="-128"/>
              </a:rPr>
              <a:t>khi</a:t>
            </a:r>
            <a:r>
              <a:rPr lang="en-US" altLang="ja-JP" dirty="0">
                <a:ea typeface="ＭＳ ゴシック" panose="020B0609070205080204" pitchFamily="49" charset="-128"/>
              </a:rPr>
              <a:t> </a:t>
            </a:r>
            <a:r>
              <a:rPr lang="en-US" altLang="ja-JP" dirty="0" err="1">
                <a:ea typeface="ＭＳ ゴシック" panose="020B0609070205080204" pitchFamily="49" charset="-128"/>
              </a:rPr>
              <a:t>xóa</a:t>
            </a:r>
            <a:r>
              <a:rPr lang="ja-JP" altLang="ja-JP" dirty="0">
                <a:ea typeface="ＭＳ ゴシック" panose="020B0609070205080204" pitchFamily="49" charset="-128"/>
              </a:rPr>
              <a:t>:" +  hm.size() );</a:t>
            </a:r>
          </a:p>
          <a:p>
            <a:pPr marL="187325" lvl="1" indent="0" algn="just">
              <a:lnSpc>
                <a:spcPct val="130000"/>
              </a:lnSpc>
              <a:buNone/>
            </a:pPr>
            <a:r>
              <a:rPr lang="ja-JP" altLang="ja-JP" dirty="0">
                <a:ea typeface="ＭＳ ゴシック" panose="020B0609070205080204" pitchFamily="49" charset="-128"/>
              </a:rPr>
              <a:t>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 </a:t>
            </a:r>
            <a:r>
              <a:rPr lang="en-US" altLang="ja-JP" dirty="0">
                <a:ea typeface="ＭＳ ゴシック" panose="020B0609070205080204" pitchFamily="49" charset="-128"/>
              </a:rPr>
              <a:t>Delete </a:t>
            </a:r>
            <a:r>
              <a:rPr lang="en-US" altLang="ja-JP" dirty="0" err="1">
                <a:ea typeface="ＭＳ ゴシック" panose="020B0609070205080204" pitchFamily="49" charset="-128"/>
              </a:rPr>
              <a:t>trong</a:t>
            </a:r>
            <a:r>
              <a:rPr lang="en-US" altLang="ja-JP" dirty="0">
                <a:ea typeface="ＭＳ ゴシック" panose="020B0609070205080204" pitchFamily="49" charset="-128"/>
              </a:rPr>
              <a:t> </a:t>
            </a:r>
            <a:r>
              <a:rPr lang="en-US" altLang="ja-JP" dirty="0" err="1">
                <a:ea typeface="ＭＳ ゴシック" panose="020B0609070205080204" pitchFamily="49" charset="-128"/>
              </a:rPr>
              <a:t>trường</a:t>
            </a:r>
            <a:r>
              <a:rPr lang="en-US" altLang="ja-JP" dirty="0">
                <a:ea typeface="ＭＳ ゴシック" panose="020B0609070205080204" pitchFamily="49" charset="-128"/>
              </a:rPr>
              <a:t> </a:t>
            </a:r>
            <a:r>
              <a:rPr lang="en-US" altLang="ja-JP" dirty="0" err="1">
                <a:ea typeface="ＭＳ ゴシック" panose="020B0609070205080204" pitchFamily="49" charset="-128"/>
              </a:rPr>
              <a:t>hợp</a:t>
            </a:r>
            <a:r>
              <a:rPr lang="en-US" altLang="ja-JP" dirty="0">
                <a:ea typeface="ＭＳ ゴシック" panose="020B0609070205080204" pitchFamily="49" charset="-128"/>
              </a:rPr>
              <a:t> </a:t>
            </a:r>
            <a:r>
              <a:rPr lang="en-US" altLang="ja-JP" dirty="0" err="1">
                <a:ea typeface="ＭＳ ゴシック" panose="020B0609070205080204" pitchFamily="49" charset="-128"/>
              </a:rPr>
              <a:t>đã</a:t>
            </a:r>
            <a:r>
              <a:rPr lang="en-US" altLang="ja-JP" dirty="0">
                <a:ea typeface="ＭＳ ゴシック" panose="020B0609070205080204" pitchFamily="49" charset="-128"/>
              </a:rPr>
              <a:t> </a:t>
            </a:r>
            <a:r>
              <a:rPr lang="en-US" altLang="ja-JP" dirty="0" err="1">
                <a:ea typeface="ＭＳ ゴシック" panose="020B0609070205080204" pitchFamily="49" charset="-128"/>
              </a:rPr>
              <a:t>tồn</a:t>
            </a:r>
            <a:r>
              <a:rPr lang="en-US" altLang="ja-JP" dirty="0">
                <a:ea typeface="ＭＳ ゴシック" panose="020B0609070205080204" pitchFamily="49" charset="-128"/>
              </a:rPr>
              <a:t> </a:t>
            </a:r>
            <a:r>
              <a:rPr lang="en-US" altLang="ja-JP" dirty="0" err="1">
                <a:ea typeface="ＭＳ ゴシック" panose="020B0609070205080204" pitchFamily="49" charset="-128"/>
              </a:rPr>
              <a:t>tại</a:t>
            </a:r>
            <a:r>
              <a:rPr lang="en-US" altLang="ja-JP" dirty="0">
                <a:ea typeface="ＭＳ ゴシック" panose="020B0609070205080204" pitchFamily="49" charset="-128"/>
              </a:rPr>
              <a:t> </a:t>
            </a:r>
            <a:r>
              <a:rPr lang="en-US" altLang="ja-JP" dirty="0" err="1">
                <a:ea typeface="ＭＳ ゴシック" panose="020B0609070205080204" pitchFamily="49" charset="-128"/>
              </a:rPr>
              <a:t>phần</a:t>
            </a:r>
            <a:r>
              <a:rPr lang="en-US" altLang="ja-JP" dirty="0">
                <a:ea typeface="ＭＳ ゴシック" panose="020B0609070205080204" pitchFamily="49" charset="-128"/>
              </a:rPr>
              <a:t> </a:t>
            </a:r>
            <a:r>
              <a:rPr lang="en-US" altLang="ja-JP" dirty="0" err="1">
                <a:ea typeface="ＭＳ ゴシック" panose="020B0609070205080204" pitchFamily="49" charset="-128"/>
              </a:rPr>
              <a:t>tử</a:t>
            </a:r>
            <a:r>
              <a:rPr lang="en-US" altLang="ja-JP" dirty="0">
                <a:ea typeface="ＭＳ ゴシック" panose="020B0609070205080204" pitchFamily="49" charset="-128"/>
              </a:rPr>
              <a:t> </a:t>
            </a:r>
            <a:r>
              <a:rPr lang="en-US" altLang="ja-JP" dirty="0" err="1">
                <a:ea typeface="ＭＳ ゴシック" panose="020B0609070205080204" pitchFamily="49" charset="-128"/>
              </a:rPr>
              <a:t>đã</a:t>
            </a:r>
            <a:r>
              <a:rPr lang="en-US" altLang="ja-JP" dirty="0">
                <a:ea typeface="ＭＳ ゴシック" panose="020B0609070205080204" pitchFamily="49" charset="-128"/>
              </a:rPr>
              <a:t> </a:t>
            </a:r>
            <a:r>
              <a:rPr lang="en-US" altLang="ja-JP" dirty="0" err="1">
                <a:ea typeface="ＭＳ ゴシック" panose="020B0609070205080204" pitchFamily="49" charset="-128"/>
              </a:rPr>
              <a:t>chỉ</a:t>
            </a:r>
            <a:r>
              <a:rPr lang="en-US" altLang="ja-JP" dirty="0">
                <a:ea typeface="ＭＳ ゴシック" panose="020B0609070205080204" pitchFamily="49" charset="-128"/>
              </a:rPr>
              <a:t> </a:t>
            </a:r>
            <a:r>
              <a:rPr lang="en-US" altLang="ja-JP" dirty="0" err="1">
                <a:ea typeface="ＭＳ ゴシック" panose="020B0609070205080204" pitchFamily="49" charset="-128"/>
              </a:rPr>
              <a:t>định</a:t>
            </a:r>
            <a:r>
              <a:rPr lang="en-US" altLang="ja-JP" dirty="0">
                <a:ea typeface="ＭＳ ゴシック" panose="020B0609070205080204" pitchFamily="49" charset="-128"/>
              </a:rPr>
              <a:t> </a:t>
            </a:r>
            <a:r>
              <a:rPr lang="en-US" altLang="ja-JP" dirty="0" err="1">
                <a:ea typeface="ＭＳ ゴシック" panose="020B0609070205080204" pitchFamily="49" charset="-128"/>
              </a:rPr>
              <a:t>trong</a:t>
            </a:r>
            <a:r>
              <a:rPr lang="en-US" altLang="ja-JP" dirty="0">
                <a:ea typeface="ＭＳ ゴシック" panose="020B0609070205080204" pitchFamily="49" charset="-128"/>
              </a:rPr>
              <a:t> HashMap</a:t>
            </a:r>
            <a:endParaRPr lang="ja-JP" altLang="ja-JP" dirty="0">
              <a:ea typeface="ＭＳ ゴシック" panose="020B0609070205080204" pitchFamily="49" charset="-128"/>
            </a:endParaRP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if</a:t>
            </a:r>
            <a:r>
              <a:rPr lang="en-US" altLang="ja-JP" dirty="0">
                <a:ea typeface="ＭＳ ゴシック" panose="020B0609070205080204" pitchFamily="49" charset="-128"/>
              </a:rPr>
              <a:t> </a:t>
            </a:r>
            <a:r>
              <a:rPr lang="ja-JP" altLang="ja-JP" dirty="0">
                <a:ea typeface="ＭＳ ゴシック" panose="020B0609070205080204" pitchFamily="49" charset="-128"/>
              </a:rPr>
              <a:t>( hm.remove("e2") != null)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System.out.println(</a:t>
            </a:r>
            <a:r>
              <a:rPr lang="en-US" altLang="ja-JP" dirty="0" err="1">
                <a:ea typeface="ＭＳ ゴシック" panose="020B0609070205080204" pitchFamily="49" charset="-128"/>
              </a:rPr>
              <a:t>Đa</a:t>
            </a:r>
            <a:r>
              <a:rPr lang="en-US" altLang="ja-JP" dirty="0">
                <a:ea typeface="ＭＳ ゴシック" panose="020B0609070205080204" pitchFamily="49" charset="-128"/>
              </a:rPr>
              <a:t>̃ </a:t>
            </a:r>
            <a:r>
              <a:rPr lang="en-US" altLang="ja-JP" dirty="0" err="1">
                <a:ea typeface="ＭＳ ゴシック" panose="020B0609070205080204" pitchFamily="49" charset="-128"/>
              </a:rPr>
              <a:t>xóa</a:t>
            </a:r>
            <a:r>
              <a:rPr lang="en-US" altLang="ja-JP" dirty="0">
                <a:ea typeface="ＭＳ ゴシック" panose="020B0609070205080204" pitchFamily="49" charset="-128"/>
              </a:rPr>
              <a:t> </a:t>
            </a:r>
            <a:r>
              <a:rPr lang="ja-JP" altLang="ja-JP" dirty="0">
                <a:ea typeface="ＭＳ ゴシック" panose="020B0609070205080204" pitchFamily="49" charset="-128"/>
              </a:rPr>
              <a:t>“</a:t>
            </a:r>
            <a:r>
              <a:rPr lang="en-US" altLang="ja-JP" dirty="0" err="1">
                <a:ea typeface="ＭＳ ゴシック" panose="020B0609070205080204" pitchFamily="49" charset="-128"/>
              </a:rPr>
              <a:t>phần</a:t>
            </a:r>
            <a:r>
              <a:rPr lang="en-US" altLang="ja-JP" dirty="0">
                <a:ea typeface="ＭＳ ゴシック" panose="020B0609070205080204" pitchFamily="49" charset="-128"/>
              </a:rPr>
              <a:t> </a:t>
            </a:r>
            <a:r>
              <a:rPr lang="en-US" altLang="ja-JP" dirty="0" err="1">
                <a:ea typeface="ＭＳ ゴシック" panose="020B0609070205080204" pitchFamily="49" charset="-128"/>
              </a:rPr>
              <a:t>tư</a:t>
            </a:r>
            <a:r>
              <a:rPr lang="en-US" altLang="ja-JP" dirty="0">
                <a:ea typeface="ＭＳ ゴシック" panose="020B0609070205080204" pitchFamily="49" charset="-128"/>
              </a:rPr>
              <a:t>̉</a:t>
            </a:r>
            <a:r>
              <a:rPr lang="ja-JP" altLang="ja-JP" dirty="0">
                <a:ea typeface="ＭＳ ゴシック" panose="020B0609070205080204" pitchFamily="49" charset="-128"/>
              </a:rPr>
              <a:t>\"e2\"");</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 else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System.out.println(“</a:t>
            </a:r>
            <a:r>
              <a:rPr lang="en-US" altLang="ja-JP" dirty="0" err="1">
                <a:ea typeface="ＭＳ ゴシック" panose="020B0609070205080204" pitchFamily="49" charset="-128"/>
              </a:rPr>
              <a:t>phần</a:t>
            </a:r>
            <a:r>
              <a:rPr lang="en-US" altLang="ja-JP" dirty="0">
                <a:ea typeface="ＭＳ ゴシック" panose="020B0609070205080204" pitchFamily="49" charset="-128"/>
              </a:rPr>
              <a:t> </a:t>
            </a:r>
            <a:r>
              <a:rPr lang="en-US" altLang="ja-JP" dirty="0" err="1">
                <a:ea typeface="ＭＳ ゴシック" panose="020B0609070205080204" pitchFamily="49" charset="-128"/>
              </a:rPr>
              <a:t>tư</a:t>
            </a:r>
            <a:r>
              <a:rPr lang="en-US" altLang="ja-JP" dirty="0">
                <a:ea typeface="ＭＳ ゴシック" panose="020B0609070205080204" pitchFamily="49" charset="-128"/>
              </a:rPr>
              <a:t>̉</a:t>
            </a:r>
            <a:r>
              <a:rPr lang="ja-JP" altLang="ja-JP" dirty="0">
                <a:ea typeface="ＭＳ ゴシック" panose="020B0609070205080204" pitchFamily="49" charset="-128"/>
              </a:rPr>
              <a:t>\”e2\“</a:t>
            </a:r>
            <a:r>
              <a:rPr lang="en-US" altLang="ja-JP" dirty="0">
                <a:ea typeface="ＭＳ ゴシック" panose="020B0609070205080204" pitchFamily="49" charset="-128"/>
              </a:rPr>
              <a:t> </a:t>
            </a:r>
            <a:r>
              <a:rPr lang="en-US" altLang="ja-JP" dirty="0" err="1">
                <a:ea typeface="ＭＳ ゴシック" panose="020B0609070205080204" pitchFamily="49" charset="-128"/>
              </a:rPr>
              <a:t>không</a:t>
            </a:r>
            <a:r>
              <a:rPr lang="en-US" altLang="ja-JP" dirty="0">
                <a:ea typeface="ＭＳ ゴシック" panose="020B0609070205080204" pitchFamily="49" charset="-128"/>
              </a:rPr>
              <a:t> </a:t>
            </a:r>
            <a:r>
              <a:rPr lang="en-US" altLang="ja-JP" dirty="0" err="1">
                <a:ea typeface="ＭＳ ゴシック" panose="020B0609070205080204" pitchFamily="49" charset="-128"/>
              </a:rPr>
              <a:t>tồn</a:t>
            </a:r>
            <a:r>
              <a:rPr lang="en-US" altLang="ja-JP" dirty="0">
                <a:ea typeface="ＭＳ ゴシック" panose="020B0609070205080204" pitchFamily="49" charset="-128"/>
              </a:rPr>
              <a:t> </a:t>
            </a:r>
            <a:r>
              <a:rPr lang="en-US" altLang="ja-JP" dirty="0" err="1">
                <a:ea typeface="ＭＳ ゴシック" panose="020B0609070205080204" pitchFamily="49" charset="-128"/>
              </a:rPr>
              <a:t>tại</a:t>
            </a:r>
            <a:r>
              <a:rPr lang="ja-JP" altLang="ja-JP" dirty="0">
                <a:ea typeface="ＭＳ ゴシック" panose="020B0609070205080204" pitchFamily="49" charset="-128"/>
              </a:rPr>
              <a:t>");</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a:t>
            </a:r>
          </a:p>
          <a:p>
            <a:pPr marL="187325" lvl="1" indent="0" algn="just">
              <a:lnSpc>
                <a:spcPct val="130000"/>
              </a:lnSpc>
              <a:buNone/>
            </a:pPr>
            <a:r>
              <a:rPr lang="ja-JP" altLang="ja-JP" dirty="0">
                <a:ea typeface="ＭＳ ゴシック" panose="020B0609070205080204" pitchFamily="49" charset="-128"/>
              </a:rPr>
              <a:t>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 </a:t>
            </a:r>
            <a:r>
              <a:rPr lang="en-US" altLang="ja-JP" dirty="0" err="1">
                <a:ea typeface="ＭＳ ゴシック" panose="020B0609070205080204" pitchFamily="49" charset="-128"/>
              </a:rPr>
              <a:t>Lấy</a:t>
            </a:r>
            <a:r>
              <a:rPr lang="en-US" altLang="ja-JP" dirty="0">
                <a:ea typeface="ＭＳ ゴシック" panose="020B0609070205080204" pitchFamily="49" charset="-128"/>
              </a:rPr>
              <a:t> </a:t>
            </a:r>
            <a:r>
              <a:rPr lang="en-US" altLang="ja-JP" dirty="0" err="1">
                <a:ea typeface="ＭＳ ゴシック" panose="020B0609070205080204" pitchFamily="49" charset="-128"/>
              </a:rPr>
              <a:t>và</a:t>
            </a:r>
            <a:r>
              <a:rPr lang="en-US" altLang="ja-JP" dirty="0">
                <a:ea typeface="ＭＳ ゴシック" panose="020B0609070205080204" pitchFamily="49" charset="-128"/>
              </a:rPr>
              <a:t> </a:t>
            </a:r>
            <a:r>
              <a:rPr lang="en-US" altLang="ja-JP" dirty="0" err="1">
                <a:ea typeface="ＭＳ ゴシック" panose="020B0609070205080204" pitchFamily="49" charset="-128"/>
              </a:rPr>
              <a:t>hiển</a:t>
            </a:r>
            <a:r>
              <a:rPr lang="en-US" altLang="ja-JP" dirty="0">
                <a:ea typeface="ＭＳ ゴシック" panose="020B0609070205080204" pitchFamily="49" charset="-128"/>
              </a:rPr>
              <a:t> </a:t>
            </a:r>
            <a:r>
              <a:rPr lang="en-US" altLang="ja-JP" dirty="0" err="1">
                <a:ea typeface="ＭＳ ゴシック" panose="020B0609070205080204" pitchFamily="49" charset="-128"/>
              </a:rPr>
              <a:t>thị</a:t>
            </a:r>
            <a:r>
              <a:rPr lang="en-US" altLang="ja-JP" dirty="0">
                <a:ea typeface="ＭＳ ゴシック" panose="020B0609070205080204" pitchFamily="49" charset="-128"/>
              </a:rPr>
              <a:t> </a:t>
            </a:r>
            <a:r>
              <a:rPr lang="en-US" altLang="ja-JP" dirty="0" err="1">
                <a:ea typeface="ＭＳ ゴシック" panose="020B0609070205080204" pitchFamily="49" charset="-128"/>
              </a:rPr>
              <a:t>tất</a:t>
            </a:r>
            <a:r>
              <a:rPr lang="en-US" altLang="ja-JP" dirty="0">
                <a:ea typeface="ＭＳ ゴシック" panose="020B0609070205080204" pitchFamily="49" charset="-128"/>
              </a:rPr>
              <a:t> </a:t>
            </a:r>
            <a:r>
              <a:rPr lang="en-US" altLang="ja-JP" dirty="0" err="1">
                <a:ea typeface="ＭＳ ゴシック" panose="020B0609070205080204" pitchFamily="49" charset="-128"/>
              </a:rPr>
              <a:t>cả</a:t>
            </a:r>
            <a:r>
              <a:rPr lang="en-US" altLang="ja-JP" dirty="0">
                <a:ea typeface="ＭＳ ゴシック" panose="020B0609070205080204" pitchFamily="49" charset="-128"/>
              </a:rPr>
              <a:t> </a:t>
            </a:r>
            <a:r>
              <a:rPr lang="en-US" altLang="ja-JP" dirty="0" err="1">
                <a:ea typeface="ＭＳ ゴシック" panose="020B0609070205080204" pitchFamily="49" charset="-128"/>
              </a:rPr>
              <a:t>các</a:t>
            </a:r>
            <a:r>
              <a:rPr lang="en-US" altLang="ja-JP" dirty="0">
                <a:ea typeface="ＭＳ ゴシック" panose="020B0609070205080204" pitchFamily="49" charset="-128"/>
              </a:rPr>
              <a:t> </a:t>
            </a:r>
            <a:r>
              <a:rPr lang="en-US" altLang="ja-JP" dirty="0" err="1">
                <a:ea typeface="ＭＳ ゴシック" panose="020B0609070205080204" pitchFamily="49" charset="-128"/>
              </a:rPr>
              <a:t>phần</a:t>
            </a:r>
            <a:r>
              <a:rPr lang="en-US" altLang="ja-JP" dirty="0">
                <a:ea typeface="ＭＳ ゴシック" panose="020B0609070205080204" pitchFamily="49" charset="-128"/>
              </a:rPr>
              <a:t> </a:t>
            </a:r>
            <a:r>
              <a:rPr lang="en-US" altLang="ja-JP" dirty="0" err="1">
                <a:ea typeface="ＭＳ ゴシック" panose="020B0609070205080204" pitchFamily="49" charset="-128"/>
              </a:rPr>
              <a:t>tử</a:t>
            </a:r>
            <a:r>
              <a:rPr lang="en-US" altLang="ja-JP" dirty="0">
                <a:ea typeface="ＭＳ ゴシック" panose="020B0609070205080204" pitchFamily="49" charset="-128"/>
              </a:rPr>
              <a:t> </a:t>
            </a:r>
            <a:r>
              <a:rPr lang="en-US" altLang="ja-JP" dirty="0" err="1">
                <a:ea typeface="ＭＳ ゴシック" panose="020B0609070205080204" pitchFamily="49" charset="-128"/>
              </a:rPr>
              <a:t>của</a:t>
            </a:r>
            <a:r>
              <a:rPr lang="en-US" altLang="ja-JP" dirty="0">
                <a:ea typeface="ＭＳ ゴシック" panose="020B0609070205080204" pitchFamily="49" charset="-128"/>
              </a:rPr>
              <a:t> </a:t>
            </a:r>
            <a:r>
              <a:rPr lang="ja-JP" altLang="ja-JP" dirty="0">
                <a:ea typeface="ＭＳ ゴシック" panose="020B0609070205080204" pitchFamily="49" charset="-128"/>
              </a:rPr>
              <a:t>HashMap</a:t>
            </a:r>
            <a:r>
              <a:rPr lang="en-US" altLang="ja-JP" dirty="0">
                <a:ea typeface="ＭＳ ゴシック" panose="020B0609070205080204" pitchFamily="49" charset="-128"/>
              </a:rPr>
              <a:t> (key </a:t>
            </a:r>
            <a:r>
              <a:rPr lang="en-US" altLang="ja-JP" dirty="0" err="1">
                <a:ea typeface="ＭＳ ゴシック" panose="020B0609070205080204" pitchFamily="49" charset="-128"/>
              </a:rPr>
              <a:t>và</a:t>
            </a:r>
            <a:r>
              <a:rPr lang="en-US" altLang="ja-JP" dirty="0">
                <a:ea typeface="ＭＳ ゴシック" panose="020B0609070205080204" pitchFamily="49" charset="-128"/>
              </a:rPr>
              <a:t> </a:t>
            </a:r>
            <a:r>
              <a:rPr lang="en-US" altLang="ja-JP" dirty="0" err="1">
                <a:ea typeface="ＭＳ ゴシック" panose="020B0609070205080204" pitchFamily="49" charset="-128"/>
              </a:rPr>
              <a:t>giá</a:t>
            </a:r>
            <a:r>
              <a:rPr lang="en-US" altLang="ja-JP" dirty="0">
                <a:ea typeface="ＭＳ ゴシック" panose="020B0609070205080204" pitchFamily="49" charset="-128"/>
              </a:rPr>
              <a:t> </a:t>
            </a:r>
            <a:r>
              <a:rPr lang="en-US" altLang="ja-JP" dirty="0" err="1">
                <a:ea typeface="ＭＳ ゴシック" panose="020B0609070205080204" pitchFamily="49" charset="-128"/>
              </a:rPr>
              <a:t>trị</a:t>
            </a:r>
            <a:r>
              <a:rPr lang="en-US" altLang="ja-JP" dirty="0">
                <a:ea typeface="ＭＳ ゴシック" panose="020B0609070205080204" pitchFamily="49" charset="-128"/>
              </a:rPr>
              <a:t>)</a:t>
            </a:r>
            <a:endParaRPr lang="ja-JP" altLang="ja-JP" dirty="0">
              <a:ea typeface="ＭＳ ゴシック" panose="020B0609070205080204" pitchFamily="49" charset="-128"/>
            </a:endParaRP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for</a:t>
            </a:r>
            <a:r>
              <a:rPr lang="en-US" altLang="ja-JP" dirty="0">
                <a:ea typeface="ＭＳ ゴシック" panose="020B0609070205080204" pitchFamily="49" charset="-128"/>
              </a:rPr>
              <a:t> </a:t>
            </a:r>
            <a:r>
              <a:rPr lang="ja-JP" altLang="ja-JP" dirty="0">
                <a:ea typeface="ＭＳ ゴシック" panose="020B0609070205080204" pitchFamily="49" charset="-128"/>
              </a:rPr>
              <a:t>(String str</a:t>
            </a:r>
            <a:r>
              <a:rPr lang="en-US" altLang="ja-JP" dirty="0">
                <a:ea typeface="ＭＳ ゴシック" panose="020B0609070205080204" pitchFamily="49" charset="-128"/>
              </a:rPr>
              <a:t> </a:t>
            </a:r>
            <a:r>
              <a:rPr lang="ja-JP" altLang="ja-JP" dirty="0">
                <a:ea typeface="ＭＳ ゴシック" panose="020B0609070205080204" pitchFamily="49" charset="-128"/>
              </a:rPr>
              <a:t>:</a:t>
            </a:r>
            <a:r>
              <a:rPr lang="en-US" altLang="ja-JP" dirty="0">
                <a:ea typeface="ＭＳ ゴシック" panose="020B0609070205080204" pitchFamily="49" charset="-128"/>
              </a:rPr>
              <a:t> </a:t>
            </a:r>
            <a:r>
              <a:rPr lang="ja-JP" altLang="ja-JP" dirty="0">
                <a:ea typeface="ＭＳ ゴシック" panose="020B0609070205080204" pitchFamily="49" charset="-128"/>
              </a:rPr>
              <a:t>hm.keySet()) {</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System.out.println(str + ":" + hm.get(str));</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a:t>
            </a:r>
          </a:p>
          <a:p>
            <a:pPr marL="187325" lvl="1" indent="0" algn="just">
              <a:lnSpc>
                <a:spcPct val="130000"/>
              </a:lnSpc>
              <a:buNone/>
            </a:pPr>
            <a:r>
              <a:rPr lang="en-US" altLang="ja-JP" dirty="0">
                <a:ea typeface="ＭＳ ゴシック" panose="020B0609070205080204" pitchFamily="49" charset="-128"/>
              </a:rPr>
              <a:t>    </a:t>
            </a:r>
            <a:r>
              <a:rPr lang="ja-JP" altLang="ja-JP" dirty="0">
                <a:ea typeface="ＭＳ ゴシック" panose="020B0609070205080204" pitchFamily="49" charset="-128"/>
              </a:rPr>
              <a:t>}</a:t>
            </a:r>
          </a:p>
          <a:p>
            <a:pPr marL="187325" lvl="1" indent="0" algn="just">
              <a:lnSpc>
                <a:spcPct val="130000"/>
              </a:lnSpc>
              <a:buNone/>
            </a:pPr>
            <a:r>
              <a:rPr lang="ja-JP" altLang="ja-JP" dirty="0">
                <a:ea typeface="ＭＳ ゴシック" panose="020B0609070205080204" pitchFamily="49" charset="-128"/>
              </a:rPr>
              <a:t>}</a:t>
            </a:r>
          </a:p>
          <a:p>
            <a:pPr marL="0" indent="0">
              <a:buNone/>
            </a:pPr>
            <a:endParaRPr lang="ja-JP" altLang="en-US" dirty="0"/>
          </a:p>
        </p:txBody>
      </p:sp>
      <p:sp>
        <p:nvSpPr>
          <p:cNvPr id="4" name="Slide Number Placeholder 3">
            <a:extLst>
              <a:ext uri="{FF2B5EF4-FFF2-40B4-BE49-F238E27FC236}">
                <a16:creationId xmlns:a16="http://schemas.microsoft.com/office/drawing/2014/main" id="{1DF7B102-08C6-EC5B-1E28-3A5EEA97CC8C}"/>
              </a:ext>
            </a:extLst>
          </p:cNvPr>
          <p:cNvSpPr>
            <a:spLocks noGrp="1"/>
          </p:cNvSpPr>
          <p:nvPr>
            <p:ph type="sldNum" sz="quarter" idx="10"/>
          </p:nvPr>
        </p:nvSpPr>
        <p:spPr/>
        <p:txBody>
          <a:bodyPr/>
          <a:lstStyle/>
          <a:p>
            <a:fld id="{2A23074F-B102-40E4-A99A-14288BCA1A83}" type="slidenum">
              <a:rPr lang="en-US" altLang="ja-JP" smtClean="0"/>
              <a:pPr/>
              <a:t>14</a:t>
            </a:fld>
            <a:endParaRPr lang="en-US" altLang="ja-JP"/>
          </a:p>
        </p:txBody>
      </p:sp>
      <p:sp>
        <p:nvSpPr>
          <p:cNvPr id="6" name="Rectangle 5">
            <a:extLst>
              <a:ext uri="{FF2B5EF4-FFF2-40B4-BE49-F238E27FC236}">
                <a16:creationId xmlns:a16="http://schemas.microsoft.com/office/drawing/2014/main" id="{C6BECA91-730E-BEA9-81A3-C06B948F2EA1}"/>
              </a:ext>
            </a:extLst>
          </p:cNvPr>
          <p:cNvSpPr>
            <a:spLocks noChangeArrowheads="1"/>
          </p:cNvSpPr>
          <p:nvPr/>
        </p:nvSpPr>
        <p:spPr bwMode="auto">
          <a:xfrm>
            <a:off x="914400" y="2057401"/>
            <a:ext cx="3810000" cy="228599"/>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8" name="Rectangle 5">
            <a:extLst>
              <a:ext uri="{FF2B5EF4-FFF2-40B4-BE49-F238E27FC236}">
                <a16:creationId xmlns:a16="http://schemas.microsoft.com/office/drawing/2014/main" id="{A94BF81A-7858-56C6-141C-4639A2A6EA13}"/>
              </a:ext>
            </a:extLst>
          </p:cNvPr>
          <p:cNvSpPr>
            <a:spLocks noChangeArrowheads="1"/>
          </p:cNvSpPr>
          <p:nvPr/>
        </p:nvSpPr>
        <p:spPr bwMode="auto">
          <a:xfrm>
            <a:off x="914400" y="2590800"/>
            <a:ext cx="3810000" cy="609601"/>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0" name="Rectangle 5">
            <a:extLst>
              <a:ext uri="{FF2B5EF4-FFF2-40B4-BE49-F238E27FC236}">
                <a16:creationId xmlns:a16="http://schemas.microsoft.com/office/drawing/2014/main" id="{FA72072B-246D-68A9-07A3-D929B7F17B9D}"/>
              </a:ext>
            </a:extLst>
          </p:cNvPr>
          <p:cNvSpPr>
            <a:spLocks noChangeArrowheads="1"/>
          </p:cNvSpPr>
          <p:nvPr/>
        </p:nvSpPr>
        <p:spPr bwMode="auto">
          <a:xfrm>
            <a:off x="914400" y="3476625"/>
            <a:ext cx="3810000" cy="257175"/>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2" name="Rectangle 5">
            <a:extLst>
              <a:ext uri="{FF2B5EF4-FFF2-40B4-BE49-F238E27FC236}">
                <a16:creationId xmlns:a16="http://schemas.microsoft.com/office/drawing/2014/main" id="{80158618-48B8-7DA2-8C9F-07CD88BA21BE}"/>
              </a:ext>
            </a:extLst>
          </p:cNvPr>
          <p:cNvSpPr>
            <a:spLocks noChangeArrowheads="1"/>
          </p:cNvSpPr>
          <p:nvPr/>
        </p:nvSpPr>
        <p:spPr bwMode="auto">
          <a:xfrm>
            <a:off x="914400" y="4040202"/>
            <a:ext cx="3810000" cy="91279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14" name="Rectangle 5">
            <a:extLst>
              <a:ext uri="{FF2B5EF4-FFF2-40B4-BE49-F238E27FC236}">
                <a16:creationId xmlns:a16="http://schemas.microsoft.com/office/drawing/2014/main" id="{D1F8E830-9C16-AD30-1588-6958634A48F9}"/>
              </a:ext>
            </a:extLst>
          </p:cNvPr>
          <p:cNvSpPr>
            <a:spLocks noChangeArrowheads="1"/>
          </p:cNvSpPr>
          <p:nvPr/>
        </p:nvSpPr>
        <p:spPr bwMode="auto">
          <a:xfrm>
            <a:off x="914400" y="5259402"/>
            <a:ext cx="3810000" cy="607998"/>
          </a:xfrm>
          <a:prstGeom prst="rect">
            <a:avLst/>
          </a:prstGeom>
          <a:noFill/>
          <a:ln w="19050" algn="ctr">
            <a:solidFill>
              <a:srgbClr val="3FB00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6" tIns="45708" rIns="91416" bIns="45708" anchor="ctr"/>
          <a:lstStyle>
            <a:lvl1pPr defTabSz="863600">
              <a:defRPr kumimoji="1">
                <a:solidFill>
                  <a:schemeClr val="tx1"/>
                </a:solidFill>
                <a:latin typeface="Arial" panose="020B0604020202020204" pitchFamily="34" charset="0"/>
                <a:ea typeface="ＭＳ Ｐゴシック" panose="020B0600070205080204" pitchFamily="50" charset="-128"/>
              </a:defRPr>
            </a:lvl1pPr>
            <a:lvl2pPr defTabSz="863600">
              <a:defRPr kumimoji="1">
                <a:solidFill>
                  <a:schemeClr val="tx1"/>
                </a:solidFill>
                <a:latin typeface="Arial" panose="020B0604020202020204" pitchFamily="34" charset="0"/>
                <a:ea typeface="ＭＳ Ｐゴシック" panose="020B0600070205080204" pitchFamily="50" charset="-128"/>
              </a:defRPr>
            </a:lvl2pPr>
            <a:lvl3pPr defTabSz="863600">
              <a:defRPr kumimoji="1">
                <a:solidFill>
                  <a:schemeClr val="tx1"/>
                </a:solidFill>
                <a:latin typeface="Arial" panose="020B0604020202020204" pitchFamily="34" charset="0"/>
                <a:ea typeface="ＭＳ Ｐゴシック" panose="020B0600070205080204" pitchFamily="50" charset="-128"/>
              </a:defRPr>
            </a:lvl3pPr>
            <a:lvl4pPr marL="1370013" defTabSz="863600">
              <a:defRPr kumimoji="1">
                <a:solidFill>
                  <a:schemeClr val="tx1"/>
                </a:solidFill>
                <a:latin typeface="Arial" panose="020B0604020202020204" pitchFamily="34" charset="0"/>
                <a:ea typeface="ＭＳ Ｐゴシック" panose="020B0600070205080204" pitchFamily="50" charset="-128"/>
              </a:defRPr>
            </a:lvl4pPr>
            <a:lvl5pPr defTabSz="863600">
              <a:defRPr kumimoji="1">
                <a:solidFill>
                  <a:schemeClr val="tx1"/>
                </a:solidFill>
                <a:latin typeface="Arial" panose="020B0604020202020204" pitchFamily="34" charset="0"/>
                <a:ea typeface="ＭＳ Ｐゴシック" panose="020B0600070205080204" pitchFamily="50" charset="-128"/>
              </a:defRPr>
            </a:lvl5pPr>
            <a:lvl6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defTabSz="863600"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endParaRPr lang="ja-JP" altLang="ja-JP" sz="1100" b="0">
              <a:latin typeface="ＭＳ Ｐゴシック" panose="020B0600070205080204" pitchFamily="50" charset="-128"/>
            </a:endParaRPr>
          </a:p>
        </p:txBody>
      </p:sp>
      <p:sp>
        <p:nvSpPr>
          <p:cNvPr id="30" name="AutoShape 120">
            <a:extLst>
              <a:ext uri="{FF2B5EF4-FFF2-40B4-BE49-F238E27FC236}">
                <a16:creationId xmlns:a16="http://schemas.microsoft.com/office/drawing/2014/main" id="{AC845042-F07C-D27C-1B3B-E904947CB8A8}"/>
              </a:ext>
            </a:extLst>
          </p:cNvPr>
          <p:cNvSpPr>
            <a:spLocks noChangeArrowheads="1"/>
          </p:cNvSpPr>
          <p:nvPr/>
        </p:nvSpPr>
        <p:spPr bwMode="auto">
          <a:xfrm>
            <a:off x="5072063" y="3689806"/>
            <a:ext cx="4678362" cy="1657350"/>
          </a:xfrm>
          <a:prstGeom prst="roundRect">
            <a:avLst>
              <a:gd name="adj" fmla="val 16667"/>
            </a:avLst>
          </a:prstGeom>
          <a:solidFill>
            <a:srgbClr val="FFFFCC">
              <a:alpha val="50000"/>
            </a:srgbClr>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1"/>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HashMap</a:t>
            </a:r>
          </a:p>
        </p:txBody>
      </p:sp>
      <p:sp>
        <p:nvSpPr>
          <p:cNvPr id="32" name="AutoShape 176">
            <a:extLst>
              <a:ext uri="{FF2B5EF4-FFF2-40B4-BE49-F238E27FC236}">
                <a16:creationId xmlns:a16="http://schemas.microsoft.com/office/drawing/2014/main" id="{23B9F2AE-45CA-DDE3-E8E3-51E4463B29A7}"/>
              </a:ext>
            </a:extLst>
          </p:cNvPr>
          <p:cNvSpPr>
            <a:spLocks noChangeArrowheads="1"/>
          </p:cNvSpPr>
          <p:nvPr/>
        </p:nvSpPr>
        <p:spPr bwMode="auto">
          <a:xfrm>
            <a:off x="6019800" y="2634347"/>
            <a:ext cx="3200400" cy="533847"/>
          </a:xfrm>
          <a:prstGeom prst="wedgeRoundRectCallout">
            <a:avLst>
              <a:gd name="adj1" fmla="val -52991"/>
              <a:gd name="adj2" fmla="val 140667"/>
              <a:gd name="adj3" fmla="val 16667"/>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25" tIns="45712" rIns="91425" bIns="45712"/>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b="0">
                <a:ea typeface="MS UI Gothic" panose="020B0600070205080204" pitchFamily="50" charset="-128"/>
              </a:rPr>
              <a:t>Tập hợp của set key và giá trị</a:t>
            </a:r>
          </a:p>
        </p:txBody>
      </p:sp>
      <p:sp>
        <p:nvSpPr>
          <p:cNvPr id="34" name="Rectangle 158">
            <a:extLst>
              <a:ext uri="{FF2B5EF4-FFF2-40B4-BE49-F238E27FC236}">
                <a16:creationId xmlns:a16="http://schemas.microsoft.com/office/drawing/2014/main" id="{58A2E521-1DEC-7965-E72E-093C9186B2D5}"/>
              </a:ext>
            </a:extLst>
          </p:cNvPr>
          <p:cNvSpPr>
            <a:spLocks noChangeArrowheads="1"/>
          </p:cNvSpPr>
          <p:nvPr/>
        </p:nvSpPr>
        <p:spPr bwMode="auto">
          <a:xfrm>
            <a:off x="5261769" y="4743544"/>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"Hi"</a:t>
            </a:r>
          </a:p>
        </p:txBody>
      </p:sp>
      <p:sp>
        <p:nvSpPr>
          <p:cNvPr id="36" name="Rectangle 159">
            <a:extLst>
              <a:ext uri="{FF2B5EF4-FFF2-40B4-BE49-F238E27FC236}">
                <a16:creationId xmlns:a16="http://schemas.microsoft.com/office/drawing/2014/main" id="{1C1EC5C1-483E-948D-2F18-35064BB7A253}"/>
              </a:ext>
            </a:extLst>
          </p:cNvPr>
          <p:cNvSpPr>
            <a:spLocks noChangeArrowheads="1"/>
          </p:cNvSpPr>
          <p:nvPr/>
        </p:nvSpPr>
        <p:spPr bwMode="auto">
          <a:xfrm>
            <a:off x="7574757" y="4753069"/>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"Hello"</a:t>
            </a:r>
          </a:p>
        </p:txBody>
      </p:sp>
      <p:sp>
        <p:nvSpPr>
          <p:cNvPr id="38" name="Rectangle 160">
            <a:extLst>
              <a:ext uri="{FF2B5EF4-FFF2-40B4-BE49-F238E27FC236}">
                <a16:creationId xmlns:a16="http://schemas.microsoft.com/office/drawing/2014/main" id="{E9B914EF-9191-51AF-589D-D69257BE362B}"/>
              </a:ext>
            </a:extLst>
          </p:cNvPr>
          <p:cNvSpPr>
            <a:spLocks noChangeArrowheads="1"/>
          </p:cNvSpPr>
          <p:nvPr/>
        </p:nvSpPr>
        <p:spPr bwMode="auto">
          <a:xfrm>
            <a:off x="6450807" y="4772119"/>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"Java"</a:t>
            </a:r>
          </a:p>
        </p:txBody>
      </p:sp>
      <p:sp>
        <p:nvSpPr>
          <p:cNvPr id="40" name="Rectangle 161">
            <a:extLst>
              <a:ext uri="{FF2B5EF4-FFF2-40B4-BE49-F238E27FC236}">
                <a16:creationId xmlns:a16="http://schemas.microsoft.com/office/drawing/2014/main" id="{81132781-3DA3-711C-4B90-B7D2A98E0C44}"/>
              </a:ext>
            </a:extLst>
          </p:cNvPr>
          <p:cNvSpPr>
            <a:spLocks noChangeArrowheads="1"/>
          </p:cNvSpPr>
          <p:nvPr/>
        </p:nvSpPr>
        <p:spPr bwMode="auto">
          <a:xfrm>
            <a:off x="8662194" y="4743544"/>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"ABC"</a:t>
            </a:r>
          </a:p>
        </p:txBody>
      </p:sp>
      <p:sp>
        <p:nvSpPr>
          <p:cNvPr id="42" name="Rectangle 162">
            <a:extLst>
              <a:ext uri="{FF2B5EF4-FFF2-40B4-BE49-F238E27FC236}">
                <a16:creationId xmlns:a16="http://schemas.microsoft.com/office/drawing/2014/main" id="{1DE14D62-1C13-D874-C1FE-A168CA9A1AD6}"/>
              </a:ext>
            </a:extLst>
          </p:cNvPr>
          <p:cNvSpPr>
            <a:spLocks noChangeArrowheads="1"/>
          </p:cNvSpPr>
          <p:nvPr/>
        </p:nvSpPr>
        <p:spPr bwMode="auto">
          <a:xfrm>
            <a:off x="5261769" y="4229194"/>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dirty="0">
                <a:latin typeface="MS UI Gothic" panose="020B0600070205080204" pitchFamily="50" charset="-128"/>
                <a:ea typeface="MS UI Gothic" panose="020B0600070205080204" pitchFamily="50" charset="-128"/>
              </a:rPr>
              <a:t>"e1"</a:t>
            </a:r>
          </a:p>
        </p:txBody>
      </p:sp>
      <p:sp>
        <p:nvSpPr>
          <p:cNvPr id="44" name="Rectangle 163">
            <a:extLst>
              <a:ext uri="{FF2B5EF4-FFF2-40B4-BE49-F238E27FC236}">
                <a16:creationId xmlns:a16="http://schemas.microsoft.com/office/drawing/2014/main" id="{BB9895D9-8D6A-1FA8-4675-715A5DA4F916}"/>
              </a:ext>
            </a:extLst>
          </p:cNvPr>
          <p:cNvSpPr>
            <a:spLocks noChangeArrowheads="1"/>
          </p:cNvSpPr>
          <p:nvPr/>
        </p:nvSpPr>
        <p:spPr bwMode="auto">
          <a:xfrm>
            <a:off x="6441282" y="4229194"/>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"e2"</a:t>
            </a:r>
          </a:p>
        </p:txBody>
      </p:sp>
      <p:sp>
        <p:nvSpPr>
          <p:cNvPr id="46" name="Rectangle 164">
            <a:extLst>
              <a:ext uri="{FF2B5EF4-FFF2-40B4-BE49-F238E27FC236}">
                <a16:creationId xmlns:a16="http://schemas.microsoft.com/office/drawing/2014/main" id="{174B9A3F-D31C-E308-5711-8FF973E63A15}"/>
              </a:ext>
            </a:extLst>
          </p:cNvPr>
          <p:cNvSpPr>
            <a:spLocks noChangeArrowheads="1"/>
          </p:cNvSpPr>
          <p:nvPr/>
        </p:nvSpPr>
        <p:spPr bwMode="auto">
          <a:xfrm>
            <a:off x="7574757" y="4229194"/>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"e3"</a:t>
            </a:r>
          </a:p>
        </p:txBody>
      </p:sp>
      <p:sp>
        <p:nvSpPr>
          <p:cNvPr id="48" name="Rectangle 165">
            <a:extLst>
              <a:ext uri="{FF2B5EF4-FFF2-40B4-BE49-F238E27FC236}">
                <a16:creationId xmlns:a16="http://schemas.microsoft.com/office/drawing/2014/main" id="{655A7840-CED6-98AB-5075-1350E7BCA32B}"/>
              </a:ext>
            </a:extLst>
          </p:cNvPr>
          <p:cNvSpPr>
            <a:spLocks noChangeArrowheads="1"/>
          </p:cNvSpPr>
          <p:nvPr/>
        </p:nvSpPr>
        <p:spPr bwMode="auto">
          <a:xfrm>
            <a:off x="8662194" y="4229194"/>
            <a:ext cx="762000" cy="295275"/>
          </a:xfrm>
          <a:prstGeom prst="rect">
            <a:avLst/>
          </a:prstGeom>
          <a:solidFill>
            <a:srgbClr val="CCFFFF">
              <a:alpha val="50000"/>
            </a:srgbClr>
          </a:solidFill>
          <a:ln w="1905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5" tIns="45712" rIns="91425" bIns="45712" anchor="ctr"/>
          <a:lstStyle>
            <a:lvl1pPr>
              <a:defRPr kumimoji="1">
                <a:solidFill>
                  <a:schemeClr val="tx1"/>
                </a:solidFill>
                <a:latin typeface="Arial" panose="020B0604020202020204" pitchFamily="34" charset="0"/>
                <a:ea typeface="ＭＳ Ｐゴシック" panose="020B0600070205080204" pitchFamily="50" charset="-128"/>
              </a:defRPr>
            </a:lvl1pPr>
            <a:lvl2pPr>
              <a:defRPr kumimoji="1">
                <a:solidFill>
                  <a:schemeClr val="tx1"/>
                </a:solidFill>
                <a:latin typeface="Arial" panose="020B0604020202020204" pitchFamily="34" charset="0"/>
                <a:ea typeface="ＭＳ Ｐゴシック" panose="020B0600070205080204" pitchFamily="50" charset="-128"/>
              </a:defRPr>
            </a:lvl2pPr>
            <a:lvl3pPr>
              <a:defRPr kumimoji="1">
                <a:solidFill>
                  <a:schemeClr val="tx1"/>
                </a:solidFill>
                <a:latin typeface="Arial" panose="020B0604020202020204" pitchFamily="34" charset="0"/>
                <a:ea typeface="ＭＳ Ｐゴシック" panose="020B0600070205080204" pitchFamily="50" charset="-128"/>
              </a:defRPr>
            </a:lvl3pPr>
            <a:lvl4pPr marL="1370013">
              <a:defRPr kumimoji="1">
                <a:solidFill>
                  <a:schemeClr val="tx1"/>
                </a:solidFill>
                <a:latin typeface="Arial" panose="020B0604020202020204" pitchFamily="34" charset="0"/>
                <a:ea typeface="ＭＳ Ｐゴシック" panose="020B0600070205080204" pitchFamily="50" charset="-128"/>
              </a:defRPr>
            </a:lvl4pPr>
            <a:lvl5pPr>
              <a:defRPr kumimoji="1">
                <a:solidFill>
                  <a:schemeClr val="tx1"/>
                </a:solidFill>
                <a:latin typeface="Arial" panose="020B0604020202020204" pitchFamily="34" charset="0"/>
                <a:ea typeface="ＭＳ Ｐゴシック" panose="020B0600070205080204" pitchFamily="50" charset="-128"/>
              </a:defRPr>
            </a:lvl5pPr>
            <a:lvl6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6pPr>
            <a:lvl7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7pPr>
            <a:lvl8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8pPr>
            <a:lvl9pPr fontAlgn="base">
              <a:spcBef>
                <a:spcPct val="0"/>
              </a:spcBef>
              <a:spcAft>
                <a:spcPct val="0"/>
              </a:spcAft>
              <a:defRPr kumimoji="1">
                <a:solidFill>
                  <a:schemeClr val="tx1"/>
                </a:solidFill>
                <a:latin typeface="Arial" panose="020B0604020202020204" pitchFamily="34" charset="0"/>
                <a:ea typeface="ＭＳ Ｐゴシック" panose="020B0600070205080204" pitchFamily="50" charset="-128"/>
              </a:defRPr>
            </a:lvl9pPr>
          </a:lstStyle>
          <a:p>
            <a:pPr algn="ctr"/>
            <a:r>
              <a:rPr lang="en-US" altLang="ja-JP" sz="1100">
                <a:latin typeface="MS UI Gothic" panose="020B0600070205080204" pitchFamily="50" charset="-128"/>
                <a:ea typeface="MS UI Gothic" panose="020B0600070205080204" pitchFamily="50" charset="-128"/>
              </a:rPr>
              <a:t>"e4"</a:t>
            </a:r>
          </a:p>
        </p:txBody>
      </p:sp>
    </p:spTree>
    <p:extLst>
      <p:ext uri="{BB962C8B-B14F-4D97-AF65-F5344CB8AC3E}">
        <p14:creationId xmlns:p14="http://schemas.microsoft.com/office/powerpoint/2010/main" val="23775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C27F3-BA0D-E42D-E3EB-C752FC338318}"/>
              </a:ext>
            </a:extLst>
          </p:cNvPr>
          <p:cNvSpPr>
            <a:spLocks noGrp="1"/>
          </p:cNvSpPr>
          <p:nvPr>
            <p:ph type="title"/>
          </p:nvPr>
        </p:nvSpPr>
        <p:spPr/>
        <p:txBody>
          <a:bodyPr>
            <a:normAutofit fontScale="90000"/>
          </a:bodyPr>
          <a:lstStyle/>
          <a:p>
            <a:r>
              <a:rPr lang="en-US" altLang="ja-JP" dirty="0"/>
              <a:t>Generics</a:t>
            </a:r>
            <a:endParaRPr lang="ja-JP" altLang="en-US" dirty="0"/>
          </a:p>
        </p:txBody>
      </p:sp>
      <p:sp>
        <p:nvSpPr>
          <p:cNvPr id="3" name="Content Placeholder 2">
            <a:extLst>
              <a:ext uri="{FF2B5EF4-FFF2-40B4-BE49-F238E27FC236}">
                <a16:creationId xmlns:a16="http://schemas.microsoft.com/office/drawing/2014/main" id="{FC2CC70A-EF90-93E6-2738-236ACD84787B}"/>
              </a:ext>
            </a:extLst>
          </p:cNvPr>
          <p:cNvSpPr>
            <a:spLocks noGrp="1"/>
          </p:cNvSpPr>
          <p:nvPr>
            <p:ph idx="1"/>
          </p:nvPr>
        </p:nvSpPr>
        <p:spPr/>
        <p:txBody>
          <a:bodyPr>
            <a:normAutofit/>
          </a:bodyPr>
          <a:lstStyle/>
          <a:p>
            <a:r>
              <a:rPr lang="en-US" altLang="ja-JP" dirty="0"/>
              <a:t>Generics </a:t>
            </a:r>
            <a:r>
              <a:rPr lang="en-US" altLang="ja-JP" dirty="0" err="1"/>
              <a:t>là</a:t>
            </a:r>
            <a:r>
              <a:rPr lang="en-US" altLang="ja-JP" dirty="0"/>
              <a:t> </a:t>
            </a:r>
            <a:r>
              <a:rPr lang="en-US" altLang="ja-JP" dirty="0" err="1"/>
              <a:t>chức</a:t>
            </a:r>
            <a:r>
              <a:rPr lang="en-US" altLang="ja-JP" dirty="0"/>
              <a:t> </a:t>
            </a:r>
            <a:r>
              <a:rPr lang="en-US" altLang="ja-JP" dirty="0" err="1"/>
              <a:t>năng</a:t>
            </a:r>
            <a:r>
              <a:rPr lang="en-US" altLang="ja-JP" dirty="0"/>
              <a:t> </a:t>
            </a:r>
            <a:r>
              <a:rPr lang="en-US" altLang="ja-JP" dirty="0" err="1"/>
              <a:t>có</a:t>
            </a:r>
            <a:r>
              <a:rPr lang="en-US" altLang="ja-JP" dirty="0"/>
              <a:t> </a:t>
            </a:r>
            <a:r>
              <a:rPr lang="en-US" altLang="ja-JP" dirty="0" err="1"/>
              <a:t>kèm</a:t>
            </a:r>
            <a:r>
              <a:rPr lang="en-US" altLang="ja-JP" dirty="0"/>
              <a:t> </a:t>
            </a:r>
            <a:r>
              <a:rPr lang="en-US" altLang="ja-JP" dirty="0" err="1"/>
              <a:t>xư</a:t>
            </a:r>
            <a:r>
              <a:rPr lang="en-US" altLang="ja-JP" dirty="0"/>
              <a:t>̉ </a:t>
            </a:r>
            <a:r>
              <a:rPr lang="en-US" altLang="ja-JP" dirty="0" err="1"/>
              <a:t>ly</a:t>
            </a:r>
            <a:r>
              <a:rPr lang="en-US" altLang="ja-JP" dirty="0"/>
              <a:t>́ </a:t>
            </a:r>
            <a:r>
              <a:rPr lang="en-US" altLang="ja-JP" dirty="0" err="1"/>
              <a:t>kiểu</a:t>
            </a:r>
            <a:r>
              <a:rPr lang="en-US" altLang="ja-JP" dirty="0"/>
              <a:t> </a:t>
            </a:r>
            <a:r>
              <a:rPr lang="en-US" altLang="ja-JP" dirty="0" err="1"/>
              <a:t>đặc</a:t>
            </a:r>
            <a:r>
              <a:rPr lang="en-US" altLang="ja-JP" dirty="0"/>
              <a:t> </a:t>
            </a:r>
            <a:r>
              <a:rPr lang="en-US" altLang="ja-JP" dirty="0" err="1"/>
              <a:t>định</a:t>
            </a:r>
            <a:r>
              <a:rPr lang="en-US" altLang="ja-JP" dirty="0"/>
              <a:t> </a:t>
            </a:r>
            <a:r>
              <a:rPr lang="en-US" altLang="ja-JP" dirty="0" err="1"/>
              <a:t>khi</a:t>
            </a:r>
            <a:r>
              <a:rPr lang="en-US" altLang="ja-JP" dirty="0"/>
              <a:t> </a:t>
            </a:r>
            <a:r>
              <a:rPr lang="en-US" altLang="ja-JP" dirty="0" err="1"/>
              <a:t>sư</a:t>
            </a:r>
            <a:r>
              <a:rPr lang="en-US" altLang="ja-JP" dirty="0"/>
              <a:t>̉ </a:t>
            </a:r>
            <a:r>
              <a:rPr lang="en-US" altLang="ja-JP" dirty="0" err="1"/>
              <a:t>dụng</a:t>
            </a:r>
            <a:r>
              <a:rPr lang="en-US" altLang="ja-JP" dirty="0"/>
              <a:t> </a:t>
            </a:r>
            <a:r>
              <a:rPr lang="en-US" altLang="ja-JP" dirty="0" err="1"/>
              <a:t>những</a:t>
            </a:r>
            <a:r>
              <a:rPr lang="en-US" altLang="ja-JP" dirty="0"/>
              <a:t> </a:t>
            </a:r>
            <a:r>
              <a:rPr lang="en-US" altLang="ja-JP" dirty="0" err="1"/>
              <a:t>phần</a:t>
            </a:r>
            <a:r>
              <a:rPr lang="en-US" altLang="ja-JP" dirty="0"/>
              <a:t> </a:t>
            </a:r>
            <a:r>
              <a:rPr lang="en-US" altLang="ja-JP" dirty="0" err="1"/>
              <a:t>đa</a:t>
            </a:r>
            <a:r>
              <a:rPr lang="en-US" altLang="ja-JP" dirty="0"/>
              <a:t>̃ </a:t>
            </a:r>
            <a:r>
              <a:rPr lang="en-US" altLang="ja-JP" dirty="0" err="1"/>
              <a:t>được</a:t>
            </a:r>
            <a:r>
              <a:rPr lang="en-US" altLang="ja-JP" dirty="0"/>
              <a:t> </a:t>
            </a:r>
            <a:r>
              <a:rPr lang="en-US" altLang="ja-JP" dirty="0" err="1"/>
              <a:t>định</a:t>
            </a:r>
            <a:r>
              <a:rPr lang="en-US" altLang="ja-JP" dirty="0"/>
              <a:t> </a:t>
            </a:r>
            <a:r>
              <a:rPr lang="en-US" altLang="ja-JP" dirty="0" err="1"/>
              <a:t>nghĩa</a:t>
            </a:r>
            <a:r>
              <a:rPr lang="en-US" altLang="ja-JP" dirty="0"/>
              <a:t> </a:t>
            </a:r>
            <a:r>
              <a:rPr lang="en-US" altLang="ja-JP" dirty="0" err="1"/>
              <a:t>như</a:t>
            </a:r>
            <a:r>
              <a:rPr lang="en-US" altLang="ja-JP" dirty="0"/>
              <a:t> là class </a:t>
            </a:r>
            <a:r>
              <a:rPr lang="en-US" altLang="ja-JP" dirty="0" err="1"/>
              <a:t>va</a:t>
            </a:r>
            <a:r>
              <a:rPr lang="en-US" altLang="ja-JP" dirty="0"/>
              <a:t>̀ method </a:t>
            </a:r>
            <a:r>
              <a:rPr lang="en-US" altLang="ja-JP" dirty="0" err="1"/>
              <a:t>thông</a:t>
            </a:r>
            <a:r>
              <a:rPr lang="en-US" altLang="ja-JP" dirty="0"/>
              <a:t> </a:t>
            </a:r>
            <a:r>
              <a:rPr lang="en-US" altLang="ja-JP" dirty="0" err="1"/>
              <a:t>dụng</a:t>
            </a:r>
            <a:r>
              <a:rPr lang="en-US" altLang="ja-JP" dirty="0"/>
              <a:t>.</a:t>
            </a:r>
            <a:r>
              <a:rPr lang="en-US" altLang="ja-JP" dirty="0">
                <a:solidFill>
                  <a:srgbClr val="F46292"/>
                </a:solidFill>
              </a:rPr>
              <a:t> </a:t>
            </a:r>
          </a:p>
          <a:p>
            <a:r>
              <a:rPr lang="en-US" altLang="ja-JP" dirty="0">
                <a:solidFill>
                  <a:srgbClr val="F46292"/>
                </a:solidFill>
              </a:rPr>
              <a:t>Cú </a:t>
            </a:r>
            <a:r>
              <a:rPr lang="en-US" altLang="ja-JP" dirty="0" err="1">
                <a:solidFill>
                  <a:srgbClr val="F46292"/>
                </a:solidFill>
              </a:rPr>
              <a:t>pháp</a:t>
            </a:r>
            <a:r>
              <a:rPr lang="en-US" altLang="ja-JP" dirty="0">
                <a:solidFill>
                  <a:srgbClr val="F46292"/>
                </a:solidFill>
              </a:rPr>
              <a:t>:</a:t>
            </a:r>
          </a:p>
          <a:p>
            <a:endParaRPr lang="en-US" altLang="ja-JP" dirty="0">
              <a:solidFill>
                <a:srgbClr val="F46292"/>
              </a:solidFill>
            </a:endParaRPr>
          </a:p>
          <a:p>
            <a:r>
              <a:rPr lang="ja-JP" altLang="en-US" dirty="0"/>
              <a:t>　</a:t>
            </a:r>
            <a:r>
              <a:rPr lang="en-US" altLang="ja-JP" dirty="0"/>
              <a:t>Sau </a:t>
            </a:r>
            <a:r>
              <a:rPr lang="en-US" altLang="ja-JP" dirty="0" err="1"/>
              <a:t>khi</a:t>
            </a:r>
            <a:r>
              <a:rPr lang="en-US" altLang="ja-JP" dirty="0"/>
              <a:t> </a:t>
            </a:r>
            <a:r>
              <a:rPr lang="en-US" altLang="ja-JP" dirty="0" err="1"/>
              <a:t>thực</a:t>
            </a:r>
            <a:r>
              <a:rPr lang="en-US" altLang="ja-JP" dirty="0"/>
              <a:t> </a:t>
            </a:r>
            <a:r>
              <a:rPr lang="en-US" altLang="ja-JP" dirty="0" err="1"/>
              <a:t>hiện</a:t>
            </a:r>
            <a:r>
              <a:rPr lang="en-US" altLang="ja-JP" dirty="0"/>
              <a:t> </a:t>
            </a:r>
            <a:r>
              <a:rPr lang="en-US" altLang="ja-JP" dirty="0" err="1"/>
              <a:t>bảo</a:t>
            </a:r>
            <a:r>
              <a:rPr lang="en-US" altLang="ja-JP" dirty="0"/>
              <a:t> </a:t>
            </a:r>
            <a:r>
              <a:rPr lang="en-US" altLang="ja-JP" dirty="0" err="1"/>
              <a:t>đảm</a:t>
            </a:r>
            <a:r>
              <a:rPr lang="en-US" altLang="ja-JP" dirty="0"/>
              <a:t> </a:t>
            </a:r>
            <a:r>
              <a:rPr lang="en-US" altLang="ja-JP" dirty="0" err="1"/>
              <a:t>kiểu</a:t>
            </a:r>
            <a:r>
              <a:rPr lang="en-US" altLang="ja-JP" dirty="0"/>
              <a:t> </a:t>
            </a:r>
            <a:r>
              <a:rPr lang="en-US" altLang="ja-JP" dirty="0" err="1"/>
              <a:t>khi</a:t>
            </a:r>
            <a:r>
              <a:rPr lang="en-US" altLang="ja-JP" dirty="0"/>
              <a:t> </a:t>
            </a:r>
            <a:r>
              <a:rPr lang="en-US" altLang="ja-JP" dirty="0" err="1"/>
              <a:t>complile</a:t>
            </a:r>
            <a:r>
              <a:rPr lang="en-US" altLang="ja-JP" dirty="0"/>
              <a:t>, có </a:t>
            </a:r>
            <a:r>
              <a:rPr lang="en-US" altLang="ja-JP" dirty="0" err="1"/>
              <a:t>thê</a:t>
            </a:r>
            <a:r>
              <a:rPr lang="en-US" altLang="ja-JP" dirty="0"/>
              <a:t>̉ </a:t>
            </a:r>
            <a:r>
              <a:rPr lang="en-US" altLang="ja-JP" dirty="0" err="1"/>
              <a:t>sư</a:t>
            </a:r>
            <a:r>
              <a:rPr lang="en-US" altLang="ja-JP" dirty="0"/>
              <a:t>̉ </a:t>
            </a:r>
            <a:r>
              <a:rPr lang="en-US" altLang="ja-JP" dirty="0" err="1"/>
              <a:t>dụng</a:t>
            </a:r>
            <a:r>
              <a:rPr lang="en-US" altLang="ja-JP" dirty="0"/>
              <a:t> </a:t>
            </a:r>
            <a:r>
              <a:rPr lang="en-US" altLang="ja-JP" dirty="0" err="1"/>
              <a:t>kiểu</a:t>
            </a:r>
            <a:r>
              <a:rPr lang="en-US" altLang="ja-JP" dirty="0"/>
              <a:t> </a:t>
            </a:r>
            <a:r>
              <a:rPr lang="en-US" altLang="ja-JP" dirty="0" err="1"/>
              <a:t>va</a:t>
            </a:r>
            <a:r>
              <a:rPr lang="en-US" altLang="ja-JP" dirty="0"/>
              <a:t>̀ method </a:t>
            </a:r>
            <a:r>
              <a:rPr lang="en-US" altLang="ja-JP" dirty="0" err="1"/>
              <a:t>đối</a:t>
            </a:r>
            <a:r>
              <a:rPr lang="en-US" altLang="ja-JP" dirty="0"/>
              <a:t> </a:t>
            </a:r>
            <a:r>
              <a:rPr lang="en-US" altLang="ja-JP" dirty="0" err="1"/>
              <a:t>với</a:t>
            </a:r>
            <a:r>
              <a:rPr lang="en-US" altLang="ja-JP" dirty="0"/>
              <a:t> </a:t>
            </a:r>
            <a:r>
              <a:rPr lang="en-US" altLang="ja-JP" dirty="0" err="1"/>
              <a:t>nhiều</a:t>
            </a:r>
            <a:r>
              <a:rPr lang="en-US" altLang="ja-JP" dirty="0"/>
              <a:t> </a:t>
            </a:r>
            <a:r>
              <a:rPr lang="en-US" altLang="ja-JP" dirty="0" err="1"/>
              <a:t>kiểu</a:t>
            </a:r>
            <a:r>
              <a:rPr lang="en-US" altLang="ja-JP" dirty="0"/>
              <a:t> </a:t>
            </a:r>
            <a:r>
              <a:rPr lang="en-US" altLang="ja-JP" dirty="0" err="1"/>
              <a:t>đa</a:t>
            </a:r>
            <a:r>
              <a:rPr lang="en-US" altLang="ja-JP" dirty="0"/>
              <a:t> </a:t>
            </a:r>
            <a:r>
              <a:rPr lang="en-US" altLang="ja-JP" dirty="0" err="1"/>
              <a:t>dạng</a:t>
            </a:r>
            <a:r>
              <a:rPr lang="en-US" altLang="ja-JP" dirty="0"/>
              <a:t>.</a:t>
            </a:r>
          </a:p>
          <a:p>
            <a:endParaRPr lang="en-US" altLang="ja-JP" dirty="0"/>
          </a:p>
          <a:p>
            <a:endParaRPr lang="ja-JP" altLang="en-US" dirty="0"/>
          </a:p>
        </p:txBody>
      </p:sp>
      <p:sp>
        <p:nvSpPr>
          <p:cNvPr id="5" name="Text Box 48">
            <a:extLst>
              <a:ext uri="{FF2B5EF4-FFF2-40B4-BE49-F238E27FC236}">
                <a16:creationId xmlns:a16="http://schemas.microsoft.com/office/drawing/2014/main" id="{D523D1A5-E72C-F132-50F5-C8CD77C979ED}"/>
              </a:ext>
            </a:extLst>
          </p:cNvPr>
          <p:cNvSpPr txBox="1">
            <a:spLocks noChangeArrowheads="1"/>
          </p:cNvSpPr>
          <p:nvPr/>
        </p:nvSpPr>
        <p:spPr bwMode="auto">
          <a:xfrm>
            <a:off x="2590800" y="2722240"/>
            <a:ext cx="5810250" cy="1066800"/>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sz="1000" b="1">
                <a:solidFill>
                  <a:schemeClr val="tx1"/>
                </a:solidFill>
                <a:latin typeface="Arial" panose="020B0604020202020204" pitchFamily="34" charset="0"/>
                <a:ea typeface="MS UI Gothic" panose="020B0600070205080204" pitchFamily="50" charset="-128"/>
              </a:defRPr>
            </a:lvl1pPr>
            <a:lvl2pPr marL="530225" indent="-342900" defTabSz="231775">
              <a:defRPr kumimoji="1" sz="1000" b="1">
                <a:solidFill>
                  <a:schemeClr val="tx1"/>
                </a:solidFill>
                <a:latin typeface="Arial" panose="020B0604020202020204" pitchFamily="34" charset="0"/>
                <a:ea typeface="MS UI Gothic" panose="020B0600070205080204" pitchFamily="50" charset="-128"/>
              </a:defRPr>
            </a:lvl2pPr>
            <a:lvl3pPr marL="1295400" indent="-341313" defTabSz="231775">
              <a:defRPr kumimoji="1" sz="1000" b="1">
                <a:solidFill>
                  <a:schemeClr val="tx1"/>
                </a:solidFill>
                <a:latin typeface="Arial" panose="020B0604020202020204" pitchFamily="34" charset="0"/>
                <a:ea typeface="MS UI Gothic" panose="020B0600070205080204" pitchFamily="50" charset="-128"/>
              </a:defRPr>
            </a:lvl3pPr>
            <a:lvl4pPr marL="1774825" indent="-342900" defTabSz="231775">
              <a:defRPr kumimoji="1" sz="1000" b="1">
                <a:solidFill>
                  <a:schemeClr val="tx1"/>
                </a:solidFill>
                <a:latin typeface="Arial" panose="020B0604020202020204" pitchFamily="34" charset="0"/>
                <a:ea typeface="MS UI Gothic" panose="020B0600070205080204" pitchFamily="50" charset="-128"/>
              </a:defRPr>
            </a:lvl4pPr>
            <a:lvl5pPr marL="2252663" indent="-342900" defTabSz="231775">
              <a:defRPr kumimoji="1" sz="1000" b="1">
                <a:solidFill>
                  <a:schemeClr val="tx1"/>
                </a:solidFill>
                <a:latin typeface="Arial" panose="020B0604020202020204" pitchFamily="34" charset="0"/>
                <a:ea typeface="MS UI Gothic" panose="020B0600070205080204" pitchFamily="50" charset="-128"/>
              </a:defRPr>
            </a:lvl5pPr>
            <a:lvl6pPr marL="27098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31670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6242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40814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r>
              <a:rPr lang="en-US" altLang="ja-JP" sz="2000" b="0" dirty="0"/>
              <a:t>Modifier</a:t>
            </a:r>
            <a:r>
              <a:rPr lang="ja-JP" altLang="ja-JP" sz="2000" b="0" dirty="0">
                <a:ea typeface="ＭＳ ゴシック" panose="020B0609070205080204" pitchFamily="49" charset="-128"/>
              </a:rPr>
              <a:t> class </a:t>
            </a:r>
            <a:r>
              <a:rPr lang="en-US" altLang="ja-JP" sz="2000" b="0" dirty="0">
                <a:ea typeface="ＭＳ ゴシック" panose="020B0609070205080204" pitchFamily="49" charset="-128"/>
              </a:rPr>
              <a:t> class name</a:t>
            </a:r>
            <a:r>
              <a:rPr lang="ja-JP" altLang="ja-JP" sz="2000" b="0" dirty="0">
                <a:ea typeface="ＭＳ ゴシック" panose="020B0609070205080204" pitchFamily="49" charset="-128"/>
              </a:rPr>
              <a:t> &lt;</a:t>
            </a:r>
            <a:r>
              <a:rPr lang="en-US" altLang="ja-JP" sz="2000" b="0" dirty="0">
                <a:ea typeface="ＭＳ ゴシック" panose="020B0609070205080204" pitchFamily="49" charset="-128"/>
              </a:rPr>
              <a:t>parameter name</a:t>
            </a:r>
            <a:r>
              <a:rPr lang="ja-JP" altLang="ja-JP" sz="2000" b="0" dirty="0">
                <a:ea typeface="ＭＳ ゴシック" panose="020B0609070205080204" pitchFamily="49" charset="-128"/>
              </a:rPr>
              <a:t>&gt;</a:t>
            </a:r>
            <a:r>
              <a:rPr lang="en-US" altLang="ja-JP" sz="2000" b="0" dirty="0">
                <a:ea typeface="ＭＳ ゴシック" panose="020B0609070205080204" pitchFamily="49" charset="-128"/>
              </a:rPr>
              <a:t> </a:t>
            </a:r>
            <a:r>
              <a:rPr lang="ja-JP" altLang="ja-JP" sz="2000" b="0" dirty="0">
                <a:ea typeface="ＭＳ ゴシック" panose="020B0609070205080204" pitchFamily="49" charset="-128"/>
              </a:rPr>
              <a:t>{</a:t>
            </a:r>
          </a:p>
          <a:p>
            <a:pPr lvl="1" algn="just" eaLnBrk="1" hangingPunct="1"/>
            <a:r>
              <a:rPr lang="ja-JP" altLang="ja-JP" sz="2000" b="0" dirty="0">
                <a:ea typeface="ＭＳ ゴシック" panose="020B0609070205080204" pitchFamily="49" charset="-128"/>
              </a:rPr>
              <a:t>	：</a:t>
            </a:r>
          </a:p>
          <a:p>
            <a:pPr lvl="1" algn="just" eaLnBrk="1" hangingPunct="1"/>
            <a:r>
              <a:rPr lang="ja-JP" altLang="ja-JP" sz="2000" b="0" dirty="0">
                <a:ea typeface="ＭＳ ゴシック" panose="020B0609070205080204" pitchFamily="49" charset="-128"/>
              </a:rPr>
              <a:t>}</a:t>
            </a:r>
          </a:p>
        </p:txBody>
      </p:sp>
      <p:sp>
        <p:nvSpPr>
          <p:cNvPr id="9" name="Text Box 49">
            <a:extLst>
              <a:ext uri="{FF2B5EF4-FFF2-40B4-BE49-F238E27FC236}">
                <a16:creationId xmlns:a16="http://schemas.microsoft.com/office/drawing/2014/main" id="{DF03BAE5-7F6E-062D-A470-576AA1E8D1B7}"/>
              </a:ext>
            </a:extLst>
          </p:cNvPr>
          <p:cNvSpPr txBox="1">
            <a:spLocks noChangeArrowheads="1"/>
          </p:cNvSpPr>
          <p:nvPr/>
        </p:nvSpPr>
        <p:spPr bwMode="auto">
          <a:xfrm>
            <a:off x="533400" y="5765698"/>
            <a:ext cx="9067800" cy="482702"/>
          </a:xfrm>
          <a:prstGeom prst="rect">
            <a:avLst/>
          </a:prstGeom>
          <a:solidFill>
            <a:srgbClr val="FFFFFF"/>
          </a:solidFill>
          <a:ln w="12700" algn="ctr">
            <a:solidFill>
              <a:srgbClr val="000000"/>
            </a:solidFill>
            <a:miter lim="800000"/>
            <a:headEnd/>
            <a:tailEnd/>
          </a:ln>
          <a:effectLst/>
          <a:extLst>
            <a:ext uri="{AF507438-7753-43E0-B8FC-AC1667EBCBE1}">
              <a14:hiddenEffects xmlns:a14="http://schemas.microsoft.com/office/drawing/2010/main">
                <a:effectLst>
                  <a:outerShdw dist="57238" dir="2021404" algn="ctr" rotWithShape="0">
                    <a:srgbClr val="000000"/>
                  </a:outerShdw>
                </a:effectLst>
              </a14:hiddenEffects>
            </a:ext>
          </a:extLst>
        </p:spPr>
        <p:txBody>
          <a:bodyPr lIns="9943" tIns="19887" rIns="9943" bIns="9943"/>
          <a:lstStyle>
            <a:lvl1pPr marL="342900" indent="-342900" defTabSz="231775">
              <a:defRPr kumimoji="1" sz="1000" b="1">
                <a:solidFill>
                  <a:schemeClr val="tx1"/>
                </a:solidFill>
                <a:latin typeface="Arial" panose="020B0604020202020204" pitchFamily="34" charset="0"/>
                <a:ea typeface="MS UI Gothic" panose="020B0600070205080204" pitchFamily="50" charset="-128"/>
              </a:defRPr>
            </a:lvl1pPr>
            <a:lvl2pPr marL="530225" indent="-342900" defTabSz="231775">
              <a:defRPr kumimoji="1" sz="1000" b="1">
                <a:solidFill>
                  <a:schemeClr val="tx1"/>
                </a:solidFill>
                <a:latin typeface="Arial" panose="020B0604020202020204" pitchFamily="34" charset="0"/>
                <a:ea typeface="MS UI Gothic" panose="020B0600070205080204" pitchFamily="50" charset="-128"/>
              </a:defRPr>
            </a:lvl2pPr>
            <a:lvl3pPr marL="1295400" indent="-341313" defTabSz="231775">
              <a:defRPr kumimoji="1" sz="1000" b="1">
                <a:solidFill>
                  <a:schemeClr val="tx1"/>
                </a:solidFill>
                <a:latin typeface="Arial" panose="020B0604020202020204" pitchFamily="34" charset="0"/>
                <a:ea typeface="MS UI Gothic" panose="020B0600070205080204" pitchFamily="50" charset="-128"/>
              </a:defRPr>
            </a:lvl3pPr>
            <a:lvl4pPr marL="1774825" indent="-342900" defTabSz="231775">
              <a:defRPr kumimoji="1" sz="1000" b="1">
                <a:solidFill>
                  <a:schemeClr val="tx1"/>
                </a:solidFill>
                <a:latin typeface="Arial" panose="020B0604020202020204" pitchFamily="34" charset="0"/>
                <a:ea typeface="MS UI Gothic" panose="020B0600070205080204" pitchFamily="50" charset="-128"/>
              </a:defRPr>
            </a:lvl4pPr>
            <a:lvl5pPr marL="2252663" indent="-342900" defTabSz="231775">
              <a:defRPr kumimoji="1" sz="1000" b="1">
                <a:solidFill>
                  <a:schemeClr val="tx1"/>
                </a:solidFill>
                <a:latin typeface="Arial" panose="020B0604020202020204" pitchFamily="34" charset="0"/>
                <a:ea typeface="MS UI Gothic" panose="020B0600070205080204" pitchFamily="50" charset="-128"/>
              </a:defRPr>
            </a:lvl5pPr>
            <a:lvl6pPr marL="27098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6pPr>
            <a:lvl7pPr marL="31670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7pPr>
            <a:lvl8pPr marL="36242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8pPr>
            <a:lvl9pPr marL="4081463" indent="-342900" defTabSz="231775" eaLnBrk="0" fontAlgn="base" hangingPunct="0">
              <a:spcBef>
                <a:spcPct val="0"/>
              </a:spcBef>
              <a:spcAft>
                <a:spcPct val="0"/>
              </a:spcAft>
              <a:defRPr kumimoji="1" sz="1000" b="1">
                <a:solidFill>
                  <a:schemeClr val="tx1"/>
                </a:solidFill>
                <a:latin typeface="Arial" panose="020B0604020202020204" pitchFamily="34" charset="0"/>
                <a:ea typeface="MS UI Gothic" panose="020B0600070205080204" pitchFamily="50" charset="-128"/>
              </a:defRPr>
            </a:lvl9pPr>
          </a:lstStyle>
          <a:p>
            <a:pPr lvl="1" algn="just" eaLnBrk="1" hangingPunct="1"/>
            <a:r>
              <a:rPr lang="en-US" altLang="ja-JP" sz="1800" b="0" dirty="0"/>
              <a:t>Class name</a:t>
            </a:r>
            <a:r>
              <a:rPr lang="ja-JP" altLang="ja-JP" sz="1800" b="0" dirty="0">
                <a:ea typeface="ＭＳ ゴシック" panose="020B0609070205080204" pitchFamily="49" charset="-128"/>
              </a:rPr>
              <a:t>&lt;</a:t>
            </a:r>
            <a:r>
              <a:rPr lang="en-US" altLang="ja-JP" sz="1800" b="0" dirty="0" err="1">
                <a:ea typeface="ＭＳ ゴシック" panose="020B0609070205080204" pitchFamily="49" charset="-128"/>
              </a:rPr>
              <a:t>kiểu</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đặc</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định</a:t>
            </a:r>
            <a:r>
              <a:rPr lang="ja-JP" altLang="ja-JP" sz="1800" b="0" dirty="0">
                <a:ea typeface="ＭＳ ゴシック" panose="020B0609070205080204" pitchFamily="49" charset="-128"/>
              </a:rPr>
              <a:t>&gt;</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Tên</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biến</a:t>
            </a:r>
            <a:r>
              <a:rPr lang="ja-JP" altLang="ja-JP" sz="1800" b="0" dirty="0">
                <a:ea typeface="ＭＳ ゴシック" panose="020B0609070205080204" pitchFamily="49" charset="-128"/>
              </a:rPr>
              <a:t> = new</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classname</a:t>
            </a:r>
            <a:r>
              <a:rPr lang="ja-JP" altLang="ja-JP" sz="1800" b="0" dirty="0">
                <a:ea typeface="ＭＳ ゴシック" panose="020B0609070205080204" pitchFamily="49" charset="-128"/>
              </a:rPr>
              <a:t>&lt;</a:t>
            </a:r>
            <a:r>
              <a:rPr lang="en-US" altLang="ja-JP" sz="1800" b="0" dirty="0" err="1">
                <a:ea typeface="ＭＳ ゴシック" panose="020B0609070205080204" pitchFamily="49" charset="-128"/>
              </a:rPr>
              <a:t>kiểu</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đặc</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định</a:t>
            </a:r>
            <a:r>
              <a:rPr lang="ja-JP" altLang="ja-JP" sz="1800" b="0" dirty="0">
                <a:ea typeface="ＭＳ ゴシック" panose="020B0609070205080204" pitchFamily="49" charset="-128"/>
              </a:rPr>
              <a:t>&gt;(</a:t>
            </a:r>
            <a:r>
              <a:rPr lang="en-US" altLang="ja-JP" sz="1800" b="0" dirty="0">
                <a:ea typeface="ＭＳ ゴシック" panose="020B0609070205080204" pitchFamily="49" charset="-128"/>
              </a:rPr>
              <a:t>List </a:t>
            </a:r>
            <a:r>
              <a:rPr lang="en-US" altLang="ja-JP" sz="1800" b="0" dirty="0" err="1">
                <a:ea typeface="ＭＳ ゴシック" panose="020B0609070205080204" pitchFamily="49" charset="-128"/>
              </a:rPr>
              <a:t>đối</a:t>
            </a:r>
            <a:r>
              <a:rPr lang="en-US" altLang="ja-JP" sz="1800" b="0" dirty="0">
                <a:ea typeface="ＭＳ ゴシック" panose="020B0609070205080204" pitchFamily="49" charset="-128"/>
              </a:rPr>
              <a:t> </a:t>
            </a:r>
            <a:r>
              <a:rPr lang="en-US" altLang="ja-JP" sz="1800" b="0" dirty="0" err="1">
                <a:ea typeface="ＭＳ ゴシック" panose="020B0609070205080204" pitchFamily="49" charset="-128"/>
              </a:rPr>
              <a:t>số</a:t>
            </a:r>
            <a:r>
              <a:rPr lang="ja-JP" altLang="ja-JP" sz="1800" b="0" dirty="0">
                <a:ea typeface="ＭＳ ゴシック" panose="020B0609070205080204" pitchFamily="49" charset="-128"/>
              </a:rPr>
              <a:t>);</a:t>
            </a:r>
          </a:p>
        </p:txBody>
      </p:sp>
    </p:spTree>
    <p:extLst>
      <p:ext uri="{BB962C8B-B14F-4D97-AF65-F5344CB8AC3E}">
        <p14:creationId xmlns:p14="http://schemas.microsoft.com/office/powerpoint/2010/main" val="319497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0BE9-A160-E6D3-E6E3-02BBD73214FF}"/>
              </a:ext>
            </a:extLst>
          </p:cNvPr>
          <p:cNvSpPr>
            <a:spLocks noGrp="1"/>
          </p:cNvSpPr>
          <p:nvPr>
            <p:ph type="title"/>
          </p:nvPr>
        </p:nvSpPr>
        <p:spPr/>
        <p:txBody>
          <a:bodyPr>
            <a:normAutofit fontScale="90000"/>
          </a:bodyPr>
          <a:lstStyle/>
          <a:p>
            <a:r>
              <a:rPr lang="en-US" altLang="ja-JP" dirty="0" err="1"/>
              <a:t>Nêu</a:t>
            </a:r>
            <a:r>
              <a:rPr lang="en-US" altLang="ja-JP" dirty="0"/>
              <a:t> </a:t>
            </a:r>
            <a:r>
              <a:rPr lang="en-US" altLang="ja-JP" dirty="0" err="1"/>
              <a:t>vấn</a:t>
            </a:r>
            <a:r>
              <a:rPr lang="en-US" altLang="ja-JP" dirty="0"/>
              <a:t> </a:t>
            </a:r>
            <a:r>
              <a:rPr lang="en-US" altLang="ja-JP" dirty="0" err="1"/>
              <a:t>đề</a:t>
            </a:r>
            <a:endParaRPr kumimoji="1" lang="ja-JP" altLang="en-US" dirty="0"/>
          </a:p>
        </p:txBody>
      </p:sp>
      <p:sp>
        <p:nvSpPr>
          <p:cNvPr id="3" name="Content Placeholder 2">
            <a:extLst>
              <a:ext uri="{FF2B5EF4-FFF2-40B4-BE49-F238E27FC236}">
                <a16:creationId xmlns:a16="http://schemas.microsoft.com/office/drawing/2014/main" id="{A5267653-D735-CF12-D645-170A56B6984D}"/>
              </a:ext>
            </a:extLst>
          </p:cNvPr>
          <p:cNvSpPr>
            <a:spLocks noGrp="1"/>
          </p:cNvSpPr>
          <p:nvPr>
            <p:ph idx="1"/>
          </p:nvPr>
        </p:nvSpPr>
        <p:spPr/>
        <p:txBody>
          <a:bodyPr>
            <a:normAutofit/>
          </a:bodyPr>
          <a:lstStyle/>
          <a:p>
            <a:r>
              <a:rPr kumimoji="1" lang="vi-VN" altLang="ja-JP" dirty="0"/>
              <a:t>Trước khi có Generics:</a:t>
            </a:r>
          </a:p>
          <a:p>
            <a:pPr marL="400050" lvl="1" indent="0">
              <a:buNone/>
            </a:pPr>
            <a:r>
              <a:rPr kumimoji="1" lang="vi-VN" altLang="ja-JP" dirty="0"/>
              <a:t>List list = new ArrayList( );</a:t>
            </a:r>
          </a:p>
          <a:p>
            <a:pPr marL="400050" lvl="1" indent="0">
              <a:buNone/>
            </a:pPr>
            <a:r>
              <a:rPr kumimoji="1" lang="vi-VN" altLang="ja-JP" dirty="0"/>
              <a:t>list.add("Hello");</a:t>
            </a:r>
          </a:p>
          <a:p>
            <a:pPr marL="400050" lvl="1" indent="0">
              <a:buNone/>
            </a:pPr>
            <a:r>
              <a:rPr kumimoji="1" lang="vi-VN" altLang="ja-JP" dirty="0"/>
              <a:t>String s = (String) list.get(0); // Phải cast về String</a:t>
            </a:r>
          </a:p>
          <a:p>
            <a:endParaRPr kumimoji="1" lang="en-US" altLang="ja-JP" dirty="0"/>
          </a:p>
          <a:p>
            <a:r>
              <a:rPr kumimoji="1" lang="vi-VN" altLang="ja-JP" dirty="0"/>
              <a:t>Sau khi có Generics:</a:t>
            </a:r>
          </a:p>
          <a:p>
            <a:pPr marL="400050" lvl="1" indent="0">
              <a:buNone/>
            </a:pPr>
            <a:r>
              <a:rPr kumimoji="1" lang="vi-VN" altLang="ja-JP" dirty="0"/>
              <a:t>List&lt;String&gt; list = new ArrayList&lt;&gt;( );</a:t>
            </a:r>
          </a:p>
          <a:p>
            <a:pPr marL="400050" lvl="1" indent="0">
              <a:buNone/>
            </a:pPr>
            <a:r>
              <a:rPr kumimoji="1" lang="vi-VN" altLang="ja-JP" dirty="0"/>
              <a:t>list.add("Hello");</a:t>
            </a:r>
          </a:p>
          <a:p>
            <a:pPr marL="400050" lvl="1" indent="0">
              <a:buNone/>
            </a:pPr>
            <a:r>
              <a:rPr kumimoji="1" lang="vi-VN" altLang="ja-JP" dirty="0"/>
              <a:t>String s = list.get(0); // Không cần cast, an toàn kiểu dữ liệu</a:t>
            </a:r>
          </a:p>
          <a:p>
            <a:endParaRPr kumimoji="1" lang="ja-JP" altLang="en-US" dirty="0"/>
          </a:p>
        </p:txBody>
      </p:sp>
      <p:sp>
        <p:nvSpPr>
          <p:cNvPr id="4" name="Slide Number Placeholder 3">
            <a:extLst>
              <a:ext uri="{FF2B5EF4-FFF2-40B4-BE49-F238E27FC236}">
                <a16:creationId xmlns:a16="http://schemas.microsoft.com/office/drawing/2014/main" id="{2C079257-10B4-DCA0-E2FF-E37D58513436}"/>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16</a:t>
            </a:fld>
            <a:endParaRPr lang="en-US" altLang="ja-JP"/>
          </a:p>
        </p:txBody>
      </p:sp>
    </p:spTree>
    <p:extLst>
      <p:ext uri="{BB962C8B-B14F-4D97-AF65-F5344CB8AC3E}">
        <p14:creationId xmlns:p14="http://schemas.microsoft.com/office/powerpoint/2010/main" val="1827282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FC908-4B41-0FAB-D563-C6EDDD9EEC7E}"/>
              </a:ext>
            </a:extLst>
          </p:cNvPr>
          <p:cNvSpPr>
            <a:spLocks noGrp="1"/>
          </p:cNvSpPr>
          <p:nvPr>
            <p:ph type="title"/>
          </p:nvPr>
        </p:nvSpPr>
        <p:spPr/>
        <p:txBody>
          <a:bodyPr>
            <a:normAutofit fontScale="90000"/>
          </a:bodyPr>
          <a:lstStyle/>
          <a:p>
            <a:r>
              <a:rPr lang="en-US" altLang="ja-JP" dirty="0"/>
              <a:t>Generics: </a:t>
            </a:r>
            <a:r>
              <a:rPr lang="en-US" altLang="ja-JP" dirty="0" err="1"/>
              <a:t>Ưu</a:t>
            </a:r>
            <a:r>
              <a:rPr lang="en-US" altLang="ja-JP" dirty="0"/>
              <a:t> </a:t>
            </a:r>
            <a:r>
              <a:rPr lang="en-US" altLang="ja-JP" dirty="0" err="1"/>
              <a:t>điểm</a:t>
            </a:r>
            <a:endParaRPr kumimoji="1" lang="ja-JP" altLang="en-US" dirty="0"/>
          </a:p>
        </p:txBody>
      </p:sp>
      <p:sp>
        <p:nvSpPr>
          <p:cNvPr id="3" name="Content Placeholder 2">
            <a:extLst>
              <a:ext uri="{FF2B5EF4-FFF2-40B4-BE49-F238E27FC236}">
                <a16:creationId xmlns:a16="http://schemas.microsoft.com/office/drawing/2014/main" id="{3922D636-B597-D745-9A54-6B0EC4C58F80}"/>
              </a:ext>
            </a:extLst>
          </p:cNvPr>
          <p:cNvSpPr>
            <a:spLocks noGrp="1"/>
          </p:cNvSpPr>
          <p:nvPr>
            <p:ph idx="1"/>
          </p:nvPr>
        </p:nvSpPr>
        <p:spPr/>
        <p:txBody>
          <a:bodyPr/>
          <a:lstStyle/>
          <a:p>
            <a:r>
              <a:rPr lang="ja-JP" altLang="ja-JP" b="1" dirty="0"/>
              <a:t>Generics </a:t>
            </a:r>
            <a:r>
              <a:rPr lang="ja-JP" altLang="ja-JP" dirty="0"/>
              <a:t>cho phép viết code tổng quát mà vẫn đảm bảo </a:t>
            </a:r>
            <a:r>
              <a:rPr lang="ja-JP" altLang="ja-JP" b="1" dirty="0"/>
              <a:t>an toàn kiểu dữ liệu</a:t>
            </a:r>
            <a:r>
              <a:rPr lang="ja-JP" altLang="ja-JP" dirty="0"/>
              <a:t> (type safety).</a:t>
            </a:r>
          </a:p>
          <a:p>
            <a:pPr marL="0" indent="0">
              <a:buNone/>
            </a:pPr>
            <a:endParaRPr lang="ja-JP" altLang="ja-JP" dirty="0"/>
          </a:p>
          <a:p>
            <a:r>
              <a:rPr lang="ja-JP" altLang="ja-JP" dirty="0"/>
              <a:t>Bạn có thể định nghĩa class, method hoạt động với nhiều kiểu dữ liệu khác nhau mà không cần ép kiểu (casting) thủ công.</a:t>
            </a:r>
          </a:p>
          <a:p>
            <a:endParaRPr kumimoji="1" lang="ja-JP" altLang="en-US" dirty="0"/>
          </a:p>
        </p:txBody>
      </p:sp>
      <p:sp>
        <p:nvSpPr>
          <p:cNvPr id="4" name="Slide Number Placeholder 3">
            <a:extLst>
              <a:ext uri="{FF2B5EF4-FFF2-40B4-BE49-F238E27FC236}">
                <a16:creationId xmlns:a16="http://schemas.microsoft.com/office/drawing/2014/main" id="{E52B5098-5B90-3F1B-929F-57016FCEEE68}"/>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17</a:t>
            </a:fld>
            <a:endParaRPr lang="en-US" altLang="ja-JP"/>
          </a:p>
        </p:txBody>
      </p:sp>
    </p:spTree>
    <p:extLst>
      <p:ext uri="{BB962C8B-B14F-4D97-AF65-F5344CB8AC3E}">
        <p14:creationId xmlns:p14="http://schemas.microsoft.com/office/powerpoint/2010/main" val="2221603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13554-2E8B-BB72-E5C0-D728ACEE2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BF14D-AD3B-FA45-6730-19832181EE77}"/>
              </a:ext>
            </a:extLst>
          </p:cNvPr>
          <p:cNvSpPr>
            <a:spLocks noGrp="1"/>
          </p:cNvSpPr>
          <p:nvPr>
            <p:ph type="title"/>
          </p:nvPr>
        </p:nvSpPr>
        <p:spPr/>
        <p:txBody>
          <a:bodyPr>
            <a:normAutofit fontScale="90000"/>
          </a:bodyPr>
          <a:lstStyle/>
          <a:p>
            <a:r>
              <a:rPr lang="en-US" altLang="ja-JP" dirty="0"/>
              <a:t>Generics: </a:t>
            </a:r>
            <a:r>
              <a:rPr lang="en-US" altLang="ja-JP" dirty="0" err="1"/>
              <a:t>Ưu</a:t>
            </a:r>
            <a:r>
              <a:rPr lang="en-US" altLang="ja-JP" dirty="0"/>
              <a:t> </a:t>
            </a:r>
            <a:r>
              <a:rPr lang="en-US" altLang="ja-JP" dirty="0" err="1"/>
              <a:t>điểm</a:t>
            </a:r>
            <a:r>
              <a:rPr lang="en-US" altLang="ja-JP" dirty="0"/>
              <a:t> (2)</a:t>
            </a:r>
            <a:endParaRPr kumimoji="1" lang="ja-JP" altLang="en-US" dirty="0"/>
          </a:p>
        </p:txBody>
      </p:sp>
      <p:sp>
        <p:nvSpPr>
          <p:cNvPr id="3" name="Content Placeholder 2">
            <a:extLst>
              <a:ext uri="{FF2B5EF4-FFF2-40B4-BE49-F238E27FC236}">
                <a16:creationId xmlns:a16="http://schemas.microsoft.com/office/drawing/2014/main" id="{DD3343AE-1D18-279E-7B23-DA383A90E5A9}"/>
              </a:ext>
            </a:extLst>
          </p:cNvPr>
          <p:cNvSpPr>
            <a:spLocks noGrp="1"/>
          </p:cNvSpPr>
          <p:nvPr>
            <p:ph idx="1"/>
          </p:nvPr>
        </p:nvSpPr>
        <p:spPr/>
        <p:txBody>
          <a:bodyPr/>
          <a:lstStyle/>
          <a:p>
            <a:r>
              <a:rPr lang="ja-JP" altLang="ja-JP" dirty="0"/>
              <a:t>Generics giải quyết vấn đề:</a:t>
            </a:r>
          </a:p>
          <a:p>
            <a:pPr lvl="1"/>
            <a:r>
              <a:rPr lang="ja-JP" altLang="ja-JP" dirty="0"/>
              <a:t>Tránh lỗi runtime do cast sai kiểu. </a:t>
            </a:r>
          </a:p>
          <a:p>
            <a:pPr lvl="1"/>
            <a:r>
              <a:rPr lang="ja-JP" altLang="ja-JP" dirty="0"/>
              <a:t>Giúp code rõ ràng, dễ đọc, dễ bảo trì.</a:t>
            </a:r>
            <a:endParaRPr lang="en-US" altLang="ja-JP" dirty="0"/>
          </a:p>
          <a:p>
            <a:pPr lvl="1"/>
            <a:r>
              <a:rPr lang="ja-JP" altLang="ja-JP" dirty="0"/>
              <a:t>Tái sử dụng class và method cho nhiều kiểu dữ liệu khác nhau.</a:t>
            </a:r>
          </a:p>
          <a:p>
            <a:endParaRPr kumimoji="1" lang="ja-JP" altLang="en-US" dirty="0"/>
          </a:p>
        </p:txBody>
      </p:sp>
      <p:sp>
        <p:nvSpPr>
          <p:cNvPr id="4" name="Slide Number Placeholder 3">
            <a:extLst>
              <a:ext uri="{FF2B5EF4-FFF2-40B4-BE49-F238E27FC236}">
                <a16:creationId xmlns:a16="http://schemas.microsoft.com/office/drawing/2014/main" id="{1D1DB58F-7E97-C8A3-604F-1A6419E746B0}"/>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18</a:t>
            </a:fld>
            <a:endParaRPr lang="en-US" altLang="ja-JP"/>
          </a:p>
        </p:txBody>
      </p:sp>
    </p:spTree>
    <p:extLst>
      <p:ext uri="{BB962C8B-B14F-4D97-AF65-F5344CB8AC3E}">
        <p14:creationId xmlns:p14="http://schemas.microsoft.com/office/powerpoint/2010/main" val="3714728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5D2A-8044-8A65-52E5-78D3603D28BF}"/>
              </a:ext>
            </a:extLst>
          </p:cNvPr>
          <p:cNvSpPr>
            <a:spLocks noGrp="1"/>
          </p:cNvSpPr>
          <p:nvPr>
            <p:ph type="title"/>
          </p:nvPr>
        </p:nvSpPr>
        <p:spPr/>
        <p:txBody>
          <a:bodyPr>
            <a:normAutofit fontScale="90000"/>
          </a:bodyPr>
          <a:lstStyle/>
          <a:p>
            <a:r>
              <a:rPr lang="ja-JP" altLang="ja-JP" dirty="0"/>
              <a:t>Generic Class</a:t>
            </a:r>
            <a:endParaRPr kumimoji="1" lang="ja-JP" altLang="en-US" dirty="0"/>
          </a:p>
        </p:txBody>
      </p:sp>
      <p:sp>
        <p:nvSpPr>
          <p:cNvPr id="3" name="Content Placeholder 2">
            <a:extLst>
              <a:ext uri="{FF2B5EF4-FFF2-40B4-BE49-F238E27FC236}">
                <a16:creationId xmlns:a16="http://schemas.microsoft.com/office/drawing/2014/main" id="{83642296-2A32-AC54-39C1-91034F7BB059}"/>
              </a:ext>
            </a:extLst>
          </p:cNvPr>
          <p:cNvSpPr>
            <a:spLocks noGrp="1"/>
          </p:cNvSpPr>
          <p:nvPr>
            <p:ph idx="1"/>
          </p:nvPr>
        </p:nvSpPr>
        <p:spPr/>
        <p:txBody>
          <a:bodyPr>
            <a:normAutofit fontScale="55000" lnSpcReduction="20000"/>
          </a:bodyPr>
          <a:lstStyle/>
          <a:p>
            <a:r>
              <a:rPr lang="ja-JP" altLang="ja-JP" dirty="0"/>
              <a:t>Generic class là class được định nghĩa với tham số kiểu (type parameter), giúp class làm việc với nhiều kiểu dữ liệu khác nhau mà vẫn đảm bảo an toàn kiểu dữ liệu (type safety).</a:t>
            </a:r>
          </a:p>
          <a:p>
            <a:pPr marL="0" indent="0">
              <a:buNone/>
            </a:pPr>
            <a:r>
              <a:rPr lang="ja-JP" altLang="ja-JP" b="1" dirty="0"/>
              <a:t>Tại sao cần Generic Class?</a:t>
            </a:r>
            <a:endParaRPr lang="ja-JP" altLang="ja-JP" dirty="0"/>
          </a:p>
          <a:p>
            <a:r>
              <a:rPr lang="ja-JP" altLang="ja-JP" dirty="0"/>
              <a:t>Trước Generics, bạn phải dùng Object cho mọi kiểu dữ liệu → cần casting thủ công khi lấy ra, dễ gây lỗi runtime.</a:t>
            </a:r>
          </a:p>
          <a:p>
            <a:pPr marL="0" indent="0">
              <a:buNone/>
            </a:pPr>
            <a:r>
              <a:rPr lang="ja-JP" altLang="ja-JP" dirty="0"/>
              <a:t>Với Generic Class, compiler sẽ kiểm tra kiểu dữ liệu ngay từ compile time.</a:t>
            </a:r>
          </a:p>
          <a:p>
            <a:pPr marL="0" indent="0">
              <a:buNone/>
            </a:pPr>
            <a:r>
              <a:rPr lang="ja-JP" altLang="ja-JP" b="1" dirty="0"/>
              <a:t>Ví dụ:</a:t>
            </a:r>
            <a:endParaRPr lang="ja-JP" altLang="ja-JP" dirty="0"/>
          </a:p>
          <a:p>
            <a:pPr marL="400050" lvl="1" indent="0">
              <a:buNone/>
            </a:pPr>
            <a:r>
              <a:rPr lang="ja-JP" altLang="ja-JP" dirty="0"/>
              <a:t>class InventoryItem&lt;T&gt; {</a:t>
            </a:r>
          </a:p>
          <a:p>
            <a:pPr marL="400050" lvl="1" indent="0">
              <a:buNone/>
            </a:pPr>
            <a:r>
              <a:rPr lang="ja-JP" altLang="ja-JP" dirty="0"/>
              <a:t>    private T id;</a:t>
            </a:r>
          </a:p>
          <a:p>
            <a:pPr marL="400050" lvl="1" indent="0">
              <a:buNone/>
            </a:pPr>
            <a:r>
              <a:rPr lang="ja-JP" altLang="ja-JP" dirty="0"/>
              <a:t>    private String name;</a:t>
            </a:r>
          </a:p>
          <a:p>
            <a:pPr marL="400050" lvl="1" indent="0">
              <a:buNone/>
            </a:pPr>
            <a:r>
              <a:rPr lang="ja-JP" altLang="ja-JP" dirty="0"/>
              <a:t> </a:t>
            </a:r>
          </a:p>
          <a:p>
            <a:pPr marL="400050" lvl="1" indent="0">
              <a:buNone/>
            </a:pPr>
            <a:r>
              <a:rPr lang="ja-JP" altLang="ja-JP" dirty="0"/>
              <a:t>    public InventoryItem(T id, String name) {</a:t>
            </a:r>
          </a:p>
          <a:p>
            <a:pPr marL="400050" lvl="1" indent="0">
              <a:buNone/>
            </a:pPr>
            <a:r>
              <a:rPr lang="ja-JP" altLang="ja-JP" dirty="0"/>
              <a:t>        this.id = id;</a:t>
            </a:r>
          </a:p>
          <a:p>
            <a:pPr marL="400050" lvl="1" indent="0">
              <a:buNone/>
            </a:pPr>
            <a:r>
              <a:rPr lang="ja-JP" altLang="ja-JP" dirty="0"/>
              <a:t>        this.name = name;</a:t>
            </a:r>
          </a:p>
          <a:p>
            <a:pPr marL="400050" lvl="1" indent="0">
              <a:buNone/>
            </a:pPr>
            <a:r>
              <a:rPr lang="ja-JP" altLang="ja-JP" dirty="0"/>
              <a:t>    }</a:t>
            </a:r>
          </a:p>
          <a:p>
            <a:pPr marL="400050" lvl="1" indent="0">
              <a:buNone/>
            </a:pPr>
            <a:r>
              <a:rPr lang="ja-JP" altLang="ja-JP" dirty="0"/>
              <a:t> </a:t>
            </a:r>
          </a:p>
          <a:p>
            <a:pPr marL="400050" lvl="1" indent="0">
              <a:buNone/>
            </a:pPr>
            <a:r>
              <a:rPr lang="ja-JP" altLang="ja-JP" dirty="0"/>
              <a:t>    public T getId() { return id; }</a:t>
            </a:r>
          </a:p>
          <a:p>
            <a:pPr marL="400050" lvl="1" indent="0">
              <a:buNone/>
            </a:pPr>
            <a:r>
              <a:rPr lang="ja-JP" altLang="ja-JP" dirty="0"/>
              <a:t>    public String getName() { return name; }</a:t>
            </a:r>
          </a:p>
          <a:p>
            <a:pPr marL="400050" lvl="1" indent="0">
              <a:buNone/>
            </a:pPr>
            <a:r>
              <a:rPr lang="ja-JP" altLang="ja-JP" dirty="0"/>
              <a:t>}</a:t>
            </a:r>
          </a:p>
          <a:p>
            <a:pPr marL="0" indent="0">
              <a:buNone/>
            </a:pPr>
            <a:r>
              <a:rPr lang="ja-JP" altLang="ja-JP" dirty="0"/>
              <a:t> </a:t>
            </a:r>
          </a:p>
          <a:p>
            <a:pPr marL="400050" lvl="1" indent="0">
              <a:buNone/>
            </a:pPr>
            <a:r>
              <a:rPr lang="ja-JP" altLang="ja-JP" dirty="0"/>
              <a:t>InventoryItem&lt;Integer&gt; item1 = new InventoryItem&lt;&gt;(101, "Laptop");</a:t>
            </a:r>
          </a:p>
          <a:p>
            <a:pPr marL="400050" lvl="1" indent="0">
              <a:buNone/>
            </a:pPr>
            <a:r>
              <a:rPr lang="ja-JP" altLang="ja-JP" dirty="0"/>
              <a:t>InventoryItem&lt;String&gt; item2 = new InventoryItem&lt;&gt;("SKU555", "iPhone");</a:t>
            </a:r>
          </a:p>
          <a:p>
            <a:pPr marL="0" indent="0">
              <a:buNone/>
            </a:pPr>
            <a:endParaRPr kumimoji="1" lang="ja-JP" altLang="en-US" dirty="0"/>
          </a:p>
        </p:txBody>
      </p:sp>
      <p:sp>
        <p:nvSpPr>
          <p:cNvPr id="4" name="Slide Number Placeholder 3">
            <a:extLst>
              <a:ext uri="{FF2B5EF4-FFF2-40B4-BE49-F238E27FC236}">
                <a16:creationId xmlns:a16="http://schemas.microsoft.com/office/drawing/2014/main" id="{04A369CA-46DF-D3F3-7803-ADF413C9095A}"/>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19</a:t>
            </a:fld>
            <a:endParaRPr lang="en-US" altLang="ja-JP"/>
          </a:p>
        </p:txBody>
      </p:sp>
    </p:spTree>
    <p:extLst>
      <p:ext uri="{BB962C8B-B14F-4D97-AF65-F5344CB8AC3E}">
        <p14:creationId xmlns:p14="http://schemas.microsoft.com/office/powerpoint/2010/main" val="1660507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F772-EA87-9DEB-B723-4FDB43E36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8F680-EBA9-C235-5488-B5FC3F40CECB}"/>
              </a:ext>
            </a:extLst>
          </p:cNvPr>
          <p:cNvSpPr>
            <a:spLocks noGrp="1"/>
          </p:cNvSpPr>
          <p:nvPr>
            <p:ph type="title"/>
          </p:nvPr>
        </p:nvSpPr>
        <p:spPr/>
        <p:txBody>
          <a:bodyPr>
            <a:normAutofit fontScale="90000"/>
          </a:bodyPr>
          <a:lstStyle/>
          <a:p>
            <a:r>
              <a:rPr lang="ja-JP" altLang="ja-JP" dirty="0"/>
              <a:t>Generic </a:t>
            </a:r>
            <a:r>
              <a:rPr lang="en-US" altLang="ja-JP" dirty="0"/>
              <a:t>Method</a:t>
            </a:r>
            <a:endParaRPr kumimoji="1" lang="ja-JP" altLang="en-US" dirty="0"/>
          </a:p>
        </p:txBody>
      </p:sp>
      <p:sp>
        <p:nvSpPr>
          <p:cNvPr id="3" name="Content Placeholder 2">
            <a:extLst>
              <a:ext uri="{FF2B5EF4-FFF2-40B4-BE49-F238E27FC236}">
                <a16:creationId xmlns:a16="http://schemas.microsoft.com/office/drawing/2014/main" id="{C59C2F51-1132-1E43-FEC6-428D1F3C8E7F}"/>
              </a:ext>
            </a:extLst>
          </p:cNvPr>
          <p:cNvSpPr>
            <a:spLocks noGrp="1"/>
          </p:cNvSpPr>
          <p:nvPr>
            <p:ph idx="1"/>
          </p:nvPr>
        </p:nvSpPr>
        <p:spPr/>
        <p:txBody>
          <a:bodyPr>
            <a:normAutofit fontScale="92500" lnSpcReduction="20000"/>
          </a:bodyPr>
          <a:lstStyle/>
          <a:p>
            <a:r>
              <a:rPr lang="ja-JP" altLang="ja-JP" dirty="0"/>
              <a:t>Generic method là method khai báo tham số kiểu riêng trong chính method đó.</a:t>
            </a:r>
          </a:p>
          <a:p>
            <a:r>
              <a:rPr lang="ja-JP" altLang="ja-JP" dirty="0"/>
              <a:t>Nó hoạt động độc lập, không phụ thuộc class có generic hay không.</a:t>
            </a:r>
          </a:p>
          <a:p>
            <a:pPr marL="0" indent="0">
              <a:buNone/>
            </a:pPr>
            <a:r>
              <a:rPr lang="ja-JP" altLang="ja-JP" b="1" dirty="0"/>
              <a:t>Ví dụ:</a:t>
            </a:r>
            <a:endParaRPr lang="ja-JP" altLang="ja-JP" dirty="0"/>
          </a:p>
          <a:p>
            <a:pPr marL="400050" lvl="1" indent="0">
              <a:buNone/>
            </a:pPr>
            <a:r>
              <a:rPr lang="ja-JP" altLang="ja-JP" dirty="0"/>
              <a:t>public static &lt;T&gt; void printArray(T[ ] arr) {</a:t>
            </a:r>
          </a:p>
          <a:p>
            <a:pPr marL="400050" lvl="1" indent="0">
              <a:buNone/>
            </a:pPr>
            <a:r>
              <a:rPr lang="ja-JP" altLang="ja-JP" dirty="0"/>
              <a:t>        for (T e : arr) {</a:t>
            </a:r>
          </a:p>
          <a:p>
            <a:pPr marL="400050" lvl="1" indent="0">
              <a:buNone/>
            </a:pPr>
            <a:r>
              <a:rPr lang="ja-JP" altLang="ja-JP" dirty="0"/>
              <a:t>            System.out.print(e + " ");</a:t>
            </a:r>
          </a:p>
          <a:p>
            <a:pPr marL="400050" lvl="1" indent="0">
              <a:buNone/>
            </a:pPr>
            <a:r>
              <a:rPr lang="ja-JP" altLang="ja-JP" dirty="0"/>
              <a:t>        }</a:t>
            </a:r>
          </a:p>
          <a:p>
            <a:pPr marL="400050" lvl="1" indent="0">
              <a:buNone/>
            </a:pPr>
            <a:r>
              <a:rPr lang="ja-JP" altLang="ja-JP" dirty="0"/>
              <a:t>        System.out.println();</a:t>
            </a:r>
          </a:p>
          <a:p>
            <a:pPr marL="400050" lvl="1" indent="0">
              <a:buNone/>
            </a:pPr>
            <a:r>
              <a:rPr lang="ja-JP" altLang="ja-JP" dirty="0"/>
              <a:t>    }</a:t>
            </a:r>
          </a:p>
          <a:p>
            <a:pPr marL="400050" lvl="1" indent="0">
              <a:buNone/>
            </a:pPr>
            <a:r>
              <a:rPr lang="ja-JP" altLang="ja-JP" dirty="0"/>
              <a:t>printArray(names); // Alice Bob</a:t>
            </a:r>
          </a:p>
          <a:p>
            <a:pPr marL="400050" lvl="1" indent="0">
              <a:buNone/>
            </a:pPr>
            <a:r>
              <a:rPr lang="ja-JP" altLang="ja-JP" dirty="0"/>
              <a:t>printArray(nums);  // 1 2 3</a:t>
            </a:r>
          </a:p>
        </p:txBody>
      </p:sp>
      <p:sp>
        <p:nvSpPr>
          <p:cNvPr id="4" name="Slide Number Placeholder 3">
            <a:extLst>
              <a:ext uri="{FF2B5EF4-FFF2-40B4-BE49-F238E27FC236}">
                <a16:creationId xmlns:a16="http://schemas.microsoft.com/office/drawing/2014/main" id="{A1E8AD64-BA39-DB28-67C0-ECC9FAF59264}"/>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20</a:t>
            </a:fld>
            <a:endParaRPr lang="en-US" altLang="ja-JP"/>
          </a:p>
        </p:txBody>
      </p:sp>
    </p:spTree>
    <p:extLst>
      <p:ext uri="{BB962C8B-B14F-4D97-AF65-F5344CB8AC3E}">
        <p14:creationId xmlns:p14="http://schemas.microsoft.com/office/powerpoint/2010/main" val="3089988597"/>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23145</TotalTime>
  <Words>3780</Words>
  <Application>Microsoft Office PowerPoint</Application>
  <PresentationFormat>A4 Paper (210x297 mm)</PresentationFormat>
  <Paragraphs>544</Paragraphs>
  <Slides>20</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20</vt:i4>
      </vt:variant>
    </vt:vector>
  </HeadingPairs>
  <TitlesOfParts>
    <vt:vector size="33" baseType="lpstr">
      <vt:lpstr>HG丸ｺﾞｼｯｸM-PRO</vt:lpstr>
      <vt:lpstr>Meiryo UI</vt:lpstr>
      <vt:lpstr>ＭＳ Ｐゴシック</vt:lpstr>
      <vt:lpstr>MS UI Gothic</vt:lpstr>
      <vt:lpstr>ＭＳ ゴシック</vt:lpstr>
      <vt:lpstr>ヒラギノ明朝 Pro W6</vt:lpstr>
      <vt:lpstr>ADLaM Display</vt:lpstr>
      <vt:lpstr>Arial</vt:lpstr>
      <vt:lpstr>Segoe Script</vt:lpstr>
      <vt:lpstr>Times New Roman</vt:lpstr>
      <vt:lpstr>Wingdings</vt:lpstr>
      <vt:lpstr>標準デザイン</vt:lpstr>
      <vt:lpstr>デザインの設定</vt:lpstr>
      <vt:lpstr>Java Training</vt:lpstr>
      <vt:lpstr>PowerPoint Presentation</vt:lpstr>
      <vt:lpstr>Collection là gì?</vt:lpstr>
      <vt:lpstr>ArrayList </vt:lpstr>
      <vt:lpstr>ArrayList: Các method chính</vt:lpstr>
      <vt:lpstr>ArrayList: Ví dụ</vt:lpstr>
      <vt:lpstr>Bài tập: ArrayList class</vt:lpstr>
      <vt:lpstr>HashSet</vt:lpstr>
      <vt:lpstr>HashSet: Các method chính</vt:lpstr>
      <vt:lpstr>HashSet: Ví dụ</vt:lpstr>
      <vt:lpstr>Bài tập: HashSet class</vt:lpstr>
      <vt:lpstr>HashMap</vt:lpstr>
      <vt:lpstr>HashMap: Các method chính</vt:lpstr>
      <vt:lpstr>HashMap: Ví dụ</vt:lpstr>
      <vt:lpstr>Generics</vt:lpstr>
      <vt:lpstr>Nêu vấn đề</vt:lpstr>
      <vt:lpstr>Generics: Ưu điểm</vt:lpstr>
      <vt:lpstr>Generics: Ưu điểm (2)</vt:lpstr>
      <vt:lpstr>Generic Class</vt:lpstr>
      <vt:lpstr>Generic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467</cp:revision>
  <cp:lastPrinted>2018-04-10T08:59:30Z</cp:lastPrinted>
  <dcterms:created xsi:type="dcterms:W3CDTF">2025-05-21T02:38:07Z</dcterms:created>
  <dcterms:modified xsi:type="dcterms:W3CDTF">2026-09-10T01:01:36Z</dcterms:modified>
</cp:coreProperties>
</file>