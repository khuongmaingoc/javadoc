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20"/>
  </p:notesMasterIdLst>
  <p:handoutMasterIdLst>
    <p:handoutMasterId r:id="rId21"/>
  </p:handoutMasterIdLst>
  <p:sldIdLst>
    <p:sldId id="689" r:id="rId3"/>
    <p:sldId id="334" r:id="rId4"/>
    <p:sldId id="452" r:id="rId5"/>
    <p:sldId id="466" r:id="rId6"/>
    <p:sldId id="469" r:id="rId7"/>
    <p:sldId id="472" r:id="rId8"/>
    <p:sldId id="475" r:id="rId9"/>
    <p:sldId id="478" r:id="rId10"/>
    <p:sldId id="481" r:id="rId11"/>
    <p:sldId id="690" r:id="rId12"/>
    <p:sldId id="366" r:id="rId13"/>
    <p:sldId id="451" r:id="rId14"/>
    <p:sldId id="453" r:id="rId15"/>
    <p:sldId id="454" r:id="rId16"/>
    <p:sldId id="455" r:id="rId17"/>
    <p:sldId id="458" r:id="rId18"/>
    <p:sldId id="459" r:id="rId19"/>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154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CC47922E-BB50-912F-60AB-7FA2469BB230}"/>
              </a:ext>
            </a:extLst>
          </p:cNvPr>
          <p:cNvSpPr>
            <a:spLocks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7C81BCC5-6803-1132-A6E8-DE5A11A7D4FF}"/>
              </a:ext>
            </a:extLst>
          </p:cNvPr>
          <p:cNvSpPr>
            <a:spLocks noGrp="1" noChangeArrowheads="1"/>
          </p:cNvSpPr>
          <p:nvPr>
            <p:ph type="body" idx="1"/>
          </p:nvPr>
        </p:nvSpPr>
        <p:spPr/>
        <p:txBody>
          <a:bodyPr/>
          <a:lstStyle/>
          <a:p>
            <a:r>
              <a:rPr lang="en-US" altLang="ja-JP" sz="1400">
                <a:latin typeface="Arial" panose="020B0604020202020204" pitchFamily="34" charset="0"/>
              </a:rPr>
              <a:t>Ở chương 6, chúng ta sẽ sử dụng những nội dung dưới đây.</a:t>
            </a:r>
          </a:p>
          <a:p>
            <a:endParaRPr lang="en-US" altLang="ja-JP" sz="1400">
              <a:latin typeface="Arial" panose="020B0604020202020204" pitchFamily="34" charset="0"/>
            </a:endParaRPr>
          </a:p>
          <a:p>
            <a:r>
              <a:rPr lang="en-US" altLang="ja-JP" sz="1400">
                <a:latin typeface="Arial" panose="020B0604020202020204" pitchFamily="34" charset="0"/>
              </a:rPr>
              <a:t>6.1</a:t>
            </a:r>
            <a:r>
              <a:rPr lang="ja-JP" altLang="en-US" sz="1400">
                <a:latin typeface="Arial" panose="020B0604020202020204" pitchFamily="34" charset="0"/>
              </a:rPr>
              <a:t>　</a:t>
            </a:r>
            <a:r>
              <a:rPr lang="en-US" altLang="ja-JP" sz="1400">
                <a:latin typeface="Arial" panose="020B0604020202020204" pitchFamily="34" charset="0"/>
              </a:rPr>
              <a:t>Package cơ bản</a:t>
            </a:r>
            <a:r>
              <a:rPr lang="ja-JP" altLang="en-US" sz="1400">
                <a:latin typeface="Arial" panose="020B0604020202020204" pitchFamily="34" charset="0"/>
              </a:rPr>
              <a:t>　</a:t>
            </a:r>
          </a:p>
          <a:p>
            <a:r>
              <a:rPr lang="en-US" altLang="ja-JP" sz="1400">
                <a:latin typeface="Arial" panose="020B0604020202020204" pitchFamily="34" charset="0"/>
              </a:rPr>
              <a:t>6.2</a:t>
            </a:r>
            <a:r>
              <a:rPr lang="ja-JP" altLang="en-US" sz="1400">
                <a:latin typeface="Arial" panose="020B0604020202020204" pitchFamily="34" charset="0"/>
              </a:rPr>
              <a:t>　</a:t>
            </a:r>
            <a:r>
              <a:rPr lang="en-US" altLang="ja-JP" sz="1400">
                <a:latin typeface="Arial" panose="020B0604020202020204" pitchFamily="34" charset="0"/>
              </a:rPr>
              <a:t>Object class</a:t>
            </a:r>
          </a:p>
          <a:p>
            <a:r>
              <a:rPr lang="en-US" altLang="ja-JP" sz="1400">
                <a:latin typeface="Arial" panose="020B0604020202020204" pitchFamily="34" charset="0"/>
              </a:rPr>
              <a:t>6.3</a:t>
            </a:r>
            <a:r>
              <a:rPr lang="ja-JP" altLang="en-US" sz="1400">
                <a:latin typeface="Arial" panose="020B0604020202020204" pitchFamily="34" charset="0"/>
              </a:rPr>
              <a:t>　</a:t>
            </a:r>
            <a:r>
              <a:rPr lang="en-US" altLang="ja-JP" sz="1400">
                <a:latin typeface="Arial" panose="020B0604020202020204" pitchFamily="34" charset="0"/>
              </a:rPr>
              <a:t>Math class</a:t>
            </a:r>
          </a:p>
          <a:p>
            <a:r>
              <a:rPr lang="en-US" altLang="ja-JP" sz="1400">
                <a:latin typeface="Arial" panose="020B0604020202020204" pitchFamily="34" charset="0"/>
              </a:rPr>
              <a:t>6.4</a:t>
            </a:r>
            <a:r>
              <a:rPr lang="ja-JP" altLang="en-US" sz="1400">
                <a:latin typeface="Arial" panose="020B0604020202020204" pitchFamily="34" charset="0"/>
              </a:rPr>
              <a:t>　</a:t>
            </a:r>
            <a:r>
              <a:rPr lang="en-US" altLang="ja-JP" sz="1400">
                <a:latin typeface="Arial" panose="020B0604020202020204" pitchFamily="34" charset="0"/>
              </a:rPr>
              <a:t>String class</a:t>
            </a:r>
          </a:p>
          <a:p>
            <a:r>
              <a:rPr lang="en-US" altLang="ja-JP" sz="1400">
                <a:latin typeface="Arial" panose="020B0604020202020204" pitchFamily="34" charset="0"/>
              </a:rPr>
              <a:t>6.5</a:t>
            </a:r>
            <a:r>
              <a:rPr lang="ja-JP" altLang="en-US" sz="1400">
                <a:latin typeface="Arial" panose="020B0604020202020204" pitchFamily="34" charset="0"/>
              </a:rPr>
              <a:t>　</a:t>
            </a:r>
            <a:r>
              <a:rPr lang="en-US" altLang="ja-JP" sz="1400">
                <a:latin typeface="Arial" panose="020B0604020202020204" pitchFamily="34" charset="0"/>
              </a:rPr>
              <a:t>StringBuilder class</a:t>
            </a:r>
          </a:p>
          <a:p>
            <a:r>
              <a:rPr lang="en-US" altLang="ja-JP" sz="1400">
                <a:latin typeface="Arial" panose="020B0604020202020204" pitchFamily="34" charset="0"/>
              </a:rPr>
              <a:t>6.6</a:t>
            </a:r>
            <a:r>
              <a:rPr lang="ja-JP" altLang="en-US" sz="1400">
                <a:latin typeface="Arial" panose="020B0604020202020204" pitchFamily="34" charset="0"/>
              </a:rPr>
              <a:t>　</a:t>
            </a:r>
            <a:r>
              <a:rPr lang="en-US" altLang="ja-JP" sz="1400">
                <a:latin typeface="Arial" panose="020B0604020202020204" pitchFamily="34" charset="0"/>
              </a:rPr>
              <a:t>Wrapper class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E06BEAB8-0FFC-201A-E7D5-A2CFBBDF9FA8}"/>
              </a:ext>
            </a:extLst>
          </p:cNvPr>
          <p:cNvSpPr>
            <a:spLocks noRot="1" noChangeAspect="1" noChangeArrowheads="1" noTextEdit="1"/>
          </p:cNvSpPr>
          <p:nvPr>
            <p:ph type="sldImg"/>
          </p:nvPr>
        </p:nvSpPr>
        <p:spPr>
          <a:xfrm>
            <a:off x="530225" y="835025"/>
            <a:ext cx="6024563" cy="4170363"/>
          </a:xfrm>
          <a:ln/>
        </p:spPr>
      </p:sp>
      <p:sp>
        <p:nvSpPr>
          <p:cNvPr id="547843" name="Rectangle 3">
            <a:extLst>
              <a:ext uri="{FF2B5EF4-FFF2-40B4-BE49-F238E27FC236}">
                <a16:creationId xmlns:a16="http://schemas.microsoft.com/office/drawing/2014/main" id="{134A79E6-D302-C853-48A9-F6B8AE014815}"/>
              </a:ext>
            </a:extLst>
          </p:cNvPr>
          <p:cNvSpPr>
            <a:spLocks noGrp="1" noChangeArrowheads="1"/>
          </p:cNvSpPr>
          <p:nvPr>
            <p:ph type="body" idx="1"/>
          </p:nvPr>
        </p:nvSpPr>
        <p:spPr/>
        <p:txBody>
          <a:bodyPr/>
          <a:lstStyle/>
          <a:p>
            <a:pPr marL="0" indent="0"/>
            <a:r>
              <a:rPr lang="en-US" altLang="ja-JP" sz="1200">
                <a:latin typeface="Arial" panose="020B0604020202020204" pitchFamily="34" charset="0"/>
              </a:rPr>
              <a:t>■</a:t>
            </a:r>
            <a:r>
              <a:rPr lang="ja-JP" altLang="en-US" sz="1200">
                <a:latin typeface="Arial" panose="020B0604020202020204" pitchFamily="34" charset="0"/>
              </a:rPr>
              <a:t>　</a:t>
            </a:r>
            <a:r>
              <a:rPr lang="en-US" altLang="ja-JP" sz="1200">
                <a:latin typeface="Arial" panose="020B0604020202020204" pitchFamily="34" charset="0"/>
              </a:rPr>
              <a:t>Library class</a:t>
            </a:r>
          </a:p>
          <a:p>
            <a:pPr marL="0" indent="0"/>
            <a:r>
              <a:rPr lang="ja-JP" altLang="en-US" sz="1200">
                <a:latin typeface="Arial" panose="020B0604020202020204" pitchFamily="34" charset="0"/>
              </a:rPr>
              <a:t>　 </a:t>
            </a:r>
            <a:r>
              <a:rPr lang="en-US" altLang="ja-JP" sz="1200">
                <a:latin typeface="Arial" panose="020B0604020202020204" pitchFamily="34" charset="0"/>
              </a:rPr>
              <a:t>Tập hợp các class là utility để tạo program được gọi là library class.</a:t>
            </a:r>
          </a:p>
          <a:p>
            <a:pPr marL="0" indent="0"/>
            <a:r>
              <a:rPr lang="ja-JP" altLang="en-US" sz="1200">
                <a:latin typeface="Arial" panose="020B0604020202020204" pitchFamily="34" charset="0"/>
              </a:rPr>
              <a:t>　 </a:t>
            </a:r>
            <a:r>
              <a:rPr lang="en-US" altLang="ja-JP" sz="1200">
                <a:latin typeface="Arial" panose="020B0604020202020204" pitchFamily="34" charset="0"/>
              </a:rPr>
              <a:t>Có rất nhiều loại như loại mà Sun cung cấp, loại bán trên thị trường.v.v…</a:t>
            </a:r>
          </a:p>
          <a:p>
            <a:pPr marL="0" indent="0"/>
            <a:endParaRPr lang="en-US" altLang="ja-JP" sz="1200">
              <a:latin typeface="Arial" panose="020B0604020202020204" pitchFamily="34" charset="0"/>
            </a:endParaRPr>
          </a:p>
          <a:p>
            <a:pPr marL="0" indent="0"/>
            <a:r>
              <a:rPr lang="en-US" altLang="ja-JP" sz="1200">
                <a:latin typeface="Arial" panose="020B0604020202020204" pitchFamily="34" charset="0"/>
              </a:rPr>
              <a:t>■</a:t>
            </a:r>
            <a:r>
              <a:rPr lang="ja-JP" altLang="en-US" sz="1200">
                <a:latin typeface="Arial" panose="020B0604020202020204" pitchFamily="34" charset="0"/>
              </a:rPr>
              <a:t>　</a:t>
            </a:r>
            <a:r>
              <a:rPr lang="en-US" altLang="ja-JP" sz="1200">
                <a:latin typeface="Arial" panose="020B0604020202020204" pitchFamily="34" charset="0"/>
              </a:rPr>
              <a:t>Package đi kèm JavaSE</a:t>
            </a:r>
          </a:p>
          <a:p>
            <a:pPr marL="0" indent="0"/>
            <a:r>
              <a:rPr lang="ja-JP" altLang="en-US" sz="1200">
                <a:latin typeface="Arial" panose="020B0604020202020204" pitchFamily="34" charset="0"/>
              </a:rPr>
              <a:t>　</a:t>
            </a:r>
            <a:r>
              <a:rPr lang="en-US" altLang="ja-JP" sz="1200">
                <a:latin typeface="Arial" panose="020B0604020202020204" pitchFamily="34" charset="0"/>
              </a:rPr>
              <a:t>Ở Java, sẽ tạo program như là một tập hợp của các class nhưng không cần phải tự mình tạo toàn bộ các class.</a:t>
            </a:r>
          </a:p>
          <a:p>
            <a:pPr marL="0" indent="0"/>
            <a:r>
              <a:rPr lang="ja-JP" altLang="en-US" sz="1200">
                <a:latin typeface="Arial" panose="020B0604020202020204" pitchFamily="34" charset="0"/>
              </a:rPr>
              <a:t>　</a:t>
            </a:r>
            <a:r>
              <a:rPr lang="en-US" altLang="ja-JP" sz="1200">
                <a:latin typeface="Arial" panose="020B0604020202020204" pitchFamily="34" charset="0"/>
              </a:rPr>
              <a:t>Ví dụ, ở JavaSE cũng được trang bị rất nhiều nhiều package và class như string thao tác chuỗi kí tự và Object class là super class của toàn bộ các object.</a:t>
            </a:r>
          </a:p>
          <a:p>
            <a:pPr marL="0" indent="0"/>
            <a:r>
              <a:rPr lang="ja-JP" altLang="en-US" sz="1200">
                <a:latin typeface="Arial" panose="020B0604020202020204" pitchFamily="34" charset="0"/>
              </a:rPr>
              <a:t>　</a:t>
            </a:r>
            <a:r>
              <a:rPr lang="en-US" altLang="ja-JP" sz="1200">
                <a:latin typeface="Arial" panose="020B0604020202020204" pitchFamily="34" charset="0"/>
              </a:rPr>
              <a:t>Về chi tiết thì chúng ta hãy cùng xác nhận bằng API document đi kèm với JavaSE.v.v…</a:t>
            </a:r>
          </a:p>
          <a:p>
            <a:pPr marL="0" indent="0"/>
            <a:endParaRPr lang="en-US" altLang="ja-JP" sz="1200">
              <a:latin typeface="Arial" panose="020B0604020202020204" pitchFamily="34" charset="0"/>
            </a:endParaRPr>
          </a:p>
          <a:p>
            <a:pPr marL="0" indent="0"/>
            <a:r>
              <a:rPr lang="en-US" altLang="ja-JP" sz="1200">
                <a:latin typeface="Arial" panose="020B0604020202020204" pitchFamily="34" charset="0"/>
              </a:rPr>
              <a:t>●</a:t>
            </a:r>
            <a:r>
              <a:rPr lang="ja-JP" altLang="en-US" sz="1200">
                <a:latin typeface="Arial" panose="020B0604020202020204" pitchFamily="34" charset="0"/>
              </a:rPr>
              <a:t>　</a:t>
            </a:r>
            <a:r>
              <a:rPr lang="en-US" altLang="ja-JP" sz="1200">
                <a:latin typeface="Arial" panose="020B0604020202020204" pitchFamily="34" charset="0"/>
              </a:rPr>
              <a:t>Ví dụ về package đi kèmJavaSE</a:t>
            </a:r>
          </a:p>
          <a:p>
            <a:pPr marL="0" indent="0"/>
            <a:endParaRPr lang="en-US" altLang="ja-JP" sz="1200">
              <a:latin typeface="Arial" panose="020B0604020202020204" pitchFamily="34" charset="0"/>
            </a:endParaRPr>
          </a:p>
        </p:txBody>
      </p:sp>
      <p:graphicFrame>
        <p:nvGraphicFramePr>
          <p:cNvPr id="547954" name="Group 114">
            <a:extLst>
              <a:ext uri="{FF2B5EF4-FFF2-40B4-BE49-F238E27FC236}">
                <a16:creationId xmlns:a16="http://schemas.microsoft.com/office/drawing/2014/main" id="{94C6B772-0D85-843F-ED86-A27BCE00370C}"/>
              </a:ext>
            </a:extLst>
          </p:cNvPr>
          <p:cNvGraphicFramePr>
            <a:graphicFrameLocks noGrp="1"/>
          </p:cNvGraphicFramePr>
          <p:nvPr/>
        </p:nvGraphicFramePr>
        <p:xfrm>
          <a:off x="631825" y="7877175"/>
          <a:ext cx="5875338" cy="1654560"/>
        </p:xfrm>
        <a:graphic>
          <a:graphicData uri="http://schemas.openxmlformats.org/drawingml/2006/table">
            <a:tbl>
              <a:tblPr/>
              <a:tblGrid>
                <a:gridCol w="849313">
                  <a:extLst>
                    <a:ext uri="{9D8B030D-6E8A-4147-A177-3AD203B41FA5}">
                      <a16:colId xmlns:a16="http://schemas.microsoft.com/office/drawing/2014/main" val="4204934886"/>
                    </a:ext>
                  </a:extLst>
                </a:gridCol>
                <a:gridCol w="2732087">
                  <a:extLst>
                    <a:ext uri="{9D8B030D-6E8A-4147-A177-3AD203B41FA5}">
                      <a16:colId xmlns:a16="http://schemas.microsoft.com/office/drawing/2014/main" val="1701739674"/>
                    </a:ext>
                  </a:extLst>
                </a:gridCol>
                <a:gridCol w="2293938">
                  <a:extLst>
                    <a:ext uri="{9D8B030D-6E8A-4147-A177-3AD203B41FA5}">
                      <a16:colId xmlns:a16="http://schemas.microsoft.com/office/drawing/2014/main" val="3961884203"/>
                    </a:ext>
                  </a:extLst>
                </a:gridCol>
              </a:tblGrid>
              <a:tr h="2651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Package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Phần được bao gồm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Ví dụ</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989527020"/>
                  </a:ext>
                </a:extLst>
              </a:tr>
              <a:tr h="2635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java.lang</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Là package cơ bản là hạt nhân của ngôn ngữ Java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Object, String, System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5543698"/>
                  </a:ext>
                </a:extLst>
              </a:tr>
              <a:tr h="2651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java.util</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Utility part xử lý như collection, ngày giờ, format.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ArrayList, Calendar, Formatter</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86819743"/>
                  </a:ext>
                </a:extLst>
              </a:tr>
              <a:tr h="2635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java.io</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Là package </a:t>
                      </a:r>
                      <a:r>
                        <a:rPr kumimoji="1" lang="en-US" altLang="zh-TW"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liên quan đến input, output.</a:t>
                      </a:r>
                      <a:endPar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File, InputStream, OutputStream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0804833"/>
                  </a:ext>
                </a:extLst>
              </a:tr>
            </a:tbl>
          </a:graphicData>
        </a:graphic>
      </p:graphicFrame>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19A21FA5-4DC2-8525-69A7-93868F2A48CB}"/>
              </a:ext>
            </a:extLst>
          </p:cNvPr>
          <p:cNvSpPr>
            <a:spLocks noRot="1" noChangeAspect="1" noChangeArrowheads="1" noTextEdit="1"/>
          </p:cNvSpPr>
          <p:nvPr>
            <p:ph type="sldImg"/>
          </p:nvPr>
        </p:nvSpPr>
        <p:spPr>
          <a:xfrm>
            <a:off x="530225" y="835025"/>
            <a:ext cx="6024563" cy="4170363"/>
          </a:xfrm>
          <a:ln/>
        </p:spPr>
      </p:sp>
      <p:sp>
        <p:nvSpPr>
          <p:cNvPr id="576515" name="Rectangle 3">
            <a:extLst>
              <a:ext uri="{FF2B5EF4-FFF2-40B4-BE49-F238E27FC236}">
                <a16:creationId xmlns:a16="http://schemas.microsoft.com/office/drawing/2014/main" id="{FC1A2B33-54D7-830E-2AFD-0523A8805704}"/>
              </a:ext>
            </a:extLst>
          </p:cNvPr>
          <p:cNvSpPr>
            <a:spLocks noGrp="1" noChangeArrowheads="1"/>
          </p:cNvSpPr>
          <p:nvPr>
            <p:ph type="body" idx="1"/>
          </p:nvPr>
        </p:nvSpPr>
        <p:spPr/>
        <p:txBody>
          <a:bodyPr/>
          <a:lstStyle/>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Object class</a:t>
            </a:r>
          </a:p>
          <a:p>
            <a:pPr marL="0" indent="0"/>
            <a:r>
              <a:rPr lang="ja-JP" altLang="en-US">
                <a:latin typeface="Arial" panose="020B0604020202020204" pitchFamily="34" charset="0"/>
              </a:rPr>
              <a:t>　</a:t>
            </a:r>
            <a:r>
              <a:rPr lang="en-US" altLang="ja-JP">
                <a:latin typeface="Arial" panose="020B0604020202020204" pitchFamily="34" charset="0"/>
              </a:rPr>
              <a:t>Là class sẽ trở thành super class của tất cả class, định nghĩa các chức năng chung của một object.</a:t>
            </a:r>
          </a:p>
          <a:p>
            <a:pPr marL="0" indent="0"/>
            <a:r>
              <a:rPr lang="ja-JP" altLang="en-US">
                <a:latin typeface="Arial" panose="020B0604020202020204" pitchFamily="34" charset="0"/>
              </a:rPr>
              <a:t>　</a:t>
            </a:r>
            <a:r>
              <a:rPr lang="en-US" altLang="ja-JP">
                <a:latin typeface="Arial" panose="020B0604020202020204" pitchFamily="34" charset="0"/>
              </a:rPr>
              <a:t>Tất các các class sẽ kế thừa class này một cách trực tiếp hoặc gián tiếp.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sz="1200">
              <a:latin typeface="Arial" panose="020B0604020202020204" pitchFamily="34" charset="0"/>
            </a:endParaRPr>
          </a:p>
          <a:p>
            <a:pPr marL="0" indent="0"/>
            <a:endParaRPr lang="en-US" altLang="ja-JP" sz="1200">
              <a:latin typeface="Arial" panose="020B0604020202020204" pitchFamily="34" charset="0"/>
            </a:endParaRPr>
          </a:p>
          <a:p>
            <a:pPr marL="0" indent="0"/>
            <a:endParaRPr lang="en-US" altLang="ja-JP" sz="1200">
              <a:latin typeface="Arial" panose="020B0604020202020204" pitchFamily="34" charset="0"/>
            </a:endParaRPr>
          </a:p>
          <a:p>
            <a:pPr marL="0" indent="0"/>
            <a:endParaRPr lang="en-US" altLang="ja-JP" sz="1200">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Ngoài ra, còn có nhiều method. Về chi tiết thì chúng ta hãy cùng xác nhận ví dụ như bằng API document đi kèm JavaSE.</a:t>
            </a:r>
          </a:p>
          <a:p>
            <a:pPr marL="0" indent="0"/>
            <a:endParaRPr lang="en-US" altLang="ja-JP" sz="1200">
              <a:latin typeface="Arial" panose="020B0604020202020204" pitchFamily="34" charset="0"/>
            </a:endParaRPr>
          </a:p>
        </p:txBody>
      </p:sp>
      <p:graphicFrame>
        <p:nvGraphicFramePr>
          <p:cNvPr id="576636" name="Group 124">
            <a:extLst>
              <a:ext uri="{FF2B5EF4-FFF2-40B4-BE49-F238E27FC236}">
                <a16:creationId xmlns:a16="http://schemas.microsoft.com/office/drawing/2014/main" id="{4634034D-0579-A11F-0387-A611F8EC9881}"/>
              </a:ext>
            </a:extLst>
          </p:cNvPr>
          <p:cNvGraphicFramePr>
            <a:graphicFrameLocks noGrp="1"/>
          </p:cNvGraphicFramePr>
          <p:nvPr/>
        </p:nvGraphicFramePr>
        <p:xfrm>
          <a:off x="660400" y="6254750"/>
          <a:ext cx="5810250" cy="1434751"/>
        </p:xfrm>
        <a:graphic>
          <a:graphicData uri="http://schemas.openxmlformats.org/drawingml/2006/table">
            <a:tbl>
              <a:tblPr/>
              <a:tblGrid>
                <a:gridCol w="1925638">
                  <a:extLst>
                    <a:ext uri="{9D8B030D-6E8A-4147-A177-3AD203B41FA5}">
                      <a16:colId xmlns:a16="http://schemas.microsoft.com/office/drawing/2014/main" val="1022348788"/>
                    </a:ext>
                  </a:extLst>
                </a:gridCol>
                <a:gridCol w="3884612">
                  <a:extLst>
                    <a:ext uri="{9D8B030D-6E8A-4147-A177-3AD203B41FA5}">
                      <a16:colId xmlns:a16="http://schemas.microsoft.com/office/drawing/2014/main" val="3027334448"/>
                    </a:ext>
                  </a:extLst>
                </a:gridCol>
              </a:tblGrid>
              <a:tr h="3222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235041450"/>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equals(Object  obj)</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xem object này và object mà đã được chỉ định bằng đối số có bằng nhau không.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bằng nhau thì là true, nếu không thì trả về false.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7783140"/>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toString()</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data m</a:t>
                      </a:r>
                      <a:r>
                        <a:rPr kumimoji="1" lang="en-US"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à</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object đang lưu trữ bằng string.</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vi-VN"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Thông thường, sẽ trả về string ứng với h</a:t>
                      </a:r>
                      <a:r>
                        <a:rPr kumimoji="1" lang="vi-VN"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à</a:t>
                      </a:r>
                      <a:r>
                        <a:rPr kumimoji="1" lang="vi-VN"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 toString() đã được override ở ph</a:t>
                      </a:r>
                      <a:r>
                        <a:rPr kumimoji="1" lang="vi-VN"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í</a:t>
                      </a:r>
                      <a:r>
                        <a:rPr kumimoji="1" lang="vi-VN"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 subclass</a:t>
                      </a:r>
                      <a:r>
                        <a:rPr kumimoji="1" lang="vi-VN"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endPar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27746701"/>
                  </a:ext>
                </a:extLst>
              </a:tr>
            </a:tbl>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a:extLst>
              <a:ext uri="{FF2B5EF4-FFF2-40B4-BE49-F238E27FC236}">
                <a16:creationId xmlns:a16="http://schemas.microsoft.com/office/drawing/2014/main" id="{B0532B6F-B165-7FC5-CCA8-BA167D6E01BE}"/>
              </a:ext>
            </a:extLst>
          </p:cNvPr>
          <p:cNvSpPr>
            <a:spLocks noRot="1" noChangeAspect="1" noChangeArrowheads="1" noTextEdit="1"/>
          </p:cNvSpPr>
          <p:nvPr>
            <p:ph type="sldImg"/>
          </p:nvPr>
        </p:nvSpPr>
        <p:spPr>
          <a:xfrm>
            <a:off x="728663" y="835025"/>
            <a:ext cx="5627687" cy="3895725"/>
          </a:xfrm>
          <a:ln/>
        </p:spPr>
      </p:sp>
      <p:sp>
        <p:nvSpPr>
          <p:cNvPr id="582659" name="Rectangle 3">
            <a:extLst>
              <a:ext uri="{FF2B5EF4-FFF2-40B4-BE49-F238E27FC236}">
                <a16:creationId xmlns:a16="http://schemas.microsoft.com/office/drawing/2014/main" id="{56D87519-EED3-6FA1-BB21-ADA1B6D42CC3}"/>
              </a:ext>
            </a:extLst>
          </p:cNvPr>
          <p:cNvSpPr>
            <a:spLocks noGrp="1" noChangeArrowheads="1"/>
          </p:cNvSpPr>
          <p:nvPr>
            <p:ph type="body" idx="1"/>
          </p:nvPr>
        </p:nvSpPr>
        <p:spPr>
          <a:xfrm>
            <a:off x="706438" y="4838700"/>
            <a:ext cx="5635625" cy="5149850"/>
          </a:xfrm>
        </p:spPr>
        <p:txBody>
          <a:bodyPr/>
          <a:lstStyle/>
          <a:p>
            <a:pPr marL="0" indent="0">
              <a:lnSpc>
                <a:spcPct val="80000"/>
              </a:lnSpc>
            </a:pPr>
            <a:r>
              <a:rPr lang="en-US" altLang="ja-JP" sz="900"/>
              <a:t>■</a:t>
            </a:r>
            <a:r>
              <a:rPr lang="ja-JP" altLang="en-US"/>
              <a:t>　</a:t>
            </a:r>
            <a:r>
              <a:rPr lang="en-US" altLang="ja-JP" sz="1200">
                <a:latin typeface="Arial" panose="020B0604020202020204" pitchFamily="34" charset="0"/>
              </a:rPr>
              <a:t>Math class</a:t>
            </a:r>
          </a:p>
          <a:p>
            <a:pPr marL="0" indent="0">
              <a:lnSpc>
                <a:spcPct val="80000"/>
              </a:lnSpc>
            </a:pPr>
            <a:r>
              <a:rPr lang="ja-JP" altLang="en-US" sz="1200">
                <a:latin typeface="Arial" panose="020B0604020202020204" pitchFamily="34" charset="0"/>
              </a:rPr>
              <a:t>　</a:t>
            </a:r>
            <a:r>
              <a:rPr lang="en-US" altLang="ja-JP" sz="1200">
                <a:latin typeface="Arial" panose="020B0604020202020204" pitchFamily="34" charset="0"/>
              </a:rPr>
              <a:t>Là class xử lý thao tác giá trị số như hàm lượng giác, căn bậc 2.</a:t>
            </a:r>
          </a:p>
          <a:p>
            <a:pPr marL="0" indent="0">
              <a:lnSpc>
                <a:spcPct val="80000"/>
              </a:lnSpc>
            </a:pPr>
            <a:r>
              <a:rPr lang="ja-JP" altLang="en-US" sz="1200">
                <a:latin typeface="Arial" panose="020B0604020202020204" pitchFamily="34" charset="0"/>
              </a:rPr>
              <a:t>　</a:t>
            </a:r>
            <a:r>
              <a:rPr lang="en-US" altLang="ja-JP" sz="1200">
                <a:latin typeface="Arial" panose="020B0604020202020204" pitchFamily="34" charset="0"/>
              </a:rPr>
              <a:t>Về member được cung cấp bằng class này thì tất cả đều là static member, có thể sử dụng mà không tạo object.</a:t>
            </a:r>
          </a:p>
          <a:p>
            <a:pPr marL="0" indent="0">
              <a:lnSpc>
                <a:spcPct val="80000"/>
              </a:lnSpc>
            </a:pPr>
            <a:endParaRPr lang="en-US" altLang="ja-JP" sz="1200"/>
          </a:p>
          <a:p>
            <a:pPr marL="0" indent="0">
              <a:lnSpc>
                <a:spcPct val="80000"/>
              </a:lnSpc>
            </a:pPr>
            <a:r>
              <a:rPr lang="en-US" altLang="ja-JP" sz="1200"/>
              <a:t>●</a:t>
            </a:r>
            <a:r>
              <a:rPr lang="ja-JP" altLang="en-US" sz="1200"/>
              <a:t>　</a:t>
            </a:r>
            <a:r>
              <a:rPr lang="en-US" altLang="ja-JP" sz="1200">
                <a:latin typeface="Arial" panose="020B0604020202020204" pitchFamily="34" charset="0"/>
              </a:rPr>
              <a:t>Field chính</a:t>
            </a:r>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r>
              <a:rPr lang="en-US" altLang="ja-JP" sz="1200"/>
              <a:t>●</a:t>
            </a:r>
            <a:r>
              <a:rPr lang="ja-JP" altLang="en-US" sz="1200"/>
              <a:t>　</a:t>
            </a:r>
            <a:r>
              <a:rPr lang="en-US" altLang="ja-JP" sz="1200">
                <a:latin typeface="Arial" panose="020B0604020202020204" pitchFamily="34" charset="0"/>
              </a:rPr>
              <a:t>Method chính</a:t>
            </a:r>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AU"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endParaRPr lang="en-US" altLang="ja-JP" sz="1200"/>
          </a:p>
          <a:p>
            <a:pPr marL="0" indent="0">
              <a:lnSpc>
                <a:spcPct val="80000"/>
              </a:lnSpc>
            </a:pPr>
            <a:r>
              <a:rPr lang="en-US" altLang="ja-JP" sz="1200"/>
              <a:t>※</a:t>
            </a:r>
            <a:r>
              <a:rPr lang="ja-JP" altLang="en-US" sz="1200"/>
              <a:t>　</a:t>
            </a:r>
            <a:r>
              <a:rPr lang="en-US" altLang="ja-JP" sz="1200">
                <a:latin typeface="Arial" panose="020B0604020202020204" pitchFamily="34" charset="0"/>
              </a:rPr>
              <a:t>Ngoài ra, còn có nhiều method khác. Về chi tiết thì chúng ta hãy cùng xác nhận bằng tài liệu API đi kèm JavaSE.</a:t>
            </a:r>
          </a:p>
        </p:txBody>
      </p:sp>
      <p:graphicFrame>
        <p:nvGraphicFramePr>
          <p:cNvPr id="582804" name="Group 148">
            <a:extLst>
              <a:ext uri="{FF2B5EF4-FFF2-40B4-BE49-F238E27FC236}">
                <a16:creationId xmlns:a16="http://schemas.microsoft.com/office/drawing/2014/main" id="{0944977A-922A-5F27-6DAE-5D5376517BC3}"/>
              </a:ext>
            </a:extLst>
          </p:cNvPr>
          <p:cNvGraphicFramePr>
            <a:graphicFrameLocks noGrp="1"/>
          </p:cNvGraphicFramePr>
          <p:nvPr/>
        </p:nvGraphicFramePr>
        <p:xfrm>
          <a:off x="585788" y="5819775"/>
          <a:ext cx="6013450" cy="496888"/>
        </p:xfrm>
        <a:graphic>
          <a:graphicData uri="http://schemas.openxmlformats.org/drawingml/2006/table">
            <a:tbl>
              <a:tblPr/>
              <a:tblGrid>
                <a:gridCol w="1317625">
                  <a:extLst>
                    <a:ext uri="{9D8B030D-6E8A-4147-A177-3AD203B41FA5}">
                      <a16:colId xmlns:a16="http://schemas.microsoft.com/office/drawing/2014/main" val="3052903524"/>
                    </a:ext>
                  </a:extLst>
                </a:gridCol>
                <a:gridCol w="4695825">
                  <a:extLst>
                    <a:ext uri="{9D8B030D-6E8A-4147-A177-3AD203B41FA5}">
                      <a16:colId xmlns:a16="http://schemas.microsoft.com/office/drawing/2014/main" val="3418344264"/>
                    </a:ext>
                  </a:extLst>
                </a:gridCol>
              </a:tblGrid>
              <a:tr h="2492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Field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262515275"/>
                  </a:ext>
                </a:extLst>
              </a:tr>
              <a:tr h="2476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PI</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Giá trị double gần nhất với tỉ lệ chu vi </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π</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1572185"/>
                  </a:ext>
                </a:extLst>
              </a:tr>
            </a:tbl>
          </a:graphicData>
        </a:graphic>
      </p:graphicFrame>
      <p:graphicFrame>
        <p:nvGraphicFramePr>
          <p:cNvPr id="582835" name="Group 179">
            <a:extLst>
              <a:ext uri="{FF2B5EF4-FFF2-40B4-BE49-F238E27FC236}">
                <a16:creationId xmlns:a16="http://schemas.microsoft.com/office/drawing/2014/main" id="{D0C90927-6111-9A73-AE8A-2F7214B70BC2}"/>
              </a:ext>
            </a:extLst>
          </p:cNvPr>
          <p:cNvGraphicFramePr>
            <a:graphicFrameLocks noGrp="1"/>
          </p:cNvGraphicFramePr>
          <p:nvPr/>
        </p:nvGraphicFramePr>
        <p:xfrm>
          <a:off x="541338" y="6554788"/>
          <a:ext cx="6027737" cy="2892425"/>
        </p:xfrm>
        <a:graphic>
          <a:graphicData uri="http://schemas.openxmlformats.org/drawingml/2006/table">
            <a:tbl>
              <a:tblPr/>
              <a:tblGrid>
                <a:gridCol w="2716212">
                  <a:extLst>
                    <a:ext uri="{9D8B030D-6E8A-4147-A177-3AD203B41FA5}">
                      <a16:colId xmlns:a16="http://schemas.microsoft.com/office/drawing/2014/main" val="604433714"/>
                    </a:ext>
                  </a:extLst>
                </a:gridCol>
                <a:gridCol w="3311525">
                  <a:extLst>
                    <a:ext uri="{9D8B030D-6E8A-4147-A177-3AD203B41FA5}">
                      <a16:colId xmlns:a16="http://schemas.microsoft.com/office/drawing/2014/main" val="3639428384"/>
                    </a:ext>
                  </a:extLst>
                </a:gridCol>
              </a:tblGrid>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Method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03217857"/>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abs(double 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tuyệt đối của đối số a. Cũng sử dụng cho float, int, long.</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3337071"/>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max(double a, double 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các đối số a, b, trả về đối số nào lớn hơn. Cũng sử dụng cho float, int, long.</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9155885"/>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min(double a, double 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các đối số a, b, trả về đối số nào nhỏ hơn. Cũng sử dụng cho float, int, long.</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5971015"/>
                  </a:ext>
                </a:extLst>
              </a:tr>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pow(double a, double 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giá trị đã lũy thừa đối số a bằng đối số 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0125993"/>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random()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Trả lại giá trị double random lớn hơn 0.0 và nhỏ hơn 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35285960"/>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long round(double 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long gần nhất với đối số a. Cũng sử dụng cho float→int.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1392862"/>
                  </a:ext>
                </a:extLst>
              </a:tr>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double sqrt(double 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căn bậc 2 của đối số 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99793629"/>
                  </a:ext>
                </a:extLst>
              </a:tr>
            </a:tbl>
          </a:graphicData>
        </a:graphic>
      </p:graphicFrame>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F4A3B24F-EF46-FB1D-4392-53F574905A8E}"/>
              </a:ext>
            </a:extLst>
          </p:cNvPr>
          <p:cNvSpPr>
            <a:spLocks noRot="1" noChangeAspect="1" noChangeArrowheads="1" noTextEdit="1"/>
          </p:cNvSpPr>
          <p:nvPr>
            <p:ph type="sldImg"/>
          </p:nvPr>
        </p:nvSpPr>
        <p:spPr>
          <a:xfrm>
            <a:off x="530225" y="835025"/>
            <a:ext cx="6024563" cy="4170363"/>
          </a:xfrm>
          <a:ln/>
        </p:spPr>
      </p:sp>
      <p:sp>
        <p:nvSpPr>
          <p:cNvPr id="588803" name="Rectangle 3">
            <a:extLst>
              <a:ext uri="{FF2B5EF4-FFF2-40B4-BE49-F238E27FC236}">
                <a16:creationId xmlns:a16="http://schemas.microsoft.com/office/drawing/2014/main" id="{BED5EFED-9AED-BC85-5DF6-284DEBEEA7B5}"/>
              </a:ext>
            </a:extLst>
          </p:cNvPr>
          <p:cNvSpPr>
            <a:spLocks noGrp="1" noChangeArrowheads="1"/>
          </p:cNvSpPr>
          <p:nvPr>
            <p:ph type="body" idx="1"/>
          </p:nvPr>
        </p:nvSpPr>
        <p:spPr>
          <a:xfrm>
            <a:off x="676275" y="5062538"/>
            <a:ext cx="5635625" cy="5024437"/>
          </a:xfrm>
        </p:spPr>
        <p:txBody>
          <a:bodyPr/>
          <a:lstStyle/>
          <a:p>
            <a:pPr marL="0" indent="0">
              <a:lnSpc>
                <a:spcPct val="80000"/>
              </a:lnSpc>
            </a:pPr>
            <a:r>
              <a:rPr lang="en-US" altLang="ja-JP" sz="600">
                <a:latin typeface="Arial" panose="020B0604020202020204" pitchFamily="34" charset="0"/>
              </a:rPr>
              <a:t>■</a:t>
            </a:r>
            <a:r>
              <a:rPr lang="ja-JP" altLang="en-US" sz="700">
                <a:latin typeface="Arial" panose="020B0604020202020204" pitchFamily="34" charset="0"/>
              </a:rPr>
              <a:t>　</a:t>
            </a:r>
            <a:r>
              <a:rPr lang="en-US" altLang="ja-JP" sz="900">
                <a:latin typeface="Arial" panose="020B0604020202020204" pitchFamily="34" charset="0"/>
              </a:rPr>
              <a:t>String class</a:t>
            </a:r>
          </a:p>
          <a:p>
            <a:pPr marL="0" indent="0">
              <a:lnSpc>
                <a:spcPct val="80000"/>
              </a:lnSpc>
            </a:pPr>
            <a:r>
              <a:rPr lang="ja-JP" altLang="en-US" sz="900">
                <a:latin typeface="Arial" panose="020B0604020202020204" pitchFamily="34" charset="0"/>
              </a:rPr>
              <a:t>　</a:t>
            </a:r>
            <a:r>
              <a:rPr lang="en-US" altLang="ja-JP" sz="900">
                <a:latin typeface="Arial" panose="020B0604020202020204" pitchFamily="34" charset="0"/>
              </a:rPr>
              <a:t>Là class để thao tác chuỗi ký tự. Khi gán chuỗi ký tự được bao bởi dấu nháy kép </a:t>
            </a:r>
            <a:r>
              <a:rPr lang="ja-JP" altLang="en-US" sz="800"/>
              <a:t>（</a:t>
            </a:r>
            <a:r>
              <a:rPr lang="en-US" altLang="ja-JP" sz="800"/>
              <a:t>")</a:t>
            </a:r>
            <a:r>
              <a:rPr lang="en-US" altLang="ja-JP" sz="900">
                <a:latin typeface="Arial" panose="020B0604020202020204" pitchFamily="34" charset="0"/>
              </a:rPr>
              <a:t> thì có thể tạo/sinh object. Có nhiều Method được trang bị để thao tác với chuỗi ký tự.</a:t>
            </a:r>
          </a:p>
          <a:p>
            <a:pPr marL="0" indent="0">
              <a:lnSpc>
                <a:spcPct val="80000"/>
              </a:lnSpc>
            </a:pPr>
            <a:endParaRPr lang="en-US" altLang="ja-JP" sz="900">
              <a:latin typeface="Arial" panose="020B0604020202020204" pitchFamily="34" charset="0"/>
            </a:endParaRPr>
          </a:p>
          <a:p>
            <a:pPr marL="0" indent="0">
              <a:lnSpc>
                <a:spcPct val="80000"/>
              </a:lnSpc>
            </a:pPr>
            <a:r>
              <a:rPr lang="en-US" altLang="ja-JP" sz="900">
                <a:latin typeface="Arial" panose="020B0604020202020204" pitchFamily="34" charset="0"/>
              </a:rPr>
              <a:t>●</a:t>
            </a:r>
            <a:r>
              <a:rPr lang="ja-JP" altLang="en-US" sz="900">
                <a:latin typeface="Arial" panose="020B0604020202020204" pitchFamily="34" charset="0"/>
              </a:rPr>
              <a:t>　</a:t>
            </a:r>
            <a:r>
              <a:rPr lang="en-US" altLang="ja-JP" sz="900">
                <a:latin typeface="Arial" panose="020B0604020202020204" pitchFamily="34" charset="0"/>
              </a:rPr>
              <a:t>Method chính</a:t>
            </a:r>
          </a:p>
          <a:p>
            <a:pPr marL="0" indent="0">
              <a:lnSpc>
                <a:spcPct val="80000"/>
              </a:lnSpc>
            </a:pPr>
            <a:endParaRPr lang="en-US" altLang="ja-JP" sz="9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latin typeface="Arial" panose="020B0604020202020204" pitchFamily="34" charset="0"/>
            </a:endParaRPr>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US"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AU" altLang="ja-JP" sz="6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endParaRPr lang="en-US" altLang="ja-JP" sz="900"/>
          </a:p>
          <a:p>
            <a:pPr marL="0" indent="0">
              <a:lnSpc>
                <a:spcPct val="80000"/>
              </a:lnSpc>
            </a:pPr>
            <a:r>
              <a:rPr lang="en-US" altLang="ja-JP" sz="900"/>
              <a:t>※</a:t>
            </a:r>
            <a:r>
              <a:rPr lang="ja-JP" altLang="en-US" sz="900"/>
              <a:t>　</a:t>
            </a:r>
            <a:r>
              <a:rPr lang="en-US" altLang="ja-JP" sz="900">
                <a:latin typeface="Arial" panose="020B0604020202020204" pitchFamily="34" charset="0"/>
              </a:rPr>
              <a:t>Ngoài ra, có nhiều method khác nữa. Về chi tiết thì chúng ta hãy cùng xác nhận bằng tài liệu API đi kèm JavaSE.</a:t>
            </a:r>
          </a:p>
          <a:p>
            <a:pPr marL="0" indent="0">
              <a:lnSpc>
                <a:spcPct val="80000"/>
              </a:lnSpc>
            </a:pPr>
            <a:r>
              <a:rPr lang="en-US" altLang="ja-JP" sz="900">
                <a:latin typeface="Arial" panose="020B0604020202020204" pitchFamily="34" charset="0"/>
              </a:rPr>
              <a:t>※</a:t>
            </a:r>
            <a:r>
              <a:rPr lang="ja-JP" altLang="en-US" sz="900">
                <a:latin typeface="Arial" panose="020B0604020202020204" pitchFamily="34" charset="0"/>
              </a:rPr>
              <a:t>　</a:t>
            </a:r>
            <a:r>
              <a:rPr lang="en-US" altLang="ja-JP" sz="900">
                <a:latin typeface="Arial" panose="020B0604020202020204" pitchFamily="34" charset="0"/>
              </a:rPr>
              <a:t>String class override override equals method không phải để trả về object giống nhau hay không mà để trả về xem chuỗi ký tự như là một giá trị có tương tương nhau không. </a:t>
            </a:r>
            <a:br>
              <a:rPr lang="en-US" altLang="ja-JP" sz="900"/>
            </a:br>
            <a:r>
              <a:rPr lang="ja-JP" altLang="en-US" sz="900"/>
              <a:t>　</a:t>
            </a:r>
          </a:p>
        </p:txBody>
      </p:sp>
      <p:graphicFrame>
        <p:nvGraphicFramePr>
          <p:cNvPr id="588890" name="Group 90">
            <a:extLst>
              <a:ext uri="{FF2B5EF4-FFF2-40B4-BE49-F238E27FC236}">
                <a16:creationId xmlns:a16="http://schemas.microsoft.com/office/drawing/2014/main" id="{7D7970AD-9FD7-A24C-3361-C885CB39AAD1}"/>
              </a:ext>
            </a:extLst>
          </p:cNvPr>
          <p:cNvGraphicFramePr>
            <a:graphicFrameLocks noGrp="1"/>
          </p:cNvGraphicFramePr>
          <p:nvPr/>
        </p:nvGraphicFramePr>
        <p:xfrm>
          <a:off x="574675" y="5738813"/>
          <a:ext cx="5772150" cy="3527997"/>
        </p:xfrm>
        <a:graphic>
          <a:graphicData uri="http://schemas.openxmlformats.org/drawingml/2006/table">
            <a:tbl>
              <a:tblPr/>
              <a:tblGrid>
                <a:gridCol w="1781175">
                  <a:extLst>
                    <a:ext uri="{9D8B030D-6E8A-4147-A177-3AD203B41FA5}">
                      <a16:colId xmlns:a16="http://schemas.microsoft.com/office/drawing/2014/main" val="2085460478"/>
                    </a:ext>
                  </a:extLst>
                </a:gridCol>
                <a:gridCol w="3990975">
                  <a:extLst>
                    <a:ext uri="{9D8B030D-6E8A-4147-A177-3AD203B41FA5}">
                      <a16:colId xmlns:a16="http://schemas.microsoft.com/office/drawing/2014/main" val="3528265833"/>
                    </a:ext>
                  </a:extLst>
                </a:gridCol>
              </a:tblGrid>
              <a:tr h="2508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4102909586"/>
                  </a:ext>
                </a:extLst>
              </a:tr>
              <a:tr h="2778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char charAt(int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char có ở vị trí index đã được chỉ định bằng đối số. Điểm bắt đầu của index là 0.</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4267241"/>
                  </a:ext>
                </a:extLst>
              </a:tr>
              <a:tr h="2508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length()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số kí tự của chuỗi ký tự mà nó tự quản lý.</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192185"/>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equalsIgnoreCase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another)</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So sánh bản thân nó với string</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của đối số không phân biệt chữ hoa và chữ thường. Nếu tương đương nhau thì trả về true, nếu không thì trả về false.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6951889"/>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equals</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(Object anObject)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So sánh object của bản thân nó với object đã được đã được chỉ định bằng đối số. Nếu đối số là string object biểu hiện giá trị chuỗi ký tự giống với object của bản thân nó thì trả về true, nếu không phải vậy thì trả về false.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9564270"/>
                  </a:ext>
                </a:extLst>
              </a:tr>
              <a:tr h="40640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indexOf(int 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Ở trong chuỗi ký tự này, sẽ trả về index của vị trí mà ký tự được chỉ định xuất hiện đầu tiên (bắt đầu l</a:t>
                      </a:r>
                      <a:r>
                        <a:rPr kumimoji="1" lang="en-US"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à</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0). Trường hợp không có ký tự nào thì trả về -1.</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1985032"/>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substring</a:t>
                      </a:r>
                      <a:b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b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begin, int end)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chuỗi ký tự mới là chuỗi ký tự bộ phận </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index là từ begin cho đến end-1</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của chuỗi ký tự này.</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6500004"/>
                  </a:ext>
                </a:extLst>
              </a:tr>
              <a:tr h="40798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static String valueOf (int i)</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biểu hiện chuỗi ký tự của đối số. Overload method có nhiều như loại dùng cho boolean, char, double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5035257"/>
                  </a:ext>
                </a:extLst>
              </a:tr>
            </a:tbl>
          </a:graphicData>
        </a:graphic>
      </p:graphicFrame>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a:extLst>
              <a:ext uri="{FF2B5EF4-FFF2-40B4-BE49-F238E27FC236}">
                <a16:creationId xmlns:a16="http://schemas.microsoft.com/office/drawing/2014/main" id="{1803D191-E58E-F1E3-46A0-3F9C7A32F6D6}"/>
              </a:ext>
            </a:extLst>
          </p:cNvPr>
          <p:cNvSpPr>
            <a:spLocks noRot="1" noChangeAspect="1" noChangeArrowheads="1" noTextEdit="1"/>
          </p:cNvSpPr>
          <p:nvPr>
            <p:ph type="sldImg"/>
          </p:nvPr>
        </p:nvSpPr>
        <p:spPr>
          <a:xfrm>
            <a:off x="530225" y="835025"/>
            <a:ext cx="6024563" cy="4170363"/>
          </a:xfrm>
          <a:ln/>
        </p:spPr>
      </p:sp>
      <p:sp>
        <p:nvSpPr>
          <p:cNvPr id="594947" name="Rectangle 3">
            <a:extLst>
              <a:ext uri="{FF2B5EF4-FFF2-40B4-BE49-F238E27FC236}">
                <a16:creationId xmlns:a16="http://schemas.microsoft.com/office/drawing/2014/main" id="{7350692B-A0B5-108C-04F1-17272E7FACD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sz="1200">
                <a:latin typeface="Arial" panose="020B0604020202020204" pitchFamily="34" charset="0"/>
              </a:rPr>
              <a:t>　 </a:t>
            </a:r>
            <a:r>
              <a:rPr lang="en-US" altLang="ja-JP" sz="1200">
                <a:latin typeface="Arial" panose="020B0604020202020204" pitchFamily="34" charset="0"/>
              </a:rPr>
              <a:t>StringBuilder class</a:t>
            </a:r>
            <a:br>
              <a:rPr lang="en-US" altLang="ja-JP" sz="1200">
                <a:latin typeface="Arial" panose="020B0604020202020204" pitchFamily="34" charset="0"/>
              </a:rPr>
            </a:br>
            <a:endParaRPr lang="en-US" altLang="ja-JP" sz="1200">
              <a:latin typeface="Arial" panose="020B0604020202020204" pitchFamily="34" charset="0"/>
            </a:endParaRPr>
          </a:p>
          <a:p>
            <a:pPr marL="0" indent="0"/>
            <a:r>
              <a:rPr lang="ja-JP" altLang="en-US" sz="1200">
                <a:latin typeface="Arial" panose="020B0604020202020204" pitchFamily="34" charset="0"/>
              </a:rPr>
              <a:t>　</a:t>
            </a:r>
            <a:r>
              <a:rPr lang="en-US" altLang="ja-JP" sz="1200">
                <a:latin typeface="Arial" panose="020B0604020202020204" pitchFamily="34" charset="0"/>
              </a:rPr>
              <a:t>Ở class xử lý chuỗi ký tự, ngoài string còn có cả StringBuilder class.</a:t>
            </a:r>
          </a:p>
          <a:p>
            <a:pPr marL="0" indent="0"/>
            <a:r>
              <a:rPr lang="ja-JP" altLang="en-US" sz="1200">
                <a:latin typeface="Arial" panose="020B0604020202020204" pitchFamily="34" charset="0"/>
              </a:rPr>
              <a:t>　</a:t>
            </a:r>
            <a:r>
              <a:rPr lang="en-US" altLang="ja-JP" sz="1200">
                <a:latin typeface="Arial" panose="020B0604020202020204" pitchFamily="34" charset="0"/>
              </a:rPr>
              <a:t>String class là class để xử lý chuỗi ký tự read only.</a:t>
            </a:r>
          </a:p>
          <a:p>
            <a:pPr marL="0" indent="0"/>
            <a:r>
              <a:rPr lang="ja-JP" altLang="en-US" sz="1200">
                <a:latin typeface="Arial" panose="020B0604020202020204" pitchFamily="34" charset="0"/>
              </a:rPr>
              <a:t>　</a:t>
            </a:r>
            <a:r>
              <a:rPr lang="en-US" altLang="ja-JP" sz="1200">
                <a:latin typeface="Arial" panose="020B0604020202020204" pitchFamily="34" charset="0"/>
              </a:rPr>
              <a:t>StringBuilder class là class để xử lý chuỗi ký tự có thể thay đổi.</a:t>
            </a:r>
          </a:p>
          <a:p>
            <a:pPr marL="0" indent="0"/>
            <a:r>
              <a:rPr lang="ja-JP" altLang="en-US" sz="1200">
                <a:latin typeface="Arial" panose="020B0604020202020204" pitchFamily="34" charset="0"/>
              </a:rPr>
              <a:t>　</a:t>
            </a:r>
            <a:r>
              <a:rPr lang="en-US" altLang="ja-JP" sz="1200">
                <a:latin typeface="Arial" panose="020B0604020202020204" pitchFamily="34" charset="0"/>
              </a:rPr>
              <a:t>Ở stringBuider clas, method được trang bị để edit chuỗi ký tự.</a:t>
            </a:r>
          </a:p>
          <a:p>
            <a:pPr marL="0" indent="0"/>
            <a:endParaRPr lang="en-US" altLang="ja-JP" sz="1200">
              <a:latin typeface="Arial" panose="020B0604020202020204" pitchFamily="34" charset="0"/>
            </a:endParaRPr>
          </a:p>
          <a:p>
            <a:pPr marL="0" indent="0"/>
            <a:r>
              <a:rPr lang="en-US" altLang="ja-JP" sz="1200">
                <a:latin typeface="Arial" panose="020B0604020202020204" pitchFamily="34" charset="0"/>
              </a:rPr>
              <a:t>●</a:t>
            </a:r>
            <a:r>
              <a:rPr lang="ja-JP" altLang="en-US" sz="1200">
                <a:latin typeface="Arial" panose="020B0604020202020204" pitchFamily="34" charset="0"/>
              </a:rPr>
              <a:t>　</a:t>
            </a:r>
            <a:r>
              <a:rPr lang="en-US" altLang="ja-JP" sz="1200">
                <a:latin typeface="Arial" panose="020B0604020202020204" pitchFamily="34" charset="0"/>
              </a:rPr>
              <a:t>Constructor chính</a:t>
            </a:r>
          </a:p>
          <a:p>
            <a:pPr marL="0" indent="0"/>
            <a:endParaRPr lang="en-US" altLang="ja-JP" sz="1200">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lnSpc>
                <a:spcPct val="75000"/>
              </a:lnSpc>
            </a:pP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AU" altLang="ja-JP">
              <a:latin typeface="Arial" panose="020B0604020202020204" pitchFamily="34" charset="0"/>
            </a:endParaRPr>
          </a:p>
          <a:p>
            <a:pPr marL="0" indent="0"/>
            <a:endParaRPr lang="en-AU" altLang="ja-JP">
              <a:latin typeface="Arial" panose="020B0604020202020204" pitchFamily="34" charset="0"/>
            </a:endParaRPr>
          </a:p>
          <a:p>
            <a:pPr marL="0" indent="0"/>
            <a:endParaRPr lang="en-AU" altLang="ja-JP">
              <a:latin typeface="Arial" panose="020B0604020202020204" pitchFamily="34" charset="0"/>
            </a:endParaRPr>
          </a:p>
          <a:p>
            <a:pPr marL="0" indent="0"/>
            <a:endParaRPr lang="en-AU" altLang="ja-JP">
              <a:latin typeface="Arial" panose="020B0604020202020204" pitchFamily="34" charset="0"/>
            </a:endParaRPr>
          </a:p>
          <a:p>
            <a:pPr marL="0" indent="0"/>
            <a:endParaRPr lang="en-AU"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sz="1200">
                <a:latin typeface="Arial" panose="020B0604020202020204" pitchFamily="34" charset="0"/>
              </a:rPr>
              <a:t>Trường hợp dung lượng đã cấp đang bị thiếu thì dung lượng sẽ tự động tăng lên.</a:t>
            </a:r>
          </a:p>
        </p:txBody>
      </p:sp>
      <p:graphicFrame>
        <p:nvGraphicFramePr>
          <p:cNvPr id="595114" name="Group 170">
            <a:extLst>
              <a:ext uri="{FF2B5EF4-FFF2-40B4-BE49-F238E27FC236}">
                <a16:creationId xmlns:a16="http://schemas.microsoft.com/office/drawing/2014/main" id="{43AFD3EB-41AD-E056-831C-F0DAA0286B9E}"/>
              </a:ext>
            </a:extLst>
          </p:cNvPr>
          <p:cNvGraphicFramePr>
            <a:graphicFrameLocks noGrp="1"/>
          </p:cNvGraphicFramePr>
          <p:nvPr/>
        </p:nvGraphicFramePr>
        <p:xfrm>
          <a:off x="623888" y="6884988"/>
          <a:ext cx="5888037" cy="2011616"/>
        </p:xfrm>
        <a:graphic>
          <a:graphicData uri="http://schemas.openxmlformats.org/drawingml/2006/table">
            <a:tbl>
              <a:tblPr/>
              <a:tblGrid>
                <a:gridCol w="1717675">
                  <a:extLst>
                    <a:ext uri="{9D8B030D-6E8A-4147-A177-3AD203B41FA5}">
                      <a16:colId xmlns:a16="http://schemas.microsoft.com/office/drawing/2014/main" val="1480226085"/>
                    </a:ext>
                  </a:extLst>
                </a:gridCol>
                <a:gridCol w="4170362">
                  <a:extLst>
                    <a:ext uri="{9D8B030D-6E8A-4147-A177-3AD203B41FA5}">
                      <a16:colId xmlns:a16="http://schemas.microsoft.com/office/drawing/2014/main" val="3442104933"/>
                    </a:ext>
                  </a:extLst>
                </a:gridCol>
              </a:tblGrid>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Constructor</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980453015"/>
                  </a:ext>
                </a:extLst>
              </a:tr>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t>StringBuilder()</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Sinh/tạo StringBuilder object  không có ký tự, dung lượng ban đầu là 16 ký tự.</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1876447"/>
                  </a:ext>
                </a:extLst>
              </a:tr>
              <a:tr h="2603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t>StringBuilder</a:t>
                      </a:r>
                      <a:b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b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t>(int capacity)</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Sinh/tạo StringBuilder object không có ký tự, có dung lượng ban đầu đã chỉ định bằng đối số.</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4893480"/>
                  </a:ext>
                </a:extLst>
              </a:tr>
              <a:tr h="40798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t>StringBuilder</a:t>
                      </a:r>
                      <a:b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br>
                      <a:r>
                        <a:rPr kumimoji="1" lang="en-US" altLang="ja-JP" sz="12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cs typeface="Times New Roman" panose="02020603050405020304" pitchFamily="18" charset="0"/>
                        </a:rPr>
                        <a:t>(String str)</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Tạo StringBuilder object đã được khởi tạo ở nội dung của chuỗi ký tự của đối số.</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a:t>
                      </a:r>
                      <a:r>
                        <a:rPr kumimoji="1" lang="en-US" altLang="ja-JP"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Dung lượng ban đầu của string builder là phần đã cộng thêm 16 vào độ dài của chuỗi ký tự của đối số</a:t>
                      </a:r>
                      <a:r>
                        <a:rPr kumimoji="1" lang="ja-JP" altLang="en-US" sz="12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a:t>
                      </a:r>
                    </a:p>
                  </a:txBody>
                  <a:tcPr marL="91425" marR="91425"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6236971"/>
                  </a:ext>
                </a:extLst>
              </a:tr>
            </a:tbl>
          </a:graphicData>
        </a:graphic>
      </p:graphicFrame>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a:extLst>
              <a:ext uri="{FF2B5EF4-FFF2-40B4-BE49-F238E27FC236}">
                <a16:creationId xmlns:a16="http://schemas.microsoft.com/office/drawing/2014/main" id="{756FDF9E-56CE-E54D-39B8-C0DC961423BC}"/>
              </a:ext>
            </a:extLst>
          </p:cNvPr>
          <p:cNvSpPr>
            <a:spLocks noRot="1" noChangeAspect="1" noChangeArrowheads="1" noTextEdit="1"/>
          </p:cNvSpPr>
          <p:nvPr>
            <p:ph type="sldImg"/>
          </p:nvPr>
        </p:nvSpPr>
        <p:spPr>
          <a:xfrm>
            <a:off x="530225" y="835025"/>
            <a:ext cx="6024563" cy="4170363"/>
          </a:xfrm>
          <a:ln/>
        </p:spPr>
      </p:sp>
      <p:sp>
        <p:nvSpPr>
          <p:cNvPr id="601091" name="Rectangle 3">
            <a:extLst>
              <a:ext uri="{FF2B5EF4-FFF2-40B4-BE49-F238E27FC236}">
                <a16:creationId xmlns:a16="http://schemas.microsoft.com/office/drawing/2014/main" id="{D845075E-61EB-F960-84EA-AEFA38DA56C9}"/>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sz="1200">
                <a:latin typeface="Arial" panose="020B0604020202020204" pitchFamily="34" charset="0"/>
              </a:rPr>
              <a:t>Wrapper class</a:t>
            </a:r>
          </a:p>
          <a:p>
            <a:pPr marL="0" indent="0"/>
            <a:r>
              <a:rPr lang="ja-JP" altLang="en-US" sz="1200">
                <a:solidFill>
                  <a:srgbClr val="E10000"/>
                </a:solidFill>
                <a:latin typeface="Arial" panose="020B0604020202020204" pitchFamily="34" charset="0"/>
              </a:rPr>
              <a:t>　</a:t>
            </a:r>
            <a:r>
              <a:rPr lang="en-US" altLang="ja-JP" sz="1200">
                <a:latin typeface="Arial" panose="020B0604020202020204" pitchFamily="34" charset="0"/>
              </a:rPr>
              <a:t>Wrapper class là class sử dụng trong trường hợp muốn sử dụng giá trị của các kiểu data cơ bản đang được sử dụng ở ngôn ngữ Java như là một object, wrapper class tương ứng với các kiểu data cơ bản đã được trang bị.</a:t>
            </a:r>
          </a:p>
          <a:p>
            <a:pPr marL="0" indent="0"/>
            <a:r>
              <a:rPr lang="ja-JP" altLang="en-US" sz="1200">
                <a:solidFill>
                  <a:srgbClr val="E10000"/>
                </a:solidFill>
                <a:latin typeface="Arial" panose="020B0604020202020204" pitchFamily="34" charset="0"/>
              </a:rPr>
              <a:t>　</a:t>
            </a:r>
            <a:r>
              <a:rPr lang="en-US" altLang="ja-JP" sz="1200">
                <a:latin typeface="Arial" panose="020B0604020202020204" pitchFamily="34" charset="0"/>
              </a:rPr>
              <a:t>Wrapper class được bao gồm trong java.lang package.</a:t>
            </a:r>
          </a:p>
          <a:p>
            <a:pPr marL="0" indent="0"/>
            <a:r>
              <a:rPr lang="ja-JP" altLang="en-US" sz="1200">
                <a:solidFill>
                  <a:srgbClr val="E10000"/>
                </a:solidFill>
                <a:latin typeface="Arial" panose="020B0604020202020204" pitchFamily="34" charset="0"/>
              </a:rPr>
              <a:t>　</a:t>
            </a:r>
            <a:r>
              <a:rPr lang="en-US" altLang="ja-JP" sz="1200">
                <a:latin typeface="Arial" panose="020B0604020202020204" pitchFamily="34" charset="0"/>
              </a:rPr>
              <a:t>Các method dùng để convert kiểu giữa kiểu data cơ bản và wrapper class, và convert kiểu qua lại giữa giá trị số và chuỗi ký tự, giữa kiểu data cơ bản và kiểu string v.v… đã được trang bị. </a:t>
            </a:r>
          </a:p>
          <a:p>
            <a:pPr marL="0" indent="0"/>
            <a:endParaRPr lang="en-US" altLang="ja-JP" sz="1200">
              <a:latin typeface="Arial" panose="020B0604020202020204" pitchFamily="34" charset="0"/>
            </a:endParaRPr>
          </a:p>
          <a:p>
            <a:pPr marL="0" indent="0"/>
            <a:r>
              <a:rPr lang="en-US" altLang="ja-JP" sz="1400">
                <a:latin typeface="Arial" panose="020B0604020202020204" pitchFamily="34" charset="0"/>
              </a:rPr>
              <a:t>■</a:t>
            </a:r>
            <a:r>
              <a:rPr lang="ja-JP" altLang="en-US" sz="1400">
                <a:latin typeface="Arial" panose="020B0604020202020204" pitchFamily="34" charset="0"/>
              </a:rPr>
              <a:t>　</a:t>
            </a:r>
            <a:r>
              <a:rPr lang="en-US" altLang="ja-JP" sz="1400">
                <a:latin typeface="Arial" panose="020B0604020202020204" pitchFamily="34" charset="0"/>
              </a:rPr>
              <a:t>Tạo/sinh object của wrapper class</a:t>
            </a:r>
          </a:p>
          <a:p>
            <a:pPr marL="0" indent="0"/>
            <a:r>
              <a:rPr lang="ja-JP" altLang="en-US" sz="1200">
                <a:latin typeface="Arial" panose="020B0604020202020204" pitchFamily="34" charset="0"/>
              </a:rPr>
              <a:t>　</a:t>
            </a:r>
            <a:r>
              <a:rPr lang="en-US" altLang="ja-JP" sz="1200">
                <a:latin typeface="Arial" panose="020B0604020202020204" pitchFamily="34" charset="0"/>
              </a:rPr>
              <a:t>Object của wrapper class có thể được tạo/sinh bằng việc sử dụng toán tử new</a:t>
            </a:r>
            <a:endParaRPr lang="en-US" altLang="ja-JP" sz="1200"/>
          </a:p>
          <a:p>
            <a:pPr marL="0" indent="0"/>
            <a:r>
              <a:rPr lang="en-US" altLang="ja-JP" sz="1400"/>
              <a:t>●</a:t>
            </a:r>
            <a:r>
              <a:rPr lang="ja-JP" altLang="en-US" sz="1400"/>
              <a:t>　</a:t>
            </a:r>
            <a:r>
              <a:rPr lang="en-US" altLang="ja-JP" sz="1400">
                <a:latin typeface="Arial" panose="020B0604020202020204" pitchFamily="34" charset="0"/>
              </a:rPr>
              <a:t>Cấu trúc câu lệnh</a:t>
            </a:r>
          </a:p>
          <a:p>
            <a:pPr marL="0" indent="0"/>
            <a:endParaRPr lang="en-US" altLang="ja-JP" sz="1400"/>
          </a:p>
          <a:p>
            <a:pPr marL="0" indent="0"/>
            <a:endParaRPr lang="en-US" altLang="ja-JP" sz="1400"/>
          </a:p>
          <a:p>
            <a:pPr marL="0" indent="0"/>
            <a:endParaRPr lang="en-US" altLang="ja-JP" sz="1400"/>
          </a:p>
          <a:p>
            <a:pPr marL="0" indent="0">
              <a:spcBef>
                <a:spcPct val="25000"/>
              </a:spcBef>
            </a:pPr>
            <a:r>
              <a:rPr lang="en-US" altLang="ja-JP" sz="1400"/>
              <a:t>●</a:t>
            </a:r>
            <a:r>
              <a:rPr lang="ja-JP" altLang="en-US" sz="1400"/>
              <a:t>　</a:t>
            </a:r>
            <a:r>
              <a:rPr lang="en-US" altLang="ja-JP" sz="1400">
                <a:latin typeface="Arial" panose="020B0604020202020204" pitchFamily="34" charset="0"/>
              </a:rPr>
              <a:t>Ví dụ</a:t>
            </a:r>
          </a:p>
        </p:txBody>
      </p:sp>
      <p:sp>
        <p:nvSpPr>
          <p:cNvPr id="601205" name="Text Box 117">
            <a:extLst>
              <a:ext uri="{FF2B5EF4-FFF2-40B4-BE49-F238E27FC236}">
                <a16:creationId xmlns:a16="http://schemas.microsoft.com/office/drawing/2014/main" id="{64E72A16-560E-32C4-E44A-97DB2C77A7E0}"/>
              </a:ext>
            </a:extLst>
          </p:cNvPr>
          <p:cNvSpPr txBox="1">
            <a:spLocks noChangeArrowheads="1"/>
          </p:cNvSpPr>
          <p:nvPr/>
        </p:nvSpPr>
        <p:spPr bwMode="auto">
          <a:xfrm>
            <a:off x="836613" y="7643813"/>
            <a:ext cx="5446712" cy="2603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sz="1200" b="0">
                <a:ea typeface="ＭＳ ゴシック" panose="020B0609070205080204" pitchFamily="49" charset="-128"/>
              </a:rPr>
              <a:t>new</a:t>
            </a:r>
            <a:r>
              <a:rPr lang="ja-JP" altLang="ja-JP" sz="1200" b="0">
                <a:ea typeface="MS UI Gothic" panose="020B0600070205080204" pitchFamily="50" charset="-128"/>
              </a:rPr>
              <a:t>  </a:t>
            </a:r>
            <a:r>
              <a:rPr lang="ja-JP" altLang="en-AU" sz="1200" b="0">
                <a:ea typeface="MS UI Gothic" panose="020B0600070205080204" pitchFamily="50" charset="-128"/>
              </a:rPr>
              <a:t>t</a:t>
            </a:r>
            <a:r>
              <a:rPr lang="en-AU" altLang="ja-JP" sz="1200" b="0">
                <a:ea typeface="MS UI Gothic" panose="020B0600070205080204" pitchFamily="50" charset="-128"/>
              </a:rPr>
              <a:t>ên wrapper class xử lý  </a:t>
            </a:r>
            <a:r>
              <a:rPr lang="en-US" altLang="ja-JP" sz="1200" b="0">
                <a:ea typeface="ＭＳ ゴシック" panose="020B0609070205080204" pitchFamily="49" charset="-128"/>
              </a:rPr>
              <a:t>(giá trị của kiểu data cơ bản)</a:t>
            </a:r>
            <a:endParaRPr lang="ja-JP" altLang="ja-JP" sz="1200" b="0">
              <a:ea typeface="ＭＳ ゴシック" panose="020B0609070205080204" pitchFamily="49" charset="-128"/>
            </a:endParaRPr>
          </a:p>
        </p:txBody>
      </p:sp>
      <p:sp>
        <p:nvSpPr>
          <p:cNvPr id="601206" name="Text Box 118">
            <a:extLst>
              <a:ext uri="{FF2B5EF4-FFF2-40B4-BE49-F238E27FC236}">
                <a16:creationId xmlns:a16="http://schemas.microsoft.com/office/drawing/2014/main" id="{B87D8579-E7F2-8C90-1F7F-8C65BA632B72}"/>
              </a:ext>
            </a:extLst>
          </p:cNvPr>
          <p:cNvSpPr txBox="1">
            <a:spLocks noChangeArrowheads="1"/>
          </p:cNvSpPr>
          <p:nvPr/>
        </p:nvSpPr>
        <p:spPr bwMode="auto">
          <a:xfrm>
            <a:off x="865188" y="8596313"/>
            <a:ext cx="5448300" cy="7239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sz="1200" b="0">
                <a:ea typeface="ＭＳ ゴシック" panose="020B0609070205080204" pitchFamily="49" charset="-128"/>
              </a:rPr>
              <a:t>Integer intObj = new Integer(123);</a:t>
            </a:r>
          </a:p>
          <a:p>
            <a:pPr lvl="1" algn="just"/>
            <a:r>
              <a:rPr lang="en-US" altLang="ja-JP" sz="1200" b="0">
                <a:ea typeface="ＭＳ ゴシック" panose="020B0609070205080204" pitchFamily="49" charset="-128"/>
              </a:rPr>
              <a:t>Character charObj = new Character('s');</a:t>
            </a:r>
          </a:p>
          <a:p>
            <a:pPr lvl="1" algn="just"/>
            <a:r>
              <a:rPr lang="en-US" altLang="ja-JP" sz="1200" b="0">
                <a:ea typeface="ＭＳ ゴシック" panose="020B0609070205080204" pitchFamily="49" charset="-128"/>
              </a:rPr>
              <a:t>Boolean boolObj = new Boolean(true);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a:extLst>
              <a:ext uri="{FF2B5EF4-FFF2-40B4-BE49-F238E27FC236}">
                <a16:creationId xmlns:a16="http://schemas.microsoft.com/office/drawing/2014/main" id="{436CF669-A586-304E-A289-FB4CB91E9AAF}"/>
              </a:ext>
            </a:extLst>
          </p:cNvPr>
          <p:cNvSpPr>
            <a:spLocks noRot="1" noChangeAspect="1" noChangeArrowheads="1" noTextEdit="1"/>
          </p:cNvSpPr>
          <p:nvPr>
            <p:ph type="sldImg"/>
          </p:nvPr>
        </p:nvSpPr>
        <p:spPr>
          <a:xfrm>
            <a:off x="530225" y="835025"/>
            <a:ext cx="6024563" cy="4170363"/>
          </a:xfrm>
          <a:ln/>
        </p:spPr>
      </p:sp>
      <p:sp>
        <p:nvSpPr>
          <p:cNvPr id="607235" name="Rectangle 3">
            <a:extLst>
              <a:ext uri="{FF2B5EF4-FFF2-40B4-BE49-F238E27FC236}">
                <a16:creationId xmlns:a16="http://schemas.microsoft.com/office/drawing/2014/main" id="{DB3B1F37-1F1B-8DC8-1007-AEF3534AC7C9}"/>
              </a:ext>
            </a:extLst>
          </p:cNvPr>
          <p:cNvSpPr>
            <a:spLocks noGrp="1" noChangeArrowheads="1"/>
          </p:cNvSpPr>
          <p:nvPr>
            <p:ph type="body" idx="1"/>
          </p:nvPr>
        </p:nvSpPr>
        <p:spPr/>
        <p:txBody>
          <a:bodyPr/>
          <a:lstStyle/>
          <a:p>
            <a:pPr marL="0" indent="0"/>
            <a:r>
              <a:rPr lang="en-US" altLang="ja-JP" sz="1400">
                <a:latin typeface="Arial" panose="020B0604020202020204" pitchFamily="34" charset="0"/>
              </a:rPr>
              <a:t>■</a:t>
            </a:r>
            <a:r>
              <a:rPr lang="ja-JP" altLang="en-US" sz="1400">
                <a:latin typeface="Arial" panose="020B0604020202020204" pitchFamily="34" charset="0"/>
              </a:rPr>
              <a:t>　</a:t>
            </a:r>
            <a:r>
              <a:rPr lang="en-US" altLang="ja-JP" sz="1400">
                <a:latin typeface="Arial" panose="020B0604020202020204" pitchFamily="34" charset="0"/>
              </a:rPr>
              <a:t>Chức năng auto boxing</a:t>
            </a:r>
          </a:p>
          <a:p>
            <a:pPr marL="0" indent="0"/>
            <a:r>
              <a:rPr lang="ja-JP" altLang="en-US" sz="1400">
                <a:latin typeface="Arial" panose="020B0604020202020204" pitchFamily="34" charset="0"/>
              </a:rPr>
              <a:t>　</a:t>
            </a:r>
            <a:r>
              <a:rPr lang="en-US" altLang="ja-JP" sz="1400">
                <a:latin typeface="Arial" panose="020B0604020202020204" pitchFamily="34" charset="0"/>
              </a:rPr>
              <a:t>Chức năng auto boxing đã được cài vào từ J2SE5.0 là chức năng thực hiện convert tự động từ kiểu data cơ bản thành wrapper class tương ứng.</a:t>
            </a:r>
          </a:p>
          <a:p>
            <a:pPr marL="0" indent="0"/>
            <a:endParaRPr lang="en-US" altLang="ja-JP" sz="1400">
              <a:latin typeface="Arial" panose="020B0604020202020204" pitchFamily="34" charset="0"/>
            </a:endParaRPr>
          </a:p>
          <a:p>
            <a:pPr marL="0" indent="0"/>
            <a:r>
              <a:rPr lang="en-US" altLang="ja-JP" sz="1400">
                <a:latin typeface="Arial" panose="020B0604020202020204" pitchFamily="34" charset="0"/>
              </a:rPr>
              <a:t>■</a:t>
            </a:r>
            <a:r>
              <a:rPr lang="ja-JP" altLang="en-US" sz="1400">
                <a:latin typeface="Arial" panose="020B0604020202020204" pitchFamily="34" charset="0"/>
              </a:rPr>
              <a:t>　</a:t>
            </a:r>
            <a:r>
              <a:rPr lang="en-US" altLang="ja-JP" sz="1400">
                <a:latin typeface="Arial" panose="020B0604020202020204" pitchFamily="34" charset="0"/>
              </a:rPr>
              <a:t>Chức năng unboxing</a:t>
            </a:r>
          </a:p>
          <a:p>
            <a:pPr marL="0" indent="0"/>
            <a:r>
              <a:rPr lang="ja-JP" altLang="en-US" sz="1400">
                <a:latin typeface="Arial" panose="020B0604020202020204" pitchFamily="34" charset="0"/>
              </a:rPr>
              <a:t>　</a:t>
            </a:r>
            <a:r>
              <a:rPr lang="en-US" altLang="ja-JP" sz="1400">
                <a:latin typeface="Arial" panose="020B0604020202020204" pitchFamily="34" charset="0"/>
              </a:rPr>
              <a:t>Chức năng unboxing đã được cài vào từ J2SE5.0 là chức năng thực hiện convert tự động từ wrapper class thành kiểu data cơ bản xử lý.</a:t>
            </a:r>
          </a:p>
          <a:p>
            <a:pPr marL="0" indent="0"/>
            <a:endParaRPr lang="en-US" altLang="ja-JP" sz="1400">
              <a:latin typeface="Arial" panose="020B0604020202020204" pitchFamily="34" charset="0"/>
            </a:endParaRPr>
          </a:p>
          <a:p>
            <a:pPr marL="0" indent="0"/>
            <a:endParaRPr lang="en-US" altLang="ja-JP">
              <a:latin typeface="Arial" panose="020B0604020202020204" pitchFamily="34" charset="0"/>
            </a:endParaRPr>
          </a:p>
        </p:txBody>
      </p:sp>
      <p:sp>
        <p:nvSpPr>
          <p:cNvPr id="607242" name="Rectangle 10">
            <a:extLst>
              <a:ext uri="{FF2B5EF4-FFF2-40B4-BE49-F238E27FC236}">
                <a16:creationId xmlns:a16="http://schemas.microsoft.com/office/drawing/2014/main" id="{BCB2884E-084E-0ED1-98F1-40AD95B1B2B0}"/>
              </a:ext>
            </a:extLst>
          </p:cNvPr>
          <p:cNvSpPr>
            <a:spLocks noChangeArrowheads="1"/>
          </p:cNvSpPr>
          <p:nvPr/>
        </p:nvSpPr>
        <p:spPr bwMode="auto">
          <a:xfrm>
            <a:off x="-646113" y="5700713"/>
            <a:ext cx="330200"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spAutoFit/>
          </a:bodyPr>
          <a:lstStyle>
            <a:lvl1pPr indent="146050">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en-US" altLang="ja-JP" sz="1800" b="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09BF8122-6956-33CE-0B1B-C19B5008E463}"/>
              </a:ext>
            </a:extLst>
          </p:cNvPr>
          <p:cNvSpPr>
            <a:spLocks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BD3CBC89-B64C-DE9F-2E73-EF620FEAD2CC}"/>
              </a:ext>
            </a:extLst>
          </p:cNvPr>
          <p:cNvSpPr>
            <a:spLocks noGrp="1" noChangeArrowheads="1"/>
          </p:cNvSpPr>
          <p:nvPr>
            <p:ph type="body" idx="1"/>
          </p:nvPr>
        </p:nvSpPr>
        <p:spPr/>
        <p:txBody>
          <a:bodyPr/>
          <a:lstStyle/>
          <a:p>
            <a:r>
              <a:rPr lang="en-US" altLang="ja-JP">
                <a:latin typeface="Arial" panose="020B0604020202020204" pitchFamily="34" charset="0"/>
              </a:rPr>
              <a:t>Trong chương 7 sẽ xử lý những nội dung sau.</a:t>
            </a:r>
          </a:p>
          <a:p>
            <a:endParaRPr lang="en-US" altLang="ja-JP">
              <a:latin typeface="Arial" panose="020B0604020202020204" pitchFamily="34" charset="0"/>
            </a:endParaRPr>
          </a:p>
          <a:p>
            <a:r>
              <a:rPr lang="en-US" altLang="ja-JP">
                <a:latin typeface="Arial" panose="020B0604020202020204" pitchFamily="34" charset="0"/>
              </a:rPr>
              <a:t>7.1</a:t>
            </a:r>
            <a:r>
              <a:rPr lang="ja-JP" altLang="en-US">
                <a:latin typeface="Arial" panose="020B0604020202020204" pitchFamily="34" charset="0"/>
              </a:rPr>
              <a:t>　</a:t>
            </a:r>
            <a:r>
              <a:rPr lang="en-US" altLang="ja-JP">
                <a:latin typeface="Arial" panose="020B0604020202020204" pitchFamily="34" charset="0"/>
              </a:rPr>
              <a:t>Exception là gì</a:t>
            </a:r>
          </a:p>
          <a:p>
            <a:r>
              <a:rPr lang="en-US" altLang="ja-JP">
                <a:latin typeface="Arial" panose="020B0604020202020204" pitchFamily="34" charset="0"/>
              </a:rPr>
              <a:t>7.2</a:t>
            </a:r>
            <a:r>
              <a:rPr lang="ja-JP" altLang="en-US">
                <a:latin typeface="Arial" panose="020B0604020202020204" pitchFamily="34" charset="0"/>
              </a:rPr>
              <a:t>　</a:t>
            </a:r>
            <a:r>
              <a:rPr lang="en-US" altLang="ja-JP">
                <a:latin typeface="Arial" panose="020B0604020202020204" pitchFamily="34" charset="0"/>
              </a:rPr>
              <a:t>Xử lý exception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8F40558D-0F3E-2CBB-897B-7813680F3199}"/>
              </a:ext>
            </a:extLst>
          </p:cNvPr>
          <p:cNvSpPr>
            <a:spLocks noRot="1" noChangeAspect="1" noChangeArrowheads="1" noTextEdit="1"/>
          </p:cNvSpPr>
          <p:nvPr>
            <p:ph type="sldImg"/>
          </p:nvPr>
        </p:nvSpPr>
        <p:spPr>
          <a:ln/>
        </p:spPr>
      </p:sp>
      <p:sp>
        <p:nvSpPr>
          <p:cNvPr id="369667" name="Rectangle 3">
            <a:extLst>
              <a:ext uri="{FF2B5EF4-FFF2-40B4-BE49-F238E27FC236}">
                <a16:creationId xmlns:a16="http://schemas.microsoft.com/office/drawing/2014/main" id="{8018C7BA-8618-2CB9-F83F-6908E42E447D}"/>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Exception là gì</a:t>
            </a:r>
          </a:p>
          <a:p>
            <a:pPr marL="0" indent="0"/>
            <a:r>
              <a:rPr lang="ja-JP" altLang="en-US">
                <a:latin typeface="Arial" panose="020B0604020202020204" pitchFamily="34" charset="0"/>
              </a:rPr>
              <a:t>　</a:t>
            </a:r>
            <a:r>
              <a:rPr lang="en-US" altLang="ja-JP">
                <a:latin typeface="Arial" panose="020B0604020202020204" pitchFamily="34" charset="0"/>
              </a:rPr>
              <a:t>Trong Java, tiến hành compile trước khi thực hiện/chạy, nên việc check xem cú pháp câu lệnh có bị sai hay không sẽ được tiến hành trước khi compile.</a:t>
            </a:r>
          </a:p>
          <a:p>
            <a:pPr marL="0" indent="0"/>
            <a:r>
              <a:rPr lang="ja-JP" altLang="en-US">
                <a:latin typeface="Arial" panose="020B0604020202020204" pitchFamily="34" charset="0"/>
              </a:rPr>
              <a:t>　</a:t>
            </a:r>
            <a:r>
              <a:rPr lang="en-US" altLang="ja-JP">
                <a:latin typeface="Arial" panose="020B0604020202020204" pitchFamily="34" charset="0"/>
              </a:rPr>
              <a:t>Tuy nhiên, cũng có trường hợp phát sinh error ngay trong khi thực thi program.</a:t>
            </a:r>
          </a:p>
          <a:p>
            <a:pPr marL="0" indent="0"/>
            <a:r>
              <a:rPr lang="ja-JP" altLang="en-US">
                <a:latin typeface="Arial" panose="020B0604020202020204" pitchFamily="34" charset="0"/>
              </a:rPr>
              <a:t>　</a:t>
            </a:r>
            <a:r>
              <a:rPr lang="en-US" altLang="ja-JP">
                <a:latin typeface="Arial" panose="020B0604020202020204" pitchFamily="34" charset="0"/>
              </a:rPr>
              <a:t>Ví dụ, có nhiều error được nghĩ tới như là thiếu memory hay file đối tượng thao tác không tồn tại.</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Java, hiện đang chia error phát sinh khi thực thi thành error mang tính hệ thống mà hardware và memory... là nguyên nhân và các error khác.</a:t>
            </a:r>
          </a:p>
          <a:p>
            <a:pPr marL="0" indent="0"/>
            <a:r>
              <a:rPr lang="ja-JP" altLang="en-US">
                <a:latin typeface="Arial" panose="020B0604020202020204" pitchFamily="34" charset="0"/>
              </a:rPr>
              <a:t>　</a:t>
            </a:r>
            <a:r>
              <a:rPr lang="en-US" altLang="ja-JP">
                <a:latin typeface="Arial" panose="020B0604020202020204" pitchFamily="34" charset="0"/>
              </a:rPr>
              <a:t>Trong đó, error mang tính hệ thống gọi là </a:t>
            </a:r>
            <a:r>
              <a:rPr lang="ja-JP" altLang="en-US">
                <a:latin typeface="Arial" panose="020B0604020202020204" pitchFamily="34" charset="0"/>
              </a:rPr>
              <a:t>「</a:t>
            </a:r>
            <a:r>
              <a:rPr lang="en-US" altLang="ja-JP">
                <a:latin typeface="Arial" panose="020B0604020202020204" pitchFamily="34" charset="0"/>
              </a:rPr>
              <a:t>Error</a:t>
            </a:r>
            <a:r>
              <a:rPr lang="ja-JP" altLang="en-US">
                <a:latin typeface="Arial" panose="020B0604020202020204" pitchFamily="34" charset="0"/>
              </a:rPr>
              <a:t>」</a:t>
            </a:r>
            <a:r>
              <a:rPr lang="en-US" altLang="ja-JP">
                <a:latin typeface="Arial" panose="020B0604020202020204" pitchFamily="34" charset="0"/>
              </a:rPr>
              <a:t>, những error khác gọi là </a:t>
            </a:r>
            <a:r>
              <a:rPr lang="ja-JP" altLang="en-US">
                <a:latin typeface="Arial" panose="020B0604020202020204" pitchFamily="34" charset="0"/>
              </a:rPr>
              <a:t>「</a:t>
            </a:r>
            <a:r>
              <a:rPr lang="en-US" altLang="ja-JP">
                <a:latin typeface="Arial" panose="020B0604020202020204" pitchFamily="34" charset="0"/>
              </a:rPr>
              <a:t>Exception</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Exception là những error phát sinh bên trong application chẳng hạn như không tồn tại file đối tượng thao tác, hay đã yêu cầu phần từ không tồn tại đối với mảng có 3 phần tử...</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3E193AB7-D6B6-4DFA-8D08-8C00556A4F62}"/>
              </a:ext>
            </a:extLst>
          </p:cNvPr>
          <p:cNvSpPr>
            <a:spLocks noRot="1" noChangeAspect="1" noChangeArrowheads="1" noTextEdit="1"/>
          </p:cNvSpPr>
          <p:nvPr>
            <p:ph type="sldImg"/>
          </p:nvPr>
        </p:nvSpPr>
        <p:spPr>
          <a:xfrm>
            <a:off x="530225" y="835025"/>
            <a:ext cx="6024563" cy="4170363"/>
          </a:xfrm>
          <a:ln/>
        </p:spPr>
      </p:sp>
      <p:sp>
        <p:nvSpPr>
          <p:cNvPr id="545795" name="Rectangle 3">
            <a:extLst>
              <a:ext uri="{FF2B5EF4-FFF2-40B4-BE49-F238E27FC236}">
                <a16:creationId xmlns:a16="http://schemas.microsoft.com/office/drawing/2014/main" id="{F56F81FC-B903-7EBD-0830-6D446427A0A4}"/>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Xử lý exception</a:t>
            </a:r>
          </a:p>
          <a:p>
            <a:pPr marL="0" indent="0"/>
            <a:r>
              <a:rPr lang="ja-JP" altLang="en-US">
                <a:latin typeface="Arial" panose="020B0604020202020204" pitchFamily="34" charset="0"/>
              </a:rPr>
              <a:t>　</a:t>
            </a:r>
            <a:r>
              <a:rPr lang="en-US" altLang="ja-JP">
                <a:latin typeface="Arial" panose="020B0604020202020204" pitchFamily="34" charset="0"/>
              </a:rPr>
              <a:t>Có thể mô tả cách xử lý cho error phát sinh khi thực hiện/chạy trong program, việc này được gọi là xử lý exception.</a:t>
            </a:r>
          </a:p>
          <a:p>
            <a:pPr marL="0" indent="0"/>
            <a:r>
              <a:rPr lang="ja-JP" altLang="en-US">
                <a:latin typeface="Arial" panose="020B0604020202020204" pitchFamily="34" charset="0"/>
              </a:rPr>
              <a:t>　</a:t>
            </a:r>
            <a:r>
              <a:rPr lang="en-US" altLang="ja-JP">
                <a:latin typeface="Arial" panose="020B0604020202020204" pitchFamily="34" charset="0"/>
              </a:rPr>
              <a:t>Trong Java, mô tả xử lý exception bằng try</a:t>
            </a:r>
            <a:r>
              <a:rPr lang="ja-JP" altLang="en-US">
                <a:latin typeface="Arial" panose="020B0604020202020204" pitchFamily="34" charset="0"/>
              </a:rPr>
              <a:t>～</a:t>
            </a:r>
            <a:r>
              <a:rPr lang="en-US" altLang="ja-JP">
                <a:latin typeface="Arial" panose="020B0604020202020204" pitchFamily="34" charset="0"/>
              </a:rPr>
              <a:t>catch.</a:t>
            </a:r>
          </a:p>
          <a:p>
            <a:pPr marL="0" indent="0"/>
            <a:r>
              <a:rPr lang="ja-JP" altLang="en-US">
                <a:latin typeface="Arial" panose="020B0604020202020204" pitchFamily="34" charset="0"/>
              </a:rPr>
              <a:t>　</a:t>
            </a:r>
            <a:r>
              <a:rPr lang="en-US" altLang="ja-JP">
                <a:latin typeface="Arial" panose="020B0604020202020204" pitchFamily="34" charset="0"/>
              </a:rPr>
              <a:t>Nếu xử lý exception đối với error đã phát sinh không được mô tả trong program, thì sẽ trả về error ở môi trường thực hiện/chạy.</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Các loại error và xử lý exception</a:t>
            </a:r>
          </a:p>
          <a:p>
            <a:pPr marL="0" indent="0"/>
            <a:r>
              <a:rPr lang="ja-JP" altLang="en-US">
                <a:latin typeface="Arial" panose="020B0604020202020204" pitchFamily="34" charset="0"/>
              </a:rPr>
              <a:t>　</a:t>
            </a:r>
            <a:r>
              <a:rPr lang="en-US" altLang="ja-JP">
                <a:latin typeface="Arial" panose="020B0604020202020204" pitchFamily="34" charset="0"/>
              </a:rPr>
              <a:t>Tùy theo các loại error mà có những nội dung bắt buộc phải xử lý exception và những nội dung có thể tùy ý xử lý exception.</a:t>
            </a:r>
          </a:p>
          <a:p>
            <a:pPr marL="0" indent="0"/>
            <a:r>
              <a:rPr lang="ja-JP" altLang="en-US">
                <a:latin typeface="Arial" panose="020B0604020202020204" pitchFamily="34" charset="0"/>
              </a:rPr>
              <a:t>　</a:t>
            </a:r>
            <a:r>
              <a:rPr lang="en-US" altLang="ja-JP">
                <a:latin typeface="Arial" panose="020B0604020202020204" pitchFamily="34" charset="0"/>
              </a:rPr>
              <a:t>Trường hợp </a:t>
            </a:r>
            <a:r>
              <a:rPr lang="ja-JP" altLang="en-US">
                <a:latin typeface="Arial" panose="020B0604020202020204" pitchFamily="34" charset="0"/>
              </a:rPr>
              <a:t>「 </a:t>
            </a:r>
            <a:r>
              <a:rPr lang="en-US" altLang="ja-JP">
                <a:latin typeface="Arial" panose="020B0604020202020204" pitchFamily="34" charset="0"/>
              </a:rPr>
              <a:t>đối với class mà là sub-class của Exception và không phải là sub-class của RuntimeException</a:t>
            </a:r>
            <a:r>
              <a:rPr lang="ja-JP" altLang="en-US">
                <a:latin typeface="Arial" panose="020B0604020202020204" pitchFamily="34" charset="0"/>
              </a:rPr>
              <a:t>」</a:t>
            </a:r>
            <a:r>
              <a:rPr lang="en-US" altLang="ja-JP">
                <a:latin typeface="Arial" panose="020B0604020202020204" pitchFamily="34" charset="0"/>
              </a:rPr>
              <a:t>thì bắt buộc phải xử lý exception.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a:extLst>
              <a:ext uri="{FF2B5EF4-FFF2-40B4-BE49-F238E27FC236}">
                <a16:creationId xmlns:a16="http://schemas.microsoft.com/office/drawing/2014/main" id="{0A1D14C0-A27C-C9D7-21D2-75AA186D4AF9}"/>
              </a:ext>
            </a:extLst>
          </p:cNvPr>
          <p:cNvSpPr>
            <a:spLocks noRot="1" noChangeAspect="1" noChangeArrowheads="1" noTextEdit="1"/>
          </p:cNvSpPr>
          <p:nvPr>
            <p:ph type="sldImg"/>
          </p:nvPr>
        </p:nvSpPr>
        <p:spPr>
          <a:ln/>
        </p:spPr>
      </p:sp>
      <p:sp>
        <p:nvSpPr>
          <p:cNvPr id="549891" name="Rectangle 3">
            <a:extLst>
              <a:ext uri="{FF2B5EF4-FFF2-40B4-BE49-F238E27FC236}">
                <a16:creationId xmlns:a16="http://schemas.microsoft.com/office/drawing/2014/main" id="{046E74C7-C102-B974-5522-E49BD30AC719}"/>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Xử lý exception</a:t>
            </a:r>
          </a:p>
          <a:p>
            <a:pPr marL="0" indent="0"/>
            <a:r>
              <a:rPr lang="ja-JP" altLang="en-US">
                <a:latin typeface="Arial" panose="020B0604020202020204" pitchFamily="34" charset="0"/>
              </a:rPr>
              <a:t>　</a:t>
            </a:r>
            <a:r>
              <a:rPr lang="en-US" altLang="ja-JP">
                <a:latin typeface="Arial" panose="020B0604020202020204" pitchFamily="34" charset="0"/>
              </a:rPr>
              <a:t>Trong Java, mô tả xử lý exception bằng try</a:t>
            </a:r>
            <a:r>
              <a:rPr lang="ja-JP" altLang="en-US">
                <a:latin typeface="Arial" panose="020B0604020202020204" pitchFamily="34" charset="0"/>
              </a:rPr>
              <a:t>～</a:t>
            </a:r>
            <a:r>
              <a:rPr lang="en-US" altLang="ja-JP">
                <a:latin typeface="Arial" panose="020B0604020202020204" pitchFamily="34" charset="0"/>
              </a:rPr>
              <a:t>catch.</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Cú pháp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49892" name="Text Box 4">
            <a:extLst>
              <a:ext uri="{FF2B5EF4-FFF2-40B4-BE49-F238E27FC236}">
                <a16:creationId xmlns:a16="http://schemas.microsoft.com/office/drawing/2014/main" id="{53EF3593-481D-3DB6-D916-9B53B7F0E8F4}"/>
              </a:ext>
            </a:extLst>
          </p:cNvPr>
          <p:cNvSpPr txBox="1">
            <a:spLocks noChangeArrowheads="1"/>
          </p:cNvSpPr>
          <p:nvPr/>
        </p:nvSpPr>
        <p:spPr bwMode="auto">
          <a:xfrm>
            <a:off x="638175" y="5916613"/>
            <a:ext cx="5808663" cy="8890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try  {</a:t>
            </a:r>
          </a:p>
          <a:p>
            <a:pPr lvl="1" algn="just"/>
            <a:r>
              <a:rPr lang="ja-JP" altLang="en-US" b="0">
                <a:ea typeface="ＭＳ ゴシック" panose="020B0609070205080204" pitchFamily="49" charset="-128"/>
              </a:rPr>
              <a:t>　　　　</a:t>
            </a:r>
            <a:r>
              <a:rPr lang="ja-JP" altLang="ja-JP" b="0">
                <a:ea typeface="ＭＳ ゴシック" panose="020B0609070205080204" pitchFamily="49" charset="-128"/>
              </a:rPr>
              <a:t>// </a:t>
            </a:r>
            <a:r>
              <a:rPr lang="en-US" altLang="ja-JP" b="0">
                <a:ea typeface="ＭＳ ゴシック" panose="020B0609070205080204" pitchFamily="49" charset="-128"/>
              </a:rPr>
              <a:t>Xử lý có khả năng phát sinh exception</a:t>
            </a:r>
            <a:r>
              <a:rPr lang="ja-JP" altLang="ja-JP" b="0">
                <a:ea typeface="MS UI Gothic" panose="020B0600070205080204" pitchFamily="50" charset="-128"/>
              </a:rPr>
              <a:t>（①）</a:t>
            </a:r>
          </a:p>
          <a:p>
            <a:pPr lvl="1" algn="just"/>
            <a:r>
              <a:rPr lang="ja-JP" altLang="ja-JP" b="0">
                <a:ea typeface="ＭＳ ゴシック" panose="020B0609070205080204" pitchFamily="49" charset="-128"/>
              </a:rPr>
              <a:t>}  catch  (</a:t>
            </a:r>
            <a:r>
              <a:rPr lang="en-US" altLang="ja-JP" b="0">
                <a:ea typeface="ＭＳ ゴシック" panose="020B0609070205080204" pitchFamily="49" charset="-128"/>
              </a:rPr>
              <a:t>Kiểu của exception object</a:t>
            </a:r>
            <a:r>
              <a:rPr lang="ja-JP" altLang="ja-JP" b="0">
                <a:ea typeface="MS UI Gothic" panose="020B0600070205080204" pitchFamily="50" charset="-128"/>
              </a:rPr>
              <a:t>　　</a:t>
            </a:r>
            <a:r>
              <a:rPr lang="en-US" altLang="ja-JP" b="0">
                <a:ea typeface="MS UI Gothic" panose="020B0600070205080204" pitchFamily="50" charset="-128"/>
              </a:rPr>
              <a:t>tên biến</a:t>
            </a:r>
            <a:r>
              <a:rPr lang="ja-JP" altLang="ja-JP" b="0">
                <a:ea typeface="ＭＳ ゴシック" panose="020B0609070205080204" pitchFamily="49" charset="-128"/>
              </a:rPr>
              <a:t>)　{</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Xử lý khi phát sinh error</a:t>
            </a:r>
            <a:r>
              <a:rPr lang="ja-JP" altLang="ja-JP" b="0">
                <a:ea typeface="MS UI Gothic" panose="020B0600070205080204" pitchFamily="50" charset="-128"/>
              </a:rPr>
              <a:t>（②）</a:t>
            </a:r>
          </a:p>
          <a:p>
            <a:pPr lvl="1" algn="just"/>
            <a:r>
              <a:rPr lang="ja-JP" altLang="ja-JP" b="0">
                <a:ea typeface="ＭＳ ゴシック" panose="020B0609070205080204" pitchFamily="49" charset="-128"/>
              </a:rPr>
              <a:t>}</a:t>
            </a:r>
          </a:p>
        </p:txBody>
      </p:sp>
      <p:sp>
        <p:nvSpPr>
          <p:cNvPr id="549896" name="Text Box 8">
            <a:extLst>
              <a:ext uri="{FF2B5EF4-FFF2-40B4-BE49-F238E27FC236}">
                <a16:creationId xmlns:a16="http://schemas.microsoft.com/office/drawing/2014/main" id="{B78FD4E7-FA25-A633-8F5A-EE820ABC4C8D}"/>
              </a:ext>
            </a:extLst>
          </p:cNvPr>
          <p:cNvSpPr txBox="1">
            <a:spLocks noChangeArrowheads="1"/>
          </p:cNvSpPr>
          <p:nvPr/>
        </p:nvSpPr>
        <p:spPr bwMode="auto">
          <a:xfrm>
            <a:off x="636588" y="8229600"/>
            <a:ext cx="5808662" cy="11557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try  {</a:t>
            </a:r>
          </a:p>
          <a:p>
            <a:pPr lvl="1" algn="just"/>
            <a:r>
              <a:rPr lang="ja-JP" altLang="en-US" b="0">
                <a:ea typeface="ＭＳ ゴシック" panose="020B0609070205080204" pitchFamily="49" charset="-128"/>
              </a:rPr>
              <a:t>　　　　</a:t>
            </a:r>
            <a:r>
              <a:rPr lang="ja-JP" altLang="ja-JP" b="0">
                <a:ea typeface="ＭＳ ゴシック" panose="020B0609070205080204" pitchFamily="49" charset="-128"/>
              </a:rPr>
              <a:t>// </a:t>
            </a:r>
            <a:r>
              <a:rPr lang="en-US" altLang="ja-JP" b="0">
                <a:ea typeface="ＭＳ ゴシック" panose="020B0609070205080204" pitchFamily="49" charset="-128"/>
              </a:rPr>
              <a:t>Xử lý có khả năng phát sinh exception</a:t>
            </a:r>
            <a:r>
              <a:rPr lang="ja-JP" altLang="ja-JP" b="0">
                <a:ea typeface="MS UI Gothic" panose="020B0600070205080204" pitchFamily="50" charset="-128"/>
              </a:rPr>
              <a:t>（①）</a:t>
            </a:r>
          </a:p>
          <a:p>
            <a:pPr lvl="1" algn="just"/>
            <a:r>
              <a:rPr lang="ja-JP" altLang="ja-JP" b="0">
                <a:ea typeface="ＭＳ ゴシック" panose="020B0609070205080204" pitchFamily="49" charset="-128"/>
              </a:rPr>
              <a:t>}  catch  (</a:t>
            </a:r>
            <a:r>
              <a:rPr lang="en-US" altLang="ja-JP" b="0">
                <a:ea typeface="ＭＳ ゴシック" panose="020B0609070205080204" pitchFamily="49" charset="-128"/>
              </a:rPr>
              <a:t>Kiểu exception object</a:t>
            </a:r>
            <a:r>
              <a:rPr lang="ja-JP" altLang="ja-JP" b="0">
                <a:ea typeface="MS UI Gothic" panose="020B0600070205080204" pitchFamily="50" charset="-128"/>
              </a:rPr>
              <a:t>　　</a:t>
            </a:r>
            <a:r>
              <a:rPr lang="en-US" altLang="ja-JP" b="0">
                <a:ea typeface="MS UI Gothic" panose="020B0600070205080204" pitchFamily="50" charset="-128"/>
              </a:rPr>
              <a:t>tên biến</a:t>
            </a:r>
            <a:r>
              <a:rPr lang="ja-JP" altLang="ja-JP" b="0">
                <a:ea typeface="ＭＳ ゴシック" panose="020B0609070205080204" pitchFamily="49" charset="-128"/>
              </a:rPr>
              <a:t>)　{</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Xử lý khi phát sinh error</a:t>
            </a:r>
            <a:r>
              <a:rPr lang="ja-JP" altLang="ja-JP" b="0">
                <a:ea typeface="MS UI Gothic" panose="020B0600070205080204" pitchFamily="50" charset="-128"/>
              </a:rPr>
              <a:t>（②）</a:t>
            </a:r>
          </a:p>
          <a:p>
            <a:pPr lvl="1" algn="just"/>
            <a:r>
              <a:rPr lang="ja-JP" altLang="ja-JP" b="0">
                <a:ea typeface="ＭＳ ゴシック" panose="020B0609070205080204" pitchFamily="49" charset="-128"/>
              </a:rPr>
              <a:t>}  finally  {</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Xử lý nhất định phải tiến hành dù có error hay không</a:t>
            </a:r>
            <a:r>
              <a:rPr lang="ja-JP" altLang="ja-JP" b="0">
                <a:ea typeface="MS UI Gothic" panose="020B0600070205080204" pitchFamily="50" charset="-128"/>
              </a:rPr>
              <a:t>（③）</a:t>
            </a:r>
          </a:p>
          <a:p>
            <a:pPr lvl="1" algn="just"/>
            <a:r>
              <a:rPr lang="ja-JP" altLang="ja-JP" b="0">
                <a:ea typeface="ＭＳ ゴシック" panose="020B0609070205080204" pitchFamily="49" charset="-128"/>
              </a:rPr>
              <a:t>}</a:t>
            </a:r>
          </a:p>
        </p:txBody>
      </p:sp>
      <p:sp>
        <p:nvSpPr>
          <p:cNvPr id="549897" name="Text Box 9">
            <a:extLst>
              <a:ext uri="{FF2B5EF4-FFF2-40B4-BE49-F238E27FC236}">
                <a16:creationId xmlns:a16="http://schemas.microsoft.com/office/drawing/2014/main" id="{793D8763-EF0C-B13E-56DE-3D95FEFB81FC}"/>
              </a:ext>
            </a:extLst>
          </p:cNvPr>
          <p:cNvSpPr txBox="1">
            <a:spLocks noChangeArrowheads="1"/>
          </p:cNvSpPr>
          <p:nvPr/>
        </p:nvSpPr>
        <p:spPr bwMode="auto">
          <a:xfrm>
            <a:off x="638175" y="6907213"/>
            <a:ext cx="5808663" cy="11985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try  {</a:t>
            </a:r>
          </a:p>
          <a:p>
            <a:pPr lvl="1" algn="just"/>
            <a:r>
              <a:rPr lang="ja-JP" altLang="en-US" b="0">
                <a:ea typeface="ＭＳ ゴシック" panose="020B0609070205080204" pitchFamily="49" charset="-128"/>
              </a:rPr>
              <a:t>　　　　</a:t>
            </a:r>
            <a:r>
              <a:rPr lang="ja-JP" altLang="ja-JP" b="0">
                <a:ea typeface="ＭＳ ゴシック" panose="020B0609070205080204" pitchFamily="49" charset="-128"/>
              </a:rPr>
              <a:t>// </a:t>
            </a:r>
            <a:r>
              <a:rPr lang="en-US" altLang="ja-JP" b="0">
                <a:ea typeface="ＭＳ ゴシック" panose="020B0609070205080204" pitchFamily="49" charset="-128"/>
              </a:rPr>
              <a:t>xử lý có khả năng phát sinh exception</a:t>
            </a:r>
            <a:r>
              <a:rPr lang="ja-JP" altLang="ja-JP" b="0">
                <a:ea typeface="MS UI Gothic" panose="020B0600070205080204" pitchFamily="50" charset="-128"/>
              </a:rPr>
              <a:t>（①）</a:t>
            </a:r>
          </a:p>
          <a:p>
            <a:pPr lvl="1" algn="just"/>
            <a:r>
              <a:rPr lang="ja-JP" altLang="ja-JP" b="0">
                <a:ea typeface="ＭＳ ゴシック" panose="020B0609070205080204" pitchFamily="49" charset="-128"/>
              </a:rPr>
              <a:t>}  catch  (</a:t>
            </a:r>
            <a:r>
              <a:rPr lang="en-US" altLang="ja-JP" b="0">
                <a:ea typeface="ＭＳ ゴシック" panose="020B0609070205080204" pitchFamily="49" charset="-128"/>
              </a:rPr>
              <a:t>Kiểu exception object 1</a:t>
            </a:r>
            <a:r>
              <a:rPr lang="ja-JP" altLang="ja-JP" b="0">
                <a:ea typeface="MS UI Gothic" panose="020B0600070205080204" pitchFamily="50" charset="-128"/>
              </a:rPr>
              <a:t>　　</a:t>
            </a:r>
            <a:r>
              <a:rPr lang="en-US" altLang="ja-JP" b="0">
                <a:ea typeface="MS UI Gothic" panose="020B0600070205080204" pitchFamily="50" charset="-128"/>
              </a:rPr>
              <a:t>tên biến</a:t>
            </a:r>
            <a:r>
              <a:rPr lang="ja-JP" altLang="ja-JP" b="0">
                <a:ea typeface="ＭＳ ゴシック" panose="020B0609070205080204" pitchFamily="49" charset="-128"/>
              </a:rPr>
              <a:t>)　{</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Xử lý khi phát sinh error</a:t>
            </a:r>
            <a:r>
              <a:rPr lang="ja-JP" altLang="ja-JP" b="0">
                <a:ea typeface="MS UI Gothic" panose="020B0600070205080204" pitchFamily="50" charset="-128"/>
              </a:rPr>
              <a:t>（②－１）</a:t>
            </a:r>
          </a:p>
          <a:p>
            <a:pPr lvl="1"/>
            <a:r>
              <a:rPr lang="ja-JP" altLang="ja-JP" b="0">
                <a:ea typeface="ＭＳ ゴシック" panose="020B0609070205080204" pitchFamily="49" charset="-128"/>
              </a:rPr>
              <a:t>}  catch  (</a:t>
            </a:r>
            <a:r>
              <a:rPr lang="en-US" altLang="ja-JP" b="0">
                <a:ea typeface="ＭＳ ゴシック" panose="020B0609070205080204" pitchFamily="49" charset="-128"/>
              </a:rPr>
              <a:t>Kiểu exception object 2</a:t>
            </a:r>
            <a:r>
              <a:rPr lang="ja-JP" altLang="ja-JP" b="0">
                <a:ea typeface="MS UI Gothic" panose="020B0600070205080204" pitchFamily="50" charset="-128"/>
              </a:rPr>
              <a:t>　　</a:t>
            </a:r>
            <a:r>
              <a:rPr lang="en-US" altLang="ja-JP" b="0">
                <a:ea typeface="MS UI Gothic" panose="020B0600070205080204" pitchFamily="50" charset="-128"/>
              </a:rPr>
              <a:t>tên b iến</a:t>
            </a:r>
            <a:r>
              <a:rPr lang="ja-JP" altLang="ja-JP" b="0">
                <a:ea typeface="ＭＳ ゴシック" panose="020B0609070205080204" pitchFamily="49" charset="-128"/>
              </a:rPr>
              <a:t>)　{</a:t>
            </a:r>
          </a:p>
          <a:p>
            <a:pPr lvl="1"/>
            <a:r>
              <a:rPr lang="ja-JP" altLang="ja-JP" b="0">
                <a:ea typeface="ＭＳ ゴシック" panose="020B0609070205080204" pitchFamily="49" charset="-128"/>
              </a:rPr>
              <a:t>　　　　// </a:t>
            </a:r>
            <a:r>
              <a:rPr lang="en-US" altLang="ja-JP" b="0">
                <a:ea typeface="ＭＳ ゴシック" panose="020B0609070205080204" pitchFamily="49" charset="-128"/>
              </a:rPr>
              <a:t>Xử lý khi phát sinh error</a:t>
            </a:r>
            <a:r>
              <a:rPr lang="ja-JP" altLang="ja-JP" b="0">
                <a:ea typeface="MS UI Gothic" panose="020B0600070205080204" pitchFamily="50" charset="-128"/>
              </a:rPr>
              <a:t>（②－２）</a:t>
            </a:r>
          </a:p>
          <a:p>
            <a:pPr lvl="1" algn="just"/>
            <a:r>
              <a:rPr lang="ja-JP" altLang="ja-JP" b="0">
                <a:ea typeface="ＭＳ ゴシック" panose="020B0609070205080204" pitchFamily="49" charset="-128"/>
              </a:rPr>
              <a:t>}</a:t>
            </a:r>
          </a:p>
        </p:txBody>
      </p:sp>
      <p:sp>
        <p:nvSpPr>
          <p:cNvPr id="549898" name="AutoShape 10">
            <a:extLst>
              <a:ext uri="{FF2B5EF4-FFF2-40B4-BE49-F238E27FC236}">
                <a16:creationId xmlns:a16="http://schemas.microsoft.com/office/drawing/2014/main" id="{C3908182-CAAC-81B6-6ACB-2CAE1A4EE1ED}"/>
              </a:ext>
            </a:extLst>
          </p:cNvPr>
          <p:cNvSpPr>
            <a:spLocks noChangeArrowheads="1"/>
          </p:cNvSpPr>
          <p:nvPr/>
        </p:nvSpPr>
        <p:spPr bwMode="auto">
          <a:xfrm>
            <a:off x="3849688" y="6134100"/>
            <a:ext cx="2101850" cy="512763"/>
          </a:xfrm>
          <a:prstGeom prst="wedgeRoundRectCallout">
            <a:avLst>
              <a:gd name="adj1" fmla="val -60648"/>
              <a:gd name="adj2" fmla="val 2894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MS UI Gothic" panose="020B0600070205080204" pitchFamily="50" charset="-128"/>
              </a:rPr>
              <a:t>Đối với 1 try</a:t>
            </a:r>
            <a:r>
              <a:rPr lang="ja-JP" altLang="en-US">
                <a:ea typeface="MS UI Gothic" panose="020B0600070205080204" pitchFamily="50" charset="-128"/>
              </a:rPr>
              <a:t>～ </a:t>
            </a:r>
            <a:r>
              <a:rPr lang="en-US" altLang="ja-JP">
                <a:ea typeface="MS UI Gothic" panose="020B0600070205080204" pitchFamily="50" charset="-128"/>
              </a:rPr>
              <a:t>thì bắt buộc phải có từ 1 catch</a:t>
            </a:r>
            <a:r>
              <a:rPr lang="ja-JP" altLang="en-US">
                <a:ea typeface="MS UI Gothic" panose="020B0600070205080204" pitchFamily="50" charset="-128"/>
              </a:rPr>
              <a:t>～</a:t>
            </a:r>
            <a:r>
              <a:rPr lang="en-US" altLang="ja-JP">
                <a:ea typeface="MS UI Gothic" panose="020B0600070205080204" pitchFamily="50" charset="-128"/>
              </a:rPr>
              <a:t>trở lên</a:t>
            </a:r>
          </a:p>
        </p:txBody>
      </p:sp>
      <p:grpSp>
        <p:nvGrpSpPr>
          <p:cNvPr id="549931" name="Group 43">
            <a:extLst>
              <a:ext uri="{FF2B5EF4-FFF2-40B4-BE49-F238E27FC236}">
                <a16:creationId xmlns:a16="http://schemas.microsoft.com/office/drawing/2014/main" id="{DC1B0EE9-3E3E-D15B-DF59-FFBA303C7C8A}"/>
              </a:ext>
            </a:extLst>
          </p:cNvPr>
          <p:cNvGrpSpPr>
            <a:grpSpLocks/>
          </p:cNvGrpSpPr>
          <p:nvPr/>
        </p:nvGrpSpPr>
        <p:grpSpPr bwMode="auto">
          <a:xfrm>
            <a:off x="747713" y="6237288"/>
            <a:ext cx="2911475" cy="490537"/>
            <a:chOff x="471" y="3929"/>
            <a:chExt cx="1754" cy="309"/>
          </a:xfrm>
        </p:grpSpPr>
        <p:sp>
          <p:nvSpPr>
            <p:cNvPr id="549904" name="Line 16">
              <a:extLst>
                <a:ext uri="{FF2B5EF4-FFF2-40B4-BE49-F238E27FC236}">
                  <a16:creationId xmlns:a16="http://schemas.microsoft.com/office/drawing/2014/main" id="{740286FE-B477-E4C6-743F-9939E469A46F}"/>
                </a:ext>
              </a:extLst>
            </p:cNvPr>
            <p:cNvSpPr>
              <a:spLocks noChangeShapeType="1"/>
            </p:cNvSpPr>
            <p:nvPr/>
          </p:nvSpPr>
          <p:spPr bwMode="auto">
            <a:xfrm flipH="1">
              <a:off x="474" y="4036"/>
              <a:ext cx="110"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00" name="Line 12">
              <a:extLst>
                <a:ext uri="{FF2B5EF4-FFF2-40B4-BE49-F238E27FC236}">
                  <a16:creationId xmlns:a16="http://schemas.microsoft.com/office/drawing/2014/main" id="{1A34CA6A-8021-B299-9F06-851E2542008E}"/>
                </a:ext>
              </a:extLst>
            </p:cNvPr>
            <p:cNvSpPr>
              <a:spLocks noChangeShapeType="1"/>
            </p:cNvSpPr>
            <p:nvPr/>
          </p:nvSpPr>
          <p:spPr bwMode="auto">
            <a:xfrm>
              <a:off x="584" y="3930"/>
              <a:ext cx="0" cy="113"/>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01" name="Line 13">
              <a:extLst>
                <a:ext uri="{FF2B5EF4-FFF2-40B4-BE49-F238E27FC236}">
                  <a16:creationId xmlns:a16="http://schemas.microsoft.com/office/drawing/2014/main" id="{66DEBAC0-AD9E-DD7B-34B4-6B1295608A64}"/>
                </a:ext>
              </a:extLst>
            </p:cNvPr>
            <p:cNvSpPr>
              <a:spLocks noChangeShapeType="1"/>
            </p:cNvSpPr>
            <p:nvPr/>
          </p:nvSpPr>
          <p:spPr bwMode="auto">
            <a:xfrm flipH="1">
              <a:off x="478" y="4033"/>
              <a:ext cx="3" cy="204"/>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02" name="Line 14">
              <a:extLst>
                <a:ext uri="{FF2B5EF4-FFF2-40B4-BE49-F238E27FC236}">
                  <a16:creationId xmlns:a16="http://schemas.microsoft.com/office/drawing/2014/main" id="{2EE0D023-1F17-D262-400B-28830DAF7DD1}"/>
                </a:ext>
              </a:extLst>
            </p:cNvPr>
            <p:cNvSpPr>
              <a:spLocks noChangeShapeType="1"/>
            </p:cNvSpPr>
            <p:nvPr/>
          </p:nvSpPr>
          <p:spPr bwMode="auto">
            <a:xfrm flipH="1">
              <a:off x="577" y="3936"/>
              <a:ext cx="1648"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03" name="Line 15">
              <a:extLst>
                <a:ext uri="{FF2B5EF4-FFF2-40B4-BE49-F238E27FC236}">
                  <a16:creationId xmlns:a16="http://schemas.microsoft.com/office/drawing/2014/main" id="{7C4B5D58-30DB-6041-7E75-0BE99BF32E3D}"/>
                </a:ext>
              </a:extLst>
            </p:cNvPr>
            <p:cNvSpPr>
              <a:spLocks noChangeShapeType="1"/>
            </p:cNvSpPr>
            <p:nvPr/>
          </p:nvSpPr>
          <p:spPr bwMode="auto">
            <a:xfrm flipH="1">
              <a:off x="471" y="4232"/>
              <a:ext cx="1744"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05" name="Line 17">
              <a:extLst>
                <a:ext uri="{FF2B5EF4-FFF2-40B4-BE49-F238E27FC236}">
                  <a16:creationId xmlns:a16="http://schemas.microsoft.com/office/drawing/2014/main" id="{0FA32B25-151C-9C23-290F-77334FA6BF4B}"/>
                </a:ext>
              </a:extLst>
            </p:cNvPr>
            <p:cNvSpPr>
              <a:spLocks noChangeShapeType="1"/>
            </p:cNvSpPr>
            <p:nvPr/>
          </p:nvSpPr>
          <p:spPr bwMode="auto">
            <a:xfrm flipH="1">
              <a:off x="2214" y="3929"/>
              <a:ext cx="4" cy="309"/>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grpSp>
      <p:grpSp>
        <p:nvGrpSpPr>
          <p:cNvPr id="549932" name="Group 44">
            <a:extLst>
              <a:ext uri="{FF2B5EF4-FFF2-40B4-BE49-F238E27FC236}">
                <a16:creationId xmlns:a16="http://schemas.microsoft.com/office/drawing/2014/main" id="{4780A986-2FE2-B0A4-FC0F-97C232B134A5}"/>
              </a:ext>
            </a:extLst>
          </p:cNvPr>
          <p:cNvGrpSpPr>
            <a:grpSpLocks/>
          </p:cNvGrpSpPr>
          <p:nvPr/>
        </p:nvGrpSpPr>
        <p:grpSpPr bwMode="auto">
          <a:xfrm>
            <a:off x="747713" y="7229475"/>
            <a:ext cx="2794000" cy="798513"/>
            <a:chOff x="471" y="4554"/>
            <a:chExt cx="1760" cy="503"/>
          </a:xfrm>
        </p:grpSpPr>
        <p:sp>
          <p:nvSpPr>
            <p:cNvPr id="549915" name="Line 27">
              <a:extLst>
                <a:ext uri="{FF2B5EF4-FFF2-40B4-BE49-F238E27FC236}">
                  <a16:creationId xmlns:a16="http://schemas.microsoft.com/office/drawing/2014/main" id="{5486AC7C-DE00-BB54-55A9-A4DA917231E8}"/>
                </a:ext>
              </a:extLst>
            </p:cNvPr>
            <p:cNvSpPr>
              <a:spLocks noChangeShapeType="1"/>
            </p:cNvSpPr>
            <p:nvPr/>
          </p:nvSpPr>
          <p:spPr bwMode="auto">
            <a:xfrm flipH="1">
              <a:off x="474" y="4688"/>
              <a:ext cx="113"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16" name="Line 28">
              <a:extLst>
                <a:ext uri="{FF2B5EF4-FFF2-40B4-BE49-F238E27FC236}">
                  <a16:creationId xmlns:a16="http://schemas.microsoft.com/office/drawing/2014/main" id="{33BD24F4-D4EE-E1BC-6413-62032D90601F}"/>
                </a:ext>
              </a:extLst>
            </p:cNvPr>
            <p:cNvSpPr>
              <a:spLocks noChangeShapeType="1"/>
            </p:cNvSpPr>
            <p:nvPr/>
          </p:nvSpPr>
          <p:spPr bwMode="auto">
            <a:xfrm>
              <a:off x="584" y="4554"/>
              <a:ext cx="0" cy="136"/>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17" name="Line 29">
              <a:extLst>
                <a:ext uri="{FF2B5EF4-FFF2-40B4-BE49-F238E27FC236}">
                  <a16:creationId xmlns:a16="http://schemas.microsoft.com/office/drawing/2014/main" id="{DF0F88CA-2C04-2297-C199-FAB164F99B2B}"/>
                </a:ext>
              </a:extLst>
            </p:cNvPr>
            <p:cNvSpPr>
              <a:spLocks noChangeShapeType="1"/>
            </p:cNvSpPr>
            <p:nvPr/>
          </p:nvSpPr>
          <p:spPr bwMode="auto">
            <a:xfrm flipH="1">
              <a:off x="478" y="4687"/>
              <a:ext cx="3" cy="363"/>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18" name="Line 30">
              <a:extLst>
                <a:ext uri="{FF2B5EF4-FFF2-40B4-BE49-F238E27FC236}">
                  <a16:creationId xmlns:a16="http://schemas.microsoft.com/office/drawing/2014/main" id="{2797E64B-DEA0-3735-09AC-CBF45BBF8E12}"/>
                </a:ext>
              </a:extLst>
            </p:cNvPr>
            <p:cNvSpPr>
              <a:spLocks noChangeShapeType="1"/>
            </p:cNvSpPr>
            <p:nvPr/>
          </p:nvSpPr>
          <p:spPr bwMode="auto">
            <a:xfrm flipH="1">
              <a:off x="577" y="4560"/>
              <a:ext cx="1654"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19" name="Line 31">
              <a:extLst>
                <a:ext uri="{FF2B5EF4-FFF2-40B4-BE49-F238E27FC236}">
                  <a16:creationId xmlns:a16="http://schemas.microsoft.com/office/drawing/2014/main" id="{3B5B579B-6F7E-7309-49E0-2CFB6168CC10}"/>
                </a:ext>
              </a:extLst>
            </p:cNvPr>
            <p:cNvSpPr>
              <a:spLocks noChangeShapeType="1"/>
            </p:cNvSpPr>
            <p:nvPr/>
          </p:nvSpPr>
          <p:spPr bwMode="auto">
            <a:xfrm flipH="1">
              <a:off x="471" y="5047"/>
              <a:ext cx="1750"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0" name="Line 32">
              <a:extLst>
                <a:ext uri="{FF2B5EF4-FFF2-40B4-BE49-F238E27FC236}">
                  <a16:creationId xmlns:a16="http://schemas.microsoft.com/office/drawing/2014/main" id="{5BEFE717-C070-C845-457F-53EADA449BA0}"/>
                </a:ext>
              </a:extLst>
            </p:cNvPr>
            <p:cNvSpPr>
              <a:spLocks noChangeShapeType="1"/>
            </p:cNvSpPr>
            <p:nvPr/>
          </p:nvSpPr>
          <p:spPr bwMode="auto">
            <a:xfrm flipH="1">
              <a:off x="2220" y="4555"/>
              <a:ext cx="4" cy="502"/>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grpSp>
      <p:grpSp>
        <p:nvGrpSpPr>
          <p:cNvPr id="549921" name="Group 33">
            <a:extLst>
              <a:ext uri="{FF2B5EF4-FFF2-40B4-BE49-F238E27FC236}">
                <a16:creationId xmlns:a16="http://schemas.microsoft.com/office/drawing/2014/main" id="{48966791-39A6-B0CC-2F04-534BBA1C13BE}"/>
              </a:ext>
            </a:extLst>
          </p:cNvPr>
          <p:cNvGrpSpPr>
            <a:grpSpLocks/>
          </p:cNvGrpSpPr>
          <p:nvPr/>
        </p:nvGrpSpPr>
        <p:grpSpPr bwMode="auto">
          <a:xfrm>
            <a:off x="747713" y="8866188"/>
            <a:ext cx="2789237" cy="476250"/>
            <a:chOff x="477" y="3942"/>
            <a:chExt cx="1542" cy="312"/>
          </a:xfrm>
        </p:grpSpPr>
        <p:sp>
          <p:nvSpPr>
            <p:cNvPr id="549922" name="Line 34">
              <a:extLst>
                <a:ext uri="{FF2B5EF4-FFF2-40B4-BE49-F238E27FC236}">
                  <a16:creationId xmlns:a16="http://schemas.microsoft.com/office/drawing/2014/main" id="{EC02757C-ED57-2520-2A0C-C14714CE1143}"/>
                </a:ext>
              </a:extLst>
            </p:cNvPr>
            <p:cNvSpPr>
              <a:spLocks noChangeShapeType="1"/>
            </p:cNvSpPr>
            <p:nvPr/>
          </p:nvSpPr>
          <p:spPr bwMode="auto">
            <a:xfrm flipH="1">
              <a:off x="480" y="4044"/>
              <a:ext cx="96"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3" name="Line 35">
              <a:extLst>
                <a:ext uri="{FF2B5EF4-FFF2-40B4-BE49-F238E27FC236}">
                  <a16:creationId xmlns:a16="http://schemas.microsoft.com/office/drawing/2014/main" id="{25041401-AB36-6E2F-11C5-29602E5CAEE0}"/>
                </a:ext>
              </a:extLst>
            </p:cNvPr>
            <p:cNvSpPr>
              <a:spLocks noChangeShapeType="1"/>
            </p:cNvSpPr>
            <p:nvPr/>
          </p:nvSpPr>
          <p:spPr bwMode="auto">
            <a:xfrm>
              <a:off x="576" y="3942"/>
              <a:ext cx="0" cy="108"/>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4" name="Line 36">
              <a:extLst>
                <a:ext uri="{FF2B5EF4-FFF2-40B4-BE49-F238E27FC236}">
                  <a16:creationId xmlns:a16="http://schemas.microsoft.com/office/drawing/2014/main" id="{4891EBC2-A07E-C1E8-83E2-81BFFF84274F}"/>
                </a:ext>
              </a:extLst>
            </p:cNvPr>
            <p:cNvSpPr>
              <a:spLocks noChangeShapeType="1"/>
            </p:cNvSpPr>
            <p:nvPr/>
          </p:nvSpPr>
          <p:spPr bwMode="auto">
            <a:xfrm flipH="1">
              <a:off x="483" y="4041"/>
              <a:ext cx="3" cy="21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5" name="Line 37">
              <a:extLst>
                <a:ext uri="{FF2B5EF4-FFF2-40B4-BE49-F238E27FC236}">
                  <a16:creationId xmlns:a16="http://schemas.microsoft.com/office/drawing/2014/main" id="{504CF79F-6585-E946-A397-C677321034E9}"/>
                </a:ext>
              </a:extLst>
            </p:cNvPr>
            <p:cNvSpPr>
              <a:spLocks noChangeShapeType="1"/>
            </p:cNvSpPr>
            <p:nvPr/>
          </p:nvSpPr>
          <p:spPr bwMode="auto">
            <a:xfrm flipH="1">
              <a:off x="570" y="3948"/>
              <a:ext cx="1449"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6" name="Line 38">
              <a:extLst>
                <a:ext uri="{FF2B5EF4-FFF2-40B4-BE49-F238E27FC236}">
                  <a16:creationId xmlns:a16="http://schemas.microsoft.com/office/drawing/2014/main" id="{3C7EA69E-9961-B071-FD57-94054681439E}"/>
                </a:ext>
              </a:extLst>
            </p:cNvPr>
            <p:cNvSpPr>
              <a:spLocks noChangeShapeType="1"/>
            </p:cNvSpPr>
            <p:nvPr/>
          </p:nvSpPr>
          <p:spPr bwMode="auto">
            <a:xfrm flipH="1">
              <a:off x="477" y="4248"/>
              <a:ext cx="1533" cy="0"/>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sp>
          <p:nvSpPr>
            <p:cNvPr id="549927" name="Line 39">
              <a:extLst>
                <a:ext uri="{FF2B5EF4-FFF2-40B4-BE49-F238E27FC236}">
                  <a16:creationId xmlns:a16="http://schemas.microsoft.com/office/drawing/2014/main" id="{1967646B-15DB-A2C7-D246-9FC451165E79}"/>
                </a:ext>
              </a:extLst>
            </p:cNvPr>
            <p:cNvSpPr>
              <a:spLocks noChangeShapeType="1"/>
            </p:cNvSpPr>
            <p:nvPr/>
          </p:nvSpPr>
          <p:spPr bwMode="auto">
            <a:xfrm flipH="1">
              <a:off x="2009" y="3945"/>
              <a:ext cx="4" cy="309"/>
            </a:xfrm>
            <a:prstGeom prst="line">
              <a:avLst/>
            </a:prstGeom>
            <a:noFill/>
            <a:ln w="19050">
              <a:solidFill>
                <a:srgbClr val="3FB0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p>
              <a:endParaRPr lang="ja-JP" altLang="en-US"/>
            </a:p>
          </p:txBody>
        </p:sp>
      </p:grpSp>
      <p:sp>
        <p:nvSpPr>
          <p:cNvPr id="549928" name="AutoShape 40">
            <a:extLst>
              <a:ext uri="{FF2B5EF4-FFF2-40B4-BE49-F238E27FC236}">
                <a16:creationId xmlns:a16="http://schemas.microsoft.com/office/drawing/2014/main" id="{3A1D3B21-698C-27F3-921A-CFB77B85D6A2}"/>
              </a:ext>
            </a:extLst>
          </p:cNvPr>
          <p:cNvSpPr>
            <a:spLocks noChangeArrowheads="1"/>
          </p:cNvSpPr>
          <p:nvPr/>
        </p:nvSpPr>
        <p:spPr bwMode="auto">
          <a:xfrm>
            <a:off x="3849688" y="7297738"/>
            <a:ext cx="2101850" cy="512762"/>
          </a:xfrm>
          <a:prstGeom prst="wedgeRoundRectCallout">
            <a:avLst>
              <a:gd name="adj1" fmla="val -60648"/>
              <a:gd name="adj2" fmla="val 2894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MS UI Gothic" panose="020B0600070205080204" pitchFamily="50" charset="-128"/>
              </a:rPr>
              <a:t>Đối với 1 try</a:t>
            </a:r>
            <a:r>
              <a:rPr lang="ja-JP" altLang="en-US" sz="1100" b="0">
                <a:ea typeface="MS UI Gothic" panose="020B0600070205080204" pitchFamily="50" charset="-128"/>
              </a:rPr>
              <a:t>～ </a:t>
            </a:r>
            <a:r>
              <a:rPr lang="en-US" altLang="ja-JP" sz="1100" b="0">
                <a:ea typeface="MS UI Gothic" panose="020B0600070205080204" pitchFamily="50" charset="-128"/>
              </a:rPr>
              <a:t>có thể chỉ định nhiều catch</a:t>
            </a:r>
            <a:r>
              <a:rPr lang="ja-JP" altLang="en-US" sz="1100">
                <a:ea typeface="MS UI Gothic" panose="020B0600070205080204" pitchFamily="50" charset="-128"/>
              </a:rPr>
              <a:t>～</a:t>
            </a:r>
          </a:p>
        </p:txBody>
      </p:sp>
      <p:sp>
        <p:nvSpPr>
          <p:cNvPr id="549929" name="AutoShape 41">
            <a:extLst>
              <a:ext uri="{FF2B5EF4-FFF2-40B4-BE49-F238E27FC236}">
                <a16:creationId xmlns:a16="http://schemas.microsoft.com/office/drawing/2014/main" id="{BB72C017-C7BD-DC9B-3A04-7F6C0F4163D2}"/>
              </a:ext>
            </a:extLst>
          </p:cNvPr>
          <p:cNvSpPr>
            <a:spLocks noChangeArrowheads="1"/>
          </p:cNvSpPr>
          <p:nvPr/>
        </p:nvSpPr>
        <p:spPr bwMode="auto">
          <a:xfrm>
            <a:off x="3849688" y="8710613"/>
            <a:ext cx="2101850" cy="512762"/>
          </a:xfrm>
          <a:prstGeom prst="wedgeRoundRectCallout">
            <a:avLst>
              <a:gd name="adj1" fmla="val -60648"/>
              <a:gd name="adj2" fmla="val 2894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MS UI Gothic" panose="020B0600070205080204" pitchFamily="50" charset="-128"/>
              </a:rPr>
              <a:t>Chỉ định</a:t>
            </a:r>
            <a:r>
              <a:rPr lang="en-US" altLang="ja-JP" sz="1100">
                <a:ea typeface="MS UI Gothic" panose="020B0600070205080204" pitchFamily="50" charset="-128"/>
              </a:rPr>
              <a:t> </a:t>
            </a:r>
            <a:r>
              <a:rPr lang="en-US" altLang="ja-JP" sz="1100" b="0">
                <a:ea typeface="MS UI Gothic" panose="020B0600070205080204" pitchFamily="50" charset="-128"/>
              </a:rPr>
              <a:t>1</a:t>
            </a:r>
            <a:r>
              <a:rPr lang="en-US" altLang="ja-JP" sz="1100">
                <a:ea typeface="MS UI Gothic" panose="020B0600070205080204" pitchFamily="50" charset="-128"/>
              </a:rPr>
              <a:t> </a:t>
            </a:r>
            <a:r>
              <a:rPr lang="en-US" altLang="ja-JP">
                <a:ea typeface="MS UI Gothic" panose="020B0600070205080204" pitchFamily="50" charset="-128"/>
              </a:rPr>
              <a:t>finally</a:t>
            </a:r>
            <a:r>
              <a:rPr lang="ja-JP" altLang="en-US">
                <a:ea typeface="MS UI Gothic" panose="020B0600070205080204" pitchFamily="50" charset="-128"/>
              </a:rPr>
              <a:t>～ </a:t>
            </a:r>
            <a:r>
              <a:rPr lang="en-US" altLang="ja-JP">
                <a:ea typeface="MS UI Gothic" panose="020B0600070205080204" pitchFamily="50" charset="-128"/>
              </a:rPr>
              <a:t>chỉ trong trường hợp cần thiết</a:t>
            </a:r>
            <a:endParaRPr lang="en-US" altLang="ja-JP" sz="1100">
              <a:ea typeface="MS UI Gothic" panose="020B0600070205080204"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358610E5-B22D-008B-753B-0851E47644C5}"/>
              </a:ext>
            </a:extLst>
          </p:cNvPr>
          <p:cNvSpPr>
            <a:spLocks noRot="1" noChangeAspect="1" noChangeArrowheads="1" noTextEdit="1"/>
          </p:cNvSpPr>
          <p:nvPr>
            <p:ph type="sldImg"/>
          </p:nvPr>
        </p:nvSpPr>
        <p:spPr>
          <a:ln/>
        </p:spPr>
      </p:sp>
      <p:sp>
        <p:nvSpPr>
          <p:cNvPr id="551939" name="Rectangle 3">
            <a:extLst>
              <a:ext uri="{FF2B5EF4-FFF2-40B4-BE49-F238E27FC236}">
                <a16:creationId xmlns:a16="http://schemas.microsoft.com/office/drawing/2014/main" id="{384D7A43-1792-DD72-BEE2-986D97F826C3}"/>
              </a:ext>
            </a:extLst>
          </p:cNvPr>
          <p:cNvSpPr>
            <a:spLocks noGrp="1" noChangeArrowheads="1"/>
          </p:cNvSpPr>
          <p:nvPr>
            <p:ph type="body" idx="1"/>
          </p:nvPr>
        </p:nvSpPr>
        <p:spPr/>
        <p:txBody>
          <a:bodyPr/>
          <a:lstStyle/>
          <a:p>
            <a:pPr marL="0" indent="0"/>
            <a:r>
              <a:rPr lang="en-US" altLang="ja-JP" sz="900">
                <a:latin typeface="Arial" panose="020B0604020202020204" pitchFamily="34" charset="0"/>
              </a:rPr>
              <a:t>■</a:t>
            </a:r>
            <a:r>
              <a:rPr lang="ja-JP" altLang="en-US" sz="900">
                <a:latin typeface="Arial" panose="020B0604020202020204" pitchFamily="34" charset="0"/>
              </a:rPr>
              <a:t>　</a:t>
            </a:r>
            <a:r>
              <a:rPr lang="en-US" altLang="ja-JP" sz="900">
                <a:latin typeface="Arial" panose="020B0604020202020204" pitchFamily="34" charset="0"/>
              </a:rPr>
              <a:t>Exeption có khả năng phát sinh</a:t>
            </a:r>
          </a:p>
          <a:p>
            <a:pPr marL="0" indent="0"/>
            <a:r>
              <a:rPr lang="ja-JP" altLang="en-US" sz="900">
                <a:latin typeface="Arial" panose="020B0604020202020204" pitchFamily="34" charset="0"/>
              </a:rPr>
              <a:t>　</a:t>
            </a:r>
            <a:r>
              <a:rPr lang="en-US" altLang="ja-JP" sz="900">
                <a:latin typeface="Arial" panose="020B0604020202020204" pitchFamily="34" charset="0"/>
              </a:rPr>
              <a:t>Trường hợp đã phát sinh exception khi thực hiện, nếu cách xử lý exception đối với exception đã phát sinh chưa được mô tả, thì xử lý về sau sẽ không được tiến hành mà kết thúc, và error được trả về môi trường thực hiện/chạy.</a:t>
            </a:r>
          </a:p>
          <a:p>
            <a:pPr marL="0" indent="0"/>
            <a:r>
              <a:rPr lang="ja-JP" altLang="en-US" sz="900">
                <a:latin typeface="Arial" panose="020B0604020202020204" pitchFamily="34" charset="0"/>
              </a:rPr>
              <a:t>　</a:t>
            </a:r>
            <a:r>
              <a:rPr lang="en-US" altLang="ja-JP" sz="900">
                <a:latin typeface="Arial" panose="020B0604020202020204" pitchFamily="34" charset="0"/>
              </a:rPr>
              <a:t>Có thể biết được khi nào, error nào sẽ phát sinh từ message đã được hiển thị ở môi trường thực thi.</a:t>
            </a:r>
          </a:p>
          <a:p>
            <a:pPr marL="0" indent="0"/>
            <a:endParaRPr lang="en-US" altLang="ja-JP" sz="900">
              <a:latin typeface="Arial" panose="020B0604020202020204" pitchFamily="34" charset="0"/>
            </a:endParaRPr>
          </a:p>
          <a:p>
            <a:pPr marL="0" indent="0"/>
            <a:r>
              <a:rPr lang="en-US" altLang="ja-JP" sz="900">
                <a:latin typeface="Arial" panose="020B0604020202020204" pitchFamily="34" charset="0"/>
              </a:rPr>
              <a:t>●</a:t>
            </a:r>
            <a:r>
              <a:rPr lang="ja-JP" altLang="en-US" sz="900">
                <a:latin typeface="Arial" panose="020B0604020202020204" pitchFamily="34" charset="0"/>
              </a:rPr>
              <a:t>　</a:t>
            </a:r>
            <a:r>
              <a:rPr lang="en-US" altLang="ja-JP" sz="900">
                <a:latin typeface="Arial" panose="020B0604020202020204" pitchFamily="34" charset="0"/>
              </a:rPr>
              <a:t>Ví dụ error khi thực thi</a:t>
            </a: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a:p>
            <a:pPr marL="0" indent="0"/>
            <a:endParaRPr lang="en-US" altLang="ja-JP" sz="900">
              <a:latin typeface="Arial" panose="020B0604020202020204" pitchFamily="34" charset="0"/>
            </a:endParaRPr>
          </a:p>
        </p:txBody>
      </p:sp>
      <p:sp>
        <p:nvSpPr>
          <p:cNvPr id="551967" name="Text Box 31">
            <a:extLst>
              <a:ext uri="{FF2B5EF4-FFF2-40B4-BE49-F238E27FC236}">
                <a16:creationId xmlns:a16="http://schemas.microsoft.com/office/drawing/2014/main" id="{EB2DC1FB-EB13-7C3F-A2C3-F5F01E6B2256}"/>
              </a:ext>
            </a:extLst>
          </p:cNvPr>
          <p:cNvSpPr txBox="1">
            <a:spLocks noChangeArrowheads="1"/>
          </p:cNvSpPr>
          <p:nvPr/>
        </p:nvSpPr>
        <p:spPr bwMode="auto">
          <a:xfrm>
            <a:off x="636588" y="6259513"/>
            <a:ext cx="6015037" cy="35560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20000"/>
              </a:lnSpc>
            </a:pPr>
            <a:r>
              <a:rPr lang="ja-JP" altLang="ja-JP" b="0">
                <a:ea typeface="ＭＳ ゴシック" panose="020B0609070205080204" pitchFamily="49" charset="-128"/>
              </a:rPr>
              <a:t>&gt; java Exception01 5 3</a:t>
            </a:r>
          </a:p>
          <a:p>
            <a:pPr lvl="1" algn="just">
              <a:lnSpc>
                <a:spcPct val="120000"/>
              </a:lnSpc>
            </a:pPr>
            <a:r>
              <a:rPr lang="ja-JP" altLang="ja-JP" b="0">
                <a:ea typeface="ＭＳ ゴシック" panose="020B0609070205080204" pitchFamily="49" charset="-128"/>
              </a:rPr>
              <a:t>+:8</a:t>
            </a:r>
          </a:p>
          <a:p>
            <a:pPr lvl="1" algn="just">
              <a:lnSpc>
                <a:spcPct val="120000"/>
              </a:lnSpc>
            </a:pPr>
            <a:r>
              <a:rPr lang="ja-JP" altLang="ja-JP" b="0">
                <a:ea typeface="ＭＳ ゴシック" panose="020B0609070205080204" pitchFamily="49" charset="-128"/>
              </a:rPr>
              <a:t>-:2</a:t>
            </a:r>
          </a:p>
          <a:p>
            <a:pPr lvl="1" algn="just">
              <a:lnSpc>
                <a:spcPct val="120000"/>
              </a:lnSpc>
            </a:pPr>
            <a:r>
              <a:rPr lang="ja-JP" altLang="ja-JP" b="0">
                <a:ea typeface="ＭＳ ゴシック" panose="020B0609070205080204" pitchFamily="49" charset="-128"/>
              </a:rPr>
              <a:t>*:15</a:t>
            </a:r>
          </a:p>
          <a:p>
            <a:pPr lvl="1" algn="just">
              <a:lnSpc>
                <a:spcPct val="120000"/>
              </a:lnSpc>
            </a:pPr>
            <a:r>
              <a:rPr lang="ja-JP" altLang="ja-JP" b="0">
                <a:ea typeface="ＭＳ ゴシック" panose="020B0609070205080204" pitchFamily="49" charset="-128"/>
              </a:rPr>
              <a:t>/:1</a:t>
            </a:r>
          </a:p>
          <a:p>
            <a:pPr lvl="1" algn="just">
              <a:lnSpc>
                <a:spcPct val="120000"/>
              </a:lnSpc>
            </a:pPr>
            <a:endParaRPr lang="ja-JP" altLang="ja-JP" b="0">
              <a:ea typeface="ＭＳ ゴシック" panose="020B0609070205080204" pitchFamily="49" charset="-128"/>
            </a:endParaRPr>
          </a:p>
          <a:p>
            <a:pPr lvl="1" algn="just">
              <a:lnSpc>
                <a:spcPct val="120000"/>
              </a:lnSpc>
            </a:pPr>
            <a:r>
              <a:rPr lang="ja-JP" altLang="ja-JP" b="0">
                <a:ea typeface="ＭＳ ゴシック" panose="020B0609070205080204" pitchFamily="49" charset="-128"/>
              </a:rPr>
              <a:t>&gt; java Exception01</a:t>
            </a:r>
          </a:p>
          <a:p>
            <a:pPr lvl="1" algn="just">
              <a:lnSpc>
                <a:spcPct val="120000"/>
              </a:lnSpc>
            </a:pPr>
            <a:r>
              <a:rPr lang="ja-JP" altLang="ja-JP" b="0">
                <a:ea typeface="ＭＳ ゴシック" panose="020B0609070205080204" pitchFamily="49" charset="-128"/>
              </a:rPr>
              <a:t>Exception in thread "main" java.lang.ArrayIndexOutOfBoundsException: 0</a:t>
            </a:r>
          </a:p>
          <a:p>
            <a:pPr lvl="1" algn="just">
              <a:lnSpc>
                <a:spcPct val="120000"/>
              </a:lnSpc>
            </a:pPr>
            <a:r>
              <a:rPr lang="ja-JP" altLang="ja-JP" b="0">
                <a:ea typeface="ＭＳ ゴシック" panose="020B0609070205080204" pitchFamily="49" charset="-128"/>
              </a:rPr>
              <a:t>        at Exception01.main(Exception01.java:3)</a:t>
            </a:r>
          </a:p>
          <a:p>
            <a:pPr lvl="1" algn="just">
              <a:lnSpc>
                <a:spcPct val="120000"/>
              </a:lnSpc>
            </a:pPr>
            <a:endParaRPr lang="ja-JP" altLang="ja-JP" b="0">
              <a:ea typeface="ＭＳ ゴシック" panose="020B0609070205080204" pitchFamily="49" charset="-128"/>
            </a:endParaRPr>
          </a:p>
          <a:p>
            <a:pPr lvl="1" algn="just">
              <a:lnSpc>
                <a:spcPct val="120000"/>
              </a:lnSpc>
            </a:pPr>
            <a:r>
              <a:rPr lang="ja-JP" altLang="ja-JP" b="0">
                <a:ea typeface="ＭＳ ゴシック" panose="020B0609070205080204" pitchFamily="49" charset="-128"/>
              </a:rPr>
              <a:t>&gt; java Exception01 a b</a:t>
            </a:r>
          </a:p>
          <a:p>
            <a:pPr lvl="1" algn="just">
              <a:lnSpc>
                <a:spcPct val="120000"/>
              </a:lnSpc>
            </a:pPr>
            <a:r>
              <a:rPr lang="ja-JP" altLang="ja-JP" b="0">
                <a:ea typeface="ＭＳ ゴシック" panose="020B0609070205080204" pitchFamily="49" charset="-128"/>
              </a:rPr>
              <a:t>Exception in thread "main" java.lang.NumberFormatException: For input string: "a"</a:t>
            </a:r>
          </a:p>
          <a:p>
            <a:pPr lvl="1" algn="just">
              <a:lnSpc>
                <a:spcPct val="120000"/>
              </a:lnSpc>
            </a:pPr>
            <a:r>
              <a:rPr lang="ja-JP" altLang="ja-JP" b="0">
                <a:ea typeface="ＭＳ ゴシック" panose="020B0609070205080204" pitchFamily="49" charset="-128"/>
              </a:rPr>
              <a:t>        at java.lang.NumberFormatException.forInputString(NumberFormatException.java:48)</a:t>
            </a:r>
          </a:p>
          <a:p>
            <a:pPr lvl="1" algn="just">
              <a:lnSpc>
                <a:spcPct val="120000"/>
              </a:lnSpc>
            </a:pPr>
            <a:r>
              <a:rPr lang="ja-JP" altLang="ja-JP" b="0">
                <a:ea typeface="ＭＳ ゴシック" panose="020B0609070205080204" pitchFamily="49" charset="-128"/>
              </a:rPr>
              <a:t>        at java.lang.Integer.parseInt(Integer.java:447)</a:t>
            </a:r>
          </a:p>
          <a:p>
            <a:pPr lvl="1" algn="just">
              <a:lnSpc>
                <a:spcPct val="120000"/>
              </a:lnSpc>
            </a:pPr>
            <a:r>
              <a:rPr lang="ja-JP" altLang="ja-JP" b="0">
                <a:ea typeface="ＭＳ ゴシック" panose="020B0609070205080204" pitchFamily="49" charset="-128"/>
              </a:rPr>
              <a:t>        at java.lang.Integer.parseInt(Integer.java:497)</a:t>
            </a:r>
          </a:p>
          <a:p>
            <a:pPr lvl="1" algn="just">
              <a:lnSpc>
                <a:spcPct val="120000"/>
              </a:lnSpc>
            </a:pPr>
            <a:r>
              <a:rPr lang="ja-JP" altLang="ja-JP" b="0">
                <a:ea typeface="ＭＳ ゴシック" panose="020B0609070205080204" pitchFamily="49" charset="-128"/>
              </a:rPr>
              <a:t>        at Exception01.main(Exception01.java:3)</a:t>
            </a:r>
          </a:p>
        </p:txBody>
      </p:sp>
      <p:sp>
        <p:nvSpPr>
          <p:cNvPr id="551970" name="Rectangle 34">
            <a:extLst>
              <a:ext uri="{FF2B5EF4-FFF2-40B4-BE49-F238E27FC236}">
                <a16:creationId xmlns:a16="http://schemas.microsoft.com/office/drawing/2014/main" id="{8FFAEFB4-46ED-78D1-16C5-3AB7561C113F}"/>
              </a:ext>
            </a:extLst>
          </p:cNvPr>
          <p:cNvSpPr>
            <a:spLocks noChangeArrowheads="1"/>
          </p:cNvSpPr>
          <p:nvPr/>
        </p:nvSpPr>
        <p:spPr bwMode="auto">
          <a:xfrm>
            <a:off x="930275" y="8129588"/>
            <a:ext cx="1409700" cy="1539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74" name="Rectangle 38">
            <a:extLst>
              <a:ext uri="{FF2B5EF4-FFF2-40B4-BE49-F238E27FC236}">
                <a16:creationId xmlns:a16="http://schemas.microsoft.com/office/drawing/2014/main" id="{4A254DA1-AB0A-F199-ED50-8FA3BA576DAE}"/>
              </a:ext>
            </a:extLst>
          </p:cNvPr>
          <p:cNvSpPr>
            <a:spLocks noChangeArrowheads="1"/>
          </p:cNvSpPr>
          <p:nvPr/>
        </p:nvSpPr>
        <p:spPr bwMode="auto">
          <a:xfrm>
            <a:off x="798513" y="7570788"/>
            <a:ext cx="5648325" cy="35877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75" name="Rectangle 39">
            <a:extLst>
              <a:ext uri="{FF2B5EF4-FFF2-40B4-BE49-F238E27FC236}">
                <a16:creationId xmlns:a16="http://schemas.microsoft.com/office/drawing/2014/main" id="{E37407F2-88EE-8AD9-F6B4-20832C428128}"/>
              </a:ext>
            </a:extLst>
          </p:cNvPr>
          <p:cNvSpPr>
            <a:spLocks noChangeArrowheads="1"/>
          </p:cNvSpPr>
          <p:nvPr/>
        </p:nvSpPr>
        <p:spPr bwMode="auto">
          <a:xfrm>
            <a:off x="801688" y="8307388"/>
            <a:ext cx="5645150" cy="93662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72" name="AutoShape 36">
            <a:extLst>
              <a:ext uri="{FF2B5EF4-FFF2-40B4-BE49-F238E27FC236}">
                <a16:creationId xmlns:a16="http://schemas.microsoft.com/office/drawing/2014/main" id="{DB88E39F-74F1-A264-F8D6-D219116C2AFB}"/>
              </a:ext>
            </a:extLst>
          </p:cNvPr>
          <p:cNvSpPr>
            <a:spLocks noChangeArrowheads="1"/>
          </p:cNvSpPr>
          <p:nvPr/>
        </p:nvSpPr>
        <p:spPr bwMode="auto">
          <a:xfrm>
            <a:off x="2495550" y="9280525"/>
            <a:ext cx="3779838" cy="708025"/>
          </a:xfrm>
          <a:prstGeom prst="wedgeRoundRectCallout">
            <a:avLst>
              <a:gd name="adj1" fmla="val 3718"/>
              <a:gd name="adj2" fmla="val -9719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Trường hợp không thể convert giá trị đã chỉ định khi thực hiện thành giá trị int, thì sẽ phát sinh </a:t>
            </a:r>
            <a:r>
              <a:rPr lang="en-US" altLang="en-US" sz="900" b="0">
                <a:ea typeface="MS UI Gothic" panose="020B0600070205080204" pitchFamily="50" charset="-128"/>
              </a:rPr>
              <a:t>NumberFormatException khi thực </a:t>
            </a:r>
            <a:r>
              <a:rPr lang="en-US" altLang="ja-JP" sz="900" b="0">
                <a:ea typeface="MS UI Gothic" panose="020B0600070205080204" pitchFamily="50" charset="-128"/>
              </a:rPr>
              <a:t>hiện</a:t>
            </a:r>
            <a:r>
              <a:rPr lang="en-US" altLang="en-US" sz="900" b="0">
                <a:ea typeface="MS UI Gothic" panose="020B0600070205080204" pitchFamily="50" charset="-128"/>
              </a:rPr>
              <a:t> main</a:t>
            </a:r>
            <a:r>
              <a:rPr lang="en-US" altLang="ja-JP" sz="900" b="0">
                <a:ea typeface="MS UI Gothic" panose="020B0600070205080204" pitchFamily="50" charset="-128"/>
              </a:rPr>
              <a:t> </a:t>
            </a:r>
            <a:r>
              <a:rPr lang="en-US" altLang="en-US" sz="900" b="0">
                <a:ea typeface="MS UI Gothic" panose="020B0600070205080204" pitchFamily="50" charset="-128"/>
              </a:rPr>
              <a:t>method </a:t>
            </a:r>
            <a:r>
              <a:rPr lang="en-US" altLang="ja-JP" b="0">
                <a:ea typeface="MS UI Gothic" panose="020B0600070205080204" pitchFamily="50" charset="-128"/>
              </a:rPr>
              <a:t>(Exception01.java:3)</a:t>
            </a:r>
            <a:r>
              <a:rPr lang="en-US" altLang="en-US" sz="900" b="0">
                <a:ea typeface="MS UI Gothic" panose="020B0600070205080204" pitchFamily="50" charset="-128"/>
              </a:rPr>
              <a:t> của class </a:t>
            </a:r>
            <a:endParaRPr lang="en-US" altLang="ja-JP" sz="900" b="0">
              <a:ea typeface="MS UI Gothic" panose="020B0600070205080204" pitchFamily="50" charset="-128"/>
            </a:endParaRPr>
          </a:p>
          <a:p>
            <a:pPr algn="ctr"/>
            <a:r>
              <a:rPr lang="en-US" altLang="ja-JP" sz="900" b="0">
                <a:ea typeface="MS UI Gothic" panose="020B0600070205080204" pitchFamily="50" charset="-128"/>
              </a:rPr>
              <a:t>Exception01</a:t>
            </a:r>
          </a:p>
        </p:txBody>
      </p:sp>
      <p:sp>
        <p:nvSpPr>
          <p:cNvPr id="551976" name="Rectangle 40">
            <a:extLst>
              <a:ext uri="{FF2B5EF4-FFF2-40B4-BE49-F238E27FC236}">
                <a16:creationId xmlns:a16="http://schemas.microsoft.com/office/drawing/2014/main" id="{808726C2-1413-0D00-D42B-1F171459F6D8}"/>
              </a:ext>
            </a:extLst>
          </p:cNvPr>
          <p:cNvSpPr>
            <a:spLocks noChangeArrowheads="1"/>
          </p:cNvSpPr>
          <p:nvPr/>
        </p:nvSpPr>
        <p:spPr bwMode="auto">
          <a:xfrm>
            <a:off x="917575" y="7392988"/>
            <a:ext cx="1409700" cy="1539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77" name="Rectangle 41">
            <a:extLst>
              <a:ext uri="{FF2B5EF4-FFF2-40B4-BE49-F238E27FC236}">
                <a16:creationId xmlns:a16="http://schemas.microsoft.com/office/drawing/2014/main" id="{B22D6E73-1F00-E423-B8C5-62CFC8E071A9}"/>
              </a:ext>
            </a:extLst>
          </p:cNvPr>
          <p:cNvSpPr>
            <a:spLocks noChangeArrowheads="1"/>
          </p:cNvSpPr>
          <p:nvPr/>
        </p:nvSpPr>
        <p:spPr bwMode="auto">
          <a:xfrm>
            <a:off x="936625" y="6303963"/>
            <a:ext cx="1409700" cy="153987"/>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78" name="Rectangle 42">
            <a:extLst>
              <a:ext uri="{FF2B5EF4-FFF2-40B4-BE49-F238E27FC236}">
                <a16:creationId xmlns:a16="http://schemas.microsoft.com/office/drawing/2014/main" id="{81260702-4570-7BC6-724F-458FB0D23B91}"/>
              </a:ext>
            </a:extLst>
          </p:cNvPr>
          <p:cNvSpPr>
            <a:spLocks noChangeArrowheads="1"/>
          </p:cNvSpPr>
          <p:nvPr/>
        </p:nvSpPr>
        <p:spPr bwMode="auto">
          <a:xfrm>
            <a:off x="798513" y="6484938"/>
            <a:ext cx="5648325" cy="72072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51969" name="AutoShape 33">
            <a:extLst>
              <a:ext uri="{FF2B5EF4-FFF2-40B4-BE49-F238E27FC236}">
                <a16:creationId xmlns:a16="http://schemas.microsoft.com/office/drawing/2014/main" id="{B5DC050C-3BE0-37FA-ADC6-50D31210D35A}"/>
              </a:ext>
            </a:extLst>
          </p:cNvPr>
          <p:cNvSpPr>
            <a:spLocks noChangeArrowheads="1"/>
          </p:cNvSpPr>
          <p:nvPr/>
        </p:nvSpPr>
        <p:spPr bwMode="auto">
          <a:xfrm>
            <a:off x="2697163" y="6872288"/>
            <a:ext cx="3802062" cy="660400"/>
          </a:xfrm>
          <a:prstGeom prst="wedgeRoundRectCallout">
            <a:avLst>
              <a:gd name="adj1" fmla="val -57852"/>
              <a:gd name="adj2" fmla="val 3629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Trường hợp không có chỉ định giá trị truyền vào main method</a:t>
            </a:r>
            <a:r>
              <a:rPr lang="en-US" altLang="ja-JP">
                <a:ea typeface="MS UI Gothic" panose="020B0600070205080204" pitchFamily="50" charset="-128"/>
              </a:rPr>
              <a:t> </a:t>
            </a:r>
            <a:r>
              <a:rPr lang="en-US" altLang="ja-JP" sz="900" b="0">
                <a:ea typeface="MS UI Gothic" panose="020B0600070205080204" pitchFamily="50" charset="-128"/>
              </a:rPr>
              <a:t>khi thực hiện, thì sẽ phát sinh ArrayIndexOutOfBoundsException khi thực hiện main method </a:t>
            </a:r>
            <a:r>
              <a:rPr lang="en-US" altLang="ja-JP" b="0">
                <a:ea typeface="MS UI Gothic" panose="020B0600070205080204" pitchFamily="50" charset="-128"/>
              </a:rPr>
              <a:t>(Exception01.java:3)</a:t>
            </a:r>
            <a:r>
              <a:rPr lang="en-US" altLang="ja-JP">
                <a:ea typeface="MS UI Gothic" panose="020B0600070205080204" pitchFamily="50" charset="-128"/>
              </a:rPr>
              <a:t> </a:t>
            </a:r>
            <a:r>
              <a:rPr lang="en-US" altLang="ja-JP" sz="900" b="0">
                <a:ea typeface="MS UI Gothic" panose="020B0600070205080204" pitchFamily="50" charset="-128"/>
              </a:rPr>
              <a:t>của</a:t>
            </a:r>
          </a:p>
          <a:p>
            <a:pPr algn="ctr"/>
            <a:r>
              <a:rPr lang="en-US" altLang="ja-JP" sz="900" b="0">
                <a:ea typeface="MS UI Gothic" panose="020B0600070205080204" pitchFamily="50" charset="-128"/>
              </a:rPr>
              <a:t>Exception01 </a:t>
            </a:r>
            <a:r>
              <a:rPr lang="en-US" altLang="ja-JP" b="0">
                <a:ea typeface="MS UI Gothic" panose="020B0600070205080204" pitchFamily="50" charset="-128"/>
              </a:rPr>
              <a:t>class</a:t>
            </a:r>
          </a:p>
        </p:txBody>
      </p:sp>
      <p:sp>
        <p:nvSpPr>
          <p:cNvPr id="551979" name="AutoShape 43">
            <a:extLst>
              <a:ext uri="{FF2B5EF4-FFF2-40B4-BE49-F238E27FC236}">
                <a16:creationId xmlns:a16="http://schemas.microsoft.com/office/drawing/2014/main" id="{A93945C1-2A82-B609-D3D1-C9417C0A6DAF}"/>
              </a:ext>
            </a:extLst>
          </p:cNvPr>
          <p:cNvSpPr>
            <a:spLocks noChangeArrowheads="1"/>
          </p:cNvSpPr>
          <p:nvPr/>
        </p:nvSpPr>
        <p:spPr bwMode="auto">
          <a:xfrm>
            <a:off x="2684463" y="6319838"/>
            <a:ext cx="2449512" cy="287337"/>
          </a:xfrm>
          <a:prstGeom prst="wedgeRoundRectCallout">
            <a:avLst>
              <a:gd name="adj1" fmla="val -62444"/>
              <a:gd name="adj2" fmla="val -3287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Ví dụ không phát sinh error khi thực hiện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5572E6D6-8723-360F-3485-53EBF6905E56}"/>
              </a:ext>
            </a:extLst>
          </p:cNvPr>
          <p:cNvSpPr>
            <a:spLocks noRot="1" noChangeAspect="1" noChangeArrowheads="1" noTextEdit="1"/>
          </p:cNvSpPr>
          <p:nvPr>
            <p:ph type="sldImg"/>
          </p:nvPr>
        </p:nvSpPr>
        <p:spPr>
          <a:ln/>
        </p:spPr>
      </p:sp>
      <p:sp>
        <p:nvSpPr>
          <p:cNvPr id="553987" name="Rectangle 3">
            <a:extLst>
              <a:ext uri="{FF2B5EF4-FFF2-40B4-BE49-F238E27FC236}">
                <a16:creationId xmlns:a16="http://schemas.microsoft.com/office/drawing/2014/main" id="{20FB9F60-ACA6-29D0-A7C3-D7E81802837B}"/>
              </a:ext>
            </a:extLst>
          </p:cNvPr>
          <p:cNvSpPr>
            <a:spLocks noGrp="1" noChangeArrowheads="1"/>
          </p:cNvSpPr>
          <p:nvPr>
            <p:ph type="body" idx="1"/>
          </p:nvPr>
        </p:nvSpPr>
        <p:spPr/>
        <p:txBody>
          <a:bodyPr/>
          <a:lstStyle/>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F1438CDA-2949-302F-E336-E31F7DCBD75F}"/>
              </a:ext>
            </a:extLst>
          </p:cNvPr>
          <p:cNvSpPr>
            <a:spLocks noRot="1" noChangeAspect="1" noChangeArrowheads="1" noTextEdit="1"/>
          </p:cNvSpPr>
          <p:nvPr>
            <p:ph type="sldImg"/>
          </p:nvPr>
        </p:nvSpPr>
        <p:spPr>
          <a:xfrm>
            <a:off x="530225" y="835025"/>
            <a:ext cx="6024563" cy="4170363"/>
          </a:xfrm>
          <a:ln/>
        </p:spPr>
      </p:sp>
      <p:sp>
        <p:nvSpPr>
          <p:cNvPr id="560131" name="Rectangle 3">
            <a:extLst>
              <a:ext uri="{FF2B5EF4-FFF2-40B4-BE49-F238E27FC236}">
                <a16:creationId xmlns:a16="http://schemas.microsoft.com/office/drawing/2014/main" id="{70263AEC-ED72-1F1A-826D-0B8849E3DA0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Get thông tin exception</a:t>
            </a:r>
          </a:p>
          <a:p>
            <a:pPr marL="0" indent="0"/>
            <a:r>
              <a:rPr lang="ja-JP" altLang="en-US">
                <a:latin typeface="Arial" panose="020B0604020202020204" pitchFamily="34" charset="0"/>
              </a:rPr>
              <a:t>　</a:t>
            </a:r>
            <a:r>
              <a:rPr lang="en-US" altLang="ja-JP">
                <a:latin typeface="Arial" panose="020B0604020202020204" pitchFamily="34" charset="0"/>
              </a:rPr>
              <a:t>Nếu error phát sinh khi thực hiện, thì object có thông tin error sẽ được tạo ra.</a:t>
            </a:r>
          </a:p>
          <a:p>
            <a:pPr marL="0" indent="0"/>
            <a:r>
              <a:rPr lang="ja-JP" altLang="en-US">
                <a:latin typeface="Arial" panose="020B0604020202020204" pitchFamily="34" charset="0"/>
              </a:rPr>
              <a:t>　</a:t>
            </a:r>
            <a:r>
              <a:rPr lang="en-US" altLang="ja-JP">
                <a:latin typeface="Arial" panose="020B0604020202020204" pitchFamily="34" charset="0"/>
              </a:rPr>
              <a:t>Method chủ yếu để get thông tin error như sau.</a:t>
            </a:r>
          </a:p>
          <a:p>
            <a:pPr marL="0" indent="0"/>
            <a:r>
              <a:rPr lang="ja-JP" altLang="en-US">
                <a:latin typeface="Arial" panose="020B0604020202020204" pitchFamily="34" charset="0"/>
              </a:rPr>
              <a:t>　</a:t>
            </a:r>
            <a:r>
              <a:rPr lang="en-US" altLang="ja-JP">
                <a:latin typeface="Arial" panose="020B0604020202020204" pitchFamily="34" charset="0"/>
              </a:rPr>
              <a:t>Method getMessage, method printStackTrace đều là method mà Throwable class có, nên có thể sử dụng chung trong object của class của toàn bộ error.</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Method chính</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Ngoài ra, có rất nhiều method khác. Chi tiết hãy cùng xác nhận ở tài liệu API đi kèm JavaSE.</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Nếu sử dụng method printStackTrace, thì có thể output thông tin giống với thông tin được output trong trường hợp đã không catch error. Chủ yếu là sử dụng trong trường hợp muốn get thông tin chi tiết khi phát triển.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dụ thực hiện </a:t>
            </a:r>
            <a:r>
              <a:rPr lang="ja-JP" altLang="en-US">
                <a:latin typeface="Arial" panose="020B0604020202020204" pitchFamily="34" charset="0"/>
              </a:rPr>
              <a:t>（</a:t>
            </a:r>
            <a:r>
              <a:rPr lang="en-US" altLang="ja-JP">
                <a:latin typeface="Arial" panose="020B0604020202020204" pitchFamily="34" charset="0"/>
              </a:rPr>
              <a:t>Nếu định chia giá trị số nguyên cho 0 thì sẽ phát sinh ArithmeticException</a:t>
            </a:r>
            <a:r>
              <a:rPr lang="ja-JP" altLang="en-US">
                <a:latin typeface="Arial" panose="020B0604020202020204" pitchFamily="34" charset="0"/>
              </a:rPr>
              <a:t>）</a:t>
            </a:r>
          </a:p>
        </p:txBody>
      </p:sp>
      <p:graphicFrame>
        <p:nvGraphicFramePr>
          <p:cNvPr id="560171" name="Group 43">
            <a:extLst>
              <a:ext uri="{FF2B5EF4-FFF2-40B4-BE49-F238E27FC236}">
                <a16:creationId xmlns:a16="http://schemas.microsoft.com/office/drawing/2014/main" id="{30050FA9-BFCB-AE14-0D1D-311026C3F265}"/>
              </a:ext>
            </a:extLst>
          </p:cNvPr>
          <p:cNvGraphicFramePr>
            <a:graphicFrameLocks noGrp="1"/>
          </p:cNvGraphicFramePr>
          <p:nvPr/>
        </p:nvGraphicFramePr>
        <p:xfrm>
          <a:off x="638175" y="6365875"/>
          <a:ext cx="5808663" cy="800101"/>
        </p:xfrm>
        <a:graphic>
          <a:graphicData uri="http://schemas.openxmlformats.org/drawingml/2006/table">
            <a:tbl>
              <a:tblPr/>
              <a:tblGrid>
                <a:gridCol w="1817688">
                  <a:extLst>
                    <a:ext uri="{9D8B030D-6E8A-4147-A177-3AD203B41FA5}">
                      <a16:colId xmlns:a16="http://schemas.microsoft.com/office/drawing/2014/main" val="330388223"/>
                    </a:ext>
                  </a:extLst>
                </a:gridCol>
                <a:gridCol w="3990975">
                  <a:extLst>
                    <a:ext uri="{9D8B030D-6E8A-4147-A177-3AD203B41FA5}">
                      <a16:colId xmlns:a16="http://schemas.microsoft.com/office/drawing/2014/main" val="559023548"/>
                    </a:ext>
                  </a:extLst>
                </a:gridCol>
              </a:tblGrid>
              <a:tr h="2492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Giải thích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147600903"/>
                  </a:ext>
                </a:extLst>
              </a:tr>
              <a:tr h="2873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 getMessage()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Get thông tin string liên quan đến error</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6409683"/>
                  </a:ext>
                </a:extLst>
              </a:tr>
              <a:tr h="2635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void printStackTrace()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9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Output thông tin liên quan đến nguyên nhân error và nơi phát sinh error</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351385"/>
                  </a:ext>
                </a:extLst>
              </a:tr>
            </a:tbl>
          </a:graphicData>
        </a:graphic>
      </p:graphicFrame>
      <p:sp>
        <p:nvSpPr>
          <p:cNvPr id="560162" name="Text Box 34">
            <a:extLst>
              <a:ext uri="{FF2B5EF4-FFF2-40B4-BE49-F238E27FC236}">
                <a16:creationId xmlns:a16="http://schemas.microsoft.com/office/drawing/2014/main" id="{DBE3B967-9AC2-77FF-0EAD-5B702BB696CF}"/>
              </a:ext>
            </a:extLst>
          </p:cNvPr>
          <p:cNvSpPr txBox="1">
            <a:spLocks noChangeArrowheads="1"/>
          </p:cNvSpPr>
          <p:nvPr/>
        </p:nvSpPr>
        <p:spPr bwMode="auto">
          <a:xfrm>
            <a:off x="660400" y="8377238"/>
            <a:ext cx="5810250" cy="11557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&gt; java Exception03 5 0</a:t>
            </a:r>
          </a:p>
          <a:p>
            <a:pPr lvl="1" algn="just"/>
            <a:r>
              <a:rPr lang="ja-JP" altLang="ja-JP" b="0">
                <a:ea typeface="ＭＳ ゴシック" panose="020B0609070205080204" pitchFamily="49" charset="-128"/>
              </a:rPr>
              <a:t>+:5</a:t>
            </a:r>
          </a:p>
          <a:p>
            <a:pPr lvl="1" algn="just"/>
            <a:r>
              <a:rPr lang="ja-JP" altLang="ja-JP" b="0">
                <a:ea typeface="ＭＳ ゴシック" panose="020B0609070205080204" pitchFamily="49" charset="-128"/>
              </a:rPr>
              <a:t>-:5</a:t>
            </a:r>
          </a:p>
          <a:p>
            <a:pPr lvl="1" algn="just"/>
            <a:r>
              <a:rPr lang="ja-JP" altLang="ja-JP" b="0">
                <a:ea typeface="ＭＳ ゴシック" panose="020B0609070205080204" pitchFamily="49" charset="-128"/>
              </a:rPr>
              <a:t>*:0</a:t>
            </a:r>
          </a:p>
          <a:p>
            <a:pPr lvl="1" algn="just"/>
            <a:r>
              <a:rPr lang="ja-JP" altLang="ja-JP" b="0">
                <a:ea typeface="ＭＳ ゴシック" panose="020B0609070205080204" pitchFamily="49" charset="-128"/>
              </a:rPr>
              <a:t>java.lang.ArithmeticException: / by zero</a:t>
            </a:r>
          </a:p>
          <a:p>
            <a:pPr lvl="1" algn="just"/>
            <a:r>
              <a:rPr lang="ja-JP" altLang="ja-JP" b="0">
                <a:ea typeface="ＭＳ ゴシック" panose="020B0609070205080204" pitchFamily="49" charset="-128"/>
              </a:rPr>
              <a:t>        at Exception03.main(Exception03.java:10)</a:t>
            </a:r>
          </a:p>
        </p:txBody>
      </p:sp>
      <p:sp>
        <p:nvSpPr>
          <p:cNvPr id="560163" name="Rectangle 35">
            <a:extLst>
              <a:ext uri="{FF2B5EF4-FFF2-40B4-BE49-F238E27FC236}">
                <a16:creationId xmlns:a16="http://schemas.microsoft.com/office/drawing/2014/main" id="{E9A09CC1-72DC-D8E6-71D3-AB00CCFEE6AF}"/>
              </a:ext>
            </a:extLst>
          </p:cNvPr>
          <p:cNvSpPr>
            <a:spLocks noChangeArrowheads="1"/>
          </p:cNvSpPr>
          <p:nvPr/>
        </p:nvSpPr>
        <p:spPr bwMode="auto">
          <a:xfrm>
            <a:off x="766763" y="9004300"/>
            <a:ext cx="3538537" cy="31115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sz="1100" b="0">
              <a:latin typeface="ＭＳ Ｐゴシック" panose="020B0600070205080204" pitchFamily="50" charset="-128"/>
            </a:endParaRPr>
          </a:p>
        </p:txBody>
      </p:sp>
      <p:sp>
        <p:nvSpPr>
          <p:cNvPr id="560164" name="AutoShape 36">
            <a:extLst>
              <a:ext uri="{FF2B5EF4-FFF2-40B4-BE49-F238E27FC236}">
                <a16:creationId xmlns:a16="http://schemas.microsoft.com/office/drawing/2014/main" id="{A6D94E7D-3205-64BE-CA69-4BA9C6F4F4C2}"/>
              </a:ext>
            </a:extLst>
          </p:cNvPr>
          <p:cNvSpPr>
            <a:spLocks noChangeArrowheads="1"/>
          </p:cNvSpPr>
          <p:nvPr/>
        </p:nvSpPr>
        <p:spPr bwMode="auto">
          <a:xfrm>
            <a:off x="2454275" y="8451850"/>
            <a:ext cx="2352675" cy="430213"/>
          </a:xfrm>
          <a:prstGeom prst="wedgeRoundRectCallout">
            <a:avLst>
              <a:gd name="adj1" fmla="val -24088"/>
              <a:gd name="adj2" fmla="val 103875"/>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Nội dung output của ex.printStackTrace();</a:t>
            </a:r>
            <a:r>
              <a:rPr lang="ja-JP" altLang="en-US" b="0">
                <a:ea typeface="MS UI Gothic" panose="020B0600070205080204" pitchFamily="50" charset="-128"/>
              </a:rPr>
              <a:t>　</a:t>
            </a:r>
          </a:p>
        </p:txBody>
      </p:sp>
      <p:sp>
        <p:nvSpPr>
          <p:cNvPr id="560165" name="AutoShape 37">
            <a:extLst>
              <a:ext uri="{FF2B5EF4-FFF2-40B4-BE49-F238E27FC236}">
                <a16:creationId xmlns:a16="http://schemas.microsoft.com/office/drawing/2014/main" id="{48C24A09-D0A3-80DA-2173-ECE7C0FB4E09}"/>
              </a:ext>
            </a:extLst>
          </p:cNvPr>
          <p:cNvSpPr>
            <a:spLocks noChangeArrowheads="1"/>
          </p:cNvSpPr>
          <p:nvPr/>
        </p:nvSpPr>
        <p:spPr bwMode="auto">
          <a:xfrm>
            <a:off x="1773238" y="9564688"/>
            <a:ext cx="4157662" cy="430212"/>
          </a:xfrm>
          <a:prstGeom prst="wedgeRoundRectCallout">
            <a:avLst>
              <a:gd name="adj1" fmla="val -12431"/>
              <a:gd name="adj2" fmla="val -137500"/>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【Tham khảo】</a:t>
            </a:r>
            <a:r>
              <a:rPr lang="ja-JP" altLang="en-US" b="0">
                <a:ea typeface="MS UI Gothic" panose="020B0600070205080204" pitchFamily="50" charset="-128"/>
              </a:rPr>
              <a:t>　</a:t>
            </a:r>
            <a:r>
              <a:rPr lang="en-US" altLang="ja-JP" b="0">
                <a:ea typeface="MS UI Gothic" panose="020B0600070205080204" pitchFamily="50" charset="-128"/>
              </a:rPr>
              <a:t>Trong ví dụ này, giá trị trả về của </a:t>
            </a:r>
            <a:r>
              <a:rPr lang="ja-JP" altLang="en-US" b="0">
                <a:ea typeface="MS UI Gothic" panose="020B0600070205080204" pitchFamily="50" charset="-128"/>
              </a:rPr>
              <a:t>、「</a:t>
            </a:r>
            <a:r>
              <a:rPr lang="en-US" altLang="ja-JP" b="0">
                <a:ea typeface="MS UI Gothic" panose="020B0600070205080204" pitchFamily="50" charset="-128"/>
              </a:rPr>
              <a:t>ex.getMessage()</a:t>
            </a:r>
            <a:r>
              <a:rPr lang="ja-JP" altLang="en-US" b="0">
                <a:ea typeface="MS UI Gothic" panose="020B0600070205080204" pitchFamily="50" charset="-128"/>
              </a:rPr>
              <a:t>」 </a:t>
            </a:r>
            <a:r>
              <a:rPr lang="en-US" altLang="ja-JP" b="0">
                <a:ea typeface="MS UI Gothic" panose="020B0600070205080204" pitchFamily="50" charset="-128"/>
              </a:rPr>
              <a:t>là </a:t>
            </a:r>
            <a:r>
              <a:rPr lang="ja-JP" altLang="en-US" b="0">
                <a:ea typeface="MS UI Gothic" panose="020B0600070205080204" pitchFamily="50" charset="-128"/>
              </a:rPr>
              <a:t>　「</a:t>
            </a:r>
            <a:r>
              <a:rPr lang="en-US" altLang="en-US" b="0">
                <a:ea typeface="MS UI Gothic" panose="020B0600070205080204" pitchFamily="50" charset="-128"/>
              </a:rPr>
              <a:t>/ by zero</a:t>
            </a:r>
            <a:r>
              <a:rPr lang="ja-JP" altLang="en-US" b="0">
                <a:ea typeface="MS UI Gothic" panose="020B0600070205080204" pitchFamily="50" charset="-128"/>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CEC2D1C6-CEA8-6337-4AD7-593A5458BAA2}"/>
              </a:ext>
            </a:extLst>
          </p:cNvPr>
          <p:cNvSpPr>
            <a:spLocks noRot="1" noChangeAspect="1" noChangeArrowheads="1" noTextEdit="1"/>
          </p:cNvSpPr>
          <p:nvPr>
            <p:ph type="sldImg"/>
          </p:nvPr>
        </p:nvSpPr>
        <p:spPr>
          <a:xfrm>
            <a:off x="530225" y="835025"/>
            <a:ext cx="6024563" cy="4170363"/>
          </a:xfrm>
          <a:ln/>
        </p:spPr>
      </p:sp>
      <p:sp>
        <p:nvSpPr>
          <p:cNvPr id="562179" name="Rectangle 3">
            <a:extLst>
              <a:ext uri="{FF2B5EF4-FFF2-40B4-BE49-F238E27FC236}">
                <a16:creationId xmlns:a16="http://schemas.microsoft.com/office/drawing/2014/main" id="{94795A97-A80A-A646-ADDC-15AD571A123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Mệnh đề finally</a:t>
            </a:r>
          </a:p>
          <a:p>
            <a:pPr marL="0" indent="0"/>
            <a:r>
              <a:rPr lang="ja-JP" altLang="en-US">
                <a:latin typeface="Arial" panose="020B0604020202020204" pitchFamily="34" charset="0"/>
              </a:rPr>
              <a:t>　</a:t>
            </a:r>
            <a:r>
              <a:rPr lang="en-US" altLang="ja-JP">
                <a:latin typeface="Arial" panose="020B0604020202020204" pitchFamily="34" charset="0"/>
              </a:rPr>
              <a:t>Khi đã định nghĩa mệnh đề finally thì nhất định được thực hiện mà không cần biết có error hay không.</a:t>
            </a:r>
          </a:p>
          <a:p>
            <a:pPr marL="0" indent="0"/>
            <a:r>
              <a:rPr lang="ja-JP" altLang="en-US">
                <a:latin typeface="Arial" panose="020B0604020202020204" pitchFamily="34" charset="0"/>
              </a:rPr>
              <a:t>　</a:t>
            </a:r>
            <a:r>
              <a:rPr lang="en-US" altLang="ja-JP">
                <a:latin typeface="Arial" panose="020B0604020202020204" pitchFamily="34" charset="0"/>
              </a:rPr>
              <a:t>Sử dụng cho trường hợp có hậu xử lý muốn thực hiện không cần biết có error hay không, chẳng hạn như giải phóng resource của trường hợp sử dụng external resource (file, database…).</a:t>
            </a:r>
          </a:p>
          <a:p>
            <a:pPr marL="0" indent="0"/>
            <a:endParaRPr lang="en-US" altLang="ja-JP">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6131-0CB9-B15B-2E13-D972D1199F71}"/>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E8F11330-71A7-BE04-6991-73F253B317A0}"/>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C98A8255-4BCA-F703-FBB8-635B7EA02136}"/>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A320CF88-318D-8F3A-108C-9BC26BB59C51}"/>
              </a:ext>
            </a:extLst>
          </p:cNvPr>
          <p:cNvSpPr>
            <a:spLocks noGrp="1"/>
          </p:cNvSpPr>
          <p:nvPr>
            <p:ph type="sldNum" sz="quarter" idx="10"/>
          </p:nvPr>
        </p:nvSpPr>
        <p:spPr>
          <a:xfrm>
            <a:off x="7616825" y="6381750"/>
            <a:ext cx="2133600" cy="476250"/>
          </a:xfrm>
        </p:spPr>
        <p:txBody>
          <a:bodyPr/>
          <a:lstStyle>
            <a:lvl1pPr>
              <a:defRPr/>
            </a:lvl1pPr>
          </a:lstStyle>
          <a:p>
            <a:fld id="{53640362-FCFA-41F9-9599-C0ADCE56E5C9}" type="slidenum">
              <a:rPr lang="en-US" altLang="ja-JP"/>
              <a:pPr/>
              <a:t>‹#›</a:t>
            </a:fld>
            <a:endParaRPr lang="en-US" altLang="ja-JP"/>
          </a:p>
        </p:txBody>
      </p:sp>
    </p:spTree>
    <p:extLst>
      <p:ext uri="{BB962C8B-B14F-4D97-AF65-F5344CB8AC3E}">
        <p14:creationId xmlns:p14="http://schemas.microsoft.com/office/powerpoint/2010/main" val="269081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BF1B-CFFB-8B2A-4E04-FC3B53529C8B}"/>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able Placeholder 2">
            <a:extLst>
              <a:ext uri="{FF2B5EF4-FFF2-40B4-BE49-F238E27FC236}">
                <a16:creationId xmlns:a16="http://schemas.microsoft.com/office/drawing/2014/main" id="{EFC3CB87-E422-3C1C-C4FD-210C01169F73}"/>
              </a:ext>
            </a:extLst>
          </p:cNvPr>
          <p:cNvSpPr>
            <a:spLocks noGrp="1"/>
          </p:cNvSpPr>
          <p:nvPr>
            <p:ph type="tbl" idx="1"/>
          </p:nvPr>
        </p:nvSpPr>
        <p:spPr>
          <a:xfrm>
            <a:off x="344488" y="796925"/>
            <a:ext cx="9217025" cy="5903913"/>
          </a:xfrm>
        </p:spPr>
        <p:txBody>
          <a:bodyPr/>
          <a:lstStyle/>
          <a:p>
            <a:endParaRPr lang="ja-JP" altLang="en-US"/>
          </a:p>
        </p:txBody>
      </p:sp>
      <p:sp>
        <p:nvSpPr>
          <p:cNvPr id="4" name="Slide Number Placeholder 3">
            <a:extLst>
              <a:ext uri="{FF2B5EF4-FFF2-40B4-BE49-F238E27FC236}">
                <a16:creationId xmlns:a16="http://schemas.microsoft.com/office/drawing/2014/main" id="{6FEBE81F-ABD3-99DF-0F57-3EC841B2BCAE}"/>
              </a:ext>
            </a:extLst>
          </p:cNvPr>
          <p:cNvSpPr>
            <a:spLocks noGrp="1"/>
          </p:cNvSpPr>
          <p:nvPr>
            <p:ph type="sldNum" sz="quarter" idx="10"/>
          </p:nvPr>
        </p:nvSpPr>
        <p:spPr>
          <a:xfrm>
            <a:off x="7616825" y="6381750"/>
            <a:ext cx="2133600" cy="476250"/>
          </a:xfrm>
        </p:spPr>
        <p:txBody>
          <a:bodyPr/>
          <a:lstStyle>
            <a:lvl1pPr>
              <a:defRPr/>
            </a:lvl1pPr>
          </a:lstStyle>
          <a:p>
            <a:fld id="{0DD3A95A-084E-47EB-9737-B869A45CE026}" type="slidenum">
              <a:rPr lang="en-US" altLang="ja-JP"/>
              <a:pPr/>
              <a:t>‹#›</a:t>
            </a:fld>
            <a:endParaRPr lang="en-US" altLang="ja-JP"/>
          </a:p>
        </p:txBody>
      </p:sp>
    </p:spTree>
    <p:extLst>
      <p:ext uri="{BB962C8B-B14F-4D97-AF65-F5344CB8AC3E}">
        <p14:creationId xmlns:p14="http://schemas.microsoft.com/office/powerpoint/2010/main" val="1213385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2026/8/28</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 id="2147483805" r:id="rId8"/>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2026/8/28</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ja-JP" altLang="ja-JP" dirty="0">
                <a:latin typeface="+mj-lt"/>
              </a:rPr>
              <a:t>Java</a:t>
            </a:r>
            <a:r>
              <a:rPr lang="en-US" altLang="ja-JP" dirty="0">
                <a:latin typeface="+mj-lt"/>
              </a:rPr>
              <a:t> Training</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a:extLst>
              <a:ext uri="{FF2B5EF4-FFF2-40B4-BE49-F238E27FC236}">
                <a16:creationId xmlns:a16="http://schemas.microsoft.com/office/drawing/2014/main" id="{9FE8281E-9816-A08B-42AA-E36F8E4BF12C}"/>
              </a:ext>
            </a:extLst>
          </p:cNvPr>
          <p:cNvSpPr txBox="1">
            <a:spLocks noChangeArrowheads="1"/>
          </p:cNvSpPr>
          <p:nvPr/>
        </p:nvSpPr>
        <p:spPr bwMode="auto">
          <a:xfrm>
            <a:off x="1604963" y="2336800"/>
            <a:ext cx="6811962" cy="60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3200" b="0" dirty="0" err="1">
                <a:ea typeface="ヒラギノ明朝 Pro W6" pitchFamily="18" charset="-128"/>
              </a:rPr>
              <a:t>Sử</a:t>
            </a:r>
            <a:r>
              <a:rPr lang="en-US" altLang="ja-JP" sz="3200" b="0" dirty="0">
                <a:ea typeface="ヒラギノ明朝 Pro W6" pitchFamily="18" charset="-128"/>
              </a:rPr>
              <a:t> </a:t>
            </a:r>
            <a:r>
              <a:rPr lang="en-US" altLang="ja-JP" sz="3200" b="0" dirty="0" err="1">
                <a:ea typeface="ヒラギノ明朝 Pro W6" pitchFamily="18" charset="-128"/>
              </a:rPr>
              <a:t>dụng</a:t>
            </a:r>
            <a:r>
              <a:rPr lang="en-US" altLang="ja-JP" sz="3200" b="0" dirty="0">
                <a:ea typeface="ヒラギノ明朝 Pro W6" pitchFamily="18" charset="-128"/>
              </a:rPr>
              <a:t> class library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8F7E215-798C-4C1A-EC32-32A82F96A1C8}"/>
              </a:ext>
            </a:extLst>
          </p:cNvPr>
          <p:cNvSpPr>
            <a:spLocks noGrp="1"/>
          </p:cNvSpPr>
          <p:nvPr>
            <p:ph type="sldNum" sz="quarter" idx="10"/>
          </p:nvPr>
        </p:nvSpPr>
        <p:spPr/>
        <p:txBody>
          <a:bodyPr/>
          <a:lstStyle/>
          <a:p>
            <a:fld id="{DF605632-B75F-482A-A3A3-977519169C8C}" type="slidenum">
              <a:rPr lang="en-US" altLang="ja-JP"/>
              <a:pPr/>
              <a:t>3</a:t>
            </a:fld>
            <a:endParaRPr lang="en-US" altLang="ja-JP"/>
          </a:p>
        </p:txBody>
      </p:sp>
      <p:sp>
        <p:nvSpPr>
          <p:cNvPr id="546818" name="Rectangle 2">
            <a:extLst>
              <a:ext uri="{FF2B5EF4-FFF2-40B4-BE49-F238E27FC236}">
                <a16:creationId xmlns:a16="http://schemas.microsoft.com/office/drawing/2014/main" id="{E55C32FA-B031-EB0D-FCA7-BDCB1967958D}"/>
              </a:ext>
            </a:extLst>
          </p:cNvPr>
          <p:cNvSpPr>
            <a:spLocks noGrp="1" noChangeArrowheads="1"/>
          </p:cNvSpPr>
          <p:nvPr>
            <p:ph type="title"/>
          </p:nvPr>
        </p:nvSpPr>
        <p:spPr>
          <a:xfrm>
            <a:off x="344488" y="56642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Package </a:t>
            </a:r>
            <a:r>
              <a:rPr lang="en-US" altLang="ja-JP" dirty="0" err="1">
                <a:latin typeface="Arial" panose="020B0604020202020204" pitchFamily="34" charset="0"/>
                <a:ea typeface="MS UI Gothic" panose="020B0600070205080204" pitchFamily="50" charset="-128"/>
              </a:rPr>
              <a:t>cơ</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bản</a:t>
            </a:r>
            <a:endParaRPr lang="en-US" altLang="ja-JP" dirty="0">
              <a:latin typeface="Arial" panose="020B0604020202020204" pitchFamily="34" charset="0"/>
              <a:ea typeface="MS UI Gothic" panose="020B0600070205080204" pitchFamily="50" charset="-128"/>
            </a:endParaRPr>
          </a:p>
        </p:txBody>
      </p:sp>
      <p:sp>
        <p:nvSpPr>
          <p:cNvPr id="546820" name="Rectangle 4">
            <a:extLst>
              <a:ext uri="{FF2B5EF4-FFF2-40B4-BE49-F238E27FC236}">
                <a16:creationId xmlns:a16="http://schemas.microsoft.com/office/drawing/2014/main" id="{C8180E83-FB70-A45B-9185-AF31FCFFB33C}"/>
              </a:ext>
            </a:extLst>
          </p:cNvPr>
          <p:cNvSpPr>
            <a:spLocks noChangeArrowheads="1"/>
          </p:cNvSpPr>
          <p:nvPr/>
        </p:nvSpPr>
        <p:spPr bwMode="auto">
          <a:xfrm>
            <a:off x="344488" y="264445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java.lang package</a:t>
            </a:r>
          </a:p>
          <a:p>
            <a:pPr lvl="1"/>
            <a:endParaRPr lang="en-US" altLang="ja-JP" sz="2400" b="0">
              <a:latin typeface="Arial" panose="020B0604020202020204" pitchFamily="34" charset="0"/>
            </a:endParaRPr>
          </a:p>
        </p:txBody>
      </p:sp>
      <p:sp>
        <p:nvSpPr>
          <p:cNvPr id="546890" name="Rectangle 74">
            <a:extLst>
              <a:ext uri="{FF2B5EF4-FFF2-40B4-BE49-F238E27FC236}">
                <a16:creationId xmlns:a16="http://schemas.microsoft.com/office/drawing/2014/main" id="{86C767E7-5EC7-EB0B-E226-A6AE288ADC05}"/>
              </a:ext>
            </a:extLst>
          </p:cNvPr>
          <p:cNvSpPr>
            <a:spLocks noChangeArrowheads="1"/>
          </p:cNvSpPr>
          <p:nvPr/>
        </p:nvSpPr>
        <p:spPr bwMode="auto">
          <a:xfrm>
            <a:off x="344488" y="123158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Library class</a:t>
            </a:r>
          </a:p>
          <a:p>
            <a:pPr lvl="1"/>
            <a:endParaRPr lang="en-US" altLang="ja-JP" sz="2400" b="0">
              <a:latin typeface="Arial" panose="020B0604020202020204" pitchFamily="34" charset="0"/>
            </a:endParaRPr>
          </a:p>
        </p:txBody>
      </p:sp>
      <p:sp>
        <p:nvSpPr>
          <p:cNvPr id="546891" name="Rectangle 75">
            <a:extLst>
              <a:ext uri="{FF2B5EF4-FFF2-40B4-BE49-F238E27FC236}">
                <a16:creationId xmlns:a16="http://schemas.microsoft.com/office/drawing/2014/main" id="{C41F142F-C109-07F4-8FE7-75992F3C9B39}"/>
              </a:ext>
            </a:extLst>
          </p:cNvPr>
          <p:cNvSpPr>
            <a:spLocks noChangeArrowheads="1"/>
          </p:cNvSpPr>
          <p:nvPr/>
        </p:nvSpPr>
        <p:spPr bwMode="auto">
          <a:xfrm>
            <a:off x="344488" y="1764982"/>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tập hợp các class bộ phận để tạo program</a:t>
            </a:r>
          </a:p>
        </p:txBody>
      </p:sp>
      <p:graphicFrame>
        <p:nvGraphicFramePr>
          <p:cNvPr id="546931" name="Group 115">
            <a:extLst>
              <a:ext uri="{FF2B5EF4-FFF2-40B4-BE49-F238E27FC236}">
                <a16:creationId xmlns:a16="http://schemas.microsoft.com/office/drawing/2014/main" id="{58FD9208-CB2D-CE9D-6F28-FE4B73B91CDA}"/>
              </a:ext>
            </a:extLst>
          </p:cNvPr>
          <p:cNvGraphicFramePr>
            <a:graphicFrameLocks noGrp="1"/>
          </p:cNvGraphicFramePr>
          <p:nvPr>
            <p:ph idx="1"/>
            <p:extLst>
              <p:ext uri="{D42A27DB-BD31-4B8C-83A1-F6EECF244321}">
                <p14:modId xmlns:p14="http://schemas.microsoft.com/office/powerpoint/2010/main" val="493386669"/>
              </p:ext>
            </p:extLst>
          </p:nvPr>
        </p:nvGraphicFramePr>
        <p:xfrm>
          <a:off x="344488" y="3279457"/>
          <a:ext cx="9120187" cy="2664143"/>
        </p:xfrm>
        <a:graphic>
          <a:graphicData uri="http://schemas.openxmlformats.org/drawingml/2006/table">
            <a:tbl>
              <a:tblPr/>
              <a:tblGrid>
                <a:gridCol w="1784350">
                  <a:extLst>
                    <a:ext uri="{9D8B030D-6E8A-4147-A177-3AD203B41FA5}">
                      <a16:colId xmlns:a16="http://schemas.microsoft.com/office/drawing/2014/main" val="1550050722"/>
                    </a:ext>
                  </a:extLst>
                </a:gridCol>
                <a:gridCol w="7335837">
                  <a:extLst>
                    <a:ext uri="{9D8B030D-6E8A-4147-A177-3AD203B41FA5}">
                      <a16:colId xmlns:a16="http://schemas.microsoft.com/office/drawing/2014/main" val="146768497"/>
                    </a:ext>
                  </a:extLst>
                </a:gridCol>
              </a:tblGrid>
              <a:tr h="44450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113191462"/>
                  </a:ext>
                </a:extLst>
              </a:tr>
              <a:tr h="3365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Object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Super class của tất cả các class. Định nghĩa chức năng chung mà object có.</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7499509"/>
                  </a:ext>
                </a:extLst>
              </a:tr>
              <a:tr h="415925">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String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để thao tác chuỗi ký tự.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8401916"/>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System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xử lý input output tiêu chuẩn.v.v…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5439621"/>
                  </a:ext>
                </a:extLst>
              </a:tr>
              <a:tr h="3746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Math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xử lý hàm số toán học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8296413"/>
                  </a:ext>
                </a:extLst>
              </a:tr>
              <a:tr h="4016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Integer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để thao tác data kiểu int như là một object.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487652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D755542D-E9F6-0443-254B-A1D1285957E2}"/>
              </a:ext>
            </a:extLst>
          </p:cNvPr>
          <p:cNvSpPr>
            <a:spLocks noGrp="1" noChangeArrowheads="1"/>
          </p:cNvSpPr>
          <p:nvPr>
            <p:ph type="title"/>
          </p:nvPr>
        </p:nvSpPr>
        <p:spPr>
          <a:xfrm>
            <a:off x="344488" y="646113"/>
            <a:ext cx="9217025" cy="490537"/>
          </a:xfrm>
        </p:spPr>
        <p:txBody>
          <a:bodyPr>
            <a:normAutofit fontScale="90000"/>
          </a:bodyPr>
          <a:lstStyle/>
          <a:p>
            <a:r>
              <a:rPr lang="ja-JP" altLang="en-US" dirty="0">
                <a:latin typeface="Arial" panose="020B0604020202020204" pitchFamily="34" charset="0"/>
                <a:ea typeface="MS UI Gothic" panose="020B0600070205080204" pitchFamily="50" charset="-128"/>
              </a:rPr>
              <a:t>Ｏｂｊｅｃｔ </a:t>
            </a:r>
            <a:r>
              <a:rPr lang="en-US" altLang="ja-JP" dirty="0">
                <a:latin typeface="Arial" panose="020B0604020202020204" pitchFamily="34" charset="0"/>
                <a:ea typeface="MS UI Gothic" panose="020B0600070205080204" pitchFamily="50" charset="-128"/>
              </a:rPr>
              <a:t>class</a:t>
            </a:r>
          </a:p>
        </p:txBody>
      </p:sp>
      <p:sp>
        <p:nvSpPr>
          <p:cNvPr id="575491" name="Rectangle 3">
            <a:extLst>
              <a:ext uri="{FF2B5EF4-FFF2-40B4-BE49-F238E27FC236}">
                <a16:creationId xmlns:a16="http://schemas.microsoft.com/office/drawing/2014/main" id="{7C67D5D4-F380-FC96-FC77-CA6A7EE2DDA0}"/>
              </a:ext>
            </a:extLst>
          </p:cNvPr>
          <p:cNvSpPr>
            <a:spLocks noChangeArrowheads="1"/>
          </p:cNvSpPr>
          <p:nvPr/>
        </p:nvSpPr>
        <p:spPr bwMode="auto">
          <a:xfrm>
            <a:off x="344488" y="27241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p>
        </p:txBody>
      </p:sp>
      <p:sp>
        <p:nvSpPr>
          <p:cNvPr id="575518" name="Rectangle 30">
            <a:extLst>
              <a:ext uri="{FF2B5EF4-FFF2-40B4-BE49-F238E27FC236}">
                <a16:creationId xmlns:a16="http://schemas.microsoft.com/office/drawing/2014/main" id="{33107C1C-2942-096E-83C3-9E6CCCE5A048}"/>
              </a:ext>
            </a:extLst>
          </p:cNvPr>
          <p:cNvSpPr>
            <a:spLocks noChangeArrowheads="1"/>
          </p:cNvSpPr>
          <p:nvPr/>
        </p:nvSpPr>
        <p:spPr bwMode="auto">
          <a:xfrm>
            <a:off x="344488" y="13112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Object class</a:t>
            </a:r>
          </a:p>
          <a:p>
            <a:pPr lvl="1"/>
            <a:endParaRPr lang="en-US" altLang="ja-JP" sz="2400" b="0" dirty="0">
              <a:latin typeface="Arial" panose="020B0604020202020204" pitchFamily="34" charset="0"/>
            </a:endParaRPr>
          </a:p>
        </p:txBody>
      </p:sp>
      <p:sp>
        <p:nvSpPr>
          <p:cNvPr id="575519" name="Rectangle 31">
            <a:extLst>
              <a:ext uri="{FF2B5EF4-FFF2-40B4-BE49-F238E27FC236}">
                <a16:creationId xmlns:a16="http://schemas.microsoft.com/office/drawing/2014/main" id="{DA306CB7-58E2-7DB9-6438-550B4025878A}"/>
              </a:ext>
            </a:extLst>
          </p:cNvPr>
          <p:cNvSpPr>
            <a:spLocks noChangeArrowheads="1"/>
          </p:cNvSpPr>
          <p:nvPr/>
        </p:nvSpPr>
        <p:spPr bwMode="auto">
          <a:xfrm>
            <a:off x="344488" y="1844675"/>
            <a:ext cx="9120187" cy="7508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dirty="0" err="1">
                <a:latin typeface="Arial" panose="020B0604020202020204" pitchFamily="34" charset="0"/>
              </a:rPr>
              <a:t>Là</a:t>
            </a:r>
            <a:r>
              <a:rPr lang="en-US" altLang="ja-JP" sz="2000" dirty="0">
                <a:latin typeface="Arial" panose="020B0604020202020204" pitchFamily="34" charset="0"/>
              </a:rPr>
              <a:t> super class </a:t>
            </a:r>
            <a:r>
              <a:rPr lang="en-US" altLang="ja-JP" sz="2000" dirty="0" err="1">
                <a:latin typeface="Arial" panose="020B0604020202020204" pitchFamily="34" charset="0"/>
              </a:rPr>
              <a:t>của</a:t>
            </a:r>
            <a:r>
              <a:rPr lang="en-US" altLang="ja-JP" sz="2000" dirty="0">
                <a:latin typeface="Arial" panose="020B0604020202020204" pitchFamily="34" charset="0"/>
              </a:rPr>
              <a:t> </a:t>
            </a:r>
            <a:r>
              <a:rPr lang="en-US" altLang="ja-JP" sz="2000" dirty="0" err="1">
                <a:latin typeface="Arial" panose="020B0604020202020204" pitchFamily="34" charset="0"/>
              </a:rPr>
              <a:t>tất</a:t>
            </a:r>
            <a:r>
              <a:rPr lang="en-US" altLang="ja-JP" sz="2000" dirty="0">
                <a:latin typeface="Arial" panose="020B0604020202020204" pitchFamily="34" charset="0"/>
              </a:rPr>
              <a:t> </a:t>
            </a:r>
            <a:r>
              <a:rPr lang="en-US" altLang="ja-JP" sz="2000" dirty="0" err="1">
                <a:latin typeface="Arial" panose="020B0604020202020204" pitchFamily="34" charset="0"/>
              </a:rPr>
              <a:t>cả</a:t>
            </a:r>
            <a:r>
              <a:rPr lang="en-US" altLang="ja-JP" sz="2000" dirty="0">
                <a:latin typeface="Arial" panose="020B0604020202020204" pitchFamily="34" charset="0"/>
              </a:rPr>
              <a:t> </a:t>
            </a:r>
            <a:r>
              <a:rPr lang="en-US" altLang="ja-JP" sz="2000" dirty="0" err="1">
                <a:latin typeface="Arial" panose="020B0604020202020204" pitchFamily="34" charset="0"/>
              </a:rPr>
              <a:t>các</a:t>
            </a:r>
            <a:r>
              <a:rPr lang="en-US" altLang="ja-JP" sz="2000" dirty="0">
                <a:latin typeface="Arial" panose="020B0604020202020204" pitchFamily="34" charset="0"/>
              </a:rPr>
              <a:t> class. Định </a:t>
            </a:r>
            <a:r>
              <a:rPr lang="en-US" altLang="ja-JP" sz="2000" dirty="0" err="1">
                <a:latin typeface="Arial" panose="020B0604020202020204" pitchFamily="34" charset="0"/>
              </a:rPr>
              <a:t>nghĩa</a:t>
            </a:r>
            <a:r>
              <a:rPr lang="en-US" altLang="ja-JP" sz="2000" dirty="0">
                <a:latin typeface="Arial" panose="020B0604020202020204" pitchFamily="34" charset="0"/>
              </a:rPr>
              <a:t> </a:t>
            </a:r>
            <a:r>
              <a:rPr lang="en-US" altLang="ja-JP" sz="2000" dirty="0" err="1">
                <a:latin typeface="Arial" panose="020B0604020202020204" pitchFamily="34" charset="0"/>
              </a:rPr>
              <a:t>chức</a:t>
            </a:r>
            <a:r>
              <a:rPr lang="en-US" altLang="ja-JP" sz="2000" dirty="0">
                <a:latin typeface="Arial" panose="020B0604020202020204" pitchFamily="34" charset="0"/>
              </a:rPr>
              <a:t> </a:t>
            </a:r>
            <a:r>
              <a:rPr lang="en-US" altLang="ja-JP" sz="2000" dirty="0" err="1">
                <a:latin typeface="Arial" panose="020B0604020202020204" pitchFamily="34" charset="0"/>
              </a:rPr>
              <a:t>năng</a:t>
            </a:r>
            <a:r>
              <a:rPr lang="en-US" altLang="ja-JP" sz="2000" dirty="0">
                <a:latin typeface="Arial" panose="020B0604020202020204" pitchFamily="34" charset="0"/>
              </a:rPr>
              <a:t> </a:t>
            </a:r>
            <a:r>
              <a:rPr lang="en-US" altLang="ja-JP" sz="2000" dirty="0" err="1">
                <a:latin typeface="Arial" panose="020B0604020202020204" pitchFamily="34" charset="0"/>
              </a:rPr>
              <a:t>chung</a:t>
            </a:r>
            <a:r>
              <a:rPr lang="en-US" altLang="ja-JP" sz="2000" dirty="0">
                <a:latin typeface="Arial" panose="020B0604020202020204" pitchFamily="34" charset="0"/>
              </a:rPr>
              <a:t> </a:t>
            </a:r>
            <a:r>
              <a:rPr lang="en-US" altLang="ja-JP" sz="2000" dirty="0" err="1">
                <a:latin typeface="Arial" panose="020B0604020202020204" pitchFamily="34" charset="0"/>
              </a:rPr>
              <a:t>của</a:t>
            </a:r>
            <a:r>
              <a:rPr lang="en-US" altLang="ja-JP" sz="2000" dirty="0">
                <a:latin typeface="Arial" panose="020B0604020202020204" pitchFamily="34" charset="0"/>
              </a:rPr>
              <a:t> object.</a:t>
            </a:r>
          </a:p>
        </p:txBody>
      </p:sp>
      <p:sp>
        <p:nvSpPr>
          <p:cNvPr id="575555" name="Rectangle 67">
            <a:extLst>
              <a:ext uri="{FF2B5EF4-FFF2-40B4-BE49-F238E27FC236}">
                <a16:creationId xmlns:a16="http://schemas.microsoft.com/office/drawing/2014/main" id="{39EEC793-F46F-B0C3-616B-C7F95A334269}"/>
              </a:ext>
            </a:extLst>
          </p:cNvPr>
          <p:cNvSpPr>
            <a:spLocks noChangeArrowheads="1"/>
          </p:cNvSpPr>
          <p:nvPr/>
        </p:nvSpPr>
        <p:spPr bwMode="auto">
          <a:xfrm>
            <a:off x="344488" y="3203575"/>
            <a:ext cx="9120187" cy="30448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dirty="0">
                <a:latin typeface="Arial" panose="020B0604020202020204" pitchFamily="34" charset="0"/>
                <a:ea typeface="ＭＳ ゴシック" panose="020B0609070205080204" pitchFamily="49" charset="-128"/>
              </a:rPr>
              <a:t>Object obj</a:t>
            </a:r>
            <a:r>
              <a:rPr lang="fr-FR" altLang="ja-JP" sz="1800" b="0" dirty="0">
                <a:latin typeface="Arial" panose="020B0604020202020204" pitchFamily="34" charset="0"/>
                <a:ea typeface="ＭＳ ゴシック" panose="020B0609070205080204" pitchFamily="49" charset="-128"/>
              </a:rPr>
              <a:t>1</a:t>
            </a:r>
            <a:r>
              <a:rPr lang="fr-FR" altLang="en-US" sz="1800" b="0" dirty="0">
                <a:latin typeface="Arial" panose="020B0604020202020204" pitchFamily="34" charset="0"/>
                <a:ea typeface="ＭＳ ゴシック" panose="020B0609070205080204" pitchFamily="49" charset="-128"/>
              </a:rPr>
              <a:t> = new Object();</a:t>
            </a:r>
            <a:endParaRPr lang="fr-FR" altLang="ja-JP" sz="1800" b="0" dirty="0">
              <a:latin typeface="Arial" panose="020B0604020202020204" pitchFamily="34" charset="0"/>
              <a:ea typeface="ＭＳ ゴシック" panose="020B0609070205080204" pitchFamily="49" charset="-128"/>
            </a:endParaRPr>
          </a:p>
          <a:p>
            <a:pPr lvl="1"/>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(obj1.toString());</a:t>
            </a:r>
          </a:p>
          <a:p>
            <a:pPr lvl="1"/>
            <a:r>
              <a:rPr lang="fr-FR" altLang="en-US" sz="1800" b="0" dirty="0">
                <a:latin typeface="Arial" panose="020B0604020202020204" pitchFamily="34" charset="0"/>
                <a:ea typeface="ＭＳ ゴシック" panose="020B0609070205080204" pitchFamily="49" charset="-128"/>
              </a:rPr>
              <a:t>Object obj</a:t>
            </a:r>
            <a:r>
              <a:rPr lang="fr-FR" altLang="ja-JP" sz="1800" b="0" dirty="0">
                <a:latin typeface="Arial" panose="020B0604020202020204" pitchFamily="34" charset="0"/>
                <a:ea typeface="ＭＳ ゴシック" panose="020B0609070205080204" pitchFamily="49" charset="-128"/>
              </a:rPr>
              <a:t>2</a:t>
            </a:r>
            <a:r>
              <a:rPr lang="en-US" altLang="fr-FR" sz="1800" b="0" dirty="0">
                <a:latin typeface="Arial" panose="020B0604020202020204" pitchFamily="34" charset="0"/>
                <a:ea typeface="ＭＳ ゴシック" panose="020B0609070205080204" pitchFamily="49" charset="-128"/>
              </a:rPr>
              <a:t> </a:t>
            </a:r>
            <a:r>
              <a:rPr lang="fr-FR" altLang="en-US" sz="1800" b="0" dirty="0">
                <a:latin typeface="Arial" panose="020B0604020202020204" pitchFamily="34" charset="0"/>
                <a:ea typeface="ＭＳ ゴシック" panose="020B0609070205080204" pitchFamily="49" charset="-128"/>
              </a:rPr>
              <a:t>= "Hello";</a:t>
            </a:r>
            <a:r>
              <a:rPr lang="fr-FR" altLang="ja-JP" sz="1800" b="0" dirty="0">
                <a:latin typeface="Arial" panose="020B0604020202020204" pitchFamily="34" charset="0"/>
                <a:ea typeface="ＭＳ ゴシック" panose="020B0609070205080204" pitchFamily="49" charset="-128"/>
              </a:rPr>
              <a:t>  // </a:t>
            </a:r>
            <a:r>
              <a:rPr lang="fr-FR" altLang="ja-JP" sz="1800" b="0" dirty="0" err="1">
                <a:latin typeface="Arial" panose="020B0604020202020204" pitchFamily="34" charset="0"/>
                <a:ea typeface="ＭＳ ゴシック" panose="020B0609070205080204" pitchFamily="49" charset="-128"/>
              </a:rPr>
              <a:t>Convert</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không</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tường</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minh</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rPr>
              <a:t>subclass</a:t>
            </a:r>
            <a:r>
              <a:rPr lang="fr-FR" altLang="ja-JP" sz="1800" b="0" dirty="0">
                <a:latin typeface="Arial" panose="020B0604020202020204" pitchFamily="34" charset="0"/>
                <a:ea typeface="ＭＳ ゴシック" panose="020B0609070205080204" pitchFamily="49" charset="-128"/>
              </a:rPr>
              <a:t>(String)</a:t>
            </a:r>
            <a:r>
              <a:rPr lang="ja-JP" altLang="fr-FR" sz="1800" b="0" dirty="0">
                <a:latin typeface="Arial" panose="020B0604020202020204" pitchFamily="34" charset="0"/>
              </a:rPr>
              <a:t>→</a:t>
            </a:r>
            <a:r>
              <a:rPr lang="fr-FR" altLang="ja-JP" sz="1800" b="0" dirty="0">
                <a:latin typeface="Arial" panose="020B0604020202020204" pitchFamily="34" charset="0"/>
              </a:rPr>
              <a:t>super class </a:t>
            </a:r>
            <a:r>
              <a:rPr lang="fr-FR" altLang="ja-JP" sz="1800" b="0" dirty="0">
                <a:latin typeface="Arial" panose="020B0604020202020204" pitchFamily="34" charset="0"/>
                <a:ea typeface="ＭＳ ゴシック" panose="020B0609070205080204" pitchFamily="49" charset="-128"/>
              </a:rPr>
              <a:t>(Object)</a:t>
            </a:r>
            <a:endParaRPr lang="fr-FR" altLang="en-US" sz="1800" b="0" dirty="0">
              <a:latin typeface="Arial" panose="020B0604020202020204" pitchFamily="34" charset="0"/>
            </a:endParaRPr>
          </a:p>
          <a:p>
            <a:pPr lvl="1"/>
            <a:endParaRPr lang="fr-FR" altLang="en-US" sz="1800" b="0" dirty="0">
              <a:latin typeface="Arial" panose="020B0604020202020204" pitchFamily="34" charset="0"/>
            </a:endParaRPr>
          </a:p>
          <a:p>
            <a:pPr lvl="1"/>
            <a:r>
              <a:rPr lang="fr-FR" altLang="en-US" sz="1800" b="0" dirty="0">
                <a:latin typeface="Arial" panose="020B0604020202020204" pitchFamily="34" charset="0"/>
                <a:ea typeface="ＭＳ ゴシック" panose="020B0609070205080204" pitchFamily="49" charset="-128"/>
              </a:rPr>
              <a:t>if (obj1</a:t>
            </a:r>
            <a:r>
              <a:rPr lang="fr-FR" altLang="ja-JP" sz="1800" b="0" dirty="0">
                <a:latin typeface="Arial" panose="020B0604020202020204" pitchFamily="34" charset="0"/>
                <a:ea typeface="ＭＳ ゴシック" panose="020B0609070205080204" pitchFamily="49" charset="-128"/>
              </a:rPr>
              <a:t>.</a:t>
            </a:r>
            <a:r>
              <a:rPr lang="fr-FR" altLang="en-US" sz="1800" b="0" dirty="0">
                <a:latin typeface="Arial" panose="020B0604020202020204" pitchFamily="34" charset="0"/>
                <a:ea typeface="ＭＳ ゴシック" panose="020B0609070205080204" pitchFamily="49" charset="-128"/>
              </a:rPr>
              <a:t>equals(obj2</a:t>
            </a:r>
            <a:r>
              <a:rPr lang="fr-FR" altLang="ja-JP" sz="1800" b="0" dirty="0">
                <a:latin typeface="Arial" panose="020B0604020202020204" pitchFamily="34" charset="0"/>
                <a:ea typeface="ＭＳ ゴシック" panose="020B0609070205080204" pitchFamily="49" charset="-128"/>
              </a:rPr>
              <a:t>)) {</a:t>
            </a:r>
          </a:p>
          <a:p>
            <a:pPr lvl="1"/>
            <a:r>
              <a:rPr lang="fr-FR" altLang="ja-JP"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("obj1 </a:t>
            </a:r>
            <a:r>
              <a:rPr lang="fr-FR" altLang="en-US" sz="1800" b="0" dirty="0" err="1">
                <a:latin typeface="Arial" panose="020B0604020202020204" pitchFamily="34" charset="0"/>
                <a:ea typeface="ＭＳ ゴシック" panose="020B0609070205080204" pitchFamily="49" charset="-128"/>
              </a:rPr>
              <a:t>và</a:t>
            </a:r>
            <a:r>
              <a:rPr lang="fr-FR" altLang="en-US" sz="1800" b="0" dirty="0">
                <a:latin typeface="Arial" panose="020B0604020202020204" pitchFamily="34" charset="0"/>
                <a:ea typeface="ＭＳ ゴシック" panose="020B0609070205080204" pitchFamily="49" charset="-128"/>
              </a:rPr>
              <a:t> obj</a:t>
            </a:r>
            <a:r>
              <a:rPr lang="fr-FR" altLang="ja-JP" sz="1800" b="0" dirty="0">
                <a:latin typeface="Arial" panose="020B0604020202020204" pitchFamily="34" charset="0"/>
                <a:ea typeface="ＭＳ ゴシック" panose="020B0609070205080204" pitchFamily="49" charset="-128"/>
              </a:rPr>
              <a:t>2</a:t>
            </a:r>
            <a:r>
              <a:rPr lang="fr-FR" altLang="en-US" sz="1800" b="0" dirty="0">
                <a:latin typeface="Arial" panose="020B0604020202020204" pitchFamily="34" charset="0"/>
                <a:ea typeface="ＭＳ ゴシック" panose="020B0609070205080204" pitchFamily="49" charset="-128"/>
              </a:rPr>
              <a:t> là o</a:t>
            </a:r>
            <a:r>
              <a:rPr lang="en-US" altLang="en-US" sz="1800" b="0" dirty="0" err="1">
                <a:latin typeface="Arial" panose="020B0604020202020204" pitchFamily="34" charset="0"/>
                <a:ea typeface="ＭＳ ゴシック" panose="020B0609070205080204" pitchFamily="49" charset="-128"/>
              </a:rPr>
              <a:t>bject</a:t>
            </a:r>
            <a:r>
              <a:rPr lang="en-US" altLang="en-US"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giống</a:t>
            </a:r>
            <a:r>
              <a:rPr lang="en-US" altLang="en-US"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nhau</a:t>
            </a:r>
            <a:r>
              <a:rPr lang="fr-FR" altLang="en-US" sz="1800" b="0" dirty="0">
                <a:latin typeface="Arial" panose="020B0604020202020204" pitchFamily="34" charset="0"/>
                <a:ea typeface="ＭＳ ゴシック" panose="020B0609070205080204" pitchFamily="49" charset="-128"/>
              </a:rPr>
              <a:t>");</a:t>
            </a:r>
          </a:p>
          <a:p>
            <a:pPr lvl="1"/>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else</a:t>
            </a:r>
            <a:r>
              <a:rPr lang="fr-FR" altLang="en-US" sz="1800" b="0" dirty="0">
                <a:latin typeface="Arial" panose="020B0604020202020204" pitchFamily="34" charset="0"/>
                <a:ea typeface="ＭＳ ゴシック" panose="020B0609070205080204" pitchFamily="49" charset="-128"/>
              </a:rPr>
              <a:t> {</a:t>
            </a:r>
          </a:p>
          <a:p>
            <a:pPr lvl="1"/>
            <a:r>
              <a:rPr lang="fr-FR" altLang="ja-JP"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 obj1 </a:t>
            </a:r>
            <a:r>
              <a:rPr lang="fr-FR" altLang="en-US" sz="1800" b="0" dirty="0" err="1">
                <a:latin typeface="Arial" panose="020B0604020202020204" pitchFamily="34" charset="0"/>
                <a:ea typeface="ＭＳ ゴシック" panose="020B0609070205080204" pitchFamily="49" charset="-128"/>
              </a:rPr>
              <a:t>và</a:t>
            </a:r>
            <a:r>
              <a:rPr lang="fr-FR" altLang="en-US" sz="1800" b="0" dirty="0">
                <a:latin typeface="Arial" panose="020B0604020202020204" pitchFamily="34" charset="0"/>
                <a:ea typeface="ＭＳ ゴシック" panose="020B0609070205080204" pitchFamily="49" charset="-128"/>
              </a:rPr>
              <a:t> obj</a:t>
            </a:r>
            <a:r>
              <a:rPr lang="fr-FR" altLang="ja-JP" sz="1800" b="0" dirty="0">
                <a:latin typeface="Arial" panose="020B0604020202020204" pitchFamily="34" charset="0"/>
                <a:ea typeface="ＭＳ ゴシック" panose="020B0609070205080204" pitchFamily="49" charset="-128"/>
              </a:rPr>
              <a:t>2</a:t>
            </a:r>
            <a:r>
              <a:rPr lang="fr-FR" altLang="en-US" sz="1800" b="0" dirty="0">
                <a:latin typeface="Arial" panose="020B0604020202020204" pitchFamily="34" charset="0"/>
                <a:ea typeface="ＭＳ ゴシック" panose="020B0609070205080204" pitchFamily="49" charset="-128"/>
              </a:rPr>
              <a:t> là </a:t>
            </a:r>
            <a:r>
              <a:rPr lang="fr-FR" altLang="en-US" sz="1800" b="0" dirty="0" err="1">
                <a:latin typeface="Arial" panose="020B0604020202020204" pitchFamily="34" charset="0"/>
                <a:ea typeface="ＭＳ ゴシック" panose="020B0609070205080204" pitchFamily="49" charset="-128"/>
              </a:rPr>
              <a:t>object</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khác</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nhau</a:t>
            </a:r>
            <a:r>
              <a:rPr lang="fr-FR" altLang="en-US" sz="1800" b="0" dirty="0">
                <a:latin typeface="Arial" panose="020B0604020202020204" pitchFamily="34" charset="0"/>
                <a:ea typeface="ＭＳ ゴシック" panose="020B0609070205080204" pitchFamily="49" charset="-128"/>
              </a:rPr>
              <a:t>");</a:t>
            </a:r>
          </a:p>
          <a:p>
            <a:pPr lvl="1"/>
            <a:r>
              <a:rPr lang="fr-FR" altLang="en-US" sz="1800" b="0" dirty="0">
                <a:latin typeface="Arial" panose="020B0604020202020204" pitchFamily="34" charset="0"/>
                <a:ea typeface="ＭＳ ゴシック" panose="020B0609070205080204" pitchFamily="49" charset="-128"/>
              </a:rPr>
              <a:t>}</a:t>
            </a:r>
          </a:p>
        </p:txBody>
      </p:sp>
      <p:sp>
        <p:nvSpPr>
          <p:cNvPr id="575556" name="Rectangle 68">
            <a:extLst>
              <a:ext uri="{FF2B5EF4-FFF2-40B4-BE49-F238E27FC236}">
                <a16:creationId xmlns:a16="http://schemas.microsoft.com/office/drawing/2014/main" id="{36120E8D-141D-5E7F-9FB6-76D268CDFC4F}"/>
              </a:ext>
            </a:extLst>
          </p:cNvPr>
          <p:cNvSpPr>
            <a:spLocks noChangeArrowheads="1"/>
          </p:cNvSpPr>
          <p:nvPr/>
        </p:nvSpPr>
        <p:spPr bwMode="auto">
          <a:xfrm>
            <a:off x="5364163" y="6888163"/>
            <a:ext cx="4953000" cy="701675"/>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b="0"/>
              <a:t>■</a:t>
            </a:r>
            <a:r>
              <a:rPr lang="ja-JP" altLang="en-US" b="0"/>
              <a:t>　</a:t>
            </a:r>
            <a:r>
              <a:rPr lang="en-US" altLang="ja-JP" b="0"/>
              <a:t>Object class</a:t>
            </a:r>
          </a:p>
          <a:p>
            <a:r>
              <a:rPr lang="ja-JP" altLang="en-US" b="0"/>
              <a:t>　</a:t>
            </a:r>
            <a:r>
              <a:rPr lang="en-US" altLang="ja-JP" b="0"/>
              <a:t>Chức năng common với tư c</a:t>
            </a:r>
            <a:r>
              <a:rPr lang="en-US" altLang="ja-JP" b="0">
                <a:latin typeface="MS UI Gothic" panose="020B0600070205080204" pitchFamily="50" charset="-128"/>
              </a:rPr>
              <a:t>á</a:t>
            </a:r>
            <a:r>
              <a:rPr lang="en-US" altLang="ja-JP" b="0"/>
              <a:t>ch l</a:t>
            </a:r>
            <a:r>
              <a:rPr lang="en-US" altLang="ja-JP" b="0">
                <a:latin typeface="MS UI Gothic" panose="020B0600070205080204" pitchFamily="50" charset="-128"/>
              </a:rPr>
              <a:t>à</a:t>
            </a:r>
            <a:r>
              <a:rPr lang="en-US" altLang="ja-JP" b="0"/>
              <a:t> object ở class l</a:t>
            </a:r>
            <a:r>
              <a:rPr lang="en-US" altLang="ja-JP" b="0">
                <a:latin typeface="MS UI Gothic" panose="020B0600070205080204" pitchFamily="50" charset="-128"/>
              </a:rPr>
              <a:t>à</a:t>
            </a:r>
            <a:r>
              <a:rPr lang="en-US" altLang="ja-JP" b="0"/>
              <a:t> super class của to</a:t>
            </a:r>
            <a:r>
              <a:rPr lang="en-US" altLang="ja-JP" b="0">
                <a:latin typeface="MS UI Gothic" panose="020B0600070205080204" pitchFamily="50" charset="-128"/>
              </a:rPr>
              <a:t>à</a:t>
            </a:r>
            <a:r>
              <a:rPr lang="en-US" altLang="ja-JP" b="0"/>
              <a:t>n bộ c</a:t>
            </a:r>
            <a:r>
              <a:rPr lang="en-US" altLang="ja-JP" b="0">
                <a:latin typeface="MS UI Gothic" panose="020B0600070205080204" pitchFamily="50" charset="-128"/>
              </a:rPr>
              <a:t>á</a:t>
            </a:r>
            <a:r>
              <a:rPr lang="en-US" altLang="ja-JP" b="0"/>
              <a:t>c class đang được định nghĩa. </a:t>
            </a:r>
          </a:p>
          <a:p>
            <a:r>
              <a:rPr lang="ja-JP" altLang="en-US" b="0"/>
              <a:t>　</a:t>
            </a:r>
            <a:r>
              <a:rPr lang="en-US" altLang="ja-JP" b="0"/>
              <a:t>To</a:t>
            </a:r>
            <a:r>
              <a:rPr lang="en-US" altLang="ja-JP" b="0">
                <a:latin typeface="MS UI Gothic" panose="020B0600070205080204" pitchFamily="50" charset="-128"/>
              </a:rPr>
              <a:t>à</a:t>
            </a:r>
            <a:r>
              <a:rPr lang="en-US" altLang="ja-JP" b="0"/>
              <a:t>n bộ c</a:t>
            </a:r>
            <a:r>
              <a:rPr lang="en-US" altLang="ja-JP" b="0">
                <a:latin typeface="MS UI Gothic" panose="020B0600070205080204" pitchFamily="50" charset="-128"/>
              </a:rPr>
              <a:t>á</a:t>
            </a:r>
            <a:r>
              <a:rPr lang="en-US" altLang="ja-JP" b="0"/>
              <a:t>c class đang kế thừa class n</a:t>
            </a:r>
            <a:r>
              <a:rPr lang="en-US" altLang="ja-JP" b="0">
                <a:latin typeface="MS UI Gothic" panose="020B0600070205080204" pitchFamily="50" charset="-128"/>
              </a:rPr>
              <a:t>à</a:t>
            </a:r>
            <a:r>
              <a:rPr lang="en-US" altLang="ja-JP" b="0"/>
              <a:t>y trực tiếp hoặc gi</a:t>
            </a:r>
            <a:r>
              <a:rPr lang="en-US" altLang="ja-JP" b="0">
                <a:latin typeface="MS UI Gothic" panose="020B0600070205080204" pitchFamily="50" charset="-128"/>
              </a:rPr>
              <a:t>á</a:t>
            </a:r>
            <a:r>
              <a:rPr lang="en-US" altLang="ja-JP" b="0"/>
              <a:t>n tiếp.</a:t>
            </a:r>
            <a:r>
              <a:rPr lang="en-US" altLang="ja-JP"/>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26F2FBF1-DE4E-F423-73E9-B99B92C5A716}"/>
              </a:ext>
            </a:extLst>
          </p:cNvPr>
          <p:cNvSpPr>
            <a:spLocks noGrp="1" noChangeArrowheads="1"/>
          </p:cNvSpPr>
          <p:nvPr>
            <p:ph type="title"/>
          </p:nvPr>
        </p:nvSpPr>
        <p:spPr>
          <a:xfrm>
            <a:off x="344488" y="65246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Math class</a:t>
            </a:r>
          </a:p>
        </p:txBody>
      </p:sp>
      <p:sp>
        <p:nvSpPr>
          <p:cNvPr id="581662" name="Rectangle 30">
            <a:extLst>
              <a:ext uri="{FF2B5EF4-FFF2-40B4-BE49-F238E27FC236}">
                <a16:creationId xmlns:a16="http://schemas.microsoft.com/office/drawing/2014/main" id="{3459B730-F894-1857-EB32-BBAA03BD2E8B}"/>
              </a:ext>
            </a:extLst>
          </p:cNvPr>
          <p:cNvSpPr>
            <a:spLocks noChangeArrowheads="1"/>
          </p:cNvSpPr>
          <p:nvPr/>
        </p:nvSpPr>
        <p:spPr bwMode="auto">
          <a:xfrm>
            <a:off x="344488" y="13176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Math class</a:t>
            </a:r>
          </a:p>
          <a:p>
            <a:pPr lvl="1"/>
            <a:endParaRPr lang="en-US" altLang="ja-JP" sz="2400" b="0"/>
          </a:p>
        </p:txBody>
      </p:sp>
      <p:sp>
        <p:nvSpPr>
          <p:cNvPr id="581663" name="Rectangle 31">
            <a:extLst>
              <a:ext uri="{FF2B5EF4-FFF2-40B4-BE49-F238E27FC236}">
                <a16:creationId xmlns:a16="http://schemas.microsoft.com/office/drawing/2014/main" id="{07A98FDB-5293-ADB5-57D6-183D51E5E107}"/>
              </a:ext>
            </a:extLst>
          </p:cNvPr>
          <p:cNvSpPr>
            <a:spLocks noChangeArrowheads="1"/>
          </p:cNvSpPr>
          <p:nvPr/>
        </p:nvSpPr>
        <p:spPr bwMode="auto">
          <a:xfrm>
            <a:off x="344488" y="1717675"/>
            <a:ext cx="9120187" cy="7874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Cung cấp field và method static để xử lý thao tác giá trị số như hàm lượng giác, căn bậc 2.</a:t>
            </a:r>
          </a:p>
        </p:txBody>
      </p:sp>
      <p:sp>
        <p:nvSpPr>
          <p:cNvPr id="581665" name="Rectangle 33">
            <a:extLst>
              <a:ext uri="{FF2B5EF4-FFF2-40B4-BE49-F238E27FC236}">
                <a16:creationId xmlns:a16="http://schemas.microsoft.com/office/drawing/2014/main" id="{CB0218AA-9DBA-2803-21B8-F67C1A8BB025}"/>
              </a:ext>
            </a:extLst>
          </p:cNvPr>
          <p:cNvSpPr>
            <a:spLocks noChangeArrowheads="1"/>
          </p:cNvSpPr>
          <p:nvPr/>
        </p:nvSpPr>
        <p:spPr bwMode="auto">
          <a:xfrm>
            <a:off x="344488" y="26098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latin typeface="Arial" panose="020B0604020202020204" pitchFamily="34" charset="0"/>
            </a:endParaRPr>
          </a:p>
        </p:txBody>
      </p:sp>
      <p:sp>
        <p:nvSpPr>
          <p:cNvPr id="581697" name="Rectangle 65">
            <a:extLst>
              <a:ext uri="{FF2B5EF4-FFF2-40B4-BE49-F238E27FC236}">
                <a16:creationId xmlns:a16="http://schemas.microsoft.com/office/drawing/2014/main" id="{0C39D3DE-2E4F-ECB2-26BA-7D9B74A87F4F}"/>
              </a:ext>
            </a:extLst>
          </p:cNvPr>
          <p:cNvSpPr>
            <a:spLocks noChangeArrowheads="1"/>
          </p:cNvSpPr>
          <p:nvPr/>
        </p:nvSpPr>
        <p:spPr bwMode="auto">
          <a:xfrm>
            <a:off x="344488" y="3209925"/>
            <a:ext cx="9120187" cy="2581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a:latin typeface="Arial" panose="020B0604020202020204" pitchFamily="34" charset="0"/>
                <a:ea typeface="ＭＳ ゴシック" panose="020B0609070205080204" pitchFamily="49" charset="-128"/>
              </a:rPr>
              <a:t>System.out.println(« lũy thừa 3 của ２：" + Math.pow(2,</a:t>
            </a:r>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3));</a:t>
            </a:r>
          </a:p>
          <a:p>
            <a:pPr lvl="1"/>
            <a:r>
              <a:rPr lang="fr-FR" altLang="en-US" sz="1800" b="0">
                <a:latin typeface="Arial" panose="020B0604020202020204" pitchFamily="34" charset="0"/>
                <a:ea typeface="ＭＳ ゴシック" panose="020B0609070205080204" pitchFamily="49" charset="-128"/>
              </a:rPr>
              <a:t>System.out.println(« khi làm</a:t>
            </a:r>
            <a:r>
              <a:rPr lang="en-US" altLang="en-US" sz="1800" b="0">
                <a:latin typeface="Arial" panose="020B0604020202020204" pitchFamily="34" charset="0"/>
                <a:ea typeface="ＭＳ ゴシック" panose="020B0609070205080204" pitchFamily="49" charset="-128"/>
              </a:rPr>
              <a:t> tròn </a:t>
            </a:r>
            <a:r>
              <a:rPr lang="fr-FR" altLang="en-US" sz="1800" b="0">
                <a:latin typeface="Arial" panose="020B0604020202020204" pitchFamily="34" charset="0"/>
                <a:ea typeface="ＭＳ ゴシック" panose="020B0609070205080204" pitchFamily="49" charset="-128"/>
              </a:rPr>
              <a:t>1.56 th</a:t>
            </a:r>
            <a:r>
              <a:rPr lang="en-US" altLang="en-US" sz="1800" b="0">
                <a:latin typeface="Arial" panose="020B0604020202020204" pitchFamily="34" charset="0"/>
                <a:ea typeface="ＭＳ ゴシック" panose="020B0609070205080204" pitchFamily="49" charset="-128"/>
              </a:rPr>
              <a:t>ì</a:t>
            </a:r>
            <a:r>
              <a:rPr lang="fr-FR" altLang="en-US" sz="1800" b="0">
                <a:latin typeface="Arial" panose="020B0604020202020204" pitchFamily="34" charset="0"/>
                <a:ea typeface="ＭＳ ゴシック" panose="020B0609070205080204" pitchFamily="49" charset="-128"/>
              </a:rPr>
              <a:t>:" + Math.round(1.56));</a:t>
            </a:r>
            <a:endParaRPr lang="fr-FR" altLang="ja-JP" sz="1800" b="0">
              <a:latin typeface="Arial" panose="020B0604020202020204" pitchFamily="34" charset="0"/>
              <a:ea typeface="ＭＳ ゴシック" panose="020B0609070205080204" pitchFamily="49" charset="-128"/>
            </a:endParaRPr>
          </a:p>
          <a:p>
            <a:pPr lvl="1"/>
            <a:endParaRPr lang="fr-FR" altLang="en-US" sz="1800" b="0">
              <a:latin typeface="Arial" panose="020B0604020202020204" pitchFamily="34" charset="0"/>
              <a:ea typeface="ＭＳ ゴシック" panose="020B0609070205080204" pitchFamily="49" charset="-128"/>
            </a:endParaRPr>
          </a:p>
          <a:p>
            <a:pPr lvl="1"/>
            <a:r>
              <a:rPr lang="fr-FR" altLang="en-US" sz="1800" b="0">
                <a:latin typeface="Arial" panose="020B0604020202020204" pitchFamily="34" charset="0"/>
                <a:ea typeface="ＭＳ ゴシック" panose="020B0609070205080204" pitchFamily="49" charset="-128"/>
              </a:rPr>
              <a:t>double d1 = Math.random();</a:t>
            </a:r>
          </a:p>
          <a:p>
            <a:pPr lvl="1"/>
            <a:r>
              <a:rPr lang="fr-FR" altLang="en-US" sz="1800" b="0">
                <a:latin typeface="Arial" panose="020B0604020202020204" pitchFamily="34" charset="0"/>
                <a:ea typeface="ＭＳ ゴシック" panose="020B0609070205080204" pitchFamily="49" charset="-128"/>
              </a:rPr>
              <a:t>double d2 = Math.random();</a:t>
            </a:r>
          </a:p>
          <a:p>
            <a:pPr lvl="1"/>
            <a:r>
              <a:rPr lang="fr-FR" altLang="en-US" sz="1800" b="0">
                <a:latin typeface="Arial" panose="020B0604020202020204" pitchFamily="34" charset="0"/>
                <a:ea typeface="ＭＳ ゴシック" panose="020B0609070205080204" pitchFamily="49" charset="-128"/>
              </a:rPr>
              <a:t>System.out.println("d1:" + d1);</a:t>
            </a:r>
          </a:p>
          <a:p>
            <a:pPr lvl="1"/>
            <a:r>
              <a:rPr lang="fr-FR" altLang="en-US" sz="1800" b="0">
                <a:latin typeface="Arial" panose="020B0604020202020204" pitchFamily="34" charset="0"/>
                <a:ea typeface="ＭＳ ゴシック" panose="020B0609070205080204" pitchFamily="49" charset="-128"/>
              </a:rPr>
              <a:t>System.out.println("d2:" + d2);</a:t>
            </a:r>
          </a:p>
          <a:p>
            <a:pPr lvl="1"/>
            <a:r>
              <a:rPr lang="fr-FR" altLang="en-US" sz="1800" b="0">
                <a:latin typeface="Arial" panose="020B0604020202020204" pitchFamily="34" charset="0"/>
                <a:ea typeface="ＭＳ ゴシック" panose="020B0609070205080204" pitchFamily="49" charset="-128"/>
              </a:rPr>
              <a:t>System.out.println(« lớn là" + Math.max(d1,</a:t>
            </a:r>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d2));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4837908-8B2E-8D96-1781-EDBE2819D645}"/>
              </a:ext>
            </a:extLst>
          </p:cNvPr>
          <p:cNvSpPr>
            <a:spLocks noGrp="1"/>
          </p:cNvSpPr>
          <p:nvPr>
            <p:ph type="sldNum" sz="quarter" idx="10"/>
          </p:nvPr>
        </p:nvSpPr>
        <p:spPr/>
        <p:txBody>
          <a:bodyPr/>
          <a:lstStyle/>
          <a:p>
            <a:fld id="{E4F63C39-5FAC-4141-96F9-7CC614D70FDD}" type="slidenum">
              <a:rPr lang="en-US" altLang="ja-JP"/>
              <a:pPr/>
              <a:t>6</a:t>
            </a:fld>
            <a:endParaRPr lang="en-US" altLang="ja-JP"/>
          </a:p>
        </p:txBody>
      </p:sp>
      <p:sp>
        <p:nvSpPr>
          <p:cNvPr id="587778" name="Rectangle 2">
            <a:extLst>
              <a:ext uri="{FF2B5EF4-FFF2-40B4-BE49-F238E27FC236}">
                <a16:creationId xmlns:a16="http://schemas.microsoft.com/office/drawing/2014/main" id="{84662539-CECC-2D19-1CA4-0CD6A0B12F59}"/>
              </a:ext>
            </a:extLst>
          </p:cNvPr>
          <p:cNvSpPr>
            <a:spLocks noGrp="1" noChangeArrowheads="1"/>
          </p:cNvSpPr>
          <p:nvPr>
            <p:ph type="title"/>
          </p:nvPr>
        </p:nvSpPr>
        <p:spPr>
          <a:xfrm>
            <a:off x="344488" y="496888"/>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String class</a:t>
            </a:r>
          </a:p>
        </p:txBody>
      </p:sp>
      <p:sp>
        <p:nvSpPr>
          <p:cNvPr id="587806" name="Rectangle 30">
            <a:extLst>
              <a:ext uri="{FF2B5EF4-FFF2-40B4-BE49-F238E27FC236}">
                <a16:creationId xmlns:a16="http://schemas.microsoft.com/office/drawing/2014/main" id="{7A888E3D-5770-B450-B237-A6C7C61EC8F4}"/>
              </a:ext>
            </a:extLst>
          </p:cNvPr>
          <p:cNvSpPr>
            <a:spLocks noChangeArrowheads="1"/>
          </p:cNvSpPr>
          <p:nvPr/>
        </p:nvSpPr>
        <p:spPr bwMode="auto">
          <a:xfrm>
            <a:off x="344488" y="11620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String class</a:t>
            </a:r>
          </a:p>
          <a:p>
            <a:pPr lvl="1"/>
            <a:endParaRPr lang="en-US" altLang="ja-JP" sz="2400" b="0" dirty="0"/>
          </a:p>
        </p:txBody>
      </p:sp>
      <p:sp>
        <p:nvSpPr>
          <p:cNvPr id="587807" name="Rectangle 31">
            <a:extLst>
              <a:ext uri="{FF2B5EF4-FFF2-40B4-BE49-F238E27FC236}">
                <a16:creationId xmlns:a16="http://schemas.microsoft.com/office/drawing/2014/main" id="{71974B6B-0602-A1D1-FBDD-3783EB224F12}"/>
              </a:ext>
            </a:extLst>
          </p:cNvPr>
          <p:cNvSpPr>
            <a:spLocks noChangeArrowheads="1"/>
          </p:cNvSpPr>
          <p:nvPr/>
        </p:nvSpPr>
        <p:spPr bwMode="auto">
          <a:xfrm>
            <a:off x="344488" y="1600993"/>
            <a:ext cx="9120187" cy="9667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dirty="0" err="1">
                <a:latin typeface="Arial" panose="020B0604020202020204" pitchFamily="34" charset="0"/>
              </a:rPr>
              <a:t>Là</a:t>
            </a:r>
            <a:r>
              <a:rPr lang="en-US" altLang="ja-JP" sz="2000" dirty="0">
                <a:latin typeface="Arial" panose="020B0604020202020204" pitchFamily="34" charset="0"/>
              </a:rPr>
              <a:t> class </a:t>
            </a:r>
            <a:r>
              <a:rPr lang="en-US" altLang="ja-JP" sz="2000" dirty="0" err="1">
                <a:latin typeface="Arial" panose="020B0604020202020204" pitchFamily="34" charset="0"/>
              </a:rPr>
              <a:t>để</a:t>
            </a:r>
            <a:r>
              <a:rPr lang="en-US" altLang="ja-JP" sz="2000" dirty="0">
                <a:latin typeface="Arial" panose="020B0604020202020204" pitchFamily="34" charset="0"/>
              </a:rPr>
              <a:t> </a:t>
            </a:r>
            <a:r>
              <a:rPr lang="en-US" altLang="ja-JP" sz="2000" dirty="0" err="1">
                <a:latin typeface="Arial" panose="020B0604020202020204" pitchFamily="34" charset="0"/>
              </a:rPr>
              <a:t>thao</a:t>
            </a:r>
            <a:r>
              <a:rPr lang="en-US" altLang="ja-JP" sz="2000" dirty="0">
                <a:latin typeface="Arial" panose="020B0604020202020204" pitchFamily="34" charset="0"/>
              </a:rPr>
              <a:t> </a:t>
            </a:r>
            <a:r>
              <a:rPr lang="en-US" altLang="ja-JP" sz="2000" dirty="0" err="1">
                <a:latin typeface="Arial" panose="020B0604020202020204" pitchFamily="34" charset="0"/>
              </a:rPr>
              <a:t>tác</a:t>
            </a:r>
            <a:r>
              <a:rPr lang="en-US" altLang="ja-JP" sz="2000" dirty="0">
                <a:latin typeface="Arial" panose="020B0604020202020204" pitchFamily="34" charset="0"/>
              </a:rPr>
              <a:t> </a:t>
            </a:r>
            <a:r>
              <a:rPr lang="en-US" altLang="ja-JP" sz="2000" dirty="0" err="1">
                <a:latin typeface="Arial" panose="020B0604020202020204" pitchFamily="34" charset="0"/>
              </a:rPr>
              <a:t>chuỗi</a:t>
            </a:r>
            <a:r>
              <a:rPr lang="en-US" altLang="ja-JP" sz="2000" dirty="0">
                <a:latin typeface="Arial" panose="020B0604020202020204" pitchFamily="34" charset="0"/>
              </a:rPr>
              <a:t> </a:t>
            </a:r>
            <a:r>
              <a:rPr lang="en-US" altLang="ja-JP" sz="2000" dirty="0" err="1">
                <a:latin typeface="Arial" panose="020B0604020202020204" pitchFamily="34" charset="0"/>
              </a:rPr>
              <a:t>ky</a:t>
            </a:r>
            <a:r>
              <a:rPr lang="en-US" altLang="ja-JP" sz="2000" dirty="0">
                <a:latin typeface="Arial" panose="020B0604020202020204" pitchFamily="34" charset="0"/>
              </a:rPr>
              <a:t>́ </a:t>
            </a:r>
            <a:r>
              <a:rPr lang="en-US" altLang="ja-JP" sz="2000" dirty="0" err="1">
                <a:latin typeface="Arial" panose="020B0604020202020204" pitchFamily="34" charset="0"/>
              </a:rPr>
              <a:t>tư</a:t>
            </a:r>
            <a:r>
              <a:rPr lang="en-US" altLang="ja-JP" sz="2000" dirty="0">
                <a:latin typeface="Arial" panose="020B0604020202020204" pitchFamily="34" charset="0"/>
              </a:rPr>
              <a:t>̣</a:t>
            </a:r>
          </a:p>
          <a:p>
            <a:pPr>
              <a:buFont typeface="Wingdings" panose="05000000000000000000" pitchFamily="2" charset="2"/>
              <a:buNone/>
            </a:pPr>
            <a:r>
              <a:rPr lang="en-US" altLang="ja-JP" sz="2000" dirty="0">
                <a:latin typeface="Arial" panose="020B0604020202020204" pitchFamily="34" charset="0"/>
              </a:rPr>
              <a:t>Khi </a:t>
            </a:r>
            <a:r>
              <a:rPr lang="en-US" altLang="ja-JP" sz="2000" dirty="0" err="1">
                <a:latin typeface="Arial" panose="020B0604020202020204" pitchFamily="34" charset="0"/>
              </a:rPr>
              <a:t>gán</a:t>
            </a:r>
            <a:r>
              <a:rPr lang="en-US" altLang="ja-JP" sz="2000" dirty="0">
                <a:latin typeface="Arial" panose="020B0604020202020204" pitchFamily="34" charset="0"/>
              </a:rPr>
              <a:t> </a:t>
            </a:r>
            <a:r>
              <a:rPr lang="en-US" altLang="ja-JP" sz="2000" dirty="0" err="1">
                <a:latin typeface="Arial" panose="020B0604020202020204" pitchFamily="34" charset="0"/>
              </a:rPr>
              <a:t>một</a:t>
            </a:r>
            <a:r>
              <a:rPr lang="en-US" altLang="ja-JP" sz="2000" dirty="0">
                <a:latin typeface="Arial" panose="020B0604020202020204" pitchFamily="34" charset="0"/>
              </a:rPr>
              <a:t> </a:t>
            </a:r>
            <a:r>
              <a:rPr lang="en-US" altLang="ja-JP" sz="2000" dirty="0" err="1">
                <a:latin typeface="Arial" panose="020B0604020202020204" pitchFamily="34" charset="0"/>
              </a:rPr>
              <a:t>chuỗi</a:t>
            </a:r>
            <a:r>
              <a:rPr lang="en-US" altLang="ja-JP" sz="2000" dirty="0">
                <a:latin typeface="Arial" panose="020B0604020202020204" pitchFamily="34" charset="0"/>
              </a:rPr>
              <a:t> </a:t>
            </a:r>
            <a:r>
              <a:rPr lang="en-US" altLang="ja-JP" sz="2000" dirty="0" err="1">
                <a:latin typeface="Arial" panose="020B0604020202020204" pitchFamily="34" charset="0"/>
              </a:rPr>
              <a:t>ky</a:t>
            </a:r>
            <a:r>
              <a:rPr lang="en-US" altLang="ja-JP" sz="2000" dirty="0">
                <a:latin typeface="Arial" panose="020B0604020202020204" pitchFamily="34" charset="0"/>
              </a:rPr>
              <a:t>́ </a:t>
            </a:r>
            <a:r>
              <a:rPr lang="en-US" altLang="ja-JP" sz="2000" dirty="0" err="1">
                <a:latin typeface="Arial" panose="020B0604020202020204" pitchFamily="34" charset="0"/>
              </a:rPr>
              <a:t>tư</a:t>
            </a:r>
            <a:r>
              <a:rPr lang="en-US" altLang="ja-JP" sz="2000" dirty="0">
                <a:latin typeface="Arial" panose="020B0604020202020204" pitchFamily="34" charset="0"/>
              </a:rPr>
              <a:t>̣ </a:t>
            </a:r>
            <a:r>
              <a:rPr lang="en-US" altLang="ja-JP" sz="2000" dirty="0" err="1">
                <a:latin typeface="Arial" panose="020B0604020202020204" pitchFamily="34" charset="0"/>
              </a:rPr>
              <a:t>được</a:t>
            </a:r>
            <a:r>
              <a:rPr lang="en-US" altLang="ja-JP" sz="2000" dirty="0">
                <a:latin typeface="Arial" panose="020B0604020202020204" pitchFamily="34" charset="0"/>
              </a:rPr>
              <a:t> bao </a:t>
            </a:r>
            <a:r>
              <a:rPr lang="en-US" altLang="ja-JP" sz="2000" dirty="0" err="1">
                <a:latin typeface="Arial" panose="020B0604020202020204" pitchFamily="34" charset="0"/>
              </a:rPr>
              <a:t>bởi</a:t>
            </a:r>
            <a:r>
              <a:rPr lang="en-US" altLang="ja-JP" sz="2000" dirty="0">
                <a:latin typeface="Arial" panose="020B0604020202020204" pitchFamily="34" charset="0"/>
              </a:rPr>
              <a:t> </a:t>
            </a:r>
            <a:r>
              <a:rPr lang="en-US" altLang="ja-JP" sz="2000" dirty="0" err="1">
                <a:latin typeface="Arial" panose="020B0604020202020204" pitchFamily="34" charset="0"/>
              </a:rPr>
              <a:t>dấu</a:t>
            </a:r>
            <a:r>
              <a:rPr lang="en-US" altLang="ja-JP" sz="2000" dirty="0">
                <a:latin typeface="Arial" panose="020B0604020202020204" pitchFamily="34" charset="0"/>
              </a:rPr>
              <a:t> </a:t>
            </a:r>
            <a:r>
              <a:rPr lang="en-US" altLang="ja-JP" sz="2000" dirty="0" err="1">
                <a:latin typeface="Arial" panose="020B0604020202020204" pitchFamily="34" charset="0"/>
              </a:rPr>
              <a:t>nháy</a:t>
            </a:r>
            <a:r>
              <a:rPr lang="en-US" altLang="ja-JP" sz="2000" dirty="0">
                <a:latin typeface="Arial" panose="020B0604020202020204" pitchFamily="34" charset="0"/>
              </a:rPr>
              <a:t> </a:t>
            </a:r>
            <a:r>
              <a:rPr lang="en-US" altLang="ja-JP" sz="2000" dirty="0" err="1">
                <a:latin typeface="Arial" panose="020B0604020202020204" pitchFamily="34" charset="0"/>
              </a:rPr>
              <a:t>kép</a:t>
            </a:r>
            <a:r>
              <a:rPr lang="en-US" altLang="ja-JP" sz="2000" dirty="0">
                <a:latin typeface="Arial" panose="020B0604020202020204" pitchFamily="34" charset="0"/>
              </a:rPr>
              <a:t> </a:t>
            </a:r>
            <a:r>
              <a:rPr lang="ja-JP" altLang="en-US" sz="1800" b="0" dirty="0"/>
              <a:t>（</a:t>
            </a:r>
            <a:r>
              <a:rPr lang="en-US" altLang="ja-JP" sz="1800" b="0" dirty="0"/>
              <a:t>")</a:t>
            </a:r>
            <a:r>
              <a:rPr lang="en-US" altLang="ja-JP" sz="2000" dirty="0">
                <a:latin typeface="Arial" panose="020B0604020202020204" pitchFamily="34" charset="0"/>
              </a:rPr>
              <a:t> </a:t>
            </a:r>
            <a:r>
              <a:rPr lang="en-US" altLang="ja-JP" sz="2000" dirty="0" err="1">
                <a:latin typeface="Arial" panose="020B0604020202020204" pitchFamily="34" charset="0"/>
              </a:rPr>
              <a:t>thi</a:t>
            </a:r>
            <a:r>
              <a:rPr lang="en-US" altLang="ja-JP" sz="2000" dirty="0">
                <a:latin typeface="Arial" panose="020B0604020202020204" pitchFamily="34" charset="0"/>
              </a:rPr>
              <a:t>̀ có </a:t>
            </a:r>
            <a:r>
              <a:rPr lang="en-US" altLang="ja-JP" sz="2000" dirty="0" err="1">
                <a:latin typeface="Arial" panose="020B0604020202020204" pitchFamily="34" charset="0"/>
              </a:rPr>
              <a:t>thê</a:t>
            </a:r>
            <a:r>
              <a:rPr lang="en-US" altLang="ja-JP" sz="2000" dirty="0">
                <a:latin typeface="Arial" panose="020B0604020202020204" pitchFamily="34" charset="0"/>
              </a:rPr>
              <a:t>̉ </a:t>
            </a:r>
            <a:r>
              <a:rPr lang="en-US" altLang="ja-JP" sz="2000" dirty="0" err="1">
                <a:latin typeface="Arial" panose="020B0604020202020204" pitchFamily="34" charset="0"/>
              </a:rPr>
              <a:t>sinh</a:t>
            </a:r>
            <a:r>
              <a:rPr lang="en-US" altLang="ja-JP" sz="2000" dirty="0">
                <a:latin typeface="Arial" panose="020B0604020202020204" pitchFamily="34" charset="0"/>
              </a:rPr>
              <a:t>/</a:t>
            </a:r>
            <a:r>
              <a:rPr lang="en-US" altLang="ja-JP" sz="2000" dirty="0" err="1">
                <a:latin typeface="Arial" panose="020B0604020202020204" pitchFamily="34" charset="0"/>
              </a:rPr>
              <a:t>tạo</a:t>
            </a:r>
            <a:r>
              <a:rPr lang="en-US" altLang="ja-JP" sz="2000" dirty="0">
                <a:latin typeface="Arial" panose="020B0604020202020204" pitchFamily="34" charset="0"/>
              </a:rPr>
              <a:t> object. </a:t>
            </a:r>
          </a:p>
        </p:txBody>
      </p:sp>
      <p:sp>
        <p:nvSpPr>
          <p:cNvPr id="587809" name="Rectangle 33">
            <a:extLst>
              <a:ext uri="{FF2B5EF4-FFF2-40B4-BE49-F238E27FC236}">
                <a16:creationId xmlns:a16="http://schemas.microsoft.com/office/drawing/2014/main" id="{8DC39DD0-C1D2-B9F9-0BA4-661B52DE8FFC}"/>
              </a:ext>
            </a:extLst>
          </p:cNvPr>
          <p:cNvSpPr>
            <a:spLocks noChangeArrowheads="1"/>
          </p:cNvSpPr>
          <p:nvPr/>
        </p:nvSpPr>
        <p:spPr bwMode="auto">
          <a:xfrm>
            <a:off x="344488" y="27463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latin typeface="Arial" panose="020B0604020202020204" pitchFamily="34" charset="0"/>
            </a:endParaRPr>
          </a:p>
        </p:txBody>
      </p:sp>
      <p:sp>
        <p:nvSpPr>
          <p:cNvPr id="587810" name="Rectangle 34">
            <a:extLst>
              <a:ext uri="{FF2B5EF4-FFF2-40B4-BE49-F238E27FC236}">
                <a16:creationId xmlns:a16="http://schemas.microsoft.com/office/drawing/2014/main" id="{3D8D5D19-DB2E-B721-FAA7-A545645A134E}"/>
              </a:ext>
            </a:extLst>
          </p:cNvPr>
          <p:cNvSpPr>
            <a:spLocks noChangeArrowheads="1"/>
          </p:cNvSpPr>
          <p:nvPr/>
        </p:nvSpPr>
        <p:spPr bwMode="auto">
          <a:xfrm>
            <a:off x="344488" y="3181350"/>
            <a:ext cx="9288462" cy="3143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fr-FR" altLang="en-US" sz="1800" b="0" dirty="0">
                <a:latin typeface="Arial" panose="020B0604020202020204" pitchFamily="34" charset="0"/>
                <a:ea typeface="ＭＳ ゴシック" panose="020B0609070205080204" pitchFamily="49" charset="-128"/>
              </a:rPr>
              <a:t>String str1 = "abc";</a:t>
            </a:r>
          </a:p>
          <a:p>
            <a:pPr>
              <a:buFont typeface="Wingdings" panose="05000000000000000000" pitchFamily="2" charset="2"/>
              <a:buNone/>
            </a:pPr>
            <a:r>
              <a:rPr lang="fr-FR" altLang="en-US" sz="1800" b="0" dirty="0">
                <a:latin typeface="Arial" panose="020B0604020202020204" pitchFamily="34" charset="0"/>
                <a:ea typeface="ＭＳ ゴシック" panose="020B0609070205080204" pitchFamily="49" charset="-128"/>
              </a:rPr>
              <a:t>String str2 = "ABC";</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a:t>
            </a:r>
            <a:r>
              <a:rPr lang="fr-FR" altLang="en-US" sz="1800" b="0" dirty="0" err="1">
                <a:latin typeface="Arial" panose="020B0604020202020204" pitchFamily="34" charset="0"/>
                <a:ea typeface="ＭＳ ゴシック" panose="020B0609070205080204" pitchFamily="49" charset="-128"/>
              </a:rPr>
              <a:t>số</a:t>
            </a:r>
            <a:r>
              <a:rPr lang="fr-FR" altLang="en-US"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kí</a:t>
            </a:r>
            <a:r>
              <a:rPr lang="en-US" altLang="en-US"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tự</a:t>
            </a:r>
            <a:r>
              <a:rPr lang="en-US" altLang="en-US"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của</a:t>
            </a:r>
            <a:r>
              <a:rPr lang="en-US" altLang="en-US" sz="1800" b="0" dirty="0">
                <a:latin typeface="Arial" panose="020B0604020202020204" pitchFamily="34" charset="0"/>
                <a:ea typeface="ＭＳ ゴシック" panose="020B0609070205080204" pitchFamily="49" charset="-128"/>
              </a:rPr>
              <a:t> </a:t>
            </a:r>
            <a:r>
              <a:rPr lang="fr-FR" altLang="en-US" sz="1800" b="0" dirty="0">
                <a:latin typeface="Arial" panose="020B0604020202020204" pitchFamily="34" charset="0"/>
                <a:ea typeface="ＭＳ ゴシック" panose="020B0609070205080204" pitchFamily="49" charset="-128"/>
              </a:rPr>
              <a:t>"\"abc\"：" + str1.length());</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a:t>
            </a:r>
            <a:r>
              <a:rPr lang="fr-FR" altLang="en-US" sz="1800" b="0" dirty="0" err="1">
                <a:latin typeface="Arial" panose="020B0604020202020204" pitchFamily="34" charset="0"/>
                <a:ea typeface="ＭＳ ゴシック" panose="020B0609070205080204" pitchFamily="49" charset="-128"/>
              </a:rPr>
              <a:t>charAt</a:t>
            </a:r>
            <a:r>
              <a:rPr lang="fr-FR" altLang="en-US" sz="1800" b="0" dirty="0">
                <a:latin typeface="Arial" panose="020B0604020202020204" pitchFamily="34" charset="0"/>
                <a:ea typeface="ＭＳ ゴシック" panose="020B0609070205080204" pitchFamily="49" charset="-128"/>
              </a:rPr>
              <a:t>(1):" + str1.charAt(1));</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a:t>
            </a:r>
            <a:r>
              <a:rPr lang="fr-FR" altLang="en-US" sz="1800" b="0" dirty="0" err="1">
                <a:latin typeface="Arial" panose="020B0604020202020204" pitchFamily="34" charset="0"/>
                <a:ea typeface="ＭＳ ゴシック" panose="020B0609070205080204" pitchFamily="49" charset="-128"/>
              </a:rPr>
              <a:t>indexOf</a:t>
            </a:r>
            <a:r>
              <a:rPr lang="fr-FR" altLang="en-US" sz="1800" b="0" dirty="0">
                <a:latin typeface="Arial" panose="020B0604020202020204" pitchFamily="34" charset="0"/>
                <a:ea typeface="ＭＳ ゴシック" panose="020B0609070205080204" pitchFamily="49" charset="-128"/>
              </a:rPr>
              <a:t>(\'c\'):" + str1.indexOf('c'));</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a:t>
            </a:r>
            <a:r>
              <a:rPr lang="fr-FR" altLang="ja-JP" sz="1800" b="0" dirty="0" err="1">
                <a:latin typeface="Arial" panose="020B0604020202020204" pitchFamily="34" charset="0"/>
                <a:ea typeface="ＭＳ ゴシック" panose="020B0609070205080204" pitchFamily="49" charset="-128"/>
              </a:rPr>
              <a:t>substring</a:t>
            </a:r>
            <a:r>
              <a:rPr lang="fr-FR" altLang="ja-JP" sz="1800" b="0" dirty="0">
                <a:latin typeface="Arial" panose="020B0604020202020204" pitchFamily="34" charset="0"/>
                <a:ea typeface="ＭＳ ゴシック" panose="020B0609070205080204" pitchFamily="49" charset="-128"/>
              </a:rPr>
              <a:t>(1, 2</a:t>
            </a:r>
            <a:r>
              <a:rPr lang="fr-FR" altLang="en-US" sz="1800" b="0" dirty="0">
                <a:latin typeface="Arial" panose="020B0604020202020204" pitchFamily="34" charset="0"/>
                <a:ea typeface="ＭＳ ゴシック" panose="020B0609070205080204" pitchFamily="49" charset="-128"/>
              </a:rPr>
              <a:t>):" + </a:t>
            </a:r>
            <a:r>
              <a:rPr lang="fr-FR" altLang="ja-JP" sz="1800" b="0" dirty="0">
                <a:latin typeface="Arial" panose="020B0604020202020204" pitchFamily="34" charset="0"/>
                <a:ea typeface="ＭＳ ゴシック" panose="020B0609070205080204" pitchFamily="49" charset="-128"/>
              </a:rPr>
              <a:t>str1.substring(1, 2</a:t>
            </a:r>
            <a:r>
              <a:rPr lang="fr-FR" altLang="en-US" sz="1800" b="0" dirty="0">
                <a:latin typeface="Arial" panose="020B0604020202020204" pitchFamily="34" charset="0"/>
                <a:ea typeface="ＭＳ ゴシック" panose="020B0609070205080204" pitchFamily="49" charset="-128"/>
              </a:rPr>
              <a:t>));</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so</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sánh</a:t>
            </a:r>
            <a:r>
              <a:rPr lang="fr-FR" altLang="en-US" sz="1800" b="0" dirty="0">
                <a:latin typeface="Arial" panose="020B0604020202020204" pitchFamily="34" charset="0"/>
                <a:ea typeface="ＭＳ ゴシック" panose="020B0609070205080204" pitchFamily="49" charset="-128"/>
              </a:rPr>
              <a:t> abc </a:t>
            </a:r>
            <a:r>
              <a:rPr lang="fr-FR" altLang="en-US" sz="1800" b="0" dirty="0" err="1">
                <a:latin typeface="Arial" panose="020B0604020202020204" pitchFamily="34" charset="0"/>
                <a:ea typeface="ＭＳ ゴシック" panose="020B0609070205080204" pitchFamily="49" charset="-128"/>
              </a:rPr>
              <a:t>và</a:t>
            </a:r>
            <a:r>
              <a:rPr lang="fr-FR" altLang="en-US" sz="1800" b="0" dirty="0">
                <a:latin typeface="Arial" panose="020B0604020202020204" pitchFamily="34" charset="0"/>
                <a:ea typeface="ＭＳ ゴシック" panose="020B0609070205080204" pitchFamily="49" charset="-128"/>
              </a:rPr>
              <a:t> ABC </a:t>
            </a:r>
            <a:r>
              <a:rPr lang="fr-FR" altLang="en-US" sz="1800" b="0" dirty="0" err="1">
                <a:latin typeface="Arial" panose="020B0604020202020204" pitchFamily="34" charset="0"/>
                <a:ea typeface="ＭＳ ゴシック" panose="020B0609070205080204" pitchFamily="49" charset="-128"/>
              </a:rPr>
              <a:t>bằng</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equals</a:t>
            </a:r>
            <a:r>
              <a:rPr lang="fr-FR" altLang="en-US" sz="1800" b="0" dirty="0">
                <a:latin typeface="Arial" panose="020B0604020202020204" pitchFamily="34" charset="0"/>
                <a:ea typeface="ＭＳ ゴシック" panose="020B0609070205080204" pitchFamily="49" charset="-128"/>
              </a:rPr>
              <a:t>:" + str1.equals(str2));</a:t>
            </a:r>
          </a:p>
          <a:p>
            <a:pPr>
              <a:buFont typeface="Wingdings" panose="05000000000000000000" pitchFamily="2" charset="2"/>
              <a:buNone/>
            </a:pPr>
            <a:r>
              <a:rPr lang="fr-FR" altLang="en-US" sz="1800" b="0" dirty="0" err="1">
                <a:latin typeface="Arial" panose="020B0604020202020204" pitchFamily="34" charset="0"/>
                <a:ea typeface="ＭＳ ゴシック" panose="020B0609070205080204" pitchFamily="49" charset="-128"/>
              </a:rPr>
              <a:t>System.out.println</a:t>
            </a:r>
            <a:endParaRPr lang="fr-FR" altLang="ja-JP" sz="1800" b="0" dirty="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ja-JP" sz="1800" b="0" dirty="0">
                <a:latin typeface="Arial" panose="020B0604020202020204" pitchFamily="34" charset="0"/>
                <a:ea typeface="ＭＳ ゴシック" panose="020B0609070205080204" pitchFamily="49" charset="-128"/>
              </a:rPr>
              <a:t>           </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so</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sánh</a:t>
            </a:r>
            <a:r>
              <a:rPr lang="fr-FR" altLang="en-US" sz="1800" b="0" dirty="0">
                <a:latin typeface="Arial" panose="020B0604020202020204" pitchFamily="34" charset="0"/>
                <a:ea typeface="ＭＳ ゴシック" panose="020B0609070205080204" pitchFamily="49" charset="-128"/>
              </a:rPr>
              <a:t> abc </a:t>
            </a:r>
            <a:r>
              <a:rPr lang="fr-FR" altLang="en-US" sz="1800" b="0" dirty="0" err="1">
                <a:latin typeface="Arial" panose="020B0604020202020204" pitchFamily="34" charset="0"/>
                <a:ea typeface="ＭＳ ゴシック" panose="020B0609070205080204" pitchFamily="49" charset="-128"/>
              </a:rPr>
              <a:t>và</a:t>
            </a:r>
            <a:r>
              <a:rPr lang="fr-FR" altLang="en-US" sz="1800" b="0" dirty="0">
                <a:latin typeface="Arial" panose="020B0604020202020204" pitchFamily="34" charset="0"/>
                <a:ea typeface="ＭＳ ゴシック" panose="020B0609070205080204" pitchFamily="49" charset="-128"/>
              </a:rPr>
              <a:t> ABC </a:t>
            </a:r>
            <a:r>
              <a:rPr lang="fr-FR" altLang="en-US" sz="1800" b="0" dirty="0" err="1">
                <a:latin typeface="Arial" panose="020B0604020202020204" pitchFamily="34" charset="0"/>
                <a:ea typeface="ＭＳ ゴシック" panose="020B0609070205080204" pitchFamily="49" charset="-128"/>
              </a:rPr>
              <a:t>bằng</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equalsIgnoreCase</a:t>
            </a:r>
            <a:r>
              <a:rPr lang="fr-FR" altLang="en-US" sz="1800" b="0" dirty="0">
                <a:latin typeface="Arial" panose="020B0604020202020204" pitchFamily="34" charset="0"/>
                <a:ea typeface="ＭＳ ゴシック" panose="020B0609070205080204" pitchFamily="49" charset="-128"/>
              </a:rPr>
              <a:t>:" + str1.equalsIgnoreCase(str2));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0F71BB7-4C88-0E6B-F80C-1E7A630A4BD5}"/>
              </a:ext>
            </a:extLst>
          </p:cNvPr>
          <p:cNvSpPr>
            <a:spLocks noGrp="1"/>
          </p:cNvSpPr>
          <p:nvPr>
            <p:ph type="sldNum" sz="quarter" idx="10"/>
          </p:nvPr>
        </p:nvSpPr>
        <p:spPr/>
        <p:txBody>
          <a:bodyPr/>
          <a:lstStyle/>
          <a:p>
            <a:fld id="{4EFBAA40-4E73-450C-B348-281CC91AF54C}" type="slidenum">
              <a:rPr lang="en-US" altLang="ja-JP"/>
              <a:pPr/>
              <a:t>7</a:t>
            </a:fld>
            <a:endParaRPr lang="en-US" altLang="ja-JP"/>
          </a:p>
        </p:txBody>
      </p:sp>
      <p:sp>
        <p:nvSpPr>
          <p:cNvPr id="593922" name="Rectangle 2">
            <a:extLst>
              <a:ext uri="{FF2B5EF4-FFF2-40B4-BE49-F238E27FC236}">
                <a16:creationId xmlns:a16="http://schemas.microsoft.com/office/drawing/2014/main" id="{CAF5AB5A-7FCA-6BE4-FD6C-FF8BE2EF487C}"/>
              </a:ext>
            </a:extLst>
          </p:cNvPr>
          <p:cNvSpPr>
            <a:spLocks noGrp="1" noChangeArrowheads="1"/>
          </p:cNvSpPr>
          <p:nvPr>
            <p:ph type="title"/>
          </p:nvPr>
        </p:nvSpPr>
        <p:spPr>
          <a:xfrm>
            <a:off x="344488" y="48895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StringBuilder class</a:t>
            </a:r>
          </a:p>
        </p:txBody>
      </p:sp>
      <p:sp>
        <p:nvSpPr>
          <p:cNvPr id="593950" name="Rectangle 30">
            <a:extLst>
              <a:ext uri="{FF2B5EF4-FFF2-40B4-BE49-F238E27FC236}">
                <a16:creationId xmlns:a16="http://schemas.microsoft.com/office/drawing/2014/main" id="{FE3F22F8-7ADC-F2C0-127B-30F40A99EC90}"/>
              </a:ext>
            </a:extLst>
          </p:cNvPr>
          <p:cNvSpPr>
            <a:spLocks noChangeArrowheads="1"/>
          </p:cNvSpPr>
          <p:nvPr/>
        </p:nvSpPr>
        <p:spPr bwMode="auto">
          <a:xfrm>
            <a:off x="344488" y="115411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Library class</a:t>
            </a:r>
          </a:p>
          <a:p>
            <a:pPr lvl="1"/>
            <a:endParaRPr lang="en-US" altLang="ja-JP" sz="2400" b="0" dirty="0"/>
          </a:p>
        </p:txBody>
      </p:sp>
      <p:sp>
        <p:nvSpPr>
          <p:cNvPr id="593951" name="Rectangle 31">
            <a:extLst>
              <a:ext uri="{FF2B5EF4-FFF2-40B4-BE49-F238E27FC236}">
                <a16:creationId xmlns:a16="http://schemas.microsoft.com/office/drawing/2014/main" id="{8E6284A4-E508-46E7-5B15-06EDF944563C}"/>
              </a:ext>
            </a:extLst>
          </p:cNvPr>
          <p:cNvSpPr>
            <a:spLocks noChangeArrowheads="1"/>
          </p:cNvSpPr>
          <p:nvPr/>
        </p:nvSpPr>
        <p:spPr bwMode="auto">
          <a:xfrm>
            <a:off x="344488" y="1687512"/>
            <a:ext cx="9120187" cy="688975"/>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class để xử  lý chuỗi ký tự có thể thay đổi mà có method để edit string.</a:t>
            </a:r>
          </a:p>
        </p:txBody>
      </p:sp>
      <p:sp>
        <p:nvSpPr>
          <p:cNvPr id="593953" name="Rectangle 33">
            <a:extLst>
              <a:ext uri="{FF2B5EF4-FFF2-40B4-BE49-F238E27FC236}">
                <a16:creationId xmlns:a16="http://schemas.microsoft.com/office/drawing/2014/main" id="{2FCBD0AF-D05F-7700-7B7C-B7C18E0CCD8E}"/>
              </a:ext>
            </a:extLst>
          </p:cNvPr>
          <p:cNvSpPr>
            <a:spLocks noChangeArrowheads="1"/>
          </p:cNvSpPr>
          <p:nvPr/>
        </p:nvSpPr>
        <p:spPr bwMode="auto">
          <a:xfrm>
            <a:off x="344488" y="267493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p>
        </p:txBody>
      </p:sp>
      <p:sp>
        <p:nvSpPr>
          <p:cNvPr id="593954" name="Rectangle 34">
            <a:extLst>
              <a:ext uri="{FF2B5EF4-FFF2-40B4-BE49-F238E27FC236}">
                <a16:creationId xmlns:a16="http://schemas.microsoft.com/office/drawing/2014/main" id="{6BBFA90A-D9FF-7E01-02D4-89D131F43537}"/>
              </a:ext>
            </a:extLst>
          </p:cNvPr>
          <p:cNvSpPr>
            <a:spLocks noChangeArrowheads="1"/>
          </p:cNvSpPr>
          <p:nvPr/>
        </p:nvSpPr>
        <p:spPr bwMode="auto">
          <a:xfrm>
            <a:off x="344488" y="3275012"/>
            <a:ext cx="9120187" cy="32019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18256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1825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1825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1825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18256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18256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18256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18256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18256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a:latin typeface="Arial" panose="020B0604020202020204" pitchFamily="34" charset="0"/>
                <a:ea typeface="ＭＳ ゴシック" panose="020B0609070205080204" pitchFamily="49" charset="-128"/>
              </a:rPr>
              <a:t>StringBuilder sb1 = new StringBuilder();</a:t>
            </a:r>
          </a:p>
          <a:p>
            <a:pPr lvl="1"/>
            <a:r>
              <a:rPr lang="fr-FR" altLang="en-US" sz="1800" b="0">
                <a:latin typeface="Arial" panose="020B0604020202020204" pitchFamily="34" charset="0"/>
                <a:ea typeface="ＭＳ ゴシック" panose="020B0609070205080204" pitchFamily="49" charset="-128"/>
              </a:rPr>
              <a:t>System.out.println("sb1.capacity()：" + sb1.capacity());</a:t>
            </a:r>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System.out.println("sb1.length()  ：" + sb1.length());</a:t>
            </a:r>
            <a:r>
              <a:rPr lang="fr-FR" altLang="ja-JP" sz="1800" b="0">
                <a:latin typeface="Arial" panose="020B0604020202020204" pitchFamily="34" charset="0"/>
                <a:ea typeface="ＭＳ ゴシック" panose="020B0609070205080204" pitchFamily="49" charset="-128"/>
              </a:rPr>
              <a:t>     	</a:t>
            </a:r>
          </a:p>
          <a:p>
            <a:pPr lvl="1"/>
            <a:r>
              <a:rPr lang="fr-FR" altLang="en-US" sz="1800" b="0">
                <a:latin typeface="Arial" panose="020B0604020202020204" pitchFamily="34" charset="0"/>
                <a:ea typeface="ＭＳ ゴシック" panose="020B0609070205080204" pitchFamily="49" charset="-128"/>
              </a:rPr>
              <a:t> </a:t>
            </a:r>
            <a:endParaRPr lang="fr-FR" altLang="ja-JP" sz="1800" b="0">
              <a:latin typeface="Arial" panose="020B0604020202020204" pitchFamily="34" charset="0"/>
              <a:ea typeface="ＭＳ ゴシック" panose="020B0609070205080204" pitchFamily="49" charset="-128"/>
            </a:endParaRPr>
          </a:p>
          <a:p>
            <a:pPr lvl="1"/>
            <a:r>
              <a:rPr lang="fr-FR" altLang="en-US" sz="1800" b="0">
                <a:latin typeface="Arial" panose="020B0604020202020204" pitchFamily="34" charset="0"/>
                <a:ea typeface="ＭＳ ゴシック" panose="020B0609070205080204" pitchFamily="49" charset="-128"/>
              </a:rPr>
              <a:t>StringBuilder sb2 = new StringBuilder("abc");</a:t>
            </a:r>
          </a:p>
          <a:p>
            <a:pPr lvl="1"/>
            <a:r>
              <a:rPr lang="fr-FR" altLang="en-US" sz="1800" b="0">
                <a:latin typeface="Arial" panose="020B0604020202020204" pitchFamily="34" charset="0"/>
                <a:ea typeface="ＭＳ ゴシック" panose="020B0609070205080204" pitchFamily="49" charset="-128"/>
              </a:rPr>
              <a:t>System.out.println("sb2.capacity()：" + sb2.capacity()); </a:t>
            </a:r>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System.out.println("sb2.length()  ：" + sb2.length());</a:t>
            </a:r>
            <a:r>
              <a:rPr lang="fr-FR" altLang="ja-JP" sz="1800" b="0">
                <a:latin typeface="Arial" panose="020B0604020202020204" pitchFamily="34" charset="0"/>
                <a:ea typeface="ＭＳ ゴシック" panose="020B0609070205080204" pitchFamily="49" charset="-128"/>
              </a:rPr>
              <a:t>     	</a:t>
            </a:r>
            <a:endParaRPr lang="fr-FR" altLang="en-US" sz="1800" b="0">
              <a:latin typeface="Arial" panose="020B0604020202020204" pitchFamily="34" charset="0"/>
              <a:ea typeface="ＭＳ ゴシック" panose="020B0609070205080204" pitchFamily="49" charset="-128"/>
            </a:endParaRPr>
          </a:p>
          <a:p>
            <a:pPr lvl="1"/>
            <a:r>
              <a:rPr lang="fr-FR" altLang="en-US" sz="1800" b="0">
                <a:latin typeface="Arial" panose="020B0604020202020204" pitchFamily="34" charset="0"/>
                <a:ea typeface="ＭＳ ゴシック" panose="020B0609070205080204" pitchFamily="49" charset="-128"/>
              </a:rPr>
              <a:t>sb2.append("def");</a:t>
            </a:r>
            <a:r>
              <a:rPr lang="fr-FR" altLang="ja-JP" sz="1800" b="0">
                <a:latin typeface="Arial" panose="020B0604020202020204" pitchFamily="34" charset="0"/>
                <a:ea typeface="ＭＳ ゴシック" panose="020B0609070205080204" pitchFamily="49" charset="-128"/>
              </a:rPr>
              <a:t>                                         	</a:t>
            </a:r>
          </a:p>
          <a:p>
            <a:pPr lvl="1"/>
            <a:r>
              <a:rPr lang="fr-FR" altLang="en-US" sz="1800" b="0">
                <a:latin typeface="Arial" panose="020B0604020202020204" pitchFamily="34" charset="0"/>
                <a:ea typeface="ＭＳ ゴシック" panose="020B0609070205080204" pitchFamily="49" charset="-128"/>
              </a:rPr>
              <a:t>sb2.insert(3, "ABC");</a:t>
            </a:r>
            <a:r>
              <a:rPr lang="fr-FR" altLang="ja-JP" sz="1800" b="0">
                <a:latin typeface="Arial" panose="020B0604020202020204" pitchFamily="34" charset="0"/>
                <a:ea typeface="ＭＳ ゴシック" panose="020B0609070205080204" pitchFamily="49" charset="-128"/>
              </a:rPr>
              <a:t>                                     	</a:t>
            </a:r>
            <a:endParaRPr lang="fr-FR" altLang="en-US" sz="1800" b="0">
              <a:latin typeface="Arial" panose="020B0604020202020204" pitchFamily="34" charset="0"/>
              <a:ea typeface="ＭＳ ゴシック" panose="020B0609070205080204" pitchFamily="49" charset="-128"/>
            </a:endParaRPr>
          </a:p>
          <a:p>
            <a:pPr lvl="1"/>
            <a:r>
              <a:rPr lang="fr-FR" altLang="en-US" sz="1800" b="0">
                <a:latin typeface="Arial" panose="020B0604020202020204" pitchFamily="34" charset="0"/>
                <a:ea typeface="ＭＳ ゴシック" panose="020B0609070205080204" pitchFamily="49" charset="-128"/>
              </a:rPr>
              <a:t>System.out.println("sb2:" + sb2.toString());</a:t>
            </a:r>
            <a:r>
              <a:rPr lang="fr-FR" altLang="ja-JP" sz="1800" b="0">
                <a:latin typeface="ＭＳ ゴシック" panose="020B0609070205080204" pitchFamily="49" charset="-128"/>
                <a:ea typeface="ＭＳ ゴシック" panose="020B0609070205080204" pitchFamily="49" charset="-128"/>
              </a:rPr>
              <a:t>               </a:t>
            </a:r>
            <a:endParaRPr lang="fr-FR" altLang="en-US" sz="1800" b="0">
              <a:latin typeface="ＭＳ ゴシック" panose="020B0609070205080204" pitchFamily="49" charset="-128"/>
              <a:ea typeface="ＭＳ ゴシック" panose="020B0609070205080204" pitchFamily="49"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A22866F4-8AB6-1183-57C7-E68CA97FC633}"/>
              </a:ext>
            </a:extLst>
          </p:cNvPr>
          <p:cNvSpPr>
            <a:spLocks noGrp="1" noChangeArrowheads="1"/>
          </p:cNvSpPr>
          <p:nvPr>
            <p:ph type="title"/>
          </p:nvPr>
        </p:nvSpPr>
        <p:spPr>
          <a:xfrm>
            <a:off x="344488" y="48577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Wrapper class (1)</a:t>
            </a:r>
          </a:p>
        </p:txBody>
      </p:sp>
      <p:sp>
        <p:nvSpPr>
          <p:cNvPr id="600067" name="Rectangle 3">
            <a:extLst>
              <a:ext uri="{FF2B5EF4-FFF2-40B4-BE49-F238E27FC236}">
                <a16:creationId xmlns:a16="http://schemas.microsoft.com/office/drawing/2014/main" id="{4D5F44A6-4558-D364-4FEC-6ADCD44865C7}"/>
              </a:ext>
            </a:extLst>
          </p:cNvPr>
          <p:cNvSpPr>
            <a:spLocks noChangeArrowheads="1"/>
          </p:cNvSpPr>
          <p:nvPr/>
        </p:nvSpPr>
        <p:spPr bwMode="auto">
          <a:xfrm>
            <a:off x="344488" y="237013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Kiểu data cơ bản và wrapper class</a:t>
            </a:r>
          </a:p>
          <a:p>
            <a:pPr lvl="1"/>
            <a:endParaRPr lang="en-US" altLang="ja-JP" sz="2400" b="0"/>
          </a:p>
        </p:txBody>
      </p:sp>
      <p:sp>
        <p:nvSpPr>
          <p:cNvPr id="600094" name="Rectangle 30">
            <a:extLst>
              <a:ext uri="{FF2B5EF4-FFF2-40B4-BE49-F238E27FC236}">
                <a16:creationId xmlns:a16="http://schemas.microsoft.com/office/drawing/2014/main" id="{8B2B7E28-C6BD-0D08-7BFC-D201237224DB}"/>
              </a:ext>
            </a:extLst>
          </p:cNvPr>
          <p:cNvSpPr>
            <a:spLocks noChangeArrowheads="1"/>
          </p:cNvSpPr>
          <p:nvPr/>
        </p:nvSpPr>
        <p:spPr bwMode="auto">
          <a:xfrm>
            <a:off x="344488" y="115093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Wrapper class</a:t>
            </a:r>
          </a:p>
        </p:txBody>
      </p:sp>
      <p:sp>
        <p:nvSpPr>
          <p:cNvPr id="600095" name="Rectangle 31">
            <a:extLst>
              <a:ext uri="{FF2B5EF4-FFF2-40B4-BE49-F238E27FC236}">
                <a16:creationId xmlns:a16="http://schemas.microsoft.com/office/drawing/2014/main" id="{EE0F6FCC-AB45-B97D-D5DF-C83DEF96FBBD}"/>
              </a:ext>
            </a:extLst>
          </p:cNvPr>
          <p:cNvSpPr>
            <a:spLocks noChangeArrowheads="1"/>
          </p:cNvSpPr>
          <p:nvPr/>
        </p:nvSpPr>
        <p:spPr bwMode="auto">
          <a:xfrm>
            <a:off x="344488" y="1684335"/>
            <a:ext cx="8255000"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solidFill>
                  <a:srgbClr val="F46292"/>
                </a:solidFill>
                <a:latin typeface="Arial" panose="020B0604020202020204" pitchFamily="34" charset="0"/>
              </a:rPr>
              <a:t>Là class tương ứng với các kiểu data cơ bản.</a:t>
            </a:r>
          </a:p>
        </p:txBody>
      </p:sp>
      <p:graphicFrame>
        <p:nvGraphicFramePr>
          <p:cNvPr id="600273" name="Group 209">
            <a:extLst>
              <a:ext uri="{FF2B5EF4-FFF2-40B4-BE49-F238E27FC236}">
                <a16:creationId xmlns:a16="http://schemas.microsoft.com/office/drawing/2014/main" id="{593BCF2F-364B-63FE-F9C2-957A745516F5}"/>
              </a:ext>
            </a:extLst>
          </p:cNvPr>
          <p:cNvGraphicFramePr>
            <a:graphicFrameLocks noGrp="1"/>
          </p:cNvGraphicFramePr>
          <p:nvPr>
            <p:ph idx="1"/>
            <p:extLst>
              <p:ext uri="{D42A27DB-BD31-4B8C-83A1-F6EECF244321}">
                <p14:modId xmlns:p14="http://schemas.microsoft.com/office/powerpoint/2010/main" val="2567615393"/>
              </p:ext>
            </p:extLst>
          </p:nvPr>
        </p:nvGraphicFramePr>
        <p:xfrm>
          <a:off x="344488" y="2886073"/>
          <a:ext cx="5346700" cy="3514727"/>
        </p:xfrm>
        <a:graphic>
          <a:graphicData uri="http://schemas.openxmlformats.org/drawingml/2006/table">
            <a:tbl>
              <a:tblPr/>
              <a:tblGrid>
                <a:gridCol w="2520950">
                  <a:extLst>
                    <a:ext uri="{9D8B030D-6E8A-4147-A177-3AD203B41FA5}">
                      <a16:colId xmlns:a16="http://schemas.microsoft.com/office/drawing/2014/main" val="1053930928"/>
                    </a:ext>
                  </a:extLst>
                </a:gridCol>
                <a:gridCol w="2825750">
                  <a:extLst>
                    <a:ext uri="{9D8B030D-6E8A-4147-A177-3AD203B41FA5}">
                      <a16:colId xmlns:a16="http://schemas.microsoft.com/office/drawing/2014/main" val="1001551132"/>
                    </a:ext>
                  </a:extLst>
                </a:gridCol>
              </a:tblGrid>
              <a:tr h="41116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Kiểu data cơ bản</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cs typeface="Times New Roman" panose="02020603050405020304" pitchFamily="18" charset="0"/>
                        </a:rPr>
                        <a:t>Wrapper class</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787917499"/>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byte</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Byte</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649262"/>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short</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Short</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7482294"/>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int</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Integer</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3232773"/>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long</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Long</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0740299"/>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float</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Float</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37658160"/>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double</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Double</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4463245"/>
                  </a:ext>
                </a:extLst>
              </a:tr>
              <a:tr h="38893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boolean</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Boolean</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16958345"/>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char</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a:spcBef>
                          <a:spcPct val="10000"/>
                        </a:spcBef>
                        <a:defRPr kumimoji="1">
                          <a:solidFill>
                            <a:schemeClr val="tx1"/>
                          </a:solidFill>
                          <a:latin typeface="MS UI Gothic" panose="020B0600070205080204" pitchFamily="50" charset="-128"/>
                          <a:ea typeface="MS UI Gothic" panose="020B0600070205080204" pitchFamily="50" charset="-128"/>
                        </a:defRPr>
                      </a:lvl3pPr>
                      <a:lvl4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a:spcBef>
                          <a:spcPct val="10000"/>
                        </a:spcBef>
                        <a:defRPr kumimoji="1">
                          <a:solidFill>
                            <a:schemeClr val="tx1"/>
                          </a:solidFill>
                          <a:latin typeface="MS UI Gothic" panose="020B0600070205080204" pitchFamily="50" charset="-128"/>
                          <a:ea typeface="MS UI Gothic" panose="020B0600070205080204" pitchFamily="50" charset="-128"/>
                        </a:defRPr>
                      </a:lvl5pPr>
                      <a:lvl6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cs typeface="Times New Roman" panose="02020603050405020304" pitchFamily="18" charset="0"/>
                        </a:rPr>
                        <a:t>Character</a:t>
                      </a:r>
                      <a:endParaRPr kumimoji="1" lang="en-US" altLang="ja-JP" sz="18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60478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44C93E4-CF31-5D61-9E23-35B32C28104D}"/>
              </a:ext>
            </a:extLst>
          </p:cNvPr>
          <p:cNvSpPr>
            <a:spLocks noGrp="1"/>
          </p:cNvSpPr>
          <p:nvPr>
            <p:ph type="sldNum" sz="quarter" idx="10"/>
          </p:nvPr>
        </p:nvSpPr>
        <p:spPr/>
        <p:txBody>
          <a:bodyPr/>
          <a:lstStyle/>
          <a:p>
            <a:fld id="{6B17DB1C-94F9-473A-82AC-B3694E8932D1}" type="slidenum">
              <a:rPr lang="en-US" altLang="ja-JP"/>
              <a:pPr/>
              <a:t>9</a:t>
            </a:fld>
            <a:endParaRPr lang="en-US" altLang="ja-JP"/>
          </a:p>
        </p:txBody>
      </p:sp>
      <p:sp>
        <p:nvSpPr>
          <p:cNvPr id="606247" name="Rectangle 39">
            <a:extLst>
              <a:ext uri="{FF2B5EF4-FFF2-40B4-BE49-F238E27FC236}">
                <a16:creationId xmlns:a16="http://schemas.microsoft.com/office/drawing/2014/main" id="{60B724D8-7D3E-EFAD-491D-2206325BBCCD}"/>
              </a:ext>
            </a:extLst>
          </p:cNvPr>
          <p:cNvSpPr>
            <a:spLocks noChangeArrowheads="1"/>
          </p:cNvSpPr>
          <p:nvPr/>
        </p:nvSpPr>
        <p:spPr bwMode="auto">
          <a:xfrm>
            <a:off x="344488" y="51720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p>
        </p:txBody>
      </p:sp>
      <p:sp>
        <p:nvSpPr>
          <p:cNvPr id="606210" name="Rectangle 2">
            <a:extLst>
              <a:ext uri="{FF2B5EF4-FFF2-40B4-BE49-F238E27FC236}">
                <a16:creationId xmlns:a16="http://schemas.microsoft.com/office/drawing/2014/main" id="{0789EE46-605B-2891-D5F5-A658C70243B7}"/>
              </a:ext>
            </a:extLst>
          </p:cNvPr>
          <p:cNvSpPr>
            <a:spLocks noGrp="1" noChangeArrowheads="1"/>
          </p:cNvSpPr>
          <p:nvPr>
            <p:ph type="title"/>
          </p:nvPr>
        </p:nvSpPr>
        <p:spPr>
          <a:xfrm>
            <a:off x="344488" y="54663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Wrapper class (2)</a:t>
            </a:r>
          </a:p>
        </p:txBody>
      </p:sp>
      <p:sp>
        <p:nvSpPr>
          <p:cNvPr id="606211" name="Rectangle 3">
            <a:extLst>
              <a:ext uri="{FF2B5EF4-FFF2-40B4-BE49-F238E27FC236}">
                <a16:creationId xmlns:a16="http://schemas.microsoft.com/office/drawing/2014/main" id="{44F694F5-093B-092D-1CD3-359593135451}"/>
              </a:ext>
            </a:extLst>
          </p:cNvPr>
          <p:cNvSpPr>
            <a:spLocks noChangeArrowheads="1"/>
          </p:cNvSpPr>
          <p:nvPr/>
        </p:nvSpPr>
        <p:spPr bwMode="auto">
          <a:xfrm>
            <a:off x="344488" y="367559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Chức năng unboxing	</a:t>
            </a:r>
          </a:p>
        </p:txBody>
      </p:sp>
      <p:sp>
        <p:nvSpPr>
          <p:cNvPr id="606238" name="Rectangle 30">
            <a:extLst>
              <a:ext uri="{FF2B5EF4-FFF2-40B4-BE49-F238E27FC236}">
                <a16:creationId xmlns:a16="http://schemas.microsoft.com/office/drawing/2014/main" id="{8D9D8252-74AB-0BAA-64B7-20098446FD00}"/>
              </a:ext>
            </a:extLst>
          </p:cNvPr>
          <p:cNvSpPr>
            <a:spLocks noChangeArrowheads="1"/>
          </p:cNvSpPr>
          <p:nvPr/>
        </p:nvSpPr>
        <p:spPr bwMode="auto">
          <a:xfrm>
            <a:off x="344488" y="121179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Chức năng auto boxing</a:t>
            </a:r>
          </a:p>
          <a:p>
            <a:pPr lvl="1"/>
            <a:endParaRPr lang="en-US" altLang="ja-JP" sz="2400" b="0"/>
          </a:p>
        </p:txBody>
      </p:sp>
      <p:sp>
        <p:nvSpPr>
          <p:cNvPr id="606239" name="Rectangle 31">
            <a:extLst>
              <a:ext uri="{FF2B5EF4-FFF2-40B4-BE49-F238E27FC236}">
                <a16:creationId xmlns:a16="http://schemas.microsoft.com/office/drawing/2014/main" id="{127AE0FA-17CA-B587-C938-56C6111DD83A}"/>
              </a:ext>
            </a:extLst>
          </p:cNvPr>
          <p:cNvSpPr>
            <a:spLocks noChangeArrowheads="1"/>
          </p:cNvSpPr>
          <p:nvPr/>
        </p:nvSpPr>
        <p:spPr bwMode="auto">
          <a:xfrm>
            <a:off x="344488" y="1611846"/>
            <a:ext cx="9120187" cy="62865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chức năng thực hiện convert tự động</a:t>
            </a:r>
            <a:r>
              <a:rPr lang="ja-JP" altLang="en-US" sz="2000">
                <a:latin typeface="Arial" panose="020B0604020202020204" pitchFamily="34" charset="0"/>
              </a:rPr>
              <a:t>「</a:t>
            </a:r>
            <a:r>
              <a:rPr lang="en-US" altLang="ja-JP" sz="2000">
                <a:latin typeface="Arial" panose="020B0604020202020204" pitchFamily="34" charset="0"/>
              </a:rPr>
              <a:t>kiểu data cơ bản → wrapper class</a:t>
            </a:r>
            <a:r>
              <a:rPr lang="ja-JP" altLang="en-US" sz="2000">
                <a:latin typeface="Arial" panose="020B0604020202020204" pitchFamily="34" charset="0"/>
              </a:rPr>
              <a:t>」</a:t>
            </a:r>
          </a:p>
        </p:txBody>
      </p:sp>
      <p:sp>
        <p:nvSpPr>
          <p:cNvPr id="606242" name="Rectangle 34">
            <a:extLst>
              <a:ext uri="{FF2B5EF4-FFF2-40B4-BE49-F238E27FC236}">
                <a16:creationId xmlns:a16="http://schemas.microsoft.com/office/drawing/2014/main" id="{EE252377-C84F-3ED0-C763-60D40E13D9A8}"/>
              </a:ext>
            </a:extLst>
          </p:cNvPr>
          <p:cNvSpPr>
            <a:spLocks noChangeArrowheads="1"/>
          </p:cNvSpPr>
          <p:nvPr/>
        </p:nvSpPr>
        <p:spPr bwMode="auto">
          <a:xfrm>
            <a:off x="344488" y="4180421"/>
            <a:ext cx="9120187" cy="7508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chức năng thực hiện convert tự động </a:t>
            </a:r>
            <a:r>
              <a:rPr lang="ja-JP" altLang="en-US" sz="2000">
                <a:latin typeface="Arial" panose="020B0604020202020204" pitchFamily="34" charset="0"/>
              </a:rPr>
              <a:t>「</a:t>
            </a:r>
            <a:r>
              <a:rPr lang="en-US" altLang="ja-JP" sz="2000">
                <a:latin typeface="Arial" panose="020B0604020202020204" pitchFamily="34" charset="0"/>
              </a:rPr>
              <a:t>wrapper class→kiểu data cơ bản</a:t>
            </a:r>
            <a:r>
              <a:rPr lang="ja-JP" altLang="en-US" sz="2000">
                <a:latin typeface="Arial" panose="020B0604020202020204" pitchFamily="34" charset="0"/>
              </a:rPr>
              <a:t>」</a:t>
            </a:r>
          </a:p>
        </p:txBody>
      </p:sp>
      <p:sp>
        <p:nvSpPr>
          <p:cNvPr id="606243" name="Rectangle 35">
            <a:extLst>
              <a:ext uri="{FF2B5EF4-FFF2-40B4-BE49-F238E27FC236}">
                <a16:creationId xmlns:a16="http://schemas.microsoft.com/office/drawing/2014/main" id="{17473782-D5FD-4EA6-2EF9-51E6A798BF88}"/>
              </a:ext>
            </a:extLst>
          </p:cNvPr>
          <p:cNvSpPr>
            <a:spLocks noChangeArrowheads="1"/>
          </p:cNvSpPr>
          <p:nvPr/>
        </p:nvSpPr>
        <p:spPr bwMode="auto">
          <a:xfrm>
            <a:off x="344488" y="2940584"/>
            <a:ext cx="9120187"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a:latin typeface="ＭＳ ゴシック" panose="020B0609070205080204" pitchFamily="49" charset="-128"/>
                <a:ea typeface="ＭＳ ゴシック" panose="020B0609070205080204" pitchFamily="49" charset="-128"/>
              </a:rPr>
              <a:t>Integer intObj =</a:t>
            </a:r>
            <a:r>
              <a:rPr lang="fr-FR" altLang="ja-JP" sz="1800" b="0">
                <a:latin typeface="ＭＳ ゴシック" panose="020B0609070205080204" pitchFamily="49" charset="-128"/>
                <a:ea typeface="ＭＳ ゴシック" panose="020B0609070205080204" pitchFamily="49" charset="-128"/>
              </a:rPr>
              <a:t>  </a:t>
            </a:r>
            <a:r>
              <a:rPr lang="fr-FR" altLang="en-US" sz="1800" b="0">
                <a:latin typeface="ＭＳ ゴシック" panose="020B0609070205080204" pitchFamily="49" charset="-128"/>
                <a:ea typeface="ＭＳ ゴシック" panose="020B0609070205080204" pitchFamily="49" charset="-128"/>
              </a:rPr>
              <a:t> 5</a:t>
            </a:r>
            <a:r>
              <a:rPr lang="fr-FR" altLang="ja-JP" sz="1800" b="0">
                <a:latin typeface="ＭＳ ゴシック" panose="020B0609070205080204" pitchFamily="49" charset="-128"/>
                <a:ea typeface="ＭＳ ゴシック" panose="020B0609070205080204" pitchFamily="49" charset="-128"/>
              </a:rPr>
              <a:t> </a:t>
            </a:r>
            <a:r>
              <a:rPr lang="fr-FR" altLang="en-US" sz="1800" b="0">
                <a:latin typeface="ＭＳ ゴシック" panose="020B0609070205080204" pitchFamily="49" charset="-128"/>
                <a:ea typeface="ＭＳ ゴシック" panose="020B0609070205080204" pitchFamily="49" charset="-128"/>
              </a:rPr>
              <a:t>;</a:t>
            </a:r>
          </a:p>
        </p:txBody>
      </p:sp>
      <p:sp>
        <p:nvSpPr>
          <p:cNvPr id="606244" name="Rectangle 36">
            <a:extLst>
              <a:ext uri="{FF2B5EF4-FFF2-40B4-BE49-F238E27FC236}">
                <a16:creationId xmlns:a16="http://schemas.microsoft.com/office/drawing/2014/main" id="{45AB3623-365B-AE0F-A71C-67E2EAB7D0A6}"/>
              </a:ext>
            </a:extLst>
          </p:cNvPr>
          <p:cNvSpPr>
            <a:spLocks noChangeArrowheads="1"/>
          </p:cNvSpPr>
          <p:nvPr/>
        </p:nvSpPr>
        <p:spPr bwMode="auto">
          <a:xfrm>
            <a:off x="344488" y="2432584"/>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t>●</a:t>
            </a:r>
            <a:r>
              <a:rPr lang="en-US" altLang="ja-JP" sz="2400" b="0">
                <a:latin typeface="Arial" panose="020B0604020202020204" pitchFamily="34" charset="0"/>
              </a:rPr>
              <a:t>Ví dụ</a:t>
            </a:r>
          </a:p>
          <a:p>
            <a:pPr lvl="1"/>
            <a:endParaRPr lang="en-US" altLang="ja-JP" sz="2400" b="0"/>
          </a:p>
        </p:txBody>
      </p:sp>
      <p:sp>
        <p:nvSpPr>
          <p:cNvPr id="606245" name="AutoShape 37">
            <a:extLst>
              <a:ext uri="{FF2B5EF4-FFF2-40B4-BE49-F238E27FC236}">
                <a16:creationId xmlns:a16="http://schemas.microsoft.com/office/drawing/2014/main" id="{F4B2F3B7-2B75-45C7-7411-33BDC31F8380}"/>
              </a:ext>
            </a:extLst>
          </p:cNvPr>
          <p:cNvSpPr>
            <a:spLocks noChangeArrowheads="1"/>
          </p:cNvSpPr>
          <p:nvPr/>
        </p:nvSpPr>
        <p:spPr bwMode="auto">
          <a:xfrm>
            <a:off x="3279775" y="2410359"/>
            <a:ext cx="5743575" cy="439737"/>
          </a:xfrm>
          <a:prstGeom prst="wedgeRoundRectCallout">
            <a:avLst>
              <a:gd name="adj1" fmla="val -54227"/>
              <a:gd name="adj2" fmla="val 9223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5 </a:t>
            </a:r>
            <a:r>
              <a:rPr lang="en-US" altLang="ja-JP" sz="1800" dirty="0" err="1">
                <a:latin typeface="+mj-lt"/>
              </a:rPr>
              <a:t>của</a:t>
            </a:r>
            <a:r>
              <a:rPr lang="en-US" altLang="ja-JP" sz="1800" dirty="0">
                <a:latin typeface="+mj-lt"/>
              </a:rPr>
              <a:t> </a:t>
            </a:r>
            <a:r>
              <a:rPr lang="en-US" altLang="ja-JP" sz="1800" dirty="0" err="1">
                <a:latin typeface="+mj-lt"/>
              </a:rPr>
              <a:t>kiểu</a:t>
            </a:r>
            <a:r>
              <a:rPr lang="en-US" altLang="ja-JP" sz="1800" dirty="0">
                <a:latin typeface="+mj-lt"/>
              </a:rPr>
              <a:t> int  →  Integer object </a:t>
            </a:r>
            <a:r>
              <a:rPr lang="en-US" altLang="ja-JP" sz="1800" dirty="0" err="1">
                <a:latin typeface="+mj-lt"/>
              </a:rPr>
              <a:t>thê</a:t>
            </a:r>
            <a:r>
              <a:rPr lang="en-US" altLang="ja-JP" sz="1800" dirty="0">
                <a:latin typeface="+mj-lt"/>
              </a:rPr>
              <a:t>̉ </a:t>
            </a:r>
            <a:r>
              <a:rPr lang="en-US" altLang="ja-JP" sz="1800" dirty="0" err="1">
                <a:latin typeface="+mj-lt"/>
              </a:rPr>
              <a:t>hiện</a:t>
            </a:r>
            <a:r>
              <a:rPr lang="en-US" altLang="ja-JP" sz="1800" dirty="0">
                <a:latin typeface="+mj-lt"/>
              </a:rPr>
              <a:t> 5</a:t>
            </a:r>
            <a:r>
              <a:rPr lang="en-US" altLang="ja-JP" dirty="0">
                <a:latin typeface="+mj-lt"/>
              </a:rPr>
              <a:t> </a:t>
            </a:r>
          </a:p>
        </p:txBody>
      </p:sp>
      <p:sp>
        <p:nvSpPr>
          <p:cNvPr id="606246" name="Rectangle 38">
            <a:extLst>
              <a:ext uri="{FF2B5EF4-FFF2-40B4-BE49-F238E27FC236}">
                <a16:creationId xmlns:a16="http://schemas.microsoft.com/office/drawing/2014/main" id="{49F15B2B-08CE-D8F6-04D8-F414EAEBA1D7}"/>
              </a:ext>
            </a:extLst>
          </p:cNvPr>
          <p:cNvSpPr>
            <a:spLocks noChangeArrowheads="1"/>
          </p:cNvSpPr>
          <p:nvPr/>
        </p:nvSpPr>
        <p:spPr bwMode="auto">
          <a:xfrm>
            <a:off x="344488" y="5680075"/>
            <a:ext cx="9120187" cy="492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a:latin typeface="ＭＳ ゴシック" panose="020B0609070205080204" pitchFamily="49" charset="-128"/>
                <a:ea typeface="ＭＳ ゴシック" panose="020B0609070205080204" pitchFamily="49" charset="-128"/>
              </a:rPr>
              <a:t>int num</a:t>
            </a:r>
            <a:r>
              <a:rPr lang="fr-FR" altLang="ja-JP" sz="1800" b="0">
                <a:latin typeface="ＭＳ ゴシック" panose="020B0609070205080204" pitchFamily="49" charset="-128"/>
                <a:ea typeface="ＭＳ ゴシック" panose="020B0609070205080204" pitchFamily="49" charset="-128"/>
              </a:rPr>
              <a:t> </a:t>
            </a:r>
            <a:r>
              <a:rPr lang="fr-FR" altLang="en-US" sz="1800" b="0">
                <a:latin typeface="ＭＳ ゴシック" panose="020B0609070205080204" pitchFamily="49" charset="-128"/>
                <a:ea typeface="ＭＳ ゴシック" panose="020B0609070205080204" pitchFamily="49" charset="-128"/>
              </a:rPr>
              <a:t>= </a:t>
            </a:r>
            <a:r>
              <a:rPr lang="fr-FR" altLang="ja-JP" sz="1800" b="0">
                <a:latin typeface="ＭＳ ゴシック" panose="020B0609070205080204" pitchFamily="49" charset="-128"/>
                <a:ea typeface="ＭＳ ゴシック" panose="020B0609070205080204" pitchFamily="49" charset="-128"/>
              </a:rPr>
              <a:t> </a:t>
            </a:r>
            <a:r>
              <a:rPr lang="fr-FR" altLang="en-US" sz="1800" b="0">
                <a:latin typeface="ＭＳ ゴシック" panose="020B0609070205080204" pitchFamily="49" charset="-128"/>
                <a:ea typeface="ＭＳ ゴシック" panose="020B0609070205080204" pitchFamily="49" charset="-128"/>
              </a:rPr>
              <a:t>intObj </a:t>
            </a:r>
            <a:r>
              <a:rPr lang="fr-FR" altLang="ja-JP" sz="1800" b="0">
                <a:latin typeface="ＭＳ ゴシック" panose="020B0609070205080204" pitchFamily="49" charset="-128"/>
                <a:ea typeface="ＭＳ ゴシック" panose="020B0609070205080204" pitchFamily="49" charset="-128"/>
              </a:rPr>
              <a:t> </a:t>
            </a:r>
            <a:r>
              <a:rPr lang="fr-FR" altLang="en-US" sz="1800" b="0">
                <a:latin typeface="ＭＳ ゴシック" panose="020B0609070205080204" pitchFamily="49" charset="-128"/>
                <a:ea typeface="ＭＳ ゴシック" panose="020B0609070205080204" pitchFamily="49" charset="-128"/>
              </a:rPr>
              <a:t>+ 1;</a:t>
            </a:r>
          </a:p>
        </p:txBody>
      </p:sp>
      <p:sp>
        <p:nvSpPr>
          <p:cNvPr id="606248" name="AutoShape 40">
            <a:extLst>
              <a:ext uri="{FF2B5EF4-FFF2-40B4-BE49-F238E27FC236}">
                <a16:creationId xmlns:a16="http://schemas.microsoft.com/office/drawing/2014/main" id="{06288572-2E63-F9CC-65AC-F759A2E5A41A}"/>
              </a:ext>
            </a:extLst>
          </p:cNvPr>
          <p:cNvSpPr>
            <a:spLocks noChangeArrowheads="1"/>
          </p:cNvSpPr>
          <p:nvPr/>
        </p:nvSpPr>
        <p:spPr bwMode="auto">
          <a:xfrm>
            <a:off x="3579813" y="5043488"/>
            <a:ext cx="5743575" cy="974725"/>
          </a:xfrm>
          <a:prstGeom prst="wedgeRoundRectCallout">
            <a:avLst>
              <a:gd name="adj1" fmla="val -55111"/>
              <a:gd name="adj2" fmla="val 35505"/>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Gán</a:t>
            </a:r>
            <a:r>
              <a:rPr lang="en-US" altLang="ja-JP" sz="1800" dirty="0">
                <a:latin typeface="+mj-lt"/>
              </a:rPr>
              <a:t> </a:t>
            </a:r>
            <a:r>
              <a:rPr lang="en-US" altLang="ja-JP" sz="1800" dirty="0" err="1">
                <a:latin typeface="+mj-lt"/>
              </a:rPr>
              <a:t>kết</a:t>
            </a:r>
            <a:r>
              <a:rPr lang="en-US" altLang="ja-JP" sz="1800" dirty="0">
                <a:latin typeface="+mj-lt"/>
              </a:rPr>
              <a:t> </a:t>
            </a:r>
            <a:r>
              <a:rPr lang="en-US" altLang="ja-JP" sz="1800" dirty="0" err="1">
                <a:latin typeface="+mj-lt"/>
              </a:rPr>
              <a:t>quả</a:t>
            </a:r>
            <a:r>
              <a:rPr lang="en-US" altLang="ja-JP" sz="1800" dirty="0">
                <a:latin typeface="+mj-lt"/>
              </a:rPr>
              <a:t> </a:t>
            </a:r>
            <a:r>
              <a:rPr lang="en-US" altLang="ja-JP" sz="1800" dirty="0" err="1">
                <a:latin typeface="+mj-lt"/>
              </a:rPr>
              <a:t>đã</a:t>
            </a:r>
            <a:r>
              <a:rPr lang="en-US" altLang="ja-JP" sz="1800" dirty="0">
                <a:latin typeface="+mj-lt"/>
              </a:rPr>
              <a:t> </a:t>
            </a:r>
            <a:r>
              <a:rPr lang="en-US" altLang="ja-JP" sz="1800" dirty="0" err="1">
                <a:latin typeface="+mj-lt"/>
              </a:rPr>
              <a:t>cộng</a:t>
            </a:r>
            <a:r>
              <a:rPr lang="en-US" altLang="ja-JP" sz="1800" dirty="0">
                <a:latin typeface="+mj-lt"/>
              </a:rPr>
              <a:t> </a:t>
            </a:r>
            <a:r>
              <a:rPr lang="en-US" altLang="ja-JP" sz="1800" dirty="0" err="1">
                <a:latin typeface="+mj-lt"/>
              </a:rPr>
              <a:t>thêm</a:t>
            </a:r>
            <a:r>
              <a:rPr lang="en-US" altLang="ja-JP" sz="1800" dirty="0">
                <a:latin typeface="+mj-lt"/>
              </a:rPr>
              <a:t> 1 </a:t>
            </a:r>
            <a:r>
              <a:rPr lang="en-US" altLang="ja-JP" sz="1800" dirty="0" err="1">
                <a:latin typeface="+mj-lt"/>
              </a:rPr>
              <a:t>vào</a:t>
            </a:r>
            <a:r>
              <a:rPr lang="en-US" altLang="ja-JP" sz="1800" dirty="0">
                <a:latin typeface="+mj-lt"/>
              </a:rPr>
              <a:t> </a:t>
            </a:r>
            <a:r>
              <a:rPr lang="en-US" altLang="ja-JP" sz="1800" dirty="0" err="1">
                <a:latin typeface="+mj-lt"/>
              </a:rPr>
              <a:t>giá</a:t>
            </a:r>
            <a:r>
              <a:rPr lang="en-US" altLang="ja-JP" sz="1800" dirty="0">
                <a:latin typeface="+mj-lt"/>
              </a:rPr>
              <a:t> </a:t>
            </a:r>
            <a:r>
              <a:rPr lang="en-US" altLang="ja-JP" sz="1800" dirty="0" err="1">
                <a:latin typeface="+mj-lt"/>
              </a:rPr>
              <a:t>trị</a:t>
            </a:r>
            <a:r>
              <a:rPr lang="en-US" altLang="ja-JP" sz="1800" dirty="0">
                <a:latin typeface="+mj-lt"/>
              </a:rPr>
              <a:t> int </a:t>
            </a:r>
            <a:r>
              <a:rPr lang="en-US" altLang="ja-JP" sz="1800" dirty="0" err="1">
                <a:latin typeface="+mj-lt"/>
              </a:rPr>
              <a:t>mà</a:t>
            </a:r>
            <a:r>
              <a:rPr lang="en-US" altLang="ja-JP" sz="1800" dirty="0">
                <a:latin typeface="+mj-lt"/>
              </a:rPr>
              <a:t> </a:t>
            </a:r>
            <a:r>
              <a:rPr lang="en-US" altLang="ja-JP" sz="1800" dirty="0" err="1">
                <a:latin typeface="+mj-lt"/>
              </a:rPr>
              <a:t>intObj</a:t>
            </a:r>
            <a:r>
              <a:rPr lang="en-US" altLang="ja-JP" sz="1800" dirty="0">
                <a:latin typeface="+mj-lt"/>
              </a:rPr>
              <a:t>  </a:t>
            </a:r>
            <a:r>
              <a:rPr lang="en-US" altLang="ja-JP" sz="1800" dirty="0" err="1">
                <a:latin typeface="+mj-lt"/>
              </a:rPr>
              <a:t>quản</a:t>
            </a:r>
            <a:r>
              <a:rPr lang="en-US" altLang="ja-JP" sz="1800" dirty="0">
                <a:latin typeface="+mj-lt"/>
              </a:rPr>
              <a:t> </a:t>
            </a:r>
            <a:r>
              <a:rPr lang="en-US" altLang="ja-JP" sz="1800" dirty="0" err="1">
                <a:latin typeface="+mj-lt"/>
              </a:rPr>
              <a:t>lý</a:t>
            </a:r>
            <a:r>
              <a:rPr lang="en-US" altLang="ja-JP" sz="1800" dirty="0">
                <a:latin typeface="+mj-lt"/>
              </a:rPr>
              <a:t> </a:t>
            </a:r>
            <a:r>
              <a:rPr lang="en-US" altLang="ja-JP" sz="1800" dirty="0" err="1">
                <a:latin typeface="+mj-lt"/>
              </a:rPr>
              <a:t>vào</a:t>
            </a:r>
            <a:r>
              <a:rPr lang="en-US" altLang="ja-JP" sz="1800" dirty="0">
                <a:latin typeface="+mj-lt"/>
              </a:rPr>
              <a:t> num</a:t>
            </a:r>
          </a:p>
          <a:p>
            <a:pPr algn="ctr"/>
            <a:r>
              <a:rPr lang="en-US" altLang="en-US" sz="1800" dirty="0">
                <a:latin typeface="+mj-lt"/>
              </a:rPr>
              <a:t>Integer object</a:t>
            </a:r>
            <a:r>
              <a:rPr lang="ja-JP" altLang="en-US" sz="1800" dirty="0">
                <a:latin typeface="+mj-lt"/>
              </a:rPr>
              <a:t>　→　</a:t>
            </a:r>
            <a:r>
              <a:rPr lang="en-US" altLang="ja-JP" sz="1800" dirty="0" err="1">
                <a:latin typeface="+mj-lt"/>
              </a:rPr>
              <a:t>giá</a:t>
            </a:r>
            <a:r>
              <a:rPr lang="en-US" altLang="ja-JP" sz="1800" dirty="0">
                <a:latin typeface="+mj-lt"/>
              </a:rPr>
              <a:t> </a:t>
            </a:r>
            <a:r>
              <a:rPr lang="en-US" altLang="ja-JP" sz="1800" dirty="0" err="1">
                <a:latin typeface="+mj-lt"/>
              </a:rPr>
              <a:t>trị</a:t>
            </a:r>
            <a:r>
              <a:rPr lang="en-US" altLang="ja-JP" sz="1800" dirty="0">
                <a:latin typeface="+mj-lt"/>
              </a:rPr>
              <a:t> </a:t>
            </a:r>
            <a:r>
              <a:rPr lang="en-US" altLang="ja-JP" sz="1800" dirty="0" err="1">
                <a:latin typeface="+mj-lt"/>
              </a:rPr>
              <a:t>của</a:t>
            </a:r>
            <a:r>
              <a:rPr lang="en-US" altLang="ja-JP" sz="1800" dirty="0">
                <a:latin typeface="+mj-lt"/>
              </a:rPr>
              <a:t> </a:t>
            </a:r>
            <a:r>
              <a:rPr lang="en-US" altLang="ja-JP" sz="1800" dirty="0" err="1">
                <a:latin typeface="+mj-lt"/>
              </a:rPr>
              <a:t>kiểu</a:t>
            </a:r>
            <a:r>
              <a:rPr lang="en-US" altLang="ja-JP" sz="1800" dirty="0">
                <a:latin typeface="+mj-lt"/>
              </a:rPr>
              <a:t> int</a:t>
            </a:r>
          </a:p>
        </p:txBody>
      </p:sp>
      <p:sp>
        <p:nvSpPr>
          <p:cNvPr id="606249" name="Rectangle 41">
            <a:extLst>
              <a:ext uri="{FF2B5EF4-FFF2-40B4-BE49-F238E27FC236}">
                <a16:creationId xmlns:a16="http://schemas.microsoft.com/office/drawing/2014/main" id="{8B6BAB05-16A8-EB71-AB70-0774A1F7B683}"/>
              </a:ext>
            </a:extLst>
          </p:cNvPr>
          <p:cNvSpPr>
            <a:spLocks noChangeArrowheads="1"/>
          </p:cNvSpPr>
          <p:nvPr/>
        </p:nvSpPr>
        <p:spPr bwMode="auto">
          <a:xfrm>
            <a:off x="2646363" y="2924709"/>
            <a:ext cx="373063" cy="36830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06250" name="Rectangle 42">
            <a:extLst>
              <a:ext uri="{FF2B5EF4-FFF2-40B4-BE49-F238E27FC236}">
                <a16:creationId xmlns:a16="http://schemas.microsoft.com/office/drawing/2014/main" id="{C8E56BD4-62A1-09C6-1125-8B9A43A08B8E}"/>
              </a:ext>
            </a:extLst>
          </p:cNvPr>
          <p:cNvSpPr>
            <a:spLocks noChangeArrowheads="1"/>
          </p:cNvSpPr>
          <p:nvPr/>
        </p:nvSpPr>
        <p:spPr bwMode="auto">
          <a:xfrm>
            <a:off x="1829634" y="5718962"/>
            <a:ext cx="815975" cy="33020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F837EE-9868-BBA1-F7EE-5F79F51D142A}"/>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513CAF4C-2003-4056-9324-FA5AAC19F643}" type="slidenum">
              <a:rPr lang="en-US" altLang="ja-JP" smtClean="0"/>
              <a:pPr/>
              <a:t>10</a:t>
            </a:fld>
            <a:endParaRPr lang="en-US" altLang="ja-JP"/>
          </a:p>
        </p:txBody>
      </p:sp>
      <p:sp>
        <p:nvSpPr>
          <p:cNvPr id="256003" name="Text Box 3">
            <a:extLst>
              <a:ext uri="{FF2B5EF4-FFF2-40B4-BE49-F238E27FC236}">
                <a16:creationId xmlns:a16="http://schemas.microsoft.com/office/drawing/2014/main" id="{96C5B269-82C0-1D81-A07B-3AA1DB9629CD}"/>
              </a:ext>
            </a:extLst>
          </p:cNvPr>
          <p:cNvSpPr txBox="1">
            <a:spLocks noChangeArrowheads="1"/>
          </p:cNvSpPr>
          <p:nvPr/>
        </p:nvSpPr>
        <p:spPr bwMode="auto">
          <a:xfrm>
            <a:off x="2411413" y="2336800"/>
            <a:ext cx="5238750" cy="837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4700" b="0" dirty="0" err="1">
                <a:ea typeface="ヒラギノ明朝 Pro W6" pitchFamily="18" charset="-128"/>
              </a:rPr>
              <a:t>Xư</a:t>
            </a:r>
            <a:r>
              <a:rPr lang="en-US" altLang="ja-JP" sz="4700" b="0" dirty="0">
                <a:ea typeface="ヒラギノ明朝 Pro W6" pitchFamily="18" charset="-128"/>
              </a:rPr>
              <a:t>̉ </a:t>
            </a:r>
            <a:r>
              <a:rPr lang="en-US" altLang="ja-JP" sz="4700" b="0" dirty="0" err="1">
                <a:ea typeface="ヒラギノ明朝 Pro W6" pitchFamily="18" charset="-128"/>
              </a:rPr>
              <a:t>ly</a:t>
            </a:r>
            <a:r>
              <a:rPr lang="en-US" altLang="ja-JP" sz="4700" b="0" dirty="0">
                <a:ea typeface="ヒラギノ明朝 Pro W6" pitchFamily="18" charset="-128"/>
              </a:rPr>
              <a:t>́ exception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F41E090-62AA-8FF2-424B-A0EF3FBBE2C7}"/>
              </a:ext>
            </a:extLst>
          </p:cNvPr>
          <p:cNvSpPr>
            <a:spLocks noGrp="1"/>
          </p:cNvSpPr>
          <p:nvPr>
            <p:ph type="sldNum" sz="quarter" idx="10"/>
          </p:nvPr>
        </p:nvSpPr>
        <p:spPr/>
        <p:txBody>
          <a:bodyPr/>
          <a:lstStyle/>
          <a:p>
            <a:fld id="{B0ED49C6-90B2-4020-9628-CEFFE115C13C}" type="slidenum">
              <a:rPr lang="en-US" altLang="ja-JP"/>
              <a:pPr/>
              <a:t>11</a:t>
            </a:fld>
            <a:endParaRPr lang="en-US" altLang="ja-JP"/>
          </a:p>
        </p:txBody>
      </p:sp>
      <p:sp>
        <p:nvSpPr>
          <p:cNvPr id="368709" name="Rectangle 69">
            <a:extLst>
              <a:ext uri="{FF2B5EF4-FFF2-40B4-BE49-F238E27FC236}">
                <a16:creationId xmlns:a16="http://schemas.microsoft.com/office/drawing/2014/main" id="{C1913519-BCCB-BBCF-7003-06A1FE65BF9F}"/>
              </a:ext>
            </a:extLst>
          </p:cNvPr>
          <p:cNvSpPr>
            <a:spLocks noChangeArrowheads="1"/>
          </p:cNvSpPr>
          <p:nvPr/>
        </p:nvSpPr>
        <p:spPr bwMode="auto">
          <a:xfrm>
            <a:off x="603250" y="2492485"/>
            <a:ext cx="8840788" cy="436551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68642" name="Rectangle 2">
            <a:extLst>
              <a:ext uri="{FF2B5EF4-FFF2-40B4-BE49-F238E27FC236}">
                <a16:creationId xmlns:a16="http://schemas.microsoft.com/office/drawing/2014/main" id="{798A6950-5610-C32C-EED6-B7629F956E73}"/>
              </a:ext>
            </a:extLst>
          </p:cNvPr>
          <p:cNvSpPr>
            <a:spLocks noGrp="1" noChangeArrowheads="1"/>
          </p:cNvSpPr>
          <p:nvPr>
            <p:ph type="title"/>
          </p:nvPr>
        </p:nvSpPr>
        <p:spPr>
          <a:xfrm>
            <a:off x="344488" y="407988"/>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Exception là </a:t>
            </a:r>
            <a:r>
              <a:rPr lang="en-US" altLang="ja-JP" dirty="0" err="1">
                <a:latin typeface="Arial" panose="020B0604020202020204" pitchFamily="34" charset="0"/>
                <a:ea typeface="MS UI Gothic" panose="020B0600070205080204" pitchFamily="50" charset="-128"/>
              </a:rPr>
              <a:t>gi</a:t>
            </a:r>
            <a:r>
              <a:rPr lang="en-US" altLang="ja-JP" dirty="0">
                <a:latin typeface="Arial" panose="020B0604020202020204" pitchFamily="34" charset="0"/>
                <a:ea typeface="MS UI Gothic" panose="020B0600070205080204" pitchFamily="50" charset="-128"/>
              </a:rPr>
              <a:t>̀</a:t>
            </a:r>
          </a:p>
        </p:txBody>
      </p:sp>
      <p:sp>
        <p:nvSpPr>
          <p:cNvPr id="368644" name="Rectangle 4">
            <a:extLst>
              <a:ext uri="{FF2B5EF4-FFF2-40B4-BE49-F238E27FC236}">
                <a16:creationId xmlns:a16="http://schemas.microsoft.com/office/drawing/2014/main" id="{238BBDDE-32C5-8A2A-55AC-C0372671D458}"/>
              </a:ext>
            </a:extLst>
          </p:cNvPr>
          <p:cNvSpPr>
            <a:spLocks noChangeArrowheads="1"/>
          </p:cNvSpPr>
          <p:nvPr/>
        </p:nvSpPr>
        <p:spPr bwMode="auto">
          <a:xfrm>
            <a:off x="344488" y="10731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Exception là gì</a:t>
            </a:r>
          </a:p>
          <a:p>
            <a:pPr lvl="1"/>
            <a:endParaRPr lang="en-US" altLang="ja-JP" sz="2400" b="0">
              <a:latin typeface="Arial" panose="020B0604020202020204" pitchFamily="34" charset="0"/>
            </a:endParaRPr>
          </a:p>
        </p:txBody>
      </p:sp>
      <p:sp>
        <p:nvSpPr>
          <p:cNvPr id="368670" name="Rectangle 30">
            <a:extLst>
              <a:ext uri="{FF2B5EF4-FFF2-40B4-BE49-F238E27FC236}">
                <a16:creationId xmlns:a16="http://schemas.microsoft.com/office/drawing/2014/main" id="{08960F26-9AE3-5B5D-25BF-985475AFA638}"/>
              </a:ext>
            </a:extLst>
          </p:cNvPr>
          <p:cNvSpPr>
            <a:spLocks noChangeArrowheads="1"/>
          </p:cNvSpPr>
          <p:nvPr/>
        </p:nvSpPr>
        <p:spPr bwMode="auto">
          <a:xfrm>
            <a:off x="344488" y="1543050"/>
            <a:ext cx="9110662" cy="5095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error mang tính ứng dụng(application) phát sinh khi thực hiện/chạy</a:t>
            </a:r>
          </a:p>
        </p:txBody>
      </p:sp>
      <p:sp>
        <p:nvSpPr>
          <p:cNvPr id="368671" name="Rectangle 31">
            <a:extLst>
              <a:ext uri="{FF2B5EF4-FFF2-40B4-BE49-F238E27FC236}">
                <a16:creationId xmlns:a16="http://schemas.microsoft.com/office/drawing/2014/main" id="{F9DCB45B-B276-A58A-57A5-A1B3910432C7}"/>
              </a:ext>
            </a:extLst>
          </p:cNvPr>
          <p:cNvSpPr>
            <a:spLocks noChangeArrowheads="1"/>
          </p:cNvSpPr>
          <p:nvPr/>
        </p:nvSpPr>
        <p:spPr bwMode="auto">
          <a:xfrm>
            <a:off x="344487" y="2098785"/>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Các</a:t>
            </a:r>
            <a:r>
              <a:rPr lang="en-US" altLang="ja-JP" sz="2400" b="0" dirty="0">
                <a:latin typeface="Arial" panose="020B0604020202020204" pitchFamily="34" charset="0"/>
              </a:rPr>
              <a:t> </a:t>
            </a:r>
            <a:r>
              <a:rPr lang="en-US" altLang="ja-JP" sz="2400" b="0" dirty="0" err="1">
                <a:latin typeface="Arial" panose="020B0604020202020204" pitchFamily="34" charset="0"/>
              </a:rPr>
              <a:t>loại</a:t>
            </a:r>
            <a:r>
              <a:rPr lang="en-US" altLang="ja-JP" sz="2400" b="0" dirty="0">
                <a:latin typeface="Arial" panose="020B0604020202020204" pitchFamily="34" charset="0"/>
              </a:rPr>
              <a:t> exception</a:t>
            </a:r>
          </a:p>
          <a:p>
            <a:pPr lvl="1"/>
            <a:endParaRPr lang="en-US" altLang="ja-JP" sz="2400" b="0" dirty="0">
              <a:latin typeface="Arial" panose="020B0604020202020204" pitchFamily="34" charset="0"/>
            </a:endParaRPr>
          </a:p>
        </p:txBody>
      </p:sp>
      <p:grpSp>
        <p:nvGrpSpPr>
          <p:cNvPr id="368716" name="Group 76">
            <a:extLst>
              <a:ext uri="{FF2B5EF4-FFF2-40B4-BE49-F238E27FC236}">
                <a16:creationId xmlns:a16="http://schemas.microsoft.com/office/drawing/2014/main" id="{64E36F2B-2F1F-F537-F30C-16E0F5CE610D}"/>
              </a:ext>
            </a:extLst>
          </p:cNvPr>
          <p:cNvGrpSpPr>
            <a:grpSpLocks/>
          </p:cNvGrpSpPr>
          <p:nvPr/>
        </p:nvGrpSpPr>
        <p:grpSpPr bwMode="auto">
          <a:xfrm>
            <a:off x="1073150" y="2546350"/>
            <a:ext cx="7869238" cy="3930650"/>
            <a:chOff x="676" y="1604"/>
            <a:chExt cx="4957" cy="2476"/>
          </a:xfrm>
        </p:grpSpPr>
        <p:sp>
          <p:nvSpPr>
            <p:cNvPr id="368673" name="AutoShape 33">
              <a:extLst>
                <a:ext uri="{FF2B5EF4-FFF2-40B4-BE49-F238E27FC236}">
                  <a16:creationId xmlns:a16="http://schemas.microsoft.com/office/drawing/2014/main" id="{58DEC649-6E50-EE2B-956D-B2523DB58697}"/>
                </a:ext>
              </a:extLst>
            </p:cNvPr>
            <p:cNvSpPr>
              <a:spLocks noChangeArrowheads="1"/>
            </p:cNvSpPr>
            <p:nvPr/>
          </p:nvSpPr>
          <p:spPr bwMode="auto">
            <a:xfrm>
              <a:off x="4088" y="2528"/>
              <a:ext cx="1545" cy="1152"/>
            </a:xfrm>
            <a:prstGeom prst="roundRect">
              <a:avLst>
                <a:gd name="adj" fmla="val 16667"/>
              </a:avLst>
            </a:prstGeom>
            <a:solidFill>
              <a:srgbClr val="FFFF99"/>
            </a:solidFill>
            <a:ln w="9525">
              <a:solidFill>
                <a:srgbClr val="000000"/>
              </a:solidFill>
              <a:round/>
              <a:headEnd/>
              <a:tailEnd/>
            </a:ln>
          </p:spPr>
          <p:txBody>
            <a:bodyPr lIns="74295" tIns="8890" rIns="74295" bIns="8890"/>
            <a:lstStyle/>
            <a:p>
              <a:endParaRPr lang="ja-JP" altLang="en-US"/>
            </a:p>
          </p:txBody>
        </p:sp>
        <p:sp>
          <p:nvSpPr>
            <p:cNvPr id="368674" name="AutoShape 34">
              <a:extLst>
                <a:ext uri="{FF2B5EF4-FFF2-40B4-BE49-F238E27FC236}">
                  <a16:creationId xmlns:a16="http://schemas.microsoft.com/office/drawing/2014/main" id="{C99B2746-8C02-3034-85E3-5BC5B2F95D00}"/>
                </a:ext>
              </a:extLst>
            </p:cNvPr>
            <p:cNvSpPr>
              <a:spLocks noChangeArrowheads="1"/>
            </p:cNvSpPr>
            <p:nvPr/>
          </p:nvSpPr>
          <p:spPr bwMode="auto">
            <a:xfrm>
              <a:off x="2429" y="2522"/>
              <a:ext cx="1488" cy="1190"/>
            </a:xfrm>
            <a:prstGeom prst="roundRect">
              <a:avLst>
                <a:gd name="adj" fmla="val 16667"/>
              </a:avLst>
            </a:prstGeom>
            <a:solidFill>
              <a:srgbClr val="CCFFFF"/>
            </a:solidFill>
            <a:ln w="9525">
              <a:solidFill>
                <a:srgbClr val="000000"/>
              </a:solidFill>
              <a:round/>
              <a:headEnd/>
              <a:tailEnd/>
            </a:ln>
          </p:spPr>
          <p:txBody>
            <a:bodyPr lIns="74295" tIns="8890" rIns="74295" bIns="8890"/>
            <a:lstStyle/>
            <a:p>
              <a:endParaRPr lang="ja-JP" altLang="en-US"/>
            </a:p>
          </p:txBody>
        </p:sp>
        <p:grpSp>
          <p:nvGrpSpPr>
            <p:cNvPr id="368675" name="Group 35">
              <a:extLst>
                <a:ext uri="{FF2B5EF4-FFF2-40B4-BE49-F238E27FC236}">
                  <a16:creationId xmlns:a16="http://schemas.microsoft.com/office/drawing/2014/main" id="{3AFBBD21-D59C-82ED-A2D3-F94941F71D2B}"/>
                </a:ext>
              </a:extLst>
            </p:cNvPr>
            <p:cNvGrpSpPr>
              <a:grpSpLocks/>
            </p:cNvGrpSpPr>
            <p:nvPr/>
          </p:nvGrpSpPr>
          <p:grpSpPr bwMode="auto">
            <a:xfrm>
              <a:off x="1436" y="1826"/>
              <a:ext cx="1758" cy="380"/>
              <a:chOff x="3196" y="9031"/>
              <a:chExt cx="2045" cy="860"/>
            </a:xfrm>
          </p:grpSpPr>
          <p:sp>
            <p:nvSpPr>
              <p:cNvPr id="368676" name="Line 36">
                <a:extLst>
                  <a:ext uri="{FF2B5EF4-FFF2-40B4-BE49-F238E27FC236}">
                    <a16:creationId xmlns:a16="http://schemas.microsoft.com/office/drawing/2014/main" id="{D0C0BF1E-3971-A386-0C19-BA497A6930AF}"/>
                  </a:ext>
                </a:extLst>
              </p:cNvPr>
              <p:cNvSpPr>
                <a:spLocks noChangeShapeType="1"/>
              </p:cNvSpPr>
              <p:nvPr/>
            </p:nvSpPr>
            <p:spPr bwMode="auto">
              <a:xfrm flipH="1" flipV="1">
                <a:off x="3208" y="9473"/>
                <a:ext cx="0" cy="4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77" name="Line 37">
                <a:extLst>
                  <a:ext uri="{FF2B5EF4-FFF2-40B4-BE49-F238E27FC236}">
                    <a16:creationId xmlns:a16="http://schemas.microsoft.com/office/drawing/2014/main" id="{E0ECD0D2-ADA2-527B-7AA1-0A4C255F6FAA}"/>
                  </a:ext>
                </a:extLst>
              </p:cNvPr>
              <p:cNvSpPr>
                <a:spLocks noChangeShapeType="1"/>
              </p:cNvSpPr>
              <p:nvPr/>
            </p:nvSpPr>
            <p:spPr bwMode="auto">
              <a:xfrm flipH="1" flipV="1">
                <a:off x="5241" y="9473"/>
                <a:ext cx="0" cy="4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78" name="Line 38">
                <a:extLst>
                  <a:ext uri="{FF2B5EF4-FFF2-40B4-BE49-F238E27FC236}">
                    <a16:creationId xmlns:a16="http://schemas.microsoft.com/office/drawing/2014/main" id="{BD7F2551-121B-B7C2-A432-452861DE3DC3}"/>
                  </a:ext>
                </a:extLst>
              </p:cNvPr>
              <p:cNvSpPr>
                <a:spLocks noChangeShapeType="1"/>
              </p:cNvSpPr>
              <p:nvPr/>
            </p:nvSpPr>
            <p:spPr bwMode="auto">
              <a:xfrm flipV="1">
                <a:off x="3196" y="9461"/>
                <a:ext cx="20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79" name="Line 39">
                <a:extLst>
                  <a:ext uri="{FF2B5EF4-FFF2-40B4-BE49-F238E27FC236}">
                    <a16:creationId xmlns:a16="http://schemas.microsoft.com/office/drawing/2014/main" id="{E2178EA7-0EFF-756A-0262-16F06A949A35}"/>
                  </a:ext>
                </a:extLst>
              </p:cNvPr>
              <p:cNvSpPr>
                <a:spLocks noChangeShapeType="1"/>
              </p:cNvSpPr>
              <p:nvPr/>
            </p:nvSpPr>
            <p:spPr bwMode="auto">
              <a:xfrm flipH="1" flipV="1">
                <a:off x="4268" y="9031"/>
                <a:ext cx="0" cy="4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grpSp>
        <p:sp>
          <p:nvSpPr>
            <p:cNvPr id="368680" name="Rectangle 40">
              <a:extLst>
                <a:ext uri="{FF2B5EF4-FFF2-40B4-BE49-F238E27FC236}">
                  <a16:creationId xmlns:a16="http://schemas.microsoft.com/office/drawing/2014/main" id="{A9E313B0-AD20-0360-F139-608DE2728738}"/>
                </a:ext>
              </a:extLst>
            </p:cNvPr>
            <p:cNvSpPr>
              <a:spLocks noChangeArrowheads="1"/>
            </p:cNvSpPr>
            <p:nvPr/>
          </p:nvSpPr>
          <p:spPr bwMode="auto">
            <a:xfrm>
              <a:off x="1740" y="1604"/>
              <a:ext cx="1254" cy="225"/>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a:t>Throwable</a:t>
              </a:r>
            </a:p>
          </p:txBody>
        </p:sp>
        <p:sp>
          <p:nvSpPr>
            <p:cNvPr id="368681" name="AutoShape 41">
              <a:extLst>
                <a:ext uri="{FF2B5EF4-FFF2-40B4-BE49-F238E27FC236}">
                  <a16:creationId xmlns:a16="http://schemas.microsoft.com/office/drawing/2014/main" id="{90C2123D-24CB-FDD5-64B5-8B2E28F004CC}"/>
                </a:ext>
              </a:extLst>
            </p:cNvPr>
            <p:cNvSpPr>
              <a:spLocks noChangeArrowheads="1"/>
            </p:cNvSpPr>
            <p:nvPr/>
          </p:nvSpPr>
          <p:spPr bwMode="auto">
            <a:xfrm>
              <a:off x="2309" y="1832"/>
              <a:ext cx="104" cy="72"/>
            </a:xfrm>
            <a:prstGeom prst="triangle">
              <a:avLst>
                <a:gd name="adj" fmla="val 50000"/>
              </a:avLst>
            </a:prstGeom>
            <a:solidFill>
              <a:srgbClr val="FFFFFF"/>
            </a:solidFill>
            <a:ln w="9525">
              <a:solidFill>
                <a:srgbClr val="000000"/>
              </a:solidFill>
              <a:miter lim="800000"/>
              <a:headEnd/>
              <a:tailEnd/>
            </a:ln>
          </p:spPr>
          <p:txBody>
            <a:bodyPr lIns="74295" tIns="8890" rIns="74295" bIns="8890"/>
            <a:lstStyle/>
            <a:p>
              <a:endParaRPr lang="ja-JP" altLang="en-US"/>
            </a:p>
          </p:txBody>
        </p:sp>
        <p:sp>
          <p:nvSpPr>
            <p:cNvPr id="368682" name="Rectangle 42">
              <a:extLst>
                <a:ext uri="{FF2B5EF4-FFF2-40B4-BE49-F238E27FC236}">
                  <a16:creationId xmlns:a16="http://schemas.microsoft.com/office/drawing/2014/main" id="{21FAC359-7D13-EADB-D8D6-5D0685E48C90}"/>
                </a:ext>
              </a:extLst>
            </p:cNvPr>
            <p:cNvSpPr>
              <a:spLocks noChangeArrowheads="1"/>
            </p:cNvSpPr>
            <p:nvPr/>
          </p:nvSpPr>
          <p:spPr bwMode="auto">
            <a:xfrm>
              <a:off x="2544" y="2569"/>
              <a:ext cx="1291"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dirty="0" err="1">
                  <a:latin typeface="+mj-lt"/>
                </a:rPr>
                <a:t>RuntimeException</a:t>
              </a:r>
              <a:endParaRPr lang="en-US" altLang="ja-JP" sz="1800" dirty="0">
                <a:latin typeface="+mj-lt"/>
              </a:endParaRPr>
            </a:p>
          </p:txBody>
        </p:sp>
        <p:sp>
          <p:nvSpPr>
            <p:cNvPr id="368683" name="Line 43">
              <a:extLst>
                <a:ext uri="{FF2B5EF4-FFF2-40B4-BE49-F238E27FC236}">
                  <a16:creationId xmlns:a16="http://schemas.microsoft.com/office/drawing/2014/main" id="{F9D9DB97-43B7-B0E5-5CDF-34073A51A4AA}"/>
                </a:ext>
              </a:extLst>
            </p:cNvPr>
            <p:cNvSpPr>
              <a:spLocks noChangeShapeType="1"/>
            </p:cNvSpPr>
            <p:nvPr/>
          </p:nvSpPr>
          <p:spPr bwMode="auto">
            <a:xfrm>
              <a:off x="3164" y="2427"/>
              <a:ext cx="1" cy="1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84" name="Rectangle 44">
              <a:extLst>
                <a:ext uri="{FF2B5EF4-FFF2-40B4-BE49-F238E27FC236}">
                  <a16:creationId xmlns:a16="http://schemas.microsoft.com/office/drawing/2014/main" id="{2689671C-7CF0-C9BB-D038-506F757B6B7F}"/>
                </a:ext>
              </a:extLst>
            </p:cNvPr>
            <p:cNvSpPr>
              <a:spLocks noChangeArrowheads="1"/>
            </p:cNvSpPr>
            <p:nvPr/>
          </p:nvSpPr>
          <p:spPr bwMode="auto">
            <a:xfrm>
              <a:off x="2717" y="2985"/>
              <a:ext cx="1121"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85" name="Rectangle 45">
              <a:extLst>
                <a:ext uri="{FF2B5EF4-FFF2-40B4-BE49-F238E27FC236}">
                  <a16:creationId xmlns:a16="http://schemas.microsoft.com/office/drawing/2014/main" id="{55CCEC0D-2C69-E112-D33E-3BED710415DF}"/>
                </a:ext>
              </a:extLst>
            </p:cNvPr>
            <p:cNvSpPr>
              <a:spLocks noChangeArrowheads="1"/>
            </p:cNvSpPr>
            <p:nvPr/>
          </p:nvSpPr>
          <p:spPr bwMode="auto">
            <a:xfrm>
              <a:off x="2636" y="3025"/>
              <a:ext cx="1153"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86" name="Rectangle 46">
              <a:extLst>
                <a:ext uri="{FF2B5EF4-FFF2-40B4-BE49-F238E27FC236}">
                  <a16:creationId xmlns:a16="http://schemas.microsoft.com/office/drawing/2014/main" id="{A87C87B3-EB53-9D9C-F3F6-10DCF8E0A566}"/>
                </a:ext>
              </a:extLst>
            </p:cNvPr>
            <p:cNvSpPr>
              <a:spLocks noChangeArrowheads="1"/>
            </p:cNvSpPr>
            <p:nvPr/>
          </p:nvSpPr>
          <p:spPr bwMode="auto">
            <a:xfrm>
              <a:off x="2579" y="3071"/>
              <a:ext cx="1177"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dirty="0">
                  <a:latin typeface="+mj-lt"/>
                </a:rPr>
                <a:t>○○Exception</a:t>
              </a:r>
            </a:p>
          </p:txBody>
        </p:sp>
        <p:sp>
          <p:nvSpPr>
            <p:cNvPr id="368687" name="Rectangle 47">
              <a:extLst>
                <a:ext uri="{FF2B5EF4-FFF2-40B4-BE49-F238E27FC236}">
                  <a16:creationId xmlns:a16="http://schemas.microsoft.com/office/drawing/2014/main" id="{89CD18AF-0AE0-4C93-E892-E061E9AB76D1}"/>
                </a:ext>
              </a:extLst>
            </p:cNvPr>
            <p:cNvSpPr>
              <a:spLocks noChangeArrowheads="1"/>
            </p:cNvSpPr>
            <p:nvPr/>
          </p:nvSpPr>
          <p:spPr bwMode="auto">
            <a:xfrm>
              <a:off x="4406" y="2709"/>
              <a:ext cx="974"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88" name="Rectangle 48">
              <a:extLst>
                <a:ext uri="{FF2B5EF4-FFF2-40B4-BE49-F238E27FC236}">
                  <a16:creationId xmlns:a16="http://schemas.microsoft.com/office/drawing/2014/main" id="{548FB321-0A9D-2037-10E4-5E93D15FBED5}"/>
                </a:ext>
              </a:extLst>
            </p:cNvPr>
            <p:cNvSpPr>
              <a:spLocks noChangeArrowheads="1"/>
            </p:cNvSpPr>
            <p:nvPr/>
          </p:nvSpPr>
          <p:spPr bwMode="auto">
            <a:xfrm>
              <a:off x="4308" y="2754"/>
              <a:ext cx="1031"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89" name="Rectangle 49">
              <a:extLst>
                <a:ext uri="{FF2B5EF4-FFF2-40B4-BE49-F238E27FC236}">
                  <a16:creationId xmlns:a16="http://schemas.microsoft.com/office/drawing/2014/main" id="{399D624D-6F62-3BE1-2B3F-5A2D44DC086A}"/>
                </a:ext>
              </a:extLst>
            </p:cNvPr>
            <p:cNvSpPr>
              <a:spLocks noChangeArrowheads="1"/>
            </p:cNvSpPr>
            <p:nvPr/>
          </p:nvSpPr>
          <p:spPr bwMode="auto">
            <a:xfrm>
              <a:off x="4243" y="2804"/>
              <a:ext cx="1071"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dirty="0">
                  <a:latin typeface="+mj-lt"/>
                </a:rPr>
                <a:t>△△Exception</a:t>
              </a:r>
            </a:p>
          </p:txBody>
        </p:sp>
        <p:sp>
          <p:nvSpPr>
            <p:cNvPr id="368690" name="Line 50">
              <a:extLst>
                <a:ext uri="{FF2B5EF4-FFF2-40B4-BE49-F238E27FC236}">
                  <a16:creationId xmlns:a16="http://schemas.microsoft.com/office/drawing/2014/main" id="{73485736-57A0-40B3-5591-669C12809F3F}"/>
                </a:ext>
              </a:extLst>
            </p:cNvPr>
            <p:cNvSpPr>
              <a:spLocks noChangeShapeType="1"/>
            </p:cNvSpPr>
            <p:nvPr/>
          </p:nvSpPr>
          <p:spPr bwMode="auto">
            <a:xfrm flipH="1" flipV="1">
              <a:off x="3169" y="2825"/>
              <a:ext cx="0" cy="1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91" name="Line 51">
              <a:extLst>
                <a:ext uri="{FF2B5EF4-FFF2-40B4-BE49-F238E27FC236}">
                  <a16:creationId xmlns:a16="http://schemas.microsoft.com/office/drawing/2014/main" id="{C3080678-33D1-E406-400D-2A15964CA9A6}"/>
                </a:ext>
              </a:extLst>
            </p:cNvPr>
            <p:cNvSpPr>
              <a:spLocks noChangeShapeType="1"/>
            </p:cNvSpPr>
            <p:nvPr/>
          </p:nvSpPr>
          <p:spPr bwMode="auto">
            <a:xfrm flipH="1" flipV="1">
              <a:off x="4801" y="2481"/>
              <a:ext cx="0" cy="1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92" name="Line 52">
              <a:extLst>
                <a:ext uri="{FF2B5EF4-FFF2-40B4-BE49-F238E27FC236}">
                  <a16:creationId xmlns:a16="http://schemas.microsoft.com/office/drawing/2014/main" id="{A3841055-9671-D0B1-CFF5-5B7B23CB68B6}"/>
                </a:ext>
              </a:extLst>
            </p:cNvPr>
            <p:cNvSpPr>
              <a:spLocks noChangeShapeType="1"/>
            </p:cNvSpPr>
            <p:nvPr/>
          </p:nvSpPr>
          <p:spPr bwMode="auto">
            <a:xfrm flipV="1">
              <a:off x="3170" y="2482"/>
              <a:ext cx="163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693" name="AutoShape 53">
              <a:extLst>
                <a:ext uri="{FF2B5EF4-FFF2-40B4-BE49-F238E27FC236}">
                  <a16:creationId xmlns:a16="http://schemas.microsoft.com/office/drawing/2014/main" id="{FF954E6F-7837-7183-015B-C90CC30759E6}"/>
                </a:ext>
              </a:extLst>
            </p:cNvPr>
            <p:cNvSpPr>
              <a:spLocks noChangeArrowheads="1"/>
            </p:cNvSpPr>
            <p:nvPr/>
          </p:nvSpPr>
          <p:spPr bwMode="auto">
            <a:xfrm>
              <a:off x="3110" y="2366"/>
              <a:ext cx="104" cy="72"/>
            </a:xfrm>
            <a:prstGeom prst="triangle">
              <a:avLst>
                <a:gd name="adj" fmla="val 50000"/>
              </a:avLst>
            </a:prstGeom>
            <a:solidFill>
              <a:srgbClr val="FFFFFF"/>
            </a:solidFill>
            <a:ln w="9525">
              <a:solidFill>
                <a:srgbClr val="000000"/>
              </a:solidFill>
              <a:miter lim="800000"/>
              <a:headEnd/>
              <a:tailEnd/>
            </a:ln>
          </p:spPr>
          <p:txBody>
            <a:bodyPr lIns="74295" tIns="8890" rIns="74295" bIns="8890"/>
            <a:lstStyle/>
            <a:p>
              <a:endParaRPr lang="ja-JP" altLang="en-US"/>
            </a:p>
          </p:txBody>
        </p:sp>
        <p:sp>
          <p:nvSpPr>
            <p:cNvPr id="368694" name="Rectangle 54">
              <a:extLst>
                <a:ext uri="{FF2B5EF4-FFF2-40B4-BE49-F238E27FC236}">
                  <a16:creationId xmlns:a16="http://schemas.microsoft.com/office/drawing/2014/main" id="{C891E4A8-54B6-8378-36A1-92BFBB7504BB}"/>
                </a:ext>
              </a:extLst>
            </p:cNvPr>
            <p:cNvSpPr>
              <a:spLocks noChangeArrowheads="1"/>
            </p:cNvSpPr>
            <p:nvPr/>
          </p:nvSpPr>
          <p:spPr bwMode="auto">
            <a:xfrm>
              <a:off x="971" y="2149"/>
              <a:ext cx="1048"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a:t>Error</a:t>
              </a:r>
            </a:p>
          </p:txBody>
        </p:sp>
        <p:sp>
          <p:nvSpPr>
            <p:cNvPr id="368695" name="Rectangle 55">
              <a:extLst>
                <a:ext uri="{FF2B5EF4-FFF2-40B4-BE49-F238E27FC236}">
                  <a16:creationId xmlns:a16="http://schemas.microsoft.com/office/drawing/2014/main" id="{A94BFB6E-8BFB-D8B5-E787-280B49F34109}"/>
                </a:ext>
              </a:extLst>
            </p:cNvPr>
            <p:cNvSpPr>
              <a:spLocks noChangeArrowheads="1"/>
            </p:cNvSpPr>
            <p:nvPr/>
          </p:nvSpPr>
          <p:spPr bwMode="auto">
            <a:xfrm>
              <a:off x="2587" y="2149"/>
              <a:ext cx="1146"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a:t>Exception</a:t>
              </a:r>
            </a:p>
          </p:txBody>
        </p:sp>
        <p:sp>
          <p:nvSpPr>
            <p:cNvPr id="368696" name="AutoShape 56">
              <a:extLst>
                <a:ext uri="{FF2B5EF4-FFF2-40B4-BE49-F238E27FC236}">
                  <a16:creationId xmlns:a16="http://schemas.microsoft.com/office/drawing/2014/main" id="{D6B1A03C-3293-7ED7-3CC8-073C56E3C30C}"/>
                </a:ext>
              </a:extLst>
            </p:cNvPr>
            <p:cNvSpPr>
              <a:spLocks noChangeArrowheads="1"/>
            </p:cNvSpPr>
            <p:nvPr/>
          </p:nvSpPr>
          <p:spPr bwMode="auto">
            <a:xfrm>
              <a:off x="3119" y="2781"/>
              <a:ext cx="105" cy="72"/>
            </a:xfrm>
            <a:prstGeom prst="triangle">
              <a:avLst>
                <a:gd name="adj" fmla="val 50000"/>
              </a:avLst>
            </a:prstGeom>
            <a:solidFill>
              <a:srgbClr val="FFFFFF"/>
            </a:solidFill>
            <a:ln w="9525">
              <a:solidFill>
                <a:srgbClr val="000000"/>
              </a:solidFill>
              <a:miter lim="800000"/>
              <a:headEnd/>
              <a:tailEnd/>
            </a:ln>
          </p:spPr>
          <p:txBody>
            <a:bodyPr lIns="74295" tIns="8890" rIns="74295" bIns="8890"/>
            <a:lstStyle/>
            <a:p>
              <a:endParaRPr lang="ja-JP" altLang="en-US"/>
            </a:p>
          </p:txBody>
        </p:sp>
        <p:sp>
          <p:nvSpPr>
            <p:cNvPr id="368697" name="Rectangle 57">
              <a:extLst>
                <a:ext uri="{FF2B5EF4-FFF2-40B4-BE49-F238E27FC236}">
                  <a16:creationId xmlns:a16="http://schemas.microsoft.com/office/drawing/2014/main" id="{7FE99B89-77E7-D2D8-7568-53BDBAA8A016}"/>
                </a:ext>
              </a:extLst>
            </p:cNvPr>
            <p:cNvSpPr>
              <a:spLocks noChangeArrowheads="1"/>
            </p:cNvSpPr>
            <p:nvPr/>
          </p:nvSpPr>
          <p:spPr bwMode="auto">
            <a:xfrm>
              <a:off x="1024" y="2617"/>
              <a:ext cx="899"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98" name="Rectangle 58">
              <a:extLst>
                <a:ext uri="{FF2B5EF4-FFF2-40B4-BE49-F238E27FC236}">
                  <a16:creationId xmlns:a16="http://schemas.microsoft.com/office/drawing/2014/main" id="{1670B1A4-4943-BDA8-7CBE-CAAF308194DB}"/>
                </a:ext>
              </a:extLst>
            </p:cNvPr>
            <p:cNvSpPr>
              <a:spLocks noChangeArrowheads="1"/>
            </p:cNvSpPr>
            <p:nvPr/>
          </p:nvSpPr>
          <p:spPr bwMode="auto">
            <a:xfrm>
              <a:off x="949" y="2646"/>
              <a:ext cx="925"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sz="1800"/>
            </a:p>
          </p:txBody>
        </p:sp>
        <p:sp>
          <p:nvSpPr>
            <p:cNvPr id="368699" name="Rectangle 59">
              <a:extLst>
                <a:ext uri="{FF2B5EF4-FFF2-40B4-BE49-F238E27FC236}">
                  <a16:creationId xmlns:a16="http://schemas.microsoft.com/office/drawing/2014/main" id="{45B78DA1-C49F-DAE6-79E3-B59EDA54B30E}"/>
                </a:ext>
              </a:extLst>
            </p:cNvPr>
            <p:cNvSpPr>
              <a:spLocks noChangeArrowheads="1"/>
            </p:cNvSpPr>
            <p:nvPr/>
          </p:nvSpPr>
          <p:spPr bwMode="auto">
            <a:xfrm>
              <a:off x="778" y="2690"/>
              <a:ext cx="1030" cy="20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800"/>
                <a:t>□□Error</a:t>
              </a:r>
            </a:p>
          </p:txBody>
        </p:sp>
        <p:sp>
          <p:nvSpPr>
            <p:cNvPr id="368700" name="Line 60">
              <a:extLst>
                <a:ext uri="{FF2B5EF4-FFF2-40B4-BE49-F238E27FC236}">
                  <a16:creationId xmlns:a16="http://schemas.microsoft.com/office/drawing/2014/main" id="{7CACEBD9-3DDE-341A-46BD-2EB7D288345A}"/>
                </a:ext>
              </a:extLst>
            </p:cNvPr>
            <p:cNvSpPr>
              <a:spLocks noChangeShapeType="1"/>
            </p:cNvSpPr>
            <p:nvPr/>
          </p:nvSpPr>
          <p:spPr bwMode="auto">
            <a:xfrm flipH="1" flipV="1">
              <a:off x="1420" y="2419"/>
              <a:ext cx="0" cy="1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368701" name="AutoShape 61">
              <a:extLst>
                <a:ext uri="{FF2B5EF4-FFF2-40B4-BE49-F238E27FC236}">
                  <a16:creationId xmlns:a16="http://schemas.microsoft.com/office/drawing/2014/main" id="{8BE6B8FC-C5C3-6AC0-AA21-8290044CFA3E}"/>
                </a:ext>
              </a:extLst>
            </p:cNvPr>
            <p:cNvSpPr>
              <a:spLocks noChangeArrowheads="1"/>
            </p:cNvSpPr>
            <p:nvPr/>
          </p:nvSpPr>
          <p:spPr bwMode="auto">
            <a:xfrm>
              <a:off x="1368" y="2371"/>
              <a:ext cx="105" cy="73"/>
            </a:xfrm>
            <a:prstGeom prst="triangle">
              <a:avLst>
                <a:gd name="adj" fmla="val 50000"/>
              </a:avLst>
            </a:prstGeom>
            <a:solidFill>
              <a:srgbClr val="FFFFFF"/>
            </a:solidFill>
            <a:ln w="9525">
              <a:solidFill>
                <a:srgbClr val="000000"/>
              </a:solidFill>
              <a:miter lim="800000"/>
              <a:headEnd/>
              <a:tailEnd/>
            </a:ln>
          </p:spPr>
          <p:txBody>
            <a:bodyPr lIns="74295" tIns="8890" rIns="74295" bIns="8890"/>
            <a:lstStyle/>
            <a:p>
              <a:endParaRPr lang="ja-JP" altLang="en-US"/>
            </a:p>
          </p:txBody>
        </p:sp>
        <p:sp>
          <p:nvSpPr>
            <p:cNvPr id="368702" name="AutoShape 62">
              <a:extLst>
                <a:ext uri="{FF2B5EF4-FFF2-40B4-BE49-F238E27FC236}">
                  <a16:creationId xmlns:a16="http://schemas.microsoft.com/office/drawing/2014/main" id="{6FE58D5C-E55E-DFAC-469B-F39218DFF035}"/>
                </a:ext>
              </a:extLst>
            </p:cNvPr>
            <p:cNvSpPr>
              <a:spLocks/>
            </p:cNvSpPr>
            <p:nvPr/>
          </p:nvSpPr>
          <p:spPr bwMode="auto">
            <a:xfrm rot="5400000">
              <a:off x="3857" y="2247"/>
              <a:ext cx="160" cy="3099"/>
            </a:xfrm>
            <a:prstGeom prst="rightBrace">
              <a:avLst>
                <a:gd name="adj1" fmla="val 16140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74295" tIns="8890" rIns="74295" bIns="8890"/>
            <a:lstStyle/>
            <a:p>
              <a:endParaRPr lang="ja-JP" altLang="en-US"/>
            </a:p>
          </p:txBody>
        </p:sp>
        <p:sp>
          <p:nvSpPr>
            <p:cNvPr id="368703" name="Rectangle 63">
              <a:extLst>
                <a:ext uri="{FF2B5EF4-FFF2-40B4-BE49-F238E27FC236}">
                  <a16:creationId xmlns:a16="http://schemas.microsoft.com/office/drawing/2014/main" id="{9B4A9931-C607-E0D7-6FE9-CCEE5EFFF904}"/>
                </a:ext>
              </a:extLst>
            </p:cNvPr>
            <p:cNvSpPr>
              <a:spLocks noChangeArrowheads="1"/>
            </p:cNvSpPr>
            <p:nvPr/>
          </p:nvSpPr>
          <p:spPr bwMode="auto">
            <a:xfrm>
              <a:off x="676" y="3227"/>
              <a:ext cx="1399"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400" dirty="0">
                  <a:latin typeface="+mj-lt"/>
                </a:rPr>
                <a:t>Error </a:t>
              </a:r>
              <a:r>
                <a:rPr lang="en-US" altLang="ja-JP" sz="1400" dirty="0" err="1">
                  <a:latin typeface="+mj-lt"/>
                </a:rPr>
                <a:t>mang</a:t>
              </a:r>
              <a:r>
                <a:rPr lang="en-US" altLang="ja-JP" sz="1400" dirty="0">
                  <a:latin typeface="+mj-lt"/>
                </a:rPr>
                <a:t> </a:t>
              </a:r>
              <a:r>
                <a:rPr lang="en-US" altLang="ja-JP" sz="1400" dirty="0" err="1">
                  <a:latin typeface="+mj-lt"/>
                </a:rPr>
                <a:t>tính</a:t>
              </a:r>
              <a:r>
                <a:rPr lang="en-US" altLang="ja-JP" sz="1400" dirty="0">
                  <a:latin typeface="+mj-lt"/>
                </a:rPr>
                <a:t> </a:t>
              </a:r>
              <a:r>
                <a:rPr lang="en-US" altLang="ja-JP" sz="1400" dirty="0" err="1">
                  <a:latin typeface="+mj-lt"/>
                </a:rPr>
                <a:t>hê</a:t>
              </a:r>
              <a:r>
                <a:rPr lang="en-US" altLang="ja-JP" sz="1400" dirty="0">
                  <a:latin typeface="+mj-lt"/>
                </a:rPr>
                <a:t>̣ </a:t>
              </a:r>
              <a:r>
                <a:rPr lang="en-US" altLang="ja-JP" sz="1400" dirty="0" err="1">
                  <a:latin typeface="+mj-lt"/>
                </a:rPr>
                <a:t>thống</a:t>
              </a:r>
              <a:endParaRPr lang="en-US" altLang="ja-JP" sz="1400" dirty="0">
                <a:latin typeface="+mj-lt"/>
              </a:endParaRPr>
            </a:p>
          </p:txBody>
        </p:sp>
        <p:sp>
          <p:nvSpPr>
            <p:cNvPr id="368704" name="AutoShape 64">
              <a:extLst>
                <a:ext uri="{FF2B5EF4-FFF2-40B4-BE49-F238E27FC236}">
                  <a16:creationId xmlns:a16="http://schemas.microsoft.com/office/drawing/2014/main" id="{8429D4AC-5786-FB71-612C-126BD6EC3D2D}"/>
                </a:ext>
              </a:extLst>
            </p:cNvPr>
            <p:cNvSpPr>
              <a:spLocks/>
            </p:cNvSpPr>
            <p:nvPr/>
          </p:nvSpPr>
          <p:spPr bwMode="auto">
            <a:xfrm rot="5400000">
              <a:off x="1322" y="2493"/>
              <a:ext cx="119" cy="1260"/>
            </a:xfrm>
            <a:prstGeom prst="rightBrace">
              <a:avLst>
                <a:gd name="adj1" fmla="val 8823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74295" tIns="8890" rIns="74295" bIns="8890"/>
            <a:lstStyle/>
            <a:p>
              <a:endParaRPr lang="ja-JP" altLang="en-US"/>
            </a:p>
          </p:txBody>
        </p:sp>
        <p:sp>
          <p:nvSpPr>
            <p:cNvPr id="368705" name="Rectangle 65">
              <a:extLst>
                <a:ext uri="{FF2B5EF4-FFF2-40B4-BE49-F238E27FC236}">
                  <a16:creationId xmlns:a16="http://schemas.microsoft.com/office/drawing/2014/main" id="{E7D6F717-BE94-7AA9-63C8-243934C0F46F}"/>
                </a:ext>
              </a:extLst>
            </p:cNvPr>
            <p:cNvSpPr>
              <a:spLocks noChangeArrowheads="1"/>
            </p:cNvSpPr>
            <p:nvPr/>
          </p:nvSpPr>
          <p:spPr bwMode="auto">
            <a:xfrm>
              <a:off x="3146" y="3871"/>
              <a:ext cx="1983"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lnSpc>
                  <a:spcPct val="112000"/>
                </a:lnSpc>
              </a:pPr>
              <a:r>
                <a:rPr lang="en-US" altLang="ja-JP" sz="1500" dirty="0">
                  <a:latin typeface="+mj-lt"/>
                </a:rPr>
                <a:t>Error </a:t>
              </a:r>
              <a:r>
                <a:rPr lang="en-US" altLang="ja-JP" sz="1500" dirty="0" err="1">
                  <a:latin typeface="+mj-lt"/>
                </a:rPr>
                <a:t>mang</a:t>
              </a:r>
              <a:r>
                <a:rPr lang="en-US" altLang="ja-JP" sz="1500" dirty="0">
                  <a:latin typeface="+mj-lt"/>
                </a:rPr>
                <a:t> </a:t>
              </a:r>
              <a:r>
                <a:rPr lang="en-US" altLang="ja-JP" sz="1500" dirty="0" err="1">
                  <a:latin typeface="+mj-lt"/>
                </a:rPr>
                <a:t>tính</a:t>
              </a:r>
              <a:r>
                <a:rPr lang="en-US" altLang="ja-JP" sz="1500" dirty="0">
                  <a:latin typeface="+mj-lt"/>
                </a:rPr>
                <a:t> </a:t>
              </a:r>
              <a:r>
                <a:rPr lang="en-US" altLang="ja-JP" sz="1500" dirty="0" err="1">
                  <a:latin typeface="+mj-lt"/>
                </a:rPr>
                <a:t>ứng</a:t>
              </a:r>
              <a:r>
                <a:rPr lang="en-US" altLang="ja-JP" sz="1500" dirty="0">
                  <a:latin typeface="+mj-lt"/>
                </a:rPr>
                <a:t> </a:t>
              </a:r>
              <a:r>
                <a:rPr lang="en-US" altLang="ja-JP" sz="1500" dirty="0" err="1">
                  <a:latin typeface="+mj-lt"/>
                </a:rPr>
                <a:t>dụng</a:t>
              </a:r>
              <a:r>
                <a:rPr lang="en-US" altLang="ja-JP" sz="1500" dirty="0">
                  <a:latin typeface="+mj-lt"/>
                </a:rPr>
                <a:t>(app)</a:t>
              </a:r>
            </a:p>
          </p:txBody>
        </p:sp>
        <p:sp>
          <p:nvSpPr>
            <p:cNvPr id="368710" name="AutoShape 70">
              <a:extLst>
                <a:ext uri="{FF2B5EF4-FFF2-40B4-BE49-F238E27FC236}">
                  <a16:creationId xmlns:a16="http://schemas.microsoft.com/office/drawing/2014/main" id="{3B48BA94-1735-AB31-7205-0F76F664E1EE}"/>
                </a:ext>
              </a:extLst>
            </p:cNvPr>
            <p:cNvSpPr>
              <a:spLocks noChangeArrowheads="1"/>
            </p:cNvSpPr>
            <p:nvPr/>
          </p:nvSpPr>
          <p:spPr bwMode="auto">
            <a:xfrm>
              <a:off x="4257" y="3321"/>
              <a:ext cx="1158" cy="323"/>
            </a:xfrm>
            <a:prstGeom prst="wedgeRoundRectCallout">
              <a:avLst>
                <a:gd name="adj1" fmla="val -19949"/>
                <a:gd name="adj2" fmla="val -356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zh-TW" sz="1500" dirty="0" err="1">
                  <a:latin typeface="+mj-lt"/>
                </a:rPr>
                <a:t>Bắt</a:t>
              </a:r>
              <a:r>
                <a:rPr lang="en-US" altLang="zh-TW" sz="1500" dirty="0">
                  <a:latin typeface="+mj-lt"/>
                </a:rPr>
                <a:t> </a:t>
              </a:r>
              <a:r>
                <a:rPr lang="en-US" altLang="zh-TW" sz="1500" dirty="0" err="1">
                  <a:latin typeface="+mj-lt"/>
                </a:rPr>
                <a:t>buộc</a:t>
              </a:r>
              <a:r>
                <a:rPr lang="en-US" altLang="zh-TW" sz="1500" dirty="0">
                  <a:latin typeface="+mj-lt"/>
                </a:rPr>
                <a:t> </a:t>
              </a:r>
              <a:r>
                <a:rPr lang="en-US" altLang="zh-TW" sz="1500" dirty="0" err="1">
                  <a:latin typeface="+mj-lt"/>
                </a:rPr>
                <a:t>xư</a:t>
              </a:r>
              <a:r>
                <a:rPr lang="en-US" altLang="zh-TW" sz="1500" dirty="0">
                  <a:latin typeface="+mj-lt"/>
                </a:rPr>
                <a:t>̉ </a:t>
              </a:r>
              <a:r>
                <a:rPr lang="en-US" altLang="zh-TW" sz="1500" dirty="0" err="1">
                  <a:latin typeface="+mj-lt"/>
                </a:rPr>
                <a:t>ly</a:t>
              </a:r>
              <a:r>
                <a:rPr lang="en-US" altLang="zh-TW" sz="1500" dirty="0">
                  <a:latin typeface="+mj-lt"/>
                </a:rPr>
                <a:t>́ exception</a:t>
              </a:r>
              <a:endParaRPr lang="en-US" altLang="ja-JP" sz="1500" dirty="0">
                <a:latin typeface="+mj-lt"/>
              </a:endParaRPr>
            </a:p>
          </p:txBody>
        </p:sp>
        <p:sp>
          <p:nvSpPr>
            <p:cNvPr id="368711" name="AutoShape 71">
              <a:extLst>
                <a:ext uri="{FF2B5EF4-FFF2-40B4-BE49-F238E27FC236}">
                  <a16:creationId xmlns:a16="http://schemas.microsoft.com/office/drawing/2014/main" id="{A7294649-1FED-4D82-4D95-94E3BB81BB11}"/>
                </a:ext>
              </a:extLst>
            </p:cNvPr>
            <p:cNvSpPr>
              <a:spLocks noChangeArrowheads="1"/>
            </p:cNvSpPr>
            <p:nvPr/>
          </p:nvSpPr>
          <p:spPr bwMode="auto">
            <a:xfrm>
              <a:off x="2630" y="3350"/>
              <a:ext cx="1069" cy="327"/>
            </a:xfrm>
            <a:prstGeom prst="wedgeRoundRectCallout">
              <a:avLst>
                <a:gd name="adj1" fmla="val 5380"/>
                <a:gd name="adj2" fmla="val -1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500" dirty="0" err="1">
                  <a:latin typeface="+mj-lt"/>
                </a:rPr>
                <a:t>Tùy</a:t>
              </a:r>
              <a:r>
                <a:rPr lang="en-US" altLang="ja-JP" sz="1500" dirty="0">
                  <a:latin typeface="+mj-lt"/>
                </a:rPr>
                <a:t> ý </a:t>
              </a:r>
              <a:r>
                <a:rPr lang="en-US" altLang="ja-JP" sz="1500" dirty="0" err="1">
                  <a:latin typeface="+mj-lt"/>
                </a:rPr>
                <a:t>xư</a:t>
              </a:r>
              <a:r>
                <a:rPr lang="en-US" altLang="ja-JP" sz="1500" dirty="0">
                  <a:latin typeface="+mj-lt"/>
                </a:rPr>
                <a:t>̉ </a:t>
              </a:r>
              <a:r>
                <a:rPr lang="en-US" altLang="ja-JP" sz="1500" dirty="0" err="1">
                  <a:latin typeface="+mj-lt"/>
                </a:rPr>
                <a:t>ly</a:t>
              </a:r>
              <a:r>
                <a:rPr lang="en-US" altLang="ja-JP" sz="1500" dirty="0">
                  <a:latin typeface="+mj-lt"/>
                </a:rPr>
                <a:t>́ exception</a:t>
              </a:r>
            </a:p>
          </p:txBody>
        </p:sp>
        <p:sp>
          <p:nvSpPr>
            <p:cNvPr id="368712" name="AutoShape 72">
              <a:extLst>
                <a:ext uri="{FF2B5EF4-FFF2-40B4-BE49-F238E27FC236}">
                  <a16:creationId xmlns:a16="http://schemas.microsoft.com/office/drawing/2014/main" id="{DFAD5518-DE0F-BA32-6E37-A593460F1FDA}"/>
                </a:ext>
              </a:extLst>
            </p:cNvPr>
            <p:cNvSpPr>
              <a:spLocks noChangeArrowheads="1"/>
            </p:cNvSpPr>
            <p:nvPr/>
          </p:nvSpPr>
          <p:spPr bwMode="auto">
            <a:xfrm>
              <a:off x="891" y="3540"/>
              <a:ext cx="1069" cy="324"/>
            </a:xfrm>
            <a:prstGeom prst="wedgeRoundRectCallout">
              <a:avLst>
                <a:gd name="adj1" fmla="val -13519"/>
                <a:gd name="adj2" fmla="val -80866"/>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500" dirty="0" err="1">
                  <a:latin typeface="+mj-lt"/>
                </a:rPr>
                <a:t>Tùy</a:t>
              </a:r>
              <a:r>
                <a:rPr lang="en-US" altLang="ja-JP" sz="1500" dirty="0">
                  <a:latin typeface="+mj-lt"/>
                </a:rPr>
                <a:t> ý </a:t>
              </a:r>
              <a:r>
                <a:rPr lang="en-US" altLang="ja-JP" sz="1500" dirty="0" err="1">
                  <a:latin typeface="+mj-lt"/>
                </a:rPr>
                <a:t>xư</a:t>
              </a:r>
              <a:r>
                <a:rPr lang="en-US" altLang="ja-JP" sz="1500" dirty="0">
                  <a:latin typeface="+mj-lt"/>
                </a:rPr>
                <a:t>̉ </a:t>
              </a:r>
              <a:r>
                <a:rPr lang="en-US" altLang="ja-JP" sz="1500" dirty="0" err="1">
                  <a:latin typeface="+mj-lt"/>
                </a:rPr>
                <a:t>ly</a:t>
              </a:r>
              <a:r>
                <a:rPr lang="en-US" altLang="ja-JP" sz="1500" dirty="0">
                  <a:latin typeface="+mj-lt"/>
                </a:rPr>
                <a:t>́ exception</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5EE9296-2C65-D99F-B30E-E9CC6B4B0B9C}"/>
              </a:ext>
            </a:extLst>
          </p:cNvPr>
          <p:cNvSpPr>
            <a:spLocks noGrp="1"/>
          </p:cNvSpPr>
          <p:nvPr>
            <p:ph type="sldNum" sz="quarter" idx="10"/>
          </p:nvPr>
        </p:nvSpPr>
        <p:spPr/>
        <p:txBody>
          <a:bodyPr/>
          <a:lstStyle/>
          <a:p>
            <a:fld id="{D90F91F5-7F0A-43E7-AADB-1C6C7D8CFBD5}" type="slidenum">
              <a:rPr lang="en-US" altLang="ja-JP"/>
              <a:pPr/>
              <a:t>12</a:t>
            </a:fld>
            <a:endParaRPr lang="en-US" altLang="ja-JP"/>
          </a:p>
        </p:txBody>
      </p:sp>
      <p:sp>
        <p:nvSpPr>
          <p:cNvPr id="544770" name="Rectangle 2">
            <a:extLst>
              <a:ext uri="{FF2B5EF4-FFF2-40B4-BE49-F238E27FC236}">
                <a16:creationId xmlns:a16="http://schemas.microsoft.com/office/drawing/2014/main" id="{6B3776E1-88DE-021B-5A5E-0183FD079BB8}"/>
              </a:ext>
            </a:extLst>
          </p:cNvPr>
          <p:cNvSpPr>
            <a:spLocks noGrp="1" noChangeArrowheads="1"/>
          </p:cNvSpPr>
          <p:nvPr>
            <p:ph type="title"/>
          </p:nvPr>
        </p:nvSpPr>
        <p:spPr>
          <a:xfrm>
            <a:off x="344488" y="38893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exception(1)</a:t>
            </a:r>
          </a:p>
        </p:txBody>
      </p:sp>
      <p:sp>
        <p:nvSpPr>
          <p:cNvPr id="544771" name="Rectangle 3">
            <a:extLst>
              <a:ext uri="{FF2B5EF4-FFF2-40B4-BE49-F238E27FC236}">
                <a16:creationId xmlns:a16="http://schemas.microsoft.com/office/drawing/2014/main" id="{09470AC9-BF40-B54F-4DAD-5FE454C47AE0}"/>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rPr>
              <a:t>Các loại error và xử lý exception</a:t>
            </a:r>
            <a:endParaRPr lang="en-US" altLang="ja-JP" sz="2400" b="0">
              <a:latin typeface="Arial" panose="020B0604020202020204" pitchFamily="34" charset="0"/>
            </a:endParaRPr>
          </a:p>
        </p:txBody>
      </p:sp>
      <p:sp>
        <p:nvSpPr>
          <p:cNvPr id="544772" name="Rectangle 4">
            <a:extLst>
              <a:ext uri="{FF2B5EF4-FFF2-40B4-BE49-F238E27FC236}">
                <a16:creationId xmlns:a16="http://schemas.microsoft.com/office/drawing/2014/main" id="{F1F812B1-32C4-F311-D89B-526612669C64}"/>
              </a:ext>
            </a:extLst>
          </p:cNvPr>
          <p:cNvSpPr>
            <a:spLocks noChangeArrowheads="1"/>
          </p:cNvSpPr>
          <p:nvPr/>
        </p:nvSpPr>
        <p:spPr bwMode="auto">
          <a:xfrm>
            <a:off x="344488" y="10541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Xử lý exception là gì</a:t>
            </a:r>
          </a:p>
          <a:p>
            <a:pPr lvl="1"/>
            <a:endParaRPr lang="en-US" altLang="ja-JP" sz="2400" b="0">
              <a:latin typeface="Arial" panose="020B0604020202020204" pitchFamily="34" charset="0"/>
            </a:endParaRPr>
          </a:p>
        </p:txBody>
      </p:sp>
      <p:sp>
        <p:nvSpPr>
          <p:cNvPr id="544773" name="Rectangle 5">
            <a:extLst>
              <a:ext uri="{FF2B5EF4-FFF2-40B4-BE49-F238E27FC236}">
                <a16:creationId xmlns:a16="http://schemas.microsoft.com/office/drawing/2014/main" id="{5A2ABABB-D1ED-449D-F431-17E323B474A4}"/>
              </a:ext>
            </a:extLst>
          </p:cNvPr>
          <p:cNvSpPr>
            <a:spLocks noChangeArrowheads="1"/>
          </p:cNvSpPr>
          <p:nvPr/>
        </p:nvSpPr>
        <p:spPr bwMode="auto">
          <a:xfrm>
            <a:off x="344488" y="15875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cách xử lý đối với error phát sinh khi thực hiện/chạy</a:t>
            </a:r>
          </a:p>
        </p:txBody>
      </p:sp>
      <p:graphicFrame>
        <p:nvGraphicFramePr>
          <p:cNvPr id="544844" name="Group 76">
            <a:extLst>
              <a:ext uri="{FF2B5EF4-FFF2-40B4-BE49-F238E27FC236}">
                <a16:creationId xmlns:a16="http://schemas.microsoft.com/office/drawing/2014/main" id="{173ABF5E-649C-4552-88E0-84595EE3648C}"/>
              </a:ext>
            </a:extLst>
          </p:cNvPr>
          <p:cNvGraphicFramePr>
            <a:graphicFrameLocks noGrp="1"/>
          </p:cNvGraphicFramePr>
          <p:nvPr>
            <p:ph idx="1"/>
          </p:nvPr>
        </p:nvGraphicFramePr>
        <p:xfrm>
          <a:off x="344488" y="2714625"/>
          <a:ext cx="9120187" cy="3509264"/>
        </p:xfrm>
        <a:graphic>
          <a:graphicData uri="http://schemas.openxmlformats.org/drawingml/2006/table">
            <a:tbl>
              <a:tblPr/>
              <a:tblGrid>
                <a:gridCol w="3465512">
                  <a:extLst>
                    <a:ext uri="{9D8B030D-6E8A-4147-A177-3AD203B41FA5}">
                      <a16:colId xmlns:a16="http://schemas.microsoft.com/office/drawing/2014/main" val="2097586204"/>
                    </a:ext>
                  </a:extLst>
                </a:gridCol>
                <a:gridCol w="5654675">
                  <a:extLst>
                    <a:ext uri="{9D8B030D-6E8A-4147-A177-3AD203B41FA5}">
                      <a16:colId xmlns:a16="http://schemas.microsoft.com/office/drawing/2014/main" val="2431654573"/>
                    </a:ext>
                  </a:extLst>
                </a:gridCol>
              </a:tblGrid>
              <a:tr h="44450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Các loại error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Xử 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4181035253"/>
                  </a:ext>
                </a:extLst>
              </a:tr>
              <a:tr h="3365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Sub-class của Error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Việc xử lý exception là tùy ý</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(Thông thường, trong program có nhiều khi không thể xử lý được)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6828492"/>
                  </a:ext>
                </a:extLst>
              </a:tr>
              <a:tr h="3825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Sub-class của RuntimeException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Việc xử lý exception là tùy ý</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(Nếu xem xét lại program thì cũng có phần có thể xử lý được)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3164007"/>
                  </a:ext>
                </a:extLst>
              </a:tr>
              <a:tr h="118110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Là sub-class của Exception và không phải là sub-class của RuntimeException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Việc xử lý exception là bắt buộc</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(Nếu không mô tả xử lý exception thì có nhiều cái sẽ trở thành compile error)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967367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856956B-34E0-DD6C-ED2A-E7DFF433ACD2}"/>
              </a:ext>
            </a:extLst>
          </p:cNvPr>
          <p:cNvSpPr>
            <a:spLocks noGrp="1"/>
          </p:cNvSpPr>
          <p:nvPr>
            <p:ph type="sldNum" sz="quarter" idx="10"/>
          </p:nvPr>
        </p:nvSpPr>
        <p:spPr/>
        <p:txBody>
          <a:bodyPr/>
          <a:lstStyle/>
          <a:p>
            <a:fld id="{C3A724F9-DDCE-41FE-9B08-1249DC89E1E0}" type="slidenum">
              <a:rPr lang="en-US" altLang="ja-JP"/>
              <a:pPr/>
              <a:t>13</a:t>
            </a:fld>
            <a:endParaRPr lang="en-US" altLang="ja-JP"/>
          </a:p>
        </p:txBody>
      </p:sp>
      <p:sp>
        <p:nvSpPr>
          <p:cNvPr id="548866" name="Rectangle 2">
            <a:extLst>
              <a:ext uri="{FF2B5EF4-FFF2-40B4-BE49-F238E27FC236}">
                <a16:creationId xmlns:a16="http://schemas.microsoft.com/office/drawing/2014/main" id="{8F7E603B-8D0E-C81B-0619-9FAD0EDC5334}"/>
              </a:ext>
            </a:extLst>
          </p:cNvPr>
          <p:cNvSpPr>
            <a:spLocks noGrp="1" noChangeArrowheads="1"/>
          </p:cNvSpPr>
          <p:nvPr>
            <p:ph type="title"/>
          </p:nvPr>
        </p:nvSpPr>
        <p:spPr>
          <a:xfrm>
            <a:off x="344488" y="28098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 (2)</a:t>
            </a:r>
          </a:p>
        </p:txBody>
      </p:sp>
      <p:sp>
        <p:nvSpPr>
          <p:cNvPr id="548867" name="Rectangle 3">
            <a:extLst>
              <a:ext uri="{FF2B5EF4-FFF2-40B4-BE49-F238E27FC236}">
                <a16:creationId xmlns:a16="http://schemas.microsoft.com/office/drawing/2014/main" id="{264EA564-DADA-A408-E7A9-804C12E69B7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48868" name="Rectangle 4">
            <a:extLst>
              <a:ext uri="{FF2B5EF4-FFF2-40B4-BE49-F238E27FC236}">
                <a16:creationId xmlns:a16="http://schemas.microsoft.com/office/drawing/2014/main" id="{B3F73CCB-053B-8DA3-AA05-7B350B4B8E53}"/>
              </a:ext>
            </a:extLst>
          </p:cNvPr>
          <p:cNvSpPr>
            <a:spLocks noChangeArrowheads="1"/>
          </p:cNvSpPr>
          <p:nvPr/>
        </p:nvSpPr>
        <p:spPr bwMode="auto">
          <a:xfrm>
            <a:off x="344488" y="8747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Xử lý exception</a:t>
            </a:r>
          </a:p>
          <a:p>
            <a:pPr>
              <a:spcBef>
                <a:spcPct val="50000"/>
              </a:spcBef>
              <a:buFont typeface="Wingdings" panose="05000000000000000000" pitchFamily="2" charset="2"/>
              <a:buNone/>
            </a:pPr>
            <a:r>
              <a:rPr lang="en-US" altLang="ja-JP" sz="2000" b="0">
                <a:latin typeface="Arial" panose="020B0604020202020204" pitchFamily="34" charset="0"/>
              </a:rPr>
              <a:t>●Cú pháp cơ bản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48869" name="Text Box 5">
            <a:extLst>
              <a:ext uri="{FF2B5EF4-FFF2-40B4-BE49-F238E27FC236}">
                <a16:creationId xmlns:a16="http://schemas.microsoft.com/office/drawing/2014/main" id="{10181718-0F22-78E2-BBB9-6D910E2D9D2C}"/>
              </a:ext>
            </a:extLst>
          </p:cNvPr>
          <p:cNvSpPr txBox="1">
            <a:spLocks noChangeArrowheads="1"/>
          </p:cNvSpPr>
          <p:nvPr/>
        </p:nvSpPr>
        <p:spPr bwMode="auto">
          <a:xfrm>
            <a:off x="344488" y="1819275"/>
            <a:ext cx="9120187" cy="252253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try  {</a:t>
            </a:r>
          </a:p>
          <a:p>
            <a:pPr lvl="1" algn="just">
              <a:lnSpc>
                <a:spcPct val="112000"/>
              </a:lnSpc>
            </a:pPr>
            <a:r>
              <a:rPr lang="en-US" altLang="ja-JP" sz="2000">
                <a:ea typeface="ＭＳ ゴシック" panose="020B0609070205080204" pitchFamily="49" charset="-128"/>
              </a:rPr>
              <a:t>	// Xử lý có khả năng phát sinh exception</a:t>
            </a:r>
            <a:r>
              <a:rPr lang="ja-JP" altLang="en-US" sz="2000">
                <a:ea typeface="MS UI Gothic" panose="020B0600070205080204" pitchFamily="50" charset="-128"/>
              </a:rPr>
              <a:t>（①）</a:t>
            </a:r>
          </a:p>
          <a:p>
            <a:pPr lvl="1" algn="just">
              <a:lnSpc>
                <a:spcPct val="112000"/>
              </a:lnSpc>
            </a:pPr>
            <a:r>
              <a:rPr lang="en-US" altLang="ja-JP" sz="2000">
                <a:ea typeface="ＭＳ ゴシック" panose="020B0609070205080204" pitchFamily="49" charset="-128"/>
              </a:rPr>
              <a:t>}  catch  (Kiểu của exception object</a:t>
            </a:r>
            <a:r>
              <a:rPr lang="ja-JP" altLang="en-US" sz="2000">
                <a:ea typeface="MS UI Gothic" panose="020B0600070205080204" pitchFamily="50" charset="-128"/>
              </a:rPr>
              <a:t>　　</a:t>
            </a:r>
            <a:r>
              <a:rPr lang="en-US" altLang="ja-JP" sz="2000">
                <a:ea typeface="MS UI Gothic" panose="020B0600070205080204" pitchFamily="50" charset="-128"/>
              </a:rPr>
              <a:t>tên biến</a:t>
            </a:r>
            <a:r>
              <a:rPr lang="en-US" altLang="ja-JP" sz="2000">
                <a:ea typeface="ＭＳ ゴシック" panose="020B0609070205080204" pitchFamily="49" charset="-128"/>
              </a:rPr>
              <a:t>)</a:t>
            </a:r>
            <a:r>
              <a:rPr lang="ja-JP" altLang="en-US" sz="2000">
                <a:ea typeface="ＭＳ ゴシック" panose="020B0609070205080204" pitchFamily="49" charset="-128"/>
              </a:rPr>
              <a:t>　</a:t>
            </a: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 Xử lý khi phát sinh error</a:t>
            </a:r>
            <a:r>
              <a:rPr lang="ja-JP" altLang="en-US" sz="2000">
                <a:ea typeface="MS UI Gothic" panose="020B0600070205080204" pitchFamily="50" charset="-128"/>
              </a:rPr>
              <a:t>（②）</a:t>
            </a:r>
          </a:p>
          <a:p>
            <a:pPr lvl="1" algn="just">
              <a:lnSpc>
                <a:spcPct val="112000"/>
              </a:lnSpc>
            </a:pPr>
            <a:r>
              <a:rPr lang="en-US" altLang="ja-JP" sz="2000">
                <a:ea typeface="ＭＳ ゴシック" panose="020B0609070205080204" pitchFamily="49" charset="-128"/>
              </a:rPr>
              <a:t>}  finally  {</a:t>
            </a:r>
          </a:p>
          <a:p>
            <a:pPr lvl="1" algn="just">
              <a:lnSpc>
                <a:spcPct val="112000"/>
              </a:lnSpc>
            </a:pPr>
            <a:r>
              <a:rPr lang="en-US" altLang="ja-JP" sz="2000">
                <a:ea typeface="ＭＳ ゴシック" panose="020B0609070205080204" pitchFamily="49" charset="-128"/>
              </a:rPr>
              <a:t>	// Xử lý nhất định phải tiến hành dù có error hay không</a:t>
            </a:r>
            <a:r>
              <a:rPr lang="ja-JP" altLang="en-US" sz="2000">
                <a:ea typeface="MS UI Gothic" panose="020B0600070205080204" pitchFamily="50" charset="-128"/>
              </a:rPr>
              <a:t>（③）</a:t>
            </a:r>
          </a:p>
          <a:p>
            <a:pPr lvl="1" algn="just">
              <a:lnSpc>
                <a:spcPct val="112000"/>
              </a:lnSpc>
            </a:pPr>
            <a:r>
              <a:rPr lang="en-US" altLang="ja-JP" sz="2000">
                <a:ea typeface="ＭＳ ゴシック" panose="020B0609070205080204" pitchFamily="49" charset="-128"/>
              </a:rPr>
              <a:t>}</a:t>
            </a:r>
          </a:p>
        </p:txBody>
      </p:sp>
      <p:sp>
        <p:nvSpPr>
          <p:cNvPr id="548870" name="Rectangle 6">
            <a:extLst>
              <a:ext uri="{FF2B5EF4-FFF2-40B4-BE49-F238E27FC236}">
                <a16:creationId xmlns:a16="http://schemas.microsoft.com/office/drawing/2014/main" id="{59CAB7FB-55CC-4A5F-3427-91B6A2E7433E}"/>
              </a:ext>
            </a:extLst>
          </p:cNvPr>
          <p:cNvSpPr>
            <a:spLocks noChangeArrowheads="1"/>
          </p:cNvSpPr>
          <p:nvPr/>
        </p:nvSpPr>
        <p:spPr bwMode="auto">
          <a:xfrm>
            <a:off x="344488" y="44577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●Trình tự xử lý</a:t>
            </a:r>
            <a:endParaRPr lang="en-US" altLang="ja-JP" sz="2400" b="0">
              <a:latin typeface="Arial" panose="020B0604020202020204" pitchFamily="34" charset="0"/>
            </a:endParaRPr>
          </a:p>
        </p:txBody>
      </p:sp>
      <p:sp>
        <p:nvSpPr>
          <p:cNvPr id="548871" name="Rectangle 7">
            <a:extLst>
              <a:ext uri="{FF2B5EF4-FFF2-40B4-BE49-F238E27FC236}">
                <a16:creationId xmlns:a16="http://schemas.microsoft.com/office/drawing/2014/main" id="{3DD44F06-CBE0-9AB9-5D48-362D247CB839}"/>
              </a:ext>
            </a:extLst>
          </p:cNvPr>
          <p:cNvSpPr>
            <a:spLocks noChangeArrowheads="1"/>
          </p:cNvSpPr>
          <p:nvPr/>
        </p:nvSpPr>
        <p:spPr bwMode="auto">
          <a:xfrm>
            <a:off x="344488" y="4918075"/>
            <a:ext cx="9120187" cy="3984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rPr>
              <a:t>không phát sinh exception</a:t>
            </a:r>
            <a:r>
              <a:rPr lang="ja-JP" altLang="en-US" sz="1800" b="0">
                <a:latin typeface="Arial" panose="020B0604020202020204" pitchFamily="34" charset="0"/>
              </a:rPr>
              <a:t>　①　→　③　　　（② </a:t>
            </a:r>
            <a:r>
              <a:rPr lang="en-US" altLang="ja-JP" sz="1800" b="0">
                <a:latin typeface="Arial" panose="020B0604020202020204" pitchFamily="34" charset="0"/>
              </a:rPr>
              <a:t>không được xử lý</a:t>
            </a:r>
            <a:r>
              <a:rPr lang="ja-JP" altLang="en-US" sz="1800" b="0">
                <a:latin typeface="Arial" panose="020B0604020202020204" pitchFamily="34" charset="0"/>
              </a:rPr>
              <a:t>）</a:t>
            </a:r>
          </a:p>
        </p:txBody>
      </p:sp>
      <p:sp>
        <p:nvSpPr>
          <p:cNvPr id="548872" name="AutoShape 8">
            <a:extLst>
              <a:ext uri="{FF2B5EF4-FFF2-40B4-BE49-F238E27FC236}">
                <a16:creationId xmlns:a16="http://schemas.microsoft.com/office/drawing/2014/main" id="{42BD4928-10B7-4955-73BC-14EAAB82C4F0}"/>
              </a:ext>
            </a:extLst>
          </p:cNvPr>
          <p:cNvSpPr>
            <a:spLocks noChangeArrowheads="1"/>
          </p:cNvSpPr>
          <p:nvPr/>
        </p:nvSpPr>
        <p:spPr bwMode="auto">
          <a:xfrm>
            <a:off x="5105400" y="3897312"/>
            <a:ext cx="4340225" cy="541336"/>
          </a:xfrm>
          <a:prstGeom prst="wedgeRoundRectCallout">
            <a:avLst>
              <a:gd name="adj1" fmla="val 1251"/>
              <a:gd name="adj2" fmla="val -66139"/>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ja-JP" altLang="en-US" sz="1600" dirty="0">
                <a:latin typeface="+mj-lt"/>
              </a:rPr>
              <a:t>「</a:t>
            </a:r>
            <a:r>
              <a:rPr lang="en-US" altLang="ja-JP" sz="1600" dirty="0">
                <a:latin typeface="+mj-lt"/>
              </a:rPr>
              <a:t>finally</a:t>
            </a:r>
            <a:r>
              <a:rPr lang="ja-JP" altLang="en-US" sz="1600" dirty="0">
                <a:latin typeface="+mj-lt"/>
              </a:rPr>
              <a:t>　</a:t>
            </a:r>
            <a:r>
              <a:rPr lang="en-US" altLang="ja-JP" sz="1600" dirty="0">
                <a:latin typeface="+mj-lt"/>
              </a:rPr>
              <a:t>{ }</a:t>
            </a:r>
            <a:r>
              <a:rPr lang="ja-JP" altLang="en-US" sz="1600" dirty="0">
                <a:latin typeface="+mj-lt"/>
              </a:rPr>
              <a:t>　」 </a:t>
            </a:r>
            <a:r>
              <a:rPr lang="en-US" altLang="ja-JP" sz="1600" dirty="0">
                <a:latin typeface="+mj-lt"/>
              </a:rPr>
              <a:t>chỉ chỉ </a:t>
            </a:r>
            <a:r>
              <a:rPr lang="en-US" altLang="ja-JP" sz="1600" dirty="0" err="1">
                <a:latin typeface="+mj-lt"/>
              </a:rPr>
              <a:t>định</a:t>
            </a:r>
            <a:r>
              <a:rPr lang="en-US" altLang="ja-JP" sz="1600" dirty="0">
                <a:latin typeface="+mj-lt"/>
              </a:rPr>
              <a:t> </a:t>
            </a:r>
            <a:r>
              <a:rPr lang="en-US" altLang="ja-JP" sz="1600" dirty="0" err="1">
                <a:latin typeface="+mj-lt"/>
              </a:rPr>
              <a:t>trong</a:t>
            </a:r>
            <a:r>
              <a:rPr lang="en-US" altLang="ja-JP" sz="1600" dirty="0">
                <a:latin typeface="+mj-lt"/>
              </a:rPr>
              <a:t> </a:t>
            </a:r>
            <a:r>
              <a:rPr lang="en-US" altLang="ja-JP" sz="1600" dirty="0" err="1">
                <a:latin typeface="+mj-lt"/>
              </a:rPr>
              <a:t>trường</a:t>
            </a:r>
            <a:r>
              <a:rPr lang="en-US" altLang="ja-JP" sz="1600" dirty="0">
                <a:latin typeface="+mj-lt"/>
              </a:rPr>
              <a:t> </a:t>
            </a:r>
            <a:r>
              <a:rPr lang="en-US" altLang="ja-JP" sz="1600" dirty="0" err="1">
                <a:latin typeface="+mj-lt"/>
              </a:rPr>
              <a:t>hợp</a:t>
            </a:r>
            <a:r>
              <a:rPr lang="en-US" altLang="ja-JP" sz="1600" dirty="0">
                <a:latin typeface="+mj-lt"/>
              </a:rPr>
              <a:t> </a:t>
            </a:r>
            <a:r>
              <a:rPr lang="en-US" altLang="ja-JP" sz="1600" dirty="0" err="1">
                <a:latin typeface="+mj-lt"/>
              </a:rPr>
              <a:t>cần</a:t>
            </a:r>
            <a:r>
              <a:rPr lang="en-US" altLang="ja-JP" sz="1600" dirty="0">
                <a:latin typeface="+mj-lt"/>
              </a:rPr>
              <a:t> </a:t>
            </a:r>
            <a:r>
              <a:rPr lang="en-US" altLang="ja-JP" sz="1600" dirty="0" err="1">
                <a:latin typeface="+mj-lt"/>
              </a:rPr>
              <a:t>thiết</a:t>
            </a:r>
            <a:endParaRPr lang="en-US" altLang="ja-JP" sz="1600" dirty="0">
              <a:latin typeface="+mj-lt"/>
            </a:endParaRPr>
          </a:p>
        </p:txBody>
      </p:sp>
      <p:sp>
        <p:nvSpPr>
          <p:cNvPr id="548873" name="AutoShape 9">
            <a:extLst>
              <a:ext uri="{FF2B5EF4-FFF2-40B4-BE49-F238E27FC236}">
                <a16:creationId xmlns:a16="http://schemas.microsoft.com/office/drawing/2014/main" id="{5AFEA54C-9783-A713-65A0-D15A97717E10}"/>
              </a:ext>
            </a:extLst>
          </p:cNvPr>
          <p:cNvSpPr>
            <a:spLocks noChangeArrowheads="1"/>
          </p:cNvSpPr>
          <p:nvPr/>
        </p:nvSpPr>
        <p:spPr bwMode="auto">
          <a:xfrm>
            <a:off x="5410200" y="2730500"/>
            <a:ext cx="3941763" cy="706438"/>
          </a:xfrm>
          <a:prstGeom prst="wedgeRoundRectCallout">
            <a:avLst>
              <a:gd name="adj1" fmla="val -58583"/>
              <a:gd name="adj2" fmla="val -1944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ja-JP" altLang="en-US" sz="1600" dirty="0">
                <a:latin typeface="+mj-lt"/>
              </a:rPr>
              <a:t>「</a:t>
            </a:r>
            <a:r>
              <a:rPr lang="en-US" altLang="ja-JP" sz="1600" dirty="0">
                <a:latin typeface="+mj-lt"/>
              </a:rPr>
              <a:t>catch(</a:t>
            </a:r>
            <a:r>
              <a:rPr lang="en-US" altLang="ja-JP" sz="1600" dirty="0" err="1">
                <a:latin typeface="+mj-lt"/>
              </a:rPr>
              <a:t>kiểu</a:t>
            </a:r>
            <a:r>
              <a:rPr lang="en-US" altLang="ja-JP" sz="1600" dirty="0">
                <a:latin typeface="+mj-lt"/>
              </a:rPr>
              <a:t> </a:t>
            </a:r>
            <a:r>
              <a:rPr lang="en-US" altLang="ja-JP" sz="1600" dirty="0" err="1">
                <a:latin typeface="+mj-lt"/>
              </a:rPr>
              <a:t>của</a:t>
            </a:r>
            <a:r>
              <a:rPr lang="en-US" altLang="ja-JP" sz="1600" dirty="0">
                <a:latin typeface="+mj-lt"/>
              </a:rPr>
              <a:t> exception</a:t>
            </a:r>
            <a:r>
              <a:rPr lang="ja-JP" altLang="en-US" sz="1600" dirty="0">
                <a:latin typeface="+mj-lt"/>
              </a:rPr>
              <a:t>　</a:t>
            </a:r>
            <a:r>
              <a:rPr lang="en-US" altLang="ja-JP" sz="1600" dirty="0" err="1">
                <a:latin typeface="+mj-lt"/>
              </a:rPr>
              <a:t>tên</a:t>
            </a:r>
            <a:r>
              <a:rPr lang="en-US" altLang="ja-JP" sz="1600" dirty="0">
                <a:latin typeface="+mj-lt"/>
              </a:rPr>
              <a:t> </a:t>
            </a:r>
            <a:r>
              <a:rPr lang="en-US" altLang="ja-JP" sz="1600" dirty="0" err="1">
                <a:latin typeface="+mj-lt"/>
              </a:rPr>
              <a:t>biến</a:t>
            </a:r>
            <a:r>
              <a:rPr lang="en-US" altLang="ja-JP" sz="1600" dirty="0">
                <a:latin typeface="+mj-lt"/>
              </a:rPr>
              <a:t>)</a:t>
            </a:r>
            <a:r>
              <a:rPr lang="ja-JP" altLang="en-US" sz="1600" dirty="0">
                <a:latin typeface="+mj-lt"/>
              </a:rPr>
              <a:t>　</a:t>
            </a:r>
            <a:r>
              <a:rPr lang="en-US" altLang="ja-JP" sz="1600" dirty="0">
                <a:latin typeface="+mj-lt"/>
              </a:rPr>
              <a:t>{</a:t>
            </a:r>
            <a:r>
              <a:rPr lang="ja-JP" altLang="en-US" sz="1600" dirty="0">
                <a:latin typeface="+mj-lt"/>
              </a:rPr>
              <a:t>　</a:t>
            </a:r>
            <a:r>
              <a:rPr lang="en-US" altLang="ja-JP" sz="1600" dirty="0">
                <a:latin typeface="+mj-lt"/>
              </a:rPr>
              <a:t>}</a:t>
            </a:r>
            <a:r>
              <a:rPr lang="ja-JP" altLang="en-US" sz="1600" dirty="0">
                <a:latin typeface="+mj-lt"/>
              </a:rPr>
              <a:t>　」</a:t>
            </a:r>
            <a:r>
              <a:rPr lang="en-US" altLang="ja-JP" sz="1600" dirty="0">
                <a:latin typeface="+mj-lt"/>
              </a:rPr>
              <a:t>có </a:t>
            </a:r>
            <a:r>
              <a:rPr lang="en-US" altLang="ja-JP" sz="1600" dirty="0" err="1">
                <a:latin typeface="+mj-lt"/>
              </a:rPr>
              <a:t>thê</a:t>
            </a:r>
            <a:r>
              <a:rPr lang="en-US" altLang="ja-JP" sz="1600" dirty="0">
                <a:latin typeface="+mj-lt"/>
              </a:rPr>
              <a:t>̉ chỉ </a:t>
            </a:r>
            <a:r>
              <a:rPr lang="en-US" altLang="ja-JP" sz="1600" dirty="0" err="1">
                <a:latin typeface="+mj-lt"/>
              </a:rPr>
              <a:t>định</a:t>
            </a:r>
            <a:r>
              <a:rPr lang="en-US" altLang="ja-JP" sz="1600" dirty="0">
                <a:latin typeface="+mj-lt"/>
              </a:rPr>
              <a:t> </a:t>
            </a:r>
            <a:r>
              <a:rPr lang="en-US" altLang="ja-JP" sz="1600" dirty="0" err="1">
                <a:latin typeface="+mj-lt"/>
              </a:rPr>
              <a:t>nhiều</a:t>
            </a:r>
            <a:endParaRPr lang="en-US" altLang="ja-JP" sz="1600" dirty="0">
              <a:latin typeface="+mj-lt"/>
            </a:endParaRPr>
          </a:p>
        </p:txBody>
      </p:sp>
      <p:sp>
        <p:nvSpPr>
          <p:cNvPr id="548877" name="Rectangle 13">
            <a:extLst>
              <a:ext uri="{FF2B5EF4-FFF2-40B4-BE49-F238E27FC236}">
                <a16:creationId xmlns:a16="http://schemas.microsoft.com/office/drawing/2014/main" id="{1E5FF281-B816-41CB-F91D-3BB5178EDC72}"/>
              </a:ext>
            </a:extLst>
          </p:cNvPr>
          <p:cNvSpPr>
            <a:spLocks noChangeArrowheads="1"/>
          </p:cNvSpPr>
          <p:nvPr/>
        </p:nvSpPr>
        <p:spPr bwMode="auto">
          <a:xfrm>
            <a:off x="344488" y="5472113"/>
            <a:ext cx="9120187" cy="398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rPr>
              <a:t>phát sinh exception</a:t>
            </a:r>
            <a:r>
              <a:rPr lang="ja-JP" altLang="en-US" sz="1800" b="0">
                <a:latin typeface="Arial" panose="020B0604020202020204" pitchFamily="34" charset="0"/>
              </a:rPr>
              <a:t>　①（</a:t>
            </a:r>
            <a:r>
              <a:rPr lang="en-US" altLang="ja-JP" sz="1800" b="0">
                <a:latin typeface="Arial" panose="020B0604020202020204" pitchFamily="34" charset="0"/>
              </a:rPr>
              <a:t>cho đến trước khi phát sinh exception</a:t>
            </a:r>
            <a:r>
              <a:rPr lang="ja-JP" altLang="en-US" sz="1800" b="0">
                <a:latin typeface="Arial" panose="020B0604020202020204" pitchFamily="34" charset="0"/>
              </a:rPr>
              <a:t>）　→　②　→　③</a:t>
            </a:r>
          </a:p>
        </p:txBody>
      </p:sp>
      <p:sp>
        <p:nvSpPr>
          <p:cNvPr id="548878" name="AutoShape 14">
            <a:extLst>
              <a:ext uri="{FF2B5EF4-FFF2-40B4-BE49-F238E27FC236}">
                <a16:creationId xmlns:a16="http://schemas.microsoft.com/office/drawing/2014/main" id="{8D3AAB73-03A4-5C92-0E19-7EDEAA3DF8BC}"/>
              </a:ext>
            </a:extLst>
          </p:cNvPr>
          <p:cNvSpPr>
            <a:spLocks noChangeArrowheads="1"/>
          </p:cNvSpPr>
          <p:nvPr/>
        </p:nvSpPr>
        <p:spPr bwMode="auto">
          <a:xfrm>
            <a:off x="3548063" y="1238250"/>
            <a:ext cx="3751262" cy="385763"/>
          </a:xfrm>
          <a:prstGeom prst="wedgeRoundRectCallout">
            <a:avLst>
              <a:gd name="adj1" fmla="val -104718"/>
              <a:gd name="adj2" fmla="val 138477"/>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ja-JP" altLang="en-US" sz="1800" dirty="0">
                <a:latin typeface="+mj-lt"/>
              </a:rPr>
              <a:t>「</a:t>
            </a:r>
            <a:r>
              <a:rPr lang="en-US" altLang="ja-JP" sz="1800" dirty="0">
                <a:latin typeface="+mj-lt"/>
              </a:rPr>
              <a:t>try</a:t>
            </a:r>
            <a:r>
              <a:rPr lang="ja-JP" altLang="en-US" sz="1800" dirty="0">
                <a:latin typeface="+mj-lt"/>
              </a:rPr>
              <a:t>～</a:t>
            </a:r>
            <a:r>
              <a:rPr lang="en-US" altLang="ja-JP" sz="1800" dirty="0">
                <a:latin typeface="+mj-lt"/>
              </a:rPr>
              <a:t>catch</a:t>
            </a:r>
            <a:r>
              <a:rPr lang="ja-JP" altLang="en-US" sz="1800" dirty="0">
                <a:latin typeface="+mj-lt"/>
              </a:rPr>
              <a:t>」 </a:t>
            </a:r>
            <a:r>
              <a:rPr lang="en-US" altLang="ja-JP" sz="1800" dirty="0">
                <a:latin typeface="+mj-lt"/>
              </a:rPr>
              <a:t>có </a:t>
            </a:r>
            <a:r>
              <a:rPr lang="en-US" altLang="ja-JP" sz="1800" dirty="0" err="1">
                <a:latin typeface="+mj-lt"/>
              </a:rPr>
              <a:t>thê</a:t>
            </a:r>
            <a:r>
              <a:rPr lang="en-US" altLang="ja-JP" sz="1800" dirty="0">
                <a:latin typeface="+mj-lt"/>
              </a:rPr>
              <a:t>̉ nest</a:t>
            </a:r>
            <a:r>
              <a:rPr lang="ja-JP" altLang="en-US" sz="1800" dirty="0">
                <a:latin typeface="+mj-lt"/>
              </a:rPr>
              <a:t>（</a:t>
            </a:r>
            <a:r>
              <a:rPr lang="en-US" altLang="ja-JP" sz="1800" dirty="0" err="1">
                <a:latin typeface="+mj-lt"/>
              </a:rPr>
              <a:t>lồng</a:t>
            </a:r>
            <a:r>
              <a:rPr lang="ja-JP" altLang="en-US" sz="1800" dirty="0">
                <a:latin typeface="+mj-lt"/>
              </a:rPr>
              <a:t>）</a:t>
            </a:r>
          </a:p>
        </p:txBody>
      </p:sp>
      <p:sp>
        <p:nvSpPr>
          <p:cNvPr id="548879" name="Rectangle 15">
            <a:extLst>
              <a:ext uri="{FF2B5EF4-FFF2-40B4-BE49-F238E27FC236}">
                <a16:creationId xmlns:a16="http://schemas.microsoft.com/office/drawing/2014/main" id="{56592478-2DC7-4821-CB59-94D875DE75EF}"/>
              </a:ext>
            </a:extLst>
          </p:cNvPr>
          <p:cNvSpPr>
            <a:spLocks noChangeArrowheads="1"/>
          </p:cNvSpPr>
          <p:nvPr/>
        </p:nvSpPr>
        <p:spPr bwMode="auto">
          <a:xfrm>
            <a:off x="344488" y="5967413"/>
            <a:ext cx="9120187"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1800" b="0">
                <a:latin typeface="Arial" panose="020B0604020202020204" pitchFamily="34" charset="0"/>
              </a:rPr>
              <a:t>※</a:t>
            </a:r>
            <a:r>
              <a:rPr lang="ja-JP" altLang="en-US" sz="1800" b="0">
                <a:latin typeface="Arial" panose="020B0604020202020204" pitchFamily="34" charset="0"/>
              </a:rPr>
              <a:t>　</a:t>
            </a:r>
            <a:r>
              <a:rPr lang="en-US" altLang="ja-JP" sz="1800" b="0">
                <a:latin typeface="Arial" panose="020B0604020202020204" pitchFamily="34" charset="0"/>
              </a:rPr>
              <a:t>Ở ② ghi trên, </a:t>
            </a:r>
            <a:r>
              <a:rPr lang="ja-JP" altLang="en-US" sz="1800" b="0">
                <a:latin typeface="Arial" panose="020B0604020202020204" pitchFamily="34" charset="0"/>
              </a:rPr>
              <a:t>（</a:t>
            </a:r>
            <a:r>
              <a:rPr lang="en-US" altLang="ja-JP" sz="1800" b="0">
                <a:latin typeface="Arial" panose="020B0604020202020204" pitchFamily="34" charset="0"/>
              </a:rPr>
              <a:t>dù có nhiều catch block</a:t>
            </a:r>
            <a:r>
              <a:rPr lang="ja-JP" altLang="en-US" sz="1800" b="0">
                <a:latin typeface="Arial" panose="020B0604020202020204" pitchFamily="34" charset="0"/>
              </a:rPr>
              <a:t>）</a:t>
            </a:r>
            <a:r>
              <a:rPr lang="en-US" altLang="ja-JP" sz="1800" b="0">
                <a:latin typeface="Arial" panose="020B0604020202020204" pitchFamily="34" charset="0"/>
              </a:rPr>
              <a:t>, chỉ có 1 catch block tương ứng với class của exception object liên quan được xử 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5A9FFAF-325C-6DED-9A5D-B88A0D5916BD}"/>
              </a:ext>
            </a:extLst>
          </p:cNvPr>
          <p:cNvSpPr>
            <a:spLocks noGrp="1"/>
          </p:cNvSpPr>
          <p:nvPr>
            <p:ph type="sldNum" sz="quarter" idx="10"/>
          </p:nvPr>
        </p:nvSpPr>
        <p:spPr/>
        <p:txBody>
          <a:bodyPr/>
          <a:lstStyle/>
          <a:p>
            <a:fld id="{FA3C9109-0C97-44AC-9BCC-C9BE76B446D9}" type="slidenum">
              <a:rPr lang="en-US" altLang="ja-JP"/>
              <a:pPr/>
              <a:t>14</a:t>
            </a:fld>
            <a:endParaRPr lang="en-US" altLang="ja-JP"/>
          </a:p>
        </p:txBody>
      </p:sp>
      <p:sp>
        <p:nvSpPr>
          <p:cNvPr id="550914" name="Rectangle 2">
            <a:extLst>
              <a:ext uri="{FF2B5EF4-FFF2-40B4-BE49-F238E27FC236}">
                <a16:creationId xmlns:a16="http://schemas.microsoft.com/office/drawing/2014/main" id="{F0073615-89C4-9D67-7E2B-5882B7223670}"/>
              </a:ext>
            </a:extLst>
          </p:cNvPr>
          <p:cNvSpPr>
            <a:spLocks noGrp="1" noChangeArrowheads="1"/>
          </p:cNvSpPr>
          <p:nvPr>
            <p:ph type="title"/>
          </p:nvPr>
        </p:nvSpPr>
        <p:spPr>
          <a:xfrm>
            <a:off x="344488" y="568325"/>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exception(3)</a:t>
            </a:r>
          </a:p>
        </p:txBody>
      </p:sp>
      <p:sp>
        <p:nvSpPr>
          <p:cNvPr id="550915" name="Rectangle 3">
            <a:extLst>
              <a:ext uri="{FF2B5EF4-FFF2-40B4-BE49-F238E27FC236}">
                <a16:creationId xmlns:a16="http://schemas.microsoft.com/office/drawing/2014/main" id="{834FF8F9-523B-85DE-DFA1-D511B99DBAAB}"/>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50916" name="Rectangle 4">
            <a:extLst>
              <a:ext uri="{FF2B5EF4-FFF2-40B4-BE49-F238E27FC236}">
                <a16:creationId xmlns:a16="http://schemas.microsoft.com/office/drawing/2014/main" id="{FD71C633-7973-B728-E226-8F85D1B0FD64}"/>
              </a:ext>
            </a:extLst>
          </p:cNvPr>
          <p:cNvSpPr>
            <a:spLocks noChangeArrowheads="1"/>
          </p:cNvSpPr>
          <p:nvPr/>
        </p:nvSpPr>
        <p:spPr bwMode="auto">
          <a:xfrm>
            <a:off x="344488" y="1162050"/>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1600" b="0">
                <a:latin typeface="Arial" panose="020B0604020202020204" pitchFamily="34" charset="0"/>
              </a:rPr>
              <a:t>Ví dụ phát sinh exception</a:t>
            </a:r>
            <a:r>
              <a:rPr lang="ja-JP" altLang="en-US" sz="1600" b="0">
                <a:latin typeface="Arial" panose="020B0604020202020204" pitchFamily="34" charset="0"/>
              </a:rPr>
              <a:t>（</a:t>
            </a:r>
            <a:r>
              <a:rPr lang="en-US" altLang="ja-JP" sz="1600" b="0">
                <a:latin typeface="Arial" panose="020B0604020202020204" pitchFamily="34" charset="0"/>
              </a:rPr>
              <a:t>sử dụng giá trị đã chỉ định khi thực thi để tính toán bằng 4 phép tính cộng trừ nhân chia</a:t>
            </a:r>
            <a:r>
              <a:rPr lang="ja-JP" altLang="en-US" sz="1600" b="0">
                <a:latin typeface="Arial" panose="020B0604020202020204" pitchFamily="34" charset="0"/>
              </a:rPr>
              <a:t>）</a:t>
            </a:r>
          </a:p>
          <a:p>
            <a:pPr lvl="1"/>
            <a:endParaRPr lang="en-US" altLang="ja-JP" sz="1600" b="0">
              <a:latin typeface="Arial" panose="020B0604020202020204" pitchFamily="34" charset="0"/>
            </a:endParaRPr>
          </a:p>
        </p:txBody>
      </p:sp>
      <p:sp>
        <p:nvSpPr>
          <p:cNvPr id="550919" name="Rectangle 7">
            <a:extLst>
              <a:ext uri="{FF2B5EF4-FFF2-40B4-BE49-F238E27FC236}">
                <a16:creationId xmlns:a16="http://schemas.microsoft.com/office/drawing/2014/main" id="{63A3594D-D839-6099-57E4-748238A0D31E}"/>
              </a:ext>
            </a:extLst>
          </p:cNvPr>
          <p:cNvSpPr>
            <a:spLocks noChangeArrowheads="1"/>
          </p:cNvSpPr>
          <p:nvPr/>
        </p:nvSpPr>
        <p:spPr bwMode="auto">
          <a:xfrm>
            <a:off x="344488" y="1670050"/>
            <a:ext cx="9358312" cy="5111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0"/>
              </a:spcBef>
              <a:buFont typeface="Wingdings" panose="05000000000000000000" pitchFamily="2" charset="2"/>
              <a:buNone/>
            </a:pPr>
            <a:r>
              <a:rPr lang="fr-FR" altLang="ja-JP" sz="1800" b="0" dirty="0">
                <a:latin typeface="Arial" panose="020B0604020202020204" pitchFamily="34" charset="0"/>
                <a:ea typeface="ＭＳ ゴシック" panose="020B0609070205080204" pitchFamily="49" charset="-128"/>
              </a:rPr>
              <a:t>&gt;java Exception01 5 3</a:t>
            </a:r>
          </a:p>
          <a:p>
            <a:pPr>
              <a:spcBef>
                <a:spcPct val="0"/>
              </a:spcBef>
              <a:buFont typeface="Wingdings" panose="05000000000000000000" pitchFamily="2" charset="2"/>
              <a:buNone/>
            </a:pPr>
            <a:r>
              <a:rPr lang="fr-FR" altLang="ja-JP" sz="1800" b="0" dirty="0">
                <a:latin typeface="Arial" panose="020B0604020202020204" pitchFamily="34" charset="0"/>
                <a:ea typeface="ＭＳ ゴシック" panose="020B0609070205080204" pitchFamily="49" charset="-128"/>
              </a:rPr>
              <a:t>+:8</a:t>
            </a:r>
          </a:p>
          <a:p>
            <a:pPr>
              <a:spcBef>
                <a:spcPct val="0"/>
              </a:spcBef>
              <a:buFont typeface="Wingdings" panose="05000000000000000000" pitchFamily="2" charset="2"/>
              <a:buNone/>
            </a:pPr>
            <a:r>
              <a:rPr lang="fr-FR" altLang="ja-JP" sz="1800" b="0" dirty="0">
                <a:latin typeface="Arial" panose="020B0604020202020204" pitchFamily="34" charset="0"/>
                <a:ea typeface="ＭＳ ゴシック" panose="020B0609070205080204" pitchFamily="49" charset="-128"/>
              </a:rPr>
              <a:t>-:2</a:t>
            </a:r>
          </a:p>
          <a:p>
            <a:pPr>
              <a:spcBef>
                <a:spcPct val="0"/>
              </a:spcBef>
              <a:buFont typeface="Wingdings" panose="05000000000000000000" pitchFamily="2" charset="2"/>
              <a:buNone/>
            </a:pPr>
            <a:r>
              <a:rPr lang="fr-FR" altLang="ja-JP" sz="1800" b="0" dirty="0">
                <a:latin typeface="Arial" panose="020B0604020202020204" pitchFamily="34" charset="0"/>
                <a:ea typeface="ＭＳ ゴシック" panose="020B0609070205080204" pitchFamily="49" charset="-128"/>
              </a:rPr>
              <a:t>*:15</a:t>
            </a:r>
          </a:p>
          <a:p>
            <a:pPr>
              <a:spcBef>
                <a:spcPct val="0"/>
              </a:spcBef>
              <a:buFont typeface="Wingdings" panose="05000000000000000000" pitchFamily="2" charset="2"/>
              <a:buNone/>
            </a:pPr>
            <a:r>
              <a:rPr lang="fr-FR" altLang="ja-JP" sz="1800" b="0" dirty="0">
                <a:latin typeface="Arial" panose="020B0604020202020204" pitchFamily="34" charset="0"/>
                <a:ea typeface="ＭＳ ゴシック" panose="020B0609070205080204" pitchFamily="49" charset="-128"/>
              </a:rPr>
              <a:t>/:1</a:t>
            </a:r>
            <a:endParaRPr lang="en-US" altLang="ja-JP" sz="1800" b="0" dirty="0">
              <a:latin typeface="Arial" panose="020B0604020202020204" pitchFamily="34" charset="0"/>
              <a:ea typeface="ＭＳ ゴシック" panose="020B0609070205080204" pitchFamily="49" charset="-128"/>
            </a:endParaRPr>
          </a:p>
          <a:p>
            <a:pPr>
              <a:spcBef>
                <a:spcPct val="0"/>
              </a:spcBef>
              <a:buFont typeface="Wingdings" panose="05000000000000000000" pitchFamily="2" charset="2"/>
              <a:buNone/>
            </a:pPr>
            <a:endParaRPr lang="en-US" altLang="ja-JP" sz="1800" b="0" dirty="0">
              <a:latin typeface="Arial" panose="020B0604020202020204" pitchFamily="34" charset="0"/>
              <a:ea typeface="ＭＳ ゴシック" panose="020B0609070205080204" pitchFamily="49" charset="-128"/>
            </a:endParaRPr>
          </a:p>
          <a:p>
            <a:pPr>
              <a:spcBef>
                <a:spcPct val="0"/>
              </a:spcBef>
              <a:buFont typeface="Wingdings" panose="05000000000000000000" pitchFamily="2" charset="2"/>
              <a:buNone/>
            </a:pPr>
            <a:r>
              <a:rPr lang="en-US" altLang="ja-JP" sz="1800" b="0" dirty="0">
                <a:latin typeface="Arial" panose="020B0604020202020204" pitchFamily="34" charset="0"/>
                <a:ea typeface="ＭＳ ゴシック" panose="020B0609070205080204" pitchFamily="49" charset="-128"/>
              </a:rPr>
              <a:t>&gt;java Exception01</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Exception in thread "main" </a:t>
            </a:r>
            <a:r>
              <a:rPr lang="en-US" altLang="ja-JP" sz="1600" b="0" dirty="0" err="1">
                <a:latin typeface="Arial" panose="020B0604020202020204" pitchFamily="34" charset="0"/>
                <a:ea typeface="ＭＳ ゴシック" panose="020B0609070205080204" pitchFamily="49" charset="-128"/>
              </a:rPr>
              <a:t>java.lang.ArrayIndexOutOfBoundsException</a:t>
            </a:r>
            <a:r>
              <a:rPr lang="en-US" altLang="ja-JP" sz="1600" b="0" dirty="0">
                <a:latin typeface="Arial" panose="020B0604020202020204" pitchFamily="34" charset="0"/>
                <a:ea typeface="ＭＳ ゴシック" panose="020B0609070205080204" pitchFamily="49" charset="-128"/>
              </a:rPr>
              <a:t> : 0</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        at Exception01.main(Exception01.java:3)</a:t>
            </a:r>
          </a:p>
          <a:p>
            <a:pPr>
              <a:spcBef>
                <a:spcPct val="0"/>
              </a:spcBef>
              <a:buFont typeface="Wingdings" panose="05000000000000000000" pitchFamily="2" charset="2"/>
              <a:buNone/>
            </a:pPr>
            <a:endParaRPr lang="en-US" altLang="ja-JP" sz="1800" b="0" dirty="0">
              <a:latin typeface="Arial" panose="020B0604020202020204" pitchFamily="34" charset="0"/>
              <a:ea typeface="ＭＳ ゴシック" panose="020B0609070205080204" pitchFamily="49" charset="-128"/>
            </a:endParaRPr>
          </a:p>
          <a:p>
            <a:pPr>
              <a:spcBef>
                <a:spcPct val="0"/>
              </a:spcBef>
              <a:buFont typeface="Wingdings" panose="05000000000000000000" pitchFamily="2" charset="2"/>
              <a:buNone/>
            </a:pPr>
            <a:r>
              <a:rPr lang="en-US" altLang="ja-JP" sz="1800" b="0" dirty="0">
                <a:latin typeface="Arial" panose="020B0604020202020204" pitchFamily="34" charset="0"/>
                <a:ea typeface="ＭＳ ゴシック" panose="020B0609070205080204" pitchFamily="49" charset="-128"/>
              </a:rPr>
              <a:t>&gt;java Exception01 a b</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Exception in thread "main" </a:t>
            </a:r>
            <a:r>
              <a:rPr lang="en-US" altLang="ja-JP" sz="1600" b="0" dirty="0" err="1">
                <a:latin typeface="Arial" panose="020B0604020202020204" pitchFamily="34" charset="0"/>
                <a:ea typeface="ＭＳ ゴシック" panose="020B0609070205080204" pitchFamily="49" charset="-128"/>
              </a:rPr>
              <a:t>java.lang.NumberFormatException</a:t>
            </a:r>
            <a:r>
              <a:rPr lang="en-US" altLang="ja-JP" sz="1600" b="0" dirty="0">
                <a:latin typeface="Arial" panose="020B0604020202020204" pitchFamily="34" charset="0"/>
                <a:ea typeface="ＭＳ ゴシック" panose="020B0609070205080204" pitchFamily="49" charset="-128"/>
              </a:rPr>
              <a:t> : For input string: "a"</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        at </a:t>
            </a:r>
            <a:r>
              <a:rPr lang="en-US" altLang="ja-JP" sz="1600" b="0" dirty="0" err="1">
                <a:latin typeface="Arial" panose="020B0604020202020204" pitchFamily="34" charset="0"/>
                <a:ea typeface="ＭＳ ゴシック" panose="020B0609070205080204" pitchFamily="49" charset="-128"/>
              </a:rPr>
              <a:t>java.lang.NumberFormatException.forInputString</a:t>
            </a:r>
            <a:r>
              <a:rPr lang="en-US" altLang="ja-JP" sz="1600" b="0" dirty="0">
                <a:latin typeface="Arial" panose="020B0604020202020204" pitchFamily="34" charset="0"/>
                <a:ea typeface="ＭＳ ゴシック" panose="020B0609070205080204" pitchFamily="49" charset="-128"/>
              </a:rPr>
              <a:t>(NumberFormatException.java:48)</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        at </a:t>
            </a:r>
            <a:r>
              <a:rPr lang="en-US" altLang="ja-JP" sz="1600" b="0" dirty="0" err="1">
                <a:latin typeface="Arial" panose="020B0604020202020204" pitchFamily="34" charset="0"/>
                <a:ea typeface="ＭＳ ゴシック" panose="020B0609070205080204" pitchFamily="49" charset="-128"/>
              </a:rPr>
              <a:t>java.lang.Integer.parseInt</a:t>
            </a:r>
            <a:r>
              <a:rPr lang="en-US" altLang="ja-JP" sz="1600" b="0" dirty="0">
                <a:latin typeface="Arial" panose="020B0604020202020204" pitchFamily="34" charset="0"/>
                <a:ea typeface="ＭＳ ゴシック" panose="020B0609070205080204" pitchFamily="49" charset="-128"/>
              </a:rPr>
              <a:t>(Integer.java:447)</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        at </a:t>
            </a:r>
            <a:r>
              <a:rPr lang="en-US" altLang="ja-JP" sz="1600" b="0" dirty="0" err="1">
                <a:latin typeface="Arial" panose="020B0604020202020204" pitchFamily="34" charset="0"/>
                <a:ea typeface="ＭＳ ゴシック" panose="020B0609070205080204" pitchFamily="49" charset="-128"/>
              </a:rPr>
              <a:t>java.lang.Integer.parseInt</a:t>
            </a:r>
            <a:r>
              <a:rPr lang="en-US" altLang="ja-JP" sz="1600" b="0" dirty="0">
                <a:latin typeface="Arial" panose="020B0604020202020204" pitchFamily="34" charset="0"/>
                <a:ea typeface="ＭＳ ゴシック" panose="020B0609070205080204" pitchFamily="49" charset="-128"/>
              </a:rPr>
              <a:t>(Integer.java:497)</a:t>
            </a:r>
          </a:p>
          <a:p>
            <a:pPr>
              <a:spcBef>
                <a:spcPct val="0"/>
              </a:spcBef>
              <a:buFont typeface="Wingdings" panose="05000000000000000000" pitchFamily="2" charset="2"/>
              <a:buNone/>
            </a:pPr>
            <a:r>
              <a:rPr lang="en-US" altLang="ja-JP" sz="1600" b="0" dirty="0">
                <a:latin typeface="Arial" panose="020B0604020202020204" pitchFamily="34" charset="0"/>
                <a:ea typeface="ＭＳ ゴシック" panose="020B0609070205080204" pitchFamily="49" charset="-128"/>
              </a:rPr>
              <a:t>        at Exception01.main(Exception01.java:3)</a:t>
            </a:r>
          </a:p>
        </p:txBody>
      </p:sp>
      <p:sp>
        <p:nvSpPr>
          <p:cNvPr id="550920" name="AutoShape 8">
            <a:extLst>
              <a:ext uri="{FF2B5EF4-FFF2-40B4-BE49-F238E27FC236}">
                <a16:creationId xmlns:a16="http://schemas.microsoft.com/office/drawing/2014/main" id="{8F1E37B8-9DAB-428A-6805-2D2E1681BA0B}"/>
              </a:ext>
            </a:extLst>
          </p:cNvPr>
          <p:cNvSpPr>
            <a:spLocks noChangeArrowheads="1"/>
          </p:cNvSpPr>
          <p:nvPr/>
        </p:nvSpPr>
        <p:spPr bwMode="auto">
          <a:xfrm>
            <a:off x="7340600" y="3924300"/>
            <a:ext cx="2114550" cy="760412"/>
          </a:xfrm>
          <a:prstGeom prst="wedgeRoundRectCallout">
            <a:avLst>
              <a:gd name="adj1" fmla="val -92569"/>
              <a:gd name="adj2" fmla="val 4478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b="0" dirty="0">
                <a:latin typeface="+mj-lt"/>
              </a:rPr>
              <a:t>Chỉ </a:t>
            </a:r>
            <a:r>
              <a:rPr lang="en-US" altLang="ja-JP" sz="1500" b="0" dirty="0" err="1">
                <a:latin typeface="+mj-lt"/>
              </a:rPr>
              <a:t>định</a:t>
            </a:r>
            <a:r>
              <a:rPr lang="en-US" altLang="ja-JP" sz="1500" b="0" dirty="0">
                <a:latin typeface="+mj-lt"/>
              </a:rPr>
              <a:t> </a:t>
            </a:r>
            <a:r>
              <a:rPr lang="en-US" altLang="ja-JP" sz="1500" b="0" dirty="0" err="1">
                <a:latin typeface="+mj-lt"/>
              </a:rPr>
              <a:t>gia</a:t>
            </a:r>
            <a:r>
              <a:rPr lang="en-US" altLang="ja-JP" sz="1500" b="0" dirty="0">
                <a:latin typeface="+mj-lt"/>
              </a:rPr>
              <a:t>́ trị </a:t>
            </a:r>
            <a:r>
              <a:rPr lang="en-US" altLang="ja-JP" sz="1500" b="0" dirty="0" err="1">
                <a:latin typeface="+mj-lt"/>
              </a:rPr>
              <a:t>không</a:t>
            </a:r>
            <a:r>
              <a:rPr lang="en-US" altLang="ja-JP" sz="1500" b="0" dirty="0">
                <a:latin typeface="+mj-lt"/>
              </a:rPr>
              <a:t> </a:t>
            </a:r>
            <a:r>
              <a:rPr lang="en-US" altLang="ja-JP" sz="1500" b="0" dirty="0" err="1">
                <a:latin typeface="+mj-lt"/>
              </a:rPr>
              <a:t>thê</a:t>
            </a:r>
            <a:r>
              <a:rPr lang="en-US" altLang="ja-JP" sz="1500" b="0" dirty="0">
                <a:latin typeface="+mj-lt"/>
              </a:rPr>
              <a:t>̉ convert </a:t>
            </a:r>
            <a:r>
              <a:rPr lang="en-US" altLang="ja-JP" sz="1500" b="0" dirty="0" err="1">
                <a:latin typeface="+mj-lt"/>
              </a:rPr>
              <a:t>thành</a:t>
            </a:r>
            <a:r>
              <a:rPr lang="en-US" altLang="ja-JP" sz="1500" b="0" dirty="0">
                <a:latin typeface="+mj-lt"/>
              </a:rPr>
              <a:t> </a:t>
            </a:r>
            <a:r>
              <a:rPr lang="en-US" altLang="ja-JP" sz="1500" b="0" dirty="0" err="1">
                <a:latin typeface="+mj-lt"/>
              </a:rPr>
              <a:t>gia</a:t>
            </a:r>
            <a:r>
              <a:rPr lang="en-US" altLang="ja-JP" sz="1500" b="0" dirty="0">
                <a:latin typeface="+mj-lt"/>
              </a:rPr>
              <a:t>́ trị int</a:t>
            </a:r>
          </a:p>
        </p:txBody>
      </p:sp>
      <p:sp>
        <p:nvSpPr>
          <p:cNvPr id="550921" name="AutoShape 9">
            <a:extLst>
              <a:ext uri="{FF2B5EF4-FFF2-40B4-BE49-F238E27FC236}">
                <a16:creationId xmlns:a16="http://schemas.microsoft.com/office/drawing/2014/main" id="{5992E3A5-A268-13DC-BDBE-C8D8374FF305}"/>
              </a:ext>
            </a:extLst>
          </p:cNvPr>
          <p:cNvSpPr>
            <a:spLocks noChangeArrowheads="1"/>
          </p:cNvSpPr>
          <p:nvPr/>
        </p:nvSpPr>
        <p:spPr bwMode="auto">
          <a:xfrm>
            <a:off x="5913438" y="2865437"/>
            <a:ext cx="3513137" cy="512763"/>
          </a:xfrm>
          <a:prstGeom prst="wedgeRoundRectCallout">
            <a:avLst>
              <a:gd name="adj1" fmla="val -36852"/>
              <a:gd name="adj2" fmla="val 8157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b="0" dirty="0">
                <a:latin typeface="+mj-lt"/>
              </a:rPr>
              <a:t>Chỉ </a:t>
            </a:r>
            <a:r>
              <a:rPr lang="en-US" altLang="ja-JP" sz="1500" b="0" dirty="0" err="1">
                <a:latin typeface="+mj-lt"/>
              </a:rPr>
              <a:t>định</a:t>
            </a:r>
            <a:r>
              <a:rPr lang="en-US" altLang="ja-JP" sz="1500" b="0" dirty="0">
                <a:latin typeface="+mj-lt"/>
              </a:rPr>
              <a:t> </a:t>
            </a:r>
            <a:r>
              <a:rPr lang="en-US" altLang="ja-JP" sz="1500" b="0" dirty="0" err="1">
                <a:latin typeface="+mj-lt"/>
              </a:rPr>
              <a:t>phần</a:t>
            </a:r>
            <a:r>
              <a:rPr lang="en-US" altLang="ja-JP" sz="1500" b="0" dirty="0">
                <a:latin typeface="+mj-lt"/>
              </a:rPr>
              <a:t> </a:t>
            </a:r>
            <a:r>
              <a:rPr lang="en-US" altLang="ja-JP" sz="1500" b="0" dirty="0" err="1">
                <a:latin typeface="+mj-lt"/>
              </a:rPr>
              <a:t>tư</a:t>
            </a:r>
            <a:r>
              <a:rPr lang="en-US" altLang="ja-JP" sz="1500" b="0" dirty="0">
                <a:latin typeface="+mj-lt"/>
              </a:rPr>
              <a:t>̉ </a:t>
            </a:r>
            <a:r>
              <a:rPr lang="en-US" altLang="ja-JP" sz="1500" b="0" dirty="0" err="1">
                <a:latin typeface="+mj-lt"/>
              </a:rPr>
              <a:t>không</a:t>
            </a:r>
            <a:r>
              <a:rPr lang="en-US" altLang="ja-JP" sz="1500" b="0" dirty="0">
                <a:latin typeface="+mj-lt"/>
              </a:rPr>
              <a:t> </a:t>
            </a:r>
            <a:r>
              <a:rPr lang="en-US" altLang="ja-JP" sz="1500" b="0" dirty="0" err="1">
                <a:latin typeface="+mj-lt"/>
              </a:rPr>
              <a:t>tồn</a:t>
            </a:r>
            <a:r>
              <a:rPr lang="en-US" altLang="ja-JP" sz="1500" b="0" dirty="0">
                <a:latin typeface="+mj-lt"/>
              </a:rPr>
              <a:t> </a:t>
            </a:r>
            <a:r>
              <a:rPr lang="en-US" altLang="ja-JP" sz="1500" b="0" dirty="0" err="1">
                <a:latin typeface="+mj-lt"/>
              </a:rPr>
              <a:t>tạo</a:t>
            </a:r>
            <a:r>
              <a:rPr lang="en-US" altLang="ja-JP" sz="1500" b="0" dirty="0">
                <a:latin typeface="+mj-lt"/>
              </a:rPr>
              <a:t> ở </a:t>
            </a:r>
            <a:r>
              <a:rPr lang="en-US" altLang="ja-JP" sz="1500" b="0" dirty="0" err="1">
                <a:latin typeface="+mj-lt"/>
              </a:rPr>
              <a:t>thao</a:t>
            </a:r>
            <a:r>
              <a:rPr lang="en-US" altLang="ja-JP" sz="1500" b="0" dirty="0">
                <a:latin typeface="+mj-lt"/>
              </a:rPr>
              <a:t> </a:t>
            </a:r>
            <a:r>
              <a:rPr lang="en-US" altLang="ja-JP" sz="1500" b="0" dirty="0" err="1">
                <a:latin typeface="+mj-lt"/>
              </a:rPr>
              <a:t>tác</a:t>
            </a:r>
            <a:r>
              <a:rPr lang="en-US" altLang="ja-JP" sz="1500" b="0" dirty="0">
                <a:latin typeface="+mj-lt"/>
              </a:rPr>
              <a:t> </a:t>
            </a:r>
            <a:r>
              <a:rPr lang="en-US" altLang="ja-JP" sz="1500" b="0" dirty="0" err="1">
                <a:latin typeface="+mj-lt"/>
              </a:rPr>
              <a:t>mảng</a:t>
            </a:r>
            <a:endParaRPr lang="en-US" altLang="ja-JP" sz="1500" b="0" dirty="0">
              <a:latin typeface="+mj-lt"/>
            </a:endParaRPr>
          </a:p>
        </p:txBody>
      </p:sp>
      <p:sp>
        <p:nvSpPr>
          <p:cNvPr id="550923" name="AutoShape 11">
            <a:extLst>
              <a:ext uri="{FF2B5EF4-FFF2-40B4-BE49-F238E27FC236}">
                <a16:creationId xmlns:a16="http://schemas.microsoft.com/office/drawing/2014/main" id="{CDBF5B0C-AF09-BF8E-707D-A9BE2D1503AF}"/>
              </a:ext>
            </a:extLst>
          </p:cNvPr>
          <p:cNvSpPr>
            <a:spLocks noChangeArrowheads="1"/>
          </p:cNvSpPr>
          <p:nvPr/>
        </p:nvSpPr>
        <p:spPr bwMode="auto">
          <a:xfrm>
            <a:off x="1887538" y="2114550"/>
            <a:ext cx="4305300" cy="719137"/>
          </a:xfrm>
          <a:prstGeom prst="wedgeRoundRectCallout">
            <a:avLst>
              <a:gd name="adj1" fmla="val -32042"/>
              <a:gd name="adj2" fmla="val -6677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600" b="0" dirty="0" err="1">
                <a:latin typeface="+mj-lt"/>
              </a:rPr>
              <a:t>Trường</a:t>
            </a:r>
            <a:r>
              <a:rPr lang="en-US" altLang="ja-JP" sz="1600" b="0" dirty="0">
                <a:latin typeface="+mj-lt"/>
              </a:rPr>
              <a:t> </a:t>
            </a:r>
            <a:r>
              <a:rPr lang="en-US" altLang="ja-JP" sz="1600" b="0" dirty="0" err="1">
                <a:latin typeface="+mj-lt"/>
              </a:rPr>
              <a:t>hợp</a:t>
            </a:r>
            <a:r>
              <a:rPr lang="en-US" altLang="ja-JP" sz="1600" b="0" dirty="0">
                <a:latin typeface="+mj-lt"/>
              </a:rPr>
              <a:t> </a:t>
            </a:r>
            <a:r>
              <a:rPr lang="en-US" altLang="ja-JP" sz="1600" b="0" dirty="0" err="1">
                <a:latin typeface="+mj-lt"/>
              </a:rPr>
              <a:t>đa</a:t>
            </a:r>
            <a:r>
              <a:rPr lang="en-US" altLang="ja-JP" sz="1600" b="0" dirty="0">
                <a:latin typeface="+mj-lt"/>
              </a:rPr>
              <a:t>̃ chỉ </a:t>
            </a:r>
            <a:r>
              <a:rPr lang="en-US" altLang="ja-JP" sz="1600" b="0" dirty="0" err="1">
                <a:latin typeface="+mj-lt"/>
              </a:rPr>
              <a:t>định</a:t>
            </a:r>
            <a:r>
              <a:rPr lang="en-US" altLang="ja-JP" sz="1600" b="0" dirty="0">
                <a:latin typeface="+mj-lt"/>
              </a:rPr>
              <a:t> 2 </a:t>
            </a:r>
            <a:r>
              <a:rPr lang="en-US" altLang="ja-JP" sz="1600" b="0" dirty="0" err="1">
                <a:latin typeface="+mj-lt"/>
              </a:rPr>
              <a:t>gia</a:t>
            </a:r>
            <a:r>
              <a:rPr lang="en-US" altLang="ja-JP" sz="1600" b="0" dirty="0">
                <a:latin typeface="+mj-lt"/>
              </a:rPr>
              <a:t>́ trị int có </a:t>
            </a:r>
            <a:r>
              <a:rPr lang="en-US" altLang="ja-JP" sz="1600" b="0" dirty="0" err="1">
                <a:latin typeface="+mj-lt"/>
              </a:rPr>
              <a:t>thê</a:t>
            </a:r>
            <a:r>
              <a:rPr lang="en-US" altLang="ja-JP" sz="1600" b="0" dirty="0">
                <a:latin typeface="+mj-lt"/>
              </a:rPr>
              <a:t>̉ </a:t>
            </a:r>
            <a:r>
              <a:rPr lang="en-US" altLang="ja-JP" sz="1600" b="0" dirty="0" err="1">
                <a:latin typeface="+mj-lt"/>
              </a:rPr>
              <a:t>tính</a:t>
            </a:r>
            <a:r>
              <a:rPr lang="en-US" altLang="ja-JP" sz="1600" b="0" dirty="0">
                <a:latin typeface="+mj-lt"/>
              </a:rPr>
              <a:t> </a:t>
            </a:r>
            <a:r>
              <a:rPr lang="en-US" altLang="ja-JP" sz="1600" b="0" dirty="0" err="1">
                <a:latin typeface="+mj-lt"/>
              </a:rPr>
              <a:t>toán</a:t>
            </a:r>
            <a:r>
              <a:rPr lang="en-US" altLang="ja-JP" sz="1600" b="0" dirty="0">
                <a:latin typeface="+mj-lt"/>
              </a:rPr>
              <a:t>, </a:t>
            </a:r>
            <a:r>
              <a:rPr lang="en-US" altLang="ja-JP" sz="1600" b="0" dirty="0" err="1">
                <a:latin typeface="+mj-lt"/>
              </a:rPr>
              <a:t>thi</a:t>
            </a:r>
            <a:r>
              <a:rPr lang="en-US" altLang="ja-JP" sz="1600" b="0" dirty="0">
                <a:latin typeface="+mj-lt"/>
              </a:rPr>
              <a:t>̀ </a:t>
            </a:r>
            <a:r>
              <a:rPr lang="en-US" altLang="ja-JP" sz="1600" b="0" dirty="0" err="1">
                <a:latin typeface="+mj-lt"/>
              </a:rPr>
              <a:t>hiển</a:t>
            </a:r>
            <a:r>
              <a:rPr lang="en-US" altLang="ja-JP" sz="1600" b="0" dirty="0">
                <a:latin typeface="+mj-lt"/>
              </a:rPr>
              <a:t> </a:t>
            </a:r>
            <a:r>
              <a:rPr lang="en-US" altLang="ja-JP" sz="1600" b="0" dirty="0" err="1">
                <a:latin typeface="+mj-lt"/>
              </a:rPr>
              <a:t>thi</a:t>
            </a:r>
            <a:r>
              <a:rPr lang="en-US" altLang="ja-JP" sz="1600" b="0" dirty="0">
                <a:latin typeface="+mj-lt"/>
              </a:rPr>
              <a:t>̣ </a:t>
            </a:r>
            <a:r>
              <a:rPr lang="en-US" altLang="ja-JP" sz="1600" b="0" dirty="0" err="1">
                <a:latin typeface="+mj-lt"/>
              </a:rPr>
              <a:t>kết</a:t>
            </a:r>
            <a:r>
              <a:rPr lang="en-US" altLang="ja-JP" sz="1600" b="0" dirty="0">
                <a:latin typeface="+mj-lt"/>
              </a:rPr>
              <a:t> quả </a:t>
            </a:r>
            <a:r>
              <a:rPr lang="en-US" altLang="ja-JP" sz="1600" b="0" dirty="0" err="1">
                <a:latin typeface="+mj-lt"/>
              </a:rPr>
              <a:t>tính</a:t>
            </a:r>
            <a:r>
              <a:rPr lang="en-US" altLang="ja-JP" sz="1600" b="0" dirty="0">
                <a:latin typeface="+mj-lt"/>
              </a:rPr>
              <a:t> </a:t>
            </a:r>
            <a:r>
              <a:rPr lang="en-US" altLang="ja-JP" sz="1600" b="0" dirty="0" err="1">
                <a:latin typeface="+mj-lt"/>
              </a:rPr>
              <a:t>toán</a:t>
            </a:r>
            <a:r>
              <a:rPr lang="en-US" altLang="ja-JP" sz="1600" b="0" dirty="0">
                <a:latin typeface="+mj-lt"/>
              </a:rPr>
              <a:t> </a:t>
            </a:r>
            <a:r>
              <a:rPr lang="en-US" altLang="ja-JP" sz="1600" b="0" dirty="0" err="1">
                <a:latin typeface="+mj-lt"/>
              </a:rPr>
              <a:t>đúng</a:t>
            </a:r>
            <a:endParaRPr lang="en-US" altLang="ja-JP" sz="1600" b="0" dirty="0">
              <a:latin typeface="+mj-lt"/>
            </a:endParaRPr>
          </a:p>
        </p:txBody>
      </p:sp>
      <p:sp>
        <p:nvSpPr>
          <p:cNvPr id="550924" name="Rectangle 12">
            <a:extLst>
              <a:ext uri="{FF2B5EF4-FFF2-40B4-BE49-F238E27FC236}">
                <a16:creationId xmlns:a16="http://schemas.microsoft.com/office/drawing/2014/main" id="{E1DFDC3B-480D-E7CC-35D7-AB9E5B1EDEDD}"/>
              </a:ext>
            </a:extLst>
          </p:cNvPr>
          <p:cNvSpPr>
            <a:spLocks noChangeArrowheads="1"/>
          </p:cNvSpPr>
          <p:nvPr/>
        </p:nvSpPr>
        <p:spPr bwMode="auto">
          <a:xfrm>
            <a:off x="2806700" y="3581400"/>
            <a:ext cx="4406900" cy="323850"/>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0927" name="Rectangle 15">
            <a:extLst>
              <a:ext uri="{FF2B5EF4-FFF2-40B4-BE49-F238E27FC236}">
                <a16:creationId xmlns:a16="http://schemas.microsoft.com/office/drawing/2014/main" id="{B1AEE53A-923D-1D69-D69B-AAB3E257EF56}"/>
              </a:ext>
            </a:extLst>
          </p:cNvPr>
          <p:cNvSpPr>
            <a:spLocks noChangeArrowheads="1"/>
          </p:cNvSpPr>
          <p:nvPr/>
        </p:nvSpPr>
        <p:spPr bwMode="auto">
          <a:xfrm>
            <a:off x="2840038" y="4660900"/>
            <a:ext cx="3189287" cy="323850"/>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ED6D902-154B-265B-8DD1-D6CA78FCB688}"/>
              </a:ext>
            </a:extLst>
          </p:cNvPr>
          <p:cNvSpPr>
            <a:spLocks noGrp="1"/>
          </p:cNvSpPr>
          <p:nvPr>
            <p:ph type="sldNum" sz="quarter" idx="10"/>
          </p:nvPr>
        </p:nvSpPr>
        <p:spPr/>
        <p:txBody>
          <a:bodyPr/>
          <a:lstStyle/>
          <a:p>
            <a:fld id="{B8F36FD8-0439-4E26-BFF2-3F7612105EA8}" type="slidenum">
              <a:rPr lang="en-US" altLang="ja-JP"/>
              <a:pPr/>
              <a:t>15</a:t>
            </a:fld>
            <a:endParaRPr lang="en-US" altLang="ja-JP"/>
          </a:p>
        </p:txBody>
      </p:sp>
      <p:sp>
        <p:nvSpPr>
          <p:cNvPr id="552962" name="Rectangle 2">
            <a:extLst>
              <a:ext uri="{FF2B5EF4-FFF2-40B4-BE49-F238E27FC236}">
                <a16:creationId xmlns:a16="http://schemas.microsoft.com/office/drawing/2014/main" id="{AB2216D3-F2CE-11B6-2B14-7AC75953EE78}"/>
              </a:ext>
            </a:extLst>
          </p:cNvPr>
          <p:cNvSpPr>
            <a:spLocks noGrp="1" noChangeArrowheads="1"/>
          </p:cNvSpPr>
          <p:nvPr>
            <p:ph type="title"/>
          </p:nvPr>
        </p:nvSpPr>
        <p:spPr>
          <a:xfrm>
            <a:off x="344488" y="35401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 (4)</a:t>
            </a:r>
          </a:p>
        </p:txBody>
      </p:sp>
      <p:sp>
        <p:nvSpPr>
          <p:cNvPr id="552963" name="Rectangle 3">
            <a:extLst>
              <a:ext uri="{FF2B5EF4-FFF2-40B4-BE49-F238E27FC236}">
                <a16:creationId xmlns:a16="http://schemas.microsoft.com/office/drawing/2014/main" id="{E71716EC-6453-2672-AB73-564CC166036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52964" name="Rectangle 4">
            <a:extLst>
              <a:ext uri="{FF2B5EF4-FFF2-40B4-BE49-F238E27FC236}">
                <a16:creationId xmlns:a16="http://schemas.microsoft.com/office/drawing/2014/main" id="{AB1AA5F8-1AA5-01F2-D21D-A6AD3DAF1743}"/>
              </a:ext>
            </a:extLst>
          </p:cNvPr>
          <p:cNvSpPr>
            <a:spLocks noChangeArrowheads="1"/>
          </p:cNvSpPr>
          <p:nvPr/>
        </p:nvSpPr>
        <p:spPr bwMode="auto">
          <a:xfrm>
            <a:off x="344488" y="9477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Ví dụ </a:t>
            </a:r>
            <a:r>
              <a:rPr lang="en-US" altLang="ja-JP" sz="2400" b="0" dirty="0" err="1">
                <a:latin typeface="Arial" panose="020B0604020202020204" pitchFamily="34" charset="0"/>
              </a:rPr>
              <a:t>vê</a:t>
            </a:r>
            <a:r>
              <a:rPr lang="en-US" altLang="ja-JP" sz="2400" b="0" dirty="0">
                <a:latin typeface="Arial" panose="020B0604020202020204" pitchFamily="34" charset="0"/>
              </a:rPr>
              <a:t>̀ program</a:t>
            </a:r>
          </a:p>
          <a:p>
            <a:pPr lvl="1"/>
            <a:endParaRPr lang="en-US" altLang="ja-JP" sz="2400" b="0" dirty="0">
              <a:latin typeface="Arial" panose="020B0604020202020204" pitchFamily="34" charset="0"/>
            </a:endParaRPr>
          </a:p>
        </p:txBody>
      </p:sp>
      <p:sp>
        <p:nvSpPr>
          <p:cNvPr id="552965" name="Rectangle 5">
            <a:extLst>
              <a:ext uri="{FF2B5EF4-FFF2-40B4-BE49-F238E27FC236}">
                <a16:creationId xmlns:a16="http://schemas.microsoft.com/office/drawing/2014/main" id="{0ECA9DF0-E908-F98E-646A-292E6A231574}"/>
              </a:ext>
            </a:extLst>
          </p:cNvPr>
          <p:cNvSpPr>
            <a:spLocks noChangeArrowheads="1"/>
          </p:cNvSpPr>
          <p:nvPr/>
        </p:nvSpPr>
        <p:spPr bwMode="auto">
          <a:xfrm>
            <a:off x="344488" y="1158875"/>
            <a:ext cx="9120187" cy="49466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9750">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9750">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9750">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endParaRPr lang="en-US" altLang="ja-JP" b="0" dirty="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try {</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int val1 = </a:t>
            </a:r>
            <a:r>
              <a:rPr lang="en-US" altLang="ja-JP" b="0" dirty="0" err="1">
                <a:latin typeface="Arial" panose="020B0604020202020204" pitchFamily="34" charset="0"/>
                <a:ea typeface="ＭＳ ゴシック" panose="020B0609070205080204" pitchFamily="49" charset="-128"/>
              </a:rPr>
              <a:t>Integer.parseInt</a:t>
            </a:r>
            <a:r>
              <a:rPr lang="en-US" altLang="ja-JP" b="0" dirty="0">
                <a:latin typeface="Arial" panose="020B0604020202020204" pitchFamily="34" charset="0"/>
                <a:ea typeface="ＭＳ ゴシック" panose="020B0609070205080204" pitchFamily="49" charset="-128"/>
              </a:rPr>
              <a:t>(</a:t>
            </a:r>
            <a:r>
              <a:rPr lang="en-US" altLang="ja-JP" b="0" dirty="0" err="1">
                <a:latin typeface="Arial" panose="020B0604020202020204" pitchFamily="34" charset="0"/>
                <a:ea typeface="ＭＳ ゴシック" panose="020B0609070205080204" pitchFamily="49" charset="-128"/>
              </a:rPr>
              <a:t>args</a:t>
            </a:r>
            <a:r>
              <a:rPr lang="en-US" altLang="ja-JP" b="0" dirty="0">
                <a:latin typeface="Arial" panose="020B0604020202020204" pitchFamily="34" charset="0"/>
                <a:ea typeface="ＭＳ ゴシック" panose="020B0609070205080204" pitchFamily="49" charset="-128"/>
              </a:rPr>
              <a:t>[0]);</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int val2 = </a:t>
            </a:r>
            <a:r>
              <a:rPr lang="en-US" altLang="ja-JP" b="0" dirty="0" err="1">
                <a:latin typeface="Arial" panose="020B0604020202020204" pitchFamily="34" charset="0"/>
                <a:ea typeface="ＭＳ ゴシック" panose="020B0609070205080204" pitchFamily="49" charset="-128"/>
              </a:rPr>
              <a:t>Integer.parseInt</a:t>
            </a:r>
            <a:r>
              <a:rPr lang="en-US" altLang="ja-JP" b="0" dirty="0">
                <a:latin typeface="Arial" panose="020B0604020202020204" pitchFamily="34" charset="0"/>
                <a:ea typeface="ＭＳ ゴシック" panose="020B0609070205080204" pitchFamily="49" charset="-128"/>
              </a:rPr>
              <a:t>(</a:t>
            </a:r>
            <a:r>
              <a:rPr lang="en-US" altLang="ja-JP" b="0" dirty="0" err="1">
                <a:latin typeface="Arial" panose="020B0604020202020204" pitchFamily="34" charset="0"/>
                <a:ea typeface="ＭＳ ゴシック" panose="020B0609070205080204" pitchFamily="49" charset="-128"/>
              </a:rPr>
              <a:t>args</a:t>
            </a:r>
            <a:r>
              <a:rPr lang="en-US" altLang="ja-JP" b="0" dirty="0">
                <a:latin typeface="Arial" panose="020B0604020202020204" pitchFamily="34" charset="0"/>
                <a:ea typeface="ＭＳ ゴシック" panose="020B0609070205080204" pitchFamily="49" charset="-128"/>
              </a:rPr>
              <a:t>[1]);</a:t>
            </a:r>
          </a:p>
          <a:p>
            <a:pPr>
              <a:buFont typeface="Wingdings" panose="05000000000000000000" pitchFamily="2" charset="2"/>
              <a:buNone/>
            </a:pPr>
            <a:endParaRPr lang="en-US" altLang="ja-JP" b="0" dirty="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 + (val1 + val2));</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 + (val1 - val2));</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 + (val1 * val2));</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 + (val1 / val2));</a:t>
            </a:r>
          </a:p>
          <a:p>
            <a:pPr>
              <a:buFont typeface="Wingdings" panose="05000000000000000000" pitchFamily="2" charset="2"/>
              <a:buNone/>
            </a:pPr>
            <a:endParaRPr lang="en-US" altLang="ja-JP" b="0" dirty="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catch (</a:t>
            </a:r>
            <a:r>
              <a:rPr lang="en-US" altLang="ja-JP" b="0" dirty="0" err="1">
                <a:latin typeface="Arial" panose="020B0604020202020204" pitchFamily="34" charset="0"/>
                <a:ea typeface="ＭＳ ゴシック" panose="020B0609070205080204" pitchFamily="49" charset="-128"/>
              </a:rPr>
              <a:t>ArrayIndexOutOfBoundsException</a:t>
            </a:r>
            <a:r>
              <a:rPr lang="en-US" altLang="ja-JP" b="0" dirty="0">
                <a:latin typeface="Arial" panose="020B0604020202020204" pitchFamily="34" charset="0"/>
                <a:ea typeface="ＭＳ ゴシック" panose="020B0609070205080204" pitchFamily="49" charset="-128"/>
              </a:rPr>
              <a:t> ex) {</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a:t>
            </a:r>
            <a:r>
              <a:rPr lang="en-US" altLang="ja-JP" b="0" dirty="0" err="1">
                <a:latin typeface="Arial" panose="020B0604020202020204" pitchFamily="34" charset="0"/>
                <a:ea typeface="ＭＳ ゴシック" panose="020B0609070205080204" pitchFamily="49" charset="-128"/>
              </a:rPr>
              <a:t>cách</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sư</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dụng</a:t>
            </a:r>
            <a:r>
              <a:rPr lang="ja-JP" altLang="en-US" b="0" dirty="0">
                <a:latin typeface="Arial" panose="020B0604020202020204" pitchFamily="34" charset="0"/>
                <a:ea typeface="ＭＳ ゴシック" panose="020B0609070205080204" pitchFamily="49" charset="-128"/>
              </a:rPr>
              <a:t>：</a:t>
            </a:r>
            <a:r>
              <a:rPr lang="en-US" altLang="ja-JP" b="0" dirty="0">
                <a:latin typeface="Arial" panose="020B0604020202020204" pitchFamily="34" charset="0"/>
                <a:ea typeface="ＭＳ ゴシック" panose="020B0609070205080204" pitchFamily="49" charset="-128"/>
              </a:rPr>
              <a:t>java Exception02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nguyên</a:t>
            </a:r>
            <a:r>
              <a:rPr lang="en-US" altLang="ja-JP" b="0" dirty="0">
                <a:latin typeface="Arial" panose="020B0604020202020204" pitchFamily="34" charset="0"/>
                <a:ea typeface="ＭＳ ゴシック" panose="020B0609070205080204" pitchFamily="49" charset="-128"/>
              </a:rPr>
              <a:t> </a:t>
            </a:r>
            <a:r>
              <a:rPr lang="ja-JP" altLang="en-US" b="0" dirty="0">
                <a:latin typeface="Arial" panose="020B0604020202020204" pitchFamily="34" charset="0"/>
                <a:ea typeface="ＭＳ ゴシック" panose="020B0609070205080204" pitchFamily="49" charset="-128"/>
              </a:rPr>
              <a:t>１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nguyên</a:t>
            </a:r>
            <a:r>
              <a:rPr lang="en-US" altLang="ja-JP" b="0" dirty="0">
                <a:latin typeface="Arial" panose="020B0604020202020204" pitchFamily="34" charset="0"/>
                <a:ea typeface="ＭＳ ゴシック" panose="020B0609070205080204" pitchFamily="49" charset="-128"/>
              </a:rPr>
              <a:t> </a:t>
            </a:r>
            <a:r>
              <a:rPr lang="ja-JP" altLang="en-US" b="0" dirty="0">
                <a:latin typeface="Arial" panose="020B0604020202020204" pitchFamily="34" charset="0"/>
                <a:ea typeface="ＭＳ ゴシック" panose="020B0609070205080204" pitchFamily="49" charset="-128"/>
              </a:rPr>
              <a:t>２</a:t>
            </a:r>
            <a:r>
              <a:rPr lang="en-US" altLang="ja-JP" b="0" dirty="0">
                <a:latin typeface="Arial" panose="020B0604020202020204" pitchFamily="34" charset="0"/>
                <a:ea typeface="ＭＳ ゴシック" panose="020B0609070205080204" pitchFamily="49" charset="-128"/>
              </a:rPr>
              <a:t>");</a:t>
            </a:r>
          </a:p>
          <a:p>
            <a:pPr>
              <a:buFont typeface="Wingdings" panose="05000000000000000000" pitchFamily="2" charset="2"/>
              <a:buNone/>
            </a:pPr>
            <a:endParaRPr lang="en-US" altLang="ja-JP" b="0" dirty="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catch (</a:t>
            </a:r>
            <a:r>
              <a:rPr lang="en-US" altLang="ja-JP" b="0" dirty="0" err="1">
                <a:latin typeface="Arial" panose="020B0604020202020204" pitchFamily="34" charset="0"/>
                <a:ea typeface="ＭＳ ゴシック" panose="020B0609070205080204" pitchFamily="49" charset="-128"/>
              </a:rPr>
              <a:t>NumberFormatException</a:t>
            </a:r>
            <a:r>
              <a:rPr lang="en-US" altLang="ja-JP" b="0" dirty="0">
                <a:latin typeface="Arial" panose="020B0604020202020204" pitchFamily="34" charset="0"/>
                <a:ea typeface="ＭＳ ゴシック" panose="020B0609070205080204" pitchFamily="49" charset="-128"/>
              </a:rPr>
              <a:t> ex) {</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(“Ở </a:t>
            </a:r>
            <a:r>
              <a:rPr lang="en-US" altLang="ja-JP" b="0" dirty="0" err="1">
                <a:latin typeface="Arial" panose="020B0604020202020204" pitchFamily="34" charset="0"/>
                <a:ea typeface="ＭＳ ゴシック" panose="020B0609070205080204" pitchFamily="49" charset="-128"/>
              </a:rPr>
              <a:t>đối</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hãy</a:t>
            </a:r>
            <a:r>
              <a:rPr lang="en-US" altLang="ja-JP" b="0" dirty="0">
                <a:latin typeface="Arial" panose="020B0604020202020204" pitchFamily="34" charset="0"/>
                <a:ea typeface="ＭＳ ゴシック" panose="020B0609070205080204" pitchFamily="49" charset="-128"/>
              </a:rPr>
              <a:t> chỉ </a:t>
            </a:r>
            <a:r>
              <a:rPr lang="en-US" altLang="ja-JP" b="0" dirty="0" err="1">
                <a:latin typeface="Arial" panose="020B0604020202020204" pitchFamily="34" charset="0"/>
                <a:ea typeface="ＭＳ ゴシック" panose="020B0609070205080204" pitchFamily="49" charset="-128"/>
              </a:rPr>
              <a:t>định</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gia</a:t>
            </a:r>
            <a:r>
              <a:rPr lang="en-US" altLang="ja-JP" b="0" dirty="0">
                <a:latin typeface="Arial" panose="020B0604020202020204" pitchFamily="34" charset="0"/>
                <a:ea typeface="ＭＳ ゴシック" panose="020B0609070205080204" pitchFamily="49" charset="-128"/>
              </a:rPr>
              <a:t>́ trị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nguyên</a:t>
            </a:r>
            <a:r>
              <a:rPr lang="en-US" altLang="ja-JP" b="0" dirty="0">
                <a:latin typeface="Arial" panose="020B0604020202020204" pitchFamily="34" charset="0"/>
                <a:ea typeface="ＭＳ ゴシック" panose="020B0609070205080204" pitchFamily="49" charset="-128"/>
              </a:rPr>
              <a:t>");</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System.out.println</a:t>
            </a:r>
            <a:r>
              <a:rPr lang="en-US" altLang="ja-JP" b="0" dirty="0">
                <a:latin typeface="Arial" panose="020B0604020202020204" pitchFamily="34" charset="0"/>
                <a:ea typeface="ＭＳ ゴシック" panose="020B0609070205080204" pitchFamily="49" charset="-128"/>
              </a:rPr>
              <a:t>(“</a:t>
            </a:r>
            <a:r>
              <a:rPr lang="en-US" altLang="ja-JP" b="0" dirty="0" err="1">
                <a:latin typeface="Arial" panose="020B0604020202020204" pitchFamily="34" charset="0"/>
                <a:ea typeface="ＭＳ ゴシック" panose="020B0609070205080204" pitchFamily="49" charset="-128"/>
              </a:rPr>
              <a:t>Cách</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sư</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dụng</a:t>
            </a:r>
            <a:r>
              <a:rPr lang="ja-JP" altLang="en-US" b="0" dirty="0">
                <a:latin typeface="Arial" panose="020B0604020202020204" pitchFamily="34" charset="0"/>
                <a:ea typeface="ＭＳ ゴシック" panose="020B0609070205080204" pitchFamily="49" charset="-128"/>
              </a:rPr>
              <a:t>：</a:t>
            </a:r>
            <a:r>
              <a:rPr lang="en-US" altLang="ja-JP" b="0" dirty="0">
                <a:latin typeface="Arial" panose="020B0604020202020204" pitchFamily="34" charset="0"/>
                <a:ea typeface="ＭＳ ゴシック" panose="020B0609070205080204" pitchFamily="49" charset="-128"/>
              </a:rPr>
              <a:t>java Exception02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nguyên</a:t>
            </a:r>
            <a:r>
              <a:rPr lang="ja-JP" altLang="en-US" b="0" dirty="0">
                <a:latin typeface="Arial" panose="020B0604020202020204" pitchFamily="34" charset="0"/>
                <a:ea typeface="ＭＳ ゴシック" panose="020B0609070205080204" pitchFamily="49" charset="-128"/>
              </a:rPr>
              <a:t>１ </a:t>
            </a:r>
            <a:r>
              <a:rPr lang="en-US" altLang="ja-JP" b="0" dirty="0" err="1">
                <a:latin typeface="Arial" panose="020B0604020202020204" pitchFamily="34" charset="0"/>
                <a:ea typeface="ＭＳ ゴシック" panose="020B0609070205080204" pitchFamily="49" charset="-128"/>
              </a:rPr>
              <a:t>sô</a:t>
            </a:r>
            <a:r>
              <a:rPr lang="en-US" altLang="ja-JP" b="0" dirty="0">
                <a:latin typeface="Arial" panose="020B0604020202020204" pitchFamily="34" charset="0"/>
                <a:ea typeface="ＭＳ ゴシック" panose="020B0609070205080204" pitchFamily="49" charset="-128"/>
              </a:rPr>
              <a:t>́ </a:t>
            </a:r>
            <a:r>
              <a:rPr lang="en-US" altLang="ja-JP" b="0" dirty="0" err="1">
                <a:latin typeface="Arial" panose="020B0604020202020204" pitchFamily="34" charset="0"/>
                <a:ea typeface="ＭＳ ゴシック" panose="020B0609070205080204" pitchFamily="49" charset="-128"/>
              </a:rPr>
              <a:t>nguyên</a:t>
            </a:r>
            <a:r>
              <a:rPr lang="en-US" altLang="ja-JP" b="0" dirty="0">
                <a:latin typeface="Arial" panose="020B0604020202020204" pitchFamily="34" charset="0"/>
                <a:ea typeface="ＭＳ ゴシック" panose="020B0609070205080204" pitchFamily="49" charset="-128"/>
              </a:rPr>
              <a:t> </a:t>
            </a:r>
            <a:r>
              <a:rPr lang="ja-JP" altLang="en-US" b="0" dirty="0">
                <a:latin typeface="Arial" panose="020B0604020202020204" pitchFamily="34" charset="0"/>
                <a:ea typeface="ＭＳ ゴシック" panose="020B0609070205080204" pitchFamily="49" charset="-128"/>
              </a:rPr>
              <a:t>２</a:t>
            </a:r>
            <a:r>
              <a:rPr lang="en-US" altLang="ja-JP" b="0" dirty="0">
                <a:latin typeface="Arial" panose="020B0604020202020204" pitchFamily="34" charset="0"/>
                <a:ea typeface="ＭＳ ゴシック" panose="020B0609070205080204" pitchFamily="49" charset="-128"/>
              </a:rPr>
              <a:t>");</a:t>
            </a:r>
          </a:p>
          <a:p>
            <a:pPr>
              <a:buFont typeface="Wingdings" panose="05000000000000000000" pitchFamily="2" charset="2"/>
              <a:buNone/>
            </a:pPr>
            <a:r>
              <a:rPr lang="en-US" altLang="ja-JP" b="0" dirty="0">
                <a:latin typeface="Arial" panose="020B0604020202020204" pitchFamily="34" charset="0"/>
                <a:ea typeface="ＭＳ ゴシック" panose="020B0609070205080204" pitchFamily="49" charset="-128"/>
              </a:rPr>
              <a:t>}</a:t>
            </a:r>
          </a:p>
        </p:txBody>
      </p:sp>
      <p:sp>
        <p:nvSpPr>
          <p:cNvPr id="552971" name="Rectangle 11">
            <a:extLst>
              <a:ext uri="{FF2B5EF4-FFF2-40B4-BE49-F238E27FC236}">
                <a16:creationId xmlns:a16="http://schemas.microsoft.com/office/drawing/2014/main" id="{167AB6CA-5B1D-BC42-0F09-36C5B050FE9A}"/>
              </a:ext>
            </a:extLst>
          </p:cNvPr>
          <p:cNvSpPr>
            <a:spLocks noChangeArrowheads="1"/>
          </p:cNvSpPr>
          <p:nvPr/>
        </p:nvSpPr>
        <p:spPr bwMode="auto">
          <a:xfrm>
            <a:off x="344488" y="1447800"/>
            <a:ext cx="7583487" cy="2297113"/>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ja-JP"/>
          </a:p>
        </p:txBody>
      </p:sp>
      <p:sp>
        <p:nvSpPr>
          <p:cNvPr id="552991" name="Rectangle 31">
            <a:extLst>
              <a:ext uri="{FF2B5EF4-FFF2-40B4-BE49-F238E27FC236}">
                <a16:creationId xmlns:a16="http://schemas.microsoft.com/office/drawing/2014/main" id="{396C5E4E-4447-BA59-9B1E-A393D88AF0D1}"/>
              </a:ext>
            </a:extLst>
          </p:cNvPr>
          <p:cNvSpPr>
            <a:spLocks noChangeArrowheads="1"/>
          </p:cNvSpPr>
          <p:nvPr/>
        </p:nvSpPr>
        <p:spPr bwMode="auto">
          <a:xfrm>
            <a:off x="344488" y="3843338"/>
            <a:ext cx="7615237" cy="1131886"/>
          </a:xfrm>
          <a:prstGeom prst="rect">
            <a:avLst/>
          </a:prstGeom>
          <a:noFill/>
          <a:ln w="38100">
            <a:solidFill>
              <a:srgbClr val="FF9933"/>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2" name="Rectangle 32">
            <a:extLst>
              <a:ext uri="{FF2B5EF4-FFF2-40B4-BE49-F238E27FC236}">
                <a16:creationId xmlns:a16="http://schemas.microsoft.com/office/drawing/2014/main" id="{E34D52EF-88FD-0399-8229-0C16951D19E1}"/>
              </a:ext>
            </a:extLst>
          </p:cNvPr>
          <p:cNvSpPr>
            <a:spLocks noChangeArrowheads="1"/>
          </p:cNvSpPr>
          <p:nvPr/>
        </p:nvSpPr>
        <p:spPr bwMode="auto">
          <a:xfrm>
            <a:off x="344488" y="4975224"/>
            <a:ext cx="7600950" cy="1130301"/>
          </a:xfrm>
          <a:prstGeom prst="rect">
            <a:avLst/>
          </a:prstGeom>
          <a:noFill/>
          <a:ln w="38100">
            <a:solidFill>
              <a:srgbClr val="FF9933"/>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4" name="Line 34">
            <a:extLst>
              <a:ext uri="{FF2B5EF4-FFF2-40B4-BE49-F238E27FC236}">
                <a16:creationId xmlns:a16="http://schemas.microsoft.com/office/drawing/2014/main" id="{CB1C42BF-ACCC-E0A0-E7E1-BEE6D1806CB2}"/>
              </a:ext>
            </a:extLst>
          </p:cNvPr>
          <p:cNvSpPr>
            <a:spLocks noChangeShapeType="1"/>
          </p:cNvSpPr>
          <p:nvPr/>
        </p:nvSpPr>
        <p:spPr bwMode="auto">
          <a:xfrm flipH="1">
            <a:off x="8158163" y="1287463"/>
            <a:ext cx="12700" cy="2457450"/>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5" name="AutoShape 35">
            <a:extLst>
              <a:ext uri="{FF2B5EF4-FFF2-40B4-BE49-F238E27FC236}">
                <a16:creationId xmlns:a16="http://schemas.microsoft.com/office/drawing/2014/main" id="{4E48360E-CB45-F00F-0CF3-90AF93AAA0C9}"/>
              </a:ext>
            </a:extLst>
          </p:cNvPr>
          <p:cNvSpPr>
            <a:spLocks noChangeArrowheads="1"/>
          </p:cNvSpPr>
          <p:nvPr/>
        </p:nvSpPr>
        <p:spPr bwMode="auto">
          <a:xfrm>
            <a:off x="5303838" y="1674813"/>
            <a:ext cx="2659062" cy="949325"/>
          </a:xfrm>
          <a:prstGeom prst="wedgeRoundRectCallout">
            <a:avLst>
              <a:gd name="adj1" fmla="val 54417"/>
              <a:gd name="adj2" fmla="val 936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err="1">
                <a:latin typeface="+mj-lt"/>
              </a:rPr>
              <a:t>Trường</a:t>
            </a:r>
            <a:r>
              <a:rPr lang="en-US" altLang="ja-JP" sz="1400" dirty="0">
                <a:latin typeface="+mj-lt"/>
              </a:rPr>
              <a:t> </a:t>
            </a:r>
            <a:r>
              <a:rPr lang="en-US" altLang="ja-JP" sz="1400" dirty="0" err="1">
                <a:latin typeface="+mj-lt"/>
              </a:rPr>
              <a:t>hợp</a:t>
            </a:r>
            <a:r>
              <a:rPr lang="en-US" altLang="ja-JP" sz="1400" dirty="0">
                <a:latin typeface="+mj-lt"/>
              </a:rPr>
              <a:t> </a:t>
            </a:r>
            <a:r>
              <a:rPr lang="en-US" altLang="ja-JP" sz="1400" dirty="0" err="1">
                <a:latin typeface="+mj-lt"/>
              </a:rPr>
              <a:t>không</a:t>
            </a:r>
            <a:r>
              <a:rPr lang="en-US" altLang="ja-JP" sz="1400" dirty="0">
                <a:latin typeface="+mj-lt"/>
              </a:rPr>
              <a:t> </a:t>
            </a:r>
            <a:r>
              <a:rPr lang="en-US" altLang="ja-JP" sz="1400" dirty="0" err="1">
                <a:latin typeface="+mj-lt"/>
              </a:rPr>
              <a:t>phát</a:t>
            </a:r>
            <a:r>
              <a:rPr lang="en-US" altLang="ja-JP" sz="1400" dirty="0">
                <a:latin typeface="+mj-lt"/>
              </a:rPr>
              <a:t> </a:t>
            </a:r>
            <a:r>
              <a:rPr lang="en-US" altLang="ja-JP" sz="1400" dirty="0" err="1">
                <a:latin typeface="+mj-lt"/>
              </a:rPr>
              <a:t>sinh</a:t>
            </a:r>
            <a:r>
              <a:rPr lang="en-US" altLang="ja-JP" sz="1400" dirty="0">
                <a:latin typeface="+mj-lt"/>
              </a:rPr>
              <a:t> exception </a:t>
            </a:r>
            <a:r>
              <a:rPr lang="en-US" altLang="ja-JP" sz="1400" dirty="0" err="1">
                <a:latin typeface="+mj-lt"/>
              </a:rPr>
              <a:t>thi</a:t>
            </a:r>
            <a:r>
              <a:rPr lang="en-US" altLang="ja-JP" sz="1400" dirty="0">
                <a:latin typeface="+mj-lt"/>
              </a:rPr>
              <a:t>̀ chỉ </a:t>
            </a:r>
            <a:r>
              <a:rPr lang="en-US" altLang="ja-JP" sz="1400" dirty="0" err="1">
                <a:latin typeface="+mj-lt"/>
              </a:rPr>
              <a:t>thực</a:t>
            </a:r>
            <a:r>
              <a:rPr lang="en-US" altLang="ja-JP" sz="1400" dirty="0">
                <a:latin typeface="+mj-lt"/>
              </a:rPr>
              <a:t> </a:t>
            </a:r>
            <a:r>
              <a:rPr lang="en-US" altLang="ja-JP" sz="1400" dirty="0" err="1">
                <a:latin typeface="+mj-lt"/>
              </a:rPr>
              <a:t>hiện</a:t>
            </a:r>
            <a:r>
              <a:rPr lang="en-US" altLang="ja-JP" sz="1400" dirty="0">
                <a:latin typeface="+mj-lt"/>
              </a:rPr>
              <a:t> </a:t>
            </a:r>
            <a:r>
              <a:rPr lang="en-US" altLang="ja-JP" sz="1400" dirty="0" err="1">
                <a:latin typeface="+mj-lt"/>
              </a:rPr>
              <a:t>xư</a:t>
            </a:r>
            <a:r>
              <a:rPr lang="en-US" altLang="ja-JP" sz="1400" dirty="0">
                <a:latin typeface="+mj-lt"/>
              </a:rPr>
              <a:t>̉ </a:t>
            </a:r>
            <a:r>
              <a:rPr lang="en-US" altLang="ja-JP" sz="1400" dirty="0" err="1">
                <a:latin typeface="+mj-lt"/>
              </a:rPr>
              <a:t>ly</a:t>
            </a:r>
            <a:r>
              <a:rPr lang="en-US" altLang="ja-JP" sz="1400" dirty="0">
                <a:latin typeface="+mj-lt"/>
              </a:rPr>
              <a:t>́ try { }</a:t>
            </a:r>
          </a:p>
        </p:txBody>
      </p:sp>
      <p:sp>
        <p:nvSpPr>
          <p:cNvPr id="552996" name="Line 36">
            <a:extLst>
              <a:ext uri="{FF2B5EF4-FFF2-40B4-BE49-F238E27FC236}">
                <a16:creationId xmlns:a16="http://schemas.microsoft.com/office/drawing/2014/main" id="{CA537A2F-0751-4BB7-C066-F8C33A56CF2B}"/>
              </a:ext>
            </a:extLst>
          </p:cNvPr>
          <p:cNvSpPr>
            <a:spLocks noChangeShapeType="1"/>
          </p:cNvSpPr>
          <p:nvPr/>
        </p:nvSpPr>
        <p:spPr bwMode="auto">
          <a:xfrm flipH="1">
            <a:off x="8743950" y="1285875"/>
            <a:ext cx="3175" cy="474663"/>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7" name="Line 37">
            <a:extLst>
              <a:ext uri="{FF2B5EF4-FFF2-40B4-BE49-F238E27FC236}">
                <a16:creationId xmlns:a16="http://schemas.microsoft.com/office/drawing/2014/main" id="{C7EA101B-EF06-2AD2-33EB-1945BC973F69}"/>
              </a:ext>
            </a:extLst>
          </p:cNvPr>
          <p:cNvSpPr>
            <a:spLocks noChangeShapeType="1"/>
          </p:cNvSpPr>
          <p:nvPr/>
        </p:nvSpPr>
        <p:spPr bwMode="auto">
          <a:xfrm flipH="1">
            <a:off x="8743950" y="1952625"/>
            <a:ext cx="6350" cy="1800225"/>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8" name="Line 38">
            <a:extLst>
              <a:ext uri="{FF2B5EF4-FFF2-40B4-BE49-F238E27FC236}">
                <a16:creationId xmlns:a16="http://schemas.microsoft.com/office/drawing/2014/main" id="{D3542B86-2BA7-9666-AFC5-13558680D3CF}"/>
              </a:ext>
            </a:extLst>
          </p:cNvPr>
          <p:cNvSpPr>
            <a:spLocks noChangeShapeType="1"/>
          </p:cNvSpPr>
          <p:nvPr/>
        </p:nvSpPr>
        <p:spPr bwMode="auto">
          <a:xfrm flipH="1">
            <a:off x="8743950" y="3765550"/>
            <a:ext cx="3175" cy="917575"/>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2999" name="Line 39">
            <a:extLst>
              <a:ext uri="{FF2B5EF4-FFF2-40B4-BE49-F238E27FC236}">
                <a16:creationId xmlns:a16="http://schemas.microsoft.com/office/drawing/2014/main" id="{D61D16C8-9D1D-975D-71C3-0BC5B939B9A6}"/>
              </a:ext>
            </a:extLst>
          </p:cNvPr>
          <p:cNvSpPr>
            <a:spLocks noChangeShapeType="1"/>
          </p:cNvSpPr>
          <p:nvPr/>
        </p:nvSpPr>
        <p:spPr bwMode="auto">
          <a:xfrm flipH="1">
            <a:off x="9248775" y="1273175"/>
            <a:ext cx="3175" cy="433388"/>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3000" name="Line 40">
            <a:extLst>
              <a:ext uri="{FF2B5EF4-FFF2-40B4-BE49-F238E27FC236}">
                <a16:creationId xmlns:a16="http://schemas.microsoft.com/office/drawing/2014/main" id="{F754DE8A-6C31-0D76-196D-B4C940080EF4}"/>
              </a:ext>
            </a:extLst>
          </p:cNvPr>
          <p:cNvSpPr>
            <a:spLocks noChangeShapeType="1"/>
          </p:cNvSpPr>
          <p:nvPr/>
        </p:nvSpPr>
        <p:spPr bwMode="auto">
          <a:xfrm flipH="1">
            <a:off x="9248775" y="1978025"/>
            <a:ext cx="7938" cy="2735263"/>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3001" name="Line 41">
            <a:extLst>
              <a:ext uri="{FF2B5EF4-FFF2-40B4-BE49-F238E27FC236}">
                <a16:creationId xmlns:a16="http://schemas.microsoft.com/office/drawing/2014/main" id="{F1B8DA52-B6A0-9F2C-EF6D-82A44430D64B}"/>
              </a:ext>
            </a:extLst>
          </p:cNvPr>
          <p:cNvSpPr>
            <a:spLocks noChangeShapeType="1"/>
          </p:cNvSpPr>
          <p:nvPr/>
        </p:nvSpPr>
        <p:spPr bwMode="auto">
          <a:xfrm>
            <a:off x="9248775" y="4778375"/>
            <a:ext cx="11113" cy="1258888"/>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3002" name="AutoShape 42">
            <a:extLst>
              <a:ext uri="{FF2B5EF4-FFF2-40B4-BE49-F238E27FC236}">
                <a16:creationId xmlns:a16="http://schemas.microsoft.com/office/drawing/2014/main" id="{445619F9-E1B5-8925-5024-5FF19217F26B}"/>
              </a:ext>
            </a:extLst>
          </p:cNvPr>
          <p:cNvSpPr>
            <a:spLocks noChangeArrowheads="1"/>
          </p:cNvSpPr>
          <p:nvPr/>
        </p:nvSpPr>
        <p:spPr bwMode="auto">
          <a:xfrm>
            <a:off x="5024438" y="466725"/>
            <a:ext cx="4206875" cy="706438"/>
          </a:xfrm>
          <a:prstGeom prst="wedgeRoundRectCallout">
            <a:avLst>
              <a:gd name="adj1" fmla="val 36718"/>
              <a:gd name="adj2" fmla="val 10191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err="1">
                <a:latin typeface="+mj-lt"/>
              </a:rPr>
              <a:t>Trường</a:t>
            </a:r>
            <a:r>
              <a:rPr lang="en-US" altLang="ja-JP" sz="1400" dirty="0">
                <a:latin typeface="+mj-lt"/>
              </a:rPr>
              <a:t> </a:t>
            </a:r>
            <a:r>
              <a:rPr lang="en-US" altLang="ja-JP" sz="1400" dirty="0" err="1">
                <a:latin typeface="+mj-lt"/>
              </a:rPr>
              <a:t>hợp</a:t>
            </a:r>
            <a:r>
              <a:rPr lang="en-US" altLang="ja-JP" sz="1400" dirty="0">
                <a:latin typeface="+mj-lt"/>
              </a:rPr>
              <a:t> </a:t>
            </a:r>
            <a:r>
              <a:rPr lang="en-US" altLang="ja-JP" sz="1400" dirty="0" err="1">
                <a:latin typeface="+mj-lt"/>
              </a:rPr>
              <a:t>phát</a:t>
            </a:r>
            <a:r>
              <a:rPr lang="en-US" altLang="ja-JP" sz="1400" dirty="0">
                <a:latin typeface="+mj-lt"/>
              </a:rPr>
              <a:t> </a:t>
            </a:r>
            <a:r>
              <a:rPr lang="en-US" altLang="ja-JP" sz="1400" dirty="0" err="1">
                <a:latin typeface="+mj-lt"/>
              </a:rPr>
              <a:t>sinh</a:t>
            </a:r>
            <a:r>
              <a:rPr lang="en-US" altLang="ja-JP" sz="1400" dirty="0">
                <a:latin typeface="+mj-lt"/>
              </a:rPr>
              <a:t> exception, </a:t>
            </a:r>
            <a:r>
              <a:rPr lang="en-US" altLang="ja-JP" sz="1400" dirty="0" err="1">
                <a:latin typeface="+mj-lt"/>
              </a:rPr>
              <a:t>thi</a:t>
            </a:r>
            <a:r>
              <a:rPr lang="en-US" altLang="ja-JP" sz="1400" dirty="0">
                <a:latin typeface="+mj-lt"/>
              </a:rPr>
              <a:t>̀ </a:t>
            </a:r>
          </a:p>
          <a:p>
            <a:pPr algn="ctr"/>
            <a:r>
              <a:rPr lang="en-US" altLang="ja-JP" sz="1400" dirty="0" err="1">
                <a:latin typeface="+mj-lt"/>
              </a:rPr>
              <a:t>thực</a:t>
            </a:r>
            <a:r>
              <a:rPr lang="en-US" altLang="ja-JP" sz="1400" dirty="0">
                <a:latin typeface="+mj-lt"/>
              </a:rPr>
              <a:t> </a:t>
            </a:r>
            <a:r>
              <a:rPr lang="en-US" altLang="ja-JP" sz="1400" dirty="0" err="1">
                <a:latin typeface="+mj-lt"/>
              </a:rPr>
              <a:t>hiện</a:t>
            </a:r>
            <a:r>
              <a:rPr lang="en-US" altLang="ja-JP" sz="1400" dirty="0">
                <a:latin typeface="+mj-lt"/>
              </a:rPr>
              <a:t> try { </a:t>
            </a:r>
            <a:r>
              <a:rPr lang="en-US" altLang="ja-JP" sz="1400" dirty="0" err="1">
                <a:latin typeface="+mj-lt"/>
              </a:rPr>
              <a:t>giữa</a:t>
            </a:r>
            <a:r>
              <a:rPr lang="en-US" altLang="ja-JP" sz="1400" dirty="0">
                <a:latin typeface="+mj-lt"/>
              </a:rPr>
              <a:t> </a:t>
            </a:r>
            <a:r>
              <a:rPr lang="en-US" altLang="ja-JP" sz="1400" dirty="0" err="1">
                <a:latin typeface="+mj-lt"/>
              </a:rPr>
              <a:t>chừng</a:t>
            </a:r>
            <a:r>
              <a:rPr lang="en-US" altLang="ja-JP" sz="1400" dirty="0">
                <a:latin typeface="+mj-lt"/>
              </a:rPr>
              <a:t> }</a:t>
            </a:r>
            <a:r>
              <a:rPr lang="ja-JP" altLang="en-US" sz="1400" dirty="0">
                <a:latin typeface="+mj-lt"/>
              </a:rPr>
              <a:t>　→ </a:t>
            </a:r>
            <a:r>
              <a:rPr lang="en-US" altLang="ja-JP" sz="1400" dirty="0">
                <a:latin typeface="+mj-lt"/>
              </a:rPr>
              <a:t>catch </a:t>
            </a:r>
            <a:r>
              <a:rPr lang="en-US" altLang="ja-JP" sz="1200" dirty="0" err="1">
                <a:latin typeface="+mj-lt"/>
              </a:rPr>
              <a:t>tương</a:t>
            </a:r>
            <a:r>
              <a:rPr lang="en-US" altLang="ja-JP" sz="1200" dirty="0">
                <a:latin typeface="+mj-lt"/>
              </a:rPr>
              <a:t> </a:t>
            </a:r>
            <a:r>
              <a:rPr lang="en-US" altLang="ja-JP" sz="1200" dirty="0" err="1">
                <a:latin typeface="+mj-lt"/>
              </a:rPr>
              <a:t>ứng</a:t>
            </a:r>
            <a:r>
              <a:rPr lang="en-US" altLang="ja-JP" dirty="0">
                <a:latin typeface="+mj-lt"/>
              </a:rPr>
              <a:t> </a:t>
            </a:r>
            <a:r>
              <a:rPr lang="ja-JP" altLang="en-US" sz="1400" dirty="0">
                <a:latin typeface="+mj-lt"/>
              </a:rPr>
              <a:t>～</a:t>
            </a:r>
          </a:p>
        </p:txBody>
      </p:sp>
      <p:sp>
        <p:nvSpPr>
          <p:cNvPr id="553003" name="Line 43">
            <a:extLst>
              <a:ext uri="{FF2B5EF4-FFF2-40B4-BE49-F238E27FC236}">
                <a16:creationId xmlns:a16="http://schemas.microsoft.com/office/drawing/2014/main" id="{FA79BEEF-1C4C-E687-5D08-5E7A75CDFD56}"/>
              </a:ext>
            </a:extLst>
          </p:cNvPr>
          <p:cNvSpPr>
            <a:spLocks noChangeShapeType="1"/>
          </p:cNvSpPr>
          <p:nvPr/>
        </p:nvSpPr>
        <p:spPr bwMode="auto">
          <a:xfrm>
            <a:off x="8158163" y="3843338"/>
            <a:ext cx="6350" cy="2198687"/>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3004" name="Rectangle 44">
            <a:extLst>
              <a:ext uri="{FF2B5EF4-FFF2-40B4-BE49-F238E27FC236}">
                <a16:creationId xmlns:a16="http://schemas.microsoft.com/office/drawing/2014/main" id="{418EA1F3-DE21-F6B3-A038-60F3DFECAA3E}"/>
              </a:ext>
            </a:extLst>
          </p:cNvPr>
          <p:cNvSpPr>
            <a:spLocks noChangeArrowheads="1"/>
          </p:cNvSpPr>
          <p:nvPr/>
        </p:nvSpPr>
        <p:spPr bwMode="auto">
          <a:xfrm>
            <a:off x="627062" y="1786630"/>
            <a:ext cx="4446588" cy="232670"/>
          </a:xfrm>
          <a:prstGeom prst="rect">
            <a:avLst/>
          </a:prstGeom>
          <a:noFill/>
          <a:ln w="38100">
            <a:solidFill>
              <a:srgbClr val="F4629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3005" name="AutoShape 45">
            <a:extLst>
              <a:ext uri="{FF2B5EF4-FFF2-40B4-BE49-F238E27FC236}">
                <a16:creationId xmlns:a16="http://schemas.microsoft.com/office/drawing/2014/main" id="{69A1AB55-BC2E-ABCF-C0FB-2BF2692F8B27}"/>
              </a:ext>
            </a:extLst>
          </p:cNvPr>
          <p:cNvSpPr>
            <a:spLocks noChangeArrowheads="1"/>
          </p:cNvSpPr>
          <p:nvPr/>
        </p:nvSpPr>
        <p:spPr bwMode="auto">
          <a:xfrm>
            <a:off x="8313738" y="1735138"/>
            <a:ext cx="1214437" cy="989012"/>
          </a:xfrm>
          <a:prstGeom prst="irregularSeal1">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73" tIns="47736" rIns="95473" bIns="47736"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ea typeface="MS UI Gothic" panose="020B0600070205080204" pitchFamily="50" charset="-128"/>
              </a:rPr>
              <a:t>Phát sinh </a:t>
            </a:r>
          </a:p>
          <a:p>
            <a:pPr algn="ctr"/>
            <a:r>
              <a:rPr lang="en-US" altLang="ja-JP" sz="1300">
                <a:ea typeface="MS UI Gothic" panose="020B0600070205080204" pitchFamily="50" charset="-128"/>
              </a:rPr>
              <a:t>exception</a:t>
            </a:r>
            <a:r>
              <a:rPr lang="ja-JP" altLang="en-US" sz="1300">
                <a:ea typeface="MS UI Gothic" panose="020B0600070205080204" pitchFamily="50" charset="-128"/>
              </a:rPr>
              <a:t>！</a:t>
            </a:r>
          </a:p>
        </p:txBody>
      </p:sp>
      <p:sp>
        <p:nvSpPr>
          <p:cNvPr id="553006" name="Line 46">
            <a:extLst>
              <a:ext uri="{FF2B5EF4-FFF2-40B4-BE49-F238E27FC236}">
                <a16:creationId xmlns:a16="http://schemas.microsoft.com/office/drawing/2014/main" id="{A72AAD6E-B4FC-9B47-F287-A3E210B72CEF}"/>
              </a:ext>
            </a:extLst>
          </p:cNvPr>
          <p:cNvSpPr>
            <a:spLocks noChangeShapeType="1"/>
          </p:cNvSpPr>
          <p:nvPr/>
        </p:nvSpPr>
        <p:spPr bwMode="auto">
          <a:xfrm>
            <a:off x="8743950" y="4783138"/>
            <a:ext cx="4763" cy="1258887"/>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A2FB3E0-C931-C25C-7120-2F500CE2B0AB}"/>
              </a:ext>
            </a:extLst>
          </p:cNvPr>
          <p:cNvSpPr>
            <a:spLocks noGrp="1"/>
          </p:cNvSpPr>
          <p:nvPr>
            <p:ph type="sldNum" sz="quarter" idx="10"/>
          </p:nvPr>
        </p:nvSpPr>
        <p:spPr/>
        <p:txBody>
          <a:bodyPr/>
          <a:lstStyle/>
          <a:p>
            <a:fld id="{0C53F516-A0B7-49E1-A9EA-42736714383D}" type="slidenum">
              <a:rPr lang="en-US" altLang="ja-JP"/>
              <a:pPr/>
              <a:t>16</a:t>
            </a:fld>
            <a:endParaRPr lang="en-US" altLang="ja-JP"/>
          </a:p>
        </p:txBody>
      </p:sp>
      <p:sp>
        <p:nvSpPr>
          <p:cNvPr id="559106" name="Rectangle 2">
            <a:extLst>
              <a:ext uri="{FF2B5EF4-FFF2-40B4-BE49-F238E27FC236}">
                <a16:creationId xmlns:a16="http://schemas.microsoft.com/office/drawing/2014/main" id="{477D8575-CBAE-B222-2C33-117E0711AB41}"/>
              </a:ext>
            </a:extLst>
          </p:cNvPr>
          <p:cNvSpPr>
            <a:spLocks noGrp="1" noChangeArrowheads="1"/>
          </p:cNvSpPr>
          <p:nvPr>
            <p:ph type="title"/>
          </p:nvPr>
        </p:nvSpPr>
        <p:spPr>
          <a:xfrm>
            <a:off x="344488" y="365125"/>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 (5)</a:t>
            </a:r>
          </a:p>
        </p:txBody>
      </p:sp>
      <p:sp>
        <p:nvSpPr>
          <p:cNvPr id="559107" name="Rectangle 3">
            <a:extLst>
              <a:ext uri="{FF2B5EF4-FFF2-40B4-BE49-F238E27FC236}">
                <a16:creationId xmlns:a16="http://schemas.microsoft.com/office/drawing/2014/main" id="{4A33570D-4F23-6885-AC7F-A0B83CB5CCA6}"/>
              </a:ext>
            </a:extLst>
          </p:cNvPr>
          <p:cNvSpPr>
            <a:spLocks noChangeArrowheads="1"/>
          </p:cNvSpPr>
          <p:nvPr/>
        </p:nvSpPr>
        <p:spPr bwMode="auto">
          <a:xfrm>
            <a:off x="344488" y="244316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a:latin typeface="Arial" panose="020B0604020202020204" pitchFamily="34" charset="0"/>
              </a:rPr>
              <a:t>Get thông tin error</a:t>
            </a:r>
            <a:endParaRPr lang="en-US" altLang="ja-JP" sz="2400" b="0">
              <a:latin typeface="Arial" panose="020B0604020202020204" pitchFamily="34" charset="0"/>
            </a:endParaRPr>
          </a:p>
        </p:txBody>
      </p:sp>
      <p:sp>
        <p:nvSpPr>
          <p:cNvPr id="559108" name="Rectangle 4">
            <a:extLst>
              <a:ext uri="{FF2B5EF4-FFF2-40B4-BE49-F238E27FC236}">
                <a16:creationId xmlns:a16="http://schemas.microsoft.com/office/drawing/2014/main" id="{B332399C-DC22-2D6E-F013-A7017D5A40C0}"/>
              </a:ext>
            </a:extLst>
          </p:cNvPr>
          <p:cNvSpPr>
            <a:spLocks noChangeArrowheads="1"/>
          </p:cNvSpPr>
          <p:nvPr/>
        </p:nvSpPr>
        <p:spPr bwMode="auto">
          <a:xfrm>
            <a:off x="344488" y="103028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1900" b="0">
                <a:latin typeface="Arial" panose="020B0604020202020204" pitchFamily="34" charset="0"/>
              </a:rPr>
              <a:t>Trường hợp muốn tập hợp các exception không cần xử lý riêng biệt để catch</a:t>
            </a:r>
          </a:p>
          <a:p>
            <a:pPr lvl="1"/>
            <a:endParaRPr lang="en-US" altLang="ja-JP" sz="1900" b="0">
              <a:latin typeface="Arial" panose="020B0604020202020204" pitchFamily="34" charset="0"/>
            </a:endParaRPr>
          </a:p>
        </p:txBody>
      </p:sp>
      <p:sp>
        <p:nvSpPr>
          <p:cNvPr id="559109" name="Rectangle 5">
            <a:extLst>
              <a:ext uri="{FF2B5EF4-FFF2-40B4-BE49-F238E27FC236}">
                <a16:creationId xmlns:a16="http://schemas.microsoft.com/office/drawing/2014/main" id="{EC456C32-9331-09DB-A2D0-D6FF9F3A0AB6}"/>
              </a:ext>
            </a:extLst>
          </p:cNvPr>
          <p:cNvSpPr>
            <a:spLocks noChangeArrowheads="1"/>
          </p:cNvSpPr>
          <p:nvPr/>
        </p:nvSpPr>
        <p:spPr bwMode="auto">
          <a:xfrm>
            <a:off x="344488" y="1563687"/>
            <a:ext cx="9120187" cy="4968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600">
                <a:latin typeface="Arial" panose="020B0604020202020204" pitchFamily="34" charset="0"/>
              </a:rPr>
              <a:t>Ở catch cuối cùng, chỉ định Exception class</a:t>
            </a:r>
            <a:r>
              <a:rPr lang="ja-JP" altLang="en-US" sz="1600">
                <a:latin typeface="Arial" panose="020B0604020202020204" pitchFamily="34" charset="0"/>
              </a:rPr>
              <a:t>（</a:t>
            </a:r>
            <a:r>
              <a:rPr lang="en-US" altLang="ja-JP" sz="1600">
                <a:latin typeface="Arial" panose="020B0604020202020204" pitchFamily="34" charset="0"/>
              </a:rPr>
              <a:t>super class của tất cả exception</a:t>
            </a:r>
            <a:r>
              <a:rPr lang="ja-JP" altLang="en-US" sz="1600">
                <a:latin typeface="Arial" panose="020B0604020202020204" pitchFamily="34" charset="0"/>
              </a:rPr>
              <a:t>）</a:t>
            </a:r>
          </a:p>
        </p:txBody>
      </p:sp>
      <p:sp>
        <p:nvSpPr>
          <p:cNvPr id="559128" name="Rectangle 24">
            <a:extLst>
              <a:ext uri="{FF2B5EF4-FFF2-40B4-BE49-F238E27FC236}">
                <a16:creationId xmlns:a16="http://schemas.microsoft.com/office/drawing/2014/main" id="{88AD3ED3-CB55-973D-042F-BF167389E12B}"/>
              </a:ext>
            </a:extLst>
          </p:cNvPr>
          <p:cNvSpPr>
            <a:spLocks noChangeArrowheads="1"/>
          </p:cNvSpPr>
          <p:nvPr/>
        </p:nvSpPr>
        <p:spPr bwMode="auto">
          <a:xfrm>
            <a:off x="344488" y="3006725"/>
            <a:ext cx="9120187" cy="3622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9750">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9750">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9750">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dirty="0">
                <a:latin typeface="Arial" panose="020B0604020202020204" pitchFamily="34" charset="0"/>
                <a:ea typeface="ＭＳ ゴシック" panose="020B0609070205080204" pitchFamily="49" charset="-128"/>
              </a:rPr>
              <a:t>try {</a:t>
            </a:r>
          </a:p>
          <a:p>
            <a:pPr lvl="1"/>
            <a:r>
              <a:rPr lang="en-US" altLang="ja-JP" sz="1800" b="0" dirty="0">
                <a:latin typeface="Arial" panose="020B0604020202020204" pitchFamily="34" charset="0"/>
              </a:rPr>
              <a:t> </a:t>
            </a:r>
            <a:r>
              <a:rPr lang="ja-JP" altLang="en-US" sz="1800" b="0" dirty="0">
                <a:latin typeface="Arial" panose="020B0604020202020204" pitchFamily="34" charset="0"/>
              </a:rPr>
              <a:t>（</a:t>
            </a:r>
            <a:r>
              <a:rPr lang="en-US" altLang="ja-JP" sz="1800" b="0" dirty="0" err="1">
                <a:latin typeface="Arial" panose="020B0604020202020204" pitchFamily="34" charset="0"/>
              </a:rPr>
              <a:t>lược</a:t>
            </a:r>
            <a:r>
              <a:rPr lang="ja-JP" altLang="en-US" sz="1800" b="0" dirty="0">
                <a:latin typeface="Arial" panose="020B0604020202020204" pitchFamily="34" charset="0"/>
              </a:rPr>
              <a:t>）</a:t>
            </a:r>
          </a:p>
          <a:p>
            <a:pPr lvl="1"/>
            <a:r>
              <a:rPr lang="en-US" altLang="ja-JP" sz="1800" b="0" dirty="0">
                <a:latin typeface="Arial" panose="020B0604020202020204" pitchFamily="34" charset="0"/>
                <a:ea typeface="ＭＳ ゴシック" panose="020B0609070205080204" pitchFamily="49" charset="-128"/>
              </a:rPr>
              <a:t>} catch (</a:t>
            </a:r>
            <a:r>
              <a:rPr lang="en-US" altLang="ja-JP" sz="1800" b="0" dirty="0" err="1">
                <a:latin typeface="Arial" panose="020B0604020202020204" pitchFamily="34" charset="0"/>
                <a:ea typeface="ＭＳ ゴシック" panose="020B0609070205080204" pitchFamily="49" charset="-128"/>
              </a:rPr>
              <a:t>NumberFormatException</a:t>
            </a:r>
            <a:r>
              <a:rPr lang="en-US" altLang="ja-JP" sz="1800" b="0" dirty="0">
                <a:latin typeface="Arial" panose="020B0604020202020204" pitchFamily="34" charset="0"/>
                <a:ea typeface="ＭＳ ゴシック" panose="020B0609070205080204" pitchFamily="49" charset="-128"/>
              </a:rPr>
              <a:t> ex) {</a:t>
            </a:r>
          </a:p>
          <a:p>
            <a:pPr lvl="1"/>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System.out.println</a:t>
            </a:r>
            <a:r>
              <a:rPr lang="en-US" altLang="ja-JP" sz="1800" b="0" dirty="0">
                <a:latin typeface="Arial" panose="020B0604020202020204" pitchFamily="34" charset="0"/>
                <a:ea typeface="ＭＳ ゴシック" panose="020B0609070205080204" pitchFamily="49" charset="-128"/>
              </a:rPr>
              <a:t>(“Ở </a:t>
            </a:r>
            <a:r>
              <a:rPr lang="en-US" altLang="ja-JP" sz="1800" b="0" dirty="0" err="1">
                <a:latin typeface="Arial" panose="020B0604020202020204" pitchFamily="34" charset="0"/>
                <a:ea typeface="ＭＳ ゴシック" panose="020B0609070205080204" pitchFamily="49" charset="-128"/>
              </a:rPr>
              <a:t>đối</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sô</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hãy</a:t>
            </a:r>
            <a:r>
              <a:rPr lang="en-US" altLang="ja-JP" sz="1800" b="0" dirty="0">
                <a:latin typeface="Arial" panose="020B0604020202020204" pitchFamily="34" charset="0"/>
                <a:ea typeface="ＭＳ ゴシック" panose="020B0609070205080204" pitchFamily="49" charset="-128"/>
              </a:rPr>
              <a:t> chỉ </a:t>
            </a:r>
            <a:r>
              <a:rPr lang="en-US" altLang="ja-JP" sz="1800" b="0" dirty="0" err="1">
                <a:latin typeface="Arial" panose="020B0604020202020204" pitchFamily="34" charset="0"/>
                <a:ea typeface="ＭＳ ゴシック" panose="020B0609070205080204" pitchFamily="49" charset="-128"/>
              </a:rPr>
              <a:t>định</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gia</a:t>
            </a:r>
            <a:r>
              <a:rPr lang="en-US" altLang="ja-JP" sz="1800" b="0" dirty="0">
                <a:latin typeface="Arial" panose="020B0604020202020204" pitchFamily="34" charset="0"/>
                <a:ea typeface="ＭＳ ゴシック" panose="020B0609070205080204" pitchFamily="49" charset="-128"/>
              </a:rPr>
              <a:t>́ trị </a:t>
            </a:r>
            <a:r>
              <a:rPr lang="en-US" altLang="ja-JP" sz="1800" b="0" dirty="0" err="1">
                <a:latin typeface="Arial" panose="020B0604020202020204" pitchFamily="34" charset="0"/>
                <a:ea typeface="ＭＳ ゴシック" panose="020B0609070205080204" pitchFamily="49" charset="-128"/>
              </a:rPr>
              <a:t>sô</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nguyên</a:t>
            </a:r>
            <a:r>
              <a:rPr lang="en-US" altLang="ja-JP"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System.out.println</a:t>
            </a:r>
            <a:r>
              <a:rPr lang="en-US" altLang="ja-JP" sz="1800" b="0" dirty="0">
                <a:latin typeface="Arial" panose="020B0604020202020204" pitchFamily="34" charset="0"/>
                <a:ea typeface="ＭＳ ゴシック" panose="020B0609070205080204" pitchFamily="49" charset="-128"/>
              </a:rPr>
              <a:t>(“</a:t>
            </a:r>
            <a:r>
              <a:rPr lang="en-US" altLang="ja-JP" sz="1800" b="0" dirty="0" err="1">
                <a:latin typeface="Arial" panose="020B0604020202020204" pitchFamily="34" charset="0"/>
                <a:ea typeface="ＭＳ ゴシック" panose="020B0609070205080204" pitchFamily="49" charset="-128"/>
              </a:rPr>
              <a:t>Cách</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sư</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dụng</a:t>
            </a:r>
            <a:r>
              <a:rPr lang="ja-JP" altLang="en-US" sz="1800" b="0" dirty="0">
                <a:latin typeface="Arial" panose="020B0604020202020204" pitchFamily="34" charset="0"/>
                <a:ea typeface="ＭＳ ゴシック" panose="020B0609070205080204" pitchFamily="49" charset="-128"/>
              </a:rPr>
              <a:t>：</a:t>
            </a:r>
            <a:r>
              <a:rPr lang="en-US" altLang="ja-JP" sz="1800" b="0" dirty="0">
                <a:latin typeface="Arial" panose="020B0604020202020204" pitchFamily="34" charset="0"/>
                <a:ea typeface="ＭＳ ゴシック" panose="020B0609070205080204" pitchFamily="49" charset="-128"/>
              </a:rPr>
              <a:t>java  Exception02  </a:t>
            </a:r>
            <a:r>
              <a:rPr lang="en-US" altLang="ja-JP" sz="1800" b="0" dirty="0" err="1">
                <a:latin typeface="Arial" panose="020B0604020202020204" pitchFamily="34" charset="0"/>
                <a:ea typeface="ＭＳ ゴシック" panose="020B0609070205080204" pitchFamily="49" charset="-128"/>
              </a:rPr>
              <a:t>sô</a:t>
            </a:r>
            <a:r>
              <a:rPr lang="en-US" altLang="ja-JP" sz="1800" b="0" dirty="0">
                <a:latin typeface="Arial" panose="020B0604020202020204" pitchFamily="34" charset="0"/>
                <a:ea typeface="ＭＳ ゴシック" panose="020B0609070205080204" pitchFamily="49" charset="-128"/>
              </a:rPr>
              <a:t>́ nguyên1</a:t>
            </a:r>
            <a:r>
              <a:rPr lang="ja-JP" altLang="en-US"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sô</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nguyên</a:t>
            </a:r>
            <a:r>
              <a:rPr lang="en-US" altLang="ja-JP" sz="1800" b="0" dirty="0">
                <a:latin typeface="Arial" panose="020B0604020202020204" pitchFamily="34" charset="0"/>
                <a:ea typeface="ＭＳ ゴシック" panose="020B0609070205080204" pitchFamily="49" charset="-128"/>
              </a:rPr>
              <a:t> 2");</a:t>
            </a:r>
          </a:p>
          <a:p>
            <a:pPr lvl="1"/>
            <a:endParaRPr lang="en-US" altLang="ja-JP" sz="1800" b="0" dirty="0">
              <a:latin typeface="Arial" panose="020B0604020202020204" pitchFamily="34" charset="0"/>
              <a:ea typeface="ＭＳ ゴシック" panose="020B0609070205080204" pitchFamily="49" charset="-128"/>
            </a:endParaRPr>
          </a:p>
          <a:p>
            <a:pPr lvl="1"/>
            <a:r>
              <a:rPr lang="en-US" altLang="en-US" sz="1800" b="0" dirty="0">
                <a:latin typeface="Arial" panose="020B0604020202020204" pitchFamily="34" charset="0"/>
                <a:ea typeface="ＭＳ ゴシック" panose="020B0609070205080204" pitchFamily="49" charset="-128"/>
              </a:rPr>
              <a:t>} catch (Exception</a:t>
            </a:r>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 ex</a:t>
            </a:r>
            <a:r>
              <a:rPr lang="en-US" altLang="ja-JP" sz="1800" b="0" dirty="0">
                <a:latin typeface="Arial" panose="020B0604020202020204" pitchFamily="34" charset="0"/>
                <a:ea typeface="ＭＳ ゴシック" panose="020B0609070205080204" pitchFamily="49" charset="-128"/>
              </a:rPr>
              <a:t>) {</a:t>
            </a:r>
          </a:p>
          <a:p>
            <a:pPr lvl="1"/>
            <a:r>
              <a:rPr lang="en-US" altLang="en-US" sz="1800" b="0" dirty="0">
                <a:latin typeface="Arial" panose="020B0604020202020204" pitchFamily="34" charset="0"/>
                <a:ea typeface="ＭＳ ゴシック" panose="020B0609070205080204" pitchFamily="49" charset="-128"/>
              </a:rPr>
              <a:t>//	</a:t>
            </a:r>
            <a:r>
              <a:rPr lang="en-US" altLang="ja-JP"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System.out.println</a:t>
            </a:r>
            <a:r>
              <a:rPr lang="en-US" altLang="en-US" sz="1800" b="0" dirty="0">
                <a:latin typeface="Arial" panose="020B0604020202020204" pitchFamily="34" charset="0"/>
                <a:ea typeface="ＭＳ ゴシック" panose="020B0609070205080204" pitchFamily="49" charset="-128"/>
              </a:rPr>
              <a:t>(“Thông tin error：" + </a:t>
            </a:r>
            <a:r>
              <a:rPr lang="en-US" altLang="ja-JP"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ex.getMessage</a:t>
            </a:r>
            <a:r>
              <a:rPr lang="en-US" altLang="ja-JP" sz="1800" b="0" dirty="0">
                <a:latin typeface="Arial" panose="020B0604020202020204" pitchFamily="34" charset="0"/>
                <a:ea typeface="ＭＳ ゴシック" panose="020B0609070205080204" pitchFamily="49" charset="-128"/>
              </a:rPr>
              <a:t>()</a:t>
            </a:r>
            <a:r>
              <a:rPr lang="en-US" altLang="ja-JP" sz="600" b="0" dirty="0">
                <a:latin typeface="Arial" panose="020B0604020202020204" pitchFamily="34" charset="0"/>
                <a:ea typeface="ＭＳ ゴシック" panose="020B0609070205080204" pitchFamily="49" charset="-128"/>
              </a:rPr>
              <a:t> </a:t>
            </a:r>
            <a:r>
              <a:rPr lang="en-US" altLang="ja-JP"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ex.printStackTrace</a:t>
            </a:r>
            <a:r>
              <a:rPr lang="en-US" altLang="ja-JP" sz="1800" b="0" dirty="0">
                <a:latin typeface="Arial" panose="020B0604020202020204" pitchFamily="34" charset="0"/>
                <a:ea typeface="ＭＳ ゴシック" panose="020B0609070205080204" pitchFamily="49" charset="-128"/>
              </a:rPr>
              <a:t>()</a:t>
            </a:r>
            <a:r>
              <a:rPr lang="en-US" altLang="ja-JP" sz="600" b="0" dirty="0">
                <a:latin typeface="Arial" panose="020B0604020202020204" pitchFamily="34" charset="0"/>
                <a:ea typeface="ＭＳ ゴシック" panose="020B0609070205080204" pitchFamily="49" charset="-128"/>
              </a:rPr>
              <a:t> </a:t>
            </a:r>
            <a:r>
              <a:rPr lang="en-US" altLang="ja-JP"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a:t>
            </a:r>
          </a:p>
        </p:txBody>
      </p:sp>
      <p:sp>
        <p:nvSpPr>
          <p:cNvPr id="559129" name="Rectangle 25">
            <a:extLst>
              <a:ext uri="{FF2B5EF4-FFF2-40B4-BE49-F238E27FC236}">
                <a16:creationId xmlns:a16="http://schemas.microsoft.com/office/drawing/2014/main" id="{FF5D4496-E87B-2D8A-FF76-D901035C5DF0}"/>
              </a:ext>
            </a:extLst>
          </p:cNvPr>
          <p:cNvSpPr>
            <a:spLocks noChangeArrowheads="1"/>
          </p:cNvSpPr>
          <p:nvPr/>
        </p:nvSpPr>
        <p:spPr bwMode="auto">
          <a:xfrm>
            <a:off x="479425" y="4857750"/>
            <a:ext cx="7499350" cy="1592262"/>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9130" name="Rectangle 26">
            <a:extLst>
              <a:ext uri="{FF2B5EF4-FFF2-40B4-BE49-F238E27FC236}">
                <a16:creationId xmlns:a16="http://schemas.microsoft.com/office/drawing/2014/main" id="{89F13EF7-DAAB-F642-F94A-88AEA52D7119}"/>
              </a:ext>
            </a:extLst>
          </p:cNvPr>
          <p:cNvSpPr>
            <a:spLocks noChangeArrowheads="1"/>
          </p:cNvSpPr>
          <p:nvPr/>
        </p:nvSpPr>
        <p:spPr bwMode="auto">
          <a:xfrm>
            <a:off x="5181600" y="5114132"/>
            <a:ext cx="1835150" cy="360363"/>
          </a:xfrm>
          <a:prstGeom prst="rect">
            <a:avLst/>
          </a:prstGeom>
          <a:noFill/>
          <a:ln w="38100">
            <a:solidFill>
              <a:srgbClr val="FF9933"/>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9131" name="Rectangle 27">
            <a:extLst>
              <a:ext uri="{FF2B5EF4-FFF2-40B4-BE49-F238E27FC236}">
                <a16:creationId xmlns:a16="http://schemas.microsoft.com/office/drawing/2014/main" id="{9084CB1C-46B0-A521-A905-207BF187A88C}"/>
              </a:ext>
            </a:extLst>
          </p:cNvPr>
          <p:cNvSpPr>
            <a:spLocks noChangeArrowheads="1"/>
          </p:cNvSpPr>
          <p:nvPr/>
        </p:nvSpPr>
        <p:spPr bwMode="auto">
          <a:xfrm>
            <a:off x="721518" y="4816986"/>
            <a:ext cx="2411413" cy="360362"/>
          </a:xfrm>
          <a:prstGeom prst="rect">
            <a:avLst/>
          </a:prstGeom>
          <a:noFill/>
          <a:ln w="38100">
            <a:solidFill>
              <a:srgbClr val="FF9933"/>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87E7858-0751-C02B-CF1C-0123EB729244}"/>
              </a:ext>
            </a:extLst>
          </p:cNvPr>
          <p:cNvSpPr>
            <a:spLocks noGrp="1"/>
          </p:cNvSpPr>
          <p:nvPr>
            <p:ph type="sldNum" sz="quarter" idx="10"/>
          </p:nvPr>
        </p:nvSpPr>
        <p:spPr/>
        <p:txBody>
          <a:bodyPr/>
          <a:lstStyle/>
          <a:p>
            <a:fld id="{40A6910B-D083-456E-BAD4-33F65C0AEA38}" type="slidenum">
              <a:rPr lang="en-US" altLang="ja-JP"/>
              <a:pPr/>
              <a:t>17</a:t>
            </a:fld>
            <a:endParaRPr lang="en-US" altLang="ja-JP"/>
          </a:p>
        </p:txBody>
      </p:sp>
      <p:sp>
        <p:nvSpPr>
          <p:cNvPr id="561154" name="Rectangle 2">
            <a:extLst>
              <a:ext uri="{FF2B5EF4-FFF2-40B4-BE49-F238E27FC236}">
                <a16:creationId xmlns:a16="http://schemas.microsoft.com/office/drawing/2014/main" id="{251CC27A-4003-44B1-EAF7-035FB4894850}"/>
              </a:ext>
            </a:extLst>
          </p:cNvPr>
          <p:cNvSpPr>
            <a:spLocks noGrp="1" noChangeArrowheads="1"/>
          </p:cNvSpPr>
          <p:nvPr>
            <p:ph type="title"/>
          </p:nvPr>
        </p:nvSpPr>
        <p:spPr>
          <a:xfrm>
            <a:off x="320344" y="317500"/>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Xư</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ly</a:t>
            </a:r>
            <a:r>
              <a:rPr lang="en-US" altLang="ja-JP" dirty="0">
                <a:latin typeface="Arial" panose="020B0604020202020204" pitchFamily="34" charset="0"/>
                <a:ea typeface="MS UI Gothic" panose="020B0600070205080204" pitchFamily="50" charset="-128"/>
              </a:rPr>
              <a:t>́ exception (6)</a:t>
            </a:r>
          </a:p>
        </p:txBody>
      </p:sp>
      <p:sp>
        <p:nvSpPr>
          <p:cNvPr id="561155" name="Rectangle 3">
            <a:extLst>
              <a:ext uri="{FF2B5EF4-FFF2-40B4-BE49-F238E27FC236}">
                <a16:creationId xmlns:a16="http://schemas.microsoft.com/office/drawing/2014/main" id="{8389A7D6-45A4-140F-F95A-BF054286086E}"/>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p>
        </p:txBody>
      </p:sp>
      <p:sp>
        <p:nvSpPr>
          <p:cNvPr id="561156" name="Rectangle 4">
            <a:extLst>
              <a:ext uri="{FF2B5EF4-FFF2-40B4-BE49-F238E27FC236}">
                <a16:creationId xmlns:a16="http://schemas.microsoft.com/office/drawing/2014/main" id="{00EBD3B5-0B28-92AD-5F70-55EB5021CDF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Mệnh đề finally</a:t>
            </a:r>
          </a:p>
          <a:p>
            <a:pPr lvl="1"/>
            <a:endParaRPr lang="en-US" altLang="ja-JP" sz="2400" b="0">
              <a:latin typeface="Arial" panose="020B0604020202020204" pitchFamily="34" charset="0"/>
            </a:endParaRPr>
          </a:p>
        </p:txBody>
      </p:sp>
      <p:sp>
        <p:nvSpPr>
          <p:cNvPr id="561158" name="Rectangle 6">
            <a:extLst>
              <a:ext uri="{FF2B5EF4-FFF2-40B4-BE49-F238E27FC236}">
                <a16:creationId xmlns:a16="http://schemas.microsoft.com/office/drawing/2014/main" id="{8324E356-DC2E-E11E-DD4B-986825016AA1}"/>
              </a:ext>
            </a:extLst>
          </p:cNvPr>
          <p:cNvSpPr>
            <a:spLocks noChangeArrowheads="1"/>
          </p:cNvSpPr>
          <p:nvPr/>
        </p:nvSpPr>
        <p:spPr bwMode="auto">
          <a:xfrm>
            <a:off x="344488" y="2725738"/>
            <a:ext cx="9120187" cy="33575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9750">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9750">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97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9750">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975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b="0">
                <a:latin typeface="Arial" panose="020B0604020202020204" pitchFamily="34" charset="0"/>
                <a:ea typeface="ＭＳ ゴシック" panose="020B0609070205080204" pitchFamily="49" charset="-128"/>
              </a:rPr>
              <a:t>try {</a:t>
            </a:r>
          </a:p>
          <a:p>
            <a:pPr>
              <a:buFont typeface="Wingdings" panose="05000000000000000000" pitchFamily="2" charset="2"/>
              <a:buNone/>
            </a:pPr>
            <a:r>
              <a:rPr lang="en-US" altLang="ja-JP" sz="1800" b="0">
                <a:latin typeface="Arial" panose="020B0604020202020204" pitchFamily="34" charset="0"/>
                <a:ea typeface="ＭＳ ゴシック" panose="020B0609070205080204" pitchFamily="49" charset="-128"/>
              </a:rPr>
              <a:t>	</a:t>
            </a:r>
            <a:r>
              <a:rPr lang="ja-JP" altLang="en-US" sz="1800" b="0">
                <a:latin typeface="Arial" panose="020B0604020202020204" pitchFamily="34" charset="0"/>
              </a:rPr>
              <a:t>（</a:t>
            </a:r>
            <a:r>
              <a:rPr lang="en-US" altLang="ja-JP" sz="1800" b="0">
                <a:latin typeface="Arial" panose="020B0604020202020204" pitchFamily="34" charset="0"/>
              </a:rPr>
              <a:t>lược</a:t>
            </a:r>
            <a:r>
              <a:rPr lang="ja-JP" altLang="en-US" sz="1800" b="0">
                <a:latin typeface="Arial" panose="020B0604020202020204" pitchFamily="34" charset="0"/>
              </a:rPr>
              <a:t>）</a:t>
            </a:r>
          </a:p>
          <a:p>
            <a:pPr>
              <a:buFont typeface="Wingdings" panose="05000000000000000000" pitchFamily="2" charset="2"/>
              <a:buNone/>
            </a:pPr>
            <a:endParaRPr lang="ja-JP" altLang="en-US" sz="1800" b="0">
              <a:latin typeface="Arial" panose="020B0604020202020204" pitchFamily="34" charset="0"/>
              <a:ea typeface="ＭＳ ゴシック" panose="020B0609070205080204" pitchFamily="49" charset="-128"/>
            </a:endParaRPr>
          </a:p>
          <a:p>
            <a:pPr>
              <a:buFont typeface="Wingdings" panose="05000000000000000000" pitchFamily="2" charset="2"/>
              <a:buNone/>
            </a:pPr>
            <a:r>
              <a:rPr lang="en-US" altLang="en-US" sz="1800" b="0">
                <a:latin typeface="Arial" panose="020B0604020202020204" pitchFamily="34" charset="0"/>
                <a:ea typeface="ＭＳ ゴシック" panose="020B0609070205080204" pitchFamily="49" charset="-128"/>
              </a:rPr>
              <a:t>} catch (</a:t>
            </a:r>
            <a:r>
              <a:rPr lang="en-US" altLang="ja-JP" sz="1800" b="0">
                <a:latin typeface="Arial" panose="020B0604020202020204" pitchFamily="34" charset="0"/>
                <a:ea typeface="ＭＳ ゴシック" panose="020B0609070205080204" pitchFamily="49" charset="-128"/>
              </a:rPr>
              <a:t>NumberFormatException  ex) {</a:t>
            </a:r>
          </a:p>
          <a:p>
            <a:pPr>
              <a:buFont typeface="Wingdings" panose="05000000000000000000" pitchFamily="2" charset="2"/>
              <a:buNone/>
            </a:pPr>
            <a:r>
              <a:rPr lang="en-US" altLang="ja-JP" sz="1800" b="0">
                <a:latin typeface="Arial" panose="020B0604020202020204" pitchFamily="34" charset="0"/>
                <a:ea typeface="ＭＳ ゴシック" panose="020B0609070205080204" pitchFamily="49" charset="-128"/>
              </a:rPr>
              <a:t>	</a:t>
            </a:r>
            <a:r>
              <a:rPr lang="ja-JP" altLang="en-US" sz="1800" b="0">
                <a:latin typeface="Arial" panose="020B0604020202020204" pitchFamily="34" charset="0"/>
              </a:rPr>
              <a:t>（ </a:t>
            </a:r>
            <a:r>
              <a:rPr lang="en-US" altLang="ja-JP" sz="1800" b="0">
                <a:latin typeface="Arial" panose="020B0604020202020204" pitchFamily="34" charset="0"/>
              </a:rPr>
              <a:t>lược </a:t>
            </a:r>
            <a:r>
              <a:rPr lang="ja-JP" altLang="en-US" sz="1800" b="0">
                <a:latin typeface="Arial" panose="020B0604020202020204" pitchFamily="34" charset="0"/>
              </a:rPr>
              <a:t>）</a:t>
            </a:r>
          </a:p>
          <a:p>
            <a:pPr>
              <a:buFont typeface="Wingdings" panose="05000000000000000000" pitchFamily="2" charset="2"/>
              <a:buNone/>
            </a:pPr>
            <a:r>
              <a:rPr lang="en-US" altLang="en-US" sz="1800" b="0">
                <a:latin typeface="Arial" panose="020B0604020202020204" pitchFamily="34" charset="0"/>
                <a:ea typeface="ＭＳ ゴシック" panose="020B0609070205080204" pitchFamily="49" charset="-128"/>
              </a:rPr>
              <a:t>} catch (Exception</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 ex</a:t>
            </a:r>
            <a:r>
              <a:rPr lang="en-US" altLang="ja-JP" sz="1800" b="0">
                <a:latin typeface="Arial" panose="020B0604020202020204" pitchFamily="34" charset="0"/>
                <a:ea typeface="ＭＳ ゴシック" panose="020B0609070205080204" pitchFamily="49" charset="-128"/>
              </a:rPr>
              <a:t>) {</a:t>
            </a:r>
          </a:p>
          <a:p>
            <a:pPr>
              <a:buFont typeface="Wingdings" panose="05000000000000000000" pitchFamily="2" charset="2"/>
              <a:buNone/>
            </a:pPr>
            <a:r>
              <a:rPr lang="en-US" altLang="ja-JP" sz="1800" b="0">
                <a:latin typeface="Arial" panose="020B0604020202020204" pitchFamily="34" charset="0"/>
                <a:ea typeface="ＭＳ ゴシック" panose="020B0609070205080204" pitchFamily="49" charset="-128"/>
              </a:rPr>
              <a:t>	</a:t>
            </a:r>
            <a:r>
              <a:rPr lang="ja-JP" altLang="en-US" sz="1800" b="0">
                <a:latin typeface="Arial" panose="020B0604020202020204" pitchFamily="34" charset="0"/>
              </a:rPr>
              <a:t>（ </a:t>
            </a:r>
            <a:r>
              <a:rPr lang="en-US" altLang="ja-JP" sz="1800" b="0">
                <a:latin typeface="Arial" panose="020B0604020202020204" pitchFamily="34" charset="0"/>
              </a:rPr>
              <a:t>lược </a:t>
            </a:r>
            <a:r>
              <a:rPr lang="ja-JP" altLang="en-US" sz="1800" b="0">
                <a:latin typeface="Arial" panose="020B0604020202020204" pitchFamily="34" charset="0"/>
              </a:rPr>
              <a:t>）</a:t>
            </a:r>
          </a:p>
          <a:p>
            <a:pPr>
              <a:buFont typeface="Wingdings" panose="05000000000000000000" pitchFamily="2" charset="2"/>
              <a:buNone/>
            </a:pPr>
            <a:r>
              <a:rPr lang="en-US" altLang="en-US" sz="1800" b="0">
                <a:latin typeface="Arial" panose="020B0604020202020204" pitchFamily="34" charset="0"/>
                <a:ea typeface="ＭＳ ゴシック" panose="020B0609070205080204" pitchFamily="49" charset="-128"/>
              </a:rPr>
              <a:t>} finally {</a:t>
            </a:r>
          </a:p>
          <a:p>
            <a:pPr>
              <a:buFont typeface="Wingdings" panose="05000000000000000000" pitchFamily="2" charset="2"/>
              <a:buNone/>
            </a:pPr>
            <a:r>
              <a:rPr lang="en-US" altLang="en-US" sz="1800" b="0">
                <a:latin typeface="Arial" panose="020B0604020202020204" pitchFamily="34" charset="0"/>
                <a:ea typeface="ＭＳ ゴシック" panose="020B0609070205080204" pitchFamily="49" charset="-128"/>
              </a:rPr>
              <a:t>	System.out.println("finally nhất định phải được thực thi");</a:t>
            </a:r>
          </a:p>
          <a:p>
            <a:pPr>
              <a:buFont typeface="Wingdings" panose="05000000000000000000" pitchFamily="2" charset="2"/>
              <a:buNone/>
            </a:pPr>
            <a:r>
              <a:rPr lang="en-US" altLang="ja-JP" sz="1800" b="0">
                <a:latin typeface="Arial" panose="020B0604020202020204" pitchFamily="34" charset="0"/>
                <a:ea typeface="ＭＳ ゴシック" panose="020B0609070205080204" pitchFamily="49" charset="-128"/>
              </a:rPr>
              <a:t>}</a:t>
            </a:r>
          </a:p>
        </p:txBody>
      </p:sp>
      <p:sp>
        <p:nvSpPr>
          <p:cNvPr id="561159" name="Rectangle 7">
            <a:extLst>
              <a:ext uri="{FF2B5EF4-FFF2-40B4-BE49-F238E27FC236}">
                <a16:creationId xmlns:a16="http://schemas.microsoft.com/office/drawing/2014/main" id="{4FE2BBA6-9EB5-CC24-8399-4FC58248530F}"/>
              </a:ext>
            </a:extLst>
          </p:cNvPr>
          <p:cNvSpPr>
            <a:spLocks noChangeArrowheads="1"/>
          </p:cNvSpPr>
          <p:nvPr/>
        </p:nvSpPr>
        <p:spPr bwMode="auto">
          <a:xfrm>
            <a:off x="409575" y="4889500"/>
            <a:ext cx="6088063" cy="920750"/>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62" name="Rectangle 10">
            <a:extLst>
              <a:ext uri="{FF2B5EF4-FFF2-40B4-BE49-F238E27FC236}">
                <a16:creationId xmlns:a16="http://schemas.microsoft.com/office/drawing/2014/main" id="{06E9A2CD-34C0-5EC9-BD23-F6D279B2433E}"/>
              </a:ext>
            </a:extLst>
          </p:cNvPr>
          <p:cNvSpPr>
            <a:spLocks noChangeArrowheads="1"/>
          </p:cNvSpPr>
          <p:nvPr/>
        </p:nvSpPr>
        <p:spPr bwMode="auto">
          <a:xfrm>
            <a:off x="344488" y="1282700"/>
            <a:ext cx="9120187" cy="622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Khi đã định nghĩa mệnh đề finally, thì nhất định được thực hiện mà không cần biết có error hay không</a:t>
            </a:r>
          </a:p>
        </p:txBody>
      </p:sp>
      <p:sp>
        <p:nvSpPr>
          <p:cNvPr id="561164" name="AutoShape 12">
            <a:extLst>
              <a:ext uri="{FF2B5EF4-FFF2-40B4-BE49-F238E27FC236}">
                <a16:creationId xmlns:a16="http://schemas.microsoft.com/office/drawing/2014/main" id="{6F89BB6A-41A8-A871-CFB2-C16FE7C60F09}"/>
              </a:ext>
            </a:extLst>
          </p:cNvPr>
          <p:cNvSpPr>
            <a:spLocks noChangeArrowheads="1"/>
          </p:cNvSpPr>
          <p:nvPr/>
        </p:nvSpPr>
        <p:spPr bwMode="auto">
          <a:xfrm>
            <a:off x="3335338" y="2047875"/>
            <a:ext cx="3001962" cy="909638"/>
          </a:xfrm>
          <a:prstGeom prst="wedgeRoundRectCallout">
            <a:avLst>
              <a:gd name="adj1" fmla="val 58037"/>
              <a:gd name="adj2" fmla="val 7757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500" dirty="0" err="1">
                <a:latin typeface="+mj-lt"/>
              </a:rPr>
              <a:t>Trường</a:t>
            </a:r>
            <a:r>
              <a:rPr lang="en-US" altLang="ja-JP" sz="1500" dirty="0">
                <a:latin typeface="+mj-lt"/>
              </a:rPr>
              <a:t> </a:t>
            </a:r>
            <a:r>
              <a:rPr lang="en-US" altLang="ja-JP" sz="1500" dirty="0" err="1">
                <a:latin typeface="+mj-lt"/>
              </a:rPr>
              <a:t>hợp</a:t>
            </a:r>
            <a:r>
              <a:rPr lang="en-US" altLang="ja-JP" sz="1500" dirty="0">
                <a:latin typeface="+mj-lt"/>
              </a:rPr>
              <a:t> </a:t>
            </a:r>
            <a:r>
              <a:rPr lang="en-US" altLang="ja-JP" sz="1500" dirty="0" err="1">
                <a:latin typeface="+mj-lt"/>
              </a:rPr>
              <a:t>không</a:t>
            </a:r>
            <a:r>
              <a:rPr lang="en-US" altLang="ja-JP" sz="1500" dirty="0">
                <a:latin typeface="+mj-lt"/>
              </a:rPr>
              <a:t> </a:t>
            </a:r>
            <a:r>
              <a:rPr lang="en-US" altLang="ja-JP" sz="1500" dirty="0" err="1">
                <a:latin typeface="+mj-lt"/>
              </a:rPr>
              <a:t>phát</a:t>
            </a:r>
            <a:r>
              <a:rPr lang="en-US" altLang="ja-JP" sz="1500" dirty="0">
                <a:latin typeface="+mj-lt"/>
              </a:rPr>
              <a:t> </a:t>
            </a:r>
            <a:r>
              <a:rPr lang="en-US" altLang="ja-JP" sz="1500" dirty="0" err="1">
                <a:latin typeface="+mj-lt"/>
              </a:rPr>
              <a:t>sinh</a:t>
            </a:r>
            <a:r>
              <a:rPr lang="en-US" altLang="ja-JP" sz="1500" dirty="0">
                <a:latin typeface="+mj-lt"/>
              </a:rPr>
              <a:t> exception, </a:t>
            </a:r>
            <a:r>
              <a:rPr lang="en-US" altLang="ja-JP" sz="1500" dirty="0" err="1">
                <a:latin typeface="+mj-lt"/>
              </a:rPr>
              <a:t>thi</a:t>
            </a:r>
            <a:r>
              <a:rPr lang="en-US" altLang="ja-JP" sz="1500" dirty="0">
                <a:latin typeface="+mj-lt"/>
              </a:rPr>
              <a:t>̀ chỉ </a:t>
            </a:r>
            <a:r>
              <a:rPr lang="en-US" altLang="ja-JP" sz="1500" dirty="0" err="1">
                <a:latin typeface="+mj-lt"/>
              </a:rPr>
              <a:t>thực</a:t>
            </a:r>
            <a:r>
              <a:rPr lang="en-US" altLang="ja-JP" sz="1500" dirty="0">
                <a:latin typeface="+mj-lt"/>
              </a:rPr>
              <a:t> </a:t>
            </a:r>
            <a:r>
              <a:rPr lang="en-US" altLang="ja-JP" sz="1500" dirty="0" err="1">
                <a:latin typeface="+mj-lt"/>
              </a:rPr>
              <a:t>hiện</a:t>
            </a:r>
            <a:endParaRPr lang="en-US" altLang="ja-JP" sz="1500" dirty="0">
              <a:latin typeface="+mj-lt"/>
            </a:endParaRPr>
          </a:p>
          <a:p>
            <a:pPr algn="ctr"/>
            <a:r>
              <a:rPr lang="en-US" altLang="ja-JP" sz="1500" dirty="0">
                <a:latin typeface="+mj-lt"/>
              </a:rPr>
              <a:t>try { }  </a:t>
            </a:r>
            <a:r>
              <a:rPr lang="en-US" altLang="ja-JP" sz="1500" dirty="0" err="1">
                <a:latin typeface="+mj-lt"/>
              </a:rPr>
              <a:t>va</a:t>
            </a:r>
            <a:r>
              <a:rPr lang="en-US" altLang="ja-JP" sz="1500" dirty="0">
                <a:latin typeface="+mj-lt"/>
              </a:rPr>
              <a:t>̀ finally{ }</a:t>
            </a:r>
          </a:p>
        </p:txBody>
      </p:sp>
      <p:sp>
        <p:nvSpPr>
          <p:cNvPr id="561171" name="AutoShape 19">
            <a:extLst>
              <a:ext uri="{FF2B5EF4-FFF2-40B4-BE49-F238E27FC236}">
                <a16:creationId xmlns:a16="http://schemas.microsoft.com/office/drawing/2014/main" id="{AF8E66B5-D31D-8C98-4046-C3EEFE299C77}"/>
              </a:ext>
            </a:extLst>
          </p:cNvPr>
          <p:cNvSpPr>
            <a:spLocks noChangeArrowheads="1"/>
          </p:cNvSpPr>
          <p:nvPr/>
        </p:nvSpPr>
        <p:spPr bwMode="auto">
          <a:xfrm>
            <a:off x="7439025" y="3454400"/>
            <a:ext cx="2263775" cy="1619250"/>
          </a:xfrm>
          <a:prstGeom prst="wedgeRoundRectCallout">
            <a:avLst>
              <a:gd name="adj1" fmla="val -65500"/>
              <a:gd name="adj2" fmla="val -1863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dirty="0" err="1">
                <a:latin typeface="+mj-lt"/>
              </a:rPr>
              <a:t>Trường</a:t>
            </a:r>
            <a:r>
              <a:rPr lang="en-US" altLang="ja-JP" sz="1500" dirty="0">
                <a:latin typeface="+mj-lt"/>
              </a:rPr>
              <a:t> </a:t>
            </a:r>
            <a:r>
              <a:rPr lang="en-US" altLang="ja-JP" sz="1500" dirty="0" err="1">
                <a:latin typeface="+mj-lt"/>
              </a:rPr>
              <a:t>hợp</a:t>
            </a:r>
            <a:r>
              <a:rPr lang="en-US" altLang="ja-JP" sz="1500" dirty="0">
                <a:latin typeface="+mj-lt"/>
              </a:rPr>
              <a:t> </a:t>
            </a:r>
            <a:r>
              <a:rPr lang="en-US" altLang="ja-JP" sz="1500" dirty="0" err="1">
                <a:latin typeface="+mj-lt"/>
              </a:rPr>
              <a:t>phát</a:t>
            </a:r>
            <a:r>
              <a:rPr lang="en-US" altLang="ja-JP" sz="1500" dirty="0">
                <a:latin typeface="+mj-lt"/>
              </a:rPr>
              <a:t> </a:t>
            </a:r>
            <a:r>
              <a:rPr lang="en-US" altLang="ja-JP" sz="1500" dirty="0" err="1">
                <a:latin typeface="+mj-lt"/>
              </a:rPr>
              <a:t>sinh</a:t>
            </a:r>
            <a:r>
              <a:rPr lang="en-US" altLang="ja-JP" sz="1500" dirty="0">
                <a:latin typeface="+mj-lt"/>
              </a:rPr>
              <a:t> exception </a:t>
            </a:r>
            <a:r>
              <a:rPr lang="en-US" altLang="ja-JP" sz="1500" dirty="0" err="1">
                <a:latin typeface="+mj-lt"/>
              </a:rPr>
              <a:t>thi</a:t>
            </a:r>
            <a:r>
              <a:rPr lang="en-US" altLang="ja-JP" sz="1500" dirty="0">
                <a:latin typeface="+mj-lt"/>
              </a:rPr>
              <a:t>̀ </a:t>
            </a:r>
            <a:r>
              <a:rPr lang="en-US" altLang="ja-JP" sz="1500" dirty="0" err="1">
                <a:latin typeface="+mj-lt"/>
              </a:rPr>
              <a:t>thực</a:t>
            </a:r>
            <a:r>
              <a:rPr lang="en-US" altLang="ja-JP" sz="1500" dirty="0">
                <a:latin typeface="+mj-lt"/>
              </a:rPr>
              <a:t> </a:t>
            </a:r>
            <a:r>
              <a:rPr lang="en-US" altLang="ja-JP" sz="1500" dirty="0" err="1">
                <a:latin typeface="+mj-lt"/>
              </a:rPr>
              <a:t>hiện</a:t>
            </a:r>
            <a:endParaRPr lang="en-US" altLang="ja-JP" sz="1500" dirty="0">
              <a:latin typeface="+mj-lt"/>
            </a:endParaRPr>
          </a:p>
          <a:p>
            <a:r>
              <a:rPr lang="en-US" altLang="ja-JP" sz="1500" dirty="0">
                <a:latin typeface="+mj-lt"/>
              </a:rPr>
              <a:t>try { </a:t>
            </a:r>
            <a:r>
              <a:rPr lang="en-US" altLang="ja-JP" sz="1500" dirty="0" err="1">
                <a:latin typeface="+mj-lt"/>
              </a:rPr>
              <a:t>giữa</a:t>
            </a:r>
            <a:r>
              <a:rPr lang="en-US" altLang="ja-JP" sz="1500" dirty="0">
                <a:latin typeface="+mj-lt"/>
              </a:rPr>
              <a:t> </a:t>
            </a:r>
            <a:r>
              <a:rPr lang="en-US" altLang="ja-JP" sz="1500" dirty="0" err="1">
                <a:latin typeface="+mj-lt"/>
              </a:rPr>
              <a:t>chừng</a:t>
            </a:r>
            <a:r>
              <a:rPr lang="en-US" altLang="ja-JP" sz="1500" dirty="0">
                <a:latin typeface="+mj-lt"/>
              </a:rPr>
              <a:t> }</a:t>
            </a:r>
            <a:r>
              <a:rPr lang="ja-JP" altLang="en-US" sz="1500" dirty="0">
                <a:latin typeface="+mj-lt"/>
              </a:rPr>
              <a:t>　</a:t>
            </a:r>
          </a:p>
          <a:p>
            <a:r>
              <a:rPr lang="ja-JP" altLang="en-US" sz="1500" dirty="0">
                <a:latin typeface="+mj-lt"/>
              </a:rPr>
              <a:t>→</a:t>
            </a:r>
            <a:r>
              <a:rPr lang="en-US" altLang="ja-JP" sz="1500" dirty="0">
                <a:latin typeface="+mj-lt"/>
              </a:rPr>
              <a:t>catch(){ } </a:t>
            </a:r>
            <a:r>
              <a:rPr lang="en-US" altLang="ja-JP" sz="1500" dirty="0" err="1">
                <a:latin typeface="+mj-lt"/>
              </a:rPr>
              <a:t>tương</a:t>
            </a:r>
            <a:r>
              <a:rPr lang="en-US" altLang="ja-JP" sz="1500" dirty="0">
                <a:latin typeface="+mj-lt"/>
              </a:rPr>
              <a:t> </a:t>
            </a:r>
            <a:r>
              <a:rPr lang="en-US" altLang="ja-JP" sz="1500" dirty="0" err="1">
                <a:latin typeface="+mj-lt"/>
              </a:rPr>
              <a:t>ứng</a:t>
            </a:r>
            <a:endParaRPr lang="en-US" altLang="ja-JP" sz="1500" dirty="0">
              <a:latin typeface="+mj-lt"/>
            </a:endParaRPr>
          </a:p>
          <a:p>
            <a:r>
              <a:rPr lang="en-US" altLang="ja-JP" sz="1500" dirty="0">
                <a:latin typeface="+mj-lt"/>
              </a:rPr>
              <a:t>→finally{ } </a:t>
            </a:r>
          </a:p>
        </p:txBody>
      </p:sp>
      <p:grpSp>
        <p:nvGrpSpPr>
          <p:cNvPr id="561178" name="Group 26">
            <a:extLst>
              <a:ext uri="{FF2B5EF4-FFF2-40B4-BE49-F238E27FC236}">
                <a16:creationId xmlns:a16="http://schemas.microsoft.com/office/drawing/2014/main" id="{74D71259-7BBA-F1F5-8D78-752007D94005}"/>
              </a:ext>
            </a:extLst>
          </p:cNvPr>
          <p:cNvGrpSpPr>
            <a:grpSpLocks/>
          </p:cNvGrpSpPr>
          <p:nvPr/>
        </p:nvGrpSpPr>
        <p:grpSpPr bwMode="auto">
          <a:xfrm>
            <a:off x="6656388" y="2797175"/>
            <a:ext cx="1587" cy="2906713"/>
            <a:chOff x="4193" y="1762"/>
            <a:chExt cx="13" cy="1831"/>
          </a:xfrm>
        </p:grpSpPr>
        <p:sp>
          <p:nvSpPr>
            <p:cNvPr id="561166" name="Line 14">
              <a:extLst>
                <a:ext uri="{FF2B5EF4-FFF2-40B4-BE49-F238E27FC236}">
                  <a16:creationId xmlns:a16="http://schemas.microsoft.com/office/drawing/2014/main" id="{3709A724-42DC-3551-ABFE-0270EEE2F65A}"/>
                </a:ext>
              </a:extLst>
            </p:cNvPr>
            <p:cNvSpPr>
              <a:spLocks noChangeShapeType="1"/>
            </p:cNvSpPr>
            <p:nvPr/>
          </p:nvSpPr>
          <p:spPr bwMode="auto">
            <a:xfrm>
              <a:off x="4193" y="2339"/>
              <a:ext cx="13" cy="725"/>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68" name="Line 16">
              <a:extLst>
                <a:ext uri="{FF2B5EF4-FFF2-40B4-BE49-F238E27FC236}">
                  <a16:creationId xmlns:a16="http://schemas.microsoft.com/office/drawing/2014/main" id="{1555D7B9-DFBB-5AAF-9E54-12D33FCF07BB}"/>
                </a:ext>
              </a:extLst>
            </p:cNvPr>
            <p:cNvSpPr>
              <a:spLocks noChangeShapeType="1"/>
            </p:cNvSpPr>
            <p:nvPr/>
          </p:nvSpPr>
          <p:spPr bwMode="auto">
            <a:xfrm flipH="1">
              <a:off x="4193" y="1762"/>
              <a:ext cx="2" cy="594"/>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73" name="Line 21">
              <a:extLst>
                <a:ext uri="{FF2B5EF4-FFF2-40B4-BE49-F238E27FC236}">
                  <a16:creationId xmlns:a16="http://schemas.microsoft.com/office/drawing/2014/main" id="{4C75F0BC-1DEF-101A-6FEB-61F9339EB12F}"/>
                </a:ext>
              </a:extLst>
            </p:cNvPr>
            <p:cNvSpPr>
              <a:spLocks noChangeShapeType="1"/>
            </p:cNvSpPr>
            <p:nvPr/>
          </p:nvSpPr>
          <p:spPr bwMode="auto">
            <a:xfrm flipH="1">
              <a:off x="4201" y="3058"/>
              <a:ext cx="2" cy="535"/>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grpSp>
        <p:nvGrpSpPr>
          <p:cNvPr id="561180" name="Group 28">
            <a:extLst>
              <a:ext uri="{FF2B5EF4-FFF2-40B4-BE49-F238E27FC236}">
                <a16:creationId xmlns:a16="http://schemas.microsoft.com/office/drawing/2014/main" id="{1FAC69A5-0E71-6942-4DC7-8EFD185EA434}"/>
              </a:ext>
            </a:extLst>
          </p:cNvPr>
          <p:cNvGrpSpPr>
            <a:grpSpLocks/>
          </p:cNvGrpSpPr>
          <p:nvPr/>
        </p:nvGrpSpPr>
        <p:grpSpPr bwMode="auto">
          <a:xfrm>
            <a:off x="7027863" y="2797175"/>
            <a:ext cx="0" cy="2947988"/>
            <a:chOff x="4427" y="1762"/>
            <a:chExt cx="0" cy="1857"/>
          </a:xfrm>
        </p:grpSpPr>
        <p:sp>
          <p:nvSpPr>
            <p:cNvPr id="561165" name="Line 13">
              <a:extLst>
                <a:ext uri="{FF2B5EF4-FFF2-40B4-BE49-F238E27FC236}">
                  <a16:creationId xmlns:a16="http://schemas.microsoft.com/office/drawing/2014/main" id="{521B0A12-B80C-6595-1180-16B18B9A4DAE}"/>
                </a:ext>
              </a:extLst>
            </p:cNvPr>
            <p:cNvSpPr>
              <a:spLocks noChangeShapeType="1"/>
            </p:cNvSpPr>
            <p:nvPr/>
          </p:nvSpPr>
          <p:spPr bwMode="auto">
            <a:xfrm flipH="1">
              <a:off x="4427" y="1762"/>
              <a:ext cx="0" cy="385"/>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72" name="Line 20">
              <a:extLst>
                <a:ext uri="{FF2B5EF4-FFF2-40B4-BE49-F238E27FC236}">
                  <a16:creationId xmlns:a16="http://schemas.microsoft.com/office/drawing/2014/main" id="{1B6E1DF2-8E0C-4D80-EE4D-2B57D583038F}"/>
                </a:ext>
              </a:extLst>
            </p:cNvPr>
            <p:cNvSpPr>
              <a:spLocks noChangeShapeType="1"/>
            </p:cNvSpPr>
            <p:nvPr/>
          </p:nvSpPr>
          <p:spPr bwMode="auto">
            <a:xfrm>
              <a:off x="4427" y="2176"/>
              <a:ext cx="0" cy="181"/>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74" name="Line 22">
              <a:extLst>
                <a:ext uri="{FF2B5EF4-FFF2-40B4-BE49-F238E27FC236}">
                  <a16:creationId xmlns:a16="http://schemas.microsoft.com/office/drawing/2014/main" id="{BEC82917-A1F4-131B-A4E4-79C68175D6EE}"/>
                </a:ext>
              </a:extLst>
            </p:cNvPr>
            <p:cNvSpPr>
              <a:spLocks noChangeShapeType="1"/>
            </p:cNvSpPr>
            <p:nvPr/>
          </p:nvSpPr>
          <p:spPr bwMode="auto">
            <a:xfrm flipH="1">
              <a:off x="4427" y="3084"/>
              <a:ext cx="0" cy="535"/>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75" name="Line 23">
              <a:extLst>
                <a:ext uri="{FF2B5EF4-FFF2-40B4-BE49-F238E27FC236}">
                  <a16:creationId xmlns:a16="http://schemas.microsoft.com/office/drawing/2014/main" id="{DC836D4D-38AB-D5A7-9C81-47F334CDDF6B}"/>
                </a:ext>
              </a:extLst>
            </p:cNvPr>
            <p:cNvSpPr>
              <a:spLocks noChangeShapeType="1"/>
            </p:cNvSpPr>
            <p:nvPr/>
          </p:nvSpPr>
          <p:spPr bwMode="auto">
            <a:xfrm>
              <a:off x="4427" y="2344"/>
              <a:ext cx="0" cy="442"/>
            </a:xfrm>
            <a:prstGeom prst="line">
              <a:avLst/>
            </a:prstGeom>
            <a:noFill/>
            <a:ln w="762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1176" name="Line 24">
              <a:extLst>
                <a:ext uri="{FF2B5EF4-FFF2-40B4-BE49-F238E27FC236}">
                  <a16:creationId xmlns:a16="http://schemas.microsoft.com/office/drawing/2014/main" id="{4CB51E92-1C52-516A-0C0C-5C825F4B7B48}"/>
                </a:ext>
              </a:extLst>
            </p:cNvPr>
            <p:cNvSpPr>
              <a:spLocks noChangeShapeType="1"/>
            </p:cNvSpPr>
            <p:nvPr/>
          </p:nvSpPr>
          <p:spPr bwMode="auto">
            <a:xfrm>
              <a:off x="4427" y="2735"/>
              <a:ext cx="0" cy="320"/>
            </a:xfrm>
            <a:prstGeom prst="line">
              <a:avLst/>
            </a:prstGeom>
            <a:noFill/>
            <a:ln w="76200" cap="rnd">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22102</TotalTime>
  <Words>4545</Words>
  <Application>Microsoft Office PowerPoint</Application>
  <PresentationFormat>A4 Paper (210x297 mm)</PresentationFormat>
  <Paragraphs>605</Paragraphs>
  <Slides>17</Slides>
  <Notes>16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Java Training</vt:lpstr>
      <vt:lpstr>PowerPoint Presentation</vt:lpstr>
      <vt:lpstr>Package cơ bản</vt:lpstr>
      <vt:lpstr>Ｏｂｊｅｃｔ class</vt:lpstr>
      <vt:lpstr>Math class</vt:lpstr>
      <vt:lpstr>String class</vt:lpstr>
      <vt:lpstr>StringBuilder class</vt:lpstr>
      <vt:lpstr>Wrapper class (1)</vt:lpstr>
      <vt:lpstr>Wrapper class (2)</vt:lpstr>
      <vt:lpstr>PowerPoint Presentation</vt:lpstr>
      <vt:lpstr>Exception là gì</vt:lpstr>
      <vt:lpstr>Xử lý exception(1)</vt:lpstr>
      <vt:lpstr>Xử lý exception (2)</vt:lpstr>
      <vt:lpstr>Xử lý exception(3)</vt:lpstr>
      <vt:lpstr>Xử lý exception (4)</vt:lpstr>
      <vt:lpstr>Xử lý exception (5)</vt:lpstr>
      <vt:lpstr>Xử lý exception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422</cp:revision>
  <cp:lastPrinted>2018-04-10T08:59:30Z</cp:lastPrinted>
  <dcterms:created xsi:type="dcterms:W3CDTF">2025-05-21T02:38:07Z</dcterms:created>
  <dcterms:modified xsi:type="dcterms:W3CDTF">2026-08-28T02:35:43Z</dcterms:modified>
</cp:coreProperties>
</file>